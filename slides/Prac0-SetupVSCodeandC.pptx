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9" r:id="rId2"/>
    <p:sldId id="257" r:id="rId3"/>
    <p:sldId id="270" r:id="rId4"/>
    <p:sldId id="274" r:id="rId5"/>
    <p:sldId id="276" r:id="rId6"/>
    <p:sldId id="277" r:id="rId7"/>
    <p:sldId id="278" r:id="rId8"/>
    <p:sldId id="280" r:id="rId9"/>
    <p:sldId id="279" r:id="rId10"/>
    <p:sldId id="282" r:id="rId11"/>
    <p:sldId id="283" r:id="rId12"/>
    <p:sldId id="284" r:id="rId13"/>
    <p:sldId id="285" r:id="rId14"/>
    <p:sldId id="281"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63" autoAdjust="0"/>
    <p:restoredTop sz="94660"/>
  </p:normalViewPr>
  <p:slideViewPr>
    <p:cSldViewPr snapToGrid="0">
      <p:cViewPr varScale="1">
        <p:scale>
          <a:sx n="77" d="100"/>
          <a:sy n="77" d="100"/>
        </p:scale>
        <p:origin x="67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9/5/2026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9/5/2026</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9/5/2026</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9/5/2026</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9/5/2026</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9/5/2026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9/5/2026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9/5/2026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9/5/2026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9/5/2026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9/5/2026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9/5/2026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351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9.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3" y="2070835"/>
            <a:ext cx="8545095"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err="1"/>
              <a:t>Bài</a:t>
            </a:r>
            <a:r>
              <a:rPr lang="en-US" sz="4800" dirty="0"/>
              <a:t> </a:t>
            </a:r>
            <a:r>
              <a:rPr lang="en-US" sz="4800" dirty="0" err="1"/>
              <a:t>thực</a:t>
            </a:r>
            <a:r>
              <a:rPr lang="en-US" sz="4800" dirty="0"/>
              <a:t> </a:t>
            </a:r>
            <a:r>
              <a:rPr lang="en-US" sz="4800" dirty="0" err="1"/>
              <a:t>hành</a:t>
            </a:r>
            <a:r>
              <a:rPr lang="en-US" sz="4800" dirty="0"/>
              <a:t> 0: Setup </a:t>
            </a:r>
            <a:r>
              <a:rPr lang="en-US" sz="4800" dirty="0" err="1"/>
              <a:t>môi</a:t>
            </a:r>
            <a:r>
              <a:rPr lang="en-US" sz="4800" dirty="0"/>
              <a:t> </a:t>
            </a:r>
            <a:r>
              <a:rPr lang="en-US" sz="4800" dirty="0" err="1"/>
              <a:t>trường</a:t>
            </a:r>
            <a:r>
              <a:rPr lang="en-US" sz="4800" dirty="0"/>
              <a:t> VS Code</a:t>
            </a:r>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3" y="3755971"/>
            <a:ext cx="10210609" cy="461666"/>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dirty="0" err="1"/>
              <a:t>Cấu</a:t>
            </a:r>
            <a:r>
              <a:rPr lang="en-US" sz="2800" dirty="0"/>
              <a:t> </a:t>
            </a:r>
            <a:r>
              <a:rPr lang="en-US" sz="2800" dirty="0" err="1"/>
              <a:t>trúc</a:t>
            </a:r>
            <a:r>
              <a:rPr lang="en-US" sz="2800" dirty="0"/>
              <a:t> </a:t>
            </a:r>
            <a:r>
              <a:rPr lang="en-US" sz="2800" dirty="0" err="1"/>
              <a:t>dữ</a:t>
            </a:r>
            <a:r>
              <a:rPr lang="en-US" sz="2800" dirty="0"/>
              <a:t> </a:t>
            </a:r>
            <a:r>
              <a:rPr lang="en-US" sz="2800" dirty="0" err="1"/>
              <a:t>liệu</a:t>
            </a:r>
            <a:r>
              <a:rPr lang="en-US" sz="2800" dirty="0"/>
              <a:t> </a:t>
            </a:r>
            <a:r>
              <a:rPr lang="en-US" sz="2800" dirty="0" err="1"/>
              <a:t>và</a:t>
            </a:r>
            <a:r>
              <a:rPr lang="en-US" sz="2800" dirty="0"/>
              <a:t> </a:t>
            </a:r>
            <a:r>
              <a:rPr lang="en-US" sz="2800" dirty="0" err="1"/>
              <a:t>Giải</a:t>
            </a:r>
            <a:r>
              <a:rPr lang="en-US" sz="2800" dirty="0"/>
              <a:t> </a:t>
            </a:r>
            <a:r>
              <a:rPr lang="en-US" sz="2800" dirty="0" err="1"/>
              <a:t>thuật</a:t>
            </a:r>
            <a:endParaRPr lang="en-US" sz="2800" b="0" dirty="0"/>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2</a:t>
            </a:fld>
            <a:endParaRPr lang="en-US"/>
          </a:p>
        </p:txBody>
      </p:sp>
      <p:sp>
        <p:nvSpPr>
          <p:cNvPr id="5" name="TextBox 4">
            <a:extLst>
              <a:ext uri="{FF2B5EF4-FFF2-40B4-BE49-F238E27FC236}">
                <a16:creationId xmlns:a16="http://schemas.microsoft.com/office/drawing/2014/main" id="{8A5CA555-5612-34C0-4881-8CFC48DB54E2}"/>
              </a:ext>
            </a:extLst>
          </p:cNvPr>
          <p:cNvSpPr txBox="1"/>
          <p:nvPr/>
        </p:nvSpPr>
        <p:spPr>
          <a:xfrm>
            <a:off x="386634" y="4420661"/>
            <a:ext cx="4320413" cy="461665"/>
          </a:xfrm>
          <a:prstGeom prst="rect">
            <a:avLst/>
          </a:prstGeom>
          <a:noFill/>
        </p:spPr>
        <p:txBody>
          <a:bodyPr wrap="none" rtlCol="0">
            <a:spAutoFit/>
          </a:bodyPr>
          <a:lstStyle/>
          <a:p>
            <a:r>
              <a:rPr lang="en-US" sz="2400" dirty="0" err="1">
                <a:latin typeface="Lato" panose="020F0502020204030203" pitchFamily="34" charset="0"/>
                <a:ea typeface="Lato" panose="020F0502020204030203" pitchFamily="34" charset="0"/>
                <a:cs typeface="Lato" panose="020F0502020204030203" pitchFamily="34" charset="0"/>
              </a:rPr>
              <a:t>Trợ</a:t>
            </a:r>
            <a:r>
              <a:rPr lang="en-US" sz="2400" dirty="0">
                <a:latin typeface="Lato" panose="020F0502020204030203" pitchFamily="34" charset="0"/>
                <a:ea typeface="Lato" panose="020F0502020204030203" pitchFamily="34" charset="0"/>
                <a:cs typeface="Lato" panose="020F0502020204030203" pitchFamily="34" charset="0"/>
              </a:rPr>
              <a:t> </a:t>
            </a:r>
            <a:r>
              <a:rPr lang="en-US" sz="2400" dirty="0" err="1">
                <a:latin typeface="Lato" panose="020F0502020204030203" pitchFamily="34" charset="0"/>
                <a:ea typeface="Lato" panose="020F0502020204030203" pitchFamily="34" charset="0"/>
                <a:cs typeface="Lato" panose="020F0502020204030203" pitchFamily="34" charset="0"/>
              </a:rPr>
              <a:t>giảng</a:t>
            </a:r>
            <a:r>
              <a:rPr lang="en-US" sz="2400" dirty="0">
                <a:latin typeface="Lato" panose="020F0502020204030203" pitchFamily="34" charset="0"/>
                <a:ea typeface="Lato" panose="020F0502020204030203" pitchFamily="34" charset="0"/>
                <a:cs typeface="Lato" panose="020F0502020204030203" pitchFamily="34" charset="0"/>
              </a:rPr>
              <a:t>: CN. Bùi </a:t>
            </a:r>
            <a:r>
              <a:rPr lang="en-US" sz="2400" dirty="0" err="1">
                <a:latin typeface="Lato" panose="020F0502020204030203" pitchFamily="34" charset="0"/>
                <a:ea typeface="Lato" panose="020F0502020204030203" pitchFamily="34" charset="0"/>
                <a:cs typeface="Lato" panose="020F0502020204030203" pitchFamily="34" charset="0"/>
              </a:rPr>
              <a:t>Hạnh</a:t>
            </a:r>
            <a:r>
              <a:rPr lang="en-US" sz="2400" dirty="0">
                <a:latin typeface="Lato" panose="020F0502020204030203" pitchFamily="34" charset="0"/>
                <a:ea typeface="Lato" panose="020F0502020204030203" pitchFamily="34" charset="0"/>
                <a:cs typeface="Lato" panose="020F0502020204030203" pitchFamily="34" charset="0"/>
              </a:rPr>
              <a:t> Trang</a:t>
            </a:r>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09A2-99A7-6692-D74E-95121FAD8A5A}"/>
              </a:ext>
            </a:extLst>
          </p:cNvPr>
          <p:cNvSpPr>
            <a:spLocks noGrp="1"/>
          </p:cNvSpPr>
          <p:nvPr>
            <p:ph type="title"/>
          </p:nvPr>
        </p:nvSpPr>
        <p:spPr/>
        <p:txBody>
          <a:bodyPr/>
          <a:lstStyle/>
          <a:p>
            <a:r>
              <a:rPr lang="en-US" dirty="0"/>
              <a:t>1. </a:t>
            </a:r>
            <a:r>
              <a:rPr lang="en-US" dirty="0" err="1"/>
              <a:t>Môi</a:t>
            </a:r>
            <a:r>
              <a:rPr lang="en-US" dirty="0"/>
              <a:t> </a:t>
            </a:r>
            <a:r>
              <a:rPr lang="en-US" dirty="0" err="1"/>
              <a:t>trường</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2A7CBE4B-B06F-10D1-C3C2-13FC92C19238}"/>
              </a:ext>
            </a:extLst>
          </p:cNvPr>
          <p:cNvSpPr>
            <a:spLocks noGrp="1"/>
          </p:cNvSpPr>
          <p:nvPr>
            <p:ph type="body" sz="quarter" idx="13"/>
          </p:nvPr>
        </p:nvSpPr>
        <p:spPr>
          <a:xfrm>
            <a:off x="337539" y="1032510"/>
            <a:ext cx="11735928" cy="4938713"/>
          </a:xfrm>
        </p:spPr>
        <p:txBody>
          <a:bodyPr/>
          <a:lstStyle/>
          <a:p>
            <a:pPr marL="0" indent="0">
              <a:buNone/>
            </a:pPr>
            <a:r>
              <a:rPr lang="vi-VN" dirty="0"/>
              <a:t>Môi trường phát triển tích hợp (</a:t>
            </a:r>
            <a:r>
              <a:rPr lang="vi-VN" b="1" dirty="0"/>
              <a:t>IDE</a:t>
            </a:r>
            <a:r>
              <a:rPr lang="vi-VN" dirty="0"/>
              <a:t> - </a:t>
            </a:r>
            <a:r>
              <a:rPr lang="vi-VN" i="1" dirty="0"/>
              <a:t>Integrated Development Environment</a:t>
            </a:r>
            <a:r>
              <a:rPr lang="vi-VN" dirty="0"/>
              <a:t>) là một ứng dụng phần mềm kết hợp các công cụ viết mã, sửa lỗi và chạy chương trình vào chung một giao diện duy nhất để giúp lập trình viên làm việc nhanh hơn. </a:t>
            </a:r>
            <a:endParaRPr lang="en-US" dirty="0"/>
          </a:p>
          <a:p>
            <a:pPr marL="0" indent="0">
              <a:buNone/>
            </a:pPr>
            <a:r>
              <a:rPr lang="en-US" dirty="0"/>
              <a:t>IDE </a:t>
            </a:r>
            <a:r>
              <a:rPr lang="en-US" dirty="0" err="1"/>
              <a:t>gồm</a:t>
            </a:r>
            <a:r>
              <a:rPr lang="en-US" dirty="0"/>
              <a:t>: </a:t>
            </a:r>
          </a:p>
          <a:p>
            <a:pPr>
              <a:buFontTx/>
              <a:buChar char="-"/>
            </a:pPr>
            <a:r>
              <a:rPr lang="en-US" dirty="0" err="1"/>
              <a:t>Trình</a:t>
            </a:r>
            <a:r>
              <a:rPr lang="en-US" dirty="0"/>
              <a:t> </a:t>
            </a:r>
            <a:r>
              <a:rPr lang="en-US" dirty="0" err="1"/>
              <a:t>soạn</a:t>
            </a:r>
            <a:r>
              <a:rPr lang="en-US" dirty="0"/>
              <a:t> </a:t>
            </a:r>
            <a:r>
              <a:rPr lang="en-US" dirty="0" err="1"/>
              <a:t>thảo</a:t>
            </a:r>
            <a:r>
              <a:rPr lang="en-US" dirty="0"/>
              <a:t> </a:t>
            </a:r>
            <a:r>
              <a:rPr lang="en-US" dirty="0" err="1"/>
              <a:t>mãn</a:t>
            </a:r>
            <a:r>
              <a:rPr lang="en-US" dirty="0"/>
              <a:t> </a:t>
            </a:r>
            <a:r>
              <a:rPr lang="en-US" dirty="0" err="1"/>
              <a:t>nguồn</a:t>
            </a:r>
            <a:r>
              <a:rPr lang="en-US" dirty="0"/>
              <a:t> (Source code editor)</a:t>
            </a:r>
          </a:p>
          <a:p>
            <a:pPr>
              <a:buFontTx/>
              <a:buChar char="-"/>
            </a:pPr>
            <a:r>
              <a:rPr lang="en-US" dirty="0" err="1"/>
              <a:t>Trình</a:t>
            </a:r>
            <a:r>
              <a:rPr lang="en-US" dirty="0"/>
              <a:t> </a:t>
            </a:r>
            <a:r>
              <a:rPr lang="en-US" dirty="0" err="1"/>
              <a:t>biên</a:t>
            </a:r>
            <a:r>
              <a:rPr lang="en-US" dirty="0"/>
              <a:t> </a:t>
            </a:r>
            <a:r>
              <a:rPr lang="en-US" dirty="0" err="1"/>
              <a:t>dịch</a:t>
            </a:r>
            <a:r>
              <a:rPr lang="en-US" dirty="0"/>
              <a:t> (Compiler)</a:t>
            </a:r>
          </a:p>
          <a:p>
            <a:pPr>
              <a:buFontTx/>
              <a:buChar char="-"/>
            </a:pPr>
            <a:r>
              <a:rPr lang="en-US" dirty="0" err="1"/>
              <a:t>Trình</a:t>
            </a:r>
            <a:r>
              <a:rPr lang="en-US" dirty="0"/>
              <a:t> </a:t>
            </a:r>
            <a:r>
              <a:rPr lang="en-US" dirty="0" err="1"/>
              <a:t>gỡ</a:t>
            </a:r>
            <a:r>
              <a:rPr lang="en-US" dirty="0"/>
              <a:t> </a:t>
            </a:r>
            <a:r>
              <a:rPr lang="en-US" dirty="0" err="1"/>
              <a:t>lỗi</a:t>
            </a:r>
            <a:r>
              <a:rPr lang="en-US" dirty="0"/>
              <a:t> (Debugger)</a:t>
            </a:r>
          </a:p>
          <a:p>
            <a:pPr>
              <a:buFontTx/>
              <a:buChar char="-"/>
            </a:pPr>
            <a:r>
              <a:rPr lang="en-US" dirty="0"/>
              <a:t>Công </a:t>
            </a:r>
            <a:r>
              <a:rPr lang="en-US" dirty="0" err="1"/>
              <a:t>cụ</a:t>
            </a:r>
            <a:r>
              <a:rPr lang="en-US" dirty="0"/>
              <a:t> </a:t>
            </a:r>
            <a:r>
              <a:rPr lang="en-US" dirty="0" err="1"/>
              <a:t>xây</a:t>
            </a:r>
            <a:r>
              <a:rPr lang="en-US" dirty="0"/>
              <a:t> </a:t>
            </a:r>
            <a:r>
              <a:rPr lang="en-US" dirty="0" err="1"/>
              <a:t>dựng</a:t>
            </a:r>
            <a:r>
              <a:rPr lang="en-US" dirty="0"/>
              <a:t> </a:t>
            </a:r>
            <a:r>
              <a:rPr lang="en-US" dirty="0" err="1"/>
              <a:t>tự</a:t>
            </a:r>
            <a:r>
              <a:rPr lang="en-US" dirty="0"/>
              <a:t> </a:t>
            </a:r>
            <a:r>
              <a:rPr lang="en-US" dirty="0" err="1"/>
              <a:t>động</a:t>
            </a:r>
            <a:r>
              <a:rPr lang="en-US" dirty="0"/>
              <a:t>(Build Automation)</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46BF8A3-142F-F417-1BF0-71012CDD309C}"/>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4098544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25736-3101-522C-C42B-63E1A475B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EE381-1508-ECB7-3EA2-EB1E32F5D615}"/>
              </a:ext>
            </a:extLst>
          </p:cNvPr>
          <p:cNvSpPr>
            <a:spLocks noGrp="1"/>
          </p:cNvSpPr>
          <p:nvPr>
            <p:ph type="title"/>
          </p:nvPr>
        </p:nvSpPr>
        <p:spPr/>
        <p:txBody>
          <a:bodyPr/>
          <a:lstStyle/>
          <a:p>
            <a:r>
              <a:rPr lang="en-US" dirty="0"/>
              <a:t>1</a:t>
            </a:r>
            <a:r>
              <a:rPr lang="en-US"/>
              <a:t>. </a:t>
            </a:r>
            <a:r>
              <a:rPr lang="en-US" dirty="0" err="1"/>
              <a:t>Môi</a:t>
            </a:r>
            <a:r>
              <a:rPr lang="en-US" dirty="0"/>
              <a:t> </a:t>
            </a:r>
            <a:r>
              <a:rPr lang="en-US" dirty="0" err="1"/>
              <a:t>trường</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6D813642-394D-55D9-24FB-32DC078AE7BF}"/>
              </a:ext>
            </a:extLst>
          </p:cNvPr>
          <p:cNvSpPr>
            <a:spLocks noGrp="1"/>
          </p:cNvSpPr>
          <p:nvPr>
            <p:ph type="body" sz="quarter" idx="13"/>
          </p:nvPr>
        </p:nvSpPr>
        <p:spPr>
          <a:xfrm>
            <a:off x="338736" y="905722"/>
            <a:ext cx="11735928" cy="3539490"/>
          </a:xfrm>
        </p:spPr>
        <p:txBody>
          <a:bodyPr/>
          <a:lstStyle/>
          <a:p>
            <a:pPr marL="0" indent="0">
              <a:buNone/>
            </a:pPr>
            <a:r>
              <a:rPr lang="en-US" dirty="0"/>
              <a:t>2.1. </a:t>
            </a:r>
            <a:r>
              <a:rPr lang="en-US" dirty="0" err="1"/>
              <a:t>Thiết</a:t>
            </a:r>
            <a:r>
              <a:rPr lang="en-US" dirty="0"/>
              <a:t> </a:t>
            </a:r>
            <a:r>
              <a:rPr lang="en-US" dirty="0" err="1"/>
              <a:t>lập</a:t>
            </a:r>
            <a:r>
              <a:rPr lang="en-US" dirty="0"/>
              <a:t> </a:t>
            </a:r>
            <a:r>
              <a:rPr lang="en-US" dirty="0" err="1"/>
              <a:t>môi</a:t>
            </a:r>
            <a:r>
              <a:rPr lang="en-US" dirty="0"/>
              <a:t> </a:t>
            </a:r>
            <a:r>
              <a:rPr lang="en-US" dirty="0" err="1"/>
              <a:t>trường</a:t>
            </a:r>
            <a:r>
              <a:rPr lang="en-US" dirty="0"/>
              <a:t> (IDE)</a:t>
            </a:r>
          </a:p>
          <a:p>
            <a:pPr>
              <a:buFontTx/>
              <a:buChar char="-"/>
            </a:pPr>
            <a:r>
              <a:rPr lang="en-US" dirty="0"/>
              <a:t>Visual Studio: </a:t>
            </a:r>
            <a:r>
              <a:rPr lang="en-US" dirty="0" err="1"/>
              <a:t>Hỗ</a:t>
            </a:r>
            <a:r>
              <a:rPr lang="en-US" dirty="0"/>
              <a:t> </a:t>
            </a:r>
            <a:r>
              <a:rPr lang="en-US" dirty="0" err="1"/>
              <a:t>trợ</a:t>
            </a:r>
            <a:r>
              <a:rPr lang="en-US" dirty="0"/>
              <a:t> </a:t>
            </a:r>
            <a:r>
              <a:rPr lang="en-US" dirty="0" err="1"/>
              <a:t>nhiều</a:t>
            </a:r>
            <a:r>
              <a:rPr lang="en-US" dirty="0"/>
              <a:t> </a:t>
            </a:r>
            <a:r>
              <a:rPr lang="en-US" dirty="0" err="1"/>
              <a:t>ngôn</a:t>
            </a:r>
            <a:r>
              <a:rPr lang="en-US" dirty="0"/>
              <a:t> </a:t>
            </a:r>
            <a:r>
              <a:rPr lang="en-US" dirty="0" err="1"/>
              <a:t>ngữ</a:t>
            </a:r>
            <a:r>
              <a:rPr lang="en-US" dirty="0"/>
              <a:t> </a:t>
            </a:r>
            <a:r>
              <a:rPr lang="en-US" dirty="0" err="1"/>
              <a:t>như</a:t>
            </a:r>
            <a:r>
              <a:rPr lang="en-US" dirty="0"/>
              <a:t> C/C++, Python, JavaScript</a:t>
            </a:r>
          </a:p>
          <a:p>
            <a:pPr>
              <a:buFontTx/>
              <a:buChar char="-"/>
            </a:pPr>
            <a:r>
              <a:rPr lang="en-US" dirty="0"/>
              <a:t>Visual Studio Code: </a:t>
            </a:r>
            <a:r>
              <a:rPr lang="en-US" dirty="0" err="1"/>
              <a:t>Nhẹ</a:t>
            </a:r>
            <a:r>
              <a:rPr lang="en-US" dirty="0"/>
              <a:t> </a:t>
            </a:r>
            <a:r>
              <a:rPr lang="en-US" dirty="0" err="1"/>
              <a:t>và</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mở</a:t>
            </a:r>
            <a:r>
              <a:rPr lang="en-US" dirty="0"/>
              <a:t> </a:t>
            </a:r>
            <a:r>
              <a:rPr lang="en-US" dirty="0" err="1"/>
              <a:t>rộng</a:t>
            </a:r>
            <a:r>
              <a:rPr lang="en-US" dirty="0"/>
              <a:t> </a:t>
            </a:r>
            <a:r>
              <a:rPr lang="en-US" dirty="0" err="1"/>
              <a:t>và</a:t>
            </a:r>
            <a:r>
              <a:rPr lang="en-US" dirty="0"/>
              <a:t> </a:t>
            </a:r>
            <a:r>
              <a:rPr lang="en-US" dirty="0" err="1"/>
              <a:t>biến</a:t>
            </a:r>
            <a:r>
              <a:rPr lang="en-US" dirty="0"/>
              <a:t> </a:t>
            </a:r>
            <a:r>
              <a:rPr lang="en-US" dirty="0" err="1"/>
              <a:t>đổi</a:t>
            </a:r>
            <a:endParaRPr lang="en-US" dirty="0"/>
          </a:p>
          <a:p>
            <a:pPr>
              <a:buFontTx/>
              <a:buChar char="-"/>
            </a:pPr>
            <a:r>
              <a:rPr lang="en-US" dirty="0"/>
              <a:t>IntelliJ IDEA: Chuyên </a:t>
            </a:r>
            <a:r>
              <a:rPr lang="en-US" dirty="0" err="1"/>
              <a:t>dùng</a:t>
            </a:r>
            <a:r>
              <a:rPr lang="en-US" dirty="0"/>
              <a:t> </a:t>
            </a:r>
            <a:r>
              <a:rPr lang="en-US" dirty="0" err="1"/>
              <a:t>cho</a:t>
            </a:r>
            <a:r>
              <a:rPr lang="en-US" dirty="0"/>
              <a:t> Java</a:t>
            </a:r>
          </a:p>
          <a:p>
            <a:pPr>
              <a:buFontTx/>
              <a:buChar char="-"/>
            </a:pPr>
            <a:r>
              <a:rPr lang="en-US" dirty="0"/>
              <a:t>PyCharm: Chuyên </a:t>
            </a:r>
            <a:r>
              <a:rPr lang="en-US" dirty="0" err="1"/>
              <a:t>dùng</a:t>
            </a:r>
            <a:r>
              <a:rPr lang="en-US" dirty="0"/>
              <a:t> </a:t>
            </a:r>
            <a:r>
              <a:rPr lang="en-US" dirty="0" err="1"/>
              <a:t>cho</a:t>
            </a:r>
            <a:r>
              <a:rPr lang="en-US" dirty="0"/>
              <a:t> Python</a:t>
            </a:r>
          </a:p>
          <a:p>
            <a:pPr>
              <a:buFontTx/>
              <a:buChar char="-"/>
            </a:pPr>
            <a:r>
              <a:rPr lang="en-US" dirty="0"/>
              <a:t>Android Studio: </a:t>
            </a:r>
            <a:r>
              <a:rPr lang="en-US" dirty="0" err="1"/>
              <a:t>Dùng</a:t>
            </a:r>
            <a:r>
              <a:rPr lang="en-US" dirty="0"/>
              <a:t> </a:t>
            </a:r>
            <a:r>
              <a:rPr lang="en-US" dirty="0" err="1"/>
              <a:t>để</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di </a:t>
            </a:r>
            <a:r>
              <a:rPr lang="en-US" dirty="0" err="1"/>
              <a:t>động</a:t>
            </a:r>
            <a:r>
              <a:rPr lang="en-US" dirty="0"/>
              <a:t> Android</a:t>
            </a:r>
          </a:p>
        </p:txBody>
      </p:sp>
      <p:sp>
        <p:nvSpPr>
          <p:cNvPr id="4" name="Slide Number Placeholder 3">
            <a:extLst>
              <a:ext uri="{FF2B5EF4-FFF2-40B4-BE49-F238E27FC236}">
                <a16:creationId xmlns:a16="http://schemas.microsoft.com/office/drawing/2014/main" id="{FEE1FBCC-B0F5-D4AB-B41C-827D6AB729E3}"/>
              </a:ext>
            </a:extLst>
          </p:cNvPr>
          <p:cNvSpPr>
            <a:spLocks noGrp="1"/>
          </p:cNvSpPr>
          <p:nvPr>
            <p:ph type="sldNum" sz="quarter" idx="12"/>
          </p:nvPr>
        </p:nvSpPr>
        <p:spPr/>
        <p:txBody>
          <a:bodyPr/>
          <a:lstStyle/>
          <a:p>
            <a:fld id="{9EA0BE3B-158A-4EDF-80DC-E394A0D1600F}" type="slidenum">
              <a:rPr lang="en-US" smtClean="0"/>
              <a:pPr/>
              <a:t>4</a:t>
            </a:fld>
            <a:endParaRPr lang="en-US"/>
          </a:p>
        </p:txBody>
      </p:sp>
      <p:pic>
        <p:nvPicPr>
          <p:cNvPr id="1026" name="Picture 2" descr="Visual Studio Code – Wikipedia tiếng Việt">
            <a:extLst>
              <a:ext uri="{FF2B5EF4-FFF2-40B4-BE49-F238E27FC236}">
                <a16:creationId xmlns:a16="http://schemas.microsoft.com/office/drawing/2014/main" id="{49756CB5-5730-5950-E051-C1F8C6B62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318000"/>
            <a:ext cx="1764771" cy="17647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4EBEBF1-227D-E8AF-3611-2CC57295E1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2530" y="4182533"/>
            <a:ext cx="1944900" cy="19449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ython Tool Review: Using PyCharm for Python Development - and More |  Caktus Group">
            <a:extLst>
              <a:ext uri="{FF2B5EF4-FFF2-40B4-BE49-F238E27FC236}">
                <a16:creationId xmlns:a16="http://schemas.microsoft.com/office/drawing/2014/main" id="{EE18CA40-68DA-4CB2-2EE1-4C2B07E85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5162" y="4011983"/>
            <a:ext cx="2285999" cy="22859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droid Studio - Wikipedia">
            <a:extLst>
              <a:ext uri="{FF2B5EF4-FFF2-40B4-BE49-F238E27FC236}">
                <a16:creationId xmlns:a16="http://schemas.microsoft.com/office/drawing/2014/main" id="{C17A1AE3-C343-23F2-7CFB-26CB4BB9D2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85111" y="3912871"/>
            <a:ext cx="2286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30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BB9C-1F45-8C56-C81B-A84278D0F8F0}"/>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endParaRPr lang="en-US" dirty="0"/>
          </a:p>
        </p:txBody>
      </p:sp>
      <p:sp>
        <p:nvSpPr>
          <p:cNvPr id="4" name="Slide Number Placeholder 3">
            <a:extLst>
              <a:ext uri="{FF2B5EF4-FFF2-40B4-BE49-F238E27FC236}">
                <a16:creationId xmlns:a16="http://schemas.microsoft.com/office/drawing/2014/main" id="{F0E86452-F93D-BAC4-D3F3-DE91D8B54FB8}"/>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6" name="TextBox 5">
            <a:extLst>
              <a:ext uri="{FF2B5EF4-FFF2-40B4-BE49-F238E27FC236}">
                <a16:creationId xmlns:a16="http://schemas.microsoft.com/office/drawing/2014/main" id="{7CE00916-BF61-A905-1B93-829C0F832DD9}"/>
              </a:ext>
            </a:extLst>
          </p:cNvPr>
          <p:cNvSpPr txBox="1"/>
          <p:nvPr/>
        </p:nvSpPr>
        <p:spPr>
          <a:xfrm>
            <a:off x="338736" y="1031057"/>
            <a:ext cx="6096000" cy="584775"/>
          </a:xfrm>
          <a:prstGeom prst="rect">
            <a:avLst/>
          </a:prstGeom>
          <a:noFill/>
        </p:spPr>
        <p:txBody>
          <a:bodyPr wrap="square">
            <a:spAutoFit/>
          </a:bodyPr>
          <a:lstStyle/>
          <a:p>
            <a:r>
              <a:rPr lang="en-US" sz="3200" dirty="0"/>
              <a:t>https://code.visualstudio.com/</a:t>
            </a:r>
          </a:p>
        </p:txBody>
      </p:sp>
      <p:pic>
        <p:nvPicPr>
          <p:cNvPr id="8" name="Picture 7">
            <a:extLst>
              <a:ext uri="{FF2B5EF4-FFF2-40B4-BE49-F238E27FC236}">
                <a16:creationId xmlns:a16="http://schemas.microsoft.com/office/drawing/2014/main" id="{62A522FC-E478-BAC2-3E8D-ACFC1B8A5F8F}"/>
              </a:ext>
            </a:extLst>
          </p:cNvPr>
          <p:cNvPicPr>
            <a:picLocks noChangeAspect="1"/>
          </p:cNvPicPr>
          <p:nvPr/>
        </p:nvPicPr>
        <p:blipFill>
          <a:blip r:embed="rId2"/>
          <a:stretch>
            <a:fillRect/>
          </a:stretch>
        </p:blipFill>
        <p:spPr>
          <a:xfrm>
            <a:off x="203271" y="2310657"/>
            <a:ext cx="3828486" cy="2236685"/>
          </a:xfrm>
          <a:prstGeom prst="rect">
            <a:avLst/>
          </a:prstGeom>
        </p:spPr>
      </p:pic>
      <p:pic>
        <p:nvPicPr>
          <p:cNvPr id="10" name="Picture 9">
            <a:extLst>
              <a:ext uri="{FF2B5EF4-FFF2-40B4-BE49-F238E27FC236}">
                <a16:creationId xmlns:a16="http://schemas.microsoft.com/office/drawing/2014/main" id="{E1437D2E-C9FD-AA74-4396-6A66032CAD63}"/>
              </a:ext>
            </a:extLst>
          </p:cNvPr>
          <p:cNvPicPr>
            <a:picLocks noChangeAspect="1"/>
          </p:cNvPicPr>
          <p:nvPr/>
        </p:nvPicPr>
        <p:blipFill>
          <a:blip r:embed="rId3"/>
          <a:stretch>
            <a:fillRect/>
          </a:stretch>
        </p:blipFill>
        <p:spPr>
          <a:xfrm>
            <a:off x="4529275" y="2098248"/>
            <a:ext cx="7662725" cy="3095205"/>
          </a:xfrm>
          <a:prstGeom prst="rect">
            <a:avLst/>
          </a:prstGeom>
        </p:spPr>
      </p:pic>
    </p:spTree>
    <p:extLst>
      <p:ext uri="{BB962C8B-B14F-4D97-AF65-F5344CB8AC3E}">
        <p14:creationId xmlns:p14="http://schemas.microsoft.com/office/powerpoint/2010/main" val="1459386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B32AA-6FAA-CCC9-D028-DE96ED060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4DE2C-12DB-AFF9-0F75-F96FCBCA2CB7}"/>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endParaRPr lang="en-US" dirty="0"/>
          </a:p>
        </p:txBody>
      </p:sp>
      <p:sp>
        <p:nvSpPr>
          <p:cNvPr id="4" name="Slide Number Placeholder 3">
            <a:extLst>
              <a:ext uri="{FF2B5EF4-FFF2-40B4-BE49-F238E27FC236}">
                <a16:creationId xmlns:a16="http://schemas.microsoft.com/office/drawing/2014/main" id="{3CA15B6E-B0B6-E765-0692-6E632C30511B}"/>
              </a:ext>
            </a:extLst>
          </p:cNvPr>
          <p:cNvSpPr>
            <a:spLocks noGrp="1"/>
          </p:cNvSpPr>
          <p:nvPr>
            <p:ph type="sldNum" sz="quarter" idx="12"/>
          </p:nvPr>
        </p:nvSpPr>
        <p:spPr/>
        <p:txBody>
          <a:bodyPr/>
          <a:lstStyle/>
          <a:p>
            <a:fld id="{9EA0BE3B-158A-4EDF-80DC-E394A0D1600F}" type="slidenum">
              <a:rPr lang="en-US" smtClean="0"/>
              <a:pPr/>
              <a:t>6</a:t>
            </a:fld>
            <a:endParaRPr lang="en-US"/>
          </a:p>
        </p:txBody>
      </p:sp>
      <p:pic>
        <p:nvPicPr>
          <p:cNvPr id="5" name="Picture 4">
            <a:extLst>
              <a:ext uri="{FF2B5EF4-FFF2-40B4-BE49-F238E27FC236}">
                <a16:creationId xmlns:a16="http://schemas.microsoft.com/office/drawing/2014/main" id="{C6C644DB-C663-1159-A8D3-9E8E37168991}"/>
              </a:ext>
            </a:extLst>
          </p:cNvPr>
          <p:cNvPicPr>
            <a:picLocks noChangeAspect="1"/>
          </p:cNvPicPr>
          <p:nvPr/>
        </p:nvPicPr>
        <p:blipFill>
          <a:blip r:embed="rId2"/>
          <a:stretch>
            <a:fillRect/>
          </a:stretch>
        </p:blipFill>
        <p:spPr>
          <a:xfrm>
            <a:off x="3974911" y="1200796"/>
            <a:ext cx="7924800" cy="4456408"/>
          </a:xfrm>
          <a:prstGeom prst="rect">
            <a:avLst/>
          </a:prstGeom>
        </p:spPr>
      </p:pic>
      <p:sp>
        <p:nvSpPr>
          <p:cNvPr id="7" name="TextBox 6">
            <a:extLst>
              <a:ext uri="{FF2B5EF4-FFF2-40B4-BE49-F238E27FC236}">
                <a16:creationId xmlns:a16="http://schemas.microsoft.com/office/drawing/2014/main" id="{813110B2-2E15-DC28-EE56-EE32C08C074A}"/>
              </a:ext>
            </a:extLst>
          </p:cNvPr>
          <p:cNvSpPr txBox="1"/>
          <p:nvPr/>
        </p:nvSpPr>
        <p:spPr>
          <a:xfrm>
            <a:off x="485677" y="1659283"/>
            <a:ext cx="3489234" cy="2554545"/>
          </a:xfrm>
          <a:prstGeom prst="rect">
            <a:avLst/>
          </a:prstGeom>
          <a:noFill/>
        </p:spPr>
        <p:txBody>
          <a:bodyPr wrap="square">
            <a:spAutoFit/>
          </a:bodyPr>
          <a:lstStyle/>
          <a:p>
            <a:pPr algn="just"/>
            <a:r>
              <a:rPr lang="en-US" sz="3200" dirty="0"/>
              <a:t>- </a:t>
            </a:r>
            <a:r>
              <a:rPr lang="en-US" sz="3200" dirty="0" err="1"/>
              <a:t>Có</a:t>
            </a:r>
            <a:r>
              <a:rPr lang="en-US" sz="3200" dirty="0"/>
              <a:t> </a:t>
            </a:r>
            <a:r>
              <a:rPr lang="en-US" sz="3200" dirty="0" err="1"/>
              <a:t>thể</a:t>
            </a:r>
            <a:r>
              <a:rPr lang="en-US" sz="3200" dirty="0"/>
              <a:t> </a:t>
            </a:r>
            <a:r>
              <a:rPr lang="en-US" sz="3200" dirty="0" err="1"/>
              <a:t>thay</a:t>
            </a:r>
            <a:r>
              <a:rPr lang="en-US" sz="3200" dirty="0"/>
              <a:t> </a:t>
            </a:r>
            <a:r>
              <a:rPr lang="en-US" sz="3200" dirty="0" err="1"/>
              <a:t>đổi</a:t>
            </a:r>
            <a:r>
              <a:rPr lang="en-US" sz="3200" dirty="0"/>
              <a:t> Folder setup </a:t>
            </a:r>
            <a:r>
              <a:rPr lang="en-US" sz="3200" dirty="0" err="1"/>
              <a:t>nếu</a:t>
            </a:r>
            <a:r>
              <a:rPr lang="en-US" sz="3200" dirty="0"/>
              <a:t> ổ C </a:t>
            </a:r>
            <a:r>
              <a:rPr lang="en-US" sz="3200" dirty="0" err="1"/>
              <a:t>quá</a:t>
            </a:r>
            <a:r>
              <a:rPr lang="en-US" sz="3200" dirty="0"/>
              <a:t> </a:t>
            </a:r>
            <a:r>
              <a:rPr lang="en-US" sz="3200" dirty="0" err="1"/>
              <a:t>đầy</a:t>
            </a:r>
            <a:endParaRPr lang="en-US" sz="3200" dirty="0"/>
          </a:p>
          <a:p>
            <a:pPr algn="just"/>
            <a:r>
              <a:rPr lang="en-US" sz="3200" dirty="0"/>
              <a:t>- Tuy </a:t>
            </a:r>
            <a:r>
              <a:rPr lang="en-US" sz="3200" dirty="0" err="1"/>
              <a:t>nhiên</a:t>
            </a:r>
            <a:r>
              <a:rPr lang="en-US" sz="3200" dirty="0"/>
              <a:t> </a:t>
            </a:r>
            <a:r>
              <a:rPr lang="en-US" sz="3200" dirty="0" err="1"/>
              <a:t>không</a:t>
            </a:r>
            <a:r>
              <a:rPr lang="en-US" sz="3200" dirty="0"/>
              <a:t> </a:t>
            </a:r>
            <a:r>
              <a:rPr lang="en-US" sz="3200" dirty="0" err="1"/>
              <a:t>khuyến</a:t>
            </a:r>
            <a:r>
              <a:rPr lang="en-US" sz="3200" dirty="0"/>
              <a:t> </a:t>
            </a:r>
            <a:r>
              <a:rPr lang="en-US" sz="3200" dirty="0" err="1"/>
              <a:t>khích</a:t>
            </a:r>
            <a:endParaRPr lang="en-US" sz="3200" dirty="0"/>
          </a:p>
        </p:txBody>
      </p:sp>
    </p:spTree>
    <p:extLst>
      <p:ext uri="{BB962C8B-B14F-4D97-AF65-F5344CB8AC3E}">
        <p14:creationId xmlns:p14="http://schemas.microsoft.com/office/powerpoint/2010/main" val="254787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7BDC5-FB9C-E19D-0F11-9FB885E99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C6514-008E-FADF-5368-30432AB944A5}"/>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endParaRPr lang="en-US" dirty="0"/>
          </a:p>
        </p:txBody>
      </p:sp>
      <p:sp>
        <p:nvSpPr>
          <p:cNvPr id="4" name="Slide Number Placeholder 3">
            <a:extLst>
              <a:ext uri="{FF2B5EF4-FFF2-40B4-BE49-F238E27FC236}">
                <a16:creationId xmlns:a16="http://schemas.microsoft.com/office/drawing/2014/main" id="{96A2439D-0F04-AC10-CA44-A76C7CDFCA6B}"/>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7" name="TextBox 6">
            <a:extLst>
              <a:ext uri="{FF2B5EF4-FFF2-40B4-BE49-F238E27FC236}">
                <a16:creationId xmlns:a16="http://schemas.microsoft.com/office/drawing/2014/main" id="{99FAE99B-958A-002A-379C-D9EA5A92EECB}"/>
              </a:ext>
            </a:extLst>
          </p:cNvPr>
          <p:cNvSpPr txBox="1"/>
          <p:nvPr/>
        </p:nvSpPr>
        <p:spPr>
          <a:xfrm>
            <a:off x="154162" y="912523"/>
            <a:ext cx="4059023" cy="5170646"/>
          </a:xfrm>
          <a:prstGeom prst="rect">
            <a:avLst/>
          </a:prstGeom>
          <a:noFill/>
        </p:spPr>
        <p:txBody>
          <a:bodyPr wrap="square">
            <a:spAutoFit/>
          </a:bodyPr>
          <a:lstStyle/>
          <a:p>
            <a:pPr marL="457200" indent="-457200">
              <a:buFontTx/>
              <a:buChar char="-"/>
            </a:pPr>
            <a:r>
              <a:rPr lang="en-US" sz="2200" dirty="0"/>
              <a:t>Create a desktop icon: </a:t>
            </a:r>
            <a:r>
              <a:rPr lang="en-US" sz="2200" dirty="0" err="1"/>
              <a:t>Tạo</a:t>
            </a:r>
            <a:r>
              <a:rPr lang="en-US" sz="2200" dirty="0"/>
              <a:t> shortcut </a:t>
            </a:r>
            <a:r>
              <a:rPr lang="en-US" sz="2200" dirty="0" err="1"/>
              <a:t>trên</a:t>
            </a:r>
            <a:r>
              <a:rPr lang="en-US" sz="2200" dirty="0"/>
              <a:t> </a:t>
            </a:r>
            <a:r>
              <a:rPr lang="en-US" sz="2200" dirty="0" err="1"/>
              <a:t>màn</a:t>
            </a:r>
            <a:r>
              <a:rPr lang="en-US" sz="2200" dirty="0"/>
              <a:t> </a:t>
            </a:r>
            <a:r>
              <a:rPr lang="en-US" sz="2200" dirty="0" err="1"/>
              <a:t>hình</a:t>
            </a:r>
            <a:r>
              <a:rPr lang="en-US" sz="2200" dirty="0"/>
              <a:t> </a:t>
            </a:r>
            <a:r>
              <a:rPr lang="en-US" sz="2200" dirty="0" err="1"/>
              <a:t>để</a:t>
            </a:r>
            <a:r>
              <a:rPr lang="en-US" sz="2200" dirty="0"/>
              <a:t> </a:t>
            </a:r>
            <a:r>
              <a:rPr lang="en-US" sz="2200" dirty="0" err="1"/>
              <a:t>truy</a:t>
            </a:r>
            <a:r>
              <a:rPr lang="en-US" sz="2200" dirty="0"/>
              <a:t> </a:t>
            </a:r>
            <a:r>
              <a:rPr lang="en-US" sz="2200" dirty="0" err="1"/>
              <a:t>cập</a:t>
            </a:r>
            <a:r>
              <a:rPr lang="en-US" sz="2200" dirty="0"/>
              <a:t> </a:t>
            </a:r>
            <a:r>
              <a:rPr lang="en-US" sz="2200" dirty="0" err="1"/>
              <a:t>dễ</a:t>
            </a:r>
            <a:r>
              <a:rPr lang="en-US" sz="2200" dirty="0"/>
              <a:t> </a:t>
            </a:r>
            <a:r>
              <a:rPr lang="en-US" sz="2200" dirty="0" err="1"/>
              <a:t>hơn</a:t>
            </a:r>
            <a:endParaRPr lang="en-US" sz="2200" dirty="0"/>
          </a:p>
          <a:p>
            <a:pPr marL="457200" indent="-457200">
              <a:buFontTx/>
              <a:buChar char="-"/>
            </a:pPr>
            <a:r>
              <a:rPr lang="en-US" sz="2200" dirty="0"/>
              <a:t>Other 1: Khi </a:t>
            </a:r>
            <a:r>
              <a:rPr lang="en-US" sz="2200" dirty="0" err="1"/>
              <a:t>chuột</a:t>
            </a:r>
            <a:r>
              <a:rPr lang="en-US" sz="2200" dirty="0"/>
              <a:t> </a:t>
            </a:r>
            <a:r>
              <a:rPr lang="en-US" sz="2200" dirty="0" err="1"/>
              <a:t>trái</a:t>
            </a:r>
            <a:r>
              <a:rPr lang="en-US" sz="2200" dirty="0"/>
              <a:t> </a:t>
            </a:r>
            <a:r>
              <a:rPr lang="en-US" sz="2200" dirty="0" err="1"/>
              <a:t>vào</a:t>
            </a:r>
            <a:r>
              <a:rPr lang="en-US" sz="2200" dirty="0"/>
              <a:t> file </a:t>
            </a:r>
            <a:r>
              <a:rPr lang="en-US" sz="2200" dirty="0" err="1"/>
              <a:t>sẽ</a:t>
            </a:r>
            <a:r>
              <a:rPr lang="en-US" sz="2200" dirty="0"/>
              <a:t> </a:t>
            </a:r>
            <a:r>
              <a:rPr lang="en-US" sz="2200" dirty="0" err="1"/>
              <a:t>hiện</a:t>
            </a:r>
            <a:r>
              <a:rPr lang="en-US" sz="2200" dirty="0"/>
              <a:t> </a:t>
            </a:r>
            <a:r>
              <a:rPr lang="en-US" sz="2200" dirty="0" err="1"/>
              <a:t>thêm</a:t>
            </a:r>
            <a:r>
              <a:rPr lang="en-US" sz="2200" dirty="0"/>
              <a:t> </a:t>
            </a:r>
            <a:r>
              <a:rPr lang="en-US" sz="2200" dirty="0" err="1"/>
              <a:t>tùy</a:t>
            </a:r>
            <a:r>
              <a:rPr lang="en-US" sz="2200" dirty="0"/>
              <a:t> </a:t>
            </a:r>
            <a:r>
              <a:rPr lang="en-US" sz="2200" dirty="0" err="1"/>
              <a:t>chọn</a:t>
            </a:r>
            <a:r>
              <a:rPr lang="en-US" sz="2200" dirty="0"/>
              <a:t> </a:t>
            </a:r>
            <a:r>
              <a:rPr lang="en-US" sz="2200" dirty="0" err="1"/>
              <a:t>mở</a:t>
            </a:r>
            <a:r>
              <a:rPr lang="en-US" sz="2200" dirty="0"/>
              <a:t> file </a:t>
            </a:r>
            <a:r>
              <a:rPr lang="en-US" sz="2200" dirty="0" err="1"/>
              <a:t>bằng</a:t>
            </a:r>
            <a:r>
              <a:rPr lang="en-US" sz="2200" dirty="0"/>
              <a:t> VS code</a:t>
            </a:r>
          </a:p>
          <a:p>
            <a:pPr marL="457200" indent="-457200">
              <a:buFontTx/>
              <a:buChar char="-"/>
            </a:pPr>
            <a:r>
              <a:rPr lang="en-US" sz="2200" dirty="0"/>
              <a:t>Other 2: Khi </a:t>
            </a:r>
            <a:r>
              <a:rPr lang="en-US" sz="2200" dirty="0" err="1"/>
              <a:t>choột</a:t>
            </a:r>
            <a:r>
              <a:rPr lang="en-US" sz="2200" dirty="0"/>
              <a:t> </a:t>
            </a:r>
            <a:r>
              <a:rPr lang="en-US" sz="2200" dirty="0" err="1"/>
              <a:t>trái</a:t>
            </a:r>
            <a:r>
              <a:rPr lang="en-US" sz="2200" dirty="0"/>
              <a:t> </a:t>
            </a:r>
            <a:r>
              <a:rPr lang="en-US" sz="2200" dirty="0" err="1"/>
              <a:t>vào</a:t>
            </a:r>
            <a:r>
              <a:rPr lang="en-US" sz="2200" dirty="0"/>
              <a:t> folder </a:t>
            </a:r>
            <a:r>
              <a:rPr lang="en-US" sz="2200" dirty="0" err="1"/>
              <a:t>sẽ</a:t>
            </a:r>
            <a:r>
              <a:rPr lang="en-US" sz="2200" dirty="0"/>
              <a:t> </a:t>
            </a:r>
            <a:r>
              <a:rPr lang="en-US" sz="2200" dirty="0" err="1"/>
              <a:t>hiện</a:t>
            </a:r>
            <a:r>
              <a:rPr lang="en-US" sz="2200" dirty="0"/>
              <a:t> </a:t>
            </a:r>
            <a:r>
              <a:rPr lang="en-US" sz="2200" dirty="0" err="1"/>
              <a:t>thêm</a:t>
            </a:r>
            <a:r>
              <a:rPr lang="en-US" sz="2200" dirty="0"/>
              <a:t> </a:t>
            </a:r>
            <a:r>
              <a:rPr lang="en-US" sz="2200" dirty="0" err="1"/>
              <a:t>tùy</a:t>
            </a:r>
            <a:r>
              <a:rPr lang="en-US" sz="2200" dirty="0"/>
              <a:t> </a:t>
            </a:r>
            <a:r>
              <a:rPr lang="en-US" sz="2200" dirty="0" err="1"/>
              <a:t>chọn</a:t>
            </a:r>
            <a:r>
              <a:rPr lang="en-US" sz="2200" dirty="0"/>
              <a:t> </a:t>
            </a:r>
            <a:r>
              <a:rPr lang="en-US" sz="2200" dirty="0" err="1"/>
              <a:t>mở</a:t>
            </a:r>
            <a:r>
              <a:rPr lang="en-US" sz="2200" dirty="0"/>
              <a:t> file </a:t>
            </a:r>
            <a:r>
              <a:rPr lang="en-US" sz="2200" dirty="0" err="1"/>
              <a:t>bằng</a:t>
            </a:r>
            <a:r>
              <a:rPr lang="en-US" sz="2200" dirty="0"/>
              <a:t> VS code</a:t>
            </a:r>
          </a:p>
          <a:p>
            <a:pPr marL="457200" indent="-457200">
              <a:buFontTx/>
              <a:buChar char="-"/>
            </a:pPr>
            <a:r>
              <a:rPr lang="en-US" sz="2200" dirty="0"/>
              <a:t>Other 3: Cài </a:t>
            </a:r>
            <a:r>
              <a:rPr lang="en-US" sz="2200" dirty="0" err="1"/>
              <a:t>đặt</a:t>
            </a:r>
            <a:r>
              <a:rPr lang="en-US" sz="2200" dirty="0"/>
              <a:t> VS code </a:t>
            </a:r>
            <a:r>
              <a:rPr lang="en-US" sz="2200" dirty="0" err="1"/>
              <a:t>là</a:t>
            </a:r>
            <a:r>
              <a:rPr lang="en-US" sz="2200" dirty="0"/>
              <a:t> </a:t>
            </a:r>
            <a:r>
              <a:rPr lang="en-US" sz="2200" dirty="0" err="1"/>
              <a:t>trình</a:t>
            </a:r>
            <a:r>
              <a:rPr lang="en-US" sz="2200" dirty="0"/>
              <a:t> </a:t>
            </a:r>
            <a:r>
              <a:rPr lang="en-US" sz="2200" dirty="0" err="1"/>
              <a:t>chỉnh</a:t>
            </a:r>
            <a:r>
              <a:rPr lang="en-US" sz="2200" dirty="0"/>
              <a:t> </a:t>
            </a:r>
            <a:r>
              <a:rPr lang="en-US" sz="2200" dirty="0" err="1"/>
              <a:t>sửa</a:t>
            </a:r>
            <a:endParaRPr lang="en-US" sz="2200" dirty="0"/>
          </a:p>
          <a:p>
            <a:pPr marL="457200" indent="-457200">
              <a:buFontTx/>
              <a:buChar char="-"/>
            </a:pPr>
            <a:r>
              <a:rPr lang="en-US" sz="2200" b="1" dirty="0">
                <a:solidFill>
                  <a:srgbClr val="FF0000"/>
                </a:solidFill>
              </a:rPr>
              <a:t>Other 4: </a:t>
            </a:r>
            <a:r>
              <a:rPr lang="en-US" sz="2200" b="1" dirty="0" err="1">
                <a:solidFill>
                  <a:srgbClr val="FF0000"/>
                </a:solidFill>
              </a:rPr>
              <a:t>Thêm</a:t>
            </a:r>
            <a:r>
              <a:rPr lang="en-US" sz="2200" b="1" dirty="0">
                <a:solidFill>
                  <a:srgbClr val="FF0000"/>
                </a:solidFill>
              </a:rPr>
              <a:t> ĐƯỜNG DẪN (PATH) – </a:t>
            </a:r>
            <a:r>
              <a:rPr lang="en-US" sz="2200" b="1" dirty="0" err="1">
                <a:solidFill>
                  <a:srgbClr val="FF0000"/>
                </a:solidFill>
              </a:rPr>
              <a:t>bắt</a:t>
            </a:r>
            <a:r>
              <a:rPr lang="en-US" sz="2200" b="1" dirty="0">
                <a:solidFill>
                  <a:srgbClr val="FF0000"/>
                </a:solidFill>
              </a:rPr>
              <a:t> </a:t>
            </a:r>
            <a:r>
              <a:rPr lang="en-US" sz="2200" b="1" dirty="0" err="1">
                <a:solidFill>
                  <a:srgbClr val="FF0000"/>
                </a:solidFill>
              </a:rPr>
              <a:t>buộc</a:t>
            </a:r>
            <a:r>
              <a:rPr lang="en-US" sz="2200" b="1" dirty="0">
                <a:solidFill>
                  <a:srgbClr val="FF0000"/>
                </a:solidFill>
              </a:rPr>
              <a:t> tick =&gt; </a:t>
            </a:r>
            <a:r>
              <a:rPr lang="en-US" sz="2200" b="1" dirty="0" err="1">
                <a:solidFill>
                  <a:srgbClr val="FF0000"/>
                </a:solidFill>
              </a:rPr>
              <a:t>mục</a:t>
            </a:r>
            <a:r>
              <a:rPr lang="en-US" sz="2200" b="1" dirty="0">
                <a:solidFill>
                  <a:srgbClr val="FF0000"/>
                </a:solidFill>
              </a:rPr>
              <a:t> </a:t>
            </a:r>
            <a:r>
              <a:rPr lang="en-US" sz="2200" b="1" dirty="0" err="1">
                <a:solidFill>
                  <a:srgbClr val="FF0000"/>
                </a:solidFill>
              </a:rPr>
              <a:t>đích</a:t>
            </a:r>
            <a:r>
              <a:rPr lang="en-US" sz="2200" b="1" dirty="0">
                <a:solidFill>
                  <a:srgbClr val="FF0000"/>
                </a:solidFill>
              </a:rPr>
              <a:t> </a:t>
            </a:r>
            <a:r>
              <a:rPr lang="en-US" sz="2200" b="1" dirty="0" err="1">
                <a:solidFill>
                  <a:srgbClr val="FF0000"/>
                </a:solidFill>
              </a:rPr>
              <a:t>khi</a:t>
            </a:r>
            <a:r>
              <a:rPr lang="en-US" sz="2200" b="1" dirty="0">
                <a:solidFill>
                  <a:srgbClr val="FF0000"/>
                </a:solidFill>
              </a:rPr>
              <a:t> </a:t>
            </a:r>
            <a:r>
              <a:rPr lang="en-US" sz="2200" b="1" dirty="0" err="1">
                <a:solidFill>
                  <a:srgbClr val="FF0000"/>
                </a:solidFill>
              </a:rPr>
              <a:t>gõ</a:t>
            </a:r>
            <a:r>
              <a:rPr lang="en-US" sz="2200" b="1" dirty="0">
                <a:solidFill>
                  <a:srgbClr val="FF0000"/>
                </a:solidFill>
              </a:rPr>
              <a:t> code . </a:t>
            </a:r>
            <a:r>
              <a:rPr lang="en-US" sz="2200" b="1" dirty="0" err="1">
                <a:solidFill>
                  <a:srgbClr val="FF0000"/>
                </a:solidFill>
              </a:rPr>
              <a:t>Trên</a:t>
            </a:r>
            <a:r>
              <a:rPr lang="en-US" sz="2200" b="1" dirty="0">
                <a:solidFill>
                  <a:srgbClr val="FF0000"/>
                </a:solidFill>
              </a:rPr>
              <a:t> terminal </a:t>
            </a:r>
            <a:r>
              <a:rPr lang="en-US" sz="2200" b="1" dirty="0" err="1">
                <a:solidFill>
                  <a:srgbClr val="FF0000"/>
                </a:solidFill>
              </a:rPr>
              <a:t>sẽ</a:t>
            </a:r>
            <a:r>
              <a:rPr lang="en-US" sz="2200" b="1" dirty="0">
                <a:solidFill>
                  <a:srgbClr val="FF0000"/>
                </a:solidFill>
              </a:rPr>
              <a:t> </a:t>
            </a:r>
            <a:r>
              <a:rPr lang="en-US" sz="2200" b="1" dirty="0" err="1">
                <a:solidFill>
                  <a:srgbClr val="FF0000"/>
                </a:solidFill>
              </a:rPr>
              <a:t>mở</a:t>
            </a:r>
            <a:r>
              <a:rPr lang="en-US" sz="2200" b="1" dirty="0">
                <a:solidFill>
                  <a:srgbClr val="FF0000"/>
                </a:solidFill>
              </a:rPr>
              <a:t> VS Code</a:t>
            </a:r>
          </a:p>
        </p:txBody>
      </p:sp>
      <p:pic>
        <p:nvPicPr>
          <p:cNvPr id="6" name="Picture 5">
            <a:extLst>
              <a:ext uri="{FF2B5EF4-FFF2-40B4-BE49-F238E27FC236}">
                <a16:creationId xmlns:a16="http://schemas.microsoft.com/office/drawing/2014/main" id="{4D589CFD-78FB-4FAF-497D-F2D25F8912D8}"/>
              </a:ext>
            </a:extLst>
          </p:cNvPr>
          <p:cNvPicPr>
            <a:picLocks noChangeAspect="1"/>
          </p:cNvPicPr>
          <p:nvPr/>
        </p:nvPicPr>
        <p:blipFill>
          <a:blip r:embed="rId2"/>
          <a:stretch>
            <a:fillRect/>
          </a:stretch>
        </p:blipFill>
        <p:spPr>
          <a:xfrm>
            <a:off x="4117158" y="912523"/>
            <a:ext cx="7515399" cy="4723031"/>
          </a:xfrm>
          <a:prstGeom prst="rect">
            <a:avLst/>
          </a:prstGeom>
        </p:spPr>
      </p:pic>
      <p:sp>
        <p:nvSpPr>
          <p:cNvPr id="8" name="TextBox 7">
            <a:extLst>
              <a:ext uri="{FF2B5EF4-FFF2-40B4-BE49-F238E27FC236}">
                <a16:creationId xmlns:a16="http://schemas.microsoft.com/office/drawing/2014/main" id="{D7A3FB95-3423-B391-10D5-9A61F6A7C701}"/>
              </a:ext>
            </a:extLst>
          </p:cNvPr>
          <p:cNvSpPr txBox="1"/>
          <p:nvPr/>
        </p:nvSpPr>
        <p:spPr>
          <a:xfrm>
            <a:off x="6096000" y="2842260"/>
            <a:ext cx="301686" cy="369332"/>
          </a:xfrm>
          <a:prstGeom prst="rect">
            <a:avLst/>
          </a:prstGeom>
          <a:noFill/>
        </p:spPr>
        <p:txBody>
          <a:bodyPr wrap="none" rtlCol="0">
            <a:spAutoFit/>
          </a:bodyPr>
          <a:lstStyle/>
          <a:p>
            <a:r>
              <a:rPr lang="en-US" dirty="0">
                <a:solidFill>
                  <a:srgbClr val="FF0000"/>
                </a:solidFill>
              </a:rPr>
              <a:t>1</a:t>
            </a:r>
          </a:p>
        </p:txBody>
      </p:sp>
      <p:sp>
        <p:nvSpPr>
          <p:cNvPr id="9" name="TextBox 8">
            <a:extLst>
              <a:ext uri="{FF2B5EF4-FFF2-40B4-BE49-F238E27FC236}">
                <a16:creationId xmlns:a16="http://schemas.microsoft.com/office/drawing/2014/main" id="{ECD911DF-E930-A551-D1E1-F738B0866D7C}"/>
              </a:ext>
            </a:extLst>
          </p:cNvPr>
          <p:cNvSpPr txBox="1"/>
          <p:nvPr/>
        </p:nvSpPr>
        <p:spPr>
          <a:xfrm>
            <a:off x="6025863" y="3026926"/>
            <a:ext cx="301686" cy="369332"/>
          </a:xfrm>
          <a:prstGeom prst="rect">
            <a:avLst/>
          </a:prstGeom>
          <a:noFill/>
        </p:spPr>
        <p:txBody>
          <a:bodyPr wrap="square" rtlCol="0">
            <a:spAutoFit/>
          </a:bodyPr>
          <a:lstStyle/>
          <a:p>
            <a:r>
              <a:rPr lang="en-US" dirty="0">
                <a:solidFill>
                  <a:srgbClr val="FF0000"/>
                </a:solidFill>
              </a:rPr>
              <a:t>2</a:t>
            </a:r>
          </a:p>
        </p:txBody>
      </p:sp>
      <p:sp>
        <p:nvSpPr>
          <p:cNvPr id="10" name="TextBox 9">
            <a:extLst>
              <a:ext uri="{FF2B5EF4-FFF2-40B4-BE49-F238E27FC236}">
                <a16:creationId xmlns:a16="http://schemas.microsoft.com/office/drawing/2014/main" id="{8B8C9A20-0A1A-C1DD-D320-6F4DB2ADE0DF}"/>
              </a:ext>
            </a:extLst>
          </p:cNvPr>
          <p:cNvSpPr txBox="1"/>
          <p:nvPr/>
        </p:nvSpPr>
        <p:spPr>
          <a:xfrm>
            <a:off x="6178263" y="3179326"/>
            <a:ext cx="301686" cy="369332"/>
          </a:xfrm>
          <a:prstGeom prst="rect">
            <a:avLst/>
          </a:prstGeom>
          <a:noFill/>
        </p:spPr>
        <p:txBody>
          <a:bodyPr wrap="square" rtlCol="0">
            <a:spAutoFit/>
          </a:bodyPr>
          <a:lstStyle/>
          <a:p>
            <a:r>
              <a:rPr lang="en-US" dirty="0">
                <a:solidFill>
                  <a:srgbClr val="FF0000"/>
                </a:solidFill>
              </a:rPr>
              <a:t>3</a:t>
            </a:r>
          </a:p>
        </p:txBody>
      </p:sp>
      <p:sp>
        <p:nvSpPr>
          <p:cNvPr id="11" name="TextBox 10">
            <a:extLst>
              <a:ext uri="{FF2B5EF4-FFF2-40B4-BE49-F238E27FC236}">
                <a16:creationId xmlns:a16="http://schemas.microsoft.com/office/drawing/2014/main" id="{E8235F13-285E-7CEC-F6C8-F2FA18F88E89}"/>
              </a:ext>
            </a:extLst>
          </p:cNvPr>
          <p:cNvSpPr txBox="1"/>
          <p:nvPr/>
        </p:nvSpPr>
        <p:spPr>
          <a:xfrm>
            <a:off x="6108126" y="3363992"/>
            <a:ext cx="301686" cy="369332"/>
          </a:xfrm>
          <a:prstGeom prst="rect">
            <a:avLst/>
          </a:prstGeom>
          <a:noFill/>
        </p:spPr>
        <p:txBody>
          <a:bodyPr wrap="square" rtlCol="0">
            <a:spAutoFit/>
          </a:bodyPr>
          <a:lstStyle/>
          <a:p>
            <a:r>
              <a:rPr lang="en-US" dirty="0">
                <a:solidFill>
                  <a:srgbClr val="FF0000"/>
                </a:solidFill>
              </a:rPr>
              <a:t>4</a:t>
            </a:r>
          </a:p>
        </p:txBody>
      </p:sp>
    </p:spTree>
    <p:extLst>
      <p:ext uri="{BB962C8B-B14F-4D97-AF65-F5344CB8AC3E}">
        <p14:creationId xmlns:p14="http://schemas.microsoft.com/office/powerpoint/2010/main" val="12277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AD9F8-E7C4-9A9A-30E2-E01408034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F79E1-DE87-5D90-9838-9CCF04AEC28B}"/>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endParaRPr lang="en-US" dirty="0"/>
          </a:p>
        </p:txBody>
      </p:sp>
      <p:sp>
        <p:nvSpPr>
          <p:cNvPr id="4" name="Slide Number Placeholder 3">
            <a:extLst>
              <a:ext uri="{FF2B5EF4-FFF2-40B4-BE49-F238E27FC236}">
                <a16:creationId xmlns:a16="http://schemas.microsoft.com/office/drawing/2014/main" id="{BA14D77F-18FD-9923-E4DB-F4EF54C3EA97}"/>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7" name="TextBox 6">
            <a:extLst>
              <a:ext uri="{FF2B5EF4-FFF2-40B4-BE49-F238E27FC236}">
                <a16:creationId xmlns:a16="http://schemas.microsoft.com/office/drawing/2014/main" id="{635AAA6B-74AD-2617-C8AA-5D25A3A65BF7}"/>
              </a:ext>
            </a:extLst>
          </p:cNvPr>
          <p:cNvSpPr txBox="1"/>
          <p:nvPr/>
        </p:nvSpPr>
        <p:spPr>
          <a:xfrm>
            <a:off x="154162" y="912523"/>
            <a:ext cx="4059023" cy="5170646"/>
          </a:xfrm>
          <a:prstGeom prst="rect">
            <a:avLst/>
          </a:prstGeom>
          <a:noFill/>
        </p:spPr>
        <p:txBody>
          <a:bodyPr wrap="square">
            <a:spAutoFit/>
          </a:bodyPr>
          <a:lstStyle/>
          <a:p>
            <a:pPr marL="457200" indent="-457200">
              <a:buFontTx/>
              <a:buChar char="-"/>
            </a:pPr>
            <a:r>
              <a:rPr lang="en-US" sz="2200" dirty="0"/>
              <a:t>Create a desktop icon: </a:t>
            </a:r>
            <a:r>
              <a:rPr lang="en-US" sz="2200" dirty="0" err="1"/>
              <a:t>Tạo</a:t>
            </a:r>
            <a:r>
              <a:rPr lang="en-US" sz="2200" dirty="0"/>
              <a:t> shortcut </a:t>
            </a:r>
            <a:r>
              <a:rPr lang="en-US" sz="2200" dirty="0" err="1"/>
              <a:t>trên</a:t>
            </a:r>
            <a:r>
              <a:rPr lang="en-US" sz="2200" dirty="0"/>
              <a:t> </a:t>
            </a:r>
            <a:r>
              <a:rPr lang="en-US" sz="2200" dirty="0" err="1"/>
              <a:t>màn</a:t>
            </a:r>
            <a:r>
              <a:rPr lang="en-US" sz="2200" dirty="0"/>
              <a:t> </a:t>
            </a:r>
            <a:r>
              <a:rPr lang="en-US" sz="2200" dirty="0" err="1"/>
              <a:t>hình</a:t>
            </a:r>
            <a:r>
              <a:rPr lang="en-US" sz="2200" dirty="0"/>
              <a:t> </a:t>
            </a:r>
            <a:r>
              <a:rPr lang="en-US" sz="2200" dirty="0" err="1"/>
              <a:t>để</a:t>
            </a:r>
            <a:r>
              <a:rPr lang="en-US" sz="2200" dirty="0"/>
              <a:t> </a:t>
            </a:r>
            <a:r>
              <a:rPr lang="en-US" sz="2200" dirty="0" err="1"/>
              <a:t>truy</a:t>
            </a:r>
            <a:r>
              <a:rPr lang="en-US" sz="2200" dirty="0"/>
              <a:t> </a:t>
            </a:r>
            <a:r>
              <a:rPr lang="en-US" sz="2200" dirty="0" err="1"/>
              <a:t>cập</a:t>
            </a:r>
            <a:r>
              <a:rPr lang="en-US" sz="2200" dirty="0"/>
              <a:t> </a:t>
            </a:r>
            <a:r>
              <a:rPr lang="en-US" sz="2200" dirty="0" err="1"/>
              <a:t>dễ</a:t>
            </a:r>
            <a:r>
              <a:rPr lang="en-US" sz="2200" dirty="0"/>
              <a:t> </a:t>
            </a:r>
            <a:r>
              <a:rPr lang="en-US" sz="2200" dirty="0" err="1"/>
              <a:t>hơn</a:t>
            </a:r>
            <a:endParaRPr lang="en-US" sz="2200" dirty="0"/>
          </a:p>
          <a:p>
            <a:pPr marL="457200" indent="-457200">
              <a:buFontTx/>
              <a:buChar char="-"/>
            </a:pPr>
            <a:r>
              <a:rPr lang="en-US" sz="2200" dirty="0"/>
              <a:t>Other 1: Khi </a:t>
            </a:r>
            <a:r>
              <a:rPr lang="en-US" sz="2200" dirty="0" err="1"/>
              <a:t>chuột</a:t>
            </a:r>
            <a:r>
              <a:rPr lang="en-US" sz="2200" dirty="0"/>
              <a:t> </a:t>
            </a:r>
            <a:r>
              <a:rPr lang="en-US" sz="2200" dirty="0" err="1"/>
              <a:t>trái</a:t>
            </a:r>
            <a:r>
              <a:rPr lang="en-US" sz="2200" dirty="0"/>
              <a:t> </a:t>
            </a:r>
            <a:r>
              <a:rPr lang="en-US" sz="2200" dirty="0" err="1"/>
              <a:t>vào</a:t>
            </a:r>
            <a:r>
              <a:rPr lang="en-US" sz="2200" dirty="0"/>
              <a:t> file </a:t>
            </a:r>
            <a:r>
              <a:rPr lang="en-US" sz="2200" dirty="0" err="1"/>
              <a:t>sẽ</a:t>
            </a:r>
            <a:r>
              <a:rPr lang="en-US" sz="2200" dirty="0"/>
              <a:t> </a:t>
            </a:r>
            <a:r>
              <a:rPr lang="en-US" sz="2200" dirty="0" err="1"/>
              <a:t>hiện</a:t>
            </a:r>
            <a:r>
              <a:rPr lang="en-US" sz="2200" dirty="0"/>
              <a:t> </a:t>
            </a:r>
            <a:r>
              <a:rPr lang="en-US" sz="2200" dirty="0" err="1"/>
              <a:t>thêm</a:t>
            </a:r>
            <a:r>
              <a:rPr lang="en-US" sz="2200" dirty="0"/>
              <a:t> </a:t>
            </a:r>
            <a:r>
              <a:rPr lang="en-US" sz="2200" dirty="0" err="1"/>
              <a:t>tùy</a:t>
            </a:r>
            <a:r>
              <a:rPr lang="en-US" sz="2200" dirty="0"/>
              <a:t> </a:t>
            </a:r>
            <a:r>
              <a:rPr lang="en-US" sz="2200" dirty="0" err="1"/>
              <a:t>chọn</a:t>
            </a:r>
            <a:r>
              <a:rPr lang="en-US" sz="2200" dirty="0"/>
              <a:t> </a:t>
            </a:r>
            <a:r>
              <a:rPr lang="en-US" sz="2200" dirty="0" err="1"/>
              <a:t>mở</a:t>
            </a:r>
            <a:r>
              <a:rPr lang="en-US" sz="2200" dirty="0"/>
              <a:t> file </a:t>
            </a:r>
            <a:r>
              <a:rPr lang="en-US" sz="2200" dirty="0" err="1"/>
              <a:t>bằng</a:t>
            </a:r>
            <a:r>
              <a:rPr lang="en-US" sz="2200" dirty="0"/>
              <a:t> VS code</a:t>
            </a:r>
          </a:p>
          <a:p>
            <a:pPr marL="457200" indent="-457200">
              <a:buFontTx/>
              <a:buChar char="-"/>
            </a:pPr>
            <a:r>
              <a:rPr lang="en-US" sz="2200" dirty="0"/>
              <a:t>Other 2: Khi </a:t>
            </a:r>
            <a:r>
              <a:rPr lang="en-US" sz="2200" dirty="0" err="1"/>
              <a:t>choột</a:t>
            </a:r>
            <a:r>
              <a:rPr lang="en-US" sz="2200" dirty="0"/>
              <a:t> </a:t>
            </a:r>
            <a:r>
              <a:rPr lang="en-US" sz="2200" dirty="0" err="1"/>
              <a:t>trái</a:t>
            </a:r>
            <a:r>
              <a:rPr lang="en-US" sz="2200" dirty="0"/>
              <a:t> </a:t>
            </a:r>
            <a:r>
              <a:rPr lang="en-US" sz="2200" dirty="0" err="1"/>
              <a:t>vào</a:t>
            </a:r>
            <a:r>
              <a:rPr lang="en-US" sz="2200" dirty="0"/>
              <a:t> folder </a:t>
            </a:r>
            <a:r>
              <a:rPr lang="en-US" sz="2200" dirty="0" err="1"/>
              <a:t>sẽ</a:t>
            </a:r>
            <a:r>
              <a:rPr lang="en-US" sz="2200" dirty="0"/>
              <a:t> </a:t>
            </a:r>
            <a:r>
              <a:rPr lang="en-US" sz="2200" dirty="0" err="1"/>
              <a:t>hiện</a:t>
            </a:r>
            <a:r>
              <a:rPr lang="en-US" sz="2200" dirty="0"/>
              <a:t> </a:t>
            </a:r>
            <a:r>
              <a:rPr lang="en-US" sz="2200" dirty="0" err="1"/>
              <a:t>thêm</a:t>
            </a:r>
            <a:r>
              <a:rPr lang="en-US" sz="2200" dirty="0"/>
              <a:t> </a:t>
            </a:r>
            <a:r>
              <a:rPr lang="en-US" sz="2200" dirty="0" err="1"/>
              <a:t>tùy</a:t>
            </a:r>
            <a:r>
              <a:rPr lang="en-US" sz="2200" dirty="0"/>
              <a:t> </a:t>
            </a:r>
            <a:r>
              <a:rPr lang="en-US" sz="2200" dirty="0" err="1"/>
              <a:t>chọn</a:t>
            </a:r>
            <a:r>
              <a:rPr lang="en-US" sz="2200" dirty="0"/>
              <a:t> </a:t>
            </a:r>
            <a:r>
              <a:rPr lang="en-US" sz="2200" dirty="0" err="1"/>
              <a:t>mở</a:t>
            </a:r>
            <a:r>
              <a:rPr lang="en-US" sz="2200" dirty="0"/>
              <a:t> file </a:t>
            </a:r>
            <a:r>
              <a:rPr lang="en-US" sz="2200" dirty="0" err="1"/>
              <a:t>bằng</a:t>
            </a:r>
            <a:r>
              <a:rPr lang="en-US" sz="2200" dirty="0"/>
              <a:t> VS code</a:t>
            </a:r>
          </a:p>
          <a:p>
            <a:pPr marL="457200" indent="-457200">
              <a:buFontTx/>
              <a:buChar char="-"/>
            </a:pPr>
            <a:r>
              <a:rPr lang="en-US" sz="2200" dirty="0"/>
              <a:t>Other 3: Cài </a:t>
            </a:r>
            <a:r>
              <a:rPr lang="en-US" sz="2200" dirty="0" err="1"/>
              <a:t>đặt</a:t>
            </a:r>
            <a:r>
              <a:rPr lang="en-US" sz="2200" dirty="0"/>
              <a:t> VS code </a:t>
            </a:r>
            <a:r>
              <a:rPr lang="en-US" sz="2200" dirty="0" err="1"/>
              <a:t>là</a:t>
            </a:r>
            <a:r>
              <a:rPr lang="en-US" sz="2200" dirty="0"/>
              <a:t> </a:t>
            </a:r>
            <a:r>
              <a:rPr lang="en-US" sz="2200" dirty="0" err="1"/>
              <a:t>trình</a:t>
            </a:r>
            <a:r>
              <a:rPr lang="en-US" sz="2200" dirty="0"/>
              <a:t> </a:t>
            </a:r>
            <a:r>
              <a:rPr lang="en-US" sz="2200" dirty="0" err="1"/>
              <a:t>chỉnh</a:t>
            </a:r>
            <a:r>
              <a:rPr lang="en-US" sz="2200" dirty="0"/>
              <a:t> </a:t>
            </a:r>
            <a:r>
              <a:rPr lang="en-US" sz="2200" dirty="0" err="1"/>
              <a:t>sửa</a:t>
            </a:r>
            <a:endParaRPr lang="en-US" sz="2200" dirty="0"/>
          </a:p>
          <a:p>
            <a:pPr marL="457200" indent="-457200">
              <a:buFontTx/>
              <a:buChar char="-"/>
            </a:pPr>
            <a:r>
              <a:rPr lang="en-US" sz="2200" b="1" dirty="0">
                <a:solidFill>
                  <a:srgbClr val="FF0000"/>
                </a:solidFill>
              </a:rPr>
              <a:t>Other 4: </a:t>
            </a:r>
            <a:r>
              <a:rPr lang="en-US" sz="2200" b="1" dirty="0" err="1">
                <a:solidFill>
                  <a:srgbClr val="FF0000"/>
                </a:solidFill>
              </a:rPr>
              <a:t>Thêm</a:t>
            </a:r>
            <a:r>
              <a:rPr lang="en-US" sz="2200" b="1" dirty="0">
                <a:solidFill>
                  <a:srgbClr val="FF0000"/>
                </a:solidFill>
              </a:rPr>
              <a:t> ĐƯỜNG DẪN (PATH) – </a:t>
            </a:r>
            <a:r>
              <a:rPr lang="en-US" sz="2200" b="1" dirty="0" err="1">
                <a:solidFill>
                  <a:srgbClr val="FF0000"/>
                </a:solidFill>
              </a:rPr>
              <a:t>bắt</a:t>
            </a:r>
            <a:r>
              <a:rPr lang="en-US" sz="2200" b="1" dirty="0">
                <a:solidFill>
                  <a:srgbClr val="FF0000"/>
                </a:solidFill>
              </a:rPr>
              <a:t> </a:t>
            </a:r>
            <a:r>
              <a:rPr lang="en-US" sz="2200" b="1" dirty="0" err="1">
                <a:solidFill>
                  <a:srgbClr val="FF0000"/>
                </a:solidFill>
              </a:rPr>
              <a:t>buộc</a:t>
            </a:r>
            <a:r>
              <a:rPr lang="en-US" sz="2200" b="1" dirty="0">
                <a:solidFill>
                  <a:srgbClr val="FF0000"/>
                </a:solidFill>
              </a:rPr>
              <a:t> tick =&gt; </a:t>
            </a:r>
            <a:r>
              <a:rPr lang="en-US" sz="2200" b="1" dirty="0" err="1">
                <a:solidFill>
                  <a:srgbClr val="FF0000"/>
                </a:solidFill>
              </a:rPr>
              <a:t>mục</a:t>
            </a:r>
            <a:r>
              <a:rPr lang="en-US" sz="2200" b="1" dirty="0">
                <a:solidFill>
                  <a:srgbClr val="FF0000"/>
                </a:solidFill>
              </a:rPr>
              <a:t> </a:t>
            </a:r>
            <a:r>
              <a:rPr lang="en-US" sz="2200" b="1" dirty="0" err="1">
                <a:solidFill>
                  <a:srgbClr val="FF0000"/>
                </a:solidFill>
              </a:rPr>
              <a:t>đích</a:t>
            </a:r>
            <a:r>
              <a:rPr lang="en-US" sz="2200" b="1" dirty="0">
                <a:solidFill>
                  <a:srgbClr val="FF0000"/>
                </a:solidFill>
              </a:rPr>
              <a:t> </a:t>
            </a:r>
            <a:r>
              <a:rPr lang="en-US" sz="2200" b="1" dirty="0" err="1">
                <a:solidFill>
                  <a:srgbClr val="FF0000"/>
                </a:solidFill>
              </a:rPr>
              <a:t>khi</a:t>
            </a:r>
            <a:r>
              <a:rPr lang="en-US" sz="2200" b="1" dirty="0">
                <a:solidFill>
                  <a:srgbClr val="FF0000"/>
                </a:solidFill>
              </a:rPr>
              <a:t> </a:t>
            </a:r>
            <a:r>
              <a:rPr lang="en-US" sz="2200" b="1" dirty="0" err="1">
                <a:solidFill>
                  <a:srgbClr val="FF0000"/>
                </a:solidFill>
              </a:rPr>
              <a:t>gõ</a:t>
            </a:r>
            <a:r>
              <a:rPr lang="en-US" sz="2200" b="1" dirty="0">
                <a:solidFill>
                  <a:srgbClr val="FF0000"/>
                </a:solidFill>
              </a:rPr>
              <a:t> code . </a:t>
            </a:r>
            <a:r>
              <a:rPr lang="en-US" sz="2200" b="1" dirty="0" err="1">
                <a:solidFill>
                  <a:srgbClr val="FF0000"/>
                </a:solidFill>
              </a:rPr>
              <a:t>Trên</a:t>
            </a:r>
            <a:r>
              <a:rPr lang="en-US" sz="2200" b="1" dirty="0">
                <a:solidFill>
                  <a:srgbClr val="FF0000"/>
                </a:solidFill>
              </a:rPr>
              <a:t> terminal </a:t>
            </a:r>
            <a:r>
              <a:rPr lang="en-US" sz="2200" b="1" dirty="0" err="1">
                <a:solidFill>
                  <a:srgbClr val="FF0000"/>
                </a:solidFill>
              </a:rPr>
              <a:t>sẽ</a:t>
            </a:r>
            <a:r>
              <a:rPr lang="en-US" sz="2200" b="1" dirty="0">
                <a:solidFill>
                  <a:srgbClr val="FF0000"/>
                </a:solidFill>
              </a:rPr>
              <a:t> </a:t>
            </a:r>
            <a:r>
              <a:rPr lang="en-US" sz="2200" b="1" dirty="0" err="1">
                <a:solidFill>
                  <a:srgbClr val="FF0000"/>
                </a:solidFill>
              </a:rPr>
              <a:t>mở</a:t>
            </a:r>
            <a:r>
              <a:rPr lang="en-US" sz="2200" b="1" dirty="0">
                <a:solidFill>
                  <a:srgbClr val="FF0000"/>
                </a:solidFill>
              </a:rPr>
              <a:t> VS Code</a:t>
            </a:r>
          </a:p>
        </p:txBody>
      </p:sp>
      <p:pic>
        <p:nvPicPr>
          <p:cNvPr id="6" name="Picture 5">
            <a:extLst>
              <a:ext uri="{FF2B5EF4-FFF2-40B4-BE49-F238E27FC236}">
                <a16:creationId xmlns:a16="http://schemas.microsoft.com/office/drawing/2014/main" id="{5FC9FB3F-CCA5-0824-9F44-4EDDCCB35F6A}"/>
              </a:ext>
            </a:extLst>
          </p:cNvPr>
          <p:cNvPicPr>
            <a:picLocks noChangeAspect="1"/>
          </p:cNvPicPr>
          <p:nvPr/>
        </p:nvPicPr>
        <p:blipFill>
          <a:blip r:embed="rId2"/>
          <a:stretch>
            <a:fillRect/>
          </a:stretch>
        </p:blipFill>
        <p:spPr>
          <a:xfrm>
            <a:off x="4117158" y="912523"/>
            <a:ext cx="7515399" cy="4723031"/>
          </a:xfrm>
          <a:prstGeom prst="rect">
            <a:avLst/>
          </a:prstGeom>
        </p:spPr>
      </p:pic>
      <p:sp>
        <p:nvSpPr>
          <p:cNvPr id="8" name="TextBox 7">
            <a:extLst>
              <a:ext uri="{FF2B5EF4-FFF2-40B4-BE49-F238E27FC236}">
                <a16:creationId xmlns:a16="http://schemas.microsoft.com/office/drawing/2014/main" id="{3D8F1C32-42F0-55B6-B97B-9B1BEE99CE18}"/>
              </a:ext>
            </a:extLst>
          </p:cNvPr>
          <p:cNvSpPr txBox="1"/>
          <p:nvPr/>
        </p:nvSpPr>
        <p:spPr>
          <a:xfrm>
            <a:off x="6096000" y="2842260"/>
            <a:ext cx="301686" cy="369332"/>
          </a:xfrm>
          <a:prstGeom prst="rect">
            <a:avLst/>
          </a:prstGeom>
          <a:noFill/>
        </p:spPr>
        <p:txBody>
          <a:bodyPr wrap="none" rtlCol="0">
            <a:spAutoFit/>
          </a:bodyPr>
          <a:lstStyle/>
          <a:p>
            <a:r>
              <a:rPr lang="en-US" dirty="0">
                <a:solidFill>
                  <a:srgbClr val="FF0000"/>
                </a:solidFill>
              </a:rPr>
              <a:t>1</a:t>
            </a:r>
          </a:p>
        </p:txBody>
      </p:sp>
      <p:sp>
        <p:nvSpPr>
          <p:cNvPr id="9" name="TextBox 8">
            <a:extLst>
              <a:ext uri="{FF2B5EF4-FFF2-40B4-BE49-F238E27FC236}">
                <a16:creationId xmlns:a16="http://schemas.microsoft.com/office/drawing/2014/main" id="{D0B4E63F-3366-64B4-36E4-F88B0C4CBAC3}"/>
              </a:ext>
            </a:extLst>
          </p:cNvPr>
          <p:cNvSpPr txBox="1"/>
          <p:nvPr/>
        </p:nvSpPr>
        <p:spPr>
          <a:xfrm>
            <a:off x="6025863" y="3026926"/>
            <a:ext cx="301686" cy="369332"/>
          </a:xfrm>
          <a:prstGeom prst="rect">
            <a:avLst/>
          </a:prstGeom>
          <a:noFill/>
        </p:spPr>
        <p:txBody>
          <a:bodyPr wrap="square" rtlCol="0">
            <a:spAutoFit/>
          </a:bodyPr>
          <a:lstStyle/>
          <a:p>
            <a:r>
              <a:rPr lang="en-US" dirty="0">
                <a:solidFill>
                  <a:srgbClr val="FF0000"/>
                </a:solidFill>
              </a:rPr>
              <a:t>2</a:t>
            </a:r>
          </a:p>
        </p:txBody>
      </p:sp>
      <p:sp>
        <p:nvSpPr>
          <p:cNvPr id="10" name="TextBox 9">
            <a:extLst>
              <a:ext uri="{FF2B5EF4-FFF2-40B4-BE49-F238E27FC236}">
                <a16:creationId xmlns:a16="http://schemas.microsoft.com/office/drawing/2014/main" id="{48CEE50E-117F-9E66-B1CF-2B982EAFF6C8}"/>
              </a:ext>
            </a:extLst>
          </p:cNvPr>
          <p:cNvSpPr txBox="1"/>
          <p:nvPr/>
        </p:nvSpPr>
        <p:spPr>
          <a:xfrm>
            <a:off x="6178263" y="3179326"/>
            <a:ext cx="301686" cy="369332"/>
          </a:xfrm>
          <a:prstGeom prst="rect">
            <a:avLst/>
          </a:prstGeom>
          <a:noFill/>
        </p:spPr>
        <p:txBody>
          <a:bodyPr wrap="square" rtlCol="0">
            <a:spAutoFit/>
          </a:bodyPr>
          <a:lstStyle/>
          <a:p>
            <a:r>
              <a:rPr lang="en-US" dirty="0">
                <a:solidFill>
                  <a:srgbClr val="FF0000"/>
                </a:solidFill>
              </a:rPr>
              <a:t>3</a:t>
            </a:r>
          </a:p>
        </p:txBody>
      </p:sp>
      <p:sp>
        <p:nvSpPr>
          <p:cNvPr id="11" name="TextBox 10">
            <a:extLst>
              <a:ext uri="{FF2B5EF4-FFF2-40B4-BE49-F238E27FC236}">
                <a16:creationId xmlns:a16="http://schemas.microsoft.com/office/drawing/2014/main" id="{2D584D47-7F54-13C8-C7CD-E78176583CAB}"/>
              </a:ext>
            </a:extLst>
          </p:cNvPr>
          <p:cNvSpPr txBox="1"/>
          <p:nvPr/>
        </p:nvSpPr>
        <p:spPr>
          <a:xfrm>
            <a:off x="6108126" y="3363992"/>
            <a:ext cx="301686" cy="369332"/>
          </a:xfrm>
          <a:prstGeom prst="rect">
            <a:avLst/>
          </a:prstGeom>
          <a:noFill/>
        </p:spPr>
        <p:txBody>
          <a:bodyPr wrap="square" rtlCol="0">
            <a:spAutoFit/>
          </a:bodyPr>
          <a:lstStyle/>
          <a:p>
            <a:r>
              <a:rPr lang="en-US" dirty="0">
                <a:solidFill>
                  <a:srgbClr val="FF0000"/>
                </a:solidFill>
              </a:rPr>
              <a:t>4</a:t>
            </a:r>
          </a:p>
        </p:txBody>
      </p:sp>
    </p:spTree>
    <p:extLst>
      <p:ext uri="{BB962C8B-B14F-4D97-AF65-F5344CB8AC3E}">
        <p14:creationId xmlns:p14="http://schemas.microsoft.com/office/powerpoint/2010/main" val="1010996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736E-F7D7-A4C8-9CBC-DDA6DF756635}"/>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br>
              <a:rPr lang="en-US" dirty="0"/>
            </a:br>
            <a:endParaRPr lang="en-US" dirty="0"/>
          </a:p>
        </p:txBody>
      </p:sp>
      <p:sp>
        <p:nvSpPr>
          <p:cNvPr id="3" name="Text Placeholder 2">
            <a:extLst>
              <a:ext uri="{FF2B5EF4-FFF2-40B4-BE49-F238E27FC236}">
                <a16:creationId xmlns:a16="http://schemas.microsoft.com/office/drawing/2014/main" id="{D620C671-C7C3-DCAE-2013-1A701C9BBB94}"/>
              </a:ext>
            </a:extLst>
          </p:cNvPr>
          <p:cNvSpPr>
            <a:spLocks noGrp="1"/>
          </p:cNvSpPr>
          <p:nvPr>
            <p:ph type="body" sz="quarter" idx="13"/>
          </p:nvPr>
        </p:nvSpPr>
        <p:spPr>
          <a:xfrm>
            <a:off x="337540" y="1032511"/>
            <a:ext cx="8470794" cy="1270852"/>
          </a:xfrm>
        </p:spPr>
        <p:txBody>
          <a:bodyPr/>
          <a:lstStyle/>
          <a:p>
            <a:r>
              <a:rPr lang="en-US" dirty="0"/>
              <a:t>Cài </a:t>
            </a:r>
            <a:r>
              <a:rPr lang="en-US" dirty="0" err="1"/>
              <a:t>đặt</a:t>
            </a:r>
            <a:r>
              <a:rPr lang="en-US" dirty="0"/>
              <a:t> extensions C/C++ </a:t>
            </a:r>
          </a:p>
          <a:p>
            <a:r>
              <a:rPr lang="en-US" dirty="0" err="1"/>
              <a:t>Có</a:t>
            </a:r>
            <a:r>
              <a:rPr lang="en-US" dirty="0"/>
              <a:t> </a:t>
            </a:r>
            <a:r>
              <a:rPr lang="en-US" dirty="0" err="1"/>
              <a:t>thể</a:t>
            </a:r>
            <a:r>
              <a:rPr lang="en-US" dirty="0"/>
              <a:t> </a:t>
            </a:r>
            <a:r>
              <a:rPr lang="en-US" dirty="0" err="1"/>
              <a:t>cài</a:t>
            </a:r>
            <a:r>
              <a:rPr lang="en-US" dirty="0"/>
              <a:t> </a:t>
            </a:r>
            <a:r>
              <a:rPr lang="en-US" dirty="0" err="1"/>
              <a:t>đặt</a:t>
            </a:r>
            <a:r>
              <a:rPr lang="en-US" dirty="0"/>
              <a:t> </a:t>
            </a:r>
            <a:r>
              <a:rPr lang="en-US" dirty="0" err="1"/>
              <a:t>thêm</a:t>
            </a:r>
            <a:r>
              <a:rPr lang="en-US" dirty="0"/>
              <a:t> </a:t>
            </a:r>
            <a:r>
              <a:rPr lang="en-US" dirty="0" err="1"/>
              <a:t>các</a:t>
            </a:r>
            <a:r>
              <a:rPr lang="en-US" dirty="0"/>
              <a:t> </a:t>
            </a:r>
            <a:r>
              <a:rPr lang="en-US" dirty="0" err="1"/>
              <a:t>gói</a:t>
            </a:r>
            <a:r>
              <a:rPr lang="en-US" dirty="0"/>
              <a:t> </a:t>
            </a:r>
            <a:r>
              <a:rPr lang="en-US" dirty="0" err="1"/>
              <a:t>mở</a:t>
            </a:r>
            <a:r>
              <a:rPr lang="en-US" dirty="0"/>
              <a:t> </a:t>
            </a:r>
            <a:r>
              <a:rPr lang="en-US" dirty="0" err="1"/>
              <a:t>rộng</a:t>
            </a:r>
            <a:endParaRPr lang="en-US" dirty="0"/>
          </a:p>
        </p:txBody>
      </p:sp>
      <p:sp>
        <p:nvSpPr>
          <p:cNvPr id="4" name="Slide Number Placeholder 3">
            <a:extLst>
              <a:ext uri="{FF2B5EF4-FFF2-40B4-BE49-F238E27FC236}">
                <a16:creationId xmlns:a16="http://schemas.microsoft.com/office/drawing/2014/main" id="{F6B47E95-1BC5-3C1C-1F8D-DFC7FFC83797}"/>
              </a:ext>
            </a:extLst>
          </p:cNvPr>
          <p:cNvSpPr>
            <a:spLocks noGrp="1"/>
          </p:cNvSpPr>
          <p:nvPr>
            <p:ph type="sldNum" sz="quarter" idx="12"/>
          </p:nvPr>
        </p:nvSpPr>
        <p:spPr/>
        <p:txBody>
          <a:bodyPr/>
          <a:lstStyle/>
          <a:p>
            <a:fld id="{9EA0BE3B-158A-4EDF-80DC-E394A0D1600F}" type="slidenum">
              <a:rPr lang="en-US" smtClean="0"/>
              <a:pPr/>
              <a:t>9</a:t>
            </a:fld>
            <a:endParaRPr lang="en-US"/>
          </a:p>
        </p:txBody>
      </p:sp>
      <p:pic>
        <p:nvPicPr>
          <p:cNvPr id="6" name="Picture 5">
            <a:extLst>
              <a:ext uri="{FF2B5EF4-FFF2-40B4-BE49-F238E27FC236}">
                <a16:creationId xmlns:a16="http://schemas.microsoft.com/office/drawing/2014/main" id="{60CC250F-BCC4-D6FC-E266-80B1CA8390B1}"/>
              </a:ext>
            </a:extLst>
          </p:cNvPr>
          <p:cNvPicPr>
            <a:picLocks noChangeAspect="1"/>
          </p:cNvPicPr>
          <p:nvPr/>
        </p:nvPicPr>
        <p:blipFill>
          <a:blip r:embed="rId2"/>
          <a:stretch>
            <a:fillRect/>
          </a:stretch>
        </p:blipFill>
        <p:spPr>
          <a:xfrm>
            <a:off x="1518158" y="2581496"/>
            <a:ext cx="8683703" cy="3505474"/>
          </a:xfrm>
          <a:prstGeom prst="rect">
            <a:avLst/>
          </a:prstGeom>
        </p:spPr>
      </p:pic>
    </p:spTree>
    <p:extLst>
      <p:ext uri="{BB962C8B-B14F-4D97-AF65-F5344CB8AC3E}">
        <p14:creationId xmlns:p14="http://schemas.microsoft.com/office/powerpoint/2010/main" val="49792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3B92C-EC1D-B3AE-26BA-68E73DE44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9435C-D8A0-B154-6DD8-DD6FF991EC40}"/>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br>
              <a:rPr lang="en-US" dirty="0"/>
            </a:br>
            <a:endParaRPr lang="en-US" dirty="0"/>
          </a:p>
        </p:txBody>
      </p:sp>
      <p:sp>
        <p:nvSpPr>
          <p:cNvPr id="3" name="Text Placeholder 2">
            <a:extLst>
              <a:ext uri="{FF2B5EF4-FFF2-40B4-BE49-F238E27FC236}">
                <a16:creationId xmlns:a16="http://schemas.microsoft.com/office/drawing/2014/main" id="{26D9E855-401B-F8BF-011F-EEB564FB666E}"/>
              </a:ext>
            </a:extLst>
          </p:cNvPr>
          <p:cNvSpPr>
            <a:spLocks noGrp="1"/>
          </p:cNvSpPr>
          <p:nvPr>
            <p:ph type="body" sz="quarter" idx="13"/>
          </p:nvPr>
        </p:nvSpPr>
        <p:spPr>
          <a:xfrm>
            <a:off x="337540" y="1032511"/>
            <a:ext cx="8470794" cy="1270852"/>
          </a:xfrm>
        </p:spPr>
        <p:txBody>
          <a:bodyPr/>
          <a:lstStyle/>
          <a:p>
            <a:pPr marL="0" indent="0">
              <a:buNone/>
            </a:pPr>
            <a:r>
              <a:rPr lang="en-US" dirty="0" err="1"/>
              <a:t>Kiểm</a:t>
            </a:r>
            <a:r>
              <a:rPr lang="en-US" dirty="0"/>
              <a:t> </a:t>
            </a:r>
            <a:r>
              <a:rPr lang="en-US" dirty="0" err="1"/>
              <a:t>tra</a:t>
            </a:r>
            <a:r>
              <a:rPr lang="en-US" dirty="0"/>
              <a:t> </a:t>
            </a:r>
            <a:r>
              <a:rPr lang="en-US" dirty="0" err="1"/>
              <a:t>môi</a:t>
            </a:r>
            <a:r>
              <a:rPr lang="en-US" dirty="0"/>
              <a:t> </a:t>
            </a:r>
            <a:r>
              <a:rPr lang="en-US" dirty="0" err="1"/>
              <a:t>trường</a:t>
            </a:r>
            <a:r>
              <a:rPr lang="en-US" dirty="0"/>
              <a:t> C/C++</a:t>
            </a:r>
          </a:p>
          <a:p>
            <a:pPr marL="0" indent="0">
              <a:buNone/>
            </a:pPr>
            <a:r>
              <a:rPr lang="en-US" dirty="0"/>
              <a:t>B1: </a:t>
            </a:r>
            <a:r>
              <a:rPr lang="en-US" dirty="0" err="1"/>
              <a:t>Mở</a:t>
            </a:r>
            <a:r>
              <a:rPr lang="en-US" dirty="0"/>
              <a:t> terminal </a:t>
            </a:r>
            <a:r>
              <a:rPr lang="en-US" dirty="0" err="1"/>
              <a:t>hoặc</a:t>
            </a:r>
            <a:r>
              <a:rPr lang="en-US" dirty="0"/>
              <a:t> Ctrl + Shift + `</a:t>
            </a:r>
          </a:p>
          <a:p>
            <a:pPr marL="0" indent="0">
              <a:buNone/>
            </a:pPr>
            <a:endParaRPr lang="en-US" dirty="0"/>
          </a:p>
          <a:p>
            <a:pPr marL="0" indent="0">
              <a:buNone/>
            </a:pPr>
            <a:endParaRPr lang="en-US" dirty="0"/>
          </a:p>
          <a:p>
            <a:pPr marL="0" indent="0">
              <a:buNone/>
            </a:pPr>
            <a:r>
              <a:rPr lang="en-US" dirty="0"/>
              <a:t>B2: </a:t>
            </a:r>
            <a:r>
              <a:rPr lang="en-US" dirty="0" err="1"/>
              <a:t>gõ</a:t>
            </a:r>
            <a:r>
              <a:rPr lang="en-US" dirty="0"/>
              <a:t> “</a:t>
            </a:r>
            <a:r>
              <a:rPr lang="en-US" dirty="0" err="1"/>
              <a:t>gcc</a:t>
            </a:r>
            <a:r>
              <a:rPr lang="en-US" dirty="0"/>
              <a:t> --version” </a:t>
            </a:r>
            <a:r>
              <a:rPr lang="en-US" dirty="0" err="1"/>
              <a:t>cần</a:t>
            </a:r>
            <a:r>
              <a:rPr lang="en-US" dirty="0"/>
              <a:t> </a:t>
            </a:r>
            <a:r>
              <a:rPr lang="en-US" dirty="0" err="1"/>
              <a:t>hiển</a:t>
            </a:r>
            <a:r>
              <a:rPr lang="en-US" dirty="0"/>
              <a:t> </a:t>
            </a:r>
            <a:r>
              <a:rPr lang="en-US" dirty="0" err="1"/>
              <a:t>thị</a:t>
            </a:r>
            <a:r>
              <a:rPr lang="en-US" dirty="0"/>
              <a:t> </a:t>
            </a:r>
            <a:r>
              <a:rPr lang="en-US" dirty="0" err="1"/>
              <a:t>như</a:t>
            </a:r>
            <a:r>
              <a:rPr lang="en-US" dirty="0"/>
              <a:t> </a:t>
            </a:r>
            <a:r>
              <a:rPr lang="en-US" dirty="0" err="1"/>
              <a:t>sau</a:t>
            </a:r>
            <a:r>
              <a:rPr lang="en-US" dirty="0"/>
              <a:t>:</a:t>
            </a:r>
          </a:p>
          <a:p>
            <a:pPr marL="0" indent="0">
              <a:buNone/>
            </a:pPr>
            <a:endParaRPr lang="en-US" dirty="0"/>
          </a:p>
        </p:txBody>
      </p:sp>
      <p:sp>
        <p:nvSpPr>
          <p:cNvPr id="4" name="Slide Number Placeholder 3">
            <a:extLst>
              <a:ext uri="{FF2B5EF4-FFF2-40B4-BE49-F238E27FC236}">
                <a16:creationId xmlns:a16="http://schemas.microsoft.com/office/drawing/2014/main" id="{E0EF08C0-7E55-13C7-20DB-7513CBF948C8}"/>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7" name="Picture 6">
            <a:extLst>
              <a:ext uri="{FF2B5EF4-FFF2-40B4-BE49-F238E27FC236}">
                <a16:creationId xmlns:a16="http://schemas.microsoft.com/office/drawing/2014/main" id="{58C3BACA-1253-6EF4-B21C-ECFDCA134FE3}"/>
              </a:ext>
            </a:extLst>
          </p:cNvPr>
          <p:cNvPicPr>
            <a:picLocks noChangeAspect="1"/>
          </p:cNvPicPr>
          <p:nvPr/>
        </p:nvPicPr>
        <p:blipFill>
          <a:blip r:embed="rId2"/>
          <a:stretch>
            <a:fillRect/>
          </a:stretch>
        </p:blipFill>
        <p:spPr>
          <a:xfrm>
            <a:off x="669525" y="2099095"/>
            <a:ext cx="8306520" cy="800169"/>
          </a:xfrm>
          <a:prstGeom prst="rect">
            <a:avLst/>
          </a:prstGeom>
        </p:spPr>
      </p:pic>
      <p:pic>
        <p:nvPicPr>
          <p:cNvPr id="9" name="Picture 8">
            <a:extLst>
              <a:ext uri="{FF2B5EF4-FFF2-40B4-BE49-F238E27FC236}">
                <a16:creationId xmlns:a16="http://schemas.microsoft.com/office/drawing/2014/main" id="{D2F4D150-AEF5-6401-9F98-690574EF5680}"/>
              </a:ext>
            </a:extLst>
          </p:cNvPr>
          <p:cNvPicPr>
            <a:picLocks noChangeAspect="1"/>
          </p:cNvPicPr>
          <p:nvPr/>
        </p:nvPicPr>
        <p:blipFill>
          <a:blip r:embed="rId3"/>
          <a:stretch>
            <a:fillRect/>
          </a:stretch>
        </p:blipFill>
        <p:spPr>
          <a:xfrm>
            <a:off x="669525" y="3775289"/>
            <a:ext cx="8923793" cy="1348857"/>
          </a:xfrm>
          <a:prstGeom prst="rect">
            <a:avLst/>
          </a:prstGeom>
        </p:spPr>
      </p:pic>
    </p:spTree>
    <p:extLst>
      <p:ext uri="{BB962C8B-B14F-4D97-AF65-F5344CB8AC3E}">
        <p14:creationId xmlns:p14="http://schemas.microsoft.com/office/powerpoint/2010/main" val="362120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DE879-312F-A7F5-9ED9-40FEE4F4E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02BCE-8ACA-C15F-2794-BCDD7DBA66E2}"/>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br>
              <a:rPr lang="en-US" dirty="0"/>
            </a:br>
            <a:endParaRPr lang="en-US" dirty="0"/>
          </a:p>
        </p:txBody>
      </p:sp>
      <p:sp>
        <p:nvSpPr>
          <p:cNvPr id="3" name="Text Placeholder 2">
            <a:extLst>
              <a:ext uri="{FF2B5EF4-FFF2-40B4-BE49-F238E27FC236}">
                <a16:creationId xmlns:a16="http://schemas.microsoft.com/office/drawing/2014/main" id="{D19FCD70-194D-2C77-55A4-31F18B05F4C3}"/>
              </a:ext>
            </a:extLst>
          </p:cNvPr>
          <p:cNvSpPr>
            <a:spLocks noGrp="1"/>
          </p:cNvSpPr>
          <p:nvPr>
            <p:ph type="body" sz="quarter" idx="13"/>
          </p:nvPr>
        </p:nvSpPr>
        <p:spPr>
          <a:xfrm>
            <a:off x="216997" y="1000681"/>
            <a:ext cx="11758005" cy="1270852"/>
          </a:xfrm>
        </p:spPr>
        <p:txBody>
          <a:bodyPr/>
          <a:lstStyle/>
          <a:p>
            <a:pPr marL="0" indent="0">
              <a:buNone/>
            </a:pPr>
            <a:r>
              <a:rPr lang="en-US" dirty="0" err="1"/>
              <a:t>Chưa</a:t>
            </a:r>
            <a:r>
              <a:rPr lang="en-US" dirty="0"/>
              <a:t> </a:t>
            </a:r>
            <a:r>
              <a:rPr lang="en-US" dirty="0" err="1"/>
              <a:t>có</a:t>
            </a:r>
            <a:r>
              <a:rPr lang="en-US" dirty="0"/>
              <a:t> compiler: https://code.visualstudio.com/docs/languages/cpp</a:t>
            </a:r>
          </a:p>
        </p:txBody>
      </p:sp>
      <p:sp>
        <p:nvSpPr>
          <p:cNvPr id="4" name="Slide Number Placeholder 3">
            <a:extLst>
              <a:ext uri="{FF2B5EF4-FFF2-40B4-BE49-F238E27FC236}">
                <a16:creationId xmlns:a16="http://schemas.microsoft.com/office/drawing/2014/main" id="{B2BBD2D1-2C8F-BD88-D57B-22ACED39DD04}"/>
              </a:ext>
            </a:extLst>
          </p:cNvPr>
          <p:cNvSpPr>
            <a:spLocks noGrp="1"/>
          </p:cNvSpPr>
          <p:nvPr>
            <p:ph type="sldNum" sz="quarter" idx="12"/>
          </p:nvPr>
        </p:nvSpPr>
        <p:spPr/>
        <p:txBody>
          <a:bodyPr/>
          <a:lstStyle/>
          <a:p>
            <a:fld id="{9EA0BE3B-158A-4EDF-80DC-E394A0D1600F}" type="slidenum">
              <a:rPr lang="en-US" smtClean="0"/>
              <a:pPr/>
              <a:t>11</a:t>
            </a:fld>
            <a:endParaRPr lang="en-US"/>
          </a:p>
        </p:txBody>
      </p:sp>
      <p:pic>
        <p:nvPicPr>
          <p:cNvPr id="6" name="Picture 5">
            <a:extLst>
              <a:ext uri="{FF2B5EF4-FFF2-40B4-BE49-F238E27FC236}">
                <a16:creationId xmlns:a16="http://schemas.microsoft.com/office/drawing/2014/main" id="{75F920EA-D552-EB79-C843-0EC9A6A1025C}"/>
              </a:ext>
            </a:extLst>
          </p:cNvPr>
          <p:cNvPicPr>
            <a:picLocks noChangeAspect="1"/>
          </p:cNvPicPr>
          <p:nvPr/>
        </p:nvPicPr>
        <p:blipFill>
          <a:blip r:embed="rId2"/>
          <a:stretch>
            <a:fillRect/>
          </a:stretch>
        </p:blipFill>
        <p:spPr>
          <a:xfrm>
            <a:off x="6682452" y="2349772"/>
            <a:ext cx="4008378" cy="3588897"/>
          </a:xfrm>
          <a:prstGeom prst="rect">
            <a:avLst/>
          </a:prstGeom>
        </p:spPr>
      </p:pic>
      <p:pic>
        <p:nvPicPr>
          <p:cNvPr id="10" name="Picture 9">
            <a:extLst>
              <a:ext uri="{FF2B5EF4-FFF2-40B4-BE49-F238E27FC236}">
                <a16:creationId xmlns:a16="http://schemas.microsoft.com/office/drawing/2014/main" id="{4CC9F097-B872-313D-215C-D861B50B50E5}"/>
              </a:ext>
            </a:extLst>
          </p:cNvPr>
          <p:cNvPicPr>
            <a:picLocks noChangeAspect="1"/>
          </p:cNvPicPr>
          <p:nvPr/>
        </p:nvPicPr>
        <p:blipFill>
          <a:blip r:embed="rId3"/>
          <a:stretch>
            <a:fillRect/>
          </a:stretch>
        </p:blipFill>
        <p:spPr>
          <a:xfrm>
            <a:off x="1999498" y="2308157"/>
            <a:ext cx="3637373" cy="3672126"/>
          </a:xfrm>
          <a:prstGeom prst="rect">
            <a:avLst/>
          </a:prstGeom>
        </p:spPr>
      </p:pic>
      <p:sp>
        <p:nvSpPr>
          <p:cNvPr id="11" name="Text Placeholder 2">
            <a:extLst>
              <a:ext uri="{FF2B5EF4-FFF2-40B4-BE49-F238E27FC236}">
                <a16:creationId xmlns:a16="http://schemas.microsoft.com/office/drawing/2014/main" id="{E21BBA21-FE15-6D6E-F383-A03460D80A31}"/>
              </a:ext>
            </a:extLst>
          </p:cNvPr>
          <p:cNvSpPr txBox="1">
            <a:spLocks/>
          </p:cNvSpPr>
          <p:nvPr/>
        </p:nvSpPr>
        <p:spPr>
          <a:xfrm>
            <a:off x="216997" y="1554887"/>
            <a:ext cx="11758005" cy="12708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Khuyến</a:t>
            </a:r>
            <a:r>
              <a:rPr lang="en-US" dirty="0"/>
              <a:t> </a:t>
            </a:r>
            <a:r>
              <a:rPr lang="en-US" dirty="0" err="1"/>
              <a:t>nghị</a:t>
            </a:r>
            <a:r>
              <a:rPr lang="en-US" dirty="0"/>
              <a:t> </a:t>
            </a:r>
            <a:r>
              <a:rPr lang="en-US" dirty="0" err="1"/>
              <a:t>cài</a:t>
            </a:r>
            <a:r>
              <a:rPr lang="en-US" dirty="0"/>
              <a:t> MinGW (</a:t>
            </a:r>
            <a:r>
              <a:rPr lang="en-US" dirty="0" err="1"/>
              <a:t>chính</a:t>
            </a:r>
            <a:r>
              <a:rPr lang="en-US" dirty="0"/>
              <a:t> </a:t>
            </a:r>
            <a:r>
              <a:rPr lang="en-US" dirty="0" err="1"/>
              <a:t>là</a:t>
            </a:r>
            <a:r>
              <a:rPr lang="en-US" dirty="0"/>
              <a:t> MSYS2)</a:t>
            </a:r>
          </a:p>
        </p:txBody>
      </p:sp>
    </p:spTree>
    <p:extLst>
      <p:ext uri="{BB962C8B-B14F-4D97-AF65-F5344CB8AC3E}">
        <p14:creationId xmlns:p14="http://schemas.microsoft.com/office/powerpoint/2010/main" val="3988788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853BC-09C6-026D-9463-7A981EFA5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277B7-5648-7568-4819-2834563C89AD}"/>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br>
              <a:rPr lang="en-US" dirty="0"/>
            </a:br>
            <a:endParaRPr lang="en-US" dirty="0"/>
          </a:p>
        </p:txBody>
      </p:sp>
      <p:sp>
        <p:nvSpPr>
          <p:cNvPr id="3" name="Text Placeholder 2">
            <a:extLst>
              <a:ext uri="{FF2B5EF4-FFF2-40B4-BE49-F238E27FC236}">
                <a16:creationId xmlns:a16="http://schemas.microsoft.com/office/drawing/2014/main" id="{81C68E5D-228D-4B93-B59F-D42FF9D692AD}"/>
              </a:ext>
            </a:extLst>
          </p:cNvPr>
          <p:cNvSpPr>
            <a:spLocks noGrp="1"/>
          </p:cNvSpPr>
          <p:nvPr>
            <p:ph type="body" sz="quarter" idx="13"/>
          </p:nvPr>
        </p:nvSpPr>
        <p:spPr>
          <a:xfrm>
            <a:off x="216997" y="1000681"/>
            <a:ext cx="11758005" cy="1270852"/>
          </a:xfrm>
        </p:spPr>
        <p:txBody>
          <a:bodyPr/>
          <a:lstStyle/>
          <a:p>
            <a:pPr marL="0" indent="0">
              <a:buNone/>
            </a:pPr>
            <a:r>
              <a:rPr lang="en-US" dirty="0" err="1"/>
              <a:t>Chưa</a:t>
            </a:r>
            <a:r>
              <a:rPr lang="en-US" dirty="0"/>
              <a:t> </a:t>
            </a:r>
            <a:r>
              <a:rPr lang="en-US" dirty="0" err="1"/>
              <a:t>có</a:t>
            </a:r>
            <a:r>
              <a:rPr lang="en-US" dirty="0"/>
              <a:t> compiler: https://code.visualstudio.com/docs/languages/cpp</a:t>
            </a:r>
          </a:p>
        </p:txBody>
      </p:sp>
      <p:sp>
        <p:nvSpPr>
          <p:cNvPr id="4" name="Slide Number Placeholder 3">
            <a:extLst>
              <a:ext uri="{FF2B5EF4-FFF2-40B4-BE49-F238E27FC236}">
                <a16:creationId xmlns:a16="http://schemas.microsoft.com/office/drawing/2014/main" id="{2F3B8DC2-8E09-AE29-CD5D-307D63B676EB}"/>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11" name="Text Placeholder 2">
            <a:extLst>
              <a:ext uri="{FF2B5EF4-FFF2-40B4-BE49-F238E27FC236}">
                <a16:creationId xmlns:a16="http://schemas.microsoft.com/office/drawing/2014/main" id="{B46734C9-DDE4-F310-32E3-8C1C416F6044}"/>
              </a:ext>
            </a:extLst>
          </p:cNvPr>
          <p:cNvSpPr txBox="1">
            <a:spLocks/>
          </p:cNvSpPr>
          <p:nvPr/>
        </p:nvSpPr>
        <p:spPr>
          <a:xfrm>
            <a:off x="216997" y="1554887"/>
            <a:ext cx="11758005" cy="12708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Khuyến</a:t>
            </a:r>
            <a:r>
              <a:rPr lang="en-US" dirty="0"/>
              <a:t> </a:t>
            </a:r>
            <a:r>
              <a:rPr lang="en-US" dirty="0" err="1"/>
              <a:t>nghị</a:t>
            </a:r>
            <a:r>
              <a:rPr lang="en-US" dirty="0"/>
              <a:t> </a:t>
            </a:r>
            <a:r>
              <a:rPr lang="en-US" dirty="0" err="1"/>
              <a:t>cài</a:t>
            </a:r>
            <a:r>
              <a:rPr lang="en-US" dirty="0"/>
              <a:t> MinGW (</a:t>
            </a:r>
            <a:r>
              <a:rPr lang="en-US" dirty="0" err="1"/>
              <a:t>chính</a:t>
            </a:r>
            <a:r>
              <a:rPr lang="en-US" dirty="0"/>
              <a:t> </a:t>
            </a:r>
            <a:r>
              <a:rPr lang="en-US" dirty="0" err="1"/>
              <a:t>là</a:t>
            </a:r>
            <a:r>
              <a:rPr lang="en-US" dirty="0"/>
              <a:t> MSYS2)</a:t>
            </a:r>
          </a:p>
        </p:txBody>
      </p:sp>
      <p:pic>
        <p:nvPicPr>
          <p:cNvPr id="2050" name="Picture 2" descr="Second screen of MSYS2 installation">
            <a:extLst>
              <a:ext uri="{FF2B5EF4-FFF2-40B4-BE49-F238E27FC236}">
                <a16:creationId xmlns:a16="http://schemas.microsoft.com/office/drawing/2014/main" id="{B5255ACD-6FE6-9808-B95C-240E76116E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339" y="2202370"/>
            <a:ext cx="2249650" cy="17566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ird screen of MSYS2 installation">
            <a:extLst>
              <a:ext uri="{FF2B5EF4-FFF2-40B4-BE49-F238E27FC236}">
                <a16:creationId xmlns:a16="http://schemas.microsoft.com/office/drawing/2014/main" id="{396A1A40-E638-75C7-04C6-A261A695C2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1331" y="2202370"/>
            <a:ext cx="2150921" cy="167960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66CB9A6-503A-DC53-8B22-90D2B6BA4CF4}"/>
              </a:ext>
            </a:extLst>
          </p:cNvPr>
          <p:cNvSpPr txBox="1"/>
          <p:nvPr/>
        </p:nvSpPr>
        <p:spPr>
          <a:xfrm>
            <a:off x="338736" y="4283213"/>
            <a:ext cx="6802844" cy="1384995"/>
          </a:xfrm>
          <a:prstGeom prst="rect">
            <a:avLst/>
          </a:prstGeom>
          <a:noFill/>
        </p:spPr>
        <p:txBody>
          <a:bodyPr wrap="square">
            <a:spAutoFit/>
          </a:bodyPr>
          <a:lstStyle/>
          <a:p>
            <a:pPr algn="l" rtl="0" latinLnBrk="0"/>
            <a:r>
              <a:rPr lang="en-US" sz="2400" dirty="0">
                <a:solidFill>
                  <a:srgbClr val="36464E"/>
                </a:solidFill>
              </a:rPr>
              <a:t>- </a:t>
            </a:r>
            <a:r>
              <a:rPr lang="en-US" sz="2400" b="0" i="0" dirty="0" err="1">
                <a:solidFill>
                  <a:srgbClr val="36464E"/>
                </a:solidFill>
                <a:effectLst/>
              </a:rPr>
              <a:t>Chạ</a:t>
            </a:r>
            <a:r>
              <a:rPr lang="en-US" sz="2400" dirty="0" err="1">
                <a:solidFill>
                  <a:srgbClr val="36464E"/>
                </a:solidFill>
              </a:rPr>
              <a:t>y</a:t>
            </a:r>
            <a:r>
              <a:rPr lang="en-US" sz="2400" dirty="0">
                <a:solidFill>
                  <a:srgbClr val="36464E"/>
                </a:solidFill>
              </a:rPr>
              <a:t> </a:t>
            </a:r>
            <a:r>
              <a:rPr lang="en-US" sz="2400" dirty="0" err="1">
                <a:solidFill>
                  <a:srgbClr val="36464E"/>
                </a:solidFill>
              </a:rPr>
              <a:t>lệnh</a:t>
            </a:r>
            <a:r>
              <a:rPr lang="en-US" sz="2400" dirty="0">
                <a:solidFill>
                  <a:srgbClr val="36464E"/>
                </a:solidFill>
              </a:rPr>
              <a:t> </a:t>
            </a:r>
            <a:r>
              <a:rPr lang="en-US" sz="2400" dirty="0" err="1">
                <a:solidFill>
                  <a:srgbClr val="36464E"/>
                </a:solidFill>
              </a:rPr>
              <a:t>sau</a:t>
            </a:r>
            <a:r>
              <a:rPr lang="en-US" sz="2400" dirty="0">
                <a:solidFill>
                  <a:srgbClr val="36464E"/>
                </a:solidFill>
              </a:rPr>
              <a:t> ở Command:</a:t>
            </a:r>
          </a:p>
          <a:p>
            <a:pPr algn="l" rtl="0" latinLnBrk="0"/>
            <a:r>
              <a:rPr lang="en-US" b="0" i="0" dirty="0" err="1">
                <a:solidFill>
                  <a:srgbClr val="36464E"/>
                </a:solidFill>
                <a:effectLst/>
                <a:latin typeface="Roboto Mono" panose="00000009000000000000" pitchFamily="49" charset="0"/>
              </a:rPr>
              <a:t>pacman</a:t>
            </a:r>
            <a:r>
              <a:rPr lang="en-US" b="0" i="0" dirty="0">
                <a:solidFill>
                  <a:srgbClr val="36464E"/>
                </a:solidFill>
                <a:effectLst/>
                <a:latin typeface="Roboto Mono" panose="00000009000000000000" pitchFamily="49" charset="0"/>
              </a:rPr>
              <a:t> -S mingw-w64-ucrt-x86_64-gcc</a:t>
            </a:r>
          </a:p>
          <a:p>
            <a:r>
              <a:rPr lang="en-US" sz="2400" dirty="0">
                <a:solidFill>
                  <a:srgbClr val="36464E"/>
                </a:solidFill>
              </a:rPr>
              <a:t>- </a:t>
            </a:r>
            <a:r>
              <a:rPr lang="en-US" sz="2400" dirty="0" err="1">
                <a:solidFill>
                  <a:srgbClr val="36464E"/>
                </a:solidFill>
              </a:rPr>
              <a:t>Nhấn</a:t>
            </a:r>
            <a:r>
              <a:rPr lang="en-US" sz="2400" dirty="0">
                <a:solidFill>
                  <a:srgbClr val="36464E"/>
                </a:solidFill>
              </a:rPr>
              <a:t> “Enter” </a:t>
            </a:r>
            <a:r>
              <a:rPr lang="en-US" sz="2400" dirty="0" err="1">
                <a:solidFill>
                  <a:srgbClr val="36464E"/>
                </a:solidFill>
              </a:rPr>
              <a:t>để</a:t>
            </a:r>
            <a:r>
              <a:rPr lang="en-US" sz="2400" dirty="0">
                <a:solidFill>
                  <a:srgbClr val="36464E"/>
                </a:solidFill>
              </a:rPr>
              <a:t> </a:t>
            </a:r>
            <a:r>
              <a:rPr lang="en-US" sz="2400" dirty="0" err="1">
                <a:solidFill>
                  <a:srgbClr val="36464E"/>
                </a:solidFill>
              </a:rPr>
              <a:t>cài</a:t>
            </a:r>
            <a:r>
              <a:rPr lang="en-US" sz="2400" dirty="0">
                <a:solidFill>
                  <a:srgbClr val="36464E"/>
                </a:solidFill>
              </a:rPr>
              <a:t> full pack. </a:t>
            </a:r>
            <a:r>
              <a:rPr lang="en-US" sz="2400" dirty="0" err="1">
                <a:solidFill>
                  <a:srgbClr val="36464E"/>
                </a:solidFill>
              </a:rPr>
              <a:t>Nhấn</a:t>
            </a:r>
            <a:r>
              <a:rPr lang="en-US" sz="2400" dirty="0">
                <a:solidFill>
                  <a:srgbClr val="36464E"/>
                </a:solidFill>
              </a:rPr>
              <a:t> “Y” </a:t>
            </a:r>
            <a:r>
              <a:rPr lang="en-US" sz="2400" dirty="0" err="1">
                <a:solidFill>
                  <a:srgbClr val="36464E"/>
                </a:solidFill>
              </a:rPr>
              <a:t>để</a:t>
            </a:r>
            <a:r>
              <a:rPr lang="en-US" sz="2400" dirty="0">
                <a:solidFill>
                  <a:srgbClr val="36464E"/>
                </a:solidFill>
              </a:rPr>
              <a:t> </a:t>
            </a:r>
            <a:r>
              <a:rPr lang="en-US" sz="2400" dirty="0" err="1">
                <a:solidFill>
                  <a:srgbClr val="36464E"/>
                </a:solidFill>
              </a:rPr>
              <a:t>đồng</a:t>
            </a:r>
            <a:r>
              <a:rPr lang="en-US" sz="2400" dirty="0">
                <a:solidFill>
                  <a:srgbClr val="36464E"/>
                </a:solidFill>
              </a:rPr>
              <a:t> ý. </a:t>
            </a:r>
            <a:br>
              <a:rPr lang="en-US" dirty="0"/>
            </a:br>
            <a:endParaRPr lang="en-US" dirty="0"/>
          </a:p>
        </p:txBody>
      </p:sp>
      <p:sp>
        <p:nvSpPr>
          <p:cNvPr id="14" name="TextBox 13">
            <a:extLst>
              <a:ext uri="{FF2B5EF4-FFF2-40B4-BE49-F238E27FC236}">
                <a16:creationId xmlns:a16="http://schemas.microsoft.com/office/drawing/2014/main" id="{04AE5446-6337-A913-2A4A-5F44CCD26C9E}"/>
              </a:ext>
            </a:extLst>
          </p:cNvPr>
          <p:cNvSpPr txBox="1"/>
          <p:nvPr/>
        </p:nvSpPr>
        <p:spPr>
          <a:xfrm>
            <a:off x="3603532" y="3003624"/>
            <a:ext cx="1474571" cy="369332"/>
          </a:xfrm>
          <a:prstGeom prst="rect">
            <a:avLst/>
          </a:prstGeom>
          <a:noFill/>
        </p:spPr>
        <p:txBody>
          <a:bodyPr wrap="none" rtlCol="0">
            <a:spAutoFit/>
          </a:bodyPr>
          <a:lstStyle/>
          <a:p>
            <a:r>
              <a:rPr lang="en-US" b="1" dirty="0" err="1">
                <a:solidFill>
                  <a:srgbClr val="FF0000"/>
                </a:solidFill>
              </a:rPr>
              <a:t>Bắt</a:t>
            </a:r>
            <a:r>
              <a:rPr lang="en-US" b="1" dirty="0">
                <a:solidFill>
                  <a:srgbClr val="FF0000"/>
                </a:solidFill>
              </a:rPr>
              <a:t> </a:t>
            </a:r>
            <a:r>
              <a:rPr lang="en-US" b="1" dirty="0" err="1">
                <a:solidFill>
                  <a:srgbClr val="FF0000"/>
                </a:solidFill>
              </a:rPr>
              <a:t>buộc</a:t>
            </a:r>
            <a:r>
              <a:rPr lang="en-US" b="1" dirty="0">
                <a:solidFill>
                  <a:srgbClr val="FF0000"/>
                </a:solidFill>
              </a:rPr>
              <a:t> tick </a:t>
            </a:r>
          </a:p>
        </p:txBody>
      </p:sp>
      <p:pic>
        <p:nvPicPr>
          <p:cNvPr id="3074" name="Picture 2" descr="MYSS2 Installer">
            <a:extLst>
              <a:ext uri="{FF2B5EF4-FFF2-40B4-BE49-F238E27FC236}">
                <a16:creationId xmlns:a16="http://schemas.microsoft.com/office/drawing/2014/main" id="{273D7E89-E5CF-1824-2FB2-B3BF7C0DF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4594" y="2291933"/>
            <a:ext cx="4703089" cy="1577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161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A6821-B721-A2CB-B5E0-5E6BDD5B3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CDA5A-E18D-300F-9A85-A0687639DA52}"/>
              </a:ext>
            </a:extLst>
          </p:cNvPr>
          <p:cNvSpPr>
            <a:spLocks noGrp="1"/>
          </p:cNvSpPr>
          <p:nvPr>
            <p:ph type="title"/>
          </p:nvPr>
        </p:nvSpPr>
        <p:spPr/>
        <p:txBody>
          <a:bodyPr/>
          <a:lstStyle/>
          <a:p>
            <a:r>
              <a:rPr lang="en-US" dirty="0"/>
              <a:t>2. Cài </a:t>
            </a:r>
            <a:r>
              <a:rPr lang="en-US" dirty="0" err="1"/>
              <a:t>đặt</a:t>
            </a:r>
            <a:r>
              <a:rPr lang="en-US" dirty="0"/>
              <a:t> </a:t>
            </a:r>
            <a:r>
              <a:rPr lang="en-US" dirty="0" err="1"/>
              <a:t>môi</a:t>
            </a:r>
            <a:r>
              <a:rPr lang="en-US" dirty="0"/>
              <a:t> </a:t>
            </a:r>
            <a:r>
              <a:rPr lang="en-US" dirty="0" err="1"/>
              <a:t>trường</a:t>
            </a:r>
            <a:br>
              <a:rPr lang="en-US" dirty="0"/>
            </a:br>
            <a:endParaRPr lang="en-US" dirty="0"/>
          </a:p>
        </p:txBody>
      </p:sp>
      <p:sp>
        <p:nvSpPr>
          <p:cNvPr id="3" name="Text Placeholder 2">
            <a:extLst>
              <a:ext uri="{FF2B5EF4-FFF2-40B4-BE49-F238E27FC236}">
                <a16:creationId xmlns:a16="http://schemas.microsoft.com/office/drawing/2014/main" id="{2F453414-EDC9-794F-AC81-BDA303431C4A}"/>
              </a:ext>
            </a:extLst>
          </p:cNvPr>
          <p:cNvSpPr>
            <a:spLocks noGrp="1"/>
          </p:cNvSpPr>
          <p:nvPr>
            <p:ph type="body" sz="quarter" idx="13"/>
          </p:nvPr>
        </p:nvSpPr>
        <p:spPr>
          <a:xfrm>
            <a:off x="338736" y="897345"/>
            <a:ext cx="12158382" cy="1270852"/>
          </a:xfrm>
        </p:spPr>
        <p:txBody>
          <a:bodyPr/>
          <a:lstStyle/>
          <a:p>
            <a:pPr marL="0" indent="0">
              <a:buNone/>
            </a:pPr>
            <a:r>
              <a:rPr lang="en-US" dirty="0"/>
              <a:t>- </a:t>
            </a:r>
            <a:r>
              <a:rPr lang="en-US" dirty="0" err="1"/>
              <a:t>Thêm</a:t>
            </a:r>
            <a:r>
              <a:rPr lang="en-US" dirty="0"/>
              <a:t> </a:t>
            </a:r>
            <a:r>
              <a:rPr lang="en-US" dirty="0" err="1"/>
              <a:t>đường</a:t>
            </a:r>
            <a:r>
              <a:rPr lang="en-US" dirty="0"/>
              <a:t> </a:t>
            </a:r>
            <a:r>
              <a:rPr lang="en-US" dirty="0" err="1"/>
              <a:t>dẫn</a:t>
            </a:r>
            <a:r>
              <a:rPr lang="en-US" dirty="0"/>
              <a:t> MinGW-64 </a:t>
            </a:r>
            <a:r>
              <a:rPr lang="en-US" dirty="0" err="1"/>
              <a:t>vào</a:t>
            </a:r>
            <a:r>
              <a:rPr lang="en-US" dirty="0"/>
              <a:t> Window PATH</a:t>
            </a:r>
          </a:p>
          <a:p>
            <a:pPr>
              <a:buFontTx/>
              <a:buChar char="-"/>
            </a:pPr>
            <a:r>
              <a:rPr lang="en-US" dirty="0" err="1"/>
              <a:t>Vào</a:t>
            </a:r>
            <a:r>
              <a:rPr lang="en-US" dirty="0"/>
              <a:t> “Edit the system environment variables”</a:t>
            </a:r>
          </a:p>
          <a:p>
            <a:pPr>
              <a:buFontTx/>
              <a:buChar char="-"/>
            </a:pPr>
            <a:r>
              <a:rPr lang="en-US" dirty="0" err="1"/>
              <a:t>Chọn</a:t>
            </a:r>
            <a:r>
              <a:rPr lang="en-US" dirty="0"/>
              <a:t> Environment variables</a:t>
            </a:r>
          </a:p>
          <a:p>
            <a:pPr>
              <a:buFontTx/>
              <a:buChar char="-"/>
            </a:pPr>
            <a:r>
              <a:rPr lang="en-US" dirty="0" err="1"/>
              <a:t>Chọn</a:t>
            </a:r>
            <a:r>
              <a:rPr lang="en-US" dirty="0"/>
              <a:t> “New” </a:t>
            </a:r>
            <a:r>
              <a:rPr lang="en-US" dirty="0" err="1"/>
              <a:t>trong</a:t>
            </a:r>
            <a:r>
              <a:rPr lang="en-US" dirty="0"/>
              <a:t> “User variables” </a:t>
            </a:r>
            <a:r>
              <a:rPr lang="en-US" dirty="0" err="1"/>
              <a:t>và</a:t>
            </a:r>
            <a:r>
              <a:rPr lang="en-US" dirty="0"/>
              <a:t> </a:t>
            </a:r>
            <a:r>
              <a:rPr lang="en-US" dirty="0" err="1"/>
              <a:t>thêm</a:t>
            </a:r>
            <a:r>
              <a:rPr lang="en-US" dirty="0"/>
              <a:t> </a:t>
            </a:r>
            <a:r>
              <a:rPr lang="en-US" dirty="0" err="1"/>
              <a:t>đường</a:t>
            </a:r>
            <a:r>
              <a:rPr lang="en-US" dirty="0"/>
              <a:t> </a:t>
            </a:r>
            <a:r>
              <a:rPr lang="en-US" dirty="0" err="1"/>
              <a:t>dẫn</a:t>
            </a:r>
            <a:r>
              <a:rPr lang="en-US" dirty="0"/>
              <a:t> </a:t>
            </a:r>
            <a:r>
              <a:rPr lang="en-US" sz="2000" dirty="0"/>
              <a:t>C:\msys64\ucrt64\bin.</a:t>
            </a:r>
          </a:p>
          <a:p>
            <a:pPr>
              <a:buFontTx/>
              <a:buChar char="-"/>
            </a:pPr>
            <a:r>
              <a:rPr lang="en-US" dirty="0"/>
              <a:t>Lưu </a:t>
            </a:r>
            <a:r>
              <a:rPr lang="en-US" dirty="0" err="1"/>
              <a:t>và</a:t>
            </a:r>
            <a:r>
              <a:rPr lang="en-US" dirty="0"/>
              <a:t> </a:t>
            </a:r>
            <a:r>
              <a:rPr lang="en-US" dirty="0" err="1"/>
              <a:t>chạy</a:t>
            </a:r>
            <a:r>
              <a:rPr lang="en-US" dirty="0"/>
              <a:t> </a:t>
            </a:r>
            <a:r>
              <a:rPr lang="en-US" dirty="0" err="1"/>
              <a:t>lại</a:t>
            </a:r>
            <a:r>
              <a:rPr lang="en-US" dirty="0"/>
              <a:t> </a:t>
            </a:r>
            <a:r>
              <a:rPr lang="en-US" dirty="0" err="1"/>
              <a:t>lệnh</a:t>
            </a:r>
            <a:r>
              <a:rPr lang="en-US" dirty="0"/>
              <a:t>:</a:t>
            </a:r>
          </a:p>
          <a:p>
            <a:pPr marL="0" indent="0">
              <a:buNone/>
            </a:pPr>
            <a:r>
              <a:rPr lang="en-US" dirty="0" err="1"/>
              <a:t>gcc</a:t>
            </a:r>
            <a:r>
              <a:rPr lang="en-US" dirty="0"/>
              <a:t> –version</a:t>
            </a:r>
          </a:p>
        </p:txBody>
      </p:sp>
      <p:sp>
        <p:nvSpPr>
          <p:cNvPr id="4" name="Slide Number Placeholder 3">
            <a:extLst>
              <a:ext uri="{FF2B5EF4-FFF2-40B4-BE49-F238E27FC236}">
                <a16:creationId xmlns:a16="http://schemas.microsoft.com/office/drawing/2014/main" id="{8495A839-474E-09EA-E342-2DCEE25ED259}"/>
              </a:ext>
            </a:extLst>
          </p:cNvPr>
          <p:cNvSpPr>
            <a:spLocks noGrp="1"/>
          </p:cNvSpPr>
          <p:nvPr>
            <p:ph type="sldNum" sz="quarter" idx="12"/>
          </p:nvPr>
        </p:nvSpPr>
        <p:spPr/>
        <p:txBody>
          <a:bodyPr/>
          <a:lstStyle/>
          <a:p>
            <a:fld id="{9EA0BE3B-158A-4EDF-80DC-E394A0D1600F}" type="slidenum">
              <a:rPr lang="en-US" smtClean="0"/>
              <a:pPr/>
              <a:t>13</a:t>
            </a:fld>
            <a:endParaRPr lang="en-US"/>
          </a:p>
        </p:txBody>
      </p:sp>
      <p:pic>
        <p:nvPicPr>
          <p:cNvPr id="6" name="Picture 5">
            <a:extLst>
              <a:ext uri="{FF2B5EF4-FFF2-40B4-BE49-F238E27FC236}">
                <a16:creationId xmlns:a16="http://schemas.microsoft.com/office/drawing/2014/main" id="{07CF1400-23F0-53A6-A749-35BC51AD59D5}"/>
              </a:ext>
            </a:extLst>
          </p:cNvPr>
          <p:cNvPicPr>
            <a:picLocks noChangeAspect="1"/>
          </p:cNvPicPr>
          <p:nvPr/>
        </p:nvPicPr>
        <p:blipFill>
          <a:blip r:embed="rId2"/>
          <a:stretch>
            <a:fillRect/>
          </a:stretch>
        </p:blipFill>
        <p:spPr>
          <a:xfrm>
            <a:off x="617546" y="4217136"/>
            <a:ext cx="4583757" cy="2072173"/>
          </a:xfrm>
          <a:prstGeom prst="rect">
            <a:avLst/>
          </a:prstGeom>
        </p:spPr>
      </p:pic>
      <p:pic>
        <p:nvPicPr>
          <p:cNvPr id="8" name="Picture 7">
            <a:extLst>
              <a:ext uri="{FF2B5EF4-FFF2-40B4-BE49-F238E27FC236}">
                <a16:creationId xmlns:a16="http://schemas.microsoft.com/office/drawing/2014/main" id="{7FE4C819-F98B-BAC5-68F2-85BDAFE5E85D}"/>
              </a:ext>
            </a:extLst>
          </p:cNvPr>
          <p:cNvPicPr>
            <a:picLocks noChangeAspect="1"/>
          </p:cNvPicPr>
          <p:nvPr/>
        </p:nvPicPr>
        <p:blipFill>
          <a:blip r:embed="rId3"/>
          <a:stretch>
            <a:fillRect/>
          </a:stretch>
        </p:blipFill>
        <p:spPr>
          <a:xfrm>
            <a:off x="5562527" y="3241121"/>
            <a:ext cx="2856344" cy="3048188"/>
          </a:xfrm>
          <a:prstGeom prst="rect">
            <a:avLst/>
          </a:prstGeom>
        </p:spPr>
      </p:pic>
      <p:pic>
        <p:nvPicPr>
          <p:cNvPr id="16" name="Picture 15">
            <a:extLst>
              <a:ext uri="{FF2B5EF4-FFF2-40B4-BE49-F238E27FC236}">
                <a16:creationId xmlns:a16="http://schemas.microsoft.com/office/drawing/2014/main" id="{71208DBF-4787-4CBC-5752-C5CA3369F3D5}"/>
              </a:ext>
            </a:extLst>
          </p:cNvPr>
          <p:cNvPicPr>
            <a:picLocks noChangeAspect="1"/>
          </p:cNvPicPr>
          <p:nvPr/>
        </p:nvPicPr>
        <p:blipFill>
          <a:blip r:embed="rId4"/>
          <a:stretch>
            <a:fillRect/>
          </a:stretch>
        </p:blipFill>
        <p:spPr>
          <a:xfrm>
            <a:off x="8780095" y="3130884"/>
            <a:ext cx="3017063" cy="3158425"/>
          </a:xfrm>
          <a:prstGeom prst="rect">
            <a:avLst/>
          </a:prstGeom>
        </p:spPr>
      </p:pic>
      <p:sp>
        <p:nvSpPr>
          <p:cNvPr id="12" name="TextBox 11">
            <a:extLst>
              <a:ext uri="{FF2B5EF4-FFF2-40B4-BE49-F238E27FC236}">
                <a16:creationId xmlns:a16="http://schemas.microsoft.com/office/drawing/2014/main" id="{0B442684-37CF-18EB-B61B-6279068CB15C}"/>
              </a:ext>
            </a:extLst>
          </p:cNvPr>
          <p:cNvSpPr txBox="1"/>
          <p:nvPr/>
        </p:nvSpPr>
        <p:spPr>
          <a:xfrm>
            <a:off x="9996157" y="4525430"/>
            <a:ext cx="2162225" cy="369332"/>
          </a:xfrm>
          <a:prstGeom prst="rect">
            <a:avLst/>
          </a:prstGeom>
          <a:noFill/>
        </p:spPr>
        <p:txBody>
          <a:bodyPr wrap="square" rtlCol="0">
            <a:spAutoFit/>
          </a:bodyPr>
          <a:lstStyle/>
          <a:p>
            <a:r>
              <a:rPr lang="en-US" b="1" dirty="0" err="1">
                <a:solidFill>
                  <a:srgbClr val="FF0000"/>
                </a:solidFill>
              </a:rPr>
              <a:t>Chọn</a:t>
            </a:r>
            <a:r>
              <a:rPr lang="en-US" b="1" dirty="0">
                <a:solidFill>
                  <a:srgbClr val="FF0000"/>
                </a:solidFill>
              </a:rPr>
              <a:t> </a:t>
            </a:r>
            <a:r>
              <a:rPr lang="en-US" b="1" dirty="0" err="1">
                <a:solidFill>
                  <a:srgbClr val="FF0000"/>
                </a:solidFill>
              </a:rPr>
              <a:t>đây</a:t>
            </a:r>
            <a:endParaRPr lang="en-US" b="1" dirty="0">
              <a:solidFill>
                <a:srgbClr val="FF0000"/>
              </a:solidFill>
            </a:endParaRPr>
          </a:p>
        </p:txBody>
      </p:sp>
    </p:spTree>
    <p:extLst>
      <p:ext uri="{BB962C8B-B14F-4D97-AF65-F5344CB8AC3E}">
        <p14:creationId xmlns:p14="http://schemas.microsoft.com/office/powerpoint/2010/main" val="7222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2B359-B938-D65E-4896-6854CD911398}"/>
              </a:ext>
            </a:extLst>
          </p:cNvPr>
          <p:cNvSpPr>
            <a:spLocks noGrp="1"/>
          </p:cNvSpPr>
          <p:nvPr>
            <p:ph type="title"/>
          </p:nvPr>
        </p:nvSpPr>
        <p:spPr/>
        <p:txBody>
          <a:bodyPr/>
          <a:lstStyle/>
          <a:p>
            <a:r>
              <a:rPr lang="en-US" dirty="0"/>
              <a:t>3. Test </a:t>
            </a:r>
            <a:r>
              <a:rPr lang="en-US" dirty="0" err="1"/>
              <a:t>thử</a:t>
            </a:r>
            <a:endParaRPr lang="en-US" dirty="0"/>
          </a:p>
        </p:txBody>
      </p:sp>
      <p:sp>
        <p:nvSpPr>
          <p:cNvPr id="3" name="Text Placeholder 2">
            <a:extLst>
              <a:ext uri="{FF2B5EF4-FFF2-40B4-BE49-F238E27FC236}">
                <a16:creationId xmlns:a16="http://schemas.microsoft.com/office/drawing/2014/main" id="{52F3C4F3-C153-BF1A-730D-105896C051F4}"/>
              </a:ext>
            </a:extLst>
          </p:cNvPr>
          <p:cNvSpPr>
            <a:spLocks noGrp="1"/>
          </p:cNvSpPr>
          <p:nvPr>
            <p:ph type="body" sz="quarter" idx="13"/>
          </p:nvPr>
        </p:nvSpPr>
        <p:spPr>
          <a:xfrm>
            <a:off x="337539" y="1032511"/>
            <a:ext cx="11515725" cy="1329690"/>
          </a:xfrm>
        </p:spPr>
        <p:txBody>
          <a:bodyPr/>
          <a:lstStyle/>
          <a:p>
            <a:r>
              <a:rPr lang="en-US" dirty="0" err="1"/>
              <a:t>Tạo</a:t>
            </a:r>
            <a:r>
              <a:rPr lang="en-US" dirty="0"/>
              <a:t> folder project “Hello World”</a:t>
            </a:r>
          </a:p>
          <a:p>
            <a:r>
              <a:rPr lang="en-US" dirty="0" err="1"/>
              <a:t>Mở</a:t>
            </a:r>
            <a:r>
              <a:rPr lang="en-US" dirty="0"/>
              <a:t> VS Code </a:t>
            </a:r>
            <a:r>
              <a:rPr lang="en-US" dirty="0" err="1"/>
              <a:t>và</a:t>
            </a:r>
            <a:r>
              <a:rPr lang="en-US" dirty="0"/>
              <a:t> </a:t>
            </a:r>
            <a:r>
              <a:rPr lang="en-US" dirty="0" err="1"/>
              <a:t>chọn</a:t>
            </a:r>
            <a:r>
              <a:rPr lang="en-US" dirty="0"/>
              <a:t> Open Folder =&gt; </a:t>
            </a:r>
            <a:r>
              <a:rPr lang="en-US" dirty="0" err="1"/>
              <a:t>mở</a:t>
            </a:r>
            <a:r>
              <a:rPr lang="en-US" dirty="0"/>
              <a:t> Folder “Hello World”</a:t>
            </a:r>
          </a:p>
          <a:p>
            <a:r>
              <a:rPr lang="en-US" dirty="0" err="1"/>
              <a:t>Chọn</a:t>
            </a:r>
            <a:r>
              <a:rPr lang="en-US" dirty="0"/>
              <a:t> </a:t>
            </a:r>
            <a:r>
              <a:rPr lang="en-US" dirty="0" err="1"/>
              <a:t>tạo</a:t>
            </a:r>
            <a:r>
              <a:rPr lang="en-US" dirty="0"/>
              <a:t> file</a:t>
            </a:r>
          </a:p>
          <a:p>
            <a:pPr marL="0" indent="0">
              <a:buNone/>
            </a:pPr>
            <a:endParaRPr lang="en-US" dirty="0"/>
          </a:p>
          <a:p>
            <a:r>
              <a:rPr lang="en-US" dirty="0" err="1"/>
              <a:t>Thêm</a:t>
            </a:r>
            <a:r>
              <a:rPr lang="en-US" dirty="0"/>
              <a:t> code </a:t>
            </a:r>
            <a:r>
              <a:rPr lang="en-US" dirty="0" err="1"/>
              <a:t>sau</a:t>
            </a:r>
            <a:r>
              <a:rPr lang="en-US" dirty="0"/>
              <a:t>:  </a:t>
            </a:r>
          </a:p>
          <a:p>
            <a:endParaRPr lang="en-US" dirty="0"/>
          </a:p>
          <a:p>
            <a:endParaRPr lang="en-US" dirty="0"/>
          </a:p>
          <a:p>
            <a:endParaRPr lang="en-US" dirty="0"/>
          </a:p>
          <a:p>
            <a:endParaRPr lang="en-US" dirty="0"/>
          </a:p>
          <a:p>
            <a:r>
              <a:rPr lang="en-US" dirty="0" err="1"/>
              <a:t>Ấn</a:t>
            </a:r>
            <a:r>
              <a:rPr lang="en-US" dirty="0"/>
              <a:t> </a:t>
            </a:r>
            <a:r>
              <a:rPr lang="en-US" dirty="0" err="1"/>
              <a:t>nút</a:t>
            </a:r>
            <a:r>
              <a:rPr lang="en-US" dirty="0"/>
              <a:t> Run </a:t>
            </a:r>
            <a:r>
              <a:rPr lang="en-US" dirty="0" err="1"/>
              <a:t>hoặc</a:t>
            </a:r>
            <a:r>
              <a:rPr lang="en-US" dirty="0"/>
              <a:t> Ctrl+F5</a:t>
            </a:r>
          </a:p>
        </p:txBody>
      </p:sp>
      <p:sp>
        <p:nvSpPr>
          <p:cNvPr id="4" name="Slide Number Placeholder 3">
            <a:extLst>
              <a:ext uri="{FF2B5EF4-FFF2-40B4-BE49-F238E27FC236}">
                <a16:creationId xmlns:a16="http://schemas.microsoft.com/office/drawing/2014/main" id="{79A571AB-5A98-407B-E585-10645D9BE8D7}"/>
              </a:ext>
            </a:extLst>
          </p:cNvPr>
          <p:cNvSpPr>
            <a:spLocks noGrp="1"/>
          </p:cNvSpPr>
          <p:nvPr>
            <p:ph type="sldNum" sz="quarter" idx="12"/>
          </p:nvPr>
        </p:nvSpPr>
        <p:spPr/>
        <p:txBody>
          <a:bodyPr/>
          <a:lstStyle/>
          <a:p>
            <a:fld id="{9EA0BE3B-158A-4EDF-80DC-E394A0D1600F}" type="slidenum">
              <a:rPr lang="en-US" smtClean="0"/>
              <a:pPr/>
              <a:t>14</a:t>
            </a:fld>
            <a:endParaRPr lang="en-US"/>
          </a:p>
        </p:txBody>
      </p:sp>
      <p:pic>
        <p:nvPicPr>
          <p:cNvPr id="6" name="Picture 5">
            <a:extLst>
              <a:ext uri="{FF2B5EF4-FFF2-40B4-BE49-F238E27FC236}">
                <a16:creationId xmlns:a16="http://schemas.microsoft.com/office/drawing/2014/main" id="{D6536B21-8A2E-1C20-9065-36F56E58927B}"/>
              </a:ext>
            </a:extLst>
          </p:cNvPr>
          <p:cNvPicPr>
            <a:picLocks noChangeAspect="1"/>
          </p:cNvPicPr>
          <p:nvPr/>
        </p:nvPicPr>
        <p:blipFill>
          <a:blip r:embed="rId2"/>
          <a:stretch>
            <a:fillRect/>
          </a:stretch>
        </p:blipFill>
        <p:spPr>
          <a:xfrm>
            <a:off x="6804001" y="1935480"/>
            <a:ext cx="4019208" cy="2109194"/>
          </a:xfrm>
          <a:prstGeom prst="rect">
            <a:avLst/>
          </a:prstGeom>
        </p:spPr>
      </p:pic>
      <p:pic>
        <p:nvPicPr>
          <p:cNvPr id="4098" name="Picture 2" descr="File Explorer New File button">
            <a:extLst>
              <a:ext uri="{FF2B5EF4-FFF2-40B4-BE49-F238E27FC236}">
                <a16:creationId xmlns:a16="http://schemas.microsoft.com/office/drawing/2014/main" id="{B9A18D02-985C-29AB-4618-BC157BBC5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5148" y="2066691"/>
            <a:ext cx="2074576" cy="96607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E8FA520-833E-9792-A950-DDDCC0DB89DB}"/>
              </a:ext>
            </a:extLst>
          </p:cNvPr>
          <p:cNvSpPr txBox="1"/>
          <p:nvPr/>
        </p:nvSpPr>
        <p:spPr>
          <a:xfrm>
            <a:off x="545184" y="3618637"/>
            <a:ext cx="4377336" cy="1754326"/>
          </a:xfrm>
          <a:prstGeom prst="rect">
            <a:avLst/>
          </a:prstGeom>
          <a:noFill/>
        </p:spPr>
        <p:txBody>
          <a:bodyPr wrap="square">
            <a:spAutoFit/>
          </a:bodyPr>
          <a:lstStyle/>
          <a:p>
            <a:r>
              <a:rPr lang="en-US" dirty="0"/>
              <a:t>#include &lt;iostream&gt;</a:t>
            </a:r>
          </a:p>
          <a:p>
            <a:endParaRPr lang="en-US" dirty="0"/>
          </a:p>
          <a:p>
            <a:r>
              <a:rPr lang="en-US" dirty="0"/>
              <a:t>int main()</a:t>
            </a:r>
          </a:p>
          <a:p>
            <a:r>
              <a:rPr lang="en-US" dirty="0"/>
              <a:t>{</a:t>
            </a:r>
          </a:p>
          <a:p>
            <a:r>
              <a:rPr lang="en-US" dirty="0"/>
              <a:t>    std::</a:t>
            </a:r>
            <a:r>
              <a:rPr lang="en-US" dirty="0" err="1"/>
              <a:t>cout</a:t>
            </a:r>
            <a:r>
              <a:rPr lang="en-US" dirty="0"/>
              <a:t> &lt;&lt; "Hello World" &lt;&lt; std::</a:t>
            </a:r>
            <a:r>
              <a:rPr lang="en-US" dirty="0" err="1"/>
              <a:t>endl</a:t>
            </a:r>
            <a:r>
              <a:rPr lang="en-US" dirty="0"/>
              <a:t>;</a:t>
            </a:r>
          </a:p>
          <a:p>
            <a:r>
              <a:rPr lang="en-US" dirty="0"/>
              <a:t>}</a:t>
            </a:r>
          </a:p>
        </p:txBody>
      </p:sp>
      <p:pic>
        <p:nvPicPr>
          <p:cNvPr id="4100" name="Picture 4" descr="C++ debug configuration dropdown">
            <a:extLst>
              <a:ext uri="{FF2B5EF4-FFF2-40B4-BE49-F238E27FC236}">
                <a16:creationId xmlns:a16="http://schemas.microsoft.com/office/drawing/2014/main" id="{B9948805-2686-8AB5-0E4D-48679626CA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748" y="3265170"/>
            <a:ext cx="4149234" cy="210919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creenshot of program output">
            <a:extLst>
              <a:ext uri="{FF2B5EF4-FFF2-40B4-BE49-F238E27FC236}">
                <a16:creationId xmlns:a16="http://schemas.microsoft.com/office/drawing/2014/main" id="{C0674A30-3D6E-EB5B-2CAF-8A47C6390F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6525" y="5442674"/>
            <a:ext cx="5050155" cy="77565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B1D9AD61-87EA-1FFB-E76F-0F9352FF848F}"/>
              </a:ext>
            </a:extLst>
          </p:cNvPr>
          <p:cNvSpPr/>
          <p:nvPr/>
        </p:nvSpPr>
        <p:spPr>
          <a:xfrm>
            <a:off x="6804001" y="2225040"/>
            <a:ext cx="709319" cy="320040"/>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4288357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15</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544</TotalTime>
  <Words>719</Words>
  <Application>Microsoft Office PowerPoint</Application>
  <PresentationFormat>Widescreen</PresentationFormat>
  <Paragraphs>101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Lato</vt:lpstr>
      <vt:lpstr>Roboto Mono</vt:lpstr>
      <vt:lpstr>Office Theme</vt:lpstr>
      <vt:lpstr>PowerPoint Presentation</vt:lpstr>
      <vt:lpstr>PowerPoint Presentation</vt:lpstr>
      <vt:lpstr>1. Môi trường lập trình</vt:lpstr>
      <vt:lpstr>1. Môi trường lập trình</vt:lpstr>
      <vt:lpstr>2. Cài đặt môi trường</vt:lpstr>
      <vt:lpstr>2. Cài đặt môi trường</vt:lpstr>
      <vt:lpstr>2. Cài đặt môi trường</vt:lpstr>
      <vt:lpstr>2. Cài đặt môi trường</vt:lpstr>
      <vt:lpstr>2. Cài đặt môi trường </vt:lpstr>
      <vt:lpstr>2. Cài đặt môi trường </vt:lpstr>
      <vt:lpstr>2. Cài đặt môi trường </vt:lpstr>
      <vt:lpstr>2. Cài đặt môi trường </vt:lpstr>
      <vt:lpstr>2. Cài đặt môi trường </vt:lpstr>
      <vt:lpstr>3. Test thử</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Bui Hanh Trang</cp:lastModifiedBy>
  <cp:revision>25</cp:revision>
  <dcterms:created xsi:type="dcterms:W3CDTF">2021-05-28T04:32:29Z</dcterms:created>
  <dcterms:modified xsi:type="dcterms:W3CDTF">2026-09-05T14:31:26Z</dcterms:modified>
</cp:coreProperties>
</file>