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9" r:id="rId2"/>
    <p:sldId id="257" r:id="rId3"/>
    <p:sldId id="263" r:id="rId4"/>
    <p:sldId id="269" r:id="rId5"/>
    <p:sldId id="267" r:id="rId6"/>
    <p:sldId id="271" r:id="rId7"/>
    <p:sldId id="273" r:id="rId8"/>
    <p:sldId id="272" r:id="rId9"/>
    <p:sldId id="270" r:id="rId10"/>
    <p:sldId id="274" r:id="rId11"/>
    <p:sldId id="276" r:id="rId12"/>
    <p:sldId id="282" r:id="rId13"/>
    <p:sldId id="283" r:id="rId14"/>
    <p:sldId id="284" r:id="rId15"/>
    <p:sldId id="275" r:id="rId16"/>
    <p:sldId id="281" r:id="rId17"/>
    <p:sldId id="285" r:id="rId18"/>
    <p:sldId id="261" r:id="rId19"/>
    <p:sldId id="286" r:id="rId20"/>
    <p:sldId id="287" r:id="rId21"/>
    <p:sldId id="288" r:id="rId22"/>
    <p:sldId id="289" r:id="rId23"/>
    <p:sldId id="26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63" autoAdjust="0"/>
    <p:restoredTop sz="94660"/>
  </p:normalViewPr>
  <p:slideViewPr>
    <p:cSldViewPr snapToGrid="0">
      <p:cViewPr varScale="1">
        <p:scale>
          <a:sx n="45" d="100"/>
          <a:sy n="45" d="100"/>
        </p:scale>
        <p:origin x="48" y="7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9/6/2026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Việc dùng máy tính giải một bài toán chính là đưa cho máy tính dãy hữu</a:t>
            </a:r>
            <a:r>
              <a:rPr lang="en-US" dirty="0"/>
              <a:t> </a:t>
            </a:r>
            <a:r>
              <a:rPr lang="vi-VN" dirty="0"/>
              <a:t>hạn các thao tác đơn giản mà nó có thể thực hiện được để từ các điều kiện</a:t>
            </a:r>
            <a:r>
              <a:rPr lang="en-US" dirty="0"/>
              <a:t> </a:t>
            </a:r>
            <a:r>
              <a:rPr lang="vi-VN" dirty="0"/>
              <a:t>cho trước ta nhận được kết quả cần tìm.</a:t>
            </a:r>
            <a:endParaRPr lang="en-US" dirty="0"/>
          </a:p>
          <a:p>
            <a:r>
              <a:rPr lang="vi-VN" dirty="0"/>
              <a:t>Dãy hữu hạn các thao tác cần thực hiện để giải một bài toán được gọi là</a:t>
            </a:r>
            <a:r>
              <a:rPr lang="en-US" dirty="0"/>
              <a:t> </a:t>
            </a:r>
            <a:r>
              <a:rPr lang="vi-VN" dirty="0"/>
              <a:t>thuật toán.</a:t>
            </a:r>
            <a:endParaRPr lang="en-US" dirty="0"/>
          </a:p>
          <a:p>
            <a:r>
              <a:rPr lang="vi-VN" dirty="0"/>
              <a:t>Máy tính không thể tự mình tìm ra lời giải của các bài toán. Cách giải của</a:t>
            </a:r>
            <a:r>
              <a:rPr lang="en-US" dirty="0"/>
              <a:t> </a:t>
            </a:r>
            <a:r>
              <a:rPr lang="vi-VN" dirty="0"/>
              <a:t>một bài toán cụ thể, tức thuật toán, là tư duy sáng tạo của con người. Tuy</a:t>
            </a:r>
            <a:r>
              <a:rPr lang="en-US" dirty="0"/>
              <a:t> </a:t>
            </a:r>
            <a:r>
              <a:rPr lang="vi-VN" dirty="0"/>
              <a:t>nhiên, việc mô tả thuật toán chưa đủ đối với máy tính mà cần diễn đạt thuật</a:t>
            </a:r>
            <a:r>
              <a:rPr lang="en-US" dirty="0"/>
              <a:t> </a:t>
            </a:r>
            <a:r>
              <a:rPr lang="vi-VN" dirty="0"/>
              <a:t>toán dưới dạng mà máy tính có thể hiểu và thực hiện được. Kết quả diễn đạt</a:t>
            </a:r>
            <a:r>
              <a:rPr lang="en-US" dirty="0"/>
              <a:t> </a:t>
            </a:r>
            <a:r>
              <a:rPr lang="vi-VN" dirty="0"/>
              <a:t>thuật toán là chương trình được viết trong một ngôn ngữ lập trình nào đó.Máy tính sẽ chạy chương trình và cho ta lời giải của bài toán (h. 28).</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Việc</a:t>
            </a:r>
            <a:r>
              <a:rPr lang="en-US" dirty="0"/>
              <a:t> </a:t>
            </a:r>
            <a:r>
              <a:rPr lang="en-US" dirty="0" err="1"/>
              <a:t>liệt</a:t>
            </a:r>
            <a:r>
              <a:rPr lang="en-US" dirty="0"/>
              <a:t> </a:t>
            </a:r>
            <a:r>
              <a:rPr lang="en-US" dirty="0" err="1"/>
              <a:t>kê</a:t>
            </a:r>
            <a:r>
              <a:rPr lang="en-US" dirty="0"/>
              <a:t> </a:t>
            </a:r>
            <a:r>
              <a:rPr lang="en-US" dirty="0" err="1"/>
              <a:t>các</a:t>
            </a:r>
            <a:r>
              <a:rPr lang="en-US" dirty="0"/>
              <a:t> </a:t>
            </a:r>
            <a:r>
              <a:rPr lang="en-US" dirty="0" err="1"/>
              <a:t>bước</a:t>
            </a:r>
            <a:r>
              <a:rPr lang="en-US" dirty="0"/>
              <a:t> </a:t>
            </a:r>
            <a:r>
              <a:rPr lang="en-US" dirty="0" err="1"/>
              <a:t>là</a:t>
            </a:r>
            <a:r>
              <a:rPr lang="en-US" dirty="0"/>
              <a:t> </a:t>
            </a:r>
            <a:r>
              <a:rPr lang="en-US" dirty="0" err="1"/>
              <a:t>một</a:t>
            </a:r>
            <a:r>
              <a:rPr lang="en-US" dirty="0"/>
              <a:t> </a:t>
            </a:r>
            <a:r>
              <a:rPr lang="en-US" dirty="0" err="1"/>
              <a:t>cách</a:t>
            </a:r>
            <a:r>
              <a:rPr lang="en-US" dirty="0"/>
              <a:t> </a:t>
            </a:r>
            <a:r>
              <a:rPr lang="en-US" dirty="0" err="1"/>
              <a:t>thường</a:t>
            </a:r>
            <a:r>
              <a:rPr lang="en-US" dirty="0"/>
              <a:t> </a:t>
            </a:r>
            <a:r>
              <a:rPr lang="en-US" dirty="0" err="1"/>
              <a:t>dùng</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thuật</a:t>
            </a:r>
            <a:r>
              <a:rPr lang="en-US" dirty="0"/>
              <a:t> </a:t>
            </a:r>
            <a:r>
              <a:rPr lang="en-US" dirty="0" err="1"/>
              <a:t>toán</a:t>
            </a:r>
            <a:endParaRPr lang="en-US" dirty="0"/>
          </a:p>
          <a:p>
            <a:r>
              <a:rPr lang="en-US" dirty="0" err="1"/>
              <a:t>Nếu</a:t>
            </a:r>
            <a:r>
              <a:rPr lang="en-US" dirty="0"/>
              <a:t> </a:t>
            </a:r>
            <a:r>
              <a:rPr lang="en-US" dirty="0" err="1"/>
              <a:t>không</a:t>
            </a:r>
            <a:r>
              <a:rPr lang="en-US" dirty="0"/>
              <a:t> </a:t>
            </a:r>
            <a:r>
              <a:rPr lang="en-US" dirty="0" err="1"/>
              <a:t>mô</a:t>
            </a:r>
            <a:r>
              <a:rPr lang="en-US" dirty="0"/>
              <a:t> </a:t>
            </a:r>
            <a:r>
              <a:rPr lang="en-US" dirty="0" err="1"/>
              <a:t>tả</a:t>
            </a:r>
            <a:r>
              <a:rPr lang="en-US" dirty="0"/>
              <a:t> </a:t>
            </a:r>
            <a:r>
              <a:rPr lang="en-US" dirty="0" err="1"/>
              <a:t>gì</a:t>
            </a:r>
            <a:r>
              <a:rPr lang="en-US" dirty="0"/>
              <a:t> </a:t>
            </a:r>
            <a:r>
              <a:rPr lang="en-US" dirty="0" err="1"/>
              <a:t>khác</a:t>
            </a:r>
            <a:r>
              <a:rPr lang="en-US" dirty="0"/>
              <a:t>, </a:t>
            </a:r>
            <a:r>
              <a:rPr lang="en-US" dirty="0" err="1"/>
              <a:t>các</a:t>
            </a:r>
            <a:r>
              <a:rPr lang="en-US" dirty="0"/>
              <a:t> </a:t>
            </a:r>
            <a:r>
              <a:rPr lang="en-US" dirty="0" err="1"/>
              <a:t>bước</a:t>
            </a:r>
            <a:r>
              <a:rPr lang="en-US" dirty="0"/>
              <a:t> </a:t>
            </a:r>
            <a:r>
              <a:rPr lang="en-US" dirty="0" err="1"/>
              <a:t>thuật</a:t>
            </a:r>
            <a:r>
              <a:rPr lang="en-US" dirty="0"/>
              <a:t> </a:t>
            </a:r>
            <a:r>
              <a:rPr lang="en-US" dirty="0" err="1"/>
              <a:t>toán</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tuần</a:t>
            </a:r>
            <a:r>
              <a:rPr lang="en-US" dirty="0"/>
              <a:t> </a:t>
            </a:r>
            <a:r>
              <a:rPr lang="en-US" dirty="0" err="1"/>
              <a:t>tự</a:t>
            </a:r>
            <a:r>
              <a:rPr lang="en-US" dirty="0"/>
              <a:t> </a:t>
            </a:r>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1891791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A42DB-18B3-C195-92FC-980374AA8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88385-19B5-0596-B33A-052B9854A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39645-7B82-7BEB-29BF-F0E5C2B92373}"/>
              </a:ext>
            </a:extLst>
          </p:cNvPr>
          <p:cNvSpPr>
            <a:spLocks noGrp="1"/>
          </p:cNvSpPr>
          <p:nvPr>
            <p:ph type="body" idx="1"/>
          </p:nvPr>
        </p:nvSpPr>
        <p:spPr/>
        <p:txBody>
          <a:bodyPr/>
          <a:lstStyle/>
          <a:p>
            <a:r>
              <a:rPr lang="en-US" dirty="0" err="1"/>
              <a:t>Việc</a:t>
            </a:r>
            <a:r>
              <a:rPr lang="en-US" dirty="0"/>
              <a:t> </a:t>
            </a:r>
            <a:r>
              <a:rPr lang="en-US" dirty="0" err="1"/>
              <a:t>liệt</a:t>
            </a:r>
            <a:r>
              <a:rPr lang="en-US" dirty="0"/>
              <a:t> </a:t>
            </a:r>
            <a:r>
              <a:rPr lang="en-US" dirty="0" err="1"/>
              <a:t>kê</a:t>
            </a:r>
            <a:r>
              <a:rPr lang="en-US" dirty="0"/>
              <a:t> </a:t>
            </a:r>
            <a:r>
              <a:rPr lang="en-US" dirty="0" err="1"/>
              <a:t>các</a:t>
            </a:r>
            <a:r>
              <a:rPr lang="en-US" dirty="0"/>
              <a:t> </a:t>
            </a:r>
            <a:r>
              <a:rPr lang="en-US" dirty="0" err="1"/>
              <a:t>bước</a:t>
            </a:r>
            <a:r>
              <a:rPr lang="en-US" dirty="0"/>
              <a:t> </a:t>
            </a:r>
            <a:r>
              <a:rPr lang="en-US" dirty="0" err="1"/>
              <a:t>là</a:t>
            </a:r>
            <a:r>
              <a:rPr lang="en-US" dirty="0"/>
              <a:t> </a:t>
            </a:r>
            <a:r>
              <a:rPr lang="en-US" dirty="0" err="1"/>
              <a:t>một</a:t>
            </a:r>
            <a:r>
              <a:rPr lang="en-US" dirty="0"/>
              <a:t> </a:t>
            </a:r>
            <a:r>
              <a:rPr lang="en-US" dirty="0" err="1"/>
              <a:t>cách</a:t>
            </a:r>
            <a:r>
              <a:rPr lang="en-US" dirty="0"/>
              <a:t> </a:t>
            </a:r>
            <a:r>
              <a:rPr lang="en-US" dirty="0" err="1"/>
              <a:t>thường</a:t>
            </a:r>
            <a:r>
              <a:rPr lang="en-US" dirty="0"/>
              <a:t> </a:t>
            </a:r>
            <a:r>
              <a:rPr lang="en-US" dirty="0" err="1"/>
              <a:t>dùng</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thuật</a:t>
            </a:r>
            <a:r>
              <a:rPr lang="en-US" dirty="0"/>
              <a:t> </a:t>
            </a:r>
            <a:r>
              <a:rPr lang="en-US" dirty="0" err="1"/>
              <a:t>toán</a:t>
            </a:r>
            <a:endParaRPr lang="en-US" dirty="0"/>
          </a:p>
          <a:p>
            <a:r>
              <a:rPr lang="en-US" dirty="0" err="1"/>
              <a:t>Nếu</a:t>
            </a:r>
            <a:r>
              <a:rPr lang="en-US" dirty="0"/>
              <a:t> </a:t>
            </a:r>
            <a:r>
              <a:rPr lang="en-US" dirty="0" err="1"/>
              <a:t>không</a:t>
            </a:r>
            <a:r>
              <a:rPr lang="en-US" dirty="0"/>
              <a:t> </a:t>
            </a:r>
            <a:r>
              <a:rPr lang="en-US" dirty="0" err="1"/>
              <a:t>mô</a:t>
            </a:r>
            <a:r>
              <a:rPr lang="en-US" dirty="0"/>
              <a:t> </a:t>
            </a:r>
            <a:r>
              <a:rPr lang="en-US" dirty="0" err="1"/>
              <a:t>tả</a:t>
            </a:r>
            <a:r>
              <a:rPr lang="en-US" dirty="0"/>
              <a:t> </a:t>
            </a:r>
            <a:r>
              <a:rPr lang="en-US" dirty="0" err="1"/>
              <a:t>gì</a:t>
            </a:r>
            <a:r>
              <a:rPr lang="en-US" dirty="0"/>
              <a:t> </a:t>
            </a:r>
            <a:r>
              <a:rPr lang="en-US" dirty="0" err="1"/>
              <a:t>khác</a:t>
            </a:r>
            <a:r>
              <a:rPr lang="en-US" dirty="0"/>
              <a:t>, </a:t>
            </a:r>
            <a:r>
              <a:rPr lang="en-US" dirty="0" err="1"/>
              <a:t>các</a:t>
            </a:r>
            <a:r>
              <a:rPr lang="en-US" dirty="0"/>
              <a:t> </a:t>
            </a:r>
            <a:r>
              <a:rPr lang="en-US" dirty="0" err="1"/>
              <a:t>bước</a:t>
            </a:r>
            <a:r>
              <a:rPr lang="en-US" dirty="0"/>
              <a:t> </a:t>
            </a:r>
            <a:r>
              <a:rPr lang="en-US" dirty="0" err="1"/>
              <a:t>thuật</a:t>
            </a:r>
            <a:r>
              <a:rPr lang="en-US" dirty="0"/>
              <a:t> </a:t>
            </a:r>
            <a:r>
              <a:rPr lang="en-US" dirty="0" err="1"/>
              <a:t>toán</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tuần</a:t>
            </a:r>
            <a:r>
              <a:rPr lang="en-US" dirty="0"/>
              <a:t> </a:t>
            </a:r>
            <a:r>
              <a:rPr lang="en-US" dirty="0" err="1"/>
              <a:t>tự</a:t>
            </a:r>
            <a:r>
              <a:rPr lang="en-US" dirty="0"/>
              <a:t> </a:t>
            </a:r>
          </a:p>
        </p:txBody>
      </p:sp>
      <p:sp>
        <p:nvSpPr>
          <p:cNvPr id="4" name="Slide Number Placeholder 3">
            <a:extLst>
              <a:ext uri="{FF2B5EF4-FFF2-40B4-BE49-F238E27FC236}">
                <a16:creationId xmlns:a16="http://schemas.microsoft.com/office/drawing/2014/main" id="{68F3D274-A3FE-DFED-AEFF-EEFF44B30C9C}"/>
              </a:ext>
            </a:extLst>
          </p:cNvPr>
          <p:cNvSpPr>
            <a:spLocks noGrp="1"/>
          </p:cNvSpPr>
          <p:nvPr>
            <p:ph type="sldNum" sz="quarter" idx="5"/>
          </p:nvPr>
        </p:nvSpPr>
        <p:spPr/>
        <p:txBody>
          <a:bodyPr/>
          <a:lstStyle/>
          <a:p>
            <a:fld id="{AB2FC7A4-3D1B-482D-8C9D-7642A2CE3076}" type="slidenum">
              <a:rPr lang="en-US" smtClean="0"/>
              <a:t>7</a:t>
            </a:fld>
            <a:endParaRPr lang="en-US"/>
          </a:p>
        </p:txBody>
      </p:sp>
    </p:spTree>
    <p:extLst>
      <p:ext uri="{BB962C8B-B14F-4D97-AF65-F5344CB8AC3E}">
        <p14:creationId xmlns:p14="http://schemas.microsoft.com/office/powerpoint/2010/main" val="4107824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BD8A-A643-86EB-FC74-00D942988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82B11-6AF8-A6D9-841E-DEC67F36F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B555A-E8F8-A571-E03C-2D8BE0F1A105}"/>
              </a:ext>
            </a:extLst>
          </p:cNvPr>
          <p:cNvSpPr>
            <a:spLocks noGrp="1"/>
          </p:cNvSpPr>
          <p:nvPr>
            <p:ph type="body" idx="1"/>
          </p:nvPr>
        </p:nvSpPr>
        <p:spPr/>
        <p:txBody>
          <a:bodyPr/>
          <a:lstStyle/>
          <a:p>
            <a:r>
              <a:rPr lang="en-US" dirty="0" err="1"/>
              <a:t>Việc</a:t>
            </a:r>
            <a:r>
              <a:rPr lang="en-US" dirty="0"/>
              <a:t> </a:t>
            </a:r>
            <a:r>
              <a:rPr lang="en-US" dirty="0" err="1"/>
              <a:t>liệt</a:t>
            </a:r>
            <a:r>
              <a:rPr lang="en-US" dirty="0"/>
              <a:t> </a:t>
            </a:r>
            <a:r>
              <a:rPr lang="en-US" dirty="0" err="1"/>
              <a:t>kê</a:t>
            </a:r>
            <a:r>
              <a:rPr lang="en-US" dirty="0"/>
              <a:t> </a:t>
            </a:r>
            <a:r>
              <a:rPr lang="en-US" dirty="0" err="1"/>
              <a:t>các</a:t>
            </a:r>
            <a:r>
              <a:rPr lang="en-US" dirty="0"/>
              <a:t> </a:t>
            </a:r>
            <a:r>
              <a:rPr lang="en-US" dirty="0" err="1"/>
              <a:t>bước</a:t>
            </a:r>
            <a:r>
              <a:rPr lang="en-US" dirty="0"/>
              <a:t> </a:t>
            </a:r>
            <a:r>
              <a:rPr lang="en-US" dirty="0" err="1"/>
              <a:t>là</a:t>
            </a:r>
            <a:r>
              <a:rPr lang="en-US" dirty="0"/>
              <a:t> </a:t>
            </a:r>
            <a:r>
              <a:rPr lang="en-US" dirty="0" err="1"/>
              <a:t>một</a:t>
            </a:r>
            <a:r>
              <a:rPr lang="en-US" dirty="0"/>
              <a:t> </a:t>
            </a:r>
            <a:r>
              <a:rPr lang="en-US" dirty="0" err="1"/>
              <a:t>cách</a:t>
            </a:r>
            <a:r>
              <a:rPr lang="en-US" dirty="0"/>
              <a:t> </a:t>
            </a:r>
            <a:r>
              <a:rPr lang="en-US" dirty="0" err="1"/>
              <a:t>thường</a:t>
            </a:r>
            <a:r>
              <a:rPr lang="en-US" dirty="0"/>
              <a:t> </a:t>
            </a:r>
            <a:r>
              <a:rPr lang="en-US" dirty="0" err="1"/>
              <a:t>dùng</a:t>
            </a:r>
            <a:r>
              <a:rPr lang="en-US" dirty="0"/>
              <a:t> </a:t>
            </a:r>
            <a:r>
              <a:rPr lang="en-US" dirty="0" err="1"/>
              <a:t>để</a:t>
            </a:r>
            <a:r>
              <a:rPr lang="en-US" dirty="0"/>
              <a:t> </a:t>
            </a:r>
            <a:r>
              <a:rPr lang="en-US" dirty="0" err="1"/>
              <a:t>mô</a:t>
            </a:r>
            <a:r>
              <a:rPr lang="en-US" dirty="0"/>
              <a:t> </a:t>
            </a:r>
            <a:r>
              <a:rPr lang="en-US" dirty="0" err="1"/>
              <a:t>tả</a:t>
            </a:r>
            <a:r>
              <a:rPr lang="en-US" dirty="0"/>
              <a:t> </a:t>
            </a:r>
            <a:r>
              <a:rPr lang="en-US" dirty="0" err="1"/>
              <a:t>thuật</a:t>
            </a:r>
            <a:r>
              <a:rPr lang="en-US" dirty="0"/>
              <a:t> </a:t>
            </a:r>
            <a:r>
              <a:rPr lang="en-US" dirty="0" err="1"/>
              <a:t>toán</a:t>
            </a:r>
            <a:endParaRPr lang="en-US" dirty="0"/>
          </a:p>
          <a:p>
            <a:r>
              <a:rPr lang="en-US" dirty="0" err="1"/>
              <a:t>Nếu</a:t>
            </a:r>
            <a:r>
              <a:rPr lang="en-US" dirty="0"/>
              <a:t> </a:t>
            </a:r>
            <a:r>
              <a:rPr lang="en-US" dirty="0" err="1"/>
              <a:t>không</a:t>
            </a:r>
            <a:r>
              <a:rPr lang="en-US" dirty="0"/>
              <a:t> </a:t>
            </a:r>
            <a:r>
              <a:rPr lang="en-US" dirty="0" err="1"/>
              <a:t>mô</a:t>
            </a:r>
            <a:r>
              <a:rPr lang="en-US" dirty="0"/>
              <a:t> </a:t>
            </a:r>
            <a:r>
              <a:rPr lang="en-US" dirty="0" err="1"/>
              <a:t>tả</a:t>
            </a:r>
            <a:r>
              <a:rPr lang="en-US" dirty="0"/>
              <a:t> </a:t>
            </a:r>
            <a:r>
              <a:rPr lang="en-US" dirty="0" err="1"/>
              <a:t>gì</a:t>
            </a:r>
            <a:r>
              <a:rPr lang="en-US" dirty="0"/>
              <a:t> </a:t>
            </a:r>
            <a:r>
              <a:rPr lang="en-US" dirty="0" err="1"/>
              <a:t>khác</a:t>
            </a:r>
            <a:r>
              <a:rPr lang="en-US" dirty="0"/>
              <a:t>, </a:t>
            </a:r>
            <a:r>
              <a:rPr lang="en-US" dirty="0" err="1"/>
              <a:t>các</a:t>
            </a:r>
            <a:r>
              <a:rPr lang="en-US" dirty="0"/>
              <a:t> </a:t>
            </a:r>
            <a:r>
              <a:rPr lang="en-US" dirty="0" err="1"/>
              <a:t>bước</a:t>
            </a:r>
            <a:r>
              <a:rPr lang="en-US" dirty="0"/>
              <a:t> </a:t>
            </a:r>
            <a:r>
              <a:rPr lang="en-US" dirty="0" err="1"/>
              <a:t>thuật</a:t>
            </a:r>
            <a:r>
              <a:rPr lang="en-US" dirty="0"/>
              <a:t> </a:t>
            </a:r>
            <a:r>
              <a:rPr lang="en-US" dirty="0" err="1"/>
              <a:t>toán</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tuần</a:t>
            </a:r>
            <a:r>
              <a:rPr lang="en-US" dirty="0"/>
              <a:t> </a:t>
            </a:r>
            <a:r>
              <a:rPr lang="en-US" dirty="0" err="1"/>
              <a:t>tự</a:t>
            </a:r>
            <a:r>
              <a:rPr lang="en-US" dirty="0"/>
              <a:t> </a:t>
            </a:r>
          </a:p>
        </p:txBody>
      </p:sp>
      <p:sp>
        <p:nvSpPr>
          <p:cNvPr id="4" name="Slide Number Placeholder 3">
            <a:extLst>
              <a:ext uri="{FF2B5EF4-FFF2-40B4-BE49-F238E27FC236}">
                <a16:creationId xmlns:a16="http://schemas.microsoft.com/office/drawing/2014/main" id="{BA838B27-B978-DDD2-78B3-E61FAEDD5C0E}"/>
              </a:ext>
            </a:extLst>
          </p:cNvPr>
          <p:cNvSpPr>
            <a:spLocks noGrp="1"/>
          </p:cNvSpPr>
          <p:nvPr>
            <p:ph type="sldNum" sz="quarter" idx="5"/>
          </p:nvPr>
        </p:nvSpPr>
        <p:spPr/>
        <p:txBody>
          <a:bodyPr/>
          <a:lstStyle/>
          <a:p>
            <a:fld id="{AB2FC7A4-3D1B-482D-8C9D-7642A2CE3076}" type="slidenum">
              <a:rPr lang="en-US" smtClean="0"/>
              <a:t>8</a:t>
            </a:fld>
            <a:endParaRPr lang="en-US"/>
          </a:p>
        </p:txBody>
      </p:sp>
    </p:spTree>
    <p:extLst>
      <p:ext uri="{BB962C8B-B14F-4D97-AF65-F5344CB8AC3E}">
        <p14:creationId xmlns:p14="http://schemas.microsoft.com/office/powerpoint/2010/main" val="2901986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r>
              <a:rPr lang="en-US" b="0" dirty="0"/>
              <a:t>Quản </a:t>
            </a:r>
            <a:r>
              <a:rPr lang="en-US" b="0" dirty="0" err="1"/>
              <a:t>lý</a:t>
            </a:r>
            <a:r>
              <a:rPr lang="en-US" b="0" dirty="0"/>
              <a:t> </a:t>
            </a:r>
            <a:r>
              <a:rPr lang="en-US" b="0" dirty="0" err="1"/>
              <a:t>bộ</a:t>
            </a:r>
            <a:r>
              <a:rPr lang="en-US" b="0" dirty="0"/>
              <a:t> </a:t>
            </a:r>
            <a:r>
              <a:rPr lang="en-US" b="0" dirty="0" err="1"/>
              <a:t>nhớ</a:t>
            </a:r>
            <a:r>
              <a:rPr lang="en-US" b="0" dirty="0"/>
              <a:t> &amp; Con </a:t>
            </a:r>
            <a:r>
              <a:rPr lang="en-US" b="0" dirty="0" err="1"/>
              <a:t>trỏ</a:t>
            </a:r>
            <a:r>
              <a:rPr lang="en-US" b="0" dirty="0"/>
              <a:t> </a:t>
            </a:r>
            <a:r>
              <a:rPr lang="en-US" b="0" dirty="0" err="1"/>
              <a:t>trong</a:t>
            </a:r>
            <a:r>
              <a:rPr lang="en-US" b="0" dirty="0"/>
              <a:t> C++</a:t>
            </a:r>
          </a:p>
          <a:p>
            <a:pPr marL="0" indent="0" algn="just">
              <a:buNone/>
            </a:pPr>
            <a:r>
              <a:rPr lang="en-US" b="0" dirty="0"/>
              <a:t>- Con </a:t>
            </a:r>
            <a:r>
              <a:rPr lang="en-US" b="0" dirty="0" err="1"/>
              <a:t>trỏ</a:t>
            </a:r>
            <a:r>
              <a:rPr lang="en-US" b="0" dirty="0"/>
              <a:t> </a:t>
            </a:r>
            <a:r>
              <a:rPr lang="en-US" b="0" dirty="0" err="1"/>
              <a:t>và</a:t>
            </a:r>
            <a:r>
              <a:rPr lang="en-US" b="0" dirty="0"/>
              <a:t> </a:t>
            </a:r>
            <a:r>
              <a:rPr lang="en-US" b="0" dirty="0" err="1"/>
              <a:t>địa</a:t>
            </a:r>
            <a:r>
              <a:rPr lang="en-US" b="0" dirty="0"/>
              <a:t> </a:t>
            </a:r>
            <a:r>
              <a:rPr lang="en-US" b="0" dirty="0" err="1"/>
              <a:t>chỉ</a:t>
            </a:r>
            <a:r>
              <a:rPr lang="en-US" b="0" dirty="0"/>
              <a:t>: Khai </a:t>
            </a:r>
            <a:r>
              <a:rPr lang="en-US" b="0" dirty="0" err="1"/>
              <a:t>báo</a:t>
            </a:r>
            <a:r>
              <a:rPr lang="en-US" b="0" dirty="0"/>
              <a:t> </a:t>
            </a:r>
            <a:r>
              <a:rPr lang="en-US" b="0" dirty="0">
                <a:solidFill>
                  <a:srgbClr val="FF0000"/>
                </a:solidFill>
              </a:rPr>
              <a:t>int*p = &amp;x; </a:t>
            </a:r>
            <a:br>
              <a:rPr lang="en-US" b="0" dirty="0"/>
            </a:br>
            <a:r>
              <a:rPr lang="en-US" b="0" dirty="0"/>
              <a:t>(</a:t>
            </a:r>
            <a:r>
              <a:rPr lang="en-US" b="0" dirty="0" err="1"/>
              <a:t>Địa</a:t>
            </a:r>
            <a:r>
              <a:rPr lang="en-US" b="0" dirty="0"/>
              <a:t> </a:t>
            </a:r>
            <a:r>
              <a:rPr lang="en-US" b="0" dirty="0" err="1"/>
              <a:t>chỉ</a:t>
            </a:r>
            <a:r>
              <a:rPr lang="en-US" b="0" dirty="0"/>
              <a:t> </a:t>
            </a:r>
            <a:r>
              <a:rPr lang="en-US" b="0" dirty="0" err="1"/>
              <a:t>lưu</a:t>
            </a:r>
            <a:r>
              <a:rPr lang="en-US" b="0" dirty="0"/>
              <a:t> </a:t>
            </a:r>
            <a:r>
              <a:rPr lang="en-US" b="0" dirty="0" err="1"/>
              <a:t>trong</a:t>
            </a:r>
            <a:r>
              <a:rPr lang="en-US" b="0" dirty="0"/>
              <a:t> </a:t>
            </a:r>
            <a:r>
              <a:rPr lang="en-US" b="0" dirty="0" err="1"/>
              <a:t>vùng</a:t>
            </a:r>
            <a:r>
              <a:rPr lang="en-US" b="0" dirty="0"/>
              <a:t> </a:t>
            </a:r>
            <a:r>
              <a:rPr lang="en-US" b="0" dirty="0" err="1"/>
              <a:t>nhớ</a:t>
            </a:r>
            <a:r>
              <a:rPr lang="en-US" b="0" dirty="0"/>
              <a:t> RAM, </a:t>
            </a:r>
            <a:r>
              <a:rPr lang="en-US" b="0" dirty="0" err="1"/>
              <a:t>lấy</a:t>
            </a:r>
            <a:r>
              <a:rPr lang="en-US" b="0" dirty="0"/>
              <a:t> </a:t>
            </a:r>
            <a:r>
              <a:rPr lang="en-US" b="0" dirty="0" err="1"/>
              <a:t>giá</a:t>
            </a:r>
            <a:r>
              <a:rPr lang="en-US" b="0" dirty="0"/>
              <a:t> </a:t>
            </a:r>
            <a:r>
              <a:rPr lang="en-US" b="0" dirty="0" err="1"/>
              <a:t>trị</a:t>
            </a:r>
            <a:r>
              <a:rPr lang="en-US" b="0" dirty="0"/>
              <a:t> </a:t>
            </a:r>
            <a:r>
              <a:rPr lang="en-US" b="0" dirty="0" err="1"/>
              <a:t>bằng</a:t>
            </a:r>
            <a:r>
              <a:rPr lang="en-US" b="0" dirty="0"/>
              <a:t> </a:t>
            </a:r>
            <a:r>
              <a:rPr lang="en-US" b="0" dirty="0" err="1"/>
              <a:t>toán</a:t>
            </a:r>
            <a:r>
              <a:rPr lang="en-US" b="0" dirty="0"/>
              <a:t> </a:t>
            </a:r>
            <a:r>
              <a:rPr lang="en-US" b="0" dirty="0" err="1"/>
              <a:t>tử</a:t>
            </a:r>
            <a:r>
              <a:rPr lang="en-US" b="0" dirty="0"/>
              <a:t> </a:t>
            </a:r>
            <a:r>
              <a:rPr lang="en-US" b="0" dirty="0" err="1"/>
              <a:t>giải</a:t>
            </a:r>
            <a:r>
              <a:rPr lang="en-US" b="0" dirty="0"/>
              <a:t> con </a:t>
            </a:r>
            <a:r>
              <a:rPr lang="en-US" b="0" dirty="0" err="1"/>
              <a:t>trỏ</a:t>
            </a:r>
            <a:r>
              <a:rPr lang="en-US" b="0" dirty="0"/>
              <a:t> *p)</a:t>
            </a:r>
          </a:p>
          <a:p>
            <a:pPr algn="just">
              <a:buFontTx/>
              <a:buChar char="-"/>
            </a:pPr>
            <a:r>
              <a:rPr lang="en-US" b="0" dirty="0" err="1"/>
              <a:t>Cấp</a:t>
            </a:r>
            <a:r>
              <a:rPr lang="en-US" b="0" dirty="0"/>
              <a:t> </a:t>
            </a:r>
            <a:r>
              <a:rPr lang="en-US" b="0" dirty="0" err="1"/>
              <a:t>phát</a:t>
            </a:r>
            <a:r>
              <a:rPr lang="en-US" b="0" dirty="0"/>
              <a:t> </a:t>
            </a:r>
            <a:r>
              <a:rPr lang="en-US" b="0" dirty="0" err="1"/>
              <a:t>động</a:t>
            </a:r>
            <a:r>
              <a:rPr lang="en-US" b="0" dirty="0"/>
              <a:t>: </a:t>
            </a:r>
            <a:r>
              <a:rPr lang="en-US" b="0" dirty="0" err="1"/>
              <a:t>Sử</a:t>
            </a:r>
            <a:r>
              <a:rPr lang="en-US" b="0" dirty="0"/>
              <a:t> </a:t>
            </a:r>
            <a:r>
              <a:rPr lang="en-US" b="0" dirty="0" err="1"/>
              <a:t>dụng</a:t>
            </a:r>
            <a:r>
              <a:rPr lang="en-US" b="0" dirty="0"/>
              <a:t> </a:t>
            </a:r>
            <a:r>
              <a:rPr lang="en-US" b="0" dirty="0" err="1"/>
              <a:t>toán</a:t>
            </a:r>
            <a:r>
              <a:rPr lang="en-US" b="0" dirty="0"/>
              <a:t> </a:t>
            </a:r>
            <a:r>
              <a:rPr lang="en-US" b="0" dirty="0" err="1"/>
              <a:t>tử</a:t>
            </a:r>
            <a:r>
              <a:rPr lang="en-US" b="0" dirty="0"/>
              <a:t> </a:t>
            </a:r>
            <a:r>
              <a:rPr lang="en-US" b="0" dirty="0">
                <a:solidFill>
                  <a:srgbClr val="FF0000"/>
                </a:solidFill>
              </a:rPr>
              <a:t>new</a:t>
            </a:r>
            <a:r>
              <a:rPr lang="en-US" b="0" dirty="0"/>
              <a:t> </a:t>
            </a:r>
            <a:r>
              <a:rPr lang="en-US" b="0" dirty="0" err="1"/>
              <a:t>và</a:t>
            </a:r>
            <a:r>
              <a:rPr lang="en-US" b="0" dirty="0"/>
              <a:t> </a:t>
            </a:r>
            <a:r>
              <a:rPr lang="en-US" b="0" dirty="0">
                <a:solidFill>
                  <a:srgbClr val="FF0000"/>
                </a:solidFill>
              </a:rPr>
              <a:t>new[] </a:t>
            </a:r>
            <a:r>
              <a:rPr lang="en-US" b="0" dirty="0" err="1">
                <a:solidFill>
                  <a:srgbClr val="FF0000"/>
                </a:solidFill>
              </a:rPr>
              <a:t>để</a:t>
            </a:r>
            <a:r>
              <a:rPr lang="en-US" b="0" dirty="0">
                <a:solidFill>
                  <a:srgbClr val="FF0000"/>
                </a:solidFill>
              </a:rPr>
              <a:t> </a:t>
            </a:r>
            <a:r>
              <a:rPr lang="en-US" b="0" dirty="0" err="1">
                <a:solidFill>
                  <a:srgbClr val="FF0000"/>
                </a:solidFill>
              </a:rPr>
              <a:t>xin</a:t>
            </a:r>
            <a:r>
              <a:rPr lang="en-US" b="0" dirty="0">
                <a:solidFill>
                  <a:srgbClr val="FF0000"/>
                </a:solidFill>
              </a:rPr>
              <a:t> </a:t>
            </a:r>
            <a:r>
              <a:rPr lang="en-US" b="0" dirty="0" err="1">
                <a:solidFill>
                  <a:srgbClr val="FF0000"/>
                </a:solidFill>
              </a:rPr>
              <a:t>cấp</a:t>
            </a:r>
            <a:r>
              <a:rPr lang="en-US" b="0" dirty="0">
                <a:solidFill>
                  <a:srgbClr val="FF0000"/>
                </a:solidFill>
              </a:rPr>
              <a:t> </a:t>
            </a:r>
            <a:r>
              <a:rPr lang="en-US" b="0" dirty="0" err="1">
                <a:solidFill>
                  <a:srgbClr val="FF0000"/>
                </a:solidFill>
              </a:rPr>
              <a:t>phát</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a:t>
            </a:r>
            <a:r>
              <a:rPr lang="en-US" b="0" dirty="0" err="1">
                <a:solidFill>
                  <a:srgbClr val="FF0000"/>
                </a:solidFill>
              </a:rPr>
              <a:t>trên</a:t>
            </a:r>
            <a:r>
              <a:rPr lang="en-US" b="0" dirty="0">
                <a:solidFill>
                  <a:srgbClr val="FF0000"/>
                </a:solidFill>
              </a:rPr>
              <a:t> </a:t>
            </a:r>
            <a:r>
              <a:rPr lang="en-US" b="0" dirty="0" err="1">
                <a:solidFill>
                  <a:srgbClr val="FF0000"/>
                </a:solidFill>
              </a:rPr>
              <a:t>vùng</a:t>
            </a:r>
            <a:r>
              <a:rPr lang="en-US" b="0" dirty="0">
                <a:solidFill>
                  <a:srgbClr val="FF0000"/>
                </a:solidFill>
              </a:rPr>
              <a:t> Heap </a:t>
            </a:r>
            <a:r>
              <a:rPr lang="en-US" b="0" dirty="0" err="1">
                <a:solidFill>
                  <a:srgbClr val="FF0000"/>
                </a:solidFill>
              </a:rPr>
              <a:t>trong</a:t>
            </a:r>
            <a:r>
              <a:rPr lang="en-US" b="0" dirty="0">
                <a:solidFill>
                  <a:srgbClr val="FF0000"/>
                </a:solidFill>
              </a:rPr>
              <a:t> </a:t>
            </a:r>
            <a:r>
              <a:rPr lang="en-US" b="0" dirty="0" err="1">
                <a:solidFill>
                  <a:srgbClr val="FF0000"/>
                </a:solidFill>
              </a:rPr>
              <a:t>quá</a:t>
            </a:r>
            <a:r>
              <a:rPr lang="en-US" b="0" dirty="0">
                <a:solidFill>
                  <a:srgbClr val="FF0000"/>
                </a:solidFill>
              </a:rPr>
              <a:t> </a:t>
            </a:r>
            <a:r>
              <a:rPr lang="en-US" b="0" dirty="0" err="1">
                <a:solidFill>
                  <a:srgbClr val="FF0000"/>
                </a:solidFill>
              </a:rPr>
              <a:t>trình</a:t>
            </a:r>
            <a:r>
              <a:rPr lang="en-US" b="0" dirty="0">
                <a:solidFill>
                  <a:srgbClr val="FF0000"/>
                </a:solidFill>
              </a:rPr>
              <a:t> </a:t>
            </a:r>
            <a:r>
              <a:rPr lang="en-US" b="0" dirty="0" err="1">
                <a:solidFill>
                  <a:srgbClr val="FF0000"/>
                </a:solidFill>
              </a:rPr>
              <a:t>thực</a:t>
            </a:r>
            <a:r>
              <a:rPr lang="en-US" b="0" dirty="0">
                <a:solidFill>
                  <a:srgbClr val="FF0000"/>
                </a:solidFill>
              </a:rPr>
              <a:t> </a:t>
            </a:r>
            <a:r>
              <a:rPr lang="en-US" b="0" dirty="0" err="1">
                <a:solidFill>
                  <a:srgbClr val="FF0000"/>
                </a:solidFill>
              </a:rPr>
              <a:t>thi</a:t>
            </a:r>
            <a:endParaRPr lang="en-US" b="0" dirty="0">
              <a:solidFill>
                <a:srgbClr val="FF0000"/>
              </a:solidFill>
            </a:endParaRPr>
          </a:p>
          <a:p>
            <a:pPr algn="just">
              <a:buFontTx/>
              <a:buChar char="-"/>
            </a:pPr>
            <a:r>
              <a:rPr lang="en-US" b="0" dirty="0" err="1">
                <a:solidFill>
                  <a:srgbClr val="FF0000"/>
                </a:solidFill>
              </a:rPr>
              <a:t>Giải</a:t>
            </a:r>
            <a:r>
              <a:rPr lang="en-US" b="0" dirty="0">
                <a:solidFill>
                  <a:srgbClr val="FF0000"/>
                </a:solidFill>
              </a:rPr>
              <a:t> </a:t>
            </a:r>
            <a:r>
              <a:rPr lang="en-US" b="0" dirty="0" err="1">
                <a:solidFill>
                  <a:srgbClr val="FF0000"/>
                </a:solidFill>
              </a:rPr>
              <a:t>phóng</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(Deallocation): </a:t>
            </a:r>
            <a:r>
              <a:rPr lang="en-US" b="0" dirty="0" err="1">
                <a:solidFill>
                  <a:srgbClr val="FF0000"/>
                </a:solidFill>
              </a:rPr>
              <a:t>Bắt</a:t>
            </a:r>
            <a:r>
              <a:rPr lang="en-US" b="0" dirty="0">
                <a:solidFill>
                  <a:srgbClr val="FF0000"/>
                </a:solidFill>
              </a:rPr>
              <a:t> </a:t>
            </a:r>
            <a:r>
              <a:rPr lang="en-US" b="0" dirty="0" err="1">
                <a:solidFill>
                  <a:srgbClr val="FF0000"/>
                </a:solidFill>
              </a:rPr>
              <a:t>buộc</a:t>
            </a:r>
            <a:r>
              <a:rPr lang="en-US" b="0" dirty="0">
                <a:solidFill>
                  <a:srgbClr val="FF0000"/>
                </a:solidFill>
              </a:rPr>
              <a:t> </a:t>
            </a:r>
            <a:r>
              <a:rPr lang="en-US" b="0" dirty="0" err="1">
                <a:solidFill>
                  <a:srgbClr val="FF0000"/>
                </a:solidFill>
              </a:rPr>
              <a:t>gọi</a:t>
            </a:r>
            <a:r>
              <a:rPr lang="en-US" b="0" dirty="0">
                <a:solidFill>
                  <a:srgbClr val="FF0000"/>
                </a:solidFill>
              </a:rPr>
              <a:t> delete </a:t>
            </a:r>
            <a:r>
              <a:rPr lang="en-US" b="0" dirty="0" err="1">
                <a:solidFill>
                  <a:srgbClr val="FF0000"/>
                </a:solidFill>
              </a:rPr>
              <a:t>hoặc</a:t>
            </a:r>
            <a:r>
              <a:rPr lang="en-US" b="0" dirty="0">
                <a:solidFill>
                  <a:srgbClr val="FF0000"/>
                </a:solidFill>
              </a:rPr>
              <a:t> delete[] </a:t>
            </a:r>
            <a:r>
              <a:rPr lang="en-US" b="0" dirty="0" err="1">
                <a:solidFill>
                  <a:srgbClr val="FF0000"/>
                </a:solidFill>
              </a:rPr>
              <a:t>sau</a:t>
            </a:r>
            <a:r>
              <a:rPr lang="en-US" b="0" dirty="0">
                <a:solidFill>
                  <a:srgbClr val="FF0000"/>
                </a:solidFill>
              </a:rPr>
              <a:t> </a:t>
            </a:r>
            <a:r>
              <a:rPr lang="en-US" b="0" dirty="0" err="1">
                <a:solidFill>
                  <a:srgbClr val="FF0000"/>
                </a:solidFill>
              </a:rPr>
              <a:t>khi</a:t>
            </a:r>
            <a:r>
              <a:rPr lang="en-US" b="0" dirty="0">
                <a:solidFill>
                  <a:srgbClr val="FF0000"/>
                </a:solidFill>
              </a:rPr>
              <a:t> </a:t>
            </a:r>
            <a:r>
              <a:rPr lang="en-US" b="0" dirty="0" err="1">
                <a:solidFill>
                  <a:srgbClr val="FF0000"/>
                </a:solidFill>
              </a:rPr>
              <a:t>dùng</a:t>
            </a:r>
            <a:r>
              <a:rPr lang="en-US" b="0" dirty="0">
                <a:solidFill>
                  <a:srgbClr val="FF0000"/>
                </a:solidFill>
              </a:rPr>
              <a:t> </a:t>
            </a:r>
            <a:r>
              <a:rPr lang="en-US" b="0" dirty="0" err="1">
                <a:solidFill>
                  <a:srgbClr val="FF0000"/>
                </a:solidFill>
              </a:rPr>
              <a:t>xong</a:t>
            </a:r>
            <a:r>
              <a:rPr lang="en-US" b="0" dirty="0">
                <a:solidFill>
                  <a:srgbClr val="FF0000"/>
                </a:solidFill>
              </a:rPr>
              <a:t> </a:t>
            </a:r>
            <a:r>
              <a:rPr lang="en-US" b="0" dirty="0" err="1">
                <a:solidFill>
                  <a:srgbClr val="FF0000"/>
                </a:solidFill>
              </a:rPr>
              <a:t>để</a:t>
            </a:r>
            <a:r>
              <a:rPr lang="en-US" b="0" dirty="0">
                <a:solidFill>
                  <a:srgbClr val="FF0000"/>
                </a:solidFill>
              </a:rPr>
              <a:t> </a:t>
            </a:r>
            <a:r>
              <a:rPr lang="en-US" b="0" dirty="0" err="1">
                <a:solidFill>
                  <a:srgbClr val="FF0000"/>
                </a:solidFill>
              </a:rPr>
              <a:t>tránh</a:t>
            </a:r>
            <a:r>
              <a:rPr lang="en-US" b="0" dirty="0">
                <a:solidFill>
                  <a:srgbClr val="FF0000"/>
                </a:solidFill>
              </a:rPr>
              <a:t> </a:t>
            </a:r>
            <a:r>
              <a:rPr lang="en-US" b="0" dirty="0" err="1">
                <a:solidFill>
                  <a:srgbClr val="FF0000"/>
                </a:solidFill>
              </a:rPr>
              <a:t>rò</a:t>
            </a:r>
            <a:r>
              <a:rPr lang="en-US" b="0" dirty="0">
                <a:solidFill>
                  <a:srgbClr val="FF0000"/>
                </a:solidFill>
              </a:rPr>
              <a:t> </a:t>
            </a:r>
            <a:r>
              <a:rPr lang="en-US" b="0" dirty="0" err="1">
                <a:solidFill>
                  <a:srgbClr val="FF0000"/>
                </a:solidFill>
              </a:rPr>
              <a:t>rỉ</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(Memory Leak)</a:t>
            </a:r>
          </a:p>
          <a:p>
            <a:pPr algn="just">
              <a:buFontTx/>
              <a:buChar char="-"/>
            </a:pPr>
            <a:r>
              <a:rPr lang="en-US" b="0" dirty="0" err="1">
                <a:solidFill>
                  <a:srgbClr val="FF0000"/>
                </a:solidFill>
              </a:rPr>
              <a:t>Truyền</a:t>
            </a:r>
            <a:r>
              <a:rPr lang="en-US" b="0" dirty="0">
                <a:solidFill>
                  <a:srgbClr val="FF0000"/>
                </a:solidFill>
              </a:rPr>
              <a:t> </a:t>
            </a:r>
            <a:r>
              <a:rPr lang="en-US" b="0" dirty="0" err="1">
                <a:solidFill>
                  <a:srgbClr val="FF0000"/>
                </a:solidFill>
              </a:rPr>
              <a:t>tham</a:t>
            </a:r>
            <a:r>
              <a:rPr lang="en-US" b="0" dirty="0">
                <a:solidFill>
                  <a:srgbClr val="FF0000"/>
                </a:solidFill>
              </a:rPr>
              <a:t> </a:t>
            </a:r>
            <a:r>
              <a:rPr lang="en-US" b="0" dirty="0" err="1">
                <a:solidFill>
                  <a:srgbClr val="FF0000"/>
                </a:solidFill>
              </a:rPr>
              <a:t>chiếu</a:t>
            </a:r>
            <a:r>
              <a:rPr lang="en-US" b="0" dirty="0">
                <a:solidFill>
                  <a:srgbClr val="FF0000"/>
                </a:solidFill>
              </a:rPr>
              <a:t> (Pass by Reference): </a:t>
            </a:r>
            <a:r>
              <a:rPr lang="en-US" b="0" dirty="0" err="1">
                <a:solidFill>
                  <a:srgbClr val="FF0000"/>
                </a:solidFill>
              </a:rPr>
              <a:t>Sử</a:t>
            </a:r>
            <a:r>
              <a:rPr lang="en-US" b="0" dirty="0">
                <a:solidFill>
                  <a:srgbClr val="FF0000"/>
                </a:solidFill>
              </a:rPr>
              <a:t> </a:t>
            </a:r>
            <a:r>
              <a:rPr lang="en-US" b="0" dirty="0" err="1">
                <a:solidFill>
                  <a:srgbClr val="FF0000"/>
                </a:solidFill>
              </a:rPr>
              <a:t>dụng</a:t>
            </a:r>
            <a:r>
              <a:rPr lang="en-US" b="0" dirty="0">
                <a:solidFill>
                  <a:srgbClr val="FF0000"/>
                </a:solidFill>
              </a:rPr>
              <a:t> void </a:t>
            </a:r>
            <a:r>
              <a:rPr lang="en-US" b="0" dirty="0" err="1">
                <a:solidFill>
                  <a:srgbClr val="FF0000"/>
                </a:solidFill>
              </a:rPr>
              <a:t>func</a:t>
            </a:r>
            <a:r>
              <a:rPr lang="en-US" b="0" dirty="0">
                <a:solidFill>
                  <a:srgbClr val="FF0000"/>
                </a:solidFill>
              </a:rPr>
              <a:t>(int &amp;a) </a:t>
            </a:r>
            <a:r>
              <a:rPr lang="en-US" b="0" dirty="0" err="1">
                <a:solidFill>
                  <a:srgbClr val="FF0000"/>
                </a:solidFill>
              </a:rPr>
              <a:t>để</a:t>
            </a:r>
            <a:r>
              <a:rPr lang="en-US" b="0" dirty="0">
                <a:solidFill>
                  <a:srgbClr val="FF0000"/>
                </a:solidFill>
              </a:rPr>
              <a:t> </a:t>
            </a:r>
            <a:r>
              <a:rPr lang="en-US" b="0" dirty="0" err="1">
                <a:solidFill>
                  <a:srgbClr val="FF0000"/>
                </a:solidFill>
              </a:rPr>
              <a:t>trực</a:t>
            </a:r>
            <a:r>
              <a:rPr lang="en-US" b="0" dirty="0">
                <a:solidFill>
                  <a:srgbClr val="FF0000"/>
                </a:solidFill>
              </a:rPr>
              <a:t> </a:t>
            </a:r>
            <a:r>
              <a:rPr lang="en-US" b="0" dirty="0" err="1">
                <a:solidFill>
                  <a:srgbClr val="FF0000"/>
                </a:solidFill>
              </a:rPr>
              <a:t>tiếp</a:t>
            </a:r>
            <a:r>
              <a:rPr lang="en-US" b="0" dirty="0">
                <a:solidFill>
                  <a:srgbClr val="FF0000"/>
                </a:solidFill>
              </a:rPr>
              <a:t> </a:t>
            </a:r>
            <a:r>
              <a:rPr lang="en-US" b="0" dirty="0" err="1">
                <a:solidFill>
                  <a:srgbClr val="FF0000"/>
                </a:solidFill>
              </a:rPr>
              <a:t>thay</a:t>
            </a:r>
            <a:r>
              <a:rPr lang="en-US" b="0" dirty="0">
                <a:solidFill>
                  <a:srgbClr val="FF0000"/>
                </a:solidFill>
              </a:rPr>
              <a:t> </a:t>
            </a:r>
            <a:r>
              <a:rPr lang="en-US" b="0" dirty="0" err="1">
                <a:solidFill>
                  <a:srgbClr val="FF0000"/>
                </a:solidFill>
              </a:rPr>
              <a:t>đổi</a:t>
            </a:r>
            <a:r>
              <a:rPr lang="en-US" b="0" dirty="0">
                <a:solidFill>
                  <a:srgbClr val="FF0000"/>
                </a:solidFill>
              </a:rPr>
              <a:t> </a:t>
            </a:r>
            <a:r>
              <a:rPr lang="en-US" b="0" dirty="0" err="1">
                <a:solidFill>
                  <a:srgbClr val="FF0000"/>
                </a:solidFill>
              </a:rPr>
              <a:t>biến</a:t>
            </a:r>
            <a:r>
              <a:rPr lang="en-US" b="0" dirty="0">
                <a:solidFill>
                  <a:srgbClr val="FF0000"/>
                </a:solidFill>
              </a:rPr>
              <a:t> </a:t>
            </a:r>
            <a:r>
              <a:rPr lang="en-US" b="0" dirty="0" err="1">
                <a:solidFill>
                  <a:srgbClr val="FF0000"/>
                </a:solidFill>
              </a:rPr>
              <a:t>gốc</a:t>
            </a:r>
            <a:r>
              <a:rPr lang="en-US" b="0" dirty="0">
                <a:solidFill>
                  <a:srgbClr val="FF0000"/>
                </a:solidFill>
              </a:rPr>
              <a:t> </a:t>
            </a:r>
            <a:r>
              <a:rPr lang="en-US" b="0" dirty="0" err="1">
                <a:solidFill>
                  <a:srgbClr val="FF0000"/>
                </a:solidFill>
              </a:rPr>
              <a:t>và</a:t>
            </a:r>
            <a:r>
              <a:rPr lang="en-US" b="0" dirty="0">
                <a:solidFill>
                  <a:srgbClr val="FF0000"/>
                </a:solidFill>
              </a:rPr>
              <a:t> </a:t>
            </a:r>
            <a:r>
              <a:rPr lang="en-US" b="0" dirty="0" err="1">
                <a:solidFill>
                  <a:srgbClr val="FF0000"/>
                </a:solidFill>
              </a:rPr>
              <a:t>tránh</a:t>
            </a:r>
            <a:r>
              <a:rPr lang="en-US" b="0" dirty="0">
                <a:solidFill>
                  <a:srgbClr val="FF0000"/>
                </a:solidFill>
              </a:rPr>
              <a:t> </a:t>
            </a:r>
            <a:r>
              <a:rPr lang="en-US" b="0" dirty="0" err="1">
                <a:solidFill>
                  <a:srgbClr val="FF0000"/>
                </a:solidFill>
              </a:rPr>
              <a:t>tốn</a:t>
            </a:r>
            <a:r>
              <a:rPr lang="en-US" b="0" dirty="0">
                <a:solidFill>
                  <a:srgbClr val="FF0000"/>
                </a:solidFill>
              </a:rPr>
              <a:t> chi </a:t>
            </a:r>
            <a:r>
              <a:rPr lang="en-US" b="0" dirty="0" err="1">
                <a:solidFill>
                  <a:srgbClr val="FF0000"/>
                </a:solidFill>
              </a:rPr>
              <a:t>phí</a:t>
            </a:r>
            <a:r>
              <a:rPr lang="en-US" b="0" dirty="0">
                <a:solidFill>
                  <a:srgbClr val="FF0000"/>
                </a:solidFill>
              </a:rPr>
              <a:t> copy </a:t>
            </a:r>
            <a:r>
              <a:rPr lang="en-US" b="0" dirty="0" err="1">
                <a:solidFill>
                  <a:srgbClr val="FF0000"/>
                </a:solidFill>
              </a:rPr>
              <a:t>dữ</a:t>
            </a:r>
            <a:r>
              <a:rPr lang="en-US" b="0" dirty="0">
                <a:solidFill>
                  <a:srgbClr val="FF0000"/>
                </a:solidFill>
              </a:rPr>
              <a:t> </a:t>
            </a:r>
            <a:r>
              <a:rPr lang="en-US" b="0" dirty="0" err="1">
                <a:solidFill>
                  <a:srgbClr val="FF0000"/>
                </a:solidFill>
              </a:rPr>
              <a:t>liệu</a:t>
            </a:r>
            <a:r>
              <a:rPr lang="en-US" b="0" dirty="0">
                <a:solidFill>
                  <a:srgbClr val="FF0000"/>
                </a:solidFill>
              </a:rPr>
              <a:t> </a:t>
            </a:r>
            <a:r>
              <a:rPr lang="en-US" b="0" dirty="0" err="1">
                <a:solidFill>
                  <a:srgbClr val="FF0000"/>
                </a:solidFill>
              </a:rPr>
              <a:t>lớn</a:t>
            </a:r>
            <a:r>
              <a:rPr lang="en-US" b="0" dirty="0">
                <a:solidFill>
                  <a:srgbClr val="FF0000"/>
                </a:solidFill>
              </a:rPr>
              <a:t>.</a:t>
            </a:r>
          </a:p>
        </p:txBody>
      </p:sp>
      <p:sp>
        <p:nvSpPr>
          <p:cNvPr id="4" name="Slide Number Placeholder 3"/>
          <p:cNvSpPr>
            <a:spLocks noGrp="1"/>
          </p:cNvSpPr>
          <p:nvPr>
            <p:ph type="sldNum" sz="quarter" idx="5"/>
          </p:nvPr>
        </p:nvSpPr>
        <p:spPr/>
        <p:txBody>
          <a:bodyPr/>
          <a:lstStyle/>
          <a:p>
            <a:fld id="{AB2FC7A4-3D1B-482D-8C9D-7642A2CE3076}" type="slidenum">
              <a:rPr lang="en-US" smtClean="0"/>
              <a:t>16</a:t>
            </a:fld>
            <a:endParaRPr lang="en-US"/>
          </a:p>
        </p:txBody>
      </p:sp>
    </p:spTree>
    <p:extLst>
      <p:ext uri="{BB962C8B-B14F-4D97-AF65-F5344CB8AC3E}">
        <p14:creationId xmlns:p14="http://schemas.microsoft.com/office/powerpoint/2010/main" val="1518452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8EA83-D08A-EF32-F3BF-BEEDA451C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9976E-7CE3-594A-4E1B-E7A271EA1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6C88B-9009-C602-2DFC-0A2445216B82}"/>
              </a:ext>
            </a:extLst>
          </p:cNvPr>
          <p:cNvSpPr>
            <a:spLocks noGrp="1"/>
          </p:cNvSpPr>
          <p:nvPr>
            <p:ph type="body" idx="1"/>
          </p:nvPr>
        </p:nvSpPr>
        <p:spPr/>
        <p:txBody>
          <a:bodyPr/>
          <a:lstStyle/>
          <a:p>
            <a:pPr marL="0" indent="0" algn="just">
              <a:buNone/>
            </a:pPr>
            <a:r>
              <a:rPr lang="en-US" b="0" dirty="0"/>
              <a:t>Quản </a:t>
            </a:r>
            <a:r>
              <a:rPr lang="en-US" b="0" dirty="0" err="1"/>
              <a:t>lý</a:t>
            </a:r>
            <a:r>
              <a:rPr lang="en-US" b="0" dirty="0"/>
              <a:t> </a:t>
            </a:r>
            <a:r>
              <a:rPr lang="en-US" b="0" dirty="0" err="1"/>
              <a:t>bộ</a:t>
            </a:r>
            <a:r>
              <a:rPr lang="en-US" b="0" dirty="0"/>
              <a:t> </a:t>
            </a:r>
            <a:r>
              <a:rPr lang="en-US" b="0" dirty="0" err="1"/>
              <a:t>nhớ</a:t>
            </a:r>
            <a:r>
              <a:rPr lang="en-US" b="0" dirty="0"/>
              <a:t> &amp; Con </a:t>
            </a:r>
            <a:r>
              <a:rPr lang="en-US" b="0" dirty="0" err="1"/>
              <a:t>trỏ</a:t>
            </a:r>
            <a:r>
              <a:rPr lang="en-US" b="0" dirty="0"/>
              <a:t> </a:t>
            </a:r>
            <a:r>
              <a:rPr lang="en-US" b="0" dirty="0" err="1"/>
              <a:t>trong</a:t>
            </a:r>
            <a:r>
              <a:rPr lang="en-US" b="0" dirty="0"/>
              <a:t> C++</a:t>
            </a:r>
          </a:p>
          <a:p>
            <a:pPr marL="0" indent="0" algn="just">
              <a:buNone/>
            </a:pPr>
            <a:r>
              <a:rPr lang="en-US" b="0" dirty="0"/>
              <a:t>- Con </a:t>
            </a:r>
            <a:r>
              <a:rPr lang="en-US" b="0" dirty="0" err="1"/>
              <a:t>trỏ</a:t>
            </a:r>
            <a:r>
              <a:rPr lang="en-US" b="0" dirty="0"/>
              <a:t> </a:t>
            </a:r>
            <a:r>
              <a:rPr lang="en-US" b="0" dirty="0" err="1"/>
              <a:t>và</a:t>
            </a:r>
            <a:r>
              <a:rPr lang="en-US" b="0" dirty="0"/>
              <a:t> </a:t>
            </a:r>
            <a:r>
              <a:rPr lang="en-US" b="0" dirty="0" err="1"/>
              <a:t>địa</a:t>
            </a:r>
            <a:r>
              <a:rPr lang="en-US" b="0" dirty="0"/>
              <a:t> </a:t>
            </a:r>
            <a:r>
              <a:rPr lang="en-US" b="0" dirty="0" err="1"/>
              <a:t>chỉ</a:t>
            </a:r>
            <a:r>
              <a:rPr lang="en-US" b="0" dirty="0"/>
              <a:t>: Khai </a:t>
            </a:r>
            <a:r>
              <a:rPr lang="en-US" b="0" dirty="0" err="1"/>
              <a:t>báo</a:t>
            </a:r>
            <a:r>
              <a:rPr lang="en-US" b="0" dirty="0"/>
              <a:t> </a:t>
            </a:r>
            <a:r>
              <a:rPr lang="en-US" b="0" dirty="0">
                <a:solidFill>
                  <a:srgbClr val="FF0000"/>
                </a:solidFill>
              </a:rPr>
              <a:t>int*p = &amp;x; </a:t>
            </a:r>
            <a:br>
              <a:rPr lang="en-US" b="0" dirty="0"/>
            </a:br>
            <a:r>
              <a:rPr lang="en-US" b="0" dirty="0"/>
              <a:t>(</a:t>
            </a:r>
            <a:r>
              <a:rPr lang="en-US" b="0" dirty="0" err="1"/>
              <a:t>Địa</a:t>
            </a:r>
            <a:r>
              <a:rPr lang="en-US" b="0" dirty="0"/>
              <a:t> </a:t>
            </a:r>
            <a:r>
              <a:rPr lang="en-US" b="0" dirty="0" err="1"/>
              <a:t>chỉ</a:t>
            </a:r>
            <a:r>
              <a:rPr lang="en-US" b="0" dirty="0"/>
              <a:t> </a:t>
            </a:r>
            <a:r>
              <a:rPr lang="en-US" b="0" dirty="0" err="1"/>
              <a:t>lưu</a:t>
            </a:r>
            <a:r>
              <a:rPr lang="en-US" b="0" dirty="0"/>
              <a:t> </a:t>
            </a:r>
            <a:r>
              <a:rPr lang="en-US" b="0" dirty="0" err="1"/>
              <a:t>trong</a:t>
            </a:r>
            <a:r>
              <a:rPr lang="en-US" b="0" dirty="0"/>
              <a:t> </a:t>
            </a:r>
            <a:r>
              <a:rPr lang="en-US" b="0" dirty="0" err="1"/>
              <a:t>vùng</a:t>
            </a:r>
            <a:r>
              <a:rPr lang="en-US" b="0" dirty="0"/>
              <a:t> </a:t>
            </a:r>
            <a:r>
              <a:rPr lang="en-US" b="0" dirty="0" err="1"/>
              <a:t>nhớ</a:t>
            </a:r>
            <a:r>
              <a:rPr lang="en-US" b="0" dirty="0"/>
              <a:t> RAM, </a:t>
            </a:r>
            <a:r>
              <a:rPr lang="en-US" b="0" dirty="0" err="1"/>
              <a:t>lấy</a:t>
            </a:r>
            <a:r>
              <a:rPr lang="en-US" b="0" dirty="0"/>
              <a:t> </a:t>
            </a:r>
            <a:r>
              <a:rPr lang="en-US" b="0" dirty="0" err="1"/>
              <a:t>giá</a:t>
            </a:r>
            <a:r>
              <a:rPr lang="en-US" b="0" dirty="0"/>
              <a:t> </a:t>
            </a:r>
            <a:r>
              <a:rPr lang="en-US" b="0" dirty="0" err="1"/>
              <a:t>trị</a:t>
            </a:r>
            <a:r>
              <a:rPr lang="en-US" b="0" dirty="0"/>
              <a:t> </a:t>
            </a:r>
            <a:r>
              <a:rPr lang="en-US" b="0" dirty="0" err="1"/>
              <a:t>bằng</a:t>
            </a:r>
            <a:r>
              <a:rPr lang="en-US" b="0" dirty="0"/>
              <a:t> </a:t>
            </a:r>
            <a:r>
              <a:rPr lang="en-US" b="0" dirty="0" err="1"/>
              <a:t>toán</a:t>
            </a:r>
            <a:r>
              <a:rPr lang="en-US" b="0" dirty="0"/>
              <a:t> </a:t>
            </a:r>
            <a:r>
              <a:rPr lang="en-US" b="0" dirty="0" err="1"/>
              <a:t>tử</a:t>
            </a:r>
            <a:r>
              <a:rPr lang="en-US" b="0" dirty="0"/>
              <a:t> </a:t>
            </a:r>
            <a:r>
              <a:rPr lang="en-US" b="0" dirty="0" err="1"/>
              <a:t>giải</a:t>
            </a:r>
            <a:r>
              <a:rPr lang="en-US" b="0" dirty="0"/>
              <a:t> con </a:t>
            </a:r>
            <a:r>
              <a:rPr lang="en-US" b="0" dirty="0" err="1"/>
              <a:t>trỏ</a:t>
            </a:r>
            <a:r>
              <a:rPr lang="en-US" b="0" dirty="0"/>
              <a:t> *p)</a:t>
            </a:r>
          </a:p>
          <a:p>
            <a:pPr algn="just">
              <a:buFontTx/>
              <a:buChar char="-"/>
            </a:pPr>
            <a:r>
              <a:rPr lang="en-US" b="0" dirty="0" err="1"/>
              <a:t>Cấp</a:t>
            </a:r>
            <a:r>
              <a:rPr lang="en-US" b="0" dirty="0"/>
              <a:t> </a:t>
            </a:r>
            <a:r>
              <a:rPr lang="en-US" b="0" dirty="0" err="1"/>
              <a:t>phát</a:t>
            </a:r>
            <a:r>
              <a:rPr lang="en-US" b="0" dirty="0"/>
              <a:t> </a:t>
            </a:r>
            <a:r>
              <a:rPr lang="en-US" b="0" dirty="0" err="1"/>
              <a:t>động</a:t>
            </a:r>
            <a:r>
              <a:rPr lang="en-US" b="0" dirty="0"/>
              <a:t>: </a:t>
            </a:r>
            <a:r>
              <a:rPr lang="en-US" b="0" dirty="0" err="1"/>
              <a:t>Sử</a:t>
            </a:r>
            <a:r>
              <a:rPr lang="en-US" b="0" dirty="0"/>
              <a:t> </a:t>
            </a:r>
            <a:r>
              <a:rPr lang="en-US" b="0" dirty="0" err="1"/>
              <a:t>dụng</a:t>
            </a:r>
            <a:r>
              <a:rPr lang="en-US" b="0" dirty="0"/>
              <a:t> </a:t>
            </a:r>
            <a:r>
              <a:rPr lang="en-US" b="0" dirty="0" err="1"/>
              <a:t>toán</a:t>
            </a:r>
            <a:r>
              <a:rPr lang="en-US" b="0" dirty="0"/>
              <a:t> </a:t>
            </a:r>
            <a:r>
              <a:rPr lang="en-US" b="0" dirty="0" err="1"/>
              <a:t>tử</a:t>
            </a:r>
            <a:r>
              <a:rPr lang="en-US" b="0" dirty="0"/>
              <a:t> </a:t>
            </a:r>
            <a:r>
              <a:rPr lang="en-US" b="0" dirty="0">
                <a:solidFill>
                  <a:srgbClr val="FF0000"/>
                </a:solidFill>
              </a:rPr>
              <a:t>new</a:t>
            </a:r>
            <a:r>
              <a:rPr lang="en-US" b="0" dirty="0"/>
              <a:t> </a:t>
            </a:r>
            <a:r>
              <a:rPr lang="en-US" b="0" dirty="0" err="1"/>
              <a:t>và</a:t>
            </a:r>
            <a:r>
              <a:rPr lang="en-US" b="0" dirty="0"/>
              <a:t> </a:t>
            </a:r>
            <a:r>
              <a:rPr lang="en-US" b="0" dirty="0">
                <a:solidFill>
                  <a:srgbClr val="FF0000"/>
                </a:solidFill>
              </a:rPr>
              <a:t>new[] </a:t>
            </a:r>
            <a:r>
              <a:rPr lang="en-US" b="0" dirty="0" err="1">
                <a:solidFill>
                  <a:srgbClr val="FF0000"/>
                </a:solidFill>
              </a:rPr>
              <a:t>để</a:t>
            </a:r>
            <a:r>
              <a:rPr lang="en-US" b="0" dirty="0">
                <a:solidFill>
                  <a:srgbClr val="FF0000"/>
                </a:solidFill>
              </a:rPr>
              <a:t> </a:t>
            </a:r>
            <a:r>
              <a:rPr lang="en-US" b="0" dirty="0" err="1">
                <a:solidFill>
                  <a:srgbClr val="FF0000"/>
                </a:solidFill>
              </a:rPr>
              <a:t>xin</a:t>
            </a:r>
            <a:r>
              <a:rPr lang="en-US" b="0" dirty="0">
                <a:solidFill>
                  <a:srgbClr val="FF0000"/>
                </a:solidFill>
              </a:rPr>
              <a:t> </a:t>
            </a:r>
            <a:r>
              <a:rPr lang="en-US" b="0" dirty="0" err="1">
                <a:solidFill>
                  <a:srgbClr val="FF0000"/>
                </a:solidFill>
              </a:rPr>
              <a:t>cấp</a:t>
            </a:r>
            <a:r>
              <a:rPr lang="en-US" b="0" dirty="0">
                <a:solidFill>
                  <a:srgbClr val="FF0000"/>
                </a:solidFill>
              </a:rPr>
              <a:t> </a:t>
            </a:r>
            <a:r>
              <a:rPr lang="en-US" b="0" dirty="0" err="1">
                <a:solidFill>
                  <a:srgbClr val="FF0000"/>
                </a:solidFill>
              </a:rPr>
              <a:t>phát</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a:t>
            </a:r>
            <a:r>
              <a:rPr lang="en-US" b="0" dirty="0" err="1">
                <a:solidFill>
                  <a:srgbClr val="FF0000"/>
                </a:solidFill>
              </a:rPr>
              <a:t>trên</a:t>
            </a:r>
            <a:r>
              <a:rPr lang="en-US" b="0" dirty="0">
                <a:solidFill>
                  <a:srgbClr val="FF0000"/>
                </a:solidFill>
              </a:rPr>
              <a:t> </a:t>
            </a:r>
            <a:r>
              <a:rPr lang="en-US" b="0" dirty="0" err="1">
                <a:solidFill>
                  <a:srgbClr val="FF0000"/>
                </a:solidFill>
              </a:rPr>
              <a:t>vùng</a:t>
            </a:r>
            <a:r>
              <a:rPr lang="en-US" b="0" dirty="0">
                <a:solidFill>
                  <a:srgbClr val="FF0000"/>
                </a:solidFill>
              </a:rPr>
              <a:t> Heap </a:t>
            </a:r>
            <a:r>
              <a:rPr lang="en-US" b="0" dirty="0" err="1">
                <a:solidFill>
                  <a:srgbClr val="FF0000"/>
                </a:solidFill>
              </a:rPr>
              <a:t>trong</a:t>
            </a:r>
            <a:r>
              <a:rPr lang="en-US" b="0" dirty="0">
                <a:solidFill>
                  <a:srgbClr val="FF0000"/>
                </a:solidFill>
              </a:rPr>
              <a:t> </a:t>
            </a:r>
            <a:r>
              <a:rPr lang="en-US" b="0" dirty="0" err="1">
                <a:solidFill>
                  <a:srgbClr val="FF0000"/>
                </a:solidFill>
              </a:rPr>
              <a:t>quá</a:t>
            </a:r>
            <a:r>
              <a:rPr lang="en-US" b="0" dirty="0">
                <a:solidFill>
                  <a:srgbClr val="FF0000"/>
                </a:solidFill>
              </a:rPr>
              <a:t> </a:t>
            </a:r>
            <a:r>
              <a:rPr lang="en-US" b="0" dirty="0" err="1">
                <a:solidFill>
                  <a:srgbClr val="FF0000"/>
                </a:solidFill>
              </a:rPr>
              <a:t>trình</a:t>
            </a:r>
            <a:r>
              <a:rPr lang="en-US" b="0" dirty="0">
                <a:solidFill>
                  <a:srgbClr val="FF0000"/>
                </a:solidFill>
              </a:rPr>
              <a:t> </a:t>
            </a:r>
            <a:r>
              <a:rPr lang="en-US" b="0" dirty="0" err="1">
                <a:solidFill>
                  <a:srgbClr val="FF0000"/>
                </a:solidFill>
              </a:rPr>
              <a:t>thực</a:t>
            </a:r>
            <a:r>
              <a:rPr lang="en-US" b="0" dirty="0">
                <a:solidFill>
                  <a:srgbClr val="FF0000"/>
                </a:solidFill>
              </a:rPr>
              <a:t> </a:t>
            </a:r>
            <a:r>
              <a:rPr lang="en-US" b="0" dirty="0" err="1">
                <a:solidFill>
                  <a:srgbClr val="FF0000"/>
                </a:solidFill>
              </a:rPr>
              <a:t>thi</a:t>
            </a:r>
            <a:endParaRPr lang="en-US" b="0" dirty="0">
              <a:solidFill>
                <a:srgbClr val="FF0000"/>
              </a:solidFill>
            </a:endParaRPr>
          </a:p>
          <a:p>
            <a:pPr algn="just">
              <a:buFontTx/>
              <a:buChar char="-"/>
            </a:pPr>
            <a:r>
              <a:rPr lang="en-US" b="0" dirty="0" err="1">
                <a:solidFill>
                  <a:srgbClr val="FF0000"/>
                </a:solidFill>
              </a:rPr>
              <a:t>Giải</a:t>
            </a:r>
            <a:r>
              <a:rPr lang="en-US" b="0" dirty="0">
                <a:solidFill>
                  <a:srgbClr val="FF0000"/>
                </a:solidFill>
              </a:rPr>
              <a:t> </a:t>
            </a:r>
            <a:r>
              <a:rPr lang="en-US" b="0" dirty="0" err="1">
                <a:solidFill>
                  <a:srgbClr val="FF0000"/>
                </a:solidFill>
              </a:rPr>
              <a:t>phóng</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(Deallocation): </a:t>
            </a:r>
            <a:r>
              <a:rPr lang="en-US" b="0" dirty="0" err="1">
                <a:solidFill>
                  <a:srgbClr val="FF0000"/>
                </a:solidFill>
              </a:rPr>
              <a:t>Bắt</a:t>
            </a:r>
            <a:r>
              <a:rPr lang="en-US" b="0" dirty="0">
                <a:solidFill>
                  <a:srgbClr val="FF0000"/>
                </a:solidFill>
              </a:rPr>
              <a:t> </a:t>
            </a:r>
            <a:r>
              <a:rPr lang="en-US" b="0" dirty="0" err="1">
                <a:solidFill>
                  <a:srgbClr val="FF0000"/>
                </a:solidFill>
              </a:rPr>
              <a:t>buộc</a:t>
            </a:r>
            <a:r>
              <a:rPr lang="en-US" b="0" dirty="0">
                <a:solidFill>
                  <a:srgbClr val="FF0000"/>
                </a:solidFill>
              </a:rPr>
              <a:t> </a:t>
            </a:r>
            <a:r>
              <a:rPr lang="en-US" b="0" dirty="0" err="1">
                <a:solidFill>
                  <a:srgbClr val="FF0000"/>
                </a:solidFill>
              </a:rPr>
              <a:t>gọi</a:t>
            </a:r>
            <a:r>
              <a:rPr lang="en-US" b="0" dirty="0">
                <a:solidFill>
                  <a:srgbClr val="FF0000"/>
                </a:solidFill>
              </a:rPr>
              <a:t> delete </a:t>
            </a:r>
            <a:r>
              <a:rPr lang="en-US" b="0" dirty="0" err="1">
                <a:solidFill>
                  <a:srgbClr val="FF0000"/>
                </a:solidFill>
              </a:rPr>
              <a:t>hoặc</a:t>
            </a:r>
            <a:r>
              <a:rPr lang="en-US" b="0" dirty="0">
                <a:solidFill>
                  <a:srgbClr val="FF0000"/>
                </a:solidFill>
              </a:rPr>
              <a:t> delete[] </a:t>
            </a:r>
            <a:r>
              <a:rPr lang="en-US" b="0" dirty="0" err="1">
                <a:solidFill>
                  <a:srgbClr val="FF0000"/>
                </a:solidFill>
              </a:rPr>
              <a:t>sau</a:t>
            </a:r>
            <a:r>
              <a:rPr lang="en-US" b="0" dirty="0">
                <a:solidFill>
                  <a:srgbClr val="FF0000"/>
                </a:solidFill>
              </a:rPr>
              <a:t> </a:t>
            </a:r>
            <a:r>
              <a:rPr lang="en-US" b="0" dirty="0" err="1">
                <a:solidFill>
                  <a:srgbClr val="FF0000"/>
                </a:solidFill>
              </a:rPr>
              <a:t>khi</a:t>
            </a:r>
            <a:r>
              <a:rPr lang="en-US" b="0" dirty="0">
                <a:solidFill>
                  <a:srgbClr val="FF0000"/>
                </a:solidFill>
              </a:rPr>
              <a:t> </a:t>
            </a:r>
            <a:r>
              <a:rPr lang="en-US" b="0" dirty="0" err="1">
                <a:solidFill>
                  <a:srgbClr val="FF0000"/>
                </a:solidFill>
              </a:rPr>
              <a:t>dùng</a:t>
            </a:r>
            <a:r>
              <a:rPr lang="en-US" b="0" dirty="0">
                <a:solidFill>
                  <a:srgbClr val="FF0000"/>
                </a:solidFill>
              </a:rPr>
              <a:t> </a:t>
            </a:r>
            <a:r>
              <a:rPr lang="en-US" b="0" dirty="0" err="1">
                <a:solidFill>
                  <a:srgbClr val="FF0000"/>
                </a:solidFill>
              </a:rPr>
              <a:t>xong</a:t>
            </a:r>
            <a:r>
              <a:rPr lang="en-US" b="0" dirty="0">
                <a:solidFill>
                  <a:srgbClr val="FF0000"/>
                </a:solidFill>
              </a:rPr>
              <a:t> </a:t>
            </a:r>
            <a:r>
              <a:rPr lang="en-US" b="0" dirty="0" err="1">
                <a:solidFill>
                  <a:srgbClr val="FF0000"/>
                </a:solidFill>
              </a:rPr>
              <a:t>để</a:t>
            </a:r>
            <a:r>
              <a:rPr lang="en-US" b="0" dirty="0">
                <a:solidFill>
                  <a:srgbClr val="FF0000"/>
                </a:solidFill>
              </a:rPr>
              <a:t> </a:t>
            </a:r>
            <a:r>
              <a:rPr lang="en-US" b="0" dirty="0" err="1">
                <a:solidFill>
                  <a:srgbClr val="FF0000"/>
                </a:solidFill>
              </a:rPr>
              <a:t>tránh</a:t>
            </a:r>
            <a:r>
              <a:rPr lang="en-US" b="0" dirty="0">
                <a:solidFill>
                  <a:srgbClr val="FF0000"/>
                </a:solidFill>
              </a:rPr>
              <a:t> </a:t>
            </a:r>
            <a:r>
              <a:rPr lang="en-US" b="0" dirty="0" err="1">
                <a:solidFill>
                  <a:srgbClr val="FF0000"/>
                </a:solidFill>
              </a:rPr>
              <a:t>rò</a:t>
            </a:r>
            <a:r>
              <a:rPr lang="en-US" b="0" dirty="0">
                <a:solidFill>
                  <a:srgbClr val="FF0000"/>
                </a:solidFill>
              </a:rPr>
              <a:t> </a:t>
            </a:r>
            <a:r>
              <a:rPr lang="en-US" b="0" dirty="0" err="1">
                <a:solidFill>
                  <a:srgbClr val="FF0000"/>
                </a:solidFill>
              </a:rPr>
              <a:t>rỉ</a:t>
            </a:r>
            <a:r>
              <a:rPr lang="en-US" b="0" dirty="0">
                <a:solidFill>
                  <a:srgbClr val="FF0000"/>
                </a:solidFill>
              </a:rPr>
              <a:t> </a:t>
            </a:r>
            <a:r>
              <a:rPr lang="en-US" b="0" dirty="0" err="1">
                <a:solidFill>
                  <a:srgbClr val="FF0000"/>
                </a:solidFill>
              </a:rPr>
              <a:t>bộ</a:t>
            </a:r>
            <a:r>
              <a:rPr lang="en-US" b="0" dirty="0">
                <a:solidFill>
                  <a:srgbClr val="FF0000"/>
                </a:solidFill>
              </a:rPr>
              <a:t> </a:t>
            </a:r>
            <a:r>
              <a:rPr lang="en-US" b="0" dirty="0" err="1">
                <a:solidFill>
                  <a:srgbClr val="FF0000"/>
                </a:solidFill>
              </a:rPr>
              <a:t>nhớ</a:t>
            </a:r>
            <a:r>
              <a:rPr lang="en-US" b="0" dirty="0">
                <a:solidFill>
                  <a:srgbClr val="FF0000"/>
                </a:solidFill>
              </a:rPr>
              <a:t> (Memory Leak)</a:t>
            </a:r>
          </a:p>
          <a:p>
            <a:pPr algn="just">
              <a:buFontTx/>
              <a:buChar char="-"/>
            </a:pPr>
            <a:r>
              <a:rPr lang="en-US" b="0" dirty="0" err="1">
                <a:solidFill>
                  <a:srgbClr val="FF0000"/>
                </a:solidFill>
              </a:rPr>
              <a:t>Truyền</a:t>
            </a:r>
            <a:r>
              <a:rPr lang="en-US" b="0" dirty="0">
                <a:solidFill>
                  <a:srgbClr val="FF0000"/>
                </a:solidFill>
              </a:rPr>
              <a:t> </a:t>
            </a:r>
            <a:r>
              <a:rPr lang="en-US" b="0" dirty="0" err="1">
                <a:solidFill>
                  <a:srgbClr val="FF0000"/>
                </a:solidFill>
              </a:rPr>
              <a:t>tham</a:t>
            </a:r>
            <a:r>
              <a:rPr lang="en-US" b="0" dirty="0">
                <a:solidFill>
                  <a:srgbClr val="FF0000"/>
                </a:solidFill>
              </a:rPr>
              <a:t> </a:t>
            </a:r>
            <a:r>
              <a:rPr lang="en-US" b="0" dirty="0" err="1">
                <a:solidFill>
                  <a:srgbClr val="FF0000"/>
                </a:solidFill>
              </a:rPr>
              <a:t>chiếu</a:t>
            </a:r>
            <a:r>
              <a:rPr lang="en-US" b="0" dirty="0">
                <a:solidFill>
                  <a:srgbClr val="FF0000"/>
                </a:solidFill>
              </a:rPr>
              <a:t> (Pass by Reference): </a:t>
            </a:r>
            <a:r>
              <a:rPr lang="en-US" b="0" dirty="0" err="1">
                <a:solidFill>
                  <a:srgbClr val="FF0000"/>
                </a:solidFill>
              </a:rPr>
              <a:t>Sử</a:t>
            </a:r>
            <a:r>
              <a:rPr lang="en-US" b="0" dirty="0">
                <a:solidFill>
                  <a:srgbClr val="FF0000"/>
                </a:solidFill>
              </a:rPr>
              <a:t> </a:t>
            </a:r>
            <a:r>
              <a:rPr lang="en-US" b="0" dirty="0" err="1">
                <a:solidFill>
                  <a:srgbClr val="FF0000"/>
                </a:solidFill>
              </a:rPr>
              <a:t>dụng</a:t>
            </a:r>
            <a:r>
              <a:rPr lang="en-US" b="0" dirty="0">
                <a:solidFill>
                  <a:srgbClr val="FF0000"/>
                </a:solidFill>
              </a:rPr>
              <a:t> void </a:t>
            </a:r>
            <a:r>
              <a:rPr lang="en-US" b="0" dirty="0" err="1">
                <a:solidFill>
                  <a:srgbClr val="FF0000"/>
                </a:solidFill>
              </a:rPr>
              <a:t>func</a:t>
            </a:r>
            <a:r>
              <a:rPr lang="en-US" b="0" dirty="0">
                <a:solidFill>
                  <a:srgbClr val="FF0000"/>
                </a:solidFill>
              </a:rPr>
              <a:t>(int &amp;a) </a:t>
            </a:r>
            <a:r>
              <a:rPr lang="en-US" b="0" dirty="0" err="1">
                <a:solidFill>
                  <a:srgbClr val="FF0000"/>
                </a:solidFill>
              </a:rPr>
              <a:t>để</a:t>
            </a:r>
            <a:r>
              <a:rPr lang="en-US" b="0" dirty="0">
                <a:solidFill>
                  <a:srgbClr val="FF0000"/>
                </a:solidFill>
              </a:rPr>
              <a:t> </a:t>
            </a:r>
            <a:r>
              <a:rPr lang="en-US" b="0" dirty="0" err="1">
                <a:solidFill>
                  <a:srgbClr val="FF0000"/>
                </a:solidFill>
              </a:rPr>
              <a:t>trực</a:t>
            </a:r>
            <a:r>
              <a:rPr lang="en-US" b="0" dirty="0">
                <a:solidFill>
                  <a:srgbClr val="FF0000"/>
                </a:solidFill>
              </a:rPr>
              <a:t> </a:t>
            </a:r>
            <a:r>
              <a:rPr lang="en-US" b="0" dirty="0" err="1">
                <a:solidFill>
                  <a:srgbClr val="FF0000"/>
                </a:solidFill>
              </a:rPr>
              <a:t>tiếp</a:t>
            </a:r>
            <a:r>
              <a:rPr lang="en-US" b="0" dirty="0">
                <a:solidFill>
                  <a:srgbClr val="FF0000"/>
                </a:solidFill>
              </a:rPr>
              <a:t> </a:t>
            </a:r>
            <a:r>
              <a:rPr lang="en-US" b="0" dirty="0" err="1">
                <a:solidFill>
                  <a:srgbClr val="FF0000"/>
                </a:solidFill>
              </a:rPr>
              <a:t>thay</a:t>
            </a:r>
            <a:r>
              <a:rPr lang="en-US" b="0" dirty="0">
                <a:solidFill>
                  <a:srgbClr val="FF0000"/>
                </a:solidFill>
              </a:rPr>
              <a:t> </a:t>
            </a:r>
            <a:r>
              <a:rPr lang="en-US" b="0" dirty="0" err="1">
                <a:solidFill>
                  <a:srgbClr val="FF0000"/>
                </a:solidFill>
              </a:rPr>
              <a:t>đổi</a:t>
            </a:r>
            <a:r>
              <a:rPr lang="en-US" b="0" dirty="0">
                <a:solidFill>
                  <a:srgbClr val="FF0000"/>
                </a:solidFill>
              </a:rPr>
              <a:t> </a:t>
            </a:r>
            <a:r>
              <a:rPr lang="en-US" b="0" dirty="0" err="1">
                <a:solidFill>
                  <a:srgbClr val="FF0000"/>
                </a:solidFill>
              </a:rPr>
              <a:t>biến</a:t>
            </a:r>
            <a:r>
              <a:rPr lang="en-US" b="0" dirty="0">
                <a:solidFill>
                  <a:srgbClr val="FF0000"/>
                </a:solidFill>
              </a:rPr>
              <a:t> </a:t>
            </a:r>
            <a:r>
              <a:rPr lang="en-US" b="0" dirty="0" err="1">
                <a:solidFill>
                  <a:srgbClr val="FF0000"/>
                </a:solidFill>
              </a:rPr>
              <a:t>gốc</a:t>
            </a:r>
            <a:r>
              <a:rPr lang="en-US" b="0" dirty="0">
                <a:solidFill>
                  <a:srgbClr val="FF0000"/>
                </a:solidFill>
              </a:rPr>
              <a:t> </a:t>
            </a:r>
            <a:r>
              <a:rPr lang="en-US" b="0" dirty="0" err="1">
                <a:solidFill>
                  <a:srgbClr val="FF0000"/>
                </a:solidFill>
              </a:rPr>
              <a:t>và</a:t>
            </a:r>
            <a:r>
              <a:rPr lang="en-US" b="0" dirty="0">
                <a:solidFill>
                  <a:srgbClr val="FF0000"/>
                </a:solidFill>
              </a:rPr>
              <a:t> </a:t>
            </a:r>
            <a:r>
              <a:rPr lang="en-US" b="0" dirty="0" err="1">
                <a:solidFill>
                  <a:srgbClr val="FF0000"/>
                </a:solidFill>
              </a:rPr>
              <a:t>tránh</a:t>
            </a:r>
            <a:r>
              <a:rPr lang="en-US" b="0" dirty="0">
                <a:solidFill>
                  <a:srgbClr val="FF0000"/>
                </a:solidFill>
              </a:rPr>
              <a:t> </a:t>
            </a:r>
            <a:r>
              <a:rPr lang="en-US" b="0" dirty="0" err="1">
                <a:solidFill>
                  <a:srgbClr val="FF0000"/>
                </a:solidFill>
              </a:rPr>
              <a:t>tốn</a:t>
            </a:r>
            <a:r>
              <a:rPr lang="en-US" b="0" dirty="0">
                <a:solidFill>
                  <a:srgbClr val="FF0000"/>
                </a:solidFill>
              </a:rPr>
              <a:t> chi </a:t>
            </a:r>
            <a:r>
              <a:rPr lang="en-US" b="0" dirty="0" err="1">
                <a:solidFill>
                  <a:srgbClr val="FF0000"/>
                </a:solidFill>
              </a:rPr>
              <a:t>phí</a:t>
            </a:r>
            <a:r>
              <a:rPr lang="en-US" b="0" dirty="0">
                <a:solidFill>
                  <a:srgbClr val="FF0000"/>
                </a:solidFill>
              </a:rPr>
              <a:t> copy </a:t>
            </a:r>
            <a:r>
              <a:rPr lang="en-US" b="0" dirty="0" err="1">
                <a:solidFill>
                  <a:srgbClr val="FF0000"/>
                </a:solidFill>
              </a:rPr>
              <a:t>dữ</a:t>
            </a:r>
            <a:r>
              <a:rPr lang="en-US" b="0" dirty="0">
                <a:solidFill>
                  <a:srgbClr val="FF0000"/>
                </a:solidFill>
              </a:rPr>
              <a:t> </a:t>
            </a:r>
            <a:r>
              <a:rPr lang="en-US" b="0" dirty="0" err="1">
                <a:solidFill>
                  <a:srgbClr val="FF0000"/>
                </a:solidFill>
              </a:rPr>
              <a:t>liệu</a:t>
            </a:r>
            <a:r>
              <a:rPr lang="en-US" b="0" dirty="0">
                <a:solidFill>
                  <a:srgbClr val="FF0000"/>
                </a:solidFill>
              </a:rPr>
              <a:t> </a:t>
            </a:r>
            <a:r>
              <a:rPr lang="en-US" b="0" dirty="0" err="1">
                <a:solidFill>
                  <a:srgbClr val="FF0000"/>
                </a:solidFill>
              </a:rPr>
              <a:t>lớn</a:t>
            </a:r>
            <a:r>
              <a:rPr lang="en-US" b="0" dirty="0">
                <a:solidFill>
                  <a:srgbClr val="FF0000"/>
                </a:solidFill>
              </a:rPr>
              <a:t>.</a:t>
            </a:r>
          </a:p>
        </p:txBody>
      </p:sp>
      <p:sp>
        <p:nvSpPr>
          <p:cNvPr id="4" name="Slide Number Placeholder 3">
            <a:extLst>
              <a:ext uri="{FF2B5EF4-FFF2-40B4-BE49-F238E27FC236}">
                <a16:creationId xmlns:a16="http://schemas.microsoft.com/office/drawing/2014/main" id="{3BCD5A7D-7E8E-CB7B-E4DA-951B7D813308}"/>
              </a:ext>
            </a:extLst>
          </p:cNvPr>
          <p:cNvSpPr>
            <a:spLocks noGrp="1"/>
          </p:cNvSpPr>
          <p:nvPr>
            <p:ph type="sldNum" sz="quarter" idx="5"/>
          </p:nvPr>
        </p:nvSpPr>
        <p:spPr/>
        <p:txBody>
          <a:bodyPr/>
          <a:lstStyle/>
          <a:p>
            <a:fld id="{AB2FC7A4-3D1B-482D-8C9D-7642A2CE3076}" type="slidenum">
              <a:rPr lang="en-US" smtClean="0"/>
              <a:t>17</a:t>
            </a:fld>
            <a:endParaRPr lang="en-US"/>
          </a:p>
        </p:txBody>
      </p:sp>
    </p:spTree>
    <p:extLst>
      <p:ext uri="{BB962C8B-B14F-4D97-AF65-F5344CB8AC3E}">
        <p14:creationId xmlns:p14="http://schemas.microsoft.com/office/powerpoint/2010/main" val="30267130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9/6/2026</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9/6/2026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9/6/2026</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9/6/2026</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9/6/2026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9/6/2026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9/6/2026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9/6/2026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9/6/2026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9/6/2026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9/6/2026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351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3841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9.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3" y="2070835"/>
            <a:ext cx="8545095"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err="1"/>
              <a:t>Bài</a:t>
            </a:r>
            <a:r>
              <a:rPr lang="en-US" sz="4800" dirty="0"/>
              <a:t> </a:t>
            </a:r>
            <a:r>
              <a:rPr lang="en-US" sz="4800" dirty="0" err="1"/>
              <a:t>thực</a:t>
            </a:r>
            <a:r>
              <a:rPr lang="en-US" sz="4800" dirty="0"/>
              <a:t> </a:t>
            </a:r>
            <a:r>
              <a:rPr lang="en-US" sz="4800" dirty="0" err="1"/>
              <a:t>hành</a:t>
            </a:r>
            <a:r>
              <a:rPr lang="en-US" sz="4800" dirty="0"/>
              <a:t> 01: </a:t>
            </a:r>
            <a:r>
              <a:rPr lang="en-US" sz="4800" dirty="0" err="1"/>
              <a:t>Tổng</a:t>
            </a:r>
            <a:r>
              <a:rPr lang="en-US" sz="4800" dirty="0"/>
              <a:t> </a:t>
            </a:r>
            <a:r>
              <a:rPr lang="en-US" sz="4800" dirty="0" err="1"/>
              <a:t>quan</a:t>
            </a:r>
            <a:r>
              <a:rPr lang="en-US" sz="4800" dirty="0"/>
              <a:t> </a:t>
            </a:r>
            <a:r>
              <a:rPr lang="en-US" sz="4800" dirty="0" err="1"/>
              <a:t>và</a:t>
            </a:r>
            <a:r>
              <a:rPr lang="en-US" sz="4800" dirty="0"/>
              <a:t> </a:t>
            </a:r>
            <a:r>
              <a:rPr lang="en-US" sz="4800" dirty="0" err="1"/>
              <a:t>làm</a:t>
            </a:r>
            <a:r>
              <a:rPr lang="en-US" sz="4800" dirty="0"/>
              <a:t> </a:t>
            </a:r>
            <a:r>
              <a:rPr lang="en-US" sz="4800" dirty="0" err="1"/>
              <a:t>quen</a:t>
            </a:r>
            <a:r>
              <a:rPr lang="en-US" sz="4800" dirty="0"/>
              <a:t> C++</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755971"/>
            <a:ext cx="10210609" cy="46166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err="1"/>
              <a:t>Cấu</a:t>
            </a:r>
            <a:r>
              <a:rPr lang="en-US" sz="2800" dirty="0"/>
              <a:t> </a:t>
            </a:r>
            <a:r>
              <a:rPr lang="en-US" sz="2800" dirty="0" err="1"/>
              <a:t>trúc</a:t>
            </a:r>
            <a:r>
              <a:rPr lang="en-US" sz="2800" dirty="0"/>
              <a:t> </a:t>
            </a:r>
            <a:r>
              <a:rPr lang="en-US" sz="2800" dirty="0" err="1"/>
              <a:t>dữ</a:t>
            </a:r>
            <a:r>
              <a:rPr lang="en-US" sz="2800" dirty="0"/>
              <a:t> </a:t>
            </a:r>
            <a:r>
              <a:rPr lang="en-US" sz="2800" dirty="0" err="1"/>
              <a:t>liệu</a:t>
            </a:r>
            <a:r>
              <a:rPr lang="en-US" sz="2800" dirty="0"/>
              <a:t> </a:t>
            </a:r>
            <a:r>
              <a:rPr lang="en-US" sz="2800" dirty="0" err="1"/>
              <a:t>và</a:t>
            </a:r>
            <a:r>
              <a:rPr lang="en-US" sz="2800" dirty="0"/>
              <a:t> </a:t>
            </a:r>
            <a:r>
              <a:rPr lang="en-US" sz="2800" dirty="0" err="1"/>
              <a:t>Giải</a:t>
            </a:r>
            <a:r>
              <a:rPr lang="en-US" sz="2800" dirty="0"/>
              <a:t> </a:t>
            </a:r>
            <a:r>
              <a:rPr lang="en-US" sz="2800" dirty="0" err="1"/>
              <a:t>thuật</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2</a:t>
            </a:fld>
            <a:endParaRPr lang="en-US"/>
          </a:p>
        </p:txBody>
      </p:sp>
      <p:sp>
        <p:nvSpPr>
          <p:cNvPr id="5" name="TextBox 4">
            <a:extLst>
              <a:ext uri="{FF2B5EF4-FFF2-40B4-BE49-F238E27FC236}">
                <a16:creationId xmlns:a16="http://schemas.microsoft.com/office/drawing/2014/main" id="{8A5CA555-5612-34C0-4881-8CFC48DB54E2}"/>
              </a:ext>
            </a:extLst>
          </p:cNvPr>
          <p:cNvSpPr txBox="1"/>
          <p:nvPr/>
        </p:nvSpPr>
        <p:spPr>
          <a:xfrm>
            <a:off x="386634" y="4420661"/>
            <a:ext cx="4320413" cy="461665"/>
          </a:xfrm>
          <a:prstGeom prst="rect">
            <a:avLst/>
          </a:prstGeom>
          <a:noFill/>
        </p:spPr>
        <p:txBody>
          <a:bodyPr wrap="none" rtlCol="0">
            <a:spAutoFit/>
          </a:bodyPr>
          <a:lstStyle/>
          <a:p>
            <a:r>
              <a:rPr lang="en-US" sz="2400" dirty="0" err="1">
                <a:latin typeface="Lato" panose="020F0502020204030203" pitchFamily="34" charset="0"/>
                <a:ea typeface="Lato" panose="020F0502020204030203" pitchFamily="34" charset="0"/>
                <a:cs typeface="Lato" panose="020F0502020204030203" pitchFamily="34" charset="0"/>
              </a:rPr>
              <a:t>Trợ</a:t>
            </a:r>
            <a:r>
              <a:rPr lang="en-US" sz="2400" dirty="0">
                <a:latin typeface="Lato" panose="020F0502020204030203" pitchFamily="34" charset="0"/>
                <a:ea typeface="Lato" panose="020F0502020204030203" pitchFamily="34" charset="0"/>
                <a:cs typeface="Lato" panose="020F0502020204030203" pitchFamily="34" charset="0"/>
              </a:rPr>
              <a:t> </a:t>
            </a:r>
            <a:r>
              <a:rPr lang="en-US" sz="2400" dirty="0" err="1">
                <a:latin typeface="Lato" panose="020F0502020204030203" pitchFamily="34" charset="0"/>
                <a:ea typeface="Lato" panose="020F0502020204030203" pitchFamily="34" charset="0"/>
                <a:cs typeface="Lato" panose="020F0502020204030203" pitchFamily="34" charset="0"/>
              </a:rPr>
              <a:t>giảng</a:t>
            </a:r>
            <a:r>
              <a:rPr lang="en-US" sz="2400" dirty="0">
                <a:latin typeface="Lato" panose="020F0502020204030203" pitchFamily="34" charset="0"/>
                <a:ea typeface="Lato" panose="020F0502020204030203" pitchFamily="34" charset="0"/>
                <a:cs typeface="Lato" panose="020F0502020204030203" pitchFamily="34" charset="0"/>
              </a:rPr>
              <a:t>: CN. Bùi </a:t>
            </a:r>
            <a:r>
              <a:rPr lang="en-US" sz="2400" dirty="0" err="1">
                <a:latin typeface="Lato" panose="020F0502020204030203" pitchFamily="34" charset="0"/>
                <a:ea typeface="Lato" panose="020F0502020204030203" pitchFamily="34" charset="0"/>
                <a:cs typeface="Lato" panose="020F0502020204030203" pitchFamily="34" charset="0"/>
              </a:rPr>
              <a:t>Hạnh</a:t>
            </a:r>
            <a:r>
              <a:rPr lang="en-US" sz="2400" dirty="0">
                <a:latin typeface="Lato" panose="020F0502020204030203" pitchFamily="34" charset="0"/>
                <a:ea typeface="Lato" panose="020F0502020204030203" pitchFamily="34" charset="0"/>
                <a:cs typeface="Lato" panose="020F0502020204030203" pitchFamily="34" charset="0"/>
              </a:rPr>
              <a:t> Trang</a:t>
            </a: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pPr marL="514350" indent="-514350">
              <a:buAutoNum type="arabicPeriod"/>
            </a:pP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endParaRPr lang="en-US" dirty="0"/>
          </a:p>
          <a:p>
            <a:pPr marL="514350" indent="-514350">
              <a:buAutoNum type="arabicPeriod"/>
            </a:pPr>
            <a:r>
              <a:rPr lang="en-US" dirty="0" err="1"/>
              <a:t>Hướng</a:t>
            </a:r>
            <a:r>
              <a:rPr lang="en-US" dirty="0"/>
              <a:t> </a:t>
            </a:r>
            <a:r>
              <a:rPr lang="en-US" dirty="0" err="1"/>
              <a:t>dẫn</a:t>
            </a:r>
            <a:r>
              <a:rPr lang="en-US" dirty="0"/>
              <a:t> </a:t>
            </a:r>
            <a:r>
              <a:rPr lang="en-US" dirty="0" err="1"/>
              <a:t>cái</a:t>
            </a:r>
            <a:r>
              <a:rPr lang="en-US" dirty="0"/>
              <a:t> </a:t>
            </a:r>
            <a:r>
              <a:rPr lang="en-US" dirty="0" err="1"/>
              <a:t>đặt</a:t>
            </a:r>
            <a:r>
              <a:rPr lang="en-US" dirty="0"/>
              <a:t> </a:t>
            </a:r>
            <a:r>
              <a:rPr lang="en-US" dirty="0" err="1"/>
              <a:t>VSCode</a:t>
            </a:r>
            <a:endParaRPr lang="en-US" dirty="0"/>
          </a:p>
          <a:p>
            <a:pPr marL="514350" indent="-514350">
              <a:buAutoNum type="arabicPeriod"/>
            </a:pPr>
            <a:r>
              <a:rPr lang="en-US" dirty="0" err="1"/>
              <a:t>Tạo</a:t>
            </a:r>
            <a:r>
              <a:rPr lang="en-US" dirty="0"/>
              <a:t> project </a:t>
            </a:r>
            <a:r>
              <a:rPr lang="en-US" dirty="0" err="1"/>
              <a:t>và</a:t>
            </a:r>
            <a:r>
              <a:rPr lang="en-US" dirty="0"/>
              <a:t> </a:t>
            </a:r>
            <a:r>
              <a:rPr lang="en-US" dirty="0" err="1"/>
              <a:t>viết</a:t>
            </a:r>
            <a:r>
              <a:rPr lang="en-US" dirty="0"/>
              <a:t> code</a:t>
            </a:r>
          </a:p>
          <a:p>
            <a:pPr marL="514350" indent="-514350">
              <a:buAutoNum type="arabicPeriod"/>
            </a:pPr>
            <a:r>
              <a:rPr lang="en-US" dirty="0" err="1"/>
              <a:t>Thực</a:t>
            </a:r>
            <a:r>
              <a:rPr lang="en-US" dirty="0"/>
              <a:t> </a:t>
            </a:r>
            <a:r>
              <a:rPr lang="en-US" dirty="0" err="1"/>
              <a:t>hành</a:t>
            </a:r>
            <a:endParaRPr lang="en-US" dirty="0"/>
          </a:p>
          <a:p>
            <a:pPr marL="514350" indent="-514350">
              <a:buAutoNum type="arabicPeriod"/>
            </a:pPr>
            <a:r>
              <a:rPr lang="en-US" dirty="0"/>
              <a:t>Debug </a:t>
            </a:r>
            <a:r>
              <a:rPr lang="en-US" dirty="0" err="1"/>
              <a:t>lỗi</a:t>
            </a:r>
            <a:endParaRPr lang="en-US" dirty="0"/>
          </a:p>
          <a:p>
            <a:pPr marL="514350" indent="-514350">
              <a:buAutoNum type="arabicPeriod"/>
            </a:pPr>
            <a:r>
              <a:rPr lang="en-US" dirty="0" err="1"/>
              <a:t>Tổng</a:t>
            </a:r>
            <a:r>
              <a:rPr lang="en-US" dirty="0"/>
              <a:t> </a:t>
            </a:r>
            <a:r>
              <a:rPr lang="en-US" dirty="0" err="1"/>
              <a:t>kết</a:t>
            </a:r>
            <a:endParaRPr lang="en-US" dirty="0"/>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dirty="0"/>
              <a:t>Danh </a:t>
            </a:r>
            <a:r>
              <a:rPr lang="en-US" dirty="0" err="1"/>
              <a:t>mục</a:t>
            </a:r>
            <a:endParaRPr lang="en-US" dirty="0"/>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485500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F13DD609-AD90-8951-D85E-1B843A1C90B0}"/>
              </a:ext>
            </a:extLst>
          </p:cNvPr>
          <p:cNvSpPr>
            <a:spLocks noGrp="1"/>
          </p:cNvSpPr>
          <p:nvPr>
            <p:ph type="title"/>
          </p:nvPr>
        </p:nvSpPr>
        <p:spPr>
          <a:xfrm>
            <a:off x="337539" y="109611"/>
            <a:ext cx="11514528" cy="436098"/>
          </a:xfrm>
        </p:spPr>
        <p:txBody>
          <a:bodyPr/>
          <a:lstStyle/>
          <a:p>
            <a:r>
              <a:rPr lang="en-US" dirty="0"/>
              <a:t>1. </a:t>
            </a: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br>
              <a:rPr lang="en-US" dirty="0"/>
            </a:br>
            <a:endParaRPr lang="en-US" dirty="0"/>
          </a:p>
        </p:txBody>
      </p:sp>
      <p:sp>
        <p:nvSpPr>
          <p:cNvPr id="31" name="TextBox 30">
            <a:extLst>
              <a:ext uri="{FF2B5EF4-FFF2-40B4-BE49-F238E27FC236}">
                <a16:creationId xmlns:a16="http://schemas.microsoft.com/office/drawing/2014/main" id="{66900260-18C3-86AF-DAD3-0F8F449A57C5}"/>
              </a:ext>
            </a:extLst>
          </p:cNvPr>
          <p:cNvSpPr txBox="1"/>
          <p:nvPr/>
        </p:nvSpPr>
        <p:spPr>
          <a:xfrm>
            <a:off x="160202" y="930701"/>
            <a:ext cx="8231164" cy="800219"/>
          </a:xfrm>
          <a:prstGeom prst="rect">
            <a:avLst/>
          </a:prstGeom>
          <a:noFill/>
        </p:spPr>
        <p:txBody>
          <a:bodyPr wrap="none" rtlCol="0">
            <a:spAutoFit/>
          </a:bodyPr>
          <a:lstStyle/>
          <a:p>
            <a:r>
              <a:rPr lang="en-US" sz="2800" dirty="0" err="1"/>
              <a:t>Muốn</a:t>
            </a:r>
            <a:r>
              <a:rPr lang="en-US" sz="2800" dirty="0"/>
              <a:t> </a:t>
            </a:r>
            <a:r>
              <a:rPr lang="en-US" sz="2800" dirty="0" err="1"/>
              <a:t>dùng</a:t>
            </a:r>
            <a:r>
              <a:rPr lang="en-US" sz="2800" dirty="0"/>
              <a:t> </a:t>
            </a:r>
            <a:r>
              <a:rPr lang="en-US" sz="2800" dirty="0" err="1"/>
              <a:t>máy</a:t>
            </a:r>
            <a:r>
              <a:rPr lang="en-US" sz="2800" dirty="0"/>
              <a:t> </a:t>
            </a:r>
            <a:r>
              <a:rPr lang="en-US" sz="2800" dirty="0" err="1"/>
              <a:t>tính</a:t>
            </a:r>
            <a:r>
              <a:rPr lang="en-US" sz="2800" dirty="0"/>
              <a:t> </a:t>
            </a:r>
            <a:r>
              <a:rPr lang="en-US" sz="2800" dirty="0" err="1"/>
              <a:t>giải</a:t>
            </a:r>
            <a:r>
              <a:rPr lang="en-US" sz="2800" dirty="0"/>
              <a:t> </a:t>
            </a:r>
            <a:r>
              <a:rPr lang="en-US" sz="2800" dirty="0" err="1"/>
              <a:t>bài</a:t>
            </a:r>
            <a:r>
              <a:rPr lang="en-US" sz="2800" dirty="0"/>
              <a:t> </a:t>
            </a:r>
            <a:r>
              <a:rPr lang="en-US" sz="2800" dirty="0" err="1"/>
              <a:t>toán</a:t>
            </a:r>
            <a:r>
              <a:rPr lang="en-US" sz="2800" dirty="0"/>
              <a:t> </a:t>
            </a:r>
            <a:r>
              <a:rPr lang="en-US" sz="2800" dirty="0" err="1"/>
              <a:t>thì</a:t>
            </a:r>
            <a:r>
              <a:rPr lang="en-US" sz="2800" dirty="0"/>
              <a:t> </a:t>
            </a:r>
            <a:r>
              <a:rPr lang="en-US" sz="2800" dirty="0" err="1"/>
              <a:t>làm</a:t>
            </a:r>
            <a:r>
              <a:rPr lang="en-US" sz="2800" dirty="0"/>
              <a:t> </a:t>
            </a:r>
            <a:r>
              <a:rPr lang="en-US" sz="2800" dirty="0" err="1"/>
              <a:t>như</a:t>
            </a:r>
            <a:r>
              <a:rPr lang="en-US" sz="2800" dirty="0"/>
              <a:t> </a:t>
            </a:r>
            <a:r>
              <a:rPr lang="en-US" sz="2800" dirty="0" err="1"/>
              <a:t>thế</a:t>
            </a:r>
            <a:r>
              <a:rPr lang="en-US" sz="2800" dirty="0"/>
              <a:t> </a:t>
            </a:r>
            <a:r>
              <a:rPr lang="en-US" sz="2800" dirty="0" err="1"/>
              <a:t>nào</a:t>
            </a:r>
            <a:r>
              <a:rPr lang="en-US" sz="2800" dirty="0"/>
              <a:t>?</a:t>
            </a:r>
          </a:p>
          <a:p>
            <a:endParaRPr lang="en-US" dirty="0"/>
          </a:p>
        </p:txBody>
      </p:sp>
      <p:pic>
        <p:nvPicPr>
          <p:cNvPr id="34" name="Picture 33">
            <a:extLst>
              <a:ext uri="{FF2B5EF4-FFF2-40B4-BE49-F238E27FC236}">
                <a16:creationId xmlns:a16="http://schemas.microsoft.com/office/drawing/2014/main" id="{BFACB1C9-F86C-99F5-D208-FD59223376EA}"/>
              </a:ext>
            </a:extLst>
          </p:cNvPr>
          <p:cNvPicPr>
            <a:picLocks noChangeAspect="1"/>
          </p:cNvPicPr>
          <p:nvPr/>
        </p:nvPicPr>
        <p:blipFill>
          <a:blip r:embed="rId3"/>
          <a:stretch>
            <a:fillRect/>
          </a:stretch>
        </p:blipFill>
        <p:spPr>
          <a:xfrm>
            <a:off x="337539" y="1573273"/>
            <a:ext cx="11302374" cy="2689367"/>
          </a:xfrm>
          <a:prstGeom prst="rect">
            <a:avLst/>
          </a:prstGeom>
        </p:spPr>
      </p:pic>
      <p:sp>
        <p:nvSpPr>
          <p:cNvPr id="36" name="TextBox 35">
            <a:extLst>
              <a:ext uri="{FF2B5EF4-FFF2-40B4-BE49-F238E27FC236}">
                <a16:creationId xmlns:a16="http://schemas.microsoft.com/office/drawing/2014/main" id="{FB47B3A1-80DF-EFA8-D1C0-016BADE74707}"/>
              </a:ext>
            </a:extLst>
          </p:cNvPr>
          <p:cNvSpPr txBox="1"/>
          <p:nvPr/>
        </p:nvSpPr>
        <p:spPr>
          <a:xfrm>
            <a:off x="337539" y="4058826"/>
            <a:ext cx="10210718" cy="1692771"/>
          </a:xfrm>
          <a:prstGeom prst="rect">
            <a:avLst/>
          </a:prstGeom>
          <a:noFill/>
        </p:spPr>
        <p:txBody>
          <a:bodyPr wrap="square">
            <a:spAutoFit/>
          </a:bodyPr>
          <a:lstStyle/>
          <a:p>
            <a:r>
              <a:rPr lang="en-US" sz="2600" dirty="0"/>
              <a:t> </a:t>
            </a:r>
            <a:r>
              <a:rPr lang="en-US" sz="2600" dirty="0" err="1"/>
              <a:t>Máy</a:t>
            </a:r>
            <a:r>
              <a:rPr lang="en-US" sz="2600" dirty="0"/>
              <a:t> </a:t>
            </a:r>
            <a:r>
              <a:rPr lang="en-US" sz="2600" dirty="0" err="1"/>
              <a:t>tính</a:t>
            </a:r>
            <a:r>
              <a:rPr lang="en-US" sz="2600" dirty="0"/>
              <a:t> </a:t>
            </a:r>
            <a:r>
              <a:rPr lang="en-US" sz="2600" dirty="0" err="1"/>
              <a:t>không</a:t>
            </a:r>
            <a:r>
              <a:rPr lang="en-US" sz="2600" dirty="0"/>
              <a:t> </a:t>
            </a:r>
            <a:r>
              <a:rPr lang="en-US" sz="2600" dirty="0" err="1"/>
              <a:t>thể</a:t>
            </a:r>
            <a:r>
              <a:rPr lang="en-US" sz="2600" dirty="0"/>
              <a:t> </a:t>
            </a:r>
            <a:r>
              <a:rPr lang="en-US" sz="2600" dirty="0" err="1"/>
              <a:t>tự</a:t>
            </a:r>
            <a:r>
              <a:rPr lang="en-US" sz="2600" dirty="0"/>
              <a:t> </a:t>
            </a:r>
            <a:r>
              <a:rPr lang="en-US" sz="2600" dirty="0" err="1"/>
              <a:t>giải</a:t>
            </a:r>
            <a:r>
              <a:rPr lang="en-US" sz="2600" dirty="0"/>
              <a:t> </a:t>
            </a:r>
            <a:r>
              <a:rPr lang="en-US" sz="2600" dirty="0" err="1"/>
              <a:t>bài</a:t>
            </a:r>
            <a:r>
              <a:rPr lang="en-US" sz="2600" dirty="0"/>
              <a:t> </a:t>
            </a:r>
            <a:r>
              <a:rPr lang="en-US" sz="2600" dirty="0" err="1"/>
              <a:t>toán</a:t>
            </a:r>
            <a:r>
              <a:rPr lang="en-US" sz="2600" dirty="0"/>
              <a:t>.</a:t>
            </a:r>
            <a:br>
              <a:rPr lang="en-US" sz="2600" dirty="0"/>
            </a:br>
            <a:r>
              <a:rPr lang="en-US" sz="2600" dirty="0"/>
              <a:t>-&gt; Con </a:t>
            </a:r>
            <a:r>
              <a:rPr lang="en-US" sz="2600" dirty="0" err="1"/>
              <a:t>người</a:t>
            </a:r>
            <a:r>
              <a:rPr lang="en-US" sz="2600" dirty="0"/>
              <a:t> </a:t>
            </a:r>
            <a:r>
              <a:rPr lang="en-US" sz="2600" dirty="0" err="1"/>
              <a:t>tư</a:t>
            </a:r>
            <a:r>
              <a:rPr lang="en-US" sz="2600" dirty="0"/>
              <a:t> </a:t>
            </a:r>
            <a:r>
              <a:rPr lang="en-US" sz="2600" dirty="0" err="1"/>
              <a:t>duy</a:t>
            </a:r>
            <a:r>
              <a:rPr lang="en-US" sz="2600" dirty="0"/>
              <a:t> </a:t>
            </a:r>
            <a:r>
              <a:rPr lang="en-US" sz="2600" dirty="0" err="1"/>
              <a:t>ra</a:t>
            </a:r>
            <a:r>
              <a:rPr lang="en-US" sz="2600" dirty="0"/>
              <a:t> </a:t>
            </a:r>
            <a:r>
              <a:rPr lang="en-US" sz="2600" dirty="0" err="1"/>
              <a:t>Cách</a:t>
            </a:r>
            <a:r>
              <a:rPr lang="en-US" sz="2600" dirty="0"/>
              <a:t> </a:t>
            </a:r>
            <a:r>
              <a:rPr lang="en-US" sz="2600" dirty="0" err="1"/>
              <a:t>giải</a:t>
            </a:r>
            <a:r>
              <a:rPr lang="en-US" sz="2600" dirty="0"/>
              <a:t> =&gt; </a:t>
            </a:r>
            <a:r>
              <a:rPr lang="en-US" sz="2600" dirty="0" err="1"/>
              <a:t>Thuật</a:t>
            </a:r>
            <a:r>
              <a:rPr lang="en-US" sz="2600" dirty="0"/>
              <a:t> </a:t>
            </a:r>
            <a:r>
              <a:rPr lang="en-US" sz="2600" dirty="0" err="1"/>
              <a:t>toán</a:t>
            </a:r>
            <a:endParaRPr lang="en-US" sz="2600" dirty="0"/>
          </a:p>
          <a:p>
            <a:r>
              <a:rPr lang="en-US" sz="2600" dirty="0"/>
              <a:t>-&gt; </a:t>
            </a:r>
            <a:r>
              <a:rPr lang="en-US" sz="2600" dirty="0" err="1"/>
              <a:t>Diễn</a:t>
            </a:r>
            <a:r>
              <a:rPr lang="en-US" sz="2600" dirty="0"/>
              <a:t> </a:t>
            </a:r>
            <a:r>
              <a:rPr lang="en-US" sz="2600" dirty="0" err="1"/>
              <a:t>đạt</a:t>
            </a:r>
            <a:r>
              <a:rPr lang="en-US" sz="2600" dirty="0"/>
              <a:t> </a:t>
            </a:r>
            <a:r>
              <a:rPr lang="en-US" sz="2600" dirty="0" err="1"/>
              <a:t>thuật</a:t>
            </a:r>
            <a:r>
              <a:rPr lang="en-US" sz="2600" dirty="0"/>
              <a:t> </a:t>
            </a:r>
            <a:r>
              <a:rPr lang="en-US" sz="2600" dirty="0" err="1"/>
              <a:t>toán</a:t>
            </a:r>
            <a:r>
              <a:rPr lang="en-US" sz="2600" dirty="0"/>
              <a:t> </a:t>
            </a:r>
            <a:r>
              <a:rPr lang="en-US" sz="2600" dirty="0" err="1"/>
              <a:t>viết</a:t>
            </a:r>
            <a:r>
              <a:rPr lang="en-US" sz="2600" dirty="0"/>
              <a:t> </a:t>
            </a:r>
            <a:r>
              <a:rPr lang="en-US" sz="2600" dirty="0" err="1"/>
              <a:t>bằng</a:t>
            </a:r>
            <a:r>
              <a:rPr lang="en-US" sz="2600" dirty="0"/>
              <a:t> </a:t>
            </a:r>
            <a:r>
              <a:rPr lang="en-US" sz="2600" dirty="0" err="1"/>
              <a:t>ngôn</a:t>
            </a:r>
            <a:r>
              <a:rPr lang="en-US" sz="2600" dirty="0"/>
              <a:t> </a:t>
            </a:r>
            <a:r>
              <a:rPr lang="en-US" sz="2600" dirty="0" err="1"/>
              <a:t>ngữ</a:t>
            </a:r>
            <a:r>
              <a:rPr lang="en-US" sz="2600" dirty="0"/>
              <a:t> </a:t>
            </a:r>
            <a:r>
              <a:rPr lang="en-US" sz="2600" dirty="0" err="1"/>
              <a:t>lập</a:t>
            </a:r>
            <a:r>
              <a:rPr lang="en-US" sz="2600" dirty="0"/>
              <a:t> </a:t>
            </a:r>
            <a:r>
              <a:rPr lang="en-US" sz="2600" dirty="0" err="1"/>
              <a:t>trình</a:t>
            </a:r>
            <a:endParaRPr lang="en-US" sz="2600" dirty="0"/>
          </a:p>
          <a:p>
            <a:r>
              <a:rPr lang="en-US" sz="2600" dirty="0"/>
              <a:t>-&gt; </a:t>
            </a:r>
            <a:r>
              <a:rPr lang="en-US" sz="2600" dirty="0" err="1"/>
              <a:t>Chạy</a:t>
            </a:r>
            <a:r>
              <a:rPr lang="en-US" sz="2600" dirty="0"/>
              <a:t> </a:t>
            </a:r>
            <a:r>
              <a:rPr lang="en-US" sz="2600" dirty="0" err="1"/>
              <a:t>chương</a:t>
            </a:r>
            <a:r>
              <a:rPr lang="en-US" sz="2600" dirty="0"/>
              <a:t> </a:t>
            </a:r>
            <a:r>
              <a:rPr lang="en-US" sz="2600" dirty="0" err="1"/>
              <a:t>trình</a:t>
            </a:r>
            <a:r>
              <a:rPr lang="en-US" sz="2600" dirty="0"/>
              <a:t> </a:t>
            </a:r>
            <a:r>
              <a:rPr lang="en-US" sz="2600" dirty="0" err="1"/>
              <a:t>là</a:t>
            </a:r>
            <a:r>
              <a:rPr lang="en-US" sz="2600" dirty="0"/>
              <a:t> </a:t>
            </a:r>
            <a:r>
              <a:rPr lang="en-US" sz="2600" dirty="0" err="1"/>
              <a:t>có</a:t>
            </a:r>
            <a:r>
              <a:rPr lang="en-US" sz="2600" dirty="0"/>
              <a:t> </a:t>
            </a:r>
            <a:r>
              <a:rPr lang="en-US" sz="2600" dirty="0" err="1"/>
              <a:t>kết</a:t>
            </a:r>
            <a:r>
              <a:rPr lang="en-US" sz="2600" dirty="0"/>
              <a:t> </a:t>
            </a:r>
            <a:r>
              <a:rPr lang="en-US" sz="2600" dirty="0" err="1"/>
              <a:t>quả</a:t>
            </a:r>
            <a:endParaRPr lang="en-US" sz="2600" dirty="0"/>
          </a:p>
        </p:txBody>
      </p:sp>
    </p:spTree>
    <p:extLst>
      <p:ext uri="{BB962C8B-B14F-4D97-AF65-F5344CB8AC3E}">
        <p14:creationId xmlns:p14="http://schemas.microsoft.com/office/powerpoint/2010/main" val="313711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pPr marL="514350" indent="-514350">
              <a:buAutoNum type="arabicPeriod"/>
            </a:pP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ED744802-0381-50A3-7C85-B7B6ED4EFE1B}"/>
              </a:ext>
            </a:extLst>
          </p:cNvPr>
          <p:cNvSpPr>
            <a:spLocks noGrp="1"/>
          </p:cNvSpPr>
          <p:nvPr>
            <p:ph type="body" sz="quarter" idx="13"/>
          </p:nvPr>
        </p:nvSpPr>
        <p:spPr/>
        <p:txBody>
          <a:bodyPr/>
          <a:lstStyle/>
          <a:p>
            <a:pPr marL="0" indent="0">
              <a:buNone/>
            </a:pPr>
            <a:r>
              <a:rPr lang="en-US" dirty="0" err="1"/>
              <a:t>Quá</a:t>
            </a:r>
            <a:r>
              <a:rPr lang="en-US" dirty="0"/>
              <a:t> </a:t>
            </a:r>
            <a:r>
              <a:rPr lang="en-US" dirty="0" err="1"/>
              <a:t>trình</a:t>
            </a:r>
            <a:r>
              <a:rPr lang="en-US" dirty="0"/>
              <a:t> </a:t>
            </a:r>
            <a:r>
              <a:rPr lang="en-US" dirty="0" err="1"/>
              <a:t>giải</a:t>
            </a:r>
            <a:r>
              <a:rPr lang="en-US" dirty="0"/>
              <a:t> </a:t>
            </a:r>
            <a:r>
              <a:rPr lang="en-US" dirty="0" err="1"/>
              <a:t>bài</a:t>
            </a:r>
            <a:r>
              <a:rPr lang="en-US" dirty="0"/>
              <a:t> </a:t>
            </a:r>
            <a:r>
              <a:rPr lang="en-US" dirty="0" err="1"/>
              <a:t>toán</a:t>
            </a:r>
            <a:r>
              <a:rPr lang="en-US" dirty="0"/>
              <a:t> </a:t>
            </a:r>
            <a:r>
              <a:rPr lang="en-US" dirty="0" err="1"/>
              <a:t>trên</a:t>
            </a:r>
            <a:r>
              <a:rPr lang="en-US" dirty="0"/>
              <a:t> </a:t>
            </a:r>
            <a:r>
              <a:rPr lang="en-US" dirty="0" err="1"/>
              <a:t>máy</a:t>
            </a:r>
            <a:r>
              <a:rPr lang="en-US" dirty="0"/>
              <a:t> </a:t>
            </a:r>
            <a:r>
              <a:rPr lang="en-US" dirty="0" err="1"/>
              <a:t>tính</a:t>
            </a:r>
            <a:r>
              <a:rPr lang="en-US" dirty="0"/>
              <a:t>:</a:t>
            </a:r>
          </a:p>
          <a:p>
            <a:pPr>
              <a:buFontTx/>
              <a:buChar char="-"/>
            </a:pPr>
            <a:r>
              <a:rPr lang="en-US" dirty="0"/>
              <a:t>B1: </a:t>
            </a:r>
            <a:r>
              <a:rPr lang="en-US" dirty="0" err="1"/>
              <a:t>Xác</a:t>
            </a:r>
            <a:r>
              <a:rPr lang="en-US" dirty="0"/>
              <a:t> </a:t>
            </a:r>
            <a:r>
              <a:rPr lang="en-US" dirty="0" err="1"/>
              <a:t>định</a:t>
            </a:r>
            <a:r>
              <a:rPr lang="en-US" dirty="0"/>
              <a:t> </a:t>
            </a:r>
            <a:r>
              <a:rPr lang="en-US" dirty="0" err="1"/>
              <a:t>bài</a:t>
            </a:r>
            <a:r>
              <a:rPr lang="en-US" dirty="0"/>
              <a:t> </a:t>
            </a:r>
            <a:r>
              <a:rPr lang="en-US" dirty="0" err="1"/>
              <a:t>toán</a:t>
            </a:r>
            <a:r>
              <a:rPr lang="en-US" dirty="0"/>
              <a:t>: </a:t>
            </a:r>
            <a:r>
              <a:rPr lang="en-US" dirty="0" err="1"/>
              <a:t>Xác</a:t>
            </a:r>
            <a:r>
              <a:rPr lang="en-US" dirty="0"/>
              <a:t> </a:t>
            </a:r>
            <a:r>
              <a:rPr lang="en-US" dirty="0" err="1"/>
              <a:t>định</a:t>
            </a:r>
            <a:r>
              <a:rPr lang="en-US" dirty="0"/>
              <a:t> </a:t>
            </a:r>
            <a:r>
              <a:rPr lang="en-US" dirty="0" err="1"/>
              <a:t>đầu</a:t>
            </a:r>
            <a:r>
              <a:rPr lang="en-US" dirty="0"/>
              <a:t> </a:t>
            </a:r>
            <a:r>
              <a:rPr lang="en-US" dirty="0" err="1"/>
              <a:t>vào</a:t>
            </a:r>
            <a:r>
              <a:rPr lang="en-US" dirty="0"/>
              <a:t> </a:t>
            </a:r>
            <a:r>
              <a:rPr lang="en-US" dirty="0" err="1"/>
              <a:t>và</a:t>
            </a:r>
            <a:r>
              <a:rPr lang="en-US" dirty="0"/>
              <a:t> </a:t>
            </a:r>
            <a:r>
              <a:rPr lang="en-US" dirty="0" err="1"/>
              <a:t>đầu</a:t>
            </a:r>
            <a:r>
              <a:rPr lang="en-US" dirty="0"/>
              <a:t> </a:t>
            </a:r>
            <a:r>
              <a:rPr lang="en-US" dirty="0" err="1"/>
              <a:t>ra</a:t>
            </a:r>
            <a:endParaRPr lang="en-US" dirty="0"/>
          </a:p>
          <a:p>
            <a:pPr>
              <a:buFontTx/>
              <a:buChar char="-"/>
            </a:pPr>
            <a:r>
              <a:rPr lang="en-US" dirty="0"/>
              <a:t>B2: </a:t>
            </a:r>
            <a:r>
              <a:rPr lang="en-US" dirty="0" err="1"/>
              <a:t>Mô</a:t>
            </a:r>
            <a:r>
              <a:rPr lang="en-US" dirty="0"/>
              <a:t> </a:t>
            </a:r>
            <a:r>
              <a:rPr lang="en-US" dirty="0" err="1"/>
              <a:t>tả</a:t>
            </a:r>
            <a:r>
              <a:rPr lang="en-US" dirty="0"/>
              <a:t> </a:t>
            </a:r>
            <a:r>
              <a:rPr lang="en-US" dirty="0" err="1"/>
              <a:t>thuật</a:t>
            </a:r>
            <a:r>
              <a:rPr lang="en-US" dirty="0"/>
              <a:t> </a:t>
            </a:r>
            <a:r>
              <a:rPr lang="en-US" dirty="0" err="1"/>
              <a:t>toán</a:t>
            </a:r>
            <a:r>
              <a:rPr lang="en-US" dirty="0"/>
              <a:t>: </a:t>
            </a:r>
            <a:r>
              <a:rPr lang="en-US" dirty="0" err="1"/>
              <a:t>Diễn</a:t>
            </a:r>
            <a:r>
              <a:rPr lang="en-US" dirty="0"/>
              <a:t> </a:t>
            </a:r>
            <a:r>
              <a:rPr lang="en-US" dirty="0" err="1"/>
              <a:t>tả</a:t>
            </a:r>
            <a:r>
              <a:rPr lang="en-US" dirty="0"/>
              <a:t> </a:t>
            </a:r>
            <a:r>
              <a:rPr lang="en-US" dirty="0" err="1"/>
              <a:t>các</a:t>
            </a:r>
            <a:r>
              <a:rPr lang="en-US" dirty="0"/>
              <a:t> </a:t>
            </a:r>
            <a:r>
              <a:rPr lang="en-US" dirty="0" err="1"/>
              <a:t>giải</a:t>
            </a:r>
            <a:r>
              <a:rPr lang="en-US" dirty="0"/>
              <a:t> </a:t>
            </a:r>
            <a:r>
              <a:rPr lang="en-US" dirty="0" err="1"/>
              <a:t>bài</a:t>
            </a:r>
            <a:r>
              <a:rPr lang="en-US" dirty="0"/>
              <a:t> </a:t>
            </a:r>
            <a:r>
              <a:rPr lang="en-US" dirty="0" err="1"/>
              <a:t>toán</a:t>
            </a:r>
            <a:r>
              <a:rPr lang="en-US" dirty="0"/>
              <a:t> </a:t>
            </a:r>
            <a:r>
              <a:rPr lang="en-US" dirty="0" err="1"/>
              <a:t>bằng</a:t>
            </a:r>
            <a:r>
              <a:rPr lang="en-US" dirty="0"/>
              <a:t> </a:t>
            </a:r>
            <a:r>
              <a:rPr lang="en-US" dirty="0" err="1"/>
              <a:t>các</a:t>
            </a:r>
            <a:r>
              <a:rPr lang="en-US" dirty="0"/>
              <a:t> </a:t>
            </a:r>
            <a:r>
              <a:rPr lang="en-US" dirty="0" err="1"/>
              <a:t>thao</a:t>
            </a:r>
            <a:r>
              <a:rPr lang="en-US" dirty="0"/>
              <a:t> </a:t>
            </a:r>
            <a:r>
              <a:rPr lang="en-US" dirty="0" err="1"/>
              <a:t>tác</a:t>
            </a:r>
            <a:endParaRPr lang="en-US" dirty="0"/>
          </a:p>
          <a:p>
            <a:pPr>
              <a:buFont typeface="Symbol" panose="05050102010706020507" pitchFamily="18" charset="2"/>
              <a:buChar char="Þ"/>
            </a:pPr>
            <a:r>
              <a:rPr lang="en-US" dirty="0" err="1"/>
              <a:t>Có</a:t>
            </a:r>
            <a:r>
              <a:rPr lang="en-US" dirty="0"/>
              <a:t> </a:t>
            </a:r>
            <a:r>
              <a:rPr lang="en-US" dirty="0" err="1"/>
              <a:t>thể</a:t>
            </a:r>
            <a:r>
              <a:rPr lang="en-US" dirty="0"/>
              <a:t> </a:t>
            </a:r>
            <a:r>
              <a:rPr lang="en-US" dirty="0" err="1"/>
              <a:t>hiểu</a:t>
            </a:r>
            <a:r>
              <a:rPr lang="en-US" dirty="0"/>
              <a:t> </a:t>
            </a:r>
            <a:r>
              <a:rPr lang="en-US" dirty="0" err="1"/>
              <a:t>là</a:t>
            </a:r>
            <a:r>
              <a:rPr lang="en-US" dirty="0"/>
              <a:t> </a:t>
            </a:r>
            <a:r>
              <a:rPr lang="en-US" dirty="0" err="1"/>
              <a:t>bước</a:t>
            </a:r>
            <a:r>
              <a:rPr lang="en-US" dirty="0"/>
              <a:t> </a:t>
            </a:r>
            <a:r>
              <a:rPr lang="en-US" dirty="0" err="1"/>
              <a:t>vẽ</a:t>
            </a:r>
            <a:r>
              <a:rPr lang="en-US" dirty="0"/>
              <a:t> flowchart</a:t>
            </a:r>
          </a:p>
          <a:p>
            <a:pPr marL="0" indent="0">
              <a:buNone/>
            </a:pPr>
            <a:r>
              <a:rPr lang="en-US" dirty="0"/>
              <a:t>- B3: </a:t>
            </a:r>
            <a:r>
              <a:rPr lang="en-US" dirty="0" err="1"/>
              <a:t>Viết</a:t>
            </a:r>
            <a:r>
              <a:rPr lang="en-US" dirty="0"/>
              <a:t> </a:t>
            </a:r>
            <a:r>
              <a:rPr lang="en-US" dirty="0" err="1"/>
              <a:t>chương</a:t>
            </a:r>
            <a:r>
              <a:rPr lang="en-US" dirty="0"/>
              <a:t> </a:t>
            </a:r>
            <a:r>
              <a:rPr lang="en-US" dirty="0" err="1"/>
              <a:t>trình</a:t>
            </a:r>
            <a:endParaRPr lang="en-US" dirty="0"/>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3001568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A4D9B-4635-2C65-CA58-D29970E31D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E9BF5-D448-74E0-D7A2-3B8A3A5478DF}"/>
              </a:ext>
            </a:extLst>
          </p:cNvPr>
          <p:cNvSpPr>
            <a:spLocks noGrp="1"/>
          </p:cNvSpPr>
          <p:nvPr>
            <p:ph type="title"/>
          </p:nvPr>
        </p:nvSpPr>
        <p:spPr/>
        <p:txBody>
          <a:bodyPr/>
          <a:lstStyle/>
          <a:p>
            <a:pPr marL="514350" indent="-514350">
              <a:buAutoNum type="arabicPeriod"/>
            </a:pP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CB27E9DA-1455-2F69-3F57-225F12591E3C}"/>
              </a:ext>
            </a:extLst>
          </p:cNvPr>
          <p:cNvSpPr>
            <a:spLocks noGrp="1"/>
          </p:cNvSpPr>
          <p:nvPr>
            <p:ph type="body" sz="quarter" idx="13"/>
          </p:nvPr>
        </p:nvSpPr>
        <p:spPr>
          <a:xfrm>
            <a:off x="337539" y="1032510"/>
            <a:ext cx="11515725" cy="779961"/>
          </a:xfrm>
        </p:spPr>
        <p:txBody>
          <a:bodyPr/>
          <a:lstStyle/>
          <a:p>
            <a:pPr marL="0" indent="0">
              <a:buNone/>
            </a:pPr>
            <a:r>
              <a:rPr lang="en-US" dirty="0"/>
              <a:t>VD: </a:t>
            </a:r>
            <a:r>
              <a:rPr lang="en-US" b="1" dirty="0" err="1"/>
              <a:t>Mô</a:t>
            </a:r>
            <a:r>
              <a:rPr lang="en-US" b="1" dirty="0"/>
              <a:t> </a:t>
            </a:r>
            <a:r>
              <a:rPr lang="en-US" b="1" dirty="0" err="1"/>
              <a:t>tả</a:t>
            </a:r>
            <a:r>
              <a:rPr lang="en-US" b="1" dirty="0"/>
              <a:t> </a:t>
            </a:r>
            <a:r>
              <a:rPr lang="en-US" b="1" dirty="0" err="1"/>
              <a:t>thuật</a:t>
            </a:r>
            <a:r>
              <a:rPr lang="en-US" b="1" dirty="0"/>
              <a:t> </a:t>
            </a:r>
            <a:r>
              <a:rPr lang="en-US" b="1" dirty="0" err="1"/>
              <a:t>toán</a:t>
            </a:r>
            <a:r>
              <a:rPr lang="en-US" dirty="0"/>
              <a:t> </a:t>
            </a:r>
            <a:r>
              <a:rPr lang="en-US" dirty="0" err="1"/>
              <a:t>Việc</a:t>
            </a:r>
            <a:r>
              <a:rPr lang="en-US" dirty="0"/>
              <a:t> </a:t>
            </a:r>
            <a:r>
              <a:rPr lang="en-US" dirty="0" err="1"/>
              <a:t>pha</a:t>
            </a:r>
            <a:r>
              <a:rPr lang="en-US" dirty="0"/>
              <a:t> </a:t>
            </a:r>
            <a:r>
              <a:rPr lang="en-US" dirty="0" err="1"/>
              <a:t>trà</a:t>
            </a:r>
            <a:r>
              <a:rPr lang="en-US" dirty="0"/>
              <a:t> </a:t>
            </a:r>
            <a:r>
              <a:rPr lang="en-US" dirty="0" err="1"/>
              <a:t>mời</a:t>
            </a:r>
            <a:r>
              <a:rPr lang="en-US" dirty="0"/>
              <a:t> </a:t>
            </a:r>
            <a:r>
              <a:rPr lang="en-US" dirty="0" err="1"/>
              <a:t>khách</a:t>
            </a:r>
            <a:endParaRPr lang="en-US" dirty="0"/>
          </a:p>
        </p:txBody>
      </p:sp>
      <p:sp>
        <p:nvSpPr>
          <p:cNvPr id="4" name="Slide Number Placeholder 3">
            <a:extLst>
              <a:ext uri="{FF2B5EF4-FFF2-40B4-BE49-F238E27FC236}">
                <a16:creationId xmlns:a16="http://schemas.microsoft.com/office/drawing/2014/main" id="{1BF5D8A7-1F6E-EFDB-749A-DE985663B61C}"/>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5" name="Text Placeholder 2">
            <a:extLst>
              <a:ext uri="{FF2B5EF4-FFF2-40B4-BE49-F238E27FC236}">
                <a16:creationId xmlns:a16="http://schemas.microsoft.com/office/drawing/2014/main" id="{5DFF83C8-E31C-FE7D-F3B8-AE9E3298D9D9}"/>
              </a:ext>
            </a:extLst>
          </p:cNvPr>
          <p:cNvSpPr txBox="1">
            <a:spLocks/>
          </p:cNvSpPr>
          <p:nvPr/>
        </p:nvSpPr>
        <p:spPr>
          <a:xfrm>
            <a:off x="383986" y="1718901"/>
            <a:ext cx="3142985"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INPUT: ?</a:t>
            </a:r>
          </a:p>
          <a:p>
            <a:pPr marL="0" indent="0">
              <a:buFont typeface="Arial" panose="020B0604020202020204" pitchFamily="34" charset="0"/>
              <a:buNone/>
            </a:pPr>
            <a:r>
              <a:rPr lang="en-US" dirty="0"/>
              <a:t>OUTPUT: ?</a:t>
            </a:r>
          </a:p>
          <a:p>
            <a:pPr marL="0" indent="0">
              <a:buFont typeface="Arial" panose="020B0604020202020204" pitchFamily="34" charset="0"/>
              <a:buNone/>
            </a:pPr>
            <a:r>
              <a:rPr lang="en-US" dirty="0" err="1"/>
              <a:t>Bước</a:t>
            </a:r>
            <a:r>
              <a:rPr lang="en-US" dirty="0"/>
              <a:t> 1: ?</a:t>
            </a:r>
          </a:p>
          <a:p>
            <a:pPr marL="0" indent="0">
              <a:buFont typeface="Arial" panose="020B0604020202020204" pitchFamily="34" charset="0"/>
              <a:buNone/>
            </a:pPr>
            <a:r>
              <a:rPr lang="en-US" dirty="0"/>
              <a:t>….</a:t>
            </a:r>
          </a:p>
        </p:txBody>
      </p:sp>
      <p:sp>
        <p:nvSpPr>
          <p:cNvPr id="6" name="Text Placeholder 2">
            <a:extLst>
              <a:ext uri="{FF2B5EF4-FFF2-40B4-BE49-F238E27FC236}">
                <a16:creationId xmlns:a16="http://schemas.microsoft.com/office/drawing/2014/main" id="{DA7D7036-A255-7C3F-DACE-AFABA025C545}"/>
              </a:ext>
            </a:extLst>
          </p:cNvPr>
          <p:cNvSpPr txBox="1">
            <a:spLocks/>
          </p:cNvSpPr>
          <p:nvPr/>
        </p:nvSpPr>
        <p:spPr>
          <a:xfrm>
            <a:off x="3260112" y="1718901"/>
            <a:ext cx="8504199"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INPUT: Trà, </a:t>
            </a:r>
            <a:r>
              <a:rPr lang="en-US" dirty="0" err="1"/>
              <a:t>nước</a:t>
            </a:r>
            <a:r>
              <a:rPr lang="en-US" dirty="0"/>
              <a:t> </a:t>
            </a:r>
            <a:r>
              <a:rPr lang="en-US" dirty="0" err="1"/>
              <a:t>sôi</a:t>
            </a:r>
            <a:r>
              <a:rPr lang="en-US" dirty="0"/>
              <a:t>, </a:t>
            </a:r>
            <a:r>
              <a:rPr lang="en-US" dirty="0" err="1"/>
              <a:t>ấm</a:t>
            </a:r>
            <a:r>
              <a:rPr lang="en-US" dirty="0"/>
              <a:t> </a:t>
            </a:r>
            <a:r>
              <a:rPr lang="en-US" dirty="0" err="1"/>
              <a:t>và</a:t>
            </a:r>
            <a:r>
              <a:rPr lang="en-US" dirty="0"/>
              <a:t> </a:t>
            </a:r>
            <a:r>
              <a:rPr lang="en-US" dirty="0" err="1"/>
              <a:t>chén</a:t>
            </a:r>
            <a:endParaRPr lang="en-US" dirty="0"/>
          </a:p>
          <a:p>
            <a:pPr marL="0" indent="0">
              <a:buFont typeface="Arial" panose="020B0604020202020204" pitchFamily="34" charset="0"/>
              <a:buNone/>
            </a:pPr>
            <a:r>
              <a:rPr lang="en-US" dirty="0"/>
              <a:t>OUTPUT: Chén </a:t>
            </a:r>
            <a:r>
              <a:rPr lang="en-US" dirty="0" err="1"/>
              <a:t>trà</a:t>
            </a:r>
            <a:r>
              <a:rPr lang="en-US" dirty="0"/>
              <a:t> </a:t>
            </a:r>
            <a:r>
              <a:rPr lang="en-US" dirty="0" err="1"/>
              <a:t>đã</a:t>
            </a:r>
            <a:r>
              <a:rPr lang="en-US" dirty="0"/>
              <a:t> </a:t>
            </a:r>
            <a:r>
              <a:rPr lang="en-US" dirty="0" err="1"/>
              <a:t>pha</a:t>
            </a:r>
            <a:r>
              <a:rPr lang="en-US" dirty="0"/>
              <a:t> </a:t>
            </a:r>
            <a:r>
              <a:rPr lang="en-US" dirty="0" err="1"/>
              <a:t>để</a:t>
            </a:r>
            <a:r>
              <a:rPr lang="en-US" dirty="0"/>
              <a:t> </a:t>
            </a:r>
            <a:r>
              <a:rPr lang="en-US" dirty="0" err="1"/>
              <a:t>mời</a:t>
            </a:r>
            <a:r>
              <a:rPr lang="en-US" dirty="0"/>
              <a:t> </a:t>
            </a:r>
            <a:r>
              <a:rPr lang="en-US" dirty="0" err="1"/>
              <a:t>khách</a:t>
            </a:r>
            <a:endParaRPr lang="en-US" dirty="0"/>
          </a:p>
          <a:p>
            <a:pPr marL="0" indent="0">
              <a:buFont typeface="Arial" panose="020B0604020202020204" pitchFamily="34" charset="0"/>
              <a:buNone/>
            </a:pPr>
            <a:r>
              <a:rPr lang="en-US" dirty="0" err="1"/>
              <a:t>Bước</a:t>
            </a:r>
            <a:r>
              <a:rPr lang="en-US" dirty="0"/>
              <a:t> 1: </a:t>
            </a:r>
            <a:r>
              <a:rPr lang="en-US" dirty="0" err="1"/>
              <a:t>Tráng</a:t>
            </a:r>
            <a:r>
              <a:rPr lang="en-US" dirty="0"/>
              <a:t> </a:t>
            </a:r>
            <a:r>
              <a:rPr lang="en-US" dirty="0" err="1"/>
              <a:t>ấm</a:t>
            </a:r>
            <a:r>
              <a:rPr lang="en-US" dirty="0"/>
              <a:t>, </a:t>
            </a:r>
            <a:r>
              <a:rPr lang="en-US" dirty="0" err="1"/>
              <a:t>chén</a:t>
            </a:r>
            <a:r>
              <a:rPr lang="en-US" dirty="0"/>
              <a:t> </a:t>
            </a:r>
            <a:r>
              <a:rPr lang="en-US" dirty="0" err="1"/>
              <a:t>bằng</a:t>
            </a:r>
            <a:r>
              <a:rPr lang="en-US" dirty="0"/>
              <a:t> </a:t>
            </a:r>
            <a:r>
              <a:rPr lang="en-US" dirty="0" err="1"/>
              <a:t>nước</a:t>
            </a:r>
            <a:r>
              <a:rPr lang="en-US" dirty="0"/>
              <a:t> </a:t>
            </a:r>
            <a:r>
              <a:rPr lang="en-US" dirty="0" err="1"/>
              <a:t>sôi</a:t>
            </a:r>
            <a:endParaRPr lang="en-US" dirty="0"/>
          </a:p>
          <a:p>
            <a:pPr marL="0" indent="0">
              <a:buFont typeface="Arial" panose="020B0604020202020204" pitchFamily="34" charset="0"/>
              <a:buNone/>
            </a:pPr>
            <a:r>
              <a:rPr lang="en-US" dirty="0" err="1"/>
              <a:t>Bước</a:t>
            </a:r>
            <a:r>
              <a:rPr lang="en-US" dirty="0"/>
              <a:t> 2: Cho </a:t>
            </a:r>
            <a:r>
              <a:rPr lang="en-US" dirty="0" err="1"/>
              <a:t>trà</a:t>
            </a:r>
            <a:r>
              <a:rPr lang="en-US" dirty="0"/>
              <a:t> </a:t>
            </a:r>
            <a:r>
              <a:rPr lang="en-US" dirty="0" err="1"/>
              <a:t>vào</a:t>
            </a:r>
            <a:r>
              <a:rPr lang="en-US" dirty="0"/>
              <a:t> </a:t>
            </a:r>
            <a:r>
              <a:rPr lang="en-US" dirty="0" err="1"/>
              <a:t>ấm</a:t>
            </a:r>
            <a:endParaRPr lang="en-US" dirty="0"/>
          </a:p>
          <a:p>
            <a:pPr marL="0" indent="0">
              <a:buFont typeface="Arial" panose="020B0604020202020204" pitchFamily="34" charset="0"/>
              <a:buNone/>
            </a:pPr>
            <a:r>
              <a:rPr lang="en-US" dirty="0" err="1"/>
              <a:t>Bước</a:t>
            </a:r>
            <a:r>
              <a:rPr lang="en-US" dirty="0"/>
              <a:t> 3: Rót </a:t>
            </a:r>
            <a:r>
              <a:rPr lang="en-US" dirty="0" err="1"/>
              <a:t>nước</a:t>
            </a:r>
            <a:r>
              <a:rPr lang="en-US" dirty="0"/>
              <a:t> </a:t>
            </a:r>
            <a:r>
              <a:rPr lang="en-US" dirty="0" err="1"/>
              <a:t>sôi</a:t>
            </a:r>
            <a:r>
              <a:rPr lang="en-US" dirty="0"/>
              <a:t> </a:t>
            </a:r>
            <a:r>
              <a:rPr lang="en-US" dirty="0" err="1"/>
              <a:t>vào</a:t>
            </a:r>
            <a:r>
              <a:rPr lang="en-US" dirty="0"/>
              <a:t> </a:t>
            </a:r>
            <a:r>
              <a:rPr lang="en-US" dirty="0" err="1"/>
              <a:t>ấm</a:t>
            </a:r>
            <a:r>
              <a:rPr lang="en-US" dirty="0"/>
              <a:t> </a:t>
            </a:r>
            <a:r>
              <a:rPr lang="en-US" dirty="0" err="1"/>
              <a:t>và</a:t>
            </a:r>
            <a:r>
              <a:rPr lang="en-US" dirty="0"/>
              <a:t> </a:t>
            </a:r>
            <a:r>
              <a:rPr lang="en-US" dirty="0" err="1"/>
              <a:t>đợi</a:t>
            </a:r>
            <a:r>
              <a:rPr lang="en-US" dirty="0"/>
              <a:t> </a:t>
            </a:r>
            <a:r>
              <a:rPr lang="en-US" dirty="0" err="1"/>
              <a:t>khoảng</a:t>
            </a:r>
            <a:r>
              <a:rPr lang="en-US" dirty="0"/>
              <a:t> 3-4 </a:t>
            </a:r>
            <a:r>
              <a:rPr lang="en-US" dirty="0" err="1"/>
              <a:t>phút</a:t>
            </a:r>
            <a:endParaRPr lang="en-US" dirty="0"/>
          </a:p>
          <a:p>
            <a:pPr marL="0" indent="0">
              <a:buFont typeface="Arial" panose="020B0604020202020204" pitchFamily="34" charset="0"/>
              <a:buNone/>
            </a:pPr>
            <a:r>
              <a:rPr lang="en-US" dirty="0" err="1"/>
              <a:t>Bước</a:t>
            </a:r>
            <a:r>
              <a:rPr lang="en-US" dirty="0"/>
              <a:t> 4: Rót </a:t>
            </a:r>
            <a:r>
              <a:rPr lang="en-US" dirty="0" err="1"/>
              <a:t>trà</a:t>
            </a:r>
            <a:r>
              <a:rPr lang="en-US" dirty="0"/>
              <a:t> </a:t>
            </a:r>
            <a:r>
              <a:rPr lang="en-US" dirty="0" err="1"/>
              <a:t>ra</a:t>
            </a:r>
            <a:r>
              <a:rPr lang="en-US" dirty="0"/>
              <a:t> </a:t>
            </a:r>
            <a:r>
              <a:rPr lang="en-US" dirty="0" err="1"/>
              <a:t>chén</a:t>
            </a:r>
            <a:r>
              <a:rPr lang="en-US" dirty="0"/>
              <a:t> </a:t>
            </a:r>
            <a:r>
              <a:rPr lang="en-US" dirty="0" err="1"/>
              <a:t>và</a:t>
            </a:r>
            <a:r>
              <a:rPr lang="en-US" dirty="0"/>
              <a:t> </a:t>
            </a:r>
            <a:r>
              <a:rPr lang="en-US" dirty="0" err="1"/>
              <a:t>mời</a:t>
            </a:r>
            <a:r>
              <a:rPr lang="en-US" dirty="0"/>
              <a:t> </a:t>
            </a:r>
            <a:r>
              <a:rPr lang="en-US" dirty="0" err="1"/>
              <a:t>khách</a:t>
            </a:r>
            <a:endParaRPr lang="en-US" dirty="0"/>
          </a:p>
        </p:txBody>
      </p:sp>
      <p:cxnSp>
        <p:nvCxnSpPr>
          <p:cNvPr id="8" name="Straight Connector 7">
            <a:extLst>
              <a:ext uri="{FF2B5EF4-FFF2-40B4-BE49-F238E27FC236}">
                <a16:creationId xmlns:a16="http://schemas.microsoft.com/office/drawing/2014/main" id="{6D9B3F25-9D9A-AEE9-CB35-F5F1EC2C6B6D}"/>
              </a:ext>
            </a:extLst>
          </p:cNvPr>
          <p:cNvCxnSpPr/>
          <p:nvPr/>
        </p:nvCxnSpPr>
        <p:spPr>
          <a:xfrm>
            <a:off x="2873829" y="1812471"/>
            <a:ext cx="0" cy="4196443"/>
          </a:xfrm>
          <a:prstGeom prst="line">
            <a:avLst/>
          </a:prstGeom>
          <a:ln w="76200">
            <a:solidFill>
              <a:srgbClr val="00376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80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162D-B517-9484-11FA-A7F2D6D5C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C3501-E40F-741D-DFC4-3E488F81EF76}"/>
              </a:ext>
            </a:extLst>
          </p:cNvPr>
          <p:cNvSpPr>
            <a:spLocks noGrp="1"/>
          </p:cNvSpPr>
          <p:nvPr>
            <p:ph type="title"/>
          </p:nvPr>
        </p:nvSpPr>
        <p:spPr/>
        <p:txBody>
          <a:bodyPr/>
          <a:lstStyle/>
          <a:p>
            <a:pPr marL="514350" indent="-514350">
              <a:buAutoNum type="arabicPeriod"/>
            </a:pP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6DCEA02A-63F2-235B-AFD7-F7B050FA038F}"/>
              </a:ext>
            </a:extLst>
          </p:cNvPr>
          <p:cNvSpPr>
            <a:spLocks noGrp="1"/>
          </p:cNvSpPr>
          <p:nvPr>
            <p:ph type="body" sz="quarter" idx="13"/>
          </p:nvPr>
        </p:nvSpPr>
        <p:spPr>
          <a:xfrm>
            <a:off x="337539" y="1032510"/>
            <a:ext cx="11515725" cy="779961"/>
          </a:xfrm>
        </p:spPr>
        <p:txBody>
          <a:bodyPr/>
          <a:lstStyle/>
          <a:p>
            <a:pPr marL="0" indent="0">
              <a:buNone/>
            </a:pPr>
            <a:r>
              <a:rPr lang="en-US" dirty="0" err="1"/>
              <a:t>Bài</a:t>
            </a:r>
            <a:r>
              <a:rPr lang="en-US" dirty="0"/>
              <a:t> </a:t>
            </a:r>
            <a:r>
              <a:rPr lang="en-US" dirty="0" err="1"/>
              <a:t>toán</a:t>
            </a:r>
            <a:r>
              <a:rPr lang="en-US" dirty="0"/>
              <a:t> 1: “</a:t>
            </a:r>
            <a:r>
              <a:rPr lang="en-US" dirty="0" err="1"/>
              <a:t>Giải</a:t>
            </a:r>
            <a:r>
              <a:rPr lang="en-US" dirty="0"/>
              <a:t> </a:t>
            </a:r>
            <a:r>
              <a:rPr lang="en-US" dirty="0" err="1"/>
              <a:t>phương</a:t>
            </a:r>
            <a:r>
              <a:rPr lang="en-US" dirty="0"/>
              <a:t> </a:t>
            </a:r>
            <a:r>
              <a:rPr lang="en-US" dirty="0" err="1"/>
              <a:t>trình</a:t>
            </a:r>
            <a:r>
              <a:rPr lang="en-US" dirty="0"/>
              <a:t> </a:t>
            </a:r>
            <a:r>
              <a:rPr lang="en-US" dirty="0" err="1"/>
              <a:t>bậc</a:t>
            </a:r>
            <a:r>
              <a:rPr lang="en-US" dirty="0"/>
              <a:t> </a:t>
            </a:r>
            <a:r>
              <a:rPr lang="en-US" dirty="0" err="1"/>
              <a:t>nhất</a:t>
            </a:r>
            <a:r>
              <a:rPr lang="en-US" dirty="0"/>
              <a:t> </a:t>
            </a:r>
            <a:r>
              <a:rPr lang="en-US" dirty="0" err="1"/>
              <a:t>dạng</a:t>
            </a:r>
            <a:r>
              <a:rPr lang="en-US" dirty="0"/>
              <a:t> </a:t>
            </a:r>
            <a:r>
              <a:rPr lang="en-US" dirty="0" err="1"/>
              <a:t>tổng</a:t>
            </a:r>
            <a:r>
              <a:rPr lang="en-US" dirty="0"/>
              <a:t> </a:t>
            </a:r>
            <a:r>
              <a:rPr lang="en-US" dirty="0" err="1"/>
              <a:t>quát</a:t>
            </a:r>
            <a:r>
              <a:rPr lang="en-US" dirty="0"/>
              <a:t> </a:t>
            </a:r>
            <a:r>
              <a:rPr lang="en-US" dirty="0" err="1"/>
              <a:t>bx+c</a:t>
            </a:r>
            <a:r>
              <a:rPr lang="en-US" dirty="0"/>
              <a:t> = 0”</a:t>
            </a:r>
          </a:p>
        </p:txBody>
      </p:sp>
      <p:sp>
        <p:nvSpPr>
          <p:cNvPr id="4" name="Slide Number Placeholder 3">
            <a:extLst>
              <a:ext uri="{FF2B5EF4-FFF2-40B4-BE49-F238E27FC236}">
                <a16:creationId xmlns:a16="http://schemas.microsoft.com/office/drawing/2014/main" id="{501FB99B-3EF0-B2A6-6B98-4945FFBBFCB9}"/>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5" name="Text Placeholder 2">
            <a:extLst>
              <a:ext uri="{FF2B5EF4-FFF2-40B4-BE49-F238E27FC236}">
                <a16:creationId xmlns:a16="http://schemas.microsoft.com/office/drawing/2014/main" id="{17D0F384-F796-74D0-F473-84F0FFC56EE4}"/>
              </a:ext>
            </a:extLst>
          </p:cNvPr>
          <p:cNvSpPr txBox="1">
            <a:spLocks/>
          </p:cNvSpPr>
          <p:nvPr/>
        </p:nvSpPr>
        <p:spPr>
          <a:xfrm>
            <a:off x="383986" y="1718901"/>
            <a:ext cx="3142985"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INPUT: ?</a:t>
            </a:r>
          </a:p>
          <a:p>
            <a:pPr marL="0" indent="0">
              <a:buFont typeface="Arial" panose="020B0604020202020204" pitchFamily="34" charset="0"/>
              <a:buNone/>
            </a:pPr>
            <a:r>
              <a:rPr lang="en-US" dirty="0"/>
              <a:t>OUTPUT: ?</a:t>
            </a:r>
          </a:p>
          <a:p>
            <a:pPr marL="0" indent="0">
              <a:buFont typeface="Arial" panose="020B0604020202020204" pitchFamily="34" charset="0"/>
              <a:buNone/>
            </a:pPr>
            <a:r>
              <a:rPr lang="en-US" dirty="0" err="1"/>
              <a:t>Bước</a:t>
            </a:r>
            <a:r>
              <a:rPr lang="en-US" dirty="0"/>
              <a:t> 1: ?</a:t>
            </a:r>
          </a:p>
          <a:p>
            <a:pPr marL="0" indent="0">
              <a:buFont typeface="Arial" panose="020B0604020202020204" pitchFamily="34" charset="0"/>
              <a:buNone/>
            </a:pPr>
            <a:r>
              <a:rPr lang="en-US" dirty="0"/>
              <a:t>….</a:t>
            </a:r>
          </a:p>
        </p:txBody>
      </p:sp>
      <p:sp>
        <p:nvSpPr>
          <p:cNvPr id="6" name="Text Placeholder 2">
            <a:extLst>
              <a:ext uri="{FF2B5EF4-FFF2-40B4-BE49-F238E27FC236}">
                <a16:creationId xmlns:a16="http://schemas.microsoft.com/office/drawing/2014/main" id="{5882A87A-E1A5-FC45-7009-49E98F60458E}"/>
              </a:ext>
            </a:extLst>
          </p:cNvPr>
          <p:cNvSpPr txBox="1">
            <a:spLocks/>
          </p:cNvSpPr>
          <p:nvPr/>
        </p:nvSpPr>
        <p:spPr>
          <a:xfrm>
            <a:off x="3260112" y="1718901"/>
            <a:ext cx="8504199"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dirty="0"/>
              <a:t>INPUT: Các số b và c.</a:t>
            </a:r>
            <a:endParaRPr lang="en-US" dirty="0"/>
          </a:p>
          <a:p>
            <a:pPr marL="0" indent="0" algn="just">
              <a:buNone/>
            </a:pPr>
            <a:r>
              <a:rPr lang="vi-VN" dirty="0"/>
              <a:t>OUTPUT: Nghiệm của phương trình bậc nhất.</a:t>
            </a:r>
            <a:endParaRPr lang="en-US" dirty="0"/>
          </a:p>
          <a:p>
            <a:pPr algn="just">
              <a:buFontTx/>
              <a:buChar char="-"/>
            </a:pPr>
            <a:r>
              <a:rPr lang="vi-VN" dirty="0"/>
              <a:t>Bước 1. Nếu b = 0 chuyển tới bước 3.</a:t>
            </a:r>
            <a:endParaRPr lang="en-US" dirty="0"/>
          </a:p>
          <a:p>
            <a:pPr algn="just">
              <a:buFontTx/>
              <a:buChar char="-"/>
            </a:pPr>
            <a:r>
              <a:rPr lang="vi-VN" dirty="0"/>
              <a:t>Bước 2. Tính nghiệm của phương trình x = </a:t>
            </a:r>
            <a:r>
              <a:rPr lang="en-US" dirty="0"/>
              <a:t>-c/b</a:t>
            </a:r>
            <a:r>
              <a:rPr lang="vi-VN" dirty="0"/>
              <a:t> và chuyển tới bước 4.</a:t>
            </a:r>
            <a:endParaRPr lang="en-US" dirty="0"/>
          </a:p>
          <a:p>
            <a:pPr algn="just">
              <a:buFontTx/>
              <a:buChar char="-"/>
            </a:pPr>
            <a:r>
              <a:rPr lang="vi-VN" dirty="0"/>
              <a:t>Bước 3. Nếu c # 0, thông báo phương trình đã cho vô nghiệm. Ngược lại(c = 0), thông báo phương trình có vô số nghiệm.</a:t>
            </a:r>
            <a:endParaRPr lang="en-US" dirty="0"/>
          </a:p>
          <a:p>
            <a:pPr algn="just">
              <a:buFontTx/>
              <a:buChar char="-"/>
            </a:pPr>
            <a:r>
              <a:rPr lang="vi-VN" dirty="0"/>
              <a:t>Bước 4. Kết thúc.</a:t>
            </a:r>
            <a:endParaRPr lang="en-US" dirty="0"/>
          </a:p>
        </p:txBody>
      </p:sp>
      <p:cxnSp>
        <p:nvCxnSpPr>
          <p:cNvPr id="8" name="Straight Connector 7">
            <a:extLst>
              <a:ext uri="{FF2B5EF4-FFF2-40B4-BE49-F238E27FC236}">
                <a16:creationId xmlns:a16="http://schemas.microsoft.com/office/drawing/2014/main" id="{9432AB2B-C13E-D5DD-DAE3-92CCB10DE215}"/>
              </a:ext>
            </a:extLst>
          </p:cNvPr>
          <p:cNvCxnSpPr/>
          <p:nvPr/>
        </p:nvCxnSpPr>
        <p:spPr>
          <a:xfrm>
            <a:off x="2873829" y="1812471"/>
            <a:ext cx="0" cy="4196443"/>
          </a:xfrm>
          <a:prstGeom prst="line">
            <a:avLst/>
          </a:prstGeom>
          <a:ln w="76200">
            <a:solidFill>
              <a:srgbClr val="00376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8756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7612-14BE-74D1-1E76-B8FB978A5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1603F-6819-15D1-EAD4-016DB6C823C3}"/>
              </a:ext>
            </a:extLst>
          </p:cNvPr>
          <p:cNvSpPr>
            <a:spLocks noGrp="1"/>
          </p:cNvSpPr>
          <p:nvPr>
            <p:ph type="title"/>
          </p:nvPr>
        </p:nvSpPr>
        <p:spPr/>
        <p:txBody>
          <a:bodyPr/>
          <a:lstStyle/>
          <a:p>
            <a:pPr marL="514350" indent="-514350">
              <a:buAutoNum type="arabicPeriod"/>
            </a:pPr>
            <a:r>
              <a:rPr lang="en-US" dirty="0" err="1"/>
              <a:t>Tổng</a:t>
            </a:r>
            <a:r>
              <a:rPr lang="en-US" dirty="0"/>
              <a:t> </a:t>
            </a:r>
            <a:r>
              <a:rPr lang="en-US" dirty="0" err="1"/>
              <a:t>quan</a:t>
            </a:r>
            <a:r>
              <a:rPr lang="en-US" dirty="0"/>
              <a:t> </a:t>
            </a:r>
            <a:r>
              <a:rPr lang="en-US" dirty="0" err="1"/>
              <a:t>về</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7260CCC2-F3E3-975D-F3FB-4DA64EE1EE9C}"/>
              </a:ext>
            </a:extLst>
          </p:cNvPr>
          <p:cNvSpPr>
            <a:spLocks noGrp="1"/>
          </p:cNvSpPr>
          <p:nvPr>
            <p:ph type="body" sz="quarter" idx="13"/>
          </p:nvPr>
        </p:nvSpPr>
        <p:spPr>
          <a:xfrm>
            <a:off x="338736" y="892155"/>
            <a:ext cx="11515725" cy="779961"/>
          </a:xfrm>
        </p:spPr>
        <p:txBody>
          <a:bodyPr/>
          <a:lstStyle/>
          <a:p>
            <a:pPr marL="0" indent="0">
              <a:buNone/>
            </a:pPr>
            <a:r>
              <a:rPr lang="en-US" dirty="0" err="1"/>
              <a:t>Bài</a:t>
            </a:r>
            <a:r>
              <a:rPr lang="en-US" dirty="0"/>
              <a:t> </a:t>
            </a:r>
            <a:r>
              <a:rPr lang="en-US" dirty="0" err="1"/>
              <a:t>toán</a:t>
            </a:r>
            <a:r>
              <a:rPr lang="en-US" dirty="0"/>
              <a:t> 2: “</a:t>
            </a:r>
            <a:r>
              <a:rPr lang="en-US" dirty="0" err="1"/>
              <a:t>Làm</a:t>
            </a:r>
            <a:r>
              <a:rPr lang="en-US" dirty="0"/>
              <a:t> </a:t>
            </a:r>
            <a:r>
              <a:rPr lang="en-US" dirty="0" err="1"/>
              <a:t>món</a:t>
            </a:r>
            <a:r>
              <a:rPr lang="en-US" dirty="0"/>
              <a:t> </a:t>
            </a:r>
            <a:r>
              <a:rPr lang="en-US" dirty="0" err="1"/>
              <a:t>trứng</a:t>
            </a:r>
            <a:r>
              <a:rPr lang="en-US" dirty="0"/>
              <a:t> </a:t>
            </a:r>
            <a:r>
              <a:rPr lang="en-US" dirty="0" err="1"/>
              <a:t>tráng</a:t>
            </a:r>
            <a:r>
              <a:rPr lang="en-US" dirty="0"/>
              <a:t>”</a:t>
            </a:r>
          </a:p>
        </p:txBody>
      </p:sp>
      <p:sp>
        <p:nvSpPr>
          <p:cNvPr id="4" name="Slide Number Placeholder 3">
            <a:extLst>
              <a:ext uri="{FF2B5EF4-FFF2-40B4-BE49-F238E27FC236}">
                <a16:creationId xmlns:a16="http://schemas.microsoft.com/office/drawing/2014/main" id="{2F804845-5EC0-C20F-4744-EA9265F0D19C}"/>
              </a:ext>
            </a:extLst>
          </p:cNvPr>
          <p:cNvSpPr>
            <a:spLocks noGrp="1"/>
          </p:cNvSpPr>
          <p:nvPr>
            <p:ph type="sldNum" sz="quarter" idx="12"/>
          </p:nvPr>
        </p:nvSpPr>
        <p:spPr>
          <a:xfrm>
            <a:off x="9110064" y="6188075"/>
            <a:ext cx="2743200" cy="365125"/>
          </a:xfrm>
        </p:spPr>
        <p:txBody>
          <a:bodyPr/>
          <a:lstStyle/>
          <a:p>
            <a:fld id="{9EA0BE3B-158A-4EDF-80DC-E394A0D1600F}" type="slidenum">
              <a:rPr lang="en-US" smtClean="0"/>
              <a:pPr/>
              <a:t>8</a:t>
            </a:fld>
            <a:endParaRPr lang="en-US"/>
          </a:p>
        </p:txBody>
      </p:sp>
      <p:sp>
        <p:nvSpPr>
          <p:cNvPr id="5" name="Text Placeholder 2">
            <a:extLst>
              <a:ext uri="{FF2B5EF4-FFF2-40B4-BE49-F238E27FC236}">
                <a16:creationId xmlns:a16="http://schemas.microsoft.com/office/drawing/2014/main" id="{3B4BE545-BE7C-6741-8C2A-7320D2822E8B}"/>
              </a:ext>
            </a:extLst>
          </p:cNvPr>
          <p:cNvSpPr txBox="1">
            <a:spLocks/>
          </p:cNvSpPr>
          <p:nvPr/>
        </p:nvSpPr>
        <p:spPr>
          <a:xfrm>
            <a:off x="337539" y="1414101"/>
            <a:ext cx="3142985"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INPUT: ?</a:t>
            </a:r>
          </a:p>
          <a:p>
            <a:pPr marL="0" indent="0">
              <a:buFont typeface="Arial" panose="020B0604020202020204" pitchFamily="34" charset="0"/>
              <a:buNone/>
            </a:pPr>
            <a:r>
              <a:rPr lang="en-US" dirty="0"/>
              <a:t>OUTPUT: ?</a:t>
            </a:r>
          </a:p>
          <a:p>
            <a:pPr marL="0" indent="0">
              <a:buFont typeface="Arial" panose="020B0604020202020204" pitchFamily="34" charset="0"/>
              <a:buNone/>
            </a:pPr>
            <a:r>
              <a:rPr lang="en-US" dirty="0" err="1"/>
              <a:t>Bước</a:t>
            </a:r>
            <a:r>
              <a:rPr lang="en-US" dirty="0"/>
              <a:t> 1: ?</a:t>
            </a:r>
          </a:p>
          <a:p>
            <a:pPr marL="0" indent="0">
              <a:buFont typeface="Arial" panose="020B0604020202020204" pitchFamily="34" charset="0"/>
              <a:buNone/>
            </a:pPr>
            <a:r>
              <a:rPr lang="en-US" dirty="0"/>
              <a:t>….</a:t>
            </a:r>
          </a:p>
        </p:txBody>
      </p:sp>
      <p:sp>
        <p:nvSpPr>
          <p:cNvPr id="6" name="Text Placeholder 2">
            <a:extLst>
              <a:ext uri="{FF2B5EF4-FFF2-40B4-BE49-F238E27FC236}">
                <a16:creationId xmlns:a16="http://schemas.microsoft.com/office/drawing/2014/main" id="{02740294-DB6F-5427-6420-B9D6C83713E6}"/>
              </a:ext>
            </a:extLst>
          </p:cNvPr>
          <p:cNvSpPr txBox="1">
            <a:spLocks/>
          </p:cNvSpPr>
          <p:nvPr/>
        </p:nvSpPr>
        <p:spPr>
          <a:xfrm>
            <a:off x="2946403" y="1414101"/>
            <a:ext cx="8771462" cy="42900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vi-VN" dirty="0"/>
              <a:t>INPUT: </a:t>
            </a:r>
            <a:r>
              <a:rPr lang="en-US" dirty="0" err="1"/>
              <a:t>Trứng</a:t>
            </a:r>
            <a:r>
              <a:rPr lang="vi-VN" dirty="0"/>
              <a:t>, d</a:t>
            </a:r>
            <a:r>
              <a:rPr lang="en-US" dirty="0" err="1"/>
              <a:t>ầu</a:t>
            </a:r>
            <a:r>
              <a:rPr lang="en-US" dirty="0"/>
              <a:t> </a:t>
            </a:r>
            <a:r>
              <a:rPr lang="en-US" dirty="0" err="1"/>
              <a:t>ăn</a:t>
            </a:r>
            <a:r>
              <a:rPr lang="vi-VN" dirty="0"/>
              <a:t>,</a:t>
            </a:r>
            <a:r>
              <a:rPr lang="en-US" dirty="0"/>
              <a:t> </a:t>
            </a:r>
            <a:r>
              <a:rPr lang="en-US" dirty="0" err="1"/>
              <a:t>muối</a:t>
            </a:r>
            <a:r>
              <a:rPr lang="vi-VN" dirty="0"/>
              <a:t> va </a:t>
            </a:r>
            <a:r>
              <a:rPr lang="en-US" dirty="0" err="1"/>
              <a:t>hành</a:t>
            </a:r>
            <a:r>
              <a:rPr lang="vi-VN" dirty="0"/>
              <a:t>.</a:t>
            </a:r>
            <a:endParaRPr lang="en-US" dirty="0"/>
          </a:p>
          <a:p>
            <a:pPr marL="0" indent="0" algn="just">
              <a:buNone/>
            </a:pPr>
            <a:r>
              <a:rPr lang="vi-VN" dirty="0"/>
              <a:t>OUTPUT: Trứng tráng.</a:t>
            </a:r>
            <a:endParaRPr lang="en-US" dirty="0"/>
          </a:p>
          <a:p>
            <a:pPr algn="just">
              <a:buFontTx/>
              <a:buChar char="-"/>
            </a:pPr>
            <a:r>
              <a:rPr lang="vi-VN" dirty="0"/>
              <a:t>Bước 1. Đập trứng, tách vỏ và cho trứng vào bát.</a:t>
            </a:r>
            <a:endParaRPr lang="en-US" dirty="0"/>
          </a:p>
          <a:p>
            <a:pPr algn="just">
              <a:buFontTx/>
              <a:buChar char="-"/>
            </a:pPr>
            <a:r>
              <a:rPr lang="vi-VN" dirty="0"/>
              <a:t>Bước 2. Cho một chút muối và hành tươi thái nhỏ vào bát trứng. Dùng</a:t>
            </a:r>
            <a:r>
              <a:rPr lang="en-US" dirty="0"/>
              <a:t> </a:t>
            </a:r>
            <a:r>
              <a:rPr lang="vi-VN" dirty="0"/>
              <a:t>đũa quấy mạnh để trộn đều trứng, muối, hành.</a:t>
            </a:r>
            <a:endParaRPr lang="en-US" dirty="0"/>
          </a:p>
          <a:p>
            <a:pPr algn="just">
              <a:buFontTx/>
              <a:buChar char="-"/>
            </a:pPr>
            <a:r>
              <a:rPr lang="vi-VN" dirty="0"/>
              <a:t>Bước 3. Cho một thìa dầu ăn vào chảo, đun nóng rồi đổ trứng đã trộn vào.</a:t>
            </a:r>
            <a:r>
              <a:rPr lang="en-US" dirty="0"/>
              <a:t> </a:t>
            </a:r>
            <a:r>
              <a:rPr lang="vi-VN" dirty="0"/>
              <a:t>Đun tiếp trong khoảng 1 phút.</a:t>
            </a:r>
            <a:endParaRPr lang="en-US" dirty="0"/>
          </a:p>
          <a:p>
            <a:pPr algn="just">
              <a:buFontTx/>
              <a:buChar char="-"/>
            </a:pPr>
            <a:r>
              <a:rPr lang="vi-VN" dirty="0"/>
              <a:t>Bước 4. Lật mặt trên của miếng trứng úp xuống dưới. Đun tiếp trong khoảng1 phút.</a:t>
            </a:r>
            <a:endParaRPr lang="en-US" dirty="0"/>
          </a:p>
          <a:p>
            <a:pPr algn="just">
              <a:buFontTx/>
              <a:buChar char="-"/>
            </a:pPr>
            <a:r>
              <a:rPr lang="vi-VN" dirty="0"/>
              <a:t>Bước 5. Lấy trứng ra đĩa.</a:t>
            </a:r>
            <a:endParaRPr lang="en-US" dirty="0"/>
          </a:p>
        </p:txBody>
      </p:sp>
      <p:cxnSp>
        <p:nvCxnSpPr>
          <p:cNvPr id="8" name="Straight Connector 7">
            <a:extLst>
              <a:ext uri="{FF2B5EF4-FFF2-40B4-BE49-F238E27FC236}">
                <a16:creationId xmlns:a16="http://schemas.microsoft.com/office/drawing/2014/main" id="{F48E7CB3-DA49-2101-513E-F5DD73E4B827}"/>
              </a:ext>
            </a:extLst>
          </p:cNvPr>
          <p:cNvCxnSpPr/>
          <p:nvPr/>
        </p:nvCxnSpPr>
        <p:spPr>
          <a:xfrm>
            <a:off x="2827382" y="1507671"/>
            <a:ext cx="0" cy="4196443"/>
          </a:xfrm>
          <a:prstGeom prst="line">
            <a:avLst/>
          </a:prstGeom>
          <a:ln w="76200">
            <a:solidFill>
              <a:srgbClr val="00376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42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09A2-99A7-6692-D74E-95121FAD8A5A}"/>
              </a:ext>
            </a:extLst>
          </p:cNvPr>
          <p:cNvSpPr>
            <a:spLocks noGrp="1"/>
          </p:cNvSpPr>
          <p:nvPr>
            <p:ph type="title"/>
          </p:nvPr>
        </p:nvSpPr>
        <p:spPr/>
        <p:txBody>
          <a:bodyPr/>
          <a:lstStyle/>
          <a:p>
            <a:r>
              <a:rPr lang="en-US" dirty="0"/>
              <a:t>2. </a:t>
            </a:r>
            <a:r>
              <a:rPr lang="en-US" dirty="0" err="1"/>
              <a:t>Môi</a:t>
            </a:r>
            <a:r>
              <a:rPr lang="en-US" dirty="0"/>
              <a:t> </a:t>
            </a:r>
            <a:r>
              <a:rPr lang="en-US" dirty="0" err="1"/>
              <a:t>trường</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2A7CBE4B-B06F-10D1-C3C2-13FC92C19238}"/>
              </a:ext>
            </a:extLst>
          </p:cNvPr>
          <p:cNvSpPr>
            <a:spLocks noGrp="1"/>
          </p:cNvSpPr>
          <p:nvPr>
            <p:ph type="body" sz="quarter" idx="13"/>
          </p:nvPr>
        </p:nvSpPr>
        <p:spPr>
          <a:xfrm>
            <a:off x="337539" y="1032510"/>
            <a:ext cx="11735928" cy="4938713"/>
          </a:xfrm>
        </p:spPr>
        <p:txBody>
          <a:bodyPr/>
          <a:lstStyle/>
          <a:p>
            <a:pPr marL="0" indent="0">
              <a:buNone/>
            </a:pPr>
            <a:r>
              <a:rPr lang="vi-VN" dirty="0"/>
              <a:t>Môi trường phát triển tích hợp (</a:t>
            </a:r>
            <a:r>
              <a:rPr lang="vi-VN" b="1" dirty="0"/>
              <a:t>IDE</a:t>
            </a:r>
            <a:r>
              <a:rPr lang="vi-VN" dirty="0"/>
              <a:t> - </a:t>
            </a:r>
            <a:r>
              <a:rPr lang="vi-VN" i="1" dirty="0"/>
              <a:t>Integrated Development Environment</a:t>
            </a:r>
            <a:r>
              <a:rPr lang="vi-VN" dirty="0"/>
              <a:t>) là một ứng dụng phần mềm kết hợp các công cụ viết mã, sửa lỗi và chạy chương trình vào chung một giao diện duy nhất để giúp lập trình viên làm việc nhanh hơn. </a:t>
            </a:r>
            <a:endParaRPr lang="en-US" dirty="0"/>
          </a:p>
          <a:p>
            <a:pPr marL="0" indent="0">
              <a:buNone/>
            </a:pPr>
            <a:r>
              <a:rPr lang="en-US" dirty="0"/>
              <a:t>IDE </a:t>
            </a:r>
            <a:r>
              <a:rPr lang="en-US" dirty="0" err="1"/>
              <a:t>gồm</a:t>
            </a:r>
            <a:r>
              <a:rPr lang="en-US" dirty="0"/>
              <a:t>: </a:t>
            </a:r>
          </a:p>
          <a:p>
            <a:pPr>
              <a:buFontTx/>
              <a:buChar char="-"/>
            </a:pPr>
            <a:r>
              <a:rPr lang="en-US" dirty="0" err="1"/>
              <a:t>Trình</a:t>
            </a:r>
            <a:r>
              <a:rPr lang="en-US" dirty="0"/>
              <a:t> </a:t>
            </a:r>
            <a:r>
              <a:rPr lang="en-US" dirty="0" err="1"/>
              <a:t>soạn</a:t>
            </a:r>
            <a:r>
              <a:rPr lang="en-US" dirty="0"/>
              <a:t> </a:t>
            </a:r>
            <a:r>
              <a:rPr lang="en-US" dirty="0" err="1"/>
              <a:t>thảo</a:t>
            </a:r>
            <a:r>
              <a:rPr lang="en-US" dirty="0"/>
              <a:t> </a:t>
            </a:r>
            <a:r>
              <a:rPr lang="en-US" dirty="0" err="1"/>
              <a:t>mãn</a:t>
            </a:r>
            <a:r>
              <a:rPr lang="en-US" dirty="0"/>
              <a:t> </a:t>
            </a:r>
            <a:r>
              <a:rPr lang="en-US" dirty="0" err="1"/>
              <a:t>nguồn</a:t>
            </a:r>
            <a:r>
              <a:rPr lang="en-US" dirty="0"/>
              <a:t> (Source code editor)</a:t>
            </a:r>
          </a:p>
          <a:p>
            <a:pPr>
              <a:buFontTx/>
              <a:buChar char="-"/>
            </a:pPr>
            <a:r>
              <a:rPr lang="en-US" dirty="0" err="1"/>
              <a:t>Trình</a:t>
            </a:r>
            <a:r>
              <a:rPr lang="en-US" dirty="0"/>
              <a:t> </a:t>
            </a:r>
            <a:r>
              <a:rPr lang="en-US" dirty="0" err="1"/>
              <a:t>biên</a:t>
            </a:r>
            <a:r>
              <a:rPr lang="en-US" dirty="0"/>
              <a:t> </a:t>
            </a:r>
            <a:r>
              <a:rPr lang="en-US" dirty="0" err="1"/>
              <a:t>dịch</a:t>
            </a:r>
            <a:r>
              <a:rPr lang="en-US" dirty="0"/>
              <a:t> (Compiler)</a:t>
            </a:r>
          </a:p>
          <a:p>
            <a:pPr>
              <a:buFontTx/>
              <a:buChar char="-"/>
            </a:pPr>
            <a:r>
              <a:rPr lang="en-US" dirty="0" err="1"/>
              <a:t>Trình</a:t>
            </a:r>
            <a:r>
              <a:rPr lang="en-US" dirty="0"/>
              <a:t> </a:t>
            </a:r>
            <a:r>
              <a:rPr lang="en-US" dirty="0" err="1"/>
              <a:t>gỡ</a:t>
            </a:r>
            <a:r>
              <a:rPr lang="en-US" dirty="0"/>
              <a:t> </a:t>
            </a:r>
            <a:r>
              <a:rPr lang="en-US" dirty="0" err="1"/>
              <a:t>lỗi</a:t>
            </a:r>
            <a:r>
              <a:rPr lang="en-US" dirty="0"/>
              <a:t> (Debugger)</a:t>
            </a:r>
          </a:p>
          <a:p>
            <a:pPr>
              <a:buFontTx/>
              <a:buChar char="-"/>
            </a:pPr>
            <a:r>
              <a:rPr lang="en-US" dirty="0"/>
              <a:t>Công </a:t>
            </a:r>
            <a:r>
              <a:rPr lang="en-US" dirty="0" err="1"/>
              <a:t>cụ</a:t>
            </a:r>
            <a:r>
              <a:rPr lang="en-US" dirty="0"/>
              <a:t> </a:t>
            </a:r>
            <a:r>
              <a:rPr lang="en-US" dirty="0" err="1"/>
              <a:t>xây</a:t>
            </a:r>
            <a:r>
              <a:rPr lang="en-US" dirty="0"/>
              <a:t> </a:t>
            </a:r>
            <a:r>
              <a:rPr lang="en-US" dirty="0" err="1"/>
              <a:t>dựng</a:t>
            </a:r>
            <a:r>
              <a:rPr lang="en-US" dirty="0"/>
              <a:t> </a:t>
            </a:r>
            <a:r>
              <a:rPr lang="en-US" dirty="0" err="1"/>
              <a:t>tự</a:t>
            </a:r>
            <a:r>
              <a:rPr lang="en-US" dirty="0"/>
              <a:t> </a:t>
            </a:r>
            <a:r>
              <a:rPr lang="en-US" dirty="0" err="1"/>
              <a:t>động</a:t>
            </a:r>
            <a:r>
              <a:rPr lang="en-US" dirty="0"/>
              <a:t>(Build Automation)</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C46BF8A3-142F-F417-1BF0-71012CDD309C}"/>
              </a:ext>
            </a:extLst>
          </p:cNvPr>
          <p:cNvSpPr>
            <a:spLocks noGrp="1"/>
          </p:cNvSpPr>
          <p:nvPr>
            <p:ph type="sldNum" sz="quarter" idx="12"/>
          </p:nvPr>
        </p:nvSpPr>
        <p:spPr/>
        <p:txBody>
          <a:bodyPr/>
          <a:lstStyle/>
          <a:p>
            <a:fld id="{9EA0BE3B-158A-4EDF-80DC-E394A0D1600F}" type="slidenum">
              <a:rPr lang="en-US" smtClean="0"/>
              <a:pPr/>
              <a:t>9</a:t>
            </a:fld>
            <a:endParaRPr lang="en-US"/>
          </a:p>
        </p:txBody>
      </p:sp>
    </p:spTree>
    <p:extLst>
      <p:ext uri="{BB962C8B-B14F-4D97-AF65-F5344CB8AC3E}">
        <p14:creationId xmlns:p14="http://schemas.microsoft.com/office/powerpoint/2010/main" val="4098544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25736-3101-522C-C42B-63E1A475B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EE381-1508-ECB7-3EA2-EB1E32F5D615}"/>
              </a:ext>
            </a:extLst>
          </p:cNvPr>
          <p:cNvSpPr>
            <a:spLocks noGrp="1"/>
          </p:cNvSpPr>
          <p:nvPr>
            <p:ph type="title"/>
          </p:nvPr>
        </p:nvSpPr>
        <p:spPr/>
        <p:txBody>
          <a:bodyPr/>
          <a:lstStyle/>
          <a:p>
            <a:r>
              <a:rPr lang="en-US" dirty="0"/>
              <a:t>2. </a:t>
            </a:r>
            <a:r>
              <a:rPr lang="en-US" dirty="0" err="1"/>
              <a:t>Môi</a:t>
            </a:r>
            <a:r>
              <a:rPr lang="en-US" dirty="0"/>
              <a:t> </a:t>
            </a:r>
            <a:r>
              <a:rPr lang="en-US" dirty="0" err="1"/>
              <a:t>trường</a:t>
            </a:r>
            <a:r>
              <a:rPr lang="en-US" dirty="0"/>
              <a:t> </a:t>
            </a:r>
            <a:r>
              <a:rPr lang="en-US" dirty="0" err="1"/>
              <a:t>lập</a:t>
            </a:r>
            <a:r>
              <a:rPr lang="en-US" dirty="0"/>
              <a:t> </a:t>
            </a:r>
            <a:r>
              <a:rPr lang="en-US" dirty="0" err="1"/>
              <a:t>trình</a:t>
            </a:r>
            <a:endParaRPr lang="en-US" dirty="0"/>
          </a:p>
        </p:txBody>
      </p:sp>
      <p:sp>
        <p:nvSpPr>
          <p:cNvPr id="3" name="Text Placeholder 2">
            <a:extLst>
              <a:ext uri="{FF2B5EF4-FFF2-40B4-BE49-F238E27FC236}">
                <a16:creationId xmlns:a16="http://schemas.microsoft.com/office/drawing/2014/main" id="{6D813642-394D-55D9-24FB-32DC078AE7BF}"/>
              </a:ext>
            </a:extLst>
          </p:cNvPr>
          <p:cNvSpPr>
            <a:spLocks noGrp="1"/>
          </p:cNvSpPr>
          <p:nvPr>
            <p:ph type="body" sz="quarter" idx="13"/>
          </p:nvPr>
        </p:nvSpPr>
        <p:spPr>
          <a:xfrm>
            <a:off x="338736" y="905722"/>
            <a:ext cx="11735928" cy="3539490"/>
          </a:xfrm>
        </p:spPr>
        <p:txBody>
          <a:bodyPr/>
          <a:lstStyle/>
          <a:p>
            <a:pPr marL="0" indent="0">
              <a:buNone/>
            </a:pPr>
            <a:r>
              <a:rPr lang="en-US" dirty="0"/>
              <a:t>2.1. </a:t>
            </a:r>
            <a:r>
              <a:rPr lang="en-US" dirty="0" err="1"/>
              <a:t>Thiết</a:t>
            </a:r>
            <a:r>
              <a:rPr lang="en-US" dirty="0"/>
              <a:t> </a:t>
            </a:r>
            <a:r>
              <a:rPr lang="en-US" dirty="0" err="1"/>
              <a:t>lập</a:t>
            </a:r>
            <a:r>
              <a:rPr lang="en-US" dirty="0"/>
              <a:t> </a:t>
            </a:r>
            <a:r>
              <a:rPr lang="en-US" dirty="0" err="1"/>
              <a:t>môi</a:t>
            </a:r>
            <a:r>
              <a:rPr lang="en-US" dirty="0"/>
              <a:t> </a:t>
            </a:r>
            <a:r>
              <a:rPr lang="en-US" dirty="0" err="1"/>
              <a:t>trường</a:t>
            </a:r>
            <a:r>
              <a:rPr lang="en-US" dirty="0"/>
              <a:t> (IDE)</a:t>
            </a:r>
          </a:p>
          <a:p>
            <a:pPr>
              <a:buFontTx/>
              <a:buChar char="-"/>
            </a:pPr>
            <a:r>
              <a:rPr lang="en-US" dirty="0"/>
              <a:t>Visual Studio: </a:t>
            </a:r>
            <a:r>
              <a:rPr lang="en-US" dirty="0" err="1"/>
              <a:t>Hỗ</a:t>
            </a:r>
            <a:r>
              <a:rPr lang="en-US" dirty="0"/>
              <a:t> </a:t>
            </a:r>
            <a:r>
              <a:rPr lang="en-US" dirty="0" err="1"/>
              <a:t>trợ</a:t>
            </a:r>
            <a:r>
              <a:rPr lang="en-US" dirty="0"/>
              <a:t> </a:t>
            </a:r>
            <a:r>
              <a:rPr lang="en-US" dirty="0" err="1"/>
              <a:t>nhiều</a:t>
            </a:r>
            <a:r>
              <a:rPr lang="en-US" dirty="0"/>
              <a:t> </a:t>
            </a:r>
            <a:r>
              <a:rPr lang="en-US" dirty="0" err="1"/>
              <a:t>ngôn</a:t>
            </a:r>
            <a:r>
              <a:rPr lang="en-US" dirty="0"/>
              <a:t> </a:t>
            </a:r>
            <a:r>
              <a:rPr lang="en-US" dirty="0" err="1"/>
              <a:t>ngữ</a:t>
            </a:r>
            <a:r>
              <a:rPr lang="en-US" dirty="0"/>
              <a:t> </a:t>
            </a:r>
            <a:r>
              <a:rPr lang="en-US" dirty="0" err="1"/>
              <a:t>như</a:t>
            </a:r>
            <a:r>
              <a:rPr lang="en-US" dirty="0"/>
              <a:t> C/C++, Python, JavaScript</a:t>
            </a:r>
          </a:p>
          <a:p>
            <a:pPr>
              <a:buFontTx/>
              <a:buChar char="-"/>
            </a:pPr>
            <a:r>
              <a:rPr lang="en-US" dirty="0"/>
              <a:t>Visual Studio Code: </a:t>
            </a:r>
            <a:r>
              <a:rPr lang="en-US" dirty="0" err="1"/>
              <a:t>Nhẹ</a:t>
            </a:r>
            <a:r>
              <a:rPr lang="en-US" dirty="0"/>
              <a:t> </a:t>
            </a:r>
            <a:r>
              <a:rPr lang="en-US" dirty="0" err="1"/>
              <a:t>và</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mở</a:t>
            </a:r>
            <a:r>
              <a:rPr lang="en-US" dirty="0"/>
              <a:t> </a:t>
            </a:r>
            <a:r>
              <a:rPr lang="en-US" dirty="0" err="1"/>
              <a:t>rộng</a:t>
            </a:r>
            <a:r>
              <a:rPr lang="en-US" dirty="0"/>
              <a:t> </a:t>
            </a:r>
            <a:r>
              <a:rPr lang="en-US" dirty="0" err="1"/>
              <a:t>và</a:t>
            </a:r>
            <a:r>
              <a:rPr lang="en-US" dirty="0"/>
              <a:t> </a:t>
            </a:r>
            <a:r>
              <a:rPr lang="en-US" dirty="0" err="1"/>
              <a:t>biến</a:t>
            </a:r>
            <a:r>
              <a:rPr lang="en-US" dirty="0"/>
              <a:t> </a:t>
            </a:r>
            <a:r>
              <a:rPr lang="en-US" dirty="0" err="1"/>
              <a:t>đổi</a:t>
            </a:r>
            <a:endParaRPr lang="en-US" dirty="0"/>
          </a:p>
          <a:p>
            <a:pPr>
              <a:buFontTx/>
              <a:buChar char="-"/>
            </a:pPr>
            <a:r>
              <a:rPr lang="en-US" dirty="0"/>
              <a:t>IntelliJ IDEA: Chuyên </a:t>
            </a:r>
            <a:r>
              <a:rPr lang="en-US" dirty="0" err="1"/>
              <a:t>dùng</a:t>
            </a:r>
            <a:r>
              <a:rPr lang="en-US" dirty="0"/>
              <a:t> </a:t>
            </a:r>
            <a:r>
              <a:rPr lang="en-US" dirty="0" err="1"/>
              <a:t>cho</a:t>
            </a:r>
            <a:r>
              <a:rPr lang="en-US" dirty="0"/>
              <a:t> Java</a:t>
            </a:r>
          </a:p>
          <a:p>
            <a:pPr>
              <a:buFontTx/>
              <a:buChar char="-"/>
            </a:pPr>
            <a:r>
              <a:rPr lang="en-US" dirty="0"/>
              <a:t>PyCharm: Chuyên </a:t>
            </a:r>
            <a:r>
              <a:rPr lang="en-US" dirty="0" err="1"/>
              <a:t>dùng</a:t>
            </a:r>
            <a:r>
              <a:rPr lang="en-US" dirty="0"/>
              <a:t> </a:t>
            </a:r>
            <a:r>
              <a:rPr lang="en-US" dirty="0" err="1"/>
              <a:t>cho</a:t>
            </a:r>
            <a:r>
              <a:rPr lang="en-US" dirty="0"/>
              <a:t> Python</a:t>
            </a:r>
          </a:p>
          <a:p>
            <a:pPr>
              <a:buFontTx/>
              <a:buChar char="-"/>
            </a:pPr>
            <a:r>
              <a:rPr lang="en-US" dirty="0"/>
              <a:t>Android Studio: </a:t>
            </a:r>
            <a:r>
              <a:rPr lang="en-US" dirty="0" err="1"/>
              <a:t>Dùng</a:t>
            </a:r>
            <a:r>
              <a:rPr lang="en-US" dirty="0"/>
              <a:t> </a:t>
            </a:r>
            <a:r>
              <a:rPr lang="en-US" dirty="0" err="1"/>
              <a:t>để</a:t>
            </a:r>
            <a:r>
              <a:rPr lang="en-US" dirty="0"/>
              <a:t> </a:t>
            </a:r>
            <a:r>
              <a:rPr lang="en-US" dirty="0" err="1"/>
              <a:t>phát</a:t>
            </a:r>
            <a:r>
              <a:rPr lang="en-US" dirty="0"/>
              <a:t> </a:t>
            </a:r>
            <a:r>
              <a:rPr lang="en-US" dirty="0" err="1"/>
              <a:t>triển</a:t>
            </a:r>
            <a:r>
              <a:rPr lang="en-US" dirty="0"/>
              <a:t> </a:t>
            </a:r>
            <a:r>
              <a:rPr lang="en-US" dirty="0" err="1"/>
              <a:t>ứng</a:t>
            </a:r>
            <a:r>
              <a:rPr lang="en-US" dirty="0"/>
              <a:t> </a:t>
            </a:r>
            <a:r>
              <a:rPr lang="en-US" dirty="0" err="1"/>
              <a:t>dụng</a:t>
            </a:r>
            <a:r>
              <a:rPr lang="en-US" dirty="0"/>
              <a:t> di </a:t>
            </a:r>
            <a:r>
              <a:rPr lang="en-US" dirty="0" err="1"/>
              <a:t>động</a:t>
            </a:r>
            <a:r>
              <a:rPr lang="en-US" dirty="0"/>
              <a:t> Android</a:t>
            </a:r>
          </a:p>
        </p:txBody>
      </p:sp>
      <p:sp>
        <p:nvSpPr>
          <p:cNvPr id="4" name="Slide Number Placeholder 3">
            <a:extLst>
              <a:ext uri="{FF2B5EF4-FFF2-40B4-BE49-F238E27FC236}">
                <a16:creationId xmlns:a16="http://schemas.microsoft.com/office/drawing/2014/main" id="{FEE1FBCC-B0F5-D4AB-B41C-827D6AB729E3}"/>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1026" name="Picture 2" descr="Visual Studio Code – Wikipedia tiếng Việt">
            <a:extLst>
              <a:ext uri="{FF2B5EF4-FFF2-40B4-BE49-F238E27FC236}">
                <a16:creationId xmlns:a16="http://schemas.microsoft.com/office/drawing/2014/main" id="{49756CB5-5730-5950-E051-C1F8C6B62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318000"/>
            <a:ext cx="1764771" cy="17647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4EBEBF1-227D-E8AF-3611-2CC57295E1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2530" y="4182533"/>
            <a:ext cx="1944900" cy="19449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ython Tool Review: Using PyCharm for Python Development - and More |  Caktus Group">
            <a:extLst>
              <a:ext uri="{FF2B5EF4-FFF2-40B4-BE49-F238E27FC236}">
                <a16:creationId xmlns:a16="http://schemas.microsoft.com/office/drawing/2014/main" id="{EE18CA40-68DA-4CB2-2EE1-4C2B07E85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5162" y="4011983"/>
            <a:ext cx="2285999" cy="22859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droid Studio - Wikipedia">
            <a:extLst>
              <a:ext uri="{FF2B5EF4-FFF2-40B4-BE49-F238E27FC236}">
                <a16:creationId xmlns:a16="http://schemas.microsoft.com/office/drawing/2014/main" id="{C17A1AE3-C343-23F2-7CFB-26CB4BB9D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5111" y="3912871"/>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304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BB9C-1F45-8C56-C81B-A84278D0F8F0}"/>
              </a:ext>
            </a:extLst>
          </p:cNvPr>
          <p:cNvSpPr>
            <a:spLocks noGrp="1"/>
          </p:cNvSpPr>
          <p:nvPr>
            <p:ph type="title"/>
          </p:nvPr>
        </p:nvSpPr>
        <p:spPr/>
        <p:txBody>
          <a:bodyPr/>
          <a:lstStyle/>
          <a:p>
            <a:r>
              <a:rPr lang="en-US" dirty="0"/>
              <a:t>2. </a:t>
            </a:r>
            <a:r>
              <a:rPr lang="en-US" dirty="0" err="1"/>
              <a:t>Môi</a:t>
            </a:r>
            <a:r>
              <a:rPr lang="en-US" dirty="0"/>
              <a:t> </a:t>
            </a:r>
            <a:r>
              <a:rPr lang="en-US" dirty="0" err="1"/>
              <a:t>trường</a:t>
            </a:r>
            <a:r>
              <a:rPr lang="en-US" dirty="0"/>
              <a:t> </a:t>
            </a:r>
            <a:r>
              <a:rPr lang="en-US" dirty="0" err="1"/>
              <a:t>lập</a:t>
            </a:r>
            <a:r>
              <a:rPr lang="en-US" dirty="0"/>
              <a:t> </a:t>
            </a:r>
            <a:r>
              <a:rPr lang="en-US" dirty="0" err="1"/>
              <a:t>trình</a:t>
            </a:r>
            <a:endParaRPr lang="en-US" dirty="0"/>
          </a:p>
        </p:txBody>
      </p:sp>
      <p:sp>
        <p:nvSpPr>
          <p:cNvPr id="4" name="Slide Number Placeholder 3">
            <a:extLst>
              <a:ext uri="{FF2B5EF4-FFF2-40B4-BE49-F238E27FC236}">
                <a16:creationId xmlns:a16="http://schemas.microsoft.com/office/drawing/2014/main" id="{F0E86452-F93D-BAC4-D3F3-DE91D8B54FB8}"/>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6" name="TextBox 5">
            <a:extLst>
              <a:ext uri="{FF2B5EF4-FFF2-40B4-BE49-F238E27FC236}">
                <a16:creationId xmlns:a16="http://schemas.microsoft.com/office/drawing/2014/main" id="{7CE00916-BF61-A905-1B93-829C0F832DD9}"/>
              </a:ext>
            </a:extLst>
          </p:cNvPr>
          <p:cNvSpPr txBox="1"/>
          <p:nvPr/>
        </p:nvSpPr>
        <p:spPr>
          <a:xfrm>
            <a:off x="338736" y="1031057"/>
            <a:ext cx="6096000" cy="584775"/>
          </a:xfrm>
          <a:prstGeom prst="rect">
            <a:avLst/>
          </a:prstGeom>
          <a:noFill/>
        </p:spPr>
        <p:txBody>
          <a:bodyPr wrap="square">
            <a:spAutoFit/>
          </a:bodyPr>
          <a:lstStyle/>
          <a:p>
            <a:r>
              <a:rPr lang="en-US" sz="3200" dirty="0"/>
              <a:t>https://code.visualstudio.com/</a:t>
            </a:r>
          </a:p>
        </p:txBody>
      </p:sp>
      <p:pic>
        <p:nvPicPr>
          <p:cNvPr id="8" name="Picture 7">
            <a:extLst>
              <a:ext uri="{FF2B5EF4-FFF2-40B4-BE49-F238E27FC236}">
                <a16:creationId xmlns:a16="http://schemas.microsoft.com/office/drawing/2014/main" id="{62A522FC-E478-BAC2-3E8D-ACFC1B8A5F8F}"/>
              </a:ext>
            </a:extLst>
          </p:cNvPr>
          <p:cNvPicPr>
            <a:picLocks noChangeAspect="1"/>
          </p:cNvPicPr>
          <p:nvPr/>
        </p:nvPicPr>
        <p:blipFill>
          <a:blip r:embed="rId2"/>
          <a:stretch>
            <a:fillRect/>
          </a:stretch>
        </p:blipFill>
        <p:spPr>
          <a:xfrm>
            <a:off x="7892321" y="3380147"/>
            <a:ext cx="3828486" cy="2236685"/>
          </a:xfrm>
          <a:prstGeom prst="rect">
            <a:avLst/>
          </a:prstGeom>
        </p:spPr>
      </p:pic>
      <p:sp>
        <p:nvSpPr>
          <p:cNvPr id="3" name="Text Placeholder 2">
            <a:extLst>
              <a:ext uri="{FF2B5EF4-FFF2-40B4-BE49-F238E27FC236}">
                <a16:creationId xmlns:a16="http://schemas.microsoft.com/office/drawing/2014/main" id="{D19FCD70-194D-2C77-55A4-31F18B05F4C3}"/>
              </a:ext>
            </a:extLst>
          </p:cNvPr>
          <p:cNvSpPr>
            <a:spLocks noGrp="1"/>
          </p:cNvSpPr>
          <p:nvPr>
            <p:ph type="body" sz="quarter" idx="13"/>
          </p:nvPr>
        </p:nvSpPr>
        <p:spPr>
          <a:xfrm>
            <a:off x="292289" y="1787458"/>
            <a:ext cx="11758005" cy="1270852"/>
          </a:xfrm>
        </p:spPr>
        <p:txBody>
          <a:bodyPr/>
          <a:lstStyle/>
          <a:p>
            <a:pPr marL="0" indent="0">
              <a:buNone/>
            </a:pPr>
            <a:r>
              <a:rPr lang="en-US" dirty="0" err="1"/>
              <a:t>Chưa</a:t>
            </a:r>
            <a:r>
              <a:rPr lang="en-US" dirty="0"/>
              <a:t> </a:t>
            </a:r>
            <a:r>
              <a:rPr lang="en-US" dirty="0" err="1"/>
              <a:t>có</a:t>
            </a:r>
            <a:r>
              <a:rPr lang="en-US" dirty="0"/>
              <a:t> compiler: https://code.visualstudio.com/docs/languages/cpp</a:t>
            </a:r>
          </a:p>
        </p:txBody>
      </p:sp>
      <p:sp>
        <p:nvSpPr>
          <p:cNvPr id="11" name="Text Placeholder 2">
            <a:extLst>
              <a:ext uri="{FF2B5EF4-FFF2-40B4-BE49-F238E27FC236}">
                <a16:creationId xmlns:a16="http://schemas.microsoft.com/office/drawing/2014/main" id="{E21BBA21-FE15-6D6E-F383-A03460D80A31}"/>
              </a:ext>
            </a:extLst>
          </p:cNvPr>
          <p:cNvSpPr txBox="1">
            <a:spLocks/>
          </p:cNvSpPr>
          <p:nvPr/>
        </p:nvSpPr>
        <p:spPr>
          <a:xfrm>
            <a:off x="292289" y="2341664"/>
            <a:ext cx="11758005" cy="1270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Khuyến</a:t>
            </a:r>
            <a:r>
              <a:rPr lang="en-US" dirty="0"/>
              <a:t> </a:t>
            </a:r>
            <a:r>
              <a:rPr lang="en-US" dirty="0" err="1"/>
              <a:t>nghị</a:t>
            </a:r>
            <a:r>
              <a:rPr lang="en-US" dirty="0"/>
              <a:t> </a:t>
            </a:r>
            <a:r>
              <a:rPr lang="en-US" dirty="0" err="1"/>
              <a:t>cài</a:t>
            </a:r>
            <a:r>
              <a:rPr lang="en-US" dirty="0"/>
              <a:t> MinGW (</a:t>
            </a:r>
            <a:r>
              <a:rPr lang="en-US" dirty="0" err="1"/>
              <a:t>chính</a:t>
            </a:r>
            <a:r>
              <a:rPr lang="en-US" dirty="0"/>
              <a:t> </a:t>
            </a:r>
            <a:r>
              <a:rPr lang="en-US" dirty="0" err="1"/>
              <a:t>là</a:t>
            </a:r>
            <a:r>
              <a:rPr lang="en-US" dirty="0"/>
              <a:t> MSYS2)</a:t>
            </a:r>
          </a:p>
        </p:txBody>
      </p:sp>
      <p:sp>
        <p:nvSpPr>
          <p:cNvPr id="5" name="Text Placeholder 2">
            <a:extLst>
              <a:ext uri="{FF2B5EF4-FFF2-40B4-BE49-F238E27FC236}">
                <a16:creationId xmlns:a16="http://schemas.microsoft.com/office/drawing/2014/main" id="{80F77D48-73DD-D842-906F-E9A8E89C816C}"/>
              </a:ext>
            </a:extLst>
          </p:cNvPr>
          <p:cNvSpPr txBox="1">
            <a:spLocks/>
          </p:cNvSpPr>
          <p:nvPr/>
        </p:nvSpPr>
        <p:spPr>
          <a:xfrm>
            <a:off x="292289" y="3661701"/>
            <a:ext cx="6142447" cy="12708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FF0000"/>
                </a:solidFill>
              </a:rPr>
              <a:t>Xem </a:t>
            </a:r>
            <a:r>
              <a:rPr lang="en-US" b="1" dirty="0" err="1">
                <a:solidFill>
                  <a:srgbClr val="FF0000"/>
                </a:solidFill>
              </a:rPr>
              <a:t>thêm</a:t>
            </a:r>
            <a:r>
              <a:rPr lang="en-US" b="1" dirty="0">
                <a:solidFill>
                  <a:srgbClr val="FF0000"/>
                </a:solidFill>
              </a:rPr>
              <a:t> </a:t>
            </a:r>
            <a:r>
              <a:rPr lang="en-US" b="1" dirty="0" err="1">
                <a:solidFill>
                  <a:srgbClr val="FF0000"/>
                </a:solidFill>
              </a:rPr>
              <a:t>tại</a:t>
            </a:r>
            <a:r>
              <a:rPr lang="en-US" b="1" dirty="0">
                <a:solidFill>
                  <a:srgbClr val="FF0000"/>
                </a:solidFill>
              </a:rPr>
              <a:t> slide Prac0</a:t>
            </a:r>
          </a:p>
        </p:txBody>
      </p:sp>
    </p:spTree>
    <p:extLst>
      <p:ext uri="{BB962C8B-B14F-4D97-AF65-F5344CB8AC3E}">
        <p14:creationId xmlns:p14="http://schemas.microsoft.com/office/powerpoint/2010/main" val="1459386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B359-B938-D65E-4896-6854CD911398}"/>
              </a:ext>
            </a:extLst>
          </p:cNvPr>
          <p:cNvSpPr>
            <a:spLocks noGrp="1"/>
          </p:cNvSpPr>
          <p:nvPr>
            <p:ph type="title"/>
          </p:nvPr>
        </p:nvSpPr>
        <p:spPr/>
        <p:txBody>
          <a:bodyPr/>
          <a:lstStyle/>
          <a:p>
            <a:r>
              <a:rPr lang="en-US" dirty="0"/>
              <a:t>3. </a:t>
            </a:r>
            <a:r>
              <a:rPr lang="en-US" dirty="0" err="1"/>
              <a:t>Tạo</a:t>
            </a:r>
            <a:r>
              <a:rPr lang="en-US" dirty="0"/>
              <a:t> project </a:t>
            </a:r>
            <a:r>
              <a:rPr lang="en-US" dirty="0" err="1"/>
              <a:t>và</a:t>
            </a:r>
            <a:r>
              <a:rPr lang="en-US" dirty="0"/>
              <a:t> </a:t>
            </a:r>
            <a:r>
              <a:rPr lang="en-US" dirty="0" err="1"/>
              <a:t>viết</a:t>
            </a:r>
            <a:r>
              <a:rPr lang="en-US" dirty="0"/>
              <a:t> code</a:t>
            </a:r>
          </a:p>
        </p:txBody>
      </p:sp>
      <p:sp>
        <p:nvSpPr>
          <p:cNvPr id="3" name="Text Placeholder 2">
            <a:extLst>
              <a:ext uri="{FF2B5EF4-FFF2-40B4-BE49-F238E27FC236}">
                <a16:creationId xmlns:a16="http://schemas.microsoft.com/office/drawing/2014/main" id="{52F3C4F3-C153-BF1A-730D-105896C051F4}"/>
              </a:ext>
            </a:extLst>
          </p:cNvPr>
          <p:cNvSpPr>
            <a:spLocks noGrp="1"/>
          </p:cNvSpPr>
          <p:nvPr>
            <p:ph type="body" sz="quarter" idx="13"/>
          </p:nvPr>
        </p:nvSpPr>
        <p:spPr>
          <a:xfrm>
            <a:off x="383986" y="869485"/>
            <a:ext cx="11515725" cy="775650"/>
          </a:xfrm>
        </p:spPr>
        <p:txBody>
          <a:bodyPr/>
          <a:lstStyle/>
          <a:p>
            <a:r>
              <a:rPr lang="en-US" sz="2400" dirty="0" err="1"/>
              <a:t>Tạo</a:t>
            </a:r>
            <a:r>
              <a:rPr lang="en-US" sz="2400" dirty="0"/>
              <a:t> folder project “Hello World” </a:t>
            </a:r>
            <a:r>
              <a:rPr lang="en-US" sz="2400" dirty="0" err="1"/>
              <a:t>bằng</a:t>
            </a:r>
            <a:r>
              <a:rPr lang="en-US" sz="2400" dirty="0"/>
              <a:t> </a:t>
            </a:r>
            <a:r>
              <a:rPr lang="en-US" sz="2400" dirty="0" err="1"/>
              <a:t>thủ</a:t>
            </a:r>
            <a:r>
              <a:rPr lang="en-US" sz="2400" dirty="0"/>
              <a:t> </a:t>
            </a:r>
            <a:r>
              <a:rPr lang="en-US" sz="2400" dirty="0" err="1"/>
              <a:t>công</a:t>
            </a:r>
            <a:r>
              <a:rPr lang="en-US" sz="2400" dirty="0"/>
              <a:t> </a:t>
            </a:r>
            <a:r>
              <a:rPr lang="en-US" sz="2400" dirty="0" err="1"/>
              <a:t>hoặc</a:t>
            </a:r>
            <a:r>
              <a:rPr lang="en-US" sz="2400" dirty="0"/>
              <a:t> </a:t>
            </a:r>
            <a:r>
              <a:rPr lang="en-US" sz="2400" dirty="0" err="1"/>
              <a:t>mở</a:t>
            </a:r>
            <a:r>
              <a:rPr lang="en-US" sz="2400" dirty="0"/>
              <a:t> Terminal </a:t>
            </a:r>
            <a:r>
              <a:rPr lang="en-US" sz="2400" dirty="0" err="1"/>
              <a:t>và</a:t>
            </a:r>
            <a:r>
              <a:rPr lang="en-US" sz="2400" dirty="0"/>
              <a:t> </a:t>
            </a:r>
            <a:r>
              <a:rPr lang="en-US" sz="2400" dirty="0" err="1"/>
              <a:t>gõ</a:t>
            </a:r>
            <a:r>
              <a:rPr lang="en-US" sz="2400" dirty="0"/>
              <a:t> code</a:t>
            </a:r>
          </a:p>
          <a:p>
            <a:endParaRPr lang="en-US" sz="2400" dirty="0"/>
          </a:p>
        </p:txBody>
      </p:sp>
      <p:sp>
        <p:nvSpPr>
          <p:cNvPr id="4" name="Slide Number Placeholder 3">
            <a:extLst>
              <a:ext uri="{FF2B5EF4-FFF2-40B4-BE49-F238E27FC236}">
                <a16:creationId xmlns:a16="http://schemas.microsoft.com/office/drawing/2014/main" id="{79A571AB-5A98-407B-E585-10645D9BE8D7}"/>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6" name="Picture 5">
            <a:extLst>
              <a:ext uri="{FF2B5EF4-FFF2-40B4-BE49-F238E27FC236}">
                <a16:creationId xmlns:a16="http://schemas.microsoft.com/office/drawing/2014/main" id="{D6536B21-8A2E-1C20-9065-36F56E58927B}"/>
              </a:ext>
            </a:extLst>
          </p:cNvPr>
          <p:cNvPicPr>
            <a:picLocks noChangeAspect="1"/>
          </p:cNvPicPr>
          <p:nvPr/>
        </p:nvPicPr>
        <p:blipFill>
          <a:blip r:embed="rId2"/>
          <a:srcRect t="-3382" r="73613" b="67295"/>
          <a:stretch>
            <a:fillRect/>
          </a:stretch>
        </p:blipFill>
        <p:spPr>
          <a:xfrm>
            <a:off x="6296408" y="1374815"/>
            <a:ext cx="5603303" cy="4021565"/>
          </a:xfrm>
          <a:prstGeom prst="rect">
            <a:avLst/>
          </a:prstGeom>
        </p:spPr>
      </p:pic>
      <p:graphicFrame>
        <p:nvGraphicFramePr>
          <p:cNvPr id="5" name="Table 4">
            <a:extLst>
              <a:ext uri="{FF2B5EF4-FFF2-40B4-BE49-F238E27FC236}">
                <a16:creationId xmlns:a16="http://schemas.microsoft.com/office/drawing/2014/main" id="{ADB90621-9140-0A5A-1466-7CA082D24F4C}"/>
              </a:ext>
            </a:extLst>
          </p:cNvPr>
          <p:cNvGraphicFramePr>
            <a:graphicFrameLocks noGrp="1"/>
          </p:cNvGraphicFramePr>
          <p:nvPr>
            <p:extLst>
              <p:ext uri="{D42A27DB-BD31-4B8C-83A1-F6EECF244321}">
                <p14:modId xmlns:p14="http://schemas.microsoft.com/office/powerpoint/2010/main" val="500034837"/>
              </p:ext>
            </p:extLst>
          </p:nvPr>
        </p:nvGraphicFramePr>
        <p:xfrm>
          <a:off x="338736" y="1965979"/>
          <a:ext cx="5758461" cy="1869681"/>
        </p:xfrm>
        <a:graphic>
          <a:graphicData uri="http://schemas.openxmlformats.org/drawingml/2006/table">
            <a:tbl>
              <a:tblPr firstRow="1" bandRow="1">
                <a:tableStyleId>{5940675A-B579-460E-94D1-54222C63F5DA}</a:tableStyleId>
              </a:tblPr>
              <a:tblGrid>
                <a:gridCol w="2236328">
                  <a:extLst>
                    <a:ext uri="{9D8B030D-6E8A-4147-A177-3AD203B41FA5}">
                      <a16:colId xmlns:a16="http://schemas.microsoft.com/office/drawing/2014/main" val="3733385602"/>
                    </a:ext>
                  </a:extLst>
                </a:gridCol>
                <a:gridCol w="3522133">
                  <a:extLst>
                    <a:ext uri="{9D8B030D-6E8A-4147-A177-3AD203B41FA5}">
                      <a16:colId xmlns:a16="http://schemas.microsoft.com/office/drawing/2014/main" val="1148481703"/>
                    </a:ext>
                  </a:extLst>
                </a:gridCol>
              </a:tblGrid>
              <a:tr h="406641">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err="1">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mkdir</a:t>
                      </a: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 projects </a:t>
                      </a:r>
                    </a:p>
                  </a:txBody>
                  <a:tcPr/>
                </a:tc>
                <a:tc>
                  <a:txBody>
                    <a:bodyPr/>
                    <a:lstStyle/>
                    <a:p>
                      <a:r>
                        <a:rPr lang="en-US" dirty="0" err="1"/>
                        <a:t>Tạo</a:t>
                      </a:r>
                      <a:r>
                        <a:rPr lang="en-US" dirty="0"/>
                        <a:t> folder project</a:t>
                      </a:r>
                    </a:p>
                  </a:txBody>
                  <a:tcPr/>
                </a:tc>
                <a:extLst>
                  <a:ext uri="{0D108BD9-81ED-4DB2-BD59-A6C34878D82A}">
                    <a16:rowId xmlns:a16="http://schemas.microsoft.com/office/drawing/2014/main" val="470965514"/>
                  </a:ext>
                </a:extLst>
              </a:tr>
              <a:tr h="345904">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cd projects</a:t>
                      </a:r>
                    </a:p>
                  </a:txBody>
                  <a:tcPr/>
                </a:tc>
                <a:tc>
                  <a:txBody>
                    <a:bodyPr/>
                    <a:lstStyle/>
                    <a:p>
                      <a:r>
                        <a:rPr lang="en-US" dirty="0" err="1"/>
                        <a:t>Đi</a:t>
                      </a:r>
                      <a:r>
                        <a:rPr lang="en-US" dirty="0"/>
                        <a:t> </a:t>
                      </a:r>
                      <a:r>
                        <a:rPr lang="en-US" dirty="0" err="1"/>
                        <a:t>đến</a:t>
                      </a:r>
                      <a:r>
                        <a:rPr lang="en-US" dirty="0"/>
                        <a:t> folder project</a:t>
                      </a:r>
                    </a:p>
                  </a:txBody>
                  <a:tcPr/>
                </a:tc>
                <a:extLst>
                  <a:ext uri="{0D108BD9-81ED-4DB2-BD59-A6C34878D82A}">
                    <a16:rowId xmlns:a16="http://schemas.microsoft.com/office/drawing/2014/main" val="3945972231"/>
                  </a:ext>
                </a:extLst>
              </a:tr>
              <a:tr h="345904">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err="1">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mkdir</a:t>
                      </a: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 </a:t>
                      </a:r>
                      <a:r>
                        <a:rPr kumimoji="0" lang="en-US" sz="1800" b="0" i="0" u="none" strike="noStrike" kern="1200" cap="none" spc="0" normalizeH="0" baseline="0" noProof="0" dirty="0" err="1">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helloworld</a:t>
                      </a:r>
                      <a:endPar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endParaRPr>
                    </a:p>
                  </a:txBody>
                  <a:tcPr/>
                </a:tc>
                <a:tc>
                  <a:txBody>
                    <a:bodyPr/>
                    <a:lstStyle/>
                    <a:p>
                      <a:r>
                        <a:rPr lang="en-US" dirty="0" err="1"/>
                        <a:t>Tạo</a:t>
                      </a:r>
                      <a:r>
                        <a:rPr lang="en-US" dirty="0"/>
                        <a:t> folder </a:t>
                      </a:r>
                      <a:r>
                        <a:rPr lang="en-US" dirty="0" err="1"/>
                        <a:t>helloworld</a:t>
                      </a:r>
                      <a:endParaRPr lang="en-US" dirty="0"/>
                    </a:p>
                  </a:txBody>
                  <a:tcPr/>
                </a:tc>
                <a:extLst>
                  <a:ext uri="{0D108BD9-81ED-4DB2-BD59-A6C34878D82A}">
                    <a16:rowId xmlns:a16="http://schemas.microsoft.com/office/drawing/2014/main" val="3572410781"/>
                  </a:ext>
                </a:extLst>
              </a:tr>
              <a:tr h="345904">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cd </a:t>
                      </a:r>
                      <a:r>
                        <a:rPr kumimoji="0" lang="en-US" sz="1800" b="0" i="0" u="none" strike="noStrike" kern="1200" cap="none" spc="0" normalizeH="0" baseline="0" noProof="0" dirty="0" err="1">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helloworld</a:t>
                      </a: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a:t>
                      </a:r>
                    </a:p>
                  </a:txBody>
                  <a:tcPr/>
                </a:tc>
                <a:tc>
                  <a:txBody>
                    <a:bodyPr/>
                    <a:lstStyle/>
                    <a:p>
                      <a:r>
                        <a:rPr lang="en-US" dirty="0" err="1"/>
                        <a:t>Đi</a:t>
                      </a:r>
                      <a:r>
                        <a:rPr lang="en-US" dirty="0"/>
                        <a:t> </a:t>
                      </a:r>
                      <a:r>
                        <a:rPr lang="en-US" dirty="0" err="1"/>
                        <a:t>đến</a:t>
                      </a:r>
                      <a:r>
                        <a:rPr lang="en-US" dirty="0"/>
                        <a:t> folder </a:t>
                      </a:r>
                      <a:r>
                        <a:rPr lang="en-US" dirty="0" err="1"/>
                        <a:t>helloworld</a:t>
                      </a:r>
                      <a:endParaRPr lang="en-US" dirty="0"/>
                    </a:p>
                  </a:txBody>
                  <a:tcPr/>
                </a:tc>
                <a:extLst>
                  <a:ext uri="{0D108BD9-81ED-4DB2-BD59-A6C34878D82A}">
                    <a16:rowId xmlns:a16="http://schemas.microsoft.com/office/drawing/2014/main" val="17927149"/>
                  </a:ext>
                </a:extLst>
              </a:tr>
              <a:tr h="345904">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FF0000"/>
                          </a:solidFill>
                          <a:effectLst/>
                          <a:uLnTx/>
                          <a:uFillTx/>
                          <a:latin typeface="Roboto" panose="02000000000000000000" pitchFamily="2" charset="0"/>
                          <a:ea typeface="Roboto" panose="02000000000000000000" pitchFamily="2" charset="0"/>
                          <a:cs typeface="Lato" panose="020F0502020204030203" pitchFamily="34" charset="0"/>
                        </a:rPr>
                        <a:t>code .</a:t>
                      </a:r>
                    </a:p>
                  </a:txBody>
                  <a:tcPr/>
                </a:tc>
                <a:tc>
                  <a:txBody>
                    <a:bodyPr/>
                    <a:lstStyle/>
                    <a:p>
                      <a:r>
                        <a:rPr lang="en-US" dirty="0" err="1"/>
                        <a:t>Mở</a:t>
                      </a:r>
                      <a:r>
                        <a:rPr lang="en-US" dirty="0"/>
                        <a:t> VS Code </a:t>
                      </a:r>
                      <a:r>
                        <a:rPr lang="en-US" dirty="0" err="1"/>
                        <a:t>từ</a:t>
                      </a:r>
                      <a:r>
                        <a:rPr lang="en-US" dirty="0"/>
                        <a:t> folder </a:t>
                      </a:r>
                      <a:r>
                        <a:rPr lang="en-US" dirty="0" err="1"/>
                        <a:t>helloworld</a:t>
                      </a:r>
                      <a:endParaRPr lang="en-US" dirty="0"/>
                    </a:p>
                  </a:txBody>
                  <a:tcPr/>
                </a:tc>
                <a:extLst>
                  <a:ext uri="{0D108BD9-81ED-4DB2-BD59-A6C34878D82A}">
                    <a16:rowId xmlns:a16="http://schemas.microsoft.com/office/drawing/2014/main" val="348022789"/>
                  </a:ext>
                </a:extLst>
              </a:tr>
            </a:tbl>
          </a:graphicData>
        </a:graphic>
      </p:graphicFrame>
      <p:sp>
        <p:nvSpPr>
          <p:cNvPr id="8" name="TextBox 7">
            <a:extLst>
              <a:ext uri="{FF2B5EF4-FFF2-40B4-BE49-F238E27FC236}">
                <a16:creationId xmlns:a16="http://schemas.microsoft.com/office/drawing/2014/main" id="{6C6ECDA4-A89D-E241-35DD-1012D1F9719F}"/>
              </a:ext>
            </a:extLst>
          </p:cNvPr>
          <p:cNvSpPr txBox="1"/>
          <p:nvPr/>
        </p:nvSpPr>
        <p:spPr>
          <a:xfrm>
            <a:off x="383986" y="4202972"/>
            <a:ext cx="5758461" cy="830997"/>
          </a:xfrm>
          <a:prstGeom prst="rect">
            <a:avLst/>
          </a:prstGeom>
          <a:noFill/>
        </p:spPr>
        <p:txBody>
          <a:bodyPr wrap="square">
            <a:spAutoFit/>
          </a:bodyPr>
          <a:lstStyle/>
          <a:p>
            <a:r>
              <a:rPr lang="en-US" sz="2400" dirty="0" err="1"/>
              <a:t>Hoặc</a:t>
            </a:r>
            <a:r>
              <a:rPr lang="en-US" sz="2400" dirty="0"/>
              <a:t> </a:t>
            </a:r>
            <a:r>
              <a:rPr lang="en-US" sz="2400" dirty="0" err="1"/>
              <a:t>mở</a:t>
            </a:r>
            <a:r>
              <a:rPr lang="en-US" sz="2400" dirty="0"/>
              <a:t> VS Code </a:t>
            </a:r>
            <a:r>
              <a:rPr lang="en-US" sz="2400" dirty="0" err="1"/>
              <a:t>và</a:t>
            </a:r>
            <a:r>
              <a:rPr lang="en-US" sz="2400" dirty="0"/>
              <a:t> </a:t>
            </a:r>
            <a:r>
              <a:rPr lang="en-US" sz="2400" dirty="0" err="1"/>
              <a:t>chọn</a:t>
            </a:r>
            <a:r>
              <a:rPr lang="en-US" sz="2400" dirty="0"/>
              <a:t> Open Folder </a:t>
            </a:r>
            <a:br>
              <a:rPr lang="en-US" sz="2400" dirty="0"/>
            </a:br>
            <a:r>
              <a:rPr lang="en-US" sz="2400" dirty="0"/>
              <a:t>=&gt; </a:t>
            </a:r>
            <a:r>
              <a:rPr lang="en-US" sz="2400" dirty="0" err="1"/>
              <a:t>mở</a:t>
            </a:r>
            <a:r>
              <a:rPr lang="en-US" sz="2400" dirty="0"/>
              <a:t> Folder “Hello World”</a:t>
            </a:r>
          </a:p>
        </p:txBody>
      </p:sp>
      <p:sp>
        <p:nvSpPr>
          <p:cNvPr id="9" name="Rectangle 8">
            <a:extLst>
              <a:ext uri="{FF2B5EF4-FFF2-40B4-BE49-F238E27FC236}">
                <a16:creationId xmlns:a16="http://schemas.microsoft.com/office/drawing/2014/main" id="{FA541801-57F0-F1B8-3DB1-1E026921847C}"/>
              </a:ext>
            </a:extLst>
          </p:cNvPr>
          <p:cNvSpPr/>
          <p:nvPr/>
        </p:nvSpPr>
        <p:spPr>
          <a:xfrm>
            <a:off x="7125735" y="3681307"/>
            <a:ext cx="2352510" cy="775650"/>
          </a:xfrm>
          <a:prstGeom prst="rect">
            <a:avLst/>
          </a:prstGeom>
          <a:noFill/>
          <a:ln w="762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US"/>
          </a:p>
        </p:txBody>
      </p:sp>
    </p:spTree>
    <p:extLst>
      <p:ext uri="{BB962C8B-B14F-4D97-AF65-F5344CB8AC3E}">
        <p14:creationId xmlns:p14="http://schemas.microsoft.com/office/powerpoint/2010/main" val="76628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9737-9FCF-2F97-9D05-122C4A78D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19FAD-781F-A7D4-F4C4-FEBAD8C05B62}"/>
              </a:ext>
            </a:extLst>
          </p:cNvPr>
          <p:cNvSpPr>
            <a:spLocks noGrp="1"/>
          </p:cNvSpPr>
          <p:nvPr>
            <p:ph type="title"/>
          </p:nvPr>
        </p:nvSpPr>
        <p:spPr/>
        <p:txBody>
          <a:bodyPr/>
          <a:lstStyle/>
          <a:p>
            <a:r>
              <a:rPr lang="en-US" dirty="0"/>
              <a:t>3. </a:t>
            </a:r>
            <a:r>
              <a:rPr lang="en-US" dirty="0" err="1"/>
              <a:t>Tạo</a:t>
            </a:r>
            <a:r>
              <a:rPr lang="en-US" dirty="0"/>
              <a:t> project </a:t>
            </a:r>
            <a:r>
              <a:rPr lang="en-US" dirty="0" err="1"/>
              <a:t>và</a:t>
            </a:r>
            <a:r>
              <a:rPr lang="en-US" dirty="0"/>
              <a:t> </a:t>
            </a:r>
            <a:r>
              <a:rPr lang="en-US" dirty="0" err="1"/>
              <a:t>viết</a:t>
            </a:r>
            <a:r>
              <a:rPr lang="en-US" dirty="0"/>
              <a:t> code</a:t>
            </a:r>
          </a:p>
        </p:txBody>
      </p:sp>
      <p:sp>
        <p:nvSpPr>
          <p:cNvPr id="4" name="Slide Number Placeholder 3">
            <a:extLst>
              <a:ext uri="{FF2B5EF4-FFF2-40B4-BE49-F238E27FC236}">
                <a16:creationId xmlns:a16="http://schemas.microsoft.com/office/drawing/2014/main" id="{8F0C7EF9-23F0-DD72-8DF9-506218DD29BC}"/>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4098" name="Picture 2" descr="File Explorer New File button">
            <a:extLst>
              <a:ext uri="{FF2B5EF4-FFF2-40B4-BE49-F238E27FC236}">
                <a16:creationId xmlns:a16="http://schemas.microsoft.com/office/drawing/2014/main" id="{947DA832-4D56-CF3E-FB78-BCEEF404BF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3867" y="2085965"/>
            <a:ext cx="4245844" cy="197716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FAF45E-53E6-EA18-892F-C9D07EC61B4F}"/>
              </a:ext>
            </a:extLst>
          </p:cNvPr>
          <p:cNvSpPr txBox="1"/>
          <p:nvPr/>
        </p:nvSpPr>
        <p:spPr>
          <a:xfrm>
            <a:off x="1070775" y="2177629"/>
            <a:ext cx="6138403" cy="1938992"/>
          </a:xfrm>
          <a:prstGeom prst="rect">
            <a:avLst/>
          </a:prstGeom>
          <a:noFill/>
        </p:spPr>
        <p:txBody>
          <a:bodyPr wrap="square">
            <a:spAutoFit/>
          </a:bodyPr>
          <a:lstStyle/>
          <a:p>
            <a:r>
              <a:rPr lang="en-US" sz="2400" dirty="0"/>
              <a:t>#include &lt;iostream&gt;</a:t>
            </a:r>
          </a:p>
          <a:p>
            <a:r>
              <a:rPr lang="en-US" sz="2400" dirty="0"/>
              <a:t>int main()</a:t>
            </a:r>
          </a:p>
          <a:p>
            <a:r>
              <a:rPr lang="en-US" sz="2400" dirty="0"/>
              <a:t>{</a:t>
            </a:r>
          </a:p>
          <a:p>
            <a:r>
              <a:rPr lang="en-US" sz="2400" dirty="0"/>
              <a:t>    std::</a:t>
            </a:r>
            <a:r>
              <a:rPr lang="en-US" sz="2400" dirty="0" err="1"/>
              <a:t>cout</a:t>
            </a:r>
            <a:r>
              <a:rPr lang="en-US" sz="2400" dirty="0"/>
              <a:t> &lt;&lt; "Hello World" &lt;&lt; std::</a:t>
            </a:r>
            <a:r>
              <a:rPr lang="en-US" sz="2400" dirty="0" err="1"/>
              <a:t>endl</a:t>
            </a:r>
            <a:r>
              <a:rPr lang="en-US" sz="2400" dirty="0"/>
              <a:t>;</a:t>
            </a:r>
          </a:p>
          <a:p>
            <a:r>
              <a:rPr lang="en-US" sz="2400" dirty="0"/>
              <a:t>}</a:t>
            </a:r>
          </a:p>
        </p:txBody>
      </p:sp>
      <p:sp>
        <p:nvSpPr>
          <p:cNvPr id="8" name="TextBox 7">
            <a:extLst>
              <a:ext uri="{FF2B5EF4-FFF2-40B4-BE49-F238E27FC236}">
                <a16:creationId xmlns:a16="http://schemas.microsoft.com/office/drawing/2014/main" id="{B10204CC-29D6-FE58-8CC5-3E2AC0C9B18C}"/>
              </a:ext>
            </a:extLst>
          </p:cNvPr>
          <p:cNvSpPr txBox="1"/>
          <p:nvPr/>
        </p:nvSpPr>
        <p:spPr>
          <a:xfrm>
            <a:off x="338736" y="829886"/>
            <a:ext cx="12005664" cy="1384995"/>
          </a:xfrm>
          <a:prstGeom prst="rect">
            <a:avLst/>
          </a:prstGeom>
          <a:noFill/>
        </p:spPr>
        <p:txBody>
          <a:bodyPr wrap="square">
            <a:spAutoFit/>
          </a:bodyPr>
          <a:lstStyle/>
          <a:p>
            <a:r>
              <a:rPr lang="en-US" sz="2800" dirty="0" err="1"/>
              <a:t>Chọn</a:t>
            </a:r>
            <a:r>
              <a:rPr lang="en-US" sz="2800" dirty="0"/>
              <a:t> </a:t>
            </a:r>
            <a:r>
              <a:rPr lang="en-US" sz="2800" dirty="0" err="1"/>
              <a:t>tạo</a:t>
            </a:r>
            <a:r>
              <a:rPr lang="en-US" sz="2800" dirty="0"/>
              <a:t> file </a:t>
            </a:r>
            <a:r>
              <a:rPr lang="en-US" sz="2800" dirty="0" err="1"/>
              <a:t>mới</a:t>
            </a:r>
            <a:r>
              <a:rPr lang="en-US" sz="2800" dirty="0"/>
              <a:t> (</a:t>
            </a:r>
            <a:r>
              <a:rPr lang="en-US" sz="2800" dirty="0" err="1"/>
              <a:t>tại</a:t>
            </a:r>
            <a:r>
              <a:rPr lang="en-US" sz="2800" dirty="0"/>
              <a:t> folder </a:t>
            </a:r>
            <a:r>
              <a:rPr lang="en-US" sz="2800" dirty="0" err="1"/>
              <a:t>Helloworld</a:t>
            </a:r>
            <a:r>
              <a:rPr lang="en-US" sz="2800" dirty="0"/>
              <a:t>)</a:t>
            </a:r>
          </a:p>
          <a:p>
            <a:pPr marL="457200" indent="-457200">
              <a:buFontTx/>
              <a:buChar char="-"/>
            </a:pPr>
            <a:r>
              <a:rPr lang="en-US" sz="2800" dirty="0" err="1"/>
              <a:t>tạo</a:t>
            </a:r>
            <a:r>
              <a:rPr lang="en-US" sz="2800" dirty="0"/>
              <a:t> file test.cpp(</a:t>
            </a:r>
            <a:r>
              <a:rPr lang="en-US" sz="2800" dirty="0" err="1"/>
              <a:t>đuôi</a:t>
            </a:r>
            <a:r>
              <a:rPr lang="en-US" sz="2800" dirty="0"/>
              <a:t> </a:t>
            </a:r>
            <a:r>
              <a:rPr lang="en-US" sz="2800" dirty="0" err="1"/>
              <a:t>bắt</a:t>
            </a:r>
            <a:r>
              <a:rPr lang="en-US" sz="2800" dirty="0"/>
              <a:t> </a:t>
            </a:r>
            <a:r>
              <a:rPr lang="en-US" sz="2800" dirty="0" err="1"/>
              <a:t>buộc</a:t>
            </a:r>
            <a:r>
              <a:rPr lang="en-US" sz="2800" dirty="0"/>
              <a:t> </a:t>
            </a:r>
            <a:r>
              <a:rPr lang="en-US" sz="2800" dirty="0" err="1">
                <a:solidFill>
                  <a:srgbClr val="FF0000"/>
                </a:solidFill>
              </a:rPr>
              <a:t>cpp</a:t>
            </a:r>
            <a:r>
              <a:rPr lang="en-US" sz="2800" dirty="0"/>
              <a:t> </a:t>
            </a:r>
            <a:r>
              <a:rPr lang="en-US" sz="2800" dirty="0" err="1"/>
              <a:t>để</a:t>
            </a:r>
            <a:r>
              <a:rPr lang="en-US" sz="2800" dirty="0"/>
              <a:t> </a:t>
            </a:r>
            <a:r>
              <a:rPr lang="en-US" sz="2800" dirty="0" err="1"/>
              <a:t>định</a:t>
            </a:r>
            <a:r>
              <a:rPr lang="en-US" sz="2800" dirty="0"/>
              <a:t> </a:t>
            </a:r>
            <a:r>
              <a:rPr lang="en-US" sz="2800" dirty="0" err="1"/>
              <a:t>dạng</a:t>
            </a:r>
            <a:r>
              <a:rPr lang="en-US" sz="2800" dirty="0"/>
              <a:t> </a:t>
            </a:r>
            <a:r>
              <a:rPr lang="en-US" sz="2800" dirty="0" err="1"/>
              <a:t>cho</a:t>
            </a:r>
            <a:r>
              <a:rPr lang="en-US" sz="2800" dirty="0"/>
              <a:t> </a:t>
            </a:r>
            <a:r>
              <a:rPr lang="en-US" sz="2800" dirty="0" err="1"/>
              <a:t>ngôn</a:t>
            </a:r>
            <a:r>
              <a:rPr lang="en-US" sz="2800" dirty="0"/>
              <a:t> </a:t>
            </a:r>
            <a:r>
              <a:rPr lang="en-US" sz="2800" dirty="0" err="1"/>
              <a:t>ngữ</a:t>
            </a:r>
            <a:r>
              <a:rPr lang="en-US" sz="2800" dirty="0"/>
              <a:t> C++)</a:t>
            </a:r>
          </a:p>
          <a:p>
            <a:pPr marL="457200" indent="-457200">
              <a:buFontTx/>
              <a:buChar char="-"/>
            </a:pPr>
            <a:r>
              <a:rPr lang="en-US" sz="2800" dirty="0" err="1"/>
              <a:t>Thêm</a:t>
            </a:r>
            <a:r>
              <a:rPr lang="en-US" sz="2800" dirty="0"/>
              <a:t> source code:</a:t>
            </a:r>
          </a:p>
        </p:txBody>
      </p:sp>
      <p:pic>
        <p:nvPicPr>
          <p:cNvPr id="1026" name="Picture 2" descr="Screenshot of helloworld.cpp and play button">
            <a:extLst>
              <a:ext uri="{FF2B5EF4-FFF2-40B4-BE49-F238E27FC236}">
                <a16:creationId xmlns:a16="http://schemas.microsoft.com/office/drawing/2014/main" id="{118EA92C-346B-49EA-A217-7598569D7D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954"/>
          <a:stretch>
            <a:fillRect/>
          </a:stretch>
        </p:blipFill>
        <p:spPr bwMode="auto">
          <a:xfrm>
            <a:off x="5448111" y="4344376"/>
            <a:ext cx="6451600" cy="1812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491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C1312-AC8C-9E1D-D888-368B4B0579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7F461-2908-D617-5E58-D20A1BC86DE2}"/>
              </a:ext>
            </a:extLst>
          </p:cNvPr>
          <p:cNvSpPr>
            <a:spLocks noGrp="1"/>
          </p:cNvSpPr>
          <p:nvPr>
            <p:ph type="title"/>
          </p:nvPr>
        </p:nvSpPr>
        <p:spPr/>
        <p:txBody>
          <a:bodyPr/>
          <a:lstStyle/>
          <a:p>
            <a:r>
              <a:rPr lang="en-US" dirty="0"/>
              <a:t>3. </a:t>
            </a:r>
            <a:r>
              <a:rPr lang="en-US" dirty="0" err="1"/>
              <a:t>Tạo</a:t>
            </a:r>
            <a:r>
              <a:rPr lang="en-US" dirty="0"/>
              <a:t> project </a:t>
            </a:r>
            <a:r>
              <a:rPr lang="en-US" dirty="0" err="1"/>
              <a:t>và</a:t>
            </a:r>
            <a:r>
              <a:rPr lang="en-US" dirty="0"/>
              <a:t> </a:t>
            </a:r>
            <a:r>
              <a:rPr lang="en-US" dirty="0" err="1"/>
              <a:t>viết</a:t>
            </a:r>
            <a:r>
              <a:rPr lang="en-US" dirty="0"/>
              <a:t> code</a:t>
            </a:r>
          </a:p>
        </p:txBody>
      </p:sp>
      <p:sp>
        <p:nvSpPr>
          <p:cNvPr id="4" name="Slide Number Placeholder 3">
            <a:extLst>
              <a:ext uri="{FF2B5EF4-FFF2-40B4-BE49-F238E27FC236}">
                <a16:creationId xmlns:a16="http://schemas.microsoft.com/office/drawing/2014/main" id="{6810094D-A821-D865-21DA-C6B34730AE47}"/>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8" name="TextBox 7">
            <a:extLst>
              <a:ext uri="{FF2B5EF4-FFF2-40B4-BE49-F238E27FC236}">
                <a16:creationId xmlns:a16="http://schemas.microsoft.com/office/drawing/2014/main" id="{FF20F05F-866B-4BD5-3325-573B3C011C42}"/>
              </a:ext>
            </a:extLst>
          </p:cNvPr>
          <p:cNvSpPr txBox="1"/>
          <p:nvPr/>
        </p:nvSpPr>
        <p:spPr>
          <a:xfrm>
            <a:off x="135535" y="765741"/>
            <a:ext cx="6332997" cy="2677656"/>
          </a:xfrm>
          <a:prstGeom prst="rect">
            <a:avLst/>
          </a:prstGeom>
          <a:noFill/>
        </p:spPr>
        <p:txBody>
          <a:bodyPr wrap="square">
            <a:spAutoFit/>
          </a:bodyPr>
          <a:lstStyle/>
          <a:p>
            <a:pPr marL="457200" indent="-457200">
              <a:buFontTx/>
              <a:buChar char="-"/>
            </a:pPr>
            <a:r>
              <a:rPr lang="en-US" sz="2800" dirty="0" err="1"/>
              <a:t>Ấn</a:t>
            </a:r>
            <a:r>
              <a:rPr lang="en-US" sz="2800" dirty="0"/>
              <a:t> </a:t>
            </a:r>
            <a:r>
              <a:rPr lang="en-US" sz="2800" dirty="0" err="1"/>
              <a:t>nút</a:t>
            </a:r>
            <a:r>
              <a:rPr lang="en-US" sz="2800" dirty="0"/>
              <a:t> “Play” </a:t>
            </a:r>
            <a:r>
              <a:rPr lang="en-US" sz="2800" dirty="0" err="1"/>
              <a:t>hoặc</a:t>
            </a:r>
            <a:r>
              <a:rPr lang="en-US" sz="2800" dirty="0"/>
              <a:t> Ctrl+F5 </a:t>
            </a:r>
            <a:r>
              <a:rPr lang="en-US" sz="2800" dirty="0" err="1"/>
              <a:t>để</a:t>
            </a:r>
            <a:r>
              <a:rPr lang="en-US" sz="2800" dirty="0"/>
              <a:t> </a:t>
            </a:r>
            <a:r>
              <a:rPr lang="en-US" sz="2800" dirty="0" err="1"/>
              <a:t>Chạy</a:t>
            </a:r>
            <a:r>
              <a:rPr lang="en-US" sz="2800" dirty="0"/>
              <a:t> </a:t>
            </a:r>
            <a:r>
              <a:rPr lang="en-US" sz="2800" dirty="0" err="1"/>
              <a:t>hoặc</a:t>
            </a:r>
            <a:r>
              <a:rPr lang="en-US" sz="2800" dirty="0"/>
              <a:t> Debug code</a:t>
            </a:r>
          </a:p>
          <a:p>
            <a:pPr marL="457200" indent="-457200">
              <a:buFontTx/>
              <a:buChar char="-"/>
            </a:pPr>
            <a:r>
              <a:rPr lang="en-US" sz="2800" dirty="0" err="1"/>
              <a:t>Chọn</a:t>
            </a:r>
            <a:r>
              <a:rPr lang="en-US" sz="2800" dirty="0"/>
              <a:t> </a:t>
            </a:r>
            <a:r>
              <a:rPr lang="en-US" sz="2800" b="1" dirty="0">
                <a:solidFill>
                  <a:srgbClr val="FF0000"/>
                </a:solidFill>
              </a:rPr>
              <a:t>C/C++: g++.exe build and debug active file </a:t>
            </a:r>
          </a:p>
          <a:p>
            <a:r>
              <a:rPr lang="en-US" sz="2800" dirty="0"/>
              <a:t>(</a:t>
            </a:r>
            <a:r>
              <a:rPr lang="en-US" sz="2800" dirty="0" err="1"/>
              <a:t>chỉ</a:t>
            </a:r>
            <a:r>
              <a:rPr lang="en-US" sz="2800" dirty="0"/>
              <a:t> </a:t>
            </a:r>
            <a:r>
              <a:rPr lang="en-US" sz="2800" dirty="0" err="1"/>
              <a:t>chọn</a:t>
            </a:r>
            <a:r>
              <a:rPr lang="en-US" sz="2800" dirty="0"/>
              <a:t> </a:t>
            </a:r>
            <a:r>
              <a:rPr lang="en-US" sz="2800" dirty="0" err="1"/>
              <a:t>một</a:t>
            </a:r>
            <a:r>
              <a:rPr lang="en-US" sz="2800" dirty="0"/>
              <a:t> </a:t>
            </a:r>
            <a:r>
              <a:rPr lang="en-US" sz="2800" dirty="0" err="1"/>
              <a:t>lần</a:t>
            </a:r>
            <a:r>
              <a:rPr lang="en-US" sz="2800" dirty="0"/>
              <a:t> </a:t>
            </a:r>
            <a:r>
              <a:rPr lang="en-US" sz="2800" dirty="0" err="1"/>
              <a:t>sẽ</a:t>
            </a:r>
            <a:r>
              <a:rPr lang="en-US" sz="2800" dirty="0"/>
              <a:t> </a:t>
            </a:r>
            <a:r>
              <a:rPr lang="en-US" sz="2800" dirty="0" err="1"/>
              <a:t>lưu</a:t>
            </a:r>
            <a:r>
              <a:rPr lang="en-US" sz="2800" dirty="0"/>
              <a:t> </a:t>
            </a:r>
            <a:r>
              <a:rPr lang="en-US" sz="2800" dirty="0" err="1"/>
              <a:t>trong</a:t>
            </a:r>
            <a:r>
              <a:rPr lang="en-US" sz="2800" dirty="0"/>
              <a:t> file </a:t>
            </a:r>
            <a:r>
              <a:rPr lang="en-US" sz="2800" dirty="0" err="1"/>
              <a:t>json</a:t>
            </a:r>
            <a:r>
              <a:rPr lang="en-US" sz="2800" dirty="0"/>
              <a:t>)</a:t>
            </a:r>
          </a:p>
          <a:p>
            <a:r>
              <a:rPr lang="en-US" sz="2800" dirty="0"/>
              <a:t>- </a:t>
            </a:r>
            <a:r>
              <a:rPr lang="en-US" sz="2800" dirty="0" err="1"/>
              <a:t>Kết</a:t>
            </a:r>
            <a:r>
              <a:rPr lang="en-US" sz="2800" dirty="0"/>
              <a:t> </a:t>
            </a:r>
            <a:r>
              <a:rPr lang="en-US" sz="2800" dirty="0" err="1"/>
              <a:t>quả</a:t>
            </a:r>
            <a:r>
              <a:rPr lang="en-US" sz="2800" dirty="0"/>
              <a:t> </a:t>
            </a:r>
            <a:r>
              <a:rPr lang="en-US" sz="2800" dirty="0" err="1"/>
              <a:t>cần</a:t>
            </a:r>
            <a:r>
              <a:rPr lang="en-US" sz="2800" dirty="0"/>
              <a:t> </a:t>
            </a:r>
            <a:r>
              <a:rPr lang="en-US" sz="2800" dirty="0" err="1"/>
              <a:t>hiển</a:t>
            </a:r>
            <a:r>
              <a:rPr lang="en-US" sz="2800" dirty="0"/>
              <a:t> </a:t>
            </a:r>
            <a:r>
              <a:rPr lang="en-US" sz="2800" dirty="0" err="1"/>
              <a:t>thị</a:t>
            </a:r>
            <a:r>
              <a:rPr lang="en-US" sz="2800" dirty="0"/>
              <a:t> </a:t>
            </a:r>
            <a:r>
              <a:rPr lang="en-US" sz="2800" dirty="0" err="1"/>
              <a:t>như</a:t>
            </a:r>
            <a:r>
              <a:rPr lang="en-US" sz="2800" dirty="0"/>
              <a:t> </a:t>
            </a:r>
            <a:r>
              <a:rPr lang="en-US" sz="2800" dirty="0" err="1"/>
              <a:t>ảnh</a:t>
            </a:r>
            <a:r>
              <a:rPr lang="en-US" sz="2800" dirty="0"/>
              <a:t> </a:t>
            </a:r>
            <a:r>
              <a:rPr lang="en-US" sz="2800" dirty="0" err="1"/>
              <a:t>nền</a:t>
            </a:r>
            <a:r>
              <a:rPr lang="en-US" sz="2800" dirty="0"/>
              <a:t> </a:t>
            </a:r>
            <a:r>
              <a:rPr lang="en-US" sz="2800" dirty="0" err="1"/>
              <a:t>trắng</a:t>
            </a:r>
            <a:endParaRPr lang="en-US" sz="2800" dirty="0"/>
          </a:p>
        </p:txBody>
      </p:sp>
      <p:pic>
        <p:nvPicPr>
          <p:cNvPr id="2050" name="Picture 2" descr="Screenshot of helloworld.cpp and play button">
            <a:extLst>
              <a:ext uri="{FF2B5EF4-FFF2-40B4-BE49-F238E27FC236}">
                <a16:creationId xmlns:a16="http://schemas.microsoft.com/office/drawing/2014/main" id="{1A8734B8-CBFE-3A95-77C8-E370A497C5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867" y="1018860"/>
            <a:ext cx="5420499" cy="12949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 debug configuration dropdown">
            <a:extLst>
              <a:ext uri="{FF2B5EF4-FFF2-40B4-BE49-F238E27FC236}">
                <a16:creationId xmlns:a16="http://schemas.microsoft.com/office/drawing/2014/main" id="{EFEAA2FC-2948-30B3-1D13-E452CD042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5002" y="2479032"/>
            <a:ext cx="5426910" cy="27586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B17E8F7-CDD3-1264-A488-5BF4BA7431B5}"/>
              </a:ext>
            </a:extLst>
          </p:cNvPr>
          <p:cNvPicPr>
            <a:picLocks noChangeAspect="1"/>
          </p:cNvPicPr>
          <p:nvPr/>
        </p:nvPicPr>
        <p:blipFill>
          <a:blip r:embed="rId4"/>
          <a:stretch>
            <a:fillRect/>
          </a:stretch>
        </p:blipFill>
        <p:spPr>
          <a:xfrm>
            <a:off x="377907" y="3858371"/>
            <a:ext cx="2232853" cy="2758679"/>
          </a:xfrm>
          <a:prstGeom prst="rect">
            <a:avLst/>
          </a:prstGeom>
        </p:spPr>
      </p:pic>
      <p:pic>
        <p:nvPicPr>
          <p:cNvPr id="7" name="Picture 6">
            <a:extLst>
              <a:ext uri="{FF2B5EF4-FFF2-40B4-BE49-F238E27FC236}">
                <a16:creationId xmlns:a16="http://schemas.microsoft.com/office/drawing/2014/main" id="{17DA4D0A-66AA-A071-CEF6-BE982407E9B7}"/>
              </a:ext>
            </a:extLst>
          </p:cNvPr>
          <p:cNvPicPr>
            <a:picLocks noChangeAspect="1"/>
          </p:cNvPicPr>
          <p:nvPr/>
        </p:nvPicPr>
        <p:blipFill>
          <a:blip r:embed="rId5"/>
          <a:stretch>
            <a:fillRect/>
          </a:stretch>
        </p:blipFill>
        <p:spPr>
          <a:xfrm>
            <a:off x="3224556" y="4447922"/>
            <a:ext cx="6826621" cy="2044953"/>
          </a:xfrm>
          <a:prstGeom prst="rect">
            <a:avLst/>
          </a:prstGeom>
        </p:spPr>
      </p:pic>
    </p:spTree>
    <p:extLst>
      <p:ext uri="{BB962C8B-B14F-4D97-AF65-F5344CB8AC3E}">
        <p14:creationId xmlns:p14="http://schemas.microsoft.com/office/powerpoint/2010/main" val="3104970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9944-9AA6-F6F3-F396-60373D6AB5C3}"/>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Cấu</a:t>
            </a:r>
            <a:r>
              <a:rPr lang="en-US" dirty="0"/>
              <a:t> </a:t>
            </a:r>
            <a:r>
              <a:rPr lang="en-US" dirty="0" err="1"/>
              <a:t>trúc</a:t>
            </a:r>
            <a:r>
              <a:rPr lang="en-US" dirty="0"/>
              <a:t> </a:t>
            </a:r>
            <a:r>
              <a:rPr lang="en-US" dirty="0" err="1"/>
              <a:t>chương</a:t>
            </a:r>
            <a:r>
              <a:rPr lang="en-US" dirty="0"/>
              <a:t> </a:t>
            </a:r>
            <a:r>
              <a:rPr lang="en-US" dirty="0" err="1"/>
              <a:t>trình</a:t>
            </a:r>
            <a:r>
              <a:rPr lang="en-US" dirty="0"/>
              <a:t> C++</a:t>
            </a:r>
          </a:p>
        </p:txBody>
      </p:sp>
      <p:sp>
        <p:nvSpPr>
          <p:cNvPr id="3" name="Text Placeholder 2">
            <a:extLst>
              <a:ext uri="{FF2B5EF4-FFF2-40B4-BE49-F238E27FC236}">
                <a16:creationId xmlns:a16="http://schemas.microsoft.com/office/drawing/2014/main" id="{22D5075C-9809-1E94-4592-FED483212E9E}"/>
              </a:ext>
            </a:extLst>
          </p:cNvPr>
          <p:cNvSpPr>
            <a:spLocks noGrp="1"/>
          </p:cNvSpPr>
          <p:nvPr>
            <p:ph type="body" sz="quarter" idx="13"/>
          </p:nvPr>
        </p:nvSpPr>
        <p:spPr/>
        <p:txBody>
          <a:bodyPr/>
          <a:lstStyle/>
          <a:p>
            <a:r>
              <a:rPr lang="en-US" dirty="0"/>
              <a:t>Thư </a:t>
            </a:r>
            <a:r>
              <a:rPr lang="en-US" dirty="0" err="1"/>
              <a:t>viện</a:t>
            </a:r>
            <a:r>
              <a:rPr lang="en-US" dirty="0"/>
              <a:t> </a:t>
            </a:r>
            <a:r>
              <a:rPr lang="en-US" dirty="0" err="1"/>
              <a:t>tổng</a:t>
            </a:r>
            <a:r>
              <a:rPr lang="en-US" dirty="0"/>
              <a:t> </a:t>
            </a:r>
            <a:r>
              <a:rPr lang="en-US" dirty="0" err="1"/>
              <a:t>hợp</a:t>
            </a:r>
            <a:r>
              <a:rPr lang="en-US" dirty="0"/>
              <a:t>: #include &lt;bits/</a:t>
            </a:r>
            <a:r>
              <a:rPr lang="en-US" dirty="0" err="1"/>
              <a:t>stdc</a:t>
            </a:r>
            <a:r>
              <a:rPr lang="en-US" dirty="0"/>
              <a:t>++.h&gt;</a:t>
            </a:r>
          </a:p>
          <a:p>
            <a:pPr marL="0" indent="0">
              <a:buNone/>
            </a:pPr>
            <a:r>
              <a:rPr lang="en-US" b="1" dirty="0">
                <a:solidFill>
                  <a:srgbClr val="FF0000"/>
                </a:solidFill>
              </a:rPr>
              <a:t>=&gt; </a:t>
            </a:r>
            <a:r>
              <a:rPr lang="en-US" b="1" dirty="0" err="1">
                <a:solidFill>
                  <a:srgbClr val="FF0000"/>
                </a:solidFill>
              </a:rPr>
              <a:t>chứa</a:t>
            </a:r>
            <a:r>
              <a:rPr lang="en-US" b="1" dirty="0">
                <a:solidFill>
                  <a:srgbClr val="FF0000"/>
                </a:solidFill>
              </a:rPr>
              <a:t> </a:t>
            </a:r>
            <a:r>
              <a:rPr lang="en-US" b="1" dirty="0" err="1">
                <a:solidFill>
                  <a:srgbClr val="FF0000"/>
                </a:solidFill>
              </a:rPr>
              <a:t>toàn</a:t>
            </a:r>
            <a:r>
              <a:rPr lang="en-US" b="1" dirty="0">
                <a:solidFill>
                  <a:srgbClr val="FF0000"/>
                </a:solidFill>
              </a:rPr>
              <a:t> </a:t>
            </a:r>
            <a:r>
              <a:rPr lang="en-US" b="1" dirty="0" err="1">
                <a:solidFill>
                  <a:srgbClr val="FF0000"/>
                </a:solidFill>
              </a:rPr>
              <a:t>bộ</a:t>
            </a:r>
            <a:r>
              <a:rPr lang="en-US" b="1" dirty="0">
                <a:solidFill>
                  <a:srgbClr val="FF0000"/>
                </a:solidFill>
              </a:rPr>
              <a:t> </a:t>
            </a:r>
            <a:r>
              <a:rPr lang="en-US" b="1" dirty="0" err="1">
                <a:solidFill>
                  <a:srgbClr val="FF0000"/>
                </a:solidFill>
              </a:rPr>
              <a:t>thư</a:t>
            </a:r>
            <a:r>
              <a:rPr lang="en-US" b="1" dirty="0">
                <a:solidFill>
                  <a:srgbClr val="FF0000"/>
                </a:solidFill>
              </a:rPr>
              <a:t> </a:t>
            </a:r>
            <a:r>
              <a:rPr lang="en-US" b="1" dirty="0" err="1">
                <a:solidFill>
                  <a:srgbClr val="FF0000"/>
                </a:solidFill>
              </a:rPr>
              <a:t>viện</a:t>
            </a:r>
            <a:r>
              <a:rPr lang="en-US" b="1" dirty="0">
                <a:solidFill>
                  <a:srgbClr val="FF0000"/>
                </a:solidFill>
              </a:rPr>
              <a:t> </a:t>
            </a:r>
            <a:r>
              <a:rPr lang="en-US" b="1" dirty="0" err="1">
                <a:solidFill>
                  <a:srgbClr val="FF0000"/>
                </a:solidFill>
              </a:rPr>
              <a:t>chuẩn</a:t>
            </a:r>
            <a:r>
              <a:rPr lang="en-US" b="1" dirty="0">
                <a:solidFill>
                  <a:srgbClr val="FF0000"/>
                </a:solidFill>
              </a:rPr>
              <a:t> </a:t>
            </a:r>
            <a:r>
              <a:rPr lang="en-US" b="1" dirty="0" err="1">
                <a:solidFill>
                  <a:srgbClr val="FF0000"/>
                </a:solidFill>
              </a:rPr>
              <a:t>của</a:t>
            </a:r>
            <a:r>
              <a:rPr lang="en-US" b="1" dirty="0">
                <a:solidFill>
                  <a:srgbClr val="FF0000"/>
                </a:solidFill>
              </a:rPr>
              <a:t> C/C++</a:t>
            </a:r>
          </a:p>
          <a:p>
            <a:r>
              <a:rPr lang="en-US" dirty="0"/>
              <a:t>Khai </a:t>
            </a:r>
            <a:r>
              <a:rPr lang="en-US" dirty="0" err="1"/>
              <a:t>báo</a:t>
            </a:r>
            <a:r>
              <a:rPr lang="en-US" dirty="0"/>
              <a:t> </a:t>
            </a:r>
            <a:r>
              <a:rPr lang="en-US" dirty="0" err="1"/>
              <a:t>lẻ</a:t>
            </a:r>
            <a:r>
              <a:rPr lang="en-US" dirty="0"/>
              <a:t>: &lt;iostream&gt; </a:t>
            </a:r>
            <a:r>
              <a:rPr lang="en-US" dirty="0" err="1"/>
              <a:t>hoặc</a:t>
            </a:r>
            <a:r>
              <a:rPr lang="en-US" dirty="0"/>
              <a:t> &lt;vector&gt;</a:t>
            </a:r>
          </a:p>
          <a:p>
            <a:pPr>
              <a:buFont typeface="Symbol" panose="05050102010706020507" pitchFamily="18" charset="2"/>
              <a:buChar char="Þ"/>
            </a:pPr>
            <a:r>
              <a:rPr lang="en-US" b="1" dirty="0">
                <a:solidFill>
                  <a:srgbClr val="FF0000"/>
                </a:solidFill>
              </a:rPr>
              <a:t>Thao </a:t>
            </a:r>
            <a:r>
              <a:rPr lang="en-US" b="1" dirty="0" err="1">
                <a:solidFill>
                  <a:srgbClr val="FF0000"/>
                </a:solidFill>
              </a:rPr>
              <a:t>tác</a:t>
            </a:r>
            <a:r>
              <a:rPr lang="en-US" b="1" dirty="0">
                <a:solidFill>
                  <a:srgbClr val="FF0000"/>
                </a:solidFill>
              </a:rPr>
              <a:t> </a:t>
            </a:r>
            <a:r>
              <a:rPr lang="en-US" b="1" dirty="0" err="1">
                <a:solidFill>
                  <a:srgbClr val="FF0000"/>
                </a:solidFill>
              </a:rPr>
              <a:t>nhập</a:t>
            </a:r>
            <a:r>
              <a:rPr lang="en-US" b="1" dirty="0">
                <a:solidFill>
                  <a:srgbClr val="FF0000"/>
                </a:solidFill>
              </a:rPr>
              <a:t> </a:t>
            </a:r>
            <a:r>
              <a:rPr lang="en-US" b="1" dirty="0" err="1">
                <a:solidFill>
                  <a:srgbClr val="FF0000"/>
                </a:solidFill>
              </a:rPr>
              <a:t>xuất</a:t>
            </a:r>
            <a:r>
              <a:rPr lang="en-US" b="1" dirty="0">
                <a:solidFill>
                  <a:srgbClr val="FF0000"/>
                </a:solidFill>
              </a:rPr>
              <a:t> </a:t>
            </a:r>
            <a:r>
              <a:rPr lang="en-US" b="1" dirty="0" err="1">
                <a:solidFill>
                  <a:srgbClr val="FF0000"/>
                </a:solidFill>
              </a:rPr>
              <a:t>dữ</a:t>
            </a:r>
            <a:r>
              <a:rPr lang="en-US" b="1" dirty="0">
                <a:solidFill>
                  <a:srgbClr val="FF0000"/>
                </a:solidFill>
              </a:rPr>
              <a:t> </a:t>
            </a:r>
            <a:r>
              <a:rPr lang="en-US" b="1" dirty="0" err="1">
                <a:solidFill>
                  <a:srgbClr val="FF0000"/>
                </a:solidFill>
              </a:rPr>
              <a:t>liệu</a:t>
            </a:r>
            <a:r>
              <a:rPr lang="en-US" b="1" dirty="0">
                <a:solidFill>
                  <a:srgbClr val="FF0000"/>
                </a:solidFill>
              </a:rPr>
              <a:t> </a:t>
            </a:r>
            <a:r>
              <a:rPr lang="en-US" b="1" dirty="0" err="1">
                <a:solidFill>
                  <a:srgbClr val="FF0000"/>
                </a:solidFill>
              </a:rPr>
              <a:t>cơ</a:t>
            </a:r>
            <a:r>
              <a:rPr lang="en-US" b="1" dirty="0">
                <a:solidFill>
                  <a:srgbClr val="FF0000"/>
                </a:solidFill>
              </a:rPr>
              <a:t> </a:t>
            </a:r>
            <a:r>
              <a:rPr lang="en-US" b="1" dirty="0" err="1">
                <a:solidFill>
                  <a:srgbClr val="FF0000"/>
                </a:solidFill>
              </a:rPr>
              <a:t>bản</a:t>
            </a:r>
            <a:r>
              <a:rPr lang="en-US" b="1" dirty="0">
                <a:solidFill>
                  <a:srgbClr val="FF0000"/>
                </a:solidFill>
              </a:rPr>
              <a:t> </a:t>
            </a:r>
            <a:r>
              <a:rPr lang="en-US" b="1" dirty="0" err="1">
                <a:solidFill>
                  <a:srgbClr val="FF0000"/>
                </a:solidFill>
              </a:rPr>
              <a:t>như</a:t>
            </a:r>
            <a:r>
              <a:rPr lang="en-US" b="1" dirty="0">
                <a:solidFill>
                  <a:srgbClr val="FF0000"/>
                </a:solidFill>
              </a:rPr>
              <a:t> </a:t>
            </a:r>
            <a:r>
              <a:rPr lang="en-US" b="1" dirty="0" err="1">
                <a:solidFill>
                  <a:srgbClr val="FF0000"/>
                </a:solidFill>
              </a:rPr>
              <a:t>đọc</a:t>
            </a:r>
            <a:r>
              <a:rPr lang="en-US" b="1" dirty="0">
                <a:solidFill>
                  <a:srgbClr val="FF0000"/>
                </a:solidFill>
              </a:rPr>
              <a:t> </a:t>
            </a:r>
            <a:r>
              <a:rPr lang="en-US" b="1" dirty="0" err="1">
                <a:solidFill>
                  <a:srgbClr val="FF0000"/>
                </a:solidFill>
              </a:rPr>
              <a:t>từ</a:t>
            </a:r>
            <a:r>
              <a:rPr lang="en-US" b="1" dirty="0">
                <a:solidFill>
                  <a:srgbClr val="FF0000"/>
                </a:solidFill>
              </a:rPr>
              <a:t> </a:t>
            </a:r>
            <a:r>
              <a:rPr lang="en-US" b="1" dirty="0" err="1">
                <a:solidFill>
                  <a:srgbClr val="FF0000"/>
                </a:solidFill>
              </a:rPr>
              <a:t>bàn</a:t>
            </a:r>
            <a:r>
              <a:rPr lang="en-US" b="1" dirty="0">
                <a:solidFill>
                  <a:srgbClr val="FF0000"/>
                </a:solidFill>
              </a:rPr>
              <a:t> </a:t>
            </a:r>
            <a:r>
              <a:rPr lang="en-US" b="1" dirty="0" err="1">
                <a:solidFill>
                  <a:srgbClr val="FF0000"/>
                </a:solidFill>
              </a:rPr>
              <a:t>phím</a:t>
            </a:r>
            <a:r>
              <a:rPr lang="en-US" b="1" dirty="0">
                <a:solidFill>
                  <a:srgbClr val="FF0000"/>
                </a:solidFill>
              </a:rPr>
              <a:t> </a:t>
            </a:r>
            <a:r>
              <a:rPr lang="en-US" b="1" dirty="0" err="1">
                <a:solidFill>
                  <a:srgbClr val="FF0000"/>
                </a:solidFill>
              </a:rPr>
              <a:t>và</a:t>
            </a:r>
            <a:r>
              <a:rPr lang="en-US" b="1" dirty="0">
                <a:solidFill>
                  <a:srgbClr val="FF0000"/>
                </a:solidFill>
              </a:rPr>
              <a:t> </a:t>
            </a:r>
            <a:r>
              <a:rPr lang="en-US" b="1" dirty="0" err="1">
                <a:solidFill>
                  <a:srgbClr val="FF0000"/>
                </a:solidFill>
              </a:rPr>
              <a:t>hiển</a:t>
            </a:r>
            <a:r>
              <a:rPr lang="en-US" b="1" dirty="0">
                <a:solidFill>
                  <a:srgbClr val="FF0000"/>
                </a:solidFill>
              </a:rPr>
              <a:t> </a:t>
            </a:r>
            <a:r>
              <a:rPr lang="en-US" b="1" dirty="0" err="1">
                <a:solidFill>
                  <a:srgbClr val="FF0000"/>
                </a:solidFill>
              </a:rPr>
              <a:t>thị</a:t>
            </a:r>
            <a:endParaRPr lang="en-US" b="1" dirty="0">
              <a:solidFill>
                <a:srgbClr val="FF0000"/>
              </a:solidFill>
            </a:endParaRPr>
          </a:p>
          <a:p>
            <a:pPr>
              <a:buFont typeface="Symbol" panose="05050102010706020507" pitchFamily="18" charset="2"/>
              <a:buChar char="Þ"/>
            </a:pPr>
            <a:r>
              <a:rPr lang="en-US" b="1" dirty="0">
                <a:solidFill>
                  <a:srgbClr val="FF0000"/>
                </a:solidFill>
              </a:rPr>
              <a:t>Thư </a:t>
            </a:r>
            <a:r>
              <a:rPr lang="en-US" b="1" dirty="0" err="1">
                <a:solidFill>
                  <a:srgbClr val="FF0000"/>
                </a:solidFill>
              </a:rPr>
              <a:t>viện</a:t>
            </a:r>
            <a:r>
              <a:rPr lang="en-US" b="1" dirty="0">
                <a:solidFill>
                  <a:srgbClr val="FF0000"/>
                </a:solidFill>
              </a:rPr>
              <a:t> vector </a:t>
            </a:r>
            <a:r>
              <a:rPr lang="en-US" b="1" dirty="0" err="1">
                <a:solidFill>
                  <a:srgbClr val="FF0000"/>
                </a:solidFill>
              </a:rPr>
              <a:t>để</a:t>
            </a:r>
            <a:r>
              <a:rPr lang="en-US" b="1" dirty="0">
                <a:solidFill>
                  <a:srgbClr val="FF0000"/>
                </a:solidFill>
              </a:rPr>
              <a:t> </a:t>
            </a:r>
            <a:r>
              <a:rPr lang="en-US" b="1" dirty="0" err="1">
                <a:solidFill>
                  <a:srgbClr val="FF0000"/>
                </a:solidFill>
              </a:rPr>
              <a:t>sử</a:t>
            </a:r>
            <a:r>
              <a:rPr lang="en-US" b="1" dirty="0">
                <a:solidFill>
                  <a:srgbClr val="FF0000"/>
                </a:solidFill>
              </a:rPr>
              <a:t> </a:t>
            </a:r>
            <a:r>
              <a:rPr lang="en-US" b="1" dirty="0" err="1">
                <a:solidFill>
                  <a:srgbClr val="FF0000"/>
                </a:solidFill>
              </a:rPr>
              <a:t>dụng</a:t>
            </a:r>
            <a:r>
              <a:rPr lang="en-US" b="1" dirty="0">
                <a:solidFill>
                  <a:srgbClr val="FF0000"/>
                </a:solidFill>
              </a:rPr>
              <a:t> </a:t>
            </a:r>
            <a:r>
              <a:rPr lang="en-US" b="1" dirty="0" err="1">
                <a:solidFill>
                  <a:srgbClr val="FF0000"/>
                </a:solidFill>
              </a:rPr>
              <a:t>kiểu</a:t>
            </a:r>
            <a:r>
              <a:rPr lang="en-US" b="1" dirty="0">
                <a:solidFill>
                  <a:srgbClr val="FF0000"/>
                </a:solidFill>
              </a:rPr>
              <a:t> </a:t>
            </a:r>
            <a:r>
              <a:rPr lang="en-US" b="1" dirty="0" err="1">
                <a:solidFill>
                  <a:srgbClr val="FF0000"/>
                </a:solidFill>
              </a:rPr>
              <a:t>dữ</a:t>
            </a:r>
            <a:r>
              <a:rPr lang="en-US" b="1" dirty="0">
                <a:solidFill>
                  <a:srgbClr val="FF0000"/>
                </a:solidFill>
              </a:rPr>
              <a:t> </a:t>
            </a:r>
            <a:r>
              <a:rPr lang="en-US" b="1" dirty="0" err="1">
                <a:solidFill>
                  <a:srgbClr val="FF0000"/>
                </a:solidFill>
              </a:rPr>
              <a:t>liệu</a:t>
            </a:r>
            <a:r>
              <a:rPr lang="en-US" b="1" dirty="0">
                <a:solidFill>
                  <a:srgbClr val="FF0000"/>
                </a:solidFill>
              </a:rPr>
              <a:t> vector</a:t>
            </a:r>
          </a:p>
          <a:p>
            <a:r>
              <a:rPr lang="en-US" dirty="0" err="1"/>
              <a:t>Không</a:t>
            </a:r>
            <a:r>
              <a:rPr lang="en-US" dirty="0"/>
              <a:t> </a:t>
            </a:r>
            <a:r>
              <a:rPr lang="en-US" dirty="0" err="1"/>
              <a:t>gian</a:t>
            </a:r>
            <a:r>
              <a:rPr lang="en-US" dirty="0"/>
              <a:t> </a:t>
            </a:r>
            <a:r>
              <a:rPr lang="en-US" dirty="0" err="1"/>
              <a:t>tên</a:t>
            </a:r>
            <a:r>
              <a:rPr lang="en-US" dirty="0"/>
              <a:t>: using namespace std;</a:t>
            </a:r>
          </a:p>
          <a:p>
            <a:pPr marL="0" indent="0">
              <a:buNone/>
            </a:pPr>
            <a:r>
              <a:rPr lang="en-US" b="1" dirty="0">
                <a:solidFill>
                  <a:srgbClr val="FF0000"/>
                </a:solidFill>
              </a:rPr>
              <a:t>=&gt; </a:t>
            </a:r>
            <a:r>
              <a:rPr lang="en-US" b="1" dirty="0" err="1">
                <a:solidFill>
                  <a:srgbClr val="FF0000"/>
                </a:solidFill>
              </a:rPr>
              <a:t>Giúp</a:t>
            </a:r>
            <a:r>
              <a:rPr lang="en-US" b="1" dirty="0">
                <a:solidFill>
                  <a:srgbClr val="FF0000"/>
                </a:solidFill>
              </a:rPr>
              <a:t> code </a:t>
            </a:r>
            <a:r>
              <a:rPr lang="en-US" b="1" dirty="0" err="1">
                <a:solidFill>
                  <a:srgbClr val="FF0000"/>
                </a:solidFill>
              </a:rPr>
              <a:t>ngắn</a:t>
            </a:r>
            <a:r>
              <a:rPr lang="en-US" b="1" dirty="0">
                <a:solidFill>
                  <a:srgbClr val="FF0000"/>
                </a:solidFill>
              </a:rPr>
              <a:t> </a:t>
            </a:r>
            <a:r>
              <a:rPr lang="en-US" b="1" dirty="0" err="1">
                <a:solidFill>
                  <a:srgbClr val="FF0000"/>
                </a:solidFill>
              </a:rPr>
              <a:t>gọn</a:t>
            </a:r>
            <a:r>
              <a:rPr lang="en-US" b="1" dirty="0">
                <a:solidFill>
                  <a:srgbClr val="FF0000"/>
                </a:solidFill>
              </a:rPr>
              <a:t> </a:t>
            </a:r>
            <a:r>
              <a:rPr lang="en-US" b="1" dirty="0" err="1">
                <a:solidFill>
                  <a:srgbClr val="FF0000"/>
                </a:solidFill>
              </a:rPr>
              <a:t>trong</a:t>
            </a:r>
            <a:r>
              <a:rPr lang="en-US" b="1" dirty="0">
                <a:solidFill>
                  <a:srgbClr val="FF0000"/>
                </a:solidFill>
              </a:rPr>
              <a:t> </a:t>
            </a:r>
            <a:r>
              <a:rPr lang="en-US" b="1" dirty="0" err="1">
                <a:solidFill>
                  <a:srgbClr val="FF0000"/>
                </a:solidFill>
              </a:rPr>
              <a:t>các</a:t>
            </a:r>
            <a:r>
              <a:rPr lang="en-US" b="1" dirty="0">
                <a:solidFill>
                  <a:srgbClr val="FF0000"/>
                </a:solidFill>
              </a:rPr>
              <a:t> </a:t>
            </a:r>
            <a:r>
              <a:rPr lang="en-US" b="1" dirty="0" err="1">
                <a:solidFill>
                  <a:srgbClr val="FF0000"/>
                </a:solidFill>
              </a:rPr>
              <a:t>bài</a:t>
            </a:r>
            <a:r>
              <a:rPr lang="en-US" b="1" dirty="0">
                <a:solidFill>
                  <a:srgbClr val="FF0000"/>
                </a:solidFill>
              </a:rPr>
              <a:t> code</a:t>
            </a:r>
          </a:p>
        </p:txBody>
      </p:sp>
      <p:sp>
        <p:nvSpPr>
          <p:cNvPr id="4" name="Slide Number Placeholder 3">
            <a:extLst>
              <a:ext uri="{FF2B5EF4-FFF2-40B4-BE49-F238E27FC236}">
                <a16:creationId xmlns:a16="http://schemas.microsoft.com/office/drawing/2014/main" id="{88394EC3-3EEB-B274-A808-FA3BFDCC6570}"/>
              </a:ext>
            </a:extLst>
          </p:cNvPr>
          <p:cNvSpPr>
            <a:spLocks noGrp="1"/>
          </p:cNvSpPr>
          <p:nvPr>
            <p:ph type="sldNum" sz="quarter" idx="12"/>
          </p:nvPr>
        </p:nvSpPr>
        <p:spPr/>
        <p:txBody>
          <a:bodyPr/>
          <a:lstStyle/>
          <a:p>
            <a:fld id="{9EA0BE3B-158A-4EDF-80DC-E394A0D1600F}" type="slidenum">
              <a:rPr lang="en-US" smtClean="0"/>
              <a:pPr/>
              <a:t>15</a:t>
            </a:fld>
            <a:endParaRPr lang="en-US"/>
          </a:p>
        </p:txBody>
      </p:sp>
    </p:spTree>
    <p:extLst>
      <p:ext uri="{BB962C8B-B14F-4D97-AF65-F5344CB8AC3E}">
        <p14:creationId xmlns:p14="http://schemas.microsoft.com/office/powerpoint/2010/main" val="554693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2B359-B938-D65E-4896-6854CD911398}"/>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nhắc</a:t>
            </a:r>
            <a:r>
              <a:rPr lang="en-US" dirty="0"/>
              <a:t> </a:t>
            </a:r>
            <a:r>
              <a:rPr lang="en-US" dirty="0" err="1"/>
              <a:t>lại</a:t>
            </a:r>
            <a:r>
              <a:rPr lang="en-US" dirty="0"/>
              <a:t> code</a:t>
            </a:r>
          </a:p>
        </p:txBody>
      </p:sp>
      <p:sp>
        <p:nvSpPr>
          <p:cNvPr id="3" name="Text Placeholder 2">
            <a:extLst>
              <a:ext uri="{FF2B5EF4-FFF2-40B4-BE49-F238E27FC236}">
                <a16:creationId xmlns:a16="http://schemas.microsoft.com/office/drawing/2014/main" id="{52F3C4F3-C153-BF1A-730D-105896C051F4}"/>
              </a:ext>
            </a:extLst>
          </p:cNvPr>
          <p:cNvSpPr>
            <a:spLocks noGrp="1"/>
          </p:cNvSpPr>
          <p:nvPr>
            <p:ph type="body" sz="quarter" idx="13"/>
          </p:nvPr>
        </p:nvSpPr>
        <p:spPr/>
        <p:txBody>
          <a:bodyPr/>
          <a:lstStyle/>
          <a:p>
            <a:pPr marL="0" indent="0" algn="just">
              <a:buNone/>
            </a:pPr>
            <a:r>
              <a:rPr lang="en-US" dirty="0"/>
              <a:t>Quản </a:t>
            </a:r>
            <a:r>
              <a:rPr lang="en-US" dirty="0" err="1"/>
              <a:t>lý</a:t>
            </a:r>
            <a:r>
              <a:rPr lang="en-US" dirty="0"/>
              <a:t> </a:t>
            </a:r>
            <a:r>
              <a:rPr lang="en-US" dirty="0" err="1"/>
              <a:t>bộ</a:t>
            </a:r>
            <a:r>
              <a:rPr lang="en-US" dirty="0"/>
              <a:t> </a:t>
            </a:r>
            <a:r>
              <a:rPr lang="en-US" dirty="0" err="1"/>
              <a:t>nhớ</a:t>
            </a:r>
            <a:r>
              <a:rPr lang="en-US" dirty="0"/>
              <a:t> &amp; Con </a:t>
            </a:r>
            <a:r>
              <a:rPr lang="en-US" dirty="0" err="1"/>
              <a:t>trỏ</a:t>
            </a:r>
            <a:r>
              <a:rPr lang="en-US" dirty="0"/>
              <a:t> </a:t>
            </a:r>
            <a:r>
              <a:rPr lang="en-US" dirty="0" err="1"/>
              <a:t>trong</a:t>
            </a:r>
            <a:r>
              <a:rPr lang="en-US" dirty="0"/>
              <a:t> C++</a:t>
            </a:r>
          </a:p>
          <a:p>
            <a:pPr>
              <a:buFontTx/>
              <a:buChar char="-"/>
            </a:pPr>
            <a:r>
              <a:rPr lang="en-US" dirty="0"/>
              <a:t>Con </a:t>
            </a:r>
            <a:r>
              <a:rPr lang="en-US" dirty="0" err="1"/>
              <a:t>trỏ</a:t>
            </a:r>
            <a:r>
              <a:rPr lang="en-US" dirty="0"/>
              <a:t> </a:t>
            </a:r>
            <a:r>
              <a:rPr lang="en-US" dirty="0" err="1"/>
              <a:t>và</a:t>
            </a:r>
            <a:r>
              <a:rPr lang="en-US" dirty="0"/>
              <a:t> </a:t>
            </a:r>
            <a:r>
              <a:rPr lang="en-US" dirty="0" err="1"/>
              <a:t>địa</a:t>
            </a:r>
            <a:r>
              <a:rPr lang="en-US" dirty="0"/>
              <a:t> </a:t>
            </a:r>
            <a:r>
              <a:rPr lang="en-US" dirty="0" err="1"/>
              <a:t>chỉ</a:t>
            </a:r>
            <a:r>
              <a:rPr lang="en-US" dirty="0"/>
              <a:t>: Khai </a:t>
            </a:r>
            <a:r>
              <a:rPr lang="en-US" dirty="0" err="1"/>
              <a:t>báo</a:t>
            </a:r>
            <a:r>
              <a:rPr lang="en-US" dirty="0"/>
              <a:t> </a:t>
            </a:r>
            <a:r>
              <a:rPr lang="en-US" b="1" dirty="0">
                <a:solidFill>
                  <a:srgbClr val="FF0000"/>
                </a:solidFill>
              </a:rPr>
              <a:t>int*p = &amp;x;	 </a:t>
            </a:r>
          </a:p>
          <a:p>
            <a:pPr>
              <a:buFontTx/>
              <a:buChar char="-"/>
            </a:pPr>
            <a:r>
              <a:rPr lang="en-US" dirty="0" err="1"/>
              <a:t>Cấp</a:t>
            </a:r>
            <a:r>
              <a:rPr lang="en-US" dirty="0"/>
              <a:t> </a:t>
            </a:r>
            <a:r>
              <a:rPr lang="en-US" dirty="0" err="1"/>
              <a:t>phát</a:t>
            </a:r>
            <a:r>
              <a:rPr lang="en-US" dirty="0"/>
              <a:t> </a:t>
            </a:r>
            <a:r>
              <a:rPr lang="en-US" dirty="0" err="1"/>
              <a:t>động</a:t>
            </a:r>
            <a:r>
              <a:rPr lang="en-US" dirty="0"/>
              <a:t>: </a:t>
            </a:r>
            <a:r>
              <a:rPr lang="en-US" dirty="0" err="1"/>
              <a:t>Sử</a:t>
            </a:r>
            <a:r>
              <a:rPr lang="en-US" dirty="0"/>
              <a:t> </a:t>
            </a:r>
            <a:r>
              <a:rPr lang="en-US" dirty="0" err="1"/>
              <a:t>dụng</a:t>
            </a:r>
            <a:r>
              <a:rPr lang="en-US" dirty="0"/>
              <a:t> </a:t>
            </a:r>
            <a:r>
              <a:rPr lang="en-US" dirty="0" err="1"/>
              <a:t>toán</a:t>
            </a:r>
            <a:r>
              <a:rPr lang="en-US" dirty="0"/>
              <a:t> </a:t>
            </a:r>
            <a:r>
              <a:rPr lang="en-US" dirty="0" err="1"/>
              <a:t>tử</a:t>
            </a:r>
            <a:r>
              <a:rPr lang="en-US" dirty="0"/>
              <a:t> </a:t>
            </a:r>
            <a:r>
              <a:rPr lang="en-US" b="1" dirty="0">
                <a:solidFill>
                  <a:srgbClr val="FF0000"/>
                </a:solidFill>
              </a:rPr>
              <a:t>?</a:t>
            </a:r>
            <a:r>
              <a:rPr lang="en-US" dirty="0"/>
              <a:t> </a:t>
            </a:r>
            <a:r>
              <a:rPr lang="en-US" dirty="0" err="1"/>
              <a:t>và</a:t>
            </a:r>
            <a:r>
              <a:rPr lang="en-US" dirty="0"/>
              <a:t> </a:t>
            </a:r>
            <a:r>
              <a:rPr lang="en-US" b="1" dirty="0">
                <a:solidFill>
                  <a:srgbClr val="FF0000"/>
                </a:solidFill>
              </a:rPr>
              <a:t>? </a:t>
            </a:r>
          </a:p>
          <a:p>
            <a:pPr algn="just">
              <a:buFontTx/>
              <a:buChar char="-"/>
            </a:pPr>
            <a:r>
              <a:rPr lang="en-US" dirty="0" err="1"/>
              <a:t>Giải</a:t>
            </a:r>
            <a:r>
              <a:rPr lang="en-US" dirty="0"/>
              <a:t> </a:t>
            </a:r>
            <a:r>
              <a:rPr lang="en-US" dirty="0" err="1"/>
              <a:t>phóng</a:t>
            </a:r>
            <a:r>
              <a:rPr lang="en-US" dirty="0"/>
              <a:t> </a:t>
            </a:r>
            <a:r>
              <a:rPr lang="en-US" dirty="0" err="1"/>
              <a:t>bộ</a:t>
            </a:r>
            <a:r>
              <a:rPr lang="en-US" dirty="0"/>
              <a:t> </a:t>
            </a:r>
            <a:r>
              <a:rPr lang="en-US" dirty="0" err="1"/>
              <a:t>nhớ</a:t>
            </a:r>
            <a:r>
              <a:rPr lang="en-US" dirty="0"/>
              <a:t>: </a:t>
            </a:r>
            <a:r>
              <a:rPr lang="en-US" dirty="0" err="1"/>
              <a:t>Bắt</a:t>
            </a:r>
            <a:r>
              <a:rPr lang="en-US" dirty="0"/>
              <a:t> </a:t>
            </a:r>
            <a:r>
              <a:rPr lang="en-US" dirty="0" err="1"/>
              <a:t>buộc</a:t>
            </a:r>
            <a:r>
              <a:rPr lang="en-US" dirty="0"/>
              <a:t> </a:t>
            </a:r>
            <a:r>
              <a:rPr lang="en-US" dirty="0" err="1"/>
              <a:t>gọi</a:t>
            </a:r>
            <a:r>
              <a:rPr lang="en-US" dirty="0"/>
              <a:t> </a:t>
            </a:r>
            <a:r>
              <a:rPr lang="en-US" b="1" dirty="0">
                <a:solidFill>
                  <a:srgbClr val="FF0000"/>
                </a:solidFill>
              </a:rPr>
              <a:t>?</a:t>
            </a:r>
            <a:r>
              <a:rPr lang="en-US" dirty="0"/>
              <a:t> </a:t>
            </a:r>
            <a:r>
              <a:rPr lang="en-US" dirty="0" err="1"/>
              <a:t>hoặc</a:t>
            </a:r>
            <a:r>
              <a:rPr lang="en-US" dirty="0"/>
              <a:t> </a:t>
            </a:r>
            <a:r>
              <a:rPr lang="en-US" b="1" dirty="0">
                <a:solidFill>
                  <a:srgbClr val="FF0000"/>
                </a:solidFill>
              </a:rPr>
              <a:t>? </a:t>
            </a:r>
            <a:r>
              <a:rPr lang="en-US" dirty="0" err="1"/>
              <a:t>sau</a:t>
            </a:r>
            <a:r>
              <a:rPr lang="en-US" dirty="0"/>
              <a:t> </a:t>
            </a:r>
            <a:r>
              <a:rPr lang="en-US" dirty="0" err="1"/>
              <a:t>khi</a:t>
            </a:r>
            <a:r>
              <a:rPr lang="en-US" dirty="0"/>
              <a:t> </a:t>
            </a:r>
            <a:r>
              <a:rPr lang="en-US" dirty="0" err="1"/>
              <a:t>dùng</a:t>
            </a:r>
            <a:r>
              <a:rPr lang="en-US" dirty="0"/>
              <a:t> </a:t>
            </a:r>
            <a:r>
              <a:rPr lang="en-US" dirty="0" err="1"/>
              <a:t>xong</a:t>
            </a:r>
            <a:r>
              <a:rPr lang="en-US" dirty="0"/>
              <a:t> </a:t>
            </a:r>
            <a:r>
              <a:rPr lang="en-US" dirty="0" err="1"/>
              <a:t>để</a:t>
            </a:r>
            <a:r>
              <a:rPr lang="en-US" dirty="0"/>
              <a:t> </a:t>
            </a:r>
            <a:r>
              <a:rPr lang="en-US" dirty="0" err="1"/>
              <a:t>tránh</a:t>
            </a:r>
            <a:r>
              <a:rPr lang="en-US" dirty="0"/>
              <a:t> </a:t>
            </a:r>
            <a:r>
              <a:rPr lang="en-US" dirty="0" err="1"/>
              <a:t>rò</a:t>
            </a:r>
            <a:r>
              <a:rPr lang="en-US" dirty="0"/>
              <a:t> </a:t>
            </a:r>
            <a:r>
              <a:rPr lang="en-US" dirty="0" err="1"/>
              <a:t>rỉ</a:t>
            </a:r>
            <a:r>
              <a:rPr lang="en-US" dirty="0"/>
              <a:t> </a:t>
            </a:r>
            <a:r>
              <a:rPr lang="en-US" dirty="0" err="1"/>
              <a:t>bộ</a:t>
            </a:r>
            <a:r>
              <a:rPr lang="en-US" dirty="0"/>
              <a:t> </a:t>
            </a:r>
            <a:r>
              <a:rPr lang="en-US" dirty="0" err="1"/>
              <a:t>nhớ</a:t>
            </a:r>
            <a:r>
              <a:rPr lang="en-US" dirty="0"/>
              <a:t> (Memory Leak)</a:t>
            </a:r>
          </a:p>
          <a:p>
            <a:pPr algn="just">
              <a:buFontTx/>
              <a:buChar char="-"/>
            </a:pPr>
            <a:r>
              <a:rPr lang="en-US" dirty="0" err="1"/>
              <a:t>Truyền</a:t>
            </a:r>
            <a:r>
              <a:rPr lang="en-US" dirty="0"/>
              <a:t> </a:t>
            </a:r>
            <a:r>
              <a:rPr lang="en-US" dirty="0" err="1"/>
              <a:t>tham</a:t>
            </a:r>
            <a:r>
              <a:rPr lang="en-US" dirty="0"/>
              <a:t> </a:t>
            </a:r>
            <a:r>
              <a:rPr lang="en-US" dirty="0" err="1"/>
              <a:t>chiếu</a:t>
            </a:r>
            <a:r>
              <a:rPr lang="en-US" dirty="0"/>
              <a:t> (Pass by Reference): </a:t>
            </a:r>
            <a:r>
              <a:rPr lang="en-US" dirty="0" err="1"/>
              <a:t>Sử</a:t>
            </a:r>
            <a:r>
              <a:rPr lang="en-US" dirty="0"/>
              <a:t> </a:t>
            </a:r>
            <a:r>
              <a:rPr lang="en-US" dirty="0" err="1"/>
              <a:t>dụng</a:t>
            </a:r>
            <a:r>
              <a:rPr lang="en-US" b="1" dirty="0">
                <a:solidFill>
                  <a:srgbClr val="FF0000"/>
                </a:solidFill>
              </a:rPr>
              <a:t> ?</a:t>
            </a:r>
          </a:p>
        </p:txBody>
      </p:sp>
      <p:sp>
        <p:nvSpPr>
          <p:cNvPr id="4" name="Slide Number Placeholder 3">
            <a:extLst>
              <a:ext uri="{FF2B5EF4-FFF2-40B4-BE49-F238E27FC236}">
                <a16:creationId xmlns:a16="http://schemas.microsoft.com/office/drawing/2014/main" id="{79A571AB-5A98-407B-E585-10645D9BE8D7}"/>
              </a:ext>
            </a:extLst>
          </p:cNvPr>
          <p:cNvSpPr>
            <a:spLocks noGrp="1"/>
          </p:cNvSpPr>
          <p:nvPr>
            <p:ph type="sldNum" sz="quarter" idx="12"/>
          </p:nvPr>
        </p:nvSpPr>
        <p:spPr/>
        <p:txBody>
          <a:bodyPr/>
          <a:lstStyle/>
          <a:p>
            <a:fld id="{9EA0BE3B-158A-4EDF-80DC-E394A0D1600F}" type="slidenum">
              <a:rPr lang="en-US" smtClean="0"/>
              <a:pPr/>
              <a:t>16</a:t>
            </a:fld>
            <a:endParaRPr lang="en-US"/>
          </a:p>
        </p:txBody>
      </p:sp>
    </p:spTree>
    <p:extLst>
      <p:ext uri="{BB962C8B-B14F-4D97-AF65-F5344CB8AC3E}">
        <p14:creationId xmlns:p14="http://schemas.microsoft.com/office/powerpoint/2010/main" val="4288357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1EEC-E961-6F30-1114-77615B3DB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85126-F9C7-1DE2-E9DD-7E8028B86F83}"/>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cấu</a:t>
            </a:r>
            <a:r>
              <a:rPr lang="en-US" dirty="0"/>
              <a:t> </a:t>
            </a:r>
            <a:r>
              <a:rPr lang="en-US" dirty="0" err="1"/>
              <a:t>trúc</a:t>
            </a:r>
            <a:r>
              <a:rPr lang="en-US" dirty="0"/>
              <a:t> </a:t>
            </a:r>
            <a:r>
              <a:rPr lang="en-US" dirty="0" err="1"/>
              <a:t>dữ</a:t>
            </a:r>
            <a:r>
              <a:rPr lang="en-US" dirty="0"/>
              <a:t> </a:t>
            </a:r>
            <a:r>
              <a:rPr lang="en-US" dirty="0" err="1"/>
              <a:t>liệu</a:t>
            </a:r>
            <a:r>
              <a:rPr lang="en-US" dirty="0"/>
              <a:t> </a:t>
            </a:r>
            <a:r>
              <a:rPr lang="en-US" dirty="0" err="1"/>
              <a:t>cơ</a:t>
            </a:r>
            <a:r>
              <a:rPr lang="en-US" dirty="0"/>
              <a:t> </a:t>
            </a:r>
            <a:r>
              <a:rPr lang="en-US" dirty="0" err="1"/>
              <a:t>bản</a:t>
            </a:r>
            <a:endParaRPr lang="en-US" dirty="0"/>
          </a:p>
        </p:txBody>
      </p:sp>
      <p:sp>
        <p:nvSpPr>
          <p:cNvPr id="4" name="Slide Number Placeholder 3">
            <a:extLst>
              <a:ext uri="{FF2B5EF4-FFF2-40B4-BE49-F238E27FC236}">
                <a16:creationId xmlns:a16="http://schemas.microsoft.com/office/drawing/2014/main" id="{E26FC0C5-96BD-E5E4-5073-217C8764D087}"/>
              </a:ext>
            </a:extLst>
          </p:cNvPr>
          <p:cNvSpPr>
            <a:spLocks noGrp="1"/>
          </p:cNvSpPr>
          <p:nvPr>
            <p:ph type="sldNum" sz="quarter" idx="12"/>
          </p:nvPr>
        </p:nvSpPr>
        <p:spPr/>
        <p:txBody>
          <a:bodyPr/>
          <a:lstStyle/>
          <a:p>
            <a:fld id="{9EA0BE3B-158A-4EDF-80DC-E394A0D1600F}" type="slidenum">
              <a:rPr lang="en-US" smtClean="0"/>
              <a:pPr/>
              <a:t>17</a:t>
            </a:fld>
            <a:endParaRPr lang="en-US"/>
          </a:p>
        </p:txBody>
      </p:sp>
      <p:pic>
        <p:nvPicPr>
          <p:cNvPr id="7" name="Picture 6" descr="image.png"/>
          <p:cNvPicPr>
            <a:picLocks noChangeAspect="1"/>
          </p:cNvPicPr>
          <p:nvPr/>
        </p:nvPicPr>
        <p:blipFill>
          <a:blip r:embed="rId3"/>
          <a:stretch>
            <a:fillRect/>
          </a:stretch>
        </p:blipFill>
        <p:spPr>
          <a:xfrm>
            <a:off x="547158" y="1916641"/>
            <a:ext cx="3517850" cy="2771775"/>
          </a:xfrm>
          <a:prstGeom prst="rect">
            <a:avLst/>
          </a:prstGeom>
        </p:spPr>
      </p:pic>
      <p:pic>
        <p:nvPicPr>
          <p:cNvPr id="8" name="Picture 7" descr="image.png"/>
          <p:cNvPicPr>
            <a:picLocks noChangeAspect="1"/>
          </p:cNvPicPr>
          <p:nvPr/>
        </p:nvPicPr>
        <p:blipFill>
          <a:blip r:embed="rId4"/>
          <a:stretch>
            <a:fillRect/>
          </a:stretch>
        </p:blipFill>
        <p:spPr>
          <a:xfrm>
            <a:off x="4303133" y="1916641"/>
            <a:ext cx="3517850" cy="2771775"/>
          </a:xfrm>
          <a:prstGeom prst="rect">
            <a:avLst/>
          </a:prstGeom>
        </p:spPr>
      </p:pic>
      <p:pic>
        <p:nvPicPr>
          <p:cNvPr id="9" name="Picture 8" descr="image.png"/>
          <p:cNvPicPr>
            <a:picLocks noChangeAspect="1"/>
          </p:cNvPicPr>
          <p:nvPr/>
        </p:nvPicPr>
        <p:blipFill>
          <a:blip r:embed="rId5"/>
          <a:stretch>
            <a:fillRect/>
          </a:stretch>
        </p:blipFill>
        <p:spPr>
          <a:xfrm>
            <a:off x="8059108" y="1916641"/>
            <a:ext cx="3517850" cy="2771775"/>
          </a:xfrm>
          <a:prstGeom prst="rect">
            <a:avLst/>
          </a:prstGeom>
        </p:spPr>
      </p:pic>
      <p:sp>
        <p:nvSpPr>
          <p:cNvPr id="10" name="TextBox 9"/>
          <p:cNvSpPr txBox="1"/>
          <p:nvPr/>
        </p:nvSpPr>
        <p:spPr>
          <a:xfrm>
            <a:off x="794808" y="2888191"/>
            <a:ext cx="3173677" cy="276999"/>
          </a:xfrm>
          <a:prstGeom prst="rect">
            <a:avLst/>
          </a:prstGeom>
          <a:noFill/>
        </p:spPr>
        <p:txBody>
          <a:bodyPr wrap="square" lIns="0" tIns="0" rIns="0" bIns="0" anchor="t">
            <a:spAutoFit/>
          </a:bodyPr>
          <a:lstStyle/>
          <a:p>
            <a:pPr algn="l"/>
            <a:r>
              <a:rPr b="1" i="0" u="none">
                <a:solidFill>
                  <a:srgbClr val="EDF2F4"/>
                </a:solidFill>
                <a:latin typeface="Plus Jakarta Sans"/>
              </a:rPr>
              <a:t>Struct Cơ Bản</a:t>
            </a:r>
          </a:p>
        </p:txBody>
      </p:sp>
      <p:sp>
        <p:nvSpPr>
          <p:cNvPr id="11" name="TextBox 10"/>
          <p:cNvSpPr txBox="1"/>
          <p:nvPr/>
        </p:nvSpPr>
        <p:spPr>
          <a:xfrm>
            <a:off x="794808" y="3440641"/>
            <a:ext cx="3022550" cy="771525"/>
          </a:xfrm>
          <a:prstGeom prst="rect">
            <a:avLst/>
          </a:prstGeom>
          <a:noFill/>
        </p:spPr>
        <p:txBody>
          <a:bodyPr wrap="square" lIns="0" tIns="0" rIns="0" bIns="0" anchor="t">
            <a:spAutoFit/>
          </a:bodyPr>
          <a:lstStyle/>
          <a:p>
            <a:pPr algn="l">
              <a:lnSpc>
                <a:spcPts val="2025"/>
              </a:lnSpc>
            </a:pPr>
            <a:r>
              <a:rPr sz="1400" b="0" i="0" u="none">
                <a:solidFill>
                  <a:srgbClr val="8D99AE"/>
                </a:solidFill>
                <a:latin typeface="Plus Jakarta Sans"/>
              </a:rPr>
              <a:t>Gộp nhiều thuộc tính (MSSV, Họ tên, ĐTB) vào một kiểu dữ liệu mới để quản lý đối tượng dễ dàng.</a:t>
            </a:r>
          </a:p>
        </p:txBody>
      </p:sp>
      <p:sp>
        <p:nvSpPr>
          <p:cNvPr id="12" name="TextBox 11"/>
          <p:cNvSpPr txBox="1"/>
          <p:nvPr/>
        </p:nvSpPr>
        <p:spPr>
          <a:xfrm>
            <a:off x="4550783" y="2888191"/>
            <a:ext cx="3173677" cy="276999"/>
          </a:xfrm>
          <a:prstGeom prst="rect">
            <a:avLst/>
          </a:prstGeom>
          <a:noFill/>
        </p:spPr>
        <p:txBody>
          <a:bodyPr wrap="square" lIns="0" tIns="0" rIns="0" bIns="0" anchor="t">
            <a:spAutoFit/>
          </a:bodyPr>
          <a:lstStyle/>
          <a:p>
            <a:pPr algn="l"/>
            <a:r>
              <a:rPr b="1" i="0" u="none">
                <a:solidFill>
                  <a:srgbClr val="EDF2F4"/>
                </a:solidFill>
                <a:latin typeface="Plus Jakarta Sans"/>
              </a:rPr>
              <a:t>Mảng Tĩnh vs Mảng Động</a:t>
            </a:r>
          </a:p>
        </p:txBody>
      </p:sp>
      <p:sp>
        <p:nvSpPr>
          <p:cNvPr id="13" name="TextBox 12"/>
          <p:cNvSpPr txBox="1"/>
          <p:nvPr/>
        </p:nvSpPr>
        <p:spPr>
          <a:xfrm>
            <a:off x="4550783" y="3440641"/>
            <a:ext cx="3022550" cy="771525"/>
          </a:xfrm>
          <a:prstGeom prst="rect">
            <a:avLst/>
          </a:prstGeom>
          <a:noFill/>
        </p:spPr>
        <p:txBody>
          <a:bodyPr wrap="square" lIns="0" tIns="0" rIns="0" bIns="0" anchor="t">
            <a:spAutoFit/>
          </a:bodyPr>
          <a:lstStyle/>
          <a:p>
            <a:pPr algn="l">
              <a:lnSpc>
                <a:spcPts val="2025"/>
              </a:lnSpc>
            </a:pPr>
            <a:r>
              <a:rPr sz="1400" b="0" i="0" u="none">
                <a:solidFill>
                  <a:srgbClr val="8D99AE"/>
                </a:solidFill>
                <a:latin typeface="Plus Jakarta Sans"/>
              </a:rPr>
              <a:t>Mảng tĩnh cố định dung lượng khi biên dịch, mảng động cho phép thay đổi kích thước linh hoạt lúc chạy.</a:t>
            </a:r>
          </a:p>
        </p:txBody>
      </p:sp>
      <p:sp>
        <p:nvSpPr>
          <p:cNvPr id="14" name="TextBox 13"/>
          <p:cNvSpPr txBox="1"/>
          <p:nvPr/>
        </p:nvSpPr>
        <p:spPr>
          <a:xfrm>
            <a:off x="8306758" y="2888191"/>
            <a:ext cx="3173677" cy="276999"/>
          </a:xfrm>
          <a:prstGeom prst="rect">
            <a:avLst/>
          </a:prstGeom>
          <a:noFill/>
        </p:spPr>
        <p:txBody>
          <a:bodyPr wrap="square" lIns="0" tIns="0" rIns="0" bIns="0" anchor="t">
            <a:spAutoFit/>
          </a:bodyPr>
          <a:lstStyle/>
          <a:p>
            <a:pPr algn="l"/>
            <a:r>
              <a:rPr b="1" i="0" u="none">
                <a:solidFill>
                  <a:srgbClr val="EDF2F4"/>
                </a:solidFill>
                <a:latin typeface="Plus Jakarta Sans"/>
              </a:rPr>
              <a:t>Con Trỏ Tới Struct</a:t>
            </a:r>
          </a:p>
        </p:txBody>
      </p:sp>
      <p:sp>
        <p:nvSpPr>
          <p:cNvPr id="15" name="TextBox 14"/>
          <p:cNvSpPr txBox="1"/>
          <p:nvPr/>
        </p:nvSpPr>
        <p:spPr>
          <a:xfrm>
            <a:off x="8306758" y="3440641"/>
            <a:ext cx="3022550" cy="496226"/>
          </a:xfrm>
          <a:prstGeom prst="rect">
            <a:avLst/>
          </a:prstGeom>
          <a:noFill/>
        </p:spPr>
        <p:txBody>
          <a:bodyPr wrap="square" lIns="0" tIns="0" rIns="0" bIns="0" anchor="t">
            <a:spAutoFit/>
          </a:bodyPr>
          <a:lstStyle/>
          <a:p>
            <a:pPr algn="l">
              <a:lnSpc>
                <a:spcPts val="2025"/>
              </a:lnSpc>
            </a:pPr>
            <a:r>
              <a:rPr sz="1400" b="0" i="0" u="none">
                <a:solidFill>
                  <a:srgbClr val="8D99AE"/>
                </a:solidFill>
                <a:latin typeface="Plus Jakarta Sans"/>
              </a:rPr>
              <a:t>Thao tác dữ liệu qua con trỏ cấu trúc cực kỳ thuận tiện bằng toán tử mũi tên .</a:t>
            </a:r>
          </a:p>
        </p:txBody>
      </p:sp>
      <p:pic>
        <p:nvPicPr>
          <p:cNvPr id="16" name="Picture 15" descr="image.png"/>
          <p:cNvPicPr>
            <a:picLocks noChangeAspect="1"/>
          </p:cNvPicPr>
          <p:nvPr/>
        </p:nvPicPr>
        <p:blipFill>
          <a:blip r:embed="rId6"/>
          <a:stretch>
            <a:fillRect/>
          </a:stretch>
        </p:blipFill>
        <p:spPr>
          <a:xfrm>
            <a:off x="794808" y="2278591"/>
            <a:ext cx="428625" cy="381000"/>
          </a:xfrm>
          <a:prstGeom prst="rect">
            <a:avLst/>
          </a:prstGeom>
        </p:spPr>
      </p:pic>
      <p:pic>
        <p:nvPicPr>
          <p:cNvPr id="17" name="Picture 16" descr="image.png"/>
          <p:cNvPicPr>
            <a:picLocks noChangeAspect="1"/>
          </p:cNvPicPr>
          <p:nvPr/>
        </p:nvPicPr>
        <p:blipFill>
          <a:blip r:embed="rId7"/>
          <a:stretch>
            <a:fillRect/>
          </a:stretch>
        </p:blipFill>
        <p:spPr>
          <a:xfrm>
            <a:off x="4550783" y="2278591"/>
            <a:ext cx="428625" cy="381000"/>
          </a:xfrm>
          <a:prstGeom prst="rect">
            <a:avLst/>
          </a:prstGeom>
        </p:spPr>
      </p:pic>
      <p:pic>
        <p:nvPicPr>
          <p:cNvPr id="18" name="Picture 17" descr="image.png"/>
          <p:cNvPicPr>
            <a:picLocks noChangeAspect="1"/>
          </p:cNvPicPr>
          <p:nvPr/>
        </p:nvPicPr>
        <p:blipFill>
          <a:blip r:embed="rId8"/>
          <a:stretch>
            <a:fillRect/>
          </a:stretch>
        </p:blipFill>
        <p:spPr>
          <a:xfrm>
            <a:off x="8306758" y="2278591"/>
            <a:ext cx="333375" cy="381000"/>
          </a:xfrm>
          <a:prstGeom prst="rect">
            <a:avLst/>
          </a:prstGeom>
        </p:spPr>
      </p:pic>
      <p:pic>
        <p:nvPicPr>
          <p:cNvPr id="19" name="Picture 18" descr="image.png"/>
          <p:cNvPicPr>
            <a:picLocks noChangeAspect="1"/>
          </p:cNvPicPr>
          <p:nvPr/>
        </p:nvPicPr>
        <p:blipFill>
          <a:blip r:embed="rId9"/>
          <a:stretch>
            <a:fillRect/>
          </a:stretch>
        </p:blipFill>
        <p:spPr>
          <a:xfrm>
            <a:off x="8306758" y="3983566"/>
            <a:ext cx="1104900" cy="238125"/>
          </a:xfrm>
          <a:prstGeom prst="rect">
            <a:avLst/>
          </a:prstGeom>
        </p:spPr>
      </p:pic>
    </p:spTree>
    <p:extLst>
      <p:ext uri="{BB962C8B-B14F-4D97-AF65-F5344CB8AC3E}">
        <p14:creationId xmlns:p14="http://schemas.microsoft.com/office/powerpoint/2010/main" val="1192251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6267" y="833750"/>
            <a:ext cx="11887200" cy="304699"/>
          </a:xfrm>
          <a:prstGeom prst="rect">
            <a:avLst/>
          </a:prstGeom>
          <a:noFill/>
        </p:spPr>
        <p:txBody>
          <a:bodyPr wrap="square" lIns="0" tIns="0" rIns="0" bIns="0" anchor="t">
            <a:spAutoFit/>
          </a:bodyPr>
          <a:lstStyle>
            <a:defPPr>
              <a:defRPr lang="en-US"/>
            </a:defPPr>
            <a:lvl1pPr marL="228600" indent="-228600">
              <a:lnSpc>
                <a:spcPct val="90000"/>
              </a:lnSpc>
              <a:spcBef>
                <a:spcPts val="1000"/>
              </a:spcBef>
              <a:buFont typeface="Arial" panose="020B0604020202020204" pitchFamily="34" charset="0"/>
              <a:buChar char="•"/>
              <a:defRPr sz="2800">
                <a:latin typeface="Lato" panose="020F0502020204030203" pitchFamily="34" charset="0"/>
                <a:ea typeface="Lato" panose="020F0502020204030203" pitchFamily="34" charset="0"/>
                <a:cs typeface="Lato" panose="020F0502020204030203" pitchFamily="34" charset="0"/>
              </a:defRPr>
            </a:lvl1pPr>
          </a:lstStyle>
          <a:p>
            <a:pPr marL="0" indent="0">
              <a:buNone/>
            </a:pPr>
            <a:r>
              <a:rPr sz="2200" dirty="0"/>
              <a:t>Các </a:t>
            </a:r>
            <a:r>
              <a:rPr sz="2200" dirty="0" err="1"/>
              <a:t>công</a:t>
            </a:r>
            <a:r>
              <a:rPr sz="2200" dirty="0"/>
              <a:t> </a:t>
            </a:r>
            <a:r>
              <a:rPr sz="2200" dirty="0" err="1"/>
              <a:t>cụ</a:t>
            </a:r>
            <a:r>
              <a:rPr sz="2200" dirty="0"/>
              <a:t> STL </a:t>
            </a:r>
            <a:r>
              <a:rPr sz="2200" dirty="0" err="1"/>
              <a:t>cực</a:t>
            </a:r>
            <a:r>
              <a:rPr sz="2200" dirty="0"/>
              <a:t> </a:t>
            </a:r>
            <a:r>
              <a:rPr sz="2200" dirty="0" err="1"/>
              <a:t>kỳ</a:t>
            </a:r>
            <a:r>
              <a:rPr sz="2200" dirty="0"/>
              <a:t> </a:t>
            </a:r>
            <a:r>
              <a:rPr sz="2200" dirty="0" err="1"/>
              <a:t>quan</a:t>
            </a:r>
            <a:r>
              <a:rPr sz="2200" dirty="0"/>
              <a:t> </a:t>
            </a:r>
            <a:r>
              <a:rPr sz="2200" dirty="0" err="1"/>
              <a:t>trọng</a:t>
            </a:r>
            <a:r>
              <a:rPr sz="2200" dirty="0"/>
              <a:t> </a:t>
            </a:r>
            <a:r>
              <a:rPr sz="2200" dirty="0" err="1"/>
              <a:t>trong</a:t>
            </a:r>
            <a:r>
              <a:rPr sz="2200" dirty="0"/>
              <a:t> </a:t>
            </a:r>
            <a:r>
              <a:rPr sz="2200" dirty="0" err="1"/>
              <a:t>môn</a:t>
            </a:r>
            <a:r>
              <a:rPr sz="2200" dirty="0"/>
              <a:t> </a:t>
            </a:r>
            <a:r>
              <a:rPr sz="2200" dirty="0" err="1"/>
              <a:t>Cấu</a:t>
            </a:r>
            <a:r>
              <a:rPr sz="2200" dirty="0"/>
              <a:t> </a:t>
            </a:r>
            <a:r>
              <a:rPr sz="2200" dirty="0" err="1"/>
              <a:t>trúc</a:t>
            </a:r>
            <a:r>
              <a:rPr sz="2200" dirty="0"/>
              <a:t> </a:t>
            </a:r>
            <a:r>
              <a:rPr sz="2200" dirty="0" err="1"/>
              <a:t>dữ</a:t>
            </a:r>
            <a:r>
              <a:rPr sz="2200" dirty="0"/>
              <a:t> </a:t>
            </a:r>
            <a:r>
              <a:rPr sz="2200" dirty="0" err="1"/>
              <a:t>liệu</a:t>
            </a:r>
            <a:r>
              <a:rPr sz="2200" dirty="0"/>
              <a:t> &amp; </a:t>
            </a:r>
            <a:r>
              <a:rPr sz="2200" dirty="0" err="1"/>
              <a:t>Giải</a:t>
            </a:r>
            <a:r>
              <a:rPr sz="2200" dirty="0"/>
              <a:t> </a:t>
            </a:r>
            <a:r>
              <a:rPr sz="2200" dirty="0" err="1"/>
              <a:t>thuật</a:t>
            </a:r>
            <a:r>
              <a:rPr sz="2200" dirty="0"/>
              <a:t>:</a:t>
            </a:r>
          </a:p>
        </p:txBody>
      </p:sp>
      <p:sp>
        <p:nvSpPr>
          <p:cNvPr id="5" name="TextBox 4"/>
          <p:cNvSpPr txBox="1"/>
          <p:nvPr/>
        </p:nvSpPr>
        <p:spPr>
          <a:xfrm>
            <a:off x="186266" y="1271435"/>
            <a:ext cx="12005734" cy="2469394"/>
          </a:xfrm>
          <a:prstGeom prst="rect">
            <a:avLst/>
          </a:prstGeom>
          <a:noFill/>
        </p:spPr>
        <p:txBody>
          <a:bodyPr wrap="square" lIns="0" tIns="0" rIns="0" bIns="0" anchor="t">
            <a:spAutoFit/>
          </a:bodyPr>
          <a:lstStyle>
            <a:defPPr>
              <a:defRPr lang="en-US"/>
            </a:defPPr>
            <a:lvl1pPr marL="228600" indent="-228600">
              <a:lnSpc>
                <a:spcPct val="90000"/>
              </a:lnSpc>
              <a:spcBef>
                <a:spcPts val="1000"/>
              </a:spcBef>
              <a:buFont typeface="Arial" panose="020B0604020202020204" pitchFamily="34" charset="0"/>
              <a:buChar char="•"/>
              <a:defRPr sz="2800">
                <a:latin typeface="Lato" panose="020F0502020204030203" pitchFamily="34" charset="0"/>
                <a:ea typeface="Lato" panose="020F0502020204030203" pitchFamily="34" charset="0"/>
                <a:cs typeface="Lato" panose="020F0502020204030203" pitchFamily="34" charset="0"/>
              </a:defRPr>
            </a:lvl1pPr>
          </a:lstStyle>
          <a:p>
            <a:pPr>
              <a:buFontTx/>
              <a:buChar char="-"/>
            </a:pPr>
            <a:r>
              <a:rPr sz="2200" dirty="0"/>
              <a:t>std::vector: </a:t>
            </a:r>
            <a:r>
              <a:rPr sz="2200" dirty="0" err="1"/>
              <a:t>Mảng</a:t>
            </a:r>
            <a:r>
              <a:rPr sz="2200" dirty="0"/>
              <a:t> </a:t>
            </a:r>
            <a:r>
              <a:rPr sz="2200" dirty="0" err="1"/>
              <a:t>động</a:t>
            </a:r>
            <a:r>
              <a:rPr sz="2200" dirty="0"/>
              <a:t> </a:t>
            </a:r>
            <a:r>
              <a:rPr sz="2200" dirty="0" err="1"/>
              <a:t>tự</a:t>
            </a:r>
            <a:r>
              <a:rPr sz="2200" dirty="0"/>
              <a:t> co </a:t>
            </a:r>
            <a:r>
              <a:rPr sz="2200" dirty="0" err="1"/>
              <a:t>giãn</a:t>
            </a:r>
            <a:r>
              <a:rPr sz="2200" dirty="0"/>
              <a:t> </a:t>
            </a:r>
            <a:r>
              <a:rPr sz="2200" dirty="0" err="1"/>
              <a:t>kích</a:t>
            </a:r>
            <a:r>
              <a:rPr sz="2200" dirty="0"/>
              <a:t> </a:t>
            </a:r>
            <a:r>
              <a:rPr sz="2200" dirty="0" err="1"/>
              <a:t>thước</a:t>
            </a:r>
            <a:r>
              <a:rPr sz="2200" dirty="0"/>
              <a:t>, </a:t>
            </a:r>
            <a:r>
              <a:rPr sz="2200" dirty="0" err="1"/>
              <a:t>hỗ</a:t>
            </a:r>
            <a:r>
              <a:rPr sz="2200" dirty="0"/>
              <a:t> </a:t>
            </a:r>
            <a:r>
              <a:rPr sz="2200" dirty="0" err="1"/>
              <a:t>trợ</a:t>
            </a:r>
            <a:r>
              <a:rPr sz="2200" dirty="0"/>
              <a:t> ,</a:t>
            </a:r>
            <a:r>
              <a:rPr lang="en-US" sz="2200" dirty="0"/>
              <a:t>.</a:t>
            </a:r>
            <a:r>
              <a:rPr sz="2200" dirty="0"/>
              <a:t> .</a:t>
            </a:r>
            <a:endParaRPr lang="en-US" sz="2200" dirty="0"/>
          </a:p>
          <a:p>
            <a:pPr>
              <a:buFontTx/>
              <a:buChar char="-"/>
            </a:pPr>
            <a:r>
              <a:rPr lang="en-US" sz="2200" dirty="0"/>
              <a:t>std::string: Quản </a:t>
            </a:r>
            <a:r>
              <a:rPr lang="en-US" sz="2200" dirty="0" err="1"/>
              <a:t>lý</a:t>
            </a:r>
            <a:r>
              <a:rPr lang="en-US" sz="2200" dirty="0"/>
              <a:t> </a:t>
            </a:r>
            <a:r>
              <a:rPr lang="en-US" sz="2200" dirty="0" err="1"/>
              <a:t>chuỗi</a:t>
            </a:r>
            <a:r>
              <a:rPr lang="en-US" sz="2200" dirty="0"/>
              <a:t> </a:t>
            </a:r>
            <a:r>
              <a:rPr lang="en-US" sz="2200" dirty="0" err="1"/>
              <a:t>ký</a:t>
            </a:r>
            <a:r>
              <a:rPr lang="en-US" sz="2200" dirty="0"/>
              <a:t> </a:t>
            </a:r>
            <a:r>
              <a:rPr lang="en-US" sz="2200" dirty="0" err="1"/>
              <a:t>tự</a:t>
            </a:r>
            <a:r>
              <a:rPr lang="en-US" sz="2200" dirty="0"/>
              <a:t> an </a:t>
            </a:r>
            <a:r>
              <a:rPr lang="en-US" sz="2200" dirty="0" err="1"/>
              <a:t>toàn</a:t>
            </a:r>
            <a:r>
              <a:rPr lang="en-US" sz="2200" dirty="0"/>
              <a:t>, </a:t>
            </a:r>
            <a:r>
              <a:rPr lang="en-US" sz="2200" dirty="0" err="1"/>
              <a:t>hỗ</a:t>
            </a:r>
            <a:r>
              <a:rPr lang="en-US" sz="2200" dirty="0"/>
              <a:t> </a:t>
            </a:r>
            <a:r>
              <a:rPr lang="en-US" sz="2200" dirty="0" err="1"/>
              <a:t>trợ</a:t>
            </a:r>
            <a:r>
              <a:rPr lang="en-US" sz="2200" dirty="0"/>
              <a:t> </a:t>
            </a:r>
            <a:r>
              <a:rPr lang="en-US" sz="2200" dirty="0" err="1"/>
              <a:t>ghép</a:t>
            </a:r>
            <a:r>
              <a:rPr lang="en-US" sz="2200" dirty="0"/>
              <a:t> </a:t>
            </a:r>
            <a:r>
              <a:rPr lang="en-US" sz="2200" dirty="0" err="1"/>
              <a:t>chuỗi</a:t>
            </a:r>
            <a:r>
              <a:rPr lang="en-US" sz="2200" dirty="0"/>
              <a:t> </a:t>
            </a:r>
            <a:r>
              <a:rPr lang="en-US" sz="2200" dirty="0" err="1"/>
              <a:t>và</a:t>
            </a:r>
            <a:r>
              <a:rPr lang="en-US" sz="2200" dirty="0"/>
              <a:t> </a:t>
            </a:r>
            <a:r>
              <a:rPr lang="en-US" sz="2200" dirty="0" err="1"/>
              <a:t>cắt</a:t>
            </a:r>
            <a:r>
              <a:rPr lang="en-US" sz="2200" dirty="0"/>
              <a:t> </a:t>
            </a:r>
            <a:r>
              <a:rPr lang="en-US" sz="2200" dirty="0" err="1"/>
              <a:t>chuỗi</a:t>
            </a:r>
            <a:r>
              <a:rPr lang="en-US" sz="2200" dirty="0"/>
              <a:t> </a:t>
            </a:r>
            <a:r>
              <a:rPr lang="en-US" sz="2200" dirty="0" err="1"/>
              <a:t>nhanh</a:t>
            </a:r>
            <a:r>
              <a:rPr lang="en-US" sz="2200" dirty="0"/>
              <a:t> </a:t>
            </a:r>
            <a:r>
              <a:rPr lang="en-US" sz="2200" dirty="0" err="1"/>
              <a:t>chóng</a:t>
            </a:r>
            <a:r>
              <a:rPr lang="en-US" sz="2200" dirty="0"/>
              <a:t>.</a:t>
            </a:r>
          </a:p>
          <a:p>
            <a:pPr>
              <a:buFontTx/>
              <a:buChar char="-"/>
            </a:pPr>
            <a:r>
              <a:rPr lang="vi-VN" sz="2200" dirty="0"/>
              <a:t>std::pair: Lưu trữ cặp giá trị đi kèm nhau (ví dụ: tọa độ X-Y, Đỉnh-Trọng số).</a:t>
            </a:r>
            <a:endParaRPr lang="en-US" sz="2200" dirty="0"/>
          </a:p>
          <a:p>
            <a:pPr>
              <a:buFontTx/>
              <a:buChar char="-"/>
            </a:pPr>
            <a:r>
              <a:rPr lang="en-US" sz="2200" dirty="0"/>
              <a:t>std::sort: </a:t>
            </a:r>
            <a:r>
              <a:rPr lang="en-US" sz="2200" dirty="0" err="1"/>
              <a:t>Thuật</a:t>
            </a:r>
            <a:r>
              <a:rPr lang="en-US" sz="2200" dirty="0"/>
              <a:t> </a:t>
            </a:r>
            <a:r>
              <a:rPr lang="en-US" sz="2200" dirty="0" err="1"/>
              <a:t>toán</a:t>
            </a:r>
            <a:r>
              <a:rPr lang="en-US" sz="2200" dirty="0"/>
              <a:t> </a:t>
            </a:r>
            <a:r>
              <a:rPr lang="en-US" sz="2200" dirty="0" err="1"/>
              <a:t>sắp</a:t>
            </a:r>
            <a:r>
              <a:rPr lang="en-US" sz="2200" dirty="0"/>
              <a:t> </a:t>
            </a:r>
            <a:r>
              <a:rPr lang="en-US" sz="2200" dirty="0" err="1"/>
              <a:t>xếp</a:t>
            </a:r>
            <a:r>
              <a:rPr lang="en-US" sz="2200" dirty="0"/>
              <a:t> </a:t>
            </a:r>
            <a:r>
              <a:rPr lang="en-US" sz="2200" dirty="0" err="1"/>
              <a:t>QuickSort</a:t>
            </a:r>
            <a:r>
              <a:rPr lang="en-US" sz="2200" dirty="0"/>
              <a:t>/</a:t>
            </a:r>
            <a:r>
              <a:rPr lang="en-US" sz="2200" dirty="0" err="1"/>
              <a:t>IntroSort</a:t>
            </a:r>
            <a:r>
              <a:rPr lang="en-US" sz="2200" dirty="0"/>
              <a:t> </a:t>
            </a:r>
            <a:r>
              <a:rPr lang="en-US" sz="2200" dirty="0" err="1"/>
              <a:t>độ</a:t>
            </a:r>
            <a:r>
              <a:rPr lang="en-US" sz="2200" dirty="0"/>
              <a:t> </a:t>
            </a:r>
            <a:r>
              <a:rPr lang="en-US" sz="2200" dirty="0" err="1"/>
              <a:t>phức</a:t>
            </a:r>
            <a:r>
              <a:rPr lang="en-US" sz="2200" dirty="0"/>
              <a:t> </a:t>
            </a:r>
            <a:r>
              <a:rPr lang="en-US" sz="2200" dirty="0" err="1"/>
              <a:t>tạp</a:t>
            </a:r>
            <a:r>
              <a:rPr lang="en-US" sz="2200" dirty="0"/>
              <a:t> $O(N \log N)$ </a:t>
            </a:r>
            <a:r>
              <a:rPr lang="en-US" sz="2200" dirty="0" err="1"/>
              <a:t>có</a:t>
            </a:r>
            <a:r>
              <a:rPr lang="en-US" sz="2200" dirty="0"/>
              <a:t> </a:t>
            </a:r>
            <a:r>
              <a:rPr lang="en-US" sz="2200" dirty="0" err="1"/>
              <a:t>sẵn</a:t>
            </a:r>
            <a:r>
              <a:rPr lang="en-US" sz="2200" dirty="0"/>
              <a:t> </a:t>
            </a:r>
            <a:r>
              <a:rPr lang="en-US" sz="2200" dirty="0" err="1"/>
              <a:t>trong</a:t>
            </a:r>
            <a:r>
              <a:rPr lang="en-US" sz="2200" dirty="0"/>
              <a:t> .</a:t>
            </a:r>
          </a:p>
          <a:p>
            <a:pPr>
              <a:buFontTx/>
              <a:buChar char="-"/>
            </a:pPr>
            <a:endParaRPr lang="vi-VN" sz="2200" dirty="0"/>
          </a:p>
          <a:p>
            <a:pPr>
              <a:buFontTx/>
              <a:buChar char="-"/>
            </a:pPr>
            <a:endParaRPr lang="en-US" sz="2200" dirty="0"/>
          </a:p>
        </p:txBody>
      </p:sp>
      <p:pic>
        <p:nvPicPr>
          <p:cNvPr id="9" name="Picture 8" descr="image.png"/>
          <p:cNvPicPr>
            <a:picLocks noChangeAspect="1"/>
          </p:cNvPicPr>
          <p:nvPr/>
        </p:nvPicPr>
        <p:blipFill>
          <a:blip r:embed="rId2"/>
          <a:stretch>
            <a:fillRect/>
          </a:stretch>
        </p:blipFill>
        <p:spPr>
          <a:xfrm>
            <a:off x="7180597" y="1181100"/>
            <a:ext cx="1806857" cy="358503"/>
          </a:xfrm>
          <a:prstGeom prst="rect">
            <a:avLst/>
          </a:prstGeom>
        </p:spPr>
      </p:pic>
      <p:pic>
        <p:nvPicPr>
          <p:cNvPr id="10" name="Picture 9" descr="image.png"/>
          <p:cNvPicPr>
            <a:picLocks noChangeAspect="1"/>
          </p:cNvPicPr>
          <p:nvPr/>
        </p:nvPicPr>
        <p:blipFill>
          <a:blip r:embed="rId3"/>
          <a:stretch>
            <a:fillRect/>
          </a:stretch>
        </p:blipFill>
        <p:spPr>
          <a:xfrm>
            <a:off x="9176739" y="1194496"/>
            <a:ext cx="1744133" cy="375891"/>
          </a:xfrm>
          <a:prstGeom prst="rect">
            <a:avLst/>
          </a:prstGeom>
        </p:spPr>
      </p:pic>
      <p:pic>
        <p:nvPicPr>
          <p:cNvPr id="11" name="Picture 10" descr="image.png"/>
          <p:cNvPicPr>
            <a:picLocks noChangeAspect="1"/>
          </p:cNvPicPr>
          <p:nvPr/>
        </p:nvPicPr>
        <p:blipFill>
          <a:blip r:embed="rId4"/>
          <a:stretch>
            <a:fillRect/>
          </a:stretch>
        </p:blipFill>
        <p:spPr>
          <a:xfrm>
            <a:off x="10991825" y="1228784"/>
            <a:ext cx="1010890" cy="332530"/>
          </a:xfrm>
          <a:prstGeom prst="rect">
            <a:avLst/>
          </a:prstGeom>
        </p:spPr>
      </p:pic>
      <p:pic>
        <p:nvPicPr>
          <p:cNvPr id="12" name="Picture 11" descr="image.png"/>
          <p:cNvPicPr>
            <a:picLocks noChangeAspect="1"/>
          </p:cNvPicPr>
          <p:nvPr/>
        </p:nvPicPr>
        <p:blipFill>
          <a:blip r:embed="rId5"/>
          <a:stretch>
            <a:fillRect/>
          </a:stretch>
        </p:blipFill>
        <p:spPr>
          <a:xfrm>
            <a:off x="3137836" y="3145007"/>
            <a:ext cx="5353050" cy="3600450"/>
          </a:xfrm>
          <a:prstGeom prst="rect">
            <a:avLst/>
          </a:prstGeom>
        </p:spPr>
      </p:pic>
      <p:sp>
        <p:nvSpPr>
          <p:cNvPr id="14" name="Rounded Rectangle 13"/>
          <p:cNvSpPr/>
          <p:nvPr/>
        </p:nvSpPr>
        <p:spPr>
          <a:xfrm>
            <a:off x="581025" y="895350"/>
            <a:ext cx="57150" cy="2857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200">
              <a:solidFill>
                <a:schemeClr val="tx1"/>
              </a:solidFill>
              <a:latin typeface="Lato" panose="020F0502020204030203" pitchFamily="34" charset="0"/>
              <a:ea typeface="Lato" panose="020F0502020204030203" pitchFamily="34" charset="0"/>
              <a:cs typeface="Lato" panose="020F0502020204030203" pitchFamily="34" charset="0"/>
            </a:endParaRPr>
          </a:p>
        </p:txBody>
      </p:sp>
      <p:sp>
        <p:nvSpPr>
          <p:cNvPr id="15" name="Title 14">
            <a:extLst>
              <a:ext uri="{FF2B5EF4-FFF2-40B4-BE49-F238E27FC236}">
                <a16:creationId xmlns:a16="http://schemas.microsoft.com/office/drawing/2014/main" id="{34CF27AD-E2AD-2680-1269-9D342D831344}"/>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Thư </a:t>
            </a:r>
            <a:r>
              <a:rPr lang="en-US" dirty="0" err="1"/>
              <a:t>viện</a:t>
            </a:r>
            <a:r>
              <a:rPr lang="en-US" dirty="0"/>
              <a:t> </a:t>
            </a:r>
            <a:r>
              <a:rPr lang="en-US" dirty="0" err="1"/>
              <a:t>nâng</a:t>
            </a:r>
            <a:r>
              <a:rPr lang="en-US" dirty="0"/>
              <a:t> </a:t>
            </a:r>
            <a:r>
              <a:rPr lang="en-US" dirty="0" err="1"/>
              <a:t>cao</a:t>
            </a:r>
            <a:endParaRPr lang="en-US"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9402B-6C3D-AD17-8409-29D50FEDC4E2}"/>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Bài</a:t>
            </a:r>
            <a:r>
              <a:rPr lang="en-US" dirty="0"/>
              <a:t> 1</a:t>
            </a:r>
          </a:p>
        </p:txBody>
      </p:sp>
      <p:sp>
        <p:nvSpPr>
          <p:cNvPr id="3" name="Text Placeholder 2">
            <a:extLst>
              <a:ext uri="{FF2B5EF4-FFF2-40B4-BE49-F238E27FC236}">
                <a16:creationId xmlns:a16="http://schemas.microsoft.com/office/drawing/2014/main" id="{024F1B07-9A8B-37EE-722A-C95A023AB099}"/>
              </a:ext>
            </a:extLst>
          </p:cNvPr>
          <p:cNvSpPr>
            <a:spLocks noGrp="1"/>
          </p:cNvSpPr>
          <p:nvPr>
            <p:ph type="body" sz="quarter" idx="13"/>
          </p:nvPr>
        </p:nvSpPr>
        <p:spPr/>
        <p:txBody>
          <a:bodyPr/>
          <a:lstStyle/>
          <a:p>
            <a:pPr algn="just"/>
            <a:r>
              <a:rPr lang="en-US" dirty="0" err="1"/>
              <a:t>Bài</a:t>
            </a:r>
            <a:r>
              <a:rPr lang="en-US" dirty="0"/>
              <a:t> 1: Quản </a:t>
            </a:r>
            <a:r>
              <a:rPr lang="en-US" dirty="0" err="1"/>
              <a:t>lý</a:t>
            </a:r>
            <a:r>
              <a:rPr lang="en-US" dirty="0"/>
              <a:t> </a:t>
            </a:r>
            <a:r>
              <a:rPr lang="en-US" dirty="0" err="1"/>
              <a:t>danh</a:t>
            </a:r>
            <a:r>
              <a:rPr lang="en-US" dirty="0"/>
              <a:t> </a:t>
            </a:r>
            <a:r>
              <a:rPr lang="en-US" dirty="0" err="1"/>
              <a:t>sách</a:t>
            </a:r>
            <a:r>
              <a:rPr lang="en-US" dirty="0"/>
              <a:t> </a:t>
            </a:r>
            <a:r>
              <a:rPr lang="en-US" dirty="0" err="1"/>
              <a:t>sinh</a:t>
            </a:r>
            <a:r>
              <a:rPr lang="en-US" dirty="0"/>
              <a:t> </a:t>
            </a:r>
            <a:r>
              <a:rPr lang="en-US" dirty="0" err="1"/>
              <a:t>viên</a:t>
            </a:r>
            <a:endParaRPr lang="en-US" dirty="0"/>
          </a:p>
          <a:p>
            <a:pPr algn="just"/>
            <a:r>
              <a:rPr lang="en-US" dirty="0" err="1"/>
              <a:t>Yêu</a:t>
            </a:r>
            <a:r>
              <a:rPr lang="en-US" dirty="0"/>
              <a:t> </a:t>
            </a:r>
            <a:r>
              <a:rPr lang="en-US" dirty="0" err="1"/>
              <a:t>cầu</a:t>
            </a:r>
            <a:r>
              <a:rPr lang="en-US" dirty="0"/>
              <a:t>: </a:t>
            </a:r>
            <a:r>
              <a:rPr lang="en-US" dirty="0" err="1"/>
              <a:t>Dùng</a:t>
            </a:r>
            <a:r>
              <a:rPr lang="en-US" dirty="0"/>
              <a:t> struct. </a:t>
            </a:r>
            <a:r>
              <a:rPr lang="en-US" dirty="0" err="1"/>
              <a:t>Mảng</a:t>
            </a:r>
            <a:r>
              <a:rPr lang="en-US" dirty="0"/>
              <a:t> </a:t>
            </a:r>
            <a:r>
              <a:rPr lang="en-US" dirty="0" err="1"/>
              <a:t>động</a:t>
            </a:r>
            <a:r>
              <a:rPr lang="en-US" dirty="0"/>
              <a:t>, </a:t>
            </a:r>
            <a:r>
              <a:rPr lang="en-US" dirty="0" err="1"/>
              <a:t>nhập</a:t>
            </a:r>
            <a:r>
              <a:rPr lang="en-US" dirty="0"/>
              <a:t>/</a:t>
            </a:r>
            <a:r>
              <a:rPr lang="en-US" dirty="0" err="1"/>
              <a:t>xuất</a:t>
            </a:r>
            <a:r>
              <a:rPr lang="en-US" dirty="0"/>
              <a:t> </a:t>
            </a:r>
            <a:r>
              <a:rPr lang="en-US" dirty="0" err="1"/>
              <a:t>dữ</a:t>
            </a:r>
            <a:r>
              <a:rPr lang="en-US" dirty="0"/>
              <a:t> </a:t>
            </a:r>
            <a:r>
              <a:rPr lang="en-US" dirty="0" err="1"/>
              <a:t>liệu</a:t>
            </a:r>
            <a:endParaRPr lang="en-US" dirty="0"/>
          </a:p>
          <a:p>
            <a:pPr algn="just"/>
            <a:r>
              <a:rPr lang="en-US" dirty="0"/>
              <a:t>Hint: </a:t>
            </a:r>
          </a:p>
          <a:p>
            <a:pPr marL="0" indent="0" algn="just">
              <a:buNone/>
            </a:pPr>
            <a:r>
              <a:rPr lang="en-US" dirty="0"/>
              <a:t>- </a:t>
            </a:r>
            <a:r>
              <a:rPr lang="vi-VN" dirty="0"/>
              <a:t>Bài toán yêu cầu quản lý danh sách sinh viên gồm thông tin cơ bản: Mã SV, Họ tên, Điểm GPA. </a:t>
            </a:r>
            <a:endParaRPr lang="en-US" dirty="0"/>
          </a:p>
          <a:p>
            <a:pPr marL="0" indent="0" algn="just">
              <a:buNone/>
            </a:pPr>
            <a:r>
              <a:rPr lang="en-US" dirty="0"/>
              <a:t>- Đ</a:t>
            </a:r>
            <a:r>
              <a:rPr lang="vi-VN" dirty="0"/>
              <a:t>ịnh nghĩa cấu trúc SinhVien và dùng std::vector để quản lý danh sách có số lượng thay đổi linh hoạt.</a:t>
            </a:r>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1E858BCC-012E-CE02-C25A-318E010278D5}"/>
              </a:ext>
            </a:extLst>
          </p:cNvPr>
          <p:cNvSpPr>
            <a:spLocks noGrp="1"/>
          </p:cNvSpPr>
          <p:nvPr>
            <p:ph type="sldNum" sz="quarter" idx="12"/>
          </p:nvPr>
        </p:nvSpPr>
        <p:spPr/>
        <p:txBody>
          <a:bodyPr/>
          <a:lstStyle/>
          <a:p>
            <a:fld id="{9EA0BE3B-158A-4EDF-80DC-E394A0D1600F}" type="slidenum">
              <a:rPr lang="en-US" smtClean="0"/>
              <a:pPr/>
              <a:t>19</a:t>
            </a:fld>
            <a:endParaRPr lang="en-US"/>
          </a:p>
        </p:txBody>
      </p:sp>
    </p:spTree>
    <p:extLst>
      <p:ext uri="{BB962C8B-B14F-4D97-AF65-F5344CB8AC3E}">
        <p14:creationId xmlns:p14="http://schemas.microsoft.com/office/powerpoint/2010/main" val="1535762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6439F-7A76-EE26-04FB-580D15F5F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678EE-3569-5D1B-1977-38E9BB9EC533}"/>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Bài</a:t>
            </a:r>
            <a:r>
              <a:rPr lang="en-US" dirty="0"/>
              <a:t> 2</a:t>
            </a:r>
          </a:p>
        </p:txBody>
      </p:sp>
      <p:sp>
        <p:nvSpPr>
          <p:cNvPr id="3" name="Text Placeholder 2">
            <a:extLst>
              <a:ext uri="{FF2B5EF4-FFF2-40B4-BE49-F238E27FC236}">
                <a16:creationId xmlns:a16="http://schemas.microsoft.com/office/drawing/2014/main" id="{035BEF68-2843-C45D-FF51-EEAA24DB820B}"/>
              </a:ext>
            </a:extLst>
          </p:cNvPr>
          <p:cNvSpPr>
            <a:spLocks noGrp="1"/>
          </p:cNvSpPr>
          <p:nvPr>
            <p:ph type="body" sz="quarter" idx="13"/>
          </p:nvPr>
        </p:nvSpPr>
        <p:spPr/>
        <p:txBody>
          <a:bodyPr/>
          <a:lstStyle/>
          <a:p>
            <a:r>
              <a:rPr lang="en-US" dirty="0" err="1"/>
              <a:t>Bài</a:t>
            </a:r>
            <a:r>
              <a:rPr lang="en-US" dirty="0"/>
              <a:t> 2: Ma </a:t>
            </a:r>
            <a:r>
              <a:rPr lang="en-US" dirty="0" err="1"/>
              <a:t>trận</a:t>
            </a:r>
            <a:r>
              <a:rPr lang="en-US" dirty="0"/>
              <a:t> </a:t>
            </a:r>
            <a:r>
              <a:rPr lang="en-US" dirty="0" err="1"/>
              <a:t>và</a:t>
            </a:r>
            <a:r>
              <a:rPr lang="en-US" dirty="0"/>
              <a:t> </a:t>
            </a:r>
            <a:r>
              <a:rPr lang="en-US" dirty="0" err="1"/>
              <a:t>Cấp</a:t>
            </a:r>
            <a:r>
              <a:rPr lang="en-US" dirty="0"/>
              <a:t> </a:t>
            </a:r>
            <a:r>
              <a:rPr lang="en-US" dirty="0" err="1"/>
              <a:t>phát</a:t>
            </a:r>
            <a:r>
              <a:rPr lang="en-US" dirty="0"/>
              <a:t> </a:t>
            </a:r>
            <a:r>
              <a:rPr lang="en-US" dirty="0" err="1"/>
              <a:t>động</a:t>
            </a:r>
            <a:r>
              <a:rPr lang="en-US" dirty="0"/>
              <a:t> 2D</a:t>
            </a:r>
          </a:p>
          <a:p>
            <a:r>
              <a:rPr lang="en-US" dirty="0" err="1"/>
              <a:t>Yêu</a:t>
            </a:r>
            <a:r>
              <a:rPr lang="en-US" dirty="0"/>
              <a:t> </a:t>
            </a:r>
            <a:r>
              <a:rPr lang="en-US" dirty="0" err="1"/>
              <a:t>cầu</a:t>
            </a:r>
            <a:r>
              <a:rPr lang="en-US" dirty="0"/>
              <a:t>: </a:t>
            </a:r>
            <a:r>
              <a:rPr lang="en-US" dirty="0" err="1"/>
              <a:t>Dùng</a:t>
            </a:r>
            <a:r>
              <a:rPr lang="en-US" dirty="0"/>
              <a:t> con </a:t>
            </a:r>
            <a:r>
              <a:rPr lang="en-US" dirty="0" err="1"/>
              <a:t>trỏ</a:t>
            </a:r>
            <a:r>
              <a:rPr lang="en-US" dirty="0"/>
              <a:t> </a:t>
            </a:r>
            <a:r>
              <a:rPr lang="en-US" dirty="0" err="1"/>
              <a:t>cấp</a:t>
            </a:r>
            <a:r>
              <a:rPr lang="en-US" dirty="0"/>
              <a:t> 2 (int**), new[] &amp; delete[]</a:t>
            </a:r>
          </a:p>
          <a:p>
            <a:r>
              <a:rPr lang="en-US" dirty="0"/>
              <a:t>Hint: </a:t>
            </a:r>
            <a:r>
              <a:rPr lang="vi-VN" dirty="0"/>
              <a:t>Cấp phát động ma trận 2D kích thước R</a:t>
            </a:r>
            <a:r>
              <a:rPr lang="en-US" dirty="0"/>
              <a:t>x</a:t>
            </a:r>
            <a:r>
              <a:rPr lang="vi-VN" dirty="0"/>
              <a:t>C bằng con trỏ cấp 2:</a:t>
            </a:r>
          </a:p>
          <a:p>
            <a:pPr marL="0" indent="0">
              <a:buNone/>
            </a:pPr>
            <a:r>
              <a:rPr lang="en-US" dirty="0"/>
              <a:t>1. </a:t>
            </a:r>
            <a:r>
              <a:rPr lang="vi-VN" dirty="0"/>
              <a:t>Cấp phát mảng chứa R con trỏ kiểu </a:t>
            </a:r>
            <a:r>
              <a:rPr lang="vi-VN" b="1" dirty="0">
                <a:solidFill>
                  <a:srgbClr val="FF0000"/>
                </a:solidFill>
              </a:rPr>
              <a:t>int*</a:t>
            </a:r>
          </a:p>
          <a:p>
            <a:pPr marL="0" indent="0">
              <a:buNone/>
            </a:pPr>
            <a:r>
              <a:rPr lang="en-US" dirty="0"/>
              <a:t>2. </a:t>
            </a:r>
            <a:r>
              <a:rPr lang="vi-VN" dirty="0"/>
              <a:t>Duyệt qua từng con trỏ và cấp phát mảng chứa C số nguyên.</a:t>
            </a:r>
          </a:p>
          <a:p>
            <a:pPr marL="0" indent="0">
              <a:buNone/>
            </a:pPr>
            <a:r>
              <a:rPr lang="en-US" dirty="0"/>
              <a:t>3. </a:t>
            </a:r>
            <a:r>
              <a:rPr lang="vi-VN" dirty="0"/>
              <a:t>Lưu ý: Phải thu hồi bộ nhớ theo chiều ngược lại (giải phóng từng hàng trước, sau đó giải phóng mảng con trỏ) để tránh rò rỉ bộ nhớ (memory leak).</a:t>
            </a:r>
          </a:p>
          <a:p>
            <a:endParaRPr lang="en-US" dirty="0"/>
          </a:p>
        </p:txBody>
      </p:sp>
      <p:sp>
        <p:nvSpPr>
          <p:cNvPr id="4" name="Slide Number Placeholder 3">
            <a:extLst>
              <a:ext uri="{FF2B5EF4-FFF2-40B4-BE49-F238E27FC236}">
                <a16:creationId xmlns:a16="http://schemas.microsoft.com/office/drawing/2014/main" id="{1795640F-59C4-D3B8-AF36-78A2A991E20C}"/>
              </a:ext>
            </a:extLst>
          </p:cNvPr>
          <p:cNvSpPr>
            <a:spLocks noGrp="1"/>
          </p:cNvSpPr>
          <p:nvPr>
            <p:ph type="sldNum" sz="quarter" idx="12"/>
          </p:nvPr>
        </p:nvSpPr>
        <p:spPr/>
        <p:txBody>
          <a:bodyPr/>
          <a:lstStyle/>
          <a:p>
            <a:fld id="{9EA0BE3B-158A-4EDF-80DC-E394A0D1600F}" type="slidenum">
              <a:rPr lang="en-US" smtClean="0"/>
              <a:pPr/>
              <a:t>20</a:t>
            </a:fld>
            <a:endParaRPr lang="en-US"/>
          </a:p>
        </p:txBody>
      </p:sp>
    </p:spTree>
    <p:extLst>
      <p:ext uri="{BB962C8B-B14F-4D97-AF65-F5344CB8AC3E}">
        <p14:creationId xmlns:p14="http://schemas.microsoft.com/office/powerpoint/2010/main" val="2811408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CD1AB-56FD-8AC0-B9A1-20F23ADD9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33AC4-D534-754C-DCD6-25300D7AC024}"/>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Bài</a:t>
            </a:r>
            <a:r>
              <a:rPr lang="en-US" dirty="0"/>
              <a:t> 3</a:t>
            </a:r>
          </a:p>
        </p:txBody>
      </p:sp>
      <p:sp>
        <p:nvSpPr>
          <p:cNvPr id="3" name="Text Placeholder 2">
            <a:extLst>
              <a:ext uri="{FF2B5EF4-FFF2-40B4-BE49-F238E27FC236}">
                <a16:creationId xmlns:a16="http://schemas.microsoft.com/office/drawing/2014/main" id="{90D18272-7C8E-D9EF-90E1-03623E450927}"/>
              </a:ext>
            </a:extLst>
          </p:cNvPr>
          <p:cNvSpPr>
            <a:spLocks noGrp="1"/>
          </p:cNvSpPr>
          <p:nvPr>
            <p:ph type="body" sz="quarter" idx="13"/>
          </p:nvPr>
        </p:nvSpPr>
        <p:spPr/>
        <p:txBody>
          <a:bodyPr/>
          <a:lstStyle/>
          <a:p>
            <a:r>
              <a:rPr lang="en-US" dirty="0" err="1"/>
              <a:t>Bài</a:t>
            </a:r>
            <a:r>
              <a:rPr lang="en-US" dirty="0"/>
              <a:t> 3: </a:t>
            </a:r>
            <a:r>
              <a:rPr lang="en-US" dirty="0" err="1"/>
              <a:t>Tìm</a:t>
            </a:r>
            <a:r>
              <a:rPr lang="en-US" dirty="0"/>
              <a:t> </a:t>
            </a:r>
            <a:r>
              <a:rPr lang="en-US" dirty="0" err="1"/>
              <a:t>kiếm</a:t>
            </a:r>
            <a:r>
              <a:rPr lang="en-US" dirty="0"/>
              <a:t> </a:t>
            </a:r>
            <a:r>
              <a:rPr lang="en-US" dirty="0" err="1"/>
              <a:t>và</a:t>
            </a:r>
            <a:r>
              <a:rPr lang="en-US" dirty="0"/>
              <a:t> </a:t>
            </a:r>
            <a:r>
              <a:rPr lang="en-US" dirty="0" err="1"/>
              <a:t>Sắp</a:t>
            </a:r>
            <a:r>
              <a:rPr lang="en-US" dirty="0"/>
              <a:t> </a:t>
            </a:r>
            <a:r>
              <a:rPr lang="en-US" dirty="0" err="1"/>
              <a:t>xếp</a:t>
            </a:r>
            <a:r>
              <a:rPr lang="en-US" dirty="0"/>
              <a:t> </a:t>
            </a:r>
            <a:r>
              <a:rPr lang="en-US" dirty="0" err="1"/>
              <a:t>dữ</a:t>
            </a:r>
            <a:r>
              <a:rPr lang="en-US" dirty="0"/>
              <a:t> </a:t>
            </a:r>
            <a:r>
              <a:rPr lang="en-US" dirty="0" err="1"/>
              <a:t>liệu</a:t>
            </a:r>
            <a:endParaRPr lang="en-US" dirty="0"/>
          </a:p>
          <a:p>
            <a:r>
              <a:rPr lang="en-US" dirty="0" err="1"/>
              <a:t>Yêu</a:t>
            </a:r>
            <a:r>
              <a:rPr lang="en-US" dirty="0"/>
              <a:t> </a:t>
            </a:r>
            <a:r>
              <a:rPr lang="en-US" dirty="0" err="1"/>
              <a:t>cầu</a:t>
            </a:r>
            <a:r>
              <a:rPr lang="en-US" dirty="0"/>
              <a:t>: </a:t>
            </a:r>
            <a:r>
              <a:rPr lang="en-US" dirty="0" err="1"/>
              <a:t>Dùng</a:t>
            </a:r>
            <a:r>
              <a:rPr lang="en-US" dirty="0"/>
              <a:t> std::vector, std::sort, so </a:t>
            </a:r>
            <a:r>
              <a:rPr lang="en-US" dirty="0" err="1"/>
              <a:t>sánh</a:t>
            </a:r>
            <a:r>
              <a:rPr lang="en-US" dirty="0"/>
              <a:t> 2 </a:t>
            </a:r>
            <a:r>
              <a:rPr lang="en-US" dirty="0" err="1"/>
              <a:t>hàm</a:t>
            </a:r>
            <a:endParaRPr lang="en-US" dirty="0"/>
          </a:p>
          <a:p>
            <a:r>
              <a:rPr lang="en-US" dirty="0"/>
              <a:t>Hint: </a:t>
            </a:r>
          </a:p>
          <a:p>
            <a:r>
              <a:rPr lang="vi-VN" dirty="0"/>
              <a:t>Sử dụng hàm sắp xếp std::sort tích hợp sẵn trong thư viện &lt;algorithm&gt;. </a:t>
            </a:r>
            <a:endParaRPr lang="en-US" dirty="0"/>
          </a:p>
          <a:p>
            <a:r>
              <a:rPr lang="vi-VN" dirty="0"/>
              <a:t>Tạo một </a:t>
            </a:r>
            <a:r>
              <a:rPr lang="vi-VN" b="1" dirty="0"/>
              <a:t>Comparator function</a:t>
            </a:r>
            <a:r>
              <a:rPr lang="vi-VN" dirty="0"/>
              <a:t> custom để sắp xếp danh sách sinh viên theo GPA giảm dần (nếu bằng GPA thì xếp theo tên). </a:t>
            </a:r>
            <a:endParaRPr lang="en-US" dirty="0"/>
          </a:p>
          <a:p>
            <a:r>
              <a:rPr lang="vi-VN" dirty="0"/>
              <a:t>Tìm kiếm nhị phân yêu cầu mảng phải được sắp xếp trước.</a:t>
            </a:r>
            <a:endParaRPr lang="en-US" dirty="0"/>
          </a:p>
        </p:txBody>
      </p:sp>
      <p:sp>
        <p:nvSpPr>
          <p:cNvPr id="4" name="Slide Number Placeholder 3">
            <a:extLst>
              <a:ext uri="{FF2B5EF4-FFF2-40B4-BE49-F238E27FC236}">
                <a16:creationId xmlns:a16="http://schemas.microsoft.com/office/drawing/2014/main" id="{0418A5FB-5243-580F-C3D2-7156A8FF77B1}"/>
              </a:ext>
            </a:extLst>
          </p:cNvPr>
          <p:cNvSpPr>
            <a:spLocks noGrp="1"/>
          </p:cNvSpPr>
          <p:nvPr>
            <p:ph type="sldNum" sz="quarter" idx="12"/>
          </p:nvPr>
        </p:nvSpPr>
        <p:spPr/>
        <p:txBody>
          <a:bodyPr/>
          <a:lstStyle/>
          <a:p>
            <a:fld id="{9EA0BE3B-158A-4EDF-80DC-E394A0D1600F}" type="slidenum">
              <a:rPr lang="en-US" smtClean="0"/>
              <a:pPr/>
              <a:t>21</a:t>
            </a:fld>
            <a:endParaRPr lang="en-US"/>
          </a:p>
        </p:txBody>
      </p:sp>
    </p:spTree>
    <p:extLst>
      <p:ext uri="{BB962C8B-B14F-4D97-AF65-F5344CB8AC3E}">
        <p14:creationId xmlns:p14="http://schemas.microsoft.com/office/powerpoint/2010/main" val="3097719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F06A-768F-8C48-B72C-2D63E10B4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77F75-9D74-6CB7-19E4-27F69A9FCC8E}"/>
              </a:ext>
            </a:extLst>
          </p:cNvPr>
          <p:cNvSpPr>
            <a:spLocks noGrp="1"/>
          </p:cNvSpPr>
          <p:nvPr>
            <p:ph type="title"/>
          </p:nvPr>
        </p:nvSpPr>
        <p:spPr/>
        <p:txBody>
          <a:bodyPr/>
          <a:lstStyle/>
          <a:p>
            <a:r>
              <a:rPr lang="en-US" dirty="0"/>
              <a:t>4. </a:t>
            </a:r>
            <a:r>
              <a:rPr lang="en-US" dirty="0" err="1"/>
              <a:t>Thực</a:t>
            </a:r>
            <a:r>
              <a:rPr lang="en-US" dirty="0"/>
              <a:t> </a:t>
            </a:r>
            <a:r>
              <a:rPr lang="en-US" dirty="0" err="1"/>
              <a:t>hành</a:t>
            </a:r>
            <a:r>
              <a:rPr lang="en-US" dirty="0"/>
              <a:t> – </a:t>
            </a:r>
            <a:r>
              <a:rPr lang="en-US" dirty="0" err="1"/>
              <a:t>Bài</a:t>
            </a:r>
            <a:r>
              <a:rPr lang="en-US" dirty="0"/>
              <a:t> 4</a:t>
            </a:r>
            <a:br>
              <a:rPr lang="en-US" dirty="0"/>
            </a:br>
            <a:endParaRPr lang="en-US" dirty="0"/>
          </a:p>
        </p:txBody>
      </p:sp>
      <p:sp>
        <p:nvSpPr>
          <p:cNvPr id="3" name="Text Placeholder 2">
            <a:extLst>
              <a:ext uri="{FF2B5EF4-FFF2-40B4-BE49-F238E27FC236}">
                <a16:creationId xmlns:a16="http://schemas.microsoft.com/office/drawing/2014/main" id="{7F4B03B0-0950-C240-6FFE-3B5A4FD672FB}"/>
              </a:ext>
            </a:extLst>
          </p:cNvPr>
          <p:cNvSpPr>
            <a:spLocks noGrp="1"/>
          </p:cNvSpPr>
          <p:nvPr>
            <p:ph type="body" sz="quarter" idx="13"/>
          </p:nvPr>
        </p:nvSpPr>
        <p:spPr/>
        <p:txBody>
          <a:bodyPr/>
          <a:lstStyle/>
          <a:p>
            <a:r>
              <a:rPr lang="en-US" sz="2400" dirty="0" err="1"/>
              <a:t>Bài</a:t>
            </a:r>
            <a:r>
              <a:rPr lang="en-US" sz="2400" dirty="0"/>
              <a:t> 4: </a:t>
            </a:r>
            <a:r>
              <a:rPr lang="en-US" sz="2400" dirty="0" err="1"/>
              <a:t>Tối</a:t>
            </a:r>
            <a:r>
              <a:rPr lang="en-US" sz="2400" dirty="0"/>
              <a:t> </a:t>
            </a:r>
            <a:r>
              <a:rPr lang="en-US" sz="2400" dirty="0" err="1"/>
              <a:t>ưu</a:t>
            </a:r>
            <a:r>
              <a:rPr lang="en-US" sz="2400" dirty="0"/>
              <a:t> I/O </a:t>
            </a:r>
            <a:r>
              <a:rPr lang="en-US" sz="2400" dirty="0" err="1"/>
              <a:t>và</a:t>
            </a:r>
            <a:r>
              <a:rPr lang="en-US" sz="2400" dirty="0"/>
              <a:t> </a:t>
            </a:r>
            <a:r>
              <a:rPr lang="en-US" sz="2400" dirty="0" err="1"/>
              <a:t>đọc</a:t>
            </a:r>
            <a:r>
              <a:rPr lang="en-US" sz="2400" dirty="0"/>
              <a:t> </a:t>
            </a:r>
            <a:r>
              <a:rPr lang="en-US" sz="2400" dirty="0" err="1"/>
              <a:t>ghi</a:t>
            </a:r>
            <a:r>
              <a:rPr lang="en-US" sz="2400" dirty="0"/>
              <a:t> File </a:t>
            </a:r>
          </a:p>
          <a:p>
            <a:r>
              <a:rPr lang="en-US" sz="2400" dirty="0" err="1"/>
              <a:t>Yêu</a:t>
            </a:r>
            <a:r>
              <a:rPr lang="en-US" sz="2400" dirty="0"/>
              <a:t> </a:t>
            </a:r>
            <a:r>
              <a:rPr lang="en-US" sz="2400" dirty="0" err="1"/>
              <a:t>cầu</a:t>
            </a:r>
            <a:r>
              <a:rPr lang="en-US" sz="2400" dirty="0"/>
              <a:t>: Fast I/O, </a:t>
            </a:r>
            <a:r>
              <a:rPr lang="en-US" sz="2400" dirty="0" err="1"/>
              <a:t>Đọc</a:t>
            </a:r>
            <a:r>
              <a:rPr lang="en-US" sz="2400" dirty="0"/>
              <a:t>/</a:t>
            </a:r>
            <a:r>
              <a:rPr lang="en-US" sz="2400" dirty="0" err="1"/>
              <a:t>ghi</a:t>
            </a:r>
            <a:r>
              <a:rPr lang="en-US" sz="2400" dirty="0"/>
              <a:t> </a:t>
            </a:r>
            <a:r>
              <a:rPr lang="en-US" sz="2400" dirty="0" err="1"/>
              <a:t>tập</a:t>
            </a:r>
            <a:r>
              <a:rPr lang="en-US" sz="2400" dirty="0"/>
              <a:t> tin </a:t>
            </a:r>
            <a:r>
              <a:rPr lang="en-US" sz="2400" dirty="0" err="1"/>
              <a:t>fstream</a:t>
            </a:r>
            <a:r>
              <a:rPr lang="en-US" sz="2400" dirty="0"/>
              <a:t>. </a:t>
            </a:r>
          </a:p>
          <a:p>
            <a:r>
              <a:rPr lang="en-US" sz="2400" dirty="0"/>
              <a:t>Hint: </a:t>
            </a:r>
          </a:p>
          <a:p>
            <a:pPr>
              <a:buFontTx/>
              <a:buChar char="-"/>
            </a:pPr>
            <a:r>
              <a:rPr lang="vi-VN" sz="2400" dirty="0"/>
              <a:t>Fast I/O: Thêm dòng code</a:t>
            </a:r>
            <a:r>
              <a:rPr lang="en-US" sz="2400" dirty="0"/>
              <a:t> </a:t>
            </a:r>
          </a:p>
          <a:p>
            <a:pPr marL="0" indent="0">
              <a:buNone/>
            </a:pPr>
            <a:r>
              <a:rPr lang="en-US" sz="2400" b="1" dirty="0">
                <a:solidFill>
                  <a:srgbClr val="FF0000"/>
                </a:solidFill>
              </a:rPr>
              <a:t>	“</a:t>
            </a:r>
            <a:r>
              <a:rPr lang="vi-VN" sz="2400" b="1" dirty="0">
                <a:solidFill>
                  <a:srgbClr val="FF0000"/>
                </a:solidFill>
              </a:rPr>
              <a:t>ios_base :: sync_with_stdio(false); </a:t>
            </a:r>
            <a:endParaRPr lang="en-US" sz="2400" b="1" dirty="0">
              <a:solidFill>
                <a:srgbClr val="FF0000"/>
              </a:solidFill>
            </a:endParaRPr>
          </a:p>
          <a:p>
            <a:pPr marL="0" indent="0">
              <a:buNone/>
            </a:pPr>
            <a:r>
              <a:rPr lang="en-US" sz="2400" b="1" dirty="0">
                <a:solidFill>
                  <a:srgbClr val="FF0000"/>
                </a:solidFill>
              </a:rPr>
              <a:t>	</a:t>
            </a:r>
            <a:r>
              <a:rPr lang="vi-VN" sz="2400" b="1" dirty="0">
                <a:solidFill>
                  <a:srgbClr val="FF0000"/>
                </a:solidFill>
              </a:rPr>
              <a:t>cin. tie(NULL);</a:t>
            </a:r>
            <a:r>
              <a:rPr lang="en-US" sz="2400" b="1" dirty="0">
                <a:solidFill>
                  <a:srgbClr val="FF0000"/>
                </a:solidFill>
              </a:rPr>
              <a:t>”</a:t>
            </a:r>
          </a:p>
          <a:p>
            <a:pPr marL="0" indent="0">
              <a:buNone/>
            </a:pPr>
            <a:r>
              <a:rPr lang="vi-VN" sz="2400" dirty="0"/>
              <a:t>ở đầu</a:t>
            </a:r>
            <a:r>
              <a:rPr lang="en-US" sz="2400" dirty="0"/>
              <a:t> </a:t>
            </a:r>
            <a:r>
              <a:rPr lang="vi-VN" sz="2400" dirty="0"/>
              <a:t>hàm main() để hủy đồng bộ với CI/O.</a:t>
            </a:r>
            <a:endParaRPr lang="en-US" sz="2400" dirty="0"/>
          </a:p>
          <a:p>
            <a:pPr>
              <a:buFontTx/>
              <a:buChar char="-"/>
            </a:pPr>
            <a:r>
              <a:rPr lang="vi-VN" sz="2400" dirty="0"/>
              <a:t>Tránh dùng </a:t>
            </a:r>
            <a:r>
              <a:rPr lang="vi-VN" sz="2400" b="1" dirty="0">
                <a:solidFill>
                  <a:srgbClr val="FF0000"/>
                </a:solidFill>
              </a:rPr>
              <a:t>endl</a:t>
            </a:r>
            <a:r>
              <a:rPr lang="vi-VN" sz="2400" dirty="0"/>
              <a:t> : Sử dụng ký tự xuống dòng </a:t>
            </a:r>
            <a:r>
              <a:rPr lang="vi-VN" sz="2400" b="1" dirty="0">
                <a:solidFill>
                  <a:srgbClr val="FF0000"/>
                </a:solidFill>
              </a:rPr>
              <a:t>'\n'</a:t>
            </a:r>
            <a:r>
              <a:rPr lang="vi-VN" sz="2400" dirty="0"/>
              <a:t> thay cho</a:t>
            </a:r>
            <a:r>
              <a:rPr lang="en-US" sz="2400" dirty="0"/>
              <a:t> </a:t>
            </a:r>
            <a:r>
              <a:rPr lang="vi-VN" sz="2400" b="1" dirty="0">
                <a:solidFill>
                  <a:srgbClr val="FF0000"/>
                </a:solidFill>
              </a:rPr>
              <a:t>endl</a:t>
            </a:r>
            <a:r>
              <a:rPr lang="vi-VN" sz="2400" dirty="0"/>
              <a:t> để tránh việc xả bộ đệm (flush buffer) liên tục gây chậm</a:t>
            </a:r>
            <a:r>
              <a:rPr lang="en-US" sz="2400" dirty="0"/>
              <a:t> </a:t>
            </a:r>
            <a:r>
              <a:rPr lang="vi-VN" sz="2400" dirty="0"/>
              <a:t>chương trình.</a:t>
            </a:r>
            <a:endParaRPr lang="en-US" sz="2400" dirty="0"/>
          </a:p>
          <a:p>
            <a:pPr>
              <a:buFontTx/>
              <a:buChar char="-"/>
            </a:pPr>
            <a:r>
              <a:rPr lang="vi-VN" sz="2400" dirty="0"/>
              <a:t>Truyển tham chiếu hằng: Dùng</a:t>
            </a:r>
            <a:r>
              <a:rPr lang="en-US" sz="2400" dirty="0"/>
              <a:t> </a:t>
            </a:r>
            <a:r>
              <a:rPr lang="vi-VN" sz="2400" b="1" dirty="0">
                <a:solidFill>
                  <a:srgbClr val="FF0000"/>
                </a:solidFill>
              </a:rPr>
              <a:t>const vector&lt;int&gt; </a:t>
            </a:r>
            <a:r>
              <a:rPr lang="en-US" sz="2400" b="1" dirty="0">
                <a:solidFill>
                  <a:srgbClr val="FF0000"/>
                </a:solidFill>
              </a:rPr>
              <a:t>&amp;</a:t>
            </a:r>
            <a:r>
              <a:rPr lang="vi-VN" sz="2400" b="1" dirty="0">
                <a:solidFill>
                  <a:srgbClr val="FF0000"/>
                </a:solidFill>
              </a:rPr>
              <a:t>ar</a:t>
            </a:r>
            <a:r>
              <a:rPr lang="en-US" sz="2400" b="1" dirty="0">
                <a:solidFill>
                  <a:srgbClr val="FF0000"/>
                </a:solidFill>
              </a:rPr>
              <a:t>r </a:t>
            </a:r>
            <a:r>
              <a:rPr lang="vi-VN" sz="2400" dirty="0"/>
              <a:t>không cần chỉnh sửa mảng.</a:t>
            </a:r>
            <a:endParaRPr lang="en-US" sz="2400" dirty="0"/>
          </a:p>
        </p:txBody>
      </p:sp>
      <p:sp>
        <p:nvSpPr>
          <p:cNvPr id="4" name="Slide Number Placeholder 3">
            <a:extLst>
              <a:ext uri="{FF2B5EF4-FFF2-40B4-BE49-F238E27FC236}">
                <a16:creationId xmlns:a16="http://schemas.microsoft.com/office/drawing/2014/main" id="{84121D10-4406-0022-C350-748D5279D746}"/>
              </a:ext>
            </a:extLst>
          </p:cNvPr>
          <p:cNvSpPr>
            <a:spLocks noGrp="1"/>
          </p:cNvSpPr>
          <p:nvPr>
            <p:ph type="sldNum" sz="quarter" idx="12"/>
          </p:nvPr>
        </p:nvSpPr>
        <p:spPr/>
        <p:txBody>
          <a:bodyPr/>
          <a:lstStyle/>
          <a:p>
            <a:fld id="{9EA0BE3B-158A-4EDF-80DC-E394A0D1600F}" type="slidenum">
              <a:rPr lang="en-US" smtClean="0"/>
              <a:pPr/>
              <a:t>22</a:t>
            </a:fld>
            <a:endParaRPr lang="en-US"/>
          </a:p>
        </p:txBody>
      </p:sp>
    </p:spTree>
    <p:extLst>
      <p:ext uri="{BB962C8B-B14F-4D97-AF65-F5344CB8AC3E}">
        <p14:creationId xmlns:p14="http://schemas.microsoft.com/office/powerpoint/2010/main" val="3398956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571896" y="2457696"/>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6000" dirty="0"/>
              <a:t>Q&amp;A</a:t>
            </a:r>
          </a:p>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23</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1056</TotalTime>
  <Words>2286</Words>
  <Application>Microsoft Office PowerPoint</Application>
  <PresentationFormat>Widescreen</PresentationFormat>
  <Paragraphs>207</Paragraphs>
  <Slides>23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Lato</vt:lpstr>
      <vt:lpstr>Plus Jakarta Sans</vt:lpstr>
      <vt:lpstr>Roboto</vt:lpstr>
      <vt:lpstr>Symbol</vt:lpstr>
      <vt:lpstr>Office Theme</vt:lpstr>
      <vt:lpstr>PowerPoint Presentation</vt:lpstr>
      <vt:lpstr>PowerPoint Presentation</vt:lpstr>
      <vt:lpstr>Danh mục</vt:lpstr>
      <vt:lpstr>1. Tổng quan về lập trình </vt:lpstr>
      <vt:lpstr>Tổng quan về lập trình</vt:lpstr>
      <vt:lpstr>Tổng quan về lập trình</vt:lpstr>
      <vt:lpstr>Tổng quan về lập trình</vt:lpstr>
      <vt:lpstr>Tổng quan về lập trình</vt:lpstr>
      <vt:lpstr>2. Môi trường lập trình</vt:lpstr>
      <vt:lpstr>2. Môi trường lập trình</vt:lpstr>
      <vt:lpstr>2. Môi trường lập trình</vt:lpstr>
      <vt:lpstr>3. Tạo project và viết code</vt:lpstr>
      <vt:lpstr>3. Tạo project và viết code</vt:lpstr>
      <vt:lpstr>3. Tạo project và viết code</vt:lpstr>
      <vt:lpstr>4. Thực hành - Cấu trúc chương trình C++</vt:lpstr>
      <vt:lpstr>4. Thực hành – nhắc lại code</vt:lpstr>
      <vt:lpstr>4. Thực hành – cấu trúc dữ liệu cơ bản</vt:lpstr>
      <vt:lpstr>4. Thực hành – Thư viện nâng cao</vt:lpstr>
      <vt:lpstr>4. Thực hành – Bài 1</vt:lpstr>
      <vt:lpstr>4. Thực hành – Bài 2</vt:lpstr>
      <vt:lpstr>4. Thực hành – Bài 3</vt:lpstr>
      <vt:lpstr>4. Thực hành – Bài 4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Bui Hanh Trang</cp:lastModifiedBy>
  <cp:revision>33</cp:revision>
  <dcterms:created xsi:type="dcterms:W3CDTF">2021-05-28T04:32:29Z</dcterms:created>
  <dcterms:modified xsi:type="dcterms:W3CDTF">2026-09-06T09:10:14Z</dcterms:modified>
</cp:coreProperties>
</file>