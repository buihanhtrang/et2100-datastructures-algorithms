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58"/>
  </p:notesMasterIdLst>
  <p:handoutMasterIdLst>
    <p:handoutMasterId r:id="rId59"/>
  </p:handoutMasterIdLst>
  <p:sldIdLst>
    <p:sldId id="625" r:id="rId2"/>
    <p:sldId id="626" r:id="rId3"/>
    <p:sldId id="546" r:id="rId4"/>
    <p:sldId id="589" r:id="rId5"/>
    <p:sldId id="549" r:id="rId6"/>
    <p:sldId id="550" r:id="rId7"/>
    <p:sldId id="554" r:id="rId8"/>
    <p:sldId id="556" r:id="rId9"/>
    <p:sldId id="551" r:id="rId10"/>
    <p:sldId id="562" r:id="rId11"/>
    <p:sldId id="552" r:id="rId12"/>
    <p:sldId id="559" r:id="rId13"/>
    <p:sldId id="590" r:id="rId14"/>
    <p:sldId id="563" r:id="rId15"/>
    <p:sldId id="567" r:id="rId16"/>
    <p:sldId id="568" r:id="rId17"/>
    <p:sldId id="569" r:id="rId18"/>
    <p:sldId id="592" r:id="rId19"/>
    <p:sldId id="591" r:id="rId20"/>
    <p:sldId id="593" r:id="rId21"/>
    <p:sldId id="573" r:id="rId22"/>
    <p:sldId id="594" r:id="rId23"/>
    <p:sldId id="595" r:id="rId24"/>
    <p:sldId id="581" r:id="rId25"/>
    <p:sldId id="584" r:id="rId26"/>
    <p:sldId id="596" r:id="rId27"/>
    <p:sldId id="585" r:id="rId28"/>
    <p:sldId id="597" r:id="rId29"/>
    <p:sldId id="598" r:id="rId30"/>
    <p:sldId id="599" r:id="rId31"/>
    <p:sldId id="600" r:id="rId32"/>
    <p:sldId id="601" r:id="rId33"/>
    <p:sldId id="602"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15" r:id="rId47"/>
    <p:sldId id="617" r:id="rId48"/>
    <p:sldId id="618" r:id="rId49"/>
    <p:sldId id="619" r:id="rId50"/>
    <p:sldId id="620" r:id="rId51"/>
    <p:sldId id="621" r:id="rId52"/>
    <p:sldId id="622" r:id="rId53"/>
    <p:sldId id="623" r:id="rId54"/>
    <p:sldId id="624" r:id="rId55"/>
    <p:sldId id="627" r:id="rId56"/>
    <p:sldId id="628" r:id="rId57"/>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A8A8"/>
    <a:srgbClr val="AAE8F4"/>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19" autoAdjust="0"/>
    <p:restoredTop sz="85172" autoAdjust="0"/>
  </p:normalViewPr>
  <p:slideViewPr>
    <p:cSldViewPr>
      <p:cViewPr varScale="1">
        <p:scale>
          <a:sx n="60" d="100"/>
          <a:sy n="60" d="100"/>
        </p:scale>
        <p:origin x="1539" y="45"/>
      </p:cViewPr>
      <p:guideLst>
        <p:guide orient="horz" pos="2160"/>
        <p:guide pos="2880"/>
      </p:guideLst>
    </p:cSldViewPr>
  </p:slideViewPr>
  <p:notesTextViewPr>
    <p:cViewPr>
      <p:scale>
        <a:sx n="3" d="2"/>
        <a:sy n="3" d="2"/>
      </p:scale>
      <p:origin x="0" y="0"/>
    </p:cViewPr>
  </p:notesTextViewPr>
  <p:notesViewPr>
    <p:cSldViewPr>
      <p:cViewPr varScale="1">
        <p:scale>
          <a:sx n="67" d="100"/>
          <a:sy n="67" d="100"/>
        </p:scale>
        <p:origin x="-2784" y="-96"/>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 Hai" userId="0a4b3da92c65de21" providerId="LiveId" clId="{E4E10A87-320C-47E3-940C-4AECEDEE5FB7}"/>
    <pc:docChg chg="custSel modSld">
      <pc:chgData name="Hai Hai" userId="0a4b3da92c65de21" providerId="LiveId" clId="{E4E10A87-320C-47E3-940C-4AECEDEE5FB7}" dt="2025-12-03T05:40:20.558" v="0" actId="478"/>
      <pc:docMkLst>
        <pc:docMk/>
      </pc:docMkLst>
      <pc:sldChg chg="delSp mod">
        <pc:chgData name="Hai Hai" userId="0a4b3da92c65de21" providerId="LiveId" clId="{E4E10A87-320C-47E3-940C-4AECEDEE5FB7}" dt="2025-12-03T05:40:20.558" v="0" actId="478"/>
        <pc:sldMkLst>
          <pc:docMk/>
          <pc:sldMk cId="650515929" sldId="626"/>
        </pc:sldMkLst>
        <pc:spChg chg="del">
          <ac:chgData name="Hai Hai" userId="0a4b3da92c65de21" providerId="LiveId" clId="{E4E10A87-320C-47E3-940C-4AECEDEE5FB7}" dt="2025-12-03T05:40:20.558" v="0" actId="478"/>
          <ac:spMkLst>
            <pc:docMk/>
            <pc:sldMk cId="650515929" sldId="626"/>
            <ac:spMk id="3" creationId="{A4ACF486-B7D8-4A5A-B633-83527A2F99E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76363" cy="511731"/>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021296" y="2"/>
            <a:ext cx="3076363" cy="511731"/>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12/3/2025</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021296" y="9721106"/>
            <a:ext cx="3076363" cy="511731"/>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Mảng</a:t>
            </a:r>
            <a:r>
              <a:rPr lang="en-US" dirty="0"/>
              <a:t>                       CT </a:t>
            </a:r>
            <a:r>
              <a:rPr lang="en-US" dirty="0" err="1"/>
              <a:t>lưu</a:t>
            </a:r>
            <a:r>
              <a:rPr lang="en-US" dirty="0"/>
              <a:t> </a:t>
            </a:r>
            <a:r>
              <a:rPr lang="en-US" dirty="0" err="1"/>
              <a:t>trữ</a:t>
            </a:r>
            <a:r>
              <a:rPr lang="en-US" baseline="0" dirty="0"/>
              <a:t> </a:t>
            </a:r>
            <a:r>
              <a:rPr lang="en-US" baseline="0" dirty="0" err="1"/>
              <a:t>tuần</a:t>
            </a:r>
            <a:r>
              <a:rPr lang="en-US" baseline="0" dirty="0"/>
              <a:t> </a:t>
            </a:r>
            <a:r>
              <a:rPr lang="en-US" baseline="0" dirty="0" err="1"/>
              <a:t>tự</a:t>
            </a:r>
            <a:endParaRPr lang="en-US" dirty="0"/>
          </a:p>
          <a:p>
            <a:r>
              <a:rPr lang="en-US" dirty="0" err="1"/>
              <a:t>Danh</a:t>
            </a:r>
            <a:r>
              <a:rPr lang="en-US" baseline="0" dirty="0"/>
              <a:t> </a:t>
            </a:r>
            <a:r>
              <a:rPr lang="en-US" baseline="0" dirty="0" err="1"/>
              <a:t>sách</a:t>
            </a:r>
            <a:r>
              <a:rPr lang="en-US" baseline="0" dirty="0"/>
              <a:t>               CT </a:t>
            </a:r>
            <a:r>
              <a:rPr lang="en-US" baseline="0" err="1"/>
              <a:t>lưu</a:t>
            </a:r>
            <a:r>
              <a:rPr lang="en-US" baseline="0"/>
              <a:t> trư</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a:t>
            </a:fld>
            <a:endParaRPr lang="en-US"/>
          </a:p>
        </p:txBody>
      </p:sp>
    </p:spTree>
    <p:extLst>
      <p:ext uri="{BB962C8B-B14F-4D97-AF65-F5344CB8AC3E}">
        <p14:creationId xmlns:p14="http://schemas.microsoft.com/office/powerpoint/2010/main" val="551194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FBFA1FEE-0FBF-4660-A2E4-E4739F195B2A}" type="slidenum">
              <a:rPr lang="en-US" smtClean="0"/>
              <a:pPr>
                <a:defRPr/>
              </a:pPr>
              <a:t>8</a:t>
            </a:fld>
            <a:endParaRPr lang="en-US"/>
          </a:p>
        </p:txBody>
      </p:sp>
    </p:spTree>
    <p:extLst>
      <p:ext uri="{BB962C8B-B14F-4D97-AF65-F5344CB8AC3E}">
        <p14:creationId xmlns:p14="http://schemas.microsoft.com/office/powerpoint/2010/main" val="183110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a:t>
            </a:r>
            <a:r>
              <a:rPr lang="en-US" baseline="0" dirty="0"/>
              <a:t> case: </a:t>
            </a:r>
            <a:r>
              <a:rPr lang="en-US" dirty="0"/>
              <a:t>A complete graph means that every vertex is connected with every other vertex. </a:t>
            </a:r>
          </a:p>
          <a:p>
            <a:r>
              <a:rPr lang="en-US" dirty="0"/>
              <a:t>If you take one vertex of your graph, you therefore have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−1 </a:t>
            </a:r>
            <a:r>
              <a:rPr lang="en-US" dirty="0"/>
              <a:t>outgoing edges from that particular vertex. </a:t>
            </a:r>
          </a:p>
          <a:p>
            <a:r>
              <a:rPr lang="en-US" dirty="0"/>
              <a:t>Now, you have </a:t>
            </a:r>
            <a:r>
              <a:rPr lang="en-US" sz="1200" i="1" kern="1200" dirty="0">
                <a:solidFill>
                  <a:schemeClr val="tx1"/>
                </a:solidFill>
                <a:effectLst/>
                <a:latin typeface="+mn-lt"/>
                <a:ea typeface="+mn-ea"/>
                <a:cs typeface="+mn-cs"/>
              </a:rPr>
              <a:t>n </a:t>
            </a:r>
            <a:r>
              <a:rPr lang="en-US" dirty="0"/>
              <a:t>vertices in total, so you might be tempted to say that there are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−1)</a:t>
            </a:r>
            <a:r>
              <a:rPr lang="en-US" dirty="0"/>
              <a:t> edges in total, </a:t>
            </a:r>
          </a:p>
          <a:p>
            <a:r>
              <a:rPr lang="en-US" dirty="0"/>
              <a:t>For </a:t>
            </a:r>
            <a:r>
              <a:rPr lang="vi-VN" sz="1200" dirty="0"/>
              <a:t>undirected grap</a:t>
            </a:r>
            <a:r>
              <a:rPr lang="en-US" sz="1200" dirty="0"/>
              <a:t>, </a:t>
            </a:r>
            <a:r>
              <a:rPr lang="en-US" dirty="0"/>
              <a:t>this method counts every edge twice, because every edge going out from one vertex is an edge going into another vertex. Hence, you have to divide your result by 2. This leaves you with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−1)/2</a:t>
            </a:r>
            <a:r>
              <a:rPr lang="en-US" dirty="0"/>
              <a:t>.</a:t>
            </a:r>
          </a:p>
          <a:p>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1240697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do tính động của</a:t>
            </a:r>
            <a:r>
              <a:rPr lang="en-US" dirty="0"/>
              <a:t> </a:t>
            </a:r>
            <a:r>
              <a:rPr lang="vi-VN" dirty="0"/>
              <a:t>cấu trúc đồ thị, cấu trúc lưu trữ này thường chỉ thích hợp khi kích thước đồ thị</a:t>
            </a:r>
            <a:r>
              <a:rPr lang="en-US" dirty="0"/>
              <a:t> </a:t>
            </a:r>
            <a:r>
              <a:rPr lang="vi-VN" dirty="0"/>
              <a:t>nhỏ (trong khoảng vài chục đỉnh và cạnh). Còn khi kích thước đồ thị lớn hơn,</a:t>
            </a:r>
            <a:r>
              <a:rPr lang="en-US" dirty="0"/>
              <a:t> </a:t>
            </a:r>
            <a:r>
              <a:rPr lang="vi-VN" dirty="0"/>
              <a:t>cấu trúc lưu trữ này thường gây ra sự lãng phí kích thước lưu trữ lớn.</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14</a:t>
            </a:fld>
            <a:endParaRPr lang="en-US"/>
          </a:p>
        </p:txBody>
      </p:sp>
    </p:spTree>
    <p:extLst>
      <p:ext uri="{BB962C8B-B14F-4D97-AF65-F5344CB8AC3E}">
        <p14:creationId xmlns:p14="http://schemas.microsoft.com/office/powerpoint/2010/main" val="2621488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15</a:t>
            </a:fld>
            <a:endParaRPr lang="en-US"/>
          </a:p>
        </p:txBody>
      </p:sp>
    </p:spTree>
    <p:extLst>
      <p:ext uri="{BB962C8B-B14F-4D97-AF65-F5344CB8AC3E}">
        <p14:creationId xmlns:p14="http://schemas.microsoft.com/office/powerpoint/2010/main" val="2127592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Thứ</a:t>
            </a:r>
            <a:r>
              <a:rPr lang="en-US" baseline="0" dirty="0"/>
              <a:t> </a:t>
            </a:r>
            <a:r>
              <a:rPr lang="en-US" baseline="0" dirty="0" err="1"/>
              <a:t>tự</a:t>
            </a:r>
            <a:r>
              <a:rPr lang="en-US" baseline="0" dirty="0"/>
              <a:t> </a:t>
            </a:r>
            <a:r>
              <a:rPr lang="en-US" baseline="0" dirty="0" err="1"/>
              <a:t>các</a:t>
            </a:r>
            <a:r>
              <a:rPr lang="en-US" baseline="0" dirty="0"/>
              <a:t> </a:t>
            </a:r>
            <a:r>
              <a:rPr lang="en-US" baseline="0" dirty="0" err="1"/>
              <a:t>cột</a:t>
            </a:r>
            <a:r>
              <a:rPr lang="en-US" baseline="0" dirty="0"/>
              <a:t>/</a:t>
            </a:r>
            <a:r>
              <a:rPr lang="en-US" baseline="0" dirty="0" err="1"/>
              <a:t>hàng</a:t>
            </a:r>
            <a:r>
              <a:rPr lang="en-US" baseline="0" dirty="0"/>
              <a:t> </a:t>
            </a:r>
            <a:r>
              <a:rPr lang="en-US" baseline="0" dirty="0" err="1"/>
              <a:t>trong</a:t>
            </a:r>
            <a:r>
              <a:rPr lang="en-US" baseline="0" dirty="0"/>
              <a:t> ma </a:t>
            </a:r>
            <a:r>
              <a:rPr lang="en-US" baseline="0" dirty="0" err="1"/>
              <a:t>trận</a:t>
            </a:r>
            <a:r>
              <a:rPr lang="en-US" baseline="0" dirty="0"/>
              <a:t> </a:t>
            </a:r>
            <a:r>
              <a:rPr lang="en-US" baseline="0" dirty="0" err="1"/>
              <a:t>phải</a:t>
            </a:r>
            <a:r>
              <a:rPr lang="en-US" baseline="0" dirty="0"/>
              <a:t> </a:t>
            </a:r>
            <a:r>
              <a:rPr lang="en-US" baseline="0" dirty="0" err="1"/>
              <a:t>hợp</a:t>
            </a:r>
            <a:r>
              <a:rPr lang="en-US" baseline="0" dirty="0"/>
              <a:t> </a:t>
            </a:r>
            <a:r>
              <a:rPr lang="en-US" baseline="0" dirty="0" err="1"/>
              <a:t>lý</a:t>
            </a:r>
            <a:r>
              <a:rPr lang="en-US" baseline="0" dirty="0"/>
              <a:t> (A, B, C, D…)</a:t>
            </a:r>
          </a:p>
          <a:p>
            <a:endParaRPr lang="en-US" dirty="0"/>
          </a:p>
          <a:p>
            <a:r>
              <a:rPr lang="vi-VN" dirty="0"/>
              <a:t>cách cài đặt thứ nhất sử</a:t>
            </a:r>
            <a:r>
              <a:rPr lang="en-US" dirty="0"/>
              <a:t> </a:t>
            </a:r>
            <a:r>
              <a:rPr lang="vi-VN" dirty="0"/>
              <a:t>dụng ma trận đỉnh kề vừa đơn giản hơn do chỉ cần dùng thêm một mảng. Đồng thời,</a:t>
            </a:r>
            <a:r>
              <a:rPr lang="en-US" dirty="0"/>
              <a:t> </a:t>
            </a:r>
            <a:r>
              <a:rPr lang="vi-VN" dirty="0"/>
              <a:t>kích thước mảng thêm này cũng chỉ phụ thuộc vào số đỉnh của đồ thị, chứ không</a:t>
            </a:r>
            <a:r>
              <a:rPr lang="en-US" dirty="0"/>
              <a:t> </a:t>
            </a:r>
            <a:r>
              <a:rPr lang="vi-VN" dirty="0"/>
              <a:t>phải phụ thuộc vào cả số đỉnh và số cạnh như cách sử dụng ma trận cạnh kề.</a:t>
            </a:r>
            <a:endParaRPr lang="en-US" dirty="0"/>
          </a:p>
          <a:p>
            <a:endParaRPr lang="en-US" dirty="0"/>
          </a:p>
          <a:p>
            <a:endParaRPr lang="en-US" dirty="0"/>
          </a:p>
          <a:p>
            <a:r>
              <a:rPr lang="vi-VN" dirty="0"/>
              <a:t>Tuy nhiên, chúng ta cũng có thể thấy</a:t>
            </a:r>
          </a:p>
          <a:p>
            <a:r>
              <a:rPr lang="vi-VN" dirty="0"/>
              <a:t>phương pháp cài đặt này cũng có một số hạn chế. Thứ nhất là trong các môi trường</a:t>
            </a:r>
          </a:p>
          <a:p>
            <a:r>
              <a:rPr lang="vi-VN" dirty="0"/>
              <a:t>lập trình, cấu trúc mảng thường là cấu trúc tĩnh với kích thước cố định, sẽ hạn chế</a:t>
            </a:r>
          </a:p>
          <a:p>
            <a:r>
              <a:rPr lang="vi-VN" dirty="0"/>
              <a:t>số lượng đỉnh tối đa của đồ thị. Thứ hai, như ta có thể thấy, khi cài đặt đồ thị vô</a:t>
            </a:r>
          </a:p>
          <a:p>
            <a:r>
              <a:rPr lang="vi-VN" dirty="0"/>
              <a:t>hướng, ma trận đỉnh kề sẽ là một ma trận đối xứng, tức là thực ra nó thực sự chỉ</a:t>
            </a:r>
          </a:p>
          <a:p>
            <a:r>
              <a:rPr lang="vi-VN" dirty="0"/>
              <a:t>dùng một nửa kích thước lưu trữ mà nó chiếm. Điều này gây ra sự lãng phí càng lớn</a:t>
            </a:r>
          </a:p>
          <a:p>
            <a:r>
              <a:rPr lang="vi-VN" dirty="0"/>
              <a:t>khi số đỉnh đồ thị càng tăng.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16</a:t>
            </a:fld>
            <a:endParaRPr lang="en-US"/>
          </a:p>
        </p:txBody>
      </p:sp>
    </p:spTree>
    <p:extLst>
      <p:ext uri="{BB962C8B-B14F-4D97-AF65-F5344CB8AC3E}">
        <p14:creationId xmlns:p14="http://schemas.microsoft.com/office/powerpoint/2010/main" val="831580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nhiều cách như: móc nối đơn, móc nối kép, móc</a:t>
            </a:r>
            <a:r>
              <a:rPr lang="en-US" dirty="0"/>
              <a:t> </a:t>
            </a:r>
            <a:r>
              <a:rPr lang="vi-VN" dirty="0"/>
              <a:t>nối thẳng, móc nối vòng, v.v. </a:t>
            </a:r>
            <a:endParaRPr lang="en-US" dirty="0"/>
          </a:p>
          <a:p>
            <a:r>
              <a:rPr lang="vi-VN" dirty="0"/>
              <a:t>tính đơn giản và không tốn nhiều</a:t>
            </a:r>
            <a:r>
              <a:rPr lang="en-US" dirty="0"/>
              <a:t> </a:t>
            </a:r>
            <a:r>
              <a:rPr lang="vi-VN" dirty="0"/>
              <a:t>dung lượng lưu trữ, cấu trúc móc nối đơn luôn là lựa chọn đầu tiên</a:t>
            </a:r>
            <a:endParaRPr lang="en-US" dirty="0"/>
          </a:p>
          <a:p>
            <a:r>
              <a:rPr lang="en-US" dirty="0" err="1"/>
              <a:t>Tuy</a:t>
            </a:r>
            <a:r>
              <a:rPr lang="en-US" dirty="0"/>
              <a:t> </a:t>
            </a:r>
            <a:r>
              <a:rPr lang="en-US" dirty="0" err="1"/>
              <a:t>nhiên</a:t>
            </a:r>
            <a:r>
              <a:rPr lang="en-US" dirty="0"/>
              <a:t>, </a:t>
            </a:r>
            <a:r>
              <a:rPr lang="en-US" dirty="0" err="1"/>
              <a:t>cấu</a:t>
            </a:r>
            <a:r>
              <a:rPr lang="en-US" dirty="0"/>
              <a:t> </a:t>
            </a:r>
            <a:r>
              <a:rPr lang="en-US" dirty="0" err="1"/>
              <a:t>trúc</a:t>
            </a:r>
            <a:r>
              <a:rPr lang="en-US" dirty="0"/>
              <a:t> </a:t>
            </a:r>
            <a:r>
              <a:rPr lang="en-US" dirty="0" err="1"/>
              <a:t>này</a:t>
            </a:r>
            <a:r>
              <a:rPr lang="en-US" dirty="0"/>
              <a:t> </a:t>
            </a:r>
            <a:r>
              <a:rPr lang="en-US" dirty="0" err="1"/>
              <a:t>cũng</a:t>
            </a:r>
            <a:r>
              <a:rPr lang="en-US" dirty="0"/>
              <a:t> </a:t>
            </a:r>
            <a:r>
              <a:rPr lang="en-US" dirty="0" err="1"/>
              <a:t>có</a:t>
            </a:r>
            <a:r>
              <a:rPr lang="en-US" dirty="0"/>
              <a:t> </a:t>
            </a:r>
            <a:r>
              <a:rPr lang="en-US" dirty="0" err="1"/>
              <a:t>hạn</a:t>
            </a:r>
            <a:r>
              <a:rPr lang="en-US" dirty="0"/>
              <a:t> </a:t>
            </a:r>
            <a:r>
              <a:rPr lang="en-US" dirty="0" err="1"/>
              <a:t>chế</a:t>
            </a:r>
            <a:r>
              <a:rPr lang="en-US" dirty="0"/>
              <a:t> </a:t>
            </a:r>
            <a:r>
              <a:rPr lang="en-US" dirty="0" err="1"/>
              <a:t>về</a:t>
            </a:r>
            <a:r>
              <a:rPr lang="en-US" dirty="0"/>
              <a:t> </a:t>
            </a:r>
            <a:r>
              <a:rPr lang="en-US" dirty="0" err="1"/>
              <a:t>tốc</a:t>
            </a:r>
            <a:r>
              <a:rPr lang="en-US" dirty="0"/>
              <a:t> </a:t>
            </a:r>
            <a:r>
              <a:rPr lang="en-US" dirty="0" err="1"/>
              <a:t>độ</a:t>
            </a:r>
            <a:r>
              <a:rPr lang="en-US" dirty="0"/>
              <a:t> </a:t>
            </a:r>
            <a:r>
              <a:rPr lang="en-US" dirty="0" err="1"/>
              <a:t>truy</a:t>
            </a:r>
            <a:r>
              <a:rPr lang="en-US" dirty="0"/>
              <a:t> </a:t>
            </a:r>
            <a:r>
              <a:rPr lang="en-US" dirty="0" err="1"/>
              <a:t>nhập</a:t>
            </a:r>
            <a:r>
              <a:rPr lang="en-US" dirty="0"/>
              <a:t> </a:t>
            </a:r>
            <a:r>
              <a:rPr lang="en-US" dirty="0" err="1"/>
              <a:t>vào</a:t>
            </a:r>
            <a:r>
              <a:rPr lang="en-US" dirty="0"/>
              <a:t> </a:t>
            </a:r>
            <a:r>
              <a:rPr lang="en-US" dirty="0" err="1"/>
              <a:t>các</a:t>
            </a:r>
            <a:r>
              <a:rPr lang="en-US" dirty="0"/>
              <a:t> </a:t>
            </a:r>
            <a:r>
              <a:rPr lang="en-US" dirty="0" err="1"/>
              <a:t>nút</a:t>
            </a:r>
            <a:r>
              <a:rPr lang="en-US" dirty="0"/>
              <a:t> </a:t>
            </a:r>
            <a:r>
              <a:rPr lang="en-US" dirty="0" err="1"/>
              <a:t>không</a:t>
            </a:r>
            <a:r>
              <a:rPr lang="en-US" dirty="0"/>
              <a:t> </a:t>
            </a:r>
            <a:r>
              <a:rPr lang="en-US" dirty="0" err="1"/>
              <a:t>đồng</a:t>
            </a:r>
            <a:r>
              <a:rPr lang="en-US" dirty="0"/>
              <a:t> </a:t>
            </a:r>
            <a:r>
              <a:rPr lang="en-US" dirty="0" err="1"/>
              <a:t>đều</a:t>
            </a:r>
            <a:r>
              <a:rPr lang="en-US" dirty="0"/>
              <a:t>, </a:t>
            </a:r>
            <a:r>
              <a:rPr lang="en-US" dirty="0" err="1"/>
              <a:t>nên</a:t>
            </a:r>
            <a:r>
              <a:rPr lang="en-US" dirty="0"/>
              <a:t> </a:t>
            </a:r>
            <a:r>
              <a:rPr lang="en-US" dirty="0" err="1"/>
              <a:t>nếu</a:t>
            </a:r>
            <a:r>
              <a:rPr lang="en-US" dirty="0"/>
              <a:t> </a:t>
            </a:r>
            <a:r>
              <a:rPr lang="en-US" dirty="0" err="1"/>
              <a:t>cần</a:t>
            </a:r>
            <a:r>
              <a:rPr lang="en-US" dirty="0"/>
              <a:t> </a:t>
            </a:r>
            <a:r>
              <a:rPr lang="en-US" dirty="0" err="1"/>
              <a:t>yêu</a:t>
            </a:r>
            <a:r>
              <a:rPr lang="en-US" dirty="0"/>
              <a:t> </a:t>
            </a:r>
            <a:r>
              <a:rPr lang="en-US" dirty="0" err="1"/>
              <a:t>cầu</a:t>
            </a:r>
            <a:r>
              <a:rPr lang="en-US" dirty="0"/>
              <a:t> </a:t>
            </a:r>
            <a:r>
              <a:rPr lang="en-US" dirty="0" err="1"/>
              <a:t>về</a:t>
            </a:r>
            <a:r>
              <a:rPr lang="en-US" dirty="0"/>
              <a:t> </a:t>
            </a:r>
            <a:r>
              <a:rPr lang="en-US" dirty="0" err="1"/>
              <a:t>tốc</a:t>
            </a:r>
            <a:r>
              <a:rPr lang="en-US" dirty="0"/>
              <a:t> </a:t>
            </a:r>
            <a:r>
              <a:rPr lang="en-US" dirty="0" err="1"/>
              <a:t>độ</a:t>
            </a:r>
            <a:r>
              <a:rPr lang="en-US" dirty="0"/>
              <a:t> </a:t>
            </a:r>
            <a:r>
              <a:rPr lang="en-US" dirty="0" err="1"/>
              <a:t>thì</a:t>
            </a:r>
            <a:r>
              <a:rPr lang="en-US" dirty="0"/>
              <a:t> </a:t>
            </a:r>
            <a:r>
              <a:rPr lang="en-US" dirty="0" err="1"/>
              <a:t>cũng</a:t>
            </a:r>
            <a:r>
              <a:rPr lang="en-US" dirty="0"/>
              <a:t> </a:t>
            </a:r>
            <a:r>
              <a:rPr lang="en-US" dirty="0" err="1"/>
              <a:t>phải</a:t>
            </a:r>
            <a:r>
              <a:rPr lang="en-US" dirty="0"/>
              <a:t> </a:t>
            </a:r>
            <a:r>
              <a:rPr lang="en-US" dirty="0" err="1"/>
              <a:t>cân</a:t>
            </a:r>
            <a:r>
              <a:rPr lang="en-US" dirty="0"/>
              <a:t> </a:t>
            </a:r>
            <a:r>
              <a:rPr lang="en-US" dirty="0" err="1"/>
              <a:t>nhắc</a:t>
            </a:r>
            <a:r>
              <a:rPr lang="en-US" dirty="0"/>
              <a:t> </a:t>
            </a:r>
            <a:r>
              <a:rPr lang="en-US" dirty="0" err="1"/>
              <a:t>khả</a:t>
            </a:r>
            <a:r>
              <a:rPr lang="en-US" dirty="0"/>
              <a:t> </a:t>
            </a:r>
            <a:r>
              <a:rPr lang="en-US" dirty="0" err="1"/>
              <a:t>năng</a:t>
            </a:r>
            <a:r>
              <a:rPr lang="en-US" dirty="0"/>
              <a:t> </a:t>
            </a:r>
            <a:r>
              <a:rPr lang="en-US" dirty="0" err="1"/>
              <a:t>bổ</a:t>
            </a:r>
            <a:r>
              <a:rPr lang="en-US" dirty="0"/>
              <a:t> sung </a:t>
            </a:r>
            <a:r>
              <a:rPr lang="en-US" dirty="0" err="1"/>
              <a:t>các</a:t>
            </a:r>
            <a:endParaRPr lang="en-US" dirty="0"/>
          </a:p>
          <a:p>
            <a:r>
              <a:rPr lang="en-US" dirty="0" err="1"/>
              <a:t>điểm</a:t>
            </a:r>
            <a:r>
              <a:rPr lang="en-US" dirty="0"/>
              <a:t> </a:t>
            </a:r>
            <a:r>
              <a:rPr lang="en-US" dirty="0" err="1"/>
              <a:t>truy</a:t>
            </a:r>
            <a:r>
              <a:rPr lang="en-US" dirty="0"/>
              <a:t> </a:t>
            </a:r>
            <a:r>
              <a:rPr lang="en-US" dirty="0" err="1"/>
              <a:t>nhập</a:t>
            </a:r>
            <a:r>
              <a:rPr lang="en-US" dirty="0"/>
              <a:t> </a:t>
            </a:r>
            <a:r>
              <a:rPr lang="en-US" dirty="0" err="1"/>
              <a:t>đến</a:t>
            </a:r>
            <a:r>
              <a:rPr lang="en-US" dirty="0"/>
              <a:t> </a:t>
            </a:r>
            <a:r>
              <a:rPr lang="en-US" dirty="0" err="1"/>
              <a:t>các</a:t>
            </a:r>
            <a:r>
              <a:rPr lang="en-US" dirty="0"/>
              <a:t> </a:t>
            </a:r>
            <a:r>
              <a:rPr lang="en-US" dirty="0" err="1"/>
              <a:t>nút</a:t>
            </a:r>
            <a:r>
              <a:rPr lang="en-US" dirty="0"/>
              <a:t> ở </a:t>
            </a:r>
            <a:r>
              <a:rPr lang="en-US" dirty="0" err="1"/>
              <a:t>cuối</a:t>
            </a:r>
            <a:r>
              <a:rPr lang="en-US" dirty="0"/>
              <a:t> </a:t>
            </a:r>
            <a:r>
              <a:rPr lang="en-US" dirty="0" err="1"/>
              <a:t>danh</a:t>
            </a:r>
            <a:r>
              <a:rPr lang="en-US" dirty="0"/>
              <a:t> </a:t>
            </a:r>
            <a:r>
              <a:rPr lang="en-US" dirty="0" err="1"/>
              <a:t>sách</a:t>
            </a:r>
            <a:r>
              <a:rPr lang="en-US" dirty="0"/>
              <a:t>, </a:t>
            </a:r>
            <a:r>
              <a:rPr lang="en-US" dirty="0" err="1"/>
              <a:t>hoặc</a:t>
            </a:r>
            <a:r>
              <a:rPr lang="en-US" dirty="0"/>
              <a:t> </a:t>
            </a:r>
            <a:r>
              <a:rPr lang="en-US" dirty="0" err="1"/>
              <a:t>thậm</a:t>
            </a:r>
            <a:r>
              <a:rPr lang="en-US" dirty="0"/>
              <a:t> </a:t>
            </a:r>
            <a:r>
              <a:rPr lang="en-US" dirty="0" err="1"/>
              <a:t>chí</a:t>
            </a:r>
            <a:r>
              <a:rPr lang="en-US" dirty="0"/>
              <a:t> </a:t>
            </a:r>
            <a:r>
              <a:rPr lang="en-US" dirty="0" err="1"/>
              <a:t>chuyển</a:t>
            </a:r>
            <a:r>
              <a:rPr lang="en-US" dirty="0"/>
              <a:t> sang </a:t>
            </a:r>
            <a:r>
              <a:rPr lang="en-US" dirty="0" err="1"/>
              <a:t>tổ</a:t>
            </a:r>
            <a:r>
              <a:rPr lang="en-US" dirty="0"/>
              <a:t> </a:t>
            </a:r>
            <a:r>
              <a:rPr lang="en-US" dirty="0" err="1"/>
              <a:t>chức</a:t>
            </a:r>
            <a:r>
              <a:rPr lang="en-US" dirty="0"/>
              <a:t> </a:t>
            </a:r>
            <a:r>
              <a:rPr lang="en-US" dirty="0" err="1"/>
              <a:t>móc</a:t>
            </a:r>
            <a:r>
              <a:rPr lang="en-US" dirty="0"/>
              <a:t> </a:t>
            </a:r>
            <a:r>
              <a:rPr lang="en-US" dirty="0" err="1"/>
              <a:t>nối</a:t>
            </a:r>
            <a:r>
              <a:rPr lang="en-US" dirty="0"/>
              <a:t> </a:t>
            </a:r>
            <a:r>
              <a:rPr lang="en-US" dirty="0" err="1"/>
              <a:t>kép</a:t>
            </a:r>
            <a:endParaRPr lang="en-US" dirty="0"/>
          </a:p>
          <a:p>
            <a:r>
              <a:rPr lang="vi-VN" dirty="0"/>
              <a:t>Trong phần này, chúng ta chỉ xét cách cài đặt đơn giản nhất</a:t>
            </a:r>
            <a:r>
              <a:rPr lang="en-US" dirty="0"/>
              <a:t> </a:t>
            </a:r>
            <a:r>
              <a:rPr lang="vi-VN" dirty="0"/>
              <a:t>nhằm minh họa cho phương pháp này, nên cách tổ chức móc nối đơn sẽ được sử</a:t>
            </a:r>
            <a:r>
              <a:rPr lang="en-US" dirty="0"/>
              <a:t> </a:t>
            </a:r>
            <a:r>
              <a:rPr lang="vi-VN" dirty="0"/>
              <a:t>dụng.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17</a:t>
            </a:fld>
            <a:endParaRPr lang="en-US"/>
          </a:p>
        </p:txBody>
      </p:sp>
    </p:spTree>
    <p:extLst>
      <p:ext uri="{BB962C8B-B14F-4D97-AF65-F5344CB8AC3E}">
        <p14:creationId xmlns:p14="http://schemas.microsoft.com/office/powerpoint/2010/main" val="909194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nhiều cách như: móc nối đơn, móc nối kép, móc</a:t>
            </a:r>
            <a:r>
              <a:rPr lang="en-US" dirty="0"/>
              <a:t> </a:t>
            </a:r>
            <a:r>
              <a:rPr lang="vi-VN" dirty="0"/>
              <a:t>nối thẳng, móc nối vòng, v.v. </a:t>
            </a:r>
            <a:endParaRPr lang="en-US" dirty="0"/>
          </a:p>
          <a:p>
            <a:r>
              <a:rPr lang="vi-VN" dirty="0"/>
              <a:t>tính đơn giản và không tốn nhiều</a:t>
            </a:r>
            <a:r>
              <a:rPr lang="en-US" dirty="0"/>
              <a:t> </a:t>
            </a:r>
            <a:r>
              <a:rPr lang="vi-VN" dirty="0"/>
              <a:t>dung lượng lưu trữ, cấu trúc móc nối đơn luôn là lựa chọn đầu tiên</a:t>
            </a:r>
            <a:endParaRPr lang="en-US" dirty="0"/>
          </a:p>
          <a:p>
            <a:r>
              <a:rPr lang="en-US" dirty="0" err="1"/>
              <a:t>Tuy</a:t>
            </a:r>
            <a:r>
              <a:rPr lang="en-US" dirty="0"/>
              <a:t> </a:t>
            </a:r>
            <a:r>
              <a:rPr lang="en-US" dirty="0" err="1"/>
              <a:t>nhiên</a:t>
            </a:r>
            <a:r>
              <a:rPr lang="en-US" dirty="0"/>
              <a:t>, </a:t>
            </a:r>
            <a:r>
              <a:rPr lang="en-US" dirty="0" err="1"/>
              <a:t>cấu</a:t>
            </a:r>
            <a:r>
              <a:rPr lang="en-US" dirty="0"/>
              <a:t> </a:t>
            </a:r>
            <a:r>
              <a:rPr lang="en-US" dirty="0" err="1"/>
              <a:t>trúc</a:t>
            </a:r>
            <a:r>
              <a:rPr lang="en-US" dirty="0"/>
              <a:t> </a:t>
            </a:r>
            <a:r>
              <a:rPr lang="en-US" dirty="0" err="1"/>
              <a:t>này</a:t>
            </a:r>
            <a:r>
              <a:rPr lang="en-US" dirty="0"/>
              <a:t> </a:t>
            </a:r>
            <a:r>
              <a:rPr lang="en-US" dirty="0" err="1"/>
              <a:t>cũng</a:t>
            </a:r>
            <a:r>
              <a:rPr lang="en-US" dirty="0"/>
              <a:t> </a:t>
            </a:r>
            <a:r>
              <a:rPr lang="en-US" dirty="0" err="1"/>
              <a:t>có</a:t>
            </a:r>
            <a:r>
              <a:rPr lang="en-US" dirty="0"/>
              <a:t> </a:t>
            </a:r>
            <a:r>
              <a:rPr lang="en-US" dirty="0" err="1"/>
              <a:t>hạn</a:t>
            </a:r>
            <a:r>
              <a:rPr lang="en-US" dirty="0"/>
              <a:t> </a:t>
            </a:r>
            <a:r>
              <a:rPr lang="en-US" dirty="0" err="1"/>
              <a:t>chế</a:t>
            </a:r>
            <a:r>
              <a:rPr lang="en-US" dirty="0"/>
              <a:t> </a:t>
            </a:r>
            <a:r>
              <a:rPr lang="en-US" dirty="0" err="1"/>
              <a:t>về</a:t>
            </a:r>
            <a:r>
              <a:rPr lang="en-US" dirty="0"/>
              <a:t> </a:t>
            </a:r>
            <a:r>
              <a:rPr lang="en-US" dirty="0" err="1"/>
              <a:t>tốc</a:t>
            </a:r>
            <a:r>
              <a:rPr lang="en-US" dirty="0"/>
              <a:t> </a:t>
            </a:r>
            <a:r>
              <a:rPr lang="en-US" dirty="0" err="1"/>
              <a:t>độ</a:t>
            </a:r>
            <a:r>
              <a:rPr lang="en-US" dirty="0"/>
              <a:t> </a:t>
            </a:r>
            <a:r>
              <a:rPr lang="en-US" dirty="0" err="1"/>
              <a:t>truy</a:t>
            </a:r>
            <a:r>
              <a:rPr lang="en-US" dirty="0"/>
              <a:t> </a:t>
            </a:r>
            <a:r>
              <a:rPr lang="en-US" dirty="0" err="1"/>
              <a:t>nhập</a:t>
            </a:r>
            <a:r>
              <a:rPr lang="en-US" dirty="0"/>
              <a:t> </a:t>
            </a:r>
            <a:r>
              <a:rPr lang="en-US" dirty="0" err="1"/>
              <a:t>vào</a:t>
            </a:r>
            <a:r>
              <a:rPr lang="en-US" dirty="0"/>
              <a:t> </a:t>
            </a:r>
            <a:r>
              <a:rPr lang="en-US" dirty="0" err="1"/>
              <a:t>các</a:t>
            </a:r>
            <a:r>
              <a:rPr lang="en-US" dirty="0"/>
              <a:t> </a:t>
            </a:r>
            <a:r>
              <a:rPr lang="en-US" dirty="0" err="1"/>
              <a:t>nút</a:t>
            </a:r>
            <a:r>
              <a:rPr lang="en-US" dirty="0"/>
              <a:t> </a:t>
            </a:r>
            <a:r>
              <a:rPr lang="en-US" dirty="0" err="1"/>
              <a:t>không</a:t>
            </a:r>
            <a:r>
              <a:rPr lang="en-US" dirty="0"/>
              <a:t> </a:t>
            </a:r>
            <a:r>
              <a:rPr lang="en-US" dirty="0" err="1"/>
              <a:t>đồng</a:t>
            </a:r>
            <a:r>
              <a:rPr lang="en-US" dirty="0"/>
              <a:t> </a:t>
            </a:r>
            <a:r>
              <a:rPr lang="en-US" dirty="0" err="1"/>
              <a:t>đều</a:t>
            </a:r>
            <a:r>
              <a:rPr lang="en-US" dirty="0"/>
              <a:t>, </a:t>
            </a:r>
            <a:r>
              <a:rPr lang="en-US" dirty="0" err="1"/>
              <a:t>nên</a:t>
            </a:r>
            <a:r>
              <a:rPr lang="en-US" dirty="0"/>
              <a:t> </a:t>
            </a:r>
            <a:r>
              <a:rPr lang="en-US" dirty="0" err="1"/>
              <a:t>nếu</a:t>
            </a:r>
            <a:r>
              <a:rPr lang="en-US" dirty="0"/>
              <a:t> </a:t>
            </a:r>
            <a:r>
              <a:rPr lang="en-US" dirty="0" err="1"/>
              <a:t>cần</a:t>
            </a:r>
            <a:r>
              <a:rPr lang="en-US" dirty="0"/>
              <a:t> </a:t>
            </a:r>
            <a:r>
              <a:rPr lang="en-US" dirty="0" err="1"/>
              <a:t>yêu</a:t>
            </a:r>
            <a:r>
              <a:rPr lang="en-US" dirty="0"/>
              <a:t> </a:t>
            </a:r>
            <a:r>
              <a:rPr lang="en-US" dirty="0" err="1"/>
              <a:t>cầu</a:t>
            </a:r>
            <a:r>
              <a:rPr lang="en-US" dirty="0"/>
              <a:t> </a:t>
            </a:r>
            <a:r>
              <a:rPr lang="en-US" dirty="0" err="1"/>
              <a:t>về</a:t>
            </a:r>
            <a:r>
              <a:rPr lang="en-US" dirty="0"/>
              <a:t> </a:t>
            </a:r>
            <a:r>
              <a:rPr lang="en-US" dirty="0" err="1"/>
              <a:t>tốc</a:t>
            </a:r>
            <a:r>
              <a:rPr lang="en-US" dirty="0"/>
              <a:t> </a:t>
            </a:r>
            <a:r>
              <a:rPr lang="en-US" dirty="0" err="1"/>
              <a:t>độ</a:t>
            </a:r>
            <a:r>
              <a:rPr lang="en-US" dirty="0"/>
              <a:t> </a:t>
            </a:r>
            <a:r>
              <a:rPr lang="en-US" dirty="0" err="1"/>
              <a:t>thì</a:t>
            </a:r>
            <a:r>
              <a:rPr lang="en-US" dirty="0"/>
              <a:t> </a:t>
            </a:r>
            <a:r>
              <a:rPr lang="en-US" dirty="0" err="1"/>
              <a:t>cũng</a:t>
            </a:r>
            <a:r>
              <a:rPr lang="en-US" dirty="0"/>
              <a:t> </a:t>
            </a:r>
            <a:r>
              <a:rPr lang="en-US" dirty="0" err="1"/>
              <a:t>phải</a:t>
            </a:r>
            <a:r>
              <a:rPr lang="en-US" dirty="0"/>
              <a:t> </a:t>
            </a:r>
            <a:r>
              <a:rPr lang="en-US" dirty="0" err="1"/>
              <a:t>cân</a:t>
            </a:r>
            <a:r>
              <a:rPr lang="en-US" dirty="0"/>
              <a:t> </a:t>
            </a:r>
            <a:r>
              <a:rPr lang="en-US" dirty="0" err="1"/>
              <a:t>nhắc</a:t>
            </a:r>
            <a:r>
              <a:rPr lang="en-US" dirty="0"/>
              <a:t> </a:t>
            </a:r>
            <a:r>
              <a:rPr lang="en-US" dirty="0" err="1"/>
              <a:t>khả</a:t>
            </a:r>
            <a:r>
              <a:rPr lang="en-US" dirty="0"/>
              <a:t> </a:t>
            </a:r>
            <a:r>
              <a:rPr lang="en-US" dirty="0" err="1"/>
              <a:t>năng</a:t>
            </a:r>
            <a:r>
              <a:rPr lang="en-US" dirty="0"/>
              <a:t> </a:t>
            </a:r>
            <a:r>
              <a:rPr lang="en-US" dirty="0" err="1"/>
              <a:t>bổ</a:t>
            </a:r>
            <a:r>
              <a:rPr lang="en-US" dirty="0"/>
              <a:t> sung </a:t>
            </a:r>
            <a:r>
              <a:rPr lang="en-US" dirty="0" err="1"/>
              <a:t>các</a:t>
            </a:r>
            <a:endParaRPr lang="en-US" dirty="0"/>
          </a:p>
          <a:p>
            <a:r>
              <a:rPr lang="en-US" dirty="0" err="1"/>
              <a:t>điểm</a:t>
            </a:r>
            <a:r>
              <a:rPr lang="en-US" dirty="0"/>
              <a:t> </a:t>
            </a:r>
            <a:r>
              <a:rPr lang="en-US" dirty="0" err="1"/>
              <a:t>truy</a:t>
            </a:r>
            <a:r>
              <a:rPr lang="en-US" dirty="0"/>
              <a:t> </a:t>
            </a:r>
            <a:r>
              <a:rPr lang="en-US" dirty="0" err="1"/>
              <a:t>nhập</a:t>
            </a:r>
            <a:r>
              <a:rPr lang="en-US" dirty="0"/>
              <a:t> </a:t>
            </a:r>
            <a:r>
              <a:rPr lang="en-US" dirty="0" err="1"/>
              <a:t>đến</a:t>
            </a:r>
            <a:r>
              <a:rPr lang="en-US" dirty="0"/>
              <a:t> </a:t>
            </a:r>
            <a:r>
              <a:rPr lang="en-US" dirty="0" err="1"/>
              <a:t>các</a:t>
            </a:r>
            <a:r>
              <a:rPr lang="en-US" dirty="0"/>
              <a:t> </a:t>
            </a:r>
            <a:r>
              <a:rPr lang="en-US" dirty="0" err="1"/>
              <a:t>nút</a:t>
            </a:r>
            <a:r>
              <a:rPr lang="en-US" dirty="0"/>
              <a:t> ở </a:t>
            </a:r>
            <a:r>
              <a:rPr lang="en-US" dirty="0" err="1"/>
              <a:t>cuối</a:t>
            </a:r>
            <a:r>
              <a:rPr lang="en-US" dirty="0"/>
              <a:t> </a:t>
            </a:r>
            <a:r>
              <a:rPr lang="en-US" dirty="0" err="1"/>
              <a:t>danh</a:t>
            </a:r>
            <a:r>
              <a:rPr lang="en-US" dirty="0"/>
              <a:t> </a:t>
            </a:r>
            <a:r>
              <a:rPr lang="en-US" dirty="0" err="1"/>
              <a:t>sách</a:t>
            </a:r>
            <a:r>
              <a:rPr lang="en-US" dirty="0"/>
              <a:t>, </a:t>
            </a:r>
            <a:r>
              <a:rPr lang="en-US" dirty="0" err="1"/>
              <a:t>hoặc</a:t>
            </a:r>
            <a:r>
              <a:rPr lang="en-US" dirty="0"/>
              <a:t> </a:t>
            </a:r>
            <a:r>
              <a:rPr lang="en-US" dirty="0" err="1"/>
              <a:t>thậm</a:t>
            </a:r>
            <a:r>
              <a:rPr lang="en-US" dirty="0"/>
              <a:t> </a:t>
            </a:r>
            <a:r>
              <a:rPr lang="en-US" dirty="0" err="1"/>
              <a:t>chí</a:t>
            </a:r>
            <a:r>
              <a:rPr lang="en-US" dirty="0"/>
              <a:t> </a:t>
            </a:r>
            <a:r>
              <a:rPr lang="en-US" dirty="0" err="1"/>
              <a:t>chuyển</a:t>
            </a:r>
            <a:r>
              <a:rPr lang="en-US" dirty="0"/>
              <a:t> sang </a:t>
            </a:r>
            <a:r>
              <a:rPr lang="en-US" dirty="0" err="1"/>
              <a:t>tổ</a:t>
            </a:r>
            <a:r>
              <a:rPr lang="en-US" dirty="0"/>
              <a:t> </a:t>
            </a:r>
            <a:r>
              <a:rPr lang="en-US" dirty="0" err="1"/>
              <a:t>chức</a:t>
            </a:r>
            <a:r>
              <a:rPr lang="en-US" dirty="0"/>
              <a:t> </a:t>
            </a:r>
            <a:r>
              <a:rPr lang="en-US" dirty="0" err="1"/>
              <a:t>móc</a:t>
            </a:r>
            <a:r>
              <a:rPr lang="en-US" dirty="0"/>
              <a:t> </a:t>
            </a:r>
            <a:r>
              <a:rPr lang="en-US" dirty="0" err="1"/>
              <a:t>nối</a:t>
            </a:r>
            <a:r>
              <a:rPr lang="en-US" dirty="0"/>
              <a:t> </a:t>
            </a:r>
            <a:r>
              <a:rPr lang="en-US" dirty="0" err="1"/>
              <a:t>kép</a:t>
            </a:r>
            <a:endParaRPr lang="en-US" dirty="0"/>
          </a:p>
          <a:p>
            <a:r>
              <a:rPr lang="vi-VN" dirty="0"/>
              <a:t>Trong phần này, chúng ta chỉ xét cách cài đặt đơn giản nhất</a:t>
            </a:r>
            <a:r>
              <a:rPr lang="en-US" dirty="0"/>
              <a:t> </a:t>
            </a:r>
            <a:r>
              <a:rPr lang="vi-VN" dirty="0"/>
              <a:t>nhằm minh họa cho phương pháp này, nên cách tổ chức móc nối đơn sẽ được sử</a:t>
            </a:r>
            <a:r>
              <a:rPr lang="en-US" dirty="0"/>
              <a:t> </a:t>
            </a:r>
            <a:r>
              <a:rPr lang="vi-VN" dirty="0"/>
              <a:t>dụng.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18</a:t>
            </a:fld>
            <a:endParaRPr lang="en-US"/>
          </a:p>
        </p:txBody>
      </p:sp>
    </p:spTree>
    <p:extLst>
      <p:ext uri="{BB962C8B-B14F-4D97-AF65-F5344CB8AC3E}">
        <p14:creationId xmlns:p14="http://schemas.microsoft.com/office/powerpoint/2010/main" val="200129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Thứ</a:t>
            </a:r>
            <a:r>
              <a:rPr lang="en-US" baseline="0" dirty="0"/>
              <a:t> </a:t>
            </a:r>
            <a:r>
              <a:rPr lang="en-US" baseline="0" dirty="0" err="1"/>
              <a:t>tự</a:t>
            </a:r>
            <a:r>
              <a:rPr lang="en-US" baseline="0" dirty="0"/>
              <a:t> </a:t>
            </a:r>
            <a:r>
              <a:rPr lang="en-US" baseline="0" dirty="0" err="1"/>
              <a:t>các</a:t>
            </a:r>
            <a:r>
              <a:rPr lang="en-US" baseline="0" dirty="0"/>
              <a:t> </a:t>
            </a:r>
            <a:r>
              <a:rPr lang="en-US" baseline="0" dirty="0" err="1"/>
              <a:t>cột</a:t>
            </a:r>
            <a:r>
              <a:rPr lang="en-US" baseline="0" dirty="0"/>
              <a:t>/</a:t>
            </a:r>
            <a:r>
              <a:rPr lang="en-US" baseline="0" dirty="0" err="1"/>
              <a:t>hàng</a:t>
            </a:r>
            <a:r>
              <a:rPr lang="en-US" baseline="0" dirty="0"/>
              <a:t> </a:t>
            </a:r>
            <a:r>
              <a:rPr lang="en-US" baseline="0" dirty="0" err="1"/>
              <a:t>trong</a:t>
            </a:r>
            <a:r>
              <a:rPr lang="en-US" baseline="0" dirty="0"/>
              <a:t> </a:t>
            </a:r>
            <a:r>
              <a:rPr lang="en-US" baseline="0" dirty="0" err="1"/>
              <a:t>mảng</a:t>
            </a:r>
            <a:r>
              <a:rPr lang="en-US" baseline="0" dirty="0"/>
              <a:t> </a:t>
            </a:r>
            <a:r>
              <a:rPr lang="en-US" baseline="0" dirty="0" err="1"/>
              <a:t>phải</a:t>
            </a:r>
            <a:r>
              <a:rPr lang="en-US" baseline="0" dirty="0"/>
              <a:t> </a:t>
            </a:r>
            <a:r>
              <a:rPr lang="en-US" baseline="0" dirty="0" err="1"/>
              <a:t>hợp</a:t>
            </a:r>
            <a:r>
              <a:rPr lang="en-US" baseline="0" dirty="0"/>
              <a:t> </a:t>
            </a:r>
            <a:r>
              <a:rPr lang="en-US" baseline="0" dirty="0" err="1"/>
              <a:t>lý</a:t>
            </a:r>
            <a:r>
              <a:rPr lang="en-US" baseline="0" dirty="0"/>
              <a:t> (A, B, C, D…)</a:t>
            </a:r>
          </a:p>
          <a:p>
            <a:endParaRPr lang="en-US" dirty="0"/>
          </a:p>
          <a:p>
            <a:endParaRPr lang="en-US" dirty="0"/>
          </a:p>
          <a:p>
            <a:r>
              <a:rPr lang="vi-VN" dirty="0"/>
              <a:t>nhiều cách như: móc nối đơn, móc nối kép, móc</a:t>
            </a:r>
            <a:r>
              <a:rPr lang="en-US" dirty="0"/>
              <a:t> </a:t>
            </a:r>
            <a:r>
              <a:rPr lang="vi-VN" dirty="0"/>
              <a:t>nối thẳng, móc nối vòng, v.v. </a:t>
            </a:r>
            <a:endParaRPr lang="en-US" dirty="0"/>
          </a:p>
          <a:p>
            <a:r>
              <a:rPr lang="vi-VN" dirty="0"/>
              <a:t>tính đơn giản và không tốn nhiều</a:t>
            </a:r>
            <a:r>
              <a:rPr lang="en-US" dirty="0"/>
              <a:t> </a:t>
            </a:r>
            <a:r>
              <a:rPr lang="vi-VN" dirty="0"/>
              <a:t>dung lượng lưu trữ, cấu trúc móc nối đơn luôn là lựa chọn đầu tiên</a:t>
            </a:r>
            <a:endParaRPr lang="en-US" dirty="0"/>
          </a:p>
          <a:p>
            <a:r>
              <a:rPr lang="en-US" dirty="0" err="1"/>
              <a:t>Tuy</a:t>
            </a:r>
            <a:r>
              <a:rPr lang="en-US" dirty="0"/>
              <a:t> </a:t>
            </a:r>
            <a:r>
              <a:rPr lang="en-US" dirty="0" err="1"/>
              <a:t>nhiên</a:t>
            </a:r>
            <a:r>
              <a:rPr lang="en-US" dirty="0"/>
              <a:t>, </a:t>
            </a:r>
            <a:r>
              <a:rPr lang="en-US" dirty="0" err="1"/>
              <a:t>cấu</a:t>
            </a:r>
            <a:r>
              <a:rPr lang="en-US" dirty="0"/>
              <a:t> </a:t>
            </a:r>
            <a:r>
              <a:rPr lang="en-US" dirty="0" err="1"/>
              <a:t>trúc</a:t>
            </a:r>
            <a:r>
              <a:rPr lang="en-US" dirty="0"/>
              <a:t> </a:t>
            </a:r>
            <a:r>
              <a:rPr lang="en-US" dirty="0" err="1"/>
              <a:t>này</a:t>
            </a:r>
            <a:r>
              <a:rPr lang="en-US" dirty="0"/>
              <a:t> </a:t>
            </a:r>
            <a:r>
              <a:rPr lang="en-US" dirty="0" err="1"/>
              <a:t>cũng</a:t>
            </a:r>
            <a:r>
              <a:rPr lang="en-US" dirty="0"/>
              <a:t> </a:t>
            </a:r>
            <a:r>
              <a:rPr lang="en-US" dirty="0" err="1"/>
              <a:t>có</a:t>
            </a:r>
            <a:r>
              <a:rPr lang="en-US" dirty="0"/>
              <a:t> </a:t>
            </a:r>
            <a:r>
              <a:rPr lang="en-US" dirty="0" err="1"/>
              <a:t>hạn</a:t>
            </a:r>
            <a:r>
              <a:rPr lang="en-US" dirty="0"/>
              <a:t> </a:t>
            </a:r>
            <a:r>
              <a:rPr lang="en-US" dirty="0" err="1"/>
              <a:t>chế</a:t>
            </a:r>
            <a:r>
              <a:rPr lang="en-US" dirty="0"/>
              <a:t> </a:t>
            </a:r>
            <a:r>
              <a:rPr lang="en-US" dirty="0" err="1"/>
              <a:t>về</a:t>
            </a:r>
            <a:r>
              <a:rPr lang="en-US" dirty="0"/>
              <a:t> </a:t>
            </a:r>
            <a:r>
              <a:rPr lang="en-US" dirty="0" err="1"/>
              <a:t>tốc</a:t>
            </a:r>
            <a:r>
              <a:rPr lang="en-US" dirty="0"/>
              <a:t> </a:t>
            </a:r>
            <a:r>
              <a:rPr lang="en-US" dirty="0" err="1"/>
              <a:t>độ</a:t>
            </a:r>
            <a:r>
              <a:rPr lang="en-US" dirty="0"/>
              <a:t> </a:t>
            </a:r>
            <a:r>
              <a:rPr lang="en-US" dirty="0" err="1"/>
              <a:t>truy</a:t>
            </a:r>
            <a:r>
              <a:rPr lang="en-US" dirty="0"/>
              <a:t> </a:t>
            </a:r>
            <a:r>
              <a:rPr lang="en-US" dirty="0" err="1"/>
              <a:t>nhập</a:t>
            </a:r>
            <a:r>
              <a:rPr lang="en-US" dirty="0"/>
              <a:t> </a:t>
            </a:r>
            <a:r>
              <a:rPr lang="en-US" dirty="0" err="1"/>
              <a:t>vào</a:t>
            </a:r>
            <a:r>
              <a:rPr lang="en-US" dirty="0"/>
              <a:t> </a:t>
            </a:r>
            <a:r>
              <a:rPr lang="en-US" dirty="0" err="1"/>
              <a:t>các</a:t>
            </a:r>
            <a:r>
              <a:rPr lang="en-US" dirty="0"/>
              <a:t> </a:t>
            </a:r>
            <a:r>
              <a:rPr lang="en-US" dirty="0" err="1"/>
              <a:t>nút</a:t>
            </a:r>
            <a:r>
              <a:rPr lang="en-US" dirty="0"/>
              <a:t> </a:t>
            </a:r>
            <a:r>
              <a:rPr lang="en-US" dirty="0" err="1"/>
              <a:t>không</a:t>
            </a:r>
            <a:r>
              <a:rPr lang="en-US" dirty="0"/>
              <a:t> </a:t>
            </a:r>
            <a:r>
              <a:rPr lang="en-US" dirty="0" err="1"/>
              <a:t>đồng</a:t>
            </a:r>
            <a:r>
              <a:rPr lang="en-US" dirty="0"/>
              <a:t> </a:t>
            </a:r>
            <a:r>
              <a:rPr lang="en-US" dirty="0" err="1"/>
              <a:t>đều</a:t>
            </a:r>
            <a:r>
              <a:rPr lang="en-US" dirty="0"/>
              <a:t>, </a:t>
            </a:r>
            <a:r>
              <a:rPr lang="en-US" dirty="0" err="1"/>
              <a:t>nên</a:t>
            </a:r>
            <a:r>
              <a:rPr lang="en-US" dirty="0"/>
              <a:t> </a:t>
            </a:r>
            <a:r>
              <a:rPr lang="en-US" dirty="0" err="1"/>
              <a:t>nếu</a:t>
            </a:r>
            <a:r>
              <a:rPr lang="en-US" dirty="0"/>
              <a:t> </a:t>
            </a:r>
            <a:r>
              <a:rPr lang="en-US" dirty="0" err="1"/>
              <a:t>cần</a:t>
            </a:r>
            <a:r>
              <a:rPr lang="en-US" dirty="0"/>
              <a:t> </a:t>
            </a:r>
            <a:r>
              <a:rPr lang="en-US" dirty="0" err="1"/>
              <a:t>yêu</a:t>
            </a:r>
            <a:r>
              <a:rPr lang="en-US" dirty="0"/>
              <a:t> </a:t>
            </a:r>
            <a:r>
              <a:rPr lang="en-US" dirty="0" err="1"/>
              <a:t>cầu</a:t>
            </a:r>
            <a:r>
              <a:rPr lang="en-US" dirty="0"/>
              <a:t> </a:t>
            </a:r>
            <a:r>
              <a:rPr lang="en-US" dirty="0" err="1"/>
              <a:t>về</a:t>
            </a:r>
            <a:r>
              <a:rPr lang="en-US" dirty="0"/>
              <a:t> </a:t>
            </a:r>
            <a:r>
              <a:rPr lang="en-US" dirty="0" err="1"/>
              <a:t>tốc</a:t>
            </a:r>
            <a:r>
              <a:rPr lang="en-US" dirty="0"/>
              <a:t> </a:t>
            </a:r>
            <a:r>
              <a:rPr lang="en-US" dirty="0" err="1"/>
              <a:t>độ</a:t>
            </a:r>
            <a:r>
              <a:rPr lang="en-US" dirty="0"/>
              <a:t> </a:t>
            </a:r>
            <a:r>
              <a:rPr lang="en-US" dirty="0" err="1"/>
              <a:t>thì</a:t>
            </a:r>
            <a:r>
              <a:rPr lang="en-US" dirty="0"/>
              <a:t> </a:t>
            </a:r>
            <a:r>
              <a:rPr lang="en-US" dirty="0" err="1"/>
              <a:t>cũng</a:t>
            </a:r>
            <a:r>
              <a:rPr lang="en-US" dirty="0"/>
              <a:t> </a:t>
            </a:r>
            <a:r>
              <a:rPr lang="en-US" dirty="0" err="1"/>
              <a:t>phải</a:t>
            </a:r>
            <a:r>
              <a:rPr lang="en-US" dirty="0"/>
              <a:t> </a:t>
            </a:r>
            <a:r>
              <a:rPr lang="en-US" dirty="0" err="1"/>
              <a:t>cân</a:t>
            </a:r>
            <a:r>
              <a:rPr lang="en-US" dirty="0"/>
              <a:t> </a:t>
            </a:r>
            <a:r>
              <a:rPr lang="en-US" dirty="0" err="1"/>
              <a:t>nhắc</a:t>
            </a:r>
            <a:r>
              <a:rPr lang="en-US" dirty="0"/>
              <a:t> </a:t>
            </a:r>
            <a:r>
              <a:rPr lang="en-US" dirty="0" err="1"/>
              <a:t>khả</a:t>
            </a:r>
            <a:r>
              <a:rPr lang="en-US" dirty="0"/>
              <a:t> </a:t>
            </a:r>
            <a:r>
              <a:rPr lang="en-US" dirty="0" err="1"/>
              <a:t>năng</a:t>
            </a:r>
            <a:r>
              <a:rPr lang="en-US" dirty="0"/>
              <a:t> </a:t>
            </a:r>
            <a:r>
              <a:rPr lang="en-US" dirty="0" err="1"/>
              <a:t>bổ</a:t>
            </a:r>
            <a:r>
              <a:rPr lang="en-US" dirty="0"/>
              <a:t> sung </a:t>
            </a:r>
            <a:r>
              <a:rPr lang="en-US" dirty="0" err="1"/>
              <a:t>các</a:t>
            </a:r>
            <a:endParaRPr lang="en-US" dirty="0"/>
          </a:p>
          <a:p>
            <a:r>
              <a:rPr lang="en-US" dirty="0" err="1"/>
              <a:t>điểm</a:t>
            </a:r>
            <a:r>
              <a:rPr lang="en-US" dirty="0"/>
              <a:t> </a:t>
            </a:r>
            <a:r>
              <a:rPr lang="en-US" dirty="0" err="1"/>
              <a:t>truy</a:t>
            </a:r>
            <a:r>
              <a:rPr lang="en-US" dirty="0"/>
              <a:t> </a:t>
            </a:r>
            <a:r>
              <a:rPr lang="en-US" dirty="0" err="1"/>
              <a:t>nhập</a:t>
            </a:r>
            <a:r>
              <a:rPr lang="en-US" dirty="0"/>
              <a:t> </a:t>
            </a:r>
            <a:r>
              <a:rPr lang="en-US" dirty="0" err="1"/>
              <a:t>đến</a:t>
            </a:r>
            <a:r>
              <a:rPr lang="en-US" dirty="0"/>
              <a:t> </a:t>
            </a:r>
            <a:r>
              <a:rPr lang="en-US" dirty="0" err="1"/>
              <a:t>các</a:t>
            </a:r>
            <a:r>
              <a:rPr lang="en-US" dirty="0"/>
              <a:t> </a:t>
            </a:r>
            <a:r>
              <a:rPr lang="en-US" dirty="0" err="1"/>
              <a:t>nút</a:t>
            </a:r>
            <a:r>
              <a:rPr lang="en-US" dirty="0"/>
              <a:t> ở </a:t>
            </a:r>
            <a:r>
              <a:rPr lang="en-US" dirty="0" err="1"/>
              <a:t>cuối</a:t>
            </a:r>
            <a:r>
              <a:rPr lang="en-US" dirty="0"/>
              <a:t> </a:t>
            </a:r>
            <a:r>
              <a:rPr lang="en-US" dirty="0" err="1"/>
              <a:t>danh</a:t>
            </a:r>
            <a:r>
              <a:rPr lang="en-US" dirty="0"/>
              <a:t> </a:t>
            </a:r>
            <a:r>
              <a:rPr lang="en-US" dirty="0" err="1"/>
              <a:t>sách</a:t>
            </a:r>
            <a:r>
              <a:rPr lang="en-US" dirty="0"/>
              <a:t>, </a:t>
            </a:r>
            <a:r>
              <a:rPr lang="en-US" dirty="0" err="1"/>
              <a:t>hoặc</a:t>
            </a:r>
            <a:r>
              <a:rPr lang="en-US" dirty="0"/>
              <a:t> </a:t>
            </a:r>
            <a:r>
              <a:rPr lang="en-US" dirty="0" err="1"/>
              <a:t>thậm</a:t>
            </a:r>
            <a:r>
              <a:rPr lang="en-US" dirty="0"/>
              <a:t> </a:t>
            </a:r>
            <a:r>
              <a:rPr lang="en-US" dirty="0" err="1"/>
              <a:t>chí</a:t>
            </a:r>
            <a:r>
              <a:rPr lang="en-US" dirty="0"/>
              <a:t> </a:t>
            </a:r>
            <a:r>
              <a:rPr lang="en-US" dirty="0" err="1"/>
              <a:t>chuyển</a:t>
            </a:r>
            <a:r>
              <a:rPr lang="en-US" dirty="0"/>
              <a:t> sang </a:t>
            </a:r>
            <a:r>
              <a:rPr lang="en-US" dirty="0" err="1"/>
              <a:t>tổ</a:t>
            </a:r>
            <a:r>
              <a:rPr lang="en-US" dirty="0"/>
              <a:t> </a:t>
            </a:r>
            <a:r>
              <a:rPr lang="en-US" dirty="0" err="1"/>
              <a:t>chức</a:t>
            </a:r>
            <a:r>
              <a:rPr lang="en-US" dirty="0"/>
              <a:t> </a:t>
            </a:r>
            <a:r>
              <a:rPr lang="en-US" dirty="0" err="1"/>
              <a:t>móc</a:t>
            </a:r>
            <a:r>
              <a:rPr lang="en-US" dirty="0"/>
              <a:t> </a:t>
            </a:r>
            <a:r>
              <a:rPr lang="en-US" dirty="0" err="1"/>
              <a:t>nối</a:t>
            </a:r>
            <a:r>
              <a:rPr lang="en-US" dirty="0"/>
              <a:t> </a:t>
            </a:r>
            <a:r>
              <a:rPr lang="en-US" dirty="0" err="1"/>
              <a:t>kép</a:t>
            </a:r>
            <a:endParaRPr lang="en-US" dirty="0"/>
          </a:p>
          <a:p>
            <a:r>
              <a:rPr lang="vi-VN" dirty="0"/>
              <a:t>Trong phần này, chúng ta chỉ xét cách cài đặt đơn giản nhất</a:t>
            </a:r>
            <a:r>
              <a:rPr lang="en-US" dirty="0"/>
              <a:t> </a:t>
            </a:r>
            <a:r>
              <a:rPr lang="vi-VN" dirty="0"/>
              <a:t>nhằm minh họa cho phương pháp này, nên cách tổ chức móc nối đơn sẽ được sử</a:t>
            </a:r>
            <a:r>
              <a:rPr lang="en-US" dirty="0"/>
              <a:t> </a:t>
            </a:r>
            <a:r>
              <a:rPr lang="vi-VN" dirty="0"/>
              <a:t>dụng.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19</a:t>
            </a:fld>
            <a:endParaRPr lang="en-US"/>
          </a:p>
        </p:txBody>
      </p:sp>
    </p:spTree>
    <p:extLst>
      <p:ext uri="{BB962C8B-B14F-4D97-AF65-F5344CB8AC3E}">
        <p14:creationId xmlns:p14="http://schemas.microsoft.com/office/powerpoint/2010/main" val="2035497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Do ý tưởng của phép duyệt các đỉnh và các cạnh là</a:t>
            </a:r>
            <a:r>
              <a:rPr lang="en-US" dirty="0"/>
              <a:t> </a:t>
            </a:r>
            <a:r>
              <a:rPr lang="vi-VN" dirty="0"/>
              <a:t>tương tự nhau, nên sau này chúng ta chỉ trình bầy phép duyệt các đỉnh của đồ thị.</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21</a:t>
            </a:fld>
            <a:endParaRPr lang="en-US"/>
          </a:p>
        </p:txBody>
      </p:sp>
    </p:spTree>
    <p:extLst>
      <p:ext uri="{BB962C8B-B14F-4D97-AF65-F5344CB8AC3E}">
        <p14:creationId xmlns:p14="http://schemas.microsoft.com/office/powerpoint/2010/main" val="2406696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Lựa</a:t>
            </a:r>
            <a:r>
              <a:rPr lang="en-US" b="1" baseline="0" dirty="0"/>
              <a:t> </a:t>
            </a:r>
            <a:r>
              <a:rPr lang="en-US" b="1" baseline="0" dirty="0" err="1"/>
              <a:t>chọn</a:t>
            </a:r>
            <a:r>
              <a:rPr lang="en-US" b="1" baseline="0" dirty="0"/>
              <a:t> </a:t>
            </a:r>
            <a:r>
              <a:rPr lang="en-US" b="1" baseline="0" dirty="0" err="1"/>
              <a:t>thứ</a:t>
            </a:r>
            <a:r>
              <a:rPr lang="en-US" b="1" baseline="0" dirty="0"/>
              <a:t> </a:t>
            </a:r>
            <a:r>
              <a:rPr lang="en-US" b="1" baseline="0" dirty="0" err="1"/>
              <a:t>tự</a:t>
            </a:r>
            <a:r>
              <a:rPr lang="en-US" b="1" baseline="0" dirty="0"/>
              <a:t> </a:t>
            </a:r>
            <a:r>
              <a:rPr lang="en-US" b="1" baseline="0" dirty="0" err="1"/>
              <a:t>giữa</a:t>
            </a:r>
            <a:r>
              <a:rPr lang="en-US" b="1" baseline="0" dirty="0"/>
              <a:t> </a:t>
            </a:r>
            <a:r>
              <a:rPr lang="en-US" b="1" baseline="0" dirty="0" err="1"/>
              <a:t>các</a:t>
            </a:r>
            <a:r>
              <a:rPr lang="en-US" b="1" baseline="0" dirty="0"/>
              <a:t> </a:t>
            </a:r>
            <a:r>
              <a:rPr lang="en-US" b="1" baseline="0" dirty="0" err="1"/>
              <a:t>nút</a:t>
            </a:r>
            <a:r>
              <a:rPr lang="en-US" b="1" baseline="0" dirty="0"/>
              <a:t> </a:t>
            </a:r>
            <a:r>
              <a:rPr lang="en-US" b="1" baseline="0" dirty="0" err="1"/>
              <a:t>thăm</a:t>
            </a:r>
            <a:r>
              <a:rPr lang="en-US" b="1" baseline="0" dirty="0"/>
              <a:t> </a:t>
            </a:r>
            <a:r>
              <a:rPr lang="en-US" b="1" baseline="0" dirty="0" err="1"/>
              <a:t>tại</a:t>
            </a:r>
            <a:r>
              <a:rPr lang="en-US" b="1" baseline="0" dirty="0"/>
              <a:t> 1 </a:t>
            </a:r>
            <a:r>
              <a:rPr lang="en-US" b="1" baseline="0" dirty="0" err="1"/>
              <a:t>thời</a:t>
            </a:r>
            <a:r>
              <a:rPr lang="en-US" b="1" baseline="0" dirty="0"/>
              <a:t> </a:t>
            </a:r>
            <a:r>
              <a:rPr lang="en-US" b="1" baseline="0" dirty="0" err="1"/>
              <a:t>điểm</a:t>
            </a:r>
            <a:r>
              <a:rPr lang="en-US" b="1" baseline="0" dirty="0"/>
              <a:t> </a:t>
            </a:r>
            <a:r>
              <a:rPr lang="en-US" b="1" baseline="0" dirty="0" err="1"/>
              <a:t>thì</a:t>
            </a:r>
            <a:r>
              <a:rPr lang="en-US" b="1" baseline="0" dirty="0"/>
              <a:t> </a:t>
            </a:r>
            <a:r>
              <a:rPr lang="en-US" b="1" baseline="0" dirty="0" err="1"/>
              <a:t>phụ</a:t>
            </a:r>
            <a:r>
              <a:rPr lang="en-US" b="1" baseline="0" dirty="0"/>
              <a:t> </a:t>
            </a:r>
            <a:r>
              <a:rPr lang="en-US" b="1" baseline="0" dirty="0" err="1"/>
              <a:t>thuộc</a:t>
            </a:r>
            <a:r>
              <a:rPr lang="en-US" b="1" baseline="0" dirty="0"/>
              <a:t> </a:t>
            </a:r>
            <a:r>
              <a:rPr lang="en-US" b="1" baseline="0" dirty="0" err="1"/>
              <a:t>vào</a:t>
            </a:r>
            <a:r>
              <a:rPr lang="en-US" b="1" baseline="0" dirty="0"/>
              <a:t> </a:t>
            </a:r>
            <a:r>
              <a:rPr lang="en-US" b="1" baseline="0" dirty="0" err="1"/>
              <a:t>ct</a:t>
            </a:r>
            <a:r>
              <a:rPr lang="en-US" b="1" baseline="0" dirty="0"/>
              <a:t> </a:t>
            </a:r>
            <a:r>
              <a:rPr lang="en-US" b="1" baseline="0" dirty="0" err="1"/>
              <a:t>lưu</a:t>
            </a:r>
            <a:r>
              <a:rPr lang="en-US" b="1" baseline="0" dirty="0"/>
              <a:t> </a:t>
            </a:r>
            <a:r>
              <a:rPr lang="en-US" b="1" baseline="0" dirty="0" err="1"/>
              <a:t>trữ</a:t>
            </a:r>
            <a:r>
              <a:rPr lang="en-US" baseline="0" dirty="0"/>
              <a:t>, </a:t>
            </a:r>
            <a:r>
              <a:rPr lang="en-US" b="1" baseline="0" dirty="0" err="1"/>
              <a:t>thông</a:t>
            </a:r>
            <a:r>
              <a:rPr lang="en-US" b="1" baseline="0" dirty="0"/>
              <a:t> </a:t>
            </a:r>
            <a:r>
              <a:rPr lang="en-US" b="1" baseline="0" dirty="0" err="1"/>
              <a:t>thường</a:t>
            </a:r>
            <a:r>
              <a:rPr lang="en-US" b="1" baseline="0" dirty="0"/>
              <a:t> </a:t>
            </a:r>
            <a:r>
              <a:rPr lang="en-US" b="1" baseline="0" dirty="0" err="1"/>
              <a:t>theo</a:t>
            </a:r>
            <a:r>
              <a:rPr lang="en-US" b="1" baseline="0" dirty="0"/>
              <a:t> </a:t>
            </a:r>
            <a:r>
              <a:rPr lang="en-US" b="1" baseline="0" dirty="0" err="1"/>
              <a:t>chỉ</a:t>
            </a:r>
            <a:r>
              <a:rPr lang="en-US" b="1" baseline="0" dirty="0"/>
              <a:t> </a:t>
            </a:r>
            <a:r>
              <a:rPr lang="en-US" b="1" baseline="0" dirty="0" err="1"/>
              <a:t>số</a:t>
            </a:r>
            <a:r>
              <a:rPr lang="en-US" b="1" baseline="0" dirty="0"/>
              <a:t> </a:t>
            </a:r>
            <a:r>
              <a:rPr lang="en-US" b="1" baseline="0" dirty="0" err="1"/>
              <a:t>từ</a:t>
            </a:r>
            <a:r>
              <a:rPr lang="en-US" b="1" baseline="0" dirty="0"/>
              <a:t> </a:t>
            </a:r>
            <a:r>
              <a:rPr lang="en-US" b="1" baseline="0" dirty="0" err="1"/>
              <a:t>nhỏ</a:t>
            </a:r>
            <a:r>
              <a:rPr lang="en-US" b="1" baseline="0" dirty="0"/>
              <a:t> -&gt; </a:t>
            </a:r>
            <a:r>
              <a:rPr lang="en-US" b="1" baseline="0" dirty="0" err="1"/>
              <a:t>lớn</a:t>
            </a:r>
            <a:endParaRPr lang="en-US" b="1" baseline="0" dirty="0"/>
          </a:p>
          <a:p>
            <a:endParaRPr lang="en-US" b="1"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22</a:t>
            </a:fld>
            <a:endParaRPr lang="en-US"/>
          </a:p>
        </p:txBody>
      </p:sp>
    </p:spTree>
    <p:extLst>
      <p:ext uri="{BB962C8B-B14F-4D97-AF65-F5344CB8AC3E}">
        <p14:creationId xmlns:p14="http://schemas.microsoft.com/office/powerpoint/2010/main" val="383469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err="1"/>
              <a:t>Lựa</a:t>
            </a:r>
            <a:r>
              <a:rPr lang="en-US" b="1" baseline="0" dirty="0"/>
              <a:t> </a:t>
            </a:r>
            <a:r>
              <a:rPr lang="en-US" b="1" baseline="0" dirty="0" err="1"/>
              <a:t>chọn</a:t>
            </a:r>
            <a:r>
              <a:rPr lang="en-US" b="1" baseline="0" dirty="0"/>
              <a:t> </a:t>
            </a:r>
            <a:r>
              <a:rPr lang="en-US" b="1" baseline="0" dirty="0" err="1"/>
              <a:t>thứ</a:t>
            </a:r>
            <a:r>
              <a:rPr lang="en-US" b="1" baseline="0" dirty="0"/>
              <a:t> </a:t>
            </a:r>
            <a:r>
              <a:rPr lang="en-US" b="1" baseline="0" dirty="0" err="1"/>
              <a:t>tự</a:t>
            </a:r>
            <a:r>
              <a:rPr lang="en-US" b="1" baseline="0" dirty="0"/>
              <a:t> </a:t>
            </a:r>
            <a:r>
              <a:rPr lang="en-US" b="1" baseline="0" dirty="0" err="1"/>
              <a:t>giữa</a:t>
            </a:r>
            <a:r>
              <a:rPr lang="en-US" b="1" baseline="0" dirty="0"/>
              <a:t> </a:t>
            </a:r>
            <a:r>
              <a:rPr lang="en-US" b="1" baseline="0" dirty="0" err="1"/>
              <a:t>các</a:t>
            </a:r>
            <a:r>
              <a:rPr lang="en-US" b="1" baseline="0" dirty="0"/>
              <a:t> </a:t>
            </a:r>
            <a:r>
              <a:rPr lang="en-US" b="1" baseline="0" dirty="0" err="1"/>
              <a:t>nút</a:t>
            </a:r>
            <a:r>
              <a:rPr lang="en-US" b="1" baseline="0" dirty="0"/>
              <a:t> </a:t>
            </a:r>
            <a:r>
              <a:rPr lang="en-US" b="1" baseline="0" dirty="0" err="1"/>
              <a:t>thăm</a:t>
            </a:r>
            <a:r>
              <a:rPr lang="en-US" b="1" baseline="0" dirty="0"/>
              <a:t> </a:t>
            </a:r>
            <a:r>
              <a:rPr lang="en-US" b="1" baseline="0" dirty="0" err="1"/>
              <a:t>tại</a:t>
            </a:r>
            <a:r>
              <a:rPr lang="en-US" b="1" baseline="0" dirty="0"/>
              <a:t> 1 </a:t>
            </a:r>
            <a:r>
              <a:rPr lang="en-US" b="1" baseline="0" dirty="0" err="1"/>
              <a:t>thời</a:t>
            </a:r>
            <a:r>
              <a:rPr lang="en-US" b="1" baseline="0" dirty="0"/>
              <a:t> </a:t>
            </a:r>
            <a:r>
              <a:rPr lang="en-US" b="1" baseline="0" dirty="0" err="1"/>
              <a:t>điểm</a:t>
            </a:r>
            <a:r>
              <a:rPr lang="en-US" b="1" baseline="0" dirty="0"/>
              <a:t> </a:t>
            </a:r>
            <a:r>
              <a:rPr lang="en-US" b="1" baseline="0" dirty="0" err="1"/>
              <a:t>thì</a:t>
            </a:r>
            <a:r>
              <a:rPr lang="en-US" b="1" baseline="0" dirty="0"/>
              <a:t> </a:t>
            </a:r>
            <a:r>
              <a:rPr lang="en-US" b="1" baseline="0" dirty="0" err="1"/>
              <a:t>phụ</a:t>
            </a:r>
            <a:r>
              <a:rPr lang="en-US" b="1" baseline="0" dirty="0"/>
              <a:t> </a:t>
            </a:r>
            <a:r>
              <a:rPr lang="en-US" b="1" baseline="0" dirty="0" err="1"/>
              <a:t>thuộc</a:t>
            </a:r>
            <a:r>
              <a:rPr lang="en-US" b="1" baseline="0" dirty="0"/>
              <a:t> </a:t>
            </a:r>
            <a:r>
              <a:rPr lang="en-US" b="1" baseline="0" dirty="0" err="1"/>
              <a:t>vào</a:t>
            </a:r>
            <a:r>
              <a:rPr lang="en-US" b="1" baseline="0" dirty="0"/>
              <a:t> </a:t>
            </a:r>
            <a:r>
              <a:rPr lang="en-US" b="1" baseline="0" dirty="0" err="1"/>
              <a:t>ct</a:t>
            </a:r>
            <a:r>
              <a:rPr lang="en-US" b="1" baseline="0" dirty="0"/>
              <a:t> </a:t>
            </a:r>
            <a:r>
              <a:rPr lang="en-US" b="1" baseline="0" dirty="0" err="1"/>
              <a:t>lưu</a:t>
            </a:r>
            <a:r>
              <a:rPr lang="en-US" b="1" baseline="0" dirty="0"/>
              <a:t> </a:t>
            </a:r>
            <a:r>
              <a:rPr lang="en-US" b="1" baseline="0" dirty="0" err="1"/>
              <a:t>trữ</a:t>
            </a:r>
            <a:r>
              <a:rPr lang="en-US" baseline="0" dirty="0"/>
              <a:t>, </a:t>
            </a:r>
            <a:r>
              <a:rPr lang="en-US" b="1" baseline="0" dirty="0" err="1"/>
              <a:t>thông</a:t>
            </a:r>
            <a:r>
              <a:rPr lang="en-US" b="1" baseline="0" dirty="0"/>
              <a:t> </a:t>
            </a:r>
            <a:r>
              <a:rPr lang="en-US" b="1" baseline="0" dirty="0" err="1"/>
              <a:t>thường</a:t>
            </a:r>
            <a:r>
              <a:rPr lang="en-US" b="1" baseline="0" dirty="0"/>
              <a:t> </a:t>
            </a:r>
            <a:r>
              <a:rPr lang="en-US" b="1" baseline="0" dirty="0" err="1"/>
              <a:t>theo</a:t>
            </a:r>
            <a:r>
              <a:rPr lang="en-US" b="1" baseline="0" dirty="0"/>
              <a:t> </a:t>
            </a:r>
            <a:r>
              <a:rPr lang="en-US" b="1" baseline="0" dirty="0" err="1"/>
              <a:t>chỉ</a:t>
            </a:r>
            <a:r>
              <a:rPr lang="en-US" b="1" baseline="0" dirty="0"/>
              <a:t> </a:t>
            </a:r>
            <a:r>
              <a:rPr lang="en-US" b="1" baseline="0" dirty="0" err="1"/>
              <a:t>số</a:t>
            </a:r>
            <a:r>
              <a:rPr lang="en-US" b="1" baseline="0" dirty="0"/>
              <a:t> </a:t>
            </a:r>
            <a:r>
              <a:rPr lang="en-US" b="1" baseline="0" dirty="0" err="1"/>
              <a:t>từ</a:t>
            </a:r>
            <a:r>
              <a:rPr lang="en-US" b="1" baseline="0" dirty="0"/>
              <a:t> </a:t>
            </a:r>
            <a:r>
              <a:rPr lang="en-US" b="1" baseline="0" dirty="0" err="1"/>
              <a:t>nhỏ</a:t>
            </a:r>
            <a:r>
              <a:rPr lang="en-US" b="1" baseline="0" dirty="0"/>
              <a:t> -&gt; </a:t>
            </a:r>
            <a:r>
              <a:rPr lang="en-US" b="1" baseline="0" dirty="0" err="1"/>
              <a:t>lớn</a:t>
            </a:r>
            <a:endParaRPr lang="en-US" b="1" baseline="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23</a:t>
            </a:fld>
            <a:endParaRPr lang="en-US"/>
          </a:p>
        </p:txBody>
      </p:sp>
    </p:spTree>
    <p:extLst>
      <p:ext uri="{BB962C8B-B14F-4D97-AF65-F5344CB8AC3E}">
        <p14:creationId xmlns:p14="http://schemas.microsoft.com/office/powerpoint/2010/main" val="1476618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err="1"/>
              <a:t>Lựa</a:t>
            </a:r>
            <a:r>
              <a:rPr lang="en-US" b="1" baseline="0" dirty="0"/>
              <a:t> </a:t>
            </a:r>
            <a:r>
              <a:rPr lang="en-US" b="1" baseline="0" dirty="0" err="1"/>
              <a:t>chọn</a:t>
            </a:r>
            <a:r>
              <a:rPr lang="en-US" b="1" baseline="0" dirty="0"/>
              <a:t> </a:t>
            </a:r>
            <a:r>
              <a:rPr lang="en-US" b="1" baseline="0" dirty="0" err="1"/>
              <a:t>thứ</a:t>
            </a:r>
            <a:r>
              <a:rPr lang="en-US" b="1" baseline="0" dirty="0"/>
              <a:t> </a:t>
            </a:r>
            <a:r>
              <a:rPr lang="en-US" b="1" baseline="0" dirty="0" err="1"/>
              <a:t>tự</a:t>
            </a:r>
            <a:r>
              <a:rPr lang="en-US" b="1" baseline="0" dirty="0"/>
              <a:t> </a:t>
            </a:r>
            <a:r>
              <a:rPr lang="en-US" b="1" baseline="0" dirty="0" err="1"/>
              <a:t>giữa</a:t>
            </a:r>
            <a:r>
              <a:rPr lang="en-US" b="1" baseline="0" dirty="0"/>
              <a:t> </a:t>
            </a:r>
            <a:r>
              <a:rPr lang="en-US" b="1" baseline="0" dirty="0" err="1"/>
              <a:t>các</a:t>
            </a:r>
            <a:r>
              <a:rPr lang="en-US" b="1" baseline="0" dirty="0"/>
              <a:t> </a:t>
            </a:r>
            <a:r>
              <a:rPr lang="en-US" b="1" baseline="0" dirty="0" err="1"/>
              <a:t>nút</a:t>
            </a:r>
            <a:r>
              <a:rPr lang="en-US" b="1" baseline="0" dirty="0"/>
              <a:t> </a:t>
            </a:r>
            <a:r>
              <a:rPr lang="en-US" b="1" baseline="0" dirty="0" err="1"/>
              <a:t>thăm</a:t>
            </a:r>
            <a:r>
              <a:rPr lang="en-US" b="1" baseline="0" dirty="0"/>
              <a:t> </a:t>
            </a:r>
            <a:r>
              <a:rPr lang="en-US" b="1" baseline="0" dirty="0" err="1"/>
              <a:t>tại</a:t>
            </a:r>
            <a:r>
              <a:rPr lang="en-US" b="1" baseline="0" dirty="0"/>
              <a:t> 1 </a:t>
            </a:r>
            <a:r>
              <a:rPr lang="en-US" b="1" baseline="0" dirty="0" err="1"/>
              <a:t>thời</a:t>
            </a:r>
            <a:r>
              <a:rPr lang="en-US" b="1" baseline="0" dirty="0"/>
              <a:t> </a:t>
            </a:r>
            <a:r>
              <a:rPr lang="en-US" b="1" baseline="0" dirty="0" err="1"/>
              <a:t>điểm</a:t>
            </a:r>
            <a:r>
              <a:rPr lang="en-US" b="1" baseline="0" dirty="0"/>
              <a:t> </a:t>
            </a:r>
            <a:r>
              <a:rPr lang="en-US" b="1" baseline="0" dirty="0" err="1"/>
              <a:t>thì</a:t>
            </a:r>
            <a:r>
              <a:rPr lang="en-US" b="1" baseline="0" dirty="0"/>
              <a:t> </a:t>
            </a:r>
            <a:r>
              <a:rPr lang="en-US" b="1" baseline="0" dirty="0" err="1"/>
              <a:t>phụ</a:t>
            </a:r>
            <a:r>
              <a:rPr lang="en-US" b="1" baseline="0" dirty="0"/>
              <a:t> </a:t>
            </a:r>
            <a:r>
              <a:rPr lang="en-US" b="1" baseline="0" dirty="0" err="1"/>
              <a:t>thuộc</a:t>
            </a:r>
            <a:r>
              <a:rPr lang="en-US" b="1" baseline="0" dirty="0"/>
              <a:t> </a:t>
            </a:r>
            <a:r>
              <a:rPr lang="en-US" b="1" baseline="0" dirty="0" err="1"/>
              <a:t>vào</a:t>
            </a:r>
            <a:r>
              <a:rPr lang="en-US" b="1" baseline="0" dirty="0"/>
              <a:t> </a:t>
            </a:r>
            <a:r>
              <a:rPr lang="en-US" b="1" baseline="0" dirty="0" err="1"/>
              <a:t>ct</a:t>
            </a:r>
            <a:r>
              <a:rPr lang="en-US" b="1" baseline="0" dirty="0"/>
              <a:t> </a:t>
            </a:r>
            <a:r>
              <a:rPr lang="en-US" b="1" baseline="0" dirty="0" err="1"/>
              <a:t>lưu</a:t>
            </a:r>
            <a:r>
              <a:rPr lang="en-US" b="1" baseline="0" dirty="0"/>
              <a:t> </a:t>
            </a:r>
            <a:r>
              <a:rPr lang="en-US" b="1" baseline="0" dirty="0" err="1"/>
              <a:t>trữ</a:t>
            </a:r>
            <a:r>
              <a:rPr lang="en-US" baseline="0" dirty="0"/>
              <a:t>, </a:t>
            </a:r>
            <a:r>
              <a:rPr lang="en-US" b="1" baseline="0" dirty="0" err="1"/>
              <a:t>thông</a:t>
            </a:r>
            <a:r>
              <a:rPr lang="en-US" b="1" baseline="0" dirty="0"/>
              <a:t> </a:t>
            </a:r>
            <a:r>
              <a:rPr lang="en-US" b="1" baseline="0" dirty="0" err="1"/>
              <a:t>thường</a:t>
            </a:r>
            <a:r>
              <a:rPr lang="en-US" b="1" baseline="0" dirty="0"/>
              <a:t> </a:t>
            </a:r>
            <a:r>
              <a:rPr lang="en-US" b="1" baseline="0" dirty="0" err="1"/>
              <a:t>theo</a:t>
            </a:r>
            <a:r>
              <a:rPr lang="en-US" b="1" baseline="0" dirty="0"/>
              <a:t> </a:t>
            </a:r>
            <a:r>
              <a:rPr lang="en-US" b="1" baseline="0" dirty="0" err="1"/>
              <a:t>chỉ</a:t>
            </a:r>
            <a:r>
              <a:rPr lang="en-US" b="1" baseline="0" dirty="0"/>
              <a:t> </a:t>
            </a:r>
            <a:r>
              <a:rPr lang="en-US" b="1" baseline="0" dirty="0" err="1"/>
              <a:t>số</a:t>
            </a:r>
            <a:r>
              <a:rPr lang="en-US" b="1" baseline="0" dirty="0"/>
              <a:t> </a:t>
            </a:r>
            <a:r>
              <a:rPr lang="en-US" b="1" baseline="0" dirty="0" err="1"/>
              <a:t>từ</a:t>
            </a:r>
            <a:r>
              <a:rPr lang="en-US" b="1" baseline="0" dirty="0"/>
              <a:t> </a:t>
            </a:r>
            <a:r>
              <a:rPr lang="en-US" b="1" baseline="0" dirty="0" err="1"/>
              <a:t>nhỏ</a:t>
            </a:r>
            <a:r>
              <a:rPr lang="en-US" b="1" baseline="0" dirty="0"/>
              <a:t> -&gt; </a:t>
            </a:r>
            <a:r>
              <a:rPr lang="en-US" b="1" baseline="0" dirty="0" err="1"/>
              <a:t>lớn</a:t>
            </a:r>
            <a:endParaRPr lang="en-US" b="1" baseline="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24</a:t>
            </a:fld>
            <a:endParaRPr lang="en-US"/>
          </a:p>
        </p:txBody>
      </p:sp>
    </p:spTree>
    <p:extLst>
      <p:ext uri="{BB962C8B-B14F-4D97-AF65-F5344CB8AC3E}">
        <p14:creationId xmlns:p14="http://schemas.microsoft.com/office/powerpoint/2010/main" val="3162378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ta có thể nhận thấy độ phức tạp của thủ tục trên phụ thuộc chủ yếu vào thao</a:t>
            </a:r>
          </a:p>
          <a:p>
            <a:r>
              <a:rPr lang="vi-VN" dirty="0"/>
              <a:t>tác tìm kiếm các nút kề ua. Nên nếu thao tác này được cài đặt tốt sẽ giúp cải thiện độ</a:t>
            </a:r>
            <a:r>
              <a:rPr lang="en-US" dirty="0"/>
              <a:t> </a:t>
            </a:r>
            <a:r>
              <a:rPr lang="vi-VN" dirty="0"/>
              <a:t>phức tạp của giải thuật. Có một kỹ thuật cài đặt thường được sử dụng ở đây là bổ</a:t>
            </a:r>
            <a:r>
              <a:rPr lang="en-US" dirty="0"/>
              <a:t> </a:t>
            </a:r>
            <a:r>
              <a:rPr lang="vi-VN" dirty="0"/>
              <a:t>sung thêm một trạng thái nữa cho các nút, thay vì chỉ có hai trạng thái là đã được</a:t>
            </a:r>
            <a:r>
              <a:rPr lang="en-US" dirty="0"/>
              <a:t> </a:t>
            </a:r>
            <a:r>
              <a:rPr lang="vi-VN" dirty="0"/>
              <a:t>thăm/chưa được thăm như ở giải thuật duyệt theo chiều sâu. </a:t>
            </a:r>
            <a:endParaRPr lang="en-US" dirty="0"/>
          </a:p>
          <a:p>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err="1"/>
              <a:t>Lựa</a:t>
            </a:r>
            <a:r>
              <a:rPr lang="en-US" b="1" baseline="0" dirty="0"/>
              <a:t> </a:t>
            </a:r>
            <a:r>
              <a:rPr lang="en-US" b="1" baseline="0" dirty="0" err="1"/>
              <a:t>chọn</a:t>
            </a:r>
            <a:r>
              <a:rPr lang="en-US" b="1" baseline="0" dirty="0"/>
              <a:t> </a:t>
            </a:r>
            <a:r>
              <a:rPr lang="en-US" b="1" baseline="0" dirty="0" err="1"/>
              <a:t>thứ</a:t>
            </a:r>
            <a:r>
              <a:rPr lang="en-US" b="1" baseline="0" dirty="0"/>
              <a:t> </a:t>
            </a:r>
            <a:r>
              <a:rPr lang="en-US" b="1" baseline="0" dirty="0" err="1"/>
              <a:t>tự</a:t>
            </a:r>
            <a:r>
              <a:rPr lang="en-US" b="1" baseline="0" dirty="0"/>
              <a:t> </a:t>
            </a:r>
            <a:r>
              <a:rPr lang="en-US" b="1" baseline="0" dirty="0" err="1"/>
              <a:t>giữa</a:t>
            </a:r>
            <a:r>
              <a:rPr lang="en-US" b="1" baseline="0" dirty="0"/>
              <a:t> </a:t>
            </a:r>
            <a:r>
              <a:rPr lang="en-US" b="1" baseline="0" dirty="0" err="1"/>
              <a:t>các</a:t>
            </a:r>
            <a:r>
              <a:rPr lang="en-US" b="1" baseline="0" dirty="0"/>
              <a:t> </a:t>
            </a:r>
            <a:r>
              <a:rPr lang="en-US" b="1" baseline="0" dirty="0" err="1"/>
              <a:t>nút</a:t>
            </a:r>
            <a:r>
              <a:rPr lang="en-US" b="1" baseline="0" dirty="0"/>
              <a:t> </a:t>
            </a:r>
            <a:r>
              <a:rPr lang="en-US" b="1" baseline="0" dirty="0" err="1"/>
              <a:t>thăm</a:t>
            </a:r>
            <a:r>
              <a:rPr lang="en-US" b="1" baseline="0" dirty="0"/>
              <a:t> </a:t>
            </a:r>
            <a:r>
              <a:rPr lang="en-US" b="1" baseline="0" dirty="0" err="1"/>
              <a:t>tại</a:t>
            </a:r>
            <a:r>
              <a:rPr lang="en-US" b="1" baseline="0" dirty="0"/>
              <a:t> 1 </a:t>
            </a:r>
            <a:r>
              <a:rPr lang="en-US" b="1" baseline="0" dirty="0" err="1"/>
              <a:t>thời</a:t>
            </a:r>
            <a:r>
              <a:rPr lang="en-US" b="1" baseline="0" dirty="0"/>
              <a:t> </a:t>
            </a:r>
            <a:r>
              <a:rPr lang="en-US" b="1" baseline="0" dirty="0" err="1"/>
              <a:t>điểm</a:t>
            </a:r>
            <a:r>
              <a:rPr lang="en-US" b="1" baseline="0" dirty="0"/>
              <a:t> </a:t>
            </a:r>
            <a:r>
              <a:rPr lang="en-US" b="1" baseline="0" dirty="0" err="1"/>
              <a:t>thì</a:t>
            </a:r>
            <a:r>
              <a:rPr lang="en-US" b="1" baseline="0" dirty="0"/>
              <a:t> </a:t>
            </a:r>
            <a:r>
              <a:rPr lang="en-US" b="1" baseline="0" dirty="0" err="1"/>
              <a:t>phụ</a:t>
            </a:r>
            <a:r>
              <a:rPr lang="en-US" b="1" baseline="0" dirty="0"/>
              <a:t> </a:t>
            </a:r>
            <a:r>
              <a:rPr lang="en-US" b="1" baseline="0" dirty="0" err="1"/>
              <a:t>thuộc</a:t>
            </a:r>
            <a:r>
              <a:rPr lang="en-US" b="1" baseline="0" dirty="0"/>
              <a:t> </a:t>
            </a:r>
            <a:r>
              <a:rPr lang="en-US" b="1" baseline="0" dirty="0" err="1"/>
              <a:t>vào</a:t>
            </a:r>
            <a:r>
              <a:rPr lang="en-US" b="1" baseline="0" dirty="0"/>
              <a:t> </a:t>
            </a:r>
            <a:r>
              <a:rPr lang="en-US" b="1" baseline="0" dirty="0" err="1"/>
              <a:t>ct</a:t>
            </a:r>
            <a:r>
              <a:rPr lang="en-US" b="1" baseline="0" dirty="0"/>
              <a:t> </a:t>
            </a:r>
            <a:r>
              <a:rPr lang="en-US" b="1" baseline="0" dirty="0" err="1"/>
              <a:t>lưu</a:t>
            </a:r>
            <a:r>
              <a:rPr lang="en-US" b="1" baseline="0" dirty="0"/>
              <a:t> </a:t>
            </a:r>
            <a:r>
              <a:rPr lang="en-US" b="1" baseline="0" dirty="0" err="1"/>
              <a:t>trữ</a:t>
            </a:r>
            <a:r>
              <a:rPr lang="en-US" baseline="0" dirty="0"/>
              <a:t>, </a:t>
            </a:r>
            <a:r>
              <a:rPr lang="en-US" b="1" baseline="0" dirty="0" err="1"/>
              <a:t>thông</a:t>
            </a:r>
            <a:r>
              <a:rPr lang="en-US" b="1" baseline="0" dirty="0"/>
              <a:t> </a:t>
            </a:r>
            <a:r>
              <a:rPr lang="en-US" b="1" baseline="0" dirty="0" err="1"/>
              <a:t>thường</a:t>
            </a:r>
            <a:r>
              <a:rPr lang="en-US" b="1" baseline="0" dirty="0"/>
              <a:t> </a:t>
            </a:r>
            <a:r>
              <a:rPr lang="en-US" b="1" baseline="0" dirty="0" err="1"/>
              <a:t>theo</a:t>
            </a:r>
            <a:r>
              <a:rPr lang="en-US" b="1" baseline="0" dirty="0"/>
              <a:t> </a:t>
            </a:r>
            <a:r>
              <a:rPr lang="en-US" b="1" baseline="0" dirty="0" err="1"/>
              <a:t>chỉ</a:t>
            </a:r>
            <a:r>
              <a:rPr lang="en-US" b="1" baseline="0" dirty="0"/>
              <a:t> </a:t>
            </a:r>
            <a:r>
              <a:rPr lang="en-US" b="1" baseline="0" dirty="0" err="1"/>
              <a:t>số</a:t>
            </a:r>
            <a:r>
              <a:rPr lang="en-US" b="1" baseline="0" dirty="0"/>
              <a:t> </a:t>
            </a:r>
            <a:r>
              <a:rPr lang="en-US" b="1" baseline="0" dirty="0" err="1"/>
              <a:t>từ</a:t>
            </a:r>
            <a:r>
              <a:rPr lang="en-US" b="1" baseline="0" dirty="0"/>
              <a:t> </a:t>
            </a:r>
            <a:r>
              <a:rPr lang="en-US" b="1" baseline="0" dirty="0" err="1"/>
              <a:t>nhỏ</a:t>
            </a:r>
            <a:r>
              <a:rPr lang="en-US" b="1" baseline="0" dirty="0"/>
              <a:t> -&gt; </a:t>
            </a:r>
            <a:r>
              <a:rPr lang="en-US" b="1" baseline="0" dirty="0" err="1"/>
              <a:t>lớn</a:t>
            </a:r>
            <a:endParaRPr lang="en-US" b="1" baseline="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25</a:t>
            </a:fld>
            <a:endParaRPr lang="en-US"/>
          </a:p>
        </p:txBody>
      </p:sp>
    </p:spTree>
    <p:extLst>
      <p:ext uri="{BB962C8B-B14F-4D97-AF65-F5344CB8AC3E}">
        <p14:creationId xmlns:p14="http://schemas.microsoft.com/office/powerpoint/2010/main" val="3845567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27</a:t>
            </a:fld>
            <a:endParaRPr lang="en-US"/>
          </a:p>
        </p:txBody>
      </p:sp>
    </p:spTree>
    <p:extLst>
      <p:ext uri="{BB962C8B-B14F-4D97-AF65-F5344CB8AC3E}">
        <p14:creationId xmlns:p14="http://schemas.microsoft.com/office/powerpoint/2010/main" val="4015809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Ý tưởng chính: Áp dụng chiến lược quy nạp, giải thuật sẽ tìm và cập nhật dần</a:t>
            </a:r>
          </a:p>
          <a:p>
            <a:r>
              <a:rPr lang="vi-VN" dirty="0"/>
              <a:t>dần các thông tin về đường đi ngắn nhất giữa nút nguồn s và các nút còn lại (sau</a:t>
            </a:r>
          </a:p>
          <a:p>
            <a:r>
              <a:rPr lang="vi-VN" dirty="0"/>
              <a:t>này ta nói ngắn gọn là đường đi ngắn nhất hoặc đường đi ngắn nhất đến nút</a:t>
            </a:r>
          </a:p>
          <a:p>
            <a:r>
              <a:rPr lang="vi-VN" dirty="0"/>
              <a:t>đích). </a:t>
            </a:r>
            <a:endParaRPr lang="en-US" dirty="0"/>
          </a:p>
          <a:p>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29</a:t>
            </a:fld>
            <a:endParaRPr lang="en-US"/>
          </a:p>
        </p:txBody>
      </p:sp>
    </p:spTree>
    <p:extLst>
      <p:ext uri="{BB962C8B-B14F-4D97-AF65-F5344CB8AC3E}">
        <p14:creationId xmlns:p14="http://schemas.microsoft.com/office/powerpoint/2010/main" val="149241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36</a:t>
            </a:fld>
            <a:endParaRPr lang="en-US"/>
          </a:p>
        </p:txBody>
      </p:sp>
    </p:spTree>
    <p:extLst>
      <p:ext uri="{BB962C8B-B14F-4D97-AF65-F5344CB8AC3E}">
        <p14:creationId xmlns:p14="http://schemas.microsoft.com/office/powerpoint/2010/main" val="348605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37</a:t>
            </a:fld>
            <a:endParaRPr lang="en-US"/>
          </a:p>
        </p:txBody>
      </p:sp>
    </p:spTree>
    <p:extLst>
      <p:ext uri="{BB962C8B-B14F-4D97-AF65-F5344CB8AC3E}">
        <p14:creationId xmlns:p14="http://schemas.microsoft.com/office/powerpoint/2010/main" val="1767426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38</a:t>
            </a:fld>
            <a:endParaRPr lang="en-US"/>
          </a:p>
        </p:txBody>
      </p:sp>
    </p:spTree>
    <p:extLst>
      <p:ext uri="{BB962C8B-B14F-4D97-AF65-F5344CB8AC3E}">
        <p14:creationId xmlns:p14="http://schemas.microsoft.com/office/powerpoint/2010/main" val="1553101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39</a:t>
            </a:fld>
            <a:endParaRPr lang="en-US"/>
          </a:p>
        </p:txBody>
      </p:sp>
    </p:spTree>
    <p:extLst>
      <p:ext uri="{BB962C8B-B14F-4D97-AF65-F5344CB8AC3E}">
        <p14:creationId xmlns:p14="http://schemas.microsoft.com/office/powerpoint/2010/main" val="1062675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40</a:t>
            </a:fld>
            <a:endParaRPr lang="en-US"/>
          </a:p>
        </p:txBody>
      </p:sp>
    </p:spTree>
    <p:extLst>
      <p:ext uri="{BB962C8B-B14F-4D97-AF65-F5344CB8AC3E}">
        <p14:creationId xmlns:p14="http://schemas.microsoft.com/office/powerpoint/2010/main" val="1036998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Đường</a:t>
            </a:r>
            <a:r>
              <a:rPr lang="en-US" baseline="0" dirty="0"/>
              <a:t> </a:t>
            </a:r>
            <a:r>
              <a:rPr lang="en-US" baseline="0" dirty="0" err="1"/>
              <a:t>đi</a:t>
            </a:r>
            <a:r>
              <a:rPr lang="en-US" baseline="0" dirty="0"/>
              <a:t> </a:t>
            </a:r>
            <a:r>
              <a:rPr lang="en-US" baseline="0" dirty="0" err="1"/>
              <a:t>tới</a:t>
            </a:r>
            <a:r>
              <a:rPr lang="en-US" baseline="0" dirty="0"/>
              <a:t> </a:t>
            </a:r>
            <a:r>
              <a:rPr lang="en-US" baseline="0" dirty="0" err="1"/>
              <a:t>nút</a:t>
            </a:r>
            <a:r>
              <a:rPr lang="en-US" baseline="0" dirty="0"/>
              <a:t> </a:t>
            </a:r>
            <a:r>
              <a:rPr lang="en-US" baseline="0" dirty="0" err="1"/>
              <a:t>kề</a:t>
            </a:r>
            <a:r>
              <a:rPr lang="en-US" baseline="0" dirty="0"/>
              <a:t> </a:t>
            </a:r>
            <a:r>
              <a:rPr lang="en-US" baseline="0" dirty="0" err="1"/>
              <a:t>vm</a:t>
            </a:r>
            <a:r>
              <a:rPr lang="en-US" baseline="0" dirty="0"/>
              <a:t> </a:t>
            </a:r>
            <a:r>
              <a:rPr lang="en-US" baseline="0" dirty="0" err="1"/>
              <a:t>chỉ</a:t>
            </a:r>
            <a:r>
              <a:rPr lang="en-US" baseline="0" dirty="0"/>
              <a:t> </a:t>
            </a:r>
            <a:r>
              <a:rPr lang="en-US" baseline="0" dirty="0" err="1"/>
              <a:t>đi</a:t>
            </a:r>
            <a:r>
              <a:rPr lang="en-US" baseline="0" dirty="0"/>
              <a:t> qua </a:t>
            </a:r>
            <a:r>
              <a:rPr lang="en-US" baseline="0" dirty="0" err="1"/>
              <a:t>các</a:t>
            </a:r>
            <a:r>
              <a:rPr lang="en-US" baseline="0" dirty="0"/>
              <a:t> </a:t>
            </a:r>
            <a:r>
              <a:rPr lang="en-US" baseline="0" dirty="0" err="1"/>
              <a:t>nút</a:t>
            </a:r>
            <a:r>
              <a:rPr lang="en-US" baseline="0" dirty="0"/>
              <a:t> </a:t>
            </a:r>
            <a:r>
              <a:rPr lang="en-US" baseline="0" dirty="0" err="1"/>
              <a:t>đã</a:t>
            </a:r>
            <a:r>
              <a:rPr lang="en-US" baseline="0" dirty="0"/>
              <a:t> </a:t>
            </a:r>
            <a:r>
              <a:rPr lang="en-US" baseline="0" dirty="0" err="1"/>
              <a:t>có</a:t>
            </a:r>
            <a:r>
              <a:rPr lang="en-US" baseline="0" dirty="0"/>
              <a:t> </a:t>
            </a:r>
            <a:r>
              <a:rPr lang="en-US" baseline="0" dirty="0" err="1"/>
              <a:t>trong</a:t>
            </a:r>
            <a:r>
              <a:rPr lang="en-US" baseline="0" dirty="0"/>
              <a:t> F.</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41</a:t>
            </a:fld>
            <a:endParaRPr lang="en-US"/>
          </a:p>
        </p:txBody>
      </p:sp>
    </p:spTree>
    <p:extLst>
      <p:ext uri="{BB962C8B-B14F-4D97-AF65-F5344CB8AC3E}">
        <p14:creationId xmlns:p14="http://schemas.microsoft.com/office/powerpoint/2010/main" val="328215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Giải thuật cho bài toán này vừa là</a:t>
            </a:r>
            <a:r>
              <a:rPr lang="en-US" dirty="0"/>
              <a:t> </a:t>
            </a:r>
            <a:r>
              <a:rPr lang="vi-VN" dirty="0"/>
              <a:t>cơ sở cho hai bài toán còn lại, vừa được sử dụng trong nhiều ứng dụng. Mà một</a:t>
            </a:r>
            <a:r>
              <a:rPr lang="en-US" dirty="0"/>
              <a:t> </a:t>
            </a:r>
            <a:r>
              <a:rPr lang="vi-VN" dirty="0"/>
              <a:t>trong những ứng dụng của nó là được áp dụng trong bài toán tìm cây khung có giá</a:t>
            </a:r>
            <a:r>
              <a:rPr lang="en-US" dirty="0"/>
              <a:t> </a:t>
            </a:r>
            <a:r>
              <a:rPr lang="vi-VN" dirty="0"/>
              <a:t>cực tiểu mà sẽ được trình bầy ở phần sau.</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46</a:t>
            </a:fld>
            <a:endParaRPr lang="en-US"/>
          </a:p>
        </p:txBody>
      </p:sp>
    </p:spTree>
    <p:extLst>
      <p:ext uri="{BB962C8B-B14F-4D97-AF65-F5344CB8AC3E}">
        <p14:creationId xmlns:p14="http://schemas.microsoft.com/office/powerpoint/2010/main" val="19473729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hình, mỗi cạnh ngoài phần trọng số, còn có thêm thông tin về thứ tự được</a:t>
            </a:r>
          </a:p>
          <a:p>
            <a:r>
              <a:rPr lang="vi-VN" dirty="0"/>
              <a:t>chọn (phần để trong ngoặc) để đưa vào cây khung. Các cạnh với nét liền là các cạnh</a:t>
            </a:r>
          </a:p>
          <a:p>
            <a:r>
              <a:rPr lang="vi-VN" dirty="0"/>
              <a:t>đã được chọn, cạnh với nét đứt thường là chưa được chọn, cạnh với nét đứt đậm là</a:t>
            </a:r>
          </a:p>
          <a:p>
            <a:r>
              <a:rPr lang="vi-VN" dirty="0"/>
              <a:t>cạnh bị loại ra do là cạnh lớn nhất trong một chu trình.</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52</a:t>
            </a:fld>
            <a:endParaRPr lang="en-US"/>
          </a:p>
        </p:txBody>
      </p:sp>
    </p:spTree>
    <p:extLst>
      <p:ext uri="{BB962C8B-B14F-4D97-AF65-F5344CB8AC3E}">
        <p14:creationId xmlns:p14="http://schemas.microsoft.com/office/powerpoint/2010/main" val="41052935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53</a:t>
            </a:fld>
            <a:endParaRPr lang="en-US"/>
          </a:p>
        </p:txBody>
      </p:sp>
    </p:spTree>
    <p:extLst>
      <p:ext uri="{BB962C8B-B14F-4D97-AF65-F5344CB8AC3E}">
        <p14:creationId xmlns:p14="http://schemas.microsoft.com/office/powerpoint/2010/main" val="1829622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https://www.javatpoint.com/dijkstras-algorithm</a:t>
            </a:r>
          </a:p>
        </p:txBody>
      </p:sp>
      <p:sp>
        <p:nvSpPr>
          <p:cNvPr id="4" name="Slide Number Placeholder 3"/>
          <p:cNvSpPr>
            <a:spLocks noGrp="1"/>
          </p:cNvSpPr>
          <p:nvPr>
            <p:ph type="sldNum" sz="quarter" idx="10"/>
          </p:nvPr>
        </p:nvSpPr>
        <p:spPr/>
        <p:txBody>
          <a:bodyPr/>
          <a:lstStyle/>
          <a:p>
            <a:fld id="{76159C16-962D-45B7-9AE3-AA455C3EA8F0}" type="slidenum">
              <a:rPr lang="en-US" smtClean="0"/>
              <a:pPr/>
              <a:t>54</a:t>
            </a:fld>
            <a:endParaRPr lang="en-US"/>
          </a:p>
        </p:txBody>
      </p:sp>
    </p:spTree>
    <p:extLst>
      <p:ext uri="{BB962C8B-B14F-4D97-AF65-F5344CB8AC3E}">
        <p14:creationId xmlns:p14="http://schemas.microsoft.com/office/powerpoint/2010/main" val="383496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Giải thuật cho bài toán này vừa là</a:t>
            </a:r>
            <a:r>
              <a:rPr lang="en-US" dirty="0"/>
              <a:t> </a:t>
            </a:r>
            <a:r>
              <a:rPr lang="vi-VN" dirty="0"/>
              <a:t>cơ sở cho hai bài toán còn lại, vừa được sử dụng trong nhiều ứng dụng. Mà một</a:t>
            </a:r>
            <a:r>
              <a:rPr lang="en-US" dirty="0"/>
              <a:t> </a:t>
            </a:r>
            <a:r>
              <a:rPr lang="vi-VN" dirty="0"/>
              <a:t>trong những ứng dụng của nó là được áp dụng trong bài toán tìm cây khung có giá</a:t>
            </a:r>
            <a:r>
              <a:rPr lang="en-US" dirty="0"/>
              <a:t> </a:t>
            </a:r>
            <a:r>
              <a:rPr lang="vi-VN" dirty="0"/>
              <a:t>cực tiểu mà sẽ được trình bầy ở phần sau.</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56</a:t>
            </a:fld>
            <a:endParaRPr lang="en-US"/>
          </a:p>
        </p:txBody>
      </p:sp>
    </p:spTree>
    <p:extLst>
      <p:ext uri="{BB962C8B-B14F-4D97-AF65-F5344CB8AC3E}">
        <p14:creationId xmlns:p14="http://schemas.microsoft.com/office/powerpoint/2010/main" val="3980876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28016669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83887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1970867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12/3/2025</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41572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12/3/2025</a:t>
            </a:fld>
            <a:endParaRPr lang="en-US" dirty="0"/>
          </a:p>
        </p:txBody>
      </p:sp>
      <p:sp>
        <p:nvSpPr>
          <p:cNvPr id="8" name="Footer Placeholder 7"/>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59634618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12/3/2025</a:t>
            </a:fld>
            <a:endParaRPr lang="en-US" dirty="0"/>
          </a:p>
        </p:txBody>
      </p:sp>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21821575"/>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12/3/2025</a:t>
            </a:fld>
            <a:endParaRPr lang="en-US" dirty="0"/>
          </a:p>
        </p:txBody>
      </p:sp>
      <p:sp>
        <p:nvSpPr>
          <p:cNvPr id="3" name="Footer Placeholder 2"/>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39901885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12/3/2025</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67471636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12/3/2025</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637221812"/>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92097900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42561585"/>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323482"/>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501647684"/>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59843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12/3/2025</a:t>
            </a:fld>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68688146"/>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12/3/2025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889229237"/>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12/3/2025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8506107"/>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12/3/2025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791158872"/>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12/3/2025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4209737174"/>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12/3/2025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119030030"/>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latin typeface="Gill Sans MT"/>
              </a:defRPr>
            </a:lvl1pPr>
          </a:lstStyle>
          <a:p>
            <a:fld id="{BC24317B-5122-4A99-A6E9-FA23C146A7E0}" type="slidenum">
              <a:rPr lang="en-US"/>
              <a:pPr/>
              <a:t>‹#›</a:t>
            </a:fld>
            <a:endParaRPr lang="en-US"/>
          </a:p>
        </p:txBody>
      </p:sp>
      <p:sp>
        <p:nvSpPr>
          <p:cNvPr id="6" name="Footer Placeholder 20"/>
          <p:cNvSpPr>
            <a:spLocks noGrp="1"/>
          </p:cNvSpPr>
          <p:nvPr>
            <p:ph type="ftr" sz="quarter" idx="3"/>
          </p:nvPr>
        </p:nvSpPr>
        <p:spPr>
          <a:xfrm>
            <a:off x="3124200" y="6356350"/>
            <a:ext cx="5583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5"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12/3/2025</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3"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90904949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51" r:id="rId2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4120243"/>
            <a:ext cx="7315200" cy="1066800"/>
          </a:xfrm>
        </p:spPr>
        <p:txBody>
          <a:bodyPr>
            <a:normAutofit/>
          </a:bodyPr>
          <a:lstStyle/>
          <a:p>
            <a:pPr algn="ctr"/>
            <a:r>
              <a:rPr lang="en-US" dirty="0">
                <a:solidFill>
                  <a:schemeClr val="bg1"/>
                </a:solidFill>
              </a:rPr>
              <a:t>CẤU TRÚC DỮ LIỆU VÀ GIẢI THUẬT</a:t>
            </a:r>
          </a:p>
        </p:txBody>
      </p:sp>
      <p:sp>
        <p:nvSpPr>
          <p:cNvPr id="3" name="Text Placeholder 2"/>
          <p:cNvSpPr>
            <a:spLocks noGrp="1"/>
          </p:cNvSpPr>
          <p:nvPr>
            <p:ph type="body" idx="4294967295"/>
          </p:nvPr>
        </p:nvSpPr>
        <p:spPr>
          <a:xfrm>
            <a:off x="3886200" y="4876800"/>
            <a:ext cx="6781800" cy="1143000"/>
          </a:xfrm>
        </p:spPr>
        <p:txBody>
          <a:bodyPr>
            <a:normAutofit/>
          </a:bodyPr>
          <a:lstStyle/>
          <a:p>
            <a:pPr marL="0" indent="0">
              <a:buNone/>
            </a:pPr>
            <a:r>
              <a:rPr lang="fr-FR" sz="2800" dirty="0">
                <a:solidFill>
                  <a:schemeClr val="bg1"/>
                </a:solidFill>
              </a:rPr>
              <a:t>ET2100</a:t>
            </a:r>
          </a:p>
          <a:p>
            <a:pPr marL="0" indent="0">
              <a:buNone/>
            </a:pPr>
            <a:endParaRPr lang="en-US" sz="2800" dirty="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2107681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19600" y="2819400"/>
            <a:ext cx="3429000" cy="1066800"/>
          </a:xfrm>
        </p:spPr>
        <p:txBody>
          <a:bodyPr>
            <a:normAutofit/>
          </a:bodyPr>
          <a:lstStyle/>
          <a:p>
            <a:pPr algn="r"/>
            <a:r>
              <a:rPr lang="vi-VN" i="1" dirty="0">
                <a:latin typeface="Lato"/>
              </a:rPr>
              <a:t>Chương VII : </a:t>
            </a:r>
            <a:br>
              <a:rPr lang="en-US" i="1" dirty="0">
                <a:latin typeface="Lato"/>
              </a:rPr>
            </a:br>
            <a:r>
              <a:rPr lang="vi-VN" i="1" dirty="0">
                <a:latin typeface="Lato"/>
              </a:rPr>
              <a:t>Cấu trúc đồ thị</a:t>
            </a:r>
          </a:p>
        </p:txBody>
      </p:sp>
    </p:spTree>
    <p:extLst>
      <p:ext uri="{BB962C8B-B14F-4D97-AF65-F5344CB8AC3E}">
        <p14:creationId xmlns:p14="http://schemas.microsoft.com/office/powerpoint/2010/main" val="65051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F7B6D9-5450-4FA1-9457-E96809A24814}" type="slidenum">
              <a:rPr lang="en-US" altLang="en-US">
                <a:latin typeface="Garamond" panose="02020404030301010803" pitchFamily="18" charset="0"/>
              </a:rPr>
              <a:pPr eaLnBrk="1" hangingPunct="1"/>
              <a:t>3</a:t>
            </a:fld>
            <a:endParaRPr lang="en-US" altLang="en-US">
              <a:latin typeface="Garamond" panose="02020404030301010803" pitchFamily="18" charset="0"/>
            </a:endParaRPr>
          </a:p>
        </p:txBody>
      </p:sp>
      <p:sp>
        <p:nvSpPr>
          <p:cNvPr id="4101" name="Rectangle 2"/>
          <p:cNvSpPr>
            <a:spLocks noGrp="1" noChangeArrowheads="1"/>
          </p:cNvSpPr>
          <p:nvPr>
            <p:ph type="title"/>
          </p:nvPr>
        </p:nvSpPr>
        <p:spPr/>
        <p:txBody>
          <a:bodyPr>
            <a:normAutofit/>
          </a:bodyPr>
          <a:lstStyle/>
          <a:p>
            <a:pPr eaLnBrk="1" hangingPunct="1"/>
            <a:r>
              <a:rPr lang="en-US" altLang="en-US" sz="2400" dirty="0" err="1"/>
              <a:t>Nội</a:t>
            </a:r>
            <a:r>
              <a:rPr lang="en-US" altLang="en-US" sz="2400" dirty="0"/>
              <a:t> dung </a:t>
            </a:r>
            <a:r>
              <a:rPr lang="en-US" altLang="en-US" sz="2400" dirty="0" err="1"/>
              <a:t>chính</a:t>
            </a:r>
            <a:endParaRPr lang="en-US" altLang="en-US" sz="2400" dirty="0"/>
          </a:p>
        </p:txBody>
      </p:sp>
      <p:sp>
        <p:nvSpPr>
          <p:cNvPr id="4102" name="Rectangle 3"/>
          <p:cNvSpPr>
            <a:spLocks noGrp="1" noChangeArrowheads="1"/>
          </p:cNvSpPr>
          <p:nvPr>
            <p:ph type="body" sz="quarter" idx="13"/>
          </p:nvPr>
        </p:nvSpPr>
        <p:spPr/>
        <p:txBody>
          <a:bodyPr>
            <a:normAutofit/>
          </a:bodyPr>
          <a:lstStyle/>
          <a:p>
            <a:pPr marL="457200" indent="-457200">
              <a:buFont typeface="+mj-lt"/>
              <a:buAutoNum type="arabicPeriod"/>
            </a:pPr>
            <a:r>
              <a:rPr lang="en-US" dirty="0" err="1"/>
              <a:t>Các</a:t>
            </a:r>
            <a:r>
              <a:rPr lang="en-US" dirty="0"/>
              <a:t> </a:t>
            </a:r>
            <a:r>
              <a:rPr lang="en-US" dirty="0" err="1"/>
              <a:t>khái</a:t>
            </a:r>
            <a:r>
              <a:rPr lang="en-US" dirty="0"/>
              <a:t> </a:t>
            </a:r>
            <a:r>
              <a:rPr lang="en-US" dirty="0" err="1"/>
              <a:t>niệm</a:t>
            </a:r>
            <a:r>
              <a:rPr lang="en-US" dirty="0"/>
              <a:t> </a:t>
            </a:r>
            <a:r>
              <a:rPr lang="en-US" dirty="0" err="1"/>
              <a:t>cơ</a:t>
            </a:r>
            <a:r>
              <a:rPr lang="en-US" dirty="0"/>
              <a:t> </a:t>
            </a:r>
            <a:r>
              <a:rPr lang="en-US" dirty="0" err="1"/>
              <a:t>bản</a:t>
            </a:r>
            <a:r>
              <a:rPr lang="en-US" dirty="0"/>
              <a:t> </a:t>
            </a:r>
            <a:r>
              <a:rPr lang="en-US" i="1" dirty="0"/>
              <a:t>(Basic concepts)</a:t>
            </a:r>
            <a:endParaRPr lang="en-US" dirty="0"/>
          </a:p>
          <a:p>
            <a:pPr marL="457200" indent="-457200">
              <a:buFont typeface="+mj-lt"/>
              <a:buAutoNum type="arabicPeriod"/>
            </a:pPr>
            <a:r>
              <a:rPr lang="en-US" dirty="0" err="1"/>
              <a:t>Cài</a:t>
            </a:r>
            <a:r>
              <a:rPr lang="en-US" dirty="0"/>
              <a:t> </a:t>
            </a:r>
            <a:r>
              <a:rPr lang="en-US" dirty="0" err="1"/>
              <a:t>đặt</a:t>
            </a:r>
            <a:r>
              <a:rPr lang="en-US" dirty="0"/>
              <a:t> </a:t>
            </a:r>
            <a:r>
              <a:rPr lang="en-US" dirty="0" err="1"/>
              <a:t>cấu</a:t>
            </a:r>
            <a:r>
              <a:rPr lang="en-US" dirty="0"/>
              <a:t> </a:t>
            </a:r>
            <a:r>
              <a:rPr lang="en-US" dirty="0" err="1"/>
              <a:t>trúc</a:t>
            </a:r>
            <a:r>
              <a:rPr lang="en-US" dirty="0"/>
              <a:t> </a:t>
            </a:r>
            <a:r>
              <a:rPr lang="en-US" dirty="0" err="1"/>
              <a:t>đồ</a:t>
            </a:r>
            <a:r>
              <a:rPr lang="en-US" dirty="0"/>
              <a:t> </a:t>
            </a:r>
            <a:r>
              <a:rPr lang="en-US" dirty="0" err="1"/>
              <a:t>thị</a:t>
            </a:r>
            <a:r>
              <a:rPr lang="en-US" dirty="0"/>
              <a:t> </a:t>
            </a:r>
            <a:r>
              <a:rPr lang="en-US" i="1" dirty="0"/>
              <a:t>(Graph implementation)</a:t>
            </a:r>
            <a:endParaRPr lang="en-US" dirty="0"/>
          </a:p>
          <a:p>
            <a:pPr marL="0" indent="0">
              <a:buNone/>
            </a:pPr>
            <a:r>
              <a:rPr lang="en-US" dirty="0"/>
              <a:t>        2.1. </a:t>
            </a:r>
            <a:r>
              <a:rPr lang="en-US" dirty="0" err="1"/>
              <a:t>Sử</a:t>
            </a:r>
            <a:r>
              <a:rPr lang="en-US" dirty="0"/>
              <a:t> </a:t>
            </a:r>
            <a:r>
              <a:rPr lang="en-US" dirty="0" err="1"/>
              <a:t>dụng</a:t>
            </a:r>
            <a:r>
              <a:rPr lang="en-US" dirty="0"/>
              <a:t> </a:t>
            </a:r>
            <a:r>
              <a:rPr lang="en-US" dirty="0" err="1"/>
              <a:t>cấu</a:t>
            </a:r>
            <a:r>
              <a:rPr lang="en-US" dirty="0"/>
              <a:t> </a:t>
            </a:r>
            <a:r>
              <a:rPr lang="en-US" dirty="0" err="1"/>
              <a:t>trúc</a:t>
            </a:r>
            <a:r>
              <a:rPr lang="en-US" dirty="0"/>
              <a:t> </a:t>
            </a:r>
            <a:r>
              <a:rPr lang="en-US" dirty="0" err="1"/>
              <a:t>tuần</a:t>
            </a:r>
            <a:r>
              <a:rPr lang="en-US" dirty="0"/>
              <a:t> </a:t>
            </a:r>
            <a:r>
              <a:rPr lang="en-US" dirty="0" err="1"/>
              <a:t>tự</a:t>
            </a:r>
            <a:r>
              <a:rPr lang="en-US" dirty="0"/>
              <a:t> (ma </a:t>
            </a:r>
            <a:r>
              <a:rPr lang="en-US" dirty="0" err="1"/>
              <a:t>trận</a:t>
            </a:r>
            <a:r>
              <a:rPr lang="en-US" dirty="0"/>
              <a:t> </a:t>
            </a:r>
            <a:r>
              <a:rPr lang="en-US" dirty="0" err="1"/>
              <a:t>kề</a:t>
            </a:r>
            <a:r>
              <a:rPr lang="en-US" dirty="0"/>
              <a:t>)</a:t>
            </a:r>
          </a:p>
          <a:p>
            <a:pPr marL="0" indent="0">
              <a:buNone/>
            </a:pPr>
            <a:r>
              <a:rPr lang="en-US" dirty="0"/>
              <a:t>       2.2. </a:t>
            </a:r>
            <a:r>
              <a:rPr lang="en-US" dirty="0" err="1"/>
              <a:t>Sử</a:t>
            </a:r>
            <a:r>
              <a:rPr lang="en-US" dirty="0"/>
              <a:t> </a:t>
            </a:r>
            <a:r>
              <a:rPr lang="en-US" dirty="0" err="1"/>
              <a:t>dụng</a:t>
            </a:r>
            <a:r>
              <a:rPr lang="en-US" dirty="0"/>
              <a:t> </a:t>
            </a:r>
            <a:r>
              <a:rPr lang="en-US" dirty="0" err="1"/>
              <a:t>cấu</a:t>
            </a:r>
            <a:r>
              <a:rPr lang="en-US" dirty="0"/>
              <a:t> </a:t>
            </a:r>
            <a:r>
              <a:rPr lang="en-US" dirty="0" err="1"/>
              <a:t>trúc</a:t>
            </a:r>
            <a:r>
              <a:rPr lang="en-US" dirty="0"/>
              <a:t> </a:t>
            </a:r>
            <a:r>
              <a:rPr lang="en-US" dirty="0" err="1"/>
              <a:t>móc</a:t>
            </a:r>
            <a:r>
              <a:rPr lang="en-US" dirty="0"/>
              <a:t> </a:t>
            </a:r>
            <a:r>
              <a:rPr lang="en-US" dirty="0" err="1"/>
              <a:t>nối</a:t>
            </a:r>
            <a:r>
              <a:rPr lang="en-US" dirty="0"/>
              <a:t> (</a:t>
            </a:r>
            <a:r>
              <a:rPr lang="en-US" dirty="0" err="1"/>
              <a:t>danh</a:t>
            </a:r>
            <a:r>
              <a:rPr lang="en-US" dirty="0"/>
              <a:t> </a:t>
            </a:r>
            <a:r>
              <a:rPr lang="en-US" dirty="0" err="1"/>
              <a:t>sách</a:t>
            </a:r>
            <a:r>
              <a:rPr lang="en-US" dirty="0"/>
              <a:t> </a:t>
            </a:r>
            <a:r>
              <a:rPr lang="en-US" dirty="0" err="1"/>
              <a:t>kề</a:t>
            </a:r>
            <a:r>
              <a:rPr lang="en-US" dirty="0"/>
              <a:t>)</a:t>
            </a:r>
          </a:p>
          <a:p>
            <a:pPr marL="0" indent="0">
              <a:buNone/>
            </a:pPr>
            <a:r>
              <a:rPr lang="en-US" dirty="0"/>
              <a:t>3. </a:t>
            </a:r>
            <a:r>
              <a:rPr lang="en-US" dirty="0" err="1"/>
              <a:t>Phép</a:t>
            </a:r>
            <a:r>
              <a:rPr lang="en-US" dirty="0"/>
              <a:t> </a:t>
            </a:r>
            <a:r>
              <a:rPr lang="en-US" dirty="0" err="1"/>
              <a:t>duyệt</a:t>
            </a:r>
            <a:r>
              <a:rPr lang="en-US" dirty="0"/>
              <a:t> </a:t>
            </a:r>
            <a:r>
              <a:rPr lang="en-US" dirty="0" err="1"/>
              <a:t>đồ</a:t>
            </a:r>
            <a:r>
              <a:rPr lang="en-US" dirty="0"/>
              <a:t> </a:t>
            </a:r>
            <a:r>
              <a:rPr lang="en-US" dirty="0" err="1"/>
              <a:t>thị</a:t>
            </a:r>
            <a:r>
              <a:rPr lang="en-US" dirty="0"/>
              <a:t> </a:t>
            </a:r>
            <a:r>
              <a:rPr lang="en-US" i="1" dirty="0"/>
              <a:t>(Graph traversal)</a:t>
            </a:r>
            <a:endParaRPr lang="en-US" dirty="0"/>
          </a:p>
          <a:p>
            <a:pPr marL="0" indent="0">
              <a:buNone/>
            </a:pPr>
            <a:r>
              <a:rPr lang="en-US" dirty="0"/>
              <a:t>4. </a:t>
            </a:r>
            <a:r>
              <a:rPr lang="en-US" dirty="0" err="1"/>
              <a:t>Một</a:t>
            </a:r>
            <a:r>
              <a:rPr lang="en-US" dirty="0"/>
              <a:t> </a:t>
            </a:r>
            <a:r>
              <a:rPr lang="en-US" dirty="0" err="1"/>
              <a:t>số</a:t>
            </a:r>
            <a:r>
              <a:rPr lang="en-US" dirty="0"/>
              <a:t> </a:t>
            </a:r>
            <a:r>
              <a:rPr lang="en-US" dirty="0" err="1"/>
              <a:t>bài</a:t>
            </a:r>
            <a:r>
              <a:rPr lang="en-US" dirty="0"/>
              <a:t> </a:t>
            </a:r>
            <a:r>
              <a:rPr lang="en-US" dirty="0" err="1"/>
              <a:t>toán</a:t>
            </a:r>
            <a:r>
              <a:rPr lang="en-US" dirty="0"/>
              <a:t> </a:t>
            </a:r>
            <a:r>
              <a:rPr lang="en-US" dirty="0" err="1"/>
              <a:t>về</a:t>
            </a:r>
            <a:r>
              <a:rPr lang="en-US" dirty="0"/>
              <a:t> </a:t>
            </a:r>
            <a:r>
              <a:rPr lang="en-US" dirty="0" err="1"/>
              <a:t>đồ</a:t>
            </a:r>
            <a:r>
              <a:rPr lang="en-US" dirty="0"/>
              <a:t> </a:t>
            </a:r>
            <a:r>
              <a:rPr lang="en-US" dirty="0" err="1"/>
              <a:t>thị</a:t>
            </a:r>
            <a:r>
              <a:rPr lang="en-US" dirty="0"/>
              <a:t> </a:t>
            </a:r>
            <a:r>
              <a:rPr lang="en-US" i="1" dirty="0"/>
              <a:t>(Graph problems)</a:t>
            </a:r>
            <a:endParaRPr lang="en-US" dirty="0"/>
          </a:p>
          <a:p>
            <a:pPr marL="0" indent="0">
              <a:buNone/>
            </a:pPr>
            <a:r>
              <a:rPr lang="en-US" dirty="0"/>
              <a:t>        4.1. </a:t>
            </a:r>
            <a:r>
              <a:rPr lang="en-US" dirty="0" err="1"/>
              <a:t>Bài</a:t>
            </a:r>
            <a:r>
              <a:rPr lang="en-US" dirty="0"/>
              <a:t> </a:t>
            </a:r>
            <a:r>
              <a:rPr lang="en-US" dirty="0" err="1"/>
              <a:t>toán</a:t>
            </a:r>
            <a:r>
              <a:rPr lang="en-US" dirty="0"/>
              <a:t> </a:t>
            </a:r>
            <a:r>
              <a:rPr lang="en-US" dirty="0" err="1"/>
              <a:t>tìm</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i="1" dirty="0"/>
              <a:t>(Shortest path search)</a:t>
            </a:r>
          </a:p>
          <a:p>
            <a:pPr marL="0" indent="0">
              <a:buNone/>
            </a:pPr>
            <a:r>
              <a:rPr lang="en-US" dirty="0"/>
              <a:t>        4.2. </a:t>
            </a:r>
            <a:r>
              <a:rPr lang="en-US" dirty="0" err="1"/>
              <a:t>Bài</a:t>
            </a:r>
            <a:r>
              <a:rPr lang="en-US" dirty="0"/>
              <a:t> </a:t>
            </a:r>
            <a:r>
              <a:rPr lang="en-US" dirty="0" err="1"/>
              <a:t>toán</a:t>
            </a:r>
            <a:r>
              <a:rPr lang="en-US" dirty="0"/>
              <a:t> </a:t>
            </a:r>
            <a:r>
              <a:rPr lang="en-US" dirty="0" err="1"/>
              <a:t>tìm</a:t>
            </a:r>
            <a:r>
              <a:rPr lang="en-US" dirty="0"/>
              <a:t> </a:t>
            </a:r>
            <a:r>
              <a:rPr lang="en-US" dirty="0" err="1"/>
              <a:t>chu</a:t>
            </a:r>
            <a:r>
              <a:rPr lang="en-US" dirty="0"/>
              <a:t> </a:t>
            </a:r>
            <a:r>
              <a:rPr lang="en-US" dirty="0" err="1"/>
              <a:t>trình</a:t>
            </a:r>
            <a:r>
              <a:rPr lang="en-US" dirty="0"/>
              <a:t> </a:t>
            </a:r>
            <a:r>
              <a:rPr lang="en-US" dirty="0" err="1"/>
              <a:t>của</a:t>
            </a:r>
            <a:r>
              <a:rPr lang="en-US" dirty="0"/>
              <a:t> </a:t>
            </a:r>
            <a:r>
              <a:rPr lang="en-US" dirty="0" err="1"/>
              <a:t>đồ</a:t>
            </a:r>
            <a:r>
              <a:rPr lang="en-US" dirty="0"/>
              <a:t> </a:t>
            </a:r>
            <a:r>
              <a:rPr lang="en-US" dirty="0" err="1"/>
              <a:t>thị</a:t>
            </a:r>
            <a:r>
              <a:rPr lang="en-US" dirty="0"/>
              <a:t> </a:t>
            </a:r>
            <a:r>
              <a:rPr lang="en-US" i="1" dirty="0"/>
              <a:t>(Cycle detection)</a:t>
            </a:r>
            <a:endParaRPr lang="en-US" dirty="0"/>
          </a:p>
          <a:p>
            <a:pPr marL="0" indent="0">
              <a:buNone/>
            </a:pPr>
            <a:r>
              <a:rPr lang="en-US" dirty="0"/>
              <a:t>        4.3. </a:t>
            </a:r>
            <a:r>
              <a:rPr lang="en-US" dirty="0" err="1"/>
              <a:t>Bài</a:t>
            </a:r>
            <a:r>
              <a:rPr lang="en-US" dirty="0"/>
              <a:t> </a:t>
            </a:r>
            <a:r>
              <a:rPr lang="en-US" dirty="0" err="1"/>
              <a:t>toán</a:t>
            </a:r>
            <a:r>
              <a:rPr lang="en-US" dirty="0"/>
              <a:t> </a:t>
            </a:r>
            <a:r>
              <a:rPr lang="en-US" dirty="0" err="1"/>
              <a:t>tìm</a:t>
            </a:r>
            <a:r>
              <a:rPr lang="en-US" dirty="0"/>
              <a:t> </a:t>
            </a:r>
            <a:r>
              <a:rPr lang="en-US" dirty="0" err="1"/>
              <a:t>cây</a:t>
            </a:r>
            <a:r>
              <a:rPr lang="en-US" dirty="0"/>
              <a:t> </a:t>
            </a:r>
            <a:r>
              <a:rPr lang="en-US" dirty="0" err="1"/>
              <a:t>khung</a:t>
            </a:r>
            <a:r>
              <a:rPr lang="en-US" dirty="0"/>
              <a:t> </a:t>
            </a:r>
            <a:r>
              <a:rPr lang="en-US" dirty="0" err="1"/>
              <a:t>có</a:t>
            </a:r>
            <a:r>
              <a:rPr lang="en-US" dirty="0"/>
              <a:t> </a:t>
            </a:r>
            <a:r>
              <a:rPr lang="en-US" dirty="0" err="1"/>
              <a:t>giá</a:t>
            </a:r>
            <a:r>
              <a:rPr lang="en-US" dirty="0"/>
              <a:t> </a:t>
            </a:r>
            <a:r>
              <a:rPr lang="en-US" dirty="0" err="1"/>
              <a:t>cực</a:t>
            </a:r>
            <a:r>
              <a:rPr lang="en-US" dirty="0"/>
              <a:t> </a:t>
            </a:r>
            <a:r>
              <a:rPr lang="en-US" dirty="0" err="1"/>
              <a:t>tiểu</a:t>
            </a:r>
            <a:r>
              <a:rPr lang="en-US" dirty="0"/>
              <a:t> </a:t>
            </a:r>
            <a:r>
              <a:rPr lang="en-US" i="1" dirty="0"/>
              <a:t>(Minimum spanning trees)</a:t>
            </a:r>
            <a:endParaRPr lang="en-US" dirty="0"/>
          </a:p>
        </p:txBody>
      </p:sp>
    </p:spTree>
    <p:extLst>
      <p:ext uri="{BB962C8B-B14F-4D97-AF65-F5344CB8AC3E}">
        <p14:creationId xmlns:p14="http://schemas.microsoft.com/office/powerpoint/2010/main" val="2599677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4</a:t>
            </a:fld>
            <a:endParaRPr lang="en-US"/>
          </a:p>
        </p:txBody>
      </p:sp>
      <p:sp>
        <p:nvSpPr>
          <p:cNvPr id="4" name="Title 3"/>
          <p:cNvSpPr>
            <a:spLocks noGrp="1"/>
          </p:cNvSpPr>
          <p:nvPr>
            <p:ph type="title"/>
          </p:nvPr>
        </p:nvSpPr>
        <p:spPr/>
        <p:txBody>
          <a:bodyPr/>
          <a:lstStyle/>
          <a:p>
            <a:endParaRPr lang="en-US"/>
          </a:p>
        </p:txBody>
      </p:sp>
      <p:sp>
        <p:nvSpPr>
          <p:cNvPr id="5" name="Content Placeholder 4"/>
          <p:cNvSpPr>
            <a:spLocks noGrp="1"/>
          </p:cNvSpPr>
          <p:nvPr>
            <p:ph sz="quarter" idx="13"/>
          </p:nvPr>
        </p:nvSpPr>
        <p:spPr>
          <a:xfrm>
            <a:off x="235077" y="2438400"/>
            <a:ext cx="8674100" cy="3706242"/>
          </a:xfrm>
        </p:spPr>
        <p:txBody>
          <a:bodyPr>
            <a:normAutofit/>
          </a:bodyPr>
          <a:lstStyle/>
          <a:p>
            <a:pPr marL="0" indent="0" algn="r">
              <a:buNone/>
            </a:pPr>
            <a:r>
              <a:rPr lang="en-US" sz="3200" b="1" dirty="0"/>
              <a:t>1. </a:t>
            </a:r>
            <a:r>
              <a:rPr lang="en-US" sz="3200" b="1" dirty="0" err="1"/>
              <a:t>Các</a:t>
            </a:r>
            <a:r>
              <a:rPr lang="en-US" sz="3200" b="1" dirty="0"/>
              <a:t> </a:t>
            </a:r>
            <a:r>
              <a:rPr lang="en-US" sz="3200" b="1" dirty="0" err="1"/>
              <a:t>khái</a:t>
            </a:r>
            <a:r>
              <a:rPr lang="en-US" sz="3200" b="1" dirty="0"/>
              <a:t> </a:t>
            </a:r>
            <a:r>
              <a:rPr lang="en-US" sz="3200" b="1" dirty="0" err="1"/>
              <a:t>niệm</a:t>
            </a:r>
            <a:r>
              <a:rPr lang="en-US" sz="3200" b="1" dirty="0"/>
              <a:t> </a:t>
            </a:r>
            <a:r>
              <a:rPr lang="en-US" sz="3200" b="1" dirty="0" err="1"/>
              <a:t>cơ</a:t>
            </a:r>
            <a:r>
              <a:rPr lang="en-US" sz="3200" b="1" dirty="0"/>
              <a:t> </a:t>
            </a:r>
            <a:r>
              <a:rPr lang="en-US" sz="3200" b="1" dirty="0" err="1"/>
              <a:t>bản</a:t>
            </a:r>
            <a:endParaRPr lang="en-US" sz="3200" dirty="0"/>
          </a:p>
        </p:txBody>
      </p:sp>
    </p:spTree>
    <p:extLst>
      <p:ext uri="{BB962C8B-B14F-4D97-AF65-F5344CB8AC3E}">
        <p14:creationId xmlns:p14="http://schemas.microsoft.com/office/powerpoint/2010/main" val="815539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Giới thiệu</a:t>
            </a:r>
            <a:endParaRPr lang="vi-VN" dirty="0"/>
          </a:p>
        </p:txBody>
      </p:sp>
      <p:sp>
        <p:nvSpPr>
          <p:cNvPr id="3" name="Content Placeholder 2"/>
          <p:cNvSpPr>
            <a:spLocks noGrp="1"/>
          </p:cNvSpPr>
          <p:nvPr>
            <p:ph sz="quarter" idx="13"/>
          </p:nvPr>
        </p:nvSpPr>
        <p:spPr/>
        <p:txBody>
          <a:bodyPr>
            <a:normAutofit/>
          </a:bodyPr>
          <a:lstStyle/>
          <a:p>
            <a:r>
              <a:rPr lang="en-US" sz="2400" dirty="0"/>
              <a:t>Đồ thị (graph): </a:t>
            </a:r>
          </a:p>
          <a:p>
            <a:pPr lvl="1"/>
            <a:r>
              <a:rPr lang="en-US" sz="2400" b="0" dirty="0" err="1"/>
              <a:t>là</a:t>
            </a:r>
            <a:r>
              <a:rPr lang="en-US" sz="2400" b="0" dirty="0"/>
              <a:t> một cấu trúc dữ liệu </a:t>
            </a:r>
            <a:r>
              <a:rPr lang="en-US" sz="2400" b="0" dirty="0" err="1"/>
              <a:t>trừu</a:t>
            </a:r>
            <a:r>
              <a:rPr lang="en-US" sz="2400" b="0" dirty="0"/>
              <a:t> tượng (abstract) được sử dụng để cài đặt đồ thị trong toán học</a:t>
            </a:r>
          </a:p>
          <a:p>
            <a:pPr lvl="1"/>
            <a:r>
              <a:rPr lang="en-US" sz="2400" b="0" dirty="0" err="1"/>
              <a:t>có</a:t>
            </a:r>
            <a:r>
              <a:rPr lang="en-US" sz="2400" b="0" dirty="0"/>
              <a:t> thể coi như khái quát của cấu trúc cây, trong đó chỉ có quan hệ giữa cha và con</a:t>
            </a:r>
          </a:p>
          <a:p>
            <a:pPr lvl="1"/>
            <a:r>
              <a:rPr lang="en-US" sz="2400" b="0" dirty="0" err="1"/>
              <a:t>được</a:t>
            </a:r>
            <a:r>
              <a:rPr lang="en-US" sz="2400" b="0" dirty="0"/>
              <a:t> sử dụng để mô hình hóa bất kỳ tình huống nào trong đó các thực thể hoặc đối tượng có quan hệ từng cặp với nhau</a:t>
            </a:r>
            <a:endParaRPr lang="vi-VN" sz="2400" b="0" dirty="0"/>
          </a:p>
        </p:txBody>
      </p:sp>
    </p:spTree>
    <p:extLst>
      <p:ext uri="{BB962C8B-B14F-4D97-AF65-F5344CB8AC3E}">
        <p14:creationId xmlns:p14="http://schemas.microsoft.com/office/powerpoint/2010/main" val="3907643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khái niệm cơ bản</a:t>
            </a:r>
            <a:endParaRPr lang="vi-VN" dirty="0"/>
          </a:p>
        </p:txBody>
      </p:sp>
      <p:sp>
        <p:nvSpPr>
          <p:cNvPr id="3" name="Content Placeholder 2"/>
          <p:cNvSpPr>
            <a:spLocks noGrp="1"/>
          </p:cNvSpPr>
          <p:nvPr>
            <p:ph sz="quarter" idx="13"/>
          </p:nvPr>
        </p:nvSpPr>
        <p:spPr/>
        <p:txBody>
          <a:bodyPr>
            <a:normAutofit/>
          </a:bodyPr>
          <a:lstStyle/>
          <a:p>
            <a:r>
              <a:rPr lang="vi-VN" sz="2400" dirty="0"/>
              <a:t>Một đồ thị G = (V, E)</a:t>
            </a:r>
            <a:r>
              <a:rPr lang="en-US" sz="2400" dirty="0"/>
              <a:t>:</a:t>
            </a:r>
            <a:r>
              <a:rPr lang="vi-VN" sz="2400" dirty="0"/>
              <a:t> gồm hai thành phần</a:t>
            </a:r>
          </a:p>
          <a:p>
            <a:pPr lvl="1"/>
            <a:r>
              <a:rPr lang="vi-VN" sz="2000" dirty="0"/>
              <a:t>V: tập các đỉnh (vertices) </a:t>
            </a:r>
            <a:r>
              <a:rPr lang="en-US" sz="2000" dirty="0"/>
              <a:t>: v</a:t>
            </a:r>
            <a:r>
              <a:rPr lang="en-US" sz="2000" baseline="-25000" dirty="0"/>
              <a:t>0</a:t>
            </a:r>
            <a:r>
              <a:rPr lang="en-US" sz="2000" dirty="0"/>
              <a:t>,v</a:t>
            </a:r>
            <a:r>
              <a:rPr lang="en-US" sz="2000" baseline="-25000" dirty="0"/>
              <a:t>1</a:t>
            </a:r>
            <a:r>
              <a:rPr lang="en-US" sz="2000" dirty="0"/>
              <a:t>,...,v</a:t>
            </a:r>
            <a:r>
              <a:rPr lang="en-US" sz="2000" baseline="-25000" dirty="0"/>
              <a:t>m-1</a:t>
            </a:r>
            <a:endParaRPr lang="vi-VN" sz="2000" baseline="-25000" dirty="0"/>
          </a:p>
          <a:p>
            <a:pPr lvl="1"/>
            <a:r>
              <a:rPr lang="vi-VN" sz="2000" dirty="0"/>
              <a:t>E: tập các cung</a:t>
            </a:r>
            <a:r>
              <a:rPr lang="en-US" sz="2000" dirty="0"/>
              <a:t>/</a:t>
            </a:r>
            <a:r>
              <a:rPr lang="en-US" sz="2000" dirty="0" err="1"/>
              <a:t>cạnh</a:t>
            </a:r>
            <a:r>
              <a:rPr lang="vi-VN" sz="2000" dirty="0"/>
              <a:t> (edges) nối các đỉnh</a:t>
            </a:r>
            <a:r>
              <a:rPr lang="en-US" sz="2000" dirty="0"/>
              <a:t>: e</a:t>
            </a:r>
            <a:r>
              <a:rPr lang="en-US" sz="2000" baseline="-25000" dirty="0"/>
              <a:t>0</a:t>
            </a:r>
            <a:r>
              <a:rPr lang="en-US" sz="2000" dirty="0"/>
              <a:t>,e</a:t>
            </a:r>
            <a:r>
              <a:rPr lang="en-US" sz="2000" baseline="-25000" dirty="0"/>
              <a:t>1</a:t>
            </a:r>
            <a:r>
              <a:rPr lang="en-US" sz="2000" dirty="0"/>
              <a:t>,...,e</a:t>
            </a:r>
            <a:r>
              <a:rPr lang="en-US" sz="2000" baseline="-25000" dirty="0"/>
              <a:t>n-1</a:t>
            </a:r>
            <a:endParaRPr lang="vi-VN" sz="2000" baseline="-25000" dirty="0"/>
          </a:p>
          <a:p>
            <a:pPr lvl="1"/>
            <a:r>
              <a:rPr lang="vi-VN" sz="2000" dirty="0"/>
              <a:t>Một cung e</a:t>
            </a:r>
            <a:r>
              <a:rPr lang="vi-VN" sz="2000" baseline="-25000" dirty="0"/>
              <a:t>i</a:t>
            </a:r>
            <a:r>
              <a:rPr lang="vi-VN" sz="2000" dirty="0"/>
              <a:t> = (v</a:t>
            </a:r>
            <a:r>
              <a:rPr lang="vi-VN" sz="2000" baseline="-25000" dirty="0"/>
              <a:t>j</a:t>
            </a:r>
            <a:r>
              <a:rPr lang="vi-VN" sz="2000" dirty="0"/>
              <a:t>,v</a:t>
            </a:r>
            <a:r>
              <a:rPr lang="vi-VN" sz="2000" baseline="-25000" dirty="0"/>
              <a:t>k</a:t>
            </a:r>
            <a:r>
              <a:rPr lang="vi-VN" sz="2000" dirty="0"/>
              <a:t>)</a:t>
            </a:r>
            <a:r>
              <a:rPr lang="en-US" sz="2000" dirty="0"/>
              <a:t> </a:t>
            </a:r>
            <a:r>
              <a:rPr lang="vi-VN" sz="2000" dirty="0"/>
              <a:t>là một cặp đỉnh </a:t>
            </a:r>
          </a:p>
          <a:p>
            <a:r>
              <a:rPr lang="vi-VN" sz="2400" dirty="0"/>
              <a:t>Ví dụ: </a:t>
            </a:r>
          </a:p>
          <a:p>
            <a:pPr lvl="1"/>
            <a:r>
              <a:rPr lang="vi-VN" sz="2000" dirty="0"/>
              <a:t>Bản đồ giao thông </a:t>
            </a:r>
            <a:br>
              <a:rPr lang="en-US" sz="2000" dirty="0"/>
            </a:br>
            <a:r>
              <a:rPr lang="vi-VN" sz="2000" dirty="0"/>
              <a:t>là một đồ thị</a:t>
            </a:r>
          </a:p>
        </p:txBody>
      </p:sp>
      <p:pic>
        <p:nvPicPr>
          <p:cNvPr id="4" name="Picture 3"/>
          <p:cNvPicPr>
            <a:picLocks noChangeAspect="1"/>
          </p:cNvPicPr>
          <p:nvPr/>
        </p:nvPicPr>
        <p:blipFill>
          <a:blip r:embed="rId2"/>
          <a:stretch>
            <a:fillRect/>
          </a:stretch>
        </p:blipFill>
        <p:spPr>
          <a:xfrm>
            <a:off x="2895600" y="2438400"/>
            <a:ext cx="5479303" cy="3602731"/>
          </a:xfrm>
          <a:prstGeom prst="rect">
            <a:avLst/>
          </a:prstGeom>
        </p:spPr>
      </p:pic>
    </p:spTree>
    <p:extLst>
      <p:ext uri="{BB962C8B-B14F-4D97-AF65-F5344CB8AC3E}">
        <p14:creationId xmlns:p14="http://schemas.microsoft.com/office/powerpoint/2010/main" val="42654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r>
              <a:rPr lang="en-US" sz="2400" dirty="0"/>
              <a:t>Đồ thị có hướng (directed graph): </a:t>
            </a:r>
          </a:p>
          <a:p>
            <a:pPr lvl="1"/>
            <a:r>
              <a:rPr lang="en-US" sz="2000" dirty="0" err="1"/>
              <a:t>Mỗi</a:t>
            </a:r>
            <a:r>
              <a:rPr lang="en-US" sz="2000" dirty="0"/>
              <a:t> </a:t>
            </a:r>
            <a:r>
              <a:rPr lang="en-US" sz="2000" dirty="0" err="1"/>
              <a:t>cạnh</a:t>
            </a:r>
            <a:r>
              <a:rPr lang="en-US" sz="2000" dirty="0"/>
              <a:t> </a:t>
            </a:r>
            <a:r>
              <a:rPr lang="en-US" sz="2000" dirty="0" err="1"/>
              <a:t>đều</a:t>
            </a:r>
            <a:r>
              <a:rPr lang="en-US" sz="2000" dirty="0"/>
              <a:t> </a:t>
            </a:r>
            <a:r>
              <a:rPr lang="en-US" sz="2000" dirty="0" err="1"/>
              <a:t>có</a:t>
            </a:r>
            <a:r>
              <a:rPr lang="en-US" sz="2000" dirty="0"/>
              <a:t> </a:t>
            </a:r>
            <a:r>
              <a:rPr lang="en-US" sz="2000" dirty="0" err="1"/>
              <a:t>một</a:t>
            </a:r>
            <a:r>
              <a:rPr lang="en-US" sz="2000" dirty="0"/>
              <a:t> </a:t>
            </a:r>
            <a:r>
              <a:rPr lang="en-US" sz="2000" dirty="0" err="1"/>
              <a:t>chiều</a:t>
            </a:r>
            <a:r>
              <a:rPr lang="en-US" sz="2000" dirty="0"/>
              <a:t> </a:t>
            </a:r>
            <a:r>
              <a:rPr lang="en-US" sz="2000" dirty="0" err="1"/>
              <a:t>nhất</a:t>
            </a:r>
            <a:r>
              <a:rPr lang="en-US" sz="2000" dirty="0"/>
              <a:t> </a:t>
            </a:r>
            <a:r>
              <a:rPr lang="en-US" sz="2000" dirty="0" err="1"/>
              <a:t>định</a:t>
            </a:r>
            <a:endParaRPr lang="en-US" sz="2000" b="0" dirty="0"/>
          </a:p>
          <a:p>
            <a:pPr lvl="1"/>
            <a:r>
              <a:rPr lang="vi-VN" sz="2000" b="0" dirty="0"/>
              <a:t>Trong một </a:t>
            </a:r>
            <a:r>
              <a:rPr lang="en-US" sz="2000" dirty="0" err="1"/>
              <a:t>cạnh</a:t>
            </a:r>
            <a:r>
              <a:rPr lang="vi-VN" sz="2000" b="0" dirty="0"/>
              <a:t>, thứ tự của các đỉnh là </a:t>
            </a:r>
            <a:br>
              <a:rPr lang="en-US" sz="2000" b="0" dirty="0"/>
            </a:br>
            <a:r>
              <a:rPr lang="vi-VN" sz="2000" b="0" dirty="0"/>
              <a:t>quan trọng</a:t>
            </a:r>
            <a:r>
              <a:rPr lang="en-US" sz="2000" b="0" dirty="0"/>
              <a:t>: </a:t>
            </a:r>
            <a:r>
              <a:rPr lang="vi-VN" sz="2000" b="0" dirty="0"/>
              <a:t> (u,v) ≠ (v,u)</a:t>
            </a:r>
            <a:r>
              <a:rPr lang="vi-VN" sz="2000" dirty="0"/>
              <a:t> </a:t>
            </a:r>
          </a:p>
          <a:p>
            <a:r>
              <a:rPr lang="vi-VN" sz="2400" dirty="0"/>
              <a:t>Đồ thị vô hướng (undirected grap</a:t>
            </a:r>
            <a:r>
              <a:rPr lang="en-US" sz="2400" dirty="0"/>
              <a:t>h</a:t>
            </a:r>
            <a:r>
              <a:rPr lang="vi-VN" sz="2400" dirty="0"/>
              <a:t>): </a:t>
            </a:r>
            <a:endParaRPr lang="en-US" sz="2400" dirty="0"/>
          </a:p>
          <a:p>
            <a:pPr lvl="1"/>
            <a:r>
              <a:rPr lang="vi-VN" sz="2100" dirty="0"/>
              <a:t>Trong một cạnh, thứ tự của các đỉnh là không quan trọng</a:t>
            </a:r>
            <a:br>
              <a:rPr lang="vi-VN" sz="2100" dirty="0"/>
            </a:br>
            <a:r>
              <a:rPr lang="vi-VN" sz="2100" dirty="0"/>
              <a:t>(u,v) </a:t>
            </a:r>
            <a:r>
              <a:rPr lang="vi-VN" sz="2100" dirty="0">
                <a:latin typeface="Times New Roman" panose="02020603050405020304" pitchFamily="18" charset="0"/>
                <a:cs typeface="Times New Roman" panose="02020603050405020304" pitchFamily="18" charset="0"/>
              </a:rPr>
              <a:t>≡</a:t>
            </a:r>
            <a:r>
              <a:rPr lang="en-US" sz="2100" dirty="0">
                <a:latin typeface="Times New Roman" panose="02020603050405020304" pitchFamily="18" charset="0"/>
                <a:cs typeface="Times New Roman" panose="02020603050405020304" pitchFamily="18" charset="0"/>
              </a:rPr>
              <a:t> </a:t>
            </a:r>
            <a:r>
              <a:rPr lang="vi-VN" sz="2100" dirty="0"/>
              <a:t>(v,u) </a:t>
            </a:r>
            <a:endParaRPr lang="en-US" sz="2100" dirty="0"/>
          </a:p>
          <a:p>
            <a:pPr algn="just"/>
            <a:r>
              <a:rPr lang="en-US" sz="2400" dirty="0" err="1"/>
              <a:t>Đồ</a:t>
            </a:r>
            <a:r>
              <a:rPr lang="en-US" sz="2400" dirty="0"/>
              <a:t> </a:t>
            </a:r>
            <a:r>
              <a:rPr lang="en-US" sz="2400" dirty="0" err="1"/>
              <a:t>thị</a:t>
            </a:r>
            <a:r>
              <a:rPr lang="en-US" sz="2400" dirty="0"/>
              <a:t> </a:t>
            </a:r>
            <a:r>
              <a:rPr lang="en-US" sz="2400" dirty="0" err="1"/>
              <a:t>có</a:t>
            </a:r>
            <a:r>
              <a:rPr lang="en-US" sz="2400" dirty="0"/>
              <a:t> </a:t>
            </a:r>
            <a:r>
              <a:rPr lang="en-US" sz="2400" dirty="0" err="1"/>
              <a:t>trọng</a:t>
            </a:r>
            <a:r>
              <a:rPr lang="en-US" sz="2400" dirty="0"/>
              <a:t> </a:t>
            </a:r>
            <a:r>
              <a:rPr lang="en-US" sz="2400" dirty="0" err="1"/>
              <a:t>số</a:t>
            </a:r>
            <a:r>
              <a:rPr lang="en-US" sz="2400" dirty="0"/>
              <a:t> (weighted graph):</a:t>
            </a:r>
            <a:r>
              <a:rPr lang="vi-VN" sz="2400" dirty="0"/>
              <a:t> </a:t>
            </a:r>
            <a:endParaRPr lang="en-US" sz="2400" dirty="0"/>
          </a:p>
          <a:p>
            <a:pPr lvl="1" algn="just"/>
            <a:r>
              <a:rPr lang="en-US" sz="2100" dirty="0"/>
              <a:t>M</a:t>
            </a:r>
            <a:r>
              <a:rPr lang="vi-VN" sz="2100" dirty="0"/>
              <a:t>ỗi cạnh mang một giá trị được gọi là trọng số của cạnh đó </a:t>
            </a:r>
          </a:p>
          <a:p>
            <a:r>
              <a:rPr lang="vi-VN" sz="2400" dirty="0"/>
              <a:t>Ngược lại</a:t>
            </a:r>
            <a:r>
              <a:rPr lang="en-US" sz="2400" dirty="0"/>
              <a:t> </a:t>
            </a:r>
            <a:r>
              <a:rPr lang="en-US" sz="2400" dirty="0" err="1"/>
              <a:t>là</a:t>
            </a:r>
            <a:r>
              <a:rPr lang="vi-VN" sz="2400" dirty="0"/>
              <a:t> đồ thị không có trọng số</a:t>
            </a:r>
            <a:br>
              <a:rPr lang="vi-VN" sz="2400" dirty="0"/>
            </a:br>
            <a:endParaRPr lang="vi-VN" sz="2400" dirty="0"/>
          </a:p>
        </p:txBody>
      </p:sp>
      <p:pic>
        <p:nvPicPr>
          <p:cNvPr id="4" name="Picture 3"/>
          <p:cNvPicPr>
            <a:picLocks noChangeAspect="1"/>
          </p:cNvPicPr>
          <p:nvPr/>
        </p:nvPicPr>
        <p:blipFill rotWithShape="1">
          <a:blip r:embed="rId2"/>
          <a:srcRect l="9049" t="6102"/>
          <a:stretch/>
        </p:blipFill>
        <p:spPr>
          <a:xfrm>
            <a:off x="6705600" y="730491"/>
            <a:ext cx="2297646" cy="1860309"/>
          </a:xfrm>
          <a:prstGeom prst="rect">
            <a:avLst/>
          </a:prstGeom>
        </p:spPr>
      </p:pic>
      <p:sp>
        <p:nvSpPr>
          <p:cNvPr id="2" name="Title 1"/>
          <p:cNvSpPr>
            <a:spLocks noGrp="1"/>
          </p:cNvSpPr>
          <p:nvPr>
            <p:ph type="title"/>
          </p:nvPr>
        </p:nvSpPr>
        <p:spPr/>
        <p:txBody>
          <a:bodyPr/>
          <a:lstStyle/>
          <a:p>
            <a:r>
              <a:rPr lang="en-US" dirty="0" err="1"/>
              <a:t>Các</a:t>
            </a:r>
            <a:r>
              <a:rPr lang="en-US" dirty="0"/>
              <a:t> loại đồ thị</a:t>
            </a:r>
            <a:endParaRPr lang="vi-VN" dirty="0"/>
          </a:p>
        </p:txBody>
      </p:sp>
      <p:pic>
        <p:nvPicPr>
          <p:cNvPr id="6" name="Picture 5"/>
          <p:cNvPicPr>
            <a:picLocks noChangeAspect="1"/>
          </p:cNvPicPr>
          <p:nvPr/>
        </p:nvPicPr>
        <p:blipFill>
          <a:blip r:embed="rId3"/>
          <a:stretch>
            <a:fillRect/>
          </a:stretch>
        </p:blipFill>
        <p:spPr>
          <a:xfrm>
            <a:off x="5251323" y="4404298"/>
            <a:ext cx="3657600" cy="1851102"/>
          </a:xfrm>
          <a:prstGeom prst="rect">
            <a:avLst/>
          </a:prstGeom>
        </p:spPr>
      </p:pic>
    </p:spTree>
    <p:extLst>
      <p:ext uri="{BB962C8B-B14F-4D97-AF65-F5344CB8AC3E}">
        <p14:creationId xmlns:p14="http://schemas.microsoft.com/office/powerpoint/2010/main" val="359222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p:cNvSpPr txBox="1">
            <a:spLocks/>
          </p:cNvSpPr>
          <p:nvPr/>
        </p:nvSpPr>
        <p:spPr bwMode="auto">
          <a:xfrm>
            <a:off x="304800" y="4041753"/>
            <a:ext cx="4614281" cy="22828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SzPct val="60000"/>
              <a:buFont typeface="Wingdings" pitchFamily="2" charset="2"/>
              <a:buChar char="n"/>
              <a:defRPr sz="24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hlink"/>
              </a:buClr>
              <a:buSzPct val="65000"/>
              <a:buFont typeface="Wingdings" pitchFamily="2" charset="2"/>
              <a:buChar char="u"/>
              <a:defRPr sz="2200">
                <a:solidFill>
                  <a:schemeClr val="tx1"/>
                </a:solidFill>
                <a:latin typeface="+mn-lt"/>
              </a:defRPr>
            </a:lvl2pPr>
            <a:lvl3pPr marL="1143000" indent="-228600" algn="l" rtl="0" eaLnBrk="0" fontAlgn="base" hangingPunct="0">
              <a:spcBef>
                <a:spcPct val="20000"/>
              </a:spcBef>
              <a:spcAft>
                <a:spcPct val="0"/>
              </a:spcAft>
              <a:buClr>
                <a:schemeClr val="hlink"/>
              </a:buClr>
              <a:buSzPct val="65000"/>
              <a:buFont typeface="Wingdings" pitchFamily="2" charset="2"/>
              <a:buChar char="«"/>
              <a:defRPr sz="2000">
                <a:solidFill>
                  <a:schemeClr val="tx1"/>
                </a:solidFill>
                <a:latin typeface="+mn-lt"/>
              </a:defRPr>
            </a:lvl3pPr>
            <a:lvl4pPr marL="1600200" indent="-228600" algn="l" rtl="0" eaLnBrk="0" fontAlgn="base" hangingPunct="0">
              <a:spcBef>
                <a:spcPct val="20000"/>
              </a:spcBef>
              <a:spcAft>
                <a:spcPct val="0"/>
              </a:spcAft>
              <a:buClr>
                <a:schemeClr val="tx2"/>
              </a:buClr>
              <a:buSzPct val="100000"/>
              <a:buChar char="•"/>
              <a:defRPr sz="1800">
                <a:solidFill>
                  <a:schemeClr val="tx1"/>
                </a:solidFill>
                <a:latin typeface="+mn-lt"/>
              </a:defRPr>
            </a:lvl4pPr>
            <a:lvl5pPr marL="2057400" indent="-228600" algn="l" rtl="0" eaLnBrk="0" fontAlgn="base" hangingPunct="0">
              <a:spcBef>
                <a:spcPct val="20000"/>
              </a:spcBef>
              <a:spcAft>
                <a:spcPct val="0"/>
              </a:spcAft>
              <a:buClr>
                <a:schemeClr val="hlink"/>
              </a:buClr>
              <a:buSzPct val="100000"/>
              <a:buChar char="–"/>
              <a:defRPr sz="1600">
                <a:solidFill>
                  <a:schemeClr val="tx1"/>
                </a:solidFill>
                <a:latin typeface="+mn-lt"/>
              </a:defRPr>
            </a:lvl5pPr>
            <a:lvl6pPr marL="2514600" indent="-228600" algn="l" rtl="0" fontAlgn="base">
              <a:spcBef>
                <a:spcPct val="20000"/>
              </a:spcBef>
              <a:spcAft>
                <a:spcPct val="0"/>
              </a:spcAft>
              <a:buClr>
                <a:schemeClr val="hlink"/>
              </a:buClr>
              <a:buSzPct val="100000"/>
              <a:buChar char="–"/>
              <a:defRPr sz="2000">
                <a:solidFill>
                  <a:schemeClr val="tx1"/>
                </a:solidFill>
                <a:latin typeface="+mn-lt"/>
              </a:defRPr>
            </a:lvl6pPr>
            <a:lvl7pPr marL="2971800" indent="-228600" algn="l" rtl="0" fontAlgn="base">
              <a:spcBef>
                <a:spcPct val="20000"/>
              </a:spcBef>
              <a:spcAft>
                <a:spcPct val="0"/>
              </a:spcAft>
              <a:buClr>
                <a:schemeClr val="hlink"/>
              </a:buClr>
              <a:buSzPct val="100000"/>
              <a:buChar char="–"/>
              <a:defRPr sz="2000">
                <a:solidFill>
                  <a:schemeClr val="tx1"/>
                </a:solidFill>
                <a:latin typeface="+mn-lt"/>
              </a:defRPr>
            </a:lvl7pPr>
            <a:lvl8pPr marL="3429000" indent="-228600" algn="l" rtl="0" fontAlgn="base">
              <a:spcBef>
                <a:spcPct val="20000"/>
              </a:spcBef>
              <a:spcAft>
                <a:spcPct val="0"/>
              </a:spcAft>
              <a:buClr>
                <a:schemeClr val="hlink"/>
              </a:buClr>
              <a:buSzPct val="100000"/>
              <a:buChar char="–"/>
              <a:defRPr sz="2000">
                <a:solidFill>
                  <a:schemeClr val="tx1"/>
                </a:solidFill>
                <a:latin typeface="+mn-lt"/>
              </a:defRPr>
            </a:lvl8pPr>
            <a:lvl9pPr marL="3886200" indent="-228600" algn="l" rtl="0" fontAlgn="base">
              <a:spcBef>
                <a:spcPct val="20000"/>
              </a:spcBef>
              <a:spcAft>
                <a:spcPct val="0"/>
              </a:spcAft>
              <a:buClr>
                <a:schemeClr val="hlink"/>
              </a:buClr>
              <a:buSzPct val="100000"/>
              <a:buChar char="–"/>
              <a:defRPr sz="2000">
                <a:solidFill>
                  <a:schemeClr val="tx1"/>
                </a:solidFill>
                <a:latin typeface="+mn-lt"/>
              </a:defRPr>
            </a:lvl9pPr>
          </a:lstStyle>
          <a:p>
            <a:endParaRPr lang="vi-VN" b="0" kern="0" dirty="0"/>
          </a:p>
        </p:txBody>
      </p:sp>
      <p:sp>
        <p:nvSpPr>
          <p:cNvPr id="2" name="Title 1"/>
          <p:cNvSpPr>
            <a:spLocks noGrp="1"/>
          </p:cNvSpPr>
          <p:nvPr>
            <p:ph type="title"/>
          </p:nvPr>
        </p:nvSpPr>
        <p:spPr/>
        <p:txBody>
          <a:bodyPr/>
          <a:lstStyle/>
          <a:p>
            <a:r>
              <a:rPr lang="en-US" dirty="0"/>
              <a:t>Các loại đồ thị</a:t>
            </a:r>
            <a:endParaRPr lang="vi-VN" dirty="0"/>
          </a:p>
        </p:txBody>
      </p:sp>
      <p:sp>
        <p:nvSpPr>
          <p:cNvPr id="3" name="Content Placeholder 2"/>
          <p:cNvSpPr>
            <a:spLocks noGrp="1"/>
          </p:cNvSpPr>
          <p:nvPr>
            <p:ph sz="quarter" idx="13"/>
          </p:nvPr>
        </p:nvSpPr>
        <p:spPr>
          <a:xfrm>
            <a:off x="235077" y="841249"/>
            <a:ext cx="8674100" cy="5483351"/>
          </a:xfrm>
        </p:spPr>
        <p:txBody>
          <a:bodyPr>
            <a:normAutofit/>
          </a:bodyPr>
          <a:lstStyle/>
          <a:p>
            <a:r>
              <a:rPr lang="en-US" sz="2400" dirty="0"/>
              <a:t>Đồ thị liên thông (connected graph) </a:t>
            </a:r>
          </a:p>
          <a:p>
            <a:pPr lvl="1"/>
            <a:r>
              <a:rPr lang="vi-VN" sz="2100" dirty="0"/>
              <a:t>giữa hai đỉnh bất kỳ luôn có ít nhất</a:t>
            </a:r>
            <a:r>
              <a:rPr lang="en-US" sz="2100" dirty="0"/>
              <a:t> </a:t>
            </a:r>
            <a:br>
              <a:rPr lang="en-US" sz="2100" dirty="0"/>
            </a:br>
            <a:r>
              <a:rPr lang="vi-VN" sz="2100" dirty="0"/>
              <a:t>một đường đi</a:t>
            </a:r>
            <a:endParaRPr lang="en-US" sz="2100" dirty="0"/>
          </a:p>
          <a:p>
            <a:endParaRPr lang="en-US" sz="2400" dirty="0"/>
          </a:p>
          <a:p>
            <a:endParaRPr lang="en-US" sz="2400" dirty="0"/>
          </a:p>
          <a:p>
            <a:endParaRPr lang="en-US" sz="2400" dirty="0"/>
          </a:p>
          <a:p>
            <a:endParaRPr lang="en-US" sz="2400" dirty="0"/>
          </a:p>
          <a:p>
            <a:endParaRPr lang="en-US" sz="2400" dirty="0"/>
          </a:p>
          <a:p>
            <a:r>
              <a:rPr lang="en-US" sz="2400" dirty="0" err="1"/>
              <a:t>Đồ</a:t>
            </a:r>
            <a:r>
              <a:rPr lang="en-US" sz="2400" dirty="0"/>
              <a:t> </a:t>
            </a:r>
            <a:r>
              <a:rPr lang="en-US" sz="2400" dirty="0" err="1"/>
              <a:t>thị</a:t>
            </a:r>
            <a:r>
              <a:rPr lang="en-US" sz="2400" dirty="0"/>
              <a:t> </a:t>
            </a:r>
            <a:r>
              <a:rPr lang="en-US" sz="2400" dirty="0" err="1"/>
              <a:t>đều</a:t>
            </a:r>
            <a:r>
              <a:rPr lang="en-US" sz="2400" dirty="0"/>
              <a:t> (Regular graph)</a:t>
            </a:r>
          </a:p>
          <a:p>
            <a:pPr lvl="1"/>
            <a:r>
              <a:rPr lang="en-US" sz="2100" dirty="0" err="1"/>
              <a:t>mỗi</a:t>
            </a:r>
            <a:r>
              <a:rPr lang="en-US" sz="2100" dirty="0"/>
              <a:t> </a:t>
            </a:r>
            <a:r>
              <a:rPr lang="en-US" sz="2100" dirty="0" err="1"/>
              <a:t>đỉnh</a:t>
            </a:r>
            <a:r>
              <a:rPr lang="en-US" sz="2100" dirty="0"/>
              <a:t> </a:t>
            </a:r>
            <a:r>
              <a:rPr lang="en-US" sz="2100" dirty="0" err="1"/>
              <a:t>có</a:t>
            </a:r>
            <a:r>
              <a:rPr lang="en-US" sz="2100" dirty="0"/>
              <a:t> </a:t>
            </a:r>
            <a:r>
              <a:rPr lang="en-US" sz="2100" dirty="0" err="1"/>
              <a:t>số</a:t>
            </a:r>
            <a:r>
              <a:rPr lang="en-US" sz="2100" dirty="0"/>
              <a:t> </a:t>
            </a:r>
            <a:r>
              <a:rPr lang="en-US" sz="2100" dirty="0" err="1"/>
              <a:t>đỉnh</a:t>
            </a:r>
            <a:r>
              <a:rPr lang="en-US" sz="2100" dirty="0"/>
              <a:t> </a:t>
            </a:r>
            <a:r>
              <a:rPr lang="en-US" sz="2100" dirty="0" err="1"/>
              <a:t>kề</a:t>
            </a:r>
            <a:r>
              <a:rPr lang="en-US" sz="2100" dirty="0"/>
              <a:t> </a:t>
            </a:r>
            <a:r>
              <a:rPr lang="en-US" sz="2100" dirty="0" err="1"/>
              <a:t>bằng</a:t>
            </a:r>
            <a:r>
              <a:rPr lang="en-US" sz="2100" dirty="0"/>
              <a:t> </a:t>
            </a:r>
            <a:r>
              <a:rPr lang="en-US" sz="2100" dirty="0" err="1"/>
              <a:t>nhau</a:t>
            </a:r>
            <a:r>
              <a:rPr lang="en-US" sz="2100" dirty="0"/>
              <a:t> </a:t>
            </a:r>
            <a:br>
              <a:rPr lang="en-US" sz="2100" dirty="0"/>
            </a:br>
            <a:endParaRPr lang="vi-VN" sz="2400" dirty="0"/>
          </a:p>
        </p:txBody>
      </p:sp>
      <p:pic>
        <p:nvPicPr>
          <p:cNvPr id="4" name="Picture 3"/>
          <p:cNvPicPr>
            <a:picLocks noChangeAspect="1"/>
          </p:cNvPicPr>
          <p:nvPr/>
        </p:nvPicPr>
        <p:blipFill>
          <a:blip r:embed="rId3"/>
          <a:stretch>
            <a:fillRect/>
          </a:stretch>
        </p:blipFill>
        <p:spPr>
          <a:xfrm>
            <a:off x="920833" y="1923360"/>
            <a:ext cx="1895475" cy="1552575"/>
          </a:xfrm>
          <a:prstGeom prst="rect">
            <a:avLst/>
          </a:prstGeom>
        </p:spPr>
      </p:pic>
      <p:pic>
        <p:nvPicPr>
          <p:cNvPr id="5" name="Picture 4"/>
          <p:cNvPicPr>
            <a:picLocks noChangeAspect="1"/>
          </p:cNvPicPr>
          <p:nvPr/>
        </p:nvPicPr>
        <p:blipFill>
          <a:blip r:embed="rId4"/>
          <a:stretch>
            <a:fillRect/>
          </a:stretch>
        </p:blipFill>
        <p:spPr>
          <a:xfrm>
            <a:off x="3146136" y="2081048"/>
            <a:ext cx="1724025" cy="1323975"/>
          </a:xfrm>
          <a:prstGeom prst="rect">
            <a:avLst/>
          </a:prstGeom>
        </p:spPr>
      </p:pic>
      <p:grpSp>
        <p:nvGrpSpPr>
          <p:cNvPr id="9" name="Group 8"/>
          <p:cNvGrpSpPr/>
          <p:nvPr/>
        </p:nvGrpSpPr>
        <p:grpSpPr>
          <a:xfrm>
            <a:off x="6235459" y="1533806"/>
            <a:ext cx="2200959" cy="1883203"/>
            <a:chOff x="6102306" y="1961686"/>
            <a:chExt cx="2200959" cy="1883203"/>
          </a:xfrm>
        </p:grpSpPr>
        <p:pic>
          <p:nvPicPr>
            <p:cNvPr id="6" name="Picture 5"/>
            <p:cNvPicPr>
              <a:picLocks noChangeAspect="1"/>
            </p:cNvPicPr>
            <p:nvPr/>
          </p:nvPicPr>
          <p:blipFill>
            <a:blip r:embed="rId5"/>
            <a:stretch>
              <a:fillRect/>
            </a:stretch>
          </p:blipFill>
          <p:spPr>
            <a:xfrm>
              <a:off x="6352197" y="1961686"/>
              <a:ext cx="1736055" cy="1854615"/>
            </a:xfrm>
            <a:prstGeom prst="rect">
              <a:avLst/>
            </a:prstGeom>
          </p:spPr>
        </p:pic>
        <p:sp>
          <p:nvSpPr>
            <p:cNvPr id="7" name="Rounded Rectangle 6"/>
            <p:cNvSpPr/>
            <p:nvPr/>
          </p:nvSpPr>
          <p:spPr>
            <a:xfrm>
              <a:off x="6102306" y="2087904"/>
              <a:ext cx="2200959" cy="175698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pic>
        <p:nvPicPr>
          <p:cNvPr id="10" name="Picture 9"/>
          <p:cNvPicPr>
            <a:picLocks noChangeAspect="1"/>
          </p:cNvPicPr>
          <p:nvPr/>
        </p:nvPicPr>
        <p:blipFill>
          <a:blip r:embed="rId6"/>
          <a:stretch>
            <a:fillRect/>
          </a:stretch>
        </p:blipFill>
        <p:spPr>
          <a:xfrm>
            <a:off x="5029200" y="4012016"/>
            <a:ext cx="3769858" cy="2414845"/>
          </a:xfrm>
          <a:prstGeom prst="rect">
            <a:avLst/>
          </a:prstGeom>
        </p:spPr>
      </p:pic>
      <p:sp>
        <p:nvSpPr>
          <p:cNvPr id="11" name="Rectangle 10"/>
          <p:cNvSpPr/>
          <p:nvPr/>
        </p:nvSpPr>
        <p:spPr>
          <a:xfrm>
            <a:off x="5552656" y="876065"/>
            <a:ext cx="3246402" cy="424732"/>
          </a:xfrm>
          <a:prstGeom prst="rect">
            <a:avLst/>
          </a:prstGeom>
        </p:spPr>
        <p:txBody>
          <a:bodyPr wrap="none">
            <a:spAutoFit/>
          </a:bodyPr>
          <a:lstStyle/>
          <a:p>
            <a:pPr marL="171450" indent="-171450" defTabSz="685800">
              <a:lnSpc>
                <a:spcPct val="90000"/>
              </a:lnSpc>
              <a:spcBef>
                <a:spcPts val="750"/>
              </a:spcBef>
              <a:buFont typeface="Arial" panose="020B0604020202020204" pitchFamily="34" charset="0"/>
              <a:buChar char="•"/>
            </a:pPr>
            <a:r>
              <a:rPr lang="en-US" sz="2400" dirty="0" err="1">
                <a:latin typeface="Lato" panose="020F0502020204030203" pitchFamily="34" charset="0"/>
                <a:ea typeface="Lato" panose="020F0502020204030203" pitchFamily="34" charset="0"/>
                <a:cs typeface="Lato" panose="020F0502020204030203" pitchFamily="34" charset="0"/>
              </a:rPr>
              <a:t>Đồ</a:t>
            </a:r>
            <a:r>
              <a:rPr lang="en-US" sz="2400" dirty="0">
                <a:latin typeface="Lato" panose="020F0502020204030203" pitchFamily="34" charset="0"/>
                <a:ea typeface="Lato" panose="020F0502020204030203" pitchFamily="34" charset="0"/>
                <a:cs typeface="Lato" panose="020F0502020204030203" pitchFamily="34" charset="0"/>
              </a:rPr>
              <a:t> </a:t>
            </a:r>
            <a:r>
              <a:rPr lang="en-US" sz="2400" dirty="0" err="1">
                <a:latin typeface="Lato" panose="020F0502020204030203" pitchFamily="34" charset="0"/>
                <a:ea typeface="Lato" panose="020F0502020204030203" pitchFamily="34" charset="0"/>
                <a:cs typeface="Lato" panose="020F0502020204030203" pitchFamily="34" charset="0"/>
              </a:rPr>
              <a:t>thị</a:t>
            </a:r>
            <a:r>
              <a:rPr lang="en-US" sz="2400" dirty="0">
                <a:latin typeface="Lato" panose="020F0502020204030203" pitchFamily="34" charset="0"/>
                <a:ea typeface="Lato" panose="020F0502020204030203" pitchFamily="34" charset="0"/>
                <a:cs typeface="Lato" panose="020F0502020204030203" pitchFamily="34" charset="0"/>
              </a:rPr>
              <a:t> </a:t>
            </a:r>
            <a:r>
              <a:rPr lang="en-US" sz="2400" dirty="0" err="1">
                <a:latin typeface="Lato" panose="020F0502020204030203" pitchFamily="34" charset="0"/>
                <a:ea typeface="Lato" panose="020F0502020204030203" pitchFamily="34" charset="0"/>
                <a:cs typeface="Lato" panose="020F0502020204030203" pitchFamily="34" charset="0"/>
              </a:rPr>
              <a:t>không</a:t>
            </a:r>
            <a:r>
              <a:rPr lang="en-US" sz="2400" dirty="0">
                <a:latin typeface="Lato" panose="020F0502020204030203" pitchFamily="34" charset="0"/>
                <a:ea typeface="Lato" panose="020F0502020204030203" pitchFamily="34" charset="0"/>
                <a:cs typeface="Lato" panose="020F0502020204030203" pitchFamily="34" charset="0"/>
              </a:rPr>
              <a:t> </a:t>
            </a:r>
            <a:r>
              <a:rPr lang="en-US" sz="2400" dirty="0" err="1">
                <a:latin typeface="Lato" panose="020F0502020204030203" pitchFamily="34" charset="0"/>
                <a:ea typeface="Lato" panose="020F0502020204030203" pitchFamily="34" charset="0"/>
                <a:cs typeface="Lato" panose="020F0502020204030203" pitchFamily="34" charset="0"/>
              </a:rPr>
              <a:t>liên</a:t>
            </a:r>
            <a:r>
              <a:rPr lang="en-US" sz="2400" dirty="0">
                <a:latin typeface="Lato" panose="020F0502020204030203" pitchFamily="34" charset="0"/>
                <a:ea typeface="Lato" panose="020F0502020204030203" pitchFamily="34" charset="0"/>
                <a:cs typeface="Lato" panose="020F0502020204030203" pitchFamily="34" charset="0"/>
              </a:rPr>
              <a:t> </a:t>
            </a:r>
            <a:r>
              <a:rPr lang="en-US" sz="2400" dirty="0" err="1">
                <a:latin typeface="Lato" panose="020F0502020204030203" pitchFamily="34" charset="0"/>
                <a:ea typeface="Lato" panose="020F0502020204030203" pitchFamily="34" charset="0"/>
                <a:cs typeface="Lato" panose="020F0502020204030203" pitchFamily="34" charset="0"/>
              </a:rPr>
              <a:t>thông</a:t>
            </a:r>
            <a:endParaRPr lang="en-US" sz="24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9504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r>
              <a:rPr lang="vi-VN" sz="2400" dirty="0"/>
              <a:t>Bậc của một đỉnh (degree): </a:t>
            </a:r>
            <a:endParaRPr lang="en-US" sz="2400" dirty="0"/>
          </a:p>
          <a:p>
            <a:pPr lvl="1"/>
            <a:r>
              <a:rPr lang="vi-VN" sz="2100" dirty="0"/>
              <a:t>là số cung kề với đỉnh</a:t>
            </a:r>
          </a:p>
          <a:p>
            <a:r>
              <a:rPr lang="vi-VN" sz="2400" dirty="0"/>
              <a:t>Nếu là đồ thị có hướng</a:t>
            </a:r>
            <a:r>
              <a:rPr lang="en-US" sz="2400" dirty="0"/>
              <a:t>,</a:t>
            </a:r>
            <a:r>
              <a:rPr lang="vi-VN" sz="2400" dirty="0"/>
              <a:t> </a:t>
            </a:r>
            <a:r>
              <a:rPr lang="vi-VN" sz="2400" b="0" dirty="0"/>
              <a:t>một đỉnh có thể có</a:t>
            </a:r>
            <a:r>
              <a:rPr lang="en-US" sz="2400" b="0" dirty="0"/>
              <a:t>:</a:t>
            </a:r>
            <a:endParaRPr lang="vi-VN" sz="2400" b="0" dirty="0"/>
          </a:p>
          <a:p>
            <a:pPr lvl="1"/>
            <a:r>
              <a:rPr lang="vi-VN" sz="2000" b="0" dirty="0"/>
              <a:t>Bậc trong (in-degree)</a:t>
            </a:r>
          </a:p>
          <a:p>
            <a:pPr lvl="1"/>
            <a:r>
              <a:rPr lang="vi-VN" sz="2000" b="0" dirty="0"/>
              <a:t>Bậc ngoài (out-degree)</a:t>
            </a:r>
          </a:p>
          <a:p>
            <a:r>
              <a:rPr lang="vi-VN" sz="2400" dirty="0"/>
              <a:t>Một đỉnh có bậc </a:t>
            </a:r>
            <a:r>
              <a:rPr lang="en-US" sz="2400" dirty="0"/>
              <a:t>=</a:t>
            </a:r>
            <a:r>
              <a:rPr lang="vi-VN" sz="2400" dirty="0"/>
              <a:t> 0: đứng biệt lập</a:t>
            </a:r>
          </a:p>
          <a:p>
            <a:endParaRPr lang="vi-VN" sz="2400" dirty="0"/>
          </a:p>
          <a:p>
            <a:r>
              <a:rPr lang="vi-VN" sz="2400" dirty="0"/>
              <a:t>Ví dụ: </a:t>
            </a:r>
          </a:p>
          <a:p>
            <a:pPr lvl="1"/>
            <a:r>
              <a:rPr lang="vi-VN" sz="2000" b="0" dirty="0"/>
              <a:t>Đỉnh 1 có bậc 3</a:t>
            </a:r>
          </a:p>
          <a:p>
            <a:pPr lvl="1"/>
            <a:r>
              <a:rPr lang="vi-VN" sz="2000" b="0" dirty="0"/>
              <a:t>Đỉnh 1 có bậc trong là 1 và bậc ngoài là 2</a:t>
            </a:r>
          </a:p>
          <a:p>
            <a:pPr marL="457200" lvl="1" indent="0">
              <a:buNone/>
            </a:pPr>
            <a:r>
              <a:rPr lang="vi-VN" sz="2000" dirty="0"/>
              <a:t> </a:t>
            </a:r>
          </a:p>
          <a:p>
            <a:pPr marL="457200" lvl="1" indent="0">
              <a:buNone/>
            </a:pPr>
            <a:br>
              <a:rPr lang="vi-VN" sz="2000" dirty="0"/>
            </a:br>
            <a:endParaRPr lang="vi-VN" sz="2000" dirty="0"/>
          </a:p>
          <a:p>
            <a:endParaRPr lang="vi-VN" sz="2400" dirty="0"/>
          </a:p>
        </p:txBody>
      </p:sp>
      <p:pic>
        <p:nvPicPr>
          <p:cNvPr id="4" name="Picture 3"/>
          <p:cNvPicPr>
            <a:picLocks noChangeAspect="1"/>
          </p:cNvPicPr>
          <p:nvPr/>
        </p:nvPicPr>
        <p:blipFill>
          <a:blip r:embed="rId2"/>
          <a:stretch>
            <a:fillRect/>
          </a:stretch>
        </p:blipFill>
        <p:spPr>
          <a:xfrm>
            <a:off x="6281546" y="2133600"/>
            <a:ext cx="2593510" cy="2435644"/>
          </a:xfrm>
          <a:prstGeom prst="rect">
            <a:avLst/>
          </a:prstGeom>
        </p:spPr>
      </p:pic>
      <p:sp>
        <p:nvSpPr>
          <p:cNvPr id="2" name="Title 1"/>
          <p:cNvSpPr>
            <a:spLocks noGrp="1"/>
          </p:cNvSpPr>
          <p:nvPr>
            <p:ph type="title"/>
          </p:nvPr>
        </p:nvSpPr>
        <p:spPr/>
        <p:txBody>
          <a:bodyPr/>
          <a:lstStyle/>
          <a:p>
            <a:r>
              <a:rPr lang="vi-VN" dirty="0"/>
              <a:t>Các khái niệm liên quan</a:t>
            </a:r>
          </a:p>
        </p:txBody>
      </p:sp>
    </p:spTree>
    <p:extLst>
      <p:ext uri="{BB962C8B-B14F-4D97-AF65-F5344CB8AC3E}">
        <p14:creationId xmlns:p14="http://schemas.microsoft.com/office/powerpoint/2010/main" val="695959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Một số tính chất của đồ thị</a:t>
            </a:r>
          </a:p>
        </p:txBody>
      </p:sp>
      <p:sp>
        <p:nvSpPr>
          <p:cNvPr id="3" name="Content Placeholder 2"/>
          <p:cNvSpPr>
            <a:spLocks noGrp="1"/>
          </p:cNvSpPr>
          <p:nvPr>
            <p:ph sz="quarter" idx="13"/>
          </p:nvPr>
        </p:nvSpPr>
        <p:spPr/>
        <p:txBody>
          <a:bodyPr>
            <a:normAutofit/>
          </a:bodyPr>
          <a:lstStyle/>
          <a:p>
            <a:r>
              <a:rPr lang="vi-VN" sz="2400" b="0" dirty="0"/>
              <a:t>Nếu đồ thị G có </a:t>
            </a:r>
            <a:r>
              <a:rPr lang="vi-VN" sz="2400" b="0" i="1" dirty="0"/>
              <a:t>m</a:t>
            </a:r>
            <a:r>
              <a:rPr lang="vi-VN" sz="2400" b="0" dirty="0"/>
              <a:t> cung </a:t>
            </a:r>
            <a:r>
              <a:rPr lang="en-US" sz="2400" b="0" dirty="0">
                <a:sym typeface="Wingdings" panose="05000000000000000000" pitchFamily="2" charset="2"/>
              </a:rPr>
              <a:t></a:t>
            </a:r>
            <a:r>
              <a:rPr lang="vi-VN" sz="2400" b="0" dirty="0"/>
              <a:t> </a:t>
            </a:r>
            <a:r>
              <a:rPr lang="en-US" sz="2400" b="0" dirty="0"/>
              <a:t>T</a:t>
            </a:r>
            <a:r>
              <a:rPr lang="vi-VN" sz="2400" b="0" dirty="0"/>
              <a:t>ổng bậc của</a:t>
            </a:r>
            <a:r>
              <a:rPr lang="en-US" sz="2400" b="0" dirty="0"/>
              <a:t> </a:t>
            </a:r>
            <a:r>
              <a:rPr lang="vi-VN" sz="2400" b="0" dirty="0"/>
              <a:t>các đỉnh trong G là 2</a:t>
            </a:r>
            <a:r>
              <a:rPr lang="vi-VN" sz="2400" b="0" i="1" dirty="0"/>
              <a:t>m</a:t>
            </a:r>
          </a:p>
          <a:p>
            <a:r>
              <a:rPr lang="vi-VN" sz="2400" b="0" dirty="0"/>
              <a:t>Nếu đồ thị có hướng có </a:t>
            </a:r>
            <a:r>
              <a:rPr lang="vi-VN" sz="2400" b="0" i="1" dirty="0"/>
              <a:t>m</a:t>
            </a:r>
            <a:r>
              <a:rPr lang="vi-VN" sz="2400" b="0" dirty="0"/>
              <a:t> cung </a:t>
            </a:r>
            <a:r>
              <a:rPr lang="en-US" sz="2400" b="0" dirty="0">
                <a:sym typeface="Wingdings" panose="05000000000000000000" pitchFamily="2" charset="2"/>
              </a:rPr>
              <a:t></a:t>
            </a:r>
            <a:r>
              <a:rPr lang="vi-VN" sz="2400" b="0" dirty="0"/>
              <a:t> </a:t>
            </a:r>
            <a:r>
              <a:rPr lang="en-US" sz="2400" b="0" dirty="0"/>
              <a:t>T</a:t>
            </a:r>
            <a:r>
              <a:rPr lang="vi-VN" sz="2400" b="0" dirty="0"/>
              <a:t>ổng bậc</a:t>
            </a:r>
            <a:r>
              <a:rPr lang="en-US" sz="2400" b="0" dirty="0"/>
              <a:t> </a:t>
            </a:r>
            <a:r>
              <a:rPr lang="vi-VN" sz="2400" b="0" dirty="0"/>
              <a:t>trong của các đỉnh , tổng bậc ngoài của các đỉnh</a:t>
            </a:r>
            <a:r>
              <a:rPr lang="en-US" sz="2400" b="0" dirty="0"/>
              <a:t> </a:t>
            </a:r>
            <a:r>
              <a:rPr lang="vi-VN" sz="2400" b="0" dirty="0"/>
              <a:t>đều là </a:t>
            </a:r>
            <a:r>
              <a:rPr lang="vi-VN" sz="2400" b="0" i="1" dirty="0"/>
              <a:t>m</a:t>
            </a:r>
          </a:p>
          <a:p>
            <a:r>
              <a:rPr lang="vi-VN" sz="2400" b="0" dirty="0"/>
              <a:t>Nếu đồ thị G là đồ thị có </a:t>
            </a:r>
            <a:r>
              <a:rPr lang="vi-VN" sz="2400" b="0" i="1" dirty="0"/>
              <a:t>n</a:t>
            </a:r>
            <a:r>
              <a:rPr lang="vi-VN" sz="2400" b="0" dirty="0"/>
              <a:t> đỉnh và</a:t>
            </a:r>
            <a:r>
              <a:rPr lang="en-US" sz="2400" b="0" dirty="0"/>
              <a:t> </a:t>
            </a:r>
            <a:r>
              <a:rPr lang="vi-VN" sz="2400" b="0" i="1" dirty="0"/>
              <a:t>m</a:t>
            </a:r>
            <a:r>
              <a:rPr lang="vi-VN" sz="2400" b="0" dirty="0"/>
              <a:t> cung thì</a:t>
            </a:r>
          </a:p>
          <a:p>
            <a:pPr lvl="1"/>
            <a:r>
              <a:rPr lang="vi-VN" sz="2400" b="0" dirty="0"/>
              <a:t>Nếu G là đồ thị vô hướng m ≤ n(n-1)/2</a:t>
            </a:r>
          </a:p>
          <a:p>
            <a:pPr lvl="1"/>
            <a:r>
              <a:rPr lang="vi-VN" sz="2400" b="0" dirty="0"/>
              <a:t>Nếu G là đồ thị có hướng thì m ≤ n(n-1)</a:t>
            </a:r>
            <a:r>
              <a:rPr lang="vi-VN" sz="2400" dirty="0"/>
              <a:t> </a:t>
            </a:r>
            <a:br>
              <a:rPr lang="vi-VN" sz="2000" dirty="0"/>
            </a:br>
            <a:endParaRPr lang="vi-VN" sz="2000" dirty="0"/>
          </a:p>
        </p:txBody>
      </p:sp>
      <p:pic>
        <p:nvPicPr>
          <p:cNvPr id="4" name="Picture 3"/>
          <p:cNvPicPr>
            <a:picLocks noChangeAspect="1"/>
          </p:cNvPicPr>
          <p:nvPr/>
        </p:nvPicPr>
        <p:blipFill>
          <a:blip r:embed="rId3"/>
          <a:stretch>
            <a:fillRect/>
          </a:stretch>
        </p:blipFill>
        <p:spPr>
          <a:xfrm>
            <a:off x="3429000" y="3708998"/>
            <a:ext cx="2593510" cy="2435644"/>
          </a:xfrm>
          <a:prstGeom prst="rect">
            <a:avLst/>
          </a:prstGeom>
        </p:spPr>
      </p:pic>
    </p:spTree>
    <p:extLst>
      <p:ext uri="{BB962C8B-B14F-4D97-AF65-F5344CB8AC3E}">
        <p14:creationId xmlns:p14="http://schemas.microsoft.com/office/powerpoint/2010/main" val="3269293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Các khái niệm liên quan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3"/>
              </p:nvPr>
            </p:nvSpPr>
            <p:spPr/>
            <p:txBody>
              <a:bodyPr>
                <a:normAutofit/>
              </a:bodyPr>
              <a:lstStyle/>
              <a:p>
                <a:r>
                  <a:rPr lang="vi-VN" sz="2400" dirty="0"/>
                  <a:t>Đỉnh lân cận</a:t>
                </a:r>
                <a:r>
                  <a:rPr lang="en-US" sz="2400" dirty="0"/>
                  <a:t>/</a:t>
                </a:r>
                <a:r>
                  <a:rPr lang="en-US" sz="2400" dirty="0" err="1"/>
                  <a:t>kề</a:t>
                </a:r>
                <a:r>
                  <a:rPr lang="vi-VN" sz="2400" dirty="0"/>
                  <a:t> (</a:t>
                </a:r>
                <a:r>
                  <a:rPr lang="en-US" sz="2400" dirty="0"/>
                  <a:t>a</a:t>
                </a:r>
                <a:r>
                  <a:rPr lang="vi-VN" sz="2400" dirty="0"/>
                  <a:t>djacent vertices) </a:t>
                </a:r>
                <a:r>
                  <a:rPr lang="en-US" sz="2400" dirty="0" err="1"/>
                  <a:t>và</a:t>
                </a:r>
                <a:r>
                  <a:rPr lang="en-US" sz="2400" dirty="0"/>
                  <a:t> </a:t>
                </a:r>
                <a:r>
                  <a:rPr lang="en-US" sz="2400" dirty="0" err="1"/>
                  <a:t>cạnh</a:t>
                </a:r>
                <a:r>
                  <a:rPr lang="en-US" sz="2400" dirty="0"/>
                  <a:t> </a:t>
                </a:r>
                <a:r>
                  <a:rPr lang="en-US" sz="2400" dirty="0" err="1"/>
                  <a:t>kề</a:t>
                </a:r>
                <a:r>
                  <a:rPr lang="en-US" sz="2400" dirty="0"/>
                  <a:t> </a:t>
                </a:r>
                <a:r>
                  <a:rPr lang="vi-VN" sz="2400" dirty="0"/>
                  <a:t>(</a:t>
                </a:r>
                <a:r>
                  <a:rPr lang="en-US" sz="2400" dirty="0"/>
                  <a:t>a</a:t>
                </a:r>
                <a:r>
                  <a:rPr lang="vi-VN" sz="2400" dirty="0"/>
                  <a:t>djacent edges)</a:t>
                </a:r>
                <a:endParaRPr lang="en-US" sz="2400" dirty="0"/>
              </a:p>
              <a:p>
                <a:pPr lvl="1"/>
                <a:r>
                  <a:rPr lang="en-US" sz="2000" dirty="0" err="1"/>
                  <a:t>v</a:t>
                </a:r>
                <a:r>
                  <a:rPr lang="en-US" sz="2000" baseline="-25000" dirty="0" err="1"/>
                  <a:t>j</a:t>
                </a:r>
                <a:r>
                  <a:rPr lang="en-US" sz="2000" dirty="0"/>
                  <a:t> </a:t>
                </a:r>
                <a:r>
                  <a:rPr lang="en-US" sz="2000" dirty="0" err="1"/>
                  <a:t>là</a:t>
                </a:r>
                <a:r>
                  <a:rPr lang="en-US" sz="2000" dirty="0"/>
                  <a:t> </a:t>
                </a:r>
                <a:r>
                  <a:rPr lang="en-US" sz="2000" dirty="0" err="1"/>
                  <a:t>đỉnh</a:t>
                </a:r>
                <a:r>
                  <a:rPr lang="en-US" sz="2000" dirty="0"/>
                  <a:t> </a:t>
                </a:r>
                <a:r>
                  <a:rPr lang="en-US" sz="2000" dirty="0" err="1"/>
                  <a:t>kề</a:t>
                </a:r>
                <a:r>
                  <a:rPr lang="en-US" sz="2000" dirty="0"/>
                  <a:t> </a:t>
                </a:r>
                <a:r>
                  <a:rPr lang="en-US" sz="2000" dirty="0" err="1"/>
                  <a:t>của</a:t>
                </a:r>
                <a:r>
                  <a:rPr lang="en-US" sz="2000" dirty="0"/>
                  <a:t> v</a:t>
                </a:r>
                <a:r>
                  <a:rPr lang="en-US" sz="2000" baseline="-25000" dirty="0"/>
                  <a:t>i</a:t>
                </a:r>
                <a:r>
                  <a:rPr lang="en-US" sz="2000" dirty="0"/>
                  <a:t> </a:t>
                </a:r>
                <a:r>
                  <a:rPr lang="en-US" sz="2000" dirty="0" err="1"/>
                  <a:t>nếu</a:t>
                </a:r>
                <a:r>
                  <a:rPr lang="en-US" sz="2000" dirty="0"/>
                  <a:t> (</a:t>
                </a:r>
                <a:r>
                  <a:rPr lang="en-US" sz="2000" dirty="0" err="1"/>
                  <a:t>v</a:t>
                </a:r>
                <a:r>
                  <a:rPr lang="en-US" sz="2000" baseline="-25000" dirty="0" err="1"/>
                  <a:t>i</a:t>
                </a:r>
                <a:r>
                  <a:rPr lang="en-US" sz="2000" dirty="0" err="1"/>
                  <a:t>,v</a:t>
                </a:r>
                <a:r>
                  <a:rPr lang="en-US" sz="2000" baseline="-25000" dirty="0" err="1"/>
                  <a:t>j</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 E. </a:t>
                </a:r>
              </a:p>
              <a:p>
                <a:pPr lvl="1"/>
                <a:r>
                  <a:rPr lang="en-US" sz="2000" dirty="0"/>
                  <a:t>(</a:t>
                </a:r>
                <a:r>
                  <a:rPr lang="en-US" sz="2000" dirty="0" err="1"/>
                  <a:t>v</a:t>
                </a:r>
                <a:r>
                  <a:rPr lang="en-US" sz="2000" baseline="-25000" dirty="0" err="1"/>
                  <a:t>i</a:t>
                </a:r>
                <a:r>
                  <a:rPr lang="en-US" sz="2000" dirty="0" err="1"/>
                  <a:t>,v</a:t>
                </a:r>
                <a:r>
                  <a:rPr lang="en-US" sz="2000" baseline="-25000" dirty="0" err="1"/>
                  <a:t>j</a:t>
                </a:r>
                <a:r>
                  <a:rPr lang="en-US" sz="2000" dirty="0"/>
                  <a:t>) </a:t>
                </a:r>
                <a:r>
                  <a:rPr lang="en-US" sz="2000" dirty="0" err="1"/>
                  <a:t>là</a:t>
                </a:r>
                <a:r>
                  <a:rPr lang="en-US" sz="2000" dirty="0"/>
                  <a:t> </a:t>
                </a:r>
                <a:r>
                  <a:rPr lang="en-US" sz="2000" dirty="0" err="1"/>
                  <a:t>cạnh</a:t>
                </a:r>
                <a:r>
                  <a:rPr lang="en-US" sz="2000" dirty="0"/>
                  <a:t> </a:t>
                </a:r>
                <a:r>
                  <a:rPr lang="en-US" sz="2000" dirty="0" err="1"/>
                  <a:t>kề</a:t>
                </a:r>
                <a:r>
                  <a:rPr lang="en-US" sz="2000" dirty="0"/>
                  <a:t> </a:t>
                </a:r>
                <a:r>
                  <a:rPr lang="en-US" sz="2000" dirty="0" err="1"/>
                  <a:t>của</a:t>
                </a:r>
                <a:r>
                  <a:rPr lang="en-US" sz="2000" dirty="0"/>
                  <a:t> v</a:t>
                </a:r>
                <a:r>
                  <a:rPr lang="en-US" sz="2000" baseline="-25000" dirty="0"/>
                  <a:t>i</a:t>
                </a:r>
                <a:r>
                  <a:rPr lang="en-US" sz="2000" dirty="0"/>
                  <a:t> </a:t>
                </a:r>
                <a:r>
                  <a:rPr lang="en-US" sz="2000" dirty="0" err="1"/>
                  <a:t>và</a:t>
                </a:r>
                <a:r>
                  <a:rPr lang="en-US" sz="2000" dirty="0"/>
                  <a:t> </a:t>
                </a:r>
                <a:r>
                  <a:rPr lang="en-US" sz="2000" dirty="0" err="1"/>
                  <a:t>v</a:t>
                </a:r>
                <a:r>
                  <a:rPr lang="en-US" sz="2000" baseline="-25000" dirty="0" err="1"/>
                  <a:t>j</a:t>
                </a:r>
                <a:endParaRPr lang="en-US" sz="2000" baseline="-25000" dirty="0"/>
              </a:p>
              <a:p>
                <a:r>
                  <a:rPr lang="vi-VN" sz="2400" dirty="0"/>
                  <a:t>Đường đi: P(v</a:t>
                </a:r>
                <a:r>
                  <a:rPr lang="en-US" sz="2400" baseline="-25000" dirty="0"/>
                  <a:t>1</a:t>
                </a:r>
                <a:r>
                  <a:rPr lang="vi-VN" sz="2400" dirty="0"/>
                  <a:t>, v</a:t>
                </a:r>
                <a:r>
                  <a:rPr lang="en-US" sz="2400" baseline="-25000" dirty="0"/>
                  <a:t>k</a:t>
                </a:r>
                <a:r>
                  <a:rPr lang="vi-VN" sz="2400" dirty="0"/>
                  <a:t>)</a:t>
                </a:r>
                <a:r>
                  <a:rPr lang="en-US" sz="2400" dirty="0"/>
                  <a:t> = </a:t>
                </a:r>
                <a:r>
                  <a:rPr lang="vi-VN" sz="2400" dirty="0"/>
                  <a:t>Dãy các đỉnh v</a:t>
                </a:r>
                <a:r>
                  <a:rPr lang="vi-VN" sz="2400" baseline="-25000" dirty="0"/>
                  <a:t>1</a:t>
                </a:r>
                <a:r>
                  <a:rPr lang="vi-VN" sz="2400" dirty="0"/>
                  <a:t>,v</a:t>
                </a:r>
                <a:r>
                  <a:rPr lang="vi-VN" sz="2400" baseline="-25000" dirty="0"/>
                  <a:t>2</a:t>
                </a:r>
                <a:r>
                  <a:rPr lang="vi-VN" sz="2400" dirty="0"/>
                  <a:t>,. . .v</a:t>
                </a:r>
                <a:r>
                  <a:rPr lang="vi-VN" sz="2400" baseline="-25000" dirty="0"/>
                  <a:t>k</a:t>
                </a:r>
                <a:r>
                  <a:rPr lang="vi-VN" sz="2400" dirty="0"/>
                  <a:t> mà tồn tại cung (v</a:t>
                </a:r>
                <a:r>
                  <a:rPr lang="vi-VN" sz="2400" baseline="-25000" dirty="0"/>
                  <a:t>i</a:t>
                </a:r>
                <a:r>
                  <a:rPr lang="vi-VN" sz="2400" dirty="0"/>
                  <a:t>, v</a:t>
                </a:r>
                <a:r>
                  <a:rPr lang="vi-VN" sz="2400" baseline="-25000" dirty="0"/>
                  <a:t>i+1</a:t>
                </a:r>
                <a:r>
                  <a:rPr lang="vi-VN" sz="2400" dirty="0"/>
                  <a:t>) trong đồ thị (i = 1 .. k-1) </a:t>
                </a:r>
              </a:p>
              <a:p>
                <a:r>
                  <a:rPr lang="vi-VN" sz="2400" dirty="0"/>
                  <a:t>Đường đi đơn: Đường đi với các đỉnh không lặp lại </a:t>
                </a:r>
              </a:p>
              <a:p>
                <a:r>
                  <a:rPr lang="vi-VN" sz="2400" dirty="0"/>
                  <a:t>Chu trình: Đường đi đơn với đỉnh đầu và cuối  trùng nhau </a:t>
                </a:r>
              </a:p>
              <a:p>
                <a:r>
                  <a:rPr lang="vi-VN" sz="2400" dirty="0"/>
                  <a:t>Độ dài đường đi: số cung trên đường đi</a:t>
                </a:r>
                <a:br>
                  <a:rPr lang="vi-VN" sz="2400" dirty="0"/>
                </a:br>
                <a:br>
                  <a:rPr lang="vi-VN" sz="2400" dirty="0"/>
                </a:br>
                <a:endParaRPr lang="vi-VN"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blipFill>
                <a:blip r:embed="rId2"/>
                <a:stretch>
                  <a:fillRect l="-985" t="-1609" r="-914"/>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6477000" y="4010885"/>
            <a:ext cx="2219150" cy="2454812"/>
          </a:xfrm>
          <a:prstGeom prst="rect">
            <a:avLst/>
          </a:prstGeom>
        </p:spPr>
      </p:pic>
    </p:spTree>
    <p:extLst>
      <p:ext uri="{BB962C8B-B14F-4D97-AF65-F5344CB8AC3E}">
        <p14:creationId xmlns:p14="http://schemas.microsoft.com/office/powerpoint/2010/main" val="218585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Các thao tác cơ bản trên đồ thị</a:t>
            </a:r>
          </a:p>
        </p:txBody>
      </p:sp>
      <p:sp>
        <p:nvSpPr>
          <p:cNvPr id="3" name="Content Placeholder 2"/>
          <p:cNvSpPr>
            <a:spLocks noGrp="1"/>
          </p:cNvSpPr>
          <p:nvPr>
            <p:ph sz="quarter" idx="13"/>
          </p:nvPr>
        </p:nvSpPr>
        <p:spPr/>
        <p:txBody>
          <a:bodyPr>
            <a:normAutofit/>
          </a:bodyPr>
          <a:lstStyle/>
          <a:p>
            <a:r>
              <a:rPr lang="vi-VN" sz="2400" dirty="0"/>
              <a:t>Duyệt đồ thị: </a:t>
            </a:r>
            <a:r>
              <a:rPr lang="vi-VN" sz="2400" b="0" dirty="0"/>
              <a:t>truy cập vào tất cả các đỉnh của đồ thị, mỗi đỉnh đúng một lần. </a:t>
            </a:r>
          </a:p>
          <a:p>
            <a:pPr lvl="1"/>
            <a:r>
              <a:rPr lang="en-US" sz="2100" dirty="0"/>
              <a:t>H</a:t>
            </a:r>
            <a:r>
              <a:rPr lang="vi-VN" sz="2100" dirty="0"/>
              <a:t>ai phương pháp duyệt đồ thị:</a:t>
            </a:r>
            <a:r>
              <a:rPr lang="en-US" sz="2100" dirty="0"/>
              <a:t> </a:t>
            </a:r>
            <a:r>
              <a:rPr lang="vi-VN" sz="2000" dirty="0"/>
              <a:t>Duyệt theo chiều sâu</a:t>
            </a:r>
            <a:r>
              <a:rPr lang="en-US" sz="2000" dirty="0"/>
              <a:t>, </a:t>
            </a:r>
            <a:r>
              <a:rPr lang="vi-VN" sz="2000" dirty="0"/>
              <a:t>Duyệt theo chiều rộng</a:t>
            </a:r>
            <a:endParaRPr lang="en-US" sz="2000" dirty="0"/>
          </a:p>
          <a:p>
            <a:r>
              <a:rPr lang="vi-VN" sz="2300" dirty="0"/>
              <a:t>Tìm kiếm một đỉnh hoặc một cạnh</a:t>
            </a:r>
            <a:endParaRPr lang="en-US" sz="2300" dirty="0"/>
          </a:p>
          <a:p>
            <a:pPr lvl="1"/>
            <a:r>
              <a:rPr lang="en-US" sz="2000" dirty="0"/>
              <a:t>T</a:t>
            </a:r>
            <a:r>
              <a:rPr lang="vi-VN" sz="2000" dirty="0"/>
              <a:t>ìm kiếm này thường dựa vào các</a:t>
            </a:r>
            <a:r>
              <a:rPr lang="en-US" sz="2000" dirty="0"/>
              <a:t> </a:t>
            </a:r>
            <a:r>
              <a:rPr lang="vi-VN" sz="2000" dirty="0"/>
              <a:t>phương pháp duyệt</a:t>
            </a:r>
            <a:endParaRPr lang="en-US" sz="2000" dirty="0"/>
          </a:p>
          <a:p>
            <a:r>
              <a:rPr lang="vi-VN" sz="2300" dirty="0"/>
              <a:t>Tìm đường đi ngắn nhất</a:t>
            </a:r>
            <a:endParaRPr lang="en-US" sz="2300" dirty="0"/>
          </a:p>
          <a:p>
            <a:pPr lvl="1"/>
            <a:r>
              <a:rPr lang="vi-VN" sz="2000" dirty="0"/>
              <a:t>tìm đường đi ngắn nhất giữa hai điểm</a:t>
            </a:r>
            <a:endParaRPr lang="en-US" sz="2000" dirty="0"/>
          </a:p>
          <a:p>
            <a:pPr lvl="1"/>
            <a:r>
              <a:rPr lang="vi-VN" sz="2000" dirty="0"/>
              <a:t>tìm đường đi ngắn nhất</a:t>
            </a:r>
            <a:r>
              <a:rPr lang="en-US" sz="2000" dirty="0"/>
              <a:t> </a:t>
            </a:r>
            <a:r>
              <a:rPr lang="vi-VN" sz="2000" dirty="0"/>
              <a:t>giữa một điểm và tất cả các điểm còn lại</a:t>
            </a:r>
            <a:endParaRPr lang="en-US" sz="2000" dirty="0"/>
          </a:p>
          <a:p>
            <a:pPr lvl="1"/>
            <a:r>
              <a:rPr lang="en-US" sz="2000" dirty="0"/>
              <a:t>v.v.</a:t>
            </a:r>
            <a:r>
              <a:rPr lang="vi-VN" sz="2000" dirty="0"/>
              <a:t> </a:t>
            </a:r>
            <a:endParaRPr lang="en-US" sz="2000" dirty="0"/>
          </a:p>
          <a:p>
            <a:endParaRPr lang="vi-VN" sz="2300" dirty="0"/>
          </a:p>
        </p:txBody>
      </p:sp>
    </p:spTree>
    <p:extLst>
      <p:ext uri="{BB962C8B-B14F-4D97-AF65-F5344CB8AC3E}">
        <p14:creationId xmlns:p14="http://schemas.microsoft.com/office/powerpoint/2010/main" val="144774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13</a:t>
            </a:fld>
            <a:endParaRPr lang="en-US"/>
          </a:p>
        </p:txBody>
      </p:sp>
      <p:sp>
        <p:nvSpPr>
          <p:cNvPr id="4" name="Title 3"/>
          <p:cNvSpPr>
            <a:spLocks noGrp="1"/>
          </p:cNvSpPr>
          <p:nvPr>
            <p:ph type="title"/>
          </p:nvPr>
        </p:nvSpPr>
        <p:spPr/>
        <p:txBody>
          <a:bodyPr/>
          <a:lstStyle/>
          <a:p>
            <a:endParaRPr lang="en-US"/>
          </a:p>
        </p:txBody>
      </p:sp>
      <p:sp>
        <p:nvSpPr>
          <p:cNvPr id="5" name="Content Placeholder 4"/>
          <p:cNvSpPr>
            <a:spLocks noGrp="1"/>
          </p:cNvSpPr>
          <p:nvPr>
            <p:ph sz="quarter" idx="13"/>
          </p:nvPr>
        </p:nvSpPr>
        <p:spPr>
          <a:xfrm>
            <a:off x="235077" y="2438400"/>
            <a:ext cx="8674100" cy="3706242"/>
          </a:xfrm>
        </p:spPr>
        <p:txBody>
          <a:bodyPr>
            <a:normAutofit/>
          </a:bodyPr>
          <a:lstStyle/>
          <a:p>
            <a:pPr marL="0" indent="0" algn="r">
              <a:buNone/>
            </a:pPr>
            <a:r>
              <a:rPr lang="en-US" sz="3200" b="1"/>
              <a:t>2. </a:t>
            </a:r>
            <a:r>
              <a:rPr lang="en-US" sz="3200" b="1" dirty="0" err="1"/>
              <a:t>Cài</a:t>
            </a:r>
            <a:r>
              <a:rPr lang="en-US" sz="3200" b="1" dirty="0"/>
              <a:t> </a:t>
            </a:r>
            <a:r>
              <a:rPr lang="en-US" sz="3200" b="1" dirty="0" err="1"/>
              <a:t>đặt</a:t>
            </a:r>
            <a:r>
              <a:rPr lang="en-US" sz="3200" b="1" dirty="0"/>
              <a:t> </a:t>
            </a:r>
            <a:r>
              <a:rPr lang="en-US" sz="3200" b="1" dirty="0" err="1"/>
              <a:t>cấu</a:t>
            </a:r>
            <a:r>
              <a:rPr lang="en-US" sz="3200" b="1" dirty="0"/>
              <a:t> </a:t>
            </a:r>
            <a:r>
              <a:rPr lang="en-US" sz="3200" b="1" dirty="0" err="1"/>
              <a:t>trúc</a:t>
            </a:r>
            <a:r>
              <a:rPr lang="en-US" sz="3200" b="1" dirty="0"/>
              <a:t> </a:t>
            </a:r>
            <a:r>
              <a:rPr lang="en-US" sz="3200" b="1" dirty="0" err="1"/>
              <a:t>đồ</a:t>
            </a:r>
            <a:r>
              <a:rPr lang="en-US" sz="3200" b="1" dirty="0"/>
              <a:t> </a:t>
            </a:r>
            <a:r>
              <a:rPr lang="en-US" sz="3200" b="1" dirty="0" err="1"/>
              <a:t>thị</a:t>
            </a:r>
            <a:r>
              <a:rPr lang="en-US" sz="3200" b="1" dirty="0"/>
              <a:t> </a:t>
            </a:r>
            <a:endParaRPr lang="en-US" sz="3200" dirty="0"/>
          </a:p>
        </p:txBody>
      </p:sp>
    </p:spTree>
    <p:extLst>
      <p:ext uri="{BB962C8B-B14F-4D97-AF65-F5344CB8AC3E}">
        <p14:creationId xmlns:p14="http://schemas.microsoft.com/office/powerpoint/2010/main" val="161456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
            </a:r>
            <a:r>
              <a:rPr lang="vi-VN" dirty="0"/>
              <a:t>hương pháp cài đặt chính</a:t>
            </a:r>
          </a:p>
        </p:txBody>
      </p:sp>
      <p:sp>
        <p:nvSpPr>
          <p:cNvPr id="3" name="Content Placeholder 2"/>
          <p:cNvSpPr>
            <a:spLocks noGrp="1"/>
          </p:cNvSpPr>
          <p:nvPr>
            <p:ph sz="quarter" idx="13"/>
          </p:nvPr>
        </p:nvSpPr>
        <p:spPr/>
        <p:txBody>
          <a:bodyPr>
            <a:normAutofit/>
          </a:bodyPr>
          <a:lstStyle/>
          <a:p>
            <a:r>
              <a:rPr lang="vi-VN" sz="2400" dirty="0"/>
              <a:t>Sử dụng cấu trúc lưu trữ tuần tự</a:t>
            </a:r>
            <a:endParaRPr lang="en-US" sz="2400" dirty="0"/>
          </a:p>
          <a:p>
            <a:pPr lvl="1"/>
            <a:r>
              <a:rPr lang="en-US" sz="2000" dirty="0"/>
              <a:t>S</a:t>
            </a:r>
            <a:r>
              <a:rPr lang="vi-VN" sz="2000" dirty="0"/>
              <a:t>ử dụng cấu trúc mảng để</a:t>
            </a:r>
            <a:r>
              <a:rPr lang="en-US" sz="2000" dirty="0"/>
              <a:t> </a:t>
            </a:r>
            <a:r>
              <a:rPr lang="vi-VN" sz="2000" dirty="0"/>
              <a:t>lưu trữ các đỉnh và các cạnh của đồ thị</a:t>
            </a:r>
            <a:endParaRPr lang="en-US" sz="2000" dirty="0"/>
          </a:p>
          <a:p>
            <a:pPr lvl="1"/>
            <a:r>
              <a:rPr lang="en-US" sz="2000" dirty="0"/>
              <a:t>Ư</a:t>
            </a:r>
            <a:r>
              <a:rPr lang="vi-VN" sz="2000" dirty="0"/>
              <a:t>u điểm</a:t>
            </a:r>
            <a:r>
              <a:rPr lang="en-US" sz="2000" dirty="0"/>
              <a:t>: </a:t>
            </a:r>
            <a:r>
              <a:rPr lang="en-US" sz="2000" dirty="0" err="1"/>
              <a:t>tổ</a:t>
            </a:r>
            <a:r>
              <a:rPr lang="en-US" sz="2000" dirty="0"/>
              <a:t> </a:t>
            </a:r>
            <a:r>
              <a:rPr lang="vi-VN" sz="2000" dirty="0"/>
              <a:t>chức lưu trữ đơn giản</a:t>
            </a:r>
            <a:r>
              <a:rPr lang="en-US" sz="2000" dirty="0"/>
              <a:t>, </a:t>
            </a:r>
            <a:r>
              <a:rPr lang="vi-VN" sz="2000" dirty="0"/>
              <a:t>thao tác cài đặt có tốc độ nhanh</a:t>
            </a:r>
            <a:r>
              <a:rPr lang="en-US" sz="2000" dirty="0"/>
              <a:t> </a:t>
            </a:r>
            <a:r>
              <a:rPr lang="vi-VN" sz="2000" dirty="0"/>
              <a:t>do khả năng truy nhập trực tiếp của cấu trúc mảng.</a:t>
            </a:r>
            <a:endParaRPr lang="en-US" sz="2000" dirty="0"/>
          </a:p>
          <a:p>
            <a:pPr lvl="1"/>
            <a:r>
              <a:rPr lang="en-US" sz="2000" dirty="0"/>
              <a:t>C</a:t>
            </a:r>
            <a:r>
              <a:rPr lang="vi-VN" sz="2000" dirty="0"/>
              <a:t>hỉ thích hợp khi kích thước đồ thị</a:t>
            </a:r>
            <a:r>
              <a:rPr lang="en-US" sz="2000" dirty="0"/>
              <a:t> </a:t>
            </a:r>
            <a:r>
              <a:rPr lang="vi-VN" sz="2000" dirty="0"/>
              <a:t>nhỏ (khoảng vài chục đỉnh và cạnh). </a:t>
            </a:r>
          </a:p>
          <a:p>
            <a:r>
              <a:rPr lang="vi-VN" sz="2400" dirty="0"/>
              <a:t>Sử dụng cấu trúc lưu trữ móc nối</a:t>
            </a:r>
            <a:endParaRPr lang="en-US" sz="2400" dirty="0"/>
          </a:p>
          <a:p>
            <a:pPr lvl="1"/>
            <a:r>
              <a:rPr lang="en-US" sz="2000" dirty="0"/>
              <a:t>H</a:t>
            </a:r>
            <a:r>
              <a:rPr lang="vi-VN" sz="2000" dirty="0"/>
              <a:t>ạn chế</a:t>
            </a:r>
            <a:r>
              <a:rPr lang="en-US" sz="2000" dirty="0"/>
              <a:t>:</a:t>
            </a:r>
            <a:r>
              <a:rPr lang="vi-VN" sz="2000" dirty="0"/>
              <a:t> tốc độ các thao tác chậm hơn</a:t>
            </a:r>
            <a:r>
              <a:rPr lang="en-US" sz="2000" dirty="0"/>
              <a:t> </a:t>
            </a:r>
            <a:r>
              <a:rPr lang="vi-VN" sz="2000" dirty="0"/>
              <a:t>so với cách sử dụng cấu trúc tuần tự, do đặc điểm phải truy nhập tuần tự</a:t>
            </a:r>
            <a:r>
              <a:rPr lang="en-US" sz="2000" dirty="0"/>
              <a:t> </a:t>
            </a:r>
            <a:r>
              <a:rPr lang="vi-VN" sz="2000" dirty="0"/>
              <a:t>của cấu trúc móc nối.</a:t>
            </a:r>
            <a:endParaRPr lang="en-US" sz="2000" dirty="0"/>
          </a:p>
          <a:p>
            <a:pPr lvl="1"/>
            <a:r>
              <a:rPr lang="en-US" sz="2000" dirty="0" err="1"/>
              <a:t>Có</a:t>
            </a:r>
            <a:r>
              <a:rPr lang="en-US" sz="2000" dirty="0"/>
              <a:t> </a:t>
            </a:r>
            <a:r>
              <a:rPr lang="en-US" sz="2000" dirty="0" err="1"/>
              <a:t>thể</a:t>
            </a:r>
            <a:r>
              <a:rPr lang="en-US" sz="2000" dirty="0"/>
              <a:t> </a:t>
            </a:r>
            <a:r>
              <a:rPr lang="vi-VN" sz="2000" dirty="0"/>
              <a:t>tăng cường các điểm truy</a:t>
            </a:r>
            <a:r>
              <a:rPr lang="en-US" sz="2000" dirty="0"/>
              <a:t> </a:t>
            </a:r>
            <a:r>
              <a:rPr lang="vi-VN" sz="2000" dirty="0"/>
              <a:t>nhập, nhưng cần cân bằng với mức độ phức tạp và</a:t>
            </a:r>
            <a:r>
              <a:rPr lang="en-US" sz="2000" dirty="0"/>
              <a:t> </a:t>
            </a:r>
            <a:r>
              <a:rPr lang="vi-VN" sz="2000" dirty="0"/>
              <a:t>lãng phí bộ nhớ.</a:t>
            </a:r>
          </a:p>
        </p:txBody>
      </p:sp>
    </p:spTree>
    <p:extLst>
      <p:ext uri="{BB962C8B-B14F-4D97-AF65-F5344CB8AC3E}">
        <p14:creationId xmlns:p14="http://schemas.microsoft.com/office/powerpoint/2010/main" val="253605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Sử dụng cấu trúc tuần tự (ma trận kề)</a:t>
            </a:r>
          </a:p>
        </p:txBody>
      </p:sp>
      <p:sp>
        <p:nvSpPr>
          <p:cNvPr id="3" name="Content Placeholder 2"/>
          <p:cNvSpPr>
            <a:spLocks noGrp="1"/>
          </p:cNvSpPr>
          <p:nvPr>
            <p:ph sz="quarter" idx="13"/>
          </p:nvPr>
        </p:nvSpPr>
        <p:spPr>
          <a:xfrm>
            <a:off x="311023" y="841249"/>
            <a:ext cx="8909177" cy="5303393"/>
          </a:xfrm>
        </p:spPr>
        <p:txBody>
          <a:bodyPr>
            <a:normAutofit/>
          </a:bodyPr>
          <a:lstStyle/>
          <a:p>
            <a:r>
              <a:rPr lang="vi-VN" sz="2400" dirty="0"/>
              <a:t>Cài đặt đồ thị G(V,E) : </a:t>
            </a:r>
            <a:r>
              <a:rPr lang="vi-VN" sz="2400" b="0" dirty="0"/>
              <a:t>V = (v</a:t>
            </a:r>
            <a:r>
              <a:rPr lang="vi-VN" sz="2400" b="0" baseline="-25000" dirty="0"/>
              <a:t>0</a:t>
            </a:r>
            <a:r>
              <a:rPr lang="vi-VN" sz="2400" b="0" dirty="0"/>
              <a:t>, v</a:t>
            </a:r>
            <a:r>
              <a:rPr lang="vi-VN" sz="2400" b="0" baseline="-25000" dirty="0"/>
              <a:t>1</a:t>
            </a:r>
            <a:r>
              <a:rPr lang="vi-VN" sz="2400" b="0" dirty="0"/>
              <a:t>, ..., v</a:t>
            </a:r>
            <a:r>
              <a:rPr lang="vi-VN" sz="2400" b="0" baseline="-25000" dirty="0"/>
              <a:t>M-1</a:t>
            </a:r>
            <a:r>
              <a:rPr lang="vi-VN" sz="2400" b="0" dirty="0"/>
              <a:t> ), E = (e</a:t>
            </a:r>
            <a:r>
              <a:rPr lang="vi-VN" sz="2400" b="0" baseline="-25000" dirty="0"/>
              <a:t>0</a:t>
            </a:r>
            <a:r>
              <a:rPr lang="vi-VN" sz="2400" b="0" dirty="0"/>
              <a:t>, e</a:t>
            </a:r>
            <a:r>
              <a:rPr lang="vi-VN" sz="2400" b="0" baseline="-25000" dirty="0"/>
              <a:t>1</a:t>
            </a:r>
            <a:r>
              <a:rPr lang="vi-VN" sz="2400" b="0" dirty="0"/>
              <a:t>, ..., e</a:t>
            </a:r>
            <a:r>
              <a:rPr lang="vi-VN" sz="2400" b="0" baseline="-25000" dirty="0"/>
              <a:t>N-1</a:t>
            </a:r>
            <a:r>
              <a:rPr lang="vi-VN" sz="2400" b="0" dirty="0"/>
              <a:t> ) </a:t>
            </a:r>
          </a:p>
          <a:p>
            <a:r>
              <a:rPr lang="vi-VN" sz="2400" dirty="0"/>
              <a:t>Sử dụng: </a:t>
            </a:r>
          </a:p>
          <a:p>
            <a:pPr lvl="1"/>
            <a:r>
              <a:rPr lang="vi-VN" sz="2000" dirty="0"/>
              <a:t>Mảng AV[M]: lưu đỉnh của đồ thị (M là số đỉnh của đồ thị)</a:t>
            </a:r>
          </a:p>
          <a:p>
            <a:pPr lvl="1"/>
            <a:r>
              <a:rPr lang="en-US" sz="2000" dirty="0"/>
              <a:t>L</a:t>
            </a:r>
            <a:r>
              <a:rPr lang="vi-VN" sz="2000" dirty="0"/>
              <a:t>ưu cạnh:</a:t>
            </a:r>
          </a:p>
          <a:p>
            <a:pPr lvl="2"/>
            <a:r>
              <a:rPr lang="en-US" sz="2000" dirty="0"/>
              <a:t>M</a:t>
            </a:r>
            <a:r>
              <a:rPr lang="vi-VN" sz="2000" dirty="0"/>
              <a:t>a trận </a:t>
            </a:r>
            <a:r>
              <a:rPr lang="vi-VN" sz="2000" dirty="0">
                <a:solidFill>
                  <a:srgbClr val="FF0000"/>
                </a:solidFill>
              </a:rPr>
              <a:t>đỉnh kề</a:t>
            </a:r>
            <a:r>
              <a:rPr lang="vi-VN" sz="2000" dirty="0"/>
              <a:t>: mảng hai chiều AE[MxM] để lưu trữ các cạnh </a:t>
            </a:r>
            <a:endParaRPr lang="en-US" sz="2000" dirty="0"/>
          </a:p>
          <a:p>
            <a:pPr lvl="3"/>
            <a:r>
              <a:rPr lang="vi-VN" sz="1850" dirty="0"/>
              <a:t>nếu e</a:t>
            </a:r>
            <a:r>
              <a:rPr lang="vi-VN" sz="1850" baseline="-25000" dirty="0"/>
              <a:t>i</a:t>
            </a:r>
            <a:r>
              <a:rPr lang="vi-VN" sz="1850" dirty="0"/>
              <a:t> = (v</a:t>
            </a:r>
            <a:r>
              <a:rPr lang="vi-VN" sz="1850" baseline="-25000" dirty="0"/>
              <a:t>j</a:t>
            </a:r>
            <a:r>
              <a:rPr lang="vi-VN" sz="1850" dirty="0"/>
              <a:t>, v</a:t>
            </a:r>
            <a:r>
              <a:rPr lang="vi-VN" sz="1850" baseline="-25000" dirty="0"/>
              <a:t>k</a:t>
            </a:r>
            <a:r>
              <a:rPr lang="vi-VN" sz="1850" dirty="0"/>
              <a:t>) thì AE</a:t>
            </a:r>
            <a:r>
              <a:rPr lang="en-US" sz="1850" dirty="0"/>
              <a:t>[</a:t>
            </a:r>
            <a:r>
              <a:rPr lang="vi-VN" sz="1850" dirty="0"/>
              <a:t>j, k</a:t>
            </a:r>
            <a:r>
              <a:rPr lang="en-US" sz="1850" dirty="0"/>
              <a:t>]</a:t>
            </a:r>
            <a:r>
              <a:rPr lang="vi-VN" sz="1850" dirty="0"/>
              <a:t> = </a:t>
            </a:r>
            <a:r>
              <a:rPr lang="en-US" sz="1850" dirty="0"/>
              <a:t>true (</a:t>
            </a:r>
            <a:r>
              <a:rPr lang="en-US" sz="1850" dirty="0" err="1"/>
              <a:t>đồ</a:t>
            </a:r>
            <a:r>
              <a:rPr lang="en-US" sz="1850" dirty="0"/>
              <a:t> </a:t>
            </a:r>
            <a:r>
              <a:rPr lang="en-US" sz="1850" dirty="0" err="1"/>
              <a:t>thị</a:t>
            </a:r>
            <a:r>
              <a:rPr lang="en-US" sz="1850" dirty="0"/>
              <a:t> </a:t>
            </a:r>
            <a:r>
              <a:rPr lang="en-US" sz="1850" dirty="0" err="1"/>
              <a:t>không</a:t>
            </a:r>
            <a:r>
              <a:rPr lang="en-US" sz="1850" dirty="0"/>
              <a:t> </a:t>
            </a:r>
            <a:r>
              <a:rPr lang="en-US" sz="1850" dirty="0" err="1"/>
              <a:t>trọng</a:t>
            </a:r>
            <a:r>
              <a:rPr lang="en-US" sz="1850" dirty="0"/>
              <a:t> </a:t>
            </a:r>
            <a:r>
              <a:rPr lang="en-US" sz="1850" dirty="0" err="1"/>
              <a:t>số</a:t>
            </a:r>
            <a:r>
              <a:rPr lang="en-US" sz="1850" dirty="0"/>
              <a:t>)</a:t>
            </a:r>
          </a:p>
          <a:p>
            <a:pPr marL="1028700" lvl="3" indent="0">
              <a:buNone/>
            </a:pPr>
            <a:r>
              <a:rPr lang="en-US" sz="1850" dirty="0"/>
              <a:t>                                            </a:t>
            </a:r>
            <a:r>
              <a:rPr lang="en-US" sz="1850" dirty="0" err="1"/>
              <a:t>hoặc</a:t>
            </a:r>
            <a:r>
              <a:rPr lang="en-US" sz="1850" dirty="0"/>
              <a:t> = </a:t>
            </a:r>
            <a:r>
              <a:rPr lang="en-US" sz="1850" dirty="0" err="1"/>
              <a:t>w</a:t>
            </a:r>
            <a:r>
              <a:rPr lang="en-US" sz="1850" baseline="-25000" dirty="0" err="1"/>
              <a:t>ei</a:t>
            </a:r>
            <a:r>
              <a:rPr lang="en-US" sz="1850" dirty="0"/>
              <a:t> (</a:t>
            </a:r>
            <a:r>
              <a:rPr lang="en-US" sz="1850" dirty="0" err="1"/>
              <a:t>đồ</a:t>
            </a:r>
            <a:r>
              <a:rPr lang="en-US" sz="1850" dirty="0"/>
              <a:t> </a:t>
            </a:r>
            <a:r>
              <a:rPr lang="en-US" sz="1850" dirty="0" err="1"/>
              <a:t>thị</a:t>
            </a:r>
            <a:r>
              <a:rPr lang="en-US" sz="1850" dirty="0"/>
              <a:t> </a:t>
            </a:r>
            <a:r>
              <a:rPr lang="en-US" sz="1850" dirty="0" err="1"/>
              <a:t>có</a:t>
            </a:r>
            <a:r>
              <a:rPr lang="en-US" sz="1850" dirty="0"/>
              <a:t> </a:t>
            </a:r>
            <a:r>
              <a:rPr lang="en-US" sz="1850" dirty="0" err="1"/>
              <a:t>trọng</a:t>
            </a:r>
            <a:r>
              <a:rPr lang="en-US" sz="1850" dirty="0"/>
              <a:t> </a:t>
            </a:r>
            <a:r>
              <a:rPr lang="en-US" sz="1850" dirty="0" err="1"/>
              <a:t>số</a:t>
            </a:r>
            <a:r>
              <a:rPr lang="en-US" sz="1850" dirty="0"/>
              <a:t>)</a:t>
            </a:r>
            <a:endParaRPr lang="en-US" sz="1850" baseline="-25000" dirty="0"/>
          </a:p>
          <a:p>
            <a:pPr lvl="3"/>
            <a:endParaRPr lang="en-US" sz="1850" dirty="0"/>
          </a:p>
          <a:p>
            <a:pPr lvl="2"/>
            <a:r>
              <a:rPr lang="en-US" sz="2000" dirty="0"/>
              <a:t>M</a:t>
            </a:r>
            <a:r>
              <a:rPr lang="vi-VN" sz="2000" dirty="0"/>
              <a:t>a trận </a:t>
            </a:r>
            <a:r>
              <a:rPr lang="vi-VN" sz="2000" dirty="0">
                <a:solidFill>
                  <a:srgbClr val="FF0000"/>
                </a:solidFill>
              </a:rPr>
              <a:t>cạnh kề</a:t>
            </a:r>
            <a:r>
              <a:rPr lang="vi-VN" sz="2000" dirty="0"/>
              <a:t>: cần </a:t>
            </a:r>
            <a:r>
              <a:rPr lang="en-US" sz="2000" dirty="0"/>
              <a:t>2</a:t>
            </a:r>
            <a:r>
              <a:rPr lang="vi-VN" sz="2000" dirty="0"/>
              <a:t> mảng</a:t>
            </a:r>
          </a:p>
          <a:p>
            <a:pPr lvl="3"/>
            <a:r>
              <a:rPr lang="vi-VN" sz="1800" dirty="0"/>
              <a:t>E[N]: lưu các cạnh </a:t>
            </a:r>
            <a:r>
              <a:rPr lang="en-US" sz="1800" dirty="0"/>
              <a:t>(</a:t>
            </a:r>
            <a:r>
              <a:rPr lang="vi-VN" sz="1800" dirty="0"/>
              <a:t>nếu đồ thị không có trọng số,</a:t>
            </a:r>
            <a:r>
              <a:rPr lang="en-US" sz="1800" dirty="0"/>
              <a:t> </a:t>
            </a:r>
            <a:r>
              <a:rPr lang="en-US" sz="1800" dirty="0" err="1"/>
              <a:t>giá</a:t>
            </a:r>
            <a:r>
              <a:rPr lang="en-US" sz="1800" dirty="0"/>
              <a:t> </a:t>
            </a:r>
            <a:r>
              <a:rPr lang="en-US" sz="1800" dirty="0" err="1"/>
              <a:t>trị</a:t>
            </a:r>
            <a:r>
              <a:rPr lang="en-US" sz="1800" dirty="0"/>
              <a:t> </a:t>
            </a:r>
            <a:r>
              <a:rPr lang="en-US" sz="1800" dirty="0" err="1"/>
              <a:t>các</a:t>
            </a:r>
            <a:r>
              <a:rPr lang="en-US" sz="1800" dirty="0"/>
              <a:t> </a:t>
            </a:r>
            <a:r>
              <a:rPr lang="en-US" sz="1800" dirty="0" err="1"/>
              <a:t>cạnh</a:t>
            </a:r>
            <a:r>
              <a:rPr lang="en-US" sz="1800" dirty="0"/>
              <a:t> </a:t>
            </a:r>
            <a:r>
              <a:rPr lang="en-US" sz="1800" dirty="0" err="1"/>
              <a:t>là</a:t>
            </a:r>
            <a:r>
              <a:rPr lang="en-US" sz="1800" dirty="0"/>
              <a:t> </a:t>
            </a:r>
            <a:r>
              <a:rPr lang="en-US" sz="1800" dirty="0" err="1"/>
              <a:t>không</a:t>
            </a:r>
            <a:r>
              <a:rPr lang="en-US" sz="1800" dirty="0"/>
              <a:t> </a:t>
            </a:r>
            <a:r>
              <a:rPr lang="en-US" sz="1800" dirty="0" err="1"/>
              <a:t>quan</a:t>
            </a:r>
            <a:r>
              <a:rPr lang="en-US" sz="1800" dirty="0"/>
              <a:t> </a:t>
            </a:r>
            <a:r>
              <a:rPr lang="en-US" sz="1800" dirty="0" err="1"/>
              <a:t>trọng</a:t>
            </a:r>
            <a:r>
              <a:rPr lang="en-US" sz="1800" dirty="0"/>
              <a:t>, </a:t>
            </a:r>
            <a:r>
              <a:rPr lang="vi-VN" sz="1800" dirty="0"/>
              <a:t>mảng E có</a:t>
            </a:r>
            <a:r>
              <a:rPr lang="en-US" sz="1800" dirty="0"/>
              <a:t> </a:t>
            </a:r>
            <a:r>
              <a:rPr lang="vi-VN" sz="1800" dirty="0"/>
              <a:t>thể bỏ</a:t>
            </a:r>
            <a:r>
              <a:rPr lang="en-US" sz="1800" dirty="0"/>
              <a:t>). </a:t>
            </a:r>
            <a:endParaRPr lang="vi-VN" sz="1800" dirty="0"/>
          </a:p>
          <a:p>
            <a:pPr lvl="3"/>
            <a:r>
              <a:rPr lang="vi-VN" sz="1800" dirty="0"/>
              <a:t>AE[MxN]: lưu trạng thái các cạnh kề</a:t>
            </a:r>
            <a:endParaRPr lang="en-US" sz="1800" dirty="0"/>
          </a:p>
          <a:p>
            <a:pPr lvl="4"/>
            <a:r>
              <a:rPr lang="vi-VN" sz="1800" dirty="0"/>
              <a:t>nếu cạnh</a:t>
            </a:r>
            <a:r>
              <a:rPr lang="en-US" sz="1800" dirty="0"/>
              <a:t> </a:t>
            </a:r>
            <a:r>
              <a:rPr lang="vi-VN" sz="1800" dirty="0"/>
              <a:t>e</a:t>
            </a:r>
            <a:r>
              <a:rPr lang="vi-VN" sz="1800" baseline="-25000" dirty="0"/>
              <a:t>i</a:t>
            </a:r>
            <a:r>
              <a:rPr lang="vi-VN" sz="1800" dirty="0"/>
              <a:t> kề với đỉnh v</a:t>
            </a:r>
            <a:r>
              <a:rPr lang="vi-VN" sz="1800" baseline="-25000" dirty="0"/>
              <a:t>j</a:t>
            </a:r>
            <a:r>
              <a:rPr lang="vi-VN" sz="1800" dirty="0"/>
              <a:t> thì AE[j, i] = true.</a:t>
            </a:r>
          </a:p>
        </p:txBody>
      </p:sp>
    </p:spTree>
    <p:extLst>
      <p:ext uri="{BB962C8B-B14F-4D97-AF65-F5344CB8AC3E}">
        <p14:creationId xmlns:p14="http://schemas.microsoft.com/office/powerpoint/2010/main" val="250010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Biểu diễn đồ thị - ma trận kề</a:t>
            </a:r>
          </a:p>
        </p:txBody>
      </p:sp>
      <p:sp>
        <p:nvSpPr>
          <p:cNvPr id="7" name="Content Placeholder 6"/>
          <p:cNvSpPr>
            <a:spLocks noGrp="1"/>
          </p:cNvSpPr>
          <p:nvPr>
            <p:ph sz="quarter" idx="13"/>
          </p:nvPr>
        </p:nvSpPr>
        <p:spPr/>
        <p:txBody>
          <a:bodyPr/>
          <a:lstStyle/>
          <a:p>
            <a:endParaRPr lang="en-US" dirty="0"/>
          </a:p>
        </p:txBody>
      </p:sp>
      <p:pic>
        <p:nvPicPr>
          <p:cNvPr id="4" name="Picture 3"/>
          <p:cNvPicPr>
            <a:picLocks noChangeAspect="1"/>
          </p:cNvPicPr>
          <p:nvPr/>
        </p:nvPicPr>
        <p:blipFill>
          <a:blip r:embed="rId3"/>
          <a:stretch>
            <a:fillRect/>
          </a:stretch>
        </p:blipFill>
        <p:spPr>
          <a:xfrm>
            <a:off x="381000" y="1828800"/>
            <a:ext cx="2598063" cy="2422349"/>
          </a:xfrm>
          <a:prstGeom prst="rect">
            <a:avLst/>
          </a:prstGeom>
        </p:spPr>
      </p:pic>
      <p:pic>
        <p:nvPicPr>
          <p:cNvPr id="5" name="Picture 4"/>
          <p:cNvPicPr>
            <a:picLocks noChangeAspect="1"/>
          </p:cNvPicPr>
          <p:nvPr/>
        </p:nvPicPr>
        <p:blipFill>
          <a:blip r:embed="rId4"/>
          <a:stretch>
            <a:fillRect/>
          </a:stretch>
        </p:blipFill>
        <p:spPr>
          <a:xfrm>
            <a:off x="3348070" y="1447795"/>
            <a:ext cx="2336672" cy="3057476"/>
          </a:xfrm>
          <a:prstGeom prst="rect">
            <a:avLst/>
          </a:prstGeom>
        </p:spPr>
      </p:pic>
      <p:pic>
        <p:nvPicPr>
          <p:cNvPr id="6" name="Picture 5"/>
          <p:cNvPicPr>
            <a:picLocks noChangeAspect="1"/>
          </p:cNvPicPr>
          <p:nvPr/>
        </p:nvPicPr>
        <p:blipFill>
          <a:blip r:embed="rId5"/>
          <a:stretch>
            <a:fillRect/>
          </a:stretch>
        </p:blipFill>
        <p:spPr>
          <a:xfrm>
            <a:off x="6087419" y="1495627"/>
            <a:ext cx="2819732" cy="2961812"/>
          </a:xfrm>
          <a:prstGeom prst="rect">
            <a:avLst/>
          </a:prstGeom>
        </p:spPr>
      </p:pic>
      <p:sp>
        <p:nvSpPr>
          <p:cNvPr id="8" name="Rectangle 7"/>
          <p:cNvSpPr/>
          <p:nvPr/>
        </p:nvSpPr>
        <p:spPr>
          <a:xfrm>
            <a:off x="3124200" y="4559484"/>
            <a:ext cx="4598695" cy="1200329"/>
          </a:xfrm>
          <a:prstGeom prst="rect">
            <a:avLst/>
          </a:prstGeom>
        </p:spPr>
        <p:txBody>
          <a:bodyPr wrap="none">
            <a:spAutoFit/>
          </a:bodyPr>
          <a:lstStyle/>
          <a:p>
            <a:pPr marL="285750" indent="-285750">
              <a:buFont typeface="Wingdings" panose="05000000000000000000" pitchFamily="2" charset="2"/>
              <a:buChar char="à"/>
            </a:pPr>
            <a:r>
              <a:rPr lang="en-US" dirty="0" err="1">
                <a:latin typeface="Lato" panose="020F0502020204030203"/>
              </a:rPr>
              <a:t>Thường</a:t>
            </a:r>
            <a:r>
              <a:rPr lang="en-US" dirty="0">
                <a:latin typeface="Lato" panose="020F0502020204030203"/>
              </a:rPr>
              <a:t> </a:t>
            </a:r>
            <a:r>
              <a:rPr lang="en-US" dirty="0" err="1">
                <a:latin typeface="Lato" panose="020F0502020204030203"/>
              </a:rPr>
              <a:t>được</a:t>
            </a:r>
            <a:r>
              <a:rPr lang="en-US" dirty="0">
                <a:latin typeface="Lato" panose="020F0502020204030203"/>
              </a:rPr>
              <a:t> </a:t>
            </a:r>
            <a:r>
              <a:rPr lang="en-US" dirty="0" err="1">
                <a:latin typeface="Lato" panose="020F0502020204030203"/>
              </a:rPr>
              <a:t>sử</a:t>
            </a:r>
            <a:r>
              <a:rPr lang="en-US" dirty="0">
                <a:latin typeface="Lato" panose="020F0502020204030203"/>
              </a:rPr>
              <a:t> </a:t>
            </a:r>
            <a:r>
              <a:rPr lang="en-US" dirty="0" err="1">
                <a:latin typeface="Lato" panose="020F0502020204030203"/>
              </a:rPr>
              <a:t>dụng</a:t>
            </a:r>
            <a:r>
              <a:rPr lang="en-US" dirty="0">
                <a:latin typeface="Lato" panose="020F0502020204030203"/>
              </a:rPr>
              <a:t> </a:t>
            </a:r>
            <a:r>
              <a:rPr lang="en-US" dirty="0" err="1">
                <a:latin typeface="Lato" panose="020F0502020204030203"/>
              </a:rPr>
              <a:t>hơn</a:t>
            </a:r>
            <a:endParaRPr lang="en-US" dirty="0">
              <a:latin typeface="Lato" panose="020F0502020204030203"/>
            </a:endParaRPr>
          </a:p>
          <a:p>
            <a:r>
              <a:rPr lang="en-US" dirty="0">
                <a:latin typeface="Lato" panose="020F0502020204030203"/>
              </a:rPr>
              <a:t>H</a:t>
            </a:r>
            <a:r>
              <a:rPr lang="vi-VN" dirty="0">
                <a:latin typeface="Lato" panose="020F0502020204030203"/>
              </a:rPr>
              <a:t>ạn chế</a:t>
            </a:r>
            <a:r>
              <a:rPr lang="en-US" dirty="0">
                <a:latin typeface="Lato" panose="020F0502020204030203"/>
              </a:rPr>
              <a:t>:</a:t>
            </a:r>
          </a:p>
          <a:p>
            <a:r>
              <a:rPr lang="en-US" dirty="0">
                <a:latin typeface="Lato" panose="020F0502020204030203"/>
              </a:rPr>
              <a:t>+</a:t>
            </a:r>
            <a:r>
              <a:rPr lang="vi-VN" dirty="0">
                <a:latin typeface="Lato" panose="020F0502020204030203"/>
              </a:rPr>
              <a:t> hạn chế</a:t>
            </a:r>
            <a:r>
              <a:rPr lang="en-US" dirty="0">
                <a:latin typeface="Lato" panose="020F0502020204030203"/>
              </a:rPr>
              <a:t> </a:t>
            </a:r>
            <a:r>
              <a:rPr lang="vi-VN" dirty="0">
                <a:latin typeface="Lato" panose="020F0502020204030203"/>
              </a:rPr>
              <a:t>số lượng đỉnh tối đa của đồ thị</a:t>
            </a:r>
            <a:endParaRPr lang="en-US" dirty="0">
              <a:latin typeface="Lato" panose="020F0502020204030203"/>
            </a:endParaRPr>
          </a:p>
          <a:p>
            <a:r>
              <a:rPr lang="en-US" dirty="0">
                <a:latin typeface="Lato" panose="020F0502020204030203"/>
              </a:rPr>
              <a:t>+ </a:t>
            </a:r>
            <a:r>
              <a:rPr lang="vi-VN" dirty="0">
                <a:latin typeface="Lato" panose="020F0502020204030203"/>
              </a:rPr>
              <a:t>đồ thị vô</a:t>
            </a:r>
            <a:r>
              <a:rPr lang="en-US" dirty="0">
                <a:latin typeface="Lato" panose="020F0502020204030203"/>
              </a:rPr>
              <a:t> </a:t>
            </a:r>
            <a:r>
              <a:rPr lang="vi-VN" dirty="0">
                <a:latin typeface="Lato" panose="020F0502020204030203"/>
              </a:rPr>
              <a:t>hướng</a:t>
            </a:r>
            <a:r>
              <a:rPr lang="en-US" dirty="0">
                <a:latin typeface="Lato" panose="020F0502020204030203"/>
              </a:rPr>
              <a:t> </a:t>
            </a:r>
            <a:r>
              <a:rPr lang="en-US" dirty="0">
                <a:latin typeface="Lato" panose="020F0502020204030203"/>
                <a:sym typeface="Wingdings" panose="05000000000000000000" pitchFamily="2" charset="2"/>
              </a:rPr>
              <a:t>--&gt; </a:t>
            </a:r>
            <a:r>
              <a:rPr lang="vi-VN" dirty="0">
                <a:latin typeface="Lato" panose="020F0502020204030203"/>
              </a:rPr>
              <a:t>ma trận đối xứng</a:t>
            </a:r>
            <a:r>
              <a:rPr lang="en-US" dirty="0">
                <a:latin typeface="Lato" panose="020F0502020204030203"/>
              </a:rPr>
              <a:t>: </a:t>
            </a:r>
            <a:r>
              <a:rPr lang="en-US" dirty="0" err="1">
                <a:latin typeface="Lato" panose="020F0502020204030203"/>
              </a:rPr>
              <a:t>lãng</a:t>
            </a:r>
            <a:r>
              <a:rPr lang="en-US" dirty="0">
                <a:latin typeface="Lato" panose="020F0502020204030203"/>
              </a:rPr>
              <a:t> </a:t>
            </a:r>
            <a:r>
              <a:rPr lang="en-US" dirty="0" err="1">
                <a:latin typeface="Lato" panose="020F0502020204030203"/>
              </a:rPr>
              <a:t>phí</a:t>
            </a:r>
            <a:endParaRPr lang="en-US" dirty="0">
              <a:latin typeface="Lato" panose="020F0502020204030203"/>
            </a:endParaRPr>
          </a:p>
        </p:txBody>
      </p:sp>
    </p:spTree>
    <p:extLst>
      <p:ext uri="{BB962C8B-B14F-4D97-AF65-F5344CB8AC3E}">
        <p14:creationId xmlns:p14="http://schemas.microsoft.com/office/powerpoint/2010/main" val="306768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Sử dụng cấu trúc móc nối</a:t>
            </a:r>
          </a:p>
        </p:txBody>
      </p:sp>
      <p:sp>
        <p:nvSpPr>
          <p:cNvPr id="3" name="Content Placeholder 2"/>
          <p:cNvSpPr>
            <a:spLocks noGrp="1"/>
          </p:cNvSpPr>
          <p:nvPr>
            <p:ph sz="quarter" idx="13"/>
          </p:nvPr>
        </p:nvSpPr>
        <p:spPr>
          <a:xfrm>
            <a:off x="158623" y="841249"/>
            <a:ext cx="8909177" cy="5303393"/>
          </a:xfrm>
        </p:spPr>
        <p:txBody>
          <a:bodyPr>
            <a:noAutofit/>
          </a:bodyPr>
          <a:lstStyle/>
          <a:p>
            <a:r>
              <a:rPr lang="vi-VN" sz="2400" dirty="0"/>
              <a:t>Cài đặt đồ thị G(V,E) : V = (v</a:t>
            </a:r>
            <a:r>
              <a:rPr lang="vi-VN" sz="2400" baseline="-25000" dirty="0"/>
              <a:t>0</a:t>
            </a:r>
            <a:r>
              <a:rPr lang="vi-VN" sz="2400" dirty="0"/>
              <a:t>, v</a:t>
            </a:r>
            <a:r>
              <a:rPr lang="vi-VN" sz="2400" baseline="-25000" dirty="0"/>
              <a:t>1</a:t>
            </a:r>
            <a:r>
              <a:rPr lang="vi-VN" sz="2400" dirty="0"/>
              <a:t>, ..., v</a:t>
            </a:r>
            <a:r>
              <a:rPr lang="vi-VN" sz="2400" baseline="-25000" dirty="0"/>
              <a:t>M-1</a:t>
            </a:r>
            <a:r>
              <a:rPr lang="vi-VN" sz="2400" dirty="0"/>
              <a:t> ), E = (e</a:t>
            </a:r>
            <a:r>
              <a:rPr lang="vi-VN" sz="2400" baseline="-25000" dirty="0"/>
              <a:t>0</a:t>
            </a:r>
            <a:r>
              <a:rPr lang="vi-VN" sz="2400" dirty="0"/>
              <a:t>, e</a:t>
            </a:r>
            <a:r>
              <a:rPr lang="vi-VN" sz="2400" baseline="-25000" dirty="0"/>
              <a:t>1</a:t>
            </a:r>
            <a:r>
              <a:rPr lang="vi-VN" sz="2400" dirty="0"/>
              <a:t>, ..., e</a:t>
            </a:r>
            <a:r>
              <a:rPr lang="vi-VN" sz="2400" baseline="-25000" dirty="0"/>
              <a:t>N-1</a:t>
            </a:r>
            <a:r>
              <a:rPr lang="vi-VN" sz="2400" dirty="0"/>
              <a:t> ) </a:t>
            </a:r>
          </a:p>
          <a:p>
            <a:pPr lvl="1"/>
            <a:r>
              <a:rPr lang="vi-VN" sz="2100" dirty="0"/>
              <a:t>Tập các đỉnh</a:t>
            </a:r>
            <a:r>
              <a:rPr lang="en-US" sz="2100" dirty="0"/>
              <a:t>: </a:t>
            </a:r>
            <a:r>
              <a:rPr lang="vi-VN" sz="2100" dirty="0"/>
              <a:t> biểu diễn bằng một danh sách móc nối</a:t>
            </a:r>
            <a:r>
              <a:rPr lang="en-US" sz="2100" dirty="0"/>
              <a:t> (</a:t>
            </a:r>
            <a:r>
              <a:rPr lang="en-US" sz="2100" dirty="0" err="1"/>
              <a:t>đơn</a:t>
            </a:r>
            <a:r>
              <a:rPr lang="en-US" sz="2100" dirty="0"/>
              <a:t>)</a:t>
            </a:r>
            <a:endParaRPr lang="en-US" sz="2100" b="0" dirty="0"/>
          </a:p>
          <a:p>
            <a:pPr lvl="1"/>
            <a:r>
              <a:rPr lang="vi-VN" sz="2100" dirty="0"/>
              <a:t>Tập các cạnh</a:t>
            </a:r>
            <a:r>
              <a:rPr lang="en-US" sz="2100" dirty="0"/>
              <a:t>: </a:t>
            </a:r>
            <a:r>
              <a:rPr lang="en-US" sz="2100" dirty="0" err="1"/>
              <a:t>cũng</a:t>
            </a:r>
            <a:r>
              <a:rPr lang="en-US" sz="2100" dirty="0"/>
              <a:t> </a:t>
            </a:r>
            <a:r>
              <a:rPr lang="vi-VN" sz="2100" dirty="0"/>
              <a:t>biểu diễn bằng danh sách móc nối</a:t>
            </a:r>
            <a:endParaRPr lang="en-US" sz="2100" b="0" dirty="0"/>
          </a:p>
          <a:p>
            <a:pPr lvl="2"/>
            <a:r>
              <a:rPr lang="en-US" sz="1800" dirty="0" err="1"/>
              <a:t>Tổ</a:t>
            </a:r>
            <a:r>
              <a:rPr lang="en-US" sz="1800" dirty="0"/>
              <a:t> </a:t>
            </a:r>
            <a:r>
              <a:rPr lang="en-US" sz="1800" dirty="0" err="1"/>
              <a:t>chức</a:t>
            </a:r>
            <a:r>
              <a:rPr lang="en-US" sz="1800" dirty="0"/>
              <a:t> </a:t>
            </a:r>
            <a:r>
              <a:rPr lang="en-US" sz="1800" dirty="0" err="1"/>
              <a:t>danh</a:t>
            </a:r>
            <a:r>
              <a:rPr lang="en-US" sz="1800" dirty="0"/>
              <a:t> </a:t>
            </a:r>
            <a:r>
              <a:rPr lang="en-US" sz="1800" dirty="0" err="1"/>
              <a:t>sách</a:t>
            </a:r>
            <a:r>
              <a:rPr lang="en-US" sz="1800" dirty="0"/>
              <a:t> </a:t>
            </a:r>
            <a:r>
              <a:rPr lang="en-US" sz="1800" dirty="0" err="1"/>
              <a:t>đỉnh</a:t>
            </a:r>
            <a:r>
              <a:rPr lang="en-US" sz="1800" dirty="0"/>
              <a:t> </a:t>
            </a:r>
            <a:r>
              <a:rPr lang="en-US" sz="1800" dirty="0" err="1"/>
              <a:t>kề</a:t>
            </a:r>
            <a:r>
              <a:rPr lang="en-US" sz="1800" dirty="0"/>
              <a:t>: </a:t>
            </a:r>
            <a:r>
              <a:rPr lang="en-US" sz="1800" dirty="0" err="1"/>
              <a:t>các</a:t>
            </a:r>
            <a:r>
              <a:rPr lang="en-US" sz="1800" dirty="0"/>
              <a:t> </a:t>
            </a:r>
            <a:r>
              <a:rPr lang="en-US" sz="1800" dirty="0" err="1"/>
              <a:t>đỉnh</a:t>
            </a:r>
            <a:r>
              <a:rPr lang="en-US" sz="1800" dirty="0"/>
              <a:t> </a:t>
            </a:r>
            <a:r>
              <a:rPr lang="en-US" sz="1800" dirty="0" err="1"/>
              <a:t>kề</a:t>
            </a:r>
            <a:r>
              <a:rPr lang="en-US" sz="1800" dirty="0"/>
              <a:t> </a:t>
            </a:r>
            <a:r>
              <a:rPr lang="en-US" sz="1800" dirty="0" err="1"/>
              <a:t>với</a:t>
            </a:r>
            <a:r>
              <a:rPr lang="en-US" sz="1800" dirty="0"/>
              <a:t> </a:t>
            </a:r>
            <a:r>
              <a:rPr lang="en-US" sz="1800" dirty="0" err="1"/>
              <a:t>một</a:t>
            </a:r>
            <a:r>
              <a:rPr lang="en-US" sz="1800" dirty="0"/>
              <a:t> </a:t>
            </a:r>
            <a:r>
              <a:rPr lang="en-US" sz="1800" dirty="0" err="1"/>
              <a:t>đỉnh</a:t>
            </a:r>
            <a:r>
              <a:rPr lang="en-US" sz="1800" dirty="0"/>
              <a:t> </a:t>
            </a:r>
            <a:r>
              <a:rPr lang="en-US" sz="1800" dirty="0" err="1"/>
              <a:t>sẽ</a:t>
            </a:r>
            <a:r>
              <a:rPr lang="en-US" sz="1800" dirty="0"/>
              <a:t> </a:t>
            </a:r>
            <a:r>
              <a:rPr lang="en-US" sz="1800" dirty="0" err="1"/>
              <a:t>nằm</a:t>
            </a:r>
            <a:r>
              <a:rPr lang="en-US" sz="1800" dirty="0"/>
              <a:t> </a:t>
            </a:r>
            <a:r>
              <a:rPr lang="en-US" sz="1800" dirty="0" err="1"/>
              <a:t>trong</a:t>
            </a:r>
            <a:r>
              <a:rPr lang="en-US" sz="1800" dirty="0"/>
              <a:t> </a:t>
            </a:r>
            <a:r>
              <a:rPr lang="en-US" sz="1800" dirty="0" err="1"/>
              <a:t>danh</a:t>
            </a:r>
            <a:r>
              <a:rPr lang="en-US" sz="1800" dirty="0"/>
              <a:t> </a:t>
            </a:r>
            <a:r>
              <a:rPr lang="en-US" sz="1800" dirty="0" err="1"/>
              <a:t>sách</a:t>
            </a:r>
            <a:endParaRPr lang="en-US" sz="1800" dirty="0"/>
          </a:p>
        </p:txBody>
      </p:sp>
      <p:pic>
        <p:nvPicPr>
          <p:cNvPr id="5" name="Picture 4"/>
          <p:cNvPicPr>
            <a:picLocks noChangeAspect="1"/>
          </p:cNvPicPr>
          <p:nvPr/>
        </p:nvPicPr>
        <p:blipFill>
          <a:blip r:embed="rId3"/>
          <a:stretch>
            <a:fillRect/>
          </a:stretch>
        </p:blipFill>
        <p:spPr>
          <a:xfrm>
            <a:off x="457200" y="3242474"/>
            <a:ext cx="2598063" cy="2422349"/>
          </a:xfrm>
          <a:prstGeom prst="rect">
            <a:avLst/>
          </a:prstGeom>
        </p:spPr>
      </p:pic>
      <p:grpSp>
        <p:nvGrpSpPr>
          <p:cNvPr id="8" name="Group 7"/>
          <p:cNvGrpSpPr/>
          <p:nvPr/>
        </p:nvGrpSpPr>
        <p:grpSpPr>
          <a:xfrm>
            <a:off x="3429000" y="2937674"/>
            <a:ext cx="5334000" cy="3539326"/>
            <a:chOff x="3657600" y="2743200"/>
            <a:chExt cx="5105400" cy="3539326"/>
          </a:xfrm>
        </p:grpSpPr>
        <p:pic>
          <p:nvPicPr>
            <p:cNvPr id="6" name="Picture 5"/>
            <p:cNvPicPr>
              <a:picLocks noChangeAspect="1"/>
            </p:cNvPicPr>
            <p:nvPr/>
          </p:nvPicPr>
          <p:blipFill>
            <a:blip r:embed="rId4"/>
            <a:stretch>
              <a:fillRect/>
            </a:stretch>
          </p:blipFill>
          <p:spPr>
            <a:xfrm>
              <a:off x="3657600" y="2743200"/>
              <a:ext cx="5105400" cy="3539326"/>
            </a:xfrm>
            <a:prstGeom prst="rect">
              <a:avLst/>
            </a:prstGeom>
          </p:spPr>
        </p:pic>
        <p:sp>
          <p:nvSpPr>
            <p:cNvPr id="7" name="Rectangle 6"/>
            <p:cNvSpPr/>
            <p:nvPr/>
          </p:nvSpPr>
          <p:spPr>
            <a:xfrm>
              <a:off x="5334000" y="2743200"/>
              <a:ext cx="11430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5105400" y="2942084"/>
            <a:ext cx="2902654" cy="369332"/>
          </a:xfrm>
          <a:prstGeom prst="rect">
            <a:avLst/>
          </a:prstGeom>
        </p:spPr>
        <p:txBody>
          <a:bodyPr wrap="none">
            <a:spAutoFit/>
          </a:bodyPr>
          <a:lstStyle/>
          <a:p>
            <a:r>
              <a:rPr lang="en-US" dirty="0" err="1"/>
              <a:t>Tổ</a:t>
            </a:r>
            <a:r>
              <a:rPr lang="en-US" dirty="0"/>
              <a:t> </a:t>
            </a:r>
            <a:r>
              <a:rPr lang="en-US" dirty="0" err="1"/>
              <a:t>chức</a:t>
            </a:r>
            <a:r>
              <a:rPr lang="en-US" dirty="0"/>
              <a:t> </a:t>
            </a:r>
            <a:r>
              <a:rPr lang="en-US" dirty="0" err="1"/>
              <a:t>móc</a:t>
            </a:r>
            <a:r>
              <a:rPr lang="en-US" dirty="0"/>
              <a:t> </a:t>
            </a:r>
            <a:r>
              <a:rPr lang="en-US" dirty="0" err="1"/>
              <a:t>nối</a:t>
            </a:r>
            <a:r>
              <a:rPr lang="en-US" dirty="0"/>
              <a:t> </a:t>
            </a:r>
            <a:r>
              <a:rPr lang="en-US" dirty="0" err="1"/>
              <a:t>kiểu</a:t>
            </a:r>
            <a:r>
              <a:rPr lang="en-US" dirty="0"/>
              <a:t> </a:t>
            </a:r>
            <a:r>
              <a:rPr lang="en-US" dirty="0" err="1"/>
              <a:t>đỉnh</a:t>
            </a:r>
            <a:r>
              <a:rPr lang="en-US" dirty="0"/>
              <a:t> </a:t>
            </a:r>
            <a:r>
              <a:rPr lang="en-US" dirty="0" err="1"/>
              <a:t>kề</a:t>
            </a:r>
            <a:endParaRPr lang="en-US" dirty="0"/>
          </a:p>
        </p:txBody>
      </p:sp>
    </p:spTree>
    <p:extLst>
      <p:ext uri="{BB962C8B-B14F-4D97-AF65-F5344CB8AC3E}">
        <p14:creationId xmlns:p14="http://schemas.microsoft.com/office/powerpoint/2010/main" val="228026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3440952" y="3021486"/>
            <a:ext cx="5376672" cy="3684114"/>
            <a:chOff x="3440952" y="2771422"/>
            <a:chExt cx="5467971" cy="3827077"/>
          </a:xfrm>
        </p:grpSpPr>
        <p:pic>
          <p:nvPicPr>
            <p:cNvPr id="4" name="Picture 3"/>
            <p:cNvPicPr>
              <a:picLocks noChangeAspect="1"/>
            </p:cNvPicPr>
            <p:nvPr/>
          </p:nvPicPr>
          <p:blipFill>
            <a:blip r:embed="rId3"/>
            <a:stretch>
              <a:fillRect/>
            </a:stretch>
          </p:blipFill>
          <p:spPr>
            <a:xfrm>
              <a:off x="3440952" y="2771770"/>
              <a:ext cx="5467971" cy="3826729"/>
            </a:xfrm>
            <a:prstGeom prst="rect">
              <a:avLst/>
            </a:prstGeom>
          </p:spPr>
        </p:pic>
        <p:sp>
          <p:nvSpPr>
            <p:cNvPr id="10" name="Rectangle 9"/>
            <p:cNvSpPr/>
            <p:nvPr/>
          </p:nvSpPr>
          <p:spPr>
            <a:xfrm>
              <a:off x="5261327" y="2771422"/>
              <a:ext cx="1295400" cy="3003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vi-VN" dirty="0"/>
              <a:t>Sử dụng cấu trúc móc nối</a:t>
            </a:r>
          </a:p>
        </p:txBody>
      </p:sp>
      <p:sp>
        <p:nvSpPr>
          <p:cNvPr id="3" name="Content Placeholder 2"/>
          <p:cNvSpPr>
            <a:spLocks noGrp="1"/>
          </p:cNvSpPr>
          <p:nvPr>
            <p:ph sz="quarter" idx="13"/>
          </p:nvPr>
        </p:nvSpPr>
        <p:spPr>
          <a:xfrm>
            <a:off x="158623" y="841249"/>
            <a:ext cx="8909177" cy="5303393"/>
          </a:xfrm>
        </p:spPr>
        <p:txBody>
          <a:bodyPr>
            <a:noAutofit/>
          </a:bodyPr>
          <a:lstStyle/>
          <a:p>
            <a:r>
              <a:rPr lang="vi-VN" sz="2400" dirty="0"/>
              <a:t>Cài đặt đồ thị G(V,E) : V = (v</a:t>
            </a:r>
            <a:r>
              <a:rPr lang="vi-VN" sz="2400" baseline="-25000" dirty="0"/>
              <a:t>0</a:t>
            </a:r>
            <a:r>
              <a:rPr lang="vi-VN" sz="2400" dirty="0"/>
              <a:t>, v</a:t>
            </a:r>
            <a:r>
              <a:rPr lang="vi-VN" sz="2400" baseline="-25000" dirty="0"/>
              <a:t>1</a:t>
            </a:r>
            <a:r>
              <a:rPr lang="vi-VN" sz="2400" dirty="0"/>
              <a:t>, ..., v</a:t>
            </a:r>
            <a:r>
              <a:rPr lang="vi-VN" sz="2400" baseline="-25000" dirty="0"/>
              <a:t>M-1</a:t>
            </a:r>
            <a:r>
              <a:rPr lang="vi-VN" sz="2400" dirty="0"/>
              <a:t> ), E = (e</a:t>
            </a:r>
            <a:r>
              <a:rPr lang="vi-VN" sz="2400" baseline="-25000" dirty="0"/>
              <a:t>0</a:t>
            </a:r>
            <a:r>
              <a:rPr lang="vi-VN" sz="2400" dirty="0"/>
              <a:t>, e</a:t>
            </a:r>
            <a:r>
              <a:rPr lang="vi-VN" sz="2400" baseline="-25000" dirty="0"/>
              <a:t>1</a:t>
            </a:r>
            <a:r>
              <a:rPr lang="vi-VN" sz="2400" dirty="0"/>
              <a:t>, ..., e</a:t>
            </a:r>
            <a:r>
              <a:rPr lang="vi-VN" sz="2400" baseline="-25000" dirty="0"/>
              <a:t>N-1</a:t>
            </a:r>
            <a:r>
              <a:rPr lang="vi-VN" sz="2400" dirty="0"/>
              <a:t> ) </a:t>
            </a:r>
          </a:p>
          <a:p>
            <a:pPr lvl="1"/>
            <a:r>
              <a:rPr lang="vi-VN" sz="2100" dirty="0"/>
              <a:t>Tập các đỉnh</a:t>
            </a:r>
            <a:r>
              <a:rPr lang="en-US" sz="2100" dirty="0"/>
              <a:t>: </a:t>
            </a:r>
            <a:r>
              <a:rPr lang="vi-VN" sz="2100" dirty="0"/>
              <a:t> biểu diễn bằng một danh sách móc nối</a:t>
            </a:r>
            <a:r>
              <a:rPr lang="en-US" sz="2100" dirty="0"/>
              <a:t> (</a:t>
            </a:r>
            <a:r>
              <a:rPr lang="en-US" sz="2100" dirty="0" err="1"/>
              <a:t>đơn</a:t>
            </a:r>
            <a:r>
              <a:rPr lang="en-US" sz="2100" dirty="0"/>
              <a:t>)</a:t>
            </a:r>
            <a:endParaRPr lang="en-US" sz="2100" b="0" dirty="0"/>
          </a:p>
          <a:p>
            <a:pPr lvl="1"/>
            <a:r>
              <a:rPr lang="vi-VN" sz="2100" dirty="0"/>
              <a:t>Tập các cạnh</a:t>
            </a:r>
            <a:r>
              <a:rPr lang="en-US" sz="2100" dirty="0"/>
              <a:t>: </a:t>
            </a:r>
            <a:r>
              <a:rPr lang="en-US" sz="2100" dirty="0" err="1"/>
              <a:t>cũng</a:t>
            </a:r>
            <a:r>
              <a:rPr lang="en-US" sz="2100" dirty="0"/>
              <a:t> </a:t>
            </a:r>
            <a:r>
              <a:rPr lang="vi-VN" sz="2100" dirty="0"/>
              <a:t>biểu diễn bằng danh sách móc nối</a:t>
            </a:r>
            <a:endParaRPr lang="en-US" sz="2100" b="0" dirty="0"/>
          </a:p>
          <a:p>
            <a:pPr lvl="2"/>
            <a:r>
              <a:rPr lang="en-US" sz="1800" dirty="0" err="1"/>
              <a:t>Tổ</a:t>
            </a:r>
            <a:r>
              <a:rPr lang="en-US" sz="1800" dirty="0"/>
              <a:t> </a:t>
            </a:r>
            <a:r>
              <a:rPr lang="en-US" sz="1800" dirty="0" err="1"/>
              <a:t>chức</a:t>
            </a:r>
            <a:r>
              <a:rPr lang="en-US" sz="1800" dirty="0"/>
              <a:t> </a:t>
            </a:r>
            <a:r>
              <a:rPr lang="en-US" sz="1800" dirty="0" err="1"/>
              <a:t>danh</a:t>
            </a:r>
            <a:r>
              <a:rPr lang="en-US" sz="1800" dirty="0"/>
              <a:t> </a:t>
            </a:r>
            <a:r>
              <a:rPr lang="en-US" sz="1800" dirty="0" err="1"/>
              <a:t>sách</a:t>
            </a:r>
            <a:r>
              <a:rPr lang="en-US" sz="1800" dirty="0"/>
              <a:t> </a:t>
            </a:r>
            <a:r>
              <a:rPr lang="en-US" sz="1800" dirty="0" err="1"/>
              <a:t>đỉnh</a:t>
            </a:r>
            <a:r>
              <a:rPr lang="en-US" sz="1800" dirty="0"/>
              <a:t> </a:t>
            </a:r>
            <a:r>
              <a:rPr lang="en-US" sz="1800" dirty="0" err="1"/>
              <a:t>kề</a:t>
            </a:r>
            <a:r>
              <a:rPr lang="en-US" sz="1800" dirty="0"/>
              <a:t>: </a:t>
            </a:r>
            <a:r>
              <a:rPr lang="en-US" sz="1800" dirty="0" err="1"/>
              <a:t>các</a:t>
            </a:r>
            <a:r>
              <a:rPr lang="en-US" sz="1800" dirty="0"/>
              <a:t> </a:t>
            </a:r>
            <a:r>
              <a:rPr lang="en-US" sz="1800" dirty="0" err="1"/>
              <a:t>đỉnh</a:t>
            </a:r>
            <a:r>
              <a:rPr lang="en-US" sz="1800" dirty="0"/>
              <a:t> </a:t>
            </a:r>
            <a:r>
              <a:rPr lang="en-US" sz="1800" dirty="0" err="1"/>
              <a:t>kề</a:t>
            </a:r>
            <a:r>
              <a:rPr lang="en-US" sz="1800" dirty="0"/>
              <a:t> </a:t>
            </a:r>
            <a:r>
              <a:rPr lang="en-US" sz="1800" dirty="0" err="1"/>
              <a:t>với</a:t>
            </a:r>
            <a:r>
              <a:rPr lang="en-US" sz="1800" dirty="0"/>
              <a:t> </a:t>
            </a:r>
            <a:r>
              <a:rPr lang="en-US" sz="1800" dirty="0" err="1"/>
              <a:t>một</a:t>
            </a:r>
            <a:r>
              <a:rPr lang="en-US" sz="1800" dirty="0"/>
              <a:t> </a:t>
            </a:r>
            <a:r>
              <a:rPr lang="en-US" sz="1800" dirty="0" err="1"/>
              <a:t>đỉnh</a:t>
            </a:r>
            <a:r>
              <a:rPr lang="en-US" sz="1800" dirty="0"/>
              <a:t> </a:t>
            </a:r>
            <a:r>
              <a:rPr lang="en-US" sz="1800" dirty="0" err="1"/>
              <a:t>sẽ</a:t>
            </a:r>
            <a:r>
              <a:rPr lang="en-US" sz="1800" dirty="0"/>
              <a:t> </a:t>
            </a:r>
            <a:r>
              <a:rPr lang="en-US" sz="1800" dirty="0" err="1"/>
              <a:t>nằm</a:t>
            </a:r>
            <a:r>
              <a:rPr lang="en-US" sz="1800" dirty="0"/>
              <a:t> </a:t>
            </a:r>
            <a:r>
              <a:rPr lang="en-US" sz="1800" dirty="0" err="1"/>
              <a:t>trong</a:t>
            </a:r>
            <a:r>
              <a:rPr lang="en-US" sz="1800" dirty="0"/>
              <a:t> </a:t>
            </a:r>
            <a:r>
              <a:rPr lang="en-US" sz="1800" dirty="0" err="1"/>
              <a:t>danh</a:t>
            </a:r>
            <a:r>
              <a:rPr lang="en-US" sz="1800" dirty="0"/>
              <a:t> </a:t>
            </a:r>
            <a:r>
              <a:rPr lang="en-US" sz="1800" dirty="0" err="1"/>
              <a:t>sách</a:t>
            </a:r>
            <a:endParaRPr lang="en-US" sz="1800" dirty="0"/>
          </a:p>
          <a:p>
            <a:pPr lvl="2"/>
            <a:r>
              <a:rPr lang="en-US" sz="1800" dirty="0" err="1"/>
              <a:t>Tổ</a:t>
            </a:r>
            <a:r>
              <a:rPr lang="en-US" sz="1800" dirty="0"/>
              <a:t> </a:t>
            </a:r>
            <a:r>
              <a:rPr lang="en-US" sz="1800" dirty="0" err="1"/>
              <a:t>chức</a:t>
            </a:r>
            <a:r>
              <a:rPr lang="en-US" sz="1800" dirty="0"/>
              <a:t> </a:t>
            </a:r>
            <a:r>
              <a:rPr lang="en-US" sz="1800" dirty="0" err="1"/>
              <a:t>danh</a:t>
            </a:r>
            <a:r>
              <a:rPr lang="en-US" sz="1800" dirty="0"/>
              <a:t> </a:t>
            </a:r>
            <a:r>
              <a:rPr lang="en-US" sz="1800" dirty="0" err="1"/>
              <a:t>sách</a:t>
            </a:r>
            <a:r>
              <a:rPr lang="en-US" sz="1800" dirty="0"/>
              <a:t> </a:t>
            </a:r>
            <a:r>
              <a:rPr lang="en-US" sz="1800" dirty="0" err="1"/>
              <a:t>cạnh</a:t>
            </a:r>
            <a:r>
              <a:rPr lang="en-US" sz="1800" dirty="0"/>
              <a:t> </a:t>
            </a:r>
            <a:r>
              <a:rPr lang="en-US" sz="1800" dirty="0" err="1"/>
              <a:t>kề</a:t>
            </a:r>
            <a:r>
              <a:rPr lang="en-US" sz="1800" dirty="0"/>
              <a:t>: </a:t>
            </a:r>
            <a:r>
              <a:rPr lang="en-US" sz="1800" dirty="0" err="1"/>
              <a:t>các</a:t>
            </a:r>
            <a:r>
              <a:rPr lang="en-US" sz="1800" dirty="0"/>
              <a:t> </a:t>
            </a:r>
            <a:r>
              <a:rPr lang="en-US" sz="1800" dirty="0" err="1"/>
              <a:t>cạnh</a:t>
            </a:r>
            <a:r>
              <a:rPr lang="en-US" sz="1800" dirty="0"/>
              <a:t> </a:t>
            </a:r>
            <a:r>
              <a:rPr lang="en-US" sz="1800" dirty="0" err="1"/>
              <a:t>kề</a:t>
            </a:r>
            <a:r>
              <a:rPr lang="en-US" sz="1800" dirty="0"/>
              <a:t> </a:t>
            </a:r>
            <a:r>
              <a:rPr lang="en-US" sz="1800" dirty="0" err="1"/>
              <a:t>với</a:t>
            </a:r>
            <a:r>
              <a:rPr lang="en-US" sz="1800" dirty="0"/>
              <a:t> </a:t>
            </a:r>
            <a:r>
              <a:rPr lang="en-US" sz="1800" dirty="0" err="1"/>
              <a:t>một</a:t>
            </a:r>
            <a:r>
              <a:rPr lang="en-US" sz="1800" dirty="0"/>
              <a:t> </a:t>
            </a:r>
            <a:r>
              <a:rPr lang="en-US" sz="1800" dirty="0" err="1"/>
              <a:t>đỉnh</a:t>
            </a:r>
            <a:r>
              <a:rPr lang="en-US" sz="1800" dirty="0"/>
              <a:t> </a:t>
            </a:r>
            <a:r>
              <a:rPr lang="en-US" sz="1800" dirty="0" err="1"/>
              <a:t>sẽ</a:t>
            </a:r>
            <a:r>
              <a:rPr lang="en-US" sz="1800" dirty="0"/>
              <a:t> </a:t>
            </a:r>
            <a:r>
              <a:rPr lang="en-US" sz="1800" dirty="0" err="1"/>
              <a:t>nằm</a:t>
            </a:r>
            <a:r>
              <a:rPr lang="en-US" sz="1800" dirty="0"/>
              <a:t> </a:t>
            </a:r>
            <a:r>
              <a:rPr lang="en-US" sz="1800" dirty="0" err="1"/>
              <a:t>trong</a:t>
            </a:r>
            <a:r>
              <a:rPr lang="en-US" sz="1800" dirty="0"/>
              <a:t> </a:t>
            </a:r>
            <a:r>
              <a:rPr lang="en-US" sz="1800" dirty="0" err="1"/>
              <a:t>danh</a:t>
            </a:r>
            <a:r>
              <a:rPr lang="en-US" sz="1800" dirty="0"/>
              <a:t> </a:t>
            </a:r>
            <a:r>
              <a:rPr lang="en-US" sz="1800" dirty="0" err="1"/>
              <a:t>sách</a:t>
            </a:r>
            <a:br>
              <a:rPr lang="vi-VN" sz="2400" dirty="0"/>
            </a:br>
            <a:endParaRPr lang="vi-VN" sz="2400" dirty="0"/>
          </a:p>
        </p:txBody>
      </p:sp>
      <p:sp>
        <p:nvSpPr>
          <p:cNvPr id="9" name="Rectangle 8"/>
          <p:cNvSpPr/>
          <p:nvPr/>
        </p:nvSpPr>
        <p:spPr>
          <a:xfrm>
            <a:off x="4779636" y="3021485"/>
            <a:ext cx="2929585" cy="369332"/>
          </a:xfrm>
          <a:prstGeom prst="rect">
            <a:avLst/>
          </a:prstGeom>
        </p:spPr>
        <p:txBody>
          <a:bodyPr wrap="none">
            <a:spAutoFit/>
          </a:bodyPr>
          <a:lstStyle/>
          <a:p>
            <a:r>
              <a:rPr lang="en-US" dirty="0" err="1"/>
              <a:t>Tổ</a:t>
            </a:r>
            <a:r>
              <a:rPr lang="en-US" dirty="0"/>
              <a:t> </a:t>
            </a:r>
            <a:r>
              <a:rPr lang="en-US" dirty="0" err="1"/>
              <a:t>chức</a:t>
            </a:r>
            <a:r>
              <a:rPr lang="en-US" dirty="0"/>
              <a:t> </a:t>
            </a:r>
            <a:r>
              <a:rPr lang="en-US" dirty="0" err="1"/>
              <a:t>móc</a:t>
            </a:r>
            <a:r>
              <a:rPr lang="en-US" dirty="0"/>
              <a:t> </a:t>
            </a:r>
            <a:r>
              <a:rPr lang="en-US" dirty="0" err="1"/>
              <a:t>nối</a:t>
            </a:r>
            <a:r>
              <a:rPr lang="en-US" dirty="0"/>
              <a:t> </a:t>
            </a:r>
            <a:r>
              <a:rPr lang="en-US" dirty="0" err="1"/>
              <a:t>kiểu</a:t>
            </a:r>
            <a:r>
              <a:rPr lang="en-US" dirty="0"/>
              <a:t> </a:t>
            </a:r>
            <a:r>
              <a:rPr lang="en-US" dirty="0" err="1"/>
              <a:t>cạnh</a:t>
            </a:r>
            <a:r>
              <a:rPr lang="en-US" dirty="0"/>
              <a:t> </a:t>
            </a:r>
            <a:r>
              <a:rPr lang="en-US" dirty="0" err="1"/>
              <a:t>kề</a:t>
            </a:r>
            <a:endParaRPr lang="en-US" dirty="0"/>
          </a:p>
        </p:txBody>
      </p:sp>
      <p:pic>
        <p:nvPicPr>
          <p:cNvPr id="12" name="Picture 11"/>
          <p:cNvPicPr>
            <a:picLocks noChangeAspect="1"/>
          </p:cNvPicPr>
          <p:nvPr/>
        </p:nvPicPr>
        <p:blipFill>
          <a:blip r:embed="rId4"/>
          <a:stretch>
            <a:fillRect/>
          </a:stretch>
        </p:blipFill>
        <p:spPr>
          <a:xfrm>
            <a:off x="457200" y="3242474"/>
            <a:ext cx="2598063" cy="2422349"/>
          </a:xfrm>
          <a:prstGeom prst="rect">
            <a:avLst/>
          </a:prstGeom>
        </p:spPr>
      </p:pic>
    </p:spTree>
    <p:extLst>
      <p:ext uri="{BB962C8B-B14F-4D97-AF65-F5344CB8AC3E}">
        <p14:creationId xmlns:p14="http://schemas.microsoft.com/office/powerpoint/2010/main" val="2842403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Sử dụng cấu trúc móc nối</a:t>
            </a:r>
          </a:p>
        </p:txBody>
      </p:sp>
      <p:sp>
        <p:nvSpPr>
          <p:cNvPr id="3" name="Content Placeholder 2"/>
          <p:cNvSpPr>
            <a:spLocks noGrp="1"/>
          </p:cNvSpPr>
          <p:nvPr>
            <p:ph sz="quarter" idx="13"/>
          </p:nvPr>
        </p:nvSpPr>
        <p:spPr>
          <a:xfrm>
            <a:off x="158623" y="841249"/>
            <a:ext cx="8909177" cy="5303393"/>
          </a:xfrm>
        </p:spPr>
        <p:txBody>
          <a:bodyPr>
            <a:noAutofit/>
          </a:bodyPr>
          <a:lstStyle/>
          <a:p>
            <a:r>
              <a:rPr lang="vi-VN" sz="2400" dirty="0"/>
              <a:t>Cài đặt đồ thị G(V,E) : V = (v</a:t>
            </a:r>
            <a:r>
              <a:rPr lang="vi-VN" sz="2400" baseline="-25000" dirty="0"/>
              <a:t>0</a:t>
            </a:r>
            <a:r>
              <a:rPr lang="vi-VN" sz="2400" dirty="0"/>
              <a:t>, v</a:t>
            </a:r>
            <a:r>
              <a:rPr lang="vi-VN" sz="2400" baseline="-25000" dirty="0"/>
              <a:t>1</a:t>
            </a:r>
            <a:r>
              <a:rPr lang="vi-VN" sz="2400" dirty="0"/>
              <a:t>, ..., v</a:t>
            </a:r>
            <a:r>
              <a:rPr lang="vi-VN" sz="2400" baseline="-25000" dirty="0"/>
              <a:t>M-1</a:t>
            </a:r>
            <a:r>
              <a:rPr lang="vi-VN" sz="2400" dirty="0"/>
              <a:t> ), E = (e</a:t>
            </a:r>
            <a:r>
              <a:rPr lang="vi-VN" sz="2400" baseline="-25000" dirty="0"/>
              <a:t>0</a:t>
            </a:r>
            <a:r>
              <a:rPr lang="vi-VN" sz="2400" dirty="0"/>
              <a:t>, e</a:t>
            </a:r>
            <a:r>
              <a:rPr lang="vi-VN" sz="2400" baseline="-25000" dirty="0"/>
              <a:t>1</a:t>
            </a:r>
            <a:r>
              <a:rPr lang="vi-VN" sz="2400" dirty="0"/>
              <a:t>, ..., e</a:t>
            </a:r>
            <a:r>
              <a:rPr lang="vi-VN" sz="2400" baseline="-25000" dirty="0"/>
              <a:t>N-1</a:t>
            </a:r>
            <a:r>
              <a:rPr lang="vi-VN" sz="2400" dirty="0"/>
              <a:t> ) </a:t>
            </a:r>
          </a:p>
          <a:p>
            <a:pPr lvl="1"/>
            <a:r>
              <a:rPr lang="vi-VN" sz="2100" dirty="0"/>
              <a:t>Tập các đỉnh</a:t>
            </a:r>
            <a:r>
              <a:rPr lang="en-US" sz="2100" dirty="0"/>
              <a:t>: </a:t>
            </a:r>
            <a:r>
              <a:rPr lang="vi-VN" sz="2100" dirty="0"/>
              <a:t> biểu diễn bằng một </a:t>
            </a:r>
            <a:r>
              <a:rPr lang="en-US" sz="2100" dirty="0" err="1"/>
              <a:t>mảng</a:t>
            </a:r>
            <a:r>
              <a:rPr lang="en-US" sz="2100" dirty="0"/>
              <a:t> V[M]</a:t>
            </a:r>
            <a:endParaRPr lang="en-US" sz="2100" b="0" dirty="0"/>
          </a:p>
          <a:p>
            <a:pPr lvl="1"/>
            <a:r>
              <a:rPr lang="vi-VN" sz="2100" dirty="0"/>
              <a:t>Tập các cạnh</a:t>
            </a:r>
            <a:r>
              <a:rPr lang="en-US" sz="2100" dirty="0"/>
              <a:t>: </a:t>
            </a:r>
            <a:r>
              <a:rPr lang="vi-VN" sz="2100" dirty="0"/>
              <a:t>biểu diễn bằng danh sách móc nối</a:t>
            </a:r>
            <a:endParaRPr lang="en-US" sz="2100" b="0" dirty="0"/>
          </a:p>
          <a:p>
            <a:pPr lvl="2"/>
            <a:r>
              <a:rPr lang="en-US" sz="1800" dirty="0" err="1"/>
              <a:t>Tổ</a:t>
            </a:r>
            <a:r>
              <a:rPr lang="en-US" sz="1800" dirty="0"/>
              <a:t> </a:t>
            </a:r>
            <a:r>
              <a:rPr lang="en-US" sz="1800" dirty="0" err="1"/>
              <a:t>chức</a:t>
            </a:r>
            <a:r>
              <a:rPr lang="en-US" sz="1800" dirty="0"/>
              <a:t> </a:t>
            </a:r>
            <a:r>
              <a:rPr lang="en-US" sz="1800" dirty="0" err="1"/>
              <a:t>danh</a:t>
            </a:r>
            <a:r>
              <a:rPr lang="en-US" sz="1800" dirty="0"/>
              <a:t> </a:t>
            </a:r>
            <a:r>
              <a:rPr lang="en-US" sz="1800" dirty="0" err="1"/>
              <a:t>sách</a:t>
            </a:r>
            <a:r>
              <a:rPr lang="en-US" sz="1800" dirty="0"/>
              <a:t> </a:t>
            </a:r>
            <a:r>
              <a:rPr lang="en-US" sz="1800" dirty="0" err="1"/>
              <a:t>đỉnh</a:t>
            </a:r>
            <a:r>
              <a:rPr lang="en-US" sz="1800" dirty="0"/>
              <a:t> </a:t>
            </a:r>
            <a:r>
              <a:rPr lang="en-US" sz="1800" dirty="0" err="1"/>
              <a:t>kề</a:t>
            </a:r>
            <a:endParaRPr lang="en-US" sz="1800" dirty="0"/>
          </a:p>
          <a:p>
            <a:pPr lvl="2"/>
            <a:r>
              <a:rPr lang="en-US" sz="1800" dirty="0" err="1"/>
              <a:t>Tổ</a:t>
            </a:r>
            <a:r>
              <a:rPr lang="en-US" sz="1800" dirty="0"/>
              <a:t> </a:t>
            </a:r>
            <a:r>
              <a:rPr lang="en-US" sz="1800" dirty="0" err="1"/>
              <a:t>chức</a:t>
            </a:r>
            <a:r>
              <a:rPr lang="en-US" sz="1800" dirty="0"/>
              <a:t> </a:t>
            </a:r>
            <a:r>
              <a:rPr lang="en-US" sz="1800" dirty="0" err="1"/>
              <a:t>danh</a:t>
            </a:r>
            <a:r>
              <a:rPr lang="en-US" sz="1800" dirty="0"/>
              <a:t> </a:t>
            </a:r>
            <a:r>
              <a:rPr lang="en-US" sz="1800" dirty="0" err="1"/>
              <a:t>sách</a:t>
            </a:r>
            <a:r>
              <a:rPr lang="en-US" sz="1800" dirty="0"/>
              <a:t> </a:t>
            </a:r>
            <a:r>
              <a:rPr lang="en-US" sz="1800" dirty="0" err="1"/>
              <a:t>cạnh</a:t>
            </a:r>
            <a:r>
              <a:rPr lang="en-US" sz="1800" dirty="0"/>
              <a:t> </a:t>
            </a:r>
            <a:r>
              <a:rPr lang="en-US" sz="1800" dirty="0" err="1"/>
              <a:t>kề</a:t>
            </a:r>
            <a:endParaRPr lang="en-US" sz="1800" dirty="0"/>
          </a:p>
          <a:p>
            <a:pPr marL="0" indent="0">
              <a:buNone/>
            </a:pPr>
            <a:br>
              <a:rPr lang="vi-VN" sz="2400" dirty="0"/>
            </a:br>
            <a:br>
              <a:rPr lang="vi-VN" sz="2400" dirty="0"/>
            </a:br>
            <a:endParaRPr lang="vi-VN" sz="2400" dirty="0"/>
          </a:p>
        </p:txBody>
      </p:sp>
      <p:pic>
        <p:nvPicPr>
          <p:cNvPr id="5" name="Picture 4"/>
          <p:cNvPicPr>
            <a:picLocks noChangeAspect="1"/>
          </p:cNvPicPr>
          <p:nvPr/>
        </p:nvPicPr>
        <p:blipFill rotWithShape="1">
          <a:blip r:embed="rId3"/>
          <a:srcRect t="8058" b="49642"/>
          <a:stretch/>
        </p:blipFill>
        <p:spPr>
          <a:xfrm>
            <a:off x="914400" y="2971800"/>
            <a:ext cx="7644944" cy="1600200"/>
          </a:xfrm>
          <a:prstGeom prst="rect">
            <a:avLst/>
          </a:prstGeom>
        </p:spPr>
      </p:pic>
    </p:spTree>
    <p:extLst>
      <p:ext uri="{BB962C8B-B14F-4D97-AF65-F5344CB8AC3E}">
        <p14:creationId xmlns:p14="http://schemas.microsoft.com/office/powerpoint/2010/main" val="1754810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20</a:t>
            </a:fld>
            <a:endParaRPr lang="en-US"/>
          </a:p>
        </p:txBody>
      </p:sp>
      <p:sp>
        <p:nvSpPr>
          <p:cNvPr id="4" name="Title 3"/>
          <p:cNvSpPr>
            <a:spLocks noGrp="1"/>
          </p:cNvSpPr>
          <p:nvPr>
            <p:ph type="title"/>
          </p:nvPr>
        </p:nvSpPr>
        <p:spPr/>
        <p:txBody>
          <a:bodyPr/>
          <a:lstStyle/>
          <a:p>
            <a:endParaRPr lang="en-US"/>
          </a:p>
        </p:txBody>
      </p:sp>
      <p:sp>
        <p:nvSpPr>
          <p:cNvPr id="5" name="Content Placeholder 4"/>
          <p:cNvSpPr>
            <a:spLocks noGrp="1"/>
          </p:cNvSpPr>
          <p:nvPr>
            <p:ph sz="quarter" idx="13"/>
          </p:nvPr>
        </p:nvSpPr>
        <p:spPr>
          <a:xfrm>
            <a:off x="235077" y="2438400"/>
            <a:ext cx="8674100" cy="3706242"/>
          </a:xfrm>
        </p:spPr>
        <p:txBody>
          <a:bodyPr>
            <a:normAutofit/>
          </a:bodyPr>
          <a:lstStyle/>
          <a:p>
            <a:pPr marL="0" indent="0" algn="r">
              <a:buNone/>
            </a:pPr>
            <a:r>
              <a:rPr lang="en-US" sz="3200" b="1" dirty="0"/>
              <a:t>3. </a:t>
            </a:r>
            <a:r>
              <a:rPr lang="en-US" sz="3200" b="1" dirty="0" err="1"/>
              <a:t>Phép</a:t>
            </a:r>
            <a:r>
              <a:rPr lang="en-US" sz="3200" b="1" dirty="0"/>
              <a:t> </a:t>
            </a:r>
            <a:r>
              <a:rPr lang="en-US" sz="3200" b="1" dirty="0" err="1"/>
              <a:t>duyệt</a:t>
            </a:r>
            <a:r>
              <a:rPr lang="en-US" sz="3200" b="1" dirty="0"/>
              <a:t> </a:t>
            </a:r>
            <a:r>
              <a:rPr lang="en-US" sz="3200" b="1" dirty="0" err="1"/>
              <a:t>đồ</a:t>
            </a:r>
            <a:r>
              <a:rPr lang="en-US" sz="3200" b="1" dirty="0"/>
              <a:t> </a:t>
            </a:r>
            <a:r>
              <a:rPr lang="en-US" sz="3200" b="1" dirty="0" err="1"/>
              <a:t>thị</a:t>
            </a:r>
            <a:endParaRPr lang="en-US" sz="3200" dirty="0"/>
          </a:p>
        </p:txBody>
      </p:sp>
    </p:spTree>
    <p:extLst>
      <p:ext uri="{BB962C8B-B14F-4D97-AF65-F5344CB8AC3E}">
        <p14:creationId xmlns:p14="http://schemas.microsoft.com/office/powerpoint/2010/main" val="2527762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Duyệt đồ thị</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3"/>
              </p:nvPr>
            </p:nvSpPr>
            <p:spPr/>
            <p:txBody>
              <a:bodyPr>
                <a:normAutofit/>
              </a:bodyPr>
              <a:lstStyle/>
              <a:p>
                <a:r>
                  <a:rPr lang="vi-VN" sz="2400" dirty="0"/>
                  <a:t>Cho trước đồ thị G(V, E) và nút xuất phát </a:t>
                </a:r>
                <a:r>
                  <a:rPr lang="vi-VN" sz="2400" i="1" dirty="0"/>
                  <a:t>v</a:t>
                </a:r>
                <a:r>
                  <a:rPr lang="vi-VN" sz="2400" i="1" baseline="-25000" dirty="0"/>
                  <a:t>s</a:t>
                </a:r>
                <a:r>
                  <a:rPr lang="en-US" sz="2400" dirty="0"/>
                  <a:t> </a:t>
                </a:r>
                <a14:m>
                  <m:oMath xmlns:m="http://schemas.openxmlformats.org/officeDocument/2006/math">
                    <m:r>
                      <a:rPr lang="vi-VN" sz="2400" i="1" smtClean="0">
                        <a:latin typeface="Cambria Math" panose="02040503050406030204" pitchFamily="18" charset="0"/>
                        <a:ea typeface="Cambria Math" panose="02040503050406030204" pitchFamily="18" charset="0"/>
                      </a:rPr>
                      <m:t>∈</m:t>
                    </m:r>
                  </m:oMath>
                </a14:m>
                <a:r>
                  <a:rPr lang="vi-VN" sz="2400" dirty="0"/>
                  <a:t> V</a:t>
                </a:r>
                <a:endParaRPr lang="en-US" sz="2400" dirty="0"/>
              </a:p>
              <a:p>
                <a:pPr marL="0" indent="0">
                  <a:buNone/>
                </a:pPr>
                <a:r>
                  <a:rPr lang="en-US" sz="2400" dirty="0">
                    <a:sym typeface="Wingdings" panose="05000000000000000000" pitchFamily="2" charset="2"/>
                  </a:rPr>
                  <a:t>      D</a:t>
                </a:r>
                <a:r>
                  <a:rPr lang="vi-VN" sz="2400" dirty="0"/>
                  <a:t>uyệt tất cả các đỉnh của</a:t>
                </a:r>
                <a:r>
                  <a:rPr lang="en-US" sz="2400" dirty="0"/>
                  <a:t> </a:t>
                </a:r>
                <a:r>
                  <a:rPr lang="vi-VN" sz="2400" dirty="0"/>
                  <a:t>G, mỗi đỉnh đúng một lần, bắt</a:t>
                </a:r>
                <a:br>
                  <a:rPr lang="en-US" sz="2400" dirty="0"/>
                </a:br>
                <a:r>
                  <a:rPr lang="en-US" sz="2400" dirty="0"/>
                  <a:t>        </a:t>
                </a:r>
                <a:r>
                  <a:rPr lang="vi-VN" sz="2400" dirty="0"/>
                  <a:t> đầu từ nút </a:t>
                </a:r>
                <a:r>
                  <a:rPr lang="vi-VN" sz="2400" i="1" dirty="0"/>
                  <a:t>v</a:t>
                </a:r>
                <a:r>
                  <a:rPr lang="vi-VN" sz="2400" i="1" baseline="-25000" dirty="0"/>
                  <a:t>s</a:t>
                </a:r>
                <a:r>
                  <a:rPr lang="en-US" sz="2400" i="1" dirty="0"/>
                  <a:t>.</a:t>
                </a:r>
                <a:endParaRPr lang="vi-VN" sz="2400" b="0" dirty="0"/>
              </a:p>
              <a:p>
                <a:r>
                  <a:rPr lang="en-US" sz="2400" dirty="0" err="1"/>
                  <a:t>Chọn</a:t>
                </a:r>
                <a:r>
                  <a:rPr lang="en-US" sz="2400" dirty="0"/>
                  <a:t> </a:t>
                </a:r>
                <a:r>
                  <a:rPr lang="vi-VN" sz="2400" i="1" dirty="0"/>
                  <a:t>v</a:t>
                </a:r>
                <a:r>
                  <a:rPr lang="vi-VN" sz="2400" i="1" baseline="-25000" dirty="0"/>
                  <a:t>s</a:t>
                </a:r>
                <a:r>
                  <a:rPr lang="vi-VN" sz="2400" dirty="0"/>
                  <a:t>: </a:t>
                </a:r>
                <a:r>
                  <a:rPr lang="en-US" sz="2400" b="1" dirty="0" err="1"/>
                  <a:t>cho</a:t>
                </a:r>
                <a:r>
                  <a:rPr lang="en-US" sz="2400" b="1" dirty="0"/>
                  <a:t> </a:t>
                </a:r>
                <a:r>
                  <a:rPr lang="en-US" sz="2400" b="1" dirty="0" err="1"/>
                  <a:t>trước</a:t>
                </a:r>
                <a:r>
                  <a:rPr lang="en-US" sz="2400" dirty="0"/>
                  <a:t>, </a:t>
                </a:r>
                <a:r>
                  <a:rPr lang="vi-VN" sz="2400" dirty="0"/>
                  <a:t>chọn ngẫu</a:t>
                </a:r>
                <a:r>
                  <a:rPr lang="en-US" sz="2400" dirty="0"/>
                  <a:t> </a:t>
                </a:r>
                <a:r>
                  <a:rPr lang="en-US" sz="2400" dirty="0" err="1"/>
                  <a:t>nhiên</a:t>
                </a:r>
                <a:r>
                  <a:rPr lang="en-US" sz="2400" dirty="0"/>
                  <a:t>, </a:t>
                </a:r>
                <a:r>
                  <a:rPr lang="vi-VN" sz="2400" dirty="0"/>
                  <a:t>thỏa mãn điều kiện xuất phát nào đó, nút được truy</a:t>
                </a:r>
                <a:r>
                  <a:rPr lang="en-US" sz="2400" dirty="0"/>
                  <a:t> </a:t>
                </a:r>
                <a:r>
                  <a:rPr lang="vi-VN" sz="2400" dirty="0"/>
                  <a:t>nhập đầu tiên</a:t>
                </a:r>
                <a:r>
                  <a:rPr lang="en-US" sz="2400" dirty="0"/>
                  <a:t>, v.v.</a:t>
                </a:r>
              </a:p>
              <a:p>
                <a:r>
                  <a:rPr lang="vi-VN" sz="2400" dirty="0"/>
                  <a:t>Có 2 phương pháp: </a:t>
                </a:r>
              </a:p>
              <a:p>
                <a:pPr lvl="1"/>
                <a:r>
                  <a:rPr lang="en-US" sz="2100" b="0" dirty="0"/>
                  <a:t>D</a:t>
                </a:r>
                <a:r>
                  <a:rPr lang="vi-VN" sz="2100" b="0" dirty="0"/>
                  <a:t>uyệt theo chiều sâu (Depth First Search)</a:t>
                </a:r>
              </a:p>
              <a:p>
                <a:pPr lvl="1"/>
                <a:r>
                  <a:rPr lang="en-US" sz="2100" b="0" dirty="0"/>
                  <a:t>D</a:t>
                </a:r>
                <a:r>
                  <a:rPr lang="vi-VN" sz="2100" b="0" dirty="0"/>
                  <a:t>uyệt theo chiều rộng (Breadth First Search)</a:t>
                </a:r>
                <a:r>
                  <a:rPr lang="vi-VN" sz="2100" dirty="0"/>
                  <a:t> </a:t>
                </a:r>
                <a:br>
                  <a:rPr lang="vi-VN" sz="2100" dirty="0"/>
                </a:br>
                <a:endParaRPr lang="vi-VN" sz="21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blipFill>
                <a:blip r:embed="rId3"/>
                <a:stretch>
                  <a:fillRect l="-985" t="-1494"/>
                </a:stretch>
              </a:blipFill>
            </p:spPr>
            <p:txBody>
              <a:bodyPr/>
              <a:lstStyle/>
              <a:p>
                <a:r>
                  <a:rPr lang="en-US">
                    <a:noFill/>
                  </a:rPr>
                  <a:t> </a:t>
                </a:r>
              </a:p>
            </p:txBody>
          </p:sp>
        </mc:Fallback>
      </mc:AlternateContent>
    </p:spTree>
    <p:extLst>
      <p:ext uri="{BB962C8B-B14F-4D97-AF65-F5344CB8AC3E}">
        <p14:creationId xmlns:p14="http://schemas.microsoft.com/office/powerpoint/2010/main" val="52418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22</a:t>
            </a:fld>
            <a:endParaRPr lang="en-US"/>
          </a:p>
        </p:txBody>
      </p:sp>
      <p:sp>
        <p:nvSpPr>
          <p:cNvPr id="3" name="Title 2"/>
          <p:cNvSpPr>
            <a:spLocks noGrp="1"/>
          </p:cNvSpPr>
          <p:nvPr>
            <p:ph type="title"/>
          </p:nvPr>
        </p:nvSpPr>
        <p:spPr/>
        <p:txBody>
          <a:bodyPr/>
          <a:lstStyle/>
          <a:p>
            <a:r>
              <a:rPr lang="en-US" dirty="0" err="1"/>
              <a:t>Duyệt</a:t>
            </a:r>
            <a:r>
              <a:rPr lang="en-US" dirty="0"/>
              <a:t> </a:t>
            </a:r>
            <a:r>
              <a:rPr lang="en-US" dirty="0" err="1"/>
              <a:t>theo</a:t>
            </a:r>
            <a:r>
              <a:rPr lang="en-US" dirty="0"/>
              <a:t> </a:t>
            </a:r>
            <a:r>
              <a:rPr lang="en-US" dirty="0" err="1"/>
              <a:t>chiều</a:t>
            </a:r>
            <a:r>
              <a:rPr lang="en-US" dirty="0"/>
              <a:t> </a:t>
            </a:r>
            <a:r>
              <a:rPr lang="en-US" dirty="0" err="1"/>
              <a:t>sâu</a:t>
            </a:r>
            <a:endParaRPr lang="en-US" dirty="0"/>
          </a:p>
        </p:txBody>
      </p:sp>
      <p:sp>
        <p:nvSpPr>
          <p:cNvPr id="4" name="Content Placeholder 3"/>
          <p:cNvSpPr>
            <a:spLocks noGrp="1"/>
          </p:cNvSpPr>
          <p:nvPr>
            <p:ph sz="quarter" idx="13"/>
          </p:nvPr>
        </p:nvSpPr>
        <p:spPr/>
        <p:txBody>
          <a:bodyPr>
            <a:normAutofit/>
          </a:bodyPr>
          <a:lstStyle/>
          <a:p>
            <a:r>
              <a:rPr lang="en-US" sz="2400" dirty="0"/>
              <a:t>G</a:t>
            </a:r>
            <a:r>
              <a:rPr lang="vi-VN" sz="2400" dirty="0"/>
              <a:t>iải thuật đệ quy :</a:t>
            </a:r>
          </a:p>
          <a:p>
            <a:pPr lvl="1"/>
            <a:r>
              <a:rPr lang="vi-VN" sz="2000" dirty="0"/>
              <a:t>Bước 1: </a:t>
            </a:r>
            <a:r>
              <a:rPr lang="vi-VN" sz="2000" i="1" dirty="0"/>
              <a:t>v = v</a:t>
            </a:r>
            <a:r>
              <a:rPr lang="vi-VN" sz="2000" i="1" baseline="-25000" dirty="0"/>
              <a:t>s</a:t>
            </a:r>
            <a:r>
              <a:rPr lang="vi-VN" sz="2000" dirty="0"/>
              <a:t>.</a:t>
            </a:r>
          </a:p>
          <a:p>
            <a:pPr lvl="1"/>
            <a:r>
              <a:rPr lang="vi-VN" sz="2000" dirty="0"/>
              <a:t>Bước 2: Thăm nút </a:t>
            </a:r>
            <a:r>
              <a:rPr lang="vi-VN" sz="2000" i="1" dirty="0"/>
              <a:t>v</a:t>
            </a:r>
            <a:r>
              <a:rPr lang="vi-VN" sz="2000" dirty="0"/>
              <a:t>.</a:t>
            </a:r>
          </a:p>
          <a:p>
            <a:pPr lvl="1"/>
            <a:r>
              <a:rPr lang="vi-VN" sz="2000" dirty="0"/>
              <a:t>Bước 3: Với mỗi nút </a:t>
            </a:r>
            <a:r>
              <a:rPr lang="vi-VN" sz="2000" i="1" dirty="0"/>
              <a:t>v</a:t>
            </a:r>
            <a:r>
              <a:rPr lang="vi-VN" sz="2000" i="1" baseline="-25000" dirty="0"/>
              <a:t>a</a:t>
            </a:r>
            <a:r>
              <a:rPr lang="vi-VN" sz="2000" dirty="0"/>
              <a:t> là kề của </a:t>
            </a:r>
            <a:r>
              <a:rPr lang="vi-VN" sz="2000" i="1" dirty="0"/>
              <a:t>v</a:t>
            </a:r>
            <a:r>
              <a:rPr lang="vi-VN" sz="2000" dirty="0"/>
              <a:t> mà chưa được thăm, lặp lại bước 2 cho </a:t>
            </a:r>
            <a:r>
              <a:rPr lang="vi-VN" sz="2000" i="1" dirty="0"/>
              <a:t>v</a:t>
            </a:r>
            <a:r>
              <a:rPr lang="vi-VN" sz="2000" i="1" baseline="-25000" dirty="0"/>
              <a:t>a</a:t>
            </a:r>
            <a:r>
              <a:rPr lang="vi-VN" sz="2000" dirty="0"/>
              <a:t>.</a:t>
            </a:r>
          </a:p>
          <a:p>
            <a:pPr lvl="1"/>
            <a:r>
              <a:rPr lang="vi-VN" sz="2000" dirty="0"/>
              <a:t>Bước 4 (Điểm dừng): giải thuật kết thúc khi không còn nút nào cần phải</a:t>
            </a:r>
            <a:r>
              <a:rPr lang="en-US" sz="2000" dirty="0"/>
              <a:t> </a:t>
            </a:r>
            <a:r>
              <a:rPr lang="vi-VN" sz="2000" dirty="0"/>
              <a:t>thăm</a:t>
            </a:r>
            <a:r>
              <a:rPr lang="en-US" sz="2000" dirty="0"/>
              <a:t>.</a:t>
            </a:r>
          </a:p>
        </p:txBody>
      </p:sp>
      <p:sp>
        <p:nvSpPr>
          <p:cNvPr id="5" name="Rectangle 4"/>
          <p:cNvSpPr/>
          <p:nvPr/>
        </p:nvSpPr>
        <p:spPr>
          <a:xfrm>
            <a:off x="1676400" y="3282320"/>
            <a:ext cx="6858000" cy="3139321"/>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void </a:t>
            </a:r>
            <a:r>
              <a:rPr lang="en-US" dirty="0" err="1">
                <a:latin typeface="Courier New" panose="02070309020205020404" pitchFamily="49" charset="0"/>
                <a:cs typeface="Courier New" panose="02070309020205020404" pitchFamily="49" charset="0"/>
              </a:rPr>
              <a:t>DepthFirstSeach</a:t>
            </a:r>
            <a:r>
              <a:rPr lang="en-US" dirty="0">
                <a:latin typeface="Courier New" panose="02070309020205020404" pitchFamily="49" charset="0"/>
                <a:cs typeface="Courier New" panose="02070309020205020404" pitchFamily="49" charset="0"/>
              </a:rPr>
              <a:t>(G, v){</a:t>
            </a:r>
          </a:p>
          <a:p>
            <a:pPr lvl="1"/>
            <a:r>
              <a:rPr lang="en-US" dirty="0">
                <a:latin typeface="Courier New" panose="02070309020205020404" pitchFamily="49" charset="0"/>
                <a:cs typeface="Courier New" panose="02070309020205020404" pitchFamily="49" charset="0"/>
              </a:rPr>
              <a:t>if (v == NULL) return;</a:t>
            </a:r>
          </a:p>
          <a:p>
            <a:pPr lvl="1"/>
            <a:r>
              <a:rPr lang="en-US" dirty="0">
                <a:latin typeface="Courier New" panose="02070309020205020404" pitchFamily="49" charset="0"/>
                <a:cs typeface="Courier New" panose="02070309020205020404" pitchFamily="49" charset="0"/>
              </a:rPr>
              <a:t>visit(v);</a:t>
            </a:r>
          </a:p>
          <a:p>
            <a:pPr lvl="1"/>
            <a:r>
              <a:rPr lang="en-US" dirty="0">
                <a:latin typeface="Courier New" panose="02070309020205020404" pitchFamily="49" charset="0"/>
                <a:cs typeface="Courier New" panose="02070309020205020404" pitchFamily="49" charset="0"/>
              </a:rPr>
              <a:t>for each unvisited adjacent vertices </a:t>
            </a:r>
            <a:r>
              <a:rPr lang="en-US" dirty="0" err="1">
                <a:latin typeface="Courier New" panose="02070309020205020404" pitchFamily="49" charset="0"/>
                <a:cs typeface="Courier New" panose="02070309020205020404" pitchFamily="49" charset="0"/>
              </a:rPr>
              <a:t>v</a:t>
            </a:r>
            <a:r>
              <a:rPr lang="en-US" baseline="-25000" dirty="0" err="1">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 of v</a:t>
            </a:r>
          </a:p>
          <a:p>
            <a:pPr lvl="1"/>
            <a:r>
              <a:rPr lang="en-US" sz="1600" dirty="0">
                <a:latin typeface="Courier New" panose="02070309020205020404" pitchFamily="49" charset="0"/>
                <a:cs typeface="Courier New" panose="02070309020205020404" pitchFamily="49" charset="0"/>
              </a:rPr>
              <a:t>// normally sorted by key value</a:t>
            </a:r>
          </a:p>
          <a:p>
            <a:pPr lvl="1"/>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DepthFirstSearch</a:t>
            </a:r>
            <a:r>
              <a:rPr lang="en-US" dirty="0">
                <a:latin typeface="Courier New" panose="02070309020205020404" pitchFamily="49" charset="0"/>
                <a:cs typeface="Courier New" panose="02070309020205020404" pitchFamily="49" charset="0"/>
              </a:rPr>
              <a:t>(G, </a:t>
            </a:r>
            <a:r>
              <a:rPr lang="en-US" dirty="0" err="1">
                <a:latin typeface="Courier New" panose="02070309020205020404" pitchFamily="49" charset="0"/>
                <a:cs typeface="Courier New" panose="02070309020205020404" pitchFamily="49" charset="0"/>
              </a:rPr>
              <a:t>va</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void </a:t>
            </a:r>
            <a:r>
              <a:rPr lang="en-US" dirty="0" err="1">
                <a:latin typeface="Courier New" panose="02070309020205020404" pitchFamily="49" charset="0"/>
                <a:cs typeface="Courier New" panose="02070309020205020404" pitchFamily="49" charset="0"/>
              </a:rPr>
              <a:t>FullDepthSearch</a:t>
            </a:r>
            <a:r>
              <a:rPr lang="en-US" dirty="0">
                <a:latin typeface="Courier New" panose="02070309020205020404" pitchFamily="49" charset="0"/>
                <a:cs typeface="Courier New" panose="02070309020205020404" pitchFamily="49" charset="0"/>
              </a:rPr>
              <a:t>(G, vs){</a:t>
            </a:r>
          </a:p>
          <a:p>
            <a:pPr lvl="1"/>
            <a:r>
              <a:rPr lang="en-US" dirty="0">
                <a:latin typeface="Courier New" panose="02070309020205020404" pitchFamily="49" charset="0"/>
                <a:cs typeface="Courier New" panose="02070309020205020404" pitchFamily="49" charset="0"/>
              </a:rPr>
              <a:t>v = vs;</a:t>
            </a:r>
          </a:p>
          <a:p>
            <a:pPr lvl="1"/>
            <a:r>
              <a:rPr lang="en-US" dirty="0" err="1">
                <a:latin typeface="Courier New" panose="02070309020205020404" pitchFamily="49" charset="0"/>
                <a:cs typeface="Courier New" panose="02070309020205020404" pitchFamily="49" charset="0"/>
              </a:rPr>
              <a:t>DepthFirstSearch</a:t>
            </a:r>
            <a:r>
              <a:rPr lang="en-US" dirty="0">
                <a:latin typeface="Courier New" panose="02070309020205020404" pitchFamily="49" charset="0"/>
                <a:cs typeface="Courier New" panose="02070309020205020404" pitchFamily="49" charset="0"/>
              </a:rPr>
              <a:t>(G, v);</a:t>
            </a:r>
          </a:p>
          <a:p>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3468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867383" y="6572128"/>
            <a:ext cx="2057400" cy="1280160"/>
          </a:xfrm>
        </p:spPr>
        <p:txBody>
          <a:bodyPr/>
          <a:lstStyle/>
          <a:p>
            <a:fld id="{BC24317B-5122-4A99-A6E9-FA23C146A7E0}" type="slidenum">
              <a:rPr lang="en-US" smtClean="0"/>
              <a:pPr/>
              <a:t>23</a:t>
            </a:fld>
            <a:endParaRPr lang="en-US"/>
          </a:p>
        </p:txBody>
      </p:sp>
      <p:sp>
        <p:nvSpPr>
          <p:cNvPr id="3" name="Title 2"/>
          <p:cNvSpPr>
            <a:spLocks noGrp="1"/>
          </p:cNvSpPr>
          <p:nvPr>
            <p:ph type="title"/>
          </p:nvPr>
        </p:nvSpPr>
        <p:spPr/>
        <p:txBody>
          <a:bodyPr/>
          <a:lstStyle/>
          <a:p>
            <a:r>
              <a:rPr lang="en-US" dirty="0" err="1"/>
              <a:t>Duyệt</a:t>
            </a:r>
            <a:r>
              <a:rPr lang="en-US" dirty="0"/>
              <a:t> </a:t>
            </a:r>
            <a:r>
              <a:rPr lang="en-US" dirty="0" err="1"/>
              <a:t>theo</a:t>
            </a:r>
            <a:r>
              <a:rPr lang="en-US" dirty="0"/>
              <a:t> </a:t>
            </a:r>
            <a:r>
              <a:rPr lang="en-US" dirty="0" err="1"/>
              <a:t>chiều</a:t>
            </a:r>
            <a:r>
              <a:rPr lang="en-US" dirty="0"/>
              <a:t> </a:t>
            </a:r>
            <a:r>
              <a:rPr lang="en-US" dirty="0" err="1"/>
              <a:t>sâu</a:t>
            </a:r>
            <a:endParaRPr lang="en-US" dirty="0"/>
          </a:p>
        </p:txBody>
      </p:sp>
      <p:sp>
        <p:nvSpPr>
          <p:cNvPr id="4" name="Content Placeholder 3"/>
          <p:cNvSpPr>
            <a:spLocks noGrp="1"/>
          </p:cNvSpPr>
          <p:nvPr>
            <p:ph sz="quarter" idx="13"/>
          </p:nvPr>
        </p:nvSpPr>
        <p:spPr>
          <a:xfrm>
            <a:off x="161498" y="4158374"/>
            <a:ext cx="8674100" cy="2017306"/>
          </a:xfrm>
        </p:spPr>
        <p:txBody>
          <a:bodyPr>
            <a:normAutofit lnSpcReduction="10000"/>
          </a:bodyPr>
          <a:lstStyle/>
          <a:p>
            <a:r>
              <a:rPr lang="en-US" sz="2400" dirty="0"/>
              <a:t>L</a:t>
            </a:r>
            <a:r>
              <a:rPr lang="vi-VN" sz="2400" dirty="0"/>
              <a:t>ưu ý</a:t>
            </a:r>
            <a:r>
              <a:rPr lang="en-US" sz="2400" dirty="0"/>
              <a:t>:</a:t>
            </a:r>
          </a:p>
          <a:p>
            <a:pPr lvl="1"/>
            <a:r>
              <a:rPr lang="vi-VN" sz="2000" dirty="0"/>
              <a:t>Đồ thị có tồn tại chu trình: </a:t>
            </a:r>
            <a:endParaRPr lang="en-US" sz="2000" dirty="0"/>
          </a:p>
          <a:p>
            <a:pPr lvl="2"/>
            <a:r>
              <a:rPr lang="vi-VN" sz="1700" dirty="0"/>
              <a:t>cần cập nhật</a:t>
            </a:r>
            <a:r>
              <a:rPr lang="en-US" sz="1700" dirty="0"/>
              <a:t> </a:t>
            </a:r>
            <a:r>
              <a:rPr lang="vi-VN" sz="1700" dirty="0"/>
              <a:t>đúng các trạng thái đã</a:t>
            </a:r>
            <a:r>
              <a:rPr lang="en-US" sz="1700" dirty="0"/>
              <a:t> </a:t>
            </a:r>
            <a:r>
              <a:rPr lang="vi-VN" sz="1700" dirty="0"/>
              <a:t>thăm/chưa thăm của từng nút trong quá trình duyệt để tránh rơi vào vòng lặp vô</a:t>
            </a:r>
            <a:r>
              <a:rPr lang="en-US" sz="1700" dirty="0"/>
              <a:t> </a:t>
            </a:r>
            <a:r>
              <a:rPr lang="vi-VN" sz="1700" dirty="0"/>
              <a:t>hạn.</a:t>
            </a:r>
            <a:endParaRPr lang="en-US" sz="1700" dirty="0"/>
          </a:p>
          <a:p>
            <a:pPr lvl="1"/>
            <a:r>
              <a:rPr lang="vi-VN" sz="2000" dirty="0"/>
              <a:t>Đồ thị có các nút cô lập: </a:t>
            </a:r>
            <a:endParaRPr lang="en-US" sz="2000" dirty="0"/>
          </a:p>
          <a:p>
            <a:pPr lvl="2"/>
            <a:r>
              <a:rPr lang="vi-VN" sz="1700" dirty="0"/>
              <a:t>có thể bị bỏ quên khi duyệt, nên trong giải</a:t>
            </a:r>
            <a:r>
              <a:rPr lang="en-US" sz="1700" dirty="0"/>
              <a:t> </a:t>
            </a:r>
            <a:r>
              <a:rPr lang="vi-VN" sz="1700" dirty="0"/>
              <a:t>thuật cần cân nhắc để đưa thêm các nút này vào</a:t>
            </a:r>
            <a:endParaRPr lang="en-US" sz="1700" dirty="0"/>
          </a:p>
        </p:txBody>
      </p:sp>
      <p:sp>
        <p:nvSpPr>
          <p:cNvPr id="12" name="Rectangle 11"/>
          <p:cNvSpPr/>
          <p:nvPr/>
        </p:nvSpPr>
        <p:spPr>
          <a:xfrm>
            <a:off x="0" y="831182"/>
            <a:ext cx="9144000" cy="2930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3"/>
          <a:srcRect l="4006" b="13238"/>
          <a:stretch/>
        </p:blipFill>
        <p:spPr>
          <a:xfrm>
            <a:off x="76200" y="953102"/>
            <a:ext cx="2166248" cy="1280160"/>
          </a:xfrm>
          <a:prstGeom prst="rect">
            <a:avLst/>
          </a:prstGeom>
        </p:spPr>
      </p:pic>
      <p:pic>
        <p:nvPicPr>
          <p:cNvPr id="6" name="Picture 5"/>
          <p:cNvPicPr>
            <a:picLocks noChangeAspect="1"/>
          </p:cNvPicPr>
          <p:nvPr/>
        </p:nvPicPr>
        <p:blipFill>
          <a:blip r:embed="rId4"/>
          <a:stretch>
            <a:fillRect/>
          </a:stretch>
        </p:blipFill>
        <p:spPr>
          <a:xfrm>
            <a:off x="2321262" y="953102"/>
            <a:ext cx="2250738" cy="1280160"/>
          </a:xfrm>
          <a:prstGeom prst="rect">
            <a:avLst/>
          </a:prstGeom>
        </p:spPr>
      </p:pic>
      <p:pic>
        <p:nvPicPr>
          <p:cNvPr id="7" name="Picture 6"/>
          <p:cNvPicPr>
            <a:picLocks noChangeAspect="1"/>
          </p:cNvPicPr>
          <p:nvPr/>
        </p:nvPicPr>
        <p:blipFill rotWithShape="1">
          <a:blip r:embed="rId5"/>
          <a:srcRect l="3882"/>
          <a:stretch/>
        </p:blipFill>
        <p:spPr>
          <a:xfrm>
            <a:off x="4676380" y="953102"/>
            <a:ext cx="2181620" cy="1280160"/>
          </a:xfrm>
          <a:prstGeom prst="rect">
            <a:avLst/>
          </a:prstGeom>
        </p:spPr>
      </p:pic>
      <p:pic>
        <p:nvPicPr>
          <p:cNvPr id="8" name="Picture 7"/>
          <p:cNvPicPr>
            <a:picLocks noChangeAspect="1"/>
          </p:cNvPicPr>
          <p:nvPr/>
        </p:nvPicPr>
        <p:blipFill rotWithShape="1">
          <a:blip r:embed="rId6"/>
          <a:srcRect l="54109" t="58118" r="6764"/>
          <a:stretch/>
        </p:blipFill>
        <p:spPr>
          <a:xfrm>
            <a:off x="5837386" y="2451286"/>
            <a:ext cx="2041228" cy="1219200"/>
          </a:xfrm>
          <a:prstGeom prst="rect">
            <a:avLst/>
          </a:prstGeom>
        </p:spPr>
      </p:pic>
      <p:pic>
        <p:nvPicPr>
          <p:cNvPr id="9" name="Picture 8"/>
          <p:cNvPicPr>
            <a:picLocks noChangeAspect="1"/>
          </p:cNvPicPr>
          <p:nvPr/>
        </p:nvPicPr>
        <p:blipFill rotWithShape="1">
          <a:blip r:embed="rId6"/>
          <a:srcRect l="54109" r="5580" b="57999"/>
          <a:stretch/>
        </p:blipFill>
        <p:spPr>
          <a:xfrm>
            <a:off x="3436970" y="2392185"/>
            <a:ext cx="2201830" cy="1280160"/>
          </a:xfrm>
          <a:prstGeom prst="rect">
            <a:avLst/>
          </a:prstGeom>
        </p:spPr>
      </p:pic>
      <p:pic>
        <p:nvPicPr>
          <p:cNvPr id="10" name="Picture 9"/>
          <p:cNvPicPr>
            <a:picLocks noChangeAspect="1"/>
          </p:cNvPicPr>
          <p:nvPr/>
        </p:nvPicPr>
        <p:blipFill rotWithShape="1">
          <a:blip r:embed="rId6"/>
          <a:srcRect l="1573" t="56626" r="58607" b="1"/>
          <a:stretch/>
        </p:blipFill>
        <p:spPr>
          <a:xfrm>
            <a:off x="921959" y="2392185"/>
            <a:ext cx="2106244" cy="1280160"/>
          </a:xfrm>
          <a:prstGeom prst="rect">
            <a:avLst/>
          </a:prstGeom>
        </p:spPr>
      </p:pic>
      <p:pic>
        <p:nvPicPr>
          <p:cNvPr id="11" name="Picture 10"/>
          <p:cNvPicPr>
            <a:picLocks noChangeAspect="1"/>
          </p:cNvPicPr>
          <p:nvPr/>
        </p:nvPicPr>
        <p:blipFill rotWithShape="1">
          <a:blip r:embed="rId6"/>
          <a:srcRect l="2231" r="59305" b="58283"/>
          <a:stretch/>
        </p:blipFill>
        <p:spPr>
          <a:xfrm>
            <a:off x="6952526" y="953102"/>
            <a:ext cx="2115274" cy="1280160"/>
          </a:xfrm>
          <a:prstGeom prst="rect">
            <a:avLst/>
          </a:prstGeom>
        </p:spPr>
      </p:pic>
      <p:sp>
        <p:nvSpPr>
          <p:cNvPr id="13" name="Rectangle 12"/>
          <p:cNvSpPr/>
          <p:nvPr/>
        </p:nvSpPr>
        <p:spPr>
          <a:xfrm flipH="1">
            <a:off x="3165549" y="3395317"/>
            <a:ext cx="415851" cy="3666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flipH="1">
            <a:off x="4692211" y="3395317"/>
            <a:ext cx="1327589" cy="3666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7"/>
          <a:stretch>
            <a:fillRect/>
          </a:stretch>
        </p:blipFill>
        <p:spPr>
          <a:xfrm>
            <a:off x="7571394" y="3381114"/>
            <a:ext cx="1572606" cy="949792"/>
          </a:xfrm>
          <a:prstGeom prst="rect">
            <a:avLst/>
          </a:prstGeom>
        </p:spPr>
      </p:pic>
    </p:spTree>
    <p:extLst>
      <p:ext uri="{BB962C8B-B14F-4D97-AF65-F5344CB8AC3E}">
        <p14:creationId xmlns:p14="http://schemas.microsoft.com/office/powerpoint/2010/main" val="228321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Duyệt theo chiều rộng</a:t>
            </a:r>
          </a:p>
        </p:txBody>
      </p:sp>
      <p:sp>
        <p:nvSpPr>
          <p:cNvPr id="3" name="Content Placeholder 2"/>
          <p:cNvSpPr>
            <a:spLocks noGrp="1"/>
          </p:cNvSpPr>
          <p:nvPr>
            <p:ph sz="quarter" idx="13"/>
          </p:nvPr>
        </p:nvSpPr>
        <p:spPr>
          <a:xfrm>
            <a:off x="235076" y="841249"/>
            <a:ext cx="8908923" cy="5303393"/>
          </a:xfrm>
        </p:spPr>
        <p:txBody>
          <a:bodyPr>
            <a:normAutofit/>
          </a:bodyPr>
          <a:lstStyle/>
          <a:p>
            <a:r>
              <a:rPr lang="en-US" sz="2400" dirty="0"/>
              <a:t>G</a:t>
            </a:r>
            <a:r>
              <a:rPr lang="vi-VN" sz="2400" dirty="0"/>
              <a:t>iải thuật duyệt :</a:t>
            </a:r>
          </a:p>
          <a:p>
            <a:pPr lvl="1"/>
            <a:r>
              <a:rPr lang="vi-VN" sz="2000" dirty="0"/>
              <a:t>Bước 1: Thăm nút v</a:t>
            </a:r>
            <a:r>
              <a:rPr lang="vi-VN" sz="2000" baseline="-25000" dirty="0"/>
              <a:t>s</a:t>
            </a:r>
            <a:r>
              <a:rPr lang="vi-VN" sz="2000" dirty="0"/>
              <a:t>.</a:t>
            </a:r>
          </a:p>
          <a:p>
            <a:pPr lvl="1"/>
            <a:r>
              <a:rPr lang="vi-VN" sz="2000" dirty="0"/>
              <a:t>Bước 2: Tìm tập V</a:t>
            </a:r>
            <a:r>
              <a:rPr lang="vi-VN" sz="2000" baseline="-25000" dirty="0"/>
              <a:t>AS</a:t>
            </a:r>
            <a:r>
              <a:rPr lang="vi-VN" sz="2000" dirty="0"/>
              <a:t> là các nút kề của v</a:t>
            </a:r>
            <a:r>
              <a:rPr lang="vi-VN" sz="2000" baseline="-25000" dirty="0"/>
              <a:t>s</a:t>
            </a:r>
            <a:r>
              <a:rPr lang="en-US" sz="2000" dirty="0"/>
              <a:t> </a:t>
            </a:r>
            <a:r>
              <a:rPr lang="vi-VN" sz="2000" dirty="0"/>
              <a:t>mà chưa được thăm.</a:t>
            </a:r>
          </a:p>
          <a:p>
            <a:pPr lvl="1"/>
            <a:r>
              <a:rPr lang="vi-VN" sz="2000" dirty="0"/>
              <a:t>Bước 3: Thăm lần lượt các nút trong V</a:t>
            </a:r>
            <a:r>
              <a:rPr lang="vi-VN" sz="2000" baseline="-25000" dirty="0"/>
              <a:t>AS</a:t>
            </a:r>
            <a:r>
              <a:rPr lang="vi-VN" sz="2000" dirty="0"/>
              <a:t>.</a:t>
            </a:r>
          </a:p>
          <a:p>
            <a:pPr lvl="1"/>
            <a:r>
              <a:rPr lang="vi-VN" sz="2000" dirty="0"/>
              <a:t>Bước 4: Lặp lại giải thuật cho từng nút trong V</a:t>
            </a:r>
            <a:r>
              <a:rPr lang="vi-VN" sz="2000" baseline="-25000" dirty="0"/>
              <a:t>AS</a:t>
            </a:r>
            <a:r>
              <a:rPr lang="vi-VN" sz="2000" dirty="0"/>
              <a:t>.</a:t>
            </a:r>
            <a:endParaRPr lang="en-US" sz="2000" dirty="0"/>
          </a:p>
          <a:p>
            <a:r>
              <a:rPr lang="en-US" sz="2400" dirty="0" err="1"/>
              <a:t>Sử</a:t>
            </a:r>
            <a:r>
              <a:rPr lang="en-US" sz="2400" dirty="0"/>
              <a:t> </a:t>
            </a:r>
            <a:r>
              <a:rPr lang="en-US" sz="2400" dirty="0" err="1"/>
              <a:t>dụng</a:t>
            </a:r>
            <a:r>
              <a:rPr lang="en-US" sz="2400" dirty="0"/>
              <a:t> CTDL</a:t>
            </a:r>
            <a:r>
              <a:rPr lang="vi-VN" sz="2400" dirty="0"/>
              <a:t> trung gian để lưu các nút kề</a:t>
            </a:r>
            <a:r>
              <a:rPr lang="en-US" sz="2400" dirty="0"/>
              <a:t> </a:t>
            </a:r>
            <a:r>
              <a:rPr lang="vi-VN" sz="2400" dirty="0"/>
              <a:t>sẽ lần lượt được thăm</a:t>
            </a:r>
            <a:r>
              <a:rPr lang="en-US" sz="2400" dirty="0"/>
              <a:t>: </a:t>
            </a:r>
            <a:r>
              <a:rPr lang="vi-VN" sz="2400" dirty="0"/>
              <a:t>hàng</a:t>
            </a:r>
            <a:r>
              <a:rPr lang="en-US" sz="2400" dirty="0"/>
              <a:t> </a:t>
            </a:r>
            <a:r>
              <a:rPr lang="en-US" sz="2400" dirty="0" err="1"/>
              <a:t>đợi</a:t>
            </a:r>
            <a:r>
              <a:rPr lang="en-US" sz="2400" dirty="0"/>
              <a:t> Q </a:t>
            </a:r>
            <a:r>
              <a:rPr lang="en-US" sz="2000" dirty="0"/>
              <a:t>(</a:t>
            </a:r>
            <a:r>
              <a:rPr lang="vi-VN" sz="2000" dirty="0"/>
              <a:t>các nút được lưu trước sẽ được thăm trướ</a:t>
            </a:r>
            <a:r>
              <a:rPr lang="en-US" sz="2000" dirty="0"/>
              <a:t>c).</a:t>
            </a:r>
            <a:endParaRPr lang="en-US" sz="2400" dirty="0"/>
          </a:p>
          <a:p>
            <a:endParaRPr lang="en-US" sz="2400" dirty="0"/>
          </a:p>
        </p:txBody>
      </p:sp>
      <mc:AlternateContent xmlns:mc="http://schemas.openxmlformats.org/markup-compatibility/2006" xmlns:a14="http://schemas.microsoft.com/office/drawing/2010/main">
        <mc:Choice Requires="a14">
          <p:sp>
            <p:nvSpPr>
              <p:cNvPr id="5" name="Rectangle 4"/>
              <p:cNvSpPr/>
              <p:nvPr/>
            </p:nvSpPr>
            <p:spPr>
              <a:xfrm>
                <a:off x="990600" y="3531610"/>
                <a:ext cx="8381999" cy="2862322"/>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void </a:t>
                </a:r>
                <a:r>
                  <a:rPr lang="en-US" dirty="0" err="1">
                    <a:latin typeface="Courier New" panose="02070309020205020404" pitchFamily="49" charset="0"/>
                    <a:cs typeface="Courier New" panose="02070309020205020404" pitchFamily="49" charset="0"/>
                  </a:rPr>
                  <a:t>BreathFirstSearch</a:t>
                </a:r>
                <a:r>
                  <a:rPr lang="en-US" dirty="0">
                    <a:latin typeface="Courier New" panose="02070309020205020404" pitchFamily="49" charset="0"/>
                    <a:cs typeface="Courier New" panose="02070309020205020404" pitchFamily="49" charset="0"/>
                  </a:rPr>
                  <a:t>(G, v</a:t>
                </a:r>
                <a:r>
                  <a:rPr lang="en-US" baseline="-25000" dirty="0">
                    <a:latin typeface="Courier New" panose="02070309020205020404" pitchFamily="49" charset="0"/>
                    <a:cs typeface="Courier New" panose="02070309020205020404" pitchFamily="49" charset="0"/>
                  </a:rPr>
                  <a:t>s</a:t>
                </a:r>
                <a:r>
                  <a:rPr lang="en-US" dirty="0">
                    <a:latin typeface="Courier New" panose="02070309020205020404" pitchFamily="49" charset="0"/>
                    <a:cs typeface="Courier New" panose="02070309020205020404" pitchFamily="49" charset="0"/>
                  </a:rPr>
                  <a:t>) {</a:t>
                </a:r>
              </a:p>
              <a:p>
                <a:pPr lvl="1"/>
                <a:r>
                  <a:rPr lang="en-US" dirty="0">
                    <a:latin typeface="Courier New" panose="02070309020205020404" pitchFamily="49" charset="0"/>
                    <a:cs typeface="Courier New" panose="02070309020205020404" pitchFamily="49" charset="0"/>
                  </a:rPr>
                  <a:t>insert(v</a:t>
                </a:r>
                <a:r>
                  <a:rPr lang="en-US" baseline="-25000" dirty="0">
                    <a:latin typeface="Courier New" panose="02070309020205020404" pitchFamily="49" charset="0"/>
                    <a:cs typeface="Courier New" panose="02070309020205020404" pitchFamily="49" charset="0"/>
                  </a:rPr>
                  <a:t>s</a:t>
                </a:r>
                <a:r>
                  <a:rPr lang="en-US" dirty="0">
                    <a:latin typeface="Courier New" panose="02070309020205020404" pitchFamily="49" charset="0"/>
                    <a:cs typeface="Courier New" panose="02070309020205020404" pitchFamily="49" charset="0"/>
                  </a:rPr>
                  <a:t>, Q);</a:t>
                </a:r>
              </a:p>
              <a:p>
                <a:pPr lvl="1"/>
                <a:r>
                  <a:rPr lang="en-US" dirty="0">
                    <a:latin typeface="Courier New" panose="02070309020205020404" pitchFamily="49" charset="0"/>
                    <a:cs typeface="Courier New" panose="02070309020205020404" pitchFamily="49" charset="0"/>
                  </a:rPr>
                  <a:t>while (!</a:t>
                </a:r>
                <a:r>
                  <a:rPr lang="en-US" dirty="0" err="1">
                    <a:latin typeface="Courier New" panose="02070309020205020404" pitchFamily="49" charset="0"/>
                    <a:cs typeface="Courier New" panose="02070309020205020404" pitchFamily="49" charset="0"/>
                  </a:rPr>
                  <a:t>isEmpty</a:t>
                </a:r>
                <a:r>
                  <a:rPr lang="en-US" dirty="0">
                    <a:latin typeface="Courier New" panose="02070309020205020404" pitchFamily="49" charset="0"/>
                    <a:cs typeface="Courier New" panose="02070309020205020404" pitchFamily="49" charset="0"/>
                  </a:rPr>
                  <a:t>(Q)){</a:t>
                </a:r>
              </a:p>
              <a:p>
                <a:pPr lvl="2"/>
                <a:r>
                  <a:rPr lang="en-US" dirty="0">
                    <a:latin typeface="Courier New" panose="02070309020205020404" pitchFamily="49" charset="0"/>
                    <a:cs typeface="Courier New" panose="02070309020205020404" pitchFamily="49" charset="0"/>
                  </a:rPr>
                  <a:t>u = remove(Q);</a:t>
                </a:r>
              </a:p>
              <a:p>
                <a:pPr lvl="2"/>
                <a:r>
                  <a:rPr lang="en-US" dirty="0">
                    <a:latin typeface="Courier New" panose="02070309020205020404" pitchFamily="49" charset="0"/>
                    <a:cs typeface="Courier New" panose="02070309020205020404" pitchFamily="49" charset="0"/>
                  </a:rPr>
                  <a:t>visit(u);</a:t>
                </a:r>
              </a:p>
              <a:p>
                <a:pPr lvl="2"/>
                <a:r>
                  <a:rPr lang="en-US" dirty="0">
                    <a:latin typeface="Courier New" panose="02070309020205020404" pitchFamily="49" charset="0"/>
                    <a:cs typeface="Courier New" panose="02070309020205020404" pitchFamily="49" charset="0"/>
                  </a:rPr>
                  <a:t>for each </a:t>
                </a:r>
                <a:r>
                  <a:rPr lang="en-US" dirty="0" err="1">
                    <a:latin typeface="Courier New" panose="02070309020205020404" pitchFamily="49" charset="0"/>
                    <a:cs typeface="Courier New" panose="02070309020205020404" pitchFamily="49" charset="0"/>
                  </a:rPr>
                  <a:t>u</a:t>
                </a:r>
                <a:r>
                  <a:rPr lang="en-US" baseline="-25000" dirty="0" err="1">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:(adjacent to u)&amp;&amp;(unvisited)&amp;&amp;(</a:t>
                </a:r>
                <a:r>
                  <a:rPr lang="en-US" dirty="0" err="1">
                    <a:latin typeface="Courier New" panose="02070309020205020404" pitchFamily="49" charset="0"/>
                    <a:cs typeface="Courier New" panose="02070309020205020404" pitchFamily="49" charset="0"/>
                  </a:rPr>
                  <a:t>u</a:t>
                </a:r>
                <a:r>
                  <a:rPr lang="en-US" baseline="-25000" dirty="0" err="1">
                    <a:latin typeface="Courier New" panose="02070309020205020404" pitchFamily="49" charset="0"/>
                    <a:cs typeface="Courier New" panose="02070309020205020404" pitchFamily="49" charset="0"/>
                  </a:rPr>
                  <a:t>a</a:t>
                </a:r>
                <a14:m>
                  <m:oMath xmlns:m="http://schemas.openxmlformats.org/officeDocument/2006/math">
                    <m:r>
                      <a:rPr lang="en-US" b="0" i="0" smtClean="0">
                        <a:latin typeface="Cambria Math" panose="02040503050406030204" pitchFamily="18" charset="0"/>
                      </a:rPr>
                      <m:t> </m:t>
                    </m:r>
                    <m:r>
                      <a:rPr lang="en-US" i="1" smtClean="0">
                        <a:latin typeface="Cambria Math" panose="02040503050406030204" pitchFamily="18" charset="0"/>
                      </a:rPr>
                      <m:t>∉</m:t>
                    </m:r>
                  </m:oMath>
                </a14:m>
                <a:r>
                  <a:rPr lang="en-US" dirty="0">
                    <a:latin typeface="Courier New" panose="02070309020205020404" pitchFamily="49" charset="0"/>
                    <a:cs typeface="Courier New" panose="02070309020205020404" pitchFamily="49" charset="0"/>
                  </a:rPr>
                  <a:t> Q)</a:t>
                </a:r>
              </a:p>
              <a:p>
                <a:pPr lvl="2"/>
                <a:r>
                  <a:rPr lang="en-US" sz="1400" dirty="0">
                    <a:latin typeface="Courier New" panose="02070309020205020404" pitchFamily="49" charset="0"/>
                    <a:cs typeface="Courier New" panose="02070309020205020404" pitchFamily="49" charset="0"/>
                  </a:rPr>
                  <a:t>// normally sorted by key value</a:t>
                </a:r>
              </a:p>
              <a:p>
                <a:pPr lvl="2"/>
                <a:r>
                  <a:rPr lang="en-US" dirty="0">
                    <a:latin typeface="Courier New" panose="02070309020205020404" pitchFamily="49" charset="0"/>
                    <a:cs typeface="Courier New" panose="02070309020205020404" pitchFamily="49" charset="0"/>
                  </a:rPr>
                  <a:t>insert(</a:t>
                </a:r>
                <a:r>
                  <a:rPr lang="en-US" dirty="0" err="1">
                    <a:latin typeface="Courier New" panose="02070309020205020404" pitchFamily="49" charset="0"/>
                    <a:cs typeface="Courier New" panose="02070309020205020404" pitchFamily="49" charset="0"/>
                  </a:rPr>
                  <a:t>u</a:t>
                </a:r>
                <a:r>
                  <a:rPr lang="en-US" baseline="-25000" dirty="0" err="1">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 Q);</a:t>
                </a:r>
              </a:p>
              <a:p>
                <a:pPr lvl="1"/>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p:txBody>
          </p:sp>
        </mc:Choice>
        <mc:Fallback xmlns="">
          <p:sp>
            <p:nvSpPr>
              <p:cNvPr id="5" name="Rectangle 4"/>
              <p:cNvSpPr>
                <a:spLocks noRot="1" noChangeAspect="1" noMove="1" noResize="1" noEditPoints="1" noAdjustHandles="1" noChangeArrowheads="1" noChangeShapeType="1" noTextEdit="1"/>
              </p:cNvSpPr>
              <p:nvPr/>
            </p:nvSpPr>
            <p:spPr>
              <a:xfrm>
                <a:off x="990600" y="3531610"/>
                <a:ext cx="8381999" cy="2862322"/>
              </a:xfrm>
              <a:prstGeom prst="rect">
                <a:avLst/>
              </a:prstGeom>
              <a:blipFill>
                <a:blip r:embed="rId3"/>
                <a:stretch>
                  <a:fillRect l="-655" t="-1064" b="-213"/>
                </a:stretch>
              </a:blipFill>
            </p:spPr>
            <p:txBody>
              <a:bodyPr/>
              <a:lstStyle/>
              <a:p>
                <a:r>
                  <a:rPr lang="en-US">
                    <a:noFill/>
                  </a:rPr>
                  <a:t> </a:t>
                </a:r>
              </a:p>
            </p:txBody>
          </p:sp>
        </mc:Fallback>
      </mc:AlternateContent>
    </p:spTree>
    <p:extLst>
      <p:ext uri="{BB962C8B-B14F-4D97-AF65-F5344CB8AC3E}">
        <p14:creationId xmlns:p14="http://schemas.microsoft.com/office/powerpoint/2010/main" val="251649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Duyệt theo chiều rộng</a:t>
            </a:r>
          </a:p>
        </p:txBody>
      </p:sp>
      <p:sp>
        <p:nvSpPr>
          <p:cNvPr id="3" name="Content Placeholder 2"/>
          <p:cNvSpPr>
            <a:spLocks noGrp="1"/>
          </p:cNvSpPr>
          <p:nvPr>
            <p:ph sz="quarter" idx="13"/>
          </p:nvPr>
        </p:nvSpPr>
        <p:spPr/>
        <p:txBody>
          <a:bodyPr/>
          <a:lstStyle/>
          <a:p>
            <a:r>
              <a:rPr lang="vi-VN" b="0" dirty="0"/>
              <a:t>Độ phức tạp của thủ tục</a:t>
            </a:r>
            <a:r>
              <a:rPr lang="en-US" b="0" dirty="0"/>
              <a:t>: </a:t>
            </a:r>
            <a:r>
              <a:rPr lang="vi-VN" b="0" dirty="0"/>
              <a:t>phụ thuộc vào thao tác tìm kiếm nút kề cận u</a:t>
            </a:r>
            <a:r>
              <a:rPr lang="vi-VN" b="0" baseline="-25000" dirty="0"/>
              <a:t>a</a:t>
            </a:r>
            <a:endParaRPr lang="vi-VN" b="0" dirty="0"/>
          </a:p>
          <a:p>
            <a:r>
              <a:rPr lang="vi-VN" b="0" dirty="0"/>
              <a:t>Có </a:t>
            </a:r>
            <a:r>
              <a:rPr lang="en-US" b="0" dirty="0" err="1"/>
              <a:t>thể</a:t>
            </a:r>
            <a:r>
              <a:rPr lang="en-US" b="0" dirty="0"/>
              <a:t> </a:t>
            </a:r>
            <a:r>
              <a:rPr lang="en-US" b="0" dirty="0" err="1"/>
              <a:t>đánh</a:t>
            </a:r>
            <a:r>
              <a:rPr lang="en-US" b="0" dirty="0"/>
              <a:t> </a:t>
            </a:r>
            <a:r>
              <a:rPr lang="en-US" b="0" dirty="0" err="1"/>
              <a:t>dấu</a:t>
            </a:r>
            <a:r>
              <a:rPr lang="en-US" b="0" dirty="0"/>
              <a:t> 3</a:t>
            </a:r>
            <a:r>
              <a:rPr lang="vi-VN" b="0" dirty="0"/>
              <a:t> trạng thái </a:t>
            </a:r>
            <a:r>
              <a:rPr lang="en-US" b="0" dirty="0"/>
              <a:t>c</a:t>
            </a:r>
            <a:r>
              <a:rPr lang="vi-VN" b="0" dirty="0"/>
              <a:t>ho các nút</a:t>
            </a:r>
            <a:endParaRPr lang="en-US" b="0" dirty="0"/>
          </a:p>
          <a:p>
            <a:pPr lvl="1"/>
            <a:r>
              <a:rPr lang="en-US" dirty="0"/>
              <a:t>N</a:t>
            </a:r>
            <a:r>
              <a:rPr lang="vi-VN" dirty="0"/>
              <a:t>út chưa được thăm và chưa nằm trong hàng đợi</a:t>
            </a:r>
          </a:p>
          <a:p>
            <a:pPr lvl="1"/>
            <a:r>
              <a:rPr lang="en-US" dirty="0" err="1"/>
              <a:t>Nút</a:t>
            </a:r>
            <a:r>
              <a:rPr lang="en-US" dirty="0"/>
              <a:t> c</a:t>
            </a:r>
            <a:r>
              <a:rPr lang="vi-VN" dirty="0"/>
              <a:t>hưa được thăm nhưng đang nằm trong hành đợi</a:t>
            </a:r>
          </a:p>
          <a:p>
            <a:pPr lvl="1"/>
            <a:r>
              <a:rPr lang="en-US" dirty="0" err="1"/>
              <a:t>Nút</a:t>
            </a:r>
            <a:r>
              <a:rPr lang="vi-VN" dirty="0"/>
              <a:t> đã được thăm</a:t>
            </a:r>
          </a:p>
        </p:txBody>
      </p:sp>
      <p:pic>
        <p:nvPicPr>
          <p:cNvPr id="5" name="Picture 4"/>
          <p:cNvPicPr>
            <a:picLocks noChangeAspect="1"/>
          </p:cNvPicPr>
          <p:nvPr/>
        </p:nvPicPr>
        <p:blipFill>
          <a:blip r:embed="rId3"/>
          <a:stretch>
            <a:fillRect/>
          </a:stretch>
        </p:blipFill>
        <p:spPr>
          <a:xfrm>
            <a:off x="1352550" y="3140367"/>
            <a:ext cx="6438900" cy="3336633"/>
          </a:xfrm>
          <a:prstGeom prst="rect">
            <a:avLst/>
          </a:prstGeom>
        </p:spPr>
      </p:pic>
      <p:pic>
        <p:nvPicPr>
          <p:cNvPr id="6" name="Picture 5"/>
          <p:cNvPicPr>
            <a:picLocks noChangeAspect="1"/>
          </p:cNvPicPr>
          <p:nvPr/>
        </p:nvPicPr>
        <p:blipFill>
          <a:blip r:embed="rId4"/>
          <a:stretch>
            <a:fillRect/>
          </a:stretch>
        </p:blipFill>
        <p:spPr>
          <a:xfrm>
            <a:off x="6334767" y="2148381"/>
            <a:ext cx="350062" cy="395439"/>
          </a:xfrm>
          <a:prstGeom prst="rect">
            <a:avLst/>
          </a:prstGeom>
        </p:spPr>
      </p:pic>
      <p:pic>
        <p:nvPicPr>
          <p:cNvPr id="7" name="Picture 6"/>
          <p:cNvPicPr>
            <a:picLocks noChangeAspect="1"/>
          </p:cNvPicPr>
          <p:nvPr/>
        </p:nvPicPr>
        <p:blipFill>
          <a:blip r:embed="rId5"/>
          <a:stretch>
            <a:fillRect/>
          </a:stretch>
        </p:blipFill>
        <p:spPr>
          <a:xfrm>
            <a:off x="6324601" y="1818795"/>
            <a:ext cx="370394" cy="336721"/>
          </a:xfrm>
          <a:prstGeom prst="rect">
            <a:avLst/>
          </a:prstGeom>
        </p:spPr>
      </p:pic>
      <p:pic>
        <p:nvPicPr>
          <p:cNvPr id="8" name="Picture 7"/>
          <p:cNvPicPr>
            <a:picLocks noChangeAspect="1"/>
          </p:cNvPicPr>
          <p:nvPr/>
        </p:nvPicPr>
        <p:blipFill>
          <a:blip r:embed="rId6"/>
          <a:stretch>
            <a:fillRect/>
          </a:stretch>
        </p:blipFill>
        <p:spPr>
          <a:xfrm>
            <a:off x="6324600" y="1437796"/>
            <a:ext cx="365760" cy="345057"/>
          </a:xfrm>
          <a:prstGeom prst="rect">
            <a:avLst/>
          </a:prstGeom>
        </p:spPr>
      </p:pic>
      <p:pic>
        <p:nvPicPr>
          <p:cNvPr id="9" name="Picture 8"/>
          <p:cNvPicPr>
            <a:picLocks noChangeAspect="1"/>
          </p:cNvPicPr>
          <p:nvPr/>
        </p:nvPicPr>
        <p:blipFill rotWithShape="1">
          <a:blip r:embed="rId3"/>
          <a:srcRect r="68935" b="52042"/>
          <a:stretch/>
        </p:blipFill>
        <p:spPr>
          <a:xfrm>
            <a:off x="1352550" y="3140367"/>
            <a:ext cx="2000250" cy="1600200"/>
          </a:xfrm>
          <a:prstGeom prst="rect">
            <a:avLst/>
          </a:prstGeom>
        </p:spPr>
      </p:pic>
    </p:spTree>
    <p:extLst>
      <p:ext uri="{BB962C8B-B14F-4D97-AF65-F5344CB8AC3E}">
        <p14:creationId xmlns:p14="http://schemas.microsoft.com/office/powerpoint/2010/main" val="308131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26</a:t>
            </a:fld>
            <a:endParaRPr lang="en-US"/>
          </a:p>
        </p:txBody>
      </p:sp>
      <p:sp>
        <p:nvSpPr>
          <p:cNvPr id="4" name="Title 3"/>
          <p:cNvSpPr>
            <a:spLocks noGrp="1"/>
          </p:cNvSpPr>
          <p:nvPr>
            <p:ph type="title"/>
          </p:nvPr>
        </p:nvSpPr>
        <p:spPr/>
        <p:txBody>
          <a:bodyPr/>
          <a:lstStyle/>
          <a:p>
            <a:endParaRPr lang="en-US"/>
          </a:p>
        </p:txBody>
      </p:sp>
      <p:sp>
        <p:nvSpPr>
          <p:cNvPr id="5" name="Content Placeholder 4"/>
          <p:cNvSpPr>
            <a:spLocks noGrp="1"/>
          </p:cNvSpPr>
          <p:nvPr>
            <p:ph sz="quarter" idx="13"/>
          </p:nvPr>
        </p:nvSpPr>
        <p:spPr>
          <a:xfrm>
            <a:off x="235077" y="2438400"/>
            <a:ext cx="8674100" cy="3706242"/>
          </a:xfrm>
        </p:spPr>
        <p:txBody>
          <a:bodyPr>
            <a:normAutofit/>
          </a:bodyPr>
          <a:lstStyle/>
          <a:p>
            <a:pPr marL="0" indent="0" algn="r">
              <a:buNone/>
            </a:pPr>
            <a:r>
              <a:rPr lang="en-US" sz="3200" b="1" dirty="0"/>
              <a:t>4. </a:t>
            </a:r>
            <a:r>
              <a:rPr lang="en-US" sz="3200" b="1" dirty="0" err="1"/>
              <a:t>Một</a:t>
            </a:r>
            <a:r>
              <a:rPr lang="en-US" sz="3200" b="1" dirty="0"/>
              <a:t> </a:t>
            </a:r>
            <a:r>
              <a:rPr lang="en-US" sz="3200" b="1" dirty="0" err="1"/>
              <a:t>số</a:t>
            </a:r>
            <a:r>
              <a:rPr lang="en-US" sz="3200" b="1" dirty="0"/>
              <a:t> </a:t>
            </a:r>
            <a:r>
              <a:rPr lang="en-US" sz="3200" b="1" dirty="0" err="1"/>
              <a:t>bài</a:t>
            </a:r>
            <a:r>
              <a:rPr lang="en-US" sz="3200" b="1" dirty="0"/>
              <a:t> </a:t>
            </a:r>
            <a:r>
              <a:rPr lang="en-US" sz="3200" b="1" dirty="0" err="1"/>
              <a:t>toán</a:t>
            </a:r>
            <a:r>
              <a:rPr lang="en-US" sz="3200" b="1" dirty="0"/>
              <a:t> </a:t>
            </a:r>
            <a:r>
              <a:rPr lang="en-US" sz="3200" b="1" dirty="0" err="1"/>
              <a:t>về</a:t>
            </a:r>
            <a:r>
              <a:rPr lang="en-US" sz="3200" b="1" dirty="0"/>
              <a:t> </a:t>
            </a:r>
            <a:r>
              <a:rPr lang="en-US" sz="3200" b="1" dirty="0" err="1"/>
              <a:t>đồ</a:t>
            </a:r>
            <a:r>
              <a:rPr lang="en-US" sz="3200" b="1" dirty="0"/>
              <a:t> </a:t>
            </a:r>
            <a:r>
              <a:rPr lang="en-US" sz="3200" b="1" dirty="0" err="1"/>
              <a:t>thị</a:t>
            </a:r>
            <a:endParaRPr lang="en-US" sz="3200" dirty="0"/>
          </a:p>
        </p:txBody>
      </p:sp>
    </p:spTree>
    <p:extLst>
      <p:ext uri="{BB962C8B-B14F-4D97-AF65-F5344CB8AC3E}">
        <p14:creationId xmlns:p14="http://schemas.microsoft.com/office/powerpoint/2010/main" val="3016514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4.1. Các bài toán tìm đường đi ngắn nhất</a:t>
            </a:r>
          </a:p>
        </p:txBody>
      </p:sp>
      <p:sp>
        <p:nvSpPr>
          <p:cNvPr id="6" name="Content Placeholder 5"/>
          <p:cNvSpPr>
            <a:spLocks noGrp="1"/>
          </p:cNvSpPr>
          <p:nvPr>
            <p:ph sz="quarter" idx="13"/>
          </p:nvPr>
        </p:nvSpPr>
        <p:spPr/>
        <p:txBody>
          <a:bodyPr>
            <a:normAutofit/>
          </a:bodyPr>
          <a:lstStyle/>
          <a:p>
            <a:r>
              <a:rPr lang="vi-VN" sz="2400" dirty="0"/>
              <a:t>Đối với đồ thị có trọng số, có một lớp các bài toán tìm đường đi ngắn nhất</a:t>
            </a:r>
            <a:r>
              <a:rPr lang="en-US" sz="2400" dirty="0"/>
              <a:t>:</a:t>
            </a:r>
            <a:endParaRPr lang="vi-VN" sz="2400" dirty="0"/>
          </a:p>
          <a:p>
            <a:pPr lvl="1"/>
            <a:r>
              <a:rPr lang="vi-VN" sz="2000" dirty="0"/>
              <a:t>Tìm đường đi ngắn nhất giữa hai đỉnh</a:t>
            </a:r>
          </a:p>
          <a:p>
            <a:pPr lvl="1"/>
            <a:r>
              <a:rPr lang="vi-VN" sz="2000" dirty="0"/>
              <a:t>Tìm đường đi ngắn nhất từ một đỉnh đến các đỉnh còn lại</a:t>
            </a:r>
          </a:p>
          <a:p>
            <a:pPr lvl="1"/>
            <a:r>
              <a:rPr lang="vi-VN" sz="2000" dirty="0"/>
              <a:t>Tìm đường đi ngắn nhất giữa mọi cặp đỉnh</a:t>
            </a:r>
            <a:endParaRPr lang="en-US" sz="2000" dirty="0"/>
          </a:p>
          <a:p>
            <a:r>
              <a:rPr lang="en-US" sz="2300" dirty="0" err="1"/>
              <a:t>Ứng</a:t>
            </a:r>
            <a:r>
              <a:rPr lang="en-US" sz="2300" dirty="0"/>
              <a:t> </a:t>
            </a:r>
            <a:r>
              <a:rPr lang="en-US" sz="2300" dirty="0" err="1"/>
              <a:t>dụng</a:t>
            </a:r>
            <a:r>
              <a:rPr lang="en-US" sz="2300" dirty="0"/>
              <a:t>:</a:t>
            </a:r>
          </a:p>
        </p:txBody>
      </p:sp>
      <p:pic>
        <p:nvPicPr>
          <p:cNvPr id="7" name="Picture 6"/>
          <p:cNvPicPr>
            <a:picLocks noChangeAspect="1"/>
          </p:cNvPicPr>
          <p:nvPr/>
        </p:nvPicPr>
        <p:blipFill>
          <a:blip r:embed="rId3"/>
          <a:stretch>
            <a:fillRect/>
          </a:stretch>
        </p:blipFill>
        <p:spPr>
          <a:xfrm>
            <a:off x="1066801" y="3048000"/>
            <a:ext cx="2895600" cy="1628049"/>
          </a:xfrm>
          <a:prstGeom prst="rect">
            <a:avLst/>
          </a:prstGeom>
        </p:spPr>
      </p:pic>
      <p:pic>
        <p:nvPicPr>
          <p:cNvPr id="8" name="Picture 7"/>
          <p:cNvPicPr>
            <a:picLocks noChangeAspect="1"/>
          </p:cNvPicPr>
          <p:nvPr/>
        </p:nvPicPr>
        <p:blipFill>
          <a:blip r:embed="rId4"/>
          <a:stretch>
            <a:fillRect/>
          </a:stretch>
        </p:blipFill>
        <p:spPr>
          <a:xfrm>
            <a:off x="1063845" y="4876801"/>
            <a:ext cx="2898556" cy="1833416"/>
          </a:xfrm>
          <a:prstGeom prst="rect">
            <a:avLst/>
          </a:prstGeom>
        </p:spPr>
      </p:pic>
      <p:pic>
        <p:nvPicPr>
          <p:cNvPr id="9" name="Picture 8"/>
          <p:cNvPicPr>
            <a:picLocks noChangeAspect="1"/>
          </p:cNvPicPr>
          <p:nvPr/>
        </p:nvPicPr>
        <p:blipFill>
          <a:blip r:embed="rId5"/>
          <a:stretch>
            <a:fillRect/>
          </a:stretch>
        </p:blipFill>
        <p:spPr>
          <a:xfrm>
            <a:off x="4267200" y="2977730"/>
            <a:ext cx="3286825" cy="1698319"/>
          </a:xfrm>
          <a:prstGeom prst="rect">
            <a:avLst/>
          </a:prstGeom>
        </p:spPr>
      </p:pic>
      <p:pic>
        <p:nvPicPr>
          <p:cNvPr id="10" name="Picture 9"/>
          <p:cNvPicPr>
            <a:picLocks noChangeAspect="1"/>
          </p:cNvPicPr>
          <p:nvPr/>
        </p:nvPicPr>
        <p:blipFill>
          <a:blip r:embed="rId6"/>
          <a:stretch>
            <a:fillRect/>
          </a:stretch>
        </p:blipFill>
        <p:spPr>
          <a:xfrm>
            <a:off x="4267200" y="4876802"/>
            <a:ext cx="3286825" cy="1833416"/>
          </a:xfrm>
          <a:prstGeom prst="rect">
            <a:avLst/>
          </a:prstGeom>
        </p:spPr>
      </p:pic>
    </p:spTree>
    <p:extLst>
      <p:ext uri="{BB962C8B-B14F-4D97-AF65-F5344CB8AC3E}">
        <p14:creationId xmlns:p14="http://schemas.microsoft.com/office/powerpoint/2010/main" val="144442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28</a:t>
            </a:fld>
            <a:endParaRPr lang="en-US"/>
          </a:p>
        </p:txBody>
      </p:sp>
      <p:sp>
        <p:nvSpPr>
          <p:cNvPr id="3" name="Title 2"/>
          <p:cNvSpPr>
            <a:spLocks noGrp="1"/>
          </p:cNvSpPr>
          <p:nvPr>
            <p:ph type="title"/>
          </p:nvPr>
        </p:nvSpPr>
        <p:spPr/>
        <p:txBody>
          <a:bodyPr/>
          <a:lstStyle/>
          <a:p>
            <a:r>
              <a:rPr lang="vi-VN" dirty="0"/>
              <a:t>4.1. Các bài toán tìm đường đi ngắn nhất</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3"/>
              </p:nvPr>
            </p:nvSpPr>
            <p:spPr/>
            <p:txBody>
              <a:bodyPr>
                <a:normAutofit lnSpcReduction="10000"/>
              </a:bodyPr>
              <a:lstStyle/>
              <a:p>
                <a:r>
                  <a:rPr lang="en-US" dirty="0" err="1"/>
                  <a:t>Tính</a:t>
                </a:r>
                <a:r>
                  <a:rPr lang="en-US" dirty="0"/>
                  <a:t> </a:t>
                </a:r>
                <a:r>
                  <a:rPr lang="en-US" dirty="0" err="1"/>
                  <a:t>chất</a:t>
                </a:r>
                <a:r>
                  <a:rPr lang="en-US" dirty="0"/>
                  <a:t> (</a:t>
                </a:r>
                <a:r>
                  <a:rPr lang="en-US" dirty="0" err="1"/>
                  <a:t>tính</a:t>
                </a:r>
                <a:r>
                  <a:rPr lang="en-US" dirty="0"/>
                  <a:t> </a:t>
                </a:r>
                <a:r>
                  <a:rPr lang="en-US" dirty="0" err="1"/>
                  <a:t>chất</a:t>
                </a:r>
                <a:r>
                  <a:rPr lang="en-US" dirty="0"/>
                  <a:t> </a:t>
                </a:r>
                <a:r>
                  <a:rPr lang="en-US" dirty="0" err="1"/>
                  <a:t>bộ</a:t>
                </a:r>
                <a:r>
                  <a:rPr lang="en-US" dirty="0"/>
                  <a:t> </a:t>
                </a:r>
                <a:r>
                  <a:rPr lang="en-US" dirty="0" err="1"/>
                  <a:t>phận</a:t>
                </a:r>
                <a:r>
                  <a:rPr lang="en-US" dirty="0"/>
                  <a:t>):</a:t>
                </a:r>
              </a:p>
              <a:p>
                <a:pPr lvl="1"/>
                <a:r>
                  <a:rPr lang="vi-VN" dirty="0"/>
                  <a:t>Cho đồ thị G(V, E), và hai đỉnh u, v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t> V.</a:t>
                </a:r>
                <a:endParaRPr lang="en-US" dirty="0"/>
              </a:p>
              <a:p>
                <a:pPr lvl="1"/>
                <a:r>
                  <a:rPr lang="vi-VN" dirty="0"/>
                  <a:t>Gọi p</a:t>
                </a:r>
                <a:r>
                  <a:rPr lang="vi-VN" baseline="-25000" dirty="0"/>
                  <a:t>m</a:t>
                </a:r>
                <a:r>
                  <a:rPr lang="vi-VN" dirty="0"/>
                  <a:t>(u, v) là đường đi</a:t>
                </a:r>
                <a:r>
                  <a:rPr lang="en-US" dirty="0"/>
                  <a:t> </a:t>
                </a:r>
                <a:r>
                  <a:rPr lang="vi-VN" dirty="0"/>
                  <a:t>ngắn nhất từ u đến v. </a:t>
                </a:r>
                <a:endParaRPr lang="en-US" dirty="0"/>
              </a:p>
              <a:p>
                <a:pPr lvl="1"/>
                <a:r>
                  <a:rPr lang="vi-VN" dirty="0"/>
                  <a:t>Khi đó,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t> đỉnh w nằm trên p</a:t>
                </a:r>
                <a:r>
                  <a:rPr lang="vi-VN" baseline="-25000" dirty="0"/>
                  <a:t>m</a:t>
                </a:r>
                <a:r>
                  <a:rPr lang="vi-VN" dirty="0"/>
                  <a:t>(u, v)</a:t>
                </a:r>
                <a:r>
                  <a:rPr lang="en-US" dirty="0"/>
                  <a:t>;</a:t>
                </a:r>
                <a:r>
                  <a:rPr lang="vi-VN" dirty="0"/>
                  <a:t> p(u, w) và p(w,</a:t>
                </a:r>
                <a:r>
                  <a:rPr lang="en-US" dirty="0"/>
                  <a:t> </a:t>
                </a:r>
                <a:r>
                  <a:rPr lang="vi-VN" dirty="0"/>
                  <a:t>v) đều là các đường đi ngắn nhất.</a:t>
                </a: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err="1"/>
                  <a:t>Chiến</a:t>
                </a:r>
                <a:r>
                  <a:rPr lang="en-US" dirty="0"/>
                  <a:t> </a:t>
                </a:r>
                <a:r>
                  <a:rPr lang="en-US" dirty="0" err="1"/>
                  <a:t>lược</a:t>
                </a:r>
                <a:r>
                  <a:rPr lang="en-US" dirty="0"/>
                  <a:t> </a:t>
                </a:r>
                <a:r>
                  <a:rPr lang="vi-VN" dirty="0"/>
                  <a:t>tìm đường đi ngắn nhất giữa hai đỉnh u (đỉnh nguồn) và v (đỉnh</a:t>
                </a:r>
                <a:r>
                  <a:rPr lang="en-US" dirty="0"/>
                  <a:t> </a:t>
                </a:r>
                <a:r>
                  <a:rPr lang="vi-VN" dirty="0"/>
                  <a:t>đích)</a:t>
                </a:r>
                <a:r>
                  <a:rPr lang="en-US" dirty="0"/>
                  <a:t>:</a:t>
                </a:r>
              </a:p>
              <a:p>
                <a:pPr lvl="1"/>
                <a:r>
                  <a:rPr lang="vi-VN" dirty="0"/>
                  <a:t>nếu chỉ có</a:t>
                </a:r>
                <a:r>
                  <a:rPr lang="en-US" dirty="0"/>
                  <a:t> </a:t>
                </a:r>
                <a:r>
                  <a:rPr lang="vi-VN" dirty="0"/>
                  <a:t>một đường đi giữa </a:t>
                </a:r>
                <a:r>
                  <a:rPr lang="vi-VN" i="1" dirty="0"/>
                  <a:t>u</a:t>
                </a:r>
                <a:r>
                  <a:rPr lang="vi-VN" dirty="0"/>
                  <a:t> và </a:t>
                </a:r>
                <a:r>
                  <a:rPr lang="vi-VN" i="1" dirty="0"/>
                  <a:t>v</a:t>
                </a:r>
                <a:r>
                  <a:rPr lang="vi-VN" dirty="0"/>
                  <a:t> thì đó chính là đường đi phải tìm</a:t>
                </a:r>
                <a:endParaRPr lang="en-US" dirty="0"/>
              </a:p>
              <a:p>
                <a:pPr lvl="1"/>
                <a:r>
                  <a:rPr lang="en-US" dirty="0" err="1"/>
                  <a:t>nếu</a:t>
                </a:r>
                <a:r>
                  <a:rPr lang="en-US" dirty="0"/>
                  <a:t> </a:t>
                </a:r>
                <a:r>
                  <a:rPr lang="en-US" dirty="0" err="1"/>
                  <a:t>không</a:t>
                </a:r>
                <a:r>
                  <a:rPr lang="en-US" dirty="0"/>
                  <a:t> </a:t>
                </a:r>
                <a:r>
                  <a:rPr lang="vi-VN" dirty="0"/>
                  <a:t>cần kiểm</a:t>
                </a:r>
                <a:r>
                  <a:rPr lang="en-US" dirty="0"/>
                  <a:t> </a:t>
                </a:r>
                <a:r>
                  <a:rPr lang="vi-VN" dirty="0"/>
                  <a:t>tra và so sánh tất cả đường đi</a:t>
                </a:r>
                <a:r>
                  <a:rPr lang="en-US" dirty="0"/>
                  <a:t> </a:t>
                </a:r>
                <a:r>
                  <a:rPr lang="en-US" dirty="0" err="1"/>
                  <a:t>giữa</a:t>
                </a:r>
                <a:r>
                  <a:rPr lang="en-US" dirty="0"/>
                  <a:t> </a:t>
                </a:r>
                <a:r>
                  <a:rPr lang="en-US" i="1" dirty="0"/>
                  <a:t>u</a:t>
                </a:r>
                <a:r>
                  <a:rPr lang="en-US" dirty="0"/>
                  <a:t> </a:t>
                </a:r>
                <a:r>
                  <a:rPr lang="en-US" dirty="0" err="1"/>
                  <a:t>và</a:t>
                </a:r>
                <a:r>
                  <a:rPr lang="en-US" dirty="0"/>
                  <a:t> </a:t>
                </a:r>
                <a:r>
                  <a:rPr lang="en-US" i="1" dirty="0"/>
                  <a:t>v</a:t>
                </a:r>
              </a:p>
              <a:p>
                <a:pPr lvl="1"/>
                <a:r>
                  <a:rPr lang="vi-VN" dirty="0"/>
                  <a:t>phương pháp</a:t>
                </a:r>
                <a:r>
                  <a:rPr lang="en-US" dirty="0"/>
                  <a:t> </a:t>
                </a:r>
                <a:r>
                  <a:rPr lang="vi-VN" dirty="0"/>
                  <a:t>duyệt theo chiều sâu bắt đầu từ nút </a:t>
                </a:r>
                <a:r>
                  <a:rPr lang="vi-VN" i="1" dirty="0"/>
                  <a:t>u</a:t>
                </a:r>
                <a:r>
                  <a:rPr lang="vi-VN" dirty="0"/>
                  <a:t> sẽ được sử dụng để tìm kiếm và so sánh</a:t>
                </a:r>
                <a:r>
                  <a:rPr lang="en-US" dirty="0"/>
                  <a:t> </a:t>
                </a:r>
                <a:r>
                  <a:rPr lang="vi-VN" dirty="0"/>
                  <a:t>các đường đi này</a:t>
                </a:r>
                <a:endParaRPr lang="en-US" dirty="0"/>
              </a:p>
              <a:p>
                <a:pPr lvl="1"/>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3"/>
              </p:nvPr>
            </p:nvSpPr>
            <p:spPr>
              <a:blipFill>
                <a:blip r:embed="rId2"/>
                <a:stretch>
                  <a:fillRect l="-703" t="-1954"/>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2488243" y="2133600"/>
            <a:ext cx="4167514" cy="1748489"/>
          </a:xfrm>
          <a:prstGeom prst="rect">
            <a:avLst/>
          </a:prstGeom>
        </p:spPr>
      </p:pic>
    </p:spTree>
    <p:extLst>
      <p:ext uri="{BB962C8B-B14F-4D97-AF65-F5344CB8AC3E}">
        <p14:creationId xmlns:p14="http://schemas.microsoft.com/office/powerpoint/2010/main" val="91063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29</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Dijkstra</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3"/>
              </p:nvPr>
            </p:nvSpPr>
            <p:spPr/>
            <p:txBody>
              <a:bodyPr/>
              <a:lstStyle/>
              <a:p>
                <a:r>
                  <a:rPr lang="en-US" dirty="0"/>
                  <a:t>T</a:t>
                </a:r>
                <a:r>
                  <a:rPr lang="vi-VN" dirty="0"/>
                  <a:t>ìm đường đi ngắn nhất từ một đỉnh (nút nguồn) đến</a:t>
                </a:r>
                <a:r>
                  <a:rPr lang="en-US" dirty="0"/>
                  <a:t> </a:t>
                </a:r>
                <a:r>
                  <a:rPr lang="vi-VN" dirty="0"/>
                  <a:t>các đỉnh còn lại (nút đích) của một đồ thị</a:t>
                </a:r>
              </a:p>
              <a:p>
                <a:r>
                  <a:rPr lang="en-US" dirty="0"/>
                  <a:t>Á</a:t>
                </a:r>
                <a:r>
                  <a:rPr lang="vi-VN" dirty="0"/>
                  <a:t>p dụng trên đồ thị có trọng số dương </a:t>
                </a:r>
                <a:r>
                  <a:rPr lang="en-US" dirty="0" err="1"/>
                  <a:t>và</a:t>
                </a:r>
                <a:r>
                  <a:rPr lang="en-US" dirty="0"/>
                  <a:t> </a:t>
                </a:r>
                <a:r>
                  <a:rPr lang="vi-VN" dirty="0"/>
                  <a:t>liên thông</a:t>
                </a:r>
                <a:endParaRPr lang="en-US" dirty="0"/>
              </a:p>
              <a:p>
                <a:r>
                  <a:rPr lang="vi-VN" dirty="0"/>
                  <a:t>Ý tưởng giải thuật</a:t>
                </a:r>
                <a:r>
                  <a:rPr lang="en-US" dirty="0"/>
                  <a:t>:</a:t>
                </a:r>
              </a:p>
              <a:p>
                <a:pPr lvl="1"/>
                <a:r>
                  <a:rPr lang="en-US" dirty="0" err="1"/>
                  <a:t>Đầu</a:t>
                </a:r>
                <a:r>
                  <a:rPr lang="en-US" dirty="0"/>
                  <a:t> </a:t>
                </a:r>
                <a:r>
                  <a:rPr lang="en-US" dirty="0" err="1"/>
                  <a:t>vào</a:t>
                </a:r>
                <a:r>
                  <a:rPr lang="en-US" dirty="0"/>
                  <a:t>: Cho </a:t>
                </a:r>
                <a:r>
                  <a:rPr lang="en-US" dirty="0" err="1"/>
                  <a:t>đồ</a:t>
                </a:r>
                <a:r>
                  <a:rPr lang="en-US" dirty="0"/>
                  <a:t> </a:t>
                </a:r>
                <a:r>
                  <a:rPr lang="en-US" dirty="0" err="1"/>
                  <a:t>thị</a:t>
                </a:r>
                <a:r>
                  <a:rPr lang="en-US" dirty="0"/>
                  <a:t> </a:t>
                </a:r>
                <a:r>
                  <a:rPr lang="en-US" i="1" dirty="0"/>
                  <a:t>G(V, E)</a:t>
                </a:r>
                <a:r>
                  <a:rPr lang="en-US" dirty="0"/>
                  <a:t> </a:t>
                </a:r>
                <a:r>
                  <a:rPr lang="en-US" dirty="0" err="1"/>
                  <a:t>với</a:t>
                </a:r>
                <a:r>
                  <a:rPr lang="en-US" dirty="0"/>
                  <a:t> </a:t>
                </a:r>
                <a:r>
                  <a:rPr lang="en-US" i="1" dirty="0"/>
                  <a:t>V = v</a:t>
                </a:r>
                <a:r>
                  <a:rPr lang="en-US" i="1" baseline="-25000" dirty="0"/>
                  <a:t>0</a:t>
                </a:r>
                <a:r>
                  <a:rPr lang="en-US" i="1" dirty="0"/>
                  <a:t>,v</a:t>
                </a:r>
                <a:r>
                  <a:rPr lang="en-US" i="1" baseline="-25000" dirty="0"/>
                  <a:t>1</a:t>
                </a:r>
                <a:r>
                  <a:rPr lang="en-US" i="1" dirty="0"/>
                  <a:t>,...,v</a:t>
                </a:r>
                <a:r>
                  <a:rPr lang="en-US" i="1" baseline="-25000" dirty="0"/>
                  <a:t>M-1</a:t>
                </a:r>
                <a:r>
                  <a:rPr lang="en-US" dirty="0"/>
                  <a:t> </a:t>
                </a:r>
                <a:r>
                  <a:rPr lang="en-US" dirty="0" err="1"/>
                  <a:t>và</a:t>
                </a:r>
                <a:r>
                  <a:rPr lang="en-US" dirty="0"/>
                  <a:t> </a:t>
                </a:r>
                <a:r>
                  <a:rPr lang="en-US" i="1" dirty="0"/>
                  <a:t>E = e</a:t>
                </a:r>
                <a:r>
                  <a:rPr lang="en-US" i="1" baseline="-25000" dirty="0"/>
                  <a:t>0</a:t>
                </a:r>
                <a:r>
                  <a:rPr lang="en-US" i="1" dirty="0"/>
                  <a:t>,e</a:t>
                </a:r>
                <a:r>
                  <a:rPr lang="en-US" i="1" baseline="-25000" dirty="0"/>
                  <a:t>1</a:t>
                </a:r>
                <a:r>
                  <a:rPr lang="en-US" i="1" dirty="0"/>
                  <a:t>,...,e</a:t>
                </a:r>
                <a:r>
                  <a:rPr lang="en-US" i="1" baseline="-25000" dirty="0"/>
                  <a:t>N-1</a:t>
                </a:r>
                <a:r>
                  <a:rPr lang="en-US" dirty="0"/>
                  <a:t>. </a:t>
                </a:r>
                <a:r>
                  <a:rPr lang="en-US" dirty="0" err="1"/>
                  <a:t>Chọn</a:t>
                </a:r>
                <a:r>
                  <a:rPr lang="en-US" dirty="0"/>
                  <a:t> </a:t>
                </a:r>
                <a:r>
                  <a:rPr lang="en-US" dirty="0" err="1"/>
                  <a:t>một</a:t>
                </a:r>
                <a:r>
                  <a:rPr lang="en-US" dirty="0"/>
                  <a:t> </a:t>
                </a:r>
                <a:r>
                  <a:rPr lang="en-US" dirty="0" err="1"/>
                  <a:t>đỉnh</a:t>
                </a:r>
                <a:r>
                  <a:rPr lang="en-US" dirty="0"/>
                  <a:t> </a:t>
                </a:r>
                <a:r>
                  <a:rPr lang="en-US" dirty="0" err="1"/>
                  <a:t>bất</a:t>
                </a:r>
                <a:r>
                  <a:rPr lang="en-US" dirty="0"/>
                  <a:t> </a:t>
                </a:r>
                <a:r>
                  <a:rPr lang="en-US" dirty="0" err="1"/>
                  <a:t>kỳ</a:t>
                </a:r>
                <a:r>
                  <a:rPr lang="en-US" dirty="0"/>
                  <a:t> </a:t>
                </a:r>
                <a:r>
                  <a:rPr lang="en-US" dirty="0" err="1"/>
                  <a:t>làm</a:t>
                </a:r>
                <a:r>
                  <a:rPr lang="en-US" dirty="0"/>
                  <a:t> </a:t>
                </a:r>
                <a:r>
                  <a:rPr lang="en-US" dirty="0" err="1"/>
                  <a:t>nguồn</a:t>
                </a:r>
                <a:r>
                  <a:rPr lang="en-US" dirty="0"/>
                  <a:t>, ta </a:t>
                </a:r>
                <a:r>
                  <a:rPr lang="en-US" dirty="0" err="1"/>
                  <a:t>giả</a:t>
                </a:r>
                <a:r>
                  <a:rPr lang="en-US" dirty="0"/>
                  <a:t> </a:t>
                </a:r>
                <a:r>
                  <a:rPr lang="en-US" dirty="0" err="1"/>
                  <a:t>sử</a:t>
                </a:r>
                <a:r>
                  <a:rPr lang="en-US" dirty="0"/>
                  <a:t> </a:t>
                </a:r>
                <a:r>
                  <a:rPr lang="en-US" dirty="0" err="1"/>
                  <a:t>là</a:t>
                </a:r>
                <a:r>
                  <a:rPr lang="en-US" dirty="0"/>
                  <a:t> </a:t>
                </a:r>
                <a:r>
                  <a:rPr lang="en-US" dirty="0" err="1"/>
                  <a:t>đỉnh</a:t>
                </a:r>
                <a:r>
                  <a:rPr lang="en-US" dirty="0"/>
                  <a:t> </a:t>
                </a:r>
                <a:r>
                  <a:rPr lang="en-US" i="1" dirty="0"/>
                  <a:t>s=v</a:t>
                </a:r>
                <a:r>
                  <a:rPr lang="en-US" i="1" baseline="-25000" dirty="0"/>
                  <a:t>0</a:t>
                </a:r>
                <a:r>
                  <a:rPr lang="en-US" i="1" dirty="0"/>
                  <a:t>.</a:t>
                </a:r>
              </a:p>
              <a:p>
                <a:pPr lvl="1"/>
                <a:r>
                  <a:rPr lang="vi-VN" dirty="0"/>
                  <a:t>Đầu ra: tập các đường đi ngắn nhất từ đỉnh nguồn </a:t>
                </a:r>
                <a:r>
                  <a:rPr lang="vi-VN" i="1" dirty="0"/>
                  <a:t>s </a:t>
                </a:r>
                <a:r>
                  <a:rPr lang="vi-VN" dirty="0"/>
                  <a:t>đến các đỉnh còn lại</a:t>
                </a:r>
                <a:endParaRPr lang="en-US" dirty="0"/>
              </a:p>
              <a:p>
                <a:pPr lvl="1"/>
                <a:endParaRPr lang="en-US" dirty="0"/>
              </a:p>
              <a:p>
                <a:pPr lvl="1"/>
                <a:r>
                  <a:rPr lang="vi-VN" dirty="0"/>
                  <a:t>Gọi </a:t>
                </a:r>
                <a:r>
                  <a:rPr lang="en-US" dirty="0"/>
                  <a:t>F</a:t>
                </a:r>
                <a:r>
                  <a:rPr lang="vi-VN" dirty="0"/>
                  <a:t> là tập các nút mà đường đi ngắn nhất đã tìm được.</a:t>
                </a:r>
                <a:r>
                  <a:rPr lang="en-US" dirty="0"/>
                  <a:t> </a:t>
                </a:r>
                <a:r>
                  <a:rPr lang="vi-VN" dirty="0"/>
                  <a:t>Ban đầu ta có </a:t>
                </a:r>
                <a:r>
                  <a:rPr lang="en-US" i="1" dirty="0"/>
                  <a:t>F </a:t>
                </a:r>
                <a:r>
                  <a:rPr lang="vi-VN" i="1" dirty="0"/>
                  <a:t>= {s}</a:t>
                </a:r>
                <a:r>
                  <a:rPr lang="vi-VN" dirty="0"/>
                  <a:t>. </a:t>
                </a:r>
                <a:endParaRPr lang="en-US" dirty="0"/>
              </a:p>
              <a:p>
                <a:pPr lvl="1"/>
                <a:r>
                  <a:rPr lang="vi-VN" dirty="0"/>
                  <a:t>Nhiệm vụ chính của giải thuật là bổ sung dần các nút thích hợp vào </a:t>
                </a:r>
                <a:r>
                  <a:rPr lang="en-US" i="1" dirty="0"/>
                  <a:t>F</a:t>
                </a:r>
                <a:r>
                  <a:rPr lang="vi-VN" dirty="0"/>
                  <a:t> cho</a:t>
                </a:r>
                <a:r>
                  <a:rPr lang="en-US" dirty="0"/>
                  <a:t> </a:t>
                </a:r>
                <a:r>
                  <a:rPr lang="vi-VN" dirty="0"/>
                  <a:t>đến khi </a:t>
                </a:r>
                <a:r>
                  <a:rPr lang="en-US" i="1" dirty="0"/>
                  <a:t>F</a:t>
                </a:r>
                <a:r>
                  <a:rPr lang="vi-VN" i="1" dirty="0"/>
                  <a:t>=V</a:t>
                </a:r>
                <a:endParaRPr lang="en-US" i="1" dirty="0"/>
              </a:p>
              <a:p>
                <a:pPr lvl="1"/>
                <a:endParaRPr lang="en-US" dirty="0"/>
              </a:p>
              <a:p>
                <a:pPr lvl="1"/>
                <a:r>
                  <a:rPr lang="en-US" dirty="0" err="1"/>
                  <a:t>Nút</a:t>
                </a:r>
                <a:r>
                  <a:rPr lang="en-US" dirty="0"/>
                  <a:t> </a:t>
                </a:r>
                <a:r>
                  <a:rPr lang="en-US" dirty="0" err="1"/>
                  <a:t>thích</a:t>
                </a:r>
                <a:r>
                  <a:rPr lang="en-US" dirty="0"/>
                  <a:t> </a:t>
                </a:r>
                <a:r>
                  <a:rPr lang="en-US" dirty="0" err="1"/>
                  <a:t>hợp</a:t>
                </a:r>
                <a:r>
                  <a:rPr lang="en-US" dirty="0"/>
                  <a:t> ở </a:t>
                </a:r>
                <a:r>
                  <a:rPr lang="en-US" dirty="0" err="1"/>
                  <a:t>mỗi</a:t>
                </a:r>
                <a:r>
                  <a:rPr lang="en-US" dirty="0"/>
                  <a:t> </a:t>
                </a:r>
                <a:r>
                  <a:rPr lang="en-US" dirty="0" err="1"/>
                  <a:t>bước</a:t>
                </a:r>
                <a:r>
                  <a:rPr lang="en-US" dirty="0"/>
                  <a:t> </a:t>
                </a:r>
                <a:r>
                  <a:rPr lang="en-US" dirty="0" err="1"/>
                  <a:t>là</a:t>
                </a:r>
                <a:r>
                  <a:rPr lang="en-US" dirty="0"/>
                  <a:t> </a:t>
                </a:r>
                <a:r>
                  <a:rPr lang="en-US" dirty="0" err="1"/>
                  <a:t>nút</a:t>
                </a:r>
                <a:r>
                  <a:rPr lang="en-US" dirty="0"/>
                  <a:t> </a:t>
                </a:r>
                <a:r>
                  <a:rPr lang="en-US" i="1" dirty="0" err="1"/>
                  <a:t>v</a:t>
                </a:r>
                <a:r>
                  <a:rPr lang="en-US" i="1" baseline="-25000" dirty="0" err="1"/>
                  <a:t>m</a:t>
                </a:r>
                <a:r>
                  <a:rPr lang="vi-VN" i="1" dirty="0">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en-US" i="1" dirty="0"/>
                  <a:t> V\F:</a:t>
                </a:r>
                <a:r>
                  <a:rPr lang="en-US" dirty="0"/>
                  <a:t> </a:t>
                </a:r>
              </a:p>
              <a:p>
                <a:pPr lvl="2"/>
                <a:r>
                  <a:rPr lang="vi-VN" sz="1800" i="1" dirty="0"/>
                  <a:t>v</a:t>
                </a:r>
                <a:r>
                  <a:rPr lang="vi-VN" sz="1800" i="1" baseline="-25000" dirty="0"/>
                  <a:t>m</a:t>
                </a:r>
                <a:r>
                  <a:rPr lang="vi-VN" sz="1800" dirty="0"/>
                  <a:t> là nút kề của </a:t>
                </a:r>
                <a:r>
                  <a:rPr lang="vi-VN" sz="1800" i="1" dirty="0"/>
                  <a:t>F</a:t>
                </a:r>
                <a:r>
                  <a:rPr lang="en-US" sz="1800" dirty="0"/>
                  <a:t> (</a:t>
                </a:r>
                <a:r>
                  <a:rPr lang="en-US" sz="1800" dirty="0" err="1"/>
                  <a:t>tồn</a:t>
                </a:r>
                <a:r>
                  <a:rPr lang="en-US" sz="1800" dirty="0"/>
                  <a:t> </a:t>
                </a:r>
                <a:r>
                  <a:rPr lang="en-US" sz="1800" dirty="0" err="1"/>
                  <a:t>tại</a:t>
                </a:r>
                <a:r>
                  <a:rPr lang="en-US" sz="1800" dirty="0"/>
                  <a:t> </a:t>
                </a:r>
                <a:r>
                  <a:rPr lang="en-US" sz="1800" dirty="0" err="1"/>
                  <a:t>ít</a:t>
                </a:r>
                <a:r>
                  <a:rPr lang="en-US" sz="1800" dirty="0"/>
                  <a:t> </a:t>
                </a:r>
                <a:r>
                  <a:rPr lang="en-US" sz="1800" dirty="0" err="1"/>
                  <a:t>nhất</a:t>
                </a:r>
                <a:r>
                  <a:rPr lang="en-US" sz="1800" dirty="0"/>
                  <a:t> </a:t>
                </a:r>
                <a:r>
                  <a:rPr lang="en-US" sz="1800" dirty="0" err="1"/>
                  <a:t>một</a:t>
                </a:r>
                <a:r>
                  <a:rPr lang="en-US" sz="1800" dirty="0"/>
                  <a:t> </a:t>
                </a:r>
                <a:r>
                  <a:rPr lang="en-US" sz="1800" dirty="0" err="1"/>
                  <a:t>nút</a:t>
                </a:r>
                <a:r>
                  <a:rPr lang="en-US" sz="1800" dirty="0"/>
                  <a:t> </a:t>
                </a:r>
                <a:r>
                  <a:rPr lang="en-US" sz="1800" i="1" dirty="0" err="1"/>
                  <a:t>v</a:t>
                </a:r>
                <a:r>
                  <a:rPr lang="en-US" sz="1800" i="1" baseline="-25000" dirty="0" err="1"/>
                  <a:t>k</a:t>
                </a:r>
                <a:r>
                  <a:rPr lang="vi-VN" sz="1800" i="1" dirty="0">
                    <a:ea typeface="Cambria Math" panose="02040503050406030204" pitchFamily="18" charset="0"/>
                  </a:rPr>
                  <a:t> </a:t>
                </a:r>
                <a14:m>
                  <m:oMath xmlns:m="http://schemas.openxmlformats.org/officeDocument/2006/math">
                    <m:r>
                      <a:rPr lang="vi-VN" sz="1800" i="1">
                        <a:latin typeface="Cambria Math" panose="02040503050406030204" pitchFamily="18" charset="0"/>
                        <a:ea typeface="Cambria Math" panose="02040503050406030204" pitchFamily="18" charset="0"/>
                      </a:rPr>
                      <m:t>∈ </m:t>
                    </m:r>
                  </m:oMath>
                </a14:m>
                <a:r>
                  <a:rPr lang="en-US" sz="1800" i="1" dirty="0"/>
                  <a:t>F </a:t>
                </a:r>
                <a:r>
                  <a:rPr lang="en-US" sz="1800" dirty="0" err="1"/>
                  <a:t>sao</a:t>
                </a:r>
                <a:r>
                  <a:rPr lang="en-US" sz="1800" dirty="0"/>
                  <a:t> </a:t>
                </a:r>
                <a:r>
                  <a:rPr lang="en-US" sz="1800" dirty="0" err="1"/>
                  <a:t>cho</a:t>
                </a:r>
                <a:r>
                  <a:rPr lang="en-US" sz="1800" dirty="0"/>
                  <a:t> </a:t>
                </a:r>
                <a:r>
                  <a:rPr lang="en-US" sz="1800" i="1" dirty="0" err="1"/>
                  <a:t>v</a:t>
                </a:r>
                <a:r>
                  <a:rPr lang="en-US" sz="1800" i="1" baseline="-25000" dirty="0" err="1"/>
                  <a:t>m</a:t>
                </a:r>
                <a:r>
                  <a:rPr lang="en-US" sz="1800" dirty="0"/>
                  <a:t> </a:t>
                </a:r>
                <a:r>
                  <a:rPr lang="en-US" sz="1800" dirty="0" err="1"/>
                  <a:t>là</a:t>
                </a:r>
                <a:r>
                  <a:rPr lang="en-US" sz="1800" dirty="0"/>
                  <a:t> </a:t>
                </a:r>
                <a:r>
                  <a:rPr lang="en-US" sz="1800" dirty="0" err="1"/>
                  <a:t>nút</a:t>
                </a:r>
                <a:r>
                  <a:rPr lang="en-US" sz="1800" dirty="0"/>
                  <a:t> </a:t>
                </a:r>
                <a:r>
                  <a:rPr lang="en-US" sz="1800" dirty="0" err="1"/>
                  <a:t>kề</a:t>
                </a:r>
                <a:r>
                  <a:rPr lang="en-US" sz="1800" dirty="0"/>
                  <a:t> </a:t>
                </a:r>
                <a:r>
                  <a:rPr lang="en-US" sz="1800" dirty="0" err="1"/>
                  <a:t>của</a:t>
                </a:r>
                <a:r>
                  <a:rPr lang="en-US" sz="1800" dirty="0"/>
                  <a:t> </a:t>
                </a:r>
                <a:r>
                  <a:rPr lang="en-US" sz="1800" i="1" dirty="0" err="1"/>
                  <a:t>v</a:t>
                </a:r>
                <a:r>
                  <a:rPr lang="en-US" sz="1800" i="1" baseline="-25000" dirty="0" err="1"/>
                  <a:t>k</a:t>
                </a:r>
                <a:r>
                  <a:rPr lang="en-US" sz="1800" dirty="0"/>
                  <a:t>)</a:t>
                </a:r>
              </a:p>
              <a:p>
                <a:pPr lvl="2"/>
                <a:r>
                  <a:rPr lang="en-US" sz="1800" dirty="0"/>
                  <a:t>Đ</a:t>
                </a:r>
                <a:r>
                  <a:rPr lang="vi-VN" sz="1800" dirty="0"/>
                  <a:t>ộ dài</a:t>
                </a:r>
                <a:r>
                  <a:rPr lang="en-US" sz="1800" dirty="0"/>
                  <a:t> </a:t>
                </a:r>
                <a:r>
                  <a:rPr lang="vi-VN" sz="1800" dirty="0"/>
                  <a:t>đường đi ngắn nhất từ nút nguồn </a:t>
                </a:r>
                <a:r>
                  <a:rPr lang="vi-VN" sz="1800" i="1" dirty="0"/>
                  <a:t>s </a:t>
                </a:r>
                <a:r>
                  <a:rPr lang="vi-VN" sz="1800" dirty="0"/>
                  <a:t>đến nút </a:t>
                </a:r>
                <a:r>
                  <a:rPr lang="vi-VN" sz="1800" i="1" dirty="0"/>
                  <a:t>v</a:t>
                </a:r>
                <a:r>
                  <a:rPr lang="en-US" sz="1800" i="1" baseline="-25000" dirty="0"/>
                  <a:t>m</a:t>
                </a:r>
                <a:r>
                  <a:rPr lang="en-US" sz="1800" i="1" dirty="0"/>
                  <a:t>: </a:t>
                </a:r>
                <a:r>
                  <a:rPr lang="en-US" sz="1800" i="1" dirty="0" err="1"/>
                  <a:t>dist</a:t>
                </a:r>
                <a:r>
                  <a:rPr lang="en-US" sz="1800" i="1" dirty="0"/>
                  <a:t>(</a:t>
                </a:r>
                <a:r>
                  <a:rPr lang="en-US" sz="1800" i="1" dirty="0" err="1"/>
                  <a:t>vm</a:t>
                </a:r>
                <a:r>
                  <a:rPr lang="en-US" sz="1800" i="1" dirty="0"/>
                  <a:t>)</a:t>
                </a:r>
                <a:r>
                  <a:rPr lang="en-US" sz="1800" dirty="0"/>
                  <a:t> </a:t>
                </a:r>
                <a:r>
                  <a:rPr lang="en-US" sz="1800" dirty="0" err="1"/>
                  <a:t>có</a:t>
                </a:r>
                <a:r>
                  <a:rPr lang="en-US" sz="1800" dirty="0"/>
                  <a:t> </a:t>
                </a:r>
                <a:r>
                  <a:rPr lang="en-US" sz="1800" dirty="0" err="1"/>
                  <a:t>giá</a:t>
                </a:r>
                <a:r>
                  <a:rPr lang="en-US" sz="1800" dirty="0"/>
                  <a:t> </a:t>
                </a:r>
                <a:r>
                  <a:rPr lang="en-US" sz="1800" dirty="0" err="1"/>
                  <a:t>trị</a:t>
                </a:r>
                <a:r>
                  <a:rPr lang="en-US" sz="1800" dirty="0"/>
                  <a:t> </a:t>
                </a:r>
                <a:r>
                  <a:rPr lang="en-US" sz="1800" dirty="0" err="1"/>
                  <a:t>nhỏ</a:t>
                </a:r>
                <a:r>
                  <a:rPr lang="en-US" sz="1800" dirty="0"/>
                  <a:t> </a:t>
                </a:r>
                <a:r>
                  <a:rPr lang="en-US" sz="1800" dirty="0" err="1"/>
                  <a:t>nhất</a:t>
                </a:r>
                <a:r>
                  <a:rPr lang="en-US" sz="1800" dirty="0"/>
                  <a:t> </a:t>
                </a:r>
                <a:r>
                  <a:rPr lang="en-US" sz="1800" dirty="0" err="1"/>
                  <a:t>trong</a:t>
                </a:r>
                <a:r>
                  <a:rPr lang="en-US" sz="1800" dirty="0"/>
                  <a:t> </a:t>
                </a:r>
                <a:r>
                  <a:rPr lang="en-US" sz="1800" dirty="0" err="1"/>
                  <a:t>số</a:t>
                </a:r>
                <a:r>
                  <a:rPr lang="en-US" sz="1800" dirty="0"/>
                  <a:t> </a:t>
                </a:r>
                <a:r>
                  <a:rPr lang="en-US" sz="1800" dirty="0" err="1"/>
                  <a:t>các</a:t>
                </a:r>
                <a:r>
                  <a:rPr lang="en-US" sz="1800" dirty="0"/>
                  <a:t> </a:t>
                </a:r>
                <a:r>
                  <a:rPr lang="en-US" sz="1800" dirty="0" err="1"/>
                  <a:t>nút</a:t>
                </a:r>
                <a:r>
                  <a:rPr lang="en-US" sz="1800" dirty="0"/>
                  <a:t> </a:t>
                </a:r>
                <a:r>
                  <a:rPr lang="en-US" sz="1800" dirty="0" err="1"/>
                  <a:t>thuộc</a:t>
                </a:r>
                <a:r>
                  <a:rPr lang="en-US" sz="1800" dirty="0"/>
                  <a:t> </a:t>
                </a:r>
                <a:r>
                  <a:rPr lang="en-US" sz="1800" dirty="0" err="1"/>
                  <a:t>tập</a:t>
                </a:r>
                <a:r>
                  <a:rPr lang="en-US" sz="1800" dirty="0"/>
                  <a:t> V\F</a:t>
                </a:r>
              </a:p>
            </p:txBody>
          </p:sp>
        </mc:Choice>
        <mc:Fallback xmlns="">
          <p:sp>
            <p:nvSpPr>
              <p:cNvPr id="4" name="Content Placeholder 3"/>
              <p:cNvSpPr>
                <a:spLocks noGrp="1" noRot="1" noChangeAspect="1" noMove="1" noResize="1" noEditPoints="1" noAdjustHandles="1" noChangeArrowheads="1" noChangeShapeType="1" noTextEdit="1"/>
              </p:cNvSpPr>
              <p:nvPr>
                <p:ph sz="quarter" idx="13"/>
              </p:nvPr>
            </p:nvSpPr>
            <p:spPr>
              <a:blipFill>
                <a:blip r:embed="rId3"/>
                <a:stretch>
                  <a:fillRect l="-703" t="-1264"/>
                </a:stretch>
              </a:blipFill>
            </p:spPr>
            <p:txBody>
              <a:bodyPr/>
              <a:lstStyle/>
              <a:p>
                <a:r>
                  <a:rPr lang="en-US">
                    <a:noFill/>
                  </a:rPr>
                  <a:t> </a:t>
                </a:r>
              </a:p>
            </p:txBody>
          </p:sp>
        </mc:Fallback>
      </mc:AlternateContent>
    </p:spTree>
    <p:extLst>
      <p:ext uri="{BB962C8B-B14F-4D97-AF65-F5344CB8AC3E}">
        <p14:creationId xmlns:p14="http://schemas.microsoft.com/office/powerpoint/2010/main" val="330661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30</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Dijkstra</a:t>
            </a:r>
            <a:endParaRPr lang="en-US" dirty="0"/>
          </a:p>
        </p:txBody>
      </p:sp>
      <p:sp>
        <p:nvSpPr>
          <p:cNvPr id="4" name="Content Placeholder 3"/>
          <p:cNvSpPr>
            <a:spLocks noGrp="1"/>
          </p:cNvSpPr>
          <p:nvPr>
            <p:ph sz="quarter" idx="13"/>
          </p:nvPr>
        </p:nvSpPr>
        <p:spPr>
          <a:xfrm>
            <a:off x="235076" y="841249"/>
            <a:ext cx="8908923" cy="5303393"/>
          </a:xfrm>
        </p:spPr>
        <p:txBody>
          <a:bodyPr>
            <a:normAutofit/>
          </a:bodyPr>
          <a:lstStyle/>
          <a:p>
            <a:r>
              <a:rPr lang="en-US" sz="2400" dirty="0" err="1"/>
              <a:t>Triển</a:t>
            </a:r>
            <a:r>
              <a:rPr lang="en-US" sz="2400" dirty="0"/>
              <a:t> </a:t>
            </a:r>
            <a:r>
              <a:rPr lang="en-US" sz="2400" dirty="0" err="1"/>
              <a:t>khai</a:t>
            </a:r>
            <a:r>
              <a:rPr lang="en-US" sz="2400" dirty="0"/>
              <a:t>:</a:t>
            </a:r>
          </a:p>
          <a:p>
            <a:r>
              <a:rPr lang="vi-VN" sz="2000" dirty="0"/>
              <a:t>Với mỗi đỉnh </a:t>
            </a:r>
            <a:r>
              <a:rPr lang="vi-VN" sz="2000" i="1" dirty="0"/>
              <a:t>v</a:t>
            </a:r>
            <a:r>
              <a:rPr lang="vi-VN" sz="2000" dirty="0"/>
              <a:t> sẽ duy trì các thông số sau</a:t>
            </a:r>
            <a:endParaRPr lang="vi-VN" sz="2400" dirty="0"/>
          </a:p>
          <a:p>
            <a:pPr lvl="1"/>
            <a:r>
              <a:rPr lang="en-US" sz="2000" i="1" dirty="0" err="1"/>
              <a:t>dist</a:t>
            </a:r>
            <a:r>
              <a:rPr lang="vi-VN" sz="2000" i="1" dirty="0"/>
              <a:t>[v] </a:t>
            </a:r>
            <a:r>
              <a:rPr lang="vi-VN" sz="2000" dirty="0"/>
              <a:t>: Khoảng cách ngắn nhất biết được tại thời điểm hiện tại từ đỉnh nguồn </a:t>
            </a:r>
            <a:r>
              <a:rPr lang="vi-VN" sz="2000" i="1" dirty="0"/>
              <a:t>s</a:t>
            </a:r>
            <a:r>
              <a:rPr lang="vi-VN" sz="2000" dirty="0"/>
              <a:t> tới đỉnh </a:t>
            </a:r>
            <a:r>
              <a:rPr lang="vi-VN" sz="2000" i="1" dirty="0"/>
              <a:t>v</a:t>
            </a:r>
          </a:p>
          <a:p>
            <a:pPr lvl="1"/>
            <a:r>
              <a:rPr lang="en-US" sz="2000" i="1" dirty="0" err="1"/>
              <a:t>prev</a:t>
            </a:r>
            <a:r>
              <a:rPr lang="vi-VN" sz="2000" i="1" dirty="0"/>
              <a:t>[v] </a:t>
            </a:r>
            <a:r>
              <a:rPr lang="vi-VN" sz="2000" dirty="0"/>
              <a:t>: Đỉnh trước của đỉnh </a:t>
            </a:r>
            <a:r>
              <a:rPr lang="vi-VN" sz="2000" i="1" dirty="0"/>
              <a:t>v</a:t>
            </a:r>
            <a:r>
              <a:rPr lang="vi-VN" sz="2000" dirty="0"/>
              <a:t> trên đường đi từ đỉnh nguồn </a:t>
            </a:r>
            <a:r>
              <a:rPr lang="vi-VN" sz="2000" i="1" dirty="0"/>
              <a:t>s</a:t>
            </a:r>
            <a:r>
              <a:rPr lang="vi-VN" sz="2000" dirty="0"/>
              <a:t> tới </a:t>
            </a:r>
            <a:r>
              <a:rPr lang="vi-VN" sz="2000" i="1" dirty="0"/>
              <a:t>v</a:t>
            </a:r>
            <a:endParaRPr lang="en-US" sz="2000" i="1" dirty="0"/>
          </a:p>
          <a:p>
            <a:pPr lvl="1"/>
            <a:r>
              <a:rPr lang="vi-VN" sz="2000" dirty="0"/>
              <a:t>Duy trì một </a:t>
            </a:r>
            <a:r>
              <a:rPr lang="en-US" sz="2000" dirty="0" err="1"/>
              <a:t>tập</a:t>
            </a:r>
            <a:r>
              <a:rPr lang="vi-VN" sz="2000" dirty="0"/>
              <a:t> </a:t>
            </a:r>
            <a:r>
              <a:rPr lang="en-US" sz="2000" i="1" dirty="0"/>
              <a:t>F</a:t>
            </a:r>
            <a:r>
              <a:rPr lang="vi-VN" sz="2000" dirty="0"/>
              <a:t> chứa các đỉnh, cụm này lúc đầu chứa đỉnh xuất phát</a:t>
            </a:r>
            <a:r>
              <a:rPr lang="en-US" sz="2000" dirty="0"/>
              <a:t> </a:t>
            </a:r>
            <a:r>
              <a:rPr lang="en-US" sz="2000" i="1" dirty="0"/>
              <a:t>s</a:t>
            </a:r>
            <a:r>
              <a:rPr lang="vi-VN" sz="2000" dirty="0"/>
              <a:t>. </a:t>
            </a:r>
          </a:p>
          <a:p>
            <a:pPr lvl="1"/>
            <a:r>
              <a:rPr lang="vi-VN" sz="2000" dirty="0"/>
              <a:t>Dần dần thêm các đỉnh vào trong cụm</a:t>
            </a:r>
          </a:p>
          <a:p>
            <a:pPr lvl="1"/>
            <a:r>
              <a:rPr lang="vi-VN" sz="2000" dirty="0"/>
              <a:t>Tại mỗi bước của giái thuật </a:t>
            </a:r>
          </a:p>
          <a:p>
            <a:pPr lvl="2"/>
            <a:r>
              <a:rPr lang="vi-VN" sz="1800" dirty="0"/>
              <a:t>Xác định đỉnh </a:t>
            </a:r>
            <a:r>
              <a:rPr lang="vi-VN" sz="1800" i="1" dirty="0"/>
              <a:t>u</a:t>
            </a:r>
            <a:r>
              <a:rPr lang="vi-VN" sz="1800" dirty="0"/>
              <a:t> chưa ở trong </a:t>
            </a:r>
            <a:r>
              <a:rPr lang="en-US" sz="1800" i="1" dirty="0"/>
              <a:t>F</a:t>
            </a:r>
            <a:r>
              <a:rPr lang="vi-VN" sz="1800" dirty="0"/>
              <a:t> có giá trị </a:t>
            </a:r>
            <a:r>
              <a:rPr lang="vi-VN" sz="1800" i="1" dirty="0"/>
              <a:t>d</a:t>
            </a:r>
            <a:r>
              <a:rPr lang="en-US" sz="1800" i="1" dirty="0" err="1"/>
              <a:t>ist</a:t>
            </a:r>
            <a:r>
              <a:rPr lang="vi-VN" sz="1800" i="1" dirty="0"/>
              <a:t>[u]</a:t>
            </a:r>
            <a:r>
              <a:rPr lang="vi-VN" sz="1800" dirty="0"/>
              <a:t> nhỏ nhất</a:t>
            </a:r>
            <a:endParaRPr lang="en-US" sz="1800" dirty="0"/>
          </a:p>
          <a:p>
            <a:pPr lvl="2"/>
            <a:r>
              <a:rPr lang="en-US" sz="1800" dirty="0"/>
              <a:t>Đ</a:t>
            </a:r>
            <a:r>
              <a:rPr lang="vi-VN" sz="1800" dirty="0"/>
              <a:t>ưa </a:t>
            </a:r>
            <a:r>
              <a:rPr lang="en-US" sz="1800" dirty="0"/>
              <a:t>u </a:t>
            </a:r>
            <a:r>
              <a:rPr lang="vi-VN" sz="1800" dirty="0"/>
              <a:t>vào trong </a:t>
            </a:r>
            <a:r>
              <a:rPr lang="en-US" sz="1800" i="1" dirty="0"/>
              <a:t>F</a:t>
            </a:r>
            <a:endParaRPr lang="vi-VN" sz="1800" i="1" dirty="0"/>
          </a:p>
          <a:p>
            <a:pPr lvl="2"/>
            <a:r>
              <a:rPr lang="vi-VN" sz="1800" dirty="0"/>
              <a:t>Cập nhật lại giá trị </a:t>
            </a:r>
            <a:r>
              <a:rPr lang="vi-VN" sz="1800" i="1" dirty="0"/>
              <a:t>d</a:t>
            </a:r>
            <a:r>
              <a:rPr lang="en-US" sz="1800" i="1" dirty="0" err="1"/>
              <a:t>ist</a:t>
            </a:r>
            <a:r>
              <a:rPr lang="vi-VN" sz="1800" dirty="0"/>
              <a:t> của các đỉnh lân cận của </a:t>
            </a:r>
            <a:r>
              <a:rPr lang="vi-VN" sz="1800" i="1" dirty="0"/>
              <a:t>u</a:t>
            </a:r>
            <a:endParaRPr lang="en-US" sz="1800" i="1" dirty="0"/>
          </a:p>
        </p:txBody>
      </p:sp>
    </p:spTree>
    <p:extLst>
      <p:ext uri="{BB962C8B-B14F-4D97-AF65-F5344CB8AC3E}">
        <p14:creationId xmlns:p14="http://schemas.microsoft.com/office/powerpoint/2010/main" val="427764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31</a:t>
            </a:fld>
            <a:endParaRPr lang="en-US"/>
          </a:p>
        </p:txBody>
      </p:sp>
      <p:sp>
        <p:nvSpPr>
          <p:cNvPr id="3" name="Title 2"/>
          <p:cNvSpPr>
            <a:spLocks noGrp="1"/>
          </p:cNvSpPr>
          <p:nvPr>
            <p:ph type="title"/>
          </p:nvPr>
        </p:nvSpPr>
        <p:spPr/>
        <p:txBody>
          <a:bodyPr/>
          <a:lstStyle/>
          <a:p>
            <a:r>
              <a:rPr lang="en-US" dirty="0" err="1"/>
              <a:t>Ví</a:t>
            </a:r>
            <a:r>
              <a:rPr lang="en-US" dirty="0"/>
              <a:t> </a:t>
            </a:r>
            <a:r>
              <a:rPr lang="en-US" dirty="0" err="1"/>
              <a:t>dụ</a:t>
            </a:r>
            <a:r>
              <a:rPr lang="en-US" dirty="0"/>
              <a:t> minh </a:t>
            </a:r>
            <a:r>
              <a:rPr lang="en-US" dirty="0" err="1"/>
              <a:t>họa</a:t>
            </a:r>
            <a:endParaRPr lang="en-US" dirty="0"/>
          </a:p>
        </p:txBody>
      </p:sp>
      <p:sp>
        <p:nvSpPr>
          <p:cNvPr id="4" name="Content Placeholder 3"/>
          <p:cNvSpPr>
            <a:spLocks noGrp="1"/>
          </p:cNvSpPr>
          <p:nvPr>
            <p:ph sz="quarter" idx="13"/>
          </p:nvPr>
        </p:nvSpPr>
        <p:spPr/>
        <p:txBody>
          <a:bodyPr/>
          <a:lstStyle/>
          <a:p>
            <a:r>
              <a:rPr lang="en-US" dirty="0"/>
              <a:t>Cho </a:t>
            </a:r>
            <a:r>
              <a:rPr lang="en-US" dirty="0" err="1"/>
              <a:t>đồ</a:t>
            </a:r>
            <a:r>
              <a:rPr lang="en-US" dirty="0"/>
              <a:t> </a:t>
            </a:r>
            <a:r>
              <a:rPr lang="en-US" dirty="0" err="1"/>
              <a:t>thị</a:t>
            </a:r>
            <a:r>
              <a:rPr lang="en-US" dirty="0"/>
              <a:t> </a:t>
            </a:r>
            <a:r>
              <a:rPr lang="en-US" dirty="0" err="1"/>
              <a:t>gồm</a:t>
            </a:r>
            <a:r>
              <a:rPr lang="en-US" dirty="0"/>
              <a:t> </a:t>
            </a:r>
            <a:r>
              <a:rPr lang="en-US" dirty="0" err="1"/>
              <a:t>các</a:t>
            </a:r>
            <a:r>
              <a:rPr lang="en-US" dirty="0"/>
              <a:t> </a:t>
            </a:r>
            <a:r>
              <a:rPr lang="en-US" dirty="0" err="1"/>
              <a:t>đỉnh</a:t>
            </a:r>
            <a:r>
              <a:rPr lang="en-US" dirty="0"/>
              <a:t>, </a:t>
            </a:r>
            <a:r>
              <a:rPr lang="en-US" dirty="0" err="1"/>
              <a:t>cạnh</a:t>
            </a:r>
            <a:r>
              <a:rPr lang="en-US" dirty="0"/>
              <a:t> </a:t>
            </a:r>
            <a:r>
              <a:rPr lang="en-US" dirty="0" err="1"/>
              <a:t>và</a:t>
            </a:r>
            <a:r>
              <a:rPr lang="en-US" dirty="0"/>
              <a:t> </a:t>
            </a:r>
            <a:r>
              <a:rPr lang="en-US" dirty="0" err="1"/>
              <a:t>các</a:t>
            </a:r>
            <a:r>
              <a:rPr lang="en-US" dirty="0"/>
              <a:t> </a:t>
            </a:r>
            <a:r>
              <a:rPr lang="en-US" dirty="0" err="1"/>
              <a:t>trọng</a:t>
            </a:r>
            <a:r>
              <a:rPr lang="en-US" dirty="0"/>
              <a:t> </a:t>
            </a:r>
            <a:r>
              <a:rPr lang="en-US" dirty="0" err="1"/>
              <a:t>số</a:t>
            </a:r>
            <a:r>
              <a:rPr lang="en-US" dirty="0"/>
              <a:t> </a:t>
            </a:r>
            <a:r>
              <a:rPr lang="en-US" dirty="0" err="1"/>
              <a:t>như</a:t>
            </a:r>
            <a:r>
              <a:rPr lang="en-US" dirty="0"/>
              <a:t> </a:t>
            </a:r>
            <a:r>
              <a:rPr lang="en-US" dirty="0" err="1"/>
              <a:t>hình</a:t>
            </a:r>
            <a:r>
              <a:rPr lang="en-US" dirty="0"/>
              <a:t> </a:t>
            </a:r>
            <a:r>
              <a:rPr lang="en-US" dirty="0" err="1"/>
              <a:t>vẽ</a:t>
            </a:r>
            <a:endParaRPr lang="en-US" dirty="0"/>
          </a:p>
          <a:p>
            <a:r>
              <a:rPr lang="en-US" dirty="0" err="1"/>
              <a:t>Tìm</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từ</a:t>
            </a:r>
            <a:r>
              <a:rPr lang="en-US" dirty="0"/>
              <a:t> </a:t>
            </a:r>
            <a:r>
              <a:rPr lang="en-US" dirty="0" err="1"/>
              <a:t>đỉnh</a:t>
            </a:r>
            <a:r>
              <a:rPr lang="en-US" dirty="0"/>
              <a:t> </a:t>
            </a:r>
            <a:r>
              <a:rPr lang="en-US" dirty="0" err="1"/>
              <a:t>số</a:t>
            </a:r>
            <a:r>
              <a:rPr lang="en-US" dirty="0"/>
              <a:t> 1 </a:t>
            </a:r>
            <a:r>
              <a:rPr lang="en-US" dirty="0" err="1"/>
              <a:t>tới</a:t>
            </a:r>
            <a:r>
              <a:rPr lang="en-US" dirty="0"/>
              <a:t> </a:t>
            </a:r>
            <a:r>
              <a:rPr lang="en-US" dirty="0" err="1"/>
              <a:t>các</a:t>
            </a:r>
            <a:r>
              <a:rPr lang="en-US" dirty="0"/>
              <a:t> </a:t>
            </a:r>
            <a:r>
              <a:rPr lang="en-US" dirty="0" err="1"/>
              <a:t>đỉnh</a:t>
            </a:r>
            <a:r>
              <a:rPr lang="en-US" dirty="0"/>
              <a:t> </a:t>
            </a:r>
            <a:r>
              <a:rPr lang="en-US" dirty="0" err="1"/>
              <a:t>còn</a:t>
            </a:r>
            <a:r>
              <a:rPr lang="en-US" dirty="0"/>
              <a:t> </a:t>
            </a:r>
            <a:r>
              <a:rPr lang="en-US" dirty="0" err="1"/>
              <a:t>lại</a:t>
            </a:r>
            <a:endParaRPr lang="en-US" dirty="0"/>
          </a:p>
        </p:txBody>
      </p:sp>
      <p:pic>
        <p:nvPicPr>
          <p:cNvPr id="5" name="Picture 4"/>
          <p:cNvPicPr>
            <a:picLocks noChangeAspect="1"/>
          </p:cNvPicPr>
          <p:nvPr/>
        </p:nvPicPr>
        <p:blipFill>
          <a:blip r:embed="rId2"/>
          <a:stretch>
            <a:fillRect/>
          </a:stretch>
        </p:blipFill>
        <p:spPr>
          <a:xfrm>
            <a:off x="1385887" y="2008191"/>
            <a:ext cx="6372225" cy="3086100"/>
          </a:xfrm>
          <a:prstGeom prst="rect">
            <a:avLst/>
          </a:prstGeom>
        </p:spPr>
      </p:pic>
    </p:spTree>
    <p:extLst>
      <p:ext uri="{BB962C8B-B14F-4D97-AF65-F5344CB8AC3E}">
        <p14:creationId xmlns:p14="http://schemas.microsoft.com/office/powerpoint/2010/main" val="1926438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p:cNvSpPr>
            <a:spLocks noGrp="1"/>
          </p:cNvSpPr>
          <p:nvPr>
            <p:ph sz="quarter" idx="13"/>
          </p:nvPr>
        </p:nvSpPr>
        <p:spPr>
          <a:xfrm>
            <a:off x="235077" y="841249"/>
            <a:ext cx="8674100" cy="5303393"/>
          </a:xfrm>
        </p:spPr>
        <p:txBody>
          <a:bodyPr/>
          <a:lstStyle/>
          <a:p>
            <a:r>
              <a:rPr lang="en-US" dirty="0" err="1"/>
              <a:t>Khởi</a:t>
            </a:r>
            <a:r>
              <a:rPr lang="en-US" dirty="0"/>
              <a:t> </a:t>
            </a:r>
            <a:r>
              <a:rPr lang="en-US" dirty="0" err="1"/>
              <a:t>tạo</a:t>
            </a:r>
            <a:r>
              <a:rPr lang="en-US" dirty="0"/>
              <a:t> </a:t>
            </a:r>
            <a:r>
              <a:rPr lang="en-US" dirty="0" err="1"/>
              <a:t>giá</a:t>
            </a:r>
            <a:r>
              <a:rPr lang="en-US" dirty="0"/>
              <a:t> </a:t>
            </a:r>
            <a:r>
              <a:rPr lang="en-US" dirty="0" err="1"/>
              <a:t>trị</a:t>
            </a:r>
            <a:r>
              <a:rPr lang="en-US" dirty="0"/>
              <a:t> </a:t>
            </a:r>
            <a:r>
              <a:rPr lang="en-US" i="1" dirty="0" err="1"/>
              <a:t>dist</a:t>
            </a:r>
            <a:r>
              <a:rPr lang="en-US" dirty="0"/>
              <a:t> </a:t>
            </a:r>
            <a:r>
              <a:rPr lang="en-US" dirty="0" err="1"/>
              <a:t>cho</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đỉnh</a:t>
            </a:r>
            <a:endParaRPr lang="en-US" dirty="0"/>
          </a:p>
          <a:p>
            <a:pPr lvl="1"/>
            <a:r>
              <a:rPr lang="en-US" dirty="0">
                <a:latin typeface="Times New Roman" panose="02020603050405020304" pitchFamily="18" charset="0"/>
                <a:cs typeface="Times New Roman" panose="02020603050405020304" pitchFamily="18" charset="0"/>
              </a:rPr>
              <a:t>∞: </a:t>
            </a:r>
            <a:r>
              <a:rPr lang="en-US" dirty="0" err="1"/>
              <a:t>giá</a:t>
            </a:r>
            <a:r>
              <a:rPr lang="en-US" dirty="0"/>
              <a:t> </a:t>
            </a:r>
            <a:r>
              <a:rPr lang="en-US" dirty="0" err="1"/>
              <a:t>trị</a:t>
            </a:r>
            <a:r>
              <a:rPr lang="en-US" dirty="0"/>
              <a:t> </a:t>
            </a:r>
            <a:r>
              <a:rPr lang="en-US" dirty="0" err="1"/>
              <a:t>chưa</a:t>
            </a:r>
            <a:r>
              <a:rPr lang="en-US" dirty="0"/>
              <a:t> </a:t>
            </a:r>
            <a:r>
              <a:rPr lang="en-US" dirty="0" err="1"/>
              <a:t>xác</a:t>
            </a:r>
            <a:r>
              <a:rPr lang="en-US" dirty="0"/>
              <a:t> </a:t>
            </a:r>
            <a:r>
              <a:rPr lang="en-US" dirty="0" err="1"/>
              <a:t>định</a:t>
            </a:r>
            <a:endParaRPr lang="en-US" dirty="0"/>
          </a:p>
          <a:p>
            <a:endParaRPr lang="en-US" dirty="0"/>
          </a:p>
          <a:p>
            <a:endParaRPr lang="en-US" dirty="0"/>
          </a:p>
        </p:txBody>
      </p:sp>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minh </a:t>
            </a:r>
            <a:r>
              <a:rPr lang="en-US" dirty="0" err="1"/>
              <a:t>họa</a:t>
            </a:r>
            <a:endParaRPr lang="vi-VN" dirty="0"/>
          </a:p>
        </p:txBody>
      </p:sp>
      <p:pic>
        <p:nvPicPr>
          <p:cNvPr id="3" name="Picture 2"/>
          <p:cNvPicPr>
            <a:picLocks noChangeAspect="1"/>
          </p:cNvPicPr>
          <p:nvPr/>
        </p:nvPicPr>
        <p:blipFill rotWithShape="1">
          <a:blip r:embed="rId2"/>
          <a:srcRect b="10870"/>
          <a:stretch/>
        </p:blipFill>
        <p:spPr>
          <a:xfrm>
            <a:off x="1143000" y="1786532"/>
            <a:ext cx="6238875" cy="3412826"/>
          </a:xfrm>
          <a:prstGeom prst="rect">
            <a:avLst/>
          </a:prstGeom>
        </p:spPr>
      </p:pic>
    </p:spTree>
    <p:extLst>
      <p:ext uri="{BB962C8B-B14F-4D97-AF65-F5344CB8AC3E}">
        <p14:creationId xmlns:p14="http://schemas.microsoft.com/office/powerpoint/2010/main" val="2247072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minh </a:t>
            </a:r>
            <a:r>
              <a:rPr lang="en-US" dirty="0" err="1"/>
              <a:t>họa</a:t>
            </a:r>
            <a:endParaRPr lang="vi-VN" dirty="0"/>
          </a:p>
        </p:txBody>
      </p:sp>
      <p:sp>
        <p:nvSpPr>
          <p:cNvPr id="4" name="Content Placeholder 3"/>
          <p:cNvSpPr>
            <a:spLocks noGrp="1"/>
          </p:cNvSpPr>
          <p:nvPr>
            <p:ph sz="quarter" idx="13"/>
          </p:nvPr>
        </p:nvSpPr>
        <p:spPr/>
        <p:txBody>
          <a:bodyPr/>
          <a:lstStyle/>
          <a:p>
            <a:r>
              <a:rPr lang="en-US" dirty="0" err="1"/>
              <a:t>Khởi</a:t>
            </a:r>
            <a:r>
              <a:rPr lang="en-US" dirty="0"/>
              <a:t> </a:t>
            </a:r>
            <a:r>
              <a:rPr lang="en-US" dirty="0" err="1"/>
              <a:t>tạo</a:t>
            </a:r>
            <a:r>
              <a:rPr lang="en-US" dirty="0"/>
              <a:t> </a:t>
            </a:r>
            <a:r>
              <a:rPr lang="en-US" dirty="0" err="1"/>
              <a:t>tập</a:t>
            </a:r>
            <a:r>
              <a:rPr lang="en-US" dirty="0"/>
              <a:t> F</a:t>
            </a:r>
          </a:p>
        </p:txBody>
      </p:sp>
      <p:grpSp>
        <p:nvGrpSpPr>
          <p:cNvPr id="6" name="Group 5"/>
          <p:cNvGrpSpPr/>
          <p:nvPr/>
        </p:nvGrpSpPr>
        <p:grpSpPr>
          <a:xfrm>
            <a:off x="1147762" y="1724025"/>
            <a:ext cx="6848475" cy="3409950"/>
            <a:chOff x="1147762" y="1724025"/>
            <a:chExt cx="6848475" cy="3409950"/>
          </a:xfrm>
        </p:grpSpPr>
        <p:pic>
          <p:nvPicPr>
            <p:cNvPr id="3" name="Picture 2"/>
            <p:cNvPicPr>
              <a:picLocks noChangeAspect="1"/>
            </p:cNvPicPr>
            <p:nvPr/>
          </p:nvPicPr>
          <p:blipFill>
            <a:blip r:embed="rId2"/>
            <a:stretch>
              <a:fillRect/>
            </a:stretch>
          </p:blipFill>
          <p:spPr>
            <a:xfrm>
              <a:off x="1147762" y="1724025"/>
              <a:ext cx="6848475" cy="3409950"/>
            </a:xfrm>
            <a:prstGeom prst="rect">
              <a:avLst/>
            </a:prstGeom>
          </p:spPr>
        </p:pic>
        <p:sp>
          <p:nvSpPr>
            <p:cNvPr id="5" name="Rectangle 4"/>
            <p:cNvSpPr/>
            <p:nvPr/>
          </p:nvSpPr>
          <p:spPr>
            <a:xfrm>
              <a:off x="1981200" y="3200400"/>
              <a:ext cx="3810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1498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minh </a:t>
            </a:r>
            <a:r>
              <a:rPr lang="en-US" dirty="0" err="1"/>
              <a:t>họa</a:t>
            </a:r>
            <a:endParaRPr lang="vi-VN" dirty="0"/>
          </a:p>
        </p:txBody>
      </p:sp>
      <p:sp>
        <p:nvSpPr>
          <p:cNvPr id="4" name="Content Placeholder 3"/>
          <p:cNvSpPr>
            <a:spLocks noGrp="1"/>
          </p:cNvSpPr>
          <p:nvPr>
            <p:ph sz="quarter" idx="13"/>
          </p:nvPr>
        </p:nvSpPr>
        <p:spPr/>
        <p:txBody>
          <a:bodyPr/>
          <a:lstStyle/>
          <a:p>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F:</a:t>
            </a:r>
          </a:p>
          <a:p>
            <a:pPr lvl="1"/>
            <a:r>
              <a:rPr lang="en-US" dirty="0" err="1"/>
              <a:t>dist</a:t>
            </a:r>
            <a:r>
              <a:rPr lang="en-US" dirty="0"/>
              <a:t>[2]=9, </a:t>
            </a:r>
            <a:r>
              <a:rPr lang="en-US" dirty="0" err="1"/>
              <a:t>dist</a:t>
            </a:r>
            <a:r>
              <a:rPr lang="en-US" dirty="0"/>
              <a:t>[6]=14, </a:t>
            </a:r>
            <a:r>
              <a:rPr lang="en-US" dirty="0" err="1"/>
              <a:t>dist</a:t>
            </a:r>
            <a:r>
              <a:rPr lang="en-US" dirty="0"/>
              <a:t>[7]=15</a:t>
            </a:r>
          </a:p>
        </p:txBody>
      </p:sp>
      <p:pic>
        <p:nvPicPr>
          <p:cNvPr id="3" name="Picture 2"/>
          <p:cNvPicPr>
            <a:picLocks noChangeAspect="1"/>
          </p:cNvPicPr>
          <p:nvPr/>
        </p:nvPicPr>
        <p:blipFill rotWithShape="1">
          <a:blip r:embed="rId2"/>
          <a:srcRect b="9775"/>
          <a:stretch/>
        </p:blipFill>
        <p:spPr>
          <a:xfrm>
            <a:off x="1257300" y="1752601"/>
            <a:ext cx="6629400" cy="3429000"/>
          </a:xfrm>
          <a:prstGeom prst="rect">
            <a:avLst/>
          </a:prstGeom>
        </p:spPr>
      </p:pic>
    </p:spTree>
    <p:extLst>
      <p:ext uri="{BB962C8B-B14F-4D97-AF65-F5344CB8AC3E}">
        <p14:creationId xmlns:p14="http://schemas.microsoft.com/office/powerpoint/2010/main" val="779182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9: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2</a:t>
            </a:r>
          </a:p>
          <a:p>
            <a:pPr lvl="1"/>
            <a:r>
              <a:rPr lang="en-US" dirty="0" err="1"/>
              <a:t>Thêm</a:t>
            </a:r>
            <a:r>
              <a:rPr lang="en-US" dirty="0"/>
              <a:t> </a:t>
            </a:r>
            <a:r>
              <a:rPr lang="en-US" dirty="0" err="1"/>
              <a:t>đỉnh</a:t>
            </a:r>
            <a:r>
              <a:rPr lang="en-US" dirty="0"/>
              <a:t> 2 </a:t>
            </a:r>
            <a:r>
              <a:rPr lang="en-US" dirty="0" err="1"/>
              <a:t>vào</a:t>
            </a:r>
            <a:r>
              <a:rPr lang="en-US" dirty="0"/>
              <a:t> F</a:t>
            </a:r>
          </a:p>
          <a:p>
            <a:pPr lvl="1"/>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a:t>
            </a:r>
            <a:r>
              <a:rPr lang="en-US" dirty="0" err="1"/>
              <a:t>đỉnh</a:t>
            </a:r>
            <a:r>
              <a:rPr lang="en-US" dirty="0"/>
              <a:t> 2: </a:t>
            </a:r>
            <a:r>
              <a:rPr lang="en-US" dirty="0" err="1"/>
              <a:t>dist</a:t>
            </a:r>
            <a:r>
              <a:rPr lang="en-US" dirty="0"/>
              <a:t>[3]=33</a:t>
            </a:r>
          </a:p>
          <a:p>
            <a:endParaRPr lang="en-US" dirty="0"/>
          </a:p>
        </p:txBody>
      </p:sp>
      <p:grpSp>
        <p:nvGrpSpPr>
          <p:cNvPr id="6" name="Group 5"/>
          <p:cNvGrpSpPr/>
          <p:nvPr/>
        </p:nvGrpSpPr>
        <p:grpSpPr>
          <a:xfrm>
            <a:off x="1214437" y="1905000"/>
            <a:ext cx="6715125" cy="3914775"/>
            <a:chOff x="1515268" y="1781101"/>
            <a:chExt cx="6715125" cy="3914775"/>
          </a:xfrm>
        </p:grpSpPr>
        <p:pic>
          <p:nvPicPr>
            <p:cNvPr id="3" name="Picture 2"/>
            <p:cNvPicPr>
              <a:picLocks noChangeAspect="1"/>
            </p:cNvPicPr>
            <p:nvPr/>
          </p:nvPicPr>
          <p:blipFill rotWithShape="1">
            <a:blip r:embed="rId2"/>
            <a:srcRect l="-1206" t="-11679" r="1206" b="11679"/>
            <a:stretch/>
          </p:blipFill>
          <p:spPr>
            <a:xfrm>
              <a:off x="1515268" y="1781101"/>
              <a:ext cx="6715125" cy="3914775"/>
            </a:xfrm>
            <a:prstGeom prst="rect">
              <a:avLst/>
            </a:prstGeom>
          </p:spPr>
        </p:pic>
        <p:sp>
          <p:nvSpPr>
            <p:cNvPr id="5" name="Rectangle 4"/>
            <p:cNvSpPr/>
            <p:nvPr/>
          </p:nvSpPr>
          <p:spPr>
            <a:xfrm>
              <a:off x="3733800" y="5181600"/>
              <a:ext cx="171450" cy="273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43716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14: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6</a:t>
            </a:r>
          </a:p>
          <a:p>
            <a:pPr lvl="1"/>
            <a:r>
              <a:rPr lang="en-US" dirty="0" err="1"/>
              <a:t>Thêm</a:t>
            </a:r>
            <a:r>
              <a:rPr lang="en-US" dirty="0"/>
              <a:t> </a:t>
            </a:r>
            <a:r>
              <a:rPr lang="en-US" dirty="0" err="1"/>
              <a:t>đỉnh</a:t>
            </a:r>
            <a:r>
              <a:rPr lang="en-US" dirty="0"/>
              <a:t> 6 </a:t>
            </a:r>
            <a:r>
              <a:rPr lang="en-US" dirty="0" err="1"/>
              <a:t>vào</a:t>
            </a:r>
            <a:r>
              <a:rPr lang="en-US" dirty="0"/>
              <a:t> F</a:t>
            </a:r>
          </a:p>
          <a:p>
            <a:pPr lvl="1"/>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a:t>
            </a:r>
            <a:r>
              <a:rPr lang="en-US" dirty="0" err="1"/>
              <a:t>đỉnh</a:t>
            </a:r>
            <a:r>
              <a:rPr lang="en-US" dirty="0"/>
              <a:t> 6: </a:t>
            </a:r>
            <a:r>
              <a:rPr lang="en-US" dirty="0" err="1"/>
              <a:t>dist</a:t>
            </a:r>
            <a:r>
              <a:rPr lang="en-US" dirty="0"/>
              <a:t>[3]=33</a:t>
            </a:r>
            <a:r>
              <a:rPr lang="en-US" dirty="0">
                <a:sym typeface="Wingdings" panose="05000000000000000000" pitchFamily="2" charset="2"/>
              </a:rPr>
              <a:t></a:t>
            </a:r>
            <a:r>
              <a:rPr lang="en-US" dirty="0"/>
              <a:t>32, </a:t>
            </a:r>
            <a:r>
              <a:rPr lang="en-US" dirty="0" err="1"/>
              <a:t>dist</a:t>
            </a:r>
            <a:r>
              <a:rPr lang="en-US" dirty="0"/>
              <a:t>[7]=15, </a:t>
            </a:r>
            <a:r>
              <a:rPr lang="en-US" dirty="0" err="1"/>
              <a:t>dist</a:t>
            </a:r>
            <a:r>
              <a:rPr lang="en-US" dirty="0"/>
              <a:t>[5]=44</a:t>
            </a:r>
          </a:p>
          <a:p>
            <a:endParaRPr lang="en-US" dirty="0"/>
          </a:p>
        </p:txBody>
      </p:sp>
      <p:pic>
        <p:nvPicPr>
          <p:cNvPr id="3" name="Picture 2"/>
          <p:cNvPicPr>
            <a:picLocks noChangeAspect="1"/>
          </p:cNvPicPr>
          <p:nvPr/>
        </p:nvPicPr>
        <p:blipFill rotWithShape="1">
          <a:blip r:embed="rId3"/>
          <a:srcRect b="12172"/>
          <a:stretch/>
        </p:blipFill>
        <p:spPr>
          <a:xfrm>
            <a:off x="1600200" y="2286001"/>
            <a:ext cx="6372225" cy="3505200"/>
          </a:xfrm>
          <a:prstGeom prst="rect">
            <a:avLst/>
          </a:prstGeom>
        </p:spPr>
      </p:pic>
    </p:spTree>
    <p:extLst>
      <p:ext uri="{BB962C8B-B14F-4D97-AF65-F5344CB8AC3E}">
        <p14:creationId xmlns:p14="http://schemas.microsoft.com/office/powerpoint/2010/main" val="2196991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15: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7</a:t>
            </a:r>
          </a:p>
          <a:p>
            <a:pPr lvl="1"/>
            <a:r>
              <a:rPr lang="en-US" dirty="0" err="1"/>
              <a:t>Thêm</a:t>
            </a:r>
            <a:r>
              <a:rPr lang="en-US" dirty="0"/>
              <a:t> </a:t>
            </a:r>
            <a:r>
              <a:rPr lang="en-US" dirty="0" err="1"/>
              <a:t>đỉnh</a:t>
            </a:r>
            <a:r>
              <a:rPr lang="en-US" dirty="0"/>
              <a:t> 7 </a:t>
            </a:r>
            <a:r>
              <a:rPr lang="en-US" dirty="0" err="1"/>
              <a:t>vào</a:t>
            </a:r>
            <a:r>
              <a:rPr lang="en-US" dirty="0"/>
              <a:t> F</a:t>
            </a:r>
          </a:p>
          <a:p>
            <a:pPr lvl="1"/>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a:t>
            </a:r>
            <a:r>
              <a:rPr lang="en-US" dirty="0" err="1"/>
              <a:t>đỉnh</a:t>
            </a:r>
            <a:r>
              <a:rPr lang="en-US" dirty="0"/>
              <a:t> 7: </a:t>
            </a:r>
            <a:r>
              <a:rPr lang="en-US" dirty="0" err="1"/>
              <a:t>dist</a:t>
            </a:r>
            <a:r>
              <a:rPr lang="en-US" dirty="0"/>
              <a:t>[8]=59, </a:t>
            </a:r>
            <a:r>
              <a:rPr lang="en-US" dirty="0" err="1"/>
              <a:t>dist</a:t>
            </a:r>
            <a:r>
              <a:rPr lang="en-US" dirty="0"/>
              <a:t>[5]=44</a:t>
            </a:r>
            <a:r>
              <a:rPr lang="en-US" dirty="0">
                <a:sym typeface="Wingdings" panose="05000000000000000000" pitchFamily="2" charset="2"/>
              </a:rPr>
              <a:t>35</a:t>
            </a:r>
            <a:endParaRPr lang="en-US" dirty="0"/>
          </a:p>
          <a:p>
            <a:endParaRPr lang="en-US" dirty="0"/>
          </a:p>
          <a:p>
            <a:endParaRPr lang="en-US" dirty="0"/>
          </a:p>
        </p:txBody>
      </p:sp>
      <p:pic>
        <p:nvPicPr>
          <p:cNvPr id="3" name="Picture 2"/>
          <p:cNvPicPr>
            <a:picLocks noChangeAspect="1"/>
          </p:cNvPicPr>
          <p:nvPr/>
        </p:nvPicPr>
        <p:blipFill rotWithShape="1">
          <a:blip r:embed="rId3"/>
          <a:srcRect b="11810"/>
          <a:stretch/>
        </p:blipFill>
        <p:spPr>
          <a:xfrm>
            <a:off x="1433512" y="2287750"/>
            <a:ext cx="6276975" cy="3427250"/>
          </a:xfrm>
          <a:prstGeom prst="rect">
            <a:avLst/>
          </a:prstGeom>
        </p:spPr>
      </p:pic>
    </p:spTree>
    <p:extLst>
      <p:ext uri="{BB962C8B-B14F-4D97-AF65-F5344CB8AC3E}">
        <p14:creationId xmlns:p14="http://schemas.microsoft.com/office/powerpoint/2010/main" val="1915087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32: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3, </a:t>
            </a:r>
            <a:r>
              <a:rPr lang="en-US" dirty="0" err="1"/>
              <a:t>đi</a:t>
            </a:r>
            <a:r>
              <a:rPr lang="en-US" dirty="0"/>
              <a:t> qua </a:t>
            </a:r>
            <a:r>
              <a:rPr lang="en-US" dirty="0" err="1"/>
              <a:t>đỉnh</a:t>
            </a:r>
            <a:r>
              <a:rPr lang="en-US" dirty="0"/>
              <a:t> 6</a:t>
            </a:r>
          </a:p>
          <a:p>
            <a:pPr lvl="1"/>
            <a:r>
              <a:rPr lang="en-US" dirty="0" err="1"/>
              <a:t>Thêm</a:t>
            </a:r>
            <a:r>
              <a:rPr lang="en-US" dirty="0"/>
              <a:t> </a:t>
            </a:r>
            <a:r>
              <a:rPr lang="en-US" dirty="0" err="1"/>
              <a:t>đỉnh</a:t>
            </a:r>
            <a:r>
              <a:rPr lang="en-US" dirty="0"/>
              <a:t> 3 </a:t>
            </a:r>
            <a:r>
              <a:rPr lang="en-US" dirty="0" err="1"/>
              <a:t>vào</a:t>
            </a:r>
            <a:r>
              <a:rPr lang="en-US" dirty="0"/>
              <a:t> F</a:t>
            </a:r>
          </a:p>
          <a:p>
            <a:pPr lvl="1"/>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a:t>
            </a:r>
            <a:r>
              <a:rPr lang="en-US" dirty="0" err="1"/>
              <a:t>đỉnh</a:t>
            </a:r>
            <a:r>
              <a:rPr lang="en-US" dirty="0"/>
              <a:t> 3: </a:t>
            </a:r>
            <a:r>
              <a:rPr lang="en-US" dirty="0" err="1"/>
              <a:t>dist</a:t>
            </a:r>
            <a:r>
              <a:rPr lang="en-US" dirty="0"/>
              <a:t>[8]=59</a:t>
            </a:r>
            <a:r>
              <a:rPr lang="en-US" dirty="0">
                <a:sym typeface="Wingdings" panose="05000000000000000000" pitchFamily="2" charset="2"/>
              </a:rPr>
              <a:t>51</a:t>
            </a:r>
            <a:r>
              <a:rPr lang="en-US" dirty="0"/>
              <a:t>, </a:t>
            </a:r>
            <a:r>
              <a:rPr lang="en-US" dirty="0" err="1"/>
              <a:t>dist</a:t>
            </a:r>
            <a:r>
              <a:rPr lang="en-US" dirty="0"/>
              <a:t>[5]=44</a:t>
            </a:r>
            <a:r>
              <a:rPr lang="en-US" dirty="0">
                <a:sym typeface="Wingdings" panose="05000000000000000000" pitchFamily="2" charset="2"/>
              </a:rPr>
              <a:t>3534</a:t>
            </a:r>
            <a:endParaRPr lang="en-US" dirty="0"/>
          </a:p>
          <a:p>
            <a:endParaRPr lang="en-US" dirty="0"/>
          </a:p>
          <a:p>
            <a:endParaRPr lang="en-US" dirty="0"/>
          </a:p>
          <a:p>
            <a:endParaRPr lang="en-US" dirty="0"/>
          </a:p>
        </p:txBody>
      </p:sp>
      <p:pic>
        <p:nvPicPr>
          <p:cNvPr id="3" name="Picture 2"/>
          <p:cNvPicPr>
            <a:picLocks noChangeAspect="1"/>
          </p:cNvPicPr>
          <p:nvPr/>
        </p:nvPicPr>
        <p:blipFill rotWithShape="1">
          <a:blip r:embed="rId3"/>
          <a:srcRect b="12953"/>
          <a:stretch/>
        </p:blipFill>
        <p:spPr>
          <a:xfrm>
            <a:off x="1295400" y="2315592"/>
            <a:ext cx="7077075" cy="3399408"/>
          </a:xfrm>
          <a:prstGeom prst="rect">
            <a:avLst/>
          </a:prstGeom>
        </p:spPr>
      </p:pic>
    </p:spTree>
    <p:extLst>
      <p:ext uri="{BB962C8B-B14F-4D97-AF65-F5344CB8AC3E}">
        <p14:creationId xmlns:p14="http://schemas.microsoft.com/office/powerpoint/2010/main" val="9045524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34: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5, </a:t>
            </a:r>
            <a:r>
              <a:rPr lang="en-US" dirty="0" err="1"/>
              <a:t>đi</a:t>
            </a:r>
            <a:r>
              <a:rPr lang="en-US" dirty="0"/>
              <a:t> qua </a:t>
            </a:r>
            <a:r>
              <a:rPr lang="en-US" dirty="0" err="1"/>
              <a:t>đỉnh</a:t>
            </a:r>
            <a:r>
              <a:rPr lang="en-US" dirty="0"/>
              <a:t> 6 </a:t>
            </a:r>
            <a:r>
              <a:rPr lang="en-US" dirty="0" err="1"/>
              <a:t>và</a:t>
            </a:r>
            <a:r>
              <a:rPr lang="en-US" dirty="0"/>
              <a:t> 3</a:t>
            </a:r>
          </a:p>
          <a:p>
            <a:pPr lvl="1"/>
            <a:r>
              <a:rPr lang="en-US" dirty="0" err="1"/>
              <a:t>Thêm</a:t>
            </a:r>
            <a:r>
              <a:rPr lang="en-US" dirty="0"/>
              <a:t> </a:t>
            </a:r>
            <a:r>
              <a:rPr lang="en-US" dirty="0" err="1"/>
              <a:t>đỉnh</a:t>
            </a:r>
            <a:r>
              <a:rPr lang="en-US" dirty="0"/>
              <a:t> 5 </a:t>
            </a:r>
            <a:r>
              <a:rPr lang="en-US" dirty="0" err="1"/>
              <a:t>vào</a:t>
            </a:r>
            <a:r>
              <a:rPr lang="en-US" dirty="0"/>
              <a:t> F</a:t>
            </a:r>
          </a:p>
          <a:p>
            <a:pPr lvl="1"/>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a:t>
            </a:r>
            <a:r>
              <a:rPr lang="en-US" dirty="0" err="1"/>
              <a:t>đỉnh</a:t>
            </a:r>
            <a:r>
              <a:rPr lang="en-US" dirty="0"/>
              <a:t> 5: </a:t>
            </a:r>
            <a:r>
              <a:rPr lang="en-US" dirty="0" err="1"/>
              <a:t>dist</a:t>
            </a:r>
            <a:r>
              <a:rPr lang="en-US" dirty="0"/>
              <a:t>[8]=59</a:t>
            </a:r>
            <a:r>
              <a:rPr lang="en-US" dirty="0">
                <a:sym typeface="Wingdings" panose="05000000000000000000" pitchFamily="2" charset="2"/>
              </a:rPr>
              <a:t>5150</a:t>
            </a:r>
            <a:r>
              <a:rPr lang="en-US" dirty="0"/>
              <a:t>, </a:t>
            </a:r>
            <a:r>
              <a:rPr lang="en-US" dirty="0" err="1"/>
              <a:t>dist</a:t>
            </a:r>
            <a:r>
              <a:rPr lang="en-US" dirty="0"/>
              <a:t>[4]=45</a:t>
            </a:r>
          </a:p>
          <a:p>
            <a:endParaRPr lang="en-US" dirty="0"/>
          </a:p>
          <a:p>
            <a:endParaRPr lang="en-US" dirty="0"/>
          </a:p>
          <a:p>
            <a:endParaRPr lang="en-US" dirty="0"/>
          </a:p>
          <a:p>
            <a:endParaRPr lang="en-US" dirty="0"/>
          </a:p>
        </p:txBody>
      </p:sp>
      <p:pic>
        <p:nvPicPr>
          <p:cNvPr id="3" name="Picture 2"/>
          <p:cNvPicPr>
            <a:picLocks noChangeAspect="1"/>
          </p:cNvPicPr>
          <p:nvPr/>
        </p:nvPicPr>
        <p:blipFill rotWithShape="1">
          <a:blip r:embed="rId3"/>
          <a:srcRect b="11814"/>
          <a:stretch/>
        </p:blipFill>
        <p:spPr>
          <a:xfrm>
            <a:off x="1067593" y="2212153"/>
            <a:ext cx="6552407" cy="3350448"/>
          </a:xfrm>
          <a:prstGeom prst="rect">
            <a:avLst/>
          </a:prstGeom>
        </p:spPr>
      </p:pic>
    </p:spTree>
    <p:extLst>
      <p:ext uri="{BB962C8B-B14F-4D97-AF65-F5344CB8AC3E}">
        <p14:creationId xmlns:p14="http://schemas.microsoft.com/office/powerpoint/2010/main" val="182417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45: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4, </a:t>
            </a:r>
            <a:r>
              <a:rPr lang="en-US" dirty="0" err="1"/>
              <a:t>đi</a:t>
            </a:r>
            <a:r>
              <a:rPr lang="en-US" dirty="0"/>
              <a:t> qua </a:t>
            </a:r>
            <a:r>
              <a:rPr lang="en-US" dirty="0" err="1"/>
              <a:t>đỉnh</a:t>
            </a:r>
            <a:r>
              <a:rPr lang="en-US" dirty="0"/>
              <a:t> 6 – 3 – 5 </a:t>
            </a:r>
          </a:p>
          <a:p>
            <a:pPr lvl="1"/>
            <a:r>
              <a:rPr lang="en-US" dirty="0" err="1"/>
              <a:t>Thêm</a:t>
            </a:r>
            <a:r>
              <a:rPr lang="en-US" dirty="0"/>
              <a:t> </a:t>
            </a:r>
            <a:r>
              <a:rPr lang="en-US" dirty="0" err="1"/>
              <a:t>đỉnh</a:t>
            </a:r>
            <a:r>
              <a:rPr lang="en-US" dirty="0"/>
              <a:t> 4 </a:t>
            </a:r>
            <a:r>
              <a:rPr lang="en-US" dirty="0" err="1"/>
              <a:t>vào</a:t>
            </a:r>
            <a:r>
              <a:rPr lang="en-US" dirty="0"/>
              <a:t> F</a:t>
            </a:r>
          </a:p>
          <a:p>
            <a:pPr lvl="1"/>
            <a:r>
              <a:rPr lang="en-US" dirty="0" err="1"/>
              <a:t>Cập</a:t>
            </a:r>
            <a:r>
              <a:rPr lang="en-US" dirty="0"/>
              <a:t> </a:t>
            </a:r>
            <a:r>
              <a:rPr lang="en-US" dirty="0" err="1"/>
              <a:t>nhật</a:t>
            </a:r>
            <a:r>
              <a:rPr lang="en-US" dirty="0"/>
              <a:t> </a:t>
            </a:r>
            <a:r>
              <a:rPr lang="en-US" dirty="0" err="1"/>
              <a:t>giá</a:t>
            </a:r>
            <a:r>
              <a:rPr lang="en-US" dirty="0"/>
              <a:t> </a:t>
            </a:r>
            <a:r>
              <a:rPr lang="en-US" dirty="0" err="1"/>
              <a:t>trị</a:t>
            </a:r>
            <a:r>
              <a:rPr lang="en-US" dirty="0"/>
              <a:t> </a:t>
            </a:r>
            <a:r>
              <a:rPr lang="en-US" dirty="0" err="1"/>
              <a:t>dist</a:t>
            </a:r>
            <a:r>
              <a:rPr lang="en-US" dirty="0"/>
              <a:t> </a:t>
            </a:r>
            <a:r>
              <a:rPr lang="en-US" dirty="0" err="1"/>
              <a:t>cho</a:t>
            </a:r>
            <a:r>
              <a:rPr lang="en-US" dirty="0"/>
              <a:t> </a:t>
            </a:r>
            <a:r>
              <a:rPr lang="en-US" dirty="0" err="1"/>
              <a:t>các</a:t>
            </a:r>
            <a:r>
              <a:rPr lang="en-US" dirty="0"/>
              <a:t> </a:t>
            </a:r>
            <a:r>
              <a:rPr lang="en-US" dirty="0" err="1"/>
              <a:t>đỉnh</a:t>
            </a:r>
            <a:r>
              <a:rPr lang="en-US" dirty="0"/>
              <a:t> </a:t>
            </a:r>
            <a:r>
              <a:rPr lang="en-US" dirty="0" err="1"/>
              <a:t>kề</a:t>
            </a:r>
            <a:r>
              <a:rPr lang="en-US" dirty="0"/>
              <a:t> </a:t>
            </a:r>
            <a:r>
              <a:rPr lang="en-US" dirty="0" err="1"/>
              <a:t>của</a:t>
            </a:r>
            <a:r>
              <a:rPr lang="en-US" dirty="0"/>
              <a:t> </a:t>
            </a:r>
            <a:r>
              <a:rPr lang="en-US" dirty="0" err="1"/>
              <a:t>đỉnh</a:t>
            </a:r>
            <a:r>
              <a:rPr lang="en-US" dirty="0"/>
              <a:t> 4: </a:t>
            </a:r>
            <a:r>
              <a:rPr lang="en-US" dirty="0" err="1"/>
              <a:t>dist</a:t>
            </a:r>
            <a:r>
              <a:rPr lang="en-US" dirty="0"/>
              <a:t>[8]=59</a:t>
            </a:r>
            <a:r>
              <a:rPr lang="en-US" dirty="0">
                <a:sym typeface="Wingdings" panose="05000000000000000000" pitchFamily="2" charset="2"/>
              </a:rPr>
              <a:t>515050</a:t>
            </a:r>
            <a:endParaRPr lang="en-US" dirty="0"/>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rotWithShape="1">
          <a:blip r:embed="rId3"/>
          <a:srcRect b="13616"/>
          <a:stretch/>
        </p:blipFill>
        <p:spPr>
          <a:xfrm>
            <a:off x="733241" y="2165317"/>
            <a:ext cx="7677517" cy="3979325"/>
          </a:xfrm>
          <a:prstGeom prst="rect">
            <a:avLst/>
          </a:prstGeom>
        </p:spPr>
      </p:pic>
    </p:spTree>
    <p:extLst>
      <p:ext uri="{BB962C8B-B14F-4D97-AF65-F5344CB8AC3E}">
        <p14:creationId xmlns:p14="http://schemas.microsoft.com/office/powerpoint/2010/main" val="42065461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Mở</a:t>
            </a:r>
            <a:r>
              <a:rPr lang="en-US" dirty="0"/>
              <a:t> </a:t>
            </a:r>
            <a:r>
              <a:rPr lang="en-US" dirty="0" err="1"/>
              <a:t>rộng</a:t>
            </a:r>
            <a:r>
              <a:rPr lang="en-US" dirty="0"/>
              <a:t> </a:t>
            </a:r>
            <a:r>
              <a:rPr lang="en-US" dirty="0" err="1"/>
              <a:t>tập</a:t>
            </a:r>
            <a:r>
              <a:rPr lang="en-US" dirty="0"/>
              <a:t> F</a:t>
            </a:r>
          </a:p>
          <a:p>
            <a:pPr lvl="1"/>
            <a:r>
              <a:rPr lang="en-US" dirty="0" err="1"/>
              <a:t>chọn</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dist</a:t>
            </a:r>
            <a:r>
              <a:rPr lang="en-US" dirty="0"/>
              <a:t> = 50: </a:t>
            </a:r>
            <a:r>
              <a:rPr lang="en-US" dirty="0" err="1"/>
              <a:t>từ</a:t>
            </a:r>
            <a:r>
              <a:rPr lang="en-US" dirty="0"/>
              <a:t> </a:t>
            </a:r>
            <a:r>
              <a:rPr lang="en-US" dirty="0" err="1"/>
              <a:t>đỉnh</a:t>
            </a:r>
            <a:r>
              <a:rPr lang="en-US" dirty="0"/>
              <a:t> 1 </a:t>
            </a:r>
            <a:r>
              <a:rPr lang="en-US" dirty="0" err="1"/>
              <a:t>đến</a:t>
            </a:r>
            <a:r>
              <a:rPr lang="en-US" dirty="0"/>
              <a:t> </a:t>
            </a:r>
            <a:r>
              <a:rPr lang="en-US" dirty="0" err="1"/>
              <a:t>đỉnh</a:t>
            </a:r>
            <a:r>
              <a:rPr lang="en-US" dirty="0"/>
              <a:t> 8, </a:t>
            </a:r>
            <a:r>
              <a:rPr lang="en-US" dirty="0" err="1"/>
              <a:t>đi</a:t>
            </a:r>
            <a:r>
              <a:rPr lang="en-US" dirty="0"/>
              <a:t> qua </a:t>
            </a:r>
            <a:r>
              <a:rPr lang="en-US" dirty="0" err="1"/>
              <a:t>đỉnh</a:t>
            </a:r>
            <a:r>
              <a:rPr lang="en-US" dirty="0"/>
              <a:t> 6 – 3 – 5 </a:t>
            </a:r>
          </a:p>
          <a:p>
            <a:pPr lvl="1"/>
            <a:r>
              <a:rPr lang="en-US" dirty="0" err="1"/>
              <a:t>Thêm</a:t>
            </a:r>
            <a:r>
              <a:rPr lang="en-US" dirty="0"/>
              <a:t> </a:t>
            </a:r>
            <a:r>
              <a:rPr lang="en-US" dirty="0" err="1"/>
              <a:t>đỉnh</a:t>
            </a:r>
            <a:r>
              <a:rPr lang="en-US" dirty="0"/>
              <a:t> 8 </a:t>
            </a:r>
            <a:r>
              <a:rPr lang="en-US" dirty="0" err="1"/>
              <a:t>vào</a:t>
            </a:r>
            <a:r>
              <a:rPr lang="en-US" dirty="0"/>
              <a:t> F. F=V </a:t>
            </a:r>
            <a:r>
              <a:rPr lang="en-US" dirty="0">
                <a:sym typeface="Wingdings" panose="05000000000000000000" pitchFamily="2" charset="2"/>
              </a:rPr>
              <a:t> </a:t>
            </a:r>
            <a:r>
              <a:rPr lang="en-US" dirty="0" err="1">
                <a:sym typeface="Wingdings" panose="05000000000000000000" pitchFamily="2" charset="2"/>
              </a:rPr>
              <a:t>Dừng</a:t>
            </a:r>
            <a:endParaRPr lang="en-US" dirty="0"/>
          </a:p>
          <a:p>
            <a:endParaRPr lang="en-US" dirty="0"/>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rotWithShape="1">
          <a:blip r:embed="rId3"/>
          <a:srcRect b="8551"/>
          <a:stretch/>
        </p:blipFill>
        <p:spPr>
          <a:xfrm>
            <a:off x="762000" y="1981201"/>
            <a:ext cx="7952697" cy="3962400"/>
          </a:xfrm>
          <a:prstGeom prst="rect">
            <a:avLst/>
          </a:prstGeom>
        </p:spPr>
      </p:pic>
    </p:spTree>
    <p:extLst>
      <p:ext uri="{BB962C8B-B14F-4D97-AF65-F5344CB8AC3E}">
        <p14:creationId xmlns:p14="http://schemas.microsoft.com/office/powerpoint/2010/main" val="894794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Ví dụ minh họa</a:t>
            </a:r>
            <a:endParaRPr lang="vi-VN" dirty="0"/>
          </a:p>
        </p:txBody>
      </p:sp>
      <p:sp>
        <p:nvSpPr>
          <p:cNvPr id="4" name="Content Placeholder 3"/>
          <p:cNvSpPr>
            <a:spLocks noGrp="1"/>
          </p:cNvSpPr>
          <p:nvPr>
            <p:ph sz="quarter" idx="13"/>
          </p:nvPr>
        </p:nvSpPr>
        <p:spPr/>
        <p:txBody>
          <a:bodyPr/>
          <a:lstStyle/>
          <a:p>
            <a:r>
              <a:rPr lang="en-US" dirty="0" err="1"/>
              <a:t>Tập</a:t>
            </a:r>
            <a:r>
              <a:rPr lang="en-US" dirty="0"/>
              <a:t> </a:t>
            </a:r>
            <a:r>
              <a:rPr lang="en-US" dirty="0" err="1"/>
              <a:t>hợp</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từ</a:t>
            </a:r>
            <a:r>
              <a:rPr lang="en-US" dirty="0"/>
              <a:t> </a:t>
            </a:r>
            <a:r>
              <a:rPr lang="en-US" dirty="0" err="1"/>
              <a:t>đỉnh</a:t>
            </a:r>
            <a:r>
              <a:rPr lang="en-US" dirty="0"/>
              <a:t> 1 </a:t>
            </a:r>
            <a:r>
              <a:rPr lang="en-US" dirty="0" err="1"/>
              <a:t>tới</a:t>
            </a:r>
            <a:r>
              <a:rPr lang="en-US" dirty="0"/>
              <a:t> </a:t>
            </a:r>
            <a:r>
              <a:rPr lang="en-US" dirty="0" err="1"/>
              <a:t>các</a:t>
            </a:r>
            <a:r>
              <a:rPr lang="en-US" dirty="0"/>
              <a:t> </a:t>
            </a:r>
            <a:r>
              <a:rPr lang="en-US" dirty="0" err="1"/>
              <a:t>đỉnh</a:t>
            </a:r>
            <a:r>
              <a:rPr lang="en-US" dirty="0"/>
              <a:t> </a:t>
            </a:r>
            <a:r>
              <a:rPr lang="en-US" dirty="0" err="1"/>
              <a:t>còn</a:t>
            </a:r>
            <a:r>
              <a:rPr lang="en-US" dirty="0"/>
              <a:t> </a:t>
            </a:r>
            <a:r>
              <a:rPr lang="en-US" dirty="0" err="1"/>
              <a:t>lại</a:t>
            </a:r>
            <a:r>
              <a:rPr lang="en-US" dirty="0"/>
              <a:t>.</a:t>
            </a:r>
          </a:p>
        </p:txBody>
      </p:sp>
      <p:pic>
        <p:nvPicPr>
          <p:cNvPr id="3" name="Picture 2"/>
          <p:cNvPicPr>
            <a:picLocks noChangeAspect="1"/>
          </p:cNvPicPr>
          <p:nvPr/>
        </p:nvPicPr>
        <p:blipFill>
          <a:blip r:embed="rId2"/>
          <a:stretch>
            <a:fillRect/>
          </a:stretch>
        </p:blipFill>
        <p:spPr>
          <a:xfrm>
            <a:off x="965200" y="1585253"/>
            <a:ext cx="7303551" cy="4323178"/>
          </a:xfrm>
          <a:prstGeom prst="rect">
            <a:avLst/>
          </a:prstGeom>
        </p:spPr>
      </p:pic>
    </p:spTree>
    <p:extLst>
      <p:ext uri="{BB962C8B-B14F-4D97-AF65-F5344CB8AC3E}">
        <p14:creationId xmlns:p14="http://schemas.microsoft.com/office/powerpoint/2010/main" val="1135599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43</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Dijkstra</a:t>
            </a:r>
            <a:endParaRPr lang="en-US" dirty="0"/>
          </a:p>
        </p:txBody>
      </p:sp>
      <p:sp>
        <p:nvSpPr>
          <p:cNvPr id="4" name="Content Placeholder 3"/>
          <p:cNvSpPr>
            <a:spLocks noGrp="1"/>
          </p:cNvSpPr>
          <p:nvPr>
            <p:ph sz="quarter" idx="13"/>
          </p:nvPr>
        </p:nvSpPr>
        <p:spPr>
          <a:xfrm>
            <a:off x="235076" y="841249"/>
            <a:ext cx="8908923" cy="5303393"/>
          </a:xfrm>
        </p:spPr>
        <p:txBody>
          <a:bodyPr>
            <a:normAutofit/>
          </a:bodyPr>
          <a:lstStyle/>
          <a:p>
            <a:r>
              <a:rPr lang="en-US" sz="2400" dirty="0" err="1"/>
              <a:t>Cài</a:t>
            </a:r>
            <a:r>
              <a:rPr lang="en-US" sz="2400" dirty="0"/>
              <a:t> </a:t>
            </a:r>
            <a:r>
              <a:rPr lang="en-US" sz="2400" dirty="0" err="1"/>
              <a:t>đặt</a:t>
            </a:r>
            <a:r>
              <a:rPr lang="en-US" sz="2400" dirty="0"/>
              <a:t>	</a:t>
            </a:r>
            <a:endParaRPr lang="vi-VN" sz="2400" dirty="0"/>
          </a:p>
        </p:txBody>
      </p:sp>
      <mc:AlternateContent xmlns:mc="http://schemas.openxmlformats.org/markup-compatibility/2006" xmlns:a14="http://schemas.microsoft.com/office/drawing/2010/main">
        <mc:Choice Requires="a14">
          <p:sp>
            <p:nvSpPr>
              <p:cNvPr id="6" name="Rectangle 5"/>
              <p:cNvSpPr/>
              <p:nvPr/>
            </p:nvSpPr>
            <p:spPr>
              <a:xfrm>
                <a:off x="1055076" y="1369286"/>
                <a:ext cx="8077200" cy="4247317"/>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F = {v0}; </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[0] = 0;</a:t>
                </a:r>
              </a:p>
              <a:p>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N;i</a:t>
                </a:r>
                <a:r>
                  <a:rPr lang="en-US" dirty="0">
                    <a:latin typeface="Courier New" panose="02070309020205020404" pitchFamily="49" charset="0"/>
                    <a:cs typeface="Courier New" panose="02070309020205020404" pitchFamily="49" charset="0"/>
                  </a:rPr>
                  <a:t>++) {</a:t>
                </a:r>
              </a:p>
              <a:p>
                <a:pPr lvl="1"/>
                <a:r>
                  <a:rPr lang="en-US" dirty="0">
                    <a:latin typeface="Courier New" panose="02070309020205020404" pitchFamily="49" charset="0"/>
                    <a:cs typeface="Courier New" panose="02070309020205020404" pitchFamily="49" charset="0"/>
                  </a:rPr>
                  <a:t>if (v0, vi)</a:t>
                </a:r>
                <a:r>
                  <a:rPr lang="vi-VN" dirty="0">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en-US" dirty="0">
                    <a:latin typeface="Courier New" panose="02070309020205020404" pitchFamily="49" charset="0"/>
                    <a:cs typeface="Courier New" panose="02070309020205020404" pitchFamily="49" charset="0"/>
                  </a:rPr>
                  <a:t> E {</a:t>
                </a:r>
              </a:p>
              <a:p>
                <a:pPr lvl="1"/>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|v0,vi| ; </a:t>
                </a:r>
                <a:r>
                  <a:rPr lang="en-US" dirty="0" err="1">
                    <a:latin typeface="Courier New" panose="02070309020205020404" pitchFamily="49" charset="0"/>
                    <a:cs typeface="Courier New" panose="02070309020205020404" pitchFamily="49" charset="0"/>
                  </a:rPr>
                  <a:t>prev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]=v0;</a:t>
                </a:r>
              </a:p>
              <a:p>
                <a:pPr lvl="1"/>
                <a:r>
                  <a:rPr lang="en-US" dirty="0">
                    <a:latin typeface="Courier New" panose="02070309020205020404" pitchFamily="49" charset="0"/>
                    <a:cs typeface="Courier New" panose="02070309020205020404" pitchFamily="49" charset="0"/>
                  </a:rPr>
                  <a:t>} else </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&lt;N;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Tìm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vm</a:t>
                </a:r>
                <a:r>
                  <a:rPr lang="vi-VN" dirty="0">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 </m:t>
                    </m:r>
                  </m:oMath>
                </a14:m>
                <a:r>
                  <a:rPr lang="en-US" dirty="0">
                    <a:latin typeface="Courier New" panose="02070309020205020404" pitchFamily="49" charset="0"/>
                    <a:cs typeface="Courier New" panose="02070309020205020404" pitchFamily="49" charset="0"/>
                  </a:rPr>
                  <a:t>V\F: </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[m]= MIN(</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[k] </a:t>
                </a:r>
                <a14:m>
                  <m:oMath xmlns:m="http://schemas.openxmlformats.org/officeDocument/2006/math">
                    <m:r>
                      <a:rPr lang="en-US" i="1" smtClean="0">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 vk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en-US" dirty="0">
                    <a:latin typeface="Courier New" panose="02070309020205020404" pitchFamily="49" charset="0"/>
                    <a:cs typeface="Courier New" panose="02070309020205020404" pitchFamily="49" charset="0"/>
                  </a:rPr>
                  <a:t> V\F) ;</a:t>
                </a:r>
              </a:p>
              <a:p>
                <a:pPr lvl="1"/>
                <a:r>
                  <a:rPr lang="en-US" dirty="0">
                    <a:latin typeface="Courier New" panose="02070309020205020404" pitchFamily="49" charset="0"/>
                    <a:cs typeface="Courier New" panose="02070309020205020404" pitchFamily="49" charset="0"/>
                  </a:rPr>
                  <a:t>F = F </a:t>
                </a:r>
                <a14:m>
                  <m:oMath xmlns:m="http://schemas.openxmlformats.org/officeDocument/2006/math">
                    <m:r>
                      <a:rPr lang="en-US" b="0" i="0" smtClean="0">
                        <a:latin typeface="Cambria Math" panose="02040503050406030204" pitchFamily="18" charset="0"/>
                      </a:rPr>
                      <m:t> </m:t>
                    </m:r>
                    <m:r>
                      <a:rPr lang="en-US" i="1" smtClean="0">
                        <a:latin typeface="Cambria Math" panose="02040503050406030204" pitchFamily="18" charset="0"/>
                      </a:rPr>
                      <m:t>∪</m:t>
                    </m:r>
                  </m:oMath>
                </a14:m>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vm</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for each </a:t>
                </a:r>
                <a:r>
                  <a:rPr lang="en-US" dirty="0" err="1">
                    <a:latin typeface="Courier New" panose="02070309020205020404" pitchFamily="49" charset="0"/>
                    <a:cs typeface="Courier New" panose="02070309020205020404" pitchFamily="49" charset="0"/>
                  </a:rPr>
                  <a:t>vk</a:t>
                </a:r>
                <a:r>
                  <a:rPr lang="vi-VN" dirty="0">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 </m:t>
                    </m:r>
                  </m:oMath>
                </a14:m>
                <a:r>
                  <a:rPr lang="en-US" dirty="0">
                    <a:latin typeface="Courier New" panose="02070309020205020404" pitchFamily="49" charset="0"/>
                    <a:cs typeface="Courier New" panose="02070309020205020404" pitchFamily="49" charset="0"/>
                  </a:rPr>
                  <a:t>V\F</a:t>
                </a:r>
              </a:p>
              <a:p>
                <a:r>
                  <a:rPr lang="en-US" dirty="0">
                    <a:latin typeface="Courier New" panose="02070309020205020404" pitchFamily="49" charset="0"/>
                    <a:cs typeface="Courier New" panose="02070309020205020404" pitchFamily="49" charset="0"/>
                  </a:rPr>
                  <a:t>		if ((</a:t>
                </a:r>
                <a:r>
                  <a:rPr lang="en-US" dirty="0" err="1">
                    <a:latin typeface="Courier New" panose="02070309020205020404" pitchFamily="49" charset="0"/>
                    <a:cs typeface="Courier New" panose="02070309020205020404" pitchFamily="49" charset="0"/>
                  </a:rPr>
                  <a:t>vm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vk</a:t>
                </a:r>
                <a:r>
                  <a:rPr lang="en-US" dirty="0">
                    <a:latin typeface="Courier New" panose="02070309020205020404" pitchFamily="49" charset="0"/>
                    <a:cs typeface="Courier New" panose="02070309020205020404" pitchFamily="49" charset="0"/>
                  </a:rPr>
                  <a:t>)</a:t>
                </a:r>
                <a14:m>
                  <m:oMath xmlns:m="http://schemas.openxmlformats.org/officeDocument/2006/math">
                    <m:r>
                      <a:rPr lang="vi-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latin typeface="Courier New" panose="02070309020205020404" pitchFamily="49" charset="0"/>
                    <a:cs typeface="Courier New" panose="02070309020205020404" pitchFamily="49" charset="0"/>
                  </a:rPr>
                  <a:t>E) &amp;&amp;(</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[k]&gt;</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[m]+|</a:t>
                </a:r>
                <a:r>
                  <a:rPr lang="en-US" dirty="0" err="1">
                    <a:latin typeface="Courier New" panose="02070309020205020404" pitchFamily="49" charset="0"/>
                    <a:cs typeface="Courier New" panose="02070309020205020404" pitchFamily="49" charset="0"/>
                  </a:rPr>
                  <a:t>vm,vk</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[k] = </a:t>
                </a:r>
                <a:r>
                  <a:rPr lang="en-US" dirty="0" err="1">
                    <a:latin typeface="Courier New" panose="02070309020205020404" pitchFamily="49" charset="0"/>
                    <a:cs typeface="Courier New" panose="02070309020205020404" pitchFamily="49" charset="0"/>
                  </a:rPr>
                  <a:t>dist</a:t>
                </a:r>
                <a:r>
                  <a:rPr lang="en-US" dirty="0">
                    <a:latin typeface="Courier New" panose="02070309020205020404" pitchFamily="49" charset="0"/>
                    <a:cs typeface="Courier New" panose="02070309020205020404" pitchFamily="49" charset="0"/>
                  </a:rPr>
                  <a:t>[m] + |</a:t>
                </a:r>
                <a:r>
                  <a:rPr lang="en-US" dirty="0" err="1">
                    <a:latin typeface="Courier New" panose="02070309020205020404" pitchFamily="49" charset="0"/>
                    <a:cs typeface="Courier New" panose="02070309020205020404" pitchFamily="49" charset="0"/>
                  </a:rPr>
                  <a:t>vm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vk</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prev</a:t>
                </a:r>
                <a:r>
                  <a:rPr lang="en-US" dirty="0">
                    <a:latin typeface="Courier New" panose="02070309020205020404" pitchFamily="49" charset="0"/>
                    <a:cs typeface="Courier New" panose="02070309020205020404" pitchFamily="49" charset="0"/>
                  </a:rPr>
                  <a:t>[k] = </a:t>
                </a:r>
                <a:r>
                  <a:rPr lang="en-US" dirty="0" err="1">
                    <a:latin typeface="Courier New" panose="02070309020205020404" pitchFamily="49" charset="0"/>
                    <a:cs typeface="Courier New" panose="02070309020205020404" pitchFamily="49" charset="0"/>
                  </a:rPr>
                  <a:t>vm</a:t>
                </a:r>
                <a:r>
                  <a:rPr lang="en-US" dirty="0">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p:txBody>
          </p:sp>
        </mc:Choice>
        <mc:Fallback xmlns="">
          <p:sp>
            <p:nvSpPr>
              <p:cNvPr id="6" name="Rectangle 5"/>
              <p:cNvSpPr>
                <a:spLocks noRot="1" noChangeAspect="1" noMove="1" noResize="1" noEditPoints="1" noAdjustHandles="1" noChangeArrowheads="1" noChangeShapeType="1" noTextEdit="1"/>
              </p:cNvSpPr>
              <p:nvPr/>
            </p:nvSpPr>
            <p:spPr>
              <a:xfrm>
                <a:off x="1055076" y="1369286"/>
                <a:ext cx="8077200" cy="4247317"/>
              </a:xfrm>
              <a:prstGeom prst="rect">
                <a:avLst/>
              </a:prstGeom>
              <a:blipFill>
                <a:blip r:embed="rId2"/>
                <a:stretch>
                  <a:fillRect l="-604" t="-862" b="-1437"/>
                </a:stretch>
              </a:blipFill>
            </p:spPr>
            <p:txBody>
              <a:bodyPr/>
              <a:lstStyle/>
              <a:p>
                <a:r>
                  <a:rPr lang="en-US">
                    <a:noFill/>
                  </a:rPr>
                  <a:t> </a:t>
                </a:r>
              </a:p>
            </p:txBody>
          </p:sp>
        </mc:Fallback>
      </mc:AlternateContent>
      <p:sp>
        <p:nvSpPr>
          <p:cNvPr id="7" name="Rectangle 6"/>
          <p:cNvSpPr/>
          <p:nvPr/>
        </p:nvSpPr>
        <p:spPr>
          <a:xfrm>
            <a:off x="4343400" y="5908890"/>
            <a:ext cx="4800600" cy="369332"/>
          </a:xfrm>
          <a:prstGeom prst="rect">
            <a:avLst/>
          </a:prstGeom>
        </p:spPr>
        <p:txBody>
          <a:bodyPr wrap="square">
            <a:spAutoFit/>
          </a:bodyPr>
          <a:lstStyle/>
          <a:p>
            <a:r>
              <a:rPr lang="en-US" dirty="0"/>
              <a:t>|v0, </a:t>
            </a:r>
            <a:r>
              <a:rPr lang="en-US" dirty="0" err="1"/>
              <a:t>vk</a:t>
            </a:r>
            <a:r>
              <a:rPr lang="en-US" dirty="0"/>
              <a:t>|: </a:t>
            </a:r>
            <a:r>
              <a:rPr lang="en-US" dirty="0" err="1"/>
              <a:t>độ</a:t>
            </a:r>
            <a:r>
              <a:rPr lang="en-US" dirty="0"/>
              <a:t> </a:t>
            </a:r>
            <a:r>
              <a:rPr lang="en-US" dirty="0" err="1"/>
              <a:t>dài</a:t>
            </a:r>
            <a:r>
              <a:rPr lang="en-US" dirty="0"/>
              <a:t> </a:t>
            </a:r>
            <a:r>
              <a:rPr lang="en-US" dirty="0" err="1"/>
              <a:t>cạnh</a:t>
            </a:r>
            <a:r>
              <a:rPr lang="en-US" dirty="0"/>
              <a:t> (v0, </a:t>
            </a:r>
            <a:r>
              <a:rPr lang="en-US" dirty="0" err="1"/>
              <a:t>vk</a:t>
            </a:r>
            <a:r>
              <a:rPr lang="en-US" dirty="0"/>
              <a:t>) (</a:t>
            </a:r>
            <a:r>
              <a:rPr lang="en-US" dirty="0" err="1"/>
              <a:t>trọng</a:t>
            </a:r>
            <a:r>
              <a:rPr lang="en-US" dirty="0"/>
              <a:t> </a:t>
            </a:r>
            <a:r>
              <a:rPr lang="en-US" dirty="0" err="1"/>
              <a:t>số</a:t>
            </a:r>
            <a:r>
              <a:rPr lang="en-US" dirty="0"/>
              <a:t> </a:t>
            </a:r>
            <a:r>
              <a:rPr lang="en-US" dirty="0" err="1"/>
              <a:t>của</a:t>
            </a:r>
            <a:r>
              <a:rPr lang="en-US" dirty="0"/>
              <a:t> </a:t>
            </a:r>
            <a:r>
              <a:rPr lang="en-US" dirty="0" err="1"/>
              <a:t>cạnh</a:t>
            </a:r>
            <a:r>
              <a:rPr lang="en-US" dirty="0"/>
              <a:t>)</a:t>
            </a:r>
          </a:p>
        </p:txBody>
      </p:sp>
    </p:spTree>
    <p:extLst>
      <p:ext uri="{BB962C8B-B14F-4D97-AF65-F5344CB8AC3E}">
        <p14:creationId xmlns:p14="http://schemas.microsoft.com/office/powerpoint/2010/main" val="2773912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44</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Bellman-Ford</a:t>
            </a:r>
          </a:p>
        </p:txBody>
      </p:sp>
      <p:sp>
        <p:nvSpPr>
          <p:cNvPr id="4" name="Content Placeholder 3"/>
          <p:cNvSpPr>
            <a:spLocks noGrp="1"/>
          </p:cNvSpPr>
          <p:nvPr>
            <p:ph sz="quarter" idx="13"/>
          </p:nvPr>
        </p:nvSpPr>
        <p:spPr/>
        <p:txBody>
          <a:bodyPr/>
          <a:lstStyle/>
          <a:p>
            <a:r>
              <a:rPr lang="en-US" dirty="0"/>
              <a:t>T</a:t>
            </a:r>
            <a:r>
              <a:rPr lang="vi-VN" dirty="0"/>
              <a:t>ìm </a:t>
            </a:r>
            <a:r>
              <a:rPr lang="en-US" dirty="0"/>
              <a:t>“</a:t>
            </a:r>
            <a:r>
              <a:rPr lang="vi-VN" dirty="0"/>
              <a:t>các</a:t>
            </a:r>
            <a:r>
              <a:rPr lang="en-US" dirty="0"/>
              <a:t>” </a:t>
            </a:r>
            <a:r>
              <a:rPr lang="vi-VN" dirty="0"/>
              <a:t>đường đi ngắn nhất từ một nút nguồn đến các nút còn lại. </a:t>
            </a:r>
            <a:endParaRPr lang="en-US" dirty="0"/>
          </a:p>
          <a:p>
            <a:r>
              <a:rPr lang="en-US" dirty="0"/>
              <a:t>C</a:t>
            </a:r>
            <a:r>
              <a:rPr lang="vi-VN" dirty="0"/>
              <a:t>ó</a:t>
            </a:r>
            <a:r>
              <a:rPr lang="en-US" dirty="0"/>
              <a:t> </a:t>
            </a:r>
            <a:r>
              <a:rPr lang="vi-VN" dirty="0"/>
              <a:t>độ phức tạp lớn hơn giải thuật Dijkstra, nhưng bù lại, có thể áp dụng cho cả</a:t>
            </a:r>
            <a:r>
              <a:rPr lang="en-US" dirty="0"/>
              <a:t> </a:t>
            </a:r>
            <a:r>
              <a:rPr lang="vi-VN" dirty="0"/>
              <a:t>hai loại đồ thị có trọng số âm và trọng số dương.</a:t>
            </a:r>
            <a:endParaRPr lang="en-US" dirty="0"/>
          </a:p>
          <a:p>
            <a:r>
              <a:rPr lang="en-US" dirty="0" err="1"/>
              <a:t>Tự</a:t>
            </a:r>
            <a:r>
              <a:rPr lang="en-US" dirty="0"/>
              <a:t> </a:t>
            </a:r>
            <a:r>
              <a:rPr lang="en-US" dirty="0" err="1"/>
              <a:t>tìm</a:t>
            </a:r>
            <a:r>
              <a:rPr lang="en-US" dirty="0"/>
              <a:t> </a:t>
            </a:r>
            <a:r>
              <a:rPr lang="en-US" dirty="0" err="1"/>
              <a:t>hiểu</a:t>
            </a:r>
            <a:endParaRPr lang="en-US" dirty="0"/>
          </a:p>
        </p:txBody>
      </p:sp>
    </p:spTree>
    <p:extLst>
      <p:ext uri="{BB962C8B-B14F-4D97-AF65-F5344CB8AC3E}">
        <p14:creationId xmlns:p14="http://schemas.microsoft.com/office/powerpoint/2010/main" val="268742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45</a:t>
            </a:fld>
            <a:endParaRPr lang="en-US"/>
          </a:p>
        </p:txBody>
      </p:sp>
      <p:sp>
        <p:nvSpPr>
          <p:cNvPr id="3" name="Title 2"/>
          <p:cNvSpPr>
            <a:spLocks noGrp="1"/>
          </p:cNvSpPr>
          <p:nvPr>
            <p:ph type="title"/>
          </p:nvPr>
        </p:nvSpPr>
        <p:spPr/>
        <p:txBody>
          <a:bodyPr/>
          <a:lstStyle/>
          <a:p>
            <a:r>
              <a:rPr lang="en-US" dirty="0"/>
              <a:t>4.2. </a:t>
            </a:r>
            <a:r>
              <a:rPr lang="en-US" dirty="0" err="1"/>
              <a:t>Bài</a:t>
            </a:r>
            <a:r>
              <a:rPr lang="en-US" dirty="0"/>
              <a:t> </a:t>
            </a:r>
            <a:r>
              <a:rPr lang="en-US" dirty="0" err="1"/>
              <a:t>toán</a:t>
            </a:r>
            <a:r>
              <a:rPr lang="en-US" dirty="0"/>
              <a:t> </a:t>
            </a:r>
            <a:r>
              <a:rPr lang="en-US" dirty="0" err="1"/>
              <a:t>tìm</a:t>
            </a:r>
            <a:r>
              <a:rPr lang="en-US" dirty="0"/>
              <a:t> </a:t>
            </a:r>
            <a:r>
              <a:rPr lang="en-US" dirty="0" err="1"/>
              <a:t>chu</a:t>
            </a:r>
            <a:r>
              <a:rPr lang="en-US" dirty="0"/>
              <a:t> </a:t>
            </a:r>
            <a:r>
              <a:rPr lang="en-US" dirty="0" err="1"/>
              <a:t>trình</a:t>
            </a:r>
            <a:r>
              <a:rPr lang="en-US" dirty="0"/>
              <a:t> </a:t>
            </a:r>
            <a:r>
              <a:rPr lang="en-US" dirty="0" err="1"/>
              <a:t>của</a:t>
            </a:r>
            <a:r>
              <a:rPr lang="en-US" dirty="0"/>
              <a:t> </a:t>
            </a:r>
            <a:r>
              <a:rPr lang="en-US" dirty="0" err="1"/>
              <a:t>đồ</a:t>
            </a:r>
            <a:r>
              <a:rPr lang="en-US" dirty="0"/>
              <a:t> </a:t>
            </a:r>
            <a:r>
              <a:rPr lang="en-US" dirty="0" err="1"/>
              <a:t>thị</a:t>
            </a:r>
            <a:endParaRPr lang="en-US" dirty="0"/>
          </a:p>
        </p:txBody>
      </p:sp>
      <p:sp>
        <p:nvSpPr>
          <p:cNvPr id="4" name="Content Placeholder 3"/>
          <p:cNvSpPr>
            <a:spLocks noGrp="1"/>
          </p:cNvSpPr>
          <p:nvPr>
            <p:ph sz="quarter" idx="13"/>
          </p:nvPr>
        </p:nvSpPr>
        <p:spPr/>
        <p:txBody>
          <a:bodyPr/>
          <a:lstStyle/>
          <a:p>
            <a:r>
              <a:rPr lang="vi-VN" sz="2400" dirty="0"/>
              <a:t>Chu trình</a:t>
            </a:r>
            <a:r>
              <a:rPr lang="en-US" sz="2400" dirty="0"/>
              <a:t>:</a:t>
            </a:r>
            <a:r>
              <a:rPr lang="vi-VN" sz="2400" dirty="0"/>
              <a:t> đường đi khép kín (tức là đỉnh đầu và đỉnh cuối trùng nhau)</a:t>
            </a:r>
            <a:r>
              <a:rPr lang="en-US" sz="2400" dirty="0"/>
              <a:t> </a:t>
            </a:r>
            <a:r>
              <a:rPr lang="vi-VN" sz="2400" dirty="0"/>
              <a:t>và không có cạnh nào xuất hiện quá một lần</a:t>
            </a:r>
            <a:endParaRPr lang="en-US" sz="2400" dirty="0"/>
          </a:p>
          <a:p>
            <a:r>
              <a:rPr lang="en-US" sz="2400" dirty="0"/>
              <a:t>M</a:t>
            </a:r>
            <a:r>
              <a:rPr lang="vi-VN" sz="2400" dirty="0"/>
              <a:t>ột số bài toán con:</a:t>
            </a:r>
          </a:p>
          <a:p>
            <a:pPr lvl="1"/>
            <a:r>
              <a:rPr lang="vi-VN" sz="2000" dirty="0"/>
              <a:t>a. Kiểm tra sự tồn tại của chu trình trong đồ thị</a:t>
            </a:r>
          </a:p>
          <a:p>
            <a:pPr lvl="1"/>
            <a:r>
              <a:rPr lang="vi-VN" sz="2000" dirty="0"/>
              <a:t>b. Kiểm tra sự tồn tại của chu trình xuất phát từ một đỉnh/cạnh cho trước.</a:t>
            </a:r>
          </a:p>
          <a:p>
            <a:pPr lvl="1"/>
            <a:r>
              <a:rPr lang="vi-VN" sz="2000" dirty="0"/>
              <a:t>c. Tìm tất cả các chu trình trong đồ thị</a:t>
            </a:r>
            <a:endParaRPr lang="en-US" sz="2000" dirty="0"/>
          </a:p>
          <a:p>
            <a:r>
              <a:rPr lang="en-US" sz="2300" dirty="0" err="1"/>
              <a:t>Kiểm</a:t>
            </a:r>
            <a:r>
              <a:rPr lang="en-US" sz="2300" dirty="0"/>
              <a:t> </a:t>
            </a:r>
            <a:r>
              <a:rPr lang="en-US" sz="2300" dirty="0" err="1"/>
              <a:t>tra</a:t>
            </a:r>
            <a:r>
              <a:rPr lang="en-US" sz="2300" dirty="0"/>
              <a:t> </a:t>
            </a:r>
            <a:r>
              <a:rPr lang="en-US" sz="2300" dirty="0" err="1"/>
              <a:t>chu</a:t>
            </a:r>
            <a:r>
              <a:rPr lang="en-US" sz="2300" dirty="0"/>
              <a:t> </a:t>
            </a:r>
            <a:r>
              <a:rPr lang="en-US" sz="2300" dirty="0" err="1"/>
              <a:t>trình</a:t>
            </a:r>
            <a:endParaRPr lang="en-US" sz="2300" dirty="0"/>
          </a:p>
          <a:p>
            <a:pPr lvl="1"/>
            <a:r>
              <a:rPr lang="en-US" sz="2000" dirty="0" err="1"/>
              <a:t>Áp</a:t>
            </a:r>
            <a:r>
              <a:rPr lang="en-US" sz="2000" dirty="0"/>
              <a:t> </a:t>
            </a:r>
            <a:r>
              <a:rPr lang="en-US" sz="2000" dirty="0" err="1"/>
              <a:t>dụng</a:t>
            </a:r>
            <a:r>
              <a:rPr lang="en-US" sz="2000" dirty="0"/>
              <a:t> </a:t>
            </a:r>
            <a:r>
              <a:rPr lang="vi-VN" sz="2000" dirty="0"/>
              <a:t>chiến lược </a:t>
            </a:r>
            <a:r>
              <a:rPr lang="en-US" sz="2000" dirty="0" err="1"/>
              <a:t>duyệt</a:t>
            </a:r>
            <a:r>
              <a:rPr lang="en-US" sz="2000" dirty="0"/>
              <a:t> </a:t>
            </a:r>
            <a:r>
              <a:rPr lang="en-US" sz="2000" dirty="0" err="1"/>
              <a:t>đồ</a:t>
            </a:r>
            <a:r>
              <a:rPr lang="en-US" sz="2000" dirty="0"/>
              <a:t> </a:t>
            </a:r>
            <a:r>
              <a:rPr lang="en-US" sz="2000" dirty="0" err="1"/>
              <a:t>thị</a:t>
            </a:r>
            <a:r>
              <a:rPr lang="en-US" sz="2000" dirty="0"/>
              <a:t> </a:t>
            </a:r>
            <a:r>
              <a:rPr lang="en-US" sz="2000" dirty="0" err="1"/>
              <a:t>theo</a:t>
            </a:r>
            <a:r>
              <a:rPr lang="en-US" sz="2000" dirty="0"/>
              <a:t> </a:t>
            </a:r>
            <a:r>
              <a:rPr lang="en-US" sz="2000" dirty="0" err="1"/>
              <a:t>chiều</a:t>
            </a:r>
            <a:r>
              <a:rPr lang="en-US" sz="2000" dirty="0"/>
              <a:t> </a:t>
            </a:r>
            <a:r>
              <a:rPr lang="en-US" sz="2000" dirty="0" err="1"/>
              <a:t>sâu</a:t>
            </a:r>
            <a:endParaRPr lang="en-US" sz="2000" dirty="0"/>
          </a:p>
        </p:txBody>
      </p:sp>
    </p:spTree>
    <p:extLst>
      <p:ext uri="{BB962C8B-B14F-4D97-AF65-F5344CB8AC3E}">
        <p14:creationId xmlns:p14="http://schemas.microsoft.com/office/powerpoint/2010/main" val="33930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46</a:t>
            </a:fld>
            <a:endParaRPr lang="en-US"/>
          </a:p>
        </p:txBody>
      </p:sp>
      <p:sp>
        <p:nvSpPr>
          <p:cNvPr id="3" name="Title 2"/>
          <p:cNvSpPr>
            <a:spLocks noGrp="1"/>
          </p:cNvSpPr>
          <p:nvPr>
            <p:ph type="title"/>
          </p:nvPr>
        </p:nvSpPr>
        <p:spPr/>
        <p:txBody>
          <a:bodyPr/>
          <a:lstStyle/>
          <a:p>
            <a:r>
              <a:rPr lang="en-US" dirty="0"/>
              <a:t>4.2. </a:t>
            </a:r>
            <a:r>
              <a:rPr lang="en-US" dirty="0" err="1"/>
              <a:t>Bài</a:t>
            </a:r>
            <a:r>
              <a:rPr lang="en-US" dirty="0"/>
              <a:t> </a:t>
            </a:r>
            <a:r>
              <a:rPr lang="en-US" dirty="0" err="1"/>
              <a:t>toán</a:t>
            </a:r>
            <a:r>
              <a:rPr lang="en-US" dirty="0"/>
              <a:t> </a:t>
            </a:r>
            <a:r>
              <a:rPr lang="en-US" dirty="0" err="1"/>
              <a:t>tìm</a:t>
            </a:r>
            <a:r>
              <a:rPr lang="en-US" dirty="0"/>
              <a:t> </a:t>
            </a:r>
            <a:r>
              <a:rPr lang="en-US" dirty="0" err="1"/>
              <a:t>chu</a:t>
            </a:r>
            <a:r>
              <a:rPr lang="en-US" dirty="0"/>
              <a:t> </a:t>
            </a:r>
            <a:r>
              <a:rPr lang="en-US" dirty="0" err="1"/>
              <a:t>trình</a:t>
            </a:r>
            <a:r>
              <a:rPr lang="en-US" dirty="0"/>
              <a:t> </a:t>
            </a:r>
            <a:r>
              <a:rPr lang="en-US" dirty="0" err="1"/>
              <a:t>của</a:t>
            </a:r>
            <a:r>
              <a:rPr lang="en-US" dirty="0"/>
              <a:t> </a:t>
            </a:r>
            <a:r>
              <a:rPr lang="en-US" dirty="0" err="1"/>
              <a:t>đồ</a:t>
            </a:r>
            <a:r>
              <a:rPr lang="en-US" dirty="0"/>
              <a:t> </a:t>
            </a:r>
            <a:r>
              <a:rPr lang="en-US" dirty="0" err="1"/>
              <a:t>thị</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3"/>
              </p:nvPr>
            </p:nvSpPr>
            <p:spPr/>
            <p:txBody>
              <a:bodyPr/>
              <a:lstStyle/>
              <a:p>
                <a:r>
                  <a:rPr lang="vi-VN" sz="2400" dirty="0"/>
                  <a:t>Kiểm tra sự tồn tại của chu trình xuất phát từ một đỉnh cho trước</a:t>
                </a:r>
                <a:endParaRPr lang="en-US" sz="2400" dirty="0"/>
              </a:p>
              <a:p>
                <a:pPr lvl="1"/>
                <a:r>
                  <a:rPr lang="en-US" dirty="0"/>
                  <a:t>Cho </a:t>
                </a:r>
                <a:r>
                  <a:rPr lang="en-US" dirty="0" err="1"/>
                  <a:t>đồ</a:t>
                </a:r>
                <a:r>
                  <a:rPr lang="en-US" dirty="0"/>
                  <a:t> </a:t>
                </a:r>
                <a:r>
                  <a:rPr lang="en-US" dirty="0" err="1"/>
                  <a:t>thị</a:t>
                </a:r>
                <a:r>
                  <a:rPr lang="en-US" dirty="0"/>
                  <a:t> </a:t>
                </a:r>
                <a:r>
                  <a:rPr lang="en-US" i="1" dirty="0"/>
                  <a:t>G(V, E)</a:t>
                </a:r>
                <a:r>
                  <a:rPr lang="en-US" dirty="0"/>
                  <a:t> </a:t>
                </a:r>
                <a:r>
                  <a:rPr lang="en-US" dirty="0" err="1"/>
                  <a:t>với</a:t>
                </a:r>
                <a:r>
                  <a:rPr lang="en-US" dirty="0"/>
                  <a:t> </a:t>
                </a:r>
                <a:r>
                  <a:rPr lang="en-US" i="1" dirty="0"/>
                  <a:t>V = v</a:t>
                </a:r>
                <a:r>
                  <a:rPr lang="en-US" i="1" baseline="-25000" dirty="0"/>
                  <a:t>0</a:t>
                </a:r>
                <a:r>
                  <a:rPr lang="en-US" i="1" dirty="0"/>
                  <a:t>,v</a:t>
                </a:r>
                <a:r>
                  <a:rPr lang="en-US" i="1" baseline="-25000" dirty="0"/>
                  <a:t>1</a:t>
                </a:r>
                <a:r>
                  <a:rPr lang="en-US" i="1" dirty="0"/>
                  <a:t>,...,v</a:t>
                </a:r>
                <a:r>
                  <a:rPr lang="en-US" i="1" baseline="-25000" dirty="0"/>
                  <a:t>M-1</a:t>
                </a:r>
                <a:r>
                  <a:rPr lang="en-US" dirty="0"/>
                  <a:t> , </a:t>
                </a:r>
                <a:r>
                  <a:rPr lang="en-US" i="1" dirty="0"/>
                  <a:t>E = e</a:t>
                </a:r>
                <a:r>
                  <a:rPr lang="en-US" i="1" baseline="-25000" dirty="0"/>
                  <a:t>0</a:t>
                </a:r>
                <a:r>
                  <a:rPr lang="en-US" i="1" dirty="0"/>
                  <a:t>,e</a:t>
                </a:r>
                <a:r>
                  <a:rPr lang="en-US" i="1" baseline="-25000" dirty="0"/>
                  <a:t>1</a:t>
                </a:r>
                <a:r>
                  <a:rPr lang="en-US" i="1" dirty="0"/>
                  <a:t>,...,e</a:t>
                </a:r>
                <a:r>
                  <a:rPr lang="en-US" i="1" baseline="-25000" dirty="0"/>
                  <a:t>N-1</a:t>
                </a:r>
                <a:r>
                  <a:rPr lang="en-US" dirty="0"/>
                  <a:t>, </a:t>
                </a:r>
                <a:r>
                  <a:rPr lang="en-US" dirty="0" err="1"/>
                  <a:t>và</a:t>
                </a:r>
                <a:r>
                  <a:rPr lang="en-US" dirty="0"/>
                  <a:t> </a:t>
                </a:r>
                <a:r>
                  <a:rPr lang="en-US" dirty="0" err="1"/>
                  <a:t>đỉnh</a:t>
                </a:r>
                <a:r>
                  <a:rPr lang="en-US" dirty="0"/>
                  <a:t> ban </a:t>
                </a:r>
                <a:r>
                  <a:rPr lang="en-US" dirty="0" err="1"/>
                  <a:t>đầu</a:t>
                </a:r>
                <a:r>
                  <a:rPr lang="en-US" dirty="0"/>
                  <a:t> 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V</a:t>
                </a:r>
              </a:p>
              <a:p>
                <a:pPr lvl="1"/>
                <a:r>
                  <a:rPr lang="en-US" dirty="0" err="1"/>
                  <a:t>Kiểm</a:t>
                </a:r>
                <a:r>
                  <a:rPr lang="en-US" dirty="0"/>
                  <a:t> </a:t>
                </a:r>
                <a:r>
                  <a:rPr lang="en-US" dirty="0" err="1"/>
                  <a:t>tra</a:t>
                </a:r>
                <a:r>
                  <a:rPr lang="en-US" dirty="0"/>
                  <a:t> </a:t>
                </a:r>
                <a:r>
                  <a:rPr lang="en-US" dirty="0" err="1"/>
                  <a:t>xem</a:t>
                </a:r>
                <a:r>
                  <a:rPr lang="en-US" dirty="0"/>
                  <a:t> </a:t>
                </a:r>
                <a:r>
                  <a:rPr lang="en-US" dirty="0" err="1"/>
                  <a:t>có</a:t>
                </a:r>
                <a:r>
                  <a:rPr lang="en-US" dirty="0"/>
                  <a:t> </a:t>
                </a:r>
                <a:r>
                  <a:rPr lang="en-US" dirty="0" err="1"/>
                  <a:t>tồn</a:t>
                </a:r>
                <a:r>
                  <a:rPr lang="en-US" dirty="0"/>
                  <a:t> </a:t>
                </a:r>
                <a:r>
                  <a:rPr lang="en-US" dirty="0" err="1"/>
                  <a:t>tại</a:t>
                </a:r>
                <a:r>
                  <a:rPr lang="en-US" dirty="0"/>
                  <a:t> </a:t>
                </a:r>
                <a:r>
                  <a:rPr lang="en-US" dirty="0" err="1"/>
                  <a:t>một</a:t>
                </a:r>
                <a:r>
                  <a:rPr lang="en-US" dirty="0"/>
                  <a:t> </a:t>
                </a:r>
                <a:r>
                  <a:rPr lang="en-US" dirty="0" err="1"/>
                  <a:t>chu</a:t>
                </a:r>
                <a:r>
                  <a:rPr lang="en-US" dirty="0"/>
                  <a:t> </a:t>
                </a:r>
                <a:r>
                  <a:rPr lang="en-US" dirty="0" err="1"/>
                  <a:t>trình</a:t>
                </a:r>
                <a:r>
                  <a:rPr lang="en-US" dirty="0"/>
                  <a:t> </a:t>
                </a:r>
                <a:r>
                  <a:rPr lang="en-US" dirty="0" err="1"/>
                  <a:t>mà</a:t>
                </a:r>
                <a:r>
                  <a:rPr lang="en-US" dirty="0"/>
                  <a:t> </a:t>
                </a:r>
                <a:r>
                  <a:rPr lang="en-US" dirty="0" err="1"/>
                  <a:t>chứa</a:t>
                </a:r>
                <a:r>
                  <a:rPr lang="en-US" dirty="0"/>
                  <a:t> s hay </a:t>
                </a:r>
                <a:r>
                  <a:rPr lang="en-US" dirty="0" err="1"/>
                  <a:t>không</a:t>
                </a:r>
                <a:r>
                  <a:rPr lang="en-US" dirty="0"/>
                  <a:t> ?</a:t>
                </a:r>
              </a:p>
              <a:p>
                <a:r>
                  <a:rPr lang="en-US" dirty="0"/>
                  <a:t>Ý </a:t>
                </a:r>
                <a:r>
                  <a:rPr lang="en-US" dirty="0" err="1"/>
                  <a:t>tưởng</a:t>
                </a:r>
                <a:r>
                  <a:rPr lang="en-US" dirty="0"/>
                  <a:t> </a:t>
                </a:r>
                <a:r>
                  <a:rPr lang="en-US" dirty="0" err="1"/>
                  <a:t>giải</a:t>
                </a:r>
                <a:r>
                  <a:rPr lang="en-US" dirty="0"/>
                  <a:t> </a:t>
                </a:r>
                <a:r>
                  <a:rPr lang="en-US" dirty="0" err="1"/>
                  <a:t>thuật</a:t>
                </a:r>
                <a:r>
                  <a:rPr lang="en-US" dirty="0"/>
                  <a:t>:</a:t>
                </a:r>
              </a:p>
              <a:p>
                <a:pPr lvl="1"/>
                <a:r>
                  <a:rPr lang="en-US" dirty="0"/>
                  <a:t>D</a:t>
                </a:r>
                <a:r>
                  <a:rPr lang="vi-VN" dirty="0"/>
                  <a:t>uyệt theo chiều sâu, bắt đầu từ s</a:t>
                </a:r>
                <a:endParaRPr lang="en-US" dirty="0"/>
              </a:p>
              <a:p>
                <a:pPr lvl="1"/>
                <a:r>
                  <a:rPr lang="en-US" dirty="0" err="1"/>
                  <a:t>Giả</a:t>
                </a:r>
                <a:r>
                  <a:rPr lang="en-US" dirty="0"/>
                  <a:t> </a:t>
                </a:r>
                <a:r>
                  <a:rPr lang="en-US" dirty="0" err="1"/>
                  <a:t>sử</a:t>
                </a:r>
                <a:r>
                  <a:rPr lang="en-US" dirty="0"/>
                  <a:t> </a:t>
                </a:r>
                <a:r>
                  <a:rPr lang="en-US" dirty="0" err="1"/>
                  <a:t>quá</a:t>
                </a:r>
                <a:r>
                  <a:rPr lang="en-US" dirty="0"/>
                  <a:t> </a:t>
                </a:r>
                <a:r>
                  <a:rPr lang="en-US" dirty="0" err="1"/>
                  <a:t>trình</a:t>
                </a:r>
                <a:r>
                  <a:rPr lang="en-US" dirty="0"/>
                  <a:t> </a:t>
                </a:r>
                <a:r>
                  <a:rPr lang="en-US" dirty="0" err="1"/>
                  <a:t>kiểm</a:t>
                </a:r>
                <a:r>
                  <a:rPr lang="en-US" dirty="0"/>
                  <a:t> </a:t>
                </a:r>
                <a:r>
                  <a:rPr lang="en-US" dirty="0" err="1"/>
                  <a:t>tra</a:t>
                </a:r>
                <a:r>
                  <a:rPr lang="en-US" dirty="0"/>
                  <a:t> </a:t>
                </a:r>
                <a:r>
                  <a:rPr lang="en-US" dirty="0" err="1"/>
                  <a:t>đang</a:t>
                </a:r>
                <a:r>
                  <a:rPr lang="en-US" dirty="0"/>
                  <a:t> </a:t>
                </a:r>
                <a:r>
                  <a:rPr lang="en-US" dirty="0" err="1"/>
                  <a:t>đến</a:t>
                </a:r>
                <a:r>
                  <a:rPr lang="en-US" dirty="0"/>
                  <a:t> </a:t>
                </a:r>
                <a:r>
                  <a:rPr lang="en-US" dirty="0" err="1"/>
                  <a:t>nút</a:t>
                </a:r>
                <a:r>
                  <a:rPr lang="en-US" dirty="0"/>
                  <a:t> c. </a:t>
                </a:r>
                <a:r>
                  <a:rPr lang="en-US" dirty="0" err="1"/>
                  <a:t>Gọi</a:t>
                </a:r>
                <a:r>
                  <a:rPr lang="en-US" dirty="0"/>
                  <a:t> </a:t>
                </a:r>
                <a:r>
                  <a:rPr lang="en-US" dirty="0" err="1"/>
                  <a:t>tập</a:t>
                </a:r>
                <a:r>
                  <a:rPr lang="en-US" dirty="0"/>
                  <a:t> </a:t>
                </a:r>
                <a:r>
                  <a:rPr lang="en-US" dirty="0" err="1"/>
                  <a:t>các</a:t>
                </a:r>
                <a:r>
                  <a:rPr lang="en-US" dirty="0"/>
                  <a:t> </a:t>
                </a:r>
                <a:r>
                  <a:rPr lang="en-US" dirty="0" err="1"/>
                  <a:t>đỉnh</a:t>
                </a:r>
                <a:r>
                  <a:rPr lang="en-US" dirty="0"/>
                  <a:t> </a:t>
                </a:r>
                <a:r>
                  <a:rPr lang="en-US" dirty="0" err="1"/>
                  <a:t>hiện</a:t>
                </a:r>
                <a:r>
                  <a:rPr lang="en-US" dirty="0"/>
                  <a:t> </a:t>
                </a:r>
                <a:r>
                  <a:rPr lang="en-US" dirty="0" err="1"/>
                  <a:t>tại</a:t>
                </a:r>
                <a:r>
                  <a:rPr lang="en-US" dirty="0"/>
                  <a:t> </a:t>
                </a:r>
                <a:r>
                  <a:rPr lang="en-US" dirty="0" err="1"/>
                  <a:t>kề</a:t>
                </a:r>
                <a:r>
                  <a:rPr lang="en-US" dirty="0"/>
                  <a:t> </a:t>
                </a:r>
                <a:r>
                  <a:rPr lang="en-US" dirty="0" err="1"/>
                  <a:t>với</a:t>
                </a:r>
                <a:r>
                  <a:rPr lang="en-US" dirty="0"/>
                  <a:t> c </a:t>
                </a:r>
                <a:r>
                  <a:rPr lang="en-US" dirty="0" err="1"/>
                  <a:t>là</a:t>
                </a:r>
                <a:r>
                  <a:rPr lang="en-US" dirty="0"/>
                  <a:t> Ac.</a:t>
                </a:r>
              </a:p>
              <a:p>
                <a:pPr lvl="1"/>
                <a:r>
                  <a:rPr lang="en-US" dirty="0" err="1"/>
                  <a:t>Nếu</a:t>
                </a:r>
                <a:r>
                  <a:rPr lang="en-US" dirty="0"/>
                  <a:t> Ac </a:t>
                </a:r>
                <a:r>
                  <a:rPr lang="en-US" dirty="0" err="1"/>
                  <a:t>rỗng</a:t>
                </a:r>
                <a:r>
                  <a:rPr lang="en-US" dirty="0"/>
                  <a:t> </a:t>
                </a:r>
                <a:r>
                  <a:rPr lang="en-US" dirty="0">
                    <a:sym typeface="Wingdings" panose="05000000000000000000" pitchFamily="2" charset="2"/>
                  </a:rPr>
                  <a:t></a:t>
                </a:r>
                <a:r>
                  <a:rPr lang="en-US" dirty="0"/>
                  <a:t> </a:t>
                </a:r>
                <a:r>
                  <a:rPr lang="en-US" dirty="0" err="1"/>
                  <a:t>không</a:t>
                </a:r>
                <a:r>
                  <a:rPr lang="en-US" dirty="0"/>
                  <a:t> </a:t>
                </a:r>
                <a:r>
                  <a:rPr lang="en-US" dirty="0" err="1"/>
                  <a:t>có</a:t>
                </a:r>
                <a:r>
                  <a:rPr lang="en-US" dirty="0"/>
                  <a:t> </a:t>
                </a:r>
                <a:r>
                  <a:rPr lang="en-US" dirty="0" err="1"/>
                  <a:t>chu</a:t>
                </a:r>
                <a:r>
                  <a:rPr lang="en-US" dirty="0"/>
                  <a:t> </a:t>
                </a:r>
                <a:r>
                  <a:rPr lang="en-US" dirty="0" err="1"/>
                  <a:t>trình</a:t>
                </a:r>
                <a:r>
                  <a:rPr lang="en-US" dirty="0"/>
                  <a:t>; </a:t>
                </a:r>
              </a:p>
              <a:p>
                <a:pPr lvl="1"/>
                <a:r>
                  <a:rPr lang="en-US" dirty="0" err="1"/>
                  <a:t>Nếu</a:t>
                </a:r>
                <a:r>
                  <a:rPr lang="en-US" dirty="0"/>
                  <a:t> </a:t>
                </a:r>
                <a:r>
                  <a:rPr lang="en-US" dirty="0" err="1"/>
                  <a:t>tồn</a:t>
                </a:r>
                <a:r>
                  <a:rPr lang="en-US" dirty="0"/>
                  <a:t> </a:t>
                </a:r>
                <a:r>
                  <a:rPr lang="en-US" dirty="0" err="1"/>
                  <a:t>tại</a:t>
                </a:r>
                <a:r>
                  <a:rPr lang="en-US" dirty="0"/>
                  <a:t> vi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Ac : vi = s </a:t>
                </a:r>
                <a:r>
                  <a:rPr lang="en-US" dirty="0">
                    <a:sym typeface="Wingdings" panose="05000000000000000000" pitchFamily="2" charset="2"/>
                  </a:rPr>
                  <a:t></a:t>
                </a:r>
                <a:r>
                  <a:rPr lang="en-US" dirty="0"/>
                  <a:t> </a:t>
                </a:r>
                <a:r>
                  <a:rPr lang="en-US" dirty="0" err="1"/>
                  <a:t>có</a:t>
                </a:r>
                <a:r>
                  <a:rPr lang="en-US" dirty="0"/>
                  <a:t> </a:t>
                </a:r>
                <a:r>
                  <a:rPr lang="en-US" dirty="0" err="1"/>
                  <a:t>tồn</a:t>
                </a:r>
                <a:r>
                  <a:rPr lang="en-US" dirty="0"/>
                  <a:t> </a:t>
                </a:r>
                <a:r>
                  <a:rPr lang="en-US" dirty="0" err="1"/>
                  <a:t>tại</a:t>
                </a:r>
                <a:r>
                  <a:rPr lang="en-US" dirty="0"/>
                  <a:t> </a:t>
                </a:r>
                <a:r>
                  <a:rPr lang="en-US" dirty="0" err="1"/>
                  <a:t>chu</a:t>
                </a:r>
                <a:r>
                  <a:rPr lang="en-US" dirty="0"/>
                  <a:t> </a:t>
                </a:r>
                <a:r>
                  <a:rPr lang="en-US" dirty="0" err="1"/>
                  <a:t>trình</a:t>
                </a:r>
                <a:r>
                  <a:rPr lang="en-US" dirty="0"/>
                  <a:t>;</a:t>
                </a:r>
              </a:p>
              <a:p>
                <a:pPr lvl="1"/>
                <a:r>
                  <a:rPr lang="en-US" dirty="0" err="1"/>
                  <a:t>Nếu</a:t>
                </a:r>
                <a:r>
                  <a:rPr lang="en-US" dirty="0"/>
                  <a:t> Ac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 </m:t>
                    </m:r>
                  </m:oMath>
                </a14:m>
                <a:r>
                  <a:rPr lang="en-US" dirty="0" err="1"/>
                  <a:t>và</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vi</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Ac </a:t>
                </a:r>
                <a:r>
                  <a:rPr lang="en-US" dirty="0" err="1"/>
                  <a:t>đều</a:t>
                </a:r>
                <a:r>
                  <a:rPr lang="en-US" dirty="0"/>
                  <a:t> </a:t>
                </a:r>
                <a:r>
                  <a:rPr lang="en-US" dirty="0" err="1"/>
                  <a:t>có</a:t>
                </a:r>
                <a:r>
                  <a:rPr lang="en-US" dirty="0"/>
                  <a:t> vi ≠ s </a:t>
                </a:r>
                <a:r>
                  <a:rPr lang="en-US" dirty="0">
                    <a:sym typeface="Wingdings" panose="05000000000000000000" pitchFamily="2" charset="2"/>
                  </a:rPr>
                  <a:t> </a:t>
                </a:r>
                <a:r>
                  <a:rPr lang="en-US" dirty="0" err="1">
                    <a:sym typeface="Wingdings" panose="05000000000000000000" pitchFamily="2" charset="2"/>
                  </a:rPr>
                  <a:t>L</a:t>
                </a:r>
                <a:r>
                  <a:rPr lang="en-US" dirty="0" err="1"/>
                  <a:t>ặp</a:t>
                </a:r>
                <a:r>
                  <a:rPr lang="en-US" dirty="0"/>
                  <a:t> </a:t>
                </a:r>
                <a:r>
                  <a:rPr lang="en-US" dirty="0" err="1"/>
                  <a:t>lại</a:t>
                </a:r>
                <a:r>
                  <a:rPr lang="en-US" dirty="0"/>
                  <a:t> </a:t>
                </a:r>
                <a:r>
                  <a:rPr lang="en-US" dirty="0" err="1"/>
                  <a:t>giải</a:t>
                </a:r>
                <a:r>
                  <a:rPr lang="en-US" dirty="0"/>
                  <a:t> </a:t>
                </a:r>
                <a:r>
                  <a:rPr lang="en-US" dirty="0" err="1"/>
                  <a:t>thuật</a:t>
                </a:r>
                <a:r>
                  <a:rPr lang="en-US" dirty="0"/>
                  <a:t> </a:t>
                </a:r>
                <a:r>
                  <a:rPr lang="en-US" dirty="0" err="1"/>
                  <a:t>cho</a:t>
                </a:r>
                <a:r>
                  <a:rPr lang="en-US" dirty="0"/>
                  <a:t> </a:t>
                </a:r>
                <a:r>
                  <a:rPr lang="en-US" dirty="0" err="1"/>
                  <a:t>từng</a:t>
                </a:r>
                <a:r>
                  <a:rPr lang="en-US" dirty="0"/>
                  <a:t> vi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Ac.</a:t>
                </a:r>
                <a:r>
                  <a:rPr lang="en-US" dirty="0">
                    <a:ea typeface="Cambria Math" panose="02040503050406030204" pitchFamily="18" charset="0"/>
                  </a:rPr>
                  <a:t> </a:t>
                </a:r>
                <a:endParaRPr lang="en-US" dirty="0"/>
              </a:p>
              <a:p>
                <a:pPr lvl="1"/>
                <a:endParaRPr lang="en-US" dirty="0"/>
              </a:p>
              <a:p>
                <a:pPr lvl="1"/>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3"/>
              </p:nvPr>
            </p:nvSpPr>
            <p:spPr>
              <a:blipFill>
                <a:blip r:embed="rId3"/>
                <a:stretch>
                  <a:fillRect l="-985" t="-1494"/>
                </a:stretch>
              </a:blipFill>
            </p:spPr>
            <p:txBody>
              <a:bodyPr/>
              <a:lstStyle/>
              <a:p>
                <a:r>
                  <a:rPr lang="en-US">
                    <a:noFill/>
                  </a:rPr>
                  <a:t> </a:t>
                </a:r>
              </a:p>
            </p:txBody>
          </p:sp>
        </mc:Fallback>
      </mc:AlternateContent>
    </p:spTree>
    <p:extLst>
      <p:ext uri="{BB962C8B-B14F-4D97-AF65-F5344CB8AC3E}">
        <p14:creationId xmlns:p14="http://schemas.microsoft.com/office/powerpoint/2010/main" val="256918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47</a:t>
            </a:fld>
            <a:endParaRPr lang="en-US"/>
          </a:p>
        </p:txBody>
      </p:sp>
      <p:sp>
        <p:nvSpPr>
          <p:cNvPr id="3" name="Title 2"/>
          <p:cNvSpPr>
            <a:spLocks noGrp="1"/>
          </p:cNvSpPr>
          <p:nvPr>
            <p:ph type="title"/>
          </p:nvPr>
        </p:nvSpPr>
        <p:spPr/>
        <p:txBody>
          <a:bodyPr/>
          <a:lstStyle/>
          <a:p>
            <a:r>
              <a:rPr lang="en-US" dirty="0"/>
              <a:t>4.3. </a:t>
            </a:r>
            <a:r>
              <a:rPr lang="en-US" dirty="0" err="1"/>
              <a:t>Bài</a:t>
            </a:r>
            <a:r>
              <a:rPr lang="en-US" dirty="0"/>
              <a:t> </a:t>
            </a:r>
            <a:r>
              <a:rPr lang="en-US" dirty="0" err="1"/>
              <a:t>toán</a:t>
            </a:r>
            <a:r>
              <a:rPr lang="en-US" dirty="0"/>
              <a:t> </a:t>
            </a:r>
            <a:r>
              <a:rPr lang="en-US" dirty="0" err="1"/>
              <a:t>tìm</a:t>
            </a:r>
            <a:r>
              <a:rPr lang="en-US" dirty="0"/>
              <a:t> </a:t>
            </a:r>
            <a:r>
              <a:rPr lang="en-US" dirty="0" err="1"/>
              <a:t>cây</a:t>
            </a:r>
            <a:r>
              <a:rPr lang="en-US" dirty="0"/>
              <a:t> </a:t>
            </a:r>
            <a:r>
              <a:rPr lang="en-US" dirty="0" err="1"/>
              <a:t>khung</a:t>
            </a:r>
            <a:r>
              <a:rPr lang="en-US" dirty="0"/>
              <a:t> </a:t>
            </a:r>
            <a:r>
              <a:rPr lang="en-US" dirty="0" err="1"/>
              <a:t>có</a:t>
            </a:r>
            <a:r>
              <a:rPr lang="en-US" dirty="0"/>
              <a:t> </a:t>
            </a:r>
            <a:r>
              <a:rPr lang="en-US" dirty="0" err="1"/>
              <a:t>giá</a:t>
            </a:r>
            <a:r>
              <a:rPr lang="en-US" dirty="0"/>
              <a:t> </a:t>
            </a:r>
            <a:r>
              <a:rPr lang="en-US" dirty="0" err="1"/>
              <a:t>cực</a:t>
            </a:r>
            <a:r>
              <a:rPr lang="en-US" dirty="0"/>
              <a:t> </a:t>
            </a:r>
            <a:r>
              <a:rPr lang="en-US" dirty="0" err="1"/>
              <a:t>tiểu</a:t>
            </a:r>
            <a:endParaRPr lang="en-US" dirty="0"/>
          </a:p>
        </p:txBody>
      </p:sp>
      <p:sp>
        <p:nvSpPr>
          <p:cNvPr id="4" name="Content Placeholder 3"/>
          <p:cNvSpPr>
            <a:spLocks noGrp="1"/>
          </p:cNvSpPr>
          <p:nvPr>
            <p:ph sz="quarter" idx="13"/>
          </p:nvPr>
        </p:nvSpPr>
        <p:spPr/>
        <p:txBody>
          <a:bodyPr/>
          <a:lstStyle/>
          <a:p>
            <a:r>
              <a:rPr lang="en-US" dirty="0" err="1"/>
              <a:t>Cây</a:t>
            </a:r>
            <a:r>
              <a:rPr lang="en-US" dirty="0"/>
              <a:t> </a:t>
            </a:r>
            <a:r>
              <a:rPr lang="en-US" dirty="0" err="1"/>
              <a:t>khung</a:t>
            </a:r>
            <a:r>
              <a:rPr lang="en-US" dirty="0"/>
              <a:t> (spanning tree)</a:t>
            </a:r>
          </a:p>
          <a:p>
            <a:pPr lvl="1"/>
            <a:r>
              <a:rPr lang="en-US" dirty="0" err="1"/>
              <a:t>Cây</a:t>
            </a:r>
            <a:r>
              <a:rPr lang="en-US" dirty="0"/>
              <a:t> </a:t>
            </a:r>
            <a:r>
              <a:rPr lang="en-US" dirty="0" err="1"/>
              <a:t>khung</a:t>
            </a:r>
            <a:r>
              <a:rPr lang="en-US" dirty="0"/>
              <a:t> </a:t>
            </a:r>
            <a:r>
              <a:rPr lang="en-US" dirty="0" err="1"/>
              <a:t>của</a:t>
            </a:r>
            <a:r>
              <a:rPr lang="en-US" dirty="0"/>
              <a:t> </a:t>
            </a:r>
            <a:r>
              <a:rPr lang="en-US" dirty="0" err="1"/>
              <a:t>một</a:t>
            </a:r>
            <a:r>
              <a:rPr lang="en-US" dirty="0"/>
              <a:t> </a:t>
            </a:r>
            <a:r>
              <a:rPr lang="en-US" dirty="0" err="1"/>
              <a:t>đồ</a:t>
            </a:r>
            <a:r>
              <a:rPr lang="en-US" dirty="0"/>
              <a:t> </a:t>
            </a:r>
            <a:r>
              <a:rPr lang="en-US" dirty="0" err="1"/>
              <a:t>thị</a:t>
            </a:r>
            <a:r>
              <a:rPr lang="en-US" dirty="0"/>
              <a:t> </a:t>
            </a:r>
            <a:r>
              <a:rPr lang="en-US" dirty="0" err="1"/>
              <a:t>là</a:t>
            </a:r>
            <a:r>
              <a:rPr lang="en-US" dirty="0"/>
              <a:t> </a:t>
            </a:r>
            <a:r>
              <a:rPr lang="en-US" dirty="0" err="1"/>
              <a:t>phần</a:t>
            </a:r>
            <a:r>
              <a:rPr lang="en-US" dirty="0"/>
              <a:t> </a:t>
            </a:r>
            <a:r>
              <a:rPr lang="en-US" dirty="0" err="1"/>
              <a:t>có</a:t>
            </a:r>
            <a:r>
              <a:rPr lang="en-US" dirty="0"/>
              <a:t> </a:t>
            </a:r>
            <a:r>
              <a:rPr lang="en-US" dirty="0" err="1"/>
              <a:t>cấu</a:t>
            </a:r>
            <a:r>
              <a:rPr lang="en-US" dirty="0"/>
              <a:t> </a:t>
            </a:r>
            <a:r>
              <a:rPr lang="en-US" dirty="0" err="1"/>
              <a:t>trúc</a:t>
            </a:r>
            <a:r>
              <a:rPr lang="en-US" dirty="0"/>
              <a:t> </a:t>
            </a:r>
            <a:r>
              <a:rPr lang="en-US" dirty="0" err="1"/>
              <a:t>cây</a:t>
            </a:r>
            <a:r>
              <a:rPr lang="en-US" dirty="0"/>
              <a:t> (</a:t>
            </a:r>
            <a:r>
              <a:rPr lang="en-US" dirty="0" err="1"/>
              <a:t>không</a:t>
            </a:r>
            <a:r>
              <a:rPr lang="en-US" dirty="0"/>
              <a:t> </a:t>
            </a:r>
            <a:r>
              <a:rPr lang="en-US" dirty="0" err="1"/>
              <a:t>xuất</a:t>
            </a:r>
            <a:r>
              <a:rPr lang="en-US" dirty="0"/>
              <a:t> </a:t>
            </a:r>
            <a:r>
              <a:rPr lang="en-US" dirty="0" err="1"/>
              <a:t>hiện</a:t>
            </a:r>
            <a:r>
              <a:rPr lang="en-US" dirty="0"/>
              <a:t> </a:t>
            </a:r>
            <a:r>
              <a:rPr lang="en-US" dirty="0" err="1"/>
              <a:t>chu</a:t>
            </a:r>
            <a:r>
              <a:rPr lang="en-US" dirty="0"/>
              <a:t> </a:t>
            </a:r>
            <a:r>
              <a:rPr lang="en-US" dirty="0" err="1"/>
              <a:t>trình</a:t>
            </a:r>
            <a:r>
              <a:rPr lang="en-US" dirty="0"/>
              <a:t>) </a:t>
            </a:r>
            <a:r>
              <a:rPr lang="en-US" dirty="0" err="1"/>
              <a:t>mà</a:t>
            </a:r>
            <a:r>
              <a:rPr lang="en-US" dirty="0"/>
              <a:t> </a:t>
            </a:r>
            <a:r>
              <a:rPr lang="en-US" dirty="0" err="1"/>
              <a:t>có</a:t>
            </a:r>
            <a:r>
              <a:rPr lang="en-US" dirty="0"/>
              <a:t> </a:t>
            </a:r>
            <a:r>
              <a:rPr lang="en-US" dirty="0" err="1"/>
              <a:t>số</a:t>
            </a:r>
            <a:r>
              <a:rPr lang="en-US" dirty="0"/>
              <a:t> </a:t>
            </a:r>
            <a:r>
              <a:rPr lang="en-US" dirty="0" err="1"/>
              <a:t>cạnh</a:t>
            </a:r>
            <a:r>
              <a:rPr lang="en-US" dirty="0"/>
              <a:t> </a:t>
            </a:r>
            <a:r>
              <a:rPr lang="en-US" dirty="0" err="1"/>
              <a:t>lớn</a:t>
            </a:r>
            <a:r>
              <a:rPr lang="en-US" dirty="0"/>
              <a:t> </a:t>
            </a:r>
            <a:r>
              <a:rPr lang="en-US" dirty="0" err="1"/>
              <a:t>nhất</a:t>
            </a:r>
            <a:r>
              <a:rPr lang="en-US" dirty="0"/>
              <a:t> </a:t>
            </a:r>
            <a:r>
              <a:rPr lang="en-US" dirty="0" err="1"/>
              <a:t>của</a:t>
            </a:r>
            <a:r>
              <a:rPr lang="en-US" dirty="0"/>
              <a:t> </a:t>
            </a:r>
            <a:r>
              <a:rPr lang="en-US" dirty="0" err="1"/>
              <a:t>đồ</a:t>
            </a:r>
            <a:r>
              <a:rPr lang="en-US" dirty="0"/>
              <a:t> </a:t>
            </a:r>
            <a:r>
              <a:rPr lang="en-US" dirty="0" err="1"/>
              <a:t>thị</a:t>
            </a:r>
            <a:r>
              <a:rPr lang="en-US" dirty="0"/>
              <a:t> </a:t>
            </a:r>
            <a:r>
              <a:rPr lang="en-US" dirty="0" err="1"/>
              <a:t>đó</a:t>
            </a:r>
            <a:r>
              <a:rPr lang="en-US" dirty="0"/>
              <a:t>.</a:t>
            </a:r>
          </a:p>
          <a:p>
            <a:pPr lvl="1"/>
            <a:r>
              <a:rPr lang="en-US" dirty="0" err="1"/>
              <a:t>Với</a:t>
            </a:r>
            <a:r>
              <a:rPr lang="en-US" dirty="0"/>
              <a:t> </a:t>
            </a:r>
            <a:r>
              <a:rPr lang="en-US" dirty="0" err="1"/>
              <a:t>một</a:t>
            </a:r>
            <a:r>
              <a:rPr lang="en-US" dirty="0"/>
              <a:t> </a:t>
            </a:r>
            <a:r>
              <a:rPr lang="en-US" dirty="0" err="1"/>
              <a:t>cây</a:t>
            </a:r>
            <a:r>
              <a:rPr lang="en-US" dirty="0"/>
              <a:t> </a:t>
            </a:r>
            <a:r>
              <a:rPr lang="en-US" dirty="0" err="1"/>
              <a:t>khung</a:t>
            </a:r>
            <a:r>
              <a:rPr lang="en-US" dirty="0"/>
              <a:t>, </a:t>
            </a:r>
            <a:r>
              <a:rPr lang="en-US" dirty="0" err="1"/>
              <a:t>nếu</a:t>
            </a:r>
            <a:r>
              <a:rPr lang="en-US" dirty="0"/>
              <a:t> ta </a:t>
            </a:r>
            <a:r>
              <a:rPr lang="en-US" dirty="0" err="1"/>
              <a:t>thêm</a:t>
            </a:r>
            <a:r>
              <a:rPr lang="en-US" dirty="0"/>
              <a:t> </a:t>
            </a:r>
            <a:r>
              <a:rPr lang="en-US" dirty="0" err="1"/>
              <a:t>vào</a:t>
            </a:r>
            <a:r>
              <a:rPr lang="en-US" dirty="0"/>
              <a:t> </a:t>
            </a:r>
            <a:r>
              <a:rPr lang="en-US" dirty="0" err="1"/>
              <a:t>bất</a:t>
            </a:r>
            <a:r>
              <a:rPr lang="en-US" dirty="0"/>
              <a:t> </a:t>
            </a:r>
            <a:r>
              <a:rPr lang="en-US" dirty="0" err="1"/>
              <a:t>kỳ</a:t>
            </a:r>
            <a:r>
              <a:rPr lang="en-US" dirty="0"/>
              <a:t> </a:t>
            </a:r>
            <a:r>
              <a:rPr lang="en-US" dirty="0" err="1"/>
              <a:t>một</a:t>
            </a:r>
            <a:r>
              <a:rPr lang="en-US" dirty="0"/>
              <a:t> </a:t>
            </a:r>
            <a:r>
              <a:rPr lang="en-US" dirty="0" err="1"/>
              <a:t>cạnh</a:t>
            </a:r>
            <a:r>
              <a:rPr lang="en-US" dirty="0"/>
              <a:t> </a:t>
            </a:r>
            <a:r>
              <a:rPr lang="en-US" dirty="0" err="1"/>
              <a:t>nào</a:t>
            </a:r>
            <a:r>
              <a:rPr lang="en-US" dirty="0"/>
              <a:t> </a:t>
            </a:r>
            <a:r>
              <a:rPr lang="en-US" dirty="0" err="1"/>
              <a:t>khác</a:t>
            </a:r>
            <a:r>
              <a:rPr lang="en-US" dirty="0"/>
              <a:t> </a:t>
            </a:r>
            <a:r>
              <a:rPr lang="en-US" dirty="0" err="1"/>
              <a:t>của</a:t>
            </a:r>
            <a:r>
              <a:rPr lang="en-US" dirty="0"/>
              <a:t> </a:t>
            </a:r>
            <a:r>
              <a:rPr lang="en-US" dirty="0" err="1"/>
              <a:t>đồ</a:t>
            </a:r>
            <a:r>
              <a:rPr lang="en-US" dirty="0"/>
              <a:t> </a:t>
            </a:r>
            <a:r>
              <a:rPr lang="en-US" dirty="0" err="1"/>
              <a:t>thị</a:t>
            </a:r>
            <a:r>
              <a:rPr lang="en-US" dirty="0"/>
              <a:t> </a:t>
            </a:r>
            <a:r>
              <a:rPr lang="en-US" dirty="0" err="1"/>
              <a:t>thì</a:t>
            </a:r>
            <a:r>
              <a:rPr lang="en-US" dirty="0"/>
              <a:t> </a:t>
            </a:r>
            <a:r>
              <a:rPr lang="en-US" dirty="0" err="1"/>
              <a:t>nó</a:t>
            </a:r>
            <a:r>
              <a:rPr lang="en-US" dirty="0"/>
              <a:t> </a:t>
            </a:r>
            <a:r>
              <a:rPr lang="en-US" dirty="0" err="1"/>
              <a:t>không</a:t>
            </a:r>
            <a:r>
              <a:rPr lang="en-US" dirty="0"/>
              <a:t> </a:t>
            </a:r>
            <a:r>
              <a:rPr lang="en-US" dirty="0" err="1"/>
              <a:t>còn</a:t>
            </a:r>
            <a:r>
              <a:rPr lang="en-US" dirty="0"/>
              <a:t> </a:t>
            </a:r>
            <a:r>
              <a:rPr lang="en-US" dirty="0" err="1"/>
              <a:t>là</a:t>
            </a:r>
            <a:r>
              <a:rPr lang="en-US" dirty="0"/>
              <a:t> </a:t>
            </a:r>
            <a:r>
              <a:rPr lang="en-US" dirty="0" err="1"/>
              <a:t>cấu</a:t>
            </a:r>
            <a:r>
              <a:rPr lang="en-US" dirty="0"/>
              <a:t> </a:t>
            </a:r>
            <a:r>
              <a:rPr lang="en-US" dirty="0" err="1"/>
              <a:t>trúc</a:t>
            </a:r>
            <a:r>
              <a:rPr lang="en-US" dirty="0"/>
              <a:t> </a:t>
            </a:r>
            <a:r>
              <a:rPr lang="en-US" dirty="0" err="1"/>
              <a:t>cây</a:t>
            </a:r>
            <a:r>
              <a:rPr lang="en-US" dirty="0"/>
              <a:t> </a:t>
            </a:r>
            <a:r>
              <a:rPr lang="en-US" dirty="0" err="1"/>
              <a:t>nữa</a:t>
            </a:r>
            <a:r>
              <a:rPr lang="en-US" dirty="0"/>
              <a:t> (</a:t>
            </a:r>
            <a:r>
              <a:rPr lang="en-US" dirty="0" err="1"/>
              <a:t>bắt</a:t>
            </a:r>
            <a:r>
              <a:rPr lang="en-US" dirty="0"/>
              <a:t> </a:t>
            </a:r>
            <a:r>
              <a:rPr lang="en-US" dirty="0" err="1"/>
              <a:t>đầu</a:t>
            </a:r>
            <a:r>
              <a:rPr lang="en-US" dirty="0"/>
              <a:t> </a:t>
            </a:r>
            <a:r>
              <a:rPr lang="en-US" dirty="0" err="1"/>
              <a:t>xuất</a:t>
            </a:r>
            <a:r>
              <a:rPr lang="en-US" dirty="0"/>
              <a:t> </a:t>
            </a:r>
            <a:r>
              <a:rPr lang="en-US" dirty="0" err="1"/>
              <a:t>hiện</a:t>
            </a:r>
            <a:r>
              <a:rPr lang="en-US" dirty="0"/>
              <a:t> </a:t>
            </a:r>
            <a:r>
              <a:rPr lang="en-US" dirty="0" err="1"/>
              <a:t>chu</a:t>
            </a:r>
            <a:r>
              <a:rPr lang="en-US" dirty="0"/>
              <a:t> </a:t>
            </a:r>
            <a:r>
              <a:rPr lang="en-US" dirty="0" err="1"/>
              <a:t>trình</a:t>
            </a:r>
            <a:r>
              <a:rPr lang="en-US" dirty="0"/>
              <a:t>)</a:t>
            </a:r>
          </a:p>
        </p:txBody>
      </p:sp>
      <p:pic>
        <p:nvPicPr>
          <p:cNvPr id="6" name="Picture 5"/>
          <p:cNvPicPr>
            <a:picLocks noChangeAspect="1"/>
          </p:cNvPicPr>
          <p:nvPr/>
        </p:nvPicPr>
        <p:blipFill>
          <a:blip r:embed="rId2"/>
          <a:stretch>
            <a:fillRect/>
          </a:stretch>
        </p:blipFill>
        <p:spPr>
          <a:xfrm>
            <a:off x="285781" y="2514367"/>
            <a:ext cx="4292081" cy="2743200"/>
          </a:xfrm>
          <a:prstGeom prst="rect">
            <a:avLst/>
          </a:prstGeom>
        </p:spPr>
      </p:pic>
      <p:pic>
        <p:nvPicPr>
          <p:cNvPr id="5" name="Picture 4"/>
          <p:cNvPicPr>
            <a:picLocks noChangeAspect="1"/>
          </p:cNvPicPr>
          <p:nvPr/>
        </p:nvPicPr>
        <p:blipFill>
          <a:blip r:embed="rId3"/>
          <a:stretch>
            <a:fillRect/>
          </a:stretch>
        </p:blipFill>
        <p:spPr>
          <a:xfrm>
            <a:off x="4371333" y="3576178"/>
            <a:ext cx="4588548" cy="2914528"/>
          </a:xfrm>
          <a:prstGeom prst="rect">
            <a:avLst/>
          </a:prstGeom>
        </p:spPr>
      </p:pic>
      <p:sp>
        <p:nvSpPr>
          <p:cNvPr id="7" name="Rectangle 6"/>
          <p:cNvSpPr/>
          <p:nvPr/>
        </p:nvSpPr>
        <p:spPr>
          <a:xfrm>
            <a:off x="5640230" y="3195123"/>
            <a:ext cx="2078326" cy="369332"/>
          </a:xfrm>
          <a:prstGeom prst="rect">
            <a:avLst/>
          </a:prstGeom>
        </p:spPr>
        <p:txBody>
          <a:bodyPr wrap="none">
            <a:spAutoFit/>
          </a:bodyPr>
          <a:lstStyle/>
          <a:p>
            <a:r>
              <a:rPr lang="en-US" dirty="0" err="1"/>
              <a:t>Cây</a:t>
            </a:r>
            <a:r>
              <a:rPr lang="en-US" dirty="0"/>
              <a:t> </a:t>
            </a:r>
            <a:r>
              <a:rPr lang="en-US" dirty="0" err="1"/>
              <a:t>khung</a:t>
            </a:r>
            <a:r>
              <a:rPr lang="en-US" dirty="0"/>
              <a:t> </a:t>
            </a:r>
            <a:r>
              <a:rPr lang="en-US" dirty="0" err="1"/>
              <a:t>từ</a:t>
            </a:r>
            <a:r>
              <a:rPr lang="en-US" dirty="0"/>
              <a:t> </a:t>
            </a:r>
            <a:r>
              <a:rPr lang="en-US" dirty="0" err="1"/>
              <a:t>đồ</a:t>
            </a:r>
            <a:r>
              <a:rPr lang="en-US" dirty="0"/>
              <a:t> </a:t>
            </a:r>
            <a:r>
              <a:rPr lang="en-US" dirty="0" err="1"/>
              <a:t>thị</a:t>
            </a:r>
            <a:r>
              <a:rPr lang="en-US" dirty="0"/>
              <a:t> </a:t>
            </a:r>
          </a:p>
        </p:txBody>
      </p:sp>
    </p:spTree>
    <p:extLst>
      <p:ext uri="{BB962C8B-B14F-4D97-AF65-F5344CB8AC3E}">
        <p14:creationId xmlns:p14="http://schemas.microsoft.com/office/powerpoint/2010/main" val="186607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48</a:t>
            </a:fld>
            <a:endParaRPr lang="en-US"/>
          </a:p>
        </p:txBody>
      </p:sp>
      <p:sp>
        <p:nvSpPr>
          <p:cNvPr id="3" name="Title 2"/>
          <p:cNvSpPr>
            <a:spLocks noGrp="1"/>
          </p:cNvSpPr>
          <p:nvPr>
            <p:ph type="title"/>
          </p:nvPr>
        </p:nvSpPr>
        <p:spPr/>
        <p:txBody>
          <a:bodyPr/>
          <a:lstStyle/>
          <a:p>
            <a:r>
              <a:rPr lang="en-US" dirty="0"/>
              <a:t>4.3. </a:t>
            </a:r>
            <a:r>
              <a:rPr lang="en-US" dirty="0" err="1"/>
              <a:t>Bài</a:t>
            </a:r>
            <a:r>
              <a:rPr lang="en-US" dirty="0"/>
              <a:t> </a:t>
            </a:r>
            <a:r>
              <a:rPr lang="en-US" dirty="0" err="1"/>
              <a:t>toán</a:t>
            </a:r>
            <a:r>
              <a:rPr lang="en-US" dirty="0"/>
              <a:t> </a:t>
            </a:r>
            <a:r>
              <a:rPr lang="en-US" dirty="0" err="1"/>
              <a:t>tìm</a:t>
            </a:r>
            <a:r>
              <a:rPr lang="en-US" dirty="0"/>
              <a:t> </a:t>
            </a:r>
            <a:r>
              <a:rPr lang="en-US" dirty="0" err="1"/>
              <a:t>cây</a:t>
            </a:r>
            <a:r>
              <a:rPr lang="en-US" dirty="0"/>
              <a:t> </a:t>
            </a:r>
            <a:r>
              <a:rPr lang="en-US" dirty="0" err="1"/>
              <a:t>khung</a:t>
            </a:r>
            <a:r>
              <a:rPr lang="en-US" dirty="0"/>
              <a:t> </a:t>
            </a:r>
            <a:r>
              <a:rPr lang="en-US" dirty="0" err="1"/>
              <a:t>có</a:t>
            </a:r>
            <a:r>
              <a:rPr lang="en-US" dirty="0"/>
              <a:t> </a:t>
            </a:r>
            <a:r>
              <a:rPr lang="en-US" dirty="0" err="1"/>
              <a:t>giá</a:t>
            </a:r>
            <a:r>
              <a:rPr lang="en-US" dirty="0"/>
              <a:t> </a:t>
            </a:r>
            <a:r>
              <a:rPr lang="en-US" dirty="0" err="1"/>
              <a:t>cực</a:t>
            </a:r>
            <a:r>
              <a:rPr lang="en-US" dirty="0"/>
              <a:t> </a:t>
            </a:r>
            <a:r>
              <a:rPr lang="en-US" dirty="0" err="1"/>
              <a:t>tiểu</a:t>
            </a:r>
            <a:endParaRPr lang="en-US" dirty="0"/>
          </a:p>
        </p:txBody>
      </p:sp>
      <p:sp>
        <p:nvSpPr>
          <p:cNvPr id="4" name="Content Placeholder 3"/>
          <p:cNvSpPr>
            <a:spLocks noGrp="1"/>
          </p:cNvSpPr>
          <p:nvPr>
            <p:ph sz="quarter" idx="13"/>
          </p:nvPr>
        </p:nvSpPr>
        <p:spPr/>
        <p:txBody>
          <a:bodyPr/>
          <a:lstStyle/>
          <a:p>
            <a:r>
              <a:rPr lang="en-US" dirty="0"/>
              <a:t>C</a:t>
            </a:r>
            <a:r>
              <a:rPr lang="vi-VN" dirty="0"/>
              <a:t>ây khung của một đồ thị G(V, E)</a:t>
            </a:r>
            <a:r>
              <a:rPr lang="vi-VN" baseline="-25000" dirty="0"/>
              <a:t>(M nút, N cạnh)</a:t>
            </a:r>
            <a:r>
              <a:rPr lang="vi-VN" dirty="0"/>
              <a:t> là một đồ thị con liên thông T </a:t>
            </a:r>
            <a:endParaRPr lang="en-US" dirty="0"/>
          </a:p>
          <a:p>
            <a:pPr lvl="1"/>
            <a:r>
              <a:rPr lang="en-US" dirty="0"/>
              <a:t>B</a:t>
            </a:r>
            <a:r>
              <a:rPr lang="vi-VN" dirty="0"/>
              <a:t>ao gồm M nút và</a:t>
            </a:r>
            <a:r>
              <a:rPr lang="en-US" dirty="0"/>
              <a:t> </a:t>
            </a:r>
            <a:r>
              <a:rPr lang="vi-VN" dirty="0"/>
              <a:t>không có chu trình (tức là nó sẽ có M-1 cạnh).</a:t>
            </a:r>
            <a:endParaRPr lang="en-US" dirty="0"/>
          </a:p>
          <a:p>
            <a:r>
              <a:rPr lang="en-US" dirty="0"/>
              <a:t>K</a:t>
            </a:r>
            <a:r>
              <a:rPr lang="vi-VN" dirty="0"/>
              <a:t>hi N ≥ M-1 thì G có thể</a:t>
            </a:r>
            <a:r>
              <a:rPr lang="en-US" dirty="0"/>
              <a:t> </a:t>
            </a:r>
            <a:r>
              <a:rPr lang="vi-VN" dirty="0"/>
              <a:t>có một hoặc nhiều cây khung. </a:t>
            </a:r>
            <a:endParaRPr lang="en-US" dirty="0"/>
          </a:p>
          <a:p>
            <a:r>
              <a:rPr lang="vi-VN" dirty="0"/>
              <a:t>Bài toán tìm cây khung có giá cực tiểu (cây khung cực tiểu)</a:t>
            </a:r>
            <a:endParaRPr lang="en-US" dirty="0"/>
          </a:p>
          <a:p>
            <a:pPr lvl="1"/>
            <a:r>
              <a:rPr lang="en-US" dirty="0"/>
              <a:t>Á</a:t>
            </a:r>
            <a:r>
              <a:rPr lang="vi-VN" dirty="0"/>
              <a:t>p dụng cho đồ thị G là đồ thị liên thông, vô</a:t>
            </a:r>
            <a:r>
              <a:rPr lang="en-US" dirty="0"/>
              <a:t> </a:t>
            </a:r>
            <a:r>
              <a:rPr lang="vi-VN" dirty="0"/>
              <a:t>hướng và có trọng số</a:t>
            </a:r>
            <a:r>
              <a:rPr lang="en-US" dirty="0"/>
              <a:t> (</a:t>
            </a:r>
            <a:r>
              <a:rPr lang="vi-VN" dirty="0"/>
              <a:t>G sẽ có ít nhất một cây khung</a:t>
            </a:r>
            <a:r>
              <a:rPr lang="en-US" dirty="0"/>
              <a:t>)</a:t>
            </a:r>
            <a:r>
              <a:rPr lang="vi-VN" dirty="0"/>
              <a:t>.</a:t>
            </a:r>
            <a:endParaRPr lang="en-US" dirty="0"/>
          </a:p>
          <a:p>
            <a:pPr lvl="1"/>
            <a:r>
              <a:rPr lang="en-US" dirty="0"/>
              <a:t>T</a:t>
            </a:r>
            <a:r>
              <a:rPr lang="vi-VN" dirty="0"/>
              <a:t>ìm cây khung T</a:t>
            </a:r>
            <a:r>
              <a:rPr lang="vi-VN" baseline="-25000" dirty="0"/>
              <a:t>m</a:t>
            </a:r>
            <a:r>
              <a:rPr lang="vi-VN" dirty="0"/>
              <a:t> có tổng giá trị các trọng số trên các cạnh là nhỏ nhất trong số</a:t>
            </a:r>
            <a:r>
              <a:rPr lang="en-US" dirty="0"/>
              <a:t> </a:t>
            </a:r>
            <a:r>
              <a:rPr lang="vi-VN" dirty="0"/>
              <a:t>tất cả các cây khung của G.</a:t>
            </a:r>
            <a:endParaRPr lang="en-US" dirty="0"/>
          </a:p>
          <a:p>
            <a:r>
              <a:rPr lang="en-US" dirty="0">
                <a:sym typeface="Symbol" panose="05050102010706020507" pitchFamily="18" charset="2"/>
              </a:rPr>
              <a:t> </a:t>
            </a:r>
            <a:r>
              <a:rPr lang="en-US" dirty="0" err="1"/>
              <a:t>Bài</a:t>
            </a:r>
            <a:r>
              <a:rPr lang="en-US" dirty="0"/>
              <a:t> </a:t>
            </a:r>
            <a:r>
              <a:rPr lang="en-US" dirty="0" err="1"/>
              <a:t>toán</a:t>
            </a:r>
            <a:r>
              <a:rPr lang="en-US" dirty="0"/>
              <a:t> </a:t>
            </a:r>
            <a:r>
              <a:rPr lang="en-US" dirty="0" err="1"/>
              <a:t>cần</a:t>
            </a:r>
            <a:r>
              <a:rPr lang="en-US" dirty="0"/>
              <a:t> </a:t>
            </a:r>
            <a:r>
              <a:rPr lang="en-US" dirty="0" err="1"/>
              <a:t>chọn</a:t>
            </a:r>
            <a:r>
              <a:rPr lang="en-US" dirty="0"/>
              <a:t> </a:t>
            </a:r>
            <a:r>
              <a:rPr lang="en-US" dirty="0" err="1"/>
              <a:t>ra</a:t>
            </a:r>
            <a:r>
              <a:rPr lang="en-US" dirty="0"/>
              <a:t> M-1 </a:t>
            </a:r>
            <a:r>
              <a:rPr lang="en-US" dirty="0" err="1"/>
              <a:t>giá</a:t>
            </a:r>
            <a:r>
              <a:rPr lang="en-US" dirty="0"/>
              <a:t> </a:t>
            </a:r>
            <a:r>
              <a:rPr lang="en-US" dirty="0" err="1"/>
              <a:t>trị</a:t>
            </a:r>
            <a:r>
              <a:rPr lang="en-US" dirty="0"/>
              <a:t> (</a:t>
            </a:r>
            <a:r>
              <a:rPr lang="en-US" dirty="0" err="1"/>
              <a:t>ứng</a:t>
            </a:r>
            <a:r>
              <a:rPr lang="en-US" dirty="0"/>
              <a:t> </a:t>
            </a:r>
            <a:r>
              <a:rPr lang="en-US" dirty="0" err="1"/>
              <a:t>với</a:t>
            </a:r>
            <a:r>
              <a:rPr lang="en-US" dirty="0"/>
              <a:t> </a:t>
            </a:r>
            <a:r>
              <a:rPr lang="en-US" dirty="0" err="1"/>
              <a:t>trọng</a:t>
            </a:r>
            <a:r>
              <a:rPr lang="en-US" dirty="0"/>
              <a:t> </a:t>
            </a:r>
            <a:r>
              <a:rPr lang="en-US" dirty="0" err="1"/>
              <a:t>số</a:t>
            </a:r>
            <a:r>
              <a:rPr lang="en-US" dirty="0"/>
              <a:t> </a:t>
            </a:r>
            <a:r>
              <a:rPr lang="en-US" dirty="0" err="1"/>
              <a:t>của</a:t>
            </a:r>
            <a:r>
              <a:rPr lang="en-US" dirty="0"/>
              <a:t> M-1 </a:t>
            </a:r>
            <a:r>
              <a:rPr lang="en-US" dirty="0" err="1"/>
              <a:t>cạnh</a:t>
            </a:r>
            <a:r>
              <a:rPr lang="en-US" dirty="0"/>
              <a:t>) </a:t>
            </a:r>
            <a:r>
              <a:rPr lang="en-US" dirty="0" err="1"/>
              <a:t>từ</a:t>
            </a:r>
            <a:r>
              <a:rPr lang="en-US" dirty="0"/>
              <a:t> N </a:t>
            </a:r>
            <a:r>
              <a:rPr lang="en-US" dirty="0" err="1"/>
              <a:t>giá</a:t>
            </a:r>
            <a:r>
              <a:rPr lang="en-US" dirty="0"/>
              <a:t> </a:t>
            </a:r>
            <a:r>
              <a:rPr lang="en-US" dirty="0" err="1"/>
              <a:t>trị</a:t>
            </a:r>
            <a:r>
              <a:rPr lang="en-US" dirty="0"/>
              <a:t> </a:t>
            </a:r>
            <a:r>
              <a:rPr lang="en-US" dirty="0" err="1"/>
              <a:t>sao</a:t>
            </a:r>
            <a:r>
              <a:rPr lang="en-US" dirty="0"/>
              <a:t> </a:t>
            </a:r>
            <a:r>
              <a:rPr lang="en-US" dirty="0" err="1"/>
              <a:t>cho</a:t>
            </a:r>
            <a:r>
              <a:rPr lang="en-US" dirty="0"/>
              <a:t> </a:t>
            </a:r>
            <a:r>
              <a:rPr lang="en-US" dirty="0" err="1"/>
              <a:t>tổng</a:t>
            </a:r>
            <a:r>
              <a:rPr lang="en-US" dirty="0"/>
              <a:t> </a:t>
            </a:r>
            <a:r>
              <a:rPr lang="en-US" dirty="0" err="1"/>
              <a:t>của</a:t>
            </a:r>
            <a:r>
              <a:rPr lang="en-US" dirty="0"/>
              <a:t> M-1 </a:t>
            </a:r>
            <a:r>
              <a:rPr lang="en-US" dirty="0" err="1"/>
              <a:t>giá</a:t>
            </a:r>
            <a:r>
              <a:rPr lang="en-US" dirty="0"/>
              <a:t> </a:t>
            </a:r>
            <a:r>
              <a:rPr lang="en-US" dirty="0" err="1"/>
              <a:t>trị</a:t>
            </a:r>
            <a:r>
              <a:rPr lang="en-US" dirty="0"/>
              <a:t> </a:t>
            </a:r>
            <a:r>
              <a:rPr lang="en-US" dirty="0" err="1"/>
              <a:t>này</a:t>
            </a:r>
            <a:r>
              <a:rPr lang="en-US" dirty="0"/>
              <a:t> </a:t>
            </a:r>
            <a:r>
              <a:rPr lang="en-US" dirty="0" err="1"/>
              <a:t>là</a:t>
            </a:r>
            <a:r>
              <a:rPr lang="en-US" dirty="0"/>
              <a:t> </a:t>
            </a:r>
            <a:r>
              <a:rPr lang="en-US" dirty="0" err="1"/>
              <a:t>nhỏ</a:t>
            </a:r>
            <a:r>
              <a:rPr lang="en-US" dirty="0"/>
              <a:t> </a:t>
            </a:r>
            <a:r>
              <a:rPr lang="en-US" dirty="0" err="1"/>
              <a:t>nhất</a:t>
            </a:r>
            <a:r>
              <a:rPr lang="en-US" dirty="0"/>
              <a:t> </a:t>
            </a:r>
            <a:r>
              <a:rPr lang="en-US" dirty="0" err="1"/>
              <a:t>và</a:t>
            </a:r>
            <a:r>
              <a:rPr lang="en-US" dirty="0"/>
              <a:t> </a:t>
            </a:r>
            <a:r>
              <a:rPr lang="en-US" dirty="0" err="1"/>
              <a:t>không</a:t>
            </a:r>
            <a:r>
              <a:rPr lang="en-US" dirty="0"/>
              <a:t> </a:t>
            </a:r>
            <a:r>
              <a:rPr lang="en-US" dirty="0" err="1"/>
              <a:t>tạo</a:t>
            </a:r>
            <a:r>
              <a:rPr lang="en-US" dirty="0"/>
              <a:t> </a:t>
            </a:r>
            <a:r>
              <a:rPr lang="en-US" dirty="0" err="1"/>
              <a:t>ra</a:t>
            </a:r>
            <a:r>
              <a:rPr lang="en-US" dirty="0"/>
              <a:t> </a:t>
            </a:r>
            <a:r>
              <a:rPr lang="en-US" dirty="0" err="1"/>
              <a:t>chu</a:t>
            </a:r>
            <a:r>
              <a:rPr lang="en-US" dirty="0"/>
              <a:t> </a:t>
            </a:r>
            <a:r>
              <a:rPr lang="en-US" dirty="0" err="1"/>
              <a:t>trình</a:t>
            </a:r>
            <a:endParaRPr lang="en-US" dirty="0"/>
          </a:p>
          <a:p>
            <a:pPr lvl="1"/>
            <a:r>
              <a:rPr lang="en-US" sz="2000" dirty="0" err="1"/>
              <a:t>Giải</a:t>
            </a:r>
            <a:r>
              <a:rPr lang="en-US" sz="2000" dirty="0"/>
              <a:t> </a:t>
            </a:r>
            <a:r>
              <a:rPr lang="en-US" sz="2000" dirty="0" err="1"/>
              <a:t>thuật</a:t>
            </a:r>
            <a:r>
              <a:rPr lang="en-US" sz="2000" dirty="0"/>
              <a:t> </a:t>
            </a:r>
            <a:r>
              <a:rPr lang="en-US" sz="2000" dirty="0" err="1"/>
              <a:t>Kruskal</a:t>
            </a:r>
            <a:endParaRPr lang="en-US" sz="2000" dirty="0"/>
          </a:p>
          <a:p>
            <a:r>
              <a:rPr lang="en-US" dirty="0">
                <a:sym typeface="Symbol" panose="05050102010706020507" pitchFamily="18" charset="2"/>
              </a:rPr>
              <a:t> </a:t>
            </a:r>
            <a:r>
              <a:rPr lang="en-US" dirty="0" err="1"/>
              <a:t>Bài</a:t>
            </a:r>
            <a:r>
              <a:rPr lang="en-US" dirty="0"/>
              <a:t> </a:t>
            </a:r>
            <a:r>
              <a:rPr lang="en-US" dirty="0" err="1"/>
              <a:t>toán</a:t>
            </a:r>
            <a:r>
              <a:rPr lang="en-US" dirty="0"/>
              <a:t> </a:t>
            </a:r>
            <a:r>
              <a:rPr lang="en-US" dirty="0" err="1"/>
              <a:t>loại</a:t>
            </a:r>
            <a:r>
              <a:rPr lang="en-US" dirty="0"/>
              <a:t> </a:t>
            </a:r>
            <a:r>
              <a:rPr lang="en-US" dirty="0" err="1"/>
              <a:t>bỏ</a:t>
            </a:r>
            <a:r>
              <a:rPr lang="en-US" dirty="0"/>
              <a:t> </a:t>
            </a:r>
            <a:r>
              <a:rPr lang="en-US" dirty="0" err="1"/>
              <a:t>đúng</a:t>
            </a:r>
            <a:r>
              <a:rPr lang="en-US" dirty="0"/>
              <a:t> N-M+1 </a:t>
            </a:r>
            <a:r>
              <a:rPr lang="en-US" dirty="0" err="1"/>
              <a:t>cạnh</a:t>
            </a:r>
            <a:r>
              <a:rPr lang="en-US" dirty="0"/>
              <a:t>, </a:t>
            </a:r>
            <a:r>
              <a:rPr lang="en-US" dirty="0" err="1"/>
              <a:t>sao</a:t>
            </a:r>
            <a:r>
              <a:rPr lang="en-US" dirty="0"/>
              <a:t> </a:t>
            </a:r>
            <a:r>
              <a:rPr lang="en-US" dirty="0" err="1"/>
              <a:t>cho</a:t>
            </a:r>
            <a:r>
              <a:rPr lang="en-US" dirty="0"/>
              <a:t> </a:t>
            </a:r>
            <a:r>
              <a:rPr lang="en-US" dirty="0" err="1"/>
              <a:t>tổng</a:t>
            </a:r>
            <a:r>
              <a:rPr lang="en-US" dirty="0"/>
              <a:t> </a:t>
            </a:r>
            <a:r>
              <a:rPr lang="en-US" dirty="0" err="1"/>
              <a:t>các</a:t>
            </a:r>
            <a:r>
              <a:rPr lang="en-US" dirty="0"/>
              <a:t> </a:t>
            </a:r>
            <a:r>
              <a:rPr lang="en-US" dirty="0" err="1"/>
              <a:t>cạnh</a:t>
            </a:r>
            <a:r>
              <a:rPr lang="en-US" dirty="0"/>
              <a:t> </a:t>
            </a:r>
            <a:r>
              <a:rPr lang="en-US" dirty="0" err="1"/>
              <a:t>bị</a:t>
            </a:r>
            <a:r>
              <a:rPr lang="en-US" dirty="0"/>
              <a:t> </a:t>
            </a:r>
            <a:r>
              <a:rPr lang="en-US" dirty="0" err="1"/>
              <a:t>loại</a:t>
            </a:r>
            <a:r>
              <a:rPr lang="en-US" dirty="0"/>
              <a:t> </a:t>
            </a:r>
            <a:r>
              <a:rPr lang="en-US" dirty="0" err="1"/>
              <a:t>bỏ</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lớn</a:t>
            </a:r>
            <a:r>
              <a:rPr lang="en-US" dirty="0"/>
              <a:t> </a:t>
            </a:r>
            <a:r>
              <a:rPr lang="en-US" dirty="0" err="1"/>
              <a:t>nhất</a:t>
            </a:r>
            <a:r>
              <a:rPr lang="en-US" dirty="0"/>
              <a:t> </a:t>
            </a:r>
            <a:r>
              <a:rPr lang="en-US" dirty="0" err="1"/>
              <a:t>và</a:t>
            </a:r>
            <a:r>
              <a:rPr lang="en-US" dirty="0"/>
              <a:t> </a:t>
            </a:r>
            <a:r>
              <a:rPr lang="en-US" dirty="0" err="1"/>
              <a:t>các</a:t>
            </a:r>
            <a:r>
              <a:rPr lang="en-US" dirty="0"/>
              <a:t> </a:t>
            </a:r>
            <a:r>
              <a:rPr lang="en-US" dirty="0" err="1"/>
              <a:t>cạnh</a:t>
            </a:r>
            <a:r>
              <a:rPr lang="en-US" dirty="0"/>
              <a:t> </a:t>
            </a:r>
            <a:r>
              <a:rPr lang="en-US" dirty="0" err="1"/>
              <a:t>còn</a:t>
            </a:r>
            <a:r>
              <a:rPr lang="en-US" dirty="0"/>
              <a:t> </a:t>
            </a:r>
            <a:r>
              <a:rPr lang="en-US" dirty="0" err="1"/>
              <a:t>lại</a:t>
            </a:r>
            <a:r>
              <a:rPr lang="en-US" dirty="0"/>
              <a:t> </a:t>
            </a:r>
            <a:r>
              <a:rPr lang="en-US" dirty="0" err="1"/>
              <a:t>không</a:t>
            </a:r>
            <a:r>
              <a:rPr lang="en-US" dirty="0"/>
              <a:t> </a:t>
            </a:r>
            <a:r>
              <a:rPr lang="en-US" dirty="0" err="1"/>
              <a:t>tạo</a:t>
            </a:r>
            <a:r>
              <a:rPr lang="en-US" dirty="0"/>
              <a:t> </a:t>
            </a:r>
            <a:r>
              <a:rPr lang="en-US" dirty="0" err="1"/>
              <a:t>ra</a:t>
            </a:r>
            <a:r>
              <a:rPr lang="en-US" dirty="0"/>
              <a:t> </a:t>
            </a:r>
            <a:r>
              <a:rPr lang="en-US" dirty="0" err="1"/>
              <a:t>chu</a:t>
            </a:r>
            <a:r>
              <a:rPr lang="en-US" dirty="0"/>
              <a:t> </a:t>
            </a:r>
            <a:r>
              <a:rPr lang="en-US" dirty="0" err="1"/>
              <a:t>trình</a:t>
            </a:r>
            <a:r>
              <a:rPr lang="en-US" dirty="0"/>
              <a:t>. </a:t>
            </a:r>
          </a:p>
          <a:p>
            <a:pPr lvl="1"/>
            <a:r>
              <a:rPr lang="en-US" sz="2000" dirty="0" err="1"/>
              <a:t>Giải</a:t>
            </a:r>
            <a:r>
              <a:rPr lang="en-US" sz="2000" dirty="0"/>
              <a:t> </a:t>
            </a:r>
            <a:r>
              <a:rPr lang="en-US" sz="2000" dirty="0" err="1"/>
              <a:t>thuật</a:t>
            </a:r>
            <a:r>
              <a:rPr lang="en-US" sz="2000" dirty="0"/>
              <a:t> </a:t>
            </a:r>
            <a:r>
              <a:rPr lang="en-US" sz="2000" dirty="0" err="1"/>
              <a:t>Dijkstra</a:t>
            </a:r>
            <a:endParaRPr lang="en-US" sz="2000" dirty="0"/>
          </a:p>
        </p:txBody>
      </p:sp>
    </p:spTree>
    <p:extLst>
      <p:ext uri="{BB962C8B-B14F-4D97-AF65-F5344CB8AC3E}">
        <p14:creationId xmlns:p14="http://schemas.microsoft.com/office/powerpoint/2010/main" val="71904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49</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Kruskal</a:t>
            </a:r>
            <a:endParaRPr lang="en-US" dirty="0"/>
          </a:p>
        </p:txBody>
      </p:sp>
      <p:sp>
        <p:nvSpPr>
          <p:cNvPr id="4" name="Content Placeholder 3"/>
          <p:cNvSpPr>
            <a:spLocks noGrp="1"/>
          </p:cNvSpPr>
          <p:nvPr>
            <p:ph sz="quarter" idx="13"/>
          </p:nvPr>
        </p:nvSpPr>
        <p:spPr/>
        <p:txBody>
          <a:bodyPr/>
          <a:lstStyle/>
          <a:p>
            <a:r>
              <a:rPr lang="en-US" dirty="0"/>
              <a:t>X</a:t>
            </a:r>
            <a:r>
              <a:rPr lang="vi-VN" dirty="0"/>
              <a:t>uất phát từ cây khung rỗng (chỉ có các đỉnh mà chưa có cạnh) bổ sung dần các</a:t>
            </a:r>
            <a:r>
              <a:rPr lang="en-US" dirty="0"/>
              <a:t> </a:t>
            </a:r>
            <a:r>
              <a:rPr lang="vi-VN" dirty="0"/>
              <a:t>cạnh có giá trị nhỏ nhất có thể vào (không tạo thành chu trình), cho đến khi tạo</a:t>
            </a:r>
            <a:r>
              <a:rPr lang="en-US" dirty="0"/>
              <a:t> </a:t>
            </a:r>
            <a:r>
              <a:rPr lang="vi-VN" dirty="0"/>
              <a:t>thành cây khung đầy đủ (đúng M-1 cạnh).</a:t>
            </a:r>
            <a:endParaRPr lang="en-US" dirty="0"/>
          </a:p>
          <a:p>
            <a:r>
              <a:rPr lang="en-US" dirty="0"/>
              <a:t>C</a:t>
            </a:r>
            <a:r>
              <a:rPr lang="vi-VN" dirty="0"/>
              <a:t>ác cạnh của đồ thị sẽ được sắp xếp theo giá trị trọng số theo thứ</a:t>
            </a:r>
            <a:r>
              <a:rPr lang="en-US" dirty="0"/>
              <a:t> </a:t>
            </a:r>
            <a:r>
              <a:rPr lang="vi-VN" dirty="0"/>
              <a:t>tự tăng dần</a:t>
            </a:r>
            <a:endParaRPr lang="en-US" dirty="0"/>
          </a:p>
          <a:p>
            <a:r>
              <a:rPr lang="en-US" dirty="0"/>
              <a:t>Q</a:t>
            </a:r>
            <a:r>
              <a:rPr lang="vi-VN" dirty="0"/>
              <a:t>uá trình chọn các cạnh sẽ lần lượt từ nhỏ đến lớn</a:t>
            </a:r>
            <a:endParaRPr lang="en-US" dirty="0"/>
          </a:p>
          <a:p>
            <a:r>
              <a:rPr lang="en-US" dirty="0"/>
              <a:t>C</a:t>
            </a:r>
            <a:r>
              <a:rPr lang="vi-VN" dirty="0"/>
              <a:t>ạnh được</a:t>
            </a:r>
            <a:r>
              <a:rPr lang="en-US" dirty="0"/>
              <a:t> c</a:t>
            </a:r>
            <a:r>
              <a:rPr lang="vi-VN" dirty="0"/>
              <a:t>họn thỏa mãn điều kiện không tạo ra chu trình với các cạnh đã được</a:t>
            </a:r>
            <a:r>
              <a:rPr lang="en-US" dirty="0"/>
              <a:t> </a:t>
            </a:r>
            <a:r>
              <a:rPr lang="vi-VN" dirty="0"/>
              <a:t>chọn trước đó</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1524000" y="3733800"/>
                <a:ext cx="7019783" cy="2308324"/>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T =</a:t>
                </a:r>
                <a14:m>
                  <m:oMath xmlns:m="http://schemas.openxmlformats.org/officeDocument/2006/math">
                    <m:r>
                      <a:rPr lang="en-US" b="0" i="0" smtClean="0">
                        <a:latin typeface="Cambria Math" panose="02040503050406030204" pitchFamily="18" charset="0"/>
                        <a:ea typeface="Cambria Math" panose="02040503050406030204" pitchFamily="18" charset="0"/>
                        <a:cs typeface="Courier New" panose="02070309020205020404" pitchFamily="49" charset="0"/>
                      </a:rPr>
                      <m:t> </m:t>
                    </m:r>
                    <m:r>
                      <a:rPr lang="en-US" i="1" smtClean="0">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S = </a:t>
                </a:r>
                <a:r>
                  <a:rPr lang="en-US" dirty="0" err="1">
                    <a:latin typeface="Courier New" panose="02070309020205020404" pitchFamily="49" charset="0"/>
                    <a:cs typeface="Courier New" panose="02070309020205020404" pitchFamily="49" charset="0"/>
                  </a:rPr>
                  <a:t>tập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các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cạnh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được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sắp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xếp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của</a:t>
                </a:r>
                <a:r>
                  <a:rPr lang="en-US" dirty="0">
                    <a:latin typeface="Courier New" panose="02070309020205020404" pitchFamily="49" charset="0"/>
                    <a:cs typeface="Courier New" panose="02070309020205020404" pitchFamily="49" charset="0"/>
                  </a:rPr>
                  <a:t> E;</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giả</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sử</a:t>
                </a:r>
                <a:r>
                  <a:rPr lang="en-US" dirty="0">
                    <a:latin typeface="Courier New" panose="02070309020205020404" pitchFamily="49" charset="0"/>
                    <a:cs typeface="Courier New" panose="02070309020205020404" pitchFamily="49" charset="0"/>
                  </a:rPr>
                  <a:t>: S = (s0, s1, ..., sN-1) </a:t>
                </a:r>
              </a:p>
              <a:p>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a:t>
                </a:r>
              </a:p>
              <a:p>
                <a:r>
                  <a:rPr lang="en-US" dirty="0">
                    <a:latin typeface="Courier New" panose="02070309020205020404" pitchFamily="49" charset="0"/>
                    <a:cs typeface="Courier New" panose="02070309020205020404" pitchFamily="49" charset="0"/>
                  </a:rPr>
                  <a:t>while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N) </a:t>
                </a:r>
                <a:r>
                  <a:rPr lang="en-US" dirty="0" err="1">
                    <a:latin typeface="Courier New" panose="02070309020205020404" pitchFamily="49" charset="0"/>
                    <a:cs typeface="Courier New" panose="02070309020205020404" pitchFamily="49" charset="0"/>
                  </a:rPr>
                  <a:t>và</a:t>
                </a:r>
                <a:r>
                  <a:rPr lang="en-US" dirty="0">
                    <a:latin typeface="Courier New" panose="02070309020205020404" pitchFamily="49" charset="0"/>
                    <a:cs typeface="Courier New" panose="02070309020205020404" pitchFamily="49" charset="0"/>
                  </a:rPr>
                  <a:t> (|T| &lt; M-1)){</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Nếu</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không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tạo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chu</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trình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thì</a:t>
                </a:r>
                <a:r>
                  <a:rPr lang="en-US" dirty="0">
                    <a:latin typeface="Courier New" panose="02070309020205020404" pitchFamily="49" charset="0"/>
                    <a:cs typeface="Courier New" panose="02070309020205020404" pitchFamily="49" charset="0"/>
                  </a:rPr>
                  <a:t>: T = T </a:t>
                </a:r>
                <a14:m>
                  <m:oMath xmlns:m="http://schemas.openxmlformats.org/officeDocument/2006/math">
                    <m:r>
                      <a:rPr lang="en-US" i="1">
                        <a:latin typeface="Cambria Math" panose="02040503050406030204" pitchFamily="18" charset="0"/>
                      </a:rPr>
                      <m:t>∪</m:t>
                    </m:r>
                  </m:oMath>
                </a14:m>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si</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p:txBody>
          </p:sp>
        </mc:Choice>
        <mc:Fallback xmlns="">
          <p:sp>
            <p:nvSpPr>
              <p:cNvPr id="5" name="Rectangle 4"/>
              <p:cNvSpPr>
                <a:spLocks noRot="1" noChangeAspect="1" noMove="1" noResize="1" noEditPoints="1" noAdjustHandles="1" noChangeArrowheads="1" noChangeShapeType="1" noTextEdit="1"/>
              </p:cNvSpPr>
              <p:nvPr/>
            </p:nvSpPr>
            <p:spPr>
              <a:xfrm>
                <a:off x="1524000" y="3733800"/>
                <a:ext cx="7019783" cy="2308324"/>
              </a:xfrm>
              <a:prstGeom prst="rect">
                <a:avLst/>
              </a:prstGeom>
              <a:blipFill>
                <a:blip r:embed="rId2"/>
                <a:stretch>
                  <a:fillRect l="-694" t="-1323" b="-3175"/>
                </a:stretch>
              </a:blipFill>
            </p:spPr>
            <p:txBody>
              <a:bodyPr/>
              <a:lstStyle/>
              <a:p>
                <a:r>
                  <a:rPr lang="en-US">
                    <a:noFill/>
                  </a:rPr>
                  <a:t> </a:t>
                </a:r>
              </a:p>
            </p:txBody>
          </p:sp>
        </mc:Fallback>
      </mc:AlternateContent>
    </p:spTree>
    <p:extLst>
      <p:ext uri="{BB962C8B-B14F-4D97-AF65-F5344CB8AC3E}">
        <p14:creationId xmlns:p14="http://schemas.microsoft.com/office/powerpoint/2010/main" val="162564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50</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Kruskal</a:t>
            </a:r>
            <a:endParaRPr lang="en-US" dirty="0"/>
          </a:p>
        </p:txBody>
      </p:sp>
      <p:sp>
        <p:nvSpPr>
          <p:cNvPr id="4" name="Content Placeholder 3"/>
          <p:cNvSpPr>
            <a:spLocks noGrp="1"/>
          </p:cNvSpPr>
          <p:nvPr>
            <p:ph sz="quarter" idx="13"/>
          </p:nvPr>
        </p:nvSpPr>
        <p:spPr/>
        <p:txBody>
          <a:bodyPr/>
          <a:lstStyle/>
          <a:p>
            <a:r>
              <a:rPr lang="en-US" dirty="0"/>
              <a:t>Minh </a:t>
            </a:r>
            <a:r>
              <a:rPr lang="en-US" dirty="0" err="1"/>
              <a:t>họa</a:t>
            </a:r>
            <a:endParaRPr lang="en-US" dirty="0"/>
          </a:p>
        </p:txBody>
      </p:sp>
      <p:pic>
        <p:nvPicPr>
          <p:cNvPr id="5" name="Picture 4"/>
          <p:cNvPicPr>
            <a:picLocks noChangeAspect="1"/>
          </p:cNvPicPr>
          <p:nvPr/>
        </p:nvPicPr>
        <p:blipFill>
          <a:blip r:embed="rId2"/>
          <a:stretch>
            <a:fillRect/>
          </a:stretch>
        </p:blipFill>
        <p:spPr>
          <a:xfrm>
            <a:off x="211631" y="1295400"/>
            <a:ext cx="8697292" cy="4250810"/>
          </a:xfrm>
          <a:prstGeom prst="rect">
            <a:avLst/>
          </a:prstGeom>
        </p:spPr>
      </p:pic>
      <p:pic>
        <p:nvPicPr>
          <p:cNvPr id="6" name="Picture 5"/>
          <p:cNvPicPr>
            <a:picLocks noChangeAspect="1"/>
          </p:cNvPicPr>
          <p:nvPr/>
        </p:nvPicPr>
        <p:blipFill rotWithShape="1">
          <a:blip r:embed="rId2"/>
          <a:srcRect r="67135" b="49807"/>
          <a:stretch/>
        </p:blipFill>
        <p:spPr>
          <a:xfrm>
            <a:off x="189606" y="1295400"/>
            <a:ext cx="2858394" cy="2133600"/>
          </a:xfrm>
          <a:prstGeom prst="rect">
            <a:avLst/>
          </a:prstGeom>
        </p:spPr>
      </p:pic>
    </p:spTree>
    <p:extLst>
      <p:ext uri="{BB962C8B-B14F-4D97-AF65-F5344CB8AC3E}">
        <p14:creationId xmlns:p14="http://schemas.microsoft.com/office/powerpoint/2010/main" val="198563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51</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Dijkstra</a:t>
            </a:r>
            <a:endParaRPr lang="en-US" dirty="0"/>
          </a:p>
        </p:txBody>
      </p:sp>
      <p:sp>
        <p:nvSpPr>
          <p:cNvPr id="4" name="Content Placeholder 3"/>
          <p:cNvSpPr>
            <a:spLocks noGrp="1"/>
          </p:cNvSpPr>
          <p:nvPr>
            <p:ph sz="quarter" idx="13"/>
          </p:nvPr>
        </p:nvSpPr>
        <p:spPr/>
        <p:txBody>
          <a:bodyPr/>
          <a:lstStyle/>
          <a:p>
            <a:r>
              <a:rPr lang="en-US" dirty="0" err="1"/>
              <a:t>Bắt</a:t>
            </a:r>
            <a:r>
              <a:rPr lang="en-US" dirty="0"/>
              <a:t> </a:t>
            </a:r>
            <a:r>
              <a:rPr lang="en-US" dirty="0" err="1"/>
              <a:t>đầu</a:t>
            </a:r>
            <a:r>
              <a:rPr lang="en-US" dirty="0"/>
              <a:t> </a:t>
            </a:r>
            <a:r>
              <a:rPr lang="en-US" dirty="0" err="1"/>
              <a:t>từ</a:t>
            </a:r>
            <a:r>
              <a:rPr lang="en-US" dirty="0"/>
              <a:t> </a:t>
            </a:r>
            <a:r>
              <a:rPr lang="en-US" dirty="0" err="1"/>
              <a:t>đồ</a:t>
            </a:r>
            <a:r>
              <a:rPr lang="en-US" dirty="0"/>
              <a:t> </a:t>
            </a:r>
            <a:r>
              <a:rPr lang="en-US" dirty="0" err="1"/>
              <a:t>thị</a:t>
            </a:r>
            <a:r>
              <a:rPr lang="en-US" dirty="0"/>
              <a:t> ban </a:t>
            </a:r>
            <a:r>
              <a:rPr lang="en-US" dirty="0" err="1"/>
              <a:t>đầu</a:t>
            </a:r>
            <a:r>
              <a:rPr lang="en-US" dirty="0"/>
              <a:t>, </a:t>
            </a:r>
            <a:r>
              <a:rPr lang="en-US" dirty="0" err="1"/>
              <a:t>tiến</a:t>
            </a:r>
            <a:r>
              <a:rPr lang="en-US" dirty="0"/>
              <a:t> </a:t>
            </a:r>
            <a:r>
              <a:rPr lang="en-US" dirty="0" err="1"/>
              <a:t>hành</a:t>
            </a:r>
            <a:r>
              <a:rPr lang="en-US" dirty="0"/>
              <a:t> </a:t>
            </a:r>
            <a:r>
              <a:rPr lang="en-US" dirty="0" err="1"/>
              <a:t>loại</a:t>
            </a:r>
            <a:r>
              <a:rPr lang="en-US" dirty="0"/>
              <a:t> </a:t>
            </a:r>
            <a:r>
              <a:rPr lang="en-US" dirty="0" err="1"/>
              <a:t>bỏ</a:t>
            </a:r>
            <a:r>
              <a:rPr lang="en-US" dirty="0"/>
              <a:t> </a:t>
            </a:r>
            <a:r>
              <a:rPr lang="en-US" dirty="0" err="1"/>
              <a:t>dần</a:t>
            </a:r>
            <a:r>
              <a:rPr lang="en-US" dirty="0"/>
              <a:t> </a:t>
            </a:r>
            <a:r>
              <a:rPr lang="en-US" dirty="0" err="1"/>
              <a:t>các</a:t>
            </a:r>
            <a:r>
              <a:rPr lang="en-US" dirty="0"/>
              <a:t> </a:t>
            </a:r>
            <a:r>
              <a:rPr lang="en-US" dirty="0" err="1"/>
              <a:t>cạnh</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lớn</a:t>
            </a:r>
            <a:r>
              <a:rPr lang="en-US" dirty="0"/>
              <a:t> </a:t>
            </a:r>
            <a:r>
              <a:rPr lang="en-US" dirty="0" err="1"/>
              <a:t>nhất</a:t>
            </a:r>
            <a:r>
              <a:rPr lang="en-US" dirty="0"/>
              <a:t> </a:t>
            </a:r>
            <a:r>
              <a:rPr lang="en-US" dirty="0" err="1"/>
              <a:t>có</a:t>
            </a:r>
            <a:r>
              <a:rPr lang="en-US" dirty="0"/>
              <a:t> </a:t>
            </a:r>
            <a:r>
              <a:rPr lang="en-US" dirty="0" err="1"/>
              <a:t>thể</a:t>
            </a:r>
            <a:r>
              <a:rPr lang="en-US" dirty="0"/>
              <a:t> (</a:t>
            </a:r>
            <a:r>
              <a:rPr lang="en-US" dirty="0" err="1"/>
              <a:t>những</a:t>
            </a:r>
            <a:r>
              <a:rPr lang="en-US" dirty="0"/>
              <a:t> </a:t>
            </a:r>
            <a:r>
              <a:rPr lang="en-US" dirty="0" err="1"/>
              <a:t>cạnh</a:t>
            </a:r>
            <a:r>
              <a:rPr lang="en-US" dirty="0"/>
              <a:t> </a:t>
            </a:r>
            <a:r>
              <a:rPr lang="en-US" dirty="0" err="1"/>
              <a:t>mà</a:t>
            </a:r>
            <a:r>
              <a:rPr lang="en-US" dirty="0"/>
              <a:t> </a:t>
            </a:r>
            <a:r>
              <a:rPr lang="en-US" dirty="0" err="1"/>
              <a:t>gây</a:t>
            </a:r>
            <a:r>
              <a:rPr lang="en-US" dirty="0"/>
              <a:t> </a:t>
            </a:r>
            <a:r>
              <a:rPr lang="en-US" dirty="0" err="1"/>
              <a:t>ra</a:t>
            </a:r>
            <a:r>
              <a:rPr lang="en-US" dirty="0"/>
              <a:t> </a:t>
            </a:r>
            <a:r>
              <a:rPr lang="en-US" dirty="0" err="1"/>
              <a:t>chu</a:t>
            </a:r>
            <a:r>
              <a:rPr lang="en-US" dirty="0"/>
              <a:t> </a:t>
            </a:r>
            <a:r>
              <a:rPr lang="en-US" dirty="0" err="1"/>
              <a:t>trình</a:t>
            </a:r>
            <a:r>
              <a:rPr lang="en-US" dirty="0"/>
              <a:t>), </a:t>
            </a:r>
            <a:r>
              <a:rPr lang="en-US" dirty="0" err="1"/>
              <a:t>cho</a:t>
            </a:r>
            <a:r>
              <a:rPr lang="en-US" dirty="0"/>
              <a:t> </a:t>
            </a:r>
            <a:r>
              <a:rPr lang="en-US" dirty="0" err="1"/>
              <a:t>đến</a:t>
            </a:r>
            <a:r>
              <a:rPr lang="en-US" dirty="0"/>
              <a:t> </a:t>
            </a:r>
            <a:r>
              <a:rPr lang="en-US" dirty="0" err="1"/>
              <a:t>khi</a:t>
            </a:r>
            <a:r>
              <a:rPr lang="en-US" dirty="0"/>
              <a:t> </a:t>
            </a:r>
            <a:r>
              <a:rPr lang="en-US" dirty="0" err="1"/>
              <a:t>còn</a:t>
            </a:r>
            <a:r>
              <a:rPr lang="en-US" dirty="0"/>
              <a:t> </a:t>
            </a:r>
            <a:r>
              <a:rPr lang="en-US" dirty="0" err="1"/>
              <a:t>lại</a:t>
            </a:r>
            <a:r>
              <a:rPr lang="en-US" dirty="0"/>
              <a:t> </a:t>
            </a:r>
            <a:r>
              <a:rPr lang="en-US" dirty="0" err="1"/>
              <a:t>cây</a:t>
            </a:r>
            <a:r>
              <a:rPr lang="en-US" dirty="0"/>
              <a:t> </a:t>
            </a:r>
            <a:r>
              <a:rPr lang="en-US" dirty="0" err="1"/>
              <a:t>khung</a:t>
            </a:r>
            <a:r>
              <a:rPr lang="en-US" dirty="0"/>
              <a:t> </a:t>
            </a:r>
            <a:r>
              <a:rPr lang="en-US" dirty="0" err="1"/>
              <a:t>thì</a:t>
            </a:r>
            <a:r>
              <a:rPr lang="en-US" dirty="0"/>
              <a:t> </a:t>
            </a:r>
            <a:r>
              <a:rPr lang="en-US" dirty="0" err="1"/>
              <a:t>đó</a:t>
            </a:r>
            <a:r>
              <a:rPr lang="en-US" dirty="0"/>
              <a:t> </a:t>
            </a:r>
            <a:r>
              <a:rPr lang="en-US" dirty="0" err="1"/>
              <a:t>sẽ</a:t>
            </a:r>
            <a:r>
              <a:rPr lang="en-US" dirty="0"/>
              <a:t> </a:t>
            </a:r>
            <a:r>
              <a:rPr lang="en-US" dirty="0" err="1"/>
              <a:t>là</a:t>
            </a:r>
            <a:r>
              <a:rPr lang="en-US" dirty="0"/>
              <a:t> </a:t>
            </a:r>
            <a:r>
              <a:rPr lang="en-US" dirty="0" err="1"/>
              <a:t>cây</a:t>
            </a:r>
            <a:r>
              <a:rPr lang="en-US" dirty="0"/>
              <a:t> </a:t>
            </a:r>
            <a:r>
              <a:rPr lang="en-US" dirty="0" err="1"/>
              <a:t>khung</a:t>
            </a:r>
            <a:r>
              <a:rPr lang="en-US" dirty="0"/>
              <a:t> </a:t>
            </a:r>
            <a:r>
              <a:rPr lang="en-US" dirty="0" err="1"/>
              <a:t>cực</a:t>
            </a:r>
            <a:r>
              <a:rPr lang="en-US" dirty="0"/>
              <a:t> </a:t>
            </a:r>
            <a:r>
              <a:rPr lang="en-US" dirty="0" err="1"/>
              <a:t>tiểu</a:t>
            </a:r>
            <a:r>
              <a:rPr lang="en-US" dirty="0"/>
              <a:t>.</a:t>
            </a:r>
          </a:p>
          <a:p>
            <a:pPr lvl="1"/>
            <a:r>
              <a:rPr lang="vi-VN" dirty="0"/>
              <a:t>các cạnh của đồ thị cần được</a:t>
            </a:r>
            <a:r>
              <a:rPr lang="en-US" dirty="0"/>
              <a:t> </a:t>
            </a:r>
            <a:r>
              <a:rPr lang="vi-VN" dirty="0"/>
              <a:t>sắp xếp, giải thuật sắp xếp tốt nhất </a:t>
            </a:r>
            <a:r>
              <a:rPr lang="en-US" dirty="0" err="1"/>
              <a:t>có</a:t>
            </a:r>
            <a:r>
              <a:rPr lang="en-US" dirty="0"/>
              <a:t> </a:t>
            </a:r>
            <a:r>
              <a:rPr lang="vi-VN" dirty="0"/>
              <a:t>độ phức tạp</a:t>
            </a:r>
            <a:r>
              <a:rPr lang="en-US" dirty="0"/>
              <a:t> </a:t>
            </a:r>
            <a:r>
              <a:rPr lang="vi-VN" dirty="0"/>
              <a:t>N.Log(N)</a:t>
            </a:r>
            <a:endParaRPr lang="en-US" dirty="0"/>
          </a:p>
          <a:p>
            <a:r>
              <a:rPr lang="en-US" dirty="0" err="1"/>
              <a:t>Cải</a:t>
            </a:r>
            <a:r>
              <a:rPr lang="en-US" dirty="0"/>
              <a:t> </a:t>
            </a:r>
            <a:r>
              <a:rPr lang="en-US" dirty="0" err="1"/>
              <a:t>tiến</a:t>
            </a:r>
            <a:r>
              <a:rPr lang="en-US" dirty="0"/>
              <a:t> </a:t>
            </a:r>
            <a:r>
              <a:rPr lang="en-US" dirty="0" err="1"/>
              <a:t>để</a:t>
            </a:r>
            <a:r>
              <a:rPr lang="en-US" dirty="0"/>
              <a:t> </a:t>
            </a:r>
            <a:r>
              <a:rPr lang="en-US" dirty="0" err="1"/>
              <a:t>tránh</a:t>
            </a:r>
            <a:r>
              <a:rPr lang="en-US" dirty="0"/>
              <a:t> </a:t>
            </a:r>
            <a:r>
              <a:rPr lang="en-US" dirty="0" err="1"/>
              <a:t>thao</a:t>
            </a:r>
            <a:r>
              <a:rPr lang="en-US" dirty="0"/>
              <a:t> </a:t>
            </a:r>
            <a:r>
              <a:rPr lang="en-US" dirty="0" err="1"/>
              <a:t>tác</a:t>
            </a:r>
            <a:r>
              <a:rPr lang="en-US" dirty="0"/>
              <a:t> </a:t>
            </a:r>
            <a:r>
              <a:rPr lang="en-US" dirty="0" err="1"/>
              <a:t>sắp</a:t>
            </a:r>
            <a:r>
              <a:rPr lang="en-US" dirty="0"/>
              <a:t> </a:t>
            </a:r>
            <a:r>
              <a:rPr lang="en-US" dirty="0" err="1"/>
              <a:t>xếp</a:t>
            </a:r>
            <a:r>
              <a:rPr lang="en-US" dirty="0"/>
              <a:t>  </a:t>
            </a:r>
          </a:p>
          <a:p>
            <a:pPr lvl="1"/>
            <a:r>
              <a:rPr lang="en-US" dirty="0"/>
              <a:t>X</a:t>
            </a:r>
            <a:r>
              <a:rPr lang="vi-VN" dirty="0"/>
              <a:t>uất</a:t>
            </a:r>
            <a:r>
              <a:rPr lang="en-US" dirty="0"/>
              <a:t> </a:t>
            </a:r>
            <a:r>
              <a:rPr lang="vi-VN" dirty="0"/>
              <a:t>phát từ cây khung rỗng ban đầu, tiến hành bổ sung lần lượt từng cạnh của đồ thị</a:t>
            </a:r>
            <a:r>
              <a:rPr lang="en-US" dirty="0"/>
              <a:t> </a:t>
            </a:r>
            <a:r>
              <a:rPr lang="vi-VN" dirty="0"/>
              <a:t>theo thứ tự bất kì (không cần sắp xếp), cho đến khi đủ thành cây khung.</a:t>
            </a:r>
            <a:endParaRPr lang="en-US" dirty="0"/>
          </a:p>
          <a:p>
            <a:pPr lvl="1"/>
            <a:r>
              <a:rPr lang="en-US" dirty="0" err="1"/>
              <a:t>Mỗi</a:t>
            </a:r>
            <a:r>
              <a:rPr lang="en-US" dirty="0"/>
              <a:t> </a:t>
            </a:r>
            <a:r>
              <a:rPr lang="en-US" dirty="0" err="1"/>
              <a:t>lần</a:t>
            </a:r>
            <a:r>
              <a:rPr lang="en-US" dirty="0"/>
              <a:t> </a:t>
            </a:r>
            <a:r>
              <a:rPr lang="en-US" dirty="0" err="1"/>
              <a:t>bổ</a:t>
            </a:r>
            <a:r>
              <a:rPr lang="en-US" dirty="0"/>
              <a:t> sung </a:t>
            </a:r>
            <a:r>
              <a:rPr lang="en-US" dirty="0" err="1"/>
              <a:t>một</a:t>
            </a:r>
            <a:r>
              <a:rPr lang="en-US" dirty="0"/>
              <a:t> </a:t>
            </a:r>
            <a:r>
              <a:rPr lang="en-US" dirty="0" err="1"/>
              <a:t>cạnh</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có</a:t>
            </a:r>
            <a:r>
              <a:rPr lang="en-US" dirty="0"/>
              <a:t> </a:t>
            </a:r>
            <a:r>
              <a:rPr lang="en-US" dirty="0" err="1"/>
              <a:t>tạo</a:t>
            </a:r>
            <a:r>
              <a:rPr lang="en-US" dirty="0"/>
              <a:t> </a:t>
            </a:r>
            <a:r>
              <a:rPr lang="en-US" dirty="0" err="1"/>
              <a:t>thành</a:t>
            </a:r>
            <a:r>
              <a:rPr lang="en-US" dirty="0"/>
              <a:t> </a:t>
            </a:r>
            <a:r>
              <a:rPr lang="en-US" dirty="0" err="1"/>
              <a:t>chu</a:t>
            </a:r>
            <a:r>
              <a:rPr lang="en-US" dirty="0"/>
              <a:t> </a:t>
            </a:r>
            <a:r>
              <a:rPr lang="en-US" dirty="0" err="1"/>
              <a:t>trình</a:t>
            </a:r>
            <a:r>
              <a:rPr lang="en-US" dirty="0"/>
              <a:t> </a:t>
            </a:r>
            <a:r>
              <a:rPr lang="en-US" dirty="0" err="1"/>
              <a:t>không</a:t>
            </a:r>
            <a:r>
              <a:rPr lang="en-US" dirty="0"/>
              <a:t>.</a:t>
            </a:r>
          </a:p>
          <a:p>
            <a:pPr lvl="1"/>
            <a:r>
              <a:rPr lang="vi-VN" dirty="0"/>
              <a:t>Nếu chu</a:t>
            </a:r>
            <a:r>
              <a:rPr lang="en-US" dirty="0"/>
              <a:t> </a:t>
            </a:r>
            <a:r>
              <a:rPr lang="vi-VN" dirty="0"/>
              <a:t>trình được tạo thành</a:t>
            </a:r>
            <a:r>
              <a:rPr lang="en-US" dirty="0"/>
              <a:t>, </a:t>
            </a:r>
            <a:r>
              <a:rPr lang="vi-VN" dirty="0"/>
              <a:t>tìm cạnh có trọng số lớn nhất trong chu trình và loại bỏ nó ra. </a:t>
            </a:r>
            <a:endParaRPr lang="en-US" dirty="0"/>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2667000" y="4050061"/>
                <a:ext cx="6705600" cy="2308324"/>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T = </a:t>
                </a:r>
                <a14:m>
                  <m:oMath xmlns:m="http://schemas.openxmlformats.org/officeDocument/2006/math">
                    <m:r>
                      <a:rPr lang="en-US" i="1">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T = T </a:t>
                </a:r>
                <a14:m>
                  <m:oMath xmlns:m="http://schemas.openxmlformats.org/officeDocument/2006/math">
                    <m:r>
                      <a:rPr lang="en-US" i="1">
                        <a:latin typeface="Cambria Math" panose="02040503050406030204" pitchFamily="18" charset="0"/>
                      </a:rPr>
                      <m:t>∪</m:t>
                    </m:r>
                  </m:oMath>
                </a14:m>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ei</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if (</a:t>
                </a:r>
                <a:r>
                  <a:rPr lang="en-US" dirty="0" err="1">
                    <a:latin typeface="Courier New" panose="02070309020205020404" pitchFamily="49" charset="0"/>
                    <a:cs typeface="Courier New" panose="02070309020205020404" pitchFamily="49" charset="0"/>
                  </a:rPr>
                  <a:t>ei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tạo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chu</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trình</a:t>
                </a:r>
                <a:r>
                  <a:rPr lang="en-US" dirty="0">
                    <a:latin typeface="Courier New" panose="02070309020205020404" pitchFamily="49" charset="0"/>
                    <a:cs typeface="Courier New" panose="02070309020205020404" pitchFamily="49" charset="0"/>
                  </a:rPr>
                  <a:t> ci){</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Tìm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em</a:t>
                </a:r>
                <a:r>
                  <a:rPr lang="en-US" dirty="0">
                    <a:latin typeface="Courier New" panose="02070309020205020404" pitchFamily="49" charset="0"/>
                    <a:cs typeface="Courier New" panose="02070309020205020404" pitchFamily="49"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 ci : </a:t>
                </a:r>
                <a:r>
                  <a:rPr lang="en-US" dirty="0" err="1">
                    <a:latin typeface="Courier New" panose="02070309020205020404" pitchFamily="49" charset="0"/>
                    <a:cs typeface="Courier New" panose="02070309020205020404" pitchFamily="49" charset="0"/>
                  </a:rPr>
                  <a:t>em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là</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cạnh</a:t>
                </a:r>
                <a:r>
                  <a:rPr lang="en-US" dirty="0">
                    <a:latin typeface="Courier New" panose="02070309020205020404" pitchFamily="49" charset="0"/>
                    <a:cs typeface="Courier New" panose="02070309020205020404" pitchFamily="49" charset="0"/>
                  </a:rPr>
                  <a:t> max </a:t>
                </a:r>
                <a:r>
                  <a:rPr lang="en-US" dirty="0" err="1">
                    <a:latin typeface="Courier New" panose="02070309020205020404" pitchFamily="49" charset="0"/>
                    <a:cs typeface="Courier New" panose="02070309020205020404" pitchFamily="49" charset="0"/>
                  </a:rPr>
                  <a:t>trong</a:t>
                </a:r>
                <a:r>
                  <a:rPr lang="en-US" dirty="0">
                    <a:latin typeface="Courier New" panose="02070309020205020404" pitchFamily="49" charset="0"/>
                    <a:cs typeface="Courier New" panose="02070309020205020404" pitchFamily="49" charset="0"/>
                  </a:rPr>
                  <a:t> ci;</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Loại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bỏ</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em</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a:t>
                </a:r>
              </a:p>
            </p:txBody>
          </p:sp>
        </mc:Choice>
        <mc:Fallback xmlns="">
          <p:sp>
            <p:nvSpPr>
              <p:cNvPr id="5" name="Rectangle 4"/>
              <p:cNvSpPr>
                <a:spLocks noRot="1" noChangeAspect="1" noMove="1" noResize="1" noEditPoints="1" noAdjustHandles="1" noChangeArrowheads="1" noChangeShapeType="1" noTextEdit="1"/>
              </p:cNvSpPr>
              <p:nvPr/>
            </p:nvSpPr>
            <p:spPr>
              <a:xfrm>
                <a:off x="2667000" y="4050061"/>
                <a:ext cx="6705600" cy="2308324"/>
              </a:xfrm>
              <a:prstGeom prst="rect">
                <a:avLst/>
              </a:prstGeom>
              <a:blipFill>
                <a:blip r:embed="rId2"/>
                <a:stretch>
                  <a:fillRect l="-818" t="-1055" b="-3166"/>
                </a:stretch>
              </a:blipFill>
            </p:spPr>
            <p:txBody>
              <a:bodyPr/>
              <a:lstStyle/>
              <a:p>
                <a:r>
                  <a:rPr lang="en-US">
                    <a:noFill/>
                  </a:rPr>
                  <a:t> </a:t>
                </a:r>
              </a:p>
            </p:txBody>
          </p:sp>
        </mc:Fallback>
      </mc:AlternateContent>
    </p:spTree>
    <p:extLst>
      <p:ext uri="{BB962C8B-B14F-4D97-AF65-F5344CB8AC3E}">
        <p14:creationId xmlns:p14="http://schemas.microsoft.com/office/powerpoint/2010/main" val="324154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52</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Dijkstra</a:t>
            </a:r>
            <a:endParaRPr lang="en-US" dirty="0"/>
          </a:p>
        </p:txBody>
      </p:sp>
      <p:sp>
        <p:nvSpPr>
          <p:cNvPr id="4" name="Content Placeholder 3"/>
          <p:cNvSpPr>
            <a:spLocks noGrp="1"/>
          </p:cNvSpPr>
          <p:nvPr>
            <p:ph sz="quarter" idx="13"/>
          </p:nvPr>
        </p:nvSpPr>
        <p:spPr/>
        <p:txBody>
          <a:bodyPr/>
          <a:lstStyle/>
          <a:p>
            <a:r>
              <a:rPr lang="en-US" dirty="0"/>
              <a:t>Minh </a:t>
            </a:r>
            <a:r>
              <a:rPr lang="en-US" dirty="0" err="1"/>
              <a:t>họa</a:t>
            </a:r>
            <a:endParaRPr lang="en-US" dirty="0"/>
          </a:p>
        </p:txBody>
      </p:sp>
      <p:pic>
        <p:nvPicPr>
          <p:cNvPr id="5" name="Picture 4"/>
          <p:cNvPicPr>
            <a:picLocks noChangeAspect="1"/>
          </p:cNvPicPr>
          <p:nvPr/>
        </p:nvPicPr>
        <p:blipFill>
          <a:blip r:embed="rId3"/>
          <a:stretch>
            <a:fillRect/>
          </a:stretch>
        </p:blipFill>
        <p:spPr>
          <a:xfrm>
            <a:off x="414337" y="1600200"/>
            <a:ext cx="8315325" cy="3365083"/>
          </a:xfrm>
          <a:prstGeom prst="rect">
            <a:avLst/>
          </a:prstGeom>
        </p:spPr>
      </p:pic>
      <p:pic>
        <p:nvPicPr>
          <p:cNvPr id="6" name="Picture 5"/>
          <p:cNvPicPr>
            <a:picLocks noChangeAspect="1"/>
          </p:cNvPicPr>
          <p:nvPr/>
        </p:nvPicPr>
        <p:blipFill rotWithShape="1">
          <a:blip r:embed="rId3"/>
          <a:srcRect r="66757" b="48242"/>
          <a:stretch/>
        </p:blipFill>
        <p:spPr>
          <a:xfrm>
            <a:off x="436109" y="1611087"/>
            <a:ext cx="2764292" cy="1741714"/>
          </a:xfrm>
          <a:prstGeom prst="rect">
            <a:avLst/>
          </a:prstGeom>
        </p:spPr>
      </p:pic>
    </p:spTree>
    <p:extLst>
      <p:ext uri="{BB962C8B-B14F-4D97-AF65-F5344CB8AC3E}">
        <p14:creationId xmlns:p14="http://schemas.microsoft.com/office/powerpoint/2010/main" val="113355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53</a:t>
            </a:fld>
            <a:endParaRPr lang="en-US"/>
          </a:p>
        </p:txBody>
      </p:sp>
      <p:sp>
        <p:nvSpPr>
          <p:cNvPr id="3" name="Title 2"/>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Dijkstra</a:t>
            </a:r>
            <a:endParaRPr lang="en-US" dirty="0"/>
          </a:p>
        </p:txBody>
      </p:sp>
      <p:sp>
        <p:nvSpPr>
          <p:cNvPr id="4" name="Content Placeholder 3"/>
          <p:cNvSpPr>
            <a:spLocks noGrp="1"/>
          </p:cNvSpPr>
          <p:nvPr>
            <p:ph sz="quarter" idx="13"/>
          </p:nvPr>
        </p:nvSpPr>
        <p:spPr/>
        <p:txBody>
          <a:bodyPr/>
          <a:lstStyle/>
          <a:p>
            <a:r>
              <a:rPr lang="en-US" dirty="0"/>
              <a:t>Minh </a:t>
            </a:r>
            <a:r>
              <a:rPr lang="en-US" dirty="0" err="1"/>
              <a:t>họa</a:t>
            </a:r>
            <a:endParaRPr lang="en-US" dirty="0"/>
          </a:p>
        </p:txBody>
      </p:sp>
      <p:pic>
        <p:nvPicPr>
          <p:cNvPr id="6" name="Picture 5"/>
          <p:cNvPicPr>
            <a:picLocks noChangeAspect="1"/>
          </p:cNvPicPr>
          <p:nvPr/>
        </p:nvPicPr>
        <p:blipFill>
          <a:blip r:embed="rId3"/>
          <a:stretch>
            <a:fillRect/>
          </a:stretch>
        </p:blipFill>
        <p:spPr>
          <a:xfrm>
            <a:off x="413784" y="1524000"/>
            <a:ext cx="8316431" cy="3583200"/>
          </a:xfrm>
          <a:prstGeom prst="rect">
            <a:avLst/>
          </a:prstGeom>
        </p:spPr>
      </p:pic>
    </p:spTree>
    <p:extLst>
      <p:ext uri="{BB962C8B-B14F-4D97-AF65-F5344CB8AC3E}">
        <p14:creationId xmlns:p14="http://schemas.microsoft.com/office/powerpoint/2010/main" val="561394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54</a:t>
            </a:fld>
            <a:endParaRPr lang="en-US"/>
          </a:p>
        </p:txBody>
      </p:sp>
      <p:sp>
        <p:nvSpPr>
          <p:cNvPr id="3" name="Title 2"/>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4" name="Content Placeholder 3"/>
          <p:cNvSpPr>
            <a:spLocks noGrp="1"/>
          </p:cNvSpPr>
          <p:nvPr>
            <p:ph sz="quarter" idx="13"/>
          </p:nvPr>
        </p:nvSpPr>
        <p:spPr/>
        <p:txBody>
          <a:bodyPr/>
          <a:lstStyle/>
          <a:p>
            <a:r>
              <a:rPr lang="en-US" kern="0" dirty="0" err="1"/>
              <a:t>Sử</a:t>
            </a:r>
            <a:r>
              <a:rPr lang="en-US" kern="0" dirty="0"/>
              <a:t> </a:t>
            </a:r>
            <a:r>
              <a:rPr lang="en-US" kern="0" dirty="0" err="1"/>
              <a:t>dụng</a:t>
            </a:r>
            <a:r>
              <a:rPr lang="en-US" kern="0" dirty="0"/>
              <a:t> </a:t>
            </a:r>
            <a:r>
              <a:rPr lang="en-US" kern="0" dirty="0" err="1"/>
              <a:t>giải</a:t>
            </a:r>
            <a:r>
              <a:rPr lang="en-US" kern="0" dirty="0"/>
              <a:t> </a:t>
            </a:r>
            <a:r>
              <a:rPr lang="en-US" kern="0" dirty="0" err="1"/>
              <a:t>thuật</a:t>
            </a:r>
            <a:r>
              <a:rPr lang="en-US" kern="0" dirty="0"/>
              <a:t> </a:t>
            </a:r>
            <a:r>
              <a:rPr lang="en-US" kern="0" dirty="0" err="1"/>
              <a:t>Dijsktra</a:t>
            </a:r>
            <a:r>
              <a:rPr lang="en-US" kern="0" dirty="0"/>
              <a:t> </a:t>
            </a:r>
            <a:r>
              <a:rPr lang="en-US" kern="0" dirty="0" err="1"/>
              <a:t>tìm</a:t>
            </a:r>
            <a:r>
              <a:rPr lang="en-US" kern="0" dirty="0"/>
              <a:t> </a:t>
            </a:r>
            <a:r>
              <a:rPr lang="en-US" kern="0" dirty="0" err="1"/>
              <a:t>đường</a:t>
            </a:r>
            <a:r>
              <a:rPr lang="en-US" kern="0" dirty="0"/>
              <a:t> </a:t>
            </a:r>
            <a:r>
              <a:rPr lang="en-US" kern="0" dirty="0" err="1"/>
              <a:t>đi</a:t>
            </a:r>
            <a:r>
              <a:rPr lang="en-US" kern="0" dirty="0"/>
              <a:t> </a:t>
            </a:r>
            <a:r>
              <a:rPr lang="en-US" kern="0" dirty="0" err="1"/>
              <a:t>ngắn</a:t>
            </a:r>
            <a:r>
              <a:rPr lang="en-US" kern="0" dirty="0"/>
              <a:t> </a:t>
            </a:r>
            <a:r>
              <a:rPr lang="en-US" kern="0" dirty="0" err="1"/>
              <a:t>nhất</a:t>
            </a:r>
            <a:r>
              <a:rPr lang="en-US" kern="0" dirty="0"/>
              <a:t> </a:t>
            </a:r>
            <a:r>
              <a:rPr lang="en-US" kern="0" dirty="0" err="1"/>
              <a:t>từ</a:t>
            </a:r>
            <a:r>
              <a:rPr lang="en-US" kern="0" dirty="0"/>
              <a:t> </a:t>
            </a:r>
            <a:r>
              <a:rPr lang="en-US" kern="0" dirty="0" err="1"/>
              <a:t>đỉnh</a:t>
            </a:r>
            <a:r>
              <a:rPr lang="en-US" kern="0" dirty="0"/>
              <a:t> 1 </a:t>
            </a:r>
            <a:r>
              <a:rPr lang="en-US" kern="0" dirty="0" err="1"/>
              <a:t>đến</a:t>
            </a:r>
            <a:r>
              <a:rPr lang="en-US" kern="0" dirty="0"/>
              <a:t> </a:t>
            </a:r>
            <a:r>
              <a:rPr lang="en-US" kern="0" dirty="0" err="1"/>
              <a:t>các</a:t>
            </a:r>
            <a:r>
              <a:rPr lang="en-US" kern="0" dirty="0"/>
              <a:t> </a:t>
            </a:r>
            <a:r>
              <a:rPr lang="en-US" kern="0" dirty="0" err="1"/>
              <a:t>đỉnh</a:t>
            </a:r>
            <a:r>
              <a:rPr lang="en-US" kern="0" dirty="0"/>
              <a:t> </a:t>
            </a:r>
            <a:r>
              <a:rPr lang="en-US" kern="0" dirty="0" err="1"/>
              <a:t>còn</a:t>
            </a:r>
            <a:r>
              <a:rPr lang="en-US" kern="0" dirty="0"/>
              <a:t> </a:t>
            </a:r>
            <a:r>
              <a:rPr lang="en-US" kern="0" dirty="0" err="1"/>
              <a:t>lại</a:t>
            </a:r>
            <a:r>
              <a:rPr lang="en-US" kern="0" dirty="0"/>
              <a:t> </a:t>
            </a:r>
            <a:r>
              <a:rPr lang="en-US" kern="0" dirty="0" err="1"/>
              <a:t>trong</a:t>
            </a:r>
            <a:r>
              <a:rPr lang="en-US" kern="0" dirty="0"/>
              <a:t> </a:t>
            </a:r>
            <a:r>
              <a:rPr lang="en-US" kern="0" dirty="0" err="1"/>
              <a:t>đồ</a:t>
            </a:r>
            <a:r>
              <a:rPr lang="en-US" kern="0" dirty="0"/>
              <a:t> </a:t>
            </a:r>
            <a:r>
              <a:rPr lang="en-US" kern="0" dirty="0" err="1"/>
              <a:t>thị</a:t>
            </a:r>
            <a:endParaRPr lang="vi-VN" kern="0" dirty="0"/>
          </a:p>
          <a:p>
            <a:endParaRPr lang="en-US" dirty="0"/>
          </a:p>
          <a:p>
            <a:endParaRPr lang="en-US" dirty="0"/>
          </a:p>
          <a:p>
            <a:endParaRPr lang="en-US" dirty="0"/>
          </a:p>
          <a:p>
            <a:endParaRPr lang="en-US" dirty="0"/>
          </a:p>
          <a:p>
            <a:endParaRPr lang="en-US" dirty="0"/>
          </a:p>
          <a:p>
            <a:r>
              <a:rPr lang="en-US" dirty="0" err="1"/>
              <a:t>Tìm</a:t>
            </a:r>
            <a:r>
              <a:rPr lang="en-US" dirty="0"/>
              <a:t> </a:t>
            </a:r>
            <a:r>
              <a:rPr lang="en-US" dirty="0" err="1"/>
              <a:t>cây</a:t>
            </a:r>
            <a:r>
              <a:rPr lang="en-US" dirty="0"/>
              <a:t> </a:t>
            </a:r>
            <a:r>
              <a:rPr lang="en-US" dirty="0" err="1"/>
              <a:t>khung</a:t>
            </a:r>
            <a:r>
              <a:rPr lang="en-US" dirty="0"/>
              <a:t> </a:t>
            </a:r>
            <a:r>
              <a:rPr lang="en-US" dirty="0" err="1"/>
              <a:t>cực</a:t>
            </a:r>
            <a:r>
              <a:rPr lang="en-US" dirty="0"/>
              <a:t> </a:t>
            </a:r>
            <a:r>
              <a:rPr lang="en-US" dirty="0" err="1"/>
              <a:t>tiểu</a:t>
            </a:r>
            <a:r>
              <a:rPr lang="en-US" dirty="0"/>
              <a:t> </a:t>
            </a:r>
            <a:r>
              <a:rPr lang="en-US" dirty="0" err="1"/>
              <a:t>của</a:t>
            </a:r>
            <a:r>
              <a:rPr lang="en-US" dirty="0"/>
              <a:t> </a:t>
            </a:r>
            <a:r>
              <a:rPr lang="en-US" dirty="0" err="1"/>
              <a:t>đồ</a:t>
            </a:r>
            <a:r>
              <a:rPr lang="en-US" dirty="0"/>
              <a:t> </a:t>
            </a:r>
            <a:r>
              <a:rPr lang="en-US" dirty="0" err="1"/>
              <a:t>thị</a:t>
            </a:r>
            <a:endParaRPr lang="en-US" dirty="0"/>
          </a:p>
        </p:txBody>
      </p:sp>
      <p:pic>
        <p:nvPicPr>
          <p:cNvPr id="5" name="Picture 4"/>
          <p:cNvPicPr>
            <a:picLocks noChangeAspect="1"/>
          </p:cNvPicPr>
          <p:nvPr/>
        </p:nvPicPr>
        <p:blipFill>
          <a:blip r:embed="rId3"/>
          <a:stretch>
            <a:fillRect/>
          </a:stretch>
        </p:blipFill>
        <p:spPr>
          <a:xfrm>
            <a:off x="5029200" y="3950677"/>
            <a:ext cx="2133600" cy="1880462"/>
          </a:xfrm>
          <a:prstGeom prst="rect">
            <a:avLst/>
          </a:prstGeom>
        </p:spPr>
      </p:pic>
      <p:pic>
        <p:nvPicPr>
          <p:cNvPr id="6" name="Picture 5"/>
          <p:cNvPicPr>
            <a:picLocks noChangeAspect="1"/>
          </p:cNvPicPr>
          <p:nvPr/>
        </p:nvPicPr>
        <p:blipFill>
          <a:blip r:embed="rId4"/>
          <a:stretch>
            <a:fillRect/>
          </a:stretch>
        </p:blipFill>
        <p:spPr>
          <a:xfrm>
            <a:off x="982597" y="3962400"/>
            <a:ext cx="3030850" cy="1800141"/>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0600" y="1524000"/>
            <a:ext cx="2820016" cy="1553620"/>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0507" y="1524000"/>
            <a:ext cx="3014663" cy="1510316"/>
          </a:xfrm>
          <a:prstGeom prst="rect">
            <a:avLst/>
          </a:prstGeom>
        </p:spPr>
      </p:pic>
    </p:spTree>
    <p:extLst>
      <p:ext uri="{BB962C8B-B14F-4D97-AF65-F5344CB8AC3E}">
        <p14:creationId xmlns:p14="http://schemas.microsoft.com/office/powerpoint/2010/main" val="19687779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55</a:t>
            </a:fld>
            <a:endParaRPr lang="en-US"/>
          </a:p>
        </p:txBody>
      </p:sp>
      <p:sp>
        <p:nvSpPr>
          <p:cNvPr id="3" name="Title 2"/>
          <p:cNvSpPr>
            <a:spLocks noGrp="1"/>
          </p:cNvSpPr>
          <p:nvPr>
            <p:ph type="title"/>
          </p:nvPr>
        </p:nvSpPr>
        <p:spPr/>
        <p:txBody>
          <a:bodyPr/>
          <a:lstStyle/>
          <a:p>
            <a:endParaRPr lang="en-US"/>
          </a:p>
        </p:txBody>
      </p:sp>
      <p:sp>
        <p:nvSpPr>
          <p:cNvPr id="4" name="Content Placeholder 3"/>
          <p:cNvSpPr>
            <a:spLocks noGrp="1"/>
          </p:cNvSpPr>
          <p:nvPr>
            <p:ph sz="quarter" idx="13"/>
          </p:nvPr>
        </p:nvSpPr>
        <p:spPr/>
        <p:txBody>
          <a:bodyPr/>
          <a:lstStyle/>
          <a:p>
            <a:endParaRPr lang="en-US"/>
          </a:p>
        </p:txBody>
      </p:sp>
    </p:spTree>
    <p:extLst>
      <p:ext uri="{BB962C8B-B14F-4D97-AF65-F5344CB8AC3E}">
        <p14:creationId xmlns:p14="http://schemas.microsoft.com/office/powerpoint/2010/main" val="9443914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56</a:t>
            </a:fld>
            <a:endParaRPr lang="en-US"/>
          </a:p>
        </p:txBody>
      </p:sp>
      <p:sp>
        <p:nvSpPr>
          <p:cNvPr id="3" name="Title 2"/>
          <p:cNvSpPr>
            <a:spLocks noGrp="1"/>
          </p:cNvSpPr>
          <p:nvPr>
            <p:ph type="title"/>
          </p:nvPr>
        </p:nvSpPr>
        <p:spPr/>
        <p:txBody>
          <a:bodyPr/>
          <a:lstStyle/>
          <a:p>
            <a:r>
              <a:rPr lang="en-US" dirty="0"/>
              <a:t>4.2. </a:t>
            </a:r>
            <a:r>
              <a:rPr lang="en-US" dirty="0" err="1"/>
              <a:t>Bài</a:t>
            </a:r>
            <a:r>
              <a:rPr lang="en-US" dirty="0"/>
              <a:t> </a:t>
            </a:r>
            <a:r>
              <a:rPr lang="en-US" dirty="0" err="1"/>
              <a:t>toán</a:t>
            </a:r>
            <a:r>
              <a:rPr lang="en-US" dirty="0"/>
              <a:t> </a:t>
            </a:r>
            <a:r>
              <a:rPr lang="en-US" dirty="0" err="1"/>
              <a:t>tìm</a:t>
            </a:r>
            <a:r>
              <a:rPr lang="en-US" dirty="0"/>
              <a:t> </a:t>
            </a:r>
            <a:r>
              <a:rPr lang="en-US" dirty="0" err="1"/>
              <a:t>chu</a:t>
            </a:r>
            <a:r>
              <a:rPr lang="en-US" dirty="0"/>
              <a:t> </a:t>
            </a:r>
            <a:r>
              <a:rPr lang="en-US" dirty="0" err="1"/>
              <a:t>trình</a:t>
            </a:r>
            <a:r>
              <a:rPr lang="en-US" dirty="0"/>
              <a:t> </a:t>
            </a:r>
            <a:r>
              <a:rPr lang="en-US" dirty="0" err="1"/>
              <a:t>của</a:t>
            </a:r>
            <a:r>
              <a:rPr lang="en-US" dirty="0"/>
              <a:t> </a:t>
            </a:r>
            <a:r>
              <a:rPr lang="en-US" dirty="0" err="1"/>
              <a:t>đồ</a:t>
            </a:r>
            <a:r>
              <a:rPr lang="en-US" dirty="0"/>
              <a:t> </a:t>
            </a:r>
            <a:r>
              <a:rPr lang="en-US" dirty="0" err="1"/>
              <a:t>thị</a:t>
            </a:r>
            <a:endParaRPr lang="en-US" dirty="0"/>
          </a:p>
        </p:txBody>
      </p:sp>
      <p:sp>
        <p:nvSpPr>
          <p:cNvPr id="4" name="Content Placeholder 3"/>
          <p:cNvSpPr>
            <a:spLocks noGrp="1"/>
          </p:cNvSpPr>
          <p:nvPr>
            <p:ph sz="quarter" idx="13"/>
          </p:nvPr>
        </p:nvSpPr>
        <p:spPr/>
        <p:txBody>
          <a:bodyPr/>
          <a:lstStyle/>
          <a:p>
            <a:r>
              <a:rPr lang="en-US" sz="2400" dirty="0" err="1"/>
              <a:t>Giải</a:t>
            </a:r>
            <a:r>
              <a:rPr lang="en-US" sz="2400" dirty="0"/>
              <a:t> </a:t>
            </a:r>
            <a:r>
              <a:rPr lang="en-US" sz="2400" dirty="0" err="1"/>
              <a:t>thuật</a:t>
            </a:r>
            <a:endParaRPr lang="en-US" dirty="0"/>
          </a:p>
          <a:p>
            <a:pPr lvl="1"/>
            <a:endParaRPr lang="en-US" dirty="0"/>
          </a:p>
          <a:p>
            <a:pPr lvl="1"/>
            <a:endParaRPr lang="en-US" dirty="0"/>
          </a:p>
        </p:txBody>
      </p:sp>
      <mc:AlternateContent xmlns:mc="http://schemas.openxmlformats.org/markup-compatibility/2006" xmlns:a14="http://schemas.microsoft.com/office/drawing/2010/main">
        <mc:Choice Requires="a14">
          <p:sp>
            <p:nvSpPr>
              <p:cNvPr id="5" name="Rectangle 4"/>
              <p:cNvSpPr/>
              <p:nvPr/>
            </p:nvSpPr>
            <p:spPr>
              <a:xfrm>
                <a:off x="1066800" y="1717282"/>
                <a:ext cx="8327883" cy="3693319"/>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bool </a:t>
                </a:r>
                <a:r>
                  <a:rPr lang="en-US" dirty="0" err="1">
                    <a:latin typeface="Courier New" panose="02070309020205020404" pitchFamily="49" charset="0"/>
                    <a:cs typeface="Courier New" panose="02070309020205020404" pitchFamily="49" charset="0"/>
                  </a:rPr>
                  <a:t>CycleDetection</a:t>
                </a:r>
                <a:r>
                  <a:rPr lang="en-US" dirty="0">
                    <a:latin typeface="Courier New" panose="02070309020205020404" pitchFamily="49" charset="0"/>
                    <a:cs typeface="Courier New" panose="02070309020205020404" pitchFamily="49" charset="0"/>
                  </a:rPr>
                  <a:t>(G, s, c){</a:t>
                </a:r>
              </a:p>
              <a:p>
                <a:r>
                  <a:rPr lang="en-US" dirty="0">
                    <a:latin typeface="Courier New" panose="02070309020205020404" pitchFamily="49" charset="0"/>
                    <a:cs typeface="Courier New" panose="02070309020205020404" pitchFamily="49" charset="0"/>
                  </a:rPr>
                  <a:t>	Ac = </a:t>
                </a:r>
                <a:r>
                  <a:rPr lang="en-US" dirty="0" err="1">
                    <a:latin typeface="Courier New" panose="02070309020205020404" pitchFamily="49" charset="0"/>
                    <a:cs typeface="Courier New" panose="02070309020205020404" pitchFamily="49" charset="0"/>
                  </a:rPr>
                  <a:t>Tập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đỉnh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kề</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của</a:t>
                </a:r>
                <a:r>
                  <a:rPr lang="en-US" dirty="0">
                    <a:latin typeface="Courier New" panose="02070309020205020404" pitchFamily="49" charset="0"/>
                    <a:cs typeface="Courier New" panose="02070309020205020404" pitchFamily="49" charset="0"/>
                  </a:rPr>
                  <a:t> c;</a:t>
                </a:r>
              </a:p>
              <a:p>
                <a:pPr lvl="1"/>
                <a:r>
                  <a:rPr lang="en-US" dirty="0">
                    <a:latin typeface="Courier New" panose="02070309020205020404" pitchFamily="49" charset="0"/>
                    <a:cs typeface="Courier New" panose="02070309020205020404" pitchFamily="49" charset="0"/>
                  </a:rPr>
                  <a:t>if (Ac </a:t>
                </a:r>
                <a:r>
                  <a:rPr lang="en-US" dirty="0" err="1">
                    <a:latin typeface="Courier New" panose="02070309020205020404" pitchFamily="49" charset="0"/>
                    <a:cs typeface="Courier New" panose="02070309020205020404" pitchFamily="49" charset="0"/>
                  </a:rPr>
                  <a:t>là</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rỗng</a:t>
                </a:r>
                <a:r>
                  <a:rPr lang="en-US" dirty="0">
                    <a:latin typeface="Courier New" panose="02070309020205020404" pitchFamily="49" charset="0"/>
                    <a:cs typeface="Courier New" panose="02070309020205020404" pitchFamily="49" charset="0"/>
                  </a:rPr>
                  <a:t>) </a:t>
                </a:r>
              </a:p>
              <a:p>
                <a:pPr lvl="1"/>
                <a:r>
                  <a:rPr lang="en-US" dirty="0">
                    <a:latin typeface="Courier New" panose="02070309020205020404" pitchFamily="49" charset="0"/>
                    <a:cs typeface="Courier New" panose="02070309020205020404" pitchFamily="49" charset="0"/>
                  </a:rPr>
                  <a:t>	return false;</a:t>
                </a:r>
              </a:p>
              <a:p>
                <a:pPr lvl="1"/>
                <a:r>
                  <a:rPr lang="en-US" dirty="0">
                    <a:latin typeface="Courier New" panose="02070309020205020404" pitchFamily="49" charset="0"/>
                    <a:cs typeface="Courier New" panose="02070309020205020404" pitchFamily="49" charset="0"/>
                  </a:rPr>
                  <a:t>else </a:t>
                </a:r>
              </a:p>
              <a:p>
                <a:pPr lvl="1"/>
                <a:r>
                  <a:rPr lang="en-US" dirty="0">
                    <a:latin typeface="Courier New" panose="02070309020205020404" pitchFamily="49" charset="0"/>
                    <a:cs typeface="Courier New" panose="02070309020205020404" pitchFamily="49" charset="0"/>
                  </a:rPr>
                  <a:t>	if (</a:t>
                </a:r>
                <a14:m>
                  <m:oMath xmlns:m="http://schemas.openxmlformats.org/officeDocument/2006/math">
                    <m:r>
                      <a:rPr lang="en-US" i="1">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vi</a:t>
                </a:r>
                <a14:m>
                  <m:oMath xmlns:m="http://schemas.openxmlformats.org/officeDocument/2006/math">
                    <m:r>
                      <a:rPr lang="en-US" dirty="0">
                        <a:latin typeface="Cambria Math" panose="02040503050406030204" pitchFamily="18" charset="0"/>
                        <a:ea typeface="Cambria Math" panose="02040503050406030204" pitchFamily="18" charset="0"/>
                        <a:cs typeface="Courier New" panose="02070309020205020404" pitchFamily="49" charset="0"/>
                      </a:rPr>
                      <m:t> </m:t>
                    </m:r>
                    <m:r>
                      <a:rPr lang="en-US" i="1" dirty="0">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 Ac &amp;&amp; vi == s) return true;</a:t>
                </a:r>
              </a:p>
              <a:p>
                <a:pPr lvl="1"/>
                <a:r>
                  <a:rPr lang="en-US" dirty="0">
                    <a:latin typeface="Courier New" panose="02070309020205020404" pitchFamily="49" charset="0"/>
                    <a:cs typeface="Courier New" panose="02070309020205020404" pitchFamily="49" charset="0"/>
                  </a:rPr>
                  <a:t>	if (</a:t>
                </a:r>
                <a14:m>
                  <m:oMath xmlns:m="http://schemas.openxmlformats.org/officeDocument/2006/math">
                    <m:r>
                      <a:rPr lang="en-US" i="1" smtClean="0">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vi</a:t>
                </a:r>
                <a14:m>
                  <m:oMath xmlns:m="http://schemas.openxmlformats.org/officeDocument/2006/math">
                    <m:r>
                      <a:rPr lang="en-US" b="0" i="0" dirty="0" smtClean="0">
                        <a:latin typeface="Cambria Math" panose="02040503050406030204" pitchFamily="18" charset="0"/>
                        <a:ea typeface="Cambria Math" panose="02040503050406030204" pitchFamily="18" charset="0"/>
                        <a:cs typeface="Courier New" panose="02070309020205020404" pitchFamily="49" charset="0"/>
                      </a:rPr>
                      <m:t> </m:t>
                    </m:r>
                    <m:r>
                      <a:rPr lang="en-US" i="1" dirty="0" smtClean="0">
                        <a:latin typeface="Cambria Math" panose="02040503050406030204" pitchFamily="18" charset="0"/>
                        <a:ea typeface="Cambria Math" panose="02040503050406030204" pitchFamily="18" charset="0"/>
                        <a:cs typeface="Courier New" panose="02070309020205020404" pitchFamily="49" charset="0"/>
                      </a:rPr>
                      <m:t>∈</m:t>
                    </m:r>
                  </m:oMath>
                </a14:m>
                <a:r>
                  <a:rPr lang="en-US" dirty="0">
                    <a:latin typeface="Courier New" panose="02070309020205020404" pitchFamily="49" charset="0"/>
                    <a:cs typeface="Courier New" panose="02070309020205020404" pitchFamily="49" charset="0"/>
                  </a:rPr>
                  <a:t> Ac: </a:t>
                </a:r>
                <a:r>
                  <a:rPr lang="en-US" dirty="0" err="1">
                    <a:latin typeface="Courier New" panose="02070309020205020404" pitchFamily="49" charset="0"/>
                    <a:cs typeface="Courier New" panose="02070309020205020404" pitchFamily="49" charset="0"/>
                  </a:rPr>
                  <a:t>CycDetection</a:t>
                </a:r>
                <a:r>
                  <a:rPr lang="en-US" dirty="0">
                    <a:latin typeface="Courier New" panose="02070309020205020404" pitchFamily="49" charset="0"/>
                    <a:cs typeface="Courier New" panose="02070309020205020404" pitchFamily="49" charset="0"/>
                  </a:rPr>
                  <a:t>(G, s, vi) == true) 				return true;</a:t>
                </a:r>
              </a:p>
              <a:p>
                <a:pPr lvl="1"/>
                <a:r>
                  <a:rPr lang="en-US" dirty="0">
                    <a:latin typeface="Courier New" panose="02070309020205020404" pitchFamily="49" charset="0"/>
                    <a:cs typeface="Courier New" panose="02070309020205020404" pitchFamily="49" charset="0"/>
                  </a:rPr>
                  <a:t>	else </a:t>
                </a:r>
              </a:p>
              <a:p>
                <a:pPr lvl="1"/>
                <a:r>
                  <a:rPr lang="en-US" dirty="0">
                    <a:latin typeface="Courier New" panose="02070309020205020404" pitchFamily="49" charset="0"/>
                    <a:cs typeface="Courier New" panose="02070309020205020404" pitchFamily="49" charset="0"/>
                  </a:rPr>
                  <a:t>		return false;</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066800" y="1717282"/>
                <a:ext cx="8327883" cy="3693319"/>
              </a:xfrm>
              <a:prstGeom prst="rect">
                <a:avLst/>
              </a:prstGeom>
              <a:blipFill>
                <a:blip r:embed="rId3"/>
                <a:stretch>
                  <a:fillRect l="-586" t="-990"/>
                </a:stretch>
              </a:blipFill>
            </p:spPr>
            <p:txBody>
              <a:bodyPr/>
              <a:lstStyle/>
              <a:p>
                <a:r>
                  <a:rPr lang="en-US">
                    <a:noFill/>
                  </a:rPr>
                  <a:t> </a:t>
                </a:r>
              </a:p>
            </p:txBody>
          </p:sp>
        </mc:Fallback>
      </mc:AlternateContent>
    </p:spTree>
    <p:extLst>
      <p:ext uri="{BB962C8B-B14F-4D97-AF65-F5344CB8AC3E}">
        <p14:creationId xmlns:p14="http://schemas.microsoft.com/office/powerpoint/2010/main" val="660698281"/>
      </p:ext>
    </p:extLst>
  </p:cSld>
  <p:clrMapOvr>
    <a:masterClrMapping/>
  </p:clrMapOvr>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16611</TotalTime>
  <Words>5990</Words>
  <Application>Microsoft Office PowerPoint</Application>
  <PresentationFormat>On-screen Show (4:3)</PresentationFormat>
  <Paragraphs>513</Paragraphs>
  <Slides>56</Slides>
  <Notes>27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56</vt:i4>
      </vt:variant>
    </vt:vector>
  </HeadingPairs>
  <TitlesOfParts>
    <vt:vector size="68" baseType="lpstr">
      <vt:lpstr>Arial</vt:lpstr>
      <vt:lpstr>Calibri</vt:lpstr>
      <vt:lpstr>Calibri Light</vt:lpstr>
      <vt:lpstr>Cambria Math</vt:lpstr>
      <vt:lpstr>Courier New</vt:lpstr>
      <vt:lpstr>Garamond</vt:lpstr>
      <vt:lpstr>Gill Sans MT</vt:lpstr>
      <vt:lpstr>Lato</vt:lpstr>
      <vt:lpstr>Symbol</vt:lpstr>
      <vt:lpstr>Times New Roman</vt:lpstr>
      <vt:lpstr>Wingdings</vt:lpstr>
      <vt:lpstr>7. SL - Mẫu slides bài giảng_HUST PPT Template</vt:lpstr>
      <vt:lpstr>CẤU TRÚC DỮ LIỆU VÀ GIẢI THUẬT</vt:lpstr>
      <vt:lpstr>Chương VII :  Cấu trúc đồ thị</vt:lpstr>
      <vt:lpstr>Nội dung chính</vt:lpstr>
      <vt:lpstr>PowerPoint Presentation</vt:lpstr>
      <vt:lpstr>Giới thiệu</vt:lpstr>
      <vt:lpstr>Các khái niệm cơ bản</vt:lpstr>
      <vt:lpstr>Các loại đồ thị</vt:lpstr>
      <vt:lpstr>Các loại đồ thị</vt:lpstr>
      <vt:lpstr>Các khái niệm liên quan</vt:lpstr>
      <vt:lpstr>Một số tính chất của đồ thị</vt:lpstr>
      <vt:lpstr>Các khái niệm liên quan</vt:lpstr>
      <vt:lpstr>Các thao tác cơ bản trên đồ thị</vt:lpstr>
      <vt:lpstr>PowerPoint Presentation</vt:lpstr>
      <vt:lpstr>Phương pháp cài đặt chính</vt:lpstr>
      <vt:lpstr>Sử dụng cấu trúc tuần tự (ma trận kề)</vt:lpstr>
      <vt:lpstr>Biểu diễn đồ thị - ma trận kề</vt:lpstr>
      <vt:lpstr>Sử dụng cấu trúc móc nối</vt:lpstr>
      <vt:lpstr>Sử dụng cấu trúc móc nối</vt:lpstr>
      <vt:lpstr>Sử dụng cấu trúc móc nối</vt:lpstr>
      <vt:lpstr>PowerPoint Presentation</vt:lpstr>
      <vt:lpstr>Duyệt đồ thị</vt:lpstr>
      <vt:lpstr>Duyệt theo chiều sâu</vt:lpstr>
      <vt:lpstr>Duyệt theo chiều sâu</vt:lpstr>
      <vt:lpstr>Duyệt theo chiều rộng</vt:lpstr>
      <vt:lpstr>Duyệt theo chiều rộng</vt:lpstr>
      <vt:lpstr>PowerPoint Presentation</vt:lpstr>
      <vt:lpstr>4.1. Các bài toán tìm đường đi ngắn nhất</vt:lpstr>
      <vt:lpstr>4.1. Các bài toán tìm đường đi ngắn nhất</vt:lpstr>
      <vt:lpstr>Giải thuật Dijkstra</vt:lpstr>
      <vt:lpstr>Giải thuật Dijkstra</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Giải thuật Dijkstra</vt:lpstr>
      <vt:lpstr>Giải thuật Bellman-Ford</vt:lpstr>
      <vt:lpstr>4.2. Bài toán tìm chu trình của đồ thị</vt:lpstr>
      <vt:lpstr>4.2. Bài toán tìm chu trình của đồ thị</vt:lpstr>
      <vt:lpstr>4.3. Bài toán tìm cây khung có giá cực tiểu</vt:lpstr>
      <vt:lpstr>4.3. Bài toán tìm cây khung có giá cực tiểu</vt:lpstr>
      <vt:lpstr>Giải thuật Kruskal</vt:lpstr>
      <vt:lpstr>Giải thuật Kruskal</vt:lpstr>
      <vt:lpstr>Giải thuật Dijkstra</vt:lpstr>
      <vt:lpstr>Giải thuật Dijkstra</vt:lpstr>
      <vt:lpstr>Giải thuật Dijkstra</vt:lpstr>
      <vt:lpstr>Bài tập</vt:lpstr>
      <vt:lpstr>PowerPoint Presentation</vt:lpstr>
      <vt:lpstr>4.2. Bài toán tìm chu trình của đồ thị</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Hai Hai</cp:lastModifiedBy>
  <cp:revision>3591</cp:revision>
  <cp:lastPrinted>2018-10-12T09:39:58Z</cp:lastPrinted>
  <dcterms:created xsi:type="dcterms:W3CDTF">2007-06-13T23:23:09Z</dcterms:created>
  <dcterms:modified xsi:type="dcterms:W3CDTF">2025-12-03T05:40:21Z</dcterms:modified>
</cp:coreProperties>
</file>