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24a6c0b2544dde" /><Relationship Type="http://schemas.openxmlformats.org/officeDocument/2006/relationships/extended-properties" Target="/docProps/app.xml" Id="Ra080e321331c4c05" /><Relationship Type="http://schemas.openxmlformats.org/officeDocument/2006/relationships/officeDocument" Target="/ppt/presentation.xml" Id="R2ffb85b5a7264b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1535b8fad74e4b"/>
  </p:sldMasterIdLst>
  <p:notesMasterIdLst>
    <p:notesMasterId xmlns:r="http://schemas.openxmlformats.org/officeDocument/2006/relationships" r:id="R5c92d437eee64cc9"/>
  </p:notesMasterIdLst>
  <p:sldIdLst>
    <p:sldId xmlns:r="http://schemas.openxmlformats.org/officeDocument/2006/relationships" id="256" r:id="R79db0d853a64489b"/>
    <p:sldId xmlns:r="http://schemas.openxmlformats.org/officeDocument/2006/relationships" id="257" r:id="R61a73b0bec1b4994"/>
    <p:sldId xmlns:r="http://schemas.openxmlformats.org/officeDocument/2006/relationships" id="258" r:id="R14019baf4dd84cac"/>
    <p:sldId xmlns:r="http://schemas.openxmlformats.org/officeDocument/2006/relationships" id="259" r:id="R5b85e703c5ce47e9"/>
    <p:sldId xmlns:r="http://schemas.openxmlformats.org/officeDocument/2006/relationships" id="260" r:id="Ra2471ace2c414980"/>
    <p:sldId xmlns:r="http://schemas.openxmlformats.org/officeDocument/2006/relationships" id="261" r:id="R393e2dccbaf24f72"/>
    <p:sldId xmlns:r="http://schemas.openxmlformats.org/officeDocument/2006/relationships" id="262" r:id="Re67af74fe1564909"/>
    <p:sldId xmlns:r="http://schemas.openxmlformats.org/officeDocument/2006/relationships" id="263" r:id="Rdda00af63aa943f7"/>
    <p:sldId xmlns:r="http://schemas.openxmlformats.org/officeDocument/2006/relationships" id="264" r:id="R7522a1ee4a4b432a"/>
    <p:sldId xmlns:r="http://schemas.openxmlformats.org/officeDocument/2006/relationships" id="265" r:id="R26b867c966144f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9f07804b0a45c5" /><Relationship Type="http://schemas.openxmlformats.org/officeDocument/2006/relationships/slideMaster" Target="/ppt/slideMasters/slideMaster1.xml" Id="R3c1535b8fad74e4b" /><Relationship Type="http://schemas.openxmlformats.org/officeDocument/2006/relationships/notesMaster" Target="/ppt/notesMasters/notesMaster1.xml" Id="R5c92d437eee64cc9" /><Relationship Type="http://schemas.openxmlformats.org/officeDocument/2006/relationships/presProps" Target="/ppt/presProps.xml" Id="Ra52b5023f3ec4da3" /><Relationship Type="http://schemas.openxmlformats.org/officeDocument/2006/relationships/tableStyles" Target="/ppt/tableStyles.xml" Id="R072445b62cc34e3c" /><Relationship Type="http://schemas.openxmlformats.org/officeDocument/2006/relationships/slide" Target="/ppt/slides/slide1.xml" Id="R79db0d853a64489b" /><Relationship Type="http://schemas.openxmlformats.org/officeDocument/2006/relationships/slide" Target="/ppt/slides/slide2.xml" Id="R61a73b0bec1b4994" /><Relationship Type="http://schemas.openxmlformats.org/officeDocument/2006/relationships/slide" Target="/ppt/slides/slide3.xml" Id="R14019baf4dd84cac" /><Relationship Type="http://schemas.openxmlformats.org/officeDocument/2006/relationships/slide" Target="/ppt/slides/slide4.xml" Id="R5b85e703c5ce47e9" /><Relationship Type="http://schemas.openxmlformats.org/officeDocument/2006/relationships/slide" Target="/ppt/slides/slide5.xml" Id="Ra2471ace2c414980" /><Relationship Type="http://schemas.openxmlformats.org/officeDocument/2006/relationships/slide" Target="/ppt/slides/slide6.xml" Id="R393e2dccbaf24f72" /><Relationship Type="http://schemas.openxmlformats.org/officeDocument/2006/relationships/slide" Target="/ppt/slides/slide7.xml" Id="Re67af74fe1564909" /><Relationship Type="http://schemas.openxmlformats.org/officeDocument/2006/relationships/slide" Target="/ppt/slides/slide8.xml" Id="Rdda00af63aa943f7" /><Relationship Type="http://schemas.openxmlformats.org/officeDocument/2006/relationships/slide" Target="/ppt/slides/slide9.xml" Id="R7522a1ee4a4b432a" /><Relationship Type="http://schemas.openxmlformats.org/officeDocument/2006/relationships/slide" Target="/ppt/slides/slide10.xml" Id="R26b867c966144f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265272257041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11bed528d0436d" /><Relationship Type="http://schemas.openxmlformats.org/officeDocument/2006/relationships/notesMaster" Target="/ppt/notesMasters/notesMaster1.xml" Id="R4aa84fecdac640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d0f36b4eac4235" /><Relationship Type="http://schemas.openxmlformats.org/officeDocument/2006/relationships/notesMaster" Target="/ppt/notesMasters/notesMaster1.xml" Id="Re0767bcd563f40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d5e619ecff4775" /><Relationship Type="http://schemas.openxmlformats.org/officeDocument/2006/relationships/notesMaster" Target="/ppt/notesMasters/notesMaster1.xml" Id="Rdb7eadbd58ff46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d918bb014644ab" /><Relationship Type="http://schemas.openxmlformats.org/officeDocument/2006/relationships/notesMaster" Target="/ppt/notesMasters/notesMaster1.xml" Id="R3a214757fc3d48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64915b3db54caa" /><Relationship Type="http://schemas.openxmlformats.org/officeDocument/2006/relationships/notesMaster" Target="/ppt/notesMasters/notesMaster1.xml" Id="Rf396d5dbf98a48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fa3d8369874523" /><Relationship Type="http://schemas.openxmlformats.org/officeDocument/2006/relationships/notesMaster" Target="/ppt/notesMasters/notesMaster1.xml" Id="R8fd626c8719a4f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222e7719a04e04" /><Relationship Type="http://schemas.openxmlformats.org/officeDocument/2006/relationships/notesMaster" Target="/ppt/notesMasters/notesMaster1.xml" Id="R1cad2a37dedb4d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d4ca444bf048a6" /><Relationship Type="http://schemas.openxmlformats.org/officeDocument/2006/relationships/notesMaster" Target="/ppt/notesMasters/notesMaster1.xml" Id="R30c86fe3350741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a8083d90814933" /><Relationship Type="http://schemas.openxmlformats.org/officeDocument/2006/relationships/notesMaster" Target="/ppt/notesMasters/notesMaster1.xml" Id="Rd607fa53adb14e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d635ca73394b71" /><Relationship Type="http://schemas.openxmlformats.org/officeDocument/2006/relationships/notesMaster" Target="/ppt/notesMasters/notesMaster1.xml" Id="Re5bd9da47ac049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953dc7d0545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8b3bd3d31b4e51" /><Relationship Type="http://schemas.openxmlformats.org/officeDocument/2006/relationships/slideLayout" Target="/ppt/slideLayouts/slideLayout1.xml" Id="R7b3f15ff634746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3f15ff634746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eb9cf286e4244" /><Relationship Type="http://schemas.openxmlformats.org/officeDocument/2006/relationships/notesSlide" Target="/ppt/notesSlides/notesSlide1.xml" Id="R9e3eff81e13744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de79ced124698" /><Relationship Type="http://schemas.openxmlformats.org/officeDocument/2006/relationships/notesSlide" Target="/ppt/notesSlides/notesSlide2.xml" Id="R20ed39b5e4cd49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1da0541414d88" /><Relationship Type="http://schemas.openxmlformats.org/officeDocument/2006/relationships/notesSlide" Target="/ppt/notesSlides/notesSlide3.xml" Id="R8b7cc41325fc4a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3ab430b1646d0" /><Relationship Type="http://schemas.openxmlformats.org/officeDocument/2006/relationships/notesSlide" Target="/ppt/notesSlides/notesSlide4.xml" Id="Rafc6068ce05e40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c6a6fbdd345a8" /><Relationship Type="http://schemas.openxmlformats.org/officeDocument/2006/relationships/notesSlide" Target="/ppt/notesSlides/notesSlide5.xml" Id="R006d39dfde8644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3299b491d4269" /><Relationship Type="http://schemas.openxmlformats.org/officeDocument/2006/relationships/notesSlide" Target="/ppt/notesSlides/notesSlide6.xml" Id="R05bc35669e8e4a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85419b84b4a10" /><Relationship Type="http://schemas.openxmlformats.org/officeDocument/2006/relationships/notesSlide" Target="/ppt/notesSlides/notesSlide7.xml" Id="Rb83d4c229d7f4f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a3070e15b4c32" /><Relationship Type="http://schemas.openxmlformats.org/officeDocument/2006/relationships/notesSlide" Target="/ppt/notesSlides/notesSlide8.xml" Id="R6c1039ca823d4a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8829ff83c470f" /><Relationship Type="http://schemas.openxmlformats.org/officeDocument/2006/relationships/notesSlide" Target="/ppt/notesSlides/notesSlide9.xml" Id="Rf4507670c99c4b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9818b3eec4c77" /><Relationship Type="http://schemas.openxmlformats.org/officeDocument/2006/relationships/notesSlide" Target="/ppt/notesSlides/notesSlide10.xml" Id="Rd1c05af8081c4a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F8313-030D-4041-B8AB-289F2C8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B1BCC-12D8-4DF4-8BE0-BC01A65C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ET2100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5E008-BD03-48E6-9C48-EF2F041F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BÀI THỰC HÀNH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F2A30-3B1C-4F87-ABD1-2980C285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HẠNH TRANG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271F3-540D-4AC1-AC69-C560D1A9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952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7B2F2-EBC4-4D69-B9D6-4A87AE51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DDDD"/>
                </a:solidFill>
              </a:defRPr>
            </a:pPr>
            <a:r>
              <a:rPr sz="1800" b="0">
                <a:solidFill>
                  <a:srgbClr val="DDDDDD"/>
                </a:solidFill>
              </a:rPr>
              <a:t>C++ · Cây &amp; BST · Stack &amp; Queue · Ôn tập cuối kỳ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94419-DBD5-427B-A89A-FCED5CAD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BDBD"/>
                </a:solidFill>
              </a:defRPr>
            </a:pPr>
            <a:r>
              <a:rPr sz="1200" b="0">
                <a:solidFill>
                  <a:srgbClr val="BDBDBD"/>
                </a:solidFill>
              </a:rPr>
              <a:t>Bộ slide thực hành học phần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37ADD-B1EA-42BE-A1A5-03CA6DA6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810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HUST</a:t>
            </a:r>
          </a:p>
        </p:txBody>
      </p:sp>
    </p:spTree>
    <p:extLst>
      <p:ext uri="{BB962C8B-B14F-4D97-AF65-F5344CB8AC3E}">
        <p14:creationId xmlns:p14="http://schemas.microsoft.com/office/powerpoint/2010/main" val="113525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2A0E7F-BD28-4538-9E69-F585FCF9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00B12-589D-4FAA-A06B-8D2747A8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6767"/>
                </a:solidFill>
              </a:defRPr>
            </a:pPr>
            <a:r>
              <a:rPr sz="825" b="1">
                <a:solidFill>
                  <a:srgbClr val="676767"/>
                </a:solidFill>
              </a:rPr>
              <a:t>ET2100  |  CẤU TRÚC DỮ LIỆU VÀ GIẢI THUẬT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DDD33-8960-41F4-8ED8-2FB8C75D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THỰC HÀNH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B0EC5-4313-497F-AACF-B6ED2992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31F34"/>
                </a:solidFill>
              </a:defRPr>
            </a:pPr>
            <a:r>
              <a:rPr sz="900" b="1">
                <a:solidFill>
                  <a:srgbClr val="A31F3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2F43D-CD33-42A8-B3BE-EAD5F956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621E4-BA8A-4492-BAAD-C2499119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020"/>
                </a:solidFill>
              </a:defRPr>
            </a:pPr>
            <a:r>
              <a:rPr sz="2700" b="1">
                <a:solidFill>
                  <a:srgbClr val="202020"/>
                </a:solidFill>
              </a:rPr>
              <a:t>Bốn buổi thực hành: từ code đến tư duy giải thuật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0780D-D79E-4844-A6AF-9F2275C8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767"/>
                </a:solidFill>
              </a:defRPr>
            </a:pPr>
            <a:r>
              <a:rPr sz="1500" b="0">
                <a:solidFill>
                  <a:srgbClr val="676767"/>
                </a:solidFill>
              </a:rPr>
              <a:t>Mỗi buổi ưu tiên một thao tác cốt lõi: biểu diễn dữ liệu, hiện thực, kiểm thử và giải thích.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8D52E-24EA-4632-9C15-368A2004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52412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4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2B19C-F542-4BB5-A108-196F2AAE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1F34"/>
                </a:solidFill>
              </a:defRPr>
            </a:pPr>
            <a:r>
              <a:rPr sz="1200" b="1">
                <a:solidFill>
                  <a:srgbClr val="A31F34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11B5C-0964-47E2-8C21-38D61B7B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76767"/>
                </a:solidFill>
              </a:defRPr>
            </a:pPr>
            <a:r>
              <a:rPr sz="1275" b="1">
                <a:solidFill>
                  <a:srgbClr val="676767"/>
                </a:solidFill>
              </a:rPr>
              <a:t>Buổi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41F99-B1A4-4FAD-924D-6CB29C79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020"/>
                </a:solidFill>
              </a:defRPr>
            </a:pPr>
            <a:r>
              <a:rPr sz="1800" b="1">
                <a:solidFill>
                  <a:srgbClr val="202020"/>
                </a:solidFill>
              </a:rPr>
              <a:t>Tổng quan &amp; C++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E29EC-4CEC-40E6-B799-83C2F61E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6767"/>
                </a:solidFill>
              </a:defRPr>
            </a:pPr>
            <a:r>
              <a:rPr sz="1200" b="0">
                <a:solidFill>
                  <a:srgbClr val="676767"/>
                </a:solidFill>
              </a:rPr>
              <a:t>Làm quen với chương trình, hàm và mảng.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08E69-98E0-4621-A082-AE7B0309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24150"/>
            <a:ext cx="252412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4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210E4-CDCA-497B-A627-4AD70963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71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1F34"/>
                </a:solidFill>
              </a:defRPr>
            </a:pPr>
            <a:r>
              <a:rPr sz="1200" b="1">
                <a:solidFill>
                  <a:srgbClr val="A31F34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64AAB-5BA2-4290-8D2C-8707D132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09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76767"/>
                </a:solidFill>
              </a:defRPr>
            </a:pPr>
            <a:r>
              <a:rPr sz="1275" b="1">
                <a:solidFill>
                  <a:srgbClr val="676767"/>
                </a:solidFill>
              </a:rPr>
              <a:t>Buổi 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9A415-E37A-4643-9143-246A602B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528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020"/>
                </a:solidFill>
              </a:defRPr>
            </a:pPr>
            <a:r>
              <a:rPr sz="1800" b="1">
                <a:solidFill>
                  <a:srgbClr val="202020"/>
                </a:solidFill>
              </a:rPr>
              <a:t>Cây &amp; BST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C507C1-54BA-4882-BD52-E4563C4D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624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6767"/>
                </a:solidFill>
              </a:defRPr>
            </a:pPr>
            <a:r>
              <a:rPr sz="1200" b="0">
                <a:solidFill>
                  <a:srgbClr val="676767"/>
                </a:solidFill>
              </a:rPr>
              <a:t>Xây dựng, duyệt và kiểm tra cây nhị phân.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C76CB-6A13-4A2A-B493-2D480C9A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24150"/>
            <a:ext cx="252412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4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D47B7-7244-4B7C-AF5C-76212CDA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71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1F34"/>
                </a:solidFill>
              </a:defRPr>
            </a:pPr>
            <a:r>
              <a:rPr sz="1200" b="1">
                <a:solidFill>
                  <a:srgbClr val="A31F34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ABF3F-787C-4820-8DB9-0667C2F7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9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76767"/>
                </a:solidFill>
              </a:defRPr>
            </a:pPr>
            <a:r>
              <a:rPr sz="1275" b="1">
                <a:solidFill>
                  <a:srgbClr val="676767"/>
                </a:solidFill>
              </a:rPr>
              <a:t>Buổi 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C38F5-A86B-40B7-AE6A-22EDFEB3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020"/>
                </a:solidFill>
              </a:defRPr>
            </a:pPr>
            <a:r>
              <a:rPr sz="1800" b="1">
                <a:solidFill>
                  <a:srgbClr val="202020"/>
                </a:solidFill>
              </a:rPr>
              <a:t>Stack &amp; 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A41B5-5117-4EF2-9108-15811ABD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6767"/>
                </a:solidFill>
              </a:defRPr>
            </a:pPr>
            <a:r>
              <a:rPr sz="1200" b="0">
                <a:solidFill>
                  <a:srgbClr val="676767"/>
                </a:solidFill>
              </a:rPr>
              <a:t>Chọn cấu trúc dữ liệu phù hợp cho thao tác.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4A2F53-4FCF-4122-A966-9BF58D99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252412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4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421078-55B7-4C7A-A8B8-39A8408E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718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1F34"/>
                </a:solidFill>
              </a:defRPr>
            </a:pPr>
            <a:r>
              <a:rPr sz="1200" b="1">
                <a:solidFill>
                  <a:srgbClr val="A31F34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3F68DA-D0EB-41C6-B669-833BB539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09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76767"/>
                </a:solidFill>
              </a:defRPr>
            </a:pPr>
            <a:r>
              <a:rPr sz="1275" b="1">
                <a:solidFill>
                  <a:srgbClr val="676767"/>
                </a:solidFill>
              </a:rPr>
              <a:t>Buổi 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5419D5-A24F-4203-9A27-05F2E745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528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020"/>
                </a:solidFill>
              </a:defRPr>
            </a:pPr>
            <a:r>
              <a:rPr sz="1800" b="1">
                <a:solidFill>
                  <a:srgbClr val="202020"/>
                </a:solidFill>
              </a:rPr>
              <a:t>Chuẩn bị cuối kỳ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1E93D-4617-4DF9-97F1-A8F3CF7F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624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6767"/>
                </a:solidFill>
              </a:defRPr>
            </a:pPr>
            <a:r>
              <a:rPr sz="1200" b="0">
                <a:solidFill>
                  <a:srgbClr val="676767"/>
                </a:solidFill>
              </a:rPr>
              <a:t>Tổng hợp bài tập và hoàn thiện lời giải.</a:t>
            </a:r>
          </a:p>
        </p:txBody>
      </p:sp>
    </p:spTree>
    <p:extLst>
      <p:ext uri="{BB962C8B-B14F-4D97-AF65-F5344CB8AC3E}">
        <p14:creationId xmlns:p14="http://schemas.microsoft.com/office/powerpoint/2010/main" val="3137110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507EC-968A-4FF7-992C-0EE3CB86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4ADE0-74EE-462B-860F-53668437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6767"/>
                </a:solidFill>
              </a:defRPr>
            </a:pPr>
            <a:r>
              <a:rPr sz="825" b="1">
                <a:solidFill>
                  <a:srgbClr val="676767"/>
                </a:solidFill>
              </a:rPr>
              <a:t>ET2100  |  CẤU TRÚC DỮ LIỆU VÀ GIẢI THUẬT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A5AC5-D2D3-48BA-86E1-F71958DE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BUỔI 3 · BÀI TẬP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D6F5A-E40A-4BDC-BA02-5B7C4113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31F34"/>
                </a:solidFill>
              </a:defRPr>
            </a:pPr>
            <a:r>
              <a:rPr sz="900" b="1">
                <a:solidFill>
                  <a:srgbClr val="A31F3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7D904-C39C-44A7-8C40-A3A82DA2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11F7B-C147-4888-8E8C-AACA02E3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020"/>
                </a:solidFill>
              </a:defRPr>
            </a:pPr>
            <a:r>
              <a:rPr sz="3000" b="1">
                <a:solidFill>
                  <a:srgbClr val="202020"/>
                </a:solidFill>
              </a:rPr>
              <a:t>C++ và tổng quan CTDL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70422-DC88-427E-B084-0C2DBAD3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767"/>
                </a:solidFill>
              </a:defRPr>
            </a:pPr>
            <a:r>
              <a:rPr sz="1500" b="0">
                <a:solidFill>
                  <a:srgbClr val="676767"/>
                </a:solidFill>
              </a:rPr>
              <a:t>Bắt đầu bằng những chương trình nhỏ, có thể giải thích từng dòng.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0B589-8CAE-4D5D-A17D-F67D2B3A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8B9F1-AFB4-43A1-A997-8FD6A914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D728F-4A5C-459F-A012-730B2403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52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020"/>
                </a:solidFill>
              </a:defRPr>
            </a:pPr>
            <a:r>
              <a:rPr sz="1650" b="1">
                <a:solidFill>
                  <a:srgbClr val="202020"/>
                </a:solidFill>
              </a:rPr>
              <a:t>Đọc đề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87B3C-74EA-4F99-9C1E-8D41B36F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Xác định dữ liệu vào, dữ liệu ra và các ràng buộc.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8E2EF-F54D-41BC-B896-4609AF6B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7599E-0E91-47A5-A98E-C68FC096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80C13-501C-4F9D-A0C6-F621DE77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8CEAC-9A11-4AB6-BA9F-FCDD2891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020"/>
                </a:solidFill>
              </a:defRPr>
            </a:pPr>
            <a:r>
              <a:rPr sz="1650" b="1">
                <a:solidFill>
                  <a:srgbClr val="202020"/>
                </a:solidFill>
              </a:rPr>
              <a:t>Viết hàm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7E15F-5902-42A8-92DE-A074C49A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480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Tách thao tác chính thành hàm ngắn, tên rõ nghĩa.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DB987-B268-4C65-B3A4-D648C8B9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C7C6C-34C9-4509-96C8-4B3111A3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2E717-318E-4686-A547-23FE5A0B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FBFDC-4230-4810-A257-A53F689A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862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020"/>
                </a:solidFill>
              </a:defRPr>
            </a:pPr>
            <a:r>
              <a:rPr sz="1650" b="1">
                <a:solidFill>
                  <a:srgbClr val="202020"/>
                </a:solidFill>
              </a:rPr>
              <a:t>Chạy thử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B7207-60E0-4878-A0B1-894A93F0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Dùng ví dụ nhỏ và các trường hợp biên để kiểm tra.</a:t>
            </a:r>
          </a:p>
        </p:txBody>
      </p:sp>
    </p:spTree>
    <p:extLst>
      <p:ext uri="{BB962C8B-B14F-4D97-AF65-F5344CB8AC3E}">
        <p14:creationId xmlns:p14="http://schemas.microsoft.com/office/powerpoint/2010/main" val="1771067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46F4B-6CEA-44AA-B2B0-76D870B9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7571B-B2EE-457C-B04C-18202D66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6767"/>
                </a:solidFill>
              </a:defRPr>
            </a:pPr>
            <a:r>
              <a:rPr sz="825" b="1">
                <a:solidFill>
                  <a:srgbClr val="676767"/>
                </a:solidFill>
              </a:rPr>
              <a:t>ET2100  |  CẤU TRÚC DỮ LIỆU VÀ GIẢI THUẬT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05D5D-3956-4995-9660-8B10CE88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BUỔI 3 · BÀI TẬP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6B162-2784-4E00-B4E7-856EBA1C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31F34"/>
                </a:solidFill>
              </a:defRPr>
            </a:pPr>
            <a:r>
              <a:rPr sz="900" b="1">
                <a:solidFill>
                  <a:srgbClr val="A31F3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51CAB-D937-41FB-ADEC-A467024F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0A04A-4E3E-4488-A5DF-F1978C80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020"/>
                </a:solidFill>
              </a:defRPr>
            </a:pPr>
            <a:r>
              <a:rPr sz="2850" b="1">
                <a:solidFill>
                  <a:srgbClr val="202020"/>
                </a:solidFill>
              </a:rPr>
              <a:t>Bài tập 01: hiện thực và kiểm thử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7B9EE-F110-4E99-9A3A-CF6B51EE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767"/>
                </a:solidFill>
              </a:defRPr>
            </a:pPr>
            <a:r>
              <a:rPr sz="1500" b="0">
                <a:solidFill>
                  <a:srgbClr val="676767"/>
                </a:solidFill>
              </a:rPr>
              <a:t>Mục tiêu: sử dụng mảng, hàm và vòng lặp để giải quyết bài toán cơ bản.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3BAA1-A4E0-41FE-ADAD-956DB839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7903E-14F6-4E43-9744-1E2631D6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020"/>
                </a:solidFill>
              </a:defRPr>
            </a:pPr>
            <a:r>
              <a:rPr sz="1725" b="1">
                <a:solidFill>
                  <a:srgbClr val="202020"/>
                </a:solidFill>
              </a:rPr>
              <a:t>Bài 1 - Mảng một chiều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55CC5-FC0D-46D8-9DFA-8D32D45D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Đọc n phần tử; tính tổng, giá trị lớn nhất và vị trí xuất hiện.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1F0DD-738E-4BB1-8B47-7102FBB9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7E4C5-1313-47A5-AAEF-076A42F7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020"/>
                </a:solidFill>
              </a:defRPr>
            </a:pPr>
            <a:r>
              <a:rPr sz="1725" b="1">
                <a:solidFill>
                  <a:srgbClr val="202020"/>
                </a:solidFill>
              </a:rPr>
              <a:t>Bài 2 - Tách hàm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33E69-9F94-4EEC-A56B-8160BC57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Viết các hàm nhập, xuất, tìm kiếm và kiểm tra dữ liệu.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1BE99-B78D-480B-AD23-BB036A30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E545E-9EB6-4A2D-A4EE-59AB5E7C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020"/>
                </a:solidFill>
              </a:defRPr>
            </a:pPr>
            <a:r>
              <a:rPr sz="1725" b="1">
                <a:solidFill>
                  <a:srgbClr val="202020"/>
                </a:solidFill>
              </a:rPr>
              <a:t>Bài 3 - Trường hợp biên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9D271-F3EA-42C5-BC9C-6BE4039C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863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Kiểm tra mảng rỗng, một phần tử và dữ liệu lặp.</a:t>
            </a:r>
          </a:p>
        </p:txBody>
      </p:sp>
    </p:spTree>
    <p:extLst>
      <p:ext uri="{BB962C8B-B14F-4D97-AF65-F5344CB8AC3E}">
        <p14:creationId xmlns:p14="http://schemas.microsoft.com/office/powerpoint/2010/main" val="1050910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86956-6F49-4C46-A80E-544C8B63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D9B16-F36B-497F-9E21-11A0C73E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6767"/>
                </a:solidFill>
              </a:defRPr>
            </a:pPr>
            <a:r>
              <a:rPr sz="825" b="1">
                <a:solidFill>
                  <a:srgbClr val="676767"/>
                </a:solidFill>
              </a:rPr>
              <a:t>ET2100  |  CẤU TRÚC DỮ LIỆU VÀ GIẢI THUẬT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8AE17-A0E1-4ED8-A431-F4054A42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BUỔI 8 · BÀI TẬP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076F8-FC0A-4CE1-A007-95F6FCA8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31F34"/>
                </a:solidFill>
              </a:defRPr>
            </a:pPr>
            <a:r>
              <a:rPr sz="900" b="1">
                <a:solidFill>
                  <a:srgbClr val="A31F3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DFE5B-DC87-4B94-897C-B934FD81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FEB17-D991-4AE8-9630-2D11F07F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020"/>
                </a:solidFill>
              </a:defRPr>
            </a:pPr>
            <a:r>
              <a:rPr sz="3000" b="1">
                <a:solidFill>
                  <a:srgbClr val="202020"/>
                </a:solidFill>
              </a:rPr>
              <a:t>Cây, BST và duyệt cây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31992-4590-4BFA-B68F-502483F3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767"/>
                </a:solidFill>
              </a:defRPr>
            </a:pPr>
            <a:r>
              <a:rPr sz="1500" b="0">
                <a:solidFill>
                  <a:srgbClr val="676767"/>
                </a:solidFill>
              </a:rPr>
              <a:t>Tập biểu diễn quan hệ phân cấp bằng node, liên kết và thao tác duyệt.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D2BE2-81D6-4A94-A471-51A76606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5F392-90B4-4969-83F2-7049FDE1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24D7C-A9A2-4915-BD62-5AF3244E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52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020"/>
                </a:solidFill>
              </a:defRPr>
            </a:pPr>
            <a:r>
              <a:rPr sz="1650" b="1">
                <a:solidFill>
                  <a:srgbClr val="202020"/>
                </a:solidFill>
              </a:rPr>
              <a:t>Tạo cây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2C308-4348-4C18-B6A9-E5C6635A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Xác định node gốc, node con trái và node con phải.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224A2-591A-4D55-A69E-A8DC0762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5288B-C8E8-4705-AA91-3399CF61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BAEEA-F9D7-4ED4-A419-42620E43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F4743-58F7-4D23-8110-422313D3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020"/>
                </a:solidFill>
              </a:defRPr>
            </a:pPr>
            <a:r>
              <a:rPr sz="1650" b="1">
                <a:solidFill>
                  <a:srgbClr val="202020"/>
                </a:solidFill>
              </a:rPr>
              <a:t>Duyệt cây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3B5BD-7DF6-4929-9DD5-6C58BF9C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480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So sánh thứ tự tiền tự, trung tự và hậu tự.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0151C-ADAF-4174-ADDF-EAD83B54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20808-2192-4E91-9267-B7A0A2A1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BEF99-871F-4479-95A0-ACF5A064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E4FB9A-1F65-40C6-A369-432506DB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862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020"/>
                </a:solidFill>
              </a:defRPr>
            </a:pPr>
            <a:r>
              <a:rPr sz="1650" b="1">
                <a:solidFill>
                  <a:srgbClr val="202020"/>
                </a:solidFill>
              </a:rPr>
              <a:t>Khai thác BST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82A34-99AB-417D-AB2F-BABBC6AE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Tìm, chèn và kiểm tra tính chất thứ tự của cây.</a:t>
            </a:r>
          </a:p>
        </p:txBody>
      </p:sp>
    </p:spTree>
    <p:extLst>
      <p:ext uri="{BB962C8B-B14F-4D97-AF65-F5344CB8AC3E}">
        <p14:creationId xmlns:p14="http://schemas.microsoft.com/office/powerpoint/2010/main" val="20935345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D9667-A684-4653-8539-16B56B37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79B33-66AB-4941-88C6-3199FBB1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6767"/>
                </a:solidFill>
              </a:defRPr>
            </a:pPr>
            <a:r>
              <a:rPr sz="825" b="1">
                <a:solidFill>
                  <a:srgbClr val="676767"/>
                </a:solidFill>
              </a:rPr>
              <a:t>ET2100  |  CẤU TRÚC DỮ LIỆU VÀ GIẢI THUẬT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F623D-04D5-407C-9EB9-AF32C1E0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BUỔI 8 · BÀI TẬP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7A94C-5C28-464D-9642-D08742C3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31F34"/>
                </a:solidFill>
              </a:defRPr>
            </a:pPr>
            <a:r>
              <a:rPr sz="900" b="1">
                <a:solidFill>
                  <a:srgbClr val="A31F3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163FB-6CFE-4AAE-B4F9-AA0FB2A2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0A2A9-9B51-4853-AA76-BA332F8B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020"/>
                </a:solidFill>
              </a:defRPr>
            </a:pPr>
            <a:r>
              <a:rPr sz="2850" b="1">
                <a:solidFill>
                  <a:srgbClr val="202020"/>
                </a:solidFill>
              </a:rPr>
              <a:t>Bài tập 02: thao tác trên cây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8509E-BFE7-4B2E-B580-93B56BE5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767"/>
                </a:solidFill>
              </a:defRPr>
            </a:pPr>
            <a:r>
              <a:rPr sz="1500" b="0">
                <a:solidFill>
                  <a:srgbClr val="676767"/>
                </a:solidFill>
              </a:rPr>
              <a:t>Mục tiêu: thấy rõ sự khác nhau giữa cấu trúc cây và thứ tự duyệt.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AC8D3-98AC-4244-B683-66E9A4F2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6A1-6ABA-41A3-B367-A19E2EA7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020"/>
                </a:solidFill>
              </a:defRPr>
            </a:pPr>
            <a:r>
              <a:rPr sz="1725" b="1">
                <a:solidFill>
                  <a:srgbClr val="202020"/>
                </a:solidFill>
              </a:rPr>
              <a:t>Bài 1 - Duyệt cây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18DE5-42A5-41D0-A4F9-C6167328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In các node theo tiền tự, trung tự và hậu tự.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922B8-25FE-424F-B4AE-1E8E116A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F5C0A-3F56-4E4F-BC5C-0CFC1FDB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020"/>
                </a:solidFill>
              </a:defRPr>
            </a:pPr>
            <a:r>
              <a:rPr sz="1725" b="1">
                <a:solidFill>
                  <a:srgbClr val="202020"/>
                </a:solidFill>
              </a:rPr>
              <a:t>Bài 2 - Cây tìm kiếm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CE00A-8104-4356-ADFF-3356F39F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Chèn giá trị vào BST; tìm node có khóa cho trước.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CFD4C-E3DA-47D2-91C8-D6C68A56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1C76B-3FC0-432A-B9C3-2112A453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020"/>
                </a:solidFill>
              </a:defRPr>
            </a:pPr>
            <a:r>
              <a:rPr sz="1725" b="1">
                <a:solidFill>
                  <a:srgbClr val="202020"/>
                </a:solidFill>
              </a:rPr>
              <a:t>Bài 3 - Phân tích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12374-202D-4771-B27F-603CC23B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863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Giải thích khi nào cây bị lệch và ảnh hưởng đến tìm kiếm.</a:t>
            </a:r>
          </a:p>
        </p:txBody>
      </p:sp>
    </p:spTree>
    <p:extLst>
      <p:ext uri="{BB962C8B-B14F-4D97-AF65-F5344CB8AC3E}">
        <p14:creationId xmlns:p14="http://schemas.microsoft.com/office/powerpoint/2010/main" val="12145272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E91009-825D-4215-A22E-EBCDAFFE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114E2-117A-4EC1-9652-3119376F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6767"/>
                </a:solidFill>
              </a:defRPr>
            </a:pPr>
            <a:r>
              <a:rPr sz="825" b="1">
                <a:solidFill>
                  <a:srgbClr val="676767"/>
                </a:solidFill>
              </a:rPr>
              <a:t>ET2100  |  CẤU TRÚC DỮ LIỆU VÀ GIẢI THUẬT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DF982-5E9A-4B3D-AF97-4A00FF0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BUỔI 13 · BÀI TẬP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AF990-646A-462A-A8B6-75FAFE10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31F34"/>
                </a:solidFill>
              </a:defRPr>
            </a:pPr>
            <a:r>
              <a:rPr sz="900" b="1">
                <a:solidFill>
                  <a:srgbClr val="A31F3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6B066-96AF-44F8-8C67-D4E47CAE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F3F1A-5093-43F6-AC19-BFE2187D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020"/>
                </a:solidFill>
              </a:defRPr>
            </a:pPr>
            <a:r>
              <a:rPr sz="3000" b="1">
                <a:solidFill>
                  <a:srgbClr val="202020"/>
                </a:solidFill>
              </a:rPr>
              <a:t>Stack và Queue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8F352-9031-487D-A09C-D3097082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767"/>
                </a:solidFill>
              </a:defRPr>
            </a:pPr>
            <a:r>
              <a:rPr sz="1500" b="0">
                <a:solidFill>
                  <a:srgbClr val="676767"/>
                </a:solidFill>
              </a:rPr>
              <a:t>Chọn cấu trúc dữ liệu dựa trên thứ tự phần tử cần được xử lý.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006E9-FFA5-40F6-92BF-D14A1CD6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39A6E-5025-454A-AF13-B5AB4291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E2767-999D-4867-AB84-894837B5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52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020"/>
                </a:solidFill>
              </a:defRPr>
            </a:pPr>
            <a:r>
              <a:rPr sz="1650" b="1">
                <a:solidFill>
                  <a:srgbClr val="202020"/>
                </a:solidFill>
              </a:rPr>
              <a:t>Nhận diện quy tắc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E6E2C-8F01-480E-B583-EF1C14DD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Stack: vào sau ra trước; Queue: vào trước ra trước.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54DCD-F7C5-4EE6-B19E-5619BF1C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8CBA4-D6AD-4297-992C-90CED406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431A8-7B51-4F62-8D17-AE39227C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52ECB-3318-405E-B9B0-E036373B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020"/>
                </a:solidFill>
              </a:defRPr>
            </a:pPr>
            <a:r>
              <a:rPr sz="1650" b="1">
                <a:solidFill>
                  <a:srgbClr val="202020"/>
                </a:solidFill>
              </a:rPr>
              <a:t>Hiện thực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4CD70-9A45-4236-B9AB-CEE76E50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480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Dùng mảng hoặc danh sách liên kết cho các thao tác cơ bản.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29D7E-B395-40BD-B40E-67BDC44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57364-2E1A-44EA-9504-35331C6B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EA5C8-205C-4C14-A0A0-C3F7C2EB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9F09B-17EF-4B18-ABF7-89EC2344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862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020"/>
                </a:solidFill>
              </a:defRPr>
            </a:pPr>
            <a:r>
              <a:rPr sz="1650" b="1">
                <a:solidFill>
                  <a:srgbClr val="202020"/>
                </a:solidFill>
              </a:rPr>
              <a:t>Áp dụng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5502F-358C-4078-A3F9-DABF43A7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Liên hệ với kiểm tra ngoặc, lịch xử lý và duyệt theo lớp.</a:t>
            </a:r>
          </a:p>
        </p:txBody>
      </p:sp>
    </p:spTree>
    <p:extLst>
      <p:ext uri="{BB962C8B-B14F-4D97-AF65-F5344CB8AC3E}">
        <p14:creationId xmlns:p14="http://schemas.microsoft.com/office/powerpoint/2010/main" val="5299413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AE3DC-C376-4ADA-B92F-84229638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376A0-B05A-4F26-B1F2-8C7064F3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6767"/>
                </a:solidFill>
              </a:defRPr>
            </a:pPr>
            <a:r>
              <a:rPr sz="825" b="1">
                <a:solidFill>
                  <a:srgbClr val="676767"/>
                </a:solidFill>
              </a:rPr>
              <a:t>ET2100  |  CẤU TRÚC DỮ LIỆU VÀ GIẢI THUẬT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17728-F1E5-4119-8627-FE11B892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BUỔI 13 · BÀI TẬP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6B185-D3CA-43C9-834E-7767E2E1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31F34"/>
                </a:solidFill>
              </a:defRPr>
            </a:pPr>
            <a:r>
              <a:rPr sz="900" b="1">
                <a:solidFill>
                  <a:srgbClr val="A31F3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9028D-18ED-441F-A90D-4251CF73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9270C-4C99-4613-A619-CC16D404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020"/>
                </a:solidFill>
              </a:defRPr>
            </a:pPr>
            <a:r>
              <a:rPr sz="2850" b="1">
                <a:solidFill>
                  <a:srgbClr val="202020"/>
                </a:solidFill>
              </a:rPr>
              <a:t>Bài tập 03: chọn đúng cấu trúc dữ liệu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84949-FDD7-4614-B0F8-359011D2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767"/>
                </a:solidFill>
              </a:defRPr>
            </a:pPr>
            <a:r>
              <a:rPr sz="1500" b="0">
                <a:solidFill>
                  <a:srgbClr val="676767"/>
                </a:solidFill>
              </a:rPr>
              <a:t>Mục tiêu: hiện thực thao tác cơ bản và giải thích vì sao lựa chọn phù hợp.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DD22D-FA90-4235-9F6E-EEFB5CE9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D3DE6-3559-44B3-86C6-34B56612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020"/>
                </a:solidFill>
              </a:defRPr>
            </a:pPr>
            <a:r>
              <a:rPr sz="1725" b="1">
                <a:solidFill>
                  <a:srgbClr val="202020"/>
                </a:solidFill>
              </a:rPr>
              <a:t>Bài 1 - Stack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4FFF5-FE28-4B94-B7F8-2071CC20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Push, pop, top và kiểm tra biểu thức ngoặc hợp lệ.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E89E4-FF63-47DF-A4AA-8175C67A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51C20-C89E-4553-A56C-1F677E97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020"/>
                </a:solidFill>
              </a:defRPr>
            </a:pPr>
            <a:r>
              <a:rPr sz="1725" b="1">
                <a:solidFill>
                  <a:srgbClr val="202020"/>
                </a:solidFill>
              </a:rPr>
              <a:t>Bài 2 -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49540-E74E-4609-96F6-BB1EE1CB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Enqueue, dequeue, front và mô phỏng hàng đợi đơn giản.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49684-DE0F-4A86-8809-B130BD7D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7A754-41B8-4C6B-8471-EB8B4E8A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020"/>
                </a:solidFill>
              </a:defRPr>
            </a:pPr>
            <a:r>
              <a:rPr sz="1725" b="1">
                <a:solidFill>
                  <a:srgbClr val="202020"/>
                </a:solidFill>
              </a:rPr>
              <a:t>Bài 3 - So sánh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30D6F-43BD-4AE2-8AE2-3E3E8F36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863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Nêu sự khác nhau giữa LIFO và FIFO bằng ví dụ cụ thể.</a:t>
            </a:r>
          </a:p>
        </p:txBody>
      </p:sp>
    </p:spTree>
    <p:extLst>
      <p:ext uri="{BB962C8B-B14F-4D97-AF65-F5344CB8AC3E}">
        <p14:creationId xmlns:p14="http://schemas.microsoft.com/office/powerpoint/2010/main" val="1899961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4C97F-BFE5-4559-A0C3-CECFD6B9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35DAB-8B56-43B8-9DAF-C960DF04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6767"/>
                </a:solidFill>
              </a:defRPr>
            </a:pPr>
            <a:r>
              <a:rPr sz="825" b="1">
                <a:solidFill>
                  <a:srgbClr val="676767"/>
                </a:solidFill>
              </a:rPr>
              <a:t>ET2100  |  CẤU TRÚC DỮ LIỆU VÀ GIẢI THUẬT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ADB7A-B9B1-43DD-8876-3C956260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BUỔI 16 · BÀI TẬP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AFEBD-CE70-43A2-AD36-E2A4775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31F34"/>
                </a:solidFill>
              </a:defRPr>
            </a:pPr>
            <a:r>
              <a:rPr sz="900" b="1">
                <a:solidFill>
                  <a:srgbClr val="A31F3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F2EA1-C340-454C-85FC-3C340E06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E8032-765D-484B-A982-D327BA24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020"/>
                </a:solidFill>
              </a:defRPr>
            </a:pPr>
            <a:r>
              <a:rPr sz="3000" b="1">
                <a:solidFill>
                  <a:srgbClr val="202020"/>
                </a:solidFill>
              </a:rPr>
              <a:t>Chuẩn bị cuối kỳ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BDA34-E6AF-4990-9825-7A6A6F59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767"/>
                </a:solidFill>
              </a:defRPr>
            </a:pPr>
            <a:r>
              <a:rPr sz="1500" b="0">
                <a:solidFill>
                  <a:srgbClr val="676767"/>
                </a:solidFill>
              </a:rPr>
              <a:t>Kết nối các cấu trúc dữ liệu đã học với cách phân tích lời giải.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228C5-1D73-4A2D-8EE8-750421F6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6424F-5613-4B68-AA30-98E69794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E0F7C-A3F4-42C3-8304-6EE429A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52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020"/>
                </a:solidFill>
              </a:defRPr>
            </a:pPr>
            <a:r>
              <a:rPr sz="1650" b="1">
                <a:solidFill>
                  <a:srgbClr val="202020"/>
                </a:solidFill>
              </a:rPr>
              <a:t>Phân loại bài toán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2C601-030F-49A4-8A16-9014DBDA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Nhận diện bài toán cần mảng, cây, stack, queue hay đồ thị.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7DB80-2D12-49F7-92E1-C5044C84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B0DF4-42C3-4E2D-8CDE-892C64AB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EE59C-21E2-40A4-9A00-3292F400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F1383-B6BF-4848-89E3-0D3B11A8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020"/>
                </a:solidFill>
              </a:defRPr>
            </a:pPr>
            <a:r>
              <a:rPr sz="1650" b="1">
                <a:solidFill>
                  <a:srgbClr val="202020"/>
                </a:solidFill>
              </a:rPr>
              <a:t>Phác thảo lời giải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DBD7E-FE32-49C2-82C8-EDD2A9FF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480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Viết giả mã trước khi hiện thực C++.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0A80C-D911-4CFA-91E2-4DAA8168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3AB90-D230-4E0F-8969-A776D4A6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FAFFC-0F85-4C70-BC0F-6CEC8C7C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9D220-44B2-4D1B-9114-F96FABC0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862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020"/>
                </a:solidFill>
              </a:defRPr>
            </a:pPr>
            <a:r>
              <a:rPr sz="1650" b="1">
                <a:solidFill>
                  <a:srgbClr val="202020"/>
                </a:solidFill>
              </a:rPr>
              <a:t>Tự kiểm tra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9C332-ECAF-480C-A03E-A7FE7B45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7"/>
                </a:solidFill>
              </a:defRPr>
            </a:pPr>
            <a:r>
              <a:rPr sz="1350" b="0">
                <a:solidFill>
                  <a:srgbClr val="676767"/>
                </a:solidFill>
              </a:rPr>
              <a:t>Đối chiếu kết quả, trường hợp biên và độ phức tạp.</a:t>
            </a:r>
          </a:p>
        </p:txBody>
      </p:sp>
    </p:spTree>
    <p:extLst>
      <p:ext uri="{BB962C8B-B14F-4D97-AF65-F5344CB8AC3E}">
        <p14:creationId xmlns:p14="http://schemas.microsoft.com/office/powerpoint/2010/main" val="5542378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BE772-BB81-4B23-8E35-630707E3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1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5B884-13D7-4967-B4A3-362E587E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6767"/>
                </a:solidFill>
              </a:defRPr>
            </a:pPr>
            <a:r>
              <a:rPr sz="825" b="1">
                <a:solidFill>
                  <a:srgbClr val="676767"/>
                </a:solidFill>
              </a:rPr>
              <a:t>ET2100  |  CẤU TRÚC DỮ LIỆU VÀ GIẢI THUẬT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9C589-01A9-4A37-9402-CFD8B277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KẾT THÚC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FC2F6-E9A5-4F73-B6C9-2FD45C01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31F34"/>
                </a:solidFill>
              </a:defRPr>
            </a:pPr>
            <a:r>
              <a:rPr sz="900" b="1">
                <a:solidFill>
                  <a:srgbClr val="A31F3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A52B4-2FAB-440E-852A-9FA9C94F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1F387-B297-4238-91D7-7EB31C20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020"/>
                </a:solidFill>
              </a:defRPr>
            </a:pPr>
            <a:r>
              <a:rPr sz="3000" b="1">
                <a:solidFill>
                  <a:srgbClr val="202020"/>
                </a:solidFill>
              </a:rPr>
              <a:t>Một lời giải tốt phải làm rõ ba điều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FB692-57F2-41A5-93A8-9946867B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33147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4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4B450-A997-4957-93CE-FDC6EF83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1F34"/>
                </a:solidFill>
              </a:defRPr>
            </a:pPr>
            <a:r>
              <a:rPr sz="1125" b="1">
                <a:solidFill>
                  <a:srgbClr val="A31F34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91ED7-EBA9-4E59-8F8F-F9A9BC5E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020"/>
                </a:solidFill>
              </a:defRPr>
            </a:pPr>
            <a:r>
              <a:rPr sz="1950" b="1">
                <a:solidFill>
                  <a:srgbClr val="202020"/>
                </a:solidFill>
              </a:rPr>
              <a:t>Dữ liệu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EEC95-CEDE-4F37-B4BA-AAC07ECD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67"/>
                </a:solidFill>
              </a:defRPr>
            </a:pPr>
            <a:r>
              <a:rPr sz="1275" b="0">
                <a:solidFill>
                  <a:srgbClr val="676767"/>
                </a:solidFill>
              </a:rPr>
              <a:t>Cấu trúc nào lưu được thông tin cần thiết?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80090-4D62-4E78-AFD4-C3C3DCF1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24150"/>
            <a:ext cx="33147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C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E5EC8-D99B-4AA0-8553-B63A6186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1F34"/>
                </a:solidFill>
              </a:defRPr>
            </a:pPr>
            <a:r>
              <a:rPr sz="1125" b="1">
                <a:solidFill>
                  <a:srgbClr val="A31F34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973E1-E1BE-41A2-B4C5-DB9CA901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020"/>
                </a:solidFill>
              </a:defRPr>
            </a:pPr>
            <a:r>
              <a:rPr sz="1950" b="1">
                <a:solidFill>
                  <a:srgbClr val="202020"/>
                </a:solidFill>
              </a:rPr>
              <a:t>Thao tác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E491F-A87B-4CA4-9758-CC47E451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243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67"/>
                </a:solidFill>
              </a:defRPr>
            </a:pPr>
            <a:r>
              <a:rPr sz="1275" b="0">
                <a:solidFill>
                  <a:srgbClr val="676767"/>
                </a:solidFill>
              </a:rPr>
              <a:t>Hàm nào thực hiện đúng yêu cầu bài toán?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AD834-B4E3-4EBA-861A-9468EDDF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3147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4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245F0-9D28-48FE-B353-45922760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31F34"/>
                </a:solidFill>
              </a:defRPr>
            </a:pPr>
            <a:r>
              <a:rPr sz="1125" b="1">
                <a:solidFill>
                  <a:srgbClr val="A31F34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34CF1-2057-436F-8CA1-EFF4B1C2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09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020"/>
                </a:solidFill>
              </a:defRPr>
            </a:pPr>
            <a:r>
              <a:rPr sz="1950" b="1">
                <a:solidFill>
                  <a:srgbClr val="202020"/>
                </a:solidFill>
              </a:rPr>
              <a:t>Độ phức tạp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453C9-5E6D-4F7C-9FEE-7E51B4DA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2430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767"/>
                </a:solidFill>
              </a:defRPr>
            </a:pPr>
            <a:r>
              <a:rPr sz="1275" b="0">
                <a:solidFill>
                  <a:srgbClr val="676767"/>
                </a:solidFill>
              </a:rPr>
              <a:t>Lời giải thay đổi ra sao khi dữ liệu lớn hơn?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FFD10-0FCB-4BAE-8970-0E53483F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31F34"/>
                </a:solidFill>
              </a:defRPr>
            </a:pPr>
            <a:r>
              <a:rPr sz="1575" b="1">
                <a:solidFill>
                  <a:srgbClr val="A31F34"/>
                </a:solidFill>
              </a:rPr>
              <a:t>Luôn chạy thử với dữ liệu nhỏ trước khi tối ưu.</a:t>
            </a:r>
          </a:p>
        </p:txBody>
      </p:sp>
    </p:spTree>
    <p:extLst>
      <p:ext uri="{BB962C8B-B14F-4D97-AF65-F5344CB8AC3E}">
        <p14:creationId xmlns:p14="http://schemas.microsoft.com/office/powerpoint/2010/main" val="2014589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2026-09-03T14:13:05.0950000Z</dcterms:created>
  <dcterms:modified xsi:type="dcterms:W3CDTF">2026-09-03T14:13:05.0950000Z</dcterms:modified>
</coreProperties>
</file>