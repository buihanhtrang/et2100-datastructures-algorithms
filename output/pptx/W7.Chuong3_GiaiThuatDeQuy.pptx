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54"/>
  </p:notesMasterIdLst>
  <p:handoutMasterIdLst>
    <p:handoutMasterId r:id="rId55"/>
  </p:handoutMasterIdLst>
  <p:sldIdLst>
    <p:sldId id="297" r:id="rId2"/>
    <p:sldId id="256" r:id="rId3"/>
    <p:sldId id="335" r:id="rId4"/>
    <p:sldId id="417" r:id="rId5"/>
    <p:sldId id="404" r:id="rId6"/>
    <p:sldId id="398" r:id="rId7"/>
    <p:sldId id="397" r:id="rId8"/>
    <p:sldId id="406" r:id="rId9"/>
    <p:sldId id="407" r:id="rId10"/>
    <p:sldId id="399" r:id="rId11"/>
    <p:sldId id="400" r:id="rId12"/>
    <p:sldId id="405" r:id="rId13"/>
    <p:sldId id="401" r:id="rId14"/>
    <p:sldId id="402" r:id="rId15"/>
    <p:sldId id="403" r:id="rId16"/>
    <p:sldId id="416" r:id="rId17"/>
    <p:sldId id="408" r:id="rId18"/>
    <p:sldId id="454" r:id="rId19"/>
    <p:sldId id="409" r:id="rId20"/>
    <p:sldId id="415" r:id="rId21"/>
    <p:sldId id="410" r:id="rId22"/>
    <p:sldId id="411" r:id="rId23"/>
    <p:sldId id="412" r:id="rId24"/>
    <p:sldId id="457" r:id="rId25"/>
    <p:sldId id="455" r:id="rId26"/>
    <p:sldId id="414" r:id="rId27"/>
    <p:sldId id="418" r:id="rId28"/>
    <p:sldId id="458" r:id="rId29"/>
    <p:sldId id="456" r:id="rId30"/>
    <p:sldId id="449" r:id="rId31"/>
    <p:sldId id="450" r:id="rId32"/>
    <p:sldId id="452" r:id="rId33"/>
    <p:sldId id="419" r:id="rId34"/>
    <p:sldId id="420" r:id="rId35"/>
    <p:sldId id="421" r:id="rId36"/>
    <p:sldId id="423" r:id="rId37"/>
    <p:sldId id="422" r:id="rId38"/>
    <p:sldId id="425" r:id="rId39"/>
    <p:sldId id="424" r:id="rId40"/>
    <p:sldId id="426" r:id="rId41"/>
    <p:sldId id="428" r:id="rId42"/>
    <p:sldId id="429" r:id="rId43"/>
    <p:sldId id="441" r:id="rId44"/>
    <p:sldId id="432" r:id="rId45"/>
    <p:sldId id="433" r:id="rId46"/>
    <p:sldId id="430" r:id="rId47"/>
    <p:sldId id="431" r:id="rId48"/>
    <p:sldId id="427" r:id="rId49"/>
    <p:sldId id="434" r:id="rId50"/>
    <p:sldId id="446" r:id="rId51"/>
    <p:sldId id="447" r:id="rId52"/>
    <p:sldId id="453" r:id="rId53"/>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66"/>
    <a:srgbClr val="00004C"/>
    <a:srgbClr val="003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5" autoAdjust="0"/>
    <p:restoredTop sz="73333" autoAdjust="0"/>
  </p:normalViewPr>
  <p:slideViewPr>
    <p:cSldViewPr>
      <p:cViewPr varScale="1">
        <p:scale>
          <a:sx n="82" d="100"/>
          <a:sy n="82" d="100"/>
        </p:scale>
        <p:origin x="1902" y="60"/>
      </p:cViewPr>
      <p:guideLst>
        <p:guide orient="horz" pos="2160"/>
        <p:guide pos="2880"/>
      </p:guideLst>
    </p:cSldViewPr>
  </p:slideViewPr>
  <p:notesTextViewPr>
    <p:cViewPr>
      <p:scale>
        <a:sx n="125" d="100"/>
        <a:sy n="125" d="100"/>
      </p:scale>
      <p:origin x="0" y="0"/>
    </p:cViewPr>
  </p:notesTextViewPr>
  <p:notesViewPr>
    <p:cSldViewPr>
      <p:cViewPr varScale="1">
        <p:scale>
          <a:sx n="67" d="100"/>
          <a:sy n="67" d="100"/>
        </p:scale>
        <p:origin x="-2784" y="-96"/>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2111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0060"/>
          </a:xfrm>
          <a:prstGeom prst="rect">
            <a:avLst/>
          </a:prstGeom>
        </p:spPr>
        <p:txBody>
          <a:bodyPr vert="horz" wrap="square" lIns="96661" tIns="48331" rIns="96661" bIns="48331" numCol="1" anchor="t" anchorCtr="0" compatLnSpc="1">
            <a:prstTxWarp prst="textNoShape">
              <a:avLst/>
            </a:prstTxWarp>
          </a:bodyPr>
          <a:lstStyle>
            <a:lvl1pPr>
              <a:defRPr sz="1300">
                <a:latin typeface="Calibri" pitchFamily="34" charset="0"/>
              </a:defRPr>
            </a:lvl1pPr>
          </a:lstStyle>
          <a:p>
            <a:endParaRPr lang="en-US"/>
          </a:p>
        </p:txBody>
      </p:sp>
      <p:sp>
        <p:nvSpPr>
          <p:cNvPr id="3" name="Date Placeholder 2"/>
          <p:cNvSpPr>
            <a:spLocks noGrp="1"/>
          </p:cNvSpPr>
          <p:nvPr>
            <p:ph type="dt" idx="1"/>
          </p:nvPr>
        </p:nvSpPr>
        <p:spPr>
          <a:xfrm>
            <a:off x="4143590" y="3"/>
            <a:ext cx="3169920" cy="480060"/>
          </a:xfrm>
          <a:prstGeom prst="rect">
            <a:avLst/>
          </a:prstGeom>
        </p:spPr>
        <p:txBody>
          <a:bodyPr vert="horz" wrap="square" lIns="96661" tIns="48331" rIns="96661" bIns="48331" numCol="1" anchor="t" anchorCtr="0" compatLnSpc="1">
            <a:prstTxWarp prst="textNoShape">
              <a:avLst/>
            </a:prstTxWarp>
          </a:bodyPr>
          <a:lstStyle>
            <a:lvl1pPr algn="r">
              <a:defRPr sz="1300">
                <a:latin typeface="Calibri" pitchFamily="34" charset="0"/>
              </a:defRPr>
            </a:lvl1pPr>
          </a:lstStyle>
          <a:p>
            <a:fld id="{5EDDA0F7-BB27-45D6-A5CE-AEC59009A5B9}" type="datetimeFigureOut">
              <a:rPr lang="en-US"/>
              <a:pPr/>
              <a:t>4/5/2024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9119474"/>
            <a:ext cx="3169920" cy="480060"/>
          </a:xfrm>
          <a:prstGeom prst="rect">
            <a:avLst/>
          </a:prstGeom>
        </p:spPr>
        <p:txBody>
          <a:bodyPr vert="horz" wrap="square" lIns="96661" tIns="48331" rIns="96661" bIns="48331" numCol="1" anchor="b" anchorCtr="0" compatLnSpc="1">
            <a:prstTxWarp prst="textNoShape">
              <a:avLst/>
            </a:prstTxWarp>
          </a:bodyPr>
          <a:lstStyle>
            <a:lvl1pPr>
              <a:defRPr sz="1300">
                <a:latin typeface="Calibri" pitchFamily="34" charset="0"/>
              </a:defRPr>
            </a:lvl1pPr>
          </a:lstStyle>
          <a:p>
            <a:endParaRPr lang="en-US"/>
          </a:p>
        </p:txBody>
      </p:sp>
      <p:sp>
        <p:nvSpPr>
          <p:cNvPr id="7" name="Slide Number Placeholder 6"/>
          <p:cNvSpPr>
            <a:spLocks noGrp="1"/>
          </p:cNvSpPr>
          <p:nvPr>
            <p:ph type="sldNum" sz="quarter" idx="5"/>
          </p:nvPr>
        </p:nvSpPr>
        <p:spPr>
          <a:xfrm>
            <a:off x="4143590" y="9119474"/>
            <a:ext cx="3169920" cy="480060"/>
          </a:xfrm>
          <a:prstGeom prst="rect">
            <a:avLst/>
          </a:prstGeom>
        </p:spPr>
        <p:txBody>
          <a:bodyPr vert="horz" wrap="square" lIns="96661" tIns="48331" rIns="96661" bIns="48331" numCol="1" anchor="b" anchorCtr="0" compatLnSpc="1">
            <a:prstTxWarp prst="textNoShape">
              <a:avLst/>
            </a:prstTxWarp>
          </a:bodyPr>
          <a:lstStyle>
            <a:lvl1pPr algn="r">
              <a:defRPr sz="1300">
                <a:latin typeface="Calibri" pitchFamily="34" charset="0"/>
              </a:defRPr>
            </a:lvl1pPr>
          </a:lstStyle>
          <a:p>
            <a:fld id="{76159C16-962D-45B7-9AE3-AA455C3EA8F0}" type="slidenum">
              <a:rPr lang="en-US"/>
              <a:pPr/>
              <a:t>‹#›</a:t>
            </a:fld>
            <a:endParaRPr lang="en-US"/>
          </a:p>
        </p:txBody>
      </p:sp>
    </p:spTree>
    <p:extLst>
      <p:ext uri="{BB962C8B-B14F-4D97-AF65-F5344CB8AC3E}">
        <p14:creationId xmlns:p14="http://schemas.microsoft.com/office/powerpoint/2010/main" val="600913562"/>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a:t>
            </a:fld>
            <a:endParaRPr lang="en-US"/>
          </a:p>
        </p:txBody>
      </p:sp>
    </p:spTree>
    <p:extLst>
      <p:ext uri="{BB962C8B-B14F-4D97-AF65-F5344CB8AC3E}">
        <p14:creationId xmlns:p14="http://schemas.microsoft.com/office/powerpoint/2010/main" val="1961691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err="1" smtClean="0"/>
              <a:t>búp</a:t>
            </a:r>
            <a:r>
              <a:rPr lang="en-US" b="0" dirty="0" smtClean="0"/>
              <a:t> </a:t>
            </a:r>
            <a:r>
              <a:rPr lang="en-US" b="0" dirty="0" err="1" smtClean="0"/>
              <a:t>bê</a:t>
            </a:r>
            <a:r>
              <a:rPr lang="en-US" b="0" dirty="0" smtClean="0"/>
              <a:t> </a:t>
            </a:r>
            <a:r>
              <a:rPr lang="en-US" b="0" dirty="0" err="1" smtClean="0"/>
              <a:t>matryoshka</a:t>
            </a:r>
            <a:endParaRPr lang="en-US" b="0"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a:t>
            </a:fld>
            <a:endParaRPr lang="en-US"/>
          </a:p>
        </p:txBody>
      </p:sp>
    </p:spTree>
    <p:extLst>
      <p:ext uri="{BB962C8B-B14F-4D97-AF65-F5344CB8AC3E}">
        <p14:creationId xmlns:p14="http://schemas.microsoft.com/office/powerpoint/2010/main" val="2466012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Quy</a:t>
            </a:r>
            <a:r>
              <a:rPr lang="en-US" dirty="0" smtClean="0"/>
              <a:t> </a:t>
            </a:r>
            <a:r>
              <a:rPr lang="en-US" dirty="0" err="1" smtClean="0"/>
              <a:t>nạp</a:t>
            </a:r>
            <a:r>
              <a:rPr lang="en-US" dirty="0" smtClean="0"/>
              <a:t>:</a:t>
            </a:r>
          </a:p>
          <a:p>
            <a:r>
              <a:rPr lang="vi-VN" dirty="0" smtClean="0"/>
              <a:t>gán tính chất hay quan hệ cho một phạm trù dựa trên các ví dụ của phạm trù đó;</a:t>
            </a:r>
            <a:endParaRPr lang="en-US" dirty="0" smtClean="0"/>
          </a:p>
          <a:p>
            <a:r>
              <a:rPr lang="vi-VN" dirty="0" smtClean="0"/>
              <a:t>hoặc phát triển định luật dựa trên một số giới hạn các quan sát của các hiện tượng lặp đi lặp lại.</a:t>
            </a:r>
            <a:endParaRPr lang="en-US" dirty="0" smtClean="0"/>
          </a:p>
          <a:p>
            <a:r>
              <a:rPr lang="vi-VN" dirty="0" smtClean="0"/>
              <a:t>Nước đá thì lạnh.</a:t>
            </a:r>
            <a:r>
              <a:rPr lang="en-US" dirty="0" smtClean="0"/>
              <a:t> =&gt; </a:t>
            </a:r>
            <a:r>
              <a:rPr lang="vi-VN" dirty="0" smtClean="0"/>
              <a:t>Tất cả nước đá đều lạnh.</a:t>
            </a:r>
            <a:endParaRPr 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vi-VN" dirty="0" smtClean="0"/>
              <a:t>Đây là tính chất khá phổ biến, như cấu trúc mảng cũng</a:t>
            </a:r>
            <a:r>
              <a:rPr lang="en-US" dirty="0" smtClean="0"/>
              <a:t> </a:t>
            </a:r>
            <a:r>
              <a:rPr lang="vi-VN" dirty="0" smtClean="0"/>
              <a:t>có tính chất đệ quy, và sau này các cấu trúc danh sách, cây, đồ thị cũng có tính chất</a:t>
            </a:r>
            <a:r>
              <a:rPr lang="en-US" dirty="0" smtClean="0"/>
              <a:t> </a:t>
            </a:r>
            <a:r>
              <a:rPr lang="vi-VN" dirty="0" smtClean="0"/>
              <a:t>đệ quy. </a:t>
            </a:r>
            <a:endParaRPr lang="en-US" dirty="0" smtClean="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6</a:t>
            </a:fld>
            <a:endParaRPr lang="en-US"/>
          </a:p>
        </p:txBody>
      </p:sp>
    </p:spTree>
    <p:extLst>
      <p:ext uri="{BB962C8B-B14F-4D97-AF65-F5344CB8AC3E}">
        <p14:creationId xmlns:p14="http://schemas.microsoft.com/office/powerpoint/2010/main" val="580948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vi-VN" dirty="0" smtClean="0"/>
              <a:t>Đây là tính chất khá phổ biến, như cấu trúc mảng cũng</a:t>
            </a:r>
            <a:r>
              <a:rPr lang="en-US" dirty="0" smtClean="0"/>
              <a:t> </a:t>
            </a:r>
            <a:r>
              <a:rPr lang="vi-VN" dirty="0" smtClean="0"/>
              <a:t>có tính chất đệ quy, và sau này các cấu trúc danh sách, cây, đồ thị cũng có tính chất</a:t>
            </a:r>
            <a:r>
              <a:rPr lang="en-US" dirty="0" smtClean="0"/>
              <a:t> </a:t>
            </a:r>
            <a:r>
              <a:rPr lang="vi-VN" dirty="0" smtClean="0"/>
              <a:t>đệ quy. </a:t>
            </a:r>
            <a:endParaRPr lang="en-US" dirty="0" smtClean="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7</a:t>
            </a:fld>
            <a:endParaRPr lang="en-US"/>
          </a:p>
        </p:txBody>
      </p:sp>
    </p:spTree>
    <p:extLst>
      <p:ext uri="{BB962C8B-B14F-4D97-AF65-F5344CB8AC3E}">
        <p14:creationId xmlns:p14="http://schemas.microsoft.com/office/powerpoint/2010/main" val="361385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smtClean="0"/>
              <a:t>Là</a:t>
            </a:r>
            <a:r>
              <a:rPr lang="en-US" baseline="0" dirty="0" smtClean="0"/>
              <a:t> </a:t>
            </a:r>
            <a:r>
              <a:rPr lang="en-US" baseline="0" dirty="0" err="1" smtClean="0"/>
              <a:t>dẫy</a:t>
            </a:r>
            <a:r>
              <a:rPr lang="en-US" baseline="0" dirty="0" smtClean="0"/>
              <a:t> </a:t>
            </a:r>
            <a:r>
              <a:rPr lang="en-US" baseline="0" dirty="0" err="1" smtClean="0"/>
              <a:t>số</a:t>
            </a:r>
            <a:r>
              <a:rPr lang="en-US" baseline="0" dirty="0" smtClean="0"/>
              <a:t> </a:t>
            </a:r>
            <a:r>
              <a:rPr lang="en-US" baseline="0" dirty="0" err="1" smtClean="0"/>
              <a:t>mà</a:t>
            </a:r>
            <a:r>
              <a:rPr lang="en-US" baseline="0" dirty="0" smtClean="0"/>
              <a:t> </a:t>
            </a:r>
            <a:r>
              <a:rPr lang="en-US" baseline="0" dirty="0" err="1" smtClean="0"/>
              <a:t>số</a:t>
            </a:r>
            <a:r>
              <a:rPr lang="en-US" baseline="0" dirty="0" smtClean="0"/>
              <a:t> </a:t>
            </a:r>
            <a:r>
              <a:rPr lang="en-US" baseline="0" dirty="0" err="1" smtClean="0"/>
              <a:t>sau</a:t>
            </a:r>
            <a:r>
              <a:rPr lang="en-US" baseline="0" dirty="0" smtClean="0"/>
              <a:t> </a:t>
            </a:r>
            <a:r>
              <a:rPr lang="en-US" baseline="0" dirty="0" err="1" smtClean="0"/>
              <a:t>đc</a:t>
            </a:r>
            <a:r>
              <a:rPr lang="en-US" baseline="0" dirty="0" smtClean="0"/>
              <a:t> </a:t>
            </a:r>
            <a:r>
              <a:rPr lang="en-US" baseline="0" dirty="0" err="1" smtClean="0"/>
              <a:t>xây</a:t>
            </a:r>
            <a:r>
              <a:rPr lang="en-US" baseline="0" dirty="0" smtClean="0"/>
              <a:t> </a:t>
            </a:r>
            <a:r>
              <a:rPr lang="en-US" baseline="0" dirty="0" err="1" smtClean="0"/>
              <a:t>dựng</a:t>
            </a:r>
            <a:r>
              <a:rPr lang="en-US" baseline="0" dirty="0" smtClean="0"/>
              <a:t> </a:t>
            </a:r>
            <a:r>
              <a:rPr lang="en-US" baseline="0" dirty="0" err="1" smtClean="0"/>
              <a:t>dựa</a:t>
            </a:r>
            <a:r>
              <a:rPr lang="en-US" baseline="0" dirty="0" smtClean="0"/>
              <a:t> </a:t>
            </a:r>
            <a:r>
              <a:rPr lang="en-US" baseline="0" dirty="0" err="1" smtClean="0"/>
              <a:t>trên</a:t>
            </a:r>
            <a:r>
              <a:rPr lang="en-US" baseline="0" dirty="0" smtClean="0"/>
              <a:t> </a:t>
            </a:r>
            <a:r>
              <a:rPr lang="en-US" baseline="0" dirty="0" err="1" smtClean="0"/>
              <a:t>tổng</a:t>
            </a:r>
            <a:r>
              <a:rPr lang="en-US" baseline="0" dirty="0" smtClean="0"/>
              <a:t> </a:t>
            </a:r>
            <a:r>
              <a:rPr lang="en-US" baseline="0" dirty="0" err="1" smtClean="0"/>
              <a:t>của</a:t>
            </a:r>
            <a:r>
              <a:rPr lang="en-US" baseline="0" dirty="0" smtClean="0"/>
              <a:t> 2 </a:t>
            </a:r>
            <a:r>
              <a:rPr lang="en-US" baseline="0" dirty="0" err="1" smtClean="0"/>
              <a:t>số</a:t>
            </a:r>
            <a:r>
              <a:rPr lang="en-US" baseline="0" dirty="0" smtClean="0"/>
              <a:t> </a:t>
            </a:r>
            <a:r>
              <a:rPr lang="en-US" baseline="0" dirty="0" err="1" smtClean="0"/>
              <a:t>trước</a:t>
            </a:r>
            <a:r>
              <a:rPr lang="en-US" baseline="0" dirty="0" smtClean="0"/>
              <a:t>. </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vi-VN" dirty="0" smtClean="0"/>
              <a:t>"nhà toán học tài ba nhất thời Trung Cổ“</a:t>
            </a:r>
            <a:r>
              <a:rPr lang="en-US" dirty="0" smtClean="0"/>
              <a:t> Fibonacci </a:t>
            </a:r>
            <a:r>
              <a:rPr lang="vi-VN" dirty="0" smtClean="0"/>
              <a:t>một nhà toán học người Ý, công bố vào năm 1202 trong cuốn sách Liber Abacci - Sách về toán đồ qua 2 bài toán: Bài toán con thỏ và bài toán số các "cụ tổ" của một ong đực. </a:t>
            </a:r>
            <a:endParaRPr lang="en-US" dirty="0" smtClean="0"/>
          </a:p>
          <a:p>
            <a:endParaRPr lang="en-US" dirty="0" smtClean="0"/>
          </a:p>
          <a:p>
            <a:r>
              <a:rPr lang="vi-VN" dirty="0" smtClean="0"/>
              <a:t>Một đôi thỏ (gồm một thỏ đực và một thỏ cái) không sinh cho đến khi chúng đủ 2 tháng tuổi. Sau khi đủ 2 tháng tuổi,</a:t>
            </a:r>
            <a:r>
              <a:rPr lang="en-US" dirty="0" smtClean="0"/>
              <a:t> m</a:t>
            </a:r>
            <a:r>
              <a:rPr lang="vi-VN" dirty="0" smtClean="0"/>
              <a:t>ỗi đôi thỏ sinh một đôi thỏ con (gồm một thỏ đực và một thỏ cái) mỗi tháng. Hỏi sau n tháng có bao nhiêu đôi thỏ, nếu đầu năm (tháng Giêng) có một đôi thỏ sơ sinh </a:t>
            </a:r>
            <a:endParaRPr lang="en-US" dirty="0" smtClean="0"/>
          </a:p>
          <a:p>
            <a:endParaRPr lang="en-US" dirty="0" smtClean="0"/>
          </a:p>
        </p:txBody>
      </p:sp>
      <p:sp>
        <p:nvSpPr>
          <p:cNvPr id="4" name="Slide Number Placeholder 3"/>
          <p:cNvSpPr>
            <a:spLocks noGrp="1"/>
          </p:cNvSpPr>
          <p:nvPr>
            <p:ph type="sldNum" sz="quarter" idx="10"/>
          </p:nvPr>
        </p:nvSpPr>
        <p:spPr/>
        <p:txBody>
          <a:bodyPr/>
          <a:lstStyle/>
          <a:p>
            <a:fld id="{76159C16-962D-45B7-9AE3-AA455C3EA8F0}" type="slidenum">
              <a:rPr lang="en-US" smtClean="0"/>
              <a:pPr/>
              <a:t>8</a:t>
            </a:fld>
            <a:endParaRPr lang="en-US"/>
          </a:p>
        </p:txBody>
      </p:sp>
    </p:spTree>
    <p:extLst>
      <p:ext uri="{BB962C8B-B14F-4D97-AF65-F5344CB8AC3E}">
        <p14:creationId xmlns:p14="http://schemas.microsoft.com/office/powerpoint/2010/main" val="1371475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Hầu</a:t>
            </a:r>
            <a:r>
              <a:rPr lang="en-US" dirty="0" smtClean="0"/>
              <a:t> </a:t>
            </a:r>
            <a:r>
              <a:rPr lang="en-US" dirty="0" err="1" smtClean="0"/>
              <a:t>hết</a:t>
            </a:r>
            <a:r>
              <a:rPr lang="en-US" dirty="0" smtClean="0"/>
              <a:t> </a:t>
            </a:r>
            <a:r>
              <a:rPr lang="en-US" dirty="0" err="1" smtClean="0"/>
              <a:t>các</a:t>
            </a:r>
            <a:r>
              <a:rPr lang="en-US" dirty="0" smtClean="0"/>
              <a:t> </a:t>
            </a:r>
            <a:r>
              <a:rPr lang="en-US" dirty="0" err="1" smtClean="0"/>
              <a:t>bông</a:t>
            </a:r>
            <a:r>
              <a:rPr lang="en-US" dirty="0" smtClean="0"/>
              <a:t> </a:t>
            </a:r>
            <a:r>
              <a:rPr lang="en-US" dirty="0" err="1" smtClean="0"/>
              <a:t>hoa</a:t>
            </a:r>
            <a:r>
              <a:rPr lang="en-US" dirty="0" smtClean="0"/>
              <a:t> </a:t>
            </a:r>
            <a:r>
              <a:rPr lang="en-US" dirty="0" err="1" smtClean="0"/>
              <a:t>có</a:t>
            </a:r>
            <a:r>
              <a:rPr lang="en-US" dirty="0" smtClean="0"/>
              <a:t> </a:t>
            </a:r>
            <a:r>
              <a:rPr lang="en-US" dirty="0" err="1" smtClean="0"/>
              <a:t>số</a:t>
            </a:r>
            <a:r>
              <a:rPr lang="en-US" dirty="0" smtClean="0"/>
              <a:t> </a:t>
            </a:r>
            <a:r>
              <a:rPr lang="en-US" dirty="0" err="1" smtClean="0"/>
              <a:t>cánh</a:t>
            </a:r>
            <a:r>
              <a:rPr lang="en-US" dirty="0" smtClean="0"/>
              <a:t> </a:t>
            </a:r>
            <a:r>
              <a:rPr lang="en-US" dirty="0" err="1" smtClean="0"/>
              <a:t>hoa</a:t>
            </a:r>
            <a:r>
              <a:rPr lang="en-US" dirty="0" smtClean="0"/>
              <a:t> </a:t>
            </a:r>
            <a:r>
              <a:rPr lang="en-US" dirty="0" err="1" smtClean="0"/>
              <a:t>là</a:t>
            </a:r>
            <a:r>
              <a:rPr lang="en-US" dirty="0" smtClean="0"/>
              <a:t> </a:t>
            </a:r>
            <a:r>
              <a:rPr lang="en-US" dirty="0" err="1" smtClean="0"/>
              <a:t>một</a:t>
            </a:r>
            <a:r>
              <a:rPr lang="en-US" dirty="0" smtClean="0"/>
              <a:t> </a:t>
            </a:r>
            <a:r>
              <a:rPr lang="en-US" dirty="0" err="1" smtClean="0"/>
              <a:t>trong</a:t>
            </a:r>
            <a:r>
              <a:rPr lang="en-US" dirty="0" smtClean="0"/>
              <a:t> </a:t>
            </a:r>
            <a:r>
              <a:rPr lang="en-US" dirty="0" err="1" smtClean="0"/>
              <a:t>các</a:t>
            </a:r>
            <a:r>
              <a:rPr lang="en-US" dirty="0" smtClean="0"/>
              <a:t> </a:t>
            </a:r>
            <a:r>
              <a:rPr lang="en-US" dirty="0" err="1" smtClean="0"/>
              <a:t>số</a:t>
            </a:r>
            <a:r>
              <a:rPr lang="en-US" dirty="0" smtClean="0"/>
              <a:t>: 3, 5, 8, 13, 21, 34, 55 </a:t>
            </a:r>
            <a:r>
              <a:rPr lang="en-US" dirty="0" err="1" smtClean="0"/>
              <a:t>hoặc</a:t>
            </a:r>
            <a:r>
              <a:rPr lang="en-US" dirty="0" smtClean="0"/>
              <a:t> 89.</a:t>
            </a:r>
            <a:r>
              <a:rPr lang="vi-VN" dirty="0" smtClean="0"/>
              <a:t> </a:t>
            </a:r>
            <a:endParaRPr lang="en-US" dirty="0" smtClean="0"/>
          </a:p>
          <a:p>
            <a:r>
              <a:rPr lang="vi-VN" dirty="0" smtClean="0"/>
              <a:t>Cụ thể trong hoa hướng dương, những nụ nhỏ được xếp thành 2 tập hợp các đường xoắn ốc: một tập cuộn theo chiều kim đồng hồ, một ngược theo chiều kim đồng hồ. </a:t>
            </a:r>
            <a:endParaRPr lang="en-US" dirty="0" smtClean="0"/>
          </a:p>
          <a:p>
            <a:r>
              <a:rPr lang="vi-VN" dirty="0" smtClean="0"/>
              <a:t>Số các đường xoắn ốc hướng thuận chiều kim đồng hồ thường là 34 còn ngược chiều kim đồng hồ là 55. Đôi khi các số này là 55 và 89, và thậm chí là 89 và 144. </a:t>
            </a:r>
            <a:endParaRPr lang="en-US" dirty="0" smtClean="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9</a:t>
            </a:fld>
            <a:endParaRPr lang="en-US"/>
          </a:p>
        </p:txBody>
      </p:sp>
    </p:spTree>
    <p:extLst>
      <p:ext uri="{BB962C8B-B14F-4D97-AF65-F5344CB8AC3E}">
        <p14:creationId xmlns:p14="http://schemas.microsoft.com/office/powerpoint/2010/main" val="3872374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10</a:t>
            </a:fld>
            <a:endParaRPr lang="en-US"/>
          </a:p>
        </p:txBody>
      </p:sp>
    </p:spTree>
    <p:extLst>
      <p:ext uri="{BB962C8B-B14F-4D97-AF65-F5344CB8AC3E}">
        <p14:creationId xmlns:p14="http://schemas.microsoft.com/office/powerpoint/2010/main" val="1476885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11</a:t>
            </a:fld>
            <a:endParaRPr lang="en-US"/>
          </a:p>
        </p:txBody>
      </p:sp>
    </p:spTree>
    <p:extLst>
      <p:ext uri="{BB962C8B-B14F-4D97-AF65-F5344CB8AC3E}">
        <p14:creationId xmlns:p14="http://schemas.microsoft.com/office/powerpoint/2010/main" val="3085069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12</a:t>
            </a:fld>
            <a:endParaRPr lang="en-US"/>
          </a:p>
        </p:txBody>
      </p:sp>
    </p:spTree>
    <p:extLst>
      <p:ext uri="{BB962C8B-B14F-4D97-AF65-F5344CB8AC3E}">
        <p14:creationId xmlns:p14="http://schemas.microsoft.com/office/powerpoint/2010/main" val="1524495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các thông số mà độ lớn của chúng đặc</a:t>
            </a:r>
            <a:r>
              <a:rPr lang="en-US" dirty="0" smtClean="0"/>
              <a:t> </a:t>
            </a:r>
            <a:r>
              <a:rPr lang="vi-VN" dirty="0" smtClean="0"/>
              <a:t>trưng cho độ phức tạp của bài toán , và giảm đi qua mỗi lần gọi đệ</a:t>
            </a:r>
            <a:r>
              <a:rPr lang="en-US" dirty="0" smtClean="0"/>
              <a:t> </a:t>
            </a:r>
            <a:r>
              <a:rPr lang="vi-VN" dirty="0" smtClean="0"/>
              <a:t>quy.</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18</a:t>
            </a:fld>
            <a:endParaRPr lang="en-US"/>
          </a:p>
        </p:txBody>
      </p:sp>
    </p:spTree>
    <p:extLst>
      <p:ext uri="{BB962C8B-B14F-4D97-AF65-F5344CB8AC3E}">
        <p14:creationId xmlns:p14="http://schemas.microsoft.com/office/powerpoint/2010/main" val="850159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Vì bài toán này, mỗi bước chạy đệ quy sẽ gọi đến 2 đệ quy nhỏ hơn, do đó Big(O) về time sẽ là O(2^n). Điều này biểu thị một độ phức tạp rất lớn, đặc biệt khi n tăng lên.</a:t>
            </a:r>
            <a:r>
              <a:rPr lang="en-US" dirty="0" smtClean="0"/>
              <a:t> </a:t>
            </a:r>
          </a:p>
          <a:p>
            <a:r>
              <a:rPr lang="en-US" dirty="0" err="1" smtClean="0"/>
              <a:t>Có</a:t>
            </a:r>
            <a:r>
              <a:rPr lang="en-US" baseline="0" dirty="0" smtClean="0"/>
              <a:t> </a:t>
            </a:r>
            <a:r>
              <a:rPr lang="en-US" baseline="0" dirty="0" err="1" smtClean="0"/>
              <a:t>thể</a:t>
            </a:r>
            <a:r>
              <a:rPr lang="en-US" baseline="0" dirty="0" smtClean="0"/>
              <a:t> </a:t>
            </a:r>
            <a:r>
              <a:rPr lang="en-US" baseline="0" dirty="0" err="1" smtClean="0"/>
              <a:t>lưu</a:t>
            </a:r>
            <a:r>
              <a:rPr lang="en-US" baseline="0" dirty="0" smtClean="0"/>
              <a:t> </a:t>
            </a:r>
            <a:r>
              <a:rPr lang="en-US" baseline="0" dirty="0" err="1" smtClean="0"/>
              <a:t>lại</a:t>
            </a:r>
            <a:r>
              <a:rPr lang="en-US" baseline="0" dirty="0" smtClean="0"/>
              <a:t> </a:t>
            </a:r>
            <a:r>
              <a:rPr lang="en-US" baseline="0" dirty="0" err="1" smtClean="0"/>
              <a:t>giá</a:t>
            </a:r>
            <a:r>
              <a:rPr lang="en-US" baseline="0" dirty="0" smtClean="0"/>
              <a:t> </a:t>
            </a:r>
            <a:r>
              <a:rPr lang="en-US" baseline="0" dirty="0" err="1" smtClean="0"/>
              <a:t>trị</a:t>
            </a:r>
            <a:r>
              <a:rPr lang="en-US" baseline="0" dirty="0" smtClean="0"/>
              <a:t> </a:t>
            </a:r>
            <a:r>
              <a:rPr lang="en-US" baseline="0" dirty="0" err="1" smtClean="0"/>
              <a:t>đã</a:t>
            </a:r>
            <a:r>
              <a:rPr lang="en-US" baseline="0" dirty="0" smtClean="0"/>
              <a:t> </a:t>
            </a:r>
            <a:r>
              <a:rPr lang="en-US" baseline="0" dirty="0" err="1" smtClean="0"/>
              <a:t>tính</a:t>
            </a:r>
            <a:r>
              <a:rPr lang="en-US" baseline="0" dirty="0" smtClean="0"/>
              <a:t> </a:t>
            </a:r>
            <a:r>
              <a:rPr lang="en-US" baseline="0" dirty="0" err="1" smtClean="0"/>
              <a:t>toán</a:t>
            </a:r>
            <a:r>
              <a:rPr lang="en-US" baseline="0" dirty="0" smtClean="0"/>
              <a:t> </a:t>
            </a:r>
            <a:r>
              <a:rPr lang="en-US" baseline="0" dirty="0" err="1" smtClean="0"/>
              <a:t>trước</a:t>
            </a:r>
            <a:r>
              <a:rPr lang="en-US" baseline="0" dirty="0" smtClean="0"/>
              <a:t> </a:t>
            </a:r>
            <a:r>
              <a:rPr lang="en-US" baseline="0" dirty="0" err="1" smtClean="0"/>
              <a:t>đó</a:t>
            </a:r>
            <a:r>
              <a:rPr lang="en-US" baseline="0" dirty="0" smtClean="0"/>
              <a:t> </a:t>
            </a:r>
            <a:r>
              <a:rPr lang="en-US" baseline="0" dirty="0" err="1" smtClean="0"/>
              <a:t>để</a:t>
            </a:r>
            <a:r>
              <a:rPr lang="en-US" baseline="0" dirty="0" smtClean="0"/>
              <a:t> </a:t>
            </a:r>
            <a:r>
              <a:rPr lang="en-US" baseline="0" dirty="0" err="1" smtClean="0"/>
              <a:t>giảm</a:t>
            </a:r>
            <a:r>
              <a:rPr lang="en-US" baseline="0" dirty="0" smtClean="0"/>
              <a:t> </a:t>
            </a:r>
            <a:r>
              <a:rPr lang="en-US" baseline="0" dirty="0" err="1" smtClean="0"/>
              <a:t>độ</a:t>
            </a:r>
            <a:r>
              <a:rPr lang="en-US" baseline="0" dirty="0" smtClean="0"/>
              <a:t> </a:t>
            </a:r>
            <a:r>
              <a:rPr lang="en-US" baseline="0" dirty="0" err="1" smtClean="0"/>
              <a:t>phức</a:t>
            </a:r>
            <a:r>
              <a:rPr lang="en-US" baseline="0" dirty="0" smtClean="0"/>
              <a:t> </a:t>
            </a:r>
            <a:r>
              <a:rPr lang="en-US" baseline="0" dirty="0" err="1" smtClean="0"/>
              <a:t>tạp</a:t>
            </a:r>
            <a:r>
              <a:rPr lang="en-US" baseline="0" dirty="0" smtClean="0"/>
              <a:t> </a:t>
            </a:r>
            <a:r>
              <a:rPr lang="en-US" baseline="0" dirty="0" err="1" smtClean="0"/>
              <a:t>giải</a:t>
            </a:r>
            <a:r>
              <a:rPr lang="en-US" baseline="0" dirty="0" smtClean="0"/>
              <a:t> </a:t>
            </a:r>
            <a:r>
              <a:rPr lang="en-US" baseline="0" dirty="0" err="1" smtClean="0"/>
              <a:t>thuật</a:t>
            </a:r>
            <a:r>
              <a:rPr lang="en-US" baseline="0" dirty="0" smtClean="0"/>
              <a:t>: Fibonacci –  </a:t>
            </a:r>
            <a:r>
              <a:rPr lang="en-US" baseline="0" dirty="0" err="1" smtClean="0"/>
              <a:t>Memoization</a:t>
            </a:r>
            <a:endParaRPr lang="en-US" baseline="0" dirty="0" smtClean="0"/>
          </a:p>
          <a:p>
            <a:endParaRPr lang="en-US" baseline="0" dirty="0" smtClean="0"/>
          </a:p>
          <a:p>
            <a:r>
              <a:rPr lang="vi-VN" dirty="0" smtClean="0"/>
              <a:t>func fibonacci(n int, memo map[int]int) int { // base case if n == 0 { return 0 } if n == 1 { return 1 } // Kiểm tra xem giá trị đã được tính toán và lưu trong memo chưa if val, exists := memo[n]; exists { return val } // Tính toán và lưu kết quả vào memo memo[n] = fibonacci(n-1, memo) + fibonacci(n-2, memo) return memo[n] } func main() { memo := make(map[int]int) fmt.Println(fibonacci(5, memo)) }</a:t>
            </a:r>
            <a:endParaRPr lang="en-US" dirty="0" smtClean="0"/>
          </a:p>
          <a:p>
            <a:r>
              <a:rPr lang="en-US" dirty="0" err="1" smtClean="0"/>
              <a:t>Khi</a:t>
            </a:r>
            <a:r>
              <a:rPr lang="en-US" dirty="0" smtClean="0"/>
              <a:t> </a:t>
            </a:r>
            <a:r>
              <a:rPr lang="en-US" dirty="0" err="1" smtClean="0"/>
              <a:t>đó</a:t>
            </a:r>
            <a:r>
              <a:rPr lang="en-US" baseline="0" dirty="0" smtClean="0"/>
              <a:t> </a:t>
            </a:r>
            <a:r>
              <a:rPr lang="vi-VN" dirty="0" smtClean="0"/>
              <a:t>mỗi bước chạy đệ quy sẽ gọi duy nhất một lần do đó Big(O) về time sẽ là O(n)</a:t>
            </a:r>
            <a:endParaRPr lang="en-US" dirty="0" smtClean="0"/>
          </a:p>
          <a:p>
            <a:endParaRPr lang="en-US" dirty="0" smtClean="0"/>
          </a:p>
          <a:p>
            <a:r>
              <a:rPr lang="en-US" dirty="0" smtClean="0"/>
              <a:t>https://200lab.io/blog/de-quy-la-gi/</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20</a:t>
            </a:fld>
            <a:endParaRPr lang="en-US"/>
          </a:p>
        </p:txBody>
      </p:sp>
    </p:spTree>
    <p:extLst>
      <p:ext uri="{BB962C8B-B14F-4D97-AF65-F5344CB8AC3E}">
        <p14:creationId xmlns:p14="http://schemas.microsoft.com/office/powerpoint/2010/main" val="245479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en-US" dirty="0" smtClean="0">
                <a:cs typeface="Times New Roman" panose="02020603050405020304" pitchFamily="18" charset="0"/>
              </a:rPr>
              <a:t>tail recursive: if no operations are pending to be performed when the recursive function returns to its caller. (</a:t>
            </a:r>
            <a:r>
              <a:rPr lang="en-US" altLang="en-US" dirty="0" err="1" smtClean="0">
                <a:cs typeface="Times New Roman" panose="02020603050405020304" pitchFamily="18" charset="0"/>
              </a:rPr>
              <a:t>đến</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cuối</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cùng</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rồi</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đến</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đuôi</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rồi</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và</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ko</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cần</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thực</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hiện</a:t>
            </a:r>
            <a:r>
              <a:rPr lang="en-US" altLang="en-US" baseline="0" dirty="0" smtClean="0">
                <a:cs typeface="Times New Roman" panose="02020603050405020304" pitchFamily="18" charset="0"/>
              </a:rPr>
              <a:t> </a:t>
            </a:r>
            <a:r>
              <a:rPr lang="en-US" altLang="en-US" baseline="0" dirty="0" err="1" smtClean="0">
                <a:cs typeface="Times New Roman" panose="02020603050405020304" pitchFamily="18" charset="0"/>
              </a:rPr>
              <a:t>thêm</a:t>
            </a:r>
            <a:r>
              <a:rPr lang="en-US" altLang="en-US" baseline="0" dirty="0" smtClean="0">
                <a:cs typeface="Times New Roman" panose="02020603050405020304" pitchFamily="18" charset="0"/>
              </a:rPr>
              <a:t> operation </a:t>
            </a:r>
            <a:r>
              <a:rPr lang="en-US" altLang="en-US" baseline="0" dirty="0" err="1" smtClean="0">
                <a:cs typeface="Times New Roman" panose="02020603050405020304" pitchFamily="18" charset="0"/>
              </a:rPr>
              <a:t>nào</a:t>
            </a:r>
            <a:r>
              <a:rPr lang="en-US" altLang="en-US" dirty="0" smtClean="0">
                <a:cs typeface="Times New Roman" panose="02020603050405020304" pitchFamily="18" charset="0"/>
              </a:rPr>
              <a:t>)</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en-US" altLang="en-US" dirty="0" smtClean="0">
              <a:cs typeface="Times New Roman" panose="02020603050405020304" pitchFamily="18" charset="0"/>
            </a:endParaRPr>
          </a:p>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en-US" dirty="0" smtClean="0">
                <a:cs typeface="Times New Roman" panose="02020603050405020304" pitchFamily="18" charset="0"/>
              </a:rPr>
              <a:t>In a </a:t>
            </a:r>
            <a:r>
              <a:rPr lang="en-US" altLang="en-US" b="1" dirty="0" smtClean="0">
                <a:cs typeface="Times New Roman" panose="02020603050405020304" pitchFamily="18" charset="0"/>
              </a:rPr>
              <a:t>non-tail</a:t>
            </a:r>
            <a:r>
              <a:rPr lang="en-US" altLang="en-US" dirty="0" smtClean="0">
                <a:cs typeface="Times New Roman" panose="02020603050405020304" pitchFamily="18" charset="0"/>
              </a:rPr>
              <a:t> recursive function, information about each pending operation must be stored, so the amount of information directly depends on the number of calls.</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en-US" altLang="en-US" dirty="0" smtClean="0">
              <a:cs typeface="Times New Roman" panose="02020603050405020304" pitchFamily="18" charset="0"/>
            </a:endParaRPr>
          </a:p>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en-US" dirty="0" err="1" smtClean="0">
                <a:cs typeface="Times New Roman" panose="02020603050405020304" pitchFamily="18" charset="0"/>
              </a:rPr>
              <a:t>Đệ</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quy</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tuyến</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tính</a:t>
            </a:r>
            <a:r>
              <a:rPr lang="en-US" altLang="en-US" dirty="0" smtClean="0">
                <a:cs typeface="Times New Roman" panose="02020603050405020304" pitchFamily="18" charset="0"/>
              </a:rPr>
              <a:t> </a:t>
            </a:r>
            <a:r>
              <a:rPr lang="en-US" altLang="en-US" i="1" dirty="0" smtClean="0">
                <a:cs typeface="Times New Roman" panose="02020603050405020304" pitchFamily="18" charset="0"/>
              </a:rPr>
              <a:t>(linear recursion): Fact </a:t>
            </a:r>
            <a:r>
              <a:rPr lang="en-US" altLang="en-US" i="1" dirty="0" err="1" smtClean="0">
                <a:cs typeface="Times New Roman" panose="02020603050405020304" pitchFamily="18" charset="0"/>
              </a:rPr>
              <a:t>số</a:t>
            </a:r>
            <a:r>
              <a:rPr lang="en-US" altLang="en-US" i="1" baseline="0" dirty="0" smtClean="0">
                <a:cs typeface="Times New Roman" panose="02020603050405020304" pitchFamily="18" charset="0"/>
              </a:rPr>
              <a:t> </a:t>
            </a:r>
            <a:r>
              <a:rPr lang="en-US" altLang="en-US" i="1" baseline="0" dirty="0" err="1" smtClean="0">
                <a:cs typeface="Times New Roman" panose="02020603050405020304" pitchFamily="18" charset="0"/>
              </a:rPr>
              <a:t>giai</a:t>
            </a:r>
            <a:r>
              <a:rPr lang="en-US" altLang="en-US" i="1" baseline="0" dirty="0" smtClean="0">
                <a:cs typeface="Times New Roman" panose="02020603050405020304" pitchFamily="18" charset="0"/>
              </a:rPr>
              <a:t> </a:t>
            </a:r>
            <a:r>
              <a:rPr lang="en-US" altLang="en-US" i="1" baseline="0" dirty="0" err="1" smtClean="0">
                <a:cs typeface="Times New Roman" panose="02020603050405020304" pitchFamily="18" charset="0"/>
              </a:rPr>
              <a:t>thừa</a:t>
            </a:r>
            <a:r>
              <a:rPr lang="en-US" altLang="en-US" dirty="0" smtClean="0">
                <a:cs typeface="Times New Roman" panose="02020603050405020304" pitchFamily="18" charset="0"/>
              </a:rPr>
              <a:t/>
            </a:r>
            <a:br>
              <a:rPr lang="en-US" altLang="en-US" dirty="0" smtClean="0">
                <a:cs typeface="Times New Roman" panose="02020603050405020304" pitchFamily="18" charset="0"/>
              </a:rPr>
            </a:br>
            <a:r>
              <a:rPr lang="en-US" altLang="en-US" dirty="0" smtClean="0">
                <a:cs typeface="Times New Roman" panose="02020603050405020304" pitchFamily="18" charset="0"/>
              </a:rPr>
              <a:t>vs. </a:t>
            </a:r>
            <a:r>
              <a:rPr lang="en-US" altLang="en-US" dirty="0" err="1" smtClean="0">
                <a:cs typeface="Times New Roman" panose="02020603050405020304" pitchFamily="18" charset="0"/>
              </a:rPr>
              <a:t>đệ</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quy</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dạng</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cây</a:t>
            </a:r>
            <a:r>
              <a:rPr lang="en-US" altLang="en-US" dirty="0" smtClean="0">
                <a:cs typeface="Times New Roman" panose="02020603050405020304" pitchFamily="18" charset="0"/>
              </a:rPr>
              <a:t> (</a:t>
            </a:r>
            <a:r>
              <a:rPr lang="en-US" altLang="en-US" i="1" dirty="0" smtClean="0">
                <a:cs typeface="Times New Roman" panose="02020603050405020304" pitchFamily="18" charset="0"/>
              </a:rPr>
              <a:t>tree recursion): Fibonacci</a:t>
            </a:r>
            <a:endParaRPr lang="en-US" altLang="en-US" dirty="0" smtClean="0">
              <a:cs typeface="Times New Roman" panose="02020603050405020304" pitchFamily="18" charset="0"/>
            </a:endParaRPr>
          </a:p>
          <a:p>
            <a:r>
              <a:rPr lang="en-US" altLang="en-US" sz="1200" dirty="0" err="1" smtClean="0">
                <a:cs typeface="Times New Roman" panose="02020603050405020304" pitchFamily="18" charset="0"/>
              </a:rPr>
              <a:t>đệ</a:t>
            </a:r>
            <a:r>
              <a:rPr lang="en-US" altLang="en-US" sz="1200" dirty="0" smtClean="0">
                <a:cs typeface="Times New Roman" panose="02020603050405020304" pitchFamily="18" charset="0"/>
              </a:rPr>
              <a:t> </a:t>
            </a:r>
            <a:r>
              <a:rPr lang="en-US" altLang="en-US" sz="1200" dirty="0" err="1" smtClean="0">
                <a:cs typeface="Times New Roman" panose="02020603050405020304" pitchFamily="18" charset="0"/>
              </a:rPr>
              <a:t>quy</a:t>
            </a:r>
            <a:r>
              <a:rPr lang="en-US" altLang="en-US" sz="1200" dirty="0" smtClean="0">
                <a:cs typeface="Times New Roman" panose="02020603050405020304" pitchFamily="18" charset="0"/>
              </a:rPr>
              <a:t> </a:t>
            </a:r>
            <a:r>
              <a:rPr lang="en-US" altLang="en-US" sz="1200" dirty="0" err="1" smtClean="0">
                <a:cs typeface="Times New Roman" panose="02020603050405020304" pitchFamily="18" charset="0"/>
              </a:rPr>
              <a:t>lồng</a:t>
            </a:r>
            <a:r>
              <a:rPr lang="en-US" altLang="en-US" sz="1200" dirty="0" smtClean="0">
                <a:cs typeface="Times New Roman" panose="02020603050405020304" pitchFamily="18" charset="0"/>
              </a:rPr>
              <a:t> (nested recursion) </a:t>
            </a:r>
            <a:r>
              <a:rPr lang="en-US" dirty="0" smtClean="0"/>
              <a:t>https://en.wikipedia.org/wiki/Ackermann_function</a:t>
            </a:r>
          </a:p>
          <a:p>
            <a:endParaRPr 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err="1" smtClean="0"/>
              <a:t>Phân</a:t>
            </a:r>
            <a:r>
              <a:rPr lang="en-US" b="0" dirty="0" smtClean="0"/>
              <a:t> </a:t>
            </a:r>
            <a:r>
              <a:rPr lang="en-US" b="0" dirty="0" err="1" smtClean="0"/>
              <a:t>tích</a:t>
            </a:r>
            <a:r>
              <a:rPr lang="en-US" b="0" dirty="0" smtClean="0"/>
              <a:t> </a:t>
            </a:r>
            <a:r>
              <a:rPr lang="en-US" b="0" dirty="0" err="1" smtClean="0"/>
              <a:t>BigO</a:t>
            </a:r>
            <a:endParaRPr lang="en-US" b="0" dirty="0" smtClean="0"/>
          </a:p>
          <a:p>
            <a:r>
              <a:rPr lang="en-US" b="0" dirty="0" err="1" smtClean="0"/>
              <a:t>Đệ</a:t>
            </a:r>
            <a:r>
              <a:rPr lang="en-US" b="0" baseline="0" dirty="0" smtClean="0"/>
              <a:t> </a:t>
            </a:r>
            <a:r>
              <a:rPr lang="en-US" b="0" baseline="0" dirty="0" err="1" smtClean="0"/>
              <a:t>quy</a:t>
            </a:r>
            <a:r>
              <a:rPr lang="en-US" b="0" baseline="0" dirty="0" smtClean="0"/>
              <a:t> </a:t>
            </a:r>
            <a:r>
              <a:rPr lang="en-US" b="0" baseline="0" dirty="0" err="1" smtClean="0"/>
              <a:t>tuyến</a:t>
            </a:r>
            <a:r>
              <a:rPr lang="en-US" b="0" baseline="0" dirty="0" smtClean="0"/>
              <a:t> </a:t>
            </a:r>
            <a:r>
              <a:rPr lang="en-US" b="0" baseline="0" dirty="0" err="1" smtClean="0"/>
              <a:t>tính</a:t>
            </a:r>
            <a:r>
              <a:rPr lang="en-US" b="0" baseline="0" dirty="0" smtClean="0"/>
              <a:t>: </a:t>
            </a:r>
            <a:r>
              <a:rPr lang="vi-VN" b="0" dirty="0" smtClean="0"/>
              <a:t>Space Complexity: Trong đệ quy tuyến tính, độ phức tạp không gian (space complexity) thường là O(n) vì có n lời gọi hàm được lưu trữ trên stack</a:t>
            </a:r>
            <a:r>
              <a:rPr lang="en-US" b="0" dirty="0" smtClean="0"/>
              <a:t>,</a:t>
            </a:r>
            <a:r>
              <a:rPr lang="en-US" b="0" baseline="0" dirty="0" smtClean="0"/>
              <a:t> </a:t>
            </a:r>
            <a:r>
              <a:rPr lang="vi-VN" b="0" dirty="0" smtClean="0"/>
              <a:t>Time Complexity: </a:t>
            </a:r>
            <a:r>
              <a:rPr lang="vi-VN" dirty="0" smtClean="0"/>
              <a:t>Độ phức tạp thời gian (time complexity) cũng là O(n) vì mỗi lần đệ quy, độ phức tạp về tính toán sẽ giảm đi một lượng cố định.</a:t>
            </a:r>
            <a:endParaRPr lang="en-US" dirty="0" smtClean="0"/>
          </a:p>
          <a:p>
            <a:endParaRPr lang="en-US" dirty="0" smtClean="0"/>
          </a:p>
          <a:p>
            <a:r>
              <a:rPr lang="en-US" dirty="0" err="1" smtClean="0"/>
              <a:t>Đệ</a:t>
            </a:r>
            <a:r>
              <a:rPr lang="en-US" baseline="0" dirty="0" smtClean="0"/>
              <a:t> </a:t>
            </a:r>
            <a:r>
              <a:rPr lang="en-US" baseline="0" dirty="0" err="1" smtClean="0"/>
              <a:t>quy</a:t>
            </a:r>
            <a:r>
              <a:rPr lang="en-US" baseline="0" dirty="0" smtClean="0"/>
              <a:t> </a:t>
            </a:r>
            <a:r>
              <a:rPr lang="en-US" baseline="0" dirty="0" err="1" smtClean="0"/>
              <a:t>nhị</a:t>
            </a:r>
            <a:r>
              <a:rPr lang="en-US" baseline="0" dirty="0" smtClean="0"/>
              <a:t> </a:t>
            </a:r>
            <a:r>
              <a:rPr lang="en-US" baseline="0" dirty="0" err="1" smtClean="0"/>
              <a:t>phân</a:t>
            </a:r>
            <a:r>
              <a:rPr lang="en-US" baseline="0" dirty="0" smtClean="0"/>
              <a:t>: </a:t>
            </a:r>
            <a:r>
              <a:rPr lang="vi-VN" dirty="0" smtClean="0"/>
              <a:t>Phần của hàm nơi nó gọi lại chính nó, nhưng không chỉ một, mà là hai lần,</a:t>
            </a:r>
            <a:r>
              <a:rPr lang="en-US" dirty="0" smtClean="0"/>
              <a:t> Đ</a:t>
            </a:r>
            <a:r>
              <a:rPr lang="vi-VN" dirty="0" smtClean="0"/>
              <a:t>ộ phức tạp không gian (space complexity) thường là O(n), do kiểu đệ quy này lưu trữ một thông tin dưới dạng cây nhị phân</a:t>
            </a:r>
            <a:r>
              <a:rPr lang="en-US" dirty="0" smtClean="0"/>
              <a:t>.</a:t>
            </a:r>
            <a:r>
              <a:rPr lang="vi-VN" dirty="0" smtClean="0"/>
              <a:t> Độ phức tạp thời gian là O(2^n), biểu diễn cho số lượng lời gọi hàm tổng cộng mà ở đây là hai lần. Xin lưu ý rằng time complexity trên là </a:t>
            </a:r>
            <a:r>
              <a:rPr lang="vi-VN" b="0" dirty="0" smtClean="0"/>
              <a:t>cực kỳ lớn</a:t>
            </a:r>
            <a:endParaRPr lang="en-US" b="0" dirty="0" smtClean="0"/>
          </a:p>
          <a:p>
            <a:endParaRPr lang="en-US" b="1" dirty="0" smtClean="0"/>
          </a:p>
          <a:p>
            <a:r>
              <a:rPr lang="en-US" b="0" dirty="0" err="1" smtClean="0"/>
              <a:t>Đệ</a:t>
            </a:r>
            <a:r>
              <a:rPr lang="en-US" b="0" dirty="0" smtClean="0"/>
              <a:t> </a:t>
            </a:r>
            <a:r>
              <a:rPr lang="en-US" b="0" dirty="0" err="1" smtClean="0"/>
              <a:t>quy</a:t>
            </a:r>
            <a:r>
              <a:rPr lang="en-US" b="0" dirty="0" smtClean="0"/>
              <a:t> phi </a:t>
            </a:r>
            <a:r>
              <a:rPr lang="en-US" b="0" dirty="0" err="1" smtClean="0"/>
              <a:t>tuyến</a:t>
            </a:r>
            <a:r>
              <a:rPr lang="en-US" b="0" dirty="0" smtClean="0"/>
              <a:t>,</a:t>
            </a:r>
            <a:r>
              <a:rPr lang="en-US" b="0" baseline="0" dirty="0" smtClean="0"/>
              <a:t> </a:t>
            </a:r>
            <a:r>
              <a:rPr lang="en-US" b="0" baseline="0" dirty="0" err="1" smtClean="0"/>
              <a:t>đệ</a:t>
            </a:r>
            <a:r>
              <a:rPr lang="en-US" b="0" baseline="0" dirty="0" smtClean="0"/>
              <a:t> </a:t>
            </a:r>
            <a:r>
              <a:rPr lang="en-US" b="0" baseline="0" dirty="0" err="1" smtClean="0"/>
              <a:t>quy</a:t>
            </a:r>
            <a:r>
              <a:rPr lang="en-US" b="0" baseline="0" dirty="0" smtClean="0"/>
              <a:t> </a:t>
            </a:r>
            <a:r>
              <a:rPr lang="en-US" b="0" baseline="0" dirty="0" err="1" smtClean="0"/>
              <a:t>lồng</a:t>
            </a:r>
            <a:r>
              <a:rPr lang="en-US" b="0" baseline="0" dirty="0" smtClean="0"/>
              <a:t>: </a:t>
            </a:r>
            <a:r>
              <a:rPr lang="en-US" b="1" dirty="0" err="1" smtClean="0"/>
              <a:t>số</a:t>
            </a:r>
            <a:r>
              <a:rPr lang="en-US" b="1" dirty="0" smtClean="0"/>
              <a:t> </a:t>
            </a:r>
            <a:r>
              <a:rPr lang="en-US" b="1" dirty="0" err="1" smtClean="0"/>
              <a:t>lần</a:t>
            </a:r>
            <a:r>
              <a:rPr lang="en-US" b="1" dirty="0" smtClean="0"/>
              <a:t> </a:t>
            </a:r>
            <a:r>
              <a:rPr lang="en-US" b="1" dirty="0" err="1" smtClean="0"/>
              <a:t>một</a:t>
            </a:r>
            <a:r>
              <a:rPr lang="en-US" b="1" dirty="0" smtClean="0"/>
              <a:t> </a:t>
            </a:r>
            <a:r>
              <a:rPr lang="en-US" b="1" dirty="0" err="1" smtClean="0"/>
              <a:t>hàm</a:t>
            </a:r>
            <a:r>
              <a:rPr lang="en-US" b="1" dirty="0" smtClean="0"/>
              <a:t> </a:t>
            </a:r>
            <a:r>
              <a:rPr lang="en-US" b="1" dirty="0" err="1" smtClean="0"/>
              <a:t>gọi</a:t>
            </a:r>
            <a:r>
              <a:rPr lang="en-US" b="1" dirty="0" smtClean="0"/>
              <a:t> </a:t>
            </a:r>
            <a:r>
              <a:rPr lang="en-US" b="1" dirty="0" err="1" smtClean="0"/>
              <a:t>lại</a:t>
            </a:r>
            <a:r>
              <a:rPr lang="en-US" b="1" dirty="0" smtClean="0"/>
              <a:t> </a:t>
            </a:r>
            <a:r>
              <a:rPr lang="en-US" b="1" dirty="0" err="1" smtClean="0"/>
              <a:t>chính</a:t>
            </a:r>
            <a:r>
              <a:rPr lang="en-US" b="1" dirty="0" smtClean="0"/>
              <a:t> </a:t>
            </a:r>
            <a:r>
              <a:rPr lang="en-US" b="1" dirty="0" err="1" smtClean="0"/>
              <a:t>nó</a:t>
            </a:r>
            <a:r>
              <a:rPr lang="en-US" b="1" dirty="0" smtClean="0"/>
              <a:t> </a:t>
            </a:r>
            <a:r>
              <a:rPr lang="en-US" b="1" dirty="0" err="1" smtClean="0"/>
              <a:t>có</a:t>
            </a:r>
            <a:r>
              <a:rPr lang="en-US" b="1" dirty="0" smtClean="0"/>
              <a:t> </a:t>
            </a:r>
            <a:r>
              <a:rPr lang="en-US" b="1" dirty="0" err="1" smtClean="0"/>
              <a:t>thể</a:t>
            </a:r>
            <a:r>
              <a:rPr lang="en-US" b="1" dirty="0" smtClean="0"/>
              <a:t> </a:t>
            </a:r>
            <a:r>
              <a:rPr lang="en-US" b="1" dirty="0" err="1" smtClean="0"/>
              <a:t>thay</a:t>
            </a:r>
            <a:r>
              <a:rPr lang="en-US" b="1" dirty="0" smtClean="0"/>
              <a:t> </a:t>
            </a:r>
            <a:r>
              <a:rPr lang="en-US" b="1" dirty="0" err="1" smtClean="0"/>
              <a:t>đổi</a:t>
            </a:r>
            <a:r>
              <a:rPr lang="en-US" b="1" dirty="0" smtClean="0"/>
              <a:t> </a:t>
            </a:r>
            <a:r>
              <a:rPr lang="en-US" b="1" dirty="0" err="1" smtClean="0"/>
              <a:t>và</a:t>
            </a:r>
            <a:r>
              <a:rPr lang="en-US" b="1" dirty="0" smtClean="0"/>
              <a:t> </a:t>
            </a:r>
            <a:r>
              <a:rPr lang="en-US" b="1" dirty="0" err="1" smtClean="0"/>
              <a:t>không</a:t>
            </a:r>
            <a:r>
              <a:rPr lang="en-US" b="1" dirty="0" smtClean="0"/>
              <a:t> </a:t>
            </a:r>
            <a:r>
              <a:rPr lang="en-US" b="1" dirty="0" err="1" smtClean="0"/>
              <a:t>cố</a:t>
            </a:r>
            <a:r>
              <a:rPr lang="en-US" b="1" dirty="0" smtClean="0"/>
              <a:t> </a:t>
            </a:r>
            <a:r>
              <a:rPr lang="en-US" b="1" dirty="0" err="1" smtClean="0"/>
              <a:t>định</a:t>
            </a:r>
            <a:r>
              <a:rPr lang="en-US" dirty="0" smtClean="0"/>
              <a:t>, </a:t>
            </a:r>
            <a:r>
              <a:rPr lang="vi-VN" dirty="0" smtClean="0"/>
              <a:t>O(x^n), nhưng còn phụ thuộc rất nhiều vào cách mà chúng ta xử lý ở mỗi lần gọi đệ quy.</a:t>
            </a:r>
            <a:endParaRPr lang="en-US" b="0" dirty="0" smtClean="0"/>
          </a:p>
          <a:p>
            <a:r>
              <a:rPr lang="vi-VN" dirty="0" smtClean="0"/>
              <a:t>https://200lab.io/blog/de-quy-la-gi/</a:t>
            </a:r>
            <a:r>
              <a:rPr lang="en-US" dirty="0" smtClean="0"/>
              <a:t> </a:t>
            </a:r>
          </a:p>
          <a:p>
            <a:endParaRPr lang="en-US" dirty="0" smtClean="0"/>
          </a:p>
          <a:p>
            <a:r>
              <a:rPr lang="en-US" dirty="0" err="1" smtClean="0"/>
              <a:t>Đệ</a:t>
            </a:r>
            <a:r>
              <a:rPr lang="en-US" baseline="0" dirty="0" smtClean="0"/>
              <a:t> </a:t>
            </a:r>
            <a:r>
              <a:rPr lang="en-US" baseline="0" dirty="0" err="1" smtClean="0"/>
              <a:t>quy</a:t>
            </a:r>
            <a:r>
              <a:rPr lang="en-US" baseline="0" dirty="0" smtClean="0"/>
              <a:t> </a:t>
            </a:r>
            <a:r>
              <a:rPr lang="en-US" baseline="0" dirty="0" err="1" smtClean="0"/>
              <a:t>tương</a:t>
            </a:r>
            <a:r>
              <a:rPr lang="en-US" baseline="0" dirty="0" smtClean="0"/>
              <a:t> </a:t>
            </a:r>
            <a:r>
              <a:rPr lang="en-US" baseline="0" dirty="0" err="1" smtClean="0"/>
              <a:t>hỗ</a:t>
            </a:r>
            <a:r>
              <a:rPr lang="en-US" baseline="0" dirty="0" smtClean="0"/>
              <a:t>: Fun1 </a:t>
            </a:r>
            <a:r>
              <a:rPr lang="en-US" baseline="0" dirty="0" err="1" smtClean="0"/>
              <a:t>gọi</a:t>
            </a:r>
            <a:r>
              <a:rPr lang="en-US" baseline="0" dirty="0" smtClean="0"/>
              <a:t> Fun2, Func2 </a:t>
            </a:r>
            <a:r>
              <a:rPr lang="en-US" baseline="0" dirty="0" err="1" smtClean="0"/>
              <a:t>gọi</a:t>
            </a:r>
            <a:r>
              <a:rPr lang="en-US" baseline="0" dirty="0" smtClean="0"/>
              <a:t> Func1</a:t>
            </a:r>
            <a:endParaRPr lang="vi-VN"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21</a:t>
            </a:fld>
            <a:endParaRPr lang="en-US"/>
          </a:p>
        </p:txBody>
      </p:sp>
    </p:spTree>
    <p:extLst>
      <p:ext uri="{BB962C8B-B14F-4D97-AF65-F5344CB8AC3E}">
        <p14:creationId xmlns:p14="http://schemas.microsoft.com/office/powerpoint/2010/main" val="1100744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Khái</a:t>
            </a:r>
            <a:r>
              <a:rPr lang="en-US" baseline="0" dirty="0" smtClean="0"/>
              <a:t> </a:t>
            </a:r>
            <a:r>
              <a:rPr lang="en-US" baseline="0" dirty="0" err="1" smtClean="0"/>
              <a:t>niệm</a:t>
            </a:r>
            <a:r>
              <a:rPr lang="en-US" baseline="0" dirty="0" smtClean="0"/>
              <a:t> </a:t>
            </a:r>
            <a:r>
              <a:rPr lang="en-US" baseline="0" dirty="0" err="1" smtClean="0"/>
              <a:t>về</a:t>
            </a:r>
            <a:r>
              <a:rPr lang="en-US" baseline="0" dirty="0" smtClean="0"/>
              <a:t> </a:t>
            </a:r>
            <a:r>
              <a:rPr lang="en-US" baseline="0" dirty="0" err="1" smtClean="0"/>
              <a:t>độ</a:t>
            </a:r>
            <a:r>
              <a:rPr lang="en-US" baseline="0" dirty="0" smtClean="0"/>
              <a:t> </a:t>
            </a:r>
            <a:r>
              <a:rPr lang="en-US" baseline="0" dirty="0" err="1" smtClean="0"/>
              <a:t>sâu</a:t>
            </a:r>
            <a:r>
              <a:rPr lang="en-US" baseline="0" dirty="0" smtClean="0"/>
              <a:t> </a:t>
            </a:r>
            <a:r>
              <a:rPr lang="en-US" baseline="0" dirty="0" err="1" smtClean="0"/>
              <a:t>đệ</a:t>
            </a:r>
            <a:r>
              <a:rPr lang="en-US" baseline="0" dirty="0" smtClean="0"/>
              <a:t> </a:t>
            </a:r>
            <a:r>
              <a:rPr lang="en-US" baseline="0" dirty="0" err="1" smtClean="0"/>
              <a:t>quy</a:t>
            </a:r>
            <a:r>
              <a:rPr lang="en-US" baseline="0" dirty="0" smtClean="0"/>
              <a:t> </a:t>
            </a:r>
          </a:p>
          <a:p>
            <a:r>
              <a:rPr lang="en-US" baseline="0" dirty="0" err="1" smtClean="0"/>
              <a:t>Tính</a:t>
            </a:r>
            <a:r>
              <a:rPr lang="en-US" baseline="0" dirty="0" smtClean="0"/>
              <a:t> </a:t>
            </a:r>
            <a:r>
              <a:rPr lang="en-US" baseline="0" dirty="0" err="1" smtClean="0"/>
              <a:t>toán</a:t>
            </a:r>
            <a:r>
              <a:rPr lang="en-US" baseline="0" dirty="0" smtClean="0"/>
              <a:t> </a:t>
            </a:r>
            <a:r>
              <a:rPr lang="en-US" baseline="0" dirty="0" err="1" smtClean="0"/>
              <a:t>đc</a:t>
            </a:r>
            <a:r>
              <a:rPr lang="en-US" baseline="0" dirty="0" smtClean="0"/>
              <a:t> </a:t>
            </a:r>
            <a:r>
              <a:rPr lang="en-US" baseline="0" dirty="0" err="1" smtClean="0"/>
              <a:t>độ</a:t>
            </a:r>
            <a:r>
              <a:rPr lang="en-US" baseline="0" dirty="0" smtClean="0"/>
              <a:t> </a:t>
            </a:r>
            <a:r>
              <a:rPr lang="en-US" baseline="0" dirty="0" err="1" smtClean="0"/>
              <a:t>sâu</a:t>
            </a:r>
            <a:r>
              <a:rPr lang="en-US" baseline="0" dirty="0" smtClean="0"/>
              <a:t> </a:t>
            </a:r>
            <a:r>
              <a:rPr lang="en-US" baseline="0" dirty="0" err="1" smtClean="0"/>
              <a:t>đệ</a:t>
            </a:r>
            <a:r>
              <a:rPr lang="en-US" baseline="0" dirty="0" smtClean="0"/>
              <a:t> </a:t>
            </a:r>
            <a:r>
              <a:rPr lang="en-US" baseline="0" dirty="0" err="1" smtClean="0"/>
              <a:t>quy</a:t>
            </a:r>
            <a:r>
              <a:rPr lang="en-US" baseline="0" dirty="0" smtClean="0"/>
              <a:t> max.  </a:t>
            </a:r>
          </a:p>
          <a:p>
            <a:pPr marL="0" marR="0" lvl="1" indent="0" algn="l" defTabSz="914400" rtl="0" eaLnBrk="1" fontAlgn="base" latinLnBrk="0" hangingPunct="1">
              <a:lnSpc>
                <a:spcPct val="100000"/>
              </a:lnSpc>
              <a:spcBef>
                <a:spcPct val="30000"/>
              </a:spcBef>
              <a:spcAft>
                <a:spcPct val="0"/>
              </a:spcAft>
              <a:buClrTx/>
              <a:buSzTx/>
              <a:buFontTx/>
              <a:buNone/>
              <a:tabLst/>
              <a:defRPr/>
            </a:pPr>
            <a:r>
              <a:rPr lang="en-US" sz="2000" dirty="0" smtClean="0"/>
              <a:t>N</a:t>
            </a:r>
            <a:r>
              <a:rPr lang="vi-VN" sz="2000" dirty="0" smtClean="0"/>
              <a:t>ếu như không có điểm dừng, hoặc gọi mãi mà chưa tới điểm dừng, sẽ dễ xảy ra tình trạng tràn bộ nhớ Stack</a:t>
            </a:r>
            <a:endParaRPr lang="en-US" sz="2000" dirty="0" smtClean="0"/>
          </a:p>
          <a:p>
            <a:endParaRPr lang="en-US"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smtClean="0"/>
              <a:t>RecursionError</a:t>
            </a:r>
            <a:r>
              <a:rPr lang="en-US" dirty="0" smtClean="0"/>
              <a:t>: maximum recursion depth exceeded</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23</a:t>
            </a:fld>
            <a:endParaRPr lang="en-US"/>
          </a:p>
        </p:txBody>
      </p:sp>
    </p:spTree>
    <p:extLst>
      <p:ext uri="{BB962C8B-B14F-4D97-AF65-F5344CB8AC3E}">
        <p14:creationId xmlns:p14="http://schemas.microsoft.com/office/powerpoint/2010/main" val="1553878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en-US" i="1" dirty="0" err="1" smtClean="0">
                <a:cs typeface="Times New Roman" panose="02020603050405020304" pitchFamily="18" charset="0"/>
              </a:rPr>
              <a:t>Đệ</a:t>
            </a: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quy</a:t>
            </a: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đuôi</a:t>
            </a:r>
            <a:r>
              <a:rPr lang="en-US" altLang="en-US" i="0" dirty="0" smtClean="0">
                <a:cs typeface="+mn-cs"/>
              </a:rPr>
              <a:t>:</a:t>
            </a:r>
            <a:r>
              <a:rPr lang="en-US" altLang="en-US" i="0" baseline="0" dirty="0" smtClean="0">
                <a:cs typeface="+mn-cs"/>
              </a:rPr>
              <a:t> </a:t>
            </a:r>
            <a:r>
              <a:rPr lang="en-US" altLang="en-US" i="0" baseline="0" dirty="0" err="1" smtClean="0">
                <a:cs typeface="+mn-cs"/>
              </a:rPr>
              <a:t>sau</a:t>
            </a:r>
            <a:r>
              <a:rPr lang="en-US" altLang="en-US" i="0" baseline="0" dirty="0" smtClean="0">
                <a:cs typeface="+mn-cs"/>
              </a:rPr>
              <a:t> </a:t>
            </a:r>
            <a:r>
              <a:rPr lang="en-US" altLang="en-US" i="0" baseline="0" dirty="0" err="1" smtClean="0">
                <a:cs typeface="+mn-cs"/>
              </a:rPr>
              <a:t>lời</a:t>
            </a:r>
            <a:r>
              <a:rPr lang="en-US" altLang="en-US" i="0" baseline="0" dirty="0" smtClean="0">
                <a:cs typeface="+mn-cs"/>
              </a:rPr>
              <a:t> </a:t>
            </a:r>
            <a:r>
              <a:rPr lang="en-US" altLang="en-US" i="0" baseline="0" dirty="0" err="1" smtClean="0">
                <a:cs typeface="+mn-cs"/>
              </a:rPr>
              <a:t>gọi</a:t>
            </a:r>
            <a:r>
              <a:rPr lang="en-US" altLang="en-US" i="0" baseline="0" dirty="0" smtClean="0">
                <a:cs typeface="+mn-cs"/>
              </a:rPr>
              <a:t> </a:t>
            </a:r>
            <a:r>
              <a:rPr lang="en-US" altLang="en-US" i="0" baseline="0" dirty="0" err="1" smtClean="0">
                <a:cs typeface="+mn-cs"/>
              </a:rPr>
              <a:t>đệ</a:t>
            </a:r>
            <a:r>
              <a:rPr lang="en-US" altLang="en-US" i="0" baseline="0" dirty="0" smtClean="0">
                <a:cs typeface="+mn-cs"/>
              </a:rPr>
              <a:t> </a:t>
            </a:r>
            <a:r>
              <a:rPr lang="en-US" altLang="en-US" i="0" baseline="0" dirty="0" err="1" smtClean="0">
                <a:cs typeface="+mn-cs"/>
              </a:rPr>
              <a:t>quy</a:t>
            </a:r>
            <a:r>
              <a:rPr lang="en-US" altLang="en-US" i="0" baseline="0" dirty="0" smtClean="0">
                <a:cs typeface="+mn-cs"/>
              </a:rPr>
              <a:t> </a:t>
            </a:r>
            <a:r>
              <a:rPr lang="en-US" altLang="en-US" i="0" baseline="0" dirty="0" err="1" smtClean="0">
                <a:cs typeface="+mn-cs"/>
              </a:rPr>
              <a:t>ko</a:t>
            </a:r>
            <a:r>
              <a:rPr lang="en-US" altLang="en-US" i="0" baseline="0" dirty="0" smtClean="0">
                <a:cs typeface="+mn-cs"/>
              </a:rPr>
              <a:t> </a:t>
            </a:r>
            <a:r>
              <a:rPr lang="en-US" altLang="en-US" i="0" baseline="0" dirty="0" err="1" smtClean="0">
                <a:cs typeface="+mn-cs"/>
              </a:rPr>
              <a:t>làm</a:t>
            </a:r>
            <a:r>
              <a:rPr lang="en-US" altLang="en-US" i="0" baseline="0" dirty="0" smtClean="0">
                <a:cs typeface="+mn-cs"/>
              </a:rPr>
              <a:t> </a:t>
            </a:r>
            <a:r>
              <a:rPr lang="en-US" altLang="en-US" i="0" baseline="0" dirty="0" err="1" smtClean="0">
                <a:cs typeface="+mn-cs"/>
              </a:rPr>
              <a:t>thêm</a:t>
            </a:r>
            <a:r>
              <a:rPr lang="en-US" altLang="en-US" i="0" baseline="0" dirty="0" smtClean="0">
                <a:cs typeface="+mn-cs"/>
              </a:rPr>
              <a:t> </a:t>
            </a:r>
            <a:r>
              <a:rPr lang="en-US" altLang="en-US" i="0" baseline="0" dirty="0" err="1" smtClean="0">
                <a:cs typeface="+mn-cs"/>
              </a:rPr>
              <a:t>thao</a:t>
            </a:r>
            <a:r>
              <a:rPr lang="en-US" altLang="en-US" i="0" baseline="0" dirty="0" smtClean="0">
                <a:cs typeface="+mn-cs"/>
              </a:rPr>
              <a:t> </a:t>
            </a:r>
            <a:r>
              <a:rPr lang="en-US" altLang="en-US" i="0" baseline="0" dirty="0" err="1" smtClean="0">
                <a:cs typeface="+mn-cs"/>
              </a:rPr>
              <a:t>tác</a:t>
            </a:r>
            <a:r>
              <a:rPr lang="en-US" altLang="en-US" i="0" baseline="0" dirty="0" smtClean="0">
                <a:cs typeface="+mn-cs"/>
              </a:rPr>
              <a:t> </a:t>
            </a:r>
            <a:r>
              <a:rPr lang="en-US" altLang="en-US" i="0" baseline="0" dirty="0" err="1" smtClean="0">
                <a:cs typeface="+mn-cs"/>
              </a:rPr>
              <a:t>nào</a:t>
            </a:r>
            <a:r>
              <a:rPr lang="en-US" altLang="en-US" i="0" baseline="0" dirty="0" smtClean="0">
                <a:cs typeface="+mn-cs"/>
              </a:rPr>
              <a:t> </a:t>
            </a:r>
            <a:r>
              <a:rPr lang="en-US" altLang="en-US" i="0" baseline="0" dirty="0" err="1" smtClean="0">
                <a:cs typeface="+mn-cs"/>
              </a:rPr>
              <a:t>nữa</a:t>
            </a:r>
            <a:r>
              <a:rPr lang="en-US" altLang="en-US" i="0" baseline="0" dirty="0" smtClean="0">
                <a:cs typeface="+mn-cs"/>
              </a:rPr>
              <a:t> </a:t>
            </a:r>
          </a:p>
          <a:p>
            <a:pPr marL="0" marR="0" indent="0" algn="l" defTabSz="914400" rtl="0" eaLnBrk="1" fontAlgn="base" latinLnBrk="0" hangingPunct="1">
              <a:lnSpc>
                <a:spcPct val="100000"/>
              </a:lnSpc>
              <a:spcBef>
                <a:spcPct val="30000"/>
              </a:spcBef>
              <a:spcAft>
                <a:spcPct val="0"/>
              </a:spcAft>
              <a:buClrTx/>
              <a:buSzTx/>
              <a:buFontTx/>
              <a:buNone/>
              <a:tabLst/>
              <a:defRPr/>
            </a:pPr>
            <a:r>
              <a:rPr lang="en-US" i="0" baseline="0" dirty="0" err="1" smtClean="0">
                <a:cs typeface="+mn-cs"/>
              </a:rPr>
              <a:t>Có</a:t>
            </a:r>
            <a:r>
              <a:rPr lang="en-US" i="0" baseline="0" dirty="0" smtClean="0">
                <a:cs typeface="+mn-cs"/>
              </a:rPr>
              <a:t> </a:t>
            </a:r>
            <a:r>
              <a:rPr lang="en-US" i="0" baseline="0" dirty="0" err="1" smtClean="0">
                <a:cs typeface="+mn-cs"/>
              </a:rPr>
              <a:t>thể</a:t>
            </a:r>
            <a:r>
              <a:rPr lang="en-US" i="0" baseline="0" dirty="0" smtClean="0">
                <a:cs typeface="+mn-cs"/>
              </a:rPr>
              <a:t> </a:t>
            </a:r>
            <a:r>
              <a:rPr lang="en-US" i="0" baseline="0" dirty="0" err="1" smtClean="0">
                <a:cs typeface="+mn-cs"/>
              </a:rPr>
              <a:t>vẽ</a:t>
            </a:r>
            <a:r>
              <a:rPr lang="en-US" i="0" baseline="0" dirty="0" smtClean="0">
                <a:cs typeface="+mn-cs"/>
              </a:rPr>
              <a:t> </a:t>
            </a:r>
            <a:r>
              <a:rPr lang="en-US" i="0" baseline="0" dirty="0" err="1" smtClean="0">
                <a:cs typeface="+mn-cs"/>
              </a:rPr>
              <a:t>sơ</a:t>
            </a:r>
            <a:r>
              <a:rPr lang="en-US" i="0" baseline="0" dirty="0" smtClean="0">
                <a:cs typeface="+mn-cs"/>
              </a:rPr>
              <a:t> </a:t>
            </a:r>
            <a:r>
              <a:rPr lang="en-US" i="0" baseline="0" dirty="0" err="1" smtClean="0">
                <a:cs typeface="+mn-cs"/>
              </a:rPr>
              <a:t>đồ</a:t>
            </a:r>
            <a:r>
              <a:rPr lang="en-US" i="0" baseline="0" dirty="0" smtClean="0">
                <a:cs typeface="+mn-cs"/>
              </a:rPr>
              <a:t> </a:t>
            </a:r>
            <a:r>
              <a:rPr lang="en-US" i="0" baseline="0" dirty="0" err="1" smtClean="0">
                <a:cs typeface="+mn-cs"/>
              </a:rPr>
              <a:t>khối</a:t>
            </a:r>
            <a:r>
              <a:rPr lang="en-US" i="0" baseline="0" dirty="0" smtClean="0">
                <a:cs typeface="+mn-cs"/>
              </a:rPr>
              <a:t> </a:t>
            </a:r>
            <a:r>
              <a:rPr lang="en-US" i="0" baseline="0" dirty="0" err="1" smtClean="0">
                <a:cs typeface="+mn-cs"/>
              </a:rPr>
              <a:t>biểu</a:t>
            </a:r>
            <a:r>
              <a:rPr lang="en-US" i="0" baseline="0" dirty="0" smtClean="0">
                <a:cs typeface="+mn-cs"/>
              </a:rPr>
              <a:t> </a:t>
            </a:r>
            <a:r>
              <a:rPr lang="en-US" i="0" baseline="0" dirty="0" err="1" smtClean="0">
                <a:cs typeface="+mn-cs"/>
              </a:rPr>
              <a:t>diễn</a:t>
            </a:r>
            <a:r>
              <a:rPr lang="en-US" i="0" baseline="0" dirty="0" smtClean="0">
                <a:cs typeface="+mn-cs"/>
              </a:rPr>
              <a:t>. </a:t>
            </a:r>
            <a:endParaRPr lang="en-US" i="1" dirty="0" smtClean="0"/>
          </a:p>
        </p:txBody>
      </p:sp>
      <p:sp>
        <p:nvSpPr>
          <p:cNvPr id="4" name="Slide Number Placeholder 3"/>
          <p:cNvSpPr>
            <a:spLocks noGrp="1"/>
          </p:cNvSpPr>
          <p:nvPr>
            <p:ph type="sldNum" sz="quarter" idx="10"/>
          </p:nvPr>
        </p:nvSpPr>
        <p:spPr/>
        <p:txBody>
          <a:bodyPr/>
          <a:lstStyle/>
          <a:p>
            <a:fld id="{76159C16-962D-45B7-9AE3-AA455C3EA8F0}" type="slidenum">
              <a:rPr lang="en-US" smtClean="0"/>
              <a:pPr/>
              <a:t>25</a:t>
            </a:fld>
            <a:endParaRPr lang="en-US"/>
          </a:p>
        </p:txBody>
      </p:sp>
    </p:spTree>
    <p:extLst>
      <p:ext uri="{BB962C8B-B14F-4D97-AF65-F5344CB8AC3E}">
        <p14:creationId xmlns:p14="http://schemas.microsoft.com/office/powerpoint/2010/main" val="14098579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dirty="0" err="1" smtClean="0"/>
              <a:t>Cần</a:t>
            </a:r>
            <a:r>
              <a:rPr lang="en-US" baseline="0" dirty="0" smtClean="0"/>
              <a:t> </a:t>
            </a:r>
            <a:r>
              <a:rPr lang="en-US" baseline="0" dirty="0" err="1" smtClean="0"/>
              <a:t>lưu</a:t>
            </a:r>
            <a:r>
              <a:rPr lang="en-US" baseline="0" dirty="0" smtClean="0"/>
              <a:t> </a:t>
            </a:r>
            <a:r>
              <a:rPr lang="en-US" baseline="0" dirty="0" err="1" smtClean="0"/>
              <a:t>kết</a:t>
            </a:r>
            <a:r>
              <a:rPr lang="en-US" baseline="0" dirty="0" smtClean="0"/>
              <a:t> </a:t>
            </a:r>
            <a:r>
              <a:rPr lang="en-US" baseline="0" dirty="0" err="1" smtClean="0"/>
              <a:t>quả</a:t>
            </a:r>
            <a:r>
              <a:rPr lang="en-US" baseline="0" dirty="0" smtClean="0"/>
              <a:t> </a:t>
            </a:r>
            <a:r>
              <a:rPr lang="en-US" baseline="0" dirty="0" err="1" smtClean="0"/>
              <a:t>trung</a:t>
            </a:r>
            <a:r>
              <a:rPr lang="en-US" baseline="0" dirty="0" smtClean="0"/>
              <a:t> </a:t>
            </a:r>
            <a:r>
              <a:rPr lang="en-US" baseline="0" dirty="0" err="1" smtClean="0"/>
              <a:t>gian</a:t>
            </a:r>
            <a:r>
              <a:rPr lang="en-US" baseline="0" dirty="0" smtClean="0"/>
              <a:t> ở </a:t>
            </a:r>
            <a:r>
              <a:rPr lang="en-US" baseline="0" dirty="0" err="1" smtClean="0"/>
              <a:t>từng</a:t>
            </a:r>
            <a:r>
              <a:rPr lang="en-US" baseline="0" dirty="0" smtClean="0"/>
              <a:t> </a:t>
            </a:r>
            <a:r>
              <a:rPr lang="en-US" baseline="0" dirty="0" err="1" smtClean="0"/>
              <a:t>bước</a:t>
            </a:r>
            <a:endParaRPr lang="en-US" dirty="0" smtClean="0"/>
          </a:p>
          <a:p>
            <a:r>
              <a:rPr lang="en-US" dirty="0" smtClean="0"/>
              <a:t>+ </a:t>
            </a:r>
            <a:r>
              <a:rPr lang="en-US" dirty="0" err="1" smtClean="0"/>
              <a:t>Xác</a:t>
            </a:r>
            <a:r>
              <a:rPr lang="en-US" baseline="0" dirty="0" smtClean="0"/>
              <a:t> </a:t>
            </a:r>
            <a:r>
              <a:rPr lang="en-US" baseline="0" dirty="0" err="1" smtClean="0"/>
              <a:t>định</a:t>
            </a:r>
            <a:r>
              <a:rPr lang="en-US" baseline="0" dirty="0" smtClean="0"/>
              <a:t> </a:t>
            </a:r>
            <a:r>
              <a:rPr lang="en-US" baseline="0" dirty="0" err="1" smtClean="0"/>
              <a:t>được</a:t>
            </a:r>
            <a:r>
              <a:rPr lang="en-US" baseline="0" dirty="0" smtClean="0"/>
              <a:t> </a:t>
            </a:r>
            <a:r>
              <a:rPr lang="en-US" baseline="0" dirty="0" err="1" smtClean="0"/>
              <a:t>số</a:t>
            </a:r>
            <a:r>
              <a:rPr lang="en-US" baseline="0" dirty="0" smtClean="0"/>
              <a:t> </a:t>
            </a:r>
            <a:r>
              <a:rPr lang="en-US" baseline="0" dirty="0" err="1" smtClean="0"/>
              <a:t>lần</a:t>
            </a:r>
            <a:r>
              <a:rPr lang="en-US" baseline="0" dirty="0" smtClean="0"/>
              <a:t> </a:t>
            </a:r>
            <a:r>
              <a:rPr lang="en-US" baseline="0" dirty="0" err="1" smtClean="0"/>
              <a:t>lặp</a:t>
            </a:r>
            <a:r>
              <a:rPr lang="en-US" baseline="0" dirty="0" smtClean="0"/>
              <a:t> </a:t>
            </a:r>
            <a:r>
              <a:rPr lang="en-US" baseline="0" dirty="0" err="1" smtClean="0"/>
              <a:t>của</a:t>
            </a:r>
            <a:r>
              <a:rPr lang="en-US" baseline="0" dirty="0" smtClean="0"/>
              <a:t> </a:t>
            </a:r>
            <a:r>
              <a:rPr lang="en-US" baseline="0" dirty="0" err="1" smtClean="0"/>
              <a:t>đệ</a:t>
            </a:r>
            <a:r>
              <a:rPr lang="en-US" baseline="0" dirty="0" smtClean="0"/>
              <a:t> </a:t>
            </a:r>
            <a:r>
              <a:rPr lang="en-US" baseline="0" dirty="0" err="1" smtClean="0"/>
              <a:t>quy</a:t>
            </a:r>
            <a:r>
              <a:rPr lang="en-US" baseline="0" dirty="0" smtClean="0"/>
              <a:t>: n</a:t>
            </a:r>
            <a:r>
              <a:rPr lang="en-US" baseline="-25000" dirty="0" smtClean="0"/>
              <a:t>0</a:t>
            </a:r>
            <a:r>
              <a:rPr lang="en-US" baseline="0" dirty="0" smtClean="0"/>
              <a:t>-n</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26</a:t>
            </a:fld>
            <a:endParaRPr lang="en-US"/>
          </a:p>
        </p:txBody>
      </p:sp>
    </p:spTree>
    <p:extLst>
      <p:ext uri="{BB962C8B-B14F-4D97-AF65-F5344CB8AC3E}">
        <p14:creationId xmlns:p14="http://schemas.microsoft.com/office/powerpoint/2010/main" val="2411397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 </a:t>
            </a:r>
            <a:r>
              <a:rPr lang="en-US" dirty="0" err="1" smtClean="0"/>
              <a:t>Khi</a:t>
            </a:r>
            <a:r>
              <a:rPr lang="en-US" dirty="0" smtClean="0"/>
              <a:t> </a:t>
            </a:r>
            <a:r>
              <a:rPr lang="en-US" dirty="0" err="1" smtClean="0"/>
              <a:t>số</a:t>
            </a:r>
            <a:r>
              <a:rPr lang="en-US" dirty="0" smtClean="0"/>
              <a:t> </a:t>
            </a:r>
            <a:r>
              <a:rPr lang="en-US" dirty="0" err="1" smtClean="0"/>
              <a:t>lần</a:t>
            </a:r>
            <a:r>
              <a:rPr lang="en-US" dirty="0" smtClean="0"/>
              <a:t> </a:t>
            </a:r>
            <a:r>
              <a:rPr lang="en-US" dirty="0" err="1" smtClean="0"/>
              <a:t>nhập</a:t>
            </a:r>
            <a:r>
              <a:rPr lang="en-US" dirty="0" smtClean="0"/>
              <a:t> </a:t>
            </a:r>
            <a:r>
              <a:rPr lang="en-US" dirty="0" err="1" smtClean="0"/>
              <a:t>tăng</a:t>
            </a:r>
            <a:r>
              <a:rPr lang="en-US" dirty="0" smtClean="0"/>
              <a:t> </a:t>
            </a:r>
            <a:r>
              <a:rPr lang="en-US" dirty="0" err="1" smtClean="0"/>
              <a:t>lên</a:t>
            </a:r>
            <a:r>
              <a:rPr lang="en-US" dirty="0" smtClean="0"/>
              <a:t>: </a:t>
            </a:r>
            <a:r>
              <a:rPr lang="en-US" altLang="en-US" dirty="0" err="1" smtClean="0">
                <a:cs typeface="Times New Roman" panose="02020603050405020304" pitchFamily="18" charset="0"/>
              </a:rPr>
              <a:t>ngăn</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xếp</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để</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lưu</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trữ</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các</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lời</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gọi</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đệ</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quy</a:t>
            </a:r>
            <a:r>
              <a:rPr lang="en-US" dirty="0" smtClean="0"/>
              <a:t> </a:t>
            </a:r>
            <a:r>
              <a:rPr lang="en-US" dirty="0" err="1" smtClean="0"/>
              <a:t>tăng</a:t>
            </a:r>
            <a:endParaRPr lang="en-US" dirty="0" smtClean="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30</a:t>
            </a:fld>
            <a:endParaRPr lang="en-US"/>
          </a:p>
        </p:txBody>
      </p:sp>
    </p:spTree>
    <p:extLst>
      <p:ext uri="{BB962C8B-B14F-4D97-AF65-F5344CB8AC3E}">
        <p14:creationId xmlns:p14="http://schemas.microsoft.com/office/powerpoint/2010/main" val="2680446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Quy hoạch động: Nhiều bài toán có thể sử dụng đệ quy để làm giảm độ phức tạp của thuật toán. Bài toán quy hoạch động thường được sử dụng cùng với kỹ thuật ghi nhớ để cải thiện hiệu su</a:t>
            </a:r>
            <a:r>
              <a:rPr lang="en-US" dirty="0" smtClean="0"/>
              <a:t>ấ</a:t>
            </a:r>
            <a:r>
              <a:rPr lang="vi-VN" dirty="0" smtClean="0"/>
              <a:t>t.</a:t>
            </a:r>
            <a:r>
              <a:rPr lang="en-US" dirty="0" smtClean="0"/>
              <a:t>  </a:t>
            </a:r>
          </a:p>
        </p:txBody>
      </p:sp>
      <p:sp>
        <p:nvSpPr>
          <p:cNvPr id="4" name="Slide Number Placeholder 3"/>
          <p:cNvSpPr>
            <a:spLocks noGrp="1"/>
          </p:cNvSpPr>
          <p:nvPr>
            <p:ph type="sldNum" sz="quarter" idx="10"/>
          </p:nvPr>
        </p:nvSpPr>
        <p:spPr/>
        <p:txBody>
          <a:bodyPr/>
          <a:lstStyle/>
          <a:p>
            <a:fld id="{76159C16-962D-45B7-9AE3-AA455C3EA8F0}" type="slidenum">
              <a:rPr lang="en-US" smtClean="0"/>
              <a:pPr/>
              <a:t>32</a:t>
            </a:fld>
            <a:endParaRPr lang="en-US"/>
          </a:p>
        </p:txBody>
      </p:sp>
    </p:spTree>
    <p:extLst>
      <p:ext uri="{BB962C8B-B14F-4D97-AF65-F5344CB8AC3E}">
        <p14:creationId xmlns:p14="http://schemas.microsoft.com/office/powerpoint/2010/main" val="36032617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Iterative solution</a:t>
            </a:r>
          </a:p>
          <a:p>
            <a:r>
              <a:rPr lang="en-US" dirty="0" smtClean="0"/>
              <a:t>A simple solution for the toy puzzle is to alternate moves between the smallest piece and a non-smallest piece. When moving the smallest piece, always move it to the next position in the same direction (to the right if the starting number of pieces is even, to the left if the starting number of pieces is odd). If there is no tower position in the chosen direction, move the piece to the opposite end, but then continue to move in the correct direction. For example, if you started with three pieces, you would move the smallest piece to the opposite end, then continue in the left direction after that. When the turn is to move the non-smallest piece, there is only one legal move. Doing this will complete the puzzle in the fewest moves</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35</a:t>
            </a:fld>
            <a:endParaRPr lang="en-US"/>
          </a:p>
        </p:txBody>
      </p:sp>
    </p:spTree>
    <p:extLst>
      <p:ext uri="{BB962C8B-B14F-4D97-AF65-F5344CB8AC3E}">
        <p14:creationId xmlns:p14="http://schemas.microsoft.com/office/powerpoint/2010/main" val="28786822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36</a:t>
            </a:fld>
            <a:endParaRPr lang="en-US"/>
          </a:p>
        </p:txBody>
      </p:sp>
    </p:spTree>
    <p:extLst>
      <p:ext uri="{BB962C8B-B14F-4D97-AF65-F5344CB8AC3E}">
        <p14:creationId xmlns:p14="http://schemas.microsoft.com/office/powerpoint/2010/main" val="5914250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Iterative solution</a:t>
            </a:r>
          </a:p>
          <a:p>
            <a:r>
              <a:rPr lang="en-US" dirty="0" smtClean="0"/>
              <a:t>A simple solution for the toy puzzle is to alternate moves between the smallest piece and a non-smallest piece. When moving the smallest piece, always move it to the next position in the same direction (to the right if the starting number of pieces is even, to the left if the starting number of pieces is odd). If there is no tower position in the chosen direction, move the piece to the opposite end, but then continue to move in the correct direction. For example, if you started with three pieces, you would move the smallest piece to the opposite end, then continue in the left direction after that. When the turn is to move the non-smallest piece, there is only one legal move. Doing this will complete the puzzle in the fewest moves</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37</a:t>
            </a:fld>
            <a:endParaRPr lang="en-US"/>
          </a:p>
        </p:txBody>
      </p:sp>
    </p:spTree>
    <p:extLst>
      <p:ext uri="{BB962C8B-B14F-4D97-AF65-F5344CB8AC3E}">
        <p14:creationId xmlns:p14="http://schemas.microsoft.com/office/powerpoint/2010/main" val="37482701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Iterative solution</a:t>
            </a:r>
          </a:p>
          <a:p>
            <a:r>
              <a:rPr lang="en-US" dirty="0" smtClean="0"/>
              <a:t>A simple solution for the toy puzzle is to alternate moves between the smallest piece and a non-smallest piece. When moving the smallest piece, always move it to the next position in the same direction (to the right if the starting number of pieces is even, to the left if the starting number of pieces is odd). If there is no tower position in the chosen direction, move the piece to the opposite end, but then continue to move in the correct direction. For example, if you started with three pieces, you would move the smallest piece to the opposite end, then continue in the left direction after that. When the turn is to move the non-smallest piece, there is only one legal move. Doing this will complete the puzzle in the fewest moves</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39</a:t>
            </a:fld>
            <a:endParaRPr lang="en-US"/>
          </a:p>
        </p:txBody>
      </p:sp>
    </p:spTree>
    <p:extLst>
      <p:ext uri="{BB962C8B-B14F-4D97-AF65-F5344CB8AC3E}">
        <p14:creationId xmlns:p14="http://schemas.microsoft.com/office/powerpoint/2010/main" val="873374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smtClean="0"/>
              <a:t>T(n) = 2^n – 1</a:t>
            </a:r>
          </a:p>
          <a:p>
            <a:r>
              <a:rPr lang="vi-VN" i="1" dirty="0" smtClean="0"/>
              <a:t>Nếu cứ mỗi giây, các nhà sư lại chuyển được một đĩa, họ sẽ cần 1 tuần để giải xong bài toán 20 đĩa, hơn 31 năm cho bài toán 30 đĩa, và hơn 348 thế kỉ cho một bài toán 40 đĩa (giả thiết rằng họ không di chuyển nhầm bước nào). Bài toán 64 đĩa sẽ cần đến hơn 5,8 tỷ thế kỷ</a:t>
            </a:r>
            <a:endParaRPr lang="en-US" i="1" dirty="0" smtClean="0"/>
          </a:p>
          <a:p>
            <a:endParaRPr lang="en-US" i="1" dirty="0" smtClean="0"/>
          </a:p>
          <a:p>
            <a:r>
              <a:rPr lang="en-US" dirty="0" smtClean="0"/>
              <a:t>https://uet.vnu.edu.vn/~chauttm/dsa2015f/readings/Recursion.html </a:t>
            </a:r>
          </a:p>
          <a:p>
            <a:r>
              <a:rPr lang="en-US" dirty="0" smtClean="0"/>
              <a:t>https://users.soict.hust.edu.vn/trungtt/uploads/slides/KTLT_Bai03.pdf</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40</a:t>
            </a:fld>
            <a:endParaRPr lang="en-US"/>
          </a:p>
        </p:txBody>
      </p:sp>
    </p:spTree>
    <p:extLst>
      <p:ext uri="{BB962C8B-B14F-4D97-AF65-F5344CB8AC3E}">
        <p14:creationId xmlns:p14="http://schemas.microsoft.com/office/powerpoint/2010/main" val="17980531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en-US" sz="2100" dirty="0" smtClean="0"/>
              <a:t>“</a:t>
            </a:r>
            <a:r>
              <a:rPr lang="en-US" sz="2100" dirty="0" err="1" smtClean="0"/>
              <a:t>Tìm</a:t>
            </a:r>
            <a:r>
              <a:rPr lang="en-US" sz="2100" dirty="0" smtClean="0"/>
              <a:t> </a:t>
            </a:r>
            <a:r>
              <a:rPr lang="en-US" sz="2100" dirty="0" err="1" smtClean="0"/>
              <a:t>kiếm</a:t>
            </a:r>
            <a:r>
              <a:rPr lang="en-US" sz="2100" dirty="0" smtClean="0"/>
              <a:t> </a:t>
            </a:r>
            <a:r>
              <a:rPr lang="en-US" sz="2100" dirty="0" err="1" smtClean="0"/>
              <a:t>đáp</a:t>
            </a:r>
            <a:r>
              <a:rPr lang="en-US" sz="2100" dirty="0" smtClean="0"/>
              <a:t> </a:t>
            </a:r>
            <a:r>
              <a:rPr lang="en-US" sz="2100" dirty="0" err="1" smtClean="0"/>
              <a:t>án</a:t>
            </a:r>
            <a:r>
              <a:rPr lang="en-US" sz="2100" dirty="0" smtClean="0"/>
              <a:t> </a:t>
            </a:r>
            <a:r>
              <a:rPr lang="en-US" sz="2100" dirty="0" err="1" smtClean="0"/>
              <a:t>của</a:t>
            </a:r>
            <a:r>
              <a:rPr lang="en-US" sz="2100" dirty="0" smtClean="0"/>
              <a:t> </a:t>
            </a:r>
            <a:r>
              <a:rPr lang="en-US" sz="2100" dirty="0" err="1" smtClean="0"/>
              <a:t>bài</a:t>
            </a:r>
            <a:r>
              <a:rPr lang="en-US" sz="2100" dirty="0" smtClean="0"/>
              <a:t> </a:t>
            </a:r>
            <a:r>
              <a:rPr lang="en-US" sz="2100" dirty="0" err="1" smtClean="0"/>
              <a:t>toán</a:t>
            </a:r>
            <a:r>
              <a:rPr lang="en-US" sz="2100" dirty="0" smtClean="0"/>
              <a:t> </a:t>
            </a:r>
            <a:r>
              <a:rPr lang="en-US" sz="2100" dirty="0" err="1" smtClean="0"/>
              <a:t>trong</a:t>
            </a:r>
            <a:r>
              <a:rPr lang="en-US" sz="2100" dirty="0" smtClean="0"/>
              <a:t> </a:t>
            </a:r>
            <a:r>
              <a:rPr lang="en-US" sz="2100" dirty="0" err="1" smtClean="0"/>
              <a:t>số</a:t>
            </a:r>
            <a:r>
              <a:rPr lang="en-US" sz="2100" dirty="0" smtClean="0"/>
              <a:t> </a:t>
            </a:r>
            <a:r>
              <a:rPr lang="en-US" sz="2100" dirty="0" err="1" smtClean="0"/>
              <a:t>tất</a:t>
            </a:r>
            <a:r>
              <a:rPr lang="en-US" sz="2100" dirty="0" smtClean="0"/>
              <a:t> </a:t>
            </a:r>
            <a:r>
              <a:rPr lang="en-US" sz="2100" dirty="0" err="1" smtClean="0"/>
              <a:t>cả</a:t>
            </a:r>
            <a:r>
              <a:rPr lang="en-US" sz="2100" dirty="0" smtClean="0"/>
              <a:t> </a:t>
            </a:r>
            <a:r>
              <a:rPr lang="en-US" sz="2100" dirty="0" err="1" smtClean="0"/>
              <a:t>các</a:t>
            </a:r>
            <a:r>
              <a:rPr lang="en-US" sz="2100" dirty="0" smtClean="0"/>
              <a:t> </a:t>
            </a:r>
            <a:r>
              <a:rPr lang="en-US" sz="2100" dirty="0" err="1" smtClean="0"/>
              <a:t>lựa</a:t>
            </a:r>
            <a:r>
              <a:rPr lang="en-US" sz="2100" dirty="0" smtClean="0"/>
              <a:t> </a:t>
            </a:r>
            <a:r>
              <a:rPr lang="en-US" sz="2100" dirty="0" err="1" smtClean="0"/>
              <a:t>chọn</a:t>
            </a:r>
            <a:r>
              <a:rPr lang="en-US" sz="2100" dirty="0" smtClean="0"/>
              <a:t> </a:t>
            </a:r>
            <a:r>
              <a:rPr lang="en-US" sz="2100" dirty="0" err="1" smtClean="0"/>
              <a:t>có</a:t>
            </a:r>
            <a:r>
              <a:rPr lang="en-US" sz="2100" dirty="0" smtClean="0"/>
              <a:t> </a:t>
            </a:r>
            <a:r>
              <a:rPr lang="en-US" sz="2100" dirty="0" err="1" smtClean="0"/>
              <a:t>thể</a:t>
            </a:r>
            <a:r>
              <a:rPr lang="en-US" sz="2100" dirty="0" smtClean="0"/>
              <a:t>”</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41</a:t>
            </a:fld>
            <a:endParaRPr lang="en-US"/>
          </a:p>
        </p:txBody>
      </p:sp>
    </p:spTree>
    <p:extLst>
      <p:ext uri="{BB962C8B-B14F-4D97-AF65-F5344CB8AC3E}">
        <p14:creationId xmlns:p14="http://schemas.microsoft.com/office/powerpoint/2010/main" val="9599061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3" indent="0" algn="l" defTabSz="914400" rtl="0" eaLnBrk="1" fontAlgn="base" latinLnBrk="0" hangingPunct="1">
              <a:lnSpc>
                <a:spcPct val="100000"/>
              </a:lnSpc>
              <a:spcBef>
                <a:spcPct val="30000"/>
              </a:spcBef>
              <a:spcAft>
                <a:spcPct val="0"/>
              </a:spcAft>
              <a:buClrTx/>
              <a:buSzTx/>
              <a:buFontTx/>
              <a:buNone/>
              <a:tabLst/>
              <a:defRPr/>
            </a:pPr>
            <a:r>
              <a:rPr lang="en-US" altLang="en-US" sz="2000" dirty="0" err="1" smtClean="0"/>
              <a:t>Thực</a:t>
            </a:r>
            <a:r>
              <a:rPr lang="en-US" altLang="en-US" sz="2000" dirty="0" smtClean="0"/>
              <a:t> </a:t>
            </a:r>
            <a:r>
              <a:rPr lang="en-US" altLang="en-US" sz="2000" dirty="0" err="1" smtClean="0"/>
              <a:t>hiện</a:t>
            </a:r>
            <a:r>
              <a:rPr lang="en-US" altLang="en-US" sz="2000" dirty="0" smtClean="0"/>
              <a:t> </a:t>
            </a:r>
            <a:r>
              <a:rPr lang="vi-VN" sz="2000" dirty="0" smtClean="0"/>
              <a:t>duyệt </a:t>
            </a:r>
            <a:r>
              <a:rPr lang="en-US" sz="2000" dirty="0" err="1" smtClean="0"/>
              <a:t>tất</a:t>
            </a:r>
            <a:r>
              <a:rPr lang="en-US" sz="2000" dirty="0" smtClean="0"/>
              <a:t> </a:t>
            </a:r>
            <a:r>
              <a:rPr lang="en-US" sz="2000" dirty="0" err="1" smtClean="0"/>
              <a:t>cả</a:t>
            </a:r>
            <a:r>
              <a:rPr lang="en-US" sz="2000" dirty="0" smtClean="0"/>
              <a:t> </a:t>
            </a:r>
            <a:r>
              <a:rPr lang="en-US" sz="2000" dirty="0" err="1" smtClean="0"/>
              <a:t>các</a:t>
            </a:r>
            <a:r>
              <a:rPr lang="en-US" sz="2000" dirty="0" smtClean="0"/>
              <a:t> </a:t>
            </a:r>
            <a:r>
              <a:rPr lang="en-US" sz="2000" dirty="0" err="1" smtClean="0"/>
              <a:t>giá</a:t>
            </a:r>
            <a:r>
              <a:rPr lang="en-US" sz="2000" dirty="0" smtClean="0"/>
              <a:t> </a:t>
            </a:r>
            <a:r>
              <a:rPr lang="en-US" sz="2000" dirty="0" err="1" smtClean="0"/>
              <a:t>trị</a:t>
            </a:r>
            <a:r>
              <a:rPr lang="en-US" sz="2000" dirty="0" smtClean="0"/>
              <a:t> </a:t>
            </a:r>
            <a:r>
              <a:rPr lang="en-US" sz="2000" dirty="0" err="1" smtClean="0"/>
              <a:t>trong</a:t>
            </a:r>
            <a:r>
              <a:rPr lang="en-US" sz="2000" dirty="0" smtClean="0"/>
              <a:t> </a:t>
            </a:r>
            <a:r>
              <a:rPr lang="vi-VN" sz="2000" dirty="0" smtClean="0"/>
              <a:t>miền</a:t>
            </a:r>
            <a:r>
              <a:rPr lang="en-US" sz="2000" dirty="0" smtClean="0"/>
              <a:t> </a:t>
            </a:r>
            <a:r>
              <a:rPr lang="en-US" sz="2000" i="1" dirty="0" smtClean="0"/>
              <a:t>S</a:t>
            </a:r>
            <a:r>
              <a:rPr lang="vi-VN" sz="2000" i="1" baseline="-25000" dirty="0" smtClean="0"/>
              <a:t>1</a:t>
            </a:r>
            <a:r>
              <a:rPr lang="vi-VN" sz="2000" i="1" dirty="0" smtClean="0"/>
              <a:t>, </a:t>
            </a:r>
            <a:r>
              <a:rPr lang="en-US" sz="2000" i="1" dirty="0" smtClean="0"/>
              <a:t>S</a:t>
            </a:r>
            <a:r>
              <a:rPr lang="vi-VN" sz="2000" i="1" baseline="-25000" dirty="0" smtClean="0"/>
              <a:t>2</a:t>
            </a:r>
            <a:r>
              <a:rPr lang="vi-VN" sz="2000" i="1" dirty="0" smtClean="0"/>
              <a:t>,…, </a:t>
            </a:r>
            <a:r>
              <a:rPr lang="en-US" sz="2000" i="1" dirty="0" smtClean="0"/>
              <a:t>S</a:t>
            </a:r>
            <a:r>
              <a:rPr lang="vi-VN" sz="2000" i="1" baseline="-25000" dirty="0" smtClean="0"/>
              <a:t>N</a:t>
            </a:r>
            <a:r>
              <a:rPr lang="en-US" sz="2000" i="1" baseline="-25000" dirty="0" smtClean="0"/>
              <a:t> </a:t>
            </a:r>
            <a:r>
              <a:rPr lang="vi-VN" sz="2000" dirty="0" smtClean="0"/>
              <a:t>cho đến khi tìm thấy </a:t>
            </a:r>
            <a:r>
              <a:rPr lang="en-US" sz="2000" dirty="0" smtClean="0"/>
              <a:t>vector </a:t>
            </a:r>
            <a:r>
              <a:rPr lang="en-US" sz="2000" dirty="0" smtClean="0">
                <a:latin typeface="Courier New" panose="02070309020205020404" pitchFamily="49" charset="0"/>
                <a:cs typeface="Courier New" panose="02070309020205020404" pitchFamily="49" charset="0"/>
              </a:rPr>
              <a:t>v=</a:t>
            </a:r>
            <a:r>
              <a:rPr lang="en-US" altLang="en-US" sz="2000" dirty="0" smtClean="0">
                <a:latin typeface="Courier New" panose="02070309020205020404" pitchFamily="49" charset="0"/>
                <a:cs typeface="Courier New" panose="02070309020205020404" pitchFamily="49" charset="0"/>
              </a:rPr>
              <a:t>&lt;v</a:t>
            </a:r>
            <a:r>
              <a:rPr lang="en-US" altLang="en-US" sz="2000" baseline="-25000" dirty="0" smtClean="0">
                <a:latin typeface="Courier New" panose="02070309020205020404" pitchFamily="49" charset="0"/>
                <a:cs typeface="Courier New" panose="02070309020205020404" pitchFamily="49" charset="0"/>
              </a:rPr>
              <a:t>1</a:t>
            </a:r>
            <a:r>
              <a:rPr lang="en-US" altLang="en-US" sz="2000" dirty="0" smtClean="0">
                <a:latin typeface="Courier New" panose="02070309020205020404" pitchFamily="49" charset="0"/>
                <a:cs typeface="Courier New" panose="02070309020205020404" pitchFamily="49" charset="0"/>
              </a:rPr>
              <a:t>,v</a:t>
            </a:r>
            <a:r>
              <a:rPr lang="en-US" altLang="en-US" sz="2000" baseline="-25000" dirty="0" smtClean="0">
                <a:latin typeface="Courier New" panose="02070309020205020404" pitchFamily="49" charset="0"/>
                <a:cs typeface="Courier New" panose="02070309020205020404" pitchFamily="49" charset="0"/>
              </a:rPr>
              <a:t>2</a:t>
            </a:r>
            <a:r>
              <a:rPr lang="en-US" altLang="en-US" sz="2000" dirty="0" smtClean="0">
                <a:latin typeface="Courier New" panose="02070309020205020404" pitchFamily="49" charset="0"/>
                <a:cs typeface="Courier New" panose="02070309020205020404" pitchFamily="49" charset="0"/>
              </a:rPr>
              <a:t>,…,</a:t>
            </a:r>
            <a:r>
              <a:rPr lang="en-US" altLang="en-US" sz="2000" dirty="0" err="1" smtClean="0">
                <a:latin typeface="Courier New" panose="02070309020205020404" pitchFamily="49" charset="0"/>
                <a:cs typeface="Courier New" panose="02070309020205020404" pitchFamily="49" charset="0"/>
              </a:rPr>
              <a:t>v</a:t>
            </a:r>
            <a:r>
              <a:rPr lang="en-US" altLang="en-US" sz="2000" baseline="-25000" dirty="0" err="1" smtClean="0">
                <a:latin typeface="Courier New" panose="02070309020205020404" pitchFamily="49" charset="0"/>
                <a:cs typeface="Courier New" panose="02070309020205020404" pitchFamily="49" charset="0"/>
              </a:rPr>
              <a:t>N</a:t>
            </a:r>
            <a:r>
              <a:rPr lang="en-US" altLang="en-US" sz="2000" dirty="0" smtClean="0">
                <a:latin typeface="Courier New" panose="02070309020205020404" pitchFamily="49" charset="0"/>
                <a:cs typeface="Courier New" panose="02070309020205020404" pitchFamily="49" charset="0"/>
              </a:rPr>
              <a:t>&gt;</a:t>
            </a:r>
            <a:r>
              <a:rPr lang="en-US" sz="2000" dirty="0" smtClean="0"/>
              <a:t> </a:t>
            </a:r>
            <a:r>
              <a:rPr lang="en-US" sz="2000" dirty="0" err="1" smtClean="0"/>
              <a:t>thỏa</a:t>
            </a:r>
            <a:r>
              <a:rPr lang="en-US" sz="2000" dirty="0" smtClean="0"/>
              <a:t> </a:t>
            </a:r>
            <a:r>
              <a:rPr lang="en-US" sz="2000" dirty="0" err="1" smtClean="0"/>
              <a:t>mãn</a:t>
            </a:r>
            <a:r>
              <a:rPr lang="en-US" sz="2000" dirty="0" smtClean="0"/>
              <a:t> </a:t>
            </a:r>
            <a:r>
              <a:rPr lang="en-US" sz="2000" dirty="0" err="1" smtClean="0"/>
              <a:t>điều</a:t>
            </a:r>
            <a:r>
              <a:rPr lang="en-US" sz="2000" dirty="0" smtClean="0"/>
              <a:t> </a:t>
            </a:r>
            <a:r>
              <a:rPr lang="en-US" sz="2000" dirty="0" err="1" smtClean="0"/>
              <a:t>kiện</a:t>
            </a:r>
            <a:r>
              <a:rPr lang="en-US" sz="2000" dirty="0" smtClean="0"/>
              <a:t> K.</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42</a:t>
            </a:fld>
            <a:endParaRPr lang="en-US"/>
          </a:p>
        </p:txBody>
      </p:sp>
    </p:spTree>
    <p:extLst>
      <p:ext uri="{BB962C8B-B14F-4D97-AF65-F5344CB8AC3E}">
        <p14:creationId xmlns:p14="http://schemas.microsoft.com/office/powerpoint/2010/main" val="3435119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T</a:t>
            </a:r>
            <a:r>
              <a:rPr lang="vi-VN" sz="1200" dirty="0" smtClean="0"/>
              <a:t>ìm </a:t>
            </a:r>
            <a:r>
              <a:rPr lang="en-US" sz="1200" dirty="0" err="1" smtClean="0"/>
              <a:t>các</a:t>
            </a:r>
            <a:r>
              <a:rPr lang="en-US" sz="1200" dirty="0" smtClean="0"/>
              <a:t> </a:t>
            </a:r>
            <a:r>
              <a:rPr lang="en-US" sz="1200" dirty="0" err="1" smtClean="0"/>
              <a:t>bộ</a:t>
            </a:r>
            <a:r>
              <a:rPr lang="en-US" sz="1200" dirty="0" smtClean="0"/>
              <a:t> </a:t>
            </a:r>
            <a:r>
              <a:rPr lang="en-US" sz="1200" dirty="0" err="1" smtClean="0"/>
              <a:t>giá</a:t>
            </a:r>
            <a:r>
              <a:rPr lang="en-US" sz="1200" dirty="0" smtClean="0"/>
              <a:t> </a:t>
            </a:r>
            <a:r>
              <a:rPr lang="en-US" sz="1200" dirty="0" err="1" smtClean="0"/>
              <a:t>trị</a:t>
            </a:r>
            <a:r>
              <a:rPr lang="en-US" sz="1200" dirty="0" smtClean="0"/>
              <a:t> </a:t>
            </a:r>
            <a:r>
              <a:rPr lang="en-US" sz="1200" dirty="0" err="1" smtClean="0"/>
              <a:t>của</a:t>
            </a:r>
            <a:r>
              <a:rPr lang="en-US" sz="1200" dirty="0" smtClean="0"/>
              <a:t> </a:t>
            </a:r>
            <a:r>
              <a:rPr lang="vi-VN" sz="1200" i="1" dirty="0" smtClean="0"/>
              <a:t>N</a:t>
            </a:r>
            <a:r>
              <a:rPr lang="vi-VN" sz="1200" dirty="0" smtClean="0"/>
              <a:t> biến thỏa mãn điều kiện </a:t>
            </a:r>
            <a:r>
              <a:rPr lang="en-US" sz="1200" dirty="0" smtClean="0"/>
              <a:t> </a:t>
            </a:r>
            <a:r>
              <a:rPr lang="vi-VN" sz="1200" i="1" dirty="0" smtClean="0"/>
              <a:t>K</a:t>
            </a:r>
            <a:r>
              <a:rPr lang="vi-VN" sz="1200" dirty="0" smtClean="0"/>
              <a:t> </a:t>
            </a:r>
            <a:r>
              <a:rPr lang="vi-VN" sz="1200" dirty="0" smtClean="0"/>
              <a:t>cho </a:t>
            </a:r>
            <a:r>
              <a:rPr lang="vi-VN" sz="1200" dirty="0" smtClean="0"/>
              <a:t>trước</a:t>
            </a:r>
            <a:endParaRPr lang="en-US" sz="1200" dirty="0" smtClean="0"/>
          </a:p>
          <a:p>
            <a:endParaRPr lang="en-US" sz="1200" dirty="0" smtClean="0"/>
          </a:p>
          <a:p>
            <a:r>
              <a:rPr lang="en-US" sz="1200" dirty="0" smtClean="0"/>
              <a:t>Quay </a:t>
            </a:r>
            <a:r>
              <a:rPr lang="en-US" sz="1200" dirty="0" err="1" smtClean="0"/>
              <a:t>lui</a:t>
            </a:r>
            <a:r>
              <a:rPr lang="en-US" sz="1200" baseline="0" dirty="0" smtClean="0"/>
              <a:t> </a:t>
            </a:r>
            <a:r>
              <a:rPr lang="en-US" sz="1200" baseline="0" dirty="0" err="1" smtClean="0"/>
              <a:t>lại</a:t>
            </a:r>
            <a:r>
              <a:rPr lang="en-US" sz="1200" baseline="0" dirty="0" smtClean="0"/>
              <a:t> </a:t>
            </a:r>
            <a:r>
              <a:rPr lang="en-US" sz="1200" baseline="0" dirty="0" err="1" smtClean="0"/>
              <a:t>để</a:t>
            </a:r>
            <a:r>
              <a:rPr lang="en-US" sz="1200" baseline="0" dirty="0" smtClean="0"/>
              <a:t> </a:t>
            </a:r>
            <a:r>
              <a:rPr lang="en-US" sz="1200" baseline="0" dirty="0" err="1" smtClean="0"/>
              <a:t>kiểm</a:t>
            </a:r>
            <a:r>
              <a:rPr lang="en-US" sz="1200" baseline="0" dirty="0" smtClean="0"/>
              <a:t> </a:t>
            </a:r>
            <a:r>
              <a:rPr lang="en-US" sz="1200" baseline="0" dirty="0" err="1" smtClean="0"/>
              <a:t>tra</a:t>
            </a:r>
            <a:r>
              <a:rPr lang="en-US" sz="1200" baseline="0" dirty="0" smtClean="0"/>
              <a:t> </a:t>
            </a:r>
            <a:r>
              <a:rPr lang="en-US" sz="1200" baseline="0" dirty="0" err="1" smtClean="0"/>
              <a:t>tất</a:t>
            </a:r>
            <a:r>
              <a:rPr lang="en-US" sz="1200" baseline="0" dirty="0" smtClean="0"/>
              <a:t> </a:t>
            </a:r>
            <a:r>
              <a:rPr lang="en-US" sz="1200" baseline="0" dirty="0" err="1" smtClean="0"/>
              <a:t>cả</a:t>
            </a:r>
            <a:r>
              <a:rPr lang="en-US" sz="1200" baseline="0" dirty="0" smtClean="0"/>
              <a:t> </a:t>
            </a:r>
            <a:r>
              <a:rPr lang="en-US" sz="1200" baseline="0" dirty="0" err="1" smtClean="0"/>
              <a:t>các</a:t>
            </a:r>
            <a:r>
              <a:rPr lang="en-US" sz="1200" baseline="0" dirty="0" smtClean="0"/>
              <a:t> </a:t>
            </a:r>
            <a:r>
              <a:rPr lang="en-US" sz="1200" baseline="0" dirty="0" err="1" smtClean="0"/>
              <a:t>trường</a:t>
            </a:r>
            <a:r>
              <a:rPr lang="en-US" sz="1200" baseline="0" dirty="0" smtClean="0"/>
              <a:t> </a:t>
            </a:r>
            <a:r>
              <a:rPr lang="en-US" sz="1200" baseline="0" dirty="0" err="1" smtClean="0"/>
              <a:t>hợp</a:t>
            </a:r>
            <a:r>
              <a:rPr lang="en-US" sz="1200" baseline="0" dirty="0" smtClean="0"/>
              <a:t> </a:t>
            </a:r>
            <a:r>
              <a:rPr lang="en-US" sz="1200" baseline="0" dirty="0" err="1" smtClean="0"/>
              <a:t>có</a:t>
            </a:r>
            <a:r>
              <a:rPr lang="en-US" sz="1200" baseline="0" dirty="0" smtClean="0"/>
              <a:t> </a:t>
            </a:r>
            <a:r>
              <a:rPr lang="en-US" sz="1200" baseline="0" dirty="0" err="1" smtClean="0"/>
              <a:t>thể</a:t>
            </a:r>
            <a:r>
              <a:rPr lang="en-US" sz="1200" baseline="0" dirty="0" smtClean="0"/>
              <a:t>. </a:t>
            </a:r>
            <a:r>
              <a:rPr lang="en-US" sz="1200" baseline="0" dirty="0" err="1" smtClean="0"/>
              <a:t>Có</a:t>
            </a:r>
            <a:r>
              <a:rPr lang="en-US" sz="1200" baseline="0" dirty="0" smtClean="0"/>
              <a:t> </a:t>
            </a:r>
            <a:r>
              <a:rPr lang="en-US" sz="1200" baseline="0" dirty="0" err="1" smtClean="0"/>
              <a:t>thể</a:t>
            </a:r>
            <a:r>
              <a:rPr lang="en-US" sz="1200" baseline="0" dirty="0" smtClean="0"/>
              <a:t> </a:t>
            </a:r>
            <a:r>
              <a:rPr lang="en-US" sz="1200" baseline="0" dirty="0" err="1" smtClean="0"/>
              <a:t>có</a:t>
            </a:r>
            <a:r>
              <a:rPr lang="en-US" sz="1200" baseline="0" dirty="0" smtClean="0"/>
              <a:t> </a:t>
            </a:r>
            <a:r>
              <a:rPr lang="en-US" sz="1200" baseline="0" dirty="0" err="1" smtClean="0"/>
              <a:t>nhiều</a:t>
            </a:r>
            <a:r>
              <a:rPr lang="en-US" sz="1200" baseline="0" smtClean="0"/>
              <a:t> solution</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44</a:t>
            </a:fld>
            <a:endParaRPr lang="en-US"/>
          </a:p>
        </p:txBody>
      </p:sp>
    </p:spTree>
    <p:extLst>
      <p:ext uri="{BB962C8B-B14F-4D97-AF65-F5344CB8AC3E}">
        <p14:creationId xmlns:p14="http://schemas.microsoft.com/office/powerpoint/2010/main" val="2788904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route (a, b, d, c) is the shortest one for the following one, and its length is 51.</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46</a:t>
            </a:fld>
            <a:endParaRPr lang="en-US"/>
          </a:p>
        </p:txBody>
      </p:sp>
    </p:spTree>
    <p:extLst>
      <p:ext uri="{BB962C8B-B14F-4D97-AF65-F5344CB8AC3E}">
        <p14:creationId xmlns:p14="http://schemas.microsoft.com/office/powerpoint/2010/main" val="16751206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hậu</a:t>
            </a:r>
            <a:r>
              <a:rPr lang="en-US" dirty="0" smtClean="0"/>
              <a:t>:</a:t>
            </a:r>
            <a:r>
              <a:rPr lang="en-US" baseline="0" dirty="0" smtClean="0"/>
              <a:t> </a:t>
            </a:r>
            <a:r>
              <a:rPr lang="en-US" baseline="0" dirty="0" err="1" smtClean="0"/>
              <a:t>ăn</a:t>
            </a:r>
            <a:r>
              <a:rPr lang="en-US" baseline="0" dirty="0" smtClean="0"/>
              <a:t> </a:t>
            </a:r>
            <a:r>
              <a:rPr lang="en-US" baseline="0" dirty="0" err="1" smtClean="0"/>
              <a:t>dọc</a:t>
            </a:r>
            <a:r>
              <a:rPr lang="en-US" baseline="0" dirty="0" smtClean="0"/>
              <a:t>, </a:t>
            </a:r>
            <a:r>
              <a:rPr lang="en-US" baseline="0" dirty="0" err="1" smtClean="0"/>
              <a:t>ngang</a:t>
            </a:r>
            <a:r>
              <a:rPr lang="en-US" baseline="0" dirty="0" smtClean="0"/>
              <a:t>, </a:t>
            </a:r>
            <a:r>
              <a:rPr lang="en-US" baseline="0" dirty="0" err="1" smtClean="0"/>
              <a:t>chéo</a:t>
            </a:r>
            <a:endParaRPr lang="en-US" baseline="0" dirty="0" smtClean="0"/>
          </a:p>
          <a:p>
            <a:r>
              <a:rPr lang="en-US" baseline="0" dirty="0" err="1" smtClean="0"/>
              <a:t>không</a:t>
            </a:r>
            <a:r>
              <a:rPr lang="en-US" baseline="0" dirty="0" smtClean="0"/>
              <a:t> </a:t>
            </a:r>
            <a:r>
              <a:rPr lang="en-US" baseline="0" dirty="0" err="1" smtClean="0"/>
              <a:t>đặt</a:t>
            </a:r>
            <a:r>
              <a:rPr lang="en-US" baseline="0" dirty="0" smtClean="0"/>
              <a:t> </a:t>
            </a:r>
            <a:r>
              <a:rPr lang="en-US" baseline="0" dirty="0" err="1" smtClean="0"/>
              <a:t>được</a:t>
            </a:r>
            <a:r>
              <a:rPr lang="en-US" baseline="0" dirty="0" smtClean="0"/>
              <a:t> </a:t>
            </a:r>
            <a:r>
              <a:rPr lang="en-US" baseline="0" dirty="0" err="1" smtClean="0"/>
              <a:t>quân</a:t>
            </a:r>
            <a:r>
              <a:rPr lang="en-US" baseline="0" dirty="0" smtClean="0"/>
              <a:t> </a:t>
            </a:r>
            <a:r>
              <a:rPr lang="en-US" baseline="0" dirty="0" err="1" smtClean="0"/>
              <a:t>tiếp</a:t>
            </a:r>
            <a:r>
              <a:rPr lang="en-US" baseline="0" dirty="0" smtClean="0"/>
              <a:t> </a:t>
            </a:r>
            <a:r>
              <a:rPr lang="en-US" baseline="0" dirty="0" err="1" smtClean="0"/>
              <a:t>theo</a:t>
            </a:r>
            <a:r>
              <a:rPr lang="en-US" baseline="0" dirty="0" smtClean="0"/>
              <a:t> </a:t>
            </a:r>
            <a:r>
              <a:rPr lang="en-US" baseline="0" dirty="0" err="1" smtClean="0"/>
              <a:t>vào</a:t>
            </a:r>
            <a:r>
              <a:rPr lang="en-US" baseline="0" dirty="0" smtClean="0"/>
              <a:t> ô </a:t>
            </a:r>
            <a:r>
              <a:rPr lang="en-US" baseline="0" dirty="0" err="1" smtClean="0"/>
              <a:t>đỏ</a:t>
            </a:r>
            <a:endParaRPr lang="en-US" baseline="0" dirty="0" smtClean="0"/>
          </a:p>
          <a:p>
            <a:endParaRPr lang="en-US" baseline="0" dirty="0" smtClean="0"/>
          </a:p>
          <a:p>
            <a:r>
              <a:rPr lang="en-US" dirty="0" smtClean="0"/>
              <a:t>https://www.geeksforgeeks.org/n-queen-problem-backtracking-3/ </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47</a:t>
            </a:fld>
            <a:endParaRPr lang="en-US"/>
          </a:p>
        </p:txBody>
      </p:sp>
    </p:spTree>
    <p:extLst>
      <p:ext uri="{BB962C8B-B14F-4D97-AF65-F5344CB8AC3E}">
        <p14:creationId xmlns:p14="http://schemas.microsoft.com/office/powerpoint/2010/main" val="4407617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Đệ</a:t>
            </a:r>
            <a:r>
              <a:rPr lang="en-US" baseline="0" dirty="0" smtClean="0"/>
              <a:t> </a:t>
            </a:r>
            <a:r>
              <a:rPr lang="en-US" baseline="0" dirty="0" err="1" smtClean="0"/>
              <a:t>quy</a:t>
            </a:r>
            <a:r>
              <a:rPr lang="en-US" baseline="0" dirty="0" smtClean="0"/>
              <a:t> </a:t>
            </a:r>
            <a:r>
              <a:rPr lang="en-US" baseline="0" dirty="0" err="1" smtClean="0"/>
              <a:t>dạng</a:t>
            </a:r>
            <a:r>
              <a:rPr lang="en-US" baseline="0" dirty="0" smtClean="0"/>
              <a:t> </a:t>
            </a:r>
            <a:r>
              <a:rPr lang="en-US" baseline="0" dirty="0" err="1" smtClean="0"/>
              <a:t>chuỗi</a:t>
            </a:r>
            <a:r>
              <a:rPr lang="en-US" baseline="0" dirty="0" smtClean="0"/>
              <a:t>: </a:t>
            </a:r>
            <a:r>
              <a:rPr lang="en-US" baseline="0" dirty="0" err="1" smtClean="0"/>
              <a:t>Chỉ</a:t>
            </a:r>
            <a:r>
              <a:rPr lang="en-US" baseline="0" dirty="0" smtClean="0"/>
              <a:t> </a:t>
            </a:r>
            <a:r>
              <a:rPr lang="en-US" baseline="0" dirty="0" err="1" smtClean="0"/>
              <a:t>có</a:t>
            </a:r>
            <a:r>
              <a:rPr lang="en-US" baseline="0" dirty="0" smtClean="0"/>
              <a:t> 1 </a:t>
            </a:r>
            <a:r>
              <a:rPr lang="en-US" baseline="0" dirty="0" err="1" smtClean="0"/>
              <a:t>hướng</a:t>
            </a:r>
            <a:r>
              <a:rPr lang="en-US" baseline="0" dirty="0" smtClean="0"/>
              <a:t> </a:t>
            </a:r>
            <a:r>
              <a:rPr lang="en-US" baseline="0" dirty="0" smtClean="0">
                <a:sym typeface="Wingdings" panose="05000000000000000000" pitchFamily="2" charset="2"/>
              </a:rPr>
              <a:t> </a:t>
            </a:r>
            <a:r>
              <a:rPr lang="en-US" b="1" baseline="0" dirty="0" smtClean="0">
                <a:sym typeface="Wingdings" panose="05000000000000000000" pitchFamily="2" charset="2"/>
              </a:rPr>
              <a:t>1 </a:t>
            </a:r>
            <a:r>
              <a:rPr lang="en-US" b="1" baseline="0" dirty="0" err="1" smtClean="0">
                <a:sym typeface="Wingdings" panose="05000000000000000000" pitchFamily="2" charset="2"/>
              </a:rPr>
              <a:t>lời</a:t>
            </a:r>
            <a:r>
              <a:rPr lang="en-US" b="1" baseline="0" dirty="0" smtClean="0">
                <a:sym typeface="Wingdings" panose="05000000000000000000" pitchFamily="2" charset="2"/>
              </a:rPr>
              <a:t> </a:t>
            </a:r>
            <a:r>
              <a:rPr lang="en-US" b="1" baseline="0" dirty="0" err="1" smtClean="0">
                <a:sym typeface="Wingdings" panose="05000000000000000000" pitchFamily="2" charset="2"/>
              </a:rPr>
              <a:t>gọi</a:t>
            </a:r>
            <a:r>
              <a:rPr lang="en-US" b="1" baseline="0" dirty="0" smtClean="0">
                <a:sym typeface="Wingdings" panose="05000000000000000000" pitchFamily="2" charset="2"/>
              </a:rPr>
              <a:t> ở </a:t>
            </a:r>
            <a:r>
              <a:rPr lang="en-US" b="1" baseline="0" dirty="0" err="1" smtClean="0">
                <a:sym typeface="Wingdings" panose="05000000000000000000" pitchFamily="2" charset="2"/>
              </a:rPr>
              <a:t>cuối</a:t>
            </a:r>
            <a:r>
              <a:rPr lang="en-US" b="1" baseline="0" dirty="0" smtClean="0">
                <a:sym typeface="Wingdings" panose="05000000000000000000" pitchFamily="2" charset="2"/>
              </a:rPr>
              <a:t> </a:t>
            </a:r>
            <a:r>
              <a:rPr lang="en-US" b="1" baseline="0" dirty="0" err="1" smtClean="0">
                <a:sym typeface="Wingdings" panose="05000000000000000000" pitchFamily="2" charset="2"/>
              </a:rPr>
              <a:t>hàm</a:t>
            </a:r>
            <a:r>
              <a:rPr lang="en-US" b="1" baseline="0" dirty="0" smtClean="0">
                <a:sym typeface="Wingdings" panose="05000000000000000000" pitchFamily="2" charset="2"/>
              </a:rPr>
              <a:t> </a:t>
            </a:r>
            <a:r>
              <a:rPr lang="en-US" baseline="0" dirty="0" smtClean="0">
                <a:sym typeface="Wingdings" panose="05000000000000000000" pitchFamily="2" charset="2"/>
              </a:rPr>
              <a:t>=&gt; </a:t>
            </a:r>
            <a:r>
              <a:rPr lang="en-US" baseline="0" dirty="0" err="1" smtClean="0"/>
              <a:t>giống</a:t>
            </a:r>
            <a:r>
              <a:rPr lang="en-US" baseline="0" dirty="0" smtClean="0"/>
              <a:t> </a:t>
            </a:r>
            <a:r>
              <a:rPr lang="en-US" baseline="0" dirty="0" err="1" smtClean="0"/>
              <a:t>như</a:t>
            </a:r>
            <a:r>
              <a:rPr lang="en-US" baseline="0" dirty="0" smtClean="0"/>
              <a:t> </a:t>
            </a:r>
            <a:r>
              <a:rPr lang="en-US" baseline="0" dirty="0" err="1" smtClean="0"/>
              <a:t>thao</a:t>
            </a:r>
            <a:r>
              <a:rPr lang="en-US" baseline="0" dirty="0" smtClean="0"/>
              <a:t> </a:t>
            </a:r>
            <a:r>
              <a:rPr lang="en-US" baseline="0" dirty="0" err="1" smtClean="0"/>
              <a:t>tác</a:t>
            </a:r>
            <a:r>
              <a:rPr lang="en-US" baseline="0" dirty="0" smtClean="0"/>
              <a:t> </a:t>
            </a:r>
            <a:r>
              <a:rPr lang="en-US" baseline="0" dirty="0" err="1" smtClean="0"/>
              <a:t>nhảy</a:t>
            </a:r>
            <a:r>
              <a:rPr lang="en-US" baseline="0" dirty="0" smtClean="0"/>
              <a:t> </a:t>
            </a:r>
            <a:r>
              <a:rPr lang="en-US" baseline="0" dirty="0" err="1" smtClean="0"/>
              <a:t>về</a:t>
            </a:r>
            <a:r>
              <a:rPr lang="en-US" baseline="0" dirty="0" smtClean="0"/>
              <a:t> </a:t>
            </a:r>
            <a:r>
              <a:rPr lang="en-US" baseline="0" dirty="0" err="1" smtClean="0"/>
              <a:t>đầu</a:t>
            </a:r>
            <a:r>
              <a:rPr lang="en-US" baseline="0" dirty="0" smtClean="0"/>
              <a:t> </a:t>
            </a:r>
            <a:r>
              <a:rPr lang="en-US" baseline="0" dirty="0" err="1" smtClean="0"/>
              <a:t>hàm</a:t>
            </a:r>
            <a:r>
              <a:rPr lang="en-US" baseline="0" dirty="0" smtClean="0"/>
              <a:t> </a:t>
            </a:r>
            <a:r>
              <a:rPr lang="en-US" baseline="0" dirty="0" err="1" smtClean="0"/>
              <a:t>chạy</a:t>
            </a:r>
            <a:r>
              <a:rPr lang="en-US" baseline="0" dirty="0" smtClean="0"/>
              <a:t> </a:t>
            </a:r>
            <a:r>
              <a:rPr lang="en-US" baseline="0" dirty="0" err="1" smtClean="0"/>
              <a:t>lại</a:t>
            </a:r>
            <a:r>
              <a:rPr lang="en-US" baseline="0" dirty="0" smtClean="0"/>
              <a:t>. </a:t>
            </a:r>
            <a:r>
              <a:rPr lang="en-US" baseline="0" dirty="0" err="1" smtClean="0"/>
              <a:t>Có</a:t>
            </a:r>
            <a:r>
              <a:rPr lang="en-US" baseline="0" dirty="0" smtClean="0"/>
              <a:t> </a:t>
            </a:r>
            <a:r>
              <a:rPr lang="en-US" baseline="0" dirty="0" err="1" smtClean="0"/>
              <a:t>thể</a:t>
            </a:r>
            <a:r>
              <a:rPr lang="en-US" baseline="0" dirty="0" smtClean="0"/>
              <a:t> </a:t>
            </a:r>
            <a:r>
              <a:rPr lang="en-US" baseline="0" dirty="0" err="1" smtClean="0"/>
              <a:t>thay</a:t>
            </a:r>
            <a:r>
              <a:rPr lang="en-US" baseline="0" dirty="0" smtClean="0"/>
              <a:t> </a:t>
            </a:r>
            <a:r>
              <a:rPr lang="en-US" baseline="0" dirty="0" err="1" smtClean="0"/>
              <a:t>bằng</a:t>
            </a:r>
            <a:r>
              <a:rPr lang="en-US" baseline="0" dirty="0" smtClean="0"/>
              <a:t> </a:t>
            </a:r>
            <a:r>
              <a:rPr lang="en-US" baseline="0" dirty="0" err="1" smtClean="0"/>
              <a:t>vòng</a:t>
            </a:r>
            <a:r>
              <a:rPr lang="en-US" baseline="0" dirty="0" smtClean="0"/>
              <a:t> </a:t>
            </a:r>
            <a:r>
              <a:rPr lang="en-US" baseline="0" dirty="0" err="1" smtClean="0"/>
              <a:t>lặp</a:t>
            </a:r>
            <a:r>
              <a:rPr lang="en-US" baseline="0" dirty="0" smtClean="0"/>
              <a:t>. </a:t>
            </a:r>
          </a:p>
          <a:p>
            <a:endParaRPr lang="en-US"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 </a:t>
            </a:r>
            <a:r>
              <a:rPr lang="en-US" dirty="0" err="1" smtClean="0"/>
              <a:t>Khi</a:t>
            </a:r>
            <a:r>
              <a:rPr lang="en-US" dirty="0" smtClean="0"/>
              <a:t> </a:t>
            </a:r>
            <a:r>
              <a:rPr lang="en-US" dirty="0" err="1" smtClean="0"/>
              <a:t>số</a:t>
            </a:r>
            <a:r>
              <a:rPr lang="en-US" dirty="0" smtClean="0"/>
              <a:t> </a:t>
            </a:r>
            <a:r>
              <a:rPr lang="en-US" dirty="0" err="1" smtClean="0"/>
              <a:t>lần</a:t>
            </a:r>
            <a:r>
              <a:rPr lang="en-US" dirty="0" smtClean="0"/>
              <a:t> </a:t>
            </a:r>
            <a:r>
              <a:rPr lang="en-US" dirty="0" err="1" smtClean="0"/>
              <a:t>nhập</a:t>
            </a:r>
            <a:r>
              <a:rPr lang="en-US" dirty="0" smtClean="0"/>
              <a:t> </a:t>
            </a:r>
            <a:r>
              <a:rPr lang="en-US" dirty="0" err="1" smtClean="0"/>
              <a:t>tăng</a:t>
            </a:r>
            <a:r>
              <a:rPr lang="en-US" dirty="0" smtClean="0"/>
              <a:t> </a:t>
            </a:r>
            <a:r>
              <a:rPr lang="en-US" dirty="0" err="1" smtClean="0"/>
              <a:t>lên</a:t>
            </a:r>
            <a:r>
              <a:rPr lang="en-US" dirty="0" smtClean="0"/>
              <a:t>: </a:t>
            </a:r>
            <a:r>
              <a:rPr lang="en-US" altLang="en-US" dirty="0" err="1" smtClean="0">
                <a:cs typeface="Times New Roman" panose="02020603050405020304" pitchFamily="18" charset="0"/>
              </a:rPr>
              <a:t>ngăn</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xếp</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để</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lưu</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trữ</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các</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lời</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gọi</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đệ</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quy</a:t>
            </a:r>
            <a:r>
              <a:rPr lang="en-US" dirty="0" smtClean="0"/>
              <a:t> </a:t>
            </a:r>
            <a:r>
              <a:rPr lang="en-US" dirty="0" err="1" smtClean="0"/>
              <a:t>tăng</a:t>
            </a:r>
            <a:endParaRPr lang="en-US" dirty="0" smtClean="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51</a:t>
            </a:fld>
            <a:endParaRPr lang="en-US"/>
          </a:p>
        </p:txBody>
      </p:sp>
    </p:spTree>
    <p:extLst>
      <p:ext uri="{BB962C8B-B14F-4D97-AF65-F5344CB8AC3E}">
        <p14:creationId xmlns:p14="http://schemas.microsoft.com/office/powerpoint/2010/main" val="17300693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2  1  4  1  3  2  1</a:t>
            </a:r>
          </a:p>
          <a:p>
            <a:r>
              <a:rPr lang="en-US" dirty="0" err="1" smtClean="0"/>
              <a:t>Hàm</a:t>
            </a:r>
            <a:r>
              <a:rPr lang="en-US" baseline="0" dirty="0" smtClean="0"/>
              <a:t> </a:t>
            </a:r>
            <a:r>
              <a:rPr lang="en-US" baseline="0" dirty="0" err="1" smtClean="0"/>
              <a:t>đệ</a:t>
            </a:r>
            <a:r>
              <a:rPr lang="en-US" baseline="0" dirty="0" smtClean="0"/>
              <a:t> </a:t>
            </a:r>
            <a:r>
              <a:rPr lang="en-US" baseline="0" dirty="0" err="1" smtClean="0"/>
              <a:t>quy</a:t>
            </a:r>
            <a:r>
              <a:rPr lang="en-US" baseline="0" dirty="0" smtClean="0"/>
              <a:t> </a:t>
            </a:r>
            <a:r>
              <a:rPr lang="en-US" baseline="0" dirty="0" err="1" smtClean="0"/>
              <a:t>đích</a:t>
            </a:r>
            <a:r>
              <a:rPr lang="en-US" baseline="0" dirty="0" smtClean="0"/>
              <a:t> </a:t>
            </a:r>
            <a:r>
              <a:rPr lang="en-US" baseline="0" dirty="0" err="1" smtClean="0"/>
              <a:t>thực</a:t>
            </a:r>
            <a:r>
              <a:rPr lang="en-US" baseline="0" dirty="0" smtClean="0"/>
              <a:t>: </a:t>
            </a:r>
            <a:r>
              <a:rPr lang="en-US" baseline="0" dirty="0" err="1" smtClean="0"/>
              <a:t>Xuất</a:t>
            </a:r>
            <a:r>
              <a:rPr lang="en-US" baseline="0" dirty="0" smtClean="0"/>
              <a:t> </a:t>
            </a:r>
            <a:r>
              <a:rPr lang="en-US" baseline="0" dirty="0" err="1" smtClean="0"/>
              <a:t>hiện</a:t>
            </a:r>
            <a:r>
              <a:rPr lang="en-US" baseline="0" dirty="0" smtClean="0"/>
              <a:t> 2 </a:t>
            </a:r>
            <a:r>
              <a:rPr lang="en-US" baseline="0" dirty="0" err="1" smtClean="0"/>
              <a:t>lời</a:t>
            </a:r>
            <a:r>
              <a:rPr lang="en-US" baseline="0" dirty="0" smtClean="0"/>
              <a:t> </a:t>
            </a:r>
            <a:r>
              <a:rPr lang="en-US" baseline="0" dirty="0" err="1" smtClean="0"/>
              <a:t>gọi</a:t>
            </a:r>
            <a:r>
              <a:rPr lang="en-US" baseline="0" dirty="0" smtClean="0"/>
              <a:t> , </a:t>
            </a:r>
            <a:r>
              <a:rPr lang="en-US" baseline="0" dirty="0" err="1" smtClean="0"/>
              <a:t>Phát</a:t>
            </a:r>
            <a:r>
              <a:rPr lang="en-US" baseline="0" dirty="0" smtClean="0"/>
              <a:t> </a:t>
            </a:r>
            <a:r>
              <a:rPr lang="en-US" baseline="0" dirty="0" err="1" smtClean="0"/>
              <a:t>theo</a:t>
            </a:r>
            <a:r>
              <a:rPr lang="en-US" baseline="0" dirty="0" smtClean="0"/>
              <a:t> 2 </a:t>
            </a:r>
            <a:r>
              <a:rPr lang="en-US" baseline="0" dirty="0" err="1" smtClean="0"/>
              <a:t>hướng</a:t>
            </a:r>
            <a:r>
              <a:rPr lang="en-US" baseline="0" dirty="0" smtClean="0"/>
              <a:t>. </a:t>
            </a:r>
            <a:r>
              <a:rPr lang="en-US" baseline="0" dirty="0" err="1" smtClean="0"/>
              <a:t>Hàm</a:t>
            </a:r>
            <a:r>
              <a:rPr lang="en-US" baseline="0" dirty="0" smtClean="0"/>
              <a:t> </a:t>
            </a:r>
            <a:r>
              <a:rPr lang="en-US" baseline="0" dirty="0" err="1" smtClean="0"/>
              <a:t>tự</a:t>
            </a:r>
            <a:r>
              <a:rPr lang="en-US" baseline="0" dirty="0" smtClean="0"/>
              <a:t> </a:t>
            </a:r>
            <a:r>
              <a:rPr lang="en-US" baseline="0" dirty="0" err="1" smtClean="0"/>
              <a:t>gọi</a:t>
            </a:r>
            <a:r>
              <a:rPr lang="en-US" baseline="0" dirty="0" smtClean="0"/>
              <a:t> </a:t>
            </a:r>
            <a:r>
              <a:rPr lang="en-US" baseline="0" dirty="0" err="1" smtClean="0"/>
              <a:t>chính</a:t>
            </a:r>
            <a:r>
              <a:rPr lang="en-US" baseline="0" dirty="0" smtClean="0"/>
              <a:t> </a:t>
            </a:r>
            <a:r>
              <a:rPr lang="en-US" baseline="0" dirty="0" err="1" smtClean="0"/>
              <a:t>mình</a:t>
            </a:r>
            <a:r>
              <a:rPr lang="en-US" baseline="0" dirty="0" smtClean="0"/>
              <a:t> </a:t>
            </a:r>
            <a:r>
              <a:rPr lang="en-US" baseline="0" dirty="0" err="1" smtClean="0"/>
              <a:t>nhiều</a:t>
            </a:r>
            <a:r>
              <a:rPr lang="en-US" baseline="0" dirty="0" smtClean="0"/>
              <a:t> </a:t>
            </a:r>
            <a:r>
              <a:rPr lang="en-US" baseline="0" dirty="0" err="1" smtClean="0"/>
              <a:t>hơn</a:t>
            </a:r>
            <a:r>
              <a:rPr lang="en-US" baseline="0" dirty="0" smtClean="0"/>
              <a:t> 1 </a:t>
            </a:r>
            <a:r>
              <a:rPr lang="en-US" baseline="0" dirty="0" err="1" smtClean="0"/>
              <a:t>lần</a:t>
            </a:r>
            <a:r>
              <a:rPr lang="en-US" baseline="0" dirty="0" smtClean="0"/>
              <a:t>. </a:t>
            </a:r>
          </a:p>
          <a:p>
            <a:pPr marL="171450" indent="-171450">
              <a:buFont typeface="Symbol" panose="05050102010706020507" pitchFamily="18" charset="2"/>
              <a:buChar char="Þ"/>
            </a:pPr>
            <a:r>
              <a:rPr lang="en-US" baseline="0" dirty="0" err="1" smtClean="0"/>
              <a:t>Khó</a:t>
            </a:r>
            <a:r>
              <a:rPr lang="en-US" baseline="0" dirty="0" smtClean="0"/>
              <a:t> </a:t>
            </a:r>
            <a:r>
              <a:rPr lang="en-US" baseline="0" dirty="0" err="1" smtClean="0"/>
              <a:t>thay</a:t>
            </a:r>
            <a:r>
              <a:rPr lang="en-US" baseline="0" dirty="0" smtClean="0"/>
              <a:t> </a:t>
            </a:r>
            <a:r>
              <a:rPr lang="en-US" baseline="0" dirty="0" err="1" smtClean="0"/>
              <a:t>thế</a:t>
            </a:r>
            <a:r>
              <a:rPr lang="en-US" baseline="0" dirty="0" smtClean="0"/>
              <a:t> </a:t>
            </a:r>
            <a:r>
              <a:rPr lang="en-US" baseline="0" dirty="0" err="1" smtClean="0"/>
              <a:t>bởi</a:t>
            </a:r>
            <a:r>
              <a:rPr lang="en-US" baseline="0" dirty="0" smtClean="0"/>
              <a:t> </a:t>
            </a:r>
            <a:r>
              <a:rPr lang="en-US" baseline="0" dirty="0" err="1" smtClean="0"/>
              <a:t>vòng</a:t>
            </a:r>
            <a:r>
              <a:rPr lang="en-US" baseline="0" dirty="0" smtClean="0"/>
              <a:t> </a:t>
            </a:r>
            <a:r>
              <a:rPr lang="en-US" baseline="0" dirty="0" err="1" smtClean="0"/>
              <a:t>lặp</a:t>
            </a:r>
            <a:r>
              <a:rPr lang="en-US" baseline="0" dirty="0" smtClean="0"/>
              <a:t>. </a:t>
            </a:r>
          </a:p>
          <a:p>
            <a:pPr marL="171450" indent="-171450">
              <a:buFont typeface="Symbol" panose="05050102010706020507" pitchFamily="18" charset="2"/>
              <a:buChar char="Þ"/>
            </a:pPr>
            <a:endParaRPr lang="en-US" baseline="0" dirty="0" smtClean="0"/>
          </a:p>
          <a:p>
            <a:r>
              <a:rPr lang="en-US" dirty="0" err="1" smtClean="0"/>
              <a:t>Đệ</a:t>
            </a:r>
            <a:r>
              <a:rPr lang="en-US" baseline="0" dirty="0" smtClean="0"/>
              <a:t> </a:t>
            </a:r>
            <a:r>
              <a:rPr lang="en-US" baseline="0" dirty="0" err="1" smtClean="0"/>
              <a:t>quy</a:t>
            </a:r>
            <a:r>
              <a:rPr lang="en-US" baseline="0" dirty="0" smtClean="0"/>
              <a:t> </a:t>
            </a:r>
            <a:r>
              <a:rPr lang="en-US" baseline="0" dirty="0" err="1" smtClean="0"/>
              <a:t>dạng</a:t>
            </a:r>
            <a:r>
              <a:rPr lang="en-US" baseline="0" dirty="0" smtClean="0"/>
              <a:t> </a:t>
            </a:r>
            <a:r>
              <a:rPr lang="en-US" baseline="0" dirty="0" err="1" smtClean="0"/>
              <a:t>chuỗi</a:t>
            </a:r>
            <a:r>
              <a:rPr lang="en-US" baseline="0" dirty="0" smtClean="0"/>
              <a:t>: </a:t>
            </a:r>
            <a:r>
              <a:rPr lang="en-US" baseline="0" dirty="0" err="1" smtClean="0"/>
              <a:t>Chỉ</a:t>
            </a:r>
            <a:r>
              <a:rPr lang="en-US" baseline="0" dirty="0" smtClean="0"/>
              <a:t> </a:t>
            </a:r>
            <a:r>
              <a:rPr lang="en-US" baseline="0" dirty="0" err="1" smtClean="0"/>
              <a:t>có</a:t>
            </a:r>
            <a:r>
              <a:rPr lang="en-US" baseline="0" dirty="0" smtClean="0"/>
              <a:t> 1 </a:t>
            </a:r>
            <a:r>
              <a:rPr lang="en-US" baseline="0" dirty="0" err="1" smtClean="0"/>
              <a:t>hướng</a:t>
            </a:r>
            <a:r>
              <a:rPr lang="en-US" baseline="0" dirty="0" smtClean="0"/>
              <a:t> </a:t>
            </a:r>
            <a:r>
              <a:rPr lang="en-US" baseline="0" dirty="0" smtClean="0">
                <a:sym typeface="Wingdings" panose="05000000000000000000" pitchFamily="2" charset="2"/>
              </a:rPr>
              <a:t> </a:t>
            </a:r>
            <a:r>
              <a:rPr lang="en-US" b="1" baseline="0" dirty="0" smtClean="0">
                <a:sym typeface="Wingdings" panose="05000000000000000000" pitchFamily="2" charset="2"/>
              </a:rPr>
              <a:t>1 </a:t>
            </a:r>
            <a:r>
              <a:rPr lang="en-US" b="1" baseline="0" dirty="0" err="1" smtClean="0">
                <a:sym typeface="Wingdings" panose="05000000000000000000" pitchFamily="2" charset="2"/>
              </a:rPr>
              <a:t>lời</a:t>
            </a:r>
            <a:r>
              <a:rPr lang="en-US" b="1" baseline="0" dirty="0" smtClean="0">
                <a:sym typeface="Wingdings" panose="05000000000000000000" pitchFamily="2" charset="2"/>
              </a:rPr>
              <a:t> </a:t>
            </a:r>
            <a:r>
              <a:rPr lang="en-US" b="1" baseline="0" dirty="0" err="1" smtClean="0">
                <a:sym typeface="Wingdings" panose="05000000000000000000" pitchFamily="2" charset="2"/>
              </a:rPr>
              <a:t>gọi</a:t>
            </a:r>
            <a:r>
              <a:rPr lang="en-US" b="1" baseline="0" dirty="0" smtClean="0">
                <a:sym typeface="Wingdings" panose="05000000000000000000" pitchFamily="2" charset="2"/>
              </a:rPr>
              <a:t> ở </a:t>
            </a:r>
            <a:r>
              <a:rPr lang="en-US" b="1" baseline="0" dirty="0" err="1" smtClean="0">
                <a:sym typeface="Wingdings" panose="05000000000000000000" pitchFamily="2" charset="2"/>
              </a:rPr>
              <a:t>cuối</a:t>
            </a:r>
            <a:r>
              <a:rPr lang="en-US" b="1" baseline="0" dirty="0" smtClean="0">
                <a:sym typeface="Wingdings" panose="05000000000000000000" pitchFamily="2" charset="2"/>
              </a:rPr>
              <a:t> </a:t>
            </a:r>
            <a:r>
              <a:rPr lang="en-US" b="1" baseline="0" dirty="0" err="1" smtClean="0">
                <a:sym typeface="Wingdings" panose="05000000000000000000" pitchFamily="2" charset="2"/>
              </a:rPr>
              <a:t>hàm</a:t>
            </a:r>
            <a:r>
              <a:rPr lang="en-US" b="1" baseline="0" dirty="0" smtClean="0">
                <a:sym typeface="Wingdings" panose="05000000000000000000" pitchFamily="2" charset="2"/>
              </a:rPr>
              <a:t> </a:t>
            </a:r>
            <a:r>
              <a:rPr lang="en-US" baseline="0" dirty="0" smtClean="0">
                <a:sym typeface="Wingdings" panose="05000000000000000000" pitchFamily="2" charset="2"/>
              </a:rPr>
              <a:t>=&gt; </a:t>
            </a:r>
            <a:r>
              <a:rPr lang="en-US" baseline="0" dirty="0" err="1" smtClean="0"/>
              <a:t>giống</a:t>
            </a:r>
            <a:r>
              <a:rPr lang="en-US" baseline="0" dirty="0" smtClean="0"/>
              <a:t> </a:t>
            </a:r>
            <a:r>
              <a:rPr lang="en-US" baseline="0" dirty="0" err="1" smtClean="0"/>
              <a:t>như</a:t>
            </a:r>
            <a:r>
              <a:rPr lang="en-US" baseline="0" dirty="0" smtClean="0"/>
              <a:t> </a:t>
            </a:r>
            <a:r>
              <a:rPr lang="en-US" baseline="0" dirty="0" err="1" smtClean="0"/>
              <a:t>thao</a:t>
            </a:r>
            <a:r>
              <a:rPr lang="en-US" baseline="0" dirty="0" smtClean="0"/>
              <a:t> </a:t>
            </a:r>
            <a:r>
              <a:rPr lang="en-US" baseline="0" dirty="0" err="1" smtClean="0"/>
              <a:t>tác</a:t>
            </a:r>
            <a:r>
              <a:rPr lang="en-US" baseline="0" dirty="0" smtClean="0"/>
              <a:t> </a:t>
            </a:r>
            <a:r>
              <a:rPr lang="en-US" baseline="0" dirty="0" err="1" smtClean="0"/>
              <a:t>nhảy</a:t>
            </a:r>
            <a:r>
              <a:rPr lang="en-US" baseline="0" dirty="0" smtClean="0"/>
              <a:t> </a:t>
            </a:r>
            <a:r>
              <a:rPr lang="en-US" baseline="0" dirty="0" err="1" smtClean="0"/>
              <a:t>về</a:t>
            </a:r>
            <a:r>
              <a:rPr lang="en-US" baseline="0" dirty="0" smtClean="0"/>
              <a:t> </a:t>
            </a:r>
            <a:r>
              <a:rPr lang="en-US" baseline="0" dirty="0" err="1" smtClean="0"/>
              <a:t>đầu</a:t>
            </a:r>
            <a:r>
              <a:rPr lang="en-US" baseline="0" dirty="0" smtClean="0"/>
              <a:t> </a:t>
            </a:r>
            <a:r>
              <a:rPr lang="en-US" baseline="0" dirty="0" err="1" smtClean="0"/>
              <a:t>hàm</a:t>
            </a:r>
            <a:r>
              <a:rPr lang="en-US" baseline="0" dirty="0" smtClean="0"/>
              <a:t> </a:t>
            </a:r>
            <a:r>
              <a:rPr lang="en-US" baseline="0" dirty="0" err="1" smtClean="0"/>
              <a:t>chạy</a:t>
            </a:r>
            <a:r>
              <a:rPr lang="en-US" baseline="0" dirty="0" smtClean="0"/>
              <a:t> </a:t>
            </a:r>
            <a:r>
              <a:rPr lang="en-US" baseline="0" dirty="0" err="1" smtClean="0"/>
              <a:t>lại</a:t>
            </a:r>
            <a:r>
              <a:rPr lang="en-US" baseline="0" dirty="0" smtClean="0"/>
              <a:t>. </a:t>
            </a:r>
            <a:r>
              <a:rPr lang="en-US" baseline="0" dirty="0" err="1" smtClean="0"/>
              <a:t>Có</a:t>
            </a:r>
            <a:r>
              <a:rPr lang="en-US" baseline="0" dirty="0" smtClean="0"/>
              <a:t> </a:t>
            </a:r>
            <a:r>
              <a:rPr lang="en-US" baseline="0" dirty="0" err="1" smtClean="0"/>
              <a:t>thể</a:t>
            </a:r>
            <a:r>
              <a:rPr lang="en-US" baseline="0" dirty="0" smtClean="0"/>
              <a:t> </a:t>
            </a:r>
            <a:r>
              <a:rPr lang="en-US" baseline="0" dirty="0" err="1" smtClean="0"/>
              <a:t>thay</a:t>
            </a:r>
            <a:r>
              <a:rPr lang="en-US" baseline="0" dirty="0" smtClean="0"/>
              <a:t> </a:t>
            </a:r>
            <a:r>
              <a:rPr lang="en-US" baseline="0" dirty="0" err="1" smtClean="0"/>
              <a:t>bằng</a:t>
            </a:r>
            <a:r>
              <a:rPr lang="en-US" baseline="0" dirty="0" smtClean="0"/>
              <a:t> </a:t>
            </a:r>
            <a:r>
              <a:rPr lang="en-US" baseline="0" dirty="0" err="1" smtClean="0"/>
              <a:t>vòng</a:t>
            </a:r>
            <a:r>
              <a:rPr lang="en-US" baseline="0" dirty="0" smtClean="0"/>
              <a:t> </a:t>
            </a:r>
            <a:r>
              <a:rPr lang="en-US" baseline="0" dirty="0" err="1" smtClean="0"/>
              <a:t>lặp</a:t>
            </a:r>
            <a:r>
              <a:rPr lang="en-US" baseline="0" dirty="0" smtClean="0"/>
              <a:t>. </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 </a:t>
            </a:r>
            <a:r>
              <a:rPr lang="en-US" dirty="0" err="1" smtClean="0"/>
              <a:t>Khi</a:t>
            </a:r>
            <a:r>
              <a:rPr lang="en-US" dirty="0" smtClean="0"/>
              <a:t> </a:t>
            </a:r>
            <a:r>
              <a:rPr lang="en-US" dirty="0" err="1" smtClean="0"/>
              <a:t>số</a:t>
            </a:r>
            <a:r>
              <a:rPr lang="en-US" dirty="0" smtClean="0"/>
              <a:t> </a:t>
            </a:r>
            <a:r>
              <a:rPr lang="en-US" dirty="0" err="1" smtClean="0"/>
              <a:t>lần</a:t>
            </a:r>
            <a:r>
              <a:rPr lang="en-US" dirty="0" smtClean="0"/>
              <a:t> </a:t>
            </a:r>
            <a:r>
              <a:rPr lang="en-US" dirty="0" err="1" smtClean="0"/>
              <a:t>nhập</a:t>
            </a:r>
            <a:r>
              <a:rPr lang="en-US" dirty="0" smtClean="0"/>
              <a:t> </a:t>
            </a:r>
            <a:r>
              <a:rPr lang="en-US" dirty="0" err="1" smtClean="0"/>
              <a:t>tăng</a:t>
            </a:r>
            <a:r>
              <a:rPr lang="en-US" dirty="0" smtClean="0"/>
              <a:t> </a:t>
            </a:r>
            <a:r>
              <a:rPr lang="en-US" dirty="0" err="1" smtClean="0"/>
              <a:t>lên</a:t>
            </a:r>
            <a:r>
              <a:rPr lang="en-US" dirty="0" smtClean="0"/>
              <a:t>: </a:t>
            </a:r>
            <a:r>
              <a:rPr lang="en-US" altLang="en-US" dirty="0" err="1" smtClean="0">
                <a:cs typeface="Times New Roman" panose="02020603050405020304" pitchFamily="18" charset="0"/>
              </a:rPr>
              <a:t>ngăn</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xếp</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để</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lưu</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trữ</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các</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lời</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gọi</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đệ</a:t>
            </a:r>
            <a:r>
              <a:rPr lang="en-US" altLang="en-US" dirty="0" smtClean="0">
                <a:cs typeface="Times New Roman" panose="02020603050405020304" pitchFamily="18" charset="0"/>
              </a:rPr>
              <a:t> </a:t>
            </a:r>
            <a:r>
              <a:rPr lang="en-US" altLang="en-US" dirty="0" err="1" smtClean="0">
                <a:cs typeface="Times New Roman" panose="02020603050405020304" pitchFamily="18" charset="0"/>
              </a:rPr>
              <a:t>quy</a:t>
            </a:r>
            <a:r>
              <a:rPr lang="en-US" dirty="0" smtClean="0"/>
              <a:t> </a:t>
            </a:r>
            <a:r>
              <a:rPr lang="en-US" dirty="0" err="1" smtClean="0"/>
              <a:t>tăng</a:t>
            </a:r>
            <a:endParaRPr lang="en-US" dirty="0" smtClean="0"/>
          </a:p>
          <a:p>
            <a:endParaRPr lang="en-US" dirty="0" smtClean="0"/>
          </a:p>
          <a:p>
            <a:pPr marL="171450" indent="-171450">
              <a:buFont typeface="Symbol" panose="05050102010706020507" pitchFamily="18" charset="2"/>
              <a:buChar char="Þ"/>
            </a:pP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52</a:t>
            </a:fld>
            <a:endParaRPr lang="en-US"/>
          </a:p>
        </p:txBody>
      </p:sp>
    </p:spTree>
    <p:extLst>
      <p:ext uri="{BB962C8B-B14F-4D97-AF65-F5344CB8AC3E}">
        <p14:creationId xmlns:p14="http://schemas.microsoft.com/office/powerpoint/2010/main" val="3026493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4/5/2024</a:t>
            </a:fld>
            <a:endParaRPr lang="en-US" dirty="0"/>
          </a:p>
        </p:txBody>
      </p:sp>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70725133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4/5/2024</a:t>
            </a:fld>
            <a:endParaRPr lang="en-US" dirty="0"/>
          </a:p>
        </p:txBody>
      </p:sp>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964027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4/5/2024</a:t>
            </a:fld>
            <a:endParaRPr lang="en-US" dirty="0"/>
          </a:p>
        </p:txBody>
      </p:sp>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26B269CE-12F4-4F4F-BF2F-21E0A343DA44}" type="slidenum">
              <a:rPr lang="en-US" smtClean="0"/>
              <a:pPr/>
              <a:t>‹#›</a:t>
            </a:fld>
            <a:endParaRPr lang="en-US"/>
          </a:p>
        </p:txBody>
      </p:sp>
    </p:spTree>
    <p:extLst>
      <p:ext uri="{BB962C8B-B14F-4D97-AF65-F5344CB8AC3E}">
        <p14:creationId xmlns:p14="http://schemas.microsoft.com/office/powerpoint/2010/main" val="696742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4/5/2024</a:t>
            </a:fld>
            <a:endParaRPr lang="en-US" dirty="0"/>
          </a:p>
        </p:txBody>
      </p:sp>
      <p:sp>
        <p:nvSpPr>
          <p:cNvPr id="6" name="Footer Placeholder 5"/>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412140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4/5/2024</a:t>
            </a:fld>
            <a:endParaRPr lang="en-US" dirty="0"/>
          </a:p>
        </p:txBody>
      </p:sp>
      <p:sp>
        <p:nvSpPr>
          <p:cNvPr id="8" name="Footer Placeholder 7"/>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9" name="Slide Number Placeholder 8"/>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77093246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4/5/2024</a:t>
            </a:fld>
            <a:endParaRPr lang="en-US" dirty="0"/>
          </a:p>
        </p:txBody>
      </p:sp>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5" name="Slide Number Placeholder 4"/>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412657386"/>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4/5/2024</a:t>
            </a:fld>
            <a:endParaRPr lang="en-US" dirty="0"/>
          </a:p>
        </p:txBody>
      </p:sp>
      <p:sp>
        <p:nvSpPr>
          <p:cNvPr id="3" name="Footer Placeholder 2"/>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415768755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4/5/2024</a:t>
            </a:fld>
            <a:endParaRPr lang="en-US" dirty="0"/>
          </a:p>
        </p:txBody>
      </p:sp>
      <p:sp>
        <p:nvSpPr>
          <p:cNvPr id="6" name="Footer Placeholder 5"/>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74908793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4/5/2024</a:t>
            </a:fld>
            <a:endParaRPr lang="en-US" dirty="0"/>
          </a:p>
        </p:txBody>
      </p:sp>
      <p:sp>
        <p:nvSpPr>
          <p:cNvPr id="6" name="Footer Placeholder 5"/>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66544466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4/5/2024</a:t>
            </a:fld>
            <a:endParaRPr lang="en-US" dirty="0"/>
          </a:p>
        </p:txBody>
      </p:sp>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183964735"/>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4/5/2024</a:t>
            </a:fld>
            <a:endParaRPr lang="en-US" dirty="0"/>
          </a:p>
        </p:txBody>
      </p:sp>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698704208"/>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1431239"/>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36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788044907"/>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1694168"/>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4/5/2024</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9"/>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92816313"/>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4/5/2024</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4155106089"/>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4/5/2024</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1"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23252882"/>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9"/>
            <a:ext cx="5397627" cy="451739"/>
          </a:xfrm>
          <a:prstGeom prst="rect">
            <a:avLst/>
          </a:prstGeom>
        </p:spPr>
        <p:txBody>
          <a:bodyPr/>
          <a:lstStyle>
            <a:lvl1pPr>
              <a:defRPr sz="21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4/5/2024</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620033604"/>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4/5/2024</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3941680436"/>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4/5/2024</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127632172"/>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457200" y="1219200"/>
            <a:ext cx="8229600" cy="4937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Slide Number Placeholder 22"/>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latin typeface="Gill Sans MT"/>
              </a:defRPr>
            </a:lvl1pPr>
          </a:lstStyle>
          <a:p>
            <a:fld id="{BC24317B-5122-4A99-A6E9-FA23C146A7E0}" type="slidenum">
              <a:rPr lang="en-US"/>
              <a:pPr/>
              <a:t>‹#›</a:t>
            </a:fld>
            <a:endParaRPr lang="en-US"/>
          </a:p>
        </p:txBody>
      </p:sp>
      <p:sp>
        <p:nvSpPr>
          <p:cNvPr id="6" name="Footer Placeholder 20"/>
          <p:cNvSpPr>
            <a:spLocks noGrp="1"/>
          </p:cNvSpPr>
          <p:nvPr>
            <p:ph type="ftr" sz="quarter" idx="3"/>
          </p:nvPr>
        </p:nvSpPr>
        <p:spPr>
          <a:xfrm>
            <a:off x="3124200" y="6356350"/>
            <a:ext cx="55830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r"/>
            <a:r>
              <a:rPr lang="fr-FR" dirty="0" smtClean="0"/>
              <a:t>ET2100 </a:t>
            </a:r>
            <a:r>
              <a:rPr lang="en-US" i="1" dirty="0" smtClean="0"/>
              <a:t>- </a:t>
            </a:r>
            <a:r>
              <a:rPr lang="en-US" b="1" i="1" dirty="0" smtClean="0"/>
              <a:t>Data Structures and Algorithms</a:t>
            </a:r>
            <a:endParaRPr lang="en-US" dirty="0" smtClean="0"/>
          </a:p>
          <a:p>
            <a:pPr algn="r"/>
            <a:r>
              <a:rPr lang="en-US" dirty="0" smtClean="0"/>
              <a:t>School of Electrical and Electronic Engineering</a:t>
            </a:r>
            <a:endParaRPr lang="en-US" dirty="0"/>
          </a:p>
        </p:txBody>
      </p:sp>
      <p:sp>
        <p:nvSpPr>
          <p:cNvPr id="5" name="Title Placeholder 2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4/5/2024</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24317B-5122-4A99-A6E9-FA23C146A7E0}" type="slidenum">
              <a:rPr lang="en-US" smtClean="0"/>
              <a:pPr/>
              <a:t>‹#›</a:t>
            </a:fld>
            <a:endParaRPr lang="en-US"/>
          </a:p>
        </p:txBody>
      </p:sp>
      <p:pic>
        <p:nvPicPr>
          <p:cNvPr id="7" name="Picture 2" descr="D:\lo go dhbk100957AM.jpg"/>
          <p:cNvPicPr>
            <a:picLocks noChangeAspect="1" noChangeArrowheads="1"/>
          </p:cNvPicPr>
          <p:nvPr userDrawn="1"/>
        </p:nvPicPr>
        <p:blipFill>
          <a:blip r:embed="rId23" cstate="print"/>
          <a:srcRect/>
          <a:stretch>
            <a:fillRect/>
          </a:stretch>
        </p:blipFill>
        <p:spPr bwMode="auto">
          <a:xfrm>
            <a:off x="8766174" y="6372320"/>
            <a:ext cx="225425" cy="336455"/>
          </a:xfrm>
          <a:prstGeom prst="rect">
            <a:avLst/>
          </a:prstGeom>
          <a:noFill/>
        </p:spPr>
      </p:pic>
    </p:spTree>
    <p:extLst>
      <p:ext uri="{BB962C8B-B14F-4D97-AF65-F5344CB8AC3E}">
        <p14:creationId xmlns:p14="http://schemas.microsoft.com/office/powerpoint/2010/main" val="3505420918"/>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 id="2147483777" r:id="rId19"/>
    <p:sldLayoutId id="2147483778" r:id="rId20"/>
    <p:sldLayoutId id="2147483751" r:id="rId2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7.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7.xml"/><Relationship Id="rId5" Type="http://schemas.openxmlformats.org/officeDocument/2006/relationships/image" Target="../media/image35.png"/><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7.xml"/><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17.xml"/><Relationship Id="rId5" Type="http://schemas.openxmlformats.org/officeDocument/2006/relationships/image" Target="../media/image42.png"/><Relationship Id="rId4" Type="http://schemas.openxmlformats.org/officeDocument/2006/relationships/image" Target="../media/image41.png"/></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43000" y="4120243"/>
            <a:ext cx="7315200" cy="1066800"/>
          </a:xfrm>
        </p:spPr>
        <p:txBody>
          <a:bodyPr>
            <a:normAutofit/>
          </a:bodyPr>
          <a:lstStyle/>
          <a:p>
            <a:pPr algn="ctr"/>
            <a:r>
              <a:rPr lang="en-US" dirty="0">
                <a:solidFill>
                  <a:schemeClr val="bg1"/>
                </a:solidFill>
              </a:rPr>
              <a:t>CẤU TRÚC DỮ LIỆU VÀ GIẢI THUẬT</a:t>
            </a:r>
          </a:p>
        </p:txBody>
      </p:sp>
      <p:sp>
        <p:nvSpPr>
          <p:cNvPr id="3" name="Text Placeholder 2"/>
          <p:cNvSpPr>
            <a:spLocks noGrp="1"/>
          </p:cNvSpPr>
          <p:nvPr>
            <p:ph type="body" idx="4294967295"/>
          </p:nvPr>
        </p:nvSpPr>
        <p:spPr>
          <a:xfrm>
            <a:off x="3886200" y="4876800"/>
            <a:ext cx="6781800" cy="1143000"/>
          </a:xfrm>
        </p:spPr>
        <p:txBody>
          <a:bodyPr>
            <a:normAutofit/>
          </a:bodyPr>
          <a:lstStyle/>
          <a:p>
            <a:pPr marL="0" indent="0">
              <a:buNone/>
            </a:pPr>
            <a:r>
              <a:rPr lang="fr-FR" sz="2800" dirty="0" smtClean="0">
                <a:solidFill>
                  <a:schemeClr val="bg1"/>
                </a:solidFill>
              </a:rPr>
              <a:t>ET2100</a:t>
            </a:r>
          </a:p>
          <a:p>
            <a:pPr marL="0" indent="0">
              <a:buNone/>
            </a:pPr>
            <a:endParaRPr lang="en-US" sz="2800" dirty="0">
              <a:solidFill>
                <a:schemeClr val="bg1"/>
              </a:solidFill>
            </a:endParaRPr>
          </a:p>
        </p:txBody>
      </p:sp>
      <p:sp>
        <p:nvSpPr>
          <p:cNvPr id="4" name="Slide Number Placeholder 3"/>
          <p:cNvSpPr>
            <a:spLocks noGrp="1"/>
          </p:cNvSpPr>
          <p:nvPr>
            <p:ph type="sldNum" sz="quarter" idx="4294967295"/>
          </p:nvPr>
        </p:nvSpPr>
        <p:spPr>
          <a:xfrm>
            <a:off x="7086600" y="6356350"/>
            <a:ext cx="2057400" cy="365125"/>
          </a:xfrm>
        </p:spPr>
        <p:txBody>
          <a:bodyPr/>
          <a:lstStyle/>
          <a:p>
            <a:fld id="{26B269CE-12F4-4F4F-BF2F-21E0A343DA44}" type="slidenum">
              <a:rPr lang="en-US" smtClean="0"/>
              <a:pPr/>
              <a:t>1</a:t>
            </a:fld>
            <a:endParaRPr lang="en-US"/>
          </a:p>
        </p:txBody>
      </p:sp>
    </p:spTree>
    <p:extLst>
      <p:ext uri="{BB962C8B-B14F-4D97-AF65-F5344CB8AC3E}">
        <p14:creationId xmlns:p14="http://schemas.microsoft.com/office/powerpoint/2010/main" val="4246562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2895600"/>
            <a:ext cx="7772400" cy="1066800"/>
          </a:xfrm>
        </p:spPr>
        <p:txBody>
          <a:bodyPr>
            <a:normAutofit/>
          </a:bodyPr>
          <a:lstStyle/>
          <a:p>
            <a:pPr algn="r"/>
            <a:r>
              <a:rPr lang="vi-VN" i="1" dirty="0"/>
              <a:t>Chương </a:t>
            </a:r>
            <a:r>
              <a:rPr lang="en-US" i="1" dirty="0" smtClean="0">
                <a:latin typeface="Times New Roman" panose="02020603050405020304" pitchFamily="18" charset="0"/>
                <a:cs typeface="Times New Roman" panose="02020603050405020304" pitchFamily="18" charset="0"/>
              </a:rPr>
              <a:t>III</a:t>
            </a:r>
            <a:r>
              <a:rPr lang="vi-VN" i="1" dirty="0" smtClean="0"/>
              <a:t>: </a:t>
            </a:r>
            <a:r>
              <a:rPr lang="en-US" i="1" dirty="0" smtClean="0"/>
              <a:t/>
            </a:r>
            <a:br>
              <a:rPr lang="en-US" i="1" dirty="0" smtClean="0"/>
            </a:br>
            <a:r>
              <a:rPr lang="vi-VN" i="1" dirty="0"/>
              <a:t>Giải thuật và thủ tục đệ quy</a:t>
            </a:r>
            <a:endParaRPr lang="en-US" b="1" i="1" dirty="0"/>
          </a:p>
        </p:txBody>
      </p:sp>
      <p:sp>
        <p:nvSpPr>
          <p:cNvPr id="3" name="Title 6">
            <a:extLst>
              <a:ext uri="{FF2B5EF4-FFF2-40B4-BE49-F238E27FC236}">
                <a16:creationId xmlns:a16="http://schemas.microsoft.com/office/drawing/2014/main" id="{A4ACF486-B7D8-4A5A-B633-83527A2F99E2}"/>
              </a:ext>
            </a:extLst>
          </p:cNvPr>
          <p:cNvSpPr txBox="1">
            <a:spLocks/>
          </p:cNvSpPr>
          <p:nvPr/>
        </p:nvSpPr>
        <p:spPr>
          <a:xfrm>
            <a:off x="3733800" y="4572000"/>
            <a:ext cx="7351077" cy="1119250"/>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1400" dirty="0" err="1"/>
              <a:t>Giảng</a:t>
            </a:r>
            <a:r>
              <a:rPr lang="en-US" sz="1400" dirty="0"/>
              <a:t> </a:t>
            </a:r>
            <a:r>
              <a:rPr lang="en-US" sz="1400" dirty="0" err="1"/>
              <a:t>viên</a:t>
            </a:r>
            <a:r>
              <a:rPr lang="en-US" sz="1400" dirty="0"/>
              <a:t>: TS. </a:t>
            </a:r>
            <a:r>
              <a:rPr lang="en-US" sz="1400" dirty="0" err="1"/>
              <a:t>Đỗ</a:t>
            </a:r>
            <a:r>
              <a:rPr lang="en-US" sz="1400" dirty="0"/>
              <a:t> </a:t>
            </a:r>
            <a:r>
              <a:rPr lang="en-US" sz="1400" dirty="0" err="1"/>
              <a:t>Thị</a:t>
            </a:r>
            <a:r>
              <a:rPr lang="en-US" sz="1400" dirty="0"/>
              <a:t> </a:t>
            </a:r>
            <a:r>
              <a:rPr lang="en-US" sz="1400" dirty="0" err="1"/>
              <a:t>Ngọc</a:t>
            </a:r>
            <a:r>
              <a:rPr lang="en-US" sz="1400" dirty="0"/>
              <a:t> </a:t>
            </a:r>
            <a:r>
              <a:rPr lang="en-US" sz="1400" dirty="0" err="1"/>
              <a:t>Diệp</a:t>
            </a:r>
            <a:endParaRPr lang="en-US" sz="1400" dirty="0"/>
          </a:p>
          <a:p>
            <a:r>
              <a:rPr lang="en-US" sz="1400" dirty="0" err="1" smtClean="0"/>
              <a:t>Khoa</a:t>
            </a:r>
            <a:r>
              <a:rPr lang="en-US" sz="1400" dirty="0" smtClean="0"/>
              <a:t> </a:t>
            </a:r>
            <a:r>
              <a:rPr lang="en-US" sz="1400" dirty="0" err="1"/>
              <a:t>Kỹ</a:t>
            </a:r>
            <a:r>
              <a:rPr lang="en-US" sz="1400" dirty="0"/>
              <a:t> </a:t>
            </a:r>
            <a:r>
              <a:rPr lang="en-US" sz="1400" dirty="0" err="1"/>
              <a:t>thuật</a:t>
            </a:r>
            <a:r>
              <a:rPr lang="en-US" sz="1400" dirty="0"/>
              <a:t> </a:t>
            </a:r>
            <a:r>
              <a:rPr lang="en-US" sz="1400" dirty="0" err="1"/>
              <a:t>Truyền</a:t>
            </a:r>
            <a:r>
              <a:rPr lang="en-US" sz="1400" dirty="0"/>
              <a:t> </a:t>
            </a:r>
            <a:r>
              <a:rPr lang="en-US" sz="1400" dirty="0" err="1"/>
              <a:t>thông</a:t>
            </a:r>
            <a:r>
              <a:rPr lang="en-US" sz="1400" dirty="0"/>
              <a:t> – </a:t>
            </a:r>
            <a:r>
              <a:rPr lang="en-US" sz="1400" dirty="0" err="1" smtClean="0"/>
              <a:t>Trường</a:t>
            </a:r>
            <a:r>
              <a:rPr lang="en-US" sz="1400" dirty="0" smtClean="0"/>
              <a:t> </a:t>
            </a:r>
            <a:r>
              <a:rPr lang="en-US" sz="1400" dirty="0" err="1" smtClean="0"/>
              <a:t>Điện</a:t>
            </a:r>
            <a:r>
              <a:rPr lang="en-US" sz="1400" dirty="0" smtClean="0"/>
              <a:t> </a:t>
            </a:r>
            <a:r>
              <a:rPr lang="en-US" sz="1400" dirty="0" err="1" smtClean="0"/>
              <a:t>Điện</a:t>
            </a:r>
            <a:r>
              <a:rPr lang="en-US" sz="1400" dirty="0" smtClean="0"/>
              <a:t> </a:t>
            </a:r>
            <a:r>
              <a:rPr lang="en-US" sz="1400" dirty="0" err="1" smtClean="0"/>
              <a:t>Tử</a:t>
            </a:r>
            <a:endParaRPr lang="en-US" sz="1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dirty="0" smtClean="0"/>
              <a:t>ET2100 </a:t>
            </a:r>
            <a:r>
              <a:rPr lang="en-US" i="1" dirty="0" smtClean="0"/>
              <a:t>- </a:t>
            </a:r>
            <a:r>
              <a:rPr lang="en-US" b="1" i="1" dirty="0" smtClean="0"/>
              <a:t>Data Structures and Algorithms</a:t>
            </a:r>
            <a:endParaRPr lang="en-US" dirty="0" smtClean="0"/>
          </a:p>
          <a:p>
            <a:pPr algn="r"/>
            <a:r>
              <a:rPr lang="en-US" dirty="0" smtClean="0"/>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3</a:t>
            </a:fld>
            <a:endParaRPr lang="en-US"/>
          </a:p>
        </p:txBody>
      </p:sp>
      <p:sp>
        <p:nvSpPr>
          <p:cNvPr id="2" name="Title 1"/>
          <p:cNvSpPr>
            <a:spLocks noGrp="1"/>
          </p:cNvSpPr>
          <p:nvPr>
            <p:ph type="title"/>
          </p:nvPr>
        </p:nvSpPr>
        <p:spPr/>
        <p:txBody>
          <a:bodyPr/>
          <a:lstStyle/>
          <a:p>
            <a:r>
              <a:rPr lang="en-US" altLang="en-US" dirty="0" err="1"/>
              <a:t>Các</a:t>
            </a:r>
            <a:r>
              <a:rPr lang="en-US" altLang="en-US" dirty="0"/>
              <a:t> </a:t>
            </a:r>
            <a:r>
              <a:rPr lang="en-US" altLang="en-US" dirty="0" err="1"/>
              <a:t>nội</a:t>
            </a:r>
            <a:r>
              <a:rPr lang="en-US" altLang="en-US" dirty="0"/>
              <a:t> dung </a:t>
            </a:r>
            <a:r>
              <a:rPr lang="en-US" altLang="en-US" dirty="0" err="1"/>
              <a:t>chính</a:t>
            </a:r>
            <a:endParaRPr lang="en-US" dirty="0"/>
          </a:p>
        </p:txBody>
      </p:sp>
      <p:sp>
        <p:nvSpPr>
          <p:cNvPr id="3" name="Content Placeholder 2"/>
          <p:cNvSpPr>
            <a:spLocks noGrp="1"/>
          </p:cNvSpPr>
          <p:nvPr>
            <p:ph type="body" sz="quarter" idx="13"/>
          </p:nvPr>
        </p:nvSpPr>
        <p:spPr/>
        <p:txBody>
          <a:bodyPr>
            <a:normAutofit/>
          </a:bodyPr>
          <a:lstStyle/>
          <a:p>
            <a:pPr marL="0" indent="0">
              <a:buNone/>
            </a:pPr>
            <a:r>
              <a:rPr lang="en-US" altLang="en-US" sz="2400" dirty="0" smtClean="0"/>
              <a:t>1. </a:t>
            </a:r>
            <a:r>
              <a:rPr lang="vi-VN" altLang="en-US" sz="2400" dirty="0" smtClean="0"/>
              <a:t>Khái </a:t>
            </a:r>
            <a:r>
              <a:rPr lang="vi-VN" altLang="en-US" sz="2400" dirty="0"/>
              <a:t>niệm về sự đệ </a:t>
            </a:r>
            <a:r>
              <a:rPr lang="vi-VN" altLang="en-US" sz="2400" dirty="0" smtClean="0"/>
              <a:t>quy</a:t>
            </a:r>
            <a:endParaRPr lang="vi-VN" altLang="en-US" sz="2400" dirty="0"/>
          </a:p>
          <a:p>
            <a:pPr marL="463550"/>
            <a:r>
              <a:rPr lang="vi-VN" altLang="en-US" sz="2400" dirty="0" smtClean="0"/>
              <a:t>1.1</a:t>
            </a:r>
            <a:r>
              <a:rPr lang="vi-VN" altLang="en-US" sz="2400" dirty="0"/>
              <a:t>. Định nghĩa đệ </a:t>
            </a:r>
            <a:r>
              <a:rPr lang="vi-VN" altLang="en-US" sz="2400" dirty="0" smtClean="0"/>
              <a:t>quy</a:t>
            </a:r>
            <a:endParaRPr lang="vi-VN" altLang="en-US" sz="2400" dirty="0"/>
          </a:p>
          <a:p>
            <a:pPr marL="463550"/>
            <a:r>
              <a:rPr lang="vi-VN" altLang="en-US" sz="2400" dirty="0" smtClean="0"/>
              <a:t>1.2</a:t>
            </a:r>
            <a:r>
              <a:rPr lang="vi-VN" altLang="en-US" sz="2400" dirty="0"/>
              <a:t>. Giải thuật đệ </a:t>
            </a:r>
            <a:r>
              <a:rPr lang="vi-VN" altLang="en-US" sz="2400" dirty="0" smtClean="0"/>
              <a:t>quy</a:t>
            </a:r>
            <a:endParaRPr lang="vi-VN" altLang="en-US" sz="2800" dirty="0"/>
          </a:p>
          <a:p>
            <a:pPr marL="0" indent="0">
              <a:buNone/>
            </a:pPr>
            <a:r>
              <a:rPr lang="en-US" altLang="en-US" sz="2400" dirty="0" smtClean="0"/>
              <a:t>2. </a:t>
            </a:r>
            <a:r>
              <a:rPr lang="vi-VN" altLang="en-US" sz="2400" dirty="0" smtClean="0"/>
              <a:t>Xây </a:t>
            </a:r>
            <a:r>
              <a:rPr lang="vi-VN" altLang="en-US" sz="2400" dirty="0"/>
              <a:t>dựng thủ tục đệ </a:t>
            </a:r>
            <a:r>
              <a:rPr lang="vi-VN" altLang="en-US" sz="2400" dirty="0" smtClean="0"/>
              <a:t>quy</a:t>
            </a:r>
            <a:endParaRPr lang="vi-VN" altLang="en-US" sz="2400" dirty="0"/>
          </a:p>
          <a:p>
            <a:pPr marL="463550"/>
            <a:r>
              <a:rPr lang="vi-VN" altLang="en-US" sz="2400" dirty="0"/>
              <a:t>2.1. Thủ tục đệ </a:t>
            </a:r>
            <a:r>
              <a:rPr lang="vi-VN" altLang="en-US" sz="2400" dirty="0" smtClean="0"/>
              <a:t>quy</a:t>
            </a:r>
            <a:endParaRPr lang="vi-VN" altLang="en-US" sz="2400" dirty="0"/>
          </a:p>
          <a:p>
            <a:pPr marL="463550"/>
            <a:r>
              <a:rPr lang="vi-VN" altLang="en-US" sz="2400" dirty="0"/>
              <a:t>2.2. Phương pháp xây dựng thủ tục đệ </a:t>
            </a:r>
            <a:r>
              <a:rPr lang="vi-VN" altLang="en-US" sz="2400" dirty="0" smtClean="0"/>
              <a:t>quy</a:t>
            </a:r>
            <a:endParaRPr lang="vi-VN" altLang="en-US" sz="2400" dirty="0"/>
          </a:p>
          <a:p>
            <a:pPr marL="463550"/>
            <a:r>
              <a:rPr lang="vi-VN" altLang="en-US" sz="2400" dirty="0"/>
              <a:t>2.3. Sự khử đệ </a:t>
            </a:r>
            <a:r>
              <a:rPr lang="vi-VN" altLang="en-US" sz="2400" dirty="0" smtClean="0"/>
              <a:t>quy</a:t>
            </a:r>
            <a:endParaRPr lang="vi-VN" altLang="en-US" sz="2400" dirty="0"/>
          </a:p>
          <a:p>
            <a:pPr marL="0" indent="0">
              <a:buNone/>
            </a:pPr>
            <a:r>
              <a:rPr lang="en-US" altLang="en-US" sz="2400" dirty="0" smtClean="0"/>
              <a:t>3. </a:t>
            </a:r>
            <a:r>
              <a:rPr lang="vi-VN" altLang="en-US" sz="2400" dirty="0" smtClean="0"/>
              <a:t>Một </a:t>
            </a:r>
            <a:r>
              <a:rPr lang="vi-VN" altLang="en-US" sz="2400" dirty="0"/>
              <a:t>số ví dụ minh hoạ </a:t>
            </a:r>
          </a:p>
          <a:p>
            <a:endParaRPr lang="en-US" sz="2400" dirty="0"/>
          </a:p>
        </p:txBody>
      </p:sp>
    </p:spTree>
    <p:extLst>
      <p:ext uri="{BB962C8B-B14F-4D97-AF65-F5344CB8AC3E}">
        <p14:creationId xmlns:p14="http://schemas.microsoft.com/office/powerpoint/2010/main" val="19796058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26B269CE-12F4-4F4F-BF2F-21E0A343DA44}" type="slidenum">
              <a:rPr lang="en-US" smtClean="0"/>
              <a:pPr/>
              <a:t>4</a:t>
            </a:fld>
            <a:endParaRPr lang="en-US"/>
          </a:p>
        </p:txBody>
      </p:sp>
      <p:sp>
        <p:nvSpPr>
          <p:cNvPr id="2" name="Title 1"/>
          <p:cNvSpPr>
            <a:spLocks noGrp="1"/>
          </p:cNvSpPr>
          <p:nvPr>
            <p:ph type="title"/>
          </p:nvPr>
        </p:nvSpPr>
        <p:spPr>
          <a:xfrm>
            <a:off x="3050721" y="2514600"/>
            <a:ext cx="8673846" cy="451739"/>
          </a:xfrm>
        </p:spPr>
        <p:txBody>
          <a:bodyPr/>
          <a:lstStyle/>
          <a:p>
            <a:r>
              <a:rPr lang="en-US" altLang="en-US" dirty="0">
                <a:solidFill>
                  <a:schemeClr val="tx1"/>
                </a:solidFill>
              </a:rPr>
              <a:t>1. </a:t>
            </a:r>
            <a:r>
              <a:rPr lang="vi-VN" altLang="en-US" dirty="0">
                <a:solidFill>
                  <a:schemeClr val="tx1"/>
                </a:solidFill>
              </a:rPr>
              <a:t>Khái niệm về sự đệ quy</a:t>
            </a:r>
            <a:endParaRPr lang="en-US" dirty="0">
              <a:solidFill>
                <a:schemeClr val="tx1"/>
              </a:solidFill>
            </a:endParaRPr>
          </a:p>
        </p:txBody>
      </p:sp>
    </p:spTree>
    <p:extLst>
      <p:ext uri="{BB962C8B-B14F-4D97-AF65-F5344CB8AC3E}">
        <p14:creationId xmlns:p14="http://schemas.microsoft.com/office/powerpoint/2010/main" val="33980607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5</a:t>
            </a:fld>
            <a:endParaRPr lang="en-US"/>
          </a:p>
        </p:txBody>
      </p:sp>
      <p:sp>
        <p:nvSpPr>
          <p:cNvPr id="5" name="Title 4"/>
          <p:cNvSpPr>
            <a:spLocks noGrp="1"/>
          </p:cNvSpPr>
          <p:nvPr>
            <p:ph type="title"/>
          </p:nvPr>
        </p:nvSpPr>
        <p:spPr/>
        <p:txBody>
          <a:bodyPr/>
          <a:lstStyle/>
          <a:p>
            <a:r>
              <a:rPr lang="en-US" altLang="en-US" dirty="0" smtClean="0"/>
              <a:t>1.1</a:t>
            </a:r>
            <a:r>
              <a:rPr lang="en-US" altLang="en-US" dirty="0"/>
              <a:t>. </a:t>
            </a:r>
            <a:r>
              <a:rPr lang="en-US" altLang="en-US" dirty="0" err="1"/>
              <a:t>Khái</a:t>
            </a:r>
            <a:r>
              <a:rPr lang="en-US" altLang="en-US" dirty="0"/>
              <a:t> </a:t>
            </a:r>
            <a:r>
              <a:rPr lang="en-US" altLang="en-US" dirty="0" err="1"/>
              <a:t>niệm</a:t>
            </a:r>
            <a:r>
              <a:rPr lang="en-US" altLang="en-US" dirty="0"/>
              <a:t> </a:t>
            </a:r>
            <a:r>
              <a:rPr lang="en-US" altLang="en-US" dirty="0" err="1"/>
              <a:t>đệ</a:t>
            </a:r>
            <a:r>
              <a:rPr lang="en-US" altLang="en-US" dirty="0"/>
              <a:t> </a:t>
            </a:r>
            <a:r>
              <a:rPr lang="en-US" altLang="en-US" dirty="0" err="1"/>
              <a:t>quy</a:t>
            </a:r>
            <a:r>
              <a:rPr lang="en-US" altLang="en-US" dirty="0"/>
              <a:t> </a:t>
            </a:r>
            <a:endParaRPr lang="en-US" dirty="0"/>
          </a:p>
        </p:txBody>
      </p:sp>
      <p:pic>
        <p:nvPicPr>
          <p:cNvPr id="6" name="Content Placeholder 5"/>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1228413" y="921142"/>
            <a:ext cx="6667670" cy="2390932"/>
          </a:xfrm>
        </p:spPr>
      </p:pic>
      <p:sp>
        <p:nvSpPr>
          <p:cNvPr id="8" name="Rectangle 7"/>
          <p:cNvSpPr/>
          <p:nvPr/>
        </p:nvSpPr>
        <p:spPr>
          <a:xfrm>
            <a:off x="6115050" y="3231495"/>
            <a:ext cx="1994457" cy="276999"/>
          </a:xfrm>
          <a:prstGeom prst="rect">
            <a:avLst/>
          </a:prstGeom>
        </p:spPr>
        <p:txBody>
          <a:bodyPr wrap="none">
            <a:spAutoFit/>
          </a:bodyPr>
          <a:lstStyle/>
          <a:p>
            <a:r>
              <a:rPr lang="en-US" sz="1200" dirty="0"/>
              <a:t>https://runestone.academy</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3515" y="3737203"/>
            <a:ext cx="2181225" cy="2286000"/>
          </a:xfrm>
          <a:prstGeom prst="rect">
            <a:avLst/>
          </a:prstGeom>
        </p:spPr>
      </p:pic>
      <p:sp>
        <p:nvSpPr>
          <p:cNvPr id="10" name="Rectangle 9"/>
          <p:cNvSpPr/>
          <p:nvPr/>
        </p:nvSpPr>
        <p:spPr>
          <a:xfrm>
            <a:off x="6936607" y="6023203"/>
            <a:ext cx="1608133" cy="261610"/>
          </a:xfrm>
          <a:prstGeom prst="rect">
            <a:avLst/>
          </a:prstGeom>
        </p:spPr>
        <p:txBody>
          <a:bodyPr wrap="none">
            <a:spAutoFit/>
          </a:bodyPr>
          <a:lstStyle/>
          <a:p>
            <a:r>
              <a:rPr lang="en-US" sz="1050" dirty="0"/>
              <a:t>http://www.cburch.com</a:t>
            </a:r>
          </a:p>
        </p:txBody>
      </p:sp>
      <p:pic>
        <p:nvPicPr>
          <p:cNvPr id="13" name="Picture 12"/>
          <p:cNvPicPr>
            <a:picLocks noChangeAspect="1"/>
          </p:cNvPicPr>
          <p:nvPr/>
        </p:nvPicPr>
        <p:blipFill>
          <a:blip r:embed="rId5"/>
          <a:stretch>
            <a:fillRect/>
          </a:stretch>
        </p:blipFill>
        <p:spPr>
          <a:xfrm>
            <a:off x="457200" y="3737203"/>
            <a:ext cx="2464680" cy="2054510"/>
          </a:xfrm>
          <a:prstGeom prst="rect">
            <a:avLst/>
          </a:prstGeom>
        </p:spPr>
      </p:pic>
      <p:pic>
        <p:nvPicPr>
          <p:cNvPr id="14" name="Picture 13"/>
          <p:cNvPicPr>
            <a:picLocks noChangeAspect="1"/>
          </p:cNvPicPr>
          <p:nvPr/>
        </p:nvPicPr>
        <p:blipFill>
          <a:blip r:embed="rId6"/>
          <a:stretch>
            <a:fillRect/>
          </a:stretch>
        </p:blipFill>
        <p:spPr>
          <a:xfrm>
            <a:off x="3202611" y="3856158"/>
            <a:ext cx="2913956" cy="1858842"/>
          </a:xfrm>
          <a:prstGeom prst="rect">
            <a:avLst/>
          </a:prstGeom>
        </p:spPr>
      </p:pic>
    </p:spTree>
    <p:extLst>
      <p:ext uri="{BB962C8B-B14F-4D97-AF65-F5344CB8AC3E}">
        <p14:creationId xmlns:p14="http://schemas.microsoft.com/office/powerpoint/2010/main" val="2461015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6</a:t>
            </a:fld>
            <a:endParaRPr lang="en-US"/>
          </a:p>
        </p:txBody>
      </p:sp>
      <p:sp>
        <p:nvSpPr>
          <p:cNvPr id="5" name="Title 4"/>
          <p:cNvSpPr>
            <a:spLocks noGrp="1"/>
          </p:cNvSpPr>
          <p:nvPr>
            <p:ph type="title"/>
          </p:nvPr>
        </p:nvSpPr>
        <p:spPr/>
        <p:txBody>
          <a:bodyPr/>
          <a:lstStyle/>
          <a:p>
            <a:r>
              <a:rPr lang="en-US" altLang="en-US" dirty="0" smtClean="0"/>
              <a:t>1.1</a:t>
            </a:r>
            <a:r>
              <a:rPr lang="en-US" altLang="en-US" dirty="0"/>
              <a:t>. </a:t>
            </a:r>
            <a:r>
              <a:rPr lang="en-US" altLang="en-US" dirty="0" err="1"/>
              <a:t>Khái</a:t>
            </a:r>
            <a:r>
              <a:rPr lang="en-US" altLang="en-US" dirty="0"/>
              <a:t> </a:t>
            </a:r>
            <a:r>
              <a:rPr lang="en-US" altLang="en-US" dirty="0" err="1"/>
              <a:t>niệm</a:t>
            </a:r>
            <a:r>
              <a:rPr lang="en-US" altLang="en-US" dirty="0"/>
              <a:t> </a:t>
            </a:r>
            <a:r>
              <a:rPr lang="en-US" altLang="en-US" dirty="0" err="1"/>
              <a:t>đệ</a:t>
            </a:r>
            <a:r>
              <a:rPr lang="en-US" altLang="en-US" dirty="0"/>
              <a:t> </a:t>
            </a:r>
            <a:r>
              <a:rPr lang="en-US" altLang="en-US" dirty="0" err="1"/>
              <a:t>quy</a:t>
            </a:r>
            <a:r>
              <a:rPr lang="en-US" altLang="en-US" dirty="0"/>
              <a:t> </a:t>
            </a:r>
            <a:endParaRPr lang="en-US" dirty="0"/>
          </a:p>
        </p:txBody>
      </p:sp>
      <p:sp>
        <p:nvSpPr>
          <p:cNvPr id="2" name="Content Placeholder 1"/>
          <p:cNvSpPr>
            <a:spLocks noGrp="1"/>
          </p:cNvSpPr>
          <p:nvPr>
            <p:ph type="body" sz="quarter" idx="13"/>
          </p:nvPr>
        </p:nvSpPr>
        <p:spPr/>
        <p:txBody>
          <a:bodyPr/>
          <a:lstStyle/>
          <a:p>
            <a:r>
              <a:rPr lang="vi-VN" sz="2400" dirty="0"/>
              <a:t>Khái niệm: </a:t>
            </a:r>
            <a:r>
              <a:rPr lang="en-US" sz="2400" dirty="0" smtClean="0"/>
              <a:t>“</a:t>
            </a:r>
            <a:r>
              <a:rPr lang="vi-VN" sz="2400" i="1" dirty="0" smtClean="0"/>
              <a:t>ta </a:t>
            </a:r>
            <a:r>
              <a:rPr lang="vi-VN" sz="2400" i="1" dirty="0"/>
              <a:t>gọi một đối tượng là đệ quy nếu nó bao gồm chính nó như một bộ phận hoặc nó được định nghĩa dưới dạng của chính </a:t>
            </a:r>
            <a:r>
              <a:rPr lang="vi-VN" sz="2400" i="1" dirty="0" smtClean="0"/>
              <a:t>nó</a:t>
            </a:r>
            <a:r>
              <a:rPr lang="en-US" sz="2400" i="1" dirty="0" smtClean="0"/>
              <a:t>”</a:t>
            </a:r>
            <a:r>
              <a:rPr lang="vi-VN" sz="2400" i="1" dirty="0" smtClean="0"/>
              <a:t>.</a:t>
            </a:r>
            <a:endParaRPr lang="en-US" sz="2400" i="1" dirty="0" smtClean="0"/>
          </a:p>
          <a:p>
            <a:r>
              <a:rPr lang="en-US" sz="2400" dirty="0" smtClean="0"/>
              <a:t>Đ</a:t>
            </a:r>
            <a:r>
              <a:rPr lang="vi-VN" sz="2400" dirty="0" smtClean="0"/>
              <a:t>ịnh </a:t>
            </a:r>
            <a:r>
              <a:rPr lang="vi-VN" sz="2400" dirty="0"/>
              <a:t>nghĩa kiểu đệ quy: </a:t>
            </a:r>
            <a:r>
              <a:rPr lang="vi-VN" sz="2000" dirty="0"/>
              <a:t>là cách định nghĩa </a:t>
            </a:r>
            <a:r>
              <a:rPr lang="vi-VN" sz="2000" dirty="0" smtClean="0"/>
              <a:t>một </a:t>
            </a:r>
            <a:r>
              <a:rPr lang="vi-VN" sz="2000" dirty="0"/>
              <a:t>đối </a:t>
            </a:r>
            <a:r>
              <a:rPr lang="vi-VN" sz="2000" dirty="0" smtClean="0"/>
              <a:t>tượng/khái </a:t>
            </a:r>
            <a:r>
              <a:rPr lang="vi-VN" sz="2000" dirty="0"/>
              <a:t>niệm </a:t>
            </a:r>
            <a:r>
              <a:rPr lang="vi-VN" sz="2000" dirty="0" smtClean="0"/>
              <a:t>dựa </a:t>
            </a:r>
            <a:r>
              <a:rPr lang="vi-VN" sz="2000" dirty="0"/>
              <a:t>vào một hay một tập các đối </a:t>
            </a:r>
            <a:r>
              <a:rPr lang="vi-VN" sz="2000" dirty="0" smtClean="0"/>
              <a:t>tượng/khái </a:t>
            </a:r>
            <a:r>
              <a:rPr lang="vi-VN" sz="2000" dirty="0"/>
              <a:t>niệm có </a:t>
            </a:r>
            <a:r>
              <a:rPr lang="vi-VN" sz="2000" b="1" dirty="0"/>
              <a:t>cùng bản chất </a:t>
            </a:r>
            <a:r>
              <a:rPr lang="vi-VN" sz="2000" dirty="0"/>
              <a:t>với đối </a:t>
            </a:r>
            <a:r>
              <a:rPr lang="vi-VN" sz="2000" dirty="0" smtClean="0"/>
              <a:t>tượng/khái </a:t>
            </a:r>
            <a:r>
              <a:rPr lang="vi-VN" sz="2000" dirty="0"/>
              <a:t>niệm cần định nghĩa nhưng có </a:t>
            </a:r>
            <a:r>
              <a:rPr lang="vi-VN" sz="2000" b="1" dirty="0"/>
              <a:t>quy mô nhỏ </a:t>
            </a:r>
            <a:r>
              <a:rPr lang="vi-VN" sz="2000" b="1" dirty="0" smtClean="0"/>
              <a:t>hơn</a:t>
            </a:r>
            <a:r>
              <a:rPr lang="en-US" sz="2000" dirty="0" smtClean="0"/>
              <a:t>.</a:t>
            </a:r>
            <a:r>
              <a:rPr lang="vi-VN" sz="2000" dirty="0" smtClean="0"/>
              <a:t> </a:t>
            </a:r>
            <a:endParaRPr lang="en-US" sz="2000" dirty="0" smtClean="0"/>
          </a:p>
          <a:p>
            <a:pPr lvl="1"/>
            <a:r>
              <a:rPr lang="vi-VN" sz="2000" dirty="0"/>
              <a:t>Đệ quy bao gồm:</a:t>
            </a:r>
          </a:p>
          <a:p>
            <a:pPr lvl="2"/>
            <a:r>
              <a:rPr lang="vi-VN" sz="1800" dirty="0"/>
              <a:t>Các quy tắc cơ sở (basic rules)</a:t>
            </a:r>
          </a:p>
          <a:p>
            <a:pPr lvl="2"/>
            <a:r>
              <a:rPr lang="vi-VN" sz="1800" dirty="0"/>
              <a:t>Các quy tắc quy nạp (inductive rules)</a:t>
            </a:r>
          </a:p>
          <a:p>
            <a:r>
              <a:rPr lang="vi-VN" sz="2400" dirty="0"/>
              <a:t>Tính chất đệ quy: </a:t>
            </a:r>
            <a:r>
              <a:rPr lang="vi-VN" sz="2000" dirty="0"/>
              <a:t>các đối </a:t>
            </a:r>
            <a:r>
              <a:rPr lang="vi-VN" sz="2000" dirty="0" smtClean="0"/>
              <a:t>tượng/khái </a:t>
            </a:r>
            <a:r>
              <a:rPr lang="vi-VN" sz="2000" dirty="0"/>
              <a:t>niệm có thể định nghĩa một cách đệ quy thì ta gọi chúng có tính chất đệ quy. </a:t>
            </a:r>
            <a:endParaRPr lang="en-US" sz="2000" dirty="0"/>
          </a:p>
        </p:txBody>
      </p:sp>
    </p:spTree>
    <p:extLst>
      <p:ext uri="{BB962C8B-B14F-4D97-AF65-F5344CB8AC3E}">
        <p14:creationId xmlns:p14="http://schemas.microsoft.com/office/powerpoint/2010/main" val="44236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7</a:t>
            </a:fld>
            <a:endParaRPr lang="en-US"/>
          </a:p>
        </p:txBody>
      </p:sp>
      <p:sp>
        <p:nvSpPr>
          <p:cNvPr id="5" name="Title 4"/>
          <p:cNvSpPr>
            <a:spLocks noGrp="1"/>
          </p:cNvSpPr>
          <p:nvPr>
            <p:ph type="title"/>
          </p:nvPr>
        </p:nvSpPr>
        <p:spPr/>
        <p:txBody>
          <a:bodyPr/>
          <a:lstStyle/>
          <a:p>
            <a:r>
              <a:rPr lang="en-US" altLang="en-US" dirty="0" smtClean="0"/>
              <a:t>1.1. </a:t>
            </a:r>
            <a:r>
              <a:rPr lang="en-US" altLang="en-US" dirty="0" err="1" smtClean="0"/>
              <a:t>Khái</a:t>
            </a:r>
            <a:r>
              <a:rPr lang="en-US" altLang="en-US" dirty="0" smtClean="0"/>
              <a:t> </a:t>
            </a:r>
            <a:r>
              <a:rPr lang="en-US" altLang="en-US" dirty="0" err="1"/>
              <a:t>niệm</a:t>
            </a:r>
            <a:r>
              <a:rPr lang="en-US" altLang="en-US" dirty="0"/>
              <a:t> </a:t>
            </a:r>
            <a:r>
              <a:rPr lang="en-US" altLang="en-US" dirty="0" err="1"/>
              <a:t>đệ</a:t>
            </a:r>
            <a:r>
              <a:rPr lang="en-US" altLang="en-US" dirty="0"/>
              <a:t> </a:t>
            </a:r>
            <a:r>
              <a:rPr lang="en-US" altLang="en-US" dirty="0" err="1"/>
              <a:t>quy</a:t>
            </a:r>
            <a:r>
              <a:rPr lang="en-US" altLang="en-US" dirty="0"/>
              <a:t> </a:t>
            </a:r>
            <a:endParaRPr lang="en-US" dirty="0"/>
          </a:p>
        </p:txBody>
      </p:sp>
      <p:sp>
        <p:nvSpPr>
          <p:cNvPr id="2" name="Content Placeholder 1"/>
          <p:cNvSpPr>
            <a:spLocks noGrp="1"/>
          </p:cNvSpPr>
          <p:nvPr>
            <p:ph type="body" sz="quarter" idx="13"/>
          </p:nvPr>
        </p:nvSpPr>
        <p:spPr/>
        <p:txBody>
          <a:bodyPr/>
          <a:lstStyle/>
          <a:p>
            <a:r>
              <a:rPr lang="en-US" altLang="en-US" sz="2400" dirty="0" err="1" smtClean="0">
                <a:cs typeface="Times New Roman" panose="02020603050405020304" pitchFamily="18" charset="0"/>
              </a:rPr>
              <a:t>Ví</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dụ</a:t>
            </a:r>
            <a:endParaRPr lang="en-US" altLang="en-US" sz="2400" dirty="0" smtClean="0">
              <a:cs typeface="Times New Roman" panose="02020603050405020304" pitchFamily="18" charset="0"/>
            </a:endParaRPr>
          </a:p>
          <a:p>
            <a:pPr lvl="1">
              <a:lnSpc>
                <a:spcPct val="90000"/>
              </a:lnSpc>
              <a:spcBef>
                <a:spcPct val="10000"/>
              </a:spcBef>
            </a:pPr>
            <a:r>
              <a:rPr lang="en-US" altLang="en-US" sz="2400" dirty="0" smtClean="0">
                <a:cs typeface="Times New Roman" panose="02020603050405020304" pitchFamily="18" charset="0"/>
              </a:rPr>
              <a:t>String</a:t>
            </a:r>
            <a:endParaRPr lang="en-US" altLang="en-US" sz="2400" dirty="0">
              <a:cs typeface="Times New Roman" panose="02020603050405020304" pitchFamily="18" charset="0"/>
            </a:endParaRPr>
          </a:p>
          <a:p>
            <a:pPr lvl="2">
              <a:spcBef>
                <a:spcPct val="10000"/>
              </a:spcBef>
            </a:pPr>
            <a:r>
              <a:rPr lang="en-US" altLang="en-US" sz="1800" dirty="0" err="1" smtClean="0">
                <a:cs typeface="Times New Roman" panose="02020603050405020304" pitchFamily="18" charset="0"/>
              </a:rPr>
              <a:t>Quy</a:t>
            </a:r>
            <a:r>
              <a:rPr lang="en-US" altLang="en-US" sz="1800" dirty="0" smtClean="0">
                <a:cs typeface="Times New Roman" panose="02020603050405020304" pitchFamily="18" charset="0"/>
              </a:rPr>
              <a:t> </a:t>
            </a:r>
            <a:r>
              <a:rPr lang="en-US" altLang="en-US" sz="1800" dirty="0" err="1" smtClean="0">
                <a:cs typeface="Times New Roman" panose="02020603050405020304" pitchFamily="18" charset="0"/>
              </a:rPr>
              <a:t>tắc</a:t>
            </a:r>
            <a:r>
              <a:rPr lang="en-US" altLang="en-US" sz="1800" dirty="0" smtClean="0">
                <a:cs typeface="Times New Roman" panose="02020603050405020304" pitchFamily="18" charset="0"/>
              </a:rPr>
              <a:t> 1: </a:t>
            </a:r>
            <a:r>
              <a:rPr lang="en-US" altLang="en-US" sz="1600" dirty="0" smtClean="0">
                <a:latin typeface="Courier New" panose="02070309020205020404" pitchFamily="49" charset="0"/>
                <a:cs typeface="Courier New" panose="02070309020205020404" pitchFamily="49" charset="0"/>
              </a:rPr>
              <a:t>String = 1 char + (sub</a:t>
            </a: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String</a:t>
            </a:r>
          </a:p>
          <a:p>
            <a:pPr lvl="2">
              <a:spcBef>
                <a:spcPct val="10000"/>
              </a:spcBef>
            </a:pPr>
            <a:r>
              <a:rPr lang="en-US" altLang="en-US" sz="1800" dirty="0" err="1" smtClean="0">
                <a:cs typeface="Times New Roman" panose="02020603050405020304" pitchFamily="18" charset="0"/>
              </a:rPr>
              <a:t>Quy</a:t>
            </a:r>
            <a:r>
              <a:rPr lang="en-US" altLang="en-US" sz="1800" dirty="0" smtClean="0">
                <a:cs typeface="Times New Roman" panose="02020603050405020304" pitchFamily="18" charset="0"/>
              </a:rPr>
              <a:t> </a:t>
            </a:r>
            <a:r>
              <a:rPr lang="en-US" altLang="en-US" sz="1800" dirty="0" err="1">
                <a:cs typeface="Times New Roman" panose="02020603050405020304" pitchFamily="18" charset="0"/>
              </a:rPr>
              <a:t>tắc</a:t>
            </a:r>
            <a:r>
              <a:rPr lang="en-US" altLang="en-US" sz="1800" dirty="0">
                <a:cs typeface="Times New Roman" panose="02020603050405020304" pitchFamily="18" charset="0"/>
              </a:rPr>
              <a:t> </a:t>
            </a:r>
            <a:r>
              <a:rPr lang="en-US" altLang="en-US" sz="1800" dirty="0" smtClean="0">
                <a:cs typeface="Times New Roman" panose="02020603050405020304" pitchFamily="18" charset="0"/>
              </a:rPr>
              <a:t>2: </a:t>
            </a:r>
            <a:r>
              <a:rPr lang="en-US" altLang="en-US" sz="1600" dirty="0">
                <a:latin typeface="Courier New" panose="02070309020205020404" pitchFamily="49" charset="0"/>
                <a:cs typeface="Courier New" panose="02070309020205020404" pitchFamily="49" charset="0"/>
              </a:rPr>
              <a:t>1 char = String</a:t>
            </a:r>
          </a:p>
          <a:p>
            <a:pPr lvl="1">
              <a:lnSpc>
                <a:spcPct val="90000"/>
              </a:lnSpc>
              <a:spcBef>
                <a:spcPct val="10000"/>
              </a:spcBef>
            </a:pPr>
            <a:r>
              <a:rPr lang="en-US" altLang="en-US" sz="2400" dirty="0" err="1" smtClean="0">
                <a:cs typeface="Times New Roman" panose="02020603050405020304" pitchFamily="18" charset="0"/>
              </a:rPr>
              <a:t>Số</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tự</a:t>
            </a:r>
            <a:r>
              <a:rPr lang="en-US" altLang="en-US" sz="2400" dirty="0">
                <a:cs typeface="Times New Roman" panose="02020603050405020304" pitchFamily="18" charset="0"/>
              </a:rPr>
              <a:t> </a:t>
            </a:r>
            <a:r>
              <a:rPr lang="en-US" altLang="en-US" sz="2400" dirty="0" err="1">
                <a:cs typeface="Times New Roman" panose="02020603050405020304" pitchFamily="18" charset="0"/>
              </a:rPr>
              <a:t>nhiên</a:t>
            </a:r>
            <a:endParaRPr lang="en-US" altLang="en-US" sz="2400" dirty="0">
              <a:cs typeface="Times New Roman" panose="02020603050405020304" pitchFamily="18" charset="0"/>
            </a:endParaRPr>
          </a:p>
          <a:p>
            <a:pPr lvl="2">
              <a:spcBef>
                <a:spcPct val="10000"/>
              </a:spcBef>
            </a:pPr>
            <a:r>
              <a:rPr lang="en-US" altLang="en-US" sz="1800" dirty="0" err="1" smtClean="0">
                <a:cs typeface="Times New Roman" panose="02020603050405020304" pitchFamily="18" charset="0"/>
              </a:rPr>
              <a:t>Quy</a:t>
            </a:r>
            <a:r>
              <a:rPr lang="en-US" altLang="en-US" sz="1800" dirty="0" smtClean="0">
                <a:cs typeface="Times New Roman" panose="02020603050405020304" pitchFamily="18" charset="0"/>
              </a:rPr>
              <a:t> </a:t>
            </a:r>
            <a:r>
              <a:rPr lang="en-US" altLang="en-US" sz="1800" dirty="0" err="1">
                <a:cs typeface="Times New Roman" panose="02020603050405020304" pitchFamily="18" charset="0"/>
              </a:rPr>
              <a:t>tắc</a:t>
            </a:r>
            <a:r>
              <a:rPr lang="en-US" altLang="en-US" sz="1800" dirty="0">
                <a:cs typeface="Times New Roman" panose="02020603050405020304" pitchFamily="18" charset="0"/>
              </a:rPr>
              <a:t> </a:t>
            </a:r>
            <a:r>
              <a:rPr lang="en-US" altLang="en-US" sz="1800" dirty="0" smtClean="0">
                <a:cs typeface="Times New Roman" panose="02020603050405020304" pitchFamily="18" charset="0"/>
              </a:rPr>
              <a:t>1: </a:t>
            </a:r>
            <a:r>
              <a:rPr lang="en-US" altLang="en-US" sz="1600" dirty="0">
                <a:latin typeface="Courier New" panose="02070309020205020404" pitchFamily="49" charset="0"/>
                <a:cs typeface="Courier New" panose="02070309020205020404" pitchFamily="49" charset="0"/>
              </a:rPr>
              <a:t>x </a:t>
            </a:r>
            <a:r>
              <a:rPr lang="en-US" altLang="en-US" sz="1600" dirty="0">
                <a:latin typeface="Courier New" panose="02070309020205020404" pitchFamily="49" charset="0"/>
                <a:cs typeface="Courier New" panose="02070309020205020404" pitchFamily="49" charset="0"/>
                <a:sym typeface="Euclid Symbol" pitchFamily="18" charset="2"/>
              </a:rPr>
              <a:t> N if (x-1)  N</a:t>
            </a:r>
          </a:p>
          <a:p>
            <a:pPr lvl="2">
              <a:spcBef>
                <a:spcPct val="10000"/>
              </a:spcBef>
            </a:pPr>
            <a:r>
              <a:rPr lang="en-US" altLang="en-US" sz="1800" dirty="0" err="1" smtClean="0">
                <a:cs typeface="Times New Roman" panose="02020603050405020304" pitchFamily="18" charset="0"/>
              </a:rPr>
              <a:t>Quy</a:t>
            </a:r>
            <a:r>
              <a:rPr lang="en-US" altLang="en-US" sz="1800" dirty="0" smtClean="0">
                <a:cs typeface="Times New Roman" panose="02020603050405020304" pitchFamily="18" charset="0"/>
              </a:rPr>
              <a:t> </a:t>
            </a:r>
            <a:r>
              <a:rPr lang="en-US" altLang="en-US" sz="1800" dirty="0" err="1">
                <a:cs typeface="Times New Roman" panose="02020603050405020304" pitchFamily="18" charset="0"/>
              </a:rPr>
              <a:t>tắc</a:t>
            </a:r>
            <a:r>
              <a:rPr lang="en-US" altLang="en-US" sz="1800" dirty="0">
                <a:cs typeface="Times New Roman" panose="02020603050405020304" pitchFamily="18" charset="0"/>
              </a:rPr>
              <a:t> </a:t>
            </a:r>
            <a:r>
              <a:rPr lang="en-US" altLang="en-US" sz="1800" dirty="0" smtClean="0">
                <a:cs typeface="Times New Roman" panose="02020603050405020304" pitchFamily="18" charset="0"/>
              </a:rPr>
              <a:t>2: </a:t>
            </a:r>
            <a:r>
              <a:rPr lang="en-US" altLang="en-US" sz="1600" dirty="0">
                <a:latin typeface="Courier New" panose="02070309020205020404" pitchFamily="49" charset="0"/>
                <a:cs typeface="Courier New" panose="02070309020205020404" pitchFamily="49" charset="0"/>
              </a:rPr>
              <a:t>1 </a:t>
            </a:r>
            <a:r>
              <a:rPr lang="en-US" altLang="en-US" sz="1600" dirty="0">
                <a:latin typeface="Courier New" panose="02070309020205020404" pitchFamily="49" charset="0"/>
                <a:cs typeface="Courier New" panose="02070309020205020404" pitchFamily="49" charset="0"/>
                <a:sym typeface="Euclid Symbol" pitchFamily="18" charset="2"/>
              </a:rPr>
              <a:t> N</a:t>
            </a:r>
            <a:endParaRPr lang="en-US" altLang="en-US" sz="1600" dirty="0">
              <a:latin typeface="Courier New" panose="02070309020205020404" pitchFamily="49" charset="0"/>
              <a:cs typeface="Courier New" panose="02070309020205020404" pitchFamily="49" charset="0"/>
            </a:endParaRPr>
          </a:p>
          <a:p>
            <a:pPr lvl="1">
              <a:lnSpc>
                <a:spcPct val="90000"/>
              </a:lnSpc>
              <a:spcBef>
                <a:spcPct val="10000"/>
              </a:spcBef>
            </a:pPr>
            <a:r>
              <a:rPr lang="en-US" altLang="en-US" sz="2400" dirty="0" smtClean="0">
                <a:cs typeface="Times New Roman" panose="02020603050405020304" pitchFamily="18" charset="0"/>
                <a:sym typeface="Euclid Symbol" pitchFamily="18" charset="2"/>
              </a:rPr>
              <a:t>N</a:t>
            </a:r>
            <a:r>
              <a:rPr lang="en-US" altLang="en-US" sz="2400" dirty="0">
                <a:cs typeface="Times New Roman" panose="02020603050405020304" pitchFamily="18" charset="0"/>
                <a:sym typeface="Euclid Symbol" pitchFamily="18" charset="2"/>
              </a:rPr>
              <a:t>!</a:t>
            </a:r>
          </a:p>
          <a:p>
            <a:pPr lvl="2">
              <a:spcBef>
                <a:spcPct val="10000"/>
              </a:spcBef>
            </a:pPr>
            <a:r>
              <a:rPr lang="en-US" altLang="en-US" sz="1800" dirty="0" err="1">
                <a:cs typeface="Times New Roman" panose="02020603050405020304" pitchFamily="18" charset="0"/>
              </a:rPr>
              <a:t>Quy</a:t>
            </a:r>
            <a:r>
              <a:rPr lang="en-US" altLang="en-US" sz="1800" dirty="0">
                <a:cs typeface="Times New Roman" panose="02020603050405020304" pitchFamily="18" charset="0"/>
              </a:rPr>
              <a:t> </a:t>
            </a:r>
            <a:r>
              <a:rPr lang="en-US" altLang="en-US" sz="1800" dirty="0" err="1">
                <a:cs typeface="Times New Roman" panose="02020603050405020304" pitchFamily="18" charset="0"/>
              </a:rPr>
              <a:t>tắc</a:t>
            </a:r>
            <a:r>
              <a:rPr lang="en-US" altLang="en-US" sz="1800" dirty="0">
                <a:cs typeface="Times New Roman" panose="02020603050405020304" pitchFamily="18" charset="0"/>
              </a:rPr>
              <a:t> </a:t>
            </a:r>
            <a:r>
              <a:rPr lang="en-US" altLang="en-US" sz="1800" dirty="0" smtClean="0">
                <a:cs typeface="Times New Roman" panose="02020603050405020304" pitchFamily="18" charset="0"/>
              </a:rPr>
              <a:t>1: </a:t>
            </a:r>
            <a:r>
              <a:rPr lang="en-US" altLang="en-US" sz="1600" dirty="0">
                <a:latin typeface="Courier New" panose="02070309020205020404" pitchFamily="49" charset="0"/>
                <a:cs typeface="Courier New" panose="02070309020205020404" pitchFamily="49" charset="0"/>
                <a:sym typeface="Euclid Symbol" pitchFamily="18" charset="2"/>
              </a:rPr>
              <a:t>n! = n * (n-1)!</a:t>
            </a:r>
          </a:p>
          <a:p>
            <a:pPr lvl="2">
              <a:spcBef>
                <a:spcPct val="10000"/>
              </a:spcBef>
            </a:pPr>
            <a:r>
              <a:rPr lang="en-US" altLang="en-US" sz="1800" dirty="0" err="1" smtClean="0">
                <a:cs typeface="Times New Roman" panose="02020603050405020304" pitchFamily="18" charset="0"/>
              </a:rPr>
              <a:t>Quy</a:t>
            </a:r>
            <a:r>
              <a:rPr lang="en-US" altLang="en-US" sz="1800" dirty="0" smtClean="0">
                <a:cs typeface="Times New Roman" panose="02020603050405020304" pitchFamily="18" charset="0"/>
              </a:rPr>
              <a:t> </a:t>
            </a:r>
            <a:r>
              <a:rPr lang="en-US" altLang="en-US" sz="1800" dirty="0" err="1">
                <a:cs typeface="Times New Roman" panose="02020603050405020304" pitchFamily="18" charset="0"/>
              </a:rPr>
              <a:t>tắc</a:t>
            </a:r>
            <a:r>
              <a:rPr lang="en-US" altLang="en-US" sz="1800" dirty="0">
                <a:cs typeface="Times New Roman" panose="02020603050405020304" pitchFamily="18" charset="0"/>
              </a:rPr>
              <a:t> </a:t>
            </a:r>
            <a:r>
              <a:rPr lang="en-US" altLang="en-US" sz="1800" dirty="0" smtClean="0">
                <a:cs typeface="Times New Roman" panose="02020603050405020304" pitchFamily="18" charset="0"/>
              </a:rPr>
              <a:t>2: </a:t>
            </a:r>
            <a:r>
              <a:rPr lang="en-US" altLang="en-US" sz="1600" dirty="0">
                <a:latin typeface="Courier New" panose="02070309020205020404" pitchFamily="49" charset="0"/>
                <a:cs typeface="Courier New" panose="02070309020205020404" pitchFamily="49" charset="0"/>
                <a:sym typeface="Euclid Symbol" pitchFamily="18" charset="2"/>
              </a:rPr>
              <a:t>0! = 1</a:t>
            </a:r>
          </a:p>
          <a:p>
            <a:pPr lvl="1">
              <a:lnSpc>
                <a:spcPct val="90000"/>
              </a:lnSpc>
              <a:spcBef>
                <a:spcPct val="10000"/>
              </a:spcBef>
            </a:pPr>
            <a:r>
              <a:rPr lang="en-US" altLang="en-US" sz="2400" dirty="0" err="1" smtClean="0">
                <a:cs typeface="Times New Roman" panose="02020603050405020304" pitchFamily="18" charset="0"/>
                <a:sym typeface="Euclid Symbol" pitchFamily="18" charset="2"/>
              </a:rPr>
              <a:t>Định</a:t>
            </a:r>
            <a:r>
              <a:rPr lang="en-US" altLang="en-US" sz="2400" dirty="0" smtClean="0">
                <a:cs typeface="Times New Roman" panose="02020603050405020304" pitchFamily="18" charset="0"/>
                <a:sym typeface="Euclid Symbol" pitchFamily="18" charset="2"/>
              </a:rPr>
              <a:t> </a:t>
            </a:r>
            <a:r>
              <a:rPr lang="en-US" altLang="en-US" sz="2400" dirty="0" err="1">
                <a:cs typeface="Times New Roman" panose="02020603050405020304" pitchFamily="18" charset="0"/>
                <a:sym typeface="Euclid Symbol" pitchFamily="18" charset="2"/>
              </a:rPr>
              <a:t>nghĩa</a:t>
            </a:r>
            <a:r>
              <a:rPr lang="en-US" altLang="en-US" sz="2400" dirty="0">
                <a:cs typeface="Times New Roman" panose="02020603050405020304" pitchFamily="18" charset="0"/>
                <a:sym typeface="Euclid Symbol" pitchFamily="18" charset="2"/>
              </a:rPr>
              <a:t> </a:t>
            </a:r>
            <a:r>
              <a:rPr lang="en-US" altLang="en-US" sz="2400" dirty="0" err="1">
                <a:cs typeface="Times New Roman" panose="02020603050405020304" pitchFamily="18" charset="0"/>
                <a:sym typeface="Euclid Symbol" pitchFamily="18" charset="2"/>
              </a:rPr>
              <a:t>danh</a:t>
            </a:r>
            <a:r>
              <a:rPr lang="en-US" altLang="en-US" sz="2400" dirty="0">
                <a:cs typeface="Times New Roman" panose="02020603050405020304" pitchFamily="18" charset="0"/>
                <a:sym typeface="Euclid Symbol" pitchFamily="18" charset="2"/>
              </a:rPr>
              <a:t> </a:t>
            </a:r>
            <a:r>
              <a:rPr lang="en-US" altLang="en-US" sz="2400" dirty="0" err="1">
                <a:cs typeface="Times New Roman" panose="02020603050405020304" pitchFamily="18" charset="0"/>
                <a:sym typeface="Euclid Symbol" pitchFamily="18" charset="2"/>
              </a:rPr>
              <a:t>sách</a:t>
            </a:r>
            <a:r>
              <a:rPr lang="en-US" altLang="en-US" sz="2400" dirty="0">
                <a:cs typeface="Times New Roman" panose="02020603050405020304" pitchFamily="18" charset="0"/>
                <a:sym typeface="Euclid Symbol" pitchFamily="18" charset="2"/>
              </a:rPr>
              <a:t> </a:t>
            </a:r>
            <a:r>
              <a:rPr lang="en-US" altLang="en-US" sz="2400" dirty="0" err="1">
                <a:cs typeface="Times New Roman" panose="02020603050405020304" pitchFamily="18" charset="0"/>
                <a:sym typeface="Euclid Symbol" pitchFamily="18" charset="2"/>
              </a:rPr>
              <a:t>tuyến</a:t>
            </a:r>
            <a:r>
              <a:rPr lang="en-US" altLang="en-US" sz="2400" dirty="0">
                <a:cs typeface="Times New Roman" panose="02020603050405020304" pitchFamily="18" charset="0"/>
                <a:sym typeface="Euclid Symbol" pitchFamily="18" charset="2"/>
              </a:rPr>
              <a:t> </a:t>
            </a:r>
            <a:r>
              <a:rPr lang="en-US" altLang="en-US" sz="2400" dirty="0" err="1">
                <a:cs typeface="Times New Roman" panose="02020603050405020304" pitchFamily="18" charset="0"/>
                <a:sym typeface="Euclid Symbol" pitchFamily="18" charset="2"/>
              </a:rPr>
              <a:t>tính</a:t>
            </a:r>
            <a:r>
              <a:rPr lang="en-US" altLang="en-US" sz="2400" dirty="0">
                <a:cs typeface="Times New Roman" panose="02020603050405020304" pitchFamily="18" charset="0"/>
                <a:sym typeface="Euclid Symbol" pitchFamily="18" charset="2"/>
              </a:rPr>
              <a:t>:</a:t>
            </a:r>
          </a:p>
          <a:p>
            <a:pPr lvl="2">
              <a:lnSpc>
                <a:spcPct val="105000"/>
              </a:lnSpc>
              <a:spcBef>
                <a:spcPct val="10000"/>
              </a:spcBef>
            </a:pPr>
            <a:r>
              <a:rPr lang="en-US" altLang="en-US" sz="1800" dirty="0" err="1" smtClean="0">
                <a:cs typeface="Times New Roman" panose="02020603050405020304" pitchFamily="18" charset="0"/>
              </a:rPr>
              <a:t>Quy</a:t>
            </a:r>
            <a:r>
              <a:rPr lang="en-US" altLang="en-US" sz="1800" dirty="0" smtClean="0">
                <a:cs typeface="Times New Roman" panose="02020603050405020304" pitchFamily="18" charset="0"/>
              </a:rPr>
              <a:t> </a:t>
            </a:r>
            <a:r>
              <a:rPr lang="en-US" altLang="en-US" sz="1800" dirty="0" err="1">
                <a:cs typeface="Times New Roman" panose="02020603050405020304" pitchFamily="18" charset="0"/>
              </a:rPr>
              <a:t>tắc</a:t>
            </a:r>
            <a:r>
              <a:rPr lang="en-US" altLang="en-US" sz="1800" dirty="0">
                <a:cs typeface="Times New Roman" panose="02020603050405020304" pitchFamily="18" charset="0"/>
              </a:rPr>
              <a:t> </a:t>
            </a:r>
            <a:r>
              <a:rPr lang="en-US" altLang="en-US" sz="1800" dirty="0" smtClean="0">
                <a:cs typeface="Times New Roman" panose="02020603050405020304" pitchFamily="18" charset="0"/>
              </a:rPr>
              <a:t>1: </a:t>
            </a:r>
            <a:r>
              <a:rPr lang="en-US" altLang="en-US" sz="1800" dirty="0" err="1">
                <a:cs typeface="Times New Roman" panose="02020603050405020304" pitchFamily="18" charset="0"/>
                <a:sym typeface="Euclid Symbol" pitchFamily="18" charset="2"/>
              </a:rPr>
              <a:t>Nếu</a:t>
            </a:r>
            <a:r>
              <a:rPr lang="en-US" altLang="en-US" sz="1800" dirty="0">
                <a:cs typeface="Times New Roman" panose="02020603050405020304" pitchFamily="18" charset="0"/>
                <a:sym typeface="Euclid Symbol" pitchFamily="18" charset="2"/>
              </a:rPr>
              <a:t> </a:t>
            </a:r>
            <a:r>
              <a:rPr lang="en-US" altLang="en-US" sz="1600" dirty="0">
                <a:latin typeface="Courier New" panose="02070309020205020404" pitchFamily="49" charset="0"/>
                <a:cs typeface="Courier New" panose="02070309020205020404" pitchFamily="49" charset="0"/>
                <a:sym typeface="Euclid Symbol" pitchFamily="18" charset="2"/>
              </a:rPr>
              <a:t>L</a:t>
            </a:r>
            <a:r>
              <a:rPr lang="en-US" altLang="en-US" sz="1600" baseline="-25000" dirty="0">
                <a:latin typeface="Courier New" panose="02070309020205020404" pitchFamily="49" charset="0"/>
                <a:cs typeface="Courier New" panose="02070309020205020404" pitchFamily="49" charset="0"/>
                <a:sym typeface="Euclid Symbol" pitchFamily="18" charset="2"/>
              </a:rPr>
              <a:t>n-1</a:t>
            </a:r>
            <a:r>
              <a:rPr lang="en-US" altLang="en-US" sz="1600" dirty="0">
                <a:latin typeface="Courier New" panose="02070309020205020404" pitchFamily="49" charset="0"/>
                <a:cs typeface="Courier New" panose="02070309020205020404" pitchFamily="49" charset="0"/>
                <a:sym typeface="Euclid Symbol" pitchFamily="18" charset="2"/>
              </a:rPr>
              <a:t> </a:t>
            </a:r>
            <a:r>
              <a:rPr lang="en-US" altLang="en-US" sz="1800" dirty="0" err="1">
                <a:cs typeface="Times New Roman" panose="02020603050405020304" pitchFamily="18" charset="0"/>
                <a:sym typeface="Euclid Symbol" pitchFamily="18" charset="2"/>
              </a:rPr>
              <a:t>là</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một</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danh</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sách</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kích</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thước</a:t>
            </a:r>
            <a:r>
              <a:rPr lang="en-US" altLang="en-US" sz="1800" dirty="0">
                <a:latin typeface="Courier New" panose="02070309020205020404" pitchFamily="49" charset="0"/>
                <a:cs typeface="Courier New" panose="02070309020205020404" pitchFamily="49" charset="0"/>
                <a:sym typeface="Euclid Symbol" pitchFamily="18" charset="2"/>
              </a:rPr>
              <a:t> n-1 </a:t>
            </a:r>
            <a:r>
              <a:rPr lang="en-US" altLang="en-US" sz="1800" dirty="0" err="1">
                <a:cs typeface="Times New Roman" panose="02020603050405020304" pitchFamily="18" charset="0"/>
                <a:sym typeface="Euclid Symbol" pitchFamily="18" charset="2"/>
              </a:rPr>
              <a:t>thì</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cấu</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trúc</a:t>
            </a:r>
            <a:r>
              <a:rPr lang="en-US" altLang="en-US" sz="1800" dirty="0">
                <a:cs typeface="Times New Roman" panose="02020603050405020304" pitchFamily="18" charset="0"/>
                <a:sym typeface="Euclid Symbol" pitchFamily="18" charset="2"/>
              </a:rPr>
              <a:t> </a:t>
            </a:r>
            <a:r>
              <a:rPr lang="en-US" altLang="en-US" sz="1800" dirty="0">
                <a:latin typeface="Courier New" panose="02070309020205020404" pitchFamily="49" charset="0"/>
                <a:cs typeface="Courier New" panose="02070309020205020404" pitchFamily="49" charset="0"/>
                <a:sym typeface="Euclid Symbol" pitchFamily="18" charset="2"/>
              </a:rPr>
              <a:t>L</a:t>
            </a:r>
            <a:r>
              <a:rPr lang="en-US" altLang="en-US" sz="1800" baseline="-25000" dirty="0">
                <a:latin typeface="Courier New" panose="02070309020205020404" pitchFamily="49" charset="0"/>
                <a:cs typeface="Courier New" panose="02070309020205020404" pitchFamily="49" charset="0"/>
                <a:sym typeface="Euclid Symbol" pitchFamily="18" charset="2"/>
              </a:rPr>
              <a:t>n</a:t>
            </a:r>
            <a:r>
              <a:rPr lang="en-US" altLang="en-US" sz="1800" dirty="0">
                <a:latin typeface="Courier New" panose="02070309020205020404" pitchFamily="49" charset="0"/>
                <a:cs typeface="Courier New" panose="02070309020205020404" pitchFamily="49" charset="0"/>
                <a:sym typeface="Euclid Symbol" pitchFamily="18" charset="2"/>
              </a:rPr>
              <a:t>=&lt;a,L</a:t>
            </a:r>
            <a:r>
              <a:rPr lang="en-US" altLang="en-US" sz="1800" baseline="-25000" dirty="0">
                <a:latin typeface="Courier New" panose="02070309020205020404" pitchFamily="49" charset="0"/>
                <a:cs typeface="Courier New" panose="02070309020205020404" pitchFamily="49" charset="0"/>
                <a:sym typeface="Euclid Symbol" pitchFamily="18" charset="2"/>
              </a:rPr>
              <a:t>n</a:t>
            </a:r>
            <a:r>
              <a:rPr lang="en-US" altLang="en-US" sz="1800" baseline="-30000" dirty="0">
                <a:latin typeface="Courier New" panose="02070309020205020404" pitchFamily="49" charset="0"/>
                <a:cs typeface="Courier New" panose="02070309020205020404" pitchFamily="49" charset="0"/>
                <a:sym typeface="Euclid Symbol" pitchFamily="18" charset="2"/>
              </a:rPr>
              <a:t>-1</a:t>
            </a:r>
            <a:r>
              <a:rPr lang="en-US" altLang="en-US" sz="1800" dirty="0">
                <a:latin typeface="Courier New" panose="02070309020205020404" pitchFamily="49" charset="0"/>
                <a:cs typeface="Courier New" panose="02070309020205020404" pitchFamily="49" charset="0"/>
                <a:sym typeface="Euclid Symbol" pitchFamily="18" charset="2"/>
              </a:rPr>
              <a:t>&gt;</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cũng</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là</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một</a:t>
            </a:r>
            <a:r>
              <a:rPr lang="en-US" altLang="en-US" sz="1800" dirty="0">
                <a:cs typeface="Times New Roman" panose="02020603050405020304" pitchFamily="18" charset="0"/>
                <a:sym typeface="Euclid Symbol" pitchFamily="18" charset="2"/>
              </a:rPr>
              <a:t> DSTT, </a:t>
            </a:r>
            <a:r>
              <a:rPr lang="en-US" altLang="en-US" sz="1800" dirty="0" err="1">
                <a:cs typeface="Times New Roman" panose="02020603050405020304" pitchFamily="18" charset="0"/>
                <a:sym typeface="Euclid Symbol" pitchFamily="18" charset="2"/>
              </a:rPr>
              <a:t>với</a:t>
            </a:r>
            <a:r>
              <a:rPr lang="en-US" altLang="en-US" sz="1800" dirty="0">
                <a:cs typeface="Times New Roman" panose="02020603050405020304" pitchFamily="18" charset="0"/>
                <a:sym typeface="Euclid Symbol" pitchFamily="18" charset="2"/>
              </a:rPr>
              <a:t> </a:t>
            </a:r>
            <a:r>
              <a:rPr lang="en-US" altLang="en-US" sz="1800" dirty="0">
                <a:latin typeface="Courier New" panose="02070309020205020404" pitchFamily="49" charset="0"/>
                <a:cs typeface="Courier New" panose="02070309020205020404" pitchFamily="49" charset="0"/>
                <a:sym typeface="Euclid Symbol" pitchFamily="18" charset="2"/>
              </a:rPr>
              <a:t>a</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là</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một</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phần</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tử</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có</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cùng</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kiểu</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dữ</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liệu</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như</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các</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phần</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tử</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trong</a:t>
            </a:r>
            <a:r>
              <a:rPr lang="en-US" altLang="en-US" sz="1800" dirty="0">
                <a:cs typeface="Times New Roman" panose="02020603050405020304" pitchFamily="18" charset="0"/>
                <a:sym typeface="Euclid Symbol" pitchFamily="18" charset="2"/>
              </a:rPr>
              <a:t> </a:t>
            </a:r>
            <a:r>
              <a:rPr lang="en-US" altLang="en-US" sz="1800" dirty="0" smtClean="0">
                <a:latin typeface="Courier New" panose="02070309020205020404" pitchFamily="49" charset="0"/>
                <a:cs typeface="Courier New" panose="02070309020205020404" pitchFamily="49" charset="0"/>
                <a:sym typeface="Euclid Symbol" pitchFamily="18" charset="2"/>
              </a:rPr>
              <a:t>L</a:t>
            </a:r>
            <a:r>
              <a:rPr lang="en-US" altLang="en-US" sz="1800" baseline="-25000" dirty="0" smtClean="0">
                <a:latin typeface="Courier New" panose="02070309020205020404" pitchFamily="49" charset="0"/>
                <a:cs typeface="Courier New" panose="02070309020205020404" pitchFamily="49" charset="0"/>
                <a:sym typeface="Euclid Symbol" pitchFamily="18" charset="2"/>
              </a:rPr>
              <a:t>n-1</a:t>
            </a:r>
            <a:r>
              <a:rPr lang="en-US" altLang="en-US" sz="1800" dirty="0" smtClean="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và</a:t>
            </a:r>
            <a:r>
              <a:rPr lang="en-US" altLang="en-US" sz="1800" dirty="0">
                <a:cs typeface="Times New Roman" panose="02020603050405020304" pitchFamily="18" charset="0"/>
                <a:sym typeface="Euclid Symbol" pitchFamily="18" charset="2"/>
              </a:rPr>
              <a:t> </a:t>
            </a:r>
            <a:r>
              <a:rPr lang="en-US" altLang="en-US" sz="1800" dirty="0">
                <a:latin typeface="Courier New" panose="02070309020205020404" pitchFamily="49" charset="0"/>
                <a:cs typeface="Courier New" panose="02070309020205020404" pitchFamily="49" charset="0"/>
                <a:sym typeface="Euclid Symbol" pitchFamily="18" charset="2"/>
              </a:rPr>
              <a:t>a</a:t>
            </a:r>
            <a:r>
              <a:rPr lang="en-US" altLang="en-US" sz="1800" dirty="0" smtClean="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đứng</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trước</a:t>
            </a:r>
            <a:r>
              <a:rPr lang="en-US" altLang="en-US" sz="1800" dirty="0">
                <a:cs typeface="Times New Roman" panose="02020603050405020304" pitchFamily="18" charset="0"/>
                <a:sym typeface="Euclid Symbol" pitchFamily="18" charset="2"/>
              </a:rPr>
              <a:t> </a:t>
            </a:r>
            <a:r>
              <a:rPr lang="en-US" altLang="en-US" sz="1800" dirty="0">
                <a:latin typeface="Courier New" panose="02070309020205020404" pitchFamily="49" charset="0"/>
                <a:cs typeface="Courier New" panose="02070309020205020404" pitchFamily="49" charset="0"/>
                <a:sym typeface="Euclid Symbol" pitchFamily="18" charset="2"/>
              </a:rPr>
              <a:t>L</a:t>
            </a:r>
            <a:r>
              <a:rPr lang="en-US" altLang="en-US" sz="1800" baseline="-25000" dirty="0">
                <a:latin typeface="Courier New" panose="02070309020205020404" pitchFamily="49" charset="0"/>
                <a:cs typeface="Courier New" panose="02070309020205020404" pitchFamily="49" charset="0"/>
                <a:sym typeface="Euclid Symbol" pitchFamily="18" charset="2"/>
              </a:rPr>
              <a:t>n-1</a:t>
            </a:r>
            <a:r>
              <a:rPr lang="en-US" altLang="en-US" sz="1800" dirty="0" smtClean="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trong</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danh</a:t>
            </a:r>
            <a:r>
              <a:rPr lang="en-US" altLang="en-US" sz="1800" dirty="0">
                <a:cs typeface="Times New Roman" panose="02020603050405020304" pitchFamily="18" charset="0"/>
                <a:sym typeface="Euclid Symbol" pitchFamily="18" charset="2"/>
              </a:rPr>
              <a:t> </a:t>
            </a:r>
            <a:r>
              <a:rPr lang="en-US" altLang="en-US" sz="1800" dirty="0" err="1">
                <a:cs typeface="Times New Roman" panose="02020603050405020304" pitchFamily="18" charset="0"/>
                <a:sym typeface="Euclid Symbol" pitchFamily="18" charset="2"/>
              </a:rPr>
              <a:t>sách</a:t>
            </a:r>
            <a:r>
              <a:rPr lang="en-US" altLang="en-US" sz="1800" dirty="0">
                <a:cs typeface="Times New Roman" panose="02020603050405020304" pitchFamily="18" charset="0"/>
                <a:sym typeface="Euclid Symbol" pitchFamily="18" charset="2"/>
              </a:rPr>
              <a:t> </a:t>
            </a:r>
            <a:r>
              <a:rPr lang="en-US" altLang="en-US" sz="1800" dirty="0" smtClean="0">
                <a:latin typeface="Courier New" panose="02070309020205020404" pitchFamily="49" charset="0"/>
                <a:cs typeface="Courier New" panose="02070309020205020404" pitchFamily="49" charset="0"/>
                <a:sym typeface="Euclid Symbol" pitchFamily="18" charset="2"/>
              </a:rPr>
              <a:t>L</a:t>
            </a:r>
            <a:r>
              <a:rPr lang="en-US" altLang="en-US" sz="1800" baseline="-25000" dirty="0" smtClean="0">
                <a:latin typeface="Courier New" panose="02070309020205020404" pitchFamily="49" charset="0"/>
                <a:cs typeface="Courier New" panose="02070309020205020404" pitchFamily="49" charset="0"/>
                <a:sym typeface="Euclid Symbol" pitchFamily="18" charset="2"/>
              </a:rPr>
              <a:t>n</a:t>
            </a:r>
            <a:r>
              <a:rPr lang="en-US" altLang="en-US" sz="1800" dirty="0" smtClean="0">
                <a:cs typeface="Times New Roman" panose="02020603050405020304" pitchFamily="18" charset="0"/>
                <a:sym typeface="Euclid Symbol" pitchFamily="18" charset="2"/>
              </a:rPr>
              <a:t>.</a:t>
            </a:r>
          </a:p>
          <a:p>
            <a:pPr lvl="2">
              <a:lnSpc>
                <a:spcPct val="105000"/>
              </a:lnSpc>
              <a:spcBef>
                <a:spcPct val="10000"/>
              </a:spcBef>
            </a:pPr>
            <a:r>
              <a:rPr lang="en-US" altLang="en-US" sz="1800" dirty="0" err="1" smtClean="0">
                <a:cs typeface="Times New Roman" panose="02020603050405020304" pitchFamily="18" charset="0"/>
              </a:rPr>
              <a:t>Quy</a:t>
            </a:r>
            <a:r>
              <a:rPr lang="en-US" altLang="en-US" sz="1800" dirty="0" smtClean="0">
                <a:cs typeface="Times New Roman" panose="02020603050405020304" pitchFamily="18" charset="0"/>
              </a:rPr>
              <a:t> </a:t>
            </a:r>
            <a:r>
              <a:rPr lang="en-US" altLang="en-US" sz="1800" dirty="0" err="1">
                <a:cs typeface="Times New Roman" panose="02020603050405020304" pitchFamily="18" charset="0"/>
              </a:rPr>
              <a:t>tắc</a:t>
            </a:r>
            <a:r>
              <a:rPr lang="en-US" altLang="en-US" sz="1800" dirty="0">
                <a:cs typeface="Times New Roman" panose="02020603050405020304" pitchFamily="18" charset="0"/>
              </a:rPr>
              <a:t> </a:t>
            </a:r>
            <a:r>
              <a:rPr lang="en-US" altLang="en-US" sz="1800" dirty="0" smtClean="0">
                <a:cs typeface="Times New Roman" panose="02020603050405020304" pitchFamily="18" charset="0"/>
              </a:rPr>
              <a:t>2: </a:t>
            </a:r>
            <a:r>
              <a:rPr lang="en-US" altLang="en-US" sz="1800" dirty="0">
                <a:latin typeface="Courier New" panose="02070309020205020404" pitchFamily="49" charset="0"/>
                <a:cs typeface="Courier New" panose="02070309020205020404" pitchFamily="49" charset="0"/>
                <a:sym typeface="Euclid Symbol" pitchFamily="18" charset="2"/>
              </a:rPr>
              <a:t>L = </a:t>
            </a:r>
            <a:r>
              <a:rPr lang="en-US" altLang="en-US" sz="1800" dirty="0" smtClean="0">
                <a:latin typeface="Courier New" panose="02070309020205020404" pitchFamily="49" charset="0"/>
                <a:cs typeface="Courier New" panose="02070309020205020404" pitchFamily="49" charset="0"/>
                <a:sym typeface="Euclid Symbol" pitchFamily="18" charset="2"/>
              </a:rPr>
              <a:t>Ø </a:t>
            </a:r>
            <a:r>
              <a:rPr lang="en-US" altLang="en-US" sz="1800" dirty="0" err="1">
                <a:cs typeface="Times New Roman" panose="02020603050405020304" pitchFamily="18" charset="0"/>
                <a:sym typeface="Euclid Symbol" pitchFamily="18" charset="2"/>
              </a:rPr>
              <a:t>là</a:t>
            </a:r>
            <a:r>
              <a:rPr lang="en-US" altLang="en-US" sz="1800" dirty="0">
                <a:cs typeface="Times New Roman" panose="02020603050405020304" pitchFamily="18" charset="0"/>
                <a:sym typeface="Euclid Symbol" pitchFamily="18" charset="2"/>
              </a:rPr>
              <a:t> </a:t>
            </a:r>
            <a:r>
              <a:rPr lang="en-US" altLang="en-US" sz="1800" dirty="0" smtClean="0">
                <a:cs typeface="Times New Roman" panose="02020603050405020304" pitchFamily="18" charset="0"/>
                <a:sym typeface="Euclid Symbol" pitchFamily="18" charset="2"/>
              </a:rPr>
              <a:t>DSTT</a:t>
            </a:r>
            <a:endParaRPr lang="en-US" altLang="en-US" sz="1800" dirty="0">
              <a:cs typeface="Times New Roman" panose="02020603050405020304" pitchFamily="18" charset="0"/>
              <a:sym typeface="Euclid Symbol" pitchFamily="18" charset="2"/>
            </a:endParaRPr>
          </a:p>
          <a:p>
            <a:pPr lvl="2">
              <a:lnSpc>
                <a:spcPct val="105000"/>
              </a:lnSpc>
              <a:spcBef>
                <a:spcPct val="10000"/>
              </a:spcBef>
            </a:pPr>
            <a:endParaRPr lang="en-US" altLang="en-US" sz="1800" dirty="0">
              <a:cs typeface="Times New Roman" panose="02020603050405020304" pitchFamily="18" charset="0"/>
              <a:sym typeface="Euclid Symbol" pitchFamily="18" charset="2"/>
            </a:endParaRPr>
          </a:p>
          <a:p>
            <a:endParaRPr lang="en-US" dirty="0"/>
          </a:p>
        </p:txBody>
      </p:sp>
    </p:spTree>
    <p:extLst>
      <p:ext uri="{BB962C8B-B14F-4D97-AF65-F5344CB8AC3E}">
        <p14:creationId xmlns:p14="http://schemas.microsoft.com/office/powerpoint/2010/main" val="1376900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8</a:t>
            </a:fld>
            <a:endParaRPr lang="en-US"/>
          </a:p>
        </p:txBody>
      </p:sp>
      <p:sp>
        <p:nvSpPr>
          <p:cNvPr id="5" name="Title 4"/>
          <p:cNvSpPr>
            <a:spLocks noGrp="1"/>
          </p:cNvSpPr>
          <p:nvPr>
            <p:ph type="title"/>
          </p:nvPr>
        </p:nvSpPr>
        <p:spPr/>
        <p:txBody>
          <a:bodyPr/>
          <a:lstStyle/>
          <a:p>
            <a:r>
              <a:rPr lang="en-US" altLang="en-US" dirty="0"/>
              <a:t>1.1. </a:t>
            </a:r>
            <a:r>
              <a:rPr lang="en-US" altLang="en-US" dirty="0" err="1"/>
              <a:t>Khái</a:t>
            </a:r>
            <a:r>
              <a:rPr lang="en-US" altLang="en-US" dirty="0"/>
              <a:t> </a:t>
            </a:r>
            <a:r>
              <a:rPr lang="en-US" altLang="en-US" dirty="0" err="1"/>
              <a:t>niệm</a:t>
            </a:r>
            <a:r>
              <a:rPr lang="en-US" altLang="en-US" dirty="0"/>
              <a:t> </a:t>
            </a:r>
            <a:r>
              <a:rPr lang="en-US" altLang="en-US" dirty="0" err="1"/>
              <a:t>đệ</a:t>
            </a:r>
            <a:r>
              <a:rPr lang="en-US" altLang="en-US" dirty="0"/>
              <a:t> </a:t>
            </a:r>
            <a:r>
              <a:rPr lang="en-US" altLang="en-US" dirty="0" err="1"/>
              <a:t>quy</a:t>
            </a:r>
            <a:r>
              <a:rPr lang="en-US" altLang="en-US" dirty="0"/>
              <a:t> </a:t>
            </a:r>
            <a:endParaRPr lang="en-US" dirty="0"/>
          </a:p>
        </p:txBody>
      </p:sp>
      <p:sp>
        <p:nvSpPr>
          <p:cNvPr id="2" name="Content Placeholder 1"/>
          <p:cNvSpPr>
            <a:spLocks noGrp="1"/>
          </p:cNvSpPr>
          <p:nvPr>
            <p:ph type="body" sz="quarter" idx="13"/>
          </p:nvPr>
        </p:nvSpPr>
        <p:spPr/>
        <p:txBody>
          <a:bodyPr>
            <a:normAutofit/>
          </a:bodyPr>
          <a:lstStyle/>
          <a:p>
            <a:pPr marL="273050" lvl="1">
              <a:spcBef>
                <a:spcPts val="600"/>
              </a:spcBef>
              <a:buClr>
                <a:schemeClr val="accent1"/>
              </a:buClr>
            </a:pPr>
            <a:r>
              <a:rPr lang="en-US" altLang="en-US" sz="2400" dirty="0" err="1">
                <a:cs typeface="Times New Roman" panose="02020603050405020304" pitchFamily="18" charset="0"/>
              </a:rPr>
              <a:t>Ví</a:t>
            </a:r>
            <a:r>
              <a:rPr lang="en-US" altLang="en-US" sz="2400" dirty="0">
                <a:cs typeface="Times New Roman" panose="02020603050405020304" pitchFamily="18" charset="0"/>
              </a:rPr>
              <a:t> </a:t>
            </a:r>
            <a:r>
              <a:rPr lang="en-US" altLang="en-US" sz="2400" dirty="0" err="1">
                <a:cs typeface="Times New Roman" panose="02020603050405020304" pitchFamily="18" charset="0"/>
              </a:rPr>
              <a:t>dụ</a:t>
            </a:r>
            <a:r>
              <a:rPr lang="en-US" altLang="en-US" sz="2400" dirty="0">
                <a:cs typeface="Times New Roman" panose="02020603050405020304" pitchFamily="18" charset="0"/>
              </a:rPr>
              <a:t> </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Dãy</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Fibonacci</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562" y="2133600"/>
            <a:ext cx="4867275" cy="3653701"/>
          </a:xfrm>
          <a:prstGeom prst="rect">
            <a:avLst/>
          </a:prstGeom>
        </p:spPr>
      </p:pic>
      <p:sp>
        <p:nvSpPr>
          <p:cNvPr id="7" name="TextBox 6"/>
          <p:cNvSpPr txBox="1"/>
          <p:nvPr/>
        </p:nvSpPr>
        <p:spPr>
          <a:xfrm>
            <a:off x="3581400" y="2209800"/>
            <a:ext cx="914398" cy="276999"/>
          </a:xfrm>
          <a:prstGeom prst="rect">
            <a:avLst/>
          </a:prstGeom>
          <a:noFill/>
        </p:spPr>
        <p:txBody>
          <a:bodyPr wrap="square" rtlCol="0">
            <a:spAutoFit/>
          </a:bodyPr>
          <a:lstStyle/>
          <a:p>
            <a:r>
              <a:rPr lang="en-US" sz="1200" dirty="0" smtClean="0">
                <a:latin typeface="Courier New" panose="02070309020205020404" pitchFamily="49" charset="0"/>
                <a:cs typeface="Courier New" panose="02070309020205020404" pitchFamily="49" charset="0"/>
              </a:rPr>
              <a:t>F(1)=1</a:t>
            </a:r>
            <a:endParaRPr lang="en-US" sz="1200" dirty="0">
              <a:latin typeface="Courier New" panose="02070309020205020404" pitchFamily="49" charset="0"/>
              <a:cs typeface="Courier New" panose="02070309020205020404" pitchFamily="49" charset="0"/>
            </a:endParaRPr>
          </a:p>
        </p:txBody>
      </p:sp>
      <p:sp>
        <p:nvSpPr>
          <p:cNvPr id="8" name="TextBox 7"/>
          <p:cNvSpPr txBox="1"/>
          <p:nvPr/>
        </p:nvSpPr>
        <p:spPr>
          <a:xfrm>
            <a:off x="3597057" y="2778522"/>
            <a:ext cx="898741" cy="276999"/>
          </a:xfrm>
          <a:prstGeom prst="rect">
            <a:avLst/>
          </a:prstGeom>
          <a:noFill/>
        </p:spPr>
        <p:txBody>
          <a:bodyPr wrap="square" rtlCol="0">
            <a:spAutoFit/>
          </a:bodyPr>
          <a:lstStyle/>
          <a:p>
            <a:r>
              <a:rPr lang="en-US" sz="1200" dirty="0" smtClean="0">
                <a:latin typeface="Courier New" panose="02070309020205020404" pitchFamily="49" charset="0"/>
                <a:cs typeface="Courier New" panose="02070309020205020404" pitchFamily="49" charset="0"/>
              </a:rPr>
              <a:t>F(2)=1</a:t>
            </a:r>
            <a:endParaRPr lang="en-US" sz="1200" dirty="0">
              <a:latin typeface="Courier New" panose="02070309020205020404" pitchFamily="49" charset="0"/>
              <a:cs typeface="Courier New" panose="02070309020205020404" pitchFamily="49" charset="0"/>
            </a:endParaRPr>
          </a:p>
        </p:txBody>
      </p:sp>
      <p:sp>
        <p:nvSpPr>
          <p:cNvPr id="9" name="TextBox 8"/>
          <p:cNvSpPr txBox="1"/>
          <p:nvPr/>
        </p:nvSpPr>
        <p:spPr>
          <a:xfrm>
            <a:off x="5610936" y="5334000"/>
            <a:ext cx="2618664" cy="276999"/>
          </a:xfrm>
          <a:prstGeom prst="rect">
            <a:avLst/>
          </a:prstGeom>
          <a:noFill/>
        </p:spPr>
        <p:txBody>
          <a:bodyPr wrap="square" rtlCol="0">
            <a:spAutoFit/>
          </a:bodyPr>
          <a:lstStyle/>
          <a:p>
            <a:r>
              <a:rPr lang="en-US" altLang="en-US" sz="1200" dirty="0" smtClean="0">
                <a:latin typeface="Courier New" panose="02070309020205020404" pitchFamily="49" charset="0"/>
                <a:cs typeface="Courier New" panose="02070309020205020404" pitchFamily="49" charset="0"/>
              </a:rPr>
              <a:t>F(n</a:t>
            </a:r>
            <a:r>
              <a:rPr lang="en-US" altLang="en-US" sz="1200" dirty="0">
                <a:latin typeface="Courier New" panose="02070309020205020404" pitchFamily="49" charset="0"/>
                <a:cs typeface="Courier New" panose="02070309020205020404" pitchFamily="49" charset="0"/>
              </a:rPr>
              <a:t>) = </a:t>
            </a:r>
            <a:r>
              <a:rPr lang="en-US" altLang="en-US" sz="1200" dirty="0" smtClean="0">
                <a:latin typeface="Courier New" panose="02070309020205020404" pitchFamily="49" charset="0"/>
                <a:cs typeface="Courier New" panose="02070309020205020404" pitchFamily="49" charset="0"/>
              </a:rPr>
              <a:t>F(n-1</a:t>
            </a:r>
            <a:r>
              <a:rPr lang="en-US" altLang="en-US" sz="1200" dirty="0">
                <a:latin typeface="Courier New" panose="02070309020205020404" pitchFamily="49" charset="0"/>
                <a:cs typeface="Courier New" panose="02070309020205020404" pitchFamily="49" charset="0"/>
              </a:rPr>
              <a:t>) + </a:t>
            </a:r>
            <a:r>
              <a:rPr lang="en-US" altLang="en-US" sz="1200" dirty="0" smtClean="0">
                <a:latin typeface="Courier New" panose="02070309020205020404" pitchFamily="49" charset="0"/>
                <a:cs typeface="Courier New" panose="02070309020205020404" pitchFamily="49" charset="0"/>
              </a:rPr>
              <a:t>F(n-2</a:t>
            </a:r>
            <a:r>
              <a:rPr lang="en-US" altLang="en-US" sz="1200" dirty="0">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p:txBody>
      </p:sp>
      <p:sp>
        <p:nvSpPr>
          <p:cNvPr id="10" name="TextBox 9"/>
          <p:cNvSpPr txBox="1"/>
          <p:nvPr/>
        </p:nvSpPr>
        <p:spPr>
          <a:xfrm>
            <a:off x="4943018" y="4648200"/>
            <a:ext cx="848181" cy="276999"/>
          </a:xfrm>
          <a:prstGeom prst="rect">
            <a:avLst/>
          </a:prstGeom>
          <a:noFill/>
        </p:spPr>
        <p:txBody>
          <a:bodyPr wrap="square" rtlCol="0">
            <a:spAutoFit/>
          </a:bodyPr>
          <a:lstStyle/>
          <a:p>
            <a:r>
              <a:rPr lang="en-US" sz="1200" dirty="0" smtClean="0">
                <a:latin typeface="Courier New" panose="02070309020205020404" pitchFamily="49" charset="0"/>
                <a:cs typeface="Courier New" panose="02070309020205020404" pitchFamily="49" charset="0"/>
              </a:rPr>
              <a:t>F(n-1)</a:t>
            </a:r>
            <a:endParaRPr lang="en-US" sz="1200" dirty="0">
              <a:latin typeface="Courier New" panose="02070309020205020404" pitchFamily="49" charset="0"/>
              <a:cs typeface="Courier New" panose="02070309020205020404" pitchFamily="49" charset="0"/>
            </a:endParaRPr>
          </a:p>
        </p:txBody>
      </p:sp>
      <p:sp>
        <p:nvSpPr>
          <p:cNvPr id="11" name="TextBox 10"/>
          <p:cNvSpPr txBox="1"/>
          <p:nvPr/>
        </p:nvSpPr>
        <p:spPr>
          <a:xfrm>
            <a:off x="4190999" y="4062254"/>
            <a:ext cx="914401" cy="276999"/>
          </a:xfrm>
          <a:prstGeom prst="rect">
            <a:avLst/>
          </a:prstGeom>
          <a:noFill/>
        </p:spPr>
        <p:txBody>
          <a:bodyPr wrap="square" rtlCol="0">
            <a:spAutoFit/>
          </a:bodyPr>
          <a:lstStyle/>
          <a:p>
            <a:r>
              <a:rPr lang="en-US" sz="1200" dirty="0" smtClean="0">
                <a:latin typeface="Courier New" panose="02070309020205020404" pitchFamily="49" charset="0"/>
                <a:cs typeface="Courier New" panose="02070309020205020404" pitchFamily="49" charset="0"/>
              </a:rPr>
              <a:t>F(n-2)</a:t>
            </a:r>
            <a:endParaRPr lang="en-US" sz="1200" dirty="0">
              <a:latin typeface="Courier New" panose="02070309020205020404" pitchFamily="49" charset="0"/>
              <a:cs typeface="Courier New" panose="02070309020205020404" pitchFamily="49" charset="0"/>
            </a:endParaRPr>
          </a:p>
        </p:txBody>
      </p:sp>
      <p:sp>
        <p:nvSpPr>
          <p:cNvPr id="12" name="TextBox 11"/>
          <p:cNvSpPr txBox="1"/>
          <p:nvPr/>
        </p:nvSpPr>
        <p:spPr>
          <a:xfrm>
            <a:off x="3886199" y="3408561"/>
            <a:ext cx="609599" cy="276999"/>
          </a:xfrm>
          <a:prstGeom prst="rect">
            <a:avLst/>
          </a:prstGeom>
          <a:noFill/>
        </p:spPr>
        <p:txBody>
          <a:bodyPr wrap="square" rtlCol="0">
            <a:spAutoFit/>
          </a:bodyPr>
          <a:lstStyle/>
          <a:p>
            <a:r>
              <a:rPr lang="en-US" sz="1200" dirty="0" smtClean="0">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p:txBody>
      </p:sp>
      <p:sp>
        <p:nvSpPr>
          <p:cNvPr id="30" name="Rectangle 29"/>
          <p:cNvSpPr/>
          <p:nvPr/>
        </p:nvSpPr>
        <p:spPr>
          <a:xfrm>
            <a:off x="4943018" y="1686963"/>
            <a:ext cx="3753785" cy="338554"/>
          </a:xfrm>
          <a:prstGeom prst="rect">
            <a:avLst/>
          </a:prstGeom>
        </p:spPr>
        <p:txBody>
          <a:bodyPr wrap="none">
            <a:spAutoFit/>
          </a:bodyPr>
          <a:lstStyle/>
          <a:p>
            <a:r>
              <a:rPr lang="en-US" sz="1600" dirty="0">
                <a:solidFill>
                  <a:srgbClr val="000000"/>
                </a:solidFill>
                <a:latin typeface="Lato" panose="020F0502020204030203"/>
                <a:cs typeface="Courier New" panose="02070309020205020404" pitchFamily="49" charset="0"/>
              </a:rPr>
              <a:t>0, 1, 1, 2, 3, 5, 8, 13, 21, 34, 55, 89, 144, </a:t>
            </a:r>
            <a:r>
              <a:rPr lang="en-US" sz="1600" dirty="0" smtClean="0">
                <a:solidFill>
                  <a:srgbClr val="000000"/>
                </a:solidFill>
                <a:latin typeface="Lato" panose="020F0502020204030203"/>
                <a:cs typeface="Courier New" panose="02070309020205020404" pitchFamily="49" charset="0"/>
              </a:rPr>
              <a:t>v.v.</a:t>
            </a:r>
            <a:endParaRPr lang="en-US" sz="1600" dirty="0">
              <a:latin typeface="Lato" panose="020F0502020204030203"/>
              <a:cs typeface="Courier New" panose="02070309020205020404" pitchFamily="49" charset="0"/>
            </a:endParaRPr>
          </a:p>
        </p:txBody>
      </p:sp>
      <p:sp>
        <p:nvSpPr>
          <p:cNvPr id="31" name="Rectangle 30"/>
          <p:cNvSpPr/>
          <p:nvPr/>
        </p:nvSpPr>
        <p:spPr>
          <a:xfrm>
            <a:off x="5116142" y="1406783"/>
            <a:ext cx="3599896" cy="338554"/>
          </a:xfrm>
          <a:prstGeom prst="rect">
            <a:avLst/>
          </a:prstGeom>
        </p:spPr>
        <p:txBody>
          <a:bodyPr wrap="none">
            <a:spAutoFit/>
          </a:bodyPr>
          <a:lstStyle/>
          <a:p>
            <a:r>
              <a:rPr lang="en-US" sz="1600" dirty="0">
                <a:solidFill>
                  <a:srgbClr val="000000"/>
                </a:solidFill>
                <a:latin typeface="Lato" panose="020F0502020204030203"/>
                <a:cs typeface="Courier New" panose="02070309020205020404" pitchFamily="49" charset="0"/>
              </a:rPr>
              <a:t> 1, 1, 2, 3, 5, 8, 13, 21, 34, 55, 89, 144, v.v.</a:t>
            </a:r>
            <a:endParaRPr lang="en-US" sz="1600" dirty="0">
              <a:latin typeface="Lato" panose="020F0502020204030203"/>
              <a:cs typeface="Courier New" panose="02070309020205020404" pitchFamily="49" charset="0"/>
            </a:endParaRPr>
          </a:p>
        </p:txBody>
      </p:sp>
      <p:sp>
        <p:nvSpPr>
          <p:cNvPr id="17" name="TextBox 16"/>
          <p:cNvSpPr txBox="1"/>
          <p:nvPr/>
        </p:nvSpPr>
        <p:spPr>
          <a:xfrm>
            <a:off x="5600050" y="5042934"/>
            <a:ext cx="2618664" cy="276999"/>
          </a:xfrm>
          <a:prstGeom prst="rect">
            <a:avLst/>
          </a:prstGeom>
          <a:noFill/>
        </p:spPr>
        <p:txBody>
          <a:bodyPr wrap="square" rtlCol="0">
            <a:spAutoFit/>
          </a:bodyPr>
          <a:lstStyle/>
          <a:p>
            <a:r>
              <a:rPr lang="en-US" altLang="en-US" sz="1200" dirty="0" smtClean="0">
                <a:latin typeface="Courier New" panose="02070309020205020404" pitchFamily="49" charset="0"/>
                <a:cs typeface="Courier New" panose="02070309020205020404" pitchFamily="49" charset="0"/>
              </a:rPr>
              <a:t>F(n</a:t>
            </a:r>
            <a:r>
              <a:rPr lang="en-US" altLang="en-US" sz="1200" dirty="0">
                <a:latin typeface="Courier New" panose="02070309020205020404" pitchFamily="49" charset="0"/>
                <a:cs typeface="Courier New" panose="02070309020205020404" pitchFamily="49" charset="0"/>
              </a:rPr>
              <a:t>) = </a:t>
            </a:r>
            <a:r>
              <a:rPr lang="en-US" altLang="en-US" sz="1200" dirty="0" smtClean="0">
                <a:latin typeface="Courier New" panose="02070309020205020404" pitchFamily="49" charset="0"/>
                <a:cs typeface="Courier New" panose="02070309020205020404" pitchFamily="49" charset="0"/>
              </a:rPr>
              <a:t>?</a:t>
            </a:r>
            <a:endParaRPr lang="en-US" sz="12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31322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9</a:t>
            </a:fld>
            <a:endParaRPr lang="en-US"/>
          </a:p>
        </p:txBody>
      </p:sp>
      <p:sp>
        <p:nvSpPr>
          <p:cNvPr id="5" name="Title 4"/>
          <p:cNvSpPr>
            <a:spLocks noGrp="1"/>
          </p:cNvSpPr>
          <p:nvPr>
            <p:ph type="title"/>
          </p:nvPr>
        </p:nvSpPr>
        <p:spPr/>
        <p:txBody>
          <a:bodyPr/>
          <a:lstStyle/>
          <a:p>
            <a:r>
              <a:rPr lang="en-US" altLang="en-US" dirty="0"/>
              <a:t>1.1. </a:t>
            </a:r>
            <a:r>
              <a:rPr lang="en-US" altLang="en-US" dirty="0" err="1"/>
              <a:t>Khái</a:t>
            </a:r>
            <a:r>
              <a:rPr lang="en-US" altLang="en-US" dirty="0"/>
              <a:t> </a:t>
            </a:r>
            <a:r>
              <a:rPr lang="en-US" altLang="en-US" dirty="0" err="1"/>
              <a:t>niệm</a:t>
            </a:r>
            <a:r>
              <a:rPr lang="en-US" altLang="en-US" dirty="0"/>
              <a:t> </a:t>
            </a:r>
            <a:r>
              <a:rPr lang="en-US" altLang="en-US" dirty="0" err="1"/>
              <a:t>đệ</a:t>
            </a:r>
            <a:r>
              <a:rPr lang="en-US" altLang="en-US" dirty="0"/>
              <a:t> </a:t>
            </a:r>
            <a:r>
              <a:rPr lang="en-US" altLang="en-US" dirty="0" err="1"/>
              <a:t>quy</a:t>
            </a:r>
            <a:r>
              <a:rPr lang="en-US" altLang="en-US" dirty="0"/>
              <a:t> </a:t>
            </a:r>
            <a:endParaRPr lang="en-US" dirty="0"/>
          </a:p>
        </p:txBody>
      </p:sp>
      <p:sp>
        <p:nvSpPr>
          <p:cNvPr id="2" name="Content Placeholder 1"/>
          <p:cNvSpPr>
            <a:spLocks noGrp="1"/>
          </p:cNvSpPr>
          <p:nvPr>
            <p:ph type="body" sz="quarter" idx="13"/>
          </p:nvPr>
        </p:nvSpPr>
        <p:spPr/>
        <p:txBody>
          <a:bodyPr>
            <a:normAutofit/>
          </a:bodyPr>
          <a:lstStyle/>
          <a:p>
            <a:pPr marL="273050" lvl="1">
              <a:spcBef>
                <a:spcPts val="600"/>
              </a:spcBef>
              <a:buClr>
                <a:schemeClr val="accent1"/>
              </a:buClr>
            </a:pPr>
            <a:r>
              <a:rPr lang="en-US" altLang="en-US" sz="2400" dirty="0" err="1">
                <a:cs typeface="Times New Roman" panose="02020603050405020304" pitchFamily="18" charset="0"/>
              </a:rPr>
              <a:t>Ví</a:t>
            </a:r>
            <a:r>
              <a:rPr lang="en-US" altLang="en-US" sz="2400" dirty="0">
                <a:cs typeface="Times New Roman" panose="02020603050405020304" pitchFamily="18" charset="0"/>
              </a:rPr>
              <a:t> </a:t>
            </a:r>
            <a:r>
              <a:rPr lang="en-US" altLang="en-US" sz="2400" dirty="0" err="1">
                <a:cs typeface="Times New Roman" panose="02020603050405020304" pitchFamily="18" charset="0"/>
              </a:rPr>
              <a:t>dụ</a:t>
            </a:r>
            <a:r>
              <a:rPr lang="en-US" altLang="en-US" sz="2400" dirty="0">
                <a:cs typeface="Times New Roman" panose="02020603050405020304" pitchFamily="18" charset="0"/>
              </a:rPr>
              <a:t> : </a:t>
            </a:r>
            <a:r>
              <a:rPr lang="en-US" altLang="en-US" sz="2400" dirty="0" err="1">
                <a:cs typeface="Times New Roman" panose="02020603050405020304" pitchFamily="18" charset="0"/>
              </a:rPr>
              <a:t>Dãy</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Fibonacci</a:t>
            </a:r>
          </a:p>
        </p:txBody>
      </p:sp>
      <p:pic>
        <p:nvPicPr>
          <p:cNvPr id="17" name="Picture 16"/>
          <p:cNvPicPr>
            <a:picLocks noChangeAspect="1"/>
          </p:cNvPicPr>
          <p:nvPr/>
        </p:nvPicPr>
        <p:blipFill>
          <a:blip r:embed="rId3"/>
          <a:stretch>
            <a:fillRect/>
          </a:stretch>
        </p:blipFill>
        <p:spPr>
          <a:xfrm>
            <a:off x="707244" y="1821993"/>
            <a:ext cx="2170125" cy="1419323"/>
          </a:xfrm>
          <a:prstGeom prst="rect">
            <a:avLst/>
          </a:prstGeom>
        </p:spPr>
      </p:pic>
      <p:pic>
        <p:nvPicPr>
          <p:cNvPr id="18" name="Picture 17"/>
          <p:cNvPicPr>
            <a:picLocks noChangeAspect="1"/>
          </p:cNvPicPr>
          <p:nvPr/>
        </p:nvPicPr>
        <p:blipFill>
          <a:blip r:embed="rId4"/>
          <a:stretch>
            <a:fillRect/>
          </a:stretch>
        </p:blipFill>
        <p:spPr>
          <a:xfrm>
            <a:off x="728121" y="3303247"/>
            <a:ext cx="2014741" cy="1248111"/>
          </a:xfrm>
          <a:prstGeom prst="rect">
            <a:avLst/>
          </a:prstGeom>
        </p:spPr>
      </p:pic>
      <p:pic>
        <p:nvPicPr>
          <p:cNvPr id="19" name="Picture 18"/>
          <p:cNvPicPr>
            <a:picLocks noChangeAspect="1"/>
          </p:cNvPicPr>
          <p:nvPr/>
        </p:nvPicPr>
        <p:blipFill>
          <a:blip r:embed="rId5"/>
          <a:stretch>
            <a:fillRect/>
          </a:stretch>
        </p:blipFill>
        <p:spPr>
          <a:xfrm>
            <a:off x="638387" y="4744756"/>
            <a:ext cx="2238982" cy="1459969"/>
          </a:xfrm>
          <a:prstGeom prst="rect">
            <a:avLst/>
          </a:prstGeom>
        </p:spPr>
      </p:pic>
      <p:pic>
        <p:nvPicPr>
          <p:cNvPr id="20" name="Picture 1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91926" y="2066396"/>
            <a:ext cx="2123810" cy="1314286"/>
          </a:xfrm>
          <a:prstGeom prst="rect">
            <a:avLst/>
          </a:prstGeom>
        </p:spPr>
      </p:pic>
      <p:sp>
        <p:nvSpPr>
          <p:cNvPr id="21" name="Rectangle 20"/>
          <p:cNvSpPr/>
          <p:nvPr/>
        </p:nvSpPr>
        <p:spPr>
          <a:xfrm>
            <a:off x="457200" y="6441438"/>
            <a:ext cx="1529586" cy="261610"/>
          </a:xfrm>
          <a:prstGeom prst="rect">
            <a:avLst/>
          </a:prstGeom>
        </p:spPr>
        <p:txBody>
          <a:bodyPr wrap="none">
            <a:spAutoFit/>
          </a:bodyPr>
          <a:lstStyle/>
          <a:p>
            <a:r>
              <a:rPr lang="en-US" sz="1100" dirty="0"/>
              <a:t>https://vi.wikipedia.org</a:t>
            </a:r>
          </a:p>
        </p:txBody>
      </p:sp>
      <p:pic>
        <p:nvPicPr>
          <p:cNvPr id="22" name="Picture 21"/>
          <p:cNvPicPr>
            <a:picLocks noChangeAspect="1"/>
          </p:cNvPicPr>
          <p:nvPr/>
        </p:nvPicPr>
        <p:blipFill>
          <a:blip r:embed="rId7"/>
          <a:stretch>
            <a:fillRect/>
          </a:stretch>
        </p:blipFill>
        <p:spPr>
          <a:xfrm>
            <a:off x="3791926" y="3442385"/>
            <a:ext cx="2145593" cy="1601109"/>
          </a:xfrm>
          <a:prstGeom prst="rect">
            <a:avLst/>
          </a:prstGeom>
        </p:spPr>
      </p:pic>
      <p:pic>
        <p:nvPicPr>
          <p:cNvPr id="23" name="Picture 22"/>
          <p:cNvPicPr>
            <a:picLocks noChangeAspect="1"/>
          </p:cNvPicPr>
          <p:nvPr/>
        </p:nvPicPr>
        <p:blipFill>
          <a:blip r:embed="rId8"/>
          <a:stretch>
            <a:fillRect/>
          </a:stretch>
        </p:blipFill>
        <p:spPr>
          <a:xfrm rot="10800000">
            <a:off x="6401687" y="2664880"/>
            <a:ext cx="2183074" cy="1372808"/>
          </a:xfrm>
          <a:prstGeom prst="rect">
            <a:avLst/>
          </a:prstGeom>
        </p:spPr>
      </p:pic>
      <p:pic>
        <p:nvPicPr>
          <p:cNvPr id="24" name="Picture 23"/>
          <p:cNvPicPr>
            <a:picLocks noChangeAspect="1"/>
          </p:cNvPicPr>
          <p:nvPr/>
        </p:nvPicPr>
        <p:blipFill>
          <a:blip r:embed="rId9"/>
          <a:stretch>
            <a:fillRect/>
          </a:stretch>
        </p:blipFill>
        <p:spPr>
          <a:xfrm>
            <a:off x="3791926" y="5105197"/>
            <a:ext cx="2157328" cy="1356216"/>
          </a:xfrm>
          <a:prstGeom prst="rect">
            <a:avLst/>
          </a:prstGeom>
        </p:spPr>
      </p:pic>
      <p:sp>
        <p:nvSpPr>
          <p:cNvPr id="25" name="Rectangle 24"/>
          <p:cNvSpPr/>
          <p:nvPr/>
        </p:nvSpPr>
        <p:spPr>
          <a:xfrm>
            <a:off x="457200" y="6655531"/>
            <a:ext cx="5792876" cy="246221"/>
          </a:xfrm>
          <a:prstGeom prst="rect">
            <a:avLst/>
          </a:prstGeom>
        </p:spPr>
        <p:txBody>
          <a:bodyPr wrap="square">
            <a:spAutoFit/>
          </a:bodyPr>
          <a:lstStyle/>
          <a:p>
            <a:r>
              <a:rPr lang="en-US" sz="1000" dirty="0"/>
              <a:t>https://tuoitre.vn/day-so-fibonacci-va-nhung-bi-an-trong-tu-nhien-20180313151043875.htm</a:t>
            </a:r>
          </a:p>
        </p:txBody>
      </p:sp>
      <p:pic>
        <p:nvPicPr>
          <p:cNvPr id="13" name="Picture 12"/>
          <p:cNvPicPr>
            <a:picLocks noChangeAspect="1"/>
          </p:cNvPicPr>
          <p:nvPr/>
        </p:nvPicPr>
        <p:blipFill>
          <a:blip r:embed="rId10"/>
          <a:stretch>
            <a:fillRect/>
          </a:stretch>
        </p:blipFill>
        <p:spPr>
          <a:xfrm>
            <a:off x="6401687" y="4179386"/>
            <a:ext cx="2191761" cy="1728216"/>
          </a:xfrm>
          <a:prstGeom prst="rect">
            <a:avLst/>
          </a:prstGeom>
        </p:spPr>
      </p:pic>
      <p:sp>
        <p:nvSpPr>
          <p:cNvPr id="26" name="Rectangle 25"/>
          <p:cNvSpPr/>
          <p:nvPr/>
        </p:nvSpPr>
        <p:spPr>
          <a:xfrm>
            <a:off x="4943018" y="1686963"/>
            <a:ext cx="3753785" cy="338554"/>
          </a:xfrm>
          <a:prstGeom prst="rect">
            <a:avLst/>
          </a:prstGeom>
        </p:spPr>
        <p:txBody>
          <a:bodyPr wrap="none">
            <a:spAutoFit/>
          </a:bodyPr>
          <a:lstStyle/>
          <a:p>
            <a:r>
              <a:rPr lang="en-US" sz="1600" dirty="0">
                <a:solidFill>
                  <a:srgbClr val="000000"/>
                </a:solidFill>
                <a:latin typeface="Lato" panose="020F0502020204030203"/>
                <a:cs typeface="Courier New" panose="02070309020205020404" pitchFamily="49" charset="0"/>
              </a:rPr>
              <a:t>0, 1, 1, 2, 3, 5, 8, 13, 21, 34, 55, 89, 144, </a:t>
            </a:r>
            <a:r>
              <a:rPr lang="en-US" sz="1600" dirty="0" smtClean="0">
                <a:solidFill>
                  <a:srgbClr val="000000"/>
                </a:solidFill>
                <a:latin typeface="Lato" panose="020F0502020204030203"/>
                <a:cs typeface="Courier New" panose="02070309020205020404" pitchFamily="49" charset="0"/>
              </a:rPr>
              <a:t>v.v.</a:t>
            </a:r>
            <a:endParaRPr lang="en-US" sz="1600" dirty="0">
              <a:latin typeface="Lato" panose="020F0502020204030203"/>
              <a:cs typeface="Courier New" panose="02070309020205020404" pitchFamily="49" charset="0"/>
            </a:endParaRPr>
          </a:p>
        </p:txBody>
      </p:sp>
      <p:sp>
        <p:nvSpPr>
          <p:cNvPr id="27" name="Rectangle 26"/>
          <p:cNvSpPr/>
          <p:nvPr/>
        </p:nvSpPr>
        <p:spPr>
          <a:xfrm>
            <a:off x="5116142" y="1406783"/>
            <a:ext cx="3599896" cy="338554"/>
          </a:xfrm>
          <a:prstGeom prst="rect">
            <a:avLst/>
          </a:prstGeom>
        </p:spPr>
        <p:txBody>
          <a:bodyPr wrap="none">
            <a:spAutoFit/>
          </a:bodyPr>
          <a:lstStyle/>
          <a:p>
            <a:r>
              <a:rPr lang="en-US" sz="1600" dirty="0">
                <a:solidFill>
                  <a:srgbClr val="000000"/>
                </a:solidFill>
                <a:latin typeface="Lato" panose="020F0502020204030203"/>
                <a:cs typeface="Courier New" panose="02070309020205020404" pitchFamily="49" charset="0"/>
              </a:rPr>
              <a:t> 1, 1, 2, 3, 5, 8, 13, 21, 34, 55, 89, 144, v.v.</a:t>
            </a:r>
            <a:endParaRPr lang="en-US" sz="1600" dirty="0">
              <a:latin typeface="Lato" panose="020F0502020204030203"/>
              <a:cs typeface="Courier New" panose="02070309020205020404" pitchFamily="49" charset="0"/>
            </a:endParaRPr>
          </a:p>
        </p:txBody>
      </p:sp>
    </p:spTree>
    <p:extLst>
      <p:ext uri="{BB962C8B-B14F-4D97-AF65-F5344CB8AC3E}">
        <p14:creationId xmlns:p14="http://schemas.microsoft.com/office/powerpoint/2010/main" val="19191779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10</a:t>
            </a:fld>
            <a:endParaRPr lang="en-US"/>
          </a:p>
        </p:txBody>
      </p:sp>
      <p:sp>
        <p:nvSpPr>
          <p:cNvPr id="5" name="Title 4"/>
          <p:cNvSpPr>
            <a:spLocks noGrp="1"/>
          </p:cNvSpPr>
          <p:nvPr>
            <p:ph type="title"/>
          </p:nvPr>
        </p:nvSpPr>
        <p:spPr/>
        <p:txBody>
          <a:bodyPr/>
          <a:lstStyle/>
          <a:p>
            <a:r>
              <a:rPr lang="en-US" dirty="0" smtClean="0"/>
              <a:t>1.2 </a:t>
            </a:r>
            <a:r>
              <a:rPr lang="en-US" altLang="en-US" dirty="0" err="1"/>
              <a:t>Giải</a:t>
            </a:r>
            <a:r>
              <a:rPr lang="en-US" altLang="en-US" dirty="0"/>
              <a:t> </a:t>
            </a:r>
            <a:r>
              <a:rPr lang="en-US" altLang="en-US" dirty="0" err="1"/>
              <a:t>thuật</a:t>
            </a:r>
            <a:r>
              <a:rPr lang="en-US" altLang="en-US" dirty="0"/>
              <a:t> </a:t>
            </a:r>
            <a:r>
              <a:rPr lang="en-US" altLang="en-US" dirty="0" err="1"/>
              <a:t>đệ</a:t>
            </a:r>
            <a:r>
              <a:rPr lang="en-US" altLang="en-US" dirty="0"/>
              <a:t> </a:t>
            </a:r>
            <a:r>
              <a:rPr lang="en-US" altLang="en-US" dirty="0" err="1"/>
              <a:t>quy</a:t>
            </a:r>
            <a:r>
              <a:rPr lang="en-US" altLang="en-US" dirty="0"/>
              <a:t> (recursive algorithm)</a:t>
            </a:r>
            <a:endParaRPr lang="en-US" dirty="0"/>
          </a:p>
        </p:txBody>
      </p:sp>
      <p:sp>
        <p:nvSpPr>
          <p:cNvPr id="2" name="Content Placeholder 1"/>
          <p:cNvSpPr>
            <a:spLocks noGrp="1"/>
          </p:cNvSpPr>
          <p:nvPr>
            <p:ph type="body" sz="quarter" idx="13"/>
          </p:nvPr>
        </p:nvSpPr>
        <p:spPr/>
        <p:txBody>
          <a:bodyPr/>
          <a:lstStyle/>
          <a:p>
            <a:pPr marL="273050" lvl="1">
              <a:spcBef>
                <a:spcPts val="600"/>
              </a:spcBef>
              <a:buClr>
                <a:schemeClr val="accent1"/>
              </a:buClr>
            </a:pPr>
            <a:r>
              <a:rPr lang="en-US" altLang="en-US" sz="2400" dirty="0" err="1" smtClean="0">
                <a:cs typeface="Times New Roman" panose="02020603050405020304" pitchFamily="18" charset="0"/>
              </a:rPr>
              <a:t>Ví</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dụ</a:t>
            </a:r>
            <a:r>
              <a:rPr lang="en-US" altLang="en-US" sz="2400" dirty="0">
                <a:cs typeface="Times New Roman" panose="02020603050405020304" pitchFamily="18" charset="0"/>
              </a:rPr>
              <a:t> 1: </a:t>
            </a:r>
            <a:r>
              <a:rPr lang="en-US" altLang="en-US" sz="2400" dirty="0" err="1">
                <a:cs typeface="Times New Roman" panose="02020603050405020304" pitchFamily="18" charset="0"/>
              </a:rPr>
              <a:t>Tìm</a:t>
            </a:r>
            <a:r>
              <a:rPr lang="en-US" altLang="en-US" sz="2400" dirty="0">
                <a:cs typeface="Times New Roman" panose="02020603050405020304" pitchFamily="18" charset="0"/>
              </a:rPr>
              <a:t> </a:t>
            </a:r>
            <a:r>
              <a:rPr lang="en-US" altLang="en-US" sz="2400" i="1" dirty="0" err="1" smtClean="0">
                <a:cs typeface="Times New Roman" panose="02020603050405020304" pitchFamily="18" charset="0"/>
              </a:rPr>
              <a:t>từ</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trong</a:t>
            </a:r>
            <a:r>
              <a:rPr lang="en-US" altLang="en-US" sz="2400" dirty="0">
                <a:cs typeface="Times New Roman" panose="02020603050405020304" pitchFamily="18" charset="0"/>
              </a:rPr>
              <a:t> </a:t>
            </a:r>
            <a:r>
              <a:rPr lang="en-US" altLang="en-US" sz="2400" i="1" dirty="0" err="1">
                <a:cs typeface="Times New Roman" panose="02020603050405020304" pitchFamily="18" charset="0"/>
              </a:rPr>
              <a:t>từ</a:t>
            </a:r>
            <a:r>
              <a:rPr lang="en-US" altLang="en-US" sz="2400" i="1" dirty="0">
                <a:cs typeface="Times New Roman" panose="02020603050405020304" pitchFamily="18" charset="0"/>
              </a:rPr>
              <a:t> </a:t>
            </a:r>
            <a:r>
              <a:rPr lang="en-US" altLang="en-US" sz="2400" i="1" dirty="0" err="1" smtClean="0">
                <a:cs typeface="Times New Roman" panose="02020603050405020304" pitchFamily="18" charset="0"/>
              </a:rPr>
              <a:t>điển</a:t>
            </a:r>
            <a:endParaRPr lang="en-US" altLang="en-US" sz="2400" dirty="0">
              <a:cs typeface="Times New Roman" panose="02020603050405020304" pitchFamily="18" charset="0"/>
            </a:endParaRPr>
          </a:p>
          <a:p>
            <a:endParaRPr lang="en-US" dirty="0"/>
          </a:p>
        </p:txBody>
      </p:sp>
      <p:sp>
        <p:nvSpPr>
          <p:cNvPr id="6" name="Rectangle 10"/>
          <p:cNvSpPr>
            <a:spLocks noChangeArrowheads="1"/>
          </p:cNvSpPr>
          <p:nvPr/>
        </p:nvSpPr>
        <p:spPr bwMode="auto">
          <a:xfrm>
            <a:off x="1181100" y="2119581"/>
            <a:ext cx="2133600" cy="167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T</a:t>
            </a:r>
          </a:p>
        </p:txBody>
      </p:sp>
      <p:sp>
        <p:nvSpPr>
          <p:cNvPr id="7" name="Rectangle 11"/>
          <p:cNvSpPr>
            <a:spLocks noChangeArrowheads="1"/>
          </p:cNvSpPr>
          <p:nvPr/>
        </p:nvSpPr>
        <p:spPr bwMode="auto">
          <a:xfrm>
            <a:off x="3472319" y="2119581"/>
            <a:ext cx="1143000" cy="167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dirty="0"/>
              <a:t>T1</a:t>
            </a:r>
          </a:p>
        </p:txBody>
      </p:sp>
      <p:sp>
        <p:nvSpPr>
          <p:cNvPr id="8" name="Rectangle 12"/>
          <p:cNvSpPr>
            <a:spLocks noChangeArrowheads="1"/>
          </p:cNvSpPr>
          <p:nvPr/>
        </p:nvSpPr>
        <p:spPr bwMode="auto">
          <a:xfrm>
            <a:off x="4615319" y="2119581"/>
            <a:ext cx="1143000" cy="167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T2</a:t>
            </a:r>
          </a:p>
        </p:txBody>
      </p:sp>
      <p:sp>
        <p:nvSpPr>
          <p:cNvPr id="9" name="Rectangle 13"/>
          <p:cNvSpPr>
            <a:spLocks noChangeArrowheads="1"/>
          </p:cNvSpPr>
          <p:nvPr/>
        </p:nvSpPr>
        <p:spPr bwMode="auto">
          <a:xfrm>
            <a:off x="5867400" y="2957781"/>
            <a:ext cx="11430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T12</a:t>
            </a:r>
          </a:p>
        </p:txBody>
      </p:sp>
      <p:sp>
        <p:nvSpPr>
          <p:cNvPr id="10" name="Rectangle 14"/>
          <p:cNvSpPr>
            <a:spLocks noChangeArrowheads="1"/>
          </p:cNvSpPr>
          <p:nvPr/>
        </p:nvSpPr>
        <p:spPr bwMode="auto">
          <a:xfrm>
            <a:off x="5867400" y="2119581"/>
            <a:ext cx="11430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T11</a:t>
            </a:r>
          </a:p>
        </p:txBody>
      </p:sp>
      <p:sp>
        <p:nvSpPr>
          <p:cNvPr id="15" name="Rectangle 21"/>
          <p:cNvSpPr>
            <a:spLocks noChangeArrowheads="1"/>
          </p:cNvSpPr>
          <p:nvPr/>
        </p:nvSpPr>
        <p:spPr bwMode="auto">
          <a:xfrm>
            <a:off x="7010400" y="2957781"/>
            <a:ext cx="11430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T22</a:t>
            </a:r>
          </a:p>
        </p:txBody>
      </p:sp>
      <p:sp>
        <p:nvSpPr>
          <p:cNvPr id="16" name="Rectangle 22"/>
          <p:cNvSpPr>
            <a:spLocks noChangeArrowheads="1"/>
          </p:cNvSpPr>
          <p:nvPr/>
        </p:nvSpPr>
        <p:spPr bwMode="auto">
          <a:xfrm>
            <a:off x="7010400" y="2119581"/>
            <a:ext cx="11430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T21</a:t>
            </a:r>
          </a:p>
        </p:txBody>
      </p:sp>
      <p:sp>
        <p:nvSpPr>
          <p:cNvPr id="18" name="Rectangle 17"/>
          <p:cNvSpPr/>
          <p:nvPr/>
        </p:nvSpPr>
        <p:spPr>
          <a:xfrm>
            <a:off x="291229" y="4261130"/>
            <a:ext cx="5562600" cy="1358321"/>
          </a:xfrm>
          <a:prstGeom prst="rect">
            <a:avLst/>
          </a:prstGeom>
        </p:spPr>
        <p:txBody>
          <a:bodyPr vert="horz" lIns="91440" tIns="45720" rIns="91440" bIns="45720" rtlCol="0">
            <a:normAutofit/>
          </a:bodyPr>
          <a:lstStyle/>
          <a:p>
            <a:pPr marL="171450" indent="-171450" defTabSz="685800">
              <a:lnSpc>
                <a:spcPct val="90000"/>
              </a:lnSpc>
              <a:spcBef>
                <a:spcPts val="750"/>
              </a:spcBef>
              <a:buFont typeface="Arial" panose="020B0604020202020204" pitchFamily="34" charset="0"/>
              <a:buChar char="•"/>
            </a:pPr>
            <a:r>
              <a:rPr lang="vi-VN" sz="2100" dirty="0">
                <a:latin typeface="Lato" panose="020F0502020204030203" pitchFamily="34" charset="0"/>
                <a:ea typeface="Lato" panose="020F0502020204030203" pitchFamily="34" charset="0"/>
                <a:cs typeface="Lato" panose="020F0502020204030203" pitchFamily="34" charset="0"/>
              </a:rPr>
              <a:t>Sau mỗi lần tách đôi, ta lại dùng đúng</a:t>
            </a:r>
            <a:r>
              <a:rPr lang="vi-VN" sz="2100" u="sng" dirty="0">
                <a:latin typeface="Lato" panose="020F0502020204030203" pitchFamily="34" charset="0"/>
                <a:ea typeface="Lato" panose="020F0502020204030203" pitchFamily="34" charset="0"/>
                <a:cs typeface="Lato" panose="020F0502020204030203" pitchFamily="34" charset="0"/>
              </a:rPr>
              <a:t> giải thuật đã dùng </a:t>
            </a:r>
            <a:r>
              <a:rPr lang="vi-VN" sz="2100" dirty="0">
                <a:latin typeface="Lato" panose="020F0502020204030203" pitchFamily="34" charset="0"/>
                <a:ea typeface="Lato" panose="020F0502020204030203" pitchFamily="34" charset="0"/>
                <a:cs typeface="Lato" panose="020F0502020204030203" pitchFamily="34" charset="0"/>
              </a:rPr>
              <a:t>để áp dụng với các </a:t>
            </a:r>
            <a:r>
              <a:rPr lang="vi-VN" sz="2100" u="sng" dirty="0">
                <a:latin typeface="Lato" panose="020F0502020204030203" pitchFamily="34" charset="0"/>
                <a:ea typeface="Lato" panose="020F0502020204030203" pitchFamily="34" charset="0"/>
                <a:cs typeface="Lato" panose="020F0502020204030203" pitchFamily="34" charset="0"/>
              </a:rPr>
              <a:t>phần nhỏ hơn</a:t>
            </a:r>
          </a:p>
          <a:p>
            <a:pPr marL="171450" indent="-171450" defTabSz="685800">
              <a:lnSpc>
                <a:spcPct val="90000"/>
              </a:lnSpc>
              <a:spcBef>
                <a:spcPts val="750"/>
              </a:spcBef>
              <a:buFont typeface="Arial" panose="020B0604020202020204" pitchFamily="34" charset="0"/>
              <a:buChar char="•"/>
            </a:pPr>
            <a:r>
              <a:rPr lang="en-US" sz="2100" dirty="0">
                <a:latin typeface="Lato" panose="020F0502020204030203" pitchFamily="34" charset="0"/>
                <a:ea typeface="Lato" panose="020F0502020204030203" pitchFamily="34" charset="0"/>
                <a:cs typeface="Lato" panose="020F0502020204030203" pitchFamily="34" charset="0"/>
              </a:rPr>
              <a:t>K</a:t>
            </a:r>
            <a:r>
              <a:rPr lang="vi-VN" sz="2100" dirty="0">
                <a:latin typeface="Lato" panose="020F0502020204030203" pitchFamily="34" charset="0"/>
                <a:ea typeface="Lato" panose="020F0502020204030203" pitchFamily="34" charset="0"/>
                <a:cs typeface="Lato" panose="020F0502020204030203" pitchFamily="34" charset="0"/>
              </a:rPr>
              <a:t>hi </a:t>
            </a:r>
            <a:r>
              <a:rPr lang="vi-VN" sz="2100" dirty="0" smtClean="0">
                <a:latin typeface="Lato" panose="020F0502020204030203" pitchFamily="34" charset="0"/>
                <a:ea typeface="Lato" panose="020F0502020204030203" pitchFamily="34" charset="0"/>
                <a:cs typeface="Lato" panose="020F0502020204030203" pitchFamily="34" charset="0"/>
              </a:rPr>
              <a:t>chia </a:t>
            </a:r>
            <a:r>
              <a:rPr lang="vi-VN" sz="2100" dirty="0">
                <a:latin typeface="Lato" panose="020F0502020204030203" pitchFamily="34" charset="0"/>
                <a:ea typeface="Lato" panose="020F0502020204030203" pitchFamily="34" charset="0"/>
                <a:cs typeface="Lato" panose="020F0502020204030203" pitchFamily="34" charset="0"/>
              </a:rPr>
              <a:t>nhỏ đến 1 trang</a:t>
            </a:r>
            <a:r>
              <a:rPr lang="en-US" sz="2100" dirty="0">
                <a:latin typeface="Lato" panose="020F0502020204030203" pitchFamily="34" charset="0"/>
                <a:ea typeface="Lato" panose="020F0502020204030203" pitchFamily="34" charset="0"/>
                <a:cs typeface="Lato" panose="020F0502020204030203" pitchFamily="34" charset="0"/>
              </a:rPr>
              <a:t>,</a:t>
            </a:r>
            <a:r>
              <a:rPr lang="vi-VN" sz="2100" dirty="0">
                <a:latin typeface="Lato" panose="020F0502020204030203" pitchFamily="34" charset="0"/>
                <a:ea typeface="Lato" panose="020F0502020204030203" pitchFamily="34" charset="0"/>
                <a:cs typeface="Lato" panose="020F0502020204030203" pitchFamily="34" charset="0"/>
              </a:rPr>
              <a:t> việc tìm kiếm sẽ trở nên dễ dàng và có thể thực hiện </a:t>
            </a:r>
            <a:r>
              <a:rPr lang="vi-VN" sz="2100" u="sng" dirty="0">
                <a:latin typeface="Lato" panose="020F0502020204030203" pitchFamily="34" charset="0"/>
                <a:ea typeface="Lato" panose="020F0502020204030203" pitchFamily="34" charset="0"/>
                <a:cs typeface="Lato" panose="020F0502020204030203" pitchFamily="34" charset="0"/>
              </a:rPr>
              <a:t>trực tiếp</a:t>
            </a:r>
          </a:p>
        </p:txBody>
      </p:sp>
      <p:sp>
        <p:nvSpPr>
          <p:cNvPr id="19" name="Rectangle 13"/>
          <p:cNvSpPr>
            <a:spLocks noChangeArrowheads="1"/>
          </p:cNvSpPr>
          <p:nvPr/>
        </p:nvSpPr>
        <p:spPr bwMode="auto">
          <a:xfrm>
            <a:off x="5867400" y="4856535"/>
            <a:ext cx="11430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T12</a:t>
            </a:r>
          </a:p>
        </p:txBody>
      </p:sp>
      <p:sp>
        <p:nvSpPr>
          <p:cNvPr id="20" name="Rectangle 14"/>
          <p:cNvSpPr>
            <a:spLocks noChangeArrowheads="1"/>
          </p:cNvSpPr>
          <p:nvPr/>
        </p:nvSpPr>
        <p:spPr bwMode="auto">
          <a:xfrm>
            <a:off x="5867400" y="4018335"/>
            <a:ext cx="11430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dirty="0"/>
          </a:p>
        </p:txBody>
      </p:sp>
      <p:sp>
        <p:nvSpPr>
          <p:cNvPr id="21" name="Rectangle 21"/>
          <p:cNvSpPr>
            <a:spLocks noChangeArrowheads="1"/>
          </p:cNvSpPr>
          <p:nvPr/>
        </p:nvSpPr>
        <p:spPr bwMode="auto">
          <a:xfrm>
            <a:off x="7010400" y="4856535"/>
            <a:ext cx="11430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T22</a:t>
            </a:r>
          </a:p>
        </p:txBody>
      </p:sp>
      <p:sp>
        <p:nvSpPr>
          <p:cNvPr id="22" name="Rectangle 22"/>
          <p:cNvSpPr>
            <a:spLocks noChangeArrowheads="1"/>
          </p:cNvSpPr>
          <p:nvPr/>
        </p:nvSpPr>
        <p:spPr bwMode="auto">
          <a:xfrm>
            <a:off x="7010400" y="4018335"/>
            <a:ext cx="11430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T21</a:t>
            </a:r>
          </a:p>
        </p:txBody>
      </p:sp>
      <p:sp>
        <p:nvSpPr>
          <p:cNvPr id="23" name="Rectangle 22"/>
          <p:cNvSpPr/>
          <p:nvPr/>
        </p:nvSpPr>
        <p:spPr>
          <a:xfrm>
            <a:off x="5867399" y="4018335"/>
            <a:ext cx="605425" cy="4492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6472824" y="4467565"/>
            <a:ext cx="533401" cy="379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8691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5" grpId="0" animBg="1"/>
      <p:bldP spid="16" grpId="0" animBg="1"/>
      <p:bldP spid="18" grpId="0"/>
      <p:bldP spid="19" grpId="0" animBg="1"/>
      <p:bldP spid="20" grpId="0" animBg="1"/>
      <p:bldP spid="21" grpId="0" animBg="1"/>
      <p:bldP spid="22" grpId="0" animBg="1"/>
      <p:bldP spid="23" grpId="0" animBg="1"/>
      <p:bldP spid="2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11</a:t>
            </a:fld>
            <a:endParaRPr lang="en-US"/>
          </a:p>
        </p:txBody>
      </p:sp>
      <p:sp>
        <p:nvSpPr>
          <p:cNvPr id="5" name="Title 4"/>
          <p:cNvSpPr>
            <a:spLocks noGrp="1"/>
          </p:cNvSpPr>
          <p:nvPr>
            <p:ph type="title"/>
          </p:nvPr>
        </p:nvSpPr>
        <p:spPr/>
        <p:txBody>
          <a:bodyPr/>
          <a:lstStyle/>
          <a:p>
            <a:r>
              <a:rPr lang="en-US" dirty="0"/>
              <a:t>1.2 </a:t>
            </a:r>
            <a:r>
              <a:rPr lang="en-US" altLang="en-US" dirty="0" err="1"/>
              <a:t>Giải</a:t>
            </a:r>
            <a:r>
              <a:rPr lang="en-US" altLang="en-US" dirty="0"/>
              <a:t> </a:t>
            </a:r>
            <a:r>
              <a:rPr lang="en-US" altLang="en-US" dirty="0" err="1"/>
              <a:t>thuật</a:t>
            </a:r>
            <a:r>
              <a:rPr lang="en-US" altLang="en-US" dirty="0"/>
              <a:t> </a:t>
            </a:r>
            <a:r>
              <a:rPr lang="en-US" altLang="en-US" dirty="0" err="1"/>
              <a:t>đệ</a:t>
            </a:r>
            <a:r>
              <a:rPr lang="en-US" altLang="en-US" dirty="0"/>
              <a:t> </a:t>
            </a:r>
            <a:r>
              <a:rPr lang="en-US" altLang="en-US" dirty="0" err="1"/>
              <a:t>quy</a:t>
            </a:r>
            <a:r>
              <a:rPr lang="en-US" altLang="en-US" dirty="0"/>
              <a:t> (recursive algorithm)</a:t>
            </a:r>
            <a:endParaRPr lang="en-US" dirty="0"/>
          </a:p>
        </p:txBody>
      </p:sp>
      <p:sp>
        <p:nvSpPr>
          <p:cNvPr id="2" name="Content Placeholder 1"/>
          <p:cNvSpPr>
            <a:spLocks noGrp="1"/>
          </p:cNvSpPr>
          <p:nvPr>
            <p:ph type="body" sz="quarter" idx="13"/>
          </p:nvPr>
        </p:nvSpPr>
        <p:spPr/>
        <p:txBody>
          <a:bodyPr>
            <a:normAutofit/>
          </a:bodyPr>
          <a:lstStyle/>
          <a:p>
            <a:pPr>
              <a:spcBef>
                <a:spcPct val="10000"/>
              </a:spcBef>
            </a:pPr>
            <a:r>
              <a:rPr lang="en-US" altLang="en-US" sz="2400" dirty="0" err="1" smtClean="0">
                <a:cs typeface="Times New Roman" panose="02020603050405020304" pitchFamily="18" charset="0"/>
              </a:rPr>
              <a:t>Khái</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niệm</a:t>
            </a:r>
            <a:r>
              <a:rPr lang="en-US" altLang="en-US" sz="2400" dirty="0" smtClean="0">
                <a:cs typeface="Times New Roman" panose="02020603050405020304" pitchFamily="18" charset="0"/>
              </a:rPr>
              <a:t>: </a:t>
            </a:r>
          </a:p>
          <a:p>
            <a:pPr lvl="1">
              <a:spcBef>
                <a:spcPct val="10000"/>
              </a:spcBef>
            </a:pPr>
            <a:r>
              <a:rPr lang="en-US" altLang="en-US" sz="2000" dirty="0" err="1" smtClean="0">
                <a:cs typeface="Times New Roman" panose="02020603050405020304" pitchFamily="18" charset="0"/>
              </a:rPr>
              <a:t>Đưa</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bài</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toán</a:t>
            </a:r>
            <a:r>
              <a:rPr lang="en-US" altLang="en-US" sz="2000" dirty="0" smtClean="0">
                <a:cs typeface="Times New Roman" panose="02020603050405020304" pitchFamily="18" charset="0"/>
              </a:rPr>
              <a:t> </a:t>
            </a:r>
            <a:r>
              <a:rPr lang="en-US" altLang="en-US" sz="2000" i="1" dirty="0" smtClean="0">
                <a:cs typeface="Times New Roman" panose="02020603050405020304" pitchFamily="18" charset="0"/>
              </a:rPr>
              <a:t>P</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về</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một</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bài</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toán</a:t>
            </a:r>
            <a:r>
              <a:rPr lang="en-US" altLang="en-US" sz="2000" dirty="0" smtClean="0">
                <a:cs typeface="Times New Roman" panose="02020603050405020304" pitchFamily="18" charset="0"/>
              </a:rPr>
              <a:t> </a:t>
            </a:r>
            <a:r>
              <a:rPr lang="en-US" altLang="en-US" sz="2000" i="1" dirty="0" smtClean="0">
                <a:cs typeface="Times New Roman" panose="02020603050405020304" pitchFamily="18" charset="0"/>
              </a:rPr>
              <a:t>P</a:t>
            </a:r>
            <a:r>
              <a:rPr lang="en-US" altLang="en-US" sz="2000" i="1" baseline="-25000" dirty="0" smtClean="0">
                <a:cs typeface="Times New Roman" panose="02020603050405020304" pitchFamily="18" charset="0"/>
              </a:rPr>
              <a:t>1</a:t>
            </a:r>
            <a:r>
              <a:rPr lang="en-US" altLang="en-US" sz="2000" i="1" dirty="0" smtClean="0">
                <a:cs typeface="Times New Roman" panose="02020603050405020304" pitchFamily="18" charset="0"/>
              </a:rPr>
              <a:t> </a:t>
            </a:r>
            <a:r>
              <a:rPr lang="en-US" altLang="en-US" sz="2000" dirty="0" err="1" smtClean="0">
                <a:cs typeface="Times New Roman" panose="02020603050405020304" pitchFamily="18" charset="0"/>
              </a:rPr>
              <a:t>có</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bản</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chất</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tương</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tự</a:t>
            </a:r>
            <a:r>
              <a:rPr lang="en-US" altLang="en-US" sz="2000" dirty="0" smtClean="0">
                <a:cs typeface="Times New Roman" panose="02020603050405020304" pitchFamily="18" charset="0"/>
              </a:rPr>
              <a:t> </a:t>
            </a:r>
            <a:r>
              <a:rPr lang="en-US" altLang="en-US" sz="2000" i="1" dirty="0" smtClean="0">
                <a:cs typeface="Times New Roman" panose="02020603050405020304" pitchFamily="18" charset="0"/>
              </a:rPr>
              <a:t>P </a:t>
            </a:r>
            <a:r>
              <a:rPr lang="en-US" altLang="en-US" sz="2000" dirty="0" err="1" smtClean="0">
                <a:cs typeface="Times New Roman" panose="02020603050405020304" pitchFamily="18" charset="0"/>
              </a:rPr>
              <a:t>nhưng</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có</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mô</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bé</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hơn</a:t>
            </a:r>
            <a:r>
              <a:rPr lang="en-US" altLang="en-US" sz="2000" dirty="0" smtClean="0">
                <a:cs typeface="Times New Roman" panose="02020603050405020304" pitchFamily="18" charset="0"/>
              </a:rPr>
              <a:t>.</a:t>
            </a:r>
          </a:p>
          <a:p>
            <a:pPr lvl="2">
              <a:spcBef>
                <a:spcPct val="10000"/>
              </a:spcBef>
            </a:pPr>
            <a:r>
              <a:rPr lang="en-US" altLang="en-US" sz="1700" dirty="0" err="1" smtClean="0">
                <a:cs typeface="Times New Roman" panose="02020603050405020304" pitchFamily="18" charset="0"/>
              </a:rPr>
              <a:t>Nghĩa</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là</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tồn</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tại</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một</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quan</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hệ</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giữa</a:t>
            </a:r>
            <a:r>
              <a:rPr lang="en-US" altLang="en-US" sz="1700" dirty="0" smtClean="0">
                <a:cs typeface="Times New Roman" panose="02020603050405020304" pitchFamily="18" charset="0"/>
              </a:rPr>
              <a:t> </a:t>
            </a:r>
            <a:r>
              <a:rPr lang="en-US" altLang="en-US" sz="1700" i="1" dirty="0" smtClean="0">
                <a:cs typeface="Times New Roman" panose="02020603050405020304" pitchFamily="18" charset="0"/>
              </a:rPr>
              <a:t>P </a:t>
            </a:r>
            <a:r>
              <a:rPr lang="en-US" altLang="en-US" sz="1700" dirty="0" err="1" smtClean="0">
                <a:cs typeface="Times New Roman" panose="02020603050405020304" pitchFamily="18" charset="0"/>
              </a:rPr>
              <a:t>và</a:t>
            </a:r>
            <a:r>
              <a:rPr lang="en-US" altLang="en-US" sz="1700" dirty="0" smtClean="0">
                <a:cs typeface="Times New Roman" panose="02020603050405020304" pitchFamily="18" charset="0"/>
              </a:rPr>
              <a:t> </a:t>
            </a:r>
            <a:r>
              <a:rPr lang="en-US" altLang="en-US" sz="1700" i="1" dirty="0" smtClean="0">
                <a:cs typeface="Times New Roman" panose="02020603050405020304" pitchFamily="18" charset="0"/>
              </a:rPr>
              <a:t>P</a:t>
            </a:r>
            <a:r>
              <a:rPr lang="en-US" altLang="en-US" sz="1700" i="1" baseline="-25000" dirty="0" smtClean="0">
                <a:cs typeface="Times New Roman" panose="02020603050405020304" pitchFamily="18" charset="0"/>
              </a:rPr>
              <a:t>1</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khẳng</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định</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nếu</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giải</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được</a:t>
            </a:r>
            <a:r>
              <a:rPr lang="en-US" altLang="en-US" sz="1700" dirty="0" smtClean="0">
                <a:cs typeface="Times New Roman" panose="02020603050405020304" pitchFamily="18" charset="0"/>
              </a:rPr>
              <a:t> </a:t>
            </a:r>
            <a:r>
              <a:rPr lang="en-US" altLang="en-US" sz="1700" i="1" dirty="0" smtClean="0">
                <a:cs typeface="Times New Roman" panose="02020603050405020304" pitchFamily="18" charset="0"/>
              </a:rPr>
              <a:t>P</a:t>
            </a:r>
            <a:r>
              <a:rPr lang="en-US" altLang="en-US" sz="1700" i="1" baseline="-25000" dirty="0" smtClean="0">
                <a:cs typeface="Times New Roman" panose="02020603050405020304" pitchFamily="18" charset="0"/>
              </a:rPr>
              <a:t>1</a:t>
            </a:r>
            <a:r>
              <a:rPr lang="en-US" altLang="en-US" sz="1700" i="1" dirty="0" smtClean="0">
                <a:cs typeface="Times New Roman" panose="02020603050405020304" pitchFamily="18" charset="0"/>
              </a:rPr>
              <a:t> </a:t>
            </a:r>
            <a:r>
              <a:rPr lang="en-US" altLang="en-US" sz="1700" dirty="0" err="1" smtClean="0">
                <a:cs typeface="Times New Roman" panose="02020603050405020304" pitchFamily="18" charset="0"/>
              </a:rPr>
              <a:t>thì</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sẽ</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giải</a:t>
            </a:r>
            <a:r>
              <a:rPr lang="en-US" altLang="en-US" sz="1700" dirty="0" smtClean="0">
                <a:cs typeface="Times New Roman" panose="02020603050405020304" pitchFamily="18" charset="0"/>
              </a:rPr>
              <a:t> </a:t>
            </a:r>
            <a:r>
              <a:rPr lang="en-US" altLang="en-US" sz="1700" dirty="0" err="1" smtClean="0">
                <a:cs typeface="Times New Roman" panose="02020603050405020304" pitchFamily="18" charset="0"/>
              </a:rPr>
              <a:t>được</a:t>
            </a:r>
            <a:r>
              <a:rPr lang="en-US" altLang="en-US" sz="1700" dirty="0" smtClean="0">
                <a:cs typeface="Times New Roman" panose="02020603050405020304" pitchFamily="18" charset="0"/>
              </a:rPr>
              <a:t> </a:t>
            </a:r>
            <a:r>
              <a:rPr lang="en-US" altLang="en-US" sz="1700" i="1" dirty="0" smtClean="0">
                <a:cs typeface="Times New Roman" panose="02020603050405020304" pitchFamily="18" charset="0"/>
              </a:rPr>
              <a:t>P.</a:t>
            </a:r>
            <a:r>
              <a:rPr lang="en-US" altLang="en-US" sz="1700" dirty="0" smtClean="0">
                <a:cs typeface="Times New Roman" panose="02020603050405020304" pitchFamily="18" charset="0"/>
              </a:rPr>
              <a:t> </a:t>
            </a:r>
          </a:p>
          <a:p>
            <a:pPr lvl="1">
              <a:spcBef>
                <a:spcPct val="10000"/>
              </a:spcBef>
            </a:pPr>
            <a:r>
              <a:rPr lang="en-US" altLang="en-US" sz="2100" dirty="0" err="1" smtClean="0">
                <a:cs typeface="Times New Roman" panose="02020603050405020304" pitchFamily="18" charset="0"/>
              </a:rPr>
              <a:t>Tương</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tự</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đưa</a:t>
            </a:r>
            <a:r>
              <a:rPr lang="en-US" altLang="en-US" sz="2100" dirty="0" smtClean="0">
                <a:cs typeface="Times New Roman" panose="02020603050405020304" pitchFamily="18" charset="0"/>
              </a:rPr>
              <a:t> </a:t>
            </a:r>
            <a:r>
              <a:rPr lang="en-US" altLang="en-US" sz="2100" i="1" dirty="0" smtClean="0">
                <a:cs typeface="Times New Roman" panose="02020603050405020304" pitchFamily="18" charset="0"/>
              </a:rPr>
              <a:t>P</a:t>
            </a:r>
            <a:r>
              <a:rPr lang="en-US" altLang="en-US" sz="2100" i="1" baseline="-25000" dirty="0" smtClean="0">
                <a:cs typeface="Times New Roman" panose="02020603050405020304" pitchFamily="18" charset="0"/>
              </a:rPr>
              <a:t>1</a:t>
            </a:r>
            <a:r>
              <a:rPr lang="en-US" altLang="en-US" sz="2100" i="1" dirty="0" smtClean="0">
                <a:cs typeface="Times New Roman" panose="02020603050405020304" pitchFamily="18" charset="0"/>
              </a:rPr>
              <a:t> </a:t>
            </a:r>
            <a:r>
              <a:rPr lang="en-US" altLang="en-US" sz="2100" dirty="0" err="1" smtClean="0">
                <a:cs typeface="Times New Roman" panose="02020603050405020304" pitchFamily="18" charset="0"/>
              </a:rPr>
              <a:t>về</a:t>
            </a:r>
            <a:r>
              <a:rPr lang="en-US" altLang="en-US" sz="2100" dirty="0" smtClean="0">
                <a:cs typeface="Times New Roman" panose="02020603050405020304" pitchFamily="18" charset="0"/>
              </a:rPr>
              <a:t> </a:t>
            </a:r>
            <a:r>
              <a:rPr lang="en-US" altLang="en-US" sz="2100" i="1" dirty="0" smtClean="0">
                <a:cs typeface="Times New Roman" panose="02020603050405020304" pitchFamily="18" charset="0"/>
              </a:rPr>
              <a:t>P</a:t>
            </a:r>
            <a:r>
              <a:rPr lang="en-US" altLang="en-US" sz="2100" i="1" baseline="-25000" dirty="0" smtClean="0">
                <a:cs typeface="Times New Roman" panose="02020603050405020304" pitchFamily="18" charset="0"/>
              </a:rPr>
              <a:t>2</a:t>
            </a:r>
            <a:r>
              <a:rPr lang="en-US" altLang="en-US" sz="2100" i="1" dirty="0" smtClean="0">
                <a:cs typeface="Times New Roman" panose="02020603050405020304" pitchFamily="18" charset="0"/>
              </a:rPr>
              <a:t> </a:t>
            </a:r>
            <a:r>
              <a:rPr lang="en-US" altLang="en-US" sz="2100" dirty="0" err="1" smtClean="0">
                <a:cs typeface="Times New Roman" panose="02020603050405020304" pitchFamily="18" charset="0"/>
              </a:rPr>
              <a:t>có</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cùng</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bản</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chất</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với</a:t>
            </a:r>
            <a:r>
              <a:rPr lang="en-US" altLang="en-US" sz="2100" dirty="0" smtClean="0">
                <a:cs typeface="Times New Roman" panose="02020603050405020304" pitchFamily="18" charset="0"/>
              </a:rPr>
              <a:t> </a:t>
            </a:r>
            <a:r>
              <a:rPr lang="en-US" altLang="en-US" sz="2100" i="1" dirty="0" smtClean="0">
                <a:cs typeface="Times New Roman" panose="02020603050405020304" pitchFamily="18" charset="0"/>
              </a:rPr>
              <a:t>P</a:t>
            </a:r>
            <a:r>
              <a:rPr lang="en-US" altLang="en-US" sz="2100" i="1" baseline="-25000" dirty="0" smtClean="0">
                <a:cs typeface="Times New Roman" panose="02020603050405020304" pitchFamily="18" charset="0"/>
              </a:rPr>
              <a:t>1</a:t>
            </a:r>
            <a:r>
              <a:rPr lang="en-US" altLang="en-US" sz="2100" i="1" dirty="0" smtClean="0">
                <a:cs typeface="Times New Roman" panose="02020603050405020304" pitchFamily="18" charset="0"/>
              </a:rPr>
              <a:t>,</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quy</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mô</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nhỏ</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hơn</a:t>
            </a:r>
            <a:r>
              <a:rPr lang="en-US" altLang="en-US" sz="2100" dirty="0" smtClean="0">
                <a:cs typeface="Times New Roman" panose="02020603050405020304" pitchFamily="18" charset="0"/>
              </a:rPr>
              <a:t> </a:t>
            </a:r>
            <a:r>
              <a:rPr lang="en-US" altLang="en-US" sz="2100" i="1" dirty="0" smtClean="0">
                <a:cs typeface="Times New Roman" panose="02020603050405020304" pitchFamily="18" charset="0"/>
              </a:rPr>
              <a:t>P</a:t>
            </a:r>
            <a:r>
              <a:rPr lang="en-US" altLang="en-US" sz="2100" i="1" baseline="-25000" dirty="0" smtClean="0">
                <a:cs typeface="Times New Roman" panose="02020603050405020304" pitchFamily="18" charset="0"/>
              </a:rPr>
              <a:t>1</a:t>
            </a:r>
            <a:r>
              <a:rPr lang="en-US" altLang="en-US" sz="2100" i="1" dirty="0" smtClean="0">
                <a:cs typeface="Times New Roman" panose="02020603050405020304" pitchFamily="18" charset="0"/>
              </a:rPr>
              <a:t>.</a:t>
            </a:r>
            <a:r>
              <a:rPr lang="en-US" altLang="en-US" sz="2100" dirty="0" smtClean="0">
                <a:cs typeface="Times New Roman" panose="02020603050405020304" pitchFamily="18" charset="0"/>
              </a:rPr>
              <a:t> </a:t>
            </a:r>
          </a:p>
          <a:p>
            <a:pPr lvl="1">
              <a:spcBef>
                <a:spcPct val="10000"/>
              </a:spcBef>
            </a:pPr>
            <a:r>
              <a:rPr lang="en-US" altLang="en-US" sz="2100" dirty="0" smtClean="0">
                <a:cs typeface="Times New Roman" panose="02020603050405020304" pitchFamily="18" charset="0"/>
              </a:rPr>
              <a:t>… </a:t>
            </a:r>
            <a:endParaRPr lang="en-US" altLang="en-US" sz="2100" dirty="0">
              <a:cs typeface="Times New Roman" panose="02020603050405020304" pitchFamily="18" charset="0"/>
            </a:endParaRPr>
          </a:p>
          <a:p>
            <a:pPr lvl="1">
              <a:spcBef>
                <a:spcPct val="10000"/>
              </a:spcBef>
            </a:pPr>
            <a:r>
              <a:rPr lang="en-US" altLang="en-US" sz="2100" dirty="0" err="1" smtClean="0">
                <a:cs typeface="Times New Roman" panose="02020603050405020304" pitchFamily="18" charset="0"/>
              </a:rPr>
              <a:t>Quá</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trình</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cứ</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tiếp</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tục</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cho</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đến</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khi</a:t>
            </a:r>
            <a:r>
              <a:rPr lang="en-US" altLang="en-US" sz="2100" dirty="0" smtClean="0">
                <a:cs typeface="Times New Roman" panose="02020603050405020304" pitchFamily="18" charset="0"/>
              </a:rPr>
              <a:t> ta </a:t>
            </a:r>
            <a:r>
              <a:rPr lang="en-US" altLang="en-US" sz="2100" dirty="0" err="1" smtClean="0">
                <a:cs typeface="Times New Roman" panose="02020603050405020304" pitchFamily="18" charset="0"/>
              </a:rPr>
              <a:t>đưa</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bài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toán</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về</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bài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toán</a:t>
            </a:r>
            <a:r>
              <a:rPr lang="en-US" altLang="en-US" sz="2100" dirty="0" smtClean="0">
                <a:cs typeface="Times New Roman" panose="02020603050405020304" pitchFamily="18" charset="0"/>
              </a:rPr>
              <a:t> con </a:t>
            </a:r>
            <a:r>
              <a:rPr lang="en-US" altLang="en-US" sz="2100" i="1" dirty="0" err="1" smtClean="0">
                <a:cs typeface="Times New Roman" panose="02020603050405020304" pitchFamily="18" charset="0"/>
              </a:rPr>
              <a:t>P</a:t>
            </a:r>
            <a:r>
              <a:rPr lang="en-US" altLang="en-US" sz="2100" i="1" baseline="-25000" dirty="0" err="1" smtClean="0">
                <a:cs typeface="Times New Roman" panose="02020603050405020304" pitchFamily="18" charset="0"/>
              </a:rPr>
              <a:t>n</a:t>
            </a:r>
            <a:r>
              <a:rPr lang="en-US" altLang="en-US" sz="2100" i="1" dirty="0" smtClean="0">
                <a:cs typeface="Times New Roman" panose="02020603050405020304" pitchFamily="18" charset="0"/>
              </a:rPr>
              <a:t> </a:t>
            </a:r>
            <a:r>
              <a:rPr lang="en-US" altLang="en-US" sz="2100" dirty="0" err="1" smtClean="0">
                <a:cs typeface="Times New Roman" panose="02020603050405020304" pitchFamily="18" charset="0"/>
              </a:rPr>
              <a:t>tương</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tự</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như</a:t>
            </a:r>
            <a:r>
              <a:rPr lang="en-US" altLang="en-US" sz="2100" dirty="0" smtClean="0">
                <a:cs typeface="Times New Roman" panose="02020603050405020304" pitchFamily="18" charset="0"/>
              </a:rPr>
              <a:t> </a:t>
            </a:r>
            <a:r>
              <a:rPr lang="en-US" altLang="en-US" sz="2100" i="1" dirty="0" smtClean="0">
                <a:cs typeface="Times New Roman" panose="02020603050405020304" pitchFamily="18" charset="0"/>
              </a:rPr>
              <a:t>P</a:t>
            </a:r>
            <a:r>
              <a:rPr lang="en-US" altLang="en-US" sz="2100" i="1" baseline="-25000" dirty="0" smtClean="0">
                <a:cs typeface="Times New Roman" panose="02020603050405020304" pitchFamily="18" charset="0"/>
              </a:rPr>
              <a:t>n-1</a:t>
            </a:r>
            <a:r>
              <a:rPr lang="en-US" altLang="en-US" sz="2100" i="1" dirty="0" smtClean="0">
                <a:cs typeface="Times New Roman" panose="02020603050405020304" pitchFamily="18" charset="0"/>
              </a:rPr>
              <a:t> </a:t>
            </a:r>
            <a:r>
              <a:rPr lang="en-US" altLang="en-US" sz="2100" dirty="0" err="1" smtClean="0">
                <a:cs typeface="Times New Roman" panose="02020603050405020304" pitchFamily="18" charset="0"/>
              </a:rPr>
              <a:t>và</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có</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quy</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mô</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nhỏ</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hơn</a:t>
            </a:r>
            <a:r>
              <a:rPr lang="en-US" altLang="en-US" sz="2100" dirty="0" smtClean="0">
                <a:cs typeface="Times New Roman" panose="02020603050405020304" pitchFamily="18" charset="0"/>
              </a:rPr>
              <a:t> </a:t>
            </a:r>
            <a:r>
              <a:rPr lang="en-US" altLang="en-US" sz="2100" i="1" dirty="0" smtClean="0">
                <a:cs typeface="Times New Roman" panose="02020603050405020304" pitchFamily="18" charset="0"/>
              </a:rPr>
              <a:t>P</a:t>
            </a:r>
            <a:r>
              <a:rPr lang="en-US" altLang="en-US" sz="2100" i="1" baseline="-25000" dirty="0" smtClean="0">
                <a:cs typeface="Times New Roman" panose="02020603050405020304" pitchFamily="18" charset="0"/>
              </a:rPr>
              <a:t>n-1</a:t>
            </a:r>
            <a:r>
              <a:rPr lang="en-US" altLang="en-US" sz="2100" dirty="0" smtClean="0">
                <a:cs typeface="Times New Roman" panose="02020603050405020304" pitchFamily="18" charset="0"/>
              </a:rPr>
              <a:t> .</a:t>
            </a:r>
          </a:p>
          <a:p>
            <a:pPr lvl="1">
              <a:spcBef>
                <a:spcPct val="10000"/>
              </a:spcBef>
            </a:pPr>
            <a:r>
              <a:rPr lang="en-US" altLang="en-US" sz="2100" i="1" dirty="0" err="1" smtClean="0">
                <a:cs typeface="Times New Roman" panose="02020603050405020304" pitchFamily="18" charset="0"/>
              </a:rPr>
              <a:t>P</a:t>
            </a:r>
            <a:r>
              <a:rPr lang="en-US" altLang="en-US" sz="2100" i="1" baseline="-25000" dirty="0" err="1" smtClean="0">
                <a:cs typeface="Times New Roman" panose="02020603050405020304" pitchFamily="18" charset="0"/>
              </a:rPr>
              <a:t>n</a:t>
            </a:r>
            <a:r>
              <a:rPr lang="en-US" altLang="en-US" sz="2100" i="1" dirty="0" smtClean="0">
                <a:cs typeface="Times New Roman" panose="02020603050405020304" pitchFamily="18" charset="0"/>
              </a:rPr>
              <a:t> </a:t>
            </a:r>
            <a:r>
              <a:rPr lang="en-US" altLang="en-US" sz="2100" dirty="0" err="1" smtClean="0">
                <a:cs typeface="Times New Roman" panose="02020603050405020304" pitchFamily="18" charset="0"/>
              </a:rPr>
              <a:t>có</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thể</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giải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một</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cách</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trực</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tiếp</a:t>
            </a:r>
            <a:r>
              <a:rPr lang="en-US" altLang="en-US" sz="2100" dirty="0" smtClean="0">
                <a:cs typeface="Times New Roman" panose="02020603050405020304" pitchFamily="18" charset="0"/>
              </a:rPr>
              <a:t> do </a:t>
            </a:r>
            <a:r>
              <a:rPr lang="en-US" altLang="en-US" sz="2100" i="1" dirty="0" err="1" smtClean="0">
                <a:cs typeface="Times New Roman" panose="02020603050405020304" pitchFamily="18" charset="0"/>
              </a:rPr>
              <a:t>P</a:t>
            </a:r>
            <a:r>
              <a:rPr lang="en-US" altLang="en-US" sz="2100" i="1" baseline="-25000" dirty="0" err="1" smtClean="0">
                <a:cs typeface="Times New Roman" panose="02020603050405020304" pitchFamily="18" charset="0"/>
              </a:rPr>
              <a:t>n</a:t>
            </a:r>
            <a:r>
              <a:rPr lang="en-US" altLang="en-US" sz="2100" i="1" dirty="0" smtClean="0">
                <a:cs typeface="Times New Roman" panose="02020603050405020304" pitchFamily="18" charset="0"/>
              </a:rPr>
              <a:t> </a:t>
            </a:r>
            <a:r>
              <a:rPr lang="en-US" altLang="en-US" sz="2100" dirty="0" err="1" smtClean="0">
                <a:cs typeface="Times New Roman" panose="02020603050405020304" pitchFamily="18" charset="0"/>
              </a:rPr>
              <a:t>đã</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đủ</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nhỏ</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và</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đơn</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giản</a:t>
            </a:r>
            <a:r>
              <a:rPr lang="en-US" altLang="en-US" sz="2100" dirty="0" smtClean="0">
                <a:cs typeface="Times New Roman" panose="02020603050405020304" pitchFamily="18" charset="0"/>
              </a:rPr>
              <a:t>. </a:t>
            </a:r>
          </a:p>
          <a:p>
            <a:pPr lvl="1">
              <a:spcBef>
                <a:spcPct val="10000"/>
              </a:spcBef>
            </a:pPr>
            <a:r>
              <a:rPr lang="en-US" altLang="en-US" sz="2100" dirty="0" err="1" smtClean="0">
                <a:cs typeface="Times New Roman" panose="02020603050405020304" pitchFamily="18" charset="0"/>
              </a:rPr>
              <a:t>Sau</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khi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giải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được</a:t>
            </a:r>
            <a:r>
              <a:rPr lang="en-US" altLang="en-US" sz="2100" dirty="0" smtClean="0">
                <a:cs typeface="Times New Roman" panose="02020603050405020304" pitchFamily="18" charset="0"/>
              </a:rPr>
              <a:t> </a:t>
            </a:r>
            <a:r>
              <a:rPr lang="en-US" altLang="en-US" sz="2100" i="1" dirty="0" err="1" smtClean="0">
                <a:cs typeface="Times New Roman" panose="02020603050405020304" pitchFamily="18" charset="0"/>
              </a:rPr>
              <a:t>P</a:t>
            </a:r>
            <a:r>
              <a:rPr lang="en-US" altLang="en-US" sz="2100" i="1" baseline="-25000" dirty="0" err="1" smtClean="0">
                <a:cs typeface="Times New Roman" panose="02020603050405020304" pitchFamily="18" charset="0"/>
              </a:rPr>
              <a:t>n</a:t>
            </a:r>
            <a:r>
              <a:rPr lang="en-US" altLang="en-US" sz="2100" dirty="0" smtClean="0">
                <a:cs typeface="Times New Roman" panose="02020603050405020304" pitchFamily="18" charset="0"/>
              </a:rPr>
              <a:t>, ta quay </a:t>
            </a:r>
            <a:r>
              <a:rPr lang="en-US" altLang="en-US" sz="2100" dirty="0" err="1" smtClean="0">
                <a:cs typeface="Times New Roman" panose="02020603050405020304" pitchFamily="18" charset="0"/>
              </a:rPr>
              <a:t>lại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giải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các</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bài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toán</a:t>
            </a:r>
            <a:r>
              <a:rPr lang="en-US" altLang="en-US" sz="2100" dirty="0" smtClean="0">
                <a:cs typeface="Times New Roman" panose="02020603050405020304" pitchFamily="18" charset="0"/>
              </a:rPr>
              <a:t> con </a:t>
            </a:r>
            <a:r>
              <a:rPr lang="en-US" altLang="en-US" sz="2100" dirty="0" err="1" smtClean="0">
                <a:cs typeface="Times New Roman" panose="02020603050405020304" pitchFamily="18" charset="0"/>
              </a:rPr>
              <a:t>theo</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trật</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tự</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ngược</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lại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và</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cuối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cùng</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giải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được</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bài</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toán</a:t>
            </a:r>
            <a:r>
              <a:rPr lang="en-US" altLang="en-US" sz="2100" dirty="0" smtClean="0">
                <a:cs typeface="Times New Roman" panose="02020603050405020304" pitchFamily="18" charset="0"/>
              </a:rPr>
              <a:t> ban </a:t>
            </a:r>
            <a:r>
              <a:rPr lang="en-US" altLang="en-US" sz="2100" dirty="0" err="1" smtClean="0">
                <a:cs typeface="Times New Roman" panose="02020603050405020304" pitchFamily="18" charset="0"/>
              </a:rPr>
              <a:t>đầu</a:t>
            </a:r>
            <a:r>
              <a:rPr lang="en-US" altLang="en-US" sz="2100" dirty="0" smtClean="0">
                <a:cs typeface="Times New Roman" panose="02020603050405020304" pitchFamily="18" charset="0"/>
              </a:rPr>
              <a:t> </a:t>
            </a:r>
            <a:r>
              <a:rPr lang="en-US" altLang="en-US" sz="2100" i="1" dirty="0" smtClean="0">
                <a:cs typeface="Times New Roman" panose="02020603050405020304" pitchFamily="18" charset="0"/>
              </a:rPr>
              <a:t>P</a:t>
            </a:r>
            <a:r>
              <a:rPr lang="en-US" altLang="en-US" sz="2100" dirty="0" smtClean="0">
                <a:cs typeface="Times New Roman" panose="02020603050405020304" pitchFamily="18" charset="0"/>
              </a:rPr>
              <a:t>. </a:t>
            </a:r>
          </a:p>
          <a:p>
            <a:endParaRPr lang="en-US" sz="2400" dirty="0"/>
          </a:p>
        </p:txBody>
      </p:sp>
      <p:sp>
        <p:nvSpPr>
          <p:cNvPr id="7" name="Oval 85"/>
          <p:cNvSpPr>
            <a:spLocks noChangeAspect="1" noChangeArrowheads="1"/>
          </p:cNvSpPr>
          <p:nvPr/>
        </p:nvSpPr>
        <p:spPr bwMode="auto">
          <a:xfrm>
            <a:off x="1981200" y="5120138"/>
            <a:ext cx="524663" cy="457014"/>
          </a:xfrm>
          <a:prstGeom prst="ellipse">
            <a:avLst/>
          </a:prstGeom>
          <a:solidFill>
            <a:srgbClr val="FFFFFF"/>
          </a:solidFill>
          <a:ln w="9525">
            <a:solidFill>
              <a:srgbClr val="000000"/>
            </a:solidFill>
            <a:round/>
            <a:headEnd/>
            <a:tailEnd/>
          </a:ln>
        </p:spPr>
        <p:txBody>
          <a:bodyPr/>
          <a:lstStyle/>
          <a:p>
            <a:pPr algn="ctr" eaLnBrk="0" hangingPunct="0"/>
            <a:r>
              <a:rPr lang="en-US" altLang="en-US" sz="1800"/>
              <a:t>P</a:t>
            </a:r>
          </a:p>
        </p:txBody>
      </p:sp>
      <p:sp>
        <p:nvSpPr>
          <p:cNvPr id="8" name="Oval 86"/>
          <p:cNvSpPr>
            <a:spLocks noChangeAspect="1" noChangeArrowheads="1"/>
          </p:cNvSpPr>
          <p:nvPr/>
        </p:nvSpPr>
        <p:spPr bwMode="auto">
          <a:xfrm>
            <a:off x="3032115" y="5120138"/>
            <a:ext cx="524663" cy="457014"/>
          </a:xfrm>
          <a:prstGeom prst="ellipse">
            <a:avLst/>
          </a:prstGeom>
          <a:solidFill>
            <a:srgbClr val="FFFFFF"/>
          </a:solidFill>
          <a:ln w="9525">
            <a:solidFill>
              <a:srgbClr val="000000"/>
            </a:solidFill>
            <a:round/>
            <a:headEnd/>
            <a:tailEnd/>
          </a:ln>
        </p:spPr>
        <p:txBody>
          <a:bodyPr lIns="54000" rIns="54000"/>
          <a:lstStyle/>
          <a:p>
            <a:pPr algn="ctr" eaLnBrk="0" hangingPunct="0"/>
            <a:r>
              <a:rPr lang="en-US" altLang="en-US" sz="1800"/>
              <a:t>P</a:t>
            </a:r>
            <a:r>
              <a:rPr lang="en-US" altLang="en-US" sz="1800" baseline="-25000"/>
              <a:t>1</a:t>
            </a:r>
            <a:endParaRPr lang="en-US" altLang="en-US" sz="1800"/>
          </a:p>
        </p:txBody>
      </p:sp>
      <p:sp>
        <p:nvSpPr>
          <p:cNvPr id="9" name="Oval 87"/>
          <p:cNvSpPr>
            <a:spLocks noChangeAspect="1" noChangeArrowheads="1"/>
          </p:cNvSpPr>
          <p:nvPr/>
        </p:nvSpPr>
        <p:spPr bwMode="auto">
          <a:xfrm>
            <a:off x="4083031" y="5120138"/>
            <a:ext cx="524663" cy="457014"/>
          </a:xfrm>
          <a:prstGeom prst="ellipse">
            <a:avLst/>
          </a:prstGeom>
          <a:solidFill>
            <a:srgbClr val="FFFFFF"/>
          </a:solidFill>
          <a:ln w="9525">
            <a:solidFill>
              <a:srgbClr val="000000"/>
            </a:solidFill>
            <a:round/>
            <a:headEnd/>
            <a:tailEnd/>
          </a:ln>
        </p:spPr>
        <p:txBody>
          <a:bodyPr lIns="54000" rIns="54000"/>
          <a:lstStyle/>
          <a:p>
            <a:pPr algn="ctr" eaLnBrk="0" hangingPunct="0"/>
            <a:r>
              <a:rPr lang="en-US" altLang="en-US" sz="1800" dirty="0"/>
              <a:t>P</a:t>
            </a:r>
            <a:r>
              <a:rPr lang="en-US" altLang="en-US" sz="1800" baseline="-25000" dirty="0"/>
              <a:t>2</a:t>
            </a:r>
            <a:endParaRPr lang="en-US" altLang="en-US" sz="1800" dirty="0"/>
          </a:p>
        </p:txBody>
      </p:sp>
      <p:sp>
        <p:nvSpPr>
          <p:cNvPr id="10" name="Oval 88"/>
          <p:cNvSpPr>
            <a:spLocks noChangeAspect="1" noChangeArrowheads="1"/>
          </p:cNvSpPr>
          <p:nvPr/>
        </p:nvSpPr>
        <p:spPr bwMode="auto">
          <a:xfrm>
            <a:off x="5483722" y="5120138"/>
            <a:ext cx="699550" cy="457014"/>
          </a:xfrm>
          <a:prstGeom prst="ellipse">
            <a:avLst/>
          </a:prstGeom>
          <a:solidFill>
            <a:srgbClr val="FFFFFF"/>
          </a:solidFill>
          <a:ln w="9525">
            <a:solidFill>
              <a:srgbClr val="000000"/>
            </a:solidFill>
            <a:round/>
            <a:headEnd/>
            <a:tailEnd/>
          </a:ln>
        </p:spPr>
        <p:txBody>
          <a:bodyPr lIns="18000" rIns="18000"/>
          <a:lstStyle/>
          <a:p>
            <a:pPr algn="ctr" eaLnBrk="0" hangingPunct="0"/>
            <a:r>
              <a:rPr lang="en-US" altLang="en-US" sz="1800" dirty="0" smtClean="0"/>
              <a:t>P</a:t>
            </a:r>
            <a:r>
              <a:rPr lang="en-US" altLang="en-US" sz="1800" baseline="-25000" dirty="0" smtClean="0"/>
              <a:t>n-1</a:t>
            </a:r>
            <a:endParaRPr lang="en-US" altLang="en-US" sz="1800" dirty="0"/>
          </a:p>
        </p:txBody>
      </p:sp>
      <p:sp>
        <p:nvSpPr>
          <p:cNvPr id="11" name="Oval 89"/>
          <p:cNvSpPr>
            <a:spLocks noChangeAspect="1" noChangeArrowheads="1"/>
          </p:cNvSpPr>
          <p:nvPr/>
        </p:nvSpPr>
        <p:spPr bwMode="auto">
          <a:xfrm>
            <a:off x="6534637" y="5120138"/>
            <a:ext cx="524663" cy="457014"/>
          </a:xfrm>
          <a:prstGeom prst="ellipse">
            <a:avLst/>
          </a:prstGeom>
          <a:solidFill>
            <a:srgbClr val="FFFFFF"/>
          </a:solidFill>
          <a:ln w="9525">
            <a:solidFill>
              <a:srgbClr val="000000"/>
            </a:solidFill>
            <a:round/>
            <a:headEnd/>
            <a:tailEnd/>
          </a:ln>
        </p:spPr>
        <p:txBody>
          <a:bodyPr lIns="54000" rIns="54000"/>
          <a:lstStyle/>
          <a:p>
            <a:pPr algn="ctr" eaLnBrk="0" hangingPunct="0"/>
            <a:r>
              <a:rPr lang="en-US" altLang="en-US" sz="1800"/>
              <a:t>P</a:t>
            </a:r>
            <a:r>
              <a:rPr lang="en-US" altLang="en-US" sz="1800" baseline="-25000"/>
              <a:t>n</a:t>
            </a:r>
          </a:p>
        </p:txBody>
      </p:sp>
      <p:sp>
        <p:nvSpPr>
          <p:cNvPr id="12" name="AutoShape 90"/>
          <p:cNvSpPr>
            <a:spLocks noChangeAspect="1" noChangeArrowheads="1"/>
          </p:cNvSpPr>
          <p:nvPr/>
        </p:nvSpPr>
        <p:spPr bwMode="auto">
          <a:xfrm>
            <a:off x="2330975" y="4816383"/>
            <a:ext cx="1050915" cy="303756"/>
          </a:xfrm>
          <a:prstGeom prst="curvedDownArrow">
            <a:avLst>
              <a:gd name="adj1" fmla="val 60091"/>
              <a:gd name="adj2" fmla="val 120182"/>
              <a:gd name="adj3" fmla="val 33333"/>
            </a:avLst>
          </a:prstGeom>
          <a:solidFill>
            <a:srgbClr val="FFFFFF"/>
          </a:solidFill>
          <a:ln w="9525">
            <a:solidFill>
              <a:srgbClr val="000000"/>
            </a:solidFill>
            <a:miter lim="800000"/>
            <a:headEnd/>
            <a:tailEnd/>
          </a:ln>
        </p:spPr>
        <p:txBody>
          <a:bodyPr/>
          <a:lstStyle/>
          <a:p>
            <a:endParaRPr lang="en-US"/>
          </a:p>
        </p:txBody>
      </p:sp>
      <p:sp>
        <p:nvSpPr>
          <p:cNvPr id="13" name="AutoShape 91"/>
          <p:cNvSpPr>
            <a:spLocks noChangeAspect="1" noChangeArrowheads="1"/>
          </p:cNvSpPr>
          <p:nvPr/>
        </p:nvSpPr>
        <p:spPr bwMode="auto">
          <a:xfrm>
            <a:off x="3381891" y="4816383"/>
            <a:ext cx="1050915" cy="303756"/>
          </a:xfrm>
          <a:prstGeom prst="curvedDownArrow">
            <a:avLst>
              <a:gd name="adj1" fmla="val 60091"/>
              <a:gd name="adj2" fmla="val 120182"/>
              <a:gd name="adj3" fmla="val 33333"/>
            </a:avLst>
          </a:prstGeom>
          <a:solidFill>
            <a:srgbClr val="FFFFFF"/>
          </a:solidFill>
          <a:ln w="9525">
            <a:solidFill>
              <a:srgbClr val="000000"/>
            </a:solidFill>
            <a:miter lim="800000"/>
            <a:headEnd/>
            <a:tailEnd/>
          </a:ln>
        </p:spPr>
        <p:txBody>
          <a:bodyPr/>
          <a:lstStyle/>
          <a:p>
            <a:endParaRPr lang="en-US"/>
          </a:p>
        </p:txBody>
      </p:sp>
      <p:sp>
        <p:nvSpPr>
          <p:cNvPr id="14" name="AutoShape 92"/>
          <p:cNvSpPr>
            <a:spLocks noChangeAspect="1" noChangeArrowheads="1"/>
          </p:cNvSpPr>
          <p:nvPr/>
        </p:nvSpPr>
        <p:spPr bwMode="auto">
          <a:xfrm>
            <a:off x="5833497" y="4816383"/>
            <a:ext cx="1050915" cy="303756"/>
          </a:xfrm>
          <a:prstGeom prst="curvedDownArrow">
            <a:avLst>
              <a:gd name="adj1" fmla="val 60091"/>
              <a:gd name="adj2" fmla="val 120182"/>
              <a:gd name="adj3" fmla="val 33333"/>
            </a:avLst>
          </a:prstGeom>
          <a:solidFill>
            <a:srgbClr val="FFFFFF"/>
          </a:solidFill>
          <a:ln w="9525">
            <a:solidFill>
              <a:srgbClr val="000000"/>
            </a:solidFill>
            <a:miter lim="800000"/>
            <a:headEnd/>
            <a:tailEnd/>
          </a:ln>
        </p:spPr>
        <p:txBody>
          <a:bodyPr/>
          <a:lstStyle/>
          <a:p>
            <a:endParaRPr lang="en-US"/>
          </a:p>
        </p:txBody>
      </p:sp>
      <p:sp>
        <p:nvSpPr>
          <p:cNvPr id="15" name="AutoShape 93"/>
          <p:cNvSpPr>
            <a:spLocks noChangeAspect="1" noChangeArrowheads="1"/>
          </p:cNvSpPr>
          <p:nvPr/>
        </p:nvSpPr>
        <p:spPr bwMode="auto">
          <a:xfrm flipH="1" flipV="1">
            <a:off x="2156088" y="5577152"/>
            <a:ext cx="1050915" cy="303756"/>
          </a:xfrm>
          <a:prstGeom prst="curvedDownArrow">
            <a:avLst>
              <a:gd name="adj1" fmla="val 60091"/>
              <a:gd name="adj2" fmla="val 120182"/>
              <a:gd name="adj3" fmla="val 33333"/>
            </a:avLst>
          </a:prstGeom>
          <a:solidFill>
            <a:srgbClr val="FFFFFF"/>
          </a:solidFill>
          <a:ln w="9525">
            <a:solidFill>
              <a:srgbClr val="000000"/>
            </a:solidFill>
            <a:miter lim="800000"/>
            <a:headEnd/>
            <a:tailEnd/>
          </a:ln>
        </p:spPr>
        <p:txBody>
          <a:bodyPr/>
          <a:lstStyle/>
          <a:p>
            <a:endParaRPr lang="en-US"/>
          </a:p>
        </p:txBody>
      </p:sp>
      <p:sp>
        <p:nvSpPr>
          <p:cNvPr id="16" name="AutoShape 94"/>
          <p:cNvSpPr>
            <a:spLocks noChangeAspect="1" noChangeArrowheads="1"/>
          </p:cNvSpPr>
          <p:nvPr/>
        </p:nvSpPr>
        <p:spPr bwMode="auto">
          <a:xfrm flipH="1" flipV="1">
            <a:off x="3207003" y="5577152"/>
            <a:ext cx="1050915" cy="303756"/>
          </a:xfrm>
          <a:prstGeom prst="curvedDownArrow">
            <a:avLst>
              <a:gd name="adj1" fmla="val 60091"/>
              <a:gd name="adj2" fmla="val 120182"/>
              <a:gd name="adj3" fmla="val 33333"/>
            </a:avLst>
          </a:prstGeom>
          <a:solidFill>
            <a:srgbClr val="FFFFFF"/>
          </a:solidFill>
          <a:ln w="9525">
            <a:solidFill>
              <a:srgbClr val="000000"/>
            </a:solidFill>
            <a:miter lim="800000"/>
            <a:headEnd/>
            <a:tailEnd/>
          </a:ln>
        </p:spPr>
        <p:txBody>
          <a:bodyPr/>
          <a:lstStyle/>
          <a:p>
            <a:endParaRPr lang="en-US"/>
          </a:p>
        </p:txBody>
      </p:sp>
      <p:sp>
        <p:nvSpPr>
          <p:cNvPr id="17" name="AutoShape 95"/>
          <p:cNvSpPr>
            <a:spLocks noChangeAspect="1" noChangeArrowheads="1"/>
          </p:cNvSpPr>
          <p:nvPr/>
        </p:nvSpPr>
        <p:spPr bwMode="auto">
          <a:xfrm flipH="1" flipV="1">
            <a:off x="5660199" y="5577152"/>
            <a:ext cx="1049326" cy="303756"/>
          </a:xfrm>
          <a:prstGeom prst="curvedDownArrow">
            <a:avLst>
              <a:gd name="adj1" fmla="val 60000"/>
              <a:gd name="adj2" fmla="val 120000"/>
              <a:gd name="adj3" fmla="val 33333"/>
            </a:avLst>
          </a:prstGeom>
          <a:solidFill>
            <a:srgbClr val="FFFFFF"/>
          </a:solidFill>
          <a:ln w="9525">
            <a:solidFill>
              <a:srgbClr val="000000"/>
            </a:solidFill>
            <a:miter lim="800000"/>
            <a:headEnd/>
            <a:tailEnd/>
          </a:ln>
        </p:spPr>
        <p:txBody>
          <a:bodyPr/>
          <a:lstStyle/>
          <a:p>
            <a:endParaRPr lang="en-US"/>
          </a:p>
        </p:txBody>
      </p:sp>
      <p:sp>
        <p:nvSpPr>
          <p:cNvPr id="18" name="Oval 96"/>
          <p:cNvSpPr>
            <a:spLocks noChangeAspect="1" noChangeArrowheads="1"/>
          </p:cNvSpPr>
          <p:nvPr/>
        </p:nvSpPr>
        <p:spPr bwMode="auto">
          <a:xfrm>
            <a:off x="4782581" y="5120138"/>
            <a:ext cx="526253" cy="457014"/>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54000" rIns="54000"/>
          <a:lstStyle/>
          <a:p>
            <a:pPr algn="ctr" eaLnBrk="0" hangingPunct="0"/>
            <a:r>
              <a:rPr lang="en-US" altLang="en-US" sz="1800"/>
              <a:t>…</a:t>
            </a:r>
          </a:p>
        </p:txBody>
      </p:sp>
      <p:sp>
        <p:nvSpPr>
          <p:cNvPr id="19" name="Line 98"/>
          <p:cNvSpPr>
            <a:spLocks noChangeAspect="1" noChangeShapeType="1"/>
          </p:cNvSpPr>
          <p:nvPr/>
        </p:nvSpPr>
        <p:spPr bwMode="auto">
          <a:xfrm>
            <a:off x="2313486" y="4802576"/>
            <a:ext cx="4553437" cy="1381"/>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 name="Line 99"/>
          <p:cNvSpPr>
            <a:spLocks noChangeAspect="1" noChangeShapeType="1"/>
          </p:cNvSpPr>
          <p:nvPr/>
        </p:nvSpPr>
        <p:spPr bwMode="auto">
          <a:xfrm flipH="1">
            <a:off x="2330975" y="5880908"/>
            <a:ext cx="4553437" cy="0"/>
          </a:xfrm>
          <a:prstGeom prst="line">
            <a:avLst/>
          </a:prstGeom>
          <a:noFill/>
          <a:ln w="952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 name="Text Box 101"/>
          <p:cNvSpPr txBox="1">
            <a:spLocks noChangeAspect="1" noChangeArrowheads="1"/>
          </p:cNvSpPr>
          <p:nvPr/>
        </p:nvSpPr>
        <p:spPr bwMode="auto">
          <a:xfrm>
            <a:off x="3556778" y="4420120"/>
            <a:ext cx="2103421" cy="455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2000" dirty="0" err="1" smtClean="0"/>
              <a:t>Suy</a:t>
            </a:r>
            <a:r>
              <a:rPr lang="en-US" altLang="en-US" sz="2000" dirty="0" smtClean="0"/>
              <a:t> </a:t>
            </a:r>
            <a:r>
              <a:rPr lang="en-US" altLang="en-US" sz="2000" dirty="0" err="1"/>
              <a:t>diễn</a:t>
            </a:r>
            <a:r>
              <a:rPr lang="en-US" altLang="en-US" sz="2000" dirty="0"/>
              <a:t> </a:t>
            </a:r>
            <a:r>
              <a:rPr lang="en-US" altLang="en-US" sz="2000" dirty="0" err="1"/>
              <a:t>đệ</a:t>
            </a:r>
            <a:r>
              <a:rPr lang="en-US" altLang="en-US" sz="2000" dirty="0"/>
              <a:t> </a:t>
            </a:r>
            <a:r>
              <a:rPr lang="en-US" altLang="en-US" sz="2000" dirty="0" err="1"/>
              <a:t>quy</a:t>
            </a:r>
            <a:endParaRPr lang="en-US" altLang="en-US" sz="2000" dirty="0"/>
          </a:p>
        </p:txBody>
      </p:sp>
      <p:sp>
        <p:nvSpPr>
          <p:cNvPr id="22" name="Rectangle 102"/>
          <p:cNvSpPr>
            <a:spLocks noChangeArrowheads="1"/>
          </p:cNvSpPr>
          <p:nvPr/>
        </p:nvSpPr>
        <p:spPr bwMode="auto">
          <a:xfrm>
            <a:off x="7035451" y="5161560"/>
            <a:ext cx="1275090" cy="345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điểm dừng</a:t>
            </a:r>
          </a:p>
        </p:txBody>
      </p:sp>
      <p:sp>
        <p:nvSpPr>
          <p:cNvPr id="23" name="Text Box 100"/>
          <p:cNvSpPr txBox="1">
            <a:spLocks noChangeAspect="1" noChangeArrowheads="1"/>
          </p:cNvSpPr>
          <p:nvPr/>
        </p:nvSpPr>
        <p:spPr bwMode="auto">
          <a:xfrm>
            <a:off x="3854717" y="5868966"/>
            <a:ext cx="1573988" cy="455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2000" dirty="0" smtClean="0"/>
              <a:t>Quay </a:t>
            </a:r>
            <a:r>
              <a:rPr lang="en-US" altLang="en-US" sz="2000" dirty="0" err="1"/>
              <a:t>lui</a:t>
            </a:r>
            <a:endParaRPr lang="en-US" altLang="en-US" sz="2000" dirty="0"/>
          </a:p>
        </p:txBody>
      </p:sp>
    </p:spTree>
    <p:extLst>
      <p:ext uri="{BB962C8B-B14F-4D97-AF65-F5344CB8AC3E}">
        <p14:creationId xmlns:p14="http://schemas.microsoft.com/office/powerpoint/2010/main" val="3113547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animBg="1"/>
      <p:bldP spid="20" grpId="0" animBg="1"/>
      <p:bldP spid="21" grpId="0"/>
      <p:bldP spid="22" grpId="0"/>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12</a:t>
            </a:fld>
            <a:endParaRPr lang="en-US"/>
          </a:p>
        </p:txBody>
      </p:sp>
      <p:sp>
        <p:nvSpPr>
          <p:cNvPr id="5" name="Title 4"/>
          <p:cNvSpPr>
            <a:spLocks noGrp="1"/>
          </p:cNvSpPr>
          <p:nvPr>
            <p:ph type="title"/>
          </p:nvPr>
        </p:nvSpPr>
        <p:spPr/>
        <p:txBody>
          <a:bodyPr>
            <a:normAutofit/>
          </a:bodyPr>
          <a:lstStyle/>
          <a:p>
            <a:r>
              <a:rPr lang="en-US" dirty="0"/>
              <a:t>1.2 </a:t>
            </a:r>
            <a:r>
              <a:rPr lang="en-US" altLang="en-US" dirty="0" err="1"/>
              <a:t>Giải</a:t>
            </a:r>
            <a:r>
              <a:rPr lang="en-US" altLang="en-US" dirty="0"/>
              <a:t> </a:t>
            </a:r>
            <a:r>
              <a:rPr lang="en-US" altLang="en-US" dirty="0" err="1"/>
              <a:t>thuật</a:t>
            </a:r>
            <a:r>
              <a:rPr lang="en-US" altLang="en-US" dirty="0"/>
              <a:t> </a:t>
            </a:r>
            <a:r>
              <a:rPr lang="en-US" altLang="en-US" dirty="0" err="1"/>
              <a:t>đệ</a:t>
            </a:r>
            <a:r>
              <a:rPr lang="en-US" altLang="en-US" dirty="0"/>
              <a:t> </a:t>
            </a:r>
            <a:r>
              <a:rPr lang="en-US" altLang="en-US" dirty="0" err="1"/>
              <a:t>quy</a:t>
            </a:r>
            <a:r>
              <a:rPr lang="en-US" altLang="en-US" dirty="0"/>
              <a:t> (recursive algorithm)</a:t>
            </a:r>
            <a:endParaRPr lang="en-US" dirty="0"/>
          </a:p>
        </p:txBody>
      </p:sp>
      <p:sp>
        <p:nvSpPr>
          <p:cNvPr id="2" name="Content Placeholder 1"/>
          <p:cNvSpPr>
            <a:spLocks noGrp="1"/>
          </p:cNvSpPr>
          <p:nvPr>
            <p:ph type="body" sz="quarter" idx="13"/>
          </p:nvPr>
        </p:nvSpPr>
        <p:spPr/>
        <p:txBody>
          <a:bodyPr>
            <a:normAutofit/>
          </a:bodyPr>
          <a:lstStyle/>
          <a:p>
            <a:pPr marL="273050" lvl="1">
              <a:spcBef>
                <a:spcPts val="600"/>
              </a:spcBef>
            </a:pPr>
            <a:r>
              <a:rPr lang="en-US" altLang="en-US" sz="2400" dirty="0" err="1" smtClean="0">
                <a:cs typeface="Times New Roman" panose="02020603050405020304" pitchFamily="18" charset="0"/>
              </a:rPr>
              <a:t>Ví</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dụ</a:t>
            </a:r>
            <a:r>
              <a:rPr lang="en-US" altLang="en-US" sz="2400" dirty="0">
                <a:cs typeface="Times New Roman" panose="02020603050405020304" pitchFamily="18" charset="0"/>
              </a:rPr>
              <a:t> 2: </a:t>
            </a:r>
            <a:r>
              <a:rPr lang="en-US" altLang="en-US" sz="2400" dirty="0" err="1">
                <a:cs typeface="Times New Roman" panose="02020603050405020304" pitchFamily="18" charset="0"/>
              </a:rPr>
              <a:t>Tính</a:t>
            </a:r>
            <a:r>
              <a:rPr lang="en-US" altLang="en-US" sz="2400" dirty="0">
                <a:cs typeface="Times New Roman" panose="02020603050405020304" pitchFamily="18" charset="0"/>
              </a:rPr>
              <a:t> </a:t>
            </a:r>
            <a:r>
              <a:rPr lang="en-US" altLang="en-US" sz="2400" dirty="0" err="1">
                <a:cs typeface="Times New Roman" panose="02020603050405020304" pitchFamily="18" charset="0"/>
              </a:rPr>
              <a:t>giá</a:t>
            </a:r>
            <a:r>
              <a:rPr lang="en-US" altLang="en-US" sz="2400" dirty="0">
                <a:cs typeface="Times New Roman" panose="02020603050405020304" pitchFamily="18" charset="0"/>
              </a:rPr>
              <a:t> </a:t>
            </a:r>
            <a:r>
              <a:rPr lang="en-US" altLang="en-US" sz="2400" dirty="0" err="1">
                <a:cs typeface="Times New Roman" panose="02020603050405020304" pitchFamily="18" charset="0"/>
              </a:rPr>
              <a:t>trị</a:t>
            </a:r>
            <a:r>
              <a:rPr lang="en-US" altLang="en-US" sz="2400" dirty="0">
                <a:cs typeface="Times New Roman" panose="02020603050405020304" pitchFamily="18" charset="0"/>
              </a:rPr>
              <a:t> </a:t>
            </a:r>
            <a:r>
              <a:rPr lang="en-US" altLang="en-US" sz="2400" dirty="0" err="1">
                <a:cs typeface="Times New Roman" panose="02020603050405020304" pitchFamily="18" charset="0"/>
              </a:rPr>
              <a:t>dãy</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smtClean="0">
                <a:cs typeface="Times New Roman" panose="02020603050405020304" pitchFamily="18" charset="0"/>
              </a:rPr>
              <a:t>Fibonacci</a:t>
            </a:r>
          </a:p>
          <a:p>
            <a:pPr lvl="1">
              <a:spcBef>
                <a:spcPct val="10000"/>
              </a:spcBef>
            </a:pPr>
            <a:r>
              <a:rPr lang="en-US" altLang="en-US" sz="2100" dirty="0" smtClean="0">
                <a:cs typeface="Times New Roman" panose="02020603050405020304" pitchFamily="18" charset="0"/>
              </a:rPr>
              <a:t>F(n) </a:t>
            </a:r>
            <a:r>
              <a:rPr lang="en-US" altLang="en-US" sz="2100" dirty="0">
                <a:cs typeface="Times New Roman" panose="02020603050405020304" pitchFamily="18" charset="0"/>
              </a:rPr>
              <a:t>= 1 </a:t>
            </a:r>
            <a:r>
              <a:rPr lang="en-US" altLang="en-US" sz="2100" dirty="0" err="1">
                <a:cs typeface="Times New Roman" panose="02020603050405020304" pitchFamily="18" charset="0"/>
              </a:rPr>
              <a:t>với</a:t>
            </a:r>
            <a:r>
              <a:rPr lang="en-US" altLang="en-US" sz="2100" dirty="0">
                <a:cs typeface="Times New Roman" panose="02020603050405020304" pitchFamily="18" charset="0"/>
              </a:rPr>
              <a:t> n </a:t>
            </a:r>
            <a:r>
              <a:rPr lang="en-US" altLang="en-US" sz="2100" dirty="0" smtClean="0">
                <a:cs typeface="Times New Roman" panose="02020603050405020304" pitchFamily="18" charset="0"/>
              </a:rPr>
              <a:t>= 1, </a:t>
            </a:r>
            <a:r>
              <a:rPr lang="en-US" altLang="en-US" sz="2100" dirty="0">
                <a:cs typeface="Times New Roman" panose="02020603050405020304" pitchFamily="18" charset="0"/>
              </a:rPr>
              <a:t>2;</a:t>
            </a:r>
          </a:p>
          <a:p>
            <a:pPr lvl="1">
              <a:spcBef>
                <a:spcPct val="10000"/>
              </a:spcBef>
            </a:pPr>
            <a:r>
              <a:rPr lang="en-US" altLang="en-US" sz="2100" dirty="0" smtClean="0">
                <a:cs typeface="Times New Roman" panose="02020603050405020304" pitchFamily="18" charset="0"/>
              </a:rPr>
              <a:t>F(n</a:t>
            </a:r>
            <a:r>
              <a:rPr lang="en-US" altLang="en-US" sz="2100" dirty="0">
                <a:cs typeface="Times New Roman" panose="02020603050405020304" pitchFamily="18" charset="0"/>
              </a:rPr>
              <a:t>) = </a:t>
            </a:r>
            <a:r>
              <a:rPr lang="en-US" altLang="en-US" sz="2100" dirty="0" smtClean="0">
                <a:cs typeface="Times New Roman" panose="02020603050405020304" pitchFamily="18" charset="0"/>
              </a:rPr>
              <a:t>F(n-1</a:t>
            </a:r>
            <a:r>
              <a:rPr lang="en-US" altLang="en-US" sz="2100" dirty="0">
                <a:cs typeface="Times New Roman" panose="02020603050405020304" pitchFamily="18" charset="0"/>
              </a:rPr>
              <a:t>) + </a:t>
            </a:r>
            <a:r>
              <a:rPr lang="en-US" altLang="en-US" sz="2100" dirty="0" smtClean="0">
                <a:cs typeface="Times New Roman" panose="02020603050405020304" pitchFamily="18" charset="0"/>
              </a:rPr>
              <a:t>F(n-2</a:t>
            </a:r>
            <a:r>
              <a:rPr lang="en-US" altLang="en-US" sz="2100" dirty="0">
                <a:cs typeface="Times New Roman" panose="02020603050405020304" pitchFamily="18" charset="0"/>
              </a:rPr>
              <a:t>) </a:t>
            </a:r>
            <a:r>
              <a:rPr lang="en-US" altLang="en-US" sz="2100" dirty="0" err="1">
                <a:cs typeface="Times New Roman" panose="02020603050405020304" pitchFamily="18" charset="0"/>
              </a:rPr>
              <a:t>với</a:t>
            </a:r>
            <a:r>
              <a:rPr lang="en-US" altLang="en-US" sz="2100" dirty="0">
                <a:cs typeface="Times New Roman" panose="02020603050405020304" pitchFamily="18" charset="0"/>
              </a:rPr>
              <a:t> n &gt; </a:t>
            </a:r>
            <a:r>
              <a:rPr lang="en-US" altLang="en-US" sz="2100" dirty="0" smtClean="0">
                <a:cs typeface="Times New Roman" panose="02020603050405020304" pitchFamily="18" charset="0"/>
              </a:rPr>
              <a:t>2;</a:t>
            </a:r>
            <a:endParaRPr lang="en-US" altLang="en-US" sz="2100" dirty="0">
              <a:cs typeface="Times New Roman" panose="02020603050405020304" pitchFamily="18" charset="0"/>
            </a:endParaRPr>
          </a:p>
          <a:p>
            <a:pPr>
              <a:spcBef>
                <a:spcPct val="10000"/>
              </a:spcBef>
            </a:pPr>
            <a:r>
              <a:rPr lang="en-US" altLang="en-US" sz="2400" dirty="0" err="1">
                <a:cs typeface="Times New Roman" panose="02020603050405020304" pitchFamily="18" charset="0"/>
              </a:rPr>
              <a:t>Nhận</a:t>
            </a:r>
            <a:r>
              <a:rPr lang="en-US" altLang="en-US" sz="2400" dirty="0">
                <a:cs typeface="Times New Roman" panose="02020603050405020304" pitchFamily="18" charset="0"/>
              </a:rPr>
              <a:t> </a:t>
            </a:r>
            <a:r>
              <a:rPr lang="en-US" altLang="en-US" sz="2400" dirty="0" err="1">
                <a:cs typeface="Times New Roman" panose="02020603050405020304" pitchFamily="18" charset="0"/>
              </a:rPr>
              <a:t>xét</a:t>
            </a:r>
            <a:r>
              <a:rPr lang="en-US" altLang="en-US" sz="2400" dirty="0">
                <a:cs typeface="Times New Roman" panose="02020603050405020304" pitchFamily="18" charset="0"/>
              </a:rPr>
              <a:t>:</a:t>
            </a:r>
            <a:endParaRPr lang="en-US" altLang="en-US" sz="2700" dirty="0">
              <a:cs typeface="Times New Roman" panose="02020603050405020304" pitchFamily="18" charset="0"/>
            </a:endParaRPr>
          </a:p>
          <a:p>
            <a:pPr lvl="1">
              <a:spcBef>
                <a:spcPct val="10000"/>
              </a:spcBef>
            </a:pPr>
            <a:r>
              <a:rPr lang="en-US" altLang="en-US" sz="2100" dirty="0" err="1">
                <a:cs typeface="Times New Roman" panose="02020603050405020304" pitchFamily="18" charset="0"/>
              </a:rPr>
              <a:t>Thay</a:t>
            </a:r>
            <a:r>
              <a:rPr lang="en-US" altLang="en-US" sz="2100" dirty="0">
                <a:cs typeface="Times New Roman" panose="02020603050405020304" pitchFamily="18" charset="0"/>
              </a:rPr>
              <a:t> </a:t>
            </a:r>
            <a:r>
              <a:rPr lang="en-US" altLang="en-US" sz="2100" dirty="0" err="1">
                <a:cs typeface="Times New Roman" panose="02020603050405020304" pitchFamily="18" charset="0"/>
              </a:rPr>
              <a:t>vì</a:t>
            </a:r>
            <a:r>
              <a:rPr lang="en-US" altLang="en-US" sz="2100" dirty="0">
                <a:cs typeface="Times New Roman" panose="02020603050405020304" pitchFamily="18" charset="0"/>
              </a:rPr>
              <a:t> </a:t>
            </a:r>
            <a:r>
              <a:rPr lang="en-US" altLang="en-US" sz="2100" dirty="0" err="1">
                <a:cs typeface="Times New Roman" panose="02020603050405020304" pitchFamily="18" charset="0"/>
              </a:rPr>
              <a:t>tính</a:t>
            </a:r>
            <a:r>
              <a:rPr lang="en-US" altLang="en-US" sz="2100" dirty="0">
                <a:cs typeface="Times New Roman" panose="02020603050405020304" pitchFamily="18" charset="0"/>
              </a:rPr>
              <a:t> </a:t>
            </a:r>
            <a:r>
              <a:rPr lang="en-US" altLang="en-US" sz="2100" i="1" dirty="0" smtClean="0">
                <a:cs typeface="Times New Roman" panose="02020603050405020304" pitchFamily="18" charset="0"/>
              </a:rPr>
              <a:t>F(n</a:t>
            </a:r>
            <a:r>
              <a:rPr lang="en-US" altLang="en-US" sz="2100" i="1" dirty="0">
                <a:cs typeface="Times New Roman" panose="02020603050405020304" pitchFamily="18" charset="0"/>
              </a:rPr>
              <a:t>)</a:t>
            </a:r>
            <a:r>
              <a:rPr lang="en-US" altLang="en-US" sz="2100" dirty="0">
                <a:cs typeface="Times New Roman" panose="02020603050405020304" pitchFamily="18" charset="0"/>
              </a:rPr>
              <a:t> ta </a:t>
            </a:r>
            <a:r>
              <a:rPr lang="en-US" altLang="en-US" sz="2100" dirty="0" err="1">
                <a:cs typeface="Times New Roman" panose="02020603050405020304" pitchFamily="18" charset="0"/>
              </a:rPr>
              <a:t>quy</a:t>
            </a:r>
            <a:r>
              <a:rPr lang="en-US" altLang="en-US" sz="2100" dirty="0">
                <a:cs typeface="Times New Roman" panose="02020603050405020304" pitchFamily="18" charset="0"/>
              </a:rPr>
              <a:t> </a:t>
            </a:r>
            <a:r>
              <a:rPr lang="en-US" altLang="en-US" sz="2100" dirty="0" err="1">
                <a:cs typeface="Times New Roman" panose="02020603050405020304" pitchFamily="18" charset="0"/>
              </a:rPr>
              <a:t>về</a:t>
            </a:r>
            <a:r>
              <a:rPr lang="en-US" altLang="en-US" sz="2100" dirty="0">
                <a:cs typeface="Times New Roman" panose="02020603050405020304" pitchFamily="18" charset="0"/>
              </a:rPr>
              <a:t> </a:t>
            </a:r>
            <a:r>
              <a:rPr lang="en-US" altLang="en-US" sz="2100" dirty="0" err="1">
                <a:cs typeface="Times New Roman" panose="02020603050405020304" pitchFamily="18" charset="0"/>
              </a:rPr>
              <a:t>tính</a:t>
            </a:r>
            <a:r>
              <a:rPr lang="en-US" altLang="en-US" sz="2100" dirty="0">
                <a:cs typeface="Times New Roman" panose="02020603050405020304" pitchFamily="18" charset="0"/>
              </a:rPr>
              <a:t> </a:t>
            </a:r>
            <a:r>
              <a:rPr lang="en-US" altLang="en-US" sz="2100" dirty="0" err="1">
                <a:cs typeface="Times New Roman" panose="02020603050405020304" pitchFamily="18" charset="0"/>
              </a:rPr>
              <a:t>các</a:t>
            </a:r>
            <a:r>
              <a:rPr lang="en-US" altLang="en-US" sz="2100" dirty="0">
                <a:cs typeface="Times New Roman" panose="02020603050405020304" pitchFamily="18" charset="0"/>
              </a:rPr>
              <a:t> </a:t>
            </a:r>
            <a:r>
              <a:rPr lang="en-US" altLang="en-US" sz="2100" dirty="0" err="1">
                <a:cs typeface="Times New Roman" panose="02020603050405020304" pitchFamily="18" charset="0"/>
              </a:rPr>
              <a:t>giá</a:t>
            </a:r>
            <a:r>
              <a:rPr lang="en-US" altLang="en-US" sz="2100" dirty="0">
                <a:cs typeface="Times New Roman" panose="02020603050405020304" pitchFamily="18" charset="0"/>
              </a:rPr>
              <a:t> </a:t>
            </a:r>
            <a:r>
              <a:rPr lang="en-US" altLang="en-US" sz="2100" dirty="0" err="1">
                <a:cs typeface="Times New Roman" panose="02020603050405020304" pitchFamily="18" charset="0"/>
              </a:rPr>
              <a:t>trị</a:t>
            </a:r>
            <a:r>
              <a:rPr lang="en-US" altLang="en-US" sz="2100" dirty="0">
                <a:cs typeface="Times New Roman" panose="02020603050405020304" pitchFamily="18" charset="0"/>
              </a:rPr>
              <a:t> </a:t>
            </a:r>
            <a:r>
              <a:rPr lang="en-US" altLang="en-US" sz="2100" dirty="0" err="1">
                <a:cs typeface="Times New Roman" panose="02020603050405020304" pitchFamily="18" charset="0"/>
              </a:rPr>
              <a:t>hàm</a:t>
            </a:r>
            <a:r>
              <a:rPr lang="en-US" altLang="en-US" sz="2100" dirty="0">
                <a:cs typeface="Times New Roman" panose="02020603050405020304" pitchFamily="18" charset="0"/>
              </a:rPr>
              <a:t> </a:t>
            </a:r>
            <a:r>
              <a:rPr lang="en-US" altLang="en-US" sz="2100" i="1" dirty="0">
                <a:cs typeface="Times New Roman" panose="02020603050405020304" pitchFamily="18" charset="0"/>
              </a:rPr>
              <a:t>F </a:t>
            </a:r>
            <a:r>
              <a:rPr lang="en-US" altLang="en-US" sz="2100" dirty="0" err="1">
                <a:cs typeface="Times New Roman" panose="02020603050405020304" pitchFamily="18" charset="0"/>
              </a:rPr>
              <a:t>với</a:t>
            </a:r>
            <a:r>
              <a:rPr lang="en-US" altLang="en-US" sz="2100" dirty="0">
                <a:cs typeface="Times New Roman" panose="02020603050405020304" pitchFamily="18" charset="0"/>
              </a:rPr>
              <a:t> </a:t>
            </a:r>
            <a:r>
              <a:rPr lang="en-US" altLang="en-US" sz="2100" dirty="0" err="1">
                <a:cs typeface="Times New Roman" panose="02020603050405020304" pitchFamily="18" charset="0"/>
              </a:rPr>
              <a:t>biến</a:t>
            </a:r>
            <a:r>
              <a:rPr lang="en-US" altLang="en-US" sz="2100" dirty="0">
                <a:cs typeface="Times New Roman" panose="02020603050405020304" pitchFamily="18" charset="0"/>
              </a:rPr>
              <a:t> </a:t>
            </a:r>
            <a:r>
              <a:rPr lang="en-US" altLang="en-US" sz="2100" i="1" dirty="0">
                <a:cs typeface="Times New Roman" panose="02020603050405020304" pitchFamily="18" charset="0"/>
              </a:rPr>
              <a:t>n </a:t>
            </a:r>
            <a:r>
              <a:rPr lang="en-US" altLang="en-US" sz="2100" dirty="0" err="1">
                <a:cs typeface="Times New Roman" panose="02020603050405020304" pitchFamily="18" charset="0"/>
              </a:rPr>
              <a:t>nhỏ</a:t>
            </a:r>
            <a:r>
              <a:rPr lang="en-US" altLang="en-US" sz="2100" dirty="0">
                <a:cs typeface="Times New Roman" panose="02020603050405020304" pitchFamily="18" charset="0"/>
              </a:rPr>
              <a:t> </a:t>
            </a:r>
            <a:r>
              <a:rPr lang="en-US" altLang="en-US" sz="2100" dirty="0" err="1">
                <a:cs typeface="Times New Roman" panose="02020603050405020304" pitchFamily="18" charset="0"/>
              </a:rPr>
              <a:t>hơn</a:t>
            </a:r>
            <a:r>
              <a:rPr lang="en-US" altLang="en-US" sz="2100" dirty="0">
                <a:cs typeface="Times New Roman" panose="02020603050405020304" pitchFamily="18" charset="0"/>
              </a:rPr>
              <a:t> </a:t>
            </a:r>
            <a:r>
              <a:rPr lang="en-US" altLang="en-US" sz="2100" dirty="0" err="1">
                <a:cs typeface="Times New Roman" panose="02020603050405020304" pitchFamily="18" charset="0"/>
              </a:rPr>
              <a:t>là</a:t>
            </a:r>
            <a:r>
              <a:rPr lang="en-US" altLang="en-US" sz="2100" dirty="0">
                <a:cs typeface="Times New Roman" panose="02020603050405020304" pitchFamily="18" charset="0"/>
              </a:rPr>
              <a:t> </a:t>
            </a:r>
            <a:r>
              <a:rPr lang="en-US" altLang="en-US" sz="2100" dirty="0" smtClean="0">
                <a:cs typeface="Times New Roman" panose="02020603050405020304" pitchFamily="18" charset="0"/>
              </a:rPr>
              <a:t/>
            </a:r>
            <a:br>
              <a:rPr lang="en-US" altLang="en-US" sz="2100" dirty="0" smtClean="0">
                <a:cs typeface="Times New Roman" panose="02020603050405020304" pitchFamily="18" charset="0"/>
              </a:rPr>
            </a:br>
            <a:r>
              <a:rPr lang="en-US" altLang="en-US" sz="2100" i="1" dirty="0" smtClean="0">
                <a:cs typeface="Times New Roman" panose="02020603050405020304" pitchFamily="18" charset="0"/>
              </a:rPr>
              <a:t>F(n-1</a:t>
            </a:r>
            <a:r>
              <a:rPr lang="en-US" altLang="en-US" sz="2100" i="1" dirty="0">
                <a:cs typeface="Times New Roman" panose="02020603050405020304" pitchFamily="18" charset="0"/>
              </a:rPr>
              <a:t>) </a:t>
            </a:r>
            <a:r>
              <a:rPr lang="en-US" altLang="en-US" sz="2100" dirty="0" err="1">
                <a:cs typeface="Times New Roman" panose="02020603050405020304" pitchFamily="18" charset="0"/>
              </a:rPr>
              <a:t>và</a:t>
            </a:r>
            <a:r>
              <a:rPr lang="en-US" altLang="en-US" sz="2100" dirty="0">
                <a:cs typeface="Times New Roman" panose="02020603050405020304" pitchFamily="18" charset="0"/>
              </a:rPr>
              <a:t> </a:t>
            </a:r>
            <a:r>
              <a:rPr lang="en-US" altLang="en-US" sz="2100" i="1" dirty="0">
                <a:cs typeface="Times New Roman" panose="02020603050405020304" pitchFamily="18" charset="0"/>
              </a:rPr>
              <a:t>F(n-2)</a:t>
            </a:r>
            <a:r>
              <a:rPr lang="en-US" altLang="en-US" sz="2100" dirty="0">
                <a:cs typeface="Times New Roman" panose="02020603050405020304" pitchFamily="18" charset="0"/>
              </a:rPr>
              <a:t>.</a:t>
            </a:r>
          </a:p>
          <a:p>
            <a:pPr lvl="1">
              <a:spcBef>
                <a:spcPct val="10000"/>
              </a:spcBef>
            </a:pPr>
            <a:r>
              <a:rPr lang="en-US" altLang="en-US" sz="2100" dirty="0" err="1">
                <a:cs typeface="Times New Roman" panose="02020603050405020304" pitchFamily="18" charset="0"/>
              </a:rPr>
              <a:t>Cách</a:t>
            </a:r>
            <a:r>
              <a:rPr lang="en-US" altLang="en-US" sz="2100" dirty="0">
                <a:cs typeface="Times New Roman" panose="02020603050405020304" pitchFamily="18" charset="0"/>
              </a:rPr>
              <a:t> </a:t>
            </a:r>
            <a:r>
              <a:rPr lang="en-US" altLang="en-US" sz="2100" dirty="0" err="1">
                <a:cs typeface="Times New Roman" panose="02020603050405020304" pitchFamily="18" charset="0"/>
              </a:rPr>
              <a:t>tính</a:t>
            </a:r>
            <a:r>
              <a:rPr lang="en-US" altLang="en-US" sz="2100" dirty="0">
                <a:cs typeface="Times New Roman" panose="02020603050405020304" pitchFamily="18" charset="0"/>
              </a:rPr>
              <a:t> </a:t>
            </a:r>
            <a:r>
              <a:rPr lang="en-US" altLang="en-US" sz="2100" dirty="0" err="1">
                <a:cs typeface="Times New Roman" panose="02020603050405020304" pitchFamily="18" charset="0"/>
              </a:rPr>
              <a:t>các</a:t>
            </a:r>
            <a:r>
              <a:rPr lang="en-US" altLang="en-US" sz="2100" dirty="0">
                <a:cs typeface="Times New Roman" panose="02020603050405020304" pitchFamily="18" charset="0"/>
              </a:rPr>
              <a:t> </a:t>
            </a:r>
            <a:r>
              <a:rPr lang="en-US" altLang="en-US" sz="2100" dirty="0" err="1">
                <a:cs typeface="Times New Roman" panose="02020603050405020304" pitchFamily="18" charset="0"/>
              </a:rPr>
              <a:t>hàm</a:t>
            </a:r>
            <a:r>
              <a:rPr lang="en-US" altLang="en-US" sz="2100" dirty="0">
                <a:cs typeface="Times New Roman" panose="02020603050405020304" pitchFamily="18" charset="0"/>
              </a:rPr>
              <a:t> </a:t>
            </a:r>
            <a:r>
              <a:rPr lang="en-US" altLang="en-US" sz="2100" i="1" dirty="0">
                <a:cs typeface="Times New Roman" panose="02020603050405020304" pitchFamily="18" charset="0"/>
              </a:rPr>
              <a:t>F(n-1), F(n-2) </a:t>
            </a:r>
            <a:r>
              <a:rPr lang="en-US" altLang="en-US" sz="2100" dirty="0" err="1">
                <a:cs typeface="Times New Roman" panose="02020603050405020304" pitchFamily="18" charset="0"/>
              </a:rPr>
              <a:t>này</a:t>
            </a:r>
            <a:r>
              <a:rPr lang="en-US" altLang="en-US" sz="2100" dirty="0">
                <a:cs typeface="Times New Roman" panose="02020603050405020304" pitchFamily="18" charset="0"/>
              </a:rPr>
              <a:t> </a:t>
            </a:r>
            <a:r>
              <a:rPr lang="en-US" altLang="en-US" sz="2100" dirty="0" err="1">
                <a:cs typeface="Times New Roman" panose="02020603050405020304" pitchFamily="18" charset="0"/>
              </a:rPr>
              <a:t>cũng</a:t>
            </a:r>
            <a:r>
              <a:rPr lang="en-US" altLang="en-US" sz="2100" dirty="0">
                <a:cs typeface="Times New Roman" panose="02020603050405020304" pitchFamily="18" charset="0"/>
              </a:rPr>
              <a:t> </a:t>
            </a:r>
            <a:r>
              <a:rPr lang="en-US" altLang="en-US" sz="2100" dirty="0" err="1">
                <a:cs typeface="Times New Roman" panose="02020603050405020304" pitchFamily="18" charset="0"/>
              </a:rPr>
              <a:t>giống</a:t>
            </a:r>
            <a:r>
              <a:rPr lang="en-US" altLang="en-US" sz="2100" dirty="0">
                <a:cs typeface="Times New Roman" panose="02020603050405020304" pitchFamily="18" charset="0"/>
              </a:rPr>
              <a:t> </a:t>
            </a:r>
            <a:r>
              <a:rPr lang="en-US" altLang="en-US" sz="2100" dirty="0" err="1">
                <a:cs typeface="Times New Roman" panose="02020603050405020304" pitchFamily="18" charset="0"/>
              </a:rPr>
              <a:t>như</a:t>
            </a:r>
            <a:r>
              <a:rPr lang="en-US" altLang="en-US" sz="2100" dirty="0">
                <a:cs typeface="Times New Roman" panose="02020603050405020304" pitchFamily="18" charset="0"/>
              </a:rPr>
              <a:t> </a:t>
            </a:r>
            <a:r>
              <a:rPr lang="en-US" altLang="en-US" sz="2100" dirty="0" err="1">
                <a:cs typeface="Times New Roman" panose="02020603050405020304" pitchFamily="18" charset="0"/>
              </a:rPr>
              <a:t>cách</a:t>
            </a:r>
            <a:r>
              <a:rPr lang="en-US" altLang="en-US" sz="2100" dirty="0">
                <a:cs typeface="Times New Roman" panose="02020603050405020304" pitchFamily="18" charset="0"/>
              </a:rPr>
              <a:t> </a:t>
            </a:r>
            <a:r>
              <a:rPr lang="en-US" altLang="en-US" sz="2100" dirty="0" err="1">
                <a:cs typeface="Times New Roman" panose="02020603050405020304" pitchFamily="18" charset="0"/>
              </a:rPr>
              <a:t>tính</a:t>
            </a:r>
            <a:r>
              <a:rPr lang="en-US" altLang="en-US" sz="2100" dirty="0">
                <a:cs typeface="Times New Roman" panose="02020603050405020304" pitchFamily="18" charset="0"/>
              </a:rPr>
              <a:t> </a:t>
            </a:r>
            <a:r>
              <a:rPr lang="en-US" altLang="en-US" sz="2100" i="1" dirty="0">
                <a:cs typeface="Times New Roman" panose="02020603050405020304" pitchFamily="18" charset="0"/>
              </a:rPr>
              <a:t>F(n)</a:t>
            </a:r>
            <a:r>
              <a:rPr lang="en-US" altLang="en-US" sz="2100" dirty="0">
                <a:cs typeface="Times New Roman" panose="02020603050405020304" pitchFamily="18" charset="0"/>
              </a:rPr>
              <a:t>, </a:t>
            </a:r>
            <a:r>
              <a:rPr lang="en-US" altLang="en-US" sz="2100" dirty="0" err="1">
                <a:cs typeface="Times New Roman" panose="02020603050405020304" pitchFamily="18" charset="0"/>
              </a:rPr>
              <a:t>có</a:t>
            </a:r>
            <a:r>
              <a:rPr lang="en-US" altLang="en-US" sz="2100" dirty="0">
                <a:cs typeface="Times New Roman" panose="02020603050405020304" pitchFamily="18" charset="0"/>
              </a:rPr>
              <a:t> </a:t>
            </a:r>
            <a:r>
              <a:rPr lang="en-US" altLang="en-US" sz="2100" dirty="0" err="1">
                <a:cs typeface="Times New Roman" panose="02020603050405020304" pitchFamily="18" charset="0"/>
              </a:rPr>
              <a:t>nghĩa</a:t>
            </a:r>
            <a:r>
              <a:rPr lang="en-US" altLang="en-US" sz="2100" dirty="0">
                <a:cs typeface="Times New Roman" panose="02020603050405020304" pitchFamily="18" charset="0"/>
              </a:rPr>
              <a:t> </a:t>
            </a:r>
            <a:r>
              <a:rPr lang="en-US" altLang="en-US" sz="2100" dirty="0" err="1">
                <a:cs typeface="Times New Roman" panose="02020603050405020304" pitchFamily="18" charset="0"/>
              </a:rPr>
              <a:t>là</a:t>
            </a:r>
            <a:r>
              <a:rPr lang="en-US" altLang="en-US" sz="2100" dirty="0">
                <a:cs typeface="Times New Roman" panose="02020603050405020304" pitchFamily="18" charset="0"/>
              </a:rPr>
              <a:t> </a:t>
            </a:r>
            <a:r>
              <a:rPr lang="en-US" altLang="en-US" sz="2100" dirty="0" err="1">
                <a:cs typeface="Times New Roman" panose="02020603050405020304" pitchFamily="18" charset="0"/>
              </a:rPr>
              <a:t>cũng</a:t>
            </a:r>
            <a:r>
              <a:rPr lang="en-US" altLang="en-US" sz="2100" dirty="0">
                <a:cs typeface="Times New Roman" panose="02020603050405020304" pitchFamily="18" charset="0"/>
              </a:rPr>
              <a:t> </a:t>
            </a:r>
            <a:r>
              <a:rPr lang="en-US" altLang="en-US" sz="2100" dirty="0" err="1">
                <a:cs typeface="Times New Roman" panose="02020603050405020304" pitchFamily="18" charset="0"/>
              </a:rPr>
              <a:t>quy</a:t>
            </a:r>
            <a:r>
              <a:rPr lang="en-US" altLang="en-US" sz="2100" dirty="0">
                <a:cs typeface="Times New Roman" panose="02020603050405020304" pitchFamily="18" charset="0"/>
              </a:rPr>
              <a:t> </a:t>
            </a:r>
            <a:r>
              <a:rPr lang="en-US" altLang="en-US" sz="2100" dirty="0" err="1">
                <a:cs typeface="Times New Roman" panose="02020603050405020304" pitchFamily="18" charset="0"/>
              </a:rPr>
              <a:t>về</a:t>
            </a:r>
            <a:r>
              <a:rPr lang="en-US" altLang="en-US" sz="2100" dirty="0">
                <a:cs typeface="Times New Roman" panose="02020603050405020304" pitchFamily="18" charset="0"/>
              </a:rPr>
              <a:t> </a:t>
            </a:r>
            <a:r>
              <a:rPr lang="en-US" altLang="en-US" sz="2100" dirty="0" err="1">
                <a:cs typeface="Times New Roman" panose="02020603050405020304" pitchFamily="18" charset="0"/>
              </a:rPr>
              <a:t>việc</a:t>
            </a:r>
            <a:r>
              <a:rPr lang="en-US" altLang="en-US" sz="2100" dirty="0">
                <a:cs typeface="Times New Roman" panose="02020603050405020304" pitchFamily="18" charset="0"/>
              </a:rPr>
              <a:t> </a:t>
            </a:r>
            <a:r>
              <a:rPr lang="en-US" altLang="en-US" sz="2100" dirty="0" err="1">
                <a:cs typeface="Times New Roman" panose="02020603050405020304" pitchFamily="18" charset="0"/>
              </a:rPr>
              <a:t>tính</a:t>
            </a:r>
            <a:r>
              <a:rPr lang="en-US" altLang="en-US" sz="2100" dirty="0">
                <a:cs typeface="Times New Roman" panose="02020603050405020304" pitchFamily="18" charset="0"/>
              </a:rPr>
              <a:t> </a:t>
            </a:r>
            <a:r>
              <a:rPr lang="en-US" altLang="en-US" sz="2100" dirty="0" err="1">
                <a:cs typeface="Times New Roman" panose="02020603050405020304" pitchFamily="18" charset="0"/>
              </a:rPr>
              <a:t>các</a:t>
            </a:r>
            <a:r>
              <a:rPr lang="en-US" altLang="en-US" sz="2100" dirty="0">
                <a:cs typeface="Times New Roman" panose="02020603050405020304" pitchFamily="18" charset="0"/>
              </a:rPr>
              <a:t> </a:t>
            </a:r>
            <a:r>
              <a:rPr lang="en-US" altLang="en-US" sz="2100" dirty="0" err="1">
                <a:cs typeface="Times New Roman" panose="02020603050405020304" pitchFamily="18" charset="0"/>
              </a:rPr>
              <a:t>hàm</a:t>
            </a:r>
            <a:r>
              <a:rPr lang="en-US" altLang="en-US" sz="2100" dirty="0">
                <a:cs typeface="Times New Roman" panose="02020603050405020304" pitchFamily="18" charset="0"/>
              </a:rPr>
              <a:t> </a:t>
            </a:r>
            <a:r>
              <a:rPr lang="en-US" altLang="en-US" sz="2100" i="1" dirty="0">
                <a:cs typeface="Times New Roman" panose="02020603050405020304" pitchFamily="18" charset="0"/>
              </a:rPr>
              <a:t>F</a:t>
            </a:r>
            <a:r>
              <a:rPr lang="en-US" altLang="en-US" sz="2100" dirty="0">
                <a:cs typeface="Times New Roman" panose="02020603050405020304" pitchFamily="18" charset="0"/>
              </a:rPr>
              <a:t> </a:t>
            </a:r>
            <a:r>
              <a:rPr lang="en-US" altLang="en-US" sz="2100" dirty="0" err="1">
                <a:cs typeface="Times New Roman" panose="02020603050405020304" pitchFamily="18" charset="0"/>
              </a:rPr>
              <a:t>với</a:t>
            </a:r>
            <a:r>
              <a:rPr lang="en-US" altLang="en-US" sz="2100" dirty="0">
                <a:cs typeface="Times New Roman" panose="02020603050405020304" pitchFamily="18" charset="0"/>
              </a:rPr>
              <a:t> </a:t>
            </a:r>
            <a:r>
              <a:rPr lang="en-US" altLang="en-US" sz="2100" dirty="0" err="1">
                <a:cs typeface="Times New Roman" panose="02020603050405020304" pitchFamily="18" charset="0"/>
              </a:rPr>
              <a:t>biến</a:t>
            </a:r>
            <a:r>
              <a:rPr lang="en-US" altLang="en-US" sz="2100" dirty="0">
                <a:cs typeface="Times New Roman" panose="02020603050405020304" pitchFamily="18" charset="0"/>
              </a:rPr>
              <a:t> </a:t>
            </a:r>
            <a:r>
              <a:rPr lang="en-US" altLang="en-US" sz="2100" i="1" dirty="0">
                <a:cs typeface="Times New Roman" panose="02020603050405020304" pitchFamily="18" charset="0"/>
              </a:rPr>
              <a:t>n</a:t>
            </a:r>
            <a:r>
              <a:rPr lang="en-US" altLang="en-US" sz="2100" dirty="0">
                <a:cs typeface="Times New Roman" panose="02020603050405020304" pitchFamily="18" charset="0"/>
              </a:rPr>
              <a:t> </a:t>
            </a:r>
            <a:r>
              <a:rPr lang="en-US" altLang="en-US" sz="2100" dirty="0" err="1">
                <a:cs typeface="Times New Roman" panose="02020603050405020304" pitchFamily="18" charset="0"/>
              </a:rPr>
              <a:t>nhỏ</a:t>
            </a:r>
            <a:r>
              <a:rPr lang="en-US" altLang="en-US" sz="2100" dirty="0">
                <a:cs typeface="Times New Roman" panose="02020603050405020304" pitchFamily="18" charset="0"/>
              </a:rPr>
              <a:t> </a:t>
            </a:r>
            <a:r>
              <a:rPr lang="en-US" altLang="en-US" sz="2100" dirty="0" err="1">
                <a:cs typeface="Times New Roman" panose="02020603050405020304" pitchFamily="18" charset="0"/>
              </a:rPr>
              <a:t>hơn</a:t>
            </a:r>
            <a:r>
              <a:rPr lang="en-US" altLang="en-US" sz="2100" dirty="0">
                <a:cs typeface="Times New Roman" panose="02020603050405020304" pitchFamily="18" charset="0"/>
              </a:rPr>
              <a:t> </a:t>
            </a:r>
            <a:r>
              <a:rPr lang="en-US" altLang="en-US" sz="2100" dirty="0" err="1">
                <a:cs typeface="Times New Roman" panose="02020603050405020304" pitchFamily="18" charset="0"/>
              </a:rPr>
              <a:t>nữa</a:t>
            </a:r>
            <a:endParaRPr lang="en-US" altLang="en-US" sz="2100" dirty="0">
              <a:cs typeface="Times New Roman" panose="02020603050405020304" pitchFamily="18" charset="0"/>
            </a:endParaRPr>
          </a:p>
          <a:p>
            <a:pPr lvl="1">
              <a:spcBef>
                <a:spcPct val="10000"/>
              </a:spcBef>
            </a:pPr>
            <a:r>
              <a:rPr lang="en-US" altLang="en-US" sz="2100" dirty="0" err="1">
                <a:cs typeface="Times New Roman" panose="02020603050405020304" pitchFamily="18" charset="0"/>
              </a:rPr>
              <a:t>Trường</a:t>
            </a:r>
            <a:r>
              <a:rPr lang="en-US" altLang="en-US" sz="2100" dirty="0">
                <a:cs typeface="Times New Roman" panose="02020603050405020304" pitchFamily="18" charset="0"/>
              </a:rPr>
              <a:t> </a:t>
            </a:r>
            <a:r>
              <a:rPr lang="en-US" altLang="en-US" sz="2100" dirty="0" err="1">
                <a:cs typeface="Times New Roman" panose="02020603050405020304" pitchFamily="18" charset="0"/>
              </a:rPr>
              <a:t>hợp</a:t>
            </a:r>
            <a:r>
              <a:rPr lang="en-US" altLang="en-US" sz="2100" dirty="0">
                <a:cs typeface="Times New Roman" panose="02020603050405020304" pitchFamily="18" charset="0"/>
              </a:rPr>
              <a:t> </a:t>
            </a:r>
            <a:r>
              <a:rPr lang="en-US" altLang="en-US" sz="2100" dirty="0" err="1">
                <a:cs typeface="Times New Roman" panose="02020603050405020304" pitchFamily="18" charset="0"/>
              </a:rPr>
              <a:t>đặc</a:t>
            </a:r>
            <a:r>
              <a:rPr lang="en-US" altLang="en-US" sz="2100" dirty="0">
                <a:cs typeface="Times New Roman" panose="02020603050405020304" pitchFamily="18" charset="0"/>
              </a:rPr>
              <a:t> </a:t>
            </a:r>
            <a:r>
              <a:rPr lang="en-US" altLang="en-US" sz="2100" dirty="0" err="1">
                <a:cs typeface="Times New Roman" panose="02020603050405020304" pitchFamily="18" charset="0"/>
              </a:rPr>
              <a:t>biệt</a:t>
            </a:r>
            <a:r>
              <a:rPr lang="en-US" altLang="en-US" sz="2100" dirty="0">
                <a:cs typeface="Times New Roman" panose="02020603050405020304" pitchFamily="18" charset="0"/>
              </a:rPr>
              <a:t>: </a:t>
            </a:r>
            <a:r>
              <a:rPr lang="en-US" altLang="en-US" sz="2100" dirty="0" err="1">
                <a:cs typeface="Times New Roman" panose="02020603050405020304" pitchFamily="18" charset="0"/>
              </a:rPr>
              <a:t>khi</a:t>
            </a:r>
            <a:r>
              <a:rPr lang="en-US" altLang="en-US" sz="2100" dirty="0">
                <a:cs typeface="Times New Roman" panose="02020603050405020304" pitchFamily="18" charset="0"/>
              </a:rPr>
              <a:t> </a:t>
            </a:r>
            <a:r>
              <a:rPr lang="en-US" altLang="en-US" sz="2100" i="1" dirty="0">
                <a:cs typeface="Times New Roman" panose="02020603050405020304" pitchFamily="18" charset="0"/>
              </a:rPr>
              <a:t>n </a:t>
            </a:r>
            <a:r>
              <a:rPr lang="en-US" altLang="en-US" sz="2100" dirty="0" err="1">
                <a:cs typeface="Times New Roman" panose="02020603050405020304" pitchFamily="18" charset="0"/>
              </a:rPr>
              <a:t>đủ</a:t>
            </a:r>
            <a:r>
              <a:rPr lang="en-US" altLang="en-US" sz="2100" dirty="0">
                <a:cs typeface="Times New Roman" panose="02020603050405020304" pitchFamily="18" charset="0"/>
              </a:rPr>
              <a:t> </a:t>
            </a:r>
            <a:r>
              <a:rPr lang="en-US" altLang="en-US" sz="2100" dirty="0" err="1">
                <a:cs typeface="Times New Roman" panose="02020603050405020304" pitchFamily="18" charset="0"/>
              </a:rPr>
              <a:t>nhỏ</a:t>
            </a:r>
            <a:r>
              <a:rPr lang="en-US" altLang="en-US" sz="2100" dirty="0">
                <a:cs typeface="Times New Roman" panose="02020603050405020304" pitchFamily="18" charset="0"/>
              </a:rPr>
              <a:t> </a:t>
            </a:r>
            <a:r>
              <a:rPr lang="en-US" altLang="en-US" sz="2100" dirty="0" smtClean="0">
                <a:cs typeface="Times New Roman" panose="02020603050405020304" pitchFamily="18" charset="0"/>
              </a:rPr>
              <a:t>(</a:t>
            </a:r>
            <a:r>
              <a:rPr lang="en-US" altLang="en-US" sz="2100" i="1" dirty="0" smtClean="0">
                <a:cs typeface="Times New Roman" panose="02020603050405020304" pitchFamily="18" charset="0"/>
              </a:rPr>
              <a:t>n </a:t>
            </a:r>
            <a:r>
              <a:rPr lang="en-US" altLang="en-US" sz="2100" i="1" dirty="0">
                <a:cs typeface="Times New Roman" panose="02020603050405020304" pitchFamily="18" charset="0"/>
              </a:rPr>
              <a:t>&lt;= </a:t>
            </a:r>
            <a:r>
              <a:rPr lang="en-US" altLang="en-US" sz="2100" i="1" dirty="0" smtClean="0">
                <a:cs typeface="Times New Roman" panose="02020603050405020304" pitchFamily="18" charset="0"/>
              </a:rPr>
              <a:t>2</a:t>
            </a:r>
            <a:r>
              <a:rPr lang="en-US" altLang="en-US" sz="2100" dirty="0" smtClean="0">
                <a:cs typeface="Times New Roman" panose="02020603050405020304" pitchFamily="18" charset="0"/>
              </a:rPr>
              <a:t>) </a:t>
            </a:r>
            <a:r>
              <a:rPr lang="en-US" altLang="en-US" sz="2100" dirty="0">
                <a:cs typeface="Times New Roman" panose="02020603050405020304" pitchFamily="18" charset="0"/>
              </a:rPr>
              <a:t>ta </a:t>
            </a:r>
            <a:r>
              <a:rPr lang="en-US" altLang="en-US" sz="2100" dirty="0" err="1">
                <a:cs typeface="Times New Roman" panose="02020603050405020304" pitchFamily="18" charset="0"/>
              </a:rPr>
              <a:t>tính</a:t>
            </a:r>
            <a:r>
              <a:rPr lang="en-US" altLang="en-US" sz="2100" dirty="0">
                <a:cs typeface="Times New Roman" panose="02020603050405020304" pitchFamily="18" charset="0"/>
              </a:rPr>
              <a:t> </a:t>
            </a:r>
            <a:r>
              <a:rPr lang="en-US" altLang="en-US" sz="2100" dirty="0" err="1">
                <a:cs typeface="Times New Roman" panose="02020603050405020304" pitchFamily="18" charset="0"/>
              </a:rPr>
              <a:t>được</a:t>
            </a:r>
            <a:r>
              <a:rPr lang="en-US" altLang="en-US" sz="2100" dirty="0">
                <a:cs typeface="Times New Roman" panose="02020603050405020304" pitchFamily="18" charset="0"/>
              </a:rPr>
              <a:t> </a:t>
            </a:r>
            <a:r>
              <a:rPr lang="en-US" altLang="en-US" sz="2100" dirty="0" err="1">
                <a:cs typeface="Times New Roman" panose="02020603050405020304" pitchFamily="18" charset="0"/>
              </a:rPr>
              <a:t>trực</a:t>
            </a:r>
            <a:r>
              <a:rPr lang="en-US" altLang="en-US" sz="2100" dirty="0">
                <a:cs typeface="Times New Roman" panose="02020603050405020304" pitchFamily="18" charset="0"/>
              </a:rPr>
              <a:t> </a:t>
            </a:r>
            <a:r>
              <a:rPr lang="en-US" altLang="en-US" sz="2100" dirty="0" err="1">
                <a:cs typeface="Times New Roman" panose="02020603050405020304" pitchFamily="18" charset="0"/>
              </a:rPr>
              <a:t>tiếp</a:t>
            </a:r>
            <a:r>
              <a:rPr lang="en-US" altLang="en-US" sz="2100" dirty="0">
                <a:cs typeface="Times New Roman" panose="02020603050405020304" pitchFamily="18" charset="0"/>
              </a:rPr>
              <a:t> </a:t>
            </a:r>
            <a:r>
              <a:rPr lang="en-US" altLang="en-US" sz="2100" dirty="0" err="1">
                <a:cs typeface="Times New Roman" panose="02020603050405020304" pitchFamily="18" charset="0"/>
              </a:rPr>
              <a:t>giá</a:t>
            </a:r>
            <a:r>
              <a:rPr lang="en-US" altLang="en-US" sz="2100" dirty="0">
                <a:cs typeface="Times New Roman" panose="02020603050405020304" pitchFamily="18" charset="0"/>
              </a:rPr>
              <a:t> </a:t>
            </a:r>
            <a:r>
              <a:rPr lang="en-US" altLang="en-US" sz="2100" dirty="0" err="1">
                <a:cs typeface="Times New Roman" panose="02020603050405020304" pitchFamily="18" charset="0"/>
              </a:rPr>
              <a:t>trị</a:t>
            </a:r>
            <a:r>
              <a:rPr lang="en-US" altLang="en-US" sz="2100" dirty="0">
                <a:cs typeface="Times New Roman" panose="02020603050405020304" pitchFamily="18" charset="0"/>
              </a:rPr>
              <a:t> </a:t>
            </a:r>
            <a:r>
              <a:rPr lang="en-US" altLang="en-US" sz="2100" dirty="0" err="1">
                <a:cs typeface="Times New Roman" panose="02020603050405020304" pitchFamily="18" charset="0"/>
              </a:rPr>
              <a:t>của</a:t>
            </a:r>
            <a:r>
              <a:rPr lang="en-US" altLang="en-US" sz="2100" dirty="0">
                <a:cs typeface="Times New Roman" panose="02020603050405020304" pitchFamily="18" charset="0"/>
              </a:rPr>
              <a:t> </a:t>
            </a:r>
            <a:r>
              <a:rPr lang="en-US" altLang="en-US" sz="2100" dirty="0" err="1">
                <a:cs typeface="Times New Roman" panose="02020603050405020304" pitchFamily="18" charset="0"/>
              </a:rPr>
              <a:t>hàm</a:t>
            </a:r>
            <a:r>
              <a:rPr lang="en-US" altLang="en-US" sz="2100" dirty="0">
                <a:cs typeface="Times New Roman" panose="02020603050405020304" pitchFamily="18" charset="0"/>
              </a:rPr>
              <a:t> </a:t>
            </a:r>
            <a:r>
              <a:rPr lang="en-US" altLang="en-US" sz="2100" i="1" dirty="0" smtClean="0">
                <a:cs typeface="Times New Roman" panose="02020603050405020304" pitchFamily="18" charset="0"/>
              </a:rPr>
              <a:t>F(1</a:t>
            </a:r>
            <a:r>
              <a:rPr lang="en-US" altLang="en-US" sz="2100" i="1" dirty="0">
                <a:cs typeface="Times New Roman" panose="02020603050405020304" pitchFamily="18" charset="0"/>
              </a:rPr>
              <a:t>) = 1, </a:t>
            </a:r>
            <a:r>
              <a:rPr lang="en-US" altLang="en-US" sz="2100" i="1" dirty="0" smtClean="0">
                <a:cs typeface="Times New Roman" panose="02020603050405020304" pitchFamily="18" charset="0"/>
              </a:rPr>
              <a:t>F(2</a:t>
            </a:r>
            <a:r>
              <a:rPr lang="en-US" altLang="en-US" sz="2100" i="1" dirty="0">
                <a:cs typeface="Times New Roman" panose="02020603050405020304" pitchFamily="18" charset="0"/>
              </a:rPr>
              <a:t>) = 1</a:t>
            </a:r>
          </a:p>
          <a:p>
            <a:pPr marL="547687" lvl="2">
              <a:spcBef>
                <a:spcPts val="600"/>
              </a:spcBef>
              <a:buClr>
                <a:schemeClr val="accent1"/>
              </a:buClr>
            </a:pPr>
            <a:endParaRPr lang="en-US" altLang="en-US" sz="1800" dirty="0">
              <a:cs typeface="Times New Roman" panose="02020603050405020304" pitchFamily="18" charset="0"/>
            </a:endParaRPr>
          </a:p>
          <a:p>
            <a:endParaRPr lang="en-US" sz="2800" dirty="0"/>
          </a:p>
        </p:txBody>
      </p:sp>
    </p:spTree>
    <p:extLst>
      <p:ext uri="{BB962C8B-B14F-4D97-AF65-F5344CB8AC3E}">
        <p14:creationId xmlns:p14="http://schemas.microsoft.com/office/powerpoint/2010/main" val="681242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13</a:t>
            </a:fld>
            <a:endParaRPr lang="en-US"/>
          </a:p>
        </p:txBody>
      </p:sp>
      <p:sp>
        <p:nvSpPr>
          <p:cNvPr id="5" name="Title 4"/>
          <p:cNvSpPr>
            <a:spLocks noGrp="1"/>
          </p:cNvSpPr>
          <p:nvPr>
            <p:ph type="title"/>
          </p:nvPr>
        </p:nvSpPr>
        <p:spPr/>
        <p:txBody>
          <a:bodyPr/>
          <a:lstStyle/>
          <a:p>
            <a:r>
              <a:rPr lang="en-US" dirty="0"/>
              <a:t>1.2 </a:t>
            </a:r>
            <a:r>
              <a:rPr lang="en-US" altLang="en-US" dirty="0" err="1"/>
              <a:t>Giải</a:t>
            </a:r>
            <a:r>
              <a:rPr lang="en-US" altLang="en-US" dirty="0"/>
              <a:t> </a:t>
            </a:r>
            <a:r>
              <a:rPr lang="en-US" altLang="en-US" dirty="0" err="1"/>
              <a:t>thuật</a:t>
            </a:r>
            <a:r>
              <a:rPr lang="en-US" altLang="en-US" dirty="0"/>
              <a:t> </a:t>
            </a:r>
            <a:r>
              <a:rPr lang="en-US" altLang="en-US" dirty="0" err="1"/>
              <a:t>đệ</a:t>
            </a:r>
            <a:r>
              <a:rPr lang="en-US" altLang="en-US" dirty="0"/>
              <a:t> </a:t>
            </a:r>
            <a:r>
              <a:rPr lang="en-US" altLang="en-US" dirty="0" err="1"/>
              <a:t>quy</a:t>
            </a:r>
            <a:r>
              <a:rPr lang="en-US" altLang="en-US" dirty="0"/>
              <a:t> (recursive algorithm)</a:t>
            </a:r>
            <a:endParaRPr lang="en-US" dirty="0"/>
          </a:p>
        </p:txBody>
      </p:sp>
      <p:sp>
        <p:nvSpPr>
          <p:cNvPr id="2" name="Content Placeholder 1"/>
          <p:cNvSpPr>
            <a:spLocks noGrp="1"/>
          </p:cNvSpPr>
          <p:nvPr>
            <p:ph type="body" sz="quarter" idx="13"/>
          </p:nvPr>
        </p:nvSpPr>
        <p:spPr/>
        <p:txBody>
          <a:bodyPr>
            <a:normAutofit/>
          </a:bodyPr>
          <a:lstStyle/>
          <a:p>
            <a:pPr>
              <a:lnSpc>
                <a:spcPct val="105000"/>
              </a:lnSpc>
              <a:spcBef>
                <a:spcPct val="15000"/>
              </a:spcBef>
            </a:pPr>
            <a:r>
              <a:rPr lang="en-US" altLang="en-US" sz="2400" dirty="0" err="1">
                <a:cs typeface="Times New Roman" panose="02020603050405020304" pitchFamily="18" charset="0"/>
              </a:rPr>
              <a:t>Ví</a:t>
            </a:r>
            <a:r>
              <a:rPr lang="en-US" altLang="en-US" sz="2400" dirty="0">
                <a:cs typeface="Times New Roman" panose="02020603050405020304" pitchFamily="18" charset="0"/>
              </a:rPr>
              <a:t> </a:t>
            </a:r>
            <a:r>
              <a:rPr lang="en-US" altLang="en-US" sz="2400" dirty="0" err="1">
                <a:cs typeface="Times New Roman" panose="02020603050405020304" pitchFamily="18" charset="0"/>
              </a:rPr>
              <a:t>dụ</a:t>
            </a:r>
            <a:r>
              <a:rPr lang="en-US" altLang="en-US" sz="2400" dirty="0">
                <a:cs typeface="Times New Roman" panose="02020603050405020304" pitchFamily="18" charset="0"/>
              </a:rPr>
              <a:t> 3: </a:t>
            </a:r>
            <a:r>
              <a:rPr lang="en-US" altLang="en-US" sz="2400" dirty="0" err="1">
                <a:cs typeface="Times New Roman" panose="02020603050405020304" pitchFamily="18" charset="0"/>
              </a:rPr>
              <a:t>Tìm</a:t>
            </a:r>
            <a:r>
              <a:rPr lang="en-US" altLang="en-US" sz="2400" dirty="0">
                <a:cs typeface="Times New Roman" panose="02020603050405020304" pitchFamily="18" charset="0"/>
              </a:rPr>
              <a:t>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dirty="0" err="1">
                <a:cs typeface="Times New Roman" panose="02020603050405020304" pitchFamily="18" charset="0"/>
              </a:rPr>
              <a:t>nhỏ</a:t>
            </a:r>
            <a:r>
              <a:rPr lang="en-US" altLang="en-US" sz="2400" dirty="0">
                <a:cs typeface="Times New Roman" panose="02020603050405020304" pitchFamily="18" charset="0"/>
              </a:rPr>
              <a:t> </a:t>
            </a:r>
            <a:r>
              <a:rPr lang="en-US" altLang="en-US" sz="2400" dirty="0" err="1">
                <a:cs typeface="Times New Roman" panose="02020603050405020304" pitchFamily="18" charset="0"/>
              </a:rPr>
              <a:t>nhất</a:t>
            </a:r>
            <a:r>
              <a:rPr lang="en-US" altLang="en-US" sz="2400" dirty="0">
                <a:cs typeface="Times New Roman" panose="02020603050405020304" pitchFamily="18" charset="0"/>
              </a:rPr>
              <a:t> </a:t>
            </a:r>
            <a:r>
              <a:rPr lang="en-US" altLang="en-US" sz="2400" dirty="0" err="1">
                <a:cs typeface="Times New Roman" panose="02020603050405020304" pitchFamily="18" charset="0"/>
              </a:rPr>
              <a:t>trong</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dãy</a:t>
            </a:r>
            <a:r>
              <a:rPr lang="en-US" altLang="en-US" sz="2400" dirty="0">
                <a:cs typeface="Times New Roman" panose="02020603050405020304" pitchFamily="18" charset="0"/>
              </a:rPr>
              <a:t> </a:t>
            </a:r>
            <a:r>
              <a:rPr lang="en-US" altLang="en-US" sz="2400" i="1" dirty="0">
                <a:cs typeface="Times New Roman" panose="02020603050405020304" pitchFamily="18" charset="0"/>
              </a:rPr>
              <a:t>N </a:t>
            </a:r>
            <a:r>
              <a:rPr lang="en-US" altLang="en-US" sz="2400" dirty="0" err="1">
                <a:cs typeface="Times New Roman" panose="02020603050405020304" pitchFamily="18" charset="0"/>
              </a:rPr>
              <a:t>số</a:t>
            </a:r>
            <a:r>
              <a:rPr lang="en-US" altLang="en-US" sz="2400" dirty="0">
                <a:cs typeface="Times New Roman" panose="02020603050405020304" pitchFamily="18" charset="0"/>
              </a:rPr>
              <a:t> </a:t>
            </a:r>
            <a:r>
              <a:rPr lang="en-US" altLang="en-US" sz="2400" i="1" dirty="0">
                <a:cs typeface="Times New Roman" panose="02020603050405020304" pitchFamily="18" charset="0"/>
              </a:rPr>
              <a:t>a</a:t>
            </a:r>
            <a:r>
              <a:rPr lang="en-US" altLang="en-US" sz="2400" i="1" baseline="-30000" dirty="0">
                <a:cs typeface="Times New Roman" panose="02020603050405020304" pitchFamily="18" charset="0"/>
              </a:rPr>
              <a:t>1</a:t>
            </a:r>
            <a:r>
              <a:rPr lang="en-US" altLang="en-US" sz="2400" i="1" dirty="0">
                <a:cs typeface="Times New Roman" panose="02020603050405020304" pitchFamily="18" charset="0"/>
              </a:rPr>
              <a:t>, a</a:t>
            </a:r>
            <a:r>
              <a:rPr lang="en-US" altLang="en-US" sz="2400" i="1" baseline="-30000" dirty="0">
                <a:cs typeface="Times New Roman" panose="02020603050405020304" pitchFamily="18" charset="0"/>
              </a:rPr>
              <a:t>2</a:t>
            </a:r>
            <a:r>
              <a:rPr lang="en-US" altLang="en-US" sz="2400" i="1" dirty="0">
                <a:cs typeface="Times New Roman" panose="02020603050405020304" pitchFamily="18" charset="0"/>
              </a:rPr>
              <a:t>, </a:t>
            </a:r>
            <a:r>
              <a:rPr lang="en-US" altLang="en-US" sz="2400" i="1" dirty="0"/>
              <a:t>…</a:t>
            </a:r>
            <a:r>
              <a:rPr lang="en-US" altLang="en-US" sz="2400" i="1" dirty="0">
                <a:cs typeface="Times New Roman" panose="02020603050405020304" pitchFamily="18" charset="0"/>
              </a:rPr>
              <a:t>, </a:t>
            </a:r>
            <a:r>
              <a:rPr lang="en-US" altLang="en-US" sz="2400" i="1" dirty="0" err="1">
                <a:cs typeface="Times New Roman" panose="02020603050405020304" pitchFamily="18" charset="0"/>
              </a:rPr>
              <a:t>a</a:t>
            </a:r>
            <a:r>
              <a:rPr lang="en-US" altLang="en-US" sz="2400" i="1" baseline="-25000" dirty="0" err="1">
                <a:cs typeface="Times New Roman" panose="02020603050405020304" pitchFamily="18" charset="0"/>
              </a:rPr>
              <a:t>N</a:t>
            </a:r>
            <a:endParaRPr lang="en-US" altLang="en-US" sz="2400" i="1" dirty="0">
              <a:cs typeface="Times New Roman" panose="02020603050405020304" pitchFamily="18" charset="0"/>
            </a:endParaRPr>
          </a:p>
          <a:p>
            <a:pPr lvl="1">
              <a:lnSpc>
                <a:spcPct val="105000"/>
              </a:lnSpc>
              <a:spcBef>
                <a:spcPct val="15000"/>
              </a:spcBef>
            </a:pPr>
            <a:r>
              <a:rPr lang="en-US" altLang="en-US" sz="2000" dirty="0">
                <a:cs typeface="Times New Roman" panose="02020603050405020304" pitchFamily="18" charset="0"/>
              </a:rPr>
              <a:t>1) </a:t>
            </a:r>
            <a:r>
              <a:rPr lang="en-US" altLang="en-US" sz="2000" dirty="0" err="1">
                <a:cs typeface="Times New Roman" panose="02020603050405020304" pitchFamily="18" charset="0"/>
              </a:rPr>
              <a:t>Nếu</a:t>
            </a:r>
            <a:r>
              <a:rPr lang="en-US" altLang="en-US" sz="2000" dirty="0">
                <a:cs typeface="Times New Roman" panose="02020603050405020304" pitchFamily="18" charset="0"/>
              </a:rPr>
              <a:t> </a:t>
            </a:r>
            <a:r>
              <a:rPr lang="en-US" altLang="en-US" sz="2000" i="1" dirty="0">
                <a:cs typeface="Times New Roman" panose="02020603050405020304" pitchFamily="18" charset="0"/>
              </a:rPr>
              <a:t>N=1</a:t>
            </a:r>
            <a:r>
              <a:rPr lang="en-US" altLang="en-US" sz="2000" dirty="0">
                <a:cs typeface="Times New Roman" panose="02020603050405020304" pitchFamily="18" charset="0"/>
              </a:rPr>
              <a:t> </a:t>
            </a:r>
            <a:r>
              <a:rPr lang="en-US" altLang="en-US" sz="2000" dirty="0" err="1">
                <a:cs typeface="Times New Roman" panose="02020603050405020304" pitchFamily="18" charset="0"/>
              </a:rPr>
              <a:t>thì</a:t>
            </a:r>
            <a:r>
              <a:rPr lang="en-US" altLang="en-US" sz="2000" dirty="0">
                <a:cs typeface="Times New Roman" panose="02020603050405020304" pitchFamily="18" charset="0"/>
              </a:rPr>
              <a:t> </a:t>
            </a:r>
            <a:r>
              <a:rPr lang="en-US" altLang="en-US" sz="2000" i="1" dirty="0">
                <a:cs typeface="Times New Roman" panose="02020603050405020304" pitchFamily="18" charset="0"/>
              </a:rPr>
              <a:t>min=a</a:t>
            </a:r>
            <a:r>
              <a:rPr lang="en-US" altLang="en-US" sz="2000" i="1" baseline="-30000" dirty="0">
                <a:cs typeface="Times New Roman" panose="02020603050405020304" pitchFamily="18" charset="0"/>
              </a:rPr>
              <a:t>1</a:t>
            </a:r>
            <a:r>
              <a:rPr lang="en-US" altLang="en-US" sz="2000" dirty="0">
                <a:cs typeface="Times New Roman" panose="02020603050405020304" pitchFamily="18" charset="0"/>
              </a:rPr>
              <a:t>;</a:t>
            </a:r>
          </a:p>
          <a:p>
            <a:pPr lvl="1">
              <a:lnSpc>
                <a:spcPct val="105000"/>
              </a:lnSpc>
              <a:spcBef>
                <a:spcPct val="15000"/>
              </a:spcBef>
            </a:pPr>
            <a:r>
              <a:rPr lang="en-US" altLang="en-US" sz="2000" dirty="0">
                <a:cs typeface="Times New Roman" panose="02020603050405020304" pitchFamily="18" charset="0"/>
              </a:rPr>
              <a:t>2) Chia </a:t>
            </a:r>
            <a:r>
              <a:rPr lang="en-US" altLang="en-US" sz="2000" dirty="0" err="1">
                <a:cs typeface="Times New Roman" panose="02020603050405020304" pitchFamily="18" charset="0"/>
              </a:rPr>
              <a:t>dãy</a:t>
            </a:r>
            <a:r>
              <a:rPr lang="en-US" altLang="en-US" sz="2000" dirty="0">
                <a:cs typeface="Times New Roman" panose="02020603050405020304" pitchFamily="18" charset="0"/>
              </a:rPr>
              <a:t> ban </a:t>
            </a:r>
            <a:r>
              <a:rPr lang="en-US" altLang="en-US" sz="2000" dirty="0" err="1">
                <a:cs typeface="Times New Roman" panose="02020603050405020304" pitchFamily="18" charset="0"/>
              </a:rPr>
              <a:t>đầu</a:t>
            </a:r>
            <a:r>
              <a:rPr lang="en-US" altLang="en-US" sz="2000" dirty="0">
                <a:cs typeface="Times New Roman" panose="02020603050405020304" pitchFamily="18" charset="0"/>
              </a:rPr>
              <a:t> </a:t>
            </a:r>
            <a:r>
              <a:rPr lang="en-US" altLang="en-US" sz="2000" dirty="0" err="1">
                <a:cs typeface="Times New Roman" panose="02020603050405020304" pitchFamily="18" charset="0"/>
              </a:rPr>
              <a:t>thành</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a:t>
            </a:r>
            <a:r>
              <a:rPr lang="en-US" altLang="en-US" sz="2000" dirty="0" err="1">
                <a:cs typeface="Times New Roman" panose="02020603050405020304" pitchFamily="18" charset="0"/>
              </a:rPr>
              <a:t>dãy</a:t>
            </a:r>
            <a:r>
              <a:rPr lang="en-US" altLang="en-US" sz="2000" dirty="0">
                <a:cs typeface="Times New Roman" panose="02020603050405020304" pitchFamily="18" charset="0"/>
              </a:rPr>
              <a:t> con:</a:t>
            </a:r>
            <a:br>
              <a:rPr lang="en-US" altLang="en-US" sz="2000" dirty="0">
                <a:cs typeface="Times New Roman" panose="02020603050405020304" pitchFamily="18" charset="0"/>
              </a:rPr>
            </a:br>
            <a:r>
              <a:rPr lang="en-US" altLang="en-US" sz="2000" dirty="0" smtClean="0">
                <a:cs typeface="Times New Roman" panose="02020603050405020304" pitchFamily="18" charset="0"/>
              </a:rPr>
              <a:t>     </a:t>
            </a:r>
            <a:r>
              <a:rPr lang="en-US" altLang="en-US" sz="2000" i="1" dirty="0" smtClean="0">
                <a:cs typeface="Times New Roman" panose="02020603050405020304" pitchFamily="18" charset="0"/>
              </a:rPr>
              <a:t>L</a:t>
            </a:r>
            <a:r>
              <a:rPr lang="en-US" altLang="en-US" sz="2000" i="1" baseline="-30000" dirty="0" smtClean="0">
                <a:cs typeface="Times New Roman" panose="02020603050405020304" pitchFamily="18" charset="0"/>
              </a:rPr>
              <a:t>1</a:t>
            </a:r>
            <a:r>
              <a:rPr lang="en-US" altLang="en-US" sz="2000" i="1" dirty="0" smtClean="0">
                <a:cs typeface="Times New Roman" panose="02020603050405020304" pitchFamily="18" charset="0"/>
              </a:rPr>
              <a:t> </a:t>
            </a:r>
            <a:r>
              <a:rPr lang="en-US" altLang="en-US" sz="2000" i="1" dirty="0">
                <a:cs typeface="Times New Roman" panose="02020603050405020304" pitchFamily="18" charset="0"/>
              </a:rPr>
              <a:t>= a</a:t>
            </a:r>
            <a:r>
              <a:rPr lang="en-US" altLang="en-US" sz="2000" i="1" baseline="-30000" dirty="0">
                <a:cs typeface="Times New Roman" panose="02020603050405020304" pitchFamily="18" charset="0"/>
              </a:rPr>
              <a:t>1</a:t>
            </a:r>
            <a:r>
              <a:rPr lang="en-US" altLang="en-US" sz="2000" i="1" dirty="0">
                <a:cs typeface="Times New Roman" panose="02020603050405020304" pitchFamily="18" charset="0"/>
              </a:rPr>
              <a:t>, a</a:t>
            </a:r>
            <a:r>
              <a:rPr lang="en-US" altLang="en-US" sz="2000" i="1" baseline="-30000" dirty="0">
                <a:cs typeface="Times New Roman" panose="02020603050405020304" pitchFamily="18" charset="0"/>
              </a:rPr>
              <a:t>2</a:t>
            </a:r>
            <a:r>
              <a:rPr lang="en-US" altLang="en-US" sz="2000" i="1" dirty="0">
                <a:cs typeface="Times New Roman" panose="02020603050405020304" pitchFamily="18" charset="0"/>
              </a:rPr>
              <a:t>,</a:t>
            </a:r>
            <a:r>
              <a:rPr lang="en-US" altLang="en-US" sz="2000" i="1" dirty="0"/>
              <a:t>…</a:t>
            </a:r>
            <a:r>
              <a:rPr lang="en-US" altLang="en-US" sz="2000" i="1" dirty="0">
                <a:cs typeface="Times New Roman" panose="02020603050405020304" pitchFamily="18" charset="0"/>
              </a:rPr>
              <a:t>, a</a:t>
            </a:r>
            <a:r>
              <a:rPr lang="en-US" altLang="en-US" sz="2000" i="1" baseline="-25000" dirty="0">
                <a:cs typeface="Times New Roman" panose="02020603050405020304" pitchFamily="18" charset="0"/>
              </a:rPr>
              <a:t>m</a:t>
            </a:r>
            <a:r>
              <a:rPr lang="en-US" altLang="en-US" sz="2000" i="1"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i="1" dirty="0">
                <a:cs typeface="Times New Roman" panose="02020603050405020304" pitchFamily="18" charset="0"/>
              </a:rPr>
              <a:t>L</a:t>
            </a:r>
            <a:r>
              <a:rPr lang="en-US" altLang="en-US" sz="2000" i="1" baseline="-30000" dirty="0">
                <a:cs typeface="Times New Roman" panose="02020603050405020304" pitchFamily="18" charset="0"/>
              </a:rPr>
              <a:t>2</a:t>
            </a:r>
            <a:r>
              <a:rPr lang="en-US" altLang="en-US" sz="2000" i="1" dirty="0">
                <a:cs typeface="Times New Roman" panose="02020603050405020304" pitchFamily="18" charset="0"/>
              </a:rPr>
              <a:t> = a</a:t>
            </a:r>
            <a:r>
              <a:rPr lang="en-US" altLang="en-US" sz="2000" i="1" baseline="-25000" dirty="0">
                <a:cs typeface="Times New Roman" panose="02020603050405020304" pitchFamily="18" charset="0"/>
              </a:rPr>
              <a:t>m</a:t>
            </a:r>
            <a:r>
              <a:rPr lang="en-US" altLang="en-US" sz="2000" i="1" baseline="-30000" dirty="0">
                <a:cs typeface="Times New Roman" panose="02020603050405020304" pitchFamily="18" charset="0"/>
              </a:rPr>
              <a:t>+1</a:t>
            </a:r>
            <a:r>
              <a:rPr lang="en-US" altLang="en-US" sz="2000" i="1" dirty="0">
                <a:cs typeface="Times New Roman" panose="02020603050405020304" pitchFamily="18" charset="0"/>
              </a:rPr>
              <a:t>, a</a:t>
            </a:r>
            <a:r>
              <a:rPr lang="en-US" altLang="en-US" sz="2000" i="1" baseline="-25000" dirty="0">
                <a:cs typeface="Times New Roman" panose="02020603050405020304" pitchFamily="18" charset="0"/>
              </a:rPr>
              <a:t>m</a:t>
            </a:r>
            <a:r>
              <a:rPr lang="en-US" altLang="en-US" sz="2000" i="1" baseline="-30000" dirty="0">
                <a:cs typeface="Times New Roman" panose="02020603050405020304" pitchFamily="18" charset="0"/>
              </a:rPr>
              <a:t>+2</a:t>
            </a:r>
            <a:r>
              <a:rPr lang="en-US" altLang="en-US" sz="2000" i="1" dirty="0">
                <a:cs typeface="Times New Roman" panose="02020603050405020304" pitchFamily="18" charset="0"/>
              </a:rPr>
              <a:t>,</a:t>
            </a:r>
            <a:r>
              <a:rPr lang="en-US" altLang="en-US" sz="2000" i="1" dirty="0"/>
              <a:t>…</a:t>
            </a:r>
            <a:r>
              <a:rPr lang="en-US" altLang="en-US" sz="2000" i="1" dirty="0">
                <a:cs typeface="Times New Roman" panose="02020603050405020304" pitchFamily="18" charset="0"/>
              </a:rPr>
              <a:t>, </a:t>
            </a:r>
            <a:r>
              <a:rPr lang="en-US" altLang="en-US" sz="2000" i="1" dirty="0" err="1" smtClean="0">
                <a:cs typeface="Times New Roman" panose="02020603050405020304" pitchFamily="18" charset="0"/>
              </a:rPr>
              <a:t>a</a:t>
            </a:r>
            <a:r>
              <a:rPr lang="en-US" altLang="en-US" sz="2000" i="1" baseline="-25000" dirty="0" err="1" smtClean="0">
                <a:cs typeface="Times New Roman" panose="02020603050405020304" pitchFamily="18" charset="0"/>
              </a:rPr>
              <a:t>N</a:t>
            </a:r>
            <a:r>
              <a:rPr lang="en-US" altLang="en-US" sz="2000" i="1" baseline="-25000" dirty="0" smtClean="0">
                <a:cs typeface="Times New Roman" panose="02020603050405020304" pitchFamily="18" charset="0"/>
              </a:rPr>
              <a:t> </a:t>
            </a:r>
            <a:r>
              <a:rPr lang="en-US" altLang="en-US" sz="2000" dirty="0" err="1" smtClean="0">
                <a:cs typeface="Times New Roman" panose="02020603050405020304" pitchFamily="18" charset="0"/>
              </a:rPr>
              <a:t>với</a:t>
            </a:r>
            <a:r>
              <a:rPr lang="en-US" altLang="en-US" sz="2000" dirty="0" smtClean="0">
                <a:cs typeface="Times New Roman" panose="02020603050405020304" pitchFamily="18" charset="0"/>
              </a:rPr>
              <a:t> </a:t>
            </a:r>
            <a:r>
              <a:rPr lang="en-US" altLang="en-US" sz="2000" i="1" dirty="0">
                <a:cs typeface="Times New Roman" panose="02020603050405020304" pitchFamily="18" charset="0"/>
              </a:rPr>
              <a:t>m=(1+N) DIV 2</a:t>
            </a:r>
            <a:r>
              <a:rPr lang="en-US" altLang="en-US" sz="2000" dirty="0">
                <a:cs typeface="Times New Roman" panose="02020603050405020304" pitchFamily="18" charset="0"/>
              </a:rPr>
              <a:t>.</a:t>
            </a:r>
            <a:br>
              <a:rPr lang="en-US" altLang="en-US" sz="2000" dirty="0">
                <a:cs typeface="Times New Roman" panose="02020603050405020304" pitchFamily="18" charset="0"/>
              </a:rPr>
            </a:br>
            <a:r>
              <a:rPr lang="en-US" altLang="en-US" sz="2000" dirty="0" err="1">
                <a:cs typeface="Times New Roman" panose="02020603050405020304" pitchFamily="18" charset="0"/>
              </a:rPr>
              <a:t>Tìm</a:t>
            </a:r>
            <a:r>
              <a:rPr lang="en-US" altLang="en-US" sz="2000" dirty="0">
                <a:cs typeface="Times New Roman" panose="02020603050405020304" pitchFamily="18" charset="0"/>
              </a:rPr>
              <a:t> </a:t>
            </a:r>
            <a:r>
              <a:rPr lang="en-US" altLang="en-US" sz="2000" i="1" dirty="0">
                <a:cs typeface="Times New Roman" panose="02020603050405020304" pitchFamily="18" charset="0"/>
              </a:rPr>
              <a:t>min</a:t>
            </a:r>
            <a:r>
              <a:rPr lang="en-US" altLang="en-US" sz="2000" i="1" baseline="-30000" dirty="0">
                <a:cs typeface="Times New Roman" panose="02020603050405020304" pitchFamily="18" charset="0"/>
              </a:rPr>
              <a:t>1</a:t>
            </a:r>
            <a:r>
              <a:rPr lang="en-US" altLang="en-US" sz="2000"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dãy</a:t>
            </a:r>
            <a:r>
              <a:rPr lang="en-US" altLang="en-US" sz="2000" dirty="0">
                <a:cs typeface="Times New Roman" panose="02020603050405020304" pitchFamily="18" charset="0"/>
              </a:rPr>
              <a:t> </a:t>
            </a:r>
            <a:r>
              <a:rPr lang="en-US" altLang="en-US" sz="2000" i="1" dirty="0">
                <a:cs typeface="Times New Roman" panose="02020603050405020304" pitchFamily="18" charset="0"/>
              </a:rPr>
              <a:t>L</a:t>
            </a:r>
            <a:r>
              <a:rPr lang="en-US" altLang="en-US" sz="2000" i="1" baseline="-30000" dirty="0">
                <a:cs typeface="Times New Roman" panose="02020603050405020304" pitchFamily="18" charset="0"/>
              </a:rPr>
              <a:t>1</a:t>
            </a:r>
            <a:r>
              <a:rPr lang="en-US" altLang="en-US" sz="2000" i="1"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i="1" dirty="0">
                <a:cs typeface="Times New Roman" panose="02020603050405020304" pitchFamily="18" charset="0"/>
              </a:rPr>
              <a:t>min</a:t>
            </a:r>
            <a:r>
              <a:rPr lang="en-US" altLang="en-US" sz="2000" i="1" baseline="-30000" dirty="0">
                <a:cs typeface="Times New Roman" panose="02020603050405020304" pitchFamily="18" charset="0"/>
              </a:rPr>
              <a:t>2</a:t>
            </a:r>
            <a:r>
              <a:rPr lang="en-US" altLang="en-US" sz="2000"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dãy</a:t>
            </a:r>
            <a:r>
              <a:rPr lang="en-US" altLang="en-US" sz="2000" dirty="0">
                <a:cs typeface="Times New Roman" panose="02020603050405020304" pitchFamily="18" charset="0"/>
              </a:rPr>
              <a:t> </a:t>
            </a:r>
            <a:r>
              <a:rPr lang="en-US" altLang="en-US" sz="2000" i="1" dirty="0">
                <a:cs typeface="Times New Roman" panose="02020603050405020304" pitchFamily="18" charset="0"/>
              </a:rPr>
              <a:t>L</a:t>
            </a:r>
            <a:r>
              <a:rPr lang="en-US" altLang="en-US" sz="2000" i="1" baseline="-30000" dirty="0">
                <a:cs typeface="Times New Roman" panose="02020603050405020304" pitchFamily="18" charset="0"/>
              </a:rPr>
              <a:t>2</a:t>
            </a:r>
            <a:r>
              <a:rPr lang="en-US" altLang="en-US" sz="2000" dirty="0">
                <a:cs typeface="Times New Roman" panose="02020603050405020304" pitchFamily="18" charset="0"/>
              </a:rPr>
              <a:t>.</a:t>
            </a:r>
            <a:br>
              <a:rPr lang="en-US" altLang="en-US" sz="2000" dirty="0">
                <a:cs typeface="Times New Roman" panose="02020603050405020304" pitchFamily="18" charset="0"/>
              </a:rPr>
            </a:br>
            <a:r>
              <a:rPr lang="en-US" altLang="en-US" sz="2000" dirty="0">
                <a:cs typeface="Times New Roman" panose="02020603050405020304" pitchFamily="18" charset="0"/>
              </a:rPr>
              <a:t>So </a:t>
            </a:r>
            <a:r>
              <a:rPr lang="en-US" altLang="en-US" sz="2000" dirty="0" err="1">
                <a:cs typeface="Times New Roman" panose="02020603050405020304" pitchFamily="18" charset="0"/>
              </a:rPr>
              <a:t>sánh</a:t>
            </a:r>
            <a:r>
              <a:rPr lang="en-US" altLang="en-US" sz="2000" dirty="0">
                <a:cs typeface="Times New Roman" panose="02020603050405020304" pitchFamily="18" charset="0"/>
              </a:rPr>
              <a:t> </a:t>
            </a:r>
            <a:r>
              <a:rPr lang="en-US" altLang="en-US" sz="2000" i="1" dirty="0">
                <a:cs typeface="Times New Roman" panose="02020603050405020304" pitchFamily="18" charset="0"/>
              </a:rPr>
              <a:t>min</a:t>
            </a:r>
            <a:r>
              <a:rPr lang="en-US" altLang="en-US" sz="2000" i="1" baseline="-30000" dirty="0">
                <a:cs typeface="Times New Roman" panose="02020603050405020304" pitchFamily="18" charset="0"/>
              </a:rPr>
              <a:t>1</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i="1" dirty="0">
                <a:cs typeface="Times New Roman" panose="02020603050405020304" pitchFamily="18" charset="0"/>
              </a:rPr>
              <a:t>min</a:t>
            </a:r>
            <a:r>
              <a:rPr lang="en-US" altLang="en-US" sz="2000" i="1" baseline="-30000" dirty="0">
                <a:cs typeface="Times New Roman" panose="02020603050405020304" pitchFamily="18" charset="0"/>
              </a:rPr>
              <a:t>2</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tìm</a:t>
            </a:r>
            <a:r>
              <a:rPr lang="en-US" altLang="en-US" sz="2000" dirty="0">
                <a:cs typeface="Times New Roman" panose="02020603050405020304" pitchFamily="18" charset="0"/>
              </a:rPr>
              <a:t> </a:t>
            </a:r>
            <a:r>
              <a:rPr lang="en-US" altLang="en-US" sz="2000" dirty="0" err="1">
                <a:cs typeface="Times New Roman" panose="02020603050405020304" pitchFamily="18" charset="0"/>
              </a:rPr>
              <a:t>ra</a:t>
            </a:r>
            <a:r>
              <a:rPr lang="en-US" altLang="en-US" sz="2000" dirty="0">
                <a:cs typeface="Times New Roman" panose="02020603050405020304" pitchFamily="18" charset="0"/>
              </a:rPr>
              <a:t> min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dãy</a:t>
            </a:r>
            <a:r>
              <a:rPr lang="en-US" altLang="en-US" sz="2000" dirty="0">
                <a:cs typeface="Times New Roman" panose="02020603050405020304" pitchFamily="18" charset="0"/>
              </a:rPr>
              <a:t> ban </a:t>
            </a:r>
            <a:r>
              <a:rPr lang="en-US" altLang="en-US" sz="2000" dirty="0" err="1">
                <a:cs typeface="Times New Roman" panose="02020603050405020304" pitchFamily="18" charset="0"/>
              </a:rPr>
              <a:t>đầu</a:t>
            </a:r>
            <a:r>
              <a:rPr lang="en-US" altLang="en-US" sz="2000" dirty="0">
                <a:cs typeface="Times New Roman" panose="02020603050405020304" pitchFamily="18" charset="0"/>
              </a:rPr>
              <a:t> </a:t>
            </a:r>
          </a:p>
        </p:txBody>
      </p:sp>
    </p:spTree>
    <p:extLst>
      <p:ext uri="{BB962C8B-B14F-4D97-AF65-F5344CB8AC3E}">
        <p14:creationId xmlns:p14="http://schemas.microsoft.com/office/powerpoint/2010/main" val="3939360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14</a:t>
            </a:fld>
            <a:endParaRPr lang="en-US"/>
          </a:p>
        </p:txBody>
      </p:sp>
      <p:sp>
        <p:nvSpPr>
          <p:cNvPr id="5" name="Title 4"/>
          <p:cNvSpPr>
            <a:spLocks noGrp="1"/>
          </p:cNvSpPr>
          <p:nvPr>
            <p:ph type="title"/>
          </p:nvPr>
        </p:nvSpPr>
        <p:spPr/>
        <p:txBody>
          <a:bodyPr/>
          <a:lstStyle/>
          <a:p>
            <a:r>
              <a:rPr lang="en-US" dirty="0"/>
              <a:t>1.2 </a:t>
            </a:r>
            <a:r>
              <a:rPr lang="en-US" altLang="en-US" dirty="0" err="1"/>
              <a:t>Giải</a:t>
            </a:r>
            <a:r>
              <a:rPr lang="en-US" altLang="en-US" dirty="0"/>
              <a:t> </a:t>
            </a:r>
            <a:r>
              <a:rPr lang="en-US" altLang="en-US" dirty="0" err="1"/>
              <a:t>thuật</a:t>
            </a:r>
            <a:r>
              <a:rPr lang="en-US" altLang="en-US" dirty="0"/>
              <a:t> </a:t>
            </a:r>
            <a:r>
              <a:rPr lang="en-US" altLang="en-US" dirty="0" err="1"/>
              <a:t>đệ</a:t>
            </a:r>
            <a:r>
              <a:rPr lang="en-US" altLang="en-US" dirty="0"/>
              <a:t> </a:t>
            </a:r>
            <a:r>
              <a:rPr lang="en-US" altLang="en-US" dirty="0" err="1"/>
              <a:t>quy</a:t>
            </a:r>
            <a:r>
              <a:rPr lang="en-US" altLang="en-US" dirty="0"/>
              <a:t> (recursive algorithm)</a:t>
            </a:r>
            <a:endParaRPr lang="en-US" dirty="0"/>
          </a:p>
        </p:txBody>
      </p:sp>
      <p:sp>
        <p:nvSpPr>
          <p:cNvPr id="2" name="Content Placeholder 1"/>
          <p:cNvSpPr>
            <a:spLocks noGrp="1"/>
          </p:cNvSpPr>
          <p:nvPr>
            <p:ph type="body" sz="quarter" idx="13"/>
          </p:nvPr>
        </p:nvSpPr>
        <p:spPr/>
        <p:txBody>
          <a:bodyPr>
            <a:normAutofit/>
          </a:bodyPr>
          <a:lstStyle/>
          <a:p>
            <a:pPr>
              <a:spcBef>
                <a:spcPct val="10000"/>
              </a:spcBef>
            </a:pPr>
            <a:r>
              <a:rPr lang="en-US" altLang="en-US" sz="2400" dirty="0" err="1">
                <a:cs typeface="Times New Roman" panose="02020603050405020304" pitchFamily="18" charset="0"/>
              </a:rPr>
              <a:t>Cấu</a:t>
            </a:r>
            <a:r>
              <a:rPr lang="en-US" altLang="en-US" sz="2400" dirty="0">
                <a:cs typeface="Times New Roman" panose="02020603050405020304" pitchFamily="18" charset="0"/>
              </a:rPr>
              <a:t> </a:t>
            </a:r>
            <a:r>
              <a:rPr lang="en-US" altLang="en-US" sz="2400" dirty="0" err="1">
                <a:cs typeface="Times New Roman" panose="02020603050405020304" pitchFamily="18" charset="0"/>
              </a:rPr>
              <a:t>tạo</a:t>
            </a:r>
            <a:r>
              <a:rPr lang="en-US" altLang="en-US" sz="2400" dirty="0">
                <a:cs typeface="Times New Roman" panose="02020603050405020304" pitchFamily="18" charset="0"/>
              </a:rPr>
              <a:t> </a:t>
            </a: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a:cs typeface="Times New Roman" panose="02020603050405020304" pitchFamily="18" charset="0"/>
              </a:rPr>
              <a:t>thuật</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smtClean="0">
                <a:cs typeface="Times New Roman" panose="02020603050405020304" pitchFamily="18" charset="0"/>
              </a:rPr>
              <a:t>:</a:t>
            </a:r>
            <a:endParaRPr lang="en-US" altLang="en-US" sz="2400" dirty="0">
              <a:cs typeface="Times New Roman" panose="02020603050405020304" pitchFamily="18" charset="0"/>
            </a:endParaRPr>
          </a:p>
          <a:p>
            <a:pPr lvl="1">
              <a:lnSpc>
                <a:spcPct val="110000"/>
              </a:lnSpc>
              <a:spcBef>
                <a:spcPct val="10000"/>
              </a:spcBef>
            </a:pPr>
            <a:r>
              <a:rPr lang="en-US" altLang="en-US" sz="2000" i="1" dirty="0" err="1">
                <a:cs typeface="Times New Roman" panose="02020603050405020304" pitchFamily="18" charset="0"/>
              </a:rPr>
              <a:t>Trường</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hợp</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cơ</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sở</a:t>
            </a:r>
            <a:r>
              <a:rPr lang="en-US" altLang="en-US" sz="2000" i="1" dirty="0">
                <a:cs typeface="Times New Roman" panose="02020603050405020304" pitchFamily="18" charset="0"/>
              </a:rPr>
              <a:t>:</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trường</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P</a:t>
            </a:r>
            <a:r>
              <a:rPr lang="en-US" altLang="en-US" sz="2000" baseline="-25000" dirty="0" err="1" smtClean="0">
                <a:cs typeface="Times New Roman" panose="02020603050405020304" pitchFamily="18" charset="0"/>
              </a:rPr>
              <a:t>n</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mô</a:t>
            </a:r>
            <a:r>
              <a:rPr lang="en-US" altLang="en-US" sz="2000" dirty="0">
                <a:cs typeface="Times New Roman" panose="02020603050405020304" pitchFamily="18" charset="0"/>
              </a:rPr>
              <a:t> </a:t>
            </a:r>
            <a:r>
              <a:rPr lang="en-US" altLang="en-US" sz="2000" dirty="0" err="1">
                <a:cs typeface="Times New Roman" panose="02020603050405020304" pitchFamily="18" charset="0"/>
              </a:rPr>
              <a:t>đủ</a:t>
            </a:r>
            <a:r>
              <a:rPr lang="en-US" altLang="en-US" sz="2000" dirty="0">
                <a:cs typeface="Times New Roman" panose="02020603050405020304" pitchFamily="18" charset="0"/>
              </a:rPr>
              <a:t> </a:t>
            </a:r>
            <a:r>
              <a:rPr lang="en-US" altLang="en-US" sz="2000" dirty="0" err="1">
                <a:cs typeface="Times New Roman" panose="02020603050405020304" pitchFamily="18" charset="0"/>
              </a:rPr>
              <a:t>nhỏ</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ta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thể</a:t>
            </a:r>
            <a:r>
              <a:rPr lang="en-US" altLang="en-US" sz="2000" dirty="0">
                <a:cs typeface="Times New Roman" panose="02020603050405020304" pitchFamily="18" charset="0"/>
              </a:rPr>
              <a:t> </a:t>
            </a:r>
            <a:r>
              <a:rPr lang="en-US" altLang="en-US" sz="2000" dirty="0" err="1">
                <a:cs typeface="Times New Roman" panose="02020603050405020304" pitchFamily="18" charset="0"/>
              </a:rPr>
              <a:t>giải</a:t>
            </a:r>
            <a:r>
              <a:rPr lang="en-US" altLang="en-US" sz="2000" dirty="0">
                <a:cs typeface="Times New Roman" panose="02020603050405020304" pitchFamily="18" charset="0"/>
              </a:rPr>
              <a:t> </a:t>
            </a:r>
            <a:r>
              <a:rPr lang="en-US" altLang="en-US" sz="2000" dirty="0" err="1">
                <a:cs typeface="Times New Roman" panose="02020603050405020304" pitchFamily="18" charset="0"/>
              </a:rPr>
              <a:t>trực</a:t>
            </a:r>
            <a:r>
              <a:rPr lang="en-US" altLang="en-US" sz="2000" dirty="0">
                <a:cs typeface="Times New Roman" panose="02020603050405020304" pitchFamily="18" charset="0"/>
              </a:rPr>
              <a:t> </a:t>
            </a:r>
            <a:r>
              <a:rPr lang="en-US" altLang="en-US" sz="2000" dirty="0" err="1">
                <a:cs typeface="Times New Roman" panose="02020603050405020304" pitchFamily="18" charset="0"/>
              </a:rPr>
              <a:t>tiếp</a:t>
            </a:r>
            <a:r>
              <a:rPr lang="en-US" altLang="en-US" sz="2000" dirty="0">
                <a:cs typeface="Times New Roman" panose="02020603050405020304" pitchFamily="18" charset="0"/>
              </a:rPr>
              <a:t>. </a:t>
            </a:r>
            <a:endParaRPr lang="en-US" altLang="en-US" sz="2000" dirty="0" smtClean="0">
              <a:cs typeface="Times New Roman" panose="02020603050405020304" pitchFamily="18" charset="0"/>
            </a:endParaRPr>
          </a:p>
          <a:p>
            <a:pPr lvl="2">
              <a:lnSpc>
                <a:spcPct val="110000"/>
              </a:lnSpc>
              <a:spcBef>
                <a:spcPct val="10000"/>
              </a:spcBef>
            </a:pPr>
            <a:r>
              <a:rPr lang="en-US" altLang="en-US" sz="2000" dirty="0" err="1">
                <a:cs typeface="Times New Roman" panose="02020603050405020304" pitchFamily="18" charset="0"/>
              </a:rPr>
              <a:t>Đ</a:t>
            </a:r>
            <a:r>
              <a:rPr lang="en-US" altLang="en-US" sz="2000" dirty="0" err="1" smtClean="0">
                <a:cs typeface="Times New Roman" panose="02020603050405020304" pitchFamily="18" charset="0"/>
              </a:rPr>
              <a:t>óng</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vai</a:t>
            </a:r>
            <a:r>
              <a:rPr lang="en-US" altLang="en-US" sz="2000" dirty="0">
                <a:cs typeface="Times New Roman" panose="02020603050405020304" pitchFamily="18" charset="0"/>
              </a:rPr>
              <a:t> </a:t>
            </a:r>
            <a:r>
              <a:rPr lang="en-US" altLang="en-US" sz="2000" dirty="0" err="1">
                <a:cs typeface="Times New Roman" panose="02020603050405020304" pitchFamily="18" charset="0"/>
              </a:rPr>
              <a:t>trò</a:t>
            </a:r>
            <a:r>
              <a:rPr lang="en-US" altLang="en-US" sz="2000" dirty="0">
                <a:cs typeface="Times New Roman" panose="02020603050405020304" pitchFamily="18" charset="0"/>
              </a:rPr>
              <a:t> </a:t>
            </a:r>
            <a:r>
              <a:rPr lang="en-US" altLang="en-US" sz="2000" i="1" dirty="0" err="1">
                <a:cs typeface="Times New Roman" panose="02020603050405020304" pitchFamily="18" charset="0"/>
              </a:rPr>
              <a:t>điểm</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dừng</a:t>
            </a:r>
            <a:r>
              <a:rPr lang="en-US" altLang="en-US" sz="2000" i="1"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quá</a:t>
            </a:r>
            <a:r>
              <a:rPr lang="en-US" altLang="en-US" sz="2000" dirty="0">
                <a:cs typeface="Times New Roman" panose="02020603050405020304" pitchFamily="18" charset="0"/>
              </a:rPr>
              <a:t> </a:t>
            </a:r>
            <a:r>
              <a:rPr lang="en-US" altLang="en-US" sz="2000" dirty="0" err="1">
                <a:cs typeface="Times New Roman" panose="02020603050405020304" pitchFamily="18" charset="0"/>
              </a:rPr>
              <a:t>trình</a:t>
            </a:r>
            <a:r>
              <a:rPr lang="en-US" altLang="en-US" sz="2000" dirty="0">
                <a:cs typeface="Times New Roman" panose="02020603050405020304" pitchFamily="18" charset="0"/>
              </a:rPr>
              <a:t> </a:t>
            </a:r>
            <a:r>
              <a:rPr lang="en-US" altLang="en-US" sz="2000" dirty="0" err="1">
                <a:cs typeface="Times New Roman" panose="02020603050405020304" pitchFamily="18" charset="0"/>
              </a:rPr>
              <a:t>suy</a:t>
            </a:r>
            <a:r>
              <a:rPr lang="en-US" altLang="en-US" sz="2000" dirty="0">
                <a:cs typeface="Times New Roman" panose="02020603050405020304" pitchFamily="18" charset="0"/>
              </a:rPr>
              <a:t> </a:t>
            </a:r>
            <a:r>
              <a:rPr lang="en-US" altLang="en-US" sz="2000" dirty="0" err="1">
                <a:cs typeface="Times New Roman" panose="02020603050405020304" pitchFamily="18" charset="0"/>
              </a:rPr>
              <a:t>diễn</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cũng</a:t>
            </a:r>
            <a:r>
              <a:rPr lang="en-US" altLang="en-US" sz="2000" dirty="0">
                <a:cs typeface="Times New Roman" panose="02020603050405020304" pitchFamily="18" charset="0"/>
              </a:rPr>
              <a:t> </a:t>
            </a:r>
            <a:r>
              <a:rPr lang="en-US" altLang="en-US" sz="2000" dirty="0" err="1">
                <a:cs typeface="Times New Roman" panose="02020603050405020304" pitchFamily="18" charset="0"/>
              </a:rPr>
              <a:t>quyết</a:t>
            </a:r>
            <a:r>
              <a:rPr lang="en-US" altLang="en-US" sz="2000" dirty="0">
                <a:cs typeface="Times New Roman" panose="02020603050405020304" pitchFamily="18" charset="0"/>
              </a:rPr>
              <a:t> </a:t>
            </a:r>
            <a:r>
              <a:rPr lang="en-US" altLang="en-US" sz="2000" dirty="0" err="1">
                <a:cs typeface="Times New Roman" panose="02020603050405020304" pitchFamily="18" charset="0"/>
              </a:rPr>
              <a:t>định</a:t>
            </a:r>
            <a:r>
              <a:rPr lang="en-US" altLang="en-US" sz="2000" dirty="0">
                <a:cs typeface="Times New Roman" panose="02020603050405020304" pitchFamily="18" charset="0"/>
              </a:rPr>
              <a:t> </a:t>
            </a:r>
            <a:r>
              <a:rPr lang="en-US" altLang="en-US" sz="2000" dirty="0" err="1">
                <a:cs typeface="Times New Roman" panose="02020603050405020304" pitchFamily="18" charset="0"/>
              </a:rPr>
              <a:t>tính</a:t>
            </a:r>
            <a:r>
              <a:rPr lang="en-US" altLang="en-US" sz="2000" dirty="0">
                <a:cs typeface="Times New Roman" panose="02020603050405020304" pitchFamily="18" charset="0"/>
              </a:rPr>
              <a:t> </a:t>
            </a:r>
            <a:r>
              <a:rPr lang="en-US" altLang="en-US" sz="2000" dirty="0" err="1">
                <a:cs typeface="Times New Roman" panose="02020603050405020304" pitchFamily="18" charset="0"/>
              </a:rPr>
              <a:t>dừng</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giải</a:t>
            </a:r>
            <a:r>
              <a:rPr lang="en-US" altLang="en-US" sz="2000" dirty="0">
                <a:cs typeface="Times New Roman" panose="02020603050405020304" pitchFamily="18" charset="0"/>
              </a:rPr>
              <a:t> </a:t>
            </a:r>
            <a:r>
              <a:rPr lang="en-US" altLang="en-US" sz="2000" dirty="0" err="1">
                <a:cs typeface="Times New Roman" panose="02020603050405020304" pitchFamily="18" charset="0"/>
              </a:rPr>
              <a:t>thuật</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p>
          <a:p>
            <a:pPr lvl="1">
              <a:lnSpc>
                <a:spcPct val="110000"/>
              </a:lnSpc>
              <a:spcBef>
                <a:spcPct val="10000"/>
              </a:spcBef>
            </a:pPr>
            <a:r>
              <a:rPr lang="en-US" altLang="en-US" sz="2000" i="1" dirty="0" err="1">
                <a:cs typeface="Times New Roman" panose="02020603050405020304" pitchFamily="18" charset="0"/>
              </a:rPr>
              <a:t>Trường</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hợp</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đệ</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quy</a:t>
            </a:r>
            <a:r>
              <a:rPr lang="en-US" altLang="en-US" sz="2000" i="1" dirty="0">
                <a:cs typeface="Times New Roman" panose="02020603050405020304" pitchFamily="18" charset="0"/>
              </a:rPr>
              <a:t>:</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trường</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khái</a:t>
            </a:r>
            <a:r>
              <a:rPr lang="en-US" altLang="en-US" sz="2000" dirty="0">
                <a:cs typeface="Times New Roman" panose="02020603050405020304" pitchFamily="18" charset="0"/>
              </a:rPr>
              <a:t> </a:t>
            </a:r>
            <a:r>
              <a:rPr lang="en-US" altLang="en-US" sz="2000" dirty="0" err="1">
                <a:cs typeface="Times New Roman" panose="02020603050405020304" pitchFamily="18" charset="0"/>
              </a:rPr>
              <a:t>quát</a:t>
            </a:r>
            <a:r>
              <a:rPr lang="en-US" altLang="en-US" sz="2000" dirty="0">
                <a:cs typeface="Times New Roman" panose="02020603050405020304" pitchFamily="18" charset="0"/>
              </a:rPr>
              <a:t> </a:t>
            </a:r>
            <a:r>
              <a:rPr lang="en-US" altLang="en-US" sz="2000" dirty="0" err="1">
                <a:cs typeface="Times New Roman" panose="02020603050405020304" pitchFamily="18" charset="0"/>
              </a:rPr>
              <a:t>chứa</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a:cs typeface="Times New Roman" panose="02020603050405020304" pitchFamily="18" charset="0"/>
              </a:rPr>
              <a:t>chế</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a:t>
            </a:r>
          </a:p>
          <a:p>
            <a:pPr lvl="2">
              <a:lnSpc>
                <a:spcPct val="110000"/>
              </a:lnSpc>
              <a:spcBef>
                <a:spcPct val="10000"/>
              </a:spcBef>
            </a:pPr>
            <a:r>
              <a:rPr lang="en-US" altLang="en-US" sz="2000" dirty="0" err="1" smtClean="0">
                <a:cs typeface="Times New Roman" panose="02020603050405020304" pitchFamily="18" charset="0"/>
              </a:rPr>
              <a:t>Cơ</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chế</a:t>
            </a:r>
            <a:r>
              <a:rPr lang="en-US" altLang="en-US" sz="2000" dirty="0">
                <a:cs typeface="Times New Roman" panose="02020603050405020304" pitchFamily="18" charset="0"/>
              </a:rPr>
              <a:t> </a:t>
            </a:r>
            <a:r>
              <a:rPr lang="en-US" altLang="en-US" sz="2000" dirty="0" err="1">
                <a:cs typeface="Times New Roman" panose="02020603050405020304" pitchFamily="18" charset="0"/>
              </a:rPr>
              <a:t>này</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áp</a:t>
            </a:r>
            <a:r>
              <a:rPr lang="en-US" altLang="en-US" sz="2000" dirty="0">
                <a:cs typeface="Times New Roman" panose="02020603050405020304" pitchFamily="18" charset="0"/>
              </a:rPr>
              <a:t> </a:t>
            </a:r>
            <a:r>
              <a:rPr lang="en-US" altLang="en-US" sz="2000" dirty="0" err="1">
                <a:cs typeface="Times New Roman" panose="02020603050405020304" pitchFamily="18" charset="0"/>
              </a:rPr>
              <a:t>dụng</a:t>
            </a:r>
            <a:r>
              <a:rPr lang="en-US" altLang="en-US" sz="2000" dirty="0">
                <a:cs typeface="Times New Roman" panose="02020603050405020304" pitchFamily="18" charset="0"/>
              </a:rPr>
              <a:t> </a:t>
            </a:r>
            <a:r>
              <a:rPr lang="en-US" altLang="en-US" sz="2000" dirty="0" err="1">
                <a:cs typeface="Times New Roman" panose="02020603050405020304" pitchFamily="18" charset="0"/>
              </a:rPr>
              <a:t>nhiều</a:t>
            </a:r>
            <a:r>
              <a:rPr lang="en-US" altLang="en-US" sz="2000" dirty="0">
                <a:cs typeface="Times New Roman" panose="02020603050405020304" pitchFamily="18" charset="0"/>
              </a:rPr>
              <a:t> </a:t>
            </a:r>
            <a:r>
              <a:rPr lang="en-US" altLang="en-US" sz="2000" dirty="0" err="1">
                <a:cs typeface="Times New Roman" panose="02020603050405020304" pitchFamily="18" charset="0"/>
              </a:rPr>
              <a:t>lần</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thu</a:t>
            </a:r>
            <a:r>
              <a:rPr lang="en-US" altLang="en-US" sz="2000" dirty="0">
                <a:cs typeface="Times New Roman" panose="02020603050405020304" pitchFamily="18" charset="0"/>
              </a:rPr>
              <a:t> </a:t>
            </a:r>
            <a:r>
              <a:rPr lang="en-US" altLang="en-US" sz="2000" dirty="0" err="1">
                <a:cs typeface="Times New Roman" panose="02020603050405020304" pitchFamily="18" charset="0"/>
              </a:rPr>
              <a:t>nhỏ</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mô</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cần</a:t>
            </a:r>
            <a:r>
              <a:rPr lang="en-US" altLang="en-US" sz="2000" dirty="0">
                <a:cs typeface="Times New Roman" panose="02020603050405020304" pitchFamily="18" charset="0"/>
              </a:rPr>
              <a:t> </a:t>
            </a:r>
            <a:r>
              <a:rPr lang="en-US" altLang="en-US" sz="2000" dirty="0" err="1">
                <a:cs typeface="Times New Roman" panose="02020603050405020304" pitchFamily="18" charset="0"/>
              </a:rPr>
              <a:t>giải</a:t>
            </a:r>
            <a:r>
              <a:rPr lang="en-US" altLang="en-US" sz="2000" dirty="0">
                <a:cs typeface="Times New Roman" panose="02020603050405020304" pitchFamily="18" charset="0"/>
              </a:rPr>
              <a:t>, </a:t>
            </a:r>
            <a:r>
              <a:rPr lang="en-US" altLang="en-US" sz="2000" dirty="0" err="1">
                <a:cs typeface="Times New Roman" panose="02020603050405020304" pitchFamily="18" charset="0"/>
              </a:rPr>
              <a:t>từ</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ban </a:t>
            </a:r>
            <a:r>
              <a:rPr lang="en-US" altLang="en-US" sz="2000" dirty="0" err="1">
                <a:cs typeface="Times New Roman" panose="02020603050405020304" pitchFamily="18" charset="0"/>
              </a:rPr>
              <a:t>đầu</a:t>
            </a:r>
            <a:r>
              <a:rPr lang="en-US" altLang="en-US" sz="2000" dirty="0">
                <a:cs typeface="Times New Roman" panose="02020603050405020304" pitchFamily="18" charset="0"/>
              </a:rPr>
              <a:t> </a:t>
            </a:r>
            <a:r>
              <a:rPr lang="en-US" altLang="en-US" sz="2000" dirty="0" err="1">
                <a:cs typeface="Times New Roman" panose="02020603050405020304" pitchFamily="18" charset="0"/>
              </a:rPr>
              <a:t>cho</a:t>
            </a:r>
            <a:r>
              <a:rPr lang="en-US" altLang="en-US" sz="2000" dirty="0">
                <a:cs typeface="Times New Roman" panose="02020603050405020304" pitchFamily="18" charset="0"/>
              </a:rPr>
              <a:t> </a:t>
            </a:r>
            <a:r>
              <a:rPr lang="en-US" altLang="en-US" sz="2000" dirty="0" err="1">
                <a:cs typeface="Times New Roman" panose="02020603050405020304" pitchFamily="18" charset="0"/>
              </a:rPr>
              <a:t>đến</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nhỏ</a:t>
            </a:r>
            <a:r>
              <a:rPr lang="en-US" altLang="en-US" sz="2000" dirty="0">
                <a:cs typeface="Times New Roman" panose="02020603050405020304" pitchFamily="18" charset="0"/>
              </a:rPr>
              <a:t> </a:t>
            </a:r>
            <a:r>
              <a:rPr lang="en-US" altLang="en-US" sz="2000" dirty="0" err="1">
                <a:cs typeface="Times New Roman" panose="02020603050405020304" pitchFamily="18" charset="0"/>
              </a:rPr>
              <a:t>nhất</a:t>
            </a:r>
            <a:r>
              <a:rPr lang="en-US" altLang="en-US" sz="2000" dirty="0">
                <a:cs typeface="Times New Roman" panose="02020603050405020304" pitchFamily="18" charset="0"/>
              </a:rPr>
              <a:t> ở </a:t>
            </a:r>
            <a:r>
              <a:rPr lang="en-US" altLang="en-US" sz="2000" dirty="0" err="1">
                <a:cs typeface="Times New Roman" panose="02020603050405020304" pitchFamily="18" charset="0"/>
              </a:rPr>
              <a:t>trường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a:cs typeface="Times New Roman" panose="02020603050405020304" pitchFamily="18" charset="0"/>
              </a:rPr>
              <a:t>sở</a:t>
            </a:r>
            <a:r>
              <a:rPr lang="en-US" altLang="en-US" sz="2000" dirty="0">
                <a:cs typeface="Times New Roman" panose="02020603050405020304" pitchFamily="18" charset="0"/>
              </a:rPr>
              <a:t>. </a:t>
            </a:r>
          </a:p>
          <a:p>
            <a:pPr lvl="1">
              <a:lnSpc>
                <a:spcPct val="110000"/>
              </a:lnSpc>
              <a:spcBef>
                <a:spcPct val="10000"/>
              </a:spcBef>
            </a:pPr>
            <a:r>
              <a:rPr lang="en-US" altLang="en-US" sz="2000" dirty="0">
                <a:cs typeface="Times New Roman" panose="02020603050405020304" pitchFamily="18" charset="0"/>
              </a:rPr>
              <a:t>Hai </a:t>
            </a:r>
            <a:r>
              <a:rPr lang="en-US" altLang="en-US" sz="2000" dirty="0" err="1">
                <a:cs typeface="Times New Roman" panose="02020603050405020304" pitchFamily="18" charset="0"/>
              </a:rPr>
              <a:t>trường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trên</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mối</a:t>
            </a:r>
            <a:r>
              <a:rPr lang="en-US" altLang="en-US" sz="2000" dirty="0">
                <a:cs typeface="Times New Roman" panose="02020603050405020304" pitchFamily="18" charset="0"/>
              </a:rPr>
              <a:t> </a:t>
            </a:r>
            <a:r>
              <a:rPr lang="en-US" altLang="en-US" sz="2000" dirty="0" err="1">
                <a:cs typeface="Times New Roman" panose="02020603050405020304" pitchFamily="18" charset="0"/>
              </a:rPr>
              <a:t>quan</a:t>
            </a:r>
            <a:r>
              <a:rPr lang="en-US" altLang="en-US" sz="2000" dirty="0">
                <a:cs typeface="Times New Roman" panose="02020603050405020304" pitchFamily="18" charset="0"/>
              </a:rPr>
              <a:t> </a:t>
            </a:r>
            <a:r>
              <a:rPr lang="en-US" altLang="en-US" sz="2000" dirty="0" err="1">
                <a:cs typeface="Times New Roman" panose="02020603050405020304" pitchFamily="18" charset="0"/>
              </a:rPr>
              <a:t>hệ</a:t>
            </a:r>
            <a:r>
              <a:rPr lang="en-US" altLang="en-US" sz="2000" dirty="0">
                <a:cs typeface="Times New Roman" panose="02020603050405020304" pitchFamily="18" charset="0"/>
              </a:rPr>
              <a:t> </a:t>
            </a:r>
            <a:r>
              <a:rPr lang="en-US" altLang="en-US" sz="2000" dirty="0" err="1">
                <a:cs typeface="Times New Roman" panose="02020603050405020304" pitchFamily="18" charset="0"/>
              </a:rPr>
              <a:t>khăng</a:t>
            </a:r>
            <a:r>
              <a:rPr lang="en-US" altLang="en-US" sz="2000" dirty="0">
                <a:cs typeface="Times New Roman" panose="02020603050405020304" pitchFamily="18" charset="0"/>
              </a:rPr>
              <a:t> </a:t>
            </a:r>
            <a:r>
              <a:rPr lang="en-US" altLang="en-US" sz="2000" dirty="0" err="1">
                <a:cs typeface="Times New Roman" panose="02020603050405020304" pitchFamily="18" charset="0"/>
              </a:rPr>
              <a:t>khít</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tạo</a:t>
            </a:r>
            <a:r>
              <a:rPr lang="en-US" altLang="en-US" sz="2000" dirty="0">
                <a:cs typeface="Times New Roman" panose="02020603050405020304" pitchFamily="18" charset="0"/>
              </a:rPr>
              <a:t> </a:t>
            </a:r>
            <a:r>
              <a:rPr lang="en-US" altLang="en-US" sz="2000" dirty="0" err="1">
                <a:cs typeface="Times New Roman" panose="02020603050405020304" pitchFamily="18" charset="0"/>
              </a:rPr>
              <a:t>thành</a:t>
            </a:r>
            <a:r>
              <a:rPr lang="en-US" altLang="en-US" sz="2000" dirty="0">
                <a:cs typeface="Times New Roman" panose="02020603050405020304" pitchFamily="18" charset="0"/>
              </a:rPr>
              <a:t> </a:t>
            </a:r>
            <a:r>
              <a:rPr lang="en-US" altLang="en-US" sz="2000" dirty="0" err="1">
                <a:cs typeface="Times New Roman" panose="02020603050405020304" pitchFamily="18" charset="0"/>
              </a:rPr>
              <a:t>giải</a:t>
            </a:r>
            <a:r>
              <a:rPr lang="en-US" altLang="en-US" sz="2000" dirty="0">
                <a:cs typeface="Times New Roman" panose="02020603050405020304" pitchFamily="18" charset="0"/>
              </a:rPr>
              <a:t> </a:t>
            </a:r>
            <a:r>
              <a:rPr lang="en-US" altLang="en-US" sz="2000" dirty="0" err="1">
                <a:cs typeface="Times New Roman" panose="02020603050405020304" pitchFamily="18" charset="0"/>
              </a:rPr>
              <a:t>thuật</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đảm</a:t>
            </a:r>
            <a:r>
              <a:rPr lang="en-US" altLang="en-US" sz="2000" dirty="0">
                <a:cs typeface="Times New Roman" panose="02020603050405020304" pitchFamily="18" charset="0"/>
              </a:rPr>
              <a:t> </a:t>
            </a:r>
            <a:r>
              <a:rPr lang="en-US" altLang="en-US" sz="2000" dirty="0" err="1">
                <a:cs typeface="Times New Roman" panose="02020603050405020304" pitchFamily="18" charset="0"/>
              </a:rPr>
              <a:t>bảo</a:t>
            </a:r>
            <a:r>
              <a:rPr lang="en-US" altLang="en-US" sz="2000" dirty="0">
                <a:cs typeface="Times New Roman" panose="02020603050405020304" pitchFamily="18" charset="0"/>
              </a:rPr>
              <a:t> </a:t>
            </a:r>
            <a:r>
              <a:rPr lang="en-US" altLang="en-US" sz="2000" dirty="0" err="1">
                <a:cs typeface="Times New Roman" panose="02020603050405020304" pitchFamily="18" charset="0"/>
              </a:rPr>
              <a:t>giải</a:t>
            </a:r>
            <a:r>
              <a:rPr lang="en-US" altLang="en-US" sz="2000" dirty="0">
                <a:cs typeface="Times New Roman" panose="02020603050405020304" pitchFamily="18" charset="0"/>
              </a:rPr>
              <a:t> </a:t>
            </a:r>
            <a:r>
              <a:rPr lang="en-US" altLang="en-US" sz="2000" dirty="0" err="1">
                <a:cs typeface="Times New Roman" panose="02020603050405020304" pitchFamily="18" charset="0"/>
              </a:rPr>
              <a:t>thuật</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thể</a:t>
            </a:r>
            <a:r>
              <a:rPr lang="en-US" altLang="en-US" sz="2000" dirty="0">
                <a:cs typeface="Times New Roman" panose="02020603050405020304" pitchFamily="18" charset="0"/>
              </a:rPr>
              <a:t> </a:t>
            </a:r>
            <a:r>
              <a:rPr lang="en-US" altLang="en-US" sz="2000" dirty="0" err="1">
                <a:cs typeface="Times New Roman" panose="02020603050405020304" pitchFamily="18" charset="0"/>
              </a:rPr>
              <a:t>giải</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điểm</a:t>
            </a:r>
            <a:r>
              <a:rPr lang="en-US" altLang="en-US" sz="2000" dirty="0">
                <a:cs typeface="Times New Roman" panose="02020603050405020304" pitchFamily="18" charset="0"/>
              </a:rPr>
              <a:t> </a:t>
            </a:r>
            <a:r>
              <a:rPr lang="en-US" altLang="en-US" sz="2000" dirty="0" err="1">
                <a:cs typeface="Times New Roman" panose="02020603050405020304" pitchFamily="18" charset="0"/>
              </a:rPr>
              <a:t>dừng</a:t>
            </a:r>
            <a:r>
              <a:rPr lang="en-US" altLang="en-US" sz="2000" dirty="0">
                <a:cs typeface="Times New Roman" panose="02020603050405020304" pitchFamily="18" charset="0"/>
              </a:rPr>
              <a:t>. </a:t>
            </a:r>
          </a:p>
          <a:p>
            <a:endParaRPr lang="en-US" sz="2400" dirty="0"/>
          </a:p>
        </p:txBody>
      </p:sp>
      <p:sp>
        <p:nvSpPr>
          <p:cNvPr id="6" name="Rectangle 5"/>
          <p:cNvSpPr/>
          <p:nvPr/>
        </p:nvSpPr>
        <p:spPr>
          <a:xfrm>
            <a:off x="325272" y="5457877"/>
            <a:ext cx="8382000" cy="674031"/>
          </a:xfrm>
          <a:prstGeom prst="rect">
            <a:avLst/>
          </a:prstGeom>
        </p:spPr>
        <p:txBody>
          <a:bodyPr wrap="square">
            <a:spAutoFit/>
          </a:bodyPr>
          <a:lstStyle/>
          <a:p>
            <a:pPr lvl="2">
              <a:lnSpc>
                <a:spcPct val="105000"/>
              </a:lnSpc>
              <a:spcBef>
                <a:spcPct val="15000"/>
              </a:spcBef>
            </a:pPr>
            <a:r>
              <a:rPr lang="en-US" altLang="en-US" dirty="0" err="1" smtClean="0">
                <a:solidFill>
                  <a:srgbClr val="FF0000"/>
                </a:solidFill>
                <a:cs typeface="Times New Roman" panose="02020603050405020304" pitchFamily="18" charset="0"/>
              </a:rPr>
              <a:t>Lưu</a:t>
            </a:r>
            <a:r>
              <a:rPr lang="en-US" altLang="en-US" dirty="0" smtClean="0">
                <a:solidFill>
                  <a:srgbClr val="FF0000"/>
                </a:solidFill>
                <a:cs typeface="Times New Roman" panose="02020603050405020304" pitchFamily="18" charset="0"/>
              </a:rPr>
              <a:t> ý: </a:t>
            </a:r>
            <a:r>
              <a:rPr lang="en-US" altLang="en-US" dirty="0" err="1" smtClean="0">
                <a:solidFill>
                  <a:srgbClr val="FF0000"/>
                </a:solidFill>
                <a:cs typeface="Times New Roman" panose="02020603050405020304" pitchFamily="18" charset="0"/>
              </a:rPr>
              <a:t>Trong</a:t>
            </a:r>
            <a:r>
              <a:rPr lang="en-US" altLang="en-US" dirty="0" smtClean="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trường</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hợp</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không</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có</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trường</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hợp</a:t>
            </a:r>
            <a:r>
              <a:rPr lang="en-US" altLang="en-US" dirty="0">
                <a:solidFill>
                  <a:srgbClr val="FF0000"/>
                </a:solidFill>
                <a:cs typeface="Times New Roman" panose="02020603050405020304" pitchFamily="18" charset="0"/>
              </a:rPr>
              <a:t> </a:t>
            </a:r>
            <a:r>
              <a:rPr lang="en-US" altLang="en-US" dirty="0" err="1" smtClean="0">
                <a:solidFill>
                  <a:srgbClr val="FF0000"/>
                </a:solidFill>
                <a:cs typeface="Times New Roman" panose="02020603050405020304" pitchFamily="18" charset="0"/>
              </a:rPr>
              <a:t>cơ</a:t>
            </a:r>
            <a:r>
              <a:rPr lang="en-US" altLang="en-US" dirty="0" smtClean="0">
                <a:solidFill>
                  <a:srgbClr val="FF0000"/>
                </a:solidFill>
                <a:cs typeface="Times New Roman" panose="02020603050405020304" pitchFamily="18" charset="0"/>
              </a:rPr>
              <a:t> </a:t>
            </a:r>
            <a:r>
              <a:rPr lang="en-US" altLang="en-US" dirty="0" err="1" smtClean="0">
                <a:solidFill>
                  <a:srgbClr val="FF0000"/>
                </a:solidFill>
                <a:cs typeface="Times New Roman" panose="02020603050405020304" pitchFamily="18" charset="0"/>
              </a:rPr>
              <a:t>sở</a:t>
            </a:r>
            <a:r>
              <a:rPr lang="en-US" altLang="en-US" dirty="0" smtClean="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giải</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thuật</a:t>
            </a:r>
            <a:r>
              <a:rPr lang="en-US" altLang="en-US" dirty="0">
                <a:solidFill>
                  <a:srgbClr val="FF0000"/>
                </a:solidFill>
                <a:cs typeface="Times New Roman" panose="02020603050405020304" pitchFamily="18" charset="0"/>
              </a:rPr>
              <a:t> </a:t>
            </a:r>
            <a:r>
              <a:rPr lang="en-US" altLang="en-US" dirty="0" err="1" smtClean="0">
                <a:solidFill>
                  <a:srgbClr val="FF0000"/>
                </a:solidFill>
                <a:cs typeface="Times New Roman" panose="02020603050405020304" pitchFamily="18" charset="0"/>
              </a:rPr>
              <a:t>rơi</a:t>
            </a:r>
            <a:r>
              <a:rPr lang="en-US" altLang="en-US" dirty="0" smtClean="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vào</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vòng</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lặp</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vô</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hạn</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không</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có</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tính</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dừng</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và</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bài</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toán</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không</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thể</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giải</a:t>
            </a:r>
            <a:r>
              <a:rPr lang="en-US" altLang="en-US" dirty="0">
                <a:solidFill>
                  <a:srgbClr val="FF0000"/>
                </a:solidFill>
                <a:cs typeface="Times New Roman" panose="02020603050405020304" pitchFamily="18" charset="0"/>
              </a:rPr>
              <a:t> </a:t>
            </a:r>
            <a:r>
              <a:rPr lang="en-US" altLang="en-US" dirty="0" err="1">
                <a:solidFill>
                  <a:srgbClr val="FF0000"/>
                </a:solidFill>
                <a:cs typeface="Times New Roman" panose="02020603050405020304" pitchFamily="18" charset="0"/>
              </a:rPr>
              <a:t>được</a:t>
            </a:r>
            <a:r>
              <a:rPr lang="en-US" altLang="en-US" dirty="0">
                <a:solidFill>
                  <a:srgbClr val="FF0000"/>
                </a:solidFill>
                <a:cs typeface="Times New Roman" panose="02020603050405020304" pitchFamily="18" charset="0"/>
              </a:rPr>
              <a:t>. </a:t>
            </a:r>
          </a:p>
        </p:txBody>
      </p:sp>
    </p:spTree>
    <p:extLst>
      <p:ext uri="{BB962C8B-B14F-4D97-AF65-F5344CB8AC3E}">
        <p14:creationId xmlns:p14="http://schemas.microsoft.com/office/powerpoint/2010/main" val="1352944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dirty="0" smtClean="0"/>
              <a:t>ET2100 </a:t>
            </a:r>
            <a:r>
              <a:rPr lang="en-US" i="1" dirty="0" smtClean="0"/>
              <a:t>- </a:t>
            </a:r>
            <a:r>
              <a:rPr lang="en-US" b="1" i="1" dirty="0" smtClean="0"/>
              <a:t>Data Structures and Algorithms</a:t>
            </a:r>
            <a:endParaRPr lang="en-US" dirty="0" smtClean="0"/>
          </a:p>
          <a:p>
            <a:pPr algn="r"/>
            <a:r>
              <a:rPr lang="en-US" dirty="0"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15</a:t>
            </a:fld>
            <a:endParaRPr lang="en-US"/>
          </a:p>
        </p:txBody>
      </p:sp>
      <p:sp>
        <p:nvSpPr>
          <p:cNvPr id="5" name="Title 4"/>
          <p:cNvSpPr>
            <a:spLocks noGrp="1"/>
          </p:cNvSpPr>
          <p:nvPr>
            <p:ph type="title"/>
          </p:nvPr>
        </p:nvSpPr>
        <p:spPr/>
        <p:txBody>
          <a:bodyPr/>
          <a:lstStyle/>
          <a:p>
            <a:r>
              <a:rPr lang="en-US" dirty="0"/>
              <a:t>1.2 </a:t>
            </a:r>
            <a:r>
              <a:rPr lang="en-US" altLang="en-US" dirty="0" err="1"/>
              <a:t>Giải</a:t>
            </a:r>
            <a:r>
              <a:rPr lang="en-US" altLang="en-US" dirty="0"/>
              <a:t> </a:t>
            </a:r>
            <a:r>
              <a:rPr lang="en-US" altLang="en-US" dirty="0" err="1"/>
              <a:t>thuật</a:t>
            </a:r>
            <a:r>
              <a:rPr lang="en-US" altLang="en-US" dirty="0"/>
              <a:t> </a:t>
            </a:r>
            <a:r>
              <a:rPr lang="en-US" altLang="en-US" dirty="0" err="1"/>
              <a:t>đệ</a:t>
            </a:r>
            <a:r>
              <a:rPr lang="en-US" altLang="en-US" dirty="0"/>
              <a:t> </a:t>
            </a:r>
            <a:r>
              <a:rPr lang="en-US" altLang="en-US" dirty="0" err="1"/>
              <a:t>quy</a:t>
            </a:r>
            <a:r>
              <a:rPr lang="en-US" altLang="en-US" dirty="0"/>
              <a:t> (recursive algorithm)</a:t>
            </a:r>
            <a:endParaRPr lang="en-US" dirty="0"/>
          </a:p>
        </p:txBody>
      </p:sp>
      <p:sp>
        <p:nvSpPr>
          <p:cNvPr id="2" name="Content Placeholder 1"/>
          <p:cNvSpPr>
            <a:spLocks noGrp="1"/>
          </p:cNvSpPr>
          <p:nvPr>
            <p:ph type="body" sz="quarter" idx="13"/>
          </p:nvPr>
        </p:nvSpPr>
        <p:spPr/>
        <p:txBody>
          <a:bodyPr/>
          <a:lstStyle/>
          <a:p>
            <a:pPr>
              <a:spcBef>
                <a:spcPct val="10000"/>
              </a:spcBef>
            </a:pPr>
            <a:r>
              <a:rPr lang="en-US" altLang="en-US" sz="2400" dirty="0" err="1">
                <a:cs typeface="Times New Roman" panose="02020603050405020304" pitchFamily="18" charset="0"/>
              </a:rPr>
              <a:t>Hoạt</a:t>
            </a:r>
            <a:r>
              <a:rPr lang="en-US" altLang="en-US" sz="2400" dirty="0">
                <a:cs typeface="Times New Roman" panose="02020603050405020304" pitchFamily="18" charset="0"/>
              </a:rPr>
              <a:t> </a:t>
            </a:r>
            <a:r>
              <a:rPr lang="en-US" altLang="en-US" sz="2400" dirty="0" err="1">
                <a:cs typeface="Times New Roman" panose="02020603050405020304" pitchFamily="18" charset="0"/>
              </a:rPr>
              <a:t>động</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thuật</a:t>
            </a:r>
            <a:r>
              <a:rPr lang="en-US" altLang="en-US" sz="2400" dirty="0" smtClean="0">
                <a:cs typeface="Times New Roman" panose="02020603050405020304" pitchFamily="18" charset="0"/>
              </a:rPr>
              <a:t>:</a:t>
            </a:r>
            <a:endParaRPr lang="en-US" altLang="en-US" sz="2400" dirty="0">
              <a:cs typeface="Times New Roman" panose="02020603050405020304" pitchFamily="18" charset="0"/>
            </a:endParaRPr>
          </a:p>
          <a:p>
            <a:pPr lvl="1">
              <a:spcBef>
                <a:spcPct val="10000"/>
              </a:spcBef>
            </a:pPr>
            <a:r>
              <a:rPr lang="en-US" altLang="en-US" sz="2000" i="1" dirty="0" err="1">
                <a:cs typeface="Times New Roman" panose="02020603050405020304" pitchFamily="18" charset="0"/>
              </a:rPr>
              <a:t>Quá</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trình</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suy</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diễn</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đệ</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quy</a:t>
            </a:r>
            <a:r>
              <a:rPr lang="en-US" altLang="en-US" sz="2000" i="1" dirty="0">
                <a:cs typeface="Times New Roman" panose="02020603050405020304" pitchFamily="18" charset="0"/>
              </a:rPr>
              <a:t>:</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quá</a:t>
            </a:r>
            <a:r>
              <a:rPr lang="en-US" altLang="en-US" sz="2000" dirty="0">
                <a:cs typeface="Times New Roman" panose="02020603050405020304" pitchFamily="18" charset="0"/>
              </a:rPr>
              <a:t> </a:t>
            </a:r>
            <a:r>
              <a:rPr lang="en-US" altLang="en-US" sz="2000" dirty="0" err="1">
                <a:cs typeface="Times New Roman" panose="02020603050405020304" pitchFamily="18" charset="0"/>
              </a:rPr>
              <a:t>trình</a:t>
            </a:r>
            <a:r>
              <a:rPr lang="en-US" altLang="en-US" sz="2000" dirty="0">
                <a:cs typeface="Times New Roman" panose="02020603050405020304" pitchFamily="18" charset="0"/>
              </a:rPr>
              <a:t> </a:t>
            </a:r>
            <a:r>
              <a:rPr lang="en-US" altLang="en-US" sz="2000" dirty="0" err="1">
                <a:cs typeface="Times New Roman" panose="02020603050405020304" pitchFamily="18" charset="0"/>
              </a:rPr>
              <a:t>thu</a:t>
            </a:r>
            <a:r>
              <a:rPr lang="en-US" altLang="en-US" sz="2000" dirty="0">
                <a:cs typeface="Times New Roman" panose="02020603050405020304" pitchFamily="18" charset="0"/>
              </a:rPr>
              <a:t> </a:t>
            </a:r>
            <a:r>
              <a:rPr lang="en-US" altLang="en-US" sz="2000" dirty="0" err="1">
                <a:cs typeface="Times New Roman" panose="02020603050405020304" pitchFamily="18" charset="0"/>
              </a:rPr>
              <a:t>nhỏ</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ban </a:t>
            </a:r>
            <a:r>
              <a:rPr lang="en-US" altLang="en-US" sz="2000" dirty="0" err="1">
                <a:cs typeface="Times New Roman" panose="02020603050405020304" pitchFamily="18" charset="0"/>
              </a:rPr>
              <a:t>đầu</a:t>
            </a:r>
            <a:r>
              <a:rPr lang="en-US" altLang="en-US" sz="2000" dirty="0">
                <a:cs typeface="Times New Roman" panose="02020603050405020304" pitchFamily="18" charset="0"/>
              </a:rPr>
              <a:t> </a:t>
            </a:r>
            <a:r>
              <a:rPr lang="en-US" altLang="en-US" sz="2000" dirty="0" err="1">
                <a:cs typeface="Times New Roman" panose="02020603050405020304" pitchFamily="18" charset="0"/>
              </a:rPr>
              <a:t>về</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trung</a:t>
            </a:r>
            <a:r>
              <a:rPr lang="en-US" altLang="en-US" sz="2000" dirty="0">
                <a:cs typeface="Times New Roman" panose="02020603050405020304" pitchFamily="18" charset="0"/>
              </a:rPr>
              <a:t> </a:t>
            </a:r>
            <a:r>
              <a:rPr lang="en-US" altLang="en-US" sz="2000" dirty="0" err="1">
                <a:cs typeface="Times New Roman" panose="02020603050405020304" pitchFamily="18" charset="0"/>
              </a:rPr>
              <a:t>gian</a:t>
            </a:r>
            <a:r>
              <a:rPr lang="en-US" altLang="en-US" sz="2000" dirty="0">
                <a:cs typeface="Times New Roman" panose="02020603050405020304" pitchFamily="18" charset="0"/>
              </a:rPr>
              <a:t> </a:t>
            </a:r>
            <a:r>
              <a:rPr lang="en-US" altLang="en-US" sz="2000" dirty="0" err="1">
                <a:cs typeface="Times New Roman" panose="02020603050405020304" pitchFamily="18" charset="0"/>
              </a:rPr>
              <a:t>tương</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nhưng</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mô</a:t>
            </a:r>
            <a:r>
              <a:rPr lang="en-US" altLang="en-US" sz="2000" dirty="0">
                <a:cs typeface="Times New Roman" panose="02020603050405020304" pitchFamily="18" charset="0"/>
              </a:rPr>
              <a:t> </a:t>
            </a:r>
            <a:r>
              <a:rPr lang="en-US" altLang="en-US" sz="2000" dirty="0" err="1">
                <a:cs typeface="Times New Roman" panose="02020603050405020304" pitchFamily="18" charset="0"/>
              </a:rPr>
              <a:t>giảm</a:t>
            </a:r>
            <a:r>
              <a:rPr lang="en-US" altLang="en-US" sz="2000" dirty="0">
                <a:cs typeface="Times New Roman" panose="02020603050405020304" pitchFamily="18" charset="0"/>
              </a:rPr>
              <a:t> </a:t>
            </a:r>
            <a:r>
              <a:rPr lang="en-US" altLang="en-US" sz="2000" dirty="0" err="1">
                <a:cs typeface="Times New Roman" panose="02020603050405020304" pitchFamily="18" charset="0"/>
              </a:rPr>
              <a:t>dần</a:t>
            </a:r>
            <a:r>
              <a:rPr lang="en-US" altLang="en-US" sz="2000" dirty="0">
                <a:cs typeface="Times New Roman" panose="02020603050405020304" pitchFamily="18" charset="0"/>
              </a:rPr>
              <a:t> </a:t>
            </a:r>
            <a:r>
              <a:rPr lang="en-US" altLang="en-US" sz="2000" dirty="0" err="1">
                <a:cs typeface="Times New Roman" panose="02020603050405020304" pitchFamily="18" charset="0"/>
              </a:rPr>
              <a:t>bằng</a:t>
            </a:r>
            <a:r>
              <a:rPr lang="en-US" altLang="en-US" sz="2000" dirty="0">
                <a:cs typeface="Times New Roman" panose="02020603050405020304" pitchFamily="18" charset="0"/>
              </a:rPr>
              <a:t> </a:t>
            </a:r>
            <a:r>
              <a:rPr lang="en-US" altLang="en-US" sz="2000" dirty="0" err="1">
                <a:cs typeface="Times New Roman" panose="02020603050405020304" pitchFamily="18" charset="0"/>
              </a:rPr>
              <a:t>cách</a:t>
            </a:r>
            <a:r>
              <a:rPr lang="en-US" altLang="en-US" sz="2000" dirty="0">
                <a:cs typeface="Times New Roman" panose="02020603050405020304" pitchFamily="18" charset="0"/>
              </a:rPr>
              <a:t> </a:t>
            </a:r>
            <a:r>
              <a:rPr lang="en-US" altLang="en-US" sz="2000" dirty="0" err="1">
                <a:cs typeface="Times New Roman" panose="02020603050405020304" pitchFamily="18" charset="0"/>
              </a:rPr>
              <a:t>áp</a:t>
            </a:r>
            <a:r>
              <a:rPr lang="en-US" altLang="en-US" sz="2000" dirty="0">
                <a:cs typeface="Times New Roman" panose="02020603050405020304" pitchFamily="18" charset="0"/>
              </a:rPr>
              <a:t> </a:t>
            </a:r>
            <a:r>
              <a:rPr lang="en-US" altLang="en-US" sz="2000" dirty="0" err="1">
                <a:cs typeface="Times New Roman" panose="02020603050405020304" pitchFamily="18" charset="0"/>
              </a:rPr>
              <a:t>dụng</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a:cs typeface="Times New Roman" panose="02020603050405020304" pitchFamily="18" charset="0"/>
              </a:rPr>
              <a:t>chế</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cho</a:t>
            </a:r>
            <a:r>
              <a:rPr lang="en-US" altLang="en-US" sz="2000" dirty="0">
                <a:cs typeface="Times New Roman" panose="02020603050405020304" pitchFamily="18" charset="0"/>
              </a:rPr>
              <a:t> </a:t>
            </a:r>
            <a:r>
              <a:rPr lang="en-US" altLang="en-US" sz="2000" dirty="0" err="1">
                <a:cs typeface="Times New Roman" panose="02020603050405020304" pitchFamily="18" charset="0"/>
              </a:rPr>
              <a:t>đến</a:t>
            </a:r>
            <a:r>
              <a:rPr lang="en-US" altLang="en-US" sz="2000" dirty="0">
                <a:cs typeface="Times New Roman" panose="02020603050405020304" pitchFamily="18" charset="0"/>
              </a:rPr>
              <a:t> </a:t>
            </a:r>
            <a:r>
              <a:rPr lang="en-US" altLang="en-US" sz="2000" dirty="0" err="1">
                <a:cs typeface="Times New Roman" panose="02020603050405020304" pitchFamily="18" charset="0"/>
              </a:rPr>
              <a:t>khi</a:t>
            </a:r>
            <a:r>
              <a:rPr lang="en-US" altLang="en-US" sz="2000" dirty="0">
                <a:cs typeface="Times New Roman" panose="02020603050405020304" pitchFamily="18" charset="0"/>
              </a:rPr>
              <a:t> </a:t>
            </a:r>
            <a:r>
              <a:rPr lang="en-US" altLang="en-US" sz="2000" dirty="0" err="1">
                <a:cs typeface="Times New Roman" panose="02020603050405020304" pitchFamily="18" charset="0"/>
              </a:rPr>
              <a:t>gặp</a:t>
            </a:r>
            <a:r>
              <a:rPr lang="en-US" altLang="en-US" sz="2000" dirty="0">
                <a:cs typeface="Times New Roman" panose="02020603050405020304" pitchFamily="18" charset="0"/>
              </a:rPr>
              <a:t> </a:t>
            </a:r>
            <a:r>
              <a:rPr lang="en-US" altLang="en-US" sz="2000" dirty="0" err="1">
                <a:cs typeface="Times New Roman" panose="02020603050405020304" pitchFamily="18" charset="0"/>
              </a:rPr>
              <a:t>trường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a:cs typeface="Times New Roman" panose="02020603050405020304" pitchFamily="18" charset="0"/>
              </a:rPr>
              <a:t>sở</a:t>
            </a:r>
            <a:r>
              <a:rPr lang="en-US" altLang="en-US" sz="2000" dirty="0">
                <a:cs typeface="Times New Roman" panose="02020603050405020304" pitchFamily="18" charset="0"/>
              </a:rPr>
              <a:t> (</a:t>
            </a:r>
            <a:r>
              <a:rPr lang="en-US" altLang="en-US" sz="2000" dirty="0" err="1">
                <a:cs typeface="Times New Roman" panose="02020603050405020304" pitchFamily="18" charset="0"/>
              </a:rPr>
              <a:t>điểm</a:t>
            </a:r>
            <a:r>
              <a:rPr lang="en-US" altLang="en-US" sz="2000" dirty="0">
                <a:cs typeface="Times New Roman" panose="02020603050405020304" pitchFamily="18" charset="0"/>
              </a:rPr>
              <a:t> </a:t>
            </a:r>
            <a:r>
              <a:rPr lang="en-US" altLang="en-US" sz="2000" dirty="0" err="1">
                <a:cs typeface="Times New Roman" panose="02020603050405020304" pitchFamily="18" charset="0"/>
              </a:rPr>
              <a:t>dừng</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quá</a:t>
            </a:r>
            <a:r>
              <a:rPr lang="en-US" altLang="en-US" sz="2000" dirty="0">
                <a:cs typeface="Times New Roman" panose="02020603050405020304" pitchFamily="18" charset="0"/>
              </a:rPr>
              <a:t> </a:t>
            </a:r>
            <a:r>
              <a:rPr lang="en-US" altLang="en-US" sz="2000" dirty="0" err="1">
                <a:cs typeface="Times New Roman" panose="02020603050405020304" pitchFamily="18" charset="0"/>
              </a:rPr>
              <a:t>trình</a:t>
            </a:r>
            <a:r>
              <a:rPr lang="en-US" altLang="en-US" sz="2000" dirty="0">
                <a:cs typeface="Times New Roman" panose="02020603050405020304" pitchFamily="18" charset="0"/>
              </a:rPr>
              <a:t> </a:t>
            </a:r>
            <a:r>
              <a:rPr lang="en-US" altLang="en-US" sz="2000" dirty="0" err="1">
                <a:cs typeface="Times New Roman" panose="02020603050405020304" pitchFamily="18" charset="0"/>
              </a:rPr>
              <a:t>suy</a:t>
            </a:r>
            <a:r>
              <a:rPr lang="en-US" altLang="en-US" sz="2000" dirty="0">
                <a:cs typeface="Times New Roman" panose="02020603050405020304" pitchFamily="18" charset="0"/>
              </a:rPr>
              <a:t> </a:t>
            </a:r>
            <a:r>
              <a:rPr lang="en-US" altLang="en-US" sz="2000" dirty="0" err="1">
                <a:cs typeface="Times New Roman" panose="02020603050405020304" pitchFamily="18" charset="0"/>
              </a:rPr>
              <a:t>diễn</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a:t>
            </a:r>
          </a:p>
          <a:p>
            <a:pPr lvl="1">
              <a:spcBef>
                <a:spcPct val="10000"/>
              </a:spcBef>
            </a:pPr>
            <a:r>
              <a:rPr lang="en-US" altLang="en-US" sz="2000" i="1" dirty="0" err="1">
                <a:cs typeface="Times New Roman" panose="02020603050405020304" pitchFamily="18" charset="0"/>
              </a:rPr>
              <a:t>Quá</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trình</a:t>
            </a:r>
            <a:r>
              <a:rPr lang="en-US" altLang="en-US" sz="2000" i="1" dirty="0">
                <a:cs typeface="Times New Roman" panose="02020603050405020304" pitchFamily="18" charset="0"/>
              </a:rPr>
              <a:t> quay </a:t>
            </a:r>
            <a:r>
              <a:rPr lang="en-US" altLang="en-US" sz="2000" i="1" dirty="0" err="1">
                <a:cs typeface="Times New Roman" panose="02020603050405020304" pitchFamily="18" charset="0"/>
              </a:rPr>
              <a:t>lui</a:t>
            </a:r>
            <a:r>
              <a:rPr lang="en-US" altLang="en-US" sz="2000" i="1" dirty="0">
                <a:cs typeface="Times New Roman" panose="02020603050405020304" pitchFamily="18" charset="0"/>
              </a:rPr>
              <a:t> (hay </a:t>
            </a:r>
            <a:r>
              <a:rPr lang="en-US" altLang="en-US" sz="2000" i="1" dirty="0" err="1">
                <a:cs typeface="Times New Roman" panose="02020603050405020304" pitchFamily="18" charset="0"/>
              </a:rPr>
              <a:t>suy</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diễn</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ngược</a:t>
            </a:r>
            <a:r>
              <a:rPr lang="en-US" altLang="en-US" sz="2000" i="1" dirty="0">
                <a:cs typeface="Times New Roman" panose="02020603050405020304" pitchFamily="18" charset="0"/>
              </a:rPr>
              <a:t>):</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quá</a:t>
            </a:r>
            <a:r>
              <a:rPr lang="en-US" altLang="en-US" sz="2000" dirty="0">
                <a:cs typeface="Times New Roman" panose="02020603050405020304" pitchFamily="18" charset="0"/>
              </a:rPr>
              <a:t> </a:t>
            </a:r>
            <a:r>
              <a:rPr lang="en-US" altLang="en-US" sz="2000" dirty="0" err="1">
                <a:cs typeface="Times New Roman" panose="02020603050405020304" pitchFamily="18" charset="0"/>
              </a:rPr>
              <a:t>trình</a:t>
            </a:r>
            <a:r>
              <a:rPr lang="en-US" altLang="en-US" sz="2000" dirty="0">
                <a:cs typeface="Times New Roman" panose="02020603050405020304" pitchFamily="18" charset="0"/>
              </a:rPr>
              <a:t> </a:t>
            </a:r>
            <a:r>
              <a:rPr lang="en-US" altLang="en-US" sz="2000" dirty="0" err="1">
                <a:cs typeface="Times New Roman" panose="02020603050405020304" pitchFamily="18" charset="0"/>
              </a:rPr>
              <a:t>từ</a:t>
            </a:r>
            <a:r>
              <a:rPr lang="en-US" altLang="en-US" sz="2000" dirty="0">
                <a:cs typeface="Times New Roman" panose="02020603050405020304" pitchFamily="18" charset="0"/>
              </a:rPr>
              <a:t> </a:t>
            </a:r>
            <a:r>
              <a:rPr lang="en-US" altLang="en-US" sz="2000" dirty="0" err="1">
                <a:cs typeface="Times New Roman" panose="02020603050405020304" pitchFamily="18" charset="0"/>
              </a:rPr>
              <a:t>kết</a:t>
            </a:r>
            <a:r>
              <a:rPr lang="en-US" altLang="en-US" sz="2000" dirty="0">
                <a:cs typeface="Times New Roman" panose="02020603050405020304" pitchFamily="18" charset="0"/>
              </a:rPr>
              <a:t> </a:t>
            </a:r>
            <a:r>
              <a:rPr lang="en-US" altLang="en-US" sz="2000" dirty="0" err="1">
                <a:cs typeface="Times New Roman" panose="02020603050405020304" pitchFamily="18" charset="0"/>
              </a:rPr>
              <a:t>quả</a:t>
            </a:r>
            <a:r>
              <a:rPr lang="en-US" altLang="en-US" sz="2000" dirty="0">
                <a:cs typeface="Times New Roman" panose="02020603050405020304" pitchFamily="18" charset="0"/>
              </a:rPr>
              <a:t> </a:t>
            </a:r>
            <a:r>
              <a:rPr lang="en-US" altLang="en-US" sz="2000" dirty="0" err="1">
                <a:cs typeface="Times New Roman" panose="02020603050405020304" pitchFamily="18" charset="0"/>
              </a:rPr>
              <a:t>thu</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trường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a:cs typeface="Times New Roman" panose="02020603050405020304" pitchFamily="18" charset="0"/>
              </a:rPr>
              <a:t>sở</a:t>
            </a:r>
            <a:r>
              <a:rPr lang="en-US" altLang="en-US" sz="2000" dirty="0">
                <a:cs typeface="Times New Roman" panose="02020603050405020304" pitchFamily="18" charset="0"/>
              </a:rPr>
              <a:t>, </a:t>
            </a:r>
            <a:r>
              <a:rPr lang="en-US" altLang="en-US" sz="2000" dirty="0" err="1">
                <a:cs typeface="Times New Roman" panose="02020603050405020304" pitchFamily="18" charset="0"/>
              </a:rPr>
              <a:t>thực</a:t>
            </a:r>
            <a:r>
              <a:rPr lang="en-US" altLang="en-US" sz="2000" dirty="0">
                <a:cs typeface="Times New Roman" panose="02020603050405020304" pitchFamily="18" charset="0"/>
              </a:rPr>
              <a:t> </a:t>
            </a:r>
            <a:r>
              <a:rPr lang="en-US" altLang="en-US" sz="2000" dirty="0" err="1">
                <a:cs typeface="Times New Roman" panose="02020603050405020304" pitchFamily="18" charset="0"/>
              </a:rPr>
              <a:t>hiện</a:t>
            </a:r>
            <a:r>
              <a:rPr lang="en-US" altLang="en-US" sz="2000" dirty="0">
                <a:cs typeface="Times New Roman" panose="02020603050405020304" pitchFamily="18" charset="0"/>
              </a:rPr>
              <a:t> </a:t>
            </a:r>
            <a:r>
              <a:rPr lang="en-US" altLang="en-US" sz="2000" dirty="0" err="1">
                <a:cs typeface="Times New Roman" panose="02020603050405020304" pitchFamily="18" charset="0"/>
              </a:rPr>
              <a:t>giải</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trung</a:t>
            </a:r>
            <a:r>
              <a:rPr lang="en-US" altLang="en-US" sz="2000" dirty="0">
                <a:cs typeface="Times New Roman" panose="02020603050405020304" pitchFamily="18" charset="0"/>
              </a:rPr>
              <a:t> </a:t>
            </a:r>
            <a:r>
              <a:rPr lang="en-US" altLang="en-US" sz="2000" dirty="0" err="1">
                <a:cs typeface="Times New Roman" panose="02020603050405020304" pitchFamily="18" charset="0"/>
              </a:rPr>
              <a:t>gian</a:t>
            </a:r>
            <a:r>
              <a:rPr lang="en-US" altLang="en-US" sz="2000" dirty="0">
                <a:cs typeface="Times New Roman" panose="02020603050405020304" pitchFamily="18" charset="0"/>
              </a:rPr>
              <a:t> ở </a:t>
            </a:r>
            <a:r>
              <a:rPr lang="en-US" altLang="en-US" sz="2000" dirty="0" err="1">
                <a:cs typeface="Times New Roman" panose="02020603050405020304" pitchFamily="18" charset="0"/>
              </a:rPr>
              <a:t>quá</a:t>
            </a:r>
            <a:r>
              <a:rPr lang="en-US" altLang="en-US" sz="2000" dirty="0">
                <a:cs typeface="Times New Roman" panose="02020603050405020304" pitchFamily="18" charset="0"/>
              </a:rPr>
              <a:t> </a:t>
            </a:r>
            <a:r>
              <a:rPr lang="en-US" altLang="en-US" sz="2000" dirty="0" err="1">
                <a:cs typeface="Times New Roman" panose="02020603050405020304" pitchFamily="18" charset="0"/>
              </a:rPr>
              <a:t>trình</a:t>
            </a:r>
            <a:r>
              <a:rPr lang="en-US" altLang="en-US" sz="2000" dirty="0">
                <a:cs typeface="Times New Roman" panose="02020603050405020304" pitchFamily="18" charset="0"/>
              </a:rPr>
              <a:t> </a:t>
            </a:r>
            <a:r>
              <a:rPr lang="en-US" altLang="en-US" sz="2000" dirty="0" err="1">
                <a:cs typeface="Times New Roman" panose="02020603050405020304" pitchFamily="18" charset="0"/>
              </a:rPr>
              <a:t>suy</a:t>
            </a:r>
            <a:r>
              <a:rPr lang="en-US" altLang="en-US" sz="2000" dirty="0">
                <a:cs typeface="Times New Roman" panose="02020603050405020304" pitchFamily="18" charset="0"/>
              </a:rPr>
              <a:t> </a:t>
            </a:r>
            <a:r>
              <a:rPr lang="en-US" altLang="en-US" sz="2000" dirty="0" err="1">
                <a:cs typeface="Times New Roman" panose="02020603050405020304" pitchFamily="18" charset="0"/>
              </a:rPr>
              <a:t>diễn</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i="1" dirty="0" err="1">
                <a:cs typeface="Times New Roman" panose="02020603050405020304" pitchFamily="18" charset="0"/>
              </a:rPr>
              <a:t>theo</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trật</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tự</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ngược</a:t>
            </a:r>
            <a:r>
              <a:rPr lang="en-US" altLang="en-US" sz="2000" i="1" dirty="0">
                <a:cs typeface="Times New Roman" panose="02020603050405020304" pitchFamily="18" charset="0"/>
              </a:rPr>
              <a:t> </a:t>
            </a:r>
            <a:r>
              <a:rPr lang="en-US" altLang="en-US" sz="2000" i="1" dirty="0" err="1">
                <a:cs typeface="Times New Roman" panose="02020603050405020304" pitchFamily="18" charset="0"/>
              </a:rPr>
              <a:t>lại</a:t>
            </a:r>
            <a:r>
              <a:rPr lang="en-US" altLang="en-US" sz="2000" dirty="0">
                <a:cs typeface="Times New Roman" panose="02020603050405020304" pitchFamily="18" charset="0"/>
              </a:rPr>
              <a:t>, </a:t>
            </a:r>
            <a:r>
              <a:rPr lang="en-US" altLang="en-US" sz="2000" dirty="0" err="1">
                <a:cs typeface="Times New Roman" panose="02020603050405020304" pitchFamily="18" charset="0"/>
              </a:rPr>
              <a:t>cho</a:t>
            </a:r>
            <a:r>
              <a:rPr lang="en-US" altLang="en-US" sz="2000" dirty="0">
                <a:cs typeface="Times New Roman" panose="02020603050405020304" pitchFamily="18" charset="0"/>
              </a:rPr>
              <a:t> </a:t>
            </a:r>
            <a:r>
              <a:rPr lang="en-US" altLang="en-US" sz="2000" dirty="0" err="1">
                <a:cs typeface="Times New Roman" panose="02020603050405020304" pitchFamily="18" charset="0"/>
              </a:rPr>
              <a:t>đến</a:t>
            </a:r>
            <a:r>
              <a:rPr lang="en-US" altLang="en-US" sz="2000" dirty="0">
                <a:cs typeface="Times New Roman" panose="02020603050405020304" pitchFamily="18" charset="0"/>
              </a:rPr>
              <a:t> </a:t>
            </a:r>
            <a:r>
              <a:rPr lang="en-US" altLang="en-US" sz="2000" dirty="0" err="1">
                <a:cs typeface="Times New Roman" panose="02020603050405020304" pitchFamily="18" charset="0"/>
              </a:rPr>
              <a:t>khi</a:t>
            </a:r>
            <a:r>
              <a:rPr lang="en-US" altLang="en-US" sz="2000" dirty="0">
                <a:cs typeface="Times New Roman" panose="02020603050405020304" pitchFamily="18" charset="0"/>
              </a:rPr>
              <a:t> </a:t>
            </a:r>
            <a:r>
              <a:rPr lang="en-US" altLang="en-US" sz="2000" dirty="0" err="1">
                <a:cs typeface="Times New Roman" panose="02020603050405020304" pitchFamily="18" charset="0"/>
              </a:rPr>
              <a:t>giải</a:t>
            </a:r>
            <a:r>
              <a:rPr lang="en-US" altLang="en-US" sz="2000" dirty="0">
                <a:cs typeface="Times New Roman" panose="02020603050405020304" pitchFamily="18" charset="0"/>
              </a:rPr>
              <a:t> </a:t>
            </a:r>
            <a:r>
              <a:rPr lang="en-US" altLang="en-US" sz="2000" dirty="0" err="1">
                <a:cs typeface="Times New Roman" panose="02020603050405020304" pitchFamily="18" charset="0"/>
              </a:rPr>
              <a:t>quyết</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ban </a:t>
            </a:r>
            <a:r>
              <a:rPr lang="en-US" altLang="en-US" sz="2000" dirty="0" err="1">
                <a:cs typeface="Times New Roman" panose="02020603050405020304" pitchFamily="18" charset="0"/>
              </a:rPr>
              <a:t>đầu</a:t>
            </a:r>
            <a:r>
              <a:rPr lang="en-US" altLang="en-US" sz="2000" dirty="0">
                <a:cs typeface="Times New Roman" panose="02020603050405020304" pitchFamily="18" charset="0"/>
              </a:rPr>
              <a:t>. </a:t>
            </a:r>
          </a:p>
          <a:p>
            <a:pPr>
              <a:spcBef>
                <a:spcPct val="10000"/>
              </a:spcBef>
            </a:pPr>
            <a:r>
              <a:rPr lang="en-US" altLang="en-US" sz="2400" dirty="0" err="1">
                <a:cs typeface="Times New Roman" panose="02020603050405020304" pitchFamily="18" charset="0"/>
              </a:rPr>
              <a:t>Ví</a:t>
            </a:r>
            <a:r>
              <a:rPr lang="en-US" altLang="en-US" sz="2400" dirty="0">
                <a:cs typeface="Times New Roman" panose="02020603050405020304" pitchFamily="18" charset="0"/>
              </a:rPr>
              <a:t> </a:t>
            </a:r>
            <a:r>
              <a:rPr lang="en-US" altLang="en-US" sz="2400" dirty="0" err="1">
                <a:cs typeface="Times New Roman" panose="02020603050405020304" pitchFamily="18" charset="0"/>
              </a:rPr>
              <a:t>dụ</a:t>
            </a:r>
            <a:r>
              <a:rPr lang="en-US" altLang="en-US" sz="2400" dirty="0">
                <a:cs typeface="Times New Roman" panose="02020603050405020304" pitchFamily="18" charset="0"/>
              </a:rPr>
              <a:t>: </a:t>
            </a:r>
            <a:r>
              <a:rPr lang="en-US" altLang="en-US" sz="2400" dirty="0" err="1">
                <a:cs typeface="Times New Roman" panose="02020603050405020304" pitchFamily="18" charset="0"/>
              </a:rPr>
              <a:t>tính</a:t>
            </a:r>
            <a:r>
              <a:rPr lang="en-US" altLang="en-US" sz="2400" dirty="0">
                <a:cs typeface="Times New Roman" panose="02020603050405020304" pitchFamily="18" charset="0"/>
              </a:rPr>
              <a:t> 3! </a:t>
            </a:r>
            <a:r>
              <a:rPr lang="en-US" altLang="en-US" sz="2400" dirty="0" err="1">
                <a:cs typeface="Times New Roman" panose="02020603050405020304" pitchFamily="18" charset="0"/>
              </a:rPr>
              <a:t>theo</a:t>
            </a:r>
            <a:r>
              <a:rPr lang="en-US" altLang="en-US" sz="2400" dirty="0">
                <a:cs typeface="Times New Roman" panose="02020603050405020304" pitchFamily="18" charset="0"/>
              </a:rPr>
              <a:t> </a:t>
            </a: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a:cs typeface="Times New Roman" panose="02020603050405020304" pitchFamily="18" charset="0"/>
              </a:rPr>
              <a:t>thuật</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p>
          <a:p>
            <a:endParaRPr lang="en-US" dirty="0"/>
          </a:p>
        </p:txBody>
      </p:sp>
      <p:pic>
        <p:nvPicPr>
          <p:cNvPr id="10" name="Picture 9"/>
          <p:cNvPicPr>
            <a:picLocks noChangeAspect="1"/>
          </p:cNvPicPr>
          <p:nvPr/>
        </p:nvPicPr>
        <p:blipFill>
          <a:blip r:embed="rId2"/>
          <a:stretch>
            <a:fillRect/>
          </a:stretch>
        </p:blipFill>
        <p:spPr>
          <a:xfrm>
            <a:off x="2438400" y="4343400"/>
            <a:ext cx="4001058" cy="1209844"/>
          </a:xfrm>
          <a:prstGeom prst="rect">
            <a:avLst/>
          </a:prstGeom>
        </p:spPr>
      </p:pic>
    </p:spTree>
    <p:extLst>
      <p:ext uri="{BB962C8B-B14F-4D97-AF65-F5344CB8AC3E}">
        <p14:creationId xmlns:p14="http://schemas.microsoft.com/office/powerpoint/2010/main" val="440653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26B269CE-12F4-4F4F-BF2F-21E0A343DA44}" type="slidenum">
              <a:rPr lang="en-US" smtClean="0"/>
              <a:pPr/>
              <a:t>16</a:t>
            </a:fld>
            <a:endParaRPr lang="en-US"/>
          </a:p>
        </p:txBody>
      </p:sp>
      <p:sp>
        <p:nvSpPr>
          <p:cNvPr id="2" name="Title 1"/>
          <p:cNvSpPr>
            <a:spLocks noGrp="1"/>
          </p:cNvSpPr>
          <p:nvPr>
            <p:ph type="title"/>
          </p:nvPr>
        </p:nvSpPr>
        <p:spPr>
          <a:xfrm>
            <a:off x="2743200" y="2057400"/>
            <a:ext cx="8673846" cy="451739"/>
          </a:xfrm>
        </p:spPr>
        <p:txBody>
          <a:bodyPr/>
          <a:lstStyle/>
          <a:p>
            <a:r>
              <a:rPr lang="en-US" dirty="0">
                <a:solidFill>
                  <a:schemeClr val="tx1"/>
                </a:solidFill>
              </a:rPr>
              <a:t>2. </a:t>
            </a:r>
            <a:r>
              <a:rPr lang="vi-VN" altLang="en-US" dirty="0">
                <a:solidFill>
                  <a:schemeClr val="tx1"/>
                </a:solidFill>
              </a:rPr>
              <a:t>Xây dựng </a:t>
            </a:r>
            <a:r>
              <a:rPr lang="vi-VN" altLang="en-US" dirty="0" smtClean="0">
                <a:solidFill>
                  <a:schemeClr val="tx1"/>
                </a:solidFill>
              </a:rPr>
              <a:t>thủ </a:t>
            </a:r>
            <a:r>
              <a:rPr lang="vi-VN" altLang="en-US" dirty="0">
                <a:solidFill>
                  <a:schemeClr val="tx1"/>
                </a:solidFill>
              </a:rPr>
              <a:t>tục đệ </a:t>
            </a:r>
            <a:r>
              <a:rPr lang="vi-VN" altLang="en-US" dirty="0" smtClean="0">
                <a:solidFill>
                  <a:schemeClr val="tx1"/>
                </a:solidFill>
              </a:rPr>
              <a:t>quy</a:t>
            </a:r>
            <a:endParaRPr lang="en-US" dirty="0">
              <a:solidFill>
                <a:schemeClr val="tx1"/>
              </a:solidFill>
            </a:endParaRPr>
          </a:p>
        </p:txBody>
      </p:sp>
    </p:spTree>
    <p:extLst>
      <p:ext uri="{BB962C8B-B14F-4D97-AF65-F5344CB8AC3E}">
        <p14:creationId xmlns:p14="http://schemas.microsoft.com/office/powerpoint/2010/main" val="31989349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17</a:t>
            </a:fld>
            <a:endParaRPr lang="en-US"/>
          </a:p>
        </p:txBody>
      </p:sp>
      <p:sp>
        <p:nvSpPr>
          <p:cNvPr id="5" name="Title 4"/>
          <p:cNvSpPr>
            <a:spLocks noGrp="1"/>
          </p:cNvSpPr>
          <p:nvPr>
            <p:ph type="title"/>
          </p:nvPr>
        </p:nvSpPr>
        <p:spPr/>
        <p:txBody>
          <a:bodyPr/>
          <a:lstStyle/>
          <a:p>
            <a:r>
              <a:rPr lang="en-US" dirty="0" smtClean="0"/>
              <a:t>2.1 T</a:t>
            </a:r>
            <a:r>
              <a:rPr lang="vi-VN" altLang="en-US" dirty="0" smtClean="0"/>
              <a:t>hủ </a:t>
            </a:r>
            <a:r>
              <a:rPr lang="vi-VN" altLang="en-US" dirty="0"/>
              <a:t>tục đệ quy </a:t>
            </a:r>
            <a:endParaRPr lang="en-US" dirty="0"/>
          </a:p>
        </p:txBody>
      </p:sp>
      <p:sp>
        <p:nvSpPr>
          <p:cNvPr id="2" name="Content Placeholder 1"/>
          <p:cNvSpPr>
            <a:spLocks noGrp="1"/>
          </p:cNvSpPr>
          <p:nvPr>
            <p:ph type="body" sz="quarter" idx="13"/>
          </p:nvPr>
        </p:nvSpPr>
        <p:spPr/>
        <p:txBody>
          <a:bodyPr>
            <a:normAutofit/>
          </a:bodyPr>
          <a:lstStyle/>
          <a:p>
            <a:pPr>
              <a:spcBef>
                <a:spcPct val="10000"/>
              </a:spcBef>
            </a:pPr>
            <a:r>
              <a:rPr lang="en-US" altLang="en-US" sz="2400" i="1" dirty="0" err="1" smtClean="0">
                <a:cs typeface="Times New Roman" panose="02020603050405020304" pitchFamily="18" charset="0"/>
              </a:rPr>
              <a:t>Khái</a:t>
            </a:r>
            <a:r>
              <a:rPr lang="en-US" altLang="en-US" sz="2400" i="1" dirty="0" smtClean="0">
                <a:cs typeface="Times New Roman" panose="02020603050405020304" pitchFamily="18" charset="0"/>
              </a:rPr>
              <a:t> </a:t>
            </a:r>
            <a:r>
              <a:rPr lang="en-US" altLang="en-US" sz="2400" i="1" dirty="0" err="1">
                <a:cs typeface="Times New Roman" panose="02020603050405020304" pitchFamily="18" charset="0"/>
              </a:rPr>
              <a:t>niệm</a:t>
            </a:r>
            <a:r>
              <a:rPr lang="en-US" altLang="en-US" sz="2400" i="1" dirty="0">
                <a:cs typeface="Times New Roman" panose="02020603050405020304" pitchFamily="18" charset="0"/>
              </a:rPr>
              <a:t>:</a:t>
            </a:r>
            <a:r>
              <a:rPr lang="en-US" altLang="en-US" sz="2400" dirty="0">
                <a:cs typeface="Times New Roman" panose="02020603050405020304" pitchFamily="18" charset="0"/>
              </a:rPr>
              <a:t> </a:t>
            </a:r>
            <a:r>
              <a:rPr lang="en-US" altLang="en-US" sz="2400" dirty="0" err="1">
                <a:cs typeface="Times New Roman" panose="02020603050405020304" pitchFamily="18" charset="0"/>
              </a:rPr>
              <a:t>cơ</a:t>
            </a:r>
            <a:r>
              <a:rPr lang="en-US" altLang="en-US" sz="2400" dirty="0">
                <a:cs typeface="Times New Roman" panose="02020603050405020304" pitchFamily="18" charset="0"/>
              </a:rPr>
              <a:t> </a:t>
            </a:r>
            <a:r>
              <a:rPr lang="en-US" altLang="en-US" sz="2400" dirty="0" err="1">
                <a:cs typeface="Times New Roman" panose="02020603050405020304" pitchFamily="18" charset="0"/>
              </a:rPr>
              <a:t>chế</a:t>
            </a:r>
            <a:r>
              <a:rPr lang="en-US" altLang="en-US" sz="2400" dirty="0">
                <a:cs typeface="Times New Roman" panose="02020603050405020304" pitchFamily="18" charset="0"/>
              </a:rPr>
              <a:t>, </a:t>
            </a:r>
            <a:r>
              <a:rPr lang="en-US" altLang="en-US" sz="2400" dirty="0" err="1">
                <a:cs typeface="Times New Roman" panose="02020603050405020304" pitchFamily="18" charset="0"/>
              </a:rPr>
              <a:t>công</a:t>
            </a:r>
            <a:r>
              <a:rPr lang="en-US" altLang="en-US" sz="2400" dirty="0">
                <a:cs typeface="Times New Roman" panose="02020603050405020304" pitchFamily="18" charset="0"/>
              </a:rPr>
              <a:t> </a:t>
            </a:r>
            <a:r>
              <a:rPr lang="en-US" altLang="en-US" sz="2400" dirty="0" err="1">
                <a:cs typeface="Times New Roman" panose="02020603050405020304" pitchFamily="18" charset="0"/>
              </a:rPr>
              <a:t>cụ</a:t>
            </a:r>
            <a:r>
              <a:rPr lang="en-US" altLang="en-US" sz="2400" dirty="0">
                <a:cs typeface="Times New Roman" panose="02020603050405020304" pitchFamily="18" charset="0"/>
              </a:rPr>
              <a:t> </a:t>
            </a:r>
            <a:r>
              <a:rPr lang="en-US" altLang="en-US" sz="2400" dirty="0" err="1">
                <a:cs typeface="Times New Roman" panose="02020603050405020304" pitchFamily="18" charset="0"/>
              </a:rPr>
              <a:t>để</a:t>
            </a:r>
            <a:r>
              <a:rPr lang="en-US" altLang="en-US" sz="2400" dirty="0">
                <a:cs typeface="Times New Roman" panose="02020603050405020304" pitchFamily="18" charset="0"/>
              </a:rPr>
              <a:t> </a:t>
            </a:r>
            <a:r>
              <a:rPr lang="en-US" altLang="en-US" sz="2400" dirty="0" err="1">
                <a:cs typeface="Times New Roman" panose="02020603050405020304" pitchFamily="18" charset="0"/>
              </a:rPr>
              <a:t>hỗ</a:t>
            </a:r>
            <a:r>
              <a:rPr lang="en-US" altLang="en-US" sz="2400" dirty="0">
                <a:cs typeface="Times New Roman" panose="02020603050405020304" pitchFamily="18" charset="0"/>
              </a:rPr>
              <a:t> </a:t>
            </a:r>
            <a:r>
              <a:rPr lang="en-US" altLang="en-US" sz="2400" dirty="0" err="1">
                <a:cs typeface="Times New Roman" panose="02020603050405020304" pitchFamily="18" charset="0"/>
              </a:rPr>
              <a:t>trợ</a:t>
            </a:r>
            <a:r>
              <a:rPr lang="en-US" altLang="en-US" sz="2400" dirty="0">
                <a:cs typeface="Times New Roman" panose="02020603050405020304" pitchFamily="18" charset="0"/>
              </a:rPr>
              <a:t> </a:t>
            </a:r>
            <a:r>
              <a:rPr lang="en-US" altLang="en-US" sz="2400" dirty="0" err="1">
                <a:cs typeface="Times New Roman" panose="02020603050405020304" pitchFamily="18" charset="0"/>
              </a:rPr>
              <a:t>công</a:t>
            </a:r>
            <a:r>
              <a:rPr lang="en-US" altLang="en-US" sz="2400" dirty="0">
                <a:cs typeface="Times New Roman" panose="02020603050405020304" pitchFamily="18" charset="0"/>
              </a:rPr>
              <a:t> </a:t>
            </a:r>
            <a:r>
              <a:rPr lang="en-US" altLang="en-US" sz="2400" dirty="0" err="1">
                <a:cs typeface="Times New Roman" panose="02020603050405020304" pitchFamily="18" charset="0"/>
              </a:rPr>
              <a:t>việc</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cài</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a:cs typeface="Times New Roman" panose="02020603050405020304" pitchFamily="18" charset="0"/>
              </a:rPr>
              <a:t>thuật</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một</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cách</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đơn</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giản</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và</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hiệu</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quả</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trong</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ngôn</a:t>
            </a:r>
            <a:r>
              <a:rPr lang="en-US" altLang="en-US" sz="2400" dirty="0">
                <a:cs typeface="Times New Roman" panose="02020603050405020304" pitchFamily="18" charset="0"/>
              </a:rPr>
              <a:t> </a:t>
            </a:r>
            <a:r>
              <a:rPr lang="en-US" altLang="en-US" sz="2400" dirty="0" err="1">
                <a:cs typeface="Times New Roman" panose="02020603050405020304" pitchFamily="18" charset="0"/>
              </a:rPr>
              <a:t>ngữ</a:t>
            </a:r>
            <a:r>
              <a:rPr lang="en-US" altLang="en-US" sz="2400" dirty="0">
                <a:cs typeface="Times New Roman" panose="02020603050405020304" pitchFamily="18" charset="0"/>
              </a:rPr>
              <a:t> </a:t>
            </a:r>
            <a:r>
              <a:rPr lang="en-US" altLang="en-US" sz="2400" dirty="0" err="1">
                <a:cs typeface="Times New Roman" panose="02020603050405020304" pitchFamily="18" charset="0"/>
              </a:rPr>
              <a:t>lập</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trình</a:t>
            </a:r>
            <a:r>
              <a:rPr lang="en-US" altLang="en-US" sz="2400" dirty="0" smtClean="0">
                <a:cs typeface="Times New Roman" panose="02020603050405020304" pitchFamily="18" charset="0"/>
              </a:rPr>
              <a:t>. </a:t>
            </a:r>
            <a:endParaRPr lang="en-US" altLang="en-US" sz="2400" dirty="0">
              <a:cs typeface="Times New Roman" panose="02020603050405020304" pitchFamily="18" charset="0"/>
            </a:endParaRPr>
          </a:p>
          <a:p>
            <a:pPr>
              <a:spcBef>
                <a:spcPct val="10000"/>
              </a:spcBef>
            </a:pPr>
            <a:r>
              <a:rPr lang="en-US" altLang="en-US" sz="2400" dirty="0" err="1">
                <a:cs typeface="Times New Roman" panose="02020603050405020304" pitchFamily="18" charset="0"/>
              </a:rPr>
              <a:t>Thủ</a:t>
            </a:r>
            <a:r>
              <a:rPr lang="en-US" altLang="en-US" sz="2400" dirty="0">
                <a:cs typeface="Times New Roman" panose="02020603050405020304" pitchFamily="18" charset="0"/>
              </a:rPr>
              <a:t> </a:t>
            </a:r>
            <a:r>
              <a:rPr lang="en-US" altLang="en-US" sz="2400" dirty="0" err="1">
                <a:cs typeface="Times New Roman" panose="02020603050405020304" pitchFamily="18" charset="0"/>
              </a:rPr>
              <a:t>tục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r>
              <a:rPr lang="en-US" altLang="en-US" sz="2400" dirty="0" err="1">
                <a:cs typeface="Times New Roman" panose="02020603050405020304" pitchFamily="18" charset="0"/>
              </a:rPr>
              <a:t>là</a:t>
            </a:r>
            <a:r>
              <a:rPr lang="en-US" altLang="en-US" sz="2400" dirty="0">
                <a:cs typeface="Times New Roman" panose="02020603050405020304" pitchFamily="18" charset="0"/>
              </a:rPr>
              <a:t> </a:t>
            </a:r>
            <a:r>
              <a:rPr lang="en-US" altLang="en-US" sz="2400" i="1" dirty="0" err="1">
                <a:cs typeface="Times New Roman" panose="02020603050405020304" pitchFamily="18" charset="0"/>
              </a:rPr>
              <a:t>một</a:t>
            </a:r>
            <a:r>
              <a:rPr lang="en-US" altLang="en-US" sz="2400" i="1" dirty="0">
                <a:cs typeface="Times New Roman" panose="02020603050405020304" pitchFamily="18" charset="0"/>
              </a:rPr>
              <a:t> </a:t>
            </a:r>
            <a:r>
              <a:rPr lang="en-US" altLang="en-US" sz="2400" i="1" dirty="0" err="1">
                <a:cs typeface="Times New Roman" panose="02020603050405020304" pitchFamily="18" charset="0"/>
              </a:rPr>
              <a:t>chương</a:t>
            </a:r>
            <a:r>
              <a:rPr lang="en-US" altLang="en-US" sz="2400" i="1" dirty="0">
                <a:cs typeface="Times New Roman" panose="02020603050405020304" pitchFamily="18" charset="0"/>
              </a:rPr>
              <a:t> </a:t>
            </a:r>
            <a:r>
              <a:rPr lang="en-US" altLang="en-US" sz="2400" i="1" dirty="0" err="1">
                <a:cs typeface="Times New Roman" panose="02020603050405020304" pitchFamily="18" charset="0"/>
              </a:rPr>
              <a:t>trình</a:t>
            </a:r>
            <a:r>
              <a:rPr lang="en-US" altLang="en-US" sz="2400" i="1" dirty="0">
                <a:cs typeface="Times New Roman" panose="02020603050405020304" pitchFamily="18" charset="0"/>
              </a:rPr>
              <a:t> con</a:t>
            </a:r>
            <a:r>
              <a:rPr lang="en-US" altLang="en-US" sz="2400" dirty="0">
                <a:cs typeface="Times New Roman" panose="02020603050405020304" pitchFamily="18" charset="0"/>
              </a:rPr>
              <a:t> </a:t>
            </a:r>
            <a:r>
              <a:rPr lang="en-US" altLang="en-US" sz="2400" dirty="0" err="1">
                <a:cs typeface="Times New Roman" panose="02020603050405020304" pitchFamily="18" charset="0"/>
              </a:rPr>
              <a:t>trực</a:t>
            </a:r>
            <a:r>
              <a:rPr lang="en-US" altLang="en-US" sz="2400" dirty="0">
                <a:cs typeface="Times New Roman" panose="02020603050405020304" pitchFamily="18" charset="0"/>
              </a:rPr>
              <a:t> </a:t>
            </a:r>
            <a:r>
              <a:rPr lang="en-US" altLang="en-US" sz="2400" dirty="0" err="1">
                <a:cs typeface="Times New Roman" panose="02020603050405020304" pitchFamily="18" charset="0"/>
              </a:rPr>
              <a:t>tiếp</a:t>
            </a:r>
            <a:r>
              <a:rPr lang="en-US" altLang="en-US" sz="2400" dirty="0">
                <a:cs typeface="Times New Roman" panose="02020603050405020304" pitchFamily="18" charset="0"/>
              </a:rPr>
              <a:t> </a:t>
            </a: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a:cs typeface="Times New Roman" panose="02020603050405020304" pitchFamily="18" charset="0"/>
              </a:rPr>
              <a:t>đặt</a:t>
            </a:r>
            <a:r>
              <a:rPr lang="en-US" altLang="en-US" sz="2400" dirty="0">
                <a:cs typeface="Times New Roman" panose="02020603050405020304" pitchFamily="18" charset="0"/>
              </a:rPr>
              <a:t> </a:t>
            </a:r>
            <a:r>
              <a:rPr lang="en-US" altLang="en-US" sz="2400" dirty="0" err="1">
                <a:cs typeface="Times New Roman" panose="02020603050405020304" pitchFamily="18" charset="0"/>
              </a:rPr>
              <a:t>cho</a:t>
            </a:r>
            <a:r>
              <a:rPr lang="en-US" altLang="en-US" sz="2400" dirty="0">
                <a:cs typeface="Times New Roman" panose="02020603050405020304" pitchFamily="18" charset="0"/>
              </a:rPr>
              <a:t> </a:t>
            </a:r>
            <a:r>
              <a:rPr lang="en-US" altLang="en-US" sz="2400" dirty="0" err="1">
                <a:cs typeface="Times New Roman" panose="02020603050405020304" pitchFamily="18" charset="0"/>
              </a:rPr>
              <a:t>giải</a:t>
            </a:r>
            <a:r>
              <a:rPr lang="en-US" altLang="en-US" sz="2400" dirty="0">
                <a:cs typeface="Times New Roman" panose="02020603050405020304" pitchFamily="18" charset="0"/>
              </a:rPr>
              <a:t> </a:t>
            </a:r>
            <a:r>
              <a:rPr lang="en-US" altLang="en-US" sz="2400" dirty="0" err="1">
                <a:cs typeface="Times New Roman" panose="02020603050405020304" pitchFamily="18" charset="0"/>
              </a:rPr>
              <a:t>thuật</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endParaRPr lang="en-US" altLang="en-US" sz="2400" dirty="0" smtClean="0">
              <a:cs typeface="Times New Roman" panose="02020603050405020304" pitchFamily="18" charset="0"/>
            </a:endParaRPr>
          </a:p>
          <a:p>
            <a:pPr lvl="1">
              <a:spcBef>
                <a:spcPct val="10000"/>
              </a:spcBef>
            </a:pPr>
            <a:r>
              <a:rPr lang="en-US" altLang="en-US" sz="2000" dirty="0" smtClean="0">
                <a:cs typeface="Times New Roman" panose="02020603050405020304" pitchFamily="18" charset="0"/>
              </a:rPr>
              <a:t>Pascal: </a:t>
            </a:r>
            <a:r>
              <a:rPr lang="en-US" altLang="en-US" sz="2000" dirty="0" err="1" smtClean="0">
                <a:cs typeface="Times New Roman" panose="02020603050405020304" pitchFamily="18" charset="0"/>
              </a:rPr>
              <a:t>thủ</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tục</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hàm</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quy</a:t>
            </a:r>
            <a:endParaRPr lang="en-US" altLang="en-US" sz="2000" dirty="0" smtClean="0">
              <a:cs typeface="Times New Roman" panose="02020603050405020304" pitchFamily="18" charset="0"/>
            </a:endParaRPr>
          </a:p>
          <a:p>
            <a:pPr lvl="1">
              <a:spcBef>
                <a:spcPct val="10000"/>
              </a:spcBef>
            </a:pPr>
            <a:r>
              <a:rPr lang="en-US" altLang="en-US" sz="2000" dirty="0" smtClean="0">
                <a:cs typeface="Times New Roman" panose="02020603050405020304" pitchFamily="18" charset="0"/>
              </a:rPr>
              <a:t>C/C++: </a:t>
            </a:r>
            <a:r>
              <a:rPr lang="en-US" altLang="en-US" sz="2000" dirty="0" err="1">
                <a:cs typeface="Times New Roman" panose="02020603050405020304" pitchFamily="18" charset="0"/>
              </a:rPr>
              <a:t>chỉ</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hàm</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quy</a:t>
            </a:r>
            <a:endParaRPr lang="en-US" altLang="en-US" sz="2000" dirty="0" smtClean="0">
              <a:cs typeface="Times New Roman" panose="02020603050405020304" pitchFamily="18" charset="0"/>
            </a:endParaRPr>
          </a:p>
          <a:p>
            <a:pPr lvl="1">
              <a:spcBef>
                <a:spcPct val="10000"/>
              </a:spcBef>
            </a:pPr>
            <a:r>
              <a:rPr lang="en-US" altLang="en-US" sz="2000" dirty="0" smtClean="0"/>
              <a:t>…</a:t>
            </a:r>
            <a:r>
              <a:rPr lang="en-US" altLang="en-US" sz="2000" dirty="0" smtClean="0">
                <a:cs typeface="Times New Roman" panose="02020603050405020304" pitchFamily="18" charset="0"/>
              </a:rPr>
              <a:t> </a:t>
            </a:r>
            <a:endParaRPr lang="en-US" altLang="en-US" sz="2000" dirty="0">
              <a:cs typeface="Times New Roman" panose="02020603050405020304" pitchFamily="18" charset="0"/>
            </a:endParaRPr>
          </a:p>
          <a:p>
            <a:pPr lvl="1"/>
            <a:endParaRPr lang="en-US" sz="2000" dirty="0"/>
          </a:p>
        </p:txBody>
      </p:sp>
    </p:spTree>
    <p:extLst>
      <p:ext uri="{BB962C8B-B14F-4D97-AF65-F5344CB8AC3E}">
        <p14:creationId xmlns:p14="http://schemas.microsoft.com/office/powerpoint/2010/main" val="2758023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18</a:t>
            </a:fld>
            <a:endParaRPr lang="en-US"/>
          </a:p>
        </p:txBody>
      </p:sp>
      <p:sp>
        <p:nvSpPr>
          <p:cNvPr id="4" name="Title 3"/>
          <p:cNvSpPr>
            <a:spLocks noGrp="1"/>
          </p:cNvSpPr>
          <p:nvPr>
            <p:ph type="title"/>
          </p:nvPr>
        </p:nvSpPr>
        <p:spPr/>
        <p:txBody>
          <a:bodyPr/>
          <a:lstStyle/>
          <a:p>
            <a:r>
              <a:rPr lang="en-US"/>
              <a:t>2.2 </a:t>
            </a:r>
            <a:r>
              <a:rPr lang="en-US" altLang="en-US"/>
              <a:t>Phương pháp xây dựng thủ tục đệ quy </a:t>
            </a:r>
            <a:endParaRPr lang="en-US"/>
          </a:p>
        </p:txBody>
      </p:sp>
      <p:sp>
        <p:nvSpPr>
          <p:cNvPr id="5" name="Text Placeholder 4"/>
          <p:cNvSpPr>
            <a:spLocks noGrp="1"/>
          </p:cNvSpPr>
          <p:nvPr>
            <p:ph type="body" sz="quarter" idx="13"/>
          </p:nvPr>
        </p:nvSpPr>
        <p:spPr/>
        <p:txBody>
          <a:bodyPr/>
          <a:lstStyle/>
          <a:p>
            <a:r>
              <a:rPr lang="en-US" dirty="0" err="1" smtClean="0"/>
              <a:t>Bước</a:t>
            </a:r>
            <a:r>
              <a:rPr lang="en-US" dirty="0" smtClean="0"/>
              <a:t> 1: </a:t>
            </a:r>
            <a:r>
              <a:rPr lang="en-US" dirty="0" err="1" smtClean="0"/>
              <a:t>Tổng</a:t>
            </a:r>
            <a:r>
              <a:rPr lang="en-US" dirty="0" smtClean="0"/>
              <a:t> </a:t>
            </a:r>
            <a:r>
              <a:rPr lang="en-US" dirty="0" err="1"/>
              <a:t>quát</a:t>
            </a:r>
            <a:r>
              <a:rPr lang="en-US" dirty="0"/>
              <a:t> </a:t>
            </a:r>
            <a:r>
              <a:rPr lang="en-US" dirty="0" err="1"/>
              <a:t>hóa</a:t>
            </a:r>
            <a:r>
              <a:rPr lang="en-US" dirty="0"/>
              <a:t> </a:t>
            </a:r>
            <a:r>
              <a:rPr lang="en-US" dirty="0" err="1"/>
              <a:t>bài</a:t>
            </a:r>
            <a:r>
              <a:rPr lang="en-US" dirty="0"/>
              <a:t> </a:t>
            </a:r>
            <a:r>
              <a:rPr lang="en-US" dirty="0" err="1" smtClean="0"/>
              <a:t>toán</a:t>
            </a:r>
            <a:endParaRPr lang="en-US" dirty="0" smtClean="0"/>
          </a:p>
          <a:p>
            <a:r>
              <a:rPr lang="en-US" dirty="0" err="1"/>
              <a:t>Bước</a:t>
            </a:r>
            <a:r>
              <a:rPr lang="en-US" dirty="0"/>
              <a:t> </a:t>
            </a:r>
            <a:r>
              <a:rPr lang="en-US" dirty="0" smtClean="0"/>
              <a:t>2: </a:t>
            </a:r>
            <a:r>
              <a:rPr lang="en-US" dirty="0" err="1" smtClean="0"/>
              <a:t>Xác</a:t>
            </a:r>
            <a:r>
              <a:rPr lang="en-US" dirty="0" smtClean="0"/>
              <a:t> </a:t>
            </a:r>
            <a:r>
              <a:rPr lang="en-US" dirty="0" err="1" smtClean="0"/>
              <a:t>định</a:t>
            </a:r>
            <a:r>
              <a:rPr lang="en-US" dirty="0" smtClean="0"/>
              <a:t> </a:t>
            </a:r>
            <a:r>
              <a:rPr lang="en-US" dirty="0" err="1" smtClean="0"/>
              <a:t>các</a:t>
            </a:r>
            <a:r>
              <a:rPr lang="en-US" dirty="0" smtClean="0"/>
              <a:t> </a:t>
            </a:r>
            <a:r>
              <a:rPr lang="en-US" dirty="0" err="1" smtClean="0"/>
              <a:t>tham</a:t>
            </a:r>
            <a:r>
              <a:rPr lang="en-US" dirty="0" smtClean="0"/>
              <a:t> </a:t>
            </a:r>
            <a:r>
              <a:rPr lang="en-US" dirty="0" err="1" smtClean="0"/>
              <a:t>số</a:t>
            </a:r>
            <a:r>
              <a:rPr lang="en-US" dirty="0" smtClean="0"/>
              <a:t> </a:t>
            </a:r>
            <a:r>
              <a:rPr lang="en-US" dirty="0" err="1" smtClean="0"/>
              <a:t>ảnh</a:t>
            </a:r>
            <a:r>
              <a:rPr lang="en-US" dirty="0" smtClean="0"/>
              <a:t> </a:t>
            </a:r>
            <a:r>
              <a:rPr lang="en-US" dirty="0" err="1" smtClean="0"/>
              <a:t>hưởng</a:t>
            </a:r>
            <a:r>
              <a:rPr lang="en-US" dirty="0" smtClean="0"/>
              <a:t> </a:t>
            </a:r>
            <a:r>
              <a:rPr lang="en-US" dirty="0" err="1" smtClean="0"/>
              <a:t>tới</a:t>
            </a:r>
            <a:r>
              <a:rPr lang="en-US" dirty="0" smtClean="0"/>
              <a:t> </a:t>
            </a:r>
            <a:r>
              <a:rPr lang="en-US" dirty="0" err="1" smtClean="0"/>
              <a:t>độ</a:t>
            </a:r>
            <a:r>
              <a:rPr lang="en-US" dirty="0" smtClean="0"/>
              <a:t> </a:t>
            </a:r>
            <a:r>
              <a:rPr lang="en-US" dirty="0" err="1" smtClean="0"/>
              <a:t>phức</a:t>
            </a:r>
            <a:r>
              <a:rPr lang="en-US" dirty="0" smtClean="0"/>
              <a:t> </a:t>
            </a:r>
            <a:r>
              <a:rPr lang="en-US" dirty="0" err="1" smtClean="0"/>
              <a:t>tạp</a:t>
            </a:r>
            <a:r>
              <a:rPr lang="en-US" dirty="0" smtClean="0"/>
              <a:t> </a:t>
            </a:r>
            <a:r>
              <a:rPr lang="en-US" dirty="0" err="1" smtClean="0"/>
              <a:t>của</a:t>
            </a:r>
            <a:r>
              <a:rPr lang="en-US" dirty="0" smtClean="0"/>
              <a:t> </a:t>
            </a:r>
            <a:r>
              <a:rPr lang="en-US" dirty="0" err="1" smtClean="0"/>
              <a:t>bài</a:t>
            </a:r>
            <a:r>
              <a:rPr lang="en-US" dirty="0" smtClean="0"/>
              <a:t> </a:t>
            </a:r>
            <a:r>
              <a:rPr lang="en-US" dirty="0" err="1" smtClean="0"/>
              <a:t>toán</a:t>
            </a:r>
            <a:endParaRPr lang="en-US" dirty="0" smtClean="0"/>
          </a:p>
          <a:p>
            <a:r>
              <a:rPr lang="en-US" dirty="0" err="1"/>
              <a:t>Bước</a:t>
            </a:r>
            <a:r>
              <a:rPr lang="en-US" dirty="0"/>
              <a:t> </a:t>
            </a:r>
            <a:r>
              <a:rPr lang="en-US" dirty="0" smtClean="0"/>
              <a:t>3: </a:t>
            </a:r>
            <a:r>
              <a:rPr lang="en-US" dirty="0" err="1" smtClean="0"/>
              <a:t>Xác</a:t>
            </a:r>
            <a:r>
              <a:rPr lang="en-US" dirty="0" smtClean="0"/>
              <a:t> </a:t>
            </a:r>
            <a:r>
              <a:rPr lang="en-US" dirty="0" err="1" smtClean="0"/>
              <a:t>định</a:t>
            </a:r>
            <a:r>
              <a:rPr lang="vi-VN" dirty="0" smtClean="0"/>
              <a:t> </a:t>
            </a:r>
            <a:r>
              <a:rPr lang="vi-VN" dirty="0"/>
              <a:t>các trường hợp </a:t>
            </a:r>
            <a:r>
              <a:rPr lang="en-US" dirty="0" err="1" smtClean="0"/>
              <a:t>cơ</a:t>
            </a:r>
            <a:r>
              <a:rPr lang="en-US" dirty="0" smtClean="0"/>
              <a:t> </a:t>
            </a:r>
            <a:r>
              <a:rPr lang="en-US" dirty="0" err="1" smtClean="0"/>
              <a:t>sở</a:t>
            </a:r>
            <a:endParaRPr lang="en-US" dirty="0" smtClean="0"/>
          </a:p>
          <a:p>
            <a:pPr lvl="1"/>
            <a:r>
              <a:rPr lang="en-US" dirty="0" smtClean="0"/>
              <a:t>T</a:t>
            </a:r>
            <a:r>
              <a:rPr lang="vi-VN" dirty="0" smtClean="0"/>
              <a:t>rường </a:t>
            </a:r>
            <a:r>
              <a:rPr lang="vi-VN" dirty="0"/>
              <a:t>hợp suy biến </a:t>
            </a:r>
            <a:r>
              <a:rPr lang="en-US" dirty="0" err="1" smtClean="0"/>
              <a:t>của</a:t>
            </a:r>
            <a:r>
              <a:rPr lang="en-US" dirty="0" smtClean="0"/>
              <a:t> </a:t>
            </a:r>
            <a:r>
              <a:rPr lang="en-US" dirty="0" err="1" smtClean="0"/>
              <a:t>tham</a:t>
            </a:r>
            <a:r>
              <a:rPr lang="en-US" dirty="0" smtClean="0"/>
              <a:t> </a:t>
            </a:r>
            <a:r>
              <a:rPr lang="en-US" dirty="0" err="1" smtClean="0"/>
              <a:t>số</a:t>
            </a:r>
            <a:endParaRPr lang="en-US" dirty="0" smtClean="0"/>
          </a:p>
          <a:p>
            <a:pPr lvl="1"/>
            <a:r>
              <a:rPr lang="en-US" dirty="0" smtClean="0"/>
              <a:t>T</a:t>
            </a:r>
            <a:r>
              <a:rPr lang="vi-VN" dirty="0" smtClean="0"/>
              <a:t>rường </a:t>
            </a:r>
            <a:r>
              <a:rPr lang="vi-VN" dirty="0"/>
              <a:t>hợp tương ứng với các </a:t>
            </a:r>
            <a:r>
              <a:rPr lang="vi-VN" dirty="0" smtClean="0"/>
              <a:t>g</a:t>
            </a:r>
            <a:r>
              <a:rPr lang="en-US" dirty="0" err="1" smtClean="0"/>
              <a:t>ía</a:t>
            </a:r>
            <a:r>
              <a:rPr lang="vi-VN" dirty="0" smtClean="0"/>
              <a:t> </a:t>
            </a:r>
            <a:r>
              <a:rPr lang="vi-VN" dirty="0"/>
              <a:t>trị </a:t>
            </a:r>
            <a:r>
              <a:rPr lang="vi-VN" dirty="0" smtClean="0"/>
              <a:t>biên</a:t>
            </a:r>
            <a:r>
              <a:rPr lang="en-US" dirty="0" smtClean="0"/>
              <a:t> </a:t>
            </a:r>
            <a:r>
              <a:rPr lang="en-US" dirty="0" err="1" smtClean="0"/>
              <a:t>của</a:t>
            </a:r>
            <a:r>
              <a:rPr lang="en-US" dirty="0" smtClean="0"/>
              <a:t> </a:t>
            </a:r>
            <a:r>
              <a:rPr lang="en-US" dirty="0" err="1" smtClean="0"/>
              <a:t>tham</a:t>
            </a:r>
            <a:r>
              <a:rPr lang="en-US" dirty="0" smtClean="0"/>
              <a:t> </a:t>
            </a:r>
            <a:r>
              <a:rPr lang="en-US" dirty="0" err="1" smtClean="0"/>
              <a:t>số</a:t>
            </a:r>
            <a:endParaRPr lang="en-US" dirty="0" smtClean="0"/>
          </a:p>
          <a:p>
            <a:r>
              <a:rPr lang="en-US" dirty="0" err="1"/>
              <a:t>Bước</a:t>
            </a:r>
            <a:r>
              <a:rPr lang="en-US" dirty="0"/>
              <a:t> </a:t>
            </a:r>
            <a:r>
              <a:rPr lang="en-US" dirty="0" smtClean="0"/>
              <a:t>4: </a:t>
            </a:r>
            <a:r>
              <a:rPr lang="en-US" dirty="0" err="1" smtClean="0"/>
              <a:t>Xây</a:t>
            </a:r>
            <a:r>
              <a:rPr lang="en-US" dirty="0" smtClean="0"/>
              <a:t> </a:t>
            </a:r>
            <a:r>
              <a:rPr lang="en-US" dirty="0" err="1" smtClean="0"/>
              <a:t>dựng</a:t>
            </a:r>
            <a:r>
              <a:rPr lang="en-US" dirty="0" smtClean="0"/>
              <a:t> </a:t>
            </a:r>
            <a:r>
              <a:rPr lang="en-US" dirty="0" err="1" smtClean="0"/>
              <a:t>thủ</a:t>
            </a:r>
            <a:r>
              <a:rPr lang="en-US" dirty="0" smtClean="0"/>
              <a:t> </a:t>
            </a:r>
            <a:r>
              <a:rPr lang="en-US" dirty="0" err="1" smtClean="0"/>
              <a:t>tục</a:t>
            </a:r>
            <a:r>
              <a:rPr lang="en-US" dirty="0" smtClean="0"/>
              <a:t> </a:t>
            </a:r>
            <a:r>
              <a:rPr lang="en-US" dirty="0" err="1" smtClean="0"/>
              <a:t>có</a:t>
            </a:r>
            <a:r>
              <a:rPr lang="en-US" dirty="0" smtClean="0"/>
              <a:t> </a:t>
            </a:r>
            <a:r>
              <a:rPr lang="en-US" dirty="0" err="1" smtClean="0"/>
              <a:t>tính</a:t>
            </a:r>
            <a:r>
              <a:rPr lang="en-US" dirty="0" smtClean="0"/>
              <a:t> </a:t>
            </a:r>
            <a:r>
              <a:rPr lang="en-US" dirty="0" err="1" smtClean="0"/>
              <a:t>chất</a:t>
            </a:r>
            <a:r>
              <a:rPr lang="en-US" dirty="0" smtClean="0"/>
              <a:t> </a:t>
            </a:r>
            <a:r>
              <a:rPr lang="vi-VN" dirty="0" smtClean="0"/>
              <a:t>đệ quy</a:t>
            </a:r>
            <a:r>
              <a:rPr lang="en-US" dirty="0" smtClean="0"/>
              <a:t> </a:t>
            </a:r>
            <a:r>
              <a:rPr lang="en-US" dirty="0" err="1" smtClean="0"/>
              <a:t>theo</a:t>
            </a:r>
            <a:r>
              <a:rPr lang="en-US" dirty="0" smtClean="0"/>
              <a:t> </a:t>
            </a:r>
            <a:r>
              <a:rPr lang="en-US" dirty="0" err="1" smtClean="0"/>
              <a:t>tham</a:t>
            </a:r>
            <a:r>
              <a:rPr lang="en-US" dirty="0" smtClean="0"/>
              <a:t> </a:t>
            </a:r>
            <a:r>
              <a:rPr lang="en-US" dirty="0" err="1" smtClean="0"/>
              <a:t>số</a:t>
            </a:r>
            <a:r>
              <a:rPr lang="en-US" dirty="0" smtClean="0"/>
              <a:t> </a:t>
            </a:r>
            <a:r>
              <a:rPr lang="en-US" dirty="0" err="1" smtClean="0"/>
              <a:t>đã</a:t>
            </a:r>
            <a:r>
              <a:rPr lang="en-US" dirty="0" smtClean="0"/>
              <a:t> </a:t>
            </a:r>
            <a:r>
              <a:rPr lang="en-US" dirty="0" err="1" smtClean="0"/>
              <a:t>xác</a:t>
            </a:r>
            <a:r>
              <a:rPr lang="en-US" dirty="0" smtClean="0"/>
              <a:t> </a:t>
            </a:r>
            <a:r>
              <a:rPr lang="en-US" dirty="0" err="1" smtClean="0"/>
              <a:t>định</a:t>
            </a:r>
            <a:endParaRPr lang="en-US" dirty="0"/>
          </a:p>
        </p:txBody>
      </p:sp>
    </p:spTree>
    <p:extLst>
      <p:ext uri="{BB962C8B-B14F-4D97-AF65-F5344CB8AC3E}">
        <p14:creationId xmlns:p14="http://schemas.microsoft.com/office/powerpoint/2010/main" val="40252824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19</a:t>
            </a:fld>
            <a:endParaRPr lang="en-US"/>
          </a:p>
        </p:txBody>
      </p:sp>
      <p:sp>
        <p:nvSpPr>
          <p:cNvPr id="5" name="Title 4"/>
          <p:cNvSpPr>
            <a:spLocks noGrp="1"/>
          </p:cNvSpPr>
          <p:nvPr>
            <p:ph type="title"/>
          </p:nvPr>
        </p:nvSpPr>
        <p:spPr/>
        <p:txBody>
          <a:bodyPr/>
          <a:lstStyle/>
          <a:p>
            <a:r>
              <a:rPr lang="en-US" dirty="0" smtClean="0"/>
              <a:t>2.2 </a:t>
            </a:r>
            <a:r>
              <a:rPr lang="en-US" altLang="en-US" dirty="0" err="1"/>
              <a:t>Phương</a:t>
            </a:r>
            <a:r>
              <a:rPr lang="en-US" altLang="en-US" dirty="0"/>
              <a:t> </a:t>
            </a:r>
            <a:r>
              <a:rPr lang="en-US" altLang="en-US" dirty="0" err="1"/>
              <a:t>pháp</a:t>
            </a:r>
            <a:r>
              <a:rPr lang="en-US" altLang="en-US" dirty="0"/>
              <a:t> </a:t>
            </a:r>
            <a:r>
              <a:rPr lang="en-US" altLang="en-US" dirty="0" err="1"/>
              <a:t>xây</a:t>
            </a:r>
            <a:r>
              <a:rPr lang="en-US" altLang="en-US" dirty="0"/>
              <a:t> </a:t>
            </a:r>
            <a:r>
              <a:rPr lang="en-US" altLang="en-US" dirty="0" err="1" smtClean="0"/>
              <a:t>dựng</a:t>
            </a:r>
            <a:r>
              <a:rPr lang="en-US" altLang="en-US" dirty="0" smtClean="0"/>
              <a:t> </a:t>
            </a:r>
            <a:r>
              <a:rPr lang="en-US" altLang="en-US" dirty="0" err="1" smtClean="0"/>
              <a:t>thủ</a:t>
            </a:r>
            <a:r>
              <a:rPr lang="en-US" altLang="en-US" dirty="0" smtClean="0"/>
              <a:t> </a:t>
            </a:r>
            <a:r>
              <a:rPr lang="en-US" altLang="en-US" dirty="0" err="1"/>
              <a:t>tục</a:t>
            </a:r>
            <a:r>
              <a:rPr lang="en-US" altLang="en-US" dirty="0"/>
              <a:t> </a:t>
            </a:r>
            <a:r>
              <a:rPr lang="en-US" altLang="en-US" dirty="0" err="1"/>
              <a:t>đệ</a:t>
            </a:r>
            <a:r>
              <a:rPr lang="en-US" altLang="en-US" dirty="0"/>
              <a:t> </a:t>
            </a:r>
            <a:r>
              <a:rPr lang="en-US" altLang="en-US" dirty="0" err="1"/>
              <a:t>quy</a:t>
            </a:r>
            <a:r>
              <a:rPr lang="en-US" altLang="en-US" dirty="0"/>
              <a:t> </a:t>
            </a:r>
            <a:endParaRPr lang="en-US" dirty="0"/>
          </a:p>
        </p:txBody>
      </p:sp>
      <p:sp>
        <p:nvSpPr>
          <p:cNvPr id="2" name="Content Placeholder 1"/>
          <p:cNvSpPr>
            <a:spLocks noGrp="1"/>
          </p:cNvSpPr>
          <p:nvPr>
            <p:ph type="body" sz="quarter" idx="13"/>
          </p:nvPr>
        </p:nvSpPr>
        <p:spPr/>
        <p:txBody>
          <a:bodyPr/>
          <a:lstStyle/>
          <a:p>
            <a:pPr>
              <a:spcBef>
                <a:spcPct val="10000"/>
              </a:spcBef>
            </a:pPr>
            <a:r>
              <a:rPr lang="en-US" altLang="en-US" sz="2400" i="1" dirty="0" err="1">
                <a:cs typeface="Times New Roman" panose="02020603050405020304" pitchFamily="18" charset="0"/>
              </a:rPr>
              <a:t>Cấu</a:t>
            </a:r>
            <a:r>
              <a:rPr lang="en-US" altLang="en-US" sz="2400" i="1" dirty="0">
                <a:cs typeface="Times New Roman" panose="02020603050405020304" pitchFamily="18" charset="0"/>
              </a:rPr>
              <a:t> </a:t>
            </a:r>
            <a:r>
              <a:rPr lang="en-US" altLang="en-US" sz="2400" i="1" dirty="0" err="1">
                <a:cs typeface="Times New Roman" panose="02020603050405020304" pitchFamily="18" charset="0"/>
              </a:rPr>
              <a:t>trúc</a:t>
            </a:r>
            <a:r>
              <a:rPr lang="en-US" altLang="en-US" sz="2400" i="1"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thủ</a:t>
            </a:r>
            <a:r>
              <a:rPr lang="en-US" altLang="en-US" sz="2400" dirty="0">
                <a:cs typeface="Times New Roman" panose="02020603050405020304" pitchFamily="18" charset="0"/>
              </a:rPr>
              <a:t> </a:t>
            </a:r>
            <a:r>
              <a:rPr lang="en-US" altLang="en-US" sz="2400" dirty="0" err="1">
                <a:cs typeface="Times New Roman" panose="02020603050405020304" pitchFamily="18" charset="0"/>
              </a:rPr>
              <a:t>tục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endParaRPr lang="en-US" altLang="en-US" sz="2400" dirty="0" smtClean="0">
              <a:cs typeface="Times New Roman" panose="02020603050405020304" pitchFamily="18" charset="0"/>
            </a:endParaRPr>
          </a:p>
          <a:p>
            <a:pPr lvl="1">
              <a:spcBef>
                <a:spcPct val="10000"/>
              </a:spcBef>
            </a:pPr>
            <a:r>
              <a:rPr lang="en-US" altLang="en-US" sz="2100" dirty="0" err="1" smtClean="0">
                <a:cs typeface="Times New Roman" panose="02020603050405020304" pitchFamily="18" charset="0"/>
              </a:rPr>
              <a:t>Trong</a:t>
            </a:r>
            <a:r>
              <a:rPr lang="en-US" altLang="en-US" sz="2100" dirty="0" smtClean="0">
                <a:cs typeface="Times New Roman" panose="02020603050405020304" pitchFamily="18" charset="0"/>
              </a:rPr>
              <a:t> </a:t>
            </a:r>
            <a:r>
              <a:rPr lang="en-US" altLang="en-US" sz="2100" dirty="0" err="1">
                <a:cs typeface="Times New Roman" panose="02020603050405020304" pitchFamily="18" charset="0"/>
              </a:rPr>
              <a:t>thủ</a:t>
            </a:r>
            <a:r>
              <a:rPr lang="en-US" altLang="en-US" sz="2100" dirty="0">
                <a:cs typeface="Times New Roman" panose="02020603050405020304" pitchFamily="18" charset="0"/>
              </a:rPr>
              <a:t> </a:t>
            </a:r>
            <a:r>
              <a:rPr lang="en-US" altLang="en-US" sz="2100" dirty="0" err="1">
                <a:cs typeface="Times New Roman" panose="02020603050405020304" pitchFamily="18" charset="0"/>
              </a:rPr>
              <a:t>tục</a:t>
            </a:r>
            <a:r>
              <a:rPr lang="en-US" altLang="en-US" sz="2100" dirty="0">
                <a:cs typeface="Times New Roman" panose="02020603050405020304" pitchFamily="18" charset="0"/>
              </a:rPr>
              <a:t> </a:t>
            </a:r>
            <a:r>
              <a:rPr lang="en-US" altLang="en-US" sz="2100" dirty="0" err="1">
                <a:cs typeface="Times New Roman" panose="02020603050405020304" pitchFamily="18" charset="0"/>
              </a:rPr>
              <a:t>đệ</a:t>
            </a:r>
            <a:r>
              <a:rPr lang="en-US" altLang="en-US" sz="2100" dirty="0">
                <a:cs typeface="Times New Roman" panose="02020603050405020304" pitchFamily="18" charset="0"/>
              </a:rPr>
              <a:t> </a:t>
            </a:r>
            <a:r>
              <a:rPr lang="en-US" altLang="en-US" sz="2100" dirty="0" err="1">
                <a:cs typeface="Times New Roman" panose="02020603050405020304" pitchFamily="18" charset="0"/>
              </a:rPr>
              <a:t>quy</a:t>
            </a:r>
            <a:r>
              <a:rPr lang="en-US" altLang="en-US" sz="2100" dirty="0">
                <a:cs typeface="Times New Roman" panose="02020603050405020304" pitchFamily="18" charset="0"/>
              </a:rPr>
              <a:t> </a:t>
            </a:r>
            <a:r>
              <a:rPr lang="en-US" altLang="en-US" sz="2100" dirty="0" err="1">
                <a:cs typeface="Times New Roman" panose="02020603050405020304" pitchFamily="18" charset="0"/>
              </a:rPr>
              <a:t>có</a:t>
            </a:r>
            <a:r>
              <a:rPr lang="en-US" altLang="en-US" sz="2100" dirty="0">
                <a:cs typeface="Times New Roman" panose="02020603050405020304" pitchFamily="18" charset="0"/>
              </a:rPr>
              <a:t> </a:t>
            </a:r>
            <a:r>
              <a:rPr lang="en-US" altLang="en-US" sz="2100" i="1" dirty="0" err="1">
                <a:cs typeface="Times New Roman" panose="02020603050405020304" pitchFamily="18" charset="0"/>
              </a:rPr>
              <a:t>lời</a:t>
            </a:r>
            <a:r>
              <a:rPr lang="en-US" altLang="en-US" sz="2100" i="1" dirty="0">
                <a:cs typeface="Times New Roman" panose="02020603050405020304" pitchFamily="18" charset="0"/>
              </a:rPr>
              <a:t> </a:t>
            </a:r>
            <a:r>
              <a:rPr lang="en-US" altLang="en-US" sz="2100" i="1" dirty="0" err="1">
                <a:cs typeface="Times New Roman" panose="02020603050405020304" pitchFamily="18" charset="0"/>
              </a:rPr>
              <a:t>gọi</a:t>
            </a:r>
            <a:r>
              <a:rPr lang="en-US" altLang="en-US" sz="2100" i="1" dirty="0">
                <a:cs typeface="Times New Roman" panose="02020603050405020304" pitchFamily="18" charset="0"/>
              </a:rPr>
              <a:t> </a:t>
            </a:r>
            <a:r>
              <a:rPr lang="en-US" altLang="en-US" sz="2100" dirty="0" err="1">
                <a:cs typeface="Times New Roman" panose="02020603050405020304" pitchFamily="18" charset="0"/>
              </a:rPr>
              <a:t>đến</a:t>
            </a:r>
            <a:r>
              <a:rPr lang="en-US" altLang="en-US" sz="2100" dirty="0">
                <a:cs typeface="Times New Roman" panose="02020603050405020304" pitchFamily="18" charset="0"/>
              </a:rPr>
              <a:t> </a:t>
            </a:r>
            <a:r>
              <a:rPr lang="en-US" altLang="en-US" sz="2100" dirty="0" err="1">
                <a:cs typeface="Times New Roman" panose="02020603050405020304" pitchFamily="18" charset="0"/>
              </a:rPr>
              <a:t>chính</a:t>
            </a:r>
            <a:r>
              <a:rPr lang="en-US" altLang="en-US" sz="2100" dirty="0">
                <a:cs typeface="Times New Roman" panose="02020603050405020304" pitchFamily="18" charset="0"/>
              </a:rPr>
              <a:t> </a:t>
            </a:r>
            <a:r>
              <a:rPr lang="en-US" altLang="en-US" sz="2100" dirty="0" err="1">
                <a:cs typeface="Times New Roman" panose="02020603050405020304" pitchFamily="18" charset="0"/>
              </a:rPr>
              <a:t>thủ</a:t>
            </a:r>
            <a:r>
              <a:rPr lang="en-US" altLang="en-US" sz="2100" dirty="0">
                <a:cs typeface="Times New Roman" panose="02020603050405020304" pitchFamily="18" charset="0"/>
              </a:rPr>
              <a:t> </a:t>
            </a:r>
            <a:r>
              <a:rPr lang="en-US" altLang="en-US" sz="2100" dirty="0" err="1">
                <a:cs typeface="Times New Roman" panose="02020603050405020304" pitchFamily="18" charset="0"/>
              </a:rPr>
              <a:t>tục</a:t>
            </a:r>
            <a:r>
              <a:rPr lang="en-US" altLang="en-US" sz="2100" dirty="0">
                <a:cs typeface="Times New Roman" panose="02020603050405020304" pitchFamily="18" charset="0"/>
              </a:rPr>
              <a:t> </a:t>
            </a:r>
            <a:r>
              <a:rPr lang="en-US" altLang="en-US" sz="2100" dirty="0" err="1" smtClean="0">
                <a:cs typeface="Times New Roman" panose="02020603050405020304" pitchFamily="18" charset="0"/>
              </a:rPr>
              <a:t>đó</a:t>
            </a:r>
            <a:r>
              <a:rPr lang="en-US" altLang="en-US" sz="2100" dirty="0" smtClean="0">
                <a:cs typeface="Times New Roman" panose="02020603050405020304" pitchFamily="18" charset="0"/>
              </a:rPr>
              <a:t>.</a:t>
            </a:r>
            <a:endParaRPr lang="en-US" altLang="en-US" sz="2100" dirty="0">
              <a:cs typeface="Times New Roman" panose="02020603050405020304" pitchFamily="18" charset="0"/>
            </a:endParaRPr>
          </a:p>
          <a:p>
            <a:pPr lvl="1">
              <a:spcBef>
                <a:spcPct val="10000"/>
              </a:spcBef>
            </a:pPr>
            <a:r>
              <a:rPr lang="en-US" altLang="en-US" sz="2100" dirty="0" err="1">
                <a:cs typeface="Times New Roman" panose="02020603050405020304" pitchFamily="18" charset="0"/>
              </a:rPr>
              <a:t>Mỗi</a:t>
            </a:r>
            <a:r>
              <a:rPr lang="en-US" altLang="en-US" sz="2100" dirty="0">
                <a:cs typeface="Times New Roman" panose="02020603050405020304" pitchFamily="18" charset="0"/>
              </a:rPr>
              <a:t> </a:t>
            </a:r>
            <a:r>
              <a:rPr lang="en-US" altLang="en-US" sz="2100" dirty="0" err="1">
                <a:cs typeface="Times New Roman" panose="02020603050405020304" pitchFamily="18" charset="0"/>
              </a:rPr>
              <a:t>lần</a:t>
            </a:r>
            <a:r>
              <a:rPr lang="en-US" altLang="en-US" sz="2100" dirty="0">
                <a:cs typeface="Times New Roman" panose="02020603050405020304" pitchFamily="18" charset="0"/>
              </a:rPr>
              <a:t> </a:t>
            </a:r>
            <a:r>
              <a:rPr lang="en-US" altLang="en-US" sz="2100" dirty="0" err="1">
                <a:cs typeface="Times New Roman" panose="02020603050405020304" pitchFamily="18" charset="0"/>
              </a:rPr>
              <a:t>thực</a:t>
            </a:r>
            <a:r>
              <a:rPr lang="en-US" altLang="en-US" sz="2100" dirty="0">
                <a:cs typeface="Times New Roman" panose="02020603050405020304" pitchFamily="18" charset="0"/>
              </a:rPr>
              <a:t> </a:t>
            </a:r>
            <a:r>
              <a:rPr lang="en-US" altLang="en-US" sz="2100" dirty="0" err="1">
                <a:cs typeface="Times New Roman" panose="02020603050405020304" pitchFamily="18" charset="0"/>
              </a:rPr>
              <a:t>hiện</a:t>
            </a:r>
            <a:r>
              <a:rPr lang="en-US" altLang="en-US" sz="2100" dirty="0">
                <a:cs typeface="Times New Roman" panose="02020603050405020304" pitchFamily="18" charset="0"/>
              </a:rPr>
              <a:t> </a:t>
            </a:r>
            <a:r>
              <a:rPr lang="en-US" altLang="en-US" sz="2100" dirty="0" err="1">
                <a:cs typeface="Times New Roman" panose="02020603050405020304" pitchFamily="18" charset="0"/>
              </a:rPr>
              <a:t>gọi</a:t>
            </a:r>
            <a:r>
              <a:rPr lang="en-US" altLang="en-US" sz="2100" dirty="0">
                <a:cs typeface="Times New Roman" panose="02020603050405020304" pitchFamily="18" charset="0"/>
              </a:rPr>
              <a:t> </a:t>
            </a:r>
            <a:r>
              <a:rPr lang="en-US" altLang="en-US" sz="2100" dirty="0" err="1">
                <a:cs typeface="Times New Roman" panose="02020603050405020304" pitchFamily="18" charset="0"/>
              </a:rPr>
              <a:t>lại</a:t>
            </a:r>
            <a:r>
              <a:rPr lang="en-US" altLang="en-US" sz="2100" dirty="0">
                <a:cs typeface="Times New Roman" panose="02020603050405020304" pitchFamily="18" charset="0"/>
              </a:rPr>
              <a:t> </a:t>
            </a:r>
            <a:r>
              <a:rPr lang="en-US" altLang="en-US" sz="2100" dirty="0" err="1">
                <a:cs typeface="Times New Roman" panose="02020603050405020304" pitchFamily="18" charset="0"/>
              </a:rPr>
              <a:t>thủ</a:t>
            </a:r>
            <a:r>
              <a:rPr lang="en-US" altLang="en-US" sz="2100" dirty="0">
                <a:cs typeface="Times New Roman" panose="02020603050405020304" pitchFamily="18" charset="0"/>
              </a:rPr>
              <a:t> </a:t>
            </a:r>
            <a:r>
              <a:rPr lang="en-US" altLang="en-US" sz="2100" dirty="0" err="1">
                <a:cs typeface="Times New Roman" panose="02020603050405020304" pitchFamily="18" charset="0"/>
              </a:rPr>
              <a:t>tục</a:t>
            </a:r>
            <a:r>
              <a:rPr lang="en-US" altLang="en-US" sz="2100" dirty="0">
                <a:cs typeface="Times New Roman" panose="02020603050405020304" pitchFamily="18" charset="0"/>
              </a:rPr>
              <a:t> </a:t>
            </a:r>
            <a:r>
              <a:rPr lang="en-US" altLang="en-US" sz="2100" dirty="0" err="1">
                <a:cs typeface="Times New Roman" panose="02020603050405020304" pitchFamily="18" charset="0"/>
              </a:rPr>
              <a:t>thì</a:t>
            </a:r>
            <a:r>
              <a:rPr lang="en-US" altLang="en-US" sz="2100" dirty="0">
                <a:cs typeface="Times New Roman" panose="02020603050405020304" pitchFamily="18" charset="0"/>
              </a:rPr>
              <a:t> </a:t>
            </a:r>
            <a:r>
              <a:rPr lang="en-US" altLang="en-US" sz="2100" dirty="0" err="1">
                <a:cs typeface="Times New Roman" panose="02020603050405020304" pitchFamily="18" charset="0"/>
              </a:rPr>
              <a:t>kích</a:t>
            </a:r>
            <a:r>
              <a:rPr lang="en-US" altLang="en-US" sz="2100" dirty="0">
                <a:cs typeface="Times New Roman" panose="02020603050405020304" pitchFamily="18" charset="0"/>
              </a:rPr>
              <a:t> </a:t>
            </a:r>
            <a:r>
              <a:rPr lang="en-US" altLang="en-US" sz="2100" dirty="0" err="1">
                <a:cs typeface="Times New Roman" panose="02020603050405020304" pitchFamily="18" charset="0"/>
              </a:rPr>
              <a:t>thước</a:t>
            </a:r>
            <a:r>
              <a:rPr lang="en-US" altLang="en-US" sz="2100" dirty="0">
                <a:cs typeface="Times New Roman" panose="02020603050405020304" pitchFamily="18" charset="0"/>
              </a:rPr>
              <a:t> </a:t>
            </a:r>
            <a:r>
              <a:rPr lang="en-US" altLang="en-US" sz="2100" dirty="0" err="1">
                <a:cs typeface="Times New Roman" panose="02020603050405020304" pitchFamily="18" charset="0"/>
              </a:rPr>
              <a:t>của</a:t>
            </a:r>
            <a:r>
              <a:rPr lang="en-US" altLang="en-US" sz="2100" dirty="0">
                <a:cs typeface="Times New Roman" panose="02020603050405020304" pitchFamily="18" charset="0"/>
              </a:rPr>
              <a:t> </a:t>
            </a:r>
            <a:r>
              <a:rPr lang="en-US" altLang="en-US" sz="2100" dirty="0" err="1">
                <a:cs typeface="Times New Roman" panose="02020603050405020304" pitchFamily="18" charset="0"/>
              </a:rPr>
              <a:t>bài</a:t>
            </a:r>
            <a:r>
              <a:rPr lang="en-US" altLang="en-US" sz="2100" dirty="0">
                <a:cs typeface="Times New Roman" panose="02020603050405020304" pitchFamily="18" charset="0"/>
              </a:rPr>
              <a:t> </a:t>
            </a:r>
            <a:r>
              <a:rPr lang="en-US" altLang="en-US" sz="2100" dirty="0" err="1">
                <a:cs typeface="Times New Roman" panose="02020603050405020304" pitchFamily="18" charset="0"/>
              </a:rPr>
              <a:t>toán</a:t>
            </a:r>
            <a:r>
              <a:rPr lang="en-US" altLang="en-US" sz="2100" dirty="0">
                <a:cs typeface="Times New Roman" panose="02020603050405020304" pitchFamily="18" charset="0"/>
              </a:rPr>
              <a:t> </a:t>
            </a:r>
            <a:r>
              <a:rPr lang="en-US" altLang="en-US" sz="2100" dirty="0" err="1" smtClean="0">
                <a:cs typeface="Times New Roman" panose="02020603050405020304" pitchFamily="18" charset="0"/>
              </a:rPr>
              <a:t>lại</a:t>
            </a:r>
            <a:r>
              <a:rPr lang="en-US" altLang="en-US" sz="2100" dirty="0" smtClean="0">
                <a:cs typeface="Times New Roman" panose="02020603050405020304" pitchFamily="18" charset="0"/>
              </a:rPr>
              <a:t> </a:t>
            </a:r>
            <a:r>
              <a:rPr lang="en-US" altLang="en-US" sz="2100" i="1" dirty="0" err="1">
                <a:cs typeface="Times New Roman" panose="02020603050405020304" pitchFamily="18" charset="0"/>
              </a:rPr>
              <a:t>thu</a:t>
            </a:r>
            <a:r>
              <a:rPr lang="en-US" altLang="en-US" sz="2100" i="1" dirty="0">
                <a:cs typeface="Times New Roman" panose="02020603050405020304" pitchFamily="18" charset="0"/>
              </a:rPr>
              <a:t> </a:t>
            </a:r>
            <a:r>
              <a:rPr lang="en-US" altLang="en-US" sz="2100" i="1" dirty="0" err="1">
                <a:cs typeface="Times New Roman" panose="02020603050405020304" pitchFamily="18" charset="0"/>
              </a:rPr>
              <a:t>nhỏ</a:t>
            </a:r>
            <a:r>
              <a:rPr lang="en-US" altLang="en-US" sz="2100" i="1" dirty="0">
                <a:cs typeface="Times New Roman" panose="02020603050405020304" pitchFamily="18" charset="0"/>
              </a:rPr>
              <a:t> </a:t>
            </a:r>
            <a:r>
              <a:rPr lang="en-US" altLang="en-US" sz="2100" dirty="0" err="1">
                <a:cs typeface="Times New Roman" panose="02020603050405020304" pitchFamily="18" charset="0"/>
              </a:rPr>
              <a:t>hơn</a:t>
            </a:r>
            <a:r>
              <a:rPr lang="en-US" altLang="en-US" sz="2100" dirty="0">
                <a:cs typeface="Times New Roman" panose="02020603050405020304" pitchFamily="18" charset="0"/>
              </a:rPr>
              <a:t> </a:t>
            </a:r>
            <a:r>
              <a:rPr lang="en-US" altLang="en-US" sz="2100" dirty="0" err="1" smtClean="0">
                <a:cs typeface="Times New Roman" panose="02020603050405020304" pitchFamily="18" charset="0"/>
              </a:rPr>
              <a:t>trước</a:t>
            </a:r>
            <a:r>
              <a:rPr lang="en-US" altLang="en-US" sz="2100" dirty="0" smtClean="0">
                <a:cs typeface="Times New Roman" panose="02020603050405020304" pitchFamily="18" charset="0"/>
              </a:rPr>
              <a:t>.</a:t>
            </a:r>
            <a:endParaRPr lang="en-US" altLang="en-US" sz="2100" dirty="0">
              <a:cs typeface="Times New Roman" panose="02020603050405020304" pitchFamily="18" charset="0"/>
            </a:endParaRPr>
          </a:p>
          <a:p>
            <a:pPr lvl="1">
              <a:spcBef>
                <a:spcPct val="10000"/>
              </a:spcBef>
            </a:pPr>
            <a:r>
              <a:rPr lang="en-US" altLang="en-US" sz="2100" dirty="0" err="1" smtClean="0">
                <a:cs typeface="Times New Roman" panose="02020603050405020304" pitchFamily="18" charset="0"/>
              </a:rPr>
              <a:t>Có</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trường</a:t>
            </a:r>
            <a:r>
              <a:rPr lang="en-US" altLang="en-US" sz="2100" dirty="0" smtClean="0">
                <a:cs typeface="Times New Roman" panose="02020603050405020304" pitchFamily="18" charset="0"/>
              </a:rPr>
              <a:t> </a:t>
            </a:r>
            <a:r>
              <a:rPr lang="en-US" altLang="en-US" sz="2100" dirty="0" err="1">
                <a:cs typeface="Times New Roman" panose="02020603050405020304" pitchFamily="18" charset="0"/>
              </a:rPr>
              <a:t>hợp</a:t>
            </a:r>
            <a:r>
              <a:rPr lang="en-US" altLang="en-US" sz="2100" dirty="0">
                <a:cs typeface="Times New Roman" panose="02020603050405020304" pitchFamily="18" charset="0"/>
              </a:rPr>
              <a:t> </a:t>
            </a:r>
            <a:r>
              <a:rPr lang="en-US" altLang="en-US" sz="2100" i="1" dirty="0" err="1">
                <a:cs typeface="Times New Roman" panose="02020603050405020304" pitchFamily="18" charset="0"/>
              </a:rPr>
              <a:t>c</a:t>
            </a:r>
            <a:r>
              <a:rPr lang="en-US" altLang="en-US" sz="2100" i="1" dirty="0" err="1"/>
              <a:t>ơ</a:t>
            </a:r>
            <a:r>
              <a:rPr lang="en-US" altLang="en-US" sz="2100" i="1" dirty="0"/>
              <a:t> </a:t>
            </a:r>
            <a:r>
              <a:rPr lang="en-US" altLang="en-US" sz="2100" i="1" dirty="0" err="1"/>
              <a:t>sở</a:t>
            </a:r>
            <a:r>
              <a:rPr lang="en-US" altLang="en-US" sz="2100" i="1" dirty="0">
                <a:cs typeface="Times New Roman" panose="02020603050405020304" pitchFamily="18" charset="0"/>
              </a:rPr>
              <a:t> </a:t>
            </a:r>
            <a:r>
              <a:rPr lang="en-US" altLang="en-US" sz="2100" dirty="0" err="1" smtClean="0">
                <a:cs typeface="Times New Roman" panose="02020603050405020304" pitchFamily="18" charset="0"/>
              </a:rPr>
              <a:t>để</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dừng</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đệ</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quy</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kết</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thúc</a:t>
            </a:r>
            <a:r>
              <a:rPr lang="en-US" altLang="en-US" sz="2100" dirty="0" smtClean="0">
                <a:cs typeface="Times New Roman" panose="02020603050405020304" pitchFamily="18" charset="0"/>
              </a:rPr>
              <a:t> </a:t>
            </a:r>
            <a:r>
              <a:rPr lang="en-US" altLang="en-US" sz="2100" dirty="0" err="1">
                <a:cs typeface="Times New Roman" panose="02020603050405020304" pitchFamily="18" charset="0"/>
              </a:rPr>
              <a:t>bài</a:t>
            </a:r>
            <a:r>
              <a:rPr lang="en-US" altLang="en-US" sz="2100" dirty="0">
                <a:cs typeface="Times New Roman" panose="02020603050405020304" pitchFamily="18" charset="0"/>
              </a:rPr>
              <a:t> </a:t>
            </a:r>
            <a:r>
              <a:rPr lang="en-US" altLang="en-US" sz="2100" dirty="0" err="1" smtClean="0">
                <a:cs typeface="Times New Roman" panose="02020603050405020304" pitchFamily="18" charset="0"/>
              </a:rPr>
              <a:t>toán</a:t>
            </a:r>
            <a:r>
              <a:rPr lang="en-US" altLang="en-US" sz="2100" dirty="0" smtClean="0">
                <a:cs typeface="Times New Roman" panose="02020603050405020304" pitchFamily="18" charset="0"/>
              </a:rPr>
              <a:t>. </a:t>
            </a:r>
            <a:endParaRPr lang="en-US" altLang="en-US" sz="2100" dirty="0">
              <a:cs typeface="Times New Roman" panose="02020603050405020304" pitchFamily="18" charset="0"/>
            </a:endParaRPr>
          </a:p>
        </p:txBody>
      </p:sp>
      <p:sp>
        <p:nvSpPr>
          <p:cNvPr id="6" name="Rectangle 5"/>
          <p:cNvSpPr/>
          <p:nvPr/>
        </p:nvSpPr>
        <p:spPr>
          <a:xfrm>
            <a:off x="1447800" y="3048000"/>
            <a:ext cx="7696200" cy="2585323"/>
          </a:xfrm>
          <a:prstGeom prst="rect">
            <a:avLst/>
          </a:prstGeom>
        </p:spPr>
        <p:txBody>
          <a:bodyPr wrap="square">
            <a:spAutoFit/>
          </a:bodyPr>
          <a:lstStyle/>
          <a:p>
            <a:r>
              <a:rPr lang="en-US" altLang="en-US" b="1" dirty="0">
                <a:latin typeface="Courier New" panose="02070309020205020404" pitchFamily="49" charset="0"/>
                <a:cs typeface="Courier New" panose="02070309020205020404" pitchFamily="49" charset="0"/>
              </a:rPr>
              <a:t>void  </a:t>
            </a:r>
            <a:r>
              <a:rPr lang="en-US" altLang="en-US" b="1" dirty="0" smtClean="0">
                <a:latin typeface="Courier New" panose="02070309020205020404" pitchFamily="49" charset="0"/>
                <a:cs typeface="Courier New" panose="02070309020205020404" pitchFamily="49" charset="0"/>
              </a:rPr>
              <a:t>P(A</a:t>
            </a:r>
            <a:r>
              <a:rPr lang="en-US" altLang="en-US" b="1" dirty="0">
                <a:latin typeface="Courier New" panose="02070309020205020404" pitchFamily="49" charset="0"/>
                <a:cs typeface="Courier New" panose="02070309020205020404" pitchFamily="49" charset="0"/>
              </a:rPr>
              <a:t>) {</a:t>
            </a:r>
          </a:p>
          <a:p>
            <a:pPr eaLnBrk="0" hangingPunct="0"/>
            <a:r>
              <a:rPr lang="en-US" altLang="en-US" b="1" dirty="0">
                <a:latin typeface="Courier New" panose="02070309020205020404" pitchFamily="49" charset="0"/>
                <a:cs typeface="Courier New" panose="02070309020205020404" pitchFamily="49" charset="0"/>
              </a:rPr>
              <a:t>    if </a:t>
            </a:r>
            <a:r>
              <a:rPr lang="en-US" altLang="en-US" b="1" dirty="0" smtClean="0">
                <a:latin typeface="Courier New" panose="02070309020205020404" pitchFamily="49" charset="0"/>
                <a:cs typeface="Courier New" panose="02070309020205020404" pitchFamily="49" charset="0"/>
              </a:rPr>
              <a:t>(A</a:t>
            </a:r>
            <a:r>
              <a:rPr lang="en-US" altLang="en-US" b="1" dirty="0">
                <a:latin typeface="Courier New" panose="02070309020205020404" pitchFamily="49" charset="0"/>
                <a:cs typeface="Courier New" panose="02070309020205020404" pitchFamily="49" charset="0"/>
              </a:rPr>
              <a:t>==</a:t>
            </a:r>
            <a:r>
              <a:rPr lang="en-US" altLang="en-US" b="1" dirty="0" smtClean="0">
                <a:latin typeface="Courier New" panose="02070309020205020404" pitchFamily="49" charset="0"/>
                <a:cs typeface="Courier New" panose="02070309020205020404" pitchFamily="49" charset="0"/>
              </a:rPr>
              <a:t>A</a:t>
            </a:r>
            <a:r>
              <a:rPr lang="en-US" altLang="en-US" b="1" baseline="-30000" dirty="0" smtClean="0">
                <a:latin typeface="Courier New" panose="02070309020205020404" pitchFamily="49" charset="0"/>
                <a:cs typeface="Courier New" panose="02070309020205020404" pitchFamily="49" charset="0"/>
              </a:rPr>
              <a:t>0</a:t>
            </a:r>
            <a:r>
              <a:rPr lang="en-US" altLang="en-US" b="1" dirty="0" smtClean="0">
                <a:latin typeface="Courier New" panose="02070309020205020404" pitchFamily="49" charset="0"/>
                <a:cs typeface="Courier New" panose="02070309020205020404" pitchFamily="49" charset="0"/>
              </a:rPr>
              <a:t>) then</a:t>
            </a:r>
            <a:endParaRPr lang="en-US" altLang="en-US" b="1" dirty="0">
              <a:latin typeface="Courier New" panose="02070309020205020404" pitchFamily="49" charset="0"/>
              <a:cs typeface="Courier New" panose="02070309020205020404" pitchFamily="49" charset="0"/>
            </a:endParaRPr>
          </a:p>
          <a:p>
            <a:pPr eaLnBrk="0" hangingPunct="0"/>
            <a:r>
              <a:rPr lang="en-US" altLang="en-US" b="1" dirty="0" smtClean="0">
                <a:latin typeface="Courier New" panose="02070309020205020404" pitchFamily="49" charset="0"/>
                <a:cs typeface="Courier New" panose="02070309020205020404" pitchFamily="49" charset="0"/>
              </a:rPr>
              <a:t>        … 		</a:t>
            </a:r>
          </a:p>
          <a:p>
            <a:pPr eaLnBrk="0" hangingPunct="0"/>
            <a:r>
              <a:rPr lang="en-US" altLang="en-US" b="1" dirty="0" smtClean="0">
                <a:latin typeface="Courier New" panose="02070309020205020404" pitchFamily="49" charset="0"/>
                <a:cs typeface="Courier New" panose="02070309020205020404" pitchFamily="49" charset="0"/>
              </a:rPr>
              <a:t>    else {		</a:t>
            </a:r>
          </a:p>
          <a:p>
            <a:pPr eaLnBrk="0" hangingPunct="0"/>
            <a:r>
              <a:rPr lang="en-US" altLang="en-US" b="1" dirty="0" smtClean="0">
                <a:latin typeface="Courier New" panose="02070309020205020404" pitchFamily="49" charset="0"/>
                <a:cs typeface="Courier New" panose="02070309020205020404" pitchFamily="49" charset="0"/>
              </a:rPr>
              <a:t>        …</a:t>
            </a:r>
            <a:endParaRPr lang="en-US" altLang="en-US" b="1" dirty="0">
              <a:latin typeface="Courier New" panose="02070309020205020404" pitchFamily="49" charset="0"/>
              <a:cs typeface="Courier New" panose="02070309020205020404" pitchFamily="49" charset="0"/>
            </a:endParaRPr>
          </a:p>
          <a:p>
            <a:pPr eaLnBrk="0" hangingPunct="0"/>
            <a:r>
              <a:rPr lang="en-US" altLang="en-US" b="1" dirty="0">
                <a:latin typeface="Courier New" panose="02070309020205020404" pitchFamily="49" charset="0"/>
                <a:cs typeface="Courier New" panose="02070309020205020404" pitchFamily="49" charset="0"/>
              </a:rPr>
              <a:t>        P(A</a:t>
            </a:r>
            <a:r>
              <a:rPr lang="en-US" altLang="en-US" b="1" baseline="-30000" dirty="0">
                <a:latin typeface="Courier New" panose="02070309020205020404" pitchFamily="49" charset="0"/>
                <a:cs typeface="Courier New" panose="02070309020205020404" pitchFamily="49" charset="0"/>
              </a:rPr>
              <a:t>1</a:t>
            </a:r>
            <a:r>
              <a:rPr lang="en-US" altLang="en-US" b="1" dirty="0">
                <a:latin typeface="Courier New" panose="02070309020205020404" pitchFamily="49" charset="0"/>
                <a:cs typeface="Courier New" panose="02070309020205020404" pitchFamily="49" charset="0"/>
              </a:rPr>
              <a:t>);	</a:t>
            </a:r>
            <a:endParaRPr lang="en-US" altLang="en-US" b="1" dirty="0" smtClean="0">
              <a:latin typeface="Courier New" panose="02070309020205020404" pitchFamily="49" charset="0"/>
              <a:cs typeface="Courier New" panose="02070309020205020404" pitchFamily="49" charset="0"/>
            </a:endParaRPr>
          </a:p>
          <a:p>
            <a:pPr eaLnBrk="0" hangingPunct="0"/>
            <a:r>
              <a:rPr lang="en-US" altLang="en-US" b="1" dirty="0">
                <a:latin typeface="Courier New" panose="02070309020205020404" pitchFamily="49" charset="0"/>
                <a:cs typeface="Courier New" panose="02070309020205020404" pitchFamily="49" charset="0"/>
              </a:rPr>
              <a:t>	</a:t>
            </a:r>
            <a:r>
              <a:rPr lang="en-US" altLang="en-US" b="1" dirty="0" smtClean="0">
                <a:latin typeface="Courier New" panose="02070309020205020404" pitchFamily="49" charset="0"/>
                <a:cs typeface="Courier New" panose="02070309020205020404" pitchFamily="49" charset="0"/>
              </a:rPr>
              <a:t> …</a:t>
            </a:r>
            <a:endParaRPr lang="en-US" altLang="en-US" b="1" dirty="0">
              <a:latin typeface="Courier New" panose="02070309020205020404" pitchFamily="49" charset="0"/>
              <a:cs typeface="Courier New" panose="02070309020205020404" pitchFamily="49" charset="0"/>
            </a:endParaRPr>
          </a:p>
          <a:p>
            <a:pPr eaLnBrk="0" hangingPunct="0"/>
            <a:r>
              <a:rPr lang="en-US" altLang="en-US" b="1" dirty="0" smtClean="0">
                <a:latin typeface="Courier New" panose="02070309020205020404" pitchFamily="49" charset="0"/>
                <a:cs typeface="Courier New" panose="02070309020205020404" pitchFamily="49" charset="0"/>
              </a:rPr>
              <a:t>    }</a:t>
            </a:r>
            <a:endParaRPr lang="en-US" altLang="en-US" b="1" dirty="0">
              <a:latin typeface="Courier New" panose="02070309020205020404" pitchFamily="49" charset="0"/>
              <a:cs typeface="Courier New" panose="02070309020205020404" pitchFamily="49" charset="0"/>
            </a:endParaRPr>
          </a:p>
          <a:p>
            <a:pPr eaLnBrk="0" hangingPunct="0"/>
            <a:r>
              <a:rPr lang="en-US" altLang="en-US" b="1" dirty="0">
                <a:latin typeface="Courier New" panose="02070309020205020404" pitchFamily="49" charset="0"/>
                <a:cs typeface="Courier New" panose="02070309020205020404" pitchFamily="49" charset="0"/>
              </a:rPr>
              <a:t>}</a:t>
            </a:r>
          </a:p>
        </p:txBody>
      </p:sp>
      <p:sp>
        <p:nvSpPr>
          <p:cNvPr id="7" name="Rectangle 6"/>
          <p:cNvSpPr/>
          <p:nvPr/>
        </p:nvSpPr>
        <p:spPr>
          <a:xfrm>
            <a:off x="4047983" y="3352800"/>
            <a:ext cx="7696200" cy="1477328"/>
          </a:xfrm>
          <a:prstGeom prst="rect">
            <a:avLst/>
          </a:prstGeom>
        </p:spPr>
        <p:txBody>
          <a:bodyPr wrap="square">
            <a:spAutoFit/>
          </a:bodyPr>
          <a:lstStyle/>
          <a:p>
            <a:r>
              <a:rPr lang="en-US" altLang="en-US" b="1" dirty="0" smtClean="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giải</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quyết</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trường</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hợp</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cơ</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sở</a:t>
            </a:r>
            <a:endParaRPr lang="en-US" altLang="en-US" b="1" dirty="0">
              <a:latin typeface="Courier New" panose="02070309020205020404" pitchFamily="49" charset="0"/>
              <a:cs typeface="Courier New" panose="02070309020205020404" pitchFamily="49" charset="0"/>
            </a:endParaRPr>
          </a:p>
          <a:p>
            <a:pPr eaLnBrk="0" hangingPunct="0"/>
            <a:r>
              <a:rPr lang="en-US" altLang="en-US" b="1" dirty="0" smtClean="0">
                <a:solidFill>
                  <a:schemeClr val="bg1"/>
                </a:solidFill>
                <a:latin typeface="Courier New" panose="02070309020205020404" pitchFamily="49" charset="0"/>
                <a:cs typeface="Courier New" panose="02070309020205020404" pitchFamily="49" charset="0"/>
              </a:rPr>
              <a:t> </a:t>
            </a:r>
          </a:p>
          <a:p>
            <a:pPr eaLnBrk="0" hangingPunct="0"/>
            <a:r>
              <a:rPr lang="en-US" altLang="en-US" b="1" dirty="0" smtClean="0">
                <a:latin typeface="Courier New" panose="02070309020205020404" pitchFamily="49" charset="0"/>
                <a:cs typeface="Courier New" panose="02070309020205020404" pitchFamily="49" charset="0"/>
              </a:rPr>
              <a:t>// </a:t>
            </a:r>
            <a:r>
              <a:rPr lang="en-US" altLang="en-US" b="1" dirty="0" err="1" smtClean="0">
                <a:latin typeface="Courier New" panose="02070309020205020404" pitchFamily="49" charset="0"/>
                <a:cs typeface="Courier New" panose="02070309020205020404" pitchFamily="49" charset="0"/>
              </a:rPr>
              <a:t>trường</a:t>
            </a:r>
            <a:r>
              <a:rPr lang="en-US" altLang="en-US" b="1" dirty="0" smtClean="0">
                <a:latin typeface="Courier New" panose="02070309020205020404" pitchFamily="49" charset="0"/>
                <a:cs typeface="Courier New" panose="02070309020205020404" pitchFamily="49" charset="0"/>
              </a:rPr>
              <a:t> </a:t>
            </a:r>
            <a:r>
              <a:rPr lang="en-US" altLang="en-US" b="1" dirty="0" err="1" smtClean="0">
                <a:latin typeface="Courier New" panose="02070309020205020404" pitchFamily="49" charset="0"/>
                <a:cs typeface="Courier New" panose="02070309020205020404" pitchFamily="49" charset="0"/>
              </a:rPr>
              <a:t>hợp</a:t>
            </a:r>
            <a:r>
              <a:rPr lang="en-US" altLang="en-US" b="1" dirty="0" smtClean="0">
                <a:latin typeface="Courier New" panose="02070309020205020404" pitchFamily="49" charset="0"/>
                <a:cs typeface="Courier New" panose="02070309020205020404" pitchFamily="49" charset="0"/>
              </a:rPr>
              <a:t> </a:t>
            </a:r>
            <a:r>
              <a:rPr lang="en-US" altLang="en-US" b="1" dirty="0" err="1" smtClean="0">
                <a:latin typeface="Courier New" panose="02070309020205020404" pitchFamily="49" charset="0"/>
                <a:cs typeface="Courier New" panose="02070309020205020404" pitchFamily="49" charset="0"/>
              </a:rPr>
              <a:t>đệ</a:t>
            </a:r>
            <a:r>
              <a:rPr lang="en-US" altLang="en-US" b="1" dirty="0" smtClean="0">
                <a:latin typeface="Courier New" panose="02070309020205020404" pitchFamily="49" charset="0"/>
                <a:cs typeface="Courier New" panose="02070309020205020404" pitchFamily="49" charset="0"/>
              </a:rPr>
              <a:t> </a:t>
            </a:r>
            <a:r>
              <a:rPr lang="en-US" altLang="en-US" b="1" dirty="0" err="1" smtClean="0">
                <a:latin typeface="Courier New" panose="02070309020205020404" pitchFamily="49" charset="0"/>
                <a:cs typeface="Courier New" panose="02070309020205020404" pitchFamily="49" charset="0"/>
              </a:rPr>
              <a:t>quy</a:t>
            </a:r>
            <a:endParaRPr lang="en-US" altLang="en-US" b="1" dirty="0" smtClean="0">
              <a:latin typeface="Courier New" panose="02070309020205020404" pitchFamily="49" charset="0"/>
              <a:cs typeface="Courier New" panose="02070309020205020404" pitchFamily="49" charset="0"/>
            </a:endParaRPr>
          </a:p>
          <a:p>
            <a:pPr eaLnBrk="0" hangingPunct="0"/>
            <a:endParaRPr lang="en-US" altLang="en-US" b="1" dirty="0" smtClean="0">
              <a:latin typeface="Courier New" panose="02070309020205020404" pitchFamily="49" charset="0"/>
              <a:cs typeface="Courier New" panose="02070309020205020404" pitchFamily="49" charset="0"/>
            </a:endParaRPr>
          </a:p>
          <a:p>
            <a:pPr eaLnBrk="0" hangingPunct="0"/>
            <a:r>
              <a:rPr lang="en-US" altLang="en-US" b="1" dirty="0" smtClean="0">
                <a:latin typeface="Courier New" panose="02070309020205020404" pitchFamily="49" charset="0"/>
                <a:cs typeface="Courier New" panose="02070309020205020404" pitchFamily="49" charset="0"/>
              </a:rPr>
              <a:t>// </a:t>
            </a:r>
            <a:r>
              <a:rPr lang="en-US" altLang="en-US" b="1" dirty="0" err="1" smtClean="0">
                <a:latin typeface="Courier New" panose="02070309020205020404" pitchFamily="49" charset="0"/>
                <a:cs typeface="Courier New" panose="02070309020205020404" pitchFamily="49" charset="0"/>
              </a:rPr>
              <a:t>lời</a:t>
            </a:r>
            <a:r>
              <a:rPr lang="en-US" altLang="en-US" b="1" dirty="0" smtClean="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gọi</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đệ</a:t>
            </a:r>
            <a:r>
              <a:rPr lang="en-US" altLang="en-US" b="1" dirty="0">
                <a:latin typeface="Courier New" panose="02070309020205020404" pitchFamily="49" charset="0"/>
                <a:cs typeface="Courier New" panose="02070309020205020404" pitchFamily="49" charset="0"/>
              </a:rPr>
              <a:t> </a:t>
            </a:r>
            <a:r>
              <a:rPr lang="en-US" altLang="en-US" b="1" dirty="0" err="1" smtClean="0">
                <a:latin typeface="Courier New" panose="02070309020205020404" pitchFamily="49" charset="0"/>
                <a:cs typeface="Courier New" panose="02070309020205020404" pitchFamily="49" charset="0"/>
              </a:rPr>
              <a:t>quy</a:t>
            </a:r>
            <a:r>
              <a:rPr lang="en-US" altLang="en-US" b="1" dirty="0" smtClean="0">
                <a:latin typeface="Courier New" panose="02070309020205020404" pitchFamily="49" charset="0"/>
                <a:cs typeface="Courier New" panose="02070309020205020404" pitchFamily="49" charset="0"/>
              </a:rPr>
              <a:t>, A</a:t>
            </a:r>
            <a:r>
              <a:rPr lang="en-US" altLang="en-US" b="1" baseline="-25000" dirty="0" smtClean="0">
                <a:latin typeface="Courier New" panose="02070309020205020404" pitchFamily="49" charset="0"/>
                <a:cs typeface="Courier New" panose="02070309020205020404" pitchFamily="49" charset="0"/>
              </a:rPr>
              <a:t>1</a:t>
            </a:r>
            <a:r>
              <a:rPr lang="en-US" altLang="en-US" b="1" dirty="0" smtClean="0">
                <a:latin typeface="Courier New" panose="02070309020205020404" pitchFamily="49" charset="0"/>
                <a:cs typeface="Courier New" panose="02070309020205020404" pitchFamily="49" charset="0"/>
              </a:rPr>
              <a:t>&lt;A</a:t>
            </a:r>
          </a:p>
        </p:txBody>
      </p:sp>
    </p:spTree>
    <p:extLst>
      <p:ext uri="{BB962C8B-B14F-4D97-AF65-F5344CB8AC3E}">
        <p14:creationId xmlns:p14="http://schemas.microsoft.com/office/powerpoint/2010/main" val="124566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20</a:t>
            </a:fld>
            <a:endParaRPr lang="en-US"/>
          </a:p>
        </p:txBody>
      </p:sp>
      <p:sp>
        <p:nvSpPr>
          <p:cNvPr id="5" name="Title 4"/>
          <p:cNvSpPr>
            <a:spLocks noGrp="1"/>
          </p:cNvSpPr>
          <p:nvPr>
            <p:ph type="title"/>
          </p:nvPr>
        </p:nvSpPr>
        <p:spPr/>
        <p:txBody>
          <a:bodyPr/>
          <a:lstStyle/>
          <a:p>
            <a:r>
              <a:rPr lang="en-US" dirty="0" smtClean="0"/>
              <a:t>2.1 T</a:t>
            </a:r>
            <a:r>
              <a:rPr lang="vi-VN" altLang="en-US" dirty="0" smtClean="0"/>
              <a:t>hủ </a:t>
            </a:r>
            <a:r>
              <a:rPr lang="vi-VN" altLang="en-US" dirty="0"/>
              <a:t>tục đệ quy </a:t>
            </a:r>
            <a:endParaRPr lang="en-US" dirty="0"/>
          </a:p>
        </p:txBody>
      </p:sp>
      <p:sp>
        <p:nvSpPr>
          <p:cNvPr id="2" name="Content Placeholder 1"/>
          <p:cNvSpPr>
            <a:spLocks noGrp="1"/>
          </p:cNvSpPr>
          <p:nvPr>
            <p:ph type="body" sz="quarter" idx="13"/>
          </p:nvPr>
        </p:nvSpPr>
        <p:spPr/>
        <p:txBody>
          <a:bodyPr>
            <a:normAutofit/>
          </a:bodyPr>
          <a:lstStyle/>
          <a:p>
            <a:pPr>
              <a:spcBef>
                <a:spcPct val="10000"/>
              </a:spcBef>
            </a:pPr>
            <a:r>
              <a:rPr lang="en-US" altLang="en-US" sz="2400" dirty="0" err="1" smtClean="0">
                <a:cs typeface="Times New Roman" panose="02020603050405020304" pitchFamily="18" charset="0"/>
              </a:rPr>
              <a:t>Tính</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giá</a:t>
            </a:r>
            <a:r>
              <a:rPr lang="en-US" altLang="en-US" sz="2400" dirty="0">
                <a:cs typeface="Times New Roman" panose="02020603050405020304" pitchFamily="18" charset="0"/>
              </a:rPr>
              <a:t> </a:t>
            </a:r>
            <a:r>
              <a:rPr lang="en-US" altLang="en-US" sz="2400" dirty="0" err="1">
                <a:cs typeface="Times New Roman" panose="02020603050405020304" pitchFamily="18" charset="0"/>
              </a:rPr>
              <a:t>trị</a:t>
            </a:r>
            <a:r>
              <a:rPr lang="en-US" altLang="en-US" sz="2400" dirty="0">
                <a:cs typeface="Times New Roman" panose="02020603050405020304" pitchFamily="18" charset="0"/>
              </a:rPr>
              <a:t> n!</a:t>
            </a:r>
          </a:p>
          <a:p>
            <a:pPr lvl="1">
              <a:spcBef>
                <a:spcPct val="10000"/>
              </a:spcBef>
            </a:pPr>
            <a:r>
              <a:rPr lang="en-US" altLang="en-US" sz="2000" dirty="0">
                <a:cs typeface="Times New Roman" panose="02020603050405020304" pitchFamily="18" charset="0"/>
              </a:rPr>
              <a:t>0! = 1</a:t>
            </a:r>
          </a:p>
          <a:p>
            <a:pPr lvl="1">
              <a:spcBef>
                <a:spcPct val="10000"/>
              </a:spcBef>
            </a:pPr>
            <a:r>
              <a:rPr lang="en-US" altLang="en-US" sz="2000" dirty="0">
                <a:cs typeface="Times New Roman" panose="02020603050405020304" pitchFamily="18" charset="0"/>
              </a:rPr>
              <a:t>n! = </a:t>
            </a:r>
            <a:r>
              <a:rPr lang="en-US" altLang="en-US" sz="2000" dirty="0" smtClean="0">
                <a:cs typeface="Times New Roman" panose="02020603050405020304" pitchFamily="18" charset="0"/>
              </a:rPr>
              <a:t>n * </a:t>
            </a:r>
            <a:r>
              <a:rPr lang="en-US" altLang="en-US" sz="2000" dirty="0">
                <a:cs typeface="Times New Roman" panose="02020603050405020304" pitchFamily="18" charset="0"/>
              </a:rPr>
              <a:t>(n-1</a:t>
            </a:r>
            <a:r>
              <a:rPr lang="en-US" altLang="en-US" sz="2000" dirty="0" smtClean="0">
                <a:cs typeface="Times New Roman" panose="02020603050405020304" pitchFamily="18" charset="0"/>
              </a:rPr>
              <a:t>)!</a:t>
            </a:r>
          </a:p>
          <a:p>
            <a:pPr lvl="1">
              <a:spcBef>
                <a:spcPct val="10000"/>
              </a:spcBef>
            </a:pPr>
            <a:endParaRPr lang="en-US" altLang="en-US" sz="2000" dirty="0">
              <a:cs typeface="Times New Roman" panose="02020603050405020304" pitchFamily="18" charset="0"/>
            </a:endParaRPr>
          </a:p>
          <a:p>
            <a:pPr lvl="1">
              <a:spcBef>
                <a:spcPct val="10000"/>
              </a:spcBef>
            </a:pPr>
            <a:endParaRPr lang="en-US" altLang="en-US" sz="2000" dirty="0" smtClean="0">
              <a:cs typeface="Times New Roman" panose="02020603050405020304" pitchFamily="18" charset="0"/>
            </a:endParaRPr>
          </a:p>
          <a:p>
            <a:pPr lvl="1">
              <a:spcBef>
                <a:spcPct val="10000"/>
              </a:spcBef>
            </a:pPr>
            <a:endParaRPr lang="en-US" altLang="en-US" sz="2000" dirty="0">
              <a:cs typeface="Times New Roman" panose="02020603050405020304" pitchFamily="18" charset="0"/>
            </a:endParaRPr>
          </a:p>
          <a:p>
            <a:pPr lvl="1">
              <a:spcBef>
                <a:spcPct val="10000"/>
              </a:spcBef>
            </a:pPr>
            <a:endParaRPr lang="en-US" altLang="en-US" sz="2000" dirty="0">
              <a:cs typeface="Times New Roman" panose="02020603050405020304" pitchFamily="18" charset="0"/>
            </a:endParaRPr>
          </a:p>
          <a:p>
            <a:r>
              <a:rPr lang="en-US" altLang="en-US" sz="2400" dirty="0" err="1" smtClean="0">
                <a:cs typeface="Times New Roman" panose="02020603050405020304" pitchFamily="18" charset="0"/>
              </a:rPr>
              <a:t>Tính</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giá</a:t>
            </a:r>
            <a:r>
              <a:rPr lang="en-US" altLang="en-US" sz="2400" dirty="0">
                <a:cs typeface="Times New Roman" panose="02020603050405020304" pitchFamily="18" charset="0"/>
              </a:rPr>
              <a:t> </a:t>
            </a:r>
            <a:r>
              <a:rPr lang="en-US" altLang="en-US" sz="2400" dirty="0" err="1">
                <a:cs typeface="Times New Roman" panose="02020603050405020304" pitchFamily="18" charset="0"/>
              </a:rPr>
              <a:t>trị</a:t>
            </a:r>
            <a:r>
              <a:rPr lang="en-US" altLang="en-US" sz="2400" dirty="0">
                <a:cs typeface="Times New Roman" panose="02020603050405020304" pitchFamily="18" charset="0"/>
              </a:rPr>
              <a:t> </a:t>
            </a:r>
            <a:r>
              <a:rPr lang="en-US" altLang="en-US" sz="2400" dirty="0" err="1">
                <a:cs typeface="Times New Roman" panose="02020603050405020304" pitchFamily="18" charset="0"/>
              </a:rPr>
              <a:t>dãy</a:t>
            </a:r>
            <a:r>
              <a:rPr lang="en-US" altLang="en-US" sz="2400" dirty="0">
                <a:cs typeface="Times New Roman" panose="02020603050405020304" pitchFamily="18" charset="0"/>
              </a:rPr>
              <a:t> Fibonacci</a:t>
            </a:r>
          </a:p>
          <a:p>
            <a:pPr lvl="1">
              <a:spcBef>
                <a:spcPct val="10000"/>
              </a:spcBef>
            </a:pPr>
            <a:r>
              <a:rPr lang="en-US" altLang="en-US" sz="2000" dirty="0">
                <a:cs typeface="Times New Roman" panose="02020603050405020304" pitchFamily="18" charset="0"/>
              </a:rPr>
              <a:t>F </a:t>
            </a:r>
            <a:r>
              <a:rPr lang="en-US" altLang="en-US" sz="2000" dirty="0" smtClean="0">
                <a:cs typeface="Times New Roman" panose="02020603050405020304" pitchFamily="18" charset="0"/>
              </a:rPr>
              <a:t>(n) </a:t>
            </a:r>
            <a:r>
              <a:rPr lang="en-US" altLang="en-US" sz="2000" dirty="0">
                <a:cs typeface="Times New Roman" panose="02020603050405020304" pitchFamily="18" charset="0"/>
              </a:rPr>
              <a:t>= 1 </a:t>
            </a:r>
            <a:r>
              <a:rPr lang="en-US" altLang="en-US" sz="2000" dirty="0" err="1">
                <a:cs typeface="Times New Roman" panose="02020603050405020304" pitchFamily="18" charset="0"/>
              </a:rPr>
              <a:t>với</a:t>
            </a:r>
            <a:r>
              <a:rPr lang="en-US" altLang="en-US" sz="2000" dirty="0">
                <a:cs typeface="Times New Roman" panose="02020603050405020304" pitchFamily="18" charset="0"/>
              </a:rPr>
              <a:t> n &lt;= 2;</a:t>
            </a:r>
          </a:p>
          <a:p>
            <a:pPr lvl="1">
              <a:spcBef>
                <a:spcPct val="10000"/>
              </a:spcBef>
            </a:pPr>
            <a:r>
              <a:rPr lang="en-US" altLang="en-US" sz="2000" dirty="0">
                <a:cs typeface="Times New Roman" panose="02020603050405020304" pitchFamily="18" charset="0"/>
              </a:rPr>
              <a:t>F (n) = </a:t>
            </a:r>
            <a:r>
              <a:rPr lang="en-US" altLang="en-US" sz="2000" dirty="0" smtClean="0">
                <a:cs typeface="Times New Roman" panose="02020603050405020304" pitchFamily="18" charset="0"/>
              </a:rPr>
              <a:t>F(n-1</a:t>
            </a:r>
            <a:r>
              <a:rPr lang="en-US" altLang="en-US" sz="2000" dirty="0">
                <a:cs typeface="Times New Roman" panose="02020603050405020304" pitchFamily="18" charset="0"/>
              </a:rPr>
              <a:t>) + </a:t>
            </a:r>
            <a:r>
              <a:rPr lang="en-US" altLang="en-US" sz="2000" dirty="0" smtClean="0">
                <a:cs typeface="Times New Roman" panose="02020603050405020304" pitchFamily="18" charset="0"/>
              </a:rPr>
              <a:t>F(n-2</a:t>
            </a:r>
            <a:r>
              <a:rPr lang="en-US" altLang="en-US" sz="2000" dirty="0">
                <a:cs typeface="Times New Roman" panose="02020603050405020304" pitchFamily="18" charset="0"/>
              </a:rPr>
              <a:t>) </a:t>
            </a:r>
            <a:r>
              <a:rPr lang="en-US" altLang="en-US" sz="2000" dirty="0" err="1">
                <a:cs typeface="Times New Roman" panose="02020603050405020304" pitchFamily="18" charset="0"/>
              </a:rPr>
              <a:t>với</a:t>
            </a:r>
            <a:r>
              <a:rPr lang="en-US" altLang="en-US" sz="2000" dirty="0">
                <a:cs typeface="Times New Roman" panose="02020603050405020304" pitchFamily="18" charset="0"/>
              </a:rPr>
              <a:t> n &gt; </a:t>
            </a:r>
            <a:r>
              <a:rPr lang="en-US" altLang="en-US" sz="2000" dirty="0" smtClean="0">
                <a:cs typeface="Times New Roman" panose="02020603050405020304" pitchFamily="18" charset="0"/>
              </a:rPr>
              <a:t>2;</a:t>
            </a:r>
            <a:endParaRPr lang="en-US" altLang="en-US" sz="2000" dirty="0">
              <a:cs typeface="Times New Roman" panose="02020603050405020304" pitchFamily="18" charset="0"/>
            </a:endParaRPr>
          </a:p>
          <a:p>
            <a:pPr lvl="1"/>
            <a:endParaRPr lang="en-US" sz="2000" dirty="0"/>
          </a:p>
        </p:txBody>
      </p:sp>
      <p:sp>
        <p:nvSpPr>
          <p:cNvPr id="6" name="Text Box 4"/>
          <p:cNvSpPr txBox="1">
            <a:spLocks noChangeArrowheads="1"/>
          </p:cNvSpPr>
          <p:nvPr/>
        </p:nvSpPr>
        <p:spPr bwMode="auto">
          <a:xfrm>
            <a:off x="4343400" y="1295400"/>
            <a:ext cx="4419600" cy="1200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b="1" i="1" dirty="0" err="1">
                <a:latin typeface="Courier New" panose="02070309020205020404" pitchFamily="49" charset="0"/>
                <a:cs typeface="Courier New" panose="02070309020205020404" pitchFamily="49" charset="0"/>
              </a:rPr>
              <a:t>int</a:t>
            </a:r>
            <a:r>
              <a:rPr lang="en-US" altLang="en-US" b="1" i="1" dirty="0">
                <a:latin typeface="Courier New" panose="02070309020205020404" pitchFamily="49" charset="0"/>
                <a:cs typeface="Courier New" panose="02070309020205020404" pitchFamily="49" charset="0"/>
              </a:rPr>
              <a:t> Fact</a:t>
            </a:r>
            <a:r>
              <a:rPr lang="en-US" altLang="en-US" i="1" dirty="0">
                <a:latin typeface="Courier New" panose="02070309020205020404" pitchFamily="49" charset="0"/>
                <a:cs typeface="Courier New" panose="02070309020205020404" pitchFamily="49" charset="0"/>
              </a:rPr>
              <a:t> </a:t>
            </a:r>
            <a:r>
              <a:rPr lang="en-US" altLang="en-US" b="1" i="1" dirty="0">
                <a:latin typeface="Courier New" panose="02070309020205020404" pitchFamily="49" charset="0"/>
                <a:cs typeface="Courier New" panose="02070309020205020404" pitchFamily="49" charset="0"/>
              </a:rPr>
              <a:t>(</a:t>
            </a:r>
            <a:r>
              <a:rPr lang="en-US" altLang="en-US" b="1" i="1" dirty="0" err="1">
                <a:latin typeface="Courier New" panose="02070309020205020404" pitchFamily="49" charset="0"/>
                <a:cs typeface="Courier New" panose="02070309020205020404" pitchFamily="49" charset="0"/>
              </a:rPr>
              <a:t>int</a:t>
            </a:r>
            <a:r>
              <a:rPr lang="en-US" altLang="en-US" b="1" i="1" dirty="0">
                <a:latin typeface="Courier New" panose="02070309020205020404" pitchFamily="49" charset="0"/>
                <a:cs typeface="Courier New" panose="02070309020205020404" pitchFamily="49" charset="0"/>
              </a:rPr>
              <a:t> n)</a:t>
            </a:r>
            <a:r>
              <a:rPr lang="en-US" altLang="en-US" i="1" dirty="0">
                <a:latin typeface="Courier New" panose="02070309020205020404" pitchFamily="49" charset="0"/>
                <a:cs typeface="Courier New" panose="02070309020205020404" pitchFamily="49" charset="0"/>
              </a:rPr>
              <a:t>{</a:t>
            </a:r>
          </a:p>
          <a:p>
            <a:r>
              <a:rPr lang="en-US" altLang="en-US" i="1" dirty="0">
                <a:latin typeface="Courier New" panose="02070309020205020404" pitchFamily="49" charset="0"/>
                <a:cs typeface="Courier New" panose="02070309020205020404" pitchFamily="49" charset="0"/>
              </a:rPr>
              <a:t>	if  (n &lt;= 1) return 1;</a:t>
            </a:r>
          </a:p>
          <a:p>
            <a:r>
              <a:rPr lang="en-US" altLang="en-US" i="1" dirty="0">
                <a:latin typeface="Courier New" panose="02070309020205020404" pitchFamily="49" charset="0"/>
                <a:cs typeface="Courier New" panose="02070309020205020404" pitchFamily="49" charset="0"/>
              </a:rPr>
              <a:t>	else return n * Fact (n-1);</a:t>
            </a:r>
          </a:p>
          <a:p>
            <a:r>
              <a:rPr lang="en-US" altLang="en-US" i="1" dirty="0">
                <a:latin typeface="Courier New" panose="02070309020205020404" pitchFamily="49" charset="0"/>
                <a:cs typeface="Courier New" panose="02070309020205020404" pitchFamily="49" charset="0"/>
              </a:rPr>
              <a:t>}</a:t>
            </a:r>
          </a:p>
        </p:txBody>
      </p:sp>
      <p:sp>
        <p:nvSpPr>
          <p:cNvPr id="7" name="Text Box 5"/>
          <p:cNvSpPr txBox="1">
            <a:spLocks noChangeArrowheads="1"/>
          </p:cNvSpPr>
          <p:nvPr/>
        </p:nvSpPr>
        <p:spPr bwMode="auto">
          <a:xfrm>
            <a:off x="2743200" y="4572000"/>
            <a:ext cx="6214997" cy="1200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b="1" i="1" dirty="0" err="1">
                <a:latin typeface="Courier New" panose="02070309020205020404" pitchFamily="49" charset="0"/>
                <a:cs typeface="Courier New" panose="02070309020205020404" pitchFamily="49" charset="0"/>
              </a:rPr>
              <a:t>int</a:t>
            </a:r>
            <a:r>
              <a:rPr lang="en-US" altLang="en-US" b="1" i="1" dirty="0">
                <a:latin typeface="Courier New" panose="02070309020205020404" pitchFamily="49" charset="0"/>
                <a:cs typeface="Courier New" panose="02070309020205020404" pitchFamily="49" charset="0"/>
              </a:rPr>
              <a:t> Fibo1 (</a:t>
            </a:r>
            <a:r>
              <a:rPr lang="en-US" altLang="en-US" b="1" i="1" dirty="0" err="1">
                <a:latin typeface="Courier New" panose="02070309020205020404" pitchFamily="49" charset="0"/>
                <a:cs typeface="Courier New" panose="02070309020205020404" pitchFamily="49" charset="0"/>
              </a:rPr>
              <a:t>int</a:t>
            </a:r>
            <a:r>
              <a:rPr lang="en-US" altLang="en-US" b="1" i="1" dirty="0">
                <a:latin typeface="Courier New" panose="02070309020205020404" pitchFamily="49" charset="0"/>
                <a:cs typeface="Courier New" panose="02070309020205020404" pitchFamily="49" charset="0"/>
              </a:rPr>
              <a:t> n)</a:t>
            </a:r>
            <a:r>
              <a:rPr lang="en-US" altLang="en-US" i="1" dirty="0">
                <a:latin typeface="Courier New" panose="02070309020205020404" pitchFamily="49" charset="0"/>
                <a:cs typeface="Courier New" panose="02070309020205020404" pitchFamily="49" charset="0"/>
              </a:rPr>
              <a:t> {</a:t>
            </a:r>
          </a:p>
          <a:p>
            <a:r>
              <a:rPr lang="en-US" altLang="en-US" i="1" dirty="0">
                <a:latin typeface="Courier New" panose="02070309020205020404" pitchFamily="49" charset="0"/>
                <a:cs typeface="Courier New" panose="02070309020205020404" pitchFamily="49" charset="0"/>
              </a:rPr>
              <a:t>	if (n &lt;= 2) return 1;</a:t>
            </a:r>
          </a:p>
          <a:p>
            <a:r>
              <a:rPr lang="en-US" altLang="en-US" i="1" dirty="0">
                <a:latin typeface="Courier New" panose="02070309020205020404" pitchFamily="49" charset="0"/>
                <a:cs typeface="Courier New" panose="02070309020205020404" pitchFamily="49" charset="0"/>
              </a:rPr>
              <a:t>	else return (Fibo1 (n-1) + Fibo1 (n-2));</a:t>
            </a:r>
          </a:p>
          <a:p>
            <a:r>
              <a:rPr lang="en-US" altLang="en-US" i="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56673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dirty="0" smtClean="0"/>
              <a:t>ET2100 </a:t>
            </a:r>
            <a:r>
              <a:rPr lang="en-US" i="1" dirty="0" smtClean="0"/>
              <a:t>- </a:t>
            </a:r>
            <a:r>
              <a:rPr lang="en-US" b="1" i="1" dirty="0" smtClean="0"/>
              <a:t>Data Structures and Algorithms</a:t>
            </a:r>
            <a:endParaRPr lang="en-US" dirty="0" smtClean="0"/>
          </a:p>
          <a:p>
            <a:pPr algn="r"/>
            <a:r>
              <a:rPr lang="en-US" dirty="0"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21</a:t>
            </a:fld>
            <a:endParaRPr lang="en-US"/>
          </a:p>
        </p:txBody>
      </p:sp>
      <p:sp>
        <p:nvSpPr>
          <p:cNvPr id="5" name="Title 4"/>
          <p:cNvSpPr>
            <a:spLocks noGrp="1"/>
          </p:cNvSpPr>
          <p:nvPr>
            <p:ph type="title"/>
          </p:nvPr>
        </p:nvSpPr>
        <p:spPr/>
        <p:txBody>
          <a:bodyPr/>
          <a:lstStyle/>
          <a:p>
            <a:r>
              <a:rPr lang="en-US" dirty="0"/>
              <a:t>2.2 </a:t>
            </a:r>
            <a:r>
              <a:rPr lang="en-US" altLang="en-US" dirty="0" err="1"/>
              <a:t>Phương</a:t>
            </a:r>
            <a:r>
              <a:rPr lang="en-US" altLang="en-US" dirty="0"/>
              <a:t> </a:t>
            </a:r>
            <a:r>
              <a:rPr lang="en-US" altLang="en-US" dirty="0" err="1"/>
              <a:t>pháp</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thủ</a:t>
            </a:r>
            <a:r>
              <a:rPr lang="en-US" altLang="en-US" dirty="0"/>
              <a:t> </a:t>
            </a:r>
            <a:r>
              <a:rPr lang="en-US" altLang="en-US" dirty="0" err="1"/>
              <a:t>tục</a:t>
            </a:r>
            <a:r>
              <a:rPr lang="en-US" altLang="en-US" dirty="0"/>
              <a:t> </a:t>
            </a:r>
            <a:r>
              <a:rPr lang="en-US" altLang="en-US" dirty="0" err="1"/>
              <a:t>đệ</a:t>
            </a:r>
            <a:r>
              <a:rPr lang="en-US" altLang="en-US" dirty="0"/>
              <a:t> </a:t>
            </a:r>
            <a:r>
              <a:rPr lang="en-US" altLang="en-US" dirty="0" err="1"/>
              <a:t>quy</a:t>
            </a:r>
            <a:r>
              <a:rPr lang="en-US" altLang="en-US" dirty="0"/>
              <a:t> </a:t>
            </a:r>
            <a:endParaRPr lang="en-US" dirty="0"/>
          </a:p>
        </p:txBody>
      </p:sp>
      <p:sp>
        <p:nvSpPr>
          <p:cNvPr id="2" name="Content Placeholder 1"/>
          <p:cNvSpPr>
            <a:spLocks noGrp="1"/>
          </p:cNvSpPr>
          <p:nvPr>
            <p:ph type="body" sz="quarter" idx="13"/>
          </p:nvPr>
        </p:nvSpPr>
        <p:spPr/>
        <p:txBody>
          <a:bodyPr>
            <a:normAutofit/>
          </a:bodyPr>
          <a:lstStyle/>
          <a:p>
            <a:r>
              <a:rPr lang="en-US" altLang="en-US" sz="2400" dirty="0" err="1" smtClean="0">
                <a:cs typeface="Times New Roman" panose="02020603050405020304" pitchFamily="18" charset="0"/>
              </a:rPr>
              <a:t>Các</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loại</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đệ</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quy</a:t>
            </a:r>
            <a:r>
              <a:rPr lang="en-US" altLang="en-US" sz="2400" dirty="0" smtClean="0">
                <a:cs typeface="Times New Roman" panose="02020603050405020304" pitchFamily="18" charset="0"/>
              </a:rPr>
              <a:t>:</a:t>
            </a:r>
          </a:p>
          <a:p>
            <a:pPr lvl="1"/>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trực</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tiếp</a:t>
            </a:r>
            <a:r>
              <a:rPr lang="en-US" altLang="en-US" sz="2000" dirty="0" smtClean="0">
                <a:cs typeface="Times New Roman" panose="02020603050405020304" pitchFamily="18" charset="0"/>
              </a:rPr>
              <a:t> </a:t>
            </a:r>
            <a:br>
              <a:rPr lang="en-US" altLang="en-US" sz="2000" dirty="0" smtClean="0">
                <a:cs typeface="Times New Roman" panose="02020603050405020304" pitchFamily="18" charset="0"/>
              </a:rPr>
            </a:br>
            <a:r>
              <a:rPr lang="en-US" altLang="en-US" sz="2000" dirty="0" smtClean="0">
                <a:cs typeface="Times New Roman" panose="02020603050405020304" pitchFamily="18" charset="0"/>
              </a:rPr>
              <a:t>            vs. </a:t>
            </a:r>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gián</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tiếp</a:t>
            </a:r>
            <a:r>
              <a:rPr lang="en-US" altLang="en-US" sz="2000" dirty="0" smtClean="0">
                <a:cs typeface="Times New Roman" panose="02020603050405020304" pitchFamily="18" charset="0"/>
              </a:rPr>
              <a:t/>
            </a:r>
            <a:br>
              <a:rPr lang="en-US" altLang="en-US" sz="2000" dirty="0" smtClean="0">
                <a:cs typeface="Times New Roman" panose="02020603050405020304" pitchFamily="18" charset="0"/>
              </a:rPr>
            </a:b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tương</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hỗ</a:t>
            </a:r>
            <a:r>
              <a:rPr lang="en-US" altLang="en-US" sz="2000" dirty="0" smtClean="0">
                <a:cs typeface="Times New Roman" panose="02020603050405020304" pitchFamily="18" charset="0"/>
              </a:rPr>
              <a:t>)</a:t>
            </a:r>
          </a:p>
          <a:p>
            <a:pPr lvl="1"/>
            <a:endParaRPr lang="en-US" altLang="en-US" sz="2000" dirty="0" smtClean="0">
              <a:cs typeface="Times New Roman" panose="02020603050405020304" pitchFamily="18" charset="0"/>
            </a:endParaRPr>
          </a:p>
          <a:p>
            <a:pPr lvl="1"/>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đuôi</a:t>
            </a:r>
            <a:r>
              <a:rPr lang="en-US" altLang="en-US" sz="2000" dirty="0">
                <a:cs typeface="Times New Roman" panose="02020603050405020304" pitchFamily="18" charset="0"/>
              </a:rPr>
              <a:t> </a:t>
            </a:r>
            <a:r>
              <a:rPr lang="en-US" altLang="en-US" sz="2000" dirty="0" smtClean="0">
                <a:cs typeface="Times New Roman" panose="02020603050405020304" pitchFamily="18" charset="0"/>
              </a:rPr>
              <a:t>(</a:t>
            </a:r>
            <a:r>
              <a:rPr lang="en-US" altLang="en-US" sz="2000" i="1" dirty="0" smtClean="0">
                <a:cs typeface="Times New Roman" panose="02020603050405020304" pitchFamily="18" charset="0"/>
              </a:rPr>
              <a:t>tail recursion</a:t>
            </a:r>
            <a:r>
              <a:rPr lang="en-US" altLang="en-US" sz="2000" dirty="0">
                <a:cs typeface="Times New Roman" panose="02020603050405020304" pitchFamily="18" charset="0"/>
              </a:rPr>
              <a:t>)</a:t>
            </a:r>
            <a:r>
              <a:rPr lang="en-US" altLang="en-US" sz="2000" dirty="0" smtClean="0">
                <a:cs typeface="Times New Roman" panose="02020603050405020304" pitchFamily="18" charset="0"/>
              </a:rPr>
              <a:t/>
            </a:r>
            <a:br>
              <a:rPr lang="en-US" altLang="en-US" sz="2000" dirty="0" smtClean="0">
                <a:cs typeface="Times New Roman" panose="02020603050405020304" pitchFamily="18" charset="0"/>
              </a:rPr>
            </a:br>
            <a:r>
              <a:rPr lang="en-US" altLang="en-US" sz="2000" dirty="0" smtClean="0">
                <a:cs typeface="Times New Roman" panose="02020603050405020304" pitchFamily="18" charset="0"/>
              </a:rPr>
              <a:t>            vs. </a:t>
            </a:r>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không</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đuôi</a:t>
            </a:r>
            <a:r>
              <a:rPr lang="en-US" altLang="en-US" sz="2000" dirty="0" smtClean="0">
                <a:cs typeface="Times New Roman" panose="02020603050405020304" pitchFamily="18" charset="0"/>
              </a:rPr>
              <a:t> (</a:t>
            </a:r>
            <a:r>
              <a:rPr lang="en-US" altLang="en-US" sz="2000" i="1" dirty="0" smtClean="0">
                <a:cs typeface="Times New Roman" panose="02020603050405020304" pitchFamily="18" charset="0"/>
              </a:rPr>
              <a:t>non</a:t>
            </a:r>
            <a:r>
              <a:rPr lang="en-US" altLang="en-US" sz="2000" dirty="0" smtClean="0">
                <a:cs typeface="Times New Roman" panose="02020603050405020304" pitchFamily="18" charset="0"/>
              </a:rPr>
              <a:t>-</a:t>
            </a:r>
            <a:r>
              <a:rPr lang="en-US" altLang="en-US" sz="2000" i="1" dirty="0" smtClean="0">
                <a:cs typeface="Times New Roman" panose="02020603050405020304" pitchFamily="18" charset="0"/>
              </a:rPr>
              <a:t>tail </a:t>
            </a:r>
            <a:r>
              <a:rPr lang="en-US" altLang="en-US" sz="2000" i="1" dirty="0">
                <a:cs typeface="Times New Roman" panose="02020603050405020304" pitchFamily="18" charset="0"/>
              </a:rPr>
              <a:t>recursion</a:t>
            </a:r>
            <a:r>
              <a:rPr lang="en-US" altLang="en-US" sz="2000" dirty="0">
                <a:cs typeface="Times New Roman" panose="02020603050405020304" pitchFamily="18" charset="0"/>
              </a:rPr>
              <a:t>)</a:t>
            </a:r>
            <a:endParaRPr lang="en-US" altLang="en-US" sz="2000" dirty="0" smtClean="0">
              <a:cs typeface="Times New Roman" panose="02020603050405020304" pitchFamily="18" charset="0"/>
            </a:endParaRPr>
          </a:p>
          <a:p>
            <a:pPr lvl="1"/>
            <a:endParaRPr lang="en-US" altLang="en-US" sz="2000" dirty="0" smtClean="0">
              <a:cs typeface="Times New Roman" panose="02020603050405020304" pitchFamily="18" charset="0"/>
            </a:endParaRPr>
          </a:p>
          <a:p>
            <a:pPr lvl="1"/>
            <a:endParaRPr lang="en-US" altLang="en-US" sz="2000" dirty="0" smtClean="0">
              <a:cs typeface="Times New Roman" panose="02020603050405020304" pitchFamily="18" charset="0"/>
            </a:endParaRPr>
          </a:p>
          <a:p>
            <a:pPr lvl="1"/>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tuyến</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tính</a:t>
            </a:r>
            <a:endParaRPr lang="en-US" altLang="en-US" sz="2000" i="1" dirty="0" smtClean="0">
              <a:cs typeface="Times New Roman" panose="02020603050405020304" pitchFamily="18" charset="0"/>
            </a:endParaRPr>
          </a:p>
          <a:p>
            <a:pPr lvl="1"/>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nhị</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phân</a:t>
            </a:r>
            <a:endParaRPr lang="en-US" altLang="en-US" sz="2000" dirty="0" smtClean="0">
              <a:cs typeface="Times New Roman" panose="02020603050405020304" pitchFamily="18" charset="0"/>
            </a:endParaRPr>
          </a:p>
          <a:p>
            <a:pPr lvl="1"/>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dạng</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endParaRPr lang="en-US" altLang="en-US" sz="2000" dirty="0">
              <a:cs typeface="Times New Roman" panose="02020603050405020304" pitchFamily="18" charset="0"/>
            </a:endParaRPr>
          </a:p>
          <a:p>
            <a:pPr lvl="1"/>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phi </a:t>
            </a:r>
            <a:r>
              <a:rPr lang="en-US" altLang="en-US" sz="2000" dirty="0" err="1" smtClean="0">
                <a:cs typeface="Times New Roman" panose="02020603050405020304" pitchFamily="18" charset="0"/>
              </a:rPr>
              <a:t>tuyến</a:t>
            </a:r>
            <a:endParaRPr lang="en-US" altLang="en-US" sz="2000" dirty="0" smtClean="0">
              <a:cs typeface="Times New Roman" panose="02020603050405020304" pitchFamily="18" charset="0"/>
            </a:endParaRPr>
          </a:p>
          <a:p>
            <a:pPr lvl="1"/>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lồng</a:t>
            </a:r>
            <a:r>
              <a:rPr lang="en-US" altLang="en-US" sz="2000" dirty="0">
                <a:cs typeface="Times New Roman" panose="02020603050405020304" pitchFamily="18" charset="0"/>
              </a:rPr>
              <a:t> (nested recursion)</a:t>
            </a:r>
          </a:p>
        </p:txBody>
      </p:sp>
      <p:pic>
        <p:nvPicPr>
          <p:cNvPr id="7" name="Picture 6"/>
          <p:cNvPicPr>
            <a:picLocks noChangeAspect="1"/>
          </p:cNvPicPr>
          <p:nvPr/>
        </p:nvPicPr>
        <p:blipFill>
          <a:blip r:embed="rId3"/>
          <a:stretch>
            <a:fillRect/>
          </a:stretch>
        </p:blipFill>
        <p:spPr>
          <a:xfrm>
            <a:off x="4267200" y="859856"/>
            <a:ext cx="2304396" cy="1343008"/>
          </a:xfrm>
          <a:prstGeom prst="rect">
            <a:avLst/>
          </a:prstGeom>
        </p:spPr>
      </p:pic>
      <p:pic>
        <p:nvPicPr>
          <p:cNvPr id="8" name="Picture 7"/>
          <p:cNvPicPr>
            <a:picLocks noChangeAspect="1"/>
          </p:cNvPicPr>
          <p:nvPr/>
        </p:nvPicPr>
        <p:blipFill>
          <a:blip r:embed="rId4"/>
          <a:stretch>
            <a:fillRect/>
          </a:stretch>
        </p:blipFill>
        <p:spPr>
          <a:xfrm>
            <a:off x="7010400" y="859856"/>
            <a:ext cx="2021630" cy="1874729"/>
          </a:xfrm>
          <a:prstGeom prst="rect">
            <a:avLst/>
          </a:prstGeom>
        </p:spPr>
      </p:pic>
      <p:pic>
        <p:nvPicPr>
          <p:cNvPr id="9" name="Picture 8"/>
          <p:cNvPicPr>
            <a:picLocks noChangeAspect="1"/>
          </p:cNvPicPr>
          <p:nvPr/>
        </p:nvPicPr>
        <p:blipFill>
          <a:blip r:embed="rId5"/>
          <a:stretch>
            <a:fillRect/>
          </a:stretch>
        </p:blipFill>
        <p:spPr>
          <a:xfrm>
            <a:off x="4811486" y="3185257"/>
            <a:ext cx="2198914" cy="284880"/>
          </a:xfrm>
          <a:prstGeom prst="rect">
            <a:avLst/>
          </a:prstGeom>
        </p:spPr>
      </p:pic>
      <p:pic>
        <p:nvPicPr>
          <p:cNvPr id="10" name="Picture 9"/>
          <p:cNvPicPr>
            <a:picLocks noChangeAspect="1"/>
          </p:cNvPicPr>
          <p:nvPr/>
        </p:nvPicPr>
        <p:blipFill>
          <a:blip r:embed="rId6"/>
          <a:stretch>
            <a:fillRect/>
          </a:stretch>
        </p:blipFill>
        <p:spPr>
          <a:xfrm>
            <a:off x="1937657" y="3185238"/>
            <a:ext cx="2590800" cy="284899"/>
          </a:xfrm>
          <a:prstGeom prst="rect">
            <a:avLst/>
          </a:prstGeom>
        </p:spPr>
      </p:pic>
      <p:sp>
        <p:nvSpPr>
          <p:cNvPr id="6" name="Rectangle 5"/>
          <p:cNvSpPr/>
          <p:nvPr/>
        </p:nvSpPr>
        <p:spPr>
          <a:xfrm>
            <a:off x="3004457" y="3754730"/>
            <a:ext cx="579069" cy="369332"/>
          </a:xfrm>
          <a:prstGeom prst="rect">
            <a:avLst/>
          </a:prstGeom>
        </p:spPr>
        <p:txBody>
          <a:bodyPr wrap="none">
            <a:spAutoFit/>
          </a:bodyPr>
          <a:lstStyle/>
          <a:p>
            <a:r>
              <a:rPr lang="en-US" altLang="en-US" i="1" dirty="0">
                <a:cs typeface="Times New Roman" panose="02020603050405020304" pitchFamily="18" charset="0"/>
              </a:rPr>
              <a:t>Fact</a:t>
            </a:r>
            <a:endParaRPr lang="en-US" dirty="0"/>
          </a:p>
        </p:txBody>
      </p:sp>
      <p:sp>
        <p:nvSpPr>
          <p:cNvPr id="11" name="Rectangle 10"/>
          <p:cNvSpPr/>
          <p:nvPr/>
        </p:nvSpPr>
        <p:spPr>
          <a:xfrm>
            <a:off x="2971800" y="4088532"/>
            <a:ext cx="1061060" cy="369332"/>
          </a:xfrm>
          <a:prstGeom prst="rect">
            <a:avLst/>
          </a:prstGeom>
        </p:spPr>
        <p:txBody>
          <a:bodyPr wrap="none">
            <a:spAutoFit/>
          </a:bodyPr>
          <a:lstStyle/>
          <a:p>
            <a:r>
              <a:rPr lang="en-US" altLang="en-US" i="1" dirty="0">
                <a:cs typeface="Times New Roman" panose="02020603050405020304" pitchFamily="18" charset="0"/>
              </a:rPr>
              <a:t>Fibonacci</a:t>
            </a:r>
            <a:endParaRPr lang="en-US" dirty="0"/>
          </a:p>
        </p:txBody>
      </p:sp>
      <p:pic>
        <p:nvPicPr>
          <p:cNvPr id="12" name="Picture 11"/>
          <p:cNvPicPr>
            <a:picLocks noChangeAspect="1"/>
          </p:cNvPicPr>
          <p:nvPr/>
        </p:nvPicPr>
        <p:blipFill>
          <a:blip r:embed="rId7"/>
          <a:stretch>
            <a:fillRect/>
          </a:stretch>
        </p:blipFill>
        <p:spPr>
          <a:xfrm>
            <a:off x="4203385" y="5179702"/>
            <a:ext cx="3415115" cy="1349112"/>
          </a:xfrm>
          <a:prstGeom prst="rect">
            <a:avLst/>
          </a:prstGeom>
        </p:spPr>
      </p:pic>
    </p:spTree>
    <p:extLst>
      <p:ext uri="{BB962C8B-B14F-4D97-AF65-F5344CB8AC3E}">
        <p14:creationId xmlns:p14="http://schemas.microsoft.com/office/powerpoint/2010/main" val="395596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22</a:t>
            </a:fld>
            <a:endParaRPr lang="en-US"/>
          </a:p>
        </p:txBody>
      </p:sp>
      <p:sp>
        <p:nvSpPr>
          <p:cNvPr id="5" name="Title 4"/>
          <p:cNvSpPr>
            <a:spLocks noGrp="1"/>
          </p:cNvSpPr>
          <p:nvPr>
            <p:ph type="title"/>
          </p:nvPr>
        </p:nvSpPr>
        <p:spPr/>
        <p:txBody>
          <a:bodyPr/>
          <a:lstStyle/>
          <a:p>
            <a:r>
              <a:rPr lang="en-US" dirty="0"/>
              <a:t>2.2 </a:t>
            </a:r>
            <a:r>
              <a:rPr lang="en-US" altLang="en-US" dirty="0" err="1"/>
              <a:t>Phương</a:t>
            </a:r>
            <a:r>
              <a:rPr lang="en-US" altLang="en-US" dirty="0"/>
              <a:t> </a:t>
            </a:r>
            <a:r>
              <a:rPr lang="en-US" altLang="en-US" dirty="0" err="1"/>
              <a:t>pháp</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thủ</a:t>
            </a:r>
            <a:r>
              <a:rPr lang="en-US" altLang="en-US" dirty="0"/>
              <a:t> </a:t>
            </a:r>
            <a:r>
              <a:rPr lang="en-US" altLang="en-US" dirty="0" err="1"/>
              <a:t>tục</a:t>
            </a:r>
            <a:r>
              <a:rPr lang="en-US" altLang="en-US" dirty="0"/>
              <a:t> </a:t>
            </a:r>
            <a:r>
              <a:rPr lang="en-US" altLang="en-US" dirty="0" err="1"/>
              <a:t>đệ</a:t>
            </a:r>
            <a:r>
              <a:rPr lang="en-US" altLang="en-US" dirty="0"/>
              <a:t> </a:t>
            </a:r>
            <a:r>
              <a:rPr lang="en-US" altLang="en-US" dirty="0" err="1"/>
              <a:t>quy</a:t>
            </a:r>
            <a:r>
              <a:rPr lang="en-US" altLang="en-US" dirty="0"/>
              <a:t> </a:t>
            </a:r>
            <a:endParaRPr lang="en-US" dirty="0"/>
          </a:p>
        </p:txBody>
      </p:sp>
      <p:sp>
        <p:nvSpPr>
          <p:cNvPr id="2" name="Content Placeholder 1"/>
          <p:cNvSpPr>
            <a:spLocks noGrp="1"/>
          </p:cNvSpPr>
          <p:nvPr>
            <p:ph type="body" sz="quarter" idx="13"/>
          </p:nvPr>
        </p:nvSpPr>
        <p:spPr/>
        <p:txBody>
          <a:bodyPr>
            <a:normAutofit/>
          </a:bodyPr>
          <a:lstStyle/>
          <a:p>
            <a:r>
              <a:rPr lang="en-US" altLang="en-US" sz="2400" dirty="0" err="1">
                <a:cs typeface="Times New Roman" panose="02020603050405020304" pitchFamily="18" charset="0"/>
              </a:rPr>
              <a:t>Hoạt</a:t>
            </a:r>
            <a:r>
              <a:rPr lang="en-US" altLang="en-US" sz="2400" dirty="0">
                <a:cs typeface="Times New Roman" panose="02020603050405020304" pitchFamily="18" charset="0"/>
              </a:rPr>
              <a:t> </a:t>
            </a:r>
            <a:r>
              <a:rPr lang="en-US" altLang="en-US" sz="2400" dirty="0" err="1">
                <a:cs typeface="Times New Roman" panose="02020603050405020304" pitchFamily="18" charset="0"/>
              </a:rPr>
              <a:t>động</a:t>
            </a:r>
            <a:r>
              <a:rPr lang="en-US" altLang="en-US" sz="2400" dirty="0">
                <a:cs typeface="Times New Roman" panose="02020603050405020304" pitchFamily="18" charset="0"/>
              </a:rPr>
              <a:t> </a:t>
            </a:r>
            <a:r>
              <a:rPr lang="en-US" altLang="en-US" sz="2400" dirty="0" err="1">
                <a:cs typeface="Times New Roman" panose="02020603050405020304" pitchFamily="18" charset="0"/>
              </a:rPr>
              <a:t>của</a:t>
            </a:r>
            <a:r>
              <a:rPr lang="en-US" altLang="en-US" sz="2400" dirty="0">
                <a:cs typeface="Times New Roman" panose="02020603050405020304" pitchFamily="18" charset="0"/>
              </a:rPr>
              <a:t> </a:t>
            </a:r>
            <a:r>
              <a:rPr lang="en-US" altLang="en-US" sz="2400" dirty="0" err="1">
                <a:cs typeface="Times New Roman" panose="02020603050405020304" pitchFamily="18" charset="0"/>
              </a:rPr>
              <a:t>thủ</a:t>
            </a:r>
            <a:r>
              <a:rPr lang="en-US" altLang="en-US" sz="2400" dirty="0">
                <a:cs typeface="Times New Roman" panose="02020603050405020304" pitchFamily="18" charset="0"/>
              </a:rPr>
              <a:t> </a:t>
            </a:r>
            <a:r>
              <a:rPr lang="en-US" altLang="en-US" sz="2400" dirty="0" err="1">
                <a:cs typeface="Times New Roman" panose="02020603050405020304" pitchFamily="18" charset="0"/>
              </a:rPr>
              <a:t>tục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quy</a:t>
            </a:r>
            <a:endParaRPr lang="en-US" altLang="en-US" sz="2400" dirty="0" smtClean="0">
              <a:cs typeface="Times New Roman" panose="02020603050405020304" pitchFamily="18" charset="0"/>
            </a:endParaRPr>
          </a:p>
          <a:p>
            <a:pPr lvl="1"/>
            <a:r>
              <a:rPr lang="en-US" altLang="en-US" sz="2000" dirty="0" err="1" smtClean="0">
                <a:cs typeface="Times New Roman" panose="02020603050405020304" pitchFamily="18" charset="0"/>
              </a:rPr>
              <a:t>Quá</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trình</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suy</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diễn</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 </a:t>
            </a:r>
            <a:r>
              <a:rPr lang="en-US" altLang="en-US" sz="2000" dirty="0" smtClean="0">
                <a:cs typeface="Times New Roman" panose="02020603050405020304" pitchFamily="18" charset="0"/>
                <a:sym typeface="Symbol" panose="05050102010706020507" pitchFamily="18" charset="2"/>
              </a:rPr>
              <a:t> </a:t>
            </a:r>
            <a:r>
              <a:rPr lang="en-US" altLang="en-US" sz="2000" dirty="0" err="1" smtClean="0">
                <a:cs typeface="Times New Roman" panose="02020603050405020304" pitchFamily="18" charset="0"/>
              </a:rPr>
              <a:t>Giai</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đoạn</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 </a:t>
            </a:r>
          </a:p>
          <a:p>
            <a:pPr lvl="2"/>
            <a:r>
              <a:rPr lang="en-US" altLang="en-US" sz="2000" dirty="0" err="1" smtClean="0">
                <a:cs typeface="Times New Roman" panose="02020603050405020304" pitchFamily="18" charset="0"/>
              </a:rPr>
              <a:t>Bắt</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đầu</a:t>
            </a:r>
            <a:r>
              <a:rPr lang="en-US" altLang="en-US" sz="2000" dirty="0">
                <a:cs typeface="Times New Roman" panose="02020603050405020304" pitchFamily="18" charset="0"/>
              </a:rPr>
              <a:t> </a:t>
            </a:r>
            <a:r>
              <a:rPr lang="en-US" altLang="en-US" sz="2000" dirty="0" err="1">
                <a:cs typeface="Times New Roman" panose="02020603050405020304" pitchFamily="18" charset="0"/>
              </a:rPr>
              <a:t>từ</a:t>
            </a:r>
            <a:r>
              <a:rPr lang="en-US" altLang="en-US" sz="2000" dirty="0">
                <a:cs typeface="Times New Roman" panose="02020603050405020304" pitchFamily="18" charset="0"/>
              </a:rPr>
              <a:t> </a:t>
            </a:r>
            <a:r>
              <a:rPr lang="en-US" altLang="en-US" sz="2000" dirty="0" err="1">
                <a:cs typeface="Times New Roman" panose="02020603050405020304" pitchFamily="18" charset="0"/>
              </a:rPr>
              <a:t>lời</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thủ</a:t>
            </a:r>
            <a:r>
              <a:rPr lang="en-US" altLang="en-US" sz="2000" dirty="0">
                <a:cs typeface="Times New Roman" panose="02020603050405020304" pitchFamily="18" charset="0"/>
              </a:rPr>
              <a:t> </a:t>
            </a:r>
            <a:r>
              <a:rPr lang="en-US" altLang="en-US" sz="2000" dirty="0" err="1">
                <a:cs typeface="Times New Roman" panose="02020603050405020304" pitchFamily="18" charset="0"/>
              </a:rPr>
              <a:t>tục</a:t>
            </a:r>
            <a:r>
              <a:rPr lang="en-US" altLang="en-US" sz="2000" dirty="0">
                <a:cs typeface="Times New Roman" panose="02020603050405020304" pitchFamily="18" charset="0"/>
              </a:rPr>
              <a:t> </a:t>
            </a:r>
            <a:r>
              <a:rPr lang="en-US" altLang="en-US" sz="2000" dirty="0" err="1">
                <a:cs typeface="Times New Roman" panose="02020603050405020304" pitchFamily="18" charset="0"/>
              </a:rPr>
              <a:t>đầu</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tiên</a:t>
            </a:r>
            <a:endParaRPr lang="en-US" altLang="en-US" sz="2000" dirty="0" smtClean="0">
              <a:cs typeface="Times New Roman" panose="02020603050405020304" pitchFamily="18" charset="0"/>
            </a:endParaRPr>
          </a:p>
          <a:p>
            <a:pPr lvl="2"/>
            <a:r>
              <a:rPr lang="en-US" altLang="en-US" sz="2000" dirty="0">
                <a:cs typeface="Times New Roman" panose="02020603050405020304" pitchFamily="18" charset="0"/>
              </a:rPr>
              <a:t>CT </a:t>
            </a:r>
            <a:r>
              <a:rPr lang="en-US" altLang="en-US" sz="2000" dirty="0" err="1">
                <a:cs typeface="Times New Roman" panose="02020603050405020304" pitchFamily="18" charset="0"/>
              </a:rPr>
              <a:t>sẽ</a:t>
            </a:r>
            <a:r>
              <a:rPr lang="en-US" altLang="en-US" sz="2000" dirty="0">
                <a:cs typeface="Times New Roman" panose="02020603050405020304" pitchFamily="18" charset="0"/>
              </a:rPr>
              <a:t> </a:t>
            </a:r>
            <a:r>
              <a:rPr lang="en-US" altLang="en-US" sz="2000" dirty="0" err="1">
                <a:cs typeface="Times New Roman" panose="02020603050405020304" pitchFamily="18" charset="0"/>
              </a:rPr>
              <a:t>đi</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nhánh</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thân</a:t>
            </a:r>
            <a:r>
              <a:rPr lang="en-US" altLang="en-US" sz="2000" dirty="0">
                <a:cs typeface="Times New Roman" panose="02020603050405020304" pitchFamily="18" charset="0"/>
              </a:rPr>
              <a:t> </a:t>
            </a:r>
            <a:r>
              <a:rPr lang="en-US" altLang="en-US" sz="2000" dirty="0" err="1">
                <a:cs typeface="Times New Roman" panose="02020603050405020304" pitchFamily="18" charset="0"/>
              </a:rPr>
              <a:t>thủ</a:t>
            </a:r>
            <a:r>
              <a:rPr lang="en-US" altLang="en-US" sz="2000" dirty="0">
                <a:cs typeface="Times New Roman" panose="02020603050405020304" pitchFamily="18" charset="0"/>
              </a:rPr>
              <a:t> </a:t>
            </a:r>
            <a:r>
              <a:rPr lang="en-US" altLang="en-US" sz="2000" dirty="0" err="1">
                <a:cs typeface="Times New Roman" panose="02020603050405020304" pitchFamily="18" charset="0"/>
              </a:rPr>
              <a:t>tục</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liên</a:t>
            </a:r>
            <a:r>
              <a:rPr lang="en-US" altLang="en-US" sz="2000" dirty="0">
                <a:cs typeface="Times New Roman" panose="02020603050405020304" pitchFamily="18" charset="0"/>
              </a:rPr>
              <a:t> </a:t>
            </a:r>
            <a:r>
              <a:rPr lang="en-US" altLang="en-US" sz="2000" dirty="0" err="1">
                <a:cs typeface="Times New Roman" panose="02020603050405020304" pitchFamily="18" charset="0"/>
              </a:rPr>
              <a:t>tục</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lời</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trung</a:t>
            </a:r>
            <a:r>
              <a:rPr lang="en-US" altLang="en-US" sz="2000" dirty="0">
                <a:cs typeface="Times New Roman" panose="02020603050405020304" pitchFamily="18" charset="0"/>
              </a:rPr>
              <a:t> </a:t>
            </a:r>
            <a:r>
              <a:rPr lang="en-US" altLang="en-US" sz="2000" dirty="0" err="1">
                <a:cs typeface="Times New Roman" panose="02020603050405020304" pitchFamily="18" charset="0"/>
              </a:rPr>
              <a:t>gian</a:t>
            </a:r>
            <a:r>
              <a:rPr lang="en-US" altLang="en-US" sz="2000" dirty="0">
                <a:cs typeface="Times New Roman" panose="02020603050405020304" pitchFamily="18" charset="0"/>
              </a:rPr>
              <a:t> </a:t>
            </a:r>
            <a:r>
              <a:rPr lang="en-US" altLang="en-US" sz="2000" dirty="0" err="1">
                <a:cs typeface="Times New Roman" panose="02020603050405020304" pitchFamily="18" charset="0"/>
              </a:rPr>
              <a:t>cho</a:t>
            </a:r>
            <a:r>
              <a:rPr lang="en-US" altLang="en-US" sz="2000" dirty="0">
                <a:cs typeface="Times New Roman" panose="02020603050405020304" pitchFamily="18" charset="0"/>
              </a:rPr>
              <a:t> </a:t>
            </a:r>
            <a:r>
              <a:rPr lang="en-US" altLang="en-US" sz="2000" dirty="0" err="1">
                <a:cs typeface="Times New Roman" panose="02020603050405020304" pitchFamily="18" charset="0"/>
              </a:rPr>
              <a:t>đến</a:t>
            </a:r>
            <a:r>
              <a:rPr lang="en-US" altLang="en-US" sz="2000" dirty="0">
                <a:cs typeface="Times New Roman" panose="02020603050405020304" pitchFamily="18" charset="0"/>
              </a:rPr>
              <a:t> </a:t>
            </a:r>
            <a:r>
              <a:rPr lang="en-US" altLang="en-US" sz="2000" dirty="0" err="1">
                <a:cs typeface="Times New Roman" panose="02020603050405020304" pitchFamily="18" charset="0"/>
              </a:rPr>
              <a:t>khi</a:t>
            </a:r>
            <a:r>
              <a:rPr lang="en-US" altLang="en-US" sz="2000" dirty="0">
                <a:cs typeface="Times New Roman" panose="02020603050405020304" pitchFamily="18" charset="0"/>
              </a:rPr>
              <a:t> </a:t>
            </a:r>
            <a:r>
              <a:rPr lang="en-US" altLang="en-US" sz="2000" dirty="0" err="1">
                <a:cs typeface="Times New Roman" panose="02020603050405020304" pitchFamily="18" charset="0"/>
              </a:rPr>
              <a:t>gặp</a:t>
            </a:r>
            <a:r>
              <a:rPr lang="en-US" altLang="en-US" sz="2000" dirty="0">
                <a:cs typeface="Times New Roman" panose="02020603050405020304" pitchFamily="18" charset="0"/>
              </a:rPr>
              <a:t> </a:t>
            </a:r>
            <a:r>
              <a:rPr lang="en-US" altLang="en-US" sz="2000" dirty="0" err="1">
                <a:cs typeface="Times New Roman" panose="02020603050405020304" pitchFamily="18" charset="0"/>
              </a:rPr>
              <a:t>trường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cơ</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sở</a:t>
            </a:r>
            <a:endParaRPr lang="en-US" altLang="en-US" sz="2000" dirty="0" smtClean="0">
              <a:cs typeface="Times New Roman" panose="02020603050405020304" pitchFamily="18" charset="0"/>
            </a:endParaRPr>
          </a:p>
          <a:p>
            <a:pPr lvl="2"/>
            <a:r>
              <a:rPr lang="en-US" altLang="en-US" sz="2000" dirty="0" err="1">
                <a:cs typeface="Times New Roman" panose="02020603050405020304" pitchFamily="18" charset="0"/>
              </a:rPr>
              <a:t>Khi</a:t>
            </a:r>
            <a:r>
              <a:rPr lang="en-US" altLang="en-US" sz="2000" dirty="0">
                <a:cs typeface="Times New Roman" panose="02020603050405020304" pitchFamily="18" charset="0"/>
              </a:rPr>
              <a:t> </a:t>
            </a:r>
            <a:r>
              <a:rPr lang="en-US" altLang="en-US" sz="2000" dirty="0" err="1">
                <a:cs typeface="Times New Roman" panose="02020603050405020304" pitchFamily="18" charset="0"/>
              </a:rPr>
              <a:t>đến</a:t>
            </a:r>
            <a:r>
              <a:rPr lang="en-US" altLang="en-US" sz="2000" dirty="0">
                <a:cs typeface="Times New Roman" panose="02020603050405020304" pitchFamily="18" charset="0"/>
              </a:rPr>
              <a:t> </a:t>
            </a:r>
            <a:r>
              <a:rPr lang="en-US" altLang="en-US" sz="2000" dirty="0" err="1">
                <a:cs typeface="Times New Roman" panose="02020603050405020304" pitchFamily="18" charset="0"/>
              </a:rPr>
              <a:t>điểm</a:t>
            </a:r>
            <a:r>
              <a:rPr lang="en-US" altLang="en-US" sz="2000" dirty="0">
                <a:cs typeface="Times New Roman" panose="02020603050405020304" pitchFamily="18" charset="0"/>
              </a:rPr>
              <a:t> </a:t>
            </a:r>
            <a:r>
              <a:rPr lang="en-US" altLang="en-US" sz="2000" dirty="0" err="1">
                <a:cs typeface="Times New Roman" panose="02020603050405020304" pitchFamily="18" charset="0"/>
              </a:rPr>
              <a:t>dừng</a:t>
            </a:r>
            <a:r>
              <a:rPr lang="en-US" altLang="en-US" sz="2000" dirty="0">
                <a:cs typeface="Times New Roman" panose="02020603050405020304" pitchFamily="18" charset="0"/>
              </a:rPr>
              <a:t> </a:t>
            </a:r>
            <a:r>
              <a:rPr lang="en-US" altLang="en-US" sz="2000" dirty="0" err="1">
                <a:cs typeface="Times New Roman" panose="02020603050405020304" pitchFamily="18" charset="0"/>
              </a:rPr>
              <a:t>này</a:t>
            </a:r>
            <a:r>
              <a:rPr lang="en-US" altLang="en-US" sz="2000" dirty="0">
                <a:cs typeface="Times New Roman" panose="02020603050405020304" pitchFamily="18" charset="0"/>
              </a:rPr>
              <a:t>, </a:t>
            </a:r>
            <a:r>
              <a:rPr lang="en-US" altLang="en-US" sz="2000" dirty="0" err="1">
                <a:cs typeface="Times New Roman" panose="02020603050405020304" pitchFamily="18" charset="0"/>
              </a:rPr>
              <a:t>hệ</a:t>
            </a:r>
            <a:r>
              <a:rPr lang="en-US" altLang="en-US" sz="2000" dirty="0">
                <a:cs typeface="Times New Roman" panose="02020603050405020304" pitchFamily="18" charset="0"/>
              </a:rPr>
              <a:t> </a:t>
            </a:r>
            <a:r>
              <a:rPr lang="en-US" altLang="en-US" sz="2000" dirty="0" err="1">
                <a:cs typeface="Times New Roman" panose="02020603050405020304" pitchFamily="18" charset="0"/>
              </a:rPr>
              <a:t>thống</a:t>
            </a:r>
            <a:r>
              <a:rPr lang="en-US" altLang="en-US" sz="2000" dirty="0">
                <a:cs typeface="Times New Roman" panose="02020603050405020304" pitchFamily="18" charset="0"/>
              </a:rPr>
              <a:t> </a:t>
            </a:r>
            <a:r>
              <a:rPr lang="en-US" altLang="en-US" sz="2000" dirty="0" err="1">
                <a:cs typeface="Times New Roman" panose="02020603050405020304" pitchFamily="18" charset="0"/>
              </a:rPr>
              <a:t>sẽ</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động</a:t>
            </a:r>
            <a:r>
              <a:rPr lang="en-US" altLang="en-US" sz="2000" dirty="0">
                <a:cs typeface="Times New Roman" panose="02020603050405020304" pitchFamily="18" charset="0"/>
              </a:rPr>
              <a:t> </a:t>
            </a:r>
            <a:r>
              <a:rPr lang="en-US" altLang="en-US" sz="2000" dirty="0" err="1">
                <a:cs typeface="Times New Roman" panose="02020603050405020304" pitchFamily="18" charset="0"/>
              </a:rPr>
              <a:t>kích</a:t>
            </a:r>
            <a:r>
              <a:rPr lang="en-US" altLang="en-US" sz="2000" dirty="0">
                <a:cs typeface="Times New Roman" panose="02020603050405020304" pitchFamily="18" charset="0"/>
              </a:rPr>
              <a:t> </a:t>
            </a:r>
            <a:r>
              <a:rPr lang="en-US" altLang="en-US" sz="2000" dirty="0" err="1">
                <a:cs typeface="Times New Roman" panose="02020603050405020304" pitchFamily="18" charset="0"/>
              </a:rPr>
              <a:t>hoạt</a:t>
            </a:r>
            <a:r>
              <a:rPr lang="en-US" altLang="en-US" sz="2000" dirty="0">
                <a:cs typeface="Times New Roman" panose="02020603050405020304" pitchFamily="18" charset="0"/>
              </a:rPr>
              <a:t> </a:t>
            </a:r>
            <a:r>
              <a:rPr lang="en-US" altLang="en-US" sz="2000" dirty="0" err="1">
                <a:cs typeface="Times New Roman" panose="02020603050405020304" pitchFamily="18" charset="0"/>
              </a:rPr>
              <a:t>giai</a:t>
            </a:r>
            <a:r>
              <a:rPr lang="en-US" altLang="en-US" sz="2000" dirty="0">
                <a:cs typeface="Times New Roman" panose="02020603050405020304" pitchFamily="18" charset="0"/>
              </a:rPr>
              <a:t> </a:t>
            </a:r>
            <a:r>
              <a:rPr lang="en-US" altLang="en-US" sz="2000" dirty="0" err="1">
                <a:cs typeface="Times New Roman" panose="02020603050405020304" pitchFamily="18" charset="0"/>
              </a:rPr>
              <a:t>đoạn</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hai</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dirty="0" err="1">
                <a:cs typeface="Times New Roman" panose="02020603050405020304" pitchFamily="18" charset="0"/>
              </a:rPr>
              <a:t>giai</a:t>
            </a:r>
            <a:r>
              <a:rPr lang="en-US" altLang="en-US" sz="2000" dirty="0">
                <a:cs typeface="Times New Roman" panose="02020603050405020304" pitchFamily="18" charset="0"/>
              </a:rPr>
              <a:t> </a:t>
            </a:r>
            <a:r>
              <a:rPr lang="en-US" altLang="en-US" sz="2000" dirty="0" err="1">
                <a:cs typeface="Times New Roman" panose="02020603050405020304" pitchFamily="18" charset="0"/>
              </a:rPr>
              <a:t>đoạn</a:t>
            </a:r>
            <a:r>
              <a:rPr lang="en-US" altLang="en-US" sz="2000" dirty="0">
                <a:cs typeface="Times New Roman" panose="02020603050405020304" pitchFamily="18" charset="0"/>
              </a:rPr>
              <a:t> quay </a:t>
            </a:r>
            <a:r>
              <a:rPr lang="en-US" altLang="en-US" sz="2000" dirty="0" err="1">
                <a:cs typeface="Times New Roman" panose="02020603050405020304" pitchFamily="18" charset="0"/>
              </a:rPr>
              <a:t>lui</a:t>
            </a:r>
            <a:endParaRPr lang="en-US" altLang="en-US" sz="2000" dirty="0" smtClean="0">
              <a:cs typeface="Times New Roman" panose="02020603050405020304" pitchFamily="18" charset="0"/>
            </a:endParaRPr>
          </a:p>
          <a:p>
            <a:pPr lvl="1"/>
            <a:r>
              <a:rPr lang="en-US" altLang="en-US" sz="2000" dirty="0" err="1" smtClean="0">
                <a:cs typeface="Times New Roman" panose="02020603050405020304" pitchFamily="18" charset="0"/>
              </a:rPr>
              <a:t>Quá</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trình</a:t>
            </a:r>
            <a:r>
              <a:rPr lang="en-US" altLang="en-US" sz="2000" dirty="0" smtClean="0">
                <a:cs typeface="Times New Roman" panose="02020603050405020304" pitchFamily="18" charset="0"/>
              </a:rPr>
              <a:t> quay </a:t>
            </a:r>
            <a:r>
              <a:rPr lang="en-US" altLang="en-US" sz="2000" dirty="0" err="1" smtClean="0">
                <a:cs typeface="Times New Roman" panose="02020603050405020304" pitchFamily="18" charset="0"/>
              </a:rPr>
              <a:t>lui</a:t>
            </a:r>
            <a:r>
              <a:rPr lang="en-US" altLang="en-US" sz="2000" dirty="0" smtClean="0">
                <a:cs typeface="Times New Roman" panose="02020603050405020304" pitchFamily="18" charset="0"/>
              </a:rPr>
              <a:t> </a:t>
            </a:r>
            <a:r>
              <a:rPr lang="en-US" altLang="en-US" sz="2000" dirty="0" smtClean="0">
                <a:cs typeface="Times New Roman" panose="02020603050405020304" pitchFamily="18" charset="0"/>
                <a:sym typeface="Symbol" panose="05050102010706020507" pitchFamily="18" charset="2"/>
              </a:rPr>
              <a:t> </a:t>
            </a:r>
            <a:r>
              <a:rPr lang="en-US" altLang="en-US" sz="2000" dirty="0" err="1" smtClean="0">
                <a:cs typeface="Times New Roman" panose="02020603050405020304" pitchFamily="18" charset="0"/>
              </a:rPr>
              <a:t>Giai</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đoạn</a:t>
            </a:r>
            <a:r>
              <a:rPr lang="en-US" altLang="en-US" sz="2000" dirty="0">
                <a:cs typeface="Times New Roman" panose="02020603050405020304" pitchFamily="18" charset="0"/>
              </a:rPr>
              <a:t> quay </a:t>
            </a:r>
            <a:r>
              <a:rPr lang="en-US" altLang="en-US" sz="2000" dirty="0" err="1" smtClean="0">
                <a:cs typeface="Times New Roman" panose="02020603050405020304" pitchFamily="18" charset="0"/>
              </a:rPr>
              <a:t>lui</a:t>
            </a:r>
            <a:r>
              <a:rPr lang="en-US" altLang="en-US" sz="2000" dirty="0" smtClean="0">
                <a:cs typeface="Times New Roman" panose="02020603050405020304" pitchFamily="18" charset="0"/>
              </a:rPr>
              <a:t>:</a:t>
            </a:r>
          </a:p>
          <a:p>
            <a:pPr lvl="2"/>
            <a:r>
              <a:rPr lang="en-US" altLang="en-US" sz="2000" dirty="0" err="1">
                <a:cs typeface="Times New Roman" panose="02020603050405020304" pitchFamily="18" charset="0"/>
              </a:rPr>
              <a:t>Hệ</a:t>
            </a:r>
            <a:r>
              <a:rPr lang="en-US" altLang="en-US" sz="2000" dirty="0">
                <a:cs typeface="Times New Roman" panose="02020603050405020304" pitchFamily="18" charset="0"/>
              </a:rPr>
              <a:t> </a:t>
            </a:r>
            <a:r>
              <a:rPr lang="en-US" altLang="en-US" sz="2000" dirty="0" err="1">
                <a:cs typeface="Times New Roman" panose="02020603050405020304" pitchFamily="18" charset="0"/>
              </a:rPr>
              <a:t>thống</a:t>
            </a:r>
            <a:r>
              <a:rPr lang="en-US" altLang="en-US" sz="2000" dirty="0">
                <a:cs typeface="Times New Roman" panose="02020603050405020304" pitchFamily="18" charset="0"/>
              </a:rPr>
              <a:t> </a:t>
            </a:r>
            <a:r>
              <a:rPr lang="en-US" altLang="en-US" sz="2000" dirty="0" err="1">
                <a:cs typeface="Times New Roman" panose="02020603050405020304" pitchFamily="18" charset="0"/>
              </a:rPr>
              <a:t>sẽ</a:t>
            </a:r>
            <a:r>
              <a:rPr lang="en-US" altLang="en-US" sz="2000" dirty="0">
                <a:cs typeface="Times New Roman" panose="02020603050405020304" pitchFamily="18" charset="0"/>
              </a:rPr>
              <a:t> </a:t>
            </a:r>
            <a:r>
              <a:rPr lang="en-US" altLang="en-US" sz="2000" dirty="0" err="1">
                <a:cs typeface="Times New Roman" panose="02020603050405020304" pitchFamily="18" charset="0"/>
              </a:rPr>
              <a:t>thi</a:t>
            </a:r>
            <a:r>
              <a:rPr lang="en-US" altLang="en-US" sz="2000" dirty="0">
                <a:cs typeface="Times New Roman" panose="02020603050405020304" pitchFamily="18" charset="0"/>
              </a:rPr>
              <a:t> </a:t>
            </a:r>
            <a:r>
              <a:rPr lang="en-US" altLang="en-US" sz="2000" dirty="0" err="1">
                <a:cs typeface="Times New Roman" panose="02020603050405020304" pitchFamily="18" charset="0"/>
              </a:rPr>
              <a:t>hành</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thủ</a:t>
            </a:r>
            <a:r>
              <a:rPr lang="en-US" altLang="en-US" sz="2000" dirty="0">
                <a:cs typeface="Times New Roman" panose="02020603050405020304" pitchFamily="18" charset="0"/>
              </a:rPr>
              <a:t> </a:t>
            </a:r>
            <a:r>
              <a:rPr lang="en-US" altLang="en-US" sz="2000" dirty="0" err="1">
                <a:cs typeface="Times New Roman" panose="02020603050405020304" pitchFamily="18" charset="0"/>
              </a:rPr>
              <a:t>tục</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trung</a:t>
            </a:r>
            <a:r>
              <a:rPr lang="en-US" altLang="en-US" sz="2000" dirty="0">
                <a:cs typeface="Times New Roman" panose="02020603050405020304" pitchFamily="18" charset="0"/>
              </a:rPr>
              <a:t> </a:t>
            </a:r>
            <a:r>
              <a:rPr lang="en-US" altLang="en-US" sz="2000" dirty="0" err="1">
                <a:cs typeface="Times New Roman" panose="02020603050405020304" pitchFamily="18" charset="0"/>
              </a:rPr>
              <a:t>gian</a:t>
            </a:r>
            <a:r>
              <a:rPr lang="en-US" altLang="en-US" sz="2000" dirty="0">
                <a:cs typeface="Times New Roman" panose="02020603050405020304" pitchFamily="18" charset="0"/>
              </a:rPr>
              <a:t> </a:t>
            </a:r>
            <a:r>
              <a:rPr lang="en-US" altLang="en-US" sz="2000" dirty="0" err="1">
                <a:cs typeface="Times New Roman" panose="02020603050405020304" pitchFamily="18" charset="0"/>
              </a:rPr>
              <a:t>trong</a:t>
            </a:r>
            <a:r>
              <a:rPr lang="en-US" altLang="en-US" sz="2000" dirty="0">
                <a:cs typeface="Times New Roman" panose="02020603050405020304" pitchFamily="18" charset="0"/>
              </a:rPr>
              <a:t> </a:t>
            </a:r>
            <a:r>
              <a:rPr lang="en-US" altLang="en-US" sz="2000" dirty="0" err="1">
                <a:cs typeface="Times New Roman" panose="02020603050405020304" pitchFamily="18" charset="0"/>
              </a:rPr>
              <a:t>giai</a:t>
            </a:r>
            <a:r>
              <a:rPr lang="en-US" altLang="en-US" sz="2000" dirty="0">
                <a:cs typeface="Times New Roman" panose="02020603050405020304" pitchFamily="18" charset="0"/>
              </a:rPr>
              <a:t> </a:t>
            </a:r>
            <a:r>
              <a:rPr lang="en-US" altLang="en-US" sz="2000" dirty="0" err="1">
                <a:cs typeface="Times New Roman" panose="02020603050405020304" pitchFamily="18" charset="0"/>
              </a:rPr>
              <a:t>đoạn</a:t>
            </a:r>
            <a:r>
              <a:rPr lang="en-US" altLang="en-US" sz="2000" dirty="0">
                <a:cs typeface="Times New Roman" panose="02020603050405020304" pitchFamily="18" charset="0"/>
              </a:rPr>
              <a:t> </a:t>
            </a:r>
            <a:r>
              <a:rPr lang="en-US" altLang="en-US" sz="2000" dirty="0" err="1">
                <a:cs typeface="Times New Roman" panose="02020603050405020304" pitchFamily="18" charset="0"/>
              </a:rPr>
              <a:t>đầu</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thứ</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ngược</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lại</a:t>
            </a:r>
            <a:endParaRPr lang="en-US" altLang="en-US" sz="2000" dirty="0" smtClean="0">
              <a:cs typeface="Times New Roman" panose="02020603050405020304" pitchFamily="18" charset="0"/>
            </a:endParaRPr>
          </a:p>
          <a:p>
            <a:pPr lvl="2"/>
            <a:r>
              <a:rPr lang="en-US" altLang="en-US" sz="2000" dirty="0" err="1" smtClean="0">
                <a:cs typeface="Times New Roman" panose="02020603050405020304" pitchFamily="18" charset="0"/>
              </a:rPr>
              <a:t>cho</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đến</a:t>
            </a:r>
            <a:r>
              <a:rPr lang="en-US" altLang="en-US" sz="2000" dirty="0">
                <a:cs typeface="Times New Roman" panose="02020603050405020304" pitchFamily="18" charset="0"/>
              </a:rPr>
              <a:t> </a:t>
            </a:r>
            <a:r>
              <a:rPr lang="en-US" altLang="en-US" sz="2000" dirty="0" err="1">
                <a:cs typeface="Times New Roman" panose="02020603050405020304" pitchFamily="18" charset="0"/>
              </a:rPr>
              <a:t>khi</a:t>
            </a:r>
            <a:r>
              <a:rPr lang="en-US" altLang="en-US" sz="2000" dirty="0">
                <a:cs typeface="Times New Roman" panose="02020603050405020304" pitchFamily="18" charset="0"/>
              </a:rPr>
              <a:t> </a:t>
            </a:r>
            <a:r>
              <a:rPr lang="en-US" altLang="en-US" sz="2000" dirty="0" err="1">
                <a:cs typeface="Times New Roman" panose="02020603050405020304" pitchFamily="18" charset="0"/>
              </a:rPr>
              <a:t>thi</a:t>
            </a:r>
            <a:r>
              <a:rPr lang="en-US" altLang="en-US" sz="2000" dirty="0">
                <a:cs typeface="Times New Roman" panose="02020603050405020304" pitchFamily="18" charset="0"/>
              </a:rPr>
              <a:t> </a:t>
            </a:r>
            <a:r>
              <a:rPr lang="en-US" altLang="en-US" sz="2000" dirty="0" err="1">
                <a:cs typeface="Times New Roman" panose="02020603050405020304" pitchFamily="18" charset="0"/>
              </a:rPr>
              <a:t>hành</a:t>
            </a:r>
            <a:r>
              <a:rPr lang="en-US" altLang="en-US" sz="2000" dirty="0">
                <a:cs typeface="Times New Roman" panose="02020603050405020304" pitchFamily="18" charset="0"/>
              </a:rPr>
              <a:t> </a:t>
            </a:r>
            <a:r>
              <a:rPr lang="en-US" altLang="en-US" sz="2000" dirty="0" err="1">
                <a:cs typeface="Times New Roman" panose="02020603050405020304" pitchFamily="18" charset="0"/>
              </a:rPr>
              <a:t>xong</a:t>
            </a:r>
            <a:r>
              <a:rPr lang="en-US" altLang="en-US" sz="2000" dirty="0">
                <a:cs typeface="Times New Roman" panose="02020603050405020304" pitchFamily="18" charset="0"/>
              </a:rPr>
              <a:t> </a:t>
            </a:r>
            <a:r>
              <a:rPr lang="en-US" altLang="en-US" sz="2000" dirty="0" err="1">
                <a:cs typeface="Times New Roman" panose="02020603050405020304" pitchFamily="18" charset="0"/>
              </a:rPr>
              <a:t>thủ</a:t>
            </a:r>
            <a:r>
              <a:rPr lang="en-US" altLang="en-US" sz="2000" dirty="0">
                <a:cs typeface="Times New Roman" panose="02020603050405020304" pitchFamily="18" charset="0"/>
              </a:rPr>
              <a:t> </a:t>
            </a:r>
            <a:r>
              <a:rPr lang="en-US" altLang="en-US" sz="2000" dirty="0" err="1">
                <a:cs typeface="Times New Roman" panose="02020603050405020304" pitchFamily="18" charset="0"/>
              </a:rPr>
              <a:t>tục</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đầu</a:t>
            </a:r>
            <a:r>
              <a:rPr lang="en-US" altLang="en-US" sz="2000" dirty="0">
                <a:cs typeface="Times New Roman" panose="02020603050405020304" pitchFamily="18" charset="0"/>
              </a:rPr>
              <a:t> </a:t>
            </a:r>
            <a:r>
              <a:rPr lang="en-US" altLang="en-US" sz="2000" dirty="0" err="1">
                <a:cs typeface="Times New Roman" panose="02020603050405020304" pitchFamily="18" charset="0"/>
              </a:rPr>
              <a:t>tiên</a:t>
            </a:r>
            <a:r>
              <a:rPr lang="en-US" altLang="en-US" sz="2000" dirty="0">
                <a:cs typeface="Times New Roman" panose="02020603050405020304" pitchFamily="18" charset="0"/>
              </a:rPr>
              <a:t> </a:t>
            </a:r>
            <a:r>
              <a:rPr lang="en-US" altLang="en-US" sz="2000" dirty="0" err="1">
                <a:cs typeface="Times New Roman" panose="02020603050405020304" pitchFamily="18" charset="0"/>
              </a:rPr>
              <a:t>thì</a:t>
            </a:r>
            <a:r>
              <a:rPr lang="en-US" altLang="en-US" sz="2000" dirty="0">
                <a:cs typeface="Times New Roman" panose="02020603050405020304" pitchFamily="18" charset="0"/>
              </a:rPr>
              <a:t> </a:t>
            </a:r>
            <a:r>
              <a:rPr lang="en-US" altLang="en-US" sz="2000" dirty="0" err="1">
                <a:cs typeface="Times New Roman" panose="02020603050405020304" pitchFamily="18" charset="0"/>
              </a:rPr>
              <a:t>kết</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thúc</a:t>
            </a:r>
            <a:endParaRPr lang="en-US" altLang="en-US" sz="2000" dirty="0" smtClean="0">
              <a:cs typeface="Times New Roman" panose="02020603050405020304" pitchFamily="18" charset="0"/>
            </a:endParaRPr>
          </a:p>
          <a:p>
            <a:pPr lvl="2"/>
            <a:r>
              <a:rPr lang="en-US" altLang="en-US" sz="2000" dirty="0" err="1" smtClean="0">
                <a:cs typeface="Times New Roman" panose="02020603050405020304" pitchFamily="18" charset="0"/>
              </a:rPr>
              <a:t>đồng</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thời</a:t>
            </a:r>
            <a:r>
              <a:rPr lang="en-US" altLang="en-US" sz="2000" dirty="0">
                <a:cs typeface="Times New Roman" panose="02020603050405020304" pitchFamily="18" charset="0"/>
              </a:rPr>
              <a:t> </a:t>
            </a:r>
            <a:r>
              <a:rPr lang="en-US" altLang="en-US" sz="2000" dirty="0" err="1">
                <a:cs typeface="Times New Roman" panose="02020603050405020304" pitchFamily="18" charset="0"/>
              </a:rPr>
              <a:t>kết</a:t>
            </a:r>
            <a:r>
              <a:rPr lang="en-US" altLang="en-US" sz="2000" dirty="0">
                <a:cs typeface="Times New Roman" panose="02020603050405020304" pitchFamily="18" charset="0"/>
              </a:rPr>
              <a:t> </a:t>
            </a:r>
            <a:r>
              <a:rPr lang="en-US" altLang="en-US" sz="2000" dirty="0" err="1">
                <a:cs typeface="Times New Roman" panose="02020603050405020304" pitchFamily="18" charset="0"/>
              </a:rPr>
              <a:t>thúc</a:t>
            </a:r>
            <a:r>
              <a:rPr lang="en-US" altLang="en-US" sz="2000" dirty="0">
                <a:cs typeface="Times New Roman" panose="02020603050405020304" pitchFamily="18" charset="0"/>
              </a:rPr>
              <a:t> </a:t>
            </a:r>
            <a:r>
              <a:rPr lang="en-US" altLang="en-US" sz="2000" dirty="0" err="1">
                <a:cs typeface="Times New Roman" panose="02020603050405020304" pitchFamily="18" charset="0"/>
              </a:rPr>
              <a:t>hoạt</a:t>
            </a:r>
            <a:r>
              <a:rPr lang="en-US" altLang="en-US" sz="2000" dirty="0">
                <a:cs typeface="Times New Roman" panose="02020603050405020304" pitchFamily="18" charset="0"/>
              </a:rPr>
              <a:t> </a:t>
            </a:r>
            <a:r>
              <a:rPr lang="en-US" altLang="en-US" sz="2000" dirty="0" err="1">
                <a:cs typeface="Times New Roman" panose="02020603050405020304" pitchFamily="18" charset="0"/>
              </a:rPr>
              <a:t>động</a:t>
            </a:r>
            <a:r>
              <a:rPr lang="en-US" altLang="en-US" sz="2000" dirty="0">
                <a:cs typeface="Times New Roman" panose="02020603050405020304" pitchFamily="18" charset="0"/>
              </a:rPr>
              <a:t> </a:t>
            </a:r>
            <a:r>
              <a:rPr lang="en-US" altLang="en-US" sz="2000" dirty="0" err="1">
                <a:cs typeface="Times New Roman" panose="02020603050405020304" pitchFamily="18" charset="0"/>
              </a:rPr>
              <a:t>của</a:t>
            </a:r>
            <a:r>
              <a:rPr lang="en-US" altLang="en-US" sz="2000" dirty="0">
                <a:cs typeface="Times New Roman" panose="02020603050405020304" pitchFamily="18" charset="0"/>
              </a:rPr>
              <a:t> </a:t>
            </a:r>
            <a:r>
              <a:rPr lang="en-US" altLang="en-US" sz="2000" dirty="0" err="1">
                <a:cs typeface="Times New Roman" panose="02020603050405020304" pitchFamily="18" charset="0"/>
              </a:rPr>
              <a:t>thủ</a:t>
            </a:r>
            <a:r>
              <a:rPr lang="en-US" altLang="en-US" sz="2000" dirty="0">
                <a:cs typeface="Times New Roman" panose="02020603050405020304" pitchFamily="18" charset="0"/>
              </a:rPr>
              <a:t> </a:t>
            </a:r>
            <a:r>
              <a:rPr lang="en-US" altLang="en-US" sz="2000" dirty="0" err="1">
                <a:cs typeface="Times New Roman" panose="02020603050405020304" pitchFamily="18" charset="0"/>
              </a:rPr>
              <a:t>tục</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endParaRPr lang="en-US" altLang="en-US" sz="2000" dirty="0" smtClean="0">
              <a:cs typeface="Times New Roman" panose="02020603050405020304" pitchFamily="18" charset="0"/>
            </a:endParaRPr>
          </a:p>
          <a:p>
            <a:pPr lvl="1"/>
            <a:endParaRPr lang="en-US" sz="2000" dirty="0"/>
          </a:p>
        </p:txBody>
      </p:sp>
    </p:spTree>
    <p:extLst>
      <p:ext uri="{BB962C8B-B14F-4D97-AF65-F5344CB8AC3E}">
        <p14:creationId xmlns:p14="http://schemas.microsoft.com/office/powerpoint/2010/main" val="2155975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23</a:t>
            </a:fld>
            <a:endParaRPr lang="en-US"/>
          </a:p>
        </p:txBody>
      </p:sp>
      <p:sp>
        <p:nvSpPr>
          <p:cNvPr id="5" name="Title 4"/>
          <p:cNvSpPr>
            <a:spLocks noGrp="1"/>
          </p:cNvSpPr>
          <p:nvPr>
            <p:ph type="title"/>
          </p:nvPr>
        </p:nvSpPr>
        <p:spPr/>
        <p:txBody>
          <a:bodyPr/>
          <a:lstStyle/>
          <a:p>
            <a:r>
              <a:rPr lang="en-US" dirty="0"/>
              <a:t>2.2 </a:t>
            </a:r>
            <a:r>
              <a:rPr lang="en-US" altLang="en-US" dirty="0" err="1"/>
              <a:t>Phương</a:t>
            </a:r>
            <a:r>
              <a:rPr lang="en-US" altLang="en-US" dirty="0"/>
              <a:t> </a:t>
            </a:r>
            <a:r>
              <a:rPr lang="en-US" altLang="en-US" dirty="0" err="1"/>
              <a:t>pháp</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thủ</a:t>
            </a:r>
            <a:r>
              <a:rPr lang="en-US" altLang="en-US" dirty="0"/>
              <a:t> </a:t>
            </a:r>
            <a:r>
              <a:rPr lang="en-US" altLang="en-US" dirty="0" err="1"/>
              <a:t>tục</a:t>
            </a:r>
            <a:r>
              <a:rPr lang="en-US" altLang="en-US" dirty="0"/>
              <a:t> </a:t>
            </a:r>
            <a:r>
              <a:rPr lang="en-US" altLang="en-US" dirty="0" err="1"/>
              <a:t>đệ</a:t>
            </a:r>
            <a:r>
              <a:rPr lang="en-US" altLang="en-US" dirty="0"/>
              <a:t> </a:t>
            </a:r>
            <a:r>
              <a:rPr lang="en-US" altLang="en-US" dirty="0" err="1"/>
              <a:t>quy</a:t>
            </a:r>
            <a:r>
              <a:rPr lang="en-US" altLang="en-US" dirty="0"/>
              <a:t> </a:t>
            </a:r>
            <a:endParaRPr lang="en-US" dirty="0"/>
          </a:p>
        </p:txBody>
      </p:sp>
      <p:sp>
        <p:nvSpPr>
          <p:cNvPr id="2" name="Content Placeholder 1"/>
          <p:cNvSpPr>
            <a:spLocks noGrp="1"/>
          </p:cNvSpPr>
          <p:nvPr>
            <p:ph type="body" sz="quarter" idx="13"/>
          </p:nvPr>
        </p:nvSpPr>
        <p:spPr/>
        <p:txBody>
          <a:bodyPr>
            <a:normAutofit/>
          </a:bodyPr>
          <a:lstStyle/>
          <a:p>
            <a:r>
              <a:rPr lang="en-US" altLang="en-US" sz="2400" dirty="0" err="1">
                <a:cs typeface="Times New Roman" panose="02020603050405020304" pitchFamily="18" charset="0"/>
              </a:rPr>
              <a:t>Vấn</a:t>
            </a:r>
            <a:r>
              <a:rPr lang="en-US" altLang="en-US" sz="2400" dirty="0">
                <a:cs typeface="Times New Roman" panose="02020603050405020304" pitchFamily="18" charset="0"/>
              </a:rPr>
              <a:t> </a:t>
            </a:r>
            <a:r>
              <a:rPr lang="en-US" altLang="en-US" sz="2400" dirty="0" err="1">
                <a:cs typeface="Times New Roman" panose="02020603050405020304" pitchFamily="18" charset="0"/>
              </a:rPr>
              <a:t>đề</a:t>
            </a:r>
            <a:r>
              <a:rPr lang="en-US" altLang="en-US" sz="2400" dirty="0">
                <a:cs typeface="Times New Roman" panose="02020603050405020304" pitchFamily="18" charset="0"/>
              </a:rPr>
              <a:t> </a:t>
            </a:r>
            <a:r>
              <a:rPr lang="en-US" altLang="en-US" sz="2400" dirty="0" err="1">
                <a:cs typeface="Times New Roman" panose="02020603050405020304" pitchFamily="18" charset="0"/>
              </a:rPr>
              <a:t>cài</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đặt</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lưu</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trữ</a:t>
            </a:r>
            <a:r>
              <a:rPr lang="en-US" altLang="en-US" sz="2400" dirty="0">
                <a:cs typeface="Times New Roman" panose="02020603050405020304" pitchFamily="18" charset="0"/>
              </a:rPr>
              <a:t>, </a:t>
            </a:r>
            <a:r>
              <a:rPr lang="en-US" altLang="en-US" sz="2400" dirty="0" err="1">
                <a:cs typeface="Times New Roman" panose="02020603050405020304" pitchFamily="18" charset="0"/>
              </a:rPr>
              <a:t>xử</a:t>
            </a:r>
            <a:r>
              <a:rPr lang="en-US" altLang="en-US" sz="2400" dirty="0">
                <a:cs typeface="Times New Roman" panose="02020603050405020304" pitchFamily="18" charset="0"/>
              </a:rPr>
              <a:t> </a:t>
            </a:r>
            <a:r>
              <a:rPr lang="en-US" altLang="en-US" sz="2400" dirty="0" err="1">
                <a:cs typeface="Times New Roman" panose="02020603050405020304" pitchFamily="18" charset="0"/>
              </a:rPr>
              <a:t>lý</a:t>
            </a:r>
            <a:r>
              <a:rPr lang="en-US" altLang="en-US" sz="2400" dirty="0">
                <a:cs typeface="Times New Roman" panose="02020603050405020304" pitchFamily="18" charset="0"/>
              </a:rPr>
              <a:t> </a:t>
            </a:r>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lời</a:t>
            </a:r>
            <a:r>
              <a:rPr lang="en-US" altLang="en-US" sz="2400" dirty="0">
                <a:cs typeface="Times New Roman" panose="02020603050405020304" pitchFamily="18" charset="0"/>
              </a:rPr>
              <a:t> </a:t>
            </a:r>
            <a:r>
              <a:rPr lang="en-US" altLang="en-US" sz="2400" dirty="0" err="1">
                <a:cs typeface="Times New Roman" panose="02020603050405020304" pitchFamily="18" charset="0"/>
              </a:rPr>
              <a:t>gọi</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endParaRPr lang="en-US" altLang="en-US" sz="2400" dirty="0" smtClean="0">
              <a:cs typeface="Times New Roman" panose="02020603050405020304" pitchFamily="18" charset="0"/>
            </a:endParaRPr>
          </a:p>
          <a:p>
            <a:pPr lvl="1" eaLnBrk="1" hangingPunct="1">
              <a:spcBef>
                <a:spcPct val="10000"/>
              </a:spcBef>
            </a:pPr>
            <a:r>
              <a:rPr lang="en-US" altLang="en-US" sz="2000" dirty="0" err="1" smtClean="0">
                <a:cs typeface="Times New Roman" panose="02020603050405020304" pitchFamily="18" charset="0"/>
              </a:rPr>
              <a:t>sử</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dụng</a:t>
            </a:r>
            <a:r>
              <a:rPr lang="en-US" altLang="en-US" sz="2000" dirty="0">
                <a:cs typeface="Times New Roman" panose="02020603050405020304" pitchFamily="18" charset="0"/>
              </a:rPr>
              <a:t> </a:t>
            </a:r>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trúc</a:t>
            </a:r>
            <a:r>
              <a:rPr lang="en-US" altLang="en-US" sz="2000" dirty="0">
                <a:cs typeface="Times New Roman" panose="02020603050405020304" pitchFamily="18" charset="0"/>
              </a:rPr>
              <a:t> </a:t>
            </a:r>
            <a:r>
              <a:rPr lang="en-US" altLang="en-US" sz="2000" dirty="0" err="1">
                <a:cs typeface="Times New Roman" panose="02020603050405020304" pitchFamily="18" charset="0"/>
              </a:rPr>
              <a:t>ngăn</a:t>
            </a:r>
            <a:r>
              <a:rPr lang="en-US" altLang="en-US" sz="2000" dirty="0">
                <a:cs typeface="Times New Roman" panose="02020603050405020304" pitchFamily="18" charset="0"/>
              </a:rPr>
              <a:t> </a:t>
            </a:r>
            <a:r>
              <a:rPr lang="en-US" altLang="en-US" sz="2000" dirty="0" err="1">
                <a:cs typeface="Times New Roman" panose="02020603050405020304" pitchFamily="18" charset="0"/>
              </a:rPr>
              <a:t>xếp</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lưu</a:t>
            </a:r>
            <a:r>
              <a:rPr lang="en-US" altLang="en-US" sz="2000" dirty="0">
                <a:cs typeface="Times New Roman" panose="02020603050405020304" pitchFamily="18" charset="0"/>
              </a:rPr>
              <a:t> </a:t>
            </a:r>
            <a:r>
              <a:rPr lang="en-US" altLang="en-US" sz="2000" dirty="0" err="1">
                <a:cs typeface="Times New Roman" panose="02020603050405020304" pitchFamily="18" charset="0"/>
              </a:rPr>
              <a:t>trữ</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lời</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a:t>
            </a:r>
          </a:p>
          <a:p>
            <a:pPr lvl="1" eaLnBrk="1" hangingPunct="1">
              <a:spcBef>
                <a:spcPct val="10000"/>
              </a:spcBef>
            </a:pPr>
            <a:r>
              <a:rPr lang="en-US" altLang="en-US" sz="2000" dirty="0" err="1" smtClean="0">
                <a:cs typeface="Times New Roman" panose="02020603050405020304" pitchFamily="18" charset="0"/>
              </a:rPr>
              <a:t>Thực</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tế</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các</a:t>
            </a:r>
            <a:r>
              <a:rPr lang="en-US" altLang="en-US" sz="2000" dirty="0" smtClean="0">
                <a:cs typeface="Times New Roman" panose="02020603050405020304" pitchFamily="18" charset="0"/>
              </a:rPr>
              <a:t> NNLT </a:t>
            </a:r>
            <a:r>
              <a:rPr lang="en-US" altLang="en-US" sz="2000" dirty="0" err="1" smtClean="0">
                <a:cs typeface="Times New Roman" panose="02020603050405020304" pitchFamily="18" charset="0"/>
              </a:rPr>
              <a:t>có</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hỗ</a:t>
            </a:r>
            <a:r>
              <a:rPr lang="en-US" altLang="en-US" sz="2000" dirty="0">
                <a:cs typeface="Times New Roman" panose="02020603050405020304" pitchFamily="18" charset="0"/>
              </a:rPr>
              <a:t> </a:t>
            </a:r>
            <a:r>
              <a:rPr lang="en-US" altLang="en-US" sz="2000" dirty="0" err="1">
                <a:cs typeface="Times New Roman" panose="02020603050405020304" pitchFamily="18" charset="0"/>
              </a:rPr>
              <a:t>trợ</a:t>
            </a:r>
            <a:r>
              <a:rPr lang="en-US" altLang="en-US" sz="2000" dirty="0">
                <a:cs typeface="Times New Roman" panose="02020603050405020304" pitchFamily="18" charset="0"/>
              </a:rPr>
              <a:t> </a:t>
            </a:r>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sz="2000" dirty="0" err="1">
                <a:cs typeface="Times New Roman" panose="02020603050405020304" pitchFamily="18" charset="0"/>
              </a:rPr>
              <a:t>thủ</a:t>
            </a:r>
            <a:r>
              <a:rPr lang="en-US" altLang="en-US" sz="2000" dirty="0">
                <a:cs typeface="Times New Roman" panose="02020603050405020304" pitchFamily="18" charset="0"/>
              </a:rPr>
              <a:t> </a:t>
            </a:r>
            <a:r>
              <a:rPr lang="en-US" altLang="en-US" sz="2000" dirty="0" err="1">
                <a:cs typeface="Times New Roman" panose="02020603050405020304" pitchFamily="18" charset="0"/>
              </a:rPr>
              <a:t>tục</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đều</a:t>
            </a:r>
            <a:r>
              <a:rPr lang="en-US" altLang="en-US" sz="2000" dirty="0">
                <a:cs typeface="Times New Roman" panose="02020603050405020304" pitchFamily="18" charset="0"/>
              </a:rPr>
              <a:t> </a:t>
            </a:r>
            <a:r>
              <a:rPr lang="en-US" altLang="en-US" sz="2000" dirty="0" err="1">
                <a:cs typeface="Times New Roman" panose="02020603050405020304" pitchFamily="18" charset="0"/>
              </a:rPr>
              <a:t>đã</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động</a:t>
            </a:r>
            <a:r>
              <a:rPr lang="en-US" altLang="en-US" sz="2000" dirty="0">
                <a:cs typeface="Times New Roman" panose="02020603050405020304" pitchFamily="18" charset="0"/>
              </a:rPr>
              <a:t> </a:t>
            </a:r>
            <a:r>
              <a:rPr lang="en-US" altLang="en-US" sz="2000" dirty="0" err="1">
                <a:cs typeface="Times New Roman" panose="02020603050405020304" pitchFamily="18" charset="0"/>
              </a:rPr>
              <a:t>cài</a:t>
            </a:r>
            <a:r>
              <a:rPr lang="en-US" altLang="en-US" sz="2000" dirty="0">
                <a:cs typeface="Times New Roman" panose="02020603050405020304" pitchFamily="18" charset="0"/>
              </a:rPr>
              <a:t> </a:t>
            </a:r>
            <a:r>
              <a:rPr lang="en-US" altLang="en-US" sz="2000" dirty="0" err="1">
                <a:cs typeface="Times New Roman" panose="02020603050405020304" pitchFamily="18" charset="0"/>
              </a:rPr>
              <a:t>đặt</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cấu</a:t>
            </a:r>
            <a:r>
              <a:rPr lang="en-US" altLang="en-US" sz="2000" dirty="0">
                <a:cs typeface="Times New Roman" panose="02020603050405020304" pitchFamily="18" charset="0"/>
              </a:rPr>
              <a:t> </a:t>
            </a:r>
            <a:r>
              <a:rPr lang="en-US" altLang="en-US" sz="2000" dirty="0" err="1">
                <a:cs typeface="Times New Roman" panose="02020603050405020304" pitchFamily="18" charset="0"/>
              </a:rPr>
              <a:t>trúc</a:t>
            </a:r>
            <a:r>
              <a:rPr lang="en-US" altLang="en-US" sz="2000" dirty="0">
                <a:cs typeface="Times New Roman" panose="02020603050405020304" pitchFamily="18" charset="0"/>
              </a:rPr>
              <a:t> </a:t>
            </a:r>
            <a:r>
              <a:rPr lang="en-US" altLang="en-US" sz="2000" dirty="0" err="1">
                <a:cs typeface="Times New Roman" panose="02020603050405020304" pitchFamily="18" charset="0"/>
              </a:rPr>
              <a:t>ngăn</a:t>
            </a:r>
            <a:r>
              <a:rPr lang="en-US" altLang="en-US" sz="2000" dirty="0">
                <a:cs typeface="Times New Roman" panose="02020603050405020304" pitchFamily="18" charset="0"/>
              </a:rPr>
              <a:t> </a:t>
            </a:r>
            <a:r>
              <a:rPr lang="en-US" altLang="en-US" sz="2000" dirty="0" err="1">
                <a:cs typeface="Times New Roman" panose="02020603050405020304" pitchFamily="18" charset="0"/>
              </a:rPr>
              <a:t>xếp</a:t>
            </a:r>
            <a:r>
              <a:rPr lang="en-US" altLang="en-US" sz="2000" dirty="0">
                <a:cs typeface="Times New Roman" panose="02020603050405020304" pitchFamily="18" charset="0"/>
              </a:rPr>
              <a:t> </a:t>
            </a:r>
            <a:r>
              <a:rPr lang="en-US" altLang="en-US" sz="2000" dirty="0" err="1">
                <a:cs typeface="Times New Roman" panose="02020603050405020304" pitchFamily="18" charset="0"/>
              </a:rPr>
              <a:t>thích</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hợp</a:t>
            </a:r>
            <a:endParaRPr lang="en-US" altLang="en-US" sz="2000" dirty="0" smtClean="0">
              <a:cs typeface="Times New Roman" panose="02020603050405020304" pitchFamily="18" charset="0"/>
            </a:endParaRPr>
          </a:p>
          <a:p>
            <a:pPr lvl="1"/>
            <a:endParaRPr lang="en-US" sz="2000" dirty="0"/>
          </a:p>
        </p:txBody>
      </p:sp>
      <p:sp>
        <p:nvSpPr>
          <p:cNvPr id="6" name="Rectangle 5"/>
          <p:cNvSpPr/>
          <p:nvPr/>
        </p:nvSpPr>
        <p:spPr>
          <a:xfrm>
            <a:off x="5308909" y="2653081"/>
            <a:ext cx="2710999" cy="881780"/>
          </a:xfrm>
          <a:prstGeom prst="rect">
            <a:avLst/>
          </a:prstGeom>
        </p:spPr>
        <p:txBody>
          <a:bodyPr wrap="none">
            <a:spAutoFit/>
          </a:bodyPr>
          <a:lstStyle/>
          <a:p>
            <a:pPr>
              <a:lnSpc>
                <a:spcPct val="95000"/>
              </a:lnSpc>
              <a:buFontTx/>
              <a:buAutoNum type="arabicParenBoth"/>
            </a:pP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Khởi</a:t>
            </a: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tạo</a:t>
            </a: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ngăn</a:t>
            </a: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xếp</a:t>
            </a:r>
            <a:endParaRPr lang="en-US" altLang="en-US" i="1" dirty="0" smtClean="0">
              <a:cs typeface="Times New Roman" panose="02020603050405020304" pitchFamily="18" charset="0"/>
            </a:endParaRPr>
          </a:p>
          <a:p>
            <a:pPr>
              <a:lnSpc>
                <a:spcPct val="95000"/>
              </a:lnSpc>
              <a:buFontTx/>
              <a:buAutoNum type="arabicParenBoth"/>
            </a:pP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Giai</a:t>
            </a: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đoạn</a:t>
            </a: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gọi</a:t>
            </a: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đệ</a:t>
            </a: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quy</a:t>
            </a:r>
            <a:r>
              <a:rPr lang="en-US" altLang="en-US" i="1" dirty="0" smtClean="0">
                <a:cs typeface="Times New Roman" panose="02020603050405020304" pitchFamily="18" charset="0"/>
              </a:rPr>
              <a:t> </a:t>
            </a:r>
          </a:p>
          <a:p>
            <a:pPr>
              <a:lnSpc>
                <a:spcPct val="95000"/>
              </a:lnSpc>
              <a:buFontTx/>
              <a:buAutoNum type="arabicParenBoth"/>
            </a:pP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Giai</a:t>
            </a: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đoạn</a:t>
            </a:r>
            <a:r>
              <a:rPr lang="en-US" altLang="en-US" i="1" dirty="0" smtClean="0">
                <a:cs typeface="Times New Roman" panose="02020603050405020304" pitchFamily="18" charset="0"/>
              </a:rPr>
              <a:t> quay </a:t>
            </a:r>
            <a:r>
              <a:rPr lang="en-US" altLang="en-US" i="1" dirty="0" err="1" smtClean="0">
                <a:cs typeface="Times New Roman" panose="02020603050405020304" pitchFamily="18" charset="0"/>
              </a:rPr>
              <a:t>lui</a:t>
            </a:r>
            <a:r>
              <a:rPr lang="en-US" altLang="en-US" i="1" dirty="0" smtClean="0">
                <a:cs typeface="Times New Roman" panose="02020603050405020304" pitchFamily="18" charset="0"/>
              </a:rPr>
              <a:t> </a:t>
            </a:r>
            <a:endParaRPr lang="en-US" altLang="en-US" i="1" dirty="0">
              <a:cs typeface="Times New Roman" panose="02020603050405020304" pitchFamily="18" charset="0"/>
            </a:endParaRPr>
          </a:p>
        </p:txBody>
      </p:sp>
      <p:sp>
        <p:nvSpPr>
          <p:cNvPr id="8" name="Rectangle 7"/>
          <p:cNvSpPr/>
          <p:nvPr/>
        </p:nvSpPr>
        <p:spPr>
          <a:xfrm>
            <a:off x="1067227" y="2895600"/>
            <a:ext cx="2056973" cy="369332"/>
          </a:xfrm>
          <a:prstGeom prst="rect">
            <a:avLst/>
          </a:prstGeom>
        </p:spPr>
        <p:txBody>
          <a:bodyPr wrap="none">
            <a:spAutoFit/>
          </a:bodyPr>
          <a:lstStyle/>
          <a:p>
            <a:r>
              <a:rPr lang="en-US" altLang="en-US" b="1" dirty="0" err="1"/>
              <a:t>Giải</a:t>
            </a:r>
            <a:r>
              <a:rPr lang="en-US" altLang="en-US" b="1" dirty="0"/>
              <a:t> </a:t>
            </a:r>
            <a:r>
              <a:rPr lang="en-US" altLang="en-US" b="1" dirty="0" err="1"/>
              <a:t>thuật</a:t>
            </a:r>
            <a:r>
              <a:rPr lang="en-US" altLang="en-US" b="1" dirty="0"/>
              <a:t> </a:t>
            </a:r>
            <a:r>
              <a:rPr lang="en-US" altLang="en-US" b="1" dirty="0" err="1"/>
              <a:t>đệ</a:t>
            </a:r>
            <a:r>
              <a:rPr lang="en-US" altLang="en-US" b="1" dirty="0"/>
              <a:t> </a:t>
            </a:r>
            <a:r>
              <a:rPr lang="en-US" altLang="en-US" b="1" dirty="0" err="1"/>
              <a:t>quy</a:t>
            </a:r>
            <a:endParaRPr lang="en-US" altLang="en-US" b="1" dirty="0"/>
          </a:p>
        </p:txBody>
      </p:sp>
      <p:grpSp>
        <p:nvGrpSpPr>
          <p:cNvPr id="9" name="Group 13"/>
          <p:cNvGrpSpPr>
            <a:grpSpLocks/>
          </p:cNvGrpSpPr>
          <p:nvPr/>
        </p:nvGrpSpPr>
        <p:grpSpPr bwMode="auto">
          <a:xfrm>
            <a:off x="76200" y="3465112"/>
            <a:ext cx="3886200" cy="1055688"/>
            <a:chOff x="1762" y="2976"/>
            <a:chExt cx="2448" cy="665"/>
          </a:xfrm>
        </p:grpSpPr>
        <p:sp>
          <p:nvSpPr>
            <p:cNvPr id="10" name="Text Box 4"/>
            <p:cNvSpPr txBox="1">
              <a:spLocks noChangeArrowheads="1"/>
            </p:cNvSpPr>
            <p:nvPr/>
          </p:nvSpPr>
          <p:spPr bwMode="auto">
            <a:xfrm>
              <a:off x="2482" y="2993"/>
              <a:ext cx="1200" cy="64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dirty="0"/>
                <a:t>3! = 3 x 2!</a:t>
              </a:r>
            </a:p>
            <a:p>
              <a:r>
                <a:rPr lang="en-US" altLang="en-US" sz="2000" dirty="0"/>
                <a:t>2! = 2 x 1!</a:t>
              </a:r>
            </a:p>
            <a:p>
              <a:r>
                <a:rPr lang="en-US" altLang="en-US" sz="2000" dirty="0"/>
                <a:t>1! = 1 x 0!</a:t>
              </a:r>
            </a:p>
            <a:p>
              <a:r>
                <a:rPr lang="en-US" altLang="en-US" sz="2000" dirty="0"/>
                <a:t>0! = 1: TH </a:t>
              </a:r>
              <a:r>
                <a:rPr lang="en-US" altLang="en-US" sz="2000" dirty="0" err="1"/>
                <a:t>cơ</a:t>
              </a:r>
              <a:r>
                <a:rPr lang="en-US" altLang="en-US" sz="2000" dirty="0"/>
                <a:t> </a:t>
              </a:r>
              <a:r>
                <a:rPr lang="en-US" altLang="en-US" sz="2000" dirty="0" err="1"/>
                <a:t>sở</a:t>
              </a:r>
              <a:endParaRPr lang="en-US" altLang="en-US" sz="2000" dirty="0"/>
            </a:p>
          </p:txBody>
        </p:sp>
        <p:sp>
          <p:nvSpPr>
            <p:cNvPr id="11" name="Text Box 5"/>
            <p:cNvSpPr txBox="1">
              <a:spLocks noChangeArrowheads="1"/>
            </p:cNvSpPr>
            <p:nvPr/>
          </p:nvSpPr>
          <p:spPr bwMode="auto">
            <a:xfrm>
              <a:off x="3346" y="3120"/>
              <a:ext cx="864" cy="2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a:t>quay lui</a:t>
              </a:r>
            </a:p>
          </p:txBody>
        </p:sp>
        <p:sp>
          <p:nvSpPr>
            <p:cNvPr id="12" name="Line 6"/>
            <p:cNvSpPr>
              <a:spLocks noChangeShapeType="1"/>
            </p:cNvSpPr>
            <p:nvPr/>
          </p:nvSpPr>
          <p:spPr bwMode="auto">
            <a:xfrm flipV="1">
              <a:off x="3346" y="2976"/>
              <a:ext cx="0" cy="50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 name="Text Box 7"/>
            <p:cNvSpPr txBox="1">
              <a:spLocks noChangeArrowheads="1"/>
            </p:cNvSpPr>
            <p:nvPr/>
          </p:nvSpPr>
          <p:spPr bwMode="auto">
            <a:xfrm>
              <a:off x="1762" y="2993"/>
              <a:ext cx="863" cy="21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dirty="0" err="1"/>
                <a:t>Suy</a:t>
              </a:r>
              <a:r>
                <a:rPr lang="en-US" altLang="en-US" sz="2000" dirty="0"/>
                <a:t> </a:t>
              </a:r>
              <a:r>
                <a:rPr lang="en-US" altLang="en-US" sz="2000" dirty="0" err="1"/>
                <a:t>diễn</a:t>
              </a:r>
              <a:r>
                <a:rPr lang="en-US" altLang="en-US" sz="2000" dirty="0"/>
                <a:t> </a:t>
              </a:r>
              <a:r>
                <a:rPr lang="en-US" altLang="en-US" sz="2000" dirty="0" err="1"/>
                <a:t>đệ</a:t>
              </a:r>
              <a:r>
                <a:rPr lang="en-US" altLang="en-US" sz="2000" dirty="0"/>
                <a:t> </a:t>
              </a:r>
              <a:r>
                <a:rPr lang="en-US" altLang="en-US" sz="2000" dirty="0" err="1"/>
                <a:t>quy</a:t>
              </a:r>
              <a:endParaRPr lang="en-US" altLang="en-US" sz="2000" dirty="0"/>
            </a:p>
          </p:txBody>
        </p:sp>
        <p:sp>
          <p:nvSpPr>
            <p:cNvPr id="14" name="Line 8"/>
            <p:cNvSpPr>
              <a:spLocks noChangeShapeType="1"/>
            </p:cNvSpPr>
            <p:nvPr/>
          </p:nvSpPr>
          <p:spPr bwMode="auto">
            <a:xfrm flipH="1">
              <a:off x="2448" y="2976"/>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5" name="Rectangle 14"/>
          <p:cNvSpPr/>
          <p:nvPr/>
        </p:nvSpPr>
        <p:spPr>
          <a:xfrm>
            <a:off x="4953000" y="2252311"/>
            <a:ext cx="3429144" cy="369332"/>
          </a:xfrm>
          <a:prstGeom prst="rect">
            <a:avLst/>
          </a:prstGeom>
        </p:spPr>
        <p:txBody>
          <a:bodyPr wrap="none">
            <a:spAutoFit/>
          </a:bodyPr>
          <a:lstStyle/>
          <a:p>
            <a:r>
              <a:rPr lang="en-US" altLang="en-US" b="1" dirty="0" err="1"/>
              <a:t>Hoạt</a:t>
            </a:r>
            <a:r>
              <a:rPr lang="en-US" altLang="en-US" b="1" dirty="0"/>
              <a:t> </a:t>
            </a:r>
            <a:r>
              <a:rPr lang="en-US" altLang="en-US" b="1" dirty="0" err="1"/>
              <a:t>động</a:t>
            </a:r>
            <a:r>
              <a:rPr lang="en-US" altLang="en-US" b="1" dirty="0"/>
              <a:t> </a:t>
            </a:r>
            <a:r>
              <a:rPr lang="en-US" altLang="en-US" b="1" dirty="0" err="1"/>
              <a:t>của</a:t>
            </a:r>
            <a:r>
              <a:rPr lang="en-US" altLang="en-US" b="1" dirty="0"/>
              <a:t> </a:t>
            </a:r>
            <a:r>
              <a:rPr lang="en-US" altLang="en-US" b="1" dirty="0" err="1"/>
              <a:t>thủ</a:t>
            </a:r>
            <a:r>
              <a:rPr lang="en-US" altLang="en-US" b="1" dirty="0"/>
              <a:t> </a:t>
            </a:r>
            <a:r>
              <a:rPr lang="en-US" altLang="en-US" b="1" dirty="0" err="1"/>
              <a:t>tục</a:t>
            </a:r>
            <a:r>
              <a:rPr lang="en-US" altLang="en-US" b="1" dirty="0"/>
              <a:t> </a:t>
            </a:r>
            <a:r>
              <a:rPr lang="en-US" altLang="en-US" b="1" dirty="0" err="1"/>
              <a:t>đệ</a:t>
            </a:r>
            <a:r>
              <a:rPr lang="en-US" altLang="en-US" b="1" dirty="0"/>
              <a:t> </a:t>
            </a:r>
            <a:r>
              <a:rPr lang="en-US" altLang="en-US" b="1" dirty="0" err="1"/>
              <a:t>quy</a:t>
            </a:r>
            <a:endParaRPr lang="en-US" altLang="en-US" b="1" dirty="0"/>
          </a:p>
        </p:txBody>
      </p:sp>
      <p:grpSp>
        <p:nvGrpSpPr>
          <p:cNvPr id="29" name="Group 28"/>
          <p:cNvGrpSpPr/>
          <p:nvPr/>
        </p:nvGrpSpPr>
        <p:grpSpPr>
          <a:xfrm>
            <a:off x="4759324" y="3838978"/>
            <a:ext cx="2853721" cy="419100"/>
            <a:chOff x="5082393" y="2942111"/>
            <a:chExt cx="2853721" cy="419100"/>
          </a:xfrm>
        </p:grpSpPr>
        <p:sp>
          <p:nvSpPr>
            <p:cNvPr id="16" name="Text Box 15"/>
            <p:cNvSpPr txBox="1">
              <a:spLocks noChangeArrowheads="1"/>
            </p:cNvSpPr>
            <p:nvPr/>
          </p:nvSpPr>
          <p:spPr bwMode="auto">
            <a:xfrm>
              <a:off x="5082393" y="2954867"/>
              <a:ext cx="1257300" cy="228600"/>
            </a:xfrm>
            <a:prstGeom prst="rect">
              <a:avLst/>
            </a:prstGeom>
            <a:noFill/>
            <a:ln>
              <a:noFill/>
            </a:ln>
          </p:spPr>
          <p:txBody>
            <a:bodyPr tIns="10800" bIns="10800"/>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dirty="0"/>
                <a:t>(1)</a:t>
              </a:r>
            </a:p>
          </p:txBody>
        </p:sp>
        <p:sp>
          <p:nvSpPr>
            <p:cNvPr id="17" name="Text Box 17"/>
            <p:cNvSpPr txBox="1">
              <a:spLocks noChangeArrowheads="1"/>
            </p:cNvSpPr>
            <p:nvPr/>
          </p:nvSpPr>
          <p:spPr bwMode="auto">
            <a:xfrm>
              <a:off x="5954914" y="2942111"/>
              <a:ext cx="1981200" cy="419100"/>
            </a:xfrm>
            <a:prstGeom prst="rect">
              <a:avLst/>
            </a:prstGeom>
            <a:noFill/>
            <a:ln w="9525">
              <a:solidFill>
                <a:srgbClr val="000000"/>
              </a:solidFill>
              <a:miter lim="800000"/>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dirty="0" err="1" smtClean="0"/>
                <a:t>Gọi</a:t>
              </a:r>
              <a:r>
                <a:rPr lang="en-US" altLang="en-US" sz="2000" dirty="0" smtClean="0"/>
                <a:t> 3!: GT(3);</a:t>
              </a:r>
              <a:endParaRPr lang="en-US" altLang="en-US" sz="2000" dirty="0"/>
            </a:p>
          </p:txBody>
        </p:sp>
      </p:grpSp>
      <p:grpSp>
        <p:nvGrpSpPr>
          <p:cNvPr id="28" name="Group 27"/>
          <p:cNvGrpSpPr/>
          <p:nvPr/>
        </p:nvGrpSpPr>
        <p:grpSpPr>
          <a:xfrm>
            <a:off x="4953000" y="4570464"/>
            <a:ext cx="3352800" cy="1754136"/>
            <a:chOff x="5867400" y="3962400"/>
            <a:chExt cx="3352800" cy="1754136"/>
          </a:xfrm>
        </p:grpSpPr>
        <p:sp>
          <p:nvSpPr>
            <p:cNvPr id="18" name="Text Box 14"/>
            <p:cNvSpPr txBox="1">
              <a:spLocks noChangeArrowheads="1"/>
            </p:cNvSpPr>
            <p:nvPr/>
          </p:nvSpPr>
          <p:spPr bwMode="auto">
            <a:xfrm>
              <a:off x="8686800" y="4648200"/>
              <a:ext cx="533400" cy="457200"/>
            </a:xfrm>
            <a:prstGeom prst="rect">
              <a:avLst/>
            </a:prstGeom>
            <a:noFill/>
            <a:ln>
              <a:noFill/>
            </a:ln>
          </p:spPr>
          <p:txBody>
            <a:bodyPr tIns="10800" bIns="10800"/>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000" dirty="0"/>
                <a:t>(3)</a:t>
              </a:r>
            </a:p>
          </p:txBody>
        </p:sp>
        <p:sp>
          <p:nvSpPr>
            <p:cNvPr id="19" name="Text Box 16"/>
            <p:cNvSpPr txBox="1">
              <a:spLocks noChangeArrowheads="1"/>
            </p:cNvSpPr>
            <p:nvPr/>
          </p:nvSpPr>
          <p:spPr bwMode="auto">
            <a:xfrm>
              <a:off x="6553200" y="5465711"/>
              <a:ext cx="1981200" cy="250825"/>
            </a:xfrm>
            <a:prstGeom prst="rect">
              <a:avLst/>
            </a:prstGeom>
            <a:noFill/>
            <a:ln>
              <a:noFill/>
            </a:ln>
          </p:spPr>
          <p:txBody>
            <a:bodyPr tIns="10800" bIns="10800"/>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dirty="0" err="1" smtClean="0"/>
                <a:t>Ngăn</a:t>
              </a:r>
              <a:r>
                <a:rPr lang="en-US" altLang="en-US" sz="2000" dirty="0" smtClean="0"/>
                <a:t> </a:t>
              </a:r>
              <a:r>
                <a:rPr lang="en-US" altLang="en-US" sz="2000" dirty="0" err="1"/>
                <a:t>xếp</a:t>
              </a:r>
              <a:endParaRPr lang="en-US" altLang="en-US" sz="2000" dirty="0"/>
            </a:p>
          </p:txBody>
        </p:sp>
        <p:sp>
          <p:nvSpPr>
            <p:cNvPr id="20" name="Text Box 18"/>
            <p:cNvSpPr txBox="1">
              <a:spLocks noChangeArrowheads="1"/>
            </p:cNvSpPr>
            <p:nvPr/>
          </p:nvSpPr>
          <p:spPr bwMode="auto">
            <a:xfrm>
              <a:off x="6553200" y="5089525"/>
              <a:ext cx="1981200" cy="374650"/>
            </a:xfrm>
            <a:prstGeom prst="rect">
              <a:avLst/>
            </a:prstGeom>
            <a:noFill/>
            <a:ln w="9525">
              <a:solidFill>
                <a:srgbClr val="000000"/>
              </a:solidFill>
              <a:miter lim="800000"/>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dirty="0"/>
                <a:t>GT3=3*GT(2);</a:t>
              </a:r>
            </a:p>
          </p:txBody>
        </p:sp>
        <p:sp>
          <p:nvSpPr>
            <p:cNvPr id="21" name="Text Box 19"/>
            <p:cNvSpPr txBox="1">
              <a:spLocks noChangeArrowheads="1"/>
            </p:cNvSpPr>
            <p:nvPr/>
          </p:nvSpPr>
          <p:spPr bwMode="auto">
            <a:xfrm>
              <a:off x="6553200" y="4713288"/>
              <a:ext cx="1981200" cy="376237"/>
            </a:xfrm>
            <a:prstGeom prst="rect">
              <a:avLst/>
            </a:prstGeom>
            <a:noFill/>
            <a:ln w="9525">
              <a:solidFill>
                <a:srgbClr val="000000"/>
              </a:solidFill>
              <a:miter lim="800000"/>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GT2=2*GT(1);</a:t>
              </a:r>
            </a:p>
          </p:txBody>
        </p:sp>
        <p:sp>
          <p:nvSpPr>
            <p:cNvPr id="22" name="Text Box 20"/>
            <p:cNvSpPr txBox="1">
              <a:spLocks noChangeArrowheads="1"/>
            </p:cNvSpPr>
            <p:nvPr/>
          </p:nvSpPr>
          <p:spPr bwMode="auto">
            <a:xfrm>
              <a:off x="6553200" y="4338638"/>
              <a:ext cx="1981200" cy="374650"/>
            </a:xfrm>
            <a:prstGeom prst="rect">
              <a:avLst/>
            </a:prstGeom>
            <a:noFill/>
            <a:ln w="9525">
              <a:solidFill>
                <a:srgbClr val="000000"/>
              </a:solidFill>
              <a:miter lim="800000"/>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t>GT1=1*GT(0);</a:t>
              </a:r>
            </a:p>
          </p:txBody>
        </p:sp>
        <p:sp>
          <p:nvSpPr>
            <p:cNvPr id="23" name="Line 21"/>
            <p:cNvSpPr>
              <a:spLocks noChangeShapeType="1"/>
            </p:cNvSpPr>
            <p:nvPr/>
          </p:nvSpPr>
          <p:spPr bwMode="auto">
            <a:xfrm>
              <a:off x="6553200" y="3962400"/>
              <a:ext cx="0" cy="1501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22"/>
            <p:cNvSpPr>
              <a:spLocks noChangeShapeType="1"/>
            </p:cNvSpPr>
            <p:nvPr/>
          </p:nvSpPr>
          <p:spPr bwMode="auto">
            <a:xfrm>
              <a:off x="8534400" y="3962400"/>
              <a:ext cx="0" cy="15017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Line 23"/>
            <p:cNvSpPr>
              <a:spLocks noChangeShapeType="1"/>
            </p:cNvSpPr>
            <p:nvPr/>
          </p:nvSpPr>
          <p:spPr bwMode="auto">
            <a:xfrm flipV="1">
              <a:off x="6400800" y="4305300"/>
              <a:ext cx="0" cy="1028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 name="Line 24"/>
            <p:cNvSpPr>
              <a:spLocks noChangeShapeType="1"/>
            </p:cNvSpPr>
            <p:nvPr/>
          </p:nvSpPr>
          <p:spPr bwMode="auto">
            <a:xfrm flipV="1">
              <a:off x="8686800" y="4305300"/>
              <a:ext cx="0" cy="1028700"/>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7" name="Text Box 25"/>
            <p:cNvSpPr txBox="1">
              <a:spLocks noChangeArrowheads="1"/>
            </p:cNvSpPr>
            <p:nvPr/>
          </p:nvSpPr>
          <p:spPr bwMode="auto">
            <a:xfrm>
              <a:off x="5867400" y="4648200"/>
              <a:ext cx="609600" cy="228600"/>
            </a:xfrm>
            <a:prstGeom prst="rect">
              <a:avLst/>
            </a:prstGeom>
            <a:noFill/>
            <a:ln>
              <a:noFill/>
            </a:ln>
          </p:spPr>
          <p:txBody>
            <a:bodyPr tIns="10800" bIns="10800"/>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dirty="0"/>
                <a:t>(2)</a:t>
              </a:r>
            </a:p>
          </p:txBody>
        </p:sp>
      </p:grpSp>
      <p:sp>
        <p:nvSpPr>
          <p:cNvPr id="7" name="Rectangle 6"/>
          <p:cNvSpPr/>
          <p:nvPr/>
        </p:nvSpPr>
        <p:spPr>
          <a:xfrm>
            <a:off x="3276600" y="5001232"/>
            <a:ext cx="1710725" cy="369332"/>
          </a:xfrm>
          <a:prstGeom prst="rect">
            <a:avLst/>
          </a:prstGeom>
        </p:spPr>
        <p:txBody>
          <a:bodyPr wrap="none">
            <a:spAutoFit/>
          </a:bodyPr>
          <a:lstStyle/>
          <a:p>
            <a:r>
              <a:rPr lang="en-US" dirty="0" smtClean="0">
                <a:solidFill>
                  <a:srgbClr val="FF0000"/>
                </a:solidFill>
              </a:rPr>
              <a:t>“</a:t>
            </a:r>
            <a:r>
              <a:rPr lang="en-US" dirty="0" err="1" smtClean="0">
                <a:solidFill>
                  <a:srgbClr val="FF0000"/>
                </a:solidFill>
              </a:rPr>
              <a:t>Độ</a:t>
            </a:r>
            <a:r>
              <a:rPr lang="en-US" dirty="0" smtClean="0">
                <a:solidFill>
                  <a:srgbClr val="FF0000"/>
                </a:solidFill>
              </a:rPr>
              <a:t> </a:t>
            </a:r>
            <a:r>
              <a:rPr lang="en-US" dirty="0" err="1">
                <a:solidFill>
                  <a:srgbClr val="FF0000"/>
                </a:solidFill>
              </a:rPr>
              <a:t>sâu</a:t>
            </a:r>
            <a:r>
              <a:rPr lang="en-US" dirty="0">
                <a:solidFill>
                  <a:srgbClr val="FF0000"/>
                </a:solidFill>
              </a:rPr>
              <a:t> </a:t>
            </a:r>
            <a:r>
              <a:rPr lang="en-US" dirty="0" err="1">
                <a:solidFill>
                  <a:srgbClr val="FF0000"/>
                </a:solidFill>
              </a:rPr>
              <a:t>đệ</a:t>
            </a:r>
            <a:r>
              <a:rPr lang="en-US" dirty="0">
                <a:solidFill>
                  <a:srgbClr val="FF0000"/>
                </a:solidFill>
              </a:rPr>
              <a:t> </a:t>
            </a:r>
            <a:r>
              <a:rPr lang="en-US" dirty="0" err="1" smtClean="0">
                <a:solidFill>
                  <a:srgbClr val="FF0000"/>
                </a:solidFill>
              </a:rPr>
              <a:t>quy</a:t>
            </a:r>
            <a:r>
              <a:rPr lang="en-US" dirty="0" smtClean="0">
                <a:solidFill>
                  <a:srgbClr val="FF0000"/>
                </a:solidFill>
              </a:rPr>
              <a:t>”</a:t>
            </a:r>
            <a:endParaRPr lang="en-US" dirty="0">
              <a:solidFill>
                <a:srgbClr val="FF0000"/>
              </a:solidFill>
            </a:endParaRPr>
          </a:p>
        </p:txBody>
      </p:sp>
      <p:sp>
        <p:nvSpPr>
          <p:cNvPr id="30" name="Rectangle 29"/>
          <p:cNvSpPr/>
          <p:nvPr/>
        </p:nvSpPr>
        <p:spPr>
          <a:xfrm>
            <a:off x="2403475" y="5645131"/>
            <a:ext cx="3117850" cy="646331"/>
          </a:xfrm>
          <a:prstGeom prst="rect">
            <a:avLst/>
          </a:prstGeom>
        </p:spPr>
        <p:txBody>
          <a:bodyPr wrap="square">
            <a:spAutoFit/>
          </a:bodyPr>
          <a:lstStyle/>
          <a:p>
            <a:pPr defTabSz="914400" fontAlgn="base">
              <a:spcBef>
                <a:spcPct val="30000"/>
              </a:spcBef>
              <a:spcAft>
                <a:spcPct val="0"/>
              </a:spcAft>
              <a:defRPr/>
            </a:pPr>
            <a:r>
              <a:rPr lang="en-US" dirty="0" err="1"/>
              <a:t>RecursionError</a:t>
            </a:r>
            <a:r>
              <a:rPr lang="en-US" dirty="0"/>
              <a:t>: maximum recursion depth exceeded</a:t>
            </a:r>
          </a:p>
        </p:txBody>
      </p:sp>
    </p:spTree>
    <p:extLst>
      <p:ext uri="{BB962C8B-B14F-4D97-AF65-F5344CB8AC3E}">
        <p14:creationId xmlns:p14="http://schemas.microsoft.com/office/powerpoint/2010/main" val="2062874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5" grpId="0"/>
      <p:bldP spid="7" grpId="0"/>
      <p:bldP spid="3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24</a:t>
            </a:fld>
            <a:endParaRPr lang="en-US"/>
          </a:p>
        </p:txBody>
      </p:sp>
      <p:sp>
        <p:nvSpPr>
          <p:cNvPr id="5" name="Title 4"/>
          <p:cNvSpPr>
            <a:spLocks noGrp="1"/>
          </p:cNvSpPr>
          <p:nvPr>
            <p:ph type="title"/>
          </p:nvPr>
        </p:nvSpPr>
        <p:spPr/>
        <p:txBody>
          <a:bodyPr/>
          <a:lstStyle/>
          <a:p>
            <a:r>
              <a:rPr lang="vi-VN" altLang="en-US" dirty="0"/>
              <a:t>2.3. Sự khử đệ quy</a:t>
            </a:r>
            <a:endParaRPr lang="en-US" dirty="0"/>
          </a:p>
        </p:txBody>
      </p:sp>
      <p:sp>
        <p:nvSpPr>
          <p:cNvPr id="2" name="Content Placeholder 1"/>
          <p:cNvSpPr>
            <a:spLocks noGrp="1"/>
          </p:cNvSpPr>
          <p:nvPr>
            <p:ph type="body" sz="quarter" idx="13"/>
          </p:nvPr>
        </p:nvSpPr>
        <p:spPr/>
        <p:txBody>
          <a:bodyPr>
            <a:normAutofit/>
          </a:bodyPr>
          <a:lstStyle/>
          <a:p>
            <a:r>
              <a:rPr lang="en-US" altLang="en-US" sz="2400" dirty="0" err="1">
                <a:cs typeface="Times New Roman" panose="02020603050405020304" pitchFamily="18" charset="0"/>
              </a:rPr>
              <a:t>Khái</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niệm</a:t>
            </a:r>
            <a:r>
              <a:rPr lang="en-US" altLang="en-US" sz="2400" dirty="0" smtClean="0">
                <a:cs typeface="Times New Roman" panose="02020603050405020304" pitchFamily="18" charset="0"/>
              </a:rPr>
              <a:t>: </a:t>
            </a:r>
          </a:p>
          <a:p>
            <a:pPr lvl="1" eaLnBrk="1" hangingPunct="1">
              <a:lnSpc>
                <a:spcPct val="90000"/>
              </a:lnSpc>
              <a:spcBef>
                <a:spcPct val="10000"/>
              </a:spcBef>
            </a:pPr>
            <a:r>
              <a:rPr lang="en-US" altLang="en-US" sz="2000" dirty="0" err="1">
                <a:cs typeface="Times New Roman" panose="02020603050405020304" pitchFamily="18" charset="0"/>
              </a:rPr>
              <a:t>Khi</a:t>
            </a:r>
            <a:r>
              <a:rPr lang="en-US" altLang="en-US" sz="2000" dirty="0">
                <a:cs typeface="Times New Roman" panose="02020603050405020304" pitchFamily="18" charset="0"/>
              </a:rPr>
              <a:t> </a:t>
            </a:r>
            <a:r>
              <a:rPr lang="en-US" altLang="en-US" sz="2000" dirty="0" err="1">
                <a:cs typeface="Times New Roman" panose="02020603050405020304" pitchFamily="18" charset="0"/>
              </a:rPr>
              <a:t>thay</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giải</a:t>
            </a:r>
            <a:r>
              <a:rPr lang="en-US" altLang="en-US" sz="2000" dirty="0">
                <a:cs typeface="Times New Roman" panose="02020603050405020304" pitchFamily="18" charset="0"/>
              </a:rPr>
              <a:t> </a:t>
            </a:r>
            <a:r>
              <a:rPr lang="en-US" altLang="en-US" sz="2000" dirty="0" err="1">
                <a:cs typeface="Times New Roman" panose="02020603050405020304" pitchFamily="18" charset="0"/>
              </a:rPr>
              <a:t>thuật</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bằng</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giải</a:t>
            </a:r>
            <a:r>
              <a:rPr lang="en-US" altLang="en-US" sz="2000" dirty="0">
                <a:cs typeface="Times New Roman" panose="02020603050405020304" pitchFamily="18" charset="0"/>
              </a:rPr>
              <a:t> </a:t>
            </a:r>
            <a:r>
              <a:rPr lang="en-US" altLang="en-US" sz="2000" dirty="0" err="1">
                <a:cs typeface="Times New Roman" panose="02020603050405020304" pitchFamily="18" charset="0"/>
              </a:rPr>
              <a:t>thuật</a:t>
            </a:r>
            <a:r>
              <a:rPr lang="en-US" altLang="en-US" sz="2000" dirty="0">
                <a:cs typeface="Times New Roman" panose="02020603050405020304" pitchFamily="18" charset="0"/>
              </a:rPr>
              <a:t> </a:t>
            </a:r>
            <a:r>
              <a:rPr lang="en-US" altLang="en-US" sz="2000" dirty="0" err="1">
                <a:cs typeface="Times New Roman" panose="02020603050405020304" pitchFamily="18" charset="0"/>
              </a:rPr>
              <a:t>không</a:t>
            </a:r>
            <a:r>
              <a:rPr lang="en-US" altLang="en-US" sz="2000" dirty="0">
                <a:cs typeface="Times New Roman" panose="02020603050405020304" pitchFamily="18" charset="0"/>
              </a:rPr>
              <a:t> </a:t>
            </a:r>
            <a:r>
              <a:rPr lang="en-US" altLang="en-US" sz="2000" dirty="0" err="1">
                <a:cs typeface="Times New Roman" panose="02020603050405020304" pitchFamily="18" charset="0"/>
              </a:rPr>
              <a:t>tự</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chúng</a:t>
            </a:r>
            <a:r>
              <a:rPr lang="en-US" altLang="en-US" sz="2000" dirty="0">
                <a:cs typeface="Times New Roman" panose="02020603050405020304" pitchFamily="18" charset="0"/>
              </a:rPr>
              <a:t>, ta </a:t>
            </a:r>
            <a:r>
              <a:rPr lang="en-US" altLang="en-US" sz="2000" dirty="0" err="1">
                <a:cs typeface="Times New Roman" panose="02020603050405020304" pitchFamily="18" charset="0"/>
              </a:rPr>
              <a:t>gọi</a:t>
            </a:r>
            <a:r>
              <a:rPr lang="en-US" altLang="en-US" sz="2000" dirty="0">
                <a:cs typeface="Times New Roman" panose="02020603050405020304" pitchFamily="18" charset="0"/>
              </a:rPr>
              <a:t> </a:t>
            </a:r>
            <a:r>
              <a:rPr lang="en-US" altLang="en-US" sz="2000" dirty="0" err="1">
                <a:cs typeface="Times New Roman" panose="02020603050405020304" pitchFamily="18" charset="0"/>
              </a:rPr>
              <a:t>đó</a:t>
            </a:r>
            <a:r>
              <a:rPr lang="en-US" altLang="en-US" sz="2000" dirty="0">
                <a:cs typeface="Times New Roman" panose="02020603050405020304" pitchFamily="18" charset="0"/>
              </a:rPr>
              <a:t> </a:t>
            </a:r>
            <a:r>
              <a:rPr lang="en-US" altLang="en-US" sz="2000" dirty="0" err="1">
                <a:cs typeface="Times New Roman" panose="02020603050405020304" pitchFamily="18" charset="0"/>
              </a:rPr>
              <a:t>là</a:t>
            </a:r>
            <a:r>
              <a:rPr lang="en-US" altLang="en-US" sz="2000" dirty="0">
                <a:cs typeface="Times New Roman" panose="02020603050405020304" pitchFamily="18" charset="0"/>
              </a:rPr>
              <a:t> </a:t>
            </a:r>
            <a:r>
              <a:rPr lang="en-US" altLang="en-US" sz="2000" b="1" i="1" dirty="0" err="1">
                <a:cs typeface="Times New Roman" panose="02020603050405020304" pitchFamily="18" charset="0"/>
              </a:rPr>
              <a:t>sự</a:t>
            </a:r>
            <a:r>
              <a:rPr lang="en-US" altLang="en-US" sz="2000" b="1" i="1" dirty="0">
                <a:cs typeface="Times New Roman" panose="02020603050405020304" pitchFamily="18" charset="0"/>
              </a:rPr>
              <a:t> </a:t>
            </a:r>
            <a:r>
              <a:rPr lang="en-US" altLang="en-US" sz="2000" b="1" i="1" dirty="0" err="1">
                <a:cs typeface="Times New Roman" panose="02020603050405020304" pitchFamily="18" charset="0"/>
              </a:rPr>
              <a:t>khử</a:t>
            </a:r>
            <a:r>
              <a:rPr lang="en-US" altLang="en-US" sz="2000" b="1" i="1" dirty="0">
                <a:cs typeface="Times New Roman" panose="02020603050405020304" pitchFamily="18" charset="0"/>
              </a:rPr>
              <a:t> </a:t>
            </a:r>
            <a:r>
              <a:rPr lang="en-US" altLang="en-US" sz="2000" b="1" i="1" dirty="0" err="1">
                <a:cs typeface="Times New Roman" panose="02020603050405020304" pitchFamily="18" charset="0"/>
              </a:rPr>
              <a:t>đệ</a:t>
            </a:r>
            <a:r>
              <a:rPr lang="en-US" altLang="en-US" sz="2000" b="1" i="1" dirty="0">
                <a:cs typeface="Times New Roman" panose="02020603050405020304" pitchFamily="18" charset="0"/>
              </a:rPr>
              <a:t> </a:t>
            </a:r>
            <a:r>
              <a:rPr lang="en-US" altLang="en-US" sz="2000" b="1" i="1" dirty="0" err="1">
                <a:cs typeface="Times New Roman" panose="02020603050405020304" pitchFamily="18" charset="0"/>
              </a:rPr>
              <a:t>quy</a:t>
            </a:r>
            <a:endParaRPr lang="en-US" altLang="en-US" sz="2000" b="1" i="1" dirty="0">
              <a:cs typeface="Times New Roman" panose="02020603050405020304" pitchFamily="18" charset="0"/>
            </a:endParaRPr>
          </a:p>
          <a:p>
            <a:pPr lvl="1" eaLnBrk="1" hangingPunct="1">
              <a:lnSpc>
                <a:spcPct val="90000"/>
              </a:lnSpc>
              <a:spcBef>
                <a:spcPct val="10000"/>
              </a:spcBef>
            </a:pPr>
            <a:r>
              <a:rPr lang="en-US" altLang="en-US" sz="2000" dirty="0" err="1">
                <a:cs typeface="Times New Roman" panose="02020603050405020304" pitchFamily="18" charset="0"/>
              </a:rPr>
              <a:t>Sự</a:t>
            </a:r>
            <a:r>
              <a:rPr lang="en-US" altLang="en-US" sz="2000" dirty="0">
                <a:cs typeface="Times New Roman" panose="02020603050405020304" pitchFamily="18" charset="0"/>
              </a:rPr>
              <a:t> </a:t>
            </a:r>
            <a:r>
              <a:rPr lang="en-US" altLang="en-US" sz="2000" dirty="0" err="1">
                <a:cs typeface="Times New Roman" panose="02020603050405020304" pitchFamily="18" charset="0"/>
              </a:rPr>
              <a:t>khử</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thông</a:t>
            </a:r>
            <a:r>
              <a:rPr lang="en-US" altLang="en-US" sz="2000" dirty="0">
                <a:cs typeface="Times New Roman" panose="02020603050405020304" pitchFamily="18" charset="0"/>
              </a:rPr>
              <a:t> qua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vòng</a:t>
            </a:r>
            <a:r>
              <a:rPr lang="en-US" altLang="en-US" sz="2000" dirty="0">
                <a:cs typeface="Times New Roman" panose="02020603050405020304" pitchFamily="18" charset="0"/>
              </a:rPr>
              <a:t> </a:t>
            </a:r>
            <a:r>
              <a:rPr lang="en-US" altLang="en-US" sz="2000" dirty="0" err="1">
                <a:cs typeface="Times New Roman" panose="02020603050405020304" pitchFamily="18" charset="0"/>
              </a:rPr>
              <a:t>lặp</a:t>
            </a:r>
            <a:r>
              <a:rPr lang="en-US" altLang="en-US" sz="2000" dirty="0">
                <a:cs typeface="Times New Roman" panose="02020603050405020304" pitchFamily="18" charset="0"/>
              </a:rPr>
              <a:t> (</a:t>
            </a:r>
            <a:r>
              <a:rPr lang="en-US" altLang="en-US" sz="2000" i="1" dirty="0">
                <a:cs typeface="Times New Roman" panose="02020603050405020304" pitchFamily="18" charset="0"/>
              </a:rPr>
              <a:t>for, while</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phân</a:t>
            </a:r>
            <a:r>
              <a:rPr lang="en-US" altLang="en-US" sz="2000" dirty="0">
                <a:cs typeface="Times New Roman" panose="02020603050405020304" pitchFamily="18" charset="0"/>
              </a:rPr>
              <a:t> </a:t>
            </a:r>
            <a:r>
              <a:rPr lang="en-US" altLang="en-US" sz="2000" dirty="0" err="1">
                <a:cs typeface="Times New Roman" panose="02020603050405020304" pitchFamily="18" charset="0"/>
              </a:rPr>
              <a:t>nhánh</a:t>
            </a:r>
            <a:r>
              <a:rPr lang="en-US" altLang="en-US" sz="2000" dirty="0">
                <a:cs typeface="Times New Roman" panose="02020603050405020304" pitchFamily="18" charset="0"/>
              </a:rPr>
              <a:t> (</a:t>
            </a:r>
            <a:r>
              <a:rPr lang="en-US" altLang="en-US" sz="2000" i="1" dirty="0">
                <a:cs typeface="Times New Roman" panose="02020603050405020304" pitchFamily="18" charset="0"/>
              </a:rPr>
              <a:t>if...then...else</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lưu</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trữ</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trạng</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thái</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trung</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gian</a:t>
            </a:r>
            <a:endParaRPr lang="en-US" altLang="en-US" sz="2000" dirty="0" smtClean="0">
              <a:cs typeface="Times New Roman" panose="02020603050405020304" pitchFamily="18" charset="0"/>
            </a:endParaRPr>
          </a:p>
          <a:p>
            <a:pPr lvl="1">
              <a:spcBef>
                <a:spcPct val="10000"/>
              </a:spcBef>
            </a:pPr>
            <a:r>
              <a:rPr lang="en-US" sz="2000" dirty="0" err="1" smtClean="0"/>
              <a:t>Khử</a:t>
            </a:r>
            <a:r>
              <a:rPr lang="en-US" sz="2000" dirty="0" smtClean="0"/>
              <a:t> </a:t>
            </a:r>
            <a:r>
              <a:rPr lang="en-US" sz="2000" dirty="0" err="1"/>
              <a:t>đệ</a:t>
            </a:r>
            <a:r>
              <a:rPr lang="en-US" sz="2000" dirty="0"/>
              <a:t> </a:t>
            </a:r>
            <a:r>
              <a:rPr lang="en-US" sz="2000" dirty="0" err="1"/>
              <a:t>quy</a:t>
            </a:r>
            <a:r>
              <a:rPr lang="en-US" sz="2000" dirty="0"/>
              <a:t> </a:t>
            </a:r>
            <a:r>
              <a:rPr lang="en-US" sz="2000" dirty="0" err="1"/>
              <a:t>không</a:t>
            </a:r>
            <a:r>
              <a:rPr lang="en-US" sz="2000" dirty="0"/>
              <a:t> </a:t>
            </a:r>
            <a:r>
              <a:rPr lang="en-US" sz="2000" dirty="0" err="1"/>
              <a:t>phải</a:t>
            </a:r>
            <a:r>
              <a:rPr lang="en-US" sz="2000" dirty="0"/>
              <a:t> </a:t>
            </a:r>
            <a:r>
              <a:rPr lang="en-US" sz="2000" dirty="0" err="1"/>
              <a:t>bao</a:t>
            </a:r>
            <a:r>
              <a:rPr lang="en-US" sz="2000" dirty="0"/>
              <a:t> </a:t>
            </a:r>
            <a:r>
              <a:rPr lang="en-US" sz="2000" dirty="0" err="1"/>
              <a:t>giờ</a:t>
            </a:r>
            <a:r>
              <a:rPr lang="en-US" sz="2000" dirty="0"/>
              <a:t> </a:t>
            </a:r>
            <a:r>
              <a:rPr lang="en-US" sz="2000" dirty="0" err="1"/>
              <a:t>cũng</a:t>
            </a:r>
            <a:r>
              <a:rPr lang="en-US" sz="2000" dirty="0"/>
              <a:t> </a:t>
            </a:r>
            <a:r>
              <a:rPr lang="en-US" sz="2000" dirty="0" err="1" smtClean="0"/>
              <a:t>dễ</a:t>
            </a:r>
            <a:r>
              <a:rPr lang="en-US" sz="2000" dirty="0" smtClean="0"/>
              <a:t> </a:t>
            </a:r>
            <a:r>
              <a:rPr lang="en-US" sz="2000" dirty="0" err="1" smtClean="0"/>
              <a:t>thực</a:t>
            </a:r>
            <a:r>
              <a:rPr lang="en-US" sz="2000" dirty="0" smtClean="0"/>
              <a:t> </a:t>
            </a:r>
            <a:r>
              <a:rPr lang="en-US" sz="2000" dirty="0" err="1" smtClean="0"/>
              <a:t>hiện</a:t>
            </a:r>
            <a:endParaRPr lang="en-US" sz="2000" dirty="0"/>
          </a:p>
        </p:txBody>
      </p:sp>
    </p:spTree>
    <p:extLst>
      <p:ext uri="{BB962C8B-B14F-4D97-AF65-F5344CB8AC3E}">
        <p14:creationId xmlns:p14="http://schemas.microsoft.com/office/powerpoint/2010/main" val="3318927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25</a:t>
            </a:fld>
            <a:endParaRPr lang="en-US"/>
          </a:p>
        </p:txBody>
      </p:sp>
      <p:sp>
        <p:nvSpPr>
          <p:cNvPr id="4" name="Title 3"/>
          <p:cNvSpPr>
            <a:spLocks noGrp="1"/>
          </p:cNvSpPr>
          <p:nvPr>
            <p:ph type="title"/>
          </p:nvPr>
        </p:nvSpPr>
        <p:spPr/>
        <p:txBody>
          <a:bodyPr/>
          <a:lstStyle/>
          <a:p>
            <a:r>
              <a:rPr lang="en-US" altLang="en-US" dirty="0" smtClean="0"/>
              <a:t>K</a:t>
            </a:r>
            <a:r>
              <a:rPr lang="vi-VN" altLang="en-US" dirty="0" smtClean="0"/>
              <a:t>hử </a:t>
            </a:r>
            <a:r>
              <a:rPr lang="vi-VN" altLang="en-US" dirty="0"/>
              <a:t>đệ </a:t>
            </a:r>
            <a:r>
              <a:rPr lang="vi-VN" altLang="en-US" dirty="0" smtClean="0"/>
              <a:t>quy</a:t>
            </a:r>
            <a:r>
              <a:rPr lang="en-US" altLang="en-US" dirty="0" smtClean="0"/>
              <a:t> </a:t>
            </a:r>
            <a:r>
              <a:rPr lang="en-US" altLang="en-US" dirty="0" err="1" smtClean="0"/>
              <a:t>bằng</a:t>
            </a:r>
            <a:r>
              <a:rPr lang="en-US" altLang="en-US" dirty="0" smtClean="0"/>
              <a:t> </a:t>
            </a:r>
            <a:r>
              <a:rPr lang="en-US" altLang="en-US" dirty="0" err="1" smtClean="0"/>
              <a:t>vòng</a:t>
            </a:r>
            <a:r>
              <a:rPr lang="en-US" altLang="en-US" dirty="0" smtClean="0"/>
              <a:t> </a:t>
            </a:r>
            <a:r>
              <a:rPr lang="en-US" altLang="en-US" dirty="0" err="1" smtClean="0"/>
              <a:t>lặp</a:t>
            </a:r>
            <a:endParaRPr lang="en-US" dirty="0"/>
          </a:p>
        </p:txBody>
      </p:sp>
      <p:sp>
        <p:nvSpPr>
          <p:cNvPr id="6" name="Rectangle 5"/>
          <p:cNvSpPr/>
          <p:nvPr/>
        </p:nvSpPr>
        <p:spPr>
          <a:xfrm>
            <a:off x="96314" y="3285613"/>
            <a:ext cx="4572000" cy="1077218"/>
          </a:xfrm>
          <a:prstGeom prst="rect">
            <a:avLst/>
          </a:prstGeom>
        </p:spPr>
        <p:txBody>
          <a:bodyPr>
            <a:spAutoFit/>
          </a:bodyPr>
          <a:lstStyle/>
          <a:p>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USCLN(</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m,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n) {</a:t>
            </a:r>
          </a:p>
          <a:p>
            <a:pPr lvl="1"/>
            <a:r>
              <a:rPr lang="en-US" sz="1600" b="1" dirty="0">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 (n == 0) return m;</a:t>
            </a:r>
          </a:p>
          <a:p>
            <a:pPr lvl="1"/>
            <a:r>
              <a:rPr lang="en-US" sz="1600" b="1" dirty="0">
                <a:latin typeface="Courier New" panose="02070309020205020404" pitchFamily="49" charset="0"/>
                <a:cs typeface="Courier New" panose="02070309020205020404" pitchFamily="49" charset="0"/>
              </a:rPr>
              <a:t>else</a:t>
            </a:r>
            <a:r>
              <a:rPr lang="en-US" sz="1600" dirty="0">
                <a:latin typeface="Courier New" panose="02070309020205020404" pitchFamily="49" charset="0"/>
                <a:cs typeface="Courier New" panose="02070309020205020404" pitchFamily="49" charset="0"/>
              </a:rPr>
              <a:t> return </a:t>
            </a:r>
            <a:r>
              <a:rPr lang="en-US" sz="1600" dirty="0" smtClean="0">
                <a:latin typeface="Courier New" panose="02070309020205020404" pitchFamily="49" charset="0"/>
                <a:cs typeface="Courier New" panose="02070309020205020404" pitchFamily="49" charset="0"/>
              </a:rPr>
              <a:t>USCLN(n</a:t>
            </a:r>
            <a:r>
              <a:rPr lang="en-US" sz="1600" dirty="0">
                <a:latin typeface="Courier New" panose="02070309020205020404" pitchFamily="49" charset="0"/>
                <a:cs typeface="Courier New" panose="02070309020205020404" pitchFamily="49" charset="0"/>
              </a:rPr>
              <a:t>, m % n);</a:t>
            </a:r>
          </a:p>
          <a:p>
            <a:r>
              <a:rPr lang="en-US" sz="1600" dirty="0">
                <a:latin typeface="Courier New" panose="02070309020205020404" pitchFamily="49" charset="0"/>
                <a:cs typeface="Courier New" panose="02070309020205020404" pitchFamily="49" charset="0"/>
              </a:rPr>
              <a:t>}</a:t>
            </a:r>
          </a:p>
        </p:txBody>
      </p:sp>
      <p:sp>
        <p:nvSpPr>
          <p:cNvPr id="7" name="Rectangle 6"/>
          <p:cNvSpPr/>
          <p:nvPr/>
        </p:nvSpPr>
        <p:spPr>
          <a:xfrm>
            <a:off x="381000" y="838809"/>
            <a:ext cx="1321196" cy="369332"/>
          </a:xfrm>
          <a:prstGeom prst="rect">
            <a:avLst/>
          </a:prstGeom>
        </p:spPr>
        <p:txBody>
          <a:bodyPr wrap="none">
            <a:spAutoFit/>
          </a:bodyPr>
          <a:lstStyle/>
          <a:p>
            <a:r>
              <a:rPr lang="en-US" altLang="en-US" i="1" dirty="0" err="1">
                <a:cs typeface="Times New Roman" panose="02020603050405020304" pitchFamily="18" charset="0"/>
              </a:rPr>
              <a:t>Đệ</a:t>
            </a:r>
            <a:r>
              <a:rPr lang="en-US" altLang="en-US" i="1" dirty="0">
                <a:cs typeface="Times New Roman" panose="02020603050405020304" pitchFamily="18" charset="0"/>
              </a:rPr>
              <a:t> </a:t>
            </a:r>
            <a:r>
              <a:rPr lang="en-US" altLang="en-US" i="1" dirty="0" err="1">
                <a:cs typeface="Times New Roman" panose="02020603050405020304" pitchFamily="18" charset="0"/>
              </a:rPr>
              <a:t>quy</a:t>
            </a:r>
            <a:r>
              <a:rPr lang="en-US" altLang="en-US" i="1" dirty="0">
                <a:cs typeface="Times New Roman" panose="02020603050405020304" pitchFamily="18" charset="0"/>
              </a:rPr>
              <a:t> </a:t>
            </a:r>
            <a:r>
              <a:rPr lang="en-US" altLang="en-US" i="1" dirty="0" err="1">
                <a:cs typeface="Times New Roman" panose="02020603050405020304" pitchFamily="18" charset="0"/>
              </a:rPr>
              <a:t>đuôi</a:t>
            </a:r>
            <a:endParaRPr lang="en-US" i="1" dirty="0"/>
          </a:p>
        </p:txBody>
      </p:sp>
      <p:sp>
        <p:nvSpPr>
          <p:cNvPr id="50" name="Rectangle 49"/>
          <p:cNvSpPr/>
          <p:nvPr/>
        </p:nvSpPr>
        <p:spPr>
          <a:xfrm>
            <a:off x="5029200" y="3285613"/>
            <a:ext cx="4572000" cy="2308324"/>
          </a:xfrm>
          <a:prstGeom prst="rect">
            <a:avLst/>
          </a:prstGeom>
        </p:spPr>
        <p:txBody>
          <a:bodyPr>
            <a:spAutoFit/>
          </a:bodyPr>
          <a:lstStyle/>
          <a:p>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 USCLN(</a:t>
            </a:r>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 m , </a:t>
            </a:r>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 n </a:t>
            </a:r>
            <a:r>
              <a:rPr lang="en-US" dirty="0" smtClean="0">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while(n != 0 ) {</a:t>
            </a:r>
          </a:p>
          <a:p>
            <a:pPr lvl="2"/>
            <a:r>
              <a:rPr lang="en-US" dirty="0" err="1">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temp </a:t>
            </a:r>
            <a:r>
              <a:rPr lang="en-US" dirty="0">
                <a:latin typeface="Courier New" panose="02070309020205020404" pitchFamily="49" charset="0"/>
                <a:cs typeface="Courier New" panose="02070309020205020404" pitchFamily="49" charset="0"/>
              </a:rPr>
              <a:t>= m % n ;</a:t>
            </a:r>
          </a:p>
          <a:p>
            <a:pPr lvl="2"/>
            <a:r>
              <a:rPr lang="en-US" dirty="0">
                <a:latin typeface="Courier New" panose="02070309020205020404" pitchFamily="49" charset="0"/>
                <a:cs typeface="Courier New" panose="02070309020205020404" pitchFamily="49" charset="0"/>
              </a:rPr>
              <a:t>m = n ;</a:t>
            </a:r>
          </a:p>
          <a:p>
            <a:pPr lvl="2"/>
            <a:r>
              <a:rPr lang="en-US" dirty="0">
                <a:latin typeface="Courier New" panose="02070309020205020404" pitchFamily="49" charset="0"/>
                <a:cs typeface="Courier New" panose="02070309020205020404" pitchFamily="49" charset="0"/>
              </a:rPr>
              <a:t>n = </a:t>
            </a:r>
            <a:r>
              <a:rPr lang="en-US" dirty="0" smtClean="0">
                <a:latin typeface="Courier New" panose="02070309020205020404" pitchFamily="49" charset="0"/>
                <a:cs typeface="Courier New" panose="02070309020205020404" pitchFamily="49" charset="0"/>
              </a:rPr>
              <a:t>temp </a:t>
            </a:r>
            <a:r>
              <a:rPr lang="en-US" dirty="0">
                <a:latin typeface="Courier New" panose="02070309020205020404" pitchFamily="49" charset="0"/>
                <a:cs typeface="Courier New" panose="02070309020205020404" pitchFamily="49" charset="0"/>
              </a:rPr>
              <a:t>;</a:t>
            </a:r>
          </a:p>
          <a:p>
            <a:pPr lvl="1"/>
            <a:r>
              <a:rPr lang="en-US" dirty="0">
                <a:latin typeface="Courier New" panose="02070309020205020404" pitchFamily="49" charset="0"/>
                <a:cs typeface="Courier New" panose="02070309020205020404" pitchFamily="49" charset="0"/>
              </a:rPr>
              <a:t>}</a:t>
            </a:r>
          </a:p>
          <a:p>
            <a:pPr lvl="1"/>
            <a:r>
              <a:rPr lang="en-US" dirty="0">
                <a:latin typeface="Courier New" panose="02070309020205020404" pitchFamily="49" charset="0"/>
                <a:cs typeface="Courier New" panose="02070309020205020404" pitchFamily="49" charset="0"/>
              </a:rPr>
              <a:t>return </a:t>
            </a:r>
            <a:r>
              <a:rPr lang="en-US" dirty="0" smtClean="0">
                <a:latin typeface="Courier New" panose="02070309020205020404" pitchFamily="49" charset="0"/>
                <a:cs typeface="Courier New" panose="02070309020205020404" pitchFamily="49" charset="0"/>
              </a:rPr>
              <a:t>m </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p:txBody>
      </p:sp>
      <p:sp>
        <p:nvSpPr>
          <p:cNvPr id="67" name="Rectangle 66"/>
          <p:cNvSpPr/>
          <p:nvPr/>
        </p:nvSpPr>
        <p:spPr>
          <a:xfrm>
            <a:off x="1437371" y="1183593"/>
            <a:ext cx="3474728" cy="1323439"/>
          </a:xfrm>
          <a:prstGeom prst="rect">
            <a:avLst/>
          </a:prstGeom>
        </p:spPr>
        <p:txBody>
          <a:bodyPr wrap="square">
            <a:spAutoFit/>
          </a:bodyPr>
          <a:lstStyle/>
          <a:p>
            <a:r>
              <a:rPr lang="en-US" sz="1600" i="1" dirty="0" smtClean="0">
                <a:latin typeface="Courier New" panose="02070309020205020404" pitchFamily="49" charset="0"/>
                <a:cs typeface="Courier New" panose="02070309020205020404" pitchFamily="49" charset="0"/>
              </a:rPr>
              <a:t>if (TH </a:t>
            </a:r>
            <a:r>
              <a:rPr lang="en-US" sz="1600" i="1" dirty="0" err="1" smtClean="0">
                <a:latin typeface="Courier New" panose="02070309020205020404" pitchFamily="49" charset="0"/>
                <a:cs typeface="Courier New" panose="02070309020205020404" pitchFamily="49" charset="0"/>
              </a:rPr>
              <a:t>cơ</a:t>
            </a:r>
            <a:r>
              <a:rPr lang="en-US" sz="1600" i="1" dirty="0" smtClean="0">
                <a:latin typeface="Courier New" panose="02070309020205020404" pitchFamily="49" charset="0"/>
                <a:cs typeface="Courier New" panose="02070309020205020404" pitchFamily="49" charset="0"/>
              </a:rPr>
              <a:t> </a:t>
            </a:r>
            <a:r>
              <a:rPr lang="en-US" sz="1600" i="1" dirty="0" err="1" smtClean="0">
                <a:latin typeface="Courier New" panose="02070309020205020404" pitchFamily="49" charset="0"/>
                <a:cs typeface="Courier New" panose="02070309020205020404" pitchFamily="49" charset="0"/>
              </a:rPr>
              <a:t>sở</a:t>
            </a:r>
            <a:r>
              <a:rPr lang="en-US" sz="1600" i="1" dirty="0" smtClean="0">
                <a:latin typeface="Courier New" panose="02070309020205020404" pitchFamily="49" charset="0"/>
                <a:cs typeface="Courier New" panose="02070309020205020404" pitchFamily="49" charset="0"/>
              </a:rPr>
              <a:t>) {</a:t>
            </a:r>
          </a:p>
          <a:p>
            <a:pPr lvl="1"/>
            <a:r>
              <a:rPr lang="en-US" sz="1600" i="1" dirty="0" smtClean="0">
                <a:latin typeface="Courier New" panose="02070309020205020404" pitchFamily="49" charset="0"/>
                <a:cs typeface="Courier New" panose="02070309020205020404" pitchFamily="49" charset="0"/>
              </a:rPr>
              <a:t>...</a:t>
            </a:r>
          </a:p>
          <a:p>
            <a:r>
              <a:rPr lang="en-US" sz="1600" i="1" dirty="0" smtClean="0">
                <a:latin typeface="Courier New" panose="02070309020205020404" pitchFamily="49" charset="0"/>
                <a:cs typeface="Courier New" panose="02070309020205020404" pitchFamily="49" charset="0"/>
              </a:rPr>
              <a:t>} else {</a:t>
            </a:r>
          </a:p>
          <a:p>
            <a:r>
              <a:rPr lang="en-US" sz="1600" i="1" dirty="0">
                <a:latin typeface="Courier New" panose="02070309020205020404" pitchFamily="49" charset="0"/>
                <a:cs typeface="Courier New" panose="02070309020205020404" pitchFamily="49" charset="0"/>
              </a:rPr>
              <a:t>	</a:t>
            </a:r>
            <a:r>
              <a:rPr lang="en-US" sz="1600" i="1" dirty="0" err="1" smtClean="0">
                <a:latin typeface="Courier New" panose="02070309020205020404" pitchFamily="49" charset="0"/>
                <a:cs typeface="Courier New" panose="02070309020205020404" pitchFamily="49" charset="0"/>
              </a:rPr>
              <a:t>Gọi</a:t>
            </a:r>
            <a:r>
              <a:rPr lang="en-US" sz="1600" i="1" dirty="0" smtClean="0">
                <a:latin typeface="Courier New" panose="02070309020205020404" pitchFamily="49" charset="0"/>
                <a:cs typeface="Courier New" panose="02070309020205020404" pitchFamily="49" charset="0"/>
              </a:rPr>
              <a:t> </a:t>
            </a:r>
            <a:r>
              <a:rPr lang="en-US" sz="1600" i="1" dirty="0" err="1" smtClean="0">
                <a:latin typeface="Courier New" panose="02070309020205020404" pitchFamily="49" charset="0"/>
                <a:cs typeface="Courier New" panose="02070309020205020404" pitchFamily="49" charset="0"/>
              </a:rPr>
              <a:t>đệ</a:t>
            </a:r>
            <a:r>
              <a:rPr lang="en-US" sz="1600" i="1" dirty="0" smtClean="0">
                <a:latin typeface="Courier New" panose="02070309020205020404" pitchFamily="49" charset="0"/>
                <a:cs typeface="Courier New" panose="02070309020205020404" pitchFamily="49" charset="0"/>
              </a:rPr>
              <a:t> </a:t>
            </a:r>
            <a:r>
              <a:rPr lang="en-US" sz="1600" i="1" dirty="0" err="1" smtClean="0">
                <a:latin typeface="Courier New" panose="02070309020205020404" pitchFamily="49" charset="0"/>
                <a:cs typeface="Courier New" panose="02070309020205020404" pitchFamily="49" charset="0"/>
              </a:rPr>
              <a:t>quy</a:t>
            </a:r>
            <a:r>
              <a:rPr lang="en-US" sz="1600" i="1" dirty="0" smtClean="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phạm</a:t>
            </a:r>
            <a:r>
              <a:rPr lang="en-US" sz="1400" i="1" dirty="0" smtClean="0">
                <a:latin typeface="Courier New" panose="02070309020205020404" pitchFamily="49" charset="0"/>
                <a:cs typeface="Courier New" panose="02070309020205020404" pitchFamily="49" charset="0"/>
              </a:rPr>
              <a:t> vi </a:t>
            </a:r>
            <a:r>
              <a:rPr lang="en-US" sz="1400" i="1" dirty="0" err="1" smtClean="0">
                <a:latin typeface="Courier New" panose="02070309020205020404" pitchFamily="49" charset="0"/>
                <a:cs typeface="Courier New" panose="02070309020205020404" pitchFamily="49" charset="0"/>
              </a:rPr>
              <a:t>mới</a:t>
            </a:r>
            <a:r>
              <a:rPr lang="en-US" sz="1600" i="1" dirty="0" smtClean="0">
                <a:latin typeface="Courier New" panose="02070309020205020404" pitchFamily="49" charset="0"/>
                <a:cs typeface="Courier New" panose="02070309020205020404" pitchFamily="49" charset="0"/>
              </a:rPr>
              <a:t>)</a:t>
            </a:r>
          </a:p>
          <a:p>
            <a:r>
              <a:rPr lang="en-US" sz="1600" i="1" dirty="0" smtClean="0">
                <a:latin typeface="Courier New" panose="02070309020205020404" pitchFamily="49" charset="0"/>
                <a:cs typeface="Courier New" panose="02070309020205020404" pitchFamily="49" charset="0"/>
              </a:rPr>
              <a:t>}</a:t>
            </a:r>
            <a:endParaRPr lang="en-US" sz="1600" i="1" dirty="0">
              <a:latin typeface="Courier New" panose="02070309020205020404" pitchFamily="49" charset="0"/>
              <a:cs typeface="Courier New" panose="02070309020205020404" pitchFamily="49" charset="0"/>
            </a:endParaRPr>
          </a:p>
        </p:txBody>
      </p:sp>
      <p:sp>
        <p:nvSpPr>
          <p:cNvPr id="79" name="Right Arrow 78"/>
          <p:cNvSpPr/>
          <p:nvPr/>
        </p:nvSpPr>
        <p:spPr>
          <a:xfrm>
            <a:off x="4134914" y="3399862"/>
            <a:ext cx="533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5827034" y="1212806"/>
            <a:ext cx="2080698" cy="369332"/>
          </a:xfrm>
          <a:prstGeom prst="rect">
            <a:avLst/>
          </a:prstGeom>
        </p:spPr>
        <p:txBody>
          <a:bodyPr wrap="none">
            <a:spAutoFit/>
          </a:bodyPr>
          <a:lstStyle/>
          <a:p>
            <a:r>
              <a:rPr lang="en-US" dirty="0"/>
              <a:t>+ </a:t>
            </a:r>
            <a:r>
              <a:rPr lang="en-US" dirty="0" err="1" smtClean="0"/>
              <a:t>Nối</a:t>
            </a:r>
            <a:r>
              <a:rPr lang="en-US" dirty="0" smtClean="0"/>
              <a:t> </a:t>
            </a:r>
            <a:r>
              <a:rPr lang="en-US" dirty="0" err="1" smtClean="0"/>
              <a:t>tiếp</a:t>
            </a:r>
            <a:r>
              <a:rPr lang="en-US" dirty="0" smtClean="0"/>
              <a:t> </a:t>
            </a:r>
            <a:r>
              <a:rPr lang="en-US" dirty="0" err="1" smtClean="0"/>
              <a:t>các</a:t>
            </a:r>
            <a:r>
              <a:rPr lang="en-US" dirty="0" smtClean="0"/>
              <a:t> </a:t>
            </a:r>
            <a:r>
              <a:rPr lang="en-US" dirty="0" err="1" smtClean="0"/>
              <a:t>lời</a:t>
            </a:r>
            <a:r>
              <a:rPr lang="en-US" dirty="0" smtClean="0"/>
              <a:t> </a:t>
            </a:r>
            <a:r>
              <a:rPr lang="en-US" dirty="0" err="1" smtClean="0"/>
              <a:t>gọi</a:t>
            </a:r>
            <a:endParaRPr lang="en-US" dirty="0"/>
          </a:p>
        </p:txBody>
      </p:sp>
    </p:spTree>
    <p:extLst>
      <p:ext uri="{BB962C8B-B14F-4D97-AF65-F5344CB8AC3E}">
        <p14:creationId xmlns:p14="http://schemas.microsoft.com/office/powerpoint/2010/main" val="3144035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79" grpId="0" animBg="1"/>
      <p:bldP spid="1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26</a:t>
            </a:fld>
            <a:endParaRPr lang="en-US"/>
          </a:p>
        </p:txBody>
      </p:sp>
      <p:sp>
        <p:nvSpPr>
          <p:cNvPr id="5" name="Title 4"/>
          <p:cNvSpPr>
            <a:spLocks noGrp="1"/>
          </p:cNvSpPr>
          <p:nvPr>
            <p:ph type="title"/>
          </p:nvPr>
        </p:nvSpPr>
        <p:spPr/>
        <p:txBody>
          <a:bodyPr/>
          <a:lstStyle/>
          <a:p>
            <a:r>
              <a:rPr lang="en-US" altLang="en-US" dirty="0"/>
              <a:t>K</a:t>
            </a:r>
            <a:r>
              <a:rPr lang="vi-VN" altLang="en-US" dirty="0"/>
              <a:t>hử đệ quy</a:t>
            </a:r>
            <a:r>
              <a:rPr lang="en-US" altLang="en-US" dirty="0"/>
              <a:t> </a:t>
            </a:r>
            <a:r>
              <a:rPr lang="en-US" altLang="en-US" dirty="0" err="1"/>
              <a:t>bằng</a:t>
            </a:r>
            <a:r>
              <a:rPr lang="en-US" altLang="en-US" dirty="0"/>
              <a:t> </a:t>
            </a:r>
            <a:r>
              <a:rPr lang="en-US" altLang="en-US" dirty="0" err="1"/>
              <a:t>vòng</a:t>
            </a:r>
            <a:r>
              <a:rPr lang="en-US" altLang="en-US" dirty="0"/>
              <a:t> </a:t>
            </a:r>
            <a:r>
              <a:rPr lang="en-US" altLang="en-US" dirty="0" err="1"/>
              <a:t>lặp</a:t>
            </a:r>
            <a:endParaRPr lang="en-US" dirty="0"/>
          </a:p>
        </p:txBody>
      </p:sp>
      <p:sp>
        <p:nvSpPr>
          <p:cNvPr id="6" name="Text Box 4"/>
          <p:cNvSpPr txBox="1">
            <a:spLocks noChangeArrowheads="1"/>
          </p:cNvSpPr>
          <p:nvPr/>
        </p:nvSpPr>
        <p:spPr bwMode="auto">
          <a:xfrm>
            <a:off x="219526" y="3350141"/>
            <a:ext cx="3844055" cy="95410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dirty="0" err="1" smtClean="0">
                <a:latin typeface="Courier New" panose="02070309020205020404" pitchFamily="49" charset="0"/>
                <a:cs typeface="Courier New" panose="02070309020205020404" pitchFamily="49" charset="0"/>
              </a:rPr>
              <a:t>int</a:t>
            </a:r>
            <a:r>
              <a:rPr lang="en-US" altLang="en-US" sz="1400" dirty="0" smtClean="0">
                <a:latin typeface="Courier New" panose="02070309020205020404" pitchFamily="49" charset="0"/>
                <a:cs typeface="Courier New" panose="02070309020205020404" pitchFamily="49" charset="0"/>
              </a:rPr>
              <a:t> Fact (</a:t>
            </a:r>
            <a:r>
              <a:rPr lang="en-US" altLang="en-US" sz="1400" dirty="0" err="1" smtClean="0">
                <a:latin typeface="Courier New" panose="02070309020205020404" pitchFamily="49" charset="0"/>
                <a:cs typeface="Courier New" panose="02070309020205020404" pitchFamily="49" charset="0"/>
              </a:rPr>
              <a:t>int</a:t>
            </a:r>
            <a:r>
              <a:rPr lang="en-US" altLang="en-US" sz="1400" dirty="0" smtClean="0">
                <a:latin typeface="Courier New" panose="02070309020205020404" pitchFamily="49" charset="0"/>
                <a:cs typeface="Courier New" panose="02070309020205020404" pitchFamily="49" charset="0"/>
              </a:rPr>
              <a:t> n){</a:t>
            </a:r>
          </a:p>
          <a:p>
            <a:pPr eaLnBrk="1" hangingPunct="1"/>
            <a:r>
              <a:rPr lang="en-US" altLang="en-US" sz="1400" dirty="0">
                <a:latin typeface="Courier New" panose="02070309020205020404" pitchFamily="49" charset="0"/>
                <a:cs typeface="Courier New" panose="02070309020205020404" pitchFamily="49" charset="0"/>
              </a:rPr>
              <a:t>	</a:t>
            </a:r>
            <a:r>
              <a:rPr lang="en-US" altLang="en-US" sz="1400" dirty="0" smtClean="0">
                <a:latin typeface="Courier New" panose="02070309020205020404" pitchFamily="49" charset="0"/>
                <a:cs typeface="Courier New" panose="02070309020205020404" pitchFamily="49" charset="0"/>
              </a:rPr>
              <a:t>if  (n &lt;= 1) return 1;</a:t>
            </a:r>
          </a:p>
          <a:p>
            <a:pPr eaLnBrk="1" hangingPunct="1"/>
            <a:r>
              <a:rPr lang="en-US" altLang="en-US" sz="1400" dirty="0" smtClean="0">
                <a:latin typeface="Courier New" panose="02070309020205020404" pitchFamily="49" charset="0"/>
                <a:cs typeface="Courier New" panose="02070309020205020404" pitchFamily="49" charset="0"/>
              </a:rPr>
              <a:t>	else return n * Fact (n-1);</a:t>
            </a:r>
          </a:p>
          <a:p>
            <a:pPr eaLnBrk="1" hangingPunct="1"/>
            <a:r>
              <a:rPr lang="en-US" altLang="en-US" sz="1400" dirty="0" smtClean="0">
                <a:latin typeface="Courier New" panose="02070309020205020404" pitchFamily="49" charset="0"/>
                <a:cs typeface="Courier New" panose="02070309020205020404" pitchFamily="49" charset="0"/>
              </a:rPr>
              <a:t>}</a:t>
            </a:r>
            <a:endParaRPr lang="en-US" altLang="en-US" sz="1400" dirty="0">
              <a:latin typeface="Courier New" panose="02070309020205020404" pitchFamily="49" charset="0"/>
              <a:cs typeface="Courier New" panose="02070309020205020404" pitchFamily="49" charset="0"/>
            </a:endParaRPr>
          </a:p>
        </p:txBody>
      </p:sp>
      <p:sp>
        <p:nvSpPr>
          <p:cNvPr id="7" name="Text Box 6"/>
          <p:cNvSpPr txBox="1">
            <a:spLocks noChangeArrowheads="1"/>
          </p:cNvSpPr>
          <p:nvPr/>
        </p:nvSpPr>
        <p:spPr bwMode="auto">
          <a:xfrm>
            <a:off x="4153421" y="3827194"/>
            <a:ext cx="4724400" cy="206210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600" dirty="0" err="1">
                <a:latin typeface="Courier New" panose="02070309020205020404" pitchFamily="49" charset="0"/>
                <a:cs typeface="Courier New" panose="02070309020205020404" pitchFamily="49" charset="0"/>
              </a:rPr>
              <a:t>int</a:t>
            </a:r>
            <a:r>
              <a:rPr lang="en-US" altLang="en-US" sz="1600" dirty="0">
                <a:latin typeface="Courier New" panose="02070309020205020404" pitchFamily="49" charset="0"/>
                <a:cs typeface="Courier New" panose="02070309020205020404" pitchFamily="49" charset="0"/>
              </a:rPr>
              <a:t> Fact (</a:t>
            </a:r>
            <a:r>
              <a:rPr lang="en-US" altLang="en-US" sz="1600" dirty="0" err="1">
                <a:latin typeface="Courier New" panose="02070309020205020404" pitchFamily="49" charset="0"/>
                <a:cs typeface="Courier New" panose="02070309020205020404" pitchFamily="49" charset="0"/>
              </a:rPr>
              <a:t>int</a:t>
            </a:r>
            <a:r>
              <a:rPr lang="en-US" altLang="en-US" sz="1600" dirty="0">
                <a:latin typeface="Courier New" panose="02070309020205020404" pitchFamily="49" charset="0"/>
                <a:cs typeface="Courier New" panose="02070309020205020404" pitchFamily="49" charset="0"/>
              </a:rPr>
              <a:t> n){</a:t>
            </a:r>
          </a:p>
          <a:p>
            <a:pPr eaLnBrk="1" hangingPunct="1"/>
            <a:r>
              <a:rPr lang="en-US" altLang="en-US" sz="1600" dirty="0">
                <a:latin typeface="Courier New" panose="02070309020205020404" pitchFamily="49" charset="0"/>
                <a:cs typeface="Courier New" panose="02070309020205020404" pitchFamily="49" charset="0"/>
              </a:rPr>
              <a:t>    if </a:t>
            </a:r>
            <a:r>
              <a:rPr lang="en-US" altLang="en-US" sz="1600" dirty="0" smtClean="0">
                <a:latin typeface="Courier New" panose="02070309020205020404" pitchFamily="49" charset="0"/>
                <a:cs typeface="Courier New" panose="02070309020205020404" pitchFamily="49" charset="0"/>
              </a:rPr>
              <a:t>(</a:t>
            </a:r>
            <a:r>
              <a:rPr lang="en-US" altLang="en-US" sz="1600" dirty="0">
                <a:latin typeface="Courier New" panose="02070309020205020404" pitchFamily="49" charset="0"/>
                <a:cs typeface="Courier New" panose="02070309020205020404" pitchFamily="49" charset="0"/>
              </a:rPr>
              <a:t>n &lt;= 1) return 1;</a:t>
            </a:r>
          </a:p>
          <a:p>
            <a:pPr eaLnBrk="1" hangingPunct="1"/>
            <a:r>
              <a:rPr lang="en-US" altLang="en-US" sz="1600" dirty="0">
                <a:latin typeface="Courier New" panose="02070309020205020404" pitchFamily="49" charset="0"/>
                <a:cs typeface="Courier New" panose="02070309020205020404" pitchFamily="49" charset="0"/>
              </a:rPr>
              <a:t>    else {</a:t>
            </a:r>
          </a:p>
          <a:p>
            <a:pPr eaLnBrk="1" hangingPunct="1"/>
            <a:r>
              <a:rPr lang="en-US" altLang="en-US" sz="1600" dirty="0">
                <a:latin typeface="Courier New" panose="02070309020205020404" pitchFamily="49" charset="0"/>
                <a:cs typeface="Courier New" panose="02070309020205020404" pitchFamily="49" charset="0"/>
              </a:rPr>
              <a:t>        </a:t>
            </a:r>
            <a:r>
              <a:rPr lang="en-US" altLang="en-US" sz="1600" dirty="0" err="1">
                <a:latin typeface="Courier New" panose="02070309020205020404" pitchFamily="49" charset="0"/>
                <a:cs typeface="Courier New" panose="02070309020205020404" pitchFamily="49" charset="0"/>
              </a:rPr>
              <a:t>int</a:t>
            </a:r>
            <a:r>
              <a:rPr lang="en-US" altLang="en-US" sz="1600" dirty="0">
                <a:latin typeface="Courier New" panose="02070309020205020404" pitchFamily="49" charset="0"/>
                <a:cs typeface="Courier New" panose="02070309020205020404" pitchFamily="49" charset="0"/>
              </a:rPr>
              <a:t> x=1;</a:t>
            </a:r>
          </a:p>
          <a:p>
            <a:pPr eaLnBrk="1" hangingPunct="1"/>
            <a:r>
              <a:rPr lang="en-US" altLang="en-US" sz="1600" dirty="0">
                <a:latin typeface="Courier New" panose="02070309020205020404" pitchFamily="49" charset="0"/>
                <a:cs typeface="Courier New" panose="02070309020205020404" pitchFamily="49" charset="0"/>
              </a:rPr>
              <a:t>        for (</a:t>
            </a:r>
            <a:r>
              <a:rPr lang="en-US" altLang="en-US" sz="1600" dirty="0" err="1">
                <a:latin typeface="Courier New" panose="02070309020205020404" pitchFamily="49" charset="0"/>
                <a:cs typeface="Courier New" panose="02070309020205020404" pitchFamily="49" charset="0"/>
              </a:rPr>
              <a:t>int</a:t>
            </a:r>
            <a:r>
              <a:rPr lang="en-US" altLang="en-US" sz="1600" dirty="0">
                <a:latin typeface="Courier New" panose="02070309020205020404" pitchFamily="49" charset="0"/>
                <a:cs typeface="Courier New" panose="02070309020205020404" pitchFamily="49" charset="0"/>
              </a:rPr>
              <a:t> </a:t>
            </a:r>
            <a:r>
              <a:rPr lang="en-US" altLang="en-US" sz="1600" dirty="0" err="1">
                <a:latin typeface="Courier New" panose="02070309020205020404" pitchFamily="49" charset="0"/>
                <a:cs typeface="Courier New" panose="02070309020205020404" pitchFamily="49" charset="0"/>
              </a:rPr>
              <a:t>i</a:t>
            </a:r>
            <a:r>
              <a:rPr lang="en-US" altLang="en-US" sz="1600" dirty="0">
                <a:latin typeface="Courier New" panose="02070309020205020404" pitchFamily="49" charset="0"/>
                <a:cs typeface="Courier New" panose="02070309020205020404" pitchFamily="49" charset="0"/>
              </a:rPr>
              <a:t>=2;i&lt;=</a:t>
            </a:r>
            <a:r>
              <a:rPr lang="en-US" altLang="en-US" sz="1600" dirty="0" err="1">
                <a:latin typeface="Courier New" panose="02070309020205020404" pitchFamily="49" charset="0"/>
                <a:cs typeface="Courier New" panose="02070309020205020404" pitchFamily="49" charset="0"/>
              </a:rPr>
              <a:t>n;i</a:t>
            </a:r>
            <a:r>
              <a:rPr lang="en-US" altLang="en-US" sz="1600" dirty="0">
                <a:latin typeface="Courier New" panose="02070309020205020404" pitchFamily="49" charset="0"/>
                <a:cs typeface="Courier New" panose="02070309020205020404" pitchFamily="49" charset="0"/>
              </a:rPr>
              <a:t>++) x*=</a:t>
            </a:r>
            <a:r>
              <a:rPr lang="en-US" altLang="en-US" sz="1600" dirty="0" err="1">
                <a:latin typeface="Courier New" panose="02070309020205020404" pitchFamily="49" charset="0"/>
                <a:cs typeface="Courier New" panose="02070309020205020404" pitchFamily="49" charset="0"/>
              </a:rPr>
              <a:t>i</a:t>
            </a:r>
            <a:r>
              <a:rPr lang="en-US" altLang="en-US" sz="1600" dirty="0">
                <a:latin typeface="Courier New" panose="02070309020205020404" pitchFamily="49" charset="0"/>
                <a:cs typeface="Courier New" panose="02070309020205020404" pitchFamily="49" charset="0"/>
              </a:rPr>
              <a:t>;</a:t>
            </a:r>
          </a:p>
          <a:p>
            <a:pPr eaLnBrk="1" hangingPunct="1"/>
            <a:r>
              <a:rPr lang="en-US" altLang="en-US" sz="1600" dirty="0">
                <a:latin typeface="Courier New" panose="02070309020205020404" pitchFamily="49" charset="0"/>
                <a:cs typeface="Courier New" panose="02070309020205020404" pitchFamily="49" charset="0"/>
              </a:rPr>
              <a:t>        return x;</a:t>
            </a:r>
          </a:p>
          <a:p>
            <a:pPr eaLnBrk="1" hangingPunct="1"/>
            <a:r>
              <a:rPr lang="en-US" altLang="en-US" sz="1600" dirty="0">
                <a:latin typeface="Courier New" panose="02070309020205020404" pitchFamily="49" charset="0"/>
                <a:cs typeface="Courier New" panose="02070309020205020404" pitchFamily="49" charset="0"/>
              </a:rPr>
              <a:t>    }</a:t>
            </a:r>
          </a:p>
          <a:p>
            <a:pPr eaLnBrk="1" hangingPunct="1"/>
            <a:r>
              <a:rPr lang="en-US" altLang="en-US" sz="1600" dirty="0">
                <a:latin typeface="Courier New" panose="02070309020205020404" pitchFamily="49" charset="0"/>
                <a:cs typeface="Courier New" panose="02070309020205020404" pitchFamily="49" charset="0"/>
              </a:rPr>
              <a:t>}</a:t>
            </a:r>
          </a:p>
        </p:txBody>
      </p:sp>
      <p:sp>
        <p:nvSpPr>
          <p:cNvPr id="8" name="Right Arrow 7"/>
          <p:cNvSpPr/>
          <p:nvPr/>
        </p:nvSpPr>
        <p:spPr>
          <a:xfrm>
            <a:off x="3250556" y="4548679"/>
            <a:ext cx="533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04793" y="739823"/>
            <a:ext cx="2616614" cy="646331"/>
          </a:xfrm>
          <a:prstGeom prst="rect">
            <a:avLst/>
          </a:prstGeom>
        </p:spPr>
        <p:txBody>
          <a:bodyPr wrap="none">
            <a:spAutoFit/>
          </a:bodyPr>
          <a:lstStyle/>
          <a:p>
            <a:r>
              <a:rPr lang="en-US" altLang="en-US" i="1" dirty="0" err="1" smtClean="0">
                <a:cs typeface="Times New Roman" panose="02020603050405020304" pitchFamily="18" charset="0"/>
              </a:rPr>
              <a:t>Dạng</a:t>
            </a:r>
            <a:r>
              <a:rPr lang="en-US" altLang="en-US" i="1" dirty="0" smtClean="0">
                <a:cs typeface="Times New Roman" panose="02020603050405020304" pitchFamily="18" charset="0"/>
              </a:rPr>
              <a:t> </a:t>
            </a:r>
            <a:r>
              <a:rPr lang="en-US" altLang="en-US" i="1" dirty="0" err="1">
                <a:cs typeface="Times New Roman" panose="02020603050405020304" pitchFamily="18" charset="0"/>
              </a:rPr>
              <a:t>đ</a:t>
            </a:r>
            <a:r>
              <a:rPr lang="en-US" altLang="en-US" i="1" dirty="0" err="1" smtClean="0">
                <a:cs typeface="Times New Roman" panose="02020603050405020304" pitchFamily="18" charset="0"/>
              </a:rPr>
              <a:t>ệ</a:t>
            </a:r>
            <a:r>
              <a:rPr lang="en-US" altLang="en-US" i="1" dirty="0" smtClean="0">
                <a:cs typeface="Times New Roman" panose="02020603050405020304" pitchFamily="18" charset="0"/>
              </a:rPr>
              <a:t> </a:t>
            </a:r>
            <a:r>
              <a:rPr lang="en-US" altLang="en-US" i="1" dirty="0" err="1">
                <a:cs typeface="Times New Roman" panose="02020603050405020304" pitchFamily="18" charset="0"/>
              </a:rPr>
              <a:t>quy</a:t>
            </a:r>
            <a:r>
              <a:rPr lang="en-US" altLang="en-US" i="1" dirty="0">
                <a:cs typeface="Times New Roman" panose="02020603050405020304" pitchFamily="18" charset="0"/>
              </a:rPr>
              <a:t> </a:t>
            </a:r>
            <a:r>
              <a:rPr lang="en-US" altLang="en-US" i="1" dirty="0" err="1" smtClean="0">
                <a:cs typeface="Times New Roman" panose="02020603050405020304" pitchFamily="18" charset="0"/>
              </a:rPr>
              <a:t>không</a:t>
            </a:r>
            <a:r>
              <a:rPr lang="en-US" altLang="en-US" i="1" dirty="0" smtClean="0">
                <a:cs typeface="Times New Roman" panose="02020603050405020304" pitchFamily="18" charset="0"/>
              </a:rPr>
              <a:t> </a:t>
            </a:r>
            <a:r>
              <a:rPr lang="en-US" altLang="en-US" i="1" dirty="0" err="1" smtClean="0">
                <a:cs typeface="Times New Roman" panose="02020603050405020304" pitchFamily="18" charset="0"/>
              </a:rPr>
              <a:t>đuôi</a:t>
            </a:r>
            <a:r>
              <a:rPr lang="en-US" altLang="en-US" i="1" dirty="0" smtClean="0">
                <a:cs typeface="Times New Roman" panose="02020603050405020304" pitchFamily="18" charset="0"/>
              </a:rPr>
              <a:t>:</a:t>
            </a:r>
          </a:p>
          <a:p>
            <a:r>
              <a:rPr lang="en-US" i="1" dirty="0" smtClean="0">
                <a:cs typeface="Times New Roman" panose="02020603050405020304" pitchFamily="18" charset="0"/>
              </a:rPr>
              <a:t>+ </a:t>
            </a:r>
            <a:r>
              <a:rPr lang="en-US" i="1" dirty="0" err="1" smtClean="0">
                <a:cs typeface="Times New Roman" panose="02020603050405020304" pitchFamily="18" charset="0"/>
              </a:rPr>
              <a:t>Trường</a:t>
            </a:r>
            <a:r>
              <a:rPr lang="en-US" i="1" dirty="0" smtClean="0">
                <a:cs typeface="Times New Roman" panose="02020603050405020304" pitchFamily="18" charset="0"/>
              </a:rPr>
              <a:t> </a:t>
            </a:r>
            <a:r>
              <a:rPr lang="en-US" i="1" dirty="0" err="1" smtClean="0">
                <a:cs typeface="Times New Roman" panose="02020603050405020304" pitchFamily="18" charset="0"/>
              </a:rPr>
              <a:t>hợp</a:t>
            </a:r>
            <a:r>
              <a:rPr lang="en-US" i="1" dirty="0" smtClean="0">
                <a:cs typeface="Times New Roman" panose="02020603050405020304" pitchFamily="18" charset="0"/>
              </a:rPr>
              <a:t> </a:t>
            </a:r>
            <a:r>
              <a:rPr lang="en-US" i="1" dirty="0" err="1" smtClean="0">
                <a:cs typeface="Times New Roman" panose="02020603050405020304" pitchFamily="18" charset="0"/>
              </a:rPr>
              <a:t>thường</a:t>
            </a:r>
            <a:r>
              <a:rPr lang="en-US" i="1" dirty="0" smtClean="0">
                <a:cs typeface="Times New Roman" panose="02020603050405020304" pitchFamily="18" charset="0"/>
              </a:rPr>
              <a:t> </a:t>
            </a:r>
            <a:r>
              <a:rPr lang="en-US" i="1" dirty="0" err="1" smtClean="0">
                <a:cs typeface="Times New Roman" panose="02020603050405020304" pitchFamily="18" charset="0"/>
              </a:rPr>
              <a:t>gặp</a:t>
            </a:r>
            <a:endParaRPr lang="en-US" i="1" dirty="0"/>
          </a:p>
        </p:txBody>
      </p:sp>
      <p:sp>
        <p:nvSpPr>
          <p:cNvPr id="12" name="Rectangle 11"/>
          <p:cNvSpPr/>
          <p:nvPr/>
        </p:nvSpPr>
        <p:spPr>
          <a:xfrm>
            <a:off x="648653" y="1406370"/>
            <a:ext cx="4760593" cy="1384995"/>
          </a:xfrm>
          <a:prstGeom prst="rect">
            <a:avLst/>
          </a:prstGeom>
        </p:spPr>
        <p:txBody>
          <a:bodyPr wrap="square">
            <a:spAutoFit/>
          </a:bodyPr>
          <a:lstStyle/>
          <a:p>
            <a:r>
              <a:rPr lang="en-US" sz="1400" i="1" dirty="0" smtClean="0">
                <a:latin typeface="Courier New" panose="02070309020205020404" pitchFamily="49" charset="0"/>
                <a:cs typeface="Courier New" panose="02070309020205020404" pitchFamily="49" charset="0"/>
              </a:rPr>
              <a:t>if (n&lt;=n</a:t>
            </a:r>
            <a:r>
              <a:rPr lang="en-US" sz="1400" i="1" baseline="-25000" dirty="0" smtClean="0">
                <a:latin typeface="Courier New" panose="02070309020205020404" pitchFamily="49" charset="0"/>
                <a:cs typeface="Courier New" panose="02070309020205020404" pitchFamily="49" charset="0"/>
              </a:rPr>
              <a:t>0</a:t>
            </a:r>
            <a:r>
              <a:rPr lang="en-US" sz="1400" i="1" dirty="0" smtClean="0">
                <a:latin typeface="Courier New" panose="02070309020205020404" pitchFamily="49" charset="0"/>
                <a:cs typeface="Courier New" panose="02070309020205020404" pitchFamily="49" charset="0"/>
              </a:rPr>
              <a:t>) {</a:t>
            </a:r>
          </a:p>
          <a:p>
            <a:r>
              <a:rPr lang="en-US" sz="1400" i="1" dirty="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Trả</a:t>
            </a:r>
            <a:r>
              <a:rPr lang="en-US" sz="1400" i="1" dirty="0" smtClean="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về</a:t>
            </a:r>
            <a:r>
              <a:rPr lang="en-US" sz="1400" i="1" dirty="0" smtClean="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giá</a:t>
            </a:r>
            <a:r>
              <a:rPr lang="en-US" sz="1400" i="1" dirty="0" smtClean="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trị</a:t>
            </a:r>
            <a:r>
              <a:rPr lang="en-US" sz="1400" i="1" dirty="0" smtClean="0">
                <a:latin typeface="Courier New" panose="02070309020205020404" pitchFamily="49" charset="0"/>
                <a:cs typeface="Courier New" panose="02070309020205020404" pitchFamily="49" charset="0"/>
              </a:rPr>
              <a:t> X</a:t>
            </a:r>
          </a:p>
          <a:p>
            <a:r>
              <a:rPr lang="en-US" sz="1400" i="1" dirty="0" smtClean="0">
                <a:latin typeface="Courier New" panose="02070309020205020404" pitchFamily="49" charset="0"/>
                <a:cs typeface="Courier New" panose="02070309020205020404" pitchFamily="49" charset="0"/>
              </a:rPr>
              <a:t>} else {</a:t>
            </a:r>
          </a:p>
          <a:p>
            <a:r>
              <a:rPr lang="en-US" sz="1400" i="1" dirty="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Gọi</a:t>
            </a:r>
            <a:r>
              <a:rPr lang="en-US" sz="1400" i="1" dirty="0" smtClean="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đệ</a:t>
            </a:r>
            <a:r>
              <a:rPr lang="en-US" sz="1400" i="1" dirty="0" smtClean="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quy</a:t>
            </a:r>
            <a:r>
              <a:rPr lang="en-US" sz="1400" i="1" dirty="0" smtClean="0">
                <a:latin typeface="Courier New" panose="02070309020205020404" pitchFamily="49" charset="0"/>
                <a:cs typeface="Courier New" panose="02070309020205020404" pitchFamily="49" charset="0"/>
              </a:rPr>
              <a:t> f(n*: </a:t>
            </a:r>
            <a:r>
              <a:rPr lang="en-US" sz="1400" i="1" dirty="0" err="1" smtClean="0">
                <a:latin typeface="Courier New" panose="02070309020205020404" pitchFamily="49" charset="0"/>
                <a:cs typeface="Courier New" panose="02070309020205020404" pitchFamily="49" charset="0"/>
              </a:rPr>
              <a:t>phạm</a:t>
            </a:r>
            <a:r>
              <a:rPr lang="en-US" sz="1400" i="1" dirty="0" smtClean="0">
                <a:latin typeface="Courier New" panose="02070309020205020404" pitchFamily="49" charset="0"/>
                <a:cs typeface="Courier New" panose="02070309020205020404" pitchFamily="49" charset="0"/>
              </a:rPr>
              <a:t> vi </a:t>
            </a:r>
            <a:r>
              <a:rPr lang="en-US" sz="1400" i="1" dirty="0" err="1" smtClean="0">
                <a:latin typeface="Courier New" panose="02070309020205020404" pitchFamily="49" charset="0"/>
                <a:cs typeface="Courier New" panose="02070309020205020404" pitchFamily="49" charset="0"/>
              </a:rPr>
              <a:t>mới</a:t>
            </a:r>
            <a:r>
              <a:rPr lang="en-US" sz="1400" i="1" dirty="0" smtClean="0">
                <a:latin typeface="Courier New" panose="02070309020205020404" pitchFamily="49" charset="0"/>
                <a:cs typeface="Courier New" panose="02070309020205020404" pitchFamily="49" charset="0"/>
              </a:rPr>
              <a:t>) </a:t>
            </a:r>
          </a:p>
          <a:p>
            <a:r>
              <a:rPr lang="en-US" sz="1400" i="1" dirty="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Tính</a:t>
            </a:r>
            <a:r>
              <a:rPr lang="en-US" sz="1400" i="1" dirty="0" smtClean="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toán</a:t>
            </a:r>
            <a:r>
              <a:rPr lang="en-US" sz="1400" i="1" dirty="0" smtClean="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giá</a:t>
            </a:r>
            <a:r>
              <a:rPr lang="en-US" sz="1400" i="1" dirty="0" smtClean="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trị</a:t>
            </a:r>
            <a:r>
              <a:rPr lang="en-US" sz="1400" i="1" dirty="0" smtClean="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trả</a:t>
            </a:r>
            <a:r>
              <a:rPr lang="en-US" sz="1400" i="1" dirty="0" smtClean="0">
                <a:latin typeface="Courier New" panose="02070309020205020404" pitchFamily="49" charset="0"/>
                <a:cs typeface="Courier New" panose="02070309020205020404" pitchFamily="49" charset="0"/>
              </a:rPr>
              <a:t> </a:t>
            </a:r>
            <a:r>
              <a:rPr lang="en-US" sz="1400" i="1" dirty="0" err="1" smtClean="0">
                <a:latin typeface="Courier New" panose="02070309020205020404" pitchFamily="49" charset="0"/>
                <a:cs typeface="Courier New" panose="02070309020205020404" pitchFamily="49" charset="0"/>
              </a:rPr>
              <a:t>về</a:t>
            </a:r>
            <a:r>
              <a:rPr lang="en-US" sz="1400" i="1" dirty="0" smtClean="0">
                <a:latin typeface="Courier New" panose="02070309020205020404" pitchFamily="49" charset="0"/>
                <a:cs typeface="Courier New" panose="02070309020205020404" pitchFamily="49" charset="0"/>
              </a:rPr>
              <a:t> = g(</a:t>
            </a:r>
            <a:r>
              <a:rPr lang="en-US" sz="1400" i="1" dirty="0" err="1" smtClean="0">
                <a:latin typeface="Courier New" panose="02070309020205020404" pitchFamily="49" charset="0"/>
                <a:cs typeface="Courier New" panose="02070309020205020404" pitchFamily="49" charset="0"/>
              </a:rPr>
              <a:t>n,f</a:t>
            </a:r>
            <a:r>
              <a:rPr lang="en-US" sz="1400" i="1" dirty="0" smtClean="0">
                <a:latin typeface="Courier New" panose="02070309020205020404" pitchFamily="49" charset="0"/>
                <a:cs typeface="Courier New" panose="02070309020205020404" pitchFamily="49" charset="0"/>
              </a:rPr>
              <a:t>(n*))</a:t>
            </a:r>
          </a:p>
          <a:p>
            <a:r>
              <a:rPr lang="en-US" sz="1400" i="1" dirty="0" smtClean="0">
                <a:latin typeface="Courier New" panose="02070309020205020404" pitchFamily="49" charset="0"/>
                <a:cs typeface="Courier New" panose="02070309020205020404" pitchFamily="49" charset="0"/>
              </a:rPr>
              <a:t>}</a:t>
            </a:r>
            <a:endParaRPr lang="en-US" sz="1400" i="1" dirty="0">
              <a:latin typeface="Courier New" panose="02070309020205020404" pitchFamily="49" charset="0"/>
              <a:cs typeface="Courier New" panose="02070309020205020404" pitchFamily="49" charset="0"/>
            </a:endParaRPr>
          </a:p>
        </p:txBody>
      </p:sp>
      <p:sp>
        <p:nvSpPr>
          <p:cNvPr id="2" name="Rectangle 1"/>
          <p:cNvSpPr/>
          <p:nvPr/>
        </p:nvSpPr>
        <p:spPr>
          <a:xfrm>
            <a:off x="5145318" y="935125"/>
            <a:ext cx="3922481" cy="1200329"/>
          </a:xfrm>
          <a:prstGeom prst="rect">
            <a:avLst/>
          </a:prstGeom>
        </p:spPr>
        <p:txBody>
          <a:bodyPr wrap="square">
            <a:spAutoFit/>
          </a:bodyPr>
          <a:lstStyle/>
          <a:p>
            <a:r>
              <a:rPr lang="en-US" dirty="0" smtClean="0"/>
              <a:t>+ </a:t>
            </a:r>
            <a:r>
              <a:rPr lang="en-US" dirty="0" err="1" smtClean="0"/>
              <a:t>Xác</a:t>
            </a:r>
            <a:r>
              <a:rPr lang="en-US" dirty="0" smtClean="0"/>
              <a:t> </a:t>
            </a:r>
            <a:r>
              <a:rPr lang="en-US" dirty="0" err="1" smtClean="0"/>
              <a:t>định</a:t>
            </a:r>
            <a:r>
              <a:rPr lang="en-US" dirty="0" smtClean="0"/>
              <a:t> </a:t>
            </a:r>
            <a:r>
              <a:rPr lang="en-US" dirty="0" err="1" smtClean="0"/>
              <a:t>được</a:t>
            </a:r>
            <a:r>
              <a:rPr lang="en-US" dirty="0" smtClean="0"/>
              <a:t> </a:t>
            </a:r>
            <a:r>
              <a:rPr lang="en-US" dirty="0" err="1" smtClean="0"/>
              <a:t>bước</a:t>
            </a:r>
            <a:r>
              <a:rPr lang="en-US" dirty="0" smtClean="0"/>
              <a:t> </a:t>
            </a:r>
            <a:r>
              <a:rPr lang="en-US" dirty="0" err="1" smtClean="0"/>
              <a:t>nhảy</a:t>
            </a:r>
            <a:r>
              <a:rPr lang="en-US" dirty="0" smtClean="0"/>
              <a:t> </a:t>
            </a:r>
            <a:r>
              <a:rPr lang="en-US" dirty="0" err="1" smtClean="0"/>
              <a:t>trong</a:t>
            </a:r>
            <a:r>
              <a:rPr lang="en-US" dirty="0" smtClean="0"/>
              <a:t> </a:t>
            </a:r>
            <a:r>
              <a:rPr lang="en-US" dirty="0" err="1" smtClean="0"/>
              <a:t>mỗi</a:t>
            </a:r>
            <a:r>
              <a:rPr lang="en-US" dirty="0" smtClean="0"/>
              <a:t> </a:t>
            </a:r>
            <a:r>
              <a:rPr lang="en-US" dirty="0" err="1" smtClean="0"/>
              <a:t>lần</a:t>
            </a:r>
            <a:r>
              <a:rPr lang="en-US" dirty="0" smtClean="0"/>
              <a:t> </a:t>
            </a:r>
            <a:r>
              <a:rPr lang="en-US" dirty="0" err="1" smtClean="0"/>
              <a:t>lặp</a:t>
            </a:r>
            <a:r>
              <a:rPr lang="en-US" dirty="0" smtClean="0"/>
              <a:t>, </a:t>
            </a:r>
            <a:r>
              <a:rPr lang="en-US" dirty="0" err="1" smtClean="0"/>
              <a:t>xác</a:t>
            </a:r>
            <a:r>
              <a:rPr lang="en-US" dirty="0" smtClean="0"/>
              <a:t> </a:t>
            </a:r>
            <a:r>
              <a:rPr lang="en-US" dirty="0" err="1" smtClean="0"/>
              <a:t>định</a:t>
            </a:r>
            <a:r>
              <a:rPr lang="en-US" dirty="0" smtClean="0"/>
              <a:t> </a:t>
            </a:r>
            <a:r>
              <a:rPr lang="en-US" dirty="0" err="1"/>
              <a:t>được</a:t>
            </a:r>
            <a:r>
              <a:rPr lang="en-US" dirty="0"/>
              <a:t> </a:t>
            </a:r>
            <a:r>
              <a:rPr lang="en-US" dirty="0" err="1"/>
              <a:t>số</a:t>
            </a:r>
            <a:r>
              <a:rPr lang="en-US" dirty="0"/>
              <a:t> </a:t>
            </a:r>
            <a:r>
              <a:rPr lang="en-US" dirty="0" err="1"/>
              <a:t>lần</a:t>
            </a:r>
            <a:r>
              <a:rPr lang="en-US" dirty="0"/>
              <a:t> </a:t>
            </a:r>
            <a:r>
              <a:rPr lang="en-US" dirty="0" err="1"/>
              <a:t>lặp</a:t>
            </a:r>
            <a:r>
              <a:rPr lang="en-US" dirty="0"/>
              <a:t> </a:t>
            </a:r>
            <a:r>
              <a:rPr lang="en-US" dirty="0" err="1"/>
              <a:t>của</a:t>
            </a:r>
            <a:r>
              <a:rPr lang="en-US" dirty="0"/>
              <a:t> </a:t>
            </a:r>
            <a:r>
              <a:rPr lang="en-US" dirty="0" err="1"/>
              <a:t>đệ</a:t>
            </a:r>
            <a:r>
              <a:rPr lang="en-US" dirty="0"/>
              <a:t> </a:t>
            </a:r>
            <a:r>
              <a:rPr lang="en-US" dirty="0" err="1" smtClean="0"/>
              <a:t>quy</a:t>
            </a:r>
            <a:endParaRPr lang="en-US" dirty="0" smtClean="0"/>
          </a:p>
          <a:p>
            <a:r>
              <a:rPr lang="en-US" dirty="0" smtClean="0"/>
              <a:t>+ </a:t>
            </a:r>
            <a:r>
              <a:rPr lang="en-US" dirty="0" err="1" smtClean="0"/>
              <a:t>Triển</a:t>
            </a:r>
            <a:r>
              <a:rPr lang="en-US" dirty="0" smtClean="0"/>
              <a:t> </a:t>
            </a:r>
            <a:r>
              <a:rPr lang="en-US" dirty="0" err="1" smtClean="0"/>
              <a:t>khai</a:t>
            </a:r>
            <a:r>
              <a:rPr lang="en-US" dirty="0" smtClean="0"/>
              <a:t> </a:t>
            </a:r>
            <a:r>
              <a:rPr lang="en-US" dirty="0" err="1" smtClean="0"/>
              <a:t>theo</a:t>
            </a:r>
            <a:r>
              <a:rPr lang="en-US" dirty="0" smtClean="0"/>
              <a:t> </a:t>
            </a:r>
            <a:r>
              <a:rPr lang="en-US" dirty="0" err="1" smtClean="0"/>
              <a:t>hướng</a:t>
            </a:r>
            <a:r>
              <a:rPr lang="en-US" dirty="0" smtClean="0"/>
              <a:t> </a:t>
            </a:r>
            <a:r>
              <a:rPr lang="en-US" dirty="0" err="1" smtClean="0"/>
              <a:t>ngược</a:t>
            </a:r>
            <a:r>
              <a:rPr lang="en-US" dirty="0" smtClean="0"/>
              <a:t> </a:t>
            </a:r>
            <a:r>
              <a:rPr lang="en-US" dirty="0" err="1" smtClean="0"/>
              <a:t>lại</a:t>
            </a:r>
            <a:endParaRPr lang="en-US" dirty="0"/>
          </a:p>
        </p:txBody>
      </p:sp>
    </p:spTree>
    <p:extLst>
      <p:ext uri="{BB962C8B-B14F-4D97-AF65-F5344CB8AC3E}">
        <p14:creationId xmlns:p14="http://schemas.microsoft.com/office/powerpoint/2010/main" val="264698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27</a:t>
            </a:fld>
            <a:endParaRPr lang="en-US"/>
          </a:p>
        </p:txBody>
      </p:sp>
      <p:sp>
        <p:nvSpPr>
          <p:cNvPr id="5" name="Title 4"/>
          <p:cNvSpPr>
            <a:spLocks noGrp="1"/>
          </p:cNvSpPr>
          <p:nvPr>
            <p:ph type="title"/>
          </p:nvPr>
        </p:nvSpPr>
        <p:spPr/>
        <p:txBody>
          <a:bodyPr/>
          <a:lstStyle/>
          <a:p>
            <a:r>
              <a:rPr lang="en-US" altLang="en-US" dirty="0"/>
              <a:t>K</a:t>
            </a:r>
            <a:r>
              <a:rPr lang="vi-VN" altLang="en-US" dirty="0"/>
              <a:t>hử đệ quy</a:t>
            </a:r>
            <a:r>
              <a:rPr lang="en-US" altLang="en-US" dirty="0"/>
              <a:t> </a:t>
            </a:r>
            <a:r>
              <a:rPr lang="en-US" altLang="en-US" dirty="0" err="1"/>
              <a:t>bằng</a:t>
            </a:r>
            <a:r>
              <a:rPr lang="en-US" altLang="en-US" dirty="0"/>
              <a:t> </a:t>
            </a:r>
            <a:r>
              <a:rPr lang="en-US" altLang="en-US" dirty="0" err="1"/>
              <a:t>vòng</a:t>
            </a:r>
            <a:r>
              <a:rPr lang="en-US" altLang="en-US" dirty="0"/>
              <a:t> </a:t>
            </a:r>
            <a:r>
              <a:rPr lang="en-US" altLang="en-US" dirty="0" err="1"/>
              <a:t>lặp</a:t>
            </a:r>
            <a:endParaRPr lang="en-US" dirty="0"/>
          </a:p>
        </p:txBody>
      </p:sp>
      <p:sp>
        <p:nvSpPr>
          <p:cNvPr id="6" name="Text Box 5"/>
          <p:cNvSpPr txBox="1">
            <a:spLocks noChangeArrowheads="1"/>
          </p:cNvSpPr>
          <p:nvPr/>
        </p:nvSpPr>
        <p:spPr bwMode="auto">
          <a:xfrm>
            <a:off x="99260" y="960836"/>
            <a:ext cx="4695516" cy="116955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dirty="0" err="1">
                <a:latin typeface="Courier New" panose="02070309020205020404" pitchFamily="49" charset="0"/>
                <a:cs typeface="Courier New" panose="02070309020205020404" pitchFamily="49" charset="0"/>
              </a:rPr>
              <a:t>int</a:t>
            </a:r>
            <a:r>
              <a:rPr lang="en-US" altLang="en-US" sz="1400" dirty="0">
                <a:latin typeface="Courier New" panose="02070309020205020404" pitchFamily="49" charset="0"/>
                <a:cs typeface="Courier New" panose="02070309020205020404" pitchFamily="49" charset="0"/>
              </a:rPr>
              <a:t> </a:t>
            </a:r>
            <a:r>
              <a:rPr lang="en-US" altLang="en-US" sz="1400" dirty="0" err="1" smtClean="0">
                <a:latin typeface="Courier New" panose="02070309020205020404" pitchFamily="49" charset="0"/>
                <a:cs typeface="Courier New" panose="02070309020205020404" pitchFamily="49" charset="0"/>
              </a:rPr>
              <a:t>Fibo</a:t>
            </a:r>
            <a:r>
              <a:rPr lang="en-US" altLang="en-US" sz="1400" dirty="0" smtClean="0">
                <a:latin typeface="Courier New" panose="02070309020205020404" pitchFamily="49" charset="0"/>
                <a:cs typeface="Courier New" panose="02070309020205020404" pitchFamily="49" charset="0"/>
              </a:rPr>
              <a:t> </a:t>
            </a:r>
            <a:r>
              <a:rPr lang="en-US" altLang="en-US" sz="1400" dirty="0">
                <a:latin typeface="Courier New" panose="02070309020205020404" pitchFamily="49" charset="0"/>
                <a:cs typeface="Courier New" panose="02070309020205020404" pitchFamily="49" charset="0"/>
              </a:rPr>
              <a:t>(</a:t>
            </a:r>
            <a:r>
              <a:rPr lang="en-US" altLang="en-US" sz="1400" dirty="0" err="1">
                <a:latin typeface="Courier New" panose="02070309020205020404" pitchFamily="49" charset="0"/>
                <a:cs typeface="Courier New" panose="02070309020205020404" pitchFamily="49" charset="0"/>
              </a:rPr>
              <a:t>int</a:t>
            </a:r>
            <a:r>
              <a:rPr lang="en-US" altLang="en-US" sz="1400" dirty="0">
                <a:latin typeface="Courier New" panose="02070309020205020404" pitchFamily="49" charset="0"/>
                <a:cs typeface="Courier New" panose="02070309020205020404" pitchFamily="49" charset="0"/>
              </a:rPr>
              <a:t> n){</a:t>
            </a:r>
          </a:p>
          <a:p>
            <a:pPr eaLnBrk="1" hangingPunct="1"/>
            <a:r>
              <a:rPr lang="en-US" altLang="en-US" sz="1400" dirty="0">
                <a:latin typeface="Courier New" panose="02070309020205020404" pitchFamily="49" charset="0"/>
                <a:cs typeface="Courier New" panose="02070309020205020404" pitchFamily="49" charset="0"/>
              </a:rPr>
              <a:t>    if (n &lt;= 2) return 1;</a:t>
            </a:r>
          </a:p>
          <a:p>
            <a:pPr eaLnBrk="1" hangingPunct="1"/>
            <a:r>
              <a:rPr lang="en-US" altLang="en-US" sz="1400" dirty="0">
                <a:latin typeface="Courier New" panose="02070309020205020404" pitchFamily="49" charset="0"/>
                <a:cs typeface="Courier New" panose="02070309020205020404" pitchFamily="49" charset="0"/>
              </a:rPr>
              <a:t>    else </a:t>
            </a:r>
          </a:p>
          <a:p>
            <a:pPr eaLnBrk="1" hangingPunct="1"/>
            <a:r>
              <a:rPr lang="en-US" altLang="en-US" sz="1400" dirty="0">
                <a:latin typeface="Courier New" panose="02070309020205020404" pitchFamily="49" charset="0"/>
                <a:cs typeface="Courier New" panose="02070309020205020404" pitchFamily="49" charset="0"/>
              </a:rPr>
              <a:t>       return (Fibo1 (n-1) + Fibo1 (n-2));</a:t>
            </a:r>
          </a:p>
          <a:p>
            <a:pPr eaLnBrk="1" hangingPunct="1"/>
            <a:r>
              <a:rPr lang="en-US" altLang="en-US" sz="1400" dirty="0">
                <a:latin typeface="Courier New" panose="02070309020205020404" pitchFamily="49" charset="0"/>
                <a:cs typeface="Courier New" panose="02070309020205020404" pitchFamily="49" charset="0"/>
              </a:rPr>
              <a:t>}</a:t>
            </a:r>
          </a:p>
        </p:txBody>
      </p:sp>
      <p:sp>
        <p:nvSpPr>
          <p:cNvPr id="7" name="Text Box 6"/>
          <p:cNvSpPr txBox="1">
            <a:spLocks noChangeArrowheads="1"/>
          </p:cNvSpPr>
          <p:nvPr/>
        </p:nvSpPr>
        <p:spPr bwMode="auto">
          <a:xfrm>
            <a:off x="2762250" y="2588862"/>
            <a:ext cx="5581936" cy="369331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defRPr sz="1200" b="1" i="1">
                <a:latin typeface="Courier New" panose="02070309020205020404" pitchFamily="49" charset="0"/>
                <a:cs typeface="Courier New" panose="02070309020205020404" pitchFamily="49" charset="0"/>
              </a:defRPr>
            </a:lvl1pPr>
            <a:lvl2pPr marL="742950" indent="-285750">
              <a:defRPr sz="2400">
                <a:latin typeface="Times New Roman" panose="02020603050405020304" pitchFamily="18" charset="0"/>
              </a:defRPr>
            </a:lvl2pPr>
            <a:lvl3pPr marL="1143000" indent="-228600">
              <a:defRPr sz="2400">
                <a:latin typeface="Times New Roman" panose="02020603050405020304" pitchFamily="18" charset="0"/>
              </a:defRPr>
            </a:lvl3pPr>
            <a:lvl4pPr marL="1600200" indent="-228600">
              <a:defRPr sz="2400">
                <a:latin typeface="Times New Roman" panose="02020603050405020304" pitchFamily="18" charset="0"/>
              </a:defRPr>
            </a:lvl4pPr>
            <a:lvl5pPr marL="2057400" indent="-228600">
              <a:defRPr sz="2400">
                <a:latin typeface="Times New Roman" panose="02020603050405020304" pitchFamily="18" charset="0"/>
              </a:defRPr>
            </a:lvl5pPr>
            <a:lvl6pPr marL="2514600" indent="-228600" eaLnBrk="0" fontAlgn="base" hangingPunct="0">
              <a:spcBef>
                <a:spcPct val="0"/>
              </a:spcBef>
              <a:spcAft>
                <a:spcPct val="0"/>
              </a:spcAft>
              <a:defRPr sz="2400">
                <a:latin typeface="Times New Roman" panose="02020603050405020304" pitchFamily="18" charset="0"/>
              </a:defRPr>
            </a:lvl6pPr>
            <a:lvl7pPr marL="2971800" indent="-228600" eaLnBrk="0" fontAlgn="base" hangingPunct="0">
              <a:spcBef>
                <a:spcPct val="0"/>
              </a:spcBef>
              <a:spcAft>
                <a:spcPct val="0"/>
              </a:spcAft>
              <a:defRPr sz="2400">
                <a:latin typeface="Times New Roman" panose="02020603050405020304" pitchFamily="18" charset="0"/>
              </a:defRPr>
            </a:lvl7pPr>
            <a:lvl8pPr marL="3429000" indent="-228600" eaLnBrk="0" fontAlgn="base" hangingPunct="0">
              <a:spcBef>
                <a:spcPct val="0"/>
              </a:spcBef>
              <a:spcAft>
                <a:spcPct val="0"/>
              </a:spcAft>
              <a:defRPr sz="2400">
                <a:latin typeface="Times New Roman" panose="02020603050405020304" pitchFamily="18" charset="0"/>
              </a:defRPr>
            </a:lvl8pPr>
            <a:lvl9pPr marL="3886200" indent="-228600" eaLnBrk="0" fontAlgn="base" hangingPunct="0">
              <a:spcBef>
                <a:spcPct val="0"/>
              </a:spcBef>
              <a:spcAft>
                <a:spcPct val="0"/>
              </a:spcAft>
              <a:defRPr sz="2400">
                <a:latin typeface="Times New Roman" panose="02020603050405020304" pitchFamily="18" charset="0"/>
              </a:defRPr>
            </a:lvl9pPr>
          </a:lstStyle>
          <a:p>
            <a:r>
              <a:rPr lang="en-US" altLang="en-US" sz="1800" b="0" i="0" dirty="0" err="1"/>
              <a:t>int</a:t>
            </a:r>
            <a:r>
              <a:rPr lang="en-US" altLang="en-US" sz="1800" b="0" i="0" dirty="0"/>
              <a:t>  </a:t>
            </a:r>
            <a:r>
              <a:rPr lang="en-US" altLang="en-US" sz="1800" b="0" i="0" dirty="0" err="1" smtClean="0"/>
              <a:t>Fibo</a:t>
            </a:r>
            <a:r>
              <a:rPr lang="en-US" altLang="en-US" sz="1800" b="0" i="0" dirty="0" smtClean="0"/>
              <a:t> </a:t>
            </a:r>
            <a:r>
              <a:rPr lang="en-US" altLang="en-US" sz="1800" b="0" i="0" dirty="0"/>
              <a:t>(</a:t>
            </a:r>
            <a:r>
              <a:rPr lang="en-US" altLang="en-US" sz="1800" b="0" i="0" dirty="0" err="1"/>
              <a:t>int</a:t>
            </a:r>
            <a:r>
              <a:rPr lang="en-US" altLang="en-US" sz="1800" b="0" i="0" dirty="0"/>
              <a:t> n) {</a:t>
            </a:r>
          </a:p>
          <a:p>
            <a:r>
              <a:rPr lang="en-US" altLang="en-US" sz="1800" b="0" i="0" dirty="0"/>
              <a:t>    </a:t>
            </a:r>
            <a:r>
              <a:rPr lang="en-US" altLang="en-US" sz="1800" b="0" i="0" dirty="0" err="1"/>
              <a:t>int</a:t>
            </a:r>
            <a:r>
              <a:rPr lang="en-US" altLang="en-US" sz="1800" b="0" i="0" dirty="0"/>
              <a:t> </a:t>
            </a:r>
            <a:r>
              <a:rPr lang="en-US" altLang="en-US" sz="1800" b="0" i="0" dirty="0" err="1"/>
              <a:t>i</a:t>
            </a:r>
            <a:r>
              <a:rPr lang="en-US" altLang="en-US" sz="1800" b="0" i="0" dirty="0"/>
              <a:t>, f, f1, f2;</a:t>
            </a:r>
          </a:p>
          <a:p>
            <a:r>
              <a:rPr lang="en-US" altLang="en-US" sz="1800" b="0" i="0" dirty="0"/>
              <a:t>    f1 = 1 ;</a:t>
            </a:r>
          </a:p>
          <a:p>
            <a:r>
              <a:rPr lang="en-US" altLang="en-US" sz="1800" b="0" i="0" dirty="0"/>
              <a:t>    f2 = 1 ; </a:t>
            </a:r>
          </a:p>
          <a:p>
            <a:r>
              <a:rPr lang="en-US" altLang="en-US" sz="1800" b="0" i="0" dirty="0"/>
              <a:t>    if  (n &lt;= 2)  f = 1;</a:t>
            </a:r>
          </a:p>
          <a:p>
            <a:r>
              <a:rPr lang="en-US" altLang="en-US" sz="1800" b="0" i="0" dirty="0"/>
              <a:t>    </a:t>
            </a:r>
            <a:r>
              <a:rPr lang="en-US" altLang="en-US" sz="1800" b="0" i="0" dirty="0" smtClean="0"/>
              <a:t>else</a:t>
            </a:r>
          </a:p>
          <a:p>
            <a:r>
              <a:rPr lang="en-US" altLang="en-US" sz="1800" b="0" i="0" dirty="0"/>
              <a:t> </a:t>
            </a:r>
            <a:r>
              <a:rPr lang="en-US" altLang="en-US" sz="1800" b="0" i="0" dirty="0" smtClean="0"/>
              <a:t>     for </a:t>
            </a:r>
            <a:r>
              <a:rPr lang="en-US" altLang="en-US" sz="1800" b="0" i="0" dirty="0"/>
              <a:t>(</a:t>
            </a:r>
            <a:r>
              <a:rPr lang="en-US" altLang="en-US" sz="1800" b="0" i="0" dirty="0" err="1"/>
              <a:t>i</a:t>
            </a:r>
            <a:r>
              <a:rPr lang="en-US" altLang="en-US" sz="1800" b="0" i="0" dirty="0"/>
              <a:t> = 3;i&lt;=</a:t>
            </a:r>
            <a:r>
              <a:rPr lang="en-US" altLang="en-US" sz="1800" b="0" i="0" dirty="0" err="1"/>
              <a:t>n;i</a:t>
            </a:r>
            <a:r>
              <a:rPr lang="en-US" altLang="en-US" sz="1800" b="0" i="0" dirty="0"/>
              <a:t>++){ </a:t>
            </a:r>
          </a:p>
          <a:p>
            <a:r>
              <a:rPr lang="en-US" altLang="en-US" sz="1800" b="0" i="0" dirty="0" smtClean="0"/>
              <a:t>     </a:t>
            </a:r>
            <a:r>
              <a:rPr lang="en-US" altLang="en-US" sz="1800" b="0" i="0" dirty="0"/>
              <a:t>	</a:t>
            </a:r>
            <a:r>
              <a:rPr lang="en-US" altLang="en-US" sz="1800" b="0" i="0" dirty="0" smtClean="0"/>
              <a:t>  f </a:t>
            </a:r>
            <a:r>
              <a:rPr lang="en-US" altLang="en-US" sz="1800" b="0" i="0" dirty="0"/>
              <a:t>= f1 + f2;</a:t>
            </a:r>
          </a:p>
          <a:p>
            <a:r>
              <a:rPr lang="en-US" altLang="en-US" sz="1800" b="0" i="0" dirty="0" smtClean="0"/>
              <a:t> </a:t>
            </a:r>
            <a:r>
              <a:rPr lang="en-US" altLang="en-US" sz="1800" b="0" i="0" dirty="0"/>
              <a:t>	</a:t>
            </a:r>
            <a:r>
              <a:rPr lang="en-US" altLang="en-US" sz="1800" b="0" i="0" dirty="0" smtClean="0"/>
              <a:t>     f1 </a:t>
            </a:r>
            <a:r>
              <a:rPr lang="en-US" altLang="en-US" sz="1800" b="0" i="0" dirty="0"/>
              <a:t>= f2;</a:t>
            </a:r>
          </a:p>
          <a:p>
            <a:r>
              <a:rPr lang="en-US" altLang="en-US" sz="1800" b="0" i="0" dirty="0" smtClean="0"/>
              <a:t>     </a:t>
            </a:r>
            <a:r>
              <a:rPr lang="en-US" altLang="en-US" sz="1800" b="0" i="0" dirty="0"/>
              <a:t>	</a:t>
            </a:r>
            <a:r>
              <a:rPr lang="en-US" altLang="en-US" sz="1800" b="0" i="0" dirty="0" smtClean="0"/>
              <a:t>  f2 </a:t>
            </a:r>
            <a:r>
              <a:rPr lang="en-US" altLang="en-US" sz="1800" b="0" i="0" dirty="0"/>
              <a:t>= f;</a:t>
            </a:r>
          </a:p>
          <a:p>
            <a:r>
              <a:rPr lang="en-US" altLang="en-US" sz="1800" b="0" i="0" dirty="0"/>
              <a:t>    </a:t>
            </a:r>
            <a:r>
              <a:rPr lang="en-US" altLang="en-US" sz="1800" b="0" i="0" dirty="0" smtClean="0"/>
              <a:t>  }</a:t>
            </a:r>
            <a:endParaRPr lang="en-US" altLang="en-US" sz="1800" b="0" i="0" dirty="0"/>
          </a:p>
          <a:p>
            <a:r>
              <a:rPr lang="en-US" altLang="en-US" sz="1800" b="0" i="0" dirty="0"/>
              <a:t>    return f; </a:t>
            </a:r>
          </a:p>
          <a:p>
            <a:r>
              <a:rPr lang="en-US" altLang="en-US" sz="1800" b="0" i="0" dirty="0"/>
              <a:t>}</a:t>
            </a:r>
          </a:p>
        </p:txBody>
      </p:sp>
      <p:sp>
        <p:nvSpPr>
          <p:cNvPr id="9" name="Right Arrow 8"/>
          <p:cNvSpPr/>
          <p:nvPr/>
        </p:nvSpPr>
        <p:spPr>
          <a:xfrm>
            <a:off x="1913618" y="3048000"/>
            <a:ext cx="533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145318" y="935125"/>
            <a:ext cx="3922481" cy="1200329"/>
          </a:xfrm>
          <a:prstGeom prst="rect">
            <a:avLst/>
          </a:prstGeom>
        </p:spPr>
        <p:txBody>
          <a:bodyPr wrap="square">
            <a:spAutoFit/>
          </a:bodyPr>
          <a:lstStyle/>
          <a:p>
            <a:r>
              <a:rPr lang="en-US" dirty="0" smtClean="0"/>
              <a:t>+ </a:t>
            </a:r>
            <a:r>
              <a:rPr lang="en-US" dirty="0" err="1" smtClean="0"/>
              <a:t>Xác</a:t>
            </a:r>
            <a:r>
              <a:rPr lang="en-US" dirty="0" smtClean="0"/>
              <a:t> </a:t>
            </a:r>
            <a:r>
              <a:rPr lang="en-US" dirty="0" err="1" smtClean="0"/>
              <a:t>định</a:t>
            </a:r>
            <a:r>
              <a:rPr lang="en-US" dirty="0" smtClean="0"/>
              <a:t> </a:t>
            </a:r>
            <a:r>
              <a:rPr lang="en-US" dirty="0" err="1" smtClean="0"/>
              <a:t>được</a:t>
            </a:r>
            <a:r>
              <a:rPr lang="en-US" dirty="0" smtClean="0"/>
              <a:t> </a:t>
            </a:r>
            <a:r>
              <a:rPr lang="en-US" dirty="0" err="1" smtClean="0"/>
              <a:t>bước</a:t>
            </a:r>
            <a:r>
              <a:rPr lang="en-US" dirty="0" smtClean="0"/>
              <a:t> </a:t>
            </a:r>
            <a:r>
              <a:rPr lang="en-US" dirty="0" err="1" smtClean="0"/>
              <a:t>nhảy</a:t>
            </a:r>
            <a:r>
              <a:rPr lang="en-US" dirty="0" smtClean="0"/>
              <a:t> </a:t>
            </a:r>
            <a:r>
              <a:rPr lang="en-US" dirty="0" err="1" smtClean="0"/>
              <a:t>trong</a:t>
            </a:r>
            <a:r>
              <a:rPr lang="en-US" dirty="0" smtClean="0"/>
              <a:t> </a:t>
            </a:r>
            <a:r>
              <a:rPr lang="en-US" dirty="0" err="1" smtClean="0"/>
              <a:t>mỗi</a:t>
            </a:r>
            <a:r>
              <a:rPr lang="en-US" dirty="0" smtClean="0"/>
              <a:t> </a:t>
            </a:r>
            <a:r>
              <a:rPr lang="en-US" dirty="0" err="1" smtClean="0"/>
              <a:t>lần</a:t>
            </a:r>
            <a:r>
              <a:rPr lang="en-US" dirty="0" smtClean="0"/>
              <a:t> </a:t>
            </a:r>
            <a:r>
              <a:rPr lang="en-US" dirty="0" err="1" smtClean="0"/>
              <a:t>lặp</a:t>
            </a:r>
            <a:r>
              <a:rPr lang="en-US" dirty="0" smtClean="0"/>
              <a:t>, </a:t>
            </a:r>
            <a:r>
              <a:rPr lang="en-US" dirty="0" err="1" smtClean="0"/>
              <a:t>xác</a:t>
            </a:r>
            <a:r>
              <a:rPr lang="en-US" dirty="0" smtClean="0"/>
              <a:t> </a:t>
            </a:r>
            <a:r>
              <a:rPr lang="en-US" dirty="0" err="1" smtClean="0"/>
              <a:t>định</a:t>
            </a:r>
            <a:r>
              <a:rPr lang="en-US" dirty="0" smtClean="0"/>
              <a:t> </a:t>
            </a:r>
            <a:r>
              <a:rPr lang="en-US" dirty="0" err="1"/>
              <a:t>được</a:t>
            </a:r>
            <a:r>
              <a:rPr lang="en-US" dirty="0"/>
              <a:t> </a:t>
            </a:r>
            <a:r>
              <a:rPr lang="en-US" dirty="0" err="1"/>
              <a:t>số</a:t>
            </a:r>
            <a:r>
              <a:rPr lang="en-US" dirty="0"/>
              <a:t> </a:t>
            </a:r>
            <a:r>
              <a:rPr lang="en-US" dirty="0" err="1"/>
              <a:t>lần</a:t>
            </a:r>
            <a:r>
              <a:rPr lang="en-US" dirty="0"/>
              <a:t> </a:t>
            </a:r>
            <a:r>
              <a:rPr lang="en-US" dirty="0" err="1"/>
              <a:t>lặp</a:t>
            </a:r>
            <a:r>
              <a:rPr lang="en-US" dirty="0"/>
              <a:t> </a:t>
            </a:r>
            <a:r>
              <a:rPr lang="en-US" dirty="0" err="1"/>
              <a:t>của</a:t>
            </a:r>
            <a:r>
              <a:rPr lang="en-US" dirty="0"/>
              <a:t> </a:t>
            </a:r>
            <a:r>
              <a:rPr lang="en-US" dirty="0" err="1"/>
              <a:t>đệ</a:t>
            </a:r>
            <a:r>
              <a:rPr lang="en-US" dirty="0"/>
              <a:t> </a:t>
            </a:r>
            <a:r>
              <a:rPr lang="en-US" dirty="0" err="1" smtClean="0"/>
              <a:t>quy</a:t>
            </a:r>
            <a:endParaRPr lang="en-US" dirty="0" smtClean="0"/>
          </a:p>
          <a:p>
            <a:r>
              <a:rPr lang="en-US" dirty="0" smtClean="0"/>
              <a:t>+ </a:t>
            </a:r>
            <a:r>
              <a:rPr lang="en-US" dirty="0" err="1" smtClean="0"/>
              <a:t>Triển</a:t>
            </a:r>
            <a:r>
              <a:rPr lang="en-US" dirty="0" smtClean="0"/>
              <a:t> </a:t>
            </a:r>
            <a:r>
              <a:rPr lang="en-US" dirty="0" err="1" smtClean="0"/>
              <a:t>khai</a:t>
            </a:r>
            <a:r>
              <a:rPr lang="en-US" dirty="0" smtClean="0"/>
              <a:t> </a:t>
            </a:r>
            <a:r>
              <a:rPr lang="en-US" dirty="0" err="1" smtClean="0"/>
              <a:t>theo</a:t>
            </a:r>
            <a:r>
              <a:rPr lang="en-US" dirty="0" smtClean="0"/>
              <a:t> </a:t>
            </a:r>
            <a:r>
              <a:rPr lang="en-US" dirty="0" err="1" smtClean="0"/>
              <a:t>hướng</a:t>
            </a:r>
            <a:r>
              <a:rPr lang="en-US" dirty="0" smtClean="0"/>
              <a:t> </a:t>
            </a:r>
            <a:r>
              <a:rPr lang="en-US" dirty="0" err="1" smtClean="0"/>
              <a:t>ngược</a:t>
            </a:r>
            <a:r>
              <a:rPr lang="en-US" dirty="0" smtClean="0"/>
              <a:t> </a:t>
            </a:r>
            <a:r>
              <a:rPr lang="en-US" dirty="0" err="1" smtClean="0"/>
              <a:t>lại</a:t>
            </a:r>
            <a:endParaRPr lang="en-US" dirty="0"/>
          </a:p>
        </p:txBody>
      </p:sp>
    </p:spTree>
    <p:extLst>
      <p:ext uri="{BB962C8B-B14F-4D97-AF65-F5344CB8AC3E}">
        <p14:creationId xmlns:p14="http://schemas.microsoft.com/office/powerpoint/2010/main" val="3285134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28</a:t>
            </a:fld>
            <a:endParaRPr lang="en-US"/>
          </a:p>
        </p:txBody>
      </p:sp>
      <p:sp>
        <p:nvSpPr>
          <p:cNvPr id="4" name="Title 3"/>
          <p:cNvSpPr>
            <a:spLocks noGrp="1"/>
          </p:cNvSpPr>
          <p:nvPr>
            <p:ph type="title"/>
          </p:nvPr>
        </p:nvSpPr>
        <p:spPr/>
        <p:txBody>
          <a:bodyPr/>
          <a:lstStyle/>
          <a:p>
            <a:r>
              <a:rPr lang="en-US" dirty="0" err="1"/>
              <a:t>Khử</a:t>
            </a:r>
            <a:r>
              <a:rPr lang="en-US" dirty="0"/>
              <a:t> </a:t>
            </a:r>
            <a:r>
              <a:rPr lang="en-US" dirty="0" err="1"/>
              <a:t>đệ</a:t>
            </a:r>
            <a:r>
              <a:rPr lang="en-US" dirty="0"/>
              <a:t> </a:t>
            </a:r>
            <a:r>
              <a:rPr lang="en-US" dirty="0" err="1"/>
              <a:t>quy</a:t>
            </a:r>
            <a:r>
              <a:rPr lang="en-US" dirty="0"/>
              <a:t> </a:t>
            </a:r>
            <a:r>
              <a:rPr lang="en-US" dirty="0" err="1"/>
              <a:t>bằng</a:t>
            </a:r>
            <a:r>
              <a:rPr lang="en-US" dirty="0"/>
              <a:t> Stack</a:t>
            </a:r>
          </a:p>
        </p:txBody>
      </p:sp>
      <p:sp>
        <p:nvSpPr>
          <p:cNvPr id="6" name="Text Box 4"/>
          <p:cNvSpPr txBox="1">
            <a:spLocks noChangeArrowheads="1"/>
          </p:cNvSpPr>
          <p:nvPr/>
        </p:nvSpPr>
        <p:spPr bwMode="auto">
          <a:xfrm>
            <a:off x="235077" y="2895600"/>
            <a:ext cx="3844055" cy="95410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400" dirty="0" err="1" smtClean="0">
                <a:latin typeface="Courier New" panose="02070309020205020404" pitchFamily="49" charset="0"/>
                <a:cs typeface="Courier New" panose="02070309020205020404" pitchFamily="49" charset="0"/>
              </a:rPr>
              <a:t>int</a:t>
            </a:r>
            <a:r>
              <a:rPr lang="en-US" altLang="en-US" sz="1400" dirty="0" smtClean="0">
                <a:latin typeface="Courier New" panose="02070309020205020404" pitchFamily="49" charset="0"/>
                <a:cs typeface="Courier New" panose="02070309020205020404" pitchFamily="49" charset="0"/>
              </a:rPr>
              <a:t> Fact (</a:t>
            </a:r>
            <a:r>
              <a:rPr lang="en-US" altLang="en-US" sz="1400" dirty="0" err="1" smtClean="0">
                <a:latin typeface="Courier New" panose="02070309020205020404" pitchFamily="49" charset="0"/>
                <a:cs typeface="Courier New" panose="02070309020205020404" pitchFamily="49" charset="0"/>
              </a:rPr>
              <a:t>int</a:t>
            </a:r>
            <a:r>
              <a:rPr lang="en-US" altLang="en-US" sz="1400" dirty="0" smtClean="0">
                <a:latin typeface="Courier New" panose="02070309020205020404" pitchFamily="49" charset="0"/>
                <a:cs typeface="Courier New" panose="02070309020205020404" pitchFamily="49" charset="0"/>
              </a:rPr>
              <a:t> n){</a:t>
            </a:r>
          </a:p>
          <a:p>
            <a:pPr eaLnBrk="1" hangingPunct="1"/>
            <a:r>
              <a:rPr lang="en-US" altLang="en-US" sz="1400" dirty="0">
                <a:latin typeface="Courier New" panose="02070309020205020404" pitchFamily="49" charset="0"/>
                <a:cs typeface="Courier New" panose="02070309020205020404" pitchFamily="49" charset="0"/>
              </a:rPr>
              <a:t>	</a:t>
            </a:r>
            <a:r>
              <a:rPr lang="en-US" altLang="en-US" sz="1400" dirty="0" smtClean="0">
                <a:latin typeface="Courier New" panose="02070309020205020404" pitchFamily="49" charset="0"/>
                <a:cs typeface="Courier New" panose="02070309020205020404" pitchFamily="49" charset="0"/>
              </a:rPr>
              <a:t>if  (n &lt;= 1) return 1;</a:t>
            </a:r>
          </a:p>
          <a:p>
            <a:pPr eaLnBrk="1" hangingPunct="1"/>
            <a:r>
              <a:rPr lang="en-US" altLang="en-US" sz="1400" dirty="0" smtClean="0">
                <a:latin typeface="Courier New" panose="02070309020205020404" pitchFamily="49" charset="0"/>
                <a:cs typeface="Courier New" panose="02070309020205020404" pitchFamily="49" charset="0"/>
              </a:rPr>
              <a:t>	else return n * Fact (n-1);</a:t>
            </a:r>
          </a:p>
          <a:p>
            <a:pPr eaLnBrk="1" hangingPunct="1"/>
            <a:r>
              <a:rPr lang="en-US" altLang="en-US" sz="1400" dirty="0" smtClean="0">
                <a:latin typeface="Courier New" panose="02070309020205020404" pitchFamily="49" charset="0"/>
                <a:cs typeface="Courier New" panose="02070309020205020404" pitchFamily="49" charset="0"/>
              </a:rPr>
              <a:t>}</a:t>
            </a:r>
            <a:endParaRPr lang="en-US" altLang="en-US" sz="1400" dirty="0">
              <a:latin typeface="Courier New" panose="02070309020205020404" pitchFamily="49" charset="0"/>
              <a:cs typeface="Courier New" panose="02070309020205020404" pitchFamily="49" charset="0"/>
            </a:endParaRPr>
          </a:p>
        </p:txBody>
      </p:sp>
      <p:sp>
        <p:nvSpPr>
          <p:cNvPr id="8" name="Rectangle 7"/>
          <p:cNvSpPr/>
          <p:nvPr/>
        </p:nvSpPr>
        <p:spPr>
          <a:xfrm>
            <a:off x="4321372" y="3048000"/>
            <a:ext cx="4572000" cy="310854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1400" dirty="0" err="1">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Fact2(</a:t>
            </a:r>
            <a:r>
              <a:rPr lang="en-US" sz="1400" dirty="0" err="1">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n) </a:t>
            </a:r>
            <a:r>
              <a:rPr lang="en-US" sz="1400" dirty="0" smtClean="0">
                <a:latin typeface="Courier New" panose="02070309020205020404" pitchFamily="49" charset="0"/>
                <a:cs typeface="Courier New" panose="02070309020205020404" pitchFamily="49" charset="0"/>
              </a:rPr>
              <a:t>{</a:t>
            </a:r>
          </a:p>
          <a:p>
            <a:r>
              <a:rPr lang="en-US" sz="1400" dirty="0" smtClean="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std</a:t>
            </a:r>
            <a:r>
              <a:rPr lang="en-US" sz="1400" dirty="0">
                <a:latin typeface="Courier New" panose="02070309020205020404" pitchFamily="49" charset="0"/>
                <a:cs typeface="Courier New" panose="02070309020205020404" pitchFamily="49" charset="0"/>
              </a:rPr>
              <a:t>::stack&lt;</a:t>
            </a:r>
            <a:r>
              <a:rPr lang="en-US" sz="1400" dirty="0" err="1">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&gt; S</a:t>
            </a:r>
            <a:r>
              <a:rPr lang="en-US" sz="1400" dirty="0" smtClean="0">
                <a:latin typeface="Courier New" panose="02070309020205020404" pitchFamily="49" charset="0"/>
                <a:cs typeface="Courier New" panose="02070309020205020404" pitchFamily="49" charset="0"/>
              </a:rPr>
              <a:t>;</a:t>
            </a:r>
          </a:p>
          <a:p>
            <a:r>
              <a:rPr lang="en-US" sz="1400" dirty="0" smtClean="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while (n&gt;1) </a:t>
            </a:r>
            <a:r>
              <a:rPr lang="en-US" sz="1400" dirty="0" smtClean="0">
                <a:latin typeface="Courier New" panose="02070309020205020404" pitchFamily="49" charset="0"/>
                <a:cs typeface="Courier New" panose="02070309020205020404" pitchFamily="49" charset="0"/>
              </a:rPr>
              <a:t>{</a:t>
            </a:r>
          </a:p>
          <a:p>
            <a:r>
              <a:rPr lang="en-US" sz="1400" dirty="0" smtClean="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	</a:t>
            </a:r>
            <a:r>
              <a:rPr lang="en-US" sz="1400" dirty="0" smtClean="0">
                <a:latin typeface="Courier New" panose="02070309020205020404" pitchFamily="49" charset="0"/>
                <a:cs typeface="Courier New" panose="02070309020205020404" pitchFamily="49" charset="0"/>
              </a:rPr>
              <a:t>	</a:t>
            </a:r>
            <a:r>
              <a:rPr lang="en-US" sz="1400" dirty="0" err="1" smtClean="0">
                <a:latin typeface="Courier New" panose="02070309020205020404" pitchFamily="49" charset="0"/>
                <a:cs typeface="Courier New" panose="02070309020205020404" pitchFamily="49" charset="0"/>
              </a:rPr>
              <a:t>S.push</a:t>
            </a:r>
            <a:r>
              <a:rPr lang="en-US" sz="1400" dirty="0" smtClean="0">
                <a:latin typeface="Courier New" panose="02070309020205020404" pitchFamily="49" charset="0"/>
                <a:cs typeface="Courier New" panose="02070309020205020404" pitchFamily="49" charset="0"/>
              </a:rPr>
              <a:t>(n);</a:t>
            </a:r>
          </a:p>
          <a:p>
            <a:r>
              <a:rPr lang="en-US" sz="1400" dirty="0" smtClean="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n=n-1</a:t>
            </a:r>
            <a:r>
              <a:rPr lang="en-US" sz="1400" dirty="0" smtClean="0">
                <a:latin typeface="Courier New" panose="02070309020205020404" pitchFamily="49" charset="0"/>
                <a:cs typeface="Courier New" panose="02070309020205020404" pitchFamily="49" charset="0"/>
              </a:rPr>
              <a:t>;</a:t>
            </a:r>
          </a:p>
          <a:p>
            <a:r>
              <a:rPr lang="en-US" sz="1400" dirty="0" smtClean="0">
                <a:latin typeface="Courier New" panose="02070309020205020404" pitchFamily="49" charset="0"/>
                <a:cs typeface="Courier New" panose="02070309020205020404" pitchFamily="49" charset="0"/>
              </a:rPr>
              <a:t>    }</a:t>
            </a:r>
          </a:p>
          <a:p>
            <a:r>
              <a:rPr lang="en-US" sz="1400" dirty="0" smtClean="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int</a:t>
            </a:r>
            <a:r>
              <a:rPr lang="en-US" sz="1400" dirty="0">
                <a:latin typeface="Courier New" panose="02070309020205020404" pitchFamily="49" charset="0"/>
                <a:cs typeface="Courier New" panose="02070309020205020404" pitchFamily="49" charset="0"/>
              </a:rPr>
              <a:t> Fact = 1</a:t>
            </a:r>
            <a:r>
              <a:rPr lang="en-US" sz="1400" dirty="0" smtClean="0">
                <a:latin typeface="Courier New" panose="02070309020205020404" pitchFamily="49" charset="0"/>
                <a:cs typeface="Courier New" panose="02070309020205020404" pitchFamily="49" charset="0"/>
              </a:rPr>
              <a:t>;</a:t>
            </a:r>
          </a:p>
          <a:p>
            <a:r>
              <a:rPr lang="en-US" sz="1400" dirty="0" smtClean="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while(!</a:t>
            </a:r>
            <a:r>
              <a:rPr lang="en-US" sz="1400" dirty="0" err="1">
                <a:latin typeface="Courier New" panose="02070309020205020404" pitchFamily="49" charset="0"/>
                <a:cs typeface="Courier New" panose="02070309020205020404" pitchFamily="49" charset="0"/>
              </a:rPr>
              <a:t>S.empty</a:t>
            </a:r>
            <a:r>
              <a:rPr lang="en-US" sz="1400" dirty="0" smtClean="0">
                <a:latin typeface="Courier New" panose="02070309020205020404" pitchFamily="49" charset="0"/>
                <a:cs typeface="Courier New" panose="02070309020205020404" pitchFamily="49" charset="0"/>
              </a:rPr>
              <a:t>()){</a:t>
            </a:r>
          </a:p>
          <a:p>
            <a:r>
              <a:rPr lang="en-US" sz="1400" dirty="0" smtClean="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	n=</a:t>
            </a:r>
            <a:r>
              <a:rPr lang="en-US" sz="1400" dirty="0" err="1">
                <a:latin typeface="Courier New" panose="02070309020205020404" pitchFamily="49" charset="0"/>
                <a:cs typeface="Courier New" panose="02070309020205020404" pitchFamily="49" charset="0"/>
              </a:rPr>
              <a:t>S.top</a:t>
            </a:r>
            <a:r>
              <a:rPr lang="en-US" sz="1400" dirty="0" smtClean="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a:t>
            </a:r>
            <a:r>
              <a:rPr lang="en-US" sz="1400" dirty="0" smtClean="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S.pop</a:t>
            </a:r>
            <a:r>
              <a:rPr lang="en-US" sz="1400" dirty="0" smtClean="0">
                <a:latin typeface="Courier New" panose="02070309020205020404" pitchFamily="49" charset="0"/>
                <a:cs typeface="Courier New" panose="02070309020205020404" pitchFamily="49" charset="0"/>
              </a:rPr>
              <a:t>();</a:t>
            </a:r>
          </a:p>
          <a:p>
            <a:r>
              <a:rPr lang="en-US" sz="1400" dirty="0" smtClean="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	Fact </a:t>
            </a:r>
            <a:r>
              <a:rPr lang="en-US" sz="1400" dirty="0" smtClean="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n </a:t>
            </a:r>
            <a:r>
              <a:rPr lang="en-US" sz="1400" dirty="0" smtClean="0">
                <a:latin typeface="Courier New" panose="02070309020205020404" pitchFamily="49" charset="0"/>
                <a:cs typeface="Courier New" panose="02070309020205020404" pitchFamily="49" charset="0"/>
              </a:rPr>
              <a:t>;</a:t>
            </a:r>
          </a:p>
          <a:p>
            <a:r>
              <a:rPr lang="en-US" sz="1400" dirty="0" smtClean="0">
                <a:latin typeface="Courier New" panose="02070309020205020404" pitchFamily="49" charset="0"/>
                <a:cs typeface="Courier New" panose="02070309020205020404" pitchFamily="49" charset="0"/>
              </a:rPr>
              <a:t>    }</a:t>
            </a:r>
          </a:p>
          <a:p>
            <a:r>
              <a:rPr lang="en-US" sz="1400" dirty="0" smtClean="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return Fact;					  	</a:t>
            </a:r>
            <a:endParaRPr lang="en-US" sz="1400" dirty="0" smtClean="0">
              <a:latin typeface="Courier New" panose="02070309020205020404" pitchFamily="49" charset="0"/>
              <a:cs typeface="Courier New" panose="02070309020205020404" pitchFamily="49" charset="0"/>
            </a:endParaRPr>
          </a:p>
          <a:p>
            <a:r>
              <a:rPr lang="en-US" sz="1400" dirty="0" smtClean="0">
                <a:latin typeface="Courier New" panose="02070309020205020404" pitchFamily="49" charset="0"/>
                <a:cs typeface="Courier New" panose="02070309020205020404" pitchFamily="49" charset="0"/>
              </a:rPr>
              <a:t>}</a:t>
            </a:r>
            <a:endParaRPr lang="en-US" sz="1400" dirty="0">
              <a:latin typeface="Courier New" panose="02070309020205020404" pitchFamily="49" charset="0"/>
              <a:cs typeface="Courier New" panose="02070309020205020404" pitchFamily="49" charset="0"/>
            </a:endParaRPr>
          </a:p>
        </p:txBody>
      </p:sp>
      <p:sp>
        <p:nvSpPr>
          <p:cNvPr id="9" name="Text Placeholder 4"/>
          <p:cNvSpPr>
            <a:spLocks noGrp="1"/>
          </p:cNvSpPr>
          <p:nvPr>
            <p:ph type="body" sz="quarter" idx="13"/>
          </p:nvPr>
        </p:nvSpPr>
        <p:spPr>
          <a:xfrm>
            <a:off x="234951" y="963168"/>
            <a:ext cx="8674100" cy="1399032"/>
          </a:xfrm>
        </p:spPr>
        <p:txBody>
          <a:bodyPr>
            <a:normAutofit lnSpcReduction="10000"/>
          </a:bodyPr>
          <a:lstStyle/>
          <a:p>
            <a:r>
              <a:rPr lang="en-US" dirty="0" err="1" smtClean="0"/>
              <a:t>Giai</a:t>
            </a:r>
            <a:r>
              <a:rPr lang="en-US" dirty="0" smtClean="0"/>
              <a:t> </a:t>
            </a:r>
            <a:r>
              <a:rPr lang="en-US" dirty="0" err="1" smtClean="0"/>
              <a:t>đoạn</a:t>
            </a:r>
            <a:r>
              <a:rPr lang="en-US" dirty="0" smtClean="0"/>
              <a:t> </a:t>
            </a:r>
            <a:r>
              <a:rPr lang="en-US" dirty="0" err="1" smtClean="0"/>
              <a:t>đệ</a:t>
            </a:r>
            <a:r>
              <a:rPr lang="en-US" dirty="0" smtClean="0"/>
              <a:t> </a:t>
            </a:r>
            <a:r>
              <a:rPr lang="en-US" dirty="0" err="1" smtClean="0"/>
              <a:t>quy</a:t>
            </a:r>
            <a:r>
              <a:rPr lang="en-US" dirty="0" smtClean="0"/>
              <a:t>: </a:t>
            </a:r>
            <a:r>
              <a:rPr lang="en-US" dirty="0" err="1" smtClean="0"/>
              <a:t>Lưu</a:t>
            </a:r>
            <a:r>
              <a:rPr lang="en-US" dirty="0" smtClean="0"/>
              <a:t> </a:t>
            </a:r>
            <a:r>
              <a:rPr lang="en-US" dirty="0" err="1" smtClean="0"/>
              <a:t>thông</a:t>
            </a:r>
            <a:r>
              <a:rPr lang="en-US" dirty="0" smtClean="0"/>
              <a:t> tin </a:t>
            </a:r>
            <a:r>
              <a:rPr lang="en-US" dirty="0" err="1" smtClean="0"/>
              <a:t>trung</a:t>
            </a:r>
            <a:r>
              <a:rPr lang="en-US" dirty="0" smtClean="0"/>
              <a:t> </a:t>
            </a:r>
            <a:r>
              <a:rPr lang="en-US" dirty="0" err="1"/>
              <a:t>gian</a:t>
            </a:r>
            <a:r>
              <a:rPr lang="en-US" dirty="0"/>
              <a:t> ở </a:t>
            </a:r>
            <a:r>
              <a:rPr lang="en-US" dirty="0" err="1"/>
              <a:t>từng</a:t>
            </a:r>
            <a:r>
              <a:rPr lang="en-US" dirty="0"/>
              <a:t> </a:t>
            </a:r>
            <a:r>
              <a:rPr lang="en-US" dirty="0" err="1"/>
              <a:t>bước</a:t>
            </a:r>
            <a:r>
              <a:rPr lang="en-US" dirty="0"/>
              <a:t> </a:t>
            </a:r>
            <a:r>
              <a:rPr lang="en-US" dirty="0" err="1"/>
              <a:t>vào</a:t>
            </a:r>
            <a:r>
              <a:rPr lang="en-US" dirty="0"/>
              <a:t> </a:t>
            </a:r>
            <a:r>
              <a:rPr lang="en-US" dirty="0" smtClean="0"/>
              <a:t>Stack</a:t>
            </a:r>
          </a:p>
          <a:p>
            <a:r>
              <a:rPr lang="en-US" dirty="0" err="1" smtClean="0"/>
              <a:t>Gặp</a:t>
            </a:r>
            <a:r>
              <a:rPr lang="en-US" dirty="0" smtClean="0"/>
              <a:t> </a:t>
            </a:r>
            <a:r>
              <a:rPr lang="en-US" dirty="0" err="1" smtClean="0"/>
              <a:t>trường</a:t>
            </a:r>
            <a:r>
              <a:rPr lang="en-US" dirty="0" smtClean="0"/>
              <a:t> </a:t>
            </a:r>
            <a:r>
              <a:rPr lang="en-US" dirty="0" err="1" smtClean="0"/>
              <a:t>hợp</a:t>
            </a:r>
            <a:r>
              <a:rPr lang="en-US" dirty="0" smtClean="0"/>
              <a:t> </a:t>
            </a:r>
            <a:r>
              <a:rPr lang="en-US" dirty="0" err="1" smtClean="0"/>
              <a:t>cơ</a:t>
            </a:r>
            <a:r>
              <a:rPr lang="en-US" dirty="0" smtClean="0"/>
              <a:t> </a:t>
            </a:r>
            <a:r>
              <a:rPr lang="en-US" dirty="0" err="1" smtClean="0"/>
              <a:t>sở</a:t>
            </a:r>
            <a:r>
              <a:rPr lang="en-US" dirty="0" smtClean="0"/>
              <a:t> </a:t>
            </a:r>
            <a:r>
              <a:rPr lang="en-US" dirty="0" smtClean="0">
                <a:sym typeface="Wingdings" panose="05000000000000000000" pitchFamily="2" charset="2"/>
              </a:rPr>
              <a:t> </a:t>
            </a:r>
            <a:r>
              <a:rPr lang="en-US" dirty="0" err="1" smtClean="0">
                <a:sym typeface="Wingdings" panose="05000000000000000000" pitchFamily="2" charset="2"/>
              </a:rPr>
              <a:t>chuyển</a:t>
            </a:r>
            <a:r>
              <a:rPr lang="en-US" dirty="0" smtClean="0">
                <a:sym typeface="Wingdings" panose="05000000000000000000" pitchFamily="2" charset="2"/>
              </a:rPr>
              <a:t> sang GĐ quay </a:t>
            </a:r>
            <a:r>
              <a:rPr lang="en-US" dirty="0" err="1" smtClean="0">
                <a:sym typeface="Wingdings" panose="05000000000000000000" pitchFamily="2" charset="2"/>
              </a:rPr>
              <a:t>lui</a:t>
            </a:r>
            <a:endParaRPr lang="en-US" dirty="0" smtClean="0"/>
          </a:p>
          <a:p>
            <a:r>
              <a:rPr lang="en-US" dirty="0" err="1" smtClean="0"/>
              <a:t>Giai</a:t>
            </a:r>
            <a:r>
              <a:rPr lang="en-US" dirty="0" smtClean="0"/>
              <a:t> </a:t>
            </a:r>
            <a:r>
              <a:rPr lang="en-US" dirty="0" err="1" smtClean="0"/>
              <a:t>đoạn</a:t>
            </a:r>
            <a:r>
              <a:rPr lang="en-US" dirty="0" smtClean="0"/>
              <a:t> quay </a:t>
            </a:r>
            <a:r>
              <a:rPr lang="en-US" dirty="0" err="1" smtClean="0"/>
              <a:t>lui</a:t>
            </a:r>
            <a:r>
              <a:rPr lang="en-US" dirty="0" smtClean="0"/>
              <a:t>: </a:t>
            </a:r>
            <a:r>
              <a:rPr lang="en-US" dirty="0" err="1" smtClean="0"/>
              <a:t>Khôi</a:t>
            </a:r>
            <a:r>
              <a:rPr lang="en-US" dirty="0" smtClean="0"/>
              <a:t> </a:t>
            </a:r>
            <a:r>
              <a:rPr lang="en-US" dirty="0" err="1" smtClean="0"/>
              <a:t>phục</a:t>
            </a:r>
            <a:r>
              <a:rPr lang="en-US" dirty="0" smtClean="0"/>
              <a:t> </a:t>
            </a:r>
            <a:r>
              <a:rPr lang="en-US" dirty="0" err="1" smtClean="0"/>
              <a:t>lại</a:t>
            </a:r>
            <a:r>
              <a:rPr lang="en-US" dirty="0" smtClean="0"/>
              <a:t> </a:t>
            </a:r>
            <a:r>
              <a:rPr lang="en-US" dirty="0" err="1" smtClean="0"/>
              <a:t>thông</a:t>
            </a:r>
            <a:r>
              <a:rPr lang="en-US" dirty="0" smtClean="0"/>
              <a:t> tin ở </a:t>
            </a:r>
            <a:r>
              <a:rPr lang="en-US" dirty="0" err="1" smtClean="0"/>
              <a:t>thời</a:t>
            </a:r>
            <a:r>
              <a:rPr lang="en-US" dirty="0" smtClean="0"/>
              <a:t> </a:t>
            </a:r>
            <a:r>
              <a:rPr lang="en-US" dirty="0" err="1" smtClean="0"/>
              <a:t>điểm</a:t>
            </a:r>
            <a:r>
              <a:rPr lang="en-US" dirty="0" smtClean="0"/>
              <a:t> </a:t>
            </a:r>
            <a:r>
              <a:rPr lang="en-US" dirty="0" err="1" smtClean="0"/>
              <a:t>trước</a:t>
            </a:r>
            <a:r>
              <a:rPr lang="en-US" dirty="0" smtClean="0"/>
              <a:t> </a:t>
            </a:r>
            <a:r>
              <a:rPr lang="en-US" dirty="0" err="1" smtClean="0"/>
              <a:t>đó</a:t>
            </a:r>
            <a:r>
              <a:rPr lang="en-US" dirty="0" smtClean="0"/>
              <a:t> </a:t>
            </a:r>
            <a:r>
              <a:rPr lang="en-US" dirty="0" err="1" smtClean="0"/>
              <a:t>bằng</a:t>
            </a:r>
            <a:r>
              <a:rPr lang="en-US" dirty="0" smtClean="0"/>
              <a:t> </a:t>
            </a:r>
            <a:r>
              <a:rPr lang="en-US" dirty="0" err="1" smtClean="0"/>
              <a:t>cách</a:t>
            </a:r>
            <a:r>
              <a:rPr lang="en-US" dirty="0" smtClean="0"/>
              <a:t> </a:t>
            </a:r>
            <a:r>
              <a:rPr lang="en-US" dirty="0" err="1" smtClean="0"/>
              <a:t>lấy</a:t>
            </a:r>
            <a:r>
              <a:rPr lang="en-US" dirty="0" smtClean="0"/>
              <a:t> </a:t>
            </a:r>
            <a:r>
              <a:rPr lang="en-US" dirty="0" err="1" smtClean="0"/>
              <a:t>từ</a:t>
            </a:r>
            <a:r>
              <a:rPr lang="en-US" dirty="0" smtClean="0"/>
              <a:t> </a:t>
            </a:r>
            <a:r>
              <a:rPr lang="en-US" dirty="0" err="1" smtClean="0"/>
              <a:t>đỉnh</a:t>
            </a:r>
            <a:r>
              <a:rPr lang="en-US" dirty="0" smtClean="0"/>
              <a:t> Stack</a:t>
            </a:r>
            <a:endParaRPr lang="en-US" dirty="0"/>
          </a:p>
          <a:p>
            <a:pPr lvl="1"/>
            <a:endParaRPr lang="en-US" dirty="0"/>
          </a:p>
        </p:txBody>
      </p:sp>
      <p:cxnSp>
        <p:nvCxnSpPr>
          <p:cNvPr id="10" name="Straight Arrow Connector 9"/>
          <p:cNvCxnSpPr/>
          <p:nvPr/>
        </p:nvCxnSpPr>
        <p:spPr>
          <a:xfrm flipH="1">
            <a:off x="4355675" y="3672784"/>
            <a:ext cx="460667" cy="94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817693" y="3786470"/>
            <a:ext cx="1955985" cy="369332"/>
          </a:xfrm>
          <a:prstGeom prst="rect">
            <a:avLst/>
          </a:prstGeom>
          <a:noFill/>
        </p:spPr>
        <p:txBody>
          <a:bodyPr wrap="none" rtlCol="0">
            <a:spAutoFit/>
          </a:bodyPr>
          <a:lstStyle/>
          <a:p>
            <a:r>
              <a:rPr lang="en-US" dirty="0" smtClean="0"/>
              <a:t>(4)</a:t>
            </a:r>
            <a:r>
              <a:rPr lang="en-US" dirty="0" err="1" smtClean="0"/>
              <a:t>Lặp</a:t>
            </a:r>
            <a:r>
              <a:rPr lang="en-US" dirty="0" smtClean="0"/>
              <a:t> </a:t>
            </a:r>
            <a:r>
              <a:rPr lang="en-US" dirty="0" err="1" smtClean="0"/>
              <a:t>lại</a:t>
            </a:r>
            <a:r>
              <a:rPr lang="en-US" dirty="0" smtClean="0"/>
              <a:t> </a:t>
            </a:r>
            <a:r>
              <a:rPr lang="en-US" dirty="0" err="1" smtClean="0"/>
              <a:t>quá</a:t>
            </a:r>
            <a:r>
              <a:rPr lang="en-US" dirty="0" smtClean="0"/>
              <a:t> </a:t>
            </a:r>
            <a:r>
              <a:rPr lang="en-US" dirty="0" err="1" smtClean="0"/>
              <a:t>trình</a:t>
            </a:r>
            <a:endParaRPr lang="en-US" dirty="0"/>
          </a:p>
        </p:txBody>
      </p:sp>
      <p:cxnSp>
        <p:nvCxnSpPr>
          <p:cNvPr id="12" name="Straight Arrow Connector 11"/>
          <p:cNvCxnSpPr/>
          <p:nvPr/>
        </p:nvCxnSpPr>
        <p:spPr>
          <a:xfrm flipH="1">
            <a:off x="4419600" y="4482003"/>
            <a:ext cx="394729" cy="240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714551" y="4288791"/>
            <a:ext cx="1775038" cy="369332"/>
          </a:xfrm>
          <a:prstGeom prst="rect">
            <a:avLst/>
          </a:prstGeom>
          <a:noFill/>
        </p:spPr>
        <p:txBody>
          <a:bodyPr wrap="none" rtlCol="0">
            <a:spAutoFit/>
          </a:bodyPr>
          <a:lstStyle/>
          <a:p>
            <a:r>
              <a:rPr lang="en-US" dirty="0" smtClean="0"/>
              <a:t>(5)</a:t>
            </a:r>
            <a:r>
              <a:rPr lang="en-US" dirty="0" err="1" smtClean="0"/>
              <a:t>Xử</a:t>
            </a:r>
            <a:r>
              <a:rPr lang="en-US" dirty="0" smtClean="0"/>
              <a:t> </a:t>
            </a:r>
            <a:r>
              <a:rPr lang="en-US" dirty="0" err="1" smtClean="0"/>
              <a:t>lý</a:t>
            </a:r>
            <a:r>
              <a:rPr lang="en-US" dirty="0" smtClean="0"/>
              <a:t> TH </a:t>
            </a:r>
            <a:r>
              <a:rPr lang="en-US" dirty="0" err="1" smtClean="0"/>
              <a:t>cơ</a:t>
            </a:r>
            <a:r>
              <a:rPr lang="en-US" dirty="0" smtClean="0"/>
              <a:t> </a:t>
            </a:r>
            <a:r>
              <a:rPr lang="en-US" dirty="0" err="1" smtClean="0"/>
              <a:t>sở</a:t>
            </a:r>
            <a:endParaRPr lang="en-US" dirty="0"/>
          </a:p>
        </p:txBody>
      </p:sp>
      <p:cxnSp>
        <p:nvCxnSpPr>
          <p:cNvPr id="14" name="Straight Arrow Connector 13"/>
          <p:cNvCxnSpPr/>
          <p:nvPr/>
        </p:nvCxnSpPr>
        <p:spPr>
          <a:xfrm>
            <a:off x="6395121" y="4966341"/>
            <a:ext cx="472262" cy="1349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814221" y="4907481"/>
            <a:ext cx="2390398" cy="369332"/>
          </a:xfrm>
          <a:prstGeom prst="rect">
            <a:avLst/>
          </a:prstGeom>
          <a:noFill/>
        </p:spPr>
        <p:txBody>
          <a:bodyPr wrap="none" rtlCol="0">
            <a:spAutoFit/>
          </a:bodyPr>
          <a:lstStyle/>
          <a:p>
            <a:r>
              <a:rPr lang="en-US" dirty="0" smtClean="0"/>
              <a:t>(6) </a:t>
            </a:r>
            <a:r>
              <a:rPr lang="en-US" dirty="0" err="1" smtClean="0"/>
              <a:t>Khôi</a:t>
            </a:r>
            <a:r>
              <a:rPr lang="en-US" dirty="0" smtClean="0"/>
              <a:t> </a:t>
            </a:r>
            <a:r>
              <a:rPr lang="en-US" dirty="0" err="1" smtClean="0"/>
              <a:t>phục</a:t>
            </a:r>
            <a:r>
              <a:rPr lang="en-US" dirty="0" smtClean="0"/>
              <a:t> </a:t>
            </a:r>
            <a:r>
              <a:rPr lang="en-US" dirty="0" err="1" smtClean="0"/>
              <a:t>thông</a:t>
            </a:r>
            <a:r>
              <a:rPr lang="en-US" dirty="0" smtClean="0"/>
              <a:t> tin </a:t>
            </a:r>
            <a:endParaRPr lang="en-US" dirty="0"/>
          </a:p>
        </p:txBody>
      </p:sp>
      <p:cxnSp>
        <p:nvCxnSpPr>
          <p:cNvPr id="16" name="Straight Arrow Connector 15"/>
          <p:cNvCxnSpPr/>
          <p:nvPr/>
        </p:nvCxnSpPr>
        <p:spPr>
          <a:xfrm flipV="1">
            <a:off x="5976021" y="3366226"/>
            <a:ext cx="83820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819943" y="3086520"/>
            <a:ext cx="1812997" cy="369332"/>
          </a:xfrm>
          <a:prstGeom prst="rect">
            <a:avLst/>
          </a:prstGeom>
          <a:noFill/>
        </p:spPr>
        <p:txBody>
          <a:bodyPr wrap="none" rtlCol="0">
            <a:spAutoFit/>
          </a:bodyPr>
          <a:lstStyle/>
          <a:p>
            <a:r>
              <a:rPr lang="en-US" dirty="0" smtClean="0"/>
              <a:t>(1) </a:t>
            </a:r>
            <a:r>
              <a:rPr lang="en-US" dirty="0" err="1" smtClean="0"/>
              <a:t>Khác</a:t>
            </a:r>
            <a:r>
              <a:rPr lang="en-US" dirty="0" smtClean="0"/>
              <a:t> TH </a:t>
            </a:r>
            <a:r>
              <a:rPr lang="en-US" dirty="0" err="1" smtClean="0"/>
              <a:t>cơ</a:t>
            </a:r>
            <a:r>
              <a:rPr lang="en-US" dirty="0" smtClean="0"/>
              <a:t> </a:t>
            </a:r>
            <a:r>
              <a:rPr lang="en-US" dirty="0" err="1" smtClean="0"/>
              <a:t>sở</a:t>
            </a:r>
            <a:endParaRPr lang="en-US" dirty="0"/>
          </a:p>
        </p:txBody>
      </p:sp>
      <p:cxnSp>
        <p:nvCxnSpPr>
          <p:cNvPr id="18" name="Straight Arrow Connector 17"/>
          <p:cNvCxnSpPr/>
          <p:nvPr/>
        </p:nvCxnSpPr>
        <p:spPr>
          <a:xfrm flipV="1">
            <a:off x="6381664" y="3667647"/>
            <a:ext cx="485719" cy="199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879647" y="3494372"/>
            <a:ext cx="1935145" cy="369332"/>
          </a:xfrm>
          <a:prstGeom prst="rect">
            <a:avLst/>
          </a:prstGeom>
          <a:noFill/>
        </p:spPr>
        <p:txBody>
          <a:bodyPr wrap="none" rtlCol="0">
            <a:spAutoFit/>
          </a:bodyPr>
          <a:lstStyle/>
          <a:p>
            <a:r>
              <a:rPr lang="en-US" dirty="0" smtClean="0"/>
              <a:t>(2) </a:t>
            </a:r>
            <a:r>
              <a:rPr lang="en-US" dirty="0" err="1" smtClean="0"/>
              <a:t>Lưu</a:t>
            </a:r>
            <a:r>
              <a:rPr lang="en-US" dirty="0" smtClean="0"/>
              <a:t> </a:t>
            </a:r>
            <a:r>
              <a:rPr lang="en-US" dirty="0" err="1" smtClean="0"/>
              <a:t>thông</a:t>
            </a:r>
            <a:r>
              <a:rPr lang="en-US" dirty="0" smtClean="0"/>
              <a:t> tin </a:t>
            </a:r>
            <a:r>
              <a:rPr lang="en-US" i="1" dirty="0" smtClean="0"/>
              <a:t>n</a:t>
            </a:r>
            <a:endParaRPr lang="en-US" i="1" dirty="0"/>
          </a:p>
        </p:txBody>
      </p:sp>
      <p:sp>
        <p:nvSpPr>
          <p:cNvPr id="20" name="TextBox 19"/>
          <p:cNvSpPr txBox="1"/>
          <p:nvPr/>
        </p:nvSpPr>
        <p:spPr>
          <a:xfrm>
            <a:off x="6951306" y="3943105"/>
            <a:ext cx="2012089" cy="369332"/>
          </a:xfrm>
          <a:prstGeom prst="rect">
            <a:avLst/>
          </a:prstGeom>
          <a:noFill/>
        </p:spPr>
        <p:txBody>
          <a:bodyPr wrap="none" rtlCol="0">
            <a:spAutoFit/>
          </a:bodyPr>
          <a:lstStyle/>
          <a:p>
            <a:r>
              <a:rPr lang="en-US" dirty="0" smtClean="0"/>
              <a:t>(3)Thu </a:t>
            </a:r>
            <a:r>
              <a:rPr lang="en-US" dirty="0" err="1" smtClean="0"/>
              <a:t>hẹp</a:t>
            </a:r>
            <a:r>
              <a:rPr lang="en-US" dirty="0" smtClean="0"/>
              <a:t> </a:t>
            </a:r>
            <a:r>
              <a:rPr lang="en-US" dirty="0" err="1" smtClean="0"/>
              <a:t>phạm</a:t>
            </a:r>
            <a:r>
              <a:rPr lang="en-US" dirty="0" smtClean="0"/>
              <a:t> vi</a:t>
            </a:r>
            <a:endParaRPr lang="en-US" dirty="0"/>
          </a:p>
        </p:txBody>
      </p:sp>
      <p:cxnSp>
        <p:nvCxnSpPr>
          <p:cNvPr id="21" name="Straight Arrow Connector 20"/>
          <p:cNvCxnSpPr/>
          <p:nvPr/>
        </p:nvCxnSpPr>
        <p:spPr>
          <a:xfrm>
            <a:off x="6172200" y="4086611"/>
            <a:ext cx="762000" cy="82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ight Arrow 21"/>
          <p:cNvSpPr/>
          <p:nvPr/>
        </p:nvSpPr>
        <p:spPr>
          <a:xfrm>
            <a:off x="3746857" y="3194986"/>
            <a:ext cx="533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0432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uiExpand="1" build="p"/>
      <p:bldP spid="11" grpId="0"/>
      <p:bldP spid="13" grpId="0"/>
      <p:bldP spid="15" grpId="0"/>
      <p:bldP spid="17" grpId="0"/>
      <p:bldP spid="19" grpId="0"/>
      <p:bldP spid="20" grpId="0"/>
      <p:bldP spid="2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6559421" y="6572128"/>
            <a:ext cx="2057400" cy="365125"/>
          </a:xfrm>
        </p:spPr>
        <p:txBody>
          <a:bodyPr/>
          <a:lstStyle/>
          <a:p>
            <a:fld id="{BC24317B-5122-4A99-A6E9-FA23C146A7E0}" type="slidenum">
              <a:rPr lang="en-US" smtClean="0"/>
              <a:pPr/>
              <a:t>29</a:t>
            </a:fld>
            <a:endParaRPr lang="en-US"/>
          </a:p>
        </p:txBody>
      </p:sp>
      <p:sp>
        <p:nvSpPr>
          <p:cNvPr id="4" name="Title 3"/>
          <p:cNvSpPr>
            <a:spLocks noGrp="1"/>
          </p:cNvSpPr>
          <p:nvPr>
            <p:ph type="title"/>
          </p:nvPr>
        </p:nvSpPr>
        <p:spPr/>
        <p:txBody>
          <a:bodyPr/>
          <a:lstStyle/>
          <a:p>
            <a:r>
              <a:rPr lang="en-US" dirty="0" err="1"/>
              <a:t>Khử</a:t>
            </a:r>
            <a:r>
              <a:rPr lang="en-US" dirty="0"/>
              <a:t> </a:t>
            </a:r>
            <a:r>
              <a:rPr lang="en-US" dirty="0" err="1"/>
              <a:t>đệ</a:t>
            </a:r>
            <a:r>
              <a:rPr lang="en-US" dirty="0"/>
              <a:t> </a:t>
            </a:r>
            <a:r>
              <a:rPr lang="en-US" dirty="0" err="1"/>
              <a:t>quy</a:t>
            </a:r>
            <a:r>
              <a:rPr lang="en-US" dirty="0"/>
              <a:t> </a:t>
            </a:r>
            <a:r>
              <a:rPr lang="en-US" dirty="0" err="1"/>
              <a:t>bằng</a:t>
            </a:r>
            <a:r>
              <a:rPr lang="en-US" dirty="0"/>
              <a:t> Stack</a:t>
            </a:r>
          </a:p>
        </p:txBody>
      </p:sp>
      <p:sp>
        <p:nvSpPr>
          <p:cNvPr id="6" name="Rectangle 5"/>
          <p:cNvSpPr/>
          <p:nvPr/>
        </p:nvSpPr>
        <p:spPr>
          <a:xfrm>
            <a:off x="322825" y="875960"/>
            <a:ext cx="8915400" cy="1354217"/>
          </a:xfrm>
          <a:prstGeom prst="rect">
            <a:avLst/>
          </a:prstGeom>
        </p:spPr>
        <p:txBody>
          <a:bodyPr wrap="square">
            <a:spAutoFit/>
          </a:bodyPr>
          <a:lstStyle/>
          <a:p>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USCLN(</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m,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n) {</a:t>
            </a:r>
          </a:p>
          <a:p>
            <a:pPr lvl="1"/>
            <a:r>
              <a:rPr lang="en-US" sz="1600" b="1" dirty="0">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 (n == 0) return m</a:t>
            </a:r>
            <a:r>
              <a:rPr lang="en-US" sz="1600" dirty="0" smtClean="0">
                <a:latin typeface="Courier New" panose="02070309020205020404" pitchFamily="49" charset="0"/>
                <a:cs typeface="Courier New" panose="02070309020205020404" pitchFamily="49" charset="0"/>
              </a:rPr>
              <a:t>; </a:t>
            </a:r>
            <a:endParaRPr lang="en-US" sz="1600" dirty="0">
              <a:latin typeface="Courier New" panose="02070309020205020404" pitchFamily="49" charset="0"/>
              <a:cs typeface="Courier New" panose="02070309020205020404" pitchFamily="49" charset="0"/>
            </a:endParaRPr>
          </a:p>
          <a:p>
            <a:pPr lvl="1"/>
            <a:r>
              <a:rPr lang="en-US" sz="1600" b="1" dirty="0">
                <a:latin typeface="Courier New" panose="02070309020205020404" pitchFamily="49" charset="0"/>
                <a:cs typeface="Courier New" panose="02070309020205020404" pitchFamily="49" charset="0"/>
              </a:rPr>
              <a:t>else</a:t>
            </a:r>
            <a:r>
              <a:rPr lang="en-US" sz="1600" dirty="0">
                <a:latin typeface="Courier New" panose="02070309020205020404" pitchFamily="49" charset="0"/>
                <a:cs typeface="Courier New" panose="02070309020205020404" pitchFamily="49" charset="0"/>
              </a:rPr>
              <a:t> return USCLN(n, m % n</a:t>
            </a:r>
            <a:r>
              <a:rPr lang="en-US" sz="1600" dirty="0" smtClean="0">
                <a:latin typeface="Courier New" panose="02070309020205020404" pitchFamily="49" charset="0"/>
                <a:cs typeface="Courier New" panose="02070309020205020404" pitchFamily="49" charset="0"/>
              </a:rPr>
              <a:t>); </a:t>
            </a:r>
          </a:p>
          <a:p>
            <a:pPr lvl="1"/>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				  			 </a:t>
            </a:r>
            <a:endParaRPr lang="en-US" sz="16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a:t>
            </a:r>
          </a:p>
        </p:txBody>
      </p:sp>
      <p:sp>
        <p:nvSpPr>
          <p:cNvPr id="7" name="Rectangle 6"/>
          <p:cNvSpPr/>
          <p:nvPr/>
        </p:nvSpPr>
        <p:spPr>
          <a:xfrm>
            <a:off x="4656272" y="947441"/>
            <a:ext cx="4381328" cy="830997"/>
          </a:xfrm>
          <a:prstGeom prst="rect">
            <a:avLst/>
          </a:prstGeom>
        </p:spPr>
        <p:txBody>
          <a:bodyPr wrap="none">
            <a:spAutoFit/>
          </a:bodyPr>
          <a:lstStyle/>
          <a:p>
            <a:r>
              <a:rPr lang="en-US" sz="1600" dirty="0">
                <a:latin typeface="Courier New" panose="02070309020205020404" pitchFamily="49" charset="0"/>
                <a:cs typeface="Courier New" panose="02070309020205020404" pitchFamily="49" charset="0"/>
              </a:rPr>
              <a:t>// if n==0: USCLN = </a:t>
            </a:r>
            <a:r>
              <a:rPr lang="en-US" sz="1600" dirty="0" smtClean="0">
                <a:latin typeface="Courier New" panose="02070309020205020404" pitchFamily="49" charset="0"/>
                <a:cs typeface="Courier New" panose="02070309020205020404" pitchFamily="49" charset="0"/>
              </a:rPr>
              <a:t>m;</a:t>
            </a:r>
          </a:p>
          <a:p>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else { </a:t>
            </a:r>
            <a:r>
              <a:rPr lang="en-US" sz="1600" dirty="0">
                <a:latin typeface="Courier New" panose="02070309020205020404" pitchFamily="49" charset="0"/>
                <a:cs typeface="Courier New" panose="02070309020205020404" pitchFamily="49" charset="0"/>
              </a:rPr>
              <a:t>temp = </a:t>
            </a:r>
            <a:r>
              <a:rPr lang="en-US" sz="1600" dirty="0" err="1">
                <a:latin typeface="Courier New" panose="02070309020205020404" pitchFamily="49" charset="0"/>
                <a:cs typeface="Courier New" panose="02070309020205020404" pitchFamily="49" charset="0"/>
              </a:rPr>
              <a:t>m%n</a:t>
            </a:r>
            <a:r>
              <a:rPr lang="en-US" sz="1600" dirty="0">
                <a:latin typeface="Courier New" panose="02070309020205020404" pitchFamily="49" charset="0"/>
                <a:cs typeface="Courier New" panose="02070309020205020404" pitchFamily="49" charset="0"/>
              </a:rPr>
              <a:t>; m=n; </a:t>
            </a:r>
            <a:r>
              <a:rPr lang="en-US" sz="1600" dirty="0" smtClean="0">
                <a:latin typeface="Courier New" panose="02070309020205020404" pitchFamily="49" charset="0"/>
                <a:cs typeface="Courier New" panose="02070309020205020404" pitchFamily="49" charset="0"/>
              </a:rPr>
              <a:t>n=temp;</a:t>
            </a:r>
          </a:p>
          <a:p>
            <a:r>
              <a:rPr lang="en-US" sz="1600" dirty="0">
                <a:latin typeface="Courier New" panose="02070309020205020404" pitchFamily="49" charset="0"/>
                <a:cs typeface="Courier New" panose="02070309020205020404" pitchFamily="49" charset="0"/>
              </a:rPr>
              <a:t>// call again USCLN(</a:t>
            </a:r>
            <a:r>
              <a:rPr lang="en-US" sz="1600" dirty="0" err="1">
                <a:latin typeface="Courier New" panose="02070309020205020404" pitchFamily="49" charset="0"/>
                <a:cs typeface="Courier New" panose="02070309020205020404" pitchFamily="49" charset="0"/>
              </a:rPr>
              <a:t>m,n</a:t>
            </a:r>
            <a:r>
              <a:rPr lang="en-US" sz="1600" dirty="0" smtClean="0">
                <a:latin typeface="Courier New" panose="02070309020205020404" pitchFamily="49" charset="0"/>
                <a:cs typeface="Courier New" panose="02070309020205020404" pitchFamily="49" charset="0"/>
              </a:rPr>
              <a:t>); }</a:t>
            </a:r>
            <a:endParaRPr lang="en-US" sz="1600" dirty="0"/>
          </a:p>
        </p:txBody>
      </p:sp>
      <p:sp>
        <p:nvSpPr>
          <p:cNvPr id="9" name="Rectangle 8"/>
          <p:cNvSpPr/>
          <p:nvPr/>
        </p:nvSpPr>
        <p:spPr>
          <a:xfrm>
            <a:off x="2330904" y="2362200"/>
            <a:ext cx="6241922" cy="3046988"/>
          </a:xfrm>
          <a:prstGeom prst="rect">
            <a:avLst/>
          </a:prstGeom>
          <a:solidFill>
            <a:schemeClr val="bg1"/>
          </a:solidFill>
        </p:spPr>
        <p:txBody>
          <a:bodyPr wrap="square">
            <a:spAutoFit/>
          </a:bodyPr>
          <a:lstStyle/>
          <a:p>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USCLN(</a:t>
            </a:r>
            <a:r>
              <a:rPr lang="en-US" sz="1600" dirty="0" err="1" smtClean="0">
                <a:latin typeface="Courier New" panose="02070309020205020404" pitchFamily="49" charset="0"/>
                <a:cs typeface="Courier New" panose="02070309020205020404" pitchFamily="49" charset="0"/>
              </a:rPr>
              <a:t>int</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m,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n) </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std</a:t>
            </a:r>
            <a:r>
              <a:rPr lang="en-US" sz="1600" dirty="0">
                <a:latin typeface="Courier New" panose="02070309020205020404" pitchFamily="49" charset="0"/>
                <a:cs typeface="Courier New" panose="02070309020205020404" pitchFamily="49" charset="0"/>
              </a:rPr>
              <a:t>::stack&lt;</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&gt; S</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while (n != 0) </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S.push</a:t>
            </a:r>
            <a:r>
              <a:rPr lang="en-US" sz="1600" dirty="0">
                <a:latin typeface="Courier New" panose="02070309020205020404" pitchFamily="49" charset="0"/>
                <a:cs typeface="Courier New" panose="02070309020205020404" pitchFamily="49" charset="0"/>
              </a:rPr>
              <a:t>(m); </a:t>
            </a:r>
            <a:r>
              <a:rPr lang="en-US" sz="1600" dirty="0" err="1">
                <a:latin typeface="Courier New" panose="02070309020205020404" pitchFamily="49" charset="0"/>
                <a:cs typeface="Courier New" panose="02070309020205020404" pitchFamily="49" charset="0"/>
              </a:rPr>
              <a:t>S.push</a:t>
            </a:r>
            <a:r>
              <a:rPr lang="en-US" sz="1600" dirty="0">
                <a:latin typeface="Courier New" panose="02070309020205020404" pitchFamily="49" charset="0"/>
                <a:cs typeface="Courier New" panose="02070309020205020404" pitchFamily="49" charset="0"/>
              </a:rPr>
              <a:t>(n</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int</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temp = </a:t>
            </a:r>
            <a:r>
              <a:rPr lang="en-US" sz="1600" dirty="0" err="1">
                <a:latin typeface="Courier New" panose="02070309020205020404" pitchFamily="49" charset="0"/>
                <a:cs typeface="Courier New" panose="02070309020205020404" pitchFamily="49" charset="0"/>
              </a:rPr>
              <a:t>m%n</a:t>
            </a:r>
            <a:r>
              <a:rPr lang="en-US" sz="1600" dirty="0">
                <a:latin typeface="Courier New" panose="02070309020205020404" pitchFamily="49" charset="0"/>
                <a:cs typeface="Courier New" panose="02070309020205020404" pitchFamily="49" charset="0"/>
              </a:rPr>
              <a:t>; m=n; n=temp</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p>
          <a:p>
            <a:r>
              <a:rPr lang="en-US" sz="1600" dirty="0" smtClean="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Result = m</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while(!</a:t>
            </a:r>
            <a:r>
              <a:rPr lang="en-US" sz="1600" dirty="0" err="1">
                <a:latin typeface="Courier New" panose="02070309020205020404" pitchFamily="49" charset="0"/>
                <a:cs typeface="Courier New" panose="02070309020205020404" pitchFamily="49" charset="0"/>
              </a:rPr>
              <a:t>S.empty</a:t>
            </a:r>
            <a:r>
              <a:rPr lang="en-US" sz="1600" dirty="0" smtClean="0">
                <a:latin typeface="Courier New" panose="02070309020205020404" pitchFamily="49" charset="0"/>
                <a:cs typeface="Courier New" panose="02070309020205020404" pitchFamily="49" charset="0"/>
              </a:rPr>
              <a:t>()){		// can be removed</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S.pop</a:t>
            </a:r>
            <a:r>
              <a:rPr lang="en-US" sz="1600" dirty="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S.pop</a:t>
            </a: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 // for nothing</a:t>
            </a:r>
          </a:p>
          <a:p>
            <a:r>
              <a:rPr lang="en-US" sz="1600" dirty="0" smtClean="0">
                <a:latin typeface="Courier New" panose="02070309020205020404" pitchFamily="49" charset="0"/>
                <a:cs typeface="Courier New" panose="02070309020205020404" pitchFamily="49" charset="0"/>
              </a:rPr>
              <a:t>    }</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return Result;					  			 </a:t>
            </a:r>
            <a:endParaRPr lang="en-US" sz="1600" dirty="0" smtClean="0">
              <a:latin typeface="Courier New" panose="02070309020205020404" pitchFamily="49" charset="0"/>
              <a:cs typeface="Courier New" panose="02070309020205020404" pitchFamily="49" charset="0"/>
            </a:endParaRPr>
          </a:p>
          <a:p>
            <a:r>
              <a:rPr lang="en-US" sz="1600" dirty="0" smtClean="0">
                <a:latin typeface="Courier New" panose="02070309020205020404" pitchFamily="49" charset="0"/>
                <a:cs typeface="Courier New" panose="02070309020205020404" pitchFamily="49" charset="0"/>
              </a:rPr>
              <a:t>}</a:t>
            </a:r>
            <a:endParaRPr lang="en-US" sz="1600" dirty="0">
              <a:latin typeface="Courier New" panose="02070309020205020404" pitchFamily="49" charset="0"/>
              <a:cs typeface="Courier New" panose="02070309020205020404" pitchFamily="49" charset="0"/>
            </a:endParaRPr>
          </a:p>
        </p:txBody>
      </p:sp>
      <p:cxnSp>
        <p:nvCxnSpPr>
          <p:cNvPr id="11" name="Straight Arrow Connector 10"/>
          <p:cNvCxnSpPr/>
          <p:nvPr/>
        </p:nvCxnSpPr>
        <p:spPr>
          <a:xfrm flipV="1">
            <a:off x="4921703" y="2688533"/>
            <a:ext cx="83820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5912303" y="2378018"/>
            <a:ext cx="1812997" cy="369332"/>
          </a:xfrm>
          <a:prstGeom prst="rect">
            <a:avLst/>
          </a:prstGeom>
          <a:noFill/>
        </p:spPr>
        <p:txBody>
          <a:bodyPr wrap="none" rtlCol="0">
            <a:spAutoFit/>
          </a:bodyPr>
          <a:lstStyle/>
          <a:p>
            <a:r>
              <a:rPr lang="en-US" dirty="0" smtClean="0"/>
              <a:t>(1) </a:t>
            </a:r>
            <a:r>
              <a:rPr lang="en-US" dirty="0" err="1" smtClean="0"/>
              <a:t>Khác</a:t>
            </a:r>
            <a:r>
              <a:rPr lang="en-US" dirty="0" smtClean="0"/>
              <a:t> TH </a:t>
            </a:r>
            <a:r>
              <a:rPr lang="en-US" dirty="0" err="1" smtClean="0"/>
              <a:t>cơ</a:t>
            </a:r>
            <a:r>
              <a:rPr lang="en-US" dirty="0" smtClean="0"/>
              <a:t> </a:t>
            </a:r>
            <a:r>
              <a:rPr lang="en-US" dirty="0" err="1" smtClean="0"/>
              <a:t>sở</a:t>
            </a:r>
            <a:endParaRPr lang="en-US" dirty="0"/>
          </a:p>
        </p:txBody>
      </p:sp>
      <p:cxnSp>
        <p:nvCxnSpPr>
          <p:cNvPr id="14" name="Straight Arrow Connector 13"/>
          <p:cNvCxnSpPr/>
          <p:nvPr/>
        </p:nvCxnSpPr>
        <p:spPr>
          <a:xfrm flipV="1">
            <a:off x="5912303" y="3041087"/>
            <a:ext cx="485719" cy="199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415357" y="2744688"/>
            <a:ext cx="2228495" cy="369332"/>
          </a:xfrm>
          <a:prstGeom prst="rect">
            <a:avLst/>
          </a:prstGeom>
          <a:noFill/>
        </p:spPr>
        <p:txBody>
          <a:bodyPr wrap="none" rtlCol="0">
            <a:spAutoFit/>
          </a:bodyPr>
          <a:lstStyle/>
          <a:p>
            <a:r>
              <a:rPr lang="en-US" dirty="0" smtClean="0"/>
              <a:t>(2) </a:t>
            </a:r>
            <a:r>
              <a:rPr lang="en-US" dirty="0" err="1" smtClean="0"/>
              <a:t>Lưu</a:t>
            </a:r>
            <a:r>
              <a:rPr lang="en-US" dirty="0" smtClean="0"/>
              <a:t> </a:t>
            </a:r>
            <a:r>
              <a:rPr lang="en-US" dirty="0" err="1" smtClean="0"/>
              <a:t>thông</a:t>
            </a:r>
            <a:r>
              <a:rPr lang="en-US" dirty="0" smtClean="0"/>
              <a:t> tin </a:t>
            </a:r>
            <a:r>
              <a:rPr lang="en-US" i="1" dirty="0" smtClean="0"/>
              <a:t>m, n</a:t>
            </a:r>
            <a:endParaRPr lang="en-US" i="1" dirty="0"/>
          </a:p>
        </p:txBody>
      </p:sp>
      <p:cxnSp>
        <p:nvCxnSpPr>
          <p:cNvPr id="16" name="Straight Arrow Connector 15"/>
          <p:cNvCxnSpPr/>
          <p:nvPr/>
        </p:nvCxnSpPr>
        <p:spPr>
          <a:xfrm flipH="1" flipV="1">
            <a:off x="2181724" y="3069376"/>
            <a:ext cx="577199" cy="8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7131911" y="3111358"/>
            <a:ext cx="2012089" cy="369332"/>
          </a:xfrm>
          <a:prstGeom prst="rect">
            <a:avLst/>
          </a:prstGeom>
          <a:noFill/>
        </p:spPr>
        <p:txBody>
          <a:bodyPr wrap="none" rtlCol="0">
            <a:spAutoFit/>
          </a:bodyPr>
          <a:lstStyle/>
          <a:p>
            <a:r>
              <a:rPr lang="en-US" dirty="0" smtClean="0"/>
              <a:t>(3)Thu </a:t>
            </a:r>
            <a:r>
              <a:rPr lang="en-US" dirty="0" err="1" smtClean="0"/>
              <a:t>hẹp</a:t>
            </a:r>
            <a:r>
              <a:rPr lang="en-US" dirty="0" smtClean="0"/>
              <a:t> </a:t>
            </a:r>
            <a:r>
              <a:rPr lang="en-US" dirty="0" err="1" smtClean="0"/>
              <a:t>phạm</a:t>
            </a:r>
            <a:r>
              <a:rPr lang="en-US" dirty="0" smtClean="0"/>
              <a:t> vi</a:t>
            </a:r>
            <a:endParaRPr lang="en-US" dirty="0"/>
          </a:p>
        </p:txBody>
      </p:sp>
      <p:cxnSp>
        <p:nvCxnSpPr>
          <p:cNvPr id="19" name="Straight Arrow Connector 18"/>
          <p:cNvCxnSpPr/>
          <p:nvPr/>
        </p:nvCxnSpPr>
        <p:spPr>
          <a:xfrm flipV="1">
            <a:off x="6682408" y="3310892"/>
            <a:ext cx="485719" cy="1998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69808" y="2852175"/>
            <a:ext cx="1955985" cy="369332"/>
          </a:xfrm>
          <a:prstGeom prst="rect">
            <a:avLst/>
          </a:prstGeom>
          <a:noFill/>
        </p:spPr>
        <p:txBody>
          <a:bodyPr wrap="none" rtlCol="0">
            <a:spAutoFit/>
          </a:bodyPr>
          <a:lstStyle/>
          <a:p>
            <a:r>
              <a:rPr lang="en-US" dirty="0" smtClean="0"/>
              <a:t>(4)</a:t>
            </a:r>
            <a:r>
              <a:rPr lang="en-US" dirty="0" err="1" smtClean="0"/>
              <a:t>Lặp</a:t>
            </a:r>
            <a:r>
              <a:rPr lang="en-US" dirty="0" smtClean="0"/>
              <a:t> </a:t>
            </a:r>
            <a:r>
              <a:rPr lang="en-US" dirty="0" err="1" smtClean="0"/>
              <a:t>lại</a:t>
            </a:r>
            <a:r>
              <a:rPr lang="en-US" dirty="0" smtClean="0"/>
              <a:t> </a:t>
            </a:r>
            <a:r>
              <a:rPr lang="en-US" dirty="0" err="1" smtClean="0"/>
              <a:t>quá</a:t>
            </a:r>
            <a:r>
              <a:rPr lang="en-US" dirty="0" smtClean="0"/>
              <a:t> </a:t>
            </a:r>
            <a:r>
              <a:rPr lang="en-US" dirty="0" err="1" smtClean="0"/>
              <a:t>trình</a:t>
            </a:r>
            <a:endParaRPr lang="en-US" dirty="0"/>
          </a:p>
        </p:txBody>
      </p:sp>
      <p:cxnSp>
        <p:nvCxnSpPr>
          <p:cNvPr id="22" name="Straight Arrow Connector 21"/>
          <p:cNvCxnSpPr/>
          <p:nvPr/>
        </p:nvCxnSpPr>
        <p:spPr>
          <a:xfrm flipH="1" flipV="1">
            <a:off x="2330904" y="3963969"/>
            <a:ext cx="458654" cy="57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06686" y="3758889"/>
            <a:ext cx="1775038" cy="369332"/>
          </a:xfrm>
          <a:prstGeom prst="rect">
            <a:avLst/>
          </a:prstGeom>
          <a:noFill/>
        </p:spPr>
        <p:txBody>
          <a:bodyPr wrap="none" rtlCol="0">
            <a:spAutoFit/>
          </a:bodyPr>
          <a:lstStyle/>
          <a:p>
            <a:r>
              <a:rPr lang="en-US" dirty="0" smtClean="0"/>
              <a:t>(5)</a:t>
            </a:r>
            <a:r>
              <a:rPr lang="en-US" dirty="0" err="1" smtClean="0"/>
              <a:t>Xử</a:t>
            </a:r>
            <a:r>
              <a:rPr lang="en-US" dirty="0" smtClean="0"/>
              <a:t> </a:t>
            </a:r>
            <a:r>
              <a:rPr lang="en-US" dirty="0" err="1" smtClean="0"/>
              <a:t>lý</a:t>
            </a:r>
            <a:r>
              <a:rPr lang="en-US" dirty="0" smtClean="0"/>
              <a:t> TH </a:t>
            </a:r>
            <a:r>
              <a:rPr lang="en-US" dirty="0" err="1" smtClean="0"/>
              <a:t>cơ</a:t>
            </a:r>
            <a:r>
              <a:rPr lang="en-US" dirty="0" smtClean="0"/>
              <a:t> </a:t>
            </a:r>
            <a:r>
              <a:rPr lang="en-US" dirty="0" err="1" smtClean="0"/>
              <a:t>sở</a:t>
            </a:r>
            <a:endParaRPr lang="en-US" dirty="0"/>
          </a:p>
        </p:txBody>
      </p:sp>
      <p:cxnSp>
        <p:nvCxnSpPr>
          <p:cNvPr id="25" name="Straight Arrow Connector 24"/>
          <p:cNvCxnSpPr/>
          <p:nvPr/>
        </p:nvCxnSpPr>
        <p:spPr>
          <a:xfrm flipH="1">
            <a:off x="2273366" y="4369205"/>
            <a:ext cx="581266" cy="1227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5152" y="4341941"/>
            <a:ext cx="2390398" cy="369332"/>
          </a:xfrm>
          <a:prstGeom prst="rect">
            <a:avLst/>
          </a:prstGeom>
          <a:noFill/>
        </p:spPr>
        <p:txBody>
          <a:bodyPr wrap="none" rtlCol="0">
            <a:spAutoFit/>
          </a:bodyPr>
          <a:lstStyle/>
          <a:p>
            <a:r>
              <a:rPr lang="en-US" dirty="0" smtClean="0"/>
              <a:t>(6) </a:t>
            </a:r>
            <a:r>
              <a:rPr lang="en-US" dirty="0" err="1" smtClean="0"/>
              <a:t>Khôi</a:t>
            </a:r>
            <a:r>
              <a:rPr lang="en-US" dirty="0" smtClean="0"/>
              <a:t> </a:t>
            </a:r>
            <a:r>
              <a:rPr lang="en-US" dirty="0" err="1" smtClean="0"/>
              <a:t>phục</a:t>
            </a:r>
            <a:r>
              <a:rPr lang="en-US" dirty="0" smtClean="0"/>
              <a:t> </a:t>
            </a:r>
            <a:r>
              <a:rPr lang="en-US" dirty="0" err="1" smtClean="0"/>
              <a:t>thông</a:t>
            </a:r>
            <a:r>
              <a:rPr lang="en-US" dirty="0" smtClean="0"/>
              <a:t> tin </a:t>
            </a:r>
            <a:endParaRPr lang="en-US" dirty="0"/>
          </a:p>
        </p:txBody>
      </p:sp>
    </p:spTree>
    <p:extLst>
      <p:ext uri="{BB962C8B-B14F-4D97-AF65-F5344CB8AC3E}">
        <p14:creationId xmlns:p14="http://schemas.microsoft.com/office/powerpoint/2010/main" val="3125741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P spid="15" grpId="0"/>
      <p:bldP spid="18" grpId="0"/>
      <p:bldP spid="21" grpId="0"/>
      <p:bldP spid="23" grpId="0"/>
      <p:bldP spid="2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30</a:t>
            </a:fld>
            <a:endParaRPr lang="en-US"/>
          </a:p>
        </p:txBody>
      </p:sp>
      <p:sp>
        <p:nvSpPr>
          <p:cNvPr id="4" name="Title 3"/>
          <p:cNvSpPr>
            <a:spLocks noGrp="1"/>
          </p:cNvSpPr>
          <p:nvPr>
            <p:ph type="title"/>
          </p:nvPr>
        </p:nvSpPr>
        <p:spPr/>
        <p:txBody>
          <a:bodyPr>
            <a:normAutofit/>
          </a:bodyPr>
          <a:lstStyle/>
          <a:p>
            <a:r>
              <a:rPr lang="en-US" dirty="0"/>
              <a:t>So </a:t>
            </a:r>
            <a:r>
              <a:rPr lang="en-US" dirty="0" err="1"/>
              <a:t>sánh</a:t>
            </a:r>
            <a:r>
              <a:rPr lang="en-US" dirty="0"/>
              <a:t> </a:t>
            </a:r>
            <a:r>
              <a:rPr lang="en-US" dirty="0" err="1"/>
              <a:t>Đệ</a:t>
            </a:r>
            <a:r>
              <a:rPr lang="en-US" dirty="0"/>
              <a:t> </a:t>
            </a:r>
            <a:r>
              <a:rPr lang="en-US" dirty="0" err="1"/>
              <a:t>quy</a:t>
            </a:r>
            <a:r>
              <a:rPr lang="en-US" dirty="0"/>
              <a:t> vs. </a:t>
            </a:r>
            <a:r>
              <a:rPr lang="en-US" dirty="0" err="1"/>
              <a:t>Lặp</a:t>
            </a:r>
            <a:r>
              <a:rPr lang="en-US" dirty="0"/>
              <a:t> </a:t>
            </a:r>
            <a:r>
              <a:rPr lang="en-US" dirty="0" smtClean="0"/>
              <a:t>!</a:t>
            </a:r>
            <a:endParaRPr lang="en-US" dirty="0"/>
          </a:p>
        </p:txBody>
      </p:sp>
      <p:sp>
        <p:nvSpPr>
          <p:cNvPr id="8" name="Rectangle 7"/>
          <p:cNvSpPr/>
          <p:nvPr/>
        </p:nvSpPr>
        <p:spPr>
          <a:xfrm>
            <a:off x="524017" y="3096834"/>
            <a:ext cx="8619983" cy="3416320"/>
          </a:xfrm>
          <a:prstGeom prst="rect">
            <a:avLst/>
          </a:prstGeom>
        </p:spPr>
        <p:txBody>
          <a:bodyPr wrap="square">
            <a:spAutoFit/>
          </a:bodyPr>
          <a:lstStyle/>
          <a:p>
            <a:r>
              <a:rPr lang="en-US" dirty="0" err="1"/>
              <a:t>int</a:t>
            </a:r>
            <a:r>
              <a:rPr lang="en-US" dirty="0"/>
              <a:t> main</a:t>
            </a:r>
            <a:r>
              <a:rPr lang="en-US" dirty="0" smtClean="0"/>
              <a:t>(){</a:t>
            </a:r>
          </a:p>
          <a:p>
            <a:r>
              <a:rPr lang="en-US" dirty="0" smtClean="0"/>
              <a:t>    </a:t>
            </a:r>
            <a:r>
              <a:rPr lang="en-US" dirty="0" err="1"/>
              <a:t>clock_t</a:t>
            </a:r>
            <a:r>
              <a:rPr lang="en-US" dirty="0"/>
              <a:t>  t0, t1</a:t>
            </a:r>
            <a:r>
              <a:rPr lang="en-US" dirty="0" smtClean="0"/>
              <a:t>;</a:t>
            </a:r>
          </a:p>
          <a:p>
            <a:r>
              <a:rPr lang="en-US" dirty="0" smtClean="0"/>
              <a:t>    </a:t>
            </a:r>
            <a:r>
              <a:rPr lang="en-US" dirty="0" err="1"/>
              <a:t>int</a:t>
            </a:r>
            <a:r>
              <a:rPr lang="en-US" dirty="0"/>
              <a:t> n = 7, k = 30000, </a:t>
            </a:r>
            <a:r>
              <a:rPr lang="en-US" dirty="0" err="1"/>
              <a:t>i</a:t>
            </a:r>
            <a:r>
              <a:rPr lang="en-US" dirty="0" smtClean="0"/>
              <a:t>;</a:t>
            </a:r>
          </a:p>
          <a:p>
            <a:r>
              <a:rPr lang="en-US" dirty="0" smtClean="0"/>
              <a:t>    </a:t>
            </a:r>
            <a:r>
              <a:rPr lang="en-US" dirty="0" err="1"/>
              <a:t>int</a:t>
            </a:r>
            <a:r>
              <a:rPr lang="en-US" dirty="0"/>
              <a:t> f</a:t>
            </a:r>
            <a:r>
              <a:rPr lang="en-US" dirty="0" smtClean="0"/>
              <a:t>;</a:t>
            </a:r>
          </a:p>
          <a:p>
            <a:r>
              <a:rPr lang="en-US" dirty="0" smtClean="0"/>
              <a:t>    </a:t>
            </a:r>
            <a:r>
              <a:rPr lang="en-US" dirty="0"/>
              <a:t>t0 = clock();    for(</a:t>
            </a:r>
            <a:r>
              <a:rPr lang="en-US" dirty="0" err="1"/>
              <a:t>i</a:t>
            </a:r>
            <a:r>
              <a:rPr lang="en-US" dirty="0"/>
              <a:t>=0;i&lt;</a:t>
            </a:r>
            <a:r>
              <a:rPr lang="en-US" dirty="0" err="1"/>
              <a:t>k;i</a:t>
            </a:r>
            <a:r>
              <a:rPr lang="en-US" dirty="0"/>
              <a:t>++) f </a:t>
            </a:r>
            <a:r>
              <a:rPr lang="en-US" dirty="0" smtClean="0"/>
              <a:t>= </a:t>
            </a:r>
            <a:r>
              <a:rPr lang="en-US" b="1" dirty="0" smtClean="0"/>
              <a:t>Fact1</a:t>
            </a:r>
            <a:r>
              <a:rPr lang="en-US" dirty="0" smtClean="0"/>
              <a:t>(n);    </a:t>
            </a:r>
            <a:r>
              <a:rPr lang="en-US" dirty="0"/>
              <a:t>t1 = clock</a:t>
            </a:r>
            <a:r>
              <a:rPr lang="en-US" dirty="0" smtClean="0"/>
              <a:t>();</a:t>
            </a:r>
          </a:p>
          <a:p>
            <a:r>
              <a:rPr lang="en-US" dirty="0" smtClean="0"/>
              <a:t>    	</a:t>
            </a:r>
            <a:r>
              <a:rPr lang="en-US" dirty="0" err="1" smtClean="0"/>
              <a:t>printf</a:t>
            </a:r>
            <a:r>
              <a:rPr lang="en-US" dirty="0"/>
              <a:t>("</a:t>
            </a:r>
            <a:r>
              <a:rPr lang="en-US" dirty="0" err="1"/>
              <a:t>Rescursive</a:t>
            </a:r>
            <a:r>
              <a:rPr lang="en-US" dirty="0"/>
              <a:t>: %d! = %d; </a:t>
            </a:r>
            <a:r>
              <a:rPr lang="en-US" dirty="0" smtClean="0"/>
              <a:t>time </a:t>
            </a:r>
            <a:r>
              <a:rPr lang="en-US" dirty="0"/>
              <a:t>= %f s \n", n, f, (float)(t1-t0) / CLOCKS_PER_SEC</a:t>
            </a:r>
            <a:r>
              <a:rPr lang="en-US" dirty="0" smtClean="0"/>
              <a:t>);</a:t>
            </a:r>
          </a:p>
          <a:p>
            <a:r>
              <a:rPr lang="en-US" dirty="0" smtClean="0"/>
              <a:t>    </a:t>
            </a:r>
            <a:r>
              <a:rPr lang="en-US" dirty="0"/>
              <a:t>t0 = clock();    for(</a:t>
            </a:r>
            <a:r>
              <a:rPr lang="en-US" dirty="0" err="1"/>
              <a:t>i</a:t>
            </a:r>
            <a:r>
              <a:rPr lang="en-US" dirty="0"/>
              <a:t>=0;i&lt;</a:t>
            </a:r>
            <a:r>
              <a:rPr lang="en-US" dirty="0" err="1"/>
              <a:t>k;i</a:t>
            </a:r>
            <a:r>
              <a:rPr lang="en-US" dirty="0"/>
              <a:t>++) f = </a:t>
            </a:r>
            <a:r>
              <a:rPr lang="en-US" b="1" dirty="0"/>
              <a:t>Fact2</a:t>
            </a:r>
            <a:r>
              <a:rPr lang="en-US" dirty="0"/>
              <a:t>(n);    t1 = clock</a:t>
            </a:r>
            <a:r>
              <a:rPr lang="en-US" dirty="0" smtClean="0"/>
              <a:t>();</a:t>
            </a:r>
          </a:p>
          <a:p>
            <a:r>
              <a:rPr lang="en-US" dirty="0" smtClean="0"/>
              <a:t>    	</a:t>
            </a:r>
            <a:r>
              <a:rPr lang="en-US" dirty="0" err="1" smtClean="0"/>
              <a:t>printf</a:t>
            </a:r>
            <a:r>
              <a:rPr lang="en-US" dirty="0"/>
              <a:t>("Iterative: %d! = %d; time = %f s \n", n, f, (float)(t1-t0) / CLOCKS_PER_SEC</a:t>
            </a:r>
            <a:r>
              <a:rPr lang="en-US" dirty="0" smtClean="0"/>
              <a:t>);</a:t>
            </a:r>
          </a:p>
          <a:p>
            <a:r>
              <a:rPr lang="en-US" dirty="0" smtClean="0"/>
              <a:t>    </a:t>
            </a:r>
            <a:r>
              <a:rPr lang="en-US" dirty="0"/>
              <a:t>t0 = clock();    for(</a:t>
            </a:r>
            <a:r>
              <a:rPr lang="en-US" dirty="0" err="1"/>
              <a:t>i</a:t>
            </a:r>
            <a:r>
              <a:rPr lang="en-US" dirty="0"/>
              <a:t>=0;i&lt;</a:t>
            </a:r>
            <a:r>
              <a:rPr lang="en-US" dirty="0" err="1"/>
              <a:t>k;i</a:t>
            </a:r>
            <a:r>
              <a:rPr lang="en-US" dirty="0"/>
              <a:t>++) f = </a:t>
            </a:r>
            <a:r>
              <a:rPr lang="en-US" b="1" dirty="0"/>
              <a:t>Fact3</a:t>
            </a:r>
            <a:r>
              <a:rPr lang="en-US" dirty="0"/>
              <a:t>(n);    t1 = clock</a:t>
            </a:r>
            <a:r>
              <a:rPr lang="en-US" dirty="0" smtClean="0"/>
              <a:t>();</a:t>
            </a:r>
          </a:p>
          <a:p>
            <a:r>
              <a:rPr lang="en-US" dirty="0" smtClean="0"/>
              <a:t>    	</a:t>
            </a:r>
            <a:r>
              <a:rPr lang="en-US" dirty="0" err="1" smtClean="0"/>
              <a:t>printf</a:t>
            </a:r>
            <a:r>
              <a:rPr lang="en-US" dirty="0"/>
              <a:t>("Stack: %d! = %d; time = %f s \n", n, f, (float)(t1-t0) / CLOCKS_PER_SEC</a:t>
            </a:r>
            <a:r>
              <a:rPr lang="en-US" dirty="0" smtClean="0"/>
              <a:t>);</a:t>
            </a:r>
          </a:p>
          <a:p>
            <a:r>
              <a:rPr lang="en-US" dirty="0" smtClean="0"/>
              <a:t>    </a:t>
            </a:r>
            <a:r>
              <a:rPr lang="en-US" dirty="0"/>
              <a:t>return 0</a:t>
            </a:r>
            <a:r>
              <a:rPr lang="en-US" dirty="0" smtClean="0"/>
              <a:t>;</a:t>
            </a:r>
          </a:p>
          <a:p>
            <a:r>
              <a:rPr lang="en-US" dirty="0" smtClean="0"/>
              <a:t>}</a:t>
            </a:r>
            <a:endParaRPr lang="en-US" dirty="0"/>
          </a:p>
        </p:txBody>
      </p:sp>
      <p:sp>
        <p:nvSpPr>
          <p:cNvPr id="9" name="Rectangle 8"/>
          <p:cNvSpPr/>
          <p:nvPr/>
        </p:nvSpPr>
        <p:spPr>
          <a:xfrm>
            <a:off x="5105400" y="2984674"/>
            <a:ext cx="4978245" cy="923330"/>
          </a:xfrm>
          <a:prstGeom prst="rect">
            <a:avLst/>
          </a:prstGeom>
        </p:spPr>
        <p:txBody>
          <a:bodyPr wrap="square">
            <a:spAutoFit/>
          </a:bodyPr>
          <a:lstStyle/>
          <a:p>
            <a:r>
              <a:rPr lang="en-US" dirty="0" err="1">
                <a:solidFill>
                  <a:schemeClr val="accent1"/>
                </a:solidFill>
              </a:rPr>
              <a:t>Rescursive</a:t>
            </a:r>
            <a:r>
              <a:rPr lang="en-US" dirty="0">
                <a:solidFill>
                  <a:schemeClr val="accent1"/>
                </a:solidFill>
              </a:rPr>
              <a:t>: 7! = 5040; time = 0.000744 s </a:t>
            </a:r>
          </a:p>
          <a:p>
            <a:r>
              <a:rPr lang="en-US" dirty="0">
                <a:solidFill>
                  <a:schemeClr val="accent1"/>
                </a:solidFill>
              </a:rPr>
              <a:t>Iterative: 7! = 5040; time = 0.000370 s </a:t>
            </a:r>
          </a:p>
          <a:p>
            <a:r>
              <a:rPr lang="en-US" dirty="0">
                <a:solidFill>
                  <a:schemeClr val="accent1"/>
                </a:solidFill>
              </a:rPr>
              <a:t>Stack: 7! = 5040; time = 0.020343 s </a:t>
            </a:r>
          </a:p>
        </p:txBody>
      </p:sp>
      <p:sp>
        <p:nvSpPr>
          <p:cNvPr id="5" name="Rectangle 4"/>
          <p:cNvSpPr/>
          <p:nvPr/>
        </p:nvSpPr>
        <p:spPr>
          <a:xfrm>
            <a:off x="1143000" y="685800"/>
            <a:ext cx="4572000" cy="2246769"/>
          </a:xfrm>
          <a:prstGeom prst="rect">
            <a:avLst/>
          </a:prstGeom>
        </p:spPr>
        <p:txBody>
          <a:bodyPr>
            <a:spAutoFit/>
          </a:bodyPr>
          <a:lstStyle/>
          <a:p>
            <a:r>
              <a:rPr lang="en-US" sz="1400" i="1" dirty="0" err="1"/>
              <a:t>int</a:t>
            </a:r>
            <a:r>
              <a:rPr lang="en-US" sz="1400" i="1" dirty="0"/>
              <a:t> Fact1 (</a:t>
            </a:r>
            <a:r>
              <a:rPr lang="en-US" sz="1400" i="1" dirty="0" err="1"/>
              <a:t>int</a:t>
            </a:r>
            <a:r>
              <a:rPr lang="en-US" sz="1400" i="1" dirty="0"/>
              <a:t> n</a:t>
            </a:r>
            <a:r>
              <a:rPr lang="en-US" sz="1400" i="1" dirty="0" smtClean="0"/>
              <a:t>){</a:t>
            </a:r>
          </a:p>
          <a:p>
            <a:r>
              <a:rPr lang="en-US" sz="1400" i="1" dirty="0"/>
              <a:t>	if  (n &lt;= 1) return 1</a:t>
            </a:r>
            <a:r>
              <a:rPr lang="en-US" sz="1400" i="1" dirty="0" smtClean="0"/>
              <a:t>;</a:t>
            </a:r>
          </a:p>
          <a:p>
            <a:r>
              <a:rPr lang="en-US" sz="1400" i="1" dirty="0"/>
              <a:t>	else return n * Fact1 (n-1</a:t>
            </a:r>
            <a:r>
              <a:rPr lang="en-US" sz="1400" i="1" dirty="0" smtClean="0"/>
              <a:t>);</a:t>
            </a:r>
          </a:p>
          <a:p>
            <a:r>
              <a:rPr lang="en-US" sz="1400" i="1" dirty="0" smtClean="0"/>
              <a:t>}</a:t>
            </a:r>
          </a:p>
          <a:p>
            <a:endParaRPr lang="en-US" sz="1400" i="1" dirty="0" smtClean="0"/>
          </a:p>
          <a:p>
            <a:r>
              <a:rPr lang="en-US" sz="1400" i="1" dirty="0" err="1" smtClean="0"/>
              <a:t>int</a:t>
            </a:r>
            <a:r>
              <a:rPr lang="en-US" sz="1400" i="1" dirty="0" smtClean="0"/>
              <a:t> </a:t>
            </a:r>
            <a:r>
              <a:rPr lang="en-US" sz="1400" i="1" dirty="0"/>
              <a:t>Fact2(</a:t>
            </a:r>
            <a:r>
              <a:rPr lang="en-US" sz="1400" i="1" dirty="0" err="1"/>
              <a:t>int</a:t>
            </a:r>
            <a:r>
              <a:rPr lang="en-US" sz="1400" i="1" dirty="0"/>
              <a:t> n</a:t>
            </a:r>
            <a:r>
              <a:rPr lang="en-US" sz="1400" i="1" dirty="0" smtClean="0"/>
              <a:t>){</a:t>
            </a:r>
          </a:p>
          <a:p>
            <a:r>
              <a:rPr lang="en-US" sz="1400" i="1" dirty="0" smtClean="0"/>
              <a:t>    </a:t>
            </a:r>
            <a:r>
              <a:rPr lang="en-US" sz="1400" i="1" dirty="0" err="1"/>
              <a:t>int</a:t>
            </a:r>
            <a:r>
              <a:rPr lang="en-US" sz="1400" i="1" dirty="0"/>
              <a:t> prod = 1;   </a:t>
            </a:r>
            <a:endParaRPr lang="en-US" sz="1400" i="1" dirty="0" smtClean="0"/>
          </a:p>
          <a:p>
            <a:r>
              <a:rPr lang="en-US" sz="1400" i="1" dirty="0"/>
              <a:t> </a:t>
            </a:r>
            <a:r>
              <a:rPr lang="en-US" sz="1400" i="1" dirty="0" smtClean="0"/>
              <a:t>   </a:t>
            </a:r>
            <a:r>
              <a:rPr lang="en-US" sz="1400" i="1" dirty="0"/>
              <a:t>while (n&gt;1) prod *= n-</a:t>
            </a:r>
            <a:r>
              <a:rPr lang="en-US" sz="1400" i="1" dirty="0" smtClean="0"/>
              <a:t>-;</a:t>
            </a:r>
          </a:p>
          <a:p>
            <a:r>
              <a:rPr lang="en-US" sz="1400" i="1" dirty="0" smtClean="0"/>
              <a:t>    </a:t>
            </a:r>
            <a:r>
              <a:rPr lang="en-US" sz="1400" i="1" dirty="0"/>
              <a:t>return prod</a:t>
            </a:r>
            <a:r>
              <a:rPr lang="en-US" sz="1400" i="1" dirty="0" smtClean="0"/>
              <a:t>;</a:t>
            </a:r>
          </a:p>
          <a:p>
            <a:r>
              <a:rPr lang="en-US" sz="1400" i="1" dirty="0" smtClean="0"/>
              <a:t>}</a:t>
            </a:r>
            <a:endParaRPr lang="en-US" sz="1400" i="1" dirty="0"/>
          </a:p>
        </p:txBody>
      </p:sp>
      <p:sp>
        <p:nvSpPr>
          <p:cNvPr id="6" name="Rectangle 5"/>
          <p:cNvSpPr/>
          <p:nvPr/>
        </p:nvSpPr>
        <p:spPr>
          <a:xfrm>
            <a:off x="4198412" y="692206"/>
            <a:ext cx="4572000" cy="2462213"/>
          </a:xfrm>
          <a:prstGeom prst="rect">
            <a:avLst/>
          </a:prstGeom>
        </p:spPr>
        <p:txBody>
          <a:bodyPr>
            <a:spAutoFit/>
          </a:bodyPr>
          <a:lstStyle/>
          <a:p>
            <a:r>
              <a:rPr lang="en-US" sz="1400" i="1" dirty="0" err="1"/>
              <a:t>int</a:t>
            </a:r>
            <a:r>
              <a:rPr lang="en-US" sz="1400" i="1" dirty="0"/>
              <a:t> Fact3(</a:t>
            </a:r>
            <a:r>
              <a:rPr lang="en-US" sz="1400" i="1" dirty="0" err="1"/>
              <a:t>int</a:t>
            </a:r>
            <a:r>
              <a:rPr lang="en-US" sz="1400" i="1" dirty="0"/>
              <a:t> n) </a:t>
            </a:r>
            <a:r>
              <a:rPr lang="en-US" sz="1400" i="1" dirty="0" smtClean="0"/>
              <a:t>{</a:t>
            </a:r>
          </a:p>
          <a:p>
            <a:r>
              <a:rPr lang="en-US" sz="1400" i="1" dirty="0" smtClean="0"/>
              <a:t>    </a:t>
            </a:r>
            <a:r>
              <a:rPr lang="en-US" sz="1400" i="1" dirty="0" err="1"/>
              <a:t>std</a:t>
            </a:r>
            <a:r>
              <a:rPr lang="en-US" sz="1400" i="1" dirty="0"/>
              <a:t>::stack&lt;</a:t>
            </a:r>
            <a:r>
              <a:rPr lang="en-US" sz="1400" i="1" dirty="0" err="1"/>
              <a:t>int</a:t>
            </a:r>
            <a:r>
              <a:rPr lang="en-US" sz="1400" i="1" dirty="0"/>
              <a:t>&gt; S</a:t>
            </a:r>
            <a:r>
              <a:rPr lang="en-US" sz="1400" i="1" dirty="0" smtClean="0"/>
              <a:t>;</a:t>
            </a:r>
          </a:p>
          <a:p>
            <a:r>
              <a:rPr lang="en-US" sz="1400" i="1" dirty="0" smtClean="0"/>
              <a:t>    </a:t>
            </a:r>
            <a:r>
              <a:rPr lang="en-US" sz="1400" i="1" dirty="0"/>
              <a:t>while (n&gt;1) </a:t>
            </a:r>
            <a:r>
              <a:rPr lang="en-US" sz="1400" i="1" dirty="0" smtClean="0"/>
              <a:t>{</a:t>
            </a:r>
          </a:p>
          <a:p>
            <a:r>
              <a:rPr lang="en-US" sz="1400" i="1" dirty="0" smtClean="0"/>
              <a:t>    </a:t>
            </a:r>
            <a:r>
              <a:rPr lang="en-US" sz="1400" i="1" dirty="0"/>
              <a:t>	</a:t>
            </a:r>
            <a:r>
              <a:rPr lang="en-US" sz="1400" i="1" dirty="0" err="1"/>
              <a:t>S.push</a:t>
            </a:r>
            <a:r>
              <a:rPr lang="en-US" sz="1400" i="1" dirty="0"/>
              <a:t>(n</a:t>
            </a:r>
            <a:r>
              <a:rPr lang="en-US" sz="1400" i="1" dirty="0" smtClean="0"/>
              <a:t>); </a:t>
            </a:r>
            <a:r>
              <a:rPr lang="en-US" sz="1400" i="1" dirty="0"/>
              <a:t>n=n-1; </a:t>
            </a:r>
            <a:r>
              <a:rPr lang="en-US" sz="1400" i="1" dirty="0" smtClean="0"/>
              <a:t>}</a:t>
            </a:r>
          </a:p>
          <a:p>
            <a:r>
              <a:rPr lang="en-US" sz="1400" i="1" dirty="0" smtClean="0"/>
              <a:t>    </a:t>
            </a:r>
            <a:r>
              <a:rPr lang="en-US" sz="1400" i="1" dirty="0" err="1"/>
              <a:t>int</a:t>
            </a:r>
            <a:r>
              <a:rPr lang="en-US" sz="1400" i="1" dirty="0"/>
              <a:t> Fact = 1</a:t>
            </a:r>
            <a:r>
              <a:rPr lang="en-US" sz="1400" i="1" dirty="0" smtClean="0"/>
              <a:t>;</a:t>
            </a:r>
          </a:p>
          <a:p>
            <a:r>
              <a:rPr lang="en-US" sz="1400" i="1" dirty="0"/>
              <a:t> </a:t>
            </a:r>
            <a:r>
              <a:rPr lang="en-US" sz="1400" i="1" dirty="0" smtClean="0"/>
              <a:t>   </a:t>
            </a:r>
            <a:r>
              <a:rPr lang="en-US" sz="1400" i="1" dirty="0"/>
              <a:t>while(!</a:t>
            </a:r>
            <a:r>
              <a:rPr lang="en-US" sz="1400" i="1" dirty="0" err="1"/>
              <a:t>S.empty</a:t>
            </a:r>
            <a:r>
              <a:rPr lang="en-US" sz="1400" i="1" dirty="0" smtClean="0"/>
              <a:t>()){</a:t>
            </a:r>
          </a:p>
          <a:p>
            <a:r>
              <a:rPr lang="en-US" sz="1400" i="1" dirty="0" smtClean="0"/>
              <a:t>     </a:t>
            </a:r>
            <a:r>
              <a:rPr lang="en-US" sz="1400" i="1" dirty="0"/>
              <a:t>	n=</a:t>
            </a:r>
            <a:r>
              <a:rPr lang="en-US" sz="1400" i="1" dirty="0" err="1"/>
              <a:t>S.top</a:t>
            </a:r>
            <a:r>
              <a:rPr lang="en-US" sz="1400" i="1" dirty="0"/>
              <a:t>(); </a:t>
            </a:r>
            <a:r>
              <a:rPr lang="en-US" sz="1400" i="1" dirty="0" err="1" smtClean="0"/>
              <a:t>S.pop</a:t>
            </a:r>
            <a:r>
              <a:rPr lang="en-US" sz="1400" i="1" dirty="0" smtClean="0"/>
              <a:t>();</a:t>
            </a:r>
          </a:p>
          <a:p>
            <a:r>
              <a:rPr lang="en-US" sz="1400" i="1" dirty="0" smtClean="0"/>
              <a:t>    </a:t>
            </a:r>
            <a:r>
              <a:rPr lang="en-US" sz="1400" i="1" dirty="0"/>
              <a:t>	Fact *= n </a:t>
            </a:r>
            <a:r>
              <a:rPr lang="en-US" sz="1400" i="1" dirty="0" smtClean="0"/>
              <a:t>;</a:t>
            </a:r>
          </a:p>
          <a:p>
            <a:r>
              <a:rPr lang="en-US" sz="1400" i="1" dirty="0" smtClean="0"/>
              <a:t>    }</a:t>
            </a:r>
          </a:p>
          <a:p>
            <a:r>
              <a:rPr lang="en-US" sz="1400" i="1" dirty="0" smtClean="0"/>
              <a:t>    </a:t>
            </a:r>
            <a:r>
              <a:rPr lang="en-US" sz="1400" i="1" dirty="0"/>
              <a:t>return Fact;	</a:t>
            </a:r>
            <a:endParaRPr lang="en-US" sz="1400" i="1" dirty="0" smtClean="0"/>
          </a:p>
          <a:p>
            <a:r>
              <a:rPr lang="en-US" sz="1400" i="1" dirty="0" smtClean="0"/>
              <a:t>}</a:t>
            </a:r>
            <a:endParaRPr lang="en-US" sz="1400" i="1" dirty="0"/>
          </a:p>
        </p:txBody>
      </p:sp>
    </p:spTree>
    <p:extLst>
      <p:ext uri="{BB962C8B-B14F-4D97-AF65-F5344CB8AC3E}">
        <p14:creationId xmlns:p14="http://schemas.microsoft.com/office/powerpoint/2010/main" val="164292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31</a:t>
            </a:fld>
            <a:endParaRPr lang="en-US"/>
          </a:p>
        </p:txBody>
      </p:sp>
      <p:sp>
        <p:nvSpPr>
          <p:cNvPr id="4" name="Title 3"/>
          <p:cNvSpPr>
            <a:spLocks noGrp="1"/>
          </p:cNvSpPr>
          <p:nvPr>
            <p:ph type="title"/>
          </p:nvPr>
        </p:nvSpPr>
        <p:spPr/>
        <p:txBody>
          <a:bodyPr/>
          <a:lstStyle/>
          <a:p>
            <a:r>
              <a:rPr lang="en-US" dirty="0"/>
              <a:t>So </a:t>
            </a:r>
            <a:r>
              <a:rPr lang="en-US" dirty="0" err="1"/>
              <a:t>sánh</a:t>
            </a:r>
            <a:r>
              <a:rPr lang="en-US" dirty="0"/>
              <a:t> </a:t>
            </a:r>
            <a:r>
              <a:rPr lang="en-US" dirty="0" err="1"/>
              <a:t>Đệ</a:t>
            </a:r>
            <a:r>
              <a:rPr lang="en-US" dirty="0"/>
              <a:t> </a:t>
            </a:r>
            <a:r>
              <a:rPr lang="en-US" dirty="0" err="1"/>
              <a:t>quy</a:t>
            </a:r>
            <a:r>
              <a:rPr lang="en-US" dirty="0"/>
              <a:t> vs. </a:t>
            </a:r>
            <a:r>
              <a:rPr lang="en-US" dirty="0" err="1"/>
              <a:t>Lặp</a:t>
            </a:r>
            <a:r>
              <a:rPr lang="en-US" dirty="0"/>
              <a:t> !</a:t>
            </a:r>
          </a:p>
        </p:txBody>
      </p:sp>
      <p:sp>
        <p:nvSpPr>
          <p:cNvPr id="6" name="Rectangle 5"/>
          <p:cNvSpPr/>
          <p:nvPr/>
        </p:nvSpPr>
        <p:spPr>
          <a:xfrm>
            <a:off x="457200" y="963168"/>
            <a:ext cx="4572000" cy="4247317"/>
          </a:xfrm>
          <a:prstGeom prst="rect">
            <a:avLst/>
          </a:prstGeom>
        </p:spPr>
        <p:txBody>
          <a:bodyPr>
            <a:spAutoFit/>
          </a:bodyPr>
          <a:lstStyle/>
          <a:p>
            <a:r>
              <a:rPr lang="en-US" dirty="0" err="1"/>
              <a:t>int</a:t>
            </a:r>
            <a:r>
              <a:rPr lang="en-US" dirty="0"/>
              <a:t> Fibo1 (</a:t>
            </a:r>
            <a:r>
              <a:rPr lang="en-US" dirty="0" err="1"/>
              <a:t>int</a:t>
            </a:r>
            <a:r>
              <a:rPr lang="en-US" dirty="0"/>
              <a:t> n</a:t>
            </a:r>
            <a:r>
              <a:rPr lang="en-US" dirty="0" smtClean="0"/>
              <a:t>){</a:t>
            </a:r>
          </a:p>
          <a:p>
            <a:r>
              <a:rPr lang="en-US" dirty="0" smtClean="0"/>
              <a:t>    </a:t>
            </a:r>
            <a:r>
              <a:rPr lang="en-US" dirty="0"/>
              <a:t>if (n &lt;= 2) return 1</a:t>
            </a:r>
            <a:r>
              <a:rPr lang="en-US" dirty="0" smtClean="0"/>
              <a:t>;</a:t>
            </a:r>
          </a:p>
          <a:p>
            <a:r>
              <a:rPr lang="en-US" dirty="0" smtClean="0"/>
              <a:t>    </a:t>
            </a:r>
            <a:r>
              <a:rPr lang="en-US" dirty="0"/>
              <a:t>else </a:t>
            </a:r>
            <a:r>
              <a:rPr lang="en-US" dirty="0" smtClean="0"/>
              <a:t>return </a:t>
            </a:r>
            <a:r>
              <a:rPr lang="en-US" dirty="0"/>
              <a:t>(Fibo1 (n-1) + Fibo1 (n-2</a:t>
            </a:r>
            <a:r>
              <a:rPr lang="en-US" dirty="0" smtClean="0"/>
              <a:t>));</a:t>
            </a:r>
          </a:p>
          <a:p>
            <a:r>
              <a:rPr lang="en-US" dirty="0" smtClean="0"/>
              <a:t>}</a:t>
            </a:r>
          </a:p>
          <a:p>
            <a:r>
              <a:rPr lang="en-US" dirty="0" err="1" smtClean="0"/>
              <a:t>int</a:t>
            </a:r>
            <a:r>
              <a:rPr lang="en-US" dirty="0" smtClean="0"/>
              <a:t>  </a:t>
            </a:r>
            <a:r>
              <a:rPr lang="en-US" dirty="0"/>
              <a:t>Fibo2 (</a:t>
            </a:r>
            <a:r>
              <a:rPr lang="en-US" dirty="0" err="1"/>
              <a:t>int</a:t>
            </a:r>
            <a:r>
              <a:rPr lang="en-US" dirty="0"/>
              <a:t> n) </a:t>
            </a:r>
            <a:r>
              <a:rPr lang="en-US" dirty="0" smtClean="0"/>
              <a:t>{</a:t>
            </a:r>
          </a:p>
          <a:p>
            <a:r>
              <a:rPr lang="en-US" dirty="0" smtClean="0"/>
              <a:t>    </a:t>
            </a:r>
            <a:r>
              <a:rPr lang="en-US" dirty="0" err="1"/>
              <a:t>int</a:t>
            </a:r>
            <a:r>
              <a:rPr lang="en-US" dirty="0"/>
              <a:t> </a:t>
            </a:r>
            <a:r>
              <a:rPr lang="en-US" dirty="0" err="1"/>
              <a:t>i</a:t>
            </a:r>
            <a:r>
              <a:rPr lang="en-US" dirty="0"/>
              <a:t>, f, f1, f2</a:t>
            </a:r>
            <a:r>
              <a:rPr lang="en-US" dirty="0" smtClean="0"/>
              <a:t>;</a:t>
            </a:r>
          </a:p>
          <a:p>
            <a:r>
              <a:rPr lang="en-US" dirty="0" smtClean="0"/>
              <a:t>    </a:t>
            </a:r>
            <a:r>
              <a:rPr lang="en-US" dirty="0"/>
              <a:t>f1 = 1 ; </a:t>
            </a:r>
            <a:r>
              <a:rPr lang="en-US" dirty="0" smtClean="0"/>
              <a:t> </a:t>
            </a:r>
            <a:r>
              <a:rPr lang="en-US" dirty="0"/>
              <a:t>f2 = 1 </a:t>
            </a:r>
            <a:r>
              <a:rPr lang="en-US" dirty="0" smtClean="0"/>
              <a:t>;</a:t>
            </a:r>
          </a:p>
          <a:p>
            <a:r>
              <a:rPr lang="en-US" dirty="0" smtClean="0"/>
              <a:t>    </a:t>
            </a:r>
            <a:r>
              <a:rPr lang="en-US" dirty="0"/>
              <a:t>if  (n &lt;= 2)  f = 1</a:t>
            </a:r>
            <a:r>
              <a:rPr lang="en-US" dirty="0" smtClean="0"/>
              <a:t>;</a:t>
            </a:r>
          </a:p>
          <a:p>
            <a:r>
              <a:rPr lang="en-US" dirty="0" smtClean="0"/>
              <a:t>    </a:t>
            </a:r>
            <a:r>
              <a:rPr lang="en-US" dirty="0"/>
              <a:t>else for (</a:t>
            </a:r>
            <a:r>
              <a:rPr lang="en-US" dirty="0" err="1"/>
              <a:t>i</a:t>
            </a:r>
            <a:r>
              <a:rPr lang="en-US" dirty="0"/>
              <a:t> = 3;i&lt;=</a:t>
            </a:r>
            <a:r>
              <a:rPr lang="en-US" dirty="0" err="1"/>
              <a:t>n;i</a:t>
            </a:r>
            <a:r>
              <a:rPr lang="en-US" dirty="0" smtClean="0"/>
              <a:t>++){</a:t>
            </a:r>
          </a:p>
          <a:p>
            <a:r>
              <a:rPr lang="en-US" dirty="0" smtClean="0"/>
              <a:t> </a:t>
            </a:r>
            <a:r>
              <a:rPr lang="en-US" dirty="0"/>
              <a:t>	f = f1 + </a:t>
            </a:r>
            <a:r>
              <a:rPr lang="en-US" dirty="0" smtClean="0"/>
              <a:t>f2;</a:t>
            </a:r>
          </a:p>
          <a:p>
            <a:r>
              <a:rPr lang="en-US" dirty="0"/>
              <a:t> </a:t>
            </a:r>
            <a:r>
              <a:rPr lang="en-US" dirty="0" smtClean="0"/>
              <a:t>        f1 </a:t>
            </a:r>
            <a:r>
              <a:rPr lang="en-US" dirty="0"/>
              <a:t>= f2</a:t>
            </a:r>
            <a:r>
              <a:rPr lang="en-US" dirty="0" smtClean="0"/>
              <a:t>;</a:t>
            </a:r>
          </a:p>
          <a:p>
            <a:r>
              <a:rPr lang="en-US" dirty="0"/>
              <a:t>	f2 = f</a:t>
            </a:r>
            <a:r>
              <a:rPr lang="en-US" dirty="0" smtClean="0"/>
              <a:t>;</a:t>
            </a:r>
          </a:p>
          <a:p>
            <a:r>
              <a:rPr lang="en-US" dirty="0"/>
              <a:t> </a:t>
            </a:r>
            <a:r>
              <a:rPr lang="en-US" dirty="0" smtClean="0"/>
              <a:t>   }</a:t>
            </a:r>
          </a:p>
          <a:p>
            <a:r>
              <a:rPr lang="en-US" dirty="0" smtClean="0"/>
              <a:t>    </a:t>
            </a:r>
            <a:r>
              <a:rPr lang="en-US" dirty="0"/>
              <a:t>return f; </a:t>
            </a:r>
            <a:endParaRPr lang="en-US" dirty="0" smtClean="0"/>
          </a:p>
          <a:p>
            <a:r>
              <a:rPr lang="en-US" dirty="0" smtClean="0"/>
              <a:t>}</a:t>
            </a:r>
            <a:endParaRPr lang="en-US" dirty="0"/>
          </a:p>
        </p:txBody>
      </p:sp>
      <p:sp>
        <p:nvSpPr>
          <p:cNvPr id="7" name="Rectangle 6"/>
          <p:cNvSpPr/>
          <p:nvPr/>
        </p:nvSpPr>
        <p:spPr>
          <a:xfrm>
            <a:off x="4191000" y="2898041"/>
            <a:ext cx="4572000" cy="646331"/>
          </a:xfrm>
          <a:prstGeom prst="rect">
            <a:avLst/>
          </a:prstGeom>
        </p:spPr>
        <p:txBody>
          <a:bodyPr>
            <a:spAutoFit/>
          </a:bodyPr>
          <a:lstStyle/>
          <a:p>
            <a:r>
              <a:rPr lang="en-US" dirty="0">
                <a:solidFill>
                  <a:schemeClr val="accent1"/>
                </a:solidFill>
              </a:rPr>
              <a:t>Recursive: </a:t>
            </a:r>
            <a:r>
              <a:rPr lang="en-US" dirty="0" err="1">
                <a:solidFill>
                  <a:schemeClr val="accent1"/>
                </a:solidFill>
              </a:rPr>
              <a:t>Fibo</a:t>
            </a:r>
            <a:r>
              <a:rPr lang="en-US" dirty="0">
                <a:solidFill>
                  <a:schemeClr val="accent1"/>
                </a:solidFill>
              </a:rPr>
              <a:t>(17) = </a:t>
            </a:r>
            <a:r>
              <a:rPr lang="en-US" dirty="0" smtClean="0">
                <a:solidFill>
                  <a:schemeClr val="accent1"/>
                </a:solidFill>
              </a:rPr>
              <a:t>1597; </a:t>
            </a:r>
            <a:r>
              <a:rPr lang="en-US" dirty="0">
                <a:solidFill>
                  <a:schemeClr val="accent1"/>
                </a:solidFill>
              </a:rPr>
              <a:t>time = 0.265261 s </a:t>
            </a:r>
          </a:p>
          <a:p>
            <a:r>
              <a:rPr lang="en-US" dirty="0">
                <a:solidFill>
                  <a:schemeClr val="accent1"/>
                </a:solidFill>
              </a:rPr>
              <a:t>Iteration: </a:t>
            </a:r>
            <a:r>
              <a:rPr lang="en-US" dirty="0" err="1">
                <a:solidFill>
                  <a:schemeClr val="accent1"/>
                </a:solidFill>
              </a:rPr>
              <a:t>Fibo</a:t>
            </a:r>
            <a:r>
              <a:rPr lang="en-US" dirty="0">
                <a:solidFill>
                  <a:schemeClr val="accent1"/>
                </a:solidFill>
              </a:rPr>
              <a:t>(17) = </a:t>
            </a:r>
            <a:r>
              <a:rPr lang="en-US" dirty="0" smtClean="0">
                <a:solidFill>
                  <a:schemeClr val="accent1"/>
                </a:solidFill>
              </a:rPr>
              <a:t>1597;   time </a:t>
            </a:r>
            <a:r>
              <a:rPr lang="en-US" dirty="0">
                <a:solidFill>
                  <a:schemeClr val="accent1"/>
                </a:solidFill>
              </a:rPr>
              <a:t>= 0.001370 s </a:t>
            </a:r>
          </a:p>
        </p:txBody>
      </p:sp>
      <p:sp>
        <p:nvSpPr>
          <p:cNvPr id="8" name="Rectangle 7"/>
          <p:cNvSpPr/>
          <p:nvPr/>
        </p:nvSpPr>
        <p:spPr>
          <a:xfrm>
            <a:off x="4191000" y="2496968"/>
            <a:ext cx="1380506" cy="369332"/>
          </a:xfrm>
          <a:prstGeom prst="rect">
            <a:avLst/>
          </a:prstGeom>
        </p:spPr>
        <p:txBody>
          <a:bodyPr wrap="none">
            <a:spAutoFit/>
          </a:bodyPr>
          <a:lstStyle/>
          <a:p>
            <a:r>
              <a:rPr lang="en-US" dirty="0">
                <a:solidFill>
                  <a:schemeClr val="accent1"/>
                </a:solidFill>
              </a:rPr>
              <a:t> </a:t>
            </a:r>
            <a:r>
              <a:rPr lang="en-US" dirty="0" smtClean="0">
                <a:solidFill>
                  <a:schemeClr val="accent1"/>
                </a:solidFill>
              </a:rPr>
              <a:t>// k </a:t>
            </a:r>
            <a:r>
              <a:rPr lang="en-US" dirty="0">
                <a:solidFill>
                  <a:schemeClr val="accent1"/>
                </a:solidFill>
              </a:rPr>
              <a:t>= 30000</a:t>
            </a:r>
          </a:p>
        </p:txBody>
      </p:sp>
    </p:spTree>
    <p:extLst>
      <p:ext uri="{BB962C8B-B14F-4D97-AF65-F5344CB8AC3E}">
        <p14:creationId xmlns:p14="http://schemas.microsoft.com/office/powerpoint/2010/main" val="1559232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32</a:t>
            </a:fld>
            <a:endParaRPr lang="en-US"/>
          </a:p>
        </p:txBody>
      </p:sp>
      <p:sp>
        <p:nvSpPr>
          <p:cNvPr id="5" name="Title 4"/>
          <p:cNvSpPr>
            <a:spLocks noGrp="1"/>
          </p:cNvSpPr>
          <p:nvPr>
            <p:ph type="title"/>
          </p:nvPr>
        </p:nvSpPr>
        <p:spPr/>
        <p:txBody>
          <a:bodyPr/>
          <a:lstStyle/>
          <a:p>
            <a:r>
              <a:rPr lang="en-US" dirty="0" err="1" smtClean="0"/>
              <a:t>Nhận</a:t>
            </a:r>
            <a:r>
              <a:rPr lang="en-US" dirty="0" smtClean="0"/>
              <a:t> </a:t>
            </a:r>
            <a:r>
              <a:rPr lang="en-US" dirty="0" err="1" smtClean="0"/>
              <a:t>xét</a:t>
            </a:r>
            <a:endParaRPr lang="en-US" dirty="0"/>
          </a:p>
        </p:txBody>
      </p:sp>
      <p:sp>
        <p:nvSpPr>
          <p:cNvPr id="2" name="Content Placeholder 1"/>
          <p:cNvSpPr>
            <a:spLocks noGrp="1"/>
          </p:cNvSpPr>
          <p:nvPr>
            <p:ph type="body" sz="quarter" idx="13"/>
          </p:nvPr>
        </p:nvSpPr>
        <p:spPr>
          <a:xfrm>
            <a:off x="234951" y="963167"/>
            <a:ext cx="8674100" cy="5602091"/>
          </a:xfrm>
        </p:spPr>
        <p:txBody>
          <a:bodyPr>
            <a:normAutofit/>
          </a:bodyPr>
          <a:lstStyle/>
          <a:p>
            <a:r>
              <a:rPr lang="en-US" altLang="en-US" sz="2400" dirty="0" err="1">
                <a:cs typeface="Times New Roman" panose="02020603050405020304" pitchFamily="18" charset="0"/>
              </a:rPr>
              <a:t>Ưu</a:t>
            </a:r>
            <a:r>
              <a:rPr lang="en-US" altLang="en-US" sz="2400" dirty="0">
                <a:cs typeface="Times New Roman" panose="02020603050405020304" pitchFamily="18" charset="0"/>
              </a:rPr>
              <a:t> </a:t>
            </a:r>
            <a:r>
              <a:rPr lang="en-US" altLang="en-US" sz="2400" dirty="0" err="1">
                <a:cs typeface="Times New Roman" panose="02020603050405020304" pitchFamily="18" charset="0"/>
              </a:rPr>
              <a:t>nhược</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điểm</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thủ</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tục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đệ</a:t>
            </a:r>
            <a:r>
              <a:rPr lang="en-US" altLang="en-US" sz="2400" dirty="0">
                <a:cs typeface="Times New Roman" panose="02020603050405020304" pitchFamily="18" charset="0"/>
              </a:rPr>
              <a:t> </a:t>
            </a:r>
            <a:r>
              <a:rPr lang="en-US" altLang="en-US" sz="2400" dirty="0" err="1">
                <a:cs typeface="Times New Roman" panose="02020603050405020304" pitchFamily="18" charset="0"/>
              </a:rPr>
              <a:t>quy</a:t>
            </a:r>
            <a:r>
              <a:rPr lang="en-US" altLang="en-US" sz="2400" dirty="0">
                <a:cs typeface="Times New Roman" panose="02020603050405020304" pitchFamily="18" charset="0"/>
              </a:rPr>
              <a:t> </a:t>
            </a:r>
            <a:endParaRPr lang="en-US" altLang="en-US" sz="2400" dirty="0" smtClean="0">
              <a:cs typeface="Times New Roman" panose="02020603050405020304" pitchFamily="18" charset="0"/>
            </a:endParaRPr>
          </a:p>
          <a:p>
            <a:pPr lvl="1" eaLnBrk="1" hangingPunct="1">
              <a:spcBef>
                <a:spcPct val="10000"/>
              </a:spcBef>
            </a:pPr>
            <a:r>
              <a:rPr lang="en-US" altLang="en-US" sz="2000" dirty="0" err="1">
                <a:cs typeface="Times New Roman" panose="02020603050405020304" pitchFamily="18" charset="0"/>
              </a:rPr>
              <a:t>Ưu</a:t>
            </a:r>
            <a:r>
              <a:rPr lang="en-US" altLang="en-US" sz="2000" dirty="0">
                <a:cs typeface="Times New Roman" panose="02020603050405020304" pitchFamily="18" charset="0"/>
              </a:rPr>
              <a:t> </a:t>
            </a:r>
            <a:r>
              <a:rPr lang="en-US" altLang="en-US" sz="2000" dirty="0" err="1">
                <a:cs typeface="Times New Roman" panose="02020603050405020304" pitchFamily="18" charset="0"/>
              </a:rPr>
              <a:t>điểm</a:t>
            </a:r>
            <a:r>
              <a:rPr lang="en-US" altLang="en-US" sz="2000" dirty="0">
                <a:cs typeface="Times New Roman" panose="02020603050405020304" pitchFamily="18" charset="0"/>
              </a:rPr>
              <a:t>: </a:t>
            </a:r>
            <a:r>
              <a:rPr lang="en-US" altLang="en-US" sz="2000" dirty="0" err="1">
                <a:cs typeface="Times New Roman" panose="02020603050405020304" pitchFamily="18" charset="0"/>
              </a:rPr>
              <a:t>viết</a:t>
            </a:r>
            <a:r>
              <a:rPr lang="en-US" altLang="en-US" sz="2000" dirty="0">
                <a:cs typeface="Times New Roman" panose="02020603050405020304" pitchFamily="18" charset="0"/>
              </a:rPr>
              <a:t> </a:t>
            </a:r>
            <a:r>
              <a:rPr lang="en-US" altLang="en-US" sz="2000" dirty="0" err="1">
                <a:cs typeface="Times New Roman" panose="02020603050405020304" pitchFamily="18" charset="0"/>
              </a:rPr>
              <a:t>chương</a:t>
            </a:r>
            <a:r>
              <a:rPr lang="en-US" altLang="en-US" sz="2000" dirty="0">
                <a:cs typeface="Times New Roman" panose="02020603050405020304" pitchFamily="18" charset="0"/>
              </a:rPr>
              <a:t> </a:t>
            </a:r>
            <a:r>
              <a:rPr lang="en-US" altLang="en-US" sz="2000" dirty="0" err="1">
                <a:cs typeface="Times New Roman" panose="02020603050405020304" pitchFamily="18" charset="0"/>
              </a:rPr>
              <a:t>trình</a:t>
            </a:r>
            <a:r>
              <a:rPr lang="en-US" altLang="en-US" sz="2000" dirty="0">
                <a:cs typeface="Times New Roman" panose="02020603050405020304" pitchFamily="18" charset="0"/>
              </a:rPr>
              <a:t> </a:t>
            </a:r>
            <a:r>
              <a:rPr lang="en-US" altLang="en-US" sz="2000" dirty="0" err="1">
                <a:cs typeface="Times New Roman" panose="02020603050405020304" pitchFamily="18" charset="0"/>
              </a:rPr>
              <a:t>dễ</a:t>
            </a:r>
            <a:r>
              <a:rPr lang="en-US" altLang="en-US" sz="2000" dirty="0">
                <a:cs typeface="Times New Roman" panose="02020603050405020304" pitchFamily="18" charset="0"/>
              </a:rPr>
              <a:t> </a:t>
            </a:r>
            <a:r>
              <a:rPr lang="en-US" altLang="en-US" sz="2000" dirty="0" err="1">
                <a:cs typeface="Times New Roman" panose="02020603050405020304" pitchFamily="18" charset="0"/>
              </a:rPr>
              <a:t>dàng</a:t>
            </a:r>
            <a:r>
              <a:rPr lang="en-US" altLang="en-US" sz="2000" dirty="0">
                <a:cs typeface="Times New Roman" panose="02020603050405020304" pitchFamily="18" charset="0"/>
              </a:rPr>
              <a:t>, </a:t>
            </a:r>
            <a:r>
              <a:rPr lang="en-US" altLang="en-US" sz="2000" dirty="0" err="1">
                <a:cs typeface="Times New Roman" panose="02020603050405020304" pitchFamily="18" charset="0"/>
              </a:rPr>
              <a:t>dễ</a:t>
            </a:r>
            <a:r>
              <a:rPr lang="en-US" altLang="en-US" sz="2000" dirty="0">
                <a:cs typeface="Times New Roman" panose="02020603050405020304" pitchFamily="18" charset="0"/>
              </a:rPr>
              <a:t> </a:t>
            </a:r>
            <a:r>
              <a:rPr lang="en-US" altLang="en-US" sz="2000" dirty="0" err="1">
                <a:cs typeface="Times New Roman" panose="02020603050405020304" pitchFamily="18" charset="0"/>
              </a:rPr>
              <a:t>hiểu</a:t>
            </a:r>
            <a:r>
              <a:rPr lang="en-US" altLang="en-US" sz="2000" dirty="0">
                <a:cs typeface="Times New Roman" panose="02020603050405020304" pitchFamily="18" charset="0"/>
              </a:rPr>
              <a:t>, </a:t>
            </a:r>
            <a:r>
              <a:rPr lang="en-US" altLang="en-US" sz="2000" dirty="0" err="1">
                <a:cs typeface="Times New Roman" panose="02020603050405020304" pitchFamily="18" charset="0"/>
              </a:rPr>
              <a:t>ngắn</a:t>
            </a:r>
            <a:r>
              <a:rPr lang="en-US" altLang="en-US" sz="2000" dirty="0">
                <a:cs typeface="Times New Roman" panose="02020603050405020304" pitchFamily="18" charset="0"/>
              </a:rPr>
              <a:t> </a:t>
            </a:r>
            <a:r>
              <a:rPr lang="en-US" altLang="en-US" sz="2000" dirty="0" err="1">
                <a:cs typeface="Times New Roman" panose="02020603050405020304" pitchFamily="18" charset="0"/>
              </a:rPr>
              <a:t>gọn</a:t>
            </a:r>
            <a:endParaRPr lang="en-US" altLang="en-US" sz="2000" dirty="0">
              <a:cs typeface="Times New Roman" panose="02020603050405020304" pitchFamily="18" charset="0"/>
            </a:endParaRPr>
          </a:p>
          <a:p>
            <a:pPr lvl="1" eaLnBrk="1" hangingPunct="1">
              <a:spcBef>
                <a:spcPct val="10000"/>
              </a:spcBef>
            </a:pPr>
            <a:r>
              <a:rPr lang="en-US" altLang="en-US" sz="2000" dirty="0" err="1">
                <a:cs typeface="Times New Roman" panose="02020603050405020304" pitchFamily="18" charset="0"/>
              </a:rPr>
              <a:t>Nhược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điểm</a:t>
            </a:r>
            <a:r>
              <a:rPr lang="en-US" altLang="en-US" sz="2000" dirty="0" smtClean="0">
                <a:cs typeface="Times New Roman" panose="02020603050405020304" pitchFamily="18" charset="0"/>
              </a:rPr>
              <a:t>:</a:t>
            </a:r>
            <a:endParaRPr lang="en-US" altLang="en-US" sz="2000" dirty="0">
              <a:cs typeface="Times New Roman" panose="02020603050405020304" pitchFamily="18" charset="0"/>
            </a:endParaRPr>
          </a:p>
          <a:p>
            <a:pPr lvl="2" eaLnBrk="1" hangingPunct="1">
              <a:spcBef>
                <a:spcPct val="10000"/>
              </a:spcBef>
            </a:pPr>
            <a:r>
              <a:rPr lang="en-US" altLang="en-US" sz="2000" dirty="0" err="1" smtClean="0">
                <a:cs typeface="Times New Roman" panose="02020603050405020304" pitchFamily="18" charset="0"/>
              </a:rPr>
              <a:t>Tốn</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thời</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gian</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ốn</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bộ</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nhớ</a:t>
            </a:r>
            <a:r>
              <a:rPr lang="en-US" altLang="en-US" sz="2000" dirty="0" smtClean="0">
                <a:cs typeface="Times New Roman" panose="02020603050405020304" pitchFamily="18" charset="0"/>
              </a:rPr>
              <a:t> </a:t>
            </a:r>
            <a:r>
              <a:rPr lang="en-US" sz="2000" dirty="0" err="1" smtClean="0"/>
              <a:t>và</a:t>
            </a:r>
            <a:r>
              <a:rPr lang="en-US" sz="2000" dirty="0" smtClean="0"/>
              <a:t> </a:t>
            </a:r>
            <a:r>
              <a:rPr lang="en-US" sz="2000" dirty="0" err="1"/>
              <a:t>có</a:t>
            </a:r>
            <a:r>
              <a:rPr lang="en-US" sz="2000" dirty="0"/>
              <a:t> </a:t>
            </a:r>
            <a:r>
              <a:rPr lang="en-US" sz="2000" dirty="0" err="1"/>
              <a:t>thể</a:t>
            </a:r>
            <a:r>
              <a:rPr lang="en-US" sz="2000" dirty="0"/>
              <a:t> </a:t>
            </a:r>
            <a:r>
              <a:rPr lang="en-US" sz="2000" dirty="0" err="1"/>
              <a:t>tràn</a:t>
            </a:r>
            <a:r>
              <a:rPr lang="en-US" sz="2000" dirty="0"/>
              <a:t> stack </a:t>
            </a:r>
            <a:r>
              <a:rPr lang="en-US" sz="2000" dirty="0" err="1"/>
              <a:t>nếu</a:t>
            </a:r>
            <a:r>
              <a:rPr lang="en-US" sz="2000" dirty="0"/>
              <a:t> </a:t>
            </a:r>
            <a:r>
              <a:rPr lang="en-US" sz="2000" dirty="0" err="1"/>
              <a:t>không</a:t>
            </a:r>
            <a:r>
              <a:rPr lang="en-US" sz="2000" dirty="0"/>
              <a:t> </a:t>
            </a:r>
            <a:r>
              <a:rPr lang="en-US" sz="2000" dirty="0" err="1"/>
              <a:t>kiểm</a:t>
            </a:r>
            <a:r>
              <a:rPr lang="en-US" sz="2000" dirty="0"/>
              <a:t> </a:t>
            </a:r>
            <a:r>
              <a:rPr lang="en-US" sz="2000" dirty="0" err="1"/>
              <a:t>soát</a:t>
            </a:r>
            <a:r>
              <a:rPr lang="en-US" sz="2000" dirty="0"/>
              <a:t> </a:t>
            </a:r>
            <a:r>
              <a:rPr lang="en-US" sz="2000" dirty="0" err="1"/>
              <a:t>tốt</a:t>
            </a:r>
            <a:r>
              <a:rPr lang="en-US" sz="2000" dirty="0"/>
              <a:t> </a:t>
            </a:r>
            <a:r>
              <a:rPr lang="en-US" sz="2000" dirty="0" err="1"/>
              <a:t>độ</a:t>
            </a:r>
            <a:r>
              <a:rPr lang="en-US" sz="2000" dirty="0"/>
              <a:t> </a:t>
            </a:r>
            <a:r>
              <a:rPr lang="en-US" sz="2000" dirty="0" err="1"/>
              <a:t>sâu</a:t>
            </a:r>
            <a:r>
              <a:rPr lang="en-US" sz="2000" dirty="0"/>
              <a:t> </a:t>
            </a:r>
            <a:r>
              <a:rPr lang="en-US" sz="2000" dirty="0" err="1"/>
              <a:t>của</a:t>
            </a:r>
            <a:r>
              <a:rPr lang="en-US" sz="2000" dirty="0"/>
              <a:t> </a:t>
            </a:r>
            <a:r>
              <a:rPr lang="en-US" sz="2000" dirty="0" err="1"/>
              <a:t>đệ</a:t>
            </a:r>
            <a:r>
              <a:rPr lang="en-US" sz="2000" dirty="0"/>
              <a:t> </a:t>
            </a:r>
            <a:r>
              <a:rPr lang="en-US" sz="2000" dirty="0" err="1" smtClean="0"/>
              <a:t>quy</a:t>
            </a:r>
            <a:endParaRPr lang="en-US" sz="2000" dirty="0" smtClean="0"/>
          </a:p>
          <a:p>
            <a:pPr lvl="2" eaLnBrk="1" hangingPunct="1">
              <a:spcBef>
                <a:spcPct val="10000"/>
              </a:spcBef>
            </a:pPr>
            <a:r>
              <a:rPr lang="en-US" altLang="en-US" sz="2000" dirty="0" err="1" smtClean="0">
                <a:cs typeface="Times New Roman" panose="02020603050405020304" pitchFamily="18" charset="0"/>
              </a:rPr>
              <a:t>Khó</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gỡ</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lỗi</a:t>
            </a:r>
            <a:endParaRPr lang="en-US" altLang="en-US" sz="2000" dirty="0" smtClean="0">
              <a:cs typeface="Times New Roman" panose="02020603050405020304" pitchFamily="18" charset="0"/>
            </a:endParaRPr>
          </a:p>
          <a:p>
            <a:pPr lvl="1">
              <a:spcBef>
                <a:spcPct val="10000"/>
              </a:spcBef>
            </a:pPr>
            <a:r>
              <a:rPr lang="en-US" altLang="en-US" sz="2000" dirty="0" err="1" smtClean="0">
                <a:cs typeface="Times New Roman" panose="02020603050405020304" pitchFamily="18" charset="0"/>
              </a:rPr>
              <a:t>Không</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phải</a:t>
            </a:r>
            <a:r>
              <a:rPr lang="en-US" altLang="en-US" sz="2000" dirty="0">
                <a:cs typeface="Times New Roman" panose="02020603050405020304" pitchFamily="18" charset="0"/>
              </a:rPr>
              <a:t> </a:t>
            </a:r>
            <a:r>
              <a:rPr lang="en-US" altLang="en-US" sz="2000" dirty="0" err="1">
                <a:cs typeface="Times New Roman" panose="02020603050405020304" pitchFamily="18" charset="0"/>
              </a:rPr>
              <a:t>lúc</a:t>
            </a:r>
            <a:r>
              <a:rPr lang="en-US" altLang="en-US" sz="2000" dirty="0">
                <a:cs typeface="Times New Roman" panose="02020603050405020304" pitchFamily="18" charset="0"/>
              </a:rPr>
              <a:t> </a:t>
            </a:r>
            <a:r>
              <a:rPr lang="en-US" altLang="en-US" sz="2000" dirty="0" err="1">
                <a:cs typeface="Times New Roman" panose="02020603050405020304" pitchFamily="18" charset="0"/>
              </a:rPr>
              <a:t>nào</a:t>
            </a:r>
            <a:r>
              <a:rPr lang="en-US" altLang="en-US" sz="2000" dirty="0">
                <a:cs typeface="Times New Roman" panose="02020603050405020304" pitchFamily="18" charset="0"/>
              </a:rPr>
              <a:t> </a:t>
            </a:r>
            <a:r>
              <a:rPr lang="en-US" altLang="en-US" sz="2000" dirty="0" err="1">
                <a:cs typeface="Times New Roman" panose="02020603050405020304" pitchFamily="18" charset="0"/>
              </a:rPr>
              <a:t>cũng</a:t>
            </a:r>
            <a:r>
              <a:rPr lang="en-US" altLang="en-US" sz="2000" dirty="0">
                <a:cs typeface="Times New Roman" panose="02020603050405020304" pitchFamily="18" charset="0"/>
              </a:rPr>
              <a:t> </a:t>
            </a: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thể</a:t>
            </a:r>
            <a:r>
              <a:rPr lang="en-US" altLang="en-US" sz="2000" dirty="0">
                <a:cs typeface="Times New Roman" panose="02020603050405020304" pitchFamily="18" charset="0"/>
              </a:rPr>
              <a:t> </a:t>
            </a:r>
            <a:r>
              <a:rPr lang="en-US" altLang="en-US" sz="2000" dirty="0" err="1">
                <a:cs typeface="Times New Roman" panose="02020603050405020304" pitchFamily="18" charset="0"/>
              </a:rPr>
              <a:t>xây</a:t>
            </a:r>
            <a:r>
              <a:rPr lang="en-US" altLang="en-US" sz="2000" dirty="0">
                <a:cs typeface="Times New Roman" panose="02020603050405020304" pitchFamily="18" charset="0"/>
              </a:rPr>
              <a:t> </a:t>
            </a:r>
            <a:r>
              <a:rPr lang="en-US" altLang="en-US" sz="2000" dirty="0" err="1">
                <a:cs typeface="Times New Roman" panose="02020603050405020304" pitchFamily="18" charset="0"/>
              </a:rPr>
              <a:t>dựng</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theo</a:t>
            </a:r>
            <a:r>
              <a:rPr lang="en-US" altLang="en-US" sz="2000" dirty="0">
                <a:cs typeface="Times New Roman" panose="02020603050405020304" pitchFamily="18" charset="0"/>
              </a:rPr>
              <a:t> </a:t>
            </a:r>
            <a:r>
              <a:rPr lang="en-US" altLang="en-US" sz="2000" dirty="0" err="1">
                <a:cs typeface="Times New Roman" panose="02020603050405020304" pitchFamily="18" charset="0"/>
              </a:rPr>
              <a:t>giải</a:t>
            </a:r>
            <a:r>
              <a:rPr lang="en-US" altLang="en-US" sz="2000" dirty="0">
                <a:cs typeface="Times New Roman" panose="02020603050405020304" pitchFamily="18" charset="0"/>
              </a:rPr>
              <a:t> </a:t>
            </a:r>
            <a:r>
              <a:rPr lang="en-US" altLang="en-US" sz="2000" dirty="0" err="1">
                <a:cs typeface="Times New Roman" panose="02020603050405020304" pitchFamily="18" charset="0"/>
              </a:rPr>
              <a:t>thuật</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thủ</a:t>
            </a:r>
            <a:r>
              <a:rPr lang="en-US" altLang="en-US" sz="2000" dirty="0">
                <a:cs typeface="Times New Roman" panose="02020603050405020304" pitchFamily="18" charset="0"/>
              </a:rPr>
              <a:t> </a:t>
            </a:r>
            <a:r>
              <a:rPr lang="en-US" altLang="en-US" sz="2000" dirty="0" err="1">
                <a:cs typeface="Times New Roman" panose="02020603050405020304" pitchFamily="18" charset="0"/>
              </a:rPr>
              <a:t>tục</a:t>
            </a:r>
            <a:r>
              <a:rPr lang="en-US" altLang="en-US" sz="2000" dirty="0">
                <a:cs typeface="Times New Roman" panose="02020603050405020304" pitchFamily="18" charset="0"/>
              </a:rPr>
              <a:t> </a:t>
            </a:r>
            <a:r>
              <a:rPr lang="en-US" altLang="en-US" sz="2000" dirty="0" err="1">
                <a:cs typeface="Times New Roman" panose="02020603050405020304" pitchFamily="18" charset="0"/>
              </a:rPr>
              <a:t>đệ</a:t>
            </a:r>
            <a:r>
              <a:rPr lang="en-US" altLang="en-US" sz="2000" dirty="0">
                <a:cs typeface="Times New Roman" panose="02020603050405020304" pitchFamily="18" charset="0"/>
              </a:rPr>
              <a:t> </a:t>
            </a: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một</a:t>
            </a:r>
            <a:r>
              <a:rPr lang="en-US" altLang="en-US" sz="2000" dirty="0">
                <a:cs typeface="Times New Roman" panose="02020603050405020304" pitchFamily="18" charset="0"/>
              </a:rPr>
              <a:t> </a:t>
            </a:r>
            <a:r>
              <a:rPr lang="en-US" altLang="en-US" sz="2000" dirty="0" err="1">
                <a:cs typeface="Times New Roman" panose="02020603050405020304" pitchFamily="18" charset="0"/>
              </a:rPr>
              <a:t>cách</a:t>
            </a:r>
            <a:r>
              <a:rPr lang="en-US" altLang="en-US" sz="2000" dirty="0">
                <a:cs typeface="Times New Roman" panose="02020603050405020304" pitchFamily="18" charset="0"/>
              </a:rPr>
              <a:t> </a:t>
            </a:r>
            <a:r>
              <a:rPr lang="en-US" altLang="en-US" sz="2000" dirty="0" err="1">
                <a:cs typeface="Times New Roman" panose="02020603050405020304" pitchFamily="18" charset="0"/>
              </a:rPr>
              <a:t>dễ</a:t>
            </a:r>
            <a:r>
              <a:rPr lang="en-US" altLang="en-US" sz="2000" dirty="0">
                <a:cs typeface="Times New Roman" panose="02020603050405020304" pitchFamily="18" charset="0"/>
              </a:rPr>
              <a:t> </a:t>
            </a:r>
            <a:r>
              <a:rPr lang="en-US" altLang="en-US" sz="2000" dirty="0" err="1">
                <a:cs typeface="Times New Roman" panose="02020603050405020304" pitchFamily="18" charset="0"/>
              </a:rPr>
              <a:t>dàng</a:t>
            </a:r>
            <a:endParaRPr lang="en-US" altLang="en-US" sz="2000" dirty="0">
              <a:cs typeface="Times New Roman" panose="02020603050405020304" pitchFamily="18" charset="0"/>
            </a:endParaRPr>
          </a:p>
          <a:p>
            <a:pPr lvl="2" eaLnBrk="1" hangingPunct="1">
              <a:spcBef>
                <a:spcPct val="10000"/>
              </a:spcBef>
            </a:pPr>
            <a:r>
              <a:rPr lang="en-US" altLang="en-US" sz="2000" dirty="0" err="1">
                <a:cs typeface="Times New Roman" panose="02020603050405020304" pitchFamily="18" charset="0"/>
              </a:rPr>
              <a:t>Có</a:t>
            </a:r>
            <a:r>
              <a:rPr lang="en-US" altLang="en-US" sz="2000" dirty="0">
                <a:cs typeface="Times New Roman" panose="02020603050405020304" pitchFamily="18" charset="0"/>
              </a:rPr>
              <a:t> </a:t>
            </a:r>
            <a:r>
              <a:rPr lang="en-US" altLang="en-US" sz="2000" dirty="0" err="1">
                <a:cs typeface="Times New Roman" panose="02020603050405020304" pitchFamily="18" charset="0"/>
              </a:rPr>
              <a:t>thể</a:t>
            </a:r>
            <a:r>
              <a:rPr lang="en-US" altLang="en-US" sz="2000" dirty="0">
                <a:cs typeface="Times New Roman" panose="02020603050405020304" pitchFamily="18" charset="0"/>
              </a:rPr>
              <a:t> </a:t>
            </a:r>
            <a:r>
              <a:rPr lang="en-US" altLang="en-US" sz="2000" dirty="0" err="1">
                <a:cs typeface="Times New Roman" panose="02020603050405020304" pitchFamily="18" charset="0"/>
              </a:rPr>
              <a:t>định</a:t>
            </a:r>
            <a:r>
              <a:rPr lang="en-US" altLang="en-US" sz="2000" dirty="0">
                <a:cs typeface="Times New Roman" panose="02020603050405020304" pitchFamily="18" charset="0"/>
              </a:rPr>
              <a:t> </a:t>
            </a:r>
            <a:r>
              <a:rPr lang="en-US" altLang="en-US" sz="2000" dirty="0" err="1">
                <a:cs typeface="Times New Roman" panose="02020603050405020304" pitchFamily="18" charset="0"/>
              </a:rPr>
              <a:t>nghĩa</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dưới</a:t>
            </a:r>
            <a:r>
              <a:rPr lang="en-US" altLang="en-US" sz="2000" dirty="0">
                <a:cs typeface="Times New Roman" panose="02020603050405020304" pitchFamily="18" charset="0"/>
              </a:rPr>
              <a:t> </a:t>
            </a:r>
            <a:r>
              <a:rPr lang="en-US" altLang="en-US" sz="2000" dirty="0" err="1">
                <a:cs typeface="Times New Roman" panose="02020603050405020304" pitchFamily="18" charset="0"/>
              </a:rPr>
              <a:t>dạng</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cùng</a:t>
            </a:r>
            <a:r>
              <a:rPr lang="en-US" altLang="en-US" sz="2000" dirty="0">
                <a:cs typeface="Times New Roman" panose="02020603050405020304" pitchFamily="18" charset="0"/>
              </a:rPr>
              <a:t> </a:t>
            </a:r>
            <a:r>
              <a:rPr lang="en-US" altLang="en-US" sz="2000" dirty="0" err="1">
                <a:cs typeface="Times New Roman" panose="02020603050405020304" pitchFamily="18" charset="0"/>
              </a:rPr>
              <a:t>loại</a:t>
            </a:r>
            <a:r>
              <a:rPr lang="en-US" altLang="en-US" sz="2000" dirty="0">
                <a:cs typeface="Times New Roman" panose="02020603050405020304" pitchFamily="18" charset="0"/>
              </a:rPr>
              <a:t> </a:t>
            </a:r>
            <a:r>
              <a:rPr lang="en-US" altLang="en-US" sz="2000" dirty="0" err="1">
                <a:cs typeface="Times New Roman" panose="02020603050405020304" pitchFamily="18" charset="0"/>
              </a:rPr>
              <a:t>nhưng</a:t>
            </a:r>
            <a:r>
              <a:rPr lang="en-US" altLang="en-US" sz="2000" dirty="0">
                <a:cs typeface="Times New Roman" panose="02020603050405020304" pitchFamily="18" charset="0"/>
              </a:rPr>
              <a:t> </a:t>
            </a:r>
            <a:r>
              <a:rPr lang="en-US" altLang="en-US" sz="2000" dirty="0" err="1">
                <a:cs typeface="Times New Roman" panose="02020603050405020304" pitchFamily="18" charset="0"/>
              </a:rPr>
              <a:t>nhỏ</a:t>
            </a:r>
            <a:r>
              <a:rPr lang="en-US" altLang="en-US" sz="2000" dirty="0">
                <a:cs typeface="Times New Roman" panose="02020603050405020304" pitchFamily="18" charset="0"/>
              </a:rPr>
              <a:t> </a:t>
            </a:r>
            <a:r>
              <a:rPr lang="en-US" altLang="en-US" sz="2000" dirty="0" err="1">
                <a:cs typeface="Times New Roman" panose="02020603050405020304" pitchFamily="18" charset="0"/>
              </a:rPr>
              <a:t>hơn</a:t>
            </a:r>
            <a:r>
              <a:rPr lang="en-US" altLang="en-US" sz="2000" dirty="0">
                <a:cs typeface="Times New Roman" panose="02020603050405020304" pitchFamily="18" charset="0"/>
              </a:rPr>
              <a:t> </a:t>
            </a:r>
            <a:r>
              <a:rPr lang="en-US" altLang="en-US" sz="2000" dirty="0" err="1">
                <a:cs typeface="Times New Roman" panose="02020603050405020304" pitchFamily="18" charset="0"/>
              </a:rPr>
              <a:t>như</a:t>
            </a:r>
            <a:r>
              <a:rPr lang="en-US" altLang="en-US" sz="2000" dirty="0">
                <a:cs typeface="Times New Roman" panose="02020603050405020304" pitchFamily="18" charset="0"/>
              </a:rPr>
              <a:t> </a:t>
            </a:r>
            <a:r>
              <a:rPr lang="en-US" altLang="en-US" sz="2000" dirty="0" err="1">
                <a:cs typeface="Times New Roman" panose="02020603050405020304" pitchFamily="18" charset="0"/>
              </a:rPr>
              <a:t>thế</a:t>
            </a:r>
            <a:r>
              <a:rPr lang="en-US" altLang="en-US" sz="2000" dirty="0">
                <a:cs typeface="Times New Roman" panose="02020603050405020304" pitchFamily="18" charset="0"/>
              </a:rPr>
              <a:t> </a:t>
            </a:r>
            <a:r>
              <a:rPr lang="en-US" altLang="en-US" sz="2000" dirty="0" err="1">
                <a:cs typeface="Times New Roman" panose="02020603050405020304" pitchFamily="18" charset="0"/>
              </a:rPr>
              <a:t>nào</a:t>
            </a:r>
            <a:r>
              <a:rPr lang="en-US" altLang="en-US" sz="2000" dirty="0">
                <a:cs typeface="Times New Roman" panose="02020603050405020304" pitchFamily="18" charset="0"/>
              </a:rPr>
              <a:t>?</a:t>
            </a:r>
          </a:p>
          <a:p>
            <a:pPr lvl="2" eaLnBrk="1" hangingPunct="1">
              <a:spcBef>
                <a:spcPct val="10000"/>
              </a:spcBef>
            </a:pPr>
            <a:r>
              <a:rPr lang="en-US" altLang="en-US" sz="2000" dirty="0" err="1">
                <a:cs typeface="Times New Roman" panose="02020603050405020304" pitchFamily="18" charset="0"/>
              </a:rPr>
              <a:t>Làm</a:t>
            </a:r>
            <a:r>
              <a:rPr lang="en-US" altLang="en-US" sz="2000" dirty="0">
                <a:cs typeface="Times New Roman" panose="02020603050405020304" pitchFamily="18" charset="0"/>
              </a:rPr>
              <a:t> </a:t>
            </a:r>
            <a:r>
              <a:rPr lang="en-US" altLang="en-US" sz="2000" dirty="0" err="1">
                <a:cs typeface="Times New Roman" panose="02020603050405020304" pitchFamily="18" charset="0"/>
              </a:rPr>
              <a:t>thế</a:t>
            </a:r>
            <a:r>
              <a:rPr lang="en-US" altLang="en-US" sz="2000" dirty="0">
                <a:cs typeface="Times New Roman" panose="02020603050405020304" pitchFamily="18" charset="0"/>
              </a:rPr>
              <a:t> </a:t>
            </a:r>
            <a:r>
              <a:rPr lang="en-US" altLang="en-US" sz="2000" dirty="0" err="1">
                <a:cs typeface="Times New Roman" panose="02020603050405020304" pitchFamily="18" charset="0"/>
              </a:rPr>
              <a:t>nào</a:t>
            </a:r>
            <a:r>
              <a:rPr lang="en-US" altLang="en-US" sz="2000" dirty="0">
                <a:cs typeface="Times New Roman" panose="02020603050405020304" pitchFamily="18" charset="0"/>
              </a:rPr>
              <a:t> </a:t>
            </a:r>
            <a:r>
              <a:rPr lang="en-US" altLang="en-US" sz="2000" dirty="0" err="1">
                <a:cs typeface="Times New Roman" panose="02020603050405020304" pitchFamily="18" charset="0"/>
              </a:rPr>
              <a:t>để</a:t>
            </a:r>
            <a:r>
              <a:rPr lang="en-US" altLang="en-US" sz="2000" dirty="0">
                <a:cs typeface="Times New Roman" panose="02020603050405020304" pitchFamily="18" charset="0"/>
              </a:rPr>
              <a:t> </a:t>
            </a:r>
            <a:r>
              <a:rPr lang="en-US" altLang="en-US" sz="2000" dirty="0" err="1">
                <a:cs typeface="Times New Roman" panose="02020603050405020304" pitchFamily="18" charset="0"/>
              </a:rPr>
              <a:t>đảm</a:t>
            </a:r>
            <a:r>
              <a:rPr lang="en-US" altLang="en-US" sz="2000" dirty="0">
                <a:cs typeface="Times New Roman" panose="02020603050405020304" pitchFamily="18" charset="0"/>
              </a:rPr>
              <a:t> </a:t>
            </a:r>
            <a:r>
              <a:rPr lang="en-US" altLang="en-US" sz="2000" dirty="0" err="1">
                <a:cs typeface="Times New Roman" panose="02020603050405020304" pitchFamily="18" charset="0"/>
              </a:rPr>
              <a:t>bảo</a:t>
            </a:r>
            <a:r>
              <a:rPr lang="en-US" altLang="en-US" sz="2000" dirty="0">
                <a:cs typeface="Times New Roman" panose="02020603050405020304" pitchFamily="18" charset="0"/>
              </a:rPr>
              <a:t> </a:t>
            </a:r>
            <a:r>
              <a:rPr lang="en-US" altLang="en-US" sz="2000" dirty="0" err="1">
                <a:cs typeface="Times New Roman" panose="02020603050405020304" pitchFamily="18" charset="0"/>
              </a:rPr>
              <a:t>kích</a:t>
            </a:r>
            <a:r>
              <a:rPr lang="en-US" altLang="en-US" sz="2000" dirty="0">
                <a:cs typeface="Times New Roman" panose="02020603050405020304" pitchFamily="18" charset="0"/>
              </a:rPr>
              <a:t> </a:t>
            </a:r>
            <a:r>
              <a:rPr lang="en-US" altLang="en-US" sz="2000" dirty="0" err="1">
                <a:cs typeface="Times New Roman" panose="02020603050405020304" pitchFamily="18" charset="0"/>
              </a:rPr>
              <a:t>thước</a:t>
            </a:r>
            <a:r>
              <a:rPr lang="en-US" altLang="en-US" sz="2000" dirty="0">
                <a:cs typeface="Times New Roman" panose="02020603050405020304" pitchFamily="18" charset="0"/>
              </a:rPr>
              <a:t> </a:t>
            </a:r>
            <a:r>
              <a:rPr lang="en-US" altLang="en-US" sz="2000" dirty="0" err="1">
                <a:cs typeface="Times New Roman" panose="02020603050405020304" pitchFamily="18" charset="0"/>
              </a:rPr>
              <a:t>bài</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giảm</a:t>
            </a:r>
            <a:r>
              <a:rPr lang="en-US" altLang="en-US" sz="2000" dirty="0">
                <a:cs typeface="Times New Roman" panose="02020603050405020304" pitchFamily="18" charset="0"/>
              </a:rPr>
              <a:t> </a:t>
            </a:r>
            <a:r>
              <a:rPr lang="en-US" altLang="en-US" sz="2000" dirty="0" err="1">
                <a:cs typeface="Times New Roman" panose="02020603050405020304" pitchFamily="18" charset="0"/>
              </a:rPr>
              <a:t>đi</a:t>
            </a:r>
            <a:r>
              <a:rPr lang="en-US" altLang="en-US" sz="2000" dirty="0">
                <a:cs typeface="Times New Roman" panose="02020603050405020304" pitchFamily="18" charset="0"/>
              </a:rPr>
              <a:t> </a:t>
            </a:r>
            <a:r>
              <a:rPr lang="en-US" altLang="en-US" sz="2000" dirty="0" err="1">
                <a:cs typeface="Times New Roman" panose="02020603050405020304" pitchFamily="18" charset="0"/>
              </a:rPr>
              <a:t>sau</a:t>
            </a:r>
            <a:r>
              <a:rPr lang="en-US" altLang="en-US" sz="2000" dirty="0">
                <a:cs typeface="Times New Roman" panose="02020603050405020304" pitchFamily="18" charset="0"/>
              </a:rPr>
              <a:t> </a:t>
            </a:r>
            <a:r>
              <a:rPr lang="en-US" altLang="en-US" sz="2000" dirty="0" err="1">
                <a:cs typeface="Times New Roman" panose="02020603050405020304" pitchFamily="18" charset="0"/>
              </a:rPr>
              <a:t>mỗi</a:t>
            </a:r>
            <a:r>
              <a:rPr lang="en-US" altLang="en-US" sz="2000" dirty="0">
                <a:cs typeface="Times New Roman" panose="02020603050405020304" pitchFamily="18" charset="0"/>
              </a:rPr>
              <a:t> </a:t>
            </a:r>
            <a:r>
              <a:rPr lang="en-US" altLang="en-US" sz="2000" dirty="0" err="1">
                <a:cs typeface="Times New Roman" panose="02020603050405020304" pitchFamily="18" charset="0"/>
              </a:rPr>
              <a:t>lần</a:t>
            </a:r>
            <a:r>
              <a:rPr lang="en-US" altLang="en-US" sz="2000" dirty="0">
                <a:cs typeface="Times New Roman" panose="02020603050405020304" pitchFamily="18" charset="0"/>
              </a:rPr>
              <a:t> </a:t>
            </a:r>
            <a:r>
              <a:rPr lang="en-US" altLang="en-US" sz="2000" dirty="0" err="1">
                <a:cs typeface="Times New Roman" panose="02020603050405020304" pitchFamily="18" charset="0"/>
              </a:rPr>
              <a:t>gọi</a:t>
            </a:r>
            <a:r>
              <a:rPr lang="en-US" altLang="en-US" sz="2000" dirty="0">
                <a:cs typeface="Times New Roman" panose="02020603050405020304" pitchFamily="18" charset="0"/>
              </a:rPr>
              <a:t>?</a:t>
            </a:r>
          </a:p>
          <a:p>
            <a:pPr lvl="2" eaLnBrk="1" hangingPunct="1">
              <a:spcBef>
                <a:spcPct val="10000"/>
              </a:spcBef>
            </a:pPr>
            <a:r>
              <a:rPr lang="en-US" altLang="en-US" sz="2000" dirty="0" err="1">
                <a:cs typeface="Times New Roman" panose="02020603050405020304" pitchFamily="18" charset="0"/>
              </a:rPr>
              <a:t>Xem</a:t>
            </a:r>
            <a:r>
              <a:rPr lang="en-US" altLang="en-US" sz="2000" dirty="0">
                <a:cs typeface="Times New Roman" panose="02020603050405020304" pitchFamily="18" charset="0"/>
              </a:rPr>
              <a:t> </a:t>
            </a:r>
            <a:r>
              <a:rPr lang="en-US" altLang="en-US" sz="2000" dirty="0" err="1">
                <a:cs typeface="Times New Roman" panose="02020603050405020304" pitchFamily="18" charset="0"/>
              </a:rPr>
              <a:t>xét</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định</a:t>
            </a:r>
            <a:r>
              <a:rPr lang="en-US" altLang="en-US" sz="2000" dirty="0">
                <a:cs typeface="Times New Roman" panose="02020603050405020304" pitchFamily="18" charset="0"/>
              </a:rPr>
              <a:t> </a:t>
            </a:r>
            <a:r>
              <a:rPr lang="en-US" altLang="en-US" sz="2000" dirty="0" err="1">
                <a:cs typeface="Times New Roman" panose="02020603050405020304" pitchFamily="18" charset="0"/>
              </a:rPr>
              <a:t>nghĩa</a:t>
            </a:r>
            <a:r>
              <a:rPr lang="en-US" altLang="en-US" sz="2000" dirty="0">
                <a:cs typeface="Times New Roman" panose="02020603050405020304" pitchFamily="18" charset="0"/>
              </a:rPr>
              <a:t> </a:t>
            </a:r>
            <a:r>
              <a:rPr lang="en-US" altLang="en-US" sz="2000" dirty="0" err="1">
                <a:cs typeface="Times New Roman" panose="02020603050405020304" pitchFamily="18" charset="0"/>
              </a:rPr>
              <a:t>các</a:t>
            </a:r>
            <a:r>
              <a:rPr lang="en-US" altLang="en-US" sz="2000" dirty="0">
                <a:cs typeface="Times New Roman" panose="02020603050405020304" pitchFamily="18" charset="0"/>
              </a:rPr>
              <a:t> </a:t>
            </a:r>
            <a:r>
              <a:rPr lang="en-US" altLang="en-US" sz="2000" dirty="0" err="1">
                <a:cs typeface="Times New Roman" panose="02020603050405020304" pitchFamily="18" charset="0"/>
              </a:rPr>
              <a:t>trường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cơ</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sở</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trường</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suy</a:t>
            </a:r>
            <a:r>
              <a:rPr lang="en-US" altLang="en-US" sz="2000" dirty="0">
                <a:cs typeface="Times New Roman" panose="02020603050405020304" pitchFamily="18" charset="0"/>
              </a:rPr>
              <a:t> </a:t>
            </a:r>
            <a:r>
              <a:rPr lang="en-US" altLang="en-US" sz="2000" dirty="0" err="1">
                <a:cs typeface="Times New Roman" panose="02020603050405020304" pitchFamily="18" charset="0"/>
              </a:rPr>
              <a:t>biến</a:t>
            </a:r>
            <a:r>
              <a:rPr lang="en-US" altLang="en-US" sz="2000" dirty="0">
                <a:cs typeface="Times New Roman" panose="02020603050405020304" pitchFamily="18" charset="0"/>
              </a:rPr>
              <a:t>) </a:t>
            </a:r>
            <a:r>
              <a:rPr lang="en-US" altLang="en-US" sz="2000" dirty="0" err="1">
                <a:cs typeface="Times New Roman" panose="02020603050405020304" pitchFamily="18" charset="0"/>
              </a:rPr>
              <a:t>như</a:t>
            </a:r>
            <a:r>
              <a:rPr lang="en-US" altLang="en-US" sz="2000" dirty="0">
                <a:cs typeface="Times New Roman" panose="02020603050405020304" pitchFamily="18" charset="0"/>
              </a:rPr>
              <a:t> </a:t>
            </a:r>
            <a:r>
              <a:rPr lang="en-US" altLang="en-US" sz="2000" dirty="0" err="1">
                <a:cs typeface="Times New Roman" panose="02020603050405020304" pitchFamily="18" charset="0"/>
              </a:rPr>
              <a:t>thế</a:t>
            </a:r>
            <a:r>
              <a:rPr lang="en-US" altLang="en-US" sz="2000" dirty="0">
                <a:cs typeface="Times New Roman" panose="02020603050405020304" pitchFamily="18" charset="0"/>
              </a:rPr>
              <a:t> </a:t>
            </a:r>
            <a:r>
              <a:rPr lang="en-US" altLang="en-US" sz="2000" dirty="0" err="1">
                <a:cs typeface="Times New Roman" panose="02020603050405020304" pitchFamily="18" charset="0"/>
              </a:rPr>
              <a:t>nào</a:t>
            </a:r>
            <a:r>
              <a:rPr lang="en-US" altLang="en-US" sz="2000" dirty="0" smtClean="0">
                <a:cs typeface="Times New Roman" panose="02020603050405020304" pitchFamily="18" charset="0"/>
              </a:rPr>
              <a:t>?</a:t>
            </a:r>
          </a:p>
          <a:p>
            <a:pPr lvl="1">
              <a:spcBef>
                <a:spcPct val="10000"/>
              </a:spcBef>
            </a:pPr>
            <a:r>
              <a:rPr lang="en-US" altLang="en-US" sz="2300" dirty="0" err="1" smtClean="0">
                <a:cs typeface="Times New Roman" panose="02020603050405020304" pitchFamily="18" charset="0"/>
              </a:rPr>
              <a:t>Ứng</a:t>
            </a:r>
            <a:r>
              <a:rPr lang="en-US" altLang="en-US" sz="2300" dirty="0" smtClean="0">
                <a:cs typeface="Times New Roman" panose="02020603050405020304" pitchFamily="18" charset="0"/>
              </a:rPr>
              <a:t> </a:t>
            </a:r>
            <a:r>
              <a:rPr lang="en-US" altLang="en-US" sz="2300" dirty="0" err="1" smtClean="0">
                <a:cs typeface="Times New Roman" panose="02020603050405020304" pitchFamily="18" charset="0"/>
              </a:rPr>
              <a:t>dụng</a:t>
            </a:r>
            <a:r>
              <a:rPr lang="en-US" altLang="en-US" sz="2300" dirty="0" smtClean="0">
                <a:cs typeface="Times New Roman" panose="02020603050405020304" pitchFamily="18" charset="0"/>
              </a:rPr>
              <a:t> </a:t>
            </a:r>
            <a:r>
              <a:rPr lang="en-US" altLang="en-US" sz="2300" dirty="0" err="1" smtClean="0">
                <a:cs typeface="Times New Roman" panose="02020603050405020304" pitchFamily="18" charset="0"/>
              </a:rPr>
              <a:t>phổ</a:t>
            </a:r>
            <a:r>
              <a:rPr lang="en-US" altLang="en-US" sz="2300" dirty="0" smtClean="0">
                <a:cs typeface="Times New Roman" panose="02020603050405020304" pitchFamily="18" charset="0"/>
              </a:rPr>
              <a:t> </a:t>
            </a:r>
            <a:r>
              <a:rPr lang="en-US" altLang="en-US" sz="2300" dirty="0" err="1" smtClean="0">
                <a:cs typeface="Times New Roman" panose="02020603050405020304" pitchFamily="18" charset="0"/>
              </a:rPr>
              <a:t>biến</a:t>
            </a:r>
            <a:r>
              <a:rPr lang="en-US" altLang="en-US" sz="2300" dirty="0" smtClean="0">
                <a:cs typeface="Times New Roman" panose="02020603050405020304" pitchFamily="18" charset="0"/>
              </a:rPr>
              <a:t>:</a:t>
            </a:r>
          </a:p>
          <a:p>
            <a:pPr lvl="2">
              <a:spcBef>
                <a:spcPct val="10000"/>
              </a:spcBef>
            </a:pPr>
            <a:r>
              <a:rPr lang="en-US" altLang="en-US" sz="2000" dirty="0" err="1">
                <a:cs typeface="Times New Roman" panose="02020603050405020304" pitchFamily="18" charset="0"/>
              </a:rPr>
              <a:t>Thuật</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Tìm</a:t>
            </a:r>
            <a:r>
              <a:rPr lang="en-US" altLang="en-US" sz="2000" dirty="0">
                <a:cs typeface="Times New Roman" panose="02020603050405020304" pitchFamily="18" charset="0"/>
              </a:rPr>
              <a:t> </a:t>
            </a:r>
            <a:r>
              <a:rPr lang="en-US" altLang="en-US" sz="2000" dirty="0" err="1">
                <a:cs typeface="Times New Roman" panose="02020603050405020304" pitchFamily="18" charset="0"/>
              </a:rPr>
              <a:t>kiếm</a:t>
            </a:r>
            <a:r>
              <a:rPr lang="en-US" altLang="en-US" sz="2000" dirty="0">
                <a:cs typeface="Times New Roman" panose="02020603050405020304" pitchFamily="18" charset="0"/>
              </a:rPr>
              <a:t>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Sắp</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xếp</a:t>
            </a:r>
            <a:endParaRPr lang="en-US" altLang="en-US" sz="2000" dirty="0" smtClean="0">
              <a:cs typeface="Times New Roman" panose="02020603050405020304" pitchFamily="18" charset="0"/>
            </a:endParaRPr>
          </a:p>
          <a:p>
            <a:pPr lvl="2">
              <a:spcBef>
                <a:spcPct val="10000"/>
              </a:spcBef>
            </a:pPr>
            <a:r>
              <a:rPr lang="en-US" altLang="en-US" sz="2000" dirty="0" err="1">
                <a:cs typeface="Times New Roman" panose="02020603050405020304" pitchFamily="18" charset="0"/>
              </a:rPr>
              <a:t>Thuật</a:t>
            </a:r>
            <a:r>
              <a:rPr lang="en-US" altLang="en-US" sz="2000" dirty="0">
                <a:cs typeface="Times New Roman" panose="02020603050405020304" pitchFamily="18" charset="0"/>
              </a:rPr>
              <a:t> </a:t>
            </a:r>
            <a:r>
              <a:rPr lang="en-US" altLang="en-US" sz="2000" dirty="0" err="1">
                <a:cs typeface="Times New Roman" panose="02020603050405020304" pitchFamily="18" charset="0"/>
              </a:rPr>
              <a:t>toán</a:t>
            </a:r>
            <a:r>
              <a:rPr lang="en-US" altLang="en-US" sz="2000" dirty="0">
                <a:cs typeface="Times New Roman" panose="02020603050405020304" pitchFamily="18" charset="0"/>
              </a:rPr>
              <a:t> </a:t>
            </a:r>
            <a:r>
              <a:rPr lang="en-US" altLang="en-US" sz="2000" dirty="0" err="1">
                <a:cs typeface="Times New Roman" panose="02020603050405020304" pitchFamily="18" charset="0"/>
              </a:rPr>
              <a:t>trên</a:t>
            </a:r>
            <a:r>
              <a:rPr lang="en-US" altLang="en-US" sz="2000" dirty="0">
                <a:cs typeface="Times New Roman" panose="02020603050405020304" pitchFamily="18" charset="0"/>
              </a:rPr>
              <a:t> </a:t>
            </a:r>
            <a:r>
              <a:rPr lang="en-US" altLang="en-US" sz="2000" dirty="0" err="1">
                <a:cs typeface="Times New Roman" panose="02020603050405020304" pitchFamily="18" charset="0"/>
              </a:rPr>
              <a:t>cây</a:t>
            </a:r>
            <a:r>
              <a:rPr lang="en-US" altLang="en-US" sz="2000" dirty="0">
                <a:cs typeface="Times New Roman" panose="02020603050405020304" pitchFamily="18" charset="0"/>
              </a:rPr>
              <a:t> (tree) </a:t>
            </a:r>
            <a:r>
              <a:rPr lang="en-US" altLang="en-US" sz="2000" dirty="0" err="1">
                <a:cs typeface="Times New Roman" panose="02020603050405020304" pitchFamily="18" charset="0"/>
              </a:rPr>
              <a:t>và</a:t>
            </a:r>
            <a:r>
              <a:rPr lang="en-US" altLang="en-US" sz="2000" dirty="0">
                <a:cs typeface="Times New Roman" panose="02020603050405020304" pitchFamily="18" charset="0"/>
              </a:rPr>
              <a:t> </a:t>
            </a:r>
            <a:r>
              <a:rPr lang="en-US" altLang="en-US" sz="2000" dirty="0" err="1">
                <a:cs typeface="Times New Roman" panose="02020603050405020304" pitchFamily="18" charset="0"/>
              </a:rPr>
              <a:t>đồ</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thị</a:t>
            </a:r>
            <a:r>
              <a:rPr lang="en-US" altLang="en-US" sz="2000" dirty="0" smtClean="0">
                <a:cs typeface="Times New Roman" panose="02020603050405020304" pitchFamily="18" charset="0"/>
              </a:rPr>
              <a:t> </a:t>
            </a:r>
            <a:r>
              <a:rPr lang="en-US" altLang="en-US" sz="2000" dirty="0">
                <a:cs typeface="Times New Roman" panose="02020603050405020304" pitchFamily="18" charset="0"/>
              </a:rPr>
              <a:t>(graph</a:t>
            </a:r>
            <a:r>
              <a:rPr lang="en-US" altLang="en-US" sz="2000" dirty="0" smtClean="0">
                <a:cs typeface="Times New Roman" panose="02020603050405020304" pitchFamily="18" charset="0"/>
              </a:rPr>
              <a:t>)</a:t>
            </a:r>
          </a:p>
          <a:p>
            <a:pPr lvl="2">
              <a:spcBef>
                <a:spcPct val="10000"/>
              </a:spcBef>
            </a:pPr>
            <a:r>
              <a:rPr lang="en-US" altLang="en-US" sz="2000" dirty="0" err="1">
                <a:cs typeface="Times New Roman" panose="02020603050405020304" pitchFamily="18" charset="0"/>
              </a:rPr>
              <a:t>Quy</a:t>
            </a:r>
            <a:r>
              <a:rPr lang="en-US" altLang="en-US" sz="2000" dirty="0">
                <a:cs typeface="Times New Roman" panose="02020603050405020304" pitchFamily="18" charset="0"/>
              </a:rPr>
              <a:t> </a:t>
            </a:r>
            <a:r>
              <a:rPr lang="en-US" altLang="en-US" sz="2000" dirty="0" err="1">
                <a:cs typeface="Times New Roman" panose="02020603050405020304" pitchFamily="18" charset="0"/>
              </a:rPr>
              <a:t>hoạch</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động</a:t>
            </a:r>
            <a:endParaRPr lang="en-US" altLang="en-US" sz="2000" dirty="0" smtClean="0">
              <a:cs typeface="Times New Roman" panose="02020603050405020304" pitchFamily="18" charset="0"/>
            </a:endParaRPr>
          </a:p>
          <a:p>
            <a:pPr lvl="2">
              <a:spcBef>
                <a:spcPct val="10000"/>
              </a:spcBef>
            </a:pPr>
            <a:r>
              <a:rPr lang="en-US" altLang="en-US" sz="2000" dirty="0" smtClean="0">
                <a:cs typeface="Times New Roman" panose="02020603050405020304" pitchFamily="18" charset="0"/>
              </a:rPr>
              <a:t>v.v.</a:t>
            </a:r>
            <a:endParaRPr lang="en-US" altLang="en-US" sz="2000" dirty="0">
              <a:cs typeface="Times New Roman" panose="02020603050405020304" pitchFamily="18" charset="0"/>
            </a:endParaRPr>
          </a:p>
          <a:p>
            <a:pPr lvl="2"/>
            <a:endParaRPr lang="en-US" sz="2000" dirty="0"/>
          </a:p>
        </p:txBody>
      </p:sp>
    </p:spTree>
    <p:extLst>
      <p:ext uri="{BB962C8B-B14F-4D97-AF65-F5344CB8AC3E}">
        <p14:creationId xmlns:p14="http://schemas.microsoft.com/office/powerpoint/2010/main" val="3726913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26B269CE-12F4-4F4F-BF2F-21E0A343DA44}" type="slidenum">
              <a:rPr lang="en-US" smtClean="0"/>
              <a:pPr/>
              <a:t>33</a:t>
            </a:fld>
            <a:endParaRPr lang="en-US"/>
          </a:p>
        </p:txBody>
      </p:sp>
      <p:sp>
        <p:nvSpPr>
          <p:cNvPr id="2" name="Title 1"/>
          <p:cNvSpPr>
            <a:spLocks noGrp="1"/>
          </p:cNvSpPr>
          <p:nvPr>
            <p:ph type="title"/>
          </p:nvPr>
        </p:nvSpPr>
        <p:spPr>
          <a:xfrm>
            <a:off x="3096986" y="2286000"/>
            <a:ext cx="8673846" cy="451739"/>
          </a:xfrm>
        </p:spPr>
        <p:txBody>
          <a:bodyPr/>
          <a:lstStyle/>
          <a:p>
            <a:r>
              <a:rPr lang="en-US" dirty="0" smtClean="0">
                <a:solidFill>
                  <a:schemeClr val="tx1"/>
                </a:solidFill>
              </a:rPr>
              <a:t>3. </a:t>
            </a:r>
            <a:r>
              <a:rPr lang="en-US" altLang="en-US" dirty="0" err="1">
                <a:solidFill>
                  <a:schemeClr val="tx1"/>
                </a:solidFill>
              </a:rPr>
              <a:t>Các</a:t>
            </a:r>
            <a:r>
              <a:rPr lang="en-US" altLang="en-US" dirty="0">
                <a:solidFill>
                  <a:schemeClr val="tx1"/>
                </a:solidFill>
              </a:rPr>
              <a:t> </a:t>
            </a:r>
            <a:r>
              <a:rPr lang="en-US" altLang="en-US" dirty="0" err="1">
                <a:solidFill>
                  <a:schemeClr val="tx1"/>
                </a:solidFill>
              </a:rPr>
              <a:t>ví</a:t>
            </a:r>
            <a:r>
              <a:rPr lang="en-US" altLang="en-US" dirty="0">
                <a:solidFill>
                  <a:schemeClr val="tx1"/>
                </a:solidFill>
              </a:rPr>
              <a:t> </a:t>
            </a:r>
            <a:r>
              <a:rPr lang="en-US" altLang="en-US" dirty="0" err="1">
                <a:solidFill>
                  <a:schemeClr val="tx1"/>
                </a:solidFill>
              </a:rPr>
              <a:t>dụ</a:t>
            </a:r>
            <a:r>
              <a:rPr lang="en-US" altLang="en-US" dirty="0">
                <a:solidFill>
                  <a:schemeClr val="tx1"/>
                </a:solidFill>
              </a:rPr>
              <a:t> minh </a:t>
            </a:r>
            <a:r>
              <a:rPr lang="en-US" altLang="en-US" dirty="0" err="1" smtClean="0">
                <a:solidFill>
                  <a:schemeClr val="tx1"/>
                </a:solidFill>
              </a:rPr>
              <a:t>họa</a:t>
            </a:r>
            <a:endParaRPr lang="en-US" dirty="0">
              <a:solidFill>
                <a:schemeClr val="tx1"/>
              </a:solidFill>
            </a:endParaRPr>
          </a:p>
        </p:txBody>
      </p:sp>
      <p:sp>
        <p:nvSpPr>
          <p:cNvPr id="6" name="Text Placeholder 5"/>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1096228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34</a:t>
            </a:fld>
            <a:endParaRPr lang="en-US"/>
          </a:p>
        </p:txBody>
      </p:sp>
      <p:sp>
        <p:nvSpPr>
          <p:cNvPr id="5" name="Title 4"/>
          <p:cNvSpPr>
            <a:spLocks noGrp="1"/>
          </p:cNvSpPr>
          <p:nvPr>
            <p:ph type="title"/>
          </p:nvPr>
        </p:nvSpPr>
        <p:spPr/>
        <p:txBody>
          <a:bodyPr/>
          <a:lstStyle/>
          <a:p>
            <a:r>
              <a:rPr lang="en-US" altLang="en-US" dirty="0" smtClean="0"/>
              <a:t>1. </a:t>
            </a:r>
            <a:r>
              <a:rPr lang="en-US" altLang="en-US" dirty="0" err="1" smtClean="0"/>
              <a:t>Tìm</a:t>
            </a:r>
            <a:r>
              <a:rPr lang="en-US" altLang="en-US" dirty="0" smtClean="0"/>
              <a:t> </a:t>
            </a:r>
            <a:r>
              <a:rPr lang="en-US" altLang="en-US" dirty="0" err="1"/>
              <a:t>kiếm</a:t>
            </a:r>
            <a:r>
              <a:rPr lang="en-US" altLang="en-US" dirty="0"/>
              <a:t> </a:t>
            </a:r>
            <a:r>
              <a:rPr lang="en-US" altLang="en-US" dirty="0" err="1"/>
              <a:t>trong</a:t>
            </a:r>
            <a:r>
              <a:rPr lang="en-US" altLang="en-US" dirty="0"/>
              <a:t> </a:t>
            </a:r>
            <a:r>
              <a:rPr lang="en-US" altLang="en-US" dirty="0" err="1"/>
              <a:t>danh</a:t>
            </a:r>
            <a:r>
              <a:rPr lang="en-US" altLang="en-US" dirty="0"/>
              <a:t> </a:t>
            </a:r>
            <a:r>
              <a:rPr lang="en-US" altLang="en-US" dirty="0" err="1" smtClean="0"/>
              <a:t>sách</a:t>
            </a:r>
            <a:endParaRPr lang="en-US" dirty="0"/>
          </a:p>
        </p:txBody>
      </p:sp>
      <p:sp>
        <p:nvSpPr>
          <p:cNvPr id="2" name="Content Placeholder 1"/>
          <p:cNvSpPr>
            <a:spLocks noGrp="1"/>
          </p:cNvSpPr>
          <p:nvPr>
            <p:ph type="body" sz="quarter" idx="13"/>
          </p:nvPr>
        </p:nvSpPr>
        <p:spPr/>
        <p:txBody>
          <a:bodyPr>
            <a:normAutofit/>
          </a:bodyPr>
          <a:lstStyle/>
          <a:p>
            <a:pPr marL="273050" lvl="1">
              <a:spcBef>
                <a:spcPts val="600"/>
              </a:spcBef>
              <a:buClr>
                <a:schemeClr val="accent1"/>
              </a:buClr>
            </a:pPr>
            <a:r>
              <a:rPr lang="en-US" altLang="en-US" sz="2400" dirty="0" err="1">
                <a:cs typeface="Times New Roman" panose="02020603050405020304" pitchFamily="18" charset="0"/>
              </a:rPr>
              <a:t>Tìm</a:t>
            </a:r>
            <a:r>
              <a:rPr lang="en-US" altLang="en-US" sz="2400" dirty="0">
                <a:cs typeface="Times New Roman" panose="02020603050405020304" pitchFamily="18" charset="0"/>
              </a:rPr>
              <a:t> </a:t>
            </a:r>
            <a:r>
              <a:rPr lang="en-US" altLang="en-US" sz="2400" dirty="0" err="1">
                <a:cs typeface="Times New Roman" panose="02020603050405020304" pitchFamily="18" charset="0"/>
              </a:rPr>
              <a:t>kiếm</a:t>
            </a:r>
            <a:r>
              <a:rPr lang="en-US" altLang="en-US" sz="2400" dirty="0">
                <a:cs typeface="Times New Roman" panose="02020603050405020304" pitchFamily="18" charset="0"/>
              </a:rPr>
              <a:t> </a:t>
            </a:r>
            <a:r>
              <a:rPr lang="en-US" altLang="en-US" sz="2400" dirty="0" err="1">
                <a:cs typeface="Times New Roman" panose="02020603050405020304" pitchFamily="18" charset="0"/>
              </a:rPr>
              <a:t>một</a:t>
            </a:r>
            <a:r>
              <a:rPr lang="en-US" altLang="en-US" sz="2400" dirty="0">
                <a:cs typeface="Times New Roman" panose="02020603050405020304" pitchFamily="18" charset="0"/>
              </a:rPr>
              <a:t> </a:t>
            </a:r>
            <a:r>
              <a:rPr lang="en-US" altLang="en-US" sz="2400" dirty="0" err="1">
                <a:cs typeface="Times New Roman" panose="02020603050405020304" pitchFamily="18" charset="0"/>
              </a:rPr>
              <a:t>phần</a:t>
            </a:r>
            <a:r>
              <a:rPr lang="en-US" altLang="en-US" sz="2400" dirty="0">
                <a:cs typeface="Times New Roman" panose="02020603050405020304" pitchFamily="18" charset="0"/>
              </a:rPr>
              <a:t> </a:t>
            </a:r>
            <a:r>
              <a:rPr lang="en-US" altLang="en-US" sz="2400" dirty="0" err="1">
                <a:cs typeface="Times New Roman" panose="02020603050405020304" pitchFamily="18" charset="0"/>
              </a:rPr>
              <a:t>tử</a:t>
            </a:r>
            <a:r>
              <a:rPr lang="en-US" altLang="en-US" sz="2400" dirty="0">
                <a:cs typeface="Times New Roman" panose="02020603050405020304" pitchFamily="18" charset="0"/>
              </a:rPr>
              <a:t> </a:t>
            </a:r>
            <a:r>
              <a:rPr lang="en-US" altLang="en-US" sz="2400" i="1" dirty="0">
                <a:cs typeface="Times New Roman" panose="02020603050405020304" pitchFamily="18" charset="0"/>
              </a:rPr>
              <a:t>x</a:t>
            </a:r>
            <a:r>
              <a:rPr lang="en-US" altLang="en-US" sz="2400" dirty="0">
                <a:cs typeface="Times New Roman" panose="02020603050405020304" pitchFamily="18" charset="0"/>
              </a:rPr>
              <a:t> </a:t>
            </a:r>
            <a:r>
              <a:rPr lang="en-US" altLang="en-US" sz="2400" dirty="0" err="1">
                <a:cs typeface="Times New Roman" panose="02020603050405020304" pitchFamily="18" charset="0"/>
              </a:rPr>
              <a:t>trong</a:t>
            </a:r>
            <a:r>
              <a:rPr lang="en-US" altLang="en-US" sz="2400" dirty="0">
                <a:cs typeface="Times New Roman" panose="02020603050405020304" pitchFamily="18" charset="0"/>
              </a:rPr>
              <a:t> </a:t>
            </a:r>
            <a:r>
              <a:rPr lang="en-US" altLang="en-US" sz="2400" dirty="0" err="1">
                <a:cs typeface="Times New Roman" panose="02020603050405020304" pitchFamily="18" charset="0"/>
              </a:rPr>
              <a:t>danh</a:t>
            </a:r>
            <a:r>
              <a:rPr lang="en-US" altLang="en-US" sz="2400" dirty="0">
                <a:cs typeface="Times New Roman" panose="02020603050405020304" pitchFamily="18" charset="0"/>
              </a:rPr>
              <a:t> </a:t>
            </a:r>
            <a:r>
              <a:rPr lang="en-US" altLang="en-US" sz="2400" dirty="0" err="1">
                <a:cs typeface="Times New Roman" panose="02020603050405020304" pitchFamily="18" charset="0"/>
              </a:rPr>
              <a:t>sách</a:t>
            </a:r>
            <a:r>
              <a:rPr lang="en-US" altLang="en-US" sz="2400" dirty="0">
                <a:cs typeface="Times New Roman" panose="02020603050405020304" pitchFamily="18" charset="0"/>
              </a:rPr>
              <a:t> </a:t>
            </a:r>
            <a:r>
              <a:rPr lang="en-US" altLang="en-US" sz="2400" i="1" dirty="0" smtClean="0">
                <a:cs typeface="Times New Roman" panose="02020603050405020304" pitchFamily="18" charset="0"/>
              </a:rPr>
              <a:t>H (</a:t>
            </a:r>
            <a:r>
              <a:rPr lang="en-US" altLang="en-US" sz="2400" dirty="0" smtClean="0">
                <a:cs typeface="Times New Roman" panose="02020603050405020304" pitchFamily="18" charset="0"/>
              </a:rPr>
              <a:t>con </a:t>
            </a:r>
            <a:r>
              <a:rPr lang="en-US" altLang="en-US" sz="2400" dirty="0" err="1">
                <a:cs typeface="Times New Roman" panose="02020603050405020304" pitchFamily="18" charset="0"/>
              </a:rPr>
              <a:t>trỏ</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đến</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đầu</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tiên</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Trả</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về</a:t>
            </a:r>
            <a:r>
              <a:rPr lang="en-US" altLang="en-US" sz="2400" dirty="0">
                <a:cs typeface="Times New Roman" panose="02020603050405020304" pitchFamily="18" charset="0"/>
              </a:rPr>
              <a:t> con </a:t>
            </a:r>
            <a:r>
              <a:rPr lang="en-US" altLang="en-US" sz="2400" dirty="0" err="1">
                <a:cs typeface="Times New Roman" panose="02020603050405020304" pitchFamily="18" charset="0"/>
              </a:rPr>
              <a:t>trỏ</a:t>
            </a:r>
            <a:r>
              <a:rPr lang="en-US" altLang="en-US" sz="2400" dirty="0">
                <a:cs typeface="Times New Roman" panose="02020603050405020304" pitchFamily="18" charset="0"/>
              </a:rPr>
              <a:t> </a:t>
            </a:r>
            <a:r>
              <a:rPr lang="en-US" altLang="en-US" sz="2400" dirty="0" err="1">
                <a:cs typeface="Times New Roman" panose="02020603050405020304" pitchFamily="18" charset="0"/>
              </a:rPr>
              <a:t>trỏ</a:t>
            </a:r>
            <a:r>
              <a:rPr lang="en-US" altLang="en-US" sz="2400" dirty="0">
                <a:cs typeface="Times New Roman" panose="02020603050405020304" pitchFamily="18" charset="0"/>
              </a:rPr>
              <a:t> </a:t>
            </a:r>
            <a:r>
              <a:rPr lang="en-US" altLang="en-US" sz="2400" dirty="0" err="1">
                <a:cs typeface="Times New Roman" panose="02020603050405020304" pitchFamily="18" charset="0"/>
              </a:rPr>
              <a:t>vào</a:t>
            </a:r>
            <a:r>
              <a:rPr lang="en-US" altLang="en-US" sz="2400" dirty="0">
                <a:cs typeface="Times New Roman" panose="02020603050405020304" pitchFamily="18" charset="0"/>
              </a:rPr>
              <a:t> </a:t>
            </a:r>
            <a:r>
              <a:rPr lang="en-US" altLang="en-US" sz="2400" dirty="0" err="1">
                <a:cs typeface="Times New Roman" panose="02020603050405020304" pitchFamily="18" charset="0"/>
              </a:rPr>
              <a:t>nút</a:t>
            </a:r>
            <a:r>
              <a:rPr lang="en-US" altLang="en-US" sz="2400" dirty="0">
                <a:cs typeface="Times New Roman" panose="02020603050405020304" pitchFamily="18" charset="0"/>
              </a:rPr>
              <a:t> </a:t>
            </a:r>
            <a:r>
              <a:rPr lang="en-US" altLang="en-US" sz="2400" dirty="0" err="1">
                <a:cs typeface="Times New Roman" panose="02020603050405020304" pitchFamily="18" charset="0"/>
              </a:rPr>
              <a:t>tìm</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thấy</a:t>
            </a:r>
            <a:r>
              <a:rPr lang="en-US" altLang="en-US" sz="2400" dirty="0" smtClean="0">
                <a:cs typeface="Times New Roman" panose="02020603050405020304" pitchFamily="18" charset="0"/>
              </a:rPr>
              <a:t>. </a:t>
            </a:r>
            <a:r>
              <a:rPr lang="en-US" altLang="en-US" sz="2400" dirty="0" err="1" smtClean="0">
                <a:cs typeface="Times New Roman" panose="02020603050405020304" pitchFamily="18" charset="0"/>
              </a:rPr>
              <a:t>Nếu</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không</a:t>
            </a:r>
            <a:r>
              <a:rPr lang="en-US" altLang="en-US" sz="2400" dirty="0">
                <a:cs typeface="Times New Roman" panose="02020603050405020304" pitchFamily="18" charset="0"/>
              </a:rPr>
              <a:t> </a:t>
            </a:r>
            <a:r>
              <a:rPr lang="en-US" altLang="en-US" sz="2400" dirty="0" err="1">
                <a:cs typeface="Times New Roman" panose="02020603050405020304" pitchFamily="18" charset="0"/>
              </a:rPr>
              <a:t>tìm</a:t>
            </a:r>
            <a:r>
              <a:rPr lang="en-US" altLang="en-US" sz="2400" dirty="0">
                <a:cs typeface="Times New Roman" panose="02020603050405020304" pitchFamily="18" charset="0"/>
              </a:rPr>
              <a:t> </a:t>
            </a:r>
            <a:r>
              <a:rPr lang="en-US" altLang="en-US" sz="2400" dirty="0" err="1">
                <a:cs typeface="Times New Roman" panose="02020603050405020304" pitchFamily="18" charset="0"/>
              </a:rPr>
              <a:t>thấy</a:t>
            </a:r>
            <a:r>
              <a:rPr lang="en-US" altLang="en-US" sz="2400" dirty="0">
                <a:cs typeface="Times New Roman" panose="02020603050405020304" pitchFamily="18" charset="0"/>
              </a:rPr>
              <a:t> </a:t>
            </a:r>
            <a:r>
              <a:rPr lang="en-US" altLang="en-US" sz="2400" dirty="0" err="1">
                <a:cs typeface="Times New Roman" panose="02020603050405020304" pitchFamily="18" charset="0"/>
              </a:rPr>
              <a:t>thì</a:t>
            </a:r>
            <a:r>
              <a:rPr lang="en-US" altLang="en-US" sz="2400" dirty="0">
                <a:cs typeface="Times New Roman" panose="02020603050405020304" pitchFamily="18" charset="0"/>
              </a:rPr>
              <a:t> </a:t>
            </a:r>
            <a:r>
              <a:rPr lang="en-US" altLang="en-US" sz="2400" dirty="0" err="1">
                <a:cs typeface="Times New Roman" panose="02020603050405020304" pitchFamily="18" charset="0"/>
              </a:rPr>
              <a:t>trả</a:t>
            </a:r>
            <a:r>
              <a:rPr lang="en-US" altLang="en-US" sz="2400" dirty="0">
                <a:cs typeface="Times New Roman" panose="02020603050405020304" pitchFamily="18" charset="0"/>
              </a:rPr>
              <a:t> </a:t>
            </a:r>
            <a:r>
              <a:rPr lang="en-US" altLang="en-US" sz="2400" dirty="0" err="1">
                <a:cs typeface="Times New Roman" panose="02020603050405020304" pitchFamily="18" charset="0"/>
              </a:rPr>
              <a:t>về</a:t>
            </a:r>
            <a:r>
              <a:rPr lang="en-US" altLang="en-US" sz="2400" dirty="0">
                <a:cs typeface="Times New Roman" panose="02020603050405020304" pitchFamily="18" charset="0"/>
              </a:rPr>
              <a:t> NULL.</a:t>
            </a:r>
          </a:p>
          <a:p>
            <a:endParaRPr lang="en-US" sz="2800" dirty="0"/>
          </a:p>
        </p:txBody>
      </p:sp>
      <p:sp>
        <p:nvSpPr>
          <p:cNvPr id="6" name="Rectangle 4"/>
          <p:cNvSpPr>
            <a:spLocks noChangeArrowheads="1"/>
          </p:cNvSpPr>
          <p:nvPr/>
        </p:nvSpPr>
        <p:spPr bwMode="auto">
          <a:xfrm>
            <a:off x="1752600" y="2971800"/>
            <a:ext cx="5410200" cy="2514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2800">
                <a:solidFill>
                  <a:schemeClr val="tx1"/>
                </a:solidFill>
                <a:latin typeface="Times New Roman" panose="02020603050405020304" pitchFamily="18" charset="0"/>
              </a:defRPr>
            </a:lvl1pPr>
            <a:lvl2pPr marL="742950" indent="-285750">
              <a:spcBef>
                <a:spcPct val="20000"/>
              </a:spcBef>
              <a:buChar char="–"/>
              <a:defRPr sz="2400">
                <a:solidFill>
                  <a:schemeClr val="tx1"/>
                </a:solidFill>
                <a:latin typeface="Times New Roman" panose="02020603050405020304" pitchFamily="18"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eaLnBrk="1" hangingPunct="1">
              <a:spcBef>
                <a:spcPct val="0"/>
              </a:spcBef>
              <a:buFontTx/>
              <a:buNone/>
            </a:pPr>
            <a:r>
              <a:rPr lang="en-US" altLang="en-US" sz="2200" b="1" i="1" dirty="0" err="1">
                <a:cs typeface="Times New Roman" panose="02020603050405020304" pitchFamily="18" charset="0"/>
              </a:rPr>
              <a:t>PNode</a:t>
            </a:r>
            <a:r>
              <a:rPr lang="en-US" altLang="en-US" sz="2200" b="1" i="1" dirty="0">
                <a:cs typeface="Times New Roman" panose="02020603050405020304" pitchFamily="18" charset="0"/>
              </a:rPr>
              <a:t> Search </a:t>
            </a:r>
            <a:r>
              <a:rPr lang="en-US" altLang="en-US" sz="2200" dirty="0">
                <a:cs typeface="Times New Roman" panose="02020603050405020304" pitchFamily="18" charset="0"/>
              </a:rPr>
              <a:t>(Item x, </a:t>
            </a:r>
            <a:r>
              <a:rPr lang="en-US" altLang="en-US" sz="2200" dirty="0" err="1">
                <a:cs typeface="Times New Roman" panose="02020603050405020304" pitchFamily="18" charset="0"/>
              </a:rPr>
              <a:t>PNode</a:t>
            </a:r>
            <a:r>
              <a:rPr lang="en-US" altLang="en-US" sz="2200" dirty="0">
                <a:cs typeface="Times New Roman" panose="02020603050405020304" pitchFamily="18" charset="0"/>
              </a:rPr>
              <a:t> H) {</a:t>
            </a:r>
          </a:p>
          <a:p>
            <a:pPr eaLnBrk="1" hangingPunct="1">
              <a:spcBef>
                <a:spcPct val="0"/>
              </a:spcBef>
              <a:buFontTx/>
              <a:buNone/>
            </a:pPr>
            <a:r>
              <a:rPr lang="en-US" altLang="en-US" sz="2200" dirty="0">
                <a:cs typeface="Times New Roman" panose="02020603050405020304" pitchFamily="18" charset="0"/>
              </a:rPr>
              <a:t>	</a:t>
            </a:r>
            <a:r>
              <a:rPr lang="en-US" altLang="en-US" sz="2200" b="1" i="1" dirty="0">
                <a:cs typeface="Times New Roman" panose="02020603050405020304" pitchFamily="18" charset="0"/>
              </a:rPr>
              <a:t>if </a:t>
            </a:r>
            <a:r>
              <a:rPr lang="en-US" altLang="en-US" sz="2200" dirty="0">
                <a:cs typeface="Times New Roman" panose="02020603050405020304" pitchFamily="18" charset="0"/>
              </a:rPr>
              <a:t>(H == NULL)</a:t>
            </a:r>
            <a:r>
              <a:rPr lang="en-US" altLang="en-US" sz="2200" b="1" i="1" dirty="0">
                <a:cs typeface="Times New Roman" panose="02020603050405020304" pitchFamily="18" charset="0"/>
              </a:rPr>
              <a:t> return NULL;</a:t>
            </a:r>
            <a:endParaRPr lang="en-US" altLang="en-US" sz="2200" dirty="0">
              <a:cs typeface="Times New Roman" panose="02020603050405020304" pitchFamily="18" charset="0"/>
            </a:endParaRPr>
          </a:p>
          <a:p>
            <a:pPr eaLnBrk="1" hangingPunct="1">
              <a:spcBef>
                <a:spcPct val="0"/>
              </a:spcBef>
              <a:buFontTx/>
              <a:buNone/>
            </a:pPr>
            <a:r>
              <a:rPr lang="en-US" altLang="en-US" sz="2200" dirty="0">
                <a:cs typeface="Times New Roman" panose="02020603050405020304" pitchFamily="18" charset="0"/>
              </a:rPr>
              <a:t>	else </a:t>
            </a:r>
            <a:endParaRPr lang="en-US" altLang="en-US" sz="2200" b="1" i="1" dirty="0">
              <a:cs typeface="Times New Roman" panose="02020603050405020304" pitchFamily="18" charset="0"/>
            </a:endParaRPr>
          </a:p>
          <a:p>
            <a:pPr eaLnBrk="1" hangingPunct="1">
              <a:lnSpc>
                <a:spcPct val="110000"/>
              </a:lnSpc>
              <a:spcBef>
                <a:spcPct val="0"/>
              </a:spcBef>
              <a:buFontTx/>
              <a:buNone/>
            </a:pPr>
            <a:r>
              <a:rPr lang="en-US" altLang="en-US" sz="2200" b="1" i="1" dirty="0">
                <a:cs typeface="Times New Roman" panose="02020603050405020304" pitchFamily="18" charset="0"/>
              </a:rPr>
              <a:t>		if  (</a:t>
            </a:r>
            <a:r>
              <a:rPr lang="en-US" altLang="en-US" sz="2200" dirty="0">
                <a:cs typeface="Times New Roman" panose="02020603050405020304" pitchFamily="18" charset="0"/>
              </a:rPr>
              <a:t>H-&gt;info == x)</a:t>
            </a:r>
            <a:r>
              <a:rPr lang="en-US" altLang="en-US" sz="2200" b="1" i="1" dirty="0">
                <a:cs typeface="Times New Roman" panose="02020603050405020304" pitchFamily="18" charset="0"/>
              </a:rPr>
              <a:t> return H;</a:t>
            </a:r>
          </a:p>
          <a:p>
            <a:pPr eaLnBrk="1" hangingPunct="1">
              <a:lnSpc>
                <a:spcPct val="110000"/>
              </a:lnSpc>
              <a:spcBef>
                <a:spcPct val="0"/>
              </a:spcBef>
              <a:buFontTx/>
              <a:buNone/>
            </a:pPr>
            <a:r>
              <a:rPr lang="en-US" altLang="en-US" sz="2200" b="1" i="1" dirty="0">
                <a:cs typeface="Times New Roman" panose="02020603050405020304" pitchFamily="18" charset="0"/>
              </a:rPr>
              <a:t>		else </a:t>
            </a:r>
            <a:r>
              <a:rPr lang="en-US" altLang="en-US" sz="2200" dirty="0">
                <a:cs typeface="Times New Roman" panose="02020603050405020304" pitchFamily="18" charset="0"/>
              </a:rPr>
              <a:t> return </a:t>
            </a:r>
            <a:r>
              <a:rPr lang="en-US" altLang="en-US" sz="2200" b="1" i="1" dirty="0">
                <a:cs typeface="Times New Roman" panose="02020603050405020304" pitchFamily="18" charset="0"/>
              </a:rPr>
              <a:t>Search </a:t>
            </a:r>
            <a:r>
              <a:rPr lang="en-US" altLang="en-US" sz="2200" dirty="0">
                <a:cs typeface="Times New Roman" panose="02020603050405020304" pitchFamily="18" charset="0"/>
              </a:rPr>
              <a:t>(</a:t>
            </a:r>
            <a:r>
              <a:rPr lang="en-US" altLang="en-US" sz="2200" dirty="0" smtClean="0">
                <a:cs typeface="Times New Roman" panose="02020603050405020304" pitchFamily="18" charset="0"/>
              </a:rPr>
              <a:t>x, </a:t>
            </a:r>
            <a:r>
              <a:rPr lang="en-US" altLang="en-US" sz="2200" dirty="0">
                <a:cs typeface="Times New Roman" panose="02020603050405020304" pitchFamily="18" charset="0"/>
              </a:rPr>
              <a:t>H-&gt;next) ;</a:t>
            </a:r>
          </a:p>
          <a:p>
            <a:pPr eaLnBrk="1" hangingPunct="1">
              <a:lnSpc>
                <a:spcPct val="110000"/>
              </a:lnSpc>
              <a:spcBef>
                <a:spcPct val="0"/>
              </a:spcBef>
              <a:buFontTx/>
              <a:buNone/>
            </a:pPr>
            <a:r>
              <a:rPr lang="en-US" altLang="en-US" sz="2200" b="1" i="1" dirty="0">
                <a:cs typeface="Times New Roman" panose="02020603050405020304" pitchFamily="18" charset="0"/>
              </a:rPr>
              <a:t>}</a:t>
            </a:r>
          </a:p>
        </p:txBody>
      </p:sp>
    </p:spTree>
    <p:extLst>
      <p:ext uri="{BB962C8B-B14F-4D97-AF65-F5344CB8AC3E}">
        <p14:creationId xmlns:p14="http://schemas.microsoft.com/office/powerpoint/2010/main" val="135477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35</a:t>
            </a:fld>
            <a:endParaRPr lang="en-US"/>
          </a:p>
        </p:txBody>
      </p:sp>
      <p:sp>
        <p:nvSpPr>
          <p:cNvPr id="5" name="Title 4"/>
          <p:cNvSpPr>
            <a:spLocks noGrp="1"/>
          </p:cNvSpPr>
          <p:nvPr>
            <p:ph type="title"/>
          </p:nvPr>
        </p:nvSpPr>
        <p:spPr/>
        <p:txBody>
          <a:bodyPr/>
          <a:lstStyle/>
          <a:p>
            <a:r>
              <a:rPr lang="en-US" altLang="en-US" dirty="0" smtClean="0"/>
              <a:t>2. </a:t>
            </a:r>
            <a:r>
              <a:rPr lang="en-US" altLang="en-US" dirty="0" err="1" smtClean="0"/>
              <a:t>Bài</a:t>
            </a:r>
            <a:r>
              <a:rPr lang="en-US" altLang="en-US" dirty="0" smtClean="0"/>
              <a:t> </a:t>
            </a:r>
            <a:r>
              <a:rPr lang="en-US" altLang="en-US" dirty="0" err="1"/>
              <a:t>toán</a:t>
            </a:r>
            <a:r>
              <a:rPr lang="en-US" altLang="en-US" dirty="0"/>
              <a:t> </a:t>
            </a:r>
            <a:r>
              <a:rPr lang="en-US" altLang="en-US" dirty="0" err="1"/>
              <a:t>Tháp</a:t>
            </a:r>
            <a:r>
              <a:rPr lang="en-US" altLang="en-US" dirty="0"/>
              <a:t> </a:t>
            </a:r>
            <a:r>
              <a:rPr lang="en-US" altLang="en-US" dirty="0" err="1"/>
              <a:t>Hà</a:t>
            </a:r>
            <a:r>
              <a:rPr lang="en-US" altLang="en-US" dirty="0"/>
              <a:t> </a:t>
            </a:r>
            <a:r>
              <a:rPr lang="en-US" altLang="en-US" dirty="0" err="1"/>
              <a:t>Nội</a:t>
            </a:r>
            <a:endParaRPr lang="en-US" dirty="0"/>
          </a:p>
        </p:txBody>
      </p:sp>
      <p:sp>
        <p:nvSpPr>
          <p:cNvPr id="2" name="Content Placeholder 1"/>
          <p:cNvSpPr>
            <a:spLocks noGrp="1"/>
          </p:cNvSpPr>
          <p:nvPr>
            <p:ph type="body" sz="quarter" idx="13"/>
          </p:nvPr>
        </p:nvSpPr>
        <p:spPr/>
        <p:txBody>
          <a:bodyPr>
            <a:normAutofit/>
          </a:bodyPr>
          <a:lstStyle/>
          <a:p>
            <a:r>
              <a:rPr lang="en-US" altLang="en-US" sz="2400" dirty="0" err="1">
                <a:cs typeface="Times New Roman" panose="02020603050405020304" pitchFamily="18" charset="0"/>
              </a:rPr>
              <a:t>Bài</a:t>
            </a:r>
            <a:r>
              <a:rPr lang="en-US" altLang="en-US" sz="2400" dirty="0">
                <a:cs typeface="Times New Roman" panose="02020603050405020304" pitchFamily="18" charset="0"/>
              </a:rPr>
              <a:t> </a:t>
            </a:r>
            <a:r>
              <a:rPr lang="en-US" altLang="en-US" sz="2400" dirty="0" err="1">
                <a:cs typeface="Times New Roman" panose="02020603050405020304" pitchFamily="18" charset="0"/>
              </a:rPr>
              <a:t>toán</a:t>
            </a:r>
            <a:r>
              <a:rPr lang="en-US" altLang="en-US" sz="2400" dirty="0">
                <a:cs typeface="Times New Roman" panose="02020603050405020304" pitchFamily="18" charset="0"/>
              </a:rPr>
              <a:t>: </a:t>
            </a:r>
            <a:r>
              <a:rPr lang="en-US" altLang="en-US" sz="2400" dirty="0" err="1" smtClean="0">
                <a:cs typeface="Times New Roman" panose="02020603050405020304" pitchFamily="18" charset="0"/>
              </a:rPr>
              <a:t>có</a:t>
            </a:r>
            <a:r>
              <a:rPr lang="en-US" altLang="en-US" sz="2400" dirty="0" smtClean="0">
                <a:cs typeface="Times New Roman" panose="02020603050405020304" pitchFamily="18" charset="0"/>
              </a:rPr>
              <a:t> 3 </a:t>
            </a:r>
            <a:r>
              <a:rPr lang="en-US" altLang="en-US" sz="2400" dirty="0" err="1" smtClean="0">
                <a:cs typeface="Times New Roman" panose="02020603050405020304" pitchFamily="18" charset="0"/>
              </a:rPr>
              <a:t>cột</a:t>
            </a:r>
            <a:r>
              <a:rPr lang="en-US" altLang="en-US" sz="2400" dirty="0" smtClean="0">
                <a:cs typeface="Times New Roman" panose="02020603050405020304" pitchFamily="18" charset="0"/>
              </a:rPr>
              <a:t> A, B, C. </a:t>
            </a:r>
            <a:r>
              <a:rPr lang="en-US" altLang="en-US" sz="2400" dirty="0" err="1" smtClean="0">
                <a:cs typeface="Times New Roman" panose="02020603050405020304" pitchFamily="18" charset="0"/>
              </a:rPr>
              <a:t>Chuyển</a:t>
            </a:r>
            <a:r>
              <a:rPr lang="en-US" altLang="en-US" sz="2400" dirty="0" smtClean="0">
                <a:cs typeface="Times New Roman" panose="02020603050405020304" pitchFamily="18" charset="0"/>
              </a:rPr>
              <a:t> </a:t>
            </a:r>
            <a:r>
              <a:rPr lang="en-US" altLang="en-US" sz="2400" dirty="0" err="1">
                <a:cs typeface="Times New Roman" panose="02020603050405020304" pitchFamily="18" charset="0"/>
              </a:rPr>
              <a:t>cột</a:t>
            </a:r>
            <a:r>
              <a:rPr lang="en-US" altLang="en-US" sz="2400" dirty="0">
                <a:cs typeface="Times New Roman" panose="02020603050405020304" pitchFamily="18" charset="0"/>
              </a:rPr>
              <a:t> </a:t>
            </a:r>
            <a:r>
              <a:rPr lang="en-US" altLang="en-US" sz="2400" dirty="0" err="1">
                <a:cs typeface="Times New Roman" panose="02020603050405020304" pitchFamily="18" charset="0"/>
              </a:rPr>
              <a:t>đĩa</a:t>
            </a:r>
            <a:r>
              <a:rPr lang="en-US" altLang="en-US" sz="2400" dirty="0">
                <a:cs typeface="Times New Roman" panose="02020603050405020304" pitchFamily="18" charset="0"/>
              </a:rPr>
              <a:t> </a:t>
            </a:r>
            <a:r>
              <a:rPr lang="en-US" altLang="en-US" sz="2400" dirty="0" err="1">
                <a:cs typeface="Times New Roman" panose="02020603050405020304" pitchFamily="18" charset="0"/>
              </a:rPr>
              <a:t>từ</a:t>
            </a:r>
            <a:r>
              <a:rPr lang="en-US" altLang="en-US" sz="2400" dirty="0">
                <a:cs typeface="Times New Roman" panose="02020603050405020304" pitchFamily="18" charset="0"/>
              </a:rPr>
              <a:t> A </a:t>
            </a:r>
            <a:r>
              <a:rPr lang="en-US" altLang="en-US" sz="2400" dirty="0" smtClean="0">
                <a:cs typeface="Times New Roman" panose="02020603050405020304" pitchFamily="18" charset="0"/>
                <a:sym typeface="Wingdings" panose="05000000000000000000" pitchFamily="2" charset="2"/>
              </a:rPr>
              <a:t></a:t>
            </a:r>
            <a:r>
              <a:rPr lang="en-US" altLang="en-US" sz="2400" dirty="0" smtClean="0">
                <a:cs typeface="Times New Roman" panose="02020603050405020304" pitchFamily="18" charset="0"/>
              </a:rPr>
              <a:t> C</a:t>
            </a:r>
          </a:p>
          <a:p>
            <a:pPr lvl="1"/>
            <a:r>
              <a:rPr lang="en-US" altLang="en-US" sz="2000" dirty="0" err="1">
                <a:cs typeface="Times New Roman" panose="02020603050405020304" pitchFamily="18" charset="0"/>
              </a:rPr>
              <a:t>Mỗi</a:t>
            </a:r>
            <a:r>
              <a:rPr lang="en-US" altLang="en-US" sz="2000" dirty="0">
                <a:cs typeface="Times New Roman" panose="02020603050405020304" pitchFamily="18" charset="0"/>
              </a:rPr>
              <a:t> </a:t>
            </a:r>
            <a:r>
              <a:rPr lang="en-US" altLang="en-US" sz="2000" dirty="0" err="1">
                <a:cs typeface="Times New Roman" panose="02020603050405020304" pitchFamily="18" charset="0"/>
              </a:rPr>
              <a:t>lần</a:t>
            </a:r>
            <a:r>
              <a:rPr lang="en-US" altLang="en-US" sz="2000" dirty="0">
                <a:cs typeface="Times New Roman" panose="02020603050405020304" pitchFamily="18" charset="0"/>
              </a:rPr>
              <a:t> </a:t>
            </a:r>
            <a:r>
              <a:rPr lang="en-US" altLang="en-US" sz="2000" dirty="0" err="1">
                <a:cs typeface="Times New Roman" panose="02020603050405020304" pitchFamily="18" charset="0"/>
              </a:rPr>
              <a:t>chỉ</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chuyển</a:t>
            </a:r>
            <a:r>
              <a:rPr lang="en-US" altLang="en-US" sz="2000" dirty="0">
                <a:cs typeface="Times New Roman" panose="02020603050405020304" pitchFamily="18" charset="0"/>
              </a:rPr>
              <a:t> </a:t>
            </a:r>
            <a:r>
              <a:rPr lang="en-US" altLang="en-US" sz="2000" dirty="0" smtClean="0">
                <a:cs typeface="Times New Roman" panose="02020603050405020304" pitchFamily="18" charset="0"/>
              </a:rPr>
              <a:t>1 </a:t>
            </a:r>
            <a:r>
              <a:rPr lang="en-US" altLang="en-US" sz="2000" dirty="0" err="1" smtClean="0">
                <a:cs typeface="Times New Roman" panose="02020603050405020304" pitchFamily="18" charset="0"/>
              </a:rPr>
              <a:t>đĩa</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trên</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cùng</a:t>
            </a:r>
            <a:endParaRPr lang="en-US" altLang="en-US" sz="2000" dirty="0" smtClean="0">
              <a:cs typeface="Times New Roman" panose="02020603050405020304" pitchFamily="18" charset="0"/>
            </a:endParaRPr>
          </a:p>
          <a:p>
            <a:pPr lvl="1"/>
            <a:r>
              <a:rPr lang="en-US" altLang="en-US" sz="2000" dirty="0" err="1">
                <a:cs typeface="Times New Roman" panose="02020603050405020304" pitchFamily="18" charset="0"/>
              </a:rPr>
              <a:t>Không</a:t>
            </a:r>
            <a:r>
              <a:rPr lang="en-US" altLang="en-US" sz="2000" dirty="0">
                <a:cs typeface="Times New Roman" panose="02020603050405020304" pitchFamily="18" charset="0"/>
              </a:rPr>
              <a:t> </a:t>
            </a:r>
            <a:r>
              <a:rPr lang="en-US" altLang="en-US" sz="2000" dirty="0" err="1">
                <a:cs typeface="Times New Roman" panose="02020603050405020304" pitchFamily="18" charset="0"/>
              </a:rPr>
              <a:t>được</a:t>
            </a:r>
            <a:r>
              <a:rPr lang="en-US" altLang="en-US" sz="2000" dirty="0">
                <a:cs typeface="Times New Roman" panose="02020603050405020304" pitchFamily="18" charset="0"/>
              </a:rPr>
              <a:t> </a:t>
            </a:r>
            <a:r>
              <a:rPr lang="en-US" altLang="en-US" sz="2000" dirty="0" err="1">
                <a:cs typeface="Times New Roman" panose="02020603050405020304" pitchFamily="18" charset="0"/>
              </a:rPr>
              <a:t>đĩa</a:t>
            </a:r>
            <a:r>
              <a:rPr lang="en-US" altLang="en-US" sz="2000" dirty="0">
                <a:cs typeface="Times New Roman" panose="02020603050405020304" pitchFamily="18" charset="0"/>
              </a:rPr>
              <a:t> to </a:t>
            </a:r>
            <a:r>
              <a:rPr lang="en-US" altLang="en-US" sz="2000" dirty="0" err="1">
                <a:cs typeface="Times New Roman" panose="02020603050405020304" pitchFamily="18" charset="0"/>
              </a:rPr>
              <a:t>trên</a:t>
            </a:r>
            <a:r>
              <a:rPr lang="en-US" altLang="en-US" sz="2000" dirty="0">
                <a:cs typeface="Times New Roman" panose="02020603050405020304" pitchFamily="18" charset="0"/>
              </a:rPr>
              <a:t> </a:t>
            </a:r>
            <a:r>
              <a:rPr lang="en-US" altLang="en-US" sz="2000" dirty="0" err="1">
                <a:cs typeface="Times New Roman" panose="02020603050405020304" pitchFamily="18" charset="0"/>
              </a:rPr>
              <a:t>đĩa</a:t>
            </a:r>
            <a:r>
              <a:rPr lang="en-US" altLang="en-US" sz="2000" dirty="0">
                <a:cs typeface="Times New Roman" panose="02020603050405020304" pitchFamily="18" charset="0"/>
              </a:rPr>
              <a:t> </a:t>
            </a:r>
            <a:r>
              <a:rPr lang="en-US" altLang="en-US" sz="2000" dirty="0" err="1">
                <a:cs typeface="Times New Roman" panose="02020603050405020304" pitchFamily="18" charset="0"/>
              </a:rPr>
              <a:t>nhỏ</a:t>
            </a:r>
            <a:r>
              <a:rPr lang="en-US" altLang="en-US" sz="2000" dirty="0">
                <a:cs typeface="Times New Roman" panose="02020603050405020304" pitchFamily="18" charset="0"/>
              </a:rPr>
              <a:t>, </a:t>
            </a:r>
            <a:r>
              <a:rPr lang="en-US" altLang="en-US" sz="2000" dirty="0" err="1">
                <a:cs typeface="Times New Roman" panose="02020603050405020304" pitchFamily="18" charset="0"/>
              </a:rPr>
              <a:t>dù</a:t>
            </a:r>
            <a:r>
              <a:rPr lang="en-US" altLang="en-US" sz="2000" dirty="0">
                <a:cs typeface="Times New Roman" panose="02020603050405020304" pitchFamily="18" charset="0"/>
              </a:rPr>
              <a:t> </a:t>
            </a:r>
            <a:r>
              <a:rPr lang="en-US" altLang="en-US" sz="2000" dirty="0" err="1">
                <a:cs typeface="Times New Roman" panose="02020603050405020304" pitchFamily="18" charset="0"/>
              </a:rPr>
              <a:t>chỉ</a:t>
            </a:r>
            <a:r>
              <a:rPr lang="en-US" altLang="en-US" sz="2000" dirty="0">
                <a:cs typeface="Times New Roman" panose="02020603050405020304" pitchFamily="18" charset="0"/>
              </a:rPr>
              <a:t> </a:t>
            </a:r>
            <a:r>
              <a:rPr lang="en-US" altLang="en-US" sz="2000" dirty="0" err="1">
                <a:cs typeface="Times New Roman" panose="02020603050405020304" pitchFamily="18" charset="0"/>
              </a:rPr>
              <a:t>tạm</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thời</a:t>
            </a:r>
            <a:endParaRPr lang="en-US" altLang="en-US" sz="2000" dirty="0" smtClean="0">
              <a:cs typeface="Times New Roman" panose="02020603050405020304" pitchFamily="18" charset="0"/>
            </a:endParaRPr>
          </a:p>
          <a:p>
            <a:pPr lvl="1"/>
            <a:endParaRPr lang="en-US" sz="2000" dirty="0">
              <a:cs typeface="Times New Roman" panose="02020603050405020304" pitchFamily="18" charset="0"/>
            </a:endParaRPr>
          </a:p>
          <a:p>
            <a:pPr lvl="1"/>
            <a:endParaRPr lang="en-US" sz="2000" dirty="0" smtClean="0">
              <a:cs typeface="Times New Roman" panose="02020603050405020304" pitchFamily="18" charset="0"/>
            </a:endParaRPr>
          </a:p>
          <a:p>
            <a:pPr lvl="1"/>
            <a:endParaRPr lang="en-US" sz="2000" dirty="0">
              <a:cs typeface="Times New Roman" panose="02020603050405020304" pitchFamily="18" charset="0"/>
            </a:endParaRPr>
          </a:p>
          <a:p>
            <a:pPr lvl="1"/>
            <a:endParaRPr lang="en-US" sz="2000" dirty="0" smtClean="0">
              <a:cs typeface="Times New Roman" panose="02020603050405020304" pitchFamily="18" charset="0"/>
            </a:endParaRPr>
          </a:p>
          <a:p>
            <a:pPr lvl="1"/>
            <a:endParaRPr lang="en-US" sz="2000" dirty="0"/>
          </a:p>
        </p:txBody>
      </p:sp>
      <p:pic>
        <p:nvPicPr>
          <p:cNvPr id="6" name="Picture 5"/>
          <p:cNvPicPr>
            <a:picLocks noChangeAspect="1"/>
          </p:cNvPicPr>
          <p:nvPr/>
        </p:nvPicPr>
        <p:blipFill>
          <a:blip r:embed="rId3"/>
          <a:stretch>
            <a:fillRect/>
          </a:stretch>
        </p:blipFill>
        <p:spPr>
          <a:xfrm>
            <a:off x="2757234" y="2819400"/>
            <a:ext cx="3629532" cy="1343212"/>
          </a:xfrm>
          <a:prstGeom prst="rect">
            <a:avLst/>
          </a:prstGeom>
        </p:spPr>
      </p:pic>
    </p:spTree>
    <p:extLst>
      <p:ext uri="{BB962C8B-B14F-4D97-AF65-F5344CB8AC3E}">
        <p14:creationId xmlns:p14="http://schemas.microsoft.com/office/powerpoint/2010/main" val="186352142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36</a:t>
            </a:fld>
            <a:endParaRPr lang="en-US"/>
          </a:p>
        </p:txBody>
      </p:sp>
      <p:sp>
        <p:nvSpPr>
          <p:cNvPr id="5" name="Title 4"/>
          <p:cNvSpPr>
            <a:spLocks noGrp="1"/>
          </p:cNvSpPr>
          <p:nvPr>
            <p:ph type="title"/>
          </p:nvPr>
        </p:nvSpPr>
        <p:spPr/>
        <p:txBody>
          <a:bodyPr/>
          <a:lstStyle/>
          <a:p>
            <a:r>
              <a:rPr lang="en-US" altLang="en-US" dirty="0" err="1"/>
              <a:t>Bài</a:t>
            </a:r>
            <a:r>
              <a:rPr lang="en-US" altLang="en-US" dirty="0"/>
              <a:t> </a:t>
            </a:r>
            <a:r>
              <a:rPr lang="en-US" altLang="en-US" dirty="0" err="1"/>
              <a:t>toán</a:t>
            </a:r>
            <a:r>
              <a:rPr lang="en-US" altLang="en-US" dirty="0"/>
              <a:t> </a:t>
            </a:r>
            <a:r>
              <a:rPr lang="en-US" altLang="en-US" dirty="0" err="1"/>
              <a:t>Tháp</a:t>
            </a:r>
            <a:r>
              <a:rPr lang="en-US" altLang="en-US" dirty="0"/>
              <a:t> </a:t>
            </a:r>
            <a:r>
              <a:rPr lang="en-US" altLang="en-US" dirty="0" err="1"/>
              <a:t>Hà</a:t>
            </a:r>
            <a:r>
              <a:rPr lang="en-US" altLang="en-US" dirty="0"/>
              <a:t> </a:t>
            </a:r>
            <a:r>
              <a:rPr lang="en-US" altLang="en-US" dirty="0" err="1"/>
              <a:t>Nội</a:t>
            </a:r>
            <a:endParaRPr lang="en-US" dirty="0"/>
          </a:p>
        </p:txBody>
      </p:sp>
      <p:sp>
        <p:nvSpPr>
          <p:cNvPr id="2" name="Content Placeholder 1"/>
          <p:cNvSpPr>
            <a:spLocks noGrp="1"/>
          </p:cNvSpPr>
          <p:nvPr>
            <p:ph type="body" sz="quarter" idx="13"/>
          </p:nvPr>
        </p:nvSpPr>
        <p:spPr/>
        <p:txBody>
          <a:bodyPr>
            <a:normAutofit/>
          </a:bodyPr>
          <a:lstStyle/>
          <a:p>
            <a:r>
              <a:rPr lang="en-US" sz="2400" dirty="0" err="1" smtClean="0">
                <a:cs typeface="Times New Roman" panose="02020603050405020304" pitchFamily="18" charset="0"/>
              </a:rPr>
              <a:t>Cách</a:t>
            </a:r>
            <a:r>
              <a:rPr lang="en-US" sz="2400" dirty="0" smtClean="0">
                <a:cs typeface="Times New Roman" panose="02020603050405020304" pitchFamily="18" charset="0"/>
              </a:rPr>
              <a:t> </a:t>
            </a:r>
            <a:r>
              <a:rPr lang="en-US" sz="2400" dirty="0" err="1" smtClean="0">
                <a:cs typeface="Times New Roman" panose="02020603050405020304" pitchFamily="18" charset="0"/>
              </a:rPr>
              <a:t>giải</a:t>
            </a:r>
            <a:r>
              <a:rPr lang="en-US" sz="2400" dirty="0" smtClean="0">
                <a:cs typeface="Times New Roman" panose="02020603050405020304" pitchFamily="18" charset="0"/>
              </a:rPr>
              <a:t> 1:</a:t>
            </a:r>
          </a:p>
          <a:p>
            <a:pPr lvl="1"/>
            <a:r>
              <a:rPr lang="en-US" sz="2000" dirty="0" err="1" smtClean="0">
                <a:cs typeface="Times New Roman" panose="02020603050405020304" pitchFamily="18" charset="0"/>
              </a:rPr>
              <a:t>Giải</a:t>
            </a:r>
            <a:r>
              <a:rPr lang="en-US" sz="2000" dirty="0" smtClean="0">
                <a:cs typeface="Times New Roman" panose="02020603050405020304" pitchFamily="18" charset="0"/>
              </a:rPr>
              <a:t> </a:t>
            </a:r>
            <a:r>
              <a:rPr lang="en-US" sz="2000" dirty="0" err="1" smtClean="0">
                <a:cs typeface="Times New Roman" panose="02020603050405020304" pitchFamily="18" charset="0"/>
              </a:rPr>
              <a:t>pháp</a:t>
            </a:r>
            <a:r>
              <a:rPr lang="en-US" sz="2000" dirty="0" smtClean="0">
                <a:cs typeface="Times New Roman" panose="02020603050405020304" pitchFamily="18" charset="0"/>
              </a:rPr>
              <a:t> </a:t>
            </a:r>
            <a:r>
              <a:rPr lang="en-US" sz="2000" dirty="0" err="1" smtClean="0">
                <a:cs typeface="Times New Roman" panose="02020603050405020304" pitchFamily="18" charset="0"/>
              </a:rPr>
              <a:t>lặp</a:t>
            </a:r>
            <a:endParaRPr lang="en-US" sz="2000" dirty="0" smtClean="0">
              <a:cs typeface="Times New Roman" panose="02020603050405020304" pitchFamily="18" charset="0"/>
            </a:endParaRPr>
          </a:p>
          <a:p>
            <a:pPr lvl="2"/>
            <a:r>
              <a:rPr lang="en-US" sz="2000" dirty="0" smtClean="0"/>
              <a:t>S</a:t>
            </a:r>
            <a:r>
              <a:rPr lang="vi-VN" sz="2000" dirty="0" smtClean="0"/>
              <a:t>ố </a:t>
            </a:r>
            <a:r>
              <a:rPr lang="vi-VN" sz="2000" dirty="0"/>
              <a:t>đĩa chẵn: </a:t>
            </a:r>
            <a:endParaRPr lang="en-US" sz="2000" dirty="0" smtClean="0"/>
          </a:p>
          <a:p>
            <a:pPr lvl="3"/>
            <a:r>
              <a:rPr lang="vi-VN" sz="2000" dirty="0" smtClean="0"/>
              <a:t>thực </a:t>
            </a:r>
            <a:r>
              <a:rPr lang="vi-VN" sz="2000" dirty="0"/>
              <a:t>hiện </a:t>
            </a:r>
            <a:r>
              <a:rPr lang="en-US" sz="2000" dirty="0" smtClean="0"/>
              <a:t>01 </a:t>
            </a:r>
            <a:r>
              <a:rPr lang="vi-VN" sz="2000" dirty="0" smtClean="0"/>
              <a:t>di </a:t>
            </a:r>
            <a:r>
              <a:rPr lang="vi-VN" sz="2000" dirty="0"/>
              <a:t>chuyển hợp pháp giữa </a:t>
            </a:r>
            <a:r>
              <a:rPr lang="vi-VN" sz="2000" dirty="0" smtClean="0"/>
              <a:t>A </a:t>
            </a:r>
            <a:r>
              <a:rPr lang="vi-VN" sz="2000" dirty="0"/>
              <a:t>và B </a:t>
            </a:r>
            <a:r>
              <a:rPr lang="vi-VN" sz="2000" dirty="0" smtClean="0"/>
              <a:t>(theo cả hai hướng)</a:t>
            </a:r>
            <a:endParaRPr lang="en-US" sz="2000" dirty="0" smtClean="0"/>
          </a:p>
          <a:p>
            <a:pPr lvl="3"/>
            <a:r>
              <a:rPr lang="vi-VN" sz="2000" dirty="0" smtClean="0"/>
              <a:t>thực </a:t>
            </a:r>
            <a:r>
              <a:rPr lang="vi-VN" sz="2000" dirty="0"/>
              <a:t>hiện </a:t>
            </a:r>
            <a:r>
              <a:rPr lang="en-US" sz="2000" dirty="0" smtClean="0"/>
              <a:t>01 </a:t>
            </a:r>
            <a:r>
              <a:rPr lang="vi-VN" sz="2000" dirty="0" smtClean="0"/>
              <a:t>di </a:t>
            </a:r>
            <a:r>
              <a:rPr lang="vi-VN" sz="2000" dirty="0"/>
              <a:t>chuyển hợp pháp giữa </a:t>
            </a:r>
            <a:r>
              <a:rPr lang="vi-VN" sz="2000" dirty="0" smtClean="0"/>
              <a:t>A </a:t>
            </a:r>
            <a:r>
              <a:rPr lang="vi-VN" sz="2000" dirty="0"/>
              <a:t>và C (theo cả hai hướng</a:t>
            </a:r>
            <a:r>
              <a:rPr lang="vi-VN" sz="2000" dirty="0" smtClean="0"/>
              <a:t>)</a:t>
            </a:r>
            <a:endParaRPr lang="en-US" sz="2000" dirty="0" smtClean="0"/>
          </a:p>
          <a:p>
            <a:pPr lvl="3"/>
            <a:r>
              <a:rPr lang="vi-VN" sz="2000" dirty="0" smtClean="0"/>
              <a:t>thực </a:t>
            </a:r>
            <a:r>
              <a:rPr lang="vi-VN" sz="2000" dirty="0"/>
              <a:t>hiện </a:t>
            </a:r>
            <a:r>
              <a:rPr lang="en-US" sz="2000" dirty="0" smtClean="0"/>
              <a:t>01 </a:t>
            </a:r>
            <a:r>
              <a:rPr lang="vi-VN" sz="2000" dirty="0" smtClean="0"/>
              <a:t>di </a:t>
            </a:r>
            <a:r>
              <a:rPr lang="vi-VN" sz="2000" dirty="0"/>
              <a:t>chuyển hợp pháp giữa </a:t>
            </a:r>
            <a:r>
              <a:rPr lang="vi-VN" sz="2000" dirty="0" smtClean="0"/>
              <a:t>B </a:t>
            </a:r>
            <a:r>
              <a:rPr lang="vi-VN" sz="2000" dirty="0"/>
              <a:t>và C (theo cả hai hướng</a:t>
            </a:r>
            <a:r>
              <a:rPr lang="vi-VN" sz="2000" dirty="0" smtClean="0"/>
              <a:t>)</a:t>
            </a:r>
            <a:endParaRPr lang="en-US" sz="2000" dirty="0" smtClean="0"/>
          </a:p>
          <a:p>
            <a:pPr lvl="3"/>
            <a:r>
              <a:rPr lang="en-US" sz="2000" dirty="0" smtClean="0"/>
              <a:t>L</a:t>
            </a:r>
            <a:r>
              <a:rPr lang="vi-VN" sz="2000" dirty="0" smtClean="0"/>
              <a:t>ặp </a:t>
            </a:r>
            <a:r>
              <a:rPr lang="vi-VN" sz="2000" dirty="0"/>
              <a:t>lại cho đến khi hoàn thành. </a:t>
            </a:r>
            <a:endParaRPr lang="en-US" sz="2000" dirty="0" smtClean="0"/>
          </a:p>
          <a:p>
            <a:pPr lvl="2"/>
            <a:r>
              <a:rPr lang="en-US" sz="2000" dirty="0" smtClean="0"/>
              <a:t>S</a:t>
            </a:r>
            <a:r>
              <a:rPr lang="vi-VN" sz="2000" dirty="0" smtClean="0"/>
              <a:t>ố </a:t>
            </a:r>
            <a:r>
              <a:rPr lang="vi-VN" sz="2000" dirty="0"/>
              <a:t>đĩa lẻ: </a:t>
            </a:r>
            <a:endParaRPr lang="en-US" sz="2000" dirty="0" smtClean="0"/>
          </a:p>
          <a:p>
            <a:pPr lvl="3"/>
            <a:r>
              <a:rPr lang="vi-VN" sz="2000" dirty="0" smtClean="0"/>
              <a:t>thực </a:t>
            </a:r>
            <a:r>
              <a:rPr lang="vi-VN" sz="2000" dirty="0"/>
              <a:t>hiện </a:t>
            </a:r>
            <a:r>
              <a:rPr lang="en-US" sz="2000" dirty="0" smtClean="0"/>
              <a:t>01 </a:t>
            </a:r>
            <a:r>
              <a:rPr lang="vi-VN" sz="2000" dirty="0" smtClean="0"/>
              <a:t>di </a:t>
            </a:r>
            <a:r>
              <a:rPr lang="vi-VN" sz="2000" dirty="0"/>
              <a:t>chuyển hợp pháp giữa </a:t>
            </a:r>
            <a:r>
              <a:rPr lang="vi-VN" sz="2000" dirty="0" smtClean="0"/>
              <a:t>A </a:t>
            </a:r>
            <a:r>
              <a:rPr lang="vi-VN" sz="2000" dirty="0"/>
              <a:t>và C (theo cả hai hướng</a:t>
            </a:r>
            <a:r>
              <a:rPr lang="vi-VN" sz="2000" dirty="0" smtClean="0"/>
              <a:t>)</a:t>
            </a:r>
            <a:endParaRPr lang="en-US" sz="2000" dirty="0" smtClean="0"/>
          </a:p>
          <a:p>
            <a:pPr lvl="3"/>
            <a:r>
              <a:rPr lang="vi-VN" sz="2000" dirty="0" smtClean="0"/>
              <a:t>thực </a:t>
            </a:r>
            <a:r>
              <a:rPr lang="vi-VN" sz="2000" dirty="0"/>
              <a:t>hiện </a:t>
            </a:r>
            <a:r>
              <a:rPr lang="en-US" sz="2000" dirty="0" smtClean="0"/>
              <a:t>01 </a:t>
            </a:r>
            <a:r>
              <a:rPr lang="vi-VN" sz="2000" dirty="0" smtClean="0"/>
              <a:t>di </a:t>
            </a:r>
            <a:r>
              <a:rPr lang="vi-VN" sz="2000" dirty="0"/>
              <a:t>chuyển hợp pháp giữa </a:t>
            </a:r>
            <a:r>
              <a:rPr lang="vi-VN" sz="2000" dirty="0" smtClean="0"/>
              <a:t>A </a:t>
            </a:r>
            <a:r>
              <a:rPr lang="vi-VN" sz="2000" dirty="0"/>
              <a:t>và B (theo cả hai hướng</a:t>
            </a:r>
            <a:r>
              <a:rPr lang="vi-VN" sz="2000" dirty="0" smtClean="0"/>
              <a:t>)</a:t>
            </a:r>
            <a:endParaRPr lang="en-US" sz="2000" dirty="0" smtClean="0"/>
          </a:p>
          <a:p>
            <a:pPr lvl="3"/>
            <a:r>
              <a:rPr lang="vi-VN" sz="2000" dirty="0" smtClean="0"/>
              <a:t>thực </a:t>
            </a:r>
            <a:r>
              <a:rPr lang="vi-VN" sz="2000" dirty="0"/>
              <a:t>hiện </a:t>
            </a:r>
            <a:r>
              <a:rPr lang="en-US" sz="2000" dirty="0" smtClean="0"/>
              <a:t>01 </a:t>
            </a:r>
            <a:r>
              <a:rPr lang="vi-VN" sz="2000" dirty="0" smtClean="0"/>
              <a:t>di </a:t>
            </a:r>
            <a:r>
              <a:rPr lang="vi-VN" sz="2000" dirty="0"/>
              <a:t>chuyển hợp pháp giữa </a:t>
            </a:r>
            <a:r>
              <a:rPr lang="vi-VN" sz="2000" dirty="0" smtClean="0"/>
              <a:t>B </a:t>
            </a:r>
            <a:r>
              <a:rPr lang="vi-VN" sz="2000" dirty="0"/>
              <a:t>và C (theo cả hai hướng</a:t>
            </a:r>
            <a:r>
              <a:rPr lang="vi-VN" sz="2000" dirty="0" smtClean="0"/>
              <a:t>)</a:t>
            </a:r>
            <a:endParaRPr lang="en-US" sz="2000" dirty="0" smtClean="0"/>
          </a:p>
          <a:p>
            <a:pPr lvl="3"/>
            <a:r>
              <a:rPr lang="vi-VN" sz="2000" dirty="0" smtClean="0"/>
              <a:t>lặp </a:t>
            </a:r>
            <a:r>
              <a:rPr lang="vi-VN" sz="2000" dirty="0"/>
              <a:t>lại cho đến khi hoàn thành. </a:t>
            </a:r>
            <a:endParaRPr lang="en-US" sz="2000" dirty="0" smtClean="0"/>
          </a:p>
          <a:p>
            <a:pPr lvl="2"/>
            <a:r>
              <a:rPr lang="vi-VN" sz="2000" dirty="0" smtClean="0"/>
              <a:t>Trong </a:t>
            </a:r>
            <a:r>
              <a:rPr lang="vi-VN" sz="2000" dirty="0"/>
              <a:t>mỗi trường hợp, có tổng cộng 2</a:t>
            </a:r>
            <a:r>
              <a:rPr lang="vi-VN" sz="2000" baseline="30000" dirty="0"/>
              <a:t>n</a:t>
            </a:r>
            <a:r>
              <a:rPr lang="vi-VN" sz="2000" dirty="0"/>
              <a:t> - 1 lần di chuyển được thực hiện.</a:t>
            </a:r>
            <a:endParaRPr lang="en-US" sz="2000" dirty="0" smtClean="0">
              <a:cs typeface="Times New Roman" panose="02020603050405020304" pitchFamily="18" charset="0"/>
            </a:endParaRPr>
          </a:p>
          <a:p>
            <a:pPr lvl="1"/>
            <a:endParaRPr lang="en-US" sz="2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000" y="152400"/>
            <a:ext cx="1707554" cy="1707554"/>
          </a:xfrm>
          <a:prstGeom prst="rect">
            <a:avLst/>
          </a:prstGeom>
        </p:spPr>
      </p:pic>
      <p:sp>
        <p:nvSpPr>
          <p:cNvPr id="7" name="Rectangle 6"/>
          <p:cNvSpPr/>
          <p:nvPr/>
        </p:nvSpPr>
        <p:spPr>
          <a:xfrm>
            <a:off x="0" y="6596390"/>
            <a:ext cx="4572000" cy="261610"/>
          </a:xfrm>
          <a:prstGeom prst="rect">
            <a:avLst/>
          </a:prstGeom>
        </p:spPr>
        <p:txBody>
          <a:bodyPr>
            <a:spAutoFit/>
          </a:bodyPr>
          <a:lstStyle/>
          <a:p>
            <a:r>
              <a:rPr lang="en-US" sz="1100" dirty="0"/>
              <a:t>https://</a:t>
            </a:r>
            <a:r>
              <a:rPr lang="en-US" sz="1000" dirty="0"/>
              <a:t>en.wikipedia.org/wiki/Tower_of_Hanoi</a:t>
            </a:r>
            <a:endParaRPr lang="en-US" sz="1100" dirty="0"/>
          </a:p>
        </p:txBody>
      </p:sp>
    </p:spTree>
    <p:extLst>
      <p:ext uri="{BB962C8B-B14F-4D97-AF65-F5344CB8AC3E}">
        <p14:creationId xmlns:p14="http://schemas.microsoft.com/office/powerpoint/2010/main" val="287576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37</a:t>
            </a:fld>
            <a:endParaRPr lang="en-US" dirty="0"/>
          </a:p>
        </p:txBody>
      </p:sp>
      <p:sp>
        <p:nvSpPr>
          <p:cNvPr id="5" name="Title 4"/>
          <p:cNvSpPr>
            <a:spLocks noGrp="1"/>
          </p:cNvSpPr>
          <p:nvPr>
            <p:ph type="title"/>
          </p:nvPr>
        </p:nvSpPr>
        <p:spPr/>
        <p:txBody>
          <a:bodyPr/>
          <a:lstStyle/>
          <a:p>
            <a:r>
              <a:rPr lang="en-US" altLang="en-US" dirty="0" err="1"/>
              <a:t>Bài</a:t>
            </a:r>
            <a:r>
              <a:rPr lang="en-US" altLang="en-US" dirty="0"/>
              <a:t> </a:t>
            </a:r>
            <a:r>
              <a:rPr lang="en-US" altLang="en-US" dirty="0" err="1"/>
              <a:t>toán</a:t>
            </a:r>
            <a:r>
              <a:rPr lang="en-US" altLang="en-US" dirty="0"/>
              <a:t> </a:t>
            </a:r>
            <a:r>
              <a:rPr lang="en-US" altLang="en-US" dirty="0" err="1"/>
              <a:t>Tháp</a:t>
            </a:r>
            <a:r>
              <a:rPr lang="en-US" altLang="en-US" dirty="0"/>
              <a:t> </a:t>
            </a:r>
            <a:r>
              <a:rPr lang="en-US" altLang="en-US" dirty="0" err="1"/>
              <a:t>Hà</a:t>
            </a:r>
            <a:r>
              <a:rPr lang="en-US" altLang="en-US" dirty="0"/>
              <a:t> </a:t>
            </a:r>
            <a:r>
              <a:rPr lang="en-US" altLang="en-US" dirty="0" err="1"/>
              <a:t>Nội</a:t>
            </a:r>
            <a:endParaRPr lang="en-US" dirty="0"/>
          </a:p>
        </p:txBody>
      </p:sp>
      <p:sp>
        <p:nvSpPr>
          <p:cNvPr id="2" name="Content Placeholder 1"/>
          <p:cNvSpPr>
            <a:spLocks noGrp="1"/>
          </p:cNvSpPr>
          <p:nvPr>
            <p:ph type="body" sz="quarter" idx="13"/>
          </p:nvPr>
        </p:nvSpPr>
        <p:spPr/>
        <p:txBody>
          <a:bodyPr>
            <a:normAutofit/>
          </a:bodyPr>
          <a:lstStyle/>
          <a:p>
            <a:r>
              <a:rPr lang="en-US" sz="2400" dirty="0" err="1" smtClean="0">
                <a:cs typeface="Times New Roman" panose="02020603050405020304" pitchFamily="18" charset="0"/>
              </a:rPr>
              <a:t>Cách</a:t>
            </a:r>
            <a:r>
              <a:rPr lang="en-US" sz="2400" dirty="0" smtClean="0">
                <a:cs typeface="Times New Roman" panose="02020603050405020304" pitchFamily="18" charset="0"/>
              </a:rPr>
              <a:t> </a:t>
            </a:r>
            <a:r>
              <a:rPr lang="en-US" sz="2400" dirty="0" err="1" smtClean="0">
                <a:cs typeface="Times New Roman" panose="02020603050405020304" pitchFamily="18" charset="0"/>
              </a:rPr>
              <a:t>giải</a:t>
            </a:r>
            <a:r>
              <a:rPr lang="en-US" sz="2400" dirty="0" smtClean="0">
                <a:cs typeface="Times New Roman" panose="02020603050405020304" pitchFamily="18" charset="0"/>
              </a:rPr>
              <a:t> 2: </a:t>
            </a:r>
            <a:r>
              <a:rPr lang="en-US" sz="2400" dirty="0" err="1" smtClean="0">
                <a:cs typeface="Times New Roman" panose="02020603050405020304" pitchFamily="18" charset="0"/>
              </a:rPr>
              <a:t>Đệ</a:t>
            </a:r>
            <a:r>
              <a:rPr lang="en-US" sz="2400" dirty="0" smtClean="0">
                <a:cs typeface="Times New Roman" panose="02020603050405020304" pitchFamily="18" charset="0"/>
              </a:rPr>
              <a:t> </a:t>
            </a:r>
            <a:r>
              <a:rPr lang="en-US" sz="2400" dirty="0" err="1" smtClean="0">
                <a:cs typeface="Times New Roman" panose="02020603050405020304" pitchFamily="18" charset="0"/>
              </a:rPr>
              <a:t>quy</a:t>
            </a:r>
            <a:endParaRPr lang="en-US" sz="2400" dirty="0" smtClean="0">
              <a:cs typeface="Times New Roman" panose="02020603050405020304" pitchFamily="18" charset="0"/>
            </a:endParaRPr>
          </a:p>
          <a:p>
            <a:pPr lvl="1" eaLnBrk="1" hangingPunct="1">
              <a:spcBef>
                <a:spcPct val="10000"/>
              </a:spcBef>
            </a:pPr>
            <a:r>
              <a:rPr lang="en-US" altLang="en-US" sz="2000" dirty="0" err="1">
                <a:cs typeface="Times New Roman" panose="02020603050405020304" pitchFamily="18" charset="0"/>
              </a:rPr>
              <a:t>Xác</a:t>
            </a:r>
            <a:r>
              <a:rPr lang="en-US" altLang="en-US" sz="2000" dirty="0">
                <a:cs typeface="Times New Roman" panose="02020603050405020304" pitchFamily="18" charset="0"/>
              </a:rPr>
              <a:t> </a:t>
            </a:r>
            <a:r>
              <a:rPr lang="en-US" altLang="en-US" sz="2000" dirty="0" err="1">
                <a:cs typeface="Times New Roman" panose="02020603050405020304" pitchFamily="18" charset="0"/>
              </a:rPr>
              <a:t>định</a:t>
            </a:r>
            <a:r>
              <a:rPr lang="en-US" altLang="en-US" sz="2000" dirty="0">
                <a:cs typeface="Times New Roman" panose="02020603050405020304" pitchFamily="18" charset="0"/>
              </a:rPr>
              <a:t> </a:t>
            </a:r>
            <a:r>
              <a:rPr lang="en-US" altLang="en-US" sz="2000" dirty="0" err="1">
                <a:cs typeface="Times New Roman" panose="02020603050405020304" pitchFamily="18" charset="0"/>
              </a:rPr>
              <a:t>trường</a:t>
            </a:r>
            <a:r>
              <a:rPr lang="en-US" altLang="en-US" sz="2000" dirty="0">
                <a:cs typeface="Times New Roman" panose="02020603050405020304" pitchFamily="18" charset="0"/>
              </a:rPr>
              <a:t> </a:t>
            </a:r>
            <a:r>
              <a:rPr lang="en-US" altLang="en-US" sz="2000" dirty="0" err="1">
                <a:cs typeface="Times New Roman" panose="02020603050405020304" pitchFamily="18" charset="0"/>
              </a:rPr>
              <a:t>hợp</a:t>
            </a:r>
            <a:r>
              <a:rPr lang="en-US" altLang="en-US" sz="2000" dirty="0">
                <a:cs typeface="Times New Roman" panose="02020603050405020304" pitchFamily="18" charset="0"/>
              </a:rPr>
              <a:t> </a:t>
            </a:r>
            <a:r>
              <a:rPr lang="en-US" altLang="en-US" sz="2000" dirty="0" err="1">
                <a:cs typeface="Times New Roman" panose="02020603050405020304" pitchFamily="18" charset="0"/>
              </a:rPr>
              <a:t>đơn</a:t>
            </a:r>
            <a:r>
              <a:rPr lang="en-US" altLang="en-US" sz="2000" dirty="0">
                <a:cs typeface="Times New Roman" panose="02020603050405020304" pitchFamily="18" charset="0"/>
              </a:rPr>
              <a:t> </a:t>
            </a:r>
            <a:r>
              <a:rPr lang="en-US" altLang="en-US" sz="2000" dirty="0" err="1">
                <a:cs typeface="Times New Roman" panose="02020603050405020304" pitchFamily="18" charset="0"/>
              </a:rPr>
              <a:t>giản</a:t>
            </a:r>
            <a:r>
              <a:rPr lang="en-US" altLang="en-US" sz="2000" dirty="0">
                <a:cs typeface="Times New Roman" panose="02020603050405020304" pitchFamily="18" charset="0"/>
              </a:rPr>
              <a:t> (</a:t>
            </a:r>
            <a:r>
              <a:rPr lang="en-US" altLang="en-US" sz="2000" dirty="0" err="1">
                <a:cs typeface="Times New Roman" panose="02020603050405020304" pitchFamily="18" charset="0"/>
              </a:rPr>
              <a:t>suy</a:t>
            </a:r>
            <a:r>
              <a:rPr lang="en-US" altLang="en-US" sz="2000" dirty="0">
                <a:cs typeface="Times New Roman" panose="02020603050405020304" pitchFamily="18" charset="0"/>
              </a:rPr>
              <a:t> </a:t>
            </a:r>
            <a:r>
              <a:rPr lang="en-US" altLang="en-US" sz="2000" dirty="0" err="1">
                <a:cs typeface="Times New Roman" panose="02020603050405020304" pitchFamily="18" charset="0"/>
              </a:rPr>
              <a:t>biến</a:t>
            </a:r>
            <a:r>
              <a:rPr lang="en-US" altLang="en-US" sz="2000" dirty="0">
                <a:cs typeface="Times New Roman" panose="02020603050405020304" pitchFamily="18" charset="0"/>
              </a:rPr>
              <a:t>)</a:t>
            </a:r>
          </a:p>
          <a:p>
            <a:pPr lvl="2" eaLnBrk="1" hangingPunct="1">
              <a:spcBef>
                <a:spcPct val="10000"/>
              </a:spcBef>
            </a:pPr>
            <a:r>
              <a:rPr lang="en-US" altLang="en-US" sz="2000" dirty="0" smtClean="0">
                <a:cs typeface="Times New Roman" panose="02020603050405020304" pitchFamily="18" charset="0"/>
              </a:rPr>
              <a:t>n = 1 </a:t>
            </a:r>
            <a:r>
              <a:rPr lang="en-US" altLang="en-US" sz="2000" dirty="0" err="1" smtClean="0">
                <a:cs typeface="Times New Roman" panose="02020603050405020304" pitchFamily="18" charset="0"/>
              </a:rPr>
              <a:t>đĩa</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chuyển</a:t>
            </a:r>
            <a:r>
              <a:rPr lang="en-US" altLang="en-US" sz="2000" dirty="0" smtClean="0">
                <a:cs typeface="Times New Roman" panose="02020603050405020304" pitchFamily="18" charset="0"/>
              </a:rPr>
              <a:t> A sang C [</a:t>
            </a:r>
            <a:r>
              <a:rPr lang="en-US" altLang="en-US" sz="2000" dirty="0" err="1" smtClean="0">
                <a:cs typeface="Times New Roman" panose="02020603050405020304" pitchFamily="18" charset="0"/>
              </a:rPr>
              <a:t>dùng</a:t>
            </a:r>
            <a:r>
              <a:rPr lang="en-US" altLang="en-US" sz="2000" dirty="0" smtClean="0">
                <a:cs typeface="Times New Roman" panose="02020603050405020304" pitchFamily="18" charset="0"/>
              </a:rPr>
              <a:t> B </a:t>
            </a:r>
            <a:r>
              <a:rPr lang="en-US" altLang="en-US" sz="2000" dirty="0" err="1" smtClean="0">
                <a:cs typeface="Times New Roman" panose="02020603050405020304" pitchFamily="18" charset="0"/>
              </a:rPr>
              <a:t>làm</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trung</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gian</a:t>
            </a:r>
            <a:r>
              <a:rPr lang="en-US" altLang="en-US" sz="2000" dirty="0" smtClean="0">
                <a:cs typeface="Times New Roman" panose="02020603050405020304" pitchFamily="18" charset="0"/>
              </a:rPr>
              <a:t>]</a:t>
            </a:r>
            <a:endParaRPr lang="en-US" altLang="en-US" sz="2000" dirty="0">
              <a:cs typeface="Times New Roman" panose="02020603050405020304" pitchFamily="18" charset="0"/>
            </a:endParaRPr>
          </a:p>
          <a:p>
            <a:pPr lvl="1" eaLnBrk="1" hangingPunct="1">
              <a:spcBef>
                <a:spcPct val="10000"/>
              </a:spcBef>
            </a:pPr>
            <a:r>
              <a:rPr lang="en-US" altLang="en-US" sz="2000" dirty="0" err="1" smtClean="0">
                <a:cs typeface="Times New Roman" panose="02020603050405020304" pitchFamily="18" charset="0"/>
              </a:rPr>
              <a:t>Trường</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hợp</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đệ</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quy</a:t>
            </a:r>
            <a:r>
              <a:rPr lang="en-US" altLang="en-US" sz="2000" dirty="0" smtClean="0">
                <a:cs typeface="Times New Roman" panose="02020603050405020304" pitchFamily="18" charset="0"/>
              </a:rPr>
              <a:t>:</a:t>
            </a:r>
            <a:endParaRPr lang="en-US" altLang="en-US" sz="2000" dirty="0">
              <a:cs typeface="Times New Roman" panose="02020603050405020304" pitchFamily="18" charset="0"/>
            </a:endParaRPr>
          </a:p>
          <a:p>
            <a:pPr lvl="2" eaLnBrk="1" hangingPunct="1">
              <a:spcBef>
                <a:spcPct val="10000"/>
              </a:spcBef>
            </a:pPr>
            <a:r>
              <a:rPr lang="en-US" altLang="en-US" sz="2000" dirty="0" smtClean="0">
                <a:cs typeface="Times New Roman" panose="02020603050405020304" pitchFamily="18" charset="0"/>
              </a:rPr>
              <a:t>B1. </a:t>
            </a:r>
            <a:r>
              <a:rPr lang="en-US" altLang="en-US" sz="2000" dirty="0" err="1" smtClean="0">
                <a:cs typeface="Times New Roman" panose="02020603050405020304" pitchFamily="18" charset="0"/>
              </a:rPr>
              <a:t>Chuyển</a:t>
            </a:r>
            <a:r>
              <a:rPr lang="en-US" altLang="en-US" sz="2000" dirty="0" smtClean="0">
                <a:cs typeface="Times New Roman" panose="02020603050405020304" pitchFamily="18" charset="0"/>
              </a:rPr>
              <a:t> </a:t>
            </a:r>
            <a:r>
              <a:rPr lang="en-US" altLang="en-US" sz="2000" dirty="0">
                <a:cs typeface="Times New Roman" panose="02020603050405020304" pitchFamily="18" charset="0"/>
              </a:rPr>
              <a:t>(n-1) </a:t>
            </a:r>
            <a:r>
              <a:rPr lang="en-US" altLang="en-US" sz="2000" dirty="0" err="1">
                <a:cs typeface="Times New Roman" panose="02020603050405020304" pitchFamily="18" charset="0"/>
              </a:rPr>
              <a:t>đĩa</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từ</a:t>
            </a:r>
            <a:r>
              <a:rPr lang="en-US" altLang="en-US" sz="2000" dirty="0" smtClean="0">
                <a:cs typeface="Times New Roman" panose="02020603050405020304" pitchFamily="18" charset="0"/>
              </a:rPr>
              <a:t> A </a:t>
            </a:r>
            <a:r>
              <a:rPr lang="en-US" altLang="en-US" sz="2000" dirty="0">
                <a:cs typeface="Times New Roman" panose="02020603050405020304" pitchFamily="18" charset="0"/>
              </a:rPr>
              <a:t>sang </a:t>
            </a:r>
            <a:r>
              <a:rPr lang="en-US" altLang="en-US" sz="2000" dirty="0" smtClean="0">
                <a:cs typeface="Times New Roman" panose="02020603050405020304" pitchFamily="18" charset="0"/>
              </a:rPr>
              <a:t>B, </a:t>
            </a:r>
            <a:r>
              <a:rPr lang="en-US" altLang="en-US" sz="2000" dirty="0" err="1" smtClean="0">
                <a:cs typeface="Times New Roman" panose="02020603050405020304" pitchFamily="18" charset="0"/>
              </a:rPr>
              <a:t>dùng</a:t>
            </a:r>
            <a:r>
              <a:rPr lang="en-US" altLang="en-US" sz="2000" dirty="0" smtClean="0">
                <a:cs typeface="Times New Roman" panose="02020603050405020304" pitchFamily="18" charset="0"/>
              </a:rPr>
              <a:t> C </a:t>
            </a:r>
            <a:r>
              <a:rPr lang="en-US" altLang="en-US" sz="2000" dirty="0" err="1" smtClean="0">
                <a:cs typeface="Times New Roman" panose="02020603050405020304" pitchFamily="18" charset="0"/>
              </a:rPr>
              <a:t>làm</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trung</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gian</a:t>
            </a:r>
            <a:endParaRPr lang="en-US" altLang="en-US" sz="2000" dirty="0">
              <a:cs typeface="Times New Roman" panose="02020603050405020304" pitchFamily="18" charset="0"/>
            </a:endParaRPr>
          </a:p>
          <a:p>
            <a:pPr lvl="2" eaLnBrk="1" hangingPunct="1">
              <a:spcBef>
                <a:spcPct val="10000"/>
              </a:spcBef>
            </a:pPr>
            <a:r>
              <a:rPr lang="en-US" altLang="en-US" sz="2000" dirty="0" smtClean="0">
                <a:cs typeface="Times New Roman" panose="02020603050405020304" pitchFamily="18" charset="0"/>
              </a:rPr>
              <a:t>B2. </a:t>
            </a:r>
            <a:r>
              <a:rPr lang="en-US" altLang="en-US" sz="2000" dirty="0" err="1" smtClean="0">
                <a:cs typeface="Times New Roman" panose="02020603050405020304" pitchFamily="18" charset="0"/>
              </a:rPr>
              <a:t>Chuyển</a:t>
            </a:r>
            <a:r>
              <a:rPr lang="en-US" altLang="en-US" sz="2000" dirty="0" smtClean="0">
                <a:cs typeface="Times New Roman" panose="02020603050405020304" pitchFamily="18" charset="0"/>
              </a:rPr>
              <a:t> </a:t>
            </a:r>
            <a:r>
              <a:rPr lang="en-US" altLang="en-US" sz="2000" dirty="0">
                <a:cs typeface="Times New Roman" panose="02020603050405020304" pitchFamily="18" charset="0"/>
              </a:rPr>
              <a:t>1 </a:t>
            </a:r>
            <a:r>
              <a:rPr lang="en-US" altLang="en-US" sz="2000" dirty="0" err="1" smtClean="0">
                <a:cs typeface="Times New Roman" panose="02020603050405020304" pitchFamily="18" charset="0"/>
              </a:rPr>
              <a:t>đĩa</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còn</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lại</a:t>
            </a:r>
            <a:r>
              <a:rPr lang="en-US" altLang="en-US" sz="2000" dirty="0" smtClean="0">
                <a:cs typeface="Times New Roman" panose="02020603050405020304" pitchFamily="18" charset="0"/>
              </a:rPr>
              <a:t> ở </a:t>
            </a:r>
            <a:r>
              <a:rPr lang="en-US" altLang="en-US" sz="2000" dirty="0">
                <a:cs typeface="Times New Roman" panose="02020603050405020304" pitchFamily="18" charset="0"/>
              </a:rPr>
              <a:t>A sang </a:t>
            </a:r>
            <a:r>
              <a:rPr lang="en-US" altLang="en-US" sz="2000" dirty="0" smtClean="0">
                <a:cs typeface="Times New Roman" panose="02020603050405020304" pitchFamily="18" charset="0"/>
              </a:rPr>
              <a:t>C, </a:t>
            </a:r>
            <a:r>
              <a:rPr lang="en-US" altLang="en-US" sz="2000" dirty="0" err="1" smtClean="0">
                <a:cs typeface="Times New Roman" panose="02020603050405020304" pitchFamily="18" charset="0"/>
              </a:rPr>
              <a:t>dùng</a:t>
            </a:r>
            <a:r>
              <a:rPr lang="en-US" altLang="en-US" sz="2000" dirty="0" smtClean="0">
                <a:cs typeface="Times New Roman" panose="02020603050405020304" pitchFamily="18" charset="0"/>
              </a:rPr>
              <a:t> B </a:t>
            </a:r>
            <a:r>
              <a:rPr lang="en-US" altLang="en-US" sz="2000" dirty="0" err="1" smtClean="0">
                <a:cs typeface="Times New Roman" panose="02020603050405020304" pitchFamily="18" charset="0"/>
              </a:rPr>
              <a:t>làm</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trung</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gian</a:t>
            </a:r>
            <a:endParaRPr lang="en-US" altLang="en-US" sz="2000" dirty="0">
              <a:cs typeface="Times New Roman" panose="02020603050405020304" pitchFamily="18" charset="0"/>
            </a:endParaRPr>
          </a:p>
          <a:p>
            <a:pPr lvl="2" eaLnBrk="1" hangingPunct="1">
              <a:spcBef>
                <a:spcPct val="10000"/>
              </a:spcBef>
            </a:pPr>
            <a:r>
              <a:rPr lang="en-US" altLang="en-US" sz="2000" dirty="0" smtClean="0">
                <a:cs typeface="Times New Roman" panose="02020603050405020304" pitchFamily="18" charset="0"/>
              </a:rPr>
              <a:t>B3. </a:t>
            </a:r>
            <a:r>
              <a:rPr lang="en-US" altLang="en-US" sz="2000" dirty="0" err="1" smtClean="0">
                <a:cs typeface="Times New Roman" panose="02020603050405020304" pitchFamily="18" charset="0"/>
              </a:rPr>
              <a:t>Chuyển</a:t>
            </a:r>
            <a:r>
              <a:rPr lang="en-US" altLang="en-US" sz="2000" dirty="0" smtClean="0">
                <a:cs typeface="Times New Roman" panose="02020603050405020304" pitchFamily="18" charset="0"/>
              </a:rPr>
              <a:t> </a:t>
            </a:r>
            <a:r>
              <a:rPr lang="en-US" altLang="en-US" sz="2000" dirty="0">
                <a:cs typeface="Times New Roman" panose="02020603050405020304" pitchFamily="18" charset="0"/>
              </a:rPr>
              <a:t>(n-1) </a:t>
            </a:r>
            <a:r>
              <a:rPr lang="en-US" altLang="en-US" sz="2000" dirty="0" err="1" smtClean="0">
                <a:cs typeface="Times New Roman" panose="02020603050405020304" pitchFamily="18" charset="0"/>
              </a:rPr>
              <a:t>đĩa</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từ</a:t>
            </a:r>
            <a:r>
              <a:rPr lang="en-US" altLang="en-US" sz="2000" dirty="0" smtClean="0">
                <a:cs typeface="Times New Roman" panose="02020603050405020304" pitchFamily="18" charset="0"/>
              </a:rPr>
              <a:t> B sang C, </a:t>
            </a:r>
            <a:r>
              <a:rPr lang="en-US" altLang="en-US" sz="2000" dirty="0" err="1" smtClean="0">
                <a:cs typeface="Times New Roman" panose="02020603050405020304" pitchFamily="18" charset="0"/>
              </a:rPr>
              <a:t>dùng</a:t>
            </a:r>
            <a:r>
              <a:rPr lang="en-US" altLang="en-US" sz="2000" dirty="0" smtClean="0">
                <a:cs typeface="Times New Roman" panose="02020603050405020304" pitchFamily="18" charset="0"/>
              </a:rPr>
              <a:t> A </a:t>
            </a:r>
            <a:r>
              <a:rPr lang="en-US" altLang="en-US" sz="2000" dirty="0" err="1" smtClean="0">
                <a:cs typeface="Times New Roman" panose="02020603050405020304" pitchFamily="18" charset="0"/>
              </a:rPr>
              <a:t>làm</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trung</a:t>
            </a:r>
            <a:r>
              <a:rPr lang="en-US" altLang="en-US" sz="2000" dirty="0" smtClean="0">
                <a:cs typeface="Times New Roman" panose="02020603050405020304" pitchFamily="18" charset="0"/>
              </a:rPr>
              <a:t> </a:t>
            </a:r>
            <a:r>
              <a:rPr lang="en-US" altLang="en-US" sz="2000" dirty="0" err="1" smtClean="0">
                <a:cs typeface="Times New Roman" panose="02020603050405020304" pitchFamily="18" charset="0"/>
              </a:rPr>
              <a:t>gian</a:t>
            </a:r>
            <a:endParaRPr lang="en-US" altLang="en-US" sz="2000" dirty="0">
              <a:cs typeface="Times New Roman" panose="02020603050405020304" pitchFamily="18" charset="0"/>
            </a:endParaRPr>
          </a:p>
          <a:p>
            <a:pPr lvl="1"/>
            <a:endParaRPr lang="en-US" sz="2000" dirty="0" smtClean="0">
              <a:cs typeface="Times New Roman" panose="02020603050405020304" pitchFamily="18" charset="0"/>
            </a:endParaRPr>
          </a:p>
          <a:p>
            <a:pPr lvl="1"/>
            <a:endParaRPr lang="en-US" sz="2000" dirty="0"/>
          </a:p>
        </p:txBody>
      </p:sp>
      <p:pic>
        <p:nvPicPr>
          <p:cNvPr id="6" name="Picture 5"/>
          <p:cNvPicPr>
            <a:picLocks noChangeAspect="1"/>
          </p:cNvPicPr>
          <p:nvPr/>
        </p:nvPicPr>
        <p:blipFill>
          <a:blip r:embed="rId3"/>
          <a:stretch>
            <a:fillRect/>
          </a:stretch>
        </p:blipFill>
        <p:spPr>
          <a:xfrm>
            <a:off x="6008989" y="152400"/>
            <a:ext cx="2313312" cy="856107"/>
          </a:xfrm>
          <a:prstGeom prst="rect">
            <a:avLst/>
          </a:prstGeom>
        </p:spPr>
      </p:pic>
      <p:pic>
        <p:nvPicPr>
          <p:cNvPr id="11" name="Picture 10"/>
          <p:cNvPicPr>
            <a:picLocks noChangeAspect="1"/>
          </p:cNvPicPr>
          <p:nvPr/>
        </p:nvPicPr>
        <p:blipFill>
          <a:blip r:embed="rId4"/>
          <a:stretch>
            <a:fillRect/>
          </a:stretch>
        </p:blipFill>
        <p:spPr>
          <a:xfrm>
            <a:off x="3039836" y="3657600"/>
            <a:ext cx="3544358" cy="2062951"/>
          </a:xfrm>
          <a:prstGeom prst="rect">
            <a:avLst/>
          </a:prstGeom>
        </p:spPr>
      </p:pic>
      <p:sp>
        <p:nvSpPr>
          <p:cNvPr id="12" name="TextBox 11"/>
          <p:cNvSpPr txBox="1"/>
          <p:nvPr/>
        </p:nvSpPr>
        <p:spPr>
          <a:xfrm>
            <a:off x="2362200" y="3657600"/>
            <a:ext cx="538930" cy="369332"/>
          </a:xfrm>
          <a:prstGeom prst="rect">
            <a:avLst/>
          </a:prstGeom>
          <a:noFill/>
        </p:spPr>
        <p:txBody>
          <a:bodyPr wrap="none" rtlCol="0">
            <a:spAutoFit/>
          </a:bodyPr>
          <a:lstStyle/>
          <a:p>
            <a:r>
              <a:rPr lang="en-US" dirty="0" smtClean="0"/>
              <a:t>n=2</a:t>
            </a:r>
            <a:endParaRPr lang="en-US" dirty="0"/>
          </a:p>
        </p:txBody>
      </p:sp>
    </p:spTree>
    <p:extLst>
      <p:ext uri="{BB962C8B-B14F-4D97-AF65-F5344CB8AC3E}">
        <p14:creationId xmlns:p14="http://schemas.microsoft.com/office/powerpoint/2010/main" val="78645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38</a:t>
            </a:fld>
            <a:endParaRPr lang="en-US"/>
          </a:p>
        </p:txBody>
      </p:sp>
      <p:sp>
        <p:nvSpPr>
          <p:cNvPr id="5" name="Title 4"/>
          <p:cNvSpPr>
            <a:spLocks noGrp="1"/>
          </p:cNvSpPr>
          <p:nvPr>
            <p:ph type="title"/>
          </p:nvPr>
        </p:nvSpPr>
        <p:spPr/>
        <p:txBody>
          <a:bodyPr/>
          <a:lstStyle/>
          <a:p>
            <a:r>
              <a:rPr lang="en-US" altLang="en-US" dirty="0" err="1"/>
              <a:t>Bài</a:t>
            </a:r>
            <a:r>
              <a:rPr lang="en-US" altLang="en-US" dirty="0"/>
              <a:t> </a:t>
            </a:r>
            <a:r>
              <a:rPr lang="en-US" altLang="en-US" dirty="0" err="1"/>
              <a:t>toán</a:t>
            </a:r>
            <a:r>
              <a:rPr lang="en-US" altLang="en-US" dirty="0"/>
              <a:t> </a:t>
            </a:r>
            <a:r>
              <a:rPr lang="en-US" altLang="en-US" dirty="0" err="1"/>
              <a:t>Tháp</a:t>
            </a:r>
            <a:r>
              <a:rPr lang="en-US" altLang="en-US" dirty="0"/>
              <a:t> </a:t>
            </a:r>
            <a:r>
              <a:rPr lang="en-US" altLang="en-US" dirty="0" err="1"/>
              <a:t>Hà</a:t>
            </a:r>
            <a:r>
              <a:rPr lang="en-US" altLang="en-US" dirty="0"/>
              <a:t> </a:t>
            </a:r>
            <a:r>
              <a:rPr lang="en-US" altLang="en-US" dirty="0" err="1"/>
              <a:t>Nội</a:t>
            </a:r>
            <a:endParaRPr lang="en-US" dirty="0"/>
          </a:p>
        </p:txBody>
      </p:sp>
      <p:sp>
        <p:nvSpPr>
          <p:cNvPr id="2" name="Content Placeholder 1"/>
          <p:cNvSpPr>
            <a:spLocks noGrp="1"/>
          </p:cNvSpPr>
          <p:nvPr>
            <p:ph type="body" sz="quarter" idx="13"/>
          </p:nvPr>
        </p:nvSpPr>
        <p:spPr/>
        <p:txBody>
          <a:bodyPr>
            <a:normAutofit/>
          </a:bodyPr>
          <a:lstStyle/>
          <a:p>
            <a:r>
              <a:rPr lang="en-US" sz="2400" dirty="0" err="1">
                <a:cs typeface="Times New Roman" panose="02020603050405020304" pitchFamily="18" charset="0"/>
              </a:rPr>
              <a:t>Cách</a:t>
            </a:r>
            <a:r>
              <a:rPr lang="en-US" sz="2400" dirty="0">
                <a:cs typeface="Times New Roman" panose="02020603050405020304" pitchFamily="18" charset="0"/>
              </a:rPr>
              <a:t> </a:t>
            </a:r>
            <a:r>
              <a:rPr lang="en-US" sz="2400" dirty="0" err="1">
                <a:cs typeface="Times New Roman" panose="02020603050405020304" pitchFamily="18" charset="0"/>
              </a:rPr>
              <a:t>giải</a:t>
            </a:r>
            <a:r>
              <a:rPr lang="en-US" sz="2400" dirty="0">
                <a:cs typeface="Times New Roman" panose="02020603050405020304" pitchFamily="18" charset="0"/>
              </a:rPr>
              <a:t> 2: </a:t>
            </a:r>
            <a:r>
              <a:rPr lang="en-US" sz="2400" dirty="0" err="1">
                <a:cs typeface="Times New Roman" panose="02020603050405020304" pitchFamily="18" charset="0"/>
              </a:rPr>
              <a:t>Đệ</a:t>
            </a:r>
            <a:r>
              <a:rPr lang="en-US" sz="2400" dirty="0">
                <a:cs typeface="Times New Roman" panose="02020603050405020304" pitchFamily="18" charset="0"/>
              </a:rPr>
              <a:t> </a:t>
            </a:r>
            <a:r>
              <a:rPr lang="en-US" sz="2400" dirty="0" err="1" smtClean="0">
                <a:cs typeface="Times New Roman" panose="02020603050405020304" pitchFamily="18" charset="0"/>
              </a:rPr>
              <a:t>quy</a:t>
            </a:r>
            <a:endParaRPr lang="en-US" sz="2400" dirty="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6525279" y="133318"/>
            <a:ext cx="2348227" cy="938014"/>
          </a:xfrm>
          <a:prstGeom prst="rect">
            <a:avLst/>
          </a:prstGeom>
        </p:spPr>
      </p:pic>
      <p:pic>
        <p:nvPicPr>
          <p:cNvPr id="8" name="Picture 7"/>
          <p:cNvPicPr>
            <a:picLocks noChangeAspect="1"/>
          </p:cNvPicPr>
          <p:nvPr/>
        </p:nvPicPr>
        <p:blipFill>
          <a:blip r:embed="rId3"/>
          <a:stretch>
            <a:fillRect/>
          </a:stretch>
        </p:blipFill>
        <p:spPr>
          <a:xfrm>
            <a:off x="4495800" y="1990251"/>
            <a:ext cx="2701403" cy="1080561"/>
          </a:xfrm>
          <a:prstGeom prst="rect">
            <a:avLst/>
          </a:prstGeom>
        </p:spPr>
      </p:pic>
      <p:pic>
        <p:nvPicPr>
          <p:cNvPr id="9" name="Picture 8"/>
          <p:cNvPicPr>
            <a:picLocks noChangeAspect="1"/>
          </p:cNvPicPr>
          <p:nvPr/>
        </p:nvPicPr>
        <p:blipFill>
          <a:blip r:embed="rId4"/>
          <a:stretch>
            <a:fillRect/>
          </a:stretch>
        </p:blipFill>
        <p:spPr>
          <a:xfrm>
            <a:off x="4495800" y="3257676"/>
            <a:ext cx="2618731" cy="947926"/>
          </a:xfrm>
          <a:prstGeom prst="rect">
            <a:avLst/>
          </a:prstGeom>
        </p:spPr>
      </p:pic>
      <p:pic>
        <p:nvPicPr>
          <p:cNvPr id="10" name="Picture 9"/>
          <p:cNvPicPr>
            <a:picLocks noChangeAspect="1"/>
          </p:cNvPicPr>
          <p:nvPr/>
        </p:nvPicPr>
        <p:blipFill>
          <a:blip r:embed="rId5"/>
          <a:stretch>
            <a:fillRect/>
          </a:stretch>
        </p:blipFill>
        <p:spPr>
          <a:xfrm>
            <a:off x="4495800" y="4425869"/>
            <a:ext cx="2701403" cy="1066528"/>
          </a:xfrm>
          <a:prstGeom prst="rect">
            <a:avLst/>
          </a:prstGeom>
        </p:spPr>
      </p:pic>
      <p:sp>
        <p:nvSpPr>
          <p:cNvPr id="12" name="TextBox 11"/>
          <p:cNvSpPr txBox="1"/>
          <p:nvPr/>
        </p:nvSpPr>
        <p:spPr>
          <a:xfrm>
            <a:off x="1600200" y="3546973"/>
            <a:ext cx="575799" cy="369332"/>
          </a:xfrm>
          <a:prstGeom prst="rect">
            <a:avLst/>
          </a:prstGeom>
          <a:noFill/>
        </p:spPr>
        <p:txBody>
          <a:bodyPr wrap="none" rtlCol="0">
            <a:spAutoFit/>
          </a:bodyPr>
          <a:lstStyle/>
          <a:p>
            <a:r>
              <a:rPr lang="en-US" dirty="0" smtClean="0"/>
              <a:t>n=3</a:t>
            </a:r>
            <a:endParaRPr lang="en-US" dirty="0"/>
          </a:p>
        </p:txBody>
      </p:sp>
      <p:sp>
        <p:nvSpPr>
          <p:cNvPr id="13" name="TextBox 12"/>
          <p:cNvSpPr txBox="1"/>
          <p:nvPr/>
        </p:nvSpPr>
        <p:spPr>
          <a:xfrm>
            <a:off x="2874413" y="2345865"/>
            <a:ext cx="1614673" cy="369332"/>
          </a:xfrm>
          <a:prstGeom prst="rect">
            <a:avLst/>
          </a:prstGeom>
          <a:noFill/>
        </p:spPr>
        <p:txBody>
          <a:bodyPr wrap="none" rtlCol="0">
            <a:spAutoFit/>
          </a:bodyPr>
          <a:lstStyle/>
          <a:p>
            <a:r>
              <a:rPr lang="en-US" dirty="0" smtClean="0">
                <a:sym typeface="Wingdings" panose="05000000000000000000" pitchFamily="2" charset="2"/>
              </a:rPr>
              <a:t>n=2, </a:t>
            </a:r>
            <a:r>
              <a:rPr lang="en-US" altLang="en-US" dirty="0" smtClean="0">
                <a:cs typeface="Times New Roman" panose="02020603050405020304" pitchFamily="18" charset="0"/>
              </a:rPr>
              <a:t>A </a:t>
            </a:r>
            <a:r>
              <a:rPr lang="en-US" altLang="en-US" dirty="0">
                <a:cs typeface="Times New Roman" panose="02020603050405020304" pitchFamily="18" charset="0"/>
              </a:rPr>
              <a:t>sang </a:t>
            </a:r>
            <a:r>
              <a:rPr lang="en-US" altLang="en-US" dirty="0" smtClean="0">
                <a:cs typeface="Times New Roman" panose="02020603050405020304" pitchFamily="18" charset="0"/>
              </a:rPr>
              <a:t>B</a:t>
            </a:r>
            <a:endParaRPr lang="en-US" dirty="0"/>
          </a:p>
        </p:txBody>
      </p:sp>
      <p:sp>
        <p:nvSpPr>
          <p:cNvPr id="14" name="TextBox 13"/>
          <p:cNvSpPr txBox="1"/>
          <p:nvPr/>
        </p:nvSpPr>
        <p:spPr>
          <a:xfrm>
            <a:off x="2874413" y="4774467"/>
            <a:ext cx="1653017" cy="369332"/>
          </a:xfrm>
          <a:prstGeom prst="rect">
            <a:avLst/>
          </a:prstGeom>
          <a:noFill/>
        </p:spPr>
        <p:txBody>
          <a:bodyPr wrap="none" rtlCol="0">
            <a:spAutoFit/>
          </a:bodyPr>
          <a:lstStyle/>
          <a:p>
            <a:r>
              <a:rPr lang="en-US" dirty="0">
                <a:sym typeface="Wingdings" panose="05000000000000000000" pitchFamily="2" charset="2"/>
              </a:rPr>
              <a:t>n=2, </a:t>
            </a:r>
            <a:r>
              <a:rPr lang="en-US" altLang="en-US" dirty="0" smtClean="0">
                <a:cs typeface="Times New Roman" panose="02020603050405020304" pitchFamily="18" charset="0"/>
              </a:rPr>
              <a:t>B </a:t>
            </a:r>
            <a:r>
              <a:rPr lang="en-US" altLang="en-US" dirty="0">
                <a:cs typeface="Times New Roman" panose="02020603050405020304" pitchFamily="18" charset="0"/>
              </a:rPr>
              <a:t>sang </a:t>
            </a:r>
            <a:r>
              <a:rPr lang="en-US" altLang="en-US" dirty="0" smtClean="0">
                <a:cs typeface="Times New Roman" panose="02020603050405020304" pitchFamily="18" charset="0"/>
              </a:rPr>
              <a:t>C</a:t>
            </a:r>
            <a:endParaRPr lang="en-US" dirty="0"/>
          </a:p>
        </p:txBody>
      </p:sp>
      <p:sp>
        <p:nvSpPr>
          <p:cNvPr id="24" name="Left Brace 23"/>
          <p:cNvSpPr/>
          <p:nvPr/>
        </p:nvSpPr>
        <p:spPr>
          <a:xfrm>
            <a:off x="2362200" y="2530531"/>
            <a:ext cx="384175" cy="2428602"/>
          </a:xfrm>
          <a:prstGeom prst="leftBrace">
            <a:avLst>
              <a:gd name="adj1" fmla="val 31156"/>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ectangle 5"/>
          <p:cNvSpPr/>
          <p:nvPr/>
        </p:nvSpPr>
        <p:spPr>
          <a:xfrm>
            <a:off x="2853877" y="3525739"/>
            <a:ext cx="1900007" cy="369332"/>
          </a:xfrm>
          <a:prstGeom prst="rect">
            <a:avLst/>
          </a:prstGeom>
        </p:spPr>
        <p:txBody>
          <a:bodyPr wrap="none">
            <a:spAutoFit/>
          </a:bodyPr>
          <a:lstStyle/>
          <a:p>
            <a:r>
              <a:rPr lang="en-US" altLang="en-US" dirty="0">
                <a:cs typeface="Times New Roman" panose="02020603050405020304" pitchFamily="18" charset="0"/>
              </a:rPr>
              <a:t>1 </a:t>
            </a:r>
            <a:r>
              <a:rPr lang="en-US" altLang="en-US" dirty="0" err="1">
                <a:cs typeface="Times New Roman" panose="02020603050405020304" pitchFamily="18" charset="0"/>
              </a:rPr>
              <a:t>đĩa</a:t>
            </a:r>
            <a:r>
              <a:rPr lang="en-US" altLang="en-US" dirty="0">
                <a:cs typeface="Times New Roman" panose="02020603050405020304" pitchFamily="18" charset="0"/>
              </a:rPr>
              <a:t> </a:t>
            </a:r>
            <a:r>
              <a:rPr lang="en-US" altLang="en-US" dirty="0" smtClean="0">
                <a:cs typeface="Times New Roman" panose="02020603050405020304" pitchFamily="18" charset="0"/>
              </a:rPr>
              <a:t>ở </a:t>
            </a:r>
            <a:r>
              <a:rPr lang="en-US" altLang="en-US" dirty="0">
                <a:cs typeface="Times New Roman" panose="02020603050405020304" pitchFamily="18" charset="0"/>
              </a:rPr>
              <a:t>A sang C</a:t>
            </a:r>
            <a:endParaRPr lang="en-US" dirty="0"/>
          </a:p>
        </p:txBody>
      </p:sp>
    </p:spTree>
    <p:extLst>
      <p:ext uri="{BB962C8B-B14F-4D97-AF65-F5344CB8AC3E}">
        <p14:creationId xmlns:p14="http://schemas.microsoft.com/office/powerpoint/2010/main" val="116365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4" grpId="0" animBg="1"/>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39</a:t>
            </a:fld>
            <a:endParaRPr lang="en-US"/>
          </a:p>
        </p:txBody>
      </p:sp>
      <p:sp>
        <p:nvSpPr>
          <p:cNvPr id="5" name="Title 4"/>
          <p:cNvSpPr>
            <a:spLocks noGrp="1"/>
          </p:cNvSpPr>
          <p:nvPr>
            <p:ph type="title"/>
          </p:nvPr>
        </p:nvSpPr>
        <p:spPr/>
        <p:txBody>
          <a:bodyPr/>
          <a:lstStyle/>
          <a:p>
            <a:r>
              <a:rPr lang="en-US" altLang="en-US" dirty="0" err="1"/>
              <a:t>Bài</a:t>
            </a:r>
            <a:r>
              <a:rPr lang="en-US" altLang="en-US" dirty="0"/>
              <a:t> </a:t>
            </a:r>
            <a:r>
              <a:rPr lang="en-US" altLang="en-US" dirty="0" err="1"/>
              <a:t>toán</a:t>
            </a:r>
            <a:r>
              <a:rPr lang="en-US" altLang="en-US" dirty="0"/>
              <a:t> </a:t>
            </a:r>
            <a:r>
              <a:rPr lang="en-US" altLang="en-US" dirty="0" err="1"/>
              <a:t>Tháp</a:t>
            </a:r>
            <a:r>
              <a:rPr lang="en-US" altLang="en-US" dirty="0"/>
              <a:t> </a:t>
            </a:r>
            <a:r>
              <a:rPr lang="en-US" altLang="en-US" dirty="0" err="1"/>
              <a:t>Hà</a:t>
            </a:r>
            <a:r>
              <a:rPr lang="en-US" altLang="en-US" dirty="0"/>
              <a:t> </a:t>
            </a:r>
            <a:r>
              <a:rPr lang="en-US" altLang="en-US" dirty="0" err="1"/>
              <a:t>Nội</a:t>
            </a:r>
            <a:endParaRPr lang="en-US" dirty="0"/>
          </a:p>
        </p:txBody>
      </p:sp>
      <p:sp>
        <p:nvSpPr>
          <p:cNvPr id="6" name="Text Placeholder 5"/>
          <p:cNvSpPr>
            <a:spLocks noGrp="1"/>
          </p:cNvSpPr>
          <p:nvPr>
            <p:ph type="body" sz="quarter" idx="13"/>
          </p:nvPr>
        </p:nvSpPr>
        <p:spPr/>
        <p:txBody>
          <a:bodyPr/>
          <a:lstStyle/>
          <a:p>
            <a:endParaRPr lang="en-US"/>
          </a:p>
        </p:txBody>
      </p:sp>
      <p:pic>
        <p:nvPicPr>
          <p:cNvPr id="7" name="Picture 6"/>
          <p:cNvPicPr>
            <a:picLocks noChangeAspect="1"/>
          </p:cNvPicPr>
          <p:nvPr/>
        </p:nvPicPr>
        <p:blipFill>
          <a:blip r:embed="rId3"/>
          <a:stretch>
            <a:fillRect/>
          </a:stretch>
        </p:blipFill>
        <p:spPr>
          <a:xfrm>
            <a:off x="5257800" y="1291952"/>
            <a:ext cx="3587091" cy="5250023"/>
          </a:xfrm>
          <a:prstGeom prst="rect">
            <a:avLst/>
          </a:prstGeom>
        </p:spPr>
      </p:pic>
      <p:pic>
        <p:nvPicPr>
          <p:cNvPr id="9" name="Picture 8"/>
          <p:cNvPicPr>
            <a:picLocks noChangeAspect="1"/>
          </p:cNvPicPr>
          <p:nvPr/>
        </p:nvPicPr>
        <p:blipFill>
          <a:blip r:embed="rId4"/>
          <a:stretch>
            <a:fillRect/>
          </a:stretch>
        </p:blipFill>
        <p:spPr>
          <a:xfrm>
            <a:off x="762000" y="1260964"/>
            <a:ext cx="3533541" cy="5277948"/>
          </a:xfrm>
          <a:prstGeom prst="rect">
            <a:avLst/>
          </a:prstGeom>
        </p:spPr>
      </p:pic>
      <p:cxnSp>
        <p:nvCxnSpPr>
          <p:cNvPr id="10" name="Straight Arrow Connector 9"/>
          <p:cNvCxnSpPr/>
          <p:nvPr/>
        </p:nvCxnSpPr>
        <p:spPr>
          <a:xfrm>
            <a:off x="4444766" y="2895600"/>
            <a:ext cx="73683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6596390"/>
            <a:ext cx="4572000" cy="261610"/>
          </a:xfrm>
          <a:prstGeom prst="rect">
            <a:avLst/>
          </a:prstGeom>
        </p:spPr>
        <p:txBody>
          <a:bodyPr>
            <a:spAutoFit/>
          </a:bodyPr>
          <a:lstStyle/>
          <a:p>
            <a:r>
              <a:rPr lang="en-US" sz="1100" dirty="0"/>
              <a:t>https://</a:t>
            </a:r>
            <a:r>
              <a:rPr lang="en-US" sz="1000" dirty="0"/>
              <a:t>en.wikipedia.org/wiki/Tower_of_Hanoi</a:t>
            </a:r>
            <a:endParaRPr lang="en-US" sz="1100" dirty="0"/>
          </a:p>
        </p:txBody>
      </p:sp>
      <p:sp>
        <p:nvSpPr>
          <p:cNvPr id="13" name="TextBox 12"/>
          <p:cNvSpPr txBox="1"/>
          <p:nvPr/>
        </p:nvSpPr>
        <p:spPr>
          <a:xfrm>
            <a:off x="111588" y="3732297"/>
            <a:ext cx="575799" cy="369332"/>
          </a:xfrm>
          <a:prstGeom prst="rect">
            <a:avLst/>
          </a:prstGeom>
          <a:noFill/>
        </p:spPr>
        <p:txBody>
          <a:bodyPr wrap="none" rtlCol="0">
            <a:spAutoFit/>
          </a:bodyPr>
          <a:lstStyle/>
          <a:p>
            <a:r>
              <a:rPr lang="en-US" dirty="0" smtClean="0"/>
              <a:t>n=4</a:t>
            </a:r>
            <a:endParaRPr lang="en-US" dirty="0"/>
          </a:p>
        </p:txBody>
      </p:sp>
    </p:spTree>
    <p:extLst>
      <p:ext uri="{BB962C8B-B14F-4D97-AF65-F5344CB8AC3E}">
        <p14:creationId xmlns:p14="http://schemas.microsoft.com/office/powerpoint/2010/main" val="144249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40</a:t>
            </a:fld>
            <a:endParaRPr lang="en-US"/>
          </a:p>
        </p:txBody>
      </p:sp>
      <p:sp>
        <p:nvSpPr>
          <p:cNvPr id="5" name="Title 4"/>
          <p:cNvSpPr>
            <a:spLocks noGrp="1"/>
          </p:cNvSpPr>
          <p:nvPr>
            <p:ph type="title"/>
          </p:nvPr>
        </p:nvSpPr>
        <p:spPr/>
        <p:txBody>
          <a:bodyPr/>
          <a:lstStyle/>
          <a:p>
            <a:r>
              <a:rPr lang="en-US" altLang="en-US" dirty="0" err="1"/>
              <a:t>Bài</a:t>
            </a:r>
            <a:r>
              <a:rPr lang="en-US" altLang="en-US" dirty="0"/>
              <a:t> </a:t>
            </a:r>
            <a:r>
              <a:rPr lang="en-US" altLang="en-US" dirty="0" err="1"/>
              <a:t>toán</a:t>
            </a:r>
            <a:r>
              <a:rPr lang="en-US" altLang="en-US" dirty="0"/>
              <a:t> </a:t>
            </a:r>
            <a:r>
              <a:rPr lang="en-US" altLang="en-US" dirty="0" err="1"/>
              <a:t>Tháp</a:t>
            </a:r>
            <a:r>
              <a:rPr lang="en-US" altLang="en-US" dirty="0"/>
              <a:t> </a:t>
            </a:r>
            <a:r>
              <a:rPr lang="en-US" altLang="en-US" dirty="0" err="1"/>
              <a:t>Hà</a:t>
            </a:r>
            <a:r>
              <a:rPr lang="en-US" altLang="en-US" dirty="0"/>
              <a:t> </a:t>
            </a:r>
            <a:r>
              <a:rPr lang="en-US" altLang="en-US" dirty="0" err="1"/>
              <a:t>Nội</a:t>
            </a:r>
            <a:endParaRPr lang="en-US" dirty="0"/>
          </a:p>
        </p:txBody>
      </p:sp>
      <p:sp>
        <p:nvSpPr>
          <p:cNvPr id="2" name="Content Placeholder 1"/>
          <p:cNvSpPr>
            <a:spLocks noGrp="1"/>
          </p:cNvSpPr>
          <p:nvPr>
            <p:ph type="body" sz="quarter" idx="13"/>
          </p:nvPr>
        </p:nvSpPr>
        <p:spPr/>
        <p:txBody>
          <a:bodyPr>
            <a:normAutofit/>
          </a:bodyPr>
          <a:lstStyle/>
          <a:p>
            <a:r>
              <a:rPr lang="en-US" sz="2400" dirty="0" err="1" smtClean="0"/>
              <a:t>Giải</a:t>
            </a:r>
            <a:r>
              <a:rPr lang="en-US" sz="2400" dirty="0" smtClean="0"/>
              <a:t> </a:t>
            </a:r>
            <a:r>
              <a:rPr lang="en-US" sz="2400" dirty="0" err="1" smtClean="0"/>
              <a:t>thuật</a:t>
            </a:r>
            <a:r>
              <a:rPr lang="en-US" sz="2400" dirty="0" smtClean="0"/>
              <a:t> </a:t>
            </a:r>
            <a:r>
              <a:rPr lang="en-US" sz="2400" dirty="0" err="1" smtClean="0"/>
              <a:t>đệ</a:t>
            </a:r>
            <a:r>
              <a:rPr lang="en-US" sz="2400" dirty="0" smtClean="0"/>
              <a:t> </a:t>
            </a:r>
            <a:r>
              <a:rPr lang="en-US" sz="2400" dirty="0" err="1" smtClean="0"/>
              <a:t>quy</a:t>
            </a:r>
            <a:endParaRPr lang="en-US" sz="2400" dirty="0"/>
          </a:p>
        </p:txBody>
      </p:sp>
      <p:pic>
        <p:nvPicPr>
          <p:cNvPr id="6" name="Picture 5"/>
          <p:cNvPicPr>
            <a:picLocks noChangeAspect="1"/>
          </p:cNvPicPr>
          <p:nvPr/>
        </p:nvPicPr>
        <p:blipFill rotWithShape="1">
          <a:blip r:embed="rId3"/>
          <a:srcRect l="7282" t="16049" r="-7282" b="12975"/>
          <a:stretch/>
        </p:blipFill>
        <p:spPr>
          <a:xfrm>
            <a:off x="1622425" y="2276543"/>
            <a:ext cx="5973009" cy="1703872"/>
          </a:xfrm>
          <a:prstGeom prst="rect">
            <a:avLst/>
          </a:prstGeom>
        </p:spPr>
      </p:pic>
      <p:pic>
        <p:nvPicPr>
          <p:cNvPr id="7" name="Picture 6"/>
          <p:cNvPicPr>
            <a:picLocks noChangeAspect="1"/>
          </p:cNvPicPr>
          <p:nvPr/>
        </p:nvPicPr>
        <p:blipFill rotWithShape="1">
          <a:blip r:embed="rId3"/>
          <a:srcRect b="80955"/>
          <a:stretch/>
        </p:blipFill>
        <p:spPr>
          <a:xfrm>
            <a:off x="1603375" y="1879432"/>
            <a:ext cx="5973009" cy="457200"/>
          </a:xfrm>
          <a:prstGeom prst="rect">
            <a:avLst/>
          </a:prstGeom>
        </p:spPr>
      </p:pic>
      <p:pic>
        <p:nvPicPr>
          <p:cNvPr id="8" name="Picture 7"/>
          <p:cNvPicPr>
            <a:picLocks noChangeAspect="1"/>
          </p:cNvPicPr>
          <p:nvPr/>
        </p:nvPicPr>
        <p:blipFill rotWithShape="1">
          <a:blip r:embed="rId3"/>
          <a:srcRect t="88434"/>
          <a:stretch/>
        </p:blipFill>
        <p:spPr>
          <a:xfrm>
            <a:off x="1622425" y="4065738"/>
            <a:ext cx="5973009" cy="277662"/>
          </a:xfrm>
          <a:prstGeom prst="rect">
            <a:avLst/>
          </a:prstGeom>
        </p:spPr>
      </p:pic>
    </p:spTree>
    <p:extLst>
      <p:ext uri="{BB962C8B-B14F-4D97-AF65-F5344CB8AC3E}">
        <p14:creationId xmlns:p14="http://schemas.microsoft.com/office/powerpoint/2010/main" val="375958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dirty="0" smtClean="0"/>
              <a:t>ET2100 </a:t>
            </a:r>
            <a:r>
              <a:rPr lang="en-US" i="1" dirty="0" smtClean="0"/>
              <a:t>- </a:t>
            </a:r>
            <a:r>
              <a:rPr lang="en-US" b="1" i="1" dirty="0" smtClean="0"/>
              <a:t>Data Structures and Algorithms</a:t>
            </a:r>
            <a:endParaRPr lang="en-US" dirty="0" smtClean="0"/>
          </a:p>
          <a:p>
            <a:pPr algn="r"/>
            <a:r>
              <a:rPr lang="en-US" dirty="0"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41</a:t>
            </a:fld>
            <a:endParaRPr lang="en-US"/>
          </a:p>
        </p:txBody>
      </p:sp>
      <p:sp>
        <p:nvSpPr>
          <p:cNvPr id="5" name="Title 4"/>
          <p:cNvSpPr>
            <a:spLocks noGrp="1"/>
          </p:cNvSpPr>
          <p:nvPr>
            <p:ph type="title"/>
          </p:nvPr>
        </p:nvSpPr>
        <p:spPr/>
        <p:txBody>
          <a:bodyPr/>
          <a:lstStyle/>
          <a:p>
            <a:r>
              <a:rPr lang="en-US" dirty="0" smtClean="0"/>
              <a:t>3. </a:t>
            </a:r>
            <a:r>
              <a:rPr lang="en-US" dirty="0" err="1" smtClean="0"/>
              <a:t>Giải</a:t>
            </a:r>
            <a:r>
              <a:rPr lang="en-US" dirty="0" smtClean="0"/>
              <a:t> </a:t>
            </a:r>
            <a:r>
              <a:rPr lang="en-US" dirty="0" err="1" smtClean="0"/>
              <a:t>thuật</a:t>
            </a:r>
            <a:r>
              <a:rPr lang="en-US" dirty="0" smtClean="0"/>
              <a:t> quay </a:t>
            </a:r>
            <a:r>
              <a:rPr lang="en-US" dirty="0" err="1" smtClean="0"/>
              <a:t>lui</a:t>
            </a:r>
            <a:r>
              <a:rPr lang="en-US" dirty="0" smtClean="0"/>
              <a:t> (</a:t>
            </a:r>
            <a:r>
              <a:rPr lang="en-US" altLang="en-US" dirty="0"/>
              <a:t>Backtracking</a:t>
            </a:r>
            <a:r>
              <a:rPr lang="en-US" dirty="0" smtClean="0"/>
              <a:t>)</a:t>
            </a:r>
            <a:endParaRPr lang="en-US" dirty="0"/>
          </a:p>
        </p:txBody>
      </p:sp>
      <p:sp>
        <p:nvSpPr>
          <p:cNvPr id="2" name="Content Placeholder 1"/>
          <p:cNvSpPr>
            <a:spLocks noGrp="1"/>
          </p:cNvSpPr>
          <p:nvPr>
            <p:ph type="body" sz="quarter" idx="13"/>
          </p:nvPr>
        </p:nvSpPr>
        <p:spPr/>
        <p:txBody>
          <a:bodyPr/>
          <a:lstStyle/>
          <a:p>
            <a:r>
              <a:rPr lang="vi-VN" sz="2400" dirty="0"/>
              <a:t>Bài toán: Cho tập </a:t>
            </a:r>
            <a:r>
              <a:rPr lang="vi-VN" sz="2400" i="1" dirty="0"/>
              <a:t>N</a:t>
            </a:r>
            <a:r>
              <a:rPr lang="vi-VN" sz="2400" dirty="0"/>
              <a:t> biến </a:t>
            </a:r>
            <a:r>
              <a:rPr lang="vi-VN" sz="2400" i="1" dirty="0" smtClean="0"/>
              <a:t>x</a:t>
            </a:r>
            <a:r>
              <a:rPr lang="vi-VN" sz="2400" i="1" baseline="-25000" dirty="0" smtClean="0"/>
              <a:t>1</a:t>
            </a:r>
            <a:r>
              <a:rPr lang="vi-VN" sz="2400" i="1" dirty="0" smtClean="0"/>
              <a:t>, x</a:t>
            </a:r>
            <a:r>
              <a:rPr lang="vi-VN" sz="2400" i="1" baseline="-25000" dirty="0" smtClean="0"/>
              <a:t>2</a:t>
            </a:r>
            <a:r>
              <a:rPr lang="vi-VN" sz="2400" i="1" dirty="0" smtClean="0"/>
              <a:t>,…, x</a:t>
            </a:r>
            <a:r>
              <a:rPr lang="vi-VN" sz="2400" i="1" baseline="-25000" dirty="0" smtClean="0"/>
              <a:t>N</a:t>
            </a:r>
            <a:r>
              <a:rPr lang="vi-VN" sz="2400" dirty="0" smtClean="0"/>
              <a:t> </a:t>
            </a:r>
            <a:r>
              <a:rPr lang="en-US" sz="2400" dirty="0" err="1" smtClean="0"/>
              <a:t>trong</a:t>
            </a:r>
            <a:r>
              <a:rPr lang="vi-VN" sz="2400" dirty="0" smtClean="0"/>
              <a:t> miền </a:t>
            </a:r>
            <a:r>
              <a:rPr lang="vi-VN" sz="2400" dirty="0"/>
              <a:t>giá trị tương ứng </a:t>
            </a:r>
            <a:r>
              <a:rPr lang="en-US" sz="2400" i="1" dirty="0" smtClean="0"/>
              <a:t>S</a:t>
            </a:r>
            <a:r>
              <a:rPr lang="vi-VN" sz="2400" i="1" baseline="-25000" dirty="0" smtClean="0"/>
              <a:t>1</a:t>
            </a:r>
            <a:r>
              <a:rPr lang="vi-VN" sz="2400" i="1" dirty="0"/>
              <a:t>, </a:t>
            </a:r>
            <a:r>
              <a:rPr lang="en-US" sz="2400" i="1" dirty="0" smtClean="0"/>
              <a:t>S</a:t>
            </a:r>
            <a:r>
              <a:rPr lang="vi-VN" sz="2400" i="1" baseline="-25000" dirty="0" smtClean="0"/>
              <a:t>2</a:t>
            </a:r>
            <a:r>
              <a:rPr lang="vi-VN" sz="2400" i="1" dirty="0"/>
              <a:t>,…, </a:t>
            </a:r>
            <a:r>
              <a:rPr lang="en-US" sz="2400" i="1" dirty="0" smtClean="0"/>
              <a:t>S</a:t>
            </a:r>
            <a:r>
              <a:rPr lang="vi-VN" sz="2400" i="1" baseline="-25000" dirty="0" smtClean="0"/>
              <a:t>N</a:t>
            </a:r>
            <a:r>
              <a:rPr lang="vi-VN" sz="2400" dirty="0"/>
              <a:t>. Tìm </a:t>
            </a:r>
            <a:r>
              <a:rPr lang="en-US" sz="2400" dirty="0" err="1" smtClean="0"/>
              <a:t>các</a:t>
            </a:r>
            <a:r>
              <a:rPr lang="en-US" sz="2400" dirty="0" smtClean="0"/>
              <a:t> </a:t>
            </a:r>
            <a:r>
              <a:rPr lang="en-US" sz="2400" dirty="0" err="1" smtClean="0"/>
              <a:t>bộ</a:t>
            </a:r>
            <a:r>
              <a:rPr lang="en-US" sz="2400" dirty="0" smtClean="0"/>
              <a:t> </a:t>
            </a:r>
            <a:r>
              <a:rPr lang="en-US" sz="2400" dirty="0" err="1" smtClean="0"/>
              <a:t>giá</a:t>
            </a:r>
            <a:r>
              <a:rPr lang="en-US" sz="2400" dirty="0" smtClean="0"/>
              <a:t> </a:t>
            </a:r>
            <a:r>
              <a:rPr lang="en-US" sz="2400" dirty="0" err="1" smtClean="0"/>
              <a:t>trị</a:t>
            </a:r>
            <a:r>
              <a:rPr lang="en-US" sz="2400" dirty="0" smtClean="0"/>
              <a:t> </a:t>
            </a:r>
            <a:r>
              <a:rPr lang="en-US" sz="2400" dirty="0" err="1" smtClean="0"/>
              <a:t>của</a:t>
            </a:r>
            <a:r>
              <a:rPr lang="en-US" sz="2400" dirty="0" smtClean="0"/>
              <a:t> </a:t>
            </a:r>
            <a:r>
              <a:rPr lang="vi-VN" sz="2400" i="1" dirty="0" smtClean="0"/>
              <a:t>N</a:t>
            </a:r>
            <a:r>
              <a:rPr lang="vi-VN" sz="2400" dirty="0" smtClean="0"/>
              <a:t> </a:t>
            </a:r>
            <a:r>
              <a:rPr lang="vi-VN" sz="2400" dirty="0"/>
              <a:t>biến </a:t>
            </a:r>
            <a:r>
              <a:rPr lang="vi-VN" sz="2400" dirty="0" smtClean="0"/>
              <a:t>thỏa </a:t>
            </a:r>
            <a:r>
              <a:rPr lang="vi-VN" sz="2400" dirty="0"/>
              <a:t>mãn điều kiện </a:t>
            </a:r>
            <a:r>
              <a:rPr lang="vi-VN" sz="2400" i="1" dirty="0"/>
              <a:t>K</a:t>
            </a:r>
            <a:r>
              <a:rPr lang="vi-VN" sz="2400" dirty="0"/>
              <a:t> cho trước</a:t>
            </a:r>
            <a:r>
              <a:rPr lang="vi-VN" sz="2400" dirty="0" smtClean="0"/>
              <a:t>.</a:t>
            </a:r>
            <a:endParaRPr lang="en-US" sz="2400" dirty="0" smtClean="0"/>
          </a:p>
          <a:p>
            <a:r>
              <a:rPr lang="en-US" sz="2400" dirty="0" smtClean="0"/>
              <a:t>Ý </a:t>
            </a:r>
            <a:r>
              <a:rPr lang="en-US" sz="2400" dirty="0" err="1" smtClean="0"/>
              <a:t>tưởng</a:t>
            </a:r>
            <a:r>
              <a:rPr lang="en-US" sz="2400" dirty="0" smtClean="0"/>
              <a:t> </a:t>
            </a:r>
            <a:r>
              <a:rPr lang="en-US" sz="2400" dirty="0" err="1" smtClean="0"/>
              <a:t>giải</a:t>
            </a:r>
            <a:r>
              <a:rPr lang="en-US" sz="2400" dirty="0" smtClean="0"/>
              <a:t> </a:t>
            </a:r>
            <a:r>
              <a:rPr lang="en-US" sz="2400" dirty="0" err="1" smtClean="0"/>
              <a:t>thuật</a:t>
            </a:r>
            <a:r>
              <a:rPr lang="en-US" sz="2400" dirty="0" smtClean="0"/>
              <a:t> quay </a:t>
            </a:r>
            <a:r>
              <a:rPr lang="en-US" sz="2400" dirty="0" err="1" smtClean="0"/>
              <a:t>lui</a:t>
            </a:r>
            <a:r>
              <a:rPr lang="en-US" sz="2400" dirty="0" smtClean="0"/>
              <a:t>:</a:t>
            </a:r>
          </a:p>
          <a:p>
            <a:pPr lvl="1"/>
            <a:r>
              <a:rPr lang="en-US" sz="2400" dirty="0" smtClean="0"/>
              <a:t>“</a:t>
            </a:r>
            <a:r>
              <a:rPr lang="en-US" sz="2400" i="1" dirty="0"/>
              <a:t>searches for a solution </a:t>
            </a:r>
            <a:r>
              <a:rPr lang="en-US" sz="2400" i="1" dirty="0" smtClean="0"/>
              <a:t>among </a:t>
            </a:r>
            <a:r>
              <a:rPr lang="en-US" sz="2400" i="1" dirty="0"/>
              <a:t>all available </a:t>
            </a:r>
            <a:r>
              <a:rPr lang="en-US" sz="2400" i="1" dirty="0" smtClean="0"/>
              <a:t>options</a:t>
            </a:r>
            <a:r>
              <a:rPr lang="en-US" sz="2400" dirty="0" smtClean="0"/>
              <a:t>”</a:t>
            </a:r>
          </a:p>
          <a:p>
            <a:pPr lvl="1"/>
            <a:r>
              <a:rPr lang="en-US" altLang="en-US" sz="2400" dirty="0" err="1"/>
              <a:t>T</a:t>
            </a:r>
            <a:r>
              <a:rPr lang="en-US" altLang="en-US" sz="2400" dirty="0" err="1" smtClean="0"/>
              <a:t>hực</a:t>
            </a:r>
            <a:r>
              <a:rPr lang="en-US" altLang="en-US" sz="2400" dirty="0" smtClean="0"/>
              <a:t> </a:t>
            </a:r>
            <a:r>
              <a:rPr lang="en-US" altLang="en-US" sz="2400" dirty="0" err="1"/>
              <a:t>hiện</a:t>
            </a:r>
            <a:r>
              <a:rPr lang="en-US" altLang="en-US" sz="2400" dirty="0"/>
              <a:t> </a:t>
            </a:r>
            <a:r>
              <a:rPr lang="vi-VN" sz="2400" dirty="0"/>
              <a:t>d</a:t>
            </a:r>
            <a:r>
              <a:rPr lang="vi-VN" sz="2400" dirty="0" smtClean="0"/>
              <a:t>uyệt </a:t>
            </a:r>
            <a:r>
              <a:rPr lang="en-US" sz="2400" dirty="0" err="1" smtClean="0"/>
              <a:t>tất</a:t>
            </a:r>
            <a:r>
              <a:rPr lang="en-US" sz="2400" dirty="0" smtClean="0"/>
              <a:t> </a:t>
            </a:r>
            <a:r>
              <a:rPr lang="en-US" sz="2400" dirty="0" err="1" smtClean="0"/>
              <a:t>cả</a:t>
            </a:r>
            <a:r>
              <a:rPr lang="en-US" sz="2400" dirty="0" smtClean="0"/>
              <a:t> </a:t>
            </a:r>
            <a:r>
              <a:rPr lang="en-US" sz="2400" dirty="0" err="1" smtClean="0"/>
              <a:t>các</a:t>
            </a:r>
            <a:r>
              <a:rPr lang="en-US" sz="2400" dirty="0" smtClean="0"/>
              <a:t> </a:t>
            </a:r>
            <a:r>
              <a:rPr lang="en-US" sz="2400" dirty="0" err="1" smtClean="0"/>
              <a:t>giá</a:t>
            </a:r>
            <a:r>
              <a:rPr lang="en-US" sz="2400" dirty="0" smtClean="0"/>
              <a:t> </a:t>
            </a:r>
            <a:r>
              <a:rPr lang="en-US" sz="2400" dirty="0" err="1" smtClean="0"/>
              <a:t>trị</a:t>
            </a:r>
            <a:r>
              <a:rPr lang="en-US" sz="2400" dirty="0" smtClean="0"/>
              <a:t> </a:t>
            </a:r>
            <a:r>
              <a:rPr lang="en-US" sz="2400" dirty="0" err="1" smtClean="0"/>
              <a:t>trong</a:t>
            </a:r>
            <a:r>
              <a:rPr lang="en-US" sz="2400" dirty="0" smtClean="0"/>
              <a:t> </a:t>
            </a:r>
            <a:r>
              <a:rPr lang="vi-VN" sz="2400" dirty="0" smtClean="0"/>
              <a:t>miền</a:t>
            </a:r>
            <a:r>
              <a:rPr lang="en-US" sz="2400" dirty="0" smtClean="0"/>
              <a:t> </a:t>
            </a:r>
            <a:r>
              <a:rPr lang="en-US" sz="2400" i="1" dirty="0"/>
              <a:t>S</a:t>
            </a:r>
            <a:r>
              <a:rPr lang="vi-VN" sz="2400" i="1" baseline="-25000" dirty="0"/>
              <a:t>1</a:t>
            </a:r>
            <a:r>
              <a:rPr lang="vi-VN" sz="2400" i="1" dirty="0"/>
              <a:t>, </a:t>
            </a:r>
            <a:r>
              <a:rPr lang="en-US" sz="2400" i="1" dirty="0"/>
              <a:t>S</a:t>
            </a:r>
            <a:r>
              <a:rPr lang="vi-VN" sz="2400" i="1" baseline="-25000" dirty="0"/>
              <a:t>2</a:t>
            </a:r>
            <a:r>
              <a:rPr lang="vi-VN" sz="2400" i="1" dirty="0"/>
              <a:t>,…, </a:t>
            </a:r>
            <a:r>
              <a:rPr lang="en-US" sz="2400" i="1" dirty="0"/>
              <a:t>S</a:t>
            </a:r>
            <a:r>
              <a:rPr lang="vi-VN" sz="2400" i="1" baseline="-25000" dirty="0"/>
              <a:t>N</a:t>
            </a:r>
            <a:r>
              <a:rPr lang="en-US" sz="2400" i="1" baseline="-25000" dirty="0" smtClean="0"/>
              <a:t> </a:t>
            </a:r>
            <a:r>
              <a:rPr lang="vi-VN" sz="2400" dirty="0" smtClean="0"/>
              <a:t>cho </a:t>
            </a:r>
            <a:r>
              <a:rPr lang="vi-VN" sz="2400" dirty="0"/>
              <a:t>đến khi tìm thấy </a:t>
            </a:r>
            <a:r>
              <a:rPr lang="en-US" sz="2400" dirty="0" smtClean="0"/>
              <a:t>vector </a:t>
            </a:r>
            <a:r>
              <a:rPr lang="en-US" sz="2400" dirty="0">
                <a:latin typeface="Courier New" panose="02070309020205020404" pitchFamily="49" charset="0"/>
                <a:cs typeface="Courier New" panose="02070309020205020404" pitchFamily="49" charset="0"/>
              </a:rPr>
              <a:t>v=</a:t>
            </a:r>
            <a:r>
              <a:rPr lang="en-US" altLang="en-US" sz="2400" dirty="0">
                <a:latin typeface="Courier New" panose="02070309020205020404" pitchFamily="49" charset="0"/>
                <a:cs typeface="Courier New" panose="02070309020205020404" pitchFamily="49" charset="0"/>
              </a:rPr>
              <a:t>&lt;v</a:t>
            </a:r>
            <a:r>
              <a:rPr lang="en-US" altLang="en-US" sz="2400" baseline="-25000" dirty="0">
                <a:latin typeface="Courier New" panose="02070309020205020404" pitchFamily="49" charset="0"/>
                <a:cs typeface="Courier New" panose="02070309020205020404" pitchFamily="49" charset="0"/>
              </a:rPr>
              <a:t>1</a:t>
            </a:r>
            <a:r>
              <a:rPr lang="en-US" altLang="en-US" sz="2400" dirty="0">
                <a:latin typeface="Courier New" panose="02070309020205020404" pitchFamily="49" charset="0"/>
                <a:cs typeface="Courier New" panose="02070309020205020404" pitchFamily="49" charset="0"/>
              </a:rPr>
              <a:t>,v</a:t>
            </a:r>
            <a:r>
              <a:rPr lang="en-US" altLang="en-US" sz="2400" baseline="-25000" dirty="0">
                <a:latin typeface="Courier New" panose="02070309020205020404" pitchFamily="49" charset="0"/>
                <a:cs typeface="Courier New" panose="02070309020205020404" pitchFamily="49" charset="0"/>
              </a:rPr>
              <a:t>2</a:t>
            </a:r>
            <a:r>
              <a:rPr lang="en-US" altLang="en-US" sz="2400" dirty="0">
                <a:latin typeface="Courier New" panose="02070309020205020404" pitchFamily="49" charset="0"/>
                <a:cs typeface="Courier New" panose="02070309020205020404" pitchFamily="49" charset="0"/>
              </a:rPr>
              <a:t>,…,</a:t>
            </a:r>
            <a:r>
              <a:rPr lang="en-US" altLang="en-US" sz="2400" dirty="0" err="1">
                <a:latin typeface="Courier New" panose="02070309020205020404" pitchFamily="49" charset="0"/>
                <a:cs typeface="Courier New" panose="02070309020205020404" pitchFamily="49" charset="0"/>
              </a:rPr>
              <a:t>v</a:t>
            </a:r>
            <a:r>
              <a:rPr lang="en-US" altLang="en-US" sz="2400" baseline="-25000" dirty="0" err="1">
                <a:latin typeface="Courier New" panose="02070309020205020404" pitchFamily="49" charset="0"/>
                <a:cs typeface="Courier New" panose="02070309020205020404" pitchFamily="49" charset="0"/>
              </a:rPr>
              <a:t>N</a:t>
            </a:r>
            <a:r>
              <a:rPr lang="en-US" altLang="en-US" sz="2400" dirty="0">
                <a:latin typeface="Courier New" panose="02070309020205020404" pitchFamily="49" charset="0"/>
                <a:cs typeface="Courier New" panose="02070309020205020404" pitchFamily="49" charset="0"/>
              </a:rPr>
              <a:t>&gt;</a:t>
            </a:r>
            <a:r>
              <a:rPr lang="en-US" sz="2400" dirty="0" smtClean="0"/>
              <a:t> </a:t>
            </a:r>
            <a:r>
              <a:rPr lang="en-US" sz="2400" dirty="0" err="1" smtClean="0"/>
              <a:t>thỏa</a:t>
            </a:r>
            <a:r>
              <a:rPr lang="en-US" sz="2400" dirty="0" smtClean="0"/>
              <a:t> </a:t>
            </a:r>
            <a:r>
              <a:rPr lang="en-US" sz="2400" dirty="0" err="1" smtClean="0"/>
              <a:t>mãn</a:t>
            </a:r>
            <a:r>
              <a:rPr lang="en-US" sz="2400" dirty="0" smtClean="0"/>
              <a:t> </a:t>
            </a:r>
            <a:r>
              <a:rPr lang="en-US" sz="2400" dirty="0" err="1" smtClean="0"/>
              <a:t>điều</a:t>
            </a:r>
            <a:r>
              <a:rPr lang="en-US" sz="2400" dirty="0" smtClean="0"/>
              <a:t> </a:t>
            </a:r>
            <a:r>
              <a:rPr lang="en-US" sz="2400" dirty="0" err="1" smtClean="0"/>
              <a:t>kiện</a:t>
            </a:r>
            <a:r>
              <a:rPr lang="en-US" sz="2400" dirty="0" smtClean="0"/>
              <a:t> K.</a:t>
            </a:r>
          </a:p>
          <a:p>
            <a:pPr lvl="1"/>
            <a:r>
              <a:rPr lang="en-US" sz="2400" dirty="0" smtClean="0"/>
              <a:t>…</a:t>
            </a:r>
          </a:p>
        </p:txBody>
      </p:sp>
    </p:spTree>
    <p:extLst>
      <p:ext uri="{BB962C8B-B14F-4D97-AF65-F5344CB8AC3E}">
        <p14:creationId xmlns:p14="http://schemas.microsoft.com/office/powerpoint/2010/main" val="1105941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3"/>
          <p:cNvSpPr>
            <a:spLocks noGrp="1"/>
          </p:cNvSpPr>
          <p:nvPr>
            <p:ph type="ftr" sz="quarter" idx="11"/>
          </p:nvPr>
        </p:nvSpPr>
        <p:spPr/>
        <p:txBody>
          <a:bodyPr/>
          <a:lstStyle/>
          <a:p>
            <a:pPr algn="r"/>
            <a:r>
              <a:rPr lang="fr-FR" dirty="0" smtClean="0"/>
              <a:t>ET2100 </a:t>
            </a:r>
            <a:r>
              <a:rPr lang="en-US" i="1" dirty="0" smtClean="0"/>
              <a:t>- </a:t>
            </a:r>
            <a:r>
              <a:rPr lang="en-US" b="1" i="1" dirty="0" smtClean="0"/>
              <a:t>Data Structures and Algorithms</a:t>
            </a:r>
            <a:endParaRPr lang="en-US" dirty="0" smtClean="0"/>
          </a:p>
          <a:p>
            <a:pPr algn="r"/>
            <a:r>
              <a:rPr lang="en-US" dirty="0"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42</a:t>
            </a:fld>
            <a:endParaRPr lang="en-US"/>
          </a:p>
        </p:txBody>
      </p:sp>
      <p:sp>
        <p:nvSpPr>
          <p:cNvPr id="5" name="Title 4"/>
          <p:cNvSpPr>
            <a:spLocks noGrp="1"/>
          </p:cNvSpPr>
          <p:nvPr>
            <p:ph type="title"/>
          </p:nvPr>
        </p:nvSpPr>
        <p:spPr/>
        <p:txBody>
          <a:bodyPr/>
          <a:lstStyle/>
          <a:p>
            <a:r>
              <a:rPr lang="en-US" dirty="0" smtClean="0"/>
              <a:t>3. </a:t>
            </a:r>
            <a:r>
              <a:rPr lang="en-US" dirty="0" err="1" smtClean="0"/>
              <a:t>Giải</a:t>
            </a:r>
            <a:r>
              <a:rPr lang="en-US" dirty="0" smtClean="0"/>
              <a:t> </a:t>
            </a:r>
            <a:r>
              <a:rPr lang="en-US" dirty="0" err="1" smtClean="0"/>
              <a:t>thuật</a:t>
            </a:r>
            <a:r>
              <a:rPr lang="en-US" dirty="0" smtClean="0"/>
              <a:t> quay </a:t>
            </a:r>
            <a:r>
              <a:rPr lang="en-US" dirty="0" err="1" smtClean="0"/>
              <a:t>lui</a:t>
            </a:r>
            <a:endParaRPr lang="en-US" dirty="0"/>
          </a:p>
        </p:txBody>
      </p:sp>
      <p:sp>
        <p:nvSpPr>
          <p:cNvPr id="2" name="Content Placeholder 1"/>
          <p:cNvSpPr>
            <a:spLocks noGrp="1"/>
          </p:cNvSpPr>
          <p:nvPr>
            <p:ph type="body" sz="quarter" idx="13"/>
          </p:nvPr>
        </p:nvSpPr>
        <p:spPr/>
        <p:txBody>
          <a:bodyPr/>
          <a:lstStyle/>
          <a:p>
            <a:pPr marL="273050" lvl="2" indent="-273050">
              <a:spcBef>
                <a:spcPts val="600"/>
              </a:spcBef>
            </a:pPr>
            <a:r>
              <a:rPr lang="en-US" sz="2400" dirty="0" smtClean="0">
                <a:solidFill>
                  <a:srgbClr val="000000"/>
                </a:solidFill>
              </a:rPr>
              <a:t>Ý </a:t>
            </a:r>
            <a:r>
              <a:rPr lang="en-US" sz="2400" dirty="0" err="1" smtClean="0">
                <a:solidFill>
                  <a:srgbClr val="000000"/>
                </a:solidFill>
              </a:rPr>
              <a:t>tưởng</a:t>
            </a:r>
            <a:r>
              <a:rPr lang="en-US" sz="2400" dirty="0">
                <a:solidFill>
                  <a:srgbClr val="000000"/>
                </a:solidFill>
              </a:rPr>
              <a:t> </a:t>
            </a:r>
            <a:r>
              <a:rPr lang="en-US" sz="2400" dirty="0" err="1" smtClean="0">
                <a:solidFill>
                  <a:srgbClr val="000000"/>
                </a:solidFill>
              </a:rPr>
              <a:t>giải</a:t>
            </a:r>
            <a:r>
              <a:rPr lang="en-US" sz="2400" dirty="0" smtClean="0">
                <a:solidFill>
                  <a:srgbClr val="000000"/>
                </a:solidFill>
              </a:rPr>
              <a:t> </a:t>
            </a:r>
            <a:r>
              <a:rPr lang="en-US" sz="2400" dirty="0" err="1" smtClean="0">
                <a:solidFill>
                  <a:srgbClr val="000000"/>
                </a:solidFill>
              </a:rPr>
              <a:t>thuật</a:t>
            </a:r>
            <a:r>
              <a:rPr lang="en-US" sz="2400" dirty="0" smtClean="0">
                <a:solidFill>
                  <a:srgbClr val="000000"/>
                </a:solidFill>
              </a:rPr>
              <a:t>:</a:t>
            </a:r>
          </a:p>
          <a:p>
            <a:pPr marL="615950" lvl="3" indent="-273050">
              <a:spcBef>
                <a:spcPts val="600"/>
              </a:spcBef>
            </a:pPr>
            <a:r>
              <a:rPr lang="en-US" sz="2250" dirty="0" smtClean="0">
                <a:solidFill>
                  <a:srgbClr val="000000"/>
                </a:solidFill>
              </a:rPr>
              <a:t>...</a:t>
            </a:r>
          </a:p>
          <a:p>
            <a:pPr marL="547688" lvl="3" indent="-273050">
              <a:spcBef>
                <a:spcPts val="600"/>
              </a:spcBef>
            </a:pPr>
            <a:r>
              <a:rPr lang="en-US" sz="2000" dirty="0" smtClean="0">
                <a:solidFill>
                  <a:srgbClr val="000000"/>
                </a:solidFill>
              </a:rPr>
              <a:t>Ban </a:t>
            </a:r>
            <a:r>
              <a:rPr lang="en-US" sz="2000" dirty="0" err="1">
                <a:solidFill>
                  <a:srgbClr val="000000"/>
                </a:solidFill>
              </a:rPr>
              <a:t>đầu</a:t>
            </a:r>
            <a:r>
              <a:rPr lang="en-US" sz="2000" dirty="0">
                <a:solidFill>
                  <a:srgbClr val="000000"/>
                </a:solidFill>
              </a:rPr>
              <a:t> v = &lt;</a:t>
            </a:r>
            <a:r>
              <a:rPr lang="en-US" sz="2000" dirty="0" err="1">
                <a:solidFill>
                  <a:srgbClr val="000000"/>
                </a:solidFill>
              </a:rPr>
              <a:t>rỗng</a:t>
            </a:r>
            <a:r>
              <a:rPr lang="en-US" sz="2000" dirty="0">
                <a:solidFill>
                  <a:srgbClr val="000000"/>
                </a:solidFill>
              </a:rPr>
              <a:t>&gt; </a:t>
            </a:r>
          </a:p>
          <a:p>
            <a:pPr marL="547688" lvl="3" indent="-273050">
              <a:spcBef>
                <a:spcPts val="600"/>
              </a:spcBef>
            </a:pPr>
            <a:r>
              <a:rPr lang="vi-VN" sz="2000" dirty="0">
                <a:solidFill>
                  <a:srgbClr val="000000"/>
                </a:solidFill>
              </a:rPr>
              <a:t>Ở mỗi </a:t>
            </a:r>
            <a:r>
              <a:rPr lang="en-US" sz="2000" dirty="0" err="1">
                <a:solidFill>
                  <a:srgbClr val="000000"/>
                </a:solidFill>
              </a:rPr>
              <a:t>bước</a:t>
            </a:r>
            <a:r>
              <a:rPr lang="en-US" sz="2000" dirty="0">
                <a:solidFill>
                  <a:srgbClr val="000000"/>
                </a:solidFill>
              </a:rPr>
              <a:t>,</a:t>
            </a:r>
            <a:r>
              <a:rPr lang="vi-VN" sz="2000" dirty="0">
                <a:solidFill>
                  <a:srgbClr val="000000"/>
                </a:solidFill>
              </a:rPr>
              <a:t> mở rộng véc tơ </a:t>
            </a:r>
            <a:r>
              <a:rPr lang="en-US" sz="2000" dirty="0" smtClean="0">
                <a:solidFill>
                  <a:srgbClr val="000000"/>
                </a:solidFill>
              </a:rPr>
              <a:t>v </a:t>
            </a:r>
            <a:r>
              <a:rPr lang="vi-VN" sz="2000" dirty="0" smtClean="0">
                <a:solidFill>
                  <a:srgbClr val="000000"/>
                </a:solidFill>
              </a:rPr>
              <a:t>với </a:t>
            </a:r>
            <a:r>
              <a:rPr lang="vi-VN" sz="2000" dirty="0">
                <a:solidFill>
                  <a:srgbClr val="000000"/>
                </a:solidFill>
              </a:rPr>
              <a:t>một giá trị mới. </a:t>
            </a:r>
            <a:endParaRPr lang="en-US" sz="2000" dirty="0">
              <a:solidFill>
                <a:srgbClr val="000000"/>
              </a:solidFill>
            </a:endParaRPr>
          </a:p>
          <a:p>
            <a:pPr marL="547688" lvl="3" indent="-273050">
              <a:spcBef>
                <a:spcPts val="600"/>
              </a:spcBef>
            </a:pPr>
            <a:r>
              <a:rPr lang="vi-VN" sz="2000" dirty="0">
                <a:solidFill>
                  <a:srgbClr val="000000"/>
                </a:solidFill>
              </a:rPr>
              <a:t>Khi </a:t>
            </a:r>
            <a:r>
              <a:rPr lang="en-US" sz="2000" dirty="0" err="1">
                <a:solidFill>
                  <a:srgbClr val="000000"/>
                </a:solidFill>
              </a:rPr>
              <a:t>mở</a:t>
            </a:r>
            <a:r>
              <a:rPr lang="en-US" sz="2000" dirty="0">
                <a:solidFill>
                  <a:srgbClr val="000000"/>
                </a:solidFill>
              </a:rPr>
              <a:t> </a:t>
            </a:r>
            <a:r>
              <a:rPr lang="en-US" sz="2000" dirty="0" err="1">
                <a:solidFill>
                  <a:srgbClr val="000000"/>
                </a:solidFill>
              </a:rPr>
              <a:t>rộng</a:t>
            </a:r>
            <a:r>
              <a:rPr lang="vi-VN" sz="2000" dirty="0">
                <a:solidFill>
                  <a:srgbClr val="000000"/>
                </a:solidFill>
              </a:rPr>
              <a:t> đến </a:t>
            </a:r>
            <a:r>
              <a:rPr lang="en-US" sz="2000" dirty="0">
                <a:solidFill>
                  <a:srgbClr val="000000"/>
                </a:solidFill>
              </a:rPr>
              <a:t>&lt;</a:t>
            </a:r>
            <a:r>
              <a:rPr lang="vi-VN" sz="2000" dirty="0">
                <a:solidFill>
                  <a:srgbClr val="000000"/>
                </a:solidFill>
              </a:rPr>
              <a:t>v</a:t>
            </a:r>
            <a:r>
              <a:rPr lang="vi-VN" sz="2000" baseline="-25000" dirty="0">
                <a:solidFill>
                  <a:srgbClr val="000000"/>
                </a:solidFill>
              </a:rPr>
              <a:t>1</a:t>
            </a:r>
            <a:r>
              <a:rPr lang="vi-VN" sz="2000" dirty="0">
                <a:solidFill>
                  <a:srgbClr val="000000"/>
                </a:solidFill>
              </a:rPr>
              <a:t>,</a:t>
            </a:r>
            <a:r>
              <a:rPr lang="en-US" altLang="en-US" sz="2000" dirty="0">
                <a:solidFill>
                  <a:srgbClr val="000000"/>
                </a:solidFill>
              </a:rPr>
              <a:t>…</a:t>
            </a:r>
            <a:r>
              <a:rPr lang="vi-VN" sz="2000" dirty="0">
                <a:solidFill>
                  <a:srgbClr val="000000"/>
                </a:solidFill>
              </a:rPr>
              <a:t>,v</a:t>
            </a:r>
            <a:r>
              <a:rPr lang="vi-VN" sz="2000" baseline="-25000" dirty="0">
                <a:solidFill>
                  <a:srgbClr val="000000"/>
                </a:solidFill>
              </a:rPr>
              <a:t>i</a:t>
            </a:r>
            <a:r>
              <a:rPr lang="en-US" sz="2000" dirty="0">
                <a:solidFill>
                  <a:srgbClr val="000000"/>
                </a:solidFill>
              </a:rPr>
              <a:t>&gt;</a:t>
            </a:r>
            <a:r>
              <a:rPr lang="vi-VN" sz="2000" dirty="0">
                <a:solidFill>
                  <a:srgbClr val="000000"/>
                </a:solidFill>
              </a:rPr>
              <a:t> không thể </a:t>
            </a:r>
            <a:r>
              <a:rPr lang="en-US" sz="2000" dirty="0" err="1">
                <a:solidFill>
                  <a:srgbClr val="000000"/>
                </a:solidFill>
              </a:rPr>
              <a:t>giúp</a:t>
            </a:r>
            <a:r>
              <a:rPr lang="en-US" sz="2000" dirty="0">
                <a:solidFill>
                  <a:srgbClr val="000000"/>
                </a:solidFill>
              </a:rPr>
              <a:t> </a:t>
            </a:r>
            <a:r>
              <a:rPr lang="en-US" sz="2000" dirty="0" err="1">
                <a:solidFill>
                  <a:srgbClr val="000000"/>
                </a:solidFill>
              </a:rPr>
              <a:t>thỏa</a:t>
            </a:r>
            <a:r>
              <a:rPr lang="en-US" sz="2000" dirty="0">
                <a:solidFill>
                  <a:srgbClr val="000000"/>
                </a:solidFill>
              </a:rPr>
              <a:t> </a:t>
            </a:r>
            <a:r>
              <a:rPr lang="en-US" sz="2000" dirty="0" err="1">
                <a:solidFill>
                  <a:srgbClr val="000000"/>
                </a:solidFill>
              </a:rPr>
              <a:t>mãn</a:t>
            </a:r>
            <a:r>
              <a:rPr lang="en-US" sz="2000" dirty="0">
                <a:solidFill>
                  <a:srgbClr val="000000"/>
                </a:solidFill>
              </a:rPr>
              <a:t> </a:t>
            </a:r>
            <a:r>
              <a:rPr lang="en-US" sz="2000" dirty="0" err="1">
                <a:solidFill>
                  <a:srgbClr val="000000"/>
                </a:solidFill>
              </a:rPr>
              <a:t>điều</a:t>
            </a:r>
            <a:r>
              <a:rPr lang="en-US" sz="2000" dirty="0">
                <a:solidFill>
                  <a:srgbClr val="000000"/>
                </a:solidFill>
              </a:rPr>
              <a:t> </a:t>
            </a:r>
            <a:r>
              <a:rPr lang="en-US" sz="2000" dirty="0" err="1">
                <a:solidFill>
                  <a:srgbClr val="000000"/>
                </a:solidFill>
              </a:rPr>
              <a:t>kiện</a:t>
            </a:r>
            <a:r>
              <a:rPr lang="en-US" sz="2000" dirty="0">
                <a:solidFill>
                  <a:srgbClr val="000000"/>
                </a:solidFill>
              </a:rPr>
              <a:t> K</a:t>
            </a:r>
            <a:r>
              <a:rPr lang="vi-VN" sz="2000" dirty="0">
                <a:solidFill>
                  <a:srgbClr val="000000"/>
                </a:solidFill>
              </a:rPr>
              <a:t>, thuật toán sẽ </a:t>
            </a:r>
            <a:r>
              <a:rPr lang="en-US" sz="2000" dirty="0">
                <a:solidFill>
                  <a:srgbClr val="000000"/>
                </a:solidFill>
              </a:rPr>
              <a:t>quay </a:t>
            </a:r>
            <a:r>
              <a:rPr lang="en-US" sz="2000" dirty="0" err="1">
                <a:solidFill>
                  <a:srgbClr val="000000"/>
                </a:solidFill>
              </a:rPr>
              <a:t>lui</a:t>
            </a:r>
            <a:r>
              <a:rPr lang="en-US" sz="2000" dirty="0">
                <a:solidFill>
                  <a:srgbClr val="000000"/>
                </a:solidFill>
              </a:rPr>
              <a:t> </a:t>
            </a:r>
            <a:r>
              <a:rPr lang="vi-VN" sz="2000" dirty="0">
                <a:solidFill>
                  <a:srgbClr val="000000"/>
                </a:solidFill>
              </a:rPr>
              <a:t>bằng cách xóa giá trị </a:t>
            </a:r>
            <a:r>
              <a:rPr lang="en-US" sz="2000" dirty="0" err="1">
                <a:solidFill>
                  <a:srgbClr val="000000"/>
                </a:solidFill>
              </a:rPr>
              <a:t>cuối</a:t>
            </a:r>
            <a:r>
              <a:rPr lang="en-US" sz="2000" dirty="0">
                <a:solidFill>
                  <a:srgbClr val="000000"/>
                </a:solidFill>
              </a:rPr>
              <a:t> </a:t>
            </a:r>
            <a:r>
              <a:rPr lang="en-US" sz="2000" dirty="0" err="1">
                <a:solidFill>
                  <a:srgbClr val="000000"/>
                </a:solidFill>
              </a:rPr>
              <a:t>cùng</a:t>
            </a:r>
            <a:r>
              <a:rPr lang="en-US" sz="2000" dirty="0">
                <a:solidFill>
                  <a:srgbClr val="000000"/>
                </a:solidFill>
              </a:rPr>
              <a:t> </a:t>
            </a:r>
            <a:r>
              <a:rPr lang="vi-VN" sz="2000" dirty="0">
                <a:solidFill>
                  <a:srgbClr val="000000"/>
                </a:solidFill>
              </a:rPr>
              <a:t>khỏi vectơ</a:t>
            </a:r>
            <a:r>
              <a:rPr lang="en-US" sz="2000" dirty="0">
                <a:solidFill>
                  <a:srgbClr val="000000"/>
                </a:solidFill>
              </a:rPr>
              <a:t>, </a:t>
            </a:r>
            <a:r>
              <a:rPr lang="vi-VN" sz="2000" dirty="0">
                <a:solidFill>
                  <a:srgbClr val="000000"/>
                </a:solidFill>
              </a:rPr>
              <a:t>sau đó tiếp tục mở rộng vectơ bằng các giá trị thay thế</a:t>
            </a:r>
            <a:r>
              <a:rPr lang="en-US" sz="2000" dirty="0">
                <a:solidFill>
                  <a:srgbClr val="000000"/>
                </a:solidFill>
              </a:rPr>
              <a:t> </a:t>
            </a:r>
            <a:r>
              <a:rPr lang="en-US" sz="2000" dirty="0" err="1">
                <a:solidFill>
                  <a:srgbClr val="000000"/>
                </a:solidFill>
              </a:rPr>
              <a:t>khác</a:t>
            </a:r>
            <a:r>
              <a:rPr lang="vi-VN" sz="2000" dirty="0">
                <a:solidFill>
                  <a:srgbClr val="000000"/>
                </a:solidFill>
              </a:rPr>
              <a:t>.</a:t>
            </a:r>
            <a:endParaRPr lang="en-US" sz="2000" dirty="0">
              <a:solidFill>
                <a:srgbClr val="000000"/>
              </a:solidFill>
            </a:endParaRPr>
          </a:p>
          <a:p>
            <a:pPr marL="547688" lvl="3" indent="-273050">
              <a:spcBef>
                <a:spcPts val="600"/>
              </a:spcBef>
            </a:pPr>
            <a:r>
              <a:rPr lang="en-US" sz="2000" dirty="0" err="1">
                <a:solidFill>
                  <a:srgbClr val="000000"/>
                </a:solidFill>
              </a:rPr>
              <a:t>Cứ</a:t>
            </a:r>
            <a:r>
              <a:rPr lang="en-US" sz="2000" dirty="0">
                <a:solidFill>
                  <a:srgbClr val="000000"/>
                </a:solidFill>
              </a:rPr>
              <a:t> </a:t>
            </a:r>
            <a:r>
              <a:rPr lang="en-US" sz="2000" dirty="0" err="1">
                <a:solidFill>
                  <a:srgbClr val="000000"/>
                </a:solidFill>
              </a:rPr>
              <a:t>như</a:t>
            </a:r>
            <a:r>
              <a:rPr lang="en-US" sz="2000" dirty="0">
                <a:solidFill>
                  <a:srgbClr val="000000"/>
                </a:solidFill>
              </a:rPr>
              <a:t> </a:t>
            </a:r>
            <a:r>
              <a:rPr lang="en-US" sz="2000" dirty="0" err="1">
                <a:solidFill>
                  <a:srgbClr val="000000"/>
                </a:solidFill>
              </a:rPr>
              <a:t>vậy</a:t>
            </a:r>
            <a:r>
              <a:rPr lang="en-US" sz="2000" dirty="0">
                <a:solidFill>
                  <a:srgbClr val="000000"/>
                </a:solidFill>
              </a:rPr>
              <a:t> </a:t>
            </a:r>
            <a:r>
              <a:rPr lang="en-US" sz="2000" dirty="0" err="1">
                <a:solidFill>
                  <a:srgbClr val="000000"/>
                </a:solidFill>
              </a:rPr>
              <a:t>đến</a:t>
            </a:r>
            <a:r>
              <a:rPr lang="en-US" sz="2000" dirty="0">
                <a:solidFill>
                  <a:srgbClr val="000000"/>
                </a:solidFill>
              </a:rPr>
              <a:t> </a:t>
            </a:r>
            <a:r>
              <a:rPr lang="en-US" sz="2000" dirty="0" err="1">
                <a:solidFill>
                  <a:srgbClr val="000000"/>
                </a:solidFill>
              </a:rPr>
              <a:t>khi</a:t>
            </a:r>
            <a:r>
              <a:rPr lang="en-US" sz="2000" dirty="0">
                <a:solidFill>
                  <a:srgbClr val="000000"/>
                </a:solidFill>
              </a:rPr>
              <a:t> </a:t>
            </a:r>
            <a:r>
              <a:rPr lang="en-US" sz="2000" dirty="0" err="1">
                <a:solidFill>
                  <a:srgbClr val="000000"/>
                </a:solidFill>
              </a:rPr>
              <a:t>tìm</a:t>
            </a:r>
            <a:r>
              <a:rPr lang="en-US" sz="2000" dirty="0">
                <a:solidFill>
                  <a:srgbClr val="000000"/>
                </a:solidFill>
              </a:rPr>
              <a:t> </a:t>
            </a:r>
            <a:r>
              <a:rPr lang="en-US" sz="2000" dirty="0" err="1">
                <a:solidFill>
                  <a:srgbClr val="000000"/>
                </a:solidFill>
              </a:rPr>
              <a:t>được</a:t>
            </a:r>
            <a:r>
              <a:rPr lang="en-US" sz="2000" dirty="0">
                <a:solidFill>
                  <a:srgbClr val="000000"/>
                </a:solidFill>
              </a:rPr>
              <a:t> </a:t>
            </a:r>
            <a:r>
              <a:rPr lang="en-US" sz="2000" dirty="0" err="1">
                <a:solidFill>
                  <a:srgbClr val="000000"/>
                </a:solidFill>
              </a:rPr>
              <a:t>các</a:t>
            </a:r>
            <a:r>
              <a:rPr lang="en-US" sz="2000" dirty="0">
                <a:solidFill>
                  <a:srgbClr val="000000"/>
                </a:solidFill>
              </a:rPr>
              <a:t> </a:t>
            </a:r>
            <a:r>
              <a:rPr lang="en-US" sz="2000" dirty="0" err="1">
                <a:solidFill>
                  <a:srgbClr val="000000"/>
                </a:solidFill>
              </a:rPr>
              <a:t>vec</a:t>
            </a:r>
            <a:r>
              <a:rPr lang="en-US" sz="2000" dirty="0">
                <a:solidFill>
                  <a:srgbClr val="000000"/>
                </a:solidFill>
              </a:rPr>
              <a:t> </a:t>
            </a:r>
            <a:r>
              <a:rPr lang="en-US" sz="2000" dirty="0" err="1">
                <a:solidFill>
                  <a:srgbClr val="000000"/>
                </a:solidFill>
              </a:rPr>
              <a:t>tơ</a:t>
            </a:r>
            <a:r>
              <a:rPr lang="en-US" sz="2000" dirty="0">
                <a:solidFill>
                  <a:srgbClr val="000000"/>
                </a:solidFill>
              </a:rPr>
              <a:t> </a:t>
            </a:r>
            <a:r>
              <a:rPr lang="en-US" altLang="en-US" sz="2000" dirty="0">
                <a:solidFill>
                  <a:srgbClr val="000000"/>
                </a:solidFill>
              </a:rPr>
              <a:t>&lt;v</a:t>
            </a:r>
            <a:r>
              <a:rPr lang="en-US" altLang="en-US" sz="2000" baseline="-25000" dirty="0">
                <a:solidFill>
                  <a:srgbClr val="000000"/>
                </a:solidFill>
              </a:rPr>
              <a:t>1</a:t>
            </a:r>
            <a:r>
              <a:rPr lang="en-US" altLang="en-US" sz="2000" dirty="0">
                <a:solidFill>
                  <a:srgbClr val="000000"/>
                </a:solidFill>
              </a:rPr>
              <a:t>,v</a:t>
            </a:r>
            <a:r>
              <a:rPr lang="en-US" altLang="en-US" sz="2000" baseline="-25000" dirty="0">
                <a:solidFill>
                  <a:srgbClr val="000000"/>
                </a:solidFill>
              </a:rPr>
              <a:t>2</a:t>
            </a:r>
            <a:r>
              <a:rPr lang="en-US" altLang="en-US" sz="2000" dirty="0">
                <a:solidFill>
                  <a:srgbClr val="000000"/>
                </a:solidFill>
              </a:rPr>
              <a:t>,…,</a:t>
            </a:r>
            <a:r>
              <a:rPr lang="en-US" altLang="en-US" sz="2000" dirty="0" err="1">
                <a:solidFill>
                  <a:srgbClr val="000000"/>
                </a:solidFill>
              </a:rPr>
              <a:t>v</a:t>
            </a:r>
            <a:r>
              <a:rPr lang="en-US" altLang="en-US" sz="2000" baseline="-25000" dirty="0" err="1">
                <a:solidFill>
                  <a:srgbClr val="000000"/>
                </a:solidFill>
              </a:rPr>
              <a:t>N</a:t>
            </a:r>
            <a:r>
              <a:rPr lang="en-US" altLang="en-US" sz="2000" dirty="0">
                <a:solidFill>
                  <a:srgbClr val="000000"/>
                </a:solidFill>
              </a:rPr>
              <a:t>&gt;</a:t>
            </a:r>
            <a:r>
              <a:rPr lang="en-US" sz="2000" dirty="0">
                <a:solidFill>
                  <a:srgbClr val="000000"/>
                </a:solidFill>
              </a:rPr>
              <a:t> </a:t>
            </a:r>
            <a:r>
              <a:rPr lang="en-US" sz="2000" dirty="0" err="1">
                <a:solidFill>
                  <a:srgbClr val="000000"/>
                </a:solidFill>
              </a:rPr>
              <a:t>hoặc</a:t>
            </a:r>
            <a:r>
              <a:rPr lang="en-US" sz="2000" dirty="0">
                <a:solidFill>
                  <a:srgbClr val="000000"/>
                </a:solidFill>
              </a:rPr>
              <a:t> </a:t>
            </a:r>
            <a:r>
              <a:rPr lang="en-US" sz="2000" dirty="0" err="1" smtClean="0">
                <a:solidFill>
                  <a:srgbClr val="000000"/>
                </a:solidFill>
              </a:rPr>
              <a:t>không</a:t>
            </a:r>
            <a:endParaRPr lang="en-US" sz="2000" dirty="0">
              <a:solidFill>
                <a:srgbClr val="000000"/>
              </a:solidFill>
            </a:endParaRPr>
          </a:p>
        </p:txBody>
      </p:sp>
      <p:pic>
        <p:nvPicPr>
          <p:cNvPr id="10" name="Picture 9"/>
          <p:cNvPicPr>
            <a:picLocks noChangeAspect="1"/>
          </p:cNvPicPr>
          <p:nvPr/>
        </p:nvPicPr>
        <p:blipFill>
          <a:blip r:embed="rId3"/>
          <a:stretch>
            <a:fillRect/>
          </a:stretch>
        </p:blipFill>
        <p:spPr>
          <a:xfrm>
            <a:off x="2514600" y="4419600"/>
            <a:ext cx="4296428" cy="1600200"/>
          </a:xfrm>
          <a:prstGeom prst="rect">
            <a:avLst/>
          </a:prstGeom>
        </p:spPr>
      </p:pic>
    </p:spTree>
    <p:extLst>
      <p:ext uri="{BB962C8B-B14F-4D97-AF65-F5344CB8AC3E}">
        <p14:creationId xmlns:p14="http://schemas.microsoft.com/office/powerpoint/2010/main" val="1172570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43</a:t>
            </a:fld>
            <a:endParaRPr lang="en-US"/>
          </a:p>
        </p:txBody>
      </p:sp>
      <p:sp>
        <p:nvSpPr>
          <p:cNvPr id="4" name="Title 3"/>
          <p:cNvSpPr>
            <a:spLocks noGrp="1"/>
          </p:cNvSpPr>
          <p:nvPr>
            <p:ph type="title"/>
          </p:nvPr>
        </p:nvSpPr>
        <p:spPr/>
        <p:txBody>
          <a:bodyPr/>
          <a:lstStyle/>
          <a:p>
            <a:r>
              <a:rPr lang="en-US" dirty="0"/>
              <a:t>3. </a:t>
            </a:r>
            <a:r>
              <a:rPr lang="en-US" dirty="0" err="1"/>
              <a:t>Giải</a:t>
            </a:r>
            <a:r>
              <a:rPr lang="en-US" dirty="0"/>
              <a:t> </a:t>
            </a:r>
            <a:r>
              <a:rPr lang="en-US" dirty="0" err="1"/>
              <a:t>thuật</a:t>
            </a:r>
            <a:r>
              <a:rPr lang="en-US" dirty="0"/>
              <a:t> quay </a:t>
            </a:r>
            <a:r>
              <a:rPr lang="en-US" dirty="0" err="1"/>
              <a:t>lui</a:t>
            </a:r>
            <a:endParaRPr lang="en-US" dirty="0"/>
          </a:p>
        </p:txBody>
      </p:sp>
      <p:sp>
        <p:nvSpPr>
          <p:cNvPr id="5" name="Text Placeholder 4"/>
          <p:cNvSpPr>
            <a:spLocks noGrp="1"/>
          </p:cNvSpPr>
          <p:nvPr>
            <p:ph type="body" sz="quarter" idx="13"/>
          </p:nvPr>
        </p:nvSpPr>
        <p:spPr>
          <a:xfrm>
            <a:off x="234950" y="963168"/>
            <a:ext cx="8909049" cy="5132832"/>
          </a:xfrm>
        </p:spPr>
        <p:txBody>
          <a:bodyPr/>
          <a:lstStyle/>
          <a:p>
            <a:r>
              <a:rPr lang="en-US" sz="2400" dirty="0" err="1"/>
              <a:t>Giải</a:t>
            </a:r>
            <a:r>
              <a:rPr lang="en-US" sz="2400" dirty="0"/>
              <a:t> </a:t>
            </a:r>
            <a:r>
              <a:rPr lang="en-US" sz="2400" dirty="0" err="1"/>
              <a:t>thuật</a:t>
            </a:r>
            <a:r>
              <a:rPr lang="en-US" sz="2400" dirty="0"/>
              <a:t> </a:t>
            </a:r>
            <a:r>
              <a:rPr lang="en-US" sz="2400" dirty="0" err="1"/>
              <a:t>đệ</a:t>
            </a:r>
            <a:r>
              <a:rPr lang="en-US" sz="2400" dirty="0"/>
              <a:t> </a:t>
            </a:r>
            <a:r>
              <a:rPr lang="en-US" sz="2400" dirty="0" err="1"/>
              <a:t>quy</a:t>
            </a:r>
            <a:r>
              <a:rPr lang="en-US" sz="2400" dirty="0"/>
              <a:t> </a:t>
            </a:r>
            <a:r>
              <a:rPr lang="en-US" sz="2400" dirty="0" err="1"/>
              <a:t>cho</a:t>
            </a:r>
            <a:r>
              <a:rPr lang="en-US" sz="2400" dirty="0"/>
              <a:t> quay </a:t>
            </a:r>
            <a:r>
              <a:rPr lang="en-US" sz="2400" dirty="0" err="1"/>
              <a:t>lui</a:t>
            </a:r>
            <a:r>
              <a:rPr lang="en-US" sz="2400" dirty="0" smtClean="0"/>
              <a:t>:</a:t>
            </a:r>
          </a:p>
          <a:p>
            <a:pPr lvl="1"/>
            <a:r>
              <a:rPr lang="vi-VN" sz="2000" dirty="0"/>
              <a:t>Giả sử đã thực hiện xong </a:t>
            </a:r>
            <a:r>
              <a:rPr lang="vi-VN" sz="2000" i="1" dirty="0"/>
              <a:t>i </a:t>
            </a:r>
            <a:r>
              <a:rPr lang="vi-VN" sz="2000" dirty="0"/>
              <a:t>bước đầu tiên nghĩa là ta tìm được </a:t>
            </a:r>
            <a:r>
              <a:rPr lang="vi-VN" sz="2000" i="1" dirty="0"/>
              <a:t>Vi=&lt;x1, x2,…, xi&gt; </a:t>
            </a:r>
            <a:r>
              <a:rPr lang="vi-VN" sz="2000" dirty="0"/>
              <a:t>thỏa mãn K</a:t>
            </a:r>
            <a:r>
              <a:rPr lang="vi-VN" sz="2000" dirty="0" smtClean="0"/>
              <a:t>.</a:t>
            </a:r>
            <a:endParaRPr lang="en-US" sz="2000" dirty="0" smtClean="0"/>
          </a:p>
          <a:p>
            <a:pPr lvl="1"/>
            <a:r>
              <a:rPr lang="vi-VN" sz="2000" dirty="0" smtClean="0"/>
              <a:t>Nếu </a:t>
            </a:r>
            <a:r>
              <a:rPr lang="vi-VN" sz="2000" i="1" dirty="0"/>
              <a:t>i=N</a:t>
            </a:r>
            <a:r>
              <a:rPr lang="vi-VN" sz="2000" dirty="0"/>
              <a:t> kết thúc thuật toán trả về </a:t>
            </a:r>
            <a:r>
              <a:rPr lang="vi-VN" sz="2000" i="1" dirty="0"/>
              <a:t>V</a:t>
            </a:r>
            <a:r>
              <a:rPr lang="vi-VN" sz="2000" i="1" baseline="-25000" dirty="0"/>
              <a:t>N</a:t>
            </a:r>
            <a:r>
              <a:rPr lang="vi-VN" sz="2000" dirty="0"/>
              <a:t>. </a:t>
            </a:r>
            <a:endParaRPr lang="en-US" sz="2000" dirty="0" smtClean="0"/>
          </a:p>
          <a:p>
            <a:pPr lvl="1"/>
            <a:r>
              <a:rPr lang="en-US" sz="2000" dirty="0" err="1" smtClean="0"/>
              <a:t>Nếu</a:t>
            </a:r>
            <a:r>
              <a:rPr lang="en-US" sz="2000" dirty="0" smtClean="0"/>
              <a:t> </a:t>
            </a:r>
            <a:r>
              <a:rPr lang="en-US" sz="2000" dirty="0" err="1" smtClean="0"/>
              <a:t>không</a:t>
            </a:r>
            <a:r>
              <a:rPr lang="vi-VN" sz="2000" dirty="0" smtClean="0"/>
              <a:t>, </a:t>
            </a:r>
            <a:r>
              <a:rPr lang="vi-VN" sz="2000" dirty="0"/>
              <a:t>tiếp tục </a:t>
            </a:r>
            <a:r>
              <a:rPr lang="vi-VN" sz="2000" dirty="0" smtClean="0"/>
              <a:t>bước </a:t>
            </a:r>
            <a:r>
              <a:rPr lang="vi-VN" sz="2000" dirty="0"/>
              <a:t>tiếp theo </a:t>
            </a:r>
            <a:r>
              <a:rPr lang="vi-VN" sz="2000" dirty="0" smtClean="0"/>
              <a:t>với hai </a:t>
            </a:r>
            <a:r>
              <a:rPr lang="vi-VN" sz="2000" dirty="0"/>
              <a:t>trường hợp </a:t>
            </a:r>
            <a:r>
              <a:rPr lang="vi-VN" sz="2000" dirty="0" smtClean="0"/>
              <a:t>: </a:t>
            </a:r>
            <a:endParaRPr lang="en-US" sz="2000" dirty="0" smtClean="0"/>
          </a:p>
          <a:p>
            <a:pPr lvl="2"/>
            <a:r>
              <a:rPr lang="vi-VN" sz="2000" dirty="0" smtClean="0"/>
              <a:t>Nếu </a:t>
            </a:r>
            <a:r>
              <a:rPr lang="en-US" sz="2000" i="1" dirty="0" smtClean="0">
                <a:latin typeface="Courier New" panose="02070309020205020404" pitchFamily="49" charset="0"/>
                <a:cs typeface="Courier New" panose="02070309020205020404" pitchFamily="49" charset="0"/>
                <a:sym typeface="Symbol" panose="05050102010706020507" pitchFamily="18" charset="2"/>
              </a:rPr>
              <a:t></a:t>
            </a:r>
            <a:r>
              <a:rPr lang="en-US" sz="2000" i="1" dirty="0" smtClean="0">
                <a:latin typeface="Courier New" panose="02070309020205020404" pitchFamily="49" charset="0"/>
                <a:cs typeface="Courier New" panose="02070309020205020404" pitchFamily="49" charset="0"/>
              </a:rPr>
              <a:t>p</a:t>
            </a:r>
            <a:r>
              <a:rPr lang="en-US" sz="2000" i="1" dirty="0" smtClean="0">
                <a:latin typeface="Lato" panose="020F0502020204030203"/>
                <a:cs typeface="Courier New" panose="02070309020205020404" pitchFamily="49" charset="0"/>
              </a:rPr>
              <a:t> </a:t>
            </a:r>
            <a:r>
              <a:rPr lang="en-US" sz="2000" i="1" dirty="0" smtClean="0">
                <a:latin typeface="Courier New" panose="02070309020205020404" pitchFamily="49" charset="0"/>
                <a:cs typeface="Courier New" panose="02070309020205020404" pitchFamily="49" charset="0"/>
                <a:sym typeface="Symbol" panose="05050102010706020507" pitchFamily="18" charset="2"/>
              </a:rPr>
              <a:t></a:t>
            </a:r>
            <a:r>
              <a:rPr lang="en-US" sz="2000" i="1" dirty="0">
                <a:latin typeface="Lato" panose="020F0502020204030203"/>
                <a:cs typeface="Courier New" panose="02070309020205020404" pitchFamily="49" charset="0"/>
              </a:rPr>
              <a:t> </a:t>
            </a:r>
            <a:r>
              <a:rPr lang="en-US" sz="2000" i="1" dirty="0" smtClean="0">
                <a:latin typeface="Courier New" panose="02070309020205020404" pitchFamily="49" charset="0"/>
                <a:cs typeface="Courier New" panose="02070309020205020404" pitchFamily="49" charset="0"/>
              </a:rPr>
              <a:t>S</a:t>
            </a:r>
            <a:r>
              <a:rPr lang="en-US" sz="2000" i="1" baseline="-25000" dirty="0" smtClean="0">
                <a:latin typeface="Courier New" panose="02070309020205020404" pitchFamily="49" charset="0"/>
                <a:cs typeface="Courier New" panose="02070309020205020404" pitchFamily="49" charset="0"/>
              </a:rPr>
              <a:t>i+1</a:t>
            </a:r>
            <a:r>
              <a:rPr lang="vi-VN" sz="2000" i="1" dirty="0" smtClean="0"/>
              <a:t> </a:t>
            </a:r>
            <a:r>
              <a:rPr lang="vi-VN" sz="2000" dirty="0"/>
              <a:t>phù hợp </a:t>
            </a:r>
            <a:r>
              <a:rPr lang="vi-VN" sz="2000" dirty="0" smtClean="0"/>
              <a:t>nghĩa là với </a:t>
            </a:r>
            <a:r>
              <a:rPr lang="vi-VN" sz="2000" i="1" dirty="0"/>
              <a:t>x</a:t>
            </a:r>
            <a:r>
              <a:rPr lang="vi-VN" sz="2000" i="1" baseline="-25000" dirty="0"/>
              <a:t>i+1</a:t>
            </a:r>
            <a:r>
              <a:rPr lang="vi-VN" sz="2000" i="1" dirty="0"/>
              <a:t>=p </a:t>
            </a:r>
            <a:r>
              <a:rPr lang="vi-VN" sz="2000" dirty="0"/>
              <a:t>thì </a:t>
            </a:r>
            <a:r>
              <a:rPr lang="vi-VN" sz="2000" i="1" dirty="0"/>
              <a:t>V</a:t>
            </a:r>
            <a:r>
              <a:rPr lang="vi-VN" sz="2000" i="1" baseline="-25000" dirty="0"/>
              <a:t>i+1</a:t>
            </a:r>
            <a:r>
              <a:rPr lang="vi-VN" sz="2000" i="1" dirty="0"/>
              <a:t> </a:t>
            </a:r>
            <a:r>
              <a:rPr lang="vi-VN" sz="2000" dirty="0"/>
              <a:t>thỏa mãn </a:t>
            </a:r>
            <a:r>
              <a:rPr lang="vi-VN" sz="2000" dirty="0" smtClean="0"/>
              <a:t>K</a:t>
            </a:r>
            <a:r>
              <a:rPr lang="en-US" sz="2000" dirty="0" smtClean="0"/>
              <a:t> </a:t>
            </a:r>
            <a:r>
              <a:rPr lang="en-US" sz="2000" dirty="0" smtClean="0">
                <a:sym typeface="Wingdings" panose="05000000000000000000" pitchFamily="2" charset="2"/>
              </a:rPr>
              <a:t> </a:t>
            </a:r>
            <a:r>
              <a:rPr lang="en-US" sz="2000" dirty="0" err="1" smtClean="0">
                <a:sym typeface="Wingdings" panose="05000000000000000000" pitchFamily="2" charset="2"/>
              </a:rPr>
              <a:t>Gán</a:t>
            </a:r>
            <a:r>
              <a:rPr lang="vi-VN" sz="2000" dirty="0" smtClean="0"/>
              <a:t> </a:t>
            </a:r>
            <a:r>
              <a:rPr lang="vi-VN" sz="2000" i="1" dirty="0" smtClean="0"/>
              <a:t>x</a:t>
            </a:r>
            <a:r>
              <a:rPr lang="vi-VN" sz="2000" i="1" baseline="-25000" dirty="0" smtClean="0"/>
              <a:t>i+1</a:t>
            </a:r>
            <a:r>
              <a:rPr lang="vi-VN" sz="2000" i="1" dirty="0" smtClean="0"/>
              <a:t>=p</a:t>
            </a:r>
            <a:r>
              <a:rPr lang="vi-VN" sz="2000" dirty="0" smtClean="0"/>
              <a:t>.</a:t>
            </a:r>
            <a:r>
              <a:rPr lang="en-US" sz="2000" dirty="0" smtClean="0"/>
              <a:t> </a:t>
            </a:r>
            <a:r>
              <a:rPr lang="en-US" sz="2000" dirty="0" err="1" smtClean="0"/>
              <a:t>Thực</a:t>
            </a:r>
            <a:r>
              <a:rPr lang="en-US" sz="2000" dirty="0" smtClean="0"/>
              <a:t> </a:t>
            </a:r>
            <a:r>
              <a:rPr lang="en-US" sz="2000" dirty="0" err="1" smtClean="0"/>
              <a:t>hiện</a:t>
            </a:r>
            <a:r>
              <a:rPr lang="vi-VN" sz="2000" dirty="0" smtClean="0"/>
              <a:t> </a:t>
            </a:r>
            <a:r>
              <a:rPr lang="vi-VN" sz="2000" dirty="0"/>
              <a:t>bước tiếp theo </a:t>
            </a:r>
            <a:r>
              <a:rPr lang="vi-VN" sz="2000" i="1" dirty="0" smtClean="0"/>
              <a:t>i+1</a:t>
            </a:r>
            <a:r>
              <a:rPr lang="vi-VN" sz="2000" dirty="0" smtClean="0"/>
              <a:t> (đệ </a:t>
            </a:r>
            <a:r>
              <a:rPr lang="vi-VN" sz="2000" dirty="0"/>
              <a:t>quy). </a:t>
            </a:r>
            <a:endParaRPr lang="en-US" sz="2000" dirty="0" smtClean="0"/>
          </a:p>
          <a:p>
            <a:pPr lvl="2"/>
            <a:r>
              <a:rPr lang="vi-VN" sz="2000" dirty="0" smtClean="0"/>
              <a:t>Ngược </a:t>
            </a:r>
            <a:r>
              <a:rPr lang="vi-VN" sz="2000" dirty="0"/>
              <a:t>lại, </a:t>
            </a:r>
            <a:r>
              <a:rPr lang="en-US" sz="2000" dirty="0" err="1" smtClean="0"/>
              <a:t>nếu</a:t>
            </a:r>
            <a:r>
              <a:rPr lang="en-US" sz="2000" dirty="0" smtClean="0"/>
              <a:t> </a:t>
            </a:r>
            <a:r>
              <a:rPr lang="en-US" sz="2000" i="1" dirty="0">
                <a:latin typeface="Courier New" panose="02070309020205020404" pitchFamily="49" charset="0"/>
                <a:cs typeface="Courier New" panose="02070309020205020404" pitchFamily="49" charset="0"/>
                <a:sym typeface="Symbol" panose="05050102010706020507" pitchFamily="18" charset="2"/>
              </a:rPr>
              <a:t></a:t>
            </a:r>
            <a:r>
              <a:rPr lang="en-US" sz="2000" i="1" dirty="0" smtClean="0">
                <a:latin typeface="Courier New" panose="02070309020205020404" pitchFamily="49" charset="0"/>
                <a:cs typeface="Courier New" panose="02070309020205020404" pitchFamily="49" charset="0"/>
              </a:rPr>
              <a:t>p</a:t>
            </a:r>
            <a:r>
              <a:rPr lang="en-US" sz="2000" i="1" dirty="0">
                <a:latin typeface="Lato" panose="020F0502020204030203"/>
                <a:cs typeface="Courier New" panose="02070309020205020404" pitchFamily="49" charset="0"/>
              </a:rPr>
              <a:t> </a:t>
            </a:r>
            <a:r>
              <a:rPr lang="en-US" sz="2000" i="1" dirty="0" smtClean="0">
                <a:latin typeface="Courier New" panose="02070309020205020404" pitchFamily="49" charset="0"/>
                <a:cs typeface="Courier New" panose="02070309020205020404" pitchFamily="49" charset="0"/>
                <a:sym typeface="Symbol" panose="05050102010706020507" pitchFamily="18" charset="2"/>
              </a:rPr>
              <a:t></a:t>
            </a:r>
            <a:r>
              <a:rPr lang="en-US" sz="2000" i="1" dirty="0">
                <a:latin typeface="Lato" panose="020F0502020204030203"/>
                <a:cs typeface="Courier New" panose="02070309020205020404" pitchFamily="49" charset="0"/>
              </a:rPr>
              <a:t> </a:t>
            </a:r>
            <a:r>
              <a:rPr lang="en-US" sz="2000" i="1" dirty="0">
                <a:latin typeface="Courier New" panose="02070309020205020404" pitchFamily="49" charset="0"/>
                <a:cs typeface="Courier New" panose="02070309020205020404" pitchFamily="49" charset="0"/>
              </a:rPr>
              <a:t>S</a:t>
            </a:r>
            <a:r>
              <a:rPr lang="en-US" sz="2000" i="1" baseline="-25000" dirty="0" smtClean="0">
                <a:latin typeface="Courier New" panose="02070309020205020404" pitchFamily="49" charset="0"/>
                <a:cs typeface="Courier New" panose="02070309020205020404" pitchFamily="49" charset="0"/>
              </a:rPr>
              <a:t>i+1</a:t>
            </a:r>
            <a:r>
              <a:rPr lang="en-US" sz="2000" i="1" dirty="0" smtClean="0"/>
              <a:t> </a:t>
            </a:r>
            <a:r>
              <a:rPr lang="vi-VN" sz="2000" dirty="0" smtClean="0"/>
              <a:t>đều </a:t>
            </a:r>
            <a:r>
              <a:rPr lang="vi-VN" sz="2000" dirty="0"/>
              <a:t>có </a:t>
            </a:r>
            <a:r>
              <a:rPr lang="vi-VN" sz="2000" i="1" dirty="0"/>
              <a:t>V</a:t>
            </a:r>
            <a:r>
              <a:rPr lang="vi-VN" sz="2000" i="1" baseline="-25000" dirty="0"/>
              <a:t>i+1</a:t>
            </a:r>
            <a:r>
              <a:rPr lang="vi-VN" sz="2000" dirty="0"/>
              <a:t> không thỏa mãn </a:t>
            </a:r>
            <a:r>
              <a:rPr lang="vi-VN" sz="2000" i="1" dirty="0" smtClean="0"/>
              <a:t>K</a:t>
            </a:r>
            <a:r>
              <a:rPr lang="en-US" sz="2000" dirty="0" smtClean="0"/>
              <a:t> </a:t>
            </a:r>
            <a:r>
              <a:rPr lang="en-US" sz="2000" dirty="0" smtClean="0">
                <a:sym typeface="Wingdings" panose="05000000000000000000" pitchFamily="2" charset="2"/>
              </a:rPr>
              <a:t></a:t>
            </a:r>
            <a:r>
              <a:rPr lang="vi-VN" sz="2000" dirty="0" smtClean="0"/>
              <a:t> </a:t>
            </a:r>
            <a:r>
              <a:rPr lang="vi-VN" sz="2000" dirty="0"/>
              <a:t>quay lại bước </a:t>
            </a:r>
            <a:r>
              <a:rPr lang="vi-VN" sz="2000" i="1" dirty="0"/>
              <a:t>i </a:t>
            </a:r>
            <a:r>
              <a:rPr lang="vi-VN" sz="2000" dirty="0"/>
              <a:t>để thử giá trị phù hợp </a:t>
            </a:r>
            <a:r>
              <a:rPr lang="en-US" sz="2000" dirty="0" err="1" smtClean="0"/>
              <a:t>khác</a:t>
            </a:r>
            <a:r>
              <a:rPr lang="en-US" sz="2000" dirty="0" smtClean="0"/>
              <a:t> </a:t>
            </a:r>
            <a:r>
              <a:rPr lang="vi-VN" sz="2000" dirty="0" smtClean="0"/>
              <a:t>của </a:t>
            </a:r>
            <a:r>
              <a:rPr lang="vi-VN" sz="2000" i="1" dirty="0" smtClean="0"/>
              <a:t>x</a:t>
            </a:r>
            <a:r>
              <a:rPr lang="vi-VN" sz="2000" i="1" baseline="-25000" dirty="0" smtClean="0"/>
              <a:t>i</a:t>
            </a:r>
            <a:r>
              <a:rPr lang="en-US" sz="2000" dirty="0" smtClean="0"/>
              <a:t>. </a:t>
            </a:r>
          </a:p>
          <a:p>
            <a:pPr lvl="2"/>
            <a:r>
              <a:rPr lang="en-US" sz="2000" dirty="0" err="1" smtClean="0"/>
              <a:t>Cuối</a:t>
            </a:r>
            <a:r>
              <a:rPr lang="en-US" sz="2000" dirty="0" smtClean="0"/>
              <a:t> </a:t>
            </a:r>
            <a:r>
              <a:rPr lang="en-US" sz="2000" dirty="0" err="1" smtClean="0"/>
              <a:t>cùng</a:t>
            </a:r>
            <a:r>
              <a:rPr lang="en-US" sz="2000" dirty="0" smtClean="0"/>
              <a:t>, n</a:t>
            </a:r>
            <a:r>
              <a:rPr lang="vi-VN" sz="2000" dirty="0" smtClean="0"/>
              <a:t>ếu </a:t>
            </a:r>
            <a:r>
              <a:rPr lang="vi-VN" sz="2000" dirty="0"/>
              <a:t>không tìm thấy và </a:t>
            </a:r>
            <a:r>
              <a:rPr lang="vi-VN" sz="2000" i="1" dirty="0"/>
              <a:t>i=1</a:t>
            </a:r>
            <a:r>
              <a:rPr lang="vi-VN" sz="2000" dirty="0"/>
              <a:t>, thuật toán kết thúc mà không có vectơ phù hợp nào.</a:t>
            </a:r>
            <a:endParaRPr lang="en-US" sz="2000" dirty="0"/>
          </a:p>
          <a:p>
            <a:endParaRPr lang="en-US" dirty="0"/>
          </a:p>
        </p:txBody>
      </p:sp>
    </p:spTree>
    <p:extLst>
      <p:ext uri="{BB962C8B-B14F-4D97-AF65-F5344CB8AC3E}">
        <p14:creationId xmlns:p14="http://schemas.microsoft.com/office/powerpoint/2010/main" val="17981024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3"/>
          <p:cNvSpPr>
            <a:spLocks noGrp="1"/>
          </p:cNvSpPr>
          <p:nvPr>
            <p:ph type="ftr" sz="quarter" idx="11"/>
          </p:nvPr>
        </p:nvSpPr>
        <p:spPr/>
        <p:txBody>
          <a:bodyPr/>
          <a:lstStyle/>
          <a:p>
            <a:pPr algn="r"/>
            <a:r>
              <a:rPr lang="fr-FR" dirty="0" smtClean="0"/>
              <a:t>ET2100 </a:t>
            </a:r>
            <a:r>
              <a:rPr lang="en-US" i="1" dirty="0" smtClean="0"/>
              <a:t>- </a:t>
            </a:r>
            <a:r>
              <a:rPr lang="en-US" b="1" i="1" dirty="0" smtClean="0"/>
              <a:t>Data Structures and Algorithms</a:t>
            </a:r>
            <a:endParaRPr lang="en-US" dirty="0" smtClean="0"/>
          </a:p>
          <a:p>
            <a:pPr algn="r"/>
            <a:r>
              <a:rPr lang="en-US" dirty="0"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44</a:t>
            </a:fld>
            <a:endParaRPr lang="en-US"/>
          </a:p>
        </p:txBody>
      </p:sp>
      <p:sp>
        <p:nvSpPr>
          <p:cNvPr id="5" name="Title 4"/>
          <p:cNvSpPr>
            <a:spLocks noGrp="1"/>
          </p:cNvSpPr>
          <p:nvPr>
            <p:ph type="title"/>
          </p:nvPr>
        </p:nvSpPr>
        <p:spPr/>
        <p:txBody>
          <a:bodyPr/>
          <a:lstStyle/>
          <a:p>
            <a:r>
              <a:rPr lang="en-US" dirty="0" smtClean="0"/>
              <a:t>3. </a:t>
            </a:r>
            <a:r>
              <a:rPr lang="en-US" dirty="0" err="1" smtClean="0"/>
              <a:t>Giải</a:t>
            </a:r>
            <a:r>
              <a:rPr lang="en-US" dirty="0" smtClean="0"/>
              <a:t> </a:t>
            </a:r>
            <a:r>
              <a:rPr lang="en-US" dirty="0" err="1" smtClean="0"/>
              <a:t>thuật</a:t>
            </a:r>
            <a:r>
              <a:rPr lang="en-US" dirty="0" smtClean="0"/>
              <a:t> quay </a:t>
            </a:r>
            <a:r>
              <a:rPr lang="en-US" dirty="0" err="1" smtClean="0"/>
              <a:t>lui</a:t>
            </a:r>
            <a:endParaRPr lang="en-US" dirty="0"/>
          </a:p>
        </p:txBody>
      </p:sp>
      <p:sp>
        <p:nvSpPr>
          <p:cNvPr id="2" name="Content Placeholder 1"/>
          <p:cNvSpPr>
            <a:spLocks noGrp="1"/>
          </p:cNvSpPr>
          <p:nvPr>
            <p:ph type="body" sz="quarter" idx="13"/>
          </p:nvPr>
        </p:nvSpPr>
        <p:spPr/>
        <p:txBody>
          <a:bodyPr>
            <a:normAutofit/>
          </a:bodyPr>
          <a:lstStyle/>
          <a:p>
            <a:r>
              <a:rPr lang="en-US" sz="2400" dirty="0" err="1" smtClean="0"/>
              <a:t>Giải</a:t>
            </a:r>
            <a:r>
              <a:rPr lang="en-US" sz="2400" dirty="0" smtClean="0"/>
              <a:t> </a:t>
            </a:r>
            <a:r>
              <a:rPr lang="en-US" sz="2400" dirty="0" err="1" smtClean="0"/>
              <a:t>thuật</a:t>
            </a:r>
            <a:r>
              <a:rPr lang="en-US" sz="2400" dirty="0" smtClean="0"/>
              <a:t> </a:t>
            </a:r>
            <a:r>
              <a:rPr lang="en-US" sz="2400" dirty="0" err="1" smtClean="0"/>
              <a:t>đệ</a:t>
            </a:r>
            <a:r>
              <a:rPr lang="en-US" sz="2400" dirty="0" smtClean="0"/>
              <a:t> </a:t>
            </a:r>
            <a:r>
              <a:rPr lang="en-US" sz="2400" dirty="0" err="1" smtClean="0"/>
              <a:t>quy</a:t>
            </a:r>
            <a:r>
              <a:rPr lang="en-US" sz="2400" dirty="0" smtClean="0"/>
              <a:t> </a:t>
            </a:r>
            <a:r>
              <a:rPr lang="en-US" sz="2400" dirty="0" err="1" smtClean="0"/>
              <a:t>cho</a:t>
            </a:r>
            <a:r>
              <a:rPr lang="en-US" sz="2400" dirty="0" smtClean="0"/>
              <a:t> quay </a:t>
            </a:r>
            <a:r>
              <a:rPr lang="en-US" sz="2400" dirty="0" err="1" smtClean="0"/>
              <a:t>lui</a:t>
            </a:r>
            <a:r>
              <a:rPr lang="en-US" sz="2400" dirty="0" smtClean="0"/>
              <a:t>:</a:t>
            </a:r>
            <a:endParaRPr lang="en-US" sz="2800" dirty="0" smtClean="0"/>
          </a:p>
        </p:txBody>
      </p:sp>
      <p:sp>
        <p:nvSpPr>
          <p:cNvPr id="8" name="Rectangle 7"/>
          <p:cNvSpPr/>
          <p:nvPr/>
        </p:nvSpPr>
        <p:spPr>
          <a:xfrm>
            <a:off x="1219200" y="1629775"/>
            <a:ext cx="7924800" cy="3785652"/>
          </a:xfrm>
          <a:prstGeom prst="rect">
            <a:avLst/>
          </a:prstGeom>
        </p:spPr>
        <p:txBody>
          <a:bodyPr wrap="square">
            <a:spAutoFit/>
          </a:bodyPr>
          <a:lstStyle/>
          <a:p>
            <a:pPr>
              <a:defRPr/>
            </a:pPr>
            <a:r>
              <a:rPr lang="en-US" sz="1600" dirty="0">
                <a:latin typeface="Courier New" panose="02070309020205020404" pitchFamily="49" charset="0"/>
                <a:cs typeface="Courier New" panose="02070309020205020404" pitchFamily="49" charset="0"/>
              </a:rPr>
              <a:t>void  </a:t>
            </a:r>
            <a:r>
              <a:rPr lang="en-US" sz="1600" b="1" dirty="0" err="1">
                <a:latin typeface="Courier New" panose="02070309020205020404" pitchFamily="49" charset="0"/>
                <a:cs typeface="Courier New" panose="02070309020205020404" pitchFamily="49" charset="0"/>
              </a:rPr>
              <a:t>RBacktrack</a:t>
            </a:r>
            <a:r>
              <a:rPr lang="en-US" sz="1600" dirty="0">
                <a:latin typeface="Courier New" panose="02070309020205020404" pitchFamily="49" charset="0"/>
                <a:cs typeface="Courier New" panose="02070309020205020404" pitchFamily="49" charset="0"/>
              </a:rPr>
              <a:t>(vector V,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step)</a:t>
            </a:r>
          </a:p>
          <a:p>
            <a:pPr>
              <a:defRPr/>
            </a:pPr>
            <a:r>
              <a:rPr lang="en-US" sz="1600" dirty="0">
                <a:latin typeface="Courier New" panose="02070309020205020404" pitchFamily="49" charset="0"/>
                <a:cs typeface="Courier New" panose="02070309020205020404" pitchFamily="49" charset="0"/>
              </a:rPr>
              <a:t>{</a:t>
            </a:r>
          </a:p>
          <a:p>
            <a:pPr>
              <a:defRPr/>
            </a:pPr>
            <a:r>
              <a:rPr lang="en-US" sz="1600" dirty="0">
                <a:latin typeface="Courier New" panose="02070309020205020404" pitchFamily="49" charset="0"/>
                <a:cs typeface="Courier New" panose="02070309020205020404" pitchFamily="49" charset="0"/>
              </a:rPr>
              <a:t>   if (step == N) {</a:t>
            </a:r>
          </a:p>
          <a:p>
            <a:pPr>
              <a:defRPr/>
            </a:pPr>
            <a:r>
              <a:rPr lang="en-US" sz="1600" dirty="0">
                <a:latin typeface="Courier New" panose="02070309020205020404" pitchFamily="49" charset="0"/>
                <a:cs typeface="Courier New" panose="02070309020205020404" pitchFamily="49" charset="0"/>
              </a:rPr>
              <a:t>      V is a solution;</a:t>
            </a:r>
          </a:p>
          <a:p>
            <a:pPr>
              <a:defRPr/>
            </a:pPr>
            <a:r>
              <a:rPr lang="en-US" sz="1600" dirty="0">
                <a:latin typeface="Courier New" panose="02070309020205020404" pitchFamily="49" charset="0"/>
                <a:cs typeface="Courier New" panose="02070309020205020404" pitchFamily="49" charset="0"/>
              </a:rPr>
              <a:t>   }</a:t>
            </a:r>
          </a:p>
          <a:p>
            <a:pPr>
              <a:defRPr/>
            </a:pPr>
            <a:r>
              <a:rPr lang="en-US" sz="1600" dirty="0">
                <a:latin typeface="Courier New" panose="02070309020205020404" pitchFamily="49" charset="0"/>
                <a:cs typeface="Courier New" panose="02070309020205020404" pitchFamily="49" charset="0"/>
              </a:rPr>
              <a:t>   else </a:t>
            </a:r>
          </a:p>
          <a:p>
            <a:pPr>
              <a:defRPr/>
            </a:pPr>
            <a:r>
              <a:rPr lang="en-US" sz="1600" dirty="0">
                <a:latin typeface="Courier New" panose="02070309020205020404" pitchFamily="49" charset="0"/>
                <a:cs typeface="Courier New" panose="02070309020205020404" pitchFamily="49" charset="0"/>
              </a:rPr>
              <a:t>      while (exists </a:t>
            </a:r>
            <a:r>
              <a:rPr lang="en-US" sz="1600" dirty="0" smtClean="0">
                <a:latin typeface="Courier New" panose="02070309020205020404" pitchFamily="49" charset="0"/>
                <a:cs typeface="Courier New" panose="02070309020205020404" pitchFamily="49" charset="0"/>
              </a:rPr>
              <a:t>v</a:t>
            </a:r>
            <a:r>
              <a:rPr lang="en-US" sz="1600" baseline="-25000" dirty="0"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in </a:t>
            </a:r>
            <a:r>
              <a:rPr lang="en-US" sz="1600" dirty="0" smtClean="0">
                <a:latin typeface="Courier New" panose="02070309020205020404" pitchFamily="49" charset="0"/>
                <a:cs typeface="Courier New" panose="02070309020205020404" pitchFamily="49" charset="0"/>
              </a:rPr>
              <a:t>S</a:t>
            </a:r>
            <a:r>
              <a:rPr lang="en-US" sz="1600" baseline="-25000" dirty="0"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and V</a:t>
            </a:r>
            <a:r>
              <a:rPr lang="en-US" sz="1600" dirty="0" smtClean="0">
                <a:latin typeface="Courier New" panose="02070309020205020404" pitchFamily="49" charset="0"/>
                <a:cs typeface="Courier New" panose="02070309020205020404" pitchFamily="49" charset="0"/>
              </a:rPr>
              <a:t>+{v</a:t>
            </a:r>
            <a:r>
              <a:rPr lang="en-US" sz="1600" baseline="-25000" dirty="0" smtClean="0">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satisfies K) </a:t>
            </a:r>
          </a:p>
          <a:p>
            <a:pPr>
              <a:defRPr/>
            </a:pPr>
            <a:r>
              <a:rPr lang="en-US" sz="1600" dirty="0">
                <a:latin typeface="Courier New" panose="02070309020205020404" pitchFamily="49" charset="0"/>
                <a:cs typeface="Courier New" panose="02070309020205020404" pitchFamily="49" charset="0"/>
              </a:rPr>
              <a:t>      {</a:t>
            </a:r>
          </a:p>
          <a:p>
            <a:pPr>
              <a:defRPr/>
            </a:pP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S</a:t>
            </a:r>
            <a:r>
              <a:rPr lang="en-US" sz="1600" baseline="-25000" dirty="0"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S</a:t>
            </a:r>
            <a:r>
              <a:rPr lang="en-US" sz="1600" baseline="-25000" dirty="0"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{v</a:t>
            </a:r>
            <a:r>
              <a:rPr lang="en-US" sz="1600" baseline="-25000" dirty="0" smtClean="0">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a:t>
            </a:r>
          </a:p>
          <a:p>
            <a:pPr>
              <a:defRPr/>
            </a:pPr>
            <a:r>
              <a:rPr lang="en-US" sz="1600" dirty="0">
                <a:latin typeface="Courier New" panose="02070309020205020404" pitchFamily="49" charset="0"/>
                <a:cs typeface="Courier New" panose="02070309020205020404" pitchFamily="49" charset="0"/>
              </a:rPr>
              <a:t>         V = </a:t>
            </a:r>
            <a:r>
              <a:rPr lang="en-US" sz="1600" dirty="0" smtClean="0">
                <a:latin typeface="Courier New" panose="02070309020205020404" pitchFamily="49" charset="0"/>
                <a:cs typeface="Courier New" panose="02070309020205020404" pitchFamily="49" charset="0"/>
              </a:rPr>
              <a:t>V + {v</a:t>
            </a:r>
            <a:r>
              <a:rPr lang="en-US" sz="1600" baseline="-25000" dirty="0" smtClean="0">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a:t>
            </a:r>
          </a:p>
          <a:p>
            <a:pPr>
              <a:defRPr/>
            </a:pPr>
            <a:r>
              <a:rPr lang="en-US" sz="1600"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RBacktrack</a:t>
            </a:r>
            <a:r>
              <a:rPr lang="en-US" sz="1600" b="1" dirty="0">
                <a:latin typeface="Courier New" panose="02070309020205020404" pitchFamily="49" charset="0"/>
                <a:cs typeface="Courier New" panose="02070309020205020404" pitchFamily="49" charset="0"/>
              </a:rPr>
              <a:t>(V, step+1)</a:t>
            </a:r>
            <a:r>
              <a:rPr lang="en-US" sz="1600" dirty="0">
                <a:latin typeface="Courier New" panose="02070309020205020404" pitchFamily="49" charset="0"/>
                <a:cs typeface="Courier New" panose="02070309020205020404" pitchFamily="49" charset="0"/>
              </a:rPr>
              <a:t>;</a:t>
            </a:r>
          </a:p>
          <a:p>
            <a:pPr>
              <a:defRPr/>
            </a:pPr>
            <a:r>
              <a:rPr lang="en-US" sz="1600" dirty="0">
                <a:latin typeface="Courier New" panose="02070309020205020404" pitchFamily="49" charset="0"/>
                <a:cs typeface="Courier New" panose="02070309020205020404" pitchFamily="49" charset="0"/>
              </a:rPr>
              <a:t>         V = V \ </a:t>
            </a:r>
            <a:r>
              <a:rPr lang="en-US" sz="1600" dirty="0" smtClean="0">
                <a:latin typeface="Courier New" panose="02070309020205020404" pitchFamily="49" charset="0"/>
                <a:cs typeface="Courier New" panose="02070309020205020404" pitchFamily="49" charset="0"/>
              </a:rPr>
              <a:t>{v</a:t>
            </a:r>
            <a:r>
              <a:rPr lang="en-US" sz="1600" baseline="-25000" dirty="0" smtClean="0">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prepare before backtrack</a:t>
            </a:r>
          </a:p>
          <a:p>
            <a:pPr>
              <a:defRPr/>
            </a:pPr>
            <a:r>
              <a:rPr lang="en-US" sz="1600" dirty="0">
                <a:latin typeface="Courier New" panose="02070309020205020404" pitchFamily="49" charset="0"/>
                <a:cs typeface="Courier New" panose="02070309020205020404" pitchFamily="49" charset="0"/>
              </a:rPr>
              <a:t>      }</a:t>
            </a:r>
          </a:p>
          <a:p>
            <a:pPr>
              <a:defRPr/>
            </a:pPr>
            <a:r>
              <a:rPr lang="en-US" sz="1600" dirty="0">
                <a:latin typeface="Courier New" panose="02070309020205020404" pitchFamily="49" charset="0"/>
                <a:cs typeface="Courier New" panose="02070309020205020404" pitchFamily="49" charset="0"/>
              </a:rPr>
              <a:t>}</a:t>
            </a:r>
          </a:p>
          <a:p>
            <a:endParaRPr lang="en-US" sz="1600" dirty="0"/>
          </a:p>
        </p:txBody>
      </p:sp>
    </p:spTree>
    <p:extLst>
      <p:ext uri="{BB962C8B-B14F-4D97-AF65-F5344CB8AC3E}">
        <p14:creationId xmlns:p14="http://schemas.microsoft.com/office/powerpoint/2010/main" val="3783447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45</a:t>
            </a:fld>
            <a:endParaRPr lang="en-US"/>
          </a:p>
        </p:txBody>
      </p:sp>
      <p:sp>
        <p:nvSpPr>
          <p:cNvPr id="5" name="Title 4"/>
          <p:cNvSpPr>
            <a:spLocks noGrp="1"/>
          </p:cNvSpPr>
          <p:nvPr>
            <p:ph type="title"/>
          </p:nvPr>
        </p:nvSpPr>
        <p:spPr/>
        <p:txBody>
          <a:bodyPr/>
          <a:lstStyle/>
          <a:p>
            <a:r>
              <a:rPr lang="en-US" dirty="0"/>
              <a:t>3. </a:t>
            </a:r>
            <a:r>
              <a:rPr lang="en-US" dirty="0" err="1"/>
              <a:t>Giải</a:t>
            </a:r>
            <a:r>
              <a:rPr lang="en-US" dirty="0"/>
              <a:t> </a:t>
            </a:r>
            <a:r>
              <a:rPr lang="en-US" dirty="0" err="1"/>
              <a:t>thuật</a:t>
            </a:r>
            <a:r>
              <a:rPr lang="en-US" dirty="0"/>
              <a:t> quay </a:t>
            </a:r>
            <a:r>
              <a:rPr lang="en-US" dirty="0" err="1"/>
              <a:t>lui</a:t>
            </a:r>
            <a:endParaRPr lang="en-US" dirty="0"/>
          </a:p>
        </p:txBody>
      </p:sp>
      <p:sp>
        <p:nvSpPr>
          <p:cNvPr id="2" name="Content Placeholder 1"/>
          <p:cNvSpPr>
            <a:spLocks noGrp="1"/>
          </p:cNvSpPr>
          <p:nvPr>
            <p:ph type="body" sz="quarter" idx="13"/>
          </p:nvPr>
        </p:nvSpPr>
        <p:spPr>
          <a:xfrm>
            <a:off x="234823" y="990600"/>
            <a:ext cx="8674100" cy="4904232"/>
          </a:xfrm>
        </p:spPr>
        <p:txBody>
          <a:bodyPr>
            <a:normAutofit/>
          </a:bodyPr>
          <a:lstStyle/>
          <a:p>
            <a:r>
              <a:rPr lang="en-US" sz="2400" dirty="0" err="1"/>
              <a:t>Giải</a:t>
            </a:r>
            <a:r>
              <a:rPr lang="en-US" sz="2400" dirty="0"/>
              <a:t> </a:t>
            </a:r>
            <a:r>
              <a:rPr lang="en-US" sz="2400" dirty="0" err="1"/>
              <a:t>thuật</a:t>
            </a:r>
            <a:r>
              <a:rPr lang="en-US" sz="2400" dirty="0"/>
              <a:t> </a:t>
            </a:r>
            <a:r>
              <a:rPr lang="en-US" sz="2400" u="sng" dirty="0" err="1" smtClean="0"/>
              <a:t>khử</a:t>
            </a:r>
            <a:r>
              <a:rPr lang="en-US" sz="2400" u="sng" dirty="0" smtClean="0"/>
              <a:t> </a:t>
            </a:r>
            <a:r>
              <a:rPr lang="en-US" sz="2400" u="sng" dirty="0" err="1" smtClean="0"/>
              <a:t>đệ</a:t>
            </a:r>
            <a:r>
              <a:rPr lang="en-US" sz="2400" u="sng" dirty="0" smtClean="0"/>
              <a:t> </a:t>
            </a:r>
            <a:r>
              <a:rPr lang="en-US" sz="2400" u="sng" dirty="0" err="1"/>
              <a:t>quy</a:t>
            </a:r>
            <a:r>
              <a:rPr lang="en-US" sz="2400" u="sng" dirty="0"/>
              <a:t> </a:t>
            </a:r>
            <a:r>
              <a:rPr lang="en-US" sz="2400" dirty="0" err="1"/>
              <a:t>cho</a:t>
            </a:r>
            <a:r>
              <a:rPr lang="en-US" sz="2400" dirty="0"/>
              <a:t> quay </a:t>
            </a:r>
            <a:r>
              <a:rPr lang="en-US" sz="2400" dirty="0" err="1"/>
              <a:t>lui</a:t>
            </a:r>
            <a:r>
              <a:rPr lang="en-US" sz="2400" dirty="0"/>
              <a:t>:</a:t>
            </a:r>
          </a:p>
        </p:txBody>
      </p:sp>
      <p:sp>
        <p:nvSpPr>
          <p:cNvPr id="6" name="Rectangle 5"/>
          <p:cNvSpPr/>
          <p:nvPr/>
        </p:nvSpPr>
        <p:spPr>
          <a:xfrm>
            <a:off x="1112015" y="1702296"/>
            <a:ext cx="7845425" cy="4524315"/>
          </a:xfrm>
          <a:prstGeom prst="rect">
            <a:avLst/>
          </a:prstGeom>
        </p:spPr>
        <p:txBody>
          <a:bodyPr wrap="square">
            <a:spAutoFit/>
          </a:bodyPr>
          <a:lstStyle/>
          <a:p>
            <a:pPr>
              <a:defRPr/>
            </a:pP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b="1" dirty="0" err="1">
                <a:latin typeface="Courier New" panose="02070309020205020404" pitchFamily="49" charset="0"/>
                <a:cs typeface="Courier New" panose="02070309020205020404" pitchFamily="49" charset="0"/>
              </a:rPr>
              <a:t>NBacktrack</a:t>
            </a: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a:t>
            </a:r>
            <a:endParaRPr lang="en-US" sz="1600" dirty="0">
              <a:latin typeface="Courier New" panose="02070309020205020404" pitchFamily="49" charset="0"/>
              <a:cs typeface="Courier New" panose="02070309020205020404" pitchFamily="49" charset="0"/>
            </a:endParaRPr>
          </a:p>
          <a:p>
            <a:pPr>
              <a:defRPr/>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1;</a:t>
            </a:r>
          </a:p>
          <a:p>
            <a:pPr>
              <a:defRPr/>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tong = 0;		//total number of solutions</a:t>
            </a:r>
          </a:p>
          <a:p>
            <a:pPr>
              <a:defRPr/>
            </a:pPr>
            <a:r>
              <a:rPr lang="en-US" sz="1600" dirty="0">
                <a:latin typeface="Courier New" panose="02070309020205020404" pitchFamily="49" charset="0"/>
                <a:cs typeface="Courier New" panose="02070309020205020404" pitchFamily="49" charset="0"/>
              </a:rPr>
              <a:t>    vector  V = </a:t>
            </a:r>
            <a:r>
              <a:rPr lang="en-US" sz="1600" dirty="0">
                <a:latin typeface="Courier New" panose="02070309020205020404" pitchFamily="49" charset="0"/>
                <a:cs typeface="Courier New" panose="02070309020205020404" pitchFamily="49" charset="0"/>
                <a:sym typeface="Symbol" panose="05050102010706020507" pitchFamily="18" charset="2"/>
              </a:rPr>
              <a:t></a:t>
            </a:r>
            <a:r>
              <a:rPr lang="en-US" sz="1600" dirty="0">
                <a:latin typeface="Courier New" panose="02070309020205020404" pitchFamily="49" charset="0"/>
                <a:cs typeface="Courier New" panose="02070309020205020404" pitchFamily="49" charset="0"/>
              </a:rPr>
              <a:t> ; 	//V is empty</a:t>
            </a:r>
          </a:p>
          <a:p>
            <a:pPr>
              <a:defRPr/>
            </a:pPr>
            <a:r>
              <a:rPr lang="en-US" sz="1600" dirty="0">
                <a:latin typeface="Courier New" panose="02070309020205020404" pitchFamily="49" charset="0"/>
                <a:cs typeface="Courier New" panose="02070309020205020404" pitchFamily="49" charset="0"/>
              </a:rPr>
              <a:t>    do {</a:t>
            </a:r>
          </a:p>
          <a:p>
            <a:pPr>
              <a:defRPr/>
            </a:pPr>
            <a:r>
              <a:rPr lang="en-US" sz="1600" dirty="0">
                <a:latin typeface="Courier New" panose="02070309020205020404" pitchFamily="49" charset="0"/>
                <a:cs typeface="Courier New" panose="02070309020205020404" pitchFamily="49" charset="0"/>
              </a:rPr>
              <a:t>        while (exists </a:t>
            </a:r>
            <a:r>
              <a:rPr lang="en-US" sz="1600" dirty="0" smtClean="0">
                <a:latin typeface="Courier New" panose="02070309020205020404" pitchFamily="49" charset="0"/>
                <a:cs typeface="Courier New" panose="02070309020205020404" pitchFamily="49" charset="0"/>
              </a:rPr>
              <a:t>v</a:t>
            </a:r>
            <a:r>
              <a:rPr lang="en-US" sz="1600" baseline="-25000" dirty="0"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in </a:t>
            </a:r>
            <a:r>
              <a:rPr lang="en-US" sz="1600" dirty="0" smtClean="0">
                <a:latin typeface="Courier New" panose="02070309020205020404" pitchFamily="49" charset="0"/>
                <a:cs typeface="Courier New" panose="02070309020205020404" pitchFamily="49" charset="0"/>
              </a:rPr>
              <a:t>S</a:t>
            </a:r>
            <a:r>
              <a:rPr lang="en-US" sz="1600" baseline="-25000" dirty="0"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and V</a:t>
            </a:r>
            <a:r>
              <a:rPr lang="en-US" sz="1600" dirty="0" smtClean="0">
                <a:latin typeface="Courier New" panose="02070309020205020404" pitchFamily="49" charset="0"/>
                <a:cs typeface="Courier New" panose="02070309020205020404" pitchFamily="49" charset="0"/>
              </a:rPr>
              <a:t>+{v</a:t>
            </a:r>
            <a:r>
              <a:rPr lang="en-US" sz="1600" baseline="-25000" dirty="0" smtClean="0">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satisfies K</a:t>
            </a:r>
            <a:r>
              <a:rPr lang="en-US" sz="1600" dirty="0" smtClean="0">
                <a:latin typeface="Courier New" panose="02070309020205020404" pitchFamily="49" charset="0"/>
                <a:cs typeface="Courier New" panose="02070309020205020404" pitchFamily="49" charset="0"/>
              </a:rPr>
              <a:t>) {</a:t>
            </a:r>
            <a:endParaRPr lang="en-US" sz="1600" dirty="0">
              <a:latin typeface="Courier New" panose="02070309020205020404" pitchFamily="49" charset="0"/>
              <a:cs typeface="Courier New" panose="02070309020205020404" pitchFamily="49" charset="0"/>
            </a:endParaRPr>
          </a:p>
          <a:p>
            <a:pPr>
              <a:defRPr/>
            </a:pP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S</a:t>
            </a:r>
            <a:r>
              <a:rPr lang="en-US" sz="1600" baseline="-25000" dirty="0"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S</a:t>
            </a:r>
            <a:r>
              <a:rPr lang="en-US" sz="1600" baseline="-25000" dirty="0"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{v</a:t>
            </a:r>
            <a:r>
              <a:rPr lang="en-US" sz="1600" baseline="-25000" dirty="0" smtClean="0">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a:t>
            </a:r>
          </a:p>
          <a:p>
            <a:pPr>
              <a:defRPr/>
            </a:pPr>
            <a:r>
              <a:rPr lang="en-US" sz="1600" dirty="0">
                <a:latin typeface="Courier New" panose="02070309020205020404" pitchFamily="49" charset="0"/>
                <a:cs typeface="Courier New" panose="02070309020205020404" pitchFamily="49" charset="0"/>
              </a:rPr>
              <a:t>            V = </a:t>
            </a:r>
            <a:r>
              <a:rPr lang="en-US" sz="1600" dirty="0" smtClean="0">
                <a:latin typeface="Courier New" panose="02070309020205020404" pitchFamily="49" charset="0"/>
                <a:cs typeface="Courier New" panose="02070309020205020404" pitchFamily="49" charset="0"/>
              </a:rPr>
              <a:t>V + {v</a:t>
            </a:r>
            <a:r>
              <a:rPr lang="en-US" sz="1600" baseline="-25000" dirty="0" smtClean="0">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a:t>
            </a:r>
          </a:p>
          <a:p>
            <a:pPr>
              <a:defRPr/>
            </a:pPr>
            <a:r>
              <a:rPr lang="en-US" sz="1600" dirty="0">
                <a:latin typeface="Courier New" panose="02070309020205020404" pitchFamily="49" charset="0"/>
                <a:cs typeface="Courier New" panose="02070309020205020404" pitchFamily="49" charset="0"/>
              </a:rPr>
              <a:t>            if </a:t>
            </a:r>
            <a:r>
              <a:rPr lang="en-US" sz="1600" dirty="0" smtClean="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N)  {</a:t>
            </a:r>
          </a:p>
          <a:p>
            <a:pPr lvl="1">
              <a:defRPr/>
            </a:pPr>
            <a:r>
              <a:rPr lang="en-US" sz="1600" dirty="0">
                <a:latin typeface="Courier New" panose="02070309020205020404" pitchFamily="49" charset="0"/>
                <a:cs typeface="Courier New" panose="02070309020205020404" pitchFamily="49" charset="0"/>
              </a:rPr>
              <a:t>            V is a solution;</a:t>
            </a:r>
          </a:p>
          <a:p>
            <a:pPr lvl="1">
              <a:defRPr/>
            </a:pPr>
            <a:r>
              <a:rPr lang="en-US" sz="1600" dirty="0">
                <a:latin typeface="Courier New" panose="02070309020205020404" pitchFamily="49" charset="0"/>
                <a:cs typeface="Courier New" panose="02070309020205020404" pitchFamily="49" charset="0"/>
              </a:rPr>
              <a:t>            tong++;</a:t>
            </a:r>
          </a:p>
          <a:p>
            <a:pPr>
              <a:defRPr/>
            </a:pP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	    } else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a:t>
            </a:r>
          </a:p>
          <a:p>
            <a:pPr>
              <a:defRPr/>
            </a:pP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a:t>
            </a:r>
            <a:endParaRPr lang="en-US" sz="1600" dirty="0">
              <a:latin typeface="Courier New" panose="02070309020205020404" pitchFamily="49" charset="0"/>
              <a:cs typeface="Courier New" panose="02070309020205020404" pitchFamily="49" charset="0"/>
            </a:endParaRPr>
          </a:p>
          <a:p>
            <a:pPr>
              <a:defRPr/>
            </a:pPr>
            <a:r>
              <a:rPr lang="en-US" sz="1600" dirty="0">
                <a:latin typeface="Courier New" panose="02070309020205020404" pitchFamily="49" charset="0"/>
                <a:cs typeface="Courier New" panose="02070309020205020404" pitchFamily="49" charset="0"/>
              </a:rPr>
              <a:t>        V = V \ </a:t>
            </a:r>
            <a:r>
              <a:rPr lang="en-US" sz="1600" dirty="0" smtClean="0">
                <a:latin typeface="Courier New" panose="02070309020205020404" pitchFamily="49" charset="0"/>
                <a:cs typeface="Courier New" panose="02070309020205020404" pitchFamily="49" charset="0"/>
              </a:rPr>
              <a:t>{V</a:t>
            </a:r>
            <a:r>
              <a:rPr lang="en-US" sz="1600" baseline="-25000" dirty="0" smtClean="0">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a:t>
            </a:r>
          </a:p>
          <a:p>
            <a:pPr>
              <a:defRPr/>
            </a:pP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a:t>
            </a:r>
            <a:r>
              <a:rPr lang="en-US" sz="1600" dirty="0" smtClean="0">
                <a:latin typeface="Courier New" panose="02070309020205020404" pitchFamily="49" charset="0"/>
                <a:cs typeface="Courier New" panose="02070309020205020404" pitchFamily="49" charset="0"/>
              </a:rPr>
              <a:t> </a:t>
            </a:r>
          </a:p>
          <a:p>
            <a:pPr>
              <a:defRPr/>
            </a:pPr>
            <a:r>
              <a:rPr lang="en-US" sz="1600" dirty="0" smtClean="0">
                <a:latin typeface="Courier New" panose="02070309020205020404" pitchFamily="49" charset="0"/>
                <a:cs typeface="Courier New" panose="02070309020205020404" pitchFamily="49" charset="0"/>
              </a:rPr>
              <a:t>    } while  </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&gt;= 1); </a:t>
            </a:r>
          </a:p>
          <a:p>
            <a:pPr>
              <a:defRPr/>
            </a:pPr>
            <a:r>
              <a:rPr lang="en-US" sz="1600" dirty="0">
                <a:latin typeface="Courier New" panose="02070309020205020404" pitchFamily="49" charset="0"/>
                <a:cs typeface="Courier New" panose="02070309020205020404" pitchFamily="49" charset="0"/>
              </a:rPr>
              <a:t>    return  tong;</a:t>
            </a:r>
          </a:p>
          <a:p>
            <a:pPr>
              <a:defRPr/>
            </a:pPr>
            <a:r>
              <a:rPr lang="en-US" sz="1600" dirty="0">
                <a:latin typeface="Courier New" panose="02070309020205020404" pitchFamily="49" charset="0"/>
                <a:cs typeface="Courier New" panose="02070309020205020404" pitchFamily="49" charset="0"/>
              </a:rPr>
              <a:t>}</a:t>
            </a:r>
          </a:p>
        </p:txBody>
      </p:sp>
      <p:sp>
        <p:nvSpPr>
          <p:cNvPr id="7" name="Rectangle 6"/>
          <p:cNvSpPr/>
          <p:nvPr/>
        </p:nvSpPr>
        <p:spPr>
          <a:xfrm>
            <a:off x="4191000" y="5105400"/>
            <a:ext cx="1366080" cy="307777"/>
          </a:xfrm>
          <a:prstGeom prst="rect">
            <a:avLst/>
          </a:prstGeom>
        </p:spPr>
        <p:txBody>
          <a:bodyPr wrap="none">
            <a:spAutoFit/>
          </a:bodyPr>
          <a:lstStyle/>
          <a:p>
            <a:r>
              <a:rPr lang="en-US" sz="1400" dirty="0">
                <a:latin typeface="Courier New" panose="02070309020205020404" pitchFamily="49" charset="0"/>
                <a:cs typeface="Courier New" panose="02070309020205020404" pitchFamily="49" charset="0"/>
              </a:rPr>
              <a:t>//Backtrack</a:t>
            </a:r>
            <a:endParaRPr lang="en-US" sz="1400" dirty="0"/>
          </a:p>
        </p:txBody>
      </p:sp>
    </p:spTree>
    <p:extLst>
      <p:ext uri="{BB962C8B-B14F-4D97-AF65-F5344CB8AC3E}">
        <p14:creationId xmlns:p14="http://schemas.microsoft.com/office/powerpoint/2010/main" val="2598566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5" end="1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16" end="1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3028950" y="6492875"/>
            <a:ext cx="3086100" cy="365125"/>
          </a:xfrm>
        </p:spPr>
        <p:txBody>
          <a:bodyPr/>
          <a:lstStyle/>
          <a:p>
            <a:pPr algn="r"/>
            <a:r>
              <a:rPr lang="fr-FR" dirty="0" smtClean="0"/>
              <a:t>ET2100 </a:t>
            </a:r>
            <a:r>
              <a:rPr lang="en-US" i="1" dirty="0" smtClean="0"/>
              <a:t>- </a:t>
            </a:r>
            <a:r>
              <a:rPr lang="en-US" b="1" i="1" dirty="0" smtClean="0"/>
              <a:t>Data Structures and Algorithms</a:t>
            </a:r>
            <a:endParaRPr lang="en-US" dirty="0" smtClean="0"/>
          </a:p>
          <a:p>
            <a:pPr algn="r"/>
            <a:r>
              <a:rPr lang="en-US" dirty="0"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46</a:t>
            </a:fld>
            <a:endParaRPr lang="en-US"/>
          </a:p>
        </p:txBody>
      </p:sp>
      <p:sp>
        <p:nvSpPr>
          <p:cNvPr id="5" name="Title 4"/>
          <p:cNvSpPr>
            <a:spLocks noGrp="1"/>
          </p:cNvSpPr>
          <p:nvPr>
            <p:ph type="title"/>
          </p:nvPr>
        </p:nvSpPr>
        <p:spPr/>
        <p:txBody>
          <a:bodyPr/>
          <a:lstStyle/>
          <a:p>
            <a:r>
              <a:rPr lang="en-US" dirty="0"/>
              <a:t>3. </a:t>
            </a:r>
            <a:r>
              <a:rPr lang="en-US" dirty="0" err="1"/>
              <a:t>Giải</a:t>
            </a:r>
            <a:r>
              <a:rPr lang="en-US" dirty="0"/>
              <a:t> </a:t>
            </a:r>
            <a:r>
              <a:rPr lang="en-US" dirty="0" err="1"/>
              <a:t>thuật</a:t>
            </a:r>
            <a:r>
              <a:rPr lang="en-US" dirty="0"/>
              <a:t> quay </a:t>
            </a:r>
            <a:r>
              <a:rPr lang="en-US" dirty="0" err="1"/>
              <a:t>lui</a:t>
            </a:r>
            <a:endParaRPr lang="en-US" dirty="0"/>
          </a:p>
        </p:txBody>
      </p:sp>
      <p:sp>
        <p:nvSpPr>
          <p:cNvPr id="2" name="Content Placeholder 1"/>
          <p:cNvSpPr>
            <a:spLocks noGrp="1"/>
          </p:cNvSpPr>
          <p:nvPr>
            <p:ph type="body" sz="quarter" idx="13"/>
          </p:nvPr>
        </p:nvSpPr>
        <p:spPr/>
        <p:txBody>
          <a:bodyPr/>
          <a:lstStyle/>
          <a:p>
            <a:r>
              <a:rPr lang="en-US" altLang="en-US" sz="2400" dirty="0" err="1" smtClean="0"/>
              <a:t>Bài</a:t>
            </a:r>
            <a:r>
              <a:rPr lang="en-US" altLang="en-US" sz="2400" dirty="0" smtClean="0"/>
              <a:t> </a:t>
            </a:r>
            <a:r>
              <a:rPr lang="en-US" altLang="en-US" sz="2400" dirty="0" err="1" smtClean="0"/>
              <a:t>toán</a:t>
            </a:r>
            <a:r>
              <a:rPr lang="en-US" altLang="en-US" sz="2400" dirty="0" smtClean="0"/>
              <a:t> </a:t>
            </a:r>
            <a:r>
              <a:rPr lang="en-US" altLang="en-US" sz="2400" dirty="0" err="1" smtClean="0"/>
              <a:t>người</a:t>
            </a:r>
            <a:r>
              <a:rPr lang="en-US" altLang="en-US" sz="2400" dirty="0" smtClean="0"/>
              <a:t> </a:t>
            </a:r>
            <a:r>
              <a:rPr lang="en-US" altLang="en-US" sz="2400" dirty="0" err="1" smtClean="0"/>
              <a:t>bán</a:t>
            </a:r>
            <a:r>
              <a:rPr lang="en-US" altLang="en-US" sz="2400" dirty="0" smtClean="0"/>
              <a:t> </a:t>
            </a:r>
            <a:r>
              <a:rPr lang="en-US" altLang="en-US" sz="2400" dirty="0" err="1" smtClean="0"/>
              <a:t>hàng</a:t>
            </a:r>
            <a:endParaRPr lang="en-US" altLang="en-US" sz="2400" dirty="0" smtClean="0"/>
          </a:p>
          <a:p>
            <a:pPr lvl="1"/>
            <a:r>
              <a:rPr lang="en-US" sz="2000" dirty="0" smtClean="0"/>
              <a:t>G</a:t>
            </a:r>
            <a:r>
              <a:rPr lang="vi-VN" sz="2000" dirty="0" smtClean="0"/>
              <a:t>iả </a:t>
            </a:r>
            <a:r>
              <a:rPr lang="en-US" sz="2000" dirty="0" err="1" smtClean="0"/>
              <a:t>sử</a:t>
            </a:r>
            <a:r>
              <a:rPr lang="vi-VN" sz="2000" dirty="0" smtClean="0"/>
              <a:t> </a:t>
            </a:r>
            <a:r>
              <a:rPr lang="vi-VN" sz="2000" dirty="0"/>
              <a:t>có một tập hợp </a:t>
            </a:r>
            <a:r>
              <a:rPr lang="vi-VN" sz="2000" i="1" dirty="0"/>
              <a:t>n</a:t>
            </a:r>
            <a:r>
              <a:rPr lang="vi-VN" sz="2000" dirty="0"/>
              <a:t> thành phố và một nhân viên bán hàng cần phải đến </a:t>
            </a:r>
            <a:r>
              <a:rPr lang="vi-VN" sz="2000" dirty="0" smtClean="0"/>
              <a:t>mỗi </a:t>
            </a:r>
            <a:r>
              <a:rPr lang="vi-VN" sz="2000" dirty="0"/>
              <a:t>thành phố chính xác một lần và quay trở lại thành phố </a:t>
            </a:r>
            <a:r>
              <a:rPr lang="en-US" sz="2000" dirty="0" smtClean="0"/>
              <a:t>ban </a:t>
            </a:r>
            <a:r>
              <a:rPr lang="en-US" sz="2000" dirty="0" err="1" smtClean="0"/>
              <a:t>đầu</a:t>
            </a:r>
            <a:r>
              <a:rPr lang="en-US" sz="2000" dirty="0" smtClean="0"/>
              <a:t> </a:t>
            </a:r>
            <a:r>
              <a:rPr lang="vi-VN" sz="2000" dirty="0" smtClean="0"/>
              <a:t>sau </a:t>
            </a:r>
            <a:r>
              <a:rPr lang="vi-VN" sz="2000" dirty="0"/>
              <a:t>khi kết thúc</a:t>
            </a:r>
            <a:r>
              <a:rPr lang="vi-VN" sz="2000" dirty="0" smtClean="0"/>
              <a:t>.</a:t>
            </a:r>
            <a:endParaRPr lang="en-US" sz="2000" dirty="0" smtClean="0"/>
          </a:p>
          <a:p>
            <a:pPr lvl="1"/>
            <a:r>
              <a:rPr lang="en-US" sz="2000" dirty="0" err="1" smtClean="0"/>
              <a:t>Tìm</a:t>
            </a:r>
            <a:r>
              <a:rPr lang="en-US" sz="2000" dirty="0" smtClean="0"/>
              <a:t> </a:t>
            </a:r>
            <a:r>
              <a:rPr lang="en-US" sz="2000" dirty="0" err="1" smtClean="0"/>
              <a:t>các</a:t>
            </a:r>
            <a:r>
              <a:rPr lang="vi-VN" sz="2000" dirty="0" smtClean="0"/>
              <a:t> </a:t>
            </a:r>
            <a:r>
              <a:rPr lang="vi-VN" sz="2000" dirty="0"/>
              <a:t>tuyến đường </a:t>
            </a:r>
            <a:endParaRPr lang="en-US" sz="2000" dirty="0" smtClean="0"/>
          </a:p>
          <a:p>
            <a:pPr lvl="1"/>
            <a:r>
              <a:rPr lang="en-US" sz="2000" dirty="0" err="1"/>
              <a:t>Tìm</a:t>
            </a:r>
            <a:r>
              <a:rPr lang="vi-VN" sz="2000" dirty="0"/>
              <a:t> tuyến đường có độ dài tối thiểu.</a:t>
            </a:r>
            <a:endParaRPr lang="en-US" sz="2000" dirty="0"/>
          </a:p>
        </p:txBody>
      </p:sp>
      <p:pic>
        <p:nvPicPr>
          <p:cNvPr id="6" name="Picture 5"/>
          <p:cNvPicPr>
            <a:picLocks noChangeAspect="1"/>
          </p:cNvPicPr>
          <p:nvPr/>
        </p:nvPicPr>
        <p:blipFill rotWithShape="1">
          <a:blip r:embed="rId3"/>
          <a:srcRect l="3333" t="2742" r="9723" b="653"/>
          <a:stretch/>
        </p:blipFill>
        <p:spPr>
          <a:xfrm>
            <a:off x="5035834" y="3796357"/>
            <a:ext cx="1901825" cy="1901825"/>
          </a:xfrm>
          <a:prstGeom prst="rect">
            <a:avLst/>
          </a:prstGeom>
        </p:spPr>
      </p:pic>
      <p:pic>
        <p:nvPicPr>
          <p:cNvPr id="7" name="Picture 6"/>
          <p:cNvPicPr>
            <a:picLocks noChangeAspect="1"/>
          </p:cNvPicPr>
          <p:nvPr/>
        </p:nvPicPr>
        <p:blipFill>
          <a:blip r:embed="rId4"/>
          <a:stretch>
            <a:fillRect/>
          </a:stretch>
        </p:blipFill>
        <p:spPr>
          <a:xfrm>
            <a:off x="1143000" y="3844576"/>
            <a:ext cx="1219200" cy="1291303"/>
          </a:xfrm>
          <a:prstGeom prst="rect">
            <a:avLst/>
          </a:prstGeom>
        </p:spPr>
      </p:pic>
      <p:pic>
        <p:nvPicPr>
          <p:cNvPr id="9" name="Picture 8"/>
          <p:cNvPicPr>
            <a:picLocks noChangeAspect="1"/>
          </p:cNvPicPr>
          <p:nvPr/>
        </p:nvPicPr>
        <p:blipFill>
          <a:blip r:embed="rId5"/>
          <a:stretch>
            <a:fillRect/>
          </a:stretch>
        </p:blipFill>
        <p:spPr>
          <a:xfrm>
            <a:off x="2769397" y="3796357"/>
            <a:ext cx="1219460" cy="1646271"/>
          </a:xfrm>
          <a:prstGeom prst="rect">
            <a:avLst/>
          </a:prstGeom>
        </p:spPr>
      </p:pic>
      <p:sp>
        <p:nvSpPr>
          <p:cNvPr id="10" name="TextBox 9"/>
          <p:cNvSpPr txBox="1"/>
          <p:nvPr/>
        </p:nvSpPr>
        <p:spPr>
          <a:xfrm>
            <a:off x="7113243" y="3844576"/>
            <a:ext cx="1742785" cy="369332"/>
          </a:xfrm>
          <a:prstGeom prst="rect">
            <a:avLst/>
          </a:prstGeom>
          <a:noFill/>
        </p:spPr>
        <p:txBody>
          <a:bodyPr wrap="none" rtlCol="0">
            <a:spAutoFit/>
          </a:bodyPr>
          <a:lstStyle/>
          <a:p>
            <a:r>
              <a:rPr lang="en-US" dirty="0"/>
              <a:t>(a, b, d, c</a:t>
            </a:r>
            <a:r>
              <a:rPr lang="en-US" dirty="0" smtClean="0"/>
              <a:t>) = 51</a:t>
            </a:r>
            <a:endParaRPr lang="en-US" dirty="0"/>
          </a:p>
        </p:txBody>
      </p:sp>
      <p:sp>
        <p:nvSpPr>
          <p:cNvPr id="11" name="Rectangle 10"/>
          <p:cNvSpPr/>
          <p:nvPr/>
        </p:nvSpPr>
        <p:spPr>
          <a:xfrm>
            <a:off x="533400" y="6550223"/>
            <a:ext cx="2235997" cy="276999"/>
          </a:xfrm>
          <a:prstGeom prst="rect">
            <a:avLst/>
          </a:prstGeom>
        </p:spPr>
        <p:txBody>
          <a:bodyPr wrap="none">
            <a:spAutoFit/>
          </a:bodyPr>
          <a:lstStyle/>
          <a:p>
            <a:r>
              <a:rPr lang="en-US" sz="1200" dirty="0"/>
              <a:t>https://www.cse.ohio-state.edu/</a:t>
            </a:r>
          </a:p>
        </p:txBody>
      </p:sp>
    </p:spTree>
    <p:extLst>
      <p:ext uri="{BB962C8B-B14F-4D97-AF65-F5344CB8AC3E}">
        <p14:creationId xmlns:p14="http://schemas.microsoft.com/office/powerpoint/2010/main" val="3832528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47</a:t>
            </a:fld>
            <a:endParaRPr lang="en-US"/>
          </a:p>
        </p:txBody>
      </p:sp>
      <p:sp>
        <p:nvSpPr>
          <p:cNvPr id="5" name="Title 4"/>
          <p:cNvSpPr>
            <a:spLocks noGrp="1"/>
          </p:cNvSpPr>
          <p:nvPr>
            <p:ph type="title"/>
          </p:nvPr>
        </p:nvSpPr>
        <p:spPr/>
        <p:txBody>
          <a:bodyPr/>
          <a:lstStyle/>
          <a:p>
            <a:r>
              <a:rPr lang="en-US" dirty="0"/>
              <a:t>3. </a:t>
            </a:r>
            <a:r>
              <a:rPr lang="en-US" dirty="0" err="1"/>
              <a:t>Giải</a:t>
            </a:r>
            <a:r>
              <a:rPr lang="en-US" dirty="0"/>
              <a:t> </a:t>
            </a:r>
            <a:r>
              <a:rPr lang="en-US" dirty="0" err="1"/>
              <a:t>thuật</a:t>
            </a:r>
            <a:r>
              <a:rPr lang="en-US" dirty="0"/>
              <a:t> quay </a:t>
            </a:r>
            <a:r>
              <a:rPr lang="en-US" dirty="0" err="1"/>
              <a:t>lui</a:t>
            </a:r>
            <a:endParaRPr lang="en-US" dirty="0"/>
          </a:p>
        </p:txBody>
      </p:sp>
      <p:sp>
        <p:nvSpPr>
          <p:cNvPr id="2" name="Content Placeholder 1"/>
          <p:cNvSpPr>
            <a:spLocks noGrp="1"/>
          </p:cNvSpPr>
          <p:nvPr>
            <p:ph type="body" sz="quarter" idx="13"/>
          </p:nvPr>
        </p:nvSpPr>
        <p:spPr>
          <a:xfrm>
            <a:off x="234951" y="963168"/>
            <a:ext cx="4032249" cy="5132832"/>
          </a:xfrm>
        </p:spPr>
        <p:txBody>
          <a:bodyPr>
            <a:normAutofit/>
          </a:bodyPr>
          <a:lstStyle/>
          <a:p>
            <a:r>
              <a:rPr lang="en-US" sz="2400" dirty="0" err="1" smtClean="0"/>
              <a:t>Bài</a:t>
            </a:r>
            <a:r>
              <a:rPr lang="en-US" sz="2400" dirty="0" smtClean="0"/>
              <a:t> </a:t>
            </a:r>
            <a:r>
              <a:rPr lang="en-US" sz="2400" dirty="0" err="1" smtClean="0"/>
              <a:t>toán</a:t>
            </a:r>
            <a:r>
              <a:rPr lang="en-US" sz="2400" dirty="0" smtClean="0"/>
              <a:t> </a:t>
            </a:r>
            <a:r>
              <a:rPr lang="en-US" sz="2400" dirty="0" err="1" smtClean="0"/>
              <a:t>sắp</a:t>
            </a:r>
            <a:r>
              <a:rPr lang="en-US" sz="2400" dirty="0" smtClean="0"/>
              <a:t> </a:t>
            </a:r>
            <a:r>
              <a:rPr lang="en-US" sz="2400" dirty="0" err="1" smtClean="0"/>
              <a:t>quân</a:t>
            </a:r>
            <a:r>
              <a:rPr lang="en-US" sz="2400" dirty="0" smtClean="0"/>
              <a:t> </a:t>
            </a:r>
            <a:r>
              <a:rPr lang="en-US" sz="2400" dirty="0" err="1" smtClean="0"/>
              <a:t>hậu</a:t>
            </a:r>
            <a:endParaRPr lang="en-US" sz="2400" dirty="0" smtClean="0"/>
          </a:p>
          <a:p>
            <a:pPr lvl="1"/>
            <a:r>
              <a:rPr lang="vi-VN" sz="2000" dirty="0"/>
              <a:t>Xét một bàn cờ </a:t>
            </a:r>
            <a:r>
              <a:rPr lang="vi-VN" sz="2000" i="1" dirty="0"/>
              <a:t>n x n</a:t>
            </a:r>
            <a:r>
              <a:rPr lang="vi-VN" sz="2000" dirty="0"/>
              <a:t>, </a:t>
            </a:r>
            <a:r>
              <a:rPr lang="en-US" sz="2000" dirty="0" err="1" smtClean="0"/>
              <a:t>tìm</a:t>
            </a:r>
            <a:r>
              <a:rPr lang="en-US" sz="2000" dirty="0" smtClean="0"/>
              <a:t> </a:t>
            </a:r>
            <a:r>
              <a:rPr lang="en-US" sz="2000" dirty="0" err="1" smtClean="0"/>
              <a:t>cách</a:t>
            </a:r>
            <a:r>
              <a:rPr lang="en-US" sz="2000" dirty="0" smtClean="0"/>
              <a:t> </a:t>
            </a:r>
            <a:r>
              <a:rPr lang="vi-VN" sz="2000" dirty="0" smtClean="0"/>
              <a:t>đặt </a:t>
            </a:r>
            <a:r>
              <a:rPr lang="vi-VN" sz="2000" i="1" dirty="0"/>
              <a:t>n</a:t>
            </a:r>
            <a:r>
              <a:rPr lang="vi-VN" sz="2000" dirty="0"/>
              <a:t> quân hậu trên bàn cờ mà không có quân hậu nào </a:t>
            </a:r>
            <a:r>
              <a:rPr lang="en-US" sz="2000" dirty="0" err="1" smtClean="0"/>
              <a:t>ăn</a:t>
            </a:r>
            <a:r>
              <a:rPr lang="en-US" sz="2000" dirty="0" smtClean="0"/>
              <a:t> </a:t>
            </a:r>
            <a:r>
              <a:rPr lang="vi-VN" sz="2000" dirty="0" smtClean="0"/>
              <a:t>nhau.</a:t>
            </a:r>
            <a:endParaRPr lang="en-US" sz="2000" dirty="0" smtClean="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200" y="78615"/>
            <a:ext cx="4855029" cy="6779545"/>
          </a:xfrm>
          <a:prstGeom prst="rect">
            <a:avLst/>
          </a:prstGeom>
        </p:spPr>
      </p:pic>
      <p:sp>
        <p:nvSpPr>
          <p:cNvPr id="7" name="TextBox 6"/>
          <p:cNvSpPr txBox="1"/>
          <p:nvPr/>
        </p:nvSpPr>
        <p:spPr>
          <a:xfrm>
            <a:off x="3552275" y="2997243"/>
            <a:ext cx="704039" cy="369332"/>
          </a:xfrm>
          <a:prstGeom prst="rect">
            <a:avLst/>
          </a:prstGeom>
          <a:noFill/>
        </p:spPr>
        <p:txBody>
          <a:bodyPr wrap="none" rtlCol="0">
            <a:spAutoFit/>
          </a:bodyPr>
          <a:lstStyle/>
          <a:p>
            <a:r>
              <a:rPr lang="en-US" dirty="0" smtClean="0"/>
              <a:t>n = 4</a:t>
            </a:r>
            <a:endParaRPr lang="en-US" dirty="0"/>
          </a:p>
        </p:txBody>
      </p:sp>
      <p:sp>
        <p:nvSpPr>
          <p:cNvPr id="8" name="Rectangle 7"/>
          <p:cNvSpPr/>
          <p:nvPr/>
        </p:nvSpPr>
        <p:spPr>
          <a:xfrm>
            <a:off x="25400" y="5842084"/>
            <a:ext cx="4241800" cy="507831"/>
          </a:xfrm>
          <a:prstGeom prst="rect">
            <a:avLst/>
          </a:prstGeom>
        </p:spPr>
        <p:txBody>
          <a:bodyPr wrap="square">
            <a:spAutoFit/>
          </a:bodyPr>
          <a:lstStyle/>
          <a:p>
            <a:r>
              <a:rPr lang="en-US" sz="900" dirty="0" err="1"/>
              <a:t>Ayub</a:t>
            </a:r>
            <a:r>
              <a:rPr lang="en-US" sz="900" dirty="0"/>
              <a:t>, Ahsan &amp; </a:t>
            </a:r>
            <a:r>
              <a:rPr lang="en-US" sz="900" dirty="0" err="1"/>
              <a:t>Kalpoma</a:t>
            </a:r>
            <a:r>
              <a:rPr lang="en-US" sz="900" dirty="0"/>
              <a:t>, </a:t>
            </a:r>
            <a:r>
              <a:rPr lang="en-US" sz="900" dirty="0" err="1"/>
              <a:t>Kazi</a:t>
            </a:r>
            <a:r>
              <a:rPr lang="en-US" sz="900" dirty="0"/>
              <a:t> &amp; </a:t>
            </a:r>
            <a:r>
              <a:rPr lang="en-US" sz="900" dirty="0" err="1"/>
              <a:t>Proma</a:t>
            </a:r>
            <a:r>
              <a:rPr lang="en-US" sz="900" dirty="0"/>
              <a:t>, </a:t>
            </a:r>
            <a:r>
              <a:rPr lang="en-US" sz="900" dirty="0" err="1"/>
              <a:t>Humaira</a:t>
            </a:r>
            <a:r>
              <a:rPr lang="en-US" sz="900" dirty="0"/>
              <a:t> &amp; </a:t>
            </a:r>
            <a:r>
              <a:rPr lang="en-US" sz="900" dirty="0" err="1"/>
              <a:t>Kabir</a:t>
            </a:r>
            <a:r>
              <a:rPr lang="en-US" sz="900" dirty="0"/>
              <a:t>, Syed &amp; Chowdhury, </a:t>
            </a:r>
            <a:r>
              <a:rPr lang="en-US" sz="900" dirty="0" err="1"/>
              <a:t>Rakib</a:t>
            </a:r>
            <a:r>
              <a:rPr lang="en-US" sz="900" dirty="0"/>
              <a:t>. (2017). Exhaustive study of essential constraint satisfaction problem techniques based on N-Queens problem. 1-6. 10.1109/ICCITECHN.2017.8281850. </a:t>
            </a:r>
          </a:p>
        </p:txBody>
      </p:sp>
    </p:spTree>
    <p:extLst>
      <p:ext uri="{BB962C8B-B14F-4D97-AF65-F5344CB8AC3E}">
        <p14:creationId xmlns:p14="http://schemas.microsoft.com/office/powerpoint/2010/main" val="245050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1"/>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400" dirty="0"/>
          </a:p>
        </p:txBody>
      </p:sp>
      <p:sp>
        <p:nvSpPr>
          <p:cNvPr id="32771" name="Slide Number Placeholder 4"/>
          <p:cNvSpPr>
            <a:spLocks noGrp="1"/>
          </p:cNvSpPr>
          <p:nvPr>
            <p:ph type="sldNum" sz="quarter" idx="12"/>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400" dirty="0"/>
          </a:p>
        </p:txBody>
      </p:sp>
      <p:sp>
        <p:nvSpPr>
          <p:cNvPr id="32772" name="Rectangle 2"/>
          <p:cNvSpPr>
            <a:spLocks noGrp="1" noChangeArrowheads="1"/>
          </p:cNvSpPr>
          <p:nvPr>
            <p:ph type="title"/>
          </p:nvPr>
        </p:nvSpPr>
        <p:spPr/>
        <p:txBody>
          <a:bodyPr/>
          <a:lstStyle/>
          <a:p>
            <a:pPr eaLnBrk="1" hangingPunct="1"/>
            <a:r>
              <a:rPr lang="en-US" altLang="en-US" smtClean="0"/>
              <a:t>Bài tập</a:t>
            </a:r>
          </a:p>
        </p:txBody>
      </p:sp>
      <p:sp>
        <p:nvSpPr>
          <p:cNvPr id="32773" name="Rectangle 3"/>
          <p:cNvSpPr>
            <a:spLocks noGrp="1" noChangeArrowheads="1"/>
          </p:cNvSpPr>
          <p:nvPr>
            <p:ph type="body" sz="quarter" idx="13"/>
          </p:nvPr>
        </p:nvSpPr>
        <p:spPr/>
        <p:txBody>
          <a:bodyPr/>
          <a:lstStyle/>
          <a:p>
            <a:pPr eaLnBrk="1" hangingPunct="1"/>
            <a:r>
              <a:rPr lang="en-US" altLang="en-US" dirty="0" err="1" smtClean="0"/>
              <a:t>Bài</a:t>
            </a:r>
            <a:r>
              <a:rPr lang="en-US" altLang="en-US" dirty="0" smtClean="0"/>
              <a:t> 1: </a:t>
            </a:r>
            <a:r>
              <a:rPr lang="en-US" dirty="0" err="1"/>
              <a:t>Viết</a:t>
            </a:r>
            <a:r>
              <a:rPr lang="en-US" dirty="0"/>
              <a:t> </a:t>
            </a:r>
            <a:r>
              <a:rPr lang="en-US" dirty="0" err="1"/>
              <a:t>thủ</a:t>
            </a:r>
            <a:r>
              <a:rPr lang="en-US" dirty="0"/>
              <a:t> </a:t>
            </a:r>
            <a:r>
              <a:rPr lang="en-US" dirty="0" err="1"/>
              <a:t>tục</a:t>
            </a:r>
            <a:r>
              <a:rPr lang="en-US" dirty="0"/>
              <a:t> </a:t>
            </a:r>
            <a:r>
              <a:rPr lang="en-US" dirty="0" err="1"/>
              <a:t>đệ</a:t>
            </a:r>
            <a:r>
              <a:rPr lang="en-US" dirty="0"/>
              <a:t> </a:t>
            </a:r>
            <a:r>
              <a:rPr lang="en-US" dirty="0" err="1"/>
              <a:t>quy</a:t>
            </a:r>
            <a:r>
              <a:rPr lang="en-US" dirty="0"/>
              <a:t> </a:t>
            </a:r>
            <a:r>
              <a:rPr lang="en-US" dirty="0" err="1"/>
              <a:t>tính</a:t>
            </a:r>
            <a:r>
              <a:rPr lang="en-US" dirty="0"/>
              <a:t> </a:t>
            </a:r>
            <a:r>
              <a:rPr lang="en-US" dirty="0" err="1"/>
              <a:t>tổng</a:t>
            </a:r>
            <a:r>
              <a:rPr lang="en-US" dirty="0"/>
              <a:t> </a:t>
            </a:r>
            <a:r>
              <a:rPr lang="en-US" dirty="0" err="1"/>
              <a:t>của</a:t>
            </a:r>
            <a:r>
              <a:rPr lang="en-US" dirty="0"/>
              <a:t> </a:t>
            </a:r>
            <a:r>
              <a:rPr lang="en-US" dirty="0" err="1"/>
              <a:t>các</a:t>
            </a:r>
            <a:r>
              <a:rPr lang="en-US" dirty="0"/>
              <a:t> </a:t>
            </a:r>
            <a:r>
              <a:rPr lang="en-US" dirty="0" err="1"/>
              <a:t>phần</a:t>
            </a:r>
            <a:r>
              <a:rPr lang="en-US" dirty="0"/>
              <a:t> </a:t>
            </a:r>
            <a:r>
              <a:rPr lang="en-US" dirty="0" err="1"/>
              <a:t>tử</a:t>
            </a:r>
            <a:r>
              <a:rPr lang="en-US" dirty="0"/>
              <a:t> </a:t>
            </a:r>
            <a:r>
              <a:rPr lang="en-US" dirty="0" err="1"/>
              <a:t>trong</a:t>
            </a:r>
            <a:r>
              <a:rPr lang="en-US" dirty="0"/>
              <a:t> </a:t>
            </a:r>
            <a:r>
              <a:rPr lang="en-US" dirty="0" err="1"/>
              <a:t>một</a:t>
            </a:r>
            <a:r>
              <a:rPr lang="en-US" dirty="0"/>
              <a:t> </a:t>
            </a:r>
            <a:r>
              <a:rPr lang="en-US" dirty="0" err="1"/>
              <a:t>mảng</a:t>
            </a:r>
            <a:endParaRPr lang="en-US" altLang="en-US" dirty="0" smtClean="0"/>
          </a:p>
          <a:p>
            <a:pPr eaLnBrk="1" hangingPunct="1"/>
            <a:r>
              <a:rPr lang="en-US" altLang="en-US" dirty="0" err="1" smtClean="0"/>
              <a:t>Bài</a:t>
            </a:r>
            <a:r>
              <a:rPr lang="en-US" altLang="en-US" dirty="0" smtClean="0"/>
              <a:t> 2: </a:t>
            </a:r>
            <a:r>
              <a:rPr lang="en-US" dirty="0" err="1"/>
              <a:t>Viết</a:t>
            </a:r>
            <a:r>
              <a:rPr lang="en-US" dirty="0"/>
              <a:t> </a:t>
            </a:r>
            <a:r>
              <a:rPr lang="en-US" dirty="0" err="1"/>
              <a:t>thủ</a:t>
            </a:r>
            <a:r>
              <a:rPr lang="en-US" dirty="0"/>
              <a:t> </a:t>
            </a:r>
            <a:r>
              <a:rPr lang="en-US" dirty="0" err="1"/>
              <a:t>tục</a:t>
            </a:r>
            <a:r>
              <a:rPr lang="en-US" dirty="0"/>
              <a:t> </a:t>
            </a:r>
            <a:r>
              <a:rPr lang="en-US" dirty="0" err="1"/>
              <a:t>đệ</a:t>
            </a:r>
            <a:r>
              <a:rPr lang="en-US" dirty="0"/>
              <a:t> </a:t>
            </a:r>
            <a:r>
              <a:rPr lang="en-US" dirty="0" err="1"/>
              <a:t>quy</a:t>
            </a:r>
            <a:r>
              <a:rPr lang="en-US" dirty="0"/>
              <a:t> </a:t>
            </a:r>
            <a:r>
              <a:rPr lang="en-US" dirty="0" err="1"/>
              <a:t>tính</a:t>
            </a:r>
            <a:r>
              <a:rPr lang="en-US" dirty="0"/>
              <a:t> </a:t>
            </a:r>
            <a:r>
              <a:rPr lang="en-US" dirty="0" err="1"/>
              <a:t>tổng</a:t>
            </a:r>
            <a:r>
              <a:rPr lang="en-US" dirty="0"/>
              <a:t> </a:t>
            </a:r>
            <a:r>
              <a:rPr lang="en-US" dirty="0" err="1"/>
              <a:t>các</a:t>
            </a:r>
            <a:r>
              <a:rPr lang="en-US" dirty="0"/>
              <a:t> </a:t>
            </a:r>
            <a:r>
              <a:rPr lang="en-US" dirty="0" err="1"/>
              <a:t>chữ</a:t>
            </a:r>
            <a:r>
              <a:rPr lang="en-US" dirty="0"/>
              <a:t> </a:t>
            </a:r>
            <a:r>
              <a:rPr lang="en-US" dirty="0" err="1"/>
              <a:t>số</a:t>
            </a:r>
            <a:r>
              <a:rPr lang="en-US" dirty="0"/>
              <a:t> </a:t>
            </a:r>
            <a:r>
              <a:rPr lang="en-US" dirty="0" err="1"/>
              <a:t>biểu</a:t>
            </a:r>
            <a:r>
              <a:rPr lang="en-US" dirty="0"/>
              <a:t> </a:t>
            </a:r>
            <a:r>
              <a:rPr lang="en-US" dirty="0" err="1"/>
              <a:t>diễn</a:t>
            </a:r>
            <a:r>
              <a:rPr lang="en-US" dirty="0"/>
              <a:t> </a:t>
            </a:r>
            <a:r>
              <a:rPr lang="en-US" dirty="0" err="1"/>
              <a:t>một</a:t>
            </a:r>
            <a:r>
              <a:rPr lang="en-US" dirty="0"/>
              <a:t> </a:t>
            </a:r>
            <a:r>
              <a:rPr lang="en-US" dirty="0" err="1"/>
              <a:t>số</a:t>
            </a:r>
            <a:r>
              <a:rPr lang="en-US" dirty="0"/>
              <a:t> </a:t>
            </a:r>
            <a:r>
              <a:rPr lang="en-US" dirty="0" err="1"/>
              <a:t>nguyên</a:t>
            </a:r>
            <a:r>
              <a:rPr lang="en-US" dirty="0"/>
              <a:t> </a:t>
            </a:r>
            <a:r>
              <a:rPr lang="en-US" dirty="0" err="1"/>
              <a:t>có</a:t>
            </a:r>
            <a:r>
              <a:rPr lang="en-US" dirty="0"/>
              <a:t> n </a:t>
            </a:r>
            <a:r>
              <a:rPr lang="en-US" dirty="0" err="1"/>
              <a:t>chữ</a:t>
            </a:r>
            <a:r>
              <a:rPr lang="en-US" dirty="0"/>
              <a:t> </a:t>
            </a:r>
            <a:r>
              <a:rPr lang="en-US" dirty="0" err="1"/>
              <a:t>số</a:t>
            </a:r>
            <a:r>
              <a:rPr lang="en-US" dirty="0"/>
              <a:t> </a:t>
            </a:r>
            <a:endParaRPr lang="en-US" dirty="0" smtClean="0"/>
          </a:p>
          <a:p>
            <a:pPr eaLnBrk="1" hangingPunct="1"/>
            <a:r>
              <a:rPr lang="en-US" altLang="en-US" dirty="0" err="1"/>
              <a:t>Bài</a:t>
            </a:r>
            <a:r>
              <a:rPr lang="en-US" altLang="en-US" dirty="0"/>
              <a:t> </a:t>
            </a:r>
            <a:r>
              <a:rPr lang="en-US" altLang="en-US" dirty="0" smtClean="0"/>
              <a:t>3: </a:t>
            </a:r>
            <a:r>
              <a:rPr lang="en-US" altLang="en-US" dirty="0" err="1"/>
              <a:t>Viết</a:t>
            </a:r>
            <a:r>
              <a:rPr lang="en-US" altLang="en-US" dirty="0"/>
              <a:t> </a:t>
            </a:r>
            <a:r>
              <a:rPr lang="en-US" altLang="en-US" dirty="0" err="1" smtClean="0"/>
              <a:t>thủ</a:t>
            </a:r>
            <a:r>
              <a:rPr lang="en-US" altLang="en-US" dirty="0" smtClean="0"/>
              <a:t> </a:t>
            </a:r>
            <a:r>
              <a:rPr lang="en-US" altLang="en-US" dirty="0" err="1" smtClean="0"/>
              <a:t>tục</a:t>
            </a:r>
            <a:r>
              <a:rPr lang="en-US" altLang="en-US" dirty="0" smtClean="0"/>
              <a:t> </a:t>
            </a:r>
            <a:r>
              <a:rPr lang="en-US" altLang="en-US" dirty="0" err="1" smtClean="0"/>
              <a:t>đệ</a:t>
            </a:r>
            <a:r>
              <a:rPr lang="en-US" altLang="en-US" dirty="0" smtClean="0"/>
              <a:t> </a:t>
            </a:r>
            <a:r>
              <a:rPr lang="en-US" altLang="en-US" dirty="0" err="1" smtClean="0"/>
              <a:t>quy</a:t>
            </a:r>
            <a:r>
              <a:rPr lang="en-US" altLang="en-US" dirty="0" smtClean="0"/>
              <a:t> </a:t>
            </a:r>
            <a:r>
              <a:rPr lang="en-US" altLang="en-US" dirty="0" err="1" smtClean="0"/>
              <a:t>tìm</a:t>
            </a:r>
            <a:r>
              <a:rPr lang="en-US" altLang="en-US" dirty="0" smtClean="0"/>
              <a:t> </a:t>
            </a:r>
            <a:r>
              <a:rPr lang="en-US" altLang="en-US" dirty="0" err="1" smtClean="0"/>
              <a:t>số</a:t>
            </a:r>
            <a:r>
              <a:rPr lang="en-US" altLang="en-US" dirty="0" smtClean="0"/>
              <a:t> </a:t>
            </a:r>
            <a:r>
              <a:rPr lang="en-US" altLang="en-US" dirty="0" err="1" smtClean="0"/>
              <a:t>nhỏ</a:t>
            </a:r>
            <a:r>
              <a:rPr lang="en-US" altLang="en-US" dirty="0" smtClean="0"/>
              <a:t> </a:t>
            </a:r>
            <a:r>
              <a:rPr lang="en-US" altLang="en-US" dirty="0" err="1" smtClean="0"/>
              <a:t>nhất</a:t>
            </a:r>
            <a:r>
              <a:rPr lang="en-US" altLang="en-US" dirty="0" smtClean="0"/>
              <a:t> </a:t>
            </a:r>
            <a:r>
              <a:rPr lang="en-US" altLang="en-US" dirty="0" err="1" smtClean="0"/>
              <a:t>trong</a:t>
            </a:r>
            <a:r>
              <a:rPr lang="en-US" altLang="en-US" dirty="0" smtClean="0"/>
              <a:t> </a:t>
            </a:r>
            <a:r>
              <a:rPr lang="en-US" altLang="en-US" dirty="0" err="1" smtClean="0"/>
              <a:t>một</a:t>
            </a:r>
            <a:r>
              <a:rPr lang="en-US" altLang="en-US" dirty="0" smtClean="0"/>
              <a:t> </a:t>
            </a:r>
            <a:r>
              <a:rPr lang="en-US" altLang="en-US" dirty="0" err="1" smtClean="0"/>
              <a:t>dãy</a:t>
            </a:r>
            <a:r>
              <a:rPr lang="en-US" altLang="en-US" dirty="0" smtClean="0"/>
              <a:t> N </a:t>
            </a:r>
            <a:r>
              <a:rPr lang="en-US" altLang="en-US" dirty="0" err="1" smtClean="0"/>
              <a:t>số</a:t>
            </a:r>
            <a:r>
              <a:rPr lang="en-US" altLang="en-US" dirty="0" smtClean="0"/>
              <a:t>.</a:t>
            </a:r>
          </a:p>
          <a:p>
            <a:pPr eaLnBrk="1" hangingPunct="1"/>
            <a:r>
              <a:rPr lang="en-US" altLang="en-US" dirty="0" err="1" smtClean="0"/>
              <a:t>Bài</a:t>
            </a:r>
            <a:r>
              <a:rPr lang="en-US" altLang="en-US" dirty="0" smtClean="0"/>
              <a:t> 4: </a:t>
            </a:r>
            <a:r>
              <a:rPr lang="en-US" altLang="en-US" dirty="0" err="1" smtClean="0"/>
              <a:t>Viết</a:t>
            </a:r>
            <a:r>
              <a:rPr lang="en-US" altLang="en-US" dirty="0" smtClean="0"/>
              <a:t> </a:t>
            </a:r>
            <a:r>
              <a:rPr lang="en-US" altLang="en-US" dirty="0" err="1" smtClean="0"/>
              <a:t>thủ</a:t>
            </a:r>
            <a:r>
              <a:rPr lang="en-US" altLang="en-US" dirty="0" smtClean="0"/>
              <a:t> </a:t>
            </a:r>
            <a:r>
              <a:rPr lang="en-US" altLang="en-US" dirty="0" err="1" smtClean="0"/>
              <a:t>tục</a:t>
            </a:r>
            <a:r>
              <a:rPr lang="en-US" altLang="en-US" dirty="0" smtClean="0"/>
              <a:t> </a:t>
            </a:r>
            <a:r>
              <a:rPr lang="en-US" altLang="en-US" dirty="0" err="1" smtClean="0"/>
              <a:t>đệ</a:t>
            </a:r>
            <a:r>
              <a:rPr lang="en-US" altLang="en-US" dirty="0" smtClean="0"/>
              <a:t> </a:t>
            </a:r>
            <a:r>
              <a:rPr lang="en-US" altLang="en-US" dirty="0" err="1" smtClean="0"/>
              <a:t>quy</a:t>
            </a:r>
            <a:r>
              <a:rPr lang="en-US" altLang="en-US" dirty="0" smtClean="0"/>
              <a:t> </a:t>
            </a:r>
            <a:r>
              <a:rPr lang="en-US" altLang="en-US" dirty="0" err="1" smtClean="0"/>
              <a:t>tìm</a:t>
            </a:r>
            <a:r>
              <a:rPr lang="en-US" altLang="en-US" dirty="0" smtClean="0"/>
              <a:t> </a:t>
            </a:r>
            <a:r>
              <a:rPr lang="en-US" altLang="en-US" dirty="0" err="1" smtClean="0"/>
              <a:t>ước</a:t>
            </a:r>
            <a:r>
              <a:rPr lang="en-US" altLang="en-US" dirty="0" smtClean="0"/>
              <a:t> </a:t>
            </a:r>
            <a:r>
              <a:rPr lang="en-US" altLang="en-US" dirty="0" err="1" smtClean="0"/>
              <a:t>chung</a:t>
            </a:r>
            <a:r>
              <a:rPr lang="en-US" altLang="en-US" dirty="0" smtClean="0"/>
              <a:t> </a:t>
            </a:r>
            <a:r>
              <a:rPr lang="en-US" altLang="en-US" dirty="0" err="1" smtClean="0"/>
              <a:t>lớn</a:t>
            </a:r>
            <a:r>
              <a:rPr lang="en-US" altLang="en-US" dirty="0" smtClean="0"/>
              <a:t> </a:t>
            </a:r>
            <a:r>
              <a:rPr lang="en-US" altLang="en-US" dirty="0" err="1" smtClean="0"/>
              <a:t>nhất</a:t>
            </a:r>
            <a:r>
              <a:rPr lang="en-US" altLang="en-US" dirty="0" smtClean="0"/>
              <a:t> </a:t>
            </a:r>
            <a:r>
              <a:rPr lang="en-US" altLang="en-US" dirty="0" err="1" smtClean="0"/>
              <a:t>của</a:t>
            </a:r>
            <a:r>
              <a:rPr lang="en-US" altLang="en-US" dirty="0" smtClean="0"/>
              <a:t> 2 </a:t>
            </a:r>
            <a:r>
              <a:rPr lang="en-US" altLang="en-US" dirty="0" err="1" smtClean="0"/>
              <a:t>số</a:t>
            </a:r>
            <a:r>
              <a:rPr lang="en-US" altLang="en-US" dirty="0" smtClean="0"/>
              <a:t> </a:t>
            </a:r>
            <a:r>
              <a:rPr lang="en-US" altLang="en-US" dirty="0" err="1" smtClean="0"/>
              <a:t>nguyên</a:t>
            </a:r>
            <a:endParaRPr lang="en-US" altLang="en-US" dirty="0" smtClean="0"/>
          </a:p>
          <a:p>
            <a:pPr eaLnBrk="1" hangingPunct="1"/>
            <a:r>
              <a:rPr lang="en-US" altLang="en-US" dirty="0" err="1" smtClean="0"/>
              <a:t>Bài</a:t>
            </a:r>
            <a:r>
              <a:rPr lang="en-US" altLang="en-US" dirty="0" smtClean="0"/>
              <a:t> 5: </a:t>
            </a:r>
            <a:r>
              <a:rPr lang="en-US" altLang="en-US" dirty="0" err="1" smtClean="0"/>
              <a:t>Viết</a:t>
            </a:r>
            <a:r>
              <a:rPr lang="en-US" altLang="en-US" dirty="0" smtClean="0"/>
              <a:t> </a:t>
            </a:r>
            <a:r>
              <a:rPr lang="en-US" altLang="en-US" dirty="0" err="1"/>
              <a:t>thủ</a:t>
            </a:r>
            <a:r>
              <a:rPr lang="en-US" altLang="en-US" dirty="0"/>
              <a:t> </a:t>
            </a:r>
            <a:r>
              <a:rPr lang="en-US" altLang="en-US" dirty="0" err="1"/>
              <a:t>tục</a:t>
            </a:r>
            <a:r>
              <a:rPr lang="en-US" altLang="en-US" dirty="0"/>
              <a:t> </a:t>
            </a:r>
            <a:r>
              <a:rPr lang="en-US" altLang="en-US" dirty="0" err="1"/>
              <a:t>đệ</a:t>
            </a:r>
            <a:r>
              <a:rPr lang="en-US" altLang="en-US" dirty="0"/>
              <a:t> </a:t>
            </a:r>
            <a:r>
              <a:rPr lang="en-US" altLang="en-US" dirty="0" err="1" smtClean="0"/>
              <a:t>quy</a:t>
            </a:r>
            <a:r>
              <a:rPr lang="en-US" altLang="en-US" dirty="0" smtClean="0"/>
              <a:t> </a:t>
            </a:r>
            <a:r>
              <a:rPr lang="en-US" altLang="en-US" dirty="0" err="1" smtClean="0"/>
              <a:t>tính</a:t>
            </a:r>
            <a:r>
              <a:rPr lang="en-US" altLang="en-US" dirty="0" smtClean="0"/>
              <a:t> </a:t>
            </a:r>
            <a:r>
              <a:rPr lang="en-US" altLang="en-US" dirty="0" err="1" smtClean="0"/>
              <a:t>x</a:t>
            </a:r>
            <a:r>
              <a:rPr lang="en-US" altLang="en-US" baseline="30000" dirty="0" err="1" smtClean="0"/>
              <a:t>y</a:t>
            </a:r>
            <a:endParaRPr lang="en-US" altLang="en-US" baseline="30000" dirty="0" smtClean="0"/>
          </a:p>
          <a:p>
            <a:pPr eaLnBrk="1" hangingPunct="1"/>
            <a:endParaRPr lang="en-US" altLang="en-US" dirty="0" smtClean="0"/>
          </a:p>
          <a:p>
            <a:pPr eaLnBrk="1" hangingPunct="1"/>
            <a:endParaRPr lang="en-US" altLang="en-US" dirty="0" smtClean="0"/>
          </a:p>
        </p:txBody>
      </p:sp>
    </p:spTree>
    <p:extLst>
      <p:ext uri="{BB962C8B-B14F-4D97-AF65-F5344CB8AC3E}">
        <p14:creationId xmlns:p14="http://schemas.microsoft.com/office/powerpoint/2010/main" val="365959184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49</a:t>
            </a:fld>
            <a:endParaRPr lang="en-US"/>
          </a:p>
        </p:txBody>
      </p:sp>
      <p:sp>
        <p:nvSpPr>
          <p:cNvPr id="6" name="Title 5"/>
          <p:cNvSpPr>
            <a:spLocks noGrp="1"/>
          </p:cNvSpPr>
          <p:nvPr>
            <p:ph type="title"/>
          </p:nvPr>
        </p:nvSpPr>
        <p:spPr/>
        <p:txBody>
          <a:bodyPr/>
          <a:lstStyle/>
          <a:p>
            <a:endParaRPr lang="en-US"/>
          </a:p>
        </p:txBody>
      </p:sp>
      <p:sp>
        <p:nvSpPr>
          <p:cNvPr id="7" name="Text Placeholder 6"/>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56787506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50</a:t>
            </a:fld>
            <a:endParaRPr lang="en-US"/>
          </a:p>
        </p:txBody>
      </p:sp>
      <p:sp>
        <p:nvSpPr>
          <p:cNvPr id="4" name="Title 3"/>
          <p:cNvSpPr>
            <a:spLocks noGrp="1"/>
          </p:cNvSpPr>
          <p:nvPr>
            <p:ph type="title"/>
          </p:nvPr>
        </p:nvSpPr>
        <p:spPr/>
        <p:txBody>
          <a:bodyPr/>
          <a:lstStyle/>
          <a:p>
            <a:endParaRPr lang="en-US"/>
          </a:p>
        </p:txBody>
      </p:sp>
      <p:sp>
        <p:nvSpPr>
          <p:cNvPr id="5" name="Text Placeholder 4"/>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57842982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51</a:t>
            </a:fld>
            <a:endParaRPr lang="en-US"/>
          </a:p>
        </p:txBody>
      </p:sp>
      <p:sp>
        <p:nvSpPr>
          <p:cNvPr id="4" name="Title 3"/>
          <p:cNvSpPr>
            <a:spLocks noGrp="1"/>
          </p:cNvSpPr>
          <p:nvPr>
            <p:ph type="title"/>
          </p:nvPr>
        </p:nvSpPr>
        <p:spPr/>
        <p:txBody>
          <a:bodyPr/>
          <a:lstStyle/>
          <a:p>
            <a:r>
              <a:rPr lang="en-US" dirty="0" err="1" smtClean="0"/>
              <a:t>Khử</a:t>
            </a:r>
            <a:r>
              <a:rPr lang="en-US" dirty="0" smtClean="0"/>
              <a:t> </a:t>
            </a:r>
            <a:r>
              <a:rPr lang="en-US" dirty="0" err="1" smtClean="0"/>
              <a:t>đệ</a:t>
            </a:r>
            <a:r>
              <a:rPr lang="en-US" dirty="0" smtClean="0"/>
              <a:t> </a:t>
            </a:r>
            <a:r>
              <a:rPr lang="en-US" dirty="0" err="1" smtClean="0"/>
              <a:t>quy</a:t>
            </a:r>
            <a:endParaRPr lang="en-US" dirty="0"/>
          </a:p>
        </p:txBody>
      </p:sp>
      <p:sp>
        <p:nvSpPr>
          <p:cNvPr id="6" name="Rectangle 5"/>
          <p:cNvSpPr/>
          <p:nvPr/>
        </p:nvSpPr>
        <p:spPr>
          <a:xfrm>
            <a:off x="152400" y="685800"/>
            <a:ext cx="4876800" cy="4247317"/>
          </a:xfrm>
          <a:prstGeom prst="rect">
            <a:avLst/>
          </a:prstGeom>
        </p:spPr>
        <p:txBody>
          <a:bodyPr wrap="square">
            <a:spAutoFit/>
          </a:bodyPr>
          <a:lstStyle/>
          <a:p>
            <a:r>
              <a:rPr lang="en-US" dirty="0"/>
              <a:t>#include &lt;</a:t>
            </a:r>
            <a:r>
              <a:rPr lang="en-US" dirty="0" err="1"/>
              <a:t>stdio.h</a:t>
            </a:r>
            <a:r>
              <a:rPr lang="en-US" dirty="0" smtClean="0"/>
              <a:t>&gt;</a:t>
            </a:r>
          </a:p>
          <a:p>
            <a:r>
              <a:rPr lang="en-US" dirty="0" err="1" smtClean="0"/>
              <a:t>int</a:t>
            </a:r>
            <a:r>
              <a:rPr lang="en-US" dirty="0" smtClean="0"/>
              <a:t> </a:t>
            </a:r>
            <a:r>
              <a:rPr lang="en-US" dirty="0"/>
              <a:t>s=0</a:t>
            </a:r>
            <a:r>
              <a:rPr lang="en-US" dirty="0" smtClean="0"/>
              <a:t>;</a:t>
            </a:r>
          </a:p>
          <a:p>
            <a:r>
              <a:rPr lang="en-US" dirty="0" smtClean="0"/>
              <a:t>void </a:t>
            </a:r>
            <a:r>
              <a:rPr lang="en-US" dirty="0"/>
              <a:t>sum(void</a:t>
            </a:r>
            <a:r>
              <a:rPr lang="en-US" dirty="0" smtClean="0"/>
              <a:t>){</a:t>
            </a:r>
          </a:p>
          <a:p>
            <a:r>
              <a:rPr lang="en-US" dirty="0" smtClean="0"/>
              <a:t>    </a:t>
            </a:r>
            <a:r>
              <a:rPr lang="en-US" dirty="0" err="1"/>
              <a:t>int</a:t>
            </a:r>
            <a:r>
              <a:rPr lang="en-US" dirty="0"/>
              <a:t> x</a:t>
            </a:r>
            <a:r>
              <a:rPr lang="en-US" dirty="0" smtClean="0"/>
              <a:t>;</a:t>
            </a:r>
          </a:p>
          <a:p>
            <a:r>
              <a:rPr lang="en-US" dirty="0" smtClean="0"/>
              <a:t>    </a:t>
            </a:r>
            <a:r>
              <a:rPr lang="en-US" dirty="0"/>
              <a:t>if(</a:t>
            </a:r>
            <a:r>
              <a:rPr lang="en-US" dirty="0" err="1"/>
              <a:t>scanf</a:t>
            </a:r>
            <a:r>
              <a:rPr lang="en-US" dirty="0"/>
              <a:t>("%</a:t>
            </a:r>
            <a:r>
              <a:rPr lang="en-US" dirty="0" err="1"/>
              <a:t>d",&amp;x</a:t>
            </a:r>
            <a:r>
              <a:rPr lang="en-US" dirty="0"/>
              <a:t>)==1</a:t>
            </a:r>
            <a:r>
              <a:rPr lang="en-US" dirty="0" smtClean="0"/>
              <a:t>){</a:t>
            </a:r>
          </a:p>
          <a:p>
            <a:r>
              <a:rPr lang="en-US" dirty="0" smtClean="0"/>
              <a:t>         </a:t>
            </a:r>
            <a:r>
              <a:rPr lang="en-US" dirty="0"/>
              <a:t>s+=x ; sum</a:t>
            </a:r>
            <a:r>
              <a:rPr lang="en-US" dirty="0" smtClean="0"/>
              <a:t>();</a:t>
            </a:r>
          </a:p>
          <a:p>
            <a:r>
              <a:rPr lang="en-US" dirty="0" smtClean="0"/>
              <a:t>    }</a:t>
            </a:r>
          </a:p>
          <a:p>
            <a:r>
              <a:rPr lang="en-US" dirty="0" smtClean="0"/>
              <a:t>}</a:t>
            </a:r>
          </a:p>
          <a:p>
            <a:r>
              <a:rPr lang="en-US" dirty="0" err="1" smtClean="0"/>
              <a:t>int</a:t>
            </a:r>
            <a:r>
              <a:rPr lang="en-US" dirty="0" smtClean="0"/>
              <a:t> </a:t>
            </a:r>
            <a:r>
              <a:rPr lang="en-US" dirty="0"/>
              <a:t>main</a:t>
            </a:r>
            <a:r>
              <a:rPr lang="en-US" dirty="0" smtClean="0"/>
              <a:t>(){</a:t>
            </a:r>
          </a:p>
          <a:p>
            <a:r>
              <a:rPr lang="en-US" dirty="0" smtClean="0"/>
              <a:t>    </a:t>
            </a:r>
            <a:r>
              <a:rPr lang="en-US" dirty="0"/>
              <a:t>puts("Enter a sequence of integers</a:t>
            </a:r>
            <a:r>
              <a:rPr lang="en-US" dirty="0" smtClean="0"/>
              <a:t>. </a:t>
            </a:r>
            <a:br>
              <a:rPr lang="en-US" dirty="0" smtClean="0"/>
            </a:br>
            <a:r>
              <a:rPr lang="en-US" dirty="0" smtClean="0"/>
              <a:t>               Stop </a:t>
            </a:r>
            <a:r>
              <a:rPr lang="en-US" dirty="0"/>
              <a:t>by a non-numeric character\n</a:t>
            </a:r>
            <a:r>
              <a:rPr lang="en-US" dirty="0" smtClean="0"/>
              <a:t>");</a:t>
            </a:r>
          </a:p>
          <a:p>
            <a:r>
              <a:rPr lang="en-US" dirty="0" smtClean="0"/>
              <a:t>    </a:t>
            </a:r>
            <a:r>
              <a:rPr lang="en-US" dirty="0"/>
              <a:t>sum</a:t>
            </a:r>
            <a:r>
              <a:rPr lang="en-US" dirty="0" smtClean="0"/>
              <a:t>();</a:t>
            </a:r>
          </a:p>
          <a:p>
            <a:r>
              <a:rPr lang="en-US" dirty="0" smtClean="0"/>
              <a:t>    </a:t>
            </a:r>
            <a:r>
              <a:rPr lang="en-US" dirty="0" err="1"/>
              <a:t>printf</a:t>
            </a:r>
            <a:r>
              <a:rPr lang="en-US" dirty="0"/>
              <a:t>("Sum of sequence: %d", s</a:t>
            </a:r>
            <a:r>
              <a:rPr lang="en-US" dirty="0" smtClean="0"/>
              <a:t>);</a:t>
            </a:r>
          </a:p>
          <a:p>
            <a:r>
              <a:rPr lang="en-US" dirty="0" smtClean="0"/>
              <a:t>    </a:t>
            </a:r>
            <a:r>
              <a:rPr lang="en-US" dirty="0"/>
              <a:t>return 0</a:t>
            </a:r>
            <a:r>
              <a:rPr lang="en-US" dirty="0" smtClean="0"/>
              <a:t>;</a:t>
            </a:r>
          </a:p>
          <a:p>
            <a:r>
              <a:rPr lang="en-US" dirty="0" smtClean="0"/>
              <a:t>}</a:t>
            </a:r>
            <a:endParaRPr lang="en-US" dirty="0"/>
          </a:p>
        </p:txBody>
      </p:sp>
      <p:sp>
        <p:nvSpPr>
          <p:cNvPr id="7" name="Rectangle 6"/>
          <p:cNvSpPr/>
          <p:nvPr/>
        </p:nvSpPr>
        <p:spPr>
          <a:xfrm>
            <a:off x="5257800" y="1285333"/>
            <a:ext cx="4572000" cy="1754326"/>
          </a:xfrm>
          <a:prstGeom prst="rect">
            <a:avLst/>
          </a:prstGeom>
        </p:spPr>
        <p:txBody>
          <a:bodyPr>
            <a:spAutoFit/>
          </a:bodyPr>
          <a:lstStyle/>
          <a:p>
            <a:r>
              <a:rPr lang="en-US" dirty="0"/>
              <a:t>void sum(void</a:t>
            </a:r>
            <a:r>
              <a:rPr lang="en-US" dirty="0" smtClean="0"/>
              <a:t>){</a:t>
            </a:r>
          </a:p>
          <a:p>
            <a:r>
              <a:rPr lang="en-US" dirty="0" smtClean="0"/>
              <a:t>    </a:t>
            </a:r>
            <a:r>
              <a:rPr lang="en-US" dirty="0" err="1"/>
              <a:t>int</a:t>
            </a:r>
            <a:r>
              <a:rPr lang="en-US" dirty="0"/>
              <a:t> x</a:t>
            </a:r>
            <a:r>
              <a:rPr lang="en-US" dirty="0" smtClean="0"/>
              <a:t>;</a:t>
            </a:r>
          </a:p>
          <a:p>
            <a:r>
              <a:rPr lang="en-US" dirty="0" smtClean="0"/>
              <a:t>    </a:t>
            </a:r>
            <a:r>
              <a:rPr lang="en-US" dirty="0"/>
              <a:t>while (</a:t>
            </a:r>
            <a:r>
              <a:rPr lang="en-US" dirty="0" err="1"/>
              <a:t>scanf</a:t>
            </a:r>
            <a:r>
              <a:rPr lang="en-US" dirty="0"/>
              <a:t>("%</a:t>
            </a:r>
            <a:r>
              <a:rPr lang="en-US" dirty="0" err="1"/>
              <a:t>d",&amp;x</a:t>
            </a:r>
            <a:r>
              <a:rPr lang="en-US" dirty="0"/>
              <a:t>)==1</a:t>
            </a:r>
            <a:r>
              <a:rPr lang="en-US" dirty="0" smtClean="0"/>
              <a:t>){</a:t>
            </a:r>
          </a:p>
          <a:p>
            <a:r>
              <a:rPr lang="en-US" dirty="0" smtClean="0"/>
              <a:t>         </a:t>
            </a:r>
            <a:r>
              <a:rPr lang="en-US" dirty="0"/>
              <a:t>s+=x </a:t>
            </a:r>
            <a:r>
              <a:rPr lang="en-US" dirty="0" smtClean="0"/>
              <a:t>;</a:t>
            </a:r>
          </a:p>
          <a:p>
            <a:r>
              <a:rPr lang="en-US" dirty="0" smtClean="0"/>
              <a:t>     }</a:t>
            </a:r>
          </a:p>
          <a:p>
            <a:r>
              <a:rPr lang="en-US" dirty="0" smtClean="0"/>
              <a:t>}</a:t>
            </a:r>
            <a:endParaRPr lang="en-US" dirty="0"/>
          </a:p>
        </p:txBody>
      </p:sp>
      <p:sp>
        <p:nvSpPr>
          <p:cNvPr id="8" name="Right Arrow 7"/>
          <p:cNvSpPr/>
          <p:nvPr/>
        </p:nvSpPr>
        <p:spPr>
          <a:xfrm>
            <a:off x="4038600" y="1905000"/>
            <a:ext cx="609600" cy="2574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943600" y="4062823"/>
            <a:ext cx="2658903" cy="369332"/>
          </a:xfrm>
          <a:prstGeom prst="rect">
            <a:avLst/>
          </a:prstGeom>
          <a:noFill/>
        </p:spPr>
        <p:txBody>
          <a:bodyPr wrap="square" rtlCol="0">
            <a:spAutoFit/>
          </a:bodyPr>
          <a:lstStyle/>
          <a:p>
            <a:r>
              <a:rPr lang="en-US" dirty="0" smtClean="0"/>
              <a:t>So </a:t>
            </a:r>
            <a:r>
              <a:rPr lang="en-US" dirty="0" err="1" smtClean="0"/>
              <a:t>sánh</a:t>
            </a:r>
            <a:r>
              <a:rPr lang="en-US" dirty="0" smtClean="0"/>
              <a:t> </a:t>
            </a:r>
            <a:r>
              <a:rPr lang="en-US" dirty="0" err="1" smtClean="0"/>
              <a:t>Đệ</a:t>
            </a:r>
            <a:r>
              <a:rPr lang="en-US" dirty="0" smtClean="0"/>
              <a:t> </a:t>
            </a:r>
            <a:r>
              <a:rPr lang="en-US" dirty="0" err="1" smtClean="0"/>
              <a:t>quy</a:t>
            </a:r>
            <a:r>
              <a:rPr lang="en-US" dirty="0" smtClean="0"/>
              <a:t> vs. </a:t>
            </a:r>
            <a:r>
              <a:rPr lang="en-US" dirty="0" err="1" smtClean="0"/>
              <a:t>Lặp</a:t>
            </a:r>
            <a:r>
              <a:rPr lang="en-US" dirty="0" smtClean="0"/>
              <a:t> !</a:t>
            </a:r>
          </a:p>
        </p:txBody>
      </p:sp>
    </p:spTree>
    <p:extLst>
      <p:ext uri="{BB962C8B-B14F-4D97-AF65-F5344CB8AC3E}">
        <p14:creationId xmlns:p14="http://schemas.microsoft.com/office/powerpoint/2010/main" val="374968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3" name="Slide Number Placeholder 2"/>
          <p:cNvSpPr>
            <a:spLocks noGrp="1"/>
          </p:cNvSpPr>
          <p:nvPr>
            <p:ph type="sldNum" sz="quarter" idx="12"/>
          </p:nvPr>
        </p:nvSpPr>
        <p:spPr/>
        <p:txBody>
          <a:bodyPr/>
          <a:lstStyle/>
          <a:p>
            <a:fld id="{BC24317B-5122-4A99-A6E9-FA23C146A7E0}" type="slidenum">
              <a:rPr lang="en-US" smtClean="0"/>
              <a:pPr/>
              <a:t>52</a:t>
            </a:fld>
            <a:endParaRPr lang="en-US"/>
          </a:p>
        </p:txBody>
      </p:sp>
      <p:sp>
        <p:nvSpPr>
          <p:cNvPr id="4" name="Title 3"/>
          <p:cNvSpPr>
            <a:spLocks noGrp="1"/>
          </p:cNvSpPr>
          <p:nvPr>
            <p:ph type="title"/>
          </p:nvPr>
        </p:nvSpPr>
        <p:spPr/>
        <p:txBody>
          <a:bodyPr/>
          <a:lstStyle/>
          <a:p>
            <a:r>
              <a:rPr lang="vi-VN" altLang="en-US" dirty="0"/>
              <a:t>2.3. Sự khử đệ quy</a:t>
            </a:r>
            <a:endParaRPr lang="en-US" dirty="0"/>
          </a:p>
        </p:txBody>
      </p:sp>
      <p:sp>
        <p:nvSpPr>
          <p:cNvPr id="7" name="Rectangle 6"/>
          <p:cNvSpPr/>
          <p:nvPr/>
        </p:nvSpPr>
        <p:spPr>
          <a:xfrm>
            <a:off x="4978945" y="786999"/>
            <a:ext cx="2615292" cy="2308324"/>
          </a:xfrm>
          <a:prstGeom prst="rect">
            <a:avLst/>
          </a:prstGeom>
        </p:spPr>
        <p:txBody>
          <a:bodyPr wrap="square">
            <a:spAutoFit/>
          </a:bodyPr>
          <a:lstStyle/>
          <a:p>
            <a:r>
              <a:rPr lang="en-US" dirty="0"/>
              <a:t>#include &lt;</a:t>
            </a:r>
            <a:r>
              <a:rPr lang="en-US" dirty="0" err="1"/>
              <a:t>stdio.h</a:t>
            </a:r>
            <a:r>
              <a:rPr lang="en-US" dirty="0" smtClean="0"/>
              <a:t>&gt;</a:t>
            </a:r>
          </a:p>
          <a:p>
            <a:r>
              <a:rPr lang="en-US" dirty="0" smtClean="0"/>
              <a:t>void </a:t>
            </a:r>
            <a:r>
              <a:rPr lang="en-US" dirty="0"/>
              <a:t>p(</a:t>
            </a:r>
            <a:r>
              <a:rPr lang="en-US" dirty="0" err="1"/>
              <a:t>int</a:t>
            </a:r>
            <a:r>
              <a:rPr lang="en-US" dirty="0"/>
              <a:t> n</a:t>
            </a:r>
            <a:r>
              <a:rPr lang="en-US" dirty="0" smtClean="0"/>
              <a:t>){</a:t>
            </a:r>
          </a:p>
          <a:p>
            <a:r>
              <a:rPr lang="en-US" dirty="0" smtClean="0"/>
              <a:t>    </a:t>
            </a:r>
            <a:r>
              <a:rPr lang="en-US" dirty="0"/>
              <a:t>if(n&gt;0) </a:t>
            </a:r>
            <a:r>
              <a:rPr lang="en-US" dirty="0" smtClean="0"/>
              <a:t>{</a:t>
            </a:r>
          </a:p>
          <a:p>
            <a:r>
              <a:rPr lang="en-US" dirty="0" smtClean="0"/>
              <a:t>        </a:t>
            </a:r>
            <a:r>
              <a:rPr lang="en-US" dirty="0"/>
              <a:t>p(n-2</a:t>
            </a:r>
            <a:r>
              <a:rPr lang="en-US" dirty="0" smtClean="0"/>
              <a:t>);</a:t>
            </a:r>
          </a:p>
          <a:p>
            <a:r>
              <a:rPr lang="en-US" dirty="0" smtClean="0"/>
              <a:t>        </a:t>
            </a:r>
            <a:r>
              <a:rPr lang="en-US" dirty="0" err="1"/>
              <a:t>printf</a:t>
            </a:r>
            <a:r>
              <a:rPr lang="en-US" dirty="0"/>
              <a:t>("%3d",n</a:t>
            </a:r>
            <a:r>
              <a:rPr lang="en-US" dirty="0" smtClean="0"/>
              <a:t>);</a:t>
            </a:r>
          </a:p>
          <a:p>
            <a:r>
              <a:rPr lang="en-US" dirty="0" smtClean="0"/>
              <a:t>        </a:t>
            </a:r>
            <a:r>
              <a:rPr lang="en-US" dirty="0"/>
              <a:t>p(n-1);    </a:t>
            </a:r>
            <a:endParaRPr lang="en-US" dirty="0" smtClean="0"/>
          </a:p>
          <a:p>
            <a:r>
              <a:rPr lang="en-US" dirty="0" smtClean="0"/>
              <a:t>    }</a:t>
            </a:r>
          </a:p>
          <a:p>
            <a:r>
              <a:rPr lang="en-US" dirty="0" smtClean="0"/>
              <a:t>}</a:t>
            </a:r>
          </a:p>
        </p:txBody>
      </p:sp>
      <p:grpSp>
        <p:nvGrpSpPr>
          <p:cNvPr id="129" name="Group 128"/>
          <p:cNvGrpSpPr/>
          <p:nvPr/>
        </p:nvGrpSpPr>
        <p:grpSpPr>
          <a:xfrm>
            <a:off x="1014167" y="2766849"/>
            <a:ext cx="7702660" cy="3495374"/>
            <a:chOff x="1014167" y="2766849"/>
            <a:chExt cx="7702660" cy="3495374"/>
          </a:xfrm>
        </p:grpSpPr>
        <p:sp>
          <p:nvSpPr>
            <p:cNvPr id="8" name="Oval 7"/>
            <p:cNvSpPr/>
            <p:nvPr/>
          </p:nvSpPr>
          <p:spPr>
            <a:xfrm>
              <a:off x="3657600" y="2766849"/>
              <a:ext cx="8382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p(4)</a:t>
              </a:r>
              <a:endParaRPr lang="en-US" b="1" dirty="0">
                <a:solidFill>
                  <a:sysClr val="windowText" lastClr="000000"/>
                </a:solidFill>
              </a:endParaRPr>
            </a:p>
          </p:txBody>
        </p:sp>
        <p:sp>
          <p:nvSpPr>
            <p:cNvPr id="9" name="Oval 8"/>
            <p:cNvSpPr/>
            <p:nvPr/>
          </p:nvSpPr>
          <p:spPr>
            <a:xfrm>
              <a:off x="1617890" y="3569479"/>
              <a:ext cx="8382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p(2)</a:t>
              </a:r>
              <a:endParaRPr lang="en-US" b="1" dirty="0">
                <a:solidFill>
                  <a:sysClr val="windowText" lastClr="000000"/>
                </a:solidFill>
              </a:endParaRPr>
            </a:p>
          </p:txBody>
        </p:sp>
        <p:sp>
          <p:nvSpPr>
            <p:cNvPr id="10" name="Oval 9"/>
            <p:cNvSpPr/>
            <p:nvPr/>
          </p:nvSpPr>
          <p:spPr>
            <a:xfrm>
              <a:off x="3865791" y="3571197"/>
              <a:ext cx="457200" cy="304800"/>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4</a:t>
              </a:r>
              <a:endParaRPr lang="en-US" b="1" dirty="0">
                <a:solidFill>
                  <a:sysClr val="windowText" lastClr="000000"/>
                </a:solidFill>
              </a:endParaRPr>
            </a:p>
          </p:txBody>
        </p:sp>
        <p:sp>
          <p:nvSpPr>
            <p:cNvPr id="11" name="Oval 10"/>
            <p:cNvSpPr/>
            <p:nvPr/>
          </p:nvSpPr>
          <p:spPr>
            <a:xfrm>
              <a:off x="5057098" y="3592129"/>
              <a:ext cx="8382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p(3)</a:t>
              </a:r>
              <a:endParaRPr lang="en-US" b="1" dirty="0">
                <a:solidFill>
                  <a:sysClr val="windowText" lastClr="000000"/>
                </a:solidFill>
              </a:endParaRPr>
            </a:p>
          </p:txBody>
        </p:sp>
        <p:cxnSp>
          <p:nvCxnSpPr>
            <p:cNvPr id="13" name="Straight Arrow Connector 12"/>
            <p:cNvCxnSpPr>
              <a:stCxn id="8" idx="4"/>
              <a:endCxn id="9" idx="0"/>
            </p:cNvCxnSpPr>
            <p:nvPr/>
          </p:nvCxnSpPr>
          <p:spPr>
            <a:xfrm flipH="1">
              <a:off x="2036990" y="3071649"/>
              <a:ext cx="2039710" cy="497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4"/>
              <a:endCxn id="10" idx="0"/>
            </p:cNvCxnSpPr>
            <p:nvPr/>
          </p:nvCxnSpPr>
          <p:spPr>
            <a:xfrm>
              <a:off x="4076700" y="3071649"/>
              <a:ext cx="17691" cy="499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8" idx="4"/>
              <a:endCxn id="11" idx="0"/>
            </p:cNvCxnSpPr>
            <p:nvPr/>
          </p:nvCxnSpPr>
          <p:spPr>
            <a:xfrm>
              <a:off x="4076700" y="3071649"/>
              <a:ext cx="1399498" cy="520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1014167" y="4305064"/>
              <a:ext cx="8382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p(0)</a:t>
              </a:r>
              <a:endParaRPr lang="en-US" b="1" dirty="0">
                <a:solidFill>
                  <a:sysClr val="windowText" lastClr="000000"/>
                </a:solidFill>
              </a:endParaRPr>
            </a:p>
          </p:txBody>
        </p:sp>
        <p:sp>
          <p:nvSpPr>
            <p:cNvPr id="19" name="Oval 18"/>
            <p:cNvSpPr/>
            <p:nvPr/>
          </p:nvSpPr>
          <p:spPr>
            <a:xfrm>
              <a:off x="1904168" y="4367336"/>
              <a:ext cx="457200" cy="304800"/>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2</a:t>
              </a:r>
              <a:endParaRPr lang="en-US" b="1" dirty="0">
                <a:solidFill>
                  <a:sysClr val="windowText" lastClr="000000"/>
                </a:solidFill>
              </a:endParaRPr>
            </a:p>
          </p:txBody>
        </p:sp>
        <p:sp>
          <p:nvSpPr>
            <p:cNvPr id="20" name="Oval 19"/>
            <p:cNvSpPr/>
            <p:nvPr/>
          </p:nvSpPr>
          <p:spPr>
            <a:xfrm>
              <a:off x="2516746" y="4332544"/>
              <a:ext cx="8382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p(1)</a:t>
              </a:r>
              <a:endParaRPr lang="en-US" b="1" dirty="0">
                <a:solidFill>
                  <a:sysClr val="windowText" lastClr="000000"/>
                </a:solidFill>
              </a:endParaRPr>
            </a:p>
          </p:txBody>
        </p:sp>
        <p:cxnSp>
          <p:nvCxnSpPr>
            <p:cNvPr id="21" name="Straight Arrow Connector 20"/>
            <p:cNvCxnSpPr>
              <a:stCxn id="9" idx="4"/>
              <a:endCxn id="18" idx="0"/>
            </p:cNvCxnSpPr>
            <p:nvPr/>
          </p:nvCxnSpPr>
          <p:spPr>
            <a:xfrm flipH="1">
              <a:off x="1433267" y="3874279"/>
              <a:ext cx="603723" cy="430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9" idx="4"/>
              <a:endCxn id="19" idx="0"/>
            </p:cNvCxnSpPr>
            <p:nvPr/>
          </p:nvCxnSpPr>
          <p:spPr>
            <a:xfrm>
              <a:off x="2036990" y="3874279"/>
              <a:ext cx="95778" cy="4930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9" idx="4"/>
              <a:endCxn id="20" idx="0"/>
            </p:cNvCxnSpPr>
            <p:nvPr/>
          </p:nvCxnSpPr>
          <p:spPr>
            <a:xfrm>
              <a:off x="2036990" y="3874279"/>
              <a:ext cx="898856" cy="4582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1649791" y="5122043"/>
              <a:ext cx="711138"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smtClean="0">
                  <a:solidFill>
                    <a:sysClr val="windowText" lastClr="000000"/>
                  </a:solidFill>
                </a:rPr>
                <a:t>p(-1)</a:t>
              </a:r>
              <a:endParaRPr lang="en-US" b="1" dirty="0">
                <a:solidFill>
                  <a:sysClr val="windowText" lastClr="000000"/>
                </a:solidFill>
              </a:endParaRPr>
            </a:p>
          </p:txBody>
        </p:sp>
        <p:sp>
          <p:nvSpPr>
            <p:cNvPr id="25" name="Oval 24"/>
            <p:cNvSpPr/>
            <p:nvPr/>
          </p:nvSpPr>
          <p:spPr>
            <a:xfrm>
              <a:off x="2438316" y="5148954"/>
              <a:ext cx="457200" cy="304800"/>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1</a:t>
              </a:r>
              <a:endParaRPr lang="en-US" b="1" dirty="0">
                <a:solidFill>
                  <a:sysClr val="windowText" lastClr="000000"/>
                </a:solidFill>
              </a:endParaRPr>
            </a:p>
          </p:txBody>
        </p:sp>
        <p:sp>
          <p:nvSpPr>
            <p:cNvPr id="26" name="Oval 25"/>
            <p:cNvSpPr/>
            <p:nvPr/>
          </p:nvSpPr>
          <p:spPr>
            <a:xfrm>
              <a:off x="3012066" y="5114489"/>
              <a:ext cx="644091"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b="1" dirty="0" smtClean="0">
                  <a:solidFill>
                    <a:sysClr val="windowText" lastClr="000000"/>
                  </a:solidFill>
                </a:rPr>
                <a:t>p(0)</a:t>
              </a:r>
              <a:endParaRPr lang="en-US" b="1" dirty="0">
                <a:solidFill>
                  <a:sysClr val="windowText" lastClr="000000"/>
                </a:solidFill>
              </a:endParaRPr>
            </a:p>
          </p:txBody>
        </p:sp>
        <p:cxnSp>
          <p:nvCxnSpPr>
            <p:cNvPr id="27" name="Straight Arrow Connector 26"/>
            <p:cNvCxnSpPr>
              <a:stCxn id="20" idx="4"/>
              <a:endCxn id="24" idx="0"/>
            </p:cNvCxnSpPr>
            <p:nvPr/>
          </p:nvCxnSpPr>
          <p:spPr>
            <a:xfrm flipH="1">
              <a:off x="2005360" y="4637344"/>
              <a:ext cx="930486" cy="4846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20" idx="4"/>
              <a:endCxn id="25" idx="0"/>
            </p:cNvCxnSpPr>
            <p:nvPr/>
          </p:nvCxnSpPr>
          <p:spPr>
            <a:xfrm flipH="1">
              <a:off x="2666916" y="4637344"/>
              <a:ext cx="268930" cy="5116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0" idx="4"/>
              <a:endCxn id="26" idx="0"/>
            </p:cNvCxnSpPr>
            <p:nvPr/>
          </p:nvCxnSpPr>
          <p:spPr>
            <a:xfrm>
              <a:off x="2935846" y="4637344"/>
              <a:ext cx="398266" cy="477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4206992" y="4344606"/>
              <a:ext cx="8382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p(1)</a:t>
              </a:r>
              <a:endParaRPr lang="en-US" b="1" dirty="0">
                <a:solidFill>
                  <a:sysClr val="windowText" lastClr="000000"/>
                </a:solidFill>
              </a:endParaRPr>
            </a:p>
          </p:txBody>
        </p:sp>
        <p:sp>
          <p:nvSpPr>
            <p:cNvPr id="43" name="Oval 42"/>
            <p:cNvSpPr/>
            <p:nvPr/>
          </p:nvSpPr>
          <p:spPr>
            <a:xfrm>
              <a:off x="5247598" y="4352253"/>
              <a:ext cx="457200" cy="304800"/>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3</a:t>
              </a:r>
              <a:endParaRPr lang="en-US" b="1" dirty="0">
                <a:solidFill>
                  <a:sysClr val="windowText" lastClr="000000"/>
                </a:solidFill>
              </a:endParaRPr>
            </a:p>
          </p:txBody>
        </p:sp>
        <p:sp>
          <p:nvSpPr>
            <p:cNvPr id="44" name="Oval 43"/>
            <p:cNvSpPr/>
            <p:nvPr/>
          </p:nvSpPr>
          <p:spPr>
            <a:xfrm>
              <a:off x="6092602" y="4367336"/>
              <a:ext cx="8382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p(2)</a:t>
              </a:r>
              <a:endParaRPr lang="en-US" b="1" dirty="0">
                <a:solidFill>
                  <a:sysClr val="windowText" lastClr="000000"/>
                </a:solidFill>
              </a:endParaRPr>
            </a:p>
          </p:txBody>
        </p:sp>
        <p:cxnSp>
          <p:nvCxnSpPr>
            <p:cNvPr id="45" name="Straight Arrow Connector 44"/>
            <p:cNvCxnSpPr>
              <a:stCxn id="11" idx="4"/>
              <a:endCxn id="42" idx="0"/>
            </p:cNvCxnSpPr>
            <p:nvPr/>
          </p:nvCxnSpPr>
          <p:spPr>
            <a:xfrm flipH="1">
              <a:off x="4626092" y="3896929"/>
              <a:ext cx="850106" cy="4476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1" idx="4"/>
              <a:endCxn id="43" idx="0"/>
            </p:cNvCxnSpPr>
            <p:nvPr/>
          </p:nvCxnSpPr>
          <p:spPr>
            <a:xfrm>
              <a:off x="5476198" y="3896929"/>
              <a:ext cx="0" cy="4553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11" idx="4"/>
              <a:endCxn id="44" idx="0"/>
            </p:cNvCxnSpPr>
            <p:nvPr/>
          </p:nvCxnSpPr>
          <p:spPr>
            <a:xfrm>
              <a:off x="5476198" y="3896929"/>
              <a:ext cx="1035504" cy="4704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Oval 60"/>
            <p:cNvSpPr/>
            <p:nvPr/>
          </p:nvSpPr>
          <p:spPr>
            <a:xfrm>
              <a:off x="3774203" y="5122043"/>
              <a:ext cx="664875"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smtClean="0">
                  <a:solidFill>
                    <a:sysClr val="windowText" lastClr="000000"/>
                  </a:solidFill>
                </a:rPr>
                <a:t>p(-1)</a:t>
              </a:r>
              <a:endParaRPr lang="en-US" b="1" dirty="0">
                <a:solidFill>
                  <a:sysClr val="windowText" lastClr="000000"/>
                </a:solidFill>
              </a:endParaRPr>
            </a:p>
          </p:txBody>
        </p:sp>
        <p:sp>
          <p:nvSpPr>
            <p:cNvPr id="62" name="Oval 61"/>
            <p:cNvSpPr/>
            <p:nvPr/>
          </p:nvSpPr>
          <p:spPr>
            <a:xfrm>
              <a:off x="4462806" y="5148954"/>
              <a:ext cx="457200" cy="304800"/>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1</a:t>
              </a:r>
              <a:endParaRPr lang="en-US" b="1" dirty="0">
                <a:solidFill>
                  <a:sysClr val="windowText" lastClr="000000"/>
                </a:solidFill>
              </a:endParaRPr>
            </a:p>
          </p:txBody>
        </p:sp>
        <p:sp>
          <p:nvSpPr>
            <p:cNvPr id="63" name="Oval 62"/>
            <p:cNvSpPr/>
            <p:nvPr/>
          </p:nvSpPr>
          <p:spPr>
            <a:xfrm>
              <a:off x="5018659" y="5148954"/>
              <a:ext cx="54173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b="1" dirty="0" smtClean="0">
                  <a:solidFill>
                    <a:sysClr val="windowText" lastClr="000000"/>
                  </a:solidFill>
                </a:rPr>
                <a:t>p(0)</a:t>
              </a:r>
              <a:endParaRPr lang="en-US" b="1" dirty="0">
                <a:solidFill>
                  <a:sysClr val="windowText" lastClr="000000"/>
                </a:solidFill>
              </a:endParaRPr>
            </a:p>
          </p:txBody>
        </p:sp>
        <p:cxnSp>
          <p:nvCxnSpPr>
            <p:cNvPr id="64" name="Straight Arrow Connector 63"/>
            <p:cNvCxnSpPr>
              <a:stCxn id="42" idx="4"/>
              <a:endCxn id="61" idx="0"/>
            </p:cNvCxnSpPr>
            <p:nvPr/>
          </p:nvCxnSpPr>
          <p:spPr>
            <a:xfrm flipH="1">
              <a:off x="4106641" y="4649406"/>
              <a:ext cx="519451" cy="472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42" idx="4"/>
              <a:endCxn id="62" idx="0"/>
            </p:cNvCxnSpPr>
            <p:nvPr/>
          </p:nvCxnSpPr>
          <p:spPr>
            <a:xfrm>
              <a:off x="4626092" y="4649406"/>
              <a:ext cx="65314" cy="499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42" idx="4"/>
              <a:endCxn id="63" idx="0"/>
            </p:cNvCxnSpPr>
            <p:nvPr/>
          </p:nvCxnSpPr>
          <p:spPr>
            <a:xfrm>
              <a:off x="4626092" y="4649406"/>
              <a:ext cx="663432" cy="499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Oval 71"/>
            <p:cNvSpPr/>
            <p:nvPr/>
          </p:nvSpPr>
          <p:spPr>
            <a:xfrm>
              <a:off x="5717214" y="5142543"/>
              <a:ext cx="681376"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smtClean="0">
                  <a:solidFill>
                    <a:sysClr val="windowText" lastClr="000000"/>
                  </a:solidFill>
                </a:rPr>
                <a:t>p(0)</a:t>
              </a:r>
              <a:endParaRPr lang="en-US" b="1" dirty="0">
                <a:solidFill>
                  <a:sysClr val="windowText" lastClr="000000"/>
                </a:solidFill>
              </a:endParaRPr>
            </a:p>
          </p:txBody>
        </p:sp>
        <p:sp>
          <p:nvSpPr>
            <p:cNvPr id="73" name="Oval 72"/>
            <p:cNvSpPr/>
            <p:nvPr/>
          </p:nvSpPr>
          <p:spPr>
            <a:xfrm>
              <a:off x="6583227" y="5188618"/>
              <a:ext cx="457200" cy="304800"/>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2</a:t>
              </a:r>
              <a:endParaRPr lang="en-US" b="1" dirty="0">
                <a:solidFill>
                  <a:sysClr val="windowText" lastClr="000000"/>
                </a:solidFill>
              </a:endParaRPr>
            </a:p>
          </p:txBody>
        </p:sp>
        <p:sp>
          <p:nvSpPr>
            <p:cNvPr id="74" name="Oval 73"/>
            <p:cNvSpPr/>
            <p:nvPr/>
          </p:nvSpPr>
          <p:spPr>
            <a:xfrm>
              <a:off x="7230927" y="5142543"/>
              <a:ext cx="8382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p(1)</a:t>
              </a:r>
              <a:endParaRPr lang="en-US" b="1" dirty="0">
                <a:solidFill>
                  <a:sysClr val="windowText" lastClr="000000"/>
                </a:solidFill>
              </a:endParaRPr>
            </a:p>
          </p:txBody>
        </p:sp>
        <p:cxnSp>
          <p:nvCxnSpPr>
            <p:cNvPr id="75" name="Straight Arrow Connector 74"/>
            <p:cNvCxnSpPr>
              <a:stCxn id="44" idx="4"/>
              <a:endCxn id="72" idx="0"/>
            </p:cNvCxnSpPr>
            <p:nvPr/>
          </p:nvCxnSpPr>
          <p:spPr>
            <a:xfrm flipH="1">
              <a:off x="6057902" y="4672136"/>
              <a:ext cx="453800" cy="4704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44" idx="4"/>
              <a:endCxn id="73" idx="0"/>
            </p:cNvCxnSpPr>
            <p:nvPr/>
          </p:nvCxnSpPr>
          <p:spPr>
            <a:xfrm>
              <a:off x="6511702" y="4672136"/>
              <a:ext cx="300125" cy="516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44" idx="4"/>
              <a:endCxn id="74" idx="0"/>
            </p:cNvCxnSpPr>
            <p:nvPr/>
          </p:nvCxnSpPr>
          <p:spPr>
            <a:xfrm>
              <a:off x="6511702" y="4672136"/>
              <a:ext cx="1138325" cy="4704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Oval 77"/>
            <p:cNvSpPr/>
            <p:nvPr/>
          </p:nvSpPr>
          <p:spPr>
            <a:xfrm>
              <a:off x="6398589" y="5940370"/>
              <a:ext cx="8382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smtClean="0">
                  <a:solidFill>
                    <a:sysClr val="windowText" lastClr="000000"/>
                  </a:solidFill>
                </a:rPr>
                <a:t>p(-1)</a:t>
              </a:r>
              <a:endParaRPr lang="en-US" b="1" dirty="0">
                <a:solidFill>
                  <a:sysClr val="windowText" lastClr="000000"/>
                </a:solidFill>
              </a:endParaRPr>
            </a:p>
          </p:txBody>
        </p:sp>
        <p:sp>
          <p:nvSpPr>
            <p:cNvPr id="79" name="Oval 78"/>
            <p:cNvSpPr/>
            <p:nvPr/>
          </p:nvSpPr>
          <p:spPr>
            <a:xfrm>
              <a:off x="7299894" y="5957423"/>
              <a:ext cx="457200" cy="304800"/>
            </a:xfrm>
            <a:prstGeom prst="ellipse">
              <a:avLst/>
            </a:prstGeom>
            <a:solidFill>
              <a:schemeClr val="accent2">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ysClr val="windowText" lastClr="000000"/>
                  </a:solidFill>
                </a:rPr>
                <a:t>1</a:t>
              </a:r>
              <a:endParaRPr lang="en-US" b="1" dirty="0">
                <a:solidFill>
                  <a:sysClr val="windowText" lastClr="000000"/>
                </a:solidFill>
              </a:endParaRPr>
            </a:p>
          </p:txBody>
        </p:sp>
        <p:sp>
          <p:nvSpPr>
            <p:cNvPr id="80" name="Oval 79"/>
            <p:cNvSpPr/>
            <p:nvPr/>
          </p:nvSpPr>
          <p:spPr>
            <a:xfrm>
              <a:off x="7878627" y="5951449"/>
              <a:ext cx="838200" cy="3048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a:r>
                <a:rPr lang="en-US" b="1" dirty="0" smtClean="0">
                  <a:solidFill>
                    <a:sysClr val="windowText" lastClr="000000"/>
                  </a:solidFill>
                </a:rPr>
                <a:t>p(0)</a:t>
              </a:r>
              <a:endParaRPr lang="en-US" b="1" dirty="0">
                <a:solidFill>
                  <a:sysClr val="windowText" lastClr="000000"/>
                </a:solidFill>
              </a:endParaRPr>
            </a:p>
          </p:txBody>
        </p:sp>
        <p:cxnSp>
          <p:nvCxnSpPr>
            <p:cNvPr id="81" name="Straight Arrow Connector 80"/>
            <p:cNvCxnSpPr>
              <a:stCxn id="74" idx="4"/>
              <a:endCxn id="78" idx="0"/>
            </p:cNvCxnSpPr>
            <p:nvPr/>
          </p:nvCxnSpPr>
          <p:spPr>
            <a:xfrm flipH="1">
              <a:off x="6817689" y="5447343"/>
              <a:ext cx="832338" cy="4930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74" idx="4"/>
              <a:endCxn id="79" idx="0"/>
            </p:cNvCxnSpPr>
            <p:nvPr/>
          </p:nvCxnSpPr>
          <p:spPr>
            <a:xfrm flipH="1">
              <a:off x="7528494" y="5447343"/>
              <a:ext cx="121533" cy="510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74" idx="4"/>
              <a:endCxn id="80" idx="0"/>
            </p:cNvCxnSpPr>
            <p:nvPr/>
          </p:nvCxnSpPr>
          <p:spPr>
            <a:xfrm>
              <a:off x="7650027" y="5447343"/>
              <a:ext cx="647700" cy="504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0" name="Rectangle 129"/>
          <p:cNvSpPr/>
          <p:nvPr/>
        </p:nvSpPr>
        <p:spPr>
          <a:xfrm>
            <a:off x="7220041" y="728016"/>
            <a:ext cx="4572000" cy="1200329"/>
          </a:xfrm>
          <a:prstGeom prst="rect">
            <a:avLst/>
          </a:prstGeom>
        </p:spPr>
        <p:txBody>
          <a:bodyPr>
            <a:spAutoFit/>
          </a:bodyPr>
          <a:lstStyle/>
          <a:p>
            <a:r>
              <a:rPr lang="en-US" dirty="0" err="1"/>
              <a:t>int</a:t>
            </a:r>
            <a:r>
              <a:rPr lang="en-US" dirty="0"/>
              <a:t> main(){</a:t>
            </a:r>
          </a:p>
          <a:p>
            <a:r>
              <a:rPr lang="en-US" dirty="0"/>
              <a:t>    p(4);</a:t>
            </a:r>
          </a:p>
          <a:p>
            <a:r>
              <a:rPr lang="en-US" dirty="0"/>
              <a:t>    return 0;</a:t>
            </a:r>
          </a:p>
          <a:p>
            <a:r>
              <a:rPr lang="en-US" dirty="0"/>
              <a:t>}</a:t>
            </a:r>
          </a:p>
        </p:txBody>
      </p:sp>
      <p:sp>
        <p:nvSpPr>
          <p:cNvPr id="131" name="Rectangle 3"/>
          <p:cNvSpPr>
            <a:spLocks noGrp="1" noChangeArrowheads="1"/>
          </p:cNvSpPr>
          <p:nvPr>
            <p:ph type="body" sz="quarter" idx="13"/>
          </p:nvPr>
        </p:nvSpPr>
        <p:spPr>
          <a:xfrm>
            <a:off x="234951" y="963168"/>
            <a:ext cx="8674100" cy="5132832"/>
          </a:xfrm>
        </p:spPr>
        <p:txBody>
          <a:bodyPr/>
          <a:lstStyle/>
          <a:p>
            <a:pPr eaLnBrk="1" hangingPunct="1"/>
            <a:r>
              <a:rPr lang="en-US" altLang="en-US" sz="2400" dirty="0" err="1" smtClean="0"/>
              <a:t>Hàm</a:t>
            </a:r>
            <a:r>
              <a:rPr lang="en-US" altLang="en-US" sz="2400" dirty="0" smtClean="0"/>
              <a:t> </a:t>
            </a:r>
            <a:r>
              <a:rPr lang="en-US" altLang="en-US" sz="2400" dirty="0" err="1" smtClean="0"/>
              <a:t>đệ</a:t>
            </a:r>
            <a:r>
              <a:rPr lang="en-US" altLang="en-US" sz="2400" dirty="0" smtClean="0"/>
              <a:t> </a:t>
            </a:r>
            <a:r>
              <a:rPr lang="en-US" altLang="en-US" sz="2400" dirty="0" err="1" smtClean="0"/>
              <a:t>quy</a:t>
            </a:r>
            <a:r>
              <a:rPr lang="en-US" altLang="en-US" sz="2400" dirty="0" smtClean="0"/>
              <a:t> </a:t>
            </a:r>
            <a:r>
              <a:rPr lang="en-US" altLang="en-US" sz="2400" dirty="0" err="1" smtClean="0"/>
              <a:t>đích</a:t>
            </a:r>
            <a:r>
              <a:rPr lang="en-US" altLang="en-US" sz="2400" dirty="0" smtClean="0"/>
              <a:t> </a:t>
            </a:r>
            <a:r>
              <a:rPr lang="en-US" altLang="en-US" sz="2400" dirty="0" err="1" smtClean="0"/>
              <a:t>thực</a:t>
            </a:r>
            <a:endParaRPr lang="en-US" altLang="en-US" sz="2400" dirty="0" smtClean="0"/>
          </a:p>
          <a:p>
            <a:pPr lvl="1"/>
            <a:r>
              <a:rPr lang="en-US" sz="2000" dirty="0" err="1"/>
              <a:t>Hàm</a:t>
            </a:r>
            <a:r>
              <a:rPr lang="en-US" sz="2000" dirty="0"/>
              <a:t> </a:t>
            </a:r>
            <a:r>
              <a:rPr lang="en-US" sz="2000" dirty="0" err="1"/>
              <a:t>tự</a:t>
            </a:r>
            <a:r>
              <a:rPr lang="en-US" sz="2000" dirty="0"/>
              <a:t> </a:t>
            </a:r>
            <a:r>
              <a:rPr lang="en-US" sz="2000" dirty="0" err="1"/>
              <a:t>gọi</a:t>
            </a:r>
            <a:r>
              <a:rPr lang="en-US" sz="2000" dirty="0"/>
              <a:t> </a:t>
            </a:r>
            <a:r>
              <a:rPr lang="en-US" sz="2000" dirty="0" err="1"/>
              <a:t>chính</a:t>
            </a:r>
            <a:r>
              <a:rPr lang="en-US" sz="2000" dirty="0"/>
              <a:t> </a:t>
            </a:r>
            <a:r>
              <a:rPr lang="en-US" sz="2000" dirty="0" err="1"/>
              <a:t>mình</a:t>
            </a:r>
            <a:r>
              <a:rPr lang="en-US" sz="2000" dirty="0"/>
              <a:t> </a:t>
            </a:r>
            <a:r>
              <a:rPr lang="en-US" sz="2000" dirty="0" err="1"/>
              <a:t>nhiều</a:t>
            </a:r>
            <a:r>
              <a:rPr lang="en-US" sz="2000" dirty="0"/>
              <a:t> </a:t>
            </a:r>
            <a:r>
              <a:rPr lang="en-US" sz="2000" dirty="0" err="1"/>
              <a:t>hơn</a:t>
            </a:r>
            <a:r>
              <a:rPr lang="en-US" sz="2000" dirty="0"/>
              <a:t> 1 </a:t>
            </a:r>
            <a:r>
              <a:rPr lang="en-US" sz="2000" dirty="0" err="1"/>
              <a:t>lần</a:t>
            </a:r>
            <a:r>
              <a:rPr lang="en-US" sz="2000" dirty="0" smtClean="0"/>
              <a:t>.</a:t>
            </a:r>
          </a:p>
          <a:p>
            <a:pPr lvl="1"/>
            <a:r>
              <a:rPr lang="en-US" sz="2000" dirty="0" err="1" smtClean="0"/>
              <a:t>Có</a:t>
            </a:r>
            <a:r>
              <a:rPr lang="en-US" sz="2000" dirty="0" smtClean="0"/>
              <a:t> </a:t>
            </a:r>
            <a:r>
              <a:rPr lang="en-US" sz="2000" dirty="0" err="1" smtClean="0"/>
              <a:t>thể</a:t>
            </a:r>
            <a:r>
              <a:rPr lang="en-US" sz="2000" dirty="0" smtClean="0"/>
              <a:t> </a:t>
            </a:r>
            <a:r>
              <a:rPr lang="en-US" sz="2000" dirty="0" err="1" smtClean="0"/>
              <a:t>khó</a:t>
            </a:r>
            <a:r>
              <a:rPr lang="en-US" sz="2000" dirty="0" smtClean="0"/>
              <a:t> </a:t>
            </a:r>
            <a:r>
              <a:rPr lang="en-US" sz="2000" dirty="0" err="1"/>
              <a:t>thay</a:t>
            </a:r>
            <a:r>
              <a:rPr lang="en-US" sz="2000" dirty="0"/>
              <a:t> </a:t>
            </a:r>
            <a:r>
              <a:rPr lang="en-US" sz="2000" dirty="0" err="1"/>
              <a:t>thế</a:t>
            </a:r>
            <a:r>
              <a:rPr lang="en-US" sz="2000" dirty="0"/>
              <a:t> </a:t>
            </a:r>
            <a:r>
              <a:rPr lang="en-US" sz="2000" dirty="0" err="1"/>
              <a:t>bởi</a:t>
            </a:r>
            <a:r>
              <a:rPr lang="en-US" sz="2000" dirty="0"/>
              <a:t> </a:t>
            </a:r>
            <a:r>
              <a:rPr lang="en-US" sz="2000" dirty="0" err="1"/>
              <a:t>vòng</a:t>
            </a:r>
            <a:r>
              <a:rPr lang="en-US" sz="2000" dirty="0"/>
              <a:t> </a:t>
            </a:r>
            <a:r>
              <a:rPr lang="en-US" sz="2000" dirty="0" err="1"/>
              <a:t>lặp</a:t>
            </a:r>
            <a:endParaRPr lang="en-US" altLang="en-US" sz="2000" baseline="30000" dirty="0" smtClean="0"/>
          </a:p>
          <a:p>
            <a:pPr eaLnBrk="1" hangingPunct="1"/>
            <a:endParaRPr lang="en-US" altLang="en-US" dirty="0" smtClean="0"/>
          </a:p>
          <a:p>
            <a:pPr eaLnBrk="1" hangingPunct="1"/>
            <a:endParaRPr lang="en-US" altLang="en-US" dirty="0" smtClean="0"/>
          </a:p>
        </p:txBody>
      </p:sp>
    </p:spTree>
    <p:extLst>
      <p:ext uri="{BB962C8B-B14F-4D97-AF65-F5344CB8AC3E}">
        <p14:creationId xmlns:p14="http://schemas.microsoft.com/office/powerpoint/2010/main" val="730407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7. SL - Mẫu slides bài giảng_HUST PPT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 SL - Mẫu slides bài giảng_HUST PPT Template.pptx" id="{45510D97-992C-451E-ADEA-BBABC4EFA76A}" vid="{3E3F4600-7126-4670-8CD5-2C2CB12BC9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7. SL - Mẫu slides bài giảng_HUST PPT Template</Template>
  <TotalTime>14476</TotalTime>
  <Words>6499</Words>
  <Application>Microsoft Office PowerPoint</Application>
  <PresentationFormat>On-screen Show (4:3)</PresentationFormat>
  <Paragraphs>847</Paragraphs>
  <Slides>52</Slides>
  <Notes>29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52</vt:i4>
      </vt:variant>
    </vt:vector>
  </HeadingPairs>
  <TitlesOfParts>
    <vt:vector size="63" baseType="lpstr">
      <vt:lpstr>Arial</vt:lpstr>
      <vt:lpstr>Calibri</vt:lpstr>
      <vt:lpstr>Calibri Light</vt:lpstr>
      <vt:lpstr>Courier New</vt:lpstr>
      <vt:lpstr>Euclid Symbol</vt:lpstr>
      <vt:lpstr>Gill Sans MT</vt:lpstr>
      <vt:lpstr>Lato</vt:lpstr>
      <vt:lpstr>Symbol</vt:lpstr>
      <vt:lpstr>Times New Roman</vt:lpstr>
      <vt:lpstr>Wingdings</vt:lpstr>
      <vt:lpstr>7. SL - Mẫu slides bài giảng_HUST PPT Template</vt:lpstr>
      <vt:lpstr>CẤU TRÚC DỮ LIỆU VÀ GIẢI THUẬT</vt:lpstr>
      <vt:lpstr>Chương III:  Giải thuật và thủ tục đệ quy</vt:lpstr>
      <vt:lpstr>Các nội dung chính</vt:lpstr>
      <vt:lpstr>1. Khái niệm về sự đệ quy</vt:lpstr>
      <vt:lpstr>1.1. Khái niệm đệ quy </vt:lpstr>
      <vt:lpstr>1.1. Khái niệm đệ quy </vt:lpstr>
      <vt:lpstr>1.1. Khái niệm đệ quy </vt:lpstr>
      <vt:lpstr>1.1. Khái niệm đệ quy </vt:lpstr>
      <vt:lpstr>1.1. Khái niệm đệ quy </vt:lpstr>
      <vt:lpstr>1.2 Giải thuật đệ quy (recursive algorithm)</vt:lpstr>
      <vt:lpstr>1.2 Giải thuật đệ quy (recursive algorithm)</vt:lpstr>
      <vt:lpstr>1.2 Giải thuật đệ quy (recursive algorithm)</vt:lpstr>
      <vt:lpstr>1.2 Giải thuật đệ quy (recursive algorithm)</vt:lpstr>
      <vt:lpstr>1.2 Giải thuật đệ quy (recursive algorithm)</vt:lpstr>
      <vt:lpstr>1.2 Giải thuật đệ quy (recursive algorithm)</vt:lpstr>
      <vt:lpstr>2. Xây dựng thủ tục đệ quy</vt:lpstr>
      <vt:lpstr>2.1 Thủ tục đệ quy </vt:lpstr>
      <vt:lpstr>2.2 Phương pháp xây dựng thủ tục đệ quy </vt:lpstr>
      <vt:lpstr>2.2 Phương pháp xây dựng thủ tục đệ quy </vt:lpstr>
      <vt:lpstr>2.1 Thủ tục đệ quy </vt:lpstr>
      <vt:lpstr>2.2 Phương pháp xây dựng thủ tục đệ quy </vt:lpstr>
      <vt:lpstr>2.2 Phương pháp xây dựng thủ tục đệ quy </vt:lpstr>
      <vt:lpstr>2.2 Phương pháp xây dựng thủ tục đệ quy </vt:lpstr>
      <vt:lpstr>2.3. Sự khử đệ quy</vt:lpstr>
      <vt:lpstr>Khử đệ quy bằng vòng lặp</vt:lpstr>
      <vt:lpstr>Khử đệ quy bằng vòng lặp</vt:lpstr>
      <vt:lpstr>Khử đệ quy bằng vòng lặp</vt:lpstr>
      <vt:lpstr>Khử đệ quy bằng Stack</vt:lpstr>
      <vt:lpstr>Khử đệ quy bằng Stack</vt:lpstr>
      <vt:lpstr>So sánh Đệ quy vs. Lặp !</vt:lpstr>
      <vt:lpstr>So sánh Đệ quy vs. Lặp !</vt:lpstr>
      <vt:lpstr>Nhận xét</vt:lpstr>
      <vt:lpstr>3. Các ví dụ minh họa</vt:lpstr>
      <vt:lpstr>1. Tìm kiếm trong danh sách</vt:lpstr>
      <vt:lpstr>2. Bài toán Tháp Hà Nội</vt:lpstr>
      <vt:lpstr>Bài toán Tháp Hà Nội</vt:lpstr>
      <vt:lpstr>Bài toán Tháp Hà Nội</vt:lpstr>
      <vt:lpstr>Bài toán Tháp Hà Nội</vt:lpstr>
      <vt:lpstr>Bài toán Tháp Hà Nội</vt:lpstr>
      <vt:lpstr>Bài toán Tháp Hà Nội</vt:lpstr>
      <vt:lpstr>3. Giải thuật quay lui (Backtracking)</vt:lpstr>
      <vt:lpstr>3. Giải thuật quay lui</vt:lpstr>
      <vt:lpstr>3. Giải thuật quay lui</vt:lpstr>
      <vt:lpstr>3. Giải thuật quay lui</vt:lpstr>
      <vt:lpstr>3. Giải thuật quay lui</vt:lpstr>
      <vt:lpstr>3. Giải thuật quay lui</vt:lpstr>
      <vt:lpstr>3. Giải thuật quay lui</vt:lpstr>
      <vt:lpstr>Bài tập</vt:lpstr>
      <vt:lpstr>PowerPoint Presentation</vt:lpstr>
      <vt:lpstr>PowerPoint Presentation</vt:lpstr>
      <vt:lpstr>Khử đệ quy</vt:lpstr>
      <vt:lpstr>2.3. Sự khử đệ quy</vt:lpstr>
    </vt:vector>
  </TitlesOfParts>
  <Company>Utility Muffin Research Kitchen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Dao Trung Kien</dc:creator>
  <cp:lastModifiedBy>Do Thi Ngoc Diep</cp:lastModifiedBy>
  <cp:revision>2134</cp:revision>
  <cp:lastPrinted>2023-05-25T02:42:22Z</cp:lastPrinted>
  <dcterms:created xsi:type="dcterms:W3CDTF">2007-06-13T23:23:09Z</dcterms:created>
  <dcterms:modified xsi:type="dcterms:W3CDTF">2024-04-05T02:00:36Z</dcterms:modified>
</cp:coreProperties>
</file>