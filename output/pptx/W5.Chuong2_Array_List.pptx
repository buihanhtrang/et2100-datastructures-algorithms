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notesMasterIdLst>
    <p:notesMasterId r:id="rId47"/>
  </p:notesMasterIdLst>
  <p:handoutMasterIdLst>
    <p:handoutMasterId r:id="rId48"/>
  </p:handoutMasterIdLst>
  <p:sldIdLst>
    <p:sldId id="297" r:id="rId2"/>
    <p:sldId id="256" r:id="rId3"/>
    <p:sldId id="335" r:id="rId4"/>
    <p:sldId id="396" r:id="rId5"/>
    <p:sldId id="399" r:id="rId6"/>
    <p:sldId id="400" r:id="rId7"/>
    <p:sldId id="401" r:id="rId8"/>
    <p:sldId id="445" r:id="rId9"/>
    <p:sldId id="403" r:id="rId10"/>
    <p:sldId id="454" r:id="rId11"/>
    <p:sldId id="404" r:id="rId12"/>
    <p:sldId id="455" r:id="rId13"/>
    <p:sldId id="402" r:id="rId14"/>
    <p:sldId id="405" r:id="rId15"/>
    <p:sldId id="406" r:id="rId16"/>
    <p:sldId id="407" r:id="rId17"/>
    <p:sldId id="409" r:id="rId18"/>
    <p:sldId id="433" r:id="rId19"/>
    <p:sldId id="410" r:id="rId20"/>
    <p:sldId id="411" r:id="rId21"/>
    <p:sldId id="449" r:id="rId22"/>
    <p:sldId id="447" r:id="rId23"/>
    <p:sldId id="451" r:id="rId24"/>
    <p:sldId id="412" r:id="rId25"/>
    <p:sldId id="413" r:id="rId26"/>
    <p:sldId id="452" r:id="rId27"/>
    <p:sldId id="415" r:id="rId28"/>
    <p:sldId id="416" r:id="rId29"/>
    <p:sldId id="418" r:id="rId30"/>
    <p:sldId id="453" r:id="rId31"/>
    <p:sldId id="417" r:id="rId32"/>
    <p:sldId id="434" r:id="rId33"/>
    <p:sldId id="436" r:id="rId34"/>
    <p:sldId id="423" r:id="rId35"/>
    <p:sldId id="437" r:id="rId36"/>
    <p:sldId id="438" r:id="rId37"/>
    <p:sldId id="439" r:id="rId38"/>
    <p:sldId id="428" r:id="rId39"/>
    <p:sldId id="429" r:id="rId40"/>
    <p:sldId id="440" r:id="rId41"/>
    <p:sldId id="441" r:id="rId42"/>
    <p:sldId id="430" r:id="rId43"/>
    <p:sldId id="442" r:id="rId44"/>
    <p:sldId id="456" r:id="rId45"/>
    <p:sldId id="443" r:id="rId46"/>
  </p:sldIdLst>
  <p:sldSz cx="9144000" cy="6858000" type="screen4x3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0066"/>
    <a:srgbClr val="00004C"/>
    <a:srgbClr val="0036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83908" autoAdjust="0"/>
  </p:normalViewPr>
  <p:slideViewPr>
    <p:cSldViewPr>
      <p:cViewPr varScale="1">
        <p:scale>
          <a:sx n="94" d="100"/>
          <a:sy n="94" d="100"/>
        </p:scale>
        <p:origin x="2028" y="66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2784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3211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6363" cy="511731"/>
          </a:xfrm>
          <a:prstGeom prst="rect">
            <a:avLst/>
          </a:prstGeom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6" y="2"/>
            <a:ext cx="3076363" cy="511731"/>
          </a:xfrm>
          <a:prstGeom prst="rect">
            <a:avLst/>
          </a:prstGeom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pitchFamily="34" charset="0"/>
              </a:defRPr>
            </a:lvl1pPr>
          </a:lstStyle>
          <a:p>
            <a:fld id="{5EDDA0F7-BB27-45D6-A5CE-AEC59009A5B9}" type="datetimeFigureOut">
              <a:rPr lang="en-US"/>
              <a:pPr/>
              <a:t>3/25/2024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6" y="9721106"/>
            <a:ext cx="3076363" cy="511731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pitchFamily="34" charset="0"/>
              </a:defRPr>
            </a:lvl1pPr>
          </a:lstStyle>
          <a:p>
            <a:fld id="{76159C16-962D-45B7-9AE3-AA455C3EA8F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9135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Mảng</a:t>
            </a:r>
            <a:r>
              <a:rPr lang="en-US" dirty="0" smtClean="0"/>
              <a:t>                       CT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trữ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tuần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tự</a:t>
            </a:r>
            <a:endParaRPr lang="en-US" dirty="0" smtClean="0"/>
          </a:p>
          <a:p>
            <a:r>
              <a:rPr lang="en-US" dirty="0" err="1" smtClean="0"/>
              <a:t>Danh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sách</a:t>
            </a:r>
            <a:r>
              <a:rPr lang="en-US" baseline="0" dirty="0" smtClean="0"/>
              <a:t>               CT </a:t>
            </a:r>
            <a:r>
              <a:rPr lang="en-US" baseline="0" err="1" smtClean="0"/>
              <a:t>lưu</a:t>
            </a:r>
            <a:r>
              <a:rPr lang="en-US" baseline="0" smtClean="0"/>
              <a:t> trư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691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98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399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 smtClean="0"/>
              <a:t>tốc độ truy nhập vào các</a:t>
            </a:r>
            <a:r>
              <a:rPr lang="en-US" dirty="0" smtClean="0"/>
              <a:t> </a:t>
            </a:r>
            <a:r>
              <a:rPr lang="vi-VN" dirty="0" smtClean="0"/>
              <a:t>phần tử của CTLT này không đồng đều, các nút càng gần điểm truy nhập thì tốc</a:t>
            </a:r>
          </a:p>
          <a:p>
            <a:r>
              <a:rPr lang="vi-VN" dirty="0" smtClean="0"/>
              <a:t>độ truy nhập càng nhanh và ngược lại. Vì lý do đó, nên khi cần tăng tốc độ truy</a:t>
            </a:r>
          </a:p>
          <a:p>
            <a:r>
              <a:rPr lang="vi-VN" dirty="0" smtClean="0"/>
              <a:t>nhập vào các nút xa điểm truy nhập, ta sẽ bổ sung thêm các điểm truy nhập mới</a:t>
            </a:r>
          </a:p>
          <a:p>
            <a:r>
              <a:rPr lang="vi-VN" dirty="0" smtClean="0"/>
              <a:t>để truy nhập trực tiếp hoặc nhanh hơn vào các nút này.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87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Còn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gọi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danh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sách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liên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kết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20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how a linked list is maintained in the memory</a:t>
            </a:r>
          </a:p>
          <a:p>
            <a:r>
              <a:rPr lang="en-US" dirty="0" smtClean="0"/>
              <a:t>a linked list need </a:t>
            </a:r>
            <a:r>
              <a:rPr lang="en-US" b="1" dirty="0" smtClean="0"/>
              <a:t>not be in consecutive </a:t>
            </a:r>
            <a:r>
              <a:rPr lang="en-US" dirty="0" smtClean="0"/>
              <a:t>memory locations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08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93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vì</a:t>
            </a:r>
            <a:r>
              <a:rPr lang="en-US" baseline="0" dirty="0" smtClean="0"/>
              <a:t> con </a:t>
            </a:r>
            <a:r>
              <a:rPr lang="en-US" baseline="0" dirty="0" err="1" smtClean="0"/>
              <a:t>trỏ</a:t>
            </a:r>
            <a:r>
              <a:rPr lang="en-US" baseline="0" dirty="0" smtClean="0"/>
              <a:t> H </a:t>
            </a:r>
            <a:r>
              <a:rPr lang="en-US" baseline="0" dirty="0" err="1" smtClean="0"/>
              <a:t>trỏ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đến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đầu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danh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sách</a:t>
            </a:r>
            <a:r>
              <a:rPr lang="en-US" baseline="0" dirty="0" smtClean="0"/>
              <a:t>, H </a:t>
            </a:r>
            <a:r>
              <a:rPr lang="en-US" baseline="0" dirty="0" err="1" smtClean="0"/>
              <a:t>trỏ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đến</a:t>
            </a:r>
            <a:r>
              <a:rPr lang="en-US" baseline="0" dirty="0" smtClean="0"/>
              <a:t> 1 </a:t>
            </a:r>
            <a:r>
              <a:rPr lang="en-US" baseline="0" dirty="0" err="1" smtClean="0"/>
              <a:t>nút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gọi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Header node, </a:t>
            </a:r>
            <a:r>
              <a:rPr lang="en-US" baseline="0" dirty="0" err="1" smtClean="0"/>
              <a:t>chứa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địa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chỉ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của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nút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đầu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tiên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trong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danh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sách</a:t>
            </a:r>
            <a:r>
              <a:rPr lang="en-US" baseline="0" dirty="0" smtClean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 header linked list is a special type of linked list which </a:t>
            </a:r>
            <a:r>
              <a:rPr lang="en-US" b="1" dirty="0" smtClean="0"/>
              <a:t>contains a header node </a:t>
            </a:r>
            <a:r>
              <a:rPr lang="en-US" dirty="0" smtClean="0"/>
              <a:t>at the beginning</a:t>
            </a:r>
          </a:p>
          <a:p>
            <a:r>
              <a:rPr lang="en-US" dirty="0" smtClean="0"/>
              <a:t>of the list. So, in a header linked list, START will not point to the first node of the list but START will</a:t>
            </a:r>
          </a:p>
          <a:p>
            <a:r>
              <a:rPr lang="en-US" b="1" dirty="0" smtClean="0"/>
              <a:t>contain the address of the header node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first node will be accessed by writing START -&gt; NEXT instead of START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4296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node in the multi-linked list can have any number of pointers, </a:t>
            </a:r>
            <a:r>
              <a:rPr lang="en-US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thể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không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giống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nhau</a:t>
            </a:r>
            <a:endParaRPr lang="en-US" baseline="0" dirty="0" smtClean="0"/>
          </a:p>
          <a:p>
            <a:r>
              <a:rPr lang="en-US" dirty="0" smtClean="0"/>
              <a:t>Multi-linked lists are generally used to organize multiple orders of one set of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02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17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Bổ</a:t>
            </a:r>
            <a:r>
              <a:rPr lang="en-US" dirty="0" smtClean="0"/>
              <a:t> sung </a:t>
            </a:r>
            <a:r>
              <a:rPr lang="en-US" dirty="0" err="1" smtClean="0"/>
              <a:t>vào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vị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trí</a:t>
            </a:r>
            <a:r>
              <a:rPr lang="en-US" baseline="0" dirty="0" smtClean="0"/>
              <a:t> P </a:t>
            </a:r>
            <a:r>
              <a:rPr lang="en-US" baseline="0" dirty="0" err="1" smtClean="0"/>
              <a:t>và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đẩy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đuôi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lùi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3187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06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146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160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Memory representation of a</a:t>
            </a:r>
            <a:r>
              <a:rPr lang="en-US" baseline="0" dirty="0" smtClean="0"/>
              <a:t> straight </a:t>
            </a:r>
            <a:r>
              <a:rPr lang="en-US" dirty="0" smtClean="0"/>
              <a:t>doubly linked list</a:t>
            </a:r>
            <a:r>
              <a:rPr lang="en-US" baseline="0" dirty="0" smtClean="0"/>
              <a:t> and</a:t>
            </a:r>
            <a:r>
              <a:rPr lang="en-US" dirty="0" smtClean="0"/>
              <a:t> a circular doubly linked list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Nối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kép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đơn</a:t>
            </a:r>
            <a:r>
              <a:rPr lang="en-US" baseline="0" dirty="0" smtClean="0"/>
              <a:t> vs. </a:t>
            </a:r>
            <a:r>
              <a:rPr lang="en-US" baseline="0" dirty="0" err="1" smtClean="0"/>
              <a:t>nối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kép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vòng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4094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Nhờ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kép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thao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chèn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xóa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dữ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liệu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trước</a:t>
            </a:r>
            <a:r>
              <a:rPr lang="en-US" baseline="0" dirty="0" smtClean="0"/>
              <a:t> 1 </a:t>
            </a:r>
            <a:r>
              <a:rPr lang="en-US" baseline="0" dirty="0" err="1" smtClean="0"/>
              <a:t>nút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xóa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nút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cuối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danh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sách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sẽ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đơn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giản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hơn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khi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dùng</a:t>
            </a:r>
            <a:r>
              <a:rPr lang="en-US" baseline="0" dirty="0" smtClean="0"/>
              <a:t> ds </a:t>
            </a:r>
            <a:r>
              <a:rPr lang="en-US" baseline="0" dirty="0" err="1" smtClean="0"/>
              <a:t>nối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đơn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612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 err="1" smtClean="0">
                <a:cs typeface="Times New Roman" panose="02020603050405020304" pitchFamily="18" charset="0"/>
              </a:rPr>
              <a:t>Nhắc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lại</a:t>
            </a:r>
            <a:r>
              <a:rPr lang="en-US" altLang="en-US" dirty="0" smtClean="0">
                <a:cs typeface="Times New Roman" panose="02020603050405020304" pitchFamily="18" charset="0"/>
              </a:rPr>
              <a:t>: </a:t>
            </a:r>
            <a:r>
              <a:rPr lang="en-US" altLang="en-US" dirty="0" err="1" smtClean="0">
                <a:cs typeface="Times New Roman" panose="02020603050405020304" pitchFamily="18" charset="0"/>
              </a:rPr>
              <a:t>vì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danh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sách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liên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kết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có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kích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thước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động</a:t>
            </a:r>
            <a:r>
              <a:rPr lang="en-US" altLang="en-US" dirty="0" smtClean="0">
                <a:cs typeface="Times New Roman" panose="02020603050405020304" pitchFamily="18" charset="0"/>
              </a:rPr>
              <a:t>, </a:t>
            </a:r>
            <a:r>
              <a:rPr lang="en-US" altLang="en-US" dirty="0" err="1" smtClean="0">
                <a:cs typeface="Times New Roman" panose="02020603050405020304" pitchFamily="18" charset="0"/>
              </a:rPr>
              <a:t>không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bị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giới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hạn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trước</a:t>
            </a:r>
            <a:r>
              <a:rPr lang="en-US" altLang="en-US" dirty="0" smtClean="0">
                <a:cs typeface="Times New Roman" panose="02020603050405020304" pitchFamily="18" charset="0"/>
              </a:rPr>
              <a:t>, </a:t>
            </a:r>
            <a:r>
              <a:rPr lang="en-US" altLang="en-US" dirty="0" err="1" smtClean="0">
                <a:cs typeface="Times New Roman" panose="02020603050405020304" pitchFamily="18" charset="0"/>
              </a:rPr>
              <a:t>sự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tăng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kích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thước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chỉ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phụ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thuộc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vào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khả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năng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cấp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phát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bộ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nhớ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của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máy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tính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cho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nên</a:t>
            </a:r>
            <a:r>
              <a:rPr lang="en-US" altLang="en-US" dirty="0" smtClean="0">
                <a:cs typeface="Times New Roman" panose="02020603050405020304" pitchFamily="18" charset="0"/>
              </a:rPr>
              <a:t> ta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có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thể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coi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ngăn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xếp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có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kích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thư</a:t>
            </a:r>
            <a:r>
              <a:rPr lang="en-US" altLang="en-US" dirty="0" err="1" smtClean="0"/>
              <a:t>ớ</a:t>
            </a:r>
            <a:r>
              <a:rPr lang="en-US" altLang="en-US" dirty="0" err="1" smtClean="0">
                <a:cs typeface="Times New Roman" panose="02020603050405020304" pitchFamily="18" charset="0"/>
              </a:rPr>
              <a:t>c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vô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hạn</a:t>
            </a:r>
            <a:r>
              <a:rPr lang="en-US" altLang="en-US" dirty="0" smtClean="0"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107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 err="1" smtClean="0">
                <a:cs typeface="Times New Roman" panose="02020603050405020304" pitchFamily="18" charset="0"/>
              </a:rPr>
              <a:t>Nhắc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lại</a:t>
            </a:r>
            <a:r>
              <a:rPr lang="en-US" altLang="en-US" dirty="0" smtClean="0">
                <a:cs typeface="Times New Roman" panose="02020603050405020304" pitchFamily="18" charset="0"/>
              </a:rPr>
              <a:t>: </a:t>
            </a:r>
            <a:r>
              <a:rPr lang="en-US" altLang="en-US" dirty="0" err="1" smtClean="0">
                <a:cs typeface="Times New Roman" panose="02020603050405020304" pitchFamily="18" charset="0"/>
              </a:rPr>
              <a:t>vì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danh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sách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liên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kết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có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kích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thước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động</a:t>
            </a:r>
            <a:r>
              <a:rPr lang="en-US" altLang="en-US" dirty="0" smtClean="0">
                <a:cs typeface="Times New Roman" panose="02020603050405020304" pitchFamily="18" charset="0"/>
              </a:rPr>
              <a:t>, </a:t>
            </a:r>
            <a:r>
              <a:rPr lang="en-US" altLang="en-US" dirty="0" err="1" smtClean="0">
                <a:cs typeface="Times New Roman" panose="02020603050405020304" pitchFamily="18" charset="0"/>
              </a:rPr>
              <a:t>không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bị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giới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hạn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trước</a:t>
            </a:r>
            <a:r>
              <a:rPr lang="en-US" altLang="en-US" dirty="0" smtClean="0">
                <a:cs typeface="Times New Roman" panose="02020603050405020304" pitchFamily="18" charset="0"/>
              </a:rPr>
              <a:t>, </a:t>
            </a:r>
            <a:r>
              <a:rPr lang="en-US" altLang="en-US" dirty="0" err="1" smtClean="0">
                <a:cs typeface="Times New Roman" panose="02020603050405020304" pitchFamily="18" charset="0"/>
              </a:rPr>
              <a:t>sự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tăng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kích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thước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chỉ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phụ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thuộc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vào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khả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năng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cấp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phát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bộ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nhớ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của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máy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tính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cho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nên</a:t>
            </a:r>
            <a:r>
              <a:rPr lang="en-US" altLang="en-US" dirty="0" smtClean="0">
                <a:cs typeface="Times New Roman" panose="02020603050405020304" pitchFamily="18" charset="0"/>
              </a:rPr>
              <a:t> ta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có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thể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coi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ngăn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xếp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có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kích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thư</a:t>
            </a:r>
            <a:r>
              <a:rPr lang="en-US" altLang="en-US" dirty="0" err="1" smtClean="0"/>
              <a:t>ớ</a:t>
            </a:r>
            <a:r>
              <a:rPr lang="en-US" altLang="en-US" dirty="0" err="1" smtClean="0">
                <a:cs typeface="Times New Roman" panose="02020603050405020304" pitchFamily="18" charset="0"/>
              </a:rPr>
              <a:t>c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vô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hạn</a:t>
            </a:r>
            <a:r>
              <a:rPr lang="en-US" altLang="en-US" dirty="0" smtClean="0"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304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647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1613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60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 err="1" smtClean="0">
                <a:cs typeface="Times New Roman" panose="02020603050405020304" pitchFamily="18" charset="0"/>
              </a:rPr>
              <a:t>Nhắc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lại</a:t>
            </a:r>
            <a:r>
              <a:rPr lang="en-US" altLang="en-US" dirty="0" smtClean="0">
                <a:cs typeface="Times New Roman" panose="02020603050405020304" pitchFamily="18" charset="0"/>
              </a:rPr>
              <a:t>: </a:t>
            </a:r>
            <a:r>
              <a:rPr lang="en-US" altLang="en-US" dirty="0" err="1" smtClean="0">
                <a:cs typeface="Times New Roman" panose="02020603050405020304" pitchFamily="18" charset="0"/>
              </a:rPr>
              <a:t>vì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danh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sách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liên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kết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có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kích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thước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động</a:t>
            </a:r>
            <a:r>
              <a:rPr lang="en-US" altLang="en-US" dirty="0" smtClean="0">
                <a:cs typeface="Times New Roman" panose="02020603050405020304" pitchFamily="18" charset="0"/>
              </a:rPr>
              <a:t>, </a:t>
            </a:r>
            <a:r>
              <a:rPr lang="en-US" altLang="en-US" dirty="0" err="1" smtClean="0">
                <a:cs typeface="Times New Roman" panose="02020603050405020304" pitchFamily="18" charset="0"/>
              </a:rPr>
              <a:t>không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bị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giới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hạn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trước</a:t>
            </a:r>
            <a:r>
              <a:rPr lang="en-US" altLang="en-US" dirty="0" smtClean="0">
                <a:cs typeface="Times New Roman" panose="02020603050405020304" pitchFamily="18" charset="0"/>
              </a:rPr>
              <a:t>, </a:t>
            </a:r>
            <a:r>
              <a:rPr lang="en-US" altLang="en-US" dirty="0" err="1" smtClean="0">
                <a:cs typeface="Times New Roman" panose="02020603050405020304" pitchFamily="18" charset="0"/>
              </a:rPr>
              <a:t>sự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tăng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kích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thước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chỉ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phụ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thuộc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vào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khả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năng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cấp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phát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bộ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nhớ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của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máy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tính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cho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nên</a:t>
            </a:r>
            <a:r>
              <a:rPr lang="en-US" altLang="en-US" dirty="0" smtClean="0">
                <a:cs typeface="Times New Roman" panose="02020603050405020304" pitchFamily="18" charset="0"/>
              </a:rPr>
              <a:t> ta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có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thể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coi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ngăn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xếp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có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kích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thư</a:t>
            </a:r>
            <a:r>
              <a:rPr lang="en-US" altLang="en-US" dirty="0" err="1" smtClean="0"/>
              <a:t>ớ</a:t>
            </a:r>
            <a:r>
              <a:rPr lang="en-US" altLang="en-US" dirty="0" err="1" smtClean="0">
                <a:cs typeface="Times New Roman" panose="02020603050405020304" pitchFamily="18" charset="0"/>
              </a:rPr>
              <a:t>c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vô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hạn</a:t>
            </a:r>
            <a:r>
              <a:rPr lang="en-US" altLang="en-US" dirty="0" smtClean="0">
                <a:cs typeface="Times New Roman" panose="02020603050405020304" pitchFamily="18" charset="0"/>
              </a:rPr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9192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 smtClean="0"/>
              <a:t>cài đặt một danh sách các môn học, mỗi môn học gồm các thông tin:</a:t>
            </a:r>
          </a:p>
          <a:p>
            <a:r>
              <a:rPr lang="vi-VN" dirty="0" smtClean="0"/>
              <a:t>mã môn, tên môn, số trình. Danh sách luôn được sắp xếp theo thứ tự tăng dần của</a:t>
            </a:r>
          </a:p>
          <a:p>
            <a:r>
              <a:rPr lang="vi-VN" dirty="0" smtClean="0"/>
              <a:t>số trình.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845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Đổi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số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dùng</a:t>
            </a:r>
            <a:r>
              <a:rPr lang="en-US" baseline="0" dirty="0" smtClean="0"/>
              <a:t> stack </a:t>
            </a:r>
            <a:r>
              <a:rPr lang="en-US" baseline="0" dirty="0" err="1" smtClean="0"/>
              <a:t>để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lưu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dư</a:t>
            </a:r>
            <a:r>
              <a:rPr lang="en-US" baseline="0" smtClean="0"/>
              <a:t> %2.</a:t>
            </a:r>
            <a:endParaRPr lang="en-US" smtClean="0"/>
          </a:p>
          <a:p>
            <a:r>
              <a:rPr lang="en-US" dirty="0" err="1" smtClean="0"/>
              <a:t>Phân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tích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xâu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ký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tự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dùng</a:t>
            </a:r>
            <a:r>
              <a:rPr lang="en-US" baseline="0" dirty="0" smtClean="0"/>
              <a:t> queue, </a:t>
            </a:r>
            <a:r>
              <a:rPr lang="en-US" baseline="0" dirty="0" err="1" smtClean="0"/>
              <a:t>đọc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xâu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ký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tự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khác</a:t>
            </a:r>
            <a:r>
              <a:rPr lang="en-US" baseline="0" dirty="0" smtClean="0"/>
              <a:t> space =&gt; </a:t>
            </a:r>
            <a:r>
              <a:rPr lang="en-US" baseline="0" dirty="0" err="1" smtClean="0"/>
              <a:t>cho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vào</a:t>
            </a:r>
            <a:r>
              <a:rPr lang="en-US" baseline="0" dirty="0" smtClean="0"/>
              <a:t> queue, </a:t>
            </a:r>
            <a:r>
              <a:rPr lang="en-US" baseline="0" dirty="0" err="1" smtClean="0"/>
              <a:t>gặp</a:t>
            </a:r>
            <a:r>
              <a:rPr lang="en-US" baseline="0" dirty="0" smtClean="0"/>
              <a:t> space </a:t>
            </a:r>
            <a:r>
              <a:rPr lang="en-US" baseline="0" dirty="0" err="1" smtClean="0"/>
              <a:t>thì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lấy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hết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trong</a:t>
            </a:r>
            <a:r>
              <a:rPr lang="en-US" baseline="0" dirty="0" smtClean="0"/>
              <a:t> queue </a:t>
            </a:r>
            <a:r>
              <a:rPr lang="en-US" baseline="0" dirty="0" err="1" smtClean="0"/>
              <a:t>ra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thành</a:t>
            </a:r>
            <a:r>
              <a:rPr lang="en-US" baseline="0" dirty="0" smtClean="0"/>
              <a:t> 1 </a:t>
            </a:r>
            <a:r>
              <a:rPr lang="en-US" baseline="0" dirty="0" err="1" smtClean="0"/>
              <a:t>từ</a:t>
            </a:r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878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56474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997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269CE-12F4-4F4F-BF2F-21E0A343DA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27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3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986690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53853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56882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6592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0598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2356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30879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81757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6481266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455845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9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5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9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268814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3/25/2024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9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5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908613828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3/25/2024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9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5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1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64690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9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3/25/2024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9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495501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5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3/25/2024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9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44221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3/25/2024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9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818820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  <a:latin typeface="Gill Sans MT"/>
              </a:defRPr>
            </a:lvl1pPr>
          </a:lstStyle>
          <a:p>
            <a:fld id="{BC24317B-5122-4A99-A6E9-FA23C146A7E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20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5583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fr-FR" dirty="0" smtClean="0"/>
              <a:t>ET2100 </a:t>
            </a:r>
            <a:r>
              <a:rPr lang="en-US" i="1" dirty="0" smtClean="0"/>
              <a:t>- </a:t>
            </a:r>
            <a:r>
              <a:rPr lang="en-US" b="1" i="1" dirty="0" smtClean="0"/>
              <a:t>Data Structures and Algorithms</a:t>
            </a:r>
            <a:endParaRPr lang="en-US" dirty="0" smtClean="0"/>
          </a:p>
          <a:p>
            <a:pPr algn="r"/>
            <a:r>
              <a:rPr lang="en-US" dirty="0" smtClean="0"/>
              <a:t>School of Electrical and Electronic Engineering</a:t>
            </a:r>
            <a:endParaRPr lang="en-US" dirty="0"/>
          </a:p>
        </p:txBody>
      </p:sp>
      <p:sp>
        <p:nvSpPr>
          <p:cNvPr id="5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D:\lo go dhbk100957AM.jpg"/>
          <p:cNvPicPr>
            <a:picLocks noChangeAspect="1" noChangeArrowheads="1"/>
          </p:cNvPicPr>
          <p:nvPr userDrawn="1"/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8766174" y="6372320"/>
            <a:ext cx="225425" cy="3364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2397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51" r:id="rId2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66800" y="4156075"/>
            <a:ext cx="7315200" cy="10668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CẤU TRÚC DỮ LIỆU VÀ GIẢI THUẬT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3695700" y="5029200"/>
            <a:ext cx="6781800" cy="114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smtClean="0">
                <a:solidFill>
                  <a:schemeClr val="bg1"/>
                </a:solidFill>
              </a:rPr>
              <a:t>ET2100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356350"/>
            <a:ext cx="2057400" cy="365125"/>
          </a:xfrm>
        </p:spPr>
        <p:txBody>
          <a:bodyPr/>
          <a:lstStyle/>
          <a:p>
            <a:fld id="{26B269CE-12F4-4F4F-BF2F-21E0A343DA4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95600"/>
            <a:ext cx="7772400" cy="10668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/>
            <a:r>
              <a:rPr lang="vi-VN" sz="2400" i="1" dirty="0">
                <a:latin typeface="Lato"/>
              </a:rPr>
              <a:t>Chương </a:t>
            </a:r>
            <a:r>
              <a:rPr lang="vi-VN" sz="2400" i="1" dirty="0" smtClean="0">
                <a:latin typeface="Lato"/>
              </a:rPr>
              <a:t>II : </a:t>
            </a:r>
            <a:r>
              <a:rPr lang="en-US" sz="2400" i="1" dirty="0" smtClean="0">
                <a:latin typeface="Lato"/>
              </a:rPr>
              <a:t/>
            </a:r>
            <a:br>
              <a:rPr lang="en-US" sz="2400" i="1" dirty="0" smtClean="0">
                <a:latin typeface="Lato"/>
              </a:rPr>
            </a:br>
            <a:r>
              <a:rPr lang="vi-VN" sz="2400" i="1" dirty="0">
                <a:latin typeface="Lato"/>
              </a:rPr>
              <a:t>Cấu trúc mảng và </a:t>
            </a:r>
            <a:r>
              <a:rPr lang="en-US" sz="2400" i="1" dirty="0" smtClean="0">
                <a:latin typeface="Lato"/>
              </a:rPr>
              <a:t>D</a:t>
            </a:r>
            <a:r>
              <a:rPr lang="vi-VN" sz="2400" i="1" dirty="0" smtClean="0">
                <a:latin typeface="Lato"/>
              </a:rPr>
              <a:t>anh </a:t>
            </a:r>
            <a:r>
              <a:rPr lang="vi-VN" sz="2400" i="1" dirty="0">
                <a:latin typeface="Lato"/>
              </a:rPr>
              <a:t>sách tuyến </a:t>
            </a:r>
            <a:r>
              <a:rPr lang="vi-VN" sz="2400" i="1" dirty="0" smtClean="0">
                <a:latin typeface="Lato"/>
              </a:rPr>
              <a:t>tính</a:t>
            </a:r>
            <a:endParaRPr lang="en-US" sz="2400" b="1" i="1" dirty="0">
              <a:latin typeface="Lato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3733800" y="4572000"/>
            <a:ext cx="7351077" cy="11192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1400" dirty="0" err="1"/>
              <a:t>Giảng</a:t>
            </a:r>
            <a:r>
              <a:rPr lang="en-US" sz="1400" dirty="0"/>
              <a:t> </a:t>
            </a:r>
            <a:r>
              <a:rPr lang="en-US" sz="1400" dirty="0" err="1"/>
              <a:t>viên</a:t>
            </a:r>
            <a:r>
              <a:rPr lang="en-US" sz="1400" dirty="0"/>
              <a:t>: TS. </a:t>
            </a:r>
            <a:r>
              <a:rPr lang="en-US" sz="1400" dirty="0" err="1"/>
              <a:t>Đỗ</a:t>
            </a:r>
            <a:r>
              <a:rPr lang="en-US" sz="1400" dirty="0"/>
              <a:t> </a:t>
            </a:r>
            <a:r>
              <a:rPr lang="en-US" sz="1400" dirty="0" err="1"/>
              <a:t>Thị</a:t>
            </a:r>
            <a:r>
              <a:rPr lang="en-US" sz="1400" dirty="0"/>
              <a:t> </a:t>
            </a:r>
            <a:r>
              <a:rPr lang="en-US" sz="1400" dirty="0" err="1"/>
              <a:t>Ngọc</a:t>
            </a:r>
            <a:r>
              <a:rPr lang="en-US" sz="1400" dirty="0"/>
              <a:t> </a:t>
            </a:r>
            <a:r>
              <a:rPr lang="en-US" sz="1400" dirty="0" err="1"/>
              <a:t>Diệp</a:t>
            </a:r>
            <a:endParaRPr lang="en-US" sz="1400" dirty="0"/>
          </a:p>
          <a:p>
            <a:r>
              <a:rPr lang="en-US" sz="1400" dirty="0" err="1" smtClean="0"/>
              <a:t>Khoa</a:t>
            </a:r>
            <a:r>
              <a:rPr lang="en-US" sz="1400" dirty="0" smtClean="0"/>
              <a:t> </a:t>
            </a:r>
            <a:r>
              <a:rPr lang="en-US" sz="1400" dirty="0" err="1"/>
              <a:t>Kỹ</a:t>
            </a:r>
            <a:r>
              <a:rPr lang="en-US" sz="1400" dirty="0"/>
              <a:t> </a:t>
            </a:r>
            <a:r>
              <a:rPr lang="en-US" sz="1400" dirty="0" err="1"/>
              <a:t>thuật</a:t>
            </a:r>
            <a:r>
              <a:rPr lang="en-US" sz="1400" dirty="0"/>
              <a:t> </a:t>
            </a:r>
            <a:r>
              <a:rPr lang="en-US" sz="1400" dirty="0" err="1"/>
              <a:t>Truyền</a:t>
            </a:r>
            <a:r>
              <a:rPr lang="en-US" sz="1400" dirty="0"/>
              <a:t> </a:t>
            </a:r>
            <a:r>
              <a:rPr lang="en-US" sz="1400" dirty="0" err="1"/>
              <a:t>thông</a:t>
            </a:r>
            <a:r>
              <a:rPr lang="en-US" sz="1400" dirty="0"/>
              <a:t> – </a:t>
            </a:r>
            <a:r>
              <a:rPr lang="en-US" sz="1400" dirty="0" err="1" smtClean="0"/>
              <a:t>Trường</a:t>
            </a:r>
            <a:r>
              <a:rPr lang="en-US" sz="1400" dirty="0" smtClean="0"/>
              <a:t> </a:t>
            </a:r>
            <a:r>
              <a:rPr lang="en-US" sz="1400" dirty="0" err="1" smtClean="0"/>
              <a:t>Điện</a:t>
            </a:r>
            <a:r>
              <a:rPr lang="en-US" sz="1400" dirty="0" smtClean="0"/>
              <a:t> </a:t>
            </a:r>
            <a:r>
              <a:rPr lang="en-US" sz="1400" dirty="0" err="1" smtClean="0"/>
              <a:t>Điện</a:t>
            </a:r>
            <a:r>
              <a:rPr lang="en-US" sz="1400" dirty="0" smtClean="0"/>
              <a:t> </a:t>
            </a:r>
            <a:r>
              <a:rPr lang="en-US" sz="1400" dirty="0" err="1" smtClean="0"/>
              <a:t>Tử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dirty="0" smtClean="0"/>
              <a:t>ET2100 </a:t>
            </a:r>
            <a:r>
              <a:rPr lang="en-US" i="1" dirty="0" smtClean="0"/>
              <a:t>- </a:t>
            </a:r>
            <a:r>
              <a:rPr lang="en-US" b="1" i="1" dirty="0" smtClean="0"/>
              <a:t>Data Structures and Algorithms</a:t>
            </a:r>
            <a:endParaRPr lang="en-US" dirty="0" smtClean="0"/>
          </a:p>
          <a:p>
            <a:pPr algn="r"/>
            <a:r>
              <a:rPr lang="en-US" dirty="0" smtClean="0"/>
              <a:t>School of Electrical and Electronic Engineering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nội</a:t>
            </a:r>
            <a:r>
              <a:rPr lang="en-US" altLang="en-US" dirty="0"/>
              <a:t> dung </a:t>
            </a:r>
            <a:r>
              <a:rPr lang="en-US" altLang="en-US" dirty="0" err="1"/>
              <a:t>chính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AutoNum type="arabicPeriod"/>
            </a:pPr>
            <a:r>
              <a:rPr lang="en-US" altLang="en-US" dirty="0" err="1"/>
              <a:t>Cấu</a:t>
            </a:r>
            <a:r>
              <a:rPr lang="en-US" altLang="en-US" dirty="0"/>
              <a:t> </a:t>
            </a:r>
            <a:r>
              <a:rPr lang="en-US" altLang="en-US" dirty="0" err="1"/>
              <a:t>trúc</a:t>
            </a:r>
            <a:r>
              <a:rPr lang="en-US" altLang="en-US" dirty="0"/>
              <a:t> </a:t>
            </a:r>
            <a:r>
              <a:rPr lang="en-US" altLang="en-US" dirty="0" err="1"/>
              <a:t>mảng</a:t>
            </a:r>
            <a:endParaRPr lang="en-US" altLang="en-US" dirty="0"/>
          </a:p>
          <a:p>
            <a:pPr marL="839788" lvl="1" indent="-495300"/>
            <a:r>
              <a:rPr lang="en-US" altLang="en-US" sz="2100" dirty="0" smtClean="0">
                <a:cs typeface="Times New Roman" panose="02020603050405020304" pitchFamily="18" charset="0"/>
              </a:rPr>
              <a:t>1.1. </a:t>
            </a:r>
            <a:r>
              <a:rPr lang="en-US" altLang="en-US" sz="2100" dirty="0" err="1" smtClean="0">
                <a:cs typeface="Times New Roman" panose="02020603050405020304" pitchFamily="18" charset="0"/>
              </a:rPr>
              <a:t>Mô</a:t>
            </a:r>
            <a:r>
              <a:rPr lang="en-US" altLang="en-US" sz="21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cs typeface="Times New Roman" panose="02020603050405020304" pitchFamily="18" charset="0"/>
              </a:rPr>
              <a:t>tả</a:t>
            </a:r>
            <a:endParaRPr lang="en-US" altLang="en-US" sz="2100" dirty="0">
              <a:cs typeface="Times New Roman" panose="02020603050405020304" pitchFamily="18" charset="0"/>
            </a:endParaRPr>
          </a:p>
          <a:p>
            <a:pPr marL="839788" lvl="1" indent="-495300"/>
            <a:r>
              <a:rPr lang="en-US" altLang="en-US" sz="2100" dirty="0" smtClean="0">
                <a:cs typeface="Times New Roman" panose="02020603050405020304" pitchFamily="18" charset="0"/>
              </a:rPr>
              <a:t>1.2. </a:t>
            </a:r>
            <a:r>
              <a:rPr lang="en-US" altLang="en-US" sz="2100" dirty="0" err="1" smtClean="0">
                <a:cs typeface="Times New Roman" panose="02020603050405020304" pitchFamily="18" charset="0"/>
              </a:rPr>
              <a:t>Cấu</a:t>
            </a:r>
            <a:r>
              <a:rPr lang="en-US" altLang="en-US" sz="21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cs typeface="Times New Roman" panose="02020603050405020304" pitchFamily="18" charset="0"/>
              </a:rPr>
              <a:t>trúc</a:t>
            </a:r>
            <a:r>
              <a:rPr lang="en-US" altLang="en-US" sz="2100" dirty="0"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cs typeface="Times New Roman" panose="02020603050405020304" pitchFamily="18" charset="0"/>
              </a:rPr>
              <a:t>lưu</a:t>
            </a:r>
            <a:r>
              <a:rPr lang="en-US" altLang="en-US" sz="2100" dirty="0"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cs typeface="Times New Roman" panose="02020603050405020304" pitchFamily="18" charset="0"/>
              </a:rPr>
              <a:t>trữ</a:t>
            </a:r>
            <a:r>
              <a:rPr lang="en-US" altLang="en-US" sz="2100" dirty="0"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cs typeface="Times New Roman" panose="02020603050405020304" pitchFamily="18" charset="0"/>
              </a:rPr>
              <a:t>tuần</a:t>
            </a:r>
            <a:r>
              <a:rPr lang="en-US" altLang="en-US" sz="2100" dirty="0"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cs typeface="Times New Roman" panose="02020603050405020304" pitchFamily="18" charset="0"/>
              </a:rPr>
              <a:t>tự</a:t>
            </a:r>
            <a:endParaRPr lang="en-US" altLang="en-US" sz="2100" dirty="0">
              <a:cs typeface="Times New Roman" panose="02020603050405020304" pitchFamily="18" charset="0"/>
            </a:endParaRPr>
          </a:p>
          <a:p>
            <a:pPr marL="839788" lvl="1" indent="-495300"/>
            <a:r>
              <a:rPr lang="en-US" altLang="en-US" sz="2100" dirty="0" smtClean="0">
                <a:cs typeface="Times New Roman" panose="02020603050405020304" pitchFamily="18" charset="0"/>
              </a:rPr>
              <a:t>1.3. </a:t>
            </a:r>
            <a:r>
              <a:rPr lang="en-US" altLang="en-US" sz="2100" dirty="0" err="1" smtClean="0">
                <a:cs typeface="Times New Roman" panose="02020603050405020304" pitchFamily="18" charset="0"/>
              </a:rPr>
              <a:t>Cài</a:t>
            </a:r>
            <a:r>
              <a:rPr lang="en-US" altLang="en-US" sz="21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cs typeface="Times New Roman" panose="02020603050405020304" pitchFamily="18" charset="0"/>
              </a:rPr>
              <a:t>đặt</a:t>
            </a:r>
            <a:r>
              <a:rPr lang="en-US" altLang="en-US" sz="2100" dirty="0"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cs typeface="Times New Roman" panose="02020603050405020304" pitchFamily="18" charset="0"/>
              </a:rPr>
              <a:t>mảng</a:t>
            </a:r>
            <a:r>
              <a:rPr lang="en-US" altLang="en-US" sz="2100" dirty="0"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cs typeface="Times New Roman" panose="02020603050405020304" pitchFamily="18" charset="0"/>
              </a:rPr>
              <a:t>bằng</a:t>
            </a:r>
            <a:r>
              <a:rPr lang="en-US" altLang="en-US" sz="2100" dirty="0"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cs typeface="Times New Roman" panose="02020603050405020304" pitchFamily="18" charset="0"/>
              </a:rPr>
              <a:t>cấu</a:t>
            </a:r>
            <a:r>
              <a:rPr lang="en-US" altLang="en-US" sz="2100" dirty="0"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cs typeface="Times New Roman" panose="02020603050405020304" pitchFamily="18" charset="0"/>
              </a:rPr>
              <a:t>trúc</a:t>
            </a:r>
            <a:r>
              <a:rPr lang="en-US" altLang="en-US" sz="2100" dirty="0"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cs typeface="Times New Roman" panose="02020603050405020304" pitchFamily="18" charset="0"/>
              </a:rPr>
              <a:t>lưu</a:t>
            </a:r>
            <a:r>
              <a:rPr lang="en-US" altLang="en-US" sz="2100" dirty="0"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cs typeface="Times New Roman" panose="02020603050405020304" pitchFamily="18" charset="0"/>
              </a:rPr>
              <a:t>trữ</a:t>
            </a:r>
            <a:r>
              <a:rPr lang="en-US" altLang="en-US" sz="2100" dirty="0"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cs typeface="Times New Roman" panose="02020603050405020304" pitchFamily="18" charset="0"/>
              </a:rPr>
              <a:t>tuần</a:t>
            </a:r>
            <a:r>
              <a:rPr lang="en-US" altLang="en-US" sz="2100" dirty="0"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cs typeface="Times New Roman" panose="02020603050405020304" pitchFamily="18" charset="0"/>
              </a:rPr>
              <a:t>tự</a:t>
            </a:r>
            <a:endParaRPr lang="en-US" altLang="en-US" sz="2100" dirty="0"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AutoNum type="arabicPeriod"/>
            </a:pPr>
            <a:r>
              <a:rPr lang="en-US" altLang="en-US" dirty="0" err="1" smtClean="0"/>
              <a:t>Cấu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trúc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danh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sách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tuyến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tính</a:t>
            </a:r>
            <a:endParaRPr lang="en-US" altLang="en-US" dirty="0" smtClean="0"/>
          </a:p>
          <a:p>
            <a:pPr marL="839788" lvl="1" indent="-495300"/>
            <a:r>
              <a:rPr lang="en-US" altLang="en-US" sz="2100" dirty="0" smtClean="0">
                <a:cs typeface="Times New Roman" panose="02020603050405020304" pitchFamily="18" charset="0"/>
              </a:rPr>
              <a:t>2.1. </a:t>
            </a:r>
            <a:r>
              <a:rPr lang="en-US" altLang="en-US" sz="2100" dirty="0" err="1" smtClean="0">
                <a:cs typeface="Times New Roman" panose="02020603050405020304" pitchFamily="18" charset="0"/>
              </a:rPr>
              <a:t>Mô</a:t>
            </a:r>
            <a:r>
              <a:rPr lang="en-US" altLang="en-US" sz="21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100" dirty="0" err="1" smtClean="0">
                <a:cs typeface="Times New Roman" panose="02020603050405020304" pitchFamily="18" charset="0"/>
              </a:rPr>
              <a:t>tả</a:t>
            </a:r>
            <a:endParaRPr lang="en-US" altLang="en-US" sz="2100" dirty="0" smtClean="0">
              <a:cs typeface="Times New Roman" panose="02020603050405020304" pitchFamily="18" charset="0"/>
            </a:endParaRPr>
          </a:p>
          <a:p>
            <a:pPr marL="839788" lvl="1" indent="-495300"/>
            <a:r>
              <a:rPr lang="en-US" sz="2100" dirty="0" smtClean="0"/>
              <a:t>2.2. </a:t>
            </a:r>
            <a:r>
              <a:rPr lang="en-US" sz="2100" dirty="0" err="1" smtClean="0"/>
              <a:t>Cài</a:t>
            </a:r>
            <a:r>
              <a:rPr lang="en-US" sz="2100" dirty="0" smtClean="0"/>
              <a:t> </a:t>
            </a:r>
            <a:r>
              <a:rPr lang="en-US" sz="2100" dirty="0" err="1"/>
              <a:t>đặt</a:t>
            </a:r>
            <a:r>
              <a:rPr lang="en-US" sz="2100" dirty="0"/>
              <a:t> </a:t>
            </a:r>
            <a:r>
              <a:rPr lang="en-US" sz="2100" dirty="0" err="1"/>
              <a:t>danh</a:t>
            </a:r>
            <a:r>
              <a:rPr lang="en-US" sz="2100" dirty="0"/>
              <a:t> </a:t>
            </a:r>
            <a:r>
              <a:rPr lang="en-US" sz="2100" dirty="0" err="1"/>
              <a:t>sách</a:t>
            </a:r>
            <a:r>
              <a:rPr lang="en-US" sz="2100" dirty="0"/>
              <a:t> </a:t>
            </a:r>
            <a:r>
              <a:rPr lang="en-US" sz="2100" dirty="0" err="1"/>
              <a:t>bằng</a:t>
            </a:r>
            <a:r>
              <a:rPr lang="en-US" sz="2100" dirty="0"/>
              <a:t> </a:t>
            </a:r>
            <a:r>
              <a:rPr lang="en-US" sz="2100" dirty="0" err="1"/>
              <a:t>cấu</a:t>
            </a:r>
            <a:r>
              <a:rPr lang="en-US" sz="2100" dirty="0"/>
              <a:t> </a:t>
            </a:r>
            <a:r>
              <a:rPr lang="en-US" sz="2100" dirty="0" err="1"/>
              <a:t>trúc</a:t>
            </a:r>
            <a:r>
              <a:rPr lang="en-US" sz="2100" dirty="0"/>
              <a:t> </a:t>
            </a:r>
            <a:r>
              <a:rPr lang="en-US" sz="2100" dirty="0" err="1"/>
              <a:t>lưu</a:t>
            </a:r>
            <a:r>
              <a:rPr lang="en-US" sz="2100" dirty="0"/>
              <a:t> </a:t>
            </a:r>
            <a:r>
              <a:rPr lang="en-US" sz="2100" dirty="0" err="1"/>
              <a:t>trữ</a:t>
            </a:r>
            <a:r>
              <a:rPr lang="en-US" sz="2100" dirty="0"/>
              <a:t> </a:t>
            </a:r>
            <a:r>
              <a:rPr lang="en-US" sz="2100" dirty="0" err="1"/>
              <a:t>tuần</a:t>
            </a:r>
            <a:r>
              <a:rPr lang="en-US" sz="2100" dirty="0"/>
              <a:t> </a:t>
            </a:r>
            <a:r>
              <a:rPr lang="en-US" sz="2100" dirty="0" err="1" smtClean="0"/>
              <a:t>tự</a:t>
            </a:r>
            <a:endParaRPr lang="en-US" sz="2100" dirty="0" smtClean="0"/>
          </a:p>
          <a:p>
            <a:pPr marL="839788" lvl="1" indent="-495300"/>
            <a:r>
              <a:rPr lang="en-US" sz="2100" b="1" dirty="0" smtClean="0"/>
              <a:t>2.3. </a:t>
            </a:r>
            <a:r>
              <a:rPr lang="en-US" sz="2100" b="1" dirty="0" err="1" smtClean="0"/>
              <a:t>Cài</a:t>
            </a:r>
            <a:r>
              <a:rPr lang="en-US" sz="2100" b="1" dirty="0" smtClean="0"/>
              <a:t> </a:t>
            </a:r>
            <a:r>
              <a:rPr lang="en-US" sz="2100" b="1" dirty="0" err="1"/>
              <a:t>đặt</a:t>
            </a:r>
            <a:r>
              <a:rPr lang="en-US" sz="2100" b="1" dirty="0"/>
              <a:t> </a:t>
            </a:r>
            <a:r>
              <a:rPr lang="en-US" sz="2100" b="1" dirty="0" err="1"/>
              <a:t>danh</a:t>
            </a:r>
            <a:r>
              <a:rPr lang="en-US" sz="2100" b="1" dirty="0"/>
              <a:t> </a:t>
            </a:r>
            <a:r>
              <a:rPr lang="en-US" sz="2100" b="1" dirty="0" err="1"/>
              <a:t>sách</a:t>
            </a:r>
            <a:r>
              <a:rPr lang="en-US" sz="2100" b="1" dirty="0"/>
              <a:t> </a:t>
            </a:r>
            <a:r>
              <a:rPr lang="en-US" sz="2100" b="1" dirty="0" err="1"/>
              <a:t>bằng</a:t>
            </a:r>
            <a:r>
              <a:rPr lang="en-US" sz="2100" b="1" dirty="0"/>
              <a:t> </a:t>
            </a:r>
            <a:r>
              <a:rPr lang="en-US" sz="2100" b="1" dirty="0" err="1"/>
              <a:t>cấu</a:t>
            </a:r>
            <a:r>
              <a:rPr lang="en-US" sz="2100" b="1" dirty="0"/>
              <a:t> </a:t>
            </a:r>
            <a:r>
              <a:rPr lang="en-US" sz="2100" b="1" dirty="0" err="1"/>
              <a:t>trúc</a:t>
            </a:r>
            <a:r>
              <a:rPr lang="en-US" sz="2100" b="1" dirty="0"/>
              <a:t> </a:t>
            </a:r>
            <a:r>
              <a:rPr lang="en-US" sz="2100" b="1" dirty="0" err="1"/>
              <a:t>lưu</a:t>
            </a:r>
            <a:r>
              <a:rPr lang="en-US" sz="2100" b="1" dirty="0"/>
              <a:t> </a:t>
            </a:r>
            <a:r>
              <a:rPr lang="en-US" sz="2100" b="1" dirty="0" err="1"/>
              <a:t>trữ</a:t>
            </a:r>
            <a:r>
              <a:rPr lang="en-US" sz="2100" b="1" dirty="0"/>
              <a:t> </a:t>
            </a:r>
            <a:r>
              <a:rPr lang="en-US" sz="2100" b="1" dirty="0" err="1"/>
              <a:t>móc</a:t>
            </a:r>
            <a:r>
              <a:rPr lang="en-US" sz="2100" b="1" dirty="0"/>
              <a:t> </a:t>
            </a:r>
            <a:r>
              <a:rPr lang="en-US" sz="2100" b="1" dirty="0" err="1"/>
              <a:t>nối</a:t>
            </a:r>
            <a:endParaRPr lang="en-US" altLang="en-US" sz="2100" b="1" dirty="0">
              <a:cs typeface="Times New Roman" panose="02020603050405020304" pitchFamily="18" charset="0"/>
            </a:endParaRPr>
          </a:p>
          <a:p>
            <a:pPr marL="839788" lvl="1" indent="-495300"/>
            <a:r>
              <a:rPr lang="en-US" altLang="en-US" sz="2100" b="1" dirty="0"/>
              <a:t>2.4. </a:t>
            </a:r>
            <a:r>
              <a:rPr lang="en-US" altLang="en-US" sz="2100" b="1" dirty="0" err="1"/>
              <a:t>Một</a:t>
            </a:r>
            <a:r>
              <a:rPr lang="en-US" altLang="en-US" sz="2100" b="1" dirty="0"/>
              <a:t> </a:t>
            </a:r>
            <a:r>
              <a:rPr lang="en-US" altLang="en-US" sz="2100" b="1" dirty="0" err="1"/>
              <a:t>số</a:t>
            </a:r>
            <a:r>
              <a:rPr lang="en-US" altLang="en-US" sz="2100" b="1" dirty="0"/>
              <a:t> </a:t>
            </a:r>
            <a:r>
              <a:rPr lang="en-US" altLang="en-US" sz="2100" b="1" dirty="0" err="1"/>
              <a:t>ứng</a:t>
            </a:r>
            <a:r>
              <a:rPr lang="en-US" altLang="en-US" sz="2100" b="1" dirty="0"/>
              <a:t> </a:t>
            </a:r>
            <a:r>
              <a:rPr lang="en-US" altLang="en-US" sz="2100" b="1" dirty="0" err="1"/>
              <a:t>dụng</a:t>
            </a:r>
            <a:r>
              <a:rPr lang="en-US" altLang="en-US" sz="2100" b="1" dirty="0"/>
              <a:t> </a:t>
            </a:r>
            <a:r>
              <a:rPr lang="en-US" altLang="en-US" sz="2100" b="1" dirty="0" err="1"/>
              <a:t>của</a:t>
            </a:r>
            <a:r>
              <a:rPr lang="en-US" altLang="en-US" sz="2100" b="1" dirty="0"/>
              <a:t> </a:t>
            </a:r>
            <a:r>
              <a:rPr lang="en-US" altLang="en-US" sz="2100" b="1" dirty="0" err="1"/>
              <a:t>ngăn</a:t>
            </a:r>
            <a:r>
              <a:rPr lang="en-US" altLang="en-US" sz="2100" b="1" dirty="0"/>
              <a:t> </a:t>
            </a:r>
            <a:r>
              <a:rPr lang="en-US" altLang="en-US" sz="2100" b="1" dirty="0" err="1"/>
              <a:t>xếp</a:t>
            </a:r>
            <a:r>
              <a:rPr lang="en-US" altLang="en-US" sz="2100" b="1" dirty="0"/>
              <a:t> </a:t>
            </a:r>
            <a:r>
              <a:rPr lang="en-US" altLang="en-US" sz="2100" b="1" dirty="0" err="1"/>
              <a:t>và</a:t>
            </a:r>
            <a:r>
              <a:rPr lang="en-US" altLang="en-US" sz="2100" b="1" dirty="0"/>
              <a:t> </a:t>
            </a:r>
            <a:r>
              <a:rPr lang="en-US" altLang="en-US" sz="2100" b="1" dirty="0" err="1"/>
              <a:t>hàng</a:t>
            </a:r>
            <a:r>
              <a:rPr lang="en-US" altLang="en-US" sz="2100" b="1" dirty="0"/>
              <a:t> </a:t>
            </a:r>
            <a:r>
              <a:rPr lang="en-US" altLang="en-US" sz="2100" b="1" dirty="0" err="1"/>
              <a:t>đợi</a:t>
            </a:r>
            <a:endParaRPr lang="en-US" altLang="en-US" sz="21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605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2.3.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smtClean="0"/>
              <a:t>CTLT </a:t>
            </a:r>
            <a:r>
              <a:rPr lang="en-US" dirty="0" err="1" smtClean="0"/>
              <a:t>móc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err="1" smtClean="0">
                <a:cs typeface="Times New Roman" panose="02020603050405020304" pitchFamily="18" charset="0"/>
              </a:rPr>
              <a:t>Nội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dung</a:t>
            </a:r>
          </a:p>
          <a:p>
            <a:pPr lvl="1"/>
            <a:r>
              <a:rPr lang="en-US" altLang="en-US" sz="2400" dirty="0" smtClean="0">
                <a:cs typeface="Times New Roman" panose="02020603050405020304" pitchFamily="18" charset="0"/>
              </a:rPr>
              <a:t>Con </a:t>
            </a:r>
            <a:r>
              <a:rPr lang="en-US" altLang="en-US" sz="2400" dirty="0" err="1">
                <a:cs typeface="Times New Roman" panose="02020603050405020304" pitchFamily="18" charset="0"/>
              </a:rPr>
              <a:t>trỏ</a:t>
            </a:r>
            <a:r>
              <a:rPr lang="en-US" altLang="en-US" sz="2400" dirty="0">
                <a:cs typeface="Times New Roman" panose="02020603050405020304" pitchFamily="18" charset="0"/>
              </a:rPr>
              <a:t> &amp; </a:t>
            </a:r>
            <a:r>
              <a:rPr lang="en-US" altLang="en-US" sz="2400" dirty="0" err="1">
                <a:cs typeface="Times New Roman" panose="02020603050405020304" pitchFamily="18" charset="0"/>
              </a:rPr>
              <a:t>Cấu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trúc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lưu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trữ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móc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nối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lvl="1"/>
            <a:r>
              <a:rPr lang="en-US" altLang="en-US" sz="2400" dirty="0" err="1">
                <a:cs typeface="Times New Roman" panose="02020603050405020304" pitchFamily="18" charset="0"/>
              </a:rPr>
              <a:t>Danh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sách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móc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nối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(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liên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kết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)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marL="822325" lvl="3">
              <a:spcBef>
                <a:spcPts val="600"/>
              </a:spcBef>
            </a:pPr>
            <a:r>
              <a:rPr lang="en-US" altLang="en-US" sz="2200" dirty="0" err="1"/>
              <a:t>Các</a:t>
            </a:r>
            <a:r>
              <a:rPr lang="en-US" altLang="en-US" sz="2200" dirty="0"/>
              <a:t> </a:t>
            </a:r>
            <a:r>
              <a:rPr lang="en-US" altLang="en-US" sz="2200" dirty="0" err="1"/>
              <a:t>loại</a:t>
            </a:r>
            <a:r>
              <a:rPr lang="en-US" altLang="en-US" sz="2200" dirty="0"/>
              <a:t> </a:t>
            </a:r>
            <a:r>
              <a:rPr lang="en-US" altLang="en-US" sz="2200" dirty="0" err="1"/>
              <a:t>danh</a:t>
            </a:r>
            <a:r>
              <a:rPr lang="en-US" altLang="en-US" sz="2200" dirty="0"/>
              <a:t> </a:t>
            </a:r>
            <a:r>
              <a:rPr lang="en-US" altLang="en-US" sz="2200" dirty="0" err="1"/>
              <a:t>sách</a:t>
            </a:r>
            <a:r>
              <a:rPr lang="en-US" altLang="en-US" sz="2200" dirty="0"/>
              <a:t> </a:t>
            </a:r>
            <a:r>
              <a:rPr lang="en-US" altLang="en-US" sz="2200" dirty="0" err="1"/>
              <a:t>móc</a:t>
            </a:r>
            <a:r>
              <a:rPr lang="en-US" altLang="en-US" sz="2200" dirty="0"/>
              <a:t> </a:t>
            </a:r>
            <a:r>
              <a:rPr lang="en-US" altLang="en-US" sz="2200" dirty="0" err="1"/>
              <a:t>nối</a:t>
            </a:r>
            <a:endParaRPr lang="en-US" altLang="en-US" sz="2200" dirty="0"/>
          </a:p>
          <a:p>
            <a:pPr lvl="1"/>
            <a:r>
              <a:rPr lang="en-US" sz="2400" dirty="0" err="1">
                <a:cs typeface="Times New Roman" panose="02020603050405020304" pitchFamily="18" charset="0"/>
              </a:rPr>
              <a:t>Cài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cs typeface="Times New Roman" panose="02020603050405020304" pitchFamily="18" charset="0"/>
              </a:rPr>
              <a:t>đặt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cs typeface="Times New Roman" panose="02020603050405020304" pitchFamily="18" charset="0"/>
              </a:rPr>
              <a:t>danh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cs typeface="Times New Roman" panose="02020603050405020304" pitchFamily="18" charset="0"/>
              </a:rPr>
              <a:t>sách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cs typeface="Times New Roman" panose="02020603050405020304" pitchFamily="18" charset="0"/>
              </a:rPr>
              <a:t>móc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cs typeface="Times New Roman" panose="02020603050405020304" pitchFamily="18" charset="0"/>
              </a:rPr>
              <a:t>nối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cs typeface="Times New Roman" panose="02020603050405020304" pitchFamily="18" charset="0"/>
              </a:rPr>
              <a:t>bằng</a:t>
            </a:r>
            <a:r>
              <a:rPr lang="en-US" sz="2400" dirty="0">
                <a:cs typeface="Times New Roman" panose="02020603050405020304" pitchFamily="18" charset="0"/>
              </a:rPr>
              <a:t> CTLT </a:t>
            </a:r>
            <a:r>
              <a:rPr lang="en-US" sz="2400" dirty="0" err="1">
                <a:cs typeface="Times New Roman" panose="02020603050405020304" pitchFamily="18" charset="0"/>
              </a:rPr>
              <a:t>móc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cs typeface="Times New Roman" panose="02020603050405020304" pitchFamily="18" charset="0"/>
              </a:rPr>
              <a:t>nối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822325" lvl="3">
              <a:spcBef>
                <a:spcPts val="600"/>
              </a:spcBef>
            </a:pPr>
            <a:r>
              <a:rPr lang="en-US" sz="2200" dirty="0" err="1" smtClean="0"/>
              <a:t>Khai</a:t>
            </a:r>
            <a:r>
              <a:rPr lang="en-US" sz="2200" dirty="0" smtClean="0"/>
              <a:t> </a:t>
            </a:r>
            <a:r>
              <a:rPr lang="en-US" sz="2200" dirty="0" err="1"/>
              <a:t>báo</a:t>
            </a:r>
            <a:r>
              <a:rPr lang="en-US" sz="2200" dirty="0"/>
              <a:t> </a:t>
            </a:r>
            <a:r>
              <a:rPr lang="en-US" sz="2200" dirty="0" err="1"/>
              <a:t>cấu</a:t>
            </a:r>
            <a:r>
              <a:rPr lang="en-US" sz="2200" dirty="0"/>
              <a:t> </a:t>
            </a:r>
            <a:r>
              <a:rPr lang="en-US" sz="2200" dirty="0" err="1" smtClean="0"/>
              <a:t>trúc</a:t>
            </a:r>
            <a:endParaRPr lang="en-US" sz="2200" dirty="0" smtClean="0"/>
          </a:p>
          <a:p>
            <a:pPr marL="822325" lvl="3">
              <a:spcBef>
                <a:spcPts val="600"/>
              </a:spcBef>
            </a:pPr>
            <a:r>
              <a:rPr lang="en-US" sz="2200" dirty="0" err="1"/>
              <a:t>Cài</a:t>
            </a:r>
            <a:r>
              <a:rPr lang="en-US" sz="2200" dirty="0"/>
              <a:t> </a:t>
            </a:r>
            <a:r>
              <a:rPr lang="en-US" sz="2200" dirty="0" err="1"/>
              <a:t>đặt</a:t>
            </a:r>
            <a:r>
              <a:rPr lang="en-US" sz="2200" dirty="0"/>
              <a:t>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thao</a:t>
            </a:r>
            <a:r>
              <a:rPr lang="en-US" sz="2200" dirty="0"/>
              <a:t> </a:t>
            </a:r>
            <a:r>
              <a:rPr lang="en-US" sz="2200" dirty="0" err="1"/>
              <a:t>tác</a:t>
            </a:r>
            <a:r>
              <a:rPr lang="en-US" sz="2200" dirty="0"/>
              <a:t> </a:t>
            </a:r>
            <a:r>
              <a:rPr lang="en-US" sz="2200" dirty="0" err="1"/>
              <a:t>cơ</a:t>
            </a:r>
            <a:r>
              <a:rPr lang="en-US" sz="2200" dirty="0"/>
              <a:t> </a:t>
            </a:r>
            <a:r>
              <a:rPr lang="en-US" sz="2200" dirty="0" err="1" smtClean="0"/>
              <a:t>bản</a:t>
            </a:r>
            <a:endParaRPr lang="en-US" sz="2200" dirty="0" smtClean="0"/>
          </a:p>
          <a:p>
            <a:pPr lvl="1"/>
            <a:r>
              <a:rPr lang="en-US" altLang="en-US" sz="2400" dirty="0" err="1">
                <a:cs typeface="Times New Roman" panose="02020603050405020304" pitchFamily="18" charset="0"/>
              </a:rPr>
              <a:t>Cài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đặt</a:t>
            </a:r>
            <a:r>
              <a:rPr lang="en-US" altLang="en-US" sz="2400" dirty="0">
                <a:cs typeface="Times New Roman" panose="02020603050405020304" pitchFamily="18" charset="0"/>
              </a:rPr>
              <a:t> LIFO, FIFO </a:t>
            </a:r>
            <a:r>
              <a:rPr lang="en-US" altLang="en-US" sz="2400" dirty="0" err="1">
                <a:cs typeface="Times New Roman" panose="02020603050405020304" pitchFamily="18" charset="0"/>
              </a:rPr>
              <a:t>bằng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cấu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trúc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lưu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trữ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móc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nối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marL="547687" lvl="2">
              <a:spcBef>
                <a:spcPts val="600"/>
              </a:spcBef>
              <a:buClr>
                <a:schemeClr val="accent1"/>
              </a:buClr>
            </a:pPr>
            <a:endParaRPr lang="en-US" altLang="en-US" sz="2100" dirty="0"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490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409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/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 smtClean="0"/>
              <a:t>2.3.1 Con </a:t>
            </a:r>
            <a:r>
              <a:rPr lang="en-US" altLang="en-US" dirty="0" err="1" smtClean="0"/>
              <a:t>trỏ</a:t>
            </a:r>
            <a:endParaRPr lang="en-US" altLang="en-US" dirty="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body" sz="quarter" idx="13"/>
          </p:nvPr>
        </p:nvSpPr>
        <p:spPr>
          <a:noFill/>
        </p:spPr>
        <p:txBody>
          <a:bodyPr/>
          <a:lstStyle/>
          <a:p>
            <a:r>
              <a:rPr lang="en-US" altLang="en-US" dirty="0" smtClean="0">
                <a:cs typeface="Times New Roman" panose="02020603050405020304" pitchFamily="18" charset="0"/>
              </a:rPr>
              <a:t>Con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trỏ</a:t>
            </a:r>
            <a:r>
              <a:rPr lang="en-US" altLang="en-US" dirty="0" smtClean="0">
                <a:cs typeface="Times New Roman" panose="02020603050405020304" pitchFamily="18" charset="0"/>
              </a:rPr>
              <a:t> (pointer): </a:t>
            </a:r>
            <a:r>
              <a:rPr lang="en-US" altLang="en-US" dirty="0" err="1" smtClean="0">
                <a:cs typeface="Times New Roman" panose="02020603050405020304" pitchFamily="18" charset="0"/>
              </a:rPr>
              <a:t>là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kiểu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dữ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liệu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dùng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để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chỉ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đến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địa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chỉ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một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đối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tượng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dữ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liệu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khác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chứa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trong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bộ</a:t>
            </a:r>
            <a:r>
              <a:rPr lang="en-US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cs typeface="Times New Roman" panose="02020603050405020304" pitchFamily="18" charset="0"/>
              </a:rPr>
              <a:t>nhớ</a:t>
            </a:r>
            <a:r>
              <a:rPr lang="en-US" altLang="en-US" dirty="0" smtClean="0"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105" name="Rectangle 7"/>
          <p:cNvSpPr>
            <a:spLocks noChangeArrowheads="1"/>
          </p:cNvSpPr>
          <p:nvPr/>
        </p:nvSpPr>
        <p:spPr bwMode="auto">
          <a:xfrm>
            <a:off x="-103027" y="3691382"/>
            <a:ext cx="6665594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r>
              <a:rPr lang="en-US" altLang="en-US" sz="2300" dirty="0" err="1">
                <a:solidFill>
                  <a:srgbClr val="000000"/>
                </a:solidFill>
                <a:latin typeface="Lato" panose="020F0502020204030203"/>
                <a:cs typeface="Times New Roman" panose="02020603050405020304" pitchFamily="18" charset="0"/>
              </a:rPr>
              <a:t>Các</a:t>
            </a:r>
            <a:r>
              <a:rPr lang="en-US" altLang="en-US" sz="2300" dirty="0">
                <a:solidFill>
                  <a:srgbClr val="000000"/>
                </a:solidFill>
                <a:latin typeface="Lato" panose="020F0502020204030203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solidFill>
                  <a:srgbClr val="000000"/>
                </a:solidFill>
                <a:latin typeface="Lato" panose="020F0502020204030203"/>
                <a:cs typeface="Times New Roman" panose="02020603050405020304" pitchFamily="18" charset="0"/>
              </a:rPr>
              <a:t>thao</a:t>
            </a:r>
            <a:r>
              <a:rPr lang="en-US" altLang="en-US" sz="2300" dirty="0">
                <a:solidFill>
                  <a:srgbClr val="000000"/>
                </a:solidFill>
                <a:latin typeface="Lato" panose="020F0502020204030203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solidFill>
                  <a:srgbClr val="000000"/>
                </a:solidFill>
                <a:latin typeface="Lato" panose="020F0502020204030203"/>
                <a:cs typeface="Times New Roman" panose="02020603050405020304" pitchFamily="18" charset="0"/>
              </a:rPr>
              <a:t>tác</a:t>
            </a:r>
            <a:r>
              <a:rPr lang="en-US" altLang="en-US" sz="2300" dirty="0">
                <a:solidFill>
                  <a:srgbClr val="000000"/>
                </a:solidFill>
                <a:latin typeface="Lato" panose="020F0502020204030203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solidFill>
                  <a:srgbClr val="000000"/>
                </a:solidFill>
                <a:latin typeface="Lato" panose="020F0502020204030203"/>
                <a:cs typeface="Times New Roman" panose="02020603050405020304" pitchFamily="18" charset="0"/>
              </a:rPr>
              <a:t>cơ</a:t>
            </a:r>
            <a:r>
              <a:rPr lang="en-US" altLang="en-US" sz="2300" dirty="0">
                <a:solidFill>
                  <a:srgbClr val="000000"/>
                </a:solidFill>
                <a:latin typeface="Lato" panose="020F0502020204030203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solidFill>
                  <a:srgbClr val="000000"/>
                </a:solidFill>
                <a:latin typeface="Lato" panose="020F0502020204030203"/>
                <a:cs typeface="Times New Roman" panose="02020603050405020304" pitchFamily="18" charset="0"/>
              </a:rPr>
              <a:t>bản</a:t>
            </a:r>
            <a:endParaRPr lang="en-US" altLang="en-US" sz="2300" dirty="0">
              <a:solidFill>
                <a:srgbClr val="000000"/>
              </a:solidFill>
              <a:latin typeface="Lato" panose="020F0502020204030203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05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 dirty="0" err="1">
                <a:latin typeface="Lato" panose="020F0502020204030203"/>
              </a:rPr>
              <a:t>Khởi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tạo</a:t>
            </a:r>
            <a:r>
              <a:rPr lang="en-US" altLang="en-US" sz="2000" dirty="0">
                <a:latin typeface="Lato" panose="020F0502020204030203"/>
              </a:rPr>
              <a:t> (</a:t>
            </a:r>
            <a:r>
              <a:rPr lang="en-US" altLang="en-US" sz="2000" dirty="0" err="1">
                <a:latin typeface="Lato" panose="020F0502020204030203"/>
              </a:rPr>
              <a:t>khai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báo</a:t>
            </a:r>
            <a:r>
              <a:rPr lang="en-US" altLang="en-US" sz="2000" dirty="0">
                <a:latin typeface="Lato" panose="020F0502020204030203"/>
              </a:rPr>
              <a:t>): </a:t>
            </a:r>
          </a:p>
          <a:p>
            <a:pPr lvl="2" eaLnBrk="1" hangingPunct="1">
              <a:lnSpc>
                <a:spcPct val="105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 dirty="0" err="1">
                <a:latin typeface="Lato" panose="020F0502020204030203"/>
              </a:rPr>
              <a:t>Lấy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địa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chỉ</a:t>
            </a:r>
            <a:r>
              <a:rPr lang="en-US" altLang="en-US" sz="2000" dirty="0">
                <a:latin typeface="Lato" panose="020F0502020204030203"/>
              </a:rPr>
              <a:t> 1 </a:t>
            </a:r>
            <a:r>
              <a:rPr lang="en-US" altLang="en-US" sz="2000" dirty="0" err="1">
                <a:latin typeface="Lato" panose="020F0502020204030203"/>
              </a:rPr>
              <a:t>đối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tượng</a:t>
            </a:r>
            <a:endParaRPr lang="en-US" altLang="en-US" sz="2000" dirty="0">
              <a:latin typeface="Lato" panose="020F0502020204030203"/>
            </a:endParaRPr>
          </a:p>
          <a:p>
            <a:pPr lvl="2" eaLnBrk="1" hangingPunct="1">
              <a:lnSpc>
                <a:spcPct val="105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 dirty="0" err="1">
                <a:latin typeface="Lato" panose="020F0502020204030203"/>
              </a:rPr>
              <a:t>Truy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nhập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vào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đối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tượng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được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trỏ</a:t>
            </a:r>
            <a:r>
              <a:rPr lang="en-US" altLang="en-US" sz="2000" dirty="0">
                <a:latin typeface="Lato" panose="020F0502020204030203"/>
              </a:rPr>
              <a:t>:</a:t>
            </a:r>
          </a:p>
          <a:p>
            <a:pPr lvl="2" eaLnBrk="1" hangingPunct="1">
              <a:lnSpc>
                <a:spcPct val="105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 dirty="0" err="1">
                <a:latin typeface="Lato" panose="020F0502020204030203"/>
              </a:rPr>
              <a:t>Cấp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phát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bộ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nhớ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động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cho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đối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tượng</a:t>
            </a:r>
            <a:r>
              <a:rPr lang="en-US" altLang="en-US" sz="2000" dirty="0">
                <a:latin typeface="Lato" panose="020F0502020204030203"/>
              </a:rPr>
              <a:t> DL </a:t>
            </a:r>
            <a:r>
              <a:rPr lang="en-US" altLang="en-US" sz="2000" dirty="0" err="1">
                <a:latin typeface="Lato" panose="020F0502020204030203"/>
              </a:rPr>
              <a:t>động</a:t>
            </a:r>
            <a:r>
              <a:rPr lang="en-US" altLang="en-US" sz="2000" dirty="0">
                <a:latin typeface="Lato" panose="020F0502020204030203"/>
              </a:rPr>
              <a:t>:</a:t>
            </a:r>
          </a:p>
          <a:p>
            <a:pPr lvl="2" eaLnBrk="1" hangingPunct="1">
              <a:lnSpc>
                <a:spcPct val="105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 dirty="0" err="1">
                <a:latin typeface="Lato" panose="020F0502020204030203"/>
              </a:rPr>
              <a:t>Giải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phóng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đối</a:t>
            </a:r>
            <a:r>
              <a:rPr lang="en-US" altLang="en-US" sz="2000" dirty="0">
                <a:latin typeface="Lato" panose="020F0502020204030203"/>
              </a:rPr>
              <a:t> </a:t>
            </a:r>
            <a:r>
              <a:rPr lang="en-US" altLang="en-US" sz="2000" dirty="0" err="1">
                <a:latin typeface="Lato" panose="020F0502020204030203"/>
              </a:rPr>
              <a:t>tượng</a:t>
            </a:r>
            <a:r>
              <a:rPr lang="en-US" altLang="en-US" sz="2000" dirty="0">
                <a:latin typeface="Lato" panose="020F0502020204030203"/>
              </a:rPr>
              <a:t> DL </a:t>
            </a:r>
            <a:r>
              <a:rPr lang="en-US" altLang="en-US" sz="2000" dirty="0" err="1">
                <a:latin typeface="Lato" panose="020F0502020204030203"/>
              </a:rPr>
              <a:t>động</a:t>
            </a:r>
            <a:r>
              <a:rPr lang="en-US" altLang="en-US" sz="2000" dirty="0">
                <a:latin typeface="Lato" panose="020F0502020204030203"/>
              </a:rPr>
              <a:t>:</a:t>
            </a:r>
          </a:p>
        </p:txBody>
      </p:sp>
      <p:sp>
        <p:nvSpPr>
          <p:cNvPr id="4107" name="Rectangle 9"/>
          <p:cNvSpPr>
            <a:spLocks noChangeArrowheads="1"/>
          </p:cNvSpPr>
          <p:nvPr/>
        </p:nvSpPr>
        <p:spPr bwMode="auto">
          <a:xfrm>
            <a:off x="6656229" y="3657600"/>
            <a:ext cx="2590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endParaRPr lang="en-US" altLang="en-US" dirty="0"/>
          </a:p>
          <a:p>
            <a:pPr eaLnBrk="1" hangingPunct="1">
              <a:lnSpc>
                <a:spcPct val="105000"/>
              </a:lnSpc>
              <a:spcBef>
                <a:spcPct val="20000"/>
              </a:spcBef>
            </a:pPr>
            <a:r>
              <a:rPr lang="en-US" altLang="en-US" sz="2000" b="1" i="1" dirty="0" err="1"/>
              <a:t>int</a:t>
            </a:r>
            <a:r>
              <a:rPr lang="en-US" altLang="en-US" sz="2000" b="1" i="1" dirty="0"/>
              <a:t> * P;</a:t>
            </a:r>
          </a:p>
          <a:p>
            <a:pPr eaLnBrk="1" hangingPunct="1">
              <a:lnSpc>
                <a:spcPct val="105000"/>
              </a:lnSpc>
              <a:spcBef>
                <a:spcPct val="20000"/>
              </a:spcBef>
            </a:pPr>
            <a:r>
              <a:rPr lang="en-US" altLang="en-US" sz="2000" b="1" i="1" dirty="0" err="1"/>
              <a:t>int</a:t>
            </a:r>
            <a:r>
              <a:rPr lang="en-US" altLang="en-US" sz="2000" b="1" i="1" dirty="0"/>
              <a:t> A; </a:t>
            </a:r>
            <a:r>
              <a:rPr lang="en-US" altLang="en-US" sz="2000" b="1" i="1" dirty="0" smtClean="0"/>
              <a:t>   P </a:t>
            </a:r>
            <a:r>
              <a:rPr lang="en-US" altLang="en-US" sz="2000" b="1" i="1" dirty="0"/>
              <a:t>= &amp;A;</a:t>
            </a:r>
          </a:p>
          <a:p>
            <a:pPr eaLnBrk="1" hangingPunct="1">
              <a:lnSpc>
                <a:spcPct val="105000"/>
              </a:lnSpc>
              <a:spcBef>
                <a:spcPct val="20000"/>
              </a:spcBef>
            </a:pPr>
            <a:r>
              <a:rPr lang="en-US" altLang="en-US" sz="2000" b="1" i="1" dirty="0"/>
              <a:t>*P = 20;</a:t>
            </a:r>
          </a:p>
          <a:p>
            <a:pPr eaLnBrk="1" hangingPunct="1">
              <a:lnSpc>
                <a:spcPct val="105000"/>
              </a:lnSpc>
              <a:spcBef>
                <a:spcPct val="20000"/>
              </a:spcBef>
            </a:pPr>
            <a:r>
              <a:rPr lang="en-US" altLang="en-US" sz="2000" b="1" i="1" dirty="0"/>
              <a:t>P = new </a:t>
            </a:r>
            <a:r>
              <a:rPr lang="en-US" altLang="en-US" sz="2000" b="1" i="1" dirty="0" err="1"/>
              <a:t>int</a:t>
            </a:r>
            <a:r>
              <a:rPr lang="en-US" altLang="en-US" sz="2000" b="1" i="1" dirty="0"/>
              <a:t>;</a:t>
            </a:r>
          </a:p>
          <a:p>
            <a:pPr eaLnBrk="1" hangingPunct="1">
              <a:lnSpc>
                <a:spcPct val="105000"/>
              </a:lnSpc>
              <a:spcBef>
                <a:spcPct val="20000"/>
              </a:spcBef>
            </a:pPr>
            <a:r>
              <a:rPr lang="en-US" altLang="en-US" sz="2000" b="1" i="1" dirty="0"/>
              <a:t>delete P;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787650" y="2117725"/>
            <a:ext cx="3155950" cy="1006475"/>
            <a:chOff x="2787650" y="2117725"/>
            <a:chExt cx="3155950" cy="1006475"/>
          </a:xfrm>
        </p:grpSpPr>
        <p:sp>
          <p:nvSpPr>
            <p:cNvPr id="4100" name="Rectangle 11"/>
            <p:cNvSpPr>
              <a:spLocks noChangeArrowheads="1"/>
            </p:cNvSpPr>
            <p:nvPr/>
          </p:nvSpPr>
          <p:spPr bwMode="auto">
            <a:xfrm>
              <a:off x="3048000" y="2498725"/>
              <a:ext cx="533400" cy="6096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03" name="Rectangle 5"/>
            <p:cNvSpPr>
              <a:spLocks noChangeArrowheads="1"/>
            </p:cNvSpPr>
            <p:nvPr/>
          </p:nvSpPr>
          <p:spPr bwMode="auto">
            <a:xfrm>
              <a:off x="4648200" y="2514600"/>
              <a:ext cx="1295400" cy="609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endParaRPr lang="en-US" altLang="en-US" sz="2000"/>
            </a:p>
          </p:txBody>
        </p:sp>
        <p:sp>
          <p:nvSpPr>
            <p:cNvPr id="4104" name="Rectangle 6"/>
            <p:cNvSpPr>
              <a:spLocks noChangeArrowheads="1"/>
            </p:cNvSpPr>
            <p:nvPr/>
          </p:nvSpPr>
          <p:spPr bwMode="auto">
            <a:xfrm>
              <a:off x="2787650" y="2178050"/>
              <a:ext cx="339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 dirty="0"/>
                <a:t>P</a:t>
              </a:r>
            </a:p>
          </p:txBody>
        </p:sp>
        <p:sp>
          <p:nvSpPr>
            <p:cNvPr id="4106" name="Line 8"/>
            <p:cNvSpPr>
              <a:spLocks noChangeShapeType="1"/>
            </p:cNvSpPr>
            <p:nvPr/>
          </p:nvSpPr>
          <p:spPr bwMode="auto">
            <a:xfrm>
              <a:off x="3352800" y="2803525"/>
              <a:ext cx="1295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" name="Rectangle 10"/>
            <p:cNvSpPr>
              <a:spLocks noChangeArrowheads="1"/>
            </p:cNvSpPr>
            <p:nvPr/>
          </p:nvSpPr>
          <p:spPr bwMode="auto">
            <a:xfrm>
              <a:off x="4768850" y="2117725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6716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5" grpId="0"/>
      <p:bldP spid="410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512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2.3.1 </a:t>
            </a:r>
            <a:r>
              <a:rPr lang="en-US" altLang="en-US" dirty="0" err="1"/>
              <a:t>Cấu</a:t>
            </a:r>
            <a:r>
              <a:rPr lang="en-US" altLang="en-US" dirty="0"/>
              <a:t> </a:t>
            </a:r>
            <a:r>
              <a:rPr lang="en-US" altLang="en-US" dirty="0" err="1"/>
              <a:t>trúc</a:t>
            </a:r>
            <a:r>
              <a:rPr lang="en-US" altLang="en-US" dirty="0"/>
              <a:t> </a:t>
            </a:r>
            <a:r>
              <a:rPr lang="en-US" altLang="en-US" dirty="0" err="1"/>
              <a:t>lưu</a:t>
            </a:r>
            <a:r>
              <a:rPr lang="en-US" altLang="en-US" dirty="0"/>
              <a:t> </a:t>
            </a:r>
            <a:r>
              <a:rPr lang="en-US" altLang="en-US" dirty="0" err="1"/>
              <a:t>trữ</a:t>
            </a:r>
            <a:r>
              <a:rPr lang="en-US" altLang="en-US" dirty="0"/>
              <a:t> </a:t>
            </a:r>
            <a:r>
              <a:rPr lang="en-US" altLang="en-US" dirty="0" err="1"/>
              <a:t>móc</a:t>
            </a:r>
            <a:r>
              <a:rPr lang="en-US" altLang="en-US" dirty="0"/>
              <a:t> </a:t>
            </a:r>
            <a:r>
              <a:rPr lang="en-US" altLang="en-US" dirty="0" err="1" smtClean="0"/>
              <a:t>nối</a:t>
            </a:r>
            <a:endParaRPr lang="en-US" dirty="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body" sz="quarter" idx="13"/>
          </p:nvPr>
        </p:nvSpPr>
        <p:spPr>
          <a:xfrm>
            <a:off x="234951" y="963167"/>
            <a:ext cx="8674100" cy="5602091"/>
          </a:xfrm>
          <a:noFill/>
        </p:spPr>
        <p:txBody>
          <a:bodyPr>
            <a:normAutofit/>
          </a:bodyPr>
          <a:lstStyle/>
          <a:p>
            <a:pPr>
              <a:lnSpc>
                <a:spcPct val="105000"/>
              </a:lnSpc>
            </a:pPr>
            <a:r>
              <a:rPr lang="en-US" altLang="en-US" sz="2300" dirty="0" err="1" smtClean="0">
                <a:cs typeface="Times New Roman" panose="02020603050405020304" pitchFamily="18" charset="0"/>
              </a:rPr>
              <a:t>Cấu</a:t>
            </a:r>
            <a:r>
              <a:rPr lang="en-US" altLang="en-US" sz="23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300" dirty="0" err="1" smtClean="0">
                <a:cs typeface="Times New Roman" panose="02020603050405020304" pitchFamily="18" charset="0"/>
              </a:rPr>
              <a:t>tạo</a:t>
            </a:r>
            <a:endParaRPr lang="en-US" altLang="en-US" sz="2300" dirty="0" smtClean="0"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endParaRPr lang="en-US" altLang="en-US" dirty="0" smtClean="0"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lvl="1">
              <a:lnSpc>
                <a:spcPct val="105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100" dirty="0" err="1" smtClean="0"/>
              <a:t>Các</a:t>
            </a:r>
            <a:r>
              <a:rPr lang="en-US" altLang="en-US" sz="2100" dirty="0" smtClean="0"/>
              <a:t> </a:t>
            </a:r>
            <a:r>
              <a:rPr lang="en-US" altLang="en-US" sz="2100" dirty="0" err="1"/>
              <a:t>nút</a:t>
            </a:r>
            <a:r>
              <a:rPr lang="en-US" altLang="en-US" sz="2100" dirty="0"/>
              <a:t>: </a:t>
            </a:r>
            <a:r>
              <a:rPr lang="en-US" altLang="en-US" sz="2100" dirty="0" err="1"/>
              <a:t>chứa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thông</a:t>
            </a:r>
            <a:r>
              <a:rPr lang="en-US" altLang="en-US" sz="2100" dirty="0"/>
              <a:t> tin </a:t>
            </a:r>
            <a:r>
              <a:rPr lang="en-US" altLang="en-US" sz="2100" dirty="0" err="1"/>
              <a:t>về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các</a:t>
            </a:r>
            <a:r>
              <a:rPr lang="en-US" altLang="en-US" sz="2100" dirty="0"/>
              <a:t> </a:t>
            </a:r>
            <a:r>
              <a:rPr lang="en-US" altLang="en-US" sz="2100" dirty="0" err="1"/>
              <a:t>phần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tử</a:t>
            </a:r>
            <a:r>
              <a:rPr lang="en-US" altLang="en-US" sz="2100" dirty="0"/>
              <a:t> </a:t>
            </a:r>
            <a:r>
              <a:rPr lang="en-US" altLang="en-US" sz="2100" dirty="0" err="1"/>
              <a:t>và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có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thể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cả</a:t>
            </a:r>
            <a:r>
              <a:rPr lang="en-US" altLang="en-US" sz="2100" dirty="0"/>
              <a:t> con </a:t>
            </a:r>
            <a:r>
              <a:rPr lang="en-US" altLang="en-US" sz="2100" dirty="0" err="1"/>
              <a:t>trỏ</a:t>
            </a:r>
            <a:r>
              <a:rPr lang="en-US" altLang="en-US" sz="2100" dirty="0"/>
              <a:t> </a:t>
            </a:r>
            <a:endParaRPr lang="en-US" altLang="en-US" sz="2100" dirty="0" smtClean="0"/>
          </a:p>
          <a:p>
            <a:pPr lvl="1">
              <a:lnSpc>
                <a:spcPct val="105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100" dirty="0"/>
              <a:t>Con </a:t>
            </a:r>
            <a:r>
              <a:rPr lang="en-US" altLang="en-US" sz="2100" dirty="0" err="1"/>
              <a:t>trỏ</a:t>
            </a:r>
            <a:r>
              <a:rPr lang="en-US" altLang="en-US" sz="2100" dirty="0"/>
              <a:t>: </a:t>
            </a:r>
            <a:r>
              <a:rPr lang="en-US" altLang="en-US" sz="2100" dirty="0" err="1"/>
              <a:t>trỏ</a:t>
            </a:r>
            <a:r>
              <a:rPr lang="en-US" altLang="en-US" sz="2100" dirty="0"/>
              <a:t> </a:t>
            </a:r>
            <a:r>
              <a:rPr lang="en-US" altLang="en-US" sz="2100" dirty="0" err="1"/>
              <a:t>đến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các</a:t>
            </a:r>
            <a:r>
              <a:rPr lang="en-US" altLang="en-US" sz="2100" dirty="0"/>
              <a:t> </a:t>
            </a:r>
            <a:r>
              <a:rPr lang="en-US" altLang="en-US" sz="2100" dirty="0" err="1"/>
              <a:t>nút</a:t>
            </a:r>
            <a:endParaRPr lang="en-US" altLang="en-US" sz="2100" dirty="0" smtClean="0"/>
          </a:p>
          <a:p>
            <a:pPr>
              <a:lnSpc>
                <a:spcPct val="105000"/>
              </a:lnSpc>
            </a:pPr>
            <a:r>
              <a:rPr lang="en-US" altLang="en-US" sz="2300" dirty="0" err="1" smtClean="0">
                <a:cs typeface="Times New Roman" panose="02020603050405020304" pitchFamily="18" charset="0"/>
              </a:rPr>
              <a:t>Đặc</a:t>
            </a:r>
            <a:r>
              <a:rPr lang="en-US" altLang="en-US" sz="23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cs typeface="Times New Roman" panose="02020603050405020304" pitchFamily="18" charset="0"/>
              </a:rPr>
              <a:t>điểm</a:t>
            </a:r>
            <a:r>
              <a:rPr lang="en-US" altLang="en-US" sz="2300" dirty="0"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05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100" dirty="0" err="1"/>
              <a:t>Cấu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trúc</a:t>
            </a:r>
            <a:r>
              <a:rPr lang="en-US" altLang="en-US" sz="2100" dirty="0"/>
              <a:t> </a:t>
            </a:r>
            <a:r>
              <a:rPr lang="en-US" altLang="en-US" sz="2100" dirty="0" err="1"/>
              <a:t>lưu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trữ</a:t>
            </a:r>
            <a:r>
              <a:rPr lang="en-US" altLang="en-US" sz="2100" dirty="0"/>
              <a:t> </a:t>
            </a:r>
            <a:r>
              <a:rPr lang="en-US" altLang="en-US" sz="2100" dirty="0" err="1"/>
              <a:t>động</a:t>
            </a:r>
            <a:r>
              <a:rPr lang="en-US" altLang="en-US" sz="2100" dirty="0"/>
              <a:t>: </a:t>
            </a:r>
            <a:r>
              <a:rPr lang="vi-VN" altLang="en-US" sz="2100" dirty="0"/>
              <a:t>mỗi nút của CTLT là một đối tượng dữ liệu động (có thể được </a:t>
            </a:r>
            <a:r>
              <a:rPr lang="vi-VN" altLang="en-US" sz="2100" dirty="0" smtClean="0"/>
              <a:t>bổ</a:t>
            </a:r>
            <a:r>
              <a:rPr lang="en-US" altLang="en-US" sz="2100" dirty="0" smtClean="0"/>
              <a:t> </a:t>
            </a:r>
            <a:r>
              <a:rPr lang="vi-VN" altLang="en-US" sz="2100" dirty="0" smtClean="0"/>
              <a:t>sung </a:t>
            </a:r>
            <a:r>
              <a:rPr lang="vi-VN" altLang="en-US" sz="2100" dirty="0"/>
              <a:t>hay loại bỏ trong lúc chạy chương </a:t>
            </a:r>
            <a:r>
              <a:rPr lang="vi-VN" altLang="en-US" sz="2100" dirty="0" smtClean="0"/>
              <a:t>trình</a:t>
            </a:r>
            <a:r>
              <a:rPr lang="en-US" altLang="en-US" sz="2100" dirty="0" smtClean="0"/>
              <a:t>).</a:t>
            </a:r>
            <a:endParaRPr lang="en-US" altLang="en-US" sz="2100" dirty="0"/>
          </a:p>
          <a:p>
            <a:pPr lvl="1">
              <a:lnSpc>
                <a:spcPct val="105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100" dirty="0" err="1"/>
              <a:t>Linh</a:t>
            </a:r>
            <a:r>
              <a:rPr lang="en-US" altLang="en-US" sz="2100" dirty="0"/>
              <a:t> </a:t>
            </a:r>
            <a:r>
              <a:rPr lang="en-US" altLang="en-US" sz="2100" dirty="0" err="1"/>
              <a:t>hoạt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trong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tổ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chức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cấu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trúc</a:t>
            </a:r>
            <a:r>
              <a:rPr lang="en-US" altLang="en-US" sz="2100" dirty="0"/>
              <a:t>: </a:t>
            </a:r>
            <a:r>
              <a:rPr lang="en-US" altLang="en-US" sz="2100" dirty="0" err="1"/>
              <a:t>các</a:t>
            </a:r>
            <a:r>
              <a:rPr lang="en-US" altLang="en-US" sz="2100" dirty="0"/>
              <a:t> con </a:t>
            </a:r>
            <a:r>
              <a:rPr lang="en-US" altLang="en-US" sz="2100" dirty="0" err="1"/>
              <a:t>trỏ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trong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cấu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trúc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có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thể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tùy</a:t>
            </a:r>
            <a:r>
              <a:rPr lang="en-US" altLang="en-US" sz="2100" dirty="0"/>
              <a:t> ý </a:t>
            </a:r>
            <a:r>
              <a:rPr lang="en-US" altLang="en-US" sz="2100" dirty="0" err="1"/>
              <a:t>thay</a:t>
            </a:r>
            <a:r>
              <a:rPr lang="en-US" altLang="en-US" sz="2100" dirty="0"/>
              <a:t> </a:t>
            </a:r>
            <a:r>
              <a:rPr lang="en-US" altLang="en-US" sz="2100" dirty="0" err="1"/>
              <a:t>đổi</a:t>
            </a:r>
            <a:r>
              <a:rPr lang="en-US" altLang="en-US" sz="2100" dirty="0"/>
              <a:t> </a:t>
            </a:r>
            <a:r>
              <a:rPr lang="en-US" altLang="en-US" sz="2100" dirty="0" err="1"/>
              <a:t>địa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chỉ</a:t>
            </a:r>
            <a:r>
              <a:rPr lang="en-US" altLang="en-US" sz="2100" dirty="0"/>
              <a:t> </a:t>
            </a:r>
            <a:r>
              <a:rPr lang="en-US" altLang="en-US" sz="2100" dirty="0" err="1"/>
              <a:t>chỉ</a:t>
            </a:r>
            <a:r>
              <a:rPr lang="en-US" altLang="en-US" sz="2100" dirty="0"/>
              <a:t> </a:t>
            </a:r>
            <a:r>
              <a:rPr lang="en-US" altLang="en-US" sz="2100" dirty="0" err="1" smtClean="0"/>
              <a:t>đến</a:t>
            </a:r>
            <a:endParaRPr lang="en-US" altLang="en-US" sz="2100" dirty="0"/>
          </a:p>
          <a:p>
            <a:pPr lvl="1">
              <a:lnSpc>
                <a:spcPct val="105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100" dirty="0" err="1"/>
              <a:t>Truy</a:t>
            </a:r>
            <a:r>
              <a:rPr lang="en-US" altLang="en-US" sz="2100" dirty="0"/>
              <a:t> </a:t>
            </a:r>
            <a:r>
              <a:rPr lang="en-US" altLang="en-US" sz="2100" dirty="0" err="1"/>
              <a:t>nhập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tuần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tự</a:t>
            </a:r>
            <a:r>
              <a:rPr lang="en-US" altLang="en-US" sz="2100" dirty="0" smtClean="0"/>
              <a:t>: </a:t>
            </a:r>
            <a:r>
              <a:rPr lang="en-US" altLang="en-US" sz="2100" dirty="0" err="1" smtClean="0"/>
              <a:t>Có</a:t>
            </a:r>
            <a:r>
              <a:rPr lang="en-US" altLang="en-US" sz="2100" dirty="0" smtClean="0"/>
              <a:t> </a:t>
            </a:r>
            <a:r>
              <a:rPr lang="en-US" altLang="en-US" sz="2100" dirty="0" err="1"/>
              <a:t>ít</a:t>
            </a:r>
            <a:r>
              <a:rPr lang="en-US" altLang="en-US" sz="2100" dirty="0"/>
              <a:t> </a:t>
            </a:r>
            <a:r>
              <a:rPr lang="en-US" altLang="en-US" sz="2100" dirty="0" err="1"/>
              <a:t>nhất</a:t>
            </a:r>
            <a:r>
              <a:rPr lang="en-US" altLang="en-US" sz="2100" dirty="0"/>
              <a:t> </a:t>
            </a:r>
            <a:r>
              <a:rPr lang="en-US" altLang="en-US" sz="2100" dirty="0" err="1"/>
              <a:t>một</a:t>
            </a:r>
            <a:r>
              <a:rPr lang="en-US" altLang="en-US" sz="2100" dirty="0"/>
              <a:t> </a:t>
            </a:r>
            <a:r>
              <a:rPr lang="en-US" altLang="en-US" sz="2100" dirty="0" err="1"/>
              <a:t>điểm</a:t>
            </a:r>
            <a:r>
              <a:rPr lang="en-US" altLang="en-US" sz="2100" dirty="0"/>
              <a:t> </a:t>
            </a:r>
            <a:r>
              <a:rPr lang="en-US" altLang="en-US" sz="2100" dirty="0" err="1"/>
              <a:t>truy</a:t>
            </a:r>
            <a:r>
              <a:rPr lang="en-US" altLang="en-US" sz="2100" dirty="0"/>
              <a:t> </a:t>
            </a:r>
            <a:r>
              <a:rPr lang="en-US" altLang="en-US" sz="2100" dirty="0" err="1" smtClean="0"/>
              <a:t>nhập</a:t>
            </a:r>
            <a:r>
              <a:rPr lang="en-US" altLang="en-US" sz="2100" dirty="0" smtClean="0"/>
              <a:t> = con </a:t>
            </a:r>
            <a:r>
              <a:rPr lang="en-US" altLang="en-US" sz="2100" dirty="0" err="1"/>
              <a:t>trỏ</a:t>
            </a:r>
            <a:r>
              <a:rPr lang="en-US" altLang="en-US" sz="2100" dirty="0"/>
              <a:t> </a:t>
            </a:r>
            <a:r>
              <a:rPr lang="en-US" altLang="en-US" sz="2100" dirty="0" smtClean="0"/>
              <a:t>P, </a:t>
            </a:r>
            <a:r>
              <a:rPr lang="vi-VN" sz="2100" dirty="0"/>
              <a:t>tốc độ truy nhập vào các</a:t>
            </a:r>
            <a:r>
              <a:rPr lang="en-US" sz="2100" dirty="0"/>
              <a:t> </a:t>
            </a:r>
            <a:r>
              <a:rPr lang="vi-VN" sz="2100" dirty="0"/>
              <a:t>phần tử của CTLT </a:t>
            </a:r>
            <a:r>
              <a:rPr lang="vi-VN" sz="2100" dirty="0" smtClean="0"/>
              <a:t>không </a:t>
            </a:r>
            <a:r>
              <a:rPr lang="vi-VN" sz="2100" dirty="0"/>
              <a:t>đồng đều</a:t>
            </a:r>
            <a:endParaRPr lang="en-US" altLang="en-US" sz="2100" dirty="0"/>
          </a:p>
          <a:p>
            <a:pPr lvl="1">
              <a:lnSpc>
                <a:spcPct val="105000"/>
              </a:lnSpc>
            </a:pPr>
            <a:endParaRPr lang="en-US" altLang="en-US" dirty="0" smtClean="0"/>
          </a:p>
          <a:p>
            <a:pPr lvl="1" eaLnBrk="1" hangingPunct="1">
              <a:buFontTx/>
              <a:buNone/>
            </a:pPr>
            <a:endParaRPr lang="en-US" altLang="en-US" sz="2000" dirty="0" smtClean="0">
              <a:cs typeface="Times New Roman" panose="02020603050405020304" pitchFamily="18" charset="0"/>
            </a:endParaRPr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228600" y="321197"/>
            <a:ext cx="8686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kern="1200" baseline="0">
                <a:solidFill>
                  <a:srgbClr val="0036A2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endParaRPr lang="en-US" altLang="en-US" dirty="0"/>
          </a:p>
        </p:txBody>
      </p:sp>
      <p:grpSp>
        <p:nvGrpSpPr>
          <p:cNvPr id="22" name="Group 2"/>
          <p:cNvGrpSpPr>
            <a:grpSpLocks/>
          </p:cNvGrpSpPr>
          <p:nvPr/>
        </p:nvGrpSpPr>
        <p:grpSpPr bwMode="auto">
          <a:xfrm>
            <a:off x="2362200" y="1409516"/>
            <a:ext cx="6134100" cy="631303"/>
            <a:chOff x="990601" y="1981200"/>
            <a:chExt cx="6934199" cy="838200"/>
          </a:xfrm>
        </p:grpSpPr>
        <p:sp>
          <p:nvSpPr>
            <p:cNvPr id="23" name="Rectangle 26"/>
            <p:cNvSpPr>
              <a:spLocks noChangeArrowheads="1"/>
            </p:cNvSpPr>
            <p:nvPr/>
          </p:nvSpPr>
          <p:spPr bwMode="auto">
            <a:xfrm>
              <a:off x="5486398" y="2286000"/>
              <a:ext cx="457200" cy="5334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4" name="Rectangle 26"/>
            <p:cNvSpPr>
              <a:spLocks noChangeArrowheads="1"/>
            </p:cNvSpPr>
            <p:nvPr/>
          </p:nvSpPr>
          <p:spPr bwMode="auto">
            <a:xfrm>
              <a:off x="3657598" y="2286000"/>
              <a:ext cx="457200" cy="5334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5" name="Rectangle 26"/>
            <p:cNvSpPr>
              <a:spLocks noChangeArrowheads="1"/>
            </p:cNvSpPr>
            <p:nvPr/>
          </p:nvSpPr>
          <p:spPr bwMode="auto">
            <a:xfrm>
              <a:off x="3200400" y="2286000"/>
              <a:ext cx="457200" cy="5334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1295401" y="2286000"/>
              <a:ext cx="457200" cy="5334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7" name="Line 10"/>
            <p:cNvSpPr>
              <a:spLocks noChangeShapeType="1"/>
            </p:cNvSpPr>
            <p:nvPr/>
          </p:nvSpPr>
          <p:spPr bwMode="auto">
            <a:xfrm>
              <a:off x="1524001" y="2514600"/>
              <a:ext cx="838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Rectangle 11"/>
            <p:cNvSpPr>
              <a:spLocks noChangeArrowheads="1"/>
            </p:cNvSpPr>
            <p:nvPr/>
          </p:nvSpPr>
          <p:spPr bwMode="auto">
            <a:xfrm>
              <a:off x="4648200" y="2286000"/>
              <a:ext cx="8382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a</a:t>
              </a:r>
              <a:r>
                <a:rPr lang="en-US" altLang="en-US" sz="2400" baseline="-25000"/>
                <a:t>2</a:t>
              </a:r>
            </a:p>
          </p:txBody>
        </p:sp>
        <p:sp>
          <p:nvSpPr>
            <p:cNvPr id="29" name="Rectangle 13"/>
            <p:cNvSpPr>
              <a:spLocks noChangeArrowheads="1"/>
            </p:cNvSpPr>
            <p:nvPr/>
          </p:nvSpPr>
          <p:spPr bwMode="auto">
            <a:xfrm>
              <a:off x="2362201" y="2286000"/>
              <a:ext cx="8382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a</a:t>
              </a:r>
              <a:r>
                <a:rPr lang="en-US" altLang="en-US" sz="2400" baseline="-25000"/>
                <a:t>1</a:t>
              </a:r>
            </a:p>
          </p:txBody>
        </p:sp>
        <p:sp>
          <p:nvSpPr>
            <p:cNvPr id="30" name="Rectangle 15"/>
            <p:cNvSpPr>
              <a:spLocks noChangeArrowheads="1"/>
            </p:cNvSpPr>
            <p:nvPr/>
          </p:nvSpPr>
          <p:spPr bwMode="auto">
            <a:xfrm>
              <a:off x="6629400" y="2286000"/>
              <a:ext cx="8382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a</a:t>
              </a:r>
              <a:r>
                <a:rPr lang="en-US" altLang="en-US" sz="2400" baseline="-25000"/>
                <a:t>3</a:t>
              </a:r>
            </a:p>
          </p:txBody>
        </p:sp>
        <p:sp>
          <p:nvSpPr>
            <p:cNvPr id="31" name="Line 17"/>
            <p:cNvSpPr>
              <a:spLocks noChangeShapeType="1"/>
            </p:cNvSpPr>
            <p:nvPr/>
          </p:nvSpPr>
          <p:spPr bwMode="auto">
            <a:xfrm>
              <a:off x="3429000" y="1981200"/>
              <a:ext cx="3657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18"/>
            <p:cNvSpPr>
              <a:spLocks noChangeShapeType="1"/>
            </p:cNvSpPr>
            <p:nvPr/>
          </p:nvSpPr>
          <p:spPr bwMode="auto">
            <a:xfrm>
              <a:off x="3886200" y="2492897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19"/>
            <p:cNvSpPr>
              <a:spLocks noChangeShapeType="1"/>
            </p:cNvSpPr>
            <p:nvPr/>
          </p:nvSpPr>
          <p:spPr bwMode="auto">
            <a:xfrm>
              <a:off x="5791200" y="2492897"/>
              <a:ext cx="838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Box 20"/>
            <p:cNvSpPr txBox="1">
              <a:spLocks noChangeArrowheads="1"/>
            </p:cNvSpPr>
            <p:nvPr/>
          </p:nvSpPr>
          <p:spPr bwMode="auto">
            <a:xfrm>
              <a:off x="990601" y="2057400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P</a:t>
              </a:r>
            </a:p>
          </p:txBody>
        </p:sp>
        <p:sp>
          <p:nvSpPr>
            <p:cNvPr id="35" name="Line 21"/>
            <p:cNvSpPr>
              <a:spLocks noChangeShapeType="1"/>
            </p:cNvSpPr>
            <p:nvPr/>
          </p:nvSpPr>
          <p:spPr bwMode="auto">
            <a:xfrm flipV="1">
              <a:off x="3429001" y="198120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23"/>
            <p:cNvSpPr>
              <a:spLocks noChangeShapeType="1"/>
            </p:cNvSpPr>
            <p:nvPr/>
          </p:nvSpPr>
          <p:spPr bwMode="auto">
            <a:xfrm flipV="1">
              <a:off x="7086600" y="1981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26"/>
            <p:cNvSpPr>
              <a:spLocks noChangeArrowheads="1"/>
            </p:cNvSpPr>
            <p:nvPr/>
          </p:nvSpPr>
          <p:spPr bwMode="auto">
            <a:xfrm>
              <a:off x="7467600" y="2286000"/>
              <a:ext cx="457200" cy="5334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64248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103C0FE-F341-46D7-AFE9-1373465A3497}" type="slidenum">
              <a:rPr lang="en-US" altLang="en-US" sz="1400"/>
              <a:pPr eaLnBrk="1" hangingPunct="1"/>
              <a:t>7</a:t>
            </a:fld>
            <a:endParaRPr lang="en-US" altLang="en-US" sz="1400"/>
          </a:p>
        </p:txBody>
      </p:sp>
      <p:sp>
        <p:nvSpPr>
          <p:cNvPr id="6150" name="Rectangle 49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 smtClean="0"/>
              <a:t>2.3.2 </a:t>
            </a:r>
            <a:r>
              <a:rPr lang="en-US" altLang="en-US" dirty="0" err="1" smtClean="0"/>
              <a:t>Danh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sách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móc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nối</a:t>
            </a:r>
            <a:r>
              <a:rPr lang="en-US" altLang="en-US" dirty="0" smtClean="0"/>
              <a:t> - Linked List</a:t>
            </a:r>
            <a:endParaRPr lang="en-US" altLang="en-US" dirty="0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sz="2400" dirty="0" err="1" smtClean="0"/>
              <a:t>Mô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tả</a:t>
            </a:r>
            <a:r>
              <a:rPr lang="en-US" altLang="en-US" sz="2400" dirty="0" smtClean="0"/>
              <a:t>:</a:t>
            </a:r>
          </a:p>
          <a:p>
            <a:pPr lvl="1">
              <a:spcBef>
                <a:spcPct val="0"/>
              </a:spcBef>
            </a:pP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nút</a:t>
            </a:r>
            <a:r>
              <a:rPr lang="en-US" altLang="en-US" sz="2000" dirty="0" smtClean="0"/>
              <a:t> (node): </a:t>
            </a:r>
            <a:r>
              <a:rPr lang="en-US" altLang="en-US" sz="2000" dirty="0" err="1" smtClean="0"/>
              <a:t>lưu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trữ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phần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tử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của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danh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sách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và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con </a:t>
            </a:r>
            <a:r>
              <a:rPr lang="en-US" altLang="en-US" sz="2000" dirty="0" err="1" smtClean="0"/>
              <a:t>trỏ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để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liên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kết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đến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phần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tử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khác</a:t>
            </a:r>
            <a:r>
              <a:rPr lang="en-US" altLang="en-US" sz="2000" dirty="0" smtClean="0"/>
              <a:t>.</a:t>
            </a:r>
          </a:p>
          <a:p>
            <a:pPr lvl="1">
              <a:spcBef>
                <a:spcPct val="0"/>
              </a:spcBef>
            </a:pP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con </a:t>
            </a:r>
            <a:r>
              <a:rPr lang="en-US" altLang="en-US" sz="2000" dirty="0" err="1" smtClean="0"/>
              <a:t>trỏ</a:t>
            </a:r>
            <a:r>
              <a:rPr lang="en-US" altLang="en-US" sz="2000" dirty="0" smtClean="0"/>
              <a:t> (pointer): </a:t>
            </a:r>
            <a:r>
              <a:rPr lang="en-US" altLang="en-US" sz="2000" dirty="0" err="1" smtClean="0"/>
              <a:t>biểu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diễn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quan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hệ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trước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sau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giữa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phần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tử</a:t>
            </a:r>
            <a:r>
              <a:rPr lang="en-US" altLang="en-US" sz="2000" dirty="0" smtClean="0"/>
              <a:t>. </a:t>
            </a:r>
            <a:r>
              <a:rPr lang="en-US" altLang="en-US" sz="2000" dirty="0" err="1" smtClean="0"/>
              <a:t>Có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ít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nhất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một</a:t>
            </a:r>
            <a:r>
              <a:rPr lang="en-US" altLang="en-US" sz="2000" dirty="0" smtClean="0"/>
              <a:t> con </a:t>
            </a:r>
            <a:r>
              <a:rPr lang="en-US" altLang="en-US" sz="2000" dirty="0" err="1" smtClean="0"/>
              <a:t>trỏ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đóng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vai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trò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điểm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truy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nhập</a:t>
            </a:r>
            <a:r>
              <a:rPr lang="en-US" altLang="en-US" sz="2000" dirty="0" smtClean="0"/>
              <a:t>.</a:t>
            </a:r>
          </a:p>
          <a:p>
            <a:pPr lvl="2" eaLnBrk="1" hangingPunct="1">
              <a:spcBef>
                <a:spcPct val="0"/>
              </a:spcBef>
            </a:pPr>
            <a:endParaRPr lang="en-US" altLang="en-US" sz="1800" dirty="0"/>
          </a:p>
          <a:p>
            <a:pPr lvl="2" eaLnBrk="1" hangingPunct="1">
              <a:spcBef>
                <a:spcPct val="0"/>
              </a:spcBef>
            </a:pPr>
            <a:endParaRPr lang="en-US" altLang="en-US" sz="1800" dirty="0" smtClean="0"/>
          </a:p>
          <a:p>
            <a:pPr lvl="2" eaLnBrk="1" hangingPunct="1">
              <a:spcBef>
                <a:spcPct val="0"/>
              </a:spcBef>
            </a:pPr>
            <a:endParaRPr lang="en-US" altLang="en-US" sz="1800" dirty="0"/>
          </a:p>
          <a:p>
            <a:pPr lvl="2" eaLnBrk="1" hangingPunct="1">
              <a:spcBef>
                <a:spcPct val="0"/>
              </a:spcBef>
            </a:pPr>
            <a:endParaRPr lang="en-US" altLang="en-US" sz="1800" dirty="0" smtClean="0"/>
          </a:p>
          <a:p>
            <a:pPr lvl="2" eaLnBrk="1" hangingPunct="1">
              <a:spcBef>
                <a:spcPct val="0"/>
              </a:spcBef>
            </a:pPr>
            <a:endParaRPr lang="en-US" altLang="en-US" sz="1800" dirty="0" smtClean="0"/>
          </a:p>
          <a:p>
            <a:pPr lvl="1">
              <a:spcBef>
                <a:spcPct val="0"/>
              </a:spcBef>
            </a:pPr>
            <a:r>
              <a:rPr lang="en-US" altLang="en-US" sz="2000" dirty="0" err="1" smtClean="0"/>
              <a:t>Cấu</a:t>
            </a:r>
            <a:r>
              <a:rPr lang="en-US" altLang="en-US" sz="2000" dirty="0" smtClean="0"/>
              <a:t> </a:t>
            </a:r>
            <a:r>
              <a:rPr lang="en-US" altLang="en-US" sz="2000" dirty="0" err="1"/>
              <a:t>trúc</a:t>
            </a:r>
            <a:r>
              <a:rPr lang="en-US" altLang="en-US" sz="2000" dirty="0"/>
              <a:t> 1 </a:t>
            </a:r>
            <a:r>
              <a:rPr lang="en-US" altLang="en-US" sz="2000" dirty="0" err="1" smtClean="0"/>
              <a:t>nút</a:t>
            </a:r>
            <a:r>
              <a:rPr lang="en-US" altLang="en-US" sz="2000" dirty="0" smtClean="0"/>
              <a:t>:</a:t>
            </a:r>
            <a:endParaRPr lang="en-US" altLang="en-US" sz="2000" dirty="0"/>
          </a:p>
          <a:p>
            <a:pPr lvl="2">
              <a:spcBef>
                <a:spcPct val="0"/>
              </a:spcBef>
            </a:pPr>
            <a:r>
              <a:rPr lang="en-US" altLang="en-US" sz="1800" dirty="0" err="1"/>
              <a:t>Phần</a:t>
            </a:r>
            <a:r>
              <a:rPr lang="en-US" altLang="en-US" sz="1800" dirty="0"/>
              <a:t> </a:t>
            </a:r>
            <a:r>
              <a:rPr lang="en-US" altLang="en-US" sz="1800" dirty="0" err="1"/>
              <a:t>dữ</a:t>
            </a:r>
            <a:r>
              <a:rPr lang="en-US" altLang="en-US" sz="1800" dirty="0"/>
              <a:t> </a:t>
            </a:r>
            <a:r>
              <a:rPr lang="en-US" altLang="en-US" sz="1800" dirty="0" err="1"/>
              <a:t>liệu</a:t>
            </a:r>
            <a:endParaRPr lang="en-US" altLang="en-US" sz="1800" dirty="0"/>
          </a:p>
          <a:p>
            <a:pPr lvl="2">
              <a:spcBef>
                <a:spcPct val="0"/>
              </a:spcBef>
            </a:pPr>
            <a:r>
              <a:rPr lang="en-US" altLang="en-US" sz="1800" dirty="0" err="1"/>
              <a:t>Phần</a:t>
            </a:r>
            <a:r>
              <a:rPr lang="en-US" altLang="en-US" sz="1800" dirty="0"/>
              <a:t> con </a:t>
            </a:r>
            <a:r>
              <a:rPr lang="en-US" altLang="en-US" sz="1800" dirty="0" err="1"/>
              <a:t>trỏ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chỉ</a:t>
            </a:r>
            <a:r>
              <a:rPr lang="en-US" altLang="en-US" sz="1800" dirty="0"/>
              <a:t> </a:t>
            </a:r>
            <a:r>
              <a:rPr lang="en-US" altLang="en-US" sz="1800" dirty="0" err="1"/>
              <a:t>đến</a:t>
            </a:r>
            <a:r>
              <a:rPr lang="en-US" altLang="en-US" sz="1800" dirty="0"/>
              <a:t> </a:t>
            </a:r>
            <a:r>
              <a:rPr lang="en-US" altLang="en-US" sz="1800" dirty="0" err="1"/>
              <a:t>nút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tiếp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theo</a:t>
            </a:r>
            <a:endParaRPr lang="en-US" altLang="en-US" sz="1800" dirty="0"/>
          </a:p>
          <a:p>
            <a:pPr lvl="1">
              <a:spcBef>
                <a:spcPct val="0"/>
              </a:spcBef>
            </a:pPr>
            <a:endParaRPr lang="en-US" altLang="en-US" sz="2400" dirty="0" smtClean="0"/>
          </a:p>
          <a:p>
            <a:pPr lvl="1">
              <a:spcBef>
                <a:spcPct val="0"/>
              </a:spcBef>
            </a:pPr>
            <a:r>
              <a:rPr lang="en-US" altLang="en-US" sz="2000" dirty="0"/>
              <a:t>H</a:t>
            </a:r>
            <a:r>
              <a:rPr lang="en-US" altLang="en-US" sz="2000" dirty="0" smtClean="0"/>
              <a:t>: </a:t>
            </a:r>
            <a:r>
              <a:rPr lang="en-US" altLang="en-US" sz="2000" dirty="0"/>
              <a:t>con </a:t>
            </a:r>
            <a:r>
              <a:rPr lang="en-US" altLang="en-US" sz="2000" dirty="0" err="1"/>
              <a:t>trỏ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trỏ</a:t>
            </a:r>
            <a:r>
              <a:rPr lang="en-US" altLang="en-US" sz="2000" dirty="0"/>
              <a:t> </a:t>
            </a:r>
            <a:r>
              <a:rPr lang="en-US" altLang="en-US" sz="2000" dirty="0" err="1"/>
              <a:t>vào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nút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đầu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của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danh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sách</a:t>
            </a:r>
            <a:endParaRPr lang="en-US" altLang="en-US" sz="2000" dirty="0"/>
          </a:p>
          <a:p>
            <a:pPr lvl="1">
              <a:spcBef>
                <a:spcPct val="0"/>
              </a:spcBef>
            </a:pPr>
            <a:r>
              <a:rPr lang="en-US" altLang="en-US" sz="2000" dirty="0" err="1"/>
              <a:t>Thứ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tự</a:t>
            </a:r>
            <a:r>
              <a:rPr lang="en-US" altLang="en-US" sz="2000" dirty="0"/>
              <a:t> </a:t>
            </a:r>
            <a:r>
              <a:rPr lang="en-US" altLang="en-US" sz="2000" dirty="0" err="1"/>
              <a:t>và</a:t>
            </a:r>
            <a:r>
              <a:rPr lang="en-US" altLang="en-US" sz="2000" dirty="0"/>
              <a:t> </a:t>
            </a:r>
            <a:r>
              <a:rPr lang="en-US" altLang="en-US" sz="2000" dirty="0" err="1"/>
              <a:t>độ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dài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danh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sách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có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thể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thay</a:t>
            </a:r>
            <a:r>
              <a:rPr lang="en-US" altLang="en-US" sz="2000" dirty="0"/>
              <a:t> </a:t>
            </a:r>
            <a:r>
              <a:rPr lang="en-US" altLang="en-US" sz="2000" dirty="0" err="1"/>
              <a:t>đổi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tuỳ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thích</a:t>
            </a:r>
            <a:endParaRPr lang="en-US" altLang="en-US" sz="2000" dirty="0"/>
          </a:p>
          <a:p>
            <a:pPr lvl="2" eaLnBrk="1" hangingPunct="1">
              <a:spcBef>
                <a:spcPct val="0"/>
              </a:spcBef>
            </a:pPr>
            <a:endParaRPr lang="en-US" altLang="en-US" sz="1800" dirty="0" smtClean="0"/>
          </a:p>
          <a:p>
            <a:pPr lvl="1" eaLnBrk="1" hangingPunct="1">
              <a:spcBef>
                <a:spcPct val="0"/>
              </a:spcBef>
            </a:pPr>
            <a:endParaRPr lang="en-US" altLang="en-US" sz="2400" dirty="0" smtClean="0"/>
          </a:p>
        </p:txBody>
      </p:sp>
      <p:sp>
        <p:nvSpPr>
          <p:cNvPr id="6151" name="Rectangle 50"/>
          <p:cNvSpPr>
            <a:spLocks noChangeArrowheads="1"/>
          </p:cNvSpPr>
          <p:nvPr/>
        </p:nvSpPr>
        <p:spPr bwMode="auto">
          <a:xfrm>
            <a:off x="228600" y="4114800"/>
            <a:ext cx="8686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ct val="20000"/>
              </a:spcBef>
              <a:buFontTx/>
              <a:buChar char="–"/>
            </a:pPr>
            <a:endParaRPr lang="en-US" alt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2070100" y="2459436"/>
            <a:ext cx="5316156" cy="727870"/>
            <a:chOff x="1295400" y="3296443"/>
            <a:chExt cx="5316156" cy="727870"/>
          </a:xfrm>
        </p:grpSpPr>
        <p:sp>
          <p:nvSpPr>
            <p:cNvPr id="6149" name="Text Box 23"/>
            <p:cNvSpPr txBox="1">
              <a:spLocks noChangeArrowheads="1"/>
            </p:cNvSpPr>
            <p:nvPr/>
          </p:nvSpPr>
          <p:spPr bwMode="auto">
            <a:xfrm>
              <a:off x="1295400" y="3657600"/>
              <a:ext cx="1187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/>
                <a:t>LinkedList</a:t>
              </a:r>
            </a:p>
          </p:txBody>
        </p:sp>
        <p:grpSp>
          <p:nvGrpSpPr>
            <p:cNvPr id="28" name="Group 1"/>
            <p:cNvGrpSpPr>
              <a:grpSpLocks/>
            </p:cNvGrpSpPr>
            <p:nvPr/>
          </p:nvGrpSpPr>
          <p:grpSpPr bwMode="auto">
            <a:xfrm>
              <a:off x="2572956" y="3296443"/>
              <a:ext cx="4038600" cy="722313"/>
              <a:chOff x="2819400" y="3108325"/>
              <a:chExt cx="4038600" cy="723106"/>
            </a:xfrm>
          </p:grpSpPr>
          <p:sp>
            <p:nvSpPr>
              <p:cNvPr id="29" name="Rectangle 55">
                <a:extLst>
                  <a:ext uri="{FF2B5EF4-FFF2-40B4-BE49-F238E27FC236}">
                    <a16:creationId xmlns:a16="http://schemas.microsoft.com/office/drawing/2014/main" id="{616BD9FE-337F-4504-A35C-9D49B918CD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0200" y="3426571"/>
                <a:ext cx="304800" cy="40048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defTabSz="7620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endParaRPr lang="en-GB" altLang="en-US" sz="1800"/>
              </a:p>
            </p:txBody>
          </p:sp>
          <p:sp>
            <p:nvSpPr>
              <p:cNvPr id="30" name="Rectangle 55">
                <a:extLst>
                  <a:ext uri="{FF2B5EF4-FFF2-40B4-BE49-F238E27FC236}">
                    <a16:creationId xmlns:a16="http://schemas.microsoft.com/office/drawing/2014/main" id="{FB1E0D61-3113-474C-9663-5E3A1D2FA9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7200" y="3438888"/>
                <a:ext cx="304800" cy="39254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defTabSz="7620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endParaRPr lang="en-GB" altLang="en-US" sz="1800"/>
              </a:p>
            </p:txBody>
          </p:sp>
          <p:sp>
            <p:nvSpPr>
              <p:cNvPr id="31" name="Rectangle 55">
                <a:extLst>
                  <a:ext uri="{FF2B5EF4-FFF2-40B4-BE49-F238E27FC236}">
                    <a16:creationId xmlns:a16="http://schemas.microsoft.com/office/drawing/2014/main" id="{5B8D39F3-931D-45CA-A72E-A331856CF5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3429352"/>
                <a:ext cx="304800" cy="39254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defTabSz="7620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endParaRPr lang="en-GB" altLang="en-US" sz="1800"/>
              </a:p>
            </p:txBody>
          </p:sp>
          <p:sp>
            <p:nvSpPr>
              <p:cNvPr id="32" name="Rectangle 55">
                <a:extLst>
                  <a:ext uri="{FF2B5EF4-FFF2-40B4-BE49-F238E27FC236}">
                    <a16:creationId xmlns:a16="http://schemas.microsoft.com/office/drawing/2014/main" id="{D6A26944-38A5-48F4-B077-4A2665BF5B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200" y="3429352"/>
                <a:ext cx="304800" cy="392543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defTabSz="7620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endParaRPr lang="en-GB" altLang="en-US" sz="1800"/>
              </a:p>
            </p:txBody>
          </p:sp>
          <p:sp>
            <p:nvSpPr>
              <p:cNvPr id="33" name="Rectangle 34"/>
              <p:cNvSpPr>
                <a:spLocks noChangeArrowheads="1"/>
              </p:cNvSpPr>
              <p:nvPr/>
            </p:nvSpPr>
            <p:spPr bwMode="auto">
              <a:xfrm>
                <a:off x="3810000" y="3439318"/>
                <a:ext cx="457200" cy="39211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600"/>
                  <a:t>A</a:t>
                </a:r>
              </a:p>
            </p:txBody>
          </p:sp>
          <p:sp>
            <p:nvSpPr>
              <p:cNvPr id="34" name="Rectangle 36"/>
              <p:cNvSpPr>
                <a:spLocks noChangeArrowheads="1"/>
              </p:cNvSpPr>
              <p:nvPr/>
            </p:nvSpPr>
            <p:spPr bwMode="auto">
              <a:xfrm>
                <a:off x="6096000" y="3427412"/>
                <a:ext cx="457200" cy="39370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600"/>
                  <a:t>C</a:t>
                </a:r>
                <a:endParaRPr lang="en-US" altLang="en-US" sz="1800"/>
              </a:p>
            </p:txBody>
          </p:sp>
          <p:sp>
            <p:nvSpPr>
              <p:cNvPr id="35" name="Line 45"/>
              <p:cNvSpPr>
                <a:spLocks noChangeShapeType="1"/>
              </p:cNvSpPr>
              <p:nvPr/>
            </p:nvSpPr>
            <p:spPr bwMode="auto">
              <a:xfrm flipV="1">
                <a:off x="6553200" y="3424237"/>
                <a:ext cx="304800" cy="39211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Rectangle 47"/>
              <p:cNvSpPr>
                <a:spLocks noChangeArrowheads="1"/>
              </p:cNvSpPr>
              <p:nvPr/>
            </p:nvSpPr>
            <p:spPr bwMode="auto">
              <a:xfrm>
                <a:off x="2819400" y="3108325"/>
                <a:ext cx="364202" cy="3697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b="1" dirty="0"/>
                  <a:t>H</a:t>
                </a:r>
                <a:endParaRPr lang="en-US" altLang="en-US" sz="2000" b="1" dirty="0"/>
              </a:p>
            </p:txBody>
          </p:sp>
          <p:sp>
            <p:nvSpPr>
              <p:cNvPr id="37" name="Rectangle 34"/>
              <p:cNvSpPr>
                <a:spLocks noChangeArrowheads="1"/>
              </p:cNvSpPr>
              <p:nvPr/>
            </p:nvSpPr>
            <p:spPr bwMode="auto">
              <a:xfrm>
                <a:off x="4953000" y="3427412"/>
                <a:ext cx="457200" cy="39687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/>
                  <a:t>B</a:t>
                </a:r>
                <a:endParaRPr lang="en-US" altLang="en-US" sz="1800" dirty="0"/>
              </a:p>
            </p:txBody>
          </p:sp>
          <p:sp>
            <p:nvSpPr>
              <p:cNvPr id="38" name="Line 39"/>
              <p:cNvSpPr>
                <a:spLocks noChangeShapeType="1"/>
              </p:cNvSpPr>
              <p:nvPr/>
            </p:nvSpPr>
            <p:spPr bwMode="auto">
              <a:xfrm>
                <a:off x="3276600" y="3625850"/>
                <a:ext cx="533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Line 39"/>
              <p:cNvSpPr>
                <a:spLocks noChangeShapeType="1"/>
              </p:cNvSpPr>
              <p:nvPr/>
            </p:nvSpPr>
            <p:spPr bwMode="auto">
              <a:xfrm>
                <a:off x="4419600" y="3642288"/>
                <a:ext cx="533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Line 39"/>
              <p:cNvSpPr>
                <a:spLocks noChangeShapeType="1"/>
              </p:cNvSpPr>
              <p:nvPr/>
            </p:nvSpPr>
            <p:spPr bwMode="auto">
              <a:xfrm>
                <a:off x="5562600" y="3648638"/>
                <a:ext cx="533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1" name="Group 2"/>
          <p:cNvGrpSpPr>
            <a:grpSpLocks/>
          </p:cNvGrpSpPr>
          <p:nvPr/>
        </p:nvGrpSpPr>
        <p:grpSpPr bwMode="auto">
          <a:xfrm>
            <a:off x="5328856" y="3939344"/>
            <a:ext cx="2057400" cy="466725"/>
            <a:chOff x="6477000" y="4562475"/>
            <a:chExt cx="2057400" cy="466725"/>
          </a:xfrm>
        </p:grpSpPr>
        <p:sp>
          <p:nvSpPr>
            <p:cNvPr id="42" name="Text Box 52"/>
            <p:cNvSpPr txBox="1">
              <a:spLocks noChangeArrowheads="1"/>
            </p:cNvSpPr>
            <p:nvPr/>
          </p:nvSpPr>
          <p:spPr bwMode="auto">
            <a:xfrm>
              <a:off x="6477000" y="4562475"/>
              <a:ext cx="9906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dirty="0"/>
                <a:t>info</a:t>
              </a:r>
            </a:p>
          </p:txBody>
        </p:sp>
        <p:sp>
          <p:nvSpPr>
            <p:cNvPr id="43" name="Text Box 53">
              <a:extLst>
                <a:ext uri="{FF2B5EF4-FFF2-40B4-BE49-F238E27FC236}">
                  <a16:creationId xmlns:a16="http://schemas.microsoft.com/office/drawing/2014/main" id="{3267CBDC-1AC3-485C-AB00-AC61A7C95C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600" y="4562475"/>
              <a:ext cx="838200" cy="46672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en-US" sz="2400" dirty="0"/>
                <a:t>next</a:t>
              </a:r>
            </a:p>
          </p:txBody>
        </p:sp>
        <p:sp>
          <p:nvSpPr>
            <p:cNvPr id="44" name="Line 54"/>
            <p:cNvSpPr>
              <a:spLocks noChangeShapeType="1"/>
            </p:cNvSpPr>
            <p:nvPr/>
          </p:nvSpPr>
          <p:spPr bwMode="auto">
            <a:xfrm>
              <a:off x="7924800" y="46482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565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2.3.2 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 smtClean="0"/>
              <a:t>sách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móc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nối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451562"/>
            <a:ext cx="2834063" cy="24730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045" y="1676400"/>
            <a:ext cx="5553034" cy="378933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29901" y="4988080"/>
            <a:ext cx="10975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“HELLO”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00050" y="2266896"/>
            <a:ext cx="5143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H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371850" y="4431268"/>
            <a:ext cx="5143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076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A72E060-8405-4630-8AE8-281B3542A392}" type="slidenum">
              <a:rPr lang="en-US" altLang="en-US" sz="1400"/>
              <a:pPr eaLnBrk="1" hangingPunct="1"/>
              <a:t>9</a:t>
            </a:fld>
            <a:endParaRPr lang="en-US" altLang="en-US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2.3.2 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</a:t>
            </a:r>
            <a:r>
              <a:rPr lang="en-US" altLang="en-US" dirty="0" err="1"/>
              <a:t>móc</a:t>
            </a:r>
            <a:r>
              <a:rPr lang="en-US" altLang="en-US" dirty="0"/>
              <a:t> </a:t>
            </a:r>
            <a:r>
              <a:rPr lang="en-US" altLang="en-US" dirty="0" err="1" smtClean="0"/>
              <a:t>nối</a:t>
            </a:r>
            <a:endParaRPr lang="en-US" dirty="0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body" sz="quarter" idx="13"/>
          </p:nvPr>
        </p:nvSpPr>
        <p:spPr>
          <a:noFill/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err="1" smtClean="0">
                <a:cs typeface="Times New Roman" panose="02020603050405020304" pitchFamily="18" charset="0"/>
              </a:rPr>
              <a:t>Phân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loại</a:t>
            </a:r>
            <a:endParaRPr lang="en-US" altLang="en-US" sz="2400" dirty="0" smtClean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 err="1" smtClean="0">
                <a:cs typeface="Times New Roman" panose="02020603050405020304" pitchFamily="18" charset="0"/>
              </a:rPr>
              <a:t>Phân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loại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theo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hướng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con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trỏ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(hay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số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con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trỏ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trong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1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)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 err="1" smtClean="0"/>
              <a:t>Danh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sách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nối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đơn</a:t>
            </a:r>
            <a:r>
              <a:rPr lang="en-US" altLang="en-US" sz="2000" dirty="0" smtClean="0"/>
              <a:t> (</a:t>
            </a:r>
            <a:r>
              <a:rPr lang="en-US" altLang="en-US" sz="2000" i="1" dirty="0" smtClean="0"/>
              <a:t>single linked list</a:t>
            </a:r>
            <a:r>
              <a:rPr lang="en-US" altLang="en-US" sz="2000" dirty="0" smtClean="0"/>
              <a:t>): </a:t>
            </a:r>
          </a:p>
          <a:p>
            <a:pPr lvl="3">
              <a:lnSpc>
                <a:spcPct val="90000"/>
              </a:lnSpc>
            </a:pPr>
            <a:r>
              <a:rPr lang="en-US" altLang="en-US" sz="1800" dirty="0" smtClean="0"/>
              <a:t>con </a:t>
            </a:r>
            <a:r>
              <a:rPr lang="en-US" altLang="en-US" sz="1800" dirty="0" err="1" smtClean="0"/>
              <a:t>trỏ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luôn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chỉ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theo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một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hướng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trong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danh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sách</a:t>
            </a:r>
            <a:endParaRPr lang="en-US" altLang="en-US" sz="1800" dirty="0" smtClean="0"/>
          </a:p>
          <a:p>
            <a:pPr lvl="2" eaLnBrk="1" hangingPunct="1">
              <a:lnSpc>
                <a:spcPct val="90000"/>
              </a:lnSpc>
            </a:pPr>
            <a:endParaRPr lang="en-US" altLang="en-US" sz="2000" dirty="0" smtClean="0"/>
          </a:p>
          <a:p>
            <a:pPr lvl="1" eaLnBrk="1" hangingPunct="1">
              <a:lnSpc>
                <a:spcPct val="90000"/>
              </a:lnSpc>
            </a:pPr>
            <a:endParaRPr lang="en-US" altLang="en-US" sz="2000" dirty="0" smtClean="0"/>
          </a:p>
          <a:p>
            <a:pPr lvl="1" eaLnBrk="1" hangingPunct="1">
              <a:lnSpc>
                <a:spcPct val="90000"/>
              </a:lnSpc>
            </a:pPr>
            <a:endParaRPr lang="en-US" altLang="en-US" sz="2000" dirty="0" smtClean="0"/>
          </a:p>
          <a:p>
            <a:pPr lvl="2">
              <a:lnSpc>
                <a:spcPct val="90000"/>
              </a:lnSpc>
            </a:pPr>
            <a:endParaRPr lang="en-US" altLang="en-US" sz="2000" dirty="0" smtClean="0"/>
          </a:p>
          <a:p>
            <a:pPr lvl="2">
              <a:lnSpc>
                <a:spcPct val="90000"/>
              </a:lnSpc>
            </a:pPr>
            <a:r>
              <a:rPr lang="en-US" altLang="en-US" sz="2000" dirty="0" err="1" smtClean="0"/>
              <a:t>Danh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sách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nối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kép</a:t>
            </a:r>
            <a:r>
              <a:rPr lang="en-US" altLang="en-US" sz="2000" dirty="0" smtClean="0"/>
              <a:t> (</a:t>
            </a:r>
            <a:r>
              <a:rPr lang="en-US" altLang="en-US" sz="2000" i="1" dirty="0" smtClean="0"/>
              <a:t>double linked list</a:t>
            </a:r>
            <a:r>
              <a:rPr lang="en-US" altLang="en-US" sz="2000" dirty="0" smtClean="0"/>
              <a:t>)</a:t>
            </a:r>
          </a:p>
          <a:p>
            <a:pPr lvl="3">
              <a:lnSpc>
                <a:spcPct val="90000"/>
              </a:lnSpc>
            </a:pPr>
            <a:r>
              <a:rPr lang="en-US" altLang="en-US" sz="1800" dirty="0" smtClean="0"/>
              <a:t>2 con </a:t>
            </a:r>
            <a:r>
              <a:rPr lang="en-US" altLang="en-US" sz="1800" dirty="0" err="1" smtClean="0"/>
              <a:t>trỏ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chỉ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theo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hai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hướng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trong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danh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sách</a:t>
            </a:r>
            <a:endParaRPr lang="en-US" altLang="en-US" sz="1800" dirty="0" smtClean="0"/>
          </a:p>
        </p:txBody>
      </p:sp>
      <p:grpSp>
        <p:nvGrpSpPr>
          <p:cNvPr id="8198" name="Group 110"/>
          <p:cNvGrpSpPr>
            <a:grpSpLocks/>
          </p:cNvGrpSpPr>
          <p:nvPr/>
        </p:nvGrpSpPr>
        <p:grpSpPr bwMode="auto">
          <a:xfrm>
            <a:off x="1809608" y="2250633"/>
            <a:ext cx="5029200" cy="849313"/>
            <a:chOff x="672" y="1536"/>
            <a:chExt cx="3168" cy="535"/>
          </a:xfrm>
        </p:grpSpPr>
        <p:sp>
          <p:nvSpPr>
            <p:cNvPr id="8220" name="Text Box 8"/>
            <p:cNvSpPr txBox="1">
              <a:spLocks noChangeArrowheads="1"/>
            </p:cNvSpPr>
            <p:nvPr/>
          </p:nvSpPr>
          <p:spPr bwMode="auto">
            <a:xfrm>
              <a:off x="672" y="1536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/>
                <a:t>H</a:t>
              </a:r>
            </a:p>
          </p:txBody>
        </p:sp>
        <p:sp>
          <p:nvSpPr>
            <p:cNvPr id="8221" name="Line 7"/>
            <p:cNvSpPr>
              <a:spLocks noChangeShapeType="1"/>
            </p:cNvSpPr>
            <p:nvPr/>
          </p:nvSpPr>
          <p:spPr bwMode="auto">
            <a:xfrm>
              <a:off x="918" y="1893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2" name="Rectangle 9"/>
            <p:cNvSpPr>
              <a:spLocks noChangeArrowheads="1"/>
            </p:cNvSpPr>
            <p:nvPr/>
          </p:nvSpPr>
          <p:spPr bwMode="auto">
            <a:xfrm>
              <a:off x="1398" y="1768"/>
              <a:ext cx="474" cy="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</a:p>
          </p:txBody>
        </p:sp>
        <p:sp>
          <p:nvSpPr>
            <p:cNvPr id="8223" name="Rectangle 10"/>
            <p:cNvSpPr>
              <a:spLocks noChangeArrowheads="1"/>
            </p:cNvSpPr>
            <p:nvPr/>
          </p:nvSpPr>
          <p:spPr bwMode="auto">
            <a:xfrm>
              <a:off x="2268" y="1768"/>
              <a:ext cx="468" cy="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B</a:t>
              </a:r>
            </a:p>
          </p:txBody>
        </p:sp>
        <p:sp>
          <p:nvSpPr>
            <p:cNvPr id="8224" name="Rectangle 11"/>
            <p:cNvSpPr>
              <a:spLocks noChangeArrowheads="1"/>
            </p:cNvSpPr>
            <p:nvPr/>
          </p:nvSpPr>
          <p:spPr bwMode="auto">
            <a:xfrm>
              <a:off x="3168" y="1768"/>
              <a:ext cx="480" cy="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C</a:t>
              </a:r>
            </a:p>
          </p:txBody>
        </p:sp>
        <p:sp>
          <p:nvSpPr>
            <p:cNvPr id="8225" name="Rectangle 13"/>
            <p:cNvSpPr>
              <a:spLocks noChangeArrowheads="1"/>
            </p:cNvSpPr>
            <p:nvPr/>
          </p:nvSpPr>
          <p:spPr bwMode="auto">
            <a:xfrm>
              <a:off x="1872" y="1769"/>
              <a:ext cx="192" cy="29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8226" name="Line 14"/>
            <p:cNvSpPr>
              <a:spLocks noChangeShapeType="1"/>
            </p:cNvSpPr>
            <p:nvPr/>
          </p:nvSpPr>
          <p:spPr bwMode="auto">
            <a:xfrm>
              <a:off x="1974" y="1887"/>
              <a:ext cx="2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7" name="Rectangle 16"/>
            <p:cNvSpPr>
              <a:spLocks noChangeArrowheads="1"/>
            </p:cNvSpPr>
            <p:nvPr/>
          </p:nvSpPr>
          <p:spPr bwMode="auto">
            <a:xfrm>
              <a:off x="2736" y="1769"/>
              <a:ext cx="192" cy="29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8228" name="Line 17"/>
            <p:cNvSpPr>
              <a:spLocks noChangeShapeType="1"/>
            </p:cNvSpPr>
            <p:nvPr/>
          </p:nvSpPr>
          <p:spPr bwMode="auto">
            <a:xfrm>
              <a:off x="2874" y="1887"/>
              <a:ext cx="2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229" name="Group 18"/>
            <p:cNvGrpSpPr>
              <a:grpSpLocks/>
            </p:cNvGrpSpPr>
            <p:nvPr/>
          </p:nvGrpSpPr>
          <p:grpSpPr bwMode="auto">
            <a:xfrm>
              <a:off x="3648" y="1769"/>
              <a:ext cx="192" cy="295"/>
              <a:chOff x="3204" y="3132"/>
              <a:chExt cx="192" cy="288"/>
            </a:xfrm>
          </p:grpSpPr>
          <p:sp>
            <p:nvSpPr>
              <p:cNvPr id="8231" name="Rectangle 19"/>
              <p:cNvSpPr>
                <a:spLocks noChangeArrowheads="1"/>
              </p:cNvSpPr>
              <p:nvPr/>
            </p:nvSpPr>
            <p:spPr bwMode="auto">
              <a:xfrm>
                <a:off x="3204" y="3132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1800"/>
              </a:p>
            </p:txBody>
          </p:sp>
          <p:sp>
            <p:nvSpPr>
              <p:cNvPr id="8232" name="Line 20"/>
              <p:cNvSpPr>
                <a:spLocks noChangeShapeType="1"/>
              </p:cNvSpPr>
              <p:nvPr/>
            </p:nvSpPr>
            <p:spPr bwMode="auto">
              <a:xfrm flipV="1">
                <a:off x="3204" y="3132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30" name="Rectangle 106"/>
            <p:cNvSpPr>
              <a:spLocks noChangeArrowheads="1"/>
            </p:cNvSpPr>
            <p:nvPr/>
          </p:nvSpPr>
          <p:spPr bwMode="auto">
            <a:xfrm>
              <a:off x="816" y="1776"/>
              <a:ext cx="192" cy="29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/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</p:grpSp>
      <p:grpSp>
        <p:nvGrpSpPr>
          <p:cNvPr id="8199" name="Group 108"/>
          <p:cNvGrpSpPr>
            <a:grpSpLocks/>
          </p:cNvGrpSpPr>
          <p:nvPr/>
        </p:nvGrpSpPr>
        <p:grpSpPr bwMode="auto">
          <a:xfrm>
            <a:off x="1692133" y="4302129"/>
            <a:ext cx="6178550" cy="762000"/>
            <a:chOff x="584" y="2784"/>
            <a:chExt cx="3892" cy="480"/>
          </a:xfrm>
        </p:grpSpPr>
        <p:sp>
          <p:nvSpPr>
            <p:cNvPr id="8200" name="Rectangle 26"/>
            <p:cNvSpPr>
              <a:spLocks noChangeArrowheads="1"/>
            </p:cNvSpPr>
            <p:nvPr/>
          </p:nvSpPr>
          <p:spPr bwMode="auto">
            <a:xfrm>
              <a:off x="1611" y="2976"/>
              <a:ext cx="438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</a:p>
          </p:txBody>
        </p:sp>
        <p:sp>
          <p:nvSpPr>
            <p:cNvPr id="8201" name="Rectangle 27"/>
            <p:cNvSpPr>
              <a:spLocks noChangeArrowheads="1"/>
            </p:cNvSpPr>
            <p:nvPr/>
          </p:nvSpPr>
          <p:spPr bwMode="auto">
            <a:xfrm>
              <a:off x="2721" y="2976"/>
              <a:ext cx="432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B</a:t>
              </a:r>
            </a:p>
          </p:txBody>
        </p:sp>
        <p:sp>
          <p:nvSpPr>
            <p:cNvPr id="8202" name="Rectangle 28"/>
            <p:cNvSpPr>
              <a:spLocks noChangeArrowheads="1"/>
            </p:cNvSpPr>
            <p:nvPr/>
          </p:nvSpPr>
          <p:spPr bwMode="auto">
            <a:xfrm>
              <a:off x="3826" y="2976"/>
              <a:ext cx="431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C</a:t>
              </a:r>
            </a:p>
          </p:txBody>
        </p:sp>
        <p:sp>
          <p:nvSpPr>
            <p:cNvPr id="8203" name="Rectangle 29"/>
            <p:cNvSpPr>
              <a:spLocks noChangeArrowheads="1"/>
            </p:cNvSpPr>
            <p:nvPr/>
          </p:nvSpPr>
          <p:spPr bwMode="auto">
            <a:xfrm>
              <a:off x="2049" y="2976"/>
              <a:ext cx="24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8204" name="Line 30"/>
            <p:cNvSpPr>
              <a:spLocks noChangeShapeType="1"/>
            </p:cNvSpPr>
            <p:nvPr/>
          </p:nvSpPr>
          <p:spPr bwMode="auto">
            <a:xfrm>
              <a:off x="2173" y="3054"/>
              <a:ext cx="3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5" name="Rectangle 31"/>
            <p:cNvSpPr>
              <a:spLocks noChangeArrowheads="1"/>
            </p:cNvSpPr>
            <p:nvPr/>
          </p:nvSpPr>
          <p:spPr bwMode="auto">
            <a:xfrm>
              <a:off x="3153" y="2976"/>
              <a:ext cx="24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8206" name="Line 32"/>
            <p:cNvSpPr>
              <a:spLocks noChangeShapeType="1"/>
            </p:cNvSpPr>
            <p:nvPr/>
          </p:nvSpPr>
          <p:spPr bwMode="auto">
            <a:xfrm>
              <a:off x="3268" y="3053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207" name="Group 33"/>
            <p:cNvGrpSpPr>
              <a:grpSpLocks/>
            </p:cNvGrpSpPr>
            <p:nvPr/>
          </p:nvGrpSpPr>
          <p:grpSpPr bwMode="auto">
            <a:xfrm>
              <a:off x="4257" y="2976"/>
              <a:ext cx="219" cy="288"/>
              <a:chOff x="3204" y="3132"/>
              <a:chExt cx="192" cy="288"/>
            </a:xfrm>
          </p:grpSpPr>
          <p:sp>
            <p:nvSpPr>
              <p:cNvPr id="8218" name="Rectangle 34"/>
              <p:cNvSpPr>
                <a:spLocks noChangeArrowheads="1"/>
              </p:cNvSpPr>
              <p:nvPr/>
            </p:nvSpPr>
            <p:spPr bwMode="auto">
              <a:xfrm>
                <a:off x="3204" y="3132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1800"/>
              </a:p>
            </p:txBody>
          </p:sp>
          <p:sp>
            <p:nvSpPr>
              <p:cNvPr id="8219" name="Line 35"/>
              <p:cNvSpPr>
                <a:spLocks noChangeShapeType="1"/>
              </p:cNvSpPr>
              <p:nvPr/>
            </p:nvSpPr>
            <p:spPr bwMode="auto">
              <a:xfrm flipV="1">
                <a:off x="3204" y="3132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08" name="Line 39"/>
            <p:cNvSpPr>
              <a:spLocks noChangeShapeType="1"/>
            </p:cNvSpPr>
            <p:nvPr/>
          </p:nvSpPr>
          <p:spPr bwMode="auto">
            <a:xfrm flipH="1">
              <a:off x="2310" y="3192"/>
              <a:ext cx="3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9" name="Rectangle 40"/>
            <p:cNvSpPr>
              <a:spLocks noChangeArrowheads="1"/>
            </p:cNvSpPr>
            <p:nvPr/>
          </p:nvSpPr>
          <p:spPr bwMode="auto">
            <a:xfrm>
              <a:off x="2511" y="2976"/>
              <a:ext cx="2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grpSp>
          <p:nvGrpSpPr>
            <p:cNvPr id="8210" name="Group 41"/>
            <p:cNvGrpSpPr>
              <a:grpSpLocks/>
            </p:cNvGrpSpPr>
            <p:nvPr/>
          </p:nvGrpSpPr>
          <p:grpSpPr bwMode="auto">
            <a:xfrm>
              <a:off x="1392" y="2976"/>
              <a:ext cx="219" cy="288"/>
              <a:chOff x="3204" y="3132"/>
              <a:chExt cx="192" cy="288"/>
            </a:xfrm>
          </p:grpSpPr>
          <p:sp>
            <p:nvSpPr>
              <p:cNvPr id="8216" name="Rectangle 42"/>
              <p:cNvSpPr>
                <a:spLocks noChangeArrowheads="1"/>
              </p:cNvSpPr>
              <p:nvPr/>
            </p:nvSpPr>
            <p:spPr bwMode="auto">
              <a:xfrm>
                <a:off x="3204" y="3132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1800"/>
              </a:p>
            </p:txBody>
          </p:sp>
          <p:sp>
            <p:nvSpPr>
              <p:cNvPr id="8217" name="Line 43"/>
              <p:cNvSpPr>
                <a:spLocks noChangeShapeType="1"/>
              </p:cNvSpPr>
              <p:nvPr/>
            </p:nvSpPr>
            <p:spPr bwMode="auto">
              <a:xfrm flipV="1">
                <a:off x="3204" y="3132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11" name="Line 44"/>
            <p:cNvSpPr>
              <a:spLocks noChangeShapeType="1"/>
            </p:cNvSpPr>
            <p:nvPr/>
          </p:nvSpPr>
          <p:spPr bwMode="auto">
            <a:xfrm flipH="1">
              <a:off x="3405" y="319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2" name="Rectangle 45"/>
            <p:cNvSpPr>
              <a:spLocks noChangeArrowheads="1"/>
            </p:cNvSpPr>
            <p:nvPr/>
          </p:nvSpPr>
          <p:spPr bwMode="auto">
            <a:xfrm>
              <a:off x="3607" y="2976"/>
              <a:ext cx="219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8213" name="Text Box 101"/>
            <p:cNvSpPr txBox="1">
              <a:spLocks noChangeArrowheads="1"/>
            </p:cNvSpPr>
            <p:nvPr/>
          </p:nvSpPr>
          <p:spPr bwMode="auto">
            <a:xfrm>
              <a:off x="584" y="2784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/>
                <a:t>H</a:t>
              </a:r>
            </a:p>
          </p:txBody>
        </p:sp>
        <p:sp>
          <p:nvSpPr>
            <p:cNvPr id="8214" name="Line 102"/>
            <p:cNvSpPr>
              <a:spLocks noChangeShapeType="1"/>
            </p:cNvSpPr>
            <p:nvPr/>
          </p:nvSpPr>
          <p:spPr bwMode="auto">
            <a:xfrm>
              <a:off x="912" y="3093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5" name="Rectangle 107"/>
            <p:cNvSpPr>
              <a:spLocks noChangeArrowheads="1"/>
            </p:cNvSpPr>
            <p:nvPr/>
          </p:nvSpPr>
          <p:spPr bwMode="auto">
            <a:xfrm>
              <a:off x="816" y="2969"/>
              <a:ext cx="192" cy="29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/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06720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921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C422D8B-29D4-400D-B5C8-72DB27F02B84}" type="slidenum">
              <a:rPr lang="en-US" altLang="en-US" sz="1400"/>
              <a:pPr eaLnBrk="1" hangingPunct="1"/>
              <a:t>10</a:t>
            </a:fld>
            <a:endParaRPr lang="en-US" altLang="en-US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2.3.2 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</a:t>
            </a:r>
            <a:r>
              <a:rPr lang="en-US" altLang="en-US" dirty="0" err="1"/>
              <a:t>móc</a:t>
            </a:r>
            <a:r>
              <a:rPr lang="en-US" altLang="en-US" dirty="0"/>
              <a:t> </a:t>
            </a:r>
            <a:r>
              <a:rPr lang="en-US" altLang="en-US" dirty="0" err="1" smtClean="0"/>
              <a:t>nối</a:t>
            </a:r>
            <a:endParaRPr lang="en-US" dirty="0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body" sz="quarter" idx="13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 err="1" smtClean="0">
                <a:cs typeface="Times New Roman" panose="02020603050405020304" pitchFamily="18" charset="0"/>
              </a:rPr>
              <a:t>Phân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loại</a:t>
            </a:r>
            <a:endParaRPr lang="en-US" altLang="en-US" sz="2400" dirty="0" smtClean="0"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 err="1" smtClean="0">
                <a:cs typeface="Times New Roman" panose="02020603050405020304" pitchFamily="18" charset="0"/>
              </a:rPr>
              <a:t>Phân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loại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theo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cách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móc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nối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vòng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hoặc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thẳng</a:t>
            </a:r>
            <a:endParaRPr lang="en-US" altLang="en-US" sz="2000" dirty="0" smtClean="0">
              <a:cs typeface="Times New Roman" panose="02020603050405020304" pitchFamily="18" charset="0"/>
            </a:endParaRPr>
          </a:p>
          <a:p>
            <a:pPr lvl="2"/>
            <a:r>
              <a:rPr lang="en-US" altLang="en-US" sz="2000" dirty="0" err="1" smtClean="0"/>
              <a:t>Danh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sách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nối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thẳng</a:t>
            </a:r>
            <a:r>
              <a:rPr lang="en-US" altLang="en-US" sz="2000" dirty="0"/>
              <a:t> </a:t>
            </a:r>
            <a:r>
              <a:rPr lang="en-US" altLang="en-US" sz="2000" dirty="0" smtClean="0"/>
              <a:t>(</a:t>
            </a:r>
            <a:r>
              <a:rPr lang="en-US" altLang="en-US" sz="2000" i="1" dirty="0" smtClean="0"/>
              <a:t>grounded linked list</a:t>
            </a:r>
            <a:r>
              <a:rPr lang="en-US" altLang="en-US" sz="2000" dirty="0" smtClean="0"/>
              <a:t>): </a:t>
            </a:r>
            <a:r>
              <a:rPr lang="en-US" altLang="en-US" sz="2000" dirty="0" err="1" smtClean="0"/>
              <a:t>truy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cập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vào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danh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sách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thông</a:t>
            </a:r>
            <a:r>
              <a:rPr lang="en-US" altLang="en-US" sz="2000" dirty="0" smtClean="0"/>
              <a:t> qua </a:t>
            </a:r>
            <a:r>
              <a:rPr lang="en-US" altLang="en-US" sz="2000" dirty="0" err="1" smtClean="0"/>
              <a:t>điểm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truy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nhập</a:t>
            </a:r>
            <a:r>
              <a:rPr lang="en-US" altLang="en-US" sz="2000" dirty="0" smtClean="0"/>
              <a:t> H</a:t>
            </a:r>
          </a:p>
          <a:p>
            <a:pPr lvl="2" eaLnBrk="1" hangingPunct="1"/>
            <a:endParaRPr lang="en-US" altLang="en-US" sz="2000" dirty="0" smtClean="0"/>
          </a:p>
          <a:p>
            <a:pPr lvl="2" eaLnBrk="1" hangingPunct="1"/>
            <a:endParaRPr lang="en-US" altLang="en-US" sz="2000" dirty="0" smtClean="0"/>
          </a:p>
          <a:p>
            <a:pPr lvl="2"/>
            <a:endParaRPr lang="en-US" altLang="en-US" sz="2000" dirty="0" smtClean="0"/>
          </a:p>
          <a:p>
            <a:pPr lvl="2"/>
            <a:r>
              <a:rPr lang="en-US" altLang="en-US" sz="2000" dirty="0" err="1" smtClean="0"/>
              <a:t>Danh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sách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nối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vòng</a:t>
            </a:r>
            <a:r>
              <a:rPr lang="en-US" altLang="en-US" sz="2000" dirty="0" smtClean="0"/>
              <a:t> (</a:t>
            </a:r>
            <a:r>
              <a:rPr lang="en-US" altLang="en-US" sz="2000" i="1" dirty="0" smtClean="0"/>
              <a:t>circular linked list</a:t>
            </a:r>
            <a:r>
              <a:rPr lang="en-US" altLang="en-US" sz="2000" dirty="0" smtClean="0"/>
              <a:t>): </a:t>
            </a:r>
            <a:r>
              <a:rPr lang="en-US" altLang="en-US" sz="2000" dirty="0" err="1" smtClean="0"/>
              <a:t>bất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cứ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nút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nào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trong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danh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sách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cũng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có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thể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coi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là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nút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đầu</a:t>
            </a:r>
            <a:r>
              <a:rPr lang="en-US" altLang="en-US" sz="2000" dirty="0" smtClean="0"/>
              <a:t> hay </a:t>
            </a:r>
            <a:r>
              <a:rPr lang="en-US" altLang="en-US" sz="2000" dirty="0" err="1" smtClean="0"/>
              <a:t>nút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cơ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sở</a:t>
            </a:r>
            <a:r>
              <a:rPr lang="en-US" altLang="en-US" sz="2000" dirty="0" smtClean="0"/>
              <a:t> (</a:t>
            </a:r>
            <a:r>
              <a:rPr lang="en-US" altLang="en-US" sz="2000" dirty="0" err="1" smtClean="0"/>
              <a:t>mọi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nút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có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vai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trò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như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nhau</a:t>
            </a:r>
            <a:r>
              <a:rPr lang="en-US" altLang="en-US" sz="2000" dirty="0" smtClean="0"/>
              <a:t>)</a:t>
            </a:r>
          </a:p>
          <a:p>
            <a:pPr lvl="2" eaLnBrk="1" hangingPunct="1"/>
            <a:endParaRPr lang="en-US" altLang="en-US" sz="2000" dirty="0" smtClean="0"/>
          </a:p>
        </p:txBody>
      </p:sp>
      <p:grpSp>
        <p:nvGrpSpPr>
          <p:cNvPr id="9223" name="Group 92"/>
          <p:cNvGrpSpPr>
            <a:grpSpLocks/>
          </p:cNvGrpSpPr>
          <p:nvPr/>
        </p:nvGrpSpPr>
        <p:grpSpPr bwMode="auto">
          <a:xfrm>
            <a:off x="2135187" y="4106752"/>
            <a:ext cx="4178300" cy="806450"/>
            <a:chOff x="728" y="2870"/>
            <a:chExt cx="2632" cy="508"/>
          </a:xfrm>
        </p:grpSpPr>
        <p:sp>
          <p:nvSpPr>
            <p:cNvPr id="9238" name="Rectangle 40"/>
            <p:cNvSpPr>
              <a:spLocks noChangeArrowheads="1"/>
            </p:cNvSpPr>
            <p:nvPr/>
          </p:nvSpPr>
          <p:spPr bwMode="auto">
            <a:xfrm>
              <a:off x="1560" y="2919"/>
              <a:ext cx="288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/>
                <a:t>A</a:t>
              </a:r>
            </a:p>
          </p:txBody>
        </p:sp>
        <p:sp>
          <p:nvSpPr>
            <p:cNvPr id="9239" name="Rectangle 41"/>
            <p:cNvSpPr>
              <a:spLocks noChangeArrowheads="1"/>
            </p:cNvSpPr>
            <p:nvPr/>
          </p:nvSpPr>
          <p:spPr bwMode="auto">
            <a:xfrm>
              <a:off x="2220" y="2919"/>
              <a:ext cx="288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/>
                <a:t>B</a:t>
              </a:r>
            </a:p>
          </p:txBody>
        </p:sp>
        <p:sp>
          <p:nvSpPr>
            <p:cNvPr id="9240" name="Rectangle 42"/>
            <p:cNvSpPr>
              <a:spLocks noChangeArrowheads="1"/>
            </p:cNvSpPr>
            <p:nvPr/>
          </p:nvSpPr>
          <p:spPr bwMode="auto">
            <a:xfrm>
              <a:off x="2880" y="2919"/>
              <a:ext cx="288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/>
                <a:t>C</a:t>
              </a:r>
            </a:p>
          </p:txBody>
        </p:sp>
        <p:grpSp>
          <p:nvGrpSpPr>
            <p:cNvPr id="9241" name="Group 43"/>
            <p:cNvGrpSpPr>
              <a:grpSpLocks/>
            </p:cNvGrpSpPr>
            <p:nvPr/>
          </p:nvGrpSpPr>
          <p:grpSpPr bwMode="auto">
            <a:xfrm>
              <a:off x="1848" y="2920"/>
              <a:ext cx="372" cy="288"/>
              <a:chOff x="3108" y="2736"/>
              <a:chExt cx="372" cy="288"/>
            </a:xfrm>
          </p:grpSpPr>
          <p:sp>
            <p:nvSpPr>
              <p:cNvPr id="9250" name="Rectangle 44"/>
              <p:cNvSpPr>
                <a:spLocks noChangeArrowheads="1"/>
              </p:cNvSpPr>
              <p:nvPr/>
            </p:nvSpPr>
            <p:spPr bwMode="auto">
              <a:xfrm>
                <a:off x="3108" y="2736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1800"/>
              </a:p>
            </p:txBody>
          </p:sp>
          <p:sp>
            <p:nvSpPr>
              <p:cNvPr id="9251" name="Line 45"/>
              <p:cNvSpPr>
                <a:spLocks noChangeShapeType="1"/>
              </p:cNvSpPr>
              <p:nvPr/>
            </p:nvSpPr>
            <p:spPr bwMode="auto">
              <a:xfrm>
                <a:off x="3186" y="2874"/>
                <a:ext cx="29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242" name="Group 46"/>
            <p:cNvGrpSpPr>
              <a:grpSpLocks/>
            </p:cNvGrpSpPr>
            <p:nvPr/>
          </p:nvGrpSpPr>
          <p:grpSpPr bwMode="auto">
            <a:xfrm>
              <a:off x="2508" y="2920"/>
              <a:ext cx="372" cy="288"/>
              <a:chOff x="3108" y="2736"/>
              <a:chExt cx="372" cy="288"/>
            </a:xfrm>
          </p:grpSpPr>
          <p:sp>
            <p:nvSpPr>
              <p:cNvPr id="9248" name="Rectangle 47"/>
              <p:cNvSpPr>
                <a:spLocks noChangeArrowheads="1"/>
              </p:cNvSpPr>
              <p:nvPr/>
            </p:nvSpPr>
            <p:spPr bwMode="auto">
              <a:xfrm>
                <a:off x="3108" y="2736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1800"/>
              </a:p>
            </p:txBody>
          </p:sp>
          <p:sp>
            <p:nvSpPr>
              <p:cNvPr id="9249" name="Line 48"/>
              <p:cNvSpPr>
                <a:spLocks noChangeShapeType="1"/>
              </p:cNvSpPr>
              <p:nvPr/>
            </p:nvSpPr>
            <p:spPr bwMode="auto">
              <a:xfrm>
                <a:off x="3186" y="2874"/>
                <a:ext cx="29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243" name="Rectangle 49"/>
            <p:cNvSpPr>
              <a:spLocks noChangeArrowheads="1"/>
            </p:cNvSpPr>
            <p:nvPr/>
          </p:nvSpPr>
          <p:spPr bwMode="auto">
            <a:xfrm>
              <a:off x="3168" y="2920"/>
              <a:ext cx="192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9244" name="Freeform 50"/>
            <p:cNvSpPr>
              <a:spLocks/>
            </p:cNvSpPr>
            <p:nvPr/>
          </p:nvSpPr>
          <p:spPr bwMode="auto">
            <a:xfrm>
              <a:off x="1715" y="3139"/>
              <a:ext cx="1549" cy="239"/>
            </a:xfrm>
            <a:custGeom>
              <a:avLst/>
              <a:gdLst>
                <a:gd name="T0" fmla="*/ 1549 w 1479"/>
                <a:gd name="T1" fmla="*/ 0 h 453"/>
                <a:gd name="T2" fmla="*/ 779 w 1479"/>
                <a:gd name="T3" fmla="*/ 226 h 453"/>
                <a:gd name="T4" fmla="*/ 0 w 1479"/>
                <a:gd name="T5" fmla="*/ 78 h 453"/>
                <a:gd name="T6" fmla="*/ 0 60000 65536"/>
                <a:gd name="T7" fmla="*/ 0 60000 65536"/>
                <a:gd name="T8" fmla="*/ 0 60000 65536"/>
                <a:gd name="T9" fmla="*/ 0 w 1479"/>
                <a:gd name="T10" fmla="*/ 0 h 453"/>
                <a:gd name="T11" fmla="*/ 1479 w 1479"/>
                <a:gd name="T12" fmla="*/ 453 h 4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79" h="453">
                  <a:moveTo>
                    <a:pt x="1479" y="0"/>
                  </a:moveTo>
                  <a:cubicBezTo>
                    <a:pt x="1234" y="202"/>
                    <a:pt x="990" y="405"/>
                    <a:pt x="744" y="429"/>
                  </a:cubicBezTo>
                  <a:cubicBezTo>
                    <a:pt x="498" y="453"/>
                    <a:pt x="249" y="300"/>
                    <a:pt x="0" y="147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45" name="Text Box 85"/>
            <p:cNvSpPr txBox="1">
              <a:spLocks noChangeArrowheads="1"/>
            </p:cNvSpPr>
            <p:nvPr/>
          </p:nvSpPr>
          <p:spPr bwMode="auto">
            <a:xfrm>
              <a:off x="728" y="2870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/>
                <a:t>H</a:t>
              </a:r>
            </a:p>
          </p:txBody>
        </p:sp>
        <p:sp>
          <p:nvSpPr>
            <p:cNvPr id="9246" name="Line 87"/>
            <p:cNvSpPr>
              <a:spLocks noChangeShapeType="1"/>
            </p:cNvSpPr>
            <p:nvPr/>
          </p:nvSpPr>
          <p:spPr bwMode="auto">
            <a:xfrm>
              <a:off x="1080" y="3063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7" name="Rectangle 91"/>
            <p:cNvSpPr>
              <a:spLocks noChangeArrowheads="1"/>
            </p:cNvSpPr>
            <p:nvPr/>
          </p:nvSpPr>
          <p:spPr bwMode="auto">
            <a:xfrm>
              <a:off x="960" y="2921"/>
              <a:ext cx="192" cy="29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/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</p:grpSp>
      <p:grpSp>
        <p:nvGrpSpPr>
          <p:cNvPr id="9224" name="Group 109"/>
          <p:cNvGrpSpPr>
            <a:grpSpLocks/>
          </p:cNvGrpSpPr>
          <p:nvPr/>
        </p:nvGrpSpPr>
        <p:grpSpPr bwMode="auto">
          <a:xfrm>
            <a:off x="1784350" y="2436590"/>
            <a:ext cx="5168900" cy="484188"/>
            <a:chOff x="1160" y="1718"/>
            <a:chExt cx="3256" cy="305"/>
          </a:xfrm>
        </p:grpSpPr>
        <p:sp>
          <p:nvSpPr>
            <p:cNvPr id="9225" name="Text Box 96"/>
            <p:cNvSpPr txBox="1">
              <a:spLocks noChangeArrowheads="1"/>
            </p:cNvSpPr>
            <p:nvPr/>
          </p:nvSpPr>
          <p:spPr bwMode="auto">
            <a:xfrm>
              <a:off x="1160" y="1718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/>
                <a:t>H</a:t>
              </a:r>
            </a:p>
          </p:txBody>
        </p:sp>
        <p:sp>
          <p:nvSpPr>
            <p:cNvPr id="9226" name="Line 97"/>
            <p:cNvSpPr>
              <a:spLocks noChangeShapeType="1"/>
            </p:cNvSpPr>
            <p:nvPr/>
          </p:nvSpPr>
          <p:spPr bwMode="auto">
            <a:xfrm>
              <a:off x="1494" y="1845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7" name="Rectangle 98"/>
            <p:cNvSpPr>
              <a:spLocks noChangeArrowheads="1"/>
            </p:cNvSpPr>
            <p:nvPr/>
          </p:nvSpPr>
          <p:spPr bwMode="auto">
            <a:xfrm>
              <a:off x="1974" y="1720"/>
              <a:ext cx="474" cy="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</a:p>
          </p:txBody>
        </p:sp>
        <p:sp>
          <p:nvSpPr>
            <p:cNvPr id="9228" name="Rectangle 99"/>
            <p:cNvSpPr>
              <a:spLocks noChangeArrowheads="1"/>
            </p:cNvSpPr>
            <p:nvPr/>
          </p:nvSpPr>
          <p:spPr bwMode="auto">
            <a:xfrm>
              <a:off x="2844" y="1720"/>
              <a:ext cx="468" cy="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B</a:t>
              </a:r>
            </a:p>
          </p:txBody>
        </p:sp>
        <p:sp>
          <p:nvSpPr>
            <p:cNvPr id="9229" name="Rectangle 100"/>
            <p:cNvSpPr>
              <a:spLocks noChangeArrowheads="1"/>
            </p:cNvSpPr>
            <p:nvPr/>
          </p:nvSpPr>
          <p:spPr bwMode="auto">
            <a:xfrm>
              <a:off x="3744" y="1720"/>
              <a:ext cx="480" cy="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C</a:t>
              </a:r>
            </a:p>
          </p:txBody>
        </p:sp>
        <p:sp>
          <p:nvSpPr>
            <p:cNvPr id="9230" name="Rectangle 101"/>
            <p:cNvSpPr>
              <a:spLocks noChangeArrowheads="1"/>
            </p:cNvSpPr>
            <p:nvPr/>
          </p:nvSpPr>
          <p:spPr bwMode="auto">
            <a:xfrm>
              <a:off x="2448" y="1721"/>
              <a:ext cx="192" cy="29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9231" name="Line 102"/>
            <p:cNvSpPr>
              <a:spLocks noChangeShapeType="1"/>
            </p:cNvSpPr>
            <p:nvPr/>
          </p:nvSpPr>
          <p:spPr bwMode="auto">
            <a:xfrm>
              <a:off x="2550" y="1839"/>
              <a:ext cx="2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2" name="Rectangle 103"/>
            <p:cNvSpPr>
              <a:spLocks noChangeArrowheads="1"/>
            </p:cNvSpPr>
            <p:nvPr/>
          </p:nvSpPr>
          <p:spPr bwMode="auto">
            <a:xfrm>
              <a:off x="3312" y="1721"/>
              <a:ext cx="192" cy="29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9233" name="Line 104"/>
            <p:cNvSpPr>
              <a:spLocks noChangeShapeType="1"/>
            </p:cNvSpPr>
            <p:nvPr/>
          </p:nvSpPr>
          <p:spPr bwMode="auto">
            <a:xfrm>
              <a:off x="3450" y="1839"/>
              <a:ext cx="2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9234" name="Group 105"/>
            <p:cNvGrpSpPr>
              <a:grpSpLocks/>
            </p:cNvGrpSpPr>
            <p:nvPr/>
          </p:nvGrpSpPr>
          <p:grpSpPr bwMode="auto">
            <a:xfrm>
              <a:off x="4224" y="1721"/>
              <a:ext cx="192" cy="295"/>
              <a:chOff x="3204" y="3132"/>
              <a:chExt cx="192" cy="288"/>
            </a:xfrm>
          </p:grpSpPr>
          <p:sp>
            <p:nvSpPr>
              <p:cNvPr id="9236" name="Rectangle 106"/>
              <p:cNvSpPr>
                <a:spLocks noChangeArrowheads="1"/>
              </p:cNvSpPr>
              <p:nvPr/>
            </p:nvSpPr>
            <p:spPr bwMode="auto">
              <a:xfrm>
                <a:off x="3204" y="3132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1800"/>
              </a:p>
            </p:txBody>
          </p:sp>
          <p:sp>
            <p:nvSpPr>
              <p:cNvPr id="9237" name="Line 107"/>
              <p:cNvSpPr>
                <a:spLocks noChangeShapeType="1"/>
              </p:cNvSpPr>
              <p:nvPr/>
            </p:nvSpPr>
            <p:spPr bwMode="auto">
              <a:xfrm flipV="1">
                <a:off x="3204" y="3132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235" name="Rectangle 108"/>
            <p:cNvSpPr>
              <a:spLocks noChangeArrowheads="1"/>
            </p:cNvSpPr>
            <p:nvPr/>
          </p:nvSpPr>
          <p:spPr bwMode="auto">
            <a:xfrm>
              <a:off x="1392" y="1728"/>
              <a:ext cx="192" cy="29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/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621722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921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C422D8B-29D4-400D-B5C8-72DB27F02B84}" type="slidenum">
              <a:rPr lang="en-US" altLang="en-US" sz="1400"/>
              <a:pPr eaLnBrk="1" hangingPunct="1"/>
              <a:t>11</a:t>
            </a:fld>
            <a:endParaRPr lang="en-US" altLang="en-US" sz="140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2.3.2 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</a:t>
            </a:r>
            <a:r>
              <a:rPr lang="en-US" altLang="en-US" dirty="0" err="1"/>
              <a:t>móc</a:t>
            </a:r>
            <a:r>
              <a:rPr lang="en-US" altLang="en-US" dirty="0"/>
              <a:t> </a:t>
            </a:r>
            <a:r>
              <a:rPr lang="en-US" altLang="en-US" dirty="0" err="1" smtClean="0"/>
              <a:t>nối</a:t>
            </a:r>
            <a:endParaRPr lang="en-US" dirty="0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body" sz="quarter" idx="13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 err="1" smtClean="0">
                <a:cs typeface="Times New Roman" panose="02020603050405020304" pitchFamily="18" charset="0"/>
              </a:rPr>
              <a:t>Phân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loại</a:t>
            </a:r>
            <a:endParaRPr lang="en-US" altLang="en-US" sz="2400" dirty="0" smtClean="0">
              <a:cs typeface="Times New Roman" panose="02020603050405020304" pitchFamily="18" charset="0"/>
            </a:endParaRPr>
          </a:p>
          <a:p>
            <a:pPr lvl="1"/>
            <a:r>
              <a:rPr lang="en-US" altLang="en-US" sz="2000" i="1" dirty="0">
                <a:cs typeface="Times New Roman" panose="02020603050405020304" pitchFamily="18" charset="0"/>
              </a:rPr>
              <a:t>Header </a:t>
            </a:r>
            <a:r>
              <a:rPr lang="en-US" altLang="en-US" sz="2000" i="1" dirty="0" smtClean="0">
                <a:cs typeface="Times New Roman" panose="02020603050405020304" pitchFamily="18" charset="0"/>
              </a:rPr>
              <a:t>Linked Lists</a:t>
            </a:r>
          </a:p>
          <a:p>
            <a:pPr lvl="2" eaLnBrk="1" hangingPunct="1"/>
            <a:endParaRPr lang="en-US" altLang="en-US" sz="1600" dirty="0" smtClean="0"/>
          </a:p>
        </p:txBody>
      </p:sp>
      <p:grpSp>
        <p:nvGrpSpPr>
          <p:cNvPr id="9222" name="Group 93"/>
          <p:cNvGrpSpPr>
            <a:grpSpLocks/>
          </p:cNvGrpSpPr>
          <p:nvPr/>
        </p:nvGrpSpPr>
        <p:grpSpPr bwMode="auto">
          <a:xfrm>
            <a:off x="2364266" y="2832561"/>
            <a:ext cx="4356100" cy="1176338"/>
            <a:chOff x="616" y="3264"/>
            <a:chExt cx="2744" cy="741"/>
          </a:xfrm>
        </p:grpSpPr>
        <p:sp>
          <p:nvSpPr>
            <p:cNvPr id="9252" name="Rectangle 24"/>
            <p:cNvSpPr>
              <a:spLocks noChangeArrowheads="1"/>
            </p:cNvSpPr>
            <p:nvPr/>
          </p:nvSpPr>
          <p:spPr bwMode="auto">
            <a:xfrm>
              <a:off x="1560" y="3503"/>
              <a:ext cx="288" cy="28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/>
                <a:t>A</a:t>
              </a:r>
            </a:p>
          </p:txBody>
        </p:sp>
        <p:sp>
          <p:nvSpPr>
            <p:cNvPr id="9253" name="Rectangle 25"/>
            <p:cNvSpPr>
              <a:spLocks noChangeArrowheads="1"/>
            </p:cNvSpPr>
            <p:nvPr/>
          </p:nvSpPr>
          <p:spPr bwMode="auto">
            <a:xfrm>
              <a:off x="2220" y="3503"/>
              <a:ext cx="288" cy="28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/>
                <a:t>B</a:t>
              </a:r>
            </a:p>
          </p:txBody>
        </p:sp>
        <p:sp>
          <p:nvSpPr>
            <p:cNvPr id="9254" name="Rectangle 26"/>
            <p:cNvSpPr>
              <a:spLocks noChangeArrowheads="1"/>
            </p:cNvSpPr>
            <p:nvPr/>
          </p:nvSpPr>
          <p:spPr bwMode="auto">
            <a:xfrm>
              <a:off x="2880" y="3503"/>
              <a:ext cx="288" cy="28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/>
                <a:t>C</a:t>
              </a:r>
            </a:p>
          </p:txBody>
        </p:sp>
        <p:grpSp>
          <p:nvGrpSpPr>
            <p:cNvPr id="9255" name="Group 27"/>
            <p:cNvGrpSpPr>
              <a:grpSpLocks/>
            </p:cNvGrpSpPr>
            <p:nvPr/>
          </p:nvGrpSpPr>
          <p:grpSpPr bwMode="auto">
            <a:xfrm>
              <a:off x="1848" y="3504"/>
              <a:ext cx="372" cy="288"/>
              <a:chOff x="3108" y="2736"/>
              <a:chExt cx="372" cy="288"/>
            </a:xfrm>
          </p:grpSpPr>
          <p:sp>
            <p:nvSpPr>
              <p:cNvPr id="9265" name="Rectangle 28"/>
              <p:cNvSpPr>
                <a:spLocks noChangeArrowheads="1"/>
              </p:cNvSpPr>
              <p:nvPr/>
            </p:nvSpPr>
            <p:spPr bwMode="auto">
              <a:xfrm>
                <a:off x="3108" y="2736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1800"/>
              </a:p>
            </p:txBody>
          </p:sp>
          <p:sp>
            <p:nvSpPr>
              <p:cNvPr id="9266" name="Line 29"/>
              <p:cNvSpPr>
                <a:spLocks noChangeShapeType="1"/>
              </p:cNvSpPr>
              <p:nvPr/>
            </p:nvSpPr>
            <p:spPr bwMode="auto">
              <a:xfrm>
                <a:off x="3186" y="2874"/>
                <a:ext cx="29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256" name="Group 30"/>
            <p:cNvGrpSpPr>
              <a:grpSpLocks/>
            </p:cNvGrpSpPr>
            <p:nvPr/>
          </p:nvGrpSpPr>
          <p:grpSpPr bwMode="auto">
            <a:xfrm>
              <a:off x="2508" y="3504"/>
              <a:ext cx="372" cy="288"/>
              <a:chOff x="3108" y="2736"/>
              <a:chExt cx="372" cy="288"/>
            </a:xfrm>
          </p:grpSpPr>
          <p:sp>
            <p:nvSpPr>
              <p:cNvPr id="9263" name="Rectangle 31"/>
              <p:cNvSpPr>
                <a:spLocks noChangeArrowheads="1"/>
              </p:cNvSpPr>
              <p:nvPr/>
            </p:nvSpPr>
            <p:spPr bwMode="auto">
              <a:xfrm>
                <a:off x="3108" y="2736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1800"/>
              </a:p>
            </p:txBody>
          </p:sp>
          <p:sp>
            <p:nvSpPr>
              <p:cNvPr id="9264" name="Line 32"/>
              <p:cNvSpPr>
                <a:spLocks noChangeShapeType="1"/>
              </p:cNvSpPr>
              <p:nvPr/>
            </p:nvSpPr>
            <p:spPr bwMode="auto">
              <a:xfrm>
                <a:off x="3186" y="2874"/>
                <a:ext cx="29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257" name="Rectangle 33"/>
            <p:cNvSpPr>
              <a:spLocks noChangeArrowheads="1"/>
            </p:cNvSpPr>
            <p:nvPr/>
          </p:nvSpPr>
          <p:spPr bwMode="auto">
            <a:xfrm>
              <a:off x="3168" y="3504"/>
              <a:ext cx="192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9258" name="Rectangle 34"/>
            <p:cNvSpPr>
              <a:spLocks noChangeArrowheads="1"/>
            </p:cNvSpPr>
            <p:nvPr/>
          </p:nvSpPr>
          <p:spPr bwMode="auto">
            <a:xfrm>
              <a:off x="1032" y="3504"/>
              <a:ext cx="198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9259" name="Line 35"/>
            <p:cNvSpPr>
              <a:spLocks noChangeShapeType="1"/>
            </p:cNvSpPr>
            <p:nvPr/>
          </p:nvSpPr>
          <p:spPr bwMode="auto">
            <a:xfrm>
              <a:off x="1086" y="3624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0" name="Text Box 36"/>
            <p:cNvSpPr txBox="1">
              <a:spLocks noChangeArrowheads="1"/>
            </p:cNvSpPr>
            <p:nvPr/>
          </p:nvSpPr>
          <p:spPr bwMode="auto">
            <a:xfrm>
              <a:off x="616" y="3264"/>
              <a:ext cx="8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dirty="0"/>
                <a:t>Header node</a:t>
              </a:r>
            </a:p>
          </p:txBody>
        </p:sp>
        <p:sp>
          <p:nvSpPr>
            <p:cNvPr id="9261" name="Rectangle 37" descr="Light upward diagonal"/>
            <p:cNvSpPr>
              <a:spLocks noChangeArrowheads="1"/>
            </p:cNvSpPr>
            <p:nvPr/>
          </p:nvSpPr>
          <p:spPr bwMode="auto">
            <a:xfrm>
              <a:off x="744" y="3504"/>
              <a:ext cx="288" cy="288"/>
            </a:xfrm>
            <a:prstGeom prst="rect">
              <a:avLst/>
            </a:prstGeom>
            <a:pattFill prst="ltUpDiag">
              <a:fgClr>
                <a:schemeClr val="folHlink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9262" name="Freeform 38"/>
            <p:cNvSpPr>
              <a:spLocks/>
            </p:cNvSpPr>
            <p:nvPr/>
          </p:nvSpPr>
          <p:spPr bwMode="auto">
            <a:xfrm>
              <a:off x="888" y="3696"/>
              <a:ext cx="2365" cy="309"/>
            </a:xfrm>
            <a:custGeom>
              <a:avLst/>
              <a:gdLst>
                <a:gd name="T0" fmla="*/ 2365 w 1479"/>
                <a:gd name="T1" fmla="*/ 0 h 453"/>
                <a:gd name="T2" fmla="*/ 1190 w 1479"/>
                <a:gd name="T3" fmla="*/ 293 h 453"/>
                <a:gd name="T4" fmla="*/ 0 w 1479"/>
                <a:gd name="T5" fmla="*/ 100 h 453"/>
                <a:gd name="T6" fmla="*/ 0 60000 65536"/>
                <a:gd name="T7" fmla="*/ 0 60000 65536"/>
                <a:gd name="T8" fmla="*/ 0 60000 65536"/>
                <a:gd name="T9" fmla="*/ 0 w 1479"/>
                <a:gd name="T10" fmla="*/ 0 h 453"/>
                <a:gd name="T11" fmla="*/ 1479 w 1479"/>
                <a:gd name="T12" fmla="*/ 453 h 4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79" h="453">
                  <a:moveTo>
                    <a:pt x="1479" y="0"/>
                  </a:moveTo>
                  <a:cubicBezTo>
                    <a:pt x="1234" y="202"/>
                    <a:pt x="990" y="405"/>
                    <a:pt x="744" y="429"/>
                  </a:cubicBezTo>
                  <a:cubicBezTo>
                    <a:pt x="498" y="453"/>
                    <a:pt x="249" y="300"/>
                    <a:pt x="0" y="147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2314302" y="1671114"/>
            <a:ext cx="5472864" cy="860940"/>
            <a:chOff x="1766136" y="2258497"/>
            <a:chExt cx="5472864" cy="860940"/>
          </a:xfrm>
        </p:grpSpPr>
        <p:grpSp>
          <p:nvGrpSpPr>
            <p:cNvPr id="9224" name="Group 109"/>
            <p:cNvGrpSpPr>
              <a:grpSpLocks/>
            </p:cNvGrpSpPr>
            <p:nvPr/>
          </p:nvGrpSpPr>
          <p:grpSpPr bwMode="auto">
            <a:xfrm>
              <a:off x="2438400" y="2636246"/>
              <a:ext cx="4800600" cy="481013"/>
              <a:chOff x="1392" y="1720"/>
              <a:chExt cx="3024" cy="303"/>
            </a:xfrm>
          </p:grpSpPr>
          <p:sp>
            <p:nvSpPr>
              <p:cNvPr id="9226" name="Line 97"/>
              <p:cNvSpPr>
                <a:spLocks noChangeShapeType="1"/>
              </p:cNvSpPr>
              <p:nvPr/>
            </p:nvSpPr>
            <p:spPr bwMode="auto">
              <a:xfrm>
                <a:off x="1494" y="1845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27" name="Rectangle 98"/>
              <p:cNvSpPr>
                <a:spLocks noChangeArrowheads="1"/>
              </p:cNvSpPr>
              <p:nvPr/>
            </p:nvSpPr>
            <p:spPr bwMode="auto">
              <a:xfrm>
                <a:off x="1974" y="1720"/>
                <a:ext cx="474" cy="2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en-US" sz="2000" dirty="0"/>
                  <a:t>A</a:t>
                </a:r>
              </a:p>
            </p:txBody>
          </p:sp>
          <p:sp>
            <p:nvSpPr>
              <p:cNvPr id="9228" name="Rectangle 99"/>
              <p:cNvSpPr>
                <a:spLocks noChangeArrowheads="1"/>
              </p:cNvSpPr>
              <p:nvPr/>
            </p:nvSpPr>
            <p:spPr bwMode="auto">
              <a:xfrm>
                <a:off x="2844" y="1720"/>
                <a:ext cx="468" cy="2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en-US" sz="2000"/>
                  <a:t>B</a:t>
                </a:r>
              </a:p>
            </p:txBody>
          </p:sp>
          <p:sp>
            <p:nvSpPr>
              <p:cNvPr id="9229" name="Rectangle 100"/>
              <p:cNvSpPr>
                <a:spLocks noChangeArrowheads="1"/>
              </p:cNvSpPr>
              <p:nvPr/>
            </p:nvSpPr>
            <p:spPr bwMode="auto">
              <a:xfrm>
                <a:off x="3744" y="1720"/>
                <a:ext cx="480" cy="2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en-US" sz="2000"/>
                  <a:t>C</a:t>
                </a:r>
              </a:p>
            </p:txBody>
          </p:sp>
          <p:sp>
            <p:nvSpPr>
              <p:cNvPr id="9230" name="Rectangle 101"/>
              <p:cNvSpPr>
                <a:spLocks noChangeArrowheads="1"/>
              </p:cNvSpPr>
              <p:nvPr/>
            </p:nvSpPr>
            <p:spPr bwMode="auto">
              <a:xfrm>
                <a:off x="2448" y="1721"/>
                <a:ext cx="192" cy="29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1800"/>
              </a:p>
            </p:txBody>
          </p:sp>
          <p:sp>
            <p:nvSpPr>
              <p:cNvPr id="9231" name="Line 102"/>
              <p:cNvSpPr>
                <a:spLocks noChangeShapeType="1"/>
              </p:cNvSpPr>
              <p:nvPr/>
            </p:nvSpPr>
            <p:spPr bwMode="auto">
              <a:xfrm>
                <a:off x="2550" y="1839"/>
                <a:ext cx="29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32" name="Rectangle 103"/>
              <p:cNvSpPr>
                <a:spLocks noChangeArrowheads="1"/>
              </p:cNvSpPr>
              <p:nvPr/>
            </p:nvSpPr>
            <p:spPr bwMode="auto">
              <a:xfrm>
                <a:off x="3312" y="1721"/>
                <a:ext cx="192" cy="29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1800"/>
              </a:p>
            </p:txBody>
          </p:sp>
          <p:sp>
            <p:nvSpPr>
              <p:cNvPr id="9233" name="Line 104"/>
              <p:cNvSpPr>
                <a:spLocks noChangeShapeType="1"/>
              </p:cNvSpPr>
              <p:nvPr/>
            </p:nvSpPr>
            <p:spPr bwMode="auto">
              <a:xfrm>
                <a:off x="3450" y="1839"/>
                <a:ext cx="29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234" name="Group 105"/>
              <p:cNvGrpSpPr>
                <a:grpSpLocks/>
              </p:cNvGrpSpPr>
              <p:nvPr/>
            </p:nvGrpSpPr>
            <p:grpSpPr bwMode="auto">
              <a:xfrm>
                <a:off x="4224" y="1721"/>
                <a:ext cx="192" cy="295"/>
                <a:chOff x="3204" y="3132"/>
                <a:chExt cx="192" cy="288"/>
              </a:xfrm>
            </p:grpSpPr>
            <p:sp>
              <p:nvSpPr>
                <p:cNvPr id="9236" name="Rectangle 106"/>
                <p:cNvSpPr>
                  <a:spLocks noChangeArrowheads="1"/>
                </p:cNvSpPr>
                <p:nvPr/>
              </p:nvSpPr>
              <p:spPr bwMode="auto">
                <a:xfrm>
                  <a:off x="3204" y="3132"/>
                  <a:ext cx="192" cy="288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defTabSz="7620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defTabSz="7620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defTabSz="7620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defTabSz="7620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7620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762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/>
                  <a:endParaRPr lang="en-GB" altLang="en-US" sz="1800"/>
                </a:p>
              </p:txBody>
            </p:sp>
            <p:sp>
              <p:nvSpPr>
                <p:cNvPr id="9237" name="Line 107"/>
                <p:cNvSpPr>
                  <a:spLocks noChangeShapeType="1"/>
                </p:cNvSpPr>
                <p:nvPr/>
              </p:nvSpPr>
              <p:spPr bwMode="auto">
                <a:xfrm flipV="1">
                  <a:off x="3204" y="3132"/>
                  <a:ext cx="192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9235" name="Rectangle 108"/>
              <p:cNvSpPr>
                <a:spLocks noChangeArrowheads="1"/>
              </p:cNvSpPr>
              <p:nvPr/>
            </p:nvSpPr>
            <p:spPr bwMode="auto">
              <a:xfrm>
                <a:off x="1392" y="1728"/>
                <a:ext cx="192" cy="29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1800"/>
              </a:p>
            </p:txBody>
          </p:sp>
        </p:grpSp>
        <p:sp>
          <p:nvSpPr>
            <p:cNvPr id="53" name="Text Box 36"/>
            <p:cNvSpPr txBox="1">
              <a:spLocks noChangeArrowheads="1"/>
            </p:cNvSpPr>
            <p:nvPr/>
          </p:nvSpPr>
          <p:spPr bwMode="auto">
            <a:xfrm>
              <a:off x="1766136" y="2258497"/>
              <a:ext cx="13580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dirty="0" smtClean="0"/>
                <a:t>Header node</a:t>
              </a:r>
              <a:endParaRPr lang="en-US" altLang="en-US" sz="1800" dirty="0"/>
            </a:p>
          </p:txBody>
        </p:sp>
        <p:sp>
          <p:nvSpPr>
            <p:cNvPr id="54" name="Rectangle 37" descr="Light upward diagonal"/>
            <p:cNvSpPr>
              <a:spLocks noChangeArrowheads="1"/>
            </p:cNvSpPr>
            <p:nvPr/>
          </p:nvSpPr>
          <p:spPr bwMode="auto">
            <a:xfrm>
              <a:off x="1981200" y="2648280"/>
              <a:ext cx="457200" cy="471157"/>
            </a:xfrm>
            <a:prstGeom prst="rect">
              <a:avLst/>
            </a:prstGeom>
            <a:pattFill prst="ltUpDiag">
              <a:fgClr>
                <a:schemeClr val="folHlink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621" y="4267096"/>
            <a:ext cx="3036411" cy="18860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015" y="4244961"/>
            <a:ext cx="3034851" cy="1980138"/>
          </a:xfrm>
          <a:prstGeom prst="rect">
            <a:avLst/>
          </a:prstGeom>
        </p:spPr>
      </p:pic>
      <p:sp>
        <p:nvSpPr>
          <p:cNvPr id="57" name="Text Box 96"/>
          <p:cNvSpPr txBox="1">
            <a:spLocks noChangeArrowheads="1"/>
          </p:cNvSpPr>
          <p:nvPr/>
        </p:nvSpPr>
        <p:spPr bwMode="auto">
          <a:xfrm>
            <a:off x="1239763" y="204886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H</a:t>
            </a:r>
          </a:p>
        </p:txBody>
      </p:sp>
      <p:sp>
        <p:nvSpPr>
          <p:cNvPr id="58" name="Line 97"/>
          <p:cNvSpPr>
            <a:spLocks noChangeShapeType="1"/>
          </p:cNvSpPr>
          <p:nvPr/>
        </p:nvSpPr>
        <p:spPr bwMode="auto">
          <a:xfrm>
            <a:off x="1769988" y="2250476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Rectangle 108"/>
          <p:cNvSpPr>
            <a:spLocks noChangeArrowheads="1"/>
          </p:cNvSpPr>
          <p:nvPr/>
        </p:nvSpPr>
        <p:spPr bwMode="auto">
          <a:xfrm>
            <a:off x="1608063" y="2064738"/>
            <a:ext cx="304800" cy="4683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/>
        </p:spPr>
        <p:txBody>
          <a:bodyPr wrap="none"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GB" altLang="en-US" sz="1800"/>
          </a:p>
        </p:txBody>
      </p:sp>
      <p:sp>
        <p:nvSpPr>
          <p:cNvPr id="60" name="Text Box 96"/>
          <p:cNvSpPr txBox="1">
            <a:spLocks noChangeArrowheads="1"/>
          </p:cNvSpPr>
          <p:nvPr/>
        </p:nvSpPr>
        <p:spPr bwMode="auto">
          <a:xfrm>
            <a:off x="1276755" y="3183337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H</a:t>
            </a:r>
          </a:p>
        </p:txBody>
      </p:sp>
      <p:sp>
        <p:nvSpPr>
          <p:cNvPr id="61" name="Line 97"/>
          <p:cNvSpPr>
            <a:spLocks noChangeShapeType="1"/>
          </p:cNvSpPr>
          <p:nvPr/>
        </p:nvSpPr>
        <p:spPr bwMode="auto">
          <a:xfrm>
            <a:off x="1806980" y="3384950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Rectangle 108"/>
          <p:cNvSpPr>
            <a:spLocks noChangeArrowheads="1"/>
          </p:cNvSpPr>
          <p:nvPr/>
        </p:nvSpPr>
        <p:spPr bwMode="auto">
          <a:xfrm>
            <a:off x="1645055" y="3199212"/>
            <a:ext cx="304800" cy="4683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/>
        </p:spPr>
        <p:txBody>
          <a:bodyPr wrap="none"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GB" altLang="en-US" sz="1800"/>
          </a:p>
        </p:txBody>
      </p:sp>
      <p:sp>
        <p:nvSpPr>
          <p:cNvPr id="46" name="TextBox 45"/>
          <p:cNvSpPr txBox="1"/>
          <p:nvPr/>
        </p:nvSpPr>
        <p:spPr>
          <a:xfrm>
            <a:off x="1442762" y="4577107"/>
            <a:ext cx="5143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H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4765015" y="4648200"/>
            <a:ext cx="76093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0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2.3.2 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</a:t>
            </a:r>
            <a:r>
              <a:rPr lang="en-US" altLang="en-US" dirty="0" err="1"/>
              <a:t>móc</a:t>
            </a:r>
            <a:r>
              <a:rPr lang="en-US" altLang="en-US" dirty="0"/>
              <a:t> </a:t>
            </a:r>
            <a:r>
              <a:rPr lang="en-US" altLang="en-US" dirty="0" err="1" smtClean="0"/>
              <a:t>nối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 err="1">
                <a:cs typeface="Times New Roman" panose="02020603050405020304" pitchFamily="18" charset="0"/>
              </a:rPr>
              <a:t>Phân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loại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lvl="1"/>
            <a:r>
              <a:rPr lang="en-US" sz="2000" i="1" dirty="0" smtClean="0"/>
              <a:t>Multi-linked list</a:t>
            </a:r>
            <a:endParaRPr lang="en-US" sz="2000" i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209800"/>
            <a:ext cx="6999524" cy="18598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85610" y="4298251"/>
            <a:ext cx="2595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Name</a:t>
            </a:r>
            <a:r>
              <a:rPr lang="en-US" dirty="0" smtClean="0"/>
              <a:t>: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tăng</a:t>
            </a:r>
            <a:r>
              <a:rPr lang="en-US" dirty="0" smtClean="0"/>
              <a:t> </a:t>
            </a:r>
            <a:r>
              <a:rPr lang="en-US" dirty="0" err="1" smtClean="0"/>
              <a:t>dần</a:t>
            </a:r>
            <a:endParaRPr lang="en-US" dirty="0" smtClean="0"/>
          </a:p>
          <a:p>
            <a:r>
              <a:rPr lang="en-US" i="1" dirty="0" smtClean="0"/>
              <a:t>Grade</a:t>
            </a:r>
            <a:r>
              <a:rPr lang="en-US" dirty="0" smtClean="0"/>
              <a:t>: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giảm</a:t>
            </a:r>
            <a:r>
              <a:rPr lang="en-US" dirty="0" smtClean="0"/>
              <a:t> </a:t>
            </a:r>
            <a:r>
              <a:rPr lang="en-US" dirty="0" err="1" smtClean="0"/>
              <a:t>dần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219200" y="1981200"/>
            <a:ext cx="5143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020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F1ACD82-52E2-45DC-A129-ACBDEDB6F7FF}" type="slidenum">
              <a:rPr lang="en-US" altLang="en-US" sz="1400"/>
              <a:pPr eaLnBrk="1" hangingPunct="1"/>
              <a:t>13</a:t>
            </a:fld>
            <a:endParaRPr lang="en-US" altLang="en-US" sz="1400"/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 smtClean="0"/>
              <a:t>2.3.3 </a:t>
            </a:r>
            <a:r>
              <a:rPr lang="en-US" altLang="en-US" dirty="0" err="1" smtClean="0"/>
              <a:t>Cài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đặt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danh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sách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bằng</a:t>
            </a:r>
            <a:r>
              <a:rPr lang="en-US" altLang="en-US" dirty="0" smtClean="0"/>
              <a:t> CTLT </a:t>
            </a:r>
            <a:r>
              <a:rPr lang="en-US" altLang="en-US" dirty="0" err="1" smtClean="0"/>
              <a:t>móc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nối</a:t>
            </a:r>
            <a:endParaRPr lang="en-US" altLang="en-US" dirty="0" smtClean="0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body" sz="quarter" idx="13"/>
          </p:nvPr>
        </p:nvSpPr>
        <p:spPr>
          <a:xfrm>
            <a:off x="234951" y="2971800"/>
            <a:ext cx="8674100" cy="3124200"/>
          </a:xfrm>
          <a:noFill/>
        </p:spPr>
        <p:txBody>
          <a:bodyPr/>
          <a:lstStyle/>
          <a:p>
            <a:r>
              <a:rPr lang="en-US" altLang="en-US" sz="2400" dirty="0" err="1" smtClean="0">
                <a:cs typeface="Times New Roman" panose="02020603050405020304" pitchFamily="18" charset="0"/>
              </a:rPr>
              <a:t>Khai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b</a:t>
            </a:r>
            <a:r>
              <a:rPr lang="en-US" altLang="en-US" sz="2400" dirty="0" err="1" smtClean="0"/>
              <a:t>áo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cấu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trúc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:</a:t>
            </a:r>
            <a:endParaRPr lang="en-US" altLang="en-US" dirty="0" smtClean="0">
              <a:cs typeface="Times New Roman" panose="02020603050405020304" pitchFamily="18" charset="0"/>
            </a:endParaRPr>
          </a:p>
          <a:p>
            <a:pPr lvl="2">
              <a:buFontTx/>
              <a:buNone/>
            </a:pPr>
            <a:r>
              <a:rPr lang="en-US" alt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Node {</a:t>
            </a:r>
          </a:p>
          <a:p>
            <a:pPr lvl="2"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Type info;</a:t>
            </a:r>
          </a:p>
          <a:p>
            <a:pPr lvl="2"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Node* next; </a:t>
            </a:r>
          </a:p>
          <a:p>
            <a:pPr lvl="2"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</a:p>
          <a:p>
            <a:pPr lvl="2">
              <a:buFontTx/>
              <a:buNone/>
            </a:pPr>
            <a:endParaRPr lang="en-US" altLang="en-US" sz="2400" dirty="0" smtClean="0">
              <a:cs typeface="Times New Roman" panose="02020603050405020304" pitchFamily="18" charset="0"/>
            </a:endParaRPr>
          </a:p>
          <a:p>
            <a:pPr lvl="2">
              <a:buFontTx/>
              <a:buNone/>
            </a:pPr>
            <a:endParaRPr lang="en-US" altLang="en-US" dirty="0" smtClean="0">
              <a:cs typeface="Times New Roman" panose="02020603050405020304" pitchFamily="18" charset="0"/>
            </a:endParaRPr>
          </a:p>
        </p:txBody>
      </p:sp>
      <p:sp>
        <p:nvSpPr>
          <p:cNvPr id="7172" name="Rectangle 21"/>
          <p:cNvSpPr>
            <a:spLocks noChangeArrowheads="1"/>
          </p:cNvSpPr>
          <p:nvPr/>
        </p:nvSpPr>
        <p:spPr bwMode="auto">
          <a:xfrm>
            <a:off x="228600" y="4572000"/>
            <a:ext cx="8686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ct val="20000"/>
              </a:spcBef>
              <a:buFontTx/>
              <a:buChar char="–"/>
            </a:pPr>
            <a:endParaRPr lang="en-US" altLang="en-US" dirty="0"/>
          </a:p>
        </p:txBody>
      </p:sp>
      <p:grpSp>
        <p:nvGrpSpPr>
          <p:cNvPr id="7175" name="Group 23"/>
          <p:cNvGrpSpPr>
            <a:grpSpLocks/>
          </p:cNvGrpSpPr>
          <p:nvPr/>
        </p:nvGrpSpPr>
        <p:grpSpPr bwMode="auto">
          <a:xfrm>
            <a:off x="2057400" y="1273589"/>
            <a:ext cx="4343400" cy="849313"/>
            <a:chOff x="2448" y="2880"/>
            <a:chExt cx="2736" cy="535"/>
          </a:xfrm>
        </p:grpSpPr>
        <p:sp>
          <p:nvSpPr>
            <p:cNvPr id="7176" name="Line 5"/>
            <p:cNvSpPr>
              <a:spLocks noChangeShapeType="1"/>
            </p:cNvSpPr>
            <p:nvPr/>
          </p:nvSpPr>
          <p:spPr bwMode="auto">
            <a:xfrm>
              <a:off x="2742" y="3285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7" name="Text Box 6"/>
            <p:cNvSpPr txBox="1">
              <a:spLocks noChangeArrowheads="1"/>
            </p:cNvSpPr>
            <p:nvPr/>
          </p:nvSpPr>
          <p:spPr bwMode="auto">
            <a:xfrm>
              <a:off x="2496" y="2880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7178" name="Rectangle 7"/>
            <p:cNvSpPr>
              <a:spLocks noChangeArrowheads="1"/>
            </p:cNvSpPr>
            <p:nvPr/>
          </p:nvSpPr>
          <p:spPr bwMode="auto">
            <a:xfrm>
              <a:off x="3222" y="3160"/>
              <a:ext cx="330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/>
                <a:t>A</a:t>
              </a:r>
            </a:p>
          </p:txBody>
        </p:sp>
        <p:sp>
          <p:nvSpPr>
            <p:cNvPr id="7179" name="Rectangle 8"/>
            <p:cNvSpPr>
              <a:spLocks noChangeArrowheads="1"/>
            </p:cNvSpPr>
            <p:nvPr/>
          </p:nvSpPr>
          <p:spPr bwMode="auto">
            <a:xfrm>
              <a:off x="3936" y="3160"/>
              <a:ext cx="324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/>
                <a:t>B</a:t>
              </a:r>
            </a:p>
          </p:txBody>
        </p:sp>
        <p:sp>
          <p:nvSpPr>
            <p:cNvPr id="7180" name="Rectangle 9"/>
            <p:cNvSpPr>
              <a:spLocks noChangeArrowheads="1"/>
            </p:cNvSpPr>
            <p:nvPr/>
          </p:nvSpPr>
          <p:spPr bwMode="auto">
            <a:xfrm>
              <a:off x="4656" y="3168"/>
              <a:ext cx="336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/>
                <a:t>C</a:t>
              </a:r>
            </a:p>
          </p:txBody>
        </p:sp>
        <p:sp>
          <p:nvSpPr>
            <p:cNvPr id="7181" name="Rectangle 11"/>
            <p:cNvSpPr>
              <a:spLocks noChangeArrowheads="1"/>
            </p:cNvSpPr>
            <p:nvPr/>
          </p:nvSpPr>
          <p:spPr bwMode="auto">
            <a:xfrm>
              <a:off x="3552" y="3161"/>
              <a:ext cx="192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7182" name="Line 12"/>
            <p:cNvSpPr>
              <a:spLocks noChangeShapeType="1"/>
            </p:cNvSpPr>
            <p:nvPr/>
          </p:nvSpPr>
          <p:spPr bwMode="auto">
            <a:xfrm>
              <a:off x="3654" y="3279"/>
              <a:ext cx="2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3" name="Rectangle 14"/>
            <p:cNvSpPr>
              <a:spLocks noChangeArrowheads="1"/>
            </p:cNvSpPr>
            <p:nvPr/>
          </p:nvSpPr>
          <p:spPr bwMode="auto">
            <a:xfrm>
              <a:off x="4264" y="3160"/>
              <a:ext cx="192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7184" name="Line 15"/>
            <p:cNvSpPr>
              <a:spLocks noChangeShapeType="1"/>
            </p:cNvSpPr>
            <p:nvPr/>
          </p:nvSpPr>
          <p:spPr bwMode="auto">
            <a:xfrm>
              <a:off x="4362" y="3279"/>
              <a:ext cx="2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185" name="Group 16"/>
            <p:cNvGrpSpPr>
              <a:grpSpLocks/>
            </p:cNvGrpSpPr>
            <p:nvPr/>
          </p:nvGrpSpPr>
          <p:grpSpPr bwMode="auto">
            <a:xfrm>
              <a:off x="4992" y="3168"/>
              <a:ext cx="192" cy="247"/>
              <a:chOff x="3204" y="3132"/>
              <a:chExt cx="192" cy="288"/>
            </a:xfrm>
          </p:grpSpPr>
          <p:sp>
            <p:nvSpPr>
              <p:cNvPr id="7188" name="Rectangle 17"/>
              <p:cNvSpPr>
                <a:spLocks noChangeArrowheads="1"/>
              </p:cNvSpPr>
              <p:nvPr/>
            </p:nvSpPr>
            <p:spPr bwMode="auto">
              <a:xfrm>
                <a:off x="3204" y="3132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1800"/>
              </a:p>
            </p:txBody>
          </p:sp>
          <p:sp>
            <p:nvSpPr>
              <p:cNvPr id="7189" name="Line 18"/>
              <p:cNvSpPr>
                <a:spLocks noChangeShapeType="1"/>
              </p:cNvSpPr>
              <p:nvPr/>
            </p:nvSpPr>
            <p:spPr bwMode="auto">
              <a:xfrm flipV="1">
                <a:off x="3204" y="3132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186" name="Rectangle 20"/>
            <p:cNvSpPr>
              <a:spLocks noChangeArrowheads="1"/>
            </p:cNvSpPr>
            <p:nvPr/>
          </p:nvSpPr>
          <p:spPr bwMode="auto">
            <a:xfrm>
              <a:off x="2448" y="2918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000" b="1"/>
                <a:t>H</a:t>
              </a:r>
            </a:p>
          </p:txBody>
        </p:sp>
        <p:sp>
          <p:nvSpPr>
            <p:cNvPr id="7187" name="Rectangle 22"/>
            <p:cNvSpPr>
              <a:spLocks noChangeArrowheads="1"/>
            </p:cNvSpPr>
            <p:nvPr/>
          </p:nvSpPr>
          <p:spPr bwMode="auto">
            <a:xfrm>
              <a:off x="2622" y="3168"/>
              <a:ext cx="192" cy="24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/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00228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sz="2400" dirty="0" err="1">
                <a:cs typeface="Times New Roman" panose="02020603050405020304" pitchFamily="18" charset="0"/>
              </a:rPr>
              <a:t>Danh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sách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nối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đơn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thẳng</a:t>
            </a:r>
            <a:r>
              <a:rPr lang="en-US" altLang="en-US" sz="2400" dirty="0">
                <a:cs typeface="Times New Roman" panose="02020603050405020304" pitchFamily="18" charset="0"/>
              </a:rPr>
              <a:t> (</a:t>
            </a:r>
            <a:r>
              <a:rPr lang="en-US" altLang="en-US" sz="2400" i="1" dirty="0"/>
              <a:t>single linked list</a:t>
            </a:r>
            <a:r>
              <a:rPr lang="en-US" altLang="en-US" sz="2400" dirty="0">
                <a:cs typeface="Times New Roman" panose="02020603050405020304" pitchFamily="18" charset="0"/>
              </a:rPr>
              <a:t>)</a:t>
            </a:r>
          </a:p>
          <a:p>
            <a:pPr lvl="1"/>
            <a:endParaRPr lang="en-US" altLang="en-US" dirty="0"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024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047F957-911B-4309-A76C-93C9E934A3B3}" type="slidenum">
              <a:rPr lang="en-US" altLang="en-US" sz="1400"/>
              <a:pPr eaLnBrk="1" hangingPunct="1"/>
              <a:t>14</a:t>
            </a:fld>
            <a:endParaRPr lang="en-US" altLang="en-US" sz="140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CÀI ĐẶT 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 smtClean="0"/>
              <a:t>sách</a:t>
            </a:r>
            <a:r>
              <a:rPr lang="en-US" altLang="en-US" dirty="0" smtClean="0"/>
              <a:t> NỐI ĐƠN  </a:t>
            </a:r>
          </a:p>
        </p:txBody>
      </p:sp>
      <p:sp>
        <p:nvSpPr>
          <p:cNvPr id="10246" name="Rectangle 21"/>
          <p:cNvSpPr>
            <a:spLocks noChangeArrowheads="1"/>
          </p:cNvSpPr>
          <p:nvPr/>
        </p:nvSpPr>
        <p:spPr bwMode="auto">
          <a:xfrm>
            <a:off x="1057274" y="2533322"/>
            <a:ext cx="6962775" cy="2075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lvl="1" eaLnBrk="1" hangingPunct="1"/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Type info;</a:t>
            </a:r>
          </a:p>
          <a:p>
            <a:pPr lvl="1" eaLnBrk="1" hangingPunct="1"/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Node* next; </a:t>
            </a:r>
          </a:p>
          <a:p>
            <a:pPr lvl="1" eaLnBrk="1" hangingPunct="1"/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</a:p>
          <a:p>
            <a:pPr lvl="1" eaLnBrk="1" hangingPunct="1"/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Node* </a:t>
            </a:r>
            <a:r>
              <a:rPr lang="en-US" alt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r>
              <a:rPr lang="en-US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//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Kiểu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con 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trỏ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nút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Node* 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//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Kiểu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danh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sách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nối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đơn</a:t>
            </a:r>
            <a:endParaRPr lang="en-US" alt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H;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0247" name="Group 57"/>
          <p:cNvGrpSpPr>
            <a:grpSpLocks/>
          </p:cNvGrpSpPr>
          <p:nvPr/>
        </p:nvGrpSpPr>
        <p:grpSpPr bwMode="auto">
          <a:xfrm>
            <a:off x="2005012" y="1333301"/>
            <a:ext cx="5029200" cy="849312"/>
            <a:chOff x="672" y="1536"/>
            <a:chExt cx="3168" cy="535"/>
          </a:xfrm>
        </p:grpSpPr>
        <p:sp>
          <p:nvSpPr>
            <p:cNvPr id="10248" name="Text Box 58"/>
            <p:cNvSpPr txBox="1">
              <a:spLocks noChangeArrowheads="1"/>
            </p:cNvSpPr>
            <p:nvPr/>
          </p:nvSpPr>
          <p:spPr bwMode="auto">
            <a:xfrm>
              <a:off x="672" y="1536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/>
                <a:t>H</a:t>
              </a:r>
            </a:p>
          </p:txBody>
        </p:sp>
        <p:sp>
          <p:nvSpPr>
            <p:cNvPr id="10249" name="Line 59"/>
            <p:cNvSpPr>
              <a:spLocks noChangeShapeType="1"/>
            </p:cNvSpPr>
            <p:nvPr/>
          </p:nvSpPr>
          <p:spPr bwMode="auto">
            <a:xfrm>
              <a:off x="918" y="1893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0" name="Rectangle 60"/>
            <p:cNvSpPr>
              <a:spLocks noChangeArrowheads="1"/>
            </p:cNvSpPr>
            <p:nvPr/>
          </p:nvSpPr>
          <p:spPr bwMode="auto">
            <a:xfrm>
              <a:off x="1398" y="1768"/>
              <a:ext cx="474" cy="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</a:p>
          </p:txBody>
        </p:sp>
        <p:sp>
          <p:nvSpPr>
            <p:cNvPr id="10251" name="Rectangle 61"/>
            <p:cNvSpPr>
              <a:spLocks noChangeArrowheads="1"/>
            </p:cNvSpPr>
            <p:nvPr/>
          </p:nvSpPr>
          <p:spPr bwMode="auto">
            <a:xfrm>
              <a:off x="2268" y="1768"/>
              <a:ext cx="468" cy="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B</a:t>
              </a:r>
            </a:p>
          </p:txBody>
        </p:sp>
        <p:sp>
          <p:nvSpPr>
            <p:cNvPr id="10252" name="Rectangle 62"/>
            <p:cNvSpPr>
              <a:spLocks noChangeArrowheads="1"/>
            </p:cNvSpPr>
            <p:nvPr/>
          </p:nvSpPr>
          <p:spPr bwMode="auto">
            <a:xfrm>
              <a:off x="3168" y="1768"/>
              <a:ext cx="480" cy="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C</a:t>
              </a:r>
            </a:p>
          </p:txBody>
        </p:sp>
        <p:sp>
          <p:nvSpPr>
            <p:cNvPr id="10253" name="Rectangle 63"/>
            <p:cNvSpPr>
              <a:spLocks noChangeArrowheads="1"/>
            </p:cNvSpPr>
            <p:nvPr/>
          </p:nvSpPr>
          <p:spPr bwMode="auto">
            <a:xfrm>
              <a:off x="1872" y="1769"/>
              <a:ext cx="192" cy="29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10254" name="Line 64"/>
            <p:cNvSpPr>
              <a:spLocks noChangeShapeType="1"/>
            </p:cNvSpPr>
            <p:nvPr/>
          </p:nvSpPr>
          <p:spPr bwMode="auto">
            <a:xfrm>
              <a:off x="1974" y="1887"/>
              <a:ext cx="2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5" name="Rectangle 65"/>
            <p:cNvSpPr>
              <a:spLocks noChangeArrowheads="1"/>
            </p:cNvSpPr>
            <p:nvPr/>
          </p:nvSpPr>
          <p:spPr bwMode="auto">
            <a:xfrm>
              <a:off x="2736" y="1769"/>
              <a:ext cx="192" cy="29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10256" name="Line 66"/>
            <p:cNvSpPr>
              <a:spLocks noChangeShapeType="1"/>
            </p:cNvSpPr>
            <p:nvPr/>
          </p:nvSpPr>
          <p:spPr bwMode="auto">
            <a:xfrm>
              <a:off x="2874" y="1887"/>
              <a:ext cx="2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257" name="Group 67"/>
            <p:cNvGrpSpPr>
              <a:grpSpLocks/>
            </p:cNvGrpSpPr>
            <p:nvPr/>
          </p:nvGrpSpPr>
          <p:grpSpPr bwMode="auto">
            <a:xfrm>
              <a:off x="3648" y="1769"/>
              <a:ext cx="192" cy="295"/>
              <a:chOff x="3204" y="3132"/>
              <a:chExt cx="192" cy="288"/>
            </a:xfrm>
          </p:grpSpPr>
          <p:sp>
            <p:nvSpPr>
              <p:cNvPr id="10259" name="Rectangle 68"/>
              <p:cNvSpPr>
                <a:spLocks noChangeArrowheads="1"/>
              </p:cNvSpPr>
              <p:nvPr/>
            </p:nvSpPr>
            <p:spPr bwMode="auto">
              <a:xfrm>
                <a:off x="3204" y="3132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1800"/>
              </a:p>
            </p:txBody>
          </p:sp>
          <p:sp>
            <p:nvSpPr>
              <p:cNvPr id="10260" name="Line 69"/>
              <p:cNvSpPr>
                <a:spLocks noChangeShapeType="1"/>
              </p:cNvSpPr>
              <p:nvPr/>
            </p:nvSpPr>
            <p:spPr bwMode="auto">
              <a:xfrm flipV="1">
                <a:off x="3204" y="3132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258" name="Rectangle 70"/>
            <p:cNvSpPr>
              <a:spLocks noChangeArrowheads="1"/>
            </p:cNvSpPr>
            <p:nvPr/>
          </p:nvSpPr>
          <p:spPr bwMode="auto">
            <a:xfrm>
              <a:off x="816" y="1776"/>
              <a:ext cx="192" cy="29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/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</p:grpSp>
      <p:sp>
        <p:nvSpPr>
          <p:cNvPr id="3" name="Rectangle 2"/>
          <p:cNvSpPr/>
          <p:nvPr/>
        </p:nvSpPr>
        <p:spPr>
          <a:xfrm>
            <a:off x="838199" y="4768891"/>
            <a:ext cx="6934200" cy="15024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lvl="1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altLang="en-US" sz="2000" dirty="0" err="1" smtClean="0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cuối</a:t>
            </a:r>
            <a:r>
              <a:rPr lang="en-US" altLang="en-US" sz="2000" dirty="0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 : next = NULL</a:t>
            </a:r>
          </a:p>
          <a:p>
            <a:pPr marL="514350" lvl="1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altLang="en-US" sz="2000" dirty="0" err="1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Danh</a:t>
            </a:r>
            <a:r>
              <a:rPr lang="en-US" altLang="en-US" sz="2000" dirty="0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sách</a:t>
            </a:r>
            <a:r>
              <a:rPr lang="en-US" altLang="en-US" sz="2000" dirty="0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rỗng</a:t>
            </a:r>
            <a:r>
              <a:rPr lang="en-US" altLang="en-US" sz="2000" dirty="0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: H = NULL;</a:t>
            </a:r>
          </a:p>
          <a:p>
            <a:pPr marL="514350" lvl="1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altLang="en-US" sz="2000" dirty="0" err="1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Danh</a:t>
            </a:r>
            <a:r>
              <a:rPr lang="en-US" altLang="en-US" sz="2000" dirty="0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sách</a:t>
            </a:r>
            <a:r>
              <a:rPr lang="en-US" altLang="en-US" sz="2000" dirty="0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đầy</a:t>
            </a:r>
            <a:r>
              <a:rPr lang="en-US" altLang="en-US" sz="2000" dirty="0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: </a:t>
            </a:r>
            <a:r>
              <a:rPr lang="en-US" altLang="en-US" sz="2000" dirty="0" err="1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khi</a:t>
            </a:r>
            <a:r>
              <a:rPr lang="en-US" altLang="en-US" sz="2000" dirty="0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không</a:t>
            </a:r>
            <a:r>
              <a:rPr lang="en-US" altLang="en-US" sz="2000" dirty="0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còn</a:t>
            </a:r>
            <a:r>
              <a:rPr lang="en-US" altLang="en-US" sz="2000" dirty="0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đủ</a:t>
            </a:r>
            <a:r>
              <a:rPr lang="en-US" altLang="en-US" sz="2000" dirty="0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bộ</a:t>
            </a:r>
            <a:r>
              <a:rPr lang="en-US" altLang="en-US" sz="2000" dirty="0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nhớ</a:t>
            </a:r>
            <a:r>
              <a:rPr lang="en-US" altLang="en-US" sz="2000" dirty="0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để</a:t>
            </a:r>
            <a:r>
              <a:rPr lang="en-US" altLang="en-US" sz="2000" dirty="0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cấp</a:t>
            </a:r>
            <a:r>
              <a:rPr lang="en-US" altLang="en-US" sz="2000" dirty="0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Lato" panose="020F0502020204030203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phát</a:t>
            </a:r>
            <a:endParaRPr lang="en-US" sz="2000" dirty="0">
              <a:latin typeface="Lato" panose="020F0502020204030203" pitchFamily="34" charset="0"/>
              <a:ea typeface="Lato" panose="020F050202020403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04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BB90C8C-993F-4B22-836E-EF0F4697A1DB}" type="slidenum">
              <a:rPr lang="en-US" altLang="en-US" sz="1400"/>
              <a:pPr eaLnBrk="1" hangingPunct="1"/>
              <a:t>15</a:t>
            </a:fld>
            <a:endParaRPr lang="en-US" altLang="en-US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CÀI ĐẶT 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NỐI ĐƠN </a:t>
            </a:r>
            <a:endParaRPr lang="en-US" dirty="0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body" sz="quarter" idx="13"/>
          </p:nvPr>
        </p:nvSpPr>
        <p:spPr>
          <a:noFill/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 dirty="0" err="1" smtClean="0">
                <a:cs typeface="Times New Roman" panose="02020603050405020304" pitchFamily="18" charset="0"/>
              </a:rPr>
              <a:t>Danh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sách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nối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đơn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thẳng</a:t>
            </a:r>
            <a:endParaRPr lang="en-US" altLang="en-US" sz="2400" dirty="0" smtClean="0"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2000" dirty="0" err="1" smtClean="0">
                <a:cs typeface="Times New Roman" panose="02020603050405020304" pitchFamily="18" charset="0"/>
              </a:rPr>
              <a:t>Các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thao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tác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cơ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bản</a:t>
            </a:r>
            <a:endParaRPr lang="en-US" altLang="en-US" sz="2000" dirty="0" smtClean="0">
              <a:cs typeface="Times New Roman" panose="02020603050405020304" pitchFamily="18" charset="0"/>
            </a:endParaRPr>
          </a:p>
          <a:p>
            <a:pPr lvl="2"/>
            <a:r>
              <a:rPr lang="en-US" altLang="en-US" sz="2000" dirty="0" err="1">
                <a:cs typeface="Times New Roman" panose="02020603050405020304" pitchFamily="18" charset="0"/>
              </a:rPr>
              <a:t>Khởi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tạo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danh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sách</a:t>
            </a:r>
            <a:r>
              <a:rPr lang="en-US" altLang="en-US" sz="2000" dirty="0">
                <a:cs typeface="Times New Roman" panose="02020603050405020304" pitchFamily="18" charset="0"/>
              </a:rPr>
              <a:t>: </a:t>
            </a:r>
            <a:r>
              <a:rPr lang="en-US" altLang="en-US" sz="2000" dirty="0" err="1">
                <a:cs typeface="Times New Roman" panose="02020603050405020304" pitchFamily="18" charset="0"/>
              </a:rPr>
              <a:t>tạo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ra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một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danh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sách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rỗng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lvl="2"/>
            <a:r>
              <a:rPr lang="en-US" altLang="en-US" sz="2000" dirty="0" err="1">
                <a:cs typeface="Times New Roman" panose="02020603050405020304" pitchFamily="18" charset="0"/>
              </a:rPr>
              <a:t>Kiểm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tra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trạng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thái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hiện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tại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của</a:t>
            </a:r>
            <a:r>
              <a:rPr lang="en-US" altLang="en-US" sz="2000" dirty="0">
                <a:cs typeface="Times New Roman" panose="02020603050405020304" pitchFamily="18" charset="0"/>
              </a:rPr>
              <a:t> DS: </a:t>
            </a:r>
          </a:p>
          <a:p>
            <a:pPr lvl="3"/>
            <a:r>
              <a:rPr lang="en-US" altLang="en-US" sz="2000" dirty="0" err="1">
                <a:cs typeface="Times New Roman" panose="02020603050405020304" pitchFamily="18" charset="0"/>
              </a:rPr>
              <a:t>Rỗng</a:t>
            </a:r>
            <a:r>
              <a:rPr lang="en-US" altLang="en-US" sz="2000" dirty="0">
                <a:cs typeface="Times New Roman" panose="02020603050405020304" pitchFamily="18" charset="0"/>
              </a:rPr>
              <a:t> (Empty): </a:t>
            </a:r>
            <a:r>
              <a:rPr lang="en-US" altLang="en-US" sz="2000" dirty="0" err="1">
                <a:cs typeface="Times New Roman" panose="02020603050405020304" pitchFamily="18" charset="0"/>
              </a:rPr>
              <a:t>khi</a:t>
            </a:r>
            <a:r>
              <a:rPr lang="en-US" altLang="en-US" sz="2000" dirty="0">
                <a:cs typeface="Times New Roman" panose="02020603050405020304" pitchFamily="18" charset="0"/>
              </a:rPr>
              <a:t> con </a:t>
            </a:r>
            <a:r>
              <a:rPr lang="en-US" altLang="en-US" sz="2000" dirty="0" err="1">
                <a:cs typeface="Times New Roman" panose="02020603050405020304" pitchFamily="18" charset="0"/>
              </a:rPr>
              <a:t>trỏ</a:t>
            </a:r>
            <a:r>
              <a:rPr lang="en-US" altLang="en-US" sz="2000" dirty="0">
                <a:cs typeface="Times New Roman" panose="02020603050405020304" pitchFamily="18" charset="0"/>
              </a:rPr>
              <a:t> H = NULL</a:t>
            </a:r>
          </a:p>
          <a:p>
            <a:pPr lvl="2"/>
            <a:r>
              <a:rPr lang="en-US" altLang="en-US" sz="2000" dirty="0" err="1">
                <a:cs typeface="Times New Roman" panose="02020603050405020304" pitchFamily="18" charset="0"/>
              </a:rPr>
              <a:t>Phép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chèn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một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mới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vào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danh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sách</a:t>
            </a:r>
            <a:endParaRPr lang="en-US" altLang="en-US" sz="2000" dirty="0" smtClean="0">
              <a:cs typeface="Times New Roman" panose="02020603050405020304" pitchFamily="18" charset="0"/>
            </a:endParaRPr>
          </a:p>
          <a:p>
            <a:pPr lvl="3"/>
            <a:r>
              <a:rPr lang="en-US" altLang="en-US" sz="1800" dirty="0" err="1" smtClean="0">
                <a:cs typeface="Times New Roman" panose="02020603050405020304" pitchFamily="18" charset="0"/>
              </a:rPr>
              <a:t>Chèn</a:t>
            </a:r>
            <a:r>
              <a:rPr lang="en-US" altLang="en-US" sz="180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00" dirty="0" err="1" smtClean="0">
                <a:cs typeface="Times New Roman" panose="02020603050405020304" pitchFamily="18" charset="0"/>
              </a:rPr>
              <a:t>vào</a:t>
            </a:r>
            <a:r>
              <a:rPr lang="en-US" altLang="en-US" sz="180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00" dirty="0" err="1" smtClean="0">
                <a:cs typeface="Times New Roman" panose="02020603050405020304" pitchFamily="18" charset="0"/>
              </a:rPr>
              <a:t>đầu</a:t>
            </a:r>
            <a:r>
              <a:rPr lang="en-US" altLang="en-US" sz="180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00" dirty="0" err="1" smtClean="0">
                <a:cs typeface="Times New Roman" panose="02020603050405020304" pitchFamily="18" charset="0"/>
              </a:rPr>
              <a:t>danh</a:t>
            </a:r>
            <a:r>
              <a:rPr lang="en-US" altLang="en-US" sz="180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00" dirty="0" err="1" smtClean="0">
                <a:cs typeface="Times New Roman" panose="02020603050405020304" pitchFamily="18" charset="0"/>
              </a:rPr>
              <a:t>sách</a:t>
            </a:r>
            <a:endParaRPr lang="en-US" altLang="en-US" sz="1800" dirty="0" smtClean="0">
              <a:cs typeface="Times New Roman" panose="02020603050405020304" pitchFamily="18" charset="0"/>
            </a:endParaRPr>
          </a:p>
          <a:p>
            <a:pPr lvl="3"/>
            <a:r>
              <a:rPr lang="en-US" altLang="en-US" sz="1800" dirty="0" err="1">
                <a:cs typeface="Times New Roman" panose="02020603050405020304" pitchFamily="18" charset="0"/>
              </a:rPr>
              <a:t>Chèn</a:t>
            </a:r>
            <a:r>
              <a:rPr lang="en-US" altLang="en-US" sz="1800" dirty="0">
                <a:cs typeface="Times New Roman" panose="02020603050405020304" pitchFamily="18" charset="0"/>
              </a:rPr>
              <a:t> </a:t>
            </a:r>
            <a:r>
              <a:rPr lang="en-US" altLang="en-US" sz="1800" dirty="0" err="1" smtClean="0">
                <a:cs typeface="Times New Roman" panose="02020603050405020304" pitchFamily="18" charset="0"/>
              </a:rPr>
              <a:t>vào</a:t>
            </a:r>
            <a:r>
              <a:rPr lang="en-US" altLang="en-US" sz="180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00" dirty="0" err="1" smtClean="0">
                <a:cs typeface="Times New Roman" panose="02020603050405020304" pitchFamily="18" charset="0"/>
              </a:rPr>
              <a:t>cuối</a:t>
            </a:r>
            <a:r>
              <a:rPr lang="en-US" altLang="en-US" sz="180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cs typeface="Times New Roman" panose="02020603050405020304" pitchFamily="18" charset="0"/>
              </a:rPr>
              <a:t>danh</a:t>
            </a:r>
            <a:r>
              <a:rPr lang="en-US" altLang="en-US" sz="1800" dirty="0"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cs typeface="Times New Roman" panose="02020603050405020304" pitchFamily="18" charset="0"/>
              </a:rPr>
              <a:t>sách</a:t>
            </a:r>
            <a:endParaRPr lang="en-US" altLang="en-US" sz="1800" dirty="0">
              <a:cs typeface="Times New Roman" panose="02020603050405020304" pitchFamily="18" charset="0"/>
            </a:endParaRPr>
          </a:p>
          <a:p>
            <a:pPr lvl="3"/>
            <a:r>
              <a:rPr lang="en-US" altLang="en-US" sz="1800" dirty="0" err="1" smtClean="0">
                <a:cs typeface="Times New Roman" panose="02020603050405020304" pitchFamily="18" charset="0"/>
              </a:rPr>
              <a:t>Chèn</a:t>
            </a:r>
            <a:r>
              <a:rPr lang="en-US" altLang="en-US" sz="180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00" dirty="0" err="1" smtClean="0">
                <a:cs typeface="Times New Roman" panose="02020603050405020304" pitchFamily="18" charset="0"/>
              </a:rPr>
              <a:t>vào</a:t>
            </a:r>
            <a:r>
              <a:rPr lang="en-US" altLang="en-US" sz="180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00" dirty="0" err="1" smtClean="0">
                <a:cs typeface="Times New Roman" panose="02020603050405020304" pitchFamily="18" charset="0"/>
              </a:rPr>
              <a:t>trước</a:t>
            </a:r>
            <a:r>
              <a:rPr lang="en-US" altLang="en-US" sz="1800" dirty="0" smtClean="0">
                <a:cs typeface="Times New Roman" panose="02020603050405020304" pitchFamily="18" charset="0"/>
              </a:rPr>
              <a:t>/</a:t>
            </a:r>
            <a:r>
              <a:rPr lang="en-US" altLang="en-US" sz="1800" dirty="0" err="1" smtClean="0">
                <a:cs typeface="Times New Roman" panose="02020603050405020304" pitchFamily="18" charset="0"/>
              </a:rPr>
              <a:t>sau</a:t>
            </a:r>
            <a:r>
              <a:rPr lang="en-US" altLang="en-US" sz="180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00" dirty="0" err="1" smtClean="0">
                <a:cs typeface="Times New Roman" panose="02020603050405020304" pitchFamily="18" charset="0"/>
              </a:rPr>
              <a:t>một</a:t>
            </a:r>
            <a:r>
              <a:rPr lang="en-US" altLang="en-US" sz="180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00" dirty="0" err="1" smtClean="0">
                <a:cs typeface="Times New Roman" panose="02020603050405020304" pitchFamily="18" charset="0"/>
              </a:rPr>
              <a:t>vị</a:t>
            </a:r>
            <a:r>
              <a:rPr lang="en-US" altLang="en-US" sz="180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00" dirty="0" err="1" smtClean="0">
                <a:cs typeface="Times New Roman" panose="02020603050405020304" pitchFamily="18" charset="0"/>
              </a:rPr>
              <a:t>trí</a:t>
            </a:r>
            <a:r>
              <a:rPr lang="en-US" altLang="en-US" sz="180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00" dirty="0" err="1" smtClean="0">
                <a:cs typeface="Times New Roman" panose="02020603050405020304" pitchFamily="18" charset="0"/>
              </a:rPr>
              <a:t>trong</a:t>
            </a:r>
            <a:r>
              <a:rPr lang="en-US" altLang="en-US" sz="180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00" dirty="0" err="1" smtClean="0">
                <a:cs typeface="Times New Roman" panose="02020603050405020304" pitchFamily="18" charset="0"/>
              </a:rPr>
              <a:t>danh</a:t>
            </a:r>
            <a:r>
              <a:rPr lang="en-US" altLang="en-US" sz="180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00" dirty="0" err="1" smtClean="0">
                <a:cs typeface="Times New Roman" panose="02020603050405020304" pitchFamily="18" charset="0"/>
              </a:rPr>
              <a:t>sách</a:t>
            </a:r>
            <a:endParaRPr lang="en-US" altLang="en-US" sz="1800" i="1" dirty="0">
              <a:cs typeface="Times New Roman" panose="02020603050405020304" pitchFamily="18" charset="0"/>
            </a:endParaRPr>
          </a:p>
          <a:p>
            <a:pPr lvl="2"/>
            <a:r>
              <a:rPr lang="en-US" altLang="en-US" sz="2000" dirty="0" err="1" smtClean="0">
                <a:cs typeface="Times New Roman" panose="02020603050405020304" pitchFamily="18" charset="0"/>
              </a:rPr>
              <a:t>Phép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xoá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khỏi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danh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sách</a:t>
            </a:r>
            <a:endParaRPr lang="en-US" altLang="en-US" sz="2000" dirty="0" smtClean="0">
              <a:cs typeface="Times New Roman" panose="02020603050405020304" pitchFamily="18" charset="0"/>
            </a:endParaRPr>
          </a:p>
          <a:p>
            <a:pPr lvl="3"/>
            <a:r>
              <a:rPr lang="en-US" altLang="en-US" sz="1850" dirty="0" err="1" smtClean="0">
                <a:cs typeface="Times New Roman" panose="02020603050405020304" pitchFamily="18" charset="0"/>
              </a:rPr>
              <a:t>Xóa</a:t>
            </a:r>
            <a:r>
              <a:rPr lang="en-US" altLang="en-US" sz="1850" dirty="0" smtClean="0">
                <a:cs typeface="Times New Roman" panose="02020603050405020304" pitchFamily="18" charset="0"/>
              </a:rPr>
              <a:t> ở </a:t>
            </a:r>
            <a:r>
              <a:rPr lang="en-US" altLang="en-US" sz="1850" dirty="0" err="1" smtClean="0">
                <a:cs typeface="Times New Roman" panose="02020603050405020304" pitchFamily="18" charset="0"/>
              </a:rPr>
              <a:t>đầu</a:t>
            </a:r>
            <a:r>
              <a:rPr lang="en-US" altLang="en-US" sz="185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50" dirty="0" err="1" smtClean="0">
                <a:cs typeface="Times New Roman" panose="02020603050405020304" pitchFamily="18" charset="0"/>
              </a:rPr>
              <a:t>danh</a:t>
            </a:r>
            <a:r>
              <a:rPr lang="en-US" altLang="en-US" sz="185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50" dirty="0" err="1" smtClean="0">
                <a:cs typeface="Times New Roman" panose="02020603050405020304" pitchFamily="18" charset="0"/>
              </a:rPr>
              <a:t>sách</a:t>
            </a:r>
            <a:endParaRPr lang="en-US" altLang="en-US" sz="1850" dirty="0" smtClean="0">
              <a:cs typeface="Times New Roman" panose="02020603050405020304" pitchFamily="18" charset="0"/>
            </a:endParaRPr>
          </a:p>
          <a:p>
            <a:pPr lvl="3"/>
            <a:r>
              <a:rPr lang="en-US" altLang="en-US" sz="1850" dirty="0" err="1" smtClean="0">
                <a:cs typeface="Times New Roman" panose="02020603050405020304" pitchFamily="18" charset="0"/>
              </a:rPr>
              <a:t>Xóa</a:t>
            </a:r>
            <a:r>
              <a:rPr lang="en-US" altLang="en-US" sz="1850" dirty="0" smtClean="0">
                <a:cs typeface="Times New Roman" panose="02020603050405020304" pitchFamily="18" charset="0"/>
              </a:rPr>
              <a:t> ở </a:t>
            </a:r>
            <a:r>
              <a:rPr lang="en-US" altLang="en-US" sz="1850" dirty="0" err="1" smtClean="0">
                <a:cs typeface="Times New Roman" panose="02020603050405020304" pitchFamily="18" charset="0"/>
              </a:rPr>
              <a:t>cuối</a:t>
            </a:r>
            <a:r>
              <a:rPr lang="en-US" altLang="en-US" sz="185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50" dirty="0" err="1">
                <a:cs typeface="Times New Roman" panose="02020603050405020304" pitchFamily="18" charset="0"/>
              </a:rPr>
              <a:t>danh</a:t>
            </a:r>
            <a:r>
              <a:rPr lang="en-US" altLang="en-US" sz="1850" dirty="0">
                <a:cs typeface="Times New Roman" panose="02020603050405020304" pitchFamily="18" charset="0"/>
              </a:rPr>
              <a:t> </a:t>
            </a:r>
            <a:r>
              <a:rPr lang="en-US" altLang="en-US" sz="1850" dirty="0" err="1" smtClean="0">
                <a:cs typeface="Times New Roman" panose="02020603050405020304" pitchFamily="18" charset="0"/>
              </a:rPr>
              <a:t>sách</a:t>
            </a:r>
            <a:endParaRPr lang="en-US" altLang="en-US" sz="1850" dirty="0" smtClean="0">
              <a:cs typeface="Times New Roman" panose="02020603050405020304" pitchFamily="18" charset="0"/>
            </a:endParaRPr>
          </a:p>
          <a:p>
            <a:pPr lvl="3"/>
            <a:r>
              <a:rPr lang="en-US" altLang="en-US" sz="1850" dirty="0" err="1">
                <a:cs typeface="Times New Roman" panose="02020603050405020304" pitchFamily="18" charset="0"/>
              </a:rPr>
              <a:t>Xóa</a:t>
            </a:r>
            <a:r>
              <a:rPr lang="en-US" altLang="en-US" sz="1850" dirty="0">
                <a:cs typeface="Times New Roman" panose="02020603050405020304" pitchFamily="18" charset="0"/>
              </a:rPr>
              <a:t> </a:t>
            </a:r>
            <a:r>
              <a:rPr lang="en-US" altLang="en-US" sz="1850" dirty="0" smtClean="0">
                <a:cs typeface="Times New Roman" panose="02020603050405020304" pitchFamily="18" charset="0"/>
              </a:rPr>
              <a:t>ở </a:t>
            </a:r>
            <a:r>
              <a:rPr lang="en-US" altLang="en-US" sz="1850" dirty="0" err="1" smtClean="0">
                <a:cs typeface="Times New Roman" panose="02020603050405020304" pitchFamily="18" charset="0"/>
              </a:rPr>
              <a:t>trước</a:t>
            </a:r>
            <a:r>
              <a:rPr lang="en-US" altLang="en-US" sz="1850" dirty="0" smtClean="0">
                <a:cs typeface="Times New Roman" panose="02020603050405020304" pitchFamily="18" charset="0"/>
              </a:rPr>
              <a:t>/</a:t>
            </a:r>
            <a:r>
              <a:rPr lang="en-US" altLang="en-US" sz="1850" dirty="0" err="1" smtClean="0">
                <a:cs typeface="Times New Roman" panose="02020603050405020304" pitchFamily="18" charset="0"/>
              </a:rPr>
              <a:t>sau</a:t>
            </a:r>
            <a:r>
              <a:rPr lang="en-US" altLang="en-US" sz="185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50" dirty="0" err="1" smtClean="0">
                <a:cs typeface="Times New Roman" panose="02020603050405020304" pitchFamily="18" charset="0"/>
              </a:rPr>
              <a:t>một</a:t>
            </a:r>
            <a:r>
              <a:rPr lang="en-US" altLang="en-US" sz="185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50" dirty="0" err="1" smtClean="0">
                <a:cs typeface="Times New Roman" panose="02020603050405020304" pitchFamily="18" charset="0"/>
              </a:rPr>
              <a:t>vị</a:t>
            </a:r>
            <a:r>
              <a:rPr lang="en-US" altLang="en-US" sz="185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50" dirty="0" err="1" smtClean="0">
                <a:cs typeface="Times New Roman" panose="02020603050405020304" pitchFamily="18" charset="0"/>
              </a:rPr>
              <a:t>trí</a:t>
            </a:r>
            <a:r>
              <a:rPr lang="en-US" altLang="en-US" sz="185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50" dirty="0" err="1" smtClean="0">
                <a:cs typeface="Times New Roman" panose="02020603050405020304" pitchFamily="18" charset="0"/>
              </a:rPr>
              <a:t>trong</a:t>
            </a:r>
            <a:r>
              <a:rPr lang="en-US" altLang="en-US" sz="185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50" dirty="0" err="1">
                <a:cs typeface="Times New Roman" panose="02020603050405020304" pitchFamily="18" charset="0"/>
              </a:rPr>
              <a:t>danh</a:t>
            </a:r>
            <a:r>
              <a:rPr lang="en-US" altLang="en-US" sz="1850" dirty="0">
                <a:cs typeface="Times New Roman" panose="02020603050405020304" pitchFamily="18" charset="0"/>
              </a:rPr>
              <a:t> </a:t>
            </a:r>
            <a:r>
              <a:rPr lang="en-US" altLang="en-US" sz="1850" dirty="0" err="1" smtClean="0">
                <a:cs typeface="Times New Roman" panose="02020603050405020304" pitchFamily="18" charset="0"/>
              </a:rPr>
              <a:t>sách</a:t>
            </a:r>
            <a:endParaRPr lang="en-US" altLang="en-US" sz="1850" dirty="0" smtClean="0">
              <a:cs typeface="Times New Roman" panose="02020603050405020304" pitchFamily="18" charset="0"/>
            </a:endParaRPr>
          </a:p>
          <a:p>
            <a:pPr lvl="3"/>
            <a:r>
              <a:rPr lang="en-US" altLang="en-US" sz="1850" dirty="0" err="1" smtClean="0">
                <a:cs typeface="Times New Roman" panose="02020603050405020304" pitchFamily="18" charset="0"/>
              </a:rPr>
              <a:t>Xóa</a:t>
            </a:r>
            <a:r>
              <a:rPr lang="en-US" altLang="en-US" sz="185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50" dirty="0" err="1" smtClean="0">
                <a:cs typeface="Times New Roman" panose="02020603050405020304" pitchFamily="18" charset="0"/>
              </a:rPr>
              <a:t>tất</a:t>
            </a:r>
            <a:r>
              <a:rPr lang="en-US" altLang="en-US" sz="185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50" dirty="0" err="1" smtClean="0">
                <a:cs typeface="Times New Roman" panose="02020603050405020304" pitchFamily="18" charset="0"/>
              </a:rPr>
              <a:t>cả</a:t>
            </a:r>
            <a:r>
              <a:rPr lang="en-US" altLang="en-US" sz="185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50" dirty="0" err="1" smtClean="0">
                <a:cs typeface="Times New Roman" panose="02020603050405020304" pitchFamily="18" charset="0"/>
              </a:rPr>
              <a:t>các</a:t>
            </a:r>
            <a:r>
              <a:rPr lang="en-US" altLang="en-US" sz="1850" dirty="0" smtClean="0">
                <a:cs typeface="Times New Roman" panose="02020603050405020304" pitchFamily="18" charset="0"/>
              </a:rPr>
              <a:t> </a:t>
            </a:r>
            <a:r>
              <a:rPr lang="en-US" altLang="en-US" sz="1850" dirty="0" err="1" smtClean="0">
                <a:cs typeface="Times New Roman" panose="02020603050405020304" pitchFamily="18" charset="0"/>
              </a:rPr>
              <a:t>nút</a:t>
            </a:r>
            <a:endParaRPr lang="en-US" altLang="en-US" sz="1850" dirty="0">
              <a:cs typeface="Times New Roman" panose="02020603050405020304" pitchFamily="18" charset="0"/>
            </a:endParaRPr>
          </a:p>
          <a:p>
            <a:pPr lvl="2"/>
            <a:r>
              <a:rPr lang="en-US" altLang="en-US" sz="2000" dirty="0" err="1">
                <a:cs typeface="Times New Roman" panose="02020603050405020304" pitchFamily="18" charset="0"/>
              </a:rPr>
              <a:t>Phép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tìm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kiếm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có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dữ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liệu</a:t>
            </a:r>
            <a:r>
              <a:rPr lang="en-US" altLang="en-US" sz="2000" dirty="0">
                <a:cs typeface="Times New Roman" panose="02020603050405020304" pitchFamily="18" charset="0"/>
              </a:rPr>
              <a:t> = 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x</a:t>
            </a:r>
            <a:endParaRPr lang="en-US" altLang="en-US" sz="2000" i="1" dirty="0">
              <a:cs typeface="Times New Roman" panose="02020603050405020304" pitchFamily="18" charset="0"/>
            </a:endParaRPr>
          </a:p>
          <a:p>
            <a:pPr lvl="2"/>
            <a:r>
              <a:rPr lang="en-US" altLang="en-US" sz="2000" dirty="0" err="1">
                <a:cs typeface="Times New Roman" panose="02020603050405020304" pitchFamily="18" charset="0"/>
              </a:rPr>
              <a:t>Phép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duyệt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danh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sách</a:t>
            </a:r>
            <a:r>
              <a:rPr lang="en-US" altLang="en-US" sz="2000" dirty="0">
                <a:cs typeface="Times New Roman" panose="02020603050405020304" pitchFamily="18" charset="0"/>
              </a:rPr>
              <a:t>: </a:t>
            </a:r>
            <a:r>
              <a:rPr lang="en-US" altLang="en-US" sz="2000" i="1" dirty="0" smtClean="0">
                <a:cs typeface="Times New Roman" panose="02020603050405020304" pitchFamily="18" charset="0"/>
              </a:rPr>
              <a:t>Traverse</a:t>
            </a:r>
          </a:p>
          <a:p>
            <a:pPr lvl="2"/>
            <a:r>
              <a:rPr lang="en-US" altLang="en-US" sz="2000" dirty="0" err="1" smtClean="0">
                <a:cs typeface="Times New Roman" panose="02020603050405020304" pitchFamily="18" charset="0"/>
              </a:rPr>
              <a:t>Đếm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số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lvl="1" eaLnBrk="1" hangingPunct="1"/>
            <a:endParaRPr lang="en-US" altLang="en-US" sz="2000" dirty="0" smtClean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31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4F34849-2A84-4B07-9806-F6B0D38555CF}" type="slidenum">
              <a:rPr lang="en-US" altLang="en-US" sz="1400"/>
              <a:pPr eaLnBrk="1" hangingPunct="1"/>
              <a:t>16</a:t>
            </a:fld>
            <a:endParaRPr lang="en-US" altLang="en-US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CÀI ĐẶT 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NỐI ĐƠN </a:t>
            </a:r>
            <a:endParaRPr lang="en-US" dirty="0"/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 dirty="0" err="1" smtClean="0"/>
              <a:t>Khởi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tạo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danh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sách</a:t>
            </a:r>
            <a:r>
              <a:rPr lang="en-US" altLang="en-US" sz="2400" dirty="0" smtClean="0"/>
              <a:t>:</a:t>
            </a:r>
          </a:p>
          <a:p>
            <a:pPr eaLnBrk="1" hangingPunct="1"/>
            <a:endParaRPr lang="en-US" altLang="en-US" sz="2400" dirty="0" smtClean="0"/>
          </a:p>
          <a:p>
            <a:pPr eaLnBrk="1" hangingPunct="1"/>
            <a:endParaRPr lang="en-US" altLang="en-US" sz="2400" dirty="0" smtClean="0"/>
          </a:p>
          <a:p>
            <a:pPr eaLnBrk="1" hangingPunct="1"/>
            <a:r>
              <a:rPr lang="en-US" altLang="en-US" sz="2400" dirty="0" err="1" smtClean="0"/>
              <a:t>Kiểm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tra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trạng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thái</a:t>
            </a:r>
            <a:r>
              <a:rPr lang="en-US" altLang="en-US" sz="2400" dirty="0" smtClean="0"/>
              <a:t>: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 smtClean="0"/>
          </a:p>
          <a:p>
            <a:pPr eaLnBrk="1" hangingPunct="1">
              <a:spcBef>
                <a:spcPts val="0"/>
              </a:spcBef>
            </a:pPr>
            <a:endParaRPr lang="en-US" altLang="en-US" sz="2400" dirty="0" smtClean="0"/>
          </a:p>
          <a:p>
            <a:pPr eaLnBrk="1" hangingPunct="1">
              <a:spcBef>
                <a:spcPts val="0"/>
              </a:spcBef>
            </a:pPr>
            <a:r>
              <a:rPr lang="en-US" altLang="en-US" sz="2400" dirty="0" err="1" smtClean="0"/>
              <a:t>Phép</a:t>
            </a:r>
            <a:r>
              <a:rPr lang="en-US" altLang="en-US" sz="2400" dirty="0" smtClean="0"/>
              <a:t> </a:t>
            </a:r>
            <a:r>
              <a:rPr lang="en-US" altLang="en-US" sz="2400" dirty="0" err="1"/>
              <a:t>duyệt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danh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sách</a:t>
            </a:r>
            <a:r>
              <a:rPr lang="en-US" altLang="en-US" sz="2400" dirty="0"/>
              <a:t> </a:t>
            </a:r>
            <a:r>
              <a:rPr lang="en-US" altLang="en-US" sz="2400" dirty="0" smtClean="0"/>
              <a:t/>
            </a:r>
            <a:br>
              <a:rPr lang="en-US" altLang="en-US" sz="2400" dirty="0" smtClean="0"/>
            </a:br>
            <a:r>
              <a:rPr lang="en-US" altLang="en-US" sz="2400" dirty="0" smtClean="0"/>
              <a:t>(</a:t>
            </a:r>
            <a:r>
              <a:rPr lang="en-US" altLang="en-US" sz="2400" dirty="0" err="1"/>
              <a:t>có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thể</a:t>
            </a:r>
            <a:r>
              <a:rPr lang="en-US" altLang="en-US" sz="2400" dirty="0"/>
              <a:t> </a:t>
            </a:r>
            <a:r>
              <a:rPr lang="en-US" altLang="en-US" sz="2400" dirty="0" err="1"/>
              <a:t>ứng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dụng</a:t>
            </a:r>
            <a:r>
              <a:rPr lang="en-US" altLang="en-US" sz="2400" dirty="0"/>
              <a:t> </a:t>
            </a:r>
            <a:r>
              <a:rPr lang="en-US" altLang="en-US" sz="2400" dirty="0" err="1" smtClean="0"/>
              <a:t>vào</a:t>
            </a:r>
            <a:r>
              <a:rPr lang="en-US" altLang="en-US" sz="2400" dirty="0" smtClean="0"/>
              <a:t> </a:t>
            </a:r>
            <a:br>
              <a:rPr lang="en-US" altLang="en-US" sz="2400" dirty="0" smtClean="0"/>
            </a:br>
            <a:r>
              <a:rPr lang="en-US" altLang="en-US" sz="2400" dirty="0" err="1" smtClean="0"/>
              <a:t>xử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lý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phần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tử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của</a:t>
            </a:r>
            <a:r>
              <a:rPr lang="en-US" altLang="en-US" sz="2400" dirty="0" smtClean="0"/>
              <a:t/>
            </a:r>
            <a:br>
              <a:rPr lang="en-US" altLang="en-US" sz="2400" dirty="0" smtClean="0"/>
            </a:br>
            <a:r>
              <a:rPr lang="en-US" altLang="en-US" sz="2400" dirty="0" err="1" smtClean="0"/>
              <a:t>danh</a:t>
            </a:r>
            <a:r>
              <a:rPr lang="en-US" altLang="en-US" sz="2400" dirty="0" smtClean="0"/>
              <a:t> </a:t>
            </a:r>
            <a:r>
              <a:rPr lang="en-US" altLang="en-US" sz="2400" dirty="0" err="1"/>
              <a:t>sách</a:t>
            </a:r>
            <a:r>
              <a:rPr lang="en-US" altLang="en-US" sz="2400" dirty="0"/>
              <a:t>): </a:t>
            </a:r>
          </a:p>
        </p:txBody>
      </p:sp>
      <p:sp>
        <p:nvSpPr>
          <p:cNvPr id="12294" name="Rectangle 4"/>
          <p:cNvSpPr>
            <a:spLocks noChangeArrowheads="1"/>
          </p:cNvSpPr>
          <p:nvPr/>
        </p:nvSpPr>
        <p:spPr bwMode="auto">
          <a:xfrm>
            <a:off x="3733800" y="1051722"/>
            <a:ext cx="7086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InitList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lvl="2"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H = NULL;</a:t>
            </a:r>
          </a:p>
          <a:p>
            <a:pPr lvl="1"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12295" name="Rectangle 5"/>
          <p:cNvSpPr>
            <a:spLocks noChangeArrowheads="1"/>
          </p:cNvSpPr>
          <p:nvPr/>
        </p:nvSpPr>
        <p:spPr bwMode="auto">
          <a:xfrm>
            <a:off x="3692526" y="2288387"/>
            <a:ext cx="7086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lvl="2"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return (H == NULL);</a:t>
            </a:r>
          </a:p>
          <a:p>
            <a:pPr lvl="1"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114800" y="3742296"/>
            <a:ext cx="5334000" cy="2351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5000"/>
              </a:lnSpc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Traverse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H) {</a:t>
            </a:r>
          </a:p>
          <a:p>
            <a:pPr eaLnBrk="1" hangingPunct="1">
              <a:lnSpc>
                <a:spcPct val="95000"/>
              </a:lnSpc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P;</a:t>
            </a:r>
          </a:p>
          <a:p>
            <a:pPr eaLnBrk="1" hangingPunct="1">
              <a:lnSpc>
                <a:spcPct val="95000"/>
              </a:lnSpc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P = H;</a:t>
            </a:r>
          </a:p>
          <a:p>
            <a:pPr eaLnBrk="1" hangingPunct="1">
              <a:lnSpc>
                <a:spcPct val="95000"/>
              </a:lnSpc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while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(P != NULL) {</a:t>
            </a:r>
            <a:endParaRPr lang="en-US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process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(P);</a:t>
            </a:r>
          </a:p>
          <a:p>
            <a:pPr eaLnBrk="1" hangingPunct="1">
              <a:lnSpc>
                <a:spcPct val="95000"/>
              </a:lnSpc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P = P-&gt;next;</a:t>
            </a:r>
          </a:p>
          <a:p>
            <a:pPr eaLnBrk="1" hangingPunct="1">
              <a:lnSpc>
                <a:spcPct val="95000"/>
              </a:lnSpc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5000"/>
              </a:lnSpc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98612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C340C29-FEE9-4172-8432-F50F3FF25DB9}" type="slidenum">
              <a:rPr lang="en-US" altLang="en-US" sz="1400"/>
              <a:pPr eaLnBrk="1" hangingPunct="1"/>
              <a:t>17</a:t>
            </a:fld>
            <a:endParaRPr lang="en-US" altLang="en-US" sz="140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CÀI ĐẶT 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NỐI ĐƠN </a:t>
            </a:r>
            <a:endParaRPr lang="en-US" dirty="0"/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444500" y="2257421"/>
            <a:ext cx="8674100" cy="3090192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InsertAfter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P,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K){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Insert a new node Q contains value K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 is empty then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Q-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&gt;next = NULL;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H=Q;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Q-&gt;next=P-&gt;next;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P-&gt;next = Q;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Q;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089955" y="3124200"/>
            <a:ext cx="2820365" cy="1196483"/>
            <a:chOff x="6089955" y="3124200"/>
            <a:chExt cx="2820365" cy="1196483"/>
          </a:xfrm>
        </p:grpSpPr>
        <p:sp>
          <p:nvSpPr>
            <p:cNvPr id="14343" name="Line 5"/>
            <p:cNvSpPr>
              <a:spLocks noChangeShapeType="1"/>
            </p:cNvSpPr>
            <p:nvPr/>
          </p:nvSpPr>
          <p:spPr bwMode="auto">
            <a:xfrm>
              <a:off x="6089955" y="4089804"/>
              <a:ext cx="532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4" name="Rectangle 6"/>
            <p:cNvSpPr>
              <a:spLocks noChangeArrowheads="1"/>
            </p:cNvSpPr>
            <p:nvPr/>
          </p:nvSpPr>
          <p:spPr bwMode="auto">
            <a:xfrm>
              <a:off x="6622099" y="3916644"/>
              <a:ext cx="351437" cy="4028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1800"/>
            </a:p>
          </p:txBody>
        </p:sp>
        <p:sp>
          <p:nvSpPr>
            <p:cNvPr id="14345" name="Rectangle 7"/>
            <p:cNvSpPr>
              <a:spLocks noChangeArrowheads="1"/>
            </p:cNvSpPr>
            <p:nvPr/>
          </p:nvSpPr>
          <p:spPr bwMode="auto">
            <a:xfrm>
              <a:off x="6973536" y="3917847"/>
              <a:ext cx="233922" cy="4028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14346" name="Line 8"/>
            <p:cNvSpPr>
              <a:spLocks noChangeShapeType="1"/>
            </p:cNvSpPr>
            <p:nvPr/>
          </p:nvSpPr>
          <p:spPr bwMode="auto">
            <a:xfrm>
              <a:off x="7101029" y="4089804"/>
              <a:ext cx="691788" cy="0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olid"/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9" name="Line 11"/>
            <p:cNvSpPr>
              <a:spLocks noChangeShapeType="1"/>
            </p:cNvSpPr>
            <p:nvPr/>
          </p:nvSpPr>
          <p:spPr bwMode="auto">
            <a:xfrm flipV="1">
              <a:off x="8324961" y="4147523"/>
              <a:ext cx="5853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4350" name="Group 12"/>
            <p:cNvGrpSpPr>
              <a:grpSpLocks/>
            </p:cNvGrpSpPr>
            <p:nvPr/>
          </p:nvGrpSpPr>
          <p:grpSpPr bwMode="auto">
            <a:xfrm>
              <a:off x="7792817" y="3916644"/>
              <a:ext cx="638573" cy="404038"/>
              <a:chOff x="4800" y="1768"/>
              <a:chExt cx="480" cy="248"/>
            </a:xfrm>
          </p:grpSpPr>
          <p:sp>
            <p:nvSpPr>
              <p:cNvPr id="14360" name="Rectangle 13"/>
              <p:cNvSpPr>
                <a:spLocks noChangeArrowheads="1"/>
              </p:cNvSpPr>
              <p:nvPr/>
            </p:nvSpPr>
            <p:spPr bwMode="auto">
              <a:xfrm>
                <a:off x="4800" y="1768"/>
                <a:ext cx="288" cy="24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altLang="en-US" sz="1800"/>
              </a:p>
            </p:txBody>
          </p:sp>
          <p:sp>
            <p:nvSpPr>
              <p:cNvPr id="14361" name="Rectangle 14"/>
              <p:cNvSpPr>
                <a:spLocks noChangeArrowheads="1"/>
              </p:cNvSpPr>
              <p:nvPr/>
            </p:nvSpPr>
            <p:spPr bwMode="auto">
              <a:xfrm>
                <a:off x="5088" y="1769"/>
                <a:ext cx="192" cy="24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1800"/>
              </a:p>
            </p:txBody>
          </p:sp>
        </p:grpSp>
        <p:sp>
          <p:nvSpPr>
            <p:cNvPr id="14351" name="Line 15"/>
            <p:cNvSpPr>
              <a:spLocks noChangeShapeType="1"/>
            </p:cNvSpPr>
            <p:nvPr/>
          </p:nvSpPr>
          <p:spPr bwMode="auto">
            <a:xfrm>
              <a:off x="6834957" y="3512606"/>
              <a:ext cx="0" cy="4040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2" name="Rectangle 16"/>
            <p:cNvSpPr>
              <a:spLocks noChangeArrowheads="1"/>
            </p:cNvSpPr>
            <p:nvPr/>
          </p:nvSpPr>
          <p:spPr bwMode="auto">
            <a:xfrm>
              <a:off x="6426980" y="3124200"/>
              <a:ext cx="237248" cy="300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 dirty="0"/>
                <a:t>P</a:t>
              </a:r>
            </a:p>
          </p:txBody>
        </p:sp>
        <p:sp>
          <p:nvSpPr>
            <p:cNvPr id="14358" name="Rectangle 22"/>
            <p:cNvSpPr>
              <a:spLocks noChangeArrowheads="1"/>
            </p:cNvSpPr>
            <p:nvPr/>
          </p:nvSpPr>
          <p:spPr bwMode="auto">
            <a:xfrm>
              <a:off x="6707464" y="3224007"/>
              <a:ext cx="233922" cy="4028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994600" y="4724721"/>
            <a:ext cx="745003" cy="1038956"/>
            <a:chOff x="6994600" y="4724721"/>
            <a:chExt cx="745003" cy="1038956"/>
          </a:xfrm>
        </p:grpSpPr>
        <p:sp>
          <p:nvSpPr>
            <p:cNvPr id="14347" name="Rectangle 9"/>
            <p:cNvSpPr>
              <a:spLocks noChangeArrowheads="1"/>
            </p:cNvSpPr>
            <p:nvPr/>
          </p:nvSpPr>
          <p:spPr bwMode="auto">
            <a:xfrm>
              <a:off x="6994600" y="4724721"/>
              <a:ext cx="425715" cy="40403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dirty="0"/>
                <a:t>K</a:t>
              </a:r>
            </a:p>
          </p:txBody>
        </p:sp>
        <p:sp>
          <p:nvSpPr>
            <p:cNvPr id="14348" name="Rectangle 10"/>
            <p:cNvSpPr>
              <a:spLocks noChangeArrowheads="1"/>
            </p:cNvSpPr>
            <p:nvPr/>
          </p:nvSpPr>
          <p:spPr bwMode="auto">
            <a:xfrm>
              <a:off x="7420316" y="4724721"/>
              <a:ext cx="319287" cy="40403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14353" name="Rectangle 17"/>
            <p:cNvSpPr>
              <a:spLocks noChangeArrowheads="1"/>
            </p:cNvSpPr>
            <p:nvPr/>
          </p:nvSpPr>
          <p:spPr bwMode="auto">
            <a:xfrm>
              <a:off x="7367101" y="5405333"/>
              <a:ext cx="266072" cy="300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Q</a:t>
              </a:r>
            </a:p>
          </p:txBody>
        </p:sp>
        <p:sp>
          <p:nvSpPr>
            <p:cNvPr id="14354" name="Line 18"/>
            <p:cNvSpPr>
              <a:spLocks noChangeShapeType="1"/>
            </p:cNvSpPr>
            <p:nvPr/>
          </p:nvSpPr>
          <p:spPr bwMode="auto">
            <a:xfrm flipV="1">
              <a:off x="7260673" y="5128760"/>
              <a:ext cx="0" cy="3463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9" name="Rectangle 23"/>
            <p:cNvSpPr>
              <a:spLocks noChangeArrowheads="1"/>
            </p:cNvSpPr>
            <p:nvPr/>
          </p:nvSpPr>
          <p:spPr bwMode="auto">
            <a:xfrm>
              <a:off x="7133180" y="5360841"/>
              <a:ext cx="233922" cy="4028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</p:grpSp>
      <p:sp>
        <p:nvSpPr>
          <p:cNvPr id="27" name="Rectangle 2"/>
          <p:cNvSpPr txBox="1">
            <a:spLocks noChangeArrowheads="1"/>
          </p:cNvSpPr>
          <p:nvPr/>
        </p:nvSpPr>
        <p:spPr bwMode="auto">
          <a:xfrm>
            <a:off x="263383" y="976243"/>
            <a:ext cx="8686800" cy="1175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altLang="en-US" dirty="0" err="1"/>
              <a:t>Bổ</a:t>
            </a:r>
            <a:r>
              <a:rPr lang="en-US" altLang="en-US" dirty="0"/>
              <a:t> sung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 smtClean="0"/>
              <a:t>phần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tử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mới</a:t>
            </a:r>
            <a:r>
              <a:rPr lang="en-US" altLang="en-US" dirty="0" smtClean="0"/>
              <a:t> </a:t>
            </a:r>
            <a:r>
              <a:rPr lang="en-US" altLang="en-US" dirty="0"/>
              <a:t>K </a:t>
            </a:r>
            <a:r>
              <a:rPr lang="en-US" altLang="en-US" dirty="0" err="1"/>
              <a:t>vào</a:t>
            </a:r>
            <a:r>
              <a:rPr lang="en-US" altLang="en-US" dirty="0"/>
              <a:t> </a:t>
            </a:r>
            <a:r>
              <a:rPr lang="en-US" altLang="en-US" dirty="0" err="1"/>
              <a:t>sau</a:t>
            </a:r>
            <a:r>
              <a:rPr lang="en-US" altLang="en-US" dirty="0"/>
              <a:t> </a:t>
            </a:r>
            <a:r>
              <a:rPr lang="en-US" altLang="en-US" dirty="0" err="1" smtClean="0"/>
              <a:t>phần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tử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hiện</a:t>
            </a:r>
            <a:r>
              <a:rPr lang="en-US" altLang="en-US" dirty="0" smtClean="0"/>
              <a:t> </a:t>
            </a:r>
            <a:r>
              <a:rPr lang="en-US" altLang="en-US" dirty="0" err="1"/>
              <a:t>tại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trỏ</a:t>
            </a:r>
            <a:r>
              <a:rPr lang="en-US" altLang="en-US" dirty="0"/>
              <a:t> </a:t>
            </a:r>
            <a:r>
              <a:rPr lang="en-US" altLang="en-US" dirty="0" err="1"/>
              <a:t>bởi</a:t>
            </a:r>
            <a:r>
              <a:rPr lang="en-US" altLang="en-US" dirty="0"/>
              <a:t> P </a:t>
            </a:r>
            <a:r>
              <a:rPr lang="en-US" altLang="en-US" dirty="0" err="1"/>
              <a:t>trong</a:t>
            </a:r>
            <a:r>
              <a:rPr lang="en-US" altLang="en-US" dirty="0"/>
              <a:t> d/s H. </a:t>
            </a:r>
            <a:r>
              <a:rPr lang="en-US" altLang="en-US" dirty="0" err="1"/>
              <a:t>Trả</a:t>
            </a:r>
            <a:r>
              <a:rPr lang="en-US" altLang="en-US" dirty="0"/>
              <a:t> </a:t>
            </a:r>
            <a:r>
              <a:rPr lang="en-US" altLang="en-US" dirty="0" err="1"/>
              <a:t>về</a:t>
            </a:r>
            <a:r>
              <a:rPr lang="en-US" altLang="en-US" dirty="0"/>
              <a:t> con </a:t>
            </a:r>
            <a:r>
              <a:rPr lang="en-US" altLang="en-US" dirty="0" err="1"/>
              <a:t>trỏ</a:t>
            </a:r>
            <a:r>
              <a:rPr lang="en-US" altLang="en-US" dirty="0"/>
              <a:t> </a:t>
            </a:r>
            <a:r>
              <a:rPr lang="en-US" altLang="en-US" dirty="0" err="1"/>
              <a:t>trỏ</a:t>
            </a:r>
            <a:r>
              <a:rPr lang="en-US" altLang="en-US" dirty="0"/>
              <a:t> </a:t>
            </a:r>
            <a:r>
              <a:rPr lang="en-US" altLang="en-US" dirty="0" err="1"/>
              <a:t>vào</a:t>
            </a:r>
            <a:r>
              <a:rPr lang="en-US" altLang="en-US" dirty="0"/>
              <a:t> </a:t>
            </a:r>
            <a:r>
              <a:rPr lang="en-US" altLang="en-US" dirty="0" err="1"/>
              <a:t>nút</a:t>
            </a:r>
            <a:r>
              <a:rPr lang="en-US" altLang="en-US" dirty="0"/>
              <a:t> </a:t>
            </a:r>
            <a:r>
              <a:rPr lang="en-US" altLang="en-US" dirty="0" err="1"/>
              <a:t>vừa</a:t>
            </a:r>
            <a:r>
              <a:rPr lang="en-US" altLang="en-US" dirty="0"/>
              <a:t> </a:t>
            </a:r>
            <a:r>
              <a:rPr lang="en-US" altLang="en-US" dirty="0" err="1"/>
              <a:t>bổ</a:t>
            </a:r>
            <a:r>
              <a:rPr lang="en-US" altLang="en-US" dirty="0"/>
              <a:t> sung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101029" y="3927058"/>
            <a:ext cx="691788" cy="970823"/>
            <a:chOff x="7101029" y="3927058"/>
            <a:chExt cx="691788" cy="970823"/>
          </a:xfrm>
        </p:grpSpPr>
        <p:sp>
          <p:nvSpPr>
            <p:cNvPr id="14356" name="Line 20"/>
            <p:cNvSpPr>
              <a:spLocks noChangeShapeType="1"/>
            </p:cNvSpPr>
            <p:nvPr/>
          </p:nvSpPr>
          <p:spPr bwMode="auto">
            <a:xfrm>
              <a:off x="7101029" y="4205243"/>
              <a:ext cx="106429" cy="5194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7" name="Line 21"/>
            <p:cNvSpPr>
              <a:spLocks noChangeShapeType="1"/>
            </p:cNvSpPr>
            <p:nvPr/>
          </p:nvSpPr>
          <p:spPr bwMode="auto">
            <a:xfrm flipV="1">
              <a:off x="7579959" y="4320683"/>
              <a:ext cx="212858" cy="5771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8"/>
            <p:cNvSpPr>
              <a:spLocks noChangeShapeType="1"/>
            </p:cNvSpPr>
            <p:nvPr/>
          </p:nvSpPr>
          <p:spPr bwMode="auto">
            <a:xfrm>
              <a:off x="7101029" y="4050915"/>
              <a:ext cx="691788" cy="0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19"/>
            <p:cNvSpPr>
              <a:spLocks noChangeArrowheads="1"/>
            </p:cNvSpPr>
            <p:nvPr/>
          </p:nvSpPr>
          <p:spPr bwMode="auto">
            <a:xfrm>
              <a:off x="7313887" y="3927058"/>
              <a:ext cx="212858" cy="297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dirty="0"/>
                <a:t>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455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C340C29-FEE9-4172-8432-F50F3FF25DB9}" type="slidenum">
              <a:rPr lang="en-US" altLang="en-US" sz="1400"/>
              <a:pPr eaLnBrk="1" hangingPunct="1"/>
              <a:t>18</a:t>
            </a:fld>
            <a:endParaRPr lang="en-US" altLang="en-US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CÀI ĐẶT 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NỐI ĐƠN </a:t>
            </a:r>
            <a:endParaRPr lang="en-US" dirty="0"/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457200" indent="-4572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InsertAfter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H, </a:t>
            </a:r>
            <a:r>
              <a:rPr lang="en-US" alt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P, </a:t>
            </a:r>
            <a:r>
              <a:rPr lang="en-US" alt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K){</a:t>
            </a:r>
          </a:p>
          <a:p>
            <a:pPr marL="457200" indent="-4572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Q = new Node;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Q-&gt;info = K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457200" indent="-4572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if (P==NULL){</a:t>
            </a:r>
          </a:p>
          <a:p>
            <a:pPr marL="457200" indent="-4572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return NULL;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}else if (H==NUL){</a:t>
            </a:r>
          </a:p>
          <a:p>
            <a:pPr marL="457200" indent="-4572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H = Q;</a:t>
            </a:r>
          </a:p>
          <a:p>
            <a:pPr marL="457200" indent="-4572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Q-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&gt;next = NULL;</a:t>
            </a:r>
            <a:endParaRPr lang="en-US" alt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}else {</a:t>
            </a:r>
          </a:p>
          <a:p>
            <a:pPr marL="457200" indent="-4572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Q-&gt;next = P-&gt;next;</a:t>
            </a:r>
          </a:p>
          <a:p>
            <a:pPr marL="457200" indent="-4572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P-&gt;next = Q;</a:t>
            </a:r>
          </a:p>
          <a:p>
            <a:pPr marL="457200" indent="-4572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457200" indent="-4572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return Q;</a:t>
            </a:r>
          </a:p>
          <a:p>
            <a:pPr marL="457200" indent="-4572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14342" name="Group 4"/>
          <p:cNvGrpSpPr>
            <a:grpSpLocks/>
          </p:cNvGrpSpPr>
          <p:nvPr/>
        </p:nvGrpSpPr>
        <p:grpSpPr bwMode="auto">
          <a:xfrm>
            <a:off x="6130595" y="2971800"/>
            <a:ext cx="2820365" cy="2639477"/>
            <a:chOff x="3024" y="1549"/>
            <a:chExt cx="2544" cy="2195"/>
          </a:xfrm>
        </p:grpSpPr>
        <p:sp>
          <p:nvSpPr>
            <p:cNvPr id="14343" name="Line 5"/>
            <p:cNvSpPr>
              <a:spLocks noChangeShapeType="1"/>
            </p:cNvSpPr>
            <p:nvPr/>
          </p:nvSpPr>
          <p:spPr bwMode="auto">
            <a:xfrm>
              <a:off x="3024" y="2352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4" name="Rectangle 6"/>
            <p:cNvSpPr>
              <a:spLocks noChangeArrowheads="1"/>
            </p:cNvSpPr>
            <p:nvPr/>
          </p:nvSpPr>
          <p:spPr bwMode="auto">
            <a:xfrm>
              <a:off x="3504" y="2208"/>
              <a:ext cx="317" cy="33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1800"/>
            </a:p>
          </p:txBody>
        </p:sp>
        <p:sp>
          <p:nvSpPr>
            <p:cNvPr id="14345" name="Rectangle 7"/>
            <p:cNvSpPr>
              <a:spLocks noChangeArrowheads="1"/>
            </p:cNvSpPr>
            <p:nvPr/>
          </p:nvSpPr>
          <p:spPr bwMode="auto">
            <a:xfrm>
              <a:off x="3821" y="2209"/>
              <a:ext cx="211" cy="33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14346" name="Line 8"/>
            <p:cNvSpPr>
              <a:spLocks noChangeShapeType="1"/>
            </p:cNvSpPr>
            <p:nvPr/>
          </p:nvSpPr>
          <p:spPr bwMode="auto">
            <a:xfrm>
              <a:off x="3936" y="2352"/>
              <a:ext cx="624" cy="0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7" name="Rectangle 9"/>
            <p:cNvSpPr>
              <a:spLocks noChangeArrowheads="1"/>
            </p:cNvSpPr>
            <p:nvPr/>
          </p:nvSpPr>
          <p:spPr bwMode="auto">
            <a:xfrm>
              <a:off x="3840" y="2880"/>
              <a:ext cx="384" cy="3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/>
                <a:t>K</a:t>
              </a:r>
            </a:p>
          </p:txBody>
        </p:sp>
        <p:sp>
          <p:nvSpPr>
            <p:cNvPr id="14348" name="Rectangle 10"/>
            <p:cNvSpPr>
              <a:spLocks noChangeArrowheads="1"/>
            </p:cNvSpPr>
            <p:nvPr/>
          </p:nvSpPr>
          <p:spPr bwMode="auto">
            <a:xfrm>
              <a:off x="4224" y="2880"/>
              <a:ext cx="288" cy="3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14349" name="Line 11"/>
            <p:cNvSpPr>
              <a:spLocks noChangeShapeType="1"/>
            </p:cNvSpPr>
            <p:nvPr/>
          </p:nvSpPr>
          <p:spPr bwMode="auto">
            <a:xfrm flipV="1">
              <a:off x="5040" y="240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4350" name="Group 12"/>
            <p:cNvGrpSpPr>
              <a:grpSpLocks/>
            </p:cNvGrpSpPr>
            <p:nvPr/>
          </p:nvGrpSpPr>
          <p:grpSpPr bwMode="auto">
            <a:xfrm>
              <a:off x="4560" y="2208"/>
              <a:ext cx="576" cy="336"/>
              <a:chOff x="4800" y="1768"/>
              <a:chExt cx="480" cy="248"/>
            </a:xfrm>
          </p:grpSpPr>
          <p:sp>
            <p:nvSpPr>
              <p:cNvPr id="14360" name="Rectangle 13"/>
              <p:cNvSpPr>
                <a:spLocks noChangeArrowheads="1"/>
              </p:cNvSpPr>
              <p:nvPr/>
            </p:nvSpPr>
            <p:spPr bwMode="auto">
              <a:xfrm>
                <a:off x="4800" y="1768"/>
                <a:ext cx="288" cy="24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altLang="en-US" sz="1800"/>
              </a:p>
            </p:txBody>
          </p:sp>
          <p:sp>
            <p:nvSpPr>
              <p:cNvPr id="14361" name="Rectangle 14"/>
              <p:cNvSpPr>
                <a:spLocks noChangeArrowheads="1"/>
              </p:cNvSpPr>
              <p:nvPr/>
            </p:nvSpPr>
            <p:spPr bwMode="auto">
              <a:xfrm>
                <a:off x="5088" y="1769"/>
                <a:ext cx="192" cy="24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1800"/>
              </a:p>
            </p:txBody>
          </p:sp>
        </p:grpSp>
        <p:sp>
          <p:nvSpPr>
            <p:cNvPr id="14351" name="Line 15"/>
            <p:cNvSpPr>
              <a:spLocks noChangeShapeType="1"/>
            </p:cNvSpPr>
            <p:nvPr/>
          </p:nvSpPr>
          <p:spPr bwMode="auto">
            <a:xfrm>
              <a:off x="3696" y="187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2" name="Rectangle 16"/>
            <p:cNvSpPr>
              <a:spLocks noChangeArrowheads="1"/>
            </p:cNvSpPr>
            <p:nvPr/>
          </p:nvSpPr>
          <p:spPr bwMode="auto">
            <a:xfrm>
              <a:off x="3328" y="1549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 dirty="0"/>
                <a:t>P</a:t>
              </a:r>
            </a:p>
          </p:txBody>
        </p:sp>
        <p:sp>
          <p:nvSpPr>
            <p:cNvPr id="14353" name="Rectangle 17"/>
            <p:cNvSpPr>
              <a:spLocks noChangeArrowheads="1"/>
            </p:cNvSpPr>
            <p:nvPr/>
          </p:nvSpPr>
          <p:spPr bwMode="auto">
            <a:xfrm>
              <a:off x="4176" y="3446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Q</a:t>
              </a:r>
            </a:p>
          </p:txBody>
        </p:sp>
        <p:sp>
          <p:nvSpPr>
            <p:cNvPr id="14354" name="Line 18"/>
            <p:cNvSpPr>
              <a:spLocks noChangeShapeType="1"/>
            </p:cNvSpPr>
            <p:nvPr/>
          </p:nvSpPr>
          <p:spPr bwMode="auto">
            <a:xfrm flipV="1">
              <a:off x="4080" y="321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5" name="Rectangle 19"/>
            <p:cNvSpPr>
              <a:spLocks noChangeArrowheads="1"/>
            </p:cNvSpPr>
            <p:nvPr/>
          </p:nvSpPr>
          <p:spPr bwMode="auto">
            <a:xfrm>
              <a:off x="4128" y="2249"/>
              <a:ext cx="192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/>
                <a:t>/</a:t>
              </a:r>
            </a:p>
          </p:txBody>
        </p:sp>
        <p:sp>
          <p:nvSpPr>
            <p:cNvPr id="14356" name="Line 20"/>
            <p:cNvSpPr>
              <a:spLocks noChangeShapeType="1"/>
            </p:cNvSpPr>
            <p:nvPr/>
          </p:nvSpPr>
          <p:spPr bwMode="auto">
            <a:xfrm>
              <a:off x="3936" y="2448"/>
              <a:ext cx="96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7" name="Line 21"/>
            <p:cNvSpPr>
              <a:spLocks noChangeShapeType="1"/>
            </p:cNvSpPr>
            <p:nvPr/>
          </p:nvSpPr>
          <p:spPr bwMode="auto">
            <a:xfrm flipV="1">
              <a:off x="4368" y="2544"/>
              <a:ext cx="192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8" name="Rectangle 22"/>
            <p:cNvSpPr>
              <a:spLocks noChangeArrowheads="1"/>
            </p:cNvSpPr>
            <p:nvPr/>
          </p:nvSpPr>
          <p:spPr bwMode="auto">
            <a:xfrm>
              <a:off x="3581" y="1632"/>
              <a:ext cx="211" cy="33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14359" name="Rectangle 23"/>
            <p:cNvSpPr>
              <a:spLocks noChangeArrowheads="1"/>
            </p:cNvSpPr>
            <p:nvPr/>
          </p:nvSpPr>
          <p:spPr bwMode="auto">
            <a:xfrm>
              <a:off x="3965" y="3409"/>
              <a:ext cx="211" cy="33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756040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58BB4BE-506F-4F80-88EA-AB54042E48FE}" type="slidenum">
              <a:rPr lang="en-US" altLang="en-US" sz="1400"/>
              <a:pPr eaLnBrk="1" hangingPunct="1"/>
              <a:t>19</a:t>
            </a:fld>
            <a:endParaRPr lang="en-US" altLang="en-US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CÀI ĐẶT 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NỐI ĐƠN </a:t>
            </a:r>
            <a:endParaRPr lang="en-US" dirty="0"/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body" sz="quarter" idx="13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sz="2400" dirty="0" err="1" smtClean="0">
                <a:cs typeface="Times New Roman" panose="02020603050405020304" pitchFamily="18" charset="0"/>
              </a:rPr>
              <a:t>Chèn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một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phần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tử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mới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Times New Roman" panose="02020603050405020304" pitchFamily="18" charset="0"/>
              </a:rPr>
              <a:t>K </a:t>
            </a:r>
            <a:r>
              <a:rPr lang="vi-VN" altLang="en-US" sz="2400" dirty="0" smtClean="0">
                <a:cs typeface="Times New Roman" panose="02020603050405020304" pitchFamily="18" charset="0"/>
              </a:rPr>
              <a:t>vào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vị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trí</a:t>
            </a:r>
            <a:r>
              <a:rPr lang="vi-VN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phần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tử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hiện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tại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được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trỏ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bởi</a:t>
            </a:r>
            <a:r>
              <a:rPr lang="en-US" altLang="en-US" sz="2400" dirty="0">
                <a:cs typeface="Times New Roman" panose="02020603050405020304" pitchFamily="18" charset="0"/>
              </a:rPr>
              <a:t> P </a:t>
            </a:r>
            <a:r>
              <a:rPr lang="en-US" altLang="en-US" sz="2400" dirty="0" err="1">
                <a:cs typeface="Times New Roman" panose="02020603050405020304" pitchFamily="18" charset="0"/>
              </a:rPr>
              <a:t>trong</a:t>
            </a:r>
            <a:r>
              <a:rPr lang="en-US" altLang="en-US" sz="2400" dirty="0">
                <a:cs typeface="Times New Roman" panose="02020603050405020304" pitchFamily="18" charset="0"/>
              </a:rPr>
              <a:t> d/s 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H, </a:t>
            </a:r>
            <a:r>
              <a:rPr lang="en-US" sz="2400" dirty="0" err="1"/>
              <a:t>đẩy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r>
              <a:rPr lang="en-US" sz="2400" dirty="0"/>
              <a:t> </a:t>
            </a:r>
            <a:r>
              <a:rPr lang="en-US" sz="2400" dirty="0" err="1"/>
              <a:t>đuôi</a:t>
            </a:r>
            <a:r>
              <a:rPr lang="en-US" sz="2400" dirty="0"/>
              <a:t> </a:t>
            </a:r>
            <a:r>
              <a:rPr lang="en-US" sz="2400" dirty="0" err="1"/>
              <a:t>lùi</a:t>
            </a:r>
            <a:r>
              <a:rPr lang="en-US" sz="2400" dirty="0"/>
              <a:t> </a:t>
            </a:r>
            <a:r>
              <a:rPr lang="en-US" sz="2400" dirty="0" err="1" smtClean="0"/>
              <a:t>xuống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. </a:t>
            </a:r>
            <a:r>
              <a:rPr lang="en-US" altLang="en-US" sz="2400" dirty="0" err="1">
                <a:cs typeface="Times New Roman" panose="02020603050405020304" pitchFamily="18" charset="0"/>
              </a:rPr>
              <a:t>Trả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về</a:t>
            </a:r>
            <a:r>
              <a:rPr lang="en-US" altLang="en-US" sz="2400" dirty="0">
                <a:cs typeface="Times New Roman" panose="02020603050405020304" pitchFamily="18" charset="0"/>
              </a:rPr>
              <a:t> con </a:t>
            </a:r>
            <a:r>
              <a:rPr lang="en-US" altLang="en-US" sz="2400" dirty="0" err="1">
                <a:cs typeface="Times New Roman" panose="02020603050405020304" pitchFamily="18" charset="0"/>
              </a:rPr>
              <a:t>trỏ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trỏ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vào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nút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vừa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bổ</a:t>
            </a:r>
            <a:r>
              <a:rPr lang="en-US" altLang="en-US" sz="2400" dirty="0">
                <a:cs typeface="Times New Roman" panose="02020603050405020304" pitchFamily="18" charset="0"/>
              </a:rPr>
              <a:t> sung </a:t>
            </a:r>
          </a:p>
        </p:txBody>
      </p:sp>
      <p:sp>
        <p:nvSpPr>
          <p:cNvPr id="15366" name="Rectangle 4"/>
          <p:cNvSpPr>
            <a:spLocks noChangeArrowheads="1"/>
          </p:cNvSpPr>
          <p:nvPr/>
        </p:nvSpPr>
        <p:spPr bwMode="auto">
          <a:xfrm>
            <a:off x="166852" y="2373058"/>
            <a:ext cx="7247497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None/>
            </a:pP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vi-VN" altLang="en-US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AtP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K) {</a:t>
            </a:r>
          </a:p>
          <a:p>
            <a:pPr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Insert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new node Q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containing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value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 is empty then</a:t>
            </a: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Q-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&gt;next = NULL;</a:t>
            </a:r>
          </a:p>
          <a:p>
            <a:pPr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H=Q;</a:t>
            </a:r>
          </a:p>
          <a:p>
            <a:pPr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Q;</a:t>
            </a: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Move value </a:t>
            </a:r>
            <a:r>
              <a:rPr lang="en-US" altLang="en-US" b="1" i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P to Q</a:t>
            </a: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Update value of P to </a:t>
            </a:r>
            <a:r>
              <a:rPr lang="en-US" altLang="en-US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Q-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&gt;next = P-&gt;next; </a:t>
            </a:r>
          </a:p>
          <a:p>
            <a:pPr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P-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&gt;next=Q;</a:t>
            </a:r>
          </a:p>
          <a:p>
            <a:pPr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	return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P;</a:t>
            </a:r>
          </a:p>
          <a:p>
            <a:pPr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638800" y="2882044"/>
            <a:ext cx="3333509" cy="1283154"/>
            <a:chOff x="5810491" y="2882044"/>
            <a:chExt cx="3333509" cy="1283154"/>
          </a:xfrm>
        </p:grpSpPr>
        <p:sp>
          <p:nvSpPr>
            <p:cNvPr id="15368" name="Line 6"/>
            <p:cNvSpPr>
              <a:spLocks noChangeShapeType="1"/>
            </p:cNvSpPr>
            <p:nvPr/>
          </p:nvSpPr>
          <p:spPr bwMode="auto">
            <a:xfrm>
              <a:off x="5810491" y="3882993"/>
              <a:ext cx="6289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69" name="Rectangle 8"/>
            <p:cNvSpPr>
              <a:spLocks noChangeArrowheads="1"/>
            </p:cNvSpPr>
            <p:nvPr/>
          </p:nvSpPr>
          <p:spPr bwMode="auto">
            <a:xfrm>
              <a:off x="6439455" y="3671338"/>
              <a:ext cx="415378" cy="4923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 dirty="0"/>
                <a:t>a</a:t>
              </a:r>
            </a:p>
          </p:txBody>
        </p:sp>
        <p:sp>
          <p:nvSpPr>
            <p:cNvPr id="15370" name="Rectangle 9"/>
            <p:cNvSpPr>
              <a:spLocks noChangeArrowheads="1"/>
            </p:cNvSpPr>
            <p:nvPr/>
          </p:nvSpPr>
          <p:spPr bwMode="auto">
            <a:xfrm>
              <a:off x="6854833" y="3672808"/>
              <a:ext cx="276482" cy="4923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15371" name="Line 10"/>
            <p:cNvSpPr>
              <a:spLocks noChangeShapeType="1"/>
            </p:cNvSpPr>
            <p:nvPr/>
          </p:nvSpPr>
          <p:spPr bwMode="auto">
            <a:xfrm>
              <a:off x="7005523" y="3882993"/>
              <a:ext cx="817653" cy="0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olid"/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4" name="Line 13"/>
            <p:cNvSpPr>
              <a:spLocks noChangeShapeType="1"/>
            </p:cNvSpPr>
            <p:nvPr/>
          </p:nvSpPr>
          <p:spPr bwMode="auto">
            <a:xfrm flipV="1">
              <a:off x="8452140" y="3886200"/>
              <a:ext cx="6918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5375" name="Group 14"/>
            <p:cNvGrpSpPr>
              <a:grpSpLocks/>
            </p:cNvGrpSpPr>
            <p:nvPr/>
          </p:nvGrpSpPr>
          <p:grpSpPr bwMode="auto">
            <a:xfrm>
              <a:off x="7823176" y="3671338"/>
              <a:ext cx="754757" cy="493860"/>
              <a:chOff x="4800" y="1768"/>
              <a:chExt cx="480" cy="248"/>
            </a:xfrm>
          </p:grpSpPr>
          <p:sp>
            <p:nvSpPr>
              <p:cNvPr id="15388" name="Rectangle 15"/>
              <p:cNvSpPr>
                <a:spLocks noChangeArrowheads="1"/>
              </p:cNvSpPr>
              <p:nvPr/>
            </p:nvSpPr>
            <p:spPr bwMode="auto">
              <a:xfrm>
                <a:off x="4800" y="1768"/>
                <a:ext cx="288" cy="24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altLang="en-US" sz="1800"/>
              </a:p>
            </p:txBody>
          </p:sp>
          <p:sp>
            <p:nvSpPr>
              <p:cNvPr id="15389" name="Rectangle 16"/>
              <p:cNvSpPr>
                <a:spLocks noChangeArrowheads="1"/>
              </p:cNvSpPr>
              <p:nvPr/>
            </p:nvSpPr>
            <p:spPr bwMode="auto">
              <a:xfrm>
                <a:off x="5088" y="1769"/>
                <a:ext cx="192" cy="24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1800"/>
              </a:p>
            </p:txBody>
          </p:sp>
        </p:grpSp>
        <p:sp>
          <p:nvSpPr>
            <p:cNvPr id="15376" name="Line 17"/>
            <p:cNvSpPr>
              <a:spLocks noChangeShapeType="1"/>
            </p:cNvSpPr>
            <p:nvPr/>
          </p:nvSpPr>
          <p:spPr bwMode="auto">
            <a:xfrm>
              <a:off x="6691041" y="3177478"/>
              <a:ext cx="0" cy="4938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7" name="Rectangle 19"/>
            <p:cNvSpPr>
              <a:spLocks noChangeArrowheads="1"/>
            </p:cNvSpPr>
            <p:nvPr/>
          </p:nvSpPr>
          <p:spPr bwMode="auto">
            <a:xfrm>
              <a:off x="6850902" y="2937897"/>
              <a:ext cx="297448" cy="367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P</a:t>
              </a:r>
            </a:p>
          </p:txBody>
        </p:sp>
        <p:sp>
          <p:nvSpPr>
            <p:cNvPr id="15386" name="Rectangle 30"/>
            <p:cNvSpPr>
              <a:spLocks noChangeArrowheads="1"/>
            </p:cNvSpPr>
            <p:nvPr/>
          </p:nvSpPr>
          <p:spPr bwMode="auto">
            <a:xfrm>
              <a:off x="6540351" y="2882044"/>
              <a:ext cx="276482" cy="4923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708039" y="4659058"/>
            <a:ext cx="880549" cy="1256698"/>
            <a:chOff x="6879730" y="4659058"/>
            <a:chExt cx="880549" cy="1256698"/>
          </a:xfrm>
        </p:grpSpPr>
        <p:sp>
          <p:nvSpPr>
            <p:cNvPr id="15372" name="Rectangle 11"/>
            <p:cNvSpPr>
              <a:spLocks noChangeArrowheads="1"/>
            </p:cNvSpPr>
            <p:nvPr/>
          </p:nvSpPr>
          <p:spPr bwMode="auto">
            <a:xfrm>
              <a:off x="6879730" y="4659058"/>
              <a:ext cx="503171" cy="49386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000" dirty="0"/>
            </a:p>
          </p:txBody>
        </p:sp>
        <p:sp>
          <p:nvSpPr>
            <p:cNvPr id="15373" name="Rectangle 12"/>
            <p:cNvSpPr>
              <a:spLocks noChangeArrowheads="1"/>
            </p:cNvSpPr>
            <p:nvPr/>
          </p:nvSpPr>
          <p:spPr bwMode="auto">
            <a:xfrm>
              <a:off x="7382901" y="4659058"/>
              <a:ext cx="377378" cy="49386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15378" name="Rectangle 21"/>
            <p:cNvSpPr>
              <a:spLocks noChangeArrowheads="1"/>
            </p:cNvSpPr>
            <p:nvPr/>
          </p:nvSpPr>
          <p:spPr bwMode="auto">
            <a:xfrm>
              <a:off x="7320005" y="5490978"/>
              <a:ext cx="334137" cy="367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Q</a:t>
              </a:r>
            </a:p>
          </p:txBody>
        </p:sp>
        <p:sp>
          <p:nvSpPr>
            <p:cNvPr id="15379" name="Line 22"/>
            <p:cNvSpPr>
              <a:spLocks noChangeShapeType="1"/>
            </p:cNvSpPr>
            <p:nvPr/>
          </p:nvSpPr>
          <p:spPr bwMode="auto">
            <a:xfrm flipV="1">
              <a:off x="7194212" y="5152919"/>
              <a:ext cx="0" cy="4233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87" name="Rectangle 31"/>
            <p:cNvSpPr>
              <a:spLocks noChangeArrowheads="1"/>
            </p:cNvSpPr>
            <p:nvPr/>
          </p:nvSpPr>
          <p:spPr bwMode="auto">
            <a:xfrm>
              <a:off x="7043522" y="5423366"/>
              <a:ext cx="276482" cy="4923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827935" y="3687444"/>
            <a:ext cx="823550" cy="1183268"/>
            <a:chOff x="6999626" y="3687444"/>
            <a:chExt cx="823550" cy="1183268"/>
          </a:xfrm>
        </p:grpSpPr>
        <p:sp>
          <p:nvSpPr>
            <p:cNvPr id="15381" name="Line 24"/>
            <p:cNvSpPr>
              <a:spLocks noChangeShapeType="1"/>
            </p:cNvSpPr>
            <p:nvPr/>
          </p:nvSpPr>
          <p:spPr bwMode="auto">
            <a:xfrm>
              <a:off x="7005523" y="4024095"/>
              <a:ext cx="125793" cy="6349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82" name="Line 25"/>
            <p:cNvSpPr>
              <a:spLocks noChangeShapeType="1"/>
            </p:cNvSpPr>
            <p:nvPr/>
          </p:nvSpPr>
          <p:spPr bwMode="auto">
            <a:xfrm flipV="1">
              <a:off x="7571590" y="4165198"/>
              <a:ext cx="251586" cy="7055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10"/>
            <p:cNvSpPr>
              <a:spLocks noChangeShapeType="1"/>
            </p:cNvSpPr>
            <p:nvPr/>
          </p:nvSpPr>
          <p:spPr bwMode="auto">
            <a:xfrm>
              <a:off x="6999626" y="3838836"/>
              <a:ext cx="817653" cy="0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Rectangle 23"/>
            <p:cNvSpPr>
              <a:spLocks noChangeArrowheads="1"/>
            </p:cNvSpPr>
            <p:nvPr/>
          </p:nvSpPr>
          <p:spPr bwMode="auto">
            <a:xfrm>
              <a:off x="7251211" y="3687444"/>
              <a:ext cx="251586" cy="363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dirty="0"/>
                <a:t>/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003075" y="4024095"/>
            <a:ext cx="1093210" cy="1047833"/>
            <a:chOff x="6174766" y="4024095"/>
            <a:chExt cx="1093210" cy="1047833"/>
          </a:xfrm>
        </p:grpSpPr>
        <p:sp>
          <p:nvSpPr>
            <p:cNvPr id="15385" name="Line 28"/>
            <p:cNvSpPr>
              <a:spLocks noChangeShapeType="1"/>
            </p:cNvSpPr>
            <p:nvPr/>
          </p:nvSpPr>
          <p:spPr bwMode="auto">
            <a:xfrm>
              <a:off x="6691041" y="4024095"/>
              <a:ext cx="314482" cy="77606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3" name="Text Box 26"/>
            <p:cNvSpPr txBox="1">
              <a:spLocks noChangeArrowheads="1"/>
            </p:cNvSpPr>
            <p:nvPr/>
          </p:nvSpPr>
          <p:spPr bwMode="auto">
            <a:xfrm>
              <a:off x="6174766" y="4376853"/>
              <a:ext cx="322344" cy="367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dirty="0"/>
                <a:t>K</a:t>
              </a:r>
            </a:p>
          </p:txBody>
        </p:sp>
        <p:sp>
          <p:nvSpPr>
            <p:cNvPr id="15384" name="Line 27"/>
            <p:cNvSpPr>
              <a:spLocks noChangeShapeType="1"/>
            </p:cNvSpPr>
            <p:nvPr/>
          </p:nvSpPr>
          <p:spPr bwMode="auto">
            <a:xfrm flipV="1">
              <a:off x="6376559" y="4024095"/>
              <a:ext cx="188689" cy="423309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969496" y="4671818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879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11C20F7-0C77-4506-B633-BD87D86B2636}" type="slidenum">
              <a:rPr lang="en-US" altLang="en-US" sz="1400"/>
              <a:pPr eaLnBrk="1" hangingPunct="1"/>
              <a:t>20</a:t>
            </a:fld>
            <a:endParaRPr lang="en-US" altLang="en-US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CÀI ĐẶT 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NỐI ĐƠN </a:t>
            </a:r>
            <a:endParaRPr lang="en-US" dirty="0"/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sz="quarter" idx="13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vi-V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AtP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H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P,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K){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Q = new Node;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Q-&gt;info = K;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if (H==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NULL || P==NULL){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H = Q;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Q-&gt;next = NULL;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return Q;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}else {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Q-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&gt;info = P-&gt;info;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P-&gt;info = K;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Q-&gt;next = P-&gt;next;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P-&gt;next = Q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return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P;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30" name="Group 32"/>
          <p:cNvGrpSpPr>
            <a:grpSpLocks/>
          </p:cNvGrpSpPr>
          <p:nvPr/>
        </p:nvGrpSpPr>
        <p:grpSpPr bwMode="auto">
          <a:xfrm>
            <a:off x="5810491" y="2882044"/>
            <a:ext cx="3333509" cy="3033712"/>
            <a:chOff x="3024" y="1344"/>
            <a:chExt cx="2544" cy="2064"/>
          </a:xfrm>
        </p:grpSpPr>
        <p:sp>
          <p:nvSpPr>
            <p:cNvPr id="31" name="Line 6"/>
            <p:cNvSpPr>
              <a:spLocks noChangeShapeType="1"/>
            </p:cNvSpPr>
            <p:nvPr/>
          </p:nvSpPr>
          <p:spPr bwMode="auto">
            <a:xfrm>
              <a:off x="3024" y="2025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Rectangle 8"/>
            <p:cNvSpPr>
              <a:spLocks noChangeArrowheads="1"/>
            </p:cNvSpPr>
            <p:nvPr/>
          </p:nvSpPr>
          <p:spPr bwMode="auto">
            <a:xfrm>
              <a:off x="3504" y="1881"/>
              <a:ext cx="317" cy="33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</a:p>
          </p:txBody>
        </p:sp>
        <p:sp>
          <p:nvSpPr>
            <p:cNvPr id="33" name="Rectangle 9"/>
            <p:cNvSpPr>
              <a:spLocks noChangeArrowheads="1"/>
            </p:cNvSpPr>
            <p:nvPr/>
          </p:nvSpPr>
          <p:spPr bwMode="auto">
            <a:xfrm>
              <a:off x="3821" y="1882"/>
              <a:ext cx="211" cy="33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34" name="Line 10"/>
            <p:cNvSpPr>
              <a:spLocks noChangeShapeType="1"/>
            </p:cNvSpPr>
            <p:nvPr/>
          </p:nvSpPr>
          <p:spPr bwMode="auto">
            <a:xfrm>
              <a:off x="3936" y="2025"/>
              <a:ext cx="624" cy="0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Rectangle 11"/>
            <p:cNvSpPr>
              <a:spLocks noChangeArrowheads="1"/>
            </p:cNvSpPr>
            <p:nvPr/>
          </p:nvSpPr>
          <p:spPr bwMode="auto">
            <a:xfrm>
              <a:off x="3840" y="2553"/>
              <a:ext cx="384" cy="3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</a:p>
          </p:txBody>
        </p:sp>
        <p:sp>
          <p:nvSpPr>
            <p:cNvPr id="36" name="Rectangle 12"/>
            <p:cNvSpPr>
              <a:spLocks noChangeArrowheads="1"/>
            </p:cNvSpPr>
            <p:nvPr/>
          </p:nvSpPr>
          <p:spPr bwMode="auto">
            <a:xfrm>
              <a:off x="4224" y="2553"/>
              <a:ext cx="288" cy="3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37" name="Line 13"/>
            <p:cNvSpPr>
              <a:spLocks noChangeShapeType="1"/>
            </p:cNvSpPr>
            <p:nvPr/>
          </p:nvSpPr>
          <p:spPr bwMode="auto">
            <a:xfrm flipV="1">
              <a:off x="5040" y="207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" name="Group 14"/>
            <p:cNvGrpSpPr>
              <a:grpSpLocks/>
            </p:cNvGrpSpPr>
            <p:nvPr/>
          </p:nvGrpSpPr>
          <p:grpSpPr bwMode="auto">
            <a:xfrm>
              <a:off x="4560" y="1881"/>
              <a:ext cx="576" cy="336"/>
              <a:chOff x="4800" y="1768"/>
              <a:chExt cx="480" cy="248"/>
            </a:xfrm>
          </p:grpSpPr>
          <p:sp>
            <p:nvSpPr>
              <p:cNvPr id="51" name="Rectangle 15"/>
              <p:cNvSpPr>
                <a:spLocks noChangeArrowheads="1"/>
              </p:cNvSpPr>
              <p:nvPr/>
            </p:nvSpPr>
            <p:spPr bwMode="auto">
              <a:xfrm>
                <a:off x="4800" y="1768"/>
                <a:ext cx="288" cy="24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altLang="en-US" sz="1800"/>
              </a:p>
            </p:txBody>
          </p:sp>
          <p:sp>
            <p:nvSpPr>
              <p:cNvPr id="52" name="Rectangle 16"/>
              <p:cNvSpPr>
                <a:spLocks noChangeArrowheads="1"/>
              </p:cNvSpPr>
              <p:nvPr/>
            </p:nvSpPr>
            <p:spPr bwMode="auto">
              <a:xfrm>
                <a:off x="5088" y="1769"/>
                <a:ext cx="192" cy="24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1800"/>
              </a:p>
            </p:txBody>
          </p:sp>
        </p:grpSp>
        <p:sp>
          <p:nvSpPr>
            <p:cNvPr id="39" name="Line 17"/>
            <p:cNvSpPr>
              <a:spLocks noChangeShapeType="1"/>
            </p:cNvSpPr>
            <p:nvPr/>
          </p:nvSpPr>
          <p:spPr bwMode="auto">
            <a:xfrm>
              <a:off x="3696" y="1545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Rectangle 19"/>
            <p:cNvSpPr>
              <a:spLocks noChangeArrowheads="1"/>
            </p:cNvSpPr>
            <p:nvPr/>
          </p:nvSpPr>
          <p:spPr bwMode="auto">
            <a:xfrm>
              <a:off x="3818" y="1382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P</a:t>
              </a:r>
            </a:p>
          </p:txBody>
        </p:sp>
        <p:sp>
          <p:nvSpPr>
            <p:cNvPr id="41" name="Rectangle 21"/>
            <p:cNvSpPr>
              <a:spLocks noChangeArrowheads="1"/>
            </p:cNvSpPr>
            <p:nvPr/>
          </p:nvSpPr>
          <p:spPr bwMode="auto">
            <a:xfrm>
              <a:off x="4176" y="3119"/>
              <a:ext cx="2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Q</a:t>
              </a:r>
            </a:p>
          </p:txBody>
        </p:sp>
        <p:sp>
          <p:nvSpPr>
            <p:cNvPr id="42" name="Line 22"/>
            <p:cNvSpPr>
              <a:spLocks noChangeShapeType="1"/>
            </p:cNvSpPr>
            <p:nvPr/>
          </p:nvSpPr>
          <p:spPr bwMode="auto">
            <a:xfrm flipV="1">
              <a:off x="4080" y="2889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Rectangle 23"/>
            <p:cNvSpPr>
              <a:spLocks noChangeArrowheads="1"/>
            </p:cNvSpPr>
            <p:nvPr/>
          </p:nvSpPr>
          <p:spPr bwMode="auto">
            <a:xfrm>
              <a:off x="4128" y="1922"/>
              <a:ext cx="192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/>
                <a:t>/</a:t>
              </a:r>
            </a:p>
          </p:txBody>
        </p:sp>
        <p:sp>
          <p:nvSpPr>
            <p:cNvPr id="44" name="Line 24"/>
            <p:cNvSpPr>
              <a:spLocks noChangeShapeType="1"/>
            </p:cNvSpPr>
            <p:nvPr/>
          </p:nvSpPr>
          <p:spPr bwMode="auto">
            <a:xfrm>
              <a:off x="3936" y="2121"/>
              <a:ext cx="96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25"/>
            <p:cNvSpPr>
              <a:spLocks noChangeShapeType="1"/>
            </p:cNvSpPr>
            <p:nvPr/>
          </p:nvSpPr>
          <p:spPr bwMode="auto">
            <a:xfrm flipV="1">
              <a:off x="4368" y="2217"/>
              <a:ext cx="192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Text Box 26"/>
            <p:cNvSpPr txBox="1">
              <a:spLocks noChangeArrowheads="1"/>
            </p:cNvSpPr>
            <p:nvPr/>
          </p:nvSpPr>
          <p:spPr bwMode="auto">
            <a:xfrm>
              <a:off x="3302" y="2361"/>
              <a:ext cx="2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/>
                <a:t>K</a:t>
              </a:r>
            </a:p>
          </p:txBody>
        </p:sp>
        <p:sp>
          <p:nvSpPr>
            <p:cNvPr id="47" name="Line 27"/>
            <p:cNvSpPr>
              <a:spLocks noChangeShapeType="1"/>
            </p:cNvSpPr>
            <p:nvPr/>
          </p:nvSpPr>
          <p:spPr bwMode="auto">
            <a:xfrm flipV="1">
              <a:off x="3456" y="2121"/>
              <a:ext cx="144" cy="28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28"/>
            <p:cNvSpPr>
              <a:spLocks noChangeShapeType="1"/>
            </p:cNvSpPr>
            <p:nvPr/>
          </p:nvSpPr>
          <p:spPr bwMode="auto">
            <a:xfrm>
              <a:off x="3696" y="2121"/>
              <a:ext cx="240" cy="52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Rectangle 30"/>
            <p:cNvSpPr>
              <a:spLocks noChangeArrowheads="1"/>
            </p:cNvSpPr>
            <p:nvPr/>
          </p:nvSpPr>
          <p:spPr bwMode="auto">
            <a:xfrm>
              <a:off x="3581" y="1344"/>
              <a:ext cx="211" cy="33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50" name="Rectangle 31"/>
            <p:cNvSpPr>
              <a:spLocks noChangeArrowheads="1"/>
            </p:cNvSpPr>
            <p:nvPr/>
          </p:nvSpPr>
          <p:spPr bwMode="auto">
            <a:xfrm>
              <a:off x="3965" y="3073"/>
              <a:ext cx="211" cy="33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86556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CÀI ĐẶT 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NỐI ĐƠN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 err="1" smtClean="0"/>
              <a:t>Bổ</a:t>
            </a:r>
            <a:r>
              <a:rPr lang="en-US" sz="2400" dirty="0" smtClean="0"/>
              <a:t> sung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mới</a:t>
            </a:r>
            <a:r>
              <a:rPr lang="en-US" sz="2400" dirty="0" smtClean="0"/>
              <a:t> </a:t>
            </a:r>
            <a:r>
              <a:rPr lang="en-US" sz="2400" dirty="0" err="1" smtClean="0"/>
              <a:t>vào</a:t>
            </a:r>
            <a:r>
              <a:rPr lang="en-US" sz="2400" dirty="0" smtClean="0"/>
              <a:t> </a:t>
            </a:r>
            <a:r>
              <a:rPr lang="en-US" sz="2400" dirty="0" err="1" smtClean="0"/>
              <a:t>đầu</a:t>
            </a:r>
            <a:r>
              <a:rPr lang="en-US" sz="2400" dirty="0" smtClean="0"/>
              <a:t> </a:t>
            </a:r>
            <a:r>
              <a:rPr lang="en-US" sz="2400" dirty="0" err="1" smtClean="0"/>
              <a:t>danh</a:t>
            </a:r>
            <a:r>
              <a:rPr lang="en-US" sz="2400" dirty="0" smtClean="0"/>
              <a:t> </a:t>
            </a:r>
            <a:r>
              <a:rPr lang="en-US" sz="2400" dirty="0" err="1" smtClean="0"/>
              <a:t>sách</a:t>
            </a:r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dirty="0" err="1"/>
              <a:t>Bổ</a:t>
            </a:r>
            <a:r>
              <a:rPr lang="en-US" sz="2400" dirty="0"/>
              <a:t> sung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r>
              <a:rPr lang="en-US" sz="2400" dirty="0"/>
              <a:t> </a:t>
            </a:r>
            <a:r>
              <a:rPr lang="en-US" sz="2400" dirty="0" err="1"/>
              <a:t>mới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vi-VN" sz="2400" dirty="0" smtClean="0"/>
              <a:t>sau </a:t>
            </a:r>
            <a:r>
              <a:rPr lang="vi-VN" sz="2400" dirty="0"/>
              <a:t>cùng</a:t>
            </a:r>
            <a:r>
              <a:rPr lang="en-US" sz="2400" dirty="0"/>
              <a:t> </a:t>
            </a:r>
            <a:r>
              <a:rPr lang="en-US" sz="2400" dirty="0" err="1"/>
              <a:t>danh</a:t>
            </a:r>
            <a:r>
              <a:rPr lang="en-US" sz="2400" dirty="0"/>
              <a:t> </a:t>
            </a:r>
            <a:r>
              <a:rPr lang="en-US" sz="2400" dirty="0" err="1"/>
              <a:t>sách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-2" b="-13796"/>
          <a:stretch/>
        </p:blipFill>
        <p:spPr>
          <a:xfrm>
            <a:off x="1590628" y="807932"/>
            <a:ext cx="6562772" cy="7143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65" y="787198"/>
            <a:ext cx="773924" cy="4444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/>
          <a:srcRect t="1" b="-10751"/>
          <a:stretch/>
        </p:blipFill>
        <p:spPr>
          <a:xfrm>
            <a:off x="624650" y="2355168"/>
            <a:ext cx="7435289" cy="7448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3530137"/>
            <a:ext cx="7543800" cy="7087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278" y="4924231"/>
            <a:ext cx="3143689" cy="800212"/>
          </a:xfrm>
          <a:prstGeom prst="rect">
            <a:avLst/>
          </a:prstGeom>
        </p:spPr>
      </p:pic>
      <p:grpSp>
        <p:nvGrpSpPr>
          <p:cNvPr id="15" name="Group 14"/>
          <p:cNvGrpSpPr/>
          <p:nvPr/>
        </p:nvGrpSpPr>
        <p:grpSpPr>
          <a:xfrm>
            <a:off x="5105400" y="4715039"/>
            <a:ext cx="3281471" cy="1707305"/>
            <a:chOff x="4608072" y="4967197"/>
            <a:chExt cx="3281471" cy="1707305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08072" y="4967197"/>
              <a:ext cx="3281471" cy="1707305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5222091" y="5715000"/>
              <a:ext cx="569109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689278" y="4554899"/>
            <a:ext cx="18704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CREATE NEW_NODE</a:t>
            </a:r>
            <a:endParaRPr lang="en-US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5092331" y="4456808"/>
            <a:ext cx="18704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CREATE NEW_NODE</a:t>
            </a:r>
            <a:endParaRPr lang="en-US" sz="1600" dirty="0"/>
          </a:p>
        </p:txBody>
      </p:sp>
      <p:sp>
        <p:nvSpPr>
          <p:cNvPr id="27" name="Arc 26"/>
          <p:cNvSpPr/>
          <p:nvPr/>
        </p:nvSpPr>
        <p:spPr>
          <a:xfrm>
            <a:off x="1371600" y="1039839"/>
            <a:ext cx="609600" cy="290343"/>
          </a:xfrm>
          <a:prstGeom prst="arc">
            <a:avLst>
              <a:gd name="adj1" fmla="val 5849055"/>
              <a:gd name="adj2" fmla="val 16196245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c 27"/>
          <p:cNvSpPr/>
          <p:nvPr/>
        </p:nvSpPr>
        <p:spPr>
          <a:xfrm>
            <a:off x="381000" y="2594419"/>
            <a:ext cx="609600" cy="290343"/>
          </a:xfrm>
          <a:prstGeom prst="arc">
            <a:avLst>
              <a:gd name="adj1" fmla="val 5849055"/>
              <a:gd name="adj2" fmla="val 16196245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c 28"/>
          <p:cNvSpPr/>
          <p:nvPr/>
        </p:nvSpPr>
        <p:spPr>
          <a:xfrm>
            <a:off x="1386387" y="3711365"/>
            <a:ext cx="609600" cy="290343"/>
          </a:xfrm>
          <a:prstGeom prst="arc">
            <a:avLst>
              <a:gd name="adj1" fmla="val 5849055"/>
              <a:gd name="adj2" fmla="val 16196245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448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CÀI ĐẶT 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NỐI ĐƠN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Bổ</a:t>
            </a:r>
            <a:r>
              <a:rPr lang="en-US" sz="2400" dirty="0" smtClean="0"/>
              <a:t> sung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mới</a:t>
            </a:r>
            <a:r>
              <a:rPr lang="en-US" sz="2400" dirty="0" smtClean="0"/>
              <a:t> </a:t>
            </a:r>
            <a:r>
              <a:rPr lang="en-US" sz="2400" dirty="0" err="1" smtClean="0"/>
              <a:t>vào</a:t>
            </a:r>
            <a:r>
              <a:rPr lang="en-US" sz="2400" dirty="0" smtClean="0"/>
              <a:t> </a:t>
            </a:r>
            <a:r>
              <a:rPr lang="vi-VN" sz="2400" dirty="0" smtClean="0"/>
              <a:t>sau/trước 1 nút </a:t>
            </a:r>
            <a:r>
              <a:rPr lang="en-US" sz="2400" dirty="0" err="1" smtClean="0"/>
              <a:t>có</a:t>
            </a:r>
            <a:r>
              <a:rPr lang="vi-VN" sz="2400" dirty="0" smtClean="0"/>
              <a:t> giá trị X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67" y="1837250"/>
            <a:ext cx="5953712" cy="6277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1817071"/>
            <a:ext cx="962159" cy="55252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94" y="2893202"/>
            <a:ext cx="6010385" cy="12515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368" y="4344182"/>
            <a:ext cx="6030012" cy="1294618"/>
          </a:xfrm>
          <a:prstGeom prst="rect">
            <a:avLst/>
          </a:prstGeom>
        </p:spPr>
      </p:pic>
      <p:sp>
        <p:nvSpPr>
          <p:cNvPr id="8" name="Arc 7"/>
          <p:cNvSpPr/>
          <p:nvPr/>
        </p:nvSpPr>
        <p:spPr>
          <a:xfrm>
            <a:off x="234951" y="2079255"/>
            <a:ext cx="609600" cy="290343"/>
          </a:xfrm>
          <a:prstGeom prst="arc">
            <a:avLst>
              <a:gd name="adj1" fmla="val 5849055"/>
              <a:gd name="adj2" fmla="val 16196245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/>
          <p:cNvSpPr/>
          <p:nvPr/>
        </p:nvSpPr>
        <p:spPr>
          <a:xfrm>
            <a:off x="160867" y="3114259"/>
            <a:ext cx="609600" cy="290343"/>
          </a:xfrm>
          <a:prstGeom prst="arc">
            <a:avLst>
              <a:gd name="adj1" fmla="val 5849055"/>
              <a:gd name="adj2" fmla="val 16196245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/>
          <p:cNvSpPr/>
          <p:nvPr/>
        </p:nvSpPr>
        <p:spPr>
          <a:xfrm>
            <a:off x="148168" y="4524118"/>
            <a:ext cx="609600" cy="290343"/>
          </a:xfrm>
          <a:prstGeom prst="arc">
            <a:avLst>
              <a:gd name="adj1" fmla="val 5849055"/>
              <a:gd name="adj2" fmla="val 16196245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09800" y="2988626"/>
            <a:ext cx="609600" cy="2879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232660" y="4428984"/>
            <a:ext cx="609600" cy="2879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2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CÀI ĐẶT 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NỐI ĐƠN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Bổ</a:t>
            </a:r>
            <a:r>
              <a:rPr lang="en-US" sz="2400" dirty="0" smtClean="0"/>
              <a:t> sung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mới</a:t>
            </a:r>
            <a:r>
              <a:rPr lang="en-US" sz="2400" dirty="0" smtClean="0"/>
              <a:t> </a:t>
            </a:r>
            <a:r>
              <a:rPr lang="en-US" sz="2400" dirty="0" err="1" smtClean="0"/>
              <a:t>vào</a:t>
            </a:r>
            <a:r>
              <a:rPr lang="en-US" sz="2400" dirty="0" smtClean="0"/>
              <a:t> </a:t>
            </a:r>
            <a:r>
              <a:rPr lang="vi-VN" sz="2400" dirty="0" smtClean="0"/>
              <a:t>sau</a:t>
            </a:r>
            <a:r>
              <a:rPr lang="vi-VN" sz="2400" b="1" dirty="0" smtClean="0"/>
              <a:t>/trước </a:t>
            </a:r>
            <a:r>
              <a:rPr lang="vi-VN" sz="2400" dirty="0" smtClean="0"/>
              <a:t>1 nút </a:t>
            </a:r>
            <a:r>
              <a:rPr lang="en-US" sz="2400" dirty="0" err="1" smtClean="0"/>
              <a:t>có</a:t>
            </a:r>
            <a:r>
              <a:rPr lang="vi-VN" sz="2400" dirty="0" smtClean="0"/>
              <a:t> giá trị X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52600"/>
            <a:ext cx="6030012" cy="1294618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3810334" y="3567132"/>
            <a:ext cx="5048955" cy="2276793"/>
            <a:chOff x="3810334" y="3567132"/>
            <a:chExt cx="5048955" cy="2276793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0334" y="3567132"/>
              <a:ext cx="5048955" cy="2276793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4572000" y="4259188"/>
              <a:ext cx="1524000" cy="3128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Arc 15"/>
          <p:cNvSpPr/>
          <p:nvPr/>
        </p:nvSpPr>
        <p:spPr>
          <a:xfrm>
            <a:off x="76200" y="1995657"/>
            <a:ext cx="609600" cy="290343"/>
          </a:xfrm>
          <a:prstGeom prst="arc">
            <a:avLst>
              <a:gd name="adj1" fmla="val 5849055"/>
              <a:gd name="adj2" fmla="val 16196245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133600" y="1852855"/>
            <a:ext cx="609600" cy="2879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3760572" y="3276600"/>
            <a:ext cx="18704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CREATE NEW_NODE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0691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1741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B027CF9-7665-4B98-B71B-005723E09277}" type="slidenum">
              <a:rPr lang="en-US" altLang="en-US" sz="1400"/>
              <a:pPr eaLnBrk="1" hangingPunct="1"/>
              <a:t>24</a:t>
            </a:fld>
            <a:endParaRPr lang="en-US" altLang="en-US" sz="14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CÀI ĐẶT 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NỐI ĐƠN </a:t>
            </a:r>
            <a:endParaRPr lang="en-US" dirty="0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body" sz="quarter" idx="13"/>
          </p:nvPr>
        </p:nvSpPr>
        <p:spPr>
          <a:noFill/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en-US" sz="2400" dirty="0" err="1" smtClean="0">
                <a:cs typeface="Times New Roman" panose="02020603050405020304" pitchFamily="18" charset="0"/>
              </a:rPr>
              <a:t>Xóa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phần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tử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hiện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tại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mà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con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trỏ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P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trỏ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tới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trong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danh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sách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H. 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2000" dirty="0" smtClean="0">
              <a:cs typeface="Times New Roman" panose="02020603050405020304" pitchFamily="18" charset="0"/>
            </a:endParaRPr>
          </a:p>
        </p:txBody>
      </p:sp>
      <p:sp>
        <p:nvSpPr>
          <p:cNvPr id="17414" name="Line 5"/>
          <p:cNvSpPr>
            <a:spLocks noChangeShapeType="1"/>
          </p:cNvSpPr>
          <p:nvPr/>
        </p:nvSpPr>
        <p:spPr bwMode="auto">
          <a:xfrm>
            <a:off x="7086435" y="5942543"/>
            <a:ext cx="65747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5" name="Rectangle 6"/>
          <p:cNvSpPr>
            <a:spLocks noChangeArrowheads="1"/>
          </p:cNvSpPr>
          <p:nvPr/>
        </p:nvSpPr>
        <p:spPr bwMode="auto">
          <a:xfrm>
            <a:off x="6563445" y="5742366"/>
            <a:ext cx="388507" cy="34926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/>
              <a:t>a</a:t>
            </a:r>
          </a:p>
        </p:txBody>
      </p:sp>
      <p:sp>
        <p:nvSpPr>
          <p:cNvPr id="17416" name="Rectangle 7"/>
          <p:cNvSpPr>
            <a:spLocks noChangeArrowheads="1"/>
          </p:cNvSpPr>
          <p:nvPr/>
        </p:nvSpPr>
        <p:spPr bwMode="auto">
          <a:xfrm>
            <a:off x="6951952" y="5743409"/>
            <a:ext cx="259004" cy="3492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GB" altLang="en-US" sz="1800"/>
          </a:p>
        </p:txBody>
      </p:sp>
      <p:sp>
        <p:nvSpPr>
          <p:cNvPr id="17417" name="Line 11"/>
          <p:cNvSpPr>
            <a:spLocks noChangeShapeType="1"/>
          </p:cNvSpPr>
          <p:nvPr/>
        </p:nvSpPr>
        <p:spPr bwMode="auto">
          <a:xfrm>
            <a:off x="8266897" y="5942543"/>
            <a:ext cx="59770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8" name="Rectangle 13"/>
          <p:cNvSpPr>
            <a:spLocks noChangeArrowheads="1"/>
          </p:cNvSpPr>
          <p:nvPr/>
        </p:nvSpPr>
        <p:spPr bwMode="auto">
          <a:xfrm>
            <a:off x="7741417" y="5742366"/>
            <a:ext cx="423373" cy="34926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000"/>
          </a:p>
        </p:txBody>
      </p:sp>
      <p:sp>
        <p:nvSpPr>
          <p:cNvPr id="17419" name="Rectangle 14"/>
          <p:cNvSpPr>
            <a:spLocks noChangeArrowheads="1"/>
          </p:cNvSpPr>
          <p:nvPr/>
        </p:nvSpPr>
        <p:spPr bwMode="auto">
          <a:xfrm>
            <a:off x="8164790" y="5742366"/>
            <a:ext cx="282664" cy="34926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GB" altLang="en-US" sz="1800"/>
          </a:p>
        </p:txBody>
      </p:sp>
      <p:sp>
        <p:nvSpPr>
          <p:cNvPr id="17420" name="Line 15"/>
          <p:cNvSpPr>
            <a:spLocks noChangeShapeType="1"/>
          </p:cNvSpPr>
          <p:nvPr/>
        </p:nvSpPr>
        <p:spPr bwMode="auto">
          <a:xfrm>
            <a:off x="6798791" y="5392058"/>
            <a:ext cx="0" cy="35030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1" name="Rectangle 17"/>
          <p:cNvSpPr>
            <a:spLocks noChangeArrowheads="1"/>
          </p:cNvSpPr>
          <p:nvPr/>
        </p:nvSpPr>
        <p:spPr bwMode="auto">
          <a:xfrm>
            <a:off x="6809997" y="5252352"/>
            <a:ext cx="266476" cy="26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000" b="1"/>
              <a:t>P</a:t>
            </a:r>
          </a:p>
        </p:txBody>
      </p:sp>
      <p:sp>
        <p:nvSpPr>
          <p:cNvPr id="17422" name="Rectangle 33"/>
          <p:cNvSpPr>
            <a:spLocks noChangeArrowheads="1"/>
          </p:cNvSpPr>
          <p:nvPr/>
        </p:nvSpPr>
        <p:spPr bwMode="auto">
          <a:xfrm>
            <a:off x="5315741" y="5742366"/>
            <a:ext cx="423373" cy="34926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000"/>
          </a:p>
        </p:txBody>
      </p:sp>
      <p:sp>
        <p:nvSpPr>
          <p:cNvPr id="17423" name="Rectangle 34"/>
          <p:cNvSpPr>
            <a:spLocks noChangeArrowheads="1"/>
          </p:cNvSpPr>
          <p:nvPr/>
        </p:nvSpPr>
        <p:spPr bwMode="auto">
          <a:xfrm>
            <a:off x="5739113" y="5743409"/>
            <a:ext cx="282664" cy="3492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GB" altLang="en-US" sz="1800"/>
          </a:p>
        </p:txBody>
      </p:sp>
      <p:sp>
        <p:nvSpPr>
          <p:cNvPr id="17424" name="Line 35"/>
          <p:cNvSpPr>
            <a:spLocks noChangeShapeType="1"/>
          </p:cNvSpPr>
          <p:nvPr/>
        </p:nvSpPr>
        <p:spPr bwMode="auto">
          <a:xfrm>
            <a:off x="5603386" y="5392058"/>
            <a:ext cx="0" cy="35030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5" name="Rectangle 36"/>
          <p:cNvSpPr>
            <a:spLocks noChangeArrowheads="1"/>
          </p:cNvSpPr>
          <p:nvPr/>
        </p:nvSpPr>
        <p:spPr bwMode="auto">
          <a:xfrm>
            <a:off x="5614592" y="5241926"/>
            <a:ext cx="288890" cy="26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000" b="1"/>
              <a:t>R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900002" y="5716772"/>
            <a:ext cx="2045630" cy="576079"/>
            <a:chOff x="5900002" y="5716772"/>
            <a:chExt cx="2045630" cy="576079"/>
          </a:xfrm>
        </p:grpSpPr>
        <p:grpSp>
          <p:nvGrpSpPr>
            <p:cNvPr id="4" name="Group 3"/>
            <p:cNvGrpSpPr/>
            <p:nvPr/>
          </p:nvGrpSpPr>
          <p:grpSpPr>
            <a:xfrm>
              <a:off x="5900002" y="5716772"/>
              <a:ext cx="647511" cy="257519"/>
              <a:chOff x="5913443" y="5792411"/>
              <a:chExt cx="647511" cy="257519"/>
            </a:xfrm>
          </p:grpSpPr>
          <p:sp>
            <p:nvSpPr>
              <p:cNvPr id="17426" name="Line 38"/>
              <p:cNvSpPr>
                <a:spLocks noChangeShapeType="1"/>
              </p:cNvSpPr>
              <p:nvPr/>
            </p:nvSpPr>
            <p:spPr bwMode="auto">
              <a:xfrm>
                <a:off x="5913443" y="5943600"/>
                <a:ext cx="647511" cy="0"/>
              </a:xfrm>
              <a:prstGeom prst="line">
                <a:avLst/>
              </a:prstGeom>
              <a:noFill/>
              <a:ln w="19050" cap="rnd">
                <a:solidFill>
                  <a:schemeClr val="tx1"/>
                </a:solidFill>
                <a:prstDash val="sysDot"/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27" name="Rectangle 39"/>
              <p:cNvSpPr>
                <a:spLocks noChangeArrowheads="1"/>
              </p:cNvSpPr>
              <p:nvPr/>
            </p:nvSpPr>
            <p:spPr bwMode="auto">
              <a:xfrm>
                <a:off x="6152524" y="5792411"/>
                <a:ext cx="235346" cy="2575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GB" altLang="en-US" dirty="0"/>
                  <a:t>/</a:t>
                </a:r>
              </a:p>
            </p:txBody>
          </p:sp>
        </p:grpSp>
        <p:sp>
          <p:nvSpPr>
            <p:cNvPr id="17428" name="Line 40"/>
            <p:cNvSpPr>
              <a:spLocks noChangeShapeType="1"/>
            </p:cNvSpPr>
            <p:nvPr/>
          </p:nvSpPr>
          <p:spPr bwMode="auto">
            <a:xfrm>
              <a:off x="5913443" y="5942543"/>
              <a:ext cx="0" cy="3503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9" name="Line 41"/>
            <p:cNvSpPr>
              <a:spLocks noChangeShapeType="1"/>
            </p:cNvSpPr>
            <p:nvPr/>
          </p:nvSpPr>
          <p:spPr bwMode="auto">
            <a:xfrm>
              <a:off x="5913443" y="6292851"/>
              <a:ext cx="20321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0" name="Line 42"/>
            <p:cNvSpPr>
              <a:spLocks noChangeShapeType="1"/>
            </p:cNvSpPr>
            <p:nvPr/>
          </p:nvSpPr>
          <p:spPr bwMode="auto">
            <a:xfrm flipV="1">
              <a:off x="7945632" y="6092675"/>
              <a:ext cx="0" cy="2001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431" name="Line 43"/>
          <p:cNvSpPr>
            <a:spLocks noChangeShapeType="1"/>
          </p:cNvSpPr>
          <p:nvPr/>
        </p:nvSpPr>
        <p:spPr bwMode="auto">
          <a:xfrm>
            <a:off x="4845050" y="5942543"/>
            <a:ext cx="470691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31800" y="1994429"/>
            <a:ext cx="8432800" cy="394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DeleteNode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P) {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Nếu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 H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chỉ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có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một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phần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tử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(H=P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và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P-&gt;next = NULL)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Cập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nhật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ds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thành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rỗng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H=NULL;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Giải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phóng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nút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P: delete P;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Trái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lại</a:t>
            </a: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Nếu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nút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là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nút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đầu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ds (P = H)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H = H-&gt;next;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Giải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phóng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nút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Trái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lại</a:t>
            </a: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Tìm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đến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nút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đứng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ngay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trước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nút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P;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R-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&gt;next= P-&gt;next;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Giải</a:t>
            </a: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phóng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nút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P;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en-US" alt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Line 38"/>
          <p:cNvSpPr>
            <a:spLocks noChangeShapeType="1"/>
          </p:cNvSpPr>
          <p:nvPr/>
        </p:nvSpPr>
        <p:spPr bwMode="auto">
          <a:xfrm>
            <a:off x="5903482" y="5867400"/>
            <a:ext cx="647511" cy="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olid"/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864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657E030-8C78-4D70-973B-6BBC6C304836}" type="slidenum">
              <a:rPr lang="en-US" altLang="en-US" sz="1400"/>
              <a:pPr eaLnBrk="1" hangingPunct="1"/>
              <a:t>25</a:t>
            </a:fld>
            <a:endParaRPr lang="en-US" altLang="en-US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CÀI ĐẶT 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NỐI ĐƠN </a:t>
            </a:r>
            <a:endParaRPr lang="en-US" dirty="0"/>
          </a:p>
        </p:txBody>
      </p:sp>
      <p:sp>
        <p:nvSpPr>
          <p:cNvPr id="18438" name="Rectangle 4"/>
          <p:cNvSpPr>
            <a:spLocks noChangeArrowheads="1"/>
          </p:cNvSpPr>
          <p:nvPr/>
        </p:nvSpPr>
        <p:spPr bwMode="auto">
          <a:xfrm>
            <a:off x="304800" y="1010850"/>
            <a:ext cx="8534400" cy="5522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DeleteNode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H,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P){</a:t>
            </a:r>
          </a:p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(P==NULL) return NULL;</a:t>
            </a:r>
          </a:p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 (H==P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&amp;&amp; P-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&gt;next==NULL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){ 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H=NULL; delete P;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return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NULL;</a:t>
            </a:r>
          </a:p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 else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if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(H==P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){  //P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 nut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dau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tien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H=P-&gt;next;</a:t>
            </a:r>
          </a:p>
          <a:p>
            <a:pPr lvl="1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P=NULL;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return H;</a:t>
            </a:r>
          </a:p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else {</a:t>
            </a:r>
          </a:p>
          <a:p>
            <a:pPr lvl="1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 = H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while (R-&gt;next != P) R=R-&gt;next;</a:t>
            </a:r>
          </a:p>
          <a:p>
            <a:pPr lvl="1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R-&gt;next = P-&gt;next;</a:t>
            </a:r>
          </a:p>
          <a:p>
            <a:pPr lvl="1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delete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return R-&gt;next;</a:t>
            </a:r>
          </a:p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845050" y="5241926"/>
            <a:ext cx="4019550" cy="1050925"/>
            <a:chOff x="3752850" y="1844675"/>
            <a:chExt cx="5124450" cy="160020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6610350" y="2911475"/>
              <a:ext cx="838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5943600" y="2606675"/>
              <a:ext cx="495300" cy="5318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6438900" y="2608263"/>
              <a:ext cx="330200" cy="5318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8115300" y="2911475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445375" y="2606675"/>
              <a:ext cx="539750" cy="5318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000"/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7985125" y="2606675"/>
              <a:ext cx="360363" cy="5318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6243638" y="2073275"/>
              <a:ext cx="0" cy="533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17"/>
            <p:cNvSpPr>
              <a:spLocks noChangeArrowheads="1"/>
            </p:cNvSpPr>
            <p:nvPr/>
          </p:nvSpPr>
          <p:spPr bwMode="auto">
            <a:xfrm>
              <a:off x="6257925" y="1860550"/>
              <a:ext cx="339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P</a:t>
              </a:r>
            </a:p>
          </p:txBody>
        </p:sp>
        <p:sp>
          <p:nvSpPr>
            <p:cNvPr id="17" name="Rectangle 33"/>
            <p:cNvSpPr>
              <a:spLocks noChangeArrowheads="1"/>
            </p:cNvSpPr>
            <p:nvPr/>
          </p:nvSpPr>
          <p:spPr bwMode="auto">
            <a:xfrm>
              <a:off x="4352925" y="2606675"/>
              <a:ext cx="539750" cy="5318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000"/>
            </a:p>
          </p:txBody>
        </p:sp>
        <p:sp>
          <p:nvSpPr>
            <p:cNvPr id="18" name="Rectangle 34"/>
            <p:cNvSpPr>
              <a:spLocks noChangeArrowheads="1"/>
            </p:cNvSpPr>
            <p:nvPr/>
          </p:nvSpPr>
          <p:spPr bwMode="auto">
            <a:xfrm>
              <a:off x="4892675" y="2608263"/>
              <a:ext cx="360363" cy="5318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1800"/>
            </a:p>
          </p:txBody>
        </p:sp>
        <p:sp>
          <p:nvSpPr>
            <p:cNvPr id="19" name="Line 35"/>
            <p:cNvSpPr>
              <a:spLocks noChangeShapeType="1"/>
            </p:cNvSpPr>
            <p:nvPr/>
          </p:nvSpPr>
          <p:spPr bwMode="auto">
            <a:xfrm>
              <a:off x="4719638" y="2073275"/>
              <a:ext cx="0" cy="533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36"/>
            <p:cNvSpPr>
              <a:spLocks noChangeArrowheads="1"/>
            </p:cNvSpPr>
            <p:nvPr/>
          </p:nvSpPr>
          <p:spPr bwMode="auto">
            <a:xfrm>
              <a:off x="4733925" y="1844675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R</a:t>
              </a:r>
            </a:p>
          </p:txBody>
        </p:sp>
        <p:sp>
          <p:nvSpPr>
            <p:cNvPr id="21" name="Line 38"/>
            <p:cNvSpPr>
              <a:spLocks noChangeShapeType="1"/>
            </p:cNvSpPr>
            <p:nvPr/>
          </p:nvSpPr>
          <p:spPr bwMode="auto">
            <a:xfrm>
              <a:off x="5114925" y="2911475"/>
              <a:ext cx="825500" cy="0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39"/>
            <p:cNvSpPr>
              <a:spLocks noChangeArrowheads="1"/>
            </p:cNvSpPr>
            <p:nvPr/>
          </p:nvSpPr>
          <p:spPr bwMode="auto">
            <a:xfrm>
              <a:off x="5419725" y="2682875"/>
              <a:ext cx="300038" cy="392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/>
                <a:t>/</a:t>
              </a:r>
            </a:p>
          </p:txBody>
        </p:sp>
        <p:sp>
          <p:nvSpPr>
            <p:cNvPr id="23" name="Line 40"/>
            <p:cNvSpPr>
              <a:spLocks noChangeShapeType="1"/>
            </p:cNvSpPr>
            <p:nvPr/>
          </p:nvSpPr>
          <p:spPr bwMode="auto">
            <a:xfrm>
              <a:off x="5114925" y="2911475"/>
              <a:ext cx="0" cy="533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41"/>
            <p:cNvSpPr>
              <a:spLocks noChangeShapeType="1"/>
            </p:cNvSpPr>
            <p:nvPr/>
          </p:nvSpPr>
          <p:spPr bwMode="auto">
            <a:xfrm>
              <a:off x="5114925" y="3444875"/>
              <a:ext cx="2590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42"/>
            <p:cNvSpPr>
              <a:spLocks noChangeShapeType="1"/>
            </p:cNvSpPr>
            <p:nvPr/>
          </p:nvSpPr>
          <p:spPr bwMode="auto">
            <a:xfrm flipV="1">
              <a:off x="7705725" y="3140075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43"/>
            <p:cNvSpPr>
              <a:spLocks noChangeShapeType="1"/>
            </p:cNvSpPr>
            <p:nvPr/>
          </p:nvSpPr>
          <p:spPr bwMode="auto">
            <a:xfrm>
              <a:off x="3752850" y="2911475"/>
              <a:ext cx="6000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284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CÀI ĐẶT </a:t>
            </a: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NỐI ĐƠN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type="body" sz="quarter" idx="13"/>
          </p:nvPr>
        </p:nvSpPr>
        <p:spPr>
          <a:xfrm>
            <a:off x="234951" y="1981200"/>
            <a:ext cx="8674100" cy="4114800"/>
          </a:xfrm>
        </p:spPr>
        <p:txBody>
          <a:bodyPr>
            <a:normAutofit/>
          </a:bodyPr>
          <a:lstStyle/>
          <a:p>
            <a:r>
              <a:rPr lang="vi-VN" sz="2400" dirty="0" smtClean="0"/>
              <a:t>Xóa phần tử đầu/cuối danh sách</a:t>
            </a:r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vi-VN" sz="2400" dirty="0" smtClean="0"/>
          </a:p>
          <a:p>
            <a:endParaRPr lang="en-US" sz="2400" dirty="0" smtClean="0"/>
          </a:p>
          <a:p>
            <a:r>
              <a:rPr lang="vi-VN" sz="2400" dirty="0" smtClean="0"/>
              <a:t>Xóa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/>
              <a:t>tử</a:t>
            </a:r>
            <a:r>
              <a:rPr lang="en-US" sz="2400" dirty="0"/>
              <a:t> </a:t>
            </a:r>
            <a:r>
              <a:rPr lang="vi-VN" sz="2400" dirty="0" smtClean="0"/>
              <a:t>ở sau/trước </a:t>
            </a:r>
            <a:r>
              <a:rPr lang="vi-VN" sz="2400" dirty="0"/>
              <a:t>1 nút cho giá trị X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4814856"/>
            <a:ext cx="6872875" cy="6849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1042123"/>
            <a:ext cx="6265333" cy="6121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326" y="3320494"/>
            <a:ext cx="5310674" cy="6029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2561" y="2476799"/>
            <a:ext cx="5290572" cy="628300"/>
          </a:xfrm>
          <a:prstGeom prst="rect">
            <a:avLst/>
          </a:prstGeom>
        </p:spPr>
      </p:pic>
      <p:sp>
        <p:nvSpPr>
          <p:cNvPr id="10" name="Arc 9"/>
          <p:cNvSpPr/>
          <p:nvPr/>
        </p:nvSpPr>
        <p:spPr>
          <a:xfrm>
            <a:off x="1219200" y="1194523"/>
            <a:ext cx="609600" cy="290343"/>
          </a:xfrm>
          <a:prstGeom prst="arc">
            <a:avLst>
              <a:gd name="adj1" fmla="val 5849055"/>
              <a:gd name="adj2" fmla="val 16196245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/>
          <p:cNvSpPr/>
          <p:nvPr/>
        </p:nvSpPr>
        <p:spPr>
          <a:xfrm>
            <a:off x="2209800" y="2700836"/>
            <a:ext cx="609600" cy="290343"/>
          </a:xfrm>
          <a:prstGeom prst="arc">
            <a:avLst>
              <a:gd name="adj1" fmla="val 5849055"/>
              <a:gd name="adj2" fmla="val 16196245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/>
          <p:cNvSpPr/>
          <p:nvPr/>
        </p:nvSpPr>
        <p:spPr>
          <a:xfrm>
            <a:off x="1318726" y="3540205"/>
            <a:ext cx="609600" cy="290343"/>
          </a:xfrm>
          <a:prstGeom prst="arc">
            <a:avLst>
              <a:gd name="adj1" fmla="val 5849055"/>
              <a:gd name="adj2" fmla="val 16196245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/>
          <p:cNvSpPr/>
          <p:nvPr/>
        </p:nvSpPr>
        <p:spPr>
          <a:xfrm>
            <a:off x="1219200" y="5060530"/>
            <a:ext cx="609600" cy="290343"/>
          </a:xfrm>
          <a:prstGeom prst="arc">
            <a:avLst>
              <a:gd name="adj1" fmla="val 5849055"/>
              <a:gd name="adj2" fmla="val 16196245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8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75343AE-9358-4F87-9D92-60B3BFBBB43C}" type="slidenum">
              <a:rPr lang="en-US" altLang="en-US" sz="1400"/>
              <a:pPr eaLnBrk="1" hangingPunct="1"/>
              <a:t>27</a:t>
            </a:fld>
            <a:endParaRPr lang="en-US" altLang="en-US" sz="1400"/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 err="1" smtClean="0"/>
              <a:t>Danh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sách</a:t>
            </a:r>
            <a:r>
              <a:rPr lang="en-US" altLang="en-US" dirty="0" smtClean="0"/>
              <a:t> NỐI KÉP </a:t>
            </a: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body" sz="quarter" idx="13"/>
          </p:nvPr>
        </p:nvSpPr>
        <p:spPr>
          <a:noFill/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err="1" smtClean="0">
                <a:cs typeface="Times New Roman" panose="02020603050405020304" pitchFamily="18" charset="0"/>
              </a:rPr>
              <a:t>Mô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tả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err="1" smtClean="0"/>
              <a:t>Danh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sách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nối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kép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thẳng</a:t>
            </a:r>
            <a:r>
              <a:rPr lang="en-US" altLang="en-US" sz="2000" dirty="0" smtClean="0"/>
              <a:t> (</a:t>
            </a:r>
            <a:r>
              <a:rPr lang="en-US" altLang="en-US" sz="2000" b="1" i="1" dirty="0" smtClean="0"/>
              <a:t>double linked list</a:t>
            </a:r>
            <a:r>
              <a:rPr lang="en-US" altLang="en-US" sz="2000" dirty="0" smtClean="0"/>
              <a:t>):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 smtClean="0"/>
              <a:t>Con </a:t>
            </a:r>
            <a:r>
              <a:rPr lang="en-US" altLang="en-US" sz="2000" dirty="0" err="1" smtClean="0"/>
              <a:t>trỏ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trái</a:t>
            </a:r>
            <a:r>
              <a:rPr lang="en-US" altLang="en-US" sz="2000" dirty="0" smtClean="0"/>
              <a:t> (</a:t>
            </a:r>
            <a:r>
              <a:rPr lang="en-US" altLang="en-US" sz="2000" dirty="0" err="1" smtClean="0"/>
              <a:t>nextL</a:t>
            </a:r>
            <a:r>
              <a:rPr lang="en-US" altLang="en-US" sz="2000" dirty="0" smtClean="0"/>
              <a:t>): </a:t>
            </a:r>
            <a:r>
              <a:rPr lang="en-US" altLang="en-US" sz="2000" dirty="0" err="1" smtClean="0"/>
              <a:t>trỏ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tới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thành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phần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bên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trái</a:t>
            </a:r>
            <a:r>
              <a:rPr lang="en-US" altLang="en-US" sz="2000" dirty="0" smtClean="0"/>
              <a:t> (</a:t>
            </a:r>
            <a:r>
              <a:rPr lang="en-US" altLang="en-US" sz="2000" dirty="0" err="1" smtClean="0"/>
              <a:t>phía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trước</a:t>
            </a:r>
            <a:r>
              <a:rPr lang="en-US" altLang="en-US" sz="2000" dirty="0" smtClean="0"/>
              <a:t>)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Con </a:t>
            </a:r>
            <a:r>
              <a:rPr lang="en-US" altLang="en-US" sz="2000" dirty="0" err="1"/>
              <a:t>trỏ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phải</a:t>
            </a:r>
            <a:r>
              <a:rPr lang="en-US" altLang="en-US" sz="2000" dirty="0"/>
              <a:t> (</a:t>
            </a:r>
            <a:r>
              <a:rPr lang="en-US" altLang="en-US" sz="2000" dirty="0" err="1"/>
              <a:t>nextR</a:t>
            </a:r>
            <a:r>
              <a:rPr lang="en-US" altLang="en-US" sz="2000" dirty="0"/>
              <a:t>): </a:t>
            </a:r>
            <a:r>
              <a:rPr lang="en-US" altLang="en-US" sz="2000" dirty="0" err="1"/>
              <a:t>trỏ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tới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thành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phần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bên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phải</a:t>
            </a:r>
            <a:r>
              <a:rPr lang="en-US" altLang="en-US" sz="2000" dirty="0"/>
              <a:t> (</a:t>
            </a:r>
            <a:r>
              <a:rPr lang="en-US" altLang="en-US" sz="2000" dirty="0" err="1"/>
              <a:t>phía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sau</a:t>
            </a:r>
            <a:r>
              <a:rPr lang="en-US" altLang="en-US" sz="20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err="1" smtClean="0"/>
              <a:t>Đặc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điểm</a:t>
            </a:r>
            <a:endParaRPr lang="en-US" altLang="en-US" sz="2000" dirty="0" smtClean="0"/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 err="1" smtClean="0"/>
              <a:t>Sử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dụng</a:t>
            </a:r>
            <a:r>
              <a:rPr lang="en-US" altLang="en-US" sz="2000" dirty="0" smtClean="0"/>
              <a:t> 2 con </a:t>
            </a:r>
            <a:r>
              <a:rPr lang="en-US" altLang="en-US" sz="2000" dirty="0" err="1" smtClean="0"/>
              <a:t>trỏ</a:t>
            </a:r>
            <a:r>
              <a:rPr lang="en-US" altLang="en-US" sz="2000" dirty="0" smtClean="0"/>
              <a:t>, </a:t>
            </a:r>
            <a:r>
              <a:rPr lang="en-US" altLang="en-US" sz="2000" dirty="0" err="1" smtClean="0"/>
              <a:t>giúp</a:t>
            </a:r>
            <a:r>
              <a:rPr lang="en-US" altLang="en-US" sz="2000" dirty="0" smtClean="0"/>
              <a:t> ta </a:t>
            </a:r>
            <a:r>
              <a:rPr lang="en-US" altLang="en-US" sz="2000" dirty="0" err="1" smtClean="0"/>
              <a:t>luôn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xem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xét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được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cả</a:t>
            </a:r>
            <a:r>
              <a:rPr lang="en-US" altLang="en-US" sz="2000" dirty="0" smtClean="0"/>
              <a:t> 2 </a:t>
            </a:r>
            <a:r>
              <a:rPr lang="en-US" altLang="en-US" sz="2000" dirty="0" err="1" smtClean="0"/>
              <a:t>chiều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của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danh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sách</a:t>
            </a:r>
            <a:endParaRPr lang="en-US" altLang="en-US" sz="2000" dirty="0" smtClean="0"/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 err="1" smtClean="0"/>
              <a:t>Tốn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bộ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nhớ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nhiều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hơn</a:t>
            </a:r>
            <a:endParaRPr lang="en-US" altLang="en-US" sz="2000" dirty="0" smtClean="0"/>
          </a:p>
        </p:txBody>
      </p:sp>
      <p:grpSp>
        <p:nvGrpSpPr>
          <p:cNvPr id="20486" name="Group 36"/>
          <p:cNvGrpSpPr>
            <a:grpSpLocks/>
          </p:cNvGrpSpPr>
          <p:nvPr/>
        </p:nvGrpSpPr>
        <p:grpSpPr bwMode="auto">
          <a:xfrm>
            <a:off x="2233471" y="3657600"/>
            <a:ext cx="4672012" cy="2073275"/>
            <a:chOff x="2625" y="2630"/>
            <a:chExt cx="2943" cy="1306"/>
          </a:xfrm>
        </p:grpSpPr>
        <p:sp>
          <p:nvSpPr>
            <p:cNvPr id="20487" name="Rectangle 5"/>
            <p:cNvSpPr>
              <a:spLocks noChangeArrowheads="1"/>
            </p:cNvSpPr>
            <p:nvPr/>
          </p:nvSpPr>
          <p:spPr bwMode="auto">
            <a:xfrm>
              <a:off x="2844" y="3119"/>
              <a:ext cx="329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1</a:t>
              </a:r>
              <a:endParaRPr lang="en-US" altLang="en-US" sz="2000"/>
            </a:p>
          </p:txBody>
        </p:sp>
        <p:sp>
          <p:nvSpPr>
            <p:cNvPr id="20488" name="Rectangle 6"/>
            <p:cNvSpPr>
              <a:spLocks noChangeArrowheads="1"/>
            </p:cNvSpPr>
            <p:nvPr/>
          </p:nvSpPr>
          <p:spPr bwMode="auto">
            <a:xfrm>
              <a:off x="3823" y="3119"/>
              <a:ext cx="328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2</a:t>
              </a:r>
            </a:p>
          </p:txBody>
        </p:sp>
        <p:sp>
          <p:nvSpPr>
            <p:cNvPr id="20489" name="Rectangle 7"/>
            <p:cNvSpPr>
              <a:spLocks noChangeArrowheads="1"/>
            </p:cNvSpPr>
            <p:nvPr/>
          </p:nvSpPr>
          <p:spPr bwMode="auto">
            <a:xfrm>
              <a:off x="4798" y="3119"/>
              <a:ext cx="329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3</a:t>
              </a:r>
            </a:p>
          </p:txBody>
        </p:sp>
        <p:sp>
          <p:nvSpPr>
            <p:cNvPr id="20490" name="Rectangle 8"/>
            <p:cNvSpPr>
              <a:spLocks noChangeArrowheads="1"/>
            </p:cNvSpPr>
            <p:nvPr/>
          </p:nvSpPr>
          <p:spPr bwMode="auto">
            <a:xfrm>
              <a:off x="3173" y="3120"/>
              <a:ext cx="219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  <p:sp>
          <p:nvSpPr>
            <p:cNvPr id="20491" name="Line 9"/>
            <p:cNvSpPr>
              <a:spLocks noChangeShapeType="1"/>
            </p:cNvSpPr>
            <p:nvPr/>
          </p:nvSpPr>
          <p:spPr bwMode="auto">
            <a:xfrm>
              <a:off x="3262" y="3198"/>
              <a:ext cx="3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2" name="Rectangle 10"/>
            <p:cNvSpPr>
              <a:spLocks noChangeArrowheads="1"/>
            </p:cNvSpPr>
            <p:nvPr/>
          </p:nvSpPr>
          <p:spPr bwMode="auto">
            <a:xfrm>
              <a:off x="4151" y="3120"/>
              <a:ext cx="2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  <p:sp>
          <p:nvSpPr>
            <p:cNvPr id="20493" name="Line 11"/>
            <p:cNvSpPr>
              <a:spLocks noChangeShapeType="1"/>
            </p:cNvSpPr>
            <p:nvPr/>
          </p:nvSpPr>
          <p:spPr bwMode="auto">
            <a:xfrm>
              <a:off x="4240" y="3197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494" name="Group 12"/>
            <p:cNvGrpSpPr>
              <a:grpSpLocks/>
            </p:cNvGrpSpPr>
            <p:nvPr/>
          </p:nvGrpSpPr>
          <p:grpSpPr bwMode="auto">
            <a:xfrm>
              <a:off x="5127" y="3120"/>
              <a:ext cx="219" cy="288"/>
              <a:chOff x="3204" y="3132"/>
              <a:chExt cx="192" cy="288"/>
            </a:xfrm>
          </p:grpSpPr>
          <p:sp>
            <p:nvSpPr>
              <p:cNvPr id="20513" name="Rectangle 13"/>
              <p:cNvSpPr>
                <a:spLocks noChangeArrowheads="1"/>
              </p:cNvSpPr>
              <p:nvPr/>
            </p:nvSpPr>
            <p:spPr bwMode="auto">
              <a:xfrm>
                <a:off x="3204" y="3132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20514" name="Line 14"/>
              <p:cNvSpPr>
                <a:spLocks noChangeShapeType="1"/>
              </p:cNvSpPr>
              <p:nvPr/>
            </p:nvSpPr>
            <p:spPr bwMode="auto">
              <a:xfrm flipV="1">
                <a:off x="3204" y="3132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495" name="Line 15"/>
            <p:cNvSpPr>
              <a:spLocks noChangeShapeType="1"/>
            </p:cNvSpPr>
            <p:nvPr/>
          </p:nvSpPr>
          <p:spPr bwMode="auto">
            <a:xfrm flipH="1">
              <a:off x="3399" y="3336"/>
              <a:ext cx="3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6" name="Rectangle 16"/>
            <p:cNvSpPr>
              <a:spLocks noChangeArrowheads="1"/>
            </p:cNvSpPr>
            <p:nvPr/>
          </p:nvSpPr>
          <p:spPr bwMode="auto">
            <a:xfrm>
              <a:off x="3600" y="3120"/>
              <a:ext cx="2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  <p:grpSp>
          <p:nvGrpSpPr>
            <p:cNvPr id="20497" name="Group 17"/>
            <p:cNvGrpSpPr>
              <a:grpSpLocks/>
            </p:cNvGrpSpPr>
            <p:nvPr/>
          </p:nvGrpSpPr>
          <p:grpSpPr bwMode="auto">
            <a:xfrm>
              <a:off x="2625" y="3120"/>
              <a:ext cx="219" cy="288"/>
              <a:chOff x="3204" y="3132"/>
              <a:chExt cx="192" cy="288"/>
            </a:xfrm>
          </p:grpSpPr>
          <p:sp>
            <p:nvSpPr>
              <p:cNvPr id="20511" name="Rectangle 18"/>
              <p:cNvSpPr>
                <a:spLocks noChangeArrowheads="1"/>
              </p:cNvSpPr>
              <p:nvPr/>
            </p:nvSpPr>
            <p:spPr bwMode="auto">
              <a:xfrm>
                <a:off x="3204" y="3132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20512" name="Line 19"/>
              <p:cNvSpPr>
                <a:spLocks noChangeShapeType="1"/>
              </p:cNvSpPr>
              <p:nvPr/>
            </p:nvSpPr>
            <p:spPr bwMode="auto">
              <a:xfrm flipV="1">
                <a:off x="3204" y="3132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498" name="Line 20"/>
            <p:cNvSpPr>
              <a:spLocks noChangeShapeType="1"/>
            </p:cNvSpPr>
            <p:nvPr/>
          </p:nvSpPr>
          <p:spPr bwMode="auto">
            <a:xfrm flipH="1">
              <a:off x="4377" y="333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9" name="Rectangle 21"/>
            <p:cNvSpPr>
              <a:spLocks noChangeArrowheads="1"/>
            </p:cNvSpPr>
            <p:nvPr/>
          </p:nvSpPr>
          <p:spPr bwMode="auto">
            <a:xfrm>
              <a:off x="4579" y="3120"/>
              <a:ext cx="219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  <p:sp>
          <p:nvSpPr>
            <p:cNvPr id="20500" name="Text Box 23"/>
            <p:cNvSpPr txBox="1">
              <a:spLocks noChangeArrowheads="1"/>
            </p:cNvSpPr>
            <p:nvPr/>
          </p:nvSpPr>
          <p:spPr bwMode="auto">
            <a:xfrm>
              <a:off x="5336" y="2630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R</a:t>
              </a:r>
            </a:p>
          </p:txBody>
        </p:sp>
        <p:sp>
          <p:nvSpPr>
            <p:cNvPr id="20501" name="Line 24"/>
            <p:cNvSpPr>
              <a:spLocks noChangeShapeType="1"/>
            </p:cNvSpPr>
            <p:nvPr/>
          </p:nvSpPr>
          <p:spPr bwMode="auto">
            <a:xfrm>
              <a:off x="5240" y="278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Text Box 26"/>
            <p:cNvSpPr txBox="1">
              <a:spLocks noChangeArrowheads="1"/>
            </p:cNvSpPr>
            <p:nvPr/>
          </p:nvSpPr>
          <p:spPr bwMode="auto">
            <a:xfrm>
              <a:off x="2840" y="2640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L</a:t>
              </a:r>
            </a:p>
          </p:txBody>
        </p:sp>
        <p:sp>
          <p:nvSpPr>
            <p:cNvPr id="20503" name="Line 27"/>
            <p:cNvSpPr>
              <a:spLocks noChangeShapeType="1"/>
            </p:cNvSpPr>
            <p:nvPr/>
          </p:nvSpPr>
          <p:spPr bwMode="auto">
            <a:xfrm>
              <a:off x="2744" y="279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4" name="Rectangle 28"/>
            <p:cNvSpPr>
              <a:spLocks noChangeArrowheads="1"/>
            </p:cNvSpPr>
            <p:nvPr/>
          </p:nvSpPr>
          <p:spPr bwMode="auto">
            <a:xfrm>
              <a:off x="3696" y="3647"/>
              <a:ext cx="576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INFO</a:t>
              </a:r>
              <a:endParaRPr lang="en-US" altLang="en-US" sz="2000" baseline="-25000"/>
            </a:p>
          </p:txBody>
        </p:sp>
        <p:sp>
          <p:nvSpPr>
            <p:cNvPr id="20505" name="Rectangle 29"/>
            <p:cNvSpPr>
              <a:spLocks noChangeArrowheads="1"/>
            </p:cNvSpPr>
            <p:nvPr/>
          </p:nvSpPr>
          <p:spPr bwMode="auto">
            <a:xfrm>
              <a:off x="4272" y="3648"/>
              <a:ext cx="505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sz="2000"/>
                <a:t>nextR</a:t>
              </a:r>
            </a:p>
          </p:txBody>
        </p:sp>
        <p:sp>
          <p:nvSpPr>
            <p:cNvPr id="20506" name="Rectangle 30"/>
            <p:cNvSpPr>
              <a:spLocks noChangeArrowheads="1"/>
            </p:cNvSpPr>
            <p:nvPr/>
          </p:nvSpPr>
          <p:spPr bwMode="auto">
            <a:xfrm>
              <a:off x="3186" y="3648"/>
              <a:ext cx="508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sz="2000"/>
                <a:t>nextL</a:t>
              </a:r>
            </a:p>
          </p:txBody>
        </p:sp>
        <p:cxnSp>
          <p:nvCxnSpPr>
            <p:cNvPr id="20507" name="AutoShape 31"/>
            <p:cNvCxnSpPr>
              <a:cxnSpLocks noChangeShapeType="1"/>
            </p:cNvCxnSpPr>
            <p:nvPr/>
          </p:nvCxnSpPr>
          <p:spPr bwMode="auto">
            <a:xfrm flipH="1">
              <a:off x="3186" y="3408"/>
              <a:ext cx="432" cy="1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8" name="AutoShape 32"/>
            <p:cNvCxnSpPr>
              <a:cxnSpLocks noChangeShapeType="1"/>
            </p:cNvCxnSpPr>
            <p:nvPr/>
          </p:nvCxnSpPr>
          <p:spPr bwMode="auto">
            <a:xfrm>
              <a:off x="4386" y="3408"/>
              <a:ext cx="366" cy="1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09" name="Rectangle 34"/>
            <p:cNvSpPr>
              <a:spLocks noChangeArrowheads="1"/>
            </p:cNvSpPr>
            <p:nvPr/>
          </p:nvSpPr>
          <p:spPr bwMode="auto">
            <a:xfrm>
              <a:off x="2640" y="2640"/>
              <a:ext cx="219" cy="28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/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  <p:sp>
          <p:nvSpPr>
            <p:cNvPr id="20510" name="Rectangle 35"/>
            <p:cNvSpPr>
              <a:spLocks noChangeArrowheads="1"/>
            </p:cNvSpPr>
            <p:nvPr/>
          </p:nvSpPr>
          <p:spPr bwMode="auto">
            <a:xfrm>
              <a:off x="5109" y="2640"/>
              <a:ext cx="219" cy="28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/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36012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2150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D921401-0FD3-4C95-B9D5-5AF0C37CE06E}" type="slidenum">
              <a:rPr lang="en-US" altLang="en-US" sz="1400"/>
              <a:pPr eaLnBrk="1" hangingPunct="1"/>
              <a:t>28</a:t>
            </a:fld>
            <a:endParaRPr lang="en-US" altLang="en-US" sz="1400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 err="1" smtClean="0"/>
              <a:t>Danh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sách</a:t>
            </a:r>
            <a:r>
              <a:rPr lang="en-US" altLang="en-US" dirty="0" smtClean="0"/>
              <a:t> NỐI KÉP </a:t>
            </a: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body" sz="quarter" idx="13"/>
          </p:nvPr>
        </p:nvSpPr>
        <p:spPr>
          <a:noFill/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err="1">
                <a:cs typeface="Times New Roman" panose="02020603050405020304" pitchFamily="18" charset="0"/>
              </a:rPr>
              <a:t>Mô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tả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err="1"/>
              <a:t>Danh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sách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nối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kép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thẳng</a:t>
            </a:r>
            <a:r>
              <a:rPr lang="en-US" altLang="en-US" sz="2000" dirty="0"/>
              <a:t> (</a:t>
            </a:r>
            <a:r>
              <a:rPr lang="en-US" altLang="en-US" sz="2000" i="1" dirty="0"/>
              <a:t>double linked list</a:t>
            </a:r>
            <a:r>
              <a:rPr lang="en-US" altLang="en-US" sz="2000" dirty="0"/>
              <a:t>):</a:t>
            </a:r>
          </a:p>
          <a:p>
            <a:pPr lvl="2"/>
            <a:r>
              <a:rPr lang="en-US" sz="2000" dirty="0" err="1" smtClean="0"/>
              <a:t>Khai</a:t>
            </a:r>
            <a:r>
              <a:rPr lang="en-US" sz="2000" dirty="0" smtClean="0"/>
              <a:t> </a:t>
            </a:r>
            <a:r>
              <a:rPr lang="en-US" sz="2000" dirty="0" err="1"/>
              <a:t>báo</a:t>
            </a:r>
            <a:r>
              <a:rPr lang="en-US" sz="2000" dirty="0"/>
              <a:t> </a:t>
            </a:r>
            <a:r>
              <a:rPr lang="en-US" sz="2000" dirty="0" err="1"/>
              <a:t>cấu</a:t>
            </a:r>
            <a:r>
              <a:rPr lang="en-US" sz="2000" dirty="0"/>
              <a:t> </a:t>
            </a:r>
            <a:r>
              <a:rPr lang="en-US" sz="2000" dirty="0" err="1"/>
              <a:t>trúc</a:t>
            </a:r>
            <a:r>
              <a:rPr lang="en-US" sz="2000" dirty="0"/>
              <a:t> </a:t>
            </a:r>
            <a:endParaRPr lang="en-US" altLang="en-US" sz="2000" dirty="0" smtClean="0">
              <a:cs typeface="Times New Roman" panose="02020603050405020304" pitchFamily="18" charset="0"/>
            </a:endParaRP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523084" y="2286000"/>
            <a:ext cx="4244974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Type info;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nextL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nextR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  <a:endParaRPr lang="en-US" alt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PDNode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/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H; //con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trỏ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đầu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T; //con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trỏ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cuối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DoubleLinkedList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grpSp>
        <p:nvGrpSpPr>
          <p:cNvPr id="21511" name="Group 65"/>
          <p:cNvGrpSpPr>
            <a:grpSpLocks/>
          </p:cNvGrpSpPr>
          <p:nvPr/>
        </p:nvGrpSpPr>
        <p:grpSpPr bwMode="auto">
          <a:xfrm>
            <a:off x="4908408" y="4191000"/>
            <a:ext cx="4016375" cy="1235075"/>
            <a:chOff x="3017" y="1238"/>
            <a:chExt cx="2530" cy="778"/>
          </a:xfrm>
        </p:grpSpPr>
        <p:sp>
          <p:nvSpPr>
            <p:cNvPr id="21512" name="Rectangle 9"/>
            <p:cNvSpPr>
              <a:spLocks noChangeArrowheads="1"/>
            </p:cNvSpPr>
            <p:nvPr/>
          </p:nvSpPr>
          <p:spPr bwMode="auto">
            <a:xfrm>
              <a:off x="3221" y="1728"/>
              <a:ext cx="306" cy="28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1</a:t>
              </a:r>
              <a:endParaRPr lang="en-US" altLang="en-US" sz="2000"/>
            </a:p>
          </p:txBody>
        </p:sp>
        <p:sp>
          <p:nvSpPr>
            <p:cNvPr id="21513" name="Rectangle 10"/>
            <p:cNvSpPr>
              <a:spLocks noChangeArrowheads="1"/>
            </p:cNvSpPr>
            <p:nvPr/>
          </p:nvSpPr>
          <p:spPr bwMode="auto">
            <a:xfrm>
              <a:off x="4131" y="1728"/>
              <a:ext cx="305" cy="28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2</a:t>
              </a:r>
            </a:p>
          </p:txBody>
        </p:sp>
        <p:sp>
          <p:nvSpPr>
            <p:cNvPr id="21514" name="Rectangle 11"/>
            <p:cNvSpPr>
              <a:spLocks noChangeArrowheads="1"/>
            </p:cNvSpPr>
            <p:nvPr/>
          </p:nvSpPr>
          <p:spPr bwMode="auto">
            <a:xfrm>
              <a:off x="5038" y="1728"/>
              <a:ext cx="305" cy="28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3</a:t>
              </a:r>
            </a:p>
          </p:txBody>
        </p:sp>
        <p:sp>
          <p:nvSpPr>
            <p:cNvPr id="21515" name="Rectangle 12"/>
            <p:cNvSpPr>
              <a:spLocks noChangeArrowheads="1"/>
            </p:cNvSpPr>
            <p:nvPr/>
          </p:nvSpPr>
          <p:spPr bwMode="auto">
            <a:xfrm>
              <a:off x="3527" y="1728"/>
              <a:ext cx="203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  <p:sp>
          <p:nvSpPr>
            <p:cNvPr id="21516" name="Line 13"/>
            <p:cNvSpPr>
              <a:spLocks noChangeShapeType="1"/>
            </p:cNvSpPr>
            <p:nvPr/>
          </p:nvSpPr>
          <p:spPr bwMode="auto">
            <a:xfrm>
              <a:off x="3609" y="1806"/>
              <a:ext cx="3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7" name="Rectangle 14"/>
            <p:cNvSpPr>
              <a:spLocks noChangeArrowheads="1"/>
            </p:cNvSpPr>
            <p:nvPr/>
          </p:nvSpPr>
          <p:spPr bwMode="auto">
            <a:xfrm>
              <a:off x="4436" y="1728"/>
              <a:ext cx="204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  <p:sp>
          <p:nvSpPr>
            <p:cNvPr id="21518" name="Line 15"/>
            <p:cNvSpPr>
              <a:spLocks noChangeShapeType="1"/>
            </p:cNvSpPr>
            <p:nvPr/>
          </p:nvSpPr>
          <p:spPr bwMode="auto">
            <a:xfrm>
              <a:off x="4519" y="1805"/>
              <a:ext cx="3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519" name="Group 16"/>
            <p:cNvGrpSpPr>
              <a:grpSpLocks/>
            </p:cNvGrpSpPr>
            <p:nvPr/>
          </p:nvGrpSpPr>
          <p:grpSpPr bwMode="auto">
            <a:xfrm>
              <a:off x="5343" y="1728"/>
              <a:ext cx="204" cy="288"/>
              <a:chOff x="3204" y="3132"/>
              <a:chExt cx="192" cy="288"/>
            </a:xfrm>
          </p:grpSpPr>
          <p:sp>
            <p:nvSpPr>
              <p:cNvPr id="21533" name="Rectangle 17"/>
              <p:cNvSpPr>
                <a:spLocks noChangeArrowheads="1"/>
              </p:cNvSpPr>
              <p:nvPr/>
            </p:nvSpPr>
            <p:spPr bwMode="auto">
              <a:xfrm>
                <a:off x="3204" y="3132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21534" name="Line 18"/>
              <p:cNvSpPr>
                <a:spLocks noChangeShapeType="1"/>
              </p:cNvSpPr>
              <p:nvPr/>
            </p:nvSpPr>
            <p:spPr bwMode="auto">
              <a:xfrm flipV="1">
                <a:off x="3204" y="3132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520" name="Line 19"/>
            <p:cNvSpPr>
              <a:spLocks noChangeShapeType="1"/>
            </p:cNvSpPr>
            <p:nvPr/>
          </p:nvSpPr>
          <p:spPr bwMode="auto">
            <a:xfrm flipH="1">
              <a:off x="3737" y="1944"/>
              <a:ext cx="31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1" name="Rectangle 20"/>
            <p:cNvSpPr>
              <a:spLocks noChangeArrowheads="1"/>
            </p:cNvSpPr>
            <p:nvPr/>
          </p:nvSpPr>
          <p:spPr bwMode="auto">
            <a:xfrm>
              <a:off x="3924" y="1728"/>
              <a:ext cx="204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  <p:grpSp>
          <p:nvGrpSpPr>
            <p:cNvPr id="21522" name="Group 21"/>
            <p:cNvGrpSpPr>
              <a:grpSpLocks/>
            </p:cNvGrpSpPr>
            <p:nvPr/>
          </p:nvGrpSpPr>
          <p:grpSpPr bwMode="auto">
            <a:xfrm>
              <a:off x="3017" y="1728"/>
              <a:ext cx="204" cy="288"/>
              <a:chOff x="3204" y="3132"/>
              <a:chExt cx="192" cy="288"/>
            </a:xfrm>
          </p:grpSpPr>
          <p:sp>
            <p:nvSpPr>
              <p:cNvPr id="21531" name="Rectangle 22"/>
              <p:cNvSpPr>
                <a:spLocks noChangeArrowheads="1"/>
              </p:cNvSpPr>
              <p:nvPr/>
            </p:nvSpPr>
            <p:spPr bwMode="auto">
              <a:xfrm>
                <a:off x="3204" y="3132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21532" name="Line 23"/>
              <p:cNvSpPr>
                <a:spLocks noChangeShapeType="1"/>
              </p:cNvSpPr>
              <p:nvPr/>
            </p:nvSpPr>
            <p:spPr bwMode="auto">
              <a:xfrm flipV="1">
                <a:off x="3204" y="3132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523" name="Line 24"/>
            <p:cNvSpPr>
              <a:spLocks noChangeShapeType="1"/>
            </p:cNvSpPr>
            <p:nvPr/>
          </p:nvSpPr>
          <p:spPr bwMode="auto">
            <a:xfrm flipH="1">
              <a:off x="4646" y="1944"/>
              <a:ext cx="3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4" name="Rectangle 25"/>
            <p:cNvSpPr>
              <a:spLocks noChangeArrowheads="1"/>
            </p:cNvSpPr>
            <p:nvPr/>
          </p:nvSpPr>
          <p:spPr bwMode="auto">
            <a:xfrm>
              <a:off x="4834" y="1728"/>
              <a:ext cx="204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  <p:sp>
          <p:nvSpPr>
            <p:cNvPr id="21525" name="Text Box 27"/>
            <p:cNvSpPr txBox="1">
              <a:spLocks noChangeArrowheads="1"/>
            </p:cNvSpPr>
            <p:nvPr/>
          </p:nvSpPr>
          <p:spPr bwMode="auto">
            <a:xfrm>
              <a:off x="5136" y="1238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T</a:t>
              </a:r>
            </a:p>
          </p:txBody>
        </p:sp>
        <p:sp>
          <p:nvSpPr>
            <p:cNvPr id="21526" name="Line 28"/>
            <p:cNvSpPr>
              <a:spLocks noChangeShapeType="1"/>
            </p:cNvSpPr>
            <p:nvPr/>
          </p:nvSpPr>
          <p:spPr bwMode="auto">
            <a:xfrm>
              <a:off x="5449" y="139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7" name="Text Box 30"/>
            <p:cNvSpPr txBox="1">
              <a:spLocks noChangeArrowheads="1"/>
            </p:cNvSpPr>
            <p:nvPr/>
          </p:nvSpPr>
          <p:spPr bwMode="auto">
            <a:xfrm>
              <a:off x="3217" y="1248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H</a:t>
              </a:r>
            </a:p>
          </p:txBody>
        </p:sp>
        <p:sp>
          <p:nvSpPr>
            <p:cNvPr id="21528" name="Line 31"/>
            <p:cNvSpPr>
              <a:spLocks noChangeShapeType="1"/>
            </p:cNvSpPr>
            <p:nvPr/>
          </p:nvSpPr>
          <p:spPr bwMode="auto">
            <a:xfrm>
              <a:off x="3128" y="140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9" name="Rectangle 63"/>
            <p:cNvSpPr>
              <a:spLocks noChangeArrowheads="1"/>
            </p:cNvSpPr>
            <p:nvPr/>
          </p:nvSpPr>
          <p:spPr bwMode="auto">
            <a:xfrm>
              <a:off x="3024" y="1248"/>
              <a:ext cx="203" cy="28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/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  <p:sp>
          <p:nvSpPr>
            <p:cNvPr id="21530" name="Rectangle 64"/>
            <p:cNvSpPr>
              <a:spLocks noChangeArrowheads="1"/>
            </p:cNvSpPr>
            <p:nvPr/>
          </p:nvSpPr>
          <p:spPr bwMode="auto">
            <a:xfrm>
              <a:off x="5328" y="1248"/>
              <a:ext cx="203" cy="28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/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</p:grp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6263680" y="2668314"/>
            <a:ext cx="9144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dirty="0" smtClean="0"/>
              <a:t>info</a:t>
            </a:r>
            <a:endParaRPr lang="en-US" altLang="en-US" sz="2000" baseline="-25000" dirty="0"/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7178080" y="2669901"/>
            <a:ext cx="801687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2000"/>
              <a:t>nextR</a:t>
            </a: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5454055" y="2669901"/>
            <a:ext cx="80645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2000"/>
              <a:t>nextL</a:t>
            </a:r>
          </a:p>
        </p:txBody>
      </p:sp>
    </p:spTree>
    <p:extLst>
      <p:ext uri="{BB962C8B-B14F-4D97-AF65-F5344CB8AC3E}">
        <p14:creationId xmlns:p14="http://schemas.microsoft.com/office/powerpoint/2010/main" val="3916600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2355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7D99A2-E0DC-4E09-89E8-59D5EDAE65D4}" type="slidenum">
              <a:rPr lang="en-US" altLang="en-US" sz="1400"/>
              <a:pPr eaLnBrk="1" hangingPunct="1"/>
              <a:t>29</a:t>
            </a:fld>
            <a:endParaRPr lang="en-US" altLang="en-US" sz="1400"/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 err="1" smtClean="0"/>
              <a:t>Danh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sách</a:t>
            </a:r>
            <a:r>
              <a:rPr lang="en-US" altLang="en-US" dirty="0" smtClean="0"/>
              <a:t> </a:t>
            </a:r>
            <a:r>
              <a:rPr lang="en-US" altLang="en-US" dirty="0"/>
              <a:t>NỐI KÉP </a:t>
            </a:r>
            <a:endParaRPr lang="en-US" altLang="en-US" dirty="0" smtClean="0"/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body" sz="quarter" idx="13"/>
          </p:nvPr>
        </p:nvSpPr>
        <p:spPr>
          <a:noFill/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err="1">
                <a:cs typeface="Times New Roman" panose="02020603050405020304" pitchFamily="18" charset="0"/>
              </a:rPr>
              <a:t>Mô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tả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err="1">
                <a:cs typeface="Times New Roman" panose="02020603050405020304" pitchFamily="18" charset="0"/>
              </a:rPr>
              <a:t>Danh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sách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nối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kép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vòng</a:t>
            </a:r>
            <a:r>
              <a:rPr lang="en-US" altLang="en-US" sz="2000" dirty="0" smtClean="0"/>
              <a:t>:</a:t>
            </a:r>
            <a:endParaRPr lang="en-US" altLang="en-US" sz="2000" dirty="0"/>
          </a:p>
          <a:p>
            <a:pPr lvl="2"/>
            <a:r>
              <a:rPr lang="en-US" altLang="en-US" sz="2000" dirty="0" smtClean="0"/>
              <a:t>Hai </a:t>
            </a:r>
            <a:r>
              <a:rPr lang="en-US" altLang="en-US" sz="2000" dirty="0" err="1" smtClean="0"/>
              <a:t>phần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tử</a:t>
            </a:r>
            <a:r>
              <a:rPr lang="en-US" altLang="en-US" sz="2000" dirty="0" smtClean="0"/>
              <a:t> ở </a:t>
            </a:r>
            <a:r>
              <a:rPr lang="en-US" altLang="en-US" sz="2000" dirty="0" err="1" smtClean="0"/>
              <a:t>hai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đầu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không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có</a:t>
            </a:r>
            <a:r>
              <a:rPr lang="en-US" altLang="en-US" sz="2000" dirty="0" smtClean="0"/>
              <a:t> con </a:t>
            </a:r>
            <a:r>
              <a:rPr lang="en-US" altLang="en-US" sz="2000" dirty="0" err="1" smtClean="0"/>
              <a:t>trỏ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chỉ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tới</a:t>
            </a:r>
            <a:r>
              <a:rPr lang="en-US" altLang="en-US" sz="2000" dirty="0" smtClean="0"/>
              <a:t> NULL</a:t>
            </a:r>
          </a:p>
          <a:p>
            <a:pPr lvl="2"/>
            <a:r>
              <a:rPr lang="en-US" altLang="en-US" sz="2000" dirty="0" err="1" smtClean="0"/>
              <a:t>Danh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sách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rỗng</a:t>
            </a:r>
            <a:r>
              <a:rPr lang="en-US" altLang="en-US" sz="2000" dirty="0" smtClean="0"/>
              <a:t>: H=NULL</a:t>
            </a:r>
          </a:p>
        </p:txBody>
      </p:sp>
      <p:sp>
        <p:nvSpPr>
          <p:cNvPr id="23558" name="Rectangle 5"/>
          <p:cNvSpPr>
            <a:spLocks noChangeArrowheads="1"/>
          </p:cNvSpPr>
          <p:nvPr/>
        </p:nvSpPr>
        <p:spPr bwMode="auto">
          <a:xfrm>
            <a:off x="558799" y="3275013"/>
            <a:ext cx="5176838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Type info;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nextL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nextR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</a:p>
          <a:p>
            <a:pPr eaLnBrk="1" hangingPunct="1"/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/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CDoubleLinkedList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grpSp>
        <p:nvGrpSpPr>
          <p:cNvPr id="23559" name="Group 61"/>
          <p:cNvGrpSpPr>
            <a:grpSpLocks/>
          </p:cNvGrpSpPr>
          <p:nvPr/>
        </p:nvGrpSpPr>
        <p:grpSpPr bwMode="auto">
          <a:xfrm>
            <a:off x="4876800" y="2359025"/>
            <a:ext cx="3967162" cy="1146175"/>
            <a:chOff x="2925" y="958"/>
            <a:chExt cx="2499" cy="722"/>
          </a:xfrm>
        </p:grpSpPr>
        <p:sp>
          <p:nvSpPr>
            <p:cNvPr id="23560" name="Rectangle 31"/>
            <p:cNvSpPr>
              <a:spLocks noChangeArrowheads="1"/>
            </p:cNvSpPr>
            <p:nvPr/>
          </p:nvSpPr>
          <p:spPr bwMode="auto">
            <a:xfrm>
              <a:off x="3126" y="1390"/>
              <a:ext cx="302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1</a:t>
              </a:r>
              <a:endParaRPr lang="en-US" altLang="en-US" sz="2000"/>
            </a:p>
          </p:txBody>
        </p:sp>
        <p:sp>
          <p:nvSpPr>
            <p:cNvPr id="23561" name="Rectangle 32"/>
            <p:cNvSpPr>
              <a:spLocks noChangeArrowheads="1"/>
            </p:cNvSpPr>
            <p:nvPr/>
          </p:nvSpPr>
          <p:spPr bwMode="auto">
            <a:xfrm>
              <a:off x="4025" y="1390"/>
              <a:ext cx="301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2</a:t>
              </a:r>
            </a:p>
          </p:txBody>
        </p:sp>
        <p:sp>
          <p:nvSpPr>
            <p:cNvPr id="23562" name="Rectangle 33"/>
            <p:cNvSpPr>
              <a:spLocks noChangeArrowheads="1"/>
            </p:cNvSpPr>
            <p:nvPr/>
          </p:nvSpPr>
          <p:spPr bwMode="auto">
            <a:xfrm>
              <a:off x="4921" y="1390"/>
              <a:ext cx="302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3</a:t>
              </a:r>
            </a:p>
          </p:txBody>
        </p:sp>
        <p:sp>
          <p:nvSpPr>
            <p:cNvPr id="23563" name="Rectangle 34"/>
            <p:cNvSpPr>
              <a:spLocks noChangeArrowheads="1"/>
            </p:cNvSpPr>
            <p:nvPr/>
          </p:nvSpPr>
          <p:spPr bwMode="auto">
            <a:xfrm>
              <a:off x="3428" y="1391"/>
              <a:ext cx="201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  <p:sp>
          <p:nvSpPr>
            <p:cNvPr id="23564" name="Line 35"/>
            <p:cNvSpPr>
              <a:spLocks noChangeShapeType="1"/>
            </p:cNvSpPr>
            <p:nvPr/>
          </p:nvSpPr>
          <p:spPr bwMode="auto">
            <a:xfrm>
              <a:off x="3510" y="1469"/>
              <a:ext cx="3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5" name="Rectangle 36"/>
            <p:cNvSpPr>
              <a:spLocks noChangeArrowheads="1"/>
            </p:cNvSpPr>
            <p:nvPr/>
          </p:nvSpPr>
          <p:spPr bwMode="auto">
            <a:xfrm>
              <a:off x="4326" y="1391"/>
              <a:ext cx="202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  <p:sp>
          <p:nvSpPr>
            <p:cNvPr id="23566" name="Line 37"/>
            <p:cNvSpPr>
              <a:spLocks noChangeShapeType="1"/>
            </p:cNvSpPr>
            <p:nvPr/>
          </p:nvSpPr>
          <p:spPr bwMode="auto">
            <a:xfrm>
              <a:off x="4408" y="1468"/>
              <a:ext cx="3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7" name="Rectangle 39"/>
            <p:cNvSpPr>
              <a:spLocks noChangeArrowheads="1"/>
            </p:cNvSpPr>
            <p:nvPr/>
          </p:nvSpPr>
          <p:spPr bwMode="auto">
            <a:xfrm>
              <a:off x="5223" y="1391"/>
              <a:ext cx="201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  <p:sp>
          <p:nvSpPr>
            <p:cNvPr id="23568" name="Line 41"/>
            <p:cNvSpPr>
              <a:spLocks noChangeShapeType="1"/>
            </p:cNvSpPr>
            <p:nvPr/>
          </p:nvSpPr>
          <p:spPr bwMode="auto">
            <a:xfrm flipH="1">
              <a:off x="3636" y="1607"/>
              <a:ext cx="3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9" name="Rectangle 42"/>
            <p:cNvSpPr>
              <a:spLocks noChangeArrowheads="1"/>
            </p:cNvSpPr>
            <p:nvPr/>
          </p:nvSpPr>
          <p:spPr bwMode="auto">
            <a:xfrm>
              <a:off x="3820" y="1391"/>
              <a:ext cx="202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  <p:sp>
          <p:nvSpPr>
            <p:cNvPr id="23570" name="Rectangle 44"/>
            <p:cNvSpPr>
              <a:spLocks noChangeArrowheads="1"/>
            </p:cNvSpPr>
            <p:nvPr/>
          </p:nvSpPr>
          <p:spPr bwMode="auto">
            <a:xfrm>
              <a:off x="2925" y="1391"/>
              <a:ext cx="201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  <p:sp>
          <p:nvSpPr>
            <p:cNvPr id="23571" name="Line 46"/>
            <p:cNvSpPr>
              <a:spLocks noChangeShapeType="1"/>
            </p:cNvSpPr>
            <p:nvPr/>
          </p:nvSpPr>
          <p:spPr bwMode="auto">
            <a:xfrm flipH="1">
              <a:off x="4534" y="1607"/>
              <a:ext cx="3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2" name="Rectangle 47"/>
            <p:cNvSpPr>
              <a:spLocks noChangeArrowheads="1"/>
            </p:cNvSpPr>
            <p:nvPr/>
          </p:nvSpPr>
          <p:spPr bwMode="auto">
            <a:xfrm>
              <a:off x="4719" y="1391"/>
              <a:ext cx="202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  <p:sp>
          <p:nvSpPr>
            <p:cNvPr id="23573" name="Text Box 52"/>
            <p:cNvSpPr txBox="1">
              <a:spLocks noChangeArrowheads="1"/>
            </p:cNvSpPr>
            <p:nvPr/>
          </p:nvSpPr>
          <p:spPr bwMode="auto">
            <a:xfrm>
              <a:off x="3359" y="958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 dirty="0"/>
                <a:t>H</a:t>
              </a:r>
            </a:p>
          </p:txBody>
        </p:sp>
        <p:sp>
          <p:nvSpPr>
            <p:cNvPr id="23574" name="Line 53"/>
            <p:cNvSpPr>
              <a:spLocks noChangeShapeType="1"/>
            </p:cNvSpPr>
            <p:nvPr/>
          </p:nvSpPr>
          <p:spPr bwMode="auto">
            <a:xfrm>
              <a:off x="3261" y="1065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23575" name="AutoShape 54"/>
            <p:cNvCxnSpPr>
              <a:cxnSpLocks noChangeShapeType="1"/>
              <a:stCxn id="23570" idx="2"/>
              <a:endCxn id="23567" idx="2"/>
            </p:cNvCxnSpPr>
            <p:nvPr/>
          </p:nvCxnSpPr>
          <p:spPr bwMode="auto">
            <a:xfrm rot="16200000" flipH="1">
              <a:off x="4174" y="531"/>
              <a:ext cx="1" cy="2298"/>
            </a:xfrm>
            <a:prstGeom prst="bentConnector3">
              <a:avLst>
                <a:gd name="adj1" fmla="val 14400005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6" name="AutoShape 55"/>
            <p:cNvCxnSpPr>
              <a:cxnSpLocks noChangeShapeType="1"/>
              <a:stCxn id="23567" idx="3"/>
              <a:endCxn id="23570" idx="1"/>
            </p:cNvCxnSpPr>
            <p:nvPr/>
          </p:nvCxnSpPr>
          <p:spPr bwMode="auto">
            <a:xfrm flipH="1">
              <a:off x="2925" y="1535"/>
              <a:ext cx="2499" cy="1"/>
            </a:xfrm>
            <a:prstGeom prst="bentConnector5">
              <a:avLst>
                <a:gd name="adj1" fmla="val -5764"/>
                <a:gd name="adj2" fmla="val 38400014"/>
                <a:gd name="adj3" fmla="val 10576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77" name="Line 58"/>
            <p:cNvSpPr>
              <a:spLocks noChangeShapeType="1"/>
            </p:cNvSpPr>
            <p:nvPr/>
          </p:nvSpPr>
          <p:spPr bwMode="auto">
            <a:xfrm flipH="1">
              <a:off x="5325" y="153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8" name="Line 59"/>
            <p:cNvSpPr>
              <a:spLocks noChangeShapeType="1"/>
            </p:cNvSpPr>
            <p:nvPr/>
          </p:nvSpPr>
          <p:spPr bwMode="auto">
            <a:xfrm flipV="1">
              <a:off x="3024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Rectangle 63"/>
          <p:cNvSpPr>
            <a:spLocks noChangeArrowheads="1"/>
          </p:cNvSpPr>
          <p:nvPr/>
        </p:nvSpPr>
        <p:spPr bwMode="auto">
          <a:xfrm>
            <a:off x="5278437" y="2319979"/>
            <a:ext cx="322263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/>
        </p:spPr>
        <p:txBody>
          <a:bodyPr wrap="none"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GB" altLang="en-US" sz="2000"/>
          </a:p>
        </p:txBody>
      </p:sp>
    </p:spTree>
    <p:extLst>
      <p:ext uri="{BB962C8B-B14F-4D97-AF65-F5344CB8AC3E}">
        <p14:creationId xmlns:p14="http://schemas.microsoft.com/office/powerpoint/2010/main" val="15256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NỐI KÉP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Ví</a:t>
            </a:r>
            <a:r>
              <a:rPr lang="en-US" sz="2400" dirty="0" smtClean="0"/>
              <a:t> </a:t>
            </a:r>
            <a:r>
              <a:rPr lang="en-US" sz="2400" dirty="0" err="1" smtClean="0"/>
              <a:t>dụ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33600"/>
            <a:ext cx="3190789" cy="27482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2017625"/>
            <a:ext cx="3131321" cy="2864194"/>
          </a:xfrm>
          <a:prstGeom prst="rect">
            <a:avLst/>
          </a:prstGeom>
        </p:spPr>
      </p:pic>
      <p:sp>
        <p:nvSpPr>
          <p:cNvPr id="8" name="Text Box 52"/>
          <p:cNvSpPr txBox="1">
            <a:spLocks noChangeArrowheads="1"/>
          </p:cNvSpPr>
          <p:nvPr/>
        </p:nvSpPr>
        <p:spPr bwMode="auto">
          <a:xfrm>
            <a:off x="5257800" y="1905000"/>
            <a:ext cx="609600" cy="396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xtLst/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000" b="1" dirty="0"/>
              <a:t>H</a:t>
            </a:r>
          </a:p>
        </p:txBody>
      </p:sp>
      <p:sp>
        <p:nvSpPr>
          <p:cNvPr id="9" name="Text Box 52"/>
          <p:cNvSpPr txBox="1">
            <a:spLocks noChangeArrowheads="1"/>
          </p:cNvSpPr>
          <p:nvPr/>
        </p:nvSpPr>
        <p:spPr bwMode="auto">
          <a:xfrm>
            <a:off x="1066800" y="1998575"/>
            <a:ext cx="609600" cy="396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xtLst/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000" b="1" dirty="0"/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86122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2253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911A032-386D-4F1E-962E-D9BA741DE682}" type="slidenum">
              <a:rPr lang="en-US" altLang="en-US" sz="1400"/>
              <a:pPr eaLnBrk="1" hangingPunct="1"/>
              <a:t>31</a:t>
            </a:fld>
            <a:endParaRPr lang="en-US" altLang="en-US" sz="1400"/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 err="1" smtClean="0"/>
              <a:t>Danh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sách</a:t>
            </a:r>
            <a:r>
              <a:rPr lang="en-US" altLang="en-US" dirty="0" smtClean="0"/>
              <a:t> </a:t>
            </a:r>
            <a:r>
              <a:rPr lang="en-US" altLang="en-US" dirty="0"/>
              <a:t>NỐI KÉP </a:t>
            </a:r>
            <a:endParaRPr lang="en-US" altLang="en-US" dirty="0" smtClean="0"/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body" sz="quarter" idx="13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2400" dirty="0" err="1">
                <a:cs typeface="Times New Roman" panose="02020603050405020304" pitchFamily="18" charset="0"/>
              </a:rPr>
              <a:t>Các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phép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toán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chung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 err="1">
                <a:cs typeface="Times New Roman" panose="02020603050405020304" pitchFamily="18" charset="0"/>
              </a:rPr>
              <a:t>Khởi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tạo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danh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sách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altLang="en-US" sz="2000" dirty="0" err="1">
                <a:cs typeface="Times New Roman" panose="02020603050405020304" pitchFamily="18" charset="0"/>
              </a:rPr>
              <a:t>Phép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chèn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một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mới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vào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danh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sách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altLang="en-US" sz="2000" dirty="0" err="1" smtClean="0">
                <a:cs typeface="Times New Roman" panose="02020603050405020304" pitchFamily="18" charset="0"/>
              </a:rPr>
              <a:t>Phép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xoá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khỏi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danh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sách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altLang="en-US" sz="2000" dirty="0" err="1">
                <a:cs typeface="Times New Roman" panose="02020603050405020304" pitchFamily="18" charset="0"/>
              </a:rPr>
              <a:t>Phép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tìm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kiếm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nút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altLang="en-US" sz="2000" dirty="0" err="1">
                <a:cs typeface="Times New Roman" panose="02020603050405020304" pitchFamily="18" charset="0"/>
              </a:rPr>
              <a:t>Phép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duyệt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danh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sách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lvl="1"/>
            <a:endParaRPr lang="en-US" altLang="en-US" sz="2100" dirty="0">
              <a:cs typeface="Times New Roman" panose="02020603050405020304" pitchFamily="18" charset="0"/>
            </a:endParaRPr>
          </a:p>
        </p:txBody>
      </p:sp>
      <p:sp>
        <p:nvSpPr>
          <p:cNvPr id="22534" name="Rectangle 55"/>
          <p:cNvSpPr>
            <a:spLocks noChangeArrowheads="1"/>
          </p:cNvSpPr>
          <p:nvPr/>
        </p:nvSpPr>
        <p:spPr bwMode="auto">
          <a:xfrm>
            <a:off x="914400" y="1714500"/>
            <a:ext cx="76200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10000"/>
              </a:lnSpc>
              <a:buFontTx/>
              <a:buChar char="•"/>
            </a:pPr>
            <a:endParaRPr lang="en-US" altLang="en-US" sz="2000" b="1" i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82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2800" dirty="0" smtClean="0"/>
              <a:t>2.3.4 </a:t>
            </a:r>
            <a:r>
              <a:rPr lang="en-US" altLang="en-US" sz="2800" dirty="0" err="1" smtClean="0"/>
              <a:t>Cài</a:t>
            </a:r>
            <a:r>
              <a:rPr lang="en-US" altLang="en-US" sz="2800" dirty="0" smtClean="0"/>
              <a:t> </a:t>
            </a:r>
            <a:r>
              <a:rPr lang="en-US" altLang="en-US" sz="2800" dirty="0" err="1"/>
              <a:t>đặt</a:t>
            </a:r>
            <a:r>
              <a:rPr lang="en-US" altLang="en-US" sz="2800" dirty="0"/>
              <a:t> LIFO, FIFO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smtClean="0"/>
              <a:t>CTLT </a:t>
            </a:r>
            <a:r>
              <a:rPr lang="en-US" altLang="en-US" sz="2800" dirty="0" err="1" smtClean="0"/>
              <a:t>móc</a:t>
            </a:r>
            <a:r>
              <a:rPr lang="en-US" altLang="en-US" sz="2800" dirty="0" smtClean="0"/>
              <a:t> </a:t>
            </a:r>
            <a:r>
              <a:rPr lang="en-US" altLang="en-US" sz="2800" dirty="0" err="1"/>
              <a:t>nối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err="1">
                <a:cs typeface="Times New Roman" panose="02020603050405020304" pitchFamily="18" charset="0"/>
              </a:rPr>
              <a:t>Biểu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diễn</a:t>
            </a:r>
            <a:r>
              <a:rPr lang="en-US" altLang="en-US" sz="2400" dirty="0">
                <a:cs typeface="Times New Roman" panose="02020603050405020304" pitchFamily="18" charset="0"/>
              </a:rPr>
              <a:t> LIFO hay </a:t>
            </a:r>
            <a:r>
              <a:rPr lang="en-US" altLang="en-US" sz="2400" dirty="0" err="1">
                <a:cs typeface="Times New Roman" panose="02020603050405020304" pitchFamily="18" charset="0"/>
              </a:rPr>
              <a:t>ngăn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xếp</a:t>
            </a:r>
            <a:r>
              <a:rPr lang="en-US" altLang="en-US" sz="2400" dirty="0">
                <a:cs typeface="Times New Roman" panose="02020603050405020304" pitchFamily="18" charset="0"/>
              </a:rPr>
              <a:t> (Stack)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err="1">
                <a:cs typeface="Times New Roman" panose="02020603050405020304" pitchFamily="18" charset="0"/>
              </a:rPr>
              <a:t>C</a:t>
            </a:r>
            <a:r>
              <a:rPr lang="en-US" altLang="en-US" sz="2000" dirty="0" err="1"/>
              <a:t>ách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tổ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chức</a:t>
            </a:r>
            <a:r>
              <a:rPr lang="en-US" altLang="en-US" sz="2000" dirty="0"/>
              <a:t>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 err="1">
                <a:cs typeface="Times New Roman" panose="02020603050405020304" pitchFamily="18" charset="0"/>
              </a:rPr>
              <a:t>Ch</a:t>
            </a:r>
            <a:r>
              <a:rPr lang="en-US" altLang="en-US" sz="2000" dirty="0" err="1"/>
              <a:t>ỉ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cần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một</a:t>
            </a:r>
            <a:r>
              <a:rPr lang="en-US" altLang="en-US" sz="2000" dirty="0"/>
              <a:t> con </a:t>
            </a:r>
            <a:r>
              <a:rPr lang="en-US" altLang="en-US" sz="2000" dirty="0" err="1"/>
              <a:t>trỏ</a:t>
            </a:r>
            <a:r>
              <a:rPr lang="en-US" altLang="en-US" sz="2000" dirty="0"/>
              <a:t> S </a:t>
            </a:r>
            <a:r>
              <a:rPr lang="en-US" altLang="en-US" sz="2000" dirty="0" err="1"/>
              <a:t>vừa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là</a:t>
            </a:r>
            <a:r>
              <a:rPr lang="en-US" altLang="en-US" sz="2000" dirty="0"/>
              <a:t> </a:t>
            </a:r>
            <a:r>
              <a:rPr lang="en-US" altLang="en-US" sz="2000" dirty="0" err="1"/>
              <a:t>đỉnh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vừa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là</a:t>
            </a:r>
            <a:r>
              <a:rPr lang="en-US" altLang="en-US" sz="2000" dirty="0"/>
              <a:t> </a:t>
            </a:r>
            <a:r>
              <a:rPr lang="en-US" altLang="en-US" sz="2000" dirty="0" err="1"/>
              <a:t>điểm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truy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nhập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err="1">
                <a:cs typeface="Times New Roman" panose="02020603050405020304" pitchFamily="18" charset="0"/>
              </a:rPr>
              <a:t>Khai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b</a:t>
            </a:r>
            <a:r>
              <a:rPr lang="en-US" altLang="en-US" sz="2000" dirty="0" err="1"/>
              <a:t>áo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</a:t>
            </a:r>
            <a:r>
              <a:rPr lang="en-US" altLang="en-US" sz="2000" dirty="0" err="1">
                <a:cs typeface="Times New Roman" panose="02020603050405020304" pitchFamily="18" charset="0"/>
              </a:rPr>
              <a:t>ấu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trúc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31875" y="2980055"/>
            <a:ext cx="3048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Type info;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Node* next; 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</a:p>
          <a:p>
            <a:pPr eaLnBrk="1" hangingPunct="1"/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Node*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</a:p>
          <a:p>
            <a:pPr eaLnBrk="1" hangingPunct="1"/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Stack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grpSp>
        <p:nvGrpSpPr>
          <p:cNvPr id="7" name="Group 28"/>
          <p:cNvGrpSpPr>
            <a:grpSpLocks/>
          </p:cNvGrpSpPr>
          <p:nvPr/>
        </p:nvGrpSpPr>
        <p:grpSpPr bwMode="auto">
          <a:xfrm>
            <a:off x="4359275" y="2980055"/>
            <a:ext cx="4352925" cy="609600"/>
            <a:chOff x="2832" y="1632"/>
            <a:chExt cx="2742" cy="384"/>
          </a:xfrm>
        </p:grpSpPr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2928" y="1893"/>
              <a:ext cx="3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3276" y="1768"/>
              <a:ext cx="288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n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4434" y="1768"/>
              <a:ext cx="288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2</a:t>
              </a:r>
              <a:endParaRPr lang="en-US" altLang="en-US" sz="2000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5094" y="1768"/>
              <a:ext cx="288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1</a:t>
              </a:r>
              <a:endParaRPr lang="en-US" altLang="en-US" sz="2000"/>
            </a:p>
          </p:txBody>
        </p:sp>
        <p:grpSp>
          <p:nvGrpSpPr>
            <p:cNvPr id="12" name="Group 11"/>
            <p:cNvGrpSpPr>
              <a:grpSpLocks/>
            </p:cNvGrpSpPr>
            <p:nvPr/>
          </p:nvGrpSpPr>
          <p:grpSpPr bwMode="auto">
            <a:xfrm>
              <a:off x="3564" y="1769"/>
              <a:ext cx="372" cy="247"/>
              <a:chOff x="3108" y="2736"/>
              <a:chExt cx="372" cy="288"/>
            </a:xfrm>
          </p:grpSpPr>
          <p:sp>
            <p:nvSpPr>
              <p:cNvPr id="22" name="Rectangle 12"/>
              <p:cNvSpPr>
                <a:spLocks noChangeArrowheads="1"/>
              </p:cNvSpPr>
              <p:nvPr/>
            </p:nvSpPr>
            <p:spPr bwMode="auto">
              <a:xfrm>
                <a:off x="3108" y="2736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23" name="Line 13"/>
              <p:cNvSpPr>
                <a:spLocks noChangeShapeType="1"/>
              </p:cNvSpPr>
              <p:nvPr/>
            </p:nvSpPr>
            <p:spPr bwMode="auto">
              <a:xfrm>
                <a:off x="3186" y="2874"/>
                <a:ext cx="29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" name="Group 14"/>
            <p:cNvGrpSpPr>
              <a:grpSpLocks/>
            </p:cNvGrpSpPr>
            <p:nvPr/>
          </p:nvGrpSpPr>
          <p:grpSpPr bwMode="auto">
            <a:xfrm>
              <a:off x="4722" y="1769"/>
              <a:ext cx="372" cy="247"/>
              <a:chOff x="3108" y="2736"/>
              <a:chExt cx="372" cy="288"/>
            </a:xfrm>
          </p:grpSpPr>
          <p:sp>
            <p:nvSpPr>
              <p:cNvPr id="20" name="Rectangle 15"/>
              <p:cNvSpPr>
                <a:spLocks noChangeArrowheads="1"/>
              </p:cNvSpPr>
              <p:nvPr/>
            </p:nvSpPr>
            <p:spPr bwMode="auto">
              <a:xfrm>
                <a:off x="3108" y="2736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21" name="Line 16"/>
              <p:cNvSpPr>
                <a:spLocks noChangeShapeType="1"/>
              </p:cNvSpPr>
              <p:nvPr/>
            </p:nvSpPr>
            <p:spPr bwMode="auto">
              <a:xfrm>
                <a:off x="3186" y="2874"/>
                <a:ext cx="29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4" name="Group 17"/>
            <p:cNvGrpSpPr>
              <a:grpSpLocks/>
            </p:cNvGrpSpPr>
            <p:nvPr/>
          </p:nvGrpSpPr>
          <p:grpSpPr bwMode="auto">
            <a:xfrm>
              <a:off x="5382" y="1769"/>
              <a:ext cx="192" cy="247"/>
              <a:chOff x="3204" y="3132"/>
              <a:chExt cx="192" cy="288"/>
            </a:xfrm>
          </p:grpSpPr>
          <p:sp>
            <p:nvSpPr>
              <p:cNvPr id="18" name="Rectangle 18"/>
              <p:cNvSpPr>
                <a:spLocks noChangeArrowheads="1"/>
              </p:cNvSpPr>
              <p:nvPr/>
            </p:nvSpPr>
            <p:spPr bwMode="auto">
              <a:xfrm>
                <a:off x="3204" y="3132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19" name="Line 19"/>
              <p:cNvSpPr>
                <a:spLocks noChangeShapeType="1"/>
              </p:cNvSpPr>
              <p:nvPr/>
            </p:nvSpPr>
            <p:spPr bwMode="auto">
              <a:xfrm flipV="1">
                <a:off x="3204" y="3132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5" name="Rectangle 21"/>
            <p:cNvSpPr>
              <a:spLocks noChangeArrowheads="1"/>
            </p:cNvSpPr>
            <p:nvPr/>
          </p:nvSpPr>
          <p:spPr bwMode="auto">
            <a:xfrm>
              <a:off x="2832" y="1632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b="1"/>
                <a:t>S</a:t>
              </a:r>
            </a:p>
          </p:txBody>
        </p:sp>
        <p:sp>
          <p:nvSpPr>
            <p:cNvPr id="16" name="Rectangle 23"/>
            <p:cNvSpPr>
              <a:spLocks noChangeArrowheads="1"/>
            </p:cNvSpPr>
            <p:nvPr/>
          </p:nvSpPr>
          <p:spPr bwMode="auto">
            <a:xfrm>
              <a:off x="3936" y="1783"/>
              <a:ext cx="288" cy="2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sz="2000"/>
                <a:t>...</a:t>
              </a:r>
            </a:p>
          </p:txBody>
        </p:sp>
        <p:sp>
          <p:nvSpPr>
            <p:cNvPr id="17" name="Line 24"/>
            <p:cNvSpPr>
              <a:spLocks noChangeShapeType="1"/>
            </p:cNvSpPr>
            <p:nvPr/>
          </p:nvSpPr>
          <p:spPr bwMode="auto">
            <a:xfrm>
              <a:off x="4128" y="1887"/>
              <a:ext cx="2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919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2800" dirty="0" err="1"/>
              <a:t>Cài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đặt</a:t>
            </a:r>
            <a:r>
              <a:rPr lang="en-US" altLang="en-US" sz="2800" dirty="0"/>
              <a:t> LIFO, FIFO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cấu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trúc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lưu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trữ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móc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nối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err="1">
                <a:cs typeface="Times New Roman" panose="02020603050405020304" pitchFamily="18" charset="0"/>
              </a:rPr>
              <a:t>Biểu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diễn</a:t>
            </a:r>
            <a:r>
              <a:rPr lang="en-US" altLang="en-US" sz="2400" dirty="0">
                <a:cs typeface="Times New Roman" panose="02020603050405020304" pitchFamily="18" charset="0"/>
              </a:rPr>
              <a:t> LIFO hay </a:t>
            </a:r>
            <a:r>
              <a:rPr lang="en-US" altLang="en-US" sz="2400" dirty="0" err="1">
                <a:cs typeface="Times New Roman" panose="02020603050405020304" pitchFamily="18" charset="0"/>
              </a:rPr>
              <a:t>ngăn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xếp</a:t>
            </a:r>
            <a:r>
              <a:rPr lang="en-US" altLang="en-US" sz="2400" dirty="0">
                <a:cs typeface="Times New Roman" panose="02020603050405020304" pitchFamily="18" charset="0"/>
              </a:rPr>
              <a:t> (Stack)</a:t>
            </a:r>
          </a:p>
          <a:p>
            <a:pPr lvl="1" eaLnBrk="1" hangingPunct="1"/>
            <a:r>
              <a:rPr lang="en-US" altLang="en-US" sz="2000" dirty="0" err="1">
                <a:cs typeface="Times New Roman" panose="02020603050405020304" pitchFamily="18" charset="0"/>
              </a:rPr>
              <a:t>Các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phép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toán</a:t>
            </a:r>
            <a:r>
              <a:rPr lang="en-US" altLang="en-US" sz="2000" dirty="0">
                <a:cs typeface="Times New Roman" panose="02020603050405020304" pitchFamily="18" charset="0"/>
              </a:rPr>
              <a:t>: </a:t>
            </a:r>
            <a:r>
              <a:rPr lang="en-US" altLang="en-US" sz="2000" dirty="0" err="1">
                <a:cs typeface="Times New Roman" panose="02020603050405020304" pitchFamily="18" charset="0"/>
              </a:rPr>
              <a:t>là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các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trường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hợp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đặc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biệt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của</a:t>
            </a:r>
            <a:r>
              <a:rPr lang="en-US" altLang="en-US" sz="2000" dirty="0">
                <a:cs typeface="Times New Roman" panose="02020603050405020304" pitchFamily="18" charset="0"/>
              </a:rPr>
              <a:t> DS </a:t>
            </a:r>
            <a:r>
              <a:rPr lang="en-US" altLang="en-US" sz="2000" dirty="0" err="1">
                <a:cs typeface="Times New Roman" panose="02020603050405020304" pitchFamily="18" charset="0"/>
              </a:rPr>
              <a:t>nối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đơn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lvl="2" eaLnBrk="1" hangingPunct="1"/>
            <a:r>
              <a:rPr lang="en-US" altLang="en-US" sz="2000" b="1" i="1" dirty="0">
                <a:cs typeface="Times New Roman" panose="02020603050405020304" pitchFamily="18" charset="0"/>
              </a:rPr>
              <a:t>Initialize</a:t>
            </a:r>
          </a:p>
          <a:p>
            <a:pPr lvl="2" eaLnBrk="1" hangingPunct="1"/>
            <a:r>
              <a:rPr lang="en-US" altLang="en-US" sz="2000" b="1" i="1" dirty="0" err="1">
                <a:cs typeface="Times New Roman" panose="02020603050405020304" pitchFamily="18" charset="0"/>
              </a:rPr>
              <a:t>isEmpty</a:t>
            </a:r>
            <a:endParaRPr lang="en-US" altLang="en-US" sz="2000" b="1" i="1" dirty="0">
              <a:cs typeface="Times New Roman" panose="02020603050405020304" pitchFamily="18" charset="0"/>
            </a:endParaRPr>
          </a:p>
          <a:p>
            <a:pPr lvl="2" eaLnBrk="1" hangingPunct="1"/>
            <a:r>
              <a:rPr lang="en-US" altLang="en-US" sz="2000" b="1" i="1" dirty="0" err="1">
                <a:cs typeface="Times New Roman" panose="02020603050405020304" pitchFamily="18" charset="0"/>
              </a:rPr>
              <a:t>isFull</a:t>
            </a:r>
            <a:endParaRPr lang="en-US" altLang="en-US" sz="2000" b="1" i="1" dirty="0">
              <a:cs typeface="Times New Roman" panose="02020603050405020304" pitchFamily="18" charset="0"/>
            </a:endParaRPr>
          </a:p>
          <a:p>
            <a:pPr lvl="2" eaLnBrk="1" hangingPunct="1"/>
            <a:r>
              <a:rPr lang="en-US" altLang="en-US" sz="2000" b="1" i="1" dirty="0">
                <a:cs typeface="Times New Roman" panose="02020603050405020304" pitchFamily="18" charset="0"/>
              </a:rPr>
              <a:t>Push</a:t>
            </a:r>
          </a:p>
          <a:p>
            <a:pPr lvl="2" eaLnBrk="1" hangingPunct="1"/>
            <a:r>
              <a:rPr lang="en-US" altLang="en-US" sz="2000" b="1" i="1" dirty="0">
                <a:cs typeface="Times New Roman" panose="02020603050405020304" pitchFamily="18" charset="0"/>
              </a:rPr>
              <a:t>Pop</a:t>
            </a:r>
          </a:p>
          <a:p>
            <a:pPr lvl="2" eaLnBrk="1" hangingPunct="1"/>
            <a:r>
              <a:rPr lang="en-US" altLang="en-US" sz="2000" b="1" i="1" dirty="0" smtClean="0">
                <a:cs typeface="Times New Roman" panose="02020603050405020304" pitchFamily="18" charset="0"/>
              </a:rPr>
              <a:t>Traverse</a:t>
            </a:r>
            <a:endParaRPr lang="en-US" sz="2000" dirty="0"/>
          </a:p>
        </p:txBody>
      </p:sp>
      <p:grpSp>
        <p:nvGrpSpPr>
          <p:cNvPr id="7" name="Group 28"/>
          <p:cNvGrpSpPr>
            <a:grpSpLocks/>
          </p:cNvGrpSpPr>
          <p:nvPr/>
        </p:nvGrpSpPr>
        <p:grpSpPr bwMode="auto">
          <a:xfrm>
            <a:off x="3886200" y="2133600"/>
            <a:ext cx="4352925" cy="609600"/>
            <a:chOff x="2832" y="1632"/>
            <a:chExt cx="2742" cy="384"/>
          </a:xfrm>
        </p:grpSpPr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2928" y="1893"/>
              <a:ext cx="3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3276" y="1768"/>
              <a:ext cx="288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n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4434" y="1768"/>
              <a:ext cx="288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2</a:t>
              </a:r>
              <a:endParaRPr lang="en-US" altLang="en-US" sz="2000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5094" y="1768"/>
              <a:ext cx="288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1</a:t>
              </a:r>
              <a:endParaRPr lang="en-US" altLang="en-US" sz="2000"/>
            </a:p>
          </p:txBody>
        </p:sp>
        <p:grpSp>
          <p:nvGrpSpPr>
            <p:cNvPr id="12" name="Group 11"/>
            <p:cNvGrpSpPr>
              <a:grpSpLocks/>
            </p:cNvGrpSpPr>
            <p:nvPr/>
          </p:nvGrpSpPr>
          <p:grpSpPr bwMode="auto">
            <a:xfrm>
              <a:off x="3564" y="1769"/>
              <a:ext cx="372" cy="247"/>
              <a:chOff x="3108" y="2736"/>
              <a:chExt cx="372" cy="288"/>
            </a:xfrm>
          </p:grpSpPr>
          <p:sp>
            <p:nvSpPr>
              <p:cNvPr id="22" name="Rectangle 12"/>
              <p:cNvSpPr>
                <a:spLocks noChangeArrowheads="1"/>
              </p:cNvSpPr>
              <p:nvPr/>
            </p:nvSpPr>
            <p:spPr bwMode="auto">
              <a:xfrm>
                <a:off x="3108" y="2736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23" name="Line 13"/>
              <p:cNvSpPr>
                <a:spLocks noChangeShapeType="1"/>
              </p:cNvSpPr>
              <p:nvPr/>
            </p:nvSpPr>
            <p:spPr bwMode="auto">
              <a:xfrm>
                <a:off x="3186" y="2874"/>
                <a:ext cx="29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" name="Group 14"/>
            <p:cNvGrpSpPr>
              <a:grpSpLocks/>
            </p:cNvGrpSpPr>
            <p:nvPr/>
          </p:nvGrpSpPr>
          <p:grpSpPr bwMode="auto">
            <a:xfrm>
              <a:off x="4722" y="1769"/>
              <a:ext cx="372" cy="247"/>
              <a:chOff x="3108" y="2736"/>
              <a:chExt cx="372" cy="288"/>
            </a:xfrm>
          </p:grpSpPr>
          <p:sp>
            <p:nvSpPr>
              <p:cNvPr id="20" name="Rectangle 15"/>
              <p:cNvSpPr>
                <a:spLocks noChangeArrowheads="1"/>
              </p:cNvSpPr>
              <p:nvPr/>
            </p:nvSpPr>
            <p:spPr bwMode="auto">
              <a:xfrm>
                <a:off x="3108" y="2736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21" name="Line 16"/>
              <p:cNvSpPr>
                <a:spLocks noChangeShapeType="1"/>
              </p:cNvSpPr>
              <p:nvPr/>
            </p:nvSpPr>
            <p:spPr bwMode="auto">
              <a:xfrm>
                <a:off x="3186" y="2874"/>
                <a:ext cx="29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4" name="Group 17"/>
            <p:cNvGrpSpPr>
              <a:grpSpLocks/>
            </p:cNvGrpSpPr>
            <p:nvPr/>
          </p:nvGrpSpPr>
          <p:grpSpPr bwMode="auto">
            <a:xfrm>
              <a:off x="5382" y="1769"/>
              <a:ext cx="192" cy="247"/>
              <a:chOff x="3204" y="3132"/>
              <a:chExt cx="192" cy="288"/>
            </a:xfrm>
          </p:grpSpPr>
          <p:sp>
            <p:nvSpPr>
              <p:cNvPr id="18" name="Rectangle 18"/>
              <p:cNvSpPr>
                <a:spLocks noChangeArrowheads="1"/>
              </p:cNvSpPr>
              <p:nvPr/>
            </p:nvSpPr>
            <p:spPr bwMode="auto">
              <a:xfrm>
                <a:off x="3204" y="3132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19" name="Line 19"/>
              <p:cNvSpPr>
                <a:spLocks noChangeShapeType="1"/>
              </p:cNvSpPr>
              <p:nvPr/>
            </p:nvSpPr>
            <p:spPr bwMode="auto">
              <a:xfrm flipV="1">
                <a:off x="3204" y="3132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5" name="Rectangle 21"/>
            <p:cNvSpPr>
              <a:spLocks noChangeArrowheads="1"/>
            </p:cNvSpPr>
            <p:nvPr/>
          </p:nvSpPr>
          <p:spPr bwMode="auto">
            <a:xfrm>
              <a:off x="2832" y="1632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b="1"/>
                <a:t>S</a:t>
              </a:r>
            </a:p>
          </p:txBody>
        </p:sp>
        <p:sp>
          <p:nvSpPr>
            <p:cNvPr id="16" name="Rectangle 23"/>
            <p:cNvSpPr>
              <a:spLocks noChangeArrowheads="1"/>
            </p:cNvSpPr>
            <p:nvPr/>
          </p:nvSpPr>
          <p:spPr bwMode="auto">
            <a:xfrm>
              <a:off x="3936" y="1783"/>
              <a:ext cx="288" cy="2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sz="2000"/>
                <a:t>...</a:t>
              </a:r>
            </a:p>
          </p:txBody>
        </p:sp>
        <p:sp>
          <p:nvSpPr>
            <p:cNvPr id="17" name="Line 24"/>
            <p:cNvSpPr>
              <a:spLocks noChangeShapeType="1"/>
            </p:cNvSpPr>
            <p:nvPr/>
          </p:nvSpPr>
          <p:spPr bwMode="auto">
            <a:xfrm>
              <a:off x="4128" y="1887"/>
              <a:ext cx="2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" name="Rectangle 5"/>
          <p:cNvSpPr/>
          <p:nvPr/>
        </p:nvSpPr>
        <p:spPr>
          <a:xfrm>
            <a:off x="3133725" y="3005138"/>
            <a:ext cx="4572000" cy="2363724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eaLnBrk="1" hangingPunct="1">
              <a:spcBef>
                <a:spcPct val="20000"/>
              </a:spcBef>
            </a:pP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Initialize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(Stack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S){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spcBef>
                <a:spcPct val="20000"/>
              </a:spcBef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 = NULL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(Stack S){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return (S==NULL);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 eaLnBrk="1" hangingPunct="1">
              <a:spcBef>
                <a:spcPct val="20000"/>
              </a:spcBef>
            </a:pP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39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2867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AF5F8E8-EC05-4859-98C5-13B26CA38EAE}" type="slidenum">
              <a:rPr lang="en-US" altLang="en-US" sz="1400"/>
              <a:pPr eaLnBrk="1" hangingPunct="1"/>
              <a:t>34</a:t>
            </a:fld>
            <a:endParaRPr lang="en-US" altLang="en-US" sz="1400"/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 err="1"/>
              <a:t>Cài</a:t>
            </a:r>
            <a:r>
              <a:rPr lang="en-US" altLang="en-US" dirty="0"/>
              <a:t> </a:t>
            </a:r>
            <a:r>
              <a:rPr lang="en-US" altLang="en-US" dirty="0" err="1"/>
              <a:t>đặt</a:t>
            </a:r>
            <a:r>
              <a:rPr lang="en-US" altLang="en-US" dirty="0"/>
              <a:t> LIFO, FIFO </a:t>
            </a:r>
            <a:r>
              <a:rPr lang="en-US" altLang="en-US" dirty="0" err="1"/>
              <a:t>bằng</a:t>
            </a:r>
            <a:r>
              <a:rPr lang="en-US" altLang="en-US" dirty="0"/>
              <a:t> </a:t>
            </a:r>
            <a:r>
              <a:rPr lang="en-US" altLang="en-US" dirty="0" err="1"/>
              <a:t>cấu</a:t>
            </a:r>
            <a:r>
              <a:rPr lang="en-US" altLang="en-US" dirty="0"/>
              <a:t> </a:t>
            </a:r>
            <a:r>
              <a:rPr lang="en-US" altLang="en-US" dirty="0" err="1"/>
              <a:t>trúc</a:t>
            </a:r>
            <a:r>
              <a:rPr lang="en-US" altLang="en-US" dirty="0"/>
              <a:t> </a:t>
            </a:r>
            <a:r>
              <a:rPr lang="en-US" altLang="en-US" dirty="0" err="1"/>
              <a:t>lưu</a:t>
            </a:r>
            <a:r>
              <a:rPr lang="en-US" altLang="en-US" dirty="0"/>
              <a:t> </a:t>
            </a:r>
            <a:r>
              <a:rPr lang="en-US" altLang="en-US" dirty="0" err="1"/>
              <a:t>trữ</a:t>
            </a:r>
            <a:r>
              <a:rPr lang="en-US" altLang="en-US" dirty="0"/>
              <a:t> </a:t>
            </a:r>
            <a:r>
              <a:rPr lang="en-US" altLang="en-US" dirty="0" err="1"/>
              <a:t>móc</a:t>
            </a:r>
            <a:r>
              <a:rPr lang="en-US" altLang="en-US" dirty="0"/>
              <a:t> </a:t>
            </a:r>
            <a:r>
              <a:rPr lang="en-US" altLang="en-US" dirty="0" err="1"/>
              <a:t>nối</a:t>
            </a:r>
            <a:endParaRPr lang="en-US" altLang="en-US" dirty="0" smtClean="0">
              <a:solidFill>
                <a:schemeClr val="tx1"/>
              </a:solidFill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body" sz="quarter" idx="13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 err="1" smtClean="0">
                <a:cs typeface="Times New Roman" panose="02020603050405020304" pitchFamily="18" charset="0"/>
              </a:rPr>
              <a:t>Biểu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diễn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LIFO hay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ngăn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xếp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(Stack)</a:t>
            </a:r>
          </a:p>
          <a:p>
            <a:pPr lvl="1" eaLnBrk="1" hangingPunct="1"/>
            <a:r>
              <a:rPr lang="en-US" altLang="en-US" sz="2000" dirty="0" err="1" smtClean="0">
                <a:cs typeface="Times New Roman" panose="02020603050405020304" pitchFamily="18" charset="0"/>
              </a:rPr>
              <a:t>Các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phép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toán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: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bổ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sung 1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phần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tử</a:t>
            </a:r>
            <a:endParaRPr lang="en-US" altLang="en-US" sz="2000" dirty="0" smtClean="0">
              <a:cs typeface="Times New Roman" panose="02020603050405020304" pitchFamily="18" charset="0"/>
            </a:endParaRPr>
          </a:p>
        </p:txBody>
      </p:sp>
      <p:sp>
        <p:nvSpPr>
          <p:cNvPr id="28678" name="Rectangle 23"/>
          <p:cNvSpPr>
            <a:spLocks noChangeArrowheads="1"/>
          </p:cNvSpPr>
          <p:nvPr/>
        </p:nvSpPr>
        <p:spPr bwMode="auto">
          <a:xfrm>
            <a:off x="1943100" y="2016922"/>
            <a:ext cx="4403725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Push</a:t>
            </a: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 (Type x, Stack </a:t>
            </a:r>
            <a:r>
              <a:rPr lang="en-US" altLang="en-US" sz="18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 P;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	P = new </a:t>
            </a:r>
            <a:r>
              <a:rPr lang="en-US" altLang="en-US" sz="18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	P-&gt;info = x;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	P-&gt;next = S;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	S = P;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603375" y="4743926"/>
            <a:ext cx="5486400" cy="1284288"/>
            <a:chOff x="3260725" y="4648200"/>
            <a:chExt cx="5486400" cy="1284288"/>
          </a:xfrm>
        </p:grpSpPr>
        <p:sp>
          <p:nvSpPr>
            <p:cNvPr id="28679" name="Line 5"/>
            <p:cNvSpPr>
              <a:spLocks noChangeShapeType="1"/>
            </p:cNvSpPr>
            <p:nvPr/>
          </p:nvSpPr>
          <p:spPr bwMode="auto">
            <a:xfrm>
              <a:off x="4251325" y="4899025"/>
              <a:ext cx="847725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0" name="Rectangle 6"/>
            <p:cNvSpPr>
              <a:spLocks noChangeArrowheads="1"/>
            </p:cNvSpPr>
            <p:nvPr/>
          </p:nvSpPr>
          <p:spPr bwMode="auto">
            <a:xfrm>
              <a:off x="5099050" y="4700588"/>
              <a:ext cx="457200" cy="3921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n</a:t>
              </a:r>
            </a:p>
          </p:txBody>
        </p:sp>
        <p:sp>
          <p:nvSpPr>
            <p:cNvPr id="28681" name="Rectangle 7"/>
            <p:cNvSpPr>
              <a:spLocks noChangeArrowheads="1"/>
            </p:cNvSpPr>
            <p:nvPr/>
          </p:nvSpPr>
          <p:spPr bwMode="auto">
            <a:xfrm>
              <a:off x="6937375" y="4700588"/>
              <a:ext cx="457200" cy="3921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2</a:t>
              </a:r>
              <a:endParaRPr lang="en-US" altLang="en-US" sz="2000"/>
            </a:p>
          </p:txBody>
        </p:sp>
        <p:sp>
          <p:nvSpPr>
            <p:cNvPr id="28682" name="Rectangle 8"/>
            <p:cNvSpPr>
              <a:spLocks noChangeArrowheads="1"/>
            </p:cNvSpPr>
            <p:nvPr/>
          </p:nvSpPr>
          <p:spPr bwMode="auto">
            <a:xfrm>
              <a:off x="7985125" y="4700588"/>
              <a:ext cx="457200" cy="3921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1</a:t>
              </a:r>
              <a:endParaRPr lang="en-US" altLang="en-US" sz="2000"/>
            </a:p>
          </p:txBody>
        </p:sp>
        <p:grpSp>
          <p:nvGrpSpPr>
            <p:cNvPr id="28683" name="Group 9"/>
            <p:cNvGrpSpPr>
              <a:grpSpLocks/>
            </p:cNvGrpSpPr>
            <p:nvPr/>
          </p:nvGrpSpPr>
          <p:grpSpPr bwMode="auto">
            <a:xfrm>
              <a:off x="5556250" y="4702175"/>
              <a:ext cx="590550" cy="392113"/>
              <a:chOff x="3108" y="2736"/>
              <a:chExt cx="372" cy="288"/>
            </a:xfrm>
          </p:grpSpPr>
          <p:sp>
            <p:nvSpPr>
              <p:cNvPr id="28701" name="Rectangle 10"/>
              <p:cNvSpPr>
                <a:spLocks noChangeArrowheads="1"/>
              </p:cNvSpPr>
              <p:nvPr/>
            </p:nvSpPr>
            <p:spPr bwMode="auto">
              <a:xfrm>
                <a:off x="3108" y="2736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28702" name="Line 11"/>
              <p:cNvSpPr>
                <a:spLocks noChangeShapeType="1"/>
              </p:cNvSpPr>
              <p:nvPr/>
            </p:nvSpPr>
            <p:spPr bwMode="auto">
              <a:xfrm>
                <a:off x="3186" y="2874"/>
                <a:ext cx="29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84" name="Group 12"/>
            <p:cNvGrpSpPr>
              <a:grpSpLocks/>
            </p:cNvGrpSpPr>
            <p:nvPr/>
          </p:nvGrpSpPr>
          <p:grpSpPr bwMode="auto">
            <a:xfrm>
              <a:off x="7394575" y="4702175"/>
              <a:ext cx="590550" cy="392113"/>
              <a:chOff x="3108" y="2736"/>
              <a:chExt cx="372" cy="288"/>
            </a:xfrm>
          </p:grpSpPr>
          <p:sp>
            <p:nvSpPr>
              <p:cNvPr id="28699" name="Rectangle 13"/>
              <p:cNvSpPr>
                <a:spLocks noChangeArrowheads="1"/>
              </p:cNvSpPr>
              <p:nvPr/>
            </p:nvSpPr>
            <p:spPr bwMode="auto">
              <a:xfrm>
                <a:off x="3108" y="2736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28700" name="Line 14"/>
              <p:cNvSpPr>
                <a:spLocks noChangeShapeType="1"/>
              </p:cNvSpPr>
              <p:nvPr/>
            </p:nvSpPr>
            <p:spPr bwMode="auto">
              <a:xfrm>
                <a:off x="3186" y="2874"/>
                <a:ext cx="29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85" name="Group 15"/>
            <p:cNvGrpSpPr>
              <a:grpSpLocks/>
            </p:cNvGrpSpPr>
            <p:nvPr/>
          </p:nvGrpSpPr>
          <p:grpSpPr bwMode="auto">
            <a:xfrm>
              <a:off x="8442325" y="4702175"/>
              <a:ext cx="304800" cy="392113"/>
              <a:chOff x="3204" y="3132"/>
              <a:chExt cx="192" cy="288"/>
            </a:xfrm>
          </p:grpSpPr>
          <p:sp>
            <p:nvSpPr>
              <p:cNvPr id="28697" name="Rectangle 16"/>
              <p:cNvSpPr>
                <a:spLocks noChangeArrowheads="1"/>
              </p:cNvSpPr>
              <p:nvPr/>
            </p:nvSpPr>
            <p:spPr bwMode="auto">
              <a:xfrm>
                <a:off x="3204" y="3132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28698" name="Line 17"/>
              <p:cNvSpPr>
                <a:spLocks noChangeShapeType="1"/>
              </p:cNvSpPr>
              <p:nvPr/>
            </p:nvSpPr>
            <p:spPr bwMode="auto">
              <a:xfrm flipV="1">
                <a:off x="3204" y="3132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8686" name="Rectangle 19"/>
            <p:cNvSpPr>
              <a:spLocks noChangeArrowheads="1"/>
            </p:cNvSpPr>
            <p:nvPr/>
          </p:nvSpPr>
          <p:spPr bwMode="auto">
            <a:xfrm>
              <a:off x="3886200" y="4648200"/>
              <a:ext cx="3540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b="1"/>
                <a:t>S</a:t>
              </a:r>
            </a:p>
          </p:txBody>
        </p:sp>
        <p:sp>
          <p:nvSpPr>
            <p:cNvPr id="28687" name="Rectangle 20"/>
            <p:cNvSpPr>
              <a:spLocks noChangeArrowheads="1"/>
            </p:cNvSpPr>
            <p:nvPr/>
          </p:nvSpPr>
          <p:spPr bwMode="auto">
            <a:xfrm>
              <a:off x="6146800" y="4724400"/>
              <a:ext cx="457200" cy="3698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sz="2000"/>
                <a:t>...</a:t>
              </a:r>
            </a:p>
          </p:txBody>
        </p:sp>
        <p:sp>
          <p:nvSpPr>
            <p:cNvPr id="28688" name="Line 21"/>
            <p:cNvSpPr>
              <a:spLocks noChangeShapeType="1"/>
            </p:cNvSpPr>
            <p:nvPr/>
          </p:nvSpPr>
          <p:spPr bwMode="auto">
            <a:xfrm>
              <a:off x="6451600" y="4889500"/>
              <a:ext cx="4667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9" name="Rectangle 24"/>
            <p:cNvSpPr>
              <a:spLocks noChangeArrowheads="1"/>
            </p:cNvSpPr>
            <p:nvPr/>
          </p:nvSpPr>
          <p:spPr bwMode="auto">
            <a:xfrm>
              <a:off x="4032250" y="5538788"/>
              <a:ext cx="457200" cy="3921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x</a:t>
              </a:r>
              <a:endParaRPr lang="en-US" altLang="en-US" sz="2000" baseline="-25000"/>
            </a:p>
          </p:txBody>
        </p:sp>
        <p:sp>
          <p:nvSpPr>
            <p:cNvPr id="28690" name="Rectangle 26"/>
            <p:cNvSpPr>
              <a:spLocks noChangeArrowheads="1"/>
            </p:cNvSpPr>
            <p:nvPr/>
          </p:nvSpPr>
          <p:spPr bwMode="auto">
            <a:xfrm>
              <a:off x="4489450" y="5540375"/>
              <a:ext cx="304800" cy="392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  <p:sp>
          <p:nvSpPr>
            <p:cNvPr id="28691" name="Line 28"/>
            <p:cNvSpPr>
              <a:spLocks noChangeShapeType="1"/>
            </p:cNvSpPr>
            <p:nvPr/>
          </p:nvSpPr>
          <p:spPr bwMode="auto">
            <a:xfrm flipH="1">
              <a:off x="4260850" y="4941888"/>
              <a:ext cx="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8692" name="AutoShape 29"/>
            <p:cNvCxnSpPr>
              <a:cxnSpLocks noChangeShapeType="1"/>
              <a:stCxn id="28690" idx="3"/>
              <a:endCxn id="28680" idx="2"/>
            </p:cNvCxnSpPr>
            <p:nvPr/>
          </p:nvCxnSpPr>
          <p:spPr bwMode="auto">
            <a:xfrm flipV="1">
              <a:off x="4794250" y="5092700"/>
              <a:ext cx="533400" cy="643732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693" name="Rectangle 30"/>
            <p:cNvSpPr>
              <a:spLocks noChangeArrowheads="1"/>
            </p:cNvSpPr>
            <p:nvPr/>
          </p:nvSpPr>
          <p:spPr bwMode="auto">
            <a:xfrm>
              <a:off x="4556125" y="4713288"/>
              <a:ext cx="2540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/>
                <a:t>/</a:t>
              </a:r>
            </a:p>
          </p:txBody>
        </p:sp>
        <p:sp>
          <p:nvSpPr>
            <p:cNvPr id="28694" name="Rectangle 32"/>
            <p:cNvSpPr>
              <a:spLocks noChangeArrowheads="1"/>
            </p:cNvSpPr>
            <p:nvPr/>
          </p:nvSpPr>
          <p:spPr bwMode="auto">
            <a:xfrm>
              <a:off x="3260725" y="5154613"/>
              <a:ext cx="339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P</a:t>
              </a:r>
            </a:p>
          </p:txBody>
        </p:sp>
        <p:sp>
          <p:nvSpPr>
            <p:cNvPr id="28695" name="Line 34"/>
            <p:cNvSpPr>
              <a:spLocks noChangeShapeType="1"/>
            </p:cNvSpPr>
            <p:nvPr/>
          </p:nvSpPr>
          <p:spPr bwMode="auto">
            <a:xfrm>
              <a:off x="3336925" y="5703888"/>
              <a:ext cx="6953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702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2867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AF5F8E8-EC05-4859-98C5-13B26CA38EAE}" type="slidenum">
              <a:rPr lang="en-US" altLang="en-US" sz="1400"/>
              <a:pPr eaLnBrk="1" hangingPunct="1"/>
              <a:t>35</a:t>
            </a:fld>
            <a:endParaRPr lang="en-US" altLang="en-US" sz="1400"/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 err="1"/>
              <a:t>Cài</a:t>
            </a:r>
            <a:r>
              <a:rPr lang="en-US" altLang="en-US" dirty="0"/>
              <a:t> </a:t>
            </a:r>
            <a:r>
              <a:rPr lang="en-US" altLang="en-US" dirty="0" err="1"/>
              <a:t>đặt</a:t>
            </a:r>
            <a:r>
              <a:rPr lang="en-US" altLang="en-US" dirty="0"/>
              <a:t> LIFO, FIFO </a:t>
            </a:r>
            <a:r>
              <a:rPr lang="en-US" altLang="en-US" dirty="0" err="1"/>
              <a:t>bằng</a:t>
            </a:r>
            <a:r>
              <a:rPr lang="en-US" altLang="en-US" dirty="0"/>
              <a:t> </a:t>
            </a:r>
            <a:r>
              <a:rPr lang="en-US" altLang="en-US" dirty="0" err="1"/>
              <a:t>cấu</a:t>
            </a:r>
            <a:r>
              <a:rPr lang="en-US" altLang="en-US" dirty="0"/>
              <a:t> </a:t>
            </a:r>
            <a:r>
              <a:rPr lang="en-US" altLang="en-US" dirty="0" err="1"/>
              <a:t>trúc</a:t>
            </a:r>
            <a:r>
              <a:rPr lang="en-US" altLang="en-US" dirty="0"/>
              <a:t> </a:t>
            </a:r>
            <a:r>
              <a:rPr lang="en-US" altLang="en-US" dirty="0" err="1"/>
              <a:t>lưu</a:t>
            </a:r>
            <a:r>
              <a:rPr lang="en-US" altLang="en-US" dirty="0"/>
              <a:t> </a:t>
            </a:r>
            <a:r>
              <a:rPr lang="en-US" altLang="en-US" dirty="0" err="1"/>
              <a:t>trữ</a:t>
            </a:r>
            <a:r>
              <a:rPr lang="en-US" altLang="en-US" dirty="0"/>
              <a:t> </a:t>
            </a:r>
            <a:r>
              <a:rPr lang="en-US" altLang="en-US" dirty="0" err="1"/>
              <a:t>móc</a:t>
            </a:r>
            <a:r>
              <a:rPr lang="en-US" altLang="en-US" dirty="0"/>
              <a:t> </a:t>
            </a:r>
            <a:r>
              <a:rPr lang="en-US" altLang="en-US" dirty="0" err="1"/>
              <a:t>nối</a:t>
            </a:r>
            <a:endParaRPr lang="en-US" altLang="en-US" dirty="0" smtClean="0">
              <a:solidFill>
                <a:schemeClr val="tx1"/>
              </a:solidFill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body" sz="quarter" idx="13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 err="1" smtClean="0">
                <a:cs typeface="Times New Roman" panose="02020603050405020304" pitchFamily="18" charset="0"/>
              </a:rPr>
              <a:t>Biểu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diễn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LIFO hay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ngăn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xếp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(Stack)</a:t>
            </a:r>
          </a:p>
          <a:p>
            <a:pPr lvl="1" eaLnBrk="1" hangingPunct="1"/>
            <a:r>
              <a:rPr lang="en-US" altLang="en-US" sz="2000" dirty="0" err="1" smtClean="0">
                <a:cs typeface="Times New Roman" panose="02020603050405020304" pitchFamily="18" charset="0"/>
              </a:rPr>
              <a:t>Các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phép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toán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: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loại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bỏ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1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phần</a:t>
            </a:r>
            <a:r>
              <a:rPr lang="en-US" altLang="en-US" sz="2000" dirty="0" smtClean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 smtClean="0">
                <a:cs typeface="Times New Roman" panose="02020603050405020304" pitchFamily="18" charset="0"/>
              </a:rPr>
              <a:t>tử</a:t>
            </a:r>
            <a:endParaRPr lang="en-US" altLang="en-US" sz="2000" dirty="0" smtClean="0">
              <a:cs typeface="Times New Roman" panose="02020603050405020304" pitchFamily="18" charset="0"/>
            </a:endParaRPr>
          </a:p>
        </p:txBody>
      </p:sp>
      <p:sp>
        <p:nvSpPr>
          <p:cNvPr id="34" name="Rectangle 22"/>
          <p:cNvSpPr>
            <a:spLocks noChangeArrowheads="1"/>
          </p:cNvSpPr>
          <p:nvPr/>
        </p:nvSpPr>
        <p:spPr bwMode="auto">
          <a:xfrm>
            <a:off x="1554162" y="1892300"/>
            <a:ext cx="6118225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ts val="0"/>
              </a:spcBef>
            </a:pP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altLang="en-US" sz="18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Pop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(Stack S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Item x ;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en-US" altLang="en-US" sz="1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(S)) return NULL;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else {</a:t>
            </a:r>
            <a:endParaRPr lang="en-US" altLang="en-US" sz="1800" dirty="0">
              <a:solidFill>
                <a:srgbClr val="FF66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S-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&gt;info;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S = S-&gt;next;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x;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32" name="Group 55"/>
          <p:cNvGrpSpPr>
            <a:grpSpLocks/>
          </p:cNvGrpSpPr>
          <p:nvPr/>
        </p:nvGrpSpPr>
        <p:grpSpPr bwMode="auto">
          <a:xfrm>
            <a:off x="2159000" y="4695030"/>
            <a:ext cx="4800600" cy="1158875"/>
            <a:chOff x="2486" y="2496"/>
            <a:chExt cx="3024" cy="730"/>
          </a:xfrm>
        </p:grpSpPr>
        <p:sp>
          <p:nvSpPr>
            <p:cNvPr id="33" name="Line 24"/>
            <p:cNvSpPr>
              <a:spLocks noChangeShapeType="1"/>
            </p:cNvSpPr>
            <p:nvPr/>
          </p:nvSpPr>
          <p:spPr bwMode="auto">
            <a:xfrm>
              <a:off x="2678" y="3093"/>
              <a:ext cx="534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Rectangle 25"/>
            <p:cNvSpPr>
              <a:spLocks noChangeArrowheads="1"/>
            </p:cNvSpPr>
            <p:nvPr/>
          </p:nvSpPr>
          <p:spPr bwMode="auto">
            <a:xfrm>
              <a:off x="3212" y="2968"/>
              <a:ext cx="288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n</a:t>
              </a:r>
            </a:p>
          </p:txBody>
        </p:sp>
        <p:sp>
          <p:nvSpPr>
            <p:cNvPr id="36" name="Rectangle 26"/>
            <p:cNvSpPr>
              <a:spLocks noChangeArrowheads="1"/>
            </p:cNvSpPr>
            <p:nvPr/>
          </p:nvSpPr>
          <p:spPr bwMode="auto">
            <a:xfrm>
              <a:off x="3888" y="2968"/>
              <a:ext cx="288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 dirty="0"/>
                <a:t>A</a:t>
              </a:r>
              <a:r>
                <a:rPr lang="en-US" altLang="en-US" sz="2000" baseline="-25000" dirty="0"/>
                <a:t>n-1</a:t>
              </a:r>
              <a:endParaRPr lang="en-US" altLang="en-US" sz="2000" dirty="0"/>
            </a:p>
          </p:txBody>
        </p:sp>
        <p:sp>
          <p:nvSpPr>
            <p:cNvPr id="37" name="Rectangle 27"/>
            <p:cNvSpPr>
              <a:spLocks noChangeArrowheads="1"/>
            </p:cNvSpPr>
            <p:nvPr/>
          </p:nvSpPr>
          <p:spPr bwMode="auto">
            <a:xfrm>
              <a:off x="5030" y="2968"/>
              <a:ext cx="288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1</a:t>
              </a:r>
              <a:endParaRPr lang="en-US" altLang="en-US" sz="2000"/>
            </a:p>
          </p:txBody>
        </p:sp>
        <p:grpSp>
          <p:nvGrpSpPr>
            <p:cNvPr id="38" name="Group 28"/>
            <p:cNvGrpSpPr>
              <a:grpSpLocks/>
            </p:cNvGrpSpPr>
            <p:nvPr/>
          </p:nvGrpSpPr>
          <p:grpSpPr bwMode="auto">
            <a:xfrm>
              <a:off x="3500" y="2969"/>
              <a:ext cx="372" cy="247"/>
              <a:chOff x="3108" y="2736"/>
              <a:chExt cx="372" cy="288"/>
            </a:xfrm>
          </p:grpSpPr>
          <p:sp>
            <p:nvSpPr>
              <p:cNvPr id="54" name="Rectangle 29"/>
              <p:cNvSpPr>
                <a:spLocks noChangeArrowheads="1"/>
              </p:cNvSpPr>
              <p:nvPr/>
            </p:nvSpPr>
            <p:spPr bwMode="auto">
              <a:xfrm>
                <a:off x="3108" y="2736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55" name="Line 30"/>
              <p:cNvSpPr>
                <a:spLocks noChangeShapeType="1"/>
              </p:cNvSpPr>
              <p:nvPr/>
            </p:nvSpPr>
            <p:spPr bwMode="auto">
              <a:xfrm>
                <a:off x="3186" y="2874"/>
                <a:ext cx="29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9" name="Group 31"/>
            <p:cNvGrpSpPr>
              <a:grpSpLocks/>
            </p:cNvGrpSpPr>
            <p:nvPr/>
          </p:nvGrpSpPr>
          <p:grpSpPr bwMode="auto">
            <a:xfrm>
              <a:off x="4176" y="2969"/>
              <a:ext cx="372" cy="247"/>
              <a:chOff x="3108" y="2736"/>
              <a:chExt cx="372" cy="288"/>
            </a:xfrm>
          </p:grpSpPr>
          <p:sp>
            <p:nvSpPr>
              <p:cNvPr id="52" name="Rectangle 32"/>
              <p:cNvSpPr>
                <a:spLocks noChangeArrowheads="1"/>
              </p:cNvSpPr>
              <p:nvPr/>
            </p:nvSpPr>
            <p:spPr bwMode="auto">
              <a:xfrm>
                <a:off x="3108" y="2736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53" name="Line 33"/>
              <p:cNvSpPr>
                <a:spLocks noChangeShapeType="1"/>
              </p:cNvSpPr>
              <p:nvPr/>
            </p:nvSpPr>
            <p:spPr bwMode="auto">
              <a:xfrm>
                <a:off x="3186" y="2874"/>
                <a:ext cx="29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0" name="Group 34"/>
            <p:cNvGrpSpPr>
              <a:grpSpLocks/>
            </p:cNvGrpSpPr>
            <p:nvPr/>
          </p:nvGrpSpPr>
          <p:grpSpPr bwMode="auto">
            <a:xfrm>
              <a:off x="5318" y="2969"/>
              <a:ext cx="192" cy="247"/>
              <a:chOff x="3204" y="3132"/>
              <a:chExt cx="192" cy="288"/>
            </a:xfrm>
          </p:grpSpPr>
          <p:sp>
            <p:nvSpPr>
              <p:cNvPr id="50" name="Rectangle 35"/>
              <p:cNvSpPr>
                <a:spLocks noChangeArrowheads="1"/>
              </p:cNvSpPr>
              <p:nvPr/>
            </p:nvSpPr>
            <p:spPr bwMode="auto">
              <a:xfrm>
                <a:off x="3204" y="3132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51" name="Line 36"/>
              <p:cNvSpPr>
                <a:spLocks noChangeShapeType="1"/>
              </p:cNvSpPr>
              <p:nvPr/>
            </p:nvSpPr>
            <p:spPr bwMode="auto">
              <a:xfrm flipV="1">
                <a:off x="3204" y="3132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" name="Rectangle 38"/>
            <p:cNvSpPr>
              <a:spLocks noChangeArrowheads="1"/>
            </p:cNvSpPr>
            <p:nvPr/>
          </p:nvSpPr>
          <p:spPr bwMode="auto">
            <a:xfrm>
              <a:off x="2486" y="2832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b="1"/>
                <a:t>S</a:t>
              </a:r>
            </a:p>
          </p:txBody>
        </p:sp>
        <p:sp>
          <p:nvSpPr>
            <p:cNvPr id="42" name="Rectangle 39"/>
            <p:cNvSpPr>
              <a:spLocks noChangeArrowheads="1"/>
            </p:cNvSpPr>
            <p:nvPr/>
          </p:nvSpPr>
          <p:spPr bwMode="auto">
            <a:xfrm>
              <a:off x="4554" y="2976"/>
              <a:ext cx="288" cy="2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sz="2000"/>
                <a:t>...</a:t>
              </a:r>
            </a:p>
          </p:txBody>
        </p:sp>
        <p:sp>
          <p:nvSpPr>
            <p:cNvPr id="43" name="Line 40"/>
            <p:cNvSpPr>
              <a:spLocks noChangeShapeType="1"/>
            </p:cNvSpPr>
            <p:nvPr/>
          </p:nvSpPr>
          <p:spPr bwMode="auto">
            <a:xfrm>
              <a:off x="4746" y="3087"/>
              <a:ext cx="2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Line 43"/>
            <p:cNvSpPr>
              <a:spLocks noChangeShapeType="1"/>
            </p:cNvSpPr>
            <p:nvPr/>
          </p:nvSpPr>
          <p:spPr bwMode="auto">
            <a:xfrm flipH="1" flipV="1">
              <a:off x="3072" y="2784"/>
              <a:ext cx="24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Dot"/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45" name="AutoShape 44"/>
            <p:cNvCxnSpPr>
              <a:cxnSpLocks noChangeShapeType="1"/>
              <a:stCxn id="33" idx="0"/>
              <a:endCxn id="36" idx="2"/>
            </p:cNvCxnSpPr>
            <p:nvPr/>
          </p:nvCxnSpPr>
          <p:spPr bwMode="auto">
            <a:xfrm rot="5400000" flipV="1">
              <a:off x="3294" y="2477"/>
              <a:ext cx="122" cy="1354"/>
            </a:xfrm>
            <a:prstGeom prst="bentConnector5">
              <a:avLst>
                <a:gd name="adj1" fmla="val 254917"/>
                <a:gd name="adj2" fmla="val 64403"/>
                <a:gd name="adj3" fmla="val 255736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2870" y="2976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/>
                <a:t>/</a:t>
              </a:r>
            </a:p>
          </p:txBody>
        </p:sp>
        <p:sp>
          <p:nvSpPr>
            <p:cNvPr id="47" name="Rectangle 49"/>
            <p:cNvSpPr>
              <a:spLocks noChangeArrowheads="1"/>
            </p:cNvSpPr>
            <p:nvPr/>
          </p:nvSpPr>
          <p:spPr bwMode="auto">
            <a:xfrm>
              <a:off x="2928" y="253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/>
                <a:t>x</a:t>
              </a:r>
            </a:p>
          </p:txBody>
        </p:sp>
        <p:sp>
          <p:nvSpPr>
            <p:cNvPr id="48" name="Rectangle 52"/>
            <p:cNvSpPr>
              <a:spLocks noChangeArrowheads="1"/>
            </p:cNvSpPr>
            <p:nvPr/>
          </p:nvSpPr>
          <p:spPr bwMode="auto">
            <a:xfrm>
              <a:off x="3360" y="2496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b="1"/>
                <a:t>P</a:t>
              </a:r>
            </a:p>
          </p:txBody>
        </p:sp>
        <p:sp>
          <p:nvSpPr>
            <p:cNvPr id="49" name="Line 53"/>
            <p:cNvSpPr>
              <a:spLocks noChangeShapeType="1"/>
            </p:cNvSpPr>
            <p:nvPr/>
          </p:nvSpPr>
          <p:spPr bwMode="auto">
            <a:xfrm flipH="1">
              <a:off x="3360" y="2640"/>
              <a:ext cx="0" cy="33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0888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2867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AF5F8E8-EC05-4859-98C5-13B26CA38EAE}" type="slidenum">
              <a:rPr lang="en-US" altLang="en-US" sz="1400"/>
              <a:pPr eaLnBrk="1" hangingPunct="1"/>
              <a:t>36</a:t>
            </a:fld>
            <a:endParaRPr lang="en-US" altLang="en-US" sz="1400"/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 err="1"/>
              <a:t>Cài</a:t>
            </a:r>
            <a:r>
              <a:rPr lang="en-US" altLang="en-US" dirty="0"/>
              <a:t> </a:t>
            </a:r>
            <a:r>
              <a:rPr lang="en-US" altLang="en-US" dirty="0" err="1"/>
              <a:t>đặt</a:t>
            </a:r>
            <a:r>
              <a:rPr lang="en-US" altLang="en-US" dirty="0"/>
              <a:t> LIFO, FIFO </a:t>
            </a:r>
            <a:r>
              <a:rPr lang="en-US" altLang="en-US" dirty="0" err="1"/>
              <a:t>bằng</a:t>
            </a:r>
            <a:r>
              <a:rPr lang="en-US" altLang="en-US" dirty="0"/>
              <a:t> </a:t>
            </a:r>
            <a:r>
              <a:rPr lang="en-US" altLang="en-US" dirty="0" err="1"/>
              <a:t>cấu</a:t>
            </a:r>
            <a:r>
              <a:rPr lang="en-US" altLang="en-US" dirty="0"/>
              <a:t> </a:t>
            </a:r>
            <a:r>
              <a:rPr lang="en-US" altLang="en-US" dirty="0" err="1"/>
              <a:t>trúc</a:t>
            </a:r>
            <a:r>
              <a:rPr lang="en-US" altLang="en-US" dirty="0"/>
              <a:t> </a:t>
            </a:r>
            <a:r>
              <a:rPr lang="en-US" altLang="en-US" dirty="0" err="1"/>
              <a:t>lưu</a:t>
            </a:r>
            <a:r>
              <a:rPr lang="en-US" altLang="en-US" dirty="0"/>
              <a:t> </a:t>
            </a:r>
            <a:r>
              <a:rPr lang="en-US" altLang="en-US" dirty="0" err="1"/>
              <a:t>trữ</a:t>
            </a:r>
            <a:r>
              <a:rPr lang="en-US" altLang="en-US" dirty="0"/>
              <a:t> </a:t>
            </a:r>
            <a:r>
              <a:rPr lang="en-US" altLang="en-US" dirty="0" err="1"/>
              <a:t>móc</a:t>
            </a:r>
            <a:r>
              <a:rPr lang="en-US" altLang="en-US" dirty="0"/>
              <a:t> </a:t>
            </a:r>
            <a:r>
              <a:rPr lang="en-US" altLang="en-US" dirty="0" err="1"/>
              <a:t>nối</a:t>
            </a:r>
            <a:endParaRPr lang="en-US" altLang="en-US" dirty="0" smtClean="0">
              <a:solidFill>
                <a:schemeClr val="tx1"/>
              </a:solidFill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body" sz="quarter" idx="13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2400" dirty="0" err="1">
                <a:cs typeface="Times New Roman" panose="02020603050405020304" pitchFamily="18" charset="0"/>
              </a:rPr>
              <a:t>Biểu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diễn</a:t>
            </a:r>
            <a:r>
              <a:rPr lang="en-US" altLang="en-US" sz="2400" dirty="0">
                <a:cs typeface="Times New Roman" panose="02020603050405020304" pitchFamily="18" charset="0"/>
              </a:rPr>
              <a:t> FIFO hay </a:t>
            </a:r>
            <a:r>
              <a:rPr lang="en-US" altLang="en-US" sz="2400" dirty="0" err="1">
                <a:cs typeface="Times New Roman" panose="02020603050405020304" pitchFamily="18" charset="0"/>
              </a:rPr>
              <a:t>hàng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đợi</a:t>
            </a:r>
            <a:r>
              <a:rPr lang="en-US" altLang="en-US" sz="2400" dirty="0">
                <a:cs typeface="Times New Roman" panose="02020603050405020304" pitchFamily="18" charset="0"/>
              </a:rPr>
              <a:t> (Queue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en-US" sz="2000" dirty="0" err="1">
                <a:cs typeface="Times New Roman" panose="02020603050405020304" pitchFamily="18" charset="0"/>
              </a:rPr>
              <a:t>Khai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báo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cấu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trúc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lvl="1"/>
            <a:endParaRPr lang="en-US" altLang="en-US" sz="3200" dirty="0">
              <a:cs typeface="Times New Roman" panose="02020603050405020304" pitchFamily="18" charset="0"/>
            </a:endParaRPr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1117600" y="2120900"/>
            <a:ext cx="3657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Type info;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Node* next; 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</a:p>
          <a:p>
            <a:pPr eaLnBrk="1" hangingPunct="1"/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Node*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</a:p>
          <a:p>
            <a:pPr eaLnBrk="1" hangingPunct="1"/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F, R;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grpSp>
        <p:nvGrpSpPr>
          <p:cNvPr id="31" name="Group 28"/>
          <p:cNvGrpSpPr>
            <a:grpSpLocks/>
          </p:cNvGrpSpPr>
          <p:nvPr/>
        </p:nvGrpSpPr>
        <p:grpSpPr bwMode="auto">
          <a:xfrm>
            <a:off x="4800600" y="2133600"/>
            <a:ext cx="3743325" cy="1143000"/>
            <a:chOff x="3120" y="1344"/>
            <a:chExt cx="2358" cy="720"/>
          </a:xfrm>
        </p:grpSpPr>
        <p:sp>
          <p:nvSpPr>
            <p:cNvPr id="56" name="Line 6"/>
            <p:cNvSpPr>
              <a:spLocks noChangeShapeType="1"/>
            </p:cNvSpPr>
            <p:nvPr/>
          </p:nvSpPr>
          <p:spPr bwMode="auto">
            <a:xfrm>
              <a:off x="3312" y="153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Rectangle 7"/>
            <p:cNvSpPr>
              <a:spLocks noChangeArrowheads="1"/>
            </p:cNvSpPr>
            <p:nvPr/>
          </p:nvSpPr>
          <p:spPr bwMode="auto">
            <a:xfrm>
              <a:off x="3180" y="1816"/>
              <a:ext cx="288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1</a:t>
              </a:r>
            </a:p>
          </p:txBody>
        </p:sp>
        <p:sp>
          <p:nvSpPr>
            <p:cNvPr id="58" name="Rectangle 8"/>
            <p:cNvSpPr>
              <a:spLocks noChangeArrowheads="1"/>
            </p:cNvSpPr>
            <p:nvPr/>
          </p:nvSpPr>
          <p:spPr bwMode="auto">
            <a:xfrm>
              <a:off x="4338" y="1816"/>
              <a:ext cx="288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n-1</a:t>
              </a:r>
              <a:endParaRPr lang="en-US" altLang="en-US" sz="2000"/>
            </a:p>
          </p:txBody>
        </p:sp>
        <p:sp>
          <p:nvSpPr>
            <p:cNvPr id="59" name="Rectangle 9"/>
            <p:cNvSpPr>
              <a:spLocks noChangeArrowheads="1"/>
            </p:cNvSpPr>
            <p:nvPr/>
          </p:nvSpPr>
          <p:spPr bwMode="auto">
            <a:xfrm>
              <a:off x="4998" y="1816"/>
              <a:ext cx="288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n</a:t>
              </a:r>
              <a:endParaRPr lang="en-US" altLang="en-US" sz="2000"/>
            </a:p>
          </p:txBody>
        </p:sp>
        <p:grpSp>
          <p:nvGrpSpPr>
            <p:cNvPr id="60" name="Group 10"/>
            <p:cNvGrpSpPr>
              <a:grpSpLocks/>
            </p:cNvGrpSpPr>
            <p:nvPr/>
          </p:nvGrpSpPr>
          <p:grpSpPr bwMode="auto">
            <a:xfrm>
              <a:off x="3468" y="1817"/>
              <a:ext cx="372" cy="247"/>
              <a:chOff x="3108" y="2736"/>
              <a:chExt cx="372" cy="288"/>
            </a:xfrm>
          </p:grpSpPr>
          <p:sp>
            <p:nvSpPr>
              <p:cNvPr id="72" name="Rectangle 11"/>
              <p:cNvSpPr>
                <a:spLocks noChangeArrowheads="1"/>
              </p:cNvSpPr>
              <p:nvPr/>
            </p:nvSpPr>
            <p:spPr bwMode="auto">
              <a:xfrm>
                <a:off x="3108" y="2736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73" name="Line 12"/>
              <p:cNvSpPr>
                <a:spLocks noChangeShapeType="1"/>
              </p:cNvSpPr>
              <p:nvPr/>
            </p:nvSpPr>
            <p:spPr bwMode="auto">
              <a:xfrm>
                <a:off x="3186" y="2874"/>
                <a:ext cx="29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1" name="Group 13"/>
            <p:cNvGrpSpPr>
              <a:grpSpLocks/>
            </p:cNvGrpSpPr>
            <p:nvPr/>
          </p:nvGrpSpPr>
          <p:grpSpPr bwMode="auto">
            <a:xfrm>
              <a:off x="4626" y="1817"/>
              <a:ext cx="372" cy="247"/>
              <a:chOff x="3108" y="2736"/>
              <a:chExt cx="372" cy="288"/>
            </a:xfrm>
          </p:grpSpPr>
          <p:sp>
            <p:nvSpPr>
              <p:cNvPr id="70" name="Rectangle 14"/>
              <p:cNvSpPr>
                <a:spLocks noChangeArrowheads="1"/>
              </p:cNvSpPr>
              <p:nvPr/>
            </p:nvSpPr>
            <p:spPr bwMode="auto">
              <a:xfrm>
                <a:off x="3108" y="2736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71" name="Line 15"/>
              <p:cNvSpPr>
                <a:spLocks noChangeShapeType="1"/>
              </p:cNvSpPr>
              <p:nvPr/>
            </p:nvSpPr>
            <p:spPr bwMode="auto">
              <a:xfrm>
                <a:off x="3186" y="2874"/>
                <a:ext cx="29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2" name="Group 16"/>
            <p:cNvGrpSpPr>
              <a:grpSpLocks/>
            </p:cNvGrpSpPr>
            <p:nvPr/>
          </p:nvGrpSpPr>
          <p:grpSpPr bwMode="auto">
            <a:xfrm>
              <a:off x="5286" y="1817"/>
              <a:ext cx="192" cy="247"/>
              <a:chOff x="3204" y="3132"/>
              <a:chExt cx="192" cy="288"/>
            </a:xfrm>
          </p:grpSpPr>
          <p:sp>
            <p:nvSpPr>
              <p:cNvPr id="68" name="Rectangle 17"/>
              <p:cNvSpPr>
                <a:spLocks noChangeArrowheads="1"/>
              </p:cNvSpPr>
              <p:nvPr/>
            </p:nvSpPr>
            <p:spPr bwMode="auto">
              <a:xfrm>
                <a:off x="3204" y="3132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69" name="Line 18"/>
              <p:cNvSpPr>
                <a:spLocks noChangeShapeType="1"/>
              </p:cNvSpPr>
              <p:nvPr/>
            </p:nvSpPr>
            <p:spPr bwMode="auto">
              <a:xfrm flipV="1">
                <a:off x="3204" y="3132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3" name="Rectangle 20"/>
            <p:cNvSpPr>
              <a:spLocks noChangeArrowheads="1"/>
            </p:cNvSpPr>
            <p:nvPr/>
          </p:nvSpPr>
          <p:spPr bwMode="auto">
            <a:xfrm>
              <a:off x="3120" y="1344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b="1"/>
                <a:t>F</a:t>
              </a:r>
            </a:p>
          </p:txBody>
        </p:sp>
        <p:sp>
          <p:nvSpPr>
            <p:cNvPr id="64" name="Rectangle 21"/>
            <p:cNvSpPr>
              <a:spLocks noChangeArrowheads="1"/>
            </p:cNvSpPr>
            <p:nvPr/>
          </p:nvSpPr>
          <p:spPr bwMode="auto">
            <a:xfrm>
              <a:off x="3840" y="1831"/>
              <a:ext cx="288" cy="2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sz="2000"/>
                <a:t>...</a:t>
              </a:r>
            </a:p>
          </p:txBody>
        </p:sp>
        <p:sp>
          <p:nvSpPr>
            <p:cNvPr id="65" name="Line 22"/>
            <p:cNvSpPr>
              <a:spLocks noChangeShapeType="1"/>
            </p:cNvSpPr>
            <p:nvPr/>
          </p:nvSpPr>
          <p:spPr bwMode="auto">
            <a:xfrm>
              <a:off x="4032" y="1935"/>
              <a:ext cx="2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Line 24"/>
            <p:cNvSpPr>
              <a:spLocks noChangeShapeType="1"/>
            </p:cNvSpPr>
            <p:nvPr/>
          </p:nvSpPr>
          <p:spPr bwMode="auto">
            <a:xfrm>
              <a:off x="5136" y="153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Rectangle 26"/>
            <p:cNvSpPr>
              <a:spLocks noChangeArrowheads="1"/>
            </p:cNvSpPr>
            <p:nvPr/>
          </p:nvSpPr>
          <p:spPr bwMode="auto">
            <a:xfrm>
              <a:off x="5121" y="1392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b="1"/>
                <a:t>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0887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2867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AF5F8E8-EC05-4859-98C5-13B26CA38EAE}" type="slidenum">
              <a:rPr lang="en-US" altLang="en-US" sz="1400"/>
              <a:pPr eaLnBrk="1" hangingPunct="1"/>
              <a:t>37</a:t>
            </a:fld>
            <a:endParaRPr lang="en-US" altLang="en-US" sz="1400"/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 err="1"/>
              <a:t>Cài</a:t>
            </a:r>
            <a:r>
              <a:rPr lang="en-US" altLang="en-US" dirty="0"/>
              <a:t> </a:t>
            </a:r>
            <a:r>
              <a:rPr lang="en-US" altLang="en-US" dirty="0" err="1"/>
              <a:t>đặt</a:t>
            </a:r>
            <a:r>
              <a:rPr lang="en-US" altLang="en-US" dirty="0"/>
              <a:t> LIFO, FIFO </a:t>
            </a:r>
            <a:r>
              <a:rPr lang="en-US" altLang="en-US" dirty="0" err="1"/>
              <a:t>bằng</a:t>
            </a:r>
            <a:r>
              <a:rPr lang="en-US" altLang="en-US" dirty="0"/>
              <a:t> </a:t>
            </a:r>
            <a:r>
              <a:rPr lang="en-US" altLang="en-US" dirty="0" err="1"/>
              <a:t>cấu</a:t>
            </a:r>
            <a:r>
              <a:rPr lang="en-US" altLang="en-US" dirty="0"/>
              <a:t> </a:t>
            </a:r>
            <a:r>
              <a:rPr lang="en-US" altLang="en-US" dirty="0" err="1"/>
              <a:t>trúc</a:t>
            </a:r>
            <a:r>
              <a:rPr lang="en-US" altLang="en-US" dirty="0"/>
              <a:t> </a:t>
            </a:r>
            <a:r>
              <a:rPr lang="en-US" altLang="en-US" dirty="0" err="1"/>
              <a:t>lưu</a:t>
            </a:r>
            <a:r>
              <a:rPr lang="en-US" altLang="en-US" dirty="0"/>
              <a:t> </a:t>
            </a:r>
            <a:r>
              <a:rPr lang="en-US" altLang="en-US" dirty="0" err="1"/>
              <a:t>trữ</a:t>
            </a:r>
            <a:r>
              <a:rPr lang="en-US" altLang="en-US" dirty="0"/>
              <a:t> </a:t>
            </a:r>
            <a:r>
              <a:rPr lang="en-US" altLang="en-US" dirty="0" err="1"/>
              <a:t>móc</a:t>
            </a:r>
            <a:r>
              <a:rPr lang="en-US" altLang="en-US" dirty="0"/>
              <a:t> </a:t>
            </a:r>
            <a:r>
              <a:rPr lang="en-US" altLang="en-US" dirty="0" err="1"/>
              <a:t>nối</a:t>
            </a:r>
            <a:endParaRPr lang="en-US" altLang="en-US" dirty="0" smtClean="0">
              <a:solidFill>
                <a:schemeClr val="tx1"/>
              </a:solidFill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body" sz="quarter" idx="13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2400" dirty="0" err="1">
                <a:cs typeface="Times New Roman" panose="02020603050405020304" pitchFamily="18" charset="0"/>
              </a:rPr>
              <a:t>Biểu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diễn</a:t>
            </a:r>
            <a:r>
              <a:rPr lang="en-US" altLang="en-US" sz="2400" dirty="0">
                <a:cs typeface="Times New Roman" panose="02020603050405020304" pitchFamily="18" charset="0"/>
              </a:rPr>
              <a:t> FIFO hay </a:t>
            </a:r>
            <a:r>
              <a:rPr lang="en-US" altLang="en-US" sz="2400" dirty="0" err="1">
                <a:cs typeface="Times New Roman" panose="02020603050405020304" pitchFamily="18" charset="0"/>
              </a:rPr>
              <a:t>hàng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đợi</a:t>
            </a:r>
            <a:r>
              <a:rPr lang="en-US" altLang="en-US" sz="2400" dirty="0">
                <a:cs typeface="Times New Roman" panose="02020603050405020304" pitchFamily="18" charset="0"/>
              </a:rPr>
              <a:t> (Queue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err="1">
                <a:cs typeface="Times New Roman" panose="02020603050405020304" pitchFamily="18" charset="0"/>
              </a:rPr>
              <a:t>Các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phép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toán</a:t>
            </a:r>
            <a:r>
              <a:rPr lang="en-US" altLang="en-US" sz="2000" dirty="0">
                <a:cs typeface="Times New Roman" panose="02020603050405020304" pitchFamily="18" charset="0"/>
              </a:rPr>
              <a:t>: </a:t>
            </a:r>
            <a:r>
              <a:rPr lang="en-US" altLang="en-US" sz="2000" dirty="0" err="1">
                <a:cs typeface="Times New Roman" panose="02020603050405020304" pitchFamily="18" charset="0"/>
              </a:rPr>
              <a:t>là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các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trường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hợp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đặc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biệt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của</a:t>
            </a:r>
            <a:r>
              <a:rPr lang="en-US" altLang="en-US" sz="2000" dirty="0">
                <a:cs typeface="Times New Roman" panose="02020603050405020304" pitchFamily="18" charset="0"/>
              </a:rPr>
              <a:t> DS </a:t>
            </a:r>
            <a:r>
              <a:rPr lang="en-US" altLang="en-US" sz="2000" dirty="0" err="1">
                <a:cs typeface="Times New Roman" panose="02020603050405020304" pitchFamily="18" charset="0"/>
              </a:rPr>
              <a:t>nối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đơn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b="1" i="1" dirty="0">
                <a:cs typeface="Times New Roman" panose="02020603050405020304" pitchFamily="18" charset="0"/>
              </a:rPr>
              <a:t>Initialize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b="1" i="1" dirty="0" err="1">
                <a:cs typeface="Times New Roman" panose="02020603050405020304" pitchFamily="18" charset="0"/>
              </a:rPr>
              <a:t>isEmpty</a:t>
            </a:r>
            <a:endParaRPr lang="en-US" altLang="en-US" sz="2000" b="1" i="1" dirty="0"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b="1" i="1" dirty="0" err="1">
                <a:cs typeface="Times New Roman" panose="02020603050405020304" pitchFamily="18" charset="0"/>
              </a:rPr>
              <a:t>isFull</a:t>
            </a:r>
            <a:endParaRPr lang="en-US" altLang="en-US" sz="2000" b="1" i="1" dirty="0"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b="1" i="1" dirty="0" err="1">
                <a:cs typeface="Times New Roman" panose="02020603050405020304" pitchFamily="18" charset="0"/>
              </a:rPr>
              <a:t>InsertQ</a:t>
            </a:r>
            <a:endParaRPr lang="en-US" altLang="en-US" sz="2000" b="1" i="1" dirty="0"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b="1" i="1" dirty="0" err="1">
                <a:cs typeface="Times New Roman" panose="02020603050405020304" pitchFamily="18" charset="0"/>
              </a:rPr>
              <a:t>DeleteQ</a:t>
            </a:r>
            <a:endParaRPr lang="en-US" altLang="en-US" sz="2000" b="1" i="1" dirty="0"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b="1" i="1" dirty="0" smtClean="0">
                <a:cs typeface="Times New Roman" panose="02020603050405020304" pitchFamily="18" charset="0"/>
              </a:rPr>
              <a:t>Traverse</a:t>
            </a:r>
            <a:endParaRPr lang="en-US" altLang="en-US" sz="2000" b="1" i="1" dirty="0">
              <a:cs typeface="Times New Roman" panose="02020603050405020304" pitchFamily="18" charset="0"/>
            </a:endParaRPr>
          </a:p>
          <a:p>
            <a:pPr lvl="1"/>
            <a:endParaRPr lang="en-US" altLang="en-US" sz="2900" dirty="0"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05760" y="1842543"/>
            <a:ext cx="4572000" cy="1034129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eaLnBrk="1" hangingPunct="1">
              <a:spcBef>
                <a:spcPct val="20000"/>
              </a:spcBef>
            </a:pP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Initialize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(Queue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Q.F = Q.R = NULL;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05760" y="3352800"/>
            <a:ext cx="4572000" cy="1071062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</a:pP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altLang="en-US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(Queue Q) {</a:t>
            </a:r>
          </a:p>
          <a:p>
            <a:pPr lvl="1">
              <a:spcBef>
                <a:spcPct val="20000"/>
              </a:spcBef>
            </a:pP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  (Q.F == NULL);</a:t>
            </a:r>
          </a:p>
          <a:p>
            <a:pPr lvl="1">
              <a:spcBef>
                <a:spcPct val="20000"/>
              </a:spcBef>
            </a:pP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138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337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3E743D8-5336-4D59-B79A-A9A7541C4A9A}" type="slidenum">
              <a:rPr lang="en-US" altLang="en-US" sz="1400"/>
              <a:pPr eaLnBrk="1" hangingPunct="1"/>
              <a:t>38</a:t>
            </a:fld>
            <a:endParaRPr lang="en-US" altLang="en-US" sz="1400"/>
          </a:p>
        </p:txBody>
      </p:sp>
      <p:sp>
        <p:nvSpPr>
          <p:cNvPr id="37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 err="1"/>
              <a:t>Cài</a:t>
            </a:r>
            <a:r>
              <a:rPr lang="en-US" altLang="en-US" dirty="0"/>
              <a:t> </a:t>
            </a:r>
            <a:r>
              <a:rPr lang="en-US" altLang="en-US" dirty="0" err="1"/>
              <a:t>đặt</a:t>
            </a:r>
            <a:r>
              <a:rPr lang="en-US" altLang="en-US" dirty="0"/>
              <a:t> LIFO, FIFO </a:t>
            </a:r>
            <a:r>
              <a:rPr lang="en-US" altLang="en-US" dirty="0" err="1"/>
              <a:t>bằng</a:t>
            </a:r>
            <a:r>
              <a:rPr lang="en-US" altLang="en-US" dirty="0"/>
              <a:t> </a:t>
            </a:r>
            <a:r>
              <a:rPr lang="en-US" altLang="en-US" dirty="0" err="1"/>
              <a:t>cấu</a:t>
            </a:r>
            <a:r>
              <a:rPr lang="en-US" altLang="en-US" dirty="0"/>
              <a:t> </a:t>
            </a:r>
            <a:r>
              <a:rPr lang="en-US" altLang="en-US" dirty="0" err="1"/>
              <a:t>trúc</a:t>
            </a:r>
            <a:r>
              <a:rPr lang="en-US" altLang="en-US" dirty="0"/>
              <a:t> </a:t>
            </a:r>
            <a:r>
              <a:rPr lang="en-US" altLang="en-US" dirty="0" err="1"/>
              <a:t>lưu</a:t>
            </a:r>
            <a:r>
              <a:rPr lang="en-US" altLang="en-US" dirty="0"/>
              <a:t> </a:t>
            </a:r>
            <a:r>
              <a:rPr lang="en-US" altLang="en-US" dirty="0" err="1"/>
              <a:t>trữ</a:t>
            </a:r>
            <a:r>
              <a:rPr lang="en-US" altLang="en-US" dirty="0"/>
              <a:t> </a:t>
            </a:r>
            <a:r>
              <a:rPr lang="en-US" altLang="en-US" dirty="0" err="1"/>
              <a:t>móc</a:t>
            </a:r>
            <a:r>
              <a:rPr lang="en-US" altLang="en-US" dirty="0"/>
              <a:t> </a:t>
            </a:r>
            <a:r>
              <a:rPr lang="en-US" altLang="en-US" dirty="0" err="1"/>
              <a:t>nối</a:t>
            </a:r>
            <a:endParaRPr lang="en-US" altLang="en-US" dirty="0" smtClean="0">
              <a:solidFill>
                <a:schemeClr val="tx1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sz="2400" dirty="0" err="1">
                <a:cs typeface="Times New Roman" panose="02020603050405020304" pitchFamily="18" charset="0"/>
              </a:rPr>
              <a:t>Biểu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diễn</a:t>
            </a:r>
            <a:r>
              <a:rPr lang="en-US" altLang="en-US" sz="2400" dirty="0">
                <a:cs typeface="Times New Roman" panose="02020603050405020304" pitchFamily="18" charset="0"/>
              </a:rPr>
              <a:t> FIFO hay </a:t>
            </a:r>
            <a:r>
              <a:rPr lang="en-US" altLang="en-US" sz="2400" dirty="0" err="1">
                <a:cs typeface="Times New Roman" panose="02020603050405020304" pitchFamily="18" charset="0"/>
              </a:rPr>
              <a:t>hàng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đợi</a:t>
            </a:r>
            <a:r>
              <a:rPr lang="en-US" altLang="en-US" sz="2400" dirty="0">
                <a:cs typeface="Times New Roman" panose="02020603050405020304" pitchFamily="18" charset="0"/>
              </a:rPr>
              <a:t> (Queue)</a:t>
            </a:r>
          </a:p>
          <a:p>
            <a:endParaRPr lang="en-US" dirty="0"/>
          </a:p>
        </p:txBody>
      </p:sp>
      <p:sp>
        <p:nvSpPr>
          <p:cNvPr id="33798" name="Rectangle 4"/>
          <p:cNvSpPr>
            <a:spLocks noChangeArrowheads="1"/>
          </p:cNvSpPr>
          <p:nvPr/>
        </p:nvSpPr>
        <p:spPr bwMode="auto">
          <a:xfrm>
            <a:off x="676274" y="2005013"/>
            <a:ext cx="4514851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InsertQ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(Info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x, Queue 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P;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P = new 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P-&gt;info = x;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P-&gt;next = NULL;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en-US" altLang="en-US" sz="1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(Q)) {</a:t>
            </a: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Q.F = Q.R = P;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	else	{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Q.R-&gt;next = P;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Q.R = P;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8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18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3799" name="Group 68"/>
          <p:cNvGrpSpPr>
            <a:grpSpLocks/>
          </p:cNvGrpSpPr>
          <p:nvPr/>
        </p:nvGrpSpPr>
        <p:grpSpPr bwMode="auto">
          <a:xfrm>
            <a:off x="4972050" y="2651125"/>
            <a:ext cx="3648075" cy="2470150"/>
            <a:chOff x="3132" y="1670"/>
            <a:chExt cx="2298" cy="1556"/>
          </a:xfrm>
        </p:grpSpPr>
        <p:sp>
          <p:nvSpPr>
            <p:cNvPr id="33800" name="Line 54"/>
            <p:cNvSpPr>
              <a:spLocks noChangeShapeType="1"/>
            </p:cNvSpPr>
            <p:nvPr/>
          </p:nvSpPr>
          <p:spPr bwMode="auto">
            <a:xfrm>
              <a:off x="5376" y="2256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 type="none" w="sm" len="sm"/>
                  <a:tailEnd type="triangle" w="lg" len="med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33801" name="AutoShape 61"/>
            <p:cNvCxnSpPr>
              <a:cxnSpLocks noChangeShapeType="1"/>
              <a:endCxn id="33819" idx="2"/>
            </p:cNvCxnSpPr>
            <p:nvPr/>
          </p:nvCxnSpPr>
          <p:spPr bwMode="auto">
            <a:xfrm rot="16200000" flipH="1">
              <a:off x="4421" y="2490"/>
              <a:ext cx="1333" cy="1"/>
            </a:xfrm>
            <a:prstGeom prst="bentConnector5">
              <a:avLst>
                <a:gd name="adj1" fmla="val -2403"/>
                <a:gd name="adj2" fmla="val 44499986"/>
                <a:gd name="adj3" fmla="val 110801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02" name="Line 32"/>
            <p:cNvSpPr>
              <a:spLocks noChangeShapeType="1"/>
            </p:cNvSpPr>
            <p:nvPr/>
          </p:nvSpPr>
          <p:spPr bwMode="auto">
            <a:xfrm>
              <a:off x="3264" y="191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3" name="Rectangle 33"/>
            <p:cNvSpPr>
              <a:spLocks noChangeArrowheads="1"/>
            </p:cNvSpPr>
            <p:nvPr/>
          </p:nvSpPr>
          <p:spPr bwMode="auto">
            <a:xfrm>
              <a:off x="3132" y="2190"/>
              <a:ext cx="288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1</a:t>
              </a:r>
            </a:p>
          </p:txBody>
        </p:sp>
        <p:sp>
          <p:nvSpPr>
            <p:cNvPr id="33804" name="Rectangle 34"/>
            <p:cNvSpPr>
              <a:spLocks noChangeArrowheads="1"/>
            </p:cNvSpPr>
            <p:nvPr/>
          </p:nvSpPr>
          <p:spPr bwMode="auto">
            <a:xfrm>
              <a:off x="4290" y="2190"/>
              <a:ext cx="288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n-1</a:t>
              </a:r>
              <a:endParaRPr lang="en-US" altLang="en-US" sz="2000"/>
            </a:p>
          </p:txBody>
        </p:sp>
        <p:sp>
          <p:nvSpPr>
            <p:cNvPr id="33805" name="Rectangle 35"/>
            <p:cNvSpPr>
              <a:spLocks noChangeArrowheads="1"/>
            </p:cNvSpPr>
            <p:nvPr/>
          </p:nvSpPr>
          <p:spPr bwMode="auto">
            <a:xfrm>
              <a:off x="4950" y="2190"/>
              <a:ext cx="288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n</a:t>
              </a:r>
              <a:endParaRPr lang="en-US" altLang="en-US" sz="2000"/>
            </a:p>
          </p:txBody>
        </p:sp>
        <p:grpSp>
          <p:nvGrpSpPr>
            <p:cNvPr id="33806" name="Group 36"/>
            <p:cNvGrpSpPr>
              <a:grpSpLocks/>
            </p:cNvGrpSpPr>
            <p:nvPr/>
          </p:nvGrpSpPr>
          <p:grpSpPr bwMode="auto">
            <a:xfrm>
              <a:off x="3420" y="2191"/>
              <a:ext cx="372" cy="247"/>
              <a:chOff x="3108" y="2736"/>
              <a:chExt cx="372" cy="288"/>
            </a:xfrm>
          </p:grpSpPr>
          <p:sp>
            <p:nvSpPr>
              <p:cNvPr id="33824" name="Rectangle 37"/>
              <p:cNvSpPr>
                <a:spLocks noChangeArrowheads="1"/>
              </p:cNvSpPr>
              <p:nvPr/>
            </p:nvSpPr>
            <p:spPr bwMode="auto">
              <a:xfrm>
                <a:off x="3108" y="2736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33825" name="Line 38"/>
              <p:cNvSpPr>
                <a:spLocks noChangeShapeType="1"/>
              </p:cNvSpPr>
              <p:nvPr/>
            </p:nvSpPr>
            <p:spPr bwMode="auto">
              <a:xfrm>
                <a:off x="3186" y="2874"/>
                <a:ext cx="29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07" name="Group 39"/>
            <p:cNvGrpSpPr>
              <a:grpSpLocks/>
            </p:cNvGrpSpPr>
            <p:nvPr/>
          </p:nvGrpSpPr>
          <p:grpSpPr bwMode="auto">
            <a:xfrm>
              <a:off x="4578" y="2191"/>
              <a:ext cx="372" cy="247"/>
              <a:chOff x="3108" y="2736"/>
              <a:chExt cx="372" cy="288"/>
            </a:xfrm>
          </p:grpSpPr>
          <p:sp>
            <p:nvSpPr>
              <p:cNvPr id="33822" name="Rectangle 40"/>
              <p:cNvSpPr>
                <a:spLocks noChangeArrowheads="1"/>
              </p:cNvSpPr>
              <p:nvPr/>
            </p:nvSpPr>
            <p:spPr bwMode="auto">
              <a:xfrm>
                <a:off x="3108" y="2736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33823" name="Line 41"/>
              <p:cNvSpPr>
                <a:spLocks noChangeShapeType="1"/>
              </p:cNvSpPr>
              <p:nvPr/>
            </p:nvSpPr>
            <p:spPr bwMode="auto">
              <a:xfrm>
                <a:off x="3186" y="2874"/>
                <a:ext cx="29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3808" name="Rectangle 43"/>
            <p:cNvSpPr>
              <a:spLocks noChangeArrowheads="1"/>
            </p:cNvSpPr>
            <p:nvPr/>
          </p:nvSpPr>
          <p:spPr bwMode="auto">
            <a:xfrm>
              <a:off x="5238" y="2191"/>
              <a:ext cx="192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  <p:sp>
          <p:nvSpPr>
            <p:cNvPr id="33809" name="Rectangle 46"/>
            <p:cNvSpPr>
              <a:spLocks noChangeArrowheads="1"/>
            </p:cNvSpPr>
            <p:nvPr/>
          </p:nvSpPr>
          <p:spPr bwMode="auto">
            <a:xfrm>
              <a:off x="3242" y="1766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F</a:t>
              </a:r>
            </a:p>
          </p:txBody>
        </p:sp>
        <p:sp>
          <p:nvSpPr>
            <p:cNvPr id="33810" name="Rectangle 47"/>
            <p:cNvSpPr>
              <a:spLocks noChangeArrowheads="1"/>
            </p:cNvSpPr>
            <p:nvPr/>
          </p:nvSpPr>
          <p:spPr bwMode="auto">
            <a:xfrm>
              <a:off x="3792" y="2205"/>
              <a:ext cx="288" cy="2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sz="2000"/>
                <a:t>...</a:t>
              </a:r>
            </a:p>
          </p:txBody>
        </p:sp>
        <p:sp>
          <p:nvSpPr>
            <p:cNvPr id="33811" name="Line 48"/>
            <p:cNvSpPr>
              <a:spLocks noChangeShapeType="1"/>
            </p:cNvSpPr>
            <p:nvPr/>
          </p:nvSpPr>
          <p:spPr bwMode="auto">
            <a:xfrm>
              <a:off x="3984" y="2309"/>
              <a:ext cx="2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2" name="Line 49"/>
            <p:cNvSpPr>
              <a:spLocks noChangeShapeType="1"/>
            </p:cNvSpPr>
            <p:nvPr/>
          </p:nvSpPr>
          <p:spPr bwMode="auto">
            <a:xfrm>
              <a:off x="5088" y="1910"/>
              <a:ext cx="0" cy="288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3" name="Rectangle 51"/>
            <p:cNvSpPr>
              <a:spLocks noChangeArrowheads="1"/>
            </p:cNvSpPr>
            <p:nvPr/>
          </p:nvSpPr>
          <p:spPr bwMode="auto">
            <a:xfrm>
              <a:off x="4848" y="1670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R</a:t>
              </a:r>
            </a:p>
          </p:txBody>
        </p:sp>
        <p:sp>
          <p:nvSpPr>
            <p:cNvPr id="33814" name="Line 56"/>
            <p:cNvSpPr>
              <a:spLocks noChangeShapeType="1"/>
            </p:cNvSpPr>
            <p:nvPr/>
          </p:nvSpPr>
          <p:spPr bwMode="auto">
            <a:xfrm>
              <a:off x="4608" y="3014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5" name="Rectangle 57"/>
            <p:cNvSpPr>
              <a:spLocks noChangeArrowheads="1"/>
            </p:cNvSpPr>
            <p:nvPr/>
          </p:nvSpPr>
          <p:spPr bwMode="auto">
            <a:xfrm>
              <a:off x="4538" y="2976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P</a:t>
              </a:r>
            </a:p>
          </p:txBody>
        </p:sp>
        <p:grpSp>
          <p:nvGrpSpPr>
            <p:cNvPr id="33816" name="Group 60"/>
            <p:cNvGrpSpPr>
              <a:grpSpLocks/>
            </p:cNvGrpSpPr>
            <p:nvPr/>
          </p:nvGrpSpPr>
          <p:grpSpPr bwMode="auto">
            <a:xfrm>
              <a:off x="4944" y="2910"/>
              <a:ext cx="480" cy="248"/>
              <a:chOff x="4944" y="2824"/>
              <a:chExt cx="480" cy="248"/>
            </a:xfrm>
          </p:grpSpPr>
          <p:sp>
            <p:nvSpPr>
              <p:cNvPr id="33819" name="Rectangle 52"/>
              <p:cNvSpPr>
                <a:spLocks noChangeArrowheads="1"/>
              </p:cNvSpPr>
              <p:nvPr/>
            </p:nvSpPr>
            <p:spPr bwMode="auto">
              <a:xfrm>
                <a:off x="4944" y="2824"/>
                <a:ext cx="288" cy="24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en-US" sz="2000"/>
                  <a:t>x</a:t>
                </a:r>
                <a:endParaRPr lang="en-US" altLang="en-US" sz="2000" baseline="-25000"/>
              </a:p>
            </p:txBody>
          </p:sp>
          <p:sp>
            <p:nvSpPr>
              <p:cNvPr id="33820" name="Rectangle 53"/>
              <p:cNvSpPr>
                <a:spLocks noChangeArrowheads="1"/>
              </p:cNvSpPr>
              <p:nvPr/>
            </p:nvSpPr>
            <p:spPr bwMode="auto">
              <a:xfrm>
                <a:off x="5232" y="2825"/>
                <a:ext cx="192" cy="24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33821" name="Line 58"/>
              <p:cNvSpPr>
                <a:spLocks noChangeShapeType="1"/>
              </p:cNvSpPr>
              <p:nvPr/>
            </p:nvSpPr>
            <p:spPr bwMode="auto">
              <a:xfrm flipV="1">
                <a:off x="5232" y="2825"/>
                <a:ext cx="192" cy="24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cxnSp>
          <p:nvCxnSpPr>
            <p:cNvPr id="33817" name="AutoShape 59"/>
            <p:cNvCxnSpPr>
              <a:cxnSpLocks noChangeShapeType="1"/>
              <a:stCxn id="33800" idx="0"/>
              <a:endCxn id="33819" idx="0"/>
            </p:cNvCxnSpPr>
            <p:nvPr/>
          </p:nvCxnSpPr>
          <p:spPr bwMode="auto">
            <a:xfrm rot="-5400000" flipH="1" flipV="1">
              <a:off x="4905" y="2439"/>
              <a:ext cx="654" cy="288"/>
            </a:xfrm>
            <a:prstGeom prst="bentConnector3">
              <a:avLst>
                <a:gd name="adj1" fmla="val 77981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18" name="Rectangle 62"/>
            <p:cNvSpPr>
              <a:spLocks noChangeArrowheads="1"/>
            </p:cNvSpPr>
            <p:nvPr/>
          </p:nvSpPr>
          <p:spPr bwMode="auto">
            <a:xfrm>
              <a:off x="4992" y="1900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>
                  <a:cs typeface="Times New Roman" panose="02020603050405020304" pitchFamily="18" charset="0"/>
                </a:rPr>
                <a:t>—</a:t>
              </a:r>
              <a:endParaRPr lang="en-US" alt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4121733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3481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6FA3491-5CDF-47E1-A27F-5F40BFD3DB3A}" type="slidenum">
              <a:rPr lang="en-US" altLang="en-US" sz="1400"/>
              <a:pPr eaLnBrk="1" hangingPunct="1"/>
              <a:t>39</a:t>
            </a:fld>
            <a:endParaRPr lang="en-US" altLang="en-US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Cài</a:t>
            </a:r>
            <a:r>
              <a:rPr lang="en-US" altLang="en-US" dirty="0"/>
              <a:t> </a:t>
            </a:r>
            <a:r>
              <a:rPr lang="en-US" altLang="en-US" dirty="0" err="1"/>
              <a:t>đặt</a:t>
            </a:r>
            <a:r>
              <a:rPr lang="en-US" altLang="en-US" dirty="0"/>
              <a:t> LIFO, FIFO </a:t>
            </a:r>
            <a:r>
              <a:rPr lang="en-US" altLang="en-US" dirty="0" err="1"/>
              <a:t>bằng</a:t>
            </a:r>
            <a:r>
              <a:rPr lang="en-US" altLang="en-US" dirty="0"/>
              <a:t> </a:t>
            </a:r>
            <a:r>
              <a:rPr lang="en-US" altLang="en-US" dirty="0" err="1"/>
              <a:t>cấu</a:t>
            </a:r>
            <a:r>
              <a:rPr lang="en-US" altLang="en-US" dirty="0"/>
              <a:t> </a:t>
            </a:r>
            <a:r>
              <a:rPr lang="en-US" altLang="en-US" dirty="0" err="1"/>
              <a:t>trúc</a:t>
            </a:r>
            <a:r>
              <a:rPr lang="en-US" altLang="en-US" dirty="0"/>
              <a:t> </a:t>
            </a:r>
            <a:r>
              <a:rPr lang="en-US" altLang="en-US" dirty="0" err="1"/>
              <a:t>lưu</a:t>
            </a:r>
            <a:r>
              <a:rPr lang="en-US" altLang="en-US" dirty="0"/>
              <a:t> </a:t>
            </a:r>
            <a:r>
              <a:rPr lang="en-US" altLang="en-US" dirty="0" err="1"/>
              <a:t>trữ</a:t>
            </a:r>
            <a:r>
              <a:rPr lang="en-US" altLang="en-US" dirty="0"/>
              <a:t> </a:t>
            </a:r>
            <a:r>
              <a:rPr lang="en-US" altLang="en-US" dirty="0" err="1"/>
              <a:t>móc</a:t>
            </a:r>
            <a:r>
              <a:rPr lang="en-US" altLang="en-US" dirty="0"/>
              <a:t> </a:t>
            </a:r>
            <a:r>
              <a:rPr lang="en-US" altLang="en-US" dirty="0" err="1"/>
              <a:t>nối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sz="2400" dirty="0" err="1">
                <a:cs typeface="Times New Roman" panose="02020603050405020304" pitchFamily="18" charset="0"/>
              </a:rPr>
              <a:t>Biểu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diễn</a:t>
            </a:r>
            <a:r>
              <a:rPr lang="en-US" altLang="en-US" sz="2400" dirty="0">
                <a:cs typeface="Times New Roman" panose="02020603050405020304" pitchFamily="18" charset="0"/>
              </a:rPr>
              <a:t> FIFO hay </a:t>
            </a:r>
            <a:r>
              <a:rPr lang="en-US" altLang="en-US" sz="2400" dirty="0" err="1">
                <a:cs typeface="Times New Roman" panose="02020603050405020304" pitchFamily="18" charset="0"/>
              </a:rPr>
              <a:t>hàng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đợi</a:t>
            </a:r>
            <a:r>
              <a:rPr lang="en-US" altLang="en-US" sz="2400" dirty="0">
                <a:cs typeface="Times New Roman" panose="02020603050405020304" pitchFamily="18" charset="0"/>
              </a:rPr>
              <a:t> (Queue)</a:t>
            </a:r>
          </a:p>
          <a:p>
            <a:endParaRPr lang="en-US" dirty="0"/>
          </a:p>
        </p:txBody>
      </p:sp>
      <p:sp>
        <p:nvSpPr>
          <p:cNvPr id="34821" name="Rectangle 4"/>
          <p:cNvSpPr>
            <a:spLocks noChangeArrowheads="1"/>
          </p:cNvSpPr>
          <p:nvPr/>
        </p:nvSpPr>
        <p:spPr bwMode="auto">
          <a:xfrm>
            <a:off x="733577" y="1746884"/>
            <a:ext cx="5248275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ts val="0"/>
              </a:spcBef>
            </a:pPr>
            <a:r>
              <a:rPr lang="en-US" altLang="en-US" sz="18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r>
              <a:rPr lang="en-US" altLang="en-US" sz="18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DeleteQ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(Queue Q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eaLnBrk="1" hangingPunct="1">
              <a:lnSpc>
                <a:spcPct val="105000"/>
              </a:lnSpc>
              <a:spcBef>
                <a:spcPts val="0"/>
              </a:spcBef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Info x;</a:t>
            </a:r>
          </a:p>
          <a:p>
            <a:pPr eaLnBrk="1" hangingPunct="1">
              <a:lnSpc>
                <a:spcPct val="105000"/>
              </a:lnSpc>
              <a:spcBef>
                <a:spcPts val="0"/>
              </a:spcBef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en-US" altLang="en-US" sz="1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(Q)) return;</a:t>
            </a:r>
          </a:p>
          <a:p>
            <a:pPr eaLnBrk="1" hangingPunct="1">
              <a:lnSpc>
                <a:spcPct val="105000"/>
              </a:lnSpc>
              <a:spcBef>
                <a:spcPts val="0"/>
              </a:spcBef>
            </a:pP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	else {</a:t>
            </a:r>
          </a:p>
          <a:p>
            <a:pPr eaLnBrk="1" hangingPunct="1">
              <a:lnSpc>
                <a:spcPct val="105000"/>
              </a:lnSpc>
              <a:spcBef>
                <a:spcPts val="0"/>
              </a:spcBef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Q.F-&gt;info;</a:t>
            </a:r>
          </a:p>
          <a:p>
            <a:pPr eaLnBrk="1" hangingPunct="1">
              <a:lnSpc>
                <a:spcPct val="105000"/>
              </a:lnSpc>
              <a:spcBef>
                <a:spcPts val="0"/>
              </a:spcBef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Q.F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Q.F-&gt;next;</a:t>
            </a:r>
          </a:p>
          <a:p>
            <a:pPr eaLnBrk="1" hangingPunct="1">
              <a:lnSpc>
                <a:spcPct val="105000"/>
              </a:lnSpc>
              <a:spcBef>
                <a:spcPts val="0"/>
              </a:spcBef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x;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ts val="0"/>
              </a:spcBef>
            </a:pP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105000"/>
              </a:lnSpc>
              <a:spcBef>
                <a:spcPts val="0"/>
              </a:spcBef>
            </a:pPr>
            <a:r>
              <a:rPr lang="en-US" alt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34822" name="Group 46"/>
          <p:cNvGrpSpPr>
            <a:grpSpLocks/>
          </p:cNvGrpSpPr>
          <p:nvPr/>
        </p:nvGrpSpPr>
        <p:grpSpPr bwMode="auto">
          <a:xfrm>
            <a:off x="4359427" y="3423284"/>
            <a:ext cx="4352925" cy="2241550"/>
            <a:chOff x="2736" y="1574"/>
            <a:chExt cx="2742" cy="1412"/>
          </a:xfrm>
        </p:grpSpPr>
        <p:sp>
          <p:nvSpPr>
            <p:cNvPr id="34824" name="Line 5"/>
            <p:cNvSpPr>
              <a:spLocks noChangeShapeType="1"/>
            </p:cNvSpPr>
            <p:nvPr/>
          </p:nvSpPr>
          <p:spPr bwMode="auto">
            <a:xfrm>
              <a:off x="5376" y="2256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 type="none" w="sm" len="sm"/>
                  <a:tailEnd type="triangle" w="lg" len="med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5" name="Line 8"/>
            <p:cNvSpPr>
              <a:spLocks noChangeShapeType="1"/>
            </p:cNvSpPr>
            <p:nvPr/>
          </p:nvSpPr>
          <p:spPr bwMode="auto">
            <a:xfrm>
              <a:off x="3312" y="1786"/>
              <a:ext cx="0" cy="422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6" name="Rectangle 9"/>
            <p:cNvSpPr>
              <a:spLocks noChangeArrowheads="1"/>
            </p:cNvSpPr>
            <p:nvPr/>
          </p:nvSpPr>
          <p:spPr bwMode="auto">
            <a:xfrm>
              <a:off x="3180" y="2200"/>
              <a:ext cx="288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1</a:t>
              </a:r>
            </a:p>
          </p:txBody>
        </p:sp>
        <p:sp>
          <p:nvSpPr>
            <p:cNvPr id="34827" name="Rectangle 10"/>
            <p:cNvSpPr>
              <a:spLocks noChangeArrowheads="1"/>
            </p:cNvSpPr>
            <p:nvPr/>
          </p:nvSpPr>
          <p:spPr bwMode="auto">
            <a:xfrm>
              <a:off x="3840" y="2210"/>
              <a:ext cx="288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2</a:t>
              </a:r>
              <a:endParaRPr lang="en-US" altLang="en-US" sz="2000"/>
            </a:p>
          </p:txBody>
        </p:sp>
        <p:sp>
          <p:nvSpPr>
            <p:cNvPr id="34828" name="Rectangle 11"/>
            <p:cNvSpPr>
              <a:spLocks noChangeArrowheads="1"/>
            </p:cNvSpPr>
            <p:nvPr/>
          </p:nvSpPr>
          <p:spPr bwMode="auto">
            <a:xfrm>
              <a:off x="4998" y="2200"/>
              <a:ext cx="288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/>
                <a:t>A</a:t>
              </a:r>
              <a:r>
                <a:rPr lang="en-US" altLang="en-US" sz="2000" baseline="-25000"/>
                <a:t>n</a:t>
              </a:r>
              <a:endParaRPr lang="en-US" altLang="en-US" sz="2000"/>
            </a:p>
          </p:txBody>
        </p:sp>
        <p:grpSp>
          <p:nvGrpSpPr>
            <p:cNvPr id="34829" name="Group 12"/>
            <p:cNvGrpSpPr>
              <a:grpSpLocks/>
            </p:cNvGrpSpPr>
            <p:nvPr/>
          </p:nvGrpSpPr>
          <p:grpSpPr bwMode="auto">
            <a:xfrm>
              <a:off x="3468" y="2201"/>
              <a:ext cx="372" cy="247"/>
              <a:chOff x="3108" y="2736"/>
              <a:chExt cx="372" cy="288"/>
            </a:xfrm>
          </p:grpSpPr>
          <p:sp>
            <p:nvSpPr>
              <p:cNvPr id="34846" name="Rectangle 13"/>
              <p:cNvSpPr>
                <a:spLocks noChangeArrowheads="1"/>
              </p:cNvSpPr>
              <p:nvPr/>
            </p:nvSpPr>
            <p:spPr bwMode="auto">
              <a:xfrm>
                <a:off x="3108" y="2736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34847" name="Line 14"/>
              <p:cNvSpPr>
                <a:spLocks noChangeShapeType="1"/>
              </p:cNvSpPr>
              <p:nvPr/>
            </p:nvSpPr>
            <p:spPr bwMode="auto">
              <a:xfrm>
                <a:off x="3186" y="2874"/>
                <a:ext cx="29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30" name="Group 15"/>
            <p:cNvGrpSpPr>
              <a:grpSpLocks/>
            </p:cNvGrpSpPr>
            <p:nvPr/>
          </p:nvGrpSpPr>
          <p:grpSpPr bwMode="auto">
            <a:xfrm>
              <a:off x="4128" y="2211"/>
              <a:ext cx="372" cy="247"/>
              <a:chOff x="3108" y="2736"/>
              <a:chExt cx="372" cy="288"/>
            </a:xfrm>
          </p:grpSpPr>
          <p:sp>
            <p:nvSpPr>
              <p:cNvPr id="34844" name="Rectangle 16"/>
              <p:cNvSpPr>
                <a:spLocks noChangeArrowheads="1"/>
              </p:cNvSpPr>
              <p:nvPr/>
            </p:nvSpPr>
            <p:spPr bwMode="auto">
              <a:xfrm>
                <a:off x="3108" y="2736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GB" altLang="en-US" sz="2000"/>
              </a:p>
            </p:txBody>
          </p:sp>
          <p:sp>
            <p:nvSpPr>
              <p:cNvPr id="34845" name="Line 17"/>
              <p:cNvSpPr>
                <a:spLocks noChangeShapeType="1"/>
              </p:cNvSpPr>
              <p:nvPr/>
            </p:nvSpPr>
            <p:spPr bwMode="auto">
              <a:xfrm>
                <a:off x="3186" y="2874"/>
                <a:ext cx="29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4831" name="Rectangle 18"/>
            <p:cNvSpPr>
              <a:spLocks noChangeArrowheads="1"/>
            </p:cNvSpPr>
            <p:nvPr/>
          </p:nvSpPr>
          <p:spPr bwMode="auto">
            <a:xfrm>
              <a:off x="5286" y="2201"/>
              <a:ext cx="192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GB" altLang="en-US" sz="2000"/>
            </a:p>
          </p:txBody>
        </p:sp>
        <p:sp>
          <p:nvSpPr>
            <p:cNvPr id="34832" name="Rectangle 20"/>
            <p:cNvSpPr>
              <a:spLocks noChangeArrowheads="1"/>
            </p:cNvSpPr>
            <p:nvPr/>
          </p:nvSpPr>
          <p:spPr bwMode="auto">
            <a:xfrm>
              <a:off x="3216" y="1574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F</a:t>
              </a:r>
            </a:p>
          </p:txBody>
        </p:sp>
        <p:sp>
          <p:nvSpPr>
            <p:cNvPr id="34833" name="Rectangle 21"/>
            <p:cNvSpPr>
              <a:spLocks noChangeArrowheads="1"/>
            </p:cNvSpPr>
            <p:nvPr/>
          </p:nvSpPr>
          <p:spPr bwMode="auto">
            <a:xfrm>
              <a:off x="4512" y="2215"/>
              <a:ext cx="288" cy="2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sz="2000"/>
                <a:t>...</a:t>
              </a:r>
            </a:p>
          </p:txBody>
        </p:sp>
        <p:sp>
          <p:nvSpPr>
            <p:cNvPr id="34834" name="Line 22"/>
            <p:cNvSpPr>
              <a:spLocks noChangeShapeType="1"/>
            </p:cNvSpPr>
            <p:nvPr/>
          </p:nvSpPr>
          <p:spPr bwMode="auto">
            <a:xfrm>
              <a:off x="4704" y="2319"/>
              <a:ext cx="2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5" name="Line 23"/>
            <p:cNvSpPr>
              <a:spLocks noChangeShapeType="1"/>
            </p:cNvSpPr>
            <p:nvPr/>
          </p:nvSpPr>
          <p:spPr bwMode="auto">
            <a:xfrm>
              <a:off x="5136" y="192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6" name="Rectangle 25"/>
            <p:cNvSpPr>
              <a:spLocks noChangeArrowheads="1"/>
            </p:cNvSpPr>
            <p:nvPr/>
          </p:nvSpPr>
          <p:spPr bwMode="auto">
            <a:xfrm>
              <a:off x="5096" y="1718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R</a:t>
              </a:r>
            </a:p>
          </p:txBody>
        </p:sp>
        <p:sp>
          <p:nvSpPr>
            <p:cNvPr id="34837" name="Line 27"/>
            <p:cNvSpPr>
              <a:spLocks noChangeShapeType="1"/>
            </p:cNvSpPr>
            <p:nvPr/>
          </p:nvSpPr>
          <p:spPr bwMode="auto">
            <a:xfrm flipH="1" flipV="1">
              <a:off x="2928" y="2122"/>
              <a:ext cx="336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34838" name="AutoShape 33"/>
            <p:cNvCxnSpPr>
              <a:cxnSpLocks noChangeShapeType="1"/>
              <a:stCxn id="34825" idx="0"/>
              <a:endCxn id="34827" idx="0"/>
            </p:cNvCxnSpPr>
            <p:nvPr/>
          </p:nvCxnSpPr>
          <p:spPr bwMode="auto">
            <a:xfrm rot="5400000" flipV="1">
              <a:off x="3436" y="1662"/>
              <a:ext cx="424" cy="672"/>
            </a:xfrm>
            <a:prstGeom prst="bentConnector3">
              <a:avLst>
                <a:gd name="adj1" fmla="val 704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39" name="Rectangle 34"/>
            <p:cNvSpPr>
              <a:spLocks noChangeArrowheads="1"/>
            </p:cNvSpPr>
            <p:nvPr/>
          </p:nvSpPr>
          <p:spPr bwMode="auto">
            <a:xfrm>
              <a:off x="3168" y="1882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>
                  <a:cs typeface="Times New Roman" panose="02020603050405020304" pitchFamily="18" charset="0"/>
                </a:rPr>
                <a:t>—</a:t>
              </a:r>
              <a:endParaRPr lang="en-US" altLang="en-US" sz="2000"/>
            </a:p>
          </p:txBody>
        </p:sp>
        <p:sp>
          <p:nvSpPr>
            <p:cNvPr id="34840" name="Rectangle 35"/>
            <p:cNvSpPr>
              <a:spLocks noChangeArrowheads="1"/>
            </p:cNvSpPr>
            <p:nvPr/>
          </p:nvSpPr>
          <p:spPr bwMode="auto">
            <a:xfrm>
              <a:off x="2736" y="193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x</a:t>
              </a:r>
            </a:p>
          </p:txBody>
        </p:sp>
        <p:sp>
          <p:nvSpPr>
            <p:cNvPr id="34841" name="Line 37"/>
            <p:cNvSpPr>
              <a:spLocks noChangeShapeType="1"/>
            </p:cNvSpPr>
            <p:nvPr/>
          </p:nvSpPr>
          <p:spPr bwMode="auto">
            <a:xfrm flipH="1">
              <a:off x="5280" y="2218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2" name="Rectangle 40"/>
            <p:cNvSpPr>
              <a:spLocks noChangeArrowheads="1"/>
            </p:cNvSpPr>
            <p:nvPr/>
          </p:nvSpPr>
          <p:spPr bwMode="auto">
            <a:xfrm>
              <a:off x="3360" y="2736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2000" b="1"/>
                <a:t>P</a:t>
              </a:r>
            </a:p>
          </p:txBody>
        </p:sp>
        <p:sp>
          <p:nvSpPr>
            <p:cNvPr id="34843" name="Line 42"/>
            <p:cNvSpPr>
              <a:spLocks noChangeShapeType="1"/>
            </p:cNvSpPr>
            <p:nvPr/>
          </p:nvSpPr>
          <p:spPr bwMode="auto">
            <a:xfrm flipV="1">
              <a:off x="3360" y="2448"/>
              <a:ext cx="0" cy="432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986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2.4.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ngăn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Ứng</a:t>
            </a:r>
            <a:r>
              <a:rPr lang="en-US" sz="2400" dirty="0" smtClean="0"/>
              <a:t> </a:t>
            </a:r>
            <a:r>
              <a:rPr lang="en-US" sz="2400" dirty="0" err="1" smtClean="0"/>
              <a:t>dụng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stack</a:t>
            </a:r>
          </a:p>
          <a:p>
            <a:pPr lvl="1"/>
            <a:r>
              <a:rPr lang="en-US" sz="2000" dirty="0" err="1" smtClean="0"/>
              <a:t>Thứ</a:t>
            </a:r>
            <a:r>
              <a:rPr lang="en-US" sz="2000" dirty="0" smtClean="0"/>
              <a:t> </a:t>
            </a:r>
            <a:r>
              <a:rPr lang="en-US" sz="2000" dirty="0" err="1" smtClean="0"/>
              <a:t>tự</a:t>
            </a:r>
            <a:r>
              <a:rPr lang="en-US" sz="2000" dirty="0" smtClean="0"/>
              <a:t> </a:t>
            </a:r>
            <a:r>
              <a:rPr lang="vi-VN" sz="2000" dirty="0" smtClean="0"/>
              <a:t>các </a:t>
            </a:r>
            <a:r>
              <a:rPr lang="vi-VN" sz="2000" dirty="0"/>
              <a:t>lệnh gọi hàm trong </a:t>
            </a:r>
            <a:r>
              <a:rPr lang="vi-VN" sz="2000" dirty="0" smtClean="0"/>
              <a:t>chương </a:t>
            </a:r>
            <a:r>
              <a:rPr lang="vi-VN" sz="2000" dirty="0"/>
              <a:t>trình máy tính </a:t>
            </a:r>
            <a:endParaRPr lang="en-US" sz="2000" dirty="0" smtClean="0"/>
          </a:p>
          <a:p>
            <a:pPr lvl="1"/>
            <a:r>
              <a:rPr lang="vi-VN" sz="2000" dirty="0" smtClean="0"/>
              <a:t>Hoàn </a:t>
            </a:r>
            <a:r>
              <a:rPr lang="vi-VN" sz="2000" dirty="0"/>
              <a:t>tác thao tác </a:t>
            </a:r>
            <a:r>
              <a:rPr lang="en-US" sz="2000" dirty="0"/>
              <a:t>(</a:t>
            </a:r>
            <a:r>
              <a:rPr lang="en-US" sz="2000" dirty="0" smtClean="0"/>
              <a:t>undo) </a:t>
            </a:r>
            <a:r>
              <a:rPr lang="vi-VN" sz="2000" dirty="0" smtClean="0"/>
              <a:t>trong </a:t>
            </a:r>
            <a:r>
              <a:rPr lang="vi-VN" sz="2000" dirty="0"/>
              <a:t>trình chỉnh </a:t>
            </a:r>
            <a:r>
              <a:rPr lang="vi-VN" sz="2000" dirty="0" smtClean="0"/>
              <a:t>sửa</a:t>
            </a:r>
            <a:r>
              <a:rPr lang="en-US" sz="2000" dirty="0" smtClean="0"/>
              <a:t> </a:t>
            </a:r>
          </a:p>
          <a:p>
            <a:pPr lvl="1"/>
            <a:r>
              <a:rPr lang="vi-VN" sz="2000" dirty="0" smtClean="0"/>
              <a:t>Lịch </a:t>
            </a:r>
            <a:r>
              <a:rPr lang="vi-VN" sz="2000" dirty="0"/>
              <a:t>sử trong trình duyệt </a:t>
            </a:r>
            <a:r>
              <a:rPr lang="vi-VN" sz="2000" dirty="0" smtClean="0"/>
              <a:t>web</a:t>
            </a:r>
            <a:endParaRPr lang="en-US" sz="2000" dirty="0" smtClean="0"/>
          </a:p>
          <a:p>
            <a:pPr lvl="1"/>
            <a:r>
              <a:rPr lang="en-US" sz="2000" dirty="0" err="1" smtClean="0"/>
              <a:t>Triển</a:t>
            </a:r>
            <a:r>
              <a:rPr lang="en-US" sz="2000" dirty="0" smtClean="0"/>
              <a:t> </a:t>
            </a:r>
            <a:r>
              <a:rPr lang="en-US" sz="2000" dirty="0" err="1" smtClean="0"/>
              <a:t>khai</a:t>
            </a:r>
            <a:r>
              <a:rPr lang="en-US" sz="2000" dirty="0" smtClean="0"/>
              <a:t> </a:t>
            </a:r>
            <a:r>
              <a:rPr lang="vi-VN" sz="2000" dirty="0" smtClean="0"/>
              <a:t>các </a:t>
            </a:r>
            <a:r>
              <a:rPr lang="vi-VN" sz="2000" dirty="0"/>
              <a:t>hàm đệ </a:t>
            </a:r>
            <a:r>
              <a:rPr lang="vi-VN" sz="2000" dirty="0" smtClean="0"/>
              <a:t>quy</a:t>
            </a:r>
            <a:endParaRPr lang="en-US" sz="2000" dirty="0" smtClean="0"/>
          </a:p>
          <a:p>
            <a:pPr lvl="1"/>
            <a:r>
              <a:rPr lang="en-US" sz="2000" dirty="0" smtClean="0"/>
              <a:t>…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591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 smtClean="0"/>
              <a:t>ET2100 </a:t>
            </a:r>
            <a:r>
              <a:rPr lang="en-US" i="1" smtClean="0"/>
              <a:t>- </a:t>
            </a:r>
            <a:r>
              <a:rPr lang="en-US" b="1" i="1" smtClean="0"/>
              <a:t>Data Structures and Algorithms</a:t>
            </a:r>
            <a:endParaRPr lang="en-US" smtClean="0"/>
          </a:p>
          <a:p>
            <a:pPr algn="r"/>
            <a:r>
              <a:rPr lang="en-US" smtClean="0"/>
              <a:t>School of Electrical and Electronic Engineering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2.4.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ngăn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queue</a:t>
            </a:r>
          </a:p>
          <a:p>
            <a:pPr lvl="1"/>
            <a:r>
              <a:rPr lang="vi-VN" sz="2000" dirty="0"/>
              <a:t>Truyền dữ liệu và bộ đệm giao tiếp </a:t>
            </a:r>
            <a:endParaRPr lang="en-US" sz="2000" dirty="0" smtClean="0"/>
          </a:p>
          <a:p>
            <a:pPr lvl="1"/>
            <a:r>
              <a:rPr lang="vi-VN" sz="2000" dirty="0" smtClean="0"/>
              <a:t>Bộ </a:t>
            </a:r>
            <a:r>
              <a:rPr lang="vi-VN" sz="2000" dirty="0"/>
              <a:t>đệm đọc / </a:t>
            </a:r>
            <a:r>
              <a:rPr lang="vi-VN" sz="2000" dirty="0" smtClean="0"/>
              <a:t>ghi</a:t>
            </a:r>
            <a:endParaRPr lang="en-US" sz="2000" dirty="0" smtClean="0"/>
          </a:p>
          <a:p>
            <a:pPr lvl="1"/>
            <a:r>
              <a:rPr lang="vi-VN" sz="2000" dirty="0" smtClean="0"/>
              <a:t>Triển </a:t>
            </a:r>
            <a:r>
              <a:rPr lang="vi-VN" sz="2000" dirty="0"/>
              <a:t>khai các dịch vụ máy khách </a:t>
            </a:r>
            <a:r>
              <a:rPr lang="vi-VN" sz="2000" dirty="0" smtClean="0"/>
              <a:t>/ </a:t>
            </a:r>
            <a:r>
              <a:rPr lang="vi-VN" sz="2000" dirty="0"/>
              <a:t>máy chủ</a:t>
            </a:r>
            <a:endParaRPr lang="en-US" sz="2000" dirty="0"/>
          </a:p>
        </p:txBody>
      </p:sp>
      <p:pic>
        <p:nvPicPr>
          <p:cNvPr id="6" name="Picture 4" descr="Related image">
            <a:extLst>
              <a:ext uri="{FF2B5EF4-FFF2-40B4-BE49-F238E27FC236}">
                <a16:creationId xmlns:a16="http://schemas.microsoft.com/office/drawing/2014/main" id="{AFF29728-EADC-47A9-9282-FA6E1A9F5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3200" y="2590800"/>
            <a:ext cx="2868365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clip_image017">
            <a:extLst>
              <a:ext uri="{FF2B5EF4-FFF2-40B4-BE49-F238E27FC236}">
                <a16:creationId xmlns:a16="http://schemas.microsoft.com/office/drawing/2014/main" id="{059D4342-2696-4DEC-B2C5-34398C67D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82" y="2895600"/>
            <a:ext cx="3746218" cy="201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8590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36400B3-4283-46E0-983F-6EE846696C6B}" type="slidenum">
              <a:rPr lang="en-US" altLang="en-US" sz="1400"/>
              <a:pPr eaLnBrk="1" hangingPunct="1"/>
              <a:t>42</a:t>
            </a:fld>
            <a:endParaRPr lang="en-US" altLang="en-US" sz="1400"/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 err="1" smtClean="0"/>
              <a:t>Tổng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kết</a:t>
            </a:r>
            <a:endParaRPr lang="en-US" altLang="en-US" dirty="0" smtClean="0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body" sz="quarter" idx="13"/>
          </p:nvPr>
        </p:nvSpPr>
        <p:spPr>
          <a:noFill/>
        </p:spPr>
        <p:txBody>
          <a:bodyPr>
            <a:normAutofit/>
          </a:bodyPr>
          <a:lstStyle/>
          <a:p>
            <a:pPr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en-US" sz="2400" dirty="0"/>
              <a:t>So </a:t>
            </a:r>
            <a:r>
              <a:rPr lang="en-US" altLang="en-US" sz="2400" dirty="0" err="1"/>
              <a:t>sánh</a:t>
            </a:r>
            <a:r>
              <a:rPr lang="en-US" altLang="en-US" sz="2400" dirty="0"/>
              <a:t> CTLT </a:t>
            </a:r>
            <a:r>
              <a:rPr lang="en-US" altLang="en-US" sz="2400" dirty="0" err="1"/>
              <a:t>tuần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tự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và</a:t>
            </a:r>
            <a:r>
              <a:rPr lang="en-US" altLang="en-US" sz="2400" dirty="0"/>
              <a:t> </a:t>
            </a:r>
            <a:r>
              <a:rPr lang="en-US" altLang="en-US" sz="2400" dirty="0" smtClean="0"/>
              <a:t>CTLT </a:t>
            </a:r>
            <a:r>
              <a:rPr lang="en-US" altLang="en-US" sz="2400" dirty="0" err="1"/>
              <a:t>móc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nối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trong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cài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đặt</a:t>
            </a:r>
            <a:r>
              <a:rPr lang="en-US" altLang="en-US" sz="2400" dirty="0"/>
              <a:t> DS</a:t>
            </a:r>
          </a:p>
          <a:p>
            <a:pPr lvl="1">
              <a:lnSpc>
                <a:spcPct val="95000"/>
              </a:lnSpc>
              <a:spcBef>
                <a:spcPct val="0"/>
              </a:spcBef>
            </a:pPr>
            <a:r>
              <a:rPr lang="en-US" altLang="en-US" sz="2000" dirty="0" err="1" smtClean="0"/>
              <a:t>Về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bộ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nhớ</a:t>
            </a:r>
            <a:r>
              <a:rPr lang="en-US" altLang="en-US" sz="2000" dirty="0" smtClean="0"/>
              <a:t>, </a:t>
            </a:r>
            <a:r>
              <a:rPr lang="en-US" altLang="en-US" sz="2000" dirty="0" err="1" smtClean="0"/>
              <a:t>lưu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trữ</a:t>
            </a:r>
            <a:endParaRPr lang="en-US" altLang="en-US" sz="2000" dirty="0" smtClean="0"/>
          </a:p>
          <a:p>
            <a:pPr lvl="2">
              <a:lnSpc>
                <a:spcPct val="95000"/>
              </a:lnSpc>
              <a:spcBef>
                <a:spcPct val="0"/>
              </a:spcBef>
            </a:pPr>
            <a:r>
              <a:rPr lang="en-US" altLang="en-US" sz="2000" dirty="0" smtClean="0"/>
              <a:t>CT </a:t>
            </a:r>
            <a:r>
              <a:rPr lang="en-US" altLang="en-US" sz="2000" dirty="0" err="1" smtClean="0"/>
              <a:t>móc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nối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đòi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hỏi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lưu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trữ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thêm</a:t>
            </a:r>
            <a:r>
              <a:rPr lang="en-US" altLang="en-US" sz="2000" dirty="0" smtClean="0"/>
              <a:t> con </a:t>
            </a:r>
            <a:r>
              <a:rPr lang="en-US" altLang="en-US" sz="2000" dirty="0" err="1" smtClean="0"/>
              <a:t>trỏ</a:t>
            </a:r>
            <a:r>
              <a:rPr lang="en-US" altLang="en-US" sz="2000" dirty="0" smtClean="0"/>
              <a:t> (pointer) </a:t>
            </a:r>
            <a:r>
              <a:rPr lang="en-US" altLang="en-US" sz="2000" dirty="0" err="1" smtClean="0"/>
              <a:t>trỏ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tới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nút</a:t>
            </a:r>
            <a:r>
              <a:rPr lang="en-US" altLang="en-US" sz="2000" dirty="0" smtClean="0"/>
              <a:t> </a:t>
            </a:r>
          </a:p>
          <a:p>
            <a:pPr lvl="2">
              <a:lnSpc>
                <a:spcPct val="95000"/>
              </a:lnSpc>
              <a:spcBef>
                <a:spcPct val="0"/>
              </a:spcBef>
            </a:pPr>
            <a:r>
              <a:rPr lang="en-US" altLang="en-US" sz="2000" dirty="0" smtClean="0"/>
              <a:t>CT </a:t>
            </a:r>
            <a:r>
              <a:rPr lang="en-US" altLang="en-US" sz="2000" dirty="0" err="1" smtClean="0"/>
              <a:t>tuần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tự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đòi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hỏi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xác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định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trước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kích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thước</a:t>
            </a:r>
            <a:r>
              <a:rPr lang="en-US" altLang="en-US" sz="2000" dirty="0" smtClean="0"/>
              <a:t> MAX </a:t>
            </a:r>
            <a:r>
              <a:rPr lang="en-US" altLang="en-US" sz="2000" dirty="0" err="1" smtClean="0"/>
              <a:t>cho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phần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tử</a:t>
            </a:r>
            <a:r>
              <a:rPr lang="en-US" altLang="en-US" sz="2000" dirty="0" smtClean="0"/>
              <a:t> =&gt; </a:t>
            </a:r>
            <a:r>
              <a:rPr lang="en-US" altLang="en-US" sz="2000" dirty="0" err="1" smtClean="0"/>
              <a:t>Gây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ra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lãng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phí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khi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kích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thước</a:t>
            </a:r>
            <a:r>
              <a:rPr lang="en-US" altLang="en-US" sz="2000" dirty="0" smtClean="0"/>
              <a:t> max </a:t>
            </a:r>
            <a:r>
              <a:rPr lang="en-US" altLang="en-US" sz="2000" dirty="0" err="1" smtClean="0"/>
              <a:t>đó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không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được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dùng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hết</a:t>
            </a:r>
            <a:r>
              <a:rPr lang="en-US" altLang="en-US" sz="2000" dirty="0" smtClean="0"/>
              <a:t>.</a:t>
            </a:r>
          </a:p>
          <a:p>
            <a:pPr lvl="2">
              <a:lnSpc>
                <a:spcPct val="95000"/>
              </a:lnSpc>
              <a:spcBef>
                <a:spcPct val="0"/>
              </a:spcBef>
            </a:pPr>
            <a:r>
              <a:rPr lang="en-US" altLang="en-US" sz="2000" dirty="0" smtClean="0"/>
              <a:t>CT </a:t>
            </a:r>
            <a:r>
              <a:rPr lang="en-US" altLang="en-US" sz="2000" dirty="0" err="1" smtClean="0"/>
              <a:t>móc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nối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không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đòi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hỏi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chiếm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chỗ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trước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cho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các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phần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tử</a:t>
            </a:r>
            <a:r>
              <a:rPr lang="en-US" altLang="en-US" sz="2000" dirty="0" smtClean="0"/>
              <a:t>. </a:t>
            </a:r>
            <a:r>
              <a:rPr lang="en-US" altLang="en-US" sz="2000" dirty="0" err="1" smtClean="0"/>
              <a:t>Điều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này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giúp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chương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trình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tiết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kiệm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bộ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nhớ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khi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chạy</a:t>
            </a:r>
            <a:r>
              <a:rPr lang="en-US" altLang="en-US" sz="2000" dirty="0" smtClean="0"/>
              <a:t>.</a:t>
            </a:r>
          </a:p>
          <a:p>
            <a:pPr lvl="1">
              <a:lnSpc>
                <a:spcPct val="95000"/>
              </a:lnSpc>
              <a:spcBef>
                <a:spcPct val="0"/>
              </a:spcBef>
            </a:pPr>
            <a:r>
              <a:rPr lang="en-US" altLang="en-US" sz="2000" dirty="0" err="1"/>
              <a:t>Về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thời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gian</a:t>
            </a:r>
            <a:endParaRPr lang="en-US" altLang="en-US" sz="2000" dirty="0"/>
          </a:p>
          <a:p>
            <a:pPr lvl="2">
              <a:lnSpc>
                <a:spcPct val="95000"/>
              </a:lnSpc>
              <a:spcBef>
                <a:spcPct val="0"/>
              </a:spcBef>
            </a:pPr>
            <a:r>
              <a:rPr lang="en-US" altLang="en-US" sz="2000" dirty="0" err="1"/>
              <a:t>Hầu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hết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các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phép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toán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của</a:t>
            </a:r>
            <a:r>
              <a:rPr lang="en-US" altLang="en-US" sz="2000" dirty="0"/>
              <a:t> CT </a:t>
            </a:r>
            <a:r>
              <a:rPr lang="en-US" altLang="en-US" sz="2000" dirty="0" err="1"/>
              <a:t>móc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nối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đòi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hỏi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nhiều</a:t>
            </a:r>
            <a:r>
              <a:rPr lang="en-US" altLang="en-US" sz="2000" dirty="0"/>
              <a:t> </a:t>
            </a:r>
            <a:r>
              <a:rPr lang="en-US" altLang="en-US" sz="2000" dirty="0" err="1"/>
              <a:t>lệnh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hơn</a:t>
            </a:r>
            <a:r>
              <a:rPr lang="en-US" altLang="en-US" sz="2000" dirty="0"/>
              <a:t> so </a:t>
            </a:r>
            <a:r>
              <a:rPr lang="en-US" altLang="en-US" sz="2000" dirty="0" err="1"/>
              <a:t>với</a:t>
            </a:r>
            <a:r>
              <a:rPr lang="en-US" altLang="en-US" sz="2000" dirty="0"/>
              <a:t> CT </a:t>
            </a:r>
            <a:r>
              <a:rPr lang="en-US" altLang="en-US" sz="2000" dirty="0" err="1"/>
              <a:t>tuần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tự</a:t>
            </a:r>
            <a:r>
              <a:rPr lang="en-US" altLang="en-US" sz="2000" dirty="0"/>
              <a:t>, do </a:t>
            </a:r>
            <a:r>
              <a:rPr lang="en-US" altLang="en-US" sz="2000" dirty="0" err="1"/>
              <a:t>vậy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sẽ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tốn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nhiều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thời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gian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hơn</a:t>
            </a:r>
            <a:endParaRPr lang="en-US" altLang="en-US" sz="2000" dirty="0"/>
          </a:p>
          <a:p>
            <a:pPr lvl="2">
              <a:lnSpc>
                <a:spcPct val="95000"/>
              </a:lnSpc>
              <a:spcBef>
                <a:spcPct val="0"/>
              </a:spcBef>
            </a:pPr>
            <a:r>
              <a:rPr lang="en-US" altLang="en-US" sz="2000" dirty="0"/>
              <a:t>CT </a:t>
            </a:r>
            <a:r>
              <a:rPr lang="en-US" altLang="en-US" sz="2000" dirty="0" err="1"/>
              <a:t>tuần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tự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thường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nhanh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hơn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trong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trường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hợp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tìm</a:t>
            </a:r>
            <a:r>
              <a:rPr lang="en-US" altLang="en-US" sz="2000" dirty="0"/>
              <a:t> </a:t>
            </a:r>
            <a:r>
              <a:rPr lang="en-US" altLang="en-US" sz="2000" dirty="0" err="1"/>
              <a:t>kiếm</a:t>
            </a:r>
            <a:r>
              <a:rPr lang="en-US" altLang="en-US" sz="2000" dirty="0"/>
              <a:t> </a:t>
            </a:r>
            <a:r>
              <a:rPr lang="en-US" altLang="en-US" sz="2000" dirty="0" err="1"/>
              <a:t>và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sửa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đổi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các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phần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tử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nằm</a:t>
            </a:r>
            <a:r>
              <a:rPr lang="en-US" altLang="en-US" sz="2000" dirty="0"/>
              <a:t> ở </a:t>
            </a:r>
            <a:r>
              <a:rPr lang="en-US" altLang="en-US" sz="2000" dirty="0" err="1"/>
              <a:t>giữa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danh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sách</a:t>
            </a:r>
            <a:endParaRPr lang="en-US" altLang="en-US" sz="2000" dirty="0"/>
          </a:p>
          <a:p>
            <a:pPr lvl="2">
              <a:lnSpc>
                <a:spcPct val="95000"/>
              </a:lnSpc>
              <a:spcBef>
                <a:spcPct val="0"/>
              </a:spcBef>
            </a:pPr>
            <a:r>
              <a:rPr lang="en-US" altLang="en-US" sz="2000" dirty="0"/>
              <a:t>CT </a:t>
            </a:r>
            <a:r>
              <a:rPr lang="en-US" altLang="en-US" sz="2000" dirty="0" err="1"/>
              <a:t>móc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nối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thường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nhanh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hơn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trong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trường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hợp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thêm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hoặc</a:t>
            </a:r>
            <a:r>
              <a:rPr lang="en-US" altLang="en-US" sz="2000" dirty="0"/>
              <a:t> </a:t>
            </a:r>
            <a:r>
              <a:rPr lang="en-US" altLang="en-US" sz="2000" dirty="0" err="1"/>
              <a:t>bớt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các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phần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tử</a:t>
            </a:r>
            <a:r>
              <a:rPr lang="en-US" altLang="en-US" sz="2000" dirty="0"/>
              <a:t> </a:t>
            </a:r>
            <a:r>
              <a:rPr lang="en-US" altLang="en-US" sz="2000" dirty="0" err="1"/>
              <a:t>vào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giữa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danh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sách</a:t>
            </a:r>
            <a:endParaRPr lang="en-US" altLang="en-US" sz="2000" dirty="0"/>
          </a:p>
          <a:p>
            <a:pPr lvl="1">
              <a:lnSpc>
                <a:spcPct val="95000"/>
              </a:lnSpc>
              <a:spcBef>
                <a:spcPct val="0"/>
              </a:spcBef>
            </a:pPr>
            <a:endParaRPr lang="en-US" altLang="en-US" sz="2000" dirty="0" smtClean="0"/>
          </a:p>
        </p:txBody>
      </p:sp>
      <p:sp>
        <p:nvSpPr>
          <p:cNvPr id="35846" name="Line 5"/>
          <p:cNvSpPr>
            <a:spLocks noChangeShapeType="1"/>
          </p:cNvSpPr>
          <p:nvPr/>
        </p:nvSpPr>
        <p:spPr bwMode="auto">
          <a:xfrm>
            <a:off x="8534400" y="3581400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 type="none" w="sm" len="sm"/>
                <a:tailEnd type="triangle" w="lg" len="med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057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B814BA-1EA3-4BB2-B031-7DEF18BEC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C65502-E790-4A90-9E38-2826A4050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Tổng</a:t>
            </a:r>
            <a:r>
              <a:rPr lang="en-US" altLang="en-US" dirty="0"/>
              <a:t> </a:t>
            </a:r>
            <a:r>
              <a:rPr lang="en-US" altLang="en-US" dirty="0" err="1"/>
              <a:t>kết</a:t>
            </a:r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61663E8-2295-4C53-ACE1-BDC5F95C25DB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800467684"/>
              </p:ext>
            </p:extLst>
          </p:nvPr>
        </p:nvGraphicFramePr>
        <p:xfrm>
          <a:off x="457200" y="1019182"/>
          <a:ext cx="8229600" cy="4876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156415456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16103258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472417748"/>
                    </a:ext>
                  </a:extLst>
                </a:gridCol>
              </a:tblGrid>
              <a:tr h="44334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Linked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287590"/>
                  </a:ext>
                </a:extLst>
              </a:tr>
              <a:tr h="443345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 to 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112935"/>
                  </a:ext>
                </a:extLst>
              </a:tr>
              <a:tr h="443345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 to 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315997"/>
                  </a:ext>
                </a:extLst>
              </a:tr>
              <a:tr h="44334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 in the middle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577705"/>
                  </a:ext>
                </a:extLst>
              </a:tr>
              <a:tr h="443345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 at 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467100"/>
                  </a:ext>
                </a:extLst>
              </a:tr>
              <a:tr h="443345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 at 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996420"/>
                  </a:ext>
                </a:extLst>
              </a:tr>
              <a:tr h="44334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 in the middle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572604"/>
                  </a:ext>
                </a:extLst>
              </a:tr>
              <a:tr h="443345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 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321143"/>
                  </a:ext>
                </a:extLst>
              </a:tr>
              <a:tr h="44334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 element by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490848"/>
                  </a:ext>
                </a:extLst>
              </a:tr>
              <a:tr h="443345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172942"/>
                  </a:ext>
                </a:extLst>
              </a:tr>
              <a:tr h="44334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Iterate over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308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682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3789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80A08B0-56D6-4698-851F-E85A4E99D891}" type="slidenum">
              <a:rPr lang="en-US" altLang="en-US" sz="1400"/>
              <a:pPr eaLnBrk="1" hangingPunct="1"/>
              <a:t>44</a:t>
            </a:fld>
            <a:endParaRPr lang="en-US" altLang="en-US" sz="1400"/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–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smtClean="0"/>
              <a:t>4</a:t>
            </a:r>
            <a:endParaRPr lang="en-US" altLang="en-US" dirty="0" smtClean="0"/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err="1" smtClean="0"/>
              <a:t>Bài</a:t>
            </a:r>
            <a:r>
              <a:rPr lang="en-US" dirty="0" smtClean="0"/>
              <a:t> 1: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queue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(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, </a:t>
            </a:r>
            <a:r>
              <a:rPr lang="en-US" dirty="0" err="1" smtClean="0"/>
              <a:t>thêm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, </a:t>
            </a:r>
            <a:r>
              <a:rPr lang="en-US" dirty="0" err="1" smtClean="0"/>
              <a:t>xóa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, </a:t>
            </a: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tiên</a:t>
            </a:r>
            <a:r>
              <a:rPr lang="en-US" dirty="0" smtClean="0"/>
              <a:t>, </a:t>
            </a: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)</a:t>
            </a:r>
            <a:endParaRPr lang="en-US" dirty="0"/>
          </a:p>
          <a:p>
            <a:pPr>
              <a:defRPr/>
            </a:pPr>
            <a:r>
              <a:rPr lang="en-US" dirty="0" err="1" smtClean="0"/>
              <a:t>Bài</a:t>
            </a:r>
            <a:r>
              <a:rPr lang="en-US" dirty="0" smtClean="0"/>
              <a:t> 2: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/>
              <a:t>kép</a:t>
            </a:r>
            <a:r>
              <a:rPr lang="en-US" dirty="0"/>
              <a:t> </a:t>
            </a:r>
            <a:r>
              <a:rPr lang="en-US" dirty="0" err="1"/>
              <a:t>thẳng</a:t>
            </a:r>
            <a:r>
              <a:rPr lang="en-US" dirty="0"/>
              <a:t>. </a:t>
            </a:r>
            <a:r>
              <a:rPr lang="en-US" dirty="0" err="1" smtClean="0"/>
              <a:t>Bao</a:t>
            </a:r>
            <a:r>
              <a:rPr lang="en-US" dirty="0" smtClean="0"/>
              <a:t> </a:t>
            </a:r>
            <a:r>
              <a:rPr lang="en-US" dirty="0" err="1"/>
              <a:t>gồm</a:t>
            </a:r>
            <a:r>
              <a:rPr lang="en-US" dirty="0"/>
              <a:t>:</a:t>
            </a:r>
          </a:p>
          <a:p>
            <a:pPr lvl="1">
              <a:defRPr/>
            </a:pPr>
            <a:r>
              <a:rPr lang="en-US" sz="2000" dirty="0" err="1"/>
              <a:t>Nêu</a:t>
            </a:r>
            <a:r>
              <a:rPr lang="en-US" sz="2000" dirty="0"/>
              <a:t> </a:t>
            </a:r>
            <a:r>
              <a:rPr lang="en-US" sz="2000" dirty="0" err="1"/>
              <a:t>cách</a:t>
            </a:r>
            <a:r>
              <a:rPr lang="en-US" sz="2000" dirty="0"/>
              <a:t> </a:t>
            </a:r>
            <a:r>
              <a:rPr lang="en-US" sz="2000" dirty="0" err="1"/>
              <a:t>tổ</a:t>
            </a:r>
            <a:r>
              <a:rPr lang="en-US" sz="2000" dirty="0"/>
              <a:t> </a:t>
            </a:r>
            <a:r>
              <a:rPr lang="en-US" sz="2000" dirty="0" err="1"/>
              <a:t>chức</a:t>
            </a:r>
            <a:r>
              <a:rPr lang="en-US" sz="2000" dirty="0"/>
              <a:t> </a:t>
            </a:r>
            <a:r>
              <a:rPr lang="en-US" sz="2000" dirty="0" err="1"/>
              <a:t>danh</a:t>
            </a:r>
            <a:r>
              <a:rPr lang="en-US" sz="2000" dirty="0"/>
              <a:t> </a:t>
            </a:r>
            <a:r>
              <a:rPr lang="en-US" sz="2000" dirty="0" err="1"/>
              <a:t>sách</a:t>
            </a:r>
            <a:r>
              <a:rPr lang="en-US" sz="2000" dirty="0"/>
              <a:t>, </a:t>
            </a:r>
            <a:r>
              <a:rPr lang="en-US" sz="2000" dirty="0" err="1"/>
              <a:t>Định</a:t>
            </a:r>
            <a:r>
              <a:rPr lang="en-US" sz="2000" dirty="0"/>
              <a:t> </a:t>
            </a:r>
            <a:r>
              <a:rPr lang="en-US" sz="2000" dirty="0" err="1"/>
              <a:t>nghĩa</a:t>
            </a:r>
            <a:r>
              <a:rPr lang="en-US" sz="2000" dirty="0"/>
              <a:t> </a:t>
            </a:r>
            <a:r>
              <a:rPr lang="en-US" sz="2000" dirty="0" err="1"/>
              <a:t>cấu</a:t>
            </a:r>
            <a:r>
              <a:rPr lang="en-US" sz="2000" dirty="0"/>
              <a:t> </a:t>
            </a:r>
            <a:r>
              <a:rPr lang="en-US" sz="2000" dirty="0" err="1"/>
              <a:t>trúc</a:t>
            </a:r>
            <a:r>
              <a:rPr lang="en-US" sz="2000" dirty="0"/>
              <a:t>, </a:t>
            </a:r>
            <a:endParaRPr lang="en-US" sz="2000" dirty="0" smtClean="0"/>
          </a:p>
          <a:p>
            <a:pPr lvl="1">
              <a:defRPr/>
            </a:pPr>
            <a:r>
              <a:rPr lang="en-US" sz="2000" dirty="0" err="1" smtClean="0"/>
              <a:t>Cài</a:t>
            </a:r>
            <a:r>
              <a:rPr lang="en-US" sz="2000" dirty="0" smtClean="0"/>
              <a:t> </a:t>
            </a:r>
            <a:r>
              <a:rPr lang="en-US" sz="2000" dirty="0" err="1"/>
              <a:t>đặt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hàm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thao</a:t>
            </a:r>
            <a:r>
              <a:rPr lang="en-US" sz="2000" dirty="0"/>
              <a:t> </a:t>
            </a:r>
            <a:r>
              <a:rPr lang="en-US" sz="2000" dirty="0" err="1"/>
              <a:t>tác</a:t>
            </a:r>
            <a:r>
              <a:rPr lang="en-US" sz="2000" dirty="0"/>
              <a:t> </a:t>
            </a:r>
            <a:r>
              <a:rPr lang="en-US" sz="2000" dirty="0" err="1"/>
              <a:t>cơ</a:t>
            </a:r>
            <a:r>
              <a:rPr lang="en-US" sz="2000" dirty="0"/>
              <a:t> </a:t>
            </a:r>
            <a:r>
              <a:rPr lang="en-US" sz="2000" dirty="0" err="1" smtClean="0"/>
              <a:t>bản</a:t>
            </a:r>
            <a:r>
              <a:rPr lang="en-US" sz="2000" dirty="0" smtClean="0"/>
              <a:t>: </a:t>
            </a:r>
            <a:r>
              <a:rPr lang="en-US" sz="2000" dirty="0" err="1" smtClean="0"/>
              <a:t>khởi</a:t>
            </a:r>
            <a:r>
              <a:rPr lang="en-US" sz="2000" dirty="0" smtClean="0"/>
              <a:t> </a:t>
            </a:r>
            <a:r>
              <a:rPr lang="en-US" sz="2000" dirty="0" err="1" smtClean="0"/>
              <a:t>tạo</a:t>
            </a:r>
            <a:r>
              <a:rPr lang="en-US" sz="2000" dirty="0" smtClean="0"/>
              <a:t>, </a:t>
            </a:r>
            <a:r>
              <a:rPr lang="en-US" sz="2000" dirty="0" err="1" smtClean="0"/>
              <a:t>nhập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nút</a:t>
            </a:r>
            <a:r>
              <a:rPr lang="en-US" sz="2000" dirty="0" smtClean="0"/>
              <a:t> </a:t>
            </a:r>
            <a:r>
              <a:rPr lang="en-US" sz="2000" dirty="0" err="1" smtClean="0"/>
              <a:t>vào</a:t>
            </a:r>
            <a:r>
              <a:rPr lang="en-US" sz="2000" dirty="0" smtClean="0"/>
              <a:t> </a:t>
            </a:r>
            <a:r>
              <a:rPr lang="en-US" sz="2000" dirty="0" err="1" smtClean="0"/>
              <a:t>danh</a:t>
            </a:r>
            <a:r>
              <a:rPr lang="en-US" sz="2000" dirty="0" smtClean="0"/>
              <a:t> </a:t>
            </a:r>
            <a:r>
              <a:rPr lang="en-US" sz="2000" dirty="0" err="1" smtClean="0"/>
              <a:t>sách</a:t>
            </a:r>
            <a:r>
              <a:rPr lang="en-US" sz="2000" dirty="0" smtClean="0"/>
              <a:t>, </a:t>
            </a:r>
            <a:r>
              <a:rPr lang="en-US" sz="2000" dirty="0" err="1" smtClean="0"/>
              <a:t>chèn</a:t>
            </a:r>
            <a:r>
              <a:rPr lang="en-US" sz="2000" dirty="0" smtClean="0"/>
              <a:t> 1 </a:t>
            </a:r>
            <a:r>
              <a:rPr lang="en-US" sz="2000" dirty="0" err="1" smtClean="0"/>
              <a:t>nút</a:t>
            </a:r>
            <a:r>
              <a:rPr lang="en-US" sz="2000" dirty="0" smtClean="0"/>
              <a:t> </a:t>
            </a:r>
            <a:r>
              <a:rPr lang="en-US" sz="2000" dirty="0" err="1" smtClean="0"/>
              <a:t>vào</a:t>
            </a:r>
            <a:r>
              <a:rPr lang="en-US" sz="2000" dirty="0" smtClean="0"/>
              <a:t> </a:t>
            </a:r>
            <a:r>
              <a:rPr lang="en-US" sz="2000" dirty="0" err="1" smtClean="0"/>
              <a:t>đầu</a:t>
            </a:r>
            <a:r>
              <a:rPr lang="en-US" sz="2000" dirty="0" smtClean="0"/>
              <a:t>/</a:t>
            </a:r>
            <a:r>
              <a:rPr lang="en-US" sz="2000" dirty="0" err="1" smtClean="0"/>
              <a:t>cuối</a:t>
            </a:r>
            <a:r>
              <a:rPr lang="en-US" sz="2000" dirty="0" smtClean="0"/>
              <a:t> </a:t>
            </a:r>
            <a:r>
              <a:rPr lang="en-US" sz="2000" dirty="0" err="1" smtClean="0"/>
              <a:t>danh</a:t>
            </a:r>
            <a:r>
              <a:rPr lang="en-US" sz="2000" dirty="0" smtClean="0"/>
              <a:t> </a:t>
            </a:r>
            <a:r>
              <a:rPr lang="en-US" sz="2000" dirty="0" err="1" smtClean="0"/>
              <a:t>sách</a:t>
            </a:r>
            <a:r>
              <a:rPr lang="en-US" sz="2000" dirty="0" smtClean="0"/>
              <a:t>, </a:t>
            </a:r>
            <a:r>
              <a:rPr lang="en-US" sz="2000" dirty="0" err="1" smtClean="0"/>
              <a:t>xóa</a:t>
            </a:r>
            <a:r>
              <a:rPr lang="en-US" sz="2000" dirty="0" smtClean="0"/>
              <a:t> 1 </a:t>
            </a:r>
            <a:r>
              <a:rPr lang="en-US" sz="2000" dirty="0" err="1" smtClean="0"/>
              <a:t>nút</a:t>
            </a:r>
            <a:r>
              <a:rPr lang="en-US" sz="2000" dirty="0" smtClean="0"/>
              <a:t> ở </a:t>
            </a:r>
            <a:r>
              <a:rPr lang="en-US" sz="2000" dirty="0" err="1" smtClean="0"/>
              <a:t>đầu</a:t>
            </a:r>
            <a:r>
              <a:rPr lang="en-US" sz="2000" dirty="0" smtClean="0"/>
              <a:t>/</a:t>
            </a:r>
            <a:r>
              <a:rPr lang="en-US" sz="2000" dirty="0" err="1" smtClean="0"/>
              <a:t>cuối</a:t>
            </a:r>
            <a:r>
              <a:rPr lang="en-US" sz="2000" dirty="0" smtClean="0"/>
              <a:t> </a:t>
            </a:r>
            <a:r>
              <a:rPr lang="en-US" sz="2000" dirty="0" err="1" smtClean="0"/>
              <a:t>danh</a:t>
            </a:r>
            <a:r>
              <a:rPr lang="en-US" sz="2000" dirty="0" smtClean="0"/>
              <a:t> </a:t>
            </a:r>
            <a:r>
              <a:rPr lang="en-US" sz="2000" dirty="0" err="1" smtClean="0"/>
              <a:t>sách</a:t>
            </a:r>
            <a:r>
              <a:rPr lang="en-US" sz="2000" dirty="0" smtClean="0"/>
              <a:t>, </a:t>
            </a:r>
            <a:r>
              <a:rPr lang="en-US" sz="2000" dirty="0" err="1" smtClean="0"/>
              <a:t>chèn</a:t>
            </a:r>
            <a:r>
              <a:rPr lang="en-US" sz="2000" dirty="0" smtClean="0"/>
              <a:t> 1 </a:t>
            </a:r>
            <a:r>
              <a:rPr lang="en-US" sz="2000" dirty="0" err="1" smtClean="0"/>
              <a:t>nút</a:t>
            </a:r>
            <a:r>
              <a:rPr lang="en-US" sz="2000" dirty="0" smtClean="0"/>
              <a:t> </a:t>
            </a:r>
            <a:r>
              <a:rPr lang="en-US" sz="2000" dirty="0" err="1" smtClean="0"/>
              <a:t>vào</a:t>
            </a:r>
            <a:r>
              <a:rPr lang="en-US" sz="2000" dirty="0" smtClean="0"/>
              <a:t> </a:t>
            </a:r>
            <a:r>
              <a:rPr lang="en-US" sz="2000" dirty="0" err="1" smtClean="0"/>
              <a:t>trước</a:t>
            </a:r>
            <a:r>
              <a:rPr lang="en-US" sz="2000" dirty="0" smtClean="0"/>
              <a:t>/</a:t>
            </a:r>
            <a:r>
              <a:rPr lang="en-US" sz="2000" dirty="0" err="1" smtClean="0"/>
              <a:t>sau</a:t>
            </a:r>
            <a:r>
              <a:rPr lang="en-US" sz="2000" dirty="0" smtClean="0"/>
              <a:t> 1 </a:t>
            </a:r>
            <a:r>
              <a:rPr lang="en-US" sz="2000" dirty="0" err="1" smtClean="0"/>
              <a:t>nút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giá</a:t>
            </a:r>
            <a:r>
              <a:rPr lang="en-US" sz="2000" dirty="0" smtClean="0"/>
              <a:t> </a:t>
            </a:r>
            <a:r>
              <a:rPr lang="en-US" sz="2000" dirty="0" err="1" smtClean="0"/>
              <a:t>trị</a:t>
            </a:r>
            <a:r>
              <a:rPr lang="en-US" sz="2000" dirty="0" smtClean="0"/>
              <a:t> X,  </a:t>
            </a:r>
            <a:r>
              <a:rPr lang="en-US" sz="2000" dirty="0" err="1" smtClean="0"/>
              <a:t>xóa</a:t>
            </a:r>
            <a:r>
              <a:rPr lang="en-US" sz="2000" dirty="0" smtClean="0"/>
              <a:t> 1 </a:t>
            </a:r>
            <a:r>
              <a:rPr lang="en-US" sz="2000" dirty="0" err="1" smtClean="0"/>
              <a:t>nút</a:t>
            </a:r>
            <a:r>
              <a:rPr lang="en-US" sz="2000" dirty="0" smtClean="0"/>
              <a:t> ở </a:t>
            </a:r>
            <a:r>
              <a:rPr lang="en-US" sz="2000" dirty="0" err="1" smtClean="0"/>
              <a:t>trước</a:t>
            </a:r>
            <a:r>
              <a:rPr lang="en-US" sz="2000" dirty="0" smtClean="0"/>
              <a:t>/</a:t>
            </a:r>
            <a:r>
              <a:rPr lang="en-US" sz="2000" dirty="0" err="1" smtClean="0"/>
              <a:t>sau</a:t>
            </a:r>
            <a:r>
              <a:rPr lang="en-US" sz="2000" dirty="0" smtClean="0"/>
              <a:t> 1 </a:t>
            </a:r>
            <a:r>
              <a:rPr lang="en-US" sz="2000" dirty="0" err="1" smtClean="0"/>
              <a:t>nút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giá</a:t>
            </a:r>
            <a:r>
              <a:rPr lang="en-US" sz="2000" dirty="0" smtClean="0"/>
              <a:t> </a:t>
            </a:r>
            <a:r>
              <a:rPr lang="en-US" sz="2000" dirty="0" err="1" smtClean="0"/>
              <a:t>trị</a:t>
            </a:r>
            <a:r>
              <a:rPr lang="en-US" sz="2000" dirty="0" smtClean="0"/>
              <a:t> X, </a:t>
            </a:r>
            <a:r>
              <a:rPr lang="en-US" sz="2000" dirty="0" err="1" smtClean="0"/>
              <a:t>xóa</a:t>
            </a:r>
            <a:r>
              <a:rPr lang="en-US" sz="2000" dirty="0" smtClean="0"/>
              <a:t> </a:t>
            </a:r>
            <a:r>
              <a:rPr lang="en-US" sz="2000" dirty="0" err="1" smtClean="0"/>
              <a:t>toàn</a:t>
            </a:r>
            <a:r>
              <a:rPr lang="en-US" sz="2000" dirty="0" smtClean="0"/>
              <a:t> </a:t>
            </a:r>
            <a:r>
              <a:rPr lang="en-US" sz="2000" dirty="0" err="1" smtClean="0"/>
              <a:t>bộ</a:t>
            </a:r>
            <a:r>
              <a:rPr lang="en-US" sz="2000" dirty="0" smtClean="0"/>
              <a:t> </a:t>
            </a:r>
            <a:r>
              <a:rPr lang="en-US" sz="2000" dirty="0" err="1" smtClean="0"/>
              <a:t>danh</a:t>
            </a:r>
            <a:r>
              <a:rPr lang="en-US" sz="2000" dirty="0" smtClean="0"/>
              <a:t> </a:t>
            </a:r>
            <a:r>
              <a:rPr lang="en-US" sz="2000" dirty="0" err="1" smtClean="0"/>
              <a:t>sách</a:t>
            </a:r>
            <a:r>
              <a:rPr lang="en-US" sz="2000" dirty="0" smtClean="0"/>
              <a:t>.</a:t>
            </a:r>
            <a:endParaRPr lang="en-US" sz="2000" dirty="0"/>
          </a:p>
          <a:p>
            <a:pPr>
              <a:defRPr/>
            </a:pPr>
            <a:endParaRPr lang="en-US" dirty="0" smtClean="0"/>
          </a:p>
          <a:p>
            <a:pPr lvl="1"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91380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dirty="0" smtClean="0"/>
          </a:p>
        </p:txBody>
      </p:sp>
      <p:sp>
        <p:nvSpPr>
          <p:cNvPr id="3789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80A08B0-56D6-4698-851F-E85A4E99D891}" type="slidenum">
              <a:rPr lang="en-US" altLang="en-US" sz="1400"/>
              <a:pPr eaLnBrk="1" hangingPunct="1"/>
              <a:t>45</a:t>
            </a:fld>
            <a:endParaRPr lang="en-US" altLang="en-US" sz="1400"/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 smtClean="0"/>
              <a:t>Bài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tập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mở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rộng</a:t>
            </a:r>
            <a:endParaRPr lang="en-US" altLang="en-US" dirty="0" smtClean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vi-VN" b="1" dirty="0"/>
              <a:t>Điều chỉnh tổ chức của danh sách liên kết (</a:t>
            </a:r>
            <a:r>
              <a:rPr lang="vi-VN" b="1" i="1" dirty="0"/>
              <a:t>DSLK</a:t>
            </a:r>
            <a:r>
              <a:rPr lang="vi-VN" b="1" dirty="0"/>
              <a:t>)</a:t>
            </a:r>
            <a:r>
              <a:rPr lang="vi-VN" dirty="0"/>
              <a:t> Viết thuật toán lấy số nút của DSLK. Cho biết độ phức tạp của thuật toán.</a:t>
            </a:r>
          </a:p>
          <a:p>
            <a:pPr lvl="1"/>
            <a:r>
              <a:rPr lang="vi-VN" dirty="0"/>
              <a:t>Nếu bổ sung biến </a:t>
            </a:r>
            <a:r>
              <a:rPr lang="vi-VN" i="1" dirty="0"/>
              <a:t>_count</a:t>
            </a:r>
            <a:r>
              <a:rPr lang="vi-VN" dirty="0"/>
              <a:t> để lưu số nút thì cần cải thiện cài đặt DSLK thế nào?</a:t>
            </a:r>
          </a:p>
          <a:p>
            <a:r>
              <a:rPr lang="vi-VN" b="1" dirty="0"/>
              <a:t>Đổi cơ số đếm</a:t>
            </a:r>
            <a:r>
              <a:rPr lang="vi-VN" dirty="0"/>
              <a:t> Dùng danh sách liên kết để đổi cơ số đếm</a:t>
            </a:r>
          </a:p>
          <a:p>
            <a:pPr lvl="1"/>
            <a:r>
              <a:rPr lang="vi-VN" i="1" dirty="0"/>
              <a:t>Đầu vào:</a:t>
            </a:r>
            <a:r>
              <a:rPr lang="vi-VN" dirty="0"/>
              <a:t> số nguyên không âm</a:t>
            </a:r>
          </a:p>
          <a:p>
            <a:pPr lvl="1"/>
            <a:r>
              <a:rPr lang="vi-VN" i="1" dirty="0"/>
              <a:t>Đầu ra:</a:t>
            </a:r>
            <a:r>
              <a:rPr lang="vi-VN" dirty="0"/>
              <a:t> dãy các giá trị nhị phân</a:t>
            </a:r>
          </a:p>
          <a:p>
            <a:r>
              <a:rPr lang="vi-VN" b="1" dirty="0"/>
              <a:t>Phân tích xâu ký tự</a:t>
            </a:r>
            <a:r>
              <a:rPr lang="vi-VN" dirty="0"/>
              <a:t> Phân tích xâu ký tự thành các từ không rỗng</a:t>
            </a:r>
          </a:p>
          <a:p>
            <a:pPr lvl="1"/>
            <a:r>
              <a:rPr lang="vi-VN" i="1" dirty="0"/>
              <a:t>Đầu vào:</a:t>
            </a:r>
            <a:r>
              <a:rPr lang="vi-VN" dirty="0"/>
              <a:t> xâu ký tự</a:t>
            </a:r>
          </a:p>
          <a:p>
            <a:pPr lvl="1"/>
            <a:r>
              <a:rPr lang="vi-VN" i="1" dirty="0"/>
              <a:t>Đầu ra:</a:t>
            </a:r>
            <a:r>
              <a:rPr lang="vi-VN" dirty="0"/>
              <a:t> dãy các từ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55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7. SL - Mẫu slides bài giảng_HUST PPT 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. SL - Mẫu slides bài giảng_HUST PPT Template.pptx" id="{45510D97-992C-451E-ADEA-BBABC4EFA76A}" vid="{3E3F4600-7126-4670-8CD5-2C2CB12BC9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7. SL - Mẫu slides bài giảng_HUST PPT Template</Template>
  <TotalTime>13215</TotalTime>
  <Words>3256</Words>
  <Application>Microsoft Office PowerPoint</Application>
  <PresentationFormat>On-screen Show (4:3)</PresentationFormat>
  <Paragraphs>752</Paragraphs>
  <Slides>45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Arial</vt:lpstr>
      <vt:lpstr>Calibri</vt:lpstr>
      <vt:lpstr>Calibri Light</vt:lpstr>
      <vt:lpstr>Courier New</vt:lpstr>
      <vt:lpstr>Gill Sans MT</vt:lpstr>
      <vt:lpstr>Lato</vt:lpstr>
      <vt:lpstr>Times New Roman</vt:lpstr>
      <vt:lpstr>Wingdings</vt:lpstr>
      <vt:lpstr>Wingdings 3</vt:lpstr>
      <vt:lpstr>7. SL - Mẫu slides bài giảng_HUST PPT Template</vt:lpstr>
      <vt:lpstr>CẤU TRÚC DỮ LIỆU VÀ GIẢI THUẬT</vt:lpstr>
      <vt:lpstr>Chương II :  Cấu trúc mảng và Danh sách tuyến tính</vt:lpstr>
      <vt:lpstr>Các nội dung chính</vt:lpstr>
      <vt:lpstr>2.3. Cài đặt danh sách bằng CTLT móc nối</vt:lpstr>
      <vt:lpstr>2.3.1 Con trỏ</vt:lpstr>
      <vt:lpstr>2.3.1 Cấu trúc lưu trữ móc nối</vt:lpstr>
      <vt:lpstr>2.3.2 Danh sách móc nối - Linked List</vt:lpstr>
      <vt:lpstr>2.3.2 Danh sách móc nối</vt:lpstr>
      <vt:lpstr>2.3.2 Danh sách móc nối</vt:lpstr>
      <vt:lpstr>2.3.2 Danh sách móc nối</vt:lpstr>
      <vt:lpstr>2.3.2 Danh sách móc nối</vt:lpstr>
      <vt:lpstr>2.3.2 Danh sách móc nối</vt:lpstr>
      <vt:lpstr>2.3.3 Cài đặt danh sách bằng CTLT móc nối</vt:lpstr>
      <vt:lpstr>CÀI ĐẶT danh sách NỐI ĐƠN  </vt:lpstr>
      <vt:lpstr>CÀI ĐẶT danh sách NỐI ĐƠN </vt:lpstr>
      <vt:lpstr>CÀI ĐẶT danh sách NỐI ĐƠN </vt:lpstr>
      <vt:lpstr>CÀI ĐẶT danh sách NỐI ĐƠN </vt:lpstr>
      <vt:lpstr>CÀI ĐẶT danh sách NỐI ĐƠN </vt:lpstr>
      <vt:lpstr>CÀI ĐẶT danh sách NỐI ĐƠN </vt:lpstr>
      <vt:lpstr>CÀI ĐẶT danh sách NỐI ĐƠN </vt:lpstr>
      <vt:lpstr>CÀI ĐẶT danh sách NỐI ĐƠN </vt:lpstr>
      <vt:lpstr>CÀI ĐẶT danh sách NỐI ĐƠN </vt:lpstr>
      <vt:lpstr>CÀI ĐẶT danh sách NỐI ĐƠN </vt:lpstr>
      <vt:lpstr>CÀI ĐẶT danh sách NỐI ĐƠN </vt:lpstr>
      <vt:lpstr>CÀI ĐẶT danh sách NỐI ĐƠN </vt:lpstr>
      <vt:lpstr>CÀI ĐẶT danh sách NỐI ĐƠN </vt:lpstr>
      <vt:lpstr>Danh sách NỐI KÉP </vt:lpstr>
      <vt:lpstr>Danh sách NỐI KÉP </vt:lpstr>
      <vt:lpstr>Danh sách NỐI KÉP </vt:lpstr>
      <vt:lpstr>Danh sách NỐI KÉP </vt:lpstr>
      <vt:lpstr>Danh sách NỐI KÉP </vt:lpstr>
      <vt:lpstr>2.3.4 Cài đặt LIFO, FIFO bằng CTLT móc nối</vt:lpstr>
      <vt:lpstr>Cài đặt LIFO, FIFO bằng cấu trúc lưu trữ móc nối</vt:lpstr>
      <vt:lpstr>Cài đặt LIFO, FIFO bằng cấu trúc lưu trữ móc nối</vt:lpstr>
      <vt:lpstr>Cài đặt LIFO, FIFO bằng cấu trúc lưu trữ móc nối</vt:lpstr>
      <vt:lpstr>Cài đặt LIFO, FIFO bằng cấu trúc lưu trữ móc nối</vt:lpstr>
      <vt:lpstr>Cài đặt LIFO, FIFO bằng cấu trúc lưu trữ móc nối</vt:lpstr>
      <vt:lpstr>Cài đặt LIFO, FIFO bằng cấu trúc lưu trữ móc nối</vt:lpstr>
      <vt:lpstr>Cài đặt LIFO, FIFO bằng cấu trúc lưu trữ móc nối</vt:lpstr>
      <vt:lpstr>2.4. Một số ứng dụng của ngăn xếp và hàng đợi </vt:lpstr>
      <vt:lpstr>2.4. Một số ứng dụng của ngăn xếp và hàng đợi </vt:lpstr>
      <vt:lpstr>Tổng kết</vt:lpstr>
      <vt:lpstr>Tổng kết</vt:lpstr>
      <vt:lpstr>Bài tập – Tuần 4</vt:lpstr>
      <vt:lpstr>Bài tập mở rộng</vt:lpstr>
    </vt:vector>
  </TitlesOfParts>
  <Company>Utility Muffin Research Kitchen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Dao Trung Kien</dc:creator>
  <cp:lastModifiedBy>Do Thi Ngoc Diep</cp:lastModifiedBy>
  <cp:revision>1669</cp:revision>
  <cp:lastPrinted>2018-10-12T09:39:58Z</cp:lastPrinted>
  <dcterms:created xsi:type="dcterms:W3CDTF">2007-06-13T23:23:09Z</dcterms:created>
  <dcterms:modified xsi:type="dcterms:W3CDTF">2024-03-25T04:06:08Z</dcterms:modified>
</cp:coreProperties>
</file>