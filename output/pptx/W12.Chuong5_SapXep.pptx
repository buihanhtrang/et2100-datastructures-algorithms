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</p:sldMasterIdLst>
  <p:notesMasterIdLst>
    <p:notesMasterId r:id="rId63"/>
  </p:notesMasterIdLst>
  <p:handoutMasterIdLst>
    <p:handoutMasterId r:id="rId64"/>
  </p:handoutMasterIdLst>
  <p:sldIdLst>
    <p:sldId id="622" r:id="rId2"/>
    <p:sldId id="623" r:id="rId3"/>
    <p:sldId id="546" r:id="rId4"/>
    <p:sldId id="547" r:id="rId5"/>
    <p:sldId id="606" r:id="rId6"/>
    <p:sldId id="549" r:id="rId7"/>
    <p:sldId id="588" r:id="rId8"/>
    <p:sldId id="605" r:id="rId9"/>
    <p:sldId id="550" r:id="rId10"/>
    <p:sldId id="551" r:id="rId11"/>
    <p:sldId id="552" r:id="rId12"/>
    <p:sldId id="553" r:id="rId13"/>
    <p:sldId id="554" r:id="rId14"/>
    <p:sldId id="589" r:id="rId15"/>
    <p:sldId id="590" r:id="rId16"/>
    <p:sldId id="555" r:id="rId17"/>
    <p:sldId id="591" r:id="rId18"/>
    <p:sldId id="594" r:id="rId19"/>
    <p:sldId id="557" r:id="rId20"/>
    <p:sldId id="558" r:id="rId21"/>
    <p:sldId id="592" r:id="rId22"/>
    <p:sldId id="559" r:id="rId23"/>
    <p:sldId id="560" r:id="rId24"/>
    <p:sldId id="562" r:id="rId25"/>
    <p:sldId id="561" r:id="rId26"/>
    <p:sldId id="563" r:id="rId27"/>
    <p:sldId id="593" r:id="rId28"/>
    <p:sldId id="629" r:id="rId29"/>
    <p:sldId id="564" r:id="rId30"/>
    <p:sldId id="565" r:id="rId31"/>
    <p:sldId id="596" r:id="rId32"/>
    <p:sldId id="566" r:id="rId33"/>
    <p:sldId id="599" r:id="rId34"/>
    <p:sldId id="597" r:id="rId35"/>
    <p:sldId id="602" r:id="rId36"/>
    <p:sldId id="603" r:id="rId37"/>
    <p:sldId id="598" r:id="rId38"/>
    <p:sldId id="571" r:id="rId39"/>
    <p:sldId id="610" r:id="rId40"/>
    <p:sldId id="572" r:id="rId41"/>
    <p:sldId id="611" r:id="rId42"/>
    <p:sldId id="612" r:id="rId43"/>
    <p:sldId id="614" r:id="rId44"/>
    <p:sldId id="576" r:id="rId45"/>
    <p:sldId id="632" r:id="rId46"/>
    <p:sldId id="633" r:id="rId47"/>
    <p:sldId id="577" r:id="rId48"/>
    <p:sldId id="578" r:id="rId49"/>
    <p:sldId id="615" r:id="rId50"/>
    <p:sldId id="617" r:id="rId51"/>
    <p:sldId id="579" r:id="rId52"/>
    <p:sldId id="583" r:id="rId53"/>
    <p:sldId id="631" r:id="rId54"/>
    <p:sldId id="619" r:id="rId55"/>
    <p:sldId id="620" r:id="rId56"/>
    <p:sldId id="621" r:id="rId57"/>
    <p:sldId id="624" r:id="rId58"/>
    <p:sldId id="625" r:id="rId59"/>
    <p:sldId id="627" r:id="rId60"/>
    <p:sldId id="628" r:id="rId61"/>
    <p:sldId id="630" r:id="rId62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A8A8"/>
    <a:srgbClr val="AAE8F4"/>
    <a:srgbClr val="000000"/>
    <a:srgbClr val="000066"/>
    <a:srgbClr val="00004C"/>
    <a:srgbClr val="0036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4" autoAdjust="0"/>
    <p:restoredTop sz="71326" autoAdjust="0"/>
  </p:normalViewPr>
  <p:slideViewPr>
    <p:cSldViewPr>
      <p:cViewPr varScale="1">
        <p:scale>
          <a:sx n="79" d="100"/>
          <a:sy n="79" d="100"/>
        </p:scale>
        <p:origin x="744" y="6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2784" y="-96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32111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0060"/>
          </a:xfrm>
          <a:prstGeom prst="rect">
            <a:avLst/>
          </a:prstGeom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3"/>
            <a:ext cx="3169920" cy="480060"/>
          </a:xfrm>
          <a:prstGeom prst="rect">
            <a:avLst/>
          </a:prstGeom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pitchFamily="34" charset="0"/>
              </a:defRPr>
            </a:lvl1pPr>
          </a:lstStyle>
          <a:p>
            <a:fld id="{5EDDA0F7-BB27-45D6-A5CE-AEC59009A5B9}" type="datetimeFigureOut">
              <a:rPr lang="en-US"/>
              <a:pPr/>
              <a:t>5/27/2024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74"/>
            <a:ext cx="3169920" cy="480060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pitchFamily="34" charset="0"/>
              </a:defRPr>
            </a:lvl1pPr>
          </a:lstStyle>
          <a:p>
            <a:fld id="{76159C16-962D-45B7-9AE3-AA455C3EA8F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9135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Mảng</a:t>
            </a:r>
            <a:r>
              <a:rPr lang="en-US" dirty="0" smtClean="0"/>
              <a:t>                       CT </a:t>
            </a: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trữ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tuần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tự</a:t>
            </a:r>
            <a:endParaRPr lang="en-US" dirty="0" smtClean="0"/>
          </a:p>
          <a:p>
            <a:r>
              <a:rPr lang="en-US" dirty="0" err="1" smtClean="0"/>
              <a:t>Danh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sách</a:t>
            </a:r>
            <a:r>
              <a:rPr lang="en-US" baseline="0" dirty="0" smtClean="0"/>
              <a:t>               CT </a:t>
            </a:r>
            <a:r>
              <a:rPr lang="en-US" baseline="0" dirty="0" err="1" smtClean="0"/>
              <a:t>lưu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329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Application example of sorting a list using primary and secondary keys: first sorting the cards by rank (using any sort), then doing a stable sort by suit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359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vi-VN" sz="2000" dirty="0" smtClean="0"/>
              <a:t>n(n-1)/2 phép so sánh</a:t>
            </a:r>
            <a:r>
              <a:rPr lang="en-US" sz="2000" dirty="0" smtClean="0"/>
              <a:t> </a:t>
            </a:r>
            <a:r>
              <a:rPr lang="en-US" sz="2000" dirty="0" err="1" smtClean="0"/>
              <a:t>và</a:t>
            </a:r>
            <a:r>
              <a:rPr lang="en-US" sz="2000" dirty="0" smtClean="0"/>
              <a:t> </a:t>
            </a:r>
            <a:r>
              <a:rPr lang="en-US" sz="2000" dirty="0" err="1" smtClean="0"/>
              <a:t>đổi</a:t>
            </a:r>
            <a:r>
              <a:rPr lang="en-US" sz="2000" dirty="0" smtClean="0"/>
              <a:t> </a:t>
            </a:r>
            <a:r>
              <a:rPr lang="en-US" sz="2000" dirty="0" err="1" smtClean="0"/>
              <a:t>chỗ</a:t>
            </a:r>
            <a:endParaRPr lang="vi-VN" sz="18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527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Nếu</a:t>
            </a:r>
            <a:r>
              <a:rPr lang="en-US" dirty="0" smtClean="0"/>
              <a:t> k=1: </a:t>
            </a:r>
            <a:r>
              <a:rPr lang="en-US" dirty="0" err="1" smtClean="0"/>
              <a:t>chèn</a:t>
            </a:r>
            <a:r>
              <a:rPr lang="en-US" dirty="0" smtClean="0"/>
              <a:t> b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dãy</a:t>
            </a:r>
            <a:endParaRPr lang="en-US" dirty="0" smtClean="0"/>
          </a:p>
          <a:p>
            <a:r>
              <a:rPr lang="en-US" dirty="0" err="1" smtClean="0"/>
              <a:t>Nếu</a:t>
            </a:r>
            <a:r>
              <a:rPr lang="en-US" dirty="0" smtClean="0"/>
              <a:t> k=i+1: </a:t>
            </a:r>
            <a:r>
              <a:rPr lang="en-US" dirty="0" err="1" smtClean="0"/>
              <a:t>đặt</a:t>
            </a:r>
            <a:r>
              <a:rPr lang="en-US" dirty="0" smtClean="0"/>
              <a:t> b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cuối</a:t>
            </a:r>
            <a:r>
              <a:rPr lang="en-US" dirty="0" smtClean="0"/>
              <a:t> </a:t>
            </a:r>
            <a:r>
              <a:rPr lang="en-US" dirty="0" err="1" smtClean="0"/>
              <a:t>dãy</a:t>
            </a:r>
            <a:r>
              <a:rPr lang="en-US" dirty="0" smtClean="0"/>
              <a:t> (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chèn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pPr lvl="1">
              <a:lnSpc>
                <a:spcPct val="80000"/>
              </a:lnSpc>
            </a:pPr>
            <a:r>
              <a:rPr lang="en-US" altLang="en-US" sz="2000" b="1" dirty="0" err="1" smtClean="0"/>
              <a:t>Lưu</a:t>
            </a:r>
            <a:r>
              <a:rPr lang="en-US" altLang="en-US" sz="2000" b="1" dirty="0" smtClean="0"/>
              <a:t> ý:</a:t>
            </a:r>
            <a:r>
              <a:rPr lang="en-US" altLang="en-US" sz="2000" dirty="0" smtClean="0"/>
              <a:t> </a:t>
            </a:r>
            <a:r>
              <a:rPr lang="en-US" altLang="en-US" sz="2000" b="0" dirty="0" err="1" smtClean="0"/>
              <a:t>để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kết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hợp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việc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tìm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vị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trí</a:t>
            </a:r>
            <a:r>
              <a:rPr lang="en-US" altLang="en-US" sz="2000" b="0" dirty="0" smtClean="0"/>
              <a:t> k </a:t>
            </a:r>
            <a:r>
              <a:rPr lang="en-US" altLang="en-US" sz="2000" b="0" dirty="0" err="1" smtClean="0"/>
              <a:t>và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dịch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các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phần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tử</a:t>
            </a:r>
            <a:r>
              <a:rPr lang="en-US" altLang="en-US" sz="2000" b="0" dirty="0" smtClean="0"/>
              <a:t> sang </a:t>
            </a:r>
            <a:r>
              <a:rPr lang="en-US" altLang="en-US" sz="2000" b="0" dirty="0" err="1" smtClean="0"/>
              <a:t>phải</a:t>
            </a:r>
            <a:r>
              <a:rPr lang="en-US" altLang="en-US" sz="2000" b="0" dirty="0" smtClean="0"/>
              <a:t>, ta </a:t>
            </a:r>
            <a:r>
              <a:rPr lang="en-US" altLang="en-US" sz="2000" b="0" dirty="0" err="1" smtClean="0"/>
              <a:t>sẽ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tiến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hành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tìm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từ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cuối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dãy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trở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về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đầu</a:t>
            </a:r>
            <a:r>
              <a:rPr lang="en-US" altLang="en-US" sz="2000" b="0" dirty="0" smtClean="0"/>
              <a:t>. Ban </a:t>
            </a:r>
            <a:r>
              <a:rPr lang="en-US" altLang="en-US" sz="2000" b="0" dirty="0" err="1" smtClean="0"/>
              <a:t>đầu</a:t>
            </a:r>
            <a:r>
              <a:rPr lang="en-US" altLang="en-US" sz="2000" b="0" dirty="0" smtClean="0"/>
              <a:t> so </a:t>
            </a:r>
            <a:r>
              <a:rPr lang="en-US" altLang="en-US" sz="2000" b="0" dirty="0" err="1" smtClean="0"/>
              <a:t>sánh</a:t>
            </a:r>
            <a:r>
              <a:rPr lang="en-US" altLang="en-US" sz="2000" b="0" dirty="0" smtClean="0"/>
              <a:t> b </a:t>
            </a:r>
            <a:r>
              <a:rPr lang="en-US" altLang="en-US" sz="2000" b="0" dirty="0" err="1" smtClean="0"/>
              <a:t>với</a:t>
            </a:r>
            <a:r>
              <a:rPr lang="en-US" altLang="en-US" sz="2000" b="0" dirty="0" smtClean="0"/>
              <a:t> ai+1, </a:t>
            </a:r>
            <a:r>
              <a:rPr lang="en-US" altLang="en-US" sz="2000" b="0" dirty="0" err="1" smtClean="0"/>
              <a:t>sau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đó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với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ai</a:t>
            </a:r>
            <a:r>
              <a:rPr lang="en-US" altLang="en-US" sz="2000" b="0" dirty="0" smtClean="0"/>
              <a:t>,…, </a:t>
            </a:r>
            <a:r>
              <a:rPr lang="en-US" altLang="en-US" sz="2000" b="0" dirty="0" err="1" smtClean="0"/>
              <a:t>rồi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cứ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lùi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dần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cho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đến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khi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điều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kiện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vị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trí</a:t>
            </a:r>
            <a:r>
              <a:rPr lang="en-US" altLang="en-US" sz="2000" b="0" dirty="0" smtClean="0"/>
              <a:t> ở </a:t>
            </a:r>
            <a:r>
              <a:rPr lang="en-US" altLang="en-US" sz="2000" b="0" dirty="0" err="1" smtClean="0"/>
              <a:t>trên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thỏa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mãn</a:t>
            </a:r>
            <a:r>
              <a:rPr lang="en-US" altLang="en-US" sz="2000" b="0" dirty="0" smtClean="0"/>
              <a:t>. </a:t>
            </a:r>
            <a:r>
              <a:rPr lang="en-US" altLang="en-US" sz="2000" b="0" dirty="0" err="1" smtClean="0"/>
              <a:t>Đồng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thời</a:t>
            </a:r>
            <a:r>
              <a:rPr lang="en-US" altLang="en-US" sz="2000" b="0" dirty="0" smtClean="0"/>
              <a:t> ở </a:t>
            </a:r>
            <a:r>
              <a:rPr lang="en-US" altLang="en-US" sz="2000" b="0" dirty="0" err="1" smtClean="0"/>
              <a:t>mỗi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bước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trên</a:t>
            </a:r>
            <a:r>
              <a:rPr lang="en-US" altLang="en-US" sz="2000" b="0" dirty="0" smtClean="0"/>
              <a:t> ta </a:t>
            </a:r>
            <a:r>
              <a:rPr lang="en-US" altLang="en-US" sz="2000" b="0" dirty="0" err="1" smtClean="0"/>
              <a:t>lại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dịch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được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một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phần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tử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vừa</a:t>
            </a:r>
            <a:r>
              <a:rPr lang="en-US" altLang="en-US" sz="2000" b="0" dirty="0" smtClean="0"/>
              <a:t> so </a:t>
            </a:r>
            <a:r>
              <a:rPr lang="en-US" altLang="en-US" sz="2000" b="0" dirty="0" err="1" smtClean="0"/>
              <a:t>sánh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với</a:t>
            </a:r>
            <a:r>
              <a:rPr lang="en-US" altLang="en-US" sz="2000" b="0" dirty="0" smtClean="0"/>
              <a:t> b sang </a:t>
            </a:r>
            <a:r>
              <a:rPr lang="en-US" altLang="en-US" sz="2000" b="0" dirty="0" err="1" smtClean="0"/>
              <a:t>bên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phải</a:t>
            </a:r>
            <a:r>
              <a:rPr lang="en-US" altLang="en-US" sz="2000" b="0" dirty="0" smtClean="0"/>
              <a:t> 1 </a:t>
            </a:r>
            <a:r>
              <a:rPr lang="en-US" altLang="en-US" sz="2000" b="0" dirty="0" err="1" smtClean="0"/>
              <a:t>vị</a:t>
            </a:r>
            <a:r>
              <a:rPr lang="en-US" altLang="en-US" sz="2000" b="0" dirty="0" smtClean="0"/>
              <a:t> </a:t>
            </a:r>
            <a:r>
              <a:rPr lang="en-US" altLang="en-US" sz="2000" b="0" dirty="0" err="1" smtClean="0"/>
              <a:t>trí</a:t>
            </a:r>
            <a:r>
              <a:rPr lang="en-US" altLang="en-US" sz="2000" b="0" dirty="0" smtClean="0"/>
              <a:t>. </a:t>
            </a:r>
          </a:p>
          <a:p>
            <a:pPr lvl="2">
              <a:lnSpc>
                <a:spcPct val="80000"/>
              </a:lnSpc>
            </a:pPr>
            <a:endParaRPr lang="en-US" altLang="en-US" sz="16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91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trí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gạch</a:t>
            </a:r>
            <a:r>
              <a:rPr lang="en-US" dirty="0" smtClean="0"/>
              <a:t> </a:t>
            </a:r>
            <a:r>
              <a:rPr lang="en-US" dirty="0" err="1" smtClean="0"/>
              <a:t>chân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trí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chèn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3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It performs better than algorithms like selection sort and bubble sort. Insertion sort algorithm is simpler than shell sort, with only a small trade-off in efficiency. It is over twice as fast as the bubble sort and almost 40 per cent faster than the selection sort.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65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GT</a:t>
            </a:r>
            <a:r>
              <a:rPr lang="en-US" b="0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phân</a:t>
            </a:r>
            <a:r>
              <a:rPr lang="en-US" b="0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đoạn</a:t>
            </a:r>
            <a:r>
              <a:rPr lang="en-US" b="0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qsPartitionXXX</a:t>
            </a:r>
            <a:r>
              <a:rPr lang="en-US" b="1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b="0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mục</a:t>
            </a:r>
            <a:r>
              <a:rPr lang="en-US" b="0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đích</a:t>
            </a:r>
            <a:r>
              <a:rPr lang="en-US" b="0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altLang="en-US" sz="1200" dirty="0" smtClean="0"/>
              <a:t>Chia </a:t>
            </a:r>
            <a:r>
              <a:rPr lang="en-US" altLang="en-US" sz="1200" dirty="0" err="1" smtClean="0"/>
              <a:t>dữ</a:t>
            </a:r>
            <a:r>
              <a:rPr lang="en-US" altLang="en-US" sz="1200" dirty="0" smtClean="0"/>
              <a:t> </a:t>
            </a:r>
            <a:r>
              <a:rPr lang="en-US" altLang="en-US" sz="1200" dirty="0" err="1" smtClean="0"/>
              <a:t>liệu</a:t>
            </a:r>
            <a:r>
              <a:rPr lang="en-US" altLang="en-US" sz="1200" dirty="0" smtClean="0"/>
              <a:t> </a:t>
            </a:r>
            <a:r>
              <a:rPr lang="en-US" altLang="en-US" sz="1200" dirty="0" err="1" smtClean="0"/>
              <a:t>thành</a:t>
            </a:r>
            <a:r>
              <a:rPr lang="en-US" altLang="en-US" sz="1200" dirty="0" smtClean="0"/>
              <a:t> 2 </a:t>
            </a:r>
            <a:r>
              <a:rPr lang="en-US" altLang="en-US" sz="1200" dirty="0" err="1" smtClean="0"/>
              <a:t>tập</a:t>
            </a:r>
            <a:r>
              <a:rPr lang="en-US" altLang="en-US" sz="1200" dirty="0" smtClean="0"/>
              <a:t> </a:t>
            </a:r>
            <a:r>
              <a:rPr lang="en-US" altLang="en-US" sz="1200" dirty="0" err="1" smtClean="0"/>
              <a:t>nhỏ</a:t>
            </a:r>
            <a:r>
              <a:rPr lang="en-US" altLang="en-US" sz="1200" dirty="0" smtClean="0"/>
              <a:t>, </a:t>
            </a:r>
            <a:r>
              <a:rPr lang="en-US" altLang="en-US" sz="1200" dirty="0" err="1" smtClean="0"/>
              <a:t>trả</a:t>
            </a:r>
            <a:r>
              <a:rPr lang="en-US" altLang="en-US" sz="1200" baseline="0" dirty="0" smtClean="0"/>
              <a:t> </a:t>
            </a:r>
            <a:r>
              <a:rPr lang="en-US" altLang="en-US" sz="1200" baseline="0" dirty="0" err="1" smtClean="0"/>
              <a:t>về</a:t>
            </a:r>
            <a:r>
              <a:rPr lang="en-US" altLang="en-US" sz="1200" dirty="0" smtClean="0"/>
              <a:t> </a:t>
            </a:r>
            <a:r>
              <a:rPr lang="en-US" altLang="en-US" sz="1200" dirty="0" err="1" smtClean="0"/>
              <a:t>vị</a:t>
            </a:r>
            <a:r>
              <a:rPr lang="en-US" altLang="en-US" sz="1200" baseline="0" dirty="0" smtClean="0"/>
              <a:t> </a:t>
            </a:r>
            <a:r>
              <a:rPr lang="en-US" altLang="en-US" sz="1200" baseline="0" dirty="0" err="1" smtClean="0"/>
              <a:t>trí</a:t>
            </a:r>
            <a:r>
              <a:rPr lang="en-US" altLang="en-US" sz="1200" baseline="0" dirty="0" smtClean="0"/>
              <a:t> </a:t>
            </a:r>
            <a:r>
              <a:rPr lang="en-US" altLang="en-US" sz="1200" baseline="0" dirty="0" err="1" smtClean="0"/>
              <a:t>của</a:t>
            </a:r>
            <a:r>
              <a:rPr lang="en-US" altLang="en-US" sz="1200" baseline="0" dirty="0" smtClean="0"/>
              <a:t> </a:t>
            </a:r>
            <a:r>
              <a:rPr lang="en-US" altLang="en-US" sz="1200" baseline="0" dirty="0" err="1" smtClean="0"/>
              <a:t>chốt</a:t>
            </a:r>
            <a:r>
              <a:rPr lang="en-US" altLang="en-US" sz="1200" baseline="0" dirty="0" smtClean="0"/>
              <a:t> </a:t>
            </a:r>
            <a:r>
              <a:rPr lang="en-US" altLang="en-US" sz="1200" baseline="0" dirty="0" err="1" smtClean="0"/>
              <a:t>sau</a:t>
            </a:r>
            <a:r>
              <a:rPr lang="en-US" altLang="en-US" sz="1200" baseline="0" dirty="0" smtClean="0"/>
              <a:t> </a:t>
            </a:r>
            <a:r>
              <a:rPr lang="en-US" altLang="en-US" sz="1200" baseline="0" dirty="0" err="1" smtClean="0"/>
              <a:t>phân</a:t>
            </a:r>
            <a:r>
              <a:rPr lang="en-US" altLang="en-US" sz="1200" baseline="0" dirty="0" smtClean="0"/>
              <a:t> </a:t>
            </a:r>
            <a:r>
              <a:rPr lang="en-US" altLang="en-US" sz="1200" baseline="0" dirty="0" err="1" smtClean="0"/>
              <a:t>đoạn</a:t>
            </a:r>
            <a:r>
              <a:rPr lang="en-US" altLang="en-US" sz="1200" baseline="0" dirty="0" smtClean="0"/>
              <a:t>. </a:t>
            </a:r>
          </a:p>
          <a:p>
            <a:r>
              <a:rPr lang="en-US" sz="1200" baseline="0" dirty="0" err="1" smtClean="0"/>
              <a:t>Sau</a:t>
            </a:r>
            <a:r>
              <a:rPr lang="en-US" sz="1200" baseline="0" dirty="0" smtClean="0"/>
              <a:t> </a:t>
            </a:r>
            <a:r>
              <a:rPr lang="en-US" sz="1200" baseline="0" dirty="0" err="1" smtClean="0"/>
              <a:t>đó</a:t>
            </a:r>
            <a:r>
              <a:rPr lang="en-US" sz="1200" baseline="0" dirty="0" smtClean="0"/>
              <a:t> </a:t>
            </a:r>
            <a:r>
              <a:rPr lang="en-US" sz="1200" baseline="0" dirty="0" err="1" smtClean="0"/>
              <a:t>áp</a:t>
            </a:r>
            <a:r>
              <a:rPr lang="en-US" sz="1200" baseline="0" dirty="0" smtClean="0"/>
              <a:t> </a:t>
            </a:r>
            <a:r>
              <a:rPr lang="en-US" sz="1200" baseline="0" dirty="0" err="1" smtClean="0"/>
              <a:t>dụng</a:t>
            </a:r>
            <a:r>
              <a:rPr lang="en-US" sz="1200" baseline="0" dirty="0" smtClean="0"/>
              <a:t> quicksort </a:t>
            </a:r>
            <a:r>
              <a:rPr lang="en-US" sz="1200" baseline="0" dirty="0" err="1" smtClean="0"/>
              <a:t>trên</a:t>
            </a:r>
            <a:r>
              <a:rPr lang="en-US" sz="1200" baseline="0" dirty="0" smtClean="0"/>
              <a:t> 2 </a:t>
            </a:r>
            <a:r>
              <a:rPr lang="en-US" sz="1200" baseline="0" dirty="0" err="1" smtClean="0"/>
              <a:t>đoạn</a:t>
            </a:r>
            <a:r>
              <a:rPr lang="en-US" sz="1200" baseline="0" dirty="0" smtClean="0"/>
              <a:t> </a:t>
            </a:r>
            <a:r>
              <a:rPr lang="en-US" sz="1200" baseline="0" dirty="0" err="1" smtClean="0"/>
              <a:t>mới</a:t>
            </a:r>
            <a:r>
              <a:rPr lang="en-US" sz="1200" baseline="0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921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median of a group of N numbers is the </a:t>
            </a:r>
            <a:r>
              <a:rPr lang="en-US" dirty="0" err="1" smtClean="0"/>
              <a:t>upperbound</a:t>
            </a:r>
            <a:r>
              <a:rPr lang="en-US" dirty="0" smtClean="0"/>
              <a:t>(N/2)</a:t>
            </a:r>
            <a:r>
              <a:rPr lang="en-US" dirty="0" err="1" smtClean="0"/>
              <a:t>th</a:t>
            </a:r>
            <a:r>
              <a:rPr lang="en-US" dirty="0" smtClean="0"/>
              <a:t> smallest number.</a:t>
            </a:r>
          </a:p>
          <a:p>
            <a:r>
              <a:rPr lang="en-US" dirty="0" smtClean="0"/>
              <a:t>8. 1. 4. 9. 6. 3, 5. 2. 7, 0. </a:t>
            </a:r>
          </a:p>
          <a:p>
            <a:r>
              <a:rPr lang="en-US" dirty="0" smtClean="0"/>
              <a:t>the leftmost element is 8. the rightmost element is 0. and the center element is 6: thus the pivot would be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398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lặp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840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(a[r] &gt; a[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]) return r;   //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dãy</a:t>
            </a:r>
            <a:r>
              <a:rPr 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chứa</a:t>
            </a:r>
            <a:r>
              <a:rPr 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toàn</a:t>
            </a:r>
            <a:r>
              <a:rPr 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số</a:t>
            </a:r>
            <a:r>
              <a:rPr 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chốt</a:t>
            </a:r>
            <a:r>
              <a:rPr 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=&gt; </a:t>
            </a:r>
            <a:r>
              <a:rPr 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sau</a:t>
            </a:r>
            <a:r>
              <a:rPr 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phân</a:t>
            </a:r>
            <a:r>
              <a:rPr 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đoạn</a:t>
            </a:r>
            <a:r>
              <a:rPr 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vị</a:t>
            </a:r>
            <a:r>
              <a:rPr 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trí</a:t>
            </a:r>
            <a:r>
              <a:rPr 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của</a:t>
            </a:r>
            <a:r>
              <a:rPr 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chốt</a:t>
            </a:r>
            <a:r>
              <a:rPr 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vẫn</a:t>
            </a:r>
            <a:r>
              <a:rPr 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ở </a:t>
            </a:r>
            <a:r>
              <a:rPr 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cuối</a:t>
            </a:r>
            <a:r>
              <a:rPr 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cùng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 smtClean="0"/>
          </a:p>
          <a:p>
            <a:r>
              <a:rPr lang="en-US" dirty="0" smtClean="0"/>
              <a:t>-----------------------------</a:t>
            </a:r>
          </a:p>
          <a:p>
            <a:r>
              <a:rPr lang="en-US" sz="2000" dirty="0" err="1" smtClean="0"/>
              <a:t>Giải</a:t>
            </a:r>
            <a:r>
              <a:rPr lang="en-US" sz="2000" dirty="0" smtClean="0"/>
              <a:t> </a:t>
            </a:r>
            <a:r>
              <a:rPr lang="en-US" sz="2000" dirty="0" err="1" smtClean="0"/>
              <a:t>thuật</a:t>
            </a:r>
            <a:r>
              <a:rPr lang="en-US" sz="2000" dirty="0" smtClean="0"/>
              <a:t> </a:t>
            </a:r>
            <a:r>
              <a:rPr lang="en-US" sz="2000" dirty="0" err="1" smtClean="0"/>
              <a:t>phân</a:t>
            </a:r>
            <a:r>
              <a:rPr lang="en-US" sz="2000" dirty="0" smtClean="0"/>
              <a:t> </a:t>
            </a:r>
            <a:r>
              <a:rPr lang="en-US" sz="2000" dirty="0" err="1" smtClean="0"/>
              <a:t>đoạn</a:t>
            </a:r>
            <a:r>
              <a:rPr lang="en-US" sz="2000" dirty="0" smtClean="0"/>
              <a:t> Hoare (Hoare Partition)</a:t>
            </a:r>
          </a:p>
          <a:p>
            <a:pPr lvl="1"/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dãy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chốt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qsPartitionHoare2(</a:t>
            </a:r>
            <a:r>
              <a:rPr lang="en-US" dirty="0" err="1" smtClean="0"/>
              <a:t>int</a:t>
            </a:r>
            <a:r>
              <a:rPr lang="en-US" dirty="0" smtClean="0"/>
              <a:t> a[],</a:t>
            </a:r>
            <a:r>
              <a:rPr lang="en-US" dirty="0" err="1" smtClean="0"/>
              <a:t>int</a:t>
            </a:r>
            <a:r>
              <a:rPr lang="en-US" dirty="0" smtClean="0"/>
              <a:t> l, </a:t>
            </a:r>
            <a:r>
              <a:rPr lang="en-US" dirty="0" err="1" smtClean="0"/>
              <a:t>int</a:t>
            </a:r>
            <a:r>
              <a:rPr lang="en-US" dirty="0" smtClean="0"/>
              <a:t> r, </a:t>
            </a:r>
            <a:r>
              <a:rPr lang="en-US" dirty="0" err="1" smtClean="0"/>
              <a:t>int</a:t>
            </a:r>
            <a:r>
              <a:rPr lang="en-US" dirty="0" smtClean="0"/>
              <a:t> N) { 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cout</a:t>
            </a:r>
            <a:r>
              <a:rPr lang="en-US" dirty="0" smtClean="0"/>
              <a:t> &lt;&lt; </a:t>
            </a:r>
            <a:r>
              <a:rPr lang="en-US" dirty="0" err="1" smtClean="0"/>
              <a:t>endl</a:t>
            </a:r>
            <a:r>
              <a:rPr lang="en-US" dirty="0" smtClean="0"/>
              <a:t> &lt;&lt; "Hoare: l=" &lt;&lt; l &lt;&lt; ", r=" &lt;&lt; r &lt;&lt; ": "&lt;&lt; </a:t>
            </a:r>
            <a:r>
              <a:rPr lang="en-US" dirty="0" err="1" smtClean="0"/>
              <a:t>endl</a:t>
            </a:r>
            <a:r>
              <a:rPr lang="en-US" dirty="0" smtClean="0"/>
              <a:t>;    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int</a:t>
            </a:r>
            <a:r>
              <a:rPr lang="en-US" dirty="0" smtClean="0"/>
              <a:t> pivot = a[l]; </a:t>
            </a:r>
            <a:r>
              <a:rPr lang="en-US" dirty="0" err="1" smtClean="0"/>
              <a:t>cout</a:t>
            </a:r>
            <a:r>
              <a:rPr lang="en-US" dirty="0" smtClean="0"/>
              <a:t> &lt;&lt; "pivot "&lt;&lt; pivot &lt;&lt; </a:t>
            </a:r>
            <a:r>
              <a:rPr lang="en-US" dirty="0" err="1" smtClean="0"/>
              <a:t>endl</a:t>
            </a:r>
            <a:r>
              <a:rPr lang="en-US" dirty="0" smtClean="0"/>
              <a:t>;    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, j;    </a:t>
            </a:r>
          </a:p>
          <a:p>
            <a:r>
              <a:rPr lang="en-US" dirty="0" smtClean="0"/>
              <a:t>   for (</a:t>
            </a:r>
            <a:r>
              <a:rPr lang="en-US" dirty="0" err="1" smtClean="0"/>
              <a:t>i</a:t>
            </a:r>
            <a:r>
              <a:rPr lang="en-US" dirty="0" smtClean="0"/>
              <a:t> = l+1, j = r ; </a:t>
            </a:r>
            <a:r>
              <a:rPr lang="en-US" dirty="0" err="1" smtClean="0"/>
              <a:t>i</a:t>
            </a:r>
            <a:r>
              <a:rPr lang="en-US" dirty="0" smtClean="0"/>
              <a:t> &lt; j;) { </a:t>
            </a:r>
          </a:p>
          <a:p>
            <a:r>
              <a:rPr lang="en-US" dirty="0" smtClean="0"/>
              <a:t>       for (; a[j]&gt;= pivot &amp;&amp; </a:t>
            </a:r>
            <a:r>
              <a:rPr lang="en-US" dirty="0" err="1" smtClean="0"/>
              <a:t>i</a:t>
            </a:r>
            <a:r>
              <a:rPr lang="en-US" dirty="0" smtClean="0"/>
              <a:t>&lt;j; j--);   </a:t>
            </a:r>
          </a:p>
          <a:p>
            <a:r>
              <a:rPr lang="en-US" dirty="0" smtClean="0"/>
              <a:t>       for (; a[</a:t>
            </a:r>
            <a:r>
              <a:rPr lang="en-US" dirty="0" err="1" smtClean="0"/>
              <a:t>i</a:t>
            </a:r>
            <a:r>
              <a:rPr lang="en-US" dirty="0" smtClean="0"/>
              <a:t>]&lt;pivot &amp;&amp; </a:t>
            </a:r>
            <a:r>
              <a:rPr lang="en-US" dirty="0" err="1" smtClean="0"/>
              <a:t>i</a:t>
            </a:r>
            <a:r>
              <a:rPr lang="en-US" dirty="0" smtClean="0"/>
              <a:t>&lt;</a:t>
            </a:r>
            <a:r>
              <a:rPr lang="en-US" dirty="0" err="1" smtClean="0"/>
              <a:t>j;i</a:t>
            </a:r>
            <a:r>
              <a:rPr lang="en-US" dirty="0" smtClean="0"/>
              <a:t>++);  </a:t>
            </a:r>
          </a:p>
          <a:p>
            <a:r>
              <a:rPr lang="en-US" dirty="0" smtClean="0"/>
              <a:t>       swap(a[</a:t>
            </a:r>
            <a:r>
              <a:rPr lang="en-US" dirty="0" err="1" smtClean="0"/>
              <a:t>i</a:t>
            </a:r>
            <a:r>
              <a:rPr lang="en-US" dirty="0" smtClean="0"/>
              <a:t>], a[j]);   </a:t>
            </a:r>
          </a:p>
          <a:p>
            <a:r>
              <a:rPr lang="en-US" dirty="0" smtClean="0"/>
              <a:t>   }  </a:t>
            </a:r>
          </a:p>
          <a:p>
            <a:r>
              <a:rPr lang="en-US" dirty="0" smtClean="0"/>
              <a:t>  if (a[l] &lt; a[</a:t>
            </a:r>
            <a:r>
              <a:rPr lang="en-US" dirty="0" err="1" smtClean="0"/>
              <a:t>i</a:t>
            </a:r>
            <a:r>
              <a:rPr lang="en-US" dirty="0" smtClean="0"/>
              <a:t>]) return l;  </a:t>
            </a:r>
          </a:p>
          <a:p>
            <a:r>
              <a:rPr lang="en-US" dirty="0" smtClean="0"/>
              <a:t>  swap(a[j], a[l]);    </a:t>
            </a:r>
          </a:p>
          <a:p>
            <a:r>
              <a:rPr lang="en-US" dirty="0" smtClean="0"/>
              <a:t>   return </a:t>
            </a:r>
            <a:r>
              <a:rPr lang="en-US" dirty="0" err="1" smtClean="0"/>
              <a:t>i</a:t>
            </a:r>
            <a:r>
              <a:rPr lang="en-US" dirty="0" smtClean="0"/>
              <a:t>;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846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the average case, The partitioning of the array which simply loops over the elements of the array once uses O(n) time.</a:t>
            </a:r>
          </a:p>
          <a:p>
            <a:r>
              <a:rPr lang="en-US" dirty="0" smtClean="0"/>
              <a:t>In the best case, every time we partition the array, we divide the list into two nearly equal</a:t>
            </a:r>
          </a:p>
          <a:p>
            <a:r>
              <a:rPr lang="en-US" dirty="0" smtClean="0"/>
              <a:t>pieces. That is, the recursive call processes the sub-array of half the size. At the most, only log n</a:t>
            </a:r>
          </a:p>
          <a:p>
            <a:r>
              <a:rPr lang="en-US" dirty="0" smtClean="0"/>
              <a:t>nested calls can be made before we reach a sub-array of size 1. It means the depth of the call tree</a:t>
            </a:r>
          </a:p>
          <a:p>
            <a:r>
              <a:rPr lang="en-US" dirty="0" smtClean="0"/>
              <a:t>is O(log n). And because at each level, there can only be O(n), the resultant time is given as O(n</a:t>
            </a:r>
          </a:p>
          <a:p>
            <a:r>
              <a:rPr lang="en-US" dirty="0" smtClean="0"/>
              <a:t>log n) time.</a:t>
            </a:r>
          </a:p>
          <a:p>
            <a:r>
              <a:rPr lang="en-US" dirty="0" smtClean="0"/>
              <a:t>Practically, the efficiency of quick sort depends on the element which is chosen as the pivot.</a:t>
            </a:r>
          </a:p>
          <a:p>
            <a:r>
              <a:rPr lang="en-US" dirty="0" smtClean="0"/>
              <a:t>Its worst-case efficiency is given as O(n2). The worst case occurs when the array is already sorted</a:t>
            </a:r>
          </a:p>
          <a:p>
            <a:r>
              <a:rPr lang="en-US" dirty="0" smtClean="0"/>
              <a:t>(either in ascending or descending order) and the left-most element is chosen as the pivot.</a:t>
            </a:r>
          </a:p>
          <a:p>
            <a:r>
              <a:rPr lang="en-US" dirty="0" smtClean="0"/>
              <a:t>However, many implementations randomly choose the pivot element. The randomized version</a:t>
            </a:r>
          </a:p>
          <a:p>
            <a:r>
              <a:rPr lang="en-US" dirty="0" smtClean="0"/>
              <a:t>of the quick sort algorithm always has an algorithmic complexity of O(n log 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172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800" dirty="0" err="1" smtClean="0"/>
              <a:t>Khi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dãy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có</a:t>
            </a:r>
            <a:r>
              <a:rPr lang="en-US" altLang="en-US" sz="1800" dirty="0" smtClean="0"/>
              <a:t> 1 </a:t>
            </a:r>
            <a:r>
              <a:rPr lang="en-US" altLang="en-US" sz="1800" dirty="0" err="1" smtClean="0"/>
              <a:t>phần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tử</a:t>
            </a:r>
            <a:r>
              <a:rPr lang="en-US" altLang="en-US" sz="1800" dirty="0" smtClean="0"/>
              <a:t> </a:t>
            </a:r>
            <a:r>
              <a:rPr lang="en-US" altLang="en-US" sz="1800" dirty="0" smtClean="0">
                <a:sym typeface="Wingdings" panose="05000000000000000000" pitchFamily="2" charset="2"/>
              </a:rPr>
              <a:t> </a:t>
            </a:r>
            <a:r>
              <a:rPr lang="en-US" altLang="en-US" sz="1800" dirty="0" err="1" smtClean="0">
                <a:sym typeface="Wingdings" panose="05000000000000000000" pitchFamily="2" charset="2"/>
              </a:rPr>
              <a:t>dẫy</a:t>
            </a:r>
            <a:r>
              <a:rPr lang="en-US" altLang="en-US" sz="1800" dirty="0" smtClean="0">
                <a:sym typeface="Wingdings" panose="05000000000000000000" pitchFamily="2" charset="2"/>
              </a:rPr>
              <a:t> </a:t>
            </a:r>
            <a:r>
              <a:rPr lang="en-US" altLang="en-US" sz="1800" dirty="0" err="1" smtClean="0">
                <a:sym typeface="Wingdings" panose="05000000000000000000" pitchFamily="2" charset="2"/>
              </a:rPr>
              <a:t>đã</a:t>
            </a:r>
            <a:r>
              <a:rPr lang="en-US" altLang="en-US" sz="1800" dirty="0" smtClean="0">
                <a:sym typeface="Wingdings" panose="05000000000000000000" pitchFamily="2" charset="2"/>
              </a:rPr>
              <a:t> </a:t>
            </a:r>
            <a:r>
              <a:rPr lang="en-US" altLang="en-US" sz="1800" dirty="0" err="1" smtClean="0">
                <a:sym typeface="Wingdings" panose="05000000000000000000" pitchFamily="2" charset="2"/>
              </a:rPr>
              <a:t>sắp</a:t>
            </a:r>
            <a:r>
              <a:rPr lang="en-US" altLang="en-US" sz="1800" dirty="0" smtClean="0">
                <a:sym typeface="Wingdings" panose="05000000000000000000" pitchFamily="2" charset="2"/>
              </a:rPr>
              <a:t> </a:t>
            </a:r>
            <a:r>
              <a:rPr lang="en-US" altLang="en-US" sz="1800" dirty="0" err="1" smtClean="0">
                <a:sym typeface="Wingdings" panose="05000000000000000000" pitchFamily="2" charset="2"/>
              </a:rPr>
              <a:t>xếp</a:t>
            </a:r>
            <a:endParaRPr lang="en-US" alt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542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Sort</a:t>
            </a:r>
            <a:r>
              <a:rPr lang="en-US" baseline="0" dirty="0" smtClean="0"/>
              <a:t> 2 </a:t>
            </a:r>
            <a:r>
              <a:rPr lang="en-US" baseline="0" dirty="0" err="1" smtClean="0"/>
              <a:t>nửa</a:t>
            </a:r>
            <a:r>
              <a:rPr lang="en-US" baseline="0" dirty="0" smtClean="0"/>
              <a:t>,  </a:t>
            </a:r>
            <a:r>
              <a:rPr lang="en-US" baseline="0" dirty="0" err="1" smtClean="0"/>
              <a:t>từ</a:t>
            </a:r>
            <a:r>
              <a:rPr lang="en-US" baseline="0" dirty="0" smtClean="0"/>
              <a:t> L=&gt;m, </a:t>
            </a:r>
            <a:r>
              <a:rPr lang="en-US" baseline="0" dirty="0" err="1" smtClean="0"/>
              <a:t>và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từ</a:t>
            </a:r>
            <a:r>
              <a:rPr lang="en-US" baseline="0" dirty="0" smtClean="0"/>
              <a:t> m+1 =&gt; R</a:t>
            </a:r>
            <a:endParaRPr lang="en-US" dirty="0" smtClean="0"/>
          </a:p>
          <a:p>
            <a:endParaRPr lang="en-US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1" dirty="0" err="1" smtClean="0"/>
              <a:t>Điểm</a:t>
            </a:r>
            <a:r>
              <a:rPr lang="en-US" altLang="en-US" sz="1200" b="1" dirty="0" smtClean="0"/>
              <a:t> </a:t>
            </a:r>
            <a:r>
              <a:rPr lang="en-US" altLang="en-US" sz="1200" b="1" dirty="0" err="1" smtClean="0"/>
              <a:t>dừng</a:t>
            </a:r>
            <a:r>
              <a:rPr lang="en-US" altLang="en-US" sz="1200" dirty="0" smtClean="0"/>
              <a:t>: </a:t>
            </a:r>
            <a:r>
              <a:rPr lang="en-US" altLang="en-US" sz="1200" dirty="0" err="1" smtClean="0"/>
              <a:t>khi</a:t>
            </a:r>
            <a:r>
              <a:rPr lang="en-US" altLang="en-US" sz="1200" dirty="0" smtClean="0"/>
              <a:t> </a:t>
            </a:r>
            <a:r>
              <a:rPr lang="en-US" altLang="en-US" sz="1200" dirty="0" err="1" smtClean="0"/>
              <a:t>kích</a:t>
            </a:r>
            <a:r>
              <a:rPr lang="en-US" altLang="en-US" sz="1200" dirty="0" smtClean="0"/>
              <a:t> </a:t>
            </a:r>
            <a:r>
              <a:rPr lang="en-US" altLang="en-US" sz="1200" dirty="0" err="1" smtClean="0"/>
              <a:t>thước</a:t>
            </a:r>
            <a:r>
              <a:rPr lang="en-US" altLang="en-US" sz="1200" dirty="0" smtClean="0"/>
              <a:t> </a:t>
            </a:r>
            <a:r>
              <a:rPr lang="en-US" altLang="en-US" sz="1200" dirty="0" err="1" smtClean="0"/>
              <a:t>của</a:t>
            </a:r>
            <a:r>
              <a:rPr lang="en-US" altLang="en-US" sz="1200" dirty="0" smtClean="0"/>
              <a:t> </a:t>
            </a:r>
            <a:r>
              <a:rPr lang="en-US" altLang="en-US" sz="1200" dirty="0" err="1" smtClean="0"/>
              <a:t>dãy</a:t>
            </a:r>
            <a:r>
              <a:rPr lang="en-US" altLang="en-US" sz="1200" dirty="0" smtClean="0"/>
              <a:t> =</a:t>
            </a:r>
            <a:r>
              <a:rPr lang="en-US" altLang="en-US" sz="1200" b="1" dirty="0" smtClean="0"/>
              <a:t> 2</a:t>
            </a:r>
            <a:endParaRPr lang="en-US" dirty="0" smtClean="0"/>
          </a:p>
          <a:p>
            <a:r>
              <a:rPr lang="en-US" altLang="en-US" sz="1200" dirty="0" smtClean="0"/>
              <a:t>L=m =</a:t>
            </a:r>
            <a:r>
              <a:rPr lang="en-US" altLang="en-US" sz="1200" baseline="0" dirty="0" smtClean="0"/>
              <a:t> floor(L+R)/2 =&gt; R=L </a:t>
            </a:r>
            <a:r>
              <a:rPr lang="en-US" altLang="en-US" sz="1200" baseline="0" dirty="0" err="1" smtClean="0"/>
              <a:t>hoặc</a:t>
            </a:r>
            <a:r>
              <a:rPr lang="en-US" altLang="en-US" sz="1200" baseline="0" dirty="0" smtClean="0"/>
              <a:t> R=L+1 =&gt; </a:t>
            </a:r>
            <a:r>
              <a:rPr lang="en-US" altLang="en-US" sz="1200" baseline="0" dirty="0" err="1" smtClean="0"/>
              <a:t>có</a:t>
            </a:r>
            <a:r>
              <a:rPr lang="en-US" altLang="en-US" sz="1200" baseline="0" dirty="0" smtClean="0"/>
              <a:t> 2 </a:t>
            </a:r>
            <a:r>
              <a:rPr lang="en-US" altLang="en-US" sz="1200" baseline="0" dirty="0" err="1" smtClean="0"/>
              <a:t>phần</a:t>
            </a:r>
            <a:r>
              <a:rPr lang="en-US" altLang="en-US" sz="1200" baseline="0" dirty="0" smtClean="0"/>
              <a:t> </a:t>
            </a:r>
            <a:r>
              <a:rPr lang="en-US" altLang="en-US" sz="1200" baseline="0" dirty="0" err="1" smtClean="0"/>
              <a:t>tử</a:t>
            </a:r>
            <a:endParaRPr lang="en-US" altLang="en-US" sz="1200" baseline="0" dirty="0" smtClean="0"/>
          </a:p>
          <a:p>
            <a:r>
              <a:rPr lang="en-US" altLang="en-US" sz="1200" baseline="0" dirty="0" smtClean="0"/>
              <a:t>m+1 = R=&gt; R=L+1 =&gt; </a:t>
            </a:r>
            <a:r>
              <a:rPr lang="en-US" altLang="en-US" sz="1200" baseline="0" dirty="0" err="1" smtClean="0"/>
              <a:t>có</a:t>
            </a:r>
            <a:r>
              <a:rPr lang="en-US" altLang="en-US" sz="1200" baseline="0" dirty="0" smtClean="0"/>
              <a:t> 2 </a:t>
            </a:r>
            <a:r>
              <a:rPr lang="en-US" altLang="en-US" sz="1200" baseline="0" dirty="0" err="1" smtClean="0"/>
              <a:t>phần</a:t>
            </a:r>
            <a:r>
              <a:rPr lang="en-US" altLang="en-US" sz="1200" baseline="0" dirty="0" smtClean="0"/>
              <a:t> </a:t>
            </a:r>
            <a:r>
              <a:rPr lang="en-US" altLang="en-US" sz="1200" baseline="0" dirty="0" err="1" smtClean="0"/>
              <a:t>tử</a:t>
            </a:r>
            <a:endParaRPr lang="en-US" altLang="en-US" sz="1200" baseline="0" dirty="0" smtClean="0"/>
          </a:p>
          <a:p>
            <a:endParaRPr lang="en-US" altLang="en-US" sz="1200" dirty="0" smtClean="0"/>
          </a:p>
          <a:p>
            <a:r>
              <a:rPr lang="en-US" dirty="0" err="1" smtClean="0"/>
              <a:t>Dãy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3 </a:t>
            </a:r>
            <a:r>
              <a:rPr lang="en-US" baseline="0" dirty="0" err="1" smtClean="0"/>
              <a:t>phần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tử</a:t>
            </a:r>
            <a:r>
              <a:rPr lang="en-US" baseline="0" dirty="0" smtClean="0"/>
              <a:t>, l=1, r=3, m =2 =&gt; </a:t>
            </a:r>
            <a:r>
              <a:rPr lang="en-US" baseline="0" dirty="0" err="1" smtClean="0"/>
              <a:t>chỉ</a:t>
            </a:r>
            <a:r>
              <a:rPr lang="en-US" baseline="0" dirty="0" smtClean="0"/>
              <a:t> Sort </a:t>
            </a:r>
            <a:r>
              <a:rPr lang="en-US" baseline="0" dirty="0" err="1" smtClean="0"/>
              <a:t>dãy</a:t>
            </a:r>
            <a:r>
              <a:rPr lang="en-US" baseline="0" dirty="0" smtClean="0"/>
              <a:t> (1,2), </a:t>
            </a:r>
            <a:r>
              <a:rPr lang="en-US" baseline="0" dirty="0" err="1" smtClean="0"/>
              <a:t>rồi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gộp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mergePart</a:t>
            </a:r>
            <a:r>
              <a:rPr lang="en-US" baseline="0" dirty="0" smtClean="0"/>
              <a:t>(1, 2, 3)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Dãy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2 </a:t>
            </a:r>
            <a:r>
              <a:rPr lang="en-US" baseline="0" dirty="0" err="1" smtClean="0"/>
              <a:t>phần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tử</a:t>
            </a:r>
            <a:r>
              <a:rPr lang="en-US" baseline="0" dirty="0" smtClean="0"/>
              <a:t>, l=1, r=2, m =1 =&gt; </a:t>
            </a:r>
            <a:r>
              <a:rPr lang="en-US" baseline="0" dirty="0" err="1" smtClean="0"/>
              <a:t>không</a:t>
            </a:r>
            <a:r>
              <a:rPr lang="en-US" baseline="0" dirty="0" smtClean="0"/>
              <a:t> sort </a:t>
            </a:r>
            <a:r>
              <a:rPr lang="en-US" baseline="0" dirty="0" err="1" smtClean="0"/>
              <a:t>dãy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nào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Gặp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điều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kiện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dừng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chỉ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gộp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mergePart</a:t>
            </a:r>
            <a:r>
              <a:rPr lang="en-US" baseline="0" dirty="0" smtClean="0"/>
              <a:t>(1, 1, 2)</a:t>
            </a:r>
          </a:p>
          <a:p>
            <a:endParaRPr lang="en-US" dirty="0" smtClean="0"/>
          </a:p>
          <a:p>
            <a:endParaRPr lang="en-US" baseline="0" dirty="0" smtClean="0"/>
          </a:p>
          <a:p>
            <a:r>
              <a:rPr lang="en-US" dirty="0" smtClean="0"/>
              <a:t>#include &lt;</a:t>
            </a:r>
            <a:r>
              <a:rPr lang="en-US" dirty="0" err="1" smtClean="0"/>
              <a:t>cmath</a:t>
            </a:r>
            <a:r>
              <a:rPr lang="en-US" dirty="0" smtClean="0"/>
              <a:t>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4037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mảng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ví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dụ</a:t>
            </a:r>
            <a:r>
              <a:rPr lang="en-US" baseline="0" dirty="0" smtClean="0"/>
              <a:t>: a[l]=2, a[m]=9, a[r]=8</a:t>
            </a:r>
          </a:p>
          <a:p>
            <a:r>
              <a:rPr lang="en-US" baseline="0" dirty="0" smtClean="0"/>
              <a:t>2 </a:t>
            </a:r>
            <a:r>
              <a:rPr lang="en-US" baseline="0" dirty="0" err="1" smtClean="0"/>
              <a:t>nửa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đã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sắp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xếp</a:t>
            </a:r>
            <a:endParaRPr lang="en-US" baseline="0" dirty="0" smtClean="0"/>
          </a:p>
          <a:p>
            <a:r>
              <a:rPr lang="en-US" baseline="0" dirty="0" smtClean="0"/>
              <a:t>t = 5, </a:t>
            </a:r>
            <a:r>
              <a:rPr lang="en-US" baseline="0" dirty="0" err="1" smtClean="0"/>
              <a:t>đẩy</a:t>
            </a:r>
            <a:r>
              <a:rPr lang="en-US" baseline="0" dirty="0" smtClean="0"/>
              <a:t> 5 </a:t>
            </a:r>
            <a:r>
              <a:rPr lang="en-US" baseline="0" dirty="0" err="1" smtClean="0"/>
              <a:t>lên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vị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trí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thích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hợp</a:t>
            </a:r>
            <a:endParaRPr lang="en-US" baseline="0" dirty="0" smtClean="0"/>
          </a:p>
          <a:p>
            <a:r>
              <a:rPr lang="en-US" baseline="0" dirty="0" smtClean="0"/>
              <a:t>t=7, </a:t>
            </a:r>
            <a:r>
              <a:rPr lang="en-US" baseline="0" dirty="0" err="1" smtClean="0"/>
              <a:t>đẩy</a:t>
            </a:r>
            <a:r>
              <a:rPr lang="en-US" baseline="0" dirty="0" smtClean="0"/>
              <a:t> 7 </a:t>
            </a:r>
            <a:r>
              <a:rPr lang="en-US" baseline="0" dirty="0" err="1" smtClean="0"/>
              <a:t>lên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vị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trí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thích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hợp</a:t>
            </a:r>
            <a:endParaRPr lang="en-US" baseline="0" dirty="0" smtClean="0"/>
          </a:p>
          <a:p>
            <a:endParaRPr lang="en-US" baseline="0" dirty="0" smtClean="0"/>
          </a:p>
          <a:p>
            <a:r>
              <a:rPr lang="en-US" baseline="0" dirty="0" smtClean="0"/>
              <a:t>2 </a:t>
            </a:r>
            <a:r>
              <a:rPr lang="en-US" baseline="0" dirty="0" err="1" smtClean="0"/>
              <a:t>nửa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đã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được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sx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xét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từng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tử</a:t>
            </a:r>
            <a:r>
              <a:rPr lang="en-US" baseline="0" dirty="0" smtClean="0"/>
              <a:t> ở </a:t>
            </a:r>
            <a:r>
              <a:rPr lang="en-US" baseline="0" dirty="0" err="1" smtClean="0"/>
              <a:t>nửa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sau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chọn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vị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trí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thích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hợp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để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chèn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vào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nửa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trước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Lặp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tới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khi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hết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pt</a:t>
            </a:r>
            <a:r>
              <a:rPr lang="en-US" baseline="0" dirty="0" smtClean="0"/>
              <a:t> ở </a:t>
            </a:r>
            <a:r>
              <a:rPr lang="en-US" baseline="0" dirty="0" err="1" smtClean="0"/>
              <a:t>nửa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sau</a:t>
            </a: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6880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 eaLnBrk="1" hangingPunct="1"/>
            <a:r>
              <a:rPr lang="en-US" altLang="en-US" sz="2000" dirty="0" smtClean="0">
                <a:cs typeface="Times New Roman" panose="02020603050405020304" pitchFamily="18" charset="0"/>
              </a:rPr>
              <a:t>T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là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cây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hoàn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chỉnh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nếu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: </a:t>
            </a:r>
          </a:p>
          <a:p>
            <a:pPr lvl="1" eaLnBrk="1" hangingPunct="1"/>
            <a:r>
              <a:rPr lang="en-US" altLang="en-US" sz="2000" dirty="0" smtClean="0">
                <a:cs typeface="Times New Roman" panose="02020603050405020304" pitchFamily="18" charset="0"/>
              </a:rPr>
              <a:t>T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là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cây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đầy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đủ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đến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độ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sâu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i="1" dirty="0" smtClean="0">
                <a:cs typeface="Times New Roman" panose="02020603050405020304" pitchFamily="18" charset="0"/>
              </a:rPr>
              <a:t>h-1</a:t>
            </a:r>
          </a:p>
          <a:p>
            <a:pPr lvl="1" eaLnBrk="1" hangingPunct="1"/>
            <a:r>
              <a:rPr lang="en-US" altLang="en-US" sz="2000" dirty="0" err="1" smtClean="0">
                <a:cs typeface="Times New Roman" panose="02020603050405020304" pitchFamily="18" charset="0"/>
              </a:rPr>
              <a:t>Các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nút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có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chiều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cao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i="1" dirty="0" smtClean="0">
                <a:cs typeface="Times New Roman" panose="02020603050405020304" pitchFamily="18" charset="0"/>
              </a:rPr>
              <a:t>h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thì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dồn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hết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về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bên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trái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en-US" altLang="en-US" sz="2400" dirty="0" err="1" smtClean="0">
                <a:cs typeface="Times New Roman" panose="02020603050405020304" pitchFamily="18" charset="0"/>
              </a:rPr>
              <a:t>Cây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đầy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đủ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(full binary tree):</a:t>
            </a:r>
            <a:r>
              <a:rPr lang="en-US" altLang="en-US" sz="2400" baseline="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Là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cây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nhị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phân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có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số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nút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tối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đa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ở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tất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cả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các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mức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. 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 smtClean="0">
                <a:cs typeface="Times New Roman" panose="02020603050405020304" pitchFamily="18" charset="0"/>
              </a:rPr>
              <a:t>Ở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mức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i="1" dirty="0" err="1" smtClean="0">
                <a:cs typeface="Times New Roman" panose="02020603050405020304" pitchFamily="18" charset="0"/>
              </a:rPr>
              <a:t>i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sẽ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có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đúng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i="1" dirty="0" smtClean="0">
                <a:cs typeface="Times New Roman" panose="02020603050405020304" pitchFamily="18" charset="0"/>
              </a:rPr>
              <a:t>2</a:t>
            </a:r>
            <a:r>
              <a:rPr lang="en-US" altLang="en-US" sz="2000" i="1" baseline="30000" dirty="0" smtClean="0">
                <a:cs typeface="Times New Roman" panose="02020603050405020304" pitchFamily="18" charset="0"/>
              </a:rPr>
              <a:t>i-1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nút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. 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 err="1" smtClean="0">
                <a:cs typeface="Times New Roman" panose="02020603050405020304" pitchFamily="18" charset="0"/>
              </a:rPr>
              <a:t>Nếu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cây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nhị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phân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có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chiều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cao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i="1" dirty="0" smtClean="0">
                <a:cs typeface="Times New Roman" panose="02020603050405020304" pitchFamily="18" charset="0"/>
              </a:rPr>
              <a:t>h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thì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kích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thước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là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: </a:t>
            </a:r>
            <a:br>
              <a:rPr lang="en-US" altLang="en-US" sz="2000" dirty="0" smtClean="0">
                <a:cs typeface="Times New Roman" panose="02020603050405020304" pitchFamily="18" charset="0"/>
              </a:rPr>
            </a:br>
            <a:r>
              <a:rPr lang="en-US" altLang="en-US" sz="2000" dirty="0" smtClean="0">
                <a:cs typeface="Times New Roman" panose="02020603050405020304" pitchFamily="18" charset="0"/>
              </a:rPr>
              <a:t>       S(T) = 2</a:t>
            </a:r>
            <a:r>
              <a:rPr lang="en-US" altLang="en-US" sz="2000" baseline="30000" dirty="0" smtClean="0">
                <a:cs typeface="Times New Roman" panose="02020603050405020304" pitchFamily="18" charset="0"/>
              </a:rPr>
              <a:t>0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+2</a:t>
            </a:r>
            <a:r>
              <a:rPr lang="en-US" altLang="en-US" sz="2000" baseline="30000" dirty="0" smtClean="0">
                <a:cs typeface="Times New Roman" panose="02020603050405020304" pitchFamily="18" charset="0"/>
              </a:rPr>
              <a:t>1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+…+2</a:t>
            </a:r>
            <a:r>
              <a:rPr lang="en-US" altLang="en-US" sz="2000" baseline="30000" dirty="0" smtClean="0">
                <a:cs typeface="Times New Roman" panose="02020603050405020304" pitchFamily="18" charset="0"/>
              </a:rPr>
              <a:t>h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= 2</a:t>
            </a:r>
            <a:r>
              <a:rPr lang="en-US" altLang="en-US" sz="2000" baseline="30000" dirty="0" smtClean="0">
                <a:cs typeface="Times New Roman" panose="02020603050405020304" pitchFamily="18" charset="0"/>
              </a:rPr>
              <a:t>h+1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-1 ; </a:t>
            </a:r>
          </a:p>
          <a:p>
            <a:endParaRPr lang="en-US" altLang="en-US" dirty="0" smtClean="0"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246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Vun</a:t>
            </a:r>
            <a:r>
              <a:rPr lang="en-US" dirty="0" smtClean="0"/>
              <a:t> </a:t>
            </a:r>
            <a:r>
              <a:rPr lang="en-US" dirty="0" err="1" smtClean="0"/>
              <a:t>cây</a:t>
            </a:r>
            <a:r>
              <a:rPr lang="en-US" baseline="0" dirty="0" smtClean="0"/>
              <a:t> con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gốc</a:t>
            </a:r>
            <a:r>
              <a:rPr lang="en-US" baseline="0" dirty="0" smtClean="0"/>
              <a:t> 15, </a:t>
            </a:r>
            <a:r>
              <a:rPr lang="en-US" baseline="0" dirty="0" err="1" smtClean="0"/>
              <a:t>nút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nhánh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đầu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tiên</a:t>
            </a:r>
            <a:endParaRPr lang="en-US" baseline="0" dirty="0" smtClean="0"/>
          </a:p>
          <a:p>
            <a:r>
              <a:rPr lang="en-US" baseline="0" dirty="0" err="1" smtClean="0"/>
              <a:t>Vun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cây</a:t>
            </a:r>
            <a:r>
              <a:rPr lang="en-US" baseline="0" dirty="0" smtClean="0"/>
              <a:t> con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gốc</a:t>
            </a:r>
            <a:r>
              <a:rPr lang="en-US" baseline="0" dirty="0" smtClean="0"/>
              <a:t> 13</a:t>
            </a:r>
          </a:p>
          <a:p>
            <a:r>
              <a:rPr lang="en-US" baseline="0" dirty="0" err="1" smtClean="0"/>
              <a:t>Vun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cây</a:t>
            </a:r>
            <a:r>
              <a:rPr lang="en-US" baseline="0" dirty="0" smtClean="0"/>
              <a:t> con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gốc</a:t>
            </a:r>
            <a:r>
              <a:rPr lang="en-US" baseline="0" dirty="0" smtClean="0"/>
              <a:t> 9: </a:t>
            </a:r>
            <a:r>
              <a:rPr lang="en-US" baseline="0" dirty="0" err="1" smtClean="0"/>
              <a:t>đổi</a:t>
            </a:r>
            <a:r>
              <a:rPr lang="en-US" baseline="0" dirty="0" smtClean="0"/>
              <a:t> 17-9, </a:t>
            </a:r>
            <a:r>
              <a:rPr lang="en-US" baseline="0" dirty="0" err="1" smtClean="0"/>
              <a:t>đổi</a:t>
            </a:r>
            <a:r>
              <a:rPr lang="en-US" baseline="0" dirty="0" smtClean="0"/>
              <a:t> 15-9</a:t>
            </a:r>
          </a:p>
          <a:p>
            <a:r>
              <a:rPr lang="en-US" baseline="0" dirty="0" err="1" smtClean="0"/>
              <a:t>Vun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cây</a:t>
            </a:r>
            <a:r>
              <a:rPr lang="en-US" baseline="0" dirty="0" smtClean="0"/>
              <a:t> con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gốc</a:t>
            </a:r>
            <a:r>
              <a:rPr lang="en-US" baseline="0" dirty="0" smtClean="0"/>
              <a:t> 5: </a:t>
            </a:r>
            <a:r>
              <a:rPr lang="en-US" baseline="0" dirty="0" err="1" smtClean="0"/>
              <a:t>đổi</a:t>
            </a:r>
            <a:r>
              <a:rPr lang="en-US" baseline="0" dirty="0" smtClean="0"/>
              <a:t> 19-5, </a:t>
            </a:r>
            <a:r>
              <a:rPr lang="en-US" baseline="0" dirty="0" err="1" smtClean="0"/>
              <a:t>đổi</a:t>
            </a:r>
            <a:r>
              <a:rPr lang="en-US" baseline="0" dirty="0" smtClean="0"/>
              <a:t> 13-5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8403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vun</a:t>
            </a:r>
            <a:r>
              <a:rPr lang="en-US" dirty="0" smtClean="0"/>
              <a:t> </a:t>
            </a:r>
            <a:r>
              <a:rPr lang="en-US" dirty="0" err="1" smtClean="0"/>
              <a:t>đống</a:t>
            </a:r>
            <a:r>
              <a:rPr lang="en-US" dirty="0" smtClean="0"/>
              <a:t>,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biết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tử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lớn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nhất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loại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bỏ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tử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vun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đống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cây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còn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lại</a:t>
            </a:r>
            <a:r>
              <a:rPr lang="en-US" baseline="0" dirty="0" smtClean="0"/>
              <a:t>. </a:t>
            </a:r>
          </a:p>
          <a:p>
            <a:endParaRPr lang="en-US" baseline="0" dirty="0" smtClean="0"/>
          </a:p>
          <a:p>
            <a:r>
              <a:rPr lang="en-US" baseline="0" dirty="0" err="1" smtClean="0"/>
              <a:t>xử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lý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đống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bằng</a:t>
            </a:r>
            <a:r>
              <a:rPr lang="en-US" baseline="0" dirty="0" smtClean="0"/>
              <a:t> </a:t>
            </a:r>
            <a:r>
              <a:rPr lang="en-US" b="1" baseline="0" dirty="0" err="1" smtClean="0"/>
              <a:t>cấu</a:t>
            </a:r>
            <a:r>
              <a:rPr lang="en-US" b="1" baseline="0" dirty="0" smtClean="0"/>
              <a:t> </a:t>
            </a:r>
            <a:r>
              <a:rPr lang="en-US" b="1" baseline="0" dirty="0" err="1" smtClean="0"/>
              <a:t>trúc</a:t>
            </a:r>
            <a:r>
              <a:rPr lang="en-US" b="1" baseline="0" dirty="0" smtClean="0"/>
              <a:t> </a:t>
            </a:r>
            <a:r>
              <a:rPr lang="en-US" b="1" baseline="0" dirty="0" err="1" smtClean="0"/>
              <a:t>mảng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quan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hệ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nút</a:t>
            </a:r>
            <a:r>
              <a:rPr lang="en-US" baseline="0" dirty="0" smtClean="0"/>
              <a:t> cha/con, </a:t>
            </a:r>
            <a:r>
              <a:rPr lang="en-US" baseline="0" dirty="0" err="1" smtClean="0"/>
              <a:t>tính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chất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nút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trong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nút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lá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dựa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trên</a:t>
            </a:r>
            <a:r>
              <a:rPr lang="en-US" baseline="0" dirty="0" smtClean="0"/>
              <a:t> index </a:t>
            </a:r>
            <a:r>
              <a:rPr lang="en-US" baseline="0" dirty="0" err="1" smtClean="0"/>
              <a:t>của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mảng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079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3312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2135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sz="2000" dirty="0" err="1" smtClean="0"/>
              <a:t>Th</a:t>
            </a:r>
            <a:r>
              <a:rPr lang="vi-VN" altLang="en-US" sz="2000" dirty="0" smtClean="0"/>
              <a:t>ực hiện vun dần từ dưới lên trên. </a:t>
            </a:r>
            <a:endParaRPr lang="en-US" altLang="en-US" sz="2000" dirty="0" smtClean="0"/>
          </a:p>
          <a:p>
            <a:pPr lvl="1"/>
            <a:r>
              <a:rPr lang="vi-VN" altLang="en-US" sz="2000" dirty="0" smtClean="0"/>
              <a:t>Do các nút lá đã là đống,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9577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 smtClean="0"/>
              <a:t>vun</a:t>
            </a:r>
            <a:r>
              <a:rPr lang="en-US" dirty="0" smtClean="0"/>
              <a:t> </a:t>
            </a:r>
            <a:r>
              <a:rPr lang="en-US" dirty="0" err="1" smtClean="0"/>
              <a:t>đống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cây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nút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gốc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9</a:t>
            </a:r>
          </a:p>
          <a:p>
            <a:r>
              <a:rPr lang="en-US" baseline="0" dirty="0" smtClean="0"/>
              <a:t>ac=17 . </a:t>
            </a:r>
            <a:r>
              <a:rPr lang="en-US" baseline="0" dirty="0" err="1" smtClean="0"/>
              <a:t>đổi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chỗ</a:t>
            </a:r>
            <a:r>
              <a:rPr lang="en-US" baseline="0" dirty="0" smtClean="0"/>
              <a:t> 17 </a:t>
            </a:r>
            <a:r>
              <a:rPr lang="en-US" baseline="0" dirty="0" err="1" smtClean="0"/>
              <a:t>và</a:t>
            </a:r>
            <a:r>
              <a:rPr lang="en-US" baseline="0" dirty="0" smtClean="0"/>
              <a:t> 9. </a:t>
            </a:r>
            <a:r>
              <a:rPr lang="en-US" baseline="0" dirty="0" err="1" smtClean="0"/>
              <a:t>Vun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cây</a:t>
            </a:r>
            <a:r>
              <a:rPr lang="en-US" baseline="0" dirty="0" smtClean="0"/>
              <a:t> con </a:t>
            </a:r>
            <a:r>
              <a:rPr lang="en-US" baseline="0" dirty="0" err="1" smtClean="0"/>
              <a:t>phải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đổi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chỗ</a:t>
            </a:r>
            <a:r>
              <a:rPr lang="en-US" baseline="0" dirty="0" smtClean="0"/>
              <a:t> 15 </a:t>
            </a:r>
            <a:r>
              <a:rPr lang="en-US" baseline="0" dirty="0" err="1" smtClean="0"/>
              <a:t>và</a:t>
            </a:r>
            <a:r>
              <a:rPr lang="en-US" baseline="0" dirty="0" smtClean="0"/>
              <a:t> 9. </a:t>
            </a:r>
          </a:p>
          <a:p>
            <a:endParaRPr lang="en-US" baseline="0" dirty="0" smtClean="0"/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err="1" smtClean="0"/>
              <a:t>Tạm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gán</a:t>
            </a:r>
            <a:r>
              <a:rPr lang="en-US" baseline="0" dirty="0" smtClean="0"/>
              <a:t> </a:t>
            </a:r>
            <a:r>
              <a:rPr lang="pt-BR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 = l;</a:t>
            </a:r>
          </a:p>
          <a:p>
            <a:r>
              <a:rPr lang="pt-BR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(l &gt;= N) return; //</a:t>
            </a:r>
            <a:r>
              <a:rPr lang="pt-BR" alt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 là nút lá =&gt; return</a:t>
            </a:r>
          </a:p>
          <a:p>
            <a:r>
              <a:rPr lang="pt-BR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( r &lt; N  &amp;&amp;  A[r] &gt; A[l] ) c = r;  // nếu</a:t>
            </a:r>
            <a:r>
              <a:rPr lang="pt-BR" alt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có cây con phải và </a:t>
            </a:r>
            <a:r>
              <a:rPr lang="pt-BR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A[r] &gt; A[l], </a:t>
            </a:r>
            <a:r>
              <a:rPr lang="pt-BR" alt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 =r;</a:t>
            </a:r>
            <a:endParaRPr lang="en-US" baseline="0" dirty="0" smtClean="0"/>
          </a:p>
          <a:p>
            <a:endParaRPr lang="en-US" baseline="0" dirty="0" smtClean="0"/>
          </a:p>
          <a:p>
            <a:r>
              <a:rPr lang="en-US" altLang="en-US" sz="2400" dirty="0" smtClean="0">
                <a:cs typeface="Times New Roman" panose="02020603050405020304" pitchFamily="18" charset="0"/>
              </a:rPr>
              <a:t>TC3: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Đối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với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cây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hoàn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chỉnh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và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cây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đầy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đủ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: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nếu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ta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đánh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số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các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nút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lần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lượt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từ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1..N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như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hình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vẽ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(N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là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kích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thước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của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cây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):</a:t>
            </a:r>
          </a:p>
          <a:p>
            <a:r>
              <a:rPr lang="en-US" altLang="en-US" sz="2400" dirty="0" err="1" smtClean="0">
                <a:cs typeface="Times New Roman" panose="02020603050405020304" pitchFamily="18" charset="0"/>
              </a:rPr>
              <a:t>Tại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nút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có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số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thứ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tự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i: </a:t>
            </a:r>
          </a:p>
          <a:p>
            <a:pPr lvl="1"/>
            <a:r>
              <a:rPr lang="en-US" altLang="en-US" sz="2000" dirty="0" err="1" smtClean="0">
                <a:cs typeface="Times New Roman" panose="02020603050405020304" pitchFamily="18" charset="0"/>
              </a:rPr>
              <a:t>nếu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2i&gt;N: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nút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i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là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nút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lá</a:t>
            </a:r>
            <a:endParaRPr lang="en-US" altLang="en-US" sz="2000" dirty="0" smtClean="0"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 err="1" smtClean="0">
                <a:cs typeface="Times New Roman" panose="02020603050405020304" pitchFamily="18" charset="0"/>
              </a:rPr>
              <a:t>nếu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2i=N: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nút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i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là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nút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đơn</a:t>
            </a:r>
            <a:endParaRPr lang="en-US" altLang="en-US" sz="2000" dirty="0" smtClean="0"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 err="1" smtClean="0">
                <a:cs typeface="Times New Roman" panose="02020603050405020304" pitchFamily="18" charset="0"/>
              </a:rPr>
              <a:t>nếu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2i&lt;N: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nút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i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là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nút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kép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và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có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hai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con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trái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,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phải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tương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ứng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là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2i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và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2i+1</a:t>
            </a:r>
          </a:p>
          <a:p>
            <a:r>
              <a:rPr lang="en-US" altLang="en-US" sz="2400" dirty="0" err="1" smtClean="0">
                <a:cs typeface="Times New Roman" panose="02020603050405020304" pitchFamily="18" charset="0"/>
              </a:rPr>
              <a:t>Tại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nút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có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số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thứ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tự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j:</a:t>
            </a:r>
          </a:p>
          <a:p>
            <a:pPr lvl="1"/>
            <a:r>
              <a:rPr lang="en-US" altLang="en-US" sz="2000" dirty="0" err="1" smtClean="0">
                <a:cs typeface="Times New Roman" panose="02020603050405020304" pitchFamily="18" charset="0"/>
              </a:rPr>
              <a:t>nếu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j=1: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nút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j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là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nút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gốc</a:t>
            </a:r>
            <a:endParaRPr lang="en-US" altLang="en-US" sz="2000" dirty="0" smtClean="0"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 err="1" smtClean="0">
                <a:cs typeface="Times New Roman" panose="02020603050405020304" pitchFamily="18" charset="0"/>
              </a:rPr>
              <a:t>nếu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j&gt;1: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nút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j/2 (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nếu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j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chẵn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)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hoặc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br>
              <a:rPr lang="en-US" altLang="en-US" sz="2000" dirty="0" smtClean="0">
                <a:cs typeface="Times New Roman" panose="02020603050405020304" pitchFamily="18" charset="0"/>
              </a:rPr>
            </a:br>
            <a:r>
              <a:rPr lang="en-US" altLang="en-US" sz="2000" dirty="0" smtClean="0">
                <a:cs typeface="Times New Roman" panose="02020603050405020304" pitchFamily="18" charset="0"/>
              </a:rPr>
              <a:t>(j-1)/2 (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nếu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j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lẻ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)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là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nút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cha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của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nút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j.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106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MakeHeap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(A,N); // </a:t>
            </a:r>
            <a:r>
              <a:rPr lang="en-US" alt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vun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đống</a:t>
            </a:r>
            <a:r>
              <a:rPr lang="en-US" alt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1 </a:t>
            </a:r>
            <a:r>
              <a:rPr lang="en-US" alt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cây</a:t>
            </a:r>
            <a:r>
              <a:rPr lang="en-US" alt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có</a:t>
            </a:r>
            <a:r>
              <a:rPr lang="en-US" alt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N </a:t>
            </a:r>
            <a:r>
              <a:rPr lang="en-US" alt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nút</a:t>
            </a:r>
            <a:r>
              <a:rPr lang="en-US" alt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sau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vun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đống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A[0] </a:t>
            </a:r>
            <a:r>
              <a:rPr lang="en-US" alt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là</a:t>
            </a:r>
            <a:r>
              <a:rPr lang="en-US" alt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nút</a:t>
            </a:r>
            <a:r>
              <a:rPr lang="en-US" alt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gốc</a:t>
            </a:r>
            <a:r>
              <a:rPr lang="en-US" alt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có</a:t>
            </a:r>
            <a:r>
              <a:rPr lang="en-US" alt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giá</a:t>
            </a:r>
            <a:r>
              <a:rPr lang="en-US" alt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trị</a:t>
            </a:r>
            <a:r>
              <a:rPr lang="en-US" alt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lớn</a:t>
            </a:r>
            <a:r>
              <a:rPr lang="en-US" alt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nhất</a:t>
            </a:r>
            <a:endParaRPr lang="en-US" altLang="en-US" baseline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MakeSubHeap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(A,0,N-i); // </a:t>
            </a:r>
            <a:r>
              <a:rPr lang="en-US" alt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vun</a:t>
            </a:r>
            <a:r>
              <a:rPr lang="en-US" alt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đống</a:t>
            </a:r>
            <a:r>
              <a:rPr lang="en-US" alt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1 </a:t>
            </a:r>
            <a:r>
              <a:rPr lang="en-US" alt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cây</a:t>
            </a:r>
            <a:r>
              <a:rPr lang="en-US" alt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con </a:t>
            </a:r>
            <a:r>
              <a:rPr lang="en-US" alt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có</a:t>
            </a:r>
            <a:r>
              <a:rPr lang="en-US" alt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nút</a:t>
            </a:r>
            <a:r>
              <a:rPr lang="en-US" alt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gốc</a:t>
            </a:r>
            <a:r>
              <a:rPr lang="en-US" alt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là</a:t>
            </a:r>
            <a:r>
              <a:rPr lang="en-US" alt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A[0], N-</a:t>
            </a:r>
            <a:r>
              <a:rPr lang="en-US" alt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nút</a:t>
            </a:r>
            <a:endParaRPr lang="en-US" alt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768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Sắp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xếp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vun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đống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gốc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cây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luôn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giá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trị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cao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nhất</a:t>
            </a:r>
            <a:r>
              <a:rPr lang="en-US" baseline="0" dirty="0" smtClean="0"/>
              <a:t> (</a:t>
            </a:r>
            <a:r>
              <a:rPr lang="en-US" baseline="0" dirty="0" err="1" smtClean="0"/>
              <a:t>thấp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nhất</a:t>
            </a:r>
            <a:r>
              <a:rPr lang="en-US" baseline="0" dirty="0" smtClean="0"/>
              <a:t>). </a:t>
            </a:r>
          </a:p>
          <a:p>
            <a:r>
              <a:rPr lang="en-US" baseline="0" dirty="0" err="1" smtClean="0"/>
              <a:t>Dùng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đống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để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triển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khai</a:t>
            </a:r>
            <a:r>
              <a:rPr lang="en-US" baseline="0" dirty="0" smtClean="0"/>
              <a:t> queue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ưu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tiên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mỗi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khi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loại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bỏ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loại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bỏ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tử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lớn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hơn</a:t>
            </a:r>
            <a:r>
              <a:rPr lang="en-US" baseline="0" dirty="0" smtClean="0"/>
              <a:t> =&gt; </a:t>
            </a:r>
            <a:r>
              <a:rPr lang="en-US" baseline="0" dirty="0" err="1" smtClean="0"/>
              <a:t>loại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bỏ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đỉnh</a:t>
            </a:r>
            <a:r>
              <a:rPr lang="en-US" baseline="0" dirty="0" smtClean="0"/>
              <a:t> heap. </a:t>
            </a:r>
            <a:r>
              <a:rPr lang="en-US" baseline="0" dirty="0" err="1" smtClean="0"/>
              <a:t>Khi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thêm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vào</a:t>
            </a:r>
            <a:r>
              <a:rPr lang="en-US" baseline="0" dirty="0" smtClean="0"/>
              <a:t> queue =&gt; </a:t>
            </a:r>
            <a:r>
              <a:rPr lang="en-US" baseline="0" dirty="0" err="1" smtClean="0"/>
              <a:t>thêm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vào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đống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điều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chỉnh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đống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để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giữ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nguyên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tính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chất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của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đống</a:t>
            </a:r>
            <a:r>
              <a:rPr lang="en-US" baseline="0" dirty="0" smtClean="0"/>
              <a:t>.</a:t>
            </a:r>
          </a:p>
          <a:p>
            <a:endParaRPr lang="en-US" baseline="0" dirty="0" smtClean="0"/>
          </a:p>
          <a:p>
            <a:r>
              <a:rPr lang="en-US" dirty="0" smtClean="0"/>
              <a:t>To implement a priority queue using a heap, we can use the following steps:</a:t>
            </a:r>
          </a:p>
          <a:p>
            <a:r>
              <a:rPr lang="en-US" dirty="0" smtClean="0"/>
              <a:t>Create a heap data structure (either a max heap or a min-heap)</a:t>
            </a:r>
          </a:p>
          <a:p>
            <a:r>
              <a:rPr lang="en-US" dirty="0" smtClean="0"/>
              <a:t>To insert an element into the priority queue, add the element to the heap using the heap’s insert function. The heap will automatically rearrange the elements to maintain the heap property.</a:t>
            </a:r>
          </a:p>
          <a:p>
            <a:r>
              <a:rPr lang="en-US" dirty="0" smtClean="0"/>
              <a:t>To remove the highest priority element (in a max heap) or the lowest priority element (in a min-heap), use the heap’s remove function. This will remove the root of the tree and rearrange the remaining elements to maintain the heap property.</a:t>
            </a:r>
          </a:p>
          <a:p>
            <a:r>
              <a:rPr lang="en-US" dirty="0" smtClean="0"/>
              <a:t>https://www.geeksforgeeks.org/how-to-implement-priority-queue-using-heap-or-array/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959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Quicksort is considered as best choice for most of cases in practice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016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Trên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đường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đi</a:t>
            </a:r>
            <a:r>
              <a:rPr lang="en-US" baseline="0" dirty="0" smtClean="0"/>
              <a:t> (</a:t>
            </a:r>
            <a:r>
              <a:rPr lang="en-US" baseline="0" dirty="0" err="1" smtClean="0"/>
              <a:t>cho</a:t>
            </a:r>
            <a:r>
              <a:rPr lang="en-US" baseline="0" dirty="0" smtClean="0"/>
              <a:t> j </a:t>
            </a:r>
            <a:r>
              <a:rPr lang="en-US" baseline="0" dirty="0" err="1" smtClean="0"/>
              <a:t>chạy</a:t>
            </a:r>
            <a:r>
              <a:rPr lang="en-US" baseline="0" dirty="0" smtClean="0"/>
              <a:t>) </a:t>
            </a:r>
            <a:r>
              <a:rPr lang="en-US" baseline="0" dirty="0" err="1" smtClean="0"/>
              <a:t>đẩy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tử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nhỏ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hơn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chốt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lên</a:t>
            </a:r>
            <a:r>
              <a:rPr lang="en-US" baseline="0" dirty="0" smtClean="0"/>
              <a:t>. </a:t>
            </a:r>
          </a:p>
          <a:p>
            <a:r>
              <a:rPr lang="en-US" baseline="0" dirty="0" err="1" smtClean="0"/>
              <a:t>Mỗi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đổi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chỗ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thì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tăng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lên</a:t>
            </a:r>
            <a:r>
              <a:rPr lang="en-US" baseline="0" dirty="0" smtClean="0"/>
              <a:t> 1, do </a:t>
            </a:r>
            <a:r>
              <a:rPr lang="en-US" baseline="0" dirty="0" err="1" smtClean="0"/>
              <a:t>số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lượng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tử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nhỏ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hơn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chốt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tăng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lên</a:t>
            </a:r>
            <a:endParaRPr lang="en-US" baseline="0" dirty="0" smtClean="0"/>
          </a:p>
          <a:p>
            <a:endParaRPr lang="en-US" baseline="0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Trước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sẽ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tử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nhỏ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hơn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chốt</a:t>
            </a:r>
            <a:r>
              <a:rPr lang="en-US" baseline="0" dirty="0" smtClean="0"/>
              <a:t>. </a:t>
            </a:r>
          </a:p>
          <a:p>
            <a:r>
              <a:rPr lang="en-US" baseline="0" dirty="0" err="1" smtClean="0"/>
              <a:t>Bước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cuối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cùng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đổi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chỗ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chốt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tử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thứ</a:t>
            </a:r>
            <a:r>
              <a:rPr lang="en-US" baseline="0" dirty="0" smtClean="0"/>
              <a:t> </a:t>
            </a:r>
            <a:r>
              <a:rPr lang="en-US" baseline="0" dirty="0" err="1" smtClean="0"/>
              <a:t>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9370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lvl="0"/>
                <a:r>
                  <a:rPr lang="en-US" sz="2400" dirty="0" err="1" smtClean="0"/>
                  <a:t>Chọn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phần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tử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cuối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dãy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là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chốt</a:t>
                </a:r>
                <a:r>
                  <a:rPr lang="en-US" sz="2400" dirty="0" smtClean="0"/>
                  <a:t>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 smtClean="0"/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 smtClean="0"/>
                  <a:t> : </a:t>
                </a:r>
                <a:r>
                  <a:rPr lang="en-US" sz="2400" dirty="0" err="1" smtClean="0"/>
                  <a:t>chỉ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số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đầu</a:t>
                </a:r>
                <a:r>
                  <a:rPr lang="en-US" sz="2400" dirty="0" smtClean="0"/>
                  <a:t>, </a:t>
                </a:r>
                <a:r>
                  <a:rPr lang="en-US" sz="2400" dirty="0" err="1" smtClean="0"/>
                  <a:t>cuối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của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dãy</a:t>
                </a:r>
                <a:r>
                  <a:rPr lang="en-US" sz="2400" dirty="0" smtClean="0"/>
                  <a:t> </a:t>
                </a:r>
                <a:endParaRPr lang="en-US" sz="2400" dirty="0"/>
              </a:p>
              <a:p>
                <a:pPr lvl="0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: </a:t>
                </a:r>
                <a:r>
                  <a:rPr lang="en-US" sz="2400" dirty="0" err="1" smtClean="0"/>
                  <a:t>chỉ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số</a:t>
                </a:r>
                <a:r>
                  <a:rPr lang="en-US" sz="2400" dirty="0" smtClean="0"/>
                  <a:t>/</a:t>
                </a:r>
                <a:r>
                  <a:rPr lang="en-US" sz="2400" dirty="0" err="1" smtClean="0"/>
                  <a:t>vị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trí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của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phần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tử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đầu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tiên</a:t>
                </a:r>
                <a:r>
                  <a:rPr lang="en-US" sz="2400" dirty="0" smtClean="0"/>
                  <a:t> ≥ </a:t>
                </a:r>
                <a:r>
                  <a:rPr lang="en-US" sz="2400" dirty="0"/>
                  <a:t>pivot</a:t>
                </a:r>
                <a:r>
                  <a:rPr lang="en-US" sz="2400" dirty="0" smtClean="0"/>
                  <a:t>; 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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trước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i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là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các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phần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tử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nhỏ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hơn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chốt</a:t>
                </a:r>
                <a:endParaRPr lang="en-US" sz="2400" dirty="0" smtClean="0">
                  <a:sym typeface="Wingdings" panose="05000000000000000000" pitchFamily="2" charset="2"/>
                </a:endParaRPr>
              </a:p>
              <a:p>
                <a:pPr lvl="0"/>
                <a:r>
                  <a:rPr lang="en-US" sz="2400" dirty="0" err="1" smtClean="0"/>
                  <a:t>Duyêt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từ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đầu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đến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cuối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dẫy</a:t>
                </a:r>
                <a:r>
                  <a:rPr lang="en-US" sz="2400" dirty="0" smtClean="0"/>
                  <a:t>, </a:t>
                </a:r>
                <a:r>
                  <a:rPr lang="en-US" sz="2400" dirty="0" err="1" smtClean="0"/>
                  <a:t>nếu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có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phần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tử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nhỏ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hơn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chốt</a:t>
                </a:r>
                <a:r>
                  <a:rPr lang="en-US" sz="2400" dirty="0" smtClean="0"/>
                  <a:t>, </a:t>
                </a:r>
                <a:r>
                  <a:rPr lang="en-US" sz="2400" dirty="0" err="1" smtClean="0"/>
                  <a:t>thì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đổi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vị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trí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cho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vị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trí</a:t>
                </a:r>
                <a:r>
                  <a:rPr lang="en-US" sz="2400" dirty="0" smtClean="0"/>
                  <a:t> </a:t>
                </a:r>
                <a:r>
                  <a:rPr lang="en-US" sz="2400" i="1" dirty="0" err="1" smtClean="0"/>
                  <a:t>i</a:t>
                </a:r>
                <a:r>
                  <a:rPr lang="en-US" sz="2400" dirty="0" smtClean="0"/>
                  <a:t>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100" dirty="0"/>
                  <a:t>: </a:t>
                </a:r>
                <a:r>
                  <a:rPr lang="en-US" sz="2100" dirty="0" err="1"/>
                  <a:t>chỉ</a:t>
                </a:r>
                <a:r>
                  <a:rPr lang="en-US" sz="2100" dirty="0"/>
                  <a:t> </a:t>
                </a:r>
                <a:r>
                  <a:rPr lang="en-US" sz="2100" dirty="0" err="1"/>
                  <a:t>số</a:t>
                </a:r>
                <a:r>
                  <a:rPr lang="en-US" sz="2100" dirty="0"/>
                  <a:t> </a:t>
                </a:r>
                <a:r>
                  <a:rPr lang="en-US" sz="2100" dirty="0" err="1" smtClean="0"/>
                  <a:t>duyệt</a:t>
                </a:r>
                <a:endParaRPr lang="en-US" sz="2100" dirty="0" smtClean="0"/>
              </a:p>
              <a:p>
                <a:pPr lvl="1"/>
                <a:r>
                  <a:rPr lang="en-US" sz="2100" dirty="0" err="1" smtClean="0"/>
                  <a:t>Sau</a:t>
                </a:r>
                <a:r>
                  <a:rPr lang="en-US" sz="2100" dirty="0" smtClean="0"/>
                  <a:t> </a:t>
                </a:r>
                <a:r>
                  <a:rPr lang="en-US" sz="2100" dirty="0" err="1" smtClean="0"/>
                  <a:t>đổi</a:t>
                </a:r>
                <a:r>
                  <a:rPr lang="en-US" sz="2100" dirty="0" smtClean="0"/>
                  <a:t> </a:t>
                </a:r>
                <a:r>
                  <a:rPr lang="en-US" sz="2100" dirty="0" err="1" smtClean="0"/>
                  <a:t>chỗ</a:t>
                </a:r>
                <a:r>
                  <a:rPr lang="en-US" sz="2100" dirty="0" smtClean="0"/>
                  <a:t> </a:t>
                </a:r>
                <a:r>
                  <a:rPr lang="en-US" sz="2100" dirty="0" err="1" smtClean="0"/>
                  <a:t>đánh</a:t>
                </a:r>
                <a:r>
                  <a:rPr lang="en-US" sz="2100" dirty="0" smtClean="0"/>
                  <a:t> </a:t>
                </a:r>
                <a:r>
                  <a:rPr lang="en-US" sz="2100" dirty="0" err="1" smtClean="0"/>
                  <a:t>dấu</a:t>
                </a:r>
                <a:r>
                  <a:rPr lang="en-US" sz="2100" dirty="0" smtClean="0"/>
                  <a:t> </a:t>
                </a:r>
                <a:r>
                  <a:rPr lang="en-US" sz="2100" dirty="0" err="1" smtClean="0"/>
                  <a:t>vị</a:t>
                </a:r>
                <a:r>
                  <a:rPr lang="en-US" sz="2100" dirty="0" smtClean="0"/>
                  <a:t> </a:t>
                </a:r>
                <a:r>
                  <a:rPr lang="en-US" sz="2100" dirty="0" err="1" smtClean="0"/>
                  <a:t>trí</a:t>
                </a:r>
                <a:r>
                  <a:rPr lang="en-US" sz="2100" dirty="0" smtClean="0"/>
                  <a:t> </a:t>
                </a:r>
                <a:r>
                  <a:rPr lang="en-US" sz="2100" dirty="0" err="1" smtClean="0"/>
                  <a:t>mới</a:t>
                </a:r>
                <a:r>
                  <a:rPr lang="en-US" sz="2100" dirty="0" smtClean="0"/>
                  <a:t> </a:t>
                </a:r>
                <a:r>
                  <a:rPr lang="en-US" sz="2000" dirty="0" smtClean="0"/>
                  <a:t>≥ pivot:</a:t>
                </a:r>
                <a:r>
                  <a:rPr lang="en-US" sz="2000" i="1" dirty="0" smtClean="0"/>
                  <a:t> </a:t>
                </a:r>
                <a:r>
                  <a:rPr lang="en-US" sz="2000" i="1" dirty="0" err="1" smtClean="0"/>
                  <a:t>i</a:t>
                </a:r>
                <a:r>
                  <a:rPr lang="en-US" sz="2000" i="1" dirty="0" smtClean="0"/>
                  <a:t>++</a:t>
                </a:r>
              </a:p>
              <a:p>
                <a:pPr lvl="0"/>
                <a:r>
                  <a:rPr lang="en-US" sz="2400" dirty="0" err="1"/>
                  <a:t>Bước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cuối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cùng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đổi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chỗ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chốt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phần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tử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thứ</a:t>
                </a:r>
                <a:r>
                  <a:rPr lang="en-US" sz="2400" dirty="0"/>
                  <a:t> </a:t>
                </a:r>
                <a:r>
                  <a:rPr lang="en-US" sz="2400" dirty="0" err="1"/>
                  <a:t>i</a:t>
                </a:r>
                <a:endParaRPr lang="en-US" sz="2400" dirty="0"/>
              </a:p>
              <a:p>
                <a:pPr lvl="1"/>
                <a:endParaRPr lang="en-US" sz="2400" i="1" dirty="0" smtClean="0"/>
              </a:p>
              <a:p>
                <a:pPr lvl="1"/>
                <a:endParaRPr lang="en-US" altLang="en-US" sz="2100" dirty="0" smtClean="0"/>
              </a:p>
              <a:p>
                <a:pPr eaLnBrk="1" hangingPunct="1"/>
                <a:endParaRPr lang="en-US" altLang="en-US" sz="44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lvl="0"/>
                <a:r>
                  <a:rPr lang="en-US" sz="2400" dirty="0" err="1" smtClean="0"/>
                  <a:t>Chọn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phần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tử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cuối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dãy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là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chốt</a:t>
                </a:r>
                <a:r>
                  <a:rPr lang="en-US" sz="2400" dirty="0" smtClean="0"/>
                  <a:t> </a:t>
                </a:r>
              </a:p>
              <a:p>
                <a:pPr lvl="0"/>
                <a:r>
                  <a:rPr lang="en-US" sz="2400" i="0" dirty="0">
                    <a:latin typeface="Cambria Math" panose="02040503050406030204" pitchFamily="18" charset="0"/>
                  </a:rPr>
                  <a:t>𝑙</a:t>
                </a:r>
                <a:r>
                  <a:rPr lang="en-US" sz="2400" dirty="0" smtClean="0"/>
                  <a:t>, </a:t>
                </a:r>
                <a:r>
                  <a:rPr lang="en-US" sz="2400" i="0" dirty="0">
                    <a:latin typeface="Cambria Math" panose="02040503050406030204" pitchFamily="18" charset="0"/>
                  </a:rPr>
                  <a:t>𝑟</a:t>
                </a:r>
                <a:r>
                  <a:rPr lang="en-US" sz="2400" dirty="0" smtClean="0"/>
                  <a:t> : </a:t>
                </a:r>
                <a:r>
                  <a:rPr lang="en-US" sz="2400" dirty="0" err="1" smtClean="0"/>
                  <a:t>chỉ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số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đầu</a:t>
                </a:r>
                <a:r>
                  <a:rPr lang="en-US" sz="2400" dirty="0" smtClean="0"/>
                  <a:t>, </a:t>
                </a:r>
                <a:r>
                  <a:rPr lang="en-US" sz="2400" dirty="0" err="1" smtClean="0"/>
                  <a:t>cuối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của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dãy</a:t>
                </a:r>
                <a:r>
                  <a:rPr lang="en-US" sz="2400" dirty="0" smtClean="0"/>
                  <a:t> </a:t>
                </a:r>
                <a:endParaRPr lang="en-US" sz="2400" dirty="0"/>
              </a:p>
              <a:p>
                <a:pPr lvl="0"/>
                <a:r>
                  <a:rPr lang="en-US" sz="2400" i="0" dirty="0" smtClean="0">
                    <a:latin typeface="Cambria Math" panose="02040503050406030204" pitchFamily="18" charset="0"/>
                  </a:rPr>
                  <a:t>𝑖</a:t>
                </a:r>
                <a:r>
                  <a:rPr lang="en-US" sz="2400" dirty="0"/>
                  <a:t>: </a:t>
                </a:r>
                <a:r>
                  <a:rPr lang="en-US" sz="2400" dirty="0" err="1" smtClean="0"/>
                  <a:t>chỉ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số</a:t>
                </a:r>
                <a:r>
                  <a:rPr lang="en-US" sz="2400" dirty="0" smtClean="0"/>
                  <a:t>/</a:t>
                </a:r>
                <a:r>
                  <a:rPr lang="en-US" sz="2400" dirty="0" err="1" smtClean="0"/>
                  <a:t>vị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trí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của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phần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tử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đầu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tiên</a:t>
                </a:r>
                <a:r>
                  <a:rPr lang="en-US" sz="2400" dirty="0" smtClean="0"/>
                  <a:t> ≥ </a:t>
                </a:r>
                <a:r>
                  <a:rPr lang="en-US" sz="2400" dirty="0"/>
                  <a:t>pivot</a:t>
                </a:r>
                <a:r>
                  <a:rPr lang="en-US" sz="2400" dirty="0" smtClean="0"/>
                  <a:t>; 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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trước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i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là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các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phần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tử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nhỏ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hơn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chốt</a:t>
                </a:r>
                <a:endParaRPr lang="en-US" sz="2400" dirty="0" smtClean="0">
                  <a:sym typeface="Wingdings" panose="05000000000000000000" pitchFamily="2" charset="2"/>
                </a:endParaRPr>
              </a:p>
              <a:p>
                <a:pPr lvl="0"/>
                <a:r>
                  <a:rPr lang="en-US" sz="2400" dirty="0" err="1" smtClean="0"/>
                  <a:t>Duyêt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từ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đầu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đến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cuối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dẫy</a:t>
                </a:r>
                <a:r>
                  <a:rPr lang="en-US" sz="2400" dirty="0" smtClean="0"/>
                  <a:t>, </a:t>
                </a:r>
                <a:r>
                  <a:rPr lang="en-US" sz="2400" dirty="0" err="1" smtClean="0"/>
                  <a:t>nếu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có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phần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tử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nhỏ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hơn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chốt</a:t>
                </a:r>
                <a:r>
                  <a:rPr lang="en-US" sz="2400" dirty="0" smtClean="0"/>
                  <a:t>, </a:t>
                </a:r>
                <a:r>
                  <a:rPr lang="en-US" sz="2400" dirty="0" err="1" smtClean="0"/>
                  <a:t>thì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đổi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vị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trí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cho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vị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trí</a:t>
                </a:r>
                <a:r>
                  <a:rPr lang="en-US" sz="2400" dirty="0" smtClean="0"/>
                  <a:t> </a:t>
                </a:r>
                <a:r>
                  <a:rPr lang="en-US" sz="2400" i="1" dirty="0" err="1" smtClean="0"/>
                  <a:t>i</a:t>
                </a:r>
                <a:r>
                  <a:rPr lang="en-US" sz="2400" dirty="0" smtClean="0"/>
                  <a:t>. </a:t>
                </a:r>
              </a:p>
              <a:p>
                <a:pPr lvl="1"/>
                <a:r>
                  <a:rPr lang="en-US" sz="2100" i="0" dirty="0" smtClean="0">
                    <a:latin typeface="Cambria Math" panose="02040503050406030204" pitchFamily="18" charset="0"/>
                  </a:rPr>
                  <a:t>𝑗</a:t>
                </a:r>
                <a:r>
                  <a:rPr lang="en-US" sz="2100" dirty="0"/>
                  <a:t>: </a:t>
                </a:r>
                <a:r>
                  <a:rPr lang="en-US" sz="2100" dirty="0" err="1"/>
                  <a:t>chỉ</a:t>
                </a:r>
                <a:r>
                  <a:rPr lang="en-US" sz="2100" dirty="0"/>
                  <a:t> </a:t>
                </a:r>
                <a:r>
                  <a:rPr lang="en-US" sz="2100" dirty="0" err="1"/>
                  <a:t>số</a:t>
                </a:r>
                <a:r>
                  <a:rPr lang="en-US" sz="2100" dirty="0"/>
                  <a:t> </a:t>
                </a:r>
                <a:r>
                  <a:rPr lang="en-US" sz="2100" dirty="0" err="1" smtClean="0"/>
                  <a:t>duyệt</a:t>
                </a:r>
                <a:endParaRPr lang="en-US" sz="2100" dirty="0" smtClean="0"/>
              </a:p>
              <a:p>
                <a:pPr lvl="1"/>
                <a:r>
                  <a:rPr lang="en-US" sz="2100" dirty="0" err="1" smtClean="0"/>
                  <a:t>Sau</a:t>
                </a:r>
                <a:r>
                  <a:rPr lang="en-US" sz="2100" dirty="0" smtClean="0"/>
                  <a:t> </a:t>
                </a:r>
                <a:r>
                  <a:rPr lang="en-US" sz="2100" dirty="0" err="1" smtClean="0"/>
                  <a:t>đổi</a:t>
                </a:r>
                <a:r>
                  <a:rPr lang="en-US" sz="2100" dirty="0" smtClean="0"/>
                  <a:t> </a:t>
                </a:r>
                <a:r>
                  <a:rPr lang="en-US" sz="2100" dirty="0" err="1" smtClean="0"/>
                  <a:t>chỗ</a:t>
                </a:r>
                <a:r>
                  <a:rPr lang="en-US" sz="2100" dirty="0" smtClean="0"/>
                  <a:t> </a:t>
                </a:r>
                <a:r>
                  <a:rPr lang="en-US" sz="2100" dirty="0" err="1" smtClean="0"/>
                  <a:t>đánh</a:t>
                </a:r>
                <a:r>
                  <a:rPr lang="en-US" sz="2100" dirty="0" smtClean="0"/>
                  <a:t> </a:t>
                </a:r>
                <a:r>
                  <a:rPr lang="en-US" sz="2100" dirty="0" err="1" smtClean="0"/>
                  <a:t>dấu</a:t>
                </a:r>
                <a:r>
                  <a:rPr lang="en-US" sz="2100" dirty="0" smtClean="0"/>
                  <a:t> </a:t>
                </a:r>
                <a:r>
                  <a:rPr lang="en-US" sz="2100" dirty="0" err="1" smtClean="0"/>
                  <a:t>vị</a:t>
                </a:r>
                <a:r>
                  <a:rPr lang="en-US" sz="2100" dirty="0" smtClean="0"/>
                  <a:t> </a:t>
                </a:r>
                <a:r>
                  <a:rPr lang="en-US" sz="2100" dirty="0" err="1" smtClean="0"/>
                  <a:t>trí</a:t>
                </a:r>
                <a:r>
                  <a:rPr lang="en-US" sz="2100" dirty="0" smtClean="0"/>
                  <a:t> </a:t>
                </a:r>
                <a:r>
                  <a:rPr lang="en-US" sz="2100" dirty="0" err="1" smtClean="0"/>
                  <a:t>mới</a:t>
                </a:r>
                <a:r>
                  <a:rPr lang="en-US" sz="2100" dirty="0" smtClean="0"/>
                  <a:t> </a:t>
                </a:r>
                <a:r>
                  <a:rPr lang="en-US" sz="2000" dirty="0" smtClean="0"/>
                  <a:t>≥ pivot:</a:t>
                </a:r>
                <a:r>
                  <a:rPr lang="en-US" sz="2000" i="1" dirty="0" smtClean="0"/>
                  <a:t> </a:t>
                </a:r>
                <a:r>
                  <a:rPr lang="en-US" sz="2000" i="1" dirty="0" err="1" smtClean="0"/>
                  <a:t>i</a:t>
                </a:r>
                <a:r>
                  <a:rPr lang="en-US" sz="2000" i="1" dirty="0" smtClean="0"/>
                  <a:t>++</a:t>
                </a:r>
              </a:p>
              <a:p>
                <a:pPr lvl="0"/>
                <a:r>
                  <a:rPr lang="en-US" sz="2400" dirty="0" err="1"/>
                  <a:t>Bước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cuối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cùng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đổi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chỗ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chốt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phần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tử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thứ</a:t>
                </a:r>
                <a:r>
                  <a:rPr lang="en-US" sz="2400" dirty="0"/>
                  <a:t> </a:t>
                </a:r>
                <a:r>
                  <a:rPr lang="en-US" sz="2400" dirty="0" err="1"/>
                  <a:t>i</a:t>
                </a:r>
                <a:endParaRPr lang="en-US" sz="2400" dirty="0"/>
              </a:p>
              <a:p>
                <a:pPr lvl="1"/>
                <a:endParaRPr lang="en-US" sz="2400" i="1" dirty="0" smtClean="0"/>
              </a:p>
              <a:p>
                <a:pPr lvl="1"/>
                <a:endParaRPr lang="en-US" altLang="en-US" sz="2100" dirty="0" smtClean="0"/>
              </a:p>
              <a:p>
                <a:pPr eaLnBrk="1" hangingPunct="1"/>
                <a:endParaRPr lang="en-US" altLang="en-US" sz="44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397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66699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887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269CE-12F4-4F4F-BF2F-21E0A343DA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67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2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46183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1575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01885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716362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221812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7900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1585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8323482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1647684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8598435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9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5/27/2024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9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5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889229237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9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5/27/2024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9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5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1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506107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9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9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5/27/2024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9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158872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5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9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5/27/2024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9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737174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9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5/27/2024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9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030030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  <a:latin typeface="Gill Sans MT"/>
              </a:defRPr>
            </a:lvl1pPr>
          </a:lstStyle>
          <a:p>
            <a:fld id="{BC24317B-5122-4A99-A6E9-FA23C146A7E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20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5583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fr-FR" dirty="0" smtClean="0"/>
              <a:t>ET2100 </a:t>
            </a:r>
            <a:r>
              <a:rPr lang="en-US" i="1" dirty="0" smtClean="0"/>
              <a:t>- </a:t>
            </a:r>
            <a:r>
              <a:rPr lang="en-US" b="1" i="1" dirty="0" smtClean="0"/>
              <a:t>Data Structures and Algorithms</a:t>
            </a:r>
            <a:endParaRPr lang="en-US" dirty="0" smtClean="0"/>
          </a:p>
          <a:p>
            <a:pPr algn="r"/>
            <a:r>
              <a:rPr lang="en-US" dirty="0" smtClean="0"/>
              <a:t>School of Electrical and Electronic Engineering</a:t>
            </a:r>
            <a:endParaRPr lang="en-US" dirty="0"/>
          </a:p>
        </p:txBody>
      </p:sp>
      <p:sp>
        <p:nvSpPr>
          <p:cNvPr id="5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D:\lo go dhbk100957AM.jpg"/>
          <p:cNvPicPr>
            <a:picLocks noChangeAspect="1" noChangeArrowheads="1"/>
          </p:cNvPicPr>
          <p:nvPr userDrawn="1"/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8766174" y="6372320"/>
            <a:ext cx="225425" cy="3364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0904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4" r:id="rId15"/>
    <p:sldLayoutId id="2147483775" r:id="rId16"/>
    <p:sldLayoutId id="2147483776" r:id="rId17"/>
    <p:sldLayoutId id="2147483777" r:id="rId18"/>
    <p:sldLayoutId id="2147483778" r:id="rId19"/>
    <p:sldLayoutId id="2147483751" r:id="rId20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43000" y="4120243"/>
            <a:ext cx="7315200" cy="10668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CẤU TRÚC DỮ LIỆU VÀ GIẢI THUẬT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3886200" y="4876800"/>
            <a:ext cx="6781800" cy="114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 smtClean="0">
                <a:solidFill>
                  <a:schemeClr val="bg1"/>
                </a:solidFill>
              </a:rPr>
              <a:t>ET2100</a:t>
            </a: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356350"/>
            <a:ext cx="2057400" cy="365125"/>
          </a:xfrm>
        </p:spPr>
        <p:txBody>
          <a:bodyPr/>
          <a:lstStyle/>
          <a:p>
            <a:fld id="{26B269CE-12F4-4F4F-BF2F-21E0A343DA4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162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352800" y="2819400"/>
            <a:ext cx="4495800" cy="1066800"/>
          </a:xfrm>
        </p:spPr>
        <p:txBody>
          <a:bodyPr>
            <a:normAutofit/>
          </a:bodyPr>
          <a:lstStyle/>
          <a:p>
            <a:pPr algn="r"/>
            <a:r>
              <a:rPr lang="vi-VN" i="1" dirty="0">
                <a:latin typeface="Lato"/>
              </a:rPr>
              <a:t>Chương V : </a:t>
            </a:r>
            <a:r>
              <a:rPr lang="en-US" i="1" dirty="0" smtClean="0">
                <a:latin typeface="Lato"/>
              </a:rPr>
              <a:t/>
            </a:r>
            <a:br>
              <a:rPr lang="en-US" i="1" dirty="0" smtClean="0">
                <a:latin typeface="Lato"/>
              </a:rPr>
            </a:br>
            <a:r>
              <a:rPr lang="vi-VN" i="1" dirty="0" smtClean="0">
                <a:latin typeface="Lato"/>
              </a:rPr>
              <a:t>Các </a:t>
            </a:r>
            <a:r>
              <a:rPr lang="vi-VN" i="1" dirty="0">
                <a:latin typeface="Lato"/>
              </a:rPr>
              <a:t>giải thuật sắp xếp</a:t>
            </a: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3733800" y="4572000"/>
            <a:ext cx="7351077" cy="11192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1400" dirty="0" err="1"/>
              <a:t>Giảng</a:t>
            </a:r>
            <a:r>
              <a:rPr lang="en-US" sz="1400" dirty="0"/>
              <a:t> </a:t>
            </a:r>
            <a:r>
              <a:rPr lang="en-US" sz="1400" dirty="0" err="1"/>
              <a:t>viên</a:t>
            </a:r>
            <a:r>
              <a:rPr lang="en-US" sz="1400" dirty="0"/>
              <a:t>: TS. </a:t>
            </a:r>
            <a:r>
              <a:rPr lang="en-US" sz="1400" dirty="0" err="1"/>
              <a:t>Đỗ</a:t>
            </a:r>
            <a:r>
              <a:rPr lang="en-US" sz="1400" dirty="0"/>
              <a:t> </a:t>
            </a:r>
            <a:r>
              <a:rPr lang="en-US" sz="1400" dirty="0" err="1"/>
              <a:t>Thị</a:t>
            </a:r>
            <a:r>
              <a:rPr lang="en-US" sz="1400" dirty="0"/>
              <a:t> </a:t>
            </a:r>
            <a:r>
              <a:rPr lang="en-US" sz="1400" dirty="0" err="1"/>
              <a:t>Ngọc</a:t>
            </a:r>
            <a:r>
              <a:rPr lang="en-US" sz="1400" dirty="0"/>
              <a:t> </a:t>
            </a:r>
            <a:r>
              <a:rPr lang="en-US" sz="1400" dirty="0" err="1"/>
              <a:t>Diệp</a:t>
            </a:r>
            <a:endParaRPr lang="en-US" sz="1400" dirty="0"/>
          </a:p>
          <a:p>
            <a:r>
              <a:rPr lang="en-US" sz="1400" dirty="0" err="1" smtClean="0"/>
              <a:t>Khoa</a:t>
            </a:r>
            <a:r>
              <a:rPr lang="en-US" sz="1400" dirty="0" smtClean="0"/>
              <a:t> </a:t>
            </a:r>
            <a:r>
              <a:rPr lang="en-US" sz="1400" dirty="0" err="1"/>
              <a:t>Kỹ</a:t>
            </a:r>
            <a:r>
              <a:rPr lang="en-US" sz="1400" dirty="0"/>
              <a:t> </a:t>
            </a:r>
            <a:r>
              <a:rPr lang="en-US" sz="1400" dirty="0" err="1"/>
              <a:t>thuật</a:t>
            </a:r>
            <a:r>
              <a:rPr lang="en-US" sz="1400" dirty="0"/>
              <a:t> </a:t>
            </a:r>
            <a:r>
              <a:rPr lang="en-US" sz="1400" dirty="0" err="1"/>
              <a:t>Truyền</a:t>
            </a:r>
            <a:r>
              <a:rPr lang="en-US" sz="1400" dirty="0"/>
              <a:t> </a:t>
            </a:r>
            <a:r>
              <a:rPr lang="en-US" sz="1400" dirty="0" err="1"/>
              <a:t>thông</a:t>
            </a:r>
            <a:r>
              <a:rPr lang="en-US" sz="1400" dirty="0"/>
              <a:t> – </a:t>
            </a:r>
            <a:r>
              <a:rPr lang="en-US" sz="1400" dirty="0" err="1" smtClean="0"/>
              <a:t>Trường</a:t>
            </a:r>
            <a:r>
              <a:rPr lang="en-US" sz="1400" dirty="0" smtClean="0"/>
              <a:t> </a:t>
            </a:r>
            <a:r>
              <a:rPr lang="en-US" sz="1400" dirty="0" err="1" smtClean="0"/>
              <a:t>Điện</a:t>
            </a:r>
            <a:r>
              <a:rPr lang="en-US" sz="1400" dirty="0" smtClean="0"/>
              <a:t> </a:t>
            </a:r>
            <a:r>
              <a:rPr lang="en-US" sz="1400" dirty="0" err="1" smtClean="0"/>
              <a:t>Điện</a:t>
            </a:r>
            <a:r>
              <a:rPr lang="en-US" sz="1400" dirty="0" smtClean="0"/>
              <a:t> </a:t>
            </a:r>
            <a:r>
              <a:rPr lang="en-US" sz="1400" dirty="0" err="1" smtClean="0"/>
              <a:t>Tử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38311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5F7B6D9-5450-4FA1-9457-E96809A24814}" type="slidenum">
              <a:rPr lang="en-US" altLang="en-US">
                <a:latin typeface="Garamond" panose="02020404030301010803" pitchFamily="18" charset="0"/>
              </a:rPr>
              <a:pPr eaLnBrk="1" hangingPunct="1"/>
              <a:t>3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Nội dung chính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571500" indent="-5715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400" dirty="0" err="1" smtClean="0"/>
              <a:t>Đặt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vấn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đề</a:t>
            </a:r>
            <a:endParaRPr lang="en-US" altLang="en-US" sz="2400" dirty="0" smtClean="0"/>
          </a:p>
          <a:p>
            <a:pPr marL="571500" indent="-5715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400" dirty="0" err="1" smtClean="0"/>
              <a:t>Các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giải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thuật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sắp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xếp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cơ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bản</a:t>
            </a:r>
            <a:endParaRPr lang="en-US" altLang="en-US" sz="2400" dirty="0" smtClean="0"/>
          </a:p>
          <a:p>
            <a:pPr marL="839788" lvl="1" indent="-495300" eaLnBrk="1" hangingPunct="1"/>
            <a:r>
              <a:rPr lang="en-US" altLang="en-US" sz="2000" dirty="0" err="1" smtClean="0"/>
              <a:t>Sắp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xếp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chọn</a:t>
            </a:r>
            <a:r>
              <a:rPr lang="en-US" altLang="en-US" sz="2000" dirty="0" smtClean="0"/>
              <a:t> (Selection sort)</a:t>
            </a:r>
          </a:p>
          <a:p>
            <a:pPr marL="839788" lvl="1" indent="-495300"/>
            <a:r>
              <a:rPr lang="en-US" altLang="en-US" sz="2000" dirty="0" err="1" smtClean="0"/>
              <a:t>Sắp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xếp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nổi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bọt</a:t>
            </a:r>
            <a:r>
              <a:rPr lang="en-US" altLang="en-US" sz="2000" dirty="0" smtClean="0"/>
              <a:t> </a:t>
            </a:r>
            <a:r>
              <a:rPr lang="en-US" altLang="en-US" sz="2000" dirty="0"/>
              <a:t>(Bubble/Exchange </a:t>
            </a:r>
            <a:r>
              <a:rPr lang="en-US" altLang="en-US" sz="2000" dirty="0" smtClean="0"/>
              <a:t>sort) </a:t>
            </a:r>
          </a:p>
          <a:p>
            <a:pPr marL="839788" lvl="1" indent="-495300" eaLnBrk="1" hangingPunct="1"/>
            <a:r>
              <a:rPr lang="en-US" altLang="en-US" sz="2000" dirty="0" err="1" smtClean="0"/>
              <a:t>Sắp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xếp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chèn</a:t>
            </a:r>
            <a:r>
              <a:rPr lang="en-US" altLang="en-US" sz="2000" dirty="0" smtClean="0"/>
              <a:t> (Insertion sort)</a:t>
            </a:r>
          </a:p>
          <a:p>
            <a:pPr marL="571500" indent="-5715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400" dirty="0" err="1" smtClean="0"/>
              <a:t>Các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giải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thuật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sắp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xếp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nâng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cao</a:t>
            </a:r>
            <a:endParaRPr lang="en-US" altLang="en-US" sz="2400" dirty="0" smtClean="0"/>
          </a:p>
          <a:p>
            <a:pPr marL="839788" lvl="1" indent="-495300" eaLnBrk="1" hangingPunct="1"/>
            <a:r>
              <a:rPr lang="en-US" altLang="en-US" sz="2000" dirty="0" err="1" smtClean="0"/>
              <a:t>Sắp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xếp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nhanh</a:t>
            </a:r>
            <a:r>
              <a:rPr lang="en-US" altLang="en-US" sz="2000" dirty="0" smtClean="0"/>
              <a:t>/</a:t>
            </a:r>
            <a:r>
              <a:rPr lang="en-US" altLang="en-US" sz="2000" dirty="0" err="1" smtClean="0"/>
              <a:t>phân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đoạn</a:t>
            </a:r>
            <a:r>
              <a:rPr lang="en-US" altLang="en-US" sz="2000" dirty="0" smtClean="0"/>
              <a:t> (Quick sort)</a:t>
            </a:r>
          </a:p>
          <a:p>
            <a:pPr marL="839788" lvl="1" indent="-495300" eaLnBrk="1" hangingPunct="1"/>
            <a:r>
              <a:rPr lang="en-US" altLang="en-US" sz="2000" dirty="0" err="1" smtClean="0"/>
              <a:t>Sắp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xếp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vun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đống</a:t>
            </a:r>
            <a:r>
              <a:rPr lang="en-US" altLang="en-US" sz="2000" dirty="0" smtClean="0"/>
              <a:t> (Heap sort)</a:t>
            </a:r>
          </a:p>
          <a:p>
            <a:pPr marL="839788" lvl="1" indent="-495300" eaLnBrk="1" hangingPunct="1"/>
            <a:r>
              <a:rPr lang="en-US" altLang="en-US" sz="2000" dirty="0" err="1" smtClean="0"/>
              <a:t>Sắp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xếp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trộn</a:t>
            </a:r>
            <a:r>
              <a:rPr lang="en-US" altLang="en-US" sz="2000" dirty="0" smtClean="0"/>
              <a:t> (Merge sort)</a:t>
            </a:r>
          </a:p>
        </p:txBody>
      </p:sp>
    </p:spTree>
    <p:extLst>
      <p:ext uri="{BB962C8B-B14F-4D97-AF65-F5344CB8AC3E}">
        <p14:creationId xmlns:p14="http://schemas.microsoft.com/office/powerpoint/2010/main" val="259967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A7BDBC3-8EE5-45F5-8261-D8EFD6B9AE1D}" type="slidenum">
              <a:rPr lang="en-US" altLang="en-US">
                <a:latin typeface="Garamond" panose="02020404030301010803" pitchFamily="18" charset="0"/>
              </a:rPr>
              <a:pPr eaLnBrk="1" hangingPunct="1"/>
              <a:t>4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1. </a:t>
            </a:r>
            <a:r>
              <a:rPr lang="en-US" altLang="en-US" dirty="0" err="1" smtClean="0"/>
              <a:t>Đặt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vấn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đề</a:t>
            </a:r>
            <a:endParaRPr lang="en-US" altLang="en-US" dirty="0" smtClean="0"/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sz="2400" b="1" dirty="0" err="1" smtClean="0"/>
              <a:t>Bài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 smtClean="0"/>
              <a:t>toán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 smtClean="0"/>
              <a:t>tổng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 smtClean="0"/>
              <a:t>quát</a:t>
            </a:r>
            <a:r>
              <a:rPr lang="en-US" altLang="en-US" sz="2400" dirty="0" smtClean="0"/>
              <a:t>: Cho </a:t>
            </a:r>
            <a:r>
              <a:rPr lang="en-US" altLang="en-US" sz="2400" dirty="0" err="1" smtClean="0"/>
              <a:t>trước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một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dãy</a:t>
            </a:r>
            <a:r>
              <a:rPr lang="en-US" altLang="en-US" sz="2400" dirty="0" smtClean="0"/>
              <a:t> N </a:t>
            </a:r>
            <a:r>
              <a:rPr lang="en-US" altLang="en-US" sz="2400" dirty="0" err="1" smtClean="0"/>
              <a:t>phần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tử</a:t>
            </a:r>
            <a:r>
              <a:rPr lang="en-US" altLang="en-US" sz="2400" dirty="0" smtClean="0"/>
              <a:t> </a:t>
            </a:r>
            <a:r>
              <a:rPr lang="en-US" altLang="en-US" sz="2400" i="1" dirty="0" smtClean="0"/>
              <a:t>a1, a2, …, </a:t>
            </a:r>
            <a:r>
              <a:rPr lang="en-US" altLang="en-US" sz="2400" i="1" dirty="0" err="1" smtClean="0"/>
              <a:t>aN</a:t>
            </a:r>
            <a:r>
              <a:rPr lang="en-US" altLang="en-US" sz="2400" dirty="0" err="1" smtClean="0"/>
              <a:t>.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Cần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tìm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giải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thuật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sắp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xếp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các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phần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tử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của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dãy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trên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theo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một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thứ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tự</a:t>
            </a:r>
            <a:r>
              <a:rPr lang="en-US" altLang="en-US" sz="2400" dirty="0" smtClean="0"/>
              <a:t> (</a:t>
            </a:r>
            <a:r>
              <a:rPr lang="en-US" altLang="en-US" sz="2400" dirty="0" err="1" smtClean="0"/>
              <a:t>tiêu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chuẩn</a:t>
            </a:r>
            <a:r>
              <a:rPr lang="en-US" altLang="en-US" sz="2400" dirty="0" smtClean="0"/>
              <a:t>) </a:t>
            </a:r>
            <a:r>
              <a:rPr lang="en-US" altLang="en-US" sz="2400" dirty="0" err="1" smtClean="0"/>
              <a:t>nào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đó</a:t>
            </a:r>
            <a:r>
              <a:rPr lang="en-US" altLang="en-US" sz="2400" dirty="0" smtClean="0"/>
              <a:t>.</a:t>
            </a:r>
          </a:p>
          <a:p>
            <a:pPr lvl="1"/>
            <a:r>
              <a:rPr lang="en-US" altLang="en-US" sz="2200" dirty="0" err="1" smtClean="0"/>
              <a:t>Mục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đích</a:t>
            </a:r>
            <a:r>
              <a:rPr lang="en-US" altLang="en-US" sz="2200" dirty="0" smtClean="0"/>
              <a:t>: </a:t>
            </a:r>
            <a:r>
              <a:rPr lang="en-US" altLang="en-US" sz="2200" dirty="0" err="1" smtClean="0"/>
              <a:t>Hỗ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trợ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các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bài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toán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hiển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thị</a:t>
            </a:r>
            <a:r>
              <a:rPr lang="en-US" altLang="en-US" sz="2200" dirty="0" smtClean="0"/>
              <a:t>, </a:t>
            </a:r>
            <a:r>
              <a:rPr lang="en-US" altLang="en-US" sz="2200" dirty="0" err="1" smtClean="0"/>
              <a:t>tìm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kiếm</a:t>
            </a:r>
            <a:r>
              <a:rPr lang="en-US" altLang="en-US" sz="2200" dirty="0" smtClean="0"/>
              <a:t>, v.v.</a:t>
            </a:r>
          </a:p>
          <a:p>
            <a:pPr lvl="1"/>
            <a:r>
              <a:rPr lang="en-US" altLang="en-US" sz="2200" dirty="0" err="1" smtClean="0"/>
              <a:t>Ứng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dụng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trong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thực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tế</a:t>
            </a:r>
            <a:r>
              <a:rPr lang="en-US" altLang="en-US" sz="2200" dirty="0" smtClean="0"/>
              <a:t>:</a:t>
            </a:r>
          </a:p>
          <a:p>
            <a:pPr lvl="2"/>
            <a:r>
              <a:rPr lang="en-US" altLang="en-US" sz="2000" dirty="0" err="1" smtClean="0"/>
              <a:t>Từ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trong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từ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điển</a:t>
            </a:r>
            <a:endParaRPr lang="en-US" altLang="en-US" sz="2000" dirty="0" smtClean="0"/>
          </a:p>
          <a:p>
            <a:pPr lvl="2"/>
            <a:r>
              <a:rPr lang="en-US" altLang="en-US" sz="2000" dirty="0" smtClean="0"/>
              <a:t>Files </a:t>
            </a:r>
            <a:r>
              <a:rPr lang="en-US" altLang="en-US" sz="2000" dirty="0" err="1" smtClean="0"/>
              <a:t>trong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một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thư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mục</a:t>
            </a:r>
            <a:endParaRPr lang="en-US" altLang="en-US" sz="2000" dirty="0" smtClean="0"/>
          </a:p>
          <a:p>
            <a:pPr lvl="2"/>
            <a:r>
              <a:rPr lang="en-US" altLang="en-US" sz="2000" dirty="0" err="1" smtClean="0"/>
              <a:t>Chỉ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mục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trong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sách</a:t>
            </a:r>
            <a:endParaRPr lang="en-US" altLang="en-US" sz="2000" dirty="0" smtClean="0"/>
          </a:p>
          <a:p>
            <a:pPr lvl="2"/>
            <a:r>
              <a:rPr lang="en-US" altLang="en-US" sz="2000" dirty="0" err="1" smtClean="0"/>
              <a:t>Lịch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sự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kiện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trên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báo</a:t>
            </a:r>
            <a:endParaRPr lang="en-US" altLang="en-US" sz="2000" dirty="0" smtClean="0"/>
          </a:p>
          <a:p>
            <a:pPr lvl="2"/>
            <a:r>
              <a:rPr lang="en-US" altLang="en-US" sz="2000" dirty="0" err="1" smtClean="0"/>
              <a:t>Danh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sách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các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khóa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học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sắp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xếp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theo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Khoa</a:t>
            </a:r>
            <a:r>
              <a:rPr lang="en-US" altLang="en-US" sz="2000" dirty="0" smtClean="0"/>
              <a:t>, </a:t>
            </a:r>
            <a:r>
              <a:rPr lang="en-US" altLang="en-US" sz="2000" dirty="0" err="1" smtClean="0"/>
              <a:t>Mã</a:t>
            </a:r>
            <a:r>
              <a:rPr lang="en-US" altLang="en-US" sz="2000" dirty="0" smtClean="0"/>
              <a:t> HP</a:t>
            </a:r>
          </a:p>
          <a:p>
            <a:pPr lvl="2"/>
            <a:r>
              <a:rPr lang="en-US" altLang="en-US" sz="2000" dirty="0" smtClean="0"/>
              <a:t>Catalog </a:t>
            </a:r>
            <a:r>
              <a:rPr lang="en-US" altLang="en-US" sz="2000" dirty="0" err="1" smtClean="0"/>
              <a:t>trong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thư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viện</a:t>
            </a:r>
            <a:endParaRPr lang="en-US" altLang="en-US" sz="2000" dirty="0" smtClean="0"/>
          </a:p>
          <a:p>
            <a:pPr lvl="2"/>
            <a:r>
              <a:rPr lang="en-US" altLang="en-US" sz="2000" dirty="0" smtClean="0"/>
              <a:t>V.v.</a:t>
            </a:r>
          </a:p>
        </p:txBody>
      </p:sp>
    </p:spTree>
    <p:extLst>
      <p:ext uri="{BB962C8B-B14F-4D97-AF65-F5344CB8AC3E}">
        <p14:creationId xmlns:p14="http://schemas.microsoft.com/office/powerpoint/2010/main" val="45675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A7BDBC3-8EE5-45F5-8261-D8EFD6B9AE1D}" type="slidenum">
              <a:rPr lang="en-US" altLang="en-US">
                <a:latin typeface="Garamond" panose="02020404030301010803" pitchFamily="18" charset="0"/>
              </a:rPr>
              <a:pPr eaLnBrk="1" hangingPunct="1"/>
              <a:t>5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1. </a:t>
            </a:r>
            <a:r>
              <a:rPr lang="en-US" altLang="en-US" dirty="0" err="1" smtClean="0"/>
              <a:t>Đặt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vấn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đề</a:t>
            </a:r>
            <a:endParaRPr lang="en-US" altLang="en-US" dirty="0" smtClean="0"/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sz="2400" b="1" dirty="0" err="1" smtClean="0"/>
              <a:t>Bài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 smtClean="0"/>
              <a:t>toán</a:t>
            </a:r>
            <a:r>
              <a:rPr lang="en-US" altLang="en-US" sz="2400" b="1" dirty="0" smtClean="0"/>
              <a:t> </a:t>
            </a:r>
            <a:r>
              <a:rPr lang="en-US" altLang="en-US" sz="2400" dirty="0" smtClean="0"/>
              <a:t>: </a:t>
            </a:r>
            <a:r>
              <a:rPr lang="en-US" altLang="en-US" sz="2400" dirty="0" err="1" smtClean="0"/>
              <a:t>Không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giảm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tính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tổng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quát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của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các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giải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thuật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sắp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xếp</a:t>
            </a:r>
            <a:r>
              <a:rPr lang="en-US" altLang="en-US" sz="2400" dirty="0" smtClean="0"/>
              <a:t>, </a:t>
            </a:r>
            <a:r>
              <a:rPr lang="en-US" altLang="en-US" sz="2400" dirty="0" err="1" smtClean="0"/>
              <a:t>đồng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thời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để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đơn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giản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hóa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việc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trình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bầy</a:t>
            </a:r>
            <a:r>
              <a:rPr lang="en-US" altLang="en-US" sz="2400" dirty="0" smtClean="0"/>
              <a:t> </a:t>
            </a:r>
            <a:r>
              <a:rPr lang="en-US" altLang="en-US" sz="2400" dirty="0" smtClean="0">
                <a:sym typeface="Wingdings" panose="05000000000000000000" pitchFamily="2" charset="2"/>
              </a:rPr>
              <a:t></a:t>
            </a:r>
            <a:r>
              <a:rPr lang="en-US" altLang="en-US" sz="2400" dirty="0" smtClean="0"/>
              <a:t> minh </a:t>
            </a:r>
            <a:r>
              <a:rPr lang="en-US" altLang="en-US" sz="2400" dirty="0" err="1" smtClean="0"/>
              <a:t>họa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các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giải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thuật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thông</a:t>
            </a:r>
            <a:r>
              <a:rPr lang="en-US" altLang="en-US" sz="2400" dirty="0" smtClean="0"/>
              <a:t> qua </a:t>
            </a:r>
            <a:r>
              <a:rPr lang="en-US" altLang="en-US" sz="2400" dirty="0" err="1" smtClean="0"/>
              <a:t>việc</a:t>
            </a:r>
            <a:r>
              <a:rPr lang="en-US" altLang="en-US" sz="2400" dirty="0" smtClean="0"/>
              <a:t> </a:t>
            </a:r>
            <a:r>
              <a:rPr lang="en-US" altLang="en-US" sz="2400" b="1" dirty="0" err="1" smtClean="0"/>
              <a:t>sắp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 smtClean="0"/>
              <a:t>xếp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 smtClean="0"/>
              <a:t>một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 smtClean="0"/>
              <a:t>dãy</a:t>
            </a:r>
            <a:r>
              <a:rPr lang="en-US" altLang="en-US" sz="2400" b="1" dirty="0" smtClean="0"/>
              <a:t> N </a:t>
            </a:r>
            <a:r>
              <a:rPr lang="en-US" altLang="en-US" sz="2400" b="1" dirty="0" err="1" smtClean="0"/>
              <a:t>số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 smtClean="0"/>
              <a:t>theo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 smtClean="0"/>
              <a:t>trật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 smtClean="0"/>
              <a:t>tự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 smtClean="0"/>
              <a:t>tăng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 smtClean="0"/>
              <a:t>dần</a:t>
            </a:r>
            <a:r>
              <a:rPr lang="en-US" altLang="en-US" sz="2400" dirty="0" smtClean="0"/>
              <a:t>.</a:t>
            </a:r>
          </a:p>
          <a:p>
            <a:r>
              <a:rPr lang="en-US" altLang="en-US" sz="2400" dirty="0" err="1"/>
              <a:t>Với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mỗi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giải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thuật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cần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đưa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ra</a:t>
            </a:r>
            <a:r>
              <a:rPr lang="en-US" altLang="en-US" sz="2400" dirty="0"/>
              <a:t>:</a:t>
            </a:r>
          </a:p>
          <a:p>
            <a:pPr marL="396875" lvl="1" indent="-285750"/>
            <a:r>
              <a:rPr lang="en-US" altLang="en-US" sz="2200" dirty="0"/>
              <a:t>Ý </a:t>
            </a:r>
            <a:r>
              <a:rPr lang="en-US" altLang="en-US" sz="2200" dirty="0" err="1"/>
              <a:t>tưởng</a:t>
            </a:r>
            <a:r>
              <a:rPr lang="en-US" altLang="en-US" sz="2200" dirty="0"/>
              <a:t> </a:t>
            </a:r>
            <a:r>
              <a:rPr lang="en-US" altLang="en-US" sz="2200" dirty="0" err="1"/>
              <a:t>giải</a:t>
            </a:r>
            <a:r>
              <a:rPr lang="en-US" altLang="en-US" sz="2200" dirty="0"/>
              <a:t> </a:t>
            </a:r>
            <a:r>
              <a:rPr lang="en-US" altLang="en-US" sz="2200" dirty="0" err="1"/>
              <a:t>thuật</a:t>
            </a:r>
            <a:endParaRPr lang="en-US" altLang="en-US" sz="2200" dirty="0"/>
          </a:p>
          <a:p>
            <a:pPr marL="396875" lvl="1" indent="-285750"/>
            <a:r>
              <a:rPr lang="en-US" altLang="en-US" sz="2200" dirty="0" err="1"/>
              <a:t>Cài</a:t>
            </a:r>
            <a:r>
              <a:rPr lang="en-US" altLang="en-US" sz="2200" dirty="0"/>
              <a:t> </a:t>
            </a:r>
            <a:r>
              <a:rPr lang="en-US" altLang="en-US" sz="2200" dirty="0" err="1"/>
              <a:t>đặt</a:t>
            </a:r>
            <a:r>
              <a:rPr lang="en-US" altLang="en-US" sz="2200" dirty="0"/>
              <a:t> </a:t>
            </a:r>
            <a:r>
              <a:rPr lang="en-US" altLang="en-US" sz="2200" dirty="0" err="1"/>
              <a:t>cơ</a:t>
            </a:r>
            <a:r>
              <a:rPr lang="en-US" altLang="en-US" sz="2200" dirty="0"/>
              <a:t> </a:t>
            </a:r>
            <a:r>
              <a:rPr lang="en-US" altLang="en-US" sz="2200" dirty="0" err="1"/>
              <a:t>bản</a:t>
            </a:r>
            <a:r>
              <a:rPr lang="en-US" altLang="en-US" sz="2200" dirty="0"/>
              <a:t> (</a:t>
            </a:r>
            <a:r>
              <a:rPr lang="en-US" altLang="en-US" sz="2200" dirty="0" err="1"/>
              <a:t>gồm</a:t>
            </a:r>
            <a:r>
              <a:rPr lang="en-US" altLang="en-US" sz="2200" dirty="0"/>
              <a:t> 1 </a:t>
            </a:r>
            <a:r>
              <a:rPr lang="en-US" altLang="en-US" sz="2200" dirty="0" err="1"/>
              <a:t>hoặc</a:t>
            </a:r>
            <a:r>
              <a:rPr lang="en-US" altLang="en-US" sz="2200" dirty="0"/>
              <a:t> 1 </a:t>
            </a:r>
            <a:r>
              <a:rPr lang="en-US" altLang="en-US" sz="2200" dirty="0" err="1"/>
              <a:t>số</a:t>
            </a:r>
            <a:r>
              <a:rPr lang="en-US" altLang="en-US" sz="2200" dirty="0"/>
              <a:t> </a:t>
            </a:r>
            <a:r>
              <a:rPr lang="en-US" altLang="en-US" sz="2200" dirty="0" err="1"/>
              <a:t>hàm</a:t>
            </a:r>
            <a:r>
              <a:rPr lang="en-US" altLang="en-US" sz="2200" dirty="0"/>
              <a:t>)</a:t>
            </a:r>
          </a:p>
          <a:p>
            <a:pPr marL="396875" lvl="1" indent="-285750"/>
            <a:r>
              <a:rPr lang="en-US" altLang="en-US" sz="2200" dirty="0" err="1"/>
              <a:t>Đánh</a:t>
            </a:r>
            <a:r>
              <a:rPr lang="en-US" altLang="en-US" sz="2200" dirty="0"/>
              <a:t> </a:t>
            </a:r>
            <a:r>
              <a:rPr lang="en-US" altLang="en-US" sz="2200" dirty="0" err="1"/>
              <a:t>giá</a:t>
            </a:r>
            <a:r>
              <a:rPr lang="en-US" altLang="en-US" sz="2200" dirty="0"/>
              <a:t> </a:t>
            </a:r>
            <a:r>
              <a:rPr lang="en-US" altLang="en-US" sz="2200" dirty="0" err="1"/>
              <a:t>giải</a:t>
            </a:r>
            <a:r>
              <a:rPr lang="en-US" altLang="en-US" sz="2200" dirty="0"/>
              <a:t> </a:t>
            </a:r>
            <a:r>
              <a:rPr lang="en-US" altLang="en-US" sz="2200" dirty="0" err="1"/>
              <a:t>thuật</a:t>
            </a:r>
            <a:endParaRPr lang="en-US" altLang="en-US" sz="2200" dirty="0"/>
          </a:p>
          <a:p>
            <a:endParaRPr lang="en-US" alt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335714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363DDD2-29BE-47F8-AE40-FAFFF03B8B9D}" type="slidenum">
              <a:rPr lang="en-US" altLang="en-US">
                <a:latin typeface="Garamond" panose="02020404030301010803" pitchFamily="18" charset="0"/>
              </a:rPr>
              <a:pPr eaLnBrk="1" hangingPunct="1"/>
              <a:t>6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1. </a:t>
            </a:r>
            <a:r>
              <a:rPr lang="en-US" altLang="en-US" dirty="0" err="1" smtClean="0"/>
              <a:t>Đặt</a:t>
            </a:r>
            <a:r>
              <a:rPr lang="en-US" altLang="en-US" dirty="0" smtClean="0"/>
              <a:t> </a:t>
            </a:r>
            <a:r>
              <a:rPr lang="en-US" altLang="en-US" dirty="0" err="1"/>
              <a:t>vấn</a:t>
            </a:r>
            <a:r>
              <a:rPr lang="en-US" altLang="en-US" dirty="0"/>
              <a:t> </a:t>
            </a:r>
            <a:r>
              <a:rPr lang="en-US" altLang="en-US" dirty="0" err="1"/>
              <a:t>đề</a:t>
            </a:r>
            <a:endParaRPr lang="en-US" altLang="en-US" dirty="0" smtClean="0"/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400" dirty="0" err="1" smtClean="0"/>
              <a:t>Phân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loại</a:t>
            </a:r>
            <a:r>
              <a:rPr lang="en-US" altLang="en-US" sz="2400" dirty="0" smtClean="0"/>
              <a:t>: </a:t>
            </a:r>
          </a:p>
          <a:p>
            <a:pPr lvl="1" eaLnBrk="1" hangingPunct="1"/>
            <a:r>
              <a:rPr lang="en-US" altLang="en-US" sz="2400" b="1" dirty="0" err="1" smtClean="0"/>
              <a:t>Giải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 smtClean="0"/>
              <a:t>thuật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 smtClean="0"/>
              <a:t>sắp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 smtClean="0"/>
              <a:t>xếp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 smtClean="0"/>
              <a:t>cơ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 smtClean="0"/>
              <a:t>bản</a:t>
            </a:r>
            <a:r>
              <a:rPr lang="en-US" altLang="en-US" sz="2400" dirty="0" smtClean="0"/>
              <a:t>: </a:t>
            </a:r>
          </a:p>
          <a:p>
            <a:pPr lvl="2"/>
            <a:r>
              <a:rPr lang="en-US" altLang="en-US" sz="2000" dirty="0" smtClean="0"/>
              <a:t>Ở </a:t>
            </a:r>
            <a:r>
              <a:rPr lang="en-US" altLang="en-US" sz="2000" dirty="0" err="1" smtClean="0"/>
              <a:t>mỗi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bước</a:t>
            </a:r>
            <a:r>
              <a:rPr lang="en-US" altLang="en-US" sz="2000" dirty="0" smtClean="0"/>
              <a:t>, </a:t>
            </a:r>
            <a:r>
              <a:rPr lang="en-US" altLang="en-US" sz="2000" dirty="0" err="1" smtClean="0"/>
              <a:t>đưa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từng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phần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tử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của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dãy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cần</a:t>
            </a:r>
            <a:r>
              <a:rPr lang="en-US" altLang="en-US" sz="2000" dirty="0" smtClean="0"/>
              <a:t> SX </a:t>
            </a:r>
            <a:r>
              <a:rPr lang="en-US" altLang="en-US" sz="2000" dirty="0" err="1" smtClean="0"/>
              <a:t>vào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đúng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vị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trí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của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nó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trong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dãy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kết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quả</a:t>
            </a:r>
            <a:endParaRPr lang="en-US" altLang="en-US" sz="2000" dirty="0" smtClean="0"/>
          </a:p>
          <a:p>
            <a:pPr lvl="2"/>
            <a:r>
              <a:rPr lang="en-US" altLang="en-US" sz="2000" dirty="0" err="1" smtClean="0"/>
              <a:t>Không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cần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quan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tâm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đến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vị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trí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của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các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phần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tử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khác</a:t>
            </a:r>
            <a:endParaRPr lang="en-US" altLang="en-US" sz="1800" dirty="0" smtClean="0"/>
          </a:p>
          <a:p>
            <a:pPr lvl="1"/>
            <a:r>
              <a:rPr lang="en-US" altLang="en-US" sz="2400" b="1" dirty="0" err="1"/>
              <a:t>Giải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thuật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sắp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xếp</a:t>
            </a:r>
            <a:r>
              <a:rPr lang="en-US" altLang="en-US" sz="2400" b="1" dirty="0"/>
              <a:t> </a:t>
            </a:r>
            <a:r>
              <a:rPr lang="en-US" altLang="en-US" sz="2400" b="1" dirty="0" err="1" smtClean="0"/>
              <a:t>nâng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 smtClean="0"/>
              <a:t>cao</a:t>
            </a:r>
            <a:r>
              <a:rPr lang="en-US" altLang="en-US" sz="2400" dirty="0" smtClean="0"/>
              <a:t>:</a:t>
            </a:r>
          </a:p>
          <a:p>
            <a:pPr lvl="2"/>
            <a:r>
              <a:rPr lang="en-US" altLang="en-US" sz="2000" dirty="0" smtClean="0"/>
              <a:t>Ở </a:t>
            </a:r>
            <a:r>
              <a:rPr lang="en-US" altLang="en-US" sz="2000" dirty="0" err="1" smtClean="0"/>
              <a:t>mỗi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bước</a:t>
            </a:r>
            <a:r>
              <a:rPr lang="en-US" altLang="en-US" sz="2000" dirty="0" smtClean="0"/>
              <a:t>, </a:t>
            </a:r>
            <a:r>
              <a:rPr lang="en-US" altLang="en-US" sz="2000" dirty="0" err="1" smtClean="0"/>
              <a:t>đưa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từng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phần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tử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vào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đúng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vị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trí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của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nó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trong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dãy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kết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quả</a:t>
            </a:r>
            <a:r>
              <a:rPr lang="en-US" altLang="en-US" sz="2000" dirty="0" smtClean="0"/>
              <a:t>, </a:t>
            </a:r>
            <a:r>
              <a:rPr lang="en-US" altLang="en-US" sz="2000" dirty="0" err="1" smtClean="0"/>
              <a:t>đồng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thời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kết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hợp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bố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trí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hợp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lý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các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phần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tử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còn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lại</a:t>
            </a:r>
            <a:r>
              <a:rPr lang="en-US" altLang="en-US" sz="2000" dirty="0" smtClean="0"/>
              <a:t>, </a:t>
            </a:r>
            <a:r>
              <a:rPr lang="en-US" altLang="en-US" sz="2000" dirty="0" err="1" smtClean="0"/>
              <a:t>nhằm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giảm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thiểu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số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thao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tác</a:t>
            </a:r>
            <a:r>
              <a:rPr lang="en-US" altLang="en-US" sz="2000" dirty="0" smtClean="0"/>
              <a:t> ở </a:t>
            </a:r>
            <a:r>
              <a:rPr lang="en-US" altLang="en-US" sz="2000" dirty="0" err="1" smtClean="0"/>
              <a:t>những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bước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sau</a:t>
            </a:r>
            <a:r>
              <a:rPr lang="en-US" altLang="en-US" sz="2000" dirty="0" smtClean="0"/>
              <a:t> </a:t>
            </a:r>
          </a:p>
          <a:p>
            <a:pPr lvl="1"/>
            <a:r>
              <a:rPr lang="en-US" altLang="en-US" sz="2000" dirty="0" err="1" smtClean="0"/>
              <a:t>Các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Giải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thuật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sắp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xếp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nâng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cao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thường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chạy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nhanh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hơn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các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Giải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thuật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sắp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xếp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cơ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bản</a:t>
            </a:r>
            <a:r>
              <a:rPr lang="en-US" altLang="en-US" sz="2000" dirty="0" smtClean="0"/>
              <a:t>, </a:t>
            </a:r>
            <a:r>
              <a:rPr lang="en-US" altLang="en-US" sz="2000" dirty="0" err="1" smtClean="0"/>
              <a:t>nhưng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cũng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thường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phức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tạp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hơn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trong</a:t>
            </a:r>
            <a:r>
              <a:rPr lang="en-US" altLang="en-US" sz="2000" dirty="0" smtClean="0"/>
              <a:t> ý </a:t>
            </a:r>
            <a:r>
              <a:rPr lang="en-US" altLang="en-US" sz="2000" dirty="0" err="1" smtClean="0"/>
              <a:t>tưởng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giải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thuật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và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cài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đặt</a:t>
            </a:r>
            <a:r>
              <a:rPr lang="en-US" altLang="en-US" sz="2000" dirty="0" smtClean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398620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363DDD2-29BE-47F8-AE40-FAFFF03B8B9D}" type="slidenum">
              <a:rPr lang="en-US" altLang="en-US">
                <a:latin typeface="Garamond" panose="02020404030301010803" pitchFamily="18" charset="0"/>
              </a:rPr>
              <a:pPr eaLnBrk="1" hangingPunct="1"/>
              <a:t>7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1. </a:t>
            </a:r>
            <a:r>
              <a:rPr lang="en-US" altLang="en-US" dirty="0" err="1" smtClean="0"/>
              <a:t>Đặt</a:t>
            </a:r>
            <a:r>
              <a:rPr lang="en-US" altLang="en-US" dirty="0" smtClean="0"/>
              <a:t> </a:t>
            </a:r>
            <a:r>
              <a:rPr lang="en-US" altLang="en-US" dirty="0" err="1"/>
              <a:t>vấn</a:t>
            </a:r>
            <a:r>
              <a:rPr lang="en-US" altLang="en-US" dirty="0"/>
              <a:t> </a:t>
            </a:r>
            <a:r>
              <a:rPr lang="en-US" altLang="en-US" dirty="0" err="1"/>
              <a:t>đề</a:t>
            </a:r>
            <a:endParaRPr lang="en-US" altLang="en-US" dirty="0" smtClean="0"/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Phân</a:t>
            </a:r>
            <a:r>
              <a:rPr lang="en-US" sz="2400" dirty="0" smtClean="0"/>
              <a:t> </a:t>
            </a:r>
            <a:r>
              <a:rPr lang="en-US" sz="2400" dirty="0" err="1" smtClean="0"/>
              <a:t>loại</a:t>
            </a:r>
            <a:r>
              <a:rPr lang="en-US" sz="2400" dirty="0" smtClean="0"/>
              <a:t>:</a:t>
            </a:r>
          </a:p>
          <a:p>
            <a:pPr lvl="1"/>
            <a:r>
              <a:rPr lang="en-US" sz="2200" b="1" dirty="0" err="1" smtClean="0"/>
              <a:t>Sắp</a:t>
            </a:r>
            <a:r>
              <a:rPr lang="en-US" sz="2200" b="1" dirty="0" smtClean="0"/>
              <a:t> </a:t>
            </a:r>
            <a:r>
              <a:rPr lang="en-US" sz="2200" b="1" dirty="0" err="1"/>
              <a:t>xếp</a:t>
            </a:r>
            <a:r>
              <a:rPr lang="en-US" sz="2200" b="1" dirty="0"/>
              <a:t> </a:t>
            </a:r>
            <a:r>
              <a:rPr lang="en-US" sz="2200" b="1" dirty="0" err="1"/>
              <a:t>trong</a:t>
            </a:r>
            <a:r>
              <a:rPr lang="en-US" sz="2200" b="1" dirty="0"/>
              <a:t> </a:t>
            </a:r>
            <a:r>
              <a:rPr lang="en-US" sz="2200" dirty="0"/>
              <a:t>(Internal sorting): </a:t>
            </a:r>
            <a:r>
              <a:rPr lang="en-US" sz="2200" dirty="0" err="1"/>
              <a:t>Sắp</a:t>
            </a:r>
            <a:r>
              <a:rPr lang="en-US" sz="2200" dirty="0"/>
              <a:t> </a:t>
            </a:r>
            <a:r>
              <a:rPr lang="en-US" sz="2200" dirty="0" err="1"/>
              <a:t>xếp</a:t>
            </a:r>
            <a:r>
              <a:rPr lang="en-US" sz="2200" dirty="0"/>
              <a:t> </a:t>
            </a:r>
            <a:r>
              <a:rPr lang="en-US" sz="2200" dirty="0" err="1" smtClean="0"/>
              <a:t>dữ</a:t>
            </a:r>
            <a:r>
              <a:rPr lang="en-US" sz="2200" dirty="0" smtClean="0"/>
              <a:t> </a:t>
            </a:r>
            <a:r>
              <a:rPr lang="en-US" sz="2200" dirty="0" err="1" smtClean="0"/>
              <a:t>liệu</a:t>
            </a:r>
            <a:r>
              <a:rPr lang="en-US" sz="2200" dirty="0" smtClean="0"/>
              <a:t> </a:t>
            </a:r>
            <a:r>
              <a:rPr lang="en-US" sz="2200" dirty="0" err="1" smtClean="0"/>
              <a:t>lưu</a:t>
            </a:r>
            <a:r>
              <a:rPr lang="en-US" sz="2200" dirty="0" smtClean="0"/>
              <a:t> </a:t>
            </a:r>
            <a:r>
              <a:rPr lang="en-US" sz="2200" dirty="0" err="1" smtClean="0"/>
              <a:t>trữ</a:t>
            </a:r>
            <a:r>
              <a:rPr lang="en-US" sz="2200" dirty="0" smtClean="0"/>
              <a:t> </a:t>
            </a:r>
            <a:r>
              <a:rPr lang="en-US" sz="2200" dirty="0" err="1"/>
              <a:t>trong</a:t>
            </a:r>
            <a:r>
              <a:rPr lang="en-US" sz="2200" dirty="0"/>
              <a:t> </a:t>
            </a:r>
            <a:r>
              <a:rPr lang="en-US" sz="2200" dirty="0" err="1"/>
              <a:t>bộ</a:t>
            </a:r>
            <a:r>
              <a:rPr lang="en-US" sz="2200" dirty="0"/>
              <a:t> </a:t>
            </a:r>
            <a:r>
              <a:rPr lang="en-US" sz="2200" dirty="0" err="1"/>
              <a:t>nhớ</a:t>
            </a:r>
            <a:r>
              <a:rPr lang="en-US" sz="2200" dirty="0"/>
              <a:t> </a:t>
            </a:r>
            <a:r>
              <a:rPr lang="en-US" sz="2200" dirty="0" err="1"/>
              <a:t>máy</a:t>
            </a:r>
            <a:r>
              <a:rPr lang="en-US" sz="2200" dirty="0"/>
              <a:t> </a:t>
            </a:r>
            <a:r>
              <a:rPr lang="en-US" sz="2200" dirty="0" err="1"/>
              <a:t>tính</a:t>
            </a:r>
            <a:endParaRPr lang="en-US" sz="2200" dirty="0"/>
          </a:p>
          <a:p>
            <a:pPr lvl="1"/>
            <a:r>
              <a:rPr lang="en-US" sz="2200" b="1" dirty="0" err="1"/>
              <a:t>Sắp</a:t>
            </a:r>
            <a:r>
              <a:rPr lang="en-US" sz="2200" b="1" dirty="0"/>
              <a:t> </a:t>
            </a:r>
            <a:r>
              <a:rPr lang="en-US" sz="2200" b="1" dirty="0" err="1"/>
              <a:t>xếp</a:t>
            </a:r>
            <a:r>
              <a:rPr lang="en-US" sz="2200" b="1" dirty="0"/>
              <a:t> </a:t>
            </a:r>
            <a:r>
              <a:rPr lang="en-US" sz="2200" b="1" dirty="0" err="1"/>
              <a:t>ngoài</a:t>
            </a:r>
            <a:r>
              <a:rPr lang="en-US" sz="2200" b="1" dirty="0"/>
              <a:t> </a:t>
            </a:r>
            <a:r>
              <a:rPr lang="en-US" sz="2200" dirty="0"/>
              <a:t>(External sorting): </a:t>
            </a:r>
            <a:r>
              <a:rPr lang="en-US" sz="2200" dirty="0" err="1"/>
              <a:t>Sắp</a:t>
            </a:r>
            <a:r>
              <a:rPr lang="en-US" sz="2200" dirty="0"/>
              <a:t> </a:t>
            </a:r>
            <a:r>
              <a:rPr lang="en-US" sz="2200" dirty="0" err="1"/>
              <a:t>xếp</a:t>
            </a:r>
            <a:r>
              <a:rPr lang="en-US" sz="2200" dirty="0"/>
              <a:t> </a:t>
            </a:r>
            <a:r>
              <a:rPr lang="en-US" sz="2200" dirty="0" err="1" smtClean="0"/>
              <a:t>dữ</a:t>
            </a:r>
            <a:r>
              <a:rPr lang="en-US" sz="2200" dirty="0" smtClean="0"/>
              <a:t> </a:t>
            </a:r>
            <a:r>
              <a:rPr lang="en-US" sz="2200" dirty="0" err="1" smtClean="0"/>
              <a:t>liệu</a:t>
            </a:r>
            <a:r>
              <a:rPr lang="en-US" sz="2200" dirty="0" smtClean="0"/>
              <a:t> </a:t>
            </a:r>
            <a:r>
              <a:rPr lang="en-US" sz="2200" dirty="0" err="1" smtClean="0"/>
              <a:t>lưu</a:t>
            </a:r>
            <a:r>
              <a:rPr lang="en-US" sz="2200" dirty="0" smtClean="0"/>
              <a:t> </a:t>
            </a:r>
            <a:r>
              <a:rPr lang="en-US" sz="2200" dirty="0" err="1" smtClean="0"/>
              <a:t>trữ</a:t>
            </a:r>
            <a:r>
              <a:rPr lang="en-US" sz="2200" dirty="0" smtClean="0"/>
              <a:t> </a:t>
            </a:r>
            <a:r>
              <a:rPr lang="en-US" sz="2200" dirty="0" err="1" smtClean="0"/>
              <a:t>trong</a:t>
            </a:r>
            <a:r>
              <a:rPr lang="en-US" sz="2200" dirty="0" smtClean="0"/>
              <a:t> </a:t>
            </a:r>
            <a:r>
              <a:rPr lang="en-US" sz="2200" dirty="0"/>
              <a:t>file, </a:t>
            </a:r>
            <a:r>
              <a:rPr lang="en-US" sz="2200" dirty="0" err="1"/>
              <a:t>khi</a:t>
            </a:r>
            <a:r>
              <a:rPr lang="en-US" sz="2200" dirty="0"/>
              <a:t> </a:t>
            </a:r>
            <a:r>
              <a:rPr lang="en-US" sz="2200" dirty="0" err="1"/>
              <a:t>lượng</a:t>
            </a:r>
            <a:r>
              <a:rPr lang="en-US" sz="2200" dirty="0"/>
              <a:t> </a:t>
            </a:r>
            <a:r>
              <a:rPr lang="en-US" sz="2200" dirty="0" err="1"/>
              <a:t>dữ</a:t>
            </a:r>
            <a:r>
              <a:rPr lang="en-US" sz="2200" dirty="0"/>
              <a:t> </a:t>
            </a:r>
            <a:r>
              <a:rPr lang="en-US" sz="2200" dirty="0" err="1"/>
              <a:t>liệu</a:t>
            </a:r>
            <a:r>
              <a:rPr lang="en-US" sz="2200" dirty="0"/>
              <a:t> </a:t>
            </a:r>
            <a:r>
              <a:rPr lang="en-US" sz="2200" dirty="0" err="1"/>
              <a:t>lớn</a:t>
            </a:r>
            <a:r>
              <a:rPr lang="en-US" sz="2200" dirty="0"/>
              <a:t>, </a:t>
            </a:r>
            <a:r>
              <a:rPr lang="en-US" sz="2200" dirty="0" err="1"/>
              <a:t>không</a:t>
            </a:r>
            <a:r>
              <a:rPr lang="en-US" sz="2200" dirty="0"/>
              <a:t> </a:t>
            </a:r>
            <a:r>
              <a:rPr lang="en-US" sz="2200" dirty="0" err="1"/>
              <a:t>thể</a:t>
            </a:r>
            <a:r>
              <a:rPr lang="en-US" sz="2200" dirty="0"/>
              <a:t> </a:t>
            </a:r>
            <a:r>
              <a:rPr lang="en-US" sz="2200" dirty="0" err="1"/>
              <a:t>lưu</a:t>
            </a:r>
            <a:r>
              <a:rPr lang="en-US" sz="2200" dirty="0"/>
              <a:t> </a:t>
            </a:r>
            <a:r>
              <a:rPr lang="en-US" sz="2200" dirty="0" err="1"/>
              <a:t>trữ</a:t>
            </a:r>
            <a:r>
              <a:rPr lang="en-US" sz="2200" dirty="0"/>
              <a:t> </a:t>
            </a:r>
            <a:r>
              <a:rPr lang="en-US" sz="2200" dirty="0" err="1"/>
              <a:t>trong</a:t>
            </a:r>
            <a:r>
              <a:rPr lang="en-US" sz="2200" dirty="0"/>
              <a:t> </a:t>
            </a:r>
            <a:r>
              <a:rPr lang="en-US" sz="2200" dirty="0" err="1"/>
              <a:t>bộ</a:t>
            </a:r>
            <a:r>
              <a:rPr lang="en-US" sz="2200" dirty="0"/>
              <a:t> </a:t>
            </a:r>
            <a:r>
              <a:rPr lang="en-US" sz="2200" dirty="0" err="1"/>
              <a:t>nhớ</a:t>
            </a:r>
            <a:r>
              <a:rPr lang="en-US" sz="2200" dirty="0"/>
              <a:t> </a:t>
            </a:r>
            <a:r>
              <a:rPr lang="en-US" sz="2200" dirty="0" err="1"/>
              <a:t>trong</a:t>
            </a:r>
            <a:endParaRPr lang="en-US" altLang="en-US" sz="22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971800"/>
            <a:ext cx="6223879" cy="322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291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363DDD2-29BE-47F8-AE40-FAFFF03B8B9D}" type="slidenum">
              <a:rPr lang="en-US" altLang="en-US">
                <a:latin typeface="Garamond" panose="02020404030301010803" pitchFamily="18" charset="0"/>
              </a:rPr>
              <a:pPr eaLnBrk="1" hangingPunct="1"/>
              <a:t>8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1. </a:t>
            </a:r>
            <a:r>
              <a:rPr lang="en-US" altLang="en-US" dirty="0" err="1" smtClean="0"/>
              <a:t>Đặt</a:t>
            </a:r>
            <a:r>
              <a:rPr lang="en-US" altLang="en-US" dirty="0" smtClean="0"/>
              <a:t> </a:t>
            </a:r>
            <a:r>
              <a:rPr lang="en-US" altLang="en-US" dirty="0" err="1"/>
              <a:t>vấn</a:t>
            </a:r>
            <a:r>
              <a:rPr lang="en-US" altLang="en-US" dirty="0"/>
              <a:t> </a:t>
            </a:r>
            <a:r>
              <a:rPr lang="en-US" altLang="en-US" dirty="0" err="1"/>
              <a:t>đề</a:t>
            </a:r>
            <a:endParaRPr lang="en-US" altLang="en-US" dirty="0" smtClean="0"/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Phân</a:t>
            </a:r>
            <a:r>
              <a:rPr lang="en-US" sz="2400" dirty="0" smtClean="0"/>
              <a:t> </a:t>
            </a:r>
            <a:r>
              <a:rPr lang="en-US" sz="2400" dirty="0" err="1" smtClean="0"/>
              <a:t>loại</a:t>
            </a:r>
            <a:r>
              <a:rPr lang="en-US" sz="2400" dirty="0" smtClean="0"/>
              <a:t>:</a:t>
            </a:r>
          </a:p>
          <a:p>
            <a:pPr lvl="1"/>
            <a:r>
              <a:rPr lang="en-US" altLang="en-US" sz="2200" b="1" dirty="0" err="1" smtClean="0"/>
              <a:t>Sắp</a:t>
            </a:r>
            <a:r>
              <a:rPr lang="en-US" altLang="en-US" sz="2200" b="1" dirty="0" smtClean="0"/>
              <a:t> </a:t>
            </a:r>
            <a:r>
              <a:rPr lang="en-US" altLang="en-US" sz="2200" b="1" dirty="0" err="1" smtClean="0"/>
              <a:t>xếp</a:t>
            </a:r>
            <a:r>
              <a:rPr lang="en-US" altLang="en-US" sz="2200" b="1" dirty="0" smtClean="0"/>
              <a:t> </a:t>
            </a:r>
            <a:r>
              <a:rPr lang="en-US" altLang="en-US" sz="2200" b="1" dirty="0" err="1" smtClean="0"/>
              <a:t>nhiều</a:t>
            </a:r>
            <a:r>
              <a:rPr lang="en-US" altLang="en-US" sz="2200" b="1" dirty="0" smtClean="0"/>
              <a:t> </a:t>
            </a:r>
            <a:r>
              <a:rPr lang="en-US" altLang="en-US" sz="2200" b="1" dirty="0" err="1" smtClean="0"/>
              <a:t>khóa</a:t>
            </a:r>
            <a:r>
              <a:rPr lang="en-US" altLang="en-US" sz="2200" dirty="0" smtClean="0"/>
              <a:t>: </a:t>
            </a:r>
            <a:r>
              <a:rPr lang="en-US" altLang="en-US" sz="2200" dirty="0" err="1" smtClean="0"/>
              <a:t>Trong</a:t>
            </a:r>
            <a:r>
              <a:rPr lang="en-US" altLang="en-US" sz="2200" dirty="0"/>
              <a:t> </a:t>
            </a:r>
            <a:r>
              <a:rPr lang="en-US" altLang="en-US" sz="2200" dirty="0" err="1" smtClean="0"/>
              <a:t>ứng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dụng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thực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tế</a:t>
            </a:r>
            <a:r>
              <a:rPr lang="en-US" altLang="en-US" sz="2200" dirty="0" smtClean="0"/>
              <a:t>, </a:t>
            </a:r>
            <a:r>
              <a:rPr lang="en-US" altLang="en-US" sz="2200" dirty="0" err="1" smtClean="0"/>
              <a:t>dựa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trên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một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khóa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không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đủ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để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phân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biệt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dữ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liệu</a:t>
            </a:r>
            <a:r>
              <a:rPr lang="en-US" altLang="en-US" sz="2200" dirty="0" smtClean="0"/>
              <a:t>/</a:t>
            </a:r>
            <a:r>
              <a:rPr lang="en-US" altLang="en-US" sz="2200" dirty="0" err="1" smtClean="0"/>
              <a:t>bản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ghi</a:t>
            </a:r>
            <a:r>
              <a:rPr lang="en-US" altLang="en-US" sz="2200" dirty="0"/>
              <a:t> </a:t>
            </a:r>
            <a:r>
              <a:rPr lang="en-US" altLang="en-US" sz="2200" dirty="0" smtClean="0"/>
              <a:t>-&gt; </a:t>
            </a:r>
            <a:r>
              <a:rPr lang="en-US" altLang="en-US" sz="2200" dirty="0" err="1" smtClean="0"/>
              <a:t>cần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sử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dụng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thông</a:t>
            </a:r>
            <a:r>
              <a:rPr lang="en-US" altLang="en-US" sz="2200" dirty="0" smtClean="0"/>
              <a:t> tin </a:t>
            </a:r>
            <a:r>
              <a:rPr lang="en-US" altLang="en-US" sz="2200" dirty="0" err="1" smtClean="0"/>
              <a:t>từ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nhiều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khóa</a:t>
            </a:r>
            <a:endParaRPr lang="en-US" altLang="en-US" sz="2200" dirty="0" smtClean="0"/>
          </a:p>
          <a:p>
            <a:pPr lvl="1"/>
            <a:r>
              <a:rPr lang="en-US" altLang="en-US" sz="2200" dirty="0" err="1" smtClean="0"/>
              <a:t>Có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thể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sắp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xếp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dựa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trên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khóa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chính</a:t>
            </a:r>
            <a:r>
              <a:rPr lang="en-US" altLang="en-US" sz="2200" dirty="0" smtClean="0"/>
              <a:t>, </a:t>
            </a:r>
            <a:r>
              <a:rPr lang="en-US" altLang="en-US" sz="2200" dirty="0" err="1" smtClean="0"/>
              <a:t>rồi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đến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khóa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phụ</a:t>
            </a:r>
            <a:r>
              <a:rPr lang="en-US" altLang="en-US" sz="2200" dirty="0" smtClean="0"/>
              <a:t> 1, 2, v.v.</a:t>
            </a:r>
            <a:endParaRPr lang="en-US" altLang="en-US" sz="2200" dirty="0"/>
          </a:p>
          <a:p>
            <a:pPr lvl="1"/>
            <a:endParaRPr lang="en-US" altLang="en-US" sz="2200" dirty="0" smtClean="0"/>
          </a:p>
        </p:txBody>
      </p:sp>
      <p:pic>
        <p:nvPicPr>
          <p:cNvPr id="8" name="Picture 2" descr="Sorting playing cards using stable sort.svg">
            <a:extLst>
              <a:ext uri="{FF2B5EF4-FFF2-40B4-BE49-F238E27FC236}">
                <a16:creationId xmlns:a16="http://schemas.microsoft.com/office/drawing/2014/main" id="{9CC1F53B-A292-4F7E-873B-36B11ECDD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667000"/>
            <a:ext cx="5181600" cy="3248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3336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1485689-540E-41B5-B3BF-B370DC79053B}" type="slidenum">
              <a:rPr lang="en-US" altLang="en-US">
                <a:latin typeface="Garamond" panose="02020404030301010803" pitchFamily="18" charset="0"/>
              </a:rPr>
              <a:pPr eaLnBrk="1" hangingPunct="1"/>
              <a:t>9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2. </a:t>
            </a:r>
            <a:r>
              <a:rPr lang="en-US" altLang="en-US" dirty="0" err="1" smtClean="0"/>
              <a:t>Các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giải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thuật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sắp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xếp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cơ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bản</a:t>
            </a:r>
            <a:endParaRPr lang="en-US" altLang="en-US" dirty="0" smtClean="0"/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400" dirty="0" err="1" smtClean="0"/>
              <a:t>Sắp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xếp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chọn</a:t>
            </a:r>
            <a:endParaRPr lang="en-US" altLang="en-US" sz="2400" dirty="0" smtClean="0"/>
          </a:p>
          <a:p>
            <a:pPr eaLnBrk="1" hangingPunct="1"/>
            <a:r>
              <a:rPr lang="en-US" altLang="en-US" sz="2400" dirty="0" err="1" smtClean="0"/>
              <a:t>Sắp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xếp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nổi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bọt</a:t>
            </a:r>
            <a:endParaRPr lang="en-US" altLang="en-US" sz="2400" dirty="0" smtClean="0"/>
          </a:p>
          <a:p>
            <a:pPr eaLnBrk="1" hangingPunct="1"/>
            <a:r>
              <a:rPr lang="en-US" altLang="en-US" sz="2400" dirty="0" err="1" smtClean="0"/>
              <a:t>Sắp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xếp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chèn</a:t>
            </a:r>
            <a:endParaRPr lang="en-US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599655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E60D449-DAF0-4714-9000-97EE32F8E2E4}" type="slidenum">
              <a:rPr lang="en-US" altLang="en-US">
                <a:latin typeface="Garamond" panose="02020404030301010803" pitchFamily="18" charset="0"/>
              </a:rPr>
              <a:pPr eaLnBrk="1" hangingPunct="1"/>
              <a:t>10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2.1 </a:t>
            </a:r>
            <a:r>
              <a:rPr lang="en-US" altLang="en-US" dirty="0" err="1" smtClean="0"/>
              <a:t>Sắp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xếp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chọn</a:t>
            </a:r>
            <a:r>
              <a:rPr lang="en-US" altLang="en-US" dirty="0" smtClean="0"/>
              <a:t> (</a:t>
            </a:r>
            <a:r>
              <a:rPr lang="en-US" i="1" dirty="0"/>
              <a:t>Selection sort</a:t>
            </a:r>
            <a:r>
              <a:rPr lang="en-US" altLang="en-US" dirty="0" smtClean="0"/>
              <a:t>)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smtClean="0"/>
              <a:t>Ý </a:t>
            </a:r>
            <a:r>
              <a:rPr lang="en-US" altLang="en-US" sz="2400" dirty="0" err="1" smtClean="0"/>
              <a:t>tưởng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giải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thuật</a:t>
            </a:r>
            <a:endParaRPr lang="en-US" altLang="en-US" sz="2400" dirty="0" smtClean="0"/>
          </a:p>
          <a:p>
            <a:pPr lvl="1" eaLnBrk="1" hangingPunct="1"/>
            <a:r>
              <a:rPr lang="en-US" altLang="en-US" sz="2400" dirty="0" err="1" smtClean="0"/>
              <a:t>Đầu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vào</a:t>
            </a:r>
            <a:r>
              <a:rPr lang="en-US" altLang="en-US" sz="2400" dirty="0" smtClean="0"/>
              <a:t>: </a:t>
            </a:r>
            <a:r>
              <a:rPr lang="en-US" altLang="en-US" sz="2400" dirty="0" err="1" smtClean="0"/>
              <a:t>dãy</a:t>
            </a:r>
            <a:r>
              <a:rPr lang="en-US" altLang="en-US" sz="2400" dirty="0" smtClean="0"/>
              <a:t> N </a:t>
            </a:r>
            <a:r>
              <a:rPr lang="en-US" altLang="en-US" sz="2400" dirty="0" err="1" smtClean="0"/>
              <a:t>số</a:t>
            </a:r>
            <a:r>
              <a:rPr lang="en-US" altLang="en-US" sz="2400" dirty="0" smtClean="0"/>
              <a:t> </a:t>
            </a:r>
            <a:r>
              <a:rPr lang="en-US" altLang="en-US" sz="2400" i="1" dirty="0" smtClean="0"/>
              <a:t>a1,a2,…,</a:t>
            </a:r>
            <a:r>
              <a:rPr lang="en-US" altLang="en-US" sz="2400" i="1" dirty="0" err="1" smtClean="0"/>
              <a:t>aN</a:t>
            </a:r>
            <a:endParaRPr lang="en-US" altLang="en-US" sz="2400" i="1" dirty="0" smtClean="0"/>
          </a:p>
          <a:p>
            <a:pPr lvl="1" eaLnBrk="1" hangingPunct="1"/>
            <a:r>
              <a:rPr lang="en-US" altLang="en-US" sz="2400" dirty="0" err="1" smtClean="0"/>
              <a:t>Đầu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ra</a:t>
            </a:r>
            <a:r>
              <a:rPr lang="en-US" altLang="en-US" sz="2400" dirty="0" smtClean="0"/>
              <a:t>: </a:t>
            </a:r>
            <a:r>
              <a:rPr lang="en-US" altLang="en-US" sz="2400" dirty="0" err="1" smtClean="0"/>
              <a:t>dãy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vào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đã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được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sx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theo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chiều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tăng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dần</a:t>
            </a:r>
            <a:endParaRPr lang="en-US" altLang="en-US" sz="2400" dirty="0" smtClean="0"/>
          </a:p>
          <a:p>
            <a:pPr lvl="1" eaLnBrk="1" hangingPunct="1"/>
            <a:r>
              <a:rPr lang="en-US" altLang="en-US" sz="2400" dirty="0" err="1" smtClean="0"/>
              <a:t>Giải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thuật</a:t>
            </a:r>
            <a:r>
              <a:rPr lang="en-US" altLang="en-US" sz="2400" dirty="0" smtClean="0"/>
              <a:t>:</a:t>
            </a:r>
          </a:p>
          <a:p>
            <a:pPr lvl="2" eaLnBrk="1" hangingPunct="1"/>
            <a:r>
              <a:rPr lang="en-US" altLang="en-US" sz="2200" dirty="0" smtClean="0"/>
              <a:t>GT </a:t>
            </a:r>
            <a:r>
              <a:rPr lang="en-US" altLang="en-US" sz="2200" dirty="0" err="1" smtClean="0"/>
              <a:t>thực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hiện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trong</a:t>
            </a:r>
            <a:r>
              <a:rPr lang="en-US" altLang="en-US" sz="2200" dirty="0" smtClean="0"/>
              <a:t> N-1 </a:t>
            </a:r>
            <a:r>
              <a:rPr lang="en-US" altLang="en-US" sz="2200" dirty="0" err="1" smtClean="0"/>
              <a:t>bước</a:t>
            </a:r>
            <a:r>
              <a:rPr lang="en-US" altLang="en-US" sz="2200" dirty="0" smtClean="0"/>
              <a:t>, </a:t>
            </a:r>
            <a:r>
              <a:rPr lang="en-US" altLang="en-US" sz="2200" dirty="0" err="1" smtClean="0"/>
              <a:t>đánh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số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các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bước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i</a:t>
            </a:r>
            <a:r>
              <a:rPr lang="en-US" altLang="en-US" sz="2200" dirty="0" smtClean="0"/>
              <a:t>=1,2,…,N-1</a:t>
            </a:r>
          </a:p>
          <a:p>
            <a:pPr lvl="2" eaLnBrk="1" hangingPunct="1"/>
            <a:r>
              <a:rPr lang="en-US" altLang="en-US" sz="2200" dirty="0" smtClean="0"/>
              <a:t>Ở </a:t>
            </a:r>
            <a:r>
              <a:rPr lang="en-US" altLang="en-US" sz="2200" dirty="0" err="1" smtClean="0"/>
              <a:t>bước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thứ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i</a:t>
            </a:r>
            <a:r>
              <a:rPr lang="en-US" altLang="en-US" sz="2200" dirty="0" smtClean="0"/>
              <a:t>, </a:t>
            </a:r>
            <a:r>
              <a:rPr lang="en-US" altLang="en-US" sz="2200" dirty="0" err="1" smtClean="0"/>
              <a:t>tìm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số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nhỏ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thứ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i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rồi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đưa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nó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vào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vị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trí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thứ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i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trong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dãy</a:t>
            </a:r>
            <a:r>
              <a:rPr lang="en-US" altLang="en-US" sz="2200" dirty="0" smtClean="0"/>
              <a:t>.</a:t>
            </a:r>
          </a:p>
          <a:p>
            <a:pPr lvl="1"/>
            <a:r>
              <a:rPr lang="vi-VN" sz="2400" dirty="0"/>
              <a:t>Sau lượt thứ </a:t>
            </a:r>
            <a:r>
              <a:rPr lang="vi-VN" sz="2400" dirty="0" smtClean="0"/>
              <a:t>i, </a:t>
            </a:r>
            <a:r>
              <a:rPr lang="vi-VN" sz="2400" dirty="0"/>
              <a:t>dãy cần sắp coi như </a:t>
            </a:r>
            <a:r>
              <a:rPr lang="vi-VN" sz="2400" dirty="0" smtClean="0"/>
              <a:t>được</a:t>
            </a:r>
            <a:r>
              <a:rPr lang="en-US" sz="2400" dirty="0" smtClean="0"/>
              <a:t> </a:t>
            </a:r>
            <a:r>
              <a:rPr lang="vi-VN" sz="2400" dirty="0" smtClean="0"/>
              <a:t>chia </a:t>
            </a:r>
            <a:r>
              <a:rPr lang="vi-VN" sz="2400" dirty="0"/>
              <a:t>thành 2 </a:t>
            </a:r>
            <a:r>
              <a:rPr lang="vi-VN" sz="2400" dirty="0" smtClean="0"/>
              <a:t>phần</a:t>
            </a:r>
            <a:r>
              <a:rPr lang="en-US" sz="2400" dirty="0" smtClean="0"/>
              <a:t>:</a:t>
            </a:r>
            <a:r>
              <a:rPr lang="vi-VN" sz="2400" dirty="0"/>
              <a:t/>
            </a:r>
            <a:br>
              <a:rPr lang="vi-VN" sz="2400" dirty="0"/>
            </a:br>
            <a:r>
              <a:rPr lang="vi-VN" sz="2400" dirty="0"/>
              <a:t>– Phần đã sắp: từ vị trí 1 đến i</a:t>
            </a:r>
            <a:br>
              <a:rPr lang="vi-VN" sz="2400" dirty="0"/>
            </a:br>
            <a:r>
              <a:rPr lang="vi-VN" sz="2400" dirty="0"/>
              <a:t>– Phần chưa sắp: từ vị trí i +1 đến n</a:t>
            </a:r>
            <a:endParaRPr lang="en-US" altLang="en-US" sz="2400" dirty="0" smtClean="0"/>
          </a:p>
          <a:p>
            <a:pPr lvl="2"/>
            <a:r>
              <a:rPr lang="en-US" altLang="en-US" sz="2200" dirty="0" smtClean="0"/>
              <a:t>Ở </a:t>
            </a:r>
            <a:r>
              <a:rPr lang="en-US" altLang="en-US" sz="2200" dirty="0" err="1"/>
              <a:t>bước</a:t>
            </a:r>
            <a:r>
              <a:rPr lang="en-US" altLang="en-US" sz="2200" dirty="0"/>
              <a:t> </a:t>
            </a:r>
            <a:r>
              <a:rPr lang="en-US" altLang="en-US" sz="2200" dirty="0" err="1"/>
              <a:t>thứ</a:t>
            </a:r>
            <a:r>
              <a:rPr lang="en-US" altLang="en-US" sz="2200" dirty="0"/>
              <a:t> </a:t>
            </a:r>
            <a:r>
              <a:rPr lang="en-US" altLang="en-US" sz="2200" dirty="0" err="1"/>
              <a:t>i</a:t>
            </a:r>
            <a:r>
              <a:rPr lang="en-US" altLang="en-US" sz="2200" dirty="0"/>
              <a:t>, </a:t>
            </a:r>
            <a:r>
              <a:rPr lang="vi-VN" altLang="en-US" sz="2200" dirty="0"/>
              <a:t>chọn phần tử nhỏ nhất trong số các phần tử chưa được </a:t>
            </a:r>
            <a:r>
              <a:rPr lang="vi-VN" altLang="en-US" sz="2200" dirty="0" smtClean="0"/>
              <a:t>sắp</a:t>
            </a:r>
            <a:r>
              <a:rPr lang="en-US" altLang="en-US" sz="2200" dirty="0" smtClean="0"/>
              <a:t>, đ</a:t>
            </a:r>
            <a:r>
              <a:rPr lang="vi-VN" altLang="en-US" sz="2200" dirty="0" smtClean="0"/>
              <a:t>ưa </a:t>
            </a:r>
            <a:r>
              <a:rPr lang="vi-VN" altLang="en-US" sz="2200" dirty="0"/>
              <a:t>phần tử được chọn vào vị trí đúng bằng phép đổi chỗ</a:t>
            </a:r>
            <a:endParaRPr lang="en-US" alt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3345876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373A463-B0B8-49A6-8597-A8C8E147A83E}" type="slidenum">
              <a:rPr lang="en-US" altLang="en-US">
                <a:latin typeface="Garamond" panose="02020404030301010803" pitchFamily="18" charset="0"/>
              </a:rPr>
              <a:pPr eaLnBrk="1" hangingPunct="1"/>
              <a:t>11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2.1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 smtClean="0"/>
              <a:t>chọn</a:t>
            </a:r>
            <a:endParaRPr lang="en-US" altLang="en-US" dirty="0" smtClean="0"/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vi-VN" sz="2400" dirty="0"/>
              <a:t>Minh họa: Cho dãy số với N = 7</a:t>
            </a:r>
          </a:p>
        </p:txBody>
      </p:sp>
      <p:sp>
        <p:nvSpPr>
          <p:cNvPr id="10247" name="Rectangle 4"/>
          <p:cNvSpPr>
            <a:spLocks noChangeArrowheads="1"/>
          </p:cNvSpPr>
          <p:nvPr/>
        </p:nvSpPr>
        <p:spPr bwMode="auto">
          <a:xfrm>
            <a:off x="2895600" y="18288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3</a:t>
            </a:r>
          </a:p>
        </p:txBody>
      </p:sp>
      <p:sp>
        <p:nvSpPr>
          <p:cNvPr id="10248" name="Rectangle 5"/>
          <p:cNvSpPr>
            <a:spLocks noChangeArrowheads="1"/>
          </p:cNvSpPr>
          <p:nvPr/>
        </p:nvSpPr>
        <p:spPr bwMode="auto">
          <a:xfrm>
            <a:off x="3352800" y="18288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2</a:t>
            </a:r>
          </a:p>
        </p:txBody>
      </p:sp>
      <p:sp>
        <p:nvSpPr>
          <p:cNvPr id="10249" name="Rectangle 6"/>
          <p:cNvSpPr>
            <a:spLocks noChangeArrowheads="1"/>
          </p:cNvSpPr>
          <p:nvPr/>
        </p:nvSpPr>
        <p:spPr bwMode="auto">
          <a:xfrm>
            <a:off x="3810000" y="18288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4</a:t>
            </a:r>
          </a:p>
        </p:txBody>
      </p:sp>
      <p:sp>
        <p:nvSpPr>
          <p:cNvPr id="10250" name="Rectangle 7"/>
          <p:cNvSpPr>
            <a:spLocks noChangeArrowheads="1"/>
          </p:cNvSpPr>
          <p:nvPr/>
        </p:nvSpPr>
        <p:spPr bwMode="auto">
          <a:xfrm>
            <a:off x="4267200" y="18288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5</a:t>
            </a:r>
          </a:p>
        </p:txBody>
      </p:sp>
      <p:sp>
        <p:nvSpPr>
          <p:cNvPr id="10251" name="Rectangle 8"/>
          <p:cNvSpPr>
            <a:spLocks noChangeArrowheads="1"/>
          </p:cNvSpPr>
          <p:nvPr/>
        </p:nvSpPr>
        <p:spPr bwMode="auto">
          <a:xfrm>
            <a:off x="4724400" y="18288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</a:t>
            </a:r>
          </a:p>
        </p:txBody>
      </p:sp>
      <p:sp>
        <p:nvSpPr>
          <p:cNvPr id="10252" name="Rectangle 9"/>
          <p:cNvSpPr>
            <a:spLocks noChangeArrowheads="1"/>
          </p:cNvSpPr>
          <p:nvPr/>
        </p:nvSpPr>
        <p:spPr bwMode="auto">
          <a:xfrm>
            <a:off x="5181600" y="18288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7</a:t>
            </a:r>
          </a:p>
        </p:txBody>
      </p:sp>
      <p:sp>
        <p:nvSpPr>
          <p:cNvPr id="10253" name="Rectangle 10"/>
          <p:cNvSpPr>
            <a:spLocks noChangeArrowheads="1"/>
          </p:cNvSpPr>
          <p:nvPr/>
        </p:nvSpPr>
        <p:spPr bwMode="auto">
          <a:xfrm>
            <a:off x="5638800" y="18288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6</a:t>
            </a:r>
          </a:p>
        </p:txBody>
      </p:sp>
      <p:sp>
        <p:nvSpPr>
          <p:cNvPr id="10254" name="Rectangle 11"/>
          <p:cNvSpPr>
            <a:spLocks noChangeArrowheads="1"/>
          </p:cNvSpPr>
          <p:nvPr/>
        </p:nvSpPr>
        <p:spPr bwMode="auto">
          <a:xfrm>
            <a:off x="2895600" y="24384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10255" name="Rectangle 12"/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2</a:t>
            </a:r>
          </a:p>
        </p:txBody>
      </p:sp>
      <p:sp>
        <p:nvSpPr>
          <p:cNvPr id="10256" name="Rectangle 13"/>
          <p:cNvSpPr>
            <a:spLocks noChangeArrowheads="1"/>
          </p:cNvSpPr>
          <p:nvPr/>
        </p:nvSpPr>
        <p:spPr bwMode="auto">
          <a:xfrm>
            <a:off x="3810000" y="2438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4</a:t>
            </a:r>
          </a:p>
        </p:txBody>
      </p:sp>
      <p:sp>
        <p:nvSpPr>
          <p:cNvPr id="10257" name="Rectangle 14"/>
          <p:cNvSpPr>
            <a:spLocks noChangeArrowheads="1"/>
          </p:cNvSpPr>
          <p:nvPr/>
        </p:nvSpPr>
        <p:spPr bwMode="auto">
          <a:xfrm>
            <a:off x="4267200" y="2438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5</a:t>
            </a:r>
          </a:p>
        </p:txBody>
      </p:sp>
      <p:sp>
        <p:nvSpPr>
          <p:cNvPr id="10258" name="Rectangle 15"/>
          <p:cNvSpPr>
            <a:spLocks noChangeArrowheads="1"/>
          </p:cNvSpPr>
          <p:nvPr/>
        </p:nvSpPr>
        <p:spPr bwMode="auto">
          <a:xfrm>
            <a:off x="4724400" y="2438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u="sng"/>
              <a:t>3</a:t>
            </a:r>
          </a:p>
        </p:txBody>
      </p:sp>
      <p:sp>
        <p:nvSpPr>
          <p:cNvPr id="10259" name="Rectangle 16"/>
          <p:cNvSpPr>
            <a:spLocks noChangeArrowheads="1"/>
          </p:cNvSpPr>
          <p:nvPr/>
        </p:nvSpPr>
        <p:spPr bwMode="auto">
          <a:xfrm>
            <a:off x="5181600" y="2438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7</a:t>
            </a:r>
          </a:p>
        </p:txBody>
      </p:sp>
      <p:sp>
        <p:nvSpPr>
          <p:cNvPr id="10260" name="Rectangle 17"/>
          <p:cNvSpPr>
            <a:spLocks noChangeArrowheads="1"/>
          </p:cNvSpPr>
          <p:nvPr/>
        </p:nvSpPr>
        <p:spPr bwMode="auto">
          <a:xfrm>
            <a:off x="5638800" y="2438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6</a:t>
            </a:r>
          </a:p>
        </p:txBody>
      </p:sp>
      <p:sp>
        <p:nvSpPr>
          <p:cNvPr id="10261" name="Rectangle 18"/>
          <p:cNvSpPr>
            <a:spLocks noChangeArrowheads="1"/>
          </p:cNvSpPr>
          <p:nvPr/>
        </p:nvSpPr>
        <p:spPr bwMode="auto">
          <a:xfrm>
            <a:off x="2895600" y="29718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</a:t>
            </a:r>
          </a:p>
        </p:txBody>
      </p:sp>
      <p:sp>
        <p:nvSpPr>
          <p:cNvPr id="10262" name="Rectangle 19"/>
          <p:cNvSpPr>
            <a:spLocks noChangeArrowheads="1"/>
          </p:cNvSpPr>
          <p:nvPr/>
        </p:nvSpPr>
        <p:spPr bwMode="auto">
          <a:xfrm>
            <a:off x="3352800" y="29718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dirty="0"/>
              <a:t>2</a:t>
            </a:r>
          </a:p>
        </p:txBody>
      </p:sp>
      <p:sp>
        <p:nvSpPr>
          <p:cNvPr id="10263" name="Rectangle 20"/>
          <p:cNvSpPr>
            <a:spLocks noChangeArrowheads="1"/>
          </p:cNvSpPr>
          <p:nvPr/>
        </p:nvSpPr>
        <p:spPr bwMode="auto">
          <a:xfrm>
            <a:off x="3810000" y="29718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4</a:t>
            </a:r>
          </a:p>
        </p:txBody>
      </p:sp>
      <p:sp>
        <p:nvSpPr>
          <p:cNvPr id="10264" name="Rectangle 21"/>
          <p:cNvSpPr>
            <a:spLocks noChangeArrowheads="1"/>
          </p:cNvSpPr>
          <p:nvPr/>
        </p:nvSpPr>
        <p:spPr bwMode="auto">
          <a:xfrm>
            <a:off x="4267200" y="29718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5</a:t>
            </a:r>
          </a:p>
        </p:txBody>
      </p:sp>
      <p:sp>
        <p:nvSpPr>
          <p:cNvPr id="10265" name="Rectangle 22"/>
          <p:cNvSpPr>
            <a:spLocks noChangeArrowheads="1"/>
          </p:cNvSpPr>
          <p:nvPr/>
        </p:nvSpPr>
        <p:spPr bwMode="auto">
          <a:xfrm>
            <a:off x="4724400" y="29718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3</a:t>
            </a:r>
          </a:p>
        </p:txBody>
      </p:sp>
      <p:sp>
        <p:nvSpPr>
          <p:cNvPr id="10266" name="Rectangle 23"/>
          <p:cNvSpPr>
            <a:spLocks noChangeArrowheads="1"/>
          </p:cNvSpPr>
          <p:nvPr/>
        </p:nvSpPr>
        <p:spPr bwMode="auto">
          <a:xfrm>
            <a:off x="5181600" y="29718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7</a:t>
            </a:r>
          </a:p>
        </p:txBody>
      </p:sp>
      <p:sp>
        <p:nvSpPr>
          <p:cNvPr id="10267" name="Rectangle 24"/>
          <p:cNvSpPr>
            <a:spLocks noChangeArrowheads="1"/>
          </p:cNvSpPr>
          <p:nvPr/>
        </p:nvSpPr>
        <p:spPr bwMode="auto">
          <a:xfrm>
            <a:off x="5638800" y="29718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6</a:t>
            </a:r>
          </a:p>
        </p:txBody>
      </p:sp>
      <p:sp>
        <p:nvSpPr>
          <p:cNvPr id="10268" name="Rectangle 25"/>
          <p:cNvSpPr>
            <a:spLocks noChangeArrowheads="1"/>
          </p:cNvSpPr>
          <p:nvPr/>
        </p:nvSpPr>
        <p:spPr bwMode="auto">
          <a:xfrm>
            <a:off x="2895600" y="35052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</a:t>
            </a:r>
          </a:p>
        </p:txBody>
      </p:sp>
      <p:sp>
        <p:nvSpPr>
          <p:cNvPr id="10269" name="Rectangle 26"/>
          <p:cNvSpPr>
            <a:spLocks noChangeArrowheads="1"/>
          </p:cNvSpPr>
          <p:nvPr/>
        </p:nvSpPr>
        <p:spPr bwMode="auto">
          <a:xfrm>
            <a:off x="3352800" y="35052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2</a:t>
            </a:r>
          </a:p>
        </p:txBody>
      </p:sp>
      <p:sp>
        <p:nvSpPr>
          <p:cNvPr id="10270" name="Rectangle 27"/>
          <p:cNvSpPr>
            <a:spLocks noChangeArrowheads="1"/>
          </p:cNvSpPr>
          <p:nvPr/>
        </p:nvSpPr>
        <p:spPr bwMode="auto">
          <a:xfrm>
            <a:off x="3810000" y="35052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3</a:t>
            </a:r>
          </a:p>
        </p:txBody>
      </p:sp>
      <p:sp>
        <p:nvSpPr>
          <p:cNvPr id="10271" name="Rectangle 28"/>
          <p:cNvSpPr>
            <a:spLocks noChangeArrowheads="1"/>
          </p:cNvSpPr>
          <p:nvPr/>
        </p:nvSpPr>
        <p:spPr bwMode="auto">
          <a:xfrm>
            <a:off x="4267200" y="35052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5</a:t>
            </a:r>
          </a:p>
        </p:txBody>
      </p:sp>
      <p:sp>
        <p:nvSpPr>
          <p:cNvPr id="10272" name="Rectangle 29"/>
          <p:cNvSpPr>
            <a:spLocks noChangeArrowheads="1"/>
          </p:cNvSpPr>
          <p:nvPr/>
        </p:nvSpPr>
        <p:spPr bwMode="auto">
          <a:xfrm>
            <a:off x="4724400" y="35052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u="sng"/>
              <a:t>4</a:t>
            </a:r>
          </a:p>
        </p:txBody>
      </p:sp>
      <p:sp>
        <p:nvSpPr>
          <p:cNvPr id="10273" name="Rectangle 30"/>
          <p:cNvSpPr>
            <a:spLocks noChangeArrowheads="1"/>
          </p:cNvSpPr>
          <p:nvPr/>
        </p:nvSpPr>
        <p:spPr bwMode="auto">
          <a:xfrm>
            <a:off x="5181600" y="35052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7</a:t>
            </a:r>
          </a:p>
        </p:txBody>
      </p:sp>
      <p:sp>
        <p:nvSpPr>
          <p:cNvPr id="10274" name="Rectangle 31"/>
          <p:cNvSpPr>
            <a:spLocks noChangeArrowheads="1"/>
          </p:cNvSpPr>
          <p:nvPr/>
        </p:nvSpPr>
        <p:spPr bwMode="auto">
          <a:xfrm>
            <a:off x="5638800" y="35052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6</a:t>
            </a:r>
          </a:p>
        </p:txBody>
      </p:sp>
      <p:sp>
        <p:nvSpPr>
          <p:cNvPr id="10275" name="Rectangle 32"/>
          <p:cNvSpPr>
            <a:spLocks noChangeArrowheads="1"/>
          </p:cNvSpPr>
          <p:nvPr/>
        </p:nvSpPr>
        <p:spPr bwMode="auto">
          <a:xfrm>
            <a:off x="2895600" y="4038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</a:t>
            </a:r>
          </a:p>
        </p:txBody>
      </p:sp>
      <p:sp>
        <p:nvSpPr>
          <p:cNvPr id="10276" name="Rectangle 33"/>
          <p:cNvSpPr>
            <a:spLocks noChangeArrowheads="1"/>
          </p:cNvSpPr>
          <p:nvPr/>
        </p:nvSpPr>
        <p:spPr bwMode="auto">
          <a:xfrm>
            <a:off x="3352800" y="4038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2</a:t>
            </a:r>
          </a:p>
        </p:txBody>
      </p:sp>
      <p:sp>
        <p:nvSpPr>
          <p:cNvPr id="10277" name="Rectangle 34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3</a:t>
            </a:r>
          </a:p>
        </p:txBody>
      </p:sp>
      <p:sp>
        <p:nvSpPr>
          <p:cNvPr id="10278" name="Rectangle 35"/>
          <p:cNvSpPr>
            <a:spLocks noChangeArrowheads="1"/>
          </p:cNvSpPr>
          <p:nvPr/>
        </p:nvSpPr>
        <p:spPr bwMode="auto">
          <a:xfrm>
            <a:off x="4267200" y="40386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4</a:t>
            </a:r>
          </a:p>
        </p:txBody>
      </p:sp>
      <p:sp>
        <p:nvSpPr>
          <p:cNvPr id="10279" name="Rectangle 36"/>
          <p:cNvSpPr>
            <a:spLocks noChangeArrowheads="1"/>
          </p:cNvSpPr>
          <p:nvPr/>
        </p:nvSpPr>
        <p:spPr bwMode="auto">
          <a:xfrm>
            <a:off x="4724400" y="4038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u="sng"/>
              <a:t>5</a:t>
            </a:r>
          </a:p>
        </p:txBody>
      </p:sp>
      <p:sp>
        <p:nvSpPr>
          <p:cNvPr id="10280" name="Rectangle 37"/>
          <p:cNvSpPr>
            <a:spLocks noChangeArrowheads="1"/>
          </p:cNvSpPr>
          <p:nvPr/>
        </p:nvSpPr>
        <p:spPr bwMode="auto">
          <a:xfrm>
            <a:off x="5181600" y="4038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7</a:t>
            </a:r>
          </a:p>
        </p:txBody>
      </p:sp>
      <p:sp>
        <p:nvSpPr>
          <p:cNvPr id="10281" name="Rectangle 38"/>
          <p:cNvSpPr>
            <a:spLocks noChangeArrowheads="1"/>
          </p:cNvSpPr>
          <p:nvPr/>
        </p:nvSpPr>
        <p:spPr bwMode="auto">
          <a:xfrm>
            <a:off x="5638800" y="4038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6</a:t>
            </a:r>
          </a:p>
        </p:txBody>
      </p:sp>
      <p:sp>
        <p:nvSpPr>
          <p:cNvPr id="10282" name="Rectangle 39"/>
          <p:cNvSpPr>
            <a:spLocks noChangeArrowheads="1"/>
          </p:cNvSpPr>
          <p:nvPr/>
        </p:nvSpPr>
        <p:spPr bwMode="auto">
          <a:xfrm>
            <a:off x="2895600" y="45720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</a:t>
            </a:r>
          </a:p>
        </p:txBody>
      </p:sp>
      <p:sp>
        <p:nvSpPr>
          <p:cNvPr id="10283" name="Rectangle 40"/>
          <p:cNvSpPr>
            <a:spLocks noChangeArrowheads="1"/>
          </p:cNvSpPr>
          <p:nvPr/>
        </p:nvSpPr>
        <p:spPr bwMode="auto">
          <a:xfrm>
            <a:off x="3352800" y="45720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2</a:t>
            </a:r>
          </a:p>
        </p:txBody>
      </p:sp>
      <p:sp>
        <p:nvSpPr>
          <p:cNvPr id="10284" name="Rectangle 41"/>
          <p:cNvSpPr>
            <a:spLocks noChangeArrowheads="1"/>
          </p:cNvSpPr>
          <p:nvPr/>
        </p:nvSpPr>
        <p:spPr bwMode="auto">
          <a:xfrm>
            <a:off x="3810000" y="45720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3</a:t>
            </a:r>
          </a:p>
        </p:txBody>
      </p:sp>
      <p:sp>
        <p:nvSpPr>
          <p:cNvPr id="10285" name="Rectangle 42"/>
          <p:cNvSpPr>
            <a:spLocks noChangeArrowheads="1"/>
          </p:cNvSpPr>
          <p:nvPr/>
        </p:nvSpPr>
        <p:spPr bwMode="auto">
          <a:xfrm>
            <a:off x="4267200" y="45720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4</a:t>
            </a:r>
          </a:p>
        </p:txBody>
      </p:sp>
      <p:sp>
        <p:nvSpPr>
          <p:cNvPr id="10286" name="Rectangle 43"/>
          <p:cNvSpPr>
            <a:spLocks noChangeArrowheads="1"/>
          </p:cNvSpPr>
          <p:nvPr/>
        </p:nvSpPr>
        <p:spPr bwMode="auto">
          <a:xfrm>
            <a:off x="4724400" y="45720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5</a:t>
            </a:r>
          </a:p>
        </p:txBody>
      </p:sp>
      <p:sp>
        <p:nvSpPr>
          <p:cNvPr id="10287" name="Rectangle 44"/>
          <p:cNvSpPr>
            <a:spLocks noChangeArrowheads="1"/>
          </p:cNvSpPr>
          <p:nvPr/>
        </p:nvSpPr>
        <p:spPr bwMode="auto">
          <a:xfrm>
            <a:off x="5181600" y="45720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7</a:t>
            </a:r>
          </a:p>
        </p:txBody>
      </p:sp>
      <p:sp>
        <p:nvSpPr>
          <p:cNvPr id="10288" name="Rectangle 45"/>
          <p:cNvSpPr>
            <a:spLocks noChangeArrowheads="1"/>
          </p:cNvSpPr>
          <p:nvPr/>
        </p:nvSpPr>
        <p:spPr bwMode="auto">
          <a:xfrm>
            <a:off x="5638800" y="45720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6</a:t>
            </a:r>
          </a:p>
        </p:txBody>
      </p:sp>
      <p:sp>
        <p:nvSpPr>
          <p:cNvPr id="10289" name="Rectangle 46"/>
          <p:cNvSpPr>
            <a:spLocks noChangeArrowheads="1"/>
          </p:cNvSpPr>
          <p:nvPr/>
        </p:nvSpPr>
        <p:spPr bwMode="auto">
          <a:xfrm>
            <a:off x="2895600" y="5105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dirty="0"/>
              <a:t>1</a:t>
            </a:r>
          </a:p>
        </p:txBody>
      </p:sp>
      <p:sp>
        <p:nvSpPr>
          <p:cNvPr id="10290" name="Rectangle 47"/>
          <p:cNvSpPr>
            <a:spLocks noChangeArrowheads="1"/>
          </p:cNvSpPr>
          <p:nvPr/>
        </p:nvSpPr>
        <p:spPr bwMode="auto">
          <a:xfrm>
            <a:off x="3352800" y="5105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2</a:t>
            </a:r>
          </a:p>
        </p:txBody>
      </p:sp>
      <p:sp>
        <p:nvSpPr>
          <p:cNvPr id="10291" name="Rectangle 48"/>
          <p:cNvSpPr>
            <a:spLocks noChangeArrowheads="1"/>
          </p:cNvSpPr>
          <p:nvPr/>
        </p:nvSpPr>
        <p:spPr bwMode="auto">
          <a:xfrm>
            <a:off x="3810000" y="5105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3</a:t>
            </a:r>
          </a:p>
        </p:txBody>
      </p:sp>
      <p:sp>
        <p:nvSpPr>
          <p:cNvPr id="10292" name="Rectangle 49"/>
          <p:cNvSpPr>
            <a:spLocks noChangeArrowheads="1"/>
          </p:cNvSpPr>
          <p:nvPr/>
        </p:nvSpPr>
        <p:spPr bwMode="auto">
          <a:xfrm>
            <a:off x="4267200" y="5105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4</a:t>
            </a:r>
          </a:p>
        </p:txBody>
      </p:sp>
      <p:sp>
        <p:nvSpPr>
          <p:cNvPr id="10293" name="Rectangle 50"/>
          <p:cNvSpPr>
            <a:spLocks noChangeArrowheads="1"/>
          </p:cNvSpPr>
          <p:nvPr/>
        </p:nvSpPr>
        <p:spPr bwMode="auto">
          <a:xfrm>
            <a:off x="4724400" y="5105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5</a:t>
            </a:r>
          </a:p>
        </p:txBody>
      </p:sp>
      <p:sp>
        <p:nvSpPr>
          <p:cNvPr id="10294" name="Rectangle 51"/>
          <p:cNvSpPr>
            <a:spLocks noChangeArrowheads="1"/>
          </p:cNvSpPr>
          <p:nvPr/>
        </p:nvSpPr>
        <p:spPr bwMode="auto">
          <a:xfrm>
            <a:off x="5181600" y="51054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6</a:t>
            </a:r>
          </a:p>
        </p:txBody>
      </p:sp>
      <p:sp>
        <p:nvSpPr>
          <p:cNvPr id="10295" name="Rectangle 52"/>
          <p:cNvSpPr>
            <a:spLocks noChangeArrowheads="1"/>
          </p:cNvSpPr>
          <p:nvPr/>
        </p:nvSpPr>
        <p:spPr bwMode="auto">
          <a:xfrm>
            <a:off x="5638800" y="5105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u="sng"/>
              <a:t>7</a:t>
            </a:r>
          </a:p>
        </p:txBody>
      </p:sp>
      <p:sp>
        <p:nvSpPr>
          <p:cNvPr id="10296" name="Text Box 53"/>
          <p:cNvSpPr txBox="1">
            <a:spLocks noChangeArrowheads="1"/>
          </p:cNvSpPr>
          <p:nvPr/>
        </p:nvSpPr>
        <p:spPr bwMode="auto">
          <a:xfrm>
            <a:off x="2057400" y="24384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i = 1</a:t>
            </a:r>
          </a:p>
        </p:txBody>
      </p:sp>
      <p:sp>
        <p:nvSpPr>
          <p:cNvPr id="10297" name="Text Box 54"/>
          <p:cNvSpPr txBox="1">
            <a:spLocks noChangeArrowheads="1"/>
          </p:cNvSpPr>
          <p:nvPr/>
        </p:nvSpPr>
        <p:spPr bwMode="auto">
          <a:xfrm>
            <a:off x="2057400" y="29860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i = 2</a:t>
            </a:r>
          </a:p>
        </p:txBody>
      </p:sp>
      <p:sp>
        <p:nvSpPr>
          <p:cNvPr id="10298" name="Text Box 55"/>
          <p:cNvSpPr txBox="1">
            <a:spLocks noChangeArrowheads="1"/>
          </p:cNvSpPr>
          <p:nvPr/>
        </p:nvSpPr>
        <p:spPr bwMode="auto">
          <a:xfrm>
            <a:off x="2057400" y="35194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i = 3</a:t>
            </a:r>
          </a:p>
        </p:txBody>
      </p:sp>
      <p:sp>
        <p:nvSpPr>
          <p:cNvPr id="10299" name="Text Box 56"/>
          <p:cNvSpPr txBox="1">
            <a:spLocks noChangeArrowheads="1"/>
          </p:cNvSpPr>
          <p:nvPr/>
        </p:nvSpPr>
        <p:spPr bwMode="auto">
          <a:xfrm>
            <a:off x="2057400" y="40528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i = 4</a:t>
            </a:r>
          </a:p>
        </p:txBody>
      </p:sp>
      <p:sp>
        <p:nvSpPr>
          <p:cNvPr id="10300" name="Text Box 57"/>
          <p:cNvSpPr txBox="1">
            <a:spLocks noChangeArrowheads="1"/>
          </p:cNvSpPr>
          <p:nvPr/>
        </p:nvSpPr>
        <p:spPr bwMode="auto">
          <a:xfrm>
            <a:off x="2057400" y="4586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i = 5</a:t>
            </a:r>
          </a:p>
        </p:txBody>
      </p:sp>
      <p:sp>
        <p:nvSpPr>
          <p:cNvPr id="10301" name="Text Box 58"/>
          <p:cNvSpPr txBox="1">
            <a:spLocks noChangeArrowheads="1"/>
          </p:cNvSpPr>
          <p:nvPr/>
        </p:nvSpPr>
        <p:spPr bwMode="auto">
          <a:xfrm>
            <a:off x="2057400" y="51196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i = 6</a:t>
            </a:r>
          </a:p>
        </p:txBody>
      </p:sp>
    </p:spTree>
    <p:extLst>
      <p:ext uri="{BB962C8B-B14F-4D97-AF65-F5344CB8AC3E}">
        <p14:creationId xmlns:p14="http://schemas.microsoft.com/office/powerpoint/2010/main" val="2772495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4" grpId="0" animBg="1"/>
      <p:bldP spid="10255" grpId="0" animBg="1"/>
      <p:bldP spid="10256" grpId="0" animBg="1"/>
      <p:bldP spid="10257" grpId="0" animBg="1"/>
      <p:bldP spid="10258" grpId="0" animBg="1"/>
      <p:bldP spid="10259" grpId="0" animBg="1"/>
      <p:bldP spid="10260" grpId="0" animBg="1"/>
      <p:bldP spid="10261" grpId="0" animBg="1"/>
      <p:bldP spid="10262" grpId="0" animBg="1"/>
      <p:bldP spid="10263" grpId="0" animBg="1"/>
      <p:bldP spid="10264" grpId="0" animBg="1"/>
      <p:bldP spid="10265" grpId="0" animBg="1"/>
      <p:bldP spid="10266" grpId="0" animBg="1"/>
      <p:bldP spid="10267" grpId="0" animBg="1"/>
      <p:bldP spid="10268" grpId="0" animBg="1"/>
      <p:bldP spid="10269" grpId="0" animBg="1"/>
      <p:bldP spid="10270" grpId="0" animBg="1"/>
      <p:bldP spid="10271" grpId="0" animBg="1"/>
      <p:bldP spid="10272" grpId="0" animBg="1"/>
      <p:bldP spid="10273" grpId="0" animBg="1"/>
      <p:bldP spid="10274" grpId="0" animBg="1"/>
      <p:bldP spid="10275" grpId="0" animBg="1"/>
      <p:bldP spid="10276" grpId="0" animBg="1"/>
      <p:bldP spid="10277" grpId="0" animBg="1"/>
      <p:bldP spid="10278" grpId="0" animBg="1"/>
      <p:bldP spid="10279" grpId="0" animBg="1"/>
      <p:bldP spid="10280" grpId="0" animBg="1"/>
      <p:bldP spid="10281" grpId="0" animBg="1"/>
      <p:bldP spid="10282" grpId="0" animBg="1"/>
      <p:bldP spid="10283" grpId="0" animBg="1"/>
      <p:bldP spid="10284" grpId="0" animBg="1"/>
      <p:bldP spid="10285" grpId="0" animBg="1"/>
      <p:bldP spid="10286" grpId="0" animBg="1"/>
      <p:bldP spid="10287" grpId="0" animBg="1"/>
      <p:bldP spid="10288" grpId="0" animBg="1"/>
      <p:bldP spid="10289" grpId="0" animBg="1"/>
      <p:bldP spid="10290" grpId="0" animBg="1"/>
      <p:bldP spid="10291" grpId="0" animBg="1"/>
      <p:bldP spid="10292" grpId="0" animBg="1"/>
      <p:bldP spid="10293" grpId="0" animBg="1"/>
      <p:bldP spid="10294" grpId="0" animBg="1"/>
      <p:bldP spid="10295" grpId="0" animBg="1"/>
      <p:bldP spid="10296" grpId="0"/>
      <p:bldP spid="10297" grpId="0"/>
      <p:bldP spid="10298" grpId="0"/>
      <p:bldP spid="10299" grpId="0"/>
      <p:bldP spid="10300" grpId="0"/>
      <p:bldP spid="1030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95297A9-AFAD-4439-9411-B26268B94849}" type="slidenum">
              <a:rPr lang="en-US" altLang="en-US">
                <a:latin typeface="Garamond" panose="02020404030301010803" pitchFamily="18" charset="0"/>
              </a:rPr>
              <a:pPr eaLnBrk="1" hangingPunct="1"/>
              <a:t>12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2.1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 smtClean="0"/>
              <a:t>chọn</a:t>
            </a:r>
            <a:endParaRPr lang="en-US" altLang="en-US" dirty="0" smtClean="0"/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400" dirty="0" err="1" smtClean="0"/>
              <a:t>Giải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thuật</a:t>
            </a:r>
            <a:endParaRPr lang="en-US" altLang="en-US" sz="2400" dirty="0" smtClean="0"/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 smtClean="0"/>
          </a:p>
          <a:p>
            <a:pPr eaLnBrk="1" hangingPunct="1"/>
            <a:endParaRPr lang="en-US" altLang="en-US" sz="2400" dirty="0"/>
          </a:p>
          <a:p>
            <a:r>
              <a:rPr lang="en-US" altLang="en-US" sz="2400" dirty="0" err="1" smtClean="0"/>
              <a:t>Cài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đặt</a:t>
            </a:r>
            <a:r>
              <a:rPr lang="en-US" altLang="en-US" sz="2400" dirty="0" smtClean="0"/>
              <a:t>:</a:t>
            </a:r>
          </a:p>
          <a:p>
            <a:pPr lvl="1"/>
            <a:r>
              <a:rPr lang="en-US" altLang="en-US" sz="2100" dirty="0" err="1" smtClean="0"/>
              <a:t>Cài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đặt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dãy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số</a:t>
            </a:r>
            <a:r>
              <a:rPr lang="en-US" altLang="en-US" sz="2100" dirty="0" smtClean="0"/>
              <a:t>: </a:t>
            </a:r>
            <a:r>
              <a:rPr lang="en-US" altLang="en-US" sz="2100" dirty="0" err="1" smtClean="0"/>
              <a:t>Mảng</a:t>
            </a:r>
            <a:r>
              <a:rPr lang="en-US" altLang="en-US" sz="2100" dirty="0" smtClean="0"/>
              <a:t>, </a:t>
            </a:r>
            <a:r>
              <a:rPr lang="en-US" altLang="en-US" sz="2100" dirty="0" err="1" smtClean="0"/>
              <a:t>Danh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sách</a:t>
            </a:r>
            <a:endParaRPr lang="en-US" altLang="en-US" sz="2100" dirty="0" smtClean="0"/>
          </a:p>
          <a:p>
            <a:pPr lvl="1"/>
            <a:r>
              <a:rPr lang="en-US" altLang="en-US" sz="2100" dirty="0" err="1" smtClean="0"/>
              <a:t>Kiểu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dữ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liệu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của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phần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tử</a:t>
            </a:r>
            <a:r>
              <a:rPr lang="en-US" altLang="en-US" sz="2100" dirty="0" smtClean="0"/>
              <a:t>: </a:t>
            </a:r>
            <a:r>
              <a:rPr lang="en-US" altLang="en-US" sz="2100" dirty="0" err="1" smtClean="0"/>
              <a:t>kiểu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đơn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giản</a:t>
            </a:r>
            <a:r>
              <a:rPr lang="en-US" altLang="en-US" sz="2100" dirty="0" smtClean="0"/>
              <a:t>, </a:t>
            </a:r>
            <a:r>
              <a:rPr lang="en-US" altLang="en-US" sz="2100" dirty="0" err="1" smtClean="0"/>
              <a:t>kiểu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có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cấu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trúc</a:t>
            </a:r>
            <a:endParaRPr lang="en-US" altLang="en-US" sz="2100" dirty="0" smtClean="0"/>
          </a:p>
          <a:p>
            <a:pPr lvl="2"/>
            <a:r>
              <a:rPr lang="en-US" altLang="en-US" sz="1800" dirty="0" err="1" smtClean="0"/>
              <a:t>Kiểu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có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cấu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trúc</a:t>
            </a:r>
            <a:r>
              <a:rPr lang="en-US" altLang="en-US" sz="1800" dirty="0" smtClean="0"/>
              <a:t>: </a:t>
            </a:r>
            <a:r>
              <a:rPr lang="en-US" altLang="en-US" sz="1800" dirty="0" err="1" smtClean="0"/>
              <a:t>cần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xây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dựng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quy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tắc</a:t>
            </a:r>
            <a:r>
              <a:rPr lang="en-US" altLang="en-US" sz="1800" dirty="0" smtClean="0"/>
              <a:t> so </a:t>
            </a:r>
            <a:r>
              <a:rPr lang="en-US" altLang="en-US" sz="1800" dirty="0" err="1" smtClean="0"/>
              <a:t>sánh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kiểu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dữ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liệu</a:t>
            </a:r>
            <a:endParaRPr lang="en-US" altLang="en-US" sz="1800" dirty="0" smtClean="0"/>
          </a:p>
          <a:p>
            <a:pPr lvl="1"/>
            <a:r>
              <a:rPr lang="en-US" altLang="en-US" sz="2100" dirty="0" err="1" smtClean="0"/>
              <a:t>Tùy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bài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toán</a:t>
            </a:r>
            <a:r>
              <a:rPr lang="en-US" altLang="en-US" sz="2100" dirty="0" smtClean="0"/>
              <a:t>, </a:t>
            </a:r>
            <a:r>
              <a:rPr lang="en-US" altLang="en-US" sz="2100" dirty="0" err="1" smtClean="0"/>
              <a:t>Lựa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chọn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các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kiểu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cài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đặt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phù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hợp</a:t>
            </a:r>
            <a:endParaRPr lang="en-US" altLang="en-US" sz="2100" dirty="0" smtClean="0"/>
          </a:p>
        </p:txBody>
      </p:sp>
      <p:sp>
        <p:nvSpPr>
          <p:cNvPr id="11271" name="AutoShape 4"/>
          <p:cNvSpPr>
            <a:spLocks noChangeArrowheads="1"/>
          </p:cNvSpPr>
          <p:nvPr/>
        </p:nvSpPr>
        <p:spPr bwMode="auto">
          <a:xfrm>
            <a:off x="1828800" y="963168"/>
            <a:ext cx="7164388" cy="1828800"/>
          </a:xfrm>
          <a:prstGeom prst="roundRect">
            <a:avLst>
              <a:gd name="adj" fmla="val 38810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=1;i&lt;=N-1;i++) {</a:t>
            </a:r>
          </a:p>
          <a:p>
            <a:pPr eaLnBrk="1" hangingPunct="1"/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Tìm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 </a:t>
            </a:r>
            <a:r>
              <a:rPr lang="en-US" alt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sao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cho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altLang="en-US" sz="2000" baseline="-25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 Min(a</a:t>
            </a:r>
            <a:r>
              <a:rPr lang="en-US" altLang="en-US" sz="20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,a</a:t>
            </a:r>
            <a:r>
              <a:rPr lang="en-US" altLang="en-US" sz="20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i+1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,…, </a:t>
            </a:r>
            <a:r>
              <a:rPr lang="en-US" alt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baseline="-25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Hoán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đổi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baseline="-25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và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altLang="en-US" sz="2000" baseline="-25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084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0967E8E-145E-48BD-8D72-DA6137C0E57E}" type="slidenum">
              <a:rPr lang="en-US" altLang="en-US">
                <a:latin typeface="Garamond" panose="02020404030301010803" pitchFamily="18" charset="0"/>
              </a:rPr>
              <a:pPr eaLnBrk="1" hangingPunct="1"/>
              <a:t>13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2.1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 smtClean="0"/>
              <a:t>chọn</a:t>
            </a:r>
            <a:endParaRPr lang="en-US" altLang="en-US" dirty="0" smtClean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vi-VN" sz="2400" dirty="0"/>
              <a:t>Cài đặt cơ bản</a:t>
            </a:r>
          </a:p>
        </p:txBody>
      </p:sp>
      <p:sp>
        <p:nvSpPr>
          <p:cNvPr id="12295" name="AutoShape 4"/>
          <p:cNvSpPr>
            <a:spLocks noChangeArrowheads="1"/>
          </p:cNvSpPr>
          <p:nvPr/>
        </p:nvSpPr>
        <p:spPr bwMode="auto">
          <a:xfrm>
            <a:off x="989806" y="1646241"/>
            <a:ext cx="7164388" cy="381000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DaySo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[N];</a:t>
            </a:r>
          </a:p>
          <a:p>
            <a:pPr eaLnBrk="1" hangingPunct="1"/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vi-VN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vi-V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SXChon</a:t>
            </a:r>
            <a:r>
              <a:rPr lang="vi-V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(DaySo a) {</a:t>
            </a:r>
          </a:p>
          <a:p>
            <a:pPr lvl="1" eaLnBrk="1" hangingPunct="1"/>
            <a:r>
              <a:rPr lang="en-US" alt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vi-VN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vi-V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j, m;</a:t>
            </a:r>
          </a:p>
          <a:p>
            <a:pPr lvl="1" eaLnBrk="1" hangingPunct="1"/>
            <a:r>
              <a:rPr lang="vi-V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vi-VN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i=0;i&lt;N-1</a:t>
            </a:r>
            <a:r>
              <a:rPr lang="vi-V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 i++){</a:t>
            </a:r>
          </a:p>
          <a:p>
            <a:pPr lvl="2" eaLnBrk="1" hangingPunct="1"/>
            <a:r>
              <a:rPr lang="vi-V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vi-VN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Tìm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m:</a:t>
            </a:r>
            <a:r>
              <a:rPr lang="vi-VN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vi-V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am=Min(ai,ai+1,…,</a:t>
            </a:r>
            <a:r>
              <a:rPr lang="vi-VN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aN-1)</a:t>
            </a:r>
            <a:endParaRPr lang="vi-VN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/>
            <a:r>
              <a:rPr lang="vi-V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 = i;</a:t>
            </a:r>
          </a:p>
          <a:p>
            <a:pPr lvl="2" eaLnBrk="1" hangingPunct="1"/>
            <a:r>
              <a:rPr lang="vi-VN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for(j=i+1</a:t>
            </a:r>
            <a:r>
              <a:rPr lang="vi-V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vi-VN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j&lt;N; </a:t>
            </a:r>
            <a:r>
              <a:rPr lang="vi-V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j++)</a:t>
            </a:r>
          </a:p>
          <a:p>
            <a:pPr lvl="2" eaLnBrk="1" hangingPunct="1"/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vi-VN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vi-V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(a[j] &lt; a[m</a:t>
            </a:r>
            <a:r>
              <a:rPr lang="vi-VN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vi-VN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 </a:t>
            </a:r>
            <a:r>
              <a:rPr lang="vi-V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 j;</a:t>
            </a:r>
          </a:p>
          <a:p>
            <a:pPr lvl="2" eaLnBrk="1" hangingPunct="1"/>
            <a:r>
              <a:rPr lang="vi-V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//Đưa am về đầu dãy</a:t>
            </a:r>
          </a:p>
          <a:p>
            <a:pPr lvl="2" eaLnBrk="1" hangingPunct="1"/>
            <a:r>
              <a:rPr lang="vi-V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if (m 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vi-VN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vi-V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i) </a:t>
            </a:r>
            <a:r>
              <a:rPr lang="vi-V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HoanDoi</a:t>
            </a:r>
            <a:r>
              <a:rPr lang="vi-V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(a[i], a[m]);</a:t>
            </a:r>
          </a:p>
          <a:p>
            <a:pPr lvl="1" eaLnBrk="1" hangingPunct="1"/>
            <a:r>
              <a:rPr lang="vi-V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vi-V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220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0967E8E-145E-48BD-8D72-DA6137C0E57E}" type="slidenum">
              <a:rPr lang="en-US" altLang="en-US">
                <a:latin typeface="Garamond" panose="02020404030301010803" pitchFamily="18" charset="0"/>
              </a:rPr>
              <a:pPr eaLnBrk="1" hangingPunct="1"/>
              <a:t>14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2.1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 smtClean="0"/>
              <a:t>chọn</a:t>
            </a:r>
            <a:endParaRPr lang="en-US" altLang="en-US" dirty="0" smtClean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vi-VN" sz="2400" dirty="0"/>
              <a:t>Cài đặt cơ </a:t>
            </a:r>
            <a:r>
              <a:rPr lang="vi-VN" sz="2400" dirty="0" smtClean="0"/>
              <a:t>bản</a:t>
            </a:r>
            <a:endParaRPr lang="en-US" sz="2400" dirty="0" smtClean="0"/>
          </a:p>
          <a:p>
            <a:pPr lvl="1"/>
            <a:r>
              <a:rPr lang="en-US" sz="2100" dirty="0" smtClean="0"/>
              <a:t>C/C++</a:t>
            </a:r>
          </a:p>
        </p:txBody>
      </p:sp>
      <p:sp>
        <p:nvSpPr>
          <p:cNvPr id="12295" name="AutoShape 4"/>
          <p:cNvSpPr>
            <a:spLocks noChangeArrowheads="1"/>
          </p:cNvSpPr>
          <p:nvPr/>
        </p:nvSpPr>
        <p:spPr bwMode="auto">
          <a:xfrm>
            <a:off x="1143000" y="1447800"/>
            <a:ext cx="7164388" cy="381000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selectionSort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A[],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N) {</a:t>
            </a:r>
          </a:p>
          <a:p>
            <a:pPr eaLnBrk="1" hangingPunct="1"/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m;</a:t>
            </a:r>
          </a:p>
          <a:p>
            <a:pPr eaLnBrk="1" hangingPunct="1"/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 N-1;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</a:p>
          <a:p>
            <a:pPr eaLnBrk="1" hangingPunct="1"/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m=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/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k=i+1; k &lt; N; k++)</a:t>
            </a:r>
          </a:p>
          <a:p>
            <a:pPr eaLnBrk="1" hangingPunct="1"/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(A[k] &lt; A[m]) m=k;</a:t>
            </a:r>
          </a:p>
          <a:p>
            <a:pPr eaLnBrk="1" hangingPunct="1"/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(m !=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swap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(A[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],A[m]);</a:t>
            </a:r>
          </a:p>
          <a:p>
            <a:pPr eaLnBrk="1" hangingPunct="1"/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31873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0967E8E-145E-48BD-8D72-DA6137C0E57E}" type="slidenum">
              <a:rPr lang="en-US" altLang="en-US">
                <a:latin typeface="Garamond" panose="02020404030301010803" pitchFamily="18" charset="0"/>
              </a:rPr>
              <a:pPr eaLnBrk="1" hangingPunct="1"/>
              <a:t>15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2.1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 smtClean="0"/>
              <a:t>chọn</a:t>
            </a:r>
            <a:endParaRPr lang="en-US" altLang="en-US" dirty="0" smtClean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Đánh</a:t>
            </a:r>
            <a:r>
              <a:rPr lang="en-US" sz="2400" dirty="0" smtClean="0"/>
              <a:t> </a:t>
            </a:r>
            <a:r>
              <a:rPr lang="en-US" sz="2400" dirty="0" err="1" smtClean="0"/>
              <a:t>giá</a:t>
            </a:r>
            <a:r>
              <a:rPr lang="en-US" sz="2400" dirty="0" smtClean="0"/>
              <a:t>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thuật</a:t>
            </a:r>
            <a:endParaRPr lang="en-US" sz="2400" dirty="0" smtClean="0"/>
          </a:p>
          <a:p>
            <a:pPr lvl="1"/>
            <a:r>
              <a:rPr lang="vi-VN" sz="2200" dirty="0"/>
              <a:t>Thời gian thực hiện thuật toán: </a:t>
            </a:r>
          </a:p>
          <a:p>
            <a:pPr lvl="2"/>
            <a:r>
              <a:rPr lang="vi-VN" sz="2000" dirty="0"/>
              <a:t>Trường hợp tốt nhất</a:t>
            </a:r>
            <a:r>
              <a:rPr lang="vi-VN" sz="2000" dirty="0" smtClean="0"/>
              <a:t>:</a:t>
            </a:r>
            <a:r>
              <a:rPr lang="en-US" sz="2000" dirty="0" smtClean="0"/>
              <a:t> O(n</a:t>
            </a:r>
            <a:r>
              <a:rPr lang="en-US" sz="2000" baseline="30000" dirty="0" smtClean="0"/>
              <a:t>2</a:t>
            </a:r>
            <a:r>
              <a:rPr lang="en-US" sz="2000" dirty="0" smtClean="0"/>
              <a:t>)</a:t>
            </a:r>
            <a:endParaRPr lang="vi-VN" sz="2000" dirty="0"/>
          </a:p>
          <a:p>
            <a:pPr lvl="3"/>
            <a:r>
              <a:rPr lang="vi-VN" sz="2000" dirty="0"/>
              <a:t>Dãy ban đầu đã được sắp xếp</a:t>
            </a:r>
          </a:p>
          <a:p>
            <a:pPr lvl="3"/>
            <a:r>
              <a:rPr lang="vi-VN" sz="2000" dirty="0"/>
              <a:t>0 phép đổi chỗ, </a:t>
            </a:r>
            <a:r>
              <a:rPr lang="vi-VN" sz="2000" dirty="0" smtClean="0"/>
              <a:t>thực </a:t>
            </a:r>
            <a:r>
              <a:rPr lang="vi-VN" sz="2000" dirty="0"/>
              <a:t>hiện n(n-1)/2 phép so sánh</a:t>
            </a:r>
          </a:p>
          <a:p>
            <a:pPr lvl="2"/>
            <a:r>
              <a:rPr lang="vi-VN" sz="2000" dirty="0"/>
              <a:t>Trường hợp xấu nhất: </a:t>
            </a:r>
            <a:r>
              <a:rPr lang="en-US" sz="2000" dirty="0" smtClean="0"/>
              <a:t>O(n</a:t>
            </a:r>
            <a:r>
              <a:rPr lang="en-US" sz="2000" baseline="30000" dirty="0" smtClean="0"/>
              <a:t>2</a:t>
            </a:r>
            <a:r>
              <a:rPr lang="en-US" sz="2000" dirty="0" smtClean="0"/>
              <a:t>)</a:t>
            </a:r>
            <a:endParaRPr lang="vi-VN" sz="2000" dirty="0"/>
          </a:p>
          <a:p>
            <a:pPr lvl="3"/>
            <a:r>
              <a:rPr lang="vi-VN" sz="2000" dirty="0"/>
              <a:t>n-1 phép đổi chỗ, n(n-1)/2 phép so sánh</a:t>
            </a:r>
            <a:endParaRPr lang="vi-VN" sz="1800" dirty="0"/>
          </a:p>
          <a:p>
            <a:pPr lvl="1"/>
            <a:r>
              <a:rPr lang="vi-VN" sz="2200" dirty="0"/>
              <a:t>Độ phức tạp thời gian trung bình O(n</a:t>
            </a:r>
            <a:r>
              <a:rPr lang="vi-VN" sz="2200" baseline="30000" dirty="0"/>
              <a:t>2</a:t>
            </a:r>
            <a:r>
              <a:rPr lang="vi-VN" sz="2200" dirty="0"/>
              <a:t>) </a:t>
            </a:r>
          </a:p>
          <a:p>
            <a:pPr lvl="1"/>
            <a:r>
              <a:rPr lang="en-US" sz="2200" dirty="0" err="1" smtClean="0"/>
              <a:t>Nhận</a:t>
            </a:r>
            <a:r>
              <a:rPr lang="en-US" sz="2200" dirty="0" smtClean="0"/>
              <a:t> </a:t>
            </a:r>
            <a:r>
              <a:rPr lang="en-US" sz="2200" dirty="0" err="1" smtClean="0"/>
              <a:t>xét</a:t>
            </a:r>
            <a:r>
              <a:rPr lang="en-US" sz="2200" dirty="0" smtClean="0"/>
              <a:t>:</a:t>
            </a:r>
            <a:endParaRPr lang="en-US" sz="2200" dirty="0"/>
          </a:p>
          <a:p>
            <a:pPr lvl="2"/>
            <a:r>
              <a:rPr lang="en-US" sz="1800" dirty="0" err="1"/>
              <a:t>Đơn</a:t>
            </a:r>
            <a:r>
              <a:rPr lang="en-US" sz="1800" dirty="0"/>
              <a:t> </a:t>
            </a:r>
            <a:r>
              <a:rPr lang="en-US" sz="1800" dirty="0" err="1"/>
              <a:t>giản</a:t>
            </a:r>
            <a:r>
              <a:rPr lang="en-US" sz="1800" dirty="0"/>
              <a:t>, </a:t>
            </a:r>
            <a:r>
              <a:rPr lang="en-US" sz="1800" dirty="0" err="1"/>
              <a:t>dễ</a:t>
            </a:r>
            <a:r>
              <a:rPr lang="en-US" sz="1800" dirty="0"/>
              <a:t> </a:t>
            </a:r>
            <a:r>
              <a:rPr lang="en-US" sz="1800" dirty="0" err="1"/>
              <a:t>cài</a:t>
            </a:r>
            <a:r>
              <a:rPr lang="en-US" sz="1800" dirty="0"/>
              <a:t> </a:t>
            </a:r>
            <a:r>
              <a:rPr lang="en-US" sz="1800" dirty="0" err="1"/>
              <a:t>đặt</a:t>
            </a:r>
            <a:endParaRPr lang="en-US" sz="1800" dirty="0"/>
          </a:p>
          <a:p>
            <a:pPr lvl="2"/>
            <a:r>
              <a:rPr lang="en-US" sz="1800" dirty="0" err="1"/>
              <a:t>Được</a:t>
            </a:r>
            <a:r>
              <a:rPr lang="en-US" sz="1800" dirty="0"/>
              <a:t> </a:t>
            </a:r>
            <a:r>
              <a:rPr lang="en-US" sz="1800" dirty="0" err="1"/>
              <a:t>sử</a:t>
            </a:r>
            <a:r>
              <a:rPr lang="en-US" sz="1800" dirty="0"/>
              <a:t> </a:t>
            </a:r>
            <a:r>
              <a:rPr lang="en-US" sz="1800" dirty="0" err="1"/>
              <a:t>dụng</a:t>
            </a:r>
            <a:r>
              <a:rPr lang="en-US" sz="1800" dirty="0"/>
              <a:t> </a:t>
            </a:r>
            <a:r>
              <a:rPr lang="en-US" sz="1800" dirty="0" err="1"/>
              <a:t>với</a:t>
            </a:r>
            <a:r>
              <a:rPr lang="en-US" sz="1800" dirty="0"/>
              <a:t> </a:t>
            </a:r>
            <a:r>
              <a:rPr lang="en-US" sz="1800" dirty="0" err="1"/>
              <a:t>dữ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r>
              <a:rPr lang="en-US" sz="1800" dirty="0"/>
              <a:t> </a:t>
            </a:r>
            <a:r>
              <a:rPr lang="en-US" sz="1800" dirty="0" err="1" smtClean="0"/>
              <a:t>nhỏ</a:t>
            </a:r>
            <a:endParaRPr lang="en-US" sz="1800" dirty="0" smtClean="0"/>
          </a:p>
          <a:p>
            <a:pPr lvl="2"/>
            <a:r>
              <a:rPr lang="en-US" sz="1800" dirty="0" err="1" smtClean="0"/>
              <a:t>Không</a:t>
            </a:r>
            <a:r>
              <a:rPr lang="en-US" sz="1800" dirty="0" smtClean="0"/>
              <a:t> </a:t>
            </a:r>
            <a:r>
              <a:rPr lang="en-US" sz="1800" dirty="0" err="1" smtClean="0"/>
              <a:t>hiệu</a:t>
            </a:r>
            <a:r>
              <a:rPr lang="en-US" sz="1800" dirty="0" smtClean="0"/>
              <a:t> </a:t>
            </a:r>
            <a:r>
              <a:rPr lang="en-US" sz="1800" dirty="0" err="1" smtClean="0"/>
              <a:t>quả</a:t>
            </a:r>
            <a:r>
              <a:rPr lang="en-US" sz="1800" dirty="0" smtClean="0"/>
              <a:t> </a:t>
            </a:r>
            <a:r>
              <a:rPr lang="en-US" sz="1800" dirty="0" err="1" smtClean="0"/>
              <a:t>khi</a:t>
            </a:r>
            <a:r>
              <a:rPr lang="en-US" sz="1800" dirty="0" smtClean="0"/>
              <a:t> </a:t>
            </a:r>
            <a:r>
              <a:rPr lang="en-US" sz="1800" dirty="0" err="1" smtClean="0"/>
              <a:t>sử</a:t>
            </a:r>
            <a:r>
              <a:rPr lang="en-US" sz="1800" dirty="0" smtClean="0"/>
              <a:t> </a:t>
            </a:r>
            <a:r>
              <a:rPr lang="en-US" sz="1800" dirty="0" err="1" smtClean="0"/>
              <a:t>dụng</a:t>
            </a:r>
            <a:r>
              <a:rPr lang="en-US" sz="1800" dirty="0" smtClean="0"/>
              <a:t> </a:t>
            </a:r>
            <a:r>
              <a:rPr lang="en-US" sz="1800" dirty="0" err="1" smtClean="0"/>
              <a:t>với</a:t>
            </a:r>
            <a:r>
              <a:rPr lang="en-US" sz="1800" dirty="0" smtClean="0"/>
              <a:t> </a:t>
            </a:r>
            <a:r>
              <a:rPr lang="en-US" sz="1800" dirty="0" err="1" smtClean="0"/>
              <a:t>dữ</a:t>
            </a:r>
            <a:r>
              <a:rPr lang="en-US" sz="1800" dirty="0" smtClean="0"/>
              <a:t> </a:t>
            </a:r>
            <a:r>
              <a:rPr lang="en-US" sz="1800" dirty="0" err="1" smtClean="0"/>
              <a:t>liệu</a:t>
            </a:r>
            <a:r>
              <a:rPr lang="en-US" sz="1800" dirty="0" smtClean="0"/>
              <a:t> </a:t>
            </a:r>
            <a:r>
              <a:rPr lang="en-US" sz="1800" dirty="0" err="1" smtClean="0"/>
              <a:t>lớn</a:t>
            </a:r>
            <a:endParaRPr lang="en-US" sz="1800" dirty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3376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D20AB29-587B-4720-A5CF-8C55A2725CC2}" type="slidenum">
              <a:rPr lang="en-US" altLang="en-US">
                <a:latin typeface="Garamond" panose="02020404030301010803" pitchFamily="18" charset="0"/>
              </a:rPr>
              <a:pPr eaLnBrk="1" hangingPunct="1"/>
              <a:t>16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2.2. </a:t>
            </a:r>
            <a:r>
              <a:rPr lang="en-US" altLang="en-US" dirty="0" err="1" smtClean="0"/>
              <a:t>Sắp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xếp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nổi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bọt</a:t>
            </a:r>
            <a:r>
              <a:rPr lang="en-US" altLang="en-US" dirty="0" smtClean="0"/>
              <a:t> (</a:t>
            </a:r>
            <a:r>
              <a:rPr lang="en-US" i="1" dirty="0"/>
              <a:t>Bubble/Exchange sort</a:t>
            </a:r>
            <a:r>
              <a:rPr lang="en-US" altLang="en-US" dirty="0" smtClean="0"/>
              <a:t>)</a:t>
            </a:r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400" dirty="0" smtClean="0"/>
              <a:t>Ý </a:t>
            </a:r>
            <a:r>
              <a:rPr lang="en-US" altLang="en-US" sz="2400" dirty="0" err="1" smtClean="0"/>
              <a:t>tưởng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giải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thuật</a:t>
            </a:r>
            <a:r>
              <a:rPr lang="en-US" altLang="en-US" sz="2400" dirty="0" smtClean="0"/>
              <a:t>: </a:t>
            </a:r>
          </a:p>
          <a:p>
            <a:pPr lvl="1" eaLnBrk="1" hangingPunct="1"/>
            <a:r>
              <a:rPr lang="en-US" altLang="en-US" sz="2200" dirty="0" err="1" smtClean="0"/>
              <a:t>Đầu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vào</a:t>
            </a:r>
            <a:r>
              <a:rPr lang="en-US" altLang="en-US" sz="2200" dirty="0" smtClean="0"/>
              <a:t>: </a:t>
            </a:r>
            <a:r>
              <a:rPr lang="en-US" altLang="en-US" sz="2200" dirty="0" err="1" smtClean="0"/>
              <a:t>dãy</a:t>
            </a:r>
            <a:r>
              <a:rPr lang="en-US" altLang="en-US" sz="2200" dirty="0" smtClean="0"/>
              <a:t> N </a:t>
            </a:r>
            <a:r>
              <a:rPr lang="en-US" altLang="en-US" sz="2200" dirty="0" err="1" smtClean="0"/>
              <a:t>số</a:t>
            </a:r>
            <a:r>
              <a:rPr lang="en-US" altLang="en-US" sz="2200" dirty="0" smtClean="0"/>
              <a:t> a1,a2,…,</a:t>
            </a:r>
            <a:r>
              <a:rPr lang="en-US" altLang="en-US" sz="2200" dirty="0" err="1" smtClean="0"/>
              <a:t>aN</a:t>
            </a:r>
            <a:endParaRPr lang="en-US" altLang="en-US" sz="2200" dirty="0" smtClean="0"/>
          </a:p>
          <a:p>
            <a:pPr lvl="1" eaLnBrk="1" hangingPunct="1"/>
            <a:r>
              <a:rPr lang="en-US" altLang="en-US" sz="2200" dirty="0" err="1" smtClean="0"/>
              <a:t>Đầu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ra</a:t>
            </a:r>
            <a:r>
              <a:rPr lang="en-US" altLang="en-US" sz="2200" dirty="0" smtClean="0"/>
              <a:t>: </a:t>
            </a:r>
            <a:r>
              <a:rPr lang="en-US" altLang="en-US" sz="2200" dirty="0" err="1" smtClean="0"/>
              <a:t>dãy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vào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đã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được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sx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theo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chiều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tăng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dần</a:t>
            </a:r>
            <a:endParaRPr lang="en-US" altLang="en-US" sz="2200" dirty="0" smtClean="0"/>
          </a:p>
          <a:p>
            <a:pPr lvl="1"/>
            <a:r>
              <a:rPr lang="en-US" altLang="en-US" sz="2200" dirty="0"/>
              <a:t>Ý </a:t>
            </a:r>
            <a:r>
              <a:rPr lang="en-US" altLang="en-US" sz="2200" dirty="0" err="1" smtClean="0"/>
              <a:t>tưởng</a:t>
            </a:r>
            <a:r>
              <a:rPr lang="en-US" altLang="en-US" sz="2200" dirty="0" smtClean="0"/>
              <a:t>: </a:t>
            </a:r>
          </a:p>
          <a:p>
            <a:pPr lvl="2"/>
            <a:r>
              <a:rPr lang="vi-VN" altLang="en-US" sz="2000" dirty="0"/>
              <a:t>Dãy cần sắp được chia thành 2 phần: </a:t>
            </a:r>
            <a:r>
              <a:rPr lang="vi-VN" altLang="en-US" sz="2000" dirty="0" smtClean="0"/>
              <a:t>phần đã</a:t>
            </a:r>
            <a:r>
              <a:rPr lang="en-US" altLang="en-US" sz="2000" dirty="0" smtClean="0"/>
              <a:t> </a:t>
            </a:r>
            <a:r>
              <a:rPr lang="vi-VN" altLang="en-US" sz="2000" dirty="0" smtClean="0"/>
              <a:t>sắp</a:t>
            </a:r>
            <a:r>
              <a:rPr lang="vi-VN" altLang="en-US" sz="2000" dirty="0"/>
              <a:t>, </a:t>
            </a:r>
            <a:r>
              <a:rPr lang="vi-VN" altLang="en-US" sz="2000" dirty="0" smtClean="0"/>
              <a:t>phần </a:t>
            </a:r>
            <a:r>
              <a:rPr lang="vi-VN" altLang="en-US" sz="2000" dirty="0"/>
              <a:t>chưa sắp</a:t>
            </a:r>
          </a:p>
          <a:p>
            <a:pPr lvl="2"/>
            <a:r>
              <a:rPr lang="vi-VN" altLang="en-US" sz="2000" dirty="0"/>
              <a:t>Thông qua phép đổi chỗ, tại mỗi lượt phần tử nhỏ </a:t>
            </a:r>
            <a:r>
              <a:rPr lang="vi-VN" altLang="en-US" sz="2000" dirty="0" smtClean="0"/>
              <a:t>nhất</a:t>
            </a:r>
            <a:r>
              <a:rPr lang="en-US" altLang="en-US" sz="2000" dirty="0" smtClean="0"/>
              <a:t> </a:t>
            </a:r>
            <a:r>
              <a:rPr lang="vi-VN" altLang="en-US" sz="2000" dirty="0" smtClean="0"/>
              <a:t>trong </a:t>
            </a:r>
            <a:r>
              <a:rPr lang="vi-VN" altLang="en-US" sz="2000" dirty="0"/>
              <a:t>phần chưa được sắp sẽ được “đẩy dần” lên trước và cuối cùng nhập vào phần được sắp. </a:t>
            </a:r>
            <a:br>
              <a:rPr lang="vi-VN" altLang="en-US" sz="2000" dirty="0"/>
            </a:br>
            <a:endParaRPr lang="en-US" alt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706" y="4162526"/>
            <a:ext cx="3310377" cy="1503767"/>
          </a:xfrm>
          <a:prstGeom prst="rect">
            <a:avLst/>
          </a:prstGeom>
        </p:spPr>
      </p:pic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D3DCDA5E-FF30-423C-A6B0-887A168A6B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9200" y="4295258"/>
            <a:ext cx="2633161" cy="1486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07262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D20AB29-587B-4720-A5CF-8C55A2725CC2}" type="slidenum">
              <a:rPr lang="en-US" altLang="en-US">
                <a:latin typeface="Garamond" panose="02020404030301010803" pitchFamily="18" charset="0"/>
              </a:rPr>
              <a:pPr eaLnBrk="1" hangingPunct="1"/>
              <a:t>17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2.2. </a:t>
            </a:r>
            <a:r>
              <a:rPr lang="en-US" altLang="en-US" dirty="0" err="1" smtClean="0"/>
              <a:t>Sắp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xếp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nổi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bọt</a:t>
            </a:r>
            <a:endParaRPr lang="en-US" altLang="en-US" dirty="0" smtClean="0"/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400" dirty="0" smtClean="0"/>
              <a:t>Ý </a:t>
            </a:r>
            <a:r>
              <a:rPr lang="en-US" altLang="en-US" sz="2400" dirty="0" err="1" smtClean="0"/>
              <a:t>tưởng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giải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thuật</a:t>
            </a:r>
            <a:r>
              <a:rPr lang="en-US" altLang="en-US" sz="2400" dirty="0" smtClean="0"/>
              <a:t>: </a:t>
            </a:r>
          </a:p>
          <a:p>
            <a:pPr lvl="1" eaLnBrk="1" hangingPunct="1"/>
            <a:r>
              <a:rPr lang="en-US" altLang="en-US" sz="2200" dirty="0" err="1" smtClean="0"/>
              <a:t>Giải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thuật</a:t>
            </a:r>
            <a:r>
              <a:rPr lang="en-US" altLang="en-US" sz="2200" dirty="0" smtClean="0"/>
              <a:t>: </a:t>
            </a:r>
          </a:p>
          <a:p>
            <a:pPr lvl="2" eaLnBrk="1" hangingPunct="1"/>
            <a:r>
              <a:rPr lang="en-US" altLang="en-US" sz="2000" dirty="0" smtClean="0"/>
              <a:t>GT </a:t>
            </a:r>
            <a:r>
              <a:rPr lang="en-US" altLang="en-US" sz="2000" dirty="0" err="1" smtClean="0"/>
              <a:t>thực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hiện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trong</a:t>
            </a:r>
            <a:r>
              <a:rPr lang="en-US" altLang="en-US" sz="2000" dirty="0" smtClean="0"/>
              <a:t> </a:t>
            </a:r>
            <a:r>
              <a:rPr lang="en-US" altLang="en-US" sz="2000" b="1" dirty="0" err="1" smtClean="0"/>
              <a:t>tối</a:t>
            </a:r>
            <a:r>
              <a:rPr lang="en-US" altLang="en-US" sz="2000" b="1" dirty="0" smtClean="0"/>
              <a:t> </a:t>
            </a:r>
            <a:r>
              <a:rPr lang="en-US" altLang="en-US" sz="2000" b="1" dirty="0" err="1" smtClean="0"/>
              <a:t>đa</a:t>
            </a:r>
            <a:r>
              <a:rPr lang="en-US" altLang="en-US" sz="2000" b="1" dirty="0" smtClean="0"/>
              <a:t> </a:t>
            </a:r>
            <a:r>
              <a:rPr lang="en-US" altLang="en-US" sz="2000" dirty="0" err="1" smtClean="0"/>
              <a:t>là</a:t>
            </a:r>
            <a:r>
              <a:rPr lang="en-US" altLang="en-US" sz="2000" dirty="0" smtClean="0"/>
              <a:t> N-1 </a:t>
            </a:r>
            <a:r>
              <a:rPr lang="en-US" altLang="en-US" sz="2000" dirty="0" err="1" smtClean="0"/>
              <a:t>bước</a:t>
            </a:r>
            <a:r>
              <a:rPr lang="en-US" altLang="en-US" sz="2000" dirty="0" smtClean="0"/>
              <a:t>, </a:t>
            </a:r>
            <a:r>
              <a:rPr lang="en-US" altLang="en-US" sz="2000" dirty="0" err="1" smtClean="0"/>
              <a:t>đánh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số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các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bước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i</a:t>
            </a:r>
            <a:r>
              <a:rPr lang="en-US" altLang="en-US" sz="2000" dirty="0" smtClean="0"/>
              <a:t>=1,2,3,…</a:t>
            </a:r>
          </a:p>
          <a:p>
            <a:pPr lvl="2" eaLnBrk="1" hangingPunct="1"/>
            <a:r>
              <a:rPr lang="en-US" altLang="en-US" sz="2000" dirty="0" smtClean="0"/>
              <a:t>Ở </a:t>
            </a:r>
            <a:r>
              <a:rPr lang="en-US" altLang="en-US" sz="2000" dirty="0" err="1" smtClean="0"/>
              <a:t>bước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thứ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i</a:t>
            </a:r>
            <a:r>
              <a:rPr lang="en-US" altLang="en-US" sz="2000" dirty="0" smtClean="0"/>
              <a:t>, so </a:t>
            </a:r>
            <a:r>
              <a:rPr lang="en-US" altLang="en-US" sz="2000" dirty="0" err="1" smtClean="0"/>
              <a:t>sánh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lần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lượt</a:t>
            </a:r>
            <a:r>
              <a:rPr lang="en-US" altLang="en-US" sz="2000" dirty="0" smtClean="0"/>
              <a:t> N-</a:t>
            </a:r>
            <a:r>
              <a:rPr lang="en-US" altLang="en-US" sz="2000" dirty="0" err="1" smtClean="0"/>
              <a:t>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cặp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số</a:t>
            </a:r>
            <a:r>
              <a:rPr lang="en-US" altLang="en-US" sz="2000" dirty="0" smtClean="0"/>
              <a:t> (</a:t>
            </a:r>
            <a:r>
              <a:rPr lang="en-US" altLang="en-US" sz="2000" dirty="0" err="1" smtClean="0"/>
              <a:t>a</a:t>
            </a:r>
            <a:r>
              <a:rPr lang="en-US" altLang="en-US" sz="2000" baseline="-25000" dirty="0" err="1" smtClean="0"/>
              <a:t>k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và</a:t>
            </a:r>
            <a:r>
              <a:rPr lang="en-US" altLang="en-US" sz="2000" dirty="0" smtClean="0"/>
              <a:t> a</a:t>
            </a:r>
            <a:r>
              <a:rPr lang="en-US" altLang="en-US" sz="2000" baseline="-25000" dirty="0" smtClean="0"/>
              <a:t>k+1</a:t>
            </a:r>
            <a:r>
              <a:rPr lang="en-US" altLang="en-US" sz="2000" dirty="0" smtClean="0"/>
              <a:t>), </a:t>
            </a:r>
            <a:r>
              <a:rPr lang="en-US" altLang="en-US" sz="2000" dirty="0" err="1" smtClean="0"/>
              <a:t>với</a:t>
            </a:r>
            <a:r>
              <a:rPr lang="en-US" altLang="en-US" sz="2000" dirty="0" smtClean="0"/>
              <a:t> k=N-1,N-2,…,</a:t>
            </a:r>
            <a:r>
              <a:rPr lang="en-US" altLang="en-US" sz="2000" dirty="0" err="1" smtClean="0"/>
              <a:t>i</a:t>
            </a:r>
            <a:r>
              <a:rPr lang="en-US" altLang="en-US" sz="2000" dirty="0" smtClean="0"/>
              <a:t>; </a:t>
            </a:r>
            <a:r>
              <a:rPr lang="en-US" altLang="en-US" sz="2000" dirty="0" err="1" smtClean="0"/>
              <a:t>sao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cho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nếu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a</a:t>
            </a:r>
            <a:r>
              <a:rPr lang="en-US" altLang="en-US" sz="2000" baseline="-25000" dirty="0" err="1" smtClean="0"/>
              <a:t>k</a:t>
            </a:r>
            <a:r>
              <a:rPr lang="en-US" altLang="en-US" sz="2000" dirty="0" smtClean="0"/>
              <a:t> &gt; a</a:t>
            </a:r>
            <a:r>
              <a:rPr lang="en-US" altLang="en-US" sz="2000" baseline="-25000" dirty="0" smtClean="0"/>
              <a:t>k+1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thì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Hoán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Đổi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a</a:t>
            </a:r>
            <a:r>
              <a:rPr lang="en-US" altLang="en-US" sz="2000" baseline="-25000" dirty="0" err="1" smtClean="0"/>
              <a:t>k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và</a:t>
            </a:r>
            <a:r>
              <a:rPr lang="en-US" altLang="en-US" sz="2000" dirty="0" smtClean="0"/>
              <a:t> a</a:t>
            </a:r>
            <a:r>
              <a:rPr lang="en-US" altLang="en-US" sz="2000" baseline="-25000" dirty="0" smtClean="0"/>
              <a:t>k+1</a:t>
            </a:r>
            <a:r>
              <a:rPr lang="en-US" altLang="en-US" sz="2000" dirty="0" smtClean="0"/>
              <a:t> </a:t>
            </a:r>
          </a:p>
          <a:p>
            <a:pPr lvl="2" eaLnBrk="1" hangingPunct="1"/>
            <a:r>
              <a:rPr lang="en-US" altLang="en-US" sz="2000" dirty="0" err="1" smtClean="0"/>
              <a:t>Nếu</a:t>
            </a:r>
            <a:r>
              <a:rPr lang="en-US" altLang="en-US" sz="2000" dirty="0" smtClean="0"/>
              <a:t> ở </a:t>
            </a:r>
            <a:r>
              <a:rPr lang="en-US" altLang="en-US" sz="2000" dirty="0" err="1" smtClean="0"/>
              <a:t>một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bước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nào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đó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mà</a:t>
            </a:r>
            <a:r>
              <a:rPr lang="en-US" altLang="en-US" sz="2000" dirty="0" smtClean="0"/>
              <a:t> ta </a:t>
            </a:r>
            <a:r>
              <a:rPr lang="en-US" altLang="en-US" sz="2000" dirty="0" err="1" smtClean="0"/>
              <a:t>không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phải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hoán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đổi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cặp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nào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thì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chứng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tỏ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dãy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đã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sắp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xếp</a:t>
            </a:r>
            <a:r>
              <a:rPr lang="en-US" altLang="en-US" sz="2000" dirty="0" smtClean="0"/>
              <a:t>, </a:t>
            </a:r>
            <a:r>
              <a:rPr lang="en-US" altLang="en-US" sz="2000" dirty="0" err="1" smtClean="0"/>
              <a:t>nên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dừng</a:t>
            </a:r>
            <a:r>
              <a:rPr lang="en-US" altLang="en-US" sz="2000" dirty="0" smtClean="0"/>
              <a:t> GT ở </a:t>
            </a:r>
            <a:r>
              <a:rPr lang="en-US" altLang="en-US" sz="2000" dirty="0" err="1" smtClean="0"/>
              <a:t>đây</a:t>
            </a:r>
            <a:r>
              <a:rPr lang="en-US" altLang="en-US" sz="2000" dirty="0" smtClean="0"/>
              <a:t>.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590800" y="3581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2000" dirty="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048000" y="3581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2000" dirty="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3505200" y="3581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4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3962400" y="3581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5</a:t>
            </a: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4876800" y="3581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7</a:t>
            </a: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5334000" y="3581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6</a:t>
            </a: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2590800" y="44196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3048000" y="4419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dirty="0"/>
              <a:t>3</a:t>
            </a: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3505200" y="4419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2</a:t>
            </a: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3962400" y="4419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4</a:t>
            </a:r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4419600" y="4419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5</a:t>
            </a:r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4876800" y="4419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6</a:t>
            </a:r>
          </a:p>
        </p:txBody>
      </p:sp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5334000" y="4419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7</a:t>
            </a:r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2590800" y="5181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</a:t>
            </a:r>
          </a:p>
        </p:txBody>
      </p:sp>
      <p:sp>
        <p:nvSpPr>
          <p:cNvPr id="23" name="Rectangle 19"/>
          <p:cNvSpPr>
            <a:spLocks noChangeArrowheads="1"/>
          </p:cNvSpPr>
          <p:nvPr/>
        </p:nvSpPr>
        <p:spPr bwMode="auto">
          <a:xfrm>
            <a:off x="3048000" y="51816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2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3505200" y="5181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3</a:t>
            </a:r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3962400" y="5181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4</a:t>
            </a: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4419600" y="5181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5</a:t>
            </a:r>
          </a:p>
        </p:txBody>
      </p:sp>
      <p:sp>
        <p:nvSpPr>
          <p:cNvPr id="27" name="Rectangle 23"/>
          <p:cNvSpPr>
            <a:spLocks noChangeArrowheads="1"/>
          </p:cNvSpPr>
          <p:nvPr/>
        </p:nvSpPr>
        <p:spPr bwMode="auto">
          <a:xfrm>
            <a:off x="4876800" y="5181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6</a:t>
            </a:r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5334000" y="5181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7</a:t>
            </a:r>
          </a:p>
        </p:txBody>
      </p:sp>
      <p:sp>
        <p:nvSpPr>
          <p:cNvPr id="29" name="Rectangle 25"/>
          <p:cNvSpPr>
            <a:spLocks noChangeArrowheads="1"/>
          </p:cNvSpPr>
          <p:nvPr/>
        </p:nvSpPr>
        <p:spPr bwMode="auto">
          <a:xfrm>
            <a:off x="2590800" y="57150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</a:t>
            </a:r>
          </a:p>
        </p:txBody>
      </p:sp>
      <p:sp>
        <p:nvSpPr>
          <p:cNvPr id="30" name="Rectangle 26"/>
          <p:cNvSpPr>
            <a:spLocks noChangeArrowheads="1"/>
          </p:cNvSpPr>
          <p:nvPr/>
        </p:nvSpPr>
        <p:spPr bwMode="auto">
          <a:xfrm>
            <a:off x="3048000" y="57150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2</a:t>
            </a:r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3505200" y="57150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3</a:t>
            </a:r>
          </a:p>
        </p:txBody>
      </p:sp>
      <p:sp>
        <p:nvSpPr>
          <p:cNvPr id="32" name="Rectangle 28"/>
          <p:cNvSpPr>
            <a:spLocks noChangeArrowheads="1"/>
          </p:cNvSpPr>
          <p:nvPr/>
        </p:nvSpPr>
        <p:spPr bwMode="auto">
          <a:xfrm>
            <a:off x="3962400" y="57150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4</a:t>
            </a:r>
          </a:p>
        </p:txBody>
      </p:sp>
      <p:sp>
        <p:nvSpPr>
          <p:cNvPr id="33" name="Rectangle 29"/>
          <p:cNvSpPr>
            <a:spLocks noChangeArrowheads="1"/>
          </p:cNvSpPr>
          <p:nvPr/>
        </p:nvSpPr>
        <p:spPr bwMode="auto">
          <a:xfrm>
            <a:off x="4419600" y="57150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5</a:t>
            </a:r>
          </a:p>
        </p:txBody>
      </p:sp>
      <p:sp>
        <p:nvSpPr>
          <p:cNvPr id="34" name="Rectangle 30"/>
          <p:cNvSpPr>
            <a:spLocks noChangeArrowheads="1"/>
          </p:cNvSpPr>
          <p:nvPr/>
        </p:nvSpPr>
        <p:spPr bwMode="auto">
          <a:xfrm>
            <a:off x="4876800" y="57150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6</a:t>
            </a:r>
          </a:p>
        </p:txBody>
      </p:sp>
      <p:sp>
        <p:nvSpPr>
          <p:cNvPr id="35" name="Rectangle 31"/>
          <p:cNvSpPr>
            <a:spLocks noChangeArrowheads="1"/>
          </p:cNvSpPr>
          <p:nvPr/>
        </p:nvSpPr>
        <p:spPr bwMode="auto">
          <a:xfrm>
            <a:off x="5334000" y="57150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7</a:t>
            </a:r>
          </a:p>
        </p:txBody>
      </p:sp>
      <p:sp>
        <p:nvSpPr>
          <p:cNvPr id="36" name="Text Box 53"/>
          <p:cNvSpPr txBox="1">
            <a:spLocks noChangeArrowheads="1"/>
          </p:cNvSpPr>
          <p:nvPr/>
        </p:nvSpPr>
        <p:spPr bwMode="auto">
          <a:xfrm>
            <a:off x="1752600" y="4419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i = 1</a:t>
            </a:r>
          </a:p>
        </p:txBody>
      </p:sp>
      <p:sp>
        <p:nvSpPr>
          <p:cNvPr id="37" name="Text Box 54"/>
          <p:cNvSpPr txBox="1">
            <a:spLocks noChangeArrowheads="1"/>
          </p:cNvSpPr>
          <p:nvPr/>
        </p:nvSpPr>
        <p:spPr bwMode="auto">
          <a:xfrm>
            <a:off x="1752600" y="51958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i = 2</a:t>
            </a:r>
          </a:p>
        </p:txBody>
      </p:sp>
      <p:sp>
        <p:nvSpPr>
          <p:cNvPr id="38" name="Text Box 55"/>
          <p:cNvSpPr txBox="1">
            <a:spLocks noChangeArrowheads="1"/>
          </p:cNvSpPr>
          <p:nvPr/>
        </p:nvSpPr>
        <p:spPr bwMode="auto">
          <a:xfrm>
            <a:off x="1752600" y="5729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/>
              <a:t>i = 3</a:t>
            </a:r>
          </a:p>
        </p:txBody>
      </p:sp>
      <p:sp>
        <p:nvSpPr>
          <p:cNvPr id="39" name="Text Box 59"/>
          <p:cNvSpPr txBox="1">
            <a:spLocks noChangeArrowheads="1"/>
          </p:cNvSpPr>
          <p:nvPr/>
        </p:nvSpPr>
        <p:spPr bwMode="auto">
          <a:xfrm>
            <a:off x="5991083" y="5783996"/>
            <a:ext cx="1752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 err="1"/>
              <a:t>dừng</a:t>
            </a:r>
            <a:r>
              <a:rPr lang="en-US" altLang="en-US" b="1" dirty="0"/>
              <a:t> ở </a:t>
            </a:r>
            <a:r>
              <a:rPr lang="en-US" altLang="en-US" b="1" dirty="0" err="1"/>
              <a:t>đây</a:t>
            </a:r>
            <a:endParaRPr lang="en-US" altLang="en-US" b="1" dirty="0"/>
          </a:p>
        </p:txBody>
      </p:sp>
      <p:sp>
        <p:nvSpPr>
          <p:cNvPr id="2" name="Curved Down Arrow 1"/>
          <p:cNvSpPr/>
          <p:nvPr/>
        </p:nvSpPr>
        <p:spPr>
          <a:xfrm flipH="1">
            <a:off x="5038583" y="4238897"/>
            <a:ext cx="524017" cy="152400"/>
          </a:xfrm>
          <a:prstGeom prst="curvedDownArrow">
            <a:avLst>
              <a:gd name="adj1" fmla="val 25000"/>
              <a:gd name="adj2" fmla="val 50000"/>
              <a:gd name="adj3" fmla="val 221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Curved Down Arrow 39"/>
          <p:cNvSpPr/>
          <p:nvPr/>
        </p:nvSpPr>
        <p:spPr>
          <a:xfrm flipH="1">
            <a:off x="4250533" y="4249612"/>
            <a:ext cx="464483" cy="169988"/>
          </a:xfrm>
          <a:prstGeom prst="curvedDownArrow">
            <a:avLst>
              <a:gd name="adj1" fmla="val 25000"/>
              <a:gd name="adj2" fmla="val 50000"/>
              <a:gd name="adj3" fmla="val 221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Curved Down Arrow 40"/>
          <p:cNvSpPr/>
          <p:nvPr/>
        </p:nvSpPr>
        <p:spPr>
          <a:xfrm flipH="1">
            <a:off x="3743182" y="4255648"/>
            <a:ext cx="447817" cy="163952"/>
          </a:xfrm>
          <a:prstGeom prst="curvedDownArrow">
            <a:avLst>
              <a:gd name="adj1" fmla="val 25000"/>
              <a:gd name="adj2" fmla="val 50000"/>
              <a:gd name="adj3" fmla="val 221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Curved Down Arrow 41"/>
          <p:cNvSpPr/>
          <p:nvPr/>
        </p:nvSpPr>
        <p:spPr>
          <a:xfrm flipH="1">
            <a:off x="3232905" y="4255927"/>
            <a:ext cx="424695" cy="163673"/>
          </a:xfrm>
          <a:prstGeom prst="curvedDownArrow">
            <a:avLst>
              <a:gd name="adj1" fmla="val 25000"/>
              <a:gd name="adj2" fmla="val 50000"/>
              <a:gd name="adj3" fmla="val 221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Curved Down Arrow 42"/>
          <p:cNvSpPr/>
          <p:nvPr/>
        </p:nvSpPr>
        <p:spPr>
          <a:xfrm flipH="1">
            <a:off x="2763393" y="4238897"/>
            <a:ext cx="437007" cy="163115"/>
          </a:xfrm>
          <a:prstGeom prst="curvedDownArrow">
            <a:avLst>
              <a:gd name="adj1" fmla="val 25000"/>
              <a:gd name="adj2" fmla="val 50000"/>
              <a:gd name="adj3" fmla="val 221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95024" y="409834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6</a:t>
            </a:r>
            <a:endParaRPr lang="en-US" sz="1200" dirty="0"/>
          </a:p>
        </p:txBody>
      </p:sp>
      <p:sp>
        <p:nvSpPr>
          <p:cNvPr id="44" name="TextBox 43"/>
          <p:cNvSpPr txBox="1"/>
          <p:nvPr/>
        </p:nvSpPr>
        <p:spPr>
          <a:xfrm>
            <a:off x="4133040" y="408030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45" name="TextBox 44"/>
          <p:cNvSpPr txBox="1"/>
          <p:nvPr/>
        </p:nvSpPr>
        <p:spPr>
          <a:xfrm>
            <a:off x="3620441" y="4074491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3096567" y="407497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47" name="TextBox 46"/>
          <p:cNvSpPr txBox="1"/>
          <p:nvPr/>
        </p:nvSpPr>
        <p:spPr>
          <a:xfrm>
            <a:off x="2583385" y="408649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48" name="Curved Down Arrow 47"/>
          <p:cNvSpPr/>
          <p:nvPr/>
        </p:nvSpPr>
        <p:spPr>
          <a:xfrm flipH="1">
            <a:off x="3260538" y="5017927"/>
            <a:ext cx="424695" cy="163673"/>
          </a:xfrm>
          <a:prstGeom prst="curvedDownArrow">
            <a:avLst>
              <a:gd name="adj1" fmla="val 25000"/>
              <a:gd name="adj2" fmla="val 50000"/>
              <a:gd name="adj3" fmla="val 221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124200" y="48768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5612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/>
      <p:bldP spid="37" grpId="0"/>
      <p:bldP spid="38" grpId="0"/>
      <p:bldP spid="39" grpId="0"/>
      <p:bldP spid="2" grpId="0" animBg="1"/>
      <p:bldP spid="40" grpId="0" animBg="1"/>
      <p:bldP spid="41" grpId="0" animBg="1"/>
      <p:bldP spid="42" grpId="0" animBg="1"/>
      <p:bldP spid="43" grpId="0" animBg="1"/>
      <p:bldP spid="3" grpId="0"/>
      <p:bldP spid="44" grpId="0"/>
      <p:bldP spid="45" grpId="0"/>
      <p:bldP spid="46" grpId="0"/>
      <p:bldP spid="47" grpId="0"/>
      <p:bldP spid="48" grpId="0" animBg="1"/>
      <p:bldP spid="4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2.2.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/>
              <a:t>nổi</a:t>
            </a:r>
            <a:r>
              <a:rPr lang="en-US" altLang="en-US" dirty="0"/>
              <a:t> </a:t>
            </a:r>
            <a:r>
              <a:rPr lang="en-US" altLang="en-US" dirty="0" err="1"/>
              <a:t>bọt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25283" y="990600"/>
            <a:ext cx="8674100" cy="5132832"/>
          </a:xfrm>
        </p:spPr>
        <p:txBody>
          <a:bodyPr>
            <a:normAutofit/>
          </a:bodyPr>
          <a:lstStyle/>
          <a:p>
            <a:r>
              <a:rPr lang="en-US" sz="2400" dirty="0" err="1"/>
              <a:t>Giải</a:t>
            </a:r>
            <a:r>
              <a:rPr lang="en-US" sz="2400" dirty="0"/>
              <a:t> </a:t>
            </a:r>
            <a:r>
              <a:rPr lang="en-US" sz="2400" dirty="0" err="1" smtClean="0"/>
              <a:t>thuật</a:t>
            </a:r>
            <a:r>
              <a:rPr lang="en-US" sz="2400" dirty="0" smtClean="0"/>
              <a:t> </a:t>
            </a:r>
            <a:r>
              <a:rPr lang="en-US" sz="2400" dirty="0" err="1" smtClean="0"/>
              <a:t>thô</a:t>
            </a:r>
            <a:endParaRPr lang="en-US" sz="2400" dirty="0" smtClean="0"/>
          </a:p>
          <a:p>
            <a:pPr lvl="1"/>
            <a:r>
              <a:rPr lang="en-US" sz="2100" dirty="0" err="1" smtClean="0"/>
              <a:t>Không</a:t>
            </a:r>
            <a:r>
              <a:rPr lang="en-US" sz="2100" dirty="0" smtClean="0"/>
              <a:t> </a:t>
            </a:r>
            <a:r>
              <a:rPr lang="en-US" sz="2100" dirty="0" err="1" smtClean="0"/>
              <a:t>kiểm</a:t>
            </a:r>
            <a:r>
              <a:rPr lang="en-US" sz="2100" dirty="0" smtClean="0"/>
              <a:t> </a:t>
            </a:r>
            <a:r>
              <a:rPr lang="en-US" sz="2100" dirty="0" err="1" smtClean="0"/>
              <a:t>tra</a:t>
            </a:r>
            <a:r>
              <a:rPr lang="en-US" sz="2100" dirty="0" smtClean="0"/>
              <a:t> </a:t>
            </a:r>
            <a:r>
              <a:rPr lang="en-US" sz="2100" dirty="0" err="1" smtClean="0"/>
              <a:t>điều</a:t>
            </a:r>
            <a:r>
              <a:rPr lang="en-US" sz="2100" dirty="0" smtClean="0"/>
              <a:t> </a:t>
            </a:r>
            <a:r>
              <a:rPr lang="en-US" sz="2100" dirty="0" err="1" smtClean="0"/>
              <a:t>kiện</a:t>
            </a:r>
            <a:r>
              <a:rPr lang="en-US" sz="2100" dirty="0" smtClean="0"/>
              <a:t> </a:t>
            </a:r>
            <a:r>
              <a:rPr lang="en-US" sz="2100" dirty="0" err="1" smtClean="0"/>
              <a:t>dừng</a:t>
            </a:r>
            <a:endParaRPr lang="en-US" sz="2100" dirty="0"/>
          </a:p>
          <a:p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1571483" y="1905000"/>
            <a:ext cx="63246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en-US" sz="2200" dirty="0">
                <a:latin typeface="Courier New" panose="02070309020205020404" pitchFamily="49" charset="0"/>
              </a:rPr>
              <a:t>void </a:t>
            </a:r>
            <a:r>
              <a:rPr lang="en-US" altLang="en-US" sz="2200" b="1" dirty="0" err="1" smtClean="0">
                <a:latin typeface="Courier New" panose="02070309020205020404" pitchFamily="49" charset="0"/>
              </a:rPr>
              <a:t>SXNoiBot</a:t>
            </a:r>
            <a:r>
              <a:rPr lang="en-US" altLang="en-US" sz="2200" dirty="0" smtClean="0">
                <a:latin typeface="Courier New" panose="02070309020205020404" pitchFamily="49" charset="0"/>
              </a:rPr>
              <a:t>(</a:t>
            </a:r>
            <a:r>
              <a:rPr lang="en-US" altLang="en-US" sz="2200" dirty="0" err="1" smtClean="0">
                <a:latin typeface="Courier New" panose="02070309020205020404" pitchFamily="49" charset="0"/>
              </a:rPr>
              <a:t>DaySo</a:t>
            </a:r>
            <a:r>
              <a:rPr lang="en-US" altLang="en-US" sz="2200" dirty="0" smtClean="0">
                <a:latin typeface="Courier New" panose="02070309020205020404" pitchFamily="49" charset="0"/>
              </a:rPr>
              <a:t> </a:t>
            </a:r>
            <a:r>
              <a:rPr lang="en-US" altLang="en-US" sz="2200" dirty="0">
                <a:latin typeface="Courier New" panose="02070309020205020404" pitchFamily="49" charset="0"/>
              </a:rPr>
              <a:t>a) {</a:t>
            </a:r>
          </a:p>
          <a:p>
            <a:pPr lvl="2"/>
            <a:r>
              <a:rPr lang="nn-NO" altLang="en-US" sz="2200" dirty="0" smtClean="0">
                <a:latin typeface="Courier New" panose="02070309020205020404" pitchFamily="49" charset="0"/>
              </a:rPr>
              <a:t>for </a:t>
            </a:r>
            <a:r>
              <a:rPr lang="nn-NO" altLang="en-US" sz="2200" dirty="0">
                <a:latin typeface="Courier New" panose="02070309020205020404" pitchFamily="49" charset="0"/>
              </a:rPr>
              <a:t>(i = </a:t>
            </a:r>
            <a:r>
              <a:rPr lang="nn-NO" altLang="en-US" sz="2200" dirty="0" smtClean="0">
                <a:latin typeface="Courier New" panose="02070309020205020404" pitchFamily="49" charset="0"/>
              </a:rPr>
              <a:t>1; </a:t>
            </a:r>
            <a:r>
              <a:rPr lang="nn-NO" altLang="en-US" sz="2200" dirty="0">
                <a:latin typeface="Courier New" panose="02070309020205020404" pitchFamily="49" charset="0"/>
              </a:rPr>
              <a:t>i </a:t>
            </a:r>
            <a:r>
              <a:rPr lang="nn-NO" altLang="en-US" sz="2200" dirty="0" smtClean="0">
                <a:latin typeface="Courier New" panose="02070309020205020404" pitchFamily="49" charset="0"/>
              </a:rPr>
              <a:t>&lt; N; i++)</a:t>
            </a:r>
            <a:r>
              <a:rPr lang="en-US" altLang="en-US" sz="2200" dirty="0" smtClean="0">
                <a:latin typeface="Courier New" panose="02070309020205020404" pitchFamily="49" charset="0"/>
              </a:rPr>
              <a:t>{</a:t>
            </a:r>
          </a:p>
          <a:p>
            <a:pPr lvl="2"/>
            <a:r>
              <a:rPr lang="en-US" altLang="en-US" sz="2200" dirty="0" smtClean="0">
                <a:latin typeface="Courier New" panose="02070309020205020404" pitchFamily="49" charset="0"/>
              </a:rPr>
              <a:t>   for </a:t>
            </a:r>
            <a:r>
              <a:rPr lang="en-US" altLang="en-US" sz="2200" dirty="0">
                <a:latin typeface="Courier New" panose="02070309020205020404" pitchFamily="49" charset="0"/>
              </a:rPr>
              <a:t>(k=N-1;k&gt;=</a:t>
            </a:r>
            <a:r>
              <a:rPr lang="en-US" altLang="en-US" sz="2200" dirty="0" err="1">
                <a:latin typeface="Courier New" panose="02070309020205020404" pitchFamily="49" charset="0"/>
              </a:rPr>
              <a:t>i;k</a:t>
            </a:r>
            <a:r>
              <a:rPr lang="en-US" altLang="en-US" sz="2200" dirty="0">
                <a:latin typeface="Courier New" panose="02070309020205020404" pitchFamily="49" charset="0"/>
              </a:rPr>
              <a:t>--)</a:t>
            </a:r>
          </a:p>
          <a:p>
            <a:pPr lvl="2"/>
            <a:r>
              <a:rPr lang="en-US" altLang="en-US" sz="2200" dirty="0">
                <a:latin typeface="Courier New" panose="02070309020205020404" pitchFamily="49" charset="0"/>
              </a:rPr>
              <a:t>        if (</a:t>
            </a:r>
            <a:r>
              <a:rPr lang="en-US" altLang="en-US" sz="2200" dirty="0" err="1">
                <a:latin typeface="Courier New" panose="02070309020205020404" pitchFamily="49" charset="0"/>
              </a:rPr>
              <a:t>a</a:t>
            </a:r>
            <a:r>
              <a:rPr lang="en-US" altLang="en-US" sz="2200" baseline="-25000" dirty="0" err="1">
                <a:latin typeface="Courier New" panose="02070309020205020404" pitchFamily="49" charset="0"/>
              </a:rPr>
              <a:t>k</a:t>
            </a:r>
            <a:r>
              <a:rPr lang="en-US" altLang="en-US" sz="2200" dirty="0">
                <a:latin typeface="Courier New" panose="02070309020205020404" pitchFamily="49" charset="0"/>
              </a:rPr>
              <a:t> &gt; a</a:t>
            </a:r>
            <a:r>
              <a:rPr lang="en-US" altLang="en-US" sz="2200" baseline="-25000" dirty="0">
                <a:latin typeface="Courier New" panose="02070309020205020404" pitchFamily="49" charset="0"/>
              </a:rPr>
              <a:t>k+1</a:t>
            </a:r>
            <a:r>
              <a:rPr lang="en-US" altLang="en-US" sz="2200" dirty="0">
                <a:latin typeface="Courier New" panose="02070309020205020404" pitchFamily="49" charset="0"/>
              </a:rPr>
              <a:t>) {</a:t>
            </a:r>
          </a:p>
          <a:p>
            <a:pPr lvl="2"/>
            <a:r>
              <a:rPr lang="en-US" altLang="en-US" sz="2200" dirty="0">
                <a:latin typeface="Courier New" panose="02070309020205020404" pitchFamily="49" charset="0"/>
              </a:rPr>
              <a:t>           </a:t>
            </a:r>
            <a:r>
              <a:rPr lang="en-US" altLang="en-US" sz="2200" b="1" dirty="0" err="1">
                <a:latin typeface="Courier New" panose="02070309020205020404" pitchFamily="49" charset="0"/>
              </a:rPr>
              <a:t>HoanDoi</a:t>
            </a:r>
            <a:r>
              <a:rPr lang="en-US" altLang="en-US" sz="2200" dirty="0">
                <a:latin typeface="Courier New" panose="02070309020205020404" pitchFamily="49" charset="0"/>
              </a:rPr>
              <a:t>(</a:t>
            </a:r>
            <a:r>
              <a:rPr lang="en-US" altLang="en-US" sz="2200" dirty="0" err="1">
                <a:latin typeface="Courier New" panose="02070309020205020404" pitchFamily="49" charset="0"/>
              </a:rPr>
              <a:t>a</a:t>
            </a:r>
            <a:r>
              <a:rPr lang="en-US" altLang="en-US" sz="2200" baseline="-25000" dirty="0" err="1">
                <a:latin typeface="Courier New" panose="02070309020205020404" pitchFamily="49" charset="0"/>
              </a:rPr>
              <a:t>k</a:t>
            </a:r>
            <a:r>
              <a:rPr lang="en-US" altLang="en-US" sz="2200" dirty="0">
                <a:latin typeface="Courier New" panose="02070309020205020404" pitchFamily="49" charset="0"/>
              </a:rPr>
              <a:t>, a</a:t>
            </a:r>
            <a:r>
              <a:rPr lang="en-US" altLang="en-US" sz="2200" baseline="-25000" dirty="0">
                <a:latin typeface="Courier New" panose="02070309020205020404" pitchFamily="49" charset="0"/>
              </a:rPr>
              <a:t>k+1</a:t>
            </a:r>
            <a:r>
              <a:rPr lang="en-US" altLang="en-US" sz="2200" dirty="0">
                <a:latin typeface="Courier New" panose="02070309020205020404" pitchFamily="49" charset="0"/>
              </a:rPr>
              <a:t>);</a:t>
            </a:r>
          </a:p>
          <a:p>
            <a:pPr lvl="2"/>
            <a:r>
              <a:rPr lang="en-US" altLang="en-US" sz="2200" dirty="0" smtClean="0">
                <a:latin typeface="Courier New" panose="02070309020205020404" pitchFamily="49" charset="0"/>
              </a:rPr>
              <a:t>   }</a:t>
            </a:r>
            <a:endParaRPr lang="en-US" altLang="en-US" sz="2200" dirty="0">
              <a:latin typeface="Courier New" panose="02070309020205020404" pitchFamily="49" charset="0"/>
            </a:endParaRPr>
          </a:p>
          <a:p>
            <a:pPr lvl="2"/>
            <a:r>
              <a:rPr lang="en-US" altLang="en-US" sz="2200" dirty="0" smtClean="0">
                <a:latin typeface="Courier New" panose="02070309020205020404" pitchFamily="49" charset="0"/>
              </a:rPr>
              <a:t>}</a:t>
            </a:r>
            <a:endParaRPr lang="en-US" altLang="en-US" sz="2200" dirty="0">
              <a:latin typeface="Courier New" panose="02070309020205020404" pitchFamily="49" charset="0"/>
            </a:endParaRPr>
          </a:p>
          <a:p>
            <a:pPr lvl="1"/>
            <a:r>
              <a:rPr lang="en-US" altLang="en-US" sz="2200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56767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82D44A4-2231-40FA-BCF0-7BC4ED232FDF}" type="slidenum">
              <a:rPr lang="en-US" altLang="en-US">
                <a:latin typeface="Garamond" panose="02020404030301010803" pitchFamily="18" charset="0"/>
              </a:rPr>
              <a:pPr eaLnBrk="1" hangingPunct="1"/>
              <a:t>19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2.2.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/>
              <a:t>nổi</a:t>
            </a:r>
            <a:r>
              <a:rPr lang="en-US" altLang="en-US" dirty="0"/>
              <a:t> </a:t>
            </a:r>
            <a:r>
              <a:rPr lang="en-US" altLang="en-US" dirty="0" err="1"/>
              <a:t>bọt</a:t>
            </a:r>
            <a:endParaRPr lang="en-US" altLang="en-US" dirty="0" smtClean="0">
              <a:cs typeface="Arial" panose="020B0604020202020204" pitchFamily="34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thuật</a:t>
            </a:r>
            <a:r>
              <a:rPr lang="en-US" sz="2400" dirty="0" smtClean="0"/>
              <a:t> </a:t>
            </a:r>
            <a:r>
              <a:rPr lang="en-US" sz="2400" dirty="0" err="1" smtClean="0"/>
              <a:t>cải</a:t>
            </a:r>
            <a:r>
              <a:rPr lang="en-US" sz="2400" dirty="0" smtClean="0"/>
              <a:t> </a:t>
            </a:r>
            <a:r>
              <a:rPr lang="en-US" sz="2400" dirty="0" err="1" smtClean="0"/>
              <a:t>tiến</a:t>
            </a:r>
            <a:endParaRPr lang="en-US" sz="2400" dirty="0" smtClean="0"/>
          </a:p>
          <a:p>
            <a:pPr lvl="1"/>
            <a:r>
              <a:rPr lang="en-US" sz="2100" dirty="0" err="1" smtClean="0"/>
              <a:t>Có</a:t>
            </a:r>
            <a:r>
              <a:rPr lang="en-US" sz="2100" dirty="0" smtClean="0"/>
              <a:t> </a:t>
            </a:r>
            <a:r>
              <a:rPr lang="en-US" sz="2100" dirty="0" err="1"/>
              <a:t>kiểm</a:t>
            </a:r>
            <a:r>
              <a:rPr lang="en-US" sz="2100" dirty="0"/>
              <a:t> </a:t>
            </a:r>
            <a:r>
              <a:rPr lang="en-US" sz="2100" dirty="0" err="1"/>
              <a:t>tra</a:t>
            </a:r>
            <a:r>
              <a:rPr lang="en-US" sz="2100" dirty="0"/>
              <a:t> </a:t>
            </a:r>
            <a:r>
              <a:rPr lang="en-US" sz="2100" dirty="0" err="1"/>
              <a:t>điều</a:t>
            </a:r>
            <a:r>
              <a:rPr lang="en-US" sz="2100" dirty="0"/>
              <a:t> </a:t>
            </a:r>
            <a:r>
              <a:rPr lang="en-US" sz="2100" dirty="0" err="1"/>
              <a:t>kiện</a:t>
            </a:r>
            <a:r>
              <a:rPr lang="en-US" sz="2100" dirty="0"/>
              <a:t> </a:t>
            </a:r>
            <a:r>
              <a:rPr lang="en-US" sz="2100" dirty="0" err="1"/>
              <a:t>dừng</a:t>
            </a:r>
            <a:endParaRPr lang="en-US" sz="2100" dirty="0"/>
          </a:p>
          <a:p>
            <a:pPr lvl="1"/>
            <a:endParaRPr lang="en-US" sz="2100" dirty="0"/>
          </a:p>
        </p:txBody>
      </p:sp>
      <p:sp>
        <p:nvSpPr>
          <p:cNvPr id="15366" name="AutoShape 4"/>
          <p:cNvSpPr>
            <a:spLocks noChangeArrowheads="1"/>
          </p:cNvSpPr>
          <p:nvPr/>
        </p:nvSpPr>
        <p:spPr bwMode="auto">
          <a:xfrm>
            <a:off x="1219200" y="1905000"/>
            <a:ext cx="7010400" cy="4280263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/>
            <a:r>
              <a:rPr lang="en-US" altLang="en-US" sz="2200" dirty="0">
                <a:latin typeface="Courier New" panose="02070309020205020404" pitchFamily="49" charset="0"/>
              </a:rPr>
              <a:t>void </a:t>
            </a:r>
            <a:r>
              <a:rPr lang="en-US" altLang="en-US" sz="2200" b="1" dirty="0" err="1" smtClean="0">
                <a:latin typeface="Courier New" panose="02070309020205020404" pitchFamily="49" charset="0"/>
              </a:rPr>
              <a:t>SXNoiBot</a:t>
            </a:r>
            <a:r>
              <a:rPr lang="en-US" altLang="en-US" sz="2200" dirty="0" smtClean="0">
                <a:latin typeface="Courier New" panose="02070309020205020404" pitchFamily="49" charset="0"/>
              </a:rPr>
              <a:t>(</a:t>
            </a:r>
            <a:r>
              <a:rPr lang="en-US" altLang="en-US" sz="2200" dirty="0" err="1" smtClean="0">
                <a:latin typeface="Courier New" panose="02070309020205020404" pitchFamily="49" charset="0"/>
              </a:rPr>
              <a:t>DaySo</a:t>
            </a:r>
            <a:r>
              <a:rPr lang="en-US" altLang="en-US" sz="2200" dirty="0" smtClean="0">
                <a:latin typeface="Courier New" panose="02070309020205020404" pitchFamily="49" charset="0"/>
              </a:rPr>
              <a:t> </a:t>
            </a:r>
            <a:r>
              <a:rPr lang="en-US" altLang="en-US" sz="2200" dirty="0">
                <a:latin typeface="Courier New" panose="02070309020205020404" pitchFamily="49" charset="0"/>
              </a:rPr>
              <a:t>a) {</a:t>
            </a:r>
          </a:p>
          <a:p>
            <a:pPr lvl="2" eaLnBrk="1" hangingPunct="1"/>
            <a:r>
              <a:rPr lang="en-US" altLang="en-US" sz="2200" dirty="0" err="1" smtClean="0">
                <a:latin typeface="Courier New" panose="02070309020205020404" pitchFamily="49" charset="0"/>
              </a:rPr>
              <a:t>i</a:t>
            </a:r>
            <a:r>
              <a:rPr lang="en-US" altLang="en-US" sz="2200" dirty="0" smtClean="0">
                <a:latin typeface="Courier New" panose="02070309020205020404" pitchFamily="49" charset="0"/>
              </a:rPr>
              <a:t> </a:t>
            </a:r>
            <a:r>
              <a:rPr lang="en-US" altLang="en-US" sz="2200" dirty="0">
                <a:latin typeface="Courier New" panose="02070309020205020404" pitchFamily="49" charset="0"/>
              </a:rPr>
              <a:t>= 1; </a:t>
            </a:r>
          </a:p>
          <a:p>
            <a:pPr lvl="2" eaLnBrk="1" hangingPunct="1"/>
            <a:r>
              <a:rPr lang="en-US" altLang="en-US" sz="2200" dirty="0">
                <a:latin typeface="Courier New" panose="02070309020205020404" pitchFamily="49" charset="0"/>
              </a:rPr>
              <a:t>sorted = False;</a:t>
            </a:r>
          </a:p>
          <a:p>
            <a:pPr lvl="2" eaLnBrk="1" hangingPunct="1"/>
            <a:r>
              <a:rPr lang="en-US" altLang="en-US" sz="2200" dirty="0">
                <a:latin typeface="Courier New" panose="02070309020205020404" pitchFamily="49" charset="0"/>
              </a:rPr>
              <a:t>while (!sorted &amp;&amp; </a:t>
            </a:r>
            <a:r>
              <a:rPr lang="en-US" altLang="en-US" sz="2200" dirty="0" err="1">
                <a:latin typeface="Courier New" panose="02070309020205020404" pitchFamily="49" charset="0"/>
              </a:rPr>
              <a:t>i</a:t>
            </a:r>
            <a:r>
              <a:rPr lang="en-US" altLang="en-US" sz="2200" dirty="0">
                <a:latin typeface="Courier New" panose="02070309020205020404" pitchFamily="49" charset="0"/>
              </a:rPr>
              <a:t>&lt;N) {</a:t>
            </a:r>
          </a:p>
          <a:p>
            <a:pPr lvl="2" eaLnBrk="1" hangingPunct="1"/>
            <a:r>
              <a:rPr lang="en-US" altLang="en-US" sz="2200" dirty="0">
                <a:latin typeface="Courier New" panose="02070309020205020404" pitchFamily="49" charset="0"/>
              </a:rPr>
              <a:t>   sorted = True;</a:t>
            </a:r>
          </a:p>
          <a:p>
            <a:pPr lvl="2" eaLnBrk="1" hangingPunct="1"/>
            <a:r>
              <a:rPr lang="en-US" altLang="en-US" sz="2200" dirty="0">
                <a:latin typeface="Courier New" panose="02070309020205020404" pitchFamily="49" charset="0"/>
              </a:rPr>
              <a:t>   for (k=N-1;k&gt;=</a:t>
            </a:r>
            <a:r>
              <a:rPr lang="en-US" altLang="en-US" sz="2200" dirty="0" err="1">
                <a:latin typeface="Courier New" panose="02070309020205020404" pitchFamily="49" charset="0"/>
              </a:rPr>
              <a:t>i;k</a:t>
            </a:r>
            <a:r>
              <a:rPr lang="en-US" altLang="en-US" sz="2200" dirty="0">
                <a:latin typeface="Courier New" panose="02070309020205020404" pitchFamily="49" charset="0"/>
              </a:rPr>
              <a:t>--)</a:t>
            </a:r>
          </a:p>
          <a:p>
            <a:pPr lvl="2" eaLnBrk="1" hangingPunct="1"/>
            <a:r>
              <a:rPr lang="en-US" altLang="en-US" sz="2200" dirty="0">
                <a:latin typeface="Courier New" panose="02070309020205020404" pitchFamily="49" charset="0"/>
              </a:rPr>
              <a:t>        if (</a:t>
            </a:r>
            <a:r>
              <a:rPr lang="en-US" altLang="en-US" sz="2200" dirty="0" err="1">
                <a:latin typeface="Courier New" panose="02070309020205020404" pitchFamily="49" charset="0"/>
              </a:rPr>
              <a:t>a</a:t>
            </a:r>
            <a:r>
              <a:rPr lang="en-US" altLang="en-US" sz="2200" baseline="-25000" dirty="0" err="1">
                <a:latin typeface="Courier New" panose="02070309020205020404" pitchFamily="49" charset="0"/>
              </a:rPr>
              <a:t>k</a:t>
            </a:r>
            <a:r>
              <a:rPr lang="en-US" altLang="en-US" sz="2200" dirty="0">
                <a:latin typeface="Courier New" panose="02070309020205020404" pitchFamily="49" charset="0"/>
              </a:rPr>
              <a:t> &gt; a</a:t>
            </a:r>
            <a:r>
              <a:rPr lang="en-US" altLang="en-US" sz="2200" baseline="-25000" dirty="0">
                <a:latin typeface="Courier New" panose="02070309020205020404" pitchFamily="49" charset="0"/>
              </a:rPr>
              <a:t>k+1</a:t>
            </a:r>
            <a:r>
              <a:rPr lang="en-US" altLang="en-US" sz="2200" dirty="0">
                <a:latin typeface="Courier New" panose="02070309020205020404" pitchFamily="49" charset="0"/>
              </a:rPr>
              <a:t>) {</a:t>
            </a:r>
          </a:p>
          <a:p>
            <a:pPr lvl="2" eaLnBrk="1" hangingPunct="1"/>
            <a:r>
              <a:rPr lang="en-US" altLang="en-US" sz="2200" dirty="0">
                <a:latin typeface="Courier New" panose="02070309020205020404" pitchFamily="49" charset="0"/>
              </a:rPr>
              <a:t>           </a:t>
            </a:r>
            <a:r>
              <a:rPr lang="en-US" altLang="en-US" sz="2200" b="1" dirty="0" err="1" smtClean="0">
                <a:latin typeface="Courier New" panose="02070309020205020404" pitchFamily="49" charset="0"/>
              </a:rPr>
              <a:t>HoanDoi</a:t>
            </a:r>
            <a:r>
              <a:rPr lang="en-US" altLang="en-US" sz="2200" dirty="0" smtClean="0">
                <a:latin typeface="Courier New" panose="02070309020205020404" pitchFamily="49" charset="0"/>
              </a:rPr>
              <a:t>(</a:t>
            </a:r>
            <a:r>
              <a:rPr lang="en-US" altLang="en-US" sz="2200" dirty="0" err="1" smtClean="0">
                <a:latin typeface="Courier New" panose="02070309020205020404" pitchFamily="49" charset="0"/>
              </a:rPr>
              <a:t>a</a:t>
            </a:r>
            <a:r>
              <a:rPr lang="en-US" altLang="en-US" sz="2200" baseline="-25000" dirty="0" err="1" smtClean="0">
                <a:latin typeface="Courier New" panose="02070309020205020404" pitchFamily="49" charset="0"/>
              </a:rPr>
              <a:t>k</a:t>
            </a:r>
            <a:r>
              <a:rPr lang="en-US" altLang="en-US" sz="2200" dirty="0">
                <a:latin typeface="Courier New" panose="02070309020205020404" pitchFamily="49" charset="0"/>
              </a:rPr>
              <a:t>, a</a:t>
            </a:r>
            <a:r>
              <a:rPr lang="en-US" altLang="en-US" sz="2200" baseline="-25000" dirty="0">
                <a:latin typeface="Courier New" panose="02070309020205020404" pitchFamily="49" charset="0"/>
              </a:rPr>
              <a:t>k+1</a:t>
            </a:r>
            <a:r>
              <a:rPr lang="en-US" altLang="en-US" sz="2200" dirty="0">
                <a:latin typeface="Courier New" panose="02070309020205020404" pitchFamily="49" charset="0"/>
              </a:rPr>
              <a:t>);</a:t>
            </a:r>
          </a:p>
          <a:p>
            <a:pPr lvl="2" eaLnBrk="1" hangingPunct="1"/>
            <a:r>
              <a:rPr lang="en-US" altLang="en-US" sz="2200" dirty="0">
                <a:latin typeface="Courier New" panose="02070309020205020404" pitchFamily="49" charset="0"/>
              </a:rPr>
              <a:t>           sorted = False;</a:t>
            </a:r>
          </a:p>
          <a:p>
            <a:pPr lvl="2" eaLnBrk="1" hangingPunct="1"/>
            <a:r>
              <a:rPr lang="en-US" altLang="en-US" sz="2200" dirty="0">
                <a:latin typeface="Courier New" panose="02070309020205020404" pitchFamily="49" charset="0"/>
              </a:rPr>
              <a:t>        }</a:t>
            </a:r>
          </a:p>
          <a:p>
            <a:pPr lvl="2" eaLnBrk="1" hangingPunct="1"/>
            <a:r>
              <a:rPr lang="en-US" altLang="en-US" sz="2200" dirty="0">
                <a:latin typeface="Courier New" panose="02070309020205020404" pitchFamily="49" charset="0"/>
              </a:rPr>
              <a:t>   </a:t>
            </a:r>
            <a:r>
              <a:rPr lang="en-US" altLang="en-US" sz="2200" dirty="0" err="1">
                <a:latin typeface="Courier New" panose="02070309020205020404" pitchFamily="49" charset="0"/>
              </a:rPr>
              <a:t>i</a:t>
            </a:r>
            <a:r>
              <a:rPr lang="en-US" altLang="en-US" sz="2200" dirty="0">
                <a:latin typeface="Courier New" panose="02070309020205020404" pitchFamily="49" charset="0"/>
              </a:rPr>
              <a:t>++;</a:t>
            </a:r>
          </a:p>
          <a:p>
            <a:pPr lvl="2" eaLnBrk="1" hangingPunct="1"/>
            <a:r>
              <a:rPr lang="en-US" altLang="en-US" sz="2200" dirty="0" smtClean="0">
                <a:latin typeface="Courier New" panose="02070309020205020404" pitchFamily="49" charset="0"/>
              </a:rPr>
              <a:t>}</a:t>
            </a:r>
          </a:p>
          <a:p>
            <a:pPr lvl="1" eaLnBrk="1" hangingPunct="1"/>
            <a:r>
              <a:rPr lang="en-US" altLang="en-US" sz="2200" dirty="0" smtClean="0">
                <a:latin typeface="Courier New" panose="02070309020205020404" pitchFamily="49" charset="0"/>
              </a:rPr>
              <a:t>}</a:t>
            </a:r>
            <a:endParaRPr lang="en-US" altLang="en-US" sz="22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02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BCF6583-A1E8-46FF-82AA-73E44B1FDA99}" type="slidenum">
              <a:rPr lang="en-US" altLang="en-US">
                <a:latin typeface="Garamond" panose="02020404030301010803" pitchFamily="18" charset="0"/>
              </a:rPr>
              <a:pPr eaLnBrk="1" hangingPunct="1"/>
              <a:t>20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2.2.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/>
              <a:t>nổi</a:t>
            </a:r>
            <a:r>
              <a:rPr lang="en-US" altLang="en-US" dirty="0"/>
              <a:t> </a:t>
            </a:r>
            <a:r>
              <a:rPr lang="en-US" altLang="en-US" dirty="0" err="1"/>
              <a:t>bọt</a:t>
            </a:r>
            <a:endParaRPr lang="en-US" altLang="en-US" dirty="0" smtClean="0">
              <a:cs typeface="Arial" panose="020B0604020202020204" pitchFamily="34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Cài</a:t>
            </a:r>
            <a:r>
              <a:rPr lang="en-US" sz="2400" dirty="0" smtClean="0"/>
              <a:t> </a:t>
            </a:r>
            <a:r>
              <a:rPr lang="en-US" sz="2400" dirty="0" err="1" smtClean="0"/>
              <a:t>đặt</a:t>
            </a:r>
            <a:r>
              <a:rPr lang="en-US" sz="2400" dirty="0" smtClean="0"/>
              <a:t>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thuật</a:t>
            </a:r>
            <a:endParaRPr lang="en-US" sz="2400" dirty="0"/>
          </a:p>
        </p:txBody>
      </p:sp>
      <p:sp>
        <p:nvSpPr>
          <p:cNvPr id="16390" name="AutoShape 4"/>
          <p:cNvSpPr>
            <a:spLocks noChangeArrowheads="1"/>
          </p:cNvSpPr>
          <p:nvPr/>
        </p:nvSpPr>
        <p:spPr bwMode="auto">
          <a:xfrm>
            <a:off x="762000" y="1524000"/>
            <a:ext cx="7620000" cy="434340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/>
            <a:r>
              <a:rPr lang="en-US" altLang="en-US" sz="2000" dirty="0">
                <a:latin typeface="Courier New" panose="02070309020205020404" pitchFamily="49" charset="0"/>
              </a:rPr>
              <a:t>void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bubbleSort</a:t>
            </a:r>
            <a:r>
              <a:rPr lang="en-US" altLang="en-US" sz="2000" dirty="0">
                <a:latin typeface="Courier New" panose="02070309020205020404" pitchFamily="49" charset="0"/>
              </a:rPr>
              <a:t>(</a:t>
            </a:r>
            <a:r>
              <a:rPr lang="en-US" altLang="en-US" sz="2000" dirty="0" err="1">
                <a:latin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</a:rPr>
              <a:t> A[], </a:t>
            </a:r>
            <a:r>
              <a:rPr lang="en-US" altLang="en-US" sz="2000" dirty="0" err="1">
                <a:latin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</a:rPr>
              <a:t> N) {</a:t>
            </a:r>
          </a:p>
          <a:p>
            <a:pPr lvl="2" eaLnBrk="1" hangingPunct="1"/>
            <a:r>
              <a:rPr lang="en-US" altLang="en-US" sz="2000" dirty="0" err="1">
                <a:latin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</a:rPr>
              <a:t> </a:t>
            </a:r>
            <a:r>
              <a:rPr lang="en-US" altLang="en-US" sz="2000" dirty="0" err="1">
                <a:latin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</a:rPr>
              <a:t> = </a:t>
            </a:r>
            <a:r>
              <a:rPr lang="en-US" altLang="en-US" sz="2000" dirty="0" smtClean="0">
                <a:latin typeface="Courier New" panose="02070309020205020404" pitchFamily="49" charset="0"/>
              </a:rPr>
              <a:t>0, k; 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 lvl="2" eaLnBrk="1" hangingPunct="1"/>
            <a:r>
              <a:rPr lang="en-US" altLang="en-US" sz="2000" dirty="0" err="1" smtClean="0">
                <a:latin typeface="Courier New" panose="02070309020205020404" pitchFamily="49" charset="0"/>
              </a:rPr>
              <a:t>int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</a:t>
            </a:r>
            <a:r>
              <a:rPr lang="en-US" altLang="en-US" sz="2000" dirty="0">
                <a:latin typeface="Courier New" panose="02070309020205020404" pitchFamily="49" charset="0"/>
              </a:rPr>
              <a:t>sorted = </a:t>
            </a:r>
            <a:r>
              <a:rPr lang="en-US" altLang="en-US" sz="2000" dirty="0" smtClean="0">
                <a:latin typeface="Courier New" panose="02070309020205020404" pitchFamily="49" charset="0"/>
              </a:rPr>
              <a:t>0;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 lvl="2" eaLnBrk="1" hangingPunct="1"/>
            <a:r>
              <a:rPr lang="en-US" altLang="en-US" sz="2000" dirty="0">
                <a:latin typeface="Courier New" panose="02070309020205020404" pitchFamily="49" charset="0"/>
              </a:rPr>
              <a:t>while (!sorted &amp;&amp; </a:t>
            </a:r>
            <a:r>
              <a:rPr lang="en-US" altLang="en-US" sz="2000" dirty="0" err="1">
                <a:latin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</a:rPr>
              <a:t>&lt;N-1) {</a:t>
            </a:r>
          </a:p>
          <a:p>
            <a:pPr lvl="2" eaLnBrk="1" hangingPunct="1"/>
            <a:r>
              <a:rPr lang="en-US" altLang="en-US" sz="2000" dirty="0">
                <a:latin typeface="Courier New" panose="02070309020205020404" pitchFamily="49" charset="0"/>
              </a:rPr>
              <a:t>   sorted = </a:t>
            </a:r>
            <a:r>
              <a:rPr lang="en-US" altLang="en-US" sz="2000" dirty="0" smtClean="0">
                <a:latin typeface="Courier New" panose="02070309020205020404" pitchFamily="49" charset="0"/>
              </a:rPr>
              <a:t>1;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 lvl="2" eaLnBrk="1" hangingPunct="1"/>
            <a:r>
              <a:rPr lang="en-US" altLang="en-US" sz="2000" dirty="0">
                <a:latin typeface="Courier New" panose="02070309020205020404" pitchFamily="49" charset="0"/>
              </a:rPr>
              <a:t>   for (k=N-2;k&gt;=</a:t>
            </a:r>
            <a:r>
              <a:rPr lang="en-US" altLang="en-US" sz="2000" dirty="0" err="1">
                <a:latin typeface="Courier New" panose="02070309020205020404" pitchFamily="49" charset="0"/>
              </a:rPr>
              <a:t>i;k</a:t>
            </a:r>
            <a:r>
              <a:rPr lang="en-US" altLang="en-US" sz="2000" dirty="0">
                <a:latin typeface="Courier New" panose="02070309020205020404" pitchFamily="49" charset="0"/>
              </a:rPr>
              <a:t>--)</a:t>
            </a:r>
          </a:p>
          <a:p>
            <a:pPr lvl="2" eaLnBrk="1" hangingPunct="1"/>
            <a:r>
              <a:rPr lang="en-US" altLang="en-US" sz="2000" dirty="0">
                <a:latin typeface="Courier New" panose="02070309020205020404" pitchFamily="49" charset="0"/>
              </a:rPr>
              <a:t>        if (A[k] &gt; A[k+1]) {</a:t>
            </a:r>
          </a:p>
          <a:p>
            <a:pPr lvl="2" eaLnBrk="1" hangingPunct="1"/>
            <a:r>
              <a:rPr lang="en-US" altLang="en-US" sz="2000" dirty="0">
                <a:latin typeface="Courier New" panose="02070309020205020404" pitchFamily="49" charset="0"/>
              </a:rPr>
              <a:t>           </a:t>
            </a:r>
            <a:r>
              <a:rPr lang="en-US" altLang="en-US" sz="2000" b="1" dirty="0">
                <a:latin typeface="Courier New" panose="02070309020205020404" pitchFamily="49" charset="0"/>
              </a:rPr>
              <a:t>swap</a:t>
            </a:r>
            <a:r>
              <a:rPr lang="en-US" altLang="en-US" sz="2000" dirty="0">
                <a:latin typeface="Courier New" panose="02070309020205020404" pitchFamily="49" charset="0"/>
              </a:rPr>
              <a:t>(A[k], A[k+1]);</a:t>
            </a:r>
          </a:p>
          <a:p>
            <a:pPr lvl="2" eaLnBrk="1" hangingPunct="1"/>
            <a:r>
              <a:rPr lang="en-US" altLang="en-US" sz="2000" dirty="0">
                <a:latin typeface="Courier New" panose="02070309020205020404" pitchFamily="49" charset="0"/>
              </a:rPr>
              <a:t>           sorted = </a:t>
            </a:r>
            <a:r>
              <a:rPr lang="en-US" altLang="en-US" sz="2000" dirty="0" smtClean="0">
                <a:latin typeface="Courier New" panose="02070309020205020404" pitchFamily="49" charset="0"/>
              </a:rPr>
              <a:t>0;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 lvl="2" eaLnBrk="1" hangingPunct="1"/>
            <a:r>
              <a:rPr lang="en-US" altLang="en-US" sz="2000" dirty="0">
                <a:latin typeface="Courier New" panose="02070309020205020404" pitchFamily="49" charset="0"/>
              </a:rPr>
              <a:t>        }</a:t>
            </a:r>
          </a:p>
          <a:p>
            <a:pPr lvl="2" eaLnBrk="1" hangingPunct="1"/>
            <a:r>
              <a:rPr lang="en-US" altLang="en-US" sz="2000" dirty="0">
                <a:latin typeface="Courier New" panose="02070309020205020404" pitchFamily="49" charset="0"/>
              </a:rPr>
              <a:t>   </a:t>
            </a:r>
            <a:r>
              <a:rPr lang="en-US" altLang="en-US" sz="2000" dirty="0" err="1">
                <a:latin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</a:rPr>
              <a:t>++;</a:t>
            </a:r>
          </a:p>
          <a:p>
            <a:pPr lvl="2" eaLnBrk="1" hangingPunct="1"/>
            <a:r>
              <a:rPr lang="en-US" altLang="en-US" sz="2000" dirty="0">
                <a:latin typeface="Courier New" panose="02070309020205020404" pitchFamily="49" charset="0"/>
              </a:rPr>
              <a:t>}</a:t>
            </a:r>
          </a:p>
          <a:p>
            <a:pPr lvl="1" eaLnBrk="1" hangingPunct="1"/>
            <a:r>
              <a:rPr lang="en-US" altLang="en-US" sz="2000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54346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0967E8E-145E-48BD-8D72-DA6137C0E57E}" type="slidenum">
              <a:rPr lang="en-US" altLang="en-US">
                <a:latin typeface="Garamond" panose="02020404030301010803" pitchFamily="18" charset="0"/>
              </a:rPr>
              <a:pPr eaLnBrk="1" hangingPunct="1"/>
              <a:t>21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2.2.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/>
              <a:t>nổi</a:t>
            </a:r>
            <a:r>
              <a:rPr lang="en-US" altLang="en-US" dirty="0"/>
              <a:t> </a:t>
            </a:r>
            <a:r>
              <a:rPr lang="en-US" altLang="en-US" dirty="0" err="1"/>
              <a:t>bọt</a:t>
            </a:r>
            <a:endParaRPr lang="en-US" altLang="en-US" dirty="0" smtClean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Đánh</a:t>
            </a:r>
            <a:r>
              <a:rPr lang="en-US" sz="2400" dirty="0" smtClean="0"/>
              <a:t> </a:t>
            </a:r>
            <a:r>
              <a:rPr lang="en-US" sz="2400" dirty="0" err="1" smtClean="0"/>
              <a:t>giá</a:t>
            </a:r>
            <a:r>
              <a:rPr lang="en-US" sz="2400" dirty="0" smtClean="0"/>
              <a:t>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thuật</a:t>
            </a:r>
            <a:endParaRPr lang="en-US" sz="2400" dirty="0" smtClean="0"/>
          </a:p>
          <a:p>
            <a:pPr lvl="1"/>
            <a:r>
              <a:rPr lang="vi-VN" sz="2200" dirty="0"/>
              <a:t>Thời gian thực hiện thuật toán: </a:t>
            </a:r>
          </a:p>
          <a:p>
            <a:pPr lvl="2"/>
            <a:r>
              <a:rPr lang="vi-VN" sz="2000" dirty="0"/>
              <a:t>Trường hợp tốt nhất</a:t>
            </a:r>
            <a:r>
              <a:rPr lang="vi-VN" sz="2000" dirty="0" smtClean="0"/>
              <a:t>:</a:t>
            </a:r>
            <a:r>
              <a:rPr lang="en-US" sz="2000" dirty="0" smtClean="0"/>
              <a:t> O(n)</a:t>
            </a:r>
            <a:endParaRPr lang="vi-VN" sz="2000" dirty="0"/>
          </a:p>
          <a:p>
            <a:pPr lvl="3"/>
            <a:r>
              <a:rPr lang="vi-VN" sz="2000" dirty="0"/>
              <a:t>Dãy ban đầu đã được sắp </a:t>
            </a:r>
            <a:r>
              <a:rPr lang="vi-VN" sz="2000" dirty="0" smtClean="0"/>
              <a:t>xếp</a:t>
            </a:r>
            <a:r>
              <a:rPr lang="en-US" sz="2000" dirty="0" smtClean="0"/>
              <a:t>, </a:t>
            </a:r>
            <a:r>
              <a:rPr lang="vi-VN" sz="2000" dirty="0"/>
              <a:t>giải thuật chỉ cần đúng </a:t>
            </a:r>
            <a:r>
              <a:rPr lang="en-US" sz="2000" dirty="0" smtClean="0"/>
              <a:t>1 </a:t>
            </a:r>
            <a:r>
              <a:rPr lang="vi-VN" sz="2000" dirty="0" smtClean="0"/>
              <a:t>bước.</a:t>
            </a:r>
            <a:endParaRPr lang="vi-VN" sz="2000" dirty="0"/>
          </a:p>
          <a:p>
            <a:pPr lvl="3"/>
            <a:r>
              <a:rPr lang="vi-VN" sz="2000" dirty="0"/>
              <a:t>0 phép đổi chỗ, </a:t>
            </a:r>
            <a:r>
              <a:rPr lang="en-US" sz="2000" dirty="0" smtClean="0"/>
              <a:t>(</a:t>
            </a:r>
            <a:r>
              <a:rPr lang="vi-VN" sz="2000" dirty="0" smtClean="0"/>
              <a:t>n-1) </a:t>
            </a:r>
            <a:r>
              <a:rPr lang="vi-VN" sz="2000" dirty="0"/>
              <a:t>phép so </a:t>
            </a:r>
            <a:r>
              <a:rPr lang="vi-VN" sz="2000" dirty="0" smtClean="0"/>
              <a:t>sánh</a:t>
            </a:r>
            <a:r>
              <a:rPr lang="en-US" sz="2000" dirty="0" smtClean="0"/>
              <a:t> (+ </a:t>
            </a:r>
            <a:r>
              <a:rPr lang="en-US" sz="2000" dirty="0" err="1" smtClean="0"/>
              <a:t>phép</a:t>
            </a:r>
            <a:r>
              <a:rPr lang="en-US" sz="2000" dirty="0" smtClean="0"/>
              <a:t> </a:t>
            </a:r>
            <a:r>
              <a:rPr lang="en-US" sz="2000" dirty="0" err="1" smtClean="0"/>
              <a:t>gán</a:t>
            </a:r>
            <a:r>
              <a:rPr lang="en-US" sz="2000" dirty="0"/>
              <a:t>)</a:t>
            </a:r>
            <a:endParaRPr lang="vi-VN" sz="2000" dirty="0"/>
          </a:p>
          <a:p>
            <a:pPr lvl="2"/>
            <a:r>
              <a:rPr lang="vi-VN" sz="2000" dirty="0"/>
              <a:t>Trường hợp xấu nhất: </a:t>
            </a:r>
            <a:r>
              <a:rPr lang="en-US" sz="2000" dirty="0" smtClean="0"/>
              <a:t>O(n</a:t>
            </a:r>
            <a:r>
              <a:rPr lang="en-US" sz="2000" baseline="30000" dirty="0" smtClean="0"/>
              <a:t>2</a:t>
            </a:r>
            <a:r>
              <a:rPr lang="en-US" sz="2000" dirty="0" smtClean="0"/>
              <a:t>)</a:t>
            </a:r>
          </a:p>
          <a:p>
            <a:pPr lvl="3"/>
            <a:r>
              <a:rPr lang="en-US" sz="2000" dirty="0" err="1" smtClean="0"/>
              <a:t>Phải</a:t>
            </a:r>
            <a:r>
              <a:rPr lang="en-US" sz="2000" dirty="0" smtClean="0"/>
              <a:t> </a:t>
            </a:r>
            <a:r>
              <a:rPr lang="en-US" sz="2000" dirty="0" err="1" smtClean="0"/>
              <a:t>thực</a:t>
            </a:r>
            <a:r>
              <a:rPr lang="en-US" sz="2000" dirty="0" smtClean="0"/>
              <a:t> </a:t>
            </a:r>
            <a:r>
              <a:rPr lang="en-US" sz="2000" dirty="0" err="1" smtClean="0"/>
              <a:t>hiện</a:t>
            </a:r>
            <a:r>
              <a:rPr lang="en-US" sz="2000" dirty="0" smtClean="0"/>
              <a:t> n-1 </a:t>
            </a:r>
            <a:r>
              <a:rPr lang="en-US" sz="2000" dirty="0" err="1" smtClean="0"/>
              <a:t>bước</a:t>
            </a:r>
            <a:endParaRPr lang="vi-VN" sz="2000" dirty="0"/>
          </a:p>
          <a:p>
            <a:pPr lvl="3"/>
            <a:r>
              <a:rPr lang="en-US" sz="2000" dirty="0" smtClean="0"/>
              <a:t>Ở </a:t>
            </a:r>
            <a:r>
              <a:rPr lang="en-US" sz="2000" dirty="0" err="1" smtClean="0"/>
              <a:t>bước</a:t>
            </a:r>
            <a:r>
              <a:rPr lang="en-US" sz="2000" dirty="0" smtClean="0"/>
              <a:t> </a:t>
            </a:r>
            <a:r>
              <a:rPr lang="en-US" sz="2000" dirty="0" err="1" smtClean="0"/>
              <a:t>thứ</a:t>
            </a:r>
            <a:r>
              <a:rPr lang="en-US" sz="2000" dirty="0" smtClean="0"/>
              <a:t> </a:t>
            </a:r>
            <a:r>
              <a:rPr lang="en-US" sz="2000" dirty="0" err="1" smtClean="0"/>
              <a:t>i</a:t>
            </a:r>
            <a:r>
              <a:rPr lang="en-US" sz="2000" dirty="0" smtClean="0"/>
              <a:t>, </a:t>
            </a:r>
            <a:r>
              <a:rPr lang="en-US" sz="2000" dirty="0" err="1" smtClean="0"/>
              <a:t>thực</a:t>
            </a:r>
            <a:r>
              <a:rPr lang="en-US" sz="2000" dirty="0" smtClean="0"/>
              <a:t> </a:t>
            </a:r>
            <a:r>
              <a:rPr lang="en-US" sz="2000" dirty="0" err="1" smtClean="0"/>
              <a:t>hiện</a:t>
            </a:r>
            <a:r>
              <a:rPr lang="en-US" sz="2000" dirty="0" smtClean="0"/>
              <a:t> n-</a:t>
            </a:r>
            <a:r>
              <a:rPr lang="en-US" sz="2000" dirty="0" err="1" smtClean="0"/>
              <a:t>i</a:t>
            </a:r>
            <a:r>
              <a:rPr lang="en-US" sz="2000" dirty="0" smtClean="0"/>
              <a:t> </a:t>
            </a:r>
            <a:r>
              <a:rPr lang="en-US" sz="2000" dirty="0" err="1" smtClean="0"/>
              <a:t>phép</a:t>
            </a:r>
            <a:r>
              <a:rPr lang="en-US" sz="2000" dirty="0" smtClean="0"/>
              <a:t> </a:t>
            </a:r>
            <a:r>
              <a:rPr lang="en-US" sz="2000" dirty="0"/>
              <a:t>so </a:t>
            </a:r>
            <a:r>
              <a:rPr lang="en-US" sz="2000" dirty="0" err="1" smtClean="0"/>
              <a:t>sánh</a:t>
            </a:r>
            <a:r>
              <a:rPr lang="en-US" sz="2000" dirty="0" smtClean="0"/>
              <a:t> </a:t>
            </a:r>
            <a:r>
              <a:rPr lang="en-US" sz="2000" dirty="0" err="1" smtClean="0"/>
              <a:t>và</a:t>
            </a:r>
            <a:r>
              <a:rPr lang="en-US" sz="2000" dirty="0" smtClean="0"/>
              <a:t> </a:t>
            </a:r>
            <a:r>
              <a:rPr lang="en-US" sz="2000" dirty="0" err="1" smtClean="0"/>
              <a:t>đổi</a:t>
            </a:r>
            <a:r>
              <a:rPr lang="en-US" sz="2000" dirty="0" smtClean="0"/>
              <a:t> </a:t>
            </a:r>
            <a:r>
              <a:rPr lang="en-US" sz="2000" dirty="0" err="1" smtClean="0"/>
              <a:t>chỗ</a:t>
            </a:r>
            <a:r>
              <a:rPr lang="en-US" sz="2000" dirty="0" smtClean="0"/>
              <a:t> </a:t>
            </a:r>
            <a:r>
              <a:rPr lang="en-US" sz="2000" dirty="0"/>
              <a:t>(+ </a:t>
            </a:r>
            <a:r>
              <a:rPr lang="en-US" sz="2000" dirty="0" err="1"/>
              <a:t>phép</a:t>
            </a:r>
            <a:r>
              <a:rPr lang="en-US" sz="2000" dirty="0"/>
              <a:t> </a:t>
            </a:r>
            <a:r>
              <a:rPr lang="en-US" sz="2000" dirty="0" err="1"/>
              <a:t>gán</a:t>
            </a:r>
            <a:r>
              <a:rPr lang="en-US" sz="2000" dirty="0"/>
              <a:t>)</a:t>
            </a:r>
            <a:endParaRPr lang="en-US" sz="2000" dirty="0" smtClean="0"/>
          </a:p>
          <a:p>
            <a:pPr lvl="1"/>
            <a:r>
              <a:rPr lang="vi-VN" sz="2200" dirty="0" smtClean="0"/>
              <a:t>Độ </a:t>
            </a:r>
            <a:r>
              <a:rPr lang="vi-VN" sz="2200" dirty="0"/>
              <a:t>phức tạp thời gian trung bình O(n</a:t>
            </a:r>
            <a:r>
              <a:rPr lang="vi-VN" sz="2200" baseline="30000" dirty="0"/>
              <a:t>2</a:t>
            </a:r>
            <a:r>
              <a:rPr lang="vi-VN" sz="2200" dirty="0"/>
              <a:t>) </a:t>
            </a:r>
          </a:p>
          <a:p>
            <a:pPr lvl="1"/>
            <a:r>
              <a:rPr lang="en-US" sz="2200" dirty="0" err="1" smtClean="0"/>
              <a:t>Nhận</a:t>
            </a:r>
            <a:r>
              <a:rPr lang="en-US" sz="2200" dirty="0" smtClean="0"/>
              <a:t> </a:t>
            </a:r>
            <a:r>
              <a:rPr lang="en-US" sz="2200" dirty="0" err="1" smtClean="0"/>
              <a:t>xét</a:t>
            </a:r>
            <a:r>
              <a:rPr lang="en-US" sz="2200" dirty="0" smtClean="0"/>
              <a:t>:</a:t>
            </a:r>
            <a:endParaRPr lang="en-US" sz="2200" dirty="0"/>
          </a:p>
          <a:p>
            <a:pPr lvl="2"/>
            <a:r>
              <a:rPr lang="en-US" sz="1800" dirty="0" err="1"/>
              <a:t>Đơn</a:t>
            </a:r>
            <a:r>
              <a:rPr lang="en-US" sz="1800" dirty="0"/>
              <a:t> </a:t>
            </a:r>
            <a:r>
              <a:rPr lang="en-US" sz="1800" dirty="0" err="1"/>
              <a:t>giản</a:t>
            </a:r>
            <a:r>
              <a:rPr lang="en-US" sz="1800" dirty="0"/>
              <a:t>, </a:t>
            </a:r>
            <a:r>
              <a:rPr lang="en-US" sz="1800" dirty="0" err="1"/>
              <a:t>dễ</a:t>
            </a:r>
            <a:r>
              <a:rPr lang="en-US" sz="1800" dirty="0"/>
              <a:t> </a:t>
            </a:r>
            <a:r>
              <a:rPr lang="en-US" sz="1800" dirty="0" err="1"/>
              <a:t>cài</a:t>
            </a:r>
            <a:r>
              <a:rPr lang="en-US" sz="1800" dirty="0"/>
              <a:t> </a:t>
            </a:r>
            <a:r>
              <a:rPr lang="en-US" sz="1800" dirty="0" err="1"/>
              <a:t>đặt</a:t>
            </a:r>
            <a:endParaRPr lang="en-US" sz="1800" dirty="0"/>
          </a:p>
          <a:p>
            <a:pPr lvl="2"/>
            <a:r>
              <a:rPr lang="en-US" sz="1800" dirty="0" err="1"/>
              <a:t>Được</a:t>
            </a:r>
            <a:r>
              <a:rPr lang="en-US" sz="1800" dirty="0"/>
              <a:t> </a:t>
            </a:r>
            <a:r>
              <a:rPr lang="en-US" sz="1800" dirty="0" err="1"/>
              <a:t>sử</a:t>
            </a:r>
            <a:r>
              <a:rPr lang="en-US" sz="1800" dirty="0"/>
              <a:t> </a:t>
            </a:r>
            <a:r>
              <a:rPr lang="en-US" sz="1800" dirty="0" err="1"/>
              <a:t>dụng</a:t>
            </a:r>
            <a:r>
              <a:rPr lang="en-US" sz="1800" dirty="0"/>
              <a:t> </a:t>
            </a:r>
            <a:r>
              <a:rPr lang="en-US" sz="1800" dirty="0" err="1"/>
              <a:t>với</a:t>
            </a:r>
            <a:r>
              <a:rPr lang="en-US" sz="1800" dirty="0"/>
              <a:t> </a:t>
            </a:r>
            <a:r>
              <a:rPr lang="en-US" sz="1800" dirty="0" err="1"/>
              <a:t>dữ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r>
              <a:rPr lang="en-US" sz="1800" dirty="0"/>
              <a:t> </a:t>
            </a:r>
            <a:r>
              <a:rPr lang="en-US" sz="1800" dirty="0" err="1" smtClean="0"/>
              <a:t>nhỏ</a:t>
            </a:r>
            <a:r>
              <a:rPr lang="en-US" sz="1800" dirty="0" smtClean="0"/>
              <a:t>, </a:t>
            </a:r>
            <a:r>
              <a:rPr lang="en-US" sz="1800" dirty="0" err="1" smtClean="0"/>
              <a:t>gần</a:t>
            </a:r>
            <a:r>
              <a:rPr lang="en-US" sz="1800" dirty="0" smtClean="0"/>
              <a:t> </a:t>
            </a:r>
            <a:r>
              <a:rPr lang="en-US" sz="1800" dirty="0" err="1" smtClean="0"/>
              <a:t>như</a:t>
            </a:r>
            <a:r>
              <a:rPr lang="en-US" sz="1800" dirty="0" smtClean="0"/>
              <a:t> </a:t>
            </a:r>
            <a:r>
              <a:rPr lang="en-US" sz="1800" dirty="0" err="1" smtClean="0"/>
              <a:t>đã</a:t>
            </a:r>
            <a:r>
              <a:rPr lang="en-US" sz="1800" dirty="0" smtClean="0"/>
              <a:t> </a:t>
            </a:r>
            <a:r>
              <a:rPr lang="en-US" sz="1800" dirty="0" err="1" smtClean="0"/>
              <a:t>sắp</a:t>
            </a:r>
            <a:r>
              <a:rPr lang="en-US" sz="1800" dirty="0" smtClean="0"/>
              <a:t> </a:t>
            </a:r>
            <a:r>
              <a:rPr lang="en-US" sz="1800" dirty="0" err="1" smtClean="0"/>
              <a:t>xếp</a:t>
            </a:r>
            <a:endParaRPr lang="en-US" sz="1800" dirty="0" smtClean="0"/>
          </a:p>
          <a:p>
            <a:pPr lvl="2"/>
            <a:r>
              <a:rPr lang="en-US" sz="1800" dirty="0" smtClean="0"/>
              <a:t>K</a:t>
            </a:r>
            <a:r>
              <a:rPr lang="vi-VN" sz="1800" dirty="0" smtClean="0"/>
              <a:t>hông </a:t>
            </a:r>
            <a:r>
              <a:rPr lang="vi-VN" sz="1800" dirty="0"/>
              <a:t>tốt hơn </a:t>
            </a:r>
            <a:r>
              <a:rPr lang="vi-VN" sz="1800" dirty="0" smtClean="0"/>
              <a:t>giải</a:t>
            </a:r>
            <a:r>
              <a:rPr lang="en-US" sz="1800" dirty="0" smtClean="0"/>
              <a:t> </a:t>
            </a:r>
            <a:r>
              <a:rPr lang="vi-VN" sz="1800" dirty="0" smtClean="0"/>
              <a:t>thuật </a:t>
            </a:r>
            <a:r>
              <a:rPr lang="vi-VN" sz="1800" dirty="0"/>
              <a:t>sắp xếp chọn, mặc dù trong trường hợp tốt nhất nó nhanh hơn rất nhiều.</a:t>
            </a:r>
            <a:endParaRPr lang="en-US" sz="1800" dirty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38916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7AF57F6-CE65-4628-9012-E7D91F325746}" type="slidenum">
              <a:rPr lang="en-US" altLang="en-US">
                <a:latin typeface="Garamond" panose="02020404030301010803" pitchFamily="18" charset="0"/>
              </a:rPr>
              <a:pPr eaLnBrk="1" hangingPunct="1"/>
              <a:t>22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2.3 </a:t>
            </a:r>
            <a:r>
              <a:rPr lang="en-US" altLang="en-US" dirty="0" err="1" smtClean="0"/>
              <a:t>Sắp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xếp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chèn</a:t>
            </a:r>
            <a:r>
              <a:rPr lang="en-US" altLang="en-US" dirty="0" smtClean="0"/>
              <a:t> (</a:t>
            </a:r>
            <a:r>
              <a:rPr lang="en-US" i="1" dirty="0"/>
              <a:t>Insertion </a:t>
            </a:r>
            <a:r>
              <a:rPr lang="en-US" i="1" dirty="0" smtClean="0"/>
              <a:t>sort)</a:t>
            </a:r>
            <a:endParaRPr lang="en-US" altLang="en-US" dirty="0" smtClean="0"/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smtClean="0"/>
              <a:t>Ý </a:t>
            </a:r>
            <a:r>
              <a:rPr lang="en-US" altLang="en-US" sz="2400" dirty="0" err="1" smtClean="0"/>
              <a:t>tưởng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giải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thuật</a:t>
            </a:r>
            <a:r>
              <a:rPr lang="en-US" altLang="en-US" sz="2400" dirty="0" smtClean="0"/>
              <a:t>: </a:t>
            </a:r>
          </a:p>
          <a:p>
            <a:pPr lvl="1"/>
            <a:r>
              <a:rPr lang="en-US" altLang="en-US" sz="2100" dirty="0" err="1" smtClean="0"/>
              <a:t>Xây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dựng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dãy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được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sắp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xếp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có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số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phần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tử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tăng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dần</a:t>
            </a:r>
            <a:r>
              <a:rPr lang="en-US" altLang="en-US" sz="2100" dirty="0" smtClean="0"/>
              <a:t>, ban </a:t>
            </a:r>
            <a:r>
              <a:rPr lang="en-US" altLang="en-US" sz="2100" dirty="0" err="1" smtClean="0"/>
              <a:t>đầu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là</a:t>
            </a:r>
            <a:r>
              <a:rPr lang="en-US" altLang="en-US" sz="2100" dirty="0" smtClean="0"/>
              <a:t> 1 </a:t>
            </a:r>
            <a:r>
              <a:rPr lang="en-US" altLang="en-US" sz="2100" dirty="0" err="1" smtClean="0"/>
              <a:t>phần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tử</a:t>
            </a:r>
            <a:r>
              <a:rPr lang="en-US" altLang="en-US" sz="2100" dirty="0" smtClean="0"/>
              <a:t>, </a:t>
            </a:r>
            <a:r>
              <a:rPr lang="en-US" altLang="en-US" sz="2100" dirty="0" err="1" smtClean="0"/>
              <a:t>sau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đó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là</a:t>
            </a:r>
            <a:r>
              <a:rPr lang="en-US" altLang="en-US" sz="2100" dirty="0" smtClean="0"/>
              <a:t> 2 </a:t>
            </a:r>
            <a:r>
              <a:rPr lang="en-US" altLang="en-US" sz="2100" dirty="0" err="1" smtClean="0"/>
              <a:t>phần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tử</a:t>
            </a:r>
            <a:r>
              <a:rPr lang="en-US" altLang="en-US" sz="2100" dirty="0" smtClean="0"/>
              <a:t>, … </a:t>
            </a:r>
            <a:r>
              <a:rPr lang="en-US" altLang="en-US" sz="2100" dirty="0" err="1" smtClean="0"/>
              <a:t>và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cuối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cùng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đủ</a:t>
            </a:r>
            <a:r>
              <a:rPr lang="en-US" altLang="en-US" sz="2100" dirty="0" smtClean="0"/>
              <a:t> N </a:t>
            </a:r>
            <a:r>
              <a:rPr lang="en-US" altLang="en-US" sz="2100" dirty="0" err="1" smtClean="0"/>
              <a:t>phần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tử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được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sắp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xếp</a:t>
            </a:r>
            <a:r>
              <a:rPr lang="en-US" altLang="en-US" sz="2100" dirty="0" smtClean="0"/>
              <a:t>. </a:t>
            </a:r>
          </a:p>
          <a:p>
            <a:pPr lvl="1"/>
            <a:r>
              <a:rPr lang="en-US" altLang="en-US" sz="2100" dirty="0" smtClean="0"/>
              <a:t>Ở </a:t>
            </a:r>
            <a:r>
              <a:rPr lang="en-US" altLang="en-US" sz="2100" dirty="0" err="1" smtClean="0"/>
              <a:t>mỗi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bước</a:t>
            </a:r>
            <a:r>
              <a:rPr lang="en-US" altLang="en-US" sz="2100" dirty="0" smtClean="0"/>
              <a:t>, ta </a:t>
            </a:r>
            <a:r>
              <a:rPr lang="en-US" altLang="en-US" sz="2100" dirty="0" err="1" smtClean="0"/>
              <a:t>cần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chèn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một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phần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tử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trong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dãy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chưa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được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sắp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xếp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vào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dãy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các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phần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tử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đã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được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sắp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xếp</a:t>
            </a:r>
            <a:r>
              <a:rPr lang="en-US" altLang="en-US" sz="2100" dirty="0" smtClean="0"/>
              <a:t>, </a:t>
            </a:r>
            <a:r>
              <a:rPr lang="en-US" altLang="en-US" sz="2100" dirty="0" err="1" smtClean="0"/>
              <a:t>sao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cho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sau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khi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chèn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thì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dãy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mới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cũng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được</a:t>
            </a:r>
            <a:r>
              <a:rPr lang="en-US" altLang="en-US" sz="2100" dirty="0" smtClean="0"/>
              <a:t> </a:t>
            </a:r>
            <a:r>
              <a:rPr lang="en-US" altLang="en-US" sz="2100" dirty="0" err="1"/>
              <a:t>sắp</a:t>
            </a:r>
            <a:r>
              <a:rPr lang="en-US" altLang="en-US" sz="2100" dirty="0"/>
              <a:t> </a:t>
            </a:r>
            <a:r>
              <a:rPr lang="en-US" altLang="en-US" sz="2100" dirty="0" err="1"/>
              <a:t>xếp</a:t>
            </a:r>
            <a:r>
              <a:rPr lang="en-US" altLang="en-US" sz="2100" dirty="0" smtClean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2485C5-3EC0-446A-A9BF-9C69F05792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57" t="14094" r="29360" b="24608"/>
          <a:stretch/>
        </p:blipFill>
        <p:spPr>
          <a:xfrm>
            <a:off x="6623534" y="2932496"/>
            <a:ext cx="2285389" cy="2235707"/>
          </a:xfrm>
          <a:prstGeom prst="rect">
            <a:avLst/>
          </a:prstGeom>
        </p:spPr>
      </p:pic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234951" y="3411163"/>
            <a:ext cx="6242177" cy="2922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2200" dirty="0" err="1" smtClean="0"/>
              <a:t>Đầu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vào</a:t>
            </a:r>
            <a:r>
              <a:rPr lang="en-US" altLang="en-US" sz="2200" dirty="0" smtClean="0"/>
              <a:t>: </a:t>
            </a:r>
            <a:r>
              <a:rPr lang="en-US" altLang="en-US" sz="2200" dirty="0" err="1" smtClean="0"/>
              <a:t>dãy</a:t>
            </a:r>
            <a:r>
              <a:rPr lang="en-US" altLang="en-US" sz="2200" dirty="0" smtClean="0"/>
              <a:t> N </a:t>
            </a:r>
            <a:r>
              <a:rPr lang="en-US" altLang="en-US" sz="2200" dirty="0" err="1" smtClean="0"/>
              <a:t>số</a:t>
            </a:r>
            <a:r>
              <a:rPr lang="en-US" altLang="en-US" sz="2200" dirty="0" smtClean="0"/>
              <a:t> a</a:t>
            </a:r>
            <a:r>
              <a:rPr lang="en-US" altLang="en-US" sz="2200" baseline="-25000" dirty="0" smtClean="0"/>
              <a:t>1</a:t>
            </a:r>
            <a:r>
              <a:rPr lang="en-US" altLang="en-US" sz="2200" dirty="0" smtClean="0"/>
              <a:t>,a</a:t>
            </a:r>
            <a:r>
              <a:rPr lang="en-US" altLang="en-US" sz="2200" baseline="-25000" dirty="0" smtClean="0"/>
              <a:t>2</a:t>
            </a:r>
            <a:r>
              <a:rPr lang="en-US" altLang="en-US" sz="2200" dirty="0" smtClean="0"/>
              <a:t>,…,</a:t>
            </a:r>
            <a:r>
              <a:rPr lang="en-US" altLang="en-US" sz="2200" dirty="0" err="1" smtClean="0"/>
              <a:t>a</a:t>
            </a:r>
            <a:r>
              <a:rPr lang="en-US" altLang="en-US" sz="2200" baseline="-25000" dirty="0" err="1" smtClean="0"/>
              <a:t>N</a:t>
            </a:r>
            <a:r>
              <a:rPr lang="en-US" altLang="en-US" sz="2200" baseline="-25000" dirty="0" smtClean="0"/>
              <a:t> </a:t>
            </a:r>
          </a:p>
          <a:p>
            <a:pPr lvl="1"/>
            <a:r>
              <a:rPr lang="en-US" altLang="en-US" sz="2200" dirty="0" err="1" smtClean="0"/>
              <a:t>Đầu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ra</a:t>
            </a:r>
            <a:r>
              <a:rPr lang="en-US" altLang="en-US" sz="2200" dirty="0" smtClean="0"/>
              <a:t>: </a:t>
            </a:r>
            <a:r>
              <a:rPr lang="en-US" altLang="en-US" sz="2200" dirty="0" err="1" smtClean="0"/>
              <a:t>dãy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vào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đã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được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sx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theo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chiều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tăng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dần</a:t>
            </a:r>
            <a:endParaRPr lang="en-US" altLang="en-US" sz="2200" dirty="0" smtClean="0"/>
          </a:p>
          <a:p>
            <a:pPr lvl="1"/>
            <a:r>
              <a:rPr lang="en-US" altLang="en-US" sz="2200" dirty="0" err="1" smtClean="0"/>
              <a:t>Giải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thuật</a:t>
            </a:r>
            <a:r>
              <a:rPr lang="en-US" altLang="en-US" sz="2200" dirty="0" smtClean="0"/>
              <a:t>: </a:t>
            </a:r>
          </a:p>
          <a:p>
            <a:pPr lvl="2"/>
            <a:r>
              <a:rPr lang="en-US" altLang="en-US" sz="2000" dirty="0" smtClean="0"/>
              <a:t>GT </a:t>
            </a:r>
            <a:r>
              <a:rPr lang="en-US" altLang="en-US" sz="2000" dirty="0" err="1" smtClean="0"/>
              <a:t>thực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hiện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trong</a:t>
            </a:r>
            <a:r>
              <a:rPr lang="en-US" altLang="en-US" sz="2000" dirty="0" smtClean="0"/>
              <a:t> N-1 </a:t>
            </a:r>
            <a:r>
              <a:rPr lang="en-US" altLang="en-US" sz="2000" dirty="0" err="1" smtClean="0"/>
              <a:t>bước</a:t>
            </a:r>
            <a:r>
              <a:rPr lang="en-US" altLang="en-US" sz="2000" dirty="0" smtClean="0"/>
              <a:t>, </a:t>
            </a:r>
            <a:r>
              <a:rPr lang="en-US" altLang="en-US" sz="2000" dirty="0" err="1" smtClean="0"/>
              <a:t>đánh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số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các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bước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i</a:t>
            </a:r>
            <a:r>
              <a:rPr lang="en-US" altLang="en-US" sz="2000" dirty="0" smtClean="0"/>
              <a:t>=1,2,…,N-1</a:t>
            </a:r>
          </a:p>
          <a:p>
            <a:pPr lvl="2"/>
            <a:r>
              <a:rPr lang="en-US" altLang="en-US" sz="2000" dirty="0" smtClean="0"/>
              <a:t>Ở </a:t>
            </a:r>
            <a:r>
              <a:rPr lang="en-US" altLang="en-US" sz="2000" dirty="0" err="1" smtClean="0"/>
              <a:t>bước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thứ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i</a:t>
            </a:r>
            <a:r>
              <a:rPr lang="en-US" altLang="en-US" sz="2000" dirty="0" smtClean="0"/>
              <a:t>, </a:t>
            </a:r>
            <a:r>
              <a:rPr lang="en-US" altLang="en-US" sz="2000" dirty="0" err="1" smtClean="0"/>
              <a:t>chèn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phần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tử</a:t>
            </a:r>
            <a:r>
              <a:rPr lang="en-US" altLang="en-US" sz="2000" dirty="0" smtClean="0"/>
              <a:t> a</a:t>
            </a:r>
            <a:r>
              <a:rPr lang="en-US" altLang="en-US" sz="2000" baseline="-25000" dirty="0" smtClean="0"/>
              <a:t>i+1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vào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dãy</a:t>
            </a:r>
            <a:r>
              <a:rPr lang="en-US" altLang="en-US" sz="2000" dirty="0" smtClean="0"/>
              <a:t> (a</a:t>
            </a:r>
            <a:r>
              <a:rPr lang="en-US" altLang="en-US" sz="2000" baseline="-25000" dirty="0" smtClean="0"/>
              <a:t>1</a:t>
            </a:r>
            <a:r>
              <a:rPr lang="en-US" altLang="en-US" sz="2000" dirty="0" smtClean="0"/>
              <a:t>,a</a:t>
            </a:r>
            <a:r>
              <a:rPr lang="en-US" altLang="en-US" sz="2000" baseline="-25000" dirty="0" smtClean="0"/>
              <a:t>2</a:t>
            </a:r>
            <a:r>
              <a:rPr lang="en-US" altLang="en-US" sz="2000" dirty="0" smtClean="0"/>
              <a:t>,…,</a:t>
            </a:r>
            <a:r>
              <a:rPr lang="en-US" altLang="en-US" sz="2000" dirty="0" err="1" smtClean="0"/>
              <a:t>a</a:t>
            </a:r>
            <a:r>
              <a:rPr lang="en-US" altLang="en-US" sz="2000" baseline="-25000" dirty="0" err="1" smtClean="0"/>
              <a:t>i</a:t>
            </a:r>
            <a:r>
              <a:rPr lang="en-US" altLang="en-US" sz="2000" dirty="0" smtClean="0"/>
              <a:t>) </a:t>
            </a:r>
            <a:r>
              <a:rPr lang="en-US" altLang="en-US" sz="2000" dirty="0" err="1" smtClean="0"/>
              <a:t>đã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được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sắp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xếp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trước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đó</a:t>
            </a:r>
            <a:r>
              <a:rPr lang="en-US" altLang="en-US" sz="2000" dirty="0" smtClean="0"/>
              <a:t>, </a:t>
            </a:r>
            <a:r>
              <a:rPr lang="en-US" altLang="en-US" sz="2000" dirty="0" err="1" smtClean="0"/>
              <a:t>sao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cho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sau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khi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chèn</a:t>
            </a:r>
            <a:r>
              <a:rPr lang="en-US" altLang="en-US" sz="2000" dirty="0" smtClean="0"/>
              <a:t> ta </a:t>
            </a:r>
            <a:r>
              <a:rPr lang="en-US" altLang="en-US" sz="2000" dirty="0" err="1" smtClean="0"/>
              <a:t>được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dãy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mới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cũng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được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sắp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xếp</a:t>
            </a:r>
            <a:r>
              <a:rPr lang="en-US" altLang="en-US" sz="2000" dirty="0" smtClean="0"/>
              <a:t>. </a:t>
            </a:r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107578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A1BAE38-949E-4850-9F22-D22A40E41955}" type="slidenum">
              <a:rPr lang="en-US" altLang="en-US">
                <a:latin typeface="Garamond" panose="02020404030301010803" pitchFamily="18" charset="0"/>
              </a:rPr>
              <a:pPr eaLnBrk="1" hangingPunct="1"/>
              <a:t>23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2.3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 smtClean="0"/>
              <a:t>chèn</a:t>
            </a:r>
            <a:endParaRPr lang="en-US" altLang="en-US" dirty="0" smtClean="0"/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sz="2400" dirty="0" err="1"/>
              <a:t>Giải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thuật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chèn</a:t>
            </a:r>
            <a:endParaRPr lang="en-US" altLang="en-US" sz="2400" b="1" dirty="0" smtClean="0"/>
          </a:p>
          <a:p>
            <a:pPr lvl="1">
              <a:lnSpc>
                <a:spcPct val="80000"/>
              </a:lnSpc>
            </a:pPr>
            <a:r>
              <a:rPr lang="en-US" altLang="en-US" sz="2000" b="1" dirty="0" err="1" smtClean="0"/>
              <a:t>Đầu</a:t>
            </a:r>
            <a:r>
              <a:rPr lang="en-US" altLang="en-US" sz="2000" b="1" dirty="0" smtClean="0"/>
              <a:t> </a:t>
            </a:r>
            <a:r>
              <a:rPr lang="en-US" altLang="en-US" sz="2000" b="1" dirty="0" err="1" smtClean="0"/>
              <a:t>vào</a:t>
            </a:r>
            <a:r>
              <a:rPr lang="en-US" altLang="en-US" sz="2000" b="1" dirty="0" smtClean="0"/>
              <a:t>:</a:t>
            </a:r>
          </a:p>
          <a:p>
            <a:pPr lvl="2">
              <a:lnSpc>
                <a:spcPct val="80000"/>
              </a:lnSpc>
            </a:pPr>
            <a:r>
              <a:rPr lang="en-US" altLang="en-US" sz="2000" dirty="0" err="1" smtClean="0"/>
              <a:t>Dãy</a:t>
            </a:r>
            <a:r>
              <a:rPr lang="en-US" altLang="en-US" sz="2000" dirty="0" smtClean="0"/>
              <a:t> </a:t>
            </a:r>
            <a:r>
              <a:rPr lang="en-US" altLang="en-US" sz="1800" dirty="0" smtClean="0"/>
              <a:t>(a</a:t>
            </a:r>
            <a:r>
              <a:rPr lang="en-US" altLang="en-US" sz="1800" baseline="-25000" dirty="0" smtClean="0"/>
              <a:t>1</a:t>
            </a:r>
            <a:r>
              <a:rPr lang="en-US" altLang="en-US" sz="1800" dirty="0" smtClean="0"/>
              <a:t>, a</a:t>
            </a:r>
            <a:r>
              <a:rPr lang="en-US" altLang="en-US" sz="1800" baseline="-25000" dirty="0" smtClean="0"/>
              <a:t>2</a:t>
            </a:r>
            <a:r>
              <a:rPr lang="en-US" altLang="en-US" sz="1800" dirty="0" smtClean="0"/>
              <a:t>,…, </a:t>
            </a:r>
            <a:r>
              <a:rPr lang="en-US" altLang="en-US" sz="1800" dirty="0" err="1" smtClean="0"/>
              <a:t>a</a:t>
            </a:r>
            <a:r>
              <a:rPr lang="en-US" altLang="en-US" sz="1800" baseline="-25000" dirty="0" err="1" smtClean="0"/>
              <a:t>i</a:t>
            </a:r>
            <a:r>
              <a:rPr lang="en-US" altLang="en-US" sz="1800" dirty="0" smtClean="0"/>
              <a:t>) </a:t>
            </a:r>
            <a:r>
              <a:rPr lang="en-US" altLang="en-US" sz="1800" dirty="0" err="1" smtClean="0"/>
              <a:t>đã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được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sắp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xếp</a:t>
            </a:r>
            <a:r>
              <a:rPr lang="en-US" altLang="en-US" sz="1800" dirty="0" smtClean="0"/>
              <a:t>, </a:t>
            </a:r>
            <a:r>
              <a:rPr lang="en-US" altLang="en-US" sz="1800" dirty="0" err="1" smtClean="0"/>
              <a:t>và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phần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tử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cần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chèn</a:t>
            </a:r>
            <a:r>
              <a:rPr lang="en-US" altLang="en-US" sz="1800" dirty="0" smtClean="0"/>
              <a:t> b</a:t>
            </a:r>
          </a:p>
          <a:p>
            <a:pPr lvl="1">
              <a:lnSpc>
                <a:spcPct val="80000"/>
              </a:lnSpc>
            </a:pPr>
            <a:r>
              <a:rPr lang="en-US" altLang="en-US" sz="2000" b="1" dirty="0" err="1" smtClean="0"/>
              <a:t>Đầu</a:t>
            </a:r>
            <a:r>
              <a:rPr lang="en-US" altLang="en-US" sz="2000" b="1" dirty="0" smtClean="0"/>
              <a:t> </a:t>
            </a:r>
            <a:r>
              <a:rPr lang="en-US" altLang="en-US" sz="2000" b="1" dirty="0" err="1" smtClean="0"/>
              <a:t>ra</a:t>
            </a:r>
            <a:r>
              <a:rPr lang="en-US" altLang="en-US" sz="2000" b="1" dirty="0" smtClean="0"/>
              <a:t>:</a:t>
            </a:r>
          </a:p>
          <a:p>
            <a:pPr lvl="2">
              <a:lnSpc>
                <a:spcPct val="80000"/>
              </a:lnSpc>
            </a:pPr>
            <a:r>
              <a:rPr lang="en-US" altLang="en-US" sz="2000" dirty="0" err="1" smtClean="0"/>
              <a:t>Dãy</a:t>
            </a:r>
            <a:r>
              <a:rPr lang="en-US" altLang="en-US" sz="2000" dirty="0" smtClean="0"/>
              <a:t> </a:t>
            </a:r>
            <a:r>
              <a:rPr lang="en-US" altLang="en-US" sz="1800" dirty="0" smtClean="0"/>
              <a:t>(a</a:t>
            </a:r>
            <a:r>
              <a:rPr lang="en-US" altLang="en-US" sz="1800" baseline="-25000" dirty="0" smtClean="0"/>
              <a:t>1</a:t>
            </a:r>
            <a:r>
              <a:rPr lang="en-US" altLang="en-US" sz="1800" dirty="0" smtClean="0"/>
              <a:t>, a</a:t>
            </a:r>
            <a:r>
              <a:rPr lang="en-US" altLang="en-US" sz="1800" baseline="-25000" dirty="0" smtClean="0"/>
              <a:t>2</a:t>
            </a:r>
            <a:r>
              <a:rPr lang="en-US" altLang="en-US" sz="1800" dirty="0" smtClean="0"/>
              <a:t>,…, </a:t>
            </a:r>
            <a:r>
              <a:rPr lang="en-US" altLang="en-US" sz="1800" dirty="0" err="1" smtClean="0"/>
              <a:t>a</a:t>
            </a:r>
            <a:r>
              <a:rPr lang="en-US" altLang="en-US" sz="1800" baseline="-25000" dirty="0" err="1" smtClean="0"/>
              <a:t>i</a:t>
            </a:r>
            <a:r>
              <a:rPr lang="en-US" altLang="en-US" sz="1800" dirty="0" smtClean="0"/>
              <a:t>, a</a:t>
            </a:r>
            <a:r>
              <a:rPr lang="en-US" altLang="en-US" sz="1800" baseline="-25000" dirty="0" smtClean="0"/>
              <a:t>i+1</a:t>
            </a:r>
            <a:r>
              <a:rPr lang="en-US" altLang="en-US" sz="1800" dirty="0" smtClean="0"/>
              <a:t>) </a:t>
            </a:r>
            <a:r>
              <a:rPr lang="en-US" altLang="en-US" sz="1800" dirty="0" err="1" smtClean="0"/>
              <a:t>cũng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được</a:t>
            </a:r>
            <a:r>
              <a:rPr lang="en-US" altLang="en-US" sz="1800" dirty="0" smtClean="0"/>
              <a:t> </a:t>
            </a:r>
            <a:r>
              <a:rPr lang="en-US" altLang="en-US" sz="1800" dirty="0" err="1"/>
              <a:t>sắp</a:t>
            </a:r>
            <a:r>
              <a:rPr lang="en-US" altLang="en-US" sz="1800" dirty="0"/>
              <a:t> </a:t>
            </a:r>
            <a:r>
              <a:rPr lang="en-US" altLang="en-US" sz="1800" dirty="0" err="1" smtClean="0"/>
              <a:t>xếp</a:t>
            </a:r>
            <a:endParaRPr lang="en-US" altLang="en-US" sz="1800" dirty="0" smtClean="0"/>
          </a:p>
          <a:p>
            <a:pPr lvl="1">
              <a:lnSpc>
                <a:spcPct val="80000"/>
              </a:lnSpc>
            </a:pPr>
            <a:r>
              <a:rPr lang="en-US" altLang="en-US" sz="2000" b="1" dirty="0" err="1" smtClean="0"/>
              <a:t>Giải</a:t>
            </a:r>
            <a:r>
              <a:rPr lang="en-US" altLang="en-US" sz="2000" b="1" dirty="0" smtClean="0"/>
              <a:t> </a:t>
            </a:r>
            <a:r>
              <a:rPr lang="en-US" altLang="en-US" sz="2000" b="1" dirty="0" err="1" smtClean="0"/>
              <a:t>thuật</a:t>
            </a:r>
            <a:r>
              <a:rPr lang="en-US" altLang="en-US" sz="2000" b="1" dirty="0" smtClean="0"/>
              <a:t>:</a:t>
            </a:r>
          </a:p>
          <a:p>
            <a:pPr lvl="2">
              <a:lnSpc>
                <a:spcPct val="80000"/>
              </a:lnSpc>
            </a:pPr>
            <a:r>
              <a:rPr lang="en-US" altLang="en-US" sz="2000" dirty="0" err="1" smtClean="0"/>
              <a:t>Tìm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vị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trí</a:t>
            </a:r>
            <a:r>
              <a:rPr lang="en-US" altLang="en-US" sz="2000" dirty="0" smtClean="0"/>
              <a:t> k </a:t>
            </a:r>
            <a:r>
              <a:rPr lang="en-US" altLang="en-US" sz="2000" dirty="0" err="1" smtClean="0"/>
              <a:t>cần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chèn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trong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dãy</a:t>
            </a:r>
            <a:r>
              <a:rPr lang="en-US" altLang="en-US" sz="2000" dirty="0" smtClean="0"/>
              <a:t> ban </a:t>
            </a:r>
            <a:r>
              <a:rPr lang="en-US" altLang="en-US" sz="2000" dirty="0" err="1" smtClean="0"/>
              <a:t>đầu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thỏa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mãn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các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điều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kiện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sau</a:t>
            </a:r>
            <a:r>
              <a:rPr lang="en-US" altLang="en-US" sz="2000" dirty="0" smtClean="0"/>
              <a:t>:</a:t>
            </a:r>
          </a:p>
          <a:p>
            <a:pPr lvl="3">
              <a:lnSpc>
                <a:spcPct val="80000"/>
              </a:lnSpc>
            </a:pPr>
            <a:r>
              <a:rPr lang="en-US" altLang="en-US" sz="2000" dirty="0" smtClean="0"/>
              <a:t>1 </a:t>
            </a:r>
            <a:r>
              <a:rPr lang="en-US" altLang="en-US" sz="2000" dirty="0" smtClean="0">
                <a:sym typeface="Symbol" panose="05050102010706020507" pitchFamily="18" charset="2"/>
              </a:rPr>
              <a:t></a:t>
            </a:r>
            <a:r>
              <a:rPr lang="en-US" altLang="en-US" sz="2000" dirty="0" smtClean="0"/>
              <a:t> k </a:t>
            </a:r>
            <a:r>
              <a:rPr lang="en-US" altLang="en-US" sz="2000" dirty="0" smtClean="0">
                <a:sym typeface="Symbol" panose="05050102010706020507" pitchFamily="18" charset="2"/>
              </a:rPr>
              <a:t></a:t>
            </a:r>
            <a:r>
              <a:rPr lang="en-US" altLang="en-US" sz="2000" dirty="0" smtClean="0"/>
              <a:t> i+1 </a:t>
            </a:r>
            <a:r>
              <a:rPr lang="en-US" altLang="en-US" sz="2000" dirty="0" err="1" smtClean="0"/>
              <a:t>và</a:t>
            </a:r>
            <a:r>
              <a:rPr lang="en-US" altLang="en-US" sz="2000" dirty="0" smtClean="0"/>
              <a:t> </a:t>
            </a:r>
            <a:r>
              <a:rPr lang="en-US" altLang="en-US" sz="2000" dirty="0"/>
              <a:t>a</a:t>
            </a:r>
            <a:r>
              <a:rPr lang="en-US" altLang="en-US" sz="2000" baseline="-25000" dirty="0"/>
              <a:t>k-1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</a:t>
            </a:r>
            <a:r>
              <a:rPr lang="en-US" altLang="en-US" sz="2000" dirty="0"/>
              <a:t>  b &lt; </a:t>
            </a:r>
            <a:r>
              <a:rPr lang="en-US" altLang="en-US" sz="2000" dirty="0" err="1"/>
              <a:t>a</a:t>
            </a:r>
            <a:r>
              <a:rPr lang="en-US" altLang="en-US" sz="2000" baseline="-25000" dirty="0" err="1"/>
              <a:t>k</a:t>
            </a:r>
            <a:endParaRPr lang="en-US" altLang="en-US" sz="2000" dirty="0" smtClean="0"/>
          </a:p>
          <a:p>
            <a:pPr lvl="2">
              <a:lnSpc>
                <a:spcPct val="80000"/>
              </a:lnSpc>
            </a:pPr>
            <a:r>
              <a:rPr lang="en-US" altLang="en-US" sz="2000" dirty="0" err="1" smtClean="0"/>
              <a:t>Dịch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các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phần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tử</a:t>
            </a:r>
            <a:r>
              <a:rPr lang="en-US" altLang="en-US" sz="2000" dirty="0" smtClean="0"/>
              <a:t> (a</a:t>
            </a:r>
            <a:r>
              <a:rPr lang="en-US" altLang="en-US" sz="2000" baseline="-25000" dirty="0" smtClean="0"/>
              <a:t>k</a:t>
            </a:r>
            <a:r>
              <a:rPr lang="en-US" altLang="en-US" sz="2000" dirty="0" smtClean="0"/>
              <a:t>,a</a:t>
            </a:r>
            <a:r>
              <a:rPr lang="en-US" altLang="en-US" sz="2000" baseline="-25000" dirty="0" smtClean="0"/>
              <a:t>k+1</a:t>
            </a:r>
            <a:r>
              <a:rPr lang="en-US" altLang="en-US" sz="2000" dirty="0" smtClean="0"/>
              <a:t>,…,</a:t>
            </a:r>
            <a:r>
              <a:rPr lang="en-US" altLang="en-US" sz="2000" dirty="0" err="1" smtClean="0"/>
              <a:t>a</a:t>
            </a:r>
            <a:r>
              <a:rPr lang="en-US" altLang="en-US" sz="2000" baseline="-25000" dirty="0" err="1" smtClean="0"/>
              <a:t>i</a:t>
            </a:r>
            <a:r>
              <a:rPr lang="en-US" altLang="en-US" sz="2000" dirty="0" smtClean="0"/>
              <a:t>) sang </a:t>
            </a:r>
            <a:r>
              <a:rPr lang="en-US" altLang="en-US" sz="2000" dirty="0" err="1" smtClean="0"/>
              <a:t>phải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một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vị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trí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để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nhường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chỗ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cho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phần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tử</a:t>
            </a:r>
            <a:r>
              <a:rPr lang="en-US" altLang="en-US" sz="2000" dirty="0" smtClean="0"/>
              <a:t> b</a:t>
            </a:r>
          </a:p>
          <a:p>
            <a:pPr lvl="2">
              <a:lnSpc>
                <a:spcPct val="80000"/>
              </a:lnSpc>
            </a:pPr>
            <a:r>
              <a:rPr lang="en-US" altLang="en-US" sz="2000" dirty="0" err="1" smtClean="0"/>
              <a:t>Chèn</a:t>
            </a:r>
            <a:r>
              <a:rPr lang="en-US" altLang="en-US" sz="2000" dirty="0" smtClean="0"/>
              <a:t> b </a:t>
            </a:r>
            <a:r>
              <a:rPr lang="en-US" altLang="en-US" sz="2000" dirty="0" err="1" smtClean="0"/>
              <a:t>vào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vị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trí</a:t>
            </a:r>
            <a:r>
              <a:rPr lang="en-US" altLang="en-US" sz="2000" dirty="0" smtClean="0"/>
              <a:t> k</a:t>
            </a:r>
          </a:p>
          <a:p>
            <a:pPr lvl="2">
              <a:lnSpc>
                <a:spcPct val="80000"/>
              </a:lnSpc>
            </a:pPr>
            <a:r>
              <a:rPr lang="en-US" altLang="en-US" sz="2000" b="1" dirty="0" err="1"/>
              <a:t>Lưu</a:t>
            </a:r>
            <a:r>
              <a:rPr lang="en-US" altLang="en-US" sz="2000" b="1" dirty="0"/>
              <a:t> ý:</a:t>
            </a:r>
            <a:r>
              <a:rPr lang="en-US" altLang="en-US" sz="2000" dirty="0"/>
              <a:t> </a:t>
            </a:r>
            <a:r>
              <a:rPr lang="en-US" altLang="en-US" sz="2000" dirty="0" err="1"/>
              <a:t>để</a:t>
            </a:r>
            <a:r>
              <a:rPr lang="en-US" altLang="en-US" sz="2000" dirty="0"/>
              <a:t> </a:t>
            </a:r>
            <a:r>
              <a:rPr lang="en-US" altLang="en-US" sz="2000" dirty="0" err="1"/>
              <a:t>kết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hợp</a:t>
            </a:r>
            <a:r>
              <a:rPr lang="en-US" altLang="en-US" sz="2000" dirty="0"/>
              <a:t> </a:t>
            </a:r>
            <a:r>
              <a:rPr lang="en-US" altLang="en-US" sz="2000" dirty="0" err="1"/>
              <a:t>việc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tìm</a:t>
            </a:r>
            <a:r>
              <a:rPr lang="en-US" altLang="en-US" sz="2000" dirty="0"/>
              <a:t> </a:t>
            </a:r>
            <a:r>
              <a:rPr lang="en-US" altLang="en-US" sz="2000" dirty="0" err="1"/>
              <a:t>vị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trí</a:t>
            </a:r>
            <a:r>
              <a:rPr lang="en-US" altLang="en-US" sz="2000" dirty="0"/>
              <a:t> k </a:t>
            </a:r>
            <a:r>
              <a:rPr lang="en-US" altLang="en-US" sz="2000" dirty="0" err="1"/>
              <a:t>và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dịch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các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phần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tử</a:t>
            </a:r>
            <a:r>
              <a:rPr lang="en-US" altLang="en-US" sz="2000" dirty="0"/>
              <a:t> sang </a:t>
            </a:r>
            <a:r>
              <a:rPr lang="en-US" altLang="en-US" sz="2000" dirty="0" err="1" smtClean="0"/>
              <a:t>phải</a:t>
            </a:r>
            <a:r>
              <a:rPr lang="en-US" altLang="en-US" sz="2000" dirty="0" smtClean="0"/>
              <a:t> </a:t>
            </a:r>
            <a:r>
              <a:rPr lang="en-US" altLang="en-US" sz="2000" dirty="0" smtClean="0">
                <a:sym typeface="Wingdings" panose="05000000000000000000" pitchFamily="2" charset="2"/>
              </a:rPr>
              <a:t> </a:t>
            </a:r>
            <a:r>
              <a:rPr lang="en-US" altLang="en-US" sz="2000" dirty="0" err="1" smtClean="0"/>
              <a:t>tiến</a:t>
            </a:r>
            <a:r>
              <a:rPr lang="en-US" altLang="en-US" sz="2000" dirty="0" smtClean="0"/>
              <a:t> </a:t>
            </a:r>
            <a:r>
              <a:rPr lang="en-US" altLang="en-US" sz="2000" dirty="0" err="1"/>
              <a:t>hành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tìm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từ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cuối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dãy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trở</a:t>
            </a:r>
            <a:r>
              <a:rPr lang="en-US" altLang="en-US" sz="2000" dirty="0"/>
              <a:t> </a:t>
            </a:r>
            <a:r>
              <a:rPr lang="en-US" altLang="en-US" sz="2000" dirty="0" err="1"/>
              <a:t>về</a:t>
            </a:r>
            <a:r>
              <a:rPr lang="en-US" altLang="en-US" sz="2000" dirty="0"/>
              <a:t> </a:t>
            </a:r>
            <a:r>
              <a:rPr lang="en-US" altLang="en-US" sz="2000" dirty="0" err="1" smtClean="0"/>
              <a:t>đầu</a:t>
            </a:r>
            <a:endParaRPr lang="en-US" altLang="en-US" sz="1600" dirty="0"/>
          </a:p>
          <a:p>
            <a:pPr lvl="2">
              <a:lnSpc>
                <a:spcPct val="80000"/>
              </a:lnSpc>
            </a:pPr>
            <a:endParaRPr lang="en-US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771812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426F70C-724D-4134-90C5-5D4E8D50F878}" type="slidenum">
              <a:rPr lang="en-US" altLang="en-US">
                <a:latin typeface="Garamond" panose="02020404030301010803" pitchFamily="18" charset="0"/>
              </a:rPr>
              <a:pPr eaLnBrk="1" hangingPunct="1"/>
              <a:t>24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2.3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 smtClean="0"/>
              <a:t>chèn</a:t>
            </a:r>
            <a:endParaRPr lang="en-US" altLang="en-US" dirty="0" smtClean="0">
              <a:cs typeface="Arial" panose="020B0604020202020204" pitchFamily="34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>
                <a:cs typeface="Arial" panose="020B0604020202020204" pitchFamily="34" charset="0"/>
              </a:rPr>
              <a:t>Minh </a:t>
            </a:r>
            <a:r>
              <a:rPr lang="en-US" altLang="en-US" sz="2400" dirty="0" err="1">
                <a:cs typeface="Arial" panose="020B0604020202020204" pitchFamily="34" charset="0"/>
              </a:rPr>
              <a:t>họa</a:t>
            </a:r>
            <a:r>
              <a:rPr lang="en-US" altLang="en-US" sz="2400" dirty="0"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cs typeface="Arial" panose="020B0604020202020204" pitchFamily="34" charset="0"/>
              </a:rPr>
              <a:t>hoạt</a:t>
            </a:r>
            <a:r>
              <a:rPr lang="en-US" altLang="en-US" sz="2400" dirty="0"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cs typeface="Arial" panose="020B0604020202020204" pitchFamily="34" charset="0"/>
              </a:rPr>
              <a:t>động</a:t>
            </a:r>
            <a:r>
              <a:rPr lang="en-US" altLang="en-US" sz="2400" dirty="0"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cs typeface="Arial" panose="020B0604020202020204" pitchFamily="34" charset="0"/>
              </a:rPr>
              <a:t>của</a:t>
            </a:r>
            <a:r>
              <a:rPr lang="en-US" altLang="en-US" sz="2400" dirty="0">
                <a:cs typeface="Arial" panose="020B0604020202020204" pitchFamily="34" charset="0"/>
              </a:rPr>
              <a:t> GT</a:t>
            </a:r>
            <a:endParaRPr lang="en-US" sz="2400" dirty="0"/>
          </a:p>
        </p:txBody>
      </p:sp>
      <p:sp>
        <p:nvSpPr>
          <p:cNvPr id="20486" name="Rectangle 4"/>
          <p:cNvSpPr>
            <a:spLocks noChangeArrowheads="1"/>
          </p:cNvSpPr>
          <p:nvPr/>
        </p:nvSpPr>
        <p:spPr bwMode="auto">
          <a:xfrm>
            <a:off x="2971800" y="19050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3</a:t>
            </a:r>
          </a:p>
        </p:txBody>
      </p:sp>
      <p:sp>
        <p:nvSpPr>
          <p:cNvPr id="20487" name="Rectangle 5"/>
          <p:cNvSpPr>
            <a:spLocks noChangeArrowheads="1"/>
          </p:cNvSpPr>
          <p:nvPr/>
        </p:nvSpPr>
        <p:spPr bwMode="auto">
          <a:xfrm>
            <a:off x="3581400" y="19050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dirty="0"/>
              <a:t>2</a:t>
            </a:r>
          </a:p>
        </p:txBody>
      </p:sp>
      <p:sp>
        <p:nvSpPr>
          <p:cNvPr id="20488" name="Rectangle 6"/>
          <p:cNvSpPr>
            <a:spLocks noChangeArrowheads="1"/>
          </p:cNvSpPr>
          <p:nvPr/>
        </p:nvSpPr>
        <p:spPr bwMode="auto">
          <a:xfrm>
            <a:off x="4038600" y="19050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dirty="0"/>
              <a:t>5</a:t>
            </a:r>
          </a:p>
        </p:txBody>
      </p:sp>
      <p:sp>
        <p:nvSpPr>
          <p:cNvPr id="20489" name="Rectangle 7"/>
          <p:cNvSpPr>
            <a:spLocks noChangeArrowheads="1"/>
          </p:cNvSpPr>
          <p:nvPr/>
        </p:nvSpPr>
        <p:spPr bwMode="auto">
          <a:xfrm>
            <a:off x="4495800" y="19050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4</a:t>
            </a:r>
          </a:p>
        </p:txBody>
      </p:sp>
      <p:sp>
        <p:nvSpPr>
          <p:cNvPr id="20490" name="Rectangle 8"/>
          <p:cNvSpPr>
            <a:spLocks noChangeArrowheads="1"/>
          </p:cNvSpPr>
          <p:nvPr/>
        </p:nvSpPr>
        <p:spPr bwMode="auto">
          <a:xfrm>
            <a:off x="4953000" y="19050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</a:t>
            </a:r>
          </a:p>
        </p:txBody>
      </p:sp>
      <p:sp>
        <p:nvSpPr>
          <p:cNvPr id="20491" name="Rectangle 9"/>
          <p:cNvSpPr>
            <a:spLocks noChangeArrowheads="1"/>
          </p:cNvSpPr>
          <p:nvPr/>
        </p:nvSpPr>
        <p:spPr bwMode="auto">
          <a:xfrm>
            <a:off x="5410200" y="19050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7</a:t>
            </a:r>
          </a:p>
        </p:txBody>
      </p:sp>
      <p:sp>
        <p:nvSpPr>
          <p:cNvPr id="20492" name="Rectangle 10"/>
          <p:cNvSpPr>
            <a:spLocks noChangeArrowheads="1"/>
          </p:cNvSpPr>
          <p:nvPr/>
        </p:nvSpPr>
        <p:spPr bwMode="auto">
          <a:xfrm>
            <a:off x="5867400" y="19050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6</a:t>
            </a:r>
          </a:p>
        </p:txBody>
      </p:sp>
      <p:sp>
        <p:nvSpPr>
          <p:cNvPr id="20493" name="Rectangle 11"/>
          <p:cNvSpPr>
            <a:spLocks noChangeArrowheads="1"/>
          </p:cNvSpPr>
          <p:nvPr/>
        </p:nvSpPr>
        <p:spPr bwMode="auto">
          <a:xfrm>
            <a:off x="2971800" y="2514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u="sng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20494" name="Rectangle 12"/>
          <p:cNvSpPr>
            <a:spLocks noChangeArrowheads="1"/>
          </p:cNvSpPr>
          <p:nvPr/>
        </p:nvSpPr>
        <p:spPr bwMode="auto">
          <a:xfrm>
            <a:off x="3429000" y="2514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3</a:t>
            </a:r>
          </a:p>
        </p:txBody>
      </p:sp>
      <p:sp>
        <p:nvSpPr>
          <p:cNvPr id="20495" name="Rectangle 13"/>
          <p:cNvSpPr>
            <a:spLocks noChangeArrowheads="1"/>
          </p:cNvSpPr>
          <p:nvPr/>
        </p:nvSpPr>
        <p:spPr bwMode="auto">
          <a:xfrm>
            <a:off x="4038600" y="25146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dirty="0"/>
              <a:t>5</a:t>
            </a:r>
          </a:p>
        </p:txBody>
      </p:sp>
      <p:sp>
        <p:nvSpPr>
          <p:cNvPr id="20496" name="Rectangle 14"/>
          <p:cNvSpPr>
            <a:spLocks noChangeArrowheads="1"/>
          </p:cNvSpPr>
          <p:nvPr/>
        </p:nvSpPr>
        <p:spPr bwMode="auto">
          <a:xfrm>
            <a:off x="4495800" y="25146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4</a:t>
            </a:r>
          </a:p>
        </p:txBody>
      </p:sp>
      <p:sp>
        <p:nvSpPr>
          <p:cNvPr id="20497" name="Rectangle 15"/>
          <p:cNvSpPr>
            <a:spLocks noChangeArrowheads="1"/>
          </p:cNvSpPr>
          <p:nvPr/>
        </p:nvSpPr>
        <p:spPr bwMode="auto">
          <a:xfrm>
            <a:off x="4953000" y="25146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</a:t>
            </a:r>
          </a:p>
        </p:txBody>
      </p:sp>
      <p:sp>
        <p:nvSpPr>
          <p:cNvPr id="20498" name="Rectangle 16"/>
          <p:cNvSpPr>
            <a:spLocks noChangeArrowheads="1"/>
          </p:cNvSpPr>
          <p:nvPr/>
        </p:nvSpPr>
        <p:spPr bwMode="auto">
          <a:xfrm>
            <a:off x="5410200" y="25146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7</a:t>
            </a:r>
          </a:p>
        </p:txBody>
      </p:sp>
      <p:sp>
        <p:nvSpPr>
          <p:cNvPr id="20499" name="Rectangle 17"/>
          <p:cNvSpPr>
            <a:spLocks noChangeArrowheads="1"/>
          </p:cNvSpPr>
          <p:nvPr/>
        </p:nvSpPr>
        <p:spPr bwMode="auto">
          <a:xfrm>
            <a:off x="5867400" y="25146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6</a:t>
            </a:r>
          </a:p>
        </p:txBody>
      </p:sp>
      <p:sp>
        <p:nvSpPr>
          <p:cNvPr id="20500" name="Rectangle 18"/>
          <p:cNvSpPr>
            <a:spLocks noChangeArrowheads="1"/>
          </p:cNvSpPr>
          <p:nvPr/>
        </p:nvSpPr>
        <p:spPr bwMode="auto">
          <a:xfrm>
            <a:off x="2971800" y="31242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2</a:t>
            </a:r>
          </a:p>
        </p:txBody>
      </p:sp>
      <p:sp>
        <p:nvSpPr>
          <p:cNvPr id="20501" name="Rectangle 19"/>
          <p:cNvSpPr>
            <a:spLocks noChangeArrowheads="1"/>
          </p:cNvSpPr>
          <p:nvPr/>
        </p:nvSpPr>
        <p:spPr bwMode="auto">
          <a:xfrm>
            <a:off x="3429000" y="31242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3</a:t>
            </a:r>
          </a:p>
        </p:txBody>
      </p:sp>
      <p:sp>
        <p:nvSpPr>
          <p:cNvPr id="20502" name="Rectangle 20"/>
          <p:cNvSpPr>
            <a:spLocks noChangeArrowheads="1"/>
          </p:cNvSpPr>
          <p:nvPr/>
        </p:nvSpPr>
        <p:spPr bwMode="auto">
          <a:xfrm>
            <a:off x="3886200" y="31242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u="sng"/>
              <a:t>5</a:t>
            </a:r>
          </a:p>
        </p:txBody>
      </p:sp>
      <p:sp>
        <p:nvSpPr>
          <p:cNvPr id="20503" name="Rectangle 21"/>
          <p:cNvSpPr>
            <a:spLocks noChangeArrowheads="1"/>
          </p:cNvSpPr>
          <p:nvPr/>
        </p:nvSpPr>
        <p:spPr bwMode="auto">
          <a:xfrm>
            <a:off x="4495800" y="31242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4</a:t>
            </a:r>
          </a:p>
        </p:txBody>
      </p:sp>
      <p:sp>
        <p:nvSpPr>
          <p:cNvPr id="20504" name="Rectangle 22"/>
          <p:cNvSpPr>
            <a:spLocks noChangeArrowheads="1"/>
          </p:cNvSpPr>
          <p:nvPr/>
        </p:nvSpPr>
        <p:spPr bwMode="auto">
          <a:xfrm>
            <a:off x="4953000" y="31242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</a:t>
            </a:r>
          </a:p>
        </p:txBody>
      </p:sp>
      <p:sp>
        <p:nvSpPr>
          <p:cNvPr id="20505" name="Rectangle 23"/>
          <p:cNvSpPr>
            <a:spLocks noChangeArrowheads="1"/>
          </p:cNvSpPr>
          <p:nvPr/>
        </p:nvSpPr>
        <p:spPr bwMode="auto">
          <a:xfrm>
            <a:off x="5410200" y="31242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7</a:t>
            </a:r>
          </a:p>
        </p:txBody>
      </p:sp>
      <p:sp>
        <p:nvSpPr>
          <p:cNvPr id="20506" name="Rectangle 24"/>
          <p:cNvSpPr>
            <a:spLocks noChangeArrowheads="1"/>
          </p:cNvSpPr>
          <p:nvPr/>
        </p:nvSpPr>
        <p:spPr bwMode="auto">
          <a:xfrm>
            <a:off x="5867400" y="31242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6</a:t>
            </a:r>
          </a:p>
        </p:txBody>
      </p:sp>
      <p:sp>
        <p:nvSpPr>
          <p:cNvPr id="20507" name="Rectangle 25"/>
          <p:cNvSpPr>
            <a:spLocks noChangeArrowheads="1"/>
          </p:cNvSpPr>
          <p:nvPr/>
        </p:nvSpPr>
        <p:spPr bwMode="auto">
          <a:xfrm>
            <a:off x="2971800" y="37338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2</a:t>
            </a:r>
          </a:p>
        </p:txBody>
      </p:sp>
      <p:sp>
        <p:nvSpPr>
          <p:cNvPr id="20508" name="Rectangle 26"/>
          <p:cNvSpPr>
            <a:spLocks noChangeArrowheads="1"/>
          </p:cNvSpPr>
          <p:nvPr/>
        </p:nvSpPr>
        <p:spPr bwMode="auto">
          <a:xfrm>
            <a:off x="3429000" y="37338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3</a:t>
            </a:r>
          </a:p>
        </p:txBody>
      </p:sp>
      <p:sp>
        <p:nvSpPr>
          <p:cNvPr id="20509" name="Rectangle 27"/>
          <p:cNvSpPr>
            <a:spLocks noChangeArrowheads="1"/>
          </p:cNvSpPr>
          <p:nvPr/>
        </p:nvSpPr>
        <p:spPr bwMode="auto">
          <a:xfrm>
            <a:off x="3886200" y="37338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u="sng"/>
              <a:t>4</a:t>
            </a:r>
          </a:p>
        </p:txBody>
      </p:sp>
      <p:sp>
        <p:nvSpPr>
          <p:cNvPr id="20510" name="Rectangle 28"/>
          <p:cNvSpPr>
            <a:spLocks noChangeArrowheads="1"/>
          </p:cNvSpPr>
          <p:nvPr/>
        </p:nvSpPr>
        <p:spPr bwMode="auto">
          <a:xfrm>
            <a:off x="4343400" y="37338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5</a:t>
            </a:r>
          </a:p>
        </p:txBody>
      </p:sp>
      <p:sp>
        <p:nvSpPr>
          <p:cNvPr id="20511" name="Rectangle 29"/>
          <p:cNvSpPr>
            <a:spLocks noChangeArrowheads="1"/>
          </p:cNvSpPr>
          <p:nvPr/>
        </p:nvSpPr>
        <p:spPr bwMode="auto">
          <a:xfrm>
            <a:off x="4953000" y="37338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</a:t>
            </a:r>
          </a:p>
        </p:txBody>
      </p:sp>
      <p:sp>
        <p:nvSpPr>
          <p:cNvPr id="20512" name="Rectangle 30"/>
          <p:cNvSpPr>
            <a:spLocks noChangeArrowheads="1"/>
          </p:cNvSpPr>
          <p:nvPr/>
        </p:nvSpPr>
        <p:spPr bwMode="auto">
          <a:xfrm>
            <a:off x="5410200" y="37338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7</a:t>
            </a:r>
          </a:p>
        </p:txBody>
      </p:sp>
      <p:sp>
        <p:nvSpPr>
          <p:cNvPr id="20513" name="Rectangle 31"/>
          <p:cNvSpPr>
            <a:spLocks noChangeArrowheads="1"/>
          </p:cNvSpPr>
          <p:nvPr/>
        </p:nvSpPr>
        <p:spPr bwMode="auto">
          <a:xfrm>
            <a:off x="5867400" y="37338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6</a:t>
            </a:r>
          </a:p>
        </p:txBody>
      </p:sp>
      <p:sp>
        <p:nvSpPr>
          <p:cNvPr id="20514" name="Rectangle 32"/>
          <p:cNvSpPr>
            <a:spLocks noChangeArrowheads="1"/>
          </p:cNvSpPr>
          <p:nvPr/>
        </p:nvSpPr>
        <p:spPr bwMode="auto">
          <a:xfrm>
            <a:off x="2971800" y="4419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u="sng"/>
              <a:t>1</a:t>
            </a:r>
          </a:p>
        </p:txBody>
      </p:sp>
      <p:sp>
        <p:nvSpPr>
          <p:cNvPr id="20515" name="Rectangle 33"/>
          <p:cNvSpPr>
            <a:spLocks noChangeArrowheads="1"/>
          </p:cNvSpPr>
          <p:nvPr/>
        </p:nvSpPr>
        <p:spPr bwMode="auto">
          <a:xfrm>
            <a:off x="3429000" y="4419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2</a:t>
            </a:r>
          </a:p>
        </p:txBody>
      </p:sp>
      <p:sp>
        <p:nvSpPr>
          <p:cNvPr id="20516" name="Rectangle 34"/>
          <p:cNvSpPr>
            <a:spLocks noChangeArrowheads="1"/>
          </p:cNvSpPr>
          <p:nvPr/>
        </p:nvSpPr>
        <p:spPr bwMode="auto">
          <a:xfrm>
            <a:off x="3886200" y="4419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3</a:t>
            </a:r>
          </a:p>
        </p:txBody>
      </p:sp>
      <p:sp>
        <p:nvSpPr>
          <p:cNvPr id="20517" name="Rectangle 35"/>
          <p:cNvSpPr>
            <a:spLocks noChangeArrowheads="1"/>
          </p:cNvSpPr>
          <p:nvPr/>
        </p:nvSpPr>
        <p:spPr bwMode="auto">
          <a:xfrm>
            <a:off x="4343400" y="4419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4</a:t>
            </a:r>
          </a:p>
        </p:txBody>
      </p:sp>
      <p:sp>
        <p:nvSpPr>
          <p:cNvPr id="20518" name="Rectangle 36"/>
          <p:cNvSpPr>
            <a:spLocks noChangeArrowheads="1"/>
          </p:cNvSpPr>
          <p:nvPr/>
        </p:nvSpPr>
        <p:spPr bwMode="auto">
          <a:xfrm>
            <a:off x="4800600" y="44196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5</a:t>
            </a:r>
          </a:p>
        </p:txBody>
      </p:sp>
      <p:sp>
        <p:nvSpPr>
          <p:cNvPr id="20519" name="Rectangle 37"/>
          <p:cNvSpPr>
            <a:spLocks noChangeArrowheads="1"/>
          </p:cNvSpPr>
          <p:nvPr/>
        </p:nvSpPr>
        <p:spPr bwMode="auto">
          <a:xfrm>
            <a:off x="5410200" y="44196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7</a:t>
            </a:r>
          </a:p>
        </p:txBody>
      </p:sp>
      <p:sp>
        <p:nvSpPr>
          <p:cNvPr id="20520" name="Rectangle 38"/>
          <p:cNvSpPr>
            <a:spLocks noChangeArrowheads="1"/>
          </p:cNvSpPr>
          <p:nvPr/>
        </p:nvSpPr>
        <p:spPr bwMode="auto">
          <a:xfrm>
            <a:off x="5867400" y="44196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6</a:t>
            </a:r>
          </a:p>
        </p:txBody>
      </p:sp>
      <p:sp>
        <p:nvSpPr>
          <p:cNvPr id="20521" name="Rectangle 39"/>
          <p:cNvSpPr>
            <a:spLocks noChangeArrowheads="1"/>
          </p:cNvSpPr>
          <p:nvPr/>
        </p:nvSpPr>
        <p:spPr bwMode="auto">
          <a:xfrm>
            <a:off x="2971800" y="5105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</a:t>
            </a:r>
          </a:p>
        </p:txBody>
      </p:sp>
      <p:sp>
        <p:nvSpPr>
          <p:cNvPr id="20522" name="Rectangle 40"/>
          <p:cNvSpPr>
            <a:spLocks noChangeArrowheads="1"/>
          </p:cNvSpPr>
          <p:nvPr/>
        </p:nvSpPr>
        <p:spPr bwMode="auto">
          <a:xfrm>
            <a:off x="3429000" y="5105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2</a:t>
            </a:r>
          </a:p>
        </p:txBody>
      </p:sp>
      <p:sp>
        <p:nvSpPr>
          <p:cNvPr id="20523" name="Rectangle 41"/>
          <p:cNvSpPr>
            <a:spLocks noChangeArrowheads="1"/>
          </p:cNvSpPr>
          <p:nvPr/>
        </p:nvSpPr>
        <p:spPr bwMode="auto">
          <a:xfrm>
            <a:off x="3886200" y="5105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3</a:t>
            </a:r>
          </a:p>
        </p:txBody>
      </p:sp>
      <p:sp>
        <p:nvSpPr>
          <p:cNvPr id="20524" name="Rectangle 42"/>
          <p:cNvSpPr>
            <a:spLocks noChangeArrowheads="1"/>
          </p:cNvSpPr>
          <p:nvPr/>
        </p:nvSpPr>
        <p:spPr bwMode="auto">
          <a:xfrm>
            <a:off x="4343400" y="5105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4</a:t>
            </a:r>
          </a:p>
        </p:txBody>
      </p:sp>
      <p:sp>
        <p:nvSpPr>
          <p:cNvPr id="20525" name="Rectangle 43"/>
          <p:cNvSpPr>
            <a:spLocks noChangeArrowheads="1"/>
          </p:cNvSpPr>
          <p:nvPr/>
        </p:nvSpPr>
        <p:spPr bwMode="auto">
          <a:xfrm>
            <a:off x="4800600" y="5105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5</a:t>
            </a:r>
          </a:p>
        </p:txBody>
      </p:sp>
      <p:sp>
        <p:nvSpPr>
          <p:cNvPr id="20526" name="Rectangle 44"/>
          <p:cNvSpPr>
            <a:spLocks noChangeArrowheads="1"/>
          </p:cNvSpPr>
          <p:nvPr/>
        </p:nvSpPr>
        <p:spPr bwMode="auto">
          <a:xfrm>
            <a:off x="5257800" y="51054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u="sng"/>
              <a:t>7</a:t>
            </a:r>
          </a:p>
        </p:txBody>
      </p:sp>
      <p:sp>
        <p:nvSpPr>
          <p:cNvPr id="20527" name="Rectangle 45"/>
          <p:cNvSpPr>
            <a:spLocks noChangeArrowheads="1"/>
          </p:cNvSpPr>
          <p:nvPr/>
        </p:nvSpPr>
        <p:spPr bwMode="auto">
          <a:xfrm>
            <a:off x="5867400" y="5105400"/>
            <a:ext cx="457200" cy="457200"/>
          </a:xfrm>
          <a:prstGeom prst="rect">
            <a:avLst/>
          </a:prstGeom>
          <a:solidFill>
            <a:srgbClr val="AAE8F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6</a:t>
            </a:r>
          </a:p>
        </p:txBody>
      </p:sp>
      <p:sp>
        <p:nvSpPr>
          <p:cNvPr id="20528" name="Rectangle 46"/>
          <p:cNvSpPr>
            <a:spLocks noChangeArrowheads="1"/>
          </p:cNvSpPr>
          <p:nvPr/>
        </p:nvSpPr>
        <p:spPr bwMode="auto">
          <a:xfrm>
            <a:off x="2971800" y="57912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</a:t>
            </a:r>
          </a:p>
        </p:txBody>
      </p:sp>
      <p:sp>
        <p:nvSpPr>
          <p:cNvPr id="20529" name="Rectangle 47"/>
          <p:cNvSpPr>
            <a:spLocks noChangeArrowheads="1"/>
          </p:cNvSpPr>
          <p:nvPr/>
        </p:nvSpPr>
        <p:spPr bwMode="auto">
          <a:xfrm>
            <a:off x="3429000" y="57912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2</a:t>
            </a:r>
          </a:p>
        </p:txBody>
      </p:sp>
      <p:sp>
        <p:nvSpPr>
          <p:cNvPr id="20530" name="Rectangle 48"/>
          <p:cNvSpPr>
            <a:spLocks noChangeArrowheads="1"/>
          </p:cNvSpPr>
          <p:nvPr/>
        </p:nvSpPr>
        <p:spPr bwMode="auto">
          <a:xfrm>
            <a:off x="3886200" y="57912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3</a:t>
            </a:r>
          </a:p>
        </p:txBody>
      </p:sp>
      <p:sp>
        <p:nvSpPr>
          <p:cNvPr id="20531" name="Rectangle 49"/>
          <p:cNvSpPr>
            <a:spLocks noChangeArrowheads="1"/>
          </p:cNvSpPr>
          <p:nvPr/>
        </p:nvSpPr>
        <p:spPr bwMode="auto">
          <a:xfrm>
            <a:off x="4343400" y="57912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4</a:t>
            </a:r>
          </a:p>
        </p:txBody>
      </p:sp>
      <p:sp>
        <p:nvSpPr>
          <p:cNvPr id="20532" name="Rectangle 50"/>
          <p:cNvSpPr>
            <a:spLocks noChangeArrowheads="1"/>
          </p:cNvSpPr>
          <p:nvPr/>
        </p:nvSpPr>
        <p:spPr bwMode="auto">
          <a:xfrm>
            <a:off x="4800600" y="57912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5</a:t>
            </a:r>
          </a:p>
        </p:txBody>
      </p:sp>
      <p:sp>
        <p:nvSpPr>
          <p:cNvPr id="20533" name="Rectangle 51"/>
          <p:cNvSpPr>
            <a:spLocks noChangeArrowheads="1"/>
          </p:cNvSpPr>
          <p:nvPr/>
        </p:nvSpPr>
        <p:spPr bwMode="auto">
          <a:xfrm>
            <a:off x="5257800" y="57912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u="sng"/>
              <a:t>6</a:t>
            </a:r>
          </a:p>
        </p:txBody>
      </p:sp>
      <p:sp>
        <p:nvSpPr>
          <p:cNvPr id="20534" name="Rectangle 52"/>
          <p:cNvSpPr>
            <a:spLocks noChangeArrowheads="1"/>
          </p:cNvSpPr>
          <p:nvPr/>
        </p:nvSpPr>
        <p:spPr bwMode="auto">
          <a:xfrm>
            <a:off x="5715000" y="5791200"/>
            <a:ext cx="457200" cy="457200"/>
          </a:xfrm>
          <a:prstGeom prst="rect">
            <a:avLst/>
          </a:prstGeom>
          <a:solidFill>
            <a:srgbClr val="F6A8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7</a:t>
            </a:r>
          </a:p>
        </p:txBody>
      </p:sp>
      <p:sp>
        <p:nvSpPr>
          <p:cNvPr id="20535" name="Text Box 53"/>
          <p:cNvSpPr txBox="1">
            <a:spLocks noChangeArrowheads="1"/>
          </p:cNvSpPr>
          <p:nvPr/>
        </p:nvSpPr>
        <p:spPr bwMode="auto">
          <a:xfrm>
            <a:off x="2133600" y="2514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i = 1</a:t>
            </a:r>
          </a:p>
        </p:txBody>
      </p:sp>
      <p:sp>
        <p:nvSpPr>
          <p:cNvPr id="20536" name="Text Box 54"/>
          <p:cNvSpPr txBox="1">
            <a:spLocks noChangeArrowheads="1"/>
          </p:cNvSpPr>
          <p:nvPr/>
        </p:nvSpPr>
        <p:spPr bwMode="auto">
          <a:xfrm>
            <a:off x="2133600" y="31384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i = 2</a:t>
            </a:r>
          </a:p>
        </p:txBody>
      </p:sp>
      <p:sp>
        <p:nvSpPr>
          <p:cNvPr id="20537" name="Text Box 55"/>
          <p:cNvSpPr txBox="1">
            <a:spLocks noChangeArrowheads="1"/>
          </p:cNvSpPr>
          <p:nvPr/>
        </p:nvSpPr>
        <p:spPr bwMode="auto">
          <a:xfrm>
            <a:off x="2133600" y="37480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i = 3</a:t>
            </a:r>
          </a:p>
        </p:txBody>
      </p:sp>
      <p:sp>
        <p:nvSpPr>
          <p:cNvPr id="20538" name="Text Box 56"/>
          <p:cNvSpPr txBox="1">
            <a:spLocks noChangeArrowheads="1"/>
          </p:cNvSpPr>
          <p:nvPr/>
        </p:nvSpPr>
        <p:spPr bwMode="auto">
          <a:xfrm>
            <a:off x="2133600" y="44338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i = 4</a:t>
            </a:r>
          </a:p>
        </p:txBody>
      </p:sp>
      <p:sp>
        <p:nvSpPr>
          <p:cNvPr id="20539" name="Text Box 57"/>
          <p:cNvSpPr txBox="1">
            <a:spLocks noChangeArrowheads="1"/>
          </p:cNvSpPr>
          <p:nvPr/>
        </p:nvSpPr>
        <p:spPr bwMode="auto">
          <a:xfrm>
            <a:off x="2133600" y="51196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i = 5</a:t>
            </a:r>
          </a:p>
        </p:txBody>
      </p:sp>
      <p:sp>
        <p:nvSpPr>
          <p:cNvPr id="20540" name="Text Box 58"/>
          <p:cNvSpPr txBox="1">
            <a:spLocks noChangeArrowheads="1"/>
          </p:cNvSpPr>
          <p:nvPr/>
        </p:nvSpPr>
        <p:spPr bwMode="auto">
          <a:xfrm>
            <a:off x="2133600" y="58054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i = 6</a:t>
            </a:r>
          </a:p>
        </p:txBody>
      </p:sp>
      <p:sp>
        <p:nvSpPr>
          <p:cNvPr id="81" name="Rectangle 4"/>
          <p:cNvSpPr>
            <a:spLocks noChangeArrowheads="1"/>
          </p:cNvSpPr>
          <p:nvPr/>
        </p:nvSpPr>
        <p:spPr bwMode="auto">
          <a:xfrm>
            <a:off x="2971800" y="13335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3</a:t>
            </a:r>
          </a:p>
        </p:txBody>
      </p:sp>
      <p:sp>
        <p:nvSpPr>
          <p:cNvPr id="82" name="Rectangle 5"/>
          <p:cNvSpPr>
            <a:spLocks noChangeArrowheads="1"/>
          </p:cNvSpPr>
          <p:nvPr/>
        </p:nvSpPr>
        <p:spPr bwMode="auto">
          <a:xfrm>
            <a:off x="3429000" y="13335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dirty="0"/>
              <a:t>2</a:t>
            </a:r>
          </a:p>
        </p:txBody>
      </p:sp>
      <p:sp>
        <p:nvSpPr>
          <p:cNvPr id="83" name="Rectangle 6"/>
          <p:cNvSpPr>
            <a:spLocks noChangeArrowheads="1"/>
          </p:cNvSpPr>
          <p:nvPr/>
        </p:nvSpPr>
        <p:spPr bwMode="auto">
          <a:xfrm>
            <a:off x="3886200" y="13335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dirty="0"/>
              <a:t>5</a:t>
            </a:r>
          </a:p>
        </p:txBody>
      </p:sp>
      <p:sp>
        <p:nvSpPr>
          <p:cNvPr id="84" name="Rectangle 7"/>
          <p:cNvSpPr>
            <a:spLocks noChangeArrowheads="1"/>
          </p:cNvSpPr>
          <p:nvPr/>
        </p:nvSpPr>
        <p:spPr bwMode="auto">
          <a:xfrm>
            <a:off x="4343400" y="13335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4</a:t>
            </a:r>
          </a:p>
        </p:txBody>
      </p:sp>
      <p:sp>
        <p:nvSpPr>
          <p:cNvPr id="85" name="Rectangle 8"/>
          <p:cNvSpPr>
            <a:spLocks noChangeArrowheads="1"/>
          </p:cNvSpPr>
          <p:nvPr/>
        </p:nvSpPr>
        <p:spPr bwMode="auto">
          <a:xfrm>
            <a:off x="4800600" y="13335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1</a:t>
            </a:r>
          </a:p>
        </p:txBody>
      </p:sp>
      <p:sp>
        <p:nvSpPr>
          <p:cNvPr id="86" name="Rectangle 9"/>
          <p:cNvSpPr>
            <a:spLocks noChangeArrowheads="1"/>
          </p:cNvSpPr>
          <p:nvPr/>
        </p:nvSpPr>
        <p:spPr bwMode="auto">
          <a:xfrm>
            <a:off x="5257800" y="13335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7</a:t>
            </a:r>
          </a:p>
        </p:txBody>
      </p:sp>
      <p:sp>
        <p:nvSpPr>
          <p:cNvPr id="87" name="Rectangle 10"/>
          <p:cNvSpPr>
            <a:spLocks noChangeArrowheads="1"/>
          </p:cNvSpPr>
          <p:nvPr/>
        </p:nvSpPr>
        <p:spPr bwMode="auto">
          <a:xfrm>
            <a:off x="5715000" y="13335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6</a:t>
            </a:r>
          </a:p>
        </p:txBody>
      </p:sp>
      <p:sp>
        <p:nvSpPr>
          <p:cNvPr id="3" name="Right Arrow 2"/>
          <p:cNvSpPr/>
          <p:nvPr/>
        </p:nvSpPr>
        <p:spPr>
          <a:xfrm>
            <a:off x="3267217" y="2850643"/>
            <a:ext cx="314183" cy="114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ight Arrow 95"/>
          <p:cNvSpPr/>
          <p:nvPr/>
        </p:nvSpPr>
        <p:spPr>
          <a:xfrm>
            <a:off x="4191000" y="4076700"/>
            <a:ext cx="314183" cy="114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ight Arrow 96"/>
          <p:cNvSpPr/>
          <p:nvPr/>
        </p:nvSpPr>
        <p:spPr>
          <a:xfrm>
            <a:off x="4648200" y="4743450"/>
            <a:ext cx="314183" cy="114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ight Arrow 97"/>
          <p:cNvSpPr/>
          <p:nvPr/>
        </p:nvSpPr>
        <p:spPr>
          <a:xfrm>
            <a:off x="4172234" y="4743450"/>
            <a:ext cx="314183" cy="114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ight Arrow 98"/>
          <p:cNvSpPr/>
          <p:nvPr/>
        </p:nvSpPr>
        <p:spPr>
          <a:xfrm>
            <a:off x="3724417" y="4743450"/>
            <a:ext cx="314183" cy="114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ight Arrow 99"/>
          <p:cNvSpPr/>
          <p:nvPr/>
        </p:nvSpPr>
        <p:spPr>
          <a:xfrm>
            <a:off x="3257834" y="4762500"/>
            <a:ext cx="314183" cy="114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ight Arrow 100"/>
          <p:cNvSpPr/>
          <p:nvPr/>
        </p:nvSpPr>
        <p:spPr>
          <a:xfrm>
            <a:off x="5557908" y="6127750"/>
            <a:ext cx="314183" cy="114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07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3" grpId="0" animBg="1"/>
      <p:bldP spid="20494" grpId="0" animBg="1"/>
      <p:bldP spid="20495" grpId="0" animBg="1"/>
      <p:bldP spid="20496" grpId="0" animBg="1"/>
      <p:bldP spid="20497" grpId="0" animBg="1"/>
      <p:bldP spid="20498" grpId="0" animBg="1"/>
      <p:bldP spid="20499" grpId="0" animBg="1"/>
      <p:bldP spid="20500" grpId="0" animBg="1"/>
      <p:bldP spid="20501" grpId="0" animBg="1"/>
      <p:bldP spid="20502" grpId="0" animBg="1"/>
      <p:bldP spid="20503" grpId="0" animBg="1"/>
      <p:bldP spid="20504" grpId="0" animBg="1"/>
      <p:bldP spid="20505" grpId="0" animBg="1"/>
      <p:bldP spid="20506" grpId="0" animBg="1"/>
      <p:bldP spid="20507" grpId="0" animBg="1"/>
      <p:bldP spid="20508" grpId="0" animBg="1"/>
      <p:bldP spid="20509" grpId="0" animBg="1"/>
      <p:bldP spid="20510" grpId="0" animBg="1"/>
      <p:bldP spid="20511" grpId="0" animBg="1"/>
      <p:bldP spid="20512" grpId="0" animBg="1"/>
      <p:bldP spid="20513" grpId="0" animBg="1"/>
      <p:bldP spid="20514" grpId="0" animBg="1"/>
      <p:bldP spid="20515" grpId="0" animBg="1"/>
      <p:bldP spid="20516" grpId="0" animBg="1"/>
      <p:bldP spid="20517" grpId="0" animBg="1"/>
      <p:bldP spid="20518" grpId="0" animBg="1"/>
      <p:bldP spid="20519" grpId="0" animBg="1"/>
      <p:bldP spid="20520" grpId="0" animBg="1"/>
      <p:bldP spid="20521" grpId="0" animBg="1"/>
      <p:bldP spid="20522" grpId="0" animBg="1"/>
      <p:bldP spid="20523" grpId="0" animBg="1"/>
      <p:bldP spid="20524" grpId="0" animBg="1"/>
      <p:bldP spid="20525" grpId="0" animBg="1"/>
      <p:bldP spid="20526" grpId="0" animBg="1"/>
      <p:bldP spid="20527" grpId="0" animBg="1"/>
      <p:bldP spid="20528" grpId="0" animBg="1"/>
      <p:bldP spid="20529" grpId="0" animBg="1"/>
      <p:bldP spid="20530" grpId="0" animBg="1"/>
      <p:bldP spid="20531" grpId="0" animBg="1"/>
      <p:bldP spid="20532" grpId="0" animBg="1"/>
      <p:bldP spid="20533" grpId="0" animBg="1"/>
      <p:bldP spid="20534" grpId="0" animBg="1"/>
      <p:bldP spid="20535" grpId="0"/>
      <p:bldP spid="20536" grpId="0"/>
      <p:bldP spid="20537" grpId="0"/>
      <p:bldP spid="20538" grpId="0"/>
      <p:bldP spid="20539" grpId="0"/>
      <p:bldP spid="20540" grpId="0"/>
      <p:bldP spid="3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6E3B98F-BDBE-479B-B570-1C2AE8A6BC76}" type="slidenum">
              <a:rPr lang="en-US" altLang="en-US">
                <a:latin typeface="Garamond" panose="02020404030301010803" pitchFamily="18" charset="0"/>
              </a:rPr>
              <a:pPr eaLnBrk="1" hangingPunct="1"/>
              <a:t>25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2.3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/>
              <a:t>chèn</a:t>
            </a:r>
            <a:endParaRPr lang="en-US" altLang="en-US" dirty="0" smtClean="0">
              <a:cs typeface="Arial" panose="020B0604020202020204" pitchFamily="34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thuật</a:t>
            </a:r>
            <a:endParaRPr lang="en-US" sz="2400" dirty="0"/>
          </a:p>
        </p:txBody>
      </p:sp>
      <p:sp>
        <p:nvSpPr>
          <p:cNvPr id="19462" name="AutoShape 4"/>
          <p:cNvSpPr>
            <a:spLocks noChangeArrowheads="1"/>
          </p:cNvSpPr>
          <p:nvPr/>
        </p:nvSpPr>
        <p:spPr bwMode="auto">
          <a:xfrm>
            <a:off x="1143000" y="1481650"/>
            <a:ext cx="7391400" cy="4852414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/>
            <a:r>
              <a:rPr lang="en-US" altLang="en-US" sz="2400" dirty="0">
                <a:latin typeface="Courier New" panose="02070309020205020404" pitchFamily="49" charset="0"/>
              </a:rPr>
              <a:t>void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SXChen</a:t>
            </a:r>
            <a:r>
              <a:rPr lang="en-US" altLang="en-US" sz="2400" b="1" dirty="0">
                <a:latin typeface="Courier New" panose="02070309020205020404" pitchFamily="49" charset="0"/>
              </a:rPr>
              <a:t> </a:t>
            </a:r>
            <a:r>
              <a:rPr lang="en-US" altLang="en-US" sz="2400" dirty="0">
                <a:latin typeface="Courier New" panose="02070309020205020404" pitchFamily="49" charset="0"/>
              </a:rPr>
              <a:t>(</a:t>
            </a:r>
            <a:r>
              <a:rPr lang="en-US" altLang="en-US" sz="2400" dirty="0" err="1">
                <a:latin typeface="Courier New" panose="02070309020205020404" pitchFamily="49" charset="0"/>
              </a:rPr>
              <a:t>DaySo</a:t>
            </a:r>
            <a:r>
              <a:rPr lang="en-US" altLang="en-US" sz="2400" dirty="0">
                <a:latin typeface="Courier New" panose="02070309020205020404" pitchFamily="49" charset="0"/>
              </a:rPr>
              <a:t> a){</a:t>
            </a:r>
          </a:p>
          <a:p>
            <a:pPr lvl="2" eaLnBrk="1" hangingPunct="1"/>
            <a:r>
              <a:rPr lang="en-US" altLang="en-US" sz="2400" dirty="0" err="1">
                <a:latin typeface="Courier New" panose="02070309020205020404" pitchFamily="49" charset="0"/>
              </a:rPr>
              <a:t>int</a:t>
            </a:r>
            <a:r>
              <a:rPr lang="en-US" altLang="en-US" sz="2400" dirty="0">
                <a:latin typeface="Courier New" panose="02070309020205020404" pitchFamily="49" charset="0"/>
              </a:rPr>
              <a:t> </a:t>
            </a:r>
            <a:r>
              <a:rPr lang="en-US" altLang="en-US" sz="2400" dirty="0" err="1">
                <a:latin typeface="Courier New" panose="02070309020205020404" pitchFamily="49" charset="0"/>
              </a:rPr>
              <a:t>i</a:t>
            </a:r>
            <a:r>
              <a:rPr lang="en-US" altLang="en-US" sz="2400" dirty="0">
                <a:latin typeface="Courier New" panose="02070309020205020404" pitchFamily="49" charset="0"/>
              </a:rPr>
              <a:t>, j;</a:t>
            </a:r>
          </a:p>
          <a:p>
            <a:pPr lvl="2" eaLnBrk="1" hangingPunct="1"/>
            <a:r>
              <a:rPr lang="en-US" altLang="en-US" sz="2400" dirty="0" err="1">
                <a:latin typeface="Courier New" panose="02070309020205020404" pitchFamily="49" charset="0"/>
              </a:rPr>
              <a:t>int</a:t>
            </a:r>
            <a:r>
              <a:rPr lang="en-US" altLang="en-US" sz="2400" dirty="0">
                <a:latin typeface="Courier New" panose="02070309020205020404" pitchFamily="49" charset="0"/>
              </a:rPr>
              <a:t> </a:t>
            </a:r>
            <a:r>
              <a:rPr lang="en-US" altLang="en-US" sz="2400" dirty="0" smtClean="0">
                <a:latin typeface="Courier New" panose="02070309020205020404" pitchFamily="49" charset="0"/>
              </a:rPr>
              <a:t>k;</a:t>
            </a:r>
            <a:endParaRPr lang="en-US" altLang="en-US" sz="2400" dirty="0">
              <a:latin typeface="Courier New" panose="02070309020205020404" pitchFamily="49" charset="0"/>
            </a:endParaRPr>
          </a:p>
          <a:p>
            <a:pPr lvl="2" eaLnBrk="1" hangingPunct="1"/>
            <a:r>
              <a:rPr lang="en-US" altLang="en-US" sz="2400" dirty="0" smtClean="0">
                <a:latin typeface="Courier New" panose="02070309020205020404" pitchFamily="49" charset="0"/>
              </a:rPr>
              <a:t>for </a:t>
            </a:r>
            <a:r>
              <a:rPr lang="en-US" altLang="en-US" sz="2400" dirty="0">
                <a:latin typeface="Courier New" panose="02070309020205020404" pitchFamily="49" charset="0"/>
              </a:rPr>
              <a:t>(</a:t>
            </a:r>
            <a:r>
              <a:rPr lang="en-US" altLang="en-US" sz="2400" dirty="0" err="1">
                <a:latin typeface="Courier New" panose="02070309020205020404" pitchFamily="49" charset="0"/>
              </a:rPr>
              <a:t>i</a:t>
            </a:r>
            <a:r>
              <a:rPr lang="en-US" altLang="en-US" sz="2400" dirty="0">
                <a:latin typeface="Courier New" panose="02070309020205020404" pitchFamily="49" charset="0"/>
              </a:rPr>
              <a:t>=1;i&lt;</a:t>
            </a:r>
            <a:r>
              <a:rPr lang="en-US" altLang="en-US" sz="2400" dirty="0" err="1">
                <a:latin typeface="Courier New" panose="02070309020205020404" pitchFamily="49" charset="0"/>
              </a:rPr>
              <a:t>N;i</a:t>
            </a:r>
            <a:r>
              <a:rPr lang="en-US" altLang="en-US" sz="2400" dirty="0">
                <a:latin typeface="Courier New" panose="02070309020205020404" pitchFamily="49" charset="0"/>
              </a:rPr>
              <a:t>++){</a:t>
            </a:r>
          </a:p>
          <a:p>
            <a:pPr lvl="2" eaLnBrk="1" hangingPunct="1"/>
            <a:r>
              <a:rPr lang="en-US" altLang="en-US" sz="2400" dirty="0">
                <a:latin typeface="Courier New" panose="02070309020205020404" pitchFamily="49" charset="0"/>
              </a:rPr>
              <a:t>	k = </a:t>
            </a:r>
            <a:r>
              <a:rPr lang="en-US" altLang="en-US" sz="2400" dirty="0" err="1">
                <a:latin typeface="Courier New" panose="02070309020205020404" pitchFamily="49" charset="0"/>
              </a:rPr>
              <a:t>i</a:t>
            </a:r>
            <a:r>
              <a:rPr lang="en-US" altLang="en-US" sz="2400" dirty="0">
                <a:latin typeface="Courier New" panose="02070309020205020404" pitchFamily="49" charset="0"/>
              </a:rPr>
              <a:t>;</a:t>
            </a:r>
          </a:p>
          <a:p>
            <a:pPr lvl="2" eaLnBrk="1" hangingPunct="1"/>
            <a:r>
              <a:rPr lang="en-US" altLang="en-US" sz="2400" dirty="0">
                <a:latin typeface="Courier New" panose="02070309020205020404" pitchFamily="49" charset="0"/>
              </a:rPr>
              <a:t>	b = a</a:t>
            </a:r>
            <a:r>
              <a:rPr lang="en-US" altLang="en-US" sz="2400" baseline="-25000" dirty="0">
                <a:latin typeface="Courier New" panose="02070309020205020404" pitchFamily="49" charset="0"/>
              </a:rPr>
              <a:t>i+1</a:t>
            </a:r>
            <a:r>
              <a:rPr lang="en-US" altLang="en-US" sz="2400" dirty="0">
                <a:latin typeface="Courier New" panose="02070309020205020404" pitchFamily="49" charset="0"/>
              </a:rPr>
              <a:t>;</a:t>
            </a:r>
          </a:p>
          <a:p>
            <a:pPr lvl="2" eaLnBrk="1" hangingPunct="1"/>
            <a:r>
              <a:rPr lang="en-US" altLang="en-US" sz="2400" dirty="0">
                <a:latin typeface="Courier New" panose="02070309020205020404" pitchFamily="49" charset="0"/>
              </a:rPr>
              <a:t>	while (k&gt;=1 AND </a:t>
            </a:r>
            <a:r>
              <a:rPr lang="en-US" altLang="en-US" sz="2400" dirty="0" smtClean="0">
                <a:latin typeface="Courier New" panose="02070309020205020404" pitchFamily="49" charset="0"/>
              </a:rPr>
              <a:t>b&lt;</a:t>
            </a:r>
            <a:r>
              <a:rPr lang="en-US" altLang="en-US" sz="2400" dirty="0" err="1" smtClean="0">
                <a:latin typeface="Courier New" panose="02070309020205020404" pitchFamily="49" charset="0"/>
              </a:rPr>
              <a:t>a</a:t>
            </a:r>
            <a:r>
              <a:rPr lang="en-US" altLang="en-US" sz="2400" baseline="-25000" dirty="0" err="1" smtClean="0">
                <a:latin typeface="Courier New" panose="02070309020205020404" pitchFamily="49" charset="0"/>
              </a:rPr>
              <a:t>k</a:t>
            </a:r>
            <a:r>
              <a:rPr lang="en-US" altLang="en-US" sz="2400" dirty="0">
                <a:latin typeface="Courier New" panose="02070309020205020404" pitchFamily="49" charset="0"/>
              </a:rPr>
              <a:t>){</a:t>
            </a:r>
          </a:p>
          <a:p>
            <a:pPr lvl="2" eaLnBrk="1" hangingPunct="1"/>
            <a:r>
              <a:rPr lang="en-US" altLang="en-US" sz="2400" dirty="0">
                <a:latin typeface="Courier New" panose="02070309020205020404" pitchFamily="49" charset="0"/>
              </a:rPr>
              <a:t>		a</a:t>
            </a:r>
            <a:r>
              <a:rPr lang="en-US" altLang="en-US" sz="2400" baseline="-25000" dirty="0">
                <a:latin typeface="Courier New" panose="02070309020205020404" pitchFamily="49" charset="0"/>
              </a:rPr>
              <a:t>k+1 </a:t>
            </a:r>
            <a:r>
              <a:rPr lang="en-US" altLang="en-US" sz="2400" dirty="0">
                <a:latin typeface="Courier New" panose="02070309020205020404" pitchFamily="49" charset="0"/>
              </a:rPr>
              <a:t>= </a:t>
            </a:r>
            <a:r>
              <a:rPr lang="en-US" altLang="en-US" sz="2400" dirty="0" err="1">
                <a:latin typeface="Courier New" panose="02070309020205020404" pitchFamily="49" charset="0"/>
              </a:rPr>
              <a:t>a</a:t>
            </a:r>
            <a:r>
              <a:rPr lang="en-US" altLang="en-US" sz="2400" baseline="-25000" dirty="0" err="1">
                <a:latin typeface="Courier New" panose="02070309020205020404" pitchFamily="49" charset="0"/>
              </a:rPr>
              <a:t>k</a:t>
            </a:r>
            <a:r>
              <a:rPr lang="en-US" altLang="en-US" sz="2400" dirty="0">
                <a:latin typeface="Courier New" panose="02070309020205020404" pitchFamily="49" charset="0"/>
              </a:rPr>
              <a:t>;</a:t>
            </a:r>
          </a:p>
          <a:p>
            <a:pPr lvl="2" eaLnBrk="1" hangingPunct="1"/>
            <a:r>
              <a:rPr lang="en-US" altLang="en-US" sz="2400" dirty="0">
                <a:latin typeface="Courier New" panose="02070309020205020404" pitchFamily="49" charset="0"/>
              </a:rPr>
              <a:t>		k--;</a:t>
            </a:r>
          </a:p>
          <a:p>
            <a:pPr lvl="2" eaLnBrk="1" hangingPunct="1"/>
            <a:r>
              <a:rPr lang="en-US" altLang="en-US" sz="2400" dirty="0">
                <a:latin typeface="Courier New" panose="02070309020205020404" pitchFamily="49" charset="0"/>
              </a:rPr>
              <a:t>	}</a:t>
            </a:r>
          </a:p>
          <a:p>
            <a:pPr lvl="2" eaLnBrk="1" hangingPunct="1"/>
            <a:r>
              <a:rPr lang="en-US" altLang="en-US" sz="2400" dirty="0">
                <a:latin typeface="Courier New" panose="02070309020205020404" pitchFamily="49" charset="0"/>
              </a:rPr>
              <a:t>	a</a:t>
            </a:r>
            <a:r>
              <a:rPr lang="en-US" altLang="en-US" sz="2400" baseline="-25000" dirty="0">
                <a:latin typeface="Courier New" panose="02070309020205020404" pitchFamily="49" charset="0"/>
              </a:rPr>
              <a:t>k+1</a:t>
            </a:r>
            <a:r>
              <a:rPr lang="en-US" altLang="en-US" sz="2400" dirty="0">
                <a:latin typeface="Courier New" panose="02070309020205020404" pitchFamily="49" charset="0"/>
              </a:rPr>
              <a:t> = b;</a:t>
            </a:r>
          </a:p>
          <a:p>
            <a:pPr lvl="2" eaLnBrk="1" hangingPunct="1"/>
            <a:r>
              <a:rPr lang="en-US" altLang="en-US" sz="2400" dirty="0" smtClean="0">
                <a:latin typeface="Courier New" panose="02070309020205020404" pitchFamily="49" charset="0"/>
              </a:rPr>
              <a:t>}</a:t>
            </a:r>
          </a:p>
          <a:p>
            <a:pPr marL="682625" lvl="2" eaLnBrk="1" hangingPunct="1"/>
            <a:r>
              <a:rPr lang="en-US" altLang="en-US" sz="2400" dirty="0" smtClean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2686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81E6CD5-A07E-44F3-A933-81896A65524D}" type="slidenum">
              <a:rPr lang="en-US" altLang="en-US">
                <a:latin typeface="Garamond" panose="02020404030301010803" pitchFamily="18" charset="0"/>
              </a:rPr>
              <a:pPr eaLnBrk="1" hangingPunct="1"/>
              <a:t>26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2.3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/>
              <a:t>chèn</a:t>
            </a:r>
            <a:endParaRPr lang="en-US" altLang="en-US" dirty="0" smtClean="0"/>
          </a:p>
        </p:txBody>
      </p:sp>
      <p:sp>
        <p:nvSpPr>
          <p:cNvPr id="21510" name="AutoShape 4"/>
          <p:cNvSpPr>
            <a:spLocks noGrp="1" noChangeArrowheads="1"/>
          </p:cNvSpPr>
          <p:nvPr>
            <p:ph type="body" sz="quarter" idx="13"/>
          </p:nvPr>
        </p:nvSpPr>
        <p:spPr>
          <a:xfrm>
            <a:off x="685800" y="1442925"/>
            <a:ext cx="8674100" cy="5132832"/>
          </a:xfrm>
          <a:prstGeom prst="roundRect">
            <a:avLst>
              <a:gd name="adj" fmla="val 16667"/>
            </a:avLst>
          </a:prstGeom>
          <a:noFill/>
          <a:ln>
            <a:noFill/>
            <a:round/>
            <a:headEnd/>
            <a:tailEnd/>
          </a:ln>
        </p:spPr>
        <p:txBody>
          <a:bodyPr tIns="0" bIns="0">
            <a:normAutofit/>
          </a:bodyPr>
          <a:lstStyle/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 smtClean="0">
                <a:latin typeface="Courier New" panose="02070309020205020404" pitchFamily="49" charset="0"/>
              </a:rPr>
              <a:t>void </a:t>
            </a:r>
            <a:r>
              <a:rPr lang="en-US" altLang="en-US" sz="2400" b="1" dirty="0" err="1" smtClean="0">
                <a:latin typeface="Courier New" panose="02070309020205020404" pitchFamily="49" charset="0"/>
              </a:rPr>
              <a:t>insertionSort</a:t>
            </a:r>
            <a:r>
              <a:rPr lang="en-US" altLang="en-US" sz="2400" dirty="0" smtClean="0">
                <a:latin typeface="Courier New" panose="02070309020205020404" pitchFamily="49" charset="0"/>
              </a:rPr>
              <a:t>(</a:t>
            </a:r>
            <a:r>
              <a:rPr lang="en-US" altLang="en-US" sz="2400" dirty="0" err="1" smtClean="0">
                <a:latin typeface="Courier New" panose="02070309020205020404" pitchFamily="49" charset="0"/>
              </a:rPr>
              <a:t>int</a:t>
            </a:r>
            <a:r>
              <a:rPr lang="en-US" altLang="en-US" sz="2400" dirty="0" smtClean="0">
                <a:latin typeface="Courier New" panose="02070309020205020404" pitchFamily="49" charset="0"/>
              </a:rPr>
              <a:t> A[], </a:t>
            </a:r>
            <a:r>
              <a:rPr lang="en-US" altLang="en-US" sz="2400" dirty="0" err="1" smtClean="0">
                <a:latin typeface="Courier New" panose="02070309020205020404" pitchFamily="49" charset="0"/>
              </a:rPr>
              <a:t>int</a:t>
            </a:r>
            <a:r>
              <a:rPr lang="en-US" altLang="en-US" sz="2400" dirty="0" smtClean="0">
                <a:latin typeface="Courier New" panose="02070309020205020404" pitchFamily="49" charset="0"/>
              </a:rPr>
              <a:t> N) {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 smtClean="0">
                <a:latin typeface="Courier New" panose="02070309020205020404" pitchFamily="49" charset="0"/>
              </a:rPr>
              <a:t>  </a:t>
            </a:r>
            <a:r>
              <a:rPr lang="en-US" altLang="en-US" sz="2400" dirty="0" err="1" smtClean="0">
                <a:latin typeface="Courier New" panose="02070309020205020404" pitchFamily="49" charset="0"/>
              </a:rPr>
              <a:t>int</a:t>
            </a:r>
            <a:r>
              <a:rPr lang="en-US" altLang="en-US" sz="2400" dirty="0" smtClean="0">
                <a:latin typeface="Courier New" panose="02070309020205020404" pitchFamily="49" charset="0"/>
              </a:rPr>
              <a:t> </a:t>
            </a:r>
            <a:r>
              <a:rPr lang="en-US" altLang="en-US" sz="2400" dirty="0" err="1" smtClean="0">
                <a:latin typeface="Courier New" panose="02070309020205020404" pitchFamily="49" charset="0"/>
              </a:rPr>
              <a:t>i,k,b</a:t>
            </a:r>
            <a:r>
              <a:rPr lang="en-US" altLang="en-US" sz="2400" dirty="0" smtClean="0">
                <a:latin typeface="Courier New" panose="02070309020205020404" pitchFamily="49" charset="0"/>
              </a:rPr>
              <a:t>;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 smtClean="0">
                <a:latin typeface="Courier New" panose="02070309020205020404" pitchFamily="49" charset="0"/>
              </a:rPr>
              <a:t>for (</a:t>
            </a:r>
            <a:r>
              <a:rPr lang="en-US" altLang="en-US" sz="2400" dirty="0" err="1" smtClean="0">
                <a:latin typeface="Courier New" panose="02070309020205020404" pitchFamily="49" charset="0"/>
              </a:rPr>
              <a:t>i</a:t>
            </a:r>
            <a:r>
              <a:rPr lang="en-US" altLang="en-US" sz="2400" dirty="0" smtClean="0">
                <a:latin typeface="Courier New" panose="02070309020205020404" pitchFamily="49" charset="0"/>
              </a:rPr>
              <a:t>=0;i &lt; N-1;i++){</a:t>
            </a:r>
          </a:p>
          <a:p>
            <a:pPr lvl="3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50" dirty="0" smtClean="0">
                <a:latin typeface="Courier New" panose="02070309020205020404" pitchFamily="49" charset="0"/>
              </a:rPr>
              <a:t>	</a:t>
            </a:r>
            <a:r>
              <a:rPr lang="en-US" altLang="en-US" sz="2400" dirty="0" smtClean="0">
                <a:latin typeface="Courier New" panose="02070309020205020404" pitchFamily="49" charset="0"/>
              </a:rPr>
              <a:t>k = </a:t>
            </a:r>
            <a:r>
              <a:rPr lang="en-US" altLang="en-US" sz="2400" dirty="0" err="1" smtClean="0">
                <a:latin typeface="Courier New" panose="02070309020205020404" pitchFamily="49" charset="0"/>
              </a:rPr>
              <a:t>i</a:t>
            </a:r>
            <a:r>
              <a:rPr lang="en-US" altLang="en-US" sz="2400" dirty="0" smtClean="0">
                <a:latin typeface="Courier New" panose="02070309020205020404" pitchFamily="49" charset="0"/>
              </a:rPr>
              <a:t>;</a:t>
            </a:r>
          </a:p>
          <a:p>
            <a:pPr lvl="3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 smtClean="0">
                <a:latin typeface="Courier New" panose="02070309020205020404" pitchFamily="49" charset="0"/>
              </a:rPr>
              <a:t>	b = A[i+1];</a:t>
            </a:r>
          </a:p>
          <a:p>
            <a:pPr lvl="3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 smtClean="0">
                <a:latin typeface="Courier New" panose="02070309020205020404" pitchFamily="49" charset="0"/>
              </a:rPr>
              <a:t>	while (k&gt;=0 &amp;&amp; b&lt;A[k]){</a:t>
            </a:r>
          </a:p>
          <a:p>
            <a:pPr lvl="4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 smtClean="0">
                <a:latin typeface="Courier New" panose="02070309020205020404" pitchFamily="49" charset="0"/>
              </a:rPr>
              <a:t>	A[k+1] = A[k];</a:t>
            </a:r>
          </a:p>
          <a:p>
            <a:pPr lvl="4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 smtClean="0">
                <a:latin typeface="Courier New" panose="02070309020205020404" pitchFamily="49" charset="0"/>
              </a:rPr>
              <a:t>	k--;</a:t>
            </a:r>
          </a:p>
          <a:p>
            <a:pPr lvl="3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 smtClean="0">
                <a:latin typeface="Courier New" panose="02070309020205020404" pitchFamily="49" charset="0"/>
              </a:rPr>
              <a:t>	}</a:t>
            </a:r>
          </a:p>
          <a:p>
            <a:pPr lvl="3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 smtClean="0">
                <a:latin typeface="Courier New" panose="02070309020205020404" pitchFamily="49" charset="0"/>
              </a:rPr>
              <a:t>	A[k+1] = b;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 smtClean="0">
                <a:latin typeface="Courier New" panose="02070309020205020404" pitchFamily="49" charset="0"/>
              </a:rPr>
              <a:t>}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 smtClean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387351" y="1115568"/>
            <a:ext cx="8674100" cy="5132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 smtClean="0"/>
              <a:t>Cài</a:t>
            </a:r>
            <a:r>
              <a:rPr lang="en-US" sz="2400" dirty="0" smtClean="0"/>
              <a:t> </a:t>
            </a:r>
            <a:r>
              <a:rPr lang="en-US" sz="2400" dirty="0" err="1" smtClean="0"/>
              <a:t>đặt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4765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0967E8E-145E-48BD-8D72-DA6137C0E57E}" type="slidenum">
              <a:rPr lang="en-US" altLang="en-US">
                <a:latin typeface="Garamond" panose="02020404030301010803" pitchFamily="18" charset="0"/>
              </a:rPr>
              <a:pPr eaLnBrk="1" hangingPunct="1"/>
              <a:t>27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2.3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/>
              <a:t>chèn</a:t>
            </a:r>
            <a:endParaRPr lang="en-US" altLang="en-US" dirty="0" smtClean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Đánh</a:t>
            </a:r>
            <a:r>
              <a:rPr lang="en-US" sz="2400" dirty="0" smtClean="0"/>
              <a:t> </a:t>
            </a:r>
            <a:r>
              <a:rPr lang="en-US" sz="2400" dirty="0" err="1" smtClean="0"/>
              <a:t>giá</a:t>
            </a:r>
            <a:r>
              <a:rPr lang="en-US" sz="2400" dirty="0" smtClean="0"/>
              <a:t>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thuật</a:t>
            </a:r>
            <a:endParaRPr lang="en-US" sz="2400" dirty="0" smtClean="0"/>
          </a:p>
          <a:p>
            <a:pPr lvl="1"/>
            <a:r>
              <a:rPr lang="vi-VN" sz="2200" dirty="0"/>
              <a:t>Thời gian thực hiện thuật toán: </a:t>
            </a:r>
          </a:p>
          <a:p>
            <a:pPr lvl="2"/>
            <a:r>
              <a:rPr lang="vi-VN" sz="2000" dirty="0"/>
              <a:t>Trường hợp tốt nhất</a:t>
            </a:r>
            <a:r>
              <a:rPr lang="vi-VN" sz="2000" dirty="0" smtClean="0"/>
              <a:t>:</a:t>
            </a:r>
            <a:r>
              <a:rPr lang="en-US" sz="2000" dirty="0" smtClean="0"/>
              <a:t> O(n)</a:t>
            </a:r>
            <a:endParaRPr lang="vi-VN" sz="2000" dirty="0"/>
          </a:p>
          <a:p>
            <a:pPr lvl="3"/>
            <a:r>
              <a:rPr lang="vi-VN" sz="2000" dirty="0"/>
              <a:t>Dãy ban đầu đã được sắp </a:t>
            </a:r>
            <a:r>
              <a:rPr lang="vi-VN" sz="2000" dirty="0" smtClean="0"/>
              <a:t>xếp</a:t>
            </a:r>
            <a:r>
              <a:rPr lang="en-US" sz="2000" dirty="0" smtClean="0"/>
              <a:t>, </a:t>
            </a:r>
            <a:r>
              <a:rPr lang="vi-VN" sz="2000" dirty="0"/>
              <a:t>giải </a:t>
            </a:r>
            <a:r>
              <a:rPr lang="vi-VN" sz="2000" dirty="0" smtClean="0"/>
              <a:t>thuật</a:t>
            </a:r>
            <a:r>
              <a:rPr lang="en-US" sz="2000" dirty="0" smtClean="0"/>
              <a:t> v</a:t>
            </a:r>
            <a:r>
              <a:rPr lang="vi-VN" sz="2000" dirty="0" smtClean="0"/>
              <a:t>ẫn thực</a:t>
            </a:r>
            <a:r>
              <a:rPr lang="en-US" sz="2000" dirty="0" smtClean="0"/>
              <a:t> </a:t>
            </a:r>
            <a:r>
              <a:rPr lang="vi-VN" sz="2000" dirty="0" smtClean="0"/>
              <a:t>hiện </a:t>
            </a:r>
            <a:r>
              <a:rPr lang="vi-VN" sz="2000" dirty="0"/>
              <a:t>trong </a:t>
            </a:r>
            <a:r>
              <a:rPr lang="en-US" sz="2000" dirty="0" smtClean="0"/>
              <a:t>n</a:t>
            </a:r>
            <a:r>
              <a:rPr lang="vi-VN" sz="2000" dirty="0" smtClean="0"/>
              <a:t>-1 </a:t>
            </a:r>
            <a:r>
              <a:rPr lang="vi-VN" sz="2000" dirty="0"/>
              <a:t>bước.</a:t>
            </a:r>
          </a:p>
          <a:p>
            <a:pPr lvl="3"/>
            <a:r>
              <a:rPr lang="en-US" sz="2000" dirty="0" err="1" smtClean="0"/>
              <a:t>Mỗi</a:t>
            </a:r>
            <a:r>
              <a:rPr lang="en-US" sz="2000" dirty="0" smtClean="0"/>
              <a:t> </a:t>
            </a:r>
            <a:r>
              <a:rPr lang="en-US" sz="2000" dirty="0" err="1" smtClean="0"/>
              <a:t>bước</a:t>
            </a:r>
            <a:r>
              <a:rPr lang="en-US" sz="2000" dirty="0" smtClean="0"/>
              <a:t>, </a:t>
            </a:r>
            <a:r>
              <a:rPr lang="vi-VN" sz="2000" dirty="0" smtClean="0"/>
              <a:t>0 </a:t>
            </a:r>
            <a:r>
              <a:rPr lang="vi-VN" sz="2000" dirty="0"/>
              <a:t>phép đổi chỗ, </a:t>
            </a:r>
            <a:r>
              <a:rPr lang="vi-VN" sz="2000" dirty="0" smtClean="0"/>
              <a:t>1 </a:t>
            </a:r>
            <a:r>
              <a:rPr lang="vi-VN" sz="2000" dirty="0"/>
              <a:t>phép so </a:t>
            </a:r>
            <a:r>
              <a:rPr lang="vi-VN" sz="2000" dirty="0" smtClean="0"/>
              <a:t>sánh</a:t>
            </a:r>
            <a:r>
              <a:rPr lang="en-US" sz="2000" dirty="0" smtClean="0"/>
              <a:t> (+ </a:t>
            </a:r>
            <a:r>
              <a:rPr lang="en-US" sz="2000" dirty="0" err="1" smtClean="0"/>
              <a:t>phép</a:t>
            </a:r>
            <a:r>
              <a:rPr lang="en-US" sz="2000" dirty="0" smtClean="0"/>
              <a:t> </a:t>
            </a:r>
            <a:r>
              <a:rPr lang="en-US" sz="2000" dirty="0" err="1" smtClean="0"/>
              <a:t>gán</a:t>
            </a:r>
            <a:r>
              <a:rPr lang="en-US" sz="2000" dirty="0"/>
              <a:t>)</a:t>
            </a:r>
            <a:endParaRPr lang="vi-VN" sz="2000" dirty="0"/>
          </a:p>
          <a:p>
            <a:pPr lvl="2"/>
            <a:r>
              <a:rPr lang="vi-VN" sz="2000" dirty="0"/>
              <a:t>Trường hợp xấu nhất: </a:t>
            </a:r>
            <a:r>
              <a:rPr lang="en-US" sz="2000" dirty="0" smtClean="0"/>
              <a:t>O(n</a:t>
            </a:r>
            <a:r>
              <a:rPr lang="en-US" sz="2000" baseline="30000" dirty="0" smtClean="0"/>
              <a:t>2</a:t>
            </a:r>
            <a:r>
              <a:rPr lang="en-US" sz="2000" dirty="0" smtClean="0"/>
              <a:t>)</a:t>
            </a:r>
          </a:p>
          <a:p>
            <a:pPr lvl="3"/>
            <a:r>
              <a:rPr lang="en-US" sz="2000" dirty="0" err="1" smtClean="0"/>
              <a:t>Phải</a:t>
            </a:r>
            <a:r>
              <a:rPr lang="en-US" sz="2000" dirty="0" smtClean="0"/>
              <a:t> </a:t>
            </a:r>
            <a:r>
              <a:rPr lang="en-US" sz="2000" dirty="0" err="1" smtClean="0"/>
              <a:t>thực</a:t>
            </a:r>
            <a:r>
              <a:rPr lang="en-US" sz="2000" dirty="0" smtClean="0"/>
              <a:t> </a:t>
            </a:r>
            <a:r>
              <a:rPr lang="en-US" sz="2000" dirty="0" err="1" smtClean="0"/>
              <a:t>hiện</a:t>
            </a:r>
            <a:r>
              <a:rPr lang="en-US" sz="2000" dirty="0" smtClean="0"/>
              <a:t> n-1 </a:t>
            </a:r>
            <a:r>
              <a:rPr lang="en-US" sz="2000" dirty="0" err="1" smtClean="0"/>
              <a:t>bước</a:t>
            </a:r>
            <a:r>
              <a:rPr lang="en-US" sz="2000" dirty="0" smtClean="0"/>
              <a:t> (</a:t>
            </a:r>
            <a:r>
              <a:rPr lang="en-US" sz="2000" dirty="0" err="1" smtClean="0"/>
              <a:t>dãy</a:t>
            </a:r>
            <a:r>
              <a:rPr lang="en-US" sz="2000" dirty="0" smtClean="0"/>
              <a:t> ban </a:t>
            </a:r>
            <a:r>
              <a:rPr lang="en-US" sz="2000" dirty="0" err="1" smtClean="0"/>
              <a:t>đầu</a:t>
            </a:r>
            <a:r>
              <a:rPr lang="en-US" sz="2000" dirty="0" smtClean="0"/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thứ</a:t>
            </a:r>
            <a:r>
              <a:rPr lang="en-US" sz="2000" dirty="0" smtClean="0"/>
              <a:t> </a:t>
            </a:r>
            <a:r>
              <a:rPr lang="en-US" sz="2000" dirty="0" err="1" smtClean="0"/>
              <a:t>tự</a:t>
            </a:r>
            <a:r>
              <a:rPr lang="en-US" sz="2000" dirty="0" smtClean="0"/>
              <a:t> </a:t>
            </a:r>
            <a:r>
              <a:rPr lang="en-US" sz="2000" dirty="0" err="1" smtClean="0"/>
              <a:t>ngược</a:t>
            </a:r>
            <a:r>
              <a:rPr lang="en-US" sz="2000" dirty="0" smtClean="0"/>
              <a:t> </a:t>
            </a:r>
            <a:r>
              <a:rPr lang="en-US" sz="2000" dirty="0" err="1" smtClean="0"/>
              <a:t>lại</a:t>
            </a:r>
            <a:r>
              <a:rPr lang="en-US" sz="2000" dirty="0" smtClean="0"/>
              <a:t>)</a:t>
            </a:r>
            <a:endParaRPr lang="vi-VN" sz="2000" dirty="0"/>
          </a:p>
          <a:p>
            <a:pPr lvl="3"/>
            <a:r>
              <a:rPr lang="en-US" sz="2000" dirty="0" smtClean="0"/>
              <a:t>Ở </a:t>
            </a:r>
            <a:r>
              <a:rPr lang="en-US" sz="2000" dirty="0" err="1" smtClean="0"/>
              <a:t>bước</a:t>
            </a:r>
            <a:r>
              <a:rPr lang="en-US" sz="2000" dirty="0" smtClean="0"/>
              <a:t> </a:t>
            </a:r>
            <a:r>
              <a:rPr lang="en-US" sz="2000" dirty="0" err="1" smtClean="0"/>
              <a:t>thứ</a:t>
            </a:r>
            <a:r>
              <a:rPr lang="en-US" sz="2000" dirty="0" smtClean="0"/>
              <a:t> </a:t>
            </a:r>
            <a:r>
              <a:rPr lang="en-US" sz="2000" dirty="0" err="1" smtClean="0"/>
              <a:t>i</a:t>
            </a:r>
            <a:r>
              <a:rPr lang="en-US" sz="2000" dirty="0" smtClean="0"/>
              <a:t>, </a:t>
            </a:r>
            <a:r>
              <a:rPr lang="en-US" sz="2000" dirty="0" err="1" smtClean="0"/>
              <a:t>thực</a:t>
            </a:r>
            <a:r>
              <a:rPr lang="en-US" sz="2000" dirty="0" smtClean="0"/>
              <a:t> </a:t>
            </a:r>
            <a:r>
              <a:rPr lang="en-US" sz="2000" dirty="0" err="1" smtClean="0"/>
              <a:t>hiện</a:t>
            </a:r>
            <a:r>
              <a:rPr lang="en-US" sz="2000" dirty="0" smtClean="0"/>
              <a:t> </a:t>
            </a:r>
            <a:r>
              <a:rPr lang="en-US" sz="2000" dirty="0" err="1" smtClean="0"/>
              <a:t>i</a:t>
            </a:r>
            <a:r>
              <a:rPr lang="en-US" sz="2000" dirty="0" smtClean="0"/>
              <a:t> </a:t>
            </a:r>
            <a:r>
              <a:rPr lang="en-US" sz="2000" dirty="0" err="1" smtClean="0"/>
              <a:t>phép</a:t>
            </a:r>
            <a:r>
              <a:rPr lang="en-US" sz="2000" dirty="0" smtClean="0"/>
              <a:t> </a:t>
            </a:r>
            <a:r>
              <a:rPr lang="en-US" sz="2000" dirty="0"/>
              <a:t>so </a:t>
            </a:r>
            <a:r>
              <a:rPr lang="en-US" sz="2000" dirty="0" err="1" smtClean="0"/>
              <a:t>sánh</a:t>
            </a:r>
            <a:r>
              <a:rPr lang="en-US" sz="2000" dirty="0" smtClean="0"/>
              <a:t> </a:t>
            </a:r>
            <a:r>
              <a:rPr lang="en-US" sz="2000" dirty="0" err="1" smtClean="0"/>
              <a:t>và</a:t>
            </a:r>
            <a:r>
              <a:rPr lang="en-US" sz="2000" dirty="0" smtClean="0"/>
              <a:t> </a:t>
            </a:r>
            <a:r>
              <a:rPr lang="en-US" sz="2000" dirty="0" err="1" smtClean="0"/>
              <a:t>i</a:t>
            </a:r>
            <a:r>
              <a:rPr lang="en-US" sz="2000" dirty="0" smtClean="0"/>
              <a:t> </a:t>
            </a:r>
            <a:r>
              <a:rPr lang="en-US" sz="2000" dirty="0" err="1" smtClean="0"/>
              <a:t>phép</a:t>
            </a:r>
            <a:r>
              <a:rPr lang="en-US" sz="2000" dirty="0" smtClean="0"/>
              <a:t> </a:t>
            </a:r>
            <a:r>
              <a:rPr lang="en-US" sz="2000" dirty="0" err="1" smtClean="0"/>
              <a:t>dịch</a:t>
            </a:r>
            <a:r>
              <a:rPr lang="en-US" sz="2000" dirty="0" smtClean="0"/>
              <a:t> </a:t>
            </a:r>
            <a:r>
              <a:rPr lang="en-US" sz="2000" dirty="0" err="1" smtClean="0"/>
              <a:t>phần</a:t>
            </a:r>
            <a:r>
              <a:rPr lang="en-US" sz="2000" dirty="0" smtClean="0"/>
              <a:t> </a:t>
            </a:r>
            <a:r>
              <a:rPr lang="en-US" sz="2000" dirty="0" err="1" smtClean="0"/>
              <a:t>tử</a:t>
            </a:r>
            <a:r>
              <a:rPr lang="en-US" sz="2000" dirty="0" smtClean="0"/>
              <a:t> </a:t>
            </a:r>
            <a:r>
              <a:rPr lang="en-US" sz="2000" dirty="0"/>
              <a:t>(+ </a:t>
            </a:r>
            <a:r>
              <a:rPr lang="en-US" sz="2000" dirty="0" err="1"/>
              <a:t>phép</a:t>
            </a:r>
            <a:r>
              <a:rPr lang="en-US" sz="2000" dirty="0"/>
              <a:t> </a:t>
            </a:r>
            <a:r>
              <a:rPr lang="en-US" sz="2000" dirty="0" err="1"/>
              <a:t>gán</a:t>
            </a:r>
            <a:r>
              <a:rPr lang="en-US" sz="2000" dirty="0" smtClean="0"/>
              <a:t>)</a:t>
            </a:r>
          </a:p>
          <a:p>
            <a:pPr lvl="1"/>
            <a:r>
              <a:rPr lang="vi-VN" sz="2200" dirty="0" smtClean="0"/>
              <a:t>Độ </a:t>
            </a:r>
            <a:r>
              <a:rPr lang="vi-VN" sz="2200" dirty="0"/>
              <a:t>phức tạp thời gian trung bình O(n</a:t>
            </a:r>
            <a:r>
              <a:rPr lang="vi-VN" sz="2200" baseline="30000" dirty="0"/>
              <a:t>2</a:t>
            </a:r>
            <a:r>
              <a:rPr lang="vi-VN" sz="2200" dirty="0"/>
              <a:t>) </a:t>
            </a:r>
          </a:p>
          <a:p>
            <a:r>
              <a:rPr lang="en-US" sz="2400" dirty="0" err="1" smtClean="0"/>
              <a:t>Nhận</a:t>
            </a:r>
            <a:r>
              <a:rPr lang="en-US" sz="2400" dirty="0" smtClean="0"/>
              <a:t> </a:t>
            </a:r>
            <a:r>
              <a:rPr lang="en-US" sz="2400" dirty="0" err="1" smtClean="0"/>
              <a:t>xét</a:t>
            </a:r>
            <a:r>
              <a:rPr lang="en-US" sz="2400" dirty="0" smtClean="0"/>
              <a:t>:</a:t>
            </a:r>
          </a:p>
          <a:p>
            <a:pPr lvl="1"/>
            <a:r>
              <a:rPr lang="en-US" sz="2100" dirty="0" err="1" smtClean="0"/>
              <a:t>Dễ</a:t>
            </a:r>
            <a:r>
              <a:rPr lang="en-US" sz="2100" dirty="0" smtClean="0"/>
              <a:t> </a:t>
            </a:r>
            <a:r>
              <a:rPr lang="en-US" sz="2100" dirty="0" err="1" smtClean="0"/>
              <a:t>triển</a:t>
            </a:r>
            <a:r>
              <a:rPr lang="en-US" sz="2100" dirty="0" smtClean="0"/>
              <a:t> </a:t>
            </a:r>
            <a:r>
              <a:rPr lang="en-US" sz="2100" dirty="0" err="1" smtClean="0"/>
              <a:t>khai</a:t>
            </a:r>
            <a:r>
              <a:rPr lang="en-US" sz="2100" dirty="0" smtClean="0"/>
              <a:t>, </a:t>
            </a:r>
            <a:r>
              <a:rPr lang="en-US" sz="2100" dirty="0" err="1" smtClean="0"/>
              <a:t>hiệu</a:t>
            </a:r>
            <a:r>
              <a:rPr lang="en-US" sz="2100" dirty="0" smtClean="0"/>
              <a:t> </a:t>
            </a:r>
            <a:r>
              <a:rPr lang="en-US" sz="2100" dirty="0" err="1" smtClean="0"/>
              <a:t>quả</a:t>
            </a:r>
            <a:r>
              <a:rPr lang="en-US" sz="2100" dirty="0" smtClean="0"/>
              <a:t> </a:t>
            </a:r>
            <a:r>
              <a:rPr lang="en-US" sz="2100" dirty="0" err="1" smtClean="0"/>
              <a:t>trên</a:t>
            </a:r>
            <a:r>
              <a:rPr lang="en-US" sz="2100" dirty="0" smtClean="0"/>
              <a:t> </a:t>
            </a:r>
            <a:r>
              <a:rPr lang="en-US" sz="2100" dirty="0" err="1" smtClean="0"/>
              <a:t>tập</a:t>
            </a:r>
            <a:r>
              <a:rPr lang="en-US" sz="2100" dirty="0" smtClean="0"/>
              <a:t> </a:t>
            </a:r>
            <a:r>
              <a:rPr lang="en-US" sz="2100" dirty="0" err="1" smtClean="0"/>
              <a:t>nhỏ</a:t>
            </a:r>
            <a:r>
              <a:rPr lang="en-US" sz="2100" dirty="0" smtClean="0"/>
              <a:t> </a:t>
            </a:r>
            <a:r>
              <a:rPr lang="en-US" sz="2100" dirty="0" err="1" smtClean="0"/>
              <a:t>dữ</a:t>
            </a:r>
            <a:r>
              <a:rPr lang="en-US" sz="2100" dirty="0" smtClean="0"/>
              <a:t> </a:t>
            </a:r>
            <a:r>
              <a:rPr lang="en-US" sz="2100" dirty="0" err="1" smtClean="0"/>
              <a:t>liệu</a:t>
            </a:r>
            <a:r>
              <a:rPr lang="en-US" sz="2100" dirty="0" smtClean="0"/>
              <a:t>, </a:t>
            </a:r>
            <a:r>
              <a:rPr lang="en-US" sz="2100" dirty="0" err="1" smtClean="0"/>
              <a:t>dữ</a:t>
            </a:r>
            <a:r>
              <a:rPr lang="en-US" sz="2100" dirty="0" smtClean="0"/>
              <a:t> </a:t>
            </a:r>
            <a:r>
              <a:rPr lang="en-US" sz="2100" dirty="0" err="1" smtClean="0"/>
              <a:t>liệu</a:t>
            </a:r>
            <a:r>
              <a:rPr lang="en-US" sz="2100" dirty="0" smtClean="0"/>
              <a:t> </a:t>
            </a:r>
            <a:r>
              <a:rPr lang="en-US" sz="2100" dirty="0" err="1" smtClean="0"/>
              <a:t>đã</a:t>
            </a:r>
            <a:r>
              <a:rPr lang="en-US" sz="2100" dirty="0" smtClean="0"/>
              <a:t> </a:t>
            </a:r>
            <a:r>
              <a:rPr lang="en-US" sz="2100" dirty="0" err="1" smtClean="0"/>
              <a:t>sắp</a:t>
            </a:r>
            <a:r>
              <a:rPr lang="en-US" sz="2100" dirty="0" smtClean="0"/>
              <a:t> </a:t>
            </a:r>
            <a:r>
              <a:rPr lang="en-US" sz="2100" dirty="0" err="1" smtClean="0"/>
              <a:t>xếp</a:t>
            </a:r>
            <a:r>
              <a:rPr lang="en-US" sz="2100" dirty="0" smtClean="0"/>
              <a:t> </a:t>
            </a:r>
            <a:r>
              <a:rPr lang="en-US" sz="2100" dirty="0" err="1" smtClean="0"/>
              <a:t>một</a:t>
            </a:r>
            <a:r>
              <a:rPr lang="en-US" sz="2100" dirty="0" smtClean="0"/>
              <a:t> </a:t>
            </a:r>
            <a:r>
              <a:rPr lang="en-US" sz="2100" dirty="0" err="1" smtClean="0"/>
              <a:t>phần</a:t>
            </a:r>
            <a:endParaRPr lang="en-US" sz="2100" dirty="0" smtClean="0"/>
          </a:p>
          <a:p>
            <a:pPr lvl="1"/>
            <a:r>
              <a:rPr lang="en-US" sz="2100" dirty="0" err="1" smtClean="0"/>
              <a:t>Thực</a:t>
            </a:r>
            <a:r>
              <a:rPr lang="en-US" sz="2100" dirty="0" smtClean="0"/>
              <a:t> </a:t>
            </a:r>
            <a:r>
              <a:rPr lang="en-US" sz="2100" dirty="0" err="1" smtClean="0"/>
              <a:t>thi</a:t>
            </a:r>
            <a:r>
              <a:rPr lang="en-US" sz="2100" dirty="0" smtClean="0"/>
              <a:t> </a:t>
            </a:r>
            <a:r>
              <a:rPr lang="en-US" sz="2100" dirty="0" err="1" smtClean="0"/>
              <a:t>tốt</a:t>
            </a:r>
            <a:r>
              <a:rPr lang="en-US" sz="2100" dirty="0" smtClean="0"/>
              <a:t> </a:t>
            </a:r>
            <a:r>
              <a:rPr lang="en-US" sz="2100" dirty="0" err="1" smtClean="0"/>
              <a:t>hơn</a:t>
            </a:r>
            <a:r>
              <a:rPr lang="en-US" sz="2100" dirty="0" smtClean="0"/>
              <a:t> </a:t>
            </a:r>
            <a:r>
              <a:rPr lang="en-US" sz="2100" dirty="0" err="1" smtClean="0"/>
              <a:t>sắp</a:t>
            </a:r>
            <a:r>
              <a:rPr lang="en-US" sz="2100" dirty="0" smtClean="0"/>
              <a:t> </a:t>
            </a:r>
            <a:r>
              <a:rPr lang="en-US" sz="2100" dirty="0" err="1" smtClean="0"/>
              <a:t>xếp</a:t>
            </a:r>
            <a:r>
              <a:rPr lang="en-US" sz="2100" dirty="0" smtClean="0"/>
              <a:t> </a:t>
            </a:r>
            <a:r>
              <a:rPr lang="en-US" sz="2100" dirty="0" err="1" smtClean="0"/>
              <a:t>chọn</a:t>
            </a:r>
            <a:r>
              <a:rPr lang="en-US" sz="2100" dirty="0" smtClean="0"/>
              <a:t> (x1.4) </a:t>
            </a:r>
            <a:r>
              <a:rPr lang="en-US" sz="2100" dirty="0" err="1" smtClean="0"/>
              <a:t>và</a:t>
            </a:r>
            <a:r>
              <a:rPr lang="en-US" sz="2100" dirty="0" smtClean="0"/>
              <a:t> </a:t>
            </a:r>
            <a:r>
              <a:rPr lang="en-US" sz="2100" dirty="0" err="1" smtClean="0"/>
              <a:t>sắp</a:t>
            </a:r>
            <a:r>
              <a:rPr lang="en-US" sz="2100" dirty="0" smtClean="0"/>
              <a:t> </a:t>
            </a:r>
            <a:r>
              <a:rPr lang="en-US" sz="2100" dirty="0" err="1" smtClean="0"/>
              <a:t>xếp</a:t>
            </a:r>
            <a:r>
              <a:rPr lang="en-US" sz="2100" dirty="0" smtClean="0"/>
              <a:t> </a:t>
            </a:r>
            <a:r>
              <a:rPr lang="en-US" sz="2100" dirty="0" err="1" smtClean="0"/>
              <a:t>nổi</a:t>
            </a:r>
            <a:r>
              <a:rPr lang="en-US" sz="2100" dirty="0" smtClean="0"/>
              <a:t> </a:t>
            </a:r>
            <a:r>
              <a:rPr lang="en-US" sz="2100" dirty="0" err="1" smtClean="0"/>
              <a:t>bọt</a:t>
            </a:r>
            <a:r>
              <a:rPr lang="en-US" sz="2100" dirty="0" smtClean="0"/>
              <a:t> (x2)</a:t>
            </a:r>
          </a:p>
          <a:p>
            <a:pPr lvl="1"/>
            <a:r>
              <a:rPr lang="en-US" sz="2100" dirty="0" err="1" smtClean="0"/>
              <a:t>Có</a:t>
            </a:r>
            <a:r>
              <a:rPr lang="en-US" sz="2100" dirty="0" smtClean="0"/>
              <a:t> </a:t>
            </a:r>
            <a:r>
              <a:rPr lang="en-US" sz="2100" dirty="0" err="1" smtClean="0"/>
              <a:t>thể</a:t>
            </a:r>
            <a:r>
              <a:rPr lang="en-US" sz="2100" dirty="0" smtClean="0"/>
              <a:t> </a:t>
            </a:r>
            <a:r>
              <a:rPr lang="en-US" sz="2100" dirty="0" err="1" smtClean="0"/>
              <a:t>thực</a:t>
            </a:r>
            <a:r>
              <a:rPr lang="en-US" sz="2100" dirty="0" smtClean="0"/>
              <a:t> </a:t>
            </a:r>
            <a:r>
              <a:rPr lang="en-US" sz="2100" dirty="0" err="1" smtClean="0"/>
              <a:t>thi</a:t>
            </a:r>
            <a:r>
              <a:rPr lang="en-US" sz="2100" dirty="0" smtClean="0"/>
              <a:t> online, </a:t>
            </a:r>
            <a:r>
              <a:rPr lang="en-US" sz="2100" dirty="0" err="1" smtClean="0"/>
              <a:t>vừa</a:t>
            </a:r>
            <a:r>
              <a:rPr lang="en-US" sz="2100" dirty="0" smtClean="0"/>
              <a:t> </a:t>
            </a:r>
            <a:r>
              <a:rPr lang="en-US" sz="2100" dirty="0" err="1" smtClean="0"/>
              <a:t>sắp</a:t>
            </a:r>
            <a:r>
              <a:rPr lang="en-US" sz="2100" dirty="0" smtClean="0"/>
              <a:t> </a:t>
            </a:r>
            <a:r>
              <a:rPr lang="en-US" sz="2100" dirty="0" err="1" smtClean="0"/>
              <a:t>xếp</a:t>
            </a:r>
            <a:r>
              <a:rPr lang="en-US" sz="2100" dirty="0" smtClean="0"/>
              <a:t> </a:t>
            </a:r>
            <a:r>
              <a:rPr lang="en-US" sz="2100" dirty="0" err="1" smtClean="0"/>
              <a:t>vừa</a:t>
            </a:r>
            <a:r>
              <a:rPr lang="en-US" sz="2100" dirty="0" smtClean="0"/>
              <a:t> </a:t>
            </a:r>
            <a:r>
              <a:rPr lang="en-US" sz="2100" dirty="0" err="1" smtClean="0"/>
              <a:t>thêm</a:t>
            </a:r>
            <a:r>
              <a:rPr lang="en-US" sz="2100" dirty="0" smtClean="0"/>
              <a:t> </a:t>
            </a:r>
            <a:r>
              <a:rPr lang="en-US" sz="2100" dirty="0" err="1" smtClean="0"/>
              <a:t>phần</a:t>
            </a:r>
            <a:r>
              <a:rPr lang="en-US" sz="2100" dirty="0" smtClean="0"/>
              <a:t> </a:t>
            </a:r>
            <a:r>
              <a:rPr lang="en-US" sz="2100" dirty="0" err="1" smtClean="0"/>
              <a:t>tử</a:t>
            </a:r>
            <a:r>
              <a:rPr lang="en-US" sz="2100" dirty="0" smtClean="0"/>
              <a:t> </a:t>
            </a:r>
            <a:r>
              <a:rPr lang="en-US" sz="2100" dirty="0" err="1" smtClean="0"/>
              <a:t>mới</a:t>
            </a:r>
            <a:endParaRPr lang="en-US" sz="2100" dirty="0" smtClean="0"/>
          </a:p>
          <a:p>
            <a:pPr lvl="1"/>
            <a:endParaRPr lang="en-US" sz="2100" dirty="0" smtClean="0"/>
          </a:p>
          <a:p>
            <a:pPr lvl="2"/>
            <a:endParaRPr lang="en-US" sz="1900" dirty="0" smtClean="0"/>
          </a:p>
          <a:p>
            <a:pPr lvl="2"/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00375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2530460" y="2590800"/>
            <a:ext cx="5622940" cy="45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altLang="en-US" sz="2400" dirty="0" smtClean="0">
                <a:solidFill>
                  <a:schemeClr val="tx1"/>
                </a:solidFill>
              </a:rPr>
              <a:t>3. </a:t>
            </a:r>
            <a:r>
              <a:rPr lang="en-US" altLang="en-US" sz="2400" dirty="0" err="1" smtClean="0">
                <a:solidFill>
                  <a:schemeClr val="tx1"/>
                </a:solidFill>
              </a:rPr>
              <a:t>Các</a:t>
            </a: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en-US" sz="2400" dirty="0" err="1" smtClean="0">
                <a:solidFill>
                  <a:schemeClr val="tx1"/>
                </a:solidFill>
              </a:rPr>
              <a:t>giải</a:t>
            </a: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en-US" sz="2400" dirty="0" err="1" smtClean="0">
                <a:solidFill>
                  <a:schemeClr val="tx1"/>
                </a:solidFill>
              </a:rPr>
              <a:t>thuật</a:t>
            </a: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en-US" sz="2400" dirty="0" err="1" smtClean="0">
                <a:solidFill>
                  <a:schemeClr val="tx1"/>
                </a:solidFill>
              </a:rPr>
              <a:t>sắp</a:t>
            </a: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en-US" sz="2400" dirty="0" err="1" smtClean="0">
                <a:solidFill>
                  <a:schemeClr val="tx1"/>
                </a:solidFill>
              </a:rPr>
              <a:t>xếp</a:t>
            </a: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en-US" sz="2400" dirty="0" err="1" smtClean="0">
                <a:solidFill>
                  <a:schemeClr val="tx1"/>
                </a:solidFill>
              </a:rPr>
              <a:t>nâng</a:t>
            </a: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en-US" sz="2400" dirty="0" err="1" smtClean="0">
                <a:solidFill>
                  <a:schemeClr val="tx1"/>
                </a:solidFill>
              </a:rPr>
              <a:t>cao</a:t>
            </a:r>
            <a:endParaRPr lang="en-US" altLang="en-US" sz="24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5724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4F29EA8-33B5-4420-99B7-EAE0B41617FF}" type="slidenum">
              <a:rPr lang="en-US" altLang="en-US">
                <a:latin typeface="Garamond" panose="02020404030301010803" pitchFamily="18" charset="0"/>
              </a:rPr>
              <a:pPr eaLnBrk="1" hangingPunct="1"/>
              <a:t>29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3. </a:t>
            </a:r>
            <a:r>
              <a:rPr lang="en-US" altLang="en-US" dirty="0" err="1" smtClean="0"/>
              <a:t>Các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giải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thuật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sắp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xếp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nâng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cao</a:t>
            </a:r>
            <a:endParaRPr lang="en-US" altLang="en-US" dirty="0" smtClean="0"/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err="1" smtClean="0"/>
              <a:t>Các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giải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thuật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sắp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xếp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cơ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bản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có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độ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phức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tạp</a:t>
            </a:r>
            <a:r>
              <a:rPr lang="en-US" altLang="en-US" sz="2400" dirty="0" smtClean="0"/>
              <a:t> O(n</a:t>
            </a:r>
            <a:r>
              <a:rPr lang="en-US" altLang="en-US" sz="2400" baseline="30000" dirty="0" smtClean="0"/>
              <a:t>2</a:t>
            </a:r>
            <a:r>
              <a:rPr lang="en-US" altLang="en-US" sz="2400" dirty="0" smtClean="0"/>
              <a:t>)</a:t>
            </a:r>
          </a:p>
          <a:p>
            <a:pPr lvl="1"/>
            <a:r>
              <a:rPr lang="vi-VN" sz="2400" dirty="0"/>
              <a:t>Thời gian tính toán tăng nhanh khi 𝑛 lớn </a:t>
            </a:r>
            <a:endParaRPr lang="en-US" sz="2400" dirty="0" smtClean="0"/>
          </a:p>
          <a:p>
            <a:pPr lvl="1"/>
            <a:r>
              <a:rPr lang="en-US" sz="2400" dirty="0" smtClean="0"/>
              <a:t>-&gt;</a:t>
            </a:r>
            <a:r>
              <a:rPr lang="vi-VN" sz="2400" dirty="0" smtClean="0"/>
              <a:t> </a:t>
            </a:r>
            <a:r>
              <a:rPr lang="vi-VN" sz="2400" dirty="0"/>
              <a:t>Chia nhỏ </a:t>
            </a:r>
            <a:r>
              <a:rPr lang="en-US" sz="2400" dirty="0" err="1" smtClean="0"/>
              <a:t>bài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vi-VN" sz="2400" dirty="0" smtClean="0"/>
              <a:t>thành </a:t>
            </a:r>
            <a:r>
              <a:rPr lang="vi-VN" sz="2400" dirty="0"/>
              <a:t>các </a:t>
            </a:r>
            <a:r>
              <a:rPr lang="en-US" sz="2400" dirty="0" err="1" smtClean="0"/>
              <a:t>bài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vi-VN" sz="2400" dirty="0" smtClean="0"/>
              <a:t> </a:t>
            </a:r>
            <a:r>
              <a:rPr lang="vi-VN" sz="2400" dirty="0"/>
              <a:t>nhỏ </a:t>
            </a:r>
            <a:r>
              <a:rPr lang="vi-VN" sz="2400" dirty="0" smtClean="0"/>
              <a:t>hơn</a:t>
            </a:r>
            <a:endParaRPr lang="en-US" sz="2400" dirty="0" smtClean="0"/>
          </a:p>
          <a:p>
            <a:r>
              <a:rPr lang="en-US" sz="2400" dirty="0" err="1" smtClean="0"/>
              <a:t>Hướng</a:t>
            </a:r>
            <a:r>
              <a:rPr lang="en-US" sz="2400" dirty="0" smtClean="0"/>
              <a:t> </a:t>
            </a:r>
            <a:r>
              <a:rPr lang="en-US" sz="2400" dirty="0" err="1" smtClean="0"/>
              <a:t>tiếp</a:t>
            </a:r>
            <a:r>
              <a:rPr lang="en-US" sz="2400" dirty="0" smtClean="0"/>
              <a:t> </a:t>
            </a:r>
            <a:r>
              <a:rPr lang="en-US" sz="2400" dirty="0" err="1" smtClean="0"/>
              <a:t>cận</a:t>
            </a:r>
            <a:r>
              <a:rPr lang="en-US" sz="2400" dirty="0" smtClean="0"/>
              <a:t> chia </a:t>
            </a:r>
            <a:r>
              <a:rPr lang="en-US" sz="2400" dirty="0" err="1" smtClean="0"/>
              <a:t>để</a:t>
            </a:r>
            <a:r>
              <a:rPr lang="en-US" sz="2400" dirty="0" smtClean="0"/>
              <a:t> </a:t>
            </a:r>
            <a:r>
              <a:rPr lang="en-US" sz="2400" dirty="0" err="1" smtClean="0"/>
              <a:t>trị</a:t>
            </a:r>
            <a:r>
              <a:rPr lang="en-US" sz="2400" dirty="0" smtClean="0"/>
              <a:t> (</a:t>
            </a:r>
            <a:r>
              <a:rPr lang="en-US" sz="2400" dirty="0" err="1" smtClean="0"/>
              <a:t>triển</a:t>
            </a:r>
            <a:r>
              <a:rPr lang="en-US" sz="2400" dirty="0" smtClean="0"/>
              <a:t> </a:t>
            </a:r>
            <a:r>
              <a:rPr lang="en-US" sz="2400" dirty="0" err="1" smtClean="0"/>
              <a:t>khai</a:t>
            </a:r>
            <a:r>
              <a:rPr lang="en-US" sz="2400" dirty="0" smtClean="0"/>
              <a:t> </a:t>
            </a:r>
            <a:r>
              <a:rPr lang="en-US" sz="2400" dirty="0" err="1" smtClean="0"/>
              <a:t>đệ</a:t>
            </a:r>
            <a:r>
              <a:rPr lang="en-US" sz="2400" dirty="0" smtClean="0"/>
              <a:t> </a:t>
            </a:r>
            <a:r>
              <a:rPr lang="en-US" sz="2400" dirty="0" err="1" smtClean="0"/>
              <a:t>quy</a:t>
            </a:r>
            <a:r>
              <a:rPr lang="en-US" sz="2400" dirty="0" smtClean="0"/>
              <a:t>)</a:t>
            </a:r>
          </a:p>
          <a:p>
            <a:pPr lvl="1"/>
            <a:r>
              <a:rPr lang="vi-VN" sz="2400" dirty="0"/>
              <a:t>Chia thành hai phần </a:t>
            </a:r>
            <a:endParaRPr lang="en-US" sz="2400" dirty="0" smtClean="0"/>
          </a:p>
          <a:p>
            <a:pPr lvl="1"/>
            <a:r>
              <a:rPr lang="vi-VN" sz="2400" dirty="0" smtClean="0"/>
              <a:t>Sắp </a:t>
            </a:r>
            <a:r>
              <a:rPr lang="vi-VN" sz="2400" dirty="0"/>
              <a:t>xếp từng phần riêng biệt </a:t>
            </a:r>
            <a:endParaRPr lang="en-US" sz="2400" dirty="0" smtClean="0"/>
          </a:p>
          <a:p>
            <a:pPr lvl="1"/>
            <a:r>
              <a:rPr lang="vi-VN" sz="2400" dirty="0" smtClean="0"/>
              <a:t>Hợp </a:t>
            </a:r>
            <a:r>
              <a:rPr lang="vi-VN" sz="2400" dirty="0"/>
              <a:t>nhất hai phần đã sắp xếp</a:t>
            </a:r>
            <a:endParaRPr lang="en-US" altLang="en-US" sz="2100" dirty="0" smtClean="0"/>
          </a:p>
          <a:p>
            <a:r>
              <a:rPr lang="en-US" altLang="en-US" sz="2400" dirty="0" err="1"/>
              <a:t>Các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giải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thuật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sắp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xếp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nâng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cao</a:t>
            </a:r>
            <a:endParaRPr lang="en-US" altLang="en-US" dirty="0"/>
          </a:p>
          <a:p>
            <a:pPr lvl="1"/>
            <a:r>
              <a:rPr lang="en-US" altLang="en-US" sz="2200" dirty="0" err="1" smtClean="0"/>
              <a:t>Sắp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xếp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nhanh</a:t>
            </a:r>
            <a:r>
              <a:rPr lang="en-US" altLang="en-US" sz="2200" dirty="0" smtClean="0"/>
              <a:t> (Quick Sort)</a:t>
            </a:r>
          </a:p>
          <a:p>
            <a:pPr lvl="1"/>
            <a:r>
              <a:rPr lang="en-US" altLang="en-US" sz="2200" dirty="0" err="1" smtClean="0"/>
              <a:t>Sắp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xếp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trộn</a:t>
            </a:r>
            <a:r>
              <a:rPr lang="en-US" altLang="en-US" sz="2200" dirty="0" smtClean="0"/>
              <a:t> (Merge Sort)</a:t>
            </a:r>
          </a:p>
          <a:p>
            <a:pPr lvl="1"/>
            <a:r>
              <a:rPr lang="en-US" altLang="en-US" sz="2200" dirty="0" err="1" smtClean="0"/>
              <a:t>Sắp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xếp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vun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đống</a:t>
            </a:r>
            <a:r>
              <a:rPr lang="en-US" altLang="en-US" sz="2200" dirty="0" smtClean="0"/>
              <a:t> (Heap Sort)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667000"/>
            <a:ext cx="3231107" cy="136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09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6D5FB6B-0E57-42EC-A9DA-904264BE5739}" type="slidenum">
              <a:rPr lang="en-US" altLang="en-US">
                <a:latin typeface="Garamond" panose="02020404030301010803" pitchFamily="18" charset="0"/>
              </a:rPr>
              <a:pPr eaLnBrk="1" hangingPunct="1"/>
              <a:t>30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3.1 </a:t>
            </a:r>
            <a:r>
              <a:rPr lang="en-US" altLang="en-US" dirty="0" err="1" smtClean="0"/>
              <a:t>Sắp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xếp</a:t>
            </a:r>
            <a:r>
              <a:rPr lang="en-US" altLang="en-US" dirty="0" smtClean="0"/>
              <a:t> </a:t>
            </a:r>
            <a:r>
              <a:rPr lang="en-US" altLang="en-US" dirty="0" err="1"/>
              <a:t>nhanh</a:t>
            </a:r>
            <a:r>
              <a:rPr lang="en-US" altLang="en-US" dirty="0"/>
              <a:t>/</a:t>
            </a:r>
            <a:r>
              <a:rPr lang="en-US" altLang="en-US" dirty="0" err="1"/>
              <a:t>phân</a:t>
            </a:r>
            <a:r>
              <a:rPr lang="en-US" altLang="en-US" dirty="0"/>
              <a:t> </a:t>
            </a:r>
            <a:r>
              <a:rPr lang="en-US" altLang="en-US" dirty="0" err="1"/>
              <a:t>đoạn</a:t>
            </a:r>
            <a:r>
              <a:rPr lang="en-US" altLang="en-US" dirty="0"/>
              <a:t> </a:t>
            </a:r>
            <a:r>
              <a:rPr lang="en-US" altLang="en-US" dirty="0" smtClean="0"/>
              <a:t>(</a:t>
            </a:r>
            <a:r>
              <a:rPr lang="en-US" altLang="en-US" i="1" dirty="0" err="1" smtClean="0"/>
              <a:t>QuickSort</a:t>
            </a:r>
            <a:r>
              <a:rPr lang="en-US" altLang="en-US" dirty="0" smtClean="0"/>
              <a:t>)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832849" cy="513283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 smtClean="0"/>
              <a:t>Ý </a:t>
            </a:r>
            <a:r>
              <a:rPr lang="en-US" altLang="en-US" sz="2400" dirty="0" err="1" smtClean="0"/>
              <a:t>tưởng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giải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thuật</a:t>
            </a:r>
            <a:r>
              <a:rPr lang="en-US" altLang="en-US" sz="2400" dirty="0" smtClean="0"/>
              <a:t>: </a:t>
            </a:r>
          </a:p>
          <a:p>
            <a:pPr lvl="1"/>
            <a:r>
              <a:rPr lang="en-US" altLang="en-US" sz="2100" dirty="0" err="1"/>
              <a:t>S</a:t>
            </a:r>
            <a:r>
              <a:rPr lang="en-US" altLang="en-US" sz="2100" dirty="0" err="1" smtClean="0"/>
              <a:t>ử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dụng</a:t>
            </a:r>
            <a:r>
              <a:rPr lang="en-US" altLang="en-US" sz="2100" dirty="0" smtClean="0"/>
              <a:t> 1 </a:t>
            </a:r>
            <a:r>
              <a:rPr lang="en-US" altLang="en-US" sz="2100" dirty="0" err="1" smtClean="0"/>
              <a:t>giá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trị</a:t>
            </a:r>
            <a:r>
              <a:rPr lang="en-US" altLang="en-US" sz="2100" dirty="0" smtClean="0"/>
              <a:t> </a:t>
            </a:r>
            <a:r>
              <a:rPr lang="en-US" altLang="en-US" sz="2400" b="1" i="1" dirty="0" smtClean="0"/>
              <a:t>c</a:t>
            </a:r>
            <a:r>
              <a:rPr lang="en-US" altLang="en-US" sz="2100" dirty="0" smtClean="0"/>
              <a:t>  </a:t>
            </a:r>
            <a:r>
              <a:rPr lang="en-US" altLang="en-US" sz="2100" dirty="0" err="1" smtClean="0"/>
              <a:t>gọi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là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chốt</a:t>
            </a:r>
            <a:r>
              <a:rPr lang="en-US" altLang="en-US" sz="2100" dirty="0" smtClean="0"/>
              <a:t>: pivot</a:t>
            </a:r>
          </a:p>
          <a:p>
            <a:pPr lvl="1"/>
            <a:r>
              <a:rPr lang="en-US" altLang="en-US" sz="2100" dirty="0" err="1" smtClean="0"/>
              <a:t>Bố</a:t>
            </a:r>
            <a:r>
              <a:rPr lang="en-US" altLang="en-US" sz="2100" dirty="0" smtClean="0"/>
              <a:t> </a:t>
            </a:r>
            <a:r>
              <a:rPr lang="en-US" altLang="en-US" sz="2100" dirty="0" err="1"/>
              <a:t>trí</a:t>
            </a:r>
            <a:r>
              <a:rPr lang="en-US" altLang="en-US" sz="2100" dirty="0"/>
              <a:t> </a:t>
            </a:r>
            <a:r>
              <a:rPr lang="en-US" altLang="en-US" sz="2100" dirty="0" err="1"/>
              <a:t>các</a:t>
            </a:r>
            <a:r>
              <a:rPr lang="en-US" altLang="en-US" sz="2100" dirty="0"/>
              <a:t> </a:t>
            </a:r>
            <a:r>
              <a:rPr lang="en-US" altLang="en-US" sz="2100" dirty="0" err="1"/>
              <a:t>phần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tử</a:t>
            </a:r>
            <a:r>
              <a:rPr lang="en-US" altLang="en-US" sz="2100" dirty="0"/>
              <a:t> </a:t>
            </a:r>
            <a:r>
              <a:rPr lang="en-US" altLang="en-US" sz="2100" dirty="0" err="1" smtClean="0"/>
              <a:t>của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dãy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sao</a:t>
            </a:r>
            <a:r>
              <a:rPr lang="en-US" altLang="en-US" sz="2100" dirty="0" smtClean="0"/>
              <a:t> </a:t>
            </a:r>
            <a:r>
              <a:rPr lang="en-US" altLang="en-US" sz="2100" dirty="0" err="1"/>
              <a:t>cho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tất</a:t>
            </a:r>
            <a:r>
              <a:rPr lang="en-US" altLang="en-US" sz="2100" dirty="0"/>
              <a:t> </a:t>
            </a:r>
            <a:r>
              <a:rPr lang="en-US" altLang="en-US" sz="2100" dirty="0" err="1"/>
              <a:t>cả</a:t>
            </a:r>
            <a:r>
              <a:rPr lang="en-US" altLang="en-US" sz="2100" dirty="0"/>
              <a:t> </a:t>
            </a:r>
            <a:r>
              <a:rPr lang="en-US" altLang="en-US" sz="2100" dirty="0" err="1"/>
              <a:t>các</a:t>
            </a:r>
            <a:r>
              <a:rPr lang="en-US" altLang="en-US" sz="2100" dirty="0"/>
              <a:t> </a:t>
            </a:r>
            <a:r>
              <a:rPr lang="en-US" altLang="en-US" sz="2100" dirty="0" err="1"/>
              <a:t>phần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tử</a:t>
            </a:r>
            <a:r>
              <a:rPr lang="en-US" altLang="en-US" sz="2100" dirty="0"/>
              <a:t> </a:t>
            </a:r>
            <a:r>
              <a:rPr lang="en-US" altLang="en-US" sz="2100" dirty="0" err="1"/>
              <a:t>đứng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trước</a:t>
            </a:r>
            <a:r>
              <a:rPr lang="en-US" altLang="en-US" sz="2100" dirty="0"/>
              <a:t> </a:t>
            </a:r>
            <a:r>
              <a:rPr lang="en-US" altLang="en-US" sz="2100" dirty="0" err="1"/>
              <a:t>chốt</a:t>
            </a:r>
            <a:r>
              <a:rPr lang="en-US" altLang="en-US" sz="2100" dirty="0"/>
              <a:t> </a:t>
            </a:r>
            <a:r>
              <a:rPr lang="en-US" altLang="en-US" sz="2100" dirty="0" err="1"/>
              <a:t>đều</a:t>
            </a:r>
            <a:r>
              <a:rPr lang="en-US" altLang="en-US" sz="2100" dirty="0"/>
              <a:t> </a:t>
            </a:r>
            <a:r>
              <a:rPr lang="en-US" altLang="en-US" sz="2100" dirty="0" err="1"/>
              <a:t>nhỏ</a:t>
            </a:r>
            <a:r>
              <a:rPr lang="en-US" altLang="en-US" sz="2100" dirty="0"/>
              <a:t> </a:t>
            </a:r>
            <a:r>
              <a:rPr lang="en-US" altLang="en-US" sz="2100" dirty="0" err="1"/>
              <a:t>hơn</a:t>
            </a:r>
            <a:r>
              <a:rPr lang="en-US" altLang="en-US" sz="2100" dirty="0"/>
              <a:t> </a:t>
            </a:r>
            <a:r>
              <a:rPr lang="en-US" altLang="en-US" sz="2100" b="1" i="1" dirty="0" smtClean="0"/>
              <a:t>c</a:t>
            </a:r>
            <a:r>
              <a:rPr lang="en-US" altLang="en-US" sz="2100" dirty="0"/>
              <a:t>, </a:t>
            </a:r>
            <a:r>
              <a:rPr lang="en-US" altLang="en-US" sz="2100" dirty="0" err="1"/>
              <a:t>và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tất</a:t>
            </a:r>
            <a:r>
              <a:rPr lang="en-US" altLang="en-US" sz="2100" dirty="0"/>
              <a:t> </a:t>
            </a:r>
            <a:r>
              <a:rPr lang="en-US" altLang="en-US" sz="2100" dirty="0" err="1"/>
              <a:t>cả</a:t>
            </a:r>
            <a:r>
              <a:rPr lang="en-US" altLang="en-US" sz="2100" dirty="0"/>
              <a:t> </a:t>
            </a:r>
            <a:r>
              <a:rPr lang="en-US" altLang="en-US" sz="2100" dirty="0" err="1"/>
              <a:t>các</a:t>
            </a:r>
            <a:r>
              <a:rPr lang="en-US" altLang="en-US" sz="2100" dirty="0"/>
              <a:t> </a:t>
            </a:r>
            <a:r>
              <a:rPr lang="en-US" altLang="en-US" sz="2100" dirty="0" err="1"/>
              <a:t>phần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tử</a:t>
            </a:r>
            <a:r>
              <a:rPr lang="en-US" altLang="en-US" sz="2100" dirty="0"/>
              <a:t> </a:t>
            </a:r>
            <a:r>
              <a:rPr lang="en-US" altLang="en-US" sz="2100" dirty="0" err="1"/>
              <a:t>đứng</a:t>
            </a:r>
            <a:r>
              <a:rPr lang="en-US" altLang="en-US" sz="2100" dirty="0"/>
              <a:t> </a:t>
            </a:r>
            <a:r>
              <a:rPr lang="en-US" altLang="en-US" sz="2100" dirty="0" err="1"/>
              <a:t>sau</a:t>
            </a:r>
            <a:r>
              <a:rPr lang="en-US" altLang="en-US" sz="2100" dirty="0"/>
              <a:t> </a:t>
            </a:r>
            <a:r>
              <a:rPr lang="en-US" altLang="en-US" sz="2100" dirty="0" err="1"/>
              <a:t>chốt</a:t>
            </a:r>
            <a:r>
              <a:rPr lang="en-US" altLang="en-US" sz="2100" dirty="0"/>
              <a:t> </a:t>
            </a:r>
            <a:r>
              <a:rPr lang="en-US" altLang="en-US" sz="2100" dirty="0" err="1"/>
              <a:t>đều</a:t>
            </a:r>
            <a:r>
              <a:rPr lang="en-US" altLang="en-US" sz="2100" dirty="0"/>
              <a:t> </a:t>
            </a:r>
            <a:r>
              <a:rPr lang="en-US" altLang="en-US" sz="2100" dirty="0" err="1"/>
              <a:t>lớn</a:t>
            </a:r>
            <a:r>
              <a:rPr lang="en-US" altLang="en-US" sz="2100" dirty="0"/>
              <a:t> </a:t>
            </a:r>
            <a:r>
              <a:rPr lang="en-US" altLang="en-US" sz="2100" dirty="0" err="1" smtClean="0"/>
              <a:t>hơn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hoặc</a:t>
            </a:r>
            <a:r>
              <a:rPr lang="en-US" altLang="en-US" sz="2100" dirty="0" smtClean="0"/>
              <a:t> </a:t>
            </a:r>
            <a:r>
              <a:rPr lang="en-US" altLang="en-US" sz="2100" dirty="0" err="1"/>
              <a:t>bằng</a:t>
            </a:r>
            <a:r>
              <a:rPr lang="en-US" altLang="en-US" sz="2100" dirty="0"/>
              <a:t> </a:t>
            </a:r>
            <a:r>
              <a:rPr lang="en-US" altLang="en-US" sz="2100" dirty="0" smtClean="0"/>
              <a:t> </a:t>
            </a:r>
            <a:r>
              <a:rPr lang="en-US" altLang="en-US" sz="2100" b="1" i="1" dirty="0"/>
              <a:t>c</a:t>
            </a:r>
            <a:r>
              <a:rPr lang="en-US" altLang="en-US" sz="2100" dirty="0" smtClean="0"/>
              <a:t>.</a:t>
            </a:r>
          </a:p>
          <a:p>
            <a:pPr lvl="1"/>
            <a:r>
              <a:rPr lang="en-US" altLang="en-US" sz="2100" dirty="0" err="1"/>
              <a:t>Lặp</a:t>
            </a:r>
            <a:r>
              <a:rPr lang="en-US" altLang="en-US" sz="2100" dirty="0"/>
              <a:t> </a:t>
            </a:r>
            <a:r>
              <a:rPr lang="en-US" altLang="en-US" sz="2100" dirty="0" err="1"/>
              <a:t>lại</a:t>
            </a:r>
            <a:r>
              <a:rPr lang="en-US" altLang="en-US" sz="2100" dirty="0"/>
              <a:t> </a:t>
            </a:r>
            <a:r>
              <a:rPr lang="en-US" altLang="en-US" sz="2100" dirty="0" err="1"/>
              <a:t>cách</a:t>
            </a:r>
            <a:r>
              <a:rPr lang="en-US" altLang="en-US" sz="2100" dirty="0"/>
              <a:t> </a:t>
            </a:r>
            <a:r>
              <a:rPr lang="en-US" altLang="en-US" sz="2100" dirty="0" err="1"/>
              <a:t>làm</a:t>
            </a:r>
            <a:r>
              <a:rPr lang="en-US" altLang="en-US" sz="2100" dirty="0"/>
              <a:t> </a:t>
            </a:r>
            <a:r>
              <a:rPr lang="en-US" altLang="en-US" sz="2100" dirty="0" err="1"/>
              <a:t>này</a:t>
            </a:r>
            <a:r>
              <a:rPr lang="en-US" altLang="en-US" sz="2100" dirty="0"/>
              <a:t> </a:t>
            </a:r>
            <a:r>
              <a:rPr lang="en-US" altLang="en-US" sz="2100" dirty="0" err="1"/>
              <a:t>với</a:t>
            </a:r>
            <a:r>
              <a:rPr lang="en-US" altLang="en-US" sz="2100" dirty="0"/>
              <a:t> </a:t>
            </a:r>
            <a:r>
              <a:rPr lang="en-US" altLang="en-US" sz="2100" dirty="0" err="1"/>
              <a:t>các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tập</a:t>
            </a:r>
            <a:r>
              <a:rPr lang="en-US" altLang="en-US" sz="2100" dirty="0"/>
              <a:t> </a:t>
            </a:r>
            <a:r>
              <a:rPr lang="en-US" altLang="en-US" sz="2100" dirty="0" err="1"/>
              <a:t>nhỏ</a:t>
            </a:r>
            <a:r>
              <a:rPr lang="en-US" altLang="en-US" sz="2100" dirty="0"/>
              <a:t> </a:t>
            </a:r>
            <a:r>
              <a:rPr lang="en-US" altLang="en-US" sz="2100" dirty="0" err="1" smtClean="0"/>
              <a:t>hơn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bên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trái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và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bên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phải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của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chốt</a:t>
            </a:r>
            <a:endParaRPr lang="en-US" altLang="en-US" sz="2100" dirty="0" smtClean="0"/>
          </a:p>
          <a:p>
            <a:pPr lvl="1"/>
            <a:r>
              <a:rPr lang="en-US" altLang="en-US" sz="2100" dirty="0" err="1" smtClean="0"/>
              <a:t>Trường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hợp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cơ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sở</a:t>
            </a:r>
            <a:r>
              <a:rPr lang="en-US" altLang="en-US" sz="2100" dirty="0" smtClean="0"/>
              <a:t>: </a:t>
            </a:r>
            <a:r>
              <a:rPr lang="en-US" altLang="en-US" sz="2100" dirty="0" err="1"/>
              <a:t>khi</a:t>
            </a:r>
            <a:r>
              <a:rPr lang="en-US" altLang="en-US" sz="2100" dirty="0"/>
              <a:t> </a:t>
            </a:r>
            <a:r>
              <a:rPr lang="en-US" altLang="en-US" sz="2100" dirty="0" err="1"/>
              <a:t>kích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thước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tập</a:t>
            </a:r>
            <a:r>
              <a:rPr lang="en-US" altLang="en-US" sz="2100" dirty="0"/>
              <a:t> =</a:t>
            </a:r>
            <a:r>
              <a:rPr lang="en-US" altLang="en-US" sz="2100" dirty="0" smtClean="0"/>
              <a:t>1</a:t>
            </a:r>
            <a:r>
              <a:rPr lang="en-US" altLang="en-US" sz="2100" dirty="0"/>
              <a:t> </a:t>
            </a:r>
            <a:r>
              <a:rPr lang="en-US" altLang="en-US" sz="2100" dirty="0" smtClean="0"/>
              <a:t>-&gt; </a:t>
            </a:r>
            <a:r>
              <a:rPr lang="en-US" altLang="en-US" sz="2100" dirty="0" err="1" smtClean="0"/>
              <a:t>Dừng</a:t>
            </a:r>
            <a:endParaRPr lang="en-US" altLang="en-US" sz="2100" dirty="0" smtClean="0"/>
          </a:p>
          <a:p>
            <a:pPr lvl="2"/>
            <a:endParaRPr lang="en-US" altLang="en-US" sz="1800" dirty="0"/>
          </a:p>
          <a:p>
            <a:pPr lvl="2"/>
            <a:endParaRPr lang="en-US" altLang="en-US" sz="1800" dirty="0" smtClean="0"/>
          </a:p>
          <a:p>
            <a:pPr lvl="2"/>
            <a:endParaRPr lang="en-US" altLang="en-US" sz="1800" dirty="0"/>
          </a:p>
          <a:p>
            <a:pPr lvl="2"/>
            <a:endParaRPr lang="en-US" altLang="en-US" sz="1800" dirty="0" smtClean="0"/>
          </a:p>
          <a:p>
            <a:pPr lvl="2"/>
            <a:endParaRPr lang="en-US" altLang="en-US" sz="1800" dirty="0"/>
          </a:p>
          <a:p>
            <a:pPr lvl="1"/>
            <a:endParaRPr lang="en-US" altLang="en-US" sz="2100" dirty="0" smtClean="0"/>
          </a:p>
          <a:p>
            <a:pPr lvl="1"/>
            <a:r>
              <a:rPr lang="en-US" altLang="en-US" sz="2100" dirty="0" err="1" smtClean="0"/>
              <a:t>Sử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dụng</a:t>
            </a:r>
            <a:r>
              <a:rPr lang="en-US" altLang="en-US" sz="2100" dirty="0" smtClean="0"/>
              <a:t> </a:t>
            </a:r>
            <a:r>
              <a:rPr lang="en-US" altLang="en-US" sz="2100" dirty="0" err="1" smtClean="0"/>
              <a:t>quá</a:t>
            </a:r>
            <a:r>
              <a:rPr lang="en-US" altLang="en-US" sz="2100" dirty="0" smtClean="0"/>
              <a:t> </a:t>
            </a:r>
            <a:r>
              <a:rPr lang="en-US" altLang="en-US" sz="2100" dirty="0" err="1"/>
              <a:t>trình</a:t>
            </a:r>
            <a:r>
              <a:rPr lang="en-US" altLang="en-US" sz="2100" dirty="0"/>
              <a:t> </a:t>
            </a:r>
            <a:r>
              <a:rPr lang="en-US" altLang="en-US" sz="2100" b="1" dirty="0" err="1"/>
              <a:t>Phân</a:t>
            </a:r>
            <a:r>
              <a:rPr lang="en-US" altLang="en-US" sz="2100" b="1" dirty="0"/>
              <a:t> </a:t>
            </a:r>
            <a:r>
              <a:rPr lang="en-US" altLang="en-US" sz="2100" b="1" dirty="0" err="1"/>
              <a:t>đoạn</a:t>
            </a:r>
            <a:r>
              <a:rPr lang="en-US" altLang="en-US" sz="2100" dirty="0"/>
              <a:t> (partition), </a:t>
            </a:r>
            <a:r>
              <a:rPr lang="en-US" altLang="en-US" sz="2100" dirty="0" err="1"/>
              <a:t>nên</a:t>
            </a:r>
            <a:r>
              <a:rPr lang="en-US" altLang="en-US" sz="2100" dirty="0"/>
              <a:t> </a:t>
            </a:r>
            <a:r>
              <a:rPr lang="en-US" altLang="en-US" sz="2100" dirty="0" err="1"/>
              <a:t>giải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thuật</a:t>
            </a:r>
            <a:r>
              <a:rPr lang="en-US" altLang="en-US" sz="2100" dirty="0"/>
              <a:t> </a:t>
            </a:r>
            <a:r>
              <a:rPr lang="en-US" altLang="en-US" sz="2100" dirty="0" err="1" smtClean="0"/>
              <a:t>còn</a:t>
            </a:r>
            <a:r>
              <a:rPr lang="en-US" altLang="en-US" sz="2100" dirty="0" smtClean="0"/>
              <a:t> </a:t>
            </a:r>
            <a:r>
              <a:rPr lang="en-US" altLang="en-US" sz="2100" dirty="0" err="1"/>
              <a:t>được</a:t>
            </a:r>
            <a:r>
              <a:rPr lang="en-US" altLang="en-US" sz="2100" dirty="0"/>
              <a:t> </a:t>
            </a:r>
            <a:r>
              <a:rPr lang="en-US" altLang="en-US" sz="2100" dirty="0" err="1"/>
              <a:t>gọi</a:t>
            </a:r>
            <a:r>
              <a:rPr lang="en-US" altLang="en-US" sz="2100" dirty="0"/>
              <a:t> </a:t>
            </a:r>
            <a:r>
              <a:rPr lang="en-US" altLang="en-US" sz="2100" dirty="0" err="1"/>
              <a:t>là</a:t>
            </a:r>
            <a:r>
              <a:rPr lang="en-US" altLang="en-US" sz="2100" dirty="0"/>
              <a:t> </a:t>
            </a:r>
            <a:r>
              <a:rPr lang="en-US" altLang="en-US" sz="2100" b="1" dirty="0" err="1"/>
              <a:t>Sắp</a:t>
            </a:r>
            <a:r>
              <a:rPr lang="en-US" altLang="en-US" sz="2100" b="1" dirty="0"/>
              <a:t> </a:t>
            </a:r>
            <a:r>
              <a:rPr lang="en-US" altLang="en-US" sz="2100" b="1" dirty="0" err="1"/>
              <a:t>xếp</a:t>
            </a:r>
            <a:r>
              <a:rPr lang="en-US" altLang="en-US" sz="2100" b="1" dirty="0"/>
              <a:t> </a:t>
            </a:r>
            <a:r>
              <a:rPr lang="en-US" altLang="en-US" sz="2100" b="1" dirty="0" err="1"/>
              <a:t>Phân</a:t>
            </a:r>
            <a:r>
              <a:rPr lang="en-US" altLang="en-US" sz="2100" b="1" dirty="0"/>
              <a:t> </a:t>
            </a:r>
            <a:r>
              <a:rPr lang="en-US" altLang="en-US" sz="2100" b="1" dirty="0" err="1"/>
              <a:t>đoạn</a:t>
            </a:r>
            <a:endParaRPr lang="en-US" altLang="en-US" sz="2100" dirty="0"/>
          </a:p>
          <a:p>
            <a:pPr lvl="2"/>
            <a:r>
              <a:rPr lang="en-US" altLang="en-US" sz="1800" dirty="0" err="1"/>
              <a:t>Kết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thúc</a:t>
            </a:r>
            <a:r>
              <a:rPr lang="en-US" altLang="en-US" sz="1800" dirty="0"/>
              <a:t> </a:t>
            </a:r>
            <a:r>
              <a:rPr lang="en-US" altLang="en-US" sz="1800" dirty="0" err="1"/>
              <a:t>việc</a:t>
            </a:r>
            <a:r>
              <a:rPr lang="en-US" altLang="en-US" sz="1800" dirty="0"/>
              <a:t> </a:t>
            </a:r>
            <a:r>
              <a:rPr lang="en-US" altLang="en-US" sz="1800" dirty="0" err="1"/>
              <a:t>phân</a:t>
            </a:r>
            <a:r>
              <a:rPr lang="en-US" altLang="en-US" sz="1800" dirty="0"/>
              <a:t> </a:t>
            </a:r>
            <a:r>
              <a:rPr lang="en-US" altLang="en-US" sz="1800" dirty="0" err="1"/>
              <a:t>đoạn</a:t>
            </a:r>
            <a:r>
              <a:rPr lang="en-US" altLang="en-US" sz="1800" dirty="0"/>
              <a:t>, </a:t>
            </a:r>
            <a:r>
              <a:rPr lang="en-US" altLang="en-US" sz="1800" dirty="0" err="1"/>
              <a:t>kết</a:t>
            </a:r>
            <a:r>
              <a:rPr lang="en-US" altLang="en-US" sz="1800" dirty="0"/>
              <a:t> </a:t>
            </a:r>
            <a:r>
              <a:rPr lang="en-US" altLang="en-US" sz="1800" dirty="0" err="1"/>
              <a:t>hợp</a:t>
            </a:r>
            <a:r>
              <a:rPr lang="en-US" altLang="en-US" sz="1800" dirty="0"/>
              <a:t> </a:t>
            </a:r>
            <a:r>
              <a:rPr lang="en-US" altLang="en-US" sz="1800" dirty="0" err="1"/>
              <a:t>các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tập</a:t>
            </a:r>
            <a:r>
              <a:rPr lang="en-US" altLang="en-US" sz="1800" dirty="0"/>
              <a:t> </a:t>
            </a:r>
            <a:r>
              <a:rPr lang="en-US" altLang="en-US" sz="1800" dirty="0" err="1"/>
              <a:t>nhỏ</a:t>
            </a:r>
            <a:r>
              <a:rPr lang="en-US" altLang="en-US" sz="1800" dirty="0"/>
              <a:t> </a:t>
            </a:r>
            <a:r>
              <a:rPr lang="en-US" altLang="en-US" sz="1800" dirty="0" err="1"/>
              <a:t>đã</a:t>
            </a:r>
            <a:r>
              <a:rPr lang="en-US" altLang="en-US" sz="1800" dirty="0"/>
              <a:t> </a:t>
            </a:r>
            <a:r>
              <a:rPr lang="en-US" altLang="en-US" sz="1800" dirty="0" err="1"/>
              <a:t>sắp</a:t>
            </a:r>
            <a:r>
              <a:rPr lang="en-US" altLang="en-US" sz="1800" dirty="0"/>
              <a:t> </a:t>
            </a:r>
            <a:r>
              <a:rPr lang="en-US" altLang="en-US" sz="1800" dirty="0" err="1"/>
              <a:t>xếp</a:t>
            </a:r>
            <a:r>
              <a:rPr lang="en-US" altLang="en-US" sz="1800" dirty="0"/>
              <a:t> </a:t>
            </a:r>
            <a:r>
              <a:rPr lang="en-US" altLang="en-US" sz="1800" dirty="0" err="1"/>
              <a:t>lại</a:t>
            </a:r>
            <a:r>
              <a:rPr lang="en-US" altLang="en-US" sz="1800" dirty="0"/>
              <a:t> </a:t>
            </a:r>
            <a:r>
              <a:rPr lang="en-US" altLang="en-US" sz="1800" dirty="0">
                <a:sym typeface="Wingdings" panose="05000000000000000000" pitchFamily="2" charset="2"/>
              </a:rPr>
              <a:t> </a:t>
            </a:r>
            <a:r>
              <a:rPr lang="en-US" altLang="en-US" sz="1800" dirty="0" err="1">
                <a:sym typeface="Wingdings" panose="05000000000000000000" pitchFamily="2" charset="2"/>
              </a:rPr>
              <a:t>tập</a:t>
            </a:r>
            <a:r>
              <a:rPr lang="en-US" altLang="en-US" sz="1800" dirty="0">
                <a:sym typeface="Wingdings" panose="05000000000000000000" pitchFamily="2" charset="2"/>
              </a:rPr>
              <a:t> ban </a:t>
            </a:r>
            <a:r>
              <a:rPr lang="en-US" altLang="en-US" sz="1800" dirty="0" err="1">
                <a:sym typeface="Wingdings" panose="05000000000000000000" pitchFamily="2" charset="2"/>
              </a:rPr>
              <a:t>đầu</a:t>
            </a:r>
            <a:r>
              <a:rPr lang="en-US" altLang="en-US" sz="1800" dirty="0">
                <a:sym typeface="Wingdings" panose="05000000000000000000" pitchFamily="2" charset="2"/>
              </a:rPr>
              <a:t> </a:t>
            </a:r>
            <a:r>
              <a:rPr lang="en-US" altLang="en-US" sz="1800" dirty="0" err="1">
                <a:sym typeface="Wingdings" panose="05000000000000000000" pitchFamily="2" charset="2"/>
              </a:rPr>
              <a:t>đã</a:t>
            </a:r>
            <a:r>
              <a:rPr lang="en-US" altLang="en-US" sz="1800" dirty="0">
                <a:sym typeface="Wingdings" panose="05000000000000000000" pitchFamily="2" charset="2"/>
              </a:rPr>
              <a:t> </a:t>
            </a:r>
            <a:r>
              <a:rPr lang="en-US" altLang="en-US" sz="1800" dirty="0" err="1">
                <a:sym typeface="Wingdings" panose="05000000000000000000" pitchFamily="2" charset="2"/>
              </a:rPr>
              <a:t>sắp</a:t>
            </a:r>
            <a:r>
              <a:rPr lang="en-US" altLang="en-US" sz="1800" dirty="0">
                <a:sym typeface="Wingdings" panose="05000000000000000000" pitchFamily="2" charset="2"/>
              </a:rPr>
              <a:t> </a:t>
            </a:r>
            <a:r>
              <a:rPr lang="en-US" altLang="en-US" sz="1800" dirty="0" err="1">
                <a:sym typeface="Wingdings" panose="05000000000000000000" pitchFamily="2" charset="2"/>
              </a:rPr>
              <a:t>xếp</a:t>
            </a:r>
            <a:endParaRPr lang="en-US" altLang="en-US" sz="1800" dirty="0"/>
          </a:p>
          <a:p>
            <a:pPr lvl="2"/>
            <a:endParaRPr lang="en-US" altLang="en-US" sz="18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89426AD-BA4B-4E31-92ED-212CD693C484}"/>
              </a:ext>
            </a:extLst>
          </p:cNvPr>
          <p:cNvGrpSpPr/>
          <p:nvPr/>
        </p:nvGrpSpPr>
        <p:grpSpPr>
          <a:xfrm>
            <a:off x="2286000" y="3276600"/>
            <a:ext cx="4048593" cy="905018"/>
            <a:chOff x="4714407" y="1969141"/>
            <a:chExt cx="4429593" cy="136221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FD93DCA-79C4-4F0C-96AC-691D2E608511}"/>
                </a:ext>
              </a:extLst>
            </p:cNvPr>
            <p:cNvSpPr txBox="1"/>
            <p:nvPr/>
          </p:nvSpPr>
          <p:spPr>
            <a:xfrm>
              <a:off x="4714407" y="2816304"/>
              <a:ext cx="2212104" cy="51505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2400" b="1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 pivot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FC35099-B797-46F0-B1BF-E492954018E9}"/>
                </a:ext>
              </a:extLst>
            </p:cNvPr>
            <p:cNvSpPr txBox="1"/>
            <p:nvPr/>
          </p:nvSpPr>
          <p:spPr>
            <a:xfrm>
              <a:off x="4714407" y="1969141"/>
              <a:ext cx="553026" cy="4567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2400" b="1" dirty="0"/>
                <a:t>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ACD8458-792E-4A8F-8A3D-31ACBFEEA156}"/>
                </a:ext>
              </a:extLst>
            </p:cNvPr>
            <p:cNvSpPr txBox="1"/>
            <p:nvPr/>
          </p:nvSpPr>
          <p:spPr>
            <a:xfrm>
              <a:off x="5267433" y="1969141"/>
              <a:ext cx="553026" cy="4567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2400" b="1" dirty="0"/>
                <a:t>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D8E5568-E4A6-4EBB-BC9A-8339483939D9}"/>
                </a:ext>
              </a:extLst>
            </p:cNvPr>
            <p:cNvSpPr txBox="1"/>
            <p:nvPr/>
          </p:nvSpPr>
          <p:spPr>
            <a:xfrm>
              <a:off x="5820459" y="1969141"/>
              <a:ext cx="553026" cy="4567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algn="ctr">
                <a:defRPr sz="2400" b="1"/>
              </a:lvl1pPr>
            </a:lstStyle>
            <a:p>
              <a:r>
                <a:rPr lang="en-US" dirty="0"/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CE7E27E-9DC8-4D3A-BE08-1086392ADA03}"/>
                </a:ext>
              </a:extLst>
            </p:cNvPr>
            <p:cNvSpPr txBox="1"/>
            <p:nvPr/>
          </p:nvSpPr>
          <p:spPr>
            <a:xfrm>
              <a:off x="6373485" y="1969141"/>
              <a:ext cx="553026" cy="4567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algn="ctr">
                <a:defRPr sz="2400" b="1"/>
              </a:lvl1pPr>
            </a:lstStyle>
            <a:p>
              <a:r>
                <a:rPr lang="en-US" dirty="0"/>
                <a:t>5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06F1C01-5189-46F3-8D63-A22B184405B1}"/>
                </a:ext>
              </a:extLst>
            </p:cNvPr>
            <p:cNvSpPr txBox="1"/>
            <p:nvPr/>
          </p:nvSpPr>
          <p:spPr>
            <a:xfrm>
              <a:off x="6926511" y="1969141"/>
              <a:ext cx="553026" cy="456758"/>
            </a:xfrm>
            <a:prstGeom prst="rect">
              <a:avLst/>
            </a:prstGeom>
            <a:solidFill>
              <a:srgbClr val="FFC000"/>
            </a:solidFill>
            <a:ln w="28575">
              <a:solidFill>
                <a:srgbClr val="0036A2"/>
              </a:solidFill>
            </a:ln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algn="ctr">
                <a:defRPr sz="2400" b="1"/>
              </a:lvl1pPr>
            </a:lstStyle>
            <a:p>
              <a:r>
                <a:rPr lang="en-US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4C835F4-B81D-44AC-A766-06742872690F}"/>
                </a:ext>
              </a:extLst>
            </p:cNvPr>
            <p:cNvSpPr txBox="1"/>
            <p:nvPr/>
          </p:nvSpPr>
          <p:spPr>
            <a:xfrm>
              <a:off x="7479537" y="1969141"/>
              <a:ext cx="553026" cy="456758"/>
            </a:xfrm>
            <a:prstGeom prst="rect">
              <a:avLst/>
            </a:prstGeom>
            <a:solidFill>
              <a:srgbClr val="99FF99"/>
            </a:solidFill>
            <a:ln w="28575">
              <a:solidFill>
                <a:srgbClr val="0036A2"/>
              </a:solidFill>
            </a:ln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algn="ctr">
                <a:defRPr sz="2400" b="1"/>
              </a:lvl1pPr>
            </a:lstStyle>
            <a:p>
              <a:r>
                <a:rPr lang="en-US" dirty="0"/>
                <a:t>9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5D399C5-B7F2-43CE-A3CD-38CCDEB36F8C}"/>
                </a:ext>
              </a:extLst>
            </p:cNvPr>
            <p:cNvSpPr txBox="1"/>
            <p:nvPr/>
          </p:nvSpPr>
          <p:spPr>
            <a:xfrm>
              <a:off x="8032563" y="1969141"/>
              <a:ext cx="553026" cy="456758"/>
            </a:xfrm>
            <a:prstGeom prst="rect">
              <a:avLst/>
            </a:prstGeom>
            <a:solidFill>
              <a:srgbClr val="99FF99"/>
            </a:solidFill>
            <a:ln w="28575">
              <a:solidFill>
                <a:srgbClr val="0036A2"/>
              </a:solidFill>
            </a:ln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algn="ctr">
                <a:defRPr sz="2400" b="1"/>
              </a:lvl1pPr>
            </a:lstStyle>
            <a:p>
              <a:r>
                <a:rPr lang="en-US" dirty="0"/>
                <a:t>7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379CE3E-A1C9-4E9B-90A5-DF1C3C3900B3}"/>
                </a:ext>
              </a:extLst>
            </p:cNvPr>
            <p:cNvSpPr txBox="1"/>
            <p:nvPr/>
          </p:nvSpPr>
          <p:spPr>
            <a:xfrm>
              <a:off x="8580981" y="1969141"/>
              <a:ext cx="553026" cy="456758"/>
            </a:xfrm>
            <a:prstGeom prst="rect">
              <a:avLst/>
            </a:prstGeom>
            <a:solidFill>
              <a:srgbClr val="99FF99"/>
            </a:solidFill>
            <a:ln w="28575">
              <a:solidFill>
                <a:srgbClr val="0036A2"/>
              </a:solidFill>
            </a:ln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algn="ctr">
                <a:defRPr sz="2400" b="1"/>
              </a:lvl1pPr>
            </a:lstStyle>
            <a:p>
              <a:r>
                <a:rPr lang="en-US" dirty="0"/>
                <a:t>8</a:t>
              </a:r>
            </a:p>
          </p:txBody>
        </p:sp>
        <p:sp>
          <p:nvSpPr>
            <p:cNvPr id="18" name="Left Brace 17">
              <a:extLst>
                <a:ext uri="{FF2B5EF4-FFF2-40B4-BE49-F238E27FC236}">
                  <a16:creationId xmlns:a16="http://schemas.microsoft.com/office/drawing/2014/main" id="{4F81C59A-DF03-4714-9B93-F73F5FFC74B3}"/>
                </a:ext>
              </a:extLst>
            </p:cNvPr>
            <p:cNvSpPr/>
            <p:nvPr/>
          </p:nvSpPr>
          <p:spPr>
            <a:xfrm rot="16200000">
              <a:off x="8168514" y="1850812"/>
              <a:ext cx="276513" cy="1654470"/>
            </a:xfrm>
            <a:prstGeom prst="leftBrac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" name="Left Brace 18">
              <a:extLst>
                <a:ext uri="{FF2B5EF4-FFF2-40B4-BE49-F238E27FC236}">
                  <a16:creationId xmlns:a16="http://schemas.microsoft.com/office/drawing/2014/main" id="{A102555E-B3AC-42CE-B6B2-06B9FC444E81}"/>
                </a:ext>
              </a:extLst>
            </p:cNvPr>
            <p:cNvSpPr/>
            <p:nvPr/>
          </p:nvSpPr>
          <p:spPr>
            <a:xfrm rot="16200000">
              <a:off x="5682202" y="1571996"/>
              <a:ext cx="276513" cy="2212104"/>
            </a:xfrm>
            <a:prstGeom prst="leftBrac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878E4DF-D673-40AE-A0F5-A4ED2332D019}"/>
                </a:ext>
              </a:extLst>
            </p:cNvPr>
            <p:cNvSpPr txBox="1"/>
            <p:nvPr/>
          </p:nvSpPr>
          <p:spPr>
            <a:xfrm>
              <a:off x="7489529" y="2816303"/>
              <a:ext cx="1654471" cy="51505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2400" b="1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≥ pivot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A893E95-D752-4DA7-BBAD-97EAE0527A96}"/>
                </a:ext>
              </a:extLst>
            </p:cNvPr>
            <p:cNvSpPr txBox="1"/>
            <p:nvPr/>
          </p:nvSpPr>
          <p:spPr>
            <a:xfrm>
              <a:off x="6587636" y="2816303"/>
              <a:ext cx="1250763" cy="51505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2400" b="1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pivot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86E356A-75EB-4520-90B4-FBAE7296689F}"/>
                </a:ext>
              </a:extLst>
            </p:cNvPr>
            <p:cNvCxnSpPr>
              <a:stCxn id="21" idx="0"/>
              <a:endCxn id="14" idx="2"/>
            </p:cNvCxnSpPr>
            <p:nvPr/>
          </p:nvCxnSpPr>
          <p:spPr>
            <a:xfrm flipH="1" flipV="1">
              <a:off x="7203024" y="2425899"/>
              <a:ext cx="9994" cy="390404"/>
            </a:xfrm>
            <a:prstGeom prst="line">
              <a:avLst/>
            </a:prstGeom>
            <a:ln w="28575">
              <a:solidFill>
                <a:srgbClr val="C00000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4014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6D5FB6B-0E57-42EC-A9DA-904264BE5739}" type="slidenum">
              <a:rPr lang="en-US" altLang="en-US">
                <a:latin typeface="Garamond" panose="02020404030301010803" pitchFamily="18" charset="0"/>
              </a:rPr>
              <a:pPr eaLnBrk="1" hangingPunct="1"/>
              <a:t>31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3.1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/>
              <a:t>nhanh</a:t>
            </a:r>
            <a:r>
              <a:rPr lang="en-US" altLang="en-US" dirty="0"/>
              <a:t>/</a:t>
            </a:r>
            <a:r>
              <a:rPr lang="en-US" altLang="en-US" dirty="0" err="1"/>
              <a:t>phân</a:t>
            </a:r>
            <a:r>
              <a:rPr lang="en-US" altLang="en-US" dirty="0"/>
              <a:t> </a:t>
            </a:r>
            <a:r>
              <a:rPr lang="en-US" altLang="en-US" dirty="0" err="1"/>
              <a:t>đoạn</a:t>
            </a:r>
            <a:endParaRPr lang="en-US" altLang="en-US" dirty="0" smtClean="0"/>
          </a:p>
        </p:txBody>
      </p:sp>
      <p:sp>
        <p:nvSpPr>
          <p:cNvPr id="23555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smtClean="0"/>
              <a:t>Ý </a:t>
            </a:r>
            <a:r>
              <a:rPr lang="en-US" altLang="en-US" sz="2400" dirty="0" err="1" smtClean="0"/>
              <a:t>tưởng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giải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thuật</a:t>
            </a:r>
            <a:r>
              <a:rPr lang="en-US" altLang="en-US" sz="2400" dirty="0" smtClean="0"/>
              <a:t>: </a:t>
            </a:r>
          </a:p>
          <a:p>
            <a:pPr lvl="1"/>
            <a:r>
              <a:rPr lang="en-US" altLang="en-US" sz="2100" dirty="0" smtClean="0"/>
              <a:t>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2AEAAA-B333-4058-8D06-027AD93F4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099" y="1605254"/>
            <a:ext cx="5355801" cy="392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88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CBBDAC5-7745-47D4-956C-1236CA48EAF4}" type="slidenum">
              <a:rPr lang="en-US" altLang="en-US">
                <a:latin typeface="Garamond" panose="02020404030301010803" pitchFamily="18" charset="0"/>
              </a:rPr>
              <a:pPr eaLnBrk="1" hangingPunct="1"/>
              <a:t>32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3.1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/>
              <a:t>nhanh</a:t>
            </a:r>
            <a:r>
              <a:rPr lang="en-US" altLang="en-US" dirty="0"/>
              <a:t>/</a:t>
            </a:r>
            <a:r>
              <a:rPr lang="en-US" altLang="en-US" dirty="0" err="1"/>
              <a:t>phân</a:t>
            </a:r>
            <a:r>
              <a:rPr lang="en-US" altLang="en-US" dirty="0"/>
              <a:t> </a:t>
            </a:r>
            <a:r>
              <a:rPr lang="en-US" altLang="en-US" dirty="0" err="1"/>
              <a:t>đoạn</a:t>
            </a:r>
            <a:endParaRPr lang="en-US" altLang="en-US" dirty="0" smtClean="0"/>
          </a:p>
        </p:txBody>
      </p:sp>
      <p:sp>
        <p:nvSpPr>
          <p:cNvPr id="24579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eaLnBrk="1" hangingPunct="1"/>
            <a:r>
              <a:rPr lang="en-US" altLang="en-US" dirty="0" err="1" smtClean="0"/>
              <a:t>Mô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tả</a:t>
            </a:r>
            <a:r>
              <a:rPr lang="en-US" altLang="en-US" dirty="0" smtClean="0"/>
              <a:t> ý </a:t>
            </a:r>
            <a:r>
              <a:rPr lang="en-US" altLang="en-US" dirty="0" err="1" smtClean="0"/>
              <a:t>tưởng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giải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thuật</a:t>
            </a:r>
            <a:endParaRPr lang="en-US" altLang="en-US" dirty="0" smtClean="0"/>
          </a:p>
          <a:p>
            <a:pPr eaLnBrk="1" hangingPunct="1"/>
            <a:endParaRPr lang="en-US" altLang="en-US" dirty="0" smtClean="0"/>
          </a:p>
        </p:txBody>
      </p:sp>
      <p:sp>
        <p:nvSpPr>
          <p:cNvPr id="24583" name="Rounded Rectangle 6"/>
          <p:cNvSpPr>
            <a:spLocks noChangeArrowheads="1"/>
          </p:cNvSpPr>
          <p:nvPr/>
        </p:nvSpPr>
        <p:spPr bwMode="auto">
          <a:xfrm>
            <a:off x="3200400" y="1752600"/>
            <a:ext cx="2590800" cy="533400"/>
          </a:xfrm>
          <a:prstGeom prst="roundRect">
            <a:avLst>
              <a:gd name="adj" fmla="val 16667"/>
            </a:avLst>
          </a:prstGeom>
          <a:solidFill>
            <a:srgbClr val="F6A8A8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algn="ctr" eaLnBrk="1" hangingPunct="1"/>
            <a:r>
              <a:rPr lang="en-US" altLang="en-US" sz="2200"/>
              <a:t>a</a:t>
            </a:r>
            <a:r>
              <a:rPr lang="en-US" altLang="en-US" sz="2200" baseline="-25000"/>
              <a:t>0</a:t>
            </a:r>
            <a:r>
              <a:rPr lang="en-US" altLang="en-US" sz="2200"/>
              <a:t>,a</a:t>
            </a:r>
            <a:r>
              <a:rPr lang="en-US" altLang="en-US" sz="2200" baseline="-25000"/>
              <a:t>1</a:t>
            </a:r>
            <a:r>
              <a:rPr lang="en-US" altLang="en-US" sz="2200"/>
              <a:t>,…,a</a:t>
            </a:r>
            <a:r>
              <a:rPr lang="en-US" altLang="en-US" sz="2200" baseline="-25000"/>
              <a:t>N-1</a:t>
            </a:r>
          </a:p>
        </p:txBody>
      </p:sp>
      <p:sp>
        <p:nvSpPr>
          <p:cNvPr id="24584" name="Rounded Rectangle 7"/>
          <p:cNvSpPr>
            <a:spLocks noChangeArrowheads="1"/>
          </p:cNvSpPr>
          <p:nvPr/>
        </p:nvSpPr>
        <p:spPr bwMode="auto">
          <a:xfrm>
            <a:off x="2438400" y="2552700"/>
            <a:ext cx="4114800" cy="838200"/>
          </a:xfrm>
          <a:prstGeom prst="roundRect">
            <a:avLst>
              <a:gd name="adj" fmla="val 16667"/>
            </a:avLst>
          </a:prstGeom>
          <a:solidFill>
            <a:srgbClr val="F6A8A8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algn="ctr" eaLnBrk="1" hangingPunct="1"/>
            <a:r>
              <a:rPr lang="en-US" altLang="en-US" sz="2200" dirty="0" err="1"/>
              <a:t>Chọn</a:t>
            </a:r>
            <a:r>
              <a:rPr lang="en-US" altLang="en-US" sz="2200" dirty="0"/>
              <a:t> </a:t>
            </a:r>
            <a:r>
              <a:rPr lang="en-US" altLang="en-US" sz="2200" dirty="0" err="1"/>
              <a:t>chốt</a:t>
            </a:r>
            <a:r>
              <a:rPr lang="en-US" altLang="en-US" sz="2200" dirty="0"/>
              <a:t> c </a:t>
            </a:r>
            <a:r>
              <a:rPr lang="en-US" altLang="en-US" sz="2200" dirty="0" err="1"/>
              <a:t>là</a:t>
            </a:r>
            <a:r>
              <a:rPr lang="en-US" altLang="en-US" sz="2200" dirty="0"/>
              <a:t> </a:t>
            </a:r>
            <a:r>
              <a:rPr lang="en-US" altLang="en-US" sz="2200" dirty="0" err="1"/>
              <a:t>một</a:t>
            </a:r>
            <a:r>
              <a:rPr lang="en-US" altLang="en-US" sz="2200" dirty="0"/>
              <a:t> </a:t>
            </a:r>
            <a:r>
              <a:rPr lang="en-US" altLang="en-US" sz="2200" dirty="0" err="1"/>
              <a:t>trong</a:t>
            </a:r>
            <a:r>
              <a:rPr lang="en-US" altLang="en-US" sz="2200" dirty="0"/>
              <a:t> </a:t>
            </a:r>
          </a:p>
          <a:p>
            <a:pPr marL="0" lvl="1" algn="ctr" eaLnBrk="1" hangingPunct="1"/>
            <a:r>
              <a:rPr lang="en-US" altLang="en-US" sz="2200" dirty="0" err="1"/>
              <a:t>các</a:t>
            </a:r>
            <a:r>
              <a:rPr lang="en-US" altLang="en-US" sz="2200" dirty="0"/>
              <a:t> </a:t>
            </a:r>
            <a:r>
              <a:rPr lang="en-US" altLang="en-US" sz="2200" dirty="0" err="1"/>
              <a:t>số</a:t>
            </a:r>
            <a:r>
              <a:rPr lang="en-US" altLang="en-US" sz="2200" dirty="0"/>
              <a:t> </a:t>
            </a:r>
            <a:r>
              <a:rPr lang="en-US" altLang="en-US" sz="2200" dirty="0" err="1"/>
              <a:t>của</a:t>
            </a:r>
            <a:r>
              <a:rPr lang="en-US" altLang="en-US" sz="2200" dirty="0"/>
              <a:t> </a:t>
            </a:r>
            <a:r>
              <a:rPr lang="en-US" altLang="en-US" sz="2200" dirty="0" err="1"/>
              <a:t>dãy</a:t>
            </a:r>
            <a:r>
              <a:rPr lang="en-US" altLang="en-US" sz="2200" dirty="0"/>
              <a:t> </a:t>
            </a:r>
            <a:r>
              <a:rPr lang="en-US" altLang="en-US" sz="2200" dirty="0" err="1"/>
              <a:t>vào</a:t>
            </a:r>
            <a:endParaRPr lang="en-US" altLang="en-US" sz="2200" baseline="-25000" dirty="0"/>
          </a:p>
        </p:txBody>
      </p:sp>
      <p:sp>
        <p:nvSpPr>
          <p:cNvPr id="24585" name="Rounded Rectangle 8"/>
          <p:cNvSpPr>
            <a:spLocks noChangeArrowheads="1"/>
          </p:cNvSpPr>
          <p:nvPr/>
        </p:nvSpPr>
        <p:spPr bwMode="auto">
          <a:xfrm>
            <a:off x="1143000" y="5190032"/>
            <a:ext cx="2438400" cy="685800"/>
          </a:xfrm>
          <a:prstGeom prst="roundRect">
            <a:avLst>
              <a:gd name="adj" fmla="val 16667"/>
            </a:avLst>
          </a:prstGeom>
          <a:solidFill>
            <a:srgbClr val="F6A8A8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algn="ctr" eaLnBrk="1" hangingPunct="1"/>
            <a:r>
              <a:rPr lang="en-US" altLang="en-US" sz="2200"/>
              <a:t>a</a:t>
            </a:r>
            <a:r>
              <a:rPr lang="en-US" altLang="en-US" sz="2200" baseline="-25000"/>
              <a:t>0</a:t>
            </a:r>
            <a:r>
              <a:rPr lang="en-US" altLang="en-US" sz="2200"/>
              <a:t>,a</a:t>
            </a:r>
            <a:r>
              <a:rPr lang="en-US" altLang="en-US" sz="2200" baseline="-25000"/>
              <a:t>1</a:t>
            </a:r>
            <a:r>
              <a:rPr lang="en-US" altLang="en-US" sz="2200"/>
              <a:t>,…,a</a:t>
            </a:r>
            <a:r>
              <a:rPr lang="en-US" altLang="en-US" sz="2200" baseline="-25000"/>
              <a:t>j-1</a:t>
            </a:r>
          </a:p>
        </p:txBody>
      </p:sp>
      <p:sp>
        <p:nvSpPr>
          <p:cNvPr id="24586" name="Rounded Rectangle 10"/>
          <p:cNvSpPr>
            <a:spLocks noChangeArrowheads="1"/>
          </p:cNvSpPr>
          <p:nvPr/>
        </p:nvSpPr>
        <p:spPr bwMode="auto">
          <a:xfrm>
            <a:off x="5257800" y="5190032"/>
            <a:ext cx="2590800" cy="685800"/>
          </a:xfrm>
          <a:prstGeom prst="roundRect">
            <a:avLst>
              <a:gd name="adj" fmla="val 16667"/>
            </a:avLst>
          </a:prstGeom>
          <a:solidFill>
            <a:srgbClr val="F6A8A8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algn="ctr" eaLnBrk="1" hangingPunct="1"/>
            <a:r>
              <a:rPr lang="en-US" altLang="en-US" sz="2200"/>
              <a:t>a</a:t>
            </a:r>
            <a:r>
              <a:rPr lang="en-US" altLang="en-US" sz="2200" baseline="-25000"/>
              <a:t>j+1</a:t>
            </a:r>
            <a:r>
              <a:rPr lang="en-US" altLang="en-US" sz="2200"/>
              <a:t>,a</a:t>
            </a:r>
            <a:r>
              <a:rPr lang="en-US" altLang="en-US" sz="2200" baseline="-25000"/>
              <a:t>j+2</a:t>
            </a:r>
            <a:r>
              <a:rPr lang="en-US" altLang="en-US" sz="2200"/>
              <a:t>,…,a</a:t>
            </a:r>
            <a:r>
              <a:rPr lang="en-US" altLang="en-US" sz="2200" baseline="-25000"/>
              <a:t>N-1</a:t>
            </a:r>
          </a:p>
        </p:txBody>
      </p:sp>
      <p:sp>
        <p:nvSpPr>
          <p:cNvPr id="24587" name="Rounded Rectangle 11"/>
          <p:cNvSpPr>
            <a:spLocks noChangeArrowheads="1"/>
          </p:cNvSpPr>
          <p:nvPr/>
        </p:nvSpPr>
        <p:spPr bwMode="auto">
          <a:xfrm>
            <a:off x="4026107" y="5190032"/>
            <a:ext cx="774493" cy="685800"/>
          </a:xfrm>
          <a:prstGeom prst="roundRect">
            <a:avLst>
              <a:gd name="adj" fmla="val 16667"/>
            </a:avLst>
          </a:prstGeom>
          <a:solidFill>
            <a:srgbClr val="FF339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algn="ctr" eaLnBrk="1" hangingPunct="1"/>
            <a:r>
              <a:rPr lang="en-US" altLang="en-US" sz="2200" dirty="0" err="1" smtClean="0"/>
              <a:t>a</a:t>
            </a:r>
            <a:r>
              <a:rPr lang="en-US" altLang="en-US" sz="2200" baseline="-25000" dirty="0" err="1" smtClean="0"/>
              <a:t>j</a:t>
            </a:r>
            <a:r>
              <a:rPr lang="en-US" altLang="en-US" sz="2200" dirty="0" smtClean="0"/>
              <a:t>=c</a:t>
            </a:r>
            <a:endParaRPr lang="en-US" altLang="en-US" sz="2200" dirty="0"/>
          </a:p>
        </p:txBody>
      </p:sp>
      <p:sp>
        <p:nvSpPr>
          <p:cNvPr id="24588" name="TextBox 12"/>
          <p:cNvSpPr txBox="1">
            <a:spLocks noChangeArrowheads="1"/>
          </p:cNvSpPr>
          <p:nvPr/>
        </p:nvSpPr>
        <p:spPr bwMode="auto">
          <a:xfrm>
            <a:off x="4800600" y="5342432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 dirty="0" smtClean="0"/>
              <a:t>&lt;</a:t>
            </a:r>
            <a:endParaRPr lang="en-US" altLang="en-US" sz="2000" b="1" dirty="0"/>
          </a:p>
        </p:txBody>
      </p:sp>
      <p:sp>
        <p:nvSpPr>
          <p:cNvPr id="24589" name="TextBox 13"/>
          <p:cNvSpPr txBox="1">
            <a:spLocks noChangeArrowheads="1"/>
          </p:cNvSpPr>
          <p:nvPr/>
        </p:nvSpPr>
        <p:spPr bwMode="auto">
          <a:xfrm>
            <a:off x="3505200" y="5334000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 dirty="0"/>
              <a:t>&lt;</a:t>
            </a:r>
          </a:p>
        </p:txBody>
      </p:sp>
      <p:cxnSp>
        <p:nvCxnSpPr>
          <p:cNvPr id="24590" name="Straight Arrow Connector 15"/>
          <p:cNvCxnSpPr>
            <a:cxnSpLocks noChangeShapeType="1"/>
            <a:stCxn id="24583" idx="2"/>
            <a:endCxn id="24584" idx="0"/>
          </p:cNvCxnSpPr>
          <p:nvPr/>
        </p:nvCxnSpPr>
        <p:spPr bwMode="auto">
          <a:xfrm>
            <a:off x="4495800" y="2286000"/>
            <a:ext cx="0" cy="2667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1" name="Straight Arrow Connector 17"/>
          <p:cNvCxnSpPr>
            <a:cxnSpLocks noChangeShapeType="1"/>
          </p:cNvCxnSpPr>
          <p:nvPr/>
        </p:nvCxnSpPr>
        <p:spPr bwMode="auto">
          <a:xfrm>
            <a:off x="4495800" y="4237532"/>
            <a:ext cx="0" cy="63926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4" name="Elbow Connector 20"/>
          <p:cNvCxnSpPr>
            <a:cxnSpLocks noChangeShapeType="1"/>
            <a:stCxn id="24585" idx="2"/>
          </p:cNvCxnSpPr>
          <p:nvPr/>
        </p:nvCxnSpPr>
        <p:spPr bwMode="auto">
          <a:xfrm rot="5400000" flipH="1" flipV="1">
            <a:off x="955323" y="3948048"/>
            <a:ext cx="3334660" cy="520907"/>
          </a:xfrm>
          <a:prstGeom prst="bentConnector5">
            <a:avLst>
              <a:gd name="adj1" fmla="val -6855"/>
              <a:gd name="adj2" fmla="val -277938"/>
              <a:gd name="adj3" fmla="val 11063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Straight Arrow Connector 15"/>
          <p:cNvCxnSpPr>
            <a:cxnSpLocks noChangeShapeType="1"/>
            <a:stCxn id="24584" idx="2"/>
          </p:cNvCxnSpPr>
          <p:nvPr/>
        </p:nvCxnSpPr>
        <p:spPr bwMode="auto">
          <a:xfrm>
            <a:off x="4495800" y="3390900"/>
            <a:ext cx="0" cy="3429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Rounded Rectangle 7"/>
          <p:cNvSpPr>
            <a:spLocks noChangeArrowheads="1"/>
          </p:cNvSpPr>
          <p:nvPr/>
        </p:nvSpPr>
        <p:spPr bwMode="auto">
          <a:xfrm>
            <a:off x="2438400" y="3742232"/>
            <a:ext cx="4114800" cy="495300"/>
          </a:xfrm>
          <a:prstGeom prst="roundRect">
            <a:avLst>
              <a:gd name="adj" fmla="val 16667"/>
            </a:avLst>
          </a:prstGeom>
          <a:solidFill>
            <a:srgbClr val="F6A8A8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algn="ctr" eaLnBrk="1" hangingPunct="1"/>
            <a:r>
              <a:rPr lang="en-US" altLang="en-US" sz="2200" dirty="0" err="1" smtClean="0"/>
              <a:t>Phân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đoạn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dãy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với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chốt</a:t>
            </a:r>
            <a:r>
              <a:rPr lang="en-US" altLang="en-US" sz="2200" dirty="0" smtClean="0"/>
              <a:t> c</a:t>
            </a:r>
            <a:endParaRPr lang="en-US" altLang="en-US" sz="2200" baseline="-25000" dirty="0"/>
          </a:p>
        </p:txBody>
      </p:sp>
      <p:cxnSp>
        <p:nvCxnSpPr>
          <p:cNvPr id="32" name="Elbow Connector 20"/>
          <p:cNvCxnSpPr>
            <a:cxnSpLocks noChangeShapeType="1"/>
          </p:cNvCxnSpPr>
          <p:nvPr/>
        </p:nvCxnSpPr>
        <p:spPr bwMode="auto">
          <a:xfrm rot="16200000" flipV="1">
            <a:off x="4745963" y="3931808"/>
            <a:ext cx="3334660" cy="520907"/>
          </a:xfrm>
          <a:prstGeom prst="bentConnector5">
            <a:avLst>
              <a:gd name="adj1" fmla="val -6855"/>
              <a:gd name="adj2" fmla="val -277938"/>
              <a:gd name="adj3" fmla="val 11063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935622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CBBDAC5-7745-47D4-956C-1236CA48EAF4}" type="slidenum">
              <a:rPr lang="en-US" altLang="en-US">
                <a:latin typeface="Garamond" panose="02020404030301010803" pitchFamily="18" charset="0"/>
              </a:rPr>
              <a:pPr eaLnBrk="1" hangingPunct="1"/>
              <a:t>33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3.1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/>
              <a:t>nhanh</a:t>
            </a:r>
            <a:r>
              <a:rPr lang="en-US" altLang="en-US" dirty="0"/>
              <a:t>/</a:t>
            </a:r>
            <a:r>
              <a:rPr lang="en-US" altLang="en-US" dirty="0" err="1"/>
              <a:t>phân</a:t>
            </a:r>
            <a:r>
              <a:rPr lang="en-US" altLang="en-US" dirty="0"/>
              <a:t> </a:t>
            </a:r>
            <a:r>
              <a:rPr lang="en-US" altLang="en-US" dirty="0" err="1"/>
              <a:t>đoạn</a:t>
            </a:r>
            <a:endParaRPr lang="en-US" altLang="en-US" dirty="0" smtClean="0"/>
          </a:p>
        </p:txBody>
      </p:sp>
      <p:sp>
        <p:nvSpPr>
          <p:cNvPr id="24579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eaLnBrk="1" hangingPunct="1"/>
            <a:r>
              <a:rPr lang="en-US" altLang="en-US" dirty="0" err="1" smtClean="0"/>
              <a:t>Mô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tả</a:t>
            </a:r>
            <a:r>
              <a:rPr lang="en-US" altLang="en-US" dirty="0" smtClean="0"/>
              <a:t> ý </a:t>
            </a:r>
            <a:r>
              <a:rPr lang="en-US" altLang="en-US" dirty="0" err="1" smtClean="0"/>
              <a:t>tưởng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giải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thuật</a:t>
            </a:r>
            <a:endParaRPr lang="en-US" altLang="en-US" dirty="0" smtClean="0"/>
          </a:p>
          <a:p>
            <a:pPr eaLnBrk="1" hangingPunct="1"/>
            <a:endParaRPr lang="en-US" altLang="en-US" dirty="0" smtClean="0"/>
          </a:p>
        </p:txBody>
      </p:sp>
      <p:sp>
        <p:nvSpPr>
          <p:cNvPr id="2" name="Rectangle 1"/>
          <p:cNvSpPr/>
          <p:nvPr/>
        </p:nvSpPr>
        <p:spPr>
          <a:xfrm>
            <a:off x="1524000" y="1618156"/>
            <a:ext cx="673431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sortQuickRange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DaySo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if (l &lt; r) {</a:t>
            </a:r>
          </a:p>
          <a:p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qsPartitionXXX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(a, l, r);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sortQuickRange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(a, l, 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- 1);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sortQuickRange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(a, i</a:t>
            </a:r>
            <a:r>
              <a:rPr 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+ 1, r);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sortQuick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DaySo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sortQuickRange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(a, 0,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a.length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- 1);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08001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D4F8744-6985-41B4-955A-C3CE0031EE08}" type="slidenum">
              <a:rPr lang="en-US" altLang="en-US">
                <a:latin typeface="Garamond" panose="02020404030301010803" pitchFamily="18" charset="0"/>
              </a:rPr>
              <a:pPr eaLnBrk="1" hangingPunct="1"/>
              <a:t>34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3.1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/>
              <a:t>nhanh</a:t>
            </a:r>
            <a:r>
              <a:rPr lang="en-US" altLang="en-US" dirty="0"/>
              <a:t>/</a:t>
            </a:r>
            <a:r>
              <a:rPr lang="en-US" altLang="en-US" dirty="0" err="1"/>
              <a:t>phân</a:t>
            </a:r>
            <a:r>
              <a:rPr lang="en-US" altLang="en-US" dirty="0"/>
              <a:t> </a:t>
            </a:r>
            <a:r>
              <a:rPr lang="en-US" altLang="en-US" dirty="0" err="1"/>
              <a:t>đoạn</a:t>
            </a:r>
            <a:endParaRPr lang="en-US" altLang="en-US" dirty="0" smtClean="0"/>
          </a:p>
        </p:txBody>
      </p:sp>
      <p:sp>
        <p:nvSpPr>
          <p:cNvPr id="2560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 err="1"/>
              <a:t>Giải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thuật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phân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đoạn</a:t>
            </a:r>
            <a:r>
              <a:rPr lang="en-US" altLang="en-US" sz="2400" dirty="0"/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qsPartitionXXX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24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vi-VN" sz="2000" dirty="0" smtClean="0"/>
              <a:t>Lựa </a:t>
            </a:r>
            <a:r>
              <a:rPr lang="vi-VN" sz="2000" dirty="0"/>
              <a:t>chọn chốt</a:t>
            </a:r>
            <a:endParaRPr lang="vi-VN" dirty="0"/>
          </a:p>
          <a:p>
            <a:pPr lvl="1"/>
            <a:r>
              <a:rPr lang="en-US" sz="2000" dirty="0" err="1" smtClean="0"/>
              <a:t>Đưa</a:t>
            </a:r>
            <a:r>
              <a:rPr lang="en-US" sz="2000" dirty="0" smtClean="0"/>
              <a:t> </a:t>
            </a:r>
            <a:r>
              <a:rPr lang="en-US" sz="2000" dirty="0" err="1" smtClean="0"/>
              <a:t>chốt</a:t>
            </a:r>
            <a:r>
              <a:rPr lang="en-US" sz="2000" dirty="0" smtClean="0"/>
              <a:t> </a:t>
            </a:r>
            <a:r>
              <a:rPr lang="en-US" sz="2000" dirty="0" err="1" smtClean="0"/>
              <a:t>về</a:t>
            </a:r>
            <a:r>
              <a:rPr lang="en-US" sz="2000" dirty="0" smtClean="0"/>
              <a:t> </a:t>
            </a:r>
            <a:r>
              <a:rPr lang="en-US" sz="2000" dirty="0" err="1" smtClean="0"/>
              <a:t>vị</a:t>
            </a:r>
            <a:r>
              <a:rPr lang="en-US" sz="2000" dirty="0" smtClean="0"/>
              <a:t> </a:t>
            </a:r>
            <a:r>
              <a:rPr lang="en-US" sz="2000" dirty="0" err="1" smtClean="0"/>
              <a:t>trí</a:t>
            </a:r>
            <a:r>
              <a:rPr lang="en-US" sz="2000" dirty="0" smtClean="0"/>
              <a:t> </a:t>
            </a:r>
            <a:r>
              <a:rPr lang="en-US" sz="2000" dirty="0" err="1"/>
              <a:t>đúng</a:t>
            </a:r>
            <a:r>
              <a:rPr lang="en-US" sz="2000" dirty="0"/>
              <a:t> </a:t>
            </a:r>
            <a:r>
              <a:rPr lang="en-US" sz="2000" dirty="0" err="1" smtClean="0"/>
              <a:t>trong</a:t>
            </a:r>
            <a:r>
              <a:rPr lang="en-US" sz="2000" dirty="0" smtClean="0"/>
              <a:t> </a:t>
            </a:r>
            <a:r>
              <a:rPr lang="en-US" sz="2000" dirty="0" err="1" smtClean="0"/>
              <a:t>dẫy</a:t>
            </a:r>
            <a:endParaRPr lang="en-US" sz="2000" dirty="0" smtClean="0"/>
          </a:p>
          <a:p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biến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smtClean="0"/>
              <a:t>:</a:t>
            </a:r>
          </a:p>
          <a:p>
            <a:pPr lvl="1"/>
            <a:r>
              <a:rPr lang="en-US" sz="2100" dirty="0" err="1" smtClean="0"/>
              <a:t>Cách</a:t>
            </a:r>
            <a:r>
              <a:rPr lang="en-US" sz="2100" dirty="0" smtClean="0"/>
              <a:t> </a:t>
            </a:r>
            <a:r>
              <a:rPr lang="en-US" sz="2100" dirty="0" err="1" smtClean="0"/>
              <a:t>lựa</a:t>
            </a:r>
            <a:r>
              <a:rPr lang="en-US" sz="2100" dirty="0" smtClean="0"/>
              <a:t> </a:t>
            </a:r>
            <a:r>
              <a:rPr lang="en-US" sz="2100" dirty="0" err="1" smtClean="0"/>
              <a:t>chọn</a:t>
            </a:r>
            <a:r>
              <a:rPr lang="en-US" sz="2100" dirty="0" smtClean="0"/>
              <a:t> </a:t>
            </a:r>
            <a:r>
              <a:rPr lang="en-US" sz="2100" dirty="0" err="1" smtClean="0"/>
              <a:t>chốt</a:t>
            </a:r>
            <a:r>
              <a:rPr lang="en-US" sz="2100" dirty="0" smtClean="0"/>
              <a:t>:</a:t>
            </a:r>
          </a:p>
          <a:p>
            <a:pPr lvl="2"/>
            <a:r>
              <a:rPr lang="vi-VN" sz="1700" dirty="0" smtClean="0"/>
              <a:t>Chọn </a:t>
            </a:r>
            <a:r>
              <a:rPr lang="vi-VN" sz="1700" dirty="0"/>
              <a:t>chốt là phần tử đứng đầu hoặc cuối </a:t>
            </a:r>
            <a:r>
              <a:rPr lang="en-US" sz="1700" dirty="0" err="1"/>
              <a:t>dãy</a:t>
            </a:r>
            <a:endParaRPr lang="vi-VN" sz="1700" dirty="0"/>
          </a:p>
          <a:p>
            <a:pPr lvl="2"/>
            <a:r>
              <a:rPr lang="vi-VN" sz="1700" dirty="0"/>
              <a:t>Chọn phần tử đứng giữa </a:t>
            </a:r>
            <a:r>
              <a:rPr lang="en-US" sz="1700" dirty="0" err="1"/>
              <a:t>dãy</a:t>
            </a:r>
            <a:r>
              <a:rPr lang="en-US" sz="1700" dirty="0"/>
              <a:t> </a:t>
            </a:r>
            <a:r>
              <a:rPr lang="vi-VN" sz="1700" dirty="0"/>
              <a:t>làm chốt</a:t>
            </a:r>
          </a:p>
          <a:p>
            <a:pPr lvl="2"/>
            <a:r>
              <a:rPr lang="vi-VN" sz="1700" dirty="0"/>
              <a:t>Chọn phần tử trung vị trong 3 phần tử đứng đầu, đứng</a:t>
            </a:r>
            <a:r>
              <a:rPr lang="en-US" sz="1700" dirty="0"/>
              <a:t> </a:t>
            </a:r>
            <a:r>
              <a:rPr lang="vi-VN" sz="1700" dirty="0"/>
              <a:t>giữa và đứng cuối </a:t>
            </a:r>
            <a:r>
              <a:rPr lang="en-US" sz="1700" dirty="0" err="1"/>
              <a:t>dãy</a:t>
            </a:r>
            <a:endParaRPr lang="vi-VN" sz="1700" dirty="0"/>
          </a:p>
          <a:p>
            <a:pPr lvl="2"/>
            <a:r>
              <a:rPr lang="en-US" sz="1700" dirty="0" err="1"/>
              <a:t>Chọn</a:t>
            </a:r>
            <a:r>
              <a:rPr lang="en-US" sz="1700" dirty="0"/>
              <a:t> </a:t>
            </a:r>
            <a:r>
              <a:rPr lang="en-US" sz="1700" dirty="0" err="1"/>
              <a:t>phần</a:t>
            </a:r>
            <a:r>
              <a:rPr lang="en-US" sz="1700" dirty="0"/>
              <a:t> </a:t>
            </a:r>
            <a:r>
              <a:rPr lang="en-US" sz="1700" dirty="0" err="1"/>
              <a:t>tử</a:t>
            </a:r>
            <a:r>
              <a:rPr lang="en-US" sz="1700" dirty="0"/>
              <a:t> </a:t>
            </a:r>
            <a:r>
              <a:rPr lang="en-US" sz="1700" dirty="0" err="1"/>
              <a:t>bé</a:t>
            </a:r>
            <a:r>
              <a:rPr lang="en-US" sz="1700" dirty="0"/>
              <a:t> </a:t>
            </a:r>
            <a:r>
              <a:rPr lang="en-US" sz="1700" dirty="0" err="1"/>
              <a:t>nhất</a:t>
            </a:r>
            <a:r>
              <a:rPr lang="en-US" sz="1700" dirty="0"/>
              <a:t> (</a:t>
            </a:r>
            <a:r>
              <a:rPr lang="en-US" sz="1700" dirty="0" err="1"/>
              <a:t>giải</a:t>
            </a:r>
            <a:r>
              <a:rPr lang="en-US" sz="1700" dirty="0"/>
              <a:t> </a:t>
            </a:r>
            <a:r>
              <a:rPr lang="en-US" sz="1700" dirty="0" err="1"/>
              <a:t>thuật</a:t>
            </a:r>
            <a:r>
              <a:rPr lang="en-US" sz="1700" dirty="0"/>
              <a:t> </a:t>
            </a:r>
            <a:r>
              <a:rPr lang="en-US" sz="1700" dirty="0" err="1"/>
              <a:t>sắp</a:t>
            </a:r>
            <a:r>
              <a:rPr lang="en-US" sz="1700" dirty="0"/>
              <a:t> </a:t>
            </a:r>
            <a:r>
              <a:rPr lang="en-US" sz="1700" dirty="0" err="1"/>
              <a:t>xếp</a:t>
            </a:r>
            <a:r>
              <a:rPr lang="en-US" sz="1700" dirty="0"/>
              <a:t> </a:t>
            </a:r>
            <a:r>
              <a:rPr lang="en-US" sz="1700" dirty="0" err="1"/>
              <a:t>chọn</a:t>
            </a:r>
            <a:r>
              <a:rPr lang="en-US" sz="1700" dirty="0"/>
              <a:t>)</a:t>
            </a:r>
          </a:p>
          <a:p>
            <a:pPr lvl="2"/>
            <a:r>
              <a:rPr lang="vi-VN" sz="1700" dirty="0"/>
              <a:t>Chọn phần tử ngẫu nhiên</a:t>
            </a:r>
            <a:endParaRPr lang="en-US" sz="1700" dirty="0"/>
          </a:p>
          <a:p>
            <a:pPr lvl="2"/>
            <a:r>
              <a:rPr lang="en-US" sz="1700" dirty="0" err="1" smtClean="0"/>
              <a:t>v.v</a:t>
            </a:r>
            <a:endParaRPr lang="en-US" sz="1700" dirty="0" smtClean="0"/>
          </a:p>
          <a:p>
            <a:pPr lvl="1"/>
            <a:r>
              <a:rPr lang="en-US" sz="2000" dirty="0" err="1" smtClean="0"/>
              <a:t>Cách</a:t>
            </a:r>
            <a:r>
              <a:rPr lang="en-US" sz="2000" dirty="0" smtClean="0"/>
              <a:t> </a:t>
            </a:r>
            <a:r>
              <a:rPr lang="en-US" sz="2000" dirty="0" err="1" smtClean="0"/>
              <a:t>duyệt</a:t>
            </a:r>
            <a:r>
              <a:rPr lang="en-US" sz="2000" dirty="0" smtClean="0"/>
              <a:t> </a:t>
            </a:r>
            <a:r>
              <a:rPr lang="en-US" sz="2000" dirty="0" err="1" smtClean="0"/>
              <a:t>phần</a:t>
            </a:r>
            <a:r>
              <a:rPr lang="en-US" sz="2000" dirty="0" smtClean="0"/>
              <a:t> </a:t>
            </a:r>
            <a:r>
              <a:rPr lang="en-US" sz="2000" dirty="0" err="1" smtClean="0"/>
              <a:t>tử</a:t>
            </a:r>
            <a:endParaRPr lang="en-US" sz="2000" dirty="0"/>
          </a:p>
          <a:p>
            <a:endParaRPr lang="en-US" sz="2300" dirty="0"/>
          </a:p>
          <a:p>
            <a:pPr lvl="1"/>
            <a:endParaRPr lang="en-US" altLang="en-US" sz="2100" dirty="0" smtClean="0"/>
          </a:p>
        </p:txBody>
      </p:sp>
    </p:spTree>
    <p:extLst>
      <p:ext uri="{BB962C8B-B14F-4D97-AF65-F5344CB8AC3E}">
        <p14:creationId xmlns:p14="http://schemas.microsoft.com/office/powerpoint/2010/main" val="3028825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D4F8744-6985-41B4-955A-C3CE0031EE08}" type="slidenum">
              <a:rPr lang="en-US" altLang="en-US">
                <a:latin typeface="Garamond" panose="02020404030301010803" pitchFamily="18" charset="0"/>
              </a:rPr>
              <a:pPr eaLnBrk="1" hangingPunct="1"/>
              <a:t>35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 smtClean="0"/>
              <a:t>Giải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thuật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phân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đoạn</a:t>
            </a:r>
            <a:endParaRPr lang="en-US" altLang="en-US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3" name="Content Placeholder 2"/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234950" y="963168"/>
                <a:ext cx="6242050" cy="5132832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 err="1" smtClean="0"/>
                  <a:t>Giải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thuật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phân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đoạn</a:t>
                </a:r>
                <a:r>
                  <a:rPr lang="en-US" sz="2400" dirty="0" smtClean="0"/>
                  <a:t> </a:t>
                </a:r>
                <a:r>
                  <a:rPr lang="en-US" sz="2400" dirty="0"/>
                  <a:t>Hoare</a:t>
                </a:r>
                <a:r>
                  <a:rPr lang="en-US" sz="2400" dirty="0" smtClean="0"/>
                  <a:t> (</a:t>
                </a:r>
                <a:r>
                  <a:rPr lang="en-US" sz="2400" dirty="0"/>
                  <a:t>Hoare</a:t>
                </a:r>
                <a:r>
                  <a:rPr lang="en-US" sz="2400" dirty="0" smtClean="0"/>
                  <a:t> Partition)</a:t>
                </a:r>
              </a:p>
              <a:p>
                <a:pPr lvl="1"/>
                <a:r>
                  <a:rPr lang="en-US" sz="2400" dirty="0" err="1" smtClean="0"/>
                  <a:t>Chọn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phần</a:t>
                </a:r>
                <a:r>
                  <a:rPr lang="en-US" sz="2400" dirty="0" smtClean="0"/>
                  <a:t> </a:t>
                </a:r>
                <a:r>
                  <a:rPr lang="en-US" sz="2400" dirty="0" err="1"/>
                  <a:t>tử</a:t>
                </a:r>
                <a:r>
                  <a:rPr lang="en-US" sz="2400" dirty="0"/>
                  <a:t> </a:t>
                </a:r>
                <a:r>
                  <a:rPr lang="en-US" sz="2400" dirty="0" err="1" smtClean="0"/>
                  <a:t>cuối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dãy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là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chốt</a:t>
                </a:r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 : </a:t>
                </a:r>
                <a:r>
                  <a:rPr lang="en-US" sz="2400" dirty="0" err="1"/>
                  <a:t>chỉ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số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đầu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cuối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của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dãy</a:t>
                </a:r>
                <a:endParaRPr lang="en-US" sz="2400" i="1" dirty="0" smtClean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chạy </a:t>
                </a:r>
                <a:r>
                  <a:rPr lang="en-US" sz="2400" dirty="0" err="1" smtClean="0"/>
                  <a:t>xuôi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từ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đầu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dãy</a:t>
                </a:r>
                <a:endParaRPr lang="en-US" sz="2400" dirty="0" smtClean="0"/>
              </a:p>
              <a:p>
                <a:pPr marL="342900" lvl="1" indent="0">
                  <a:buNone/>
                </a:pPr>
                <a:r>
                  <a:rPr lang="en-US" sz="2400" dirty="0" smtClean="0"/>
                  <a:t>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err="1" smtClean="0"/>
                  <a:t>chạy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ngược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từ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cuối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dãy</a:t>
                </a:r>
                <a:endParaRPr lang="en-US" sz="2400" dirty="0"/>
              </a:p>
              <a:p>
                <a:pPr lvl="1"/>
                <a:r>
                  <a:rPr lang="en-US" sz="2400" dirty="0"/>
                  <a:t>Repeat until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≥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2400" dirty="0"/>
              </a:p>
              <a:p>
                <a:pPr lvl="2"/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dirty="0"/>
                  <a:t>: </a:t>
                </a:r>
                <a:r>
                  <a:rPr lang="en-US" sz="1800" dirty="0" err="1" smtClean="0"/>
                  <a:t>vị</a:t>
                </a:r>
                <a:r>
                  <a:rPr lang="en-US" sz="1800" dirty="0" smtClean="0"/>
                  <a:t> </a:t>
                </a:r>
                <a:r>
                  <a:rPr lang="en-US" sz="1800" dirty="0" err="1" smtClean="0"/>
                  <a:t>trí</a:t>
                </a:r>
                <a:r>
                  <a:rPr lang="en-US" sz="1800" dirty="0" smtClean="0"/>
                  <a:t> </a:t>
                </a:r>
                <a:r>
                  <a:rPr lang="en-US" sz="1800" dirty="0" err="1" smtClean="0"/>
                  <a:t>phần</a:t>
                </a:r>
                <a:r>
                  <a:rPr lang="en-US" sz="1800" dirty="0" smtClean="0"/>
                  <a:t> </a:t>
                </a:r>
                <a:r>
                  <a:rPr lang="en-US" sz="1800" dirty="0" err="1" smtClean="0"/>
                  <a:t>tử</a:t>
                </a:r>
                <a:r>
                  <a:rPr lang="en-US" sz="1800" dirty="0" smtClean="0"/>
                  <a:t> </a:t>
                </a:r>
                <a:r>
                  <a:rPr lang="en-US" sz="1800" dirty="0" err="1" smtClean="0"/>
                  <a:t>đầu</a:t>
                </a:r>
                <a:r>
                  <a:rPr lang="en-US" sz="1800" dirty="0" smtClean="0"/>
                  <a:t> </a:t>
                </a:r>
                <a:r>
                  <a:rPr lang="en-US" sz="1800" dirty="0" err="1" smtClean="0"/>
                  <a:t>tiên</a:t>
                </a:r>
                <a:r>
                  <a:rPr lang="en-US" sz="1800" dirty="0" smtClean="0"/>
                  <a:t> ≥ pivot</a:t>
                </a:r>
                <a:endParaRPr lang="en-US" sz="1800" dirty="0"/>
              </a:p>
              <a:p>
                <a:pPr lvl="2"/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800" dirty="0"/>
                  <a:t>: </a:t>
                </a:r>
                <a:r>
                  <a:rPr lang="en-US" sz="1800" dirty="0" err="1" smtClean="0"/>
                  <a:t>vị</a:t>
                </a:r>
                <a:r>
                  <a:rPr lang="en-US" sz="1800" dirty="0" smtClean="0"/>
                  <a:t> </a:t>
                </a:r>
                <a:r>
                  <a:rPr lang="en-US" sz="1800" dirty="0" err="1" smtClean="0"/>
                  <a:t>trí</a:t>
                </a:r>
                <a:r>
                  <a:rPr lang="en-US" sz="1800" dirty="0" smtClean="0"/>
                  <a:t> </a:t>
                </a:r>
                <a:r>
                  <a:rPr lang="en-US" sz="1800" dirty="0" err="1" smtClean="0"/>
                  <a:t>phần</a:t>
                </a:r>
                <a:r>
                  <a:rPr lang="en-US" sz="1800" dirty="0" smtClean="0"/>
                  <a:t> </a:t>
                </a:r>
                <a:r>
                  <a:rPr lang="en-US" sz="1800" dirty="0" err="1" smtClean="0"/>
                  <a:t>tử</a:t>
                </a:r>
                <a:r>
                  <a:rPr lang="en-US" sz="1800" dirty="0" smtClean="0"/>
                  <a:t> </a:t>
                </a:r>
                <a:r>
                  <a:rPr lang="en-US" sz="1800" dirty="0" err="1"/>
                  <a:t>đầu</a:t>
                </a:r>
                <a:r>
                  <a:rPr lang="en-US" sz="1800" dirty="0"/>
                  <a:t> </a:t>
                </a:r>
                <a:r>
                  <a:rPr lang="en-US" sz="1800" dirty="0" err="1"/>
                  <a:t>tiên</a:t>
                </a:r>
                <a:r>
                  <a:rPr lang="en-US" sz="1800" dirty="0"/>
                  <a:t> &lt; </a:t>
                </a:r>
                <a:r>
                  <a:rPr lang="en-US" sz="1800" dirty="0" smtClean="0"/>
                  <a:t>pivot</a:t>
                </a:r>
                <a:endParaRPr lang="en-US" sz="1800" dirty="0"/>
              </a:p>
              <a:p>
                <a:pPr lvl="2"/>
                <a:r>
                  <a:rPr lang="en-US" sz="1800" dirty="0" err="1" smtClean="0"/>
                  <a:t>Đổi</a:t>
                </a:r>
                <a:r>
                  <a:rPr lang="en-US" sz="1800" dirty="0" smtClean="0"/>
                  <a:t> </a:t>
                </a:r>
                <a:r>
                  <a:rPr lang="en-US" sz="1800" dirty="0" err="1" smtClean="0"/>
                  <a:t>chỗ</a:t>
                </a:r>
                <a:r>
                  <a:rPr lang="en-US" sz="1800" dirty="0" smtClean="0"/>
                  <a:t> </a:t>
                </a:r>
                <a:r>
                  <a:rPr lang="en-US" sz="1800" dirty="0" err="1" smtClean="0"/>
                  <a:t>phần</a:t>
                </a:r>
                <a:r>
                  <a:rPr lang="en-US" sz="1800" dirty="0" smtClean="0"/>
                  <a:t> </a:t>
                </a:r>
                <a:r>
                  <a:rPr lang="en-US" sz="1800" dirty="0" err="1" smtClean="0"/>
                  <a:t>tử</a:t>
                </a:r>
                <a:r>
                  <a:rPr lang="en-US" sz="1800" dirty="0" smtClean="0"/>
                  <a:t> </a:t>
                </a:r>
                <a:r>
                  <a:rPr lang="en-US" sz="1800" dirty="0" err="1" smtClean="0"/>
                  <a:t>tại</a:t>
                </a:r>
                <a:r>
                  <a:rPr lang="en-US" sz="1800" dirty="0" smtClean="0"/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dirty="0"/>
                  <a:t> </a:t>
                </a:r>
                <a:r>
                  <a:rPr lang="en-US" sz="1800" dirty="0" smtClean="0"/>
                  <a:t>và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1800" dirty="0"/>
              </a:p>
              <a:p>
                <a:pPr lvl="1"/>
                <a:r>
                  <a:rPr lang="en-US" sz="2400" dirty="0"/>
                  <a:t>Đổi </a:t>
                </a:r>
                <a:r>
                  <a:rPr lang="en-US" sz="2400" dirty="0" err="1"/>
                  <a:t>chỗ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phần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tử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tại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và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2400" dirty="0"/>
              </a:p>
              <a:p>
                <a:pPr lvl="1"/>
                <a:endParaRPr lang="en-US" sz="2100" dirty="0" smtClean="0"/>
              </a:p>
              <a:p>
                <a:pPr lvl="1"/>
                <a:endParaRPr lang="en-US" altLang="en-US" sz="2100" dirty="0" smtClean="0"/>
              </a:p>
              <a:p>
                <a:pPr eaLnBrk="1" hangingPunct="1"/>
                <a:endParaRPr lang="en-US" altLang="en-US" sz="4400" dirty="0" smtClean="0"/>
              </a:p>
            </p:txBody>
          </p:sp>
        </mc:Choice>
        <mc:Fallback xmlns="">
          <p:sp>
            <p:nvSpPr>
              <p:cNvPr id="2560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234950" y="963168"/>
                <a:ext cx="6242050" cy="5132832"/>
              </a:xfrm>
              <a:blipFill>
                <a:blip r:embed="rId3"/>
                <a:stretch>
                  <a:fillRect l="-1367" t="-1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4968601" y="1540504"/>
            <a:ext cx="3784863" cy="4517396"/>
            <a:chOff x="4968601" y="1540504"/>
            <a:chExt cx="3784863" cy="4517396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81301" y="1540504"/>
              <a:ext cx="3772163" cy="4517396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4"/>
            <a:srcRect t="57894" r="51939" b="33672"/>
            <a:stretch/>
          </p:blipFill>
          <p:spPr>
            <a:xfrm>
              <a:off x="4968601" y="5248214"/>
              <a:ext cx="1812936" cy="381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4204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D4F8744-6985-41B4-955A-C3CE0031EE08}" type="slidenum">
              <a:rPr lang="en-US" altLang="en-US">
                <a:latin typeface="Garamond" panose="02020404030301010803" pitchFamily="18" charset="0"/>
              </a:rPr>
              <a:pPr eaLnBrk="1" hangingPunct="1"/>
              <a:t>36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 smtClean="0"/>
              <a:t>Giải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thuật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phân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đoạn</a:t>
            </a:r>
            <a:endParaRPr lang="en-US" altLang="en-US" dirty="0" smtClean="0"/>
          </a:p>
        </p:txBody>
      </p:sp>
      <p:sp>
        <p:nvSpPr>
          <p:cNvPr id="2560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6242050" cy="789432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thuật</a:t>
            </a:r>
            <a:r>
              <a:rPr lang="en-US" sz="2400" dirty="0" smtClean="0"/>
              <a:t> </a:t>
            </a:r>
            <a:r>
              <a:rPr lang="en-US" sz="2400" dirty="0" err="1" smtClean="0"/>
              <a:t>phân</a:t>
            </a:r>
            <a:r>
              <a:rPr lang="en-US" sz="2400" dirty="0" smtClean="0"/>
              <a:t> </a:t>
            </a:r>
            <a:r>
              <a:rPr lang="en-US" sz="2400" dirty="0" err="1" smtClean="0"/>
              <a:t>đoạn</a:t>
            </a:r>
            <a:r>
              <a:rPr lang="en-US" sz="2400" dirty="0" smtClean="0"/>
              <a:t> </a:t>
            </a:r>
            <a:r>
              <a:rPr lang="en-US" sz="2400" dirty="0"/>
              <a:t>Hoare</a:t>
            </a:r>
            <a:r>
              <a:rPr lang="en-US" sz="2400" dirty="0" smtClean="0"/>
              <a:t> (</a:t>
            </a:r>
            <a:r>
              <a:rPr lang="en-US" sz="2400" dirty="0"/>
              <a:t>Hoare</a:t>
            </a:r>
            <a:r>
              <a:rPr lang="en-US" sz="2400" dirty="0" smtClean="0"/>
              <a:t> Partition)</a:t>
            </a:r>
          </a:p>
          <a:p>
            <a:pPr lvl="1"/>
            <a:endParaRPr lang="en-US" sz="2100" dirty="0" smtClean="0"/>
          </a:p>
          <a:p>
            <a:pPr lvl="1"/>
            <a:endParaRPr lang="en-US" altLang="en-US" sz="2100" dirty="0" smtClean="0"/>
          </a:p>
          <a:p>
            <a:pPr eaLnBrk="1" hangingPunct="1"/>
            <a:endParaRPr lang="en-US" altLang="en-US" sz="4400" dirty="0" smtClean="0"/>
          </a:p>
        </p:txBody>
      </p:sp>
      <p:sp>
        <p:nvSpPr>
          <p:cNvPr id="2" name="Rectangle 1"/>
          <p:cNvSpPr/>
          <p:nvPr/>
        </p:nvSpPr>
        <p:spPr>
          <a:xfrm>
            <a:off x="990600" y="1435630"/>
            <a:ext cx="761682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qsPartitionHoare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DaySo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a,int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l,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pivot = a[r];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j;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l, j = r - 1;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j;)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(; a[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]&lt;pivot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&amp;&amp;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j;i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++);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(; a[j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]&gt;=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pivot &amp;&amp;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&lt;j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j--);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HoanDoi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(a[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], a[j]);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if (a[r] &gt; a[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]) return r;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HoanDoi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(a[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a[r]);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407277" y="3295528"/>
            <a:ext cx="2736723" cy="3276600"/>
            <a:chOff x="4968601" y="1540504"/>
            <a:chExt cx="3784863" cy="4517396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81301" y="1540504"/>
              <a:ext cx="3772163" cy="4517396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3"/>
            <a:srcRect t="57894" r="51939" b="33672"/>
            <a:stretch/>
          </p:blipFill>
          <p:spPr>
            <a:xfrm>
              <a:off x="4968601" y="5248214"/>
              <a:ext cx="1812936" cy="381000"/>
            </a:xfrm>
            <a:prstGeom prst="rect">
              <a:avLst/>
            </a:prstGeom>
          </p:spPr>
        </p:pic>
      </p:grpSp>
      <p:sp>
        <p:nvSpPr>
          <p:cNvPr id="10" name="Content Placeholder 2"/>
          <p:cNvSpPr txBox="1">
            <a:spLocks/>
          </p:cNvSpPr>
          <p:nvPr/>
        </p:nvSpPr>
        <p:spPr>
          <a:xfrm>
            <a:off x="381000" y="5594322"/>
            <a:ext cx="6242050" cy="789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 err="1" smtClean="0"/>
              <a:t>Lựa</a:t>
            </a:r>
            <a:r>
              <a:rPr lang="en-US" sz="2100" dirty="0" smtClean="0"/>
              <a:t> </a:t>
            </a:r>
            <a:r>
              <a:rPr lang="en-US" sz="2100" dirty="0" err="1" smtClean="0"/>
              <a:t>chọn</a:t>
            </a:r>
            <a:r>
              <a:rPr lang="en-US" sz="2100" dirty="0" smtClean="0"/>
              <a:t> </a:t>
            </a:r>
            <a:r>
              <a:rPr lang="en-US" sz="2100" dirty="0" err="1" smtClean="0"/>
              <a:t>phần</a:t>
            </a:r>
            <a:r>
              <a:rPr lang="en-US" sz="2100" dirty="0" smtClean="0"/>
              <a:t> </a:t>
            </a:r>
            <a:r>
              <a:rPr lang="en-US" sz="2100" dirty="0" err="1" smtClean="0"/>
              <a:t>tử</a:t>
            </a:r>
            <a:r>
              <a:rPr lang="en-US" sz="2100" dirty="0" smtClean="0"/>
              <a:t> </a:t>
            </a:r>
            <a:r>
              <a:rPr lang="en-US" sz="2100" dirty="0" err="1" smtClean="0"/>
              <a:t>đầu</a:t>
            </a:r>
            <a:r>
              <a:rPr lang="en-US" sz="2100" dirty="0" smtClean="0"/>
              <a:t> </a:t>
            </a:r>
            <a:r>
              <a:rPr lang="en-US" sz="2100" dirty="0" err="1" smtClean="0"/>
              <a:t>dãy</a:t>
            </a:r>
            <a:r>
              <a:rPr lang="en-US" sz="2100" dirty="0" smtClean="0"/>
              <a:t> </a:t>
            </a:r>
            <a:r>
              <a:rPr lang="en-US" sz="2100" dirty="0" err="1" smtClean="0"/>
              <a:t>làm</a:t>
            </a:r>
            <a:r>
              <a:rPr lang="en-US" sz="2100" dirty="0" smtClean="0"/>
              <a:t> </a:t>
            </a:r>
            <a:r>
              <a:rPr lang="en-US" sz="2100" dirty="0" err="1" smtClean="0"/>
              <a:t>chốt</a:t>
            </a:r>
            <a:r>
              <a:rPr lang="en-US" dirty="0" smtClean="0"/>
              <a:t>: =&gt;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viết</a:t>
            </a:r>
            <a:endParaRPr lang="en-US" sz="2100" dirty="0" smtClean="0"/>
          </a:p>
          <a:p>
            <a:pPr lvl="1"/>
            <a:endParaRPr lang="en-US" altLang="en-US" sz="2100" dirty="0" smtClean="0"/>
          </a:p>
          <a:p>
            <a:endParaRPr lang="en-US" altLang="en-US" sz="4400" dirty="0" smtClean="0"/>
          </a:p>
        </p:txBody>
      </p:sp>
    </p:spTree>
    <p:extLst>
      <p:ext uri="{BB962C8B-B14F-4D97-AF65-F5344CB8AC3E}">
        <p14:creationId xmlns:p14="http://schemas.microsoft.com/office/powerpoint/2010/main" val="113715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0967E8E-145E-48BD-8D72-DA6137C0E57E}" type="slidenum">
              <a:rPr lang="en-US" altLang="en-US">
                <a:latin typeface="Garamond" panose="02020404030301010803" pitchFamily="18" charset="0"/>
              </a:rPr>
              <a:pPr eaLnBrk="1" hangingPunct="1"/>
              <a:t>37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3.1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/>
              <a:t>nhanh</a:t>
            </a:r>
            <a:r>
              <a:rPr lang="en-US" altLang="en-US" dirty="0"/>
              <a:t>/</a:t>
            </a:r>
            <a:r>
              <a:rPr lang="en-US" altLang="en-US" dirty="0" err="1"/>
              <a:t>phân</a:t>
            </a:r>
            <a:r>
              <a:rPr lang="en-US" altLang="en-US" dirty="0"/>
              <a:t> </a:t>
            </a:r>
            <a:r>
              <a:rPr lang="en-US" altLang="en-US" dirty="0" err="1"/>
              <a:t>đoạn</a:t>
            </a:r>
            <a:endParaRPr lang="en-US" altLang="en-US" dirty="0" smtClean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Đánh</a:t>
            </a:r>
            <a:r>
              <a:rPr lang="en-US" sz="2400" dirty="0" smtClean="0"/>
              <a:t> </a:t>
            </a:r>
            <a:r>
              <a:rPr lang="en-US" sz="2400" dirty="0" err="1" smtClean="0"/>
              <a:t>giá</a:t>
            </a:r>
            <a:r>
              <a:rPr lang="en-US" sz="2400" dirty="0" smtClean="0"/>
              <a:t>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thuật</a:t>
            </a:r>
            <a:endParaRPr lang="en-US" sz="2400" dirty="0" smtClean="0"/>
          </a:p>
          <a:p>
            <a:pPr lvl="1"/>
            <a:r>
              <a:rPr lang="vi-VN" sz="2000" dirty="0" smtClean="0"/>
              <a:t>Trường </a:t>
            </a:r>
            <a:r>
              <a:rPr lang="vi-VN" sz="2000" dirty="0"/>
              <a:t>hợp xấu </a:t>
            </a:r>
            <a:r>
              <a:rPr lang="vi-VN" sz="2000" dirty="0" smtClean="0"/>
              <a:t>nhất:</a:t>
            </a:r>
            <a:r>
              <a:rPr lang="en-US" sz="2000" dirty="0" smtClean="0"/>
              <a:t> </a:t>
            </a:r>
            <a:r>
              <a:rPr lang="vi-VN" sz="2000" dirty="0" smtClean="0"/>
              <a:t>O(n</a:t>
            </a:r>
            <a:r>
              <a:rPr lang="vi-VN" sz="2000" baseline="30000" dirty="0" smtClean="0"/>
              <a:t>2</a:t>
            </a:r>
            <a:r>
              <a:rPr lang="vi-VN" sz="2000" dirty="0" smtClean="0"/>
              <a:t>)</a:t>
            </a:r>
            <a:endParaRPr lang="vi-VN" sz="2000" dirty="0"/>
          </a:p>
          <a:p>
            <a:pPr lvl="1"/>
            <a:r>
              <a:rPr lang="vi-VN" sz="2000" dirty="0"/>
              <a:t>Trường hợp </a:t>
            </a:r>
            <a:r>
              <a:rPr lang="en-US" sz="2000" dirty="0" err="1" smtClean="0"/>
              <a:t>tốt</a:t>
            </a:r>
            <a:r>
              <a:rPr lang="en-US" sz="2000" dirty="0" smtClean="0"/>
              <a:t> </a:t>
            </a:r>
            <a:r>
              <a:rPr lang="en-US" sz="2000" dirty="0" err="1" smtClean="0"/>
              <a:t>nhất</a:t>
            </a:r>
            <a:r>
              <a:rPr lang="vi-VN" sz="2000" dirty="0" smtClean="0"/>
              <a:t>: O(nlogn)</a:t>
            </a:r>
            <a:endParaRPr lang="en-US" sz="2000" dirty="0" smtClean="0"/>
          </a:p>
          <a:p>
            <a:pPr lvl="1"/>
            <a:r>
              <a:rPr lang="vi-VN" sz="2000" dirty="0"/>
              <a:t>Trường hợp </a:t>
            </a:r>
            <a:r>
              <a:rPr lang="en-US" sz="2000" dirty="0" err="1" smtClean="0"/>
              <a:t>trung</a:t>
            </a:r>
            <a:r>
              <a:rPr lang="en-US" sz="2000" dirty="0" smtClean="0"/>
              <a:t> </a:t>
            </a:r>
            <a:r>
              <a:rPr lang="en-US" sz="2000" dirty="0" err="1" smtClean="0"/>
              <a:t>bình</a:t>
            </a:r>
            <a:r>
              <a:rPr lang="en-US" sz="2000" dirty="0" smtClean="0"/>
              <a:t>:</a:t>
            </a:r>
            <a:r>
              <a:rPr lang="vi-VN" sz="2000" dirty="0"/>
              <a:t> </a:t>
            </a:r>
            <a:r>
              <a:rPr lang="vi-VN" sz="2000" dirty="0" smtClean="0"/>
              <a:t>O(nlogn)</a:t>
            </a:r>
            <a:endParaRPr lang="en-US" sz="2000" dirty="0" smtClean="0"/>
          </a:p>
          <a:p>
            <a:r>
              <a:rPr lang="en-US" sz="2300" dirty="0" err="1" smtClean="0"/>
              <a:t>Nhận</a:t>
            </a:r>
            <a:r>
              <a:rPr lang="en-US" sz="2300" dirty="0" smtClean="0"/>
              <a:t> </a:t>
            </a:r>
            <a:r>
              <a:rPr lang="en-US" sz="2300" dirty="0" err="1" smtClean="0"/>
              <a:t>xét</a:t>
            </a:r>
            <a:r>
              <a:rPr lang="en-US" sz="2300" dirty="0" smtClean="0"/>
              <a:t>:</a:t>
            </a:r>
          </a:p>
          <a:p>
            <a:pPr lvl="1"/>
            <a:r>
              <a:rPr lang="en-US" sz="2000" dirty="0" err="1" smtClean="0"/>
              <a:t>Nhanh</a:t>
            </a:r>
            <a:r>
              <a:rPr lang="en-US" sz="2000" dirty="0" smtClean="0"/>
              <a:t> </a:t>
            </a:r>
            <a:r>
              <a:rPr lang="en-US" sz="2000" dirty="0" err="1" smtClean="0"/>
              <a:t>hơn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giải</a:t>
            </a:r>
            <a:r>
              <a:rPr lang="en-US" sz="2000" dirty="0" smtClean="0"/>
              <a:t> </a:t>
            </a:r>
            <a:r>
              <a:rPr lang="en-US" sz="2000" dirty="0" err="1" smtClean="0"/>
              <a:t>thuật</a:t>
            </a:r>
            <a:r>
              <a:rPr lang="en-US" sz="2000" dirty="0" smtClean="0"/>
              <a:t> </a:t>
            </a:r>
            <a:r>
              <a:rPr lang="en-US" sz="2000" dirty="0" err="1" smtClean="0"/>
              <a:t>cơ</a:t>
            </a:r>
            <a:r>
              <a:rPr lang="en-US" sz="2000" dirty="0" smtClean="0"/>
              <a:t> </a:t>
            </a:r>
            <a:r>
              <a:rPr lang="en-US" sz="2000" dirty="0" err="1" smtClean="0"/>
              <a:t>bản</a:t>
            </a:r>
            <a:endParaRPr lang="en-US" sz="2000" dirty="0" smtClean="0"/>
          </a:p>
          <a:p>
            <a:pPr lvl="1"/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thể</a:t>
            </a:r>
            <a:r>
              <a:rPr lang="en-US" sz="2000" dirty="0" smtClean="0"/>
              <a:t> </a:t>
            </a:r>
            <a:r>
              <a:rPr lang="en-US" sz="2000" dirty="0" err="1" smtClean="0"/>
              <a:t>áp</a:t>
            </a:r>
            <a:r>
              <a:rPr lang="en-US" sz="2000" dirty="0" smtClean="0"/>
              <a:t> </a:t>
            </a:r>
            <a:r>
              <a:rPr lang="en-US" sz="2000" dirty="0" err="1" smtClean="0"/>
              <a:t>dụng</a:t>
            </a:r>
            <a:r>
              <a:rPr lang="en-US" sz="2000" dirty="0" smtClean="0"/>
              <a:t> </a:t>
            </a:r>
            <a:r>
              <a:rPr lang="en-US" sz="2000" dirty="0" err="1" smtClean="0"/>
              <a:t>trên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tập</a:t>
            </a:r>
            <a:r>
              <a:rPr lang="en-US" sz="2000" dirty="0" smtClean="0"/>
              <a:t> </a:t>
            </a:r>
            <a:r>
              <a:rPr lang="en-US" sz="2000" dirty="0" err="1" smtClean="0"/>
              <a:t>dữ</a:t>
            </a:r>
            <a:r>
              <a:rPr lang="en-US" sz="2000" dirty="0" smtClean="0"/>
              <a:t> </a:t>
            </a:r>
            <a:r>
              <a:rPr lang="en-US" sz="2000" dirty="0" err="1" smtClean="0"/>
              <a:t>liệu</a:t>
            </a:r>
            <a:r>
              <a:rPr lang="en-US" sz="2000" dirty="0" smtClean="0"/>
              <a:t> </a:t>
            </a:r>
            <a:r>
              <a:rPr lang="en-US" sz="2000" dirty="0" err="1" smtClean="0"/>
              <a:t>kích</a:t>
            </a:r>
            <a:r>
              <a:rPr lang="en-US" sz="2000" dirty="0" smtClean="0"/>
              <a:t> </a:t>
            </a:r>
            <a:r>
              <a:rPr lang="en-US" sz="2000" dirty="0" err="1" smtClean="0"/>
              <a:t>thước</a:t>
            </a:r>
            <a:r>
              <a:rPr lang="en-US" sz="2000" dirty="0" smtClean="0"/>
              <a:t> </a:t>
            </a:r>
            <a:r>
              <a:rPr lang="en-US" sz="2000" dirty="0" err="1" smtClean="0"/>
              <a:t>nhỏ</a:t>
            </a:r>
            <a:r>
              <a:rPr lang="en-US" sz="2000" dirty="0" smtClean="0"/>
              <a:t>, </a:t>
            </a:r>
            <a:r>
              <a:rPr lang="en-US" sz="2000" dirty="0" err="1" smtClean="0"/>
              <a:t>trung</a:t>
            </a:r>
            <a:r>
              <a:rPr lang="en-US" sz="2000" dirty="0" smtClean="0"/>
              <a:t> </a:t>
            </a:r>
            <a:r>
              <a:rPr lang="en-US" sz="2000" dirty="0" err="1" smtClean="0"/>
              <a:t>bình</a:t>
            </a:r>
            <a:r>
              <a:rPr lang="en-US" sz="2000" dirty="0" smtClean="0"/>
              <a:t>, </a:t>
            </a:r>
            <a:r>
              <a:rPr lang="en-US" sz="2000" dirty="0" err="1" smtClean="0"/>
              <a:t>lớn</a:t>
            </a:r>
            <a:endParaRPr lang="en-US" sz="2000" dirty="0" smtClean="0"/>
          </a:p>
          <a:p>
            <a:pPr lvl="1"/>
            <a:r>
              <a:rPr lang="en-US" sz="2000" dirty="0" err="1" smtClean="0"/>
              <a:t>Giải</a:t>
            </a:r>
            <a:r>
              <a:rPr lang="en-US" sz="2000" dirty="0" smtClean="0"/>
              <a:t> </a:t>
            </a:r>
            <a:r>
              <a:rPr lang="en-US" sz="2000" dirty="0" err="1" smtClean="0"/>
              <a:t>thuật</a:t>
            </a:r>
            <a:r>
              <a:rPr lang="en-US" sz="2000" dirty="0" smtClean="0"/>
              <a:t> </a:t>
            </a:r>
            <a:r>
              <a:rPr lang="en-US" sz="2000" dirty="0" err="1" smtClean="0"/>
              <a:t>phức</a:t>
            </a:r>
            <a:r>
              <a:rPr lang="en-US" sz="2000" dirty="0" smtClean="0"/>
              <a:t> </a:t>
            </a:r>
            <a:r>
              <a:rPr lang="en-US" sz="2000" dirty="0" err="1" smtClean="0"/>
              <a:t>tạp</a:t>
            </a:r>
            <a:r>
              <a:rPr lang="en-US" sz="2000" dirty="0" smtClean="0"/>
              <a:t>, 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tính</a:t>
            </a:r>
            <a:r>
              <a:rPr lang="en-US" sz="2000" dirty="0" smtClean="0"/>
              <a:t> </a:t>
            </a:r>
            <a:r>
              <a:rPr lang="en-US" sz="2000" dirty="0" err="1" smtClean="0"/>
              <a:t>đệ</a:t>
            </a:r>
            <a:r>
              <a:rPr lang="en-US" sz="2000" dirty="0" smtClean="0"/>
              <a:t> </a:t>
            </a:r>
            <a:r>
              <a:rPr lang="en-US" sz="2000" dirty="0" err="1" smtClean="0"/>
              <a:t>quy</a:t>
            </a:r>
            <a:r>
              <a:rPr lang="en-US" sz="2000" dirty="0" smtClean="0"/>
              <a:t> </a:t>
            </a:r>
          </a:p>
          <a:p>
            <a:pPr lvl="1"/>
            <a:r>
              <a:rPr lang="en-US" sz="2000" dirty="0" err="1" smtClean="0"/>
              <a:t>Phương</a:t>
            </a:r>
            <a:r>
              <a:rPr lang="en-US" sz="2000" dirty="0" smtClean="0"/>
              <a:t> </a:t>
            </a:r>
            <a:r>
              <a:rPr lang="en-US" sz="2000" dirty="0" err="1" smtClean="0"/>
              <a:t>án</a:t>
            </a:r>
            <a:r>
              <a:rPr lang="en-US" sz="2000" dirty="0" smtClean="0"/>
              <a:t> </a:t>
            </a:r>
            <a:r>
              <a:rPr lang="en-US" sz="2000" dirty="0" err="1" smtClean="0"/>
              <a:t>Lựa</a:t>
            </a:r>
            <a:r>
              <a:rPr lang="en-US" sz="2000" dirty="0" smtClean="0"/>
              <a:t> </a:t>
            </a:r>
            <a:r>
              <a:rPr lang="en-US" sz="2000" dirty="0" err="1" smtClean="0"/>
              <a:t>chọn</a:t>
            </a:r>
            <a:r>
              <a:rPr lang="en-US" sz="2000" dirty="0" smtClean="0"/>
              <a:t> </a:t>
            </a:r>
            <a:r>
              <a:rPr lang="en-US" sz="2000" dirty="0" err="1" smtClean="0"/>
              <a:t>chốt</a:t>
            </a:r>
            <a:r>
              <a:rPr lang="en-US" sz="2000" dirty="0" smtClean="0"/>
              <a:t>:</a:t>
            </a:r>
          </a:p>
          <a:p>
            <a:pPr lvl="2"/>
            <a:r>
              <a:rPr lang="vi-VN" sz="1800" dirty="0"/>
              <a:t>Bất kỳ phần tử nào cũng có thể được chọn làm </a:t>
            </a:r>
            <a:r>
              <a:rPr lang="en-US" sz="1800" dirty="0" err="1" smtClean="0"/>
              <a:t>chốt</a:t>
            </a:r>
            <a:r>
              <a:rPr lang="vi-VN" sz="1800" dirty="0" smtClean="0"/>
              <a:t> </a:t>
            </a:r>
            <a:r>
              <a:rPr lang="vi-VN" sz="1800" dirty="0"/>
              <a:t>(không cần phải là phần tử cuối cùng / đầu tiên</a:t>
            </a:r>
            <a:r>
              <a:rPr lang="vi-VN" sz="1800" dirty="0" smtClean="0"/>
              <a:t>)</a:t>
            </a:r>
            <a:endParaRPr lang="en-US" sz="1800" dirty="0" smtClean="0"/>
          </a:p>
          <a:p>
            <a:pPr lvl="2"/>
            <a:r>
              <a:rPr lang="en-US" sz="1800" dirty="0" err="1" smtClean="0"/>
              <a:t>Chọn</a:t>
            </a:r>
            <a:r>
              <a:rPr lang="en-US" sz="1800" dirty="0" smtClean="0"/>
              <a:t> </a:t>
            </a:r>
            <a:r>
              <a:rPr lang="en-US" sz="1800" dirty="0" err="1" smtClean="0"/>
              <a:t>chốt</a:t>
            </a:r>
            <a:r>
              <a:rPr lang="vi-VN" sz="1800" dirty="0" smtClean="0"/>
              <a:t> </a:t>
            </a:r>
            <a:r>
              <a:rPr lang="vi-VN" sz="1800" dirty="0"/>
              <a:t>là phần tử đầu tiên hoặc cuối </a:t>
            </a:r>
            <a:r>
              <a:rPr lang="vi-VN" sz="1800" dirty="0" smtClean="0"/>
              <a:t>cùng</a:t>
            </a:r>
            <a:r>
              <a:rPr lang="en-US" sz="1800" dirty="0" smtClean="0"/>
              <a:t> </a:t>
            </a:r>
            <a:r>
              <a:rPr lang="en-US" sz="1800" dirty="0" err="1" smtClean="0"/>
              <a:t>có</a:t>
            </a:r>
            <a:r>
              <a:rPr lang="en-US" sz="1800" dirty="0" smtClean="0"/>
              <a:t> </a:t>
            </a:r>
            <a:r>
              <a:rPr lang="en-US" sz="1800" dirty="0" err="1" smtClean="0"/>
              <a:t>thể</a:t>
            </a:r>
            <a:r>
              <a:rPr lang="vi-VN" sz="1800" dirty="0" smtClean="0"/>
              <a:t> </a:t>
            </a:r>
            <a:r>
              <a:rPr lang="vi-VN" sz="1800" dirty="0"/>
              <a:t>dẫn đến trường hợp xấu nhất khi mảng đã được sắp xếp</a:t>
            </a:r>
            <a:endParaRPr lang="vi-VN" sz="1700" dirty="0"/>
          </a:p>
          <a:p>
            <a:pPr lvl="2"/>
            <a:endParaRPr lang="en-US" sz="2000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2973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770676B-7E69-4EFA-93A8-FCF51AA4D64B}" type="slidenum">
              <a:rPr lang="en-US" altLang="en-US">
                <a:latin typeface="Garamond" panose="02020404030301010803" pitchFamily="18" charset="0"/>
              </a:rPr>
              <a:pPr eaLnBrk="1" hangingPunct="1"/>
              <a:t>38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3.2 </a:t>
            </a:r>
            <a:r>
              <a:rPr lang="en-US" altLang="en-US" dirty="0" err="1" smtClean="0"/>
              <a:t>Sắp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xếp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trộn</a:t>
            </a:r>
            <a:r>
              <a:rPr lang="en-US" altLang="en-US" dirty="0" smtClean="0"/>
              <a:t> (Merge Sort)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234951" y="963168"/>
            <a:ext cx="4565649" cy="5132832"/>
          </a:xfrm>
        </p:spPr>
        <p:txBody>
          <a:bodyPr/>
          <a:lstStyle/>
          <a:p>
            <a:r>
              <a:rPr lang="en-US" altLang="en-US" sz="2400" dirty="0" smtClean="0"/>
              <a:t>Ý </a:t>
            </a:r>
            <a:r>
              <a:rPr lang="en-US" altLang="en-US" sz="2400" dirty="0" err="1" smtClean="0"/>
              <a:t>tưởng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giải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thuật</a:t>
            </a:r>
            <a:r>
              <a:rPr lang="en-US" altLang="en-US" sz="2400" dirty="0" smtClean="0"/>
              <a:t>: </a:t>
            </a:r>
          </a:p>
          <a:p>
            <a:pPr lvl="1"/>
            <a:r>
              <a:rPr lang="en-US" altLang="en-US" sz="2000" dirty="0" smtClean="0"/>
              <a:t>Chia </a:t>
            </a:r>
            <a:r>
              <a:rPr lang="en-US" altLang="en-US" sz="2000" dirty="0" err="1" smtClean="0"/>
              <a:t>dãy</a:t>
            </a:r>
            <a:r>
              <a:rPr lang="en-US" altLang="en-US" sz="2000" dirty="0" smtClean="0"/>
              <a:t> ban </a:t>
            </a:r>
            <a:r>
              <a:rPr lang="en-US" altLang="en-US" sz="2000" dirty="0" err="1" smtClean="0"/>
              <a:t>đầu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thành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hai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dãy</a:t>
            </a:r>
            <a:r>
              <a:rPr lang="en-US" altLang="en-US" sz="2000" dirty="0" smtClean="0"/>
              <a:t> con </a:t>
            </a:r>
            <a:r>
              <a:rPr lang="en-US" altLang="en-US" sz="2000" dirty="0" err="1" smtClean="0"/>
              <a:t>có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kích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thước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khác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nhau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không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quá</a:t>
            </a:r>
            <a:r>
              <a:rPr lang="en-US" altLang="en-US" sz="2000" dirty="0" smtClean="0"/>
              <a:t> 1</a:t>
            </a:r>
          </a:p>
          <a:p>
            <a:pPr lvl="1"/>
            <a:r>
              <a:rPr lang="en-US" altLang="en-US" sz="2000" dirty="0" err="1" smtClean="0"/>
              <a:t>Sắp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xếp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hai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dãy</a:t>
            </a:r>
            <a:r>
              <a:rPr lang="en-US" altLang="en-US" sz="2000" dirty="0" smtClean="0"/>
              <a:t> con </a:t>
            </a:r>
            <a:r>
              <a:rPr lang="en-US" altLang="en-US" sz="2000" dirty="0" err="1" smtClean="0"/>
              <a:t>trên</a:t>
            </a:r>
            <a:endParaRPr lang="en-US" altLang="en-US" sz="2000" dirty="0" smtClean="0"/>
          </a:p>
          <a:p>
            <a:pPr lvl="1"/>
            <a:r>
              <a:rPr lang="en-US" altLang="en-US" sz="2000" dirty="0" err="1" smtClean="0"/>
              <a:t>Trộn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hai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dãy</a:t>
            </a:r>
            <a:r>
              <a:rPr lang="en-US" altLang="en-US" sz="2000" dirty="0" smtClean="0"/>
              <a:t> con </a:t>
            </a:r>
            <a:r>
              <a:rPr lang="en-US" altLang="en-US" sz="2000" dirty="0" err="1" smtClean="0"/>
              <a:t>đã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sắp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xếp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để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được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dãy</a:t>
            </a:r>
            <a:r>
              <a:rPr lang="en-US" altLang="en-US" sz="2000" dirty="0" smtClean="0"/>
              <a:t> ban </a:t>
            </a:r>
            <a:r>
              <a:rPr lang="en-US" altLang="en-US" sz="2000" dirty="0" err="1" smtClean="0"/>
              <a:t>đầu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cũng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được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sắp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xếp</a:t>
            </a:r>
            <a:endParaRPr lang="en-US" altLang="en-US" sz="2000" dirty="0" smtClean="0"/>
          </a:p>
          <a:p>
            <a:pPr lvl="1"/>
            <a:r>
              <a:rPr lang="en-US" altLang="en-US" sz="2000" b="1" dirty="0" err="1" smtClean="0"/>
              <a:t>Điểm</a:t>
            </a:r>
            <a:r>
              <a:rPr lang="en-US" altLang="en-US" sz="2000" b="1" dirty="0" smtClean="0"/>
              <a:t> </a:t>
            </a:r>
            <a:r>
              <a:rPr lang="en-US" altLang="en-US" sz="2000" b="1" dirty="0" err="1" smtClean="0"/>
              <a:t>dừng</a:t>
            </a:r>
            <a:r>
              <a:rPr lang="en-US" altLang="en-US" sz="2000" dirty="0" smtClean="0"/>
              <a:t>: </a:t>
            </a:r>
            <a:r>
              <a:rPr lang="en-US" altLang="en-US" sz="2000" dirty="0" err="1" smtClean="0"/>
              <a:t>khi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kích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thước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của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dãy</a:t>
            </a:r>
            <a:r>
              <a:rPr lang="en-US" altLang="en-US" sz="2000" dirty="0" smtClean="0"/>
              <a:t> </a:t>
            </a:r>
            <a:r>
              <a:rPr lang="en-US" altLang="en-US" sz="2000" b="1" dirty="0" smtClean="0"/>
              <a:t>≤</a:t>
            </a:r>
            <a:r>
              <a:rPr lang="en-US" altLang="en-US" sz="2000" dirty="0" smtClean="0"/>
              <a:t>1</a:t>
            </a:r>
          </a:p>
          <a:p>
            <a:pPr lvl="1"/>
            <a:endParaRPr lang="en-US" altLang="en-US" dirty="0" smtClean="0"/>
          </a:p>
          <a:p>
            <a:r>
              <a:rPr lang="en-US" altLang="en-US" dirty="0" smtClean="0"/>
              <a:t>2 </a:t>
            </a:r>
            <a:r>
              <a:rPr lang="en-US" altLang="en-US" dirty="0" err="1" smtClean="0"/>
              <a:t>thao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tác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chính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Chia </a:t>
            </a:r>
            <a:r>
              <a:rPr lang="en-US" altLang="en-US" dirty="0" err="1" smtClean="0"/>
              <a:t>dãy</a:t>
            </a:r>
            <a:endParaRPr lang="en-US" altLang="en-US" dirty="0" smtClean="0"/>
          </a:p>
          <a:p>
            <a:pPr lvl="1"/>
            <a:r>
              <a:rPr lang="en-US" altLang="en-US" dirty="0" err="1" smtClean="0"/>
              <a:t>Trộn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dãy</a:t>
            </a:r>
            <a:r>
              <a:rPr lang="en-US" altLang="en-US" dirty="0" smtClean="0"/>
              <a:t>  </a:t>
            </a:r>
            <a:r>
              <a:rPr lang="en-US" altLang="en-US" dirty="0" err="1" smtClean="0"/>
              <a:t>kèm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sắp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xếp</a:t>
            </a:r>
            <a:endParaRPr lang="en-US" alt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129" y="1828800"/>
            <a:ext cx="4581794" cy="441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134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770676B-7E69-4EFA-93A8-FCF51AA4D64B}" type="slidenum">
              <a:rPr lang="en-US" altLang="en-US">
                <a:latin typeface="Garamond" panose="02020404030301010803" pitchFamily="18" charset="0"/>
              </a:rPr>
              <a:pPr eaLnBrk="1" hangingPunct="1"/>
              <a:t>39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3.2 </a:t>
            </a:r>
            <a:r>
              <a:rPr lang="en-US" altLang="en-US" dirty="0" err="1" smtClean="0"/>
              <a:t>Sắp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xếp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trộn</a:t>
            </a:r>
            <a:endParaRPr lang="en-US" altLang="en-US" dirty="0" smtClean="0"/>
          </a:p>
        </p:txBody>
      </p:sp>
      <p:sp>
        <p:nvSpPr>
          <p:cNvPr id="29699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sz="2400" dirty="0" err="1" smtClean="0"/>
              <a:t>Cài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đặt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giải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thuật</a:t>
            </a:r>
            <a:r>
              <a:rPr lang="en-US" altLang="en-US" sz="2400" dirty="0" smtClean="0"/>
              <a:t>: </a:t>
            </a:r>
          </a:p>
          <a:p>
            <a:pPr lvl="1"/>
            <a:r>
              <a:rPr lang="en-US" altLang="en-US" sz="2000" dirty="0" smtClean="0"/>
              <a:t>Chia </a:t>
            </a:r>
            <a:r>
              <a:rPr lang="en-US" altLang="en-US" sz="2000" dirty="0" err="1" smtClean="0"/>
              <a:t>dãy</a:t>
            </a:r>
            <a:r>
              <a:rPr lang="en-US" altLang="en-US" sz="2000" dirty="0" smtClean="0"/>
              <a:t> ban </a:t>
            </a:r>
            <a:r>
              <a:rPr lang="en-US" altLang="en-US" sz="2000" dirty="0" err="1" smtClean="0"/>
              <a:t>đầu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thành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hai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dãy</a:t>
            </a:r>
            <a:r>
              <a:rPr lang="en-US" altLang="en-US" sz="2000" dirty="0" smtClean="0"/>
              <a:t> con </a:t>
            </a:r>
            <a:r>
              <a:rPr lang="en-US" altLang="en-US" sz="2000" dirty="0" err="1" smtClean="0"/>
              <a:t>có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kích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thước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khác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nhau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không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quá</a:t>
            </a:r>
            <a:r>
              <a:rPr lang="en-US" altLang="en-US" sz="2000" dirty="0" smtClean="0"/>
              <a:t> 1</a:t>
            </a:r>
          </a:p>
          <a:p>
            <a:pPr lvl="1"/>
            <a:r>
              <a:rPr lang="en-US" altLang="en-US" sz="2000" dirty="0"/>
              <a:t>[</a:t>
            </a:r>
            <a:r>
              <a:rPr lang="en-US" altLang="en-US" sz="2000" dirty="0" err="1" smtClean="0"/>
              <a:t>Sắp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xếp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hai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dãy</a:t>
            </a:r>
            <a:r>
              <a:rPr lang="en-US" altLang="en-US" sz="2000" dirty="0" smtClean="0"/>
              <a:t> con </a:t>
            </a:r>
            <a:r>
              <a:rPr lang="en-US" altLang="en-US" sz="2000" dirty="0" err="1" smtClean="0"/>
              <a:t>trên</a:t>
            </a:r>
            <a:r>
              <a:rPr lang="en-US" altLang="en-US" sz="2000" dirty="0" smtClean="0"/>
              <a:t>]</a:t>
            </a:r>
          </a:p>
          <a:p>
            <a:pPr lvl="1"/>
            <a:r>
              <a:rPr lang="en-US" altLang="en-US" sz="2000" dirty="0" err="1" smtClean="0"/>
              <a:t>Trộn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hai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dãy</a:t>
            </a:r>
            <a:r>
              <a:rPr lang="en-US" altLang="en-US" sz="2000" dirty="0" smtClean="0"/>
              <a:t> con </a:t>
            </a:r>
            <a:r>
              <a:rPr lang="en-US" altLang="en-US" sz="2000" dirty="0" err="1" smtClean="0"/>
              <a:t>đã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sắp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xếp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để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được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dãy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mới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cũng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được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sắp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xếp</a:t>
            </a:r>
            <a:endParaRPr lang="en-US" altLang="en-US" sz="2000" dirty="0" smtClean="0"/>
          </a:p>
          <a:p>
            <a:pPr lvl="1"/>
            <a:endParaRPr lang="en-US" altLang="en-US" sz="2000" dirty="0" smtClean="0"/>
          </a:p>
          <a:p>
            <a:pPr lvl="1"/>
            <a:endParaRPr lang="en-US" altLang="en-US" dirty="0" smtClean="0"/>
          </a:p>
          <a:p>
            <a:endParaRPr lang="en-US" altLang="en-US" dirty="0" smtClean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FBDA13-C745-4771-A026-E185C3739487}"/>
              </a:ext>
            </a:extLst>
          </p:cNvPr>
          <p:cNvSpPr txBox="1">
            <a:spLocks/>
          </p:cNvSpPr>
          <p:nvPr/>
        </p:nvSpPr>
        <p:spPr>
          <a:xfrm>
            <a:off x="1295400" y="2895600"/>
            <a:ext cx="7543800" cy="381000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sortMergePart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DaySo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L,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R) {</a:t>
            </a:r>
          </a:p>
          <a:p>
            <a:pPr marL="0" indent="0"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 = floor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((L 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 R)/2);</a:t>
            </a:r>
          </a:p>
          <a:p>
            <a:pPr marL="0" indent="0"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if (L &lt; m)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sortMergePart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(a,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L, 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if (m + 1 &lt; R)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sortMergePart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(a, m + 1, R);</a:t>
            </a:r>
          </a:p>
          <a:p>
            <a:pPr marL="0" indent="0"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mergePartsXXX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(a,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m, R);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sortMerge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DaySo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n)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sortMergePart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(a, 0, n-1);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67383" y="4876800"/>
            <a:ext cx="1409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Điểm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dừng</a:t>
            </a:r>
            <a:r>
              <a:rPr lang="en-US" b="1" dirty="0" smtClean="0">
                <a:solidFill>
                  <a:srgbClr val="FF0000"/>
                </a:solidFill>
              </a:rPr>
              <a:t> ?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0069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74159FB-4D42-4624-9912-8E20164FE8D8}" type="slidenum">
              <a:rPr lang="en-US" altLang="en-US">
                <a:latin typeface="Garamond" panose="02020404030301010803" pitchFamily="18" charset="0"/>
              </a:rPr>
              <a:pPr eaLnBrk="1" hangingPunct="1"/>
              <a:t>40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 smtClean="0"/>
              <a:t>Giải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thuật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trộn</a:t>
            </a:r>
            <a:r>
              <a:rPr lang="en-US" altLang="en-US" dirty="0" smtClean="0"/>
              <a:t> </a:t>
            </a:r>
            <a:r>
              <a:rPr lang="en-US" altLang="en-US" i="1" dirty="0" err="1" smtClean="0"/>
              <a:t>Sử</a:t>
            </a:r>
            <a:r>
              <a:rPr lang="en-US" altLang="en-US" i="1" dirty="0" smtClean="0"/>
              <a:t> </a:t>
            </a:r>
            <a:r>
              <a:rPr lang="en-US" altLang="en-US" i="1" dirty="0" err="1" smtClean="0"/>
              <a:t>dụng</a:t>
            </a:r>
            <a:r>
              <a:rPr lang="en-US" altLang="en-US" i="1" dirty="0" smtClean="0"/>
              <a:t> </a:t>
            </a:r>
            <a:r>
              <a:rPr lang="en-US" altLang="en-US" i="1" dirty="0" err="1" smtClean="0"/>
              <a:t>bộ</a:t>
            </a:r>
            <a:r>
              <a:rPr lang="en-US" altLang="en-US" i="1" dirty="0" smtClean="0"/>
              <a:t> </a:t>
            </a:r>
            <a:r>
              <a:rPr lang="en-US" altLang="en-US" i="1" dirty="0" err="1" smtClean="0"/>
              <a:t>nhớ</a:t>
            </a:r>
            <a:r>
              <a:rPr lang="en-US" altLang="en-US" i="1" dirty="0" smtClean="0"/>
              <a:t> </a:t>
            </a:r>
            <a:r>
              <a:rPr lang="en-US" altLang="en-US" i="1" dirty="0" err="1" smtClean="0"/>
              <a:t>tạm</a:t>
            </a:r>
            <a:endParaRPr lang="en-US" altLang="en-US" i="1" dirty="0" smtClean="0"/>
          </a:p>
        </p:txBody>
      </p:sp>
      <p:sp>
        <p:nvSpPr>
          <p:cNvPr id="3072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 err="1" smtClean="0"/>
              <a:t>Đầu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vào</a:t>
            </a:r>
            <a:r>
              <a:rPr lang="en-US" altLang="en-US" sz="2400" dirty="0" smtClean="0"/>
              <a:t>: </a:t>
            </a:r>
          </a:p>
          <a:p>
            <a:pPr lvl="1"/>
            <a:r>
              <a:rPr lang="en-US" altLang="en-US" sz="2000" dirty="0" smtClean="0"/>
              <a:t>2 </a:t>
            </a:r>
            <a:r>
              <a:rPr lang="en-US" altLang="en-US" sz="2000" dirty="0" err="1" smtClean="0"/>
              <a:t>dãy</a:t>
            </a:r>
            <a:r>
              <a:rPr lang="en-US" altLang="en-US" sz="2000" dirty="0" smtClean="0"/>
              <a:t> </a:t>
            </a:r>
            <a:r>
              <a:rPr lang="en-US" altLang="en-US" sz="2000" dirty="0"/>
              <a:t>p</a:t>
            </a:r>
            <a:r>
              <a:rPr lang="en-US" altLang="en-US" sz="2000" dirty="0" smtClean="0"/>
              <a:t>=(p</a:t>
            </a:r>
            <a:r>
              <a:rPr lang="en-US" altLang="en-US" sz="2000" baseline="-25000" dirty="0" smtClean="0"/>
              <a:t>0</a:t>
            </a:r>
            <a:r>
              <a:rPr lang="en-US" altLang="en-US" sz="2000" dirty="0" smtClean="0"/>
              <a:t>,p</a:t>
            </a:r>
            <a:r>
              <a:rPr lang="en-US" altLang="en-US" sz="2000" baseline="-25000" dirty="0" smtClean="0"/>
              <a:t>1</a:t>
            </a:r>
            <a:r>
              <a:rPr lang="en-US" altLang="en-US" sz="2000" dirty="0" smtClean="0"/>
              <a:t>,…,p</a:t>
            </a:r>
            <a:r>
              <a:rPr lang="en-US" altLang="en-US" sz="2000" baseline="-25000" dirty="0" smtClean="0"/>
              <a:t>m-1</a:t>
            </a:r>
            <a:r>
              <a:rPr lang="en-US" altLang="en-US" sz="2000" dirty="0" smtClean="0"/>
              <a:t>) </a:t>
            </a:r>
            <a:r>
              <a:rPr lang="en-US" altLang="en-US" sz="2000" dirty="0" err="1" smtClean="0"/>
              <a:t>và</a:t>
            </a:r>
            <a:r>
              <a:rPr lang="en-US" altLang="en-US" sz="2000" dirty="0" smtClean="0"/>
              <a:t> </a:t>
            </a:r>
            <a:r>
              <a:rPr lang="en-US" altLang="en-US" sz="2000" dirty="0"/>
              <a:t>q</a:t>
            </a:r>
            <a:r>
              <a:rPr lang="en-US" altLang="en-US" sz="2000" dirty="0" smtClean="0"/>
              <a:t>=(q</a:t>
            </a:r>
            <a:r>
              <a:rPr lang="en-US" altLang="en-US" sz="2000" baseline="-25000" dirty="0" smtClean="0"/>
              <a:t>0</a:t>
            </a:r>
            <a:r>
              <a:rPr lang="en-US" altLang="en-US" sz="2000" dirty="0" smtClean="0"/>
              <a:t>,q</a:t>
            </a:r>
            <a:r>
              <a:rPr lang="en-US" altLang="en-US" sz="2000" baseline="-25000" dirty="0" smtClean="0"/>
              <a:t>1</a:t>
            </a:r>
            <a:r>
              <a:rPr lang="en-US" altLang="en-US" sz="2000" dirty="0" smtClean="0"/>
              <a:t>,…,q</a:t>
            </a:r>
            <a:r>
              <a:rPr lang="en-US" altLang="en-US" sz="2000" baseline="-25000" dirty="0" smtClean="0"/>
              <a:t>n-1</a:t>
            </a:r>
            <a:r>
              <a:rPr lang="en-US" altLang="en-US" sz="2000" dirty="0" smtClean="0"/>
              <a:t>)  </a:t>
            </a:r>
            <a:r>
              <a:rPr lang="en-US" altLang="en-US" sz="2000" dirty="0" err="1" smtClean="0"/>
              <a:t>đã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được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sắp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xếp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tăng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dần</a:t>
            </a:r>
            <a:endParaRPr lang="en-US" altLang="en-US" sz="2000" dirty="0" smtClean="0"/>
          </a:p>
          <a:p>
            <a:r>
              <a:rPr lang="en-US" altLang="en-US" sz="2400" dirty="0" err="1" smtClean="0"/>
              <a:t>Đầu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ra</a:t>
            </a:r>
            <a:r>
              <a:rPr lang="en-US" altLang="en-US" sz="2400" dirty="0" smtClean="0"/>
              <a:t>: </a:t>
            </a:r>
          </a:p>
          <a:p>
            <a:pPr lvl="1"/>
            <a:r>
              <a:rPr lang="en-US" altLang="en-US" sz="2000" dirty="0" err="1" smtClean="0"/>
              <a:t>Dãy</a:t>
            </a:r>
            <a:r>
              <a:rPr lang="en-US" altLang="en-US" sz="2000" dirty="0" smtClean="0"/>
              <a:t> a=(a</a:t>
            </a:r>
            <a:r>
              <a:rPr lang="en-US" altLang="en-US" sz="2000" baseline="-25000" dirty="0" smtClean="0"/>
              <a:t>0</a:t>
            </a:r>
            <a:r>
              <a:rPr lang="en-US" altLang="en-US" sz="2000" dirty="0" smtClean="0"/>
              <a:t>,a</a:t>
            </a:r>
            <a:r>
              <a:rPr lang="en-US" altLang="en-US" sz="2000" baseline="-25000" dirty="0" smtClean="0"/>
              <a:t>1</a:t>
            </a:r>
            <a:r>
              <a:rPr lang="en-US" altLang="en-US" sz="2000" dirty="0" smtClean="0"/>
              <a:t>,…,a</a:t>
            </a:r>
            <a:r>
              <a:rPr lang="en-US" altLang="en-US" sz="2000" baseline="-25000" dirty="0" smtClean="0"/>
              <a:t>m+n-1</a:t>
            </a:r>
            <a:r>
              <a:rPr lang="en-US" altLang="en-US" sz="2000" dirty="0" smtClean="0"/>
              <a:t>) </a:t>
            </a:r>
            <a:r>
              <a:rPr lang="en-US" altLang="en-US" sz="2000" dirty="0" err="1" smtClean="0"/>
              <a:t>là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kết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quả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trộn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của</a:t>
            </a:r>
            <a:r>
              <a:rPr lang="en-US" altLang="en-US" sz="2000" dirty="0" smtClean="0"/>
              <a:t> p </a:t>
            </a:r>
            <a:r>
              <a:rPr lang="en-US" altLang="en-US" sz="2000" dirty="0" err="1" smtClean="0"/>
              <a:t>và</a:t>
            </a:r>
            <a:r>
              <a:rPr lang="en-US" altLang="en-US" sz="2000" dirty="0" smtClean="0"/>
              <a:t> q </a:t>
            </a:r>
            <a:r>
              <a:rPr lang="en-US" altLang="en-US" sz="2000" dirty="0" err="1" smtClean="0"/>
              <a:t>và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cũng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được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sắp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xếp</a:t>
            </a:r>
            <a:endParaRPr lang="en-US" altLang="en-US" sz="2000" dirty="0" smtClean="0"/>
          </a:p>
          <a:p>
            <a:r>
              <a:rPr lang="en-US" altLang="en-US" sz="2400" dirty="0" err="1" smtClean="0"/>
              <a:t>Giải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thuật</a:t>
            </a:r>
            <a:r>
              <a:rPr lang="en-US" altLang="en-US" sz="2400" dirty="0" smtClean="0"/>
              <a:t>:</a:t>
            </a:r>
          </a:p>
          <a:p>
            <a:pPr lvl="1"/>
            <a:r>
              <a:rPr lang="en-US" altLang="en-US" sz="2000" dirty="0" err="1" smtClean="0"/>
              <a:t>Khởi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tạo</a:t>
            </a:r>
            <a:r>
              <a:rPr lang="en-US" altLang="en-US" sz="2000" dirty="0" smtClean="0"/>
              <a:t>: </a:t>
            </a:r>
            <a:r>
              <a:rPr lang="en-US" altLang="en-US" sz="2000" dirty="0" err="1" smtClean="0"/>
              <a:t>dùng</a:t>
            </a:r>
            <a:r>
              <a:rPr lang="en-US" altLang="en-US" sz="2000" dirty="0" smtClean="0"/>
              <a:t> 2 </a:t>
            </a:r>
            <a:r>
              <a:rPr lang="en-US" altLang="en-US" sz="2000" dirty="0" err="1" smtClean="0"/>
              <a:t>biến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chạy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i</a:t>
            </a:r>
            <a:r>
              <a:rPr lang="en-US" altLang="en-US" sz="2000" dirty="0" smtClean="0"/>
              <a:t>=j=0; a = </a:t>
            </a:r>
            <a:r>
              <a:rPr lang="en-US" altLang="en-US" sz="2000" dirty="0" err="1" smtClean="0"/>
              <a:t>rỗng</a:t>
            </a:r>
            <a:endParaRPr lang="en-US" altLang="en-US" sz="2000" dirty="0" smtClean="0"/>
          </a:p>
          <a:p>
            <a:pPr lvl="1"/>
            <a:r>
              <a:rPr lang="en-US" altLang="en-US" sz="2000" dirty="0" err="1" smtClean="0"/>
              <a:t>Chừng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nào</a:t>
            </a:r>
            <a:r>
              <a:rPr lang="en-US" altLang="en-US" sz="2000" dirty="0" smtClean="0"/>
              <a:t> (</a:t>
            </a:r>
            <a:r>
              <a:rPr lang="en-US" altLang="en-US" sz="2000" dirty="0" err="1" smtClean="0"/>
              <a:t>i</a:t>
            </a:r>
            <a:r>
              <a:rPr lang="en-US" altLang="en-US" sz="2000" dirty="0" smtClean="0"/>
              <a:t>&lt;m </a:t>
            </a:r>
            <a:r>
              <a:rPr lang="en-US" altLang="en-US" sz="2000" dirty="0" err="1" smtClean="0"/>
              <a:t>và</a:t>
            </a:r>
            <a:r>
              <a:rPr lang="en-US" altLang="en-US" sz="2000" dirty="0" smtClean="0"/>
              <a:t> j&lt;n) // 2 </a:t>
            </a:r>
            <a:r>
              <a:rPr lang="en-US" altLang="en-US" sz="2000" dirty="0" err="1" smtClean="0"/>
              <a:t>dãy</a:t>
            </a:r>
            <a:r>
              <a:rPr lang="en-US" altLang="en-US" sz="2000" dirty="0" smtClean="0"/>
              <a:t> p </a:t>
            </a:r>
            <a:r>
              <a:rPr lang="en-US" altLang="en-US" sz="2000" dirty="0" err="1" smtClean="0"/>
              <a:t>và</a:t>
            </a:r>
            <a:r>
              <a:rPr lang="en-US" altLang="en-US" sz="2000" dirty="0" smtClean="0"/>
              <a:t> q </a:t>
            </a:r>
            <a:r>
              <a:rPr lang="en-US" altLang="en-US" sz="2000" dirty="0" err="1" smtClean="0"/>
              <a:t>còn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chưa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được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chạy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hết</a:t>
            </a:r>
            <a:endParaRPr lang="en-US" altLang="en-US" sz="2000" dirty="0" smtClean="0"/>
          </a:p>
          <a:p>
            <a:pPr lvl="2"/>
            <a:r>
              <a:rPr lang="en-US" altLang="en-US" sz="2000" dirty="0" err="1" smtClean="0"/>
              <a:t>Nếu</a:t>
            </a:r>
            <a:r>
              <a:rPr lang="en-US" altLang="en-US" sz="2000" dirty="0" smtClean="0"/>
              <a:t> </a:t>
            </a:r>
            <a:r>
              <a:rPr lang="en-US" altLang="en-US" sz="2000" dirty="0"/>
              <a:t>p</a:t>
            </a:r>
            <a:r>
              <a:rPr lang="en-US" altLang="en-US" sz="2000" baseline="-25000" dirty="0" smtClean="0"/>
              <a:t>i</a:t>
            </a:r>
            <a:r>
              <a:rPr lang="en-US" altLang="en-US" sz="2000" dirty="0" smtClean="0"/>
              <a:t>&lt;=</a:t>
            </a:r>
            <a:r>
              <a:rPr lang="en-US" altLang="en-US" sz="2000" dirty="0" err="1"/>
              <a:t>q</a:t>
            </a:r>
            <a:r>
              <a:rPr lang="en-US" altLang="en-US" sz="2000" baseline="-25000" dirty="0" err="1" smtClean="0"/>
              <a:t>j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thì</a:t>
            </a:r>
            <a:r>
              <a:rPr lang="en-US" altLang="en-US" sz="2000" dirty="0" smtClean="0"/>
              <a:t> { a = a + </a:t>
            </a:r>
            <a:r>
              <a:rPr lang="en-US" altLang="en-US" sz="2000" dirty="0"/>
              <a:t>p</a:t>
            </a:r>
            <a:r>
              <a:rPr lang="en-US" altLang="en-US" sz="2000" dirty="0" smtClean="0"/>
              <a:t>i ; </a:t>
            </a:r>
            <a:r>
              <a:rPr lang="en-US" altLang="en-US" sz="2000" dirty="0" err="1" smtClean="0"/>
              <a:t>i</a:t>
            </a:r>
            <a:r>
              <a:rPr lang="en-US" altLang="en-US" sz="2000" dirty="0" smtClean="0"/>
              <a:t>++; }</a:t>
            </a:r>
          </a:p>
          <a:p>
            <a:pPr lvl="2"/>
            <a:r>
              <a:rPr lang="en-US" altLang="en-US" sz="2000" dirty="0" err="1" smtClean="0"/>
              <a:t>Trái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lại</a:t>
            </a:r>
            <a:r>
              <a:rPr lang="en-US" altLang="en-US" sz="2000" dirty="0" smtClean="0"/>
              <a:t>, </a:t>
            </a:r>
            <a:r>
              <a:rPr lang="en-US" altLang="en-US" sz="2000" dirty="0" err="1" smtClean="0"/>
              <a:t>thì</a:t>
            </a:r>
            <a:r>
              <a:rPr lang="en-US" altLang="en-US" sz="2000" dirty="0" smtClean="0"/>
              <a:t> { </a:t>
            </a:r>
            <a:r>
              <a:rPr lang="en-US" altLang="en-US" sz="2000" dirty="0"/>
              <a:t>a</a:t>
            </a:r>
            <a:r>
              <a:rPr lang="en-US" altLang="en-US" sz="2000" dirty="0" smtClean="0"/>
              <a:t> = </a:t>
            </a:r>
            <a:r>
              <a:rPr lang="en-US" altLang="en-US" sz="2000" dirty="0" err="1" smtClean="0"/>
              <a:t>a+q</a:t>
            </a:r>
            <a:r>
              <a:rPr lang="en-US" altLang="en-US" sz="2000" baseline="-25000" dirty="0" err="1" smtClean="0"/>
              <a:t>j</a:t>
            </a:r>
            <a:r>
              <a:rPr lang="en-US" altLang="en-US" sz="2000" dirty="0" smtClean="0"/>
              <a:t> ; </a:t>
            </a:r>
            <a:r>
              <a:rPr lang="en-US" altLang="en-US" sz="2000" dirty="0" err="1" smtClean="0"/>
              <a:t>j++</a:t>
            </a:r>
            <a:r>
              <a:rPr lang="en-US" altLang="en-US" sz="2000" dirty="0" smtClean="0"/>
              <a:t>; }</a:t>
            </a:r>
            <a:endParaRPr lang="en-US" altLang="en-US" sz="2000" baseline="-25000" dirty="0" smtClean="0"/>
          </a:p>
          <a:p>
            <a:pPr lvl="1"/>
            <a:r>
              <a:rPr lang="en-US" altLang="en-US" sz="2000" dirty="0" err="1" smtClean="0"/>
              <a:t>Nếu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i</a:t>
            </a:r>
            <a:r>
              <a:rPr lang="en-US" altLang="en-US" sz="2000" dirty="0" smtClean="0"/>
              <a:t> ≥ m (</a:t>
            </a:r>
            <a:r>
              <a:rPr lang="en-US" altLang="en-US" sz="2000" dirty="0" err="1" smtClean="0"/>
              <a:t>dãy</a:t>
            </a:r>
            <a:r>
              <a:rPr lang="en-US" altLang="en-US" sz="2000" dirty="0" smtClean="0"/>
              <a:t> p </a:t>
            </a:r>
            <a:r>
              <a:rPr lang="en-US" altLang="en-US" sz="2000" dirty="0" err="1" smtClean="0"/>
              <a:t>đã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được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chạy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hết</a:t>
            </a:r>
            <a:r>
              <a:rPr lang="en-US" altLang="en-US" sz="2000" dirty="0" smtClean="0"/>
              <a:t>) </a:t>
            </a:r>
            <a:r>
              <a:rPr lang="en-US" altLang="en-US" sz="2000" dirty="0" err="1" smtClean="0"/>
              <a:t>thì</a:t>
            </a:r>
            <a:r>
              <a:rPr lang="en-US" altLang="en-US" sz="2000" dirty="0" smtClean="0"/>
              <a:t> a=a+(q</a:t>
            </a:r>
            <a:r>
              <a:rPr lang="en-US" altLang="en-US" sz="2000" baseline="-25000" dirty="0" smtClean="0"/>
              <a:t>j</a:t>
            </a:r>
            <a:r>
              <a:rPr lang="en-US" altLang="en-US" sz="2000" dirty="0" smtClean="0"/>
              <a:t>,q</a:t>
            </a:r>
            <a:r>
              <a:rPr lang="en-US" altLang="en-US" sz="2000" baseline="-25000" dirty="0" smtClean="0"/>
              <a:t>j+1</a:t>
            </a:r>
            <a:r>
              <a:rPr lang="en-US" altLang="en-US" sz="2000" dirty="0" smtClean="0"/>
              <a:t>,…,q</a:t>
            </a:r>
            <a:r>
              <a:rPr lang="en-US" altLang="en-US" sz="2000" baseline="-25000" dirty="0" smtClean="0"/>
              <a:t>n-1</a:t>
            </a:r>
            <a:r>
              <a:rPr lang="en-US" altLang="en-US" sz="2000" dirty="0" smtClean="0"/>
              <a:t>)</a:t>
            </a:r>
          </a:p>
          <a:p>
            <a:pPr lvl="1"/>
            <a:r>
              <a:rPr lang="en-US" altLang="en-US" sz="2000" dirty="0" err="1" smtClean="0"/>
              <a:t>Trái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lại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thì</a:t>
            </a:r>
            <a:r>
              <a:rPr lang="en-US" altLang="en-US" sz="2000" dirty="0" smtClean="0"/>
              <a:t> a=a+(p</a:t>
            </a:r>
            <a:r>
              <a:rPr lang="en-US" altLang="en-US" sz="2000" baseline="-25000" dirty="0" smtClean="0"/>
              <a:t>i</a:t>
            </a:r>
            <a:r>
              <a:rPr lang="en-US" altLang="en-US" sz="2000" dirty="0" smtClean="0"/>
              <a:t>,p</a:t>
            </a:r>
            <a:r>
              <a:rPr lang="en-US" altLang="en-US" sz="2000" baseline="-25000" dirty="0" smtClean="0"/>
              <a:t>i+1</a:t>
            </a:r>
            <a:r>
              <a:rPr lang="en-US" altLang="en-US" sz="2000" dirty="0" smtClean="0"/>
              <a:t>,…,p</a:t>
            </a:r>
            <a:r>
              <a:rPr lang="en-US" altLang="en-US" sz="2000" baseline="-25000" dirty="0" smtClean="0"/>
              <a:t>m-1</a:t>
            </a:r>
            <a:r>
              <a:rPr lang="en-US" altLang="en-US" sz="2000" dirty="0" smtClean="0"/>
              <a:t>)</a:t>
            </a:r>
          </a:p>
          <a:p>
            <a:pPr lvl="2"/>
            <a:endParaRPr lang="en-US" alt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5170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74159FB-4D42-4624-9912-8E20164FE8D8}" type="slidenum">
              <a:rPr lang="en-US" altLang="en-US">
                <a:latin typeface="Garamond" panose="02020404030301010803" pitchFamily="18" charset="0"/>
              </a:rPr>
              <a:pPr eaLnBrk="1" hangingPunct="1"/>
              <a:t>41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 smtClean="0"/>
              <a:t>Giải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thuật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trộn</a:t>
            </a:r>
            <a:r>
              <a:rPr lang="en-US" altLang="en-US" dirty="0" smtClean="0"/>
              <a:t> </a:t>
            </a:r>
            <a:r>
              <a:rPr lang="en-US" altLang="en-US" i="1" dirty="0" err="1" smtClean="0"/>
              <a:t>Sử</a:t>
            </a:r>
            <a:r>
              <a:rPr lang="en-US" altLang="en-US" i="1" dirty="0" smtClean="0"/>
              <a:t> </a:t>
            </a:r>
            <a:r>
              <a:rPr lang="en-US" altLang="en-US" i="1" dirty="0" err="1" smtClean="0"/>
              <a:t>dụng</a:t>
            </a:r>
            <a:r>
              <a:rPr lang="en-US" altLang="en-US" i="1" dirty="0" smtClean="0"/>
              <a:t> </a:t>
            </a:r>
            <a:r>
              <a:rPr lang="en-US" altLang="en-US" i="1" dirty="0" err="1" smtClean="0"/>
              <a:t>bộ</a:t>
            </a:r>
            <a:r>
              <a:rPr lang="en-US" altLang="en-US" i="1" dirty="0" smtClean="0"/>
              <a:t> </a:t>
            </a:r>
            <a:r>
              <a:rPr lang="en-US" altLang="en-US" i="1" dirty="0" err="1" smtClean="0"/>
              <a:t>nhớ</a:t>
            </a:r>
            <a:r>
              <a:rPr lang="en-US" altLang="en-US" i="1" dirty="0" smtClean="0"/>
              <a:t> </a:t>
            </a:r>
            <a:r>
              <a:rPr lang="en-US" altLang="en-US" i="1" dirty="0" err="1" smtClean="0"/>
              <a:t>tạm</a:t>
            </a:r>
            <a:endParaRPr lang="en-US" altLang="en-US" i="1" dirty="0" smtClean="0"/>
          </a:p>
        </p:txBody>
      </p:sp>
      <p:sp>
        <p:nvSpPr>
          <p:cNvPr id="2" name="Rectangle 1"/>
          <p:cNvSpPr/>
          <p:nvPr/>
        </p:nvSpPr>
        <p:spPr>
          <a:xfrm>
            <a:off x="914400" y="1079703"/>
            <a:ext cx="8153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mergeParts_aux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DaySo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l,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m,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m - l +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1; //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số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mảng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trái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r - m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    //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số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mảng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phải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p[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a[l]..a[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l+pn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q[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qn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a[m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1]..a[m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+ 1 +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qn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// i: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duyệt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mảng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p, j: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duyệt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mảng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q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for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0, j = 0;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|| j 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|| (j 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&amp;&amp; p[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&gt; q[j]))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a[l +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j] = q[j];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else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a[l +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j] = p[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54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74159FB-4D42-4624-9912-8E20164FE8D8}" type="slidenum">
              <a:rPr lang="en-US" altLang="en-US">
                <a:latin typeface="Garamond" panose="02020404030301010803" pitchFamily="18" charset="0"/>
              </a:rPr>
              <a:pPr eaLnBrk="1" hangingPunct="1"/>
              <a:t>42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 smtClean="0"/>
              <a:t>Giải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thuật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trộn</a:t>
            </a:r>
            <a:r>
              <a:rPr lang="en-US" altLang="en-US" dirty="0" smtClean="0"/>
              <a:t> </a:t>
            </a:r>
            <a:r>
              <a:rPr lang="en-US" altLang="en-US" i="1" dirty="0" err="1" smtClean="0"/>
              <a:t>Tại</a:t>
            </a:r>
            <a:r>
              <a:rPr lang="en-US" altLang="en-US" i="1" dirty="0" smtClean="0"/>
              <a:t> </a:t>
            </a:r>
            <a:r>
              <a:rPr lang="en-US" altLang="en-US" i="1" dirty="0" err="1" smtClean="0"/>
              <a:t>chỗ</a:t>
            </a:r>
            <a:endParaRPr lang="en-US" altLang="en-US" i="1" dirty="0" smtClean="0"/>
          </a:p>
        </p:txBody>
      </p:sp>
      <p:sp>
        <p:nvSpPr>
          <p:cNvPr id="3072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 smtClean="0"/>
              <a:t>Do 2 </a:t>
            </a:r>
            <a:r>
              <a:rPr lang="en-US" altLang="en-US" sz="2400" dirty="0" err="1" smtClean="0"/>
              <a:t>mảng</a:t>
            </a:r>
            <a:r>
              <a:rPr lang="en-US" altLang="en-US" sz="2400" dirty="0" smtClean="0"/>
              <a:t> p </a:t>
            </a:r>
            <a:r>
              <a:rPr lang="en-US" altLang="en-US" sz="2400" dirty="0" err="1" smtClean="0"/>
              <a:t>và</a:t>
            </a:r>
            <a:r>
              <a:rPr lang="en-US" altLang="en-US" sz="2400" dirty="0" smtClean="0"/>
              <a:t> q </a:t>
            </a:r>
            <a:r>
              <a:rPr lang="en-US" altLang="en-US" sz="2400" dirty="0" err="1" smtClean="0"/>
              <a:t>là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liên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tục</a:t>
            </a:r>
            <a:r>
              <a:rPr lang="en-US" altLang="en-US" sz="2400" dirty="0" smtClean="0"/>
              <a:t>, </a:t>
            </a:r>
            <a:r>
              <a:rPr lang="en-US" altLang="en-US" sz="2400" dirty="0" err="1" smtClean="0"/>
              <a:t>phép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trộn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thực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hiện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ngay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trên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mảng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đầu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vào</a:t>
            </a:r>
            <a:r>
              <a:rPr lang="en-US" altLang="en-US" sz="2400" dirty="0" smtClean="0"/>
              <a:t> a, </a:t>
            </a:r>
            <a:r>
              <a:rPr lang="en-US" altLang="en-US" sz="2400" dirty="0" err="1" smtClean="0"/>
              <a:t>dựa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trên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việc</a:t>
            </a:r>
            <a:r>
              <a:rPr lang="en-US" altLang="en-US" sz="2400" dirty="0" smtClean="0"/>
              <a:t> so </a:t>
            </a:r>
            <a:r>
              <a:rPr lang="en-US" altLang="en-US" sz="2400" dirty="0" err="1" smtClean="0"/>
              <a:t>sánh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và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đẩy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lùi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phần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tử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về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phía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sau</a:t>
            </a:r>
            <a:endParaRPr lang="en-US" altLang="en-US" sz="2400" dirty="0" smtClean="0"/>
          </a:p>
          <a:p>
            <a:pPr lvl="2"/>
            <a:endParaRPr lang="en-US" altLang="en-US" sz="1600" dirty="0" smtClean="0"/>
          </a:p>
        </p:txBody>
      </p:sp>
      <p:sp>
        <p:nvSpPr>
          <p:cNvPr id="2" name="Rectangle 1"/>
          <p:cNvSpPr/>
          <p:nvPr/>
        </p:nvSpPr>
        <p:spPr>
          <a:xfrm>
            <a:off x="990600" y="2083992"/>
            <a:ext cx="76962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mergeParts_inPlace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DaySo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l,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m,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for (; m &lt; r; m++)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t = a[m+1];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m;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&gt;= l &amp;&amp; a[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&gt; 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a[i+1] = a[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a[i+1] = 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4718812"/>
            <a:ext cx="5038609" cy="14266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10400" y="5339004"/>
            <a:ext cx="3097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smtClean="0">
                <a:solidFill>
                  <a:schemeClr val="accent1">
                    <a:lumMod val="75000"/>
                  </a:schemeClr>
                </a:solidFill>
              </a:rPr>
              <a:t>t</a:t>
            </a:r>
            <a:endParaRPr lang="en-US" sz="2800" i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32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3.2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/>
              <a:t>trộn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dirty="0" err="1" smtClean="0"/>
              <a:t>Đánh</a:t>
            </a:r>
            <a:r>
              <a:rPr lang="en-US" sz="2400" dirty="0" smtClean="0"/>
              <a:t> </a:t>
            </a:r>
            <a:r>
              <a:rPr lang="en-US" sz="2400" dirty="0" err="1" smtClean="0"/>
              <a:t>giá</a:t>
            </a:r>
            <a:r>
              <a:rPr lang="en-US" sz="2400" dirty="0" smtClean="0"/>
              <a:t>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thuật</a:t>
            </a:r>
            <a:endParaRPr lang="en-US" sz="2400" dirty="0" smtClean="0"/>
          </a:p>
          <a:p>
            <a:endParaRPr lang="en-US" sz="2300" dirty="0" smtClean="0"/>
          </a:p>
          <a:p>
            <a:endParaRPr lang="en-US" sz="2300" dirty="0"/>
          </a:p>
          <a:p>
            <a:endParaRPr lang="en-US" sz="2300" dirty="0" smtClean="0"/>
          </a:p>
          <a:p>
            <a:endParaRPr lang="en-US" sz="2300" dirty="0" smtClean="0"/>
          </a:p>
          <a:p>
            <a:r>
              <a:rPr lang="en-US" sz="2300" dirty="0" err="1" smtClean="0"/>
              <a:t>Nhận</a:t>
            </a:r>
            <a:r>
              <a:rPr lang="en-US" sz="2300" dirty="0" smtClean="0"/>
              <a:t> </a:t>
            </a:r>
            <a:r>
              <a:rPr lang="en-US" sz="2300" dirty="0" err="1" smtClean="0"/>
              <a:t>xét</a:t>
            </a:r>
            <a:r>
              <a:rPr lang="en-US" sz="2300" dirty="0" smtClean="0"/>
              <a:t>:</a:t>
            </a:r>
          </a:p>
          <a:p>
            <a:pPr lvl="1"/>
            <a:r>
              <a:rPr lang="en-US" sz="2000" dirty="0" err="1" smtClean="0"/>
              <a:t>Giải</a:t>
            </a:r>
            <a:r>
              <a:rPr lang="en-US" sz="2000" dirty="0" smtClean="0"/>
              <a:t> </a:t>
            </a:r>
            <a:r>
              <a:rPr lang="en-US" sz="2000" dirty="0" err="1" smtClean="0"/>
              <a:t>thuật</a:t>
            </a:r>
            <a:r>
              <a:rPr lang="en-US" sz="2000" dirty="0" smtClean="0"/>
              <a:t> </a:t>
            </a:r>
            <a:r>
              <a:rPr lang="en-US" sz="2000" dirty="0" err="1" smtClean="0"/>
              <a:t>trộn</a:t>
            </a:r>
            <a:r>
              <a:rPr lang="en-US" sz="2000" dirty="0" smtClean="0"/>
              <a:t> </a:t>
            </a:r>
            <a:r>
              <a:rPr lang="en-US" sz="2000" dirty="0" err="1" smtClean="0"/>
              <a:t>sử</a:t>
            </a:r>
            <a:r>
              <a:rPr lang="en-US" sz="2000" dirty="0" smtClean="0"/>
              <a:t> </a:t>
            </a:r>
            <a:r>
              <a:rPr lang="en-US" sz="2000" dirty="0" err="1" smtClean="0"/>
              <a:t>dụng</a:t>
            </a:r>
            <a:r>
              <a:rPr lang="en-US" sz="2000" dirty="0" smtClean="0"/>
              <a:t> </a:t>
            </a:r>
            <a:r>
              <a:rPr lang="en-US" sz="2000" dirty="0" err="1" smtClean="0"/>
              <a:t>bộ</a:t>
            </a:r>
            <a:r>
              <a:rPr lang="en-US" sz="2000" dirty="0" smtClean="0"/>
              <a:t> </a:t>
            </a:r>
            <a:r>
              <a:rPr lang="en-US" sz="2000" dirty="0" err="1" smtClean="0"/>
              <a:t>nhớ</a:t>
            </a:r>
            <a:r>
              <a:rPr lang="en-US" sz="2000" dirty="0" smtClean="0"/>
              <a:t> </a:t>
            </a:r>
            <a:r>
              <a:rPr lang="en-US" sz="2000" dirty="0" err="1" smtClean="0"/>
              <a:t>tạm</a:t>
            </a:r>
            <a:r>
              <a:rPr lang="en-US" sz="2000" dirty="0" smtClean="0"/>
              <a:t> </a:t>
            </a:r>
            <a:r>
              <a:rPr lang="en-US" sz="2000" dirty="0" err="1" smtClean="0"/>
              <a:t>dùng</a:t>
            </a:r>
            <a:r>
              <a:rPr lang="en-US" sz="2000" dirty="0" smtClean="0"/>
              <a:t> </a:t>
            </a:r>
            <a:r>
              <a:rPr lang="en-US" sz="2000" dirty="0" err="1" smtClean="0"/>
              <a:t>thêm</a:t>
            </a:r>
            <a:r>
              <a:rPr lang="en-US" sz="2000" dirty="0" smtClean="0"/>
              <a:t> </a:t>
            </a:r>
            <a:r>
              <a:rPr lang="en-US" sz="2000" dirty="0" err="1" smtClean="0"/>
              <a:t>bộ</a:t>
            </a:r>
            <a:r>
              <a:rPr lang="en-US" sz="2000" dirty="0" smtClean="0"/>
              <a:t> </a:t>
            </a:r>
            <a:r>
              <a:rPr lang="en-US" sz="2000" dirty="0" err="1" smtClean="0"/>
              <a:t>nhớ</a:t>
            </a:r>
            <a:r>
              <a:rPr lang="en-US" sz="2000" dirty="0" smtClean="0"/>
              <a:t> </a:t>
            </a:r>
            <a:r>
              <a:rPr lang="en-US" sz="2000" dirty="0" err="1" smtClean="0"/>
              <a:t>O</a:t>
            </a:r>
            <a:r>
              <a:rPr lang="en-US" sz="2000" baseline="-25000" dirty="0" err="1" smtClean="0"/>
              <a:t>memory</a:t>
            </a:r>
            <a:r>
              <a:rPr lang="en-US" sz="2000" dirty="0" smtClean="0"/>
              <a:t>(n) </a:t>
            </a:r>
            <a:r>
              <a:rPr lang="en-US" sz="2000" dirty="0" err="1" smtClean="0"/>
              <a:t>nhưng</a:t>
            </a:r>
            <a:r>
              <a:rPr lang="en-US" sz="2000" dirty="0" smtClean="0"/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thời</a:t>
            </a:r>
            <a:r>
              <a:rPr lang="en-US" sz="2000" dirty="0" smtClean="0"/>
              <a:t> </a:t>
            </a:r>
            <a:r>
              <a:rPr lang="en-US" sz="2000" dirty="0" err="1" smtClean="0"/>
              <a:t>gian</a:t>
            </a:r>
            <a:r>
              <a:rPr lang="en-US" sz="2000" dirty="0" smtClean="0"/>
              <a:t> </a:t>
            </a:r>
            <a:r>
              <a:rPr lang="en-US" sz="2000" dirty="0" err="1" smtClean="0"/>
              <a:t>tính</a:t>
            </a:r>
            <a:r>
              <a:rPr lang="en-US" sz="2000" dirty="0" smtClean="0"/>
              <a:t> </a:t>
            </a:r>
            <a:r>
              <a:rPr lang="en-US" sz="2000" dirty="0" err="1" smtClean="0"/>
              <a:t>toán</a:t>
            </a:r>
            <a:r>
              <a:rPr lang="en-US" sz="2000" dirty="0" smtClean="0"/>
              <a:t> </a:t>
            </a:r>
            <a:r>
              <a:rPr lang="en-US" sz="2000" dirty="0" err="1" smtClean="0"/>
              <a:t>ít</a:t>
            </a:r>
            <a:r>
              <a:rPr lang="en-US" sz="2000" dirty="0" smtClean="0"/>
              <a:t> </a:t>
            </a:r>
            <a:r>
              <a:rPr lang="en-US" sz="2000" dirty="0" err="1" smtClean="0"/>
              <a:t>hơn</a:t>
            </a:r>
            <a:r>
              <a:rPr lang="en-US" sz="2000" dirty="0" smtClean="0"/>
              <a:t> </a:t>
            </a:r>
            <a:r>
              <a:rPr lang="en-US" sz="2000" dirty="0" err="1" smtClean="0"/>
              <a:t>giải</a:t>
            </a:r>
            <a:r>
              <a:rPr lang="en-US" sz="2000" dirty="0" smtClean="0"/>
              <a:t> </a:t>
            </a:r>
            <a:r>
              <a:rPr lang="en-US" sz="2000" dirty="0" err="1" smtClean="0"/>
              <a:t>thuật</a:t>
            </a:r>
            <a:r>
              <a:rPr lang="en-US" sz="2000" dirty="0" smtClean="0"/>
              <a:t> </a:t>
            </a:r>
            <a:r>
              <a:rPr lang="en-US" sz="2000" dirty="0" err="1" smtClean="0"/>
              <a:t>trộn</a:t>
            </a:r>
            <a:r>
              <a:rPr lang="en-US" sz="2000" dirty="0" smtClean="0"/>
              <a:t> </a:t>
            </a:r>
            <a:r>
              <a:rPr lang="en-US" sz="2000" dirty="0" err="1" smtClean="0"/>
              <a:t>tại</a:t>
            </a:r>
            <a:r>
              <a:rPr lang="en-US" sz="2000" dirty="0" smtClean="0"/>
              <a:t> </a:t>
            </a:r>
            <a:r>
              <a:rPr lang="en-US" sz="2000" dirty="0" err="1" smtClean="0"/>
              <a:t>chỗ</a:t>
            </a:r>
            <a:r>
              <a:rPr lang="en-US" sz="2000" dirty="0" smtClean="0"/>
              <a:t> O(nlog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n)</a:t>
            </a:r>
          </a:p>
          <a:p>
            <a:pPr lvl="1"/>
            <a:r>
              <a:rPr lang="en-US" sz="2000" dirty="0" err="1" smtClean="0"/>
              <a:t>Giải</a:t>
            </a:r>
            <a:r>
              <a:rPr lang="en-US" sz="2000" dirty="0" smtClean="0"/>
              <a:t> </a:t>
            </a:r>
            <a:r>
              <a:rPr lang="en-US" sz="2000" dirty="0" err="1" smtClean="0"/>
              <a:t>thuật</a:t>
            </a:r>
            <a:r>
              <a:rPr lang="en-US" sz="2000" dirty="0" smtClean="0"/>
              <a:t> </a:t>
            </a:r>
            <a:r>
              <a:rPr lang="en-US" sz="2000" dirty="0" err="1" smtClean="0"/>
              <a:t>trộn</a:t>
            </a:r>
            <a:r>
              <a:rPr lang="en-US" sz="2000" dirty="0" smtClean="0"/>
              <a:t> </a:t>
            </a:r>
            <a:r>
              <a:rPr lang="en-US" sz="2000" dirty="0" err="1" smtClean="0"/>
              <a:t>tại</a:t>
            </a:r>
            <a:r>
              <a:rPr lang="en-US" sz="2000" dirty="0" smtClean="0"/>
              <a:t> </a:t>
            </a:r>
            <a:r>
              <a:rPr lang="en-US" sz="2000" dirty="0" err="1" smtClean="0"/>
              <a:t>chỗ</a:t>
            </a:r>
            <a:r>
              <a:rPr lang="en-US" sz="2000" dirty="0" smtClean="0"/>
              <a:t> </a:t>
            </a:r>
            <a:r>
              <a:rPr lang="en-US" sz="2000" dirty="0" err="1" smtClean="0"/>
              <a:t>không</a:t>
            </a:r>
            <a:r>
              <a:rPr lang="en-US" sz="2000" dirty="0" smtClean="0"/>
              <a:t> </a:t>
            </a:r>
            <a:r>
              <a:rPr lang="en-US" sz="2000" dirty="0" err="1" smtClean="0"/>
              <a:t>dùng</a:t>
            </a:r>
            <a:r>
              <a:rPr lang="en-US" sz="2000" dirty="0" smtClean="0"/>
              <a:t> </a:t>
            </a:r>
            <a:r>
              <a:rPr lang="en-US" sz="2000" dirty="0" err="1" smtClean="0"/>
              <a:t>thêm</a:t>
            </a:r>
            <a:r>
              <a:rPr lang="en-US" sz="2000" dirty="0" smtClean="0"/>
              <a:t> </a:t>
            </a:r>
            <a:r>
              <a:rPr lang="en-US" sz="2000" dirty="0" err="1" smtClean="0"/>
              <a:t>bộ</a:t>
            </a:r>
            <a:r>
              <a:rPr lang="en-US" sz="2000" dirty="0" smtClean="0"/>
              <a:t> </a:t>
            </a:r>
            <a:r>
              <a:rPr lang="en-US" sz="2000" dirty="0" err="1" smtClean="0"/>
              <a:t>nhớ</a:t>
            </a:r>
            <a:r>
              <a:rPr lang="en-US" sz="2000" dirty="0" smtClean="0"/>
              <a:t> </a:t>
            </a:r>
            <a:r>
              <a:rPr lang="en-US" sz="2000" dirty="0" err="1" smtClean="0"/>
              <a:t>O</a:t>
            </a:r>
            <a:r>
              <a:rPr lang="en-US" sz="2000" baseline="-25000" dirty="0" err="1" smtClean="0"/>
              <a:t>memory</a:t>
            </a:r>
            <a:r>
              <a:rPr lang="en-US" sz="2000" dirty="0" smtClean="0"/>
              <a:t>(1) </a:t>
            </a:r>
            <a:r>
              <a:rPr lang="en-US" sz="2000" dirty="0" err="1" smtClean="0"/>
              <a:t>nhưng</a:t>
            </a:r>
            <a:r>
              <a:rPr lang="en-US" sz="2000" dirty="0" smtClean="0"/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thời</a:t>
            </a:r>
            <a:r>
              <a:rPr lang="en-US" sz="2000" dirty="0" smtClean="0"/>
              <a:t> </a:t>
            </a:r>
            <a:r>
              <a:rPr lang="en-US" sz="2000" dirty="0" err="1" smtClean="0"/>
              <a:t>gian</a:t>
            </a:r>
            <a:r>
              <a:rPr lang="en-US" sz="2000" dirty="0" smtClean="0"/>
              <a:t> </a:t>
            </a:r>
            <a:r>
              <a:rPr lang="en-US" sz="2000" dirty="0" err="1" smtClean="0"/>
              <a:t>tính</a:t>
            </a:r>
            <a:r>
              <a:rPr lang="en-US" sz="2000" dirty="0" smtClean="0"/>
              <a:t> </a:t>
            </a:r>
            <a:r>
              <a:rPr lang="en-US" sz="2000" dirty="0" err="1" smtClean="0"/>
              <a:t>toán</a:t>
            </a:r>
            <a:r>
              <a:rPr lang="en-US" sz="2000" dirty="0" smtClean="0"/>
              <a:t> </a:t>
            </a:r>
            <a:r>
              <a:rPr lang="en-US" sz="2000" dirty="0" err="1" smtClean="0"/>
              <a:t>cao</a:t>
            </a:r>
            <a:r>
              <a:rPr lang="en-US" sz="2000" dirty="0" smtClean="0"/>
              <a:t> </a:t>
            </a:r>
            <a:r>
              <a:rPr lang="en-US" sz="2000" dirty="0" err="1" smtClean="0"/>
              <a:t>hơn</a:t>
            </a:r>
            <a:r>
              <a:rPr lang="en-US" sz="2000" dirty="0" smtClean="0"/>
              <a:t> </a:t>
            </a:r>
            <a:r>
              <a:rPr lang="en-US" sz="2000" dirty="0" err="1" smtClean="0"/>
              <a:t>giải</a:t>
            </a:r>
            <a:r>
              <a:rPr lang="en-US" sz="2000" dirty="0" smtClean="0"/>
              <a:t> </a:t>
            </a:r>
            <a:r>
              <a:rPr lang="en-US" sz="2000" dirty="0" err="1" smtClean="0"/>
              <a:t>thuật</a:t>
            </a:r>
            <a:r>
              <a:rPr lang="en-US" sz="2000" dirty="0" smtClean="0"/>
              <a:t> </a:t>
            </a:r>
            <a:r>
              <a:rPr lang="en-US" sz="2000" dirty="0" err="1" smtClean="0"/>
              <a:t>sử</a:t>
            </a:r>
            <a:r>
              <a:rPr lang="en-US" sz="2000" dirty="0" smtClean="0"/>
              <a:t> </a:t>
            </a:r>
            <a:r>
              <a:rPr lang="en-US" sz="2000" dirty="0" err="1" smtClean="0"/>
              <a:t>dụng</a:t>
            </a:r>
            <a:r>
              <a:rPr lang="en-US" sz="2000" dirty="0" smtClean="0"/>
              <a:t> </a:t>
            </a:r>
            <a:r>
              <a:rPr lang="en-US" sz="2000" dirty="0" err="1" smtClean="0"/>
              <a:t>bô</a:t>
            </a:r>
            <a:r>
              <a:rPr lang="en-US" sz="2000" dirty="0" smtClean="0"/>
              <a:t> </a:t>
            </a:r>
            <a:r>
              <a:rPr lang="en-US" sz="2000" dirty="0" err="1" smtClean="0"/>
              <a:t>nhớ</a:t>
            </a:r>
            <a:r>
              <a:rPr lang="en-US" sz="2000" dirty="0" smtClean="0"/>
              <a:t> </a:t>
            </a:r>
            <a:r>
              <a:rPr lang="en-US" sz="2000" dirty="0" err="1" smtClean="0"/>
              <a:t>tạm</a:t>
            </a:r>
            <a:r>
              <a:rPr lang="en-US" sz="2000" dirty="0" smtClean="0"/>
              <a:t>  O(n</a:t>
            </a:r>
            <a:r>
              <a:rPr lang="en-US" sz="2000" baseline="30000" dirty="0" smtClean="0"/>
              <a:t>2</a:t>
            </a:r>
            <a:r>
              <a:rPr lang="en-US" sz="2000" dirty="0" smtClean="0"/>
              <a:t>log</a:t>
            </a:r>
            <a:r>
              <a:rPr lang="en-US" sz="2000" baseline="30000" dirty="0" smtClean="0"/>
              <a:t>2</a:t>
            </a:r>
            <a:r>
              <a:rPr lang="en-US" sz="2000" dirty="0" smtClean="0"/>
              <a:t>n)</a:t>
            </a:r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888" y="1360161"/>
            <a:ext cx="5373452" cy="161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656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5E51BAA-D2E3-4F30-AC8B-5B642D78B0DC}" type="slidenum">
              <a:rPr lang="en-US" altLang="en-US">
                <a:latin typeface="Garamond" panose="02020404030301010803" pitchFamily="18" charset="0"/>
              </a:rPr>
              <a:pPr eaLnBrk="1" hangingPunct="1"/>
              <a:t>44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3.3 </a:t>
            </a:r>
            <a:r>
              <a:rPr lang="en-US" altLang="en-US" dirty="0" err="1" smtClean="0"/>
              <a:t>Sắp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xếp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vun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đống</a:t>
            </a:r>
            <a:r>
              <a:rPr lang="en-US" altLang="en-US" dirty="0" smtClean="0"/>
              <a:t> (</a:t>
            </a:r>
            <a:r>
              <a:rPr lang="en-US" altLang="en-US" i="1" dirty="0" smtClean="0"/>
              <a:t>Heap Sort</a:t>
            </a:r>
            <a:r>
              <a:rPr lang="en-US" altLang="en-US" dirty="0" smtClean="0"/>
              <a:t>)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sz="2400" dirty="0" err="1" smtClean="0"/>
              <a:t>Một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số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khái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niệm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cơ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bản</a:t>
            </a:r>
            <a:endParaRPr lang="en-US" altLang="en-US" sz="2400" dirty="0" smtClean="0"/>
          </a:p>
          <a:p>
            <a:pPr lvl="1"/>
            <a:r>
              <a:rPr lang="en-US" altLang="en-US" sz="2400" b="1" dirty="0" err="1" smtClean="0"/>
              <a:t>Đống</a:t>
            </a:r>
            <a:r>
              <a:rPr lang="en-US" altLang="en-US" sz="2400" dirty="0" smtClean="0"/>
              <a:t> (Heap) hay </a:t>
            </a:r>
            <a:r>
              <a:rPr lang="vi-VN" altLang="en-US" sz="2400" i="1" dirty="0" smtClean="0"/>
              <a:t>cây </a:t>
            </a:r>
            <a:r>
              <a:rPr lang="vi-VN" altLang="en-US" sz="2400" i="1" dirty="0"/>
              <a:t>thứ tự bộ </a:t>
            </a:r>
            <a:r>
              <a:rPr lang="vi-VN" altLang="en-US" sz="2400" i="1" dirty="0" smtClean="0"/>
              <a:t>phận</a:t>
            </a:r>
            <a:r>
              <a:rPr lang="en-US" altLang="en-US" sz="2400" dirty="0" smtClean="0"/>
              <a:t>: </a:t>
            </a:r>
            <a:r>
              <a:rPr lang="en-US" altLang="en-US" sz="2400" dirty="0" err="1" smtClean="0"/>
              <a:t>Là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một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cây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nhị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phân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hoàn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chỉnh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mà</a:t>
            </a:r>
            <a:r>
              <a:rPr lang="en-US" altLang="en-US" sz="2400" dirty="0" smtClean="0"/>
              <a:t> </a:t>
            </a:r>
            <a:r>
              <a:rPr lang="en-US" altLang="en-US" sz="2400" i="1" dirty="0" err="1" smtClean="0"/>
              <a:t>mọi</a:t>
            </a:r>
            <a:r>
              <a:rPr lang="en-US" altLang="en-US" sz="2400" i="1" dirty="0" smtClean="0"/>
              <a:t> </a:t>
            </a:r>
            <a:r>
              <a:rPr lang="en-US" altLang="en-US" sz="2400" i="1" dirty="0" err="1" smtClean="0"/>
              <a:t>cây</a:t>
            </a:r>
            <a:r>
              <a:rPr lang="en-US" altLang="en-US" sz="2400" i="1" dirty="0" smtClean="0"/>
              <a:t> con </a:t>
            </a:r>
            <a:r>
              <a:rPr lang="en-US" altLang="en-US" sz="2400" dirty="0" err="1" smtClean="0"/>
              <a:t>của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nó</a:t>
            </a:r>
            <a:r>
              <a:rPr lang="en-US" altLang="en-US" sz="2400" dirty="0" smtClean="0"/>
              <a:t> (</a:t>
            </a:r>
            <a:r>
              <a:rPr lang="en-US" altLang="en-US" sz="2400" dirty="0" err="1" smtClean="0"/>
              <a:t>bao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gồm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cả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chính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cây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đó</a:t>
            </a:r>
            <a:r>
              <a:rPr lang="en-US" altLang="en-US" sz="2400" dirty="0" smtClean="0"/>
              <a:t>) </a:t>
            </a:r>
            <a:r>
              <a:rPr lang="en-US" altLang="en-US" sz="2400" dirty="0" err="1" smtClean="0"/>
              <a:t>có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gốc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là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nút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có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giá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trị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lớn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nhất</a:t>
            </a:r>
            <a:endParaRPr lang="en-US" altLang="en-US" sz="2400" dirty="0" smtClean="0"/>
          </a:p>
          <a:p>
            <a:pPr lvl="1"/>
            <a:r>
              <a:rPr lang="en-US" altLang="en-US" sz="2400" b="1" dirty="0" err="1" smtClean="0"/>
              <a:t>Vun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 smtClean="0"/>
              <a:t>đống</a:t>
            </a:r>
            <a:r>
              <a:rPr lang="en-US" altLang="en-US" sz="2400" dirty="0" smtClean="0"/>
              <a:t>: </a:t>
            </a:r>
            <a:r>
              <a:rPr lang="en-US" altLang="en-US" sz="2400" dirty="0" err="1" smtClean="0"/>
              <a:t>là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quá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trình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đưa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một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cây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hoàn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chỉnh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mà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chưa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phải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là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đống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chuyển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thành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một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đống</a:t>
            </a:r>
            <a:endParaRPr lang="en-US" altLang="en-US" sz="2400" dirty="0" smtClean="0"/>
          </a:p>
          <a:p>
            <a:pPr lvl="1"/>
            <a:endParaRPr lang="en-US" altLang="en-US" sz="2400" dirty="0" smtClean="0"/>
          </a:p>
        </p:txBody>
      </p:sp>
      <p:grpSp>
        <p:nvGrpSpPr>
          <p:cNvPr id="2" name="Group 1"/>
          <p:cNvGrpSpPr/>
          <p:nvPr/>
        </p:nvGrpSpPr>
        <p:grpSpPr>
          <a:xfrm>
            <a:off x="3962400" y="3048000"/>
            <a:ext cx="3429000" cy="3048000"/>
            <a:chOff x="5334000" y="3200400"/>
            <a:chExt cx="3429000" cy="3048000"/>
          </a:xfrm>
        </p:grpSpPr>
        <p:sp>
          <p:nvSpPr>
            <p:cNvPr id="34823" name="Oval 6"/>
            <p:cNvSpPr>
              <a:spLocks noChangeArrowheads="1"/>
            </p:cNvSpPr>
            <p:nvPr/>
          </p:nvSpPr>
          <p:spPr bwMode="auto">
            <a:xfrm>
              <a:off x="7086600" y="3276600"/>
              <a:ext cx="457200" cy="457200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b="1"/>
                <a:t>19</a:t>
              </a:r>
            </a:p>
          </p:txBody>
        </p:sp>
        <p:sp>
          <p:nvSpPr>
            <p:cNvPr id="34824" name="Oval 7"/>
            <p:cNvSpPr>
              <a:spLocks noChangeArrowheads="1"/>
            </p:cNvSpPr>
            <p:nvPr/>
          </p:nvSpPr>
          <p:spPr bwMode="auto">
            <a:xfrm>
              <a:off x="6324600" y="4038600"/>
              <a:ext cx="457200" cy="457200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b="1"/>
                <a:t>17</a:t>
              </a:r>
            </a:p>
          </p:txBody>
        </p:sp>
        <p:sp>
          <p:nvSpPr>
            <p:cNvPr id="34825" name="Oval 8"/>
            <p:cNvSpPr>
              <a:spLocks noChangeArrowheads="1"/>
            </p:cNvSpPr>
            <p:nvPr/>
          </p:nvSpPr>
          <p:spPr bwMode="auto">
            <a:xfrm>
              <a:off x="7848600" y="4038600"/>
              <a:ext cx="457200" cy="457200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b="1"/>
                <a:t>15</a:t>
              </a:r>
            </a:p>
          </p:txBody>
        </p:sp>
        <p:sp>
          <p:nvSpPr>
            <p:cNvPr id="34826" name="Oval 9"/>
            <p:cNvSpPr>
              <a:spLocks noChangeArrowheads="1"/>
            </p:cNvSpPr>
            <p:nvPr/>
          </p:nvSpPr>
          <p:spPr bwMode="auto">
            <a:xfrm>
              <a:off x="5867400" y="4953000"/>
              <a:ext cx="457200" cy="457200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b="1"/>
                <a:t>9</a:t>
              </a:r>
            </a:p>
          </p:txBody>
        </p:sp>
        <p:sp>
          <p:nvSpPr>
            <p:cNvPr id="34827" name="Oval 10"/>
            <p:cNvSpPr>
              <a:spLocks noChangeArrowheads="1"/>
            </p:cNvSpPr>
            <p:nvPr/>
          </p:nvSpPr>
          <p:spPr bwMode="auto">
            <a:xfrm>
              <a:off x="6858000" y="4953000"/>
              <a:ext cx="457200" cy="457200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b="1"/>
                <a:t>13</a:t>
              </a:r>
            </a:p>
          </p:txBody>
        </p:sp>
        <p:sp>
          <p:nvSpPr>
            <p:cNvPr id="34828" name="Oval 11"/>
            <p:cNvSpPr>
              <a:spLocks noChangeArrowheads="1"/>
            </p:cNvSpPr>
            <p:nvPr/>
          </p:nvSpPr>
          <p:spPr bwMode="auto">
            <a:xfrm>
              <a:off x="7391400" y="4953000"/>
              <a:ext cx="457200" cy="457200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b="1"/>
                <a:t>11</a:t>
              </a:r>
            </a:p>
          </p:txBody>
        </p:sp>
        <p:sp>
          <p:nvSpPr>
            <p:cNvPr id="34829" name="Oval 12"/>
            <p:cNvSpPr>
              <a:spLocks noChangeArrowheads="1"/>
            </p:cNvSpPr>
            <p:nvPr/>
          </p:nvSpPr>
          <p:spPr bwMode="auto">
            <a:xfrm>
              <a:off x="8305800" y="4953000"/>
              <a:ext cx="457200" cy="457200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b="1"/>
                <a:t>3</a:t>
              </a:r>
            </a:p>
          </p:txBody>
        </p:sp>
        <p:sp>
          <p:nvSpPr>
            <p:cNvPr id="34830" name="Oval 13"/>
            <p:cNvSpPr>
              <a:spLocks noChangeArrowheads="1"/>
            </p:cNvSpPr>
            <p:nvPr/>
          </p:nvSpPr>
          <p:spPr bwMode="auto">
            <a:xfrm>
              <a:off x="5334000" y="5791200"/>
              <a:ext cx="457200" cy="457200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b="1"/>
                <a:t>7</a:t>
              </a:r>
            </a:p>
          </p:txBody>
        </p:sp>
        <p:sp>
          <p:nvSpPr>
            <p:cNvPr id="34831" name="Oval 14"/>
            <p:cNvSpPr>
              <a:spLocks noChangeArrowheads="1"/>
            </p:cNvSpPr>
            <p:nvPr/>
          </p:nvSpPr>
          <p:spPr bwMode="auto">
            <a:xfrm>
              <a:off x="6324600" y="5791200"/>
              <a:ext cx="457200" cy="457200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b="1"/>
                <a:t>5</a:t>
              </a:r>
            </a:p>
          </p:txBody>
        </p:sp>
        <p:cxnSp>
          <p:nvCxnSpPr>
            <p:cNvPr id="34832" name="Straight Connector 16"/>
            <p:cNvCxnSpPr>
              <a:cxnSpLocks noChangeShapeType="1"/>
              <a:stCxn id="34823" idx="3"/>
              <a:endCxn id="34824" idx="7"/>
            </p:cNvCxnSpPr>
            <p:nvPr/>
          </p:nvCxnSpPr>
          <p:spPr bwMode="auto">
            <a:xfrm rot="5400000">
              <a:off x="6715125" y="3667125"/>
              <a:ext cx="438150" cy="4381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33" name="Straight Connector 18"/>
            <p:cNvCxnSpPr>
              <a:cxnSpLocks noChangeShapeType="1"/>
              <a:stCxn id="34823" idx="5"/>
              <a:endCxn id="34825" idx="1"/>
            </p:cNvCxnSpPr>
            <p:nvPr/>
          </p:nvCxnSpPr>
          <p:spPr bwMode="auto">
            <a:xfrm rot="16200000" flipH="1">
              <a:off x="7477125" y="3667125"/>
              <a:ext cx="438150" cy="4381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34" name="Straight Connector 20"/>
            <p:cNvCxnSpPr>
              <a:cxnSpLocks noChangeShapeType="1"/>
              <a:stCxn id="34824" idx="3"/>
              <a:endCxn id="34826" idx="7"/>
            </p:cNvCxnSpPr>
            <p:nvPr/>
          </p:nvCxnSpPr>
          <p:spPr bwMode="auto">
            <a:xfrm rot="5400000">
              <a:off x="6029325" y="4657725"/>
              <a:ext cx="590550" cy="1333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35" name="Straight Connector 22"/>
            <p:cNvCxnSpPr>
              <a:cxnSpLocks noChangeShapeType="1"/>
              <a:stCxn id="34824" idx="5"/>
              <a:endCxn id="34827" idx="1"/>
            </p:cNvCxnSpPr>
            <p:nvPr/>
          </p:nvCxnSpPr>
          <p:spPr bwMode="auto">
            <a:xfrm rot="16200000" flipH="1">
              <a:off x="6524625" y="4619625"/>
              <a:ext cx="590550" cy="2095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36" name="Straight Connector 24"/>
            <p:cNvCxnSpPr>
              <a:cxnSpLocks noChangeShapeType="1"/>
              <a:stCxn id="34825" idx="3"/>
              <a:endCxn id="34828" idx="7"/>
            </p:cNvCxnSpPr>
            <p:nvPr/>
          </p:nvCxnSpPr>
          <p:spPr bwMode="auto">
            <a:xfrm rot="5400000">
              <a:off x="7553325" y="4657725"/>
              <a:ext cx="590550" cy="1333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37" name="Straight Connector 26"/>
            <p:cNvCxnSpPr>
              <a:cxnSpLocks noChangeShapeType="1"/>
              <a:stCxn id="34825" idx="5"/>
              <a:endCxn id="34829" idx="1"/>
            </p:cNvCxnSpPr>
            <p:nvPr/>
          </p:nvCxnSpPr>
          <p:spPr bwMode="auto">
            <a:xfrm rot="16200000" flipH="1">
              <a:off x="8010525" y="4657725"/>
              <a:ext cx="590550" cy="1333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38" name="Straight Connector 28"/>
            <p:cNvCxnSpPr>
              <a:cxnSpLocks noChangeShapeType="1"/>
              <a:stCxn id="34826" idx="3"/>
              <a:endCxn id="34830" idx="7"/>
            </p:cNvCxnSpPr>
            <p:nvPr/>
          </p:nvCxnSpPr>
          <p:spPr bwMode="auto">
            <a:xfrm rot="5400000">
              <a:off x="5572125" y="5495925"/>
              <a:ext cx="514350" cy="2095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39" name="Straight Connector 30"/>
            <p:cNvCxnSpPr>
              <a:cxnSpLocks noChangeShapeType="1"/>
              <a:stCxn id="34826" idx="5"/>
              <a:endCxn id="34831" idx="1"/>
            </p:cNvCxnSpPr>
            <p:nvPr/>
          </p:nvCxnSpPr>
          <p:spPr bwMode="auto">
            <a:xfrm rot="16200000" flipH="1">
              <a:off x="6067425" y="5534025"/>
              <a:ext cx="514350" cy="1333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40" name="TextBox 31"/>
            <p:cNvSpPr txBox="1">
              <a:spLocks noChangeArrowheads="1"/>
            </p:cNvSpPr>
            <p:nvPr/>
          </p:nvSpPr>
          <p:spPr bwMode="auto">
            <a:xfrm>
              <a:off x="7620000" y="3200400"/>
              <a:ext cx="990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/>
                <a:t>gốc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1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9BEF23E-F13C-4F4B-B147-273E14ABE014}" type="slidenum">
              <a:rPr lang="en-US" altLang="en-US">
                <a:latin typeface="Garamond" panose="02020404030301010803" pitchFamily="18" charset="0"/>
              </a:rPr>
              <a:pPr eaLnBrk="1" hangingPunct="1"/>
              <a:t>45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err="1"/>
              <a:t>Vun</a:t>
            </a:r>
            <a:r>
              <a:rPr lang="en-US" altLang="en-US" dirty="0"/>
              <a:t> </a:t>
            </a:r>
            <a:r>
              <a:rPr lang="en-US" altLang="en-US" dirty="0" err="1"/>
              <a:t>đống</a:t>
            </a:r>
            <a:endParaRPr lang="en-US" altLang="en-US" dirty="0" smtClean="0"/>
          </a:p>
        </p:txBody>
      </p:sp>
      <p:sp>
        <p:nvSpPr>
          <p:cNvPr id="37891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234951" y="963168"/>
            <a:ext cx="8674100" cy="5597154"/>
          </a:xfrm>
        </p:spPr>
        <p:txBody>
          <a:bodyPr>
            <a:normAutofit/>
          </a:bodyPr>
          <a:lstStyle/>
          <a:p>
            <a:r>
              <a:rPr lang="en-US" altLang="en-US" sz="2400" dirty="0" err="1" smtClean="0"/>
              <a:t>Đưa</a:t>
            </a:r>
            <a:r>
              <a:rPr lang="en-US" altLang="en-US" sz="2400" dirty="0" smtClean="0"/>
              <a:t> m</a:t>
            </a:r>
            <a:r>
              <a:rPr lang="vi-VN" altLang="en-US" sz="2400" dirty="0" smtClean="0"/>
              <a:t>ột </a:t>
            </a:r>
            <a:r>
              <a:rPr lang="vi-VN" altLang="en-US" sz="2400" dirty="0"/>
              <a:t>cây </a:t>
            </a:r>
            <a:r>
              <a:rPr lang="en-US" altLang="en-US" sz="2400" dirty="0" err="1" smtClean="0"/>
              <a:t>nhị</a:t>
            </a:r>
            <a:r>
              <a:rPr lang="en-US" altLang="en-US" sz="2400" dirty="0" smtClean="0"/>
              <a:t> </a:t>
            </a:r>
            <a:r>
              <a:rPr lang="en-US" altLang="en-US" sz="2400" dirty="0" err="1"/>
              <a:t>phân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hoàn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chỉnh</a:t>
            </a:r>
            <a:r>
              <a:rPr lang="en-US" altLang="en-US" sz="2400" dirty="0"/>
              <a:t> </a:t>
            </a:r>
            <a:r>
              <a:rPr lang="vi-VN" altLang="en-US" sz="2400" dirty="0" smtClean="0"/>
              <a:t>có </a:t>
            </a:r>
            <a:r>
              <a:rPr lang="en-US" altLang="en-US" sz="2400" dirty="0" smtClean="0"/>
              <a:t>N</a:t>
            </a:r>
            <a:r>
              <a:rPr lang="vi-VN" altLang="en-US" sz="2400" dirty="0" smtClean="0"/>
              <a:t> </a:t>
            </a:r>
            <a:r>
              <a:rPr lang="vi-VN" altLang="en-US" sz="2400" dirty="0"/>
              <a:t>nút bất </a:t>
            </a:r>
            <a:r>
              <a:rPr lang="vi-VN" altLang="en-US" sz="2400" dirty="0" smtClean="0"/>
              <a:t>kỳ</a:t>
            </a:r>
            <a:r>
              <a:rPr lang="en-US" altLang="en-US" sz="2400" dirty="0" smtClean="0"/>
              <a:t> </a:t>
            </a:r>
            <a:r>
              <a:rPr lang="vi-VN" altLang="en-US" sz="2400" dirty="0" smtClean="0"/>
              <a:t>thành </a:t>
            </a:r>
            <a:r>
              <a:rPr lang="vi-VN" altLang="en-US" sz="2400" dirty="0"/>
              <a:t>một đống</a:t>
            </a:r>
            <a:r>
              <a:rPr lang="vi-VN" altLang="en-US" sz="2400" dirty="0" smtClean="0"/>
              <a:t>.</a:t>
            </a:r>
            <a:endParaRPr lang="en-US" altLang="en-US" sz="2400" dirty="0" smtClean="0"/>
          </a:p>
          <a:p>
            <a:pPr lvl="1"/>
            <a:r>
              <a:rPr lang="en-US" altLang="en-US" sz="2400" dirty="0" err="1" smtClean="0"/>
              <a:t>Th</a:t>
            </a:r>
            <a:r>
              <a:rPr lang="vi-VN" altLang="en-US" sz="2400" dirty="0" smtClean="0"/>
              <a:t>ực </a:t>
            </a:r>
            <a:r>
              <a:rPr lang="vi-VN" altLang="en-US" sz="2400" dirty="0"/>
              <a:t>hiện </a:t>
            </a:r>
            <a:r>
              <a:rPr lang="vi-VN" altLang="en-US" sz="2400" dirty="0" smtClean="0"/>
              <a:t>vun </a:t>
            </a:r>
            <a:r>
              <a:rPr lang="vi-VN" altLang="en-US" sz="2400" dirty="0"/>
              <a:t>dần từ dưới lên trên. </a:t>
            </a:r>
            <a:endParaRPr lang="en-US" altLang="en-US" sz="2400" dirty="0" smtClean="0"/>
          </a:p>
          <a:p>
            <a:pPr lvl="1"/>
            <a:r>
              <a:rPr lang="vi-VN" altLang="en-US" sz="2400" dirty="0" smtClean="0"/>
              <a:t>Do </a:t>
            </a:r>
            <a:r>
              <a:rPr lang="vi-VN" altLang="en-US" sz="2400" dirty="0"/>
              <a:t>các nút lá đã là đống, </a:t>
            </a:r>
            <a:r>
              <a:rPr lang="vi-VN" altLang="en-US" sz="2400" dirty="0" smtClean="0"/>
              <a:t>nên</a:t>
            </a:r>
            <a:r>
              <a:rPr lang="en-US" altLang="en-US" sz="2400" dirty="0" smtClean="0"/>
              <a:t> </a:t>
            </a:r>
            <a:r>
              <a:rPr lang="vi-VN" altLang="en-US" sz="2400" dirty="0" smtClean="0"/>
              <a:t>việc </a:t>
            </a:r>
            <a:r>
              <a:rPr lang="vi-VN" altLang="en-US" sz="2400" dirty="0"/>
              <a:t>vun đống </a:t>
            </a:r>
            <a:r>
              <a:rPr lang="vi-VN" altLang="en-US" sz="2400" i="1" dirty="0"/>
              <a:t>bắt đầu từ các nút nhánh</a:t>
            </a:r>
            <a:r>
              <a:rPr lang="vi-VN" altLang="en-US" sz="2400" dirty="0"/>
              <a:t>, theo thứ tự lần lượt từ các nút </a:t>
            </a:r>
            <a:r>
              <a:rPr lang="vi-VN" altLang="en-US" sz="2400" dirty="0" smtClean="0"/>
              <a:t>nhánh</a:t>
            </a:r>
            <a:r>
              <a:rPr lang="en-US" altLang="en-US" sz="2400" dirty="0" smtClean="0"/>
              <a:t> </a:t>
            </a:r>
            <a:r>
              <a:rPr lang="vi-VN" altLang="en-US" sz="2400" dirty="0" smtClean="0"/>
              <a:t>ngoài </a:t>
            </a:r>
            <a:r>
              <a:rPr lang="vi-VN" altLang="en-US" sz="2400" dirty="0"/>
              <a:t>cùng cho đến các nút nhánh ở trong và cuối cùng cho đến gốc (các </a:t>
            </a:r>
            <a:r>
              <a:rPr lang="vi-VN" altLang="en-US" sz="2400" dirty="0" smtClean="0"/>
              <a:t>nút</a:t>
            </a:r>
            <a:r>
              <a:rPr lang="en-US" altLang="en-US" sz="2400" dirty="0" smtClean="0"/>
              <a:t> </a:t>
            </a:r>
            <a:r>
              <a:rPr lang="vi-VN" altLang="en-US" sz="2400" dirty="0" smtClean="0"/>
              <a:t>nhánh </a:t>
            </a:r>
            <a:r>
              <a:rPr lang="vi-VN" altLang="en-US" sz="2400" dirty="0"/>
              <a:t>có thứ tự giảm dần</a:t>
            </a:r>
            <a:r>
              <a:rPr lang="vi-VN" altLang="en-US" sz="2400" dirty="0" smtClean="0"/>
              <a:t>).</a:t>
            </a:r>
            <a:endParaRPr lang="en-US" altLang="en-US" sz="2400" dirty="0" smtClean="0"/>
          </a:p>
          <a:p>
            <a:pPr lvl="1"/>
            <a:r>
              <a:rPr lang="en-US" altLang="en-US" sz="2400" dirty="0" err="1" smtClean="0"/>
              <a:t>Mỗi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lần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vun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đống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cho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nút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nhánh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phải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đảm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bảo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cây</a:t>
            </a:r>
            <a:r>
              <a:rPr lang="en-US" altLang="en-US" sz="2400" dirty="0" smtClean="0"/>
              <a:t> con </a:t>
            </a:r>
            <a:r>
              <a:rPr lang="en-US" altLang="en-US" sz="2400" dirty="0" err="1" smtClean="0"/>
              <a:t>của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nó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cũng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là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một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đống</a:t>
            </a:r>
            <a:r>
              <a:rPr lang="vi-VN" altLang="en-US" sz="2400" dirty="0" smtClean="0"/>
              <a:t> </a:t>
            </a:r>
            <a:endParaRPr lang="vi-V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58863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4FD14AB-B2C8-4636-90EB-3BFEC001BF95}" type="slidenum">
              <a:rPr lang="en-US" altLang="en-US">
                <a:latin typeface="Garamond" panose="02020404030301010803" pitchFamily="18" charset="0"/>
              </a:rPr>
              <a:pPr eaLnBrk="1" hangingPunct="1"/>
              <a:t>46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Vun</a:t>
            </a:r>
            <a:r>
              <a:rPr lang="en-US" altLang="en-US" dirty="0"/>
              <a:t> </a:t>
            </a:r>
            <a:r>
              <a:rPr lang="en-US" altLang="en-US" dirty="0" err="1"/>
              <a:t>đống</a:t>
            </a:r>
            <a:endParaRPr lang="en-US" altLang="en-US" dirty="0" smtClean="0">
              <a:cs typeface="Arial" panose="020B0604020202020204" pitchFamily="34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158750" y="810768"/>
            <a:ext cx="8674100" cy="5132832"/>
          </a:xfrm>
        </p:spPr>
        <p:txBody>
          <a:bodyPr>
            <a:normAutofit/>
          </a:bodyPr>
          <a:lstStyle/>
          <a:p>
            <a:r>
              <a:rPr lang="en-US" altLang="en-US" sz="2400" dirty="0" smtClean="0"/>
              <a:t>Minh </a:t>
            </a:r>
            <a:r>
              <a:rPr lang="en-US" altLang="en-US" sz="2400" dirty="0" err="1" smtClean="0"/>
              <a:t>họa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Vun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đống</a:t>
            </a:r>
            <a:r>
              <a:rPr lang="en-US" altLang="en-US" sz="2400" dirty="0" smtClean="0"/>
              <a:t> 1 </a:t>
            </a:r>
            <a:r>
              <a:rPr lang="en-US" altLang="en-US" sz="2400" dirty="0" err="1" smtClean="0"/>
              <a:t>cây</a:t>
            </a:r>
            <a:r>
              <a:rPr lang="en-US" altLang="en-US" sz="2400" dirty="0" smtClean="0"/>
              <a:t>  </a:t>
            </a:r>
            <a:r>
              <a:rPr lang="en-US" altLang="en-US" sz="2400" dirty="0" err="1" smtClean="0"/>
              <a:t>có</a:t>
            </a:r>
            <a:r>
              <a:rPr lang="en-US" altLang="en-US" sz="2400" dirty="0" smtClean="0"/>
              <a:t> N </a:t>
            </a:r>
            <a:r>
              <a:rPr lang="en-US" altLang="en-US" sz="2400" dirty="0" err="1" smtClean="0"/>
              <a:t>nút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42" y="1364086"/>
            <a:ext cx="2621771" cy="2286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430" y="1329743"/>
            <a:ext cx="2621770" cy="2286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943" y="1219200"/>
            <a:ext cx="2627057" cy="2286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" y="3782050"/>
            <a:ext cx="2627058" cy="2286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6419" y="3749952"/>
            <a:ext cx="2627057" cy="2286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3597" y="3733800"/>
            <a:ext cx="2599403" cy="228600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02920" y="2537460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-33973" y="2036499"/>
            <a:ext cx="1176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/>
              <a:t>Nút</a:t>
            </a:r>
            <a:r>
              <a:rPr lang="en-US" sz="1400" dirty="0" smtClean="0"/>
              <a:t> </a:t>
            </a:r>
            <a:r>
              <a:rPr lang="en-US" sz="1400" dirty="0" err="1" smtClean="0"/>
              <a:t>nhánh</a:t>
            </a:r>
            <a:r>
              <a:rPr lang="en-US" sz="1400" dirty="0" smtClean="0"/>
              <a:t> </a:t>
            </a:r>
            <a:r>
              <a:rPr lang="en-US" sz="1400" dirty="0" err="1" smtClean="0"/>
              <a:t>đầu</a:t>
            </a:r>
            <a:r>
              <a:rPr lang="en-US" sz="1400" dirty="0" smtClean="0"/>
              <a:t> </a:t>
            </a:r>
            <a:r>
              <a:rPr lang="en-US" sz="1400" dirty="0" err="1" smtClean="0"/>
              <a:t>tiên</a:t>
            </a:r>
            <a:endParaRPr lang="en-US" sz="1400" dirty="0"/>
          </a:p>
        </p:txBody>
      </p:sp>
      <p:sp>
        <p:nvSpPr>
          <p:cNvPr id="13" name="Oval 12"/>
          <p:cNvSpPr/>
          <p:nvPr/>
        </p:nvSpPr>
        <p:spPr>
          <a:xfrm>
            <a:off x="4953000" y="1828800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778625" y="1676400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1389842" y="3697650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27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3" grpId="0" animBg="1"/>
      <p:bldP spid="14" grpId="0" animBg="1"/>
      <p:bldP spid="1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F540886-0707-46F6-B3B9-5A103FFE9A6C}" type="slidenum">
              <a:rPr lang="en-US" altLang="en-US">
                <a:latin typeface="Garamond" panose="02020404030301010803" pitchFamily="18" charset="0"/>
              </a:rPr>
              <a:pPr eaLnBrk="1" hangingPunct="1"/>
              <a:t>47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3.3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/>
              <a:t>vun</a:t>
            </a:r>
            <a:r>
              <a:rPr lang="en-US" altLang="en-US" dirty="0"/>
              <a:t> </a:t>
            </a:r>
            <a:r>
              <a:rPr lang="en-US" altLang="en-US" dirty="0" err="1"/>
              <a:t>đống</a:t>
            </a:r>
            <a:endParaRPr lang="en-US" altLang="en-US" dirty="0" smtClean="0"/>
          </a:p>
        </p:txBody>
      </p:sp>
      <p:sp>
        <p:nvSpPr>
          <p:cNvPr id="3584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 err="1" smtClean="0"/>
              <a:t>Dãy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cần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sắp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xếp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được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biểu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diễn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thành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cây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nhị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phân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hoàn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chỉnh</a:t>
            </a:r>
            <a:r>
              <a:rPr lang="en-US" altLang="en-US" sz="2400" dirty="0" smtClean="0"/>
              <a:t>.</a:t>
            </a:r>
          </a:p>
          <a:p>
            <a:pPr marL="171450" lvl="1">
              <a:spcBef>
                <a:spcPts val="750"/>
              </a:spcBef>
            </a:pPr>
            <a:r>
              <a:rPr lang="en-US" altLang="en-US" sz="2400" dirty="0" err="1"/>
              <a:t>Sắp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xếp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dãy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 </a:t>
            </a:r>
            <a:r>
              <a:rPr lang="en-US" altLang="en-US" sz="2400" dirty="0" err="1" smtClean="0">
                <a:sym typeface="Symbol" panose="05050102010706020507" pitchFamily="18" charset="2"/>
              </a:rPr>
              <a:t>Lặp</a:t>
            </a:r>
            <a:r>
              <a:rPr lang="en-US" altLang="en-US" sz="2400" dirty="0" smtClean="0">
                <a:sym typeface="Symbol" panose="05050102010706020507" pitchFamily="18" charset="2"/>
              </a:rPr>
              <a:t> </a:t>
            </a:r>
            <a:r>
              <a:rPr lang="en-US" altLang="en-US" sz="2400" dirty="0" err="1" smtClean="0">
                <a:sym typeface="Symbol" panose="05050102010706020507" pitchFamily="18" charset="2"/>
              </a:rPr>
              <a:t>lại</a:t>
            </a:r>
            <a:r>
              <a:rPr lang="en-US" altLang="en-US" sz="2400" dirty="0" smtClean="0">
                <a:sym typeface="Symbol" panose="05050102010706020507" pitchFamily="18" charset="2"/>
              </a:rPr>
              <a:t> </a:t>
            </a:r>
            <a:r>
              <a:rPr lang="en-US" altLang="en-US" sz="2400" dirty="0" err="1" smtClean="0">
                <a:sym typeface="Symbol" panose="05050102010706020507" pitchFamily="18" charset="2"/>
              </a:rPr>
              <a:t>việc</a:t>
            </a:r>
            <a:r>
              <a:rPr lang="en-US" altLang="en-US" sz="2400" dirty="0" smtClean="0">
                <a:sym typeface="Symbol" panose="05050102010706020507" pitchFamily="18" charset="2"/>
              </a:rPr>
              <a:t> </a:t>
            </a:r>
            <a:r>
              <a:rPr lang="en-US" altLang="en-US" sz="2400" dirty="0" err="1" smtClean="0">
                <a:sym typeface="Symbol" panose="05050102010706020507" pitchFamily="18" charset="2"/>
              </a:rPr>
              <a:t>vun</a:t>
            </a:r>
            <a:r>
              <a:rPr lang="en-US" altLang="en-US" sz="2400" dirty="0" smtClean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đống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cây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nhị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phân</a:t>
            </a:r>
            <a:r>
              <a:rPr lang="en-US" altLang="en-US" sz="2400" dirty="0"/>
              <a:t> </a:t>
            </a:r>
          </a:p>
          <a:p>
            <a:r>
              <a:rPr lang="en-US" altLang="en-US" sz="2400" dirty="0" err="1" smtClean="0"/>
              <a:t>Cài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đặt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cây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nhị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phân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hoàn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chỉnh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bằng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cấu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trúc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mảng</a:t>
            </a:r>
            <a:r>
              <a:rPr lang="en-US" altLang="en-US" sz="2400" dirty="0" smtClean="0"/>
              <a:t>:</a:t>
            </a:r>
          </a:p>
          <a:p>
            <a:pPr lvl="1"/>
            <a:r>
              <a:rPr lang="en-US" altLang="en-US" sz="2000" dirty="0" err="1" smtClean="0"/>
              <a:t>Mỗi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phần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tử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của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mảng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là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một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nút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của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cây</a:t>
            </a:r>
            <a:endParaRPr lang="en-US" altLang="en-US" sz="2000" dirty="0" smtClean="0"/>
          </a:p>
          <a:p>
            <a:pPr lvl="1"/>
            <a:r>
              <a:rPr lang="en-US" altLang="en-US" sz="2000" dirty="0" err="1" smtClean="0"/>
              <a:t>Phần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tử</a:t>
            </a:r>
            <a:r>
              <a:rPr lang="en-US" altLang="en-US" sz="2000" dirty="0" smtClean="0"/>
              <a:t> </a:t>
            </a:r>
            <a:r>
              <a:rPr lang="vi-VN" altLang="en-US" sz="2000" dirty="0" smtClean="0"/>
              <a:t>a</a:t>
            </a:r>
            <a:r>
              <a:rPr lang="vi-VN" altLang="en-US" sz="2000" baseline="-25000" dirty="0" smtClean="0"/>
              <a:t>0</a:t>
            </a:r>
            <a:r>
              <a:rPr lang="vi-VN" altLang="en-US" sz="2000" dirty="0" smtClean="0"/>
              <a:t> </a:t>
            </a:r>
            <a:r>
              <a:rPr lang="vi-VN" altLang="en-US" sz="2000" dirty="0"/>
              <a:t>chính là nút gốc của </a:t>
            </a:r>
            <a:r>
              <a:rPr lang="vi-VN" altLang="en-US" sz="2000" dirty="0" smtClean="0"/>
              <a:t>cây</a:t>
            </a:r>
            <a:endParaRPr lang="en-US" altLang="en-US" sz="2000" dirty="0" smtClean="0"/>
          </a:p>
          <a:p>
            <a:pPr lvl="1"/>
            <a:r>
              <a:rPr lang="en-US" altLang="en-US" sz="2000" dirty="0" smtClean="0"/>
              <a:t>P</a:t>
            </a:r>
            <a:r>
              <a:rPr lang="vi-VN" altLang="en-US" sz="2000" dirty="0" smtClean="0"/>
              <a:t>hần </a:t>
            </a:r>
            <a:r>
              <a:rPr lang="vi-VN" altLang="en-US" sz="2000" dirty="0"/>
              <a:t>tử a</a:t>
            </a:r>
            <a:r>
              <a:rPr lang="vi-VN" altLang="en-US" sz="2000" baseline="-25000" dirty="0"/>
              <a:t>i</a:t>
            </a:r>
            <a:r>
              <a:rPr lang="vi-VN" altLang="en-US" sz="2000" dirty="0"/>
              <a:t> sẽ có hai con trái, phải tương ứng là a</a:t>
            </a:r>
            <a:r>
              <a:rPr lang="vi-VN" altLang="en-US" sz="2000" baseline="-25000" dirty="0"/>
              <a:t>2i+1</a:t>
            </a:r>
            <a:r>
              <a:rPr lang="vi-VN" altLang="en-US" sz="2000" dirty="0"/>
              <a:t> </a:t>
            </a:r>
            <a:r>
              <a:rPr lang="vi-VN" altLang="en-US" sz="2000" dirty="0" smtClean="0"/>
              <a:t>và</a:t>
            </a:r>
            <a:r>
              <a:rPr lang="en-US" altLang="en-US" sz="2000" dirty="0" smtClean="0"/>
              <a:t> </a:t>
            </a:r>
            <a:r>
              <a:rPr lang="vi-VN" altLang="en-US" sz="2000" dirty="0" smtClean="0"/>
              <a:t>a</a:t>
            </a:r>
            <a:r>
              <a:rPr lang="vi-VN" altLang="en-US" sz="2000" baseline="-25000" dirty="0" smtClean="0"/>
              <a:t>2i+2</a:t>
            </a:r>
            <a:r>
              <a:rPr lang="vi-VN" altLang="en-US" sz="2000" dirty="0" smtClean="0"/>
              <a:t> </a:t>
            </a:r>
            <a:r>
              <a:rPr lang="vi-VN" altLang="en-US" sz="2000" dirty="0"/>
              <a:t>nếu </a:t>
            </a:r>
            <a:r>
              <a:rPr lang="vi-VN" altLang="en-US" sz="2000" dirty="0" smtClean="0"/>
              <a:t>2i+2≤N-1</a:t>
            </a:r>
            <a:endParaRPr lang="en-US" altLang="en-US" sz="2000" dirty="0" smtClean="0"/>
          </a:p>
          <a:p>
            <a:pPr marL="342900" lvl="1" indent="0">
              <a:buNone/>
            </a:pPr>
            <a:r>
              <a:rPr lang="en-US" altLang="en-US" sz="2000" dirty="0"/>
              <a:t> </a:t>
            </a:r>
            <a:r>
              <a:rPr lang="en-US" altLang="en-US" sz="2000" dirty="0" smtClean="0"/>
              <a:t>                      </a:t>
            </a:r>
            <a:r>
              <a:rPr lang="en-US" altLang="en-US" sz="2000" dirty="0" err="1" smtClean="0"/>
              <a:t>hoặc</a:t>
            </a:r>
            <a:r>
              <a:rPr lang="en-US" altLang="en-US" sz="2000" dirty="0" smtClean="0"/>
              <a:t> </a:t>
            </a:r>
            <a:r>
              <a:rPr lang="vi-VN" altLang="en-US" sz="2000" dirty="0" smtClean="0"/>
              <a:t>chỉ </a:t>
            </a:r>
            <a:r>
              <a:rPr lang="vi-VN" altLang="en-US" sz="2000" dirty="0"/>
              <a:t>có một con trái, nếu </a:t>
            </a:r>
            <a:r>
              <a:rPr lang="vi-VN" altLang="en-US" sz="2000" dirty="0" smtClean="0"/>
              <a:t>2i+1=N-1</a:t>
            </a:r>
            <a:endParaRPr lang="en-US" altLang="en-US" sz="2000" dirty="0" smtClean="0"/>
          </a:p>
          <a:p>
            <a:pPr marL="342900" lvl="1" indent="0">
              <a:buNone/>
            </a:pPr>
            <a:r>
              <a:rPr lang="en-US" altLang="en-US" sz="2000" dirty="0" smtClean="0"/>
              <a:t>                       </a:t>
            </a:r>
            <a:r>
              <a:rPr lang="en-US" altLang="en-US" sz="2000" dirty="0" err="1" smtClean="0"/>
              <a:t>hoặc</a:t>
            </a:r>
            <a:r>
              <a:rPr lang="vi-VN" altLang="en-US" sz="2000" dirty="0" smtClean="0"/>
              <a:t> </a:t>
            </a:r>
            <a:r>
              <a:rPr lang="vi-VN" altLang="en-US" sz="2000" dirty="0"/>
              <a:t>là nút lá </a:t>
            </a:r>
            <a:r>
              <a:rPr lang="vi-VN" altLang="en-US" sz="2000" dirty="0" smtClean="0"/>
              <a:t>nếu</a:t>
            </a:r>
            <a:r>
              <a:rPr lang="en-US" altLang="en-US" sz="2000" dirty="0" smtClean="0"/>
              <a:t> </a:t>
            </a:r>
            <a:r>
              <a:rPr lang="vi-VN" altLang="en-US" sz="2000" dirty="0" smtClean="0"/>
              <a:t>2i+1&gt;N-1</a:t>
            </a:r>
            <a:r>
              <a:rPr lang="vi-VN" altLang="en-US" sz="2000" dirty="0"/>
              <a:t>. </a:t>
            </a:r>
            <a:endParaRPr lang="en-US" altLang="en-US" sz="2000" dirty="0" smtClean="0"/>
          </a:p>
        </p:txBody>
      </p:sp>
      <p:sp>
        <p:nvSpPr>
          <p:cNvPr id="35847" name="Oval 6"/>
          <p:cNvSpPr>
            <a:spLocks noChangeArrowheads="1"/>
          </p:cNvSpPr>
          <p:nvPr/>
        </p:nvSpPr>
        <p:spPr bwMode="auto">
          <a:xfrm>
            <a:off x="7086600" y="3352800"/>
            <a:ext cx="457200" cy="457200"/>
          </a:xfrm>
          <a:prstGeom prst="ellipse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a</a:t>
            </a:r>
            <a:r>
              <a:rPr lang="en-US" altLang="en-US" b="1" baseline="-25000"/>
              <a:t>0</a:t>
            </a:r>
          </a:p>
        </p:txBody>
      </p:sp>
      <p:sp>
        <p:nvSpPr>
          <p:cNvPr id="35848" name="Oval 7"/>
          <p:cNvSpPr>
            <a:spLocks noChangeArrowheads="1"/>
          </p:cNvSpPr>
          <p:nvPr/>
        </p:nvSpPr>
        <p:spPr bwMode="auto">
          <a:xfrm>
            <a:off x="6324600" y="4114800"/>
            <a:ext cx="457200" cy="457200"/>
          </a:xfrm>
          <a:prstGeom prst="ellipse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a</a:t>
            </a:r>
            <a:r>
              <a:rPr lang="en-US" altLang="en-US" b="1" baseline="-25000"/>
              <a:t>1</a:t>
            </a:r>
            <a:endParaRPr lang="en-US" altLang="en-US" b="1"/>
          </a:p>
        </p:txBody>
      </p:sp>
      <p:sp>
        <p:nvSpPr>
          <p:cNvPr id="35849" name="Oval 8"/>
          <p:cNvSpPr>
            <a:spLocks noChangeArrowheads="1"/>
          </p:cNvSpPr>
          <p:nvPr/>
        </p:nvSpPr>
        <p:spPr bwMode="auto">
          <a:xfrm>
            <a:off x="7848600" y="4114800"/>
            <a:ext cx="457200" cy="457200"/>
          </a:xfrm>
          <a:prstGeom prst="ellipse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a</a:t>
            </a:r>
            <a:r>
              <a:rPr lang="en-US" altLang="en-US" b="1" baseline="-25000"/>
              <a:t>2</a:t>
            </a:r>
            <a:endParaRPr lang="en-US" altLang="en-US" b="1"/>
          </a:p>
        </p:txBody>
      </p:sp>
      <p:sp>
        <p:nvSpPr>
          <p:cNvPr id="35850" name="Oval 9"/>
          <p:cNvSpPr>
            <a:spLocks noChangeArrowheads="1"/>
          </p:cNvSpPr>
          <p:nvPr/>
        </p:nvSpPr>
        <p:spPr bwMode="auto">
          <a:xfrm>
            <a:off x="5867400" y="5029200"/>
            <a:ext cx="457200" cy="457200"/>
          </a:xfrm>
          <a:prstGeom prst="ellipse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a</a:t>
            </a:r>
            <a:r>
              <a:rPr lang="en-US" altLang="en-US" b="1" baseline="-25000"/>
              <a:t>3</a:t>
            </a:r>
            <a:endParaRPr lang="en-US" altLang="en-US" b="1"/>
          </a:p>
        </p:txBody>
      </p:sp>
      <p:sp>
        <p:nvSpPr>
          <p:cNvPr id="35851" name="Oval 10"/>
          <p:cNvSpPr>
            <a:spLocks noChangeArrowheads="1"/>
          </p:cNvSpPr>
          <p:nvPr/>
        </p:nvSpPr>
        <p:spPr bwMode="auto">
          <a:xfrm>
            <a:off x="6858000" y="5029200"/>
            <a:ext cx="457200" cy="457200"/>
          </a:xfrm>
          <a:prstGeom prst="ellipse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a</a:t>
            </a:r>
            <a:r>
              <a:rPr lang="en-US" altLang="en-US" b="1" baseline="-25000"/>
              <a:t>4</a:t>
            </a:r>
            <a:endParaRPr lang="en-US" altLang="en-US" b="1"/>
          </a:p>
        </p:txBody>
      </p:sp>
      <p:sp>
        <p:nvSpPr>
          <p:cNvPr id="35852" name="Oval 11"/>
          <p:cNvSpPr>
            <a:spLocks noChangeArrowheads="1"/>
          </p:cNvSpPr>
          <p:nvPr/>
        </p:nvSpPr>
        <p:spPr bwMode="auto">
          <a:xfrm>
            <a:off x="7391400" y="5029200"/>
            <a:ext cx="457200" cy="457200"/>
          </a:xfrm>
          <a:prstGeom prst="ellipse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a</a:t>
            </a:r>
            <a:r>
              <a:rPr lang="en-US" altLang="en-US" b="1" baseline="-25000"/>
              <a:t>5</a:t>
            </a:r>
            <a:endParaRPr lang="en-US" altLang="en-US" b="1"/>
          </a:p>
        </p:txBody>
      </p:sp>
      <p:sp>
        <p:nvSpPr>
          <p:cNvPr id="35853" name="Oval 12"/>
          <p:cNvSpPr>
            <a:spLocks noChangeArrowheads="1"/>
          </p:cNvSpPr>
          <p:nvPr/>
        </p:nvSpPr>
        <p:spPr bwMode="auto">
          <a:xfrm>
            <a:off x="8305800" y="5029200"/>
            <a:ext cx="457200" cy="457200"/>
          </a:xfrm>
          <a:prstGeom prst="ellipse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a</a:t>
            </a:r>
            <a:r>
              <a:rPr lang="en-US" altLang="en-US" b="1" baseline="-25000"/>
              <a:t>6</a:t>
            </a:r>
            <a:endParaRPr lang="en-US" altLang="en-US" b="1"/>
          </a:p>
        </p:txBody>
      </p:sp>
      <p:sp>
        <p:nvSpPr>
          <p:cNvPr id="35854" name="Oval 13"/>
          <p:cNvSpPr>
            <a:spLocks noChangeArrowheads="1"/>
          </p:cNvSpPr>
          <p:nvPr/>
        </p:nvSpPr>
        <p:spPr bwMode="auto">
          <a:xfrm>
            <a:off x="5334000" y="5867400"/>
            <a:ext cx="457200" cy="457200"/>
          </a:xfrm>
          <a:prstGeom prst="ellipse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a</a:t>
            </a:r>
            <a:r>
              <a:rPr lang="en-US" altLang="en-US" b="1" baseline="-25000"/>
              <a:t>7</a:t>
            </a:r>
            <a:endParaRPr lang="en-US" altLang="en-US" b="1"/>
          </a:p>
        </p:txBody>
      </p:sp>
      <p:sp>
        <p:nvSpPr>
          <p:cNvPr id="35855" name="Oval 14"/>
          <p:cNvSpPr>
            <a:spLocks noChangeArrowheads="1"/>
          </p:cNvSpPr>
          <p:nvPr/>
        </p:nvSpPr>
        <p:spPr bwMode="auto">
          <a:xfrm>
            <a:off x="6324600" y="5867400"/>
            <a:ext cx="457200" cy="457200"/>
          </a:xfrm>
          <a:prstGeom prst="ellipse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a</a:t>
            </a:r>
            <a:r>
              <a:rPr lang="en-US" altLang="en-US" b="1" baseline="-25000"/>
              <a:t>8</a:t>
            </a:r>
            <a:endParaRPr lang="en-US" altLang="en-US" b="1"/>
          </a:p>
        </p:txBody>
      </p:sp>
      <p:cxnSp>
        <p:nvCxnSpPr>
          <p:cNvPr id="35856" name="Straight Connector 15"/>
          <p:cNvCxnSpPr>
            <a:cxnSpLocks noChangeShapeType="1"/>
            <a:stCxn id="35847" idx="3"/>
            <a:endCxn id="35848" idx="7"/>
          </p:cNvCxnSpPr>
          <p:nvPr/>
        </p:nvCxnSpPr>
        <p:spPr bwMode="auto">
          <a:xfrm rot="5400000">
            <a:off x="6715125" y="3743325"/>
            <a:ext cx="438150" cy="4381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7" name="Straight Connector 16"/>
          <p:cNvCxnSpPr>
            <a:cxnSpLocks noChangeShapeType="1"/>
            <a:stCxn id="35847" idx="5"/>
            <a:endCxn id="35849" idx="1"/>
          </p:cNvCxnSpPr>
          <p:nvPr/>
        </p:nvCxnSpPr>
        <p:spPr bwMode="auto">
          <a:xfrm rot="16200000" flipH="1">
            <a:off x="7477125" y="3743325"/>
            <a:ext cx="438150" cy="4381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8" name="Straight Connector 17"/>
          <p:cNvCxnSpPr>
            <a:cxnSpLocks noChangeShapeType="1"/>
            <a:stCxn id="35848" idx="3"/>
            <a:endCxn id="35850" idx="7"/>
          </p:cNvCxnSpPr>
          <p:nvPr/>
        </p:nvCxnSpPr>
        <p:spPr bwMode="auto">
          <a:xfrm rot="5400000">
            <a:off x="6029325" y="4733925"/>
            <a:ext cx="590550" cy="1333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9" name="Straight Connector 18"/>
          <p:cNvCxnSpPr>
            <a:cxnSpLocks noChangeShapeType="1"/>
            <a:stCxn id="35848" idx="5"/>
            <a:endCxn id="35851" idx="1"/>
          </p:cNvCxnSpPr>
          <p:nvPr/>
        </p:nvCxnSpPr>
        <p:spPr bwMode="auto">
          <a:xfrm rot="16200000" flipH="1">
            <a:off x="6524625" y="4695825"/>
            <a:ext cx="590550" cy="2095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0" name="Straight Connector 19"/>
          <p:cNvCxnSpPr>
            <a:cxnSpLocks noChangeShapeType="1"/>
            <a:stCxn id="35849" idx="3"/>
            <a:endCxn id="35852" idx="7"/>
          </p:cNvCxnSpPr>
          <p:nvPr/>
        </p:nvCxnSpPr>
        <p:spPr bwMode="auto">
          <a:xfrm rot="5400000">
            <a:off x="7553325" y="4733925"/>
            <a:ext cx="590550" cy="1333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1" name="Straight Connector 20"/>
          <p:cNvCxnSpPr>
            <a:cxnSpLocks noChangeShapeType="1"/>
            <a:stCxn id="35849" idx="5"/>
            <a:endCxn id="35853" idx="1"/>
          </p:cNvCxnSpPr>
          <p:nvPr/>
        </p:nvCxnSpPr>
        <p:spPr bwMode="auto">
          <a:xfrm rot="16200000" flipH="1">
            <a:off x="8010525" y="4733925"/>
            <a:ext cx="590550" cy="1333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2" name="Straight Connector 21"/>
          <p:cNvCxnSpPr>
            <a:cxnSpLocks noChangeShapeType="1"/>
            <a:stCxn id="35850" idx="3"/>
            <a:endCxn id="35854" idx="7"/>
          </p:cNvCxnSpPr>
          <p:nvPr/>
        </p:nvCxnSpPr>
        <p:spPr bwMode="auto">
          <a:xfrm rot="5400000">
            <a:off x="5572125" y="5572125"/>
            <a:ext cx="514350" cy="2095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3" name="Straight Connector 22"/>
          <p:cNvCxnSpPr>
            <a:cxnSpLocks noChangeShapeType="1"/>
            <a:stCxn id="35850" idx="5"/>
            <a:endCxn id="35855" idx="1"/>
          </p:cNvCxnSpPr>
          <p:nvPr/>
        </p:nvCxnSpPr>
        <p:spPr bwMode="auto">
          <a:xfrm rot="16200000" flipH="1">
            <a:off x="6067425" y="5610225"/>
            <a:ext cx="514350" cy="1333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64" name="TextBox 23"/>
          <p:cNvSpPr txBox="1">
            <a:spLocks noChangeArrowheads="1"/>
          </p:cNvSpPr>
          <p:nvPr/>
        </p:nvSpPr>
        <p:spPr bwMode="auto">
          <a:xfrm>
            <a:off x="7620000" y="3276600"/>
            <a:ext cx="990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 err="1"/>
              <a:t>gốc</a:t>
            </a:r>
            <a:endParaRPr lang="en-US" altLang="en-US" b="1" dirty="0"/>
          </a:p>
        </p:txBody>
      </p:sp>
      <p:sp>
        <p:nvSpPr>
          <p:cNvPr id="35865" name="TextBox 24"/>
          <p:cNvSpPr txBox="1">
            <a:spLocks noChangeArrowheads="1"/>
          </p:cNvSpPr>
          <p:nvPr/>
        </p:nvSpPr>
        <p:spPr bwMode="auto">
          <a:xfrm>
            <a:off x="1295400" y="5029200"/>
            <a:ext cx="3200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dirty="0"/>
              <a:t>a</a:t>
            </a:r>
            <a:r>
              <a:rPr lang="en-US" altLang="en-US" sz="2000" baseline="-25000" dirty="0"/>
              <a:t>0</a:t>
            </a:r>
            <a:r>
              <a:rPr lang="en-US" altLang="en-US" sz="2000" dirty="0"/>
              <a:t>,a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,a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,a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,a</a:t>
            </a:r>
            <a:r>
              <a:rPr lang="en-US" altLang="en-US" sz="2000" baseline="-25000" dirty="0"/>
              <a:t>4</a:t>
            </a:r>
            <a:r>
              <a:rPr lang="en-US" altLang="en-US" sz="2000" dirty="0"/>
              <a:t>,a</a:t>
            </a:r>
            <a:r>
              <a:rPr lang="en-US" altLang="en-US" sz="2000" baseline="-25000" dirty="0"/>
              <a:t>5</a:t>
            </a:r>
            <a:r>
              <a:rPr lang="en-US" altLang="en-US" sz="2000" dirty="0"/>
              <a:t>,a</a:t>
            </a:r>
            <a:r>
              <a:rPr lang="en-US" altLang="en-US" sz="2000" baseline="-25000" dirty="0"/>
              <a:t>6</a:t>
            </a:r>
            <a:r>
              <a:rPr lang="en-US" altLang="en-US" sz="2000" dirty="0"/>
              <a:t>,a</a:t>
            </a:r>
            <a:r>
              <a:rPr lang="en-US" altLang="en-US" sz="2000" baseline="-25000" dirty="0"/>
              <a:t>7</a:t>
            </a:r>
            <a:r>
              <a:rPr lang="en-US" altLang="en-US" sz="2000" dirty="0"/>
              <a:t>,a</a:t>
            </a:r>
            <a:r>
              <a:rPr lang="en-US" altLang="en-US" sz="2000" baseline="-25000" dirty="0"/>
              <a:t>8</a:t>
            </a:r>
            <a:r>
              <a:rPr lang="en-US" altLang="en-US" sz="2000" dirty="0"/>
              <a:t> </a:t>
            </a:r>
          </a:p>
        </p:txBody>
      </p:sp>
      <p:sp>
        <p:nvSpPr>
          <p:cNvPr id="35866" name="Left-Right Arrow 25"/>
          <p:cNvSpPr>
            <a:spLocks noChangeArrowheads="1"/>
          </p:cNvSpPr>
          <p:nvPr/>
        </p:nvSpPr>
        <p:spPr bwMode="auto">
          <a:xfrm>
            <a:off x="4572000" y="5105400"/>
            <a:ext cx="762000" cy="2286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643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BFDDE10-CE7D-4189-9AE4-1B9D903B11D0}" type="slidenum">
              <a:rPr lang="en-US" altLang="en-US">
                <a:latin typeface="Garamond" panose="02020404030301010803" pitchFamily="18" charset="0"/>
              </a:rPr>
              <a:pPr eaLnBrk="1" hangingPunct="1"/>
              <a:t>48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3.3 </a:t>
            </a:r>
            <a:r>
              <a:rPr lang="en-US" altLang="en-US" dirty="0" err="1" smtClean="0"/>
              <a:t>Sắp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xếp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vun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đống</a:t>
            </a:r>
            <a:endParaRPr lang="en-US" altLang="en-US" dirty="0" smtClean="0"/>
          </a:p>
        </p:txBody>
      </p:sp>
      <p:sp>
        <p:nvSpPr>
          <p:cNvPr id="36867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sz="2400" dirty="0" err="1"/>
              <a:t>Dãy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cần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sắp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xếp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được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biểu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diễn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thành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cây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nhị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phân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hoàn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chỉnh</a:t>
            </a:r>
            <a:r>
              <a:rPr lang="en-US" altLang="en-US" sz="2400" dirty="0"/>
              <a:t>.</a:t>
            </a:r>
          </a:p>
          <a:p>
            <a:pPr marL="171450" lvl="1">
              <a:spcBef>
                <a:spcPts val="750"/>
              </a:spcBef>
            </a:pPr>
            <a:r>
              <a:rPr lang="en-US" altLang="en-US" sz="2400" dirty="0" err="1"/>
              <a:t>Sắp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xếp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dãy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 </a:t>
            </a:r>
            <a:r>
              <a:rPr lang="en-US" altLang="en-US" sz="2400" dirty="0" err="1">
                <a:sym typeface="Symbol" panose="05050102010706020507" pitchFamily="18" charset="2"/>
              </a:rPr>
              <a:t>Lặp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lại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việc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 smtClean="0">
                <a:sym typeface="Symbol" panose="05050102010706020507" pitchFamily="18" charset="2"/>
              </a:rPr>
              <a:t>Vun</a:t>
            </a:r>
            <a:r>
              <a:rPr lang="en-US" altLang="en-US" sz="2400" dirty="0" smtClean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đống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cây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nhị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phân</a:t>
            </a:r>
            <a:r>
              <a:rPr lang="en-US" altLang="en-US" sz="2400" dirty="0"/>
              <a:t> </a:t>
            </a:r>
          </a:p>
          <a:p>
            <a:r>
              <a:rPr lang="en-US" altLang="en-US" sz="2400" b="1" dirty="0" err="1" smtClean="0"/>
              <a:t>Sắp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/>
              <a:t>xếp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vun</a:t>
            </a:r>
            <a:r>
              <a:rPr lang="en-US" altLang="en-US" sz="2400" b="1" dirty="0"/>
              <a:t> </a:t>
            </a:r>
            <a:r>
              <a:rPr lang="en-US" altLang="en-US" sz="2400" b="1" dirty="0" err="1" smtClean="0"/>
              <a:t>đống</a:t>
            </a:r>
            <a:r>
              <a:rPr lang="en-US" altLang="en-US" sz="2400" dirty="0" smtClean="0"/>
              <a:t>:</a:t>
            </a:r>
          </a:p>
          <a:p>
            <a:pPr lvl="1"/>
            <a:r>
              <a:rPr lang="en-US" altLang="en-US" sz="2200" dirty="0" smtClean="0"/>
              <a:t>B1: </a:t>
            </a:r>
            <a:r>
              <a:rPr lang="en-US" altLang="en-US" sz="2200" dirty="0" err="1" smtClean="0"/>
              <a:t>Thực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hiện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Vun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đống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cây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nhị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phân</a:t>
            </a:r>
            <a:endParaRPr lang="en-US" altLang="en-US" sz="2200" dirty="0" smtClean="0"/>
          </a:p>
          <a:p>
            <a:pPr lvl="1"/>
            <a:r>
              <a:rPr lang="en-US" altLang="en-US" sz="2200" dirty="0" smtClean="0"/>
              <a:t>B2: </a:t>
            </a:r>
            <a:r>
              <a:rPr lang="en-US" altLang="en-US" sz="2200" dirty="0" err="1" smtClean="0"/>
              <a:t>Hoán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đổi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phần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tử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đầu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tiên</a:t>
            </a:r>
            <a:r>
              <a:rPr lang="en-US" altLang="en-US" sz="2200" dirty="0" smtClean="0"/>
              <a:t> (</a:t>
            </a:r>
            <a:r>
              <a:rPr lang="en-US" altLang="en-US" sz="2200" dirty="0" err="1" smtClean="0"/>
              <a:t>phần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tử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gốc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cây</a:t>
            </a:r>
            <a:r>
              <a:rPr lang="en-US" altLang="en-US" sz="2200" dirty="0" smtClean="0"/>
              <a:t>, </a:t>
            </a:r>
            <a:r>
              <a:rPr lang="en-US" altLang="en-US" sz="2200" dirty="0" err="1" smtClean="0"/>
              <a:t>phần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tử</a:t>
            </a:r>
            <a:r>
              <a:rPr lang="en-US" altLang="en-US" sz="2200" dirty="0" smtClean="0"/>
              <a:t> max) </a:t>
            </a:r>
            <a:r>
              <a:rPr lang="en-US" altLang="en-US" sz="2200" dirty="0" err="1" smtClean="0"/>
              <a:t>với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phần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tử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cuối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cùng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của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dãy</a:t>
            </a:r>
            <a:r>
              <a:rPr lang="en-US" altLang="en-US" sz="2200" dirty="0" smtClean="0"/>
              <a:t> </a:t>
            </a:r>
            <a:r>
              <a:rPr lang="en-US" altLang="en-US" sz="2200" i="1" dirty="0" smtClean="0"/>
              <a:t>(a</a:t>
            </a:r>
            <a:r>
              <a:rPr lang="en-US" altLang="en-US" sz="2200" i="1" baseline="-25000" dirty="0" smtClean="0"/>
              <a:t>0</a:t>
            </a:r>
            <a:r>
              <a:rPr lang="en-US" altLang="en-US" sz="2200" i="1" dirty="0" smtClean="0"/>
              <a:t>, </a:t>
            </a:r>
            <a:r>
              <a:rPr lang="en-US" altLang="en-US" sz="2200" i="1" dirty="0" err="1" smtClean="0"/>
              <a:t>a</a:t>
            </a:r>
            <a:r>
              <a:rPr lang="en-US" altLang="en-US" sz="2200" i="1" baseline="-25000" dirty="0" err="1" smtClean="0"/>
              <a:t>N-i</a:t>
            </a:r>
            <a:r>
              <a:rPr lang="en-US" altLang="en-US" sz="2200" i="1" dirty="0" smtClean="0"/>
              <a:t>)</a:t>
            </a:r>
          </a:p>
          <a:p>
            <a:pPr lvl="1"/>
            <a:r>
              <a:rPr lang="en-US" altLang="en-US" sz="2200" dirty="0" smtClean="0"/>
              <a:t>B3: </a:t>
            </a:r>
            <a:r>
              <a:rPr lang="en-US" altLang="en-US" sz="2200" dirty="0" err="1" smtClean="0"/>
              <a:t>Vun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lại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đống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bắt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đầu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từ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nút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gốc</a:t>
            </a:r>
            <a:r>
              <a:rPr lang="en-US" altLang="en-US" sz="2200" dirty="0" smtClean="0"/>
              <a:t> a</a:t>
            </a:r>
            <a:r>
              <a:rPr lang="en-US" altLang="en-US" sz="2200" baseline="-25000" dirty="0" smtClean="0"/>
              <a:t>0</a:t>
            </a:r>
            <a:r>
              <a:rPr lang="en-US" altLang="en-US" sz="2200" dirty="0" smtClean="0"/>
              <a:t>,</a:t>
            </a:r>
            <a:r>
              <a:rPr lang="en-US" altLang="en-US" sz="2200" baseline="-25000" dirty="0" smtClean="0"/>
              <a:t> </a:t>
            </a:r>
            <a:r>
              <a:rPr lang="en-US" altLang="en-US" sz="2200" dirty="0" err="1" smtClean="0"/>
              <a:t>kích</a:t>
            </a:r>
            <a:r>
              <a:rPr lang="en-US" altLang="en-US" sz="2200" dirty="0" smtClean="0"/>
              <a:t> </a:t>
            </a:r>
            <a:r>
              <a:rPr lang="en-US" altLang="en-US" sz="2200" dirty="0" err="1"/>
              <a:t>thước</a:t>
            </a:r>
            <a:r>
              <a:rPr lang="en-US" altLang="en-US" sz="2200" dirty="0"/>
              <a:t> </a:t>
            </a:r>
            <a:r>
              <a:rPr lang="en-US" altLang="en-US" sz="2200" dirty="0" err="1"/>
              <a:t>dữ</a:t>
            </a:r>
            <a:r>
              <a:rPr lang="en-US" altLang="en-US" sz="2200" dirty="0"/>
              <a:t> </a:t>
            </a:r>
            <a:r>
              <a:rPr lang="en-US" altLang="en-US" sz="2200" dirty="0" err="1"/>
              <a:t>liệu</a:t>
            </a:r>
            <a:r>
              <a:rPr lang="en-US" altLang="en-US" sz="2200" dirty="0"/>
              <a:t> </a:t>
            </a:r>
            <a:r>
              <a:rPr lang="en-US" altLang="en-US" sz="2200" dirty="0" err="1"/>
              <a:t>vun</a:t>
            </a:r>
            <a:r>
              <a:rPr lang="en-US" altLang="en-US" sz="2200" dirty="0"/>
              <a:t> </a:t>
            </a:r>
            <a:r>
              <a:rPr lang="en-US" altLang="en-US" sz="2200" dirty="0" err="1"/>
              <a:t>đống</a:t>
            </a:r>
            <a:r>
              <a:rPr lang="en-US" altLang="en-US" sz="2200" dirty="0"/>
              <a:t> </a:t>
            </a:r>
            <a:r>
              <a:rPr lang="en-US" altLang="en-US" sz="2200" dirty="0" err="1"/>
              <a:t>giảm</a:t>
            </a:r>
            <a:r>
              <a:rPr lang="en-US" altLang="en-US" sz="2200" dirty="0"/>
              <a:t> </a:t>
            </a:r>
            <a:r>
              <a:rPr lang="en-US" altLang="en-US" sz="2200" dirty="0" err="1"/>
              <a:t>đi</a:t>
            </a:r>
            <a:r>
              <a:rPr lang="en-US" altLang="en-US" sz="2200" dirty="0"/>
              <a:t> </a:t>
            </a:r>
            <a:r>
              <a:rPr lang="en-US" altLang="en-US" sz="2200" dirty="0" smtClean="0"/>
              <a:t>1.</a:t>
            </a:r>
          </a:p>
          <a:p>
            <a:pPr lvl="1"/>
            <a:r>
              <a:rPr lang="en-US" altLang="en-US" sz="2200" dirty="0" err="1" smtClean="0"/>
              <a:t>Lặp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lại</a:t>
            </a:r>
            <a:r>
              <a:rPr lang="en-US" altLang="en-US" sz="2200" dirty="0" smtClean="0"/>
              <a:t> B2, B3 </a:t>
            </a:r>
            <a:r>
              <a:rPr lang="en-US" altLang="en-US" sz="2200" dirty="0" err="1"/>
              <a:t>cho</a:t>
            </a:r>
            <a:r>
              <a:rPr lang="en-US" altLang="en-US" sz="2200" dirty="0"/>
              <a:t> </a:t>
            </a:r>
            <a:r>
              <a:rPr lang="en-US" altLang="en-US" sz="2200" dirty="0" err="1"/>
              <a:t>đến</a:t>
            </a:r>
            <a:r>
              <a:rPr lang="en-US" altLang="en-US" sz="2200" dirty="0"/>
              <a:t> </a:t>
            </a:r>
            <a:r>
              <a:rPr lang="en-US" altLang="en-US" sz="2200" dirty="0" err="1"/>
              <a:t>khi</a:t>
            </a:r>
            <a:r>
              <a:rPr lang="en-US" altLang="en-US" sz="2200" dirty="0"/>
              <a:t> </a:t>
            </a:r>
            <a:r>
              <a:rPr lang="en-US" altLang="en-US" sz="2200" dirty="0" err="1" smtClean="0"/>
              <a:t>dãy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được</a:t>
            </a:r>
            <a:r>
              <a:rPr lang="en-US" altLang="en-US" sz="2200" dirty="0" smtClean="0"/>
              <a:t> </a:t>
            </a:r>
            <a:r>
              <a:rPr lang="en-US" altLang="en-US" sz="2200" dirty="0" err="1"/>
              <a:t>sắp</a:t>
            </a:r>
            <a:r>
              <a:rPr lang="en-US" altLang="en-US" sz="2200" dirty="0"/>
              <a:t> </a:t>
            </a:r>
            <a:r>
              <a:rPr lang="en-US" altLang="en-US" sz="2200" dirty="0" err="1"/>
              <a:t>xếp</a:t>
            </a:r>
            <a:r>
              <a:rPr lang="en-US" altLang="en-US" sz="2200" dirty="0"/>
              <a:t> (N-1 </a:t>
            </a:r>
            <a:r>
              <a:rPr lang="en-US" altLang="en-US" sz="2200" dirty="0" err="1"/>
              <a:t>lần</a:t>
            </a:r>
            <a:r>
              <a:rPr lang="en-US" altLang="en-US" sz="2200" dirty="0"/>
              <a:t>)</a:t>
            </a:r>
            <a:endParaRPr lang="en-US" alt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2268690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4" y="2794256"/>
            <a:ext cx="2343150" cy="2333625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65" y="2836400"/>
            <a:ext cx="2105025" cy="231457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3.3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/>
              <a:t>vun</a:t>
            </a:r>
            <a:r>
              <a:rPr lang="en-US" altLang="en-US" dirty="0"/>
              <a:t> </a:t>
            </a:r>
            <a:r>
              <a:rPr lang="en-US" altLang="en-US" dirty="0" err="1"/>
              <a:t>đống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34950" y="838200"/>
            <a:ext cx="8674100" cy="5132832"/>
          </a:xfrm>
        </p:spPr>
        <p:txBody>
          <a:bodyPr/>
          <a:lstStyle/>
          <a:p>
            <a:r>
              <a:rPr lang="en-US" dirty="0" smtClean="0"/>
              <a:t>Minh </a:t>
            </a:r>
            <a:r>
              <a:rPr lang="en-US" dirty="0" err="1" smtClean="0"/>
              <a:t>họa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vun</a:t>
            </a:r>
            <a:r>
              <a:rPr lang="en-US" dirty="0"/>
              <a:t> </a:t>
            </a:r>
            <a:r>
              <a:rPr lang="en-US" dirty="0" err="1"/>
              <a:t>đống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DED985-16BF-4305-A242-96C86AFAB03E}"/>
              </a:ext>
            </a:extLst>
          </p:cNvPr>
          <p:cNvGrpSpPr/>
          <p:nvPr/>
        </p:nvGrpSpPr>
        <p:grpSpPr>
          <a:xfrm>
            <a:off x="609600" y="1447800"/>
            <a:ext cx="2214408" cy="304823"/>
            <a:chOff x="1090662" y="2514600"/>
            <a:chExt cx="2214408" cy="30482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F2EF915-A40E-4ADB-9D8B-2C39B79DD9CD}"/>
                </a:ext>
              </a:extLst>
            </p:cNvPr>
            <p:cNvSpPr txBox="1"/>
            <p:nvPr/>
          </p:nvSpPr>
          <p:spPr>
            <a:xfrm>
              <a:off x="1090662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/>
                <a:t>8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15878F6-B891-4EA3-AC1F-BDB4B4069009}"/>
                </a:ext>
              </a:extLst>
            </p:cNvPr>
            <p:cNvSpPr txBox="1"/>
            <p:nvPr/>
          </p:nvSpPr>
          <p:spPr>
            <a:xfrm>
              <a:off x="1459730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B228CB6-2851-4527-9491-DDFEAC05728A}"/>
                </a:ext>
              </a:extLst>
            </p:cNvPr>
            <p:cNvSpPr txBox="1"/>
            <p:nvPr/>
          </p:nvSpPr>
          <p:spPr>
            <a:xfrm>
              <a:off x="1828798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622AE93-BDED-45FB-8CF0-EFE816CA28C5}"/>
                </a:ext>
              </a:extLst>
            </p:cNvPr>
            <p:cNvSpPr txBox="1"/>
            <p:nvPr/>
          </p:nvSpPr>
          <p:spPr>
            <a:xfrm>
              <a:off x="2197866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2549396-E982-440D-AE69-8CC94075A769}"/>
                </a:ext>
              </a:extLst>
            </p:cNvPr>
            <p:cNvSpPr txBox="1"/>
            <p:nvPr/>
          </p:nvSpPr>
          <p:spPr>
            <a:xfrm>
              <a:off x="2566934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F41347E-65CB-453A-A0B1-06E251C18C97}"/>
                </a:ext>
              </a:extLst>
            </p:cNvPr>
            <p:cNvSpPr txBox="1"/>
            <p:nvPr/>
          </p:nvSpPr>
          <p:spPr>
            <a:xfrm>
              <a:off x="2936002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/>
                <a:t>5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234949" y="1945627"/>
            <a:ext cx="11409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đống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dãy</a:t>
            </a:r>
            <a:r>
              <a:rPr lang="en-US" dirty="0" smtClean="0"/>
              <a:t> ban </a:t>
            </a:r>
            <a:r>
              <a:rPr lang="en-US" dirty="0" err="1" smtClean="0"/>
              <a:t>đầu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1347736" y="2118360"/>
            <a:ext cx="0" cy="5486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218071" y="2474999"/>
            <a:ext cx="13676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 smtClean="0"/>
              <a:t>1. </a:t>
            </a:r>
            <a:r>
              <a:rPr lang="en-US" altLang="en-US" dirty="0" err="1" smtClean="0"/>
              <a:t>Hoán</a:t>
            </a:r>
            <a:r>
              <a:rPr lang="en-US" altLang="en-US" dirty="0" smtClean="0"/>
              <a:t> </a:t>
            </a:r>
            <a:r>
              <a:rPr lang="en-US" altLang="en-US" dirty="0" err="1"/>
              <a:t>đổi</a:t>
            </a:r>
            <a:r>
              <a:rPr lang="en-US" altLang="en-US" dirty="0"/>
              <a:t> </a:t>
            </a:r>
            <a:r>
              <a:rPr lang="en-US" altLang="en-US" dirty="0" err="1"/>
              <a:t>phần</a:t>
            </a:r>
            <a:r>
              <a:rPr lang="en-US" altLang="en-US" dirty="0"/>
              <a:t> </a:t>
            </a:r>
            <a:r>
              <a:rPr lang="en-US" altLang="en-US" dirty="0" err="1"/>
              <a:t>tử</a:t>
            </a:r>
            <a:endParaRPr lang="en-US" dirty="0"/>
          </a:p>
        </p:txBody>
      </p:sp>
      <p:sp>
        <p:nvSpPr>
          <p:cNvPr id="19" name="Arc 18"/>
          <p:cNvSpPr/>
          <p:nvPr/>
        </p:nvSpPr>
        <p:spPr>
          <a:xfrm>
            <a:off x="523695" y="2989171"/>
            <a:ext cx="2300314" cy="1811429"/>
          </a:xfrm>
          <a:prstGeom prst="arc">
            <a:avLst>
              <a:gd name="adj1" fmla="val 16362736"/>
              <a:gd name="adj2" fmla="val 2936228"/>
            </a:avLst>
          </a:prstGeom>
          <a:ln w="28575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810000" y="5304094"/>
            <a:ext cx="20073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 smtClean="0"/>
              <a:t>2. </a:t>
            </a:r>
            <a:r>
              <a:rPr lang="en-US" altLang="en-US" dirty="0" err="1" smtClean="0"/>
              <a:t>Giảm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kích</a:t>
            </a:r>
            <a:r>
              <a:rPr lang="en-US" altLang="en-US" dirty="0" smtClean="0"/>
              <a:t> </a:t>
            </a:r>
            <a:r>
              <a:rPr lang="en-US" altLang="en-US" dirty="0" err="1"/>
              <a:t>thước</a:t>
            </a:r>
            <a:r>
              <a:rPr lang="en-US" altLang="en-US" dirty="0"/>
              <a:t> </a:t>
            </a:r>
            <a:r>
              <a:rPr lang="en-US" altLang="en-US" dirty="0" err="1"/>
              <a:t>dữ</a:t>
            </a:r>
            <a:r>
              <a:rPr lang="en-US" altLang="en-US" dirty="0"/>
              <a:t> </a:t>
            </a:r>
            <a:r>
              <a:rPr lang="en-US" altLang="en-US" dirty="0" err="1"/>
              <a:t>liệu</a:t>
            </a:r>
            <a:r>
              <a:rPr lang="en-US" altLang="en-US" dirty="0"/>
              <a:t> </a:t>
            </a:r>
            <a:r>
              <a:rPr lang="en-US" altLang="en-US" dirty="0" err="1"/>
              <a:t>vun</a:t>
            </a:r>
            <a:r>
              <a:rPr lang="en-US" altLang="en-US" dirty="0"/>
              <a:t> </a:t>
            </a:r>
            <a:r>
              <a:rPr lang="en-US" altLang="en-US" dirty="0" err="1"/>
              <a:t>đống</a:t>
            </a:r>
            <a:r>
              <a:rPr lang="en-US" altLang="en-US" dirty="0"/>
              <a:t> </a:t>
            </a:r>
            <a:endParaRPr lang="en-US" dirty="0"/>
          </a:p>
        </p:txBody>
      </p:sp>
      <p:grpSp>
        <p:nvGrpSpPr>
          <p:cNvPr id="34" name="Group 33"/>
          <p:cNvGrpSpPr/>
          <p:nvPr/>
        </p:nvGrpSpPr>
        <p:grpSpPr>
          <a:xfrm>
            <a:off x="3200400" y="2836400"/>
            <a:ext cx="2209800" cy="2472200"/>
            <a:chOff x="3505200" y="2836400"/>
            <a:chExt cx="2209800" cy="2472200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3505200" y="2836400"/>
              <a:ext cx="2209800" cy="0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5715000" y="2836400"/>
              <a:ext cx="0" cy="1583200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H="1">
              <a:off x="4953000" y="4419600"/>
              <a:ext cx="762000" cy="0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4953000" y="4419600"/>
              <a:ext cx="0" cy="884494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3505200" y="5295694"/>
              <a:ext cx="1447800" cy="0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3505200" y="2836400"/>
              <a:ext cx="0" cy="2472200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/>
          <p:cNvSpPr/>
          <p:nvPr/>
        </p:nvSpPr>
        <p:spPr>
          <a:xfrm>
            <a:off x="6540455" y="5343029"/>
            <a:ext cx="15832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 smtClean="0"/>
              <a:t>3. </a:t>
            </a:r>
            <a:r>
              <a:rPr lang="en-US" altLang="en-US" dirty="0" err="1" smtClean="0"/>
              <a:t>Vun</a:t>
            </a:r>
            <a:r>
              <a:rPr lang="en-US" altLang="en-US" dirty="0" smtClean="0"/>
              <a:t> </a:t>
            </a:r>
            <a:r>
              <a:rPr lang="en-US" altLang="en-US" dirty="0" err="1"/>
              <a:t>lại</a:t>
            </a:r>
            <a:r>
              <a:rPr lang="en-US" altLang="en-US" dirty="0"/>
              <a:t> </a:t>
            </a:r>
            <a:r>
              <a:rPr lang="en-US" altLang="en-US" dirty="0" err="1"/>
              <a:t>đống</a:t>
            </a:r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DF5119F-74E2-4C5A-8320-5E995F98222D}"/>
              </a:ext>
            </a:extLst>
          </p:cNvPr>
          <p:cNvGrpSpPr/>
          <p:nvPr/>
        </p:nvGrpSpPr>
        <p:grpSpPr>
          <a:xfrm>
            <a:off x="3464796" y="1446211"/>
            <a:ext cx="2214408" cy="304823"/>
            <a:chOff x="1090662" y="2514600"/>
            <a:chExt cx="2214408" cy="304823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834E546-669F-47B2-98AB-7D1EC1DFA4E8}"/>
                </a:ext>
              </a:extLst>
            </p:cNvPr>
            <p:cNvSpPr txBox="1"/>
            <p:nvPr/>
          </p:nvSpPr>
          <p:spPr>
            <a:xfrm>
              <a:off x="1090662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7D37524-9ACD-4267-9D00-CEE09802D9E1}"/>
                </a:ext>
              </a:extLst>
            </p:cNvPr>
            <p:cNvSpPr txBox="1"/>
            <p:nvPr/>
          </p:nvSpPr>
          <p:spPr>
            <a:xfrm>
              <a:off x="1459730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2C005E8-3903-4EC0-A0D3-65EAB83AE107}"/>
                </a:ext>
              </a:extLst>
            </p:cNvPr>
            <p:cNvSpPr txBox="1"/>
            <p:nvPr/>
          </p:nvSpPr>
          <p:spPr>
            <a:xfrm>
              <a:off x="1828798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1476733-2030-4916-9B47-87B148DD41B5}"/>
                </a:ext>
              </a:extLst>
            </p:cNvPr>
            <p:cNvSpPr txBox="1"/>
            <p:nvPr/>
          </p:nvSpPr>
          <p:spPr>
            <a:xfrm>
              <a:off x="2197866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2F01141-E547-41FD-ABAB-3B3BA3DDEA1D}"/>
                </a:ext>
              </a:extLst>
            </p:cNvPr>
            <p:cNvSpPr txBox="1"/>
            <p:nvPr/>
          </p:nvSpPr>
          <p:spPr>
            <a:xfrm>
              <a:off x="2566934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5680CA4-EAAF-4965-A4A6-E99B4B5678BF}"/>
                </a:ext>
              </a:extLst>
            </p:cNvPr>
            <p:cNvSpPr txBox="1"/>
            <p:nvPr/>
          </p:nvSpPr>
          <p:spPr>
            <a:xfrm>
              <a:off x="2936002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8</a:t>
              </a:r>
            </a:p>
          </p:txBody>
        </p:sp>
      </p:grpSp>
      <p:cxnSp>
        <p:nvCxnSpPr>
          <p:cNvPr id="51" name="Connector: Curved 13">
            <a:extLst>
              <a:ext uri="{FF2B5EF4-FFF2-40B4-BE49-F238E27FC236}">
                <a16:creationId xmlns:a16="http://schemas.microsoft.com/office/drawing/2014/main" id="{4E64029F-F1A2-45F2-B236-B01EE66B807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67502" y="841436"/>
            <a:ext cx="12700" cy="1845340"/>
          </a:xfrm>
          <a:prstGeom prst="curvedConnector3">
            <a:avLst>
              <a:gd name="adj1" fmla="val 1800000"/>
            </a:avLst>
          </a:prstGeom>
          <a:ln w="28575">
            <a:solidFill>
              <a:srgbClr val="C00000"/>
            </a:solidFill>
            <a:headEnd type="arrow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/>
          <p:cNvGrpSpPr/>
          <p:nvPr/>
        </p:nvGrpSpPr>
        <p:grpSpPr>
          <a:xfrm>
            <a:off x="6394691" y="1446211"/>
            <a:ext cx="2214408" cy="304823"/>
            <a:chOff x="6394691" y="1446211"/>
            <a:chExt cx="2214408" cy="304823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82DDAE6-2DD1-46B5-BBAA-0A7F7D79CAC4}"/>
                </a:ext>
              </a:extLst>
            </p:cNvPr>
            <p:cNvSpPr txBox="1"/>
            <p:nvPr/>
          </p:nvSpPr>
          <p:spPr>
            <a:xfrm>
              <a:off x="6394691" y="1446211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</a:rPr>
                <a:t>7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65BCFA4-3FB9-4AC0-956C-1F4BD6E253CE}"/>
                </a:ext>
              </a:extLst>
            </p:cNvPr>
            <p:cNvSpPr txBox="1"/>
            <p:nvPr/>
          </p:nvSpPr>
          <p:spPr>
            <a:xfrm>
              <a:off x="6763759" y="1446211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BA2701B-DDDF-4F26-AED8-1FEDB6F00B51}"/>
                </a:ext>
              </a:extLst>
            </p:cNvPr>
            <p:cNvSpPr txBox="1"/>
            <p:nvPr/>
          </p:nvSpPr>
          <p:spPr>
            <a:xfrm>
              <a:off x="7132827" y="1446211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1C2AD05-56A7-4B36-B772-B890BA1FD77D}"/>
                </a:ext>
              </a:extLst>
            </p:cNvPr>
            <p:cNvSpPr txBox="1"/>
            <p:nvPr/>
          </p:nvSpPr>
          <p:spPr>
            <a:xfrm>
              <a:off x="7501895" y="1446211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A764F10-C9DF-4888-A8C1-27ED8F1ED2D1}"/>
                </a:ext>
              </a:extLst>
            </p:cNvPr>
            <p:cNvSpPr txBox="1"/>
            <p:nvPr/>
          </p:nvSpPr>
          <p:spPr>
            <a:xfrm>
              <a:off x="7870963" y="1446211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EFA0862-3472-412D-B57B-3E7038BFEB52}"/>
                </a:ext>
              </a:extLst>
            </p:cNvPr>
            <p:cNvSpPr txBox="1"/>
            <p:nvPr/>
          </p:nvSpPr>
          <p:spPr>
            <a:xfrm>
              <a:off x="8240031" y="1446211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8</a:t>
              </a:r>
            </a:p>
          </p:txBody>
        </p:sp>
      </p:grpSp>
      <p:cxnSp>
        <p:nvCxnSpPr>
          <p:cNvPr id="60" name="Connector: Curved 32">
            <a:extLst>
              <a:ext uri="{FF2B5EF4-FFF2-40B4-BE49-F238E27FC236}">
                <a16:creationId xmlns:a16="http://schemas.microsoft.com/office/drawing/2014/main" id="{B0EDA45D-04DE-40BD-AB4B-DBE0846B65DE}"/>
              </a:ext>
            </a:extLst>
          </p:cNvPr>
          <p:cNvCxnSpPr>
            <a:cxnSpLocks/>
          </p:cNvCxnSpPr>
          <p:nvPr/>
        </p:nvCxnSpPr>
        <p:spPr>
          <a:xfrm rot="16200000" flipH="1">
            <a:off x="7311011" y="1025970"/>
            <a:ext cx="12700" cy="1476272"/>
          </a:xfrm>
          <a:prstGeom prst="curvedConnector3">
            <a:avLst>
              <a:gd name="adj1" fmla="val 1800000"/>
            </a:avLst>
          </a:prstGeom>
          <a:ln w="28575">
            <a:solidFill>
              <a:srgbClr val="C00000"/>
            </a:solidFill>
            <a:headEnd type="arrow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Content Placeholder 5">
            <a:extLst>
              <a:ext uri="{FF2B5EF4-FFF2-40B4-BE49-F238E27FC236}">
                <a16:creationId xmlns:a16="http://schemas.microsoft.com/office/drawing/2014/main" id="{02956E73-44D8-4F62-9DF1-39461027EAE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37" r="35185"/>
          <a:stretch/>
        </p:blipFill>
        <p:spPr>
          <a:xfrm>
            <a:off x="3171044" y="2398931"/>
            <a:ext cx="2286000" cy="3049172"/>
          </a:xfrm>
          <a:prstGeom prst="rect">
            <a:avLst/>
          </a:prstGeom>
        </p:spPr>
      </p:pic>
      <p:cxnSp>
        <p:nvCxnSpPr>
          <p:cNvPr id="64" name="Straight Arrow Connector 63"/>
          <p:cNvCxnSpPr>
            <a:endCxn id="62" idx="1"/>
          </p:cNvCxnSpPr>
          <p:nvPr/>
        </p:nvCxnSpPr>
        <p:spPr>
          <a:xfrm>
            <a:off x="2695178" y="3923517"/>
            <a:ext cx="475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5918825" y="4076267"/>
            <a:ext cx="475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Arc 69"/>
          <p:cNvSpPr/>
          <p:nvPr/>
        </p:nvSpPr>
        <p:spPr>
          <a:xfrm>
            <a:off x="6541333" y="2989171"/>
            <a:ext cx="1840667" cy="1811429"/>
          </a:xfrm>
          <a:prstGeom prst="arc">
            <a:avLst>
              <a:gd name="adj1" fmla="val 17198471"/>
              <a:gd name="adj2" fmla="val 4286538"/>
            </a:avLst>
          </a:prstGeom>
          <a:ln w="28575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7935947" y="2464971"/>
            <a:ext cx="13676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 err="1" smtClean="0"/>
              <a:t>Hoán</a:t>
            </a:r>
            <a:r>
              <a:rPr lang="en-US" altLang="en-US" dirty="0" smtClean="0"/>
              <a:t> </a:t>
            </a:r>
            <a:r>
              <a:rPr lang="en-US" altLang="en-US" dirty="0" err="1"/>
              <a:t>đổi</a:t>
            </a:r>
            <a:r>
              <a:rPr lang="en-US" altLang="en-US" dirty="0"/>
              <a:t> </a:t>
            </a:r>
            <a:r>
              <a:rPr lang="en-US" altLang="en-US" dirty="0" err="1"/>
              <a:t>phần</a:t>
            </a:r>
            <a:r>
              <a:rPr lang="en-US" altLang="en-US" dirty="0"/>
              <a:t> </a:t>
            </a:r>
            <a:r>
              <a:rPr lang="en-US" altLang="en-US" dirty="0" err="1"/>
              <a:t>tử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89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19" grpId="0" animBg="1"/>
      <p:bldP spid="20" grpId="0"/>
      <p:bldP spid="35" grpId="0"/>
      <p:bldP spid="70" grpId="0" animBg="1"/>
      <p:bldP spid="5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3.3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/>
              <a:t>vun</a:t>
            </a:r>
            <a:r>
              <a:rPr lang="en-US" altLang="en-US" dirty="0"/>
              <a:t> </a:t>
            </a:r>
            <a:r>
              <a:rPr lang="en-US" altLang="en-US" dirty="0" err="1"/>
              <a:t>đống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34951" y="838200"/>
            <a:ext cx="8674100" cy="5132832"/>
          </a:xfrm>
        </p:spPr>
        <p:txBody>
          <a:bodyPr/>
          <a:lstStyle/>
          <a:p>
            <a:r>
              <a:rPr lang="en-US" dirty="0"/>
              <a:t>Minh </a:t>
            </a:r>
            <a:r>
              <a:rPr lang="en-US" dirty="0" err="1" smtClean="0"/>
              <a:t>họa</a:t>
            </a:r>
            <a:r>
              <a:rPr lang="en-US" dirty="0" smtClean="0"/>
              <a:t> </a:t>
            </a:r>
            <a:r>
              <a:rPr lang="en-US" dirty="0" err="1" smtClean="0"/>
              <a:t>Sắp</a:t>
            </a:r>
            <a:r>
              <a:rPr lang="en-US" dirty="0" smtClean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vun</a:t>
            </a:r>
            <a:r>
              <a:rPr lang="en-US" dirty="0"/>
              <a:t> </a:t>
            </a:r>
            <a:r>
              <a:rPr lang="en-US" dirty="0" err="1"/>
              <a:t>đống</a:t>
            </a:r>
            <a:endParaRPr lang="en-US" dirty="0"/>
          </a:p>
        </p:txBody>
      </p:sp>
      <p:pic>
        <p:nvPicPr>
          <p:cNvPr id="42" name="Content Placeholder 15">
            <a:extLst>
              <a:ext uri="{FF2B5EF4-FFF2-40B4-BE49-F238E27FC236}">
                <a16:creationId xmlns:a16="http://schemas.microsoft.com/office/drawing/2014/main" id="{378A2C97-4861-4E31-8E1B-3D23E61F0B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593" y="1589932"/>
            <a:ext cx="6501831" cy="1882471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C1DED985-16BF-4305-A242-96C86AFAB03E}"/>
              </a:ext>
            </a:extLst>
          </p:cNvPr>
          <p:cNvGrpSpPr/>
          <p:nvPr/>
        </p:nvGrpSpPr>
        <p:grpSpPr>
          <a:xfrm>
            <a:off x="3896099" y="1396665"/>
            <a:ext cx="2214408" cy="305016"/>
            <a:chOff x="1090662" y="2514407"/>
            <a:chExt cx="2214408" cy="305016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F2EF915-A40E-4ADB-9D8B-2C39B79DD9CD}"/>
                </a:ext>
              </a:extLst>
            </p:cNvPr>
            <p:cNvSpPr txBox="1"/>
            <p:nvPr/>
          </p:nvSpPr>
          <p:spPr>
            <a:xfrm>
              <a:off x="1090662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</a:rPr>
                <a:t>5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15878F6-B891-4EA3-AC1F-BDB4B4069009}"/>
                </a:ext>
              </a:extLst>
            </p:cNvPr>
            <p:cNvSpPr txBox="1"/>
            <p:nvPr/>
          </p:nvSpPr>
          <p:spPr>
            <a:xfrm>
              <a:off x="1459730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B228CB6-2851-4527-9491-DDFEAC05728A}"/>
                </a:ext>
              </a:extLst>
            </p:cNvPr>
            <p:cNvSpPr txBox="1"/>
            <p:nvPr/>
          </p:nvSpPr>
          <p:spPr>
            <a:xfrm>
              <a:off x="1828798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622AE93-BDED-45FB-8CF0-EFE816CA28C5}"/>
                </a:ext>
              </a:extLst>
            </p:cNvPr>
            <p:cNvSpPr txBox="1"/>
            <p:nvPr/>
          </p:nvSpPr>
          <p:spPr>
            <a:xfrm>
              <a:off x="2197866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2549396-E982-440D-AE69-8CC94075A769}"/>
                </a:ext>
              </a:extLst>
            </p:cNvPr>
            <p:cNvSpPr txBox="1"/>
            <p:nvPr/>
          </p:nvSpPr>
          <p:spPr>
            <a:xfrm>
              <a:off x="2566934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7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F41347E-65CB-453A-A0B1-06E251C18C97}"/>
                </a:ext>
              </a:extLst>
            </p:cNvPr>
            <p:cNvSpPr txBox="1"/>
            <p:nvPr/>
          </p:nvSpPr>
          <p:spPr>
            <a:xfrm>
              <a:off x="2936002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8</a:t>
              </a:r>
            </a:p>
          </p:txBody>
        </p:sp>
        <p:cxnSp>
          <p:nvCxnSpPr>
            <p:cNvPr id="66" name="Connector: Curved 13">
              <a:extLst>
                <a:ext uri="{FF2B5EF4-FFF2-40B4-BE49-F238E27FC236}">
                  <a16:creationId xmlns:a16="http://schemas.microsoft.com/office/drawing/2014/main" id="{4E64029F-F1A2-45F2-B236-B01EE66B807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822448" y="1967155"/>
              <a:ext cx="12700" cy="1107204"/>
            </a:xfrm>
            <a:prstGeom prst="curvedConnector3">
              <a:avLst>
                <a:gd name="adj1" fmla="val -1632559"/>
              </a:avLst>
            </a:prstGeom>
            <a:ln w="28575">
              <a:solidFill>
                <a:srgbClr val="C00000"/>
              </a:solidFill>
              <a:headEnd type="arrow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DF5119F-74E2-4C5A-8320-5E995F98222D}"/>
              </a:ext>
            </a:extLst>
          </p:cNvPr>
          <p:cNvGrpSpPr/>
          <p:nvPr/>
        </p:nvGrpSpPr>
        <p:grpSpPr>
          <a:xfrm>
            <a:off x="946035" y="1396858"/>
            <a:ext cx="2214408" cy="304823"/>
            <a:chOff x="1090662" y="2514600"/>
            <a:chExt cx="2214408" cy="304823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834E546-669F-47B2-98AB-7D1EC1DFA4E8}"/>
                </a:ext>
              </a:extLst>
            </p:cNvPr>
            <p:cNvSpPr txBox="1"/>
            <p:nvPr/>
          </p:nvSpPr>
          <p:spPr>
            <a:xfrm>
              <a:off x="1090662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7D37524-9ACD-4267-9D00-CEE09802D9E1}"/>
                </a:ext>
              </a:extLst>
            </p:cNvPr>
            <p:cNvSpPr txBox="1"/>
            <p:nvPr/>
          </p:nvSpPr>
          <p:spPr>
            <a:xfrm>
              <a:off x="1459730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2C005E8-3903-4EC0-A0D3-65EAB83AE107}"/>
                </a:ext>
              </a:extLst>
            </p:cNvPr>
            <p:cNvSpPr txBox="1"/>
            <p:nvPr/>
          </p:nvSpPr>
          <p:spPr>
            <a:xfrm>
              <a:off x="1828798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1476733-2030-4916-9B47-87B148DD41B5}"/>
                </a:ext>
              </a:extLst>
            </p:cNvPr>
            <p:cNvSpPr txBox="1"/>
            <p:nvPr/>
          </p:nvSpPr>
          <p:spPr>
            <a:xfrm>
              <a:off x="2197866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2F01141-E547-41FD-ABAB-3B3BA3DDEA1D}"/>
                </a:ext>
              </a:extLst>
            </p:cNvPr>
            <p:cNvSpPr txBox="1"/>
            <p:nvPr/>
          </p:nvSpPr>
          <p:spPr>
            <a:xfrm>
              <a:off x="2566934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7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5680CA4-EAAF-4965-A4A6-E99B4B5678BF}"/>
                </a:ext>
              </a:extLst>
            </p:cNvPr>
            <p:cNvSpPr txBox="1"/>
            <p:nvPr/>
          </p:nvSpPr>
          <p:spPr>
            <a:xfrm>
              <a:off x="2936002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8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21F2FEA-2CD3-43C4-A110-91D25BDCE68D}"/>
              </a:ext>
            </a:extLst>
          </p:cNvPr>
          <p:cNvGrpSpPr/>
          <p:nvPr/>
        </p:nvGrpSpPr>
        <p:grpSpPr>
          <a:xfrm>
            <a:off x="6700992" y="1396857"/>
            <a:ext cx="2214408" cy="304823"/>
            <a:chOff x="1090662" y="2514600"/>
            <a:chExt cx="2214408" cy="304823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82DDAE6-2DD1-46B5-BBAA-0A7F7D79CAC4}"/>
                </a:ext>
              </a:extLst>
            </p:cNvPr>
            <p:cNvSpPr txBox="1"/>
            <p:nvPr/>
          </p:nvSpPr>
          <p:spPr>
            <a:xfrm>
              <a:off x="1090662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65BCFA4-3FB9-4AC0-956C-1F4BD6E253CE}"/>
                </a:ext>
              </a:extLst>
            </p:cNvPr>
            <p:cNvSpPr txBox="1"/>
            <p:nvPr/>
          </p:nvSpPr>
          <p:spPr>
            <a:xfrm>
              <a:off x="1459730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BA2701B-DDDF-4F26-AED8-1FEDB6F00B51}"/>
                </a:ext>
              </a:extLst>
            </p:cNvPr>
            <p:cNvSpPr txBox="1"/>
            <p:nvPr/>
          </p:nvSpPr>
          <p:spPr>
            <a:xfrm>
              <a:off x="1828798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1C2AD05-56A7-4B36-B772-B890BA1FD77D}"/>
                </a:ext>
              </a:extLst>
            </p:cNvPr>
            <p:cNvSpPr txBox="1"/>
            <p:nvPr/>
          </p:nvSpPr>
          <p:spPr>
            <a:xfrm>
              <a:off x="2197866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5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A764F10-C9DF-4888-A8C1-27ED8F1ED2D1}"/>
                </a:ext>
              </a:extLst>
            </p:cNvPr>
            <p:cNvSpPr txBox="1"/>
            <p:nvPr/>
          </p:nvSpPr>
          <p:spPr>
            <a:xfrm>
              <a:off x="2566934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7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EFA0862-3472-412D-B57B-3E7038BFEB52}"/>
                </a:ext>
              </a:extLst>
            </p:cNvPr>
            <p:cNvSpPr txBox="1"/>
            <p:nvPr/>
          </p:nvSpPr>
          <p:spPr>
            <a:xfrm>
              <a:off x="2936002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8</a:t>
              </a:r>
            </a:p>
          </p:txBody>
        </p:sp>
      </p:grpSp>
      <p:cxnSp>
        <p:nvCxnSpPr>
          <p:cNvPr id="81" name="Straight Arrow Connector 80"/>
          <p:cNvCxnSpPr/>
          <p:nvPr/>
        </p:nvCxnSpPr>
        <p:spPr>
          <a:xfrm>
            <a:off x="304041" y="1589932"/>
            <a:ext cx="475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Content Placeholder 12">
            <a:extLst>
              <a:ext uri="{FF2B5EF4-FFF2-40B4-BE49-F238E27FC236}">
                <a16:creationId xmlns:a16="http://schemas.microsoft.com/office/drawing/2014/main" id="{EDE1442D-F648-41C4-A086-2CABB011C1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870" y="3529584"/>
            <a:ext cx="5656514" cy="1681984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C1DED985-16BF-4305-A242-96C86AFAB03E}"/>
              </a:ext>
            </a:extLst>
          </p:cNvPr>
          <p:cNvGrpSpPr/>
          <p:nvPr/>
        </p:nvGrpSpPr>
        <p:grpSpPr>
          <a:xfrm>
            <a:off x="1046566" y="3462531"/>
            <a:ext cx="2214408" cy="311173"/>
            <a:chOff x="1090662" y="2514600"/>
            <a:chExt cx="2214408" cy="311173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F2EF915-A40E-4ADB-9D8B-2C39B79DD9CD}"/>
                </a:ext>
              </a:extLst>
            </p:cNvPr>
            <p:cNvSpPr txBox="1"/>
            <p:nvPr/>
          </p:nvSpPr>
          <p:spPr>
            <a:xfrm>
              <a:off x="1090662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</a:rPr>
                <a:t>4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15878F6-B891-4EA3-AC1F-BDB4B4069009}"/>
                </a:ext>
              </a:extLst>
            </p:cNvPr>
            <p:cNvSpPr txBox="1"/>
            <p:nvPr/>
          </p:nvSpPr>
          <p:spPr>
            <a:xfrm>
              <a:off x="1459730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B228CB6-2851-4527-9491-DDFEAC05728A}"/>
                </a:ext>
              </a:extLst>
            </p:cNvPr>
            <p:cNvSpPr txBox="1"/>
            <p:nvPr/>
          </p:nvSpPr>
          <p:spPr>
            <a:xfrm>
              <a:off x="1828798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622AE93-BDED-45FB-8CF0-EFE816CA28C5}"/>
                </a:ext>
              </a:extLst>
            </p:cNvPr>
            <p:cNvSpPr txBox="1"/>
            <p:nvPr/>
          </p:nvSpPr>
          <p:spPr>
            <a:xfrm>
              <a:off x="2197866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5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2549396-E982-440D-AE69-8CC94075A769}"/>
                </a:ext>
              </a:extLst>
            </p:cNvPr>
            <p:cNvSpPr txBox="1"/>
            <p:nvPr/>
          </p:nvSpPr>
          <p:spPr>
            <a:xfrm>
              <a:off x="2566934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7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F41347E-65CB-453A-A0B1-06E251C18C97}"/>
                </a:ext>
              </a:extLst>
            </p:cNvPr>
            <p:cNvSpPr txBox="1"/>
            <p:nvPr/>
          </p:nvSpPr>
          <p:spPr>
            <a:xfrm>
              <a:off x="2936002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8</a:t>
              </a:r>
            </a:p>
          </p:txBody>
        </p:sp>
        <p:cxnSp>
          <p:nvCxnSpPr>
            <p:cNvPr id="37" name="Connector: Curved 13">
              <a:extLst>
                <a:ext uri="{FF2B5EF4-FFF2-40B4-BE49-F238E27FC236}">
                  <a16:creationId xmlns:a16="http://schemas.microsoft.com/office/drawing/2014/main" id="{4E64029F-F1A2-45F2-B236-B01EE66B8075}"/>
                </a:ext>
              </a:extLst>
            </p:cNvPr>
            <p:cNvCxnSpPr>
              <a:cxnSpLocks/>
              <a:stCxn id="31" idx="2"/>
              <a:endCxn id="33" idx="2"/>
            </p:cNvCxnSpPr>
            <p:nvPr/>
          </p:nvCxnSpPr>
          <p:spPr>
            <a:xfrm rot="16200000" flipH="1">
              <a:off x="1644264" y="2450355"/>
              <a:ext cx="12700" cy="738136"/>
            </a:xfrm>
            <a:prstGeom prst="curvedConnector3">
              <a:avLst>
                <a:gd name="adj1" fmla="val 1800000"/>
              </a:avLst>
            </a:prstGeom>
            <a:ln w="28575">
              <a:solidFill>
                <a:srgbClr val="C00000"/>
              </a:solidFill>
              <a:headEnd type="arrow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21F2FEA-2CD3-43C4-A110-91D25BDCE68D}"/>
              </a:ext>
            </a:extLst>
          </p:cNvPr>
          <p:cNvGrpSpPr/>
          <p:nvPr/>
        </p:nvGrpSpPr>
        <p:grpSpPr>
          <a:xfrm>
            <a:off x="4098198" y="3429000"/>
            <a:ext cx="2214408" cy="304823"/>
            <a:chOff x="1090662" y="2514600"/>
            <a:chExt cx="2214408" cy="304823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82DDAE6-2DD1-46B5-BBAA-0A7F7D79CAC4}"/>
                </a:ext>
              </a:extLst>
            </p:cNvPr>
            <p:cNvSpPr txBox="1"/>
            <p:nvPr/>
          </p:nvSpPr>
          <p:spPr>
            <a:xfrm>
              <a:off x="1090662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65BCFA4-3FB9-4AC0-956C-1F4BD6E253CE}"/>
                </a:ext>
              </a:extLst>
            </p:cNvPr>
            <p:cNvSpPr txBox="1"/>
            <p:nvPr/>
          </p:nvSpPr>
          <p:spPr>
            <a:xfrm>
              <a:off x="1459730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BA2701B-DDDF-4F26-AED8-1FEDB6F00B51}"/>
                </a:ext>
              </a:extLst>
            </p:cNvPr>
            <p:cNvSpPr txBox="1"/>
            <p:nvPr/>
          </p:nvSpPr>
          <p:spPr>
            <a:xfrm>
              <a:off x="1828798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1C2AD05-56A7-4B36-B772-B890BA1FD77D}"/>
                </a:ext>
              </a:extLst>
            </p:cNvPr>
            <p:cNvSpPr txBox="1"/>
            <p:nvPr/>
          </p:nvSpPr>
          <p:spPr>
            <a:xfrm>
              <a:off x="2197866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5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A764F10-C9DF-4888-A8C1-27ED8F1ED2D1}"/>
                </a:ext>
              </a:extLst>
            </p:cNvPr>
            <p:cNvSpPr txBox="1"/>
            <p:nvPr/>
          </p:nvSpPr>
          <p:spPr>
            <a:xfrm>
              <a:off x="2566934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7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EFA0862-3472-412D-B57B-3E7038BFEB52}"/>
                </a:ext>
              </a:extLst>
            </p:cNvPr>
            <p:cNvSpPr txBox="1"/>
            <p:nvPr/>
          </p:nvSpPr>
          <p:spPr>
            <a:xfrm>
              <a:off x="2936002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8</a:t>
              </a:r>
            </a:p>
          </p:txBody>
        </p:sp>
      </p:grpSp>
      <p:cxnSp>
        <p:nvCxnSpPr>
          <p:cNvPr id="47" name="Straight Arrow Connector 46"/>
          <p:cNvCxnSpPr/>
          <p:nvPr/>
        </p:nvCxnSpPr>
        <p:spPr>
          <a:xfrm>
            <a:off x="399448" y="3614942"/>
            <a:ext cx="475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Content Placeholder 15">
            <a:extLst>
              <a:ext uri="{FF2B5EF4-FFF2-40B4-BE49-F238E27FC236}">
                <a16:creationId xmlns:a16="http://schemas.microsoft.com/office/drawing/2014/main" id="{72BF2D30-29A8-4973-889E-DD8775C1470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" t="2366" r="56482" b="-2366"/>
          <a:stretch/>
        </p:blipFill>
        <p:spPr>
          <a:xfrm>
            <a:off x="6817066" y="3637083"/>
            <a:ext cx="2181077" cy="1236408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C1DED985-16BF-4305-A242-96C86AFAB03E}"/>
              </a:ext>
            </a:extLst>
          </p:cNvPr>
          <p:cNvGrpSpPr/>
          <p:nvPr/>
        </p:nvGrpSpPr>
        <p:grpSpPr>
          <a:xfrm>
            <a:off x="6788879" y="3386870"/>
            <a:ext cx="2214408" cy="311173"/>
            <a:chOff x="1090662" y="2514600"/>
            <a:chExt cx="2214408" cy="311173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F2EF915-A40E-4ADB-9D8B-2C39B79DD9CD}"/>
                </a:ext>
              </a:extLst>
            </p:cNvPr>
            <p:cNvSpPr txBox="1"/>
            <p:nvPr/>
          </p:nvSpPr>
          <p:spPr>
            <a:xfrm>
              <a:off x="1090662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15878F6-B891-4EA3-AC1F-BDB4B4069009}"/>
                </a:ext>
              </a:extLst>
            </p:cNvPr>
            <p:cNvSpPr txBox="1"/>
            <p:nvPr/>
          </p:nvSpPr>
          <p:spPr>
            <a:xfrm>
              <a:off x="1459730" y="2514600"/>
              <a:ext cx="369068" cy="304823"/>
            </a:xfrm>
            <a:prstGeom prst="rect">
              <a:avLst/>
            </a:prstGeom>
            <a:noFill/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B228CB6-2851-4527-9491-DDFEAC05728A}"/>
                </a:ext>
              </a:extLst>
            </p:cNvPr>
            <p:cNvSpPr txBox="1"/>
            <p:nvPr/>
          </p:nvSpPr>
          <p:spPr>
            <a:xfrm>
              <a:off x="1828798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4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622AE93-BDED-45FB-8CF0-EFE816CA28C5}"/>
                </a:ext>
              </a:extLst>
            </p:cNvPr>
            <p:cNvSpPr txBox="1"/>
            <p:nvPr/>
          </p:nvSpPr>
          <p:spPr>
            <a:xfrm>
              <a:off x="2197866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5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2549396-E982-440D-AE69-8CC94075A769}"/>
                </a:ext>
              </a:extLst>
            </p:cNvPr>
            <p:cNvSpPr txBox="1"/>
            <p:nvPr/>
          </p:nvSpPr>
          <p:spPr>
            <a:xfrm>
              <a:off x="2566934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7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F41347E-65CB-453A-A0B1-06E251C18C97}"/>
                </a:ext>
              </a:extLst>
            </p:cNvPr>
            <p:cNvSpPr txBox="1"/>
            <p:nvPr/>
          </p:nvSpPr>
          <p:spPr>
            <a:xfrm>
              <a:off x="2936002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8</a:t>
              </a:r>
            </a:p>
          </p:txBody>
        </p:sp>
        <p:cxnSp>
          <p:nvCxnSpPr>
            <p:cNvPr id="57" name="Connector: Curved 13">
              <a:extLst>
                <a:ext uri="{FF2B5EF4-FFF2-40B4-BE49-F238E27FC236}">
                  <a16:creationId xmlns:a16="http://schemas.microsoft.com/office/drawing/2014/main" id="{4E64029F-F1A2-45F2-B236-B01EE66B8075}"/>
                </a:ext>
              </a:extLst>
            </p:cNvPr>
            <p:cNvCxnSpPr>
              <a:cxnSpLocks/>
              <a:stCxn id="50" idx="2"/>
              <a:endCxn id="51" idx="2"/>
            </p:cNvCxnSpPr>
            <p:nvPr/>
          </p:nvCxnSpPr>
          <p:spPr>
            <a:xfrm rot="16200000" flipH="1">
              <a:off x="1459730" y="2634889"/>
              <a:ext cx="12700" cy="369068"/>
            </a:xfrm>
            <a:prstGeom prst="curvedConnector3">
              <a:avLst>
                <a:gd name="adj1" fmla="val 1800000"/>
              </a:avLst>
            </a:prstGeom>
            <a:ln w="28575">
              <a:solidFill>
                <a:srgbClr val="C00000"/>
              </a:solidFill>
              <a:headEnd type="arrow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21F2FEA-2CD3-43C4-A110-91D25BDCE68D}"/>
              </a:ext>
            </a:extLst>
          </p:cNvPr>
          <p:cNvGrpSpPr/>
          <p:nvPr/>
        </p:nvGrpSpPr>
        <p:grpSpPr>
          <a:xfrm>
            <a:off x="1251160" y="5133032"/>
            <a:ext cx="2214408" cy="304823"/>
            <a:chOff x="1090662" y="2514600"/>
            <a:chExt cx="2214408" cy="304823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82DDAE6-2DD1-46B5-BBAA-0A7F7D79CAC4}"/>
                </a:ext>
              </a:extLst>
            </p:cNvPr>
            <p:cNvSpPr txBox="1"/>
            <p:nvPr/>
          </p:nvSpPr>
          <p:spPr>
            <a:xfrm>
              <a:off x="1090662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1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65BCFA4-3FB9-4AC0-956C-1F4BD6E253CE}"/>
                </a:ext>
              </a:extLst>
            </p:cNvPr>
            <p:cNvSpPr txBox="1"/>
            <p:nvPr/>
          </p:nvSpPr>
          <p:spPr>
            <a:xfrm>
              <a:off x="1459730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3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BA2701B-DDDF-4F26-AED8-1FEDB6F00B51}"/>
                </a:ext>
              </a:extLst>
            </p:cNvPr>
            <p:cNvSpPr txBox="1"/>
            <p:nvPr/>
          </p:nvSpPr>
          <p:spPr>
            <a:xfrm>
              <a:off x="1828798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4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1C2AD05-56A7-4B36-B772-B890BA1FD77D}"/>
                </a:ext>
              </a:extLst>
            </p:cNvPr>
            <p:cNvSpPr txBox="1"/>
            <p:nvPr/>
          </p:nvSpPr>
          <p:spPr>
            <a:xfrm>
              <a:off x="2197866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5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A764F10-C9DF-4888-A8C1-27ED8F1ED2D1}"/>
                </a:ext>
              </a:extLst>
            </p:cNvPr>
            <p:cNvSpPr txBox="1"/>
            <p:nvPr/>
          </p:nvSpPr>
          <p:spPr>
            <a:xfrm>
              <a:off x="2566934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7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EFA0862-3472-412D-B57B-3E7038BFEB52}"/>
                </a:ext>
              </a:extLst>
            </p:cNvPr>
            <p:cNvSpPr txBox="1"/>
            <p:nvPr/>
          </p:nvSpPr>
          <p:spPr>
            <a:xfrm>
              <a:off x="2936002" y="2514600"/>
              <a:ext cx="369068" cy="304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36A2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1600" b="1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8</a:t>
              </a:r>
            </a:p>
          </p:txBody>
        </p:sp>
      </p:grpSp>
      <p:pic>
        <p:nvPicPr>
          <p:cNvPr id="86" name="Content Placeholder 15">
            <a:extLst>
              <a:ext uri="{FF2B5EF4-FFF2-40B4-BE49-F238E27FC236}">
                <a16:creationId xmlns:a16="http://schemas.microsoft.com/office/drawing/2014/main" id="{72BF2D30-29A8-4973-889E-DD8775C1470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96" t="19569" b="60209"/>
          <a:stretch/>
        </p:blipFill>
        <p:spPr>
          <a:xfrm>
            <a:off x="815467" y="5737371"/>
            <a:ext cx="2647297" cy="397150"/>
          </a:xfrm>
          <a:prstGeom prst="rect">
            <a:avLst/>
          </a:prstGeom>
        </p:spPr>
      </p:pic>
      <p:pic>
        <p:nvPicPr>
          <p:cNvPr id="87" name="Content Placeholder 15">
            <a:extLst>
              <a:ext uri="{FF2B5EF4-FFF2-40B4-BE49-F238E27FC236}">
                <a16:creationId xmlns:a16="http://schemas.microsoft.com/office/drawing/2014/main" id="{72BF2D30-29A8-4973-889E-DD8775C1470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96" t="42544" b="34344"/>
          <a:stretch/>
        </p:blipFill>
        <p:spPr>
          <a:xfrm>
            <a:off x="3245604" y="5724151"/>
            <a:ext cx="1310958" cy="460129"/>
          </a:xfrm>
          <a:prstGeom prst="rect">
            <a:avLst/>
          </a:prstGeom>
        </p:spPr>
      </p:pic>
      <p:cxnSp>
        <p:nvCxnSpPr>
          <p:cNvPr id="88" name="Straight Arrow Connector 87"/>
          <p:cNvCxnSpPr/>
          <p:nvPr/>
        </p:nvCxnSpPr>
        <p:spPr>
          <a:xfrm>
            <a:off x="414032" y="5303414"/>
            <a:ext cx="4758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060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9BEF23E-F13C-4F4B-B147-273E14ABE014}" type="slidenum">
              <a:rPr lang="en-US" altLang="en-US">
                <a:latin typeface="Garamond" panose="02020404030301010803" pitchFamily="18" charset="0"/>
              </a:rPr>
              <a:pPr eaLnBrk="1" hangingPunct="1"/>
              <a:t>51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3.3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/>
              <a:t>vun</a:t>
            </a:r>
            <a:r>
              <a:rPr lang="en-US" altLang="en-US" dirty="0"/>
              <a:t> </a:t>
            </a:r>
            <a:r>
              <a:rPr lang="en-US" altLang="en-US" dirty="0" err="1"/>
              <a:t>đống</a:t>
            </a:r>
            <a:endParaRPr lang="en-US" altLang="en-US" dirty="0" smtClean="0"/>
          </a:p>
        </p:txBody>
      </p:sp>
      <p:sp>
        <p:nvSpPr>
          <p:cNvPr id="37891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234950" y="974974"/>
            <a:ext cx="8674100" cy="5597154"/>
          </a:xfrm>
        </p:spPr>
        <p:txBody>
          <a:bodyPr>
            <a:normAutofit/>
          </a:bodyPr>
          <a:lstStyle/>
          <a:p>
            <a:r>
              <a:rPr lang="en-US" altLang="en-US" sz="2300" b="1" dirty="0" err="1" smtClean="0"/>
              <a:t>Giải</a:t>
            </a:r>
            <a:r>
              <a:rPr lang="en-US" altLang="en-US" sz="2300" b="1" dirty="0" smtClean="0"/>
              <a:t> </a:t>
            </a:r>
            <a:r>
              <a:rPr lang="en-US" altLang="en-US" sz="2300" b="1" dirty="0" err="1" smtClean="0"/>
              <a:t>thuật</a:t>
            </a:r>
            <a:r>
              <a:rPr lang="en-US" altLang="en-US" sz="2300" b="1" dirty="0" smtClean="0"/>
              <a:t> </a:t>
            </a:r>
            <a:r>
              <a:rPr lang="en-US" altLang="en-US" sz="2300" b="1" dirty="0" err="1"/>
              <a:t>Vun</a:t>
            </a:r>
            <a:r>
              <a:rPr lang="en-US" altLang="en-US" sz="2300" b="1" dirty="0"/>
              <a:t> </a:t>
            </a:r>
            <a:r>
              <a:rPr lang="en-US" altLang="en-US" sz="2300" b="1" dirty="0" err="1"/>
              <a:t>đống</a:t>
            </a:r>
            <a:r>
              <a:rPr lang="en-US" altLang="en-US" sz="2300" b="1" dirty="0"/>
              <a:t> </a:t>
            </a:r>
            <a:r>
              <a:rPr lang="en-US" alt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MakeHeap</a:t>
            </a:r>
            <a:endParaRPr lang="en-US" altLang="en-US" sz="24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en-US" sz="2400" i="1" dirty="0" err="1"/>
              <a:t>Đưa</a:t>
            </a:r>
            <a:r>
              <a:rPr lang="en-US" altLang="en-US" sz="2400" i="1" dirty="0"/>
              <a:t> m</a:t>
            </a:r>
            <a:r>
              <a:rPr lang="vi-VN" altLang="en-US" sz="2400" i="1" dirty="0"/>
              <a:t>ột cây có </a:t>
            </a:r>
            <a:r>
              <a:rPr lang="en-US" altLang="en-US" sz="2400" i="1" dirty="0"/>
              <a:t>N</a:t>
            </a:r>
            <a:r>
              <a:rPr lang="vi-VN" altLang="en-US" sz="2400" i="1" dirty="0"/>
              <a:t> nút bất kỳ</a:t>
            </a:r>
            <a:r>
              <a:rPr lang="en-US" altLang="en-US" sz="2400" i="1" dirty="0"/>
              <a:t> </a:t>
            </a:r>
            <a:r>
              <a:rPr lang="vi-VN" altLang="en-US" sz="2400" i="1" dirty="0"/>
              <a:t>thành một đống</a:t>
            </a:r>
            <a:r>
              <a:rPr lang="vi-VN" altLang="en-US" sz="2400" dirty="0"/>
              <a:t>.</a:t>
            </a:r>
            <a:endParaRPr lang="en-US" altLang="en-US" sz="2100" dirty="0"/>
          </a:p>
          <a:p>
            <a:pPr lvl="1"/>
            <a:r>
              <a:rPr lang="en-US" altLang="en-US" sz="2000" dirty="0" err="1" smtClean="0"/>
              <a:t>Xác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định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các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nút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nhánh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của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cây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a</a:t>
            </a:r>
            <a:r>
              <a:rPr lang="en-US" altLang="en-US" sz="2000" baseline="-25000" dirty="0" err="1" smtClean="0"/>
              <a:t>i</a:t>
            </a:r>
            <a:r>
              <a:rPr lang="en-US" altLang="en-US" sz="2000" dirty="0" smtClean="0"/>
              <a:t> (</a:t>
            </a:r>
            <a:r>
              <a:rPr lang="en-US" altLang="en-US" sz="2000" dirty="0" err="1" smtClean="0"/>
              <a:t>các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nút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a</a:t>
            </a:r>
            <a:r>
              <a:rPr lang="en-US" altLang="en-US" sz="2000" baseline="-25000" dirty="0" err="1" smtClean="0"/>
              <a:t>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thỏa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mãn</a:t>
            </a:r>
            <a:r>
              <a:rPr lang="en-US" altLang="en-US" sz="2000" dirty="0" smtClean="0"/>
              <a:t> </a:t>
            </a:r>
            <a:r>
              <a:rPr lang="vi-VN" altLang="en-US" sz="2000" dirty="0" smtClean="0"/>
              <a:t>2i+1≤N-1</a:t>
            </a:r>
            <a:r>
              <a:rPr lang="en-US" altLang="en-US" sz="2000" dirty="0" smtClean="0"/>
              <a:t>)</a:t>
            </a:r>
          </a:p>
          <a:p>
            <a:pPr lvl="1"/>
            <a:r>
              <a:rPr lang="en-US" altLang="en-US" sz="2000" dirty="0" err="1" smtClean="0"/>
              <a:t>Lần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lượt</a:t>
            </a:r>
            <a:r>
              <a:rPr lang="en-US" altLang="en-US" sz="2000" dirty="0" smtClean="0"/>
              <a:t> </a:t>
            </a:r>
            <a:r>
              <a:rPr lang="en-US" altLang="en-US" sz="2000" i="1" dirty="0" err="1" smtClean="0"/>
              <a:t>vun</a:t>
            </a:r>
            <a:r>
              <a:rPr lang="en-US" altLang="en-US" sz="2000" i="1" dirty="0" smtClean="0"/>
              <a:t> </a:t>
            </a:r>
            <a:r>
              <a:rPr lang="en-US" altLang="en-US" sz="2000" i="1" dirty="0" err="1" smtClean="0"/>
              <a:t>đống</a:t>
            </a:r>
            <a:r>
              <a:rPr lang="en-US" altLang="en-US" sz="2000" i="1" dirty="0" smtClean="0"/>
              <a:t> </a:t>
            </a:r>
            <a:r>
              <a:rPr lang="en-US" altLang="en-US" sz="2000" i="1" dirty="0" err="1" smtClean="0"/>
              <a:t>cho</a:t>
            </a:r>
            <a:r>
              <a:rPr lang="en-US" altLang="en-US" sz="2000" i="1" dirty="0" smtClean="0"/>
              <a:t> </a:t>
            </a:r>
            <a:r>
              <a:rPr lang="en-US" altLang="en-US" sz="2000" i="1" dirty="0" err="1" smtClean="0"/>
              <a:t>các</a:t>
            </a:r>
            <a:r>
              <a:rPr lang="en-US" altLang="en-US" sz="2000" i="1" dirty="0" smtClean="0"/>
              <a:t> </a:t>
            </a:r>
            <a:r>
              <a:rPr lang="en-US" altLang="en-US" sz="2000" i="1" dirty="0" err="1" smtClean="0"/>
              <a:t>cây</a:t>
            </a:r>
            <a:r>
              <a:rPr lang="en-US" altLang="en-US" sz="2000" i="1" dirty="0" smtClean="0"/>
              <a:t> con </a:t>
            </a:r>
            <a:r>
              <a:rPr lang="en-US" altLang="en-US" sz="2000" dirty="0" err="1" smtClean="0"/>
              <a:t>có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nút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gốc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là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các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nút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nhánh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a</a:t>
            </a:r>
            <a:r>
              <a:rPr lang="en-US" altLang="en-US" sz="2000" baseline="-25000" dirty="0" err="1" smtClean="0"/>
              <a:t>i</a:t>
            </a:r>
            <a:r>
              <a:rPr lang="en-US" altLang="en-US" sz="2000" dirty="0" smtClean="0"/>
              <a:t> </a:t>
            </a:r>
          </a:p>
          <a:p>
            <a:pPr lvl="1"/>
            <a:r>
              <a:rPr lang="en-US" altLang="en-US" sz="2000" dirty="0" err="1" smtClean="0"/>
              <a:t>Thực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hiện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theo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thứ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tự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từ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ngoài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cùng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vào</a:t>
            </a:r>
            <a:endParaRPr lang="en-US" altLang="en-US" dirty="0" smtClean="0"/>
          </a:p>
        </p:txBody>
      </p:sp>
      <p:sp>
        <p:nvSpPr>
          <p:cNvPr id="2" name="Rectangle 1"/>
          <p:cNvSpPr/>
          <p:nvPr/>
        </p:nvSpPr>
        <p:spPr>
          <a:xfrm>
            <a:off x="1600200" y="3103050"/>
            <a:ext cx="6629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MakeHeap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DaySo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 (N&lt;2) return;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m=N/2-1; //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Vị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trí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nút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nhánh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ngoài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cùng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 (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=m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&gt;=0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MakeSubHeap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A,i,N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2046" y="4901886"/>
            <a:ext cx="38281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smtClean="0">
                <a:solidFill>
                  <a:srgbClr val="FF0000"/>
                </a:solidFill>
              </a:rPr>
              <a:t>=&gt; </a:t>
            </a:r>
            <a:r>
              <a:rPr lang="en-US" sz="2000" i="1" dirty="0" err="1" smtClean="0">
                <a:solidFill>
                  <a:srgbClr val="FF0000"/>
                </a:solidFill>
              </a:rPr>
              <a:t>Vun</a:t>
            </a:r>
            <a:r>
              <a:rPr lang="en-US" sz="2000" i="1" dirty="0" smtClean="0">
                <a:solidFill>
                  <a:srgbClr val="FF0000"/>
                </a:solidFill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</a:rPr>
              <a:t>đống</a:t>
            </a:r>
            <a:r>
              <a:rPr lang="en-US" sz="2000" i="1" dirty="0" smtClean="0">
                <a:solidFill>
                  <a:srgbClr val="FF0000"/>
                </a:solidFill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</a:rPr>
              <a:t>cây</a:t>
            </a:r>
            <a:r>
              <a:rPr lang="en-US" sz="2000" i="1" dirty="0" smtClean="0">
                <a:solidFill>
                  <a:srgbClr val="FF0000"/>
                </a:solidFill>
              </a:rPr>
              <a:t> con </a:t>
            </a:r>
            <a:r>
              <a:rPr lang="en-US" sz="2000" i="1" dirty="0" err="1" smtClean="0">
                <a:solidFill>
                  <a:srgbClr val="FF0000"/>
                </a:solidFill>
              </a:rPr>
              <a:t>như</a:t>
            </a:r>
            <a:r>
              <a:rPr lang="en-US" sz="2000" i="1" dirty="0" smtClean="0">
                <a:solidFill>
                  <a:srgbClr val="FF0000"/>
                </a:solidFill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</a:rPr>
              <a:t>thế</a:t>
            </a:r>
            <a:r>
              <a:rPr lang="en-US" sz="2000" i="1" dirty="0" smtClean="0">
                <a:solidFill>
                  <a:srgbClr val="FF0000"/>
                </a:solidFill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</a:rPr>
              <a:t>nào</a:t>
            </a:r>
            <a:r>
              <a:rPr lang="en-US" sz="2000" i="1" dirty="0" smtClean="0">
                <a:solidFill>
                  <a:srgbClr val="FF0000"/>
                </a:solidFill>
              </a:rPr>
              <a:t> ?</a:t>
            </a:r>
            <a:endParaRPr lang="en-US" sz="20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23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FE6D8B0-A5B8-4C5F-8DF7-8585AA5FD584}" type="slidenum">
              <a:rPr lang="en-US" altLang="en-US">
                <a:latin typeface="Garamond" panose="02020404030301010803" pitchFamily="18" charset="0"/>
              </a:rPr>
              <a:pPr eaLnBrk="1" hangingPunct="1"/>
              <a:t>52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3.3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/>
              <a:t>vun</a:t>
            </a:r>
            <a:r>
              <a:rPr lang="en-US" altLang="en-US" dirty="0"/>
              <a:t> </a:t>
            </a:r>
            <a:r>
              <a:rPr lang="en-US" altLang="en-US" dirty="0" err="1" smtClean="0"/>
              <a:t>đống</a:t>
            </a:r>
            <a:endParaRPr lang="en-US" altLang="en-US" dirty="0" smtClean="0"/>
          </a:p>
        </p:txBody>
      </p:sp>
      <p:sp>
        <p:nvSpPr>
          <p:cNvPr id="41987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sz="2400" b="1" dirty="0" err="1"/>
              <a:t>Giải</a:t>
            </a:r>
            <a:r>
              <a:rPr lang="en-US" altLang="en-US" sz="2400" b="1" dirty="0"/>
              <a:t> </a:t>
            </a:r>
            <a:r>
              <a:rPr lang="en-US" altLang="en-US" sz="2400" b="1" dirty="0" err="1" smtClean="0"/>
              <a:t>thuật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 smtClean="0"/>
              <a:t>Vun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/>
              <a:t>đống</a:t>
            </a:r>
            <a:r>
              <a:rPr lang="en-US" altLang="en-US" sz="2400" b="1" dirty="0"/>
              <a:t> </a:t>
            </a:r>
            <a:r>
              <a:rPr lang="en-US" altLang="en-US" sz="2400" b="1" dirty="0" err="1" smtClean="0"/>
              <a:t>cho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 smtClean="0"/>
              <a:t>cây</a:t>
            </a:r>
            <a:r>
              <a:rPr lang="en-US" altLang="en-US" sz="2400" b="1" dirty="0" smtClean="0"/>
              <a:t> </a:t>
            </a:r>
            <a:r>
              <a:rPr lang="en-US" altLang="en-US" sz="2400" b="1" dirty="0"/>
              <a:t>con</a:t>
            </a:r>
            <a:r>
              <a:rPr lang="en-US" altLang="en-US" sz="2400" i="1" dirty="0"/>
              <a:t> </a:t>
            </a:r>
            <a:r>
              <a:rPr lang="en-US" alt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MakeSubHeap</a:t>
            </a:r>
            <a:endParaRPr lang="en-US" altLang="en-US" sz="2400" dirty="0" smtClean="0"/>
          </a:p>
          <a:p>
            <a:pPr lvl="1"/>
            <a:r>
              <a:rPr lang="en-US" altLang="en-US" sz="2100" dirty="0" err="1" smtClean="0"/>
              <a:t>có</a:t>
            </a:r>
            <a:r>
              <a:rPr lang="en-US" altLang="en-US" sz="2100" dirty="0" smtClean="0"/>
              <a:t> </a:t>
            </a:r>
            <a:r>
              <a:rPr lang="en-US" altLang="en-US" sz="2100" dirty="0" err="1"/>
              <a:t>nút</a:t>
            </a:r>
            <a:r>
              <a:rPr lang="en-US" altLang="en-US" sz="2100" dirty="0"/>
              <a:t> </a:t>
            </a:r>
            <a:r>
              <a:rPr lang="en-US" altLang="en-US" sz="2100" dirty="0" err="1"/>
              <a:t>gốc</a:t>
            </a:r>
            <a:r>
              <a:rPr lang="en-US" altLang="en-US" sz="2100" dirty="0"/>
              <a:t> </a:t>
            </a:r>
            <a:r>
              <a:rPr lang="en-US" altLang="en-US" sz="2100" dirty="0" err="1"/>
              <a:t>là</a:t>
            </a:r>
            <a:r>
              <a:rPr lang="en-US" altLang="en-US" sz="2100" dirty="0"/>
              <a:t> </a:t>
            </a:r>
            <a:r>
              <a:rPr lang="en-US" altLang="en-US" sz="2100" dirty="0" err="1" smtClean="0"/>
              <a:t>a</a:t>
            </a:r>
            <a:r>
              <a:rPr lang="en-US" altLang="en-US" sz="2100" baseline="-25000" dirty="0" err="1" smtClean="0"/>
              <a:t>i</a:t>
            </a:r>
            <a:r>
              <a:rPr lang="en-US" altLang="en-US" sz="2100" baseline="-25000" dirty="0" smtClean="0"/>
              <a:t> </a:t>
            </a:r>
          </a:p>
          <a:p>
            <a:pPr lvl="1"/>
            <a:r>
              <a:rPr lang="en-US" altLang="en-US" sz="2100" dirty="0" err="1" smtClean="0"/>
              <a:t>các</a:t>
            </a:r>
            <a:r>
              <a:rPr lang="en-US" altLang="en-US" sz="2100" dirty="0" smtClean="0"/>
              <a:t> </a:t>
            </a:r>
            <a:r>
              <a:rPr lang="en-US" altLang="en-US" sz="2100" dirty="0" err="1"/>
              <a:t>cây</a:t>
            </a:r>
            <a:r>
              <a:rPr lang="en-US" altLang="en-US" sz="2100" dirty="0"/>
              <a:t> con </a:t>
            </a:r>
            <a:r>
              <a:rPr lang="en-US" altLang="en-US" sz="2100" dirty="0" err="1"/>
              <a:t>của</a:t>
            </a:r>
            <a:r>
              <a:rPr lang="en-US" altLang="en-US" sz="2100" dirty="0"/>
              <a:t> </a:t>
            </a:r>
            <a:r>
              <a:rPr lang="en-US" altLang="en-US" sz="2100" dirty="0" err="1"/>
              <a:t>cây</a:t>
            </a:r>
            <a:r>
              <a:rPr lang="en-US" altLang="en-US" sz="2100" dirty="0"/>
              <a:t> con </a:t>
            </a:r>
            <a:r>
              <a:rPr lang="en-US" altLang="en-US" sz="2100" dirty="0" err="1"/>
              <a:t>này</a:t>
            </a:r>
            <a:r>
              <a:rPr lang="en-US" altLang="en-US" sz="2100" dirty="0"/>
              <a:t> </a:t>
            </a:r>
            <a:r>
              <a:rPr lang="en-US" altLang="en-US" sz="2100" dirty="0" err="1"/>
              <a:t>cũng</a:t>
            </a:r>
            <a:r>
              <a:rPr lang="en-US" altLang="en-US" sz="2100" dirty="0"/>
              <a:t> </a:t>
            </a:r>
            <a:r>
              <a:rPr lang="en-US" altLang="en-US" sz="2100" dirty="0" err="1"/>
              <a:t>đã</a:t>
            </a:r>
            <a:r>
              <a:rPr lang="en-US" altLang="en-US" sz="2100" dirty="0"/>
              <a:t> </a:t>
            </a:r>
            <a:r>
              <a:rPr lang="en-US" altLang="en-US" sz="2100" dirty="0" err="1"/>
              <a:t>là</a:t>
            </a:r>
            <a:r>
              <a:rPr lang="en-US" altLang="en-US" sz="2100" dirty="0"/>
              <a:t> </a:t>
            </a:r>
            <a:r>
              <a:rPr lang="en-US" altLang="en-US" sz="2100" dirty="0" err="1"/>
              <a:t>các</a:t>
            </a:r>
            <a:r>
              <a:rPr lang="en-US" altLang="en-US" sz="2100" dirty="0"/>
              <a:t> </a:t>
            </a:r>
            <a:r>
              <a:rPr lang="en-US" altLang="en-US" sz="2100" dirty="0" err="1" smtClean="0"/>
              <a:t>đống</a:t>
            </a:r>
            <a:endParaRPr lang="en-US" altLang="en-US" sz="2100" dirty="0"/>
          </a:p>
          <a:p>
            <a:r>
              <a:rPr lang="en-US" altLang="en-US" sz="2400" dirty="0" err="1" smtClean="0"/>
              <a:t>Giải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thuật</a:t>
            </a:r>
            <a:r>
              <a:rPr lang="en-US" altLang="en-US" sz="2400" dirty="0" smtClean="0"/>
              <a:t>:</a:t>
            </a:r>
          </a:p>
          <a:p>
            <a:pPr lvl="1"/>
            <a:r>
              <a:rPr lang="en-US" altLang="en-US" sz="2000" dirty="0" err="1" smtClean="0"/>
              <a:t>Nếu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a</a:t>
            </a:r>
            <a:r>
              <a:rPr lang="en-US" altLang="en-US" sz="2000" baseline="-25000" dirty="0" err="1"/>
              <a:t>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đã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là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nút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lá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của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cây</a:t>
            </a:r>
            <a:r>
              <a:rPr lang="en-US" altLang="en-US" sz="2000" dirty="0" smtClean="0"/>
              <a:t> ban </a:t>
            </a:r>
            <a:r>
              <a:rPr lang="en-US" altLang="en-US" sz="2000" dirty="0" err="1" smtClean="0"/>
              <a:t>đầu</a:t>
            </a:r>
            <a:r>
              <a:rPr lang="en-US" altLang="en-US" sz="2000" dirty="0" smtClean="0"/>
              <a:t> -&gt; </a:t>
            </a:r>
            <a:r>
              <a:rPr lang="en-US" altLang="en-US" sz="2000" dirty="0" err="1" smtClean="0"/>
              <a:t>dừng</a:t>
            </a:r>
            <a:endParaRPr lang="en-US" altLang="en-US" sz="2000" dirty="0" smtClean="0"/>
          </a:p>
          <a:p>
            <a:pPr lvl="1"/>
            <a:r>
              <a:rPr lang="en-US" altLang="en-US" sz="2000" dirty="0" err="1"/>
              <a:t>Tìm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nút</a:t>
            </a:r>
            <a:r>
              <a:rPr lang="en-US" altLang="en-US" sz="2000" dirty="0"/>
              <a:t> con </a:t>
            </a:r>
            <a:r>
              <a:rPr lang="en-US" altLang="en-US" sz="2000" dirty="0" smtClean="0"/>
              <a:t>a</a:t>
            </a:r>
            <a:r>
              <a:rPr lang="en-US" altLang="en-US" sz="2000" baseline="-25000" dirty="0" smtClean="0"/>
              <a:t>c</a:t>
            </a:r>
            <a:r>
              <a:rPr lang="en-US" altLang="en-US" sz="2000" dirty="0" smtClean="0"/>
              <a:t> </a:t>
            </a:r>
            <a:r>
              <a:rPr lang="en-US" altLang="en-US" sz="2000" dirty="0"/>
              <a:t>= MAX (</a:t>
            </a:r>
            <a:r>
              <a:rPr lang="en-US" altLang="en-US" sz="2000" dirty="0" smtClean="0"/>
              <a:t>a</a:t>
            </a:r>
            <a:r>
              <a:rPr lang="en-US" altLang="en-US" sz="2000" baseline="-25000" dirty="0" smtClean="0"/>
              <a:t>2i+1</a:t>
            </a:r>
            <a:r>
              <a:rPr lang="en-US" altLang="en-US" sz="2000" dirty="0" smtClean="0"/>
              <a:t>, a</a:t>
            </a:r>
            <a:r>
              <a:rPr lang="en-US" altLang="en-US" sz="2000" baseline="-25000" dirty="0" smtClean="0"/>
              <a:t>2i+2</a:t>
            </a:r>
            <a:r>
              <a:rPr lang="en-US" altLang="en-US" sz="2000" dirty="0" smtClean="0"/>
              <a:t>)  </a:t>
            </a:r>
            <a:r>
              <a:rPr lang="en-US" altLang="en-US" sz="2000" dirty="0"/>
              <a:t>(</a:t>
            </a:r>
            <a:r>
              <a:rPr lang="en-US" altLang="en-US" sz="2000" dirty="0" err="1"/>
              <a:t>nút</a:t>
            </a:r>
            <a:r>
              <a:rPr lang="en-US" altLang="en-US" sz="2000" dirty="0"/>
              <a:t> con </a:t>
            </a:r>
            <a:r>
              <a:rPr lang="en-US" altLang="en-US" sz="2000" dirty="0" err="1" smtClean="0"/>
              <a:t>có</a:t>
            </a:r>
            <a:r>
              <a:rPr lang="en-US" altLang="en-US" sz="2000" dirty="0" smtClean="0"/>
              <a:t> </a:t>
            </a:r>
            <a:r>
              <a:rPr lang="en-US" altLang="en-US" sz="2000" dirty="0" err="1"/>
              <a:t>giá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trị</a:t>
            </a:r>
            <a:r>
              <a:rPr lang="en-US" altLang="en-US" sz="2000" dirty="0"/>
              <a:t> </a:t>
            </a:r>
            <a:r>
              <a:rPr lang="en-US" altLang="en-US" sz="2000" dirty="0" err="1"/>
              <a:t>lớn</a:t>
            </a:r>
            <a:r>
              <a:rPr lang="en-US" altLang="en-US" sz="2000" dirty="0"/>
              <a:t> </a:t>
            </a:r>
            <a:r>
              <a:rPr lang="en-US" altLang="en-US" sz="2000" dirty="0" err="1" smtClean="0"/>
              <a:t>nhất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trong</a:t>
            </a:r>
            <a:r>
              <a:rPr lang="en-US" altLang="en-US" sz="2000" dirty="0" smtClean="0"/>
              <a:t> 2 </a:t>
            </a:r>
            <a:r>
              <a:rPr lang="en-US" altLang="en-US" sz="2000" dirty="0" err="1" smtClean="0"/>
              <a:t>nút</a:t>
            </a:r>
            <a:r>
              <a:rPr lang="en-US" altLang="en-US" sz="2000" dirty="0" smtClean="0"/>
              <a:t> con)</a:t>
            </a:r>
            <a:endParaRPr lang="en-US" altLang="en-US" sz="2000" dirty="0"/>
          </a:p>
          <a:p>
            <a:pPr lvl="2"/>
            <a:r>
              <a:rPr lang="en-US" altLang="en-US" sz="2000" dirty="0" err="1" smtClean="0"/>
              <a:t>Hoán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đổi</a:t>
            </a:r>
            <a:r>
              <a:rPr lang="en-US" altLang="en-US" sz="2000" dirty="0" smtClean="0"/>
              <a:t> (</a:t>
            </a:r>
            <a:r>
              <a:rPr lang="en-US" altLang="en-US" sz="2000" dirty="0" err="1" smtClean="0"/>
              <a:t>a</a:t>
            </a:r>
            <a:r>
              <a:rPr lang="en-US" altLang="en-US" sz="2000" baseline="-25000" dirty="0" err="1"/>
              <a:t>i</a:t>
            </a:r>
            <a:r>
              <a:rPr lang="en-US" altLang="en-US" sz="2000" dirty="0" err="1" smtClean="0"/>
              <a:t>,a</a:t>
            </a:r>
            <a:r>
              <a:rPr lang="en-US" altLang="en-US" sz="2000" baseline="-25000" dirty="0" err="1" smtClean="0"/>
              <a:t>c</a:t>
            </a:r>
            <a:r>
              <a:rPr lang="en-US" altLang="en-US" sz="2000" dirty="0" smtClean="0"/>
              <a:t>)</a:t>
            </a:r>
          </a:p>
          <a:p>
            <a:pPr lvl="2"/>
            <a:r>
              <a:rPr lang="en-US" altLang="en-US" sz="2000" dirty="0" err="1" smtClean="0"/>
              <a:t>Vun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lại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cây</a:t>
            </a:r>
            <a:r>
              <a:rPr lang="en-US" altLang="en-US" sz="2000" dirty="0" smtClean="0"/>
              <a:t> con </a:t>
            </a:r>
            <a:r>
              <a:rPr lang="en-US" altLang="en-US" sz="2000" dirty="0" err="1" smtClean="0"/>
              <a:t>có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nút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gốc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là</a:t>
            </a:r>
            <a:r>
              <a:rPr lang="en-US" altLang="en-US" sz="2000" dirty="0" smtClean="0"/>
              <a:t> a</a:t>
            </a:r>
            <a:r>
              <a:rPr lang="en-US" altLang="en-US" sz="2000" baseline="-25000" dirty="0" smtClean="0"/>
              <a:t>c</a:t>
            </a:r>
            <a:endParaRPr lang="en-US" altLang="en-US" sz="2000" dirty="0" smtClean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47583" y="3907895"/>
            <a:ext cx="6019800" cy="2971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pt-BR" alt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MakeSubHeap</a:t>
            </a:r>
            <a:r>
              <a:rPr lang="pt-BR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(DaySo A, int i, int N){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pt-BR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int l = 2*i+1, r = 2*i+2 , c = l;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pt-BR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if (l &gt;= N) return;</a:t>
            </a:r>
          </a:p>
          <a:p>
            <a:pPr lvl="1">
              <a:buNone/>
            </a:pPr>
            <a:r>
              <a:rPr lang="pt-BR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if ( r &lt; N  &amp;&amp;  A[r] &gt; A[l] ) c = r;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pt-B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if ( A[i] &lt; A[c] ) {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pt-BR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HoanDoi</a:t>
            </a:r>
            <a:r>
              <a:rPr lang="pt-BR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 A[i], A[c]);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pt-BR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pt-BR" alt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MakeSubHeap</a:t>
            </a:r>
            <a:r>
              <a:rPr lang="pt-BR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(A, c, N);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pt-BR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}		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329349" y="4487740"/>
            <a:ext cx="2627057" cy="2286000"/>
            <a:chOff x="7162800" y="4116795"/>
            <a:chExt cx="2627057" cy="2286000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62800" y="4116795"/>
              <a:ext cx="2627057" cy="2286000"/>
            </a:xfrm>
            <a:prstGeom prst="rect">
              <a:avLst/>
            </a:prstGeom>
          </p:spPr>
        </p:pic>
        <p:sp>
          <p:nvSpPr>
            <p:cNvPr id="2" name="Oval 1"/>
            <p:cNvSpPr/>
            <p:nvPr/>
          </p:nvSpPr>
          <p:spPr>
            <a:xfrm>
              <a:off x="8453451" y="4116795"/>
              <a:ext cx="373049" cy="3890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9055100" y="4642910"/>
              <a:ext cx="381000" cy="3963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8750300" y="54102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9436100" y="54102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/>
          <p:cNvSpPr/>
          <p:nvPr/>
        </p:nvSpPr>
        <p:spPr>
          <a:xfrm>
            <a:off x="6422725" y="5553328"/>
            <a:ext cx="4852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/>
              <a:t>a</a:t>
            </a:r>
            <a:r>
              <a:rPr lang="en-US" altLang="en-US" baseline="-25000" dirty="0"/>
              <a:t>c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906818" y="4707868"/>
            <a:ext cx="4852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 err="1" smtClean="0"/>
              <a:t>a</a:t>
            </a:r>
            <a:r>
              <a:rPr lang="en-US" altLang="en-US" baseline="-25000" dirty="0" err="1" smtClean="0"/>
              <a:t>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3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BFDDE10-CE7D-4189-9AE4-1B9D903B11D0}" type="slidenum">
              <a:rPr lang="en-US" altLang="en-US">
                <a:latin typeface="Garamond" panose="02020404030301010803" pitchFamily="18" charset="0"/>
              </a:rPr>
              <a:pPr eaLnBrk="1" hangingPunct="1"/>
              <a:t>53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3.3 </a:t>
            </a:r>
            <a:r>
              <a:rPr lang="en-US" altLang="en-US" dirty="0" err="1" smtClean="0"/>
              <a:t>Sắp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xếp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vun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đống</a:t>
            </a:r>
            <a:endParaRPr lang="en-US" altLang="en-US" dirty="0" smtClean="0"/>
          </a:p>
        </p:txBody>
      </p:sp>
      <p:sp>
        <p:nvSpPr>
          <p:cNvPr id="36867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sz="2400" b="1" dirty="0" err="1" smtClean="0"/>
              <a:t>Giải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 smtClean="0"/>
              <a:t>thuật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 smtClean="0"/>
              <a:t>Sắp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/>
              <a:t>xếp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vun</a:t>
            </a:r>
            <a:r>
              <a:rPr lang="en-US" altLang="en-US" sz="2400" b="1" dirty="0"/>
              <a:t> </a:t>
            </a:r>
            <a:r>
              <a:rPr lang="en-US" altLang="en-US" sz="2400" b="1" dirty="0" err="1" smtClean="0"/>
              <a:t>đống</a:t>
            </a:r>
            <a:r>
              <a:rPr lang="en-US" altLang="en-US" sz="2400" b="1" dirty="0" smtClean="0"/>
              <a:t> 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HeapSort</a:t>
            </a:r>
            <a:r>
              <a:rPr lang="en-US" altLang="en-US" sz="2400" dirty="0" smtClean="0"/>
              <a:t>:</a:t>
            </a:r>
          </a:p>
          <a:p>
            <a:pPr lvl="1"/>
            <a:r>
              <a:rPr lang="en-US" altLang="en-US" sz="2200" dirty="0" smtClean="0"/>
              <a:t>B1: </a:t>
            </a:r>
            <a:r>
              <a:rPr lang="en-US" altLang="en-US" sz="2200" dirty="0" err="1" smtClean="0"/>
              <a:t>Thực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hiện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Vun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đống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cây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nhị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phân</a:t>
            </a:r>
            <a:endParaRPr lang="en-US" altLang="en-US" sz="2200" dirty="0" smtClean="0"/>
          </a:p>
          <a:p>
            <a:pPr lvl="1"/>
            <a:r>
              <a:rPr lang="en-US" altLang="en-US" sz="2200" dirty="0" smtClean="0"/>
              <a:t>B2: </a:t>
            </a:r>
            <a:r>
              <a:rPr lang="en-US" altLang="en-US" sz="2200" dirty="0" err="1" smtClean="0"/>
              <a:t>Hoán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đổi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phần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tử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đầu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tiên</a:t>
            </a:r>
            <a:r>
              <a:rPr lang="en-US" altLang="en-US" sz="2200" dirty="0" smtClean="0"/>
              <a:t> (</a:t>
            </a:r>
            <a:r>
              <a:rPr lang="en-US" altLang="en-US" sz="2200" dirty="0" err="1" smtClean="0"/>
              <a:t>phần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tử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gốc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cây</a:t>
            </a:r>
            <a:r>
              <a:rPr lang="en-US" altLang="en-US" sz="2200" dirty="0" smtClean="0"/>
              <a:t>, </a:t>
            </a:r>
            <a:r>
              <a:rPr lang="en-US" altLang="en-US" sz="2200" dirty="0" err="1" smtClean="0"/>
              <a:t>phần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tử</a:t>
            </a:r>
            <a:r>
              <a:rPr lang="en-US" altLang="en-US" sz="2200" dirty="0" smtClean="0"/>
              <a:t> max) </a:t>
            </a:r>
            <a:r>
              <a:rPr lang="en-US" altLang="en-US" sz="2200" dirty="0" err="1" smtClean="0"/>
              <a:t>với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phần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tử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cuối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cùng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của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dãy</a:t>
            </a:r>
            <a:r>
              <a:rPr lang="en-US" altLang="en-US" sz="2200" dirty="0" smtClean="0"/>
              <a:t> </a:t>
            </a:r>
            <a:r>
              <a:rPr lang="en-US" altLang="en-US" sz="2200" i="1" dirty="0" smtClean="0"/>
              <a:t>(a</a:t>
            </a:r>
            <a:r>
              <a:rPr lang="en-US" altLang="en-US" sz="2200" i="1" baseline="-25000" dirty="0" smtClean="0"/>
              <a:t>0</a:t>
            </a:r>
            <a:r>
              <a:rPr lang="en-US" altLang="en-US" sz="2200" i="1" dirty="0" smtClean="0"/>
              <a:t>, </a:t>
            </a:r>
            <a:r>
              <a:rPr lang="en-US" altLang="en-US" sz="2200" i="1" dirty="0" err="1" smtClean="0"/>
              <a:t>a</a:t>
            </a:r>
            <a:r>
              <a:rPr lang="en-US" altLang="en-US" sz="2200" i="1" baseline="-25000" dirty="0" err="1" smtClean="0"/>
              <a:t>N-i</a:t>
            </a:r>
            <a:r>
              <a:rPr lang="en-US" altLang="en-US" sz="2200" i="1" dirty="0" smtClean="0"/>
              <a:t>)</a:t>
            </a:r>
          </a:p>
          <a:p>
            <a:pPr lvl="1"/>
            <a:r>
              <a:rPr lang="en-US" altLang="en-US" sz="2200" dirty="0" smtClean="0"/>
              <a:t>B3: </a:t>
            </a:r>
            <a:r>
              <a:rPr lang="en-US" altLang="en-US" sz="2200" dirty="0" err="1" smtClean="0"/>
              <a:t>Vun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lại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đống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bắt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đầu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từ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nút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gốc</a:t>
            </a:r>
            <a:r>
              <a:rPr lang="en-US" altLang="en-US" sz="2200" dirty="0" smtClean="0"/>
              <a:t> a</a:t>
            </a:r>
            <a:r>
              <a:rPr lang="en-US" altLang="en-US" sz="2200" baseline="-25000" dirty="0" smtClean="0"/>
              <a:t>0</a:t>
            </a:r>
            <a:r>
              <a:rPr lang="en-US" altLang="en-US" sz="2200" dirty="0" smtClean="0"/>
              <a:t>,</a:t>
            </a:r>
            <a:r>
              <a:rPr lang="en-US" altLang="en-US" sz="2200" baseline="-25000" dirty="0" smtClean="0"/>
              <a:t> </a:t>
            </a:r>
            <a:r>
              <a:rPr lang="en-US" altLang="en-US" sz="2200" dirty="0" err="1" smtClean="0"/>
              <a:t>kích</a:t>
            </a:r>
            <a:r>
              <a:rPr lang="en-US" altLang="en-US" sz="2200" dirty="0" smtClean="0"/>
              <a:t> </a:t>
            </a:r>
            <a:r>
              <a:rPr lang="en-US" altLang="en-US" sz="2200" dirty="0" err="1"/>
              <a:t>thước</a:t>
            </a:r>
            <a:r>
              <a:rPr lang="en-US" altLang="en-US" sz="2200" dirty="0"/>
              <a:t> </a:t>
            </a:r>
            <a:r>
              <a:rPr lang="en-US" altLang="en-US" sz="2200" dirty="0" err="1"/>
              <a:t>dữ</a:t>
            </a:r>
            <a:r>
              <a:rPr lang="en-US" altLang="en-US" sz="2200" dirty="0"/>
              <a:t> </a:t>
            </a:r>
            <a:r>
              <a:rPr lang="en-US" altLang="en-US" sz="2200" dirty="0" err="1"/>
              <a:t>liệu</a:t>
            </a:r>
            <a:r>
              <a:rPr lang="en-US" altLang="en-US" sz="2200" dirty="0"/>
              <a:t> </a:t>
            </a:r>
            <a:r>
              <a:rPr lang="en-US" altLang="en-US" sz="2200" dirty="0" err="1"/>
              <a:t>vun</a:t>
            </a:r>
            <a:r>
              <a:rPr lang="en-US" altLang="en-US" sz="2200" dirty="0"/>
              <a:t> </a:t>
            </a:r>
            <a:r>
              <a:rPr lang="en-US" altLang="en-US" sz="2200" dirty="0" err="1"/>
              <a:t>đống</a:t>
            </a:r>
            <a:r>
              <a:rPr lang="en-US" altLang="en-US" sz="2200" dirty="0"/>
              <a:t> </a:t>
            </a:r>
            <a:r>
              <a:rPr lang="en-US" altLang="en-US" sz="2200" dirty="0" err="1"/>
              <a:t>giảm</a:t>
            </a:r>
            <a:r>
              <a:rPr lang="en-US" altLang="en-US" sz="2200" dirty="0"/>
              <a:t> </a:t>
            </a:r>
            <a:r>
              <a:rPr lang="en-US" altLang="en-US" sz="2200" dirty="0" err="1"/>
              <a:t>đi</a:t>
            </a:r>
            <a:r>
              <a:rPr lang="en-US" altLang="en-US" sz="2200" dirty="0"/>
              <a:t> </a:t>
            </a:r>
            <a:r>
              <a:rPr lang="en-US" altLang="en-US" sz="2200" dirty="0" smtClean="0"/>
              <a:t>1.</a:t>
            </a:r>
          </a:p>
          <a:p>
            <a:pPr lvl="1"/>
            <a:r>
              <a:rPr lang="en-US" altLang="en-US" sz="2200" dirty="0" err="1" smtClean="0"/>
              <a:t>Lặp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lại</a:t>
            </a:r>
            <a:r>
              <a:rPr lang="en-US" altLang="en-US" sz="2200" dirty="0" smtClean="0"/>
              <a:t> B2, B3 </a:t>
            </a:r>
            <a:r>
              <a:rPr lang="en-US" altLang="en-US" sz="2200" dirty="0" err="1"/>
              <a:t>cho</a:t>
            </a:r>
            <a:r>
              <a:rPr lang="en-US" altLang="en-US" sz="2200" dirty="0"/>
              <a:t> </a:t>
            </a:r>
            <a:r>
              <a:rPr lang="en-US" altLang="en-US" sz="2200" dirty="0" err="1"/>
              <a:t>đến</a:t>
            </a:r>
            <a:r>
              <a:rPr lang="en-US" altLang="en-US" sz="2200" dirty="0"/>
              <a:t> </a:t>
            </a:r>
            <a:r>
              <a:rPr lang="en-US" altLang="en-US" sz="2200" dirty="0" err="1"/>
              <a:t>khi</a:t>
            </a:r>
            <a:r>
              <a:rPr lang="en-US" altLang="en-US" sz="2200" dirty="0"/>
              <a:t> </a:t>
            </a:r>
            <a:r>
              <a:rPr lang="en-US" altLang="en-US" sz="2200" dirty="0" err="1" smtClean="0"/>
              <a:t>dãy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được</a:t>
            </a:r>
            <a:r>
              <a:rPr lang="en-US" altLang="en-US" sz="2200" dirty="0" smtClean="0"/>
              <a:t> </a:t>
            </a:r>
            <a:r>
              <a:rPr lang="en-US" altLang="en-US" sz="2200" dirty="0" err="1"/>
              <a:t>sắp</a:t>
            </a:r>
            <a:r>
              <a:rPr lang="en-US" altLang="en-US" sz="2200" dirty="0"/>
              <a:t> </a:t>
            </a:r>
            <a:r>
              <a:rPr lang="en-US" altLang="en-US" sz="2200" dirty="0" err="1"/>
              <a:t>xếp</a:t>
            </a:r>
            <a:r>
              <a:rPr lang="en-US" altLang="en-US" sz="2200" dirty="0"/>
              <a:t> (N-1 </a:t>
            </a:r>
            <a:r>
              <a:rPr lang="en-US" altLang="en-US" sz="2200" dirty="0" err="1"/>
              <a:t>lần</a:t>
            </a:r>
            <a:r>
              <a:rPr lang="en-US" altLang="en-US" sz="2200" dirty="0"/>
              <a:t>)</a:t>
            </a:r>
            <a:endParaRPr lang="en-US" altLang="en-US" sz="2200" dirty="0" smtClean="0"/>
          </a:p>
        </p:txBody>
      </p:sp>
      <p:sp>
        <p:nvSpPr>
          <p:cNvPr id="3" name="Rectangle 2"/>
          <p:cNvSpPr/>
          <p:nvPr/>
        </p:nvSpPr>
        <p:spPr>
          <a:xfrm>
            <a:off x="2209800" y="3775870"/>
            <a:ext cx="545493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HeapSort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Dayso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 (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N&lt;2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return;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MakeHeap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(A,N);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 (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=1;i&lt;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N;i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HoanDoi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(A[0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],A[N-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MakeSubHeap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(A,0,N-i);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63778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3.3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 </a:t>
            </a:r>
            <a:r>
              <a:rPr lang="en-US" altLang="en-US" dirty="0" err="1"/>
              <a:t>vun</a:t>
            </a:r>
            <a:r>
              <a:rPr lang="en-US" altLang="en-US" dirty="0"/>
              <a:t> </a:t>
            </a:r>
            <a:r>
              <a:rPr lang="en-US" altLang="en-US" dirty="0" err="1"/>
              <a:t>đống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/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 smtClean="0"/>
                  <a:t>Đánh </a:t>
                </a:r>
                <a:r>
                  <a:rPr lang="en-US" sz="2400" dirty="0" err="1" smtClean="0"/>
                  <a:t>giá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giải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thuật</a:t>
                </a:r>
                <a:endParaRPr lang="en-US" sz="2400" dirty="0" smtClean="0"/>
              </a:p>
              <a:p>
                <a:pPr lvl="1"/>
                <a:r>
                  <a:rPr lang="en-US" altLang="en-US" sz="2400" dirty="0" err="1"/>
                  <a:t>Vun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đống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cho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một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cây</a:t>
                </a:r>
                <a:r>
                  <a:rPr lang="en-US" altLang="en-US" sz="2400" dirty="0"/>
                  <a:t> con (</a:t>
                </a:r>
                <a:r>
                  <a:rPr lang="en-US" altLang="en-US" sz="20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MakeSubHeap</a:t>
                </a:r>
                <a:r>
                  <a:rPr lang="en-US" altLang="en-US" sz="2400" dirty="0">
                    <a:latin typeface="Lato" panose="020F0502020204030203"/>
                    <a:cs typeface="Courier New" panose="02070309020205020404" pitchFamily="49" charset="0"/>
                  </a:rPr>
                  <a:t>)</a:t>
                </a:r>
                <a:r>
                  <a:rPr lang="en-US" altLang="en-US" sz="2400" dirty="0"/>
                  <a:t> </a:t>
                </a:r>
                <a:r>
                  <a:rPr lang="en-US" sz="2400" dirty="0" smtClean="0"/>
                  <a:t>:</a:t>
                </a:r>
              </a:p>
              <a:p>
                <a:pPr lvl="2"/>
                <a:r>
                  <a:rPr lang="en-US" sz="2400" dirty="0" smtClean="0"/>
                  <a:t>T</a:t>
                </a:r>
                <a:r>
                  <a:rPr lang="vi-VN" sz="2400" dirty="0" smtClean="0"/>
                  <a:t>rường </a:t>
                </a:r>
                <a:r>
                  <a:rPr lang="vi-VN" sz="2400" dirty="0"/>
                  <a:t>hợp xấu </a:t>
                </a:r>
                <a:r>
                  <a:rPr lang="vi-VN" sz="2400" dirty="0" smtClean="0"/>
                  <a:t>nhất</a:t>
                </a:r>
                <a:r>
                  <a:rPr lang="en-US" sz="2400" dirty="0" smtClean="0"/>
                  <a:t>: </a:t>
                </a:r>
                <a:r>
                  <a:rPr lang="vi-VN" sz="2400" dirty="0" smtClean="0"/>
                  <a:t>i=1</a:t>
                </a:r>
                <a:r>
                  <a:rPr lang="en-US" sz="2400" dirty="0" smtClean="0"/>
                  <a:t>, </a:t>
                </a:r>
                <a:r>
                  <a:rPr lang="vi-VN" sz="2400" dirty="0" smtClean="0"/>
                  <a:t>phải </a:t>
                </a:r>
                <a:r>
                  <a:rPr lang="vi-VN" sz="2400" dirty="0"/>
                  <a:t>hoán đổi nút gốc theo dọc chiều cao của </a:t>
                </a:r>
                <a:r>
                  <a:rPr lang="vi-VN" sz="2400" dirty="0" smtClean="0"/>
                  <a:t>cây</a:t>
                </a:r>
                <a:r>
                  <a:rPr lang="en-US" sz="2400" dirty="0"/>
                  <a:t> </a:t>
                </a:r>
                <a:r>
                  <a:rPr lang="en-US" sz="2400" dirty="0" smtClean="0"/>
                  <a:t>(=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  <m:r>
                          <a:rPr lang="en-US" sz="24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/>
                  <a:t>) </a:t>
                </a:r>
                <a:r>
                  <a:rPr lang="en-US" sz="2400" dirty="0" smtClean="0"/>
                  <a:t>:</a:t>
                </a:r>
                <a:r>
                  <a:rPr lang="vi-VN" sz="2400" dirty="0" smtClean="0"/>
                  <a:t> </a:t>
                </a:r>
                <a:r>
                  <a:rPr lang="en-US" sz="2400" dirty="0" smtClean="0"/>
                  <a:t>O(log</a:t>
                </a:r>
                <a:r>
                  <a:rPr lang="en-US" sz="2400" baseline="-25000" dirty="0" smtClean="0"/>
                  <a:t>2</a:t>
                </a:r>
                <a:r>
                  <a:rPr lang="en-US" sz="2400" dirty="0" smtClean="0"/>
                  <a:t>𝑛</a:t>
                </a:r>
                <a:r>
                  <a:rPr lang="en-US" sz="2400" dirty="0"/>
                  <a:t>)</a:t>
                </a:r>
              </a:p>
              <a:p>
                <a:pPr lvl="1"/>
                <a:r>
                  <a:rPr lang="en-US" altLang="en-US" sz="2400" dirty="0" err="1"/>
                  <a:t>Vun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đống</a:t>
                </a:r>
                <a:r>
                  <a:rPr lang="en-US" altLang="en-US" sz="2400" dirty="0"/>
                  <a:t> </a:t>
                </a:r>
                <a:r>
                  <a:rPr lang="en-US" altLang="en-US" sz="2400" dirty="0" smtClean="0"/>
                  <a:t>(</a:t>
                </a:r>
                <a:r>
                  <a:rPr lang="en-US" altLang="en-US" sz="2000" b="1" dirty="0" err="1" smtClean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MakeHeap</a:t>
                </a:r>
                <a:r>
                  <a:rPr lang="en-US" altLang="en-US" sz="2400" dirty="0" smtClean="0">
                    <a:latin typeface="Lato" panose="020F0502020204030203"/>
                    <a:cs typeface="Courier New" panose="02070309020205020404" pitchFamily="49" charset="0"/>
                  </a:rPr>
                  <a:t>) </a:t>
                </a:r>
                <a:r>
                  <a:rPr lang="en-US" altLang="en-US" sz="2400" dirty="0" smtClean="0">
                    <a:cs typeface="Courier New" panose="02070309020205020404" pitchFamily="49" charset="0"/>
                  </a:rPr>
                  <a:t>:</a:t>
                </a:r>
                <a:r>
                  <a:rPr lang="en-US" sz="2400" dirty="0"/>
                  <a:t> </a:t>
                </a:r>
                <a:r>
                  <a:rPr lang="vi-VN" sz="2400" dirty="0" smtClean="0"/>
                  <a:t> </a:t>
                </a:r>
                <a:r>
                  <a:rPr lang="en-US" sz="2400" dirty="0" smtClean="0"/>
                  <a:t>O(nlog</a:t>
                </a:r>
                <a:r>
                  <a:rPr lang="en-US" sz="2400" baseline="-25000" dirty="0" smtClean="0"/>
                  <a:t>2</a:t>
                </a:r>
                <a:r>
                  <a:rPr lang="en-US" sz="2400" dirty="0"/>
                  <a:t>𝑛)</a:t>
                </a:r>
                <a:endParaRPr lang="en-US" altLang="en-US" sz="2400" dirty="0" smtClean="0">
                  <a:cs typeface="Courier New" panose="02070309020205020404" pitchFamily="49" charset="0"/>
                </a:endParaRPr>
              </a:p>
              <a:p>
                <a:pPr lvl="1"/>
                <a:r>
                  <a:rPr lang="en-US" sz="2400" dirty="0" err="1" smtClean="0"/>
                  <a:t>Sắp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xếp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vun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đống</a:t>
                </a:r>
                <a:r>
                  <a:rPr lang="en-US" sz="2400" dirty="0" smtClean="0"/>
                  <a:t> (</a:t>
                </a:r>
                <a:r>
                  <a:rPr lang="en-US" altLang="en-US" sz="20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HeapSort</a:t>
                </a:r>
                <a:r>
                  <a:rPr lang="en-US" sz="2400" dirty="0" smtClean="0"/>
                  <a:t>) </a:t>
                </a:r>
                <a:r>
                  <a:rPr lang="en-US" sz="2400" dirty="0"/>
                  <a:t>:</a:t>
                </a:r>
                <a:r>
                  <a:rPr lang="vi-VN" sz="2400" dirty="0"/>
                  <a:t> </a:t>
                </a:r>
                <a:r>
                  <a:rPr lang="en-US" sz="2400" dirty="0" smtClean="0"/>
                  <a:t>O(nlog</a:t>
                </a:r>
                <a:r>
                  <a:rPr lang="en-US" sz="2400" baseline="-25000" dirty="0" smtClean="0"/>
                  <a:t>2</a:t>
                </a:r>
                <a:r>
                  <a:rPr lang="en-US" sz="2400" dirty="0"/>
                  <a:t>𝑛)</a:t>
                </a:r>
              </a:p>
              <a:p>
                <a:endParaRPr lang="en-US" sz="2300" dirty="0" smtClean="0"/>
              </a:p>
              <a:p>
                <a:endParaRPr lang="en-US" sz="2300" dirty="0"/>
              </a:p>
            </p:txBody>
          </p:sp>
        </mc:Choice>
        <mc:Fallback xmlns="">
          <p:sp>
            <p:nvSpPr>
              <p:cNvPr id="5" name="Tex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3"/>
                <a:stretch>
                  <a:fillRect l="-985" t="-1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4973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TỔNG KẾT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34951" y="5105400"/>
            <a:ext cx="8674100" cy="990600"/>
          </a:xfrm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8CB97647-31CE-4D00-AA7B-41A5570ECF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3407281"/>
                  </p:ext>
                </p:extLst>
              </p:nvPr>
            </p:nvGraphicFramePr>
            <p:xfrm>
              <a:off x="1045596" y="1177814"/>
              <a:ext cx="6858000" cy="34514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3257045327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3379513616"/>
                        </a:ext>
                      </a:extLst>
                    </a:gridCol>
                    <a:gridCol w="1981200">
                      <a:extLst>
                        <a:ext uri="{9D8B030D-6E8A-4147-A177-3AD203B41FA5}">
                          <a16:colId xmlns:a16="http://schemas.microsoft.com/office/drawing/2014/main" val="2158278561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3216682848"/>
                        </a:ext>
                      </a:extLst>
                    </a:gridCol>
                  </a:tblGrid>
                  <a:tr h="4431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Algorithm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Worst case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Average case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Memory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3408851"/>
                      </a:ext>
                    </a:extLst>
                  </a:tr>
                  <a:tr h="443163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Bubble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US" sz="20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20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kumimoji="0" lang="en-US" sz="2000" b="0" i="0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)</a:t>
                          </a:r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US" sz="20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20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kumimoji="0" lang="en-US" sz="2000" b="0" i="0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)</a:t>
                          </a:r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1367597"/>
                      </a:ext>
                    </a:extLst>
                  </a:tr>
                  <a:tr h="443163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Insertion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US" sz="20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20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kumimoji="0" lang="en-US" sz="2000" b="0" i="0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)</a:t>
                          </a:r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US" sz="20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20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kumimoji="0" lang="en-US" sz="2000" b="0" i="0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)</a:t>
                          </a:r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5326476"/>
                      </a:ext>
                    </a:extLst>
                  </a:tr>
                  <a:tr h="443163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Selection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US" sz="20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20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kumimoji="0" lang="en-US" sz="2000" b="0" i="0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)</a:t>
                          </a:r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US" sz="20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20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kumimoji="0" lang="en-US" sz="2000" b="0" i="0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0" lang="en-US" sz="20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) </a:t>
                          </a:r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7636648"/>
                      </a:ext>
                    </a:extLst>
                  </a:tr>
                  <a:tr h="443163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Heap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kumimoji="0" lang="en-US" sz="2000" b="0" i="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  <m:r>
                                <a:rPr kumimoji="0" lang="en-US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oMath>
                          </a14:m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)</a:t>
                          </a:r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2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𝒏</m:t>
                              </m:r>
                              <m:r>
                                <a:rPr kumimoji="0" lang="en-US" sz="2000" b="1" i="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𝐥𝐨𝐠</m:t>
                              </m:r>
                              <m:r>
                                <a:rPr kumimoji="0" lang="en-US" sz="2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𝒏</m:t>
                              </m:r>
                            </m:oMath>
                          </a14:m>
                          <a:r>
                            <a:rPr kumimoji="0" lang="en-US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)</a:t>
                          </a:r>
                          <a:endParaRPr lang="en-US" sz="2000" b="1" dirty="0">
                            <a:solidFill>
                              <a:srgbClr val="00B05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8132982"/>
                      </a:ext>
                    </a:extLst>
                  </a:tr>
                  <a:tr h="443163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Merge (std)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kumimoji="0" lang="en-US" sz="2000" b="0" i="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  <m:r>
                                <a:rPr kumimoji="0" lang="en-US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oMath>
                          </a14:m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)</a:t>
                          </a:r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2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𝒏</m:t>
                              </m:r>
                              <m:r>
                                <a:rPr kumimoji="0" lang="en-US" sz="2000" b="1" i="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𝐥𝐨𝐠</m:t>
                              </m:r>
                              <m:r>
                                <a:rPr kumimoji="0" lang="en-US" sz="2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𝒏</m:t>
                              </m:r>
                            </m:oMath>
                          </a14:m>
                          <a:r>
                            <a:rPr kumimoji="0" lang="en-US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)</a:t>
                          </a:r>
                          <a:endParaRPr lang="en-US" sz="2000" b="1" dirty="0">
                            <a:solidFill>
                              <a:srgbClr val="00B05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9434925"/>
                      </a:ext>
                    </a:extLst>
                  </a:tr>
                  <a:tr h="312823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Merge (in place)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000" b="0" i="0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2000" b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000" b="0" i="0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2000" b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219495"/>
                      </a:ext>
                    </a:extLst>
                  </a:tr>
                  <a:tr h="145183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Quicksort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000" b="0" i="0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rgbClr val="00B05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2000" b="1" i="0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  <m:r>
                                <a:rPr lang="en-US" sz="2000" b="1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rgbClr val="00B05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log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2231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8CB97647-31CE-4D00-AA7B-41A5570ECF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3407281"/>
                  </p:ext>
                </p:extLst>
              </p:nvPr>
            </p:nvGraphicFramePr>
            <p:xfrm>
              <a:off x="1045596" y="1177814"/>
              <a:ext cx="6858000" cy="34514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3257045327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3379513616"/>
                        </a:ext>
                      </a:extLst>
                    </a:gridCol>
                    <a:gridCol w="1981200">
                      <a:extLst>
                        <a:ext uri="{9D8B030D-6E8A-4147-A177-3AD203B41FA5}">
                          <a16:colId xmlns:a16="http://schemas.microsoft.com/office/drawing/2014/main" val="2158278561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3216682848"/>
                        </a:ext>
                      </a:extLst>
                    </a:gridCol>
                  </a:tblGrid>
                  <a:tr h="4431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Algorithm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Worst case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Average case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Memory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3408851"/>
                      </a:ext>
                    </a:extLst>
                  </a:tr>
                  <a:tr h="443163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Bubble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897" t="-105479" r="-201141" b="-6013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5231" t="-105479" r="-62769" b="-6013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3500" t="-105479" r="-2000" b="-6013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1367597"/>
                      </a:ext>
                    </a:extLst>
                  </a:tr>
                  <a:tr h="443163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Insertion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897" t="-208333" r="-201141" b="-5097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5231" t="-208333" r="-62769" b="-5097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3500" t="-208333" r="-2000" b="-5097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5326476"/>
                      </a:ext>
                    </a:extLst>
                  </a:tr>
                  <a:tr h="443163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Selection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897" t="-304110" r="-201141" b="-4027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5231" t="-304110" r="-62769" b="-4027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3500" t="-304110" r="-2000" b="-4027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7636648"/>
                      </a:ext>
                    </a:extLst>
                  </a:tr>
                  <a:tr h="443163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Heap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897" t="-404110" r="-201141" b="-3027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5231" t="-404110" r="-62769" b="-3027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3500" t="-404110" r="-2000" b="-3027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8132982"/>
                      </a:ext>
                    </a:extLst>
                  </a:tr>
                  <a:tr h="443163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Merge (std)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897" t="-504110" r="-201141" b="-2027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5231" t="-504110" r="-62769" b="-2027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3500" t="-504110" r="-2000" b="-2027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943492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Merge (in place)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897" t="-678462" r="-201141" b="-1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5231" t="-678462" r="-62769" b="-1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3500" t="-678462" r="-2000" b="-1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21949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Quicksort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897" t="-778462" r="-201141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5231" t="-778462" r="-62769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3500" t="-778462" r="-2000" b="-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22311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42122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BÀI TẬP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sz="2400" dirty="0" err="1"/>
              <a:t>Bài</a:t>
            </a:r>
            <a:r>
              <a:rPr lang="en-US" altLang="en-US" sz="2400" dirty="0"/>
              <a:t> 1: </a:t>
            </a:r>
            <a:r>
              <a:rPr lang="en-US" altLang="en-US" sz="2400" dirty="0" err="1" smtClean="0"/>
              <a:t>Cài</a:t>
            </a:r>
            <a:r>
              <a:rPr lang="en-US" altLang="en-US" sz="2400" dirty="0" smtClean="0"/>
              <a:t> </a:t>
            </a:r>
            <a:r>
              <a:rPr lang="en-US" altLang="en-US" sz="2400" dirty="0" err="1"/>
              <a:t>đặt</a:t>
            </a:r>
            <a:r>
              <a:rPr lang="en-US" altLang="en-US" sz="2400" dirty="0"/>
              <a:t> </a:t>
            </a:r>
            <a:r>
              <a:rPr lang="en-US" altLang="en-US" sz="2400" dirty="0"/>
              <a:t>3</a:t>
            </a:r>
            <a:r>
              <a:rPr lang="en-US" altLang="en-US" sz="2400" dirty="0" smtClean="0"/>
              <a:t> </a:t>
            </a:r>
            <a:r>
              <a:rPr lang="en-US" altLang="en-US" sz="2400" dirty="0" err="1"/>
              <a:t>giải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thuật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sắp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xếp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cơ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bản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cho</a:t>
            </a:r>
            <a:r>
              <a:rPr lang="en-US" altLang="en-US" sz="2400" dirty="0"/>
              <a:t> </a:t>
            </a:r>
            <a:r>
              <a:rPr lang="en-US" altLang="en-US" sz="2400" dirty="0" smtClean="0"/>
              <a:t>1 </a:t>
            </a:r>
            <a:r>
              <a:rPr lang="en-US" altLang="en-US" sz="2400" dirty="0" err="1" smtClean="0"/>
              <a:t>danh</a:t>
            </a:r>
            <a:r>
              <a:rPr lang="en-US" altLang="en-US" sz="2400" dirty="0" smtClean="0"/>
              <a:t> </a:t>
            </a:r>
            <a:r>
              <a:rPr lang="en-US" altLang="en-US" sz="2400" dirty="0" err="1"/>
              <a:t>sách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được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cài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đặt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bằng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móc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nối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đơn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thẳng</a:t>
            </a:r>
            <a:endParaRPr lang="en-US" altLang="en-US" sz="2400" dirty="0"/>
          </a:p>
          <a:p>
            <a:r>
              <a:rPr lang="en-US" altLang="en-US" sz="2400" dirty="0" err="1"/>
              <a:t>Bài</a:t>
            </a:r>
            <a:r>
              <a:rPr lang="en-US" altLang="en-US" sz="2400" dirty="0"/>
              <a:t> 2: </a:t>
            </a:r>
            <a:r>
              <a:rPr lang="en-US" altLang="en-US" sz="2400" dirty="0" err="1" smtClean="0"/>
              <a:t>Cài</a:t>
            </a:r>
            <a:r>
              <a:rPr lang="en-US" altLang="en-US" sz="2400" dirty="0" smtClean="0"/>
              <a:t> </a:t>
            </a:r>
            <a:r>
              <a:rPr lang="en-US" altLang="en-US" sz="2400" dirty="0" err="1"/>
              <a:t>đặt</a:t>
            </a:r>
            <a:r>
              <a:rPr lang="en-US" altLang="en-US" sz="2400" dirty="0"/>
              <a:t> </a:t>
            </a:r>
            <a:r>
              <a:rPr lang="en-US" altLang="en-US" sz="2400" dirty="0" smtClean="0"/>
              <a:t>3 </a:t>
            </a:r>
            <a:r>
              <a:rPr lang="en-US" altLang="en-US" sz="2400" dirty="0" err="1"/>
              <a:t>giải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thuật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sắp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xếp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nâng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cao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cho</a:t>
            </a:r>
            <a:r>
              <a:rPr lang="en-US" altLang="en-US" sz="2400"/>
              <a:t> </a:t>
            </a:r>
            <a:r>
              <a:rPr lang="en-US" altLang="en-US" sz="2400" smtClean="0"/>
              <a:t>1 danh</a:t>
            </a:r>
            <a:r>
              <a:rPr lang="en-US" altLang="en-US" sz="2400" dirty="0" smtClean="0"/>
              <a:t> </a:t>
            </a:r>
            <a:r>
              <a:rPr lang="en-US" altLang="en-US" sz="2400" dirty="0" err="1"/>
              <a:t>sách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được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cài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đặt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bằng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móc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nối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đơn</a:t>
            </a:r>
            <a:r>
              <a:rPr lang="en-US" altLang="en-US" sz="2400" dirty="0"/>
              <a:t> </a:t>
            </a:r>
            <a:r>
              <a:rPr lang="en-US" altLang="en-US" sz="2400" dirty="0" smtClean="0"/>
              <a:t>(</a:t>
            </a:r>
            <a:r>
              <a:rPr lang="en-US" altLang="en-US" sz="2400" dirty="0" err="1" smtClean="0"/>
              <a:t>hoặc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kép</a:t>
            </a:r>
            <a:r>
              <a:rPr lang="en-US" altLang="en-US" sz="2400" dirty="0" smtClean="0"/>
              <a:t>) </a:t>
            </a:r>
            <a:r>
              <a:rPr lang="en-US" altLang="en-US" sz="2400" dirty="0" err="1" smtClean="0"/>
              <a:t>thẳng</a:t>
            </a:r>
            <a:endParaRPr lang="en-US" alt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45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52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D4F8744-6985-41B4-955A-C3CE0031EE08}" type="slidenum">
              <a:rPr lang="en-US" altLang="en-US">
                <a:latin typeface="Garamond" panose="02020404030301010803" pitchFamily="18" charset="0"/>
              </a:rPr>
              <a:pPr eaLnBrk="1" hangingPunct="1"/>
              <a:t>59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 smtClean="0"/>
              <a:t>Giải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thuật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phân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đoạn</a:t>
            </a:r>
            <a:endParaRPr lang="en-US" altLang="en-US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3" name="Content Placeholder 2"/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234950" y="963168"/>
                <a:ext cx="5022850" cy="5132832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 smtClean="0"/>
                  <a:t>Giải </a:t>
                </a:r>
                <a:r>
                  <a:rPr lang="en-US" sz="2400" dirty="0" err="1" smtClean="0"/>
                  <a:t>thuật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phân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đoạn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Lomuto</a:t>
                </a:r>
                <a:endParaRPr lang="en-US" sz="2400" dirty="0" smtClean="0"/>
              </a:p>
              <a:p>
                <a:pPr lvl="1"/>
                <a:r>
                  <a:rPr lang="en-US" sz="2400" dirty="0" err="1" smtClean="0"/>
                  <a:t>Chọn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phần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tử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cuối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dãy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là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chốt</a:t>
                </a:r>
                <a:r>
                  <a:rPr lang="en-US" sz="2400" dirty="0" smtClean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 smtClean="0"/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 smtClean="0"/>
                  <a:t> : </a:t>
                </a:r>
                <a:r>
                  <a:rPr lang="en-US" sz="2400" dirty="0" err="1" smtClean="0"/>
                  <a:t>chỉ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số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đầu</a:t>
                </a:r>
                <a:r>
                  <a:rPr lang="en-US" sz="2400" dirty="0" smtClean="0"/>
                  <a:t>, </a:t>
                </a:r>
                <a:r>
                  <a:rPr lang="en-US" sz="2400" dirty="0" err="1" smtClean="0"/>
                  <a:t>cuối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của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dãy</a:t>
                </a:r>
                <a:r>
                  <a:rPr lang="en-US" sz="2400" dirty="0" smtClean="0"/>
                  <a:t> </a:t>
                </a:r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: </a:t>
                </a:r>
                <a:r>
                  <a:rPr lang="en-US" sz="2400" dirty="0" err="1" smtClean="0"/>
                  <a:t>chỉ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số</a:t>
                </a:r>
                <a:r>
                  <a:rPr lang="en-US" sz="2400" dirty="0" smtClean="0"/>
                  <a:t>/</a:t>
                </a:r>
                <a:r>
                  <a:rPr lang="en-US" sz="2400" dirty="0" err="1" smtClean="0"/>
                  <a:t>vị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trí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của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phần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tử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đầu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tiên</a:t>
                </a:r>
                <a:r>
                  <a:rPr lang="en-US" sz="2400" dirty="0" smtClean="0"/>
                  <a:t> ≥ </a:t>
                </a:r>
                <a:r>
                  <a:rPr lang="en-US" sz="2400" dirty="0"/>
                  <a:t>pivot</a:t>
                </a:r>
                <a:r>
                  <a:rPr lang="en-US" sz="2400" dirty="0" smtClean="0"/>
                  <a:t>; 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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trước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i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là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các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phần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tử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nhỏ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hơn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 smtClean="0">
                    <a:sym typeface="Wingdings" panose="05000000000000000000" pitchFamily="2" charset="2"/>
                  </a:rPr>
                  <a:t>chốt</a:t>
                </a:r>
                <a:endParaRPr lang="en-US" sz="2400" dirty="0" smtClean="0">
                  <a:sym typeface="Wingdings" panose="05000000000000000000" pitchFamily="2" charset="2"/>
                </a:endParaRPr>
              </a:p>
              <a:p>
                <a:pPr lvl="1"/>
                <a:r>
                  <a:rPr lang="en-US" sz="2400" dirty="0" err="1" smtClean="0"/>
                  <a:t>Duyêt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từ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đầu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đến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cuối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dẫy</a:t>
                </a:r>
                <a:r>
                  <a:rPr lang="en-US" sz="2400" dirty="0" smtClean="0"/>
                  <a:t>, </a:t>
                </a:r>
                <a:r>
                  <a:rPr lang="en-US" sz="2400" dirty="0" err="1" smtClean="0"/>
                  <a:t>nếu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có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phần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tử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nhỏ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hơn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chốt</a:t>
                </a:r>
                <a:r>
                  <a:rPr lang="en-US" sz="2400" dirty="0" smtClean="0"/>
                  <a:t>, </a:t>
                </a:r>
                <a:r>
                  <a:rPr lang="en-US" sz="2400" dirty="0" err="1" smtClean="0"/>
                  <a:t>thì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đổi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vị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trí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cho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vị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trí</a:t>
                </a:r>
                <a:r>
                  <a:rPr lang="en-US" sz="2400" dirty="0" smtClean="0"/>
                  <a:t> </a:t>
                </a:r>
                <a:r>
                  <a:rPr lang="en-US" sz="2400" i="1" dirty="0" err="1" smtClean="0"/>
                  <a:t>i</a:t>
                </a:r>
                <a:r>
                  <a:rPr lang="en-US" sz="2400" dirty="0" smtClean="0"/>
                  <a:t>.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100" dirty="0"/>
                  <a:t>: </a:t>
                </a:r>
                <a:r>
                  <a:rPr lang="en-US" sz="2100" dirty="0" err="1"/>
                  <a:t>chỉ</a:t>
                </a:r>
                <a:r>
                  <a:rPr lang="en-US" sz="2100" dirty="0"/>
                  <a:t> </a:t>
                </a:r>
                <a:r>
                  <a:rPr lang="en-US" sz="2100" dirty="0" err="1"/>
                  <a:t>số</a:t>
                </a:r>
                <a:r>
                  <a:rPr lang="en-US" sz="2100" dirty="0"/>
                  <a:t> </a:t>
                </a:r>
                <a:r>
                  <a:rPr lang="en-US" sz="2100" dirty="0" err="1" smtClean="0"/>
                  <a:t>duyệt</a:t>
                </a:r>
                <a:endParaRPr lang="en-US" sz="2100" dirty="0" smtClean="0"/>
              </a:p>
              <a:p>
                <a:pPr lvl="2"/>
                <a:r>
                  <a:rPr lang="en-US" sz="2100" dirty="0" err="1" smtClean="0"/>
                  <a:t>Sau</a:t>
                </a:r>
                <a:r>
                  <a:rPr lang="en-US" sz="2100" dirty="0" smtClean="0"/>
                  <a:t> </a:t>
                </a:r>
                <a:r>
                  <a:rPr lang="en-US" sz="2100" dirty="0" err="1" smtClean="0"/>
                  <a:t>đổi</a:t>
                </a:r>
                <a:r>
                  <a:rPr lang="en-US" sz="2100" dirty="0" smtClean="0"/>
                  <a:t> </a:t>
                </a:r>
                <a:r>
                  <a:rPr lang="en-US" sz="2100" dirty="0" err="1" smtClean="0"/>
                  <a:t>chỗ</a:t>
                </a:r>
                <a:r>
                  <a:rPr lang="en-US" sz="2100" dirty="0" smtClean="0"/>
                  <a:t> </a:t>
                </a:r>
                <a:r>
                  <a:rPr lang="en-US" sz="2100" dirty="0" err="1" smtClean="0"/>
                  <a:t>đánh</a:t>
                </a:r>
                <a:r>
                  <a:rPr lang="en-US" sz="2100" dirty="0" smtClean="0"/>
                  <a:t> </a:t>
                </a:r>
                <a:r>
                  <a:rPr lang="en-US" sz="2100" dirty="0" err="1" smtClean="0"/>
                  <a:t>dấu</a:t>
                </a:r>
                <a:r>
                  <a:rPr lang="en-US" sz="2100" dirty="0" smtClean="0"/>
                  <a:t> </a:t>
                </a:r>
                <a:r>
                  <a:rPr lang="en-US" sz="2100" dirty="0" err="1" smtClean="0"/>
                  <a:t>vị</a:t>
                </a:r>
                <a:r>
                  <a:rPr lang="en-US" sz="2100" dirty="0" smtClean="0"/>
                  <a:t> </a:t>
                </a:r>
                <a:r>
                  <a:rPr lang="en-US" sz="2100" dirty="0" err="1" smtClean="0"/>
                  <a:t>trí</a:t>
                </a:r>
                <a:r>
                  <a:rPr lang="en-US" sz="2100" dirty="0" smtClean="0"/>
                  <a:t> </a:t>
                </a:r>
                <a:r>
                  <a:rPr lang="en-US" sz="2100" dirty="0" err="1" smtClean="0"/>
                  <a:t>mới</a:t>
                </a:r>
                <a:r>
                  <a:rPr lang="en-US" sz="2100" dirty="0" smtClean="0"/>
                  <a:t> </a:t>
                </a:r>
                <a:r>
                  <a:rPr lang="en-US" sz="2000" dirty="0" smtClean="0"/>
                  <a:t>≥ pivot:</a:t>
                </a:r>
                <a:r>
                  <a:rPr lang="en-US" sz="2000" i="1" dirty="0" smtClean="0"/>
                  <a:t> </a:t>
                </a:r>
                <a:r>
                  <a:rPr lang="en-US" sz="2000" i="1" dirty="0" err="1" smtClean="0"/>
                  <a:t>i</a:t>
                </a:r>
                <a:r>
                  <a:rPr lang="en-US" sz="2000" i="1" dirty="0" smtClean="0"/>
                  <a:t>++</a:t>
                </a:r>
              </a:p>
              <a:p>
                <a:pPr lvl="1"/>
                <a:r>
                  <a:rPr lang="en-US" sz="2400" dirty="0" err="1"/>
                  <a:t>Bước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cuối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cùng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đổi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chỗ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chốt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phần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tử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thứ</a:t>
                </a:r>
                <a:r>
                  <a:rPr lang="en-US" sz="2400" dirty="0"/>
                  <a:t> </a:t>
                </a:r>
                <a:r>
                  <a:rPr lang="en-US" sz="2400" dirty="0" err="1"/>
                  <a:t>i</a:t>
                </a:r>
                <a:endParaRPr lang="en-US" sz="2400" dirty="0"/>
              </a:p>
              <a:p>
                <a:pPr lvl="1"/>
                <a:endParaRPr lang="en-US" sz="2400" i="1" dirty="0" smtClean="0"/>
              </a:p>
              <a:p>
                <a:pPr lvl="1"/>
                <a:endParaRPr lang="en-US" altLang="en-US" sz="2100" dirty="0" smtClean="0"/>
              </a:p>
              <a:p>
                <a:pPr eaLnBrk="1" hangingPunct="1"/>
                <a:endParaRPr lang="en-US" altLang="en-US" sz="4400" dirty="0" smtClean="0"/>
              </a:p>
            </p:txBody>
          </p:sp>
        </mc:Choice>
        <mc:Fallback xmlns="">
          <p:sp>
            <p:nvSpPr>
              <p:cNvPr id="2560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234950" y="963168"/>
                <a:ext cx="5022850" cy="5132832"/>
              </a:xfrm>
              <a:blipFill>
                <a:blip r:embed="rId3"/>
                <a:stretch>
                  <a:fillRect l="-1699" t="-1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020" y="958503"/>
            <a:ext cx="3994837" cy="459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48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D4F8744-6985-41B4-955A-C3CE0031EE08}" type="slidenum">
              <a:rPr lang="en-US" altLang="en-US">
                <a:latin typeface="Garamond" panose="02020404030301010803" pitchFamily="18" charset="0"/>
              </a:rPr>
              <a:pPr eaLnBrk="1" hangingPunct="1"/>
              <a:t>60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 smtClean="0"/>
              <a:t>Giải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thuật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phân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đoạn</a:t>
            </a:r>
            <a:endParaRPr lang="en-US" altLang="en-US" dirty="0" smtClean="0"/>
          </a:p>
        </p:txBody>
      </p:sp>
      <p:sp>
        <p:nvSpPr>
          <p:cNvPr id="2560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5022850" cy="5132832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thuật</a:t>
            </a:r>
            <a:r>
              <a:rPr lang="en-US" sz="2400" dirty="0" smtClean="0"/>
              <a:t> </a:t>
            </a:r>
            <a:r>
              <a:rPr lang="en-US" sz="2400" dirty="0" err="1" smtClean="0"/>
              <a:t>phân</a:t>
            </a:r>
            <a:r>
              <a:rPr lang="en-US" sz="2400" dirty="0" smtClean="0"/>
              <a:t> </a:t>
            </a:r>
            <a:r>
              <a:rPr lang="en-US" sz="2400" dirty="0" err="1" smtClean="0"/>
              <a:t>đoạn</a:t>
            </a:r>
            <a:r>
              <a:rPr lang="en-US" sz="2400" dirty="0" smtClean="0"/>
              <a:t> </a:t>
            </a:r>
            <a:r>
              <a:rPr lang="en-US" sz="2400" dirty="0" err="1" smtClean="0"/>
              <a:t>Lomuto</a:t>
            </a:r>
            <a:r>
              <a:rPr lang="en-US" sz="2400" dirty="0" smtClean="0"/>
              <a:t> </a:t>
            </a:r>
            <a:endParaRPr lang="en-US" altLang="en-US" sz="2100" dirty="0" smtClean="0"/>
          </a:p>
          <a:p>
            <a:pPr eaLnBrk="1" hangingPunct="1"/>
            <a:endParaRPr lang="en-US" altLang="en-US" sz="44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827" y="3276600"/>
            <a:ext cx="2754173" cy="31669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19200" y="1469168"/>
            <a:ext cx="715803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qsPartitionLomuto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DaySo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pivot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a[r];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=l, j=l;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l, j = l; j &lt; r;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(a[j] &lt;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pivot){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HoanDoi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(a[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], a[j]);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++;	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HoanDoi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(a[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], a[r]);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2575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b="48276"/>
          <a:stretch/>
        </p:blipFill>
        <p:spPr>
          <a:xfrm>
            <a:off x="1981200" y="1219200"/>
            <a:ext cx="4610100" cy="2286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775" y="1887666"/>
            <a:ext cx="1152525" cy="4000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0950" y="2590800"/>
            <a:ext cx="933450" cy="3333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700" y="2576512"/>
            <a:ext cx="1219200" cy="3619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t="50930"/>
          <a:stretch/>
        </p:blipFill>
        <p:spPr>
          <a:xfrm>
            <a:off x="1981200" y="3529584"/>
            <a:ext cx="4610100" cy="216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254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7. SL - Mẫu slides bài giảng_HUST PPT 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. SL - Mẫu slides bài giảng_HUST PPT Template.pptx" id="{45510D97-992C-451E-ADEA-BBABC4EFA76A}" vid="{3E3F4600-7126-4670-8CD5-2C2CB12BC9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7. SL - Mẫu slides bài giảng_HUST PPT Template</Template>
  <TotalTime>15655</TotalTime>
  <Words>6555</Words>
  <Application>Microsoft Office PowerPoint</Application>
  <PresentationFormat>On-screen Show (4:3)</PresentationFormat>
  <Paragraphs>1051</Paragraphs>
  <Slides>61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3" baseType="lpstr">
      <vt:lpstr>Arial</vt:lpstr>
      <vt:lpstr>Calibri</vt:lpstr>
      <vt:lpstr>Calibri Light</vt:lpstr>
      <vt:lpstr>Cambria Math</vt:lpstr>
      <vt:lpstr>Courier New</vt:lpstr>
      <vt:lpstr>Garamond</vt:lpstr>
      <vt:lpstr>Gill Sans MT</vt:lpstr>
      <vt:lpstr>Lato</vt:lpstr>
      <vt:lpstr>Symbol</vt:lpstr>
      <vt:lpstr>Times New Roman</vt:lpstr>
      <vt:lpstr>Wingdings</vt:lpstr>
      <vt:lpstr>7. SL - Mẫu slides bài giảng_HUST PPT Template</vt:lpstr>
      <vt:lpstr>CẤU TRÚC DỮ LIỆU VÀ GIẢI THUẬT</vt:lpstr>
      <vt:lpstr>Chương V :  Các giải thuật sắp xếp</vt:lpstr>
      <vt:lpstr>Nội dung chính</vt:lpstr>
      <vt:lpstr>1. Đặt vấn đề</vt:lpstr>
      <vt:lpstr>1. Đặt vấn đề</vt:lpstr>
      <vt:lpstr>1. Đặt vấn đề</vt:lpstr>
      <vt:lpstr>1. Đặt vấn đề</vt:lpstr>
      <vt:lpstr>1. Đặt vấn đề</vt:lpstr>
      <vt:lpstr>2. Các giải thuật sắp xếp cơ bản</vt:lpstr>
      <vt:lpstr>2.1 Sắp xếp chọn (Selection sort)</vt:lpstr>
      <vt:lpstr>2.1 Sắp xếp chọn</vt:lpstr>
      <vt:lpstr>2.1 Sắp xếp chọn</vt:lpstr>
      <vt:lpstr>2.1 Sắp xếp chọn</vt:lpstr>
      <vt:lpstr>2.1 Sắp xếp chọn</vt:lpstr>
      <vt:lpstr>2.1 Sắp xếp chọn</vt:lpstr>
      <vt:lpstr>2.2. Sắp xếp nổi bọt (Bubble/Exchange sort)</vt:lpstr>
      <vt:lpstr>2.2. Sắp xếp nổi bọt</vt:lpstr>
      <vt:lpstr>2.2. Sắp xếp nổi bọt</vt:lpstr>
      <vt:lpstr>2.2. Sắp xếp nổi bọt</vt:lpstr>
      <vt:lpstr>2.2. Sắp xếp nổi bọt</vt:lpstr>
      <vt:lpstr>2.2. Sắp xếp nổi bọt</vt:lpstr>
      <vt:lpstr>2.3 Sắp xếp chèn (Insertion sort)</vt:lpstr>
      <vt:lpstr>2.3 Sắp xếp chèn</vt:lpstr>
      <vt:lpstr>2.3 Sắp xếp chèn</vt:lpstr>
      <vt:lpstr>2.3 Sắp xếp chèn</vt:lpstr>
      <vt:lpstr>2.3 Sắp xếp chèn</vt:lpstr>
      <vt:lpstr>2.3 Sắp xếp chèn</vt:lpstr>
      <vt:lpstr>PowerPoint Presentation</vt:lpstr>
      <vt:lpstr>3. Các giải thuật sắp xếp nâng cao</vt:lpstr>
      <vt:lpstr>3.1 Sắp xếp nhanh/phân đoạn (QuickSort)</vt:lpstr>
      <vt:lpstr>3.1 Sắp xếp nhanh/phân đoạn</vt:lpstr>
      <vt:lpstr>3.1 Sắp xếp nhanh/phân đoạn</vt:lpstr>
      <vt:lpstr>3.1 Sắp xếp nhanh/phân đoạn</vt:lpstr>
      <vt:lpstr>3.1 Sắp xếp nhanh/phân đoạn</vt:lpstr>
      <vt:lpstr>Giải thuật phân đoạn</vt:lpstr>
      <vt:lpstr>Giải thuật phân đoạn</vt:lpstr>
      <vt:lpstr>3.1 Sắp xếp nhanh/phân đoạn</vt:lpstr>
      <vt:lpstr>3.2 Sắp xếp trộn (Merge Sort)</vt:lpstr>
      <vt:lpstr>3.2 Sắp xếp trộn</vt:lpstr>
      <vt:lpstr>Giải thuật trộn Sử dụng bộ nhớ tạm</vt:lpstr>
      <vt:lpstr>Giải thuật trộn Sử dụng bộ nhớ tạm</vt:lpstr>
      <vt:lpstr>Giải thuật trộn Tại chỗ</vt:lpstr>
      <vt:lpstr>3.2 Sắp xếp trộn</vt:lpstr>
      <vt:lpstr>3.3 Sắp xếp vun đống (Heap Sort)</vt:lpstr>
      <vt:lpstr>Vun đống</vt:lpstr>
      <vt:lpstr>Vun đống</vt:lpstr>
      <vt:lpstr>3.3 Sắp xếp vun đống</vt:lpstr>
      <vt:lpstr>3.3 Sắp xếp vun đống</vt:lpstr>
      <vt:lpstr>3.3 Sắp xếp vun đống</vt:lpstr>
      <vt:lpstr>3.3 Sắp xếp vun đống</vt:lpstr>
      <vt:lpstr>3.3 Sắp xếp vun đống</vt:lpstr>
      <vt:lpstr>3.3 Sắp xếp vun đống</vt:lpstr>
      <vt:lpstr>3.3 Sắp xếp vun đống</vt:lpstr>
      <vt:lpstr>3.3 Sắp xếp vun đống</vt:lpstr>
      <vt:lpstr>TỔNG KẾT</vt:lpstr>
      <vt:lpstr>BÀI TẬP</vt:lpstr>
      <vt:lpstr>PowerPoint Presentation</vt:lpstr>
      <vt:lpstr>PowerPoint Presentation</vt:lpstr>
      <vt:lpstr>Giải thuật phân đoạn</vt:lpstr>
      <vt:lpstr>Giải thuật phân đoạn</vt:lpstr>
      <vt:lpstr>PowerPoint Presentation</vt:lpstr>
    </vt:vector>
  </TitlesOfParts>
  <Company>Utility Muffin Research Kitchen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Dao Trung Kien</dc:creator>
  <cp:lastModifiedBy>Do Thi Ngoc Diep</cp:lastModifiedBy>
  <cp:revision>2914</cp:revision>
  <cp:lastPrinted>2024-05-27T03:23:39Z</cp:lastPrinted>
  <dcterms:created xsi:type="dcterms:W3CDTF">2007-06-13T23:23:09Z</dcterms:created>
  <dcterms:modified xsi:type="dcterms:W3CDTF">2024-05-27T03:23:52Z</dcterms:modified>
</cp:coreProperties>
</file>