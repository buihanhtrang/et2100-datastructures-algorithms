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24"/>
  </p:notesMasterIdLst>
  <p:handoutMasterIdLst>
    <p:handoutMasterId r:id="rId25"/>
  </p:handoutMasterIdLst>
  <p:sldIdLst>
    <p:sldId id="256" r:id="rId2"/>
    <p:sldId id="303" r:id="rId3"/>
    <p:sldId id="323" r:id="rId4"/>
    <p:sldId id="306" r:id="rId5"/>
    <p:sldId id="329" r:id="rId6"/>
    <p:sldId id="308" r:id="rId7"/>
    <p:sldId id="307" r:id="rId8"/>
    <p:sldId id="309" r:id="rId9"/>
    <p:sldId id="310" r:id="rId10"/>
    <p:sldId id="311" r:id="rId11"/>
    <p:sldId id="312" r:id="rId12"/>
    <p:sldId id="324" r:id="rId13"/>
    <p:sldId id="314" r:id="rId14"/>
    <p:sldId id="313" r:id="rId15"/>
    <p:sldId id="316" r:id="rId16"/>
    <p:sldId id="317" r:id="rId17"/>
    <p:sldId id="326" r:id="rId18"/>
    <p:sldId id="327" r:id="rId19"/>
    <p:sldId id="328" r:id="rId20"/>
    <p:sldId id="318" r:id="rId21"/>
    <p:sldId id="319" r:id="rId22"/>
    <p:sldId id="330" r:id="rId23"/>
  </p:sldIdLst>
  <p:sldSz cx="9144000" cy="6858000" type="screen4x3"/>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0066"/>
    <a:srgbClr val="0036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81" autoAdjust="0"/>
    <p:restoredTop sz="79818" autoAdjust="0"/>
  </p:normalViewPr>
  <p:slideViewPr>
    <p:cSldViewPr>
      <p:cViewPr varScale="1">
        <p:scale>
          <a:sx n="56" d="100"/>
          <a:sy n="56" d="100"/>
        </p:scale>
        <p:origin x="1836" y="54"/>
      </p:cViewPr>
      <p:guideLst>
        <p:guide orient="horz" pos="2160"/>
        <p:guide pos="2880"/>
      </p:guideLst>
    </p:cSldViewPr>
  </p:slideViewPr>
  <p:notesTextViewPr>
    <p:cViewPr>
      <p:scale>
        <a:sx n="100" d="100"/>
        <a:sy n="100" d="100"/>
      </p:scale>
      <p:origin x="0" y="0"/>
    </p:cViewPr>
  </p:notesTextViewPr>
  <p:notesViewPr>
    <p:cSldViewPr>
      <p:cViewPr varScale="1">
        <p:scale>
          <a:sx n="67" d="100"/>
          <a:sy n="67" d="100"/>
        </p:scale>
        <p:origin x="-2784" y="-96"/>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580886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wrap="square" lIns="96661" tIns="48331" rIns="96661" bIns="48331" numCol="1" anchor="t" anchorCtr="0" compatLnSpc="1">
            <a:prstTxWarp prst="textNoShape">
              <a:avLst/>
            </a:prstTxWarp>
          </a:bodyPr>
          <a:lstStyle>
            <a:lvl1pPr>
              <a:defRPr sz="1300">
                <a:latin typeface="Calibri" pitchFamily="34" charset="0"/>
              </a:defRPr>
            </a:lvl1pPr>
          </a:lstStyle>
          <a:p>
            <a:endParaRPr lang="en-US"/>
          </a:p>
        </p:txBody>
      </p:sp>
      <p:sp>
        <p:nvSpPr>
          <p:cNvPr id="3" name="Date Placeholder 2"/>
          <p:cNvSpPr>
            <a:spLocks noGrp="1"/>
          </p:cNvSpPr>
          <p:nvPr>
            <p:ph type="dt" idx="1"/>
          </p:nvPr>
        </p:nvSpPr>
        <p:spPr>
          <a:xfrm>
            <a:off x="4021294" y="0"/>
            <a:ext cx="3076363" cy="511731"/>
          </a:xfrm>
          <a:prstGeom prst="rect">
            <a:avLst/>
          </a:prstGeom>
        </p:spPr>
        <p:txBody>
          <a:bodyPr vert="horz" wrap="square" lIns="96661" tIns="48331" rIns="96661" bIns="48331" numCol="1" anchor="t" anchorCtr="0" compatLnSpc="1">
            <a:prstTxWarp prst="textNoShape">
              <a:avLst/>
            </a:prstTxWarp>
          </a:bodyPr>
          <a:lstStyle>
            <a:lvl1pPr algn="r">
              <a:defRPr sz="1300">
                <a:latin typeface="Calibri" pitchFamily="34" charset="0"/>
              </a:defRPr>
            </a:lvl1pPr>
          </a:lstStyle>
          <a:p>
            <a:fld id="{5EDDA0F7-BB27-45D6-A5CE-AEC59009A5B9}" type="datetimeFigureOut">
              <a:rPr lang="en-US"/>
              <a:pPr/>
              <a:t>3/1/2024</a:t>
            </a:fld>
            <a:endParaRPr lang="en-US"/>
          </a:p>
        </p:txBody>
      </p:sp>
      <p:sp>
        <p:nvSpPr>
          <p:cNvPr id="4" name="Slide Image Placeholder 3"/>
          <p:cNvSpPr>
            <a:spLocks noGrp="1" noRot="1" noChangeAspect="1"/>
          </p:cNvSpPr>
          <p:nvPr>
            <p:ph type="sldImg" idx="2"/>
          </p:nvPr>
        </p:nvSpPr>
        <p:spPr>
          <a:xfrm>
            <a:off x="990600" y="768350"/>
            <a:ext cx="5118100" cy="3838575"/>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6661" tIns="48331" rIns="96661" bIns="48331"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9721106"/>
            <a:ext cx="3076363" cy="511731"/>
          </a:xfrm>
          <a:prstGeom prst="rect">
            <a:avLst/>
          </a:prstGeom>
        </p:spPr>
        <p:txBody>
          <a:bodyPr vert="horz" wrap="square" lIns="96661" tIns="48331" rIns="96661" bIns="48331" numCol="1" anchor="b" anchorCtr="0" compatLnSpc="1">
            <a:prstTxWarp prst="textNoShape">
              <a:avLst/>
            </a:prstTxWarp>
          </a:bodyPr>
          <a:lstStyle>
            <a:lvl1pPr>
              <a:defRPr sz="1300">
                <a:latin typeface="Calibri" pitchFamily="34" charset="0"/>
              </a:defRPr>
            </a:lvl1pPr>
          </a:lstStyle>
          <a:p>
            <a:endParaRPr lang="en-US"/>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wrap="square" lIns="96661" tIns="48331" rIns="96661" bIns="48331" numCol="1" anchor="b" anchorCtr="0" compatLnSpc="1">
            <a:prstTxWarp prst="textNoShape">
              <a:avLst/>
            </a:prstTxWarp>
          </a:bodyPr>
          <a:lstStyle>
            <a:lvl1pPr algn="r">
              <a:defRPr sz="1300">
                <a:latin typeface="Calibri" pitchFamily="34" charset="0"/>
              </a:defRPr>
            </a:lvl1pPr>
          </a:lstStyle>
          <a:p>
            <a:fld id="{76159C16-962D-45B7-9AE3-AA455C3EA8F0}" type="slidenum">
              <a:rPr lang="en-US"/>
              <a:pPr/>
              <a:t>‹#›</a:t>
            </a:fld>
            <a:endParaRPr lang="en-US"/>
          </a:p>
        </p:txBody>
      </p:sp>
    </p:spTree>
    <p:extLst>
      <p:ext uri="{BB962C8B-B14F-4D97-AF65-F5344CB8AC3E}">
        <p14:creationId xmlns:p14="http://schemas.microsoft.com/office/powerpoint/2010/main" val="902712275"/>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Tx/>
              <a:buChar char="-"/>
            </a:pPr>
            <a:r>
              <a:rPr lang="en-US" dirty="0" err="1" smtClean="0"/>
              <a:t>Nhắc</a:t>
            </a:r>
            <a:r>
              <a:rPr lang="en-US" baseline="0" dirty="0" smtClean="0"/>
              <a:t> </a:t>
            </a:r>
            <a:r>
              <a:rPr lang="en-US" baseline="0" dirty="0" err="1" smtClean="0"/>
              <a:t>lại</a:t>
            </a:r>
            <a:r>
              <a:rPr lang="en-US" baseline="0" dirty="0" smtClean="0"/>
              <a:t> </a:t>
            </a:r>
            <a:r>
              <a:rPr lang="en-US" baseline="0" dirty="0" err="1" smtClean="0"/>
              <a:t>về</a:t>
            </a:r>
            <a:r>
              <a:rPr lang="en-US" baseline="0" dirty="0" smtClean="0"/>
              <a:t> visual studio C++</a:t>
            </a:r>
          </a:p>
          <a:p>
            <a:pPr marL="181240" indent="-181240">
              <a:buFontTx/>
              <a:buChar char="-"/>
            </a:pPr>
            <a:r>
              <a:rPr lang="en-US" baseline="0" dirty="0" smtClean="0"/>
              <a:t>Demo </a:t>
            </a:r>
            <a:r>
              <a:rPr lang="en-US" baseline="0" dirty="0" err="1" smtClean="0"/>
              <a:t>các</a:t>
            </a:r>
            <a:r>
              <a:rPr lang="en-US" baseline="0" dirty="0" smtClean="0"/>
              <a:t> </a:t>
            </a:r>
            <a:r>
              <a:rPr lang="en-US" baseline="0" dirty="0" err="1" smtClean="0"/>
              <a:t>chức</a:t>
            </a:r>
            <a:r>
              <a:rPr lang="en-US" baseline="0" dirty="0" smtClean="0"/>
              <a:t> </a:t>
            </a:r>
            <a:r>
              <a:rPr lang="en-US" baseline="0" dirty="0" err="1" smtClean="0"/>
              <a:t>năng</a:t>
            </a:r>
            <a:r>
              <a:rPr lang="en-US" baseline="0" dirty="0" smtClean="0"/>
              <a:t>, </a:t>
            </a:r>
            <a:r>
              <a:rPr lang="en-US" baseline="0" dirty="0" err="1" smtClean="0"/>
              <a:t>cửa</a:t>
            </a:r>
            <a:r>
              <a:rPr lang="en-US" baseline="0" dirty="0" smtClean="0"/>
              <a:t> </a:t>
            </a:r>
            <a:r>
              <a:rPr lang="en-US" baseline="0" dirty="0" err="1" smtClean="0"/>
              <a:t>sổ</a:t>
            </a:r>
            <a:endParaRPr lang="en-US" baseline="0" dirty="0" smtClean="0"/>
          </a:p>
          <a:p>
            <a:pPr marL="181240" indent="-181240">
              <a:buFontTx/>
              <a:buChar char="-"/>
            </a:pPr>
            <a:r>
              <a:rPr lang="en-US" baseline="0" dirty="0" err="1" smtClean="0"/>
              <a:t>Hỏi</a:t>
            </a:r>
            <a:r>
              <a:rPr lang="en-US" baseline="0" dirty="0" smtClean="0"/>
              <a:t> </a:t>
            </a:r>
            <a:r>
              <a:rPr lang="en-US" baseline="0" dirty="0" err="1" smtClean="0"/>
              <a:t>các</a:t>
            </a:r>
            <a:r>
              <a:rPr lang="en-US" baseline="0" dirty="0" smtClean="0"/>
              <a:t> </a:t>
            </a:r>
            <a:r>
              <a:rPr lang="en-US" baseline="0" dirty="0" err="1" smtClean="0"/>
              <a:t>tài</a:t>
            </a:r>
            <a:r>
              <a:rPr lang="en-US" baseline="0" dirty="0" smtClean="0"/>
              <a:t> </a:t>
            </a:r>
            <a:r>
              <a:rPr lang="en-US" baseline="0" dirty="0" err="1" smtClean="0"/>
              <a:t>liệu</a:t>
            </a:r>
            <a:r>
              <a:rPr lang="en-US" baseline="0" dirty="0" smtClean="0"/>
              <a:t> </a:t>
            </a:r>
            <a:r>
              <a:rPr lang="en-US" baseline="0" dirty="0" err="1" smtClean="0"/>
              <a:t>tìm</a:t>
            </a:r>
            <a:r>
              <a:rPr lang="en-US" baseline="0" dirty="0" smtClean="0"/>
              <a:t> </a:t>
            </a:r>
            <a:r>
              <a:rPr lang="en-US" baseline="0" dirty="0" err="1" smtClean="0"/>
              <a:t>được</a:t>
            </a:r>
            <a:endParaRPr lang="en-US" baseline="0" dirty="0" smtClean="0"/>
          </a:p>
          <a:p>
            <a:pPr marL="181240" indent="-181240">
              <a:buFontTx/>
              <a:buChar char="-"/>
            </a:pPr>
            <a:endParaRPr lang="en-US" baseline="0" dirty="0" smtClean="0"/>
          </a:p>
          <a:p>
            <a:pPr marL="181240" indent="-181240">
              <a:buFontTx/>
              <a:buChar char="-"/>
            </a:pP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a:t>
            </a:fld>
            <a:endParaRPr lang="en-US"/>
          </a:p>
        </p:txBody>
      </p:sp>
    </p:spTree>
    <p:extLst>
      <p:ext uri="{BB962C8B-B14F-4D97-AF65-F5344CB8AC3E}">
        <p14:creationId xmlns:p14="http://schemas.microsoft.com/office/powerpoint/2010/main" val="3709505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a:t>
            </a:fld>
            <a:endParaRPr lang="en-US"/>
          </a:p>
        </p:txBody>
      </p:sp>
    </p:spTree>
    <p:extLst>
      <p:ext uri="{BB962C8B-B14F-4D97-AF65-F5344CB8AC3E}">
        <p14:creationId xmlns:p14="http://schemas.microsoft.com/office/powerpoint/2010/main" val="2258571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Số</a:t>
            </a:r>
            <a:r>
              <a:rPr lang="en-US" dirty="0" smtClean="0"/>
              <a:t> </a:t>
            </a:r>
            <a:r>
              <a:rPr lang="en-US" dirty="0" err="1" smtClean="0"/>
              <a:t>thực</a:t>
            </a:r>
            <a:r>
              <a:rPr lang="en-US" dirty="0" smtClean="0"/>
              <a:t> (</a:t>
            </a:r>
            <a:r>
              <a:rPr lang="en-US" dirty="0" err="1" smtClean="0"/>
              <a:t>dấu</a:t>
            </a:r>
            <a:r>
              <a:rPr lang="en-US" dirty="0" smtClean="0"/>
              <a:t> </a:t>
            </a:r>
            <a:r>
              <a:rPr lang="en-US" dirty="0" err="1" smtClean="0"/>
              <a:t>chấm</a:t>
            </a:r>
            <a:r>
              <a:rPr lang="en-US" dirty="0" smtClean="0"/>
              <a:t> </a:t>
            </a:r>
            <a:r>
              <a:rPr lang="en-US" dirty="0" err="1" smtClean="0"/>
              <a:t>động</a:t>
            </a:r>
            <a:r>
              <a:rPr lang="en-US" dirty="0" smtClean="0"/>
              <a:t>)</a:t>
            </a:r>
          </a:p>
          <a:p>
            <a:pPr lvl="1"/>
            <a:r>
              <a:rPr lang="en-US" dirty="0" smtClean="0"/>
              <a:t>Float: 0.xxxxxx</a:t>
            </a:r>
          </a:p>
          <a:p>
            <a:pPr lvl="1"/>
            <a:r>
              <a:rPr lang="en-US" dirty="0" smtClean="0"/>
              <a:t>Double: 0.15-19x</a:t>
            </a:r>
          </a:p>
          <a:p>
            <a:r>
              <a:rPr lang="en-US" dirty="0" err="1" smtClean="0"/>
              <a:t>Ký</a:t>
            </a:r>
            <a:r>
              <a:rPr lang="en-US" dirty="0" smtClean="0"/>
              <a:t> </a:t>
            </a:r>
            <a:r>
              <a:rPr lang="en-US" dirty="0" err="1" smtClean="0"/>
              <a:t>tự</a:t>
            </a:r>
            <a:endParaRPr lang="en-US" dirty="0" smtClean="0"/>
          </a:p>
          <a:p>
            <a:pPr lvl="1"/>
            <a:r>
              <a:rPr lang="en-US" dirty="0" err="1" smtClean="0"/>
              <a:t>Giá</a:t>
            </a:r>
            <a:r>
              <a:rPr lang="en-US" dirty="0" smtClean="0"/>
              <a:t> </a:t>
            </a:r>
            <a:r>
              <a:rPr lang="en-US" dirty="0" err="1" smtClean="0"/>
              <a:t>trị</a:t>
            </a:r>
            <a:r>
              <a:rPr lang="en-US" dirty="0" smtClean="0"/>
              <a:t> ASCII </a:t>
            </a:r>
            <a:r>
              <a:rPr lang="en-US" dirty="0" err="1" smtClean="0"/>
              <a:t>tương</a:t>
            </a:r>
            <a:r>
              <a:rPr lang="en-US" dirty="0" smtClean="0"/>
              <a:t> </a:t>
            </a:r>
            <a:r>
              <a:rPr lang="en-US" dirty="0" err="1" smtClean="0"/>
              <a:t>ứng</a:t>
            </a:r>
            <a:endParaRPr lang="en-US" dirty="0" smtClean="0"/>
          </a:p>
          <a:p>
            <a:pPr lvl="1"/>
            <a:r>
              <a:rPr lang="en-US" dirty="0" smtClean="0"/>
              <a:t>A: 65</a:t>
            </a:r>
          </a:p>
          <a:p>
            <a:pPr lvl="1"/>
            <a:r>
              <a:rPr lang="en-US" dirty="0" smtClean="0"/>
              <a:t>a: 97</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a:t>
            </a:fld>
            <a:endParaRPr lang="en-US"/>
          </a:p>
        </p:txBody>
      </p:sp>
    </p:spTree>
    <p:extLst>
      <p:ext uri="{BB962C8B-B14F-4D97-AF65-F5344CB8AC3E}">
        <p14:creationId xmlns:p14="http://schemas.microsoft.com/office/powerpoint/2010/main" val="478989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truy</a:t>
            </a:r>
            <a:r>
              <a:rPr lang="en-US" dirty="0" smtClean="0"/>
              <a:t> </a:t>
            </a:r>
            <a:r>
              <a:rPr lang="en-US" dirty="0" err="1" smtClean="0"/>
              <a:t>cập</a:t>
            </a:r>
            <a:r>
              <a:rPr lang="en-US" baseline="0" dirty="0" smtClean="0"/>
              <a:t> </a:t>
            </a:r>
            <a:r>
              <a:rPr lang="en-US" baseline="0" dirty="0" err="1" smtClean="0"/>
              <a:t>thành</a:t>
            </a:r>
            <a:r>
              <a:rPr lang="en-US" baseline="0" dirty="0" smtClean="0"/>
              <a:t> </a:t>
            </a:r>
            <a:r>
              <a:rPr lang="en-US" baseline="0" dirty="0" err="1" smtClean="0"/>
              <a:t>phần</a:t>
            </a:r>
            <a:r>
              <a:rPr lang="en-US" baseline="0" dirty="0" smtClean="0"/>
              <a:t> </a:t>
            </a:r>
            <a:r>
              <a:rPr lang="en-US" baseline="0" dirty="0" err="1" smtClean="0"/>
              <a:t>từ</a:t>
            </a:r>
            <a:r>
              <a:rPr lang="en-US" baseline="0" dirty="0" smtClean="0"/>
              <a:t> </a:t>
            </a:r>
            <a:r>
              <a:rPr lang="en-US" baseline="0" dirty="0" err="1" smtClean="0"/>
              <a:t>biến</a:t>
            </a:r>
            <a:r>
              <a:rPr lang="en-US" baseline="0" dirty="0" smtClean="0"/>
              <a:t> </a:t>
            </a:r>
            <a:r>
              <a:rPr lang="en-US" baseline="0" dirty="0" err="1" smtClean="0"/>
              <a:t>thông</a:t>
            </a:r>
            <a:r>
              <a:rPr lang="en-US" baseline="0" dirty="0" smtClean="0"/>
              <a:t> </a:t>
            </a:r>
            <a:r>
              <a:rPr lang="en-US" baseline="0" dirty="0" err="1" smtClean="0"/>
              <a:t>thường</a:t>
            </a:r>
            <a:r>
              <a:rPr lang="en-US" baseline="0" dirty="0" smtClean="0"/>
              <a:t>: </a:t>
            </a:r>
            <a:r>
              <a:rPr lang="en-US" baseline="0" dirty="0" err="1" smtClean="0"/>
              <a:t>toán</a:t>
            </a:r>
            <a:r>
              <a:rPr lang="en-US" baseline="0" dirty="0" smtClean="0"/>
              <a:t> </a:t>
            </a:r>
            <a:r>
              <a:rPr lang="en-US" baseline="0" dirty="0" err="1" smtClean="0"/>
              <a:t>tử</a:t>
            </a:r>
            <a:r>
              <a:rPr lang="en-US" baseline="0" dirty="0" smtClean="0"/>
              <a:t> .</a:t>
            </a: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err="1" smtClean="0"/>
              <a:t>truy</a:t>
            </a:r>
            <a:r>
              <a:rPr lang="en-US" dirty="0" smtClean="0"/>
              <a:t> </a:t>
            </a:r>
            <a:r>
              <a:rPr lang="en-US" dirty="0" err="1" smtClean="0"/>
              <a:t>cập</a:t>
            </a:r>
            <a:r>
              <a:rPr lang="en-US" baseline="0" dirty="0" smtClean="0"/>
              <a:t> </a:t>
            </a:r>
            <a:r>
              <a:rPr lang="en-US" baseline="0" dirty="0" err="1" smtClean="0"/>
              <a:t>thành</a:t>
            </a:r>
            <a:r>
              <a:rPr lang="en-US" baseline="0" dirty="0" smtClean="0"/>
              <a:t> </a:t>
            </a:r>
            <a:r>
              <a:rPr lang="en-US" baseline="0" dirty="0" err="1" smtClean="0"/>
              <a:t>phần</a:t>
            </a:r>
            <a:r>
              <a:rPr lang="en-US" baseline="0" dirty="0" smtClean="0"/>
              <a:t> </a:t>
            </a:r>
            <a:r>
              <a:rPr lang="en-US" baseline="0" dirty="0" err="1" smtClean="0"/>
              <a:t>từ</a:t>
            </a:r>
            <a:r>
              <a:rPr lang="en-US" baseline="0" dirty="0" smtClean="0"/>
              <a:t> </a:t>
            </a:r>
            <a:r>
              <a:rPr lang="en-US" baseline="0" dirty="0" err="1" smtClean="0"/>
              <a:t>biến</a:t>
            </a:r>
            <a:r>
              <a:rPr lang="en-US" baseline="0" dirty="0" smtClean="0"/>
              <a:t> con </a:t>
            </a:r>
            <a:r>
              <a:rPr lang="en-US" baseline="0" dirty="0" err="1" smtClean="0"/>
              <a:t>trỏ</a:t>
            </a:r>
            <a:r>
              <a:rPr lang="en-US" baseline="0" dirty="0" smtClean="0"/>
              <a:t> : </a:t>
            </a:r>
            <a:r>
              <a:rPr lang="en-US" baseline="0" dirty="0" err="1" smtClean="0"/>
              <a:t>toán</a:t>
            </a:r>
            <a:r>
              <a:rPr lang="en-US" baseline="0" dirty="0" smtClean="0"/>
              <a:t> </a:t>
            </a:r>
            <a:r>
              <a:rPr lang="en-US" baseline="0" dirty="0" err="1" smtClean="0"/>
              <a:t>tử</a:t>
            </a:r>
            <a:r>
              <a:rPr lang="en-US" baseline="0" dirty="0" smtClean="0"/>
              <a:t> -&gt;</a:t>
            </a:r>
          </a:p>
          <a:p>
            <a:endParaRPr lang="en-US" dirty="0" smtClean="0"/>
          </a:p>
          <a:p>
            <a:r>
              <a:rPr lang="en-US" dirty="0" err="1" smtClean="0"/>
              <a:t>typedef</a:t>
            </a:r>
            <a:r>
              <a:rPr lang="en-US" dirty="0" smtClean="0"/>
              <a:t>:</a:t>
            </a:r>
            <a:r>
              <a:rPr lang="en-US" baseline="0" dirty="0" smtClean="0"/>
              <a:t> </a:t>
            </a:r>
            <a:r>
              <a:rPr lang="en-US" baseline="0" dirty="0" err="1" smtClean="0"/>
              <a:t>đn</a:t>
            </a:r>
            <a:r>
              <a:rPr lang="en-US" baseline="0" dirty="0" smtClean="0"/>
              <a:t> </a:t>
            </a:r>
            <a:r>
              <a:rPr lang="en-US" baseline="0" dirty="0" err="1" smtClean="0"/>
              <a:t>kiểu</a:t>
            </a:r>
            <a:r>
              <a:rPr lang="en-US" baseline="0" dirty="0" smtClean="0"/>
              <a:t> Student </a:t>
            </a:r>
            <a:r>
              <a:rPr lang="en-US" baseline="0" dirty="0" err="1" smtClean="0"/>
              <a:t>là</a:t>
            </a:r>
            <a:r>
              <a:rPr lang="en-US" baseline="0" dirty="0" smtClean="0"/>
              <a:t> 1 </a:t>
            </a:r>
            <a:r>
              <a:rPr lang="en-US" baseline="0" dirty="0" err="1" smtClean="0"/>
              <a:t>struct</a:t>
            </a:r>
            <a:r>
              <a:rPr lang="en-US" baseline="0" dirty="0" smtClean="0"/>
              <a:t> (</a:t>
            </a:r>
            <a:r>
              <a:rPr lang="en-US" baseline="0" dirty="0" err="1" smtClean="0"/>
              <a:t>vô</a:t>
            </a:r>
            <a:r>
              <a:rPr lang="en-US" baseline="0" dirty="0" smtClean="0"/>
              <a:t> </a:t>
            </a:r>
            <a:r>
              <a:rPr lang="en-US" baseline="0" dirty="0" err="1" smtClean="0"/>
              <a:t>danh</a:t>
            </a:r>
            <a:r>
              <a:rPr lang="en-US" baseline="0" dirty="0" smtClean="0"/>
              <a:t>) </a:t>
            </a:r>
            <a:r>
              <a:rPr lang="en-US" baseline="0" dirty="0" err="1" smtClean="0"/>
              <a:t>gồm</a:t>
            </a:r>
            <a:r>
              <a:rPr lang="en-US" baseline="0" dirty="0" smtClean="0"/>
              <a:t>... address, gender </a:t>
            </a:r>
            <a:r>
              <a:rPr lang="en-US" baseline="0" dirty="0" err="1" smtClean="0"/>
              <a:t>là</a:t>
            </a:r>
            <a:r>
              <a:rPr lang="en-US" baseline="0" dirty="0" smtClean="0"/>
              <a:t> 1 </a:t>
            </a:r>
            <a:r>
              <a:rPr lang="en-US" baseline="0" dirty="0" err="1" smtClean="0"/>
              <a:t>thành</a:t>
            </a:r>
            <a:r>
              <a:rPr lang="en-US" baseline="0" dirty="0" smtClean="0"/>
              <a:t> </a:t>
            </a:r>
            <a:r>
              <a:rPr lang="en-US" baseline="0" dirty="0" err="1" smtClean="0"/>
              <a:t>phần</a:t>
            </a:r>
            <a:r>
              <a:rPr lang="en-US" baseline="0" dirty="0" smtClean="0"/>
              <a:t>/</a:t>
            </a:r>
            <a:r>
              <a:rPr lang="en-US" baseline="0" dirty="0" err="1" smtClean="0"/>
              <a:t>biến</a:t>
            </a:r>
            <a:r>
              <a:rPr lang="en-US" baseline="0" dirty="0" smtClean="0"/>
              <a:t> </a:t>
            </a:r>
            <a:r>
              <a:rPr lang="en-US" baseline="0" dirty="0" err="1" smtClean="0"/>
              <a:t>có</a:t>
            </a:r>
            <a:r>
              <a:rPr lang="en-US" baseline="0" dirty="0" smtClean="0"/>
              <a:t> </a:t>
            </a:r>
            <a:r>
              <a:rPr lang="en-US" baseline="0" dirty="0" err="1" smtClean="0"/>
              <a:t>kiểu</a:t>
            </a:r>
            <a:r>
              <a:rPr lang="en-US" baseline="0" dirty="0" smtClean="0"/>
              <a:t> </a:t>
            </a:r>
            <a:r>
              <a:rPr lang="en-US" baseline="0" dirty="0" err="1" smtClean="0"/>
              <a:t>struct</a:t>
            </a:r>
            <a:r>
              <a:rPr lang="en-US" baseline="0" dirty="0" smtClean="0"/>
              <a:t>/</a:t>
            </a:r>
            <a:r>
              <a:rPr lang="en-US" baseline="0" dirty="0" err="1" smtClean="0"/>
              <a:t>enum</a:t>
            </a:r>
            <a:r>
              <a:rPr lang="en-US" baseline="0" dirty="0" smtClean="0"/>
              <a:t> </a:t>
            </a:r>
            <a:r>
              <a:rPr lang="en-US" baseline="0" dirty="0" err="1" smtClean="0"/>
              <a:t>nặc</a:t>
            </a:r>
            <a:r>
              <a:rPr lang="en-US" baseline="0" dirty="0" smtClean="0"/>
              <a:t> </a:t>
            </a:r>
            <a:r>
              <a:rPr lang="en-US" baseline="0" dirty="0" err="1" smtClean="0"/>
              <a:t>danh</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5</a:t>
            </a:fld>
            <a:endParaRPr lang="en-US"/>
          </a:p>
        </p:txBody>
      </p:sp>
    </p:spTree>
    <p:extLst>
      <p:ext uri="{BB962C8B-B14F-4D97-AF65-F5344CB8AC3E}">
        <p14:creationId xmlns:p14="http://schemas.microsoft.com/office/powerpoint/2010/main" val="21210835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dirty="0" err="1" smtClean="0"/>
              <a:t>Các</a:t>
            </a:r>
            <a:r>
              <a:rPr lang="en-US" sz="1200" dirty="0" smtClean="0"/>
              <a:t> </a:t>
            </a:r>
            <a:r>
              <a:rPr lang="en-US" sz="1200" dirty="0" err="1" smtClean="0"/>
              <a:t>câu</a:t>
            </a:r>
            <a:r>
              <a:rPr lang="en-US" sz="1200" dirty="0" smtClean="0"/>
              <a:t> </a:t>
            </a:r>
            <a:r>
              <a:rPr lang="en-US" sz="1200" dirty="0" err="1" smtClean="0"/>
              <a:t>lệnh</a:t>
            </a:r>
            <a:r>
              <a:rPr lang="en-US" sz="1200" dirty="0" smtClean="0"/>
              <a:t> </a:t>
            </a:r>
            <a:r>
              <a:rPr lang="en-US" sz="1200" dirty="0" err="1" smtClean="0"/>
              <a:t>thực</a:t>
            </a:r>
            <a:r>
              <a:rPr lang="en-US" sz="1200" dirty="0" smtClean="0"/>
              <a:t> </a:t>
            </a:r>
            <a:r>
              <a:rPr lang="en-US" sz="1200" dirty="0" err="1" smtClean="0"/>
              <a:t>hiện</a:t>
            </a:r>
            <a:r>
              <a:rPr lang="en-US" sz="1200" dirty="0" smtClean="0"/>
              <a:t> </a:t>
            </a:r>
            <a:r>
              <a:rPr lang="en-US" sz="1200" dirty="0" err="1" smtClean="0"/>
              <a:t>xong</a:t>
            </a:r>
            <a:r>
              <a:rPr lang="en-US" sz="1200" dirty="0" smtClean="0"/>
              <a:t> </a:t>
            </a:r>
            <a:r>
              <a:rPr lang="en-US" sz="1200" dirty="0" err="1" smtClean="0"/>
              <a:t>sẽ</a:t>
            </a:r>
            <a:r>
              <a:rPr lang="en-US" sz="1200" dirty="0" smtClean="0"/>
              <a:t> </a:t>
            </a:r>
            <a:r>
              <a:rPr lang="en-US" sz="1200" dirty="0" err="1" smtClean="0"/>
              <a:t>chạy</a:t>
            </a:r>
            <a:r>
              <a:rPr lang="en-US" sz="1200" dirty="0" smtClean="0"/>
              <a:t> </a:t>
            </a:r>
            <a:r>
              <a:rPr lang="en-US" sz="1200" dirty="0" err="1" smtClean="0"/>
              <a:t>tiếp</a:t>
            </a:r>
            <a:r>
              <a:rPr lang="en-US" sz="1200" dirty="0" smtClean="0"/>
              <a:t> </a:t>
            </a:r>
            <a:r>
              <a:rPr lang="en-US" sz="1200" i="1" dirty="0" smtClean="0"/>
              <a:t>case</a:t>
            </a:r>
            <a:r>
              <a:rPr lang="en-US" sz="1200" dirty="0" smtClean="0"/>
              <a:t> </a:t>
            </a:r>
            <a:r>
              <a:rPr lang="en-US" sz="1200" dirty="0" err="1" smtClean="0"/>
              <a:t>tiếp</a:t>
            </a:r>
            <a:r>
              <a:rPr lang="en-US" sz="1200" dirty="0" smtClean="0"/>
              <a:t> </a:t>
            </a:r>
            <a:r>
              <a:rPr lang="en-US" sz="1200" dirty="0" err="1" smtClean="0"/>
              <a:t>theo</a:t>
            </a:r>
            <a:r>
              <a:rPr lang="en-US" sz="1200" dirty="0" smtClean="0"/>
              <a:t> </a:t>
            </a:r>
            <a:r>
              <a:rPr lang="en-US" sz="1200" dirty="0" smtClean="0">
                <a:sym typeface="Wingdings" pitchFamily="2" charset="2"/>
              </a:rPr>
              <a:t> </a:t>
            </a:r>
            <a:r>
              <a:rPr lang="en-US" sz="1200" dirty="0" err="1" smtClean="0">
                <a:sym typeface="Wingdings" pitchFamily="2" charset="2"/>
              </a:rPr>
              <a:t>dùng</a:t>
            </a:r>
            <a:r>
              <a:rPr lang="en-US" sz="1200" dirty="0" smtClean="0">
                <a:sym typeface="Wingdings" pitchFamily="2" charset="2"/>
              </a:rPr>
              <a:t> </a:t>
            </a:r>
            <a:r>
              <a:rPr lang="en-US" sz="1200" i="1" dirty="0" smtClean="0">
                <a:sym typeface="Wingdings" pitchFamily="2" charset="2"/>
              </a:rPr>
              <a:t>break</a:t>
            </a:r>
            <a:r>
              <a:rPr lang="en-US" sz="1200" dirty="0" smtClean="0">
                <a:sym typeface="Wingdings" pitchFamily="2" charset="2"/>
              </a:rPr>
              <a:t> </a:t>
            </a:r>
            <a:r>
              <a:rPr lang="en-US" sz="1200" dirty="0" err="1" smtClean="0">
                <a:sym typeface="Wingdings" pitchFamily="2" charset="2"/>
              </a:rPr>
              <a:t>để</a:t>
            </a:r>
            <a:r>
              <a:rPr lang="en-US" sz="1200" dirty="0" smtClean="0">
                <a:sym typeface="Wingdings" pitchFamily="2" charset="2"/>
              </a:rPr>
              <a:t> </a:t>
            </a:r>
            <a:r>
              <a:rPr lang="en-US" sz="1200" dirty="0" err="1" smtClean="0">
                <a:sym typeface="Wingdings" pitchFamily="2" charset="2"/>
              </a:rPr>
              <a:t>ngắt</a:t>
            </a:r>
            <a:r>
              <a:rPr lang="en-US" sz="1200" dirty="0" smtClean="0">
                <a:sym typeface="Wingdings" pitchFamily="2" charset="2"/>
              </a:rPr>
              <a:t> </a:t>
            </a:r>
            <a:r>
              <a:rPr lang="en-US" sz="1200" dirty="0" err="1" smtClean="0">
                <a:sym typeface="Wingdings" pitchFamily="2" charset="2"/>
              </a:rPr>
              <a:t>nếu</a:t>
            </a:r>
            <a:r>
              <a:rPr lang="en-US" sz="1200" dirty="0" smtClean="0">
                <a:sym typeface="Wingdings" pitchFamily="2" charset="2"/>
              </a:rPr>
              <a:t> </a:t>
            </a:r>
            <a:r>
              <a:rPr lang="en-US" sz="1200" dirty="0" err="1" smtClean="0">
                <a:sym typeface="Wingdings" pitchFamily="2" charset="2"/>
              </a:rPr>
              <a:t>không</a:t>
            </a:r>
            <a:r>
              <a:rPr lang="en-US" sz="1200" dirty="0" smtClean="0">
                <a:sym typeface="Wingdings" pitchFamily="2" charset="2"/>
              </a:rPr>
              <a:t> </a:t>
            </a:r>
            <a:r>
              <a:rPr lang="en-US" sz="1200" dirty="0" err="1" smtClean="0">
                <a:sym typeface="Wingdings" pitchFamily="2" charset="2"/>
              </a:rPr>
              <a:t>muốn</a:t>
            </a:r>
            <a:endParaRPr lang="en-US" sz="1200" dirty="0" smtClean="0">
              <a:sym typeface="Wingdings" pitchFamily="2" charset="2"/>
            </a:endParaRP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7</a:t>
            </a:fld>
            <a:endParaRPr lang="en-US"/>
          </a:p>
        </p:txBody>
      </p:sp>
    </p:spTree>
    <p:extLst>
      <p:ext uri="{BB962C8B-B14F-4D97-AF65-F5344CB8AC3E}">
        <p14:creationId xmlns:p14="http://schemas.microsoft.com/office/powerpoint/2010/main" val="1527584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8</a:t>
            </a:fld>
            <a:endParaRPr lang="en-US"/>
          </a:p>
        </p:txBody>
      </p:sp>
    </p:spTree>
    <p:extLst>
      <p:ext uri="{BB962C8B-B14F-4D97-AF65-F5344CB8AC3E}">
        <p14:creationId xmlns:p14="http://schemas.microsoft.com/office/powerpoint/2010/main" val="1557489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9</a:t>
            </a:fld>
            <a:endParaRPr lang="en-US"/>
          </a:p>
        </p:txBody>
      </p:sp>
    </p:spTree>
    <p:extLst>
      <p:ext uri="{BB962C8B-B14F-4D97-AF65-F5344CB8AC3E}">
        <p14:creationId xmlns:p14="http://schemas.microsoft.com/office/powerpoint/2010/main" val="2998504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10</a:t>
            </a:fld>
            <a:endParaRPr lang="en-US"/>
          </a:p>
        </p:txBody>
      </p:sp>
    </p:spTree>
    <p:extLst>
      <p:ext uri="{BB962C8B-B14F-4D97-AF65-F5344CB8AC3E}">
        <p14:creationId xmlns:p14="http://schemas.microsoft.com/office/powerpoint/2010/main" val="3239646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11</a:t>
            </a:fld>
            <a:endParaRPr lang="en-US"/>
          </a:p>
        </p:txBody>
      </p:sp>
    </p:spTree>
    <p:extLst>
      <p:ext uri="{BB962C8B-B14F-4D97-AF65-F5344CB8AC3E}">
        <p14:creationId xmlns:p14="http://schemas.microsoft.com/office/powerpoint/2010/main" val="23300886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pc[1] = ‘f’;      //error  do </a:t>
            </a:r>
            <a:r>
              <a:rPr lang="en-US" dirty="0" err="1" smtClean="0"/>
              <a:t>truy</a:t>
            </a:r>
            <a:r>
              <a:rPr lang="en-US" dirty="0" smtClean="0"/>
              <a:t> </a:t>
            </a:r>
            <a:r>
              <a:rPr lang="en-US" dirty="0" err="1" smtClean="0"/>
              <a:t>cập</a:t>
            </a:r>
            <a:r>
              <a:rPr lang="en-US" baseline="0" dirty="0" smtClean="0"/>
              <a:t> </a:t>
            </a:r>
            <a:r>
              <a:rPr lang="en-US" baseline="0" dirty="0" err="1" smtClean="0"/>
              <a:t>vào</a:t>
            </a:r>
            <a:r>
              <a:rPr lang="en-US" baseline="0" dirty="0" smtClean="0"/>
              <a:t> </a:t>
            </a:r>
            <a:r>
              <a:rPr lang="en-US" baseline="0" dirty="0" err="1" smtClean="0"/>
              <a:t>thay</a:t>
            </a:r>
            <a:r>
              <a:rPr lang="en-US" baseline="0" dirty="0" smtClean="0"/>
              <a:t> </a:t>
            </a:r>
            <a:r>
              <a:rPr lang="en-US" baseline="0" dirty="0" err="1" smtClean="0"/>
              <a:t>đổi</a:t>
            </a:r>
            <a:r>
              <a:rPr lang="en-US" baseline="0" dirty="0" smtClean="0"/>
              <a:t> </a:t>
            </a:r>
            <a:r>
              <a:rPr lang="en-US" baseline="0" dirty="0" err="1" smtClean="0"/>
              <a:t>giá</a:t>
            </a:r>
            <a:r>
              <a:rPr lang="en-US" baseline="0" dirty="0" smtClean="0"/>
              <a:t> </a:t>
            </a:r>
            <a:r>
              <a:rPr lang="en-US" baseline="0" dirty="0" err="1" smtClean="0"/>
              <a:t>trị</a:t>
            </a:r>
            <a:r>
              <a:rPr lang="en-US" baseline="0" dirty="0" smtClean="0"/>
              <a:t> </a:t>
            </a:r>
            <a:r>
              <a:rPr lang="en-US" baseline="0" dirty="0" err="1" smtClean="0"/>
              <a:t>chuỗi</a:t>
            </a:r>
            <a:r>
              <a:rPr lang="en-US" baseline="0" dirty="0" smtClean="0"/>
              <a:t> “</a:t>
            </a:r>
            <a:r>
              <a:rPr lang="en-US" baseline="0" dirty="0" err="1" smtClean="0"/>
              <a:t>abcd</a:t>
            </a:r>
            <a:r>
              <a:rPr lang="en-US" baseline="0" dirty="0" smtClean="0"/>
              <a:t>” </a:t>
            </a:r>
            <a:r>
              <a:rPr lang="en-US" baseline="0" dirty="0" err="1" smtClean="0"/>
              <a:t>là</a:t>
            </a:r>
            <a:r>
              <a:rPr lang="en-US" baseline="0" dirty="0" smtClean="0"/>
              <a:t> constant</a:t>
            </a:r>
          </a:p>
          <a:p>
            <a:pPr marL="0" marR="0" indent="0" algn="l" defTabSz="914400" rtl="0" eaLnBrk="1" fontAlgn="base" latinLnBrk="0" hangingPunct="1">
              <a:lnSpc>
                <a:spcPct val="100000"/>
              </a:lnSpc>
              <a:spcBef>
                <a:spcPct val="30000"/>
              </a:spcBef>
              <a:spcAft>
                <a:spcPct val="0"/>
              </a:spcAft>
              <a:buClrTx/>
              <a:buSzTx/>
              <a:buFontTx/>
              <a:buNone/>
              <a:tabLst/>
              <a:defRPr/>
            </a:pPr>
            <a:r>
              <a:rPr lang="en-US" baseline="0" dirty="0" smtClean="0"/>
              <a:t>pc </a:t>
            </a:r>
            <a:r>
              <a:rPr lang="en-US" baseline="0" dirty="0" err="1" smtClean="0"/>
              <a:t>có</a:t>
            </a:r>
            <a:r>
              <a:rPr lang="en-US" baseline="0" dirty="0" smtClean="0"/>
              <a:t> </a:t>
            </a:r>
            <a:r>
              <a:rPr lang="en-US" baseline="0" dirty="0" err="1" smtClean="0"/>
              <a:t>thể</a:t>
            </a:r>
            <a:r>
              <a:rPr lang="en-US" baseline="0" dirty="0" smtClean="0"/>
              <a:t> </a:t>
            </a:r>
            <a:r>
              <a:rPr lang="en-US" baseline="0" dirty="0" err="1" smtClean="0"/>
              <a:t>trỏ</a:t>
            </a:r>
            <a:r>
              <a:rPr lang="en-US" baseline="0" dirty="0" smtClean="0"/>
              <a:t> </a:t>
            </a:r>
            <a:r>
              <a:rPr lang="en-US" baseline="0" dirty="0" err="1" smtClean="0"/>
              <a:t>đi</a:t>
            </a:r>
            <a:r>
              <a:rPr lang="en-US" baseline="0" dirty="0" smtClean="0"/>
              <a:t> </a:t>
            </a:r>
            <a:r>
              <a:rPr lang="en-US" baseline="0" dirty="0" err="1" smtClean="0"/>
              <a:t>các</a:t>
            </a:r>
            <a:r>
              <a:rPr lang="en-US" baseline="0" dirty="0" smtClean="0"/>
              <a:t> </a:t>
            </a:r>
            <a:r>
              <a:rPr lang="en-US" baseline="0" dirty="0" err="1" smtClean="0"/>
              <a:t>chuỗi</a:t>
            </a:r>
            <a:r>
              <a:rPr lang="en-US" baseline="0" dirty="0" smtClean="0"/>
              <a:t> </a:t>
            </a:r>
            <a:r>
              <a:rPr lang="en-US" baseline="0" dirty="0" err="1" smtClean="0"/>
              <a:t>khác</a:t>
            </a:r>
            <a:r>
              <a:rPr lang="en-US" baseline="0" dirty="0" smtClean="0"/>
              <a:t> </a:t>
            </a:r>
            <a:r>
              <a:rPr lang="en-US" baseline="0" dirty="0" err="1" smtClean="0"/>
              <a:t>lưu</a:t>
            </a:r>
            <a:r>
              <a:rPr lang="en-US" baseline="0" dirty="0" smtClean="0"/>
              <a:t> </a:t>
            </a:r>
            <a:r>
              <a:rPr lang="en-US" baseline="0" dirty="0" err="1" smtClean="0"/>
              <a:t>trong</a:t>
            </a:r>
            <a:r>
              <a:rPr lang="en-US" baseline="0" dirty="0" smtClean="0"/>
              <a:t> </a:t>
            </a:r>
            <a:r>
              <a:rPr lang="en-US" baseline="0" dirty="0" err="1" smtClean="0"/>
              <a:t>bộ</a:t>
            </a:r>
            <a:r>
              <a:rPr lang="en-US" baseline="0" dirty="0" smtClean="0"/>
              <a:t> </a:t>
            </a:r>
            <a:r>
              <a:rPr lang="en-US" baseline="0" dirty="0" err="1" smtClean="0"/>
              <a:t>nhớ</a:t>
            </a:r>
            <a:endParaRPr lang="en-US" baseline="0"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US" baseline="0"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err="1" smtClean="0"/>
              <a:t>cp</a:t>
            </a:r>
            <a:r>
              <a:rPr lang="en-US" dirty="0" smtClean="0"/>
              <a:t>: can not change </a:t>
            </a:r>
            <a:r>
              <a:rPr lang="en-US" dirty="0" err="1" smtClean="0"/>
              <a:t>cp</a:t>
            </a:r>
            <a:r>
              <a:rPr lang="en-US" dirty="0" smtClean="0"/>
              <a:t> to point to other address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12</a:t>
            </a:fld>
            <a:endParaRPr lang="en-US"/>
          </a:p>
        </p:txBody>
      </p:sp>
    </p:spTree>
    <p:extLst>
      <p:ext uri="{BB962C8B-B14F-4D97-AF65-F5344CB8AC3E}">
        <p14:creationId xmlns:p14="http://schemas.microsoft.com/office/powerpoint/2010/main" val="39327113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6159C16-962D-45B7-9AE3-AA455C3EA8F0}" type="slidenum">
              <a:rPr lang="en-US" smtClean="0"/>
              <a:pPr/>
              <a:t>13</a:t>
            </a:fld>
            <a:endParaRPr lang="en-US"/>
          </a:p>
        </p:txBody>
      </p:sp>
    </p:spTree>
    <p:extLst>
      <p:ext uri="{BB962C8B-B14F-4D97-AF65-F5344CB8AC3E}">
        <p14:creationId xmlns:p14="http://schemas.microsoft.com/office/powerpoint/2010/main" val="37554018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malloc</a:t>
            </a:r>
            <a:r>
              <a:rPr lang="en-US" dirty="0" smtClean="0"/>
              <a:t>() allocates a memory block of given size (in bytes) and returns a pointer to the beginning of the block. </a:t>
            </a:r>
            <a:r>
              <a:rPr lang="en-US" b="1" dirty="0" err="1" smtClean="0"/>
              <a:t>malloc</a:t>
            </a:r>
            <a:r>
              <a:rPr lang="en-US" b="1" dirty="0" smtClean="0"/>
              <a:t>() doesn’t initialize the allocated memory.</a:t>
            </a:r>
          </a:p>
          <a:p>
            <a:r>
              <a:rPr lang="en-US" b="1" dirty="0" err="1" smtClean="0"/>
              <a:t>calloc</a:t>
            </a:r>
            <a:r>
              <a:rPr lang="en-US" b="1" dirty="0" smtClean="0"/>
              <a:t>()</a:t>
            </a:r>
            <a:r>
              <a:rPr lang="en-US" dirty="0" smtClean="0"/>
              <a:t> allocates the memory and </a:t>
            </a:r>
            <a:r>
              <a:rPr lang="en-US" b="1" dirty="0" smtClean="0"/>
              <a:t>also initializes every byte in the allocated memory to 0</a:t>
            </a:r>
            <a:r>
              <a:rPr lang="en-US" dirty="0" smtClean="0"/>
              <a:t>. It takes two arguments. It is used to indicate contiguous memory </a:t>
            </a:r>
            <a:r>
              <a:rPr lang="en-US" dirty="0" err="1" smtClean="0"/>
              <a:t>allcoation</a:t>
            </a:r>
            <a:endParaRPr lang="en-US" i="1" dirty="0" smtClean="0"/>
          </a:p>
          <a:p>
            <a:endParaRPr lang="en-US" i="1" dirty="0" smtClean="0"/>
          </a:p>
          <a:p>
            <a:r>
              <a:rPr lang="en-US" i="1" dirty="0" err="1" smtClean="0"/>
              <a:t>realloc</a:t>
            </a:r>
            <a:r>
              <a:rPr lang="en-US" i="1" dirty="0" smtClean="0"/>
              <a:t> </a:t>
            </a:r>
            <a:r>
              <a:rPr lang="en-US" b="1" i="1" dirty="0" smtClean="0"/>
              <a:t>deallocates the old object</a:t>
            </a:r>
            <a:r>
              <a:rPr lang="en-US" i="1" dirty="0" smtClean="0"/>
              <a:t> pointed to by </a:t>
            </a:r>
            <a:r>
              <a:rPr lang="en-US" i="1" dirty="0" err="1" smtClean="0"/>
              <a:t>ptr</a:t>
            </a:r>
            <a:r>
              <a:rPr lang="en-US" i="1" dirty="0" smtClean="0"/>
              <a:t> and returns a pointer to a new object that has the size specified by size. The contents of the new object is identical to that of the old object prior to deallocation, up to the lesser of the new and old sizes. Any bytes in the new object beyond the size of the old object have indeterminate values.</a:t>
            </a:r>
            <a:br>
              <a:rPr lang="en-US" i="1" dirty="0" smtClean="0"/>
            </a:br>
            <a:endParaRPr lang="en-US" dirty="0" smtClean="0"/>
          </a:p>
          <a:p>
            <a:r>
              <a:rPr lang="en-US" dirty="0" smtClean="0"/>
              <a:t>The point to note is that </a:t>
            </a:r>
            <a:r>
              <a:rPr lang="en-US" b="1" dirty="0" err="1" smtClean="0"/>
              <a:t>realloc</a:t>
            </a:r>
            <a:r>
              <a:rPr lang="en-US" b="1" dirty="0" smtClean="0"/>
              <a:t>() should only be used for dynamically allocated memory</a:t>
            </a:r>
            <a:r>
              <a:rPr lang="en-US" dirty="0" smtClean="0"/>
              <a:t>. If the memory is not dynamically allocated, then behavior is undefined.</a:t>
            </a:r>
          </a:p>
          <a:p>
            <a:endParaRPr lang="en-US" dirty="0" smtClean="0"/>
          </a:p>
          <a:p>
            <a:r>
              <a:rPr lang="en-US" dirty="0" smtClean="0"/>
              <a:t>https://www.geeksforgeeks.org/g-fact-66/</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14</a:t>
            </a:fld>
            <a:endParaRPr lang="en-US"/>
          </a:p>
        </p:txBody>
      </p:sp>
    </p:spTree>
    <p:extLst>
      <p:ext uri="{BB962C8B-B14F-4D97-AF65-F5344CB8AC3E}">
        <p14:creationId xmlns:p14="http://schemas.microsoft.com/office/powerpoint/2010/main" val="906340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300" dirty="0"/>
              <a:t>Hàm là một khối lệnh được thực hiện khi nó được gọi từ một điểm khác của chương</a:t>
            </a:r>
          </a:p>
          <a:p>
            <a:r>
              <a:rPr lang="vi-VN" sz="1300" dirty="0"/>
              <a:t>tr.nh. Dạng thức của nó như sau:</a:t>
            </a:r>
          </a:p>
          <a:p>
            <a:r>
              <a:rPr lang="en-US" sz="1300" i="1" dirty="0"/>
              <a:t>type name </a:t>
            </a:r>
            <a:r>
              <a:rPr lang="en-US" sz="1300" dirty="0"/>
              <a:t>( </a:t>
            </a:r>
            <a:r>
              <a:rPr lang="en-US" sz="1300" i="1" dirty="0" err="1"/>
              <a:t>argumentl</a:t>
            </a:r>
            <a:r>
              <a:rPr lang="en-US" sz="1300" i="1" dirty="0"/>
              <a:t>, argument2, </a:t>
            </a:r>
            <a:r>
              <a:rPr lang="en-US" sz="1300" dirty="0"/>
              <a:t>...) </a:t>
            </a:r>
            <a:r>
              <a:rPr lang="en-US" sz="1300" i="1" dirty="0"/>
              <a:t>statement</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15</a:t>
            </a:fld>
            <a:endParaRPr lang="en-US"/>
          </a:p>
        </p:txBody>
      </p:sp>
    </p:spTree>
    <p:extLst>
      <p:ext uri="{BB962C8B-B14F-4D97-AF65-F5344CB8AC3E}">
        <p14:creationId xmlns:p14="http://schemas.microsoft.com/office/powerpoint/2010/main" val="3057796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20</a:t>
            </a:r>
          </a:p>
          <a:p>
            <a:r>
              <a:rPr lang="en-US" dirty="0" smtClean="0"/>
              <a:t>20</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17</a:t>
            </a:fld>
            <a:endParaRPr lang="en-US"/>
          </a:p>
        </p:txBody>
      </p:sp>
    </p:spTree>
    <p:extLst>
      <p:ext uri="{BB962C8B-B14F-4D97-AF65-F5344CB8AC3E}">
        <p14:creationId xmlns:p14="http://schemas.microsoft.com/office/powerpoint/2010/main" val="1353151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20</a:t>
            </a:r>
          </a:p>
          <a:p>
            <a:r>
              <a:rPr lang="en-US" dirty="0" smtClean="0"/>
              <a:t>10</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18</a:t>
            </a:fld>
            <a:endParaRPr lang="en-US"/>
          </a:p>
        </p:txBody>
      </p:sp>
    </p:spTree>
    <p:extLst>
      <p:ext uri="{BB962C8B-B14F-4D97-AF65-F5344CB8AC3E}">
        <p14:creationId xmlns:p14="http://schemas.microsoft.com/office/powerpoint/2010/main" val="8157072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vi-VN" sz="1200" dirty="0" smtClean="0">
                <a:solidFill>
                  <a:srgbClr val="0000FF"/>
                </a:solidFill>
                <a:latin typeface="Consolas" panose="020B0609020204030204" pitchFamily="49" charset="0"/>
              </a:rPr>
              <a:t>int</a:t>
            </a:r>
            <a:r>
              <a:rPr lang="vi-VN" sz="1200" dirty="0" smtClean="0">
                <a:solidFill>
                  <a:srgbClr val="000000"/>
                </a:solidFill>
                <a:latin typeface="Consolas" panose="020B0609020204030204" pitchFamily="49" charset="0"/>
              </a:rPr>
              <a:t> </a:t>
            </a:r>
            <a:r>
              <a:rPr lang="vi-VN" sz="1200" dirty="0" smtClean="0">
                <a:solidFill>
                  <a:srgbClr val="001080"/>
                </a:solidFill>
                <a:latin typeface="Consolas" panose="020B0609020204030204" pitchFamily="49" charset="0"/>
              </a:rPr>
              <a:t>z</a:t>
            </a:r>
            <a:r>
              <a:rPr lang="vi-VN" sz="1200" dirty="0" smtClean="0">
                <a:solidFill>
                  <a:srgbClr val="000000"/>
                </a:solidFill>
                <a:latin typeface="Consolas" panose="020B0609020204030204" pitchFamily="49" charset="0"/>
              </a:rPr>
              <a:t> = </a:t>
            </a:r>
            <a:r>
              <a:rPr lang="vi-VN" sz="1200" dirty="0" smtClean="0">
                <a:solidFill>
                  <a:srgbClr val="795E26"/>
                </a:solidFill>
                <a:latin typeface="Consolas" panose="020B0609020204030204" pitchFamily="49" charset="0"/>
              </a:rPr>
              <a:t>sum</a:t>
            </a:r>
            <a:r>
              <a:rPr lang="vi-VN" sz="1200" dirty="0" smtClean="0">
                <a:solidFill>
                  <a:srgbClr val="000000"/>
                </a:solidFill>
                <a:latin typeface="Consolas" panose="020B0609020204030204" pitchFamily="49" charset="0"/>
              </a:rPr>
              <a:t>(</a:t>
            </a:r>
            <a:r>
              <a:rPr lang="en-US" sz="1200" dirty="0" smtClean="0">
                <a:solidFill>
                  <a:srgbClr val="000000"/>
                </a:solidFill>
                <a:latin typeface="Consolas" panose="020B0609020204030204" pitchFamily="49" charset="0"/>
              </a:rPr>
              <a:t>x, y</a:t>
            </a:r>
            <a:r>
              <a:rPr lang="vi-VN" sz="1200" dirty="0" smtClean="0">
                <a:solidFill>
                  <a:srgbClr val="000000"/>
                </a:solidFill>
                <a:latin typeface="Consolas" panose="020B0609020204030204" pitchFamily="49" charset="0"/>
              </a:rPr>
              <a:t>); </a:t>
            </a:r>
            <a:r>
              <a:rPr lang="en-US" sz="1200" dirty="0" smtClean="0">
                <a:solidFill>
                  <a:srgbClr val="000000"/>
                </a:solidFill>
                <a:latin typeface="Consolas" panose="020B0609020204030204" pitchFamily="49" charset="0"/>
              </a:rPr>
              <a:t> // 300</a:t>
            </a:r>
            <a:endParaRPr lang="en-US" dirty="0" smtClean="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20</a:t>
            </a:fld>
            <a:endParaRPr lang="en-US"/>
          </a:p>
        </p:txBody>
      </p:sp>
    </p:spTree>
    <p:extLst>
      <p:ext uri="{BB962C8B-B14F-4D97-AF65-F5344CB8AC3E}">
        <p14:creationId xmlns:p14="http://schemas.microsoft.com/office/powerpoint/2010/main" val="1093613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r>
              <a:rPr lang="vi-VN" sz="1300" dirty="0"/>
              <a:t>static có 2 ngữ nghĩa:</a:t>
            </a:r>
          </a:p>
          <a:p>
            <a:r>
              <a:rPr lang="vi-VN" sz="1300" dirty="0"/>
              <a:t>Khi được sử dụng trong phạm vi toàn cục của 1 đơn vị biên dịch, static hạn chế truy cập từ các đơn vị biên dịch khác (áp dụng với cả hàm và biến toàn cục).</a:t>
            </a:r>
          </a:p>
          <a:p>
            <a:r>
              <a:rPr lang="vi-VN" sz="1300" dirty="0"/>
              <a:t>Khi được sự dụng trong phạm vi cục bộ của 1 thủ tục hay hàm, static có nghĩa là biến được khai báo tồn tại trong suốt thời gian chạy của chương trình và chỉ được khởi tạo 1 lần duy nhất.</a:t>
            </a:r>
            <a:endParaRPr lang="en-US" sz="1300" dirty="0"/>
          </a:p>
          <a:p>
            <a:endParaRPr lang="en-US" sz="1300" dirty="0"/>
          </a:p>
          <a:p>
            <a:endParaRPr lang="en-US" sz="1300" dirty="0"/>
          </a:p>
          <a:p>
            <a:r>
              <a:rPr lang="en-US" sz="1300" dirty="0"/>
              <a:t>=======</a:t>
            </a:r>
          </a:p>
          <a:p>
            <a:r>
              <a:rPr lang="vi-VN" sz="1300" dirty="0"/>
              <a:t>Mỗi project thường được viết trên nhiều file (vì mục đích phân chia module, đảm bảo tính dễ bảo trì). Mỗi file.c trong dự án sẽ là 1 đơn vị biên dịch. Quá trình biên dịch 1 project C sẽ là: biên dịch các đơn vị độc lập </a:t>
            </a:r>
            <a:r>
              <a:rPr lang="vi-VN" sz="1300" i="1" dirty="0"/>
              <a:t>.c ra các object file </a:t>
            </a:r>
            <a:r>
              <a:rPr lang="vi-VN" sz="1300" dirty="0"/>
              <a:t>.o (*.obj) và liên kết (link) các đơn vị object file thành chương trình.</a:t>
            </a:r>
          </a:p>
          <a:p>
            <a:r>
              <a:rPr lang="vi-VN" sz="1300" dirty="0"/>
              <a:t>Mỗi đơn vị sẽ có các thủ tục (procedure) hoặc function riêng. Code ở 1 đơn vị biên dịch có thể sử dụng thủ tục hoặc hàm, hay cả biến toàn cục ở đơn vị biên dịch khác. Ví dụ:</a:t>
            </a:r>
            <a:endParaRPr lang="en-US" sz="1300" dirty="0"/>
          </a:p>
          <a:p>
            <a:endParaRPr lang="vi-VN" sz="1300" dirty="0"/>
          </a:p>
          <a:p>
            <a:r>
              <a:rPr lang="vi-VN" sz="1300" dirty="0"/>
              <a:t>main.c</a:t>
            </a:r>
            <a:r>
              <a:rPr lang="en-US" sz="1300" dirty="0"/>
              <a:t> </a:t>
            </a:r>
          </a:p>
          <a:p>
            <a:r>
              <a:rPr lang="vi-VN" sz="1300" dirty="0"/>
              <a:t>1 2 3 4 5 6 7 8 9 10 11 12 13 14 15 16 17 </a:t>
            </a:r>
            <a:r>
              <a:rPr lang="vi-VN" sz="1300" i="1" dirty="0"/>
              <a:t>//-----------------------</a:t>
            </a:r>
            <a:r>
              <a:rPr lang="vi-VN" sz="1300" dirty="0"/>
              <a:t> </a:t>
            </a:r>
            <a:r>
              <a:rPr lang="vi-VN" sz="1300" i="1" dirty="0"/>
              <a:t>//</a:t>
            </a:r>
            <a:endParaRPr lang="en-US" sz="1300" i="1" dirty="0"/>
          </a:p>
          <a:p>
            <a:r>
              <a:rPr lang="vi-VN" sz="1300" i="1" dirty="0"/>
              <a:t>A.c</a:t>
            </a:r>
            <a:r>
              <a:rPr lang="vi-VN" sz="1300" dirty="0"/>
              <a:t> </a:t>
            </a:r>
            <a:endParaRPr lang="en-US" sz="1300" dirty="0"/>
          </a:p>
          <a:p>
            <a:r>
              <a:rPr lang="vi-VN" sz="1300" dirty="0"/>
              <a:t>int avar; </a:t>
            </a:r>
            <a:endParaRPr lang="en-US" sz="1300" dirty="0"/>
          </a:p>
          <a:p>
            <a:r>
              <a:rPr lang="vi-VN" sz="1300" dirty="0"/>
              <a:t>void </a:t>
            </a:r>
            <a:r>
              <a:rPr lang="vi-VN" sz="1300" b="1" dirty="0"/>
              <a:t>a</a:t>
            </a:r>
            <a:r>
              <a:rPr lang="vi-VN" sz="1300" dirty="0"/>
              <a:t>() {}; </a:t>
            </a:r>
            <a:endParaRPr lang="en-US" sz="1300" dirty="0"/>
          </a:p>
          <a:p>
            <a:r>
              <a:rPr lang="vi-VN" sz="1300" dirty="0"/>
              <a:t>void </a:t>
            </a:r>
            <a:r>
              <a:rPr lang="vi-VN" sz="1300" b="1" dirty="0"/>
              <a:t>b</a:t>
            </a:r>
            <a:r>
              <a:rPr lang="vi-VN" sz="1300" dirty="0"/>
              <a:t>() {}; </a:t>
            </a:r>
            <a:r>
              <a:rPr lang="vi-VN" sz="1300" i="1" dirty="0"/>
              <a:t>// -----------------------</a:t>
            </a:r>
            <a:r>
              <a:rPr lang="vi-VN" sz="1300" dirty="0"/>
              <a:t> </a:t>
            </a:r>
            <a:r>
              <a:rPr lang="vi-VN" sz="1300" i="1" dirty="0"/>
              <a:t>//</a:t>
            </a:r>
            <a:endParaRPr lang="en-US" sz="1300" i="1" dirty="0"/>
          </a:p>
          <a:p>
            <a:r>
              <a:rPr lang="vi-VN" sz="1300" i="1" dirty="0"/>
              <a:t>C.c</a:t>
            </a:r>
            <a:r>
              <a:rPr lang="vi-VN" sz="1300" dirty="0"/>
              <a:t> </a:t>
            </a:r>
            <a:endParaRPr lang="en-US" sz="1300" dirty="0"/>
          </a:p>
          <a:p>
            <a:r>
              <a:rPr lang="vi-VN" sz="1300" dirty="0"/>
              <a:t>extern int avar; </a:t>
            </a:r>
            <a:endParaRPr lang="en-US" sz="1300" dirty="0"/>
          </a:p>
          <a:p>
            <a:r>
              <a:rPr lang="vi-VN" sz="1300" dirty="0"/>
              <a:t>void </a:t>
            </a:r>
            <a:r>
              <a:rPr lang="vi-VN" sz="1300" b="1" dirty="0"/>
              <a:t>c</a:t>
            </a:r>
            <a:r>
              <a:rPr lang="vi-VN" sz="1300" dirty="0"/>
              <a:t>() {}; </a:t>
            </a:r>
            <a:endParaRPr lang="en-US" sz="1300" dirty="0"/>
          </a:p>
          <a:p>
            <a:r>
              <a:rPr lang="vi-VN" sz="1300" dirty="0"/>
              <a:t>void </a:t>
            </a:r>
            <a:r>
              <a:rPr lang="vi-VN" sz="1300" b="1" dirty="0"/>
              <a:t>d</a:t>
            </a:r>
            <a:r>
              <a:rPr lang="vi-VN" sz="1300" dirty="0"/>
              <a:t>() {}; </a:t>
            </a:r>
          </a:p>
          <a:p>
            <a:endParaRPr lang="en-US" sz="1300" dirty="0"/>
          </a:p>
          <a:p>
            <a:endParaRPr lang="en-US" sz="1300" dirty="0"/>
          </a:p>
          <a:p>
            <a:r>
              <a:rPr lang="vi-VN" sz="1300" dirty="0"/>
              <a:t>thì trong a() của A.c ta có thể gọi c() một cách thoải mái. Biến avar sẽ được sử dụng cả ở A.c và C.c (biến toàn cục thực thụ!)</a:t>
            </a:r>
          </a:p>
          <a:p>
            <a:r>
              <a:rPr lang="vi-VN" sz="1300" dirty="0"/>
              <a:t>Để hạn chế việc sử dụng này (tránh va đụng tên hàm giữa các đơn vị biên dịch), người ta đưa khái niệm hàm tĩnh (static function) và biến tĩnh (static global variable).</a:t>
            </a:r>
          </a:p>
          <a:p>
            <a:r>
              <a:rPr lang="vi-VN" sz="1300" dirty="0"/>
              <a:t>Ngữ nghĩa:</a:t>
            </a:r>
          </a:p>
          <a:p>
            <a:r>
              <a:rPr lang="vi-VN" sz="1300" dirty="0"/>
              <a:t>Biến toàn cục tĩnh sẽ có phạm vi trên đơn vị biên dịch. Điều đó có nghĩa là đơn vị khác không có cách nào truy cập được biến này.</a:t>
            </a:r>
          </a:p>
          <a:p>
            <a:r>
              <a:rPr lang="vi-VN" sz="1300" dirty="0"/>
              <a:t>Hàm tĩnh sẽ có phạm vi trên đơn vị biên dịch. Điều đó có nghĩa đơn vị khác không thể truy cập được hàm này.</a:t>
            </a:r>
          </a:p>
          <a:p>
            <a:endParaRPr lang="vi-VN" sz="1300" dirty="0"/>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21</a:t>
            </a:fld>
            <a:endParaRPr lang="en-US"/>
          </a:p>
        </p:txBody>
      </p:sp>
    </p:spTree>
    <p:extLst>
      <p:ext uri="{BB962C8B-B14F-4D97-AF65-F5344CB8AC3E}">
        <p14:creationId xmlns:p14="http://schemas.microsoft.com/office/powerpoint/2010/main" val="2750015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3/1/2024</a:t>
            </a:fld>
            <a:endParaRPr lang="en-US" dirty="0"/>
          </a:p>
        </p:txBody>
      </p:sp>
      <p:sp>
        <p:nvSpPr>
          <p:cNvPr id="5" name="Footer Placeholder 4"/>
          <p:cNvSpPr>
            <a:spLocks noGrp="1"/>
          </p:cNvSpPr>
          <p:nvPr>
            <p:ph type="ftr" sz="quarter" idx="11"/>
          </p:nvPr>
        </p:nvSpPr>
        <p:spPr/>
        <p:txBody>
          <a:bodyPr/>
          <a:lstStyle/>
          <a:p>
            <a:pPr algn="r"/>
            <a:r>
              <a:rPr lang="en-US" smtClean="0"/>
              <a:t>EE3490: Kỹ thuật lập trình </a:t>
            </a:r>
          </a:p>
          <a:p>
            <a:pPr algn="r"/>
            <a:r>
              <a:rPr lang="en-US" smtClean="0"/>
              <a:t>TS. Đỗ Thị Ngọc Diệp – ĐH Bách khoa Hà Nội</a:t>
            </a:r>
            <a:endParaRPr lang="en-US" dirty="0"/>
          </a:p>
        </p:txBody>
      </p:sp>
      <p:sp>
        <p:nvSpPr>
          <p:cNvPr id="6" name="Slide Number Placeholder 5"/>
          <p:cNvSpPr>
            <a:spLocks noGrp="1"/>
          </p:cNvSpPr>
          <p:nvPr>
            <p:ph type="sldNum" sz="quarter" idx="12"/>
          </p:nvPr>
        </p:nvSpPr>
        <p:spPr/>
        <p:txBody>
          <a:bodyPr/>
          <a:lstStyle/>
          <a:p>
            <a:fld id="{26B269CE-12F4-4F4F-BF2F-21E0A343DA44}" type="slidenum">
              <a:rPr lang="en-US" smtClean="0"/>
              <a:pPr/>
              <a:t>‹#›</a:t>
            </a:fld>
            <a:endParaRPr lang="en-US"/>
          </a:p>
        </p:txBody>
      </p:sp>
    </p:spTree>
    <p:extLst>
      <p:ext uri="{BB962C8B-B14F-4D97-AF65-F5344CB8AC3E}">
        <p14:creationId xmlns:p14="http://schemas.microsoft.com/office/powerpoint/2010/main" val="316170261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3/1/2024</a:t>
            </a:fld>
            <a:endParaRPr lang="en-US" dirty="0"/>
          </a:p>
        </p:txBody>
      </p:sp>
      <p:sp>
        <p:nvSpPr>
          <p:cNvPr id="5" name="Footer Placeholder 4"/>
          <p:cNvSpPr>
            <a:spLocks noGrp="1"/>
          </p:cNvSpPr>
          <p:nvPr>
            <p:ph type="ftr" sz="quarter" idx="11"/>
          </p:nvPr>
        </p:nvSpPr>
        <p:spPr/>
        <p:txBody>
          <a:bodyPr/>
          <a:lstStyle/>
          <a:p>
            <a:pPr algn="r"/>
            <a:r>
              <a:rPr lang="en-US" smtClean="0"/>
              <a:t>EE3490: Kỹ thuật lập trình </a:t>
            </a:r>
          </a:p>
          <a:p>
            <a:pPr algn="r"/>
            <a:r>
              <a:rPr lang="en-US" smtClean="0"/>
              <a:t>TS. Đỗ Thị Ngọc Diệp – ĐH Bách khoa Hà Nội</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291744046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3/1/2024</a:t>
            </a:fld>
            <a:endParaRPr lang="en-US" dirty="0"/>
          </a:p>
        </p:txBody>
      </p:sp>
      <p:sp>
        <p:nvSpPr>
          <p:cNvPr id="5" name="Footer Placeholder 4"/>
          <p:cNvSpPr>
            <a:spLocks noGrp="1"/>
          </p:cNvSpPr>
          <p:nvPr>
            <p:ph type="ftr" sz="quarter" idx="11"/>
          </p:nvPr>
        </p:nvSpPr>
        <p:spPr/>
        <p:txBody>
          <a:bodyPr/>
          <a:lstStyle/>
          <a:p>
            <a:pPr algn="r"/>
            <a:r>
              <a:rPr lang="en-US" smtClean="0"/>
              <a:t>EE3490: Kỹ thuật lập trình </a:t>
            </a:r>
          </a:p>
          <a:p>
            <a:pPr algn="r"/>
            <a:r>
              <a:rPr lang="en-US" smtClean="0"/>
              <a:t>TS. Đỗ Thị Ngọc Diệp – ĐH Bách khoa Hà Nội</a:t>
            </a:r>
            <a:endParaRPr lang="en-US" dirty="0"/>
          </a:p>
        </p:txBody>
      </p:sp>
      <p:sp>
        <p:nvSpPr>
          <p:cNvPr id="6" name="Slide Number Placeholder 5"/>
          <p:cNvSpPr>
            <a:spLocks noGrp="1"/>
          </p:cNvSpPr>
          <p:nvPr>
            <p:ph type="sldNum" sz="quarter" idx="12"/>
          </p:nvPr>
        </p:nvSpPr>
        <p:spPr/>
        <p:txBody>
          <a:bodyPr/>
          <a:lstStyle/>
          <a:p>
            <a:fld id="{26B269CE-12F4-4F4F-BF2F-21E0A343DA44}" type="slidenum">
              <a:rPr lang="en-US" smtClean="0"/>
              <a:pPr/>
              <a:t>‹#›</a:t>
            </a:fld>
            <a:endParaRPr lang="en-US"/>
          </a:p>
        </p:txBody>
      </p:sp>
    </p:spTree>
    <p:extLst>
      <p:ext uri="{BB962C8B-B14F-4D97-AF65-F5344CB8AC3E}">
        <p14:creationId xmlns:p14="http://schemas.microsoft.com/office/powerpoint/2010/main" val="17570073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3/1/2024</a:t>
            </a:fld>
            <a:endParaRPr lang="en-US" dirty="0"/>
          </a:p>
        </p:txBody>
      </p:sp>
      <p:sp>
        <p:nvSpPr>
          <p:cNvPr id="6" name="Footer Placeholder 5"/>
          <p:cNvSpPr>
            <a:spLocks noGrp="1"/>
          </p:cNvSpPr>
          <p:nvPr>
            <p:ph type="ftr" sz="quarter" idx="11"/>
          </p:nvPr>
        </p:nvSpPr>
        <p:spPr/>
        <p:txBody>
          <a:bodyPr/>
          <a:lstStyle/>
          <a:p>
            <a:pPr algn="r"/>
            <a:r>
              <a:rPr lang="en-US" smtClean="0"/>
              <a:t>EE3490: Kỹ thuật lập trình </a:t>
            </a:r>
          </a:p>
          <a:p>
            <a:pPr algn="r"/>
            <a:r>
              <a:rPr lang="en-US" smtClean="0"/>
              <a:t>TS. Đỗ Thị Ngọc Diệp – ĐH Bách khoa Hà Nội</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69289722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3/1/2024</a:t>
            </a:fld>
            <a:endParaRPr lang="en-US" dirty="0"/>
          </a:p>
        </p:txBody>
      </p:sp>
      <p:sp>
        <p:nvSpPr>
          <p:cNvPr id="8" name="Footer Placeholder 7"/>
          <p:cNvSpPr>
            <a:spLocks noGrp="1"/>
          </p:cNvSpPr>
          <p:nvPr>
            <p:ph type="ftr" sz="quarter" idx="11"/>
          </p:nvPr>
        </p:nvSpPr>
        <p:spPr/>
        <p:txBody>
          <a:bodyPr/>
          <a:lstStyle/>
          <a:p>
            <a:pPr algn="r"/>
            <a:r>
              <a:rPr lang="en-US" smtClean="0"/>
              <a:t>EE3490: Kỹ thuật lập trình </a:t>
            </a:r>
          </a:p>
          <a:p>
            <a:pPr algn="r"/>
            <a:r>
              <a:rPr lang="en-US" smtClean="0"/>
              <a:t>TS. Đỗ Thị Ngọc Diệp – ĐH Bách khoa Hà Nội</a:t>
            </a:r>
            <a:endParaRPr lang="en-US" dirty="0"/>
          </a:p>
        </p:txBody>
      </p:sp>
      <p:sp>
        <p:nvSpPr>
          <p:cNvPr id="9" name="Slide Number Placeholder 8"/>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416431238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3/1/2024</a:t>
            </a:fld>
            <a:endParaRPr lang="en-US" dirty="0"/>
          </a:p>
        </p:txBody>
      </p:sp>
      <p:sp>
        <p:nvSpPr>
          <p:cNvPr id="4" name="Footer Placeholder 3"/>
          <p:cNvSpPr>
            <a:spLocks noGrp="1"/>
          </p:cNvSpPr>
          <p:nvPr>
            <p:ph type="ftr" sz="quarter" idx="11"/>
          </p:nvPr>
        </p:nvSpPr>
        <p:spPr/>
        <p:txBody>
          <a:bodyPr/>
          <a:lstStyle/>
          <a:p>
            <a:pPr algn="r"/>
            <a:r>
              <a:rPr lang="en-US" smtClean="0"/>
              <a:t>EE3490: Kỹ thuật lập trình </a:t>
            </a:r>
          </a:p>
          <a:p>
            <a:pPr algn="r"/>
            <a:r>
              <a:rPr lang="en-US" smtClean="0"/>
              <a:t>TS. Đỗ Thị Ngọc Diệp – ĐH Bách khoa Hà Nội</a:t>
            </a:r>
            <a:endParaRPr lang="en-US" dirty="0"/>
          </a:p>
        </p:txBody>
      </p:sp>
      <p:sp>
        <p:nvSpPr>
          <p:cNvPr id="5" name="Slide Number Placeholder 4"/>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266391658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3/1/2024</a:t>
            </a:fld>
            <a:endParaRPr lang="en-US" dirty="0"/>
          </a:p>
        </p:txBody>
      </p:sp>
      <p:sp>
        <p:nvSpPr>
          <p:cNvPr id="3" name="Footer Placeholder 2"/>
          <p:cNvSpPr>
            <a:spLocks noGrp="1"/>
          </p:cNvSpPr>
          <p:nvPr>
            <p:ph type="ftr" sz="quarter" idx="11"/>
          </p:nvPr>
        </p:nvSpPr>
        <p:spPr/>
        <p:txBody>
          <a:bodyPr/>
          <a:lstStyle/>
          <a:p>
            <a:pPr algn="r"/>
            <a:r>
              <a:rPr lang="en-US" smtClean="0"/>
              <a:t>EE3490: Kỹ thuật lập trình </a:t>
            </a:r>
          </a:p>
          <a:p>
            <a:pPr algn="r"/>
            <a:r>
              <a:rPr lang="en-US" smtClean="0"/>
              <a:t>TS. Đỗ Thị Ngọc Diệp – ĐH Bách khoa Hà Nội</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873220789"/>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3/1/2024</a:t>
            </a:fld>
            <a:endParaRPr lang="en-US" dirty="0"/>
          </a:p>
        </p:txBody>
      </p:sp>
      <p:sp>
        <p:nvSpPr>
          <p:cNvPr id="6" name="Footer Placeholder 5"/>
          <p:cNvSpPr>
            <a:spLocks noGrp="1"/>
          </p:cNvSpPr>
          <p:nvPr>
            <p:ph type="ftr" sz="quarter" idx="11"/>
          </p:nvPr>
        </p:nvSpPr>
        <p:spPr/>
        <p:txBody>
          <a:bodyPr/>
          <a:lstStyle/>
          <a:p>
            <a:pPr algn="r"/>
            <a:r>
              <a:rPr lang="en-US" smtClean="0"/>
              <a:t>EE3490: Kỹ thuật lập trình </a:t>
            </a:r>
          </a:p>
          <a:p>
            <a:pPr algn="r"/>
            <a:r>
              <a:rPr lang="en-US" smtClean="0"/>
              <a:t>TS. Đỗ Thị Ngọc Diệp – ĐH Bách khoa Hà Nội</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226877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3/1/2024</a:t>
            </a:fld>
            <a:endParaRPr lang="en-US" dirty="0"/>
          </a:p>
        </p:txBody>
      </p:sp>
      <p:sp>
        <p:nvSpPr>
          <p:cNvPr id="6" name="Footer Placeholder 5"/>
          <p:cNvSpPr>
            <a:spLocks noGrp="1"/>
          </p:cNvSpPr>
          <p:nvPr>
            <p:ph type="ftr" sz="quarter" idx="11"/>
          </p:nvPr>
        </p:nvSpPr>
        <p:spPr/>
        <p:txBody>
          <a:bodyPr/>
          <a:lstStyle/>
          <a:p>
            <a:pPr algn="r"/>
            <a:r>
              <a:rPr lang="en-US" smtClean="0"/>
              <a:t>EE3490: Kỹ thuật lập trình </a:t>
            </a:r>
          </a:p>
          <a:p>
            <a:pPr algn="r"/>
            <a:r>
              <a:rPr lang="en-US" smtClean="0"/>
              <a:t>TS. Đỗ Thị Ngọc Diệp – ĐH Bách khoa Hà Nội</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4186983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3/1/2024</a:t>
            </a:fld>
            <a:endParaRPr lang="en-US" dirty="0"/>
          </a:p>
        </p:txBody>
      </p:sp>
      <p:sp>
        <p:nvSpPr>
          <p:cNvPr id="5" name="Footer Placeholder 4"/>
          <p:cNvSpPr>
            <a:spLocks noGrp="1"/>
          </p:cNvSpPr>
          <p:nvPr>
            <p:ph type="ftr" sz="quarter" idx="11"/>
          </p:nvPr>
        </p:nvSpPr>
        <p:spPr/>
        <p:txBody>
          <a:bodyPr/>
          <a:lstStyle/>
          <a:p>
            <a:pPr algn="r"/>
            <a:r>
              <a:rPr lang="en-US" smtClean="0"/>
              <a:t>EE3490: Kỹ thuật lập trình </a:t>
            </a:r>
          </a:p>
          <a:p>
            <a:pPr algn="r"/>
            <a:r>
              <a:rPr lang="en-US" smtClean="0"/>
              <a:t>TS. Đỗ Thị Ngọc Diệp – ĐH Bách khoa Hà Nội</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16298869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3/1/2024</a:t>
            </a:fld>
            <a:endParaRPr lang="en-US" dirty="0"/>
          </a:p>
        </p:txBody>
      </p:sp>
      <p:sp>
        <p:nvSpPr>
          <p:cNvPr id="5" name="Footer Placeholder 4"/>
          <p:cNvSpPr>
            <a:spLocks noGrp="1"/>
          </p:cNvSpPr>
          <p:nvPr>
            <p:ph type="ftr" sz="quarter" idx="11"/>
          </p:nvPr>
        </p:nvSpPr>
        <p:spPr/>
        <p:txBody>
          <a:bodyPr/>
          <a:lstStyle/>
          <a:p>
            <a:pPr algn="r"/>
            <a:r>
              <a:rPr lang="en-US" smtClean="0"/>
              <a:t>EE3490: Kỹ thuật lập trình </a:t>
            </a:r>
          </a:p>
          <a:p>
            <a:pPr algn="r"/>
            <a:r>
              <a:rPr lang="en-US" smtClean="0"/>
              <a:t>TS. Đỗ Thị Ngọc Diệp – ĐH Bách khoa Hà Nội</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4248721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1526378"/>
      </p:ext>
    </p:extLst>
  </p:cSld>
  <p:clrMapOvr>
    <a:masterClrMapping/>
  </p:clrMapOvr>
  <p:timing>
    <p:tnLst>
      <p:par>
        <p:cTn id="1" dur="indefinite" restart="never" nodeType="tmRoot"/>
      </p:par>
    </p:tnLst>
  </p:timing>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36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427452591"/>
      </p:ext>
    </p:extLst>
  </p:cSld>
  <p:clrMapOvr>
    <a:masterClrMapping/>
  </p:clrMapOvr>
  <p:timing>
    <p:tnLst>
      <p:par>
        <p:cTn id="1" dur="indefinite" restart="never" nodeType="tmRoot"/>
      </p:par>
    </p:tnLst>
  </p:timing>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0999532"/>
      </p:ext>
    </p:extLst>
  </p:cSld>
  <p:clrMapOvr>
    <a:masterClrMapping/>
  </p:clrMapOvr>
  <p:timing>
    <p:tnLst>
      <p:par>
        <p:cTn id="1" dur="indefinite" restart="never" nodeType="tmRoot"/>
      </p:par>
    </p:tnLst>
  </p:timing>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3/1/2024</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en-US" smtClean="0"/>
              <a:t>EE3490: Kỹ thuật lập trình </a:t>
            </a:r>
          </a:p>
          <a:p>
            <a:pPr algn="r"/>
            <a:r>
              <a:rPr lang="en-US" smtClean="0"/>
              <a:t>TS. Đỗ Thị Ngọc Diệp – ĐH Bách khoa Hà Nội</a:t>
            </a:r>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9"/>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86829475"/>
      </p:ext>
    </p:extLst>
  </p:cSld>
  <p:clrMapOvr>
    <a:masterClrMapping/>
  </p:clrMapOvr>
  <p:timing>
    <p:tnLst>
      <p:par>
        <p:cTn id="1" dur="indefinite" restart="never" nodeType="tmRoot"/>
      </p:par>
    </p:tnLst>
  </p:timing>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3/1/2024</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en-US" smtClean="0"/>
              <a:t>EE3490: Kỹ thuật lập trình </a:t>
            </a:r>
          </a:p>
          <a:p>
            <a:pPr algn="r"/>
            <a:r>
              <a:rPr lang="en-US" smtClean="0"/>
              <a:t>TS. Đỗ Thị Ngọc Diệp – ĐH Bách khoa Hà Nội</a:t>
            </a:r>
            <a:endParaRPr lang="en-US" dirty="0"/>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1298887541"/>
      </p:ext>
    </p:extLst>
  </p:cSld>
  <p:clrMapOvr>
    <a:masterClrMapping/>
  </p:clrMapOvr>
  <p:timing>
    <p:tnLst>
      <p:par>
        <p:cTn id="1" dur="indefinite" restart="never" nodeType="tmRoot"/>
      </p:par>
    </p:tnLst>
  </p:timing>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3/1/2024</a:t>
            </a:fld>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1"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76637871"/>
      </p:ext>
    </p:extLst>
  </p:cSld>
  <p:clrMapOvr>
    <a:masterClrMapping/>
  </p:clrMapOvr>
  <p:timing>
    <p:tnLst>
      <p:par>
        <p:cTn id="1" dur="indefinite" restart="never" nodeType="tmRoot"/>
      </p:par>
    </p:tnLst>
  </p:timing>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9"/>
            <a:ext cx="5397627" cy="451739"/>
          </a:xfrm>
          <a:prstGeom prst="rect">
            <a:avLst/>
          </a:prstGeom>
        </p:spPr>
        <p:txBody>
          <a:bodyPr/>
          <a:lstStyle>
            <a:lvl1pPr>
              <a:defRPr sz="21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3/1/2024</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en-US" smtClean="0"/>
              <a:t>EE3490: Kỹ thuật lập trình </a:t>
            </a:r>
          </a:p>
          <a:p>
            <a:pPr algn="r"/>
            <a:r>
              <a:rPr lang="en-US" smtClean="0"/>
              <a:t>TS. Đỗ Thị Ngọc Diệp – ĐH Bách khoa Hà Nội</a:t>
            </a:r>
            <a:endParaRPr lang="en-US" dirty="0"/>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4262611921"/>
      </p:ext>
    </p:extLst>
  </p:cSld>
  <p:clrMapOvr>
    <a:masterClrMapping/>
  </p:clrMapOvr>
  <p:timing>
    <p:tnLst>
      <p:par>
        <p:cTn id="1" dur="indefinite" restart="never" nodeType="tmRoot"/>
      </p:par>
    </p:tnLst>
  </p:timing>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3/1/2024</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en-US" smtClean="0"/>
              <a:t>EE3490: Kỹ thuật lập trình </a:t>
            </a:r>
          </a:p>
          <a:p>
            <a:pPr algn="r"/>
            <a:r>
              <a:rPr lang="en-US" smtClean="0"/>
              <a:t>TS. Đỗ Thị Ngọc Diệp – ĐH Bách khoa Hà Nội</a:t>
            </a:r>
            <a:endParaRPr lang="en-US" dirty="0"/>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594468137"/>
      </p:ext>
    </p:extLst>
  </p:cSld>
  <p:clrMapOvr>
    <a:masterClrMapping/>
  </p:clrMapOvr>
  <p:timing>
    <p:tnLst>
      <p:par>
        <p:cTn id="1" dur="indefinite" restart="never" nodeType="tmRoot"/>
      </p:par>
    </p:tnLst>
  </p:timing>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3/1/2024</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en-US" smtClean="0"/>
              <a:t>EE3490: Kỹ thuật lập trình </a:t>
            </a:r>
          </a:p>
          <a:p>
            <a:pPr algn="r"/>
            <a:r>
              <a:rPr lang="en-US" smtClean="0"/>
              <a:t>TS. Đỗ Thị Ngọc Diệp – ĐH Bách khoa Hà Nội</a:t>
            </a:r>
            <a:endParaRPr lang="en-US" dirty="0"/>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2055061032"/>
      </p:ext>
    </p:extLst>
  </p:cSld>
  <p:clrMapOvr>
    <a:masterClrMapping/>
  </p:clrMapOvr>
  <p:timing>
    <p:tnLst>
      <p:par>
        <p:cTn id="1" dur="indefinite" restart="never" nodeType="tmRoot"/>
      </p:par>
    </p:tnLst>
  </p:timing>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3/1/2024</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lgn="r"/>
            <a:r>
              <a:rPr lang="en-US" smtClean="0"/>
              <a:t>EE3490: Kỹ thuật lập trình </a:t>
            </a:r>
          </a:p>
          <a:p>
            <a:pPr algn="r"/>
            <a:r>
              <a:rPr lang="en-US" smtClean="0"/>
              <a:t>TS. Đỗ Thị Ngọc Diệp – ĐH Bách khoa Hà Nội</a:t>
            </a:r>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C24317B-5122-4A99-A6E9-FA23C146A7E0}" type="slidenum">
              <a:rPr lang="en-US" smtClean="0"/>
              <a:pPr/>
              <a:t>‹#›</a:t>
            </a:fld>
            <a:endParaRPr lang="en-US"/>
          </a:p>
        </p:txBody>
      </p:sp>
      <p:pic>
        <p:nvPicPr>
          <p:cNvPr id="8" name="Picture 2" descr="D:\lo go dhbk100957AM.jpg"/>
          <p:cNvPicPr>
            <a:picLocks noChangeAspect="1" noChangeArrowheads="1"/>
          </p:cNvPicPr>
          <p:nvPr userDrawn="1"/>
        </p:nvPicPr>
        <p:blipFill>
          <a:blip r:embed="rId22" cstate="print"/>
          <a:srcRect/>
          <a:stretch>
            <a:fillRect/>
          </a:stretch>
        </p:blipFill>
        <p:spPr bwMode="auto">
          <a:xfrm>
            <a:off x="8766174" y="6372320"/>
            <a:ext cx="225425" cy="336455"/>
          </a:xfrm>
          <a:prstGeom prst="rect">
            <a:avLst/>
          </a:prstGeom>
          <a:noFill/>
        </p:spPr>
      </p:pic>
    </p:spTree>
    <p:extLst>
      <p:ext uri="{BB962C8B-B14F-4D97-AF65-F5344CB8AC3E}">
        <p14:creationId xmlns:p14="http://schemas.microsoft.com/office/powerpoint/2010/main" val="1497684498"/>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 id="2147483780" r:id="rId18"/>
    <p:sldLayoutId id="2147483781" r:id="rId19"/>
    <p:sldLayoutId id="2147483782" r:id="rId20"/>
  </p:sldLayoutIdLst>
  <p:timing>
    <p:tnLst>
      <p:par>
        <p:cTn id="1" dur="indefinite" restart="never" nodeType="tmRoot"/>
      </p:par>
    </p:tnLst>
  </p:timing>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7.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7.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09600" y="1752600"/>
            <a:ext cx="7048500" cy="2852737"/>
          </a:xfrm>
        </p:spPr>
        <p:txBody>
          <a:bodyPr/>
          <a:lstStyle/>
          <a:p>
            <a:pPr algn="r"/>
            <a:r>
              <a:rPr lang="en-US" b="1" dirty="0" err="1" smtClean="0"/>
              <a:t>Ôn</a:t>
            </a:r>
            <a:r>
              <a:rPr lang="en-US" b="1" dirty="0" smtClean="0"/>
              <a:t> </a:t>
            </a:r>
            <a:r>
              <a:rPr lang="en-US" b="1" dirty="0" err="1" smtClean="0"/>
              <a:t>lại</a:t>
            </a:r>
            <a:r>
              <a:rPr lang="en-US" b="1" dirty="0" smtClean="0"/>
              <a:t> NNLT</a:t>
            </a:r>
            <a:endParaRPr lang="en-US" b="1" dirty="0"/>
          </a:p>
        </p:txBody>
      </p:sp>
      <p:sp>
        <p:nvSpPr>
          <p:cNvPr id="5" name="Slide Number Placeholder 4"/>
          <p:cNvSpPr>
            <a:spLocks noGrp="1"/>
          </p:cNvSpPr>
          <p:nvPr>
            <p:ph type="sldNum" sz="quarter" idx="4294967295"/>
          </p:nvPr>
        </p:nvSpPr>
        <p:spPr>
          <a:xfrm>
            <a:off x="7086600" y="6356350"/>
            <a:ext cx="2057400" cy="365125"/>
          </a:xfrm>
        </p:spPr>
        <p:txBody>
          <a:bodyPr/>
          <a:lstStyle/>
          <a:p>
            <a:fld id="{26B269CE-12F4-4F4F-BF2F-21E0A343DA44}"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2</a:t>
            </a:fld>
            <a:endParaRPr lang="en-US" dirty="0"/>
          </a:p>
        </p:txBody>
      </p:sp>
      <p:sp>
        <p:nvSpPr>
          <p:cNvPr id="2" name="Title 1"/>
          <p:cNvSpPr>
            <a:spLocks noGrp="1"/>
          </p:cNvSpPr>
          <p:nvPr>
            <p:ph type="title"/>
          </p:nvPr>
        </p:nvSpPr>
        <p:spPr/>
        <p:txBody>
          <a:bodyPr/>
          <a:lstStyle/>
          <a:p>
            <a:r>
              <a:rPr lang="en-US" dirty="0" err="1" smtClean="0"/>
              <a:t>Biến</a:t>
            </a:r>
            <a:r>
              <a:rPr lang="en-US" dirty="0" smtClean="0"/>
              <a:t> (variable), </a:t>
            </a:r>
            <a:r>
              <a:rPr lang="en-US" dirty="0" err="1" smtClean="0"/>
              <a:t>kiểu</a:t>
            </a:r>
            <a:r>
              <a:rPr lang="en-US" dirty="0" smtClean="0"/>
              <a:t> (type), </a:t>
            </a:r>
            <a:r>
              <a:rPr lang="en-US" dirty="0" err="1" smtClean="0"/>
              <a:t>giá</a:t>
            </a:r>
            <a:r>
              <a:rPr lang="en-US" dirty="0" smtClean="0"/>
              <a:t> </a:t>
            </a:r>
            <a:r>
              <a:rPr lang="en-US" dirty="0" err="1" smtClean="0"/>
              <a:t>trị</a:t>
            </a:r>
            <a:r>
              <a:rPr lang="en-US" dirty="0" smtClean="0"/>
              <a:t> (value)</a:t>
            </a:r>
            <a:endParaRPr lang="en-US" dirty="0"/>
          </a:p>
        </p:txBody>
      </p:sp>
      <p:sp>
        <p:nvSpPr>
          <p:cNvPr id="3" name="Content Placeholder 2"/>
          <p:cNvSpPr>
            <a:spLocks noGrp="1"/>
          </p:cNvSpPr>
          <p:nvPr>
            <p:ph type="body" sz="quarter" idx="13"/>
          </p:nvPr>
        </p:nvSpPr>
        <p:spPr/>
        <p:txBody>
          <a:bodyPr/>
          <a:lstStyle/>
          <a:p>
            <a:r>
              <a:rPr lang="en-US" i="1" dirty="0" err="1" smtClean="0">
                <a:solidFill>
                  <a:srgbClr val="FF0000"/>
                </a:solidFill>
              </a:rPr>
              <a:t>Biến</a:t>
            </a:r>
            <a:r>
              <a:rPr lang="en-US" dirty="0" smtClean="0"/>
              <a:t> : </a:t>
            </a:r>
            <a:r>
              <a:rPr lang="en-US" dirty="0" err="1" smtClean="0"/>
              <a:t>đại</a:t>
            </a:r>
            <a:r>
              <a:rPr lang="en-US" dirty="0" smtClean="0"/>
              <a:t> </a:t>
            </a:r>
            <a:r>
              <a:rPr lang="en-US" dirty="0" err="1" smtClean="0"/>
              <a:t>lượng</a:t>
            </a:r>
            <a:r>
              <a:rPr lang="en-US" dirty="0" smtClean="0"/>
              <a:t> </a:t>
            </a:r>
            <a:r>
              <a:rPr lang="en-US" dirty="0" err="1" smtClean="0"/>
              <a:t>được</a:t>
            </a:r>
            <a:r>
              <a:rPr lang="en-US" dirty="0" smtClean="0"/>
              <a:t> </a:t>
            </a:r>
            <a:r>
              <a:rPr lang="en-US" dirty="0" err="1" smtClean="0"/>
              <a:t>lưu</a:t>
            </a:r>
            <a:r>
              <a:rPr lang="en-US" dirty="0" smtClean="0"/>
              <a:t> </a:t>
            </a:r>
            <a:r>
              <a:rPr lang="en-US" dirty="0" err="1" smtClean="0"/>
              <a:t>trữ</a:t>
            </a:r>
            <a:r>
              <a:rPr lang="en-US" dirty="0" smtClean="0"/>
              <a:t> </a:t>
            </a:r>
            <a:r>
              <a:rPr lang="en-US" dirty="0" err="1" smtClean="0"/>
              <a:t>trong</a:t>
            </a:r>
            <a:r>
              <a:rPr lang="en-US" dirty="0" smtClean="0"/>
              <a:t> </a:t>
            </a:r>
            <a:r>
              <a:rPr lang="en-US" dirty="0" err="1" smtClean="0"/>
              <a:t>bộ</a:t>
            </a:r>
            <a:r>
              <a:rPr lang="en-US" dirty="0" smtClean="0"/>
              <a:t> </a:t>
            </a:r>
            <a:r>
              <a:rPr lang="en-US" dirty="0" err="1" smtClean="0"/>
              <a:t>nhớ</a:t>
            </a:r>
            <a:r>
              <a:rPr lang="en-US" dirty="0" smtClean="0"/>
              <a:t> = </a:t>
            </a:r>
            <a:r>
              <a:rPr lang="en-US" dirty="0" err="1" smtClean="0"/>
              <a:t>khối</a:t>
            </a:r>
            <a:r>
              <a:rPr lang="en-US" dirty="0" smtClean="0"/>
              <a:t> </a:t>
            </a:r>
            <a:r>
              <a:rPr lang="en-US" dirty="0" err="1" smtClean="0"/>
              <a:t>nhớ</a:t>
            </a:r>
            <a:endParaRPr lang="en-US" dirty="0" smtClean="0"/>
          </a:p>
          <a:p>
            <a:r>
              <a:rPr lang="en-US" dirty="0" err="1" smtClean="0"/>
              <a:t>Chứa</a:t>
            </a:r>
            <a:r>
              <a:rPr lang="en-US" dirty="0" smtClean="0"/>
              <a:t> </a:t>
            </a:r>
            <a:r>
              <a:rPr lang="en-US" i="1" dirty="0" err="1" smtClean="0">
                <a:solidFill>
                  <a:srgbClr val="FF0000"/>
                </a:solidFill>
              </a:rPr>
              <a:t>giá</a:t>
            </a:r>
            <a:r>
              <a:rPr lang="en-US" i="1" dirty="0" smtClean="0">
                <a:solidFill>
                  <a:srgbClr val="FF0000"/>
                </a:solidFill>
              </a:rPr>
              <a:t> </a:t>
            </a:r>
            <a:r>
              <a:rPr lang="en-US" i="1" dirty="0" err="1" smtClean="0">
                <a:solidFill>
                  <a:srgbClr val="FF0000"/>
                </a:solidFill>
              </a:rPr>
              <a:t>trị</a:t>
            </a:r>
            <a:r>
              <a:rPr lang="en-US" dirty="0" smtClean="0"/>
              <a:t>, </a:t>
            </a:r>
            <a:r>
              <a:rPr lang="en-US" dirty="0" err="1" smtClean="0"/>
              <a:t>có</a:t>
            </a:r>
            <a:r>
              <a:rPr lang="en-US" dirty="0" smtClean="0"/>
              <a:t> </a:t>
            </a:r>
            <a:r>
              <a:rPr lang="en-US" dirty="0" err="1" smtClean="0"/>
              <a:t>thể</a:t>
            </a:r>
            <a:r>
              <a:rPr lang="en-US" dirty="0" smtClean="0"/>
              <a:t> </a:t>
            </a:r>
            <a:r>
              <a:rPr lang="en-US" dirty="0" err="1" smtClean="0"/>
              <a:t>thay</a:t>
            </a:r>
            <a:r>
              <a:rPr lang="en-US" dirty="0" smtClean="0"/>
              <a:t> </a:t>
            </a:r>
            <a:r>
              <a:rPr lang="en-US" dirty="0" err="1" smtClean="0"/>
              <a:t>đổi</a:t>
            </a:r>
            <a:r>
              <a:rPr lang="en-US" dirty="0" smtClean="0"/>
              <a:t> </a:t>
            </a:r>
            <a:r>
              <a:rPr lang="en-US" dirty="0" err="1" smtClean="0"/>
              <a:t>trong</a:t>
            </a:r>
            <a:r>
              <a:rPr lang="en-US" dirty="0" smtClean="0"/>
              <a:t> </a:t>
            </a:r>
            <a:r>
              <a:rPr lang="en-US" dirty="0" err="1" smtClean="0"/>
              <a:t>khi</a:t>
            </a:r>
            <a:r>
              <a:rPr lang="en-US" dirty="0" smtClean="0"/>
              <a:t> </a:t>
            </a:r>
            <a:r>
              <a:rPr lang="en-US" dirty="0" err="1" smtClean="0"/>
              <a:t>chạy</a:t>
            </a:r>
            <a:r>
              <a:rPr lang="en-US" dirty="0" smtClean="0"/>
              <a:t> CT</a:t>
            </a:r>
          </a:p>
          <a:p>
            <a:r>
              <a:rPr lang="en-US" dirty="0" err="1" smtClean="0"/>
              <a:t>Kích</a:t>
            </a:r>
            <a:r>
              <a:rPr lang="en-US" dirty="0" smtClean="0"/>
              <a:t> </a:t>
            </a:r>
            <a:r>
              <a:rPr lang="en-US" dirty="0" err="1" smtClean="0"/>
              <a:t>thước</a:t>
            </a:r>
            <a:r>
              <a:rPr lang="en-US" dirty="0" smtClean="0"/>
              <a:t> </a:t>
            </a:r>
            <a:r>
              <a:rPr lang="en-US" dirty="0" err="1" smtClean="0"/>
              <a:t>khối</a:t>
            </a:r>
            <a:r>
              <a:rPr lang="en-US" dirty="0" smtClean="0"/>
              <a:t> </a:t>
            </a:r>
            <a:r>
              <a:rPr lang="en-US" dirty="0" err="1" smtClean="0"/>
              <a:t>nhớ</a:t>
            </a:r>
            <a:r>
              <a:rPr lang="en-US" dirty="0" smtClean="0"/>
              <a:t> </a:t>
            </a:r>
            <a:r>
              <a:rPr lang="en-US" dirty="0" err="1" smtClean="0"/>
              <a:t>tương</a:t>
            </a:r>
            <a:r>
              <a:rPr lang="en-US" dirty="0" smtClean="0"/>
              <a:t> </a:t>
            </a:r>
            <a:r>
              <a:rPr lang="en-US" dirty="0" err="1" smtClean="0"/>
              <a:t>ứng</a:t>
            </a:r>
            <a:r>
              <a:rPr lang="en-US" dirty="0" smtClean="0"/>
              <a:t> </a:t>
            </a:r>
            <a:r>
              <a:rPr lang="en-US" dirty="0" err="1" smtClean="0"/>
              <a:t>với</a:t>
            </a:r>
            <a:r>
              <a:rPr lang="en-US" dirty="0" smtClean="0"/>
              <a:t> </a:t>
            </a:r>
            <a:r>
              <a:rPr lang="en-US" i="1" dirty="0" err="1" smtClean="0">
                <a:solidFill>
                  <a:srgbClr val="FF0000"/>
                </a:solidFill>
              </a:rPr>
              <a:t>kiểu</a:t>
            </a:r>
            <a:r>
              <a:rPr lang="en-US" i="1" dirty="0" smtClean="0">
                <a:solidFill>
                  <a:srgbClr val="FF0000"/>
                </a:solidFill>
              </a:rPr>
              <a:t> </a:t>
            </a:r>
            <a:r>
              <a:rPr lang="en-US" dirty="0" err="1" smtClean="0">
                <a:solidFill>
                  <a:schemeClr val="tx1"/>
                </a:solidFill>
              </a:rPr>
              <a:t>của</a:t>
            </a:r>
            <a:r>
              <a:rPr lang="en-US" dirty="0" smtClean="0">
                <a:solidFill>
                  <a:schemeClr val="tx1"/>
                </a:solidFill>
              </a:rPr>
              <a:t> </a:t>
            </a:r>
            <a:r>
              <a:rPr lang="en-US" dirty="0" err="1" smtClean="0">
                <a:solidFill>
                  <a:schemeClr val="tx1"/>
                </a:solidFill>
              </a:rPr>
              <a:t>biến</a:t>
            </a:r>
            <a:endParaRPr lang="en-US" dirty="0" smtClean="0">
              <a:solidFill>
                <a:schemeClr val="tx1"/>
              </a:solidFill>
            </a:endParaRPr>
          </a:p>
          <a:p>
            <a:r>
              <a:rPr lang="en-US" dirty="0" err="1" smtClean="0"/>
              <a:t>Biến</a:t>
            </a:r>
            <a:r>
              <a:rPr lang="en-US" dirty="0" smtClean="0"/>
              <a:t> </a:t>
            </a:r>
            <a:r>
              <a:rPr lang="en-US" dirty="0" err="1" smtClean="0"/>
              <a:t>cần</a:t>
            </a:r>
            <a:r>
              <a:rPr lang="en-US" dirty="0" smtClean="0"/>
              <a:t> </a:t>
            </a:r>
            <a:r>
              <a:rPr lang="en-US" dirty="0" err="1" smtClean="0"/>
              <a:t>được</a:t>
            </a:r>
            <a:r>
              <a:rPr lang="en-US" dirty="0" smtClean="0"/>
              <a:t> </a:t>
            </a:r>
            <a:r>
              <a:rPr lang="en-US" dirty="0" err="1" smtClean="0"/>
              <a:t>khai</a:t>
            </a:r>
            <a:r>
              <a:rPr lang="en-US" dirty="0" smtClean="0"/>
              <a:t> </a:t>
            </a:r>
            <a:r>
              <a:rPr lang="en-US" dirty="0" err="1" smtClean="0"/>
              <a:t>báo</a:t>
            </a:r>
            <a:r>
              <a:rPr lang="en-US" dirty="0" smtClean="0"/>
              <a:t> </a:t>
            </a:r>
            <a:r>
              <a:rPr lang="en-US" dirty="0" err="1" smtClean="0"/>
              <a:t>trước</a:t>
            </a:r>
            <a:r>
              <a:rPr lang="en-US" dirty="0" smtClean="0"/>
              <a:t> </a:t>
            </a:r>
            <a:r>
              <a:rPr lang="en-US" dirty="0" err="1" smtClean="0"/>
              <a:t>khi</a:t>
            </a:r>
            <a:r>
              <a:rPr lang="en-US" dirty="0" smtClean="0"/>
              <a:t> </a:t>
            </a:r>
            <a:r>
              <a:rPr lang="en-US" dirty="0" err="1" smtClean="0"/>
              <a:t>dùng</a:t>
            </a:r>
            <a:r>
              <a:rPr lang="en-US" dirty="0" smtClean="0"/>
              <a:t>: </a:t>
            </a:r>
            <a:r>
              <a:rPr lang="en-US" b="1" i="1" dirty="0" err="1" smtClean="0">
                <a:solidFill>
                  <a:srgbClr val="FF0000"/>
                </a:solidFill>
              </a:rPr>
              <a:t>kiểu</a:t>
            </a:r>
            <a:r>
              <a:rPr lang="en-US" b="1" dirty="0" smtClean="0">
                <a:solidFill>
                  <a:srgbClr val="FF0000"/>
                </a:solidFill>
              </a:rPr>
              <a:t> </a:t>
            </a:r>
            <a:r>
              <a:rPr lang="en-US" b="1" i="1" dirty="0" err="1" smtClean="0">
                <a:solidFill>
                  <a:srgbClr val="FF0000"/>
                </a:solidFill>
              </a:rPr>
              <a:t>tên</a:t>
            </a:r>
            <a:r>
              <a:rPr lang="en-US" b="1" dirty="0" smtClean="0">
                <a:solidFill>
                  <a:srgbClr val="FF0000"/>
                </a:solidFill>
              </a:rPr>
              <a:t>;</a:t>
            </a:r>
          </a:p>
          <a:p>
            <a:r>
              <a:rPr lang="en-US" dirty="0" err="1" smtClean="0"/>
              <a:t>Phạm</a:t>
            </a:r>
            <a:r>
              <a:rPr lang="en-US" dirty="0" smtClean="0"/>
              <a:t> vi </a:t>
            </a:r>
            <a:r>
              <a:rPr lang="en-US" dirty="0" err="1" smtClean="0"/>
              <a:t>toàn</a:t>
            </a:r>
            <a:r>
              <a:rPr lang="en-US" dirty="0" smtClean="0"/>
              <a:t> </a:t>
            </a:r>
            <a:r>
              <a:rPr lang="en-US" dirty="0" err="1" smtClean="0"/>
              <a:t>cục</a:t>
            </a:r>
            <a:r>
              <a:rPr lang="en-US" dirty="0" smtClean="0"/>
              <a:t> </a:t>
            </a:r>
            <a:r>
              <a:rPr lang="en-US" dirty="0" err="1" smtClean="0"/>
              <a:t>hoặc</a:t>
            </a:r>
            <a:r>
              <a:rPr lang="en-US" dirty="0" smtClean="0"/>
              <a:t> </a:t>
            </a:r>
            <a:r>
              <a:rPr lang="en-US" dirty="0" err="1" smtClean="0"/>
              <a:t>cục</a:t>
            </a:r>
            <a:r>
              <a:rPr lang="en-US" dirty="0" smtClean="0"/>
              <a:t> </a:t>
            </a:r>
            <a:r>
              <a:rPr lang="en-US" dirty="0" err="1" smtClean="0"/>
              <a:t>bộ</a:t>
            </a:r>
            <a:r>
              <a:rPr lang="en-US" dirty="0" smtClean="0"/>
              <a:t>.</a:t>
            </a:r>
          </a:p>
          <a:p>
            <a:endParaRPr lang="en-US" dirty="0"/>
          </a:p>
        </p:txBody>
      </p:sp>
    </p:spTree>
    <p:extLst>
      <p:ext uri="{BB962C8B-B14F-4D97-AF65-F5344CB8AC3E}">
        <p14:creationId xmlns:p14="http://schemas.microsoft.com/office/powerpoint/2010/main" val="312991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3</a:t>
            </a:fld>
            <a:endParaRPr lang="en-US"/>
          </a:p>
        </p:txBody>
      </p:sp>
      <p:sp>
        <p:nvSpPr>
          <p:cNvPr id="4" name="Title 3"/>
          <p:cNvSpPr>
            <a:spLocks noGrp="1"/>
          </p:cNvSpPr>
          <p:nvPr>
            <p:ph type="title"/>
          </p:nvPr>
        </p:nvSpPr>
        <p:spPr/>
        <p:txBody>
          <a:bodyPr/>
          <a:lstStyle/>
          <a:p>
            <a:r>
              <a:rPr lang="en-US" dirty="0" err="1"/>
              <a:t>Các</a:t>
            </a:r>
            <a:r>
              <a:rPr lang="en-US" dirty="0"/>
              <a:t> </a:t>
            </a:r>
            <a:r>
              <a:rPr lang="en-US" dirty="0" err="1"/>
              <a:t>kiểu</a:t>
            </a:r>
            <a:r>
              <a:rPr lang="en-US" dirty="0"/>
              <a:t> </a:t>
            </a:r>
            <a:r>
              <a:rPr lang="en-US" dirty="0" err="1"/>
              <a:t>dữ</a:t>
            </a:r>
            <a:r>
              <a:rPr lang="en-US" dirty="0"/>
              <a:t> </a:t>
            </a:r>
            <a:r>
              <a:rPr lang="en-US" dirty="0" err="1"/>
              <a:t>liệu</a:t>
            </a:r>
            <a:r>
              <a:rPr lang="en-US" dirty="0"/>
              <a:t> </a:t>
            </a:r>
            <a:r>
              <a:rPr lang="en-US" dirty="0" err="1"/>
              <a:t>cơ</a:t>
            </a:r>
            <a:r>
              <a:rPr lang="en-US" dirty="0"/>
              <a:t> </a:t>
            </a:r>
            <a:r>
              <a:rPr lang="en-US" dirty="0" err="1"/>
              <a:t>bản</a:t>
            </a:r>
            <a:endParaRPr lang="en-US" dirty="0"/>
          </a:p>
        </p:txBody>
      </p:sp>
      <p:sp>
        <p:nvSpPr>
          <p:cNvPr id="5" name="Text Placeholder 4"/>
          <p:cNvSpPr>
            <a:spLocks noGrp="1"/>
          </p:cNvSpPr>
          <p:nvPr>
            <p:ph type="body" sz="quarter" idx="13"/>
          </p:nvPr>
        </p:nvSpPr>
        <p:spPr/>
        <p:txBody>
          <a:bodyPr/>
          <a:lstStyle/>
          <a:p>
            <a:endParaRPr lang="en-US"/>
          </a:p>
        </p:txBody>
      </p:sp>
      <p:pic>
        <p:nvPicPr>
          <p:cNvPr id="6" name="Picture 2" descr="http://btechsmartclass.com/CP/images/c-primary-datatyp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8682" y="532147"/>
            <a:ext cx="5864225" cy="2932113"/>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p:cNvGrpSpPr/>
          <p:nvPr/>
        </p:nvGrpSpPr>
        <p:grpSpPr>
          <a:xfrm>
            <a:off x="204471" y="3276600"/>
            <a:ext cx="3993746" cy="2564448"/>
            <a:chOff x="237640" y="3769616"/>
            <a:chExt cx="3993746" cy="2564448"/>
          </a:xfrm>
        </p:grpSpPr>
        <p:grpSp>
          <p:nvGrpSpPr>
            <p:cNvPr id="7" name="Group 6"/>
            <p:cNvGrpSpPr/>
            <p:nvPr/>
          </p:nvGrpSpPr>
          <p:grpSpPr>
            <a:xfrm>
              <a:off x="237640" y="3769616"/>
              <a:ext cx="3993746" cy="2564448"/>
              <a:chOff x="4610302" y="3718117"/>
              <a:chExt cx="3993746" cy="2564448"/>
            </a:xfrm>
          </p:grpSpPr>
          <p:pic>
            <p:nvPicPr>
              <p:cNvPr id="8" name="Picture 4" descr="http://btechsmartclass.com/CP/images/interger-datatype.png"/>
              <p:cNvPicPr>
                <a:picLocks noChangeAspect="1" noChangeArrowheads="1"/>
              </p:cNvPicPr>
              <p:nvPr/>
            </p:nvPicPr>
            <p:blipFill rotWithShape="1">
              <a:blip r:embed="rId3">
                <a:extLst>
                  <a:ext uri="{28A0092B-C50C-407E-A947-70E740481C1C}">
                    <a14:useLocalDpi xmlns:a14="http://schemas.microsoft.com/office/drawing/2010/main" val="0"/>
                  </a:ext>
                </a:extLst>
              </a:blip>
              <a:srcRect r="17695" b="15442"/>
              <a:stretch/>
            </p:blipFill>
            <p:spPr bwMode="auto">
              <a:xfrm>
                <a:off x="4610302" y="3718117"/>
                <a:ext cx="3993746" cy="256444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5943600" y="4126468"/>
                <a:ext cx="756938" cy="338554"/>
              </a:xfrm>
              <a:prstGeom prst="rect">
                <a:avLst/>
              </a:prstGeom>
              <a:solidFill>
                <a:srgbClr val="C1EFFF"/>
              </a:solidFill>
            </p:spPr>
            <p:txBody>
              <a:bodyPr wrap="none" rtlCol="0">
                <a:spAutoFit/>
              </a:bodyPr>
              <a:lstStyle/>
              <a:p>
                <a:r>
                  <a:rPr lang="en-US" sz="1600" dirty="0" smtClean="0"/>
                  <a:t>2, 4, 8</a:t>
                </a:r>
                <a:endParaRPr lang="en-US" sz="1600" dirty="0"/>
              </a:p>
            </p:txBody>
          </p:sp>
          <p:sp>
            <p:nvSpPr>
              <p:cNvPr id="10" name="TextBox 9"/>
              <p:cNvSpPr txBox="1"/>
              <p:nvPr/>
            </p:nvSpPr>
            <p:spPr>
              <a:xfrm>
                <a:off x="6962857" y="4126468"/>
                <a:ext cx="1447800" cy="338554"/>
              </a:xfrm>
              <a:prstGeom prst="rect">
                <a:avLst/>
              </a:prstGeom>
              <a:solidFill>
                <a:srgbClr val="C1EFFF"/>
              </a:solidFill>
            </p:spPr>
            <p:txBody>
              <a:bodyPr wrap="square" rtlCol="0">
                <a:spAutoFit/>
              </a:bodyPr>
              <a:lstStyle/>
              <a:p>
                <a:r>
                  <a:rPr lang="en-US" sz="1600" dirty="0" smtClean="0"/>
                  <a:t>depends…</a:t>
                </a:r>
                <a:endParaRPr lang="en-US" sz="1600" dirty="0"/>
              </a:p>
            </p:txBody>
          </p:sp>
        </p:grpSp>
        <p:sp>
          <p:nvSpPr>
            <p:cNvPr id="11" name="TextBox 10"/>
            <p:cNvSpPr txBox="1"/>
            <p:nvPr/>
          </p:nvSpPr>
          <p:spPr>
            <a:xfrm>
              <a:off x="1618897" y="5939153"/>
              <a:ext cx="756938" cy="338554"/>
            </a:xfrm>
            <a:prstGeom prst="rect">
              <a:avLst/>
            </a:prstGeom>
            <a:solidFill>
              <a:srgbClr val="C1EFFF"/>
            </a:solidFill>
          </p:spPr>
          <p:txBody>
            <a:bodyPr wrap="none" rtlCol="0">
              <a:spAutoFit/>
            </a:bodyPr>
            <a:lstStyle/>
            <a:p>
              <a:r>
                <a:rPr lang="en-US" sz="1600" dirty="0" smtClean="0"/>
                <a:t>2, 4, 8</a:t>
              </a:r>
              <a:endParaRPr lang="en-US" sz="1600" dirty="0"/>
            </a:p>
          </p:txBody>
        </p:sp>
        <p:sp>
          <p:nvSpPr>
            <p:cNvPr id="12" name="TextBox 11"/>
            <p:cNvSpPr txBox="1"/>
            <p:nvPr/>
          </p:nvSpPr>
          <p:spPr>
            <a:xfrm>
              <a:off x="2618100" y="5928193"/>
              <a:ext cx="1447800" cy="338554"/>
            </a:xfrm>
            <a:prstGeom prst="rect">
              <a:avLst/>
            </a:prstGeom>
            <a:solidFill>
              <a:srgbClr val="C1EFFF"/>
            </a:solidFill>
          </p:spPr>
          <p:txBody>
            <a:bodyPr wrap="square" rtlCol="0">
              <a:spAutoFit/>
            </a:bodyPr>
            <a:lstStyle/>
            <a:p>
              <a:r>
                <a:rPr lang="en-US" sz="1600" dirty="0" smtClean="0"/>
                <a:t>depends…</a:t>
              </a:r>
              <a:endParaRPr lang="en-US" sz="1600" dirty="0"/>
            </a:p>
          </p:txBody>
        </p:sp>
      </p:grpSp>
      <p:pic>
        <p:nvPicPr>
          <p:cNvPr id="13" name="Picture 12"/>
          <p:cNvPicPr>
            <a:picLocks noChangeAspect="1"/>
          </p:cNvPicPr>
          <p:nvPr/>
        </p:nvPicPr>
        <p:blipFill>
          <a:blip r:embed="rId4"/>
          <a:stretch>
            <a:fillRect/>
          </a:stretch>
        </p:blipFill>
        <p:spPr>
          <a:xfrm>
            <a:off x="170405" y="5861769"/>
            <a:ext cx="3944395" cy="464047"/>
          </a:xfrm>
          <a:prstGeom prst="rect">
            <a:avLst/>
          </a:prstGeom>
        </p:spPr>
      </p:pic>
      <p:pic>
        <p:nvPicPr>
          <p:cNvPr id="15" name="Picture 2" descr="http://btechsmartclass.com/CP/images/floating-point-datatype.png"/>
          <p:cNvPicPr>
            <a:picLocks noChangeAspect="1" noChangeArrowheads="1"/>
          </p:cNvPicPr>
          <p:nvPr/>
        </p:nvPicPr>
        <p:blipFill rotWithShape="1">
          <a:blip r:embed="rId5">
            <a:extLst>
              <a:ext uri="{28A0092B-C50C-407E-A947-70E740481C1C}">
                <a14:useLocalDpi xmlns:a14="http://schemas.microsoft.com/office/drawing/2010/main" val="0"/>
              </a:ext>
            </a:extLst>
          </a:blip>
          <a:srcRect r="18798"/>
          <a:stretch/>
        </p:blipFill>
        <p:spPr bwMode="auto">
          <a:xfrm>
            <a:off x="4437228" y="3276600"/>
            <a:ext cx="3795032"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7531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4</a:t>
            </a:fld>
            <a:endParaRPr lang="en-US"/>
          </a:p>
        </p:txBody>
      </p:sp>
      <p:sp>
        <p:nvSpPr>
          <p:cNvPr id="2" name="Title 1"/>
          <p:cNvSpPr>
            <a:spLocks noGrp="1"/>
          </p:cNvSpPr>
          <p:nvPr>
            <p:ph type="title"/>
          </p:nvPr>
        </p:nvSpPr>
        <p:spPr/>
        <p:txBody>
          <a:bodyPr/>
          <a:lstStyle/>
          <a:p>
            <a:r>
              <a:rPr lang="en-US" dirty="0" err="1"/>
              <a:t>Các</a:t>
            </a:r>
            <a:r>
              <a:rPr lang="en-US" dirty="0"/>
              <a:t> </a:t>
            </a:r>
            <a:r>
              <a:rPr lang="en-US" dirty="0" err="1"/>
              <a:t>kiểu</a:t>
            </a:r>
            <a:r>
              <a:rPr lang="en-US" dirty="0"/>
              <a:t> </a:t>
            </a:r>
            <a:r>
              <a:rPr lang="en-US" dirty="0" err="1"/>
              <a:t>dữ</a:t>
            </a:r>
            <a:r>
              <a:rPr lang="en-US" dirty="0"/>
              <a:t> </a:t>
            </a:r>
            <a:r>
              <a:rPr lang="en-US" dirty="0" err="1"/>
              <a:t>liệu</a:t>
            </a:r>
            <a:r>
              <a:rPr lang="en-US" dirty="0"/>
              <a:t> </a:t>
            </a:r>
            <a:r>
              <a:rPr lang="en-US" dirty="0" err="1"/>
              <a:t>cơ</a:t>
            </a:r>
            <a:r>
              <a:rPr lang="en-US" dirty="0"/>
              <a:t> </a:t>
            </a:r>
            <a:r>
              <a:rPr lang="en-US" dirty="0" err="1"/>
              <a:t>bản</a:t>
            </a:r>
            <a:endParaRPr lang="en-US" dirty="0"/>
          </a:p>
        </p:txBody>
      </p:sp>
      <p:sp>
        <p:nvSpPr>
          <p:cNvPr id="6" name="Rectangle 5"/>
          <p:cNvSpPr/>
          <p:nvPr/>
        </p:nvSpPr>
        <p:spPr>
          <a:xfrm>
            <a:off x="35859" y="2423072"/>
            <a:ext cx="4572000" cy="1184940"/>
          </a:xfrm>
          <a:prstGeom prst="rect">
            <a:avLst/>
          </a:prstGeom>
        </p:spPr>
        <p:txBody>
          <a:bodyPr>
            <a:spAutoFit/>
          </a:bodyPr>
          <a:lstStyle/>
          <a:p>
            <a:pPr lvl="1"/>
            <a:r>
              <a:rPr lang="en-US" sz="2100" dirty="0" err="1" smtClean="0">
                <a:latin typeface="Lato" panose="020F0502020204030203"/>
              </a:rPr>
              <a:t>Biểu</a:t>
            </a:r>
            <a:r>
              <a:rPr lang="en-US" sz="2100" dirty="0" smtClean="0">
                <a:latin typeface="Lato" panose="020F0502020204030203"/>
              </a:rPr>
              <a:t> </a:t>
            </a:r>
            <a:r>
              <a:rPr lang="en-US" sz="2100" dirty="0" err="1" smtClean="0">
                <a:latin typeface="Lato" panose="020F0502020204030203"/>
              </a:rPr>
              <a:t>diễn</a:t>
            </a:r>
            <a:r>
              <a:rPr lang="en-US" sz="2100" dirty="0" smtClean="0">
                <a:latin typeface="Lato" panose="020F0502020204030203"/>
              </a:rPr>
              <a:t> </a:t>
            </a:r>
            <a:r>
              <a:rPr lang="en-US" sz="2100" dirty="0" err="1" smtClean="0">
                <a:latin typeface="Lato" panose="020F0502020204030203"/>
              </a:rPr>
              <a:t>hằng</a:t>
            </a:r>
            <a:r>
              <a:rPr lang="en-US" sz="2100" dirty="0" smtClean="0">
                <a:latin typeface="Lato" panose="020F0502020204030203"/>
              </a:rPr>
              <a:t> </a:t>
            </a:r>
            <a:r>
              <a:rPr lang="en-US" sz="2100" dirty="0" err="1" smtClean="0">
                <a:latin typeface="Lato" panose="020F0502020204030203"/>
              </a:rPr>
              <a:t>ký</a:t>
            </a:r>
            <a:r>
              <a:rPr lang="en-US" sz="2100" dirty="0" smtClean="0">
                <a:latin typeface="Lato" panose="020F0502020204030203"/>
              </a:rPr>
              <a:t> </a:t>
            </a:r>
            <a:r>
              <a:rPr lang="en-US" sz="2100" dirty="0" err="1" smtClean="0">
                <a:latin typeface="Lato" panose="020F0502020204030203"/>
              </a:rPr>
              <a:t>tự</a:t>
            </a:r>
            <a:r>
              <a:rPr lang="en-US" sz="2100" dirty="0" smtClean="0">
                <a:latin typeface="Lato" panose="020F0502020204030203"/>
              </a:rPr>
              <a:t>:</a:t>
            </a:r>
            <a:endParaRPr lang="vi-VN" sz="2100" dirty="0"/>
          </a:p>
          <a:p>
            <a:pPr lvl="2" indent="-225425">
              <a:buFont typeface="Arial" panose="020B0604020202020204" pitchFamily="34" charset="0"/>
              <a:buChar char="•"/>
            </a:pPr>
            <a:r>
              <a:rPr lang="vi-VN" sz="1600" dirty="0"/>
              <a:t>‘a’, ‘A’, ‘0’, ‘.’,…</a:t>
            </a:r>
          </a:p>
          <a:p>
            <a:pPr lvl="2" indent="-225425">
              <a:buFont typeface="Arial" panose="020B0604020202020204" pitchFamily="34" charset="0"/>
              <a:buChar char="•"/>
            </a:pPr>
            <a:r>
              <a:rPr lang="vi-VN" sz="1600" dirty="0"/>
              <a:t>‘\t’, ‘\n’, ‘\’’, ‘\”’, ‘\0’, ...</a:t>
            </a:r>
          </a:p>
          <a:p>
            <a:pPr lvl="2" indent="-225425">
              <a:buFont typeface="Arial" panose="020B0604020202020204" pitchFamily="34" charset="0"/>
              <a:buChar char="•"/>
            </a:pPr>
            <a:r>
              <a:rPr lang="vi-VN" sz="1600" dirty="0"/>
              <a:t>‘\x49</a:t>
            </a:r>
            <a:r>
              <a:rPr lang="vi-VN" sz="1600" dirty="0" smtClean="0"/>
              <a:t>’</a:t>
            </a:r>
            <a:r>
              <a:rPr lang="en-US" sz="1600" dirty="0" smtClean="0"/>
              <a:t>,</a:t>
            </a:r>
            <a:r>
              <a:rPr lang="vi-VN" sz="1600" dirty="0" smtClean="0"/>
              <a:t> </a:t>
            </a:r>
            <a:r>
              <a:rPr lang="vi-VN" sz="1600" dirty="0"/>
              <a:t>‘I</a:t>
            </a:r>
            <a:r>
              <a:rPr lang="vi-VN" sz="1600" dirty="0" smtClean="0"/>
              <a:t>’</a:t>
            </a:r>
            <a:r>
              <a:rPr lang="en-US" sz="1600" dirty="0" smtClean="0"/>
              <a:t>, 73, 0x49</a:t>
            </a:r>
            <a:endParaRPr lang="vi-VN" sz="1600" dirty="0"/>
          </a:p>
        </p:txBody>
      </p:sp>
      <p:sp>
        <p:nvSpPr>
          <p:cNvPr id="9" name="Rectangle 8"/>
          <p:cNvSpPr/>
          <p:nvPr/>
        </p:nvSpPr>
        <p:spPr>
          <a:xfrm>
            <a:off x="4800600" y="1128395"/>
            <a:ext cx="4572000" cy="276999"/>
          </a:xfrm>
          <a:prstGeom prst="rect">
            <a:avLst/>
          </a:prstGeom>
        </p:spPr>
        <p:txBody>
          <a:bodyPr>
            <a:spAutoFit/>
          </a:bodyPr>
          <a:lstStyle/>
          <a:p>
            <a:r>
              <a:rPr lang="en-US" sz="1200" dirty="0">
                <a:solidFill>
                  <a:srgbClr val="000000"/>
                </a:solidFill>
                <a:latin typeface="Trebuchet MS" panose="020B0603020202020204" pitchFamily="34" charset="0"/>
              </a:rPr>
              <a:t>(American Standard Code for Information Interchange)</a:t>
            </a:r>
            <a:endParaRPr lang="en-US" sz="1200" dirty="0"/>
          </a:p>
        </p:txBody>
      </p:sp>
      <p:pic>
        <p:nvPicPr>
          <p:cNvPr id="11" name="Picture 2" descr="dennis ritchie, father of c, father of unix"/>
          <p:cNvPicPr>
            <a:picLocks noChangeAspect="1" noChangeArrowheads="1"/>
          </p:cNvPicPr>
          <p:nvPr/>
        </p:nvPicPr>
        <p:blipFill rotWithShape="1">
          <a:blip r:embed="rId3">
            <a:extLst>
              <a:ext uri="{28A0092B-C50C-407E-A947-70E740481C1C}">
                <a14:useLocalDpi xmlns:a14="http://schemas.microsoft.com/office/drawing/2010/main" val="0"/>
              </a:ext>
            </a:extLst>
          </a:blip>
          <a:srcRect l="42653" t="4697" b="34694"/>
          <a:stretch/>
        </p:blipFill>
        <p:spPr bwMode="auto">
          <a:xfrm>
            <a:off x="4419153" y="1405394"/>
            <a:ext cx="4724847" cy="404934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ttp://btechsmartclass.com/CP/images/character-datatype.png"/>
          <p:cNvPicPr>
            <a:picLocks noChangeAspect="1" noChangeArrowheads="1"/>
          </p:cNvPicPr>
          <p:nvPr/>
        </p:nvPicPr>
        <p:blipFill rotWithShape="1">
          <a:blip r:embed="rId4">
            <a:extLst>
              <a:ext uri="{28A0092B-C50C-407E-A947-70E740481C1C}">
                <a14:useLocalDpi xmlns:a14="http://schemas.microsoft.com/office/drawing/2010/main" val="0"/>
              </a:ext>
            </a:extLst>
          </a:blip>
          <a:srcRect r="19677"/>
          <a:stretch/>
        </p:blipFill>
        <p:spPr bwMode="auto">
          <a:xfrm>
            <a:off x="540744" y="914400"/>
            <a:ext cx="3488719" cy="119443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540744" y="3816888"/>
            <a:ext cx="2459328" cy="369332"/>
          </a:xfrm>
          <a:prstGeom prst="rect">
            <a:avLst/>
          </a:prstGeom>
        </p:spPr>
        <p:txBody>
          <a:bodyPr wrap="none">
            <a:spAutoFit/>
          </a:bodyPr>
          <a:lstStyle/>
          <a:p>
            <a:r>
              <a:rPr lang="en-US" dirty="0"/>
              <a:t>&lt;</a:t>
            </a:r>
            <a:r>
              <a:rPr lang="en-US" dirty="0" err="1"/>
              <a:t>ctype.h</a:t>
            </a:r>
            <a:r>
              <a:rPr lang="en-US" dirty="0"/>
              <a:t>&gt;</a:t>
            </a:r>
            <a:r>
              <a:rPr lang="vi-VN" dirty="0"/>
              <a:t>:</a:t>
            </a:r>
            <a:r>
              <a:rPr lang="vi-VN" sz="1400" dirty="0"/>
              <a:t> </a:t>
            </a:r>
            <a:r>
              <a:rPr lang="en-US" sz="1600" i="1" dirty="0" err="1">
                <a:latin typeface="Courier New" panose="02070309020205020404" pitchFamily="49" charset="0"/>
                <a:cs typeface="Courier New" panose="02070309020205020404" pitchFamily="49" charset="0"/>
              </a:rPr>
              <a:t>toASCII</a:t>
            </a:r>
            <a:r>
              <a:rPr lang="en-US" sz="1600" i="1" dirty="0">
                <a:latin typeface="Courier New" panose="02070309020205020404" pitchFamily="49" charset="0"/>
                <a:cs typeface="Courier New" panose="02070309020205020404" pitchFamily="49" charset="0"/>
              </a:rPr>
              <a:t>(c)</a:t>
            </a:r>
            <a:endParaRPr lang="en-US" dirty="0"/>
          </a:p>
        </p:txBody>
      </p:sp>
    </p:spTree>
    <p:extLst>
      <p:ext uri="{BB962C8B-B14F-4D97-AF65-F5344CB8AC3E}">
        <p14:creationId xmlns:p14="http://schemas.microsoft.com/office/powerpoint/2010/main" val="2526105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5</a:t>
            </a:fld>
            <a:endParaRPr lang="en-US"/>
          </a:p>
        </p:txBody>
      </p:sp>
      <p:sp>
        <p:nvSpPr>
          <p:cNvPr id="3" name="Title 2"/>
          <p:cNvSpPr>
            <a:spLocks noGrp="1"/>
          </p:cNvSpPr>
          <p:nvPr>
            <p:ph type="title"/>
          </p:nvPr>
        </p:nvSpPr>
        <p:spPr/>
        <p:txBody>
          <a:bodyPr/>
          <a:lstStyle/>
          <a:p>
            <a:r>
              <a:rPr lang="en-US" dirty="0" err="1" smtClean="0"/>
              <a:t>Kiểu</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phức</a:t>
            </a:r>
            <a:endParaRPr lang="en-US" dirty="0"/>
          </a:p>
        </p:txBody>
      </p:sp>
      <p:sp>
        <p:nvSpPr>
          <p:cNvPr id="4" name="Text Placeholder 3"/>
          <p:cNvSpPr>
            <a:spLocks noGrp="1"/>
          </p:cNvSpPr>
          <p:nvPr>
            <p:ph type="body" sz="quarter" idx="13"/>
          </p:nvPr>
        </p:nvSpPr>
        <p:spPr/>
        <p:txBody>
          <a:bodyPr/>
          <a:lstStyle/>
          <a:p>
            <a:r>
              <a:rPr lang="en-US" dirty="0" err="1" smtClean="0"/>
              <a:t>enum</a:t>
            </a:r>
            <a:r>
              <a:rPr lang="en-US" dirty="0" smtClean="0"/>
              <a:t>:</a:t>
            </a:r>
          </a:p>
          <a:p>
            <a:pPr lvl="2"/>
            <a:r>
              <a:rPr lang="en-US" sz="1600" noProof="1">
                <a:latin typeface="Courier New" pitchFamily="49" charset="0"/>
                <a:cs typeface="Courier New" pitchFamily="49" charset="0"/>
              </a:rPr>
              <a:t>enum Animal { Cat, Dog, Tiger, Lion };</a:t>
            </a:r>
          </a:p>
          <a:p>
            <a:pPr lvl="2"/>
            <a:r>
              <a:rPr lang="en-US" sz="1600" noProof="1">
                <a:latin typeface="Courier New" pitchFamily="49" charset="0"/>
                <a:cs typeface="Courier New" pitchFamily="49" charset="0"/>
              </a:rPr>
              <a:t>enum dayInWeek {Mo, Tu, We, Th, Fr, Sa, Su</a:t>
            </a:r>
            <a:r>
              <a:rPr lang="en-US" sz="1600" noProof="1" smtClean="0">
                <a:latin typeface="Courier New" pitchFamily="49" charset="0"/>
                <a:cs typeface="Courier New" pitchFamily="49" charset="0"/>
              </a:rPr>
              <a:t>};</a:t>
            </a:r>
          </a:p>
          <a:p>
            <a:r>
              <a:rPr lang="en-US" noProof="1"/>
              <a:t>struct:</a:t>
            </a:r>
          </a:p>
          <a:p>
            <a:pPr lvl="1"/>
            <a:endParaRPr lang="en-US" sz="1900" noProof="1">
              <a:latin typeface="Courier New" pitchFamily="49" charset="0"/>
              <a:cs typeface="Courier New" pitchFamily="49" charset="0"/>
            </a:endParaRPr>
          </a:p>
        </p:txBody>
      </p:sp>
      <p:sp>
        <p:nvSpPr>
          <p:cNvPr id="6" name="Rectangle 5"/>
          <p:cNvSpPr/>
          <p:nvPr/>
        </p:nvSpPr>
        <p:spPr>
          <a:xfrm>
            <a:off x="457200" y="2438400"/>
            <a:ext cx="4572000" cy="2554545"/>
          </a:xfrm>
          <a:prstGeom prst="rect">
            <a:avLst/>
          </a:prstGeom>
        </p:spPr>
        <p:txBody>
          <a:bodyPr>
            <a:spAutoFit/>
          </a:bodyPr>
          <a:lstStyle/>
          <a:p>
            <a:pPr lvl="1"/>
            <a:r>
              <a:rPr lang="en-US" sz="1600" dirty="0" err="1">
                <a:latin typeface="Courier New" pitchFamily="49" charset="0"/>
                <a:cs typeface="Courier New" pitchFamily="49" charset="0"/>
              </a:rPr>
              <a:t>typedef</a:t>
            </a:r>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struct</a:t>
            </a:r>
            <a:r>
              <a:rPr lang="en-US" sz="1600" dirty="0">
                <a:latin typeface="Courier New" pitchFamily="49" charset="0"/>
                <a:cs typeface="Courier New" pitchFamily="49" charset="0"/>
              </a:rPr>
              <a:t> {</a:t>
            </a:r>
          </a:p>
          <a:p>
            <a:pPr lvl="1" indent="366713">
              <a:buNone/>
            </a:pPr>
            <a:r>
              <a:rPr lang="en-US" sz="1600" dirty="0">
                <a:latin typeface="Courier New" pitchFamily="49" charset="0"/>
                <a:cs typeface="Courier New" pitchFamily="49" charset="0"/>
              </a:rPr>
              <a:t>char </a:t>
            </a:r>
            <a:r>
              <a:rPr lang="en-US" sz="1600" dirty="0" smtClean="0">
                <a:latin typeface="Courier New" pitchFamily="49" charset="0"/>
                <a:cs typeface="Courier New" pitchFamily="49" charset="0"/>
              </a:rPr>
              <a:t>name[20</a:t>
            </a:r>
            <a:r>
              <a:rPr lang="en-US" sz="1600" dirty="0">
                <a:latin typeface="Courier New" pitchFamily="49" charset="0"/>
                <a:cs typeface="Courier New" pitchFamily="49" charset="0"/>
              </a:rPr>
              <a:t>];</a:t>
            </a:r>
          </a:p>
          <a:p>
            <a:pPr lvl="1" indent="366713">
              <a:buNone/>
            </a:pPr>
            <a:r>
              <a:rPr lang="en-US" sz="1600" dirty="0">
                <a:latin typeface="Courier New" pitchFamily="49" charset="0"/>
                <a:cs typeface="Courier New" pitchFamily="49" charset="0"/>
              </a:rPr>
              <a:t>unsigned </a:t>
            </a:r>
            <a:r>
              <a:rPr lang="en-US" sz="1600" dirty="0" err="1">
                <a:latin typeface="Courier New" pitchFamily="49" charset="0"/>
                <a:cs typeface="Courier New" pitchFamily="49" charset="0"/>
              </a:rPr>
              <a:t>int</a:t>
            </a:r>
            <a:r>
              <a:rPr lang="en-US" sz="1600" dirty="0">
                <a:latin typeface="Courier New" pitchFamily="49" charset="0"/>
                <a:cs typeface="Courier New" pitchFamily="49" charset="0"/>
              </a:rPr>
              <a:t> </a:t>
            </a:r>
            <a:r>
              <a:rPr lang="en-US" sz="1600" dirty="0" smtClean="0">
                <a:latin typeface="Courier New" pitchFamily="49" charset="0"/>
                <a:cs typeface="Courier New" pitchFamily="49" charset="0"/>
              </a:rPr>
              <a:t>age;</a:t>
            </a:r>
            <a:endParaRPr lang="en-US" sz="1600" dirty="0">
              <a:latin typeface="Courier New" pitchFamily="49" charset="0"/>
              <a:cs typeface="Courier New" pitchFamily="49" charset="0"/>
            </a:endParaRPr>
          </a:p>
          <a:p>
            <a:pPr lvl="1" indent="366713">
              <a:buNone/>
            </a:pPr>
            <a:r>
              <a:rPr lang="en-US" sz="1600" dirty="0" err="1">
                <a:latin typeface="Courier New" pitchFamily="49" charset="0"/>
                <a:cs typeface="Courier New" pitchFamily="49" charset="0"/>
              </a:rPr>
              <a:t>enum</a:t>
            </a:r>
            <a:r>
              <a:rPr lang="en-US" sz="1600" dirty="0">
                <a:latin typeface="Courier New" pitchFamily="49" charset="0"/>
                <a:cs typeface="Courier New" pitchFamily="49" charset="0"/>
              </a:rPr>
              <a:t> {Nam, Nu} </a:t>
            </a:r>
            <a:r>
              <a:rPr lang="en-US" sz="1600" dirty="0" smtClean="0">
                <a:latin typeface="Courier New" pitchFamily="49" charset="0"/>
                <a:cs typeface="Courier New" pitchFamily="49" charset="0"/>
              </a:rPr>
              <a:t>gender;</a:t>
            </a:r>
            <a:endParaRPr lang="en-US" sz="1600" dirty="0">
              <a:latin typeface="Courier New" pitchFamily="49" charset="0"/>
              <a:cs typeface="Courier New" pitchFamily="49" charset="0"/>
            </a:endParaRPr>
          </a:p>
          <a:p>
            <a:pPr lvl="1" indent="366713">
              <a:buNone/>
            </a:pPr>
            <a:r>
              <a:rPr lang="en-US" sz="1600" dirty="0" err="1">
                <a:latin typeface="Courier New" pitchFamily="49" charset="0"/>
                <a:cs typeface="Courier New" pitchFamily="49" charset="0"/>
              </a:rPr>
              <a:t>struct</a:t>
            </a:r>
            <a:r>
              <a:rPr lang="en-US" sz="1600" dirty="0">
                <a:latin typeface="Courier New" pitchFamily="49" charset="0"/>
                <a:cs typeface="Courier New" pitchFamily="49" charset="0"/>
              </a:rPr>
              <a:t> {</a:t>
            </a:r>
          </a:p>
          <a:p>
            <a:pPr lvl="1" indent="830263">
              <a:buNone/>
            </a:pPr>
            <a:r>
              <a:rPr lang="en-US" sz="1600" dirty="0">
                <a:latin typeface="Courier New" pitchFamily="49" charset="0"/>
                <a:cs typeface="Courier New" pitchFamily="49" charset="0"/>
              </a:rPr>
              <a:t>char </a:t>
            </a:r>
            <a:r>
              <a:rPr lang="en-US" sz="1600" dirty="0" smtClean="0">
                <a:latin typeface="Courier New" pitchFamily="49" charset="0"/>
                <a:cs typeface="Courier New" pitchFamily="49" charset="0"/>
              </a:rPr>
              <a:t>city[20</a:t>
            </a:r>
            <a:r>
              <a:rPr lang="en-US" sz="1600" dirty="0">
                <a:latin typeface="Courier New" pitchFamily="49" charset="0"/>
                <a:cs typeface="Courier New" pitchFamily="49" charset="0"/>
              </a:rPr>
              <a:t>];</a:t>
            </a:r>
          </a:p>
          <a:p>
            <a:pPr lvl="1" indent="830263">
              <a:buNone/>
            </a:pPr>
            <a:r>
              <a:rPr lang="en-US" sz="1600" dirty="0">
                <a:latin typeface="Courier New" pitchFamily="49" charset="0"/>
                <a:cs typeface="Courier New" pitchFamily="49" charset="0"/>
              </a:rPr>
              <a:t>char </a:t>
            </a:r>
            <a:r>
              <a:rPr lang="en-US" sz="1600" dirty="0" smtClean="0">
                <a:latin typeface="Courier New" pitchFamily="49" charset="0"/>
                <a:cs typeface="Courier New" pitchFamily="49" charset="0"/>
              </a:rPr>
              <a:t>street[20</a:t>
            </a:r>
            <a:r>
              <a:rPr lang="en-US" sz="1600" dirty="0">
                <a:latin typeface="Courier New" pitchFamily="49" charset="0"/>
                <a:cs typeface="Courier New" pitchFamily="49" charset="0"/>
              </a:rPr>
              <a:t>];</a:t>
            </a:r>
          </a:p>
          <a:p>
            <a:pPr lvl="1" indent="830263">
              <a:buNone/>
            </a:pPr>
            <a:r>
              <a:rPr lang="en-US" sz="1600" dirty="0" err="1">
                <a:latin typeface="Courier New" pitchFamily="49" charset="0"/>
                <a:cs typeface="Courier New" pitchFamily="49" charset="0"/>
              </a:rPr>
              <a:t>int</a:t>
            </a:r>
            <a:r>
              <a:rPr lang="en-US" sz="1600" dirty="0">
                <a:latin typeface="Courier New" pitchFamily="49" charset="0"/>
                <a:cs typeface="Courier New" pitchFamily="49" charset="0"/>
              </a:rPr>
              <a:t> </a:t>
            </a:r>
            <a:r>
              <a:rPr lang="en-US" sz="1600" dirty="0" smtClean="0">
                <a:latin typeface="Courier New" pitchFamily="49" charset="0"/>
                <a:cs typeface="Courier New" pitchFamily="49" charset="0"/>
              </a:rPr>
              <a:t>number;</a:t>
            </a:r>
            <a:endParaRPr lang="en-US" sz="1600" dirty="0">
              <a:latin typeface="Courier New" pitchFamily="49" charset="0"/>
              <a:cs typeface="Courier New" pitchFamily="49" charset="0"/>
            </a:endParaRPr>
          </a:p>
          <a:p>
            <a:pPr lvl="1" indent="366713">
              <a:buNone/>
            </a:pPr>
            <a:r>
              <a:rPr lang="en-US" sz="1600" dirty="0">
                <a:latin typeface="Courier New" pitchFamily="49" charset="0"/>
                <a:cs typeface="Courier New" pitchFamily="49" charset="0"/>
              </a:rPr>
              <a:t>} </a:t>
            </a:r>
            <a:r>
              <a:rPr lang="en-US" sz="1600" dirty="0" smtClean="0">
                <a:latin typeface="Courier New" pitchFamily="49" charset="0"/>
                <a:cs typeface="Courier New" pitchFamily="49" charset="0"/>
              </a:rPr>
              <a:t>address;</a:t>
            </a:r>
            <a:endParaRPr lang="en-US" sz="1600" dirty="0">
              <a:latin typeface="Courier New" pitchFamily="49" charset="0"/>
              <a:cs typeface="Courier New" pitchFamily="49" charset="0"/>
            </a:endParaRPr>
          </a:p>
          <a:p>
            <a:pPr lvl="1" indent="19050">
              <a:buNone/>
            </a:pPr>
            <a:r>
              <a:rPr lang="en-US" sz="1600" dirty="0">
                <a:latin typeface="Courier New" pitchFamily="49" charset="0"/>
                <a:cs typeface="Courier New" pitchFamily="49" charset="0"/>
              </a:rPr>
              <a:t>} </a:t>
            </a:r>
            <a:r>
              <a:rPr lang="en-US" sz="1600" dirty="0" smtClean="0">
                <a:latin typeface="Courier New" pitchFamily="49" charset="0"/>
                <a:cs typeface="Courier New" pitchFamily="49" charset="0"/>
              </a:rPr>
              <a:t>Student;</a:t>
            </a:r>
            <a:endParaRPr lang="vi-VN" sz="1600" dirty="0">
              <a:latin typeface="Courier New" pitchFamily="49" charset="0"/>
              <a:cs typeface="Courier New" pitchFamily="49" charset="0"/>
            </a:endParaRPr>
          </a:p>
        </p:txBody>
      </p:sp>
    </p:spTree>
    <p:extLst>
      <p:ext uri="{BB962C8B-B14F-4D97-AF65-F5344CB8AC3E}">
        <p14:creationId xmlns:p14="http://schemas.microsoft.com/office/powerpoint/2010/main" val="30450152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6B269CE-12F4-4F4F-BF2F-21E0A343DA44}" type="slidenum">
              <a:rPr lang="en-US" smtClean="0"/>
              <a:pPr/>
              <a:t>6</a:t>
            </a:fld>
            <a:endParaRPr lang="en-US"/>
          </a:p>
        </p:txBody>
      </p:sp>
      <p:sp>
        <p:nvSpPr>
          <p:cNvPr id="6" name="Title 5"/>
          <p:cNvSpPr>
            <a:spLocks noGrp="1"/>
          </p:cNvSpPr>
          <p:nvPr>
            <p:ph type="title"/>
          </p:nvPr>
        </p:nvSpPr>
        <p:spPr/>
        <p:txBody>
          <a:bodyPr/>
          <a:lstStyle/>
          <a:p>
            <a:r>
              <a:rPr lang="en-US" dirty="0" err="1"/>
              <a:t>Câu</a:t>
            </a:r>
            <a:r>
              <a:rPr lang="en-US" dirty="0"/>
              <a:t> </a:t>
            </a:r>
            <a:r>
              <a:rPr lang="en-US" dirty="0" err="1"/>
              <a:t>lệnh</a:t>
            </a:r>
            <a:endParaRPr lang="vi-VN" dirty="0"/>
          </a:p>
        </p:txBody>
      </p:sp>
      <p:sp>
        <p:nvSpPr>
          <p:cNvPr id="7" name="Content Placeholder 6"/>
          <p:cNvSpPr>
            <a:spLocks noGrp="1"/>
          </p:cNvSpPr>
          <p:nvPr>
            <p:ph type="body" sz="quarter" idx="13"/>
          </p:nvPr>
        </p:nvSpPr>
        <p:spPr/>
        <p:txBody>
          <a:bodyPr/>
          <a:lstStyle/>
          <a:p>
            <a:r>
              <a:rPr lang="en-US" dirty="0" err="1" smtClean="0"/>
              <a:t>Câu</a:t>
            </a:r>
            <a:r>
              <a:rPr lang="en-US" dirty="0" smtClean="0"/>
              <a:t> </a:t>
            </a:r>
            <a:r>
              <a:rPr lang="en-US" dirty="0" err="1" smtClean="0"/>
              <a:t>lệnh</a:t>
            </a:r>
            <a:r>
              <a:rPr lang="en-US" dirty="0" smtClean="0"/>
              <a:t> </a:t>
            </a:r>
            <a:r>
              <a:rPr lang="en-US" dirty="0" err="1" smtClean="0"/>
              <a:t>được</a:t>
            </a:r>
            <a:r>
              <a:rPr lang="en-US" dirty="0" smtClean="0"/>
              <a:t> </a:t>
            </a:r>
            <a:r>
              <a:rPr lang="en-US" dirty="0" err="1" smtClean="0"/>
              <a:t>dùng</a:t>
            </a:r>
            <a:r>
              <a:rPr lang="en-US" dirty="0" smtClean="0"/>
              <a:t> </a:t>
            </a:r>
            <a:r>
              <a:rPr lang="en-US" dirty="0" err="1" smtClean="0"/>
              <a:t>để</a:t>
            </a:r>
            <a:r>
              <a:rPr lang="en-US" dirty="0" smtClean="0"/>
              <a:t> </a:t>
            </a:r>
            <a:r>
              <a:rPr lang="en-US" dirty="0" err="1" smtClean="0"/>
              <a:t>thực</a:t>
            </a:r>
            <a:r>
              <a:rPr lang="en-US" dirty="0" smtClean="0"/>
              <a:t> </a:t>
            </a:r>
            <a:r>
              <a:rPr lang="en-US" dirty="0" err="1" smtClean="0"/>
              <a:t>hiện</a:t>
            </a:r>
            <a:r>
              <a:rPr lang="en-US" dirty="0" smtClean="0"/>
              <a:t> </a:t>
            </a:r>
            <a:r>
              <a:rPr lang="en-US" dirty="0" err="1" smtClean="0"/>
              <a:t>một</a:t>
            </a:r>
            <a:r>
              <a:rPr lang="en-US" dirty="0" smtClean="0"/>
              <a:t> </a:t>
            </a:r>
            <a:r>
              <a:rPr lang="en-US" dirty="0" err="1" smtClean="0"/>
              <a:t>nhiệm</a:t>
            </a:r>
            <a:r>
              <a:rPr lang="en-US" dirty="0" smtClean="0"/>
              <a:t> </a:t>
            </a:r>
            <a:r>
              <a:rPr lang="en-US" dirty="0" err="1" smtClean="0"/>
              <a:t>vụ</a:t>
            </a:r>
            <a:r>
              <a:rPr lang="en-US" dirty="0" smtClean="0"/>
              <a:t> </a:t>
            </a:r>
            <a:r>
              <a:rPr lang="en-US" dirty="0" err="1" smtClean="0"/>
              <a:t>trong</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gán</a:t>
            </a:r>
            <a:r>
              <a:rPr lang="en-US" dirty="0" smtClean="0"/>
              <a:t>, </a:t>
            </a:r>
            <a:r>
              <a:rPr lang="en-US" dirty="0" err="1" smtClean="0"/>
              <a:t>tính</a:t>
            </a:r>
            <a:r>
              <a:rPr lang="en-US" dirty="0" smtClean="0"/>
              <a:t> </a:t>
            </a:r>
            <a:r>
              <a:rPr lang="en-US" dirty="0" err="1" smtClean="0"/>
              <a:t>toán</a:t>
            </a:r>
            <a:r>
              <a:rPr lang="en-US" dirty="0" smtClean="0"/>
              <a:t>, </a:t>
            </a:r>
            <a:r>
              <a:rPr lang="en-US" dirty="0" err="1" smtClean="0"/>
              <a:t>đọc</a:t>
            </a:r>
            <a:r>
              <a:rPr lang="en-US" dirty="0" smtClean="0"/>
              <a:t>/</a:t>
            </a:r>
            <a:r>
              <a:rPr lang="en-US" dirty="0" err="1" smtClean="0"/>
              <a:t>ghi</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gọi</a:t>
            </a:r>
            <a:r>
              <a:rPr lang="en-US" dirty="0" smtClean="0"/>
              <a:t> </a:t>
            </a:r>
            <a:r>
              <a:rPr lang="en-US" dirty="0" err="1" smtClean="0"/>
              <a:t>hàm</a:t>
            </a:r>
            <a:r>
              <a:rPr lang="en-US" dirty="0" smtClean="0"/>
              <a:t>,…</a:t>
            </a:r>
          </a:p>
          <a:p>
            <a:r>
              <a:rPr lang="en-US" dirty="0" err="1" smtClean="0"/>
              <a:t>Phân</a:t>
            </a:r>
            <a:r>
              <a:rPr lang="en-US" dirty="0" smtClean="0"/>
              <a:t> </a:t>
            </a:r>
            <a:r>
              <a:rPr lang="en-US" dirty="0" err="1" smtClean="0"/>
              <a:t>loại</a:t>
            </a:r>
            <a:r>
              <a:rPr lang="en-US" dirty="0" smtClean="0"/>
              <a:t>:</a:t>
            </a:r>
          </a:p>
          <a:p>
            <a:pPr lvl="1"/>
            <a:r>
              <a:rPr lang="en-US" dirty="0" err="1" smtClean="0"/>
              <a:t>Câu</a:t>
            </a:r>
            <a:r>
              <a:rPr lang="en-US" dirty="0" smtClean="0"/>
              <a:t> </a:t>
            </a:r>
            <a:r>
              <a:rPr lang="en-US" dirty="0" err="1" smtClean="0"/>
              <a:t>lệnh</a:t>
            </a:r>
            <a:r>
              <a:rPr lang="en-US" dirty="0" smtClean="0"/>
              <a:t> </a:t>
            </a:r>
            <a:r>
              <a:rPr lang="en-US" dirty="0" err="1" smtClean="0"/>
              <a:t>đơn</a:t>
            </a:r>
            <a:endParaRPr lang="en-US" dirty="0" smtClean="0"/>
          </a:p>
          <a:p>
            <a:pPr lvl="2"/>
            <a:r>
              <a:rPr lang="en-US" dirty="0" err="1" smtClean="0">
                <a:latin typeface="Courier New" pitchFamily="49" charset="0"/>
                <a:cs typeface="Courier New" pitchFamily="49" charset="0"/>
              </a:rPr>
              <a:t>printf</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Xin</a:t>
            </a: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chao</a:t>
            </a:r>
            <a:r>
              <a:rPr lang="en-US" dirty="0" smtClean="0">
                <a:latin typeface="Courier New" pitchFamily="49" charset="0"/>
                <a:cs typeface="Courier New" pitchFamily="49" charset="0"/>
              </a:rPr>
              <a:t>!");</a:t>
            </a:r>
          </a:p>
          <a:p>
            <a:pPr lvl="2"/>
            <a:r>
              <a:rPr lang="en-US" dirty="0" smtClean="0">
                <a:latin typeface="Courier New" pitchFamily="49" charset="0"/>
                <a:cs typeface="Courier New" pitchFamily="49" charset="0"/>
              </a:rPr>
              <a:t>x = PI*R*R;</a:t>
            </a:r>
          </a:p>
          <a:p>
            <a:pPr lvl="1"/>
            <a:r>
              <a:rPr lang="en-US" dirty="0" err="1" smtClean="0"/>
              <a:t>Các</a:t>
            </a:r>
            <a:r>
              <a:rPr lang="en-US" dirty="0" smtClean="0"/>
              <a:t> </a:t>
            </a:r>
            <a:r>
              <a:rPr lang="en-US" dirty="0" err="1" smtClean="0"/>
              <a:t>lệnh</a:t>
            </a:r>
            <a:r>
              <a:rPr lang="en-US" dirty="0" smtClean="0"/>
              <a:t> </a:t>
            </a:r>
            <a:r>
              <a:rPr lang="en-US" dirty="0" err="1" smtClean="0"/>
              <a:t>rẽ</a:t>
            </a:r>
            <a:r>
              <a:rPr lang="en-US" dirty="0" smtClean="0"/>
              <a:t> </a:t>
            </a:r>
            <a:r>
              <a:rPr lang="en-US" dirty="0" err="1" smtClean="0"/>
              <a:t>nhánh</a:t>
            </a:r>
            <a:r>
              <a:rPr lang="en-US" dirty="0" smtClean="0"/>
              <a:t> </a:t>
            </a:r>
            <a:r>
              <a:rPr lang="en-US" dirty="0" err="1" smtClean="0"/>
              <a:t>và</a:t>
            </a:r>
            <a:r>
              <a:rPr lang="en-US" dirty="0" smtClean="0"/>
              <a:t> </a:t>
            </a:r>
            <a:r>
              <a:rPr lang="en-US" dirty="0" err="1" smtClean="0"/>
              <a:t>điều</a:t>
            </a:r>
            <a:r>
              <a:rPr lang="en-US" dirty="0" smtClean="0"/>
              <a:t> </a:t>
            </a:r>
            <a:r>
              <a:rPr lang="en-US" dirty="0" err="1" smtClean="0"/>
              <a:t>kiện</a:t>
            </a:r>
            <a:r>
              <a:rPr lang="en-US" dirty="0" smtClean="0"/>
              <a:t>: </a:t>
            </a:r>
            <a:r>
              <a:rPr lang="en-US" i="1" dirty="0" smtClean="0"/>
              <a:t>for, if, while, switch,…</a:t>
            </a:r>
          </a:p>
          <a:p>
            <a:pPr lvl="1"/>
            <a:r>
              <a:rPr lang="en-US" dirty="0" err="1" smtClean="0"/>
              <a:t>Đặc</a:t>
            </a:r>
            <a:r>
              <a:rPr lang="en-US" dirty="0" smtClean="0"/>
              <a:t> </a:t>
            </a:r>
            <a:r>
              <a:rPr lang="en-US" dirty="0" err="1" smtClean="0"/>
              <a:t>biệt</a:t>
            </a:r>
            <a:r>
              <a:rPr lang="en-US" dirty="0" smtClean="0"/>
              <a:t>: </a:t>
            </a:r>
            <a:r>
              <a:rPr lang="en-US" dirty="0" err="1" smtClean="0"/>
              <a:t>câu</a:t>
            </a:r>
            <a:r>
              <a:rPr lang="en-US" dirty="0" smtClean="0"/>
              <a:t> </a:t>
            </a:r>
            <a:r>
              <a:rPr lang="en-US" dirty="0" err="1" smtClean="0"/>
              <a:t>lệnh</a:t>
            </a:r>
            <a:r>
              <a:rPr lang="en-US" dirty="0" smtClean="0"/>
              <a:t> </a:t>
            </a:r>
            <a:r>
              <a:rPr lang="en-US" dirty="0" err="1" smtClean="0"/>
              <a:t>trống</a:t>
            </a:r>
            <a:r>
              <a:rPr lang="en-US" dirty="0" smtClean="0"/>
              <a:t>, </a:t>
            </a:r>
            <a:r>
              <a:rPr lang="en-US" dirty="0" err="1" smtClean="0"/>
              <a:t>câu</a:t>
            </a:r>
            <a:r>
              <a:rPr lang="en-US" dirty="0" smtClean="0"/>
              <a:t> </a:t>
            </a:r>
            <a:r>
              <a:rPr lang="en-US" dirty="0" err="1" smtClean="0"/>
              <a:t>lệnh</a:t>
            </a:r>
            <a:r>
              <a:rPr lang="en-US" dirty="0" smtClean="0"/>
              <a:t> </a:t>
            </a:r>
            <a:r>
              <a:rPr lang="en-US" dirty="0" err="1" smtClean="0"/>
              <a:t>biểu</a:t>
            </a:r>
            <a:r>
              <a:rPr lang="en-US" dirty="0" smtClean="0"/>
              <a:t> </a:t>
            </a:r>
            <a:r>
              <a:rPr lang="en-US" dirty="0" err="1" smtClean="0"/>
              <a:t>thức</a:t>
            </a:r>
            <a:r>
              <a:rPr lang="en-US" dirty="0" smtClean="0"/>
              <a:t>, </a:t>
            </a:r>
            <a:r>
              <a:rPr lang="en-US" dirty="0" err="1" smtClean="0"/>
              <a:t>tạo</a:t>
            </a:r>
            <a:r>
              <a:rPr lang="en-US" dirty="0" smtClean="0"/>
              <a:t> </a:t>
            </a:r>
            <a:r>
              <a:rPr lang="en-US" dirty="0" err="1" smtClean="0"/>
              <a:t>nhãn</a:t>
            </a:r>
            <a:r>
              <a:rPr lang="en-US" dirty="0" smtClean="0"/>
              <a:t>, </a:t>
            </a:r>
            <a:r>
              <a:rPr lang="en-US" i="1" dirty="0" smtClean="0"/>
              <a:t>return</a:t>
            </a:r>
            <a:r>
              <a:rPr lang="en-US" dirty="0" smtClean="0"/>
              <a:t>,…</a:t>
            </a:r>
          </a:p>
          <a:p>
            <a:pPr lvl="1"/>
            <a:r>
              <a:rPr lang="en-US" dirty="0" err="1"/>
              <a:t>Khối</a:t>
            </a:r>
            <a:r>
              <a:rPr lang="en-US" dirty="0"/>
              <a:t> </a:t>
            </a:r>
            <a:r>
              <a:rPr lang="en-US" dirty="0" err="1" smtClean="0"/>
              <a:t>lệnh</a:t>
            </a:r>
            <a:r>
              <a:rPr lang="en-US" dirty="0" smtClean="0"/>
              <a:t>: </a:t>
            </a:r>
            <a:r>
              <a:rPr lang="en-US" dirty="0" err="1"/>
              <a:t>Gộp</a:t>
            </a:r>
            <a:r>
              <a:rPr lang="en-US" dirty="0"/>
              <a:t> </a:t>
            </a:r>
            <a:r>
              <a:rPr lang="en-US" dirty="0" err="1"/>
              <a:t>các</a:t>
            </a:r>
            <a:r>
              <a:rPr lang="en-US" dirty="0"/>
              <a:t> </a:t>
            </a:r>
            <a:r>
              <a:rPr lang="en-US" dirty="0" err="1"/>
              <a:t>lệnh</a:t>
            </a:r>
            <a:r>
              <a:rPr lang="en-US" dirty="0"/>
              <a:t> </a:t>
            </a:r>
            <a:r>
              <a:rPr lang="en-US" dirty="0" err="1"/>
              <a:t>đơn</a:t>
            </a:r>
            <a:r>
              <a:rPr lang="en-US" dirty="0"/>
              <a:t> </a:t>
            </a:r>
            <a:r>
              <a:rPr lang="en-US" dirty="0" err="1"/>
              <a:t>lại</a:t>
            </a:r>
            <a:r>
              <a:rPr lang="en-US" dirty="0"/>
              <a:t> </a:t>
            </a:r>
            <a:r>
              <a:rPr lang="en-US" dirty="0" err="1"/>
              <a:t>bằng</a:t>
            </a:r>
            <a:r>
              <a:rPr lang="en-US" dirty="0"/>
              <a:t> { … }</a:t>
            </a:r>
          </a:p>
          <a:p>
            <a:pPr lvl="1"/>
            <a:endParaRPr lang="vi-VN" dirty="0"/>
          </a:p>
        </p:txBody>
      </p:sp>
    </p:spTree>
    <p:extLst>
      <p:ext uri="{BB962C8B-B14F-4D97-AF65-F5344CB8AC3E}">
        <p14:creationId xmlns:p14="http://schemas.microsoft.com/office/powerpoint/2010/main" val="2821725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7</a:t>
            </a:fld>
            <a:endParaRPr lang="en-US"/>
          </a:p>
        </p:txBody>
      </p:sp>
      <p:sp>
        <p:nvSpPr>
          <p:cNvPr id="2" name="Title 1"/>
          <p:cNvSpPr>
            <a:spLocks noGrp="1"/>
          </p:cNvSpPr>
          <p:nvPr>
            <p:ph type="title"/>
          </p:nvPr>
        </p:nvSpPr>
        <p:spPr/>
        <p:txBody>
          <a:bodyPr/>
          <a:lstStyle/>
          <a:p>
            <a:r>
              <a:rPr lang="en-US" dirty="0" err="1"/>
              <a:t>Câu</a:t>
            </a:r>
            <a:r>
              <a:rPr lang="en-US" dirty="0"/>
              <a:t> </a:t>
            </a:r>
            <a:r>
              <a:rPr lang="en-US" dirty="0" err="1"/>
              <a:t>lệnh</a:t>
            </a:r>
            <a:endParaRPr lang="en-US" dirty="0"/>
          </a:p>
        </p:txBody>
      </p:sp>
      <p:pic>
        <p:nvPicPr>
          <p:cNvPr id="7" name="Picture 6"/>
          <p:cNvPicPr>
            <a:picLocks noChangeAspect="1"/>
          </p:cNvPicPr>
          <p:nvPr/>
        </p:nvPicPr>
        <p:blipFill>
          <a:blip r:embed="rId3"/>
          <a:stretch>
            <a:fillRect/>
          </a:stretch>
        </p:blipFill>
        <p:spPr>
          <a:xfrm>
            <a:off x="456605" y="1286534"/>
            <a:ext cx="1712185" cy="1841407"/>
          </a:xfrm>
          <a:prstGeom prst="rect">
            <a:avLst/>
          </a:prstGeom>
        </p:spPr>
      </p:pic>
      <p:pic>
        <p:nvPicPr>
          <p:cNvPr id="8" name="Picture 7"/>
          <p:cNvPicPr>
            <a:picLocks noChangeAspect="1"/>
          </p:cNvPicPr>
          <p:nvPr/>
        </p:nvPicPr>
        <p:blipFill>
          <a:blip r:embed="rId4"/>
          <a:stretch>
            <a:fillRect/>
          </a:stretch>
        </p:blipFill>
        <p:spPr>
          <a:xfrm>
            <a:off x="2320580" y="1286534"/>
            <a:ext cx="2220305" cy="2375210"/>
          </a:xfrm>
          <a:prstGeom prst="rect">
            <a:avLst/>
          </a:prstGeom>
        </p:spPr>
      </p:pic>
      <p:sp>
        <p:nvSpPr>
          <p:cNvPr id="9" name="TextBox 8"/>
          <p:cNvSpPr txBox="1"/>
          <p:nvPr/>
        </p:nvSpPr>
        <p:spPr>
          <a:xfrm>
            <a:off x="2938995" y="3619960"/>
            <a:ext cx="825867" cy="369332"/>
          </a:xfrm>
          <a:prstGeom prst="rect">
            <a:avLst/>
          </a:prstGeom>
          <a:noFill/>
        </p:spPr>
        <p:txBody>
          <a:bodyPr wrap="none" rtlCol="0">
            <a:spAutoFit/>
          </a:bodyPr>
          <a:lstStyle/>
          <a:p>
            <a:r>
              <a:rPr lang="en-US" dirty="0" smtClean="0">
                <a:solidFill>
                  <a:srgbClr val="FF0000"/>
                </a:solidFill>
              </a:rPr>
              <a:t>break;</a:t>
            </a:r>
            <a:endParaRPr lang="en-US" dirty="0">
              <a:solidFill>
                <a:srgbClr val="FF0000"/>
              </a:solidFill>
            </a:endParaRPr>
          </a:p>
        </p:txBody>
      </p:sp>
      <p:pic>
        <p:nvPicPr>
          <p:cNvPr id="11" name="Picture 10"/>
          <p:cNvPicPr>
            <a:picLocks noChangeAspect="1"/>
          </p:cNvPicPr>
          <p:nvPr/>
        </p:nvPicPr>
        <p:blipFill>
          <a:blip r:embed="rId5"/>
          <a:stretch>
            <a:fillRect/>
          </a:stretch>
        </p:blipFill>
        <p:spPr>
          <a:xfrm>
            <a:off x="4692675" y="1293157"/>
            <a:ext cx="1702450" cy="1095375"/>
          </a:xfrm>
          <a:prstGeom prst="rect">
            <a:avLst/>
          </a:prstGeom>
        </p:spPr>
      </p:pic>
      <p:pic>
        <p:nvPicPr>
          <p:cNvPr id="12" name="Picture 11"/>
          <p:cNvPicPr>
            <a:picLocks noChangeAspect="1"/>
          </p:cNvPicPr>
          <p:nvPr/>
        </p:nvPicPr>
        <p:blipFill>
          <a:blip r:embed="rId6"/>
          <a:stretch>
            <a:fillRect/>
          </a:stretch>
        </p:blipFill>
        <p:spPr>
          <a:xfrm>
            <a:off x="6568217" y="1280733"/>
            <a:ext cx="1810850" cy="1204912"/>
          </a:xfrm>
          <a:prstGeom prst="rect">
            <a:avLst/>
          </a:prstGeom>
        </p:spPr>
      </p:pic>
      <p:pic>
        <p:nvPicPr>
          <p:cNvPr id="13" name="Picture 12"/>
          <p:cNvPicPr>
            <a:picLocks noChangeAspect="1"/>
          </p:cNvPicPr>
          <p:nvPr/>
        </p:nvPicPr>
        <p:blipFill>
          <a:blip r:embed="rId7"/>
          <a:stretch>
            <a:fillRect/>
          </a:stretch>
        </p:blipFill>
        <p:spPr>
          <a:xfrm>
            <a:off x="5292493" y="3071018"/>
            <a:ext cx="2551448" cy="959055"/>
          </a:xfrm>
          <a:prstGeom prst="rect">
            <a:avLst/>
          </a:prstGeom>
        </p:spPr>
      </p:pic>
      <p:pic>
        <p:nvPicPr>
          <p:cNvPr id="14" name="Picture 13"/>
          <p:cNvPicPr>
            <a:picLocks noChangeAspect="1"/>
          </p:cNvPicPr>
          <p:nvPr/>
        </p:nvPicPr>
        <p:blipFill>
          <a:blip r:embed="rId8"/>
          <a:stretch>
            <a:fillRect/>
          </a:stretch>
        </p:blipFill>
        <p:spPr>
          <a:xfrm>
            <a:off x="949820" y="4520618"/>
            <a:ext cx="2103621" cy="914400"/>
          </a:xfrm>
          <a:prstGeom prst="rect">
            <a:avLst/>
          </a:prstGeom>
        </p:spPr>
      </p:pic>
      <p:pic>
        <p:nvPicPr>
          <p:cNvPr id="15" name="Picture 14"/>
          <p:cNvPicPr>
            <a:picLocks noChangeAspect="1"/>
          </p:cNvPicPr>
          <p:nvPr/>
        </p:nvPicPr>
        <p:blipFill>
          <a:blip r:embed="rId9"/>
          <a:stretch>
            <a:fillRect/>
          </a:stretch>
        </p:blipFill>
        <p:spPr>
          <a:xfrm>
            <a:off x="5069456" y="4437487"/>
            <a:ext cx="2343382" cy="950504"/>
          </a:xfrm>
          <a:prstGeom prst="rect">
            <a:avLst/>
          </a:prstGeom>
        </p:spPr>
      </p:pic>
      <p:pic>
        <p:nvPicPr>
          <p:cNvPr id="16" name="Picture 15"/>
          <p:cNvPicPr>
            <a:picLocks noChangeAspect="1"/>
          </p:cNvPicPr>
          <p:nvPr/>
        </p:nvPicPr>
        <p:blipFill>
          <a:blip r:embed="rId10"/>
          <a:stretch>
            <a:fillRect/>
          </a:stretch>
        </p:blipFill>
        <p:spPr>
          <a:xfrm>
            <a:off x="6782863" y="5150803"/>
            <a:ext cx="1135464" cy="945197"/>
          </a:xfrm>
          <a:prstGeom prst="rect">
            <a:avLst/>
          </a:prstGeom>
        </p:spPr>
      </p:pic>
      <p:pic>
        <p:nvPicPr>
          <p:cNvPr id="17" name="Picture 16"/>
          <p:cNvPicPr>
            <a:picLocks noChangeAspect="1"/>
          </p:cNvPicPr>
          <p:nvPr/>
        </p:nvPicPr>
        <p:blipFill>
          <a:blip r:embed="rId11"/>
          <a:stretch>
            <a:fillRect/>
          </a:stretch>
        </p:blipFill>
        <p:spPr>
          <a:xfrm>
            <a:off x="2452806" y="4855783"/>
            <a:ext cx="1142351" cy="1026376"/>
          </a:xfrm>
          <a:prstGeom prst="rect">
            <a:avLst/>
          </a:prstGeom>
        </p:spPr>
      </p:pic>
      <p:sp>
        <p:nvSpPr>
          <p:cNvPr id="3" name="Text Placeholder 2"/>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3984669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6B269CE-12F4-4F4F-BF2F-21E0A343DA44}" type="slidenum">
              <a:rPr lang="en-US" smtClean="0"/>
              <a:pPr/>
              <a:t>8</a:t>
            </a:fld>
            <a:endParaRPr lang="en-US"/>
          </a:p>
        </p:txBody>
      </p:sp>
      <p:sp>
        <p:nvSpPr>
          <p:cNvPr id="6" name="Title 5"/>
          <p:cNvSpPr>
            <a:spLocks noGrp="1"/>
          </p:cNvSpPr>
          <p:nvPr>
            <p:ph type="title"/>
          </p:nvPr>
        </p:nvSpPr>
        <p:spPr/>
        <p:txBody>
          <a:bodyPr/>
          <a:lstStyle/>
          <a:p>
            <a:r>
              <a:rPr lang="en-US" dirty="0" smtClean="0"/>
              <a:t>Con </a:t>
            </a:r>
            <a:r>
              <a:rPr lang="en-US" dirty="0" err="1" smtClean="0"/>
              <a:t>trỏ</a:t>
            </a:r>
            <a:endParaRPr lang="vi-VN" dirty="0"/>
          </a:p>
        </p:txBody>
      </p:sp>
      <p:sp>
        <p:nvSpPr>
          <p:cNvPr id="7" name="Content Placeholder 6"/>
          <p:cNvSpPr>
            <a:spLocks noGrp="1"/>
          </p:cNvSpPr>
          <p:nvPr>
            <p:ph type="body" sz="quarter" idx="13"/>
          </p:nvPr>
        </p:nvSpPr>
        <p:spPr/>
        <p:txBody>
          <a:bodyPr>
            <a:normAutofit lnSpcReduction="10000"/>
          </a:bodyPr>
          <a:lstStyle/>
          <a:p>
            <a:r>
              <a:rPr lang="en-US" sz="2400" dirty="0" err="1"/>
              <a:t>Biến</a:t>
            </a:r>
            <a:r>
              <a:rPr lang="en-US" sz="2400" dirty="0"/>
              <a:t> </a:t>
            </a:r>
            <a:r>
              <a:rPr lang="en-US" sz="2400" dirty="0" smtClean="0"/>
              <a:t>con </a:t>
            </a:r>
            <a:r>
              <a:rPr lang="en-US" sz="2400" dirty="0" err="1" smtClean="0"/>
              <a:t>trỏ</a:t>
            </a:r>
            <a:r>
              <a:rPr lang="en-US" sz="2400" dirty="0" smtClean="0"/>
              <a:t> </a:t>
            </a:r>
            <a:r>
              <a:rPr lang="en-US" sz="2400" dirty="0" err="1" smtClean="0"/>
              <a:t>là</a:t>
            </a:r>
            <a:r>
              <a:rPr lang="en-US" sz="2400" dirty="0" smtClean="0"/>
              <a:t> </a:t>
            </a:r>
            <a:r>
              <a:rPr lang="en-US" sz="2400" dirty="0" err="1" smtClean="0"/>
              <a:t>một</a:t>
            </a:r>
            <a:r>
              <a:rPr lang="en-US" sz="2400" dirty="0" smtClean="0"/>
              <a:t> </a:t>
            </a:r>
            <a:r>
              <a:rPr lang="en-US" sz="2400" dirty="0" err="1" smtClean="0"/>
              <a:t>biến</a:t>
            </a:r>
            <a:r>
              <a:rPr lang="en-US" sz="2400" dirty="0" smtClean="0"/>
              <a:t> </a:t>
            </a:r>
            <a:r>
              <a:rPr lang="en-US" sz="2400" dirty="0" err="1" smtClean="0"/>
              <a:t>đặc</a:t>
            </a:r>
            <a:r>
              <a:rPr lang="en-US" sz="2400" dirty="0" smtClean="0"/>
              <a:t> </a:t>
            </a:r>
            <a:r>
              <a:rPr lang="en-US" sz="2400" dirty="0" err="1" smtClean="0"/>
              <a:t>biệt</a:t>
            </a:r>
            <a:r>
              <a:rPr lang="en-US" sz="2400" dirty="0" smtClean="0"/>
              <a:t> </a:t>
            </a:r>
            <a:r>
              <a:rPr lang="en-US" sz="2400" dirty="0" err="1" smtClean="0"/>
              <a:t>dùng</a:t>
            </a:r>
            <a:r>
              <a:rPr lang="en-US" sz="2400" dirty="0" smtClean="0"/>
              <a:t> </a:t>
            </a:r>
            <a:r>
              <a:rPr lang="en-US" sz="2400" dirty="0" err="1" smtClean="0"/>
              <a:t>để</a:t>
            </a:r>
            <a:r>
              <a:rPr lang="en-US" sz="2400" dirty="0" smtClean="0"/>
              <a:t> </a:t>
            </a:r>
            <a:r>
              <a:rPr lang="en-US" sz="2400" dirty="0" err="1" smtClean="0"/>
              <a:t>chứa</a:t>
            </a:r>
            <a:r>
              <a:rPr lang="en-US" sz="2400" dirty="0" smtClean="0"/>
              <a:t> </a:t>
            </a:r>
            <a:r>
              <a:rPr lang="en-US" sz="2400" dirty="0" err="1" smtClean="0"/>
              <a:t>địa</a:t>
            </a:r>
            <a:r>
              <a:rPr lang="en-US" sz="2400" dirty="0" smtClean="0"/>
              <a:t> </a:t>
            </a:r>
            <a:r>
              <a:rPr lang="en-US" sz="2400" dirty="0" err="1" smtClean="0"/>
              <a:t>chỉ</a:t>
            </a:r>
            <a:r>
              <a:rPr lang="en-US" sz="2400" dirty="0" smtClean="0"/>
              <a:t> </a:t>
            </a:r>
            <a:r>
              <a:rPr lang="en-US" sz="2400" dirty="0" err="1" smtClean="0"/>
              <a:t>vùng</a:t>
            </a:r>
            <a:r>
              <a:rPr lang="en-US" sz="2400" dirty="0" smtClean="0"/>
              <a:t> </a:t>
            </a:r>
            <a:r>
              <a:rPr lang="en-US" sz="2400" dirty="0" err="1" smtClean="0"/>
              <a:t>nhớ</a:t>
            </a:r>
            <a:r>
              <a:rPr lang="en-US" sz="2400" dirty="0" smtClean="0"/>
              <a:t> </a:t>
            </a:r>
            <a:r>
              <a:rPr lang="en-US" sz="2400" dirty="0" err="1" smtClean="0"/>
              <a:t>của</a:t>
            </a:r>
            <a:r>
              <a:rPr lang="en-US" sz="2400" dirty="0" smtClean="0"/>
              <a:t> </a:t>
            </a:r>
            <a:r>
              <a:rPr lang="en-US" sz="2400" dirty="0" err="1" smtClean="0"/>
              <a:t>một</a:t>
            </a:r>
            <a:r>
              <a:rPr lang="en-US" sz="2400" dirty="0" smtClean="0"/>
              <a:t> </a:t>
            </a:r>
            <a:r>
              <a:rPr lang="en-US" sz="2400" dirty="0" err="1" smtClean="0"/>
              <a:t>biến</a:t>
            </a:r>
            <a:r>
              <a:rPr lang="en-US" sz="2400" dirty="0" smtClean="0"/>
              <a:t> </a:t>
            </a:r>
            <a:r>
              <a:rPr lang="en-US" sz="2400" dirty="0" err="1" smtClean="0"/>
              <a:t>khác</a:t>
            </a:r>
            <a:r>
              <a:rPr lang="en-US" sz="2400" dirty="0" smtClean="0"/>
              <a:t>.</a:t>
            </a:r>
          </a:p>
          <a:p>
            <a:endParaRPr lang="en-US" sz="2400" dirty="0" smtClean="0"/>
          </a:p>
          <a:p>
            <a:endParaRPr lang="en-US" sz="2400" dirty="0"/>
          </a:p>
          <a:p>
            <a:endParaRPr lang="en-US" sz="2400" dirty="0" smtClean="0"/>
          </a:p>
          <a:p>
            <a:endParaRPr lang="en-US" sz="2400" dirty="0"/>
          </a:p>
          <a:p>
            <a:endParaRPr lang="en-US" sz="2400" dirty="0" smtClean="0"/>
          </a:p>
          <a:p>
            <a:r>
              <a:rPr lang="en-US" sz="2400" dirty="0" err="1" smtClean="0"/>
              <a:t>Khai</a:t>
            </a:r>
            <a:r>
              <a:rPr lang="en-US" sz="2400" dirty="0" smtClean="0"/>
              <a:t> </a:t>
            </a:r>
            <a:r>
              <a:rPr lang="en-US" sz="2400" dirty="0" err="1"/>
              <a:t>báo</a:t>
            </a:r>
            <a:r>
              <a:rPr lang="en-US" sz="2400" dirty="0"/>
              <a:t> 1 </a:t>
            </a:r>
            <a:r>
              <a:rPr lang="en-US" sz="2400" dirty="0" err="1"/>
              <a:t>biến</a:t>
            </a:r>
            <a:r>
              <a:rPr lang="en-US" sz="2400" dirty="0"/>
              <a:t> con </a:t>
            </a:r>
            <a:r>
              <a:rPr lang="en-US" sz="2400" dirty="0" err="1"/>
              <a:t>trỏ</a:t>
            </a:r>
            <a:r>
              <a:rPr lang="en-US" sz="2400" dirty="0"/>
              <a:t>: </a:t>
            </a:r>
            <a:r>
              <a:rPr lang="en-US" sz="2400" dirty="0" err="1"/>
              <a:t>toán</a:t>
            </a:r>
            <a:r>
              <a:rPr lang="en-US" sz="2400" dirty="0"/>
              <a:t> </a:t>
            </a:r>
            <a:r>
              <a:rPr lang="en-US" sz="2400" dirty="0" err="1"/>
              <a:t>tử</a:t>
            </a:r>
            <a:r>
              <a:rPr lang="en-US" sz="2400" dirty="0"/>
              <a:t> *</a:t>
            </a:r>
          </a:p>
          <a:p>
            <a:pPr lvl="1"/>
            <a:r>
              <a:rPr lang="en-US" sz="1600" dirty="0" err="1"/>
              <a:t>int</a:t>
            </a:r>
            <a:r>
              <a:rPr lang="en-US" sz="1600" dirty="0"/>
              <a:t>  *</a:t>
            </a:r>
            <a:r>
              <a:rPr lang="en-US" sz="1600" dirty="0" err="1"/>
              <a:t>ip</a:t>
            </a:r>
            <a:r>
              <a:rPr lang="en-US" sz="1600" dirty="0"/>
              <a:t>;     </a:t>
            </a:r>
            <a:r>
              <a:rPr lang="en-US" sz="1600" dirty="0" err="1"/>
              <a:t>int</a:t>
            </a:r>
            <a:r>
              <a:rPr lang="en-US" sz="1600" dirty="0"/>
              <a:t>*  </a:t>
            </a:r>
            <a:r>
              <a:rPr lang="en-US" sz="1600" dirty="0" err="1"/>
              <a:t>ip</a:t>
            </a:r>
            <a:r>
              <a:rPr lang="en-US" sz="1600" dirty="0"/>
              <a:t>;	</a:t>
            </a:r>
            <a:r>
              <a:rPr lang="en-US" sz="1600" dirty="0" err="1"/>
              <a:t>int</a:t>
            </a:r>
            <a:r>
              <a:rPr lang="en-US" sz="1600" dirty="0"/>
              <a:t>  *   </a:t>
            </a:r>
            <a:r>
              <a:rPr lang="en-US" sz="1600" dirty="0" err="1"/>
              <a:t>ip</a:t>
            </a:r>
            <a:r>
              <a:rPr lang="en-US" sz="1600" dirty="0"/>
              <a:t>;         </a:t>
            </a:r>
          </a:p>
          <a:p>
            <a:pPr lvl="1"/>
            <a:r>
              <a:rPr lang="en-US" sz="1600" dirty="0"/>
              <a:t>double *</a:t>
            </a:r>
            <a:r>
              <a:rPr lang="en-US" sz="1600" dirty="0" err="1"/>
              <a:t>dp</a:t>
            </a:r>
            <a:r>
              <a:rPr lang="en-US" sz="1600" dirty="0"/>
              <a:t>;	</a:t>
            </a:r>
          </a:p>
          <a:p>
            <a:pPr lvl="1"/>
            <a:r>
              <a:rPr lang="en-US" sz="1600" dirty="0"/>
              <a:t>char   *</a:t>
            </a:r>
            <a:r>
              <a:rPr lang="en-US" sz="1600" dirty="0" err="1"/>
              <a:t>ch</a:t>
            </a:r>
            <a:r>
              <a:rPr lang="en-US" sz="1600" dirty="0"/>
              <a:t>      	</a:t>
            </a:r>
          </a:p>
          <a:p>
            <a:pPr lvl="1"/>
            <a:r>
              <a:rPr lang="en-US" altLang="en-US" sz="1600" dirty="0" err="1"/>
              <a:t>int</a:t>
            </a:r>
            <a:r>
              <a:rPr lang="en-US" altLang="en-US" sz="1600" dirty="0"/>
              <a:t> *pi, j;		</a:t>
            </a:r>
          </a:p>
          <a:p>
            <a:pPr lvl="1"/>
            <a:r>
              <a:rPr lang="en-US" altLang="en-US" sz="1600" dirty="0" err="1"/>
              <a:t>int</a:t>
            </a:r>
            <a:r>
              <a:rPr lang="en-US" altLang="en-US" sz="1600" dirty="0"/>
              <a:t>* pi, j;		</a:t>
            </a:r>
          </a:p>
          <a:p>
            <a:pPr lvl="1"/>
            <a:r>
              <a:rPr lang="en-US" altLang="en-US" sz="1600" dirty="0" err="1"/>
              <a:t>int</a:t>
            </a:r>
            <a:r>
              <a:rPr lang="en-US" altLang="en-US" sz="1600" dirty="0"/>
              <a:t> *pi, *j;		</a:t>
            </a:r>
          </a:p>
          <a:p>
            <a:r>
              <a:rPr lang="en-US" sz="2400" dirty="0" err="1" smtClean="0"/>
              <a:t>Kích</a:t>
            </a:r>
            <a:r>
              <a:rPr lang="en-US" sz="2400" dirty="0" smtClean="0"/>
              <a:t> </a:t>
            </a:r>
            <a:r>
              <a:rPr lang="en-US" sz="2400" dirty="0" err="1"/>
              <a:t>thước</a:t>
            </a:r>
            <a:r>
              <a:rPr lang="en-US" sz="2400" dirty="0"/>
              <a:t> </a:t>
            </a:r>
            <a:r>
              <a:rPr lang="en-US" sz="2400" dirty="0" err="1"/>
              <a:t>của</a:t>
            </a:r>
            <a:r>
              <a:rPr lang="en-US" sz="2400" dirty="0"/>
              <a:t> con </a:t>
            </a:r>
            <a:r>
              <a:rPr lang="en-US" sz="2400" dirty="0" err="1"/>
              <a:t>trỏ</a:t>
            </a:r>
            <a:r>
              <a:rPr lang="en-US" sz="2400" dirty="0"/>
              <a:t> </a:t>
            </a:r>
            <a:r>
              <a:rPr lang="en-US" sz="2400" dirty="0" err="1"/>
              <a:t>tương</a:t>
            </a:r>
            <a:r>
              <a:rPr lang="en-US" sz="2400" dirty="0"/>
              <a:t> </a:t>
            </a:r>
            <a:r>
              <a:rPr lang="en-US" sz="2400" dirty="0" err="1"/>
              <a:t>đương</a:t>
            </a:r>
            <a:r>
              <a:rPr lang="en-US" sz="2400" dirty="0"/>
              <a:t> </a:t>
            </a:r>
            <a:r>
              <a:rPr lang="en-US" sz="2400" dirty="0" err="1" smtClean="0"/>
              <a:t>kích</a:t>
            </a:r>
            <a:r>
              <a:rPr lang="en-US" sz="2400" dirty="0" smtClean="0"/>
              <a:t> </a:t>
            </a:r>
            <a:r>
              <a:rPr lang="en-US" sz="2400" dirty="0" err="1" smtClean="0"/>
              <a:t>thước</a:t>
            </a:r>
            <a:r>
              <a:rPr lang="en-US" sz="2400" dirty="0" smtClean="0"/>
              <a:t> </a:t>
            </a:r>
            <a:r>
              <a:rPr lang="en-US" sz="2400" dirty="0" err="1" smtClean="0"/>
              <a:t>của</a:t>
            </a:r>
            <a:r>
              <a:rPr lang="en-US" sz="2400" dirty="0" smtClean="0"/>
              <a:t> </a:t>
            </a:r>
            <a:r>
              <a:rPr lang="en-US" sz="2400" dirty="0" err="1"/>
              <a:t>int</a:t>
            </a:r>
            <a:endParaRPr lang="en-US" sz="2400" dirty="0" smtClean="0"/>
          </a:p>
        </p:txBody>
      </p:sp>
      <p:grpSp>
        <p:nvGrpSpPr>
          <p:cNvPr id="3" name="Group 2"/>
          <p:cNvGrpSpPr/>
          <p:nvPr/>
        </p:nvGrpSpPr>
        <p:grpSpPr>
          <a:xfrm>
            <a:off x="2819400" y="1592311"/>
            <a:ext cx="2936208" cy="1905000"/>
            <a:chOff x="2819400" y="1592311"/>
            <a:chExt cx="2936208" cy="1905000"/>
          </a:xfrm>
        </p:grpSpPr>
        <p:pic>
          <p:nvPicPr>
            <p:cNvPr id="20" name="Picture 19"/>
            <p:cNvPicPr>
              <a:picLocks noChangeAspect="1"/>
            </p:cNvPicPr>
            <p:nvPr/>
          </p:nvPicPr>
          <p:blipFill>
            <a:blip r:embed="rId3"/>
            <a:stretch>
              <a:fillRect/>
            </a:stretch>
          </p:blipFill>
          <p:spPr>
            <a:xfrm>
              <a:off x="2819400" y="1592311"/>
              <a:ext cx="2936208" cy="1905000"/>
            </a:xfrm>
            <a:prstGeom prst="rect">
              <a:avLst/>
            </a:prstGeom>
          </p:spPr>
        </p:pic>
        <p:sp>
          <p:nvSpPr>
            <p:cNvPr id="2" name="Rectangle 1"/>
            <p:cNvSpPr/>
            <p:nvPr/>
          </p:nvSpPr>
          <p:spPr>
            <a:xfrm>
              <a:off x="2997200" y="1797050"/>
              <a:ext cx="762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64943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6B269CE-12F4-4F4F-BF2F-21E0A343DA44}" type="slidenum">
              <a:rPr lang="en-US" smtClean="0"/>
              <a:pPr/>
              <a:t>9</a:t>
            </a:fld>
            <a:endParaRPr lang="en-US"/>
          </a:p>
        </p:txBody>
      </p:sp>
      <p:sp>
        <p:nvSpPr>
          <p:cNvPr id="6" name="Title 5"/>
          <p:cNvSpPr>
            <a:spLocks noGrp="1"/>
          </p:cNvSpPr>
          <p:nvPr>
            <p:ph type="title"/>
          </p:nvPr>
        </p:nvSpPr>
        <p:spPr/>
        <p:txBody>
          <a:bodyPr/>
          <a:lstStyle/>
          <a:p>
            <a:r>
              <a:rPr lang="en-US" dirty="0" smtClean="0"/>
              <a:t>Con </a:t>
            </a:r>
            <a:r>
              <a:rPr lang="en-US" dirty="0" err="1" smtClean="0"/>
              <a:t>trỏ</a:t>
            </a:r>
            <a:endParaRPr lang="vi-VN" dirty="0"/>
          </a:p>
        </p:txBody>
      </p:sp>
      <p:sp>
        <p:nvSpPr>
          <p:cNvPr id="7" name="Content Placeholder 6"/>
          <p:cNvSpPr>
            <a:spLocks noGrp="1"/>
          </p:cNvSpPr>
          <p:nvPr>
            <p:ph type="body" sz="quarter" idx="13"/>
          </p:nvPr>
        </p:nvSpPr>
        <p:spPr/>
        <p:txBody>
          <a:bodyPr/>
          <a:lstStyle/>
          <a:p>
            <a:r>
              <a:rPr lang="en-US" sz="2400" dirty="0" err="1"/>
              <a:t>Toán</a:t>
            </a:r>
            <a:r>
              <a:rPr lang="en-US" sz="2400" dirty="0"/>
              <a:t> </a:t>
            </a:r>
            <a:r>
              <a:rPr lang="en-US" sz="2400" dirty="0" err="1"/>
              <a:t>tử</a:t>
            </a:r>
            <a:r>
              <a:rPr lang="en-US" sz="2400" dirty="0"/>
              <a:t> </a:t>
            </a:r>
            <a:r>
              <a:rPr lang="en-US" sz="2400" dirty="0" err="1"/>
              <a:t>địa</a:t>
            </a:r>
            <a:r>
              <a:rPr lang="en-US" sz="2400" dirty="0"/>
              <a:t> </a:t>
            </a:r>
            <a:r>
              <a:rPr lang="en-US" sz="2400" dirty="0" err="1"/>
              <a:t>chỉ</a:t>
            </a:r>
            <a:r>
              <a:rPr lang="en-US" sz="2400" dirty="0"/>
              <a:t> &amp; </a:t>
            </a:r>
            <a:r>
              <a:rPr lang="en-US" sz="2400" dirty="0" err="1"/>
              <a:t>dùng</a:t>
            </a:r>
            <a:r>
              <a:rPr lang="en-US" sz="2400" dirty="0"/>
              <a:t> </a:t>
            </a:r>
            <a:r>
              <a:rPr lang="en-US" sz="2400" dirty="0" err="1"/>
              <a:t>để</a:t>
            </a:r>
            <a:r>
              <a:rPr lang="en-US" sz="2400" dirty="0"/>
              <a:t> </a:t>
            </a:r>
            <a:r>
              <a:rPr lang="en-US" sz="2400" dirty="0" err="1"/>
              <a:t>lấy</a:t>
            </a:r>
            <a:r>
              <a:rPr lang="en-US" sz="2400" dirty="0"/>
              <a:t> </a:t>
            </a:r>
            <a:r>
              <a:rPr lang="en-US" sz="2400" dirty="0" err="1"/>
              <a:t>địa</a:t>
            </a:r>
            <a:r>
              <a:rPr lang="en-US" sz="2400" dirty="0"/>
              <a:t> </a:t>
            </a:r>
            <a:r>
              <a:rPr lang="en-US" sz="2400" dirty="0" err="1"/>
              <a:t>chỉ</a:t>
            </a:r>
            <a:r>
              <a:rPr lang="en-US" sz="2400" dirty="0"/>
              <a:t> </a:t>
            </a:r>
            <a:r>
              <a:rPr lang="en-US" sz="2400" dirty="0" err="1"/>
              <a:t>của</a:t>
            </a:r>
            <a:r>
              <a:rPr lang="en-US" sz="2400" dirty="0"/>
              <a:t> </a:t>
            </a:r>
            <a:r>
              <a:rPr lang="en-US" sz="2400" dirty="0" err="1"/>
              <a:t>một</a:t>
            </a:r>
            <a:r>
              <a:rPr lang="en-US" sz="2400" dirty="0"/>
              <a:t> </a:t>
            </a:r>
            <a:r>
              <a:rPr lang="en-US" sz="2400" dirty="0" err="1"/>
              <a:t>biến</a:t>
            </a:r>
            <a:r>
              <a:rPr lang="en-US" sz="2400" dirty="0"/>
              <a:t>.</a:t>
            </a:r>
          </a:p>
          <a:p>
            <a:r>
              <a:rPr lang="en-US" sz="2400" dirty="0" err="1" smtClean="0"/>
              <a:t>Gán</a:t>
            </a:r>
            <a:r>
              <a:rPr lang="en-US" sz="2400" dirty="0" smtClean="0"/>
              <a:t> </a:t>
            </a:r>
            <a:r>
              <a:rPr lang="en-US" sz="2400" dirty="0" err="1"/>
              <a:t>địa</a:t>
            </a:r>
            <a:r>
              <a:rPr lang="en-US" sz="2400" dirty="0"/>
              <a:t> </a:t>
            </a:r>
            <a:r>
              <a:rPr lang="en-US" sz="2400" dirty="0" err="1"/>
              <a:t>chỉ</a:t>
            </a:r>
            <a:r>
              <a:rPr lang="en-US" sz="2400" dirty="0"/>
              <a:t> </a:t>
            </a:r>
            <a:r>
              <a:rPr lang="en-US" sz="2400" dirty="0" err="1"/>
              <a:t>mới</a:t>
            </a:r>
            <a:r>
              <a:rPr lang="en-US" sz="2400" dirty="0"/>
              <a:t> </a:t>
            </a:r>
            <a:r>
              <a:rPr lang="en-US" sz="2400" dirty="0" err="1"/>
              <a:t>cho</a:t>
            </a:r>
            <a:r>
              <a:rPr lang="en-US" sz="2400" dirty="0"/>
              <a:t> con </a:t>
            </a:r>
            <a:r>
              <a:rPr lang="en-US" sz="2400" dirty="0" err="1" smtClean="0"/>
              <a:t>trỏ</a:t>
            </a:r>
            <a:endParaRPr lang="en-US" sz="2400" dirty="0" smtClean="0"/>
          </a:p>
          <a:p>
            <a:pPr lvl="1"/>
            <a:r>
              <a:rPr lang="en-US" sz="1600" dirty="0" err="1" smtClean="0">
                <a:latin typeface="Courier New" pitchFamily="49" charset="0"/>
                <a:cs typeface="Courier New" pitchFamily="49" charset="0"/>
              </a:rPr>
              <a:t>int</a:t>
            </a:r>
            <a:r>
              <a:rPr lang="en-US" sz="1600" dirty="0" smtClean="0">
                <a:latin typeface="Courier New" pitchFamily="49" charset="0"/>
                <a:cs typeface="Courier New" pitchFamily="49" charset="0"/>
              </a:rPr>
              <a:t> *</a:t>
            </a:r>
            <a:r>
              <a:rPr lang="en-US" sz="1600" dirty="0" err="1" smtClean="0">
                <a:latin typeface="Courier New" pitchFamily="49" charset="0"/>
                <a:cs typeface="Courier New" pitchFamily="49" charset="0"/>
              </a:rPr>
              <a:t>pInt</a:t>
            </a:r>
            <a:r>
              <a:rPr lang="en-US" sz="1600" dirty="0" smtClean="0">
                <a:latin typeface="Courier New" pitchFamily="49" charset="0"/>
                <a:cs typeface="Courier New" pitchFamily="49" charset="0"/>
              </a:rPr>
              <a:t>, *pInt2, iNT3;</a:t>
            </a:r>
          </a:p>
          <a:p>
            <a:pPr lvl="1">
              <a:buNone/>
            </a:pPr>
            <a:r>
              <a:rPr lang="en-US" sz="1600" dirty="0">
                <a:latin typeface="Courier New" pitchFamily="49" charset="0"/>
                <a:cs typeface="Courier New" pitchFamily="49" charset="0"/>
              </a:rPr>
              <a:t>	pInt2 = </a:t>
            </a:r>
            <a:r>
              <a:rPr lang="en-US" sz="1600" dirty="0" err="1">
                <a:latin typeface="Courier New" pitchFamily="49" charset="0"/>
                <a:cs typeface="Courier New" pitchFamily="49" charset="0"/>
              </a:rPr>
              <a:t>pInt</a:t>
            </a:r>
            <a:r>
              <a:rPr lang="en-US" sz="1600" dirty="0">
                <a:latin typeface="Courier New" pitchFamily="49" charset="0"/>
                <a:cs typeface="Courier New" pitchFamily="49" charset="0"/>
              </a:rPr>
              <a:t>;</a:t>
            </a:r>
          </a:p>
          <a:p>
            <a:pPr lvl="1">
              <a:buNone/>
            </a:pPr>
            <a:r>
              <a:rPr lang="en-US" sz="1600" dirty="0">
                <a:latin typeface="Courier New" pitchFamily="49" charset="0"/>
                <a:cs typeface="Courier New" pitchFamily="49" charset="0"/>
              </a:rPr>
              <a:t> </a:t>
            </a:r>
            <a:r>
              <a:rPr lang="en-US" sz="1600" dirty="0" smtClean="0">
                <a:latin typeface="Courier New" pitchFamily="49" charset="0"/>
                <a:cs typeface="Courier New" pitchFamily="49" charset="0"/>
              </a:rPr>
              <a:t>pInt2 </a:t>
            </a:r>
            <a:r>
              <a:rPr lang="en-US" sz="1600" dirty="0">
                <a:latin typeface="Courier New" pitchFamily="49" charset="0"/>
                <a:cs typeface="Courier New" pitchFamily="49" charset="0"/>
              </a:rPr>
              <a:t>= &amp;iNT3;</a:t>
            </a:r>
          </a:p>
          <a:p>
            <a:r>
              <a:rPr lang="en-US" sz="2400" dirty="0" err="1" smtClean="0"/>
              <a:t>Truy</a:t>
            </a:r>
            <a:r>
              <a:rPr lang="en-US" sz="2400" dirty="0" smtClean="0"/>
              <a:t> </a:t>
            </a:r>
            <a:r>
              <a:rPr lang="en-US" sz="2400" dirty="0" err="1" smtClean="0"/>
              <a:t>xuất</a:t>
            </a:r>
            <a:r>
              <a:rPr lang="en-US" sz="2400" dirty="0" smtClean="0"/>
              <a:t> </a:t>
            </a:r>
            <a:r>
              <a:rPr lang="en-US" sz="2400" dirty="0" err="1" smtClean="0"/>
              <a:t>vùng</a:t>
            </a:r>
            <a:r>
              <a:rPr lang="en-US" sz="2400" dirty="0" smtClean="0"/>
              <a:t> </a:t>
            </a:r>
            <a:r>
              <a:rPr lang="en-US" sz="2400" dirty="0" err="1" smtClean="0"/>
              <a:t>nhớ</a:t>
            </a:r>
            <a:r>
              <a:rPr lang="en-US" sz="2400" dirty="0" smtClean="0"/>
              <a:t> con </a:t>
            </a:r>
            <a:r>
              <a:rPr lang="en-US" sz="2400" dirty="0" err="1" smtClean="0"/>
              <a:t>trỏ</a:t>
            </a:r>
            <a:r>
              <a:rPr lang="en-US" sz="2400" dirty="0" smtClean="0"/>
              <a:t> </a:t>
            </a:r>
            <a:r>
              <a:rPr lang="en-US" sz="2400" dirty="0" err="1"/>
              <a:t>trỏ</a:t>
            </a:r>
            <a:r>
              <a:rPr lang="en-US" sz="2400" dirty="0"/>
              <a:t> </a:t>
            </a:r>
            <a:r>
              <a:rPr lang="en-US" sz="2400" dirty="0" err="1" smtClean="0"/>
              <a:t>tới</a:t>
            </a:r>
            <a:r>
              <a:rPr lang="en-US" sz="2400" dirty="0" smtClean="0"/>
              <a:t> (</a:t>
            </a:r>
            <a:r>
              <a:rPr lang="en-US" sz="2400" dirty="0" err="1" smtClean="0"/>
              <a:t>toán</a:t>
            </a:r>
            <a:r>
              <a:rPr lang="en-US" sz="2400" dirty="0" smtClean="0"/>
              <a:t> </a:t>
            </a:r>
            <a:r>
              <a:rPr lang="en-US" sz="2400" dirty="0" err="1" smtClean="0"/>
              <a:t>tử</a:t>
            </a:r>
            <a:r>
              <a:rPr lang="en-US" sz="2400" dirty="0" smtClean="0"/>
              <a:t> *):</a:t>
            </a:r>
          </a:p>
          <a:p>
            <a:pPr lvl="1"/>
            <a:r>
              <a:rPr lang="en-US" sz="1600" dirty="0" err="1" smtClean="0">
                <a:latin typeface="Courier New" pitchFamily="49" charset="0"/>
                <a:cs typeface="Courier New" pitchFamily="49" charset="0"/>
              </a:rPr>
              <a:t>int</a:t>
            </a:r>
            <a:r>
              <a:rPr lang="en-US" sz="1600" dirty="0" smtClean="0">
                <a:latin typeface="Courier New" pitchFamily="49" charset="0"/>
                <a:cs typeface="Courier New" pitchFamily="49" charset="0"/>
              </a:rPr>
              <a:t> </a:t>
            </a:r>
            <a:r>
              <a:rPr lang="en-US" sz="1600" dirty="0" err="1" smtClean="0">
                <a:latin typeface="Courier New" pitchFamily="49" charset="0"/>
                <a:cs typeface="Courier New" pitchFamily="49" charset="0"/>
              </a:rPr>
              <a:t>aInt</a:t>
            </a:r>
            <a:r>
              <a:rPr lang="en-US" sz="1600" dirty="0" smtClean="0">
                <a:latin typeface="Courier New" pitchFamily="49" charset="0"/>
                <a:cs typeface="Courier New" pitchFamily="49" charset="0"/>
              </a:rPr>
              <a:t> = *</a:t>
            </a:r>
            <a:r>
              <a:rPr lang="en-US" sz="1600" dirty="0" err="1" smtClean="0">
                <a:latin typeface="Courier New" pitchFamily="49" charset="0"/>
                <a:cs typeface="Courier New" pitchFamily="49" charset="0"/>
              </a:rPr>
              <a:t>pInt</a:t>
            </a:r>
            <a:r>
              <a:rPr lang="en-US" sz="1600" dirty="0" smtClean="0">
                <a:latin typeface="Courier New" pitchFamily="49" charset="0"/>
                <a:cs typeface="Courier New" pitchFamily="49" charset="0"/>
              </a:rPr>
              <a:t>; </a:t>
            </a:r>
          </a:p>
          <a:p>
            <a:pPr lvl="1"/>
            <a:r>
              <a:rPr lang="en-US" sz="1600" dirty="0" smtClean="0">
                <a:latin typeface="Courier New" pitchFamily="49" charset="0"/>
                <a:cs typeface="Courier New" pitchFamily="49" charset="0"/>
              </a:rPr>
              <a:t>*</a:t>
            </a:r>
            <a:r>
              <a:rPr lang="en-US" sz="1600" dirty="0" err="1" smtClean="0">
                <a:latin typeface="Courier New" pitchFamily="49" charset="0"/>
                <a:cs typeface="Courier New" pitchFamily="49" charset="0"/>
              </a:rPr>
              <a:t>pChar</a:t>
            </a:r>
            <a:r>
              <a:rPr lang="en-US" sz="1600" dirty="0" smtClean="0">
                <a:latin typeface="Courier New" pitchFamily="49" charset="0"/>
                <a:cs typeface="Courier New" pitchFamily="49" charset="0"/>
              </a:rPr>
              <a:t> = 'A';</a:t>
            </a:r>
          </a:p>
          <a:p>
            <a:pPr lvl="1"/>
            <a:r>
              <a:rPr lang="en-US" sz="1600" dirty="0" smtClean="0">
                <a:latin typeface="Courier New" pitchFamily="49" charset="0"/>
                <a:cs typeface="Courier New" pitchFamily="49" charset="0"/>
              </a:rPr>
              <a:t>char </a:t>
            </a:r>
            <a:r>
              <a:rPr lang="en-US" sz="1600" dirty="0">
                <a:latin typeface="Courier New" pitchFamily="49" charset="0"/>
                <a:cs typeface="Courier New" pitchFamily="49" charset="0"/>
              </a:rPr>
              <a:t>s[10] ;</a:t>
            </a:r>
          </a:p>
          <a:p>
            <a:pPr lvl="1" indent="0">
              <a:buNone/>
            </a:pPr>
            <a:r>
              <a:rPr lang="en-US" sz="1600" dirty="0">
                <a:latin typeface="Courier New" pitchFamily="49" charset="0"/>
                <a:cs typeface="Courier New" pitchFamily="49" charset="0"/>
              </a:rPr>
              <a:t>char * </a:t>
            </a:r>
            <a:r>
              <a:rPr lang="en-US" sz="1600" dirty="0" err="1">
                <a:latin typeface="Courier New" pitchFamily="49" charset="0"/>
                <a:cs typeface="Courier New" pitchFamily="49" charset="0"/>
              </a:rPr>
              <a:t>ps</a:t>
            </a:r>
            <a:r>
              <a:rPr lang="en-US" sz="1600" dirty="0">
                <a:latin typeface="Courier New" pitchFamily="49" charset="0"/>
                <a:cs typeface="Courier New" pitchFamily="49" charset="0"/>
              </a:rPr>
              <a:t> = s ; </a:t>
            </a:r>
            <a:endParaRPr lang="en-US" sz="1600" dirty="0" smtClean="0">
              <a:latin typeface="Courier New" pitchFamily="49" charset="0"/>
              <a:cs typeface="Courier New" pitchFamily="49" charset="0"/>
            </a:endParaRPr>
          </a:p>
          <a:p>
            <a:pPr lvl="1" indent="0">
              <a:buNone/>
            </a:pPr>
            <a:r>
              <a:rPr lang="en-US" sz="1600" dirty="0" err="1" smtClean="0">
                <a:latin typeface="Courier New" pitchFamily="49" charset="0"/>
                <a:cs typeface="Courier New" pitchFamily="49" charset="0"/>
              </a:rPr>
              <a:t>ps</a:t>
            </a:r>
            <a:r>
              <a:rPr lang="en-US" sz="1600" dirty="0" smtClean="0">
                <a:latin typeface="Courier New" pitchFamily="49" charset="0"/>
                <a:cs typeface="Courier New" pitchFamily="49" charset="0"/>
              </a:rPr>
              <a:t>[0</a:t>
            </a:r>
            <a:r>
              <a:rPr lang="en-US" sz="1600" dirty="0">
                <a:latin typeface="Courier New" pitchFamily="49" charset="0"/>
                <a:cs typeface="Courier New" pitchFamily="49" charset="0"/>
              </a:rPr>
              <a:t>] = ‘H’ ;</a:t>
            </a:r>
          </a:p>
          <a:p>
            <a:pPr lvl="1" indent="0">
              <a:buNone/>
            </a:pPr>
            <a:r>
              <a:rPr lang="en-US" sz="1600" dirty="0" err="1">
                <a:latin typeface="Courier New" pitchFamily="49" charset="0"/>
                <a:cs typeface="Courier New" pitchFamily="49" charset="0"/>
              </a:rPr>
              <a:t>ps</a:t>
            </a:r>
            <a:r>
              <a:rPr lang="en-US" sz="1600" dirty="0">
                <a:latin typeface="Courier New" pitchFamily="49" charset="0"/>
                <a:cs typeface="Courier New" pitchFamily="49" charset="0"/>
              </a:rPr>
              <a:t>[1] = ‘I’ ;</a:t>
            </a:r>
          </a:p>
          <a:p>
            <a:pPr lvl="1" indent="0">
              <a:buNone/>
            </a:pPr>
            <a:r>
              <a:rPr lang="en-US" sz="1600" dirty="0" err="1">
                <a:latin typeface="Courier New" pitchFamily="49" charset="0"/>
                <a:cs typeface="Courier New" pitchFamily="49" charset="0"/>
              </a:rPr>
              <a:t>ps</a:t>
            </a:r>
            <a:r>
              <a:rPr lang="en-US" sz="1600" dirty="0">
                <a:latin typeface="Courier New" pitchFamily="49" charset="0"/>
                <a:cs typeface="Courier New" pitchFamily="49" charset="0"/>
              </a:rPr>
              <a:t>[2] = ‘\0’ ;</a:t>
            </a:r>
          </a:p>
          <a:p>
            <a:pPr lvl="1"/>
            <a:endParaRPr lang="en-US" sz="2100" dirty="0" smtClean="0">
              <a:latin typeface="Courier New" pitchFamily="49" charset="0"/>
              <a:cs typeface="Courier New" pitchFamily="49" charset="0"/>
            </a:endParaRPr>
          </a:p>
        </p:txBody>
      </p:sp>
      <p:sp>
        <p:nvSpPr>
          <p:cNvPr id="18" name="Rectangle 17"/>
          <p:cNvSpPr/>
          <p:nvPr/>
        </p:nvSpPr>
        <p:spPr>
          <a:xfrm>
            <a:off x="209551" y="5318809"/>
            <a:ext cx="6573296" cy="646331"/>
          </a:xfrm>
          <a:prstGeom prst="rect">
            <a:avLst/>
          </a:prstGeom>
        </p:spPr>
        <p:txBody>
          <a:bodyPr wrap="square">
            <a:spAutoFit/>
          </a:bodyPr>
          <a:lstStyle/>
          <a:p>
            <a:r>
              <a:rPr lang="en-US" dirty="0">
                <a:solidFill>
                  <a:srgbClr val="FF0000"/>
                </a:solidFill>
              </a:rPr>
              <a:t>&amp; </a:t>
            </a:r>
            <a:r>
              <a:rPr lang="en-US" dirty="0" err="1">
                <a:solidFill>
                  <a:srgbClr val="FF0000"/>
                </a:solidFill>
              </a:rPr>
              <a:t>là</a:t>
            </a:r>
            <a:r>
              <a:rPr lang="en-US" dirty="0">
                <a:solidFill>
                  <a:srgbClr val="FF0000"/>
                </a:solidFill>
              </a:rPr>
              <a:t> </a:t>
            </a:r>
            <a:r>
              <a:rPr lang="en-US" dirty="0" err="1">
                <a:solidFill>
                  <a:srgbClr val="FF0000"/>
                </a:solidFill>
              </a:rPr>
              <a:t>toán</a:t>
            </a:r>
            <a:r>
              <a:rPr lang="en-US" dirty="0">
                <a:solidFill>
                  <a:srgbClr val="FF0000"/>
                </a:solidFill>
              </a:rPr>
              <a:t> </a:t>
            </a:r>
            <a:r>
              <a:rPr lang="en-US" dirty="0" err="1">
                <a:solidFill>
                  <a:srgbClr val="FF0000"/>
                </a:solidFill>
              </a:rPr>
              <a:t>tử</a:t>
            </a:r>
            <a:r>
              <a:rPr lang="en-US" dirty="0">
                <a:solidFill>
                  <a:srgbClr val="FF0000"/>
                </a:solidFill>
              </a:rPr>
              <a:t> </a:t>
            </a:r>
            <a:r>
              <a:rPr lang="en-US" dirty="0" err="1">
                <a:solidFill>
                  <a:srgbClr val="FF0000"/>
                </a:solidFill>
              </a:rPr>
              <a:t>ngược</a:t>
            </a:r>
            <a:r>
              <a:rPr lang="en-US" dirty="0">
                <a:solidFill>
                  <a:srgbClr val="FF0000"/>
                </a:solidFill>
              </a:rPr>
              <a:t> </a:t>
            </a:r>
            <a:r>
              <a:rPr lang="en-US" dirty="0" err="1">
                <a:solidFill>
                  <a:srgbClr val="FF0000"/>
                </a:solidFill>
              </a:rPr>
              <a:t>với</a:t>
            </a:r>
            <a:r>
              <a:rPr lang="en-US" dirty="0">
                <a:solidFill>
                  <a:srgbClr val="FF0000"/>
                </a:solidFill>
              </a:rPr>
              <a:t> *, </a:t>
            </a:r>
            <a:r>
              <a:rPr lang="en-US" dirty="0" err="1">
                <a:solidFill>
                  <a:srgbClr val="FF0000"/>
                </a:solidFill>
              </a:rPr>
              <a:t>với</a:t>
            </a:r>
            <a:r>
              <a:rPr lang="en-US" dirty="0">
                <a:solidFill>
                  <a:srgbClr val="FF0000"/>
                </a:solidFill>
              </a:rPr>
              <a:t> </a:t>
            </a:r>
            <a:r>
              <a:rPr lang="en-US" dirty="0" err="1">
                <a:solidFill>
                  <a:srgbClr val="FF0000"/>
                </a:solidFill>
              </a:rPr>
              <a:t>một</a:t>
            </a:r>
            <a:r>
              <a:rPr lang="en-US" dirty="0">
                <a:solidFill>
                  <a:srgbClr val="FF0000"/>
                </a:solidFill>
              </a:rPr>
              <a:t> </a:t>
            </a:r>
            <a:r>
              <a:rPr lang="en-US" dirty="0" err="1">
                <a:solidFill>
                  <a:srgbClr val="FF0000"/>
                </a:solidFill>
              </a:rPr>
              <a:t>biến</a:t>
            </a:r>
            <a:r>
              <a:rPr lang="en-US" dirty="0">
                <a:solidFill>
                  <a:srgbClr val="FF0000"/>
                </a:solidFill>
              </a:rPr>
              <a:t> a </a:t>
            </a:r>
            <a:r>
              <a:rPr lang="en-US" dirty="0" err="1">
                <a:solidFill>
                  <a:srgbClr val="FF0000"/>
                </a:solidFill>
              </a:rPr>
              <a:t>bất</a:t>
            </a:r>
            <a:r>
              <a:rPr lang="en-US" dirty="0">
                <a:solidFill>
                  <a:srgbClr val="FF0000"/>
                </a:solidFill>
              </a:rPr>
              <a:t> </a:t>
            </a:r>
            <a:r>
              <a:rPr lang="en-US" dirty="0" err="1">
                <a:solidFill>
                  <a:srgbClr val="FF0000"/>
                </a:solidFill>
              </a:rPr>
              <a:t>kỳ</a:t>
            </a:r>
            <a:r>
              <a:rPr lang="en-US" dirty="0">
                <a:solidFill>
                  <a:srgbClr val="FF0000"/>
                </a:solidFill>
              </a:rPr>
              <a:t> </a:t>
            </a:r>
            <a:r>
              <a:rPr lang="en-US" dirty="0" err="1">
                <a:solidFill>
                  <a:srgbClr val="FF0000"/>
                </a:solidFill>
              </a:rPr>
              <a:t>thì</a:t>
            </a:r>
            <a:r>
              <a:rPr lang="en-US" dirty="0">
                <a:solidFill>
                  <a:srgbClr val="FF0000"/>
                </a:solidFill>
              </a:rPr>
              <a:t> *&amp;a </a:t>
            </a:r>
            <a:r>
              <a:rPr lang="en-US" dirty="0" err="1">
                <a:solidFill>
                  <a:srgbClr val="FF0000"/>
                </a:solidFill>
              </a:rPr>
              <a:t>tương</a:t>
            </a:r>
            <a:r>
              <a:rPr lang="en-US" dirty="0">
                <a:solidFill>
                  <a:srgbClr val="FF0000"/>
                </a:solidFill>
              </a:rPr>
              <a:t> </a:t>
            </a:r>
            <a:r>
              <a:rPr lang="en-US" dirty="0" err="1">
                <a:solidFill>
                  <a:srgbClr val="FF0000"/>
                </a:solidFill>
              </a:rPr>
              <a:t>đương</a:t>
            </a:r>
            <a:r>
              <a:rPr lang="en-US" dirty="0">
                <a:solidFill>
                  <a:srgbClr val="FF0000"/>
                </a:solidFill>
              </a:rPr>
              <a:t> </a:t>
            </a:r>
            <a:r>
              <a:rPr lang="en-US" dirty="0" err="1">
                <a:solidFill>
                  <a:srgbClr val="FF0000"/>
                </a:solidFill>
              </a:rPr>
              <a:t>với</a:t>
            </a:r>
            <a:r>
              <a:rPr lang="en-US" dirty="0">
                <a:solidFill>
                  <a:srgbClr val="FF0000"/>
                </a:solidFill>
              </a:rPr>
              <a:t> a, </a:t>
            </a:r>
            <a:r>
              <a:rPr lang="en-US" dirty="0" err="1">
                <a:solidFill>
                  <a:srgbClr val="FF0000"/>
                </a:solidFill>
              </a:rPr>
              <a:t>và</a:t>
            </a:r>
            <a:r>
              <a:rPr lang="en-US" dirty="0">
                <a:solidFill>
                  <a:srgbClr val="FF0000"/>
                </a:solidFill>
              </a:rPr>
              <a:t> </a:t>
            </a:r>
            <a:r>
              <a:rPr lang="en-US" dirty="0" err="1">
                <a:solidFill>
                  <a:srgbClr val="FF0000"/>
                </a:solidFill>
              </a:rPr>
              <a:t>nếu</a:t>
            </a:r>
            <a:r>
              <a:rPr lang="en-US" dirty="0">
                <a:solidFill>
                  <a:srgbClr val="FF0000"/>
                </a:solidFill>
              </a:rPr>
              <a:t> p </a:t>
            </a:r>
            <a:r>
              <a:rPr lang="en-US" dirty="0" err="1">
                <a:solidFill>
                  <a:srgbClr val="FF0000"/>
                </a:solidFill>
              </a:rPr>
              <a:t>là</a:t>
            </a:r>
            <a:r>
              <a:rPr lang="en-US" dirty="0">
                <a:solidFill>
                  <a:srgbClr val="FF0000"/>
                </a:solidFill>
              </a:rPr>
              <a:t> </a:t>
            </a:r>
            <a:r>
              <a:rPr lang="en-US" dirty="0" err="1">
                <a:solidFill>
                  <a:srgbClr val="FF0000"/>
                </a:solidFill>
              </a:rPr>
              <a:t>một</a:t>
            </a:r>
            <a:r>
              <a:rPr lang="en-US" dirty="0">
                <a:solidFill>
                  <a:srgbClr val="FF0000"/>
                </a:solidFill>
              </a:rPr>
              <a:t> con </a:t>
            </a:r>
            <a:r>
              <a:rPr lang="en-US" dirty="0" err="1">
                <a:solidFill>
                  <a:srgbClr val="FF0000"/>
                </a:solidFill>
              </a:rPr>
              <a:t>trỏ</a:t>
            </a:r>
            <a:r>
              <a:rPr lang="en-US" dirty="0">
                <a:solidFill>
                  <a:srgbClr val="FF0000"/>
                </a:solidFill>
              </a:rPr>
              <a:t> </a:t>
            </a:r>
            <a:r>
              <a:rPr lang="en-US" dirty="0" err="1">
                <a:solidFill>
                  <a:srgbClr val="FF0000"/>
                </a:solidFill>
              </a:rPr>
              <a:t>thì</a:t>
            </a:r>
            <a:r>
              <a:rPr lang="en-US" dirty="0">
                <a:solidFill>
                  <a:srgbClr val="FF0000"/>
                </a:solidFill>
              </a:rPr>
              <a:t> &amp;*p </a:t>
            </a:r>
            <a:r>
              <a:rPr lang="en-US" dirty="0" err="1">
                <a:solidFill>
                  <a:srgbClr val="FF0000"/>
                </a:solidFill>
              </a:rPr>
              <a:t>cũng</a:t>
            </a:r>
            <a:r>
              <a:rPr lang="en-US" dirty="0">
                <a:solidFill>
                  <a:srgbClr val="FF0000"/>
                </a:solidFill>
              </a:rPr>
              <a:t> </a:t>
            </a:r>
            <a:r>
              <a:rPr lang="en-US" dirty="0" err="1">
                <a:solidFill>
                  <a:srgbClr val="FF0000"/>
                </a:solidFill>
              </a:rPr>
              <a:t>tương</a:t>
            </a:r>
            <a:r>
              <a:rPr lang="en-US" dirty="0">
                <a:solidFill>
                  <a:srgbClr val="FF0000"/>
                </a:solidFill>
              </a:rPr>
              <a:t> </a:t>
            </a:r>
            <a:r>
              <a:rPr lang="en-US" dirty="0" err="1">
                <a:solidFill>
                  <a:srgbClr val="FF0000"/>
                </a:solidFill>
              </a:rPr>
              <a:t>đương</a:t>
            </a:r>
            <a:r>
              <a:rPr lang="en-US" dirty="0">
                <a:solidFill>
                  <a:srgbClr val="FF0000"/>
                </a:solidFill>
              </a:rPr>
              <a:t> </a:t>
            </a:r>
            <a:r>
              <a:rPr lang="en-US" dirty="0" err="1">
                <a:solidFill>
                  <a:srgbClr val="FF0000"/>
                </a:solidFill>
              </a:rPr>
              <a:t>với</a:t>
            </a:r>
            <a:r>
              <a:rPr lang="en-US" dirty="0">
                <a:solidFill>
                  <a:srgbClr val="FF0000"/>
                </a:solidFill>
              </a:rPr>
              <a:t> p</a:t>
            </a:r>
          </a:p>
        </p:txBody>
      </p:sp>
      <p:sp>
        <p:nvSpPr>
          <p:cNvPr id="10" name="TextBox 9"/>
          <p:cNvSpPr txBox="1"/>
          <p:nvPr/>
        </p:nvSpPr>
        <p:spPr>
          <a:xfrm>
            <a:off x="6890292" y="3740113"/>
            <a:ext cx="735073" cy="2308324"/>
          </a:xfrm>
          <a:prstGeom prst="rect">
            <a:avLst/>
          </a:prstGeom>
          <a:noFill/>
        </p:spPr>
        <p:txBody>
          <a:bodyPr wrap="none" rtlCol="0">
            <a:spAutoFit/>
          </a:bodyPr>
          <a:lstStyle/>
          <a:p>
            <a:r>
              <a:rPr lang="en-US" dirty="0" smtClean="0"/>
              <a:t>*a</a:t>
            </a:r>
          </a:p>
          <a:p>
            <a:r>
              <a:rPr lang="en-US" dirty="0" smtClean="0"/>
              <a:t>*</a:t>
            </a:r>
            <a:r>
              <a:rPr lang="en-US" dirty="0" err="1" smtClean="0"/>
              <a:t>ptr</a:t>
            </a:r>
            <a:endParaRPr lang="en-US" dirty="0" smtClean="0"/>
          </a:p>
          <a:p>
            <a:r>
              <a:rPr lang="en-US" dirty="0" smtClean="0"/>
              <a:t>*&amp;a</a:t>
            </a:r>
          </a:p>
          <a:p>
            <a:r>
              <a:rPr lang="en-US" dirty="0" smtClean="0"/>
              <a:t>*&amp;</a:t>
            </a:r>
            <a:r>
              <a:rPr lang="en-US" dirty="0" err="1" smtClean="0"/>
              <a:t>ptr</a:t>
            </a:r>
            <a:endParaRPr lang="en-US" dirty="0"/>
          </a:p>
          <a:p>
            <a:r>
              <a:rPr lang="en-US" dirty="0" smtClean="0"/>
              <a:t>&amp;*</a:t>
            </a:r>
            <a:r>
              <a:rPr lang="en-US" dirty="0"/>
              <a:t>a</a:t>
            </a:r>
          </a:p>
          <a:p>
            <a:r>
              <a:rPr lang="en-US" dirty="0" smtClean="0"/>
              <a:t>&amp;*</a:t>
            </a:r>
            <a:r>
              <a:rPr lang="en-US" dirty="0" err="1" smtClean="0"/>
              <a:t>ptr</a:t>
            </a:r>
            <a:endParaRPr lang="en-US" dirty="0" smtClean="0"/>
          </a:p>
          <a:p>
            <a:endParaRPr lang="en-US" dirty="0"/>
          </a:p>
          <a:p>
            <a:endParaRPr lang="en-US" dirty="0"/>
          </a:p>
        </p:txBody>
      </p:sp>
      <p:sp>
        <p:nvSpPr>
          <p:cNvPr id="11" name="TextBox 10"/>
          <p:cNvSpPr txBox="1"/>
          <p:nvPr/>
        </p:nvSpPr>
        <p:spPr>
          <a:xfrm>
            <a:off x="7543800" y="3740113"/>
            <a:ext cx="1550040" cy="2031325"/>
          </a:xfrm>
          <a:prstGeom prst="rect">
            <a:avLst/>
          </a:prstGeom>
          <a:noFill/>
        </p:spPr>
        <p:txBody>
          <a:bodyPr wrap="square" rtlCol="0">
            <a:spAutoFit/>
          </a:bodyPr>
          <a:lstStyle/>
          <a:p>
            <a:r>
              <a:rPr lang="en-US" dirty="0" smtClean="0"/>
              <a:t>// invalid</a:t>
            </a:r>
          </a:p>
          <a:p>
            <a:r>
              <a:rPr lang="en-US" dirty="0" smtClean="0"/>
              <a:t>=10</a:t>
            </a:r>
          </a:p>
          <a:p>
            <a:r>
              <a:rPr lang="en-US" dirty="0" smtClean="0"/>
              <a:t>=10</a:t>
            </a:r>
          </a:p>
          <a:p>
            <a:r>
              <a:rPr lang="en-US" dirty="0" smtClean="0"/>
              <a:t>= </a:t>
            </a:r>
            <a:r>
              <a:rPr lang="en-US" dirty="0"/>
              <a:t>0x7fffa075</a:t>
            </a:r>
            <a:endParaRPr lang="en-US" dirty="0" smtClean="0"/>
          </a:p>
          <a:p>
            <a:r>
              <a:rPr lang="en-US" dirty="0"/>
              <a:t>// invalid</a:t>
            </a:r>
          </a:p>
          <a:p>
            <a:r>
              <a:rPr lang="en-US" dirty="0" smtClean="0"/>
              <a:t>= </a:t>
            </a:r>
            <a:r>
              <a:rPr lang="en-US" dirty="0"/>
              <a:t>0x7fffa075</a:t>
            </a:r>
          </a:p>
          <a:p>
            <a:endParaRPr lang="en-US" dirty="0"/>
          </a:p>
        </p:txBody>
      </p:sp>
      <p:grpSp>
        <p:nvGrpSpPr>
          <p:cNvPr id="12" name="Group 11"/>
          <p:cNvGrpSpPr/>
          <p:nvPr/>
        </p:nvGrpSpPr>
        <p:grpSpPr>
          <a:xfrm>
            <a:off x="7010400" y="1100914"/>
            <a:ext cx="1571625" cy="2362200"/>
            <a:chOff x="2133600" y="2888642"/>
            <a:chExt cx="1571625" cy="2362200"/>
          </a:xfrm>
        </p:grpSpPr>
        <p:pic>
          <p:nvPicPr>
            <p:cNvPr id="14" name="Picture 13"/>
            <p:cNvPicPr>
              <a:picLocks noChangeAspect="1"/>
            </p:cNvPicPr>
            <p:nvPr/>
          </p:nvPicPr>
          <p:blipFill>
            <a:blip r:embed="rId3"/>
            <a:stretch>
              <a:fillRect/>
            </a:stretch>
          </p:blipFill>
          <p:spPr>
            <a:xfrm>
              <a:off x="2133600" y="2888642"/>
              <a:ext cx="1571625" cy="2362200"/>
            </a:xfrm>
            <a:prstGeom prst="rect">
              <a:avLst/>
            </a:prstGeom>
          </p:spPr>
        </p:pic>
        <p:sp>
          <p:nvSpPr>
            <p:cNvPr id="15" name="Rectangle 14"/>
            <p:cNvSpPr/>
            <p:nvPr/>
          </p:nvSpPr>
          <p:spPr>
            <a:xfrm>
              <a:off x="2470150" y="3345842"/>
              <a:ext cx="12065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4457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0"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10</a:t>
            </a:fld>
            <a:endParaRPr lang="en-US"/>
          </a:p>
        </p:txBody>
      </p:sp>
      <p:sp>
        <p:nvSpPr>
          <p:cNvPr id="2" name="Title 1"/>
          <p:cNvSpPr>
            <a:spLocks noGrp="1"/>
          </p:cNvSpPr>
          <p:nvPr>
            <p:ph type="title"/>
          </p:nvPr>
        </p:nvSpPr>
        <p:spPr/>
        <p:txBody>
          <a:bodyPr/>
          <a:lstStyle/>
          <a:p>
            <a:r>
              <a:rPr lang="en-US" smtClean="0"/>
              <a:t>Các phép toán với con trỏ</a:t>
            </a:r>
            <a:endParaRPr lang="en-US"/>
          </a:p>
        </p:txBody>
      </p:sp>
      <p:sp>
        <p:nvSpPr>
          <p:cNvPr id="3" name="Content Placeholder 2"/>
          <p:cNvSpPr>
            <a:spLocks noGrp="1"/>
          </p:cNvSpPr>
          <p:nvPr>
            <p:ph type="body" sz="quarter" idx="13"/>
          </p:nvPr>
        </p:nvSpPr>
        <p:spPr/>
        <p:txBody>
          <a:bodyPr/>
          <a:lstStyle/>
          <a:p>
            <a:r>
              <a:rPr lang="en-US" sz="2000" dirty="0" err="1" smtClean="0"/>
              <a:t>Tăng</a:t>
            </a:r>
            <a:r>
              <a:rPr lang="en-US" sz="2000" dirty="0"/>
              <a:t>/</a:t>
            </a:r>
            <a:r>
              <a:rPr lang="en-US" sz="2000" dirty="0" err="1" smtClean="0"/>
              <a:t>giảm</a:t>
            </a:r>
            <a:r>
              <a:rPr lang="en-US" sz="2000" dirty="0" smtClean="0"/>
              <a:t>: </a:t>
            </a:r>
            <a:r>
              <a:rPr lang="en-US" sz="2000" dirty="0" err="1" smtClean="0"/>
              <a:t>để</a:t>
            </a:r>
            <a:r>
              <a:rPr lang="en-US" sz="2000" dirty="0" smtClean="0"/>
              <a:t> </a:t>
            </a:r>
            <a:r>
              <a:rPr lang="en-US" sz="2000" dirty="0" err="1" smtClean="0"/>
              <a:t>thay</a:t>
            </a:r>
            <a:r>
              <a:rPr lang="en-US" sz="2000" dirty="0" smtClean="0"/>
              <a:t> </a:t>
            </a:r>
            <a:r>
              <a:rPr lang="en-US" sz="2000" dirty="0" err="1" smtClean="0"/>
              <a:t>đổi</a:t>
            </a:r>
            <a:r>
              <a:rPr lang="en-US" sz="2000" dirty="0" smtClean="0"/>
              <a:t> con </a:t>
            </a:r>
            <a:r>
              <a:rPr lang="en-US" sz="2000" dirty="0" err="1" smtClean="0"/>
              <a:t>trỏ</a:t>
            </a:r>
            <a:r>
              <a:rPr lang="en-US" sz="2000" dirty="0" smtClean="0"/>
              <a:t> </a:t>
            </a:r>
            <a:r>
              <a:rPr lang="en-US" sz="2000" dirty="0" err="1" smtClean="0"/>
              <a:t>trỏ</a:t>
            </a:r>
            <a:r>
              <a:rPr lang="en-US" sz="2000" dirty="0" smtClean="0"/>
              <a:t> </a:t>
            </a:r>
            <a:r>
              <a:rPr lang="en-US" sz="2000" dirty="0" err="1" smtClean="0"/>
              <a:t>tới</a:t>
            </a:r>
            <a:r>
              <a:rPr lang="en-US" sz="2000" dirty="0" smtClean="0"/>
              <a:t> </a:t>
            </a:r>
            <a:r>
              <a:rPr lang="en-US" sz="2000" dirty="0" err="1" smtClean="0"/>
              <a:t>vị</a:t>
            </a:r>
            <a:r>
              <a:rPr lang="en-US" sz="2000" dirty="0" smtClean="0"/>
              <a:t> </a:t>
            </a:r>
            <a:r>
              <a:rPr lang="en-US" sz="2000" dirty="0" err="1" smtClean="0"/>
              <a:t>trí</a:t>
            </a:r>
            <a:r>
              <a:rPr lang="en-US" sz="2000" dirty="0" smtClean="0"/>
              <a:t> </a:t>
            </a:r>
            <a:r>
              <a:rPr lang="en-US" sz="2000" dirty="0" err="1" smtClean="0"/>
              <a:t>tiếp</a:t>
            </a:r>
            <a:r>
              <a:rPr lang="en-US" sz="2000" dirty="0" smtClean="0"/>
              <a:t> </a:t>
            </a:r>
            <a:r>
              <a:rPr lang="en-US" sz="2000" dirty="0" err="1" smtClean="0"/>
              <a:t>theo</a:t>
            </a:r>
            <a:r>
              <a:rPr lang="en-US" sz="2000" dirty="0" smtClean="0"/>
              <a:t> (</a:t>
            </a:r>
            <a:r>
              <a:rPr lang="en-US" sz="2000" dirty="0" err="1" smtClean="0"/>
              <a:t>tương</a:t>
            </a:r>
            <a:r>
              <a:rPr lang="en-US" sz="2000" dirty="0" smtClean="0"/>
              <a:t> </a:t>
            </a:r>
            <a:r>
              <a:rPr lang="en-US" sz="2000" dirty="0" err="1" smtClean="0"/>
              <a:t>ứng</a:t>
            </a:r>
            <a:r>
              <a:rPr lang="en-US" sz="2000" dirty="0" smtClean="0"/>
              <a:t> </a:t>
            </a:r>
            <a:r>
              <a:rPr lang="en-US" sz="2000" dirty="0" err="1" smtClean="0"/>
              <a:t>với</a:t>
            </a:r>
            <a:r>
              <a:rPr lang="en-US" sz="2000" dirty="0" smtClean="0"/>
              <a:t> </a:t>
            </a:r>
            <a:r>
              <a:rPr lang="en-US" sz="2000" dirty="0" err="1" smtClean="0"/>
              <a:t>kích</a:t>
            </a:r>
            <a:r>
              <a:rPr lang="en-US" sz="2000" dirty="0" smtClean="0"/>
              <a:t> </a:t>
            </a:r>
            <a:r>
              <a:rPr lang="en-US" sz="2000" dirty="0" err="1" smtClean="0"/>
              <a:t>thước</a:t>
            </a:r>
            <a:r>
              <a:rPr lang="en-US" sz="2000" dirty="0" smtClean="0"/>
              <a:t> </a:t>
            </a:r>
            <a:r>
              <a:rPr lang="en-US" sz="2000" dirty="0" err="1" smtClean="0"/>
              <a:t>kiểu</a:t>
            </a:r>
            <a:r>
              <a:rPr lang="en-US" sz="2000" dirty="0" smtClean="0"/>
              <a:t> </a:t>
            </a:r>
            <a:r>
              <a:rPr lang="en-US" sz="2000" dirty="0" err="1" smtClean="0"/>
              <a:t>nó</a:t>
            </a:r>
            <a:r>
              <a:rPr lang="en-US" sz="2000" dirty="0" smtClean="0"/>
              <a:t> </a:t>
            </a:r>
            <a:r>
              <a:rPr lang="en-US" sz="2000" dirty="0" err="1" smtClean="0"/>
              <a:t>trỏ</a:t>
            </a:r>
            <a:r>
              <a:rPr lang="en-US" sz="2000" dirty="0" smtClean="0"/>
              <a:t> </a:t>
            </a:r>
            <a:r>
              <a:rPr lang="en-US" sz="2000" dirty="0" err="1" smtClean="0"/>
              <a:t>tới</a:t>
            </a:r>
            <a:r>
              <a:rPr lang="en-US" sz="2000" dirty="0" smtClean="0"/>
              <a:t>)</a:t>
            </a:r>
          </a:p>
          <a:p>
            <a:endParaRPr lang="en-US" sz="2000" dirty="0" smtClean="0"/>
          </a:p>
          <a:p>
            <a:endParaRPr lang="en-US" sz="2000" dirty="0" smtClean="0"/>
          </a:p>
          <a:p>
            <a:endParaRPr lang="en-US" sz="2000" dirty="0" smtClean="0"/>
          </a:p>
          <a:p>
            <a:endParaRPr lang="en-US" sz="2000" dirty="0" smtClean="0"/>
          </a:p>
          <a:p>
            <a:r>
              <a:rPr lang="en-US" sz="2000" dirty="0" err="1" smtClean="0"/>
              <a:t>Cộng</a:t>
            </a:r>
            <a:r>
              <a:rPr lang="en-US" sz="2000" dirty="0" smtClean="0"/>
              <a:t> </a:t>
            </a:r>
            <a:r>
              <a:rPr lang="en-US" sz="2000" dirty="0" err="1" smtClean="0"/>
              <a:t>địa</a:t>
            </a:r>
            <a:r>
              <a:rPr lang="en-US" sz="2000" dirty="0" smtClean="0"/>
              <a:t> </a:t>
            </a:r>
            <a:r>
              <a:rPr lang="en-US" sz="2000" dirty="0" err="1" smtClean="0"/>
              <a:t>chỉ</a:t>
            </a:r>
            <a:r>
              <a:rPr lang="en-US" sz="2000" dirty="0" smtClean="0"/>
              <a:t>: </a:t>
            </a:r>
            <a:r>
              <a:rPr lang="en-US" sz="2000" dirty="0" err="1" smtClean="0"/>
              <a:t>cũng</a:t>
            </a:r>
            <a:r>
              <a:rPr lang="en-US" sz="2000" dirty="0" smtClean="0"/>
              <a:t> </a:t>
            </a:r>
            <a:r>
              <a:rPr lang="en-US" sz="2000" dirty="0" err="1" smtClean="0"/>
              <a:t>tương</a:t>
            </a:r>
            <a:r>
              <a:rPr lang="en-US" sz="2000" dirty="0" smtClean="0"/>
              <a:t> </a:t>
            </a:r>
            <a:r>
              <a:rPr lang="en-US" sz="2000" dirty="0" err="1" smtClean="0"/>
              <a:t>ứng</a:t>
            </a:r>
            <a:r>
              <a:rPr lang="en-US" sz="2000" dirty="0" smtClean="0"/>
              <a:t> </a:t>
            </a:r>
            <a:r>
              <a:rPr lang="en-US" sz="2000" dirty="0" err="1" smtClean="0"/>
              <a:t>với</a:t>
            </a:r>
            <a:r>
              <a:rPr lang="en-US" sz="2000" dirty="0" smtClean="0"/>
              <a:t> </a:t>
            </a:r>
            <a:r>
              <a:rPr lang="en-US" sz="2000" dirty="0" err="1" smtClean="0"/>
              <a:t>kiểu</a:t>
            </a:r>
            <a:r>
              <a:rPr lang="en-US" sz="2000" dirty="0" smtClean="0"/>
              <a:t> </a:t>
            </a:r>
            <a:r>
              <a:rPr lang="en-US" sz="2000" dirty="0" err="1" smtClean="0"/>
              <a:t>nó</a:t>
            </a:r>
            <a:r>
              <a:rPr lang="en-US" sz="2000" dirty="0" smtClean="0"/>
              <a:t> </a:t>
            </a:r>
            <a:r>
              <a:rPr lang="en-US" sz="2000" dirty="0" err="1" smtClean="0"/>
              <a:t>trỏ</a:t>
            </a:r>
            <a:r>
              <a:rPr lang="en-US" sz="2000" dirty="0" smtClean="0"/>
              <a:t> </a:t>
            </a:r>
            <a:r>
              <a:rPr lang="en-US" sz="2000" dirty="0" err="1" smtClean="0"/>
              <a:t>tới</a:t>
            </a:r>
            <a:endParaRPr lang="en-US" sz="2000" dirty="0" smtClean="0"/>
          </a:p>
          <a:p>
            <a:endParaRPr lang="en-US" sz="2000" dirty="0" smtClean="0"/>
          </a:p>
          <a:p>
            <a:endParaRPr lang="en-US" sz="2000" dirty="0" smtClean="0"/>
          </a:p>
          <a:p>
            <a:endParaRPr lang="en-US" sz="2000" dirty="0" smtClean="0"/>
          </a:p>
          <a:p>
            <a:endParaRPr lang="en-US" sz="2000" dirty="0" smtClean="0"/>
          </a:p>
          <a:p>
            <a:r>
              <a:rPr lang="en-US" sz="2000" dirty="0" smtClean="0"/>
              <a:t>So </a:t>
            </a:r>
            <a:r>
              <a:rPr lang="en-US" sz="2000" dirty="0" err="1" smtClean="0"/>
              <a:t>sánh</a:t>
            </a:r>
            <a:r>
              <a:rPr lang="en-US" sz="2000" dirty="0" smtClean="0"/>
              <a:t>: 2 con </a:t>
            </a:r>
            <a:r>
              <a:rPr lang="en-US" sz="2000" dirty="0" err="1" smtClean="0"/>
              <a:t>trỏ</a:t>
            </a:r>
            <a:r>
              <a:rPr lang="en-US" sz="2000" dirty="0" smtClean="0"/>
              <a:t> </a:t>
            </a:r>
            <a:r>
              <a:rPr lang="en-US" sz="2000" dirty="0" err="1" smtClean="0"/>
              <a:t>cùng</a:t>
            </a:r>
            <a:r>
              <a:rPr lang="en-US" sz="2000" dirty="0" smtClean="0"/>
              <a:t> </a:t>
            </a:r>
            <a:r>
              <a:rPr lang="en-US" sz="2000" dirty="0" err="1" smtClean="0"/>
              <a:t>kiểu</a:t>
            </a:r>
            <a:r>
              <a:rPr lang="en-US" sz="2000" dirty="0" smtClean="0"/>
              <a:t> </a:t>
            </a:r>
            <a:r>
              <a:rPr lang="en-US" sz="2000" dirty="0" err="1" smtClean="0"/>
              <a:t>có</a:t>
            </a:r>
            <a:r>
              <a:rPr lang="en-US" sz="2000" dirty="0" smtClean="0"/>
              <a:t> </a:t>
            </a:r>
            <a:r>
              <a:rPr lang="en-US" sz="2000" dirty="0" err="1" smtClean="0"/>
              <a:t>thể</a:t>
            </a:r>
            <a:r>
              <a:rPr lang="en-US" sz="2000" dirty="0" smtClean="0"/>
              <a:t> </a:t>
            </a:r>
            <a:r>
              <a:rPr lang="en-US" sz="2000" dirty="0" err="1" smtClean="0"/>
              <a:t>được</a:t>
            </a:r>
            <a:r>
              <a:rPr lang="en-US" sz="2000" dirty="0" smtClean="0"/>
              <a:t> so </a:t>
            </a:r>
            <a:r>
              <a:rPr lang="en-US" sz="2000" dirty="0" err="1" smtClean="0"/>
              <a:t>sánh</a:t>
            </a:r>
            <a:r>
              <a:rPr lang="en-US" sz="2000" dirty="0" smtClean="0"/>
              <a:t> </a:t>
            </a:r>
            <a:r>
              <a:rPr lang="en-US" sz="2000" dirty="0" err="1" smtClean="0"/>
              <a:t>địa</a:t>
            </a:r>
            <a:r>
              <a:rPr lang="en-US" sz="2000" dirty="0" smtClean="0"/>
              <a:t> </a:t>
            </a:r>
            <a:r>
              <a:rPr lang="en-US" sz="2000" dirty="0" err="1" smtClean="0"/>
              <a:t>chỉ</a:t>
            </a:r>
            <a:r>
              <a:rPr lang="en-US" sz="2000" dirty="0" smtClean="0"/>
              <a:t> </a:t>
            </a:r>
            <a:r>
              <a:rPr lang="en-US" sz="2000" dirty="0" err="1" smtClean="0"/>
              <a:t>với</a:t>
            </a:r>
            <a:r>
              <a:rPr lang="en-US" sz="2000" dirty="0" smtClean="0"/>
              <a:t> </a:t>
            </a:r>
            <a:r>
              <a:rPr lang="en-US" sz="2000" dirty="0" err="1" smtClean="0"/>
              <a:t>nhau</a:t>
            </a:r>
            <a:r>
              <a:rPr lang="en-US" sz="2000" dirty="0" smtClean="0"/>
              <a:t> </a:t>
            </a:r>
            <a:r>
              <a:rPr lang="en-US" sz="2000" dirty="0" err="1" smtClean="0"/>
              <a:t>như</a:t>
            </a:r>
            <a:r>
              <a:rPr lang="en-US" sz="2000" dirty="0" smtClean="0"/>
              <a:t> 2 </a:t>
            </a:r>
            <a:r>
              <a:rPr lang="en-US" sz="2000" dirty="0" err="1" smtClean="0"/>
              <a:t>số</a:t>
            </a:r>
            <a:r>
              <a:rPr lang="en-US" sz="2000" dirty="0" smtClean="0"/>
              <a:t> </a:t>
            </a:r>
            <a:r>
              <a:rPr lang="en-US" sz="2000" dirty="0" err="1" smtClean="0"/>
              <a:t>nguyên</a:t>
            </a:r>
            <a:r>
              <a:rPr lang="en-US" sz="2000" dirty="0" smtClean="0"/>
              <a:t> (</a:t>
            </a:r>
            <a:r>
              <a:rPr lang="en-US" sz="2000" dirty="0" err="1" smtClean="0"/>
              <a:t>lớn</a:t>
            </a:r>
            <a:r>
              <a:rPr lang="en-US" sz="2000" dirty="0" smtClean="0"/>
              <a:t>, </a:t>
            </a:r>
            <a:r>
              <a:rPr lang="en-US" sz="2000" dirty="0" err="1" smtClean="0"/>
              <a:t>nhỏ</a:t>
            </a:r>
            <a:r>
              <a:rPr lang="en-US" sz="2000" dirty="0" smtClean="0"/>
              <a:t>, </a:t>
            </a:r>
            <a:r>
              <a:rPr lang="en-US" sz="2000" dirty="0" err="1" smtClean="0"/>
              <a:t>bằng</a:t>
            </a:r>
            <a:r>
              <a:rPr lang="en-US" sz="2000" dirty="0" smtClean="0"/>
              <a:t>)</a:t>
            </a:r>
          </a:p>
          <a:p>
            <a:r>
              <a:rPr lang="en-US" sz="2000" dirty="0" smtClean="0"/>
              <a:t>Hai con </a:t>
            </a:r>
            <a:r>
              <a:rPr lang="en-US" sz="2000" dirty="0" err="1" smtClean="0"/>
              <a:t>trỏ</a:t>
            </a:r>
            <a:r>
              <a:rPr lang="en-US" sz="2000" dirty="0" smtClean="0"/>
              <a:t> </a:t>
            </a:r>
            <a:r>
              <a:rPr lang="en-US" sz="2000" dirty="0" err="1" smtClean="0"/>
              <a:t>cùng</a:t>
            </a:r>
            <a:r>
              <a:rPr lang="en-US" sz="2000" dirty="0" smtClean="0"/>
              <a:t> </a:t>
            </a:r>
            <a:r>
              <a:rPr lang="en-US" sz="2000" dirty="0" err="1" smtClean="0"/>
              <a:t>kiểu</a:t>
            </a:r>
            <a:r>
              <a:rPr lang="en-US" sz="2000" dirty="0" smtClean="0"/>
              <a:t> </a:t>
            </a:r>
            <a:r>
              <a:rPr lang="en-US" sz="2000" dirty="0" err="1" smtClean="0"/>
              <a:t>có</a:t>
            </a:r>
            <a:r>
              <a:rPr lang="en-US" sz="2000" dirty="0" smtClean="0"/>
              <a:t> </a:t>
            </a:r>
            <a:r>
              <a:rPr lang="en-US" sz="2000" dirty="0" err="1" smtClean="0"/>
              <a:t>thể</a:t>
            </a:r>
            <a:r>
              <a:rPr lang="en-US" sz="2000" dirty="0" smtClean="0"/>
              <a:t> </a:t>
            </a:r>
            <a:r>
              <a:rPr lang="en-US" sz="2000" dirty="0" err="1" smtClean="0"/>
              <a:t>trừ</a:t>
            </a:r>
            <a:r>
              <a:rPr lang="en-US" sz="2000" dirty="0" smtClean="0"/>
              <a:t> </a:t>
            </a:r>
            <a:r>
              <a:rPr lang="en-US" sz="2000" dirty="0" err="1" smtClean="0"/>
              <a:t>cho</a:t>
            </a:r>
            <a:r>
              <a:rPr lang="en-US" sz="2000" dirty="0" smtClean="0"/>
              <a:t> </a:t>
            </a:r>
            <a:r>
              <a:rPr lang="en-US" sz="2000" dirty="0" err="1" smtClean="0"/>
              <a:t>nhau</a:t>
            </a:r>
            <a:r>
              <a:rPr lang="en-US" sz="2000" dirty="0" smtClean="0"/>
              <a:t> </a:t>
            </a:r>
            <a:r>
              <a:rPr lang="en-US" sz="2000" dirty="0" err="1" smtClean="0"/>
              <a:t>để</a:t>
            </a:r>
            <a:r>
              <a:rPr lang="en-US" sz="2000" dirty="0" smtClean="0"/>
              <a:t> </a:t>
            </a:r>
            <a:r>
              <a:rPr lang="en-US" sz="2000" dirty="0" err="1" smtClean="0"/>
              <a:t>ra</a:t>
            </a:r>
            <a:r>
              <a:rPr lang="en-US" sz="2000" dirty="0" smtClean="0"/>
              <a:t> </a:t>
            </a:r>
            <a:r>
              <a:rPr lang="en-US" sz="2000" dirty="0" err="1" smtClean="0"/>
              <a:t>số</a:t>
            </a:r>
            <a:r>
              <a:rPr lang="en-US" sz="2000" dirty="0" smtClean="0"/>
              <a:t> </a:t>
            </a:r>
            <a:r>
              <a:rPr lang="en-US" sz="2000" dirty="0" err="1" smtClean="0"/>
              <a:t>phần</a:t>
            </a:r>
            <a:r>
              <a:rPr lang="en-US" sz="2000" dirty="0" smtClean="0"/>
              <a:t> </a:t>
            </a:r>
            <a:r>
              <a:rPr lang="en-US" sz="2000" dirty="0" err="1" smtClean="0"/>
              <a:t>tử</a:t>
            </a:r>
            <a:r>
              <a:rPr lang="en-US" sz="2000" dirty="0" smtClean="0"/>
              <a:t> </a:t>
            </a:r>
            <a:r>
              <a:rPr lang="en-US" sz="2000" dirty="0" err="1" smtClean="0"/>
              <a:t>sai</a:t>
            </a:r>
            <a:r>
              <a:rPr lang="en-US" sz="2000" dirty="0" smtClean="0"/>
              <a:t> </a:t>
            </a:r>
            <a:r>
              <a:rPr lang="en-US" sz="2000" dirty="0" err="1" smtClean="0"/>
              <a:t>khác</a:t>
            </a:r>
            <a:endParaRPr lang="en-US" sz="2000" dirty="0" smtClean="0"/>
          </a:p>
        </p:txBody>
      </p:sp>
      <p:graphicFrame>
        <p:nvGraphicFramePr>
          <p:cNvPr id="6" name="Table 5"/>
          <p:cNvGraphicFramePr>
            <a:graphicFrameLocks noGrp="1"/>
          </p:cNvGraphicFramePr>
          <p:nvPr>
            <p:extLst>
              <p:ext uri="{D42A27DB-BD31-4B8C-83A1-F6EECF244321}">
                <p14:modId xmlns:p14="http://schemas.microsoft.com/office/powerpoint/2010/main" val="400285089"/>
              </p:ext>
            </p:extLst>
          </p:nvPr>
        </p:nvGraphicFramePr>
        <p:xfrm>
          <a:off x="457200" y="1600200"/>
          <a:ext cx="8229601" cy="482600"/>
        </p:xfrm>
        <a:graphic>
          <a:graphicData uri="http://schemas.openxmlformats.org/drawingml/2006/table">
            <a:tbl>
              <a:tblPr/>
              <a:tblGrid>
                <a:gridCol w="990600">
                  <a:extLst>
                    <a:ext uri="{9D8B030D-6E8A-4147-A177-3AD203B41FA5}">
                      <a16:colId xmlns:a16="http://schemas.microsoft.com/office/drawing/2014/main" val="20000"/>
                    </a:ext>
                  </a:extLst>
                </a:gridCol>
                <a:gridCol w="665280">
                  <a:extLst>
                    <a:ext uri="{9D8B030D-6E8A-4147-A177-3AD203B41FA5}">
                      <a16:colId xmlns:a16="http://schemas.microsoft.com/office/drawing/2014/main" val="20001"/>
                    </a:ext>
                  </a:extLst>
                </a:gridCol>
                <a:gridCol w="597611">
                  <a:extLst>
                    <a:ext uri="{9D8B030D-6E8A-4147-A177-3AD203B41FA5}">
                      <a16:colId xmlns:a16="http://schemas.microsoft.com/office/drawing/2014/main" val="20002"/>
                    </a:ext>
                  </a:extLst>
                </a:gridCol>
                <a:gridCol w="597611">
                  <a:extLst>
                    <a:ext uri="{9D8B030D-6E8A-4147-A177-3AD203B41FA5}">
                      <a16:colId xmlns:a16="http://schemas.microsoft.com/office/drawing/2014/main" val="20003"/>
                    </a:ext>
                  </a:extLst>
                </a:gridCol>
                <a:gridCol w="597611">
                  <a:extLst>
                    <a:ext uri="{9D8B030D-6E8A-4147-A177-3AD203B41FA5}">
                      <a16:colId xmlns:a16="http://schemas.microsoft.com/office/drawing/2014/main" val="20004"/>
                    </a:ext>
                  </a:extLst>
                </a:gridCol>
                <a:gridCol w="597611">
                  <a:extLst>
                    <a:ext uri="{9D8B030D-6E8A-4147-A177-3AD203B41FA5}">
                      <a16:colId xmlns:a16="http://schemas.microsoft.com/office/drawing/2014/main" val="20005"/>
                    </a:ext>
                  </a:extLst>
                </a:gridCol>
                <a:gridCol w="597611">
                  <a:extLst>
                    <a:ext uri="{9D8B030D-6E8A-4147-A177-3AD203B41FA5}">
                      <a16:colId xmlns:a16="http://schemas.microsoft.com/office/drawing/2014/main" val="20006"/>
                    </a:ext>
                  </a:extLst>
                </a:gridCol>
                <a:gridCol w="597611">
                  <a:extLst>
                    <a:ext uri="{9D8B030D-6E8A-4147-A177-3AD203B41FA5}">
                      <a16:colId xmlns:a16="http://schemas.microsoft.com/office/drawing/2014/main" val="20007"/>
                    </a:ext>
                  </a:extLst>
                </a:gridCol>
                <a:gridCol w="597611">
                  <a:extLst>
                    <a:ext uri="{9D8B030D-6E8A-4147-A177-3AD203B41FA5}">
                      <a16:colId xmlns:a16="http://schemas.microsoft.com/office/drawing/2014/main" val="20008"/>
                    </a:ext>
                  </a:extLst>
                </a:gridCol>
                <a:gridCol w="597611">
                  <a:extLst>
                    <a:ext uri="{9D8B030D-6E8A-4147-A177-3AD203B41FA5}">
                      <a16:colId xmlns:a16="http://schemas.microsoft.com/office/drawing/2014/main" val="20009"/>
                    </a:ext>
                  </a:extLst>
                </a:gridCol>
                <a:gridCol w="597611">
                  <a:extLst>
                    <a:ext uri="{9D8B030D-6E8A-4147-A177-3AD203B41FA5}">
                      <a16:colId xmlns:a16="http://schemas.microsoft.com/office/drawing/2014/main" val="20010"/>
                    </a:ext>
                  </a:extLst>
                </a:gridCol>
                <a:gridCol w="597611">
                  <a:extLst>
                    <a:ext uri="{9D8B030D-6E8A-4147-A177-3AD203B41FA5}">
                      <a16:colId xmlns:a16="http://schemas.microsoft.com/office/drawing/2014/main" val="20011"/>
                    </a:ext>
                  </a:extLst>
                </a:gridCol>
                <a:gridCol w="597611">
                  <a:extLst>
                    <a:ext uri="{9D8B030D-6E8A-4147-A177-3AD203B41FA5}">
                      <a16:colId xmlns:a16="http://schemas.microsoft.com/office/drawing/2014/main" val="20012"/>
                    </a:ext>
                  </a:extLst>
                </a:gridCol>
              </a:tblGrid>
              <a:tr h="482600">
                <a:tc>
                  <a:txBody>
                    <a:bodyPr/>
                    <a:lstStyle/>
                    <a:p>
                      <a:pPr algn="l" fontAlgn="b"/>
                      <a:r>
                        <a:rPr lang="en-US" sz="1800" b="0" i="0" u="none" strike="noStrike" dirty="0" err="1">
                          <a:solidFill>
                            <a:srgbClr val="000000"/>
                          </a:solidFill>
                          <a:latin typeface="Arial" pitchFamily="34" charset="0"/>
                          <a:cs typeface="Arial" pitchFamily="34" charset="0"/>
                        </a:rPr>
                        <a:t>Địa</a:t>
                      </a:r>
                      <a:r>
                        <a:rPr lang="en-US" sz="1800" b="0" i="0" u="none" strike="noStrike" dirty="0">
                          <a:solidFill>
                            <a:srgbClr val="000000"/>
                          </a:solidFill>
                          <a:latin typeface="Arial" pitchFamily="34" charset="0"/>
                          <a:cs typeface="Arial" pitchFamily="34" charset="0"/>
                        </a:rPr>
                        <a:t> </a:t>
                      </a:r>
                      <a:r>
                        <a:rPr lang="en-US" sz="1800" b="0" i="0" u="none" strike="noStrike" dirty="0" err="1">
                          <a:solidFill>
                            <a:srgbClr val="000000"/>
                          </a:solidFill>
                          <a:latin typeface="Arial" pitchFamily="34" charset="0"/>
                          <a:cs typeface="Arial" pitchFamily="34" charset="0"/>
                        </a:rPr>
                        <a:t>chỉ</a:t>
                      </a:r>
                      <a:endParaRPr lang="en-US" sz="1800" b="0" i="0" u="none" strike="noStrike" dirty="0">
                        <a:solidFill>
                          <a:srgbClr val="000000"/>
                        </a:solidFill>
                        <a:latin typeface="Arial" pitchFamily="34" charset="0"/>
                        <a:cs typeface="Arial" pitchFamily="34" charset="0"/>
                      </a:endParaRPr>
                    </a:p>
                  </a:txBody>
                  <a:tcPr marL="6917" marR="6917" marT="6917" marB="0" anchor="ctr">
                    <a:lnL>
                      <a:noFill/>
                    </a:lnL>
                    <a:lnR>
                      <a:noFill/>
                    </a:lnR>
                    <a:lnT>
                      <a:noFill/>
                    </a:lnT>
                    <a:lnB>
                      <a:noFill/>
                    </a:lnB>
                  </a:tcPr>
                </a:tc>
                <a:tc>
                  <a:txBody>
                    <a:bodyPr/>
                    <a:lstStyle/>
                    <a:p>
                      <a:pPr algn="ctr" fontAlgn="b"/>
                      <a:r>
                        <a:rPr lang="en-US" sz="1800" b="0" i="0" u="none" strike="noStrike" dirty="0">
                          <a:solidFill>
                            <a:srgbClr val="000000"/>
                          </a:solidFill>
                          <a:latin typeface="Arial" pitchFamily="34" charset="0"/>
                          <a:cs typeface="Arial" pitchFamily="34" charset="0"/>
                        </a:rPr>
                        <a:t>1500</a:t>
                      </a:r>
                    </a:p>
                  </a:txBody>
                  <a:tcPr marL="6917" marR="6917" marT="6917"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1501</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1502</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1503</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smtClean="0">
                          <a:solidFill>
                            <a:srgbClr val="000000"/>
                          </a:solidFill>
                          <a:latin typeface="Arial" pitchFamily="34" charset="0"/>
                          <a:cs typeface="Arial" pitchFamily="34" charset="0"/>
                        </a:rPr>
                        <a:t>1504</a:t>
                      </a:r>
                      <a:endParaRPr lang="en-US" sz="1800" b="0" i="0" u="none" strike="noStrike" dirty="0">
                        <a:solidFill>
                          <a:srgbClr val="000000"/>
                        </a:solidFill>
                        <a:latin typeface="Arial" pitchFamily="34" charset="0"/>
                        <a:cs typeface="Arial" pitchFamily="34" charset="0"/>
                      </a:endParaRP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1505</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1506</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1507</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1508</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1509</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1510</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1511</a:t>
                      </a:r>
                    </a:p>
                  </a:txBody>
                  <a:tcPr marL="6917" marR="6917" marT="6917"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TextBox 6"/>
          <p:cNvSpPr txBox="1"/>
          <p:nvPr/>
        </p:nvSpPr>
        <p:spPr>
          <a:xfrm>
            <a:off x="3886200" y="2209800"/>
            <a:ext cx="1295400" cy="646331"/>
          </a:xfrm>
          <a:prstGeom prst="rect">
            <a:avLst/>
          </a:prstGeom>
          <a:noFill/>
        </p:spPr>
        <p:txBody>
          <a:bodyPr wrap="square" rtlCol="0">
            <a:spAutoFit/>
          </a:bodyPr>
          <a:lstStyle/>
          <a:p>
            <a:pPr algn="ctr"/>
            <a:r>
              <a:rPr lang="en-US" dirty="0" smtClean="0">
                <a:latin typeface="Courier New" pitchFamily="49" charset="0"/>
                <a:cs typeface="Courier New" pitchFamily="49" charset="0"/>
              </a:rPr>
              <a:t>short *p</a:t>
            </a:r>
          </a:p>
          <a:p>
            <a:pPr algn="ctr"/>
            <a:r>
              <a:rPr lang="en-US" dirty="0" smtClean="0"/>
              <a:t>(1504)</a:t>
            </a:r>
            <a:endParaRPr lang="vi-VN" dirty="0"/>
          </a:p>
        </p:txBody>
      </p:sp>
      <p:sp>
        <p:nvSpPr>
          <p:cNvPr id="18" name="Right Brace 17"/>
          <p:cNvSpPr/>
          <p:nvPr/>
        </p:nvSpPr>
        <p:spPr>
          <a:xfrm rot="5400000">
            <a:off x="4425554" y="1627584"/>
            <a:ext cx="152400" cy="1164431"/>
          </a:xfrm>
          <a:prstGeom prst="righ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19" name="Right Brace 18"/>
          <p:cNvSpPr/>
          <p:nvPr/>
        </p:nvSpPr>
        <p:spPr>
          <a:xfrm rot="5400000">
            <a:off x="5620940" y="1627585"/>
            <a:ext cx="152400" cy="1164431"/>
          </a:xfrm>
          <a:prstGeom prst="righ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20" name="Right Brace 19"/>
          <p:cNvSpPr/>
          <p:nvPr/>
        </p:nvSpPr>
        <p:spPr>
          <a:xfrm rot="5400000">
            <a:off x="3227784" y="1627585"/>
            <a:ext cx="152400" cy="1164431"/>
          </a:xfrm>
          <a:prstGeom prst="righ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23" name="TextBox 22"/>
          <p:cNvSpPr txBox="1"/>
          <p:nvPr/>
        </p:nvSpPr>
        <p:spPr>
          <a:xfrm>
            <a:off x="5105400" y="2209800"/>
            <a:ext cx="1066800" cy="646331"/>
          </a:xfrm>
          <a:prstGeom prst="rect">
            <a:avLst/>
          </a:prstGeom>
          <a:noFill/>
        </p:spPr>
        <p:txBody>
          <a:bodyPr wrap="square" rtlCol="0">
            <a:spAutoFit/>
          </a:bodyPr>
          <a:lstStyle/>
          <a:p>
            <a:pPr algn="ctr"/>
            <a:r>
              <a:rPr lang="en-US" dirty="0" smtClean="0">
                <a:latin typeface="Courier New" pitchFamily="49" charset="0"/>
                <a:cs typeface="Courier New" pitchFamily="49" charset="0"/>
              </a:rPr>
              <a:t>p++</a:t>
            </a:r>
          </a:p>
          <a:p>
            <a:pPr algn="ctr"/>
            <a:r>
              <a:rPr lang="en-US" dirty="0" smtClean="0"/>
              <a:t>(1506)</a:t>
            </a:r>
            <a:endParaRPr lang="vi-VN" dirty="0"/>
          </a:p>
        </p:txBody>
      </p:sp>
      <p:sp>
        <p:nvSpPr>
          <p:cNvPr id="25" name="TextBox 24"/>
          <p:cNvSpPr txBox="1"/>
          <p:nvPr/>
        </p:nvSpPr>
        <p:spPr>
          <a:xfrm>
            <a:off x="2770584" y="2246531"/>
            <a:ext cx="1037623" cy="646331"/>
          </a:xfrm>
          <a:prstGeom prst="rect">
            <a:avLst/>
          </a:prstGeom>
          <a:noFill/>
        </p:spPr>
        <p:txBody>
          <a:bodyPr wrap="square" rtlCol="0">
            <a:spAutoFit/>
          </a:bodyPr>
          <a:lstStyle/>
          <a:p>
            <a:pPr algn="ctr"/>
            <a:r>
              <a:rPr lang="en-US" dirty="0" smtClean="0">
                <a:latin typeface="Courier New" pitchFamily="49" charset="0"/>
                <a:cs typeface="Courier New" pitchFamily="49" charset="0"/>
              </a:rPr>
              <a:t>p--</a:t>
            </a:r>
          </a:p>
          <a:p>
            <a:pPr algn="ctr"/>
            <a:r>
              <a:rPr lang="en-US" dirty="0" smtClean="0"/>
              <a:t>(1502)</a:t>
            </a:r>
            <a:endParaRPr lang="vi-VN" dirty="0"/>
          </a:p>
        </p:txBody>
      </p:sp>
      <p:graphicFrame>
        <p:nvGraphicFramePr>
          <p:cNvPr id="33" name="Table 32"/>
          <p:cNvGraphicFramePr>
            <a:graphicFrameLocks noGrp="1"/>
          </p:cNvGraphicFramePr>
          <p:nvPr>
            <p:extLst>
              <p:ext uri="{D42A27DB-BD31-4B8C-83A1-F6EECF244321}">
                <p14:modId xmlns:p14="http://schemas.microsoft.com/office/powerpoint/2010/main" val="1826247905"/>
              </p:ext>
            </p:extLst>
          </p:nvPr>
        </p:nvGraphicFramePr>
        <p:xfrm>
          <a:off x="457200" y="3581400"/>
          <a:ext cx="8229601" cy="482600"/>
        </p:xfrm>
        <a:graphic>
          <a:graphicData uri="http://schemas.openxmlformats.org/drawingml/2006/table">
            <a:tbl>
              <a:tblPr/>
              <a:tblGrid>
                <a:gridCol w="990600">
                  <a:extLst>
                    <a:ext uri="{9D8B030D-6E8A-4147-A177-3AD203B41FA5}">
                      <a16:colId xmlns:a16="http://schemas.microsoft.com/office/drawing/2014/main" val="20000"/>
                    </a:ext>
                  </a:extLst>
                </a:gridCol>
                <a:gridCol w="665280">
                  <a:extLst>
                    <a:ext uri="{9D8B030D-6E8A-4147-A177-3AD203B41FA5}">
                      <a16:colId xmlns:a16="http://schemas.microsoft.com/office/drawing/2014/main" val="20001"/>
                    </a:ext>
                  </a:extLst>
                </a:gridCol>
                <a:gridCol w="597611">
                  <a:extLst>
                    <a:ext uri="{9D8B030D-6E8A-4147-A177-3AD203B41FA5}">
                      <a16:colId xmlns:a16="http://schemas.microsoft.com/office/drawing/2014/main" val="20002"/>
                    </a:ext>
                  </a:extLst>
                </a:gridCol>
                <a:gridCol w="597611">
                  <a:extLst>
                    <a:ext uri="{9D8B030D-6E8A-4147-A177-3AD203B41FA5}">
                      <a16:colId xmlns:a16="http://schemas.microsoft.com/office/drawing/2014/main" val="20003"/>
                    </a:ext>
                  </a:extLst>
                </a:gridCol>
                <a:gridCol w="597611">
                  <a:extLst>
                    <a:ext uri="{9D8B030D-6E8A-4147-A177-3AD203B41FA5}">
                      <a16:colId xmlns:a16="http://schemas.microsoft.com/office/drawing/2014/main" val="20004"/>
                    </a:ext>
                  </a:extLst>
                </a:gridCol>
                <a:gridCol w="597611">
                  <a:extLst>
                    <a:ext uri="{9D8B030D-6E8A-4147-A177-3AD203B41FA5}">
                      <a16:colId xmlns:a16="http://schemas.microsoft.com/office/drawing/2014/main" val="20005"/>
                    </a:ext>
                  </a:extLst>
                </a:gridCol>
                <a:gridCol w="597611">
                  <a:extLst>
                    <a:ext uri="{9D8B030D-6E8A-4147-A177-3AD203B41FA5}">
                      <a16:colId xmlns:a16="http://schemas.microsoft.com/office/drawing/2014/main" val="20006"/>
                    </a:ext>
                  </a:extLst>
                </a:gridCol>
                <a:gridCol w="597611">
                  <a:extLst>
                    <a:ext uri="{9D8B030D-6E8A-4147-A177-3AD203B41FA5}">
                      <a16:colId xmlns:a16="http://schemas.microsoft.com/office/drawing/2014/main" val="20007"/>
                    </a:ext>
                  </a:extLst>
                </a:gridCol>
                <a:gridCol w="597611">
                  <a:extLst>
                    <a:ext uri="{9D8B030D-6E8A-4147-A177-3AD203B41FA5}">
                      <a16:colId xmlns:a16="http://schemas.microsoft.com/office/drawing/2014/main" val="20008"/>
                    </a:ext>
                  </a:extLst>
                </a:gridCol>
                <a:gridCol w="597611">
                  <a:extLst>
                    <a:ext uri="{9D8B030D-6E8A-4147-A177-3AD203B41FA5}">
                      <a16:colId xmlns:a16="http://schemas.microsoft.com/office/drawing/2014/main" val="20009"/>
                    </a:ext>
                  </a:extLst>
                </a:gridCol>
                <a:gridCol w="597611">
                  <a:extLst>
                    <a:ext uri="{9D8B030D-6E8A-4147-A177-3AD203B41FA5}">
                      <a16:colId xmlns:a16="http://schemas.microsoft.com/office/drawing/2014/main" val="20010"/>
                    </a:ext>
                  </a:extLst>
                </a:gridCol>
                <a:gridCol w="597611">
                  <a:extLst>
                    <a:ext uri="{9D8B030D-6E8A-4147-A177-3AD203B41FA5}">
                      <a16:colId xmlns:a16="http://schemas.microsoft.com/office/drawing/2014/main" val="20011"/>
                    </a:ext>
                  </a:extLst>
                </a:gridCol>
                <a:gridCol w="597611">
                  <a:extLst>
                    <a:ext uri="{9D8B030D-6E8A-4147-A177-3AD203B41FA5}">
                      <a16:colId xmlns:a16="http://schemas.microsoft.com/office/drawing/2014/main" val="20012"/>
                    </a:ext>
                  </a:extLst>
                </a:gridCol>
              </a:tblGrid>
              <a:tr h="482600">
                <a:tc>
                  <a:txBody>
                    <a:bodyPr/>
                    <a:lstStyle/>
                    <a:p>
                      <a:pPr algn="l" fontAlgn="b"/>
                      <a:r>
                        <a:rPr lang="en-US" sz="1800" b="0" i="0" u="none" strike="noStrike" dirty="0" err="1">
                          <a:solidFill>
                            <a:srgbClr val="000000"/>
                          </a:solidFill>
                          <a:latin typeface="Arial" pitchFamily="34" charset="0"/>
                          <a:cs typeface="Arial" pitchFamily="34" charset="0"/>
                        </a:rPr>
                        <a:t>Địa</a:t>
                      </a:r>
                      <a:r>
                        <a:rPr lang="en-US" sz="1800" b="0" i="0" u="none" strike="noStrike" dirty="0">
                          <a:solidFill>
                            <a:srgbClr val="000000"/>
                          </a:solidFill>
                          <a:latin typeface="Arial" pitchFamily="34" charset="0"/>
                          <a:cs typeface="Arial" pitchFamily="34" charset="0"/>
                        </a:rPr>
                        <a:t> </a:t>
                      </a:r>
                      <a:r>
                        <a:rPr lang="en-US" sz="1800" b="0" i="0" u="none" strike="noStrike" dirty="0" err="1">
                          <a:solidFill>
                            <a:srgbClr val="000000"/>
                          </a:solidFill>
                          <a:latin typeface="Arial" pitchFamily="34" charset="0"/>
                          <a:cs typeface="Arial" pitchFamily="34" charset="0"/>
                        </a:rPr>
                        <a:t>chỉ</a:t>
                      </a:r>
                      <a:endParaRPr lang="en-US" sz="1800" b="0" i="0" u="none" strike="noStrike" dirty="0">
                        <a:solidFill>
                          <a:srgbClr val="000000"/>
                        </a:solidFill>
                        <a:latin typeface="Arial" pitchFamily="34" charset="0"/>
                        <a:cs typeface="Arial" pitchFamily="34" charset="0"/>
                      </a:endParaRPr>
                    </a:p>
                  </a:txBody>
                  <a:tcPr marL="6917" marR="6917" marT="6917" marB="0" anchor="ctr">
                    <a:lnL>
                      <a:noFill/>
                    </a:lnL>
                    <a:lnR>
                      <a:noFill/>
                    </a:lnR>
                    <a:lnT>
                      <a:noFill/>
                    </a:lnT>
                    <a:lnB>
                      <a:noFill/>
                    </a:lnB>
                  </a:tcPr>
                </a:tc>
                <a:tc>
                  <a:txBody>
                    <a:bodyPr/>
                    <a:lstStyle/>
                    <a:p>
                      <a:pPr algn="ctr" fontAlgn="b"/>
                      <a:r>
                        <a:rPr lang="en-US" sz="1800" b="0" i="0" u="none" strike="noStrike" dirty="0">
                          <a:solidFill>
                            <a:srgbClr val="000000"/>
                          </a:solidFill>
                          <a:latin typeface="Arial" pitchFamily="34" charset="0"/>
                          <a:cs typeface="Arial" pitchFamily="34" charset="0"/>
                        </a:rPr>
                        <a:t>1500</a:t>
                      </a:r>
                    </a:p>
                  </a:txBody>
                  <a:tcPr marL="6917" marR="6917" marT="6917"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1501</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1502</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1503</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smtClean="0">
                          <a:solidFill>
                            <a:srgbClr val="000000"/>
                          </a:solidFill>
                          <a:latin typeface="Arial" pitchFamily="34" charset="0"/>
                          <a:cs typeface="Arial" pitchFamily="34" charset="0"/>
                        </a:rPr>
                        <a:t>1504</a:t>
                      </a:r>
                      <a:endParaRPr lang="en-US" sz="1800" b="0" i="0" u="none" strike="noStrike" dirty="0">
                        <a:solidFill>
                          <a:srgbClr val="000000"/>
                        </a:solidFill>
                        <a:latin typeface="Arial" pitchFamily="34" charset="0"/>
                        <a:cs typeface="Arial" pitchFamily="34" charset="0"/>
                      </a:endParaRP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1505</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1506</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1507</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1508</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1509</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1510</a:t>
                      </a:r>
                    </a:p>
                  </a:txBody>
                  <a:tcPr marL="6917" marR="6917" marT="69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800" b="0" i="0" u="none" strike="noStrike" dirty="0">
                          <a:solidFill>
                            <a:srgbClr val="000000"/>
                          </a:solidFill>
                          <a:latin typeface="Arial" pitchFamily="34" charset="0"/>
                          <a:cs typeface="Arial" pitchFamily="34" charset="0"/>
                        </a:rPr>
                        <a:t>1511</a:t>
                      </a:r>
                    </a:p>
                  </a:txBody>
                  <a:tcPr marL="6917" marR="6917" marT="6917"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34" name="TextBox 33"/>
          <p:cNvSpPr txBox="1"/>
          <p:nvPr/>
        </p:nvSpPr>
        <p:spPr>
          <a:xfrm>
            <a:off x="3953669" y="4191000"/>
            <a:ext cx="1295400" cy="646331"/>
          </a:xfrm>
          <a:prstGeom prst="rect">
            <a:avLst/>
          </a:prstGeom>
          <a:noFill/>
        </p:spPr>
        <p:txBody>
          <a:bodyPr wrap="square" rtlCol="0">
            <a:spAutoFit/>
          </a:bodyPr>
          <a:lstStyle/>
          <a:p>
            <a:pPr algn="ctr"/>
            <a:r>
              <a:rPr lang="en-US" dirty="0" smtClean="0">
                <a:latin typeface="Courier New" pitchFamily="49" charset="0"/>
                <a:cs typeface="Courier New" pitchFamily="49" charset="0"/>
              </a:rPr>
              <a:t>short *p</a:t>
            </a:r>
          </a:p>
          <a:p>
            <a:pPr algn="ctr"/>
            <a:r>
              <a:rPr lang="en-US" dirty="0" smtClean="0"/>
              <a:t>(1504)</a:t>
            </a:r>
            <a:endParaRPr lang="vi-VN" dirty="0"/>
          </a:p>
        </p:txBody>
      </p:sp>
      <p:sp>
        <p:nvSpPr>
          <p:cNvPr id="36" name="Right Brace 35"/>
          <p:cNvSpPr/>
          <p:nvPr/>
        </p:nvSpPr>
        <p:spPr>
          <a:xfrm rot="5400000">
            <a:off x="4438254" y="3608784"/>
            <a:ext cx="152400" cy="1164431"/>
          </a:xfrm>
          <a:prstGeom prst="righ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37" name="Right Brace 36"/>
          <p:cNvSpPr/>
          <p:nvPr/>
        </p:nvSpPr>
        <p:spPr>
          <a:xfrm rot="5400000">
            <a:off x="8028384" y="3608785"/>
            <a:ext cx="152400" cy="1164431"/>
          </a:xfrm>
          <a:prstGeom prst="righ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38" name="Right Brace 37"/>
          <p:cNvSpPr/>
          <p:nvPr/>
        </p:nvSpPr>
        <p:spPr>
          <a:xfrm rot="5400000">
            <a:off x="2030015" y="3608785"/>
            <a:ext cx="152400" cy="1164431"/>
          </a:xfrm>
          <a:prstGeom prst="righ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39" name="TextBox 38"/>
          <p:cNvSpPr txBox="1"/>
          <p:nvPr/>
        </p:nvSpPr>
        <p:spPr>
          <a:xfrm>
            <a:off x="7567613" y="4191000"/>
            <a:ext cx="1066800" cy="646331"/>
          </a:xfrm>
          <a:prstGeom prst="rect">
            <a:avLst/>
          </a:prstGeom>
          <a:noFill/>
        </p:spPr>
        <p:txBody>
          <a:bodyPr wrap="square" rtlCol="0">
            <a:spAutoFit/>
          </a:bodyPr>
          <a:lstStyle/>
          <a:p>
            <a:pPr algn="ctr"/>
            <a:r>
              <a:rPr lang="en-US" dirty="0" smtClean="0">
                <a:latin typeface="Courier New" pitchFamily="49" charset="0"/>
                <a:cs typeface="Courier New" pitchFamily="49" charset="0"/>
              </a:rPr>
              <a:t>p+3</a:t>
            </a:r>
          </a:p>
          <a:p>
            <a:pPr algn="ctr"/>
            <a:r>
              <a:rPr lang="en-US" dirty="0" smtClean="0"/>
              <a:t>(1510)</a:t>
            </a:r>
            <a:endParaRPr lang="vi-VN" dirty="0"/>
          </a:p>
        </p:txBody>
      </p:sp>
      <p:sp>
        <p:nvSpPr>
          <p:cNvPr id="41" name="TextBox 40"/>
          <p:cNvSpPr txBox="1"/>
          <p:nvPr/>
        </p:nvSpPr>
        <p:spPr>
          <a:xfrm>
            <a:off x="1600200" y="4191000"/>
            <a:ext cx="1066800" cy="646331"/>
          </a:xfrm>
          <a:prstGeom prst="rect">
            <a:avLst/>
          </a:prstGeom>
          <a:noFill/>
        </p:spPr>
        <p:txBody>
          <a:bodyPr wrap="square" rtlCol="0">
            <a:spAutoFit/>
          </a:bodyPr>
          <a:lstStyle/>
          <a:p>
            <a:pPr algn="ctr"/>
            <a:r>
              <a:rPr lang="en-US" dirty="0" smtClean="0">
                <a:latin typeface="Courier New" pitchFamily="49" charset="0"/>
                <a:cs typeface="Courier New" pitchFamily="49" charset="0"/>
              </a:rPr>
              <a:t>p-2</a:t>
            </a:r>
          </a:p>
          <a:p>
            <a:pPr algn="ctr"/>
            <a:r>
              <a:rPr lang="en-US" dirty="0" smtClean="0"/>
              <a:t>(1500)</a:t>
            </a:r>
            <a:endParaRPr lang="vi-VN" dirty="0"/>
          </a:p>
        </p:txBody>
      </p:sp>
    </p:spTree>
    <p:extLst>
      <p:ext uri="{BB962C8B-B14F-4D97-AF65-F5344CB8AC3E}">
        <p14:creationId xmlns:p14="http://schemas.microsoft.com/office/powerpoint/2010/main" val="572679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6" grpId="0" animBg="1"/>
      <p:bldP spid="37" grpId="0" animBg="1"/>
      <p:bldP spid="38" grpId="0" animBg="1"/>
      <p:bldP spid="39" grpId="0"/>
      <p:bldP spid="4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11</a:t>
            </a:fld>
            <a:endParaRPr lang="en-US"/>
          </a:p>
        </p:txBody>
      </p:sp>
      <p:sp>
        <p:nvSpPr>
          <p:cNvPr id="2" name="Title 1"/>
          <p:cNvSpPr>
            <a:spLocks noGrp="1"/>
          </p:cNvSpPr>
          <p:nvPr>
            <p:ph type="title"/>
          </p:nvPr>
        </p:nvSpPr>
        <p:spPr/>
        <p:txBody>
          <a:bodyPr/>
          <a:lstStyle/>
          <a:p>
            <a:r>
              <a:rPr lang="en-US" dirty="0" smtClean="0"/>
              <a:t>Con </a:t>
            </a:r>
            <a:r>
              <a:rPr lang="en-US" dirty="0" err="1" smtClean="0"/>
              <a:t>trỏ</a:t>
            </a:r>
            <a:r>
              <a:rPr lang="en-US" dirty="0" smtClean="0"/>
              <a:t> void *</a:t>
            </a:r>
            <a:endParaRPr lang="en-US" dirty="0"/>
          </a:p>
        </p:txBody>
      </p:sp>
      <p:sp>
        <p:nvSpPr>
          <p:cNvPr id="3" name="Content Placeholder 2"/>
          <p:cNvSpPr>
            <a:spLocks noGrp="1"/>
          </p:cNvSpPr>
          <p:nvPr>
            <p:ph type="body" sz="quarter" idx="13"/>
          </p:nvPr>
        </p:nvSpPr>
        <p:spPr/>
        <p:txBody>
          <a:bodyPr/>
          <a:lstStyle/>
          <a:p>
            <a:r>
              <a:rPr lang="en-US" sz="2400" dirty="0" err="1" smtClean="0"/>
              <a:t>Là</a:t>
            </a:r>
            <a:r>
              <a:rPr lang="en-US" sz="2400" dirty="0" smtClean="0"/>
              <a:t> con </a:t>
            </a:r>
            <a:r>
              <a:rPr lang="en-US" sz="2400" dirty="0" err="1" smtClean="0"/>
              <a:t>trỏ</a:t>
            </a:r>
            <a:r>
              <a:rPr lang="en-US" sz="2400" dirty="0" smtClean="0"/>
              <a:t> </a:t>
            </a:r>
            <a:r>
              <a:rPr lang="en-US" sz="2400" dirty="0" err="1" smtClean="0"/>
              <a:t>nhưng</a:t>
            </a:r>
            <a:r>
              <a:rPr lang="en-US" sz="2400" dirty="0" smtClean="0"/>
              <a:t> </a:t>
            </a:r>
            <a:r>
              <a:rPr lang="en-US" sz="2400" dirty="0" err="1" smtClean="0"/>
              <a:t>không</a:t>
            </a:r>
            <a:r>
              <a:rPr lang="en-US" sz="2400" dirty="0" smtClean="0"/>
              <a:t> </a:t>
            </a:r>
            <a:r>
              <a:rPr lang="en-US" sz="2400" dirty="0" err="1" smtClean="0"/>
              <a:t>mang</a:t>
            </a:r>
            <a:r>
              <a:rPr lang="en-US" sz="2400" dirty="0" smtClean="0"/>
              <a:t> </a:t>
            </a:r>
            <a:r>
              <a:rPr lang="en-US" sz="2400" dirty="0" err="1" smtClean="0"/>
              <a:t>thông</a:t>
            </a:r>
            <a:r>
              <a:rPr lang="en-US" sz="2400" dirty="0" smtClean="0"/>
              <a:t> tin </a:t>
            </a:r>
            <a:r>
              <a:rPr lang="en-US" sz="2400" dirty="0" err="1" smtClean="0"/>
              <a:t>về</a:t>
            </a:r>
            <a:r>
              <a:rPr lang="en-US" sz="2400" dirty="0" smtClean="0"/>
              <a:t> </a:t>
            </a:r>
            <a:r>
              <a:rPr lang="en-US" sz="2400" dirty="0" err="1" smtClean="0"/>
              <a:t>kiểu</a:t>
            </a:r>
            <a:endParaRPr lang="en-US" sz="2400" dirty="0" smtClean="0"/>
          </a:p>
          <a:p>
            <a:r>
              <a:rPr lang="en-US" sz="2400" dirty="0" err="1" smtClean="0"/>
              <a:t>Có</a:t>
            </a:r>
            <a:r>
              <a:rPr lang="en-US" sz="2400" dirty="0" smtClean="0"/>
              <a:t> </a:t>
            </a:r>
            <a:r>
              <a:rPr lang="en-US" sz="2400" dirty="0" err="1" smtClean="0"/>
              <a:t>thể</a:t>
            </a:r>
            <a:r>
              <a:rPr lang="en-US" sz="2400" dirty="0" smtClean="0"/>
              <a:t> </a:t>
            </a:r>
            <a:r>
              <a:rPr lang="en-US" sz="2400" dirty="0" err="1" smtClean="0"/>
              <a:t>được</a:t>
            </a:r>
            <a:r>
              <a:rPr lang="en-US" sz="2400" dirty="0" smtClean="0"/>
              <a:t> </a:t>
            </a:r>
            <a:r>
              <a:rPr lang="en-US" sz="2400" dirty="0" err="1" smtClean="0"/>
              <a:t>chuyển</a:t>
            </a:r>
            <a:r>
              <a:rPr lang="en-US" sz="2400" dirty="0" smtClean="0"/>
              <a:t> </a:t>
            </a:r>
            <a:r>
              <a:rPr lang="en-US" sz="2400" dirty="0" err="1" smtClean="0"/>
              <a:t>kiểu</a:t>
            </a:r>
            <a:r>
              <a:rPr lang="en-US" sz="2400" dirty="0" smtClean="0"/>
              <a:t> </a:t>
            </a:r>
            <a:r>
              <a:rPr lang="en-US" sz="2400" dirty="0" err="1" smtClean="0"/>
              <a:t>ngầm</a:t>
            </a:r>
            <a:r>
              <a:rPr lang="en-US" sz="2400" dirty="0" smtClean="0"/>
              <a:t> </a:t>
            </a:r>
            <a:r>
              <a:rPr lang="en-US" sz="2400" dirty="0" err="1" smtClean="0"/>
              <a:t>định</a:t>
            </a:r>
            <a:r>
              <a:rPr lang="en-US" sz="2400" dirty="0" smtClean="0"/>
              <a:t> sang </a:t>
            </a:r>
            <a:r>
              <a:rPr lang="en-US" sz="2400" dirty="0" err="1" smtClean="0"/>
              <a:t>bất</a:t>
            </a:r>
            <a:r>
              <a:rPr lang="en-US" sz="2400" dirty="0" smtClean="0"/>
              <a:t> </a:t>
            </a:r>
            <a:r>
              <a:rPr lang="en-US" sz="2400" dirty="0" err="1" smtClean="0"/>
              <a:t>kỳ</a:t>
            </a:r>
            <a:r>
              <a:rPr lang="en-US" sz="2400" dirty="0" smtClean="0"/>
              <a:t> </a:t>
            </a:r>
            <a:r>
              <a:rPr lang="en-US" sz="2400" dirty="0" err="1" smtClean="0"/>
              <a:t>kiểu</a:t>
            </a:r>
            <a:r>
              <a:rPr lang="en-US" sz="2400" dirty="0" smtClean="0"/>
              <a:t> con </a:t>
            </a:r>
            <a:r>
              <a:rPr lang="en-US" sz="2400" dirty="0" err="1" smtClean="0"/>
              <a:t>trỏ</a:t>
            </a:r>
            <a:r>
              <a:rPr lang="en-US" sz="2400" dirty="0" smtClean="0"/>
              <a:t> </a:t>
            </a:r>
            <a:r>
              <a:rPr lang="en-US" sz="2400" dirty="0" err="1" smtClean="0"/>
              <a:t>nào</a:t>
            </a:r>
            <a:r>
              <a:rPr lang="en-US" sz="2400" dirty="0" smtClean="0"/>
              <a:t> </a:t>
            </a:r>
            <a:r>
              <a:rPr lang="en-US" sz="2400" dirty="0" err="1" smtClean="0"/>
              <a:t>khác</a:t>
            </a:r>
            <a:endParaRPr lang="en-US" sz="2400" dirty="0" smtClean="0"/>
          </a:p>
          <a:p>
            <a:endParaRPr lang="en-US" sz="2400" dirty="0"/>
          </a:p>
          <a:p>
            <a:endParaRPr lang="en-US" sz="2400" dirty="0" smtClean="0"/>
          </a:p>
          <a:p>
            <a:r>
              <a:rPr lang="en-US" sz="2400" dirty="0" err="1" smtClean="0"/>
              <a:t>Không</a:t>
            </a:r>
            <a:r>
              <a:rPr lang="en-US" sz="2400" dirty="0" smtClean="0"/>
              <a:t> </a:t>
            </a:r>
            <a:r>
              <a:rPr lang="en-US" sz="2400" dirty="0" err="1" smtClean="0"/>
              <a:t>dùng</a:t>
            </a:r>
            <a:r>
              <a:rPr lang="en-US" sz="2400" dirty="0" smtClean="0"/>
              <a:t> </a:t>
            </a:r>
            <a:r>
              <a:rPr lang="en-US" sz="2400" dirty="0" err="1" smtClean="0"/>
              <a:t>toán</a:t>
            </a:r>
            <a:r>
              <a:rPr lang="en-US" sz="2400" dirty="0" smtClean="0"/>
              <a:t> </a:t>
            </a:r>
            <a:r>
              <a:rPr lang="en-US" sz="2400" dirty="0" err="1" smtClean="0"/>
              <a:t>tử</a:t>
            </a:r>
            <a:r>
              <a:rPr lang="en-US" sz="2400" dirty="0" smtClean="0"/>
              <a:t> </a:t>
            </a:r>
            <a:r>
              <a:rPr lang="en-US" sz="2400" dirty="0" err="1" smtClean="0"/>
              <a:t>truy</a:t>
            </a:r>
            <a:r>
              <a:rPr lang="en-US" sz="2400" dirty="0" smtClean="0"/>
              <a:t> </a:t>
            </a:r>
            <a:r>
              <a:rPr lang="en-US" sz="2400" dirty="0" err="1" smtClean="0"/>
              <a:t>xuất</a:t>
            </a:r>
            <a:r>
              <a:rPr lang="en-US" sz="2400" dirty="0" smtClean="0"/>
              <a:t> </a:t>
            </a:r>
            <a:r>
              <a:rPr lang="en-US" sz="2400" dirty="0" err="1" smtClean="0"/>
              <a:t>giá</a:t>
            </a:r>
            <a:r>
              <a:rPr lang="en-US" sz="2400" dirty="0" smtClean="0"/>
              <a:t> </a:t>
            </a:r>
            <a:r>
              <a:rPr lang="en-US" sz="2400" dirty="0" err="1" smtClean="0"/>
              <a:t>trị</a:t>
            </a:r>
            <a:r>
              <a:rPr lang="en-US" sz="2400" dirty="0" smtClean="0"/>
              <a:t> * </a:t>
            </a:r>
            <a:r>
              <a:rPr lang="en-US" sz="2400" dirty="0" err="1" smtClean="0"/>
              <a:t>với</a:t>
            </a:r>
            <a:r>
              <a:rPr lang="en-US" sz="2400" dirty="0" smtClean="0"/>
              <a:t> con </a:t>
            </a:r>
            <a:r>
              <a:rPr lang="en-US" sz="2400" dirty="0" err="1" smtClean="0"/>
              <a:t>trỏ</a:t>
            </a:r>
            <a:r>
              <a:rPr lang="en-US" sz="2400" dirty="0" smtClean="0"/>
              <a:t> void *</a:t>
            </a:r>
          </a:p>
          <a:p>
            <a:endParaRPr lang="en-US" sz="2400" dirty="0" smtClean="0"/>
          </a:p>
          <a:p>
            <a:endParaRPr lang="en-US" sz="2400" dirty="0"/>
          </a:p>
          <a:p>
            <a:endParaRPr lang="en-US" sz="2400" dirty="0" smtClean="0"/>
          </a:p>
          <a:p>
            <a:endParaRPr lang="en-US" sz="2400" dirty="0" smtClean="0"/>
          </a:p>
          <a:p>
            <a:r>
              <a:rPr lang="en-US" sz="2400" dirty="0" smtClean="0"/>
              <a:t>Con </a:t>
            </a:r>
            <a:r>
              <a:rPr lang="en-US" sz="2400" dirty="0" err="1" smtClean="0"/>
              <a:t>trỏ</a:t>
            </a:r>
            <a:r>
              <a:rPr lang="en-US" sz="2400" dirty="0" smtClean="0"/>
              <a:t> void * </a:t>
            </a:r>
            <a:r>
              <a:rPr lang="en-US" sz="2400" dirty="0" err="1" smtClean="0"/>
              <a:t>được</a:t>
            </a:r>
            <a:r>
              <a:rPr lang="en-US" sz="2400" dirty="0" smtClean="0"/>
              <a:t> </a:t>
            </a:r>
            <a:r>
              <a:rPr lang="en-US" sz="2400" dirty="0" err="1" smtClean="0"/>
              <a:t>dùng</a:t>
            </a:r>
            <a:r>
              <a:rPr lang="en-US" sz="2400" dirty="0" smtClean="0"/>
              <a:t> </a:t>
            </a:r>
            <a:r>
              <a:rPr lang="en-US" sz="2400" dirty="0" err="1" smtClean="0"/>
              <a:t>để</a:t>
            </a:r>
            <a:r>
              <a:rPr lang="en-US" sz="2400" dirty="0" smtClean="0"/>
              <a:t> </a:t>
            </a:r>
            <a:r>
              <a:rPr lang="en-US" sz="2400" dirty="0" err="1" smtClean="0"/>
              <a:t>làm</a:t>
            </a:r>
            <a:r>
              <a:rPr lang="en-US" sz="2400" dirty="0" smtClean="0"/>
              <a:t> </a:t>
            </a:r>
            <a:r>
              <a:rPr lang="en-US" sz="2400" dirty="0" err="1" smtClean="0"/>
              <a:t>việc</a:t>
            </a:r>
            <a:r>
              <a:rPr lang="en-US" sz="2400" dirty="0" smtClean="0"/>
              <a:t> </a:t>
            </a:r>
            <a:r>
              <a:rPr lang="en-US" sz="2400" dirty="0" err="1" smtClean="0"/>
              <a:t>với</a:t>
            </a:r>
            <a:r>
              <a:rPr lang="en-US" sz="2400" dirty="0" smtClean="0"/>
              <a:t> </a:t>
            </a:r>
            <a:r>
              <a:rPr lang="en-US" sz="2400" dirty="0" err="1" smtClean="0"/>
              <a:t>bộ</a:t>
            </a:r>
            <a:r>
              <a:rPr lang="en-US" sz="2400" dirty="0" smtClean="0"/>
              <a:t> </a:t>
            </a:r>
            <a:r>
              <a:rPr lang="en-US" sz="2400" dirty="0" err="1" smtClean="0"/>
              <a:t>nhớ</a:t>
            </a:r>
            <a:r>
              <a:rPr lang="en-US" sz="2400" dirty="0" smtClean="0"/>
              <a:t> </a:t>
            </a:r>
            <a:r>
              <a:rPr lang="en-US" sz="2400" dirty="0" err="1" smtClean="0"/>
              <a:t>thuần</a:t>
            </a:r>
            <a:r>
              <a:rPr lang="en-US" sz="2400" dirty="0" smtClean="0"/>
              <a:t> </a:t>
            </a:r>
            <a:r>
              <a:rPr lang="en-US" sz="2400" dirty="0" err="1" smtClean="0"/>
              <a:t>tuý</a:t>
            </a:r>
            <a:r>
              <a:rPr lang="en-US" sz="2400" dirty="0" smtClean="0"/>
              <a:t> </a:t>
            </a:r>
            <a:r>
              <a:rPr lang="en-US" sz="2400" dirty="0" err="1" smtClean="0"/>
              <a:t>hoặc</a:t>
            </a:r>
            <a:r>
              <a:rPr lang="en-US" sz="2400" dirty="0" smtClean="0"/>
              <a:t> </a:t>
            </a:r>
            <a:r>
              <a:rPr lang="en-US" sz="2400" dirty="0" err="1" smtClean="0"/>
              <a:t>để</a:t>
            </a:r>
            <a:r>
              <a:rPr lang="en-US" sz="2400" dirty="0" smtClean="0"/>
              <a:t> </a:t>
            </a:r>
            <a:r>
              <a:rPr lang="en-US" sz="2400" dirty="0" err="1" smtClean="0"/>
              <a:t>thao</a:t>
            </a:r>
            <a:r>
              <a:rPr lang="en-US" sz="2400" dirty="0" smtClean="0"/>
              <a:t> </a:t>
            </a:r>
            <a:r>
              <a:rPr lang="en-US" sz="2400" dirty="0" err="1" smtClean="0"/>
              <a:t>tác</a:t>
            </a:r>
            <a:r>
              <a:rPr lang="en-US" sz="2400" dirty="0" smtClean="0"/>
              <a:t> </a:t>
            </a:r>
            <a:r>
              <a:rPr lang="en-US" sz="2400" dirty="0" err="1" smtClean="0"/>
              <a:t>với</a:t>
            </a:r>
            <a:r>
              <a:rPr lang="en-US" sz="2400" dirty="0" smtClean="0"/>
              <a:t> </a:t>
            </a:r>
            <a:r>
              <a:rPr lang="en-US" sz="2400" dirty="0" err="1" smtClean="0"/>
              <a:t>những</a:t>
            </a:r>
            <a:r>
              <a:rPr lang="en-US" sz="2400" dirty="0" smtClean="0"/>
              <a:t> </a:t>
            </a:r>
            <a:r>
              <a:rPr lang="en-US" sz="2400" dirty="0" err="1" smtClean="0"/>
              <a:t>biến</a:t>
            </a:r>
            <a:r>
              <a:rPr lang="en-US" sz="2400" dirty="0" smtClean="0"/>
              <a:t> </a:t>
            </a:r>
            <a:r>
              <a:rPr lang="en-US" sz="2400" dirty="0" err="1" smtClean="0"/>
              <a:t>chưa</a:t>
            </a:r>
            <a:r>
              <a:rPr lang="en-US" sz="2400" dirty="0" smtClean="0"/>
              <a:t> </a:t>
            </a:r>
            <a:r>
              <a:rPr lang="en-US" sz="2400" dirty="0" err="1" smtClean="0"/>
              <a:t>xác</a:t>
            </a:r>
            <a:r>
              <a:rPr lang="en-US" sz="2400" dirty="0" smtClean="0"/>
              <a:t> </a:t>
            </a:r>
            <a:r>
              <a:rPr lang="en-US" sz="2400" dirty="0" err="1" smtClean="0"/>
              <a:t>định</a:t>
            </a:r>
            <a:r>
              <a:rPr lang="en-US" sz="2400" dirty="0" smtClean="0"/>
              <a:t> </a:t>
            </a:r>
            <a:r>
              <a:rPr lang="en-US" sz="2400" dirty="0" err="1" smtClean="0"/>
              <a:t>kiểu</a:t>
            </a:r>
            <a:endParaRPr lang="en-US" sz="2400" dirty="0" smtClean="0"/>
          </a:p>
        </p:txBody>
      </p:sp>
      <p:pic>
        <p:nvPicPr>
          <p:cNvPr id="7" name="Picture 6"/>
          <p:cNvPicPr>
            <a:picLocks noChangeAspect="1"/>
          </p:cNvPicPr>
          <p:nvPr/>
        </p:nvPicPr>
        <p:blipFill>
          <a:blip r:embed="rId3"/>
          <a:stretch>
            <a:fillRect/>
          </a:stretch>
        </p:blipFill>
        <p:spPr>
          <a:xfrm>
            <a:off x="1906587" y="2009959"/>
            <a:ext cx="4568825" cy="852449"/>
          </a:xfrm>
          <a:prstGeom prst="rect">
            <a:avLst/>
          </a:prstGeom>
        </p:spPr>
      </p:pic>
      <p:pic>
        <p:nvPicPr>
          <p:cNvPr id="8" name="Picture 7"/>
          <p:cNvPicPr>
            <a:picLocks noChangeAspect="1"/>
          </p:cNvPicPr>
          <p:nvPr/>
        </p:nvPicPr>
        <p:blipFill>
          <a:blip r:embed="rId4"/>
          <a:stretch>
            <a:fillRect/>
          </a:stretch>
        </p:blipFill>
        <p:spPr>
          <a:xfrm>
            <a:off x="1447800" y="3549179"/>
            <a:ext cx="1754188" cy="1542593"/>
          </a:xfrm>
          <a:prstGeom prst="rect">
            <a:avLst/>
          </a:prstGeom>
        </p:spPr>
      </p:pic>
      <p:pic>
        <p:nvPicPr>
          <p:cNvPr id="9" name="Picture 8"/>
          <p:cNvPicPr>
            <a:picLocks noChangeAspect="1"/>
          </p:cNvPicPr>
          <p:nvPr/>
        </p:nvPicPr>
        <p:blipFill>
          <a:blip r:embed="rId5"/>
          <a:stretch>
            <a:fillRect/>
          </a:stretch>
        </p:blipFill>
        <p:spPr>
          <a:xfrm>
            <a:off x="4648200" y="3437143"/>
            <a:ext cx="2438400" cy="1654629"/>
          </a:xfrm>
          <a:prstGeom prst="rect">
            <a:avLst/>
          </a:prstGeom>
        </p:spPr>
      </p:pic>
    </p:spTree>
    <p:extLst>
      <p:ext uri="{BB962C8B-B14F-4D97-AF65-F5344CB8AC3E}">
        <p14:creationId xmlns:p14="http://schemas.microsoft.com/office/powerpoint/2010/main" val="152086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12</a:t>
            </a:fld>
            <a:endParaRPr lang="en-US"/>
          </a:p>
        </p:txBody>
      </p:sp>
      <p:sp>
        <p:nvSpPr>
          <p:cNvPr id="2" name="Title 1"/>
          <p:cNvSpPr>
            <a:spLocks noGrp="1"/>
          </p:cNvSpPr>
          <p:nvPr>
            <p:ph type="title"/>
          </p:nvPr>
        </p:nvSpPr>
        <p:spPr/>
        <p:txBody>
          <a:bodyPr/>
          <a:lstStyle/>
          <a:p>
            <a:r>
              <a:rPr lang="en-US" dirty="0" err="1" smtClean="0"/>
              <a:t>Hằng</a:t>
            </a:r>
            <a:r>
              <a:rPr lang="en-US" dirty="0" smtClean="0"/>
              <a:t> con </a:t>
            </a:r>
            <a:r>
              <a:rPr lang="en-US" dirty="0" err="1"/>
              <a:t>trỏ</a:t>
            </a:r>
            <a:r>
              <a:rPr lang="en-US" dirty="0"/>
              <a:t>, </a:t>
            </a:r>
            <a:r>
              <a:rPr lang="en-US" dirty="0" smtClean="0"/>
              <a:t>con </a:t>
            </a:r>
            <a:r>
              <a:rPr lang="en-US" dirty="0" err="1" smtClean="0"/>
              <a:t>trỏ</a:t>
            </a:r>
            <a:r>
              <a:rPr lang="en-US" dirty="0" smtClean="0"/>
              <a:t> </a:t>
            </a:r>
            <a:r>
              <a:rPr lang="en-US" dirty="0" err="1" smtClean="0"/>
              <a:t>tới</a:t>
            </a:r>
            <a:r>
              <a:rPr lang="en-US" dirty="0" smtClean="0"/>
              <a:t> </a:t>
            </a:r>
            <a:r>
              <a:rPr lang="en-US" dirty="0" err="1" smtClean="0"/>
              <a:t>hằng</a:t>
            </a:r>
            <a:endParaRPr lang="en-US" dirty="0"/>
          </a:p>
        </p:txBody>
      </p:sp>
      <p:sp>
        <p:nvSpPr>
          <p:cNvPr id="3" name="Content Placeholder 2"/>
          <p:cNvSpPr>
            <a:spLocks noGrp="1"/>
          </p:cNvSpPr>
          <p:nvPr>
            <p:ph type="body" sz="quarter" idx="13"/>
          </p:nvPr>
        </p:nvSpPr>
        <p:spPr/>
        <p:txBody>
          <a:bodyPr>
            <a:normAutofit/>
          </a:bodyPr>
          <a:lstStyle/>
          <a:p>
            <a:r>
              <a:rPr lang="en-US" sz="2400" b="1" i="1" dirty="0" err="1"/>
              <a:t>const</a:t>
            </a:r>
            <a:r>
              <a:rPr lang="en-US" sz="2400" dirty="0"/>
              <a:t> T </a:t>
            </a:r>
            <a:r>
              <a:rPr lang="en-US" sz="2400" dirty="0">
                <a:solidFill>
                  <a:srgbClr val="FF0000"/>
                </a:solidFill>
              </a:rPr>
              <a:t>* </a:t>
            </a:r>
            <a:r>
              <a:rPr lang="en-US" sz="2400" dirty="0" err="1" smtClean="0">
                <a:solidFill>
                  <a:srgbClr val="FF0000"/>
                </a:solidFill>
              </a:rPr>
              <a:t>ptr</a:t>
            </a:r>
            <a:r>
              <a:rPr lang="en-US" sz="2400" dirty="0" smtClean="0">
                <a:solidFill>
                  <a:srgbClr val="FF0000"/>
                </a:solidFill>
              </a:rPr>
              <a:t> </a:t>
            </a:r>
            <a:r>
              <a:rPr lang="en-US" sz="2400" dirty="0"/>
              <a:t>= &lt;</a:t>
            </a:r>
            <a:r>
              <a:rPr lang="en-US" sz="2400" dirty="0" err="1"/>
              <a:t>exp</a:t>
            </a:r>
            <a:r>
              <a:rPr lang="en-US" sz="2400" dirty="0" smtClean="0"/>
              <a:t>&gt;;   </a:t>
            </a:r>
            <a:endParaRPr lang="en-US" sz="1600" dirty="0" smtClean="0"/>
          </a:p>
          <a:p>
            <a:pPr marL="0" indent="0">
              <a:buNone/>
            </a:pPr>
            <a:r>
              <a:rPr lang="en-US" sz="1600" dirty="0"/>
              <a:t> </a:t>
            </a:r>
            <a:r>
              <a:rPr lang="en-US" sz="1600" dirty="0" smtClean="0"/>
              <a:t>   </a:t>
            </a:r>
            <a:r>
              <a:rPr lang="en-US" sz="2400" i="1" dirty="0"/>
              <a:t>T </a:t>
            </a:r>
            <a:r>
              <a:rPr lang="en-US" sz="2400" b="1" i="1" dirty="0" err="1"/>
              <a:t>const</a:t>
            </a:r>
            <a:r>
              <a:rPr lang="en-US" sz="2400" i="1" dirty="0"/>
              <a:t> </a:t>
            </a:r>
            <a:r>
              <a:rPr lang="en-US" sz="2400" i="1" dirty="0">
                <a:solidFill>
                  <a:srgbClr val="FF0000"/>
                </a:solidFill>
              </a:rPr>
              <a:t>* </a:t>
            </a:r>
            <a:r>
              <a:rPr lang="en-US" sz="2400" i="1" dirty="0" err="1">
                <a:solidFill>
                  <a:srgbClr val="FF0000"/>
                </a:solidFill>
              </a:rPr>
              <a:t>ptr</a:t>
            </a:r>
            <a:r>
              <a:rPr lang="en-US" sz="2400" i="1" dirty="0">
                <a:solidFill>
                  <a:srgbClr val="FF0000"/>
                </a:solidFill>
              </a:rPr>
              <a:t> </a:t>
            </a:r>
            <a:r>
              <a:rPr lang="en-US" sz="2400" i="1" dirty="0"/>
              <a:t>= </a:t>
            </a:r>
            <a:r>
              <a:rPr lang="en-US" sz="2400" dirty="0"/>
              <a:t>&lt;</a:t>
            </a:r>
            <a:r>
              <a:rPr lang="en-US" sz="2400" dirty="0" err="1"/>
              <a:t>exp</a:t>
            </a:r>
            <a:r>
              <a:rPr lang="en-US" sz="2400" dirty="0"/>
              <a:t>&gt;; </a:t>
            </a:r>
          </a:p>
          <a:p>
            <a:r>
              <a:rPr lang="en-US" sz="2400" dirty="0" smtClean="0"/>
              <a:t>T </a:t>
            </a:r>
            <a:r>
              <a:rPr lang="en-US" sz="2400" dirty="0">
                <a:solidFill>
                  <a:srgbClr val="FF0000"/>
                </a:solidFill>
              </a:rPr>
              <a:t>* </a:t>
            </a:r>
            <a:r>
              <a:rPr lang="en-US" sz="2400" b="1" i="1" dirty="0" err="1">
                <a:solidFill>
                  <a:srgbClr val="FF0000"/>
                </a:solidFill>
              </a:rPr>
              <a:t>const</a:t>
            </a:r>
            <a:r>
              <a:rPr lang="en-US" sz="2400" dirty="0">
                <a:solidFill>
                  <a:srgbClr val="FF0000"/>
                </a:solidFill>
              </a:rPr>
              <a:t>  </a:t>
            </a:r>
            <a:r>
              <a:rPr lang="en-US" sz="2400" dirty="0" err="1" smtClean="0">
                <a:solidFill>
                  <a:srgbClr val="FF0000"/>
                </a:solidFill>
              </a:rPr>
              <a:t>ptr</a:t>
            </a:r>
            <a:r>
              <a:rPr lang="en-US" sz="2400" dirty="0" smtClean="0">
                <a:solidFill>
                  <a:srgbClr val="FF0000"/>
                </a:solidFill>
              </a:rPr>
              <a:t> </a:t>
            </a:r>
            <a:r>
              <a:rPr lang="en-US" sz="2400" dirty="0"/>
              <a:t>= &lt;</a:t>
            </a:r>
            <a:r>
              <a:rPr lang="en-US" sz="2400" dirty="0" err="1"/>
              <a:t>exp</a:t>
            </a:r>
            <a:r>
              <a:rPr lang="en-US" sz="2400" dirty="0"/>
              <a:t>&gt; </a:t>
            </a:r>
            <a:r>
              <a:rPr lang="en-US" sz="2400" dirty="0" smtClean="0"/>
              <a:t>;  </a:t>
            </a:r>
            <a:endParaRPr lang="en-US" sz="2400" dirty="0"/>
          </a:p>
          <a:p>
            <a:r>
              <a:rPr lang="en-US" sz="2400" b="1" i="1" dirty="0" err="1" smtClean="0"/>
              <a:t>const</a:t>
            </a:r>
            <a:r>
              <a:rPr lang="en-US" sz="2400" dirty="0" smtClean="0"/>
              <a:t> </a:t>
            </a:r>
            <a:r>
              <a:rPr lang="en-US" sz="2400" dirty="0"/>
              <a:t>T * </a:t>
            </a:r>
            <a:r>
              <a:rPr lang="en-US" sz="2400" b="1" i="1" dirty="0" err="1"/>
              <a:t>const</a:t>
            </a:r>
            <a:r>
              <a:rPr lang="en-US" sz="2400" dirty="0"/>
              <a:t> cons3 = &lt;</a:t>
            </a:r>
            <a:r>
              <a:rPr lang="en-US" sz="2400" dirty="0" err="1"/>
              <a:t>exp</a:t>
            </a:r>
            <a:r>
              <a:rPr lang="en-US" sz="2400" dirty="0" smtClean="0"/>
              <a:t>&gt;; </a:t>
            </a:r>
            <a:endParaRPr lang="en-US" sz="1600" dirty="0" smtClean="0"/>
          </a:p>
        </p:txBody>
      </p:sp>
      <p:sp>
        <p:nvSpPr>
          <p:cNvPr id="6" name="Rectangle 5"/>
          <p:cNvSpPr/>
          <p:nvPr/>
        </p:nvSpPr>
        <p:spPr>
          <a:xfrm>
            <a:off x="952500" y="2895600"/>
            <a:ext cx="4572000" cy="2031325"/>
          </a:xfrm>
          <a:prstGeom prst="rect">
            <a:avLst/>
          </a:prstGeom>
        </p:spPr>
        <p:txBody>
          <a:bodyPr>
            <a:spAutoFit/>
          </a:bodyPr>
          <a:lstStyle/>
          <a:p>
            <a:r>
              <a:rPr lang="en-US" dirty="0" err="1"/>
              <a:t>const</a:t>
            </a:r>
            <a:r>
              <a:rPr lang="en-US" dirty="0"/>
              <a:t> char* pc= “</a:t>
            </a:r>
            <a:r>
              <a:rPr lang="en-US" dirty="0" err="1"/>
              <a:t>abcd</a:t>
            </a:r>
            <a:r>
              <a:rPr lang="en-US" dirty="0"/>
              <a:t>” ;</a:t>
            </a:r>
          </a:p>
          <a:p>
            <a:r>
              <a:rPr lang="en-US" dirty="0" smtClean="0"/>
              <a:t>char </a:t>
            </a:r>
            <a:r>
              <a:rPr lang="en-US" dirty="0"/>
              <a:t>* s = “</a:t>
            </a:r>
            <a:r>
              <a:rPr lang="en-US" dirty="0" err="1"/>
              <a:t>fgh</a:t>
            </a:r>
            <a:r>
              <a:rPr lang="en-US" dirty="0"/>
              <a:t>” ;</a:t>
            </a:r>
          </a:p>
          <a:p>
            <a:r>
              <a:rPr lang="en-US" dirty="0"/>
              <a:t>pc[1] = ‘f’;      //error</a:t>
            </a:r>
          </a:p>
          <a:p>
            <a:r>
              <a:rPr lang="en-US" dirty="0" smtClean="0"/>
              <a:t>pc </a:t>
            </a:r>
            <a:r>
              <a:rPr lang="en-US" dirty="0"/>
              <a:t>= “</a:t>
            </a:r>
            <a:r>
              <a:rPr lang="en-US" dirty="0" err="1"/>
              <a:t>efgh</a:t>
            </a:r>
            <a:r>
              <a:rPr lang="en-US" dirty="0"/>
              <a:t>”;  </a:t>
            </a:r>
            <a:r>
              <a:rPr lang="en-US" dirty="0" smtClean="0"/>
              <a:t> //OK</a:t>
            </a:r>
            <a:endParaRPr lang="en-US" dirty="0"/>
          </a:p>
          <a:p>
            <a:r>
              <a:rPr lang="en-US" dirty="0"/>
              <a:t>pc = s ;        </a:t>
            </a:r>
            <a:r>
              <a:rPr lang="en-US" dirty="0" smtClean="0"/>
              <a:t>   //OK</a:t>
            </a:r>
          </a:p>
          <a:p>
            <a:endParaRPr lang="en-US" dirty="0"/>
          </a:p>
          <a:p>
            <a:endParaRPr lang="en-US" dirty="0"/>
          </a:p>
        </p:txBody>
      </p:sp>
      <p:sp>
        <p:nvSpPr>
          <p:cNvPr id="7" name="Rectangle 6"/>
          <p:cNvSpPr/>
          <p:nvPr/>
        </p:nvSpPr>
        <p:spPr>
          <a:xfrm>
            <a:off x="4800600" y="3511810"/>
            <a:ext cx="3543300" cy="1200329"/>
          </a:xfrm>
          <a:prstGeom prst="rect">
            <a:avLst/>
          </a:prstGeom>
        </p:spPr>
        <p:txBody>
          <a:bodyPr wrap="square">
            <a:spAutoFit/>
          </a:bodyPr>
          <a:lstStyle/>
          <a:p>
            <a:r>
              <a:rPr lang="en-US" dirty="0" err="1" smtClean="0"/>
              <a:t>const</a:t>
            </a:r>
            <a:r>
              <a:rPr lang="en-US" dirty="0" smtClean="0"/>
              <a:t> </a:t>
            </a:r>
            <a:r>
              <a:rPr lang="en-US" dirty="0"/>
              <a:t>char* </a:t>
            </a:r>
            <a:r>
              <a:rPr lang="en-US" dirty="0" err="1"/>
              <a:t>const</a:t>
            </a:r>
            <a:r>
              <a:rPr lang="en-US" dirty="0"/>
              <a:t> </a:t>
            </a:r>
            <a:r>
              <a:rPr lang="en-US" dirty="0" err="1"/>
              <a:t>cpc</a:t>
            </a:r>
            <a:r>
              <a:rPr lang="en-US" dirty="0"/>
              <a:t> = “</a:t>
            </a:r>
            <a:r>
              <a:rPr lang="en-US" dirty="0" err="1"/>
              <a:t>abcd</a:t>
            </a:r>
            <a:r>
              <a:rPr lang="en-US" dirty="0"/>
              <a:t>”;</a:t>
            </a:r>
          </a:p>
          <a:p>
            <a:r>
              <a:rPr lang="en-US" dirty="0" err="1"/>
              <a:t>cpc</a:t>
            </a:r>
            <a:r>
              <a:rPr lang="en-US" dirty="0"/>
              <a:t>[1] </a:t>
            </a:r>
            <a:r>
              <a:rPr lang="en-US"/>
              <a:t>= </a:t>
            </a:r>
            <a:r>
              <a:rPr lang="en-US" smtClean="0"/>
              <a:t>‘f</a:t>
            </a:r>
            <a:r>
              <a:rPr lang="en-US" smtClean="0"/>
              <a:t>’</a:t>
            </a:r>
            <a:r>
              <a:rPr lang="en-US" smtClean="0"/>
              <a:t> </a:t>
            </a:r>
            <a:r>
              <a:rPr lang="en-US" dirty="0" smtClean="0"/>
              <a:t>;    </a:t>
            </a:r>
            <a:r>
              <a:rPr lang="en-US" dirty="0"/>
              <a:t>//error</a:t>
            </a:r>
          </a:p>
          <a:p>
            <a:r>
              <a:rPr lang="en-US" dirty="0" err="1"/>
              <a:t>cpc</a:t>
            </a:r>
            <a:r>
              <a:rPr lang="en-US" dirty="0"/>
              <a:t> = “</a:t>
            </a:r>
            <a:r>
              <a:rPr lang="en-US" dirty="0" err="1"/>
              <a:t>efgh</a:t>
            </a:r>
            <a:r>
              <a:rPr lang="en-US" dirty="0"/>
              <a:t>”;  </a:t>
            </a:r>
            <a:r>
              <a:rPr lang="en-US" dirty="0" smtClean="0"/>
              <a:t>  </a:t>
            </a:r>
            <a:r>
              <a:rPr lang="en-US" dirty="0"/>
              <a:t>//error</a:t>
            </a:r>
          </a:p>
          <a:p>
            <a:r>
              <a:rPr lang="en-US" dirty="0" err="1"/>
              <a:t>cpc</a:t>
            </a:r>
            <a:r>
              <a:rPr lang="en-US" dirty="0"/>
              <a:t> = s ;         </a:t>
            </a:r>
            <a:r>
              <a:rPr lang="en-US" dirty="0" smtClean="0"/>
              <a:t>   //</a:t>
            </a:r>
            <a:r>
              <a:rPr lang="en-US" dirty="0"/>
              <a:t>error</a:t>
            </a:r>
          </a:p>
        </p:txBody>
      </p:sp>
      <p:sp>
        <p:nvSpPr>
          <p:cNvPr id="8" name="Rectangle 7"/>
          <p:cNvSpPr/>
          <p:nvPr/>
        </p:nvSpPr>
        <p:spPr>
          <a:xfrm>
            <a:off x="952500" y="4872485"/>
            <a:ext cx="4572000" cy="1200329"/>
          </a:xfrm>
          <a:prstGeom prst="rect">
            <a:avLst/>
          </a:prstGeom>
        </p:spPr>
        <p:txBody>
          <a:bodyPr>
            <a:spAutoFit/>
          </a:bodyPr>
          <a:lstStyle/>
          <a:p>
            <a:r>
              <a:rPr lang="en-US" dirty="0"/>
              <a:t>char* </a:t>
            </a:r>
            <a:r>
              <a:rPr lang="en-US" dirty="0" err="1"/>
              <a:t>const</a:t>
            </a:r>
            <a:r>
              <a:rPr lang="en-US" dirty="0"/>
              <a:t> </a:t>
            </a:r>
            <a:r>
              <a:rPr lang="en-US" dirty="0" err="1"/>
              <a:t>cp</a:t>
            </a:r>
            <a:r>
              <a:rPr lang="en-US" dirty="0"/>
              <a:t> = “</a:t>
            </a:r>
            <a:r>
              <a:rPr lang="en-US" dirty="0" err="1"/>
              <a:t>abcd</a:t>
            </a:r>
            <a:r>
              <a:rPr lang="en-US" dirty="0"/>
              <a:t>”;</a:t>
            </a:r>
          </a:p>
          <a:p>
            <a:r>
              <a:rPr lang="en-US" dirty="0" err="1"/>
              <a:t>cp</a:t>
            </a:r>
            <a:r>
              <a:rPr lang="en-US" dirty="0"/>
              <a:t>[1] = </a:t>
            </a:r>
            <a:r>
              <a:rPr lang="en-US" dirty="0" smtClean="0"/>
              <a:t>‘</a:t>
            </a:r>
            <a:r>
              <a:rPr lang="en-US" dirty="0" smtClean="0"/>
              <a:t>f’ </a:t>
            </a:r>
            <a:r>
              <a:rPr lang="en-US" dirty="0"/>
              <a:t>;  </a:t>
            </a:r>
            <a:r>
              <a:rPr lang="en-US" dirty="0" smtClean="0"/>
              <a:t>     </a:t>
            </a:r>
            <a:r>
              <a:rPr lang="en-US" dirty="0"/>
              <a:t>//OK</a:t>
            </a:r>
          </a:p>
          <a:p>
            <a:r>
              <a:rPr lang="en-US" dirty="0" err="1"/>
              <a:t>cp</a:t>
            </a:r>
            <a:r>
              <a:rPr lang="en-US" dirty="0"/>
              <a:t> = “</a:t>
            </a:r>
            <a:r>
              <a:rPr lang="en-US" dirty="0" err="1"/>
              <a:t>efgh</a:t>
            </a:r>
            <a:r>
              <a:rPr lang="en-US" dirty="0"/>
              <a:t>”;      //error</a:t>
            </a:r>
          </a:p>
          <a:p>
            <a:r>
              <a:rPr lang="en-US" dirty="0" err="1"/>
              <a:t>cp</a:t>
            </a:r>
            <a:r>
              <a:rPr lang="en-US" dirty="0"/>
              <a:t> = s ;            </a:t>
            </a:r>
            <a:r>
              <a:rPr lang="en-US" dirty="0" smtClean="0"/>
              <a:t>  //</a:t>
            </a:r>
            <a:r>
              <a:rPr lang="en-US" dirty="0"/>
              <a:t>error</a:t>
            </a:r>
          </a:p>
        </p:txBody>
      </p:sp>
      <p:sp>
        <p:nvSpPr>
          <p:cNvPr id="5" name="Rectangle 4"/>
          <p:cNvSpPr/>
          <p:nvPr/>
        </p:nvSpPr>
        <p:spPr>
          <a:xfrm>
            <a:off x="3433104" y="1043011"/>
            <a:ext cx="2706125" cy="369332"/>
          </a:xfrm>
          <a:prstGeom prst="rect">
            <a:avLst/>
          </a:prstGeom>
        </p:spPr>
        <p:txBody>
          <a:bodyPr wrap="none">
            <a:spAutoFit/>
          </a:bodyPr>
          <a:lstStyle/>
          <a:p>
            <a:r>
              <a:rPr lang="en-US" dirty="0"/>
              <a:t>// </a:t>
            </a:r>
            <a:r>
              <a:rPr lang="en-US" dirty="0" smtClean="0">
                <a:solidFill>
                  <a:srgbClr val="FF0000"/>
                </a:solidFill>
              </a:rPr>
              <a:t>Con </a:t>
            </a:r>
            <a:r>
              <a:rPr lang="en-US" dirty="0" err="1" smtClean="0">
                <a:solidFill>
                  <a:srgbClr val="FF0000"/>
                </a:solidFill>
              </a:rPr>
              <a:t>trỏ</a:t>
            </a:r>
            <a:r>
              <a:rPr lang="en-US" dirty="0" smtClean="0">
                <a:solidFill>
                  <a:srgbClr val="FF0000"/>
                </a:solidFill>
              </a:rPr>
              <a:t> </a:t>
            </a:r>
            <a:r>
              <a:rPr lang="en-US" dirty="0" err="1" smtClean="0"/>
              <a:t>trỏ</a:t>
            </a:r>
            <a:r>
              <a:rPr lang="en-US" dirty="0" smtClean="0"/>
              <a:t> </a:t>
            </a:r>
            <a:r>
              <a:rPr lang="en-US" dirty="0" err="1" smtClean="0"/>
              <a:t>tới</a:t>
            </a:r>
            <a:r>
              <a:rPr lang="en-US" dirty="0" smtClean="0"/>
              <a:t> </a:t>
            </a:r>
            <a:r>
              <a:rPr lang="en-US" dirty="0" err="1" smtClean="0"/>
              <a:t>một</a:t>
            </a:r>
            <a:r>
              <a:rPr lang="en-US" dirty="0" smtClean="0"/>
              <a:t> </a:t>
            </a:r>
            <a:r>
              <a:rPr lang="en-US" dirty="0" err="1" smtClean="0"/>
              <a:t>hằng</a:t>
            </a:r>
            <a:endParaRPr lang="en-US" dirty="0"/>
          </a:p>
        </p:txBody>
      </p:sp>
      <p:sp>
        <p:nvSpPr>
          <p:cNvPr id="9" name="Rectangle 8"/>
          <p:cNvSpPr/>
          <p:nvPr/>
        </p:nvSpPr>
        <p:spPr>
          <a:xfrm>
            <a:off x="3433104" y="1857678"/>
            <a:ext cx="3165867" cy="369332"/>
          </a:xfrm>
          <a:prstGeom prst="rect">
            <a:avLst/>
          </a:prstGeom>
        </p:spPr>
        <p:txBody>
          <a:bodyPr wrap="none">
            <a:spAutoFit/>
          </a:bodyPr>
          <a:lstStyle/>
          <a:p>
            <a:r>
              <a:rPr lang="en-US" dirty="0"/>
              <a:t>// </a:t>
            </a:r>
            <a:r>
              <a:rPr lang="en-US" dirty="0" err="1" smtClean="0">
                <a:solidFill>
                  <a:srgbClr val="FF0000"/>
                </a:solidFill>
              </a:rPr>
              <a:t>Hằng</a:t>
            </a:r>
            <a:r>
              <a:rPr lang="en-US" dirty="0" smtClean="0">
                <a:solidFill>
                  <a:srgbClr val="FF0000"/>
                </a:solidFill>
              </a:rPr>
              <a:t> con </a:t>
            </a:r>
            <a:r>
              <a:rPr lang="en-US" dirty="0" err="1" smtClean="0">
                <a:solidFill>
                  <a:srgbClr val="FF0000"/>
                </a:solidFill>
              </a:rPr>
              <a:t>trỏ</a:t>
            </a:r>
            <a:r>
              <a:rPr lang="en-US" dirty="0" smtClean="0">
                <a:solidFill>
                  <a:srgbClr val="FF0000"/>
                </a:solidFill>
              </a:rPr>
              <a:t> </a:t>
            </a:r>
            <a:r>
              <a:rPr lang="en-US" dirty="0" err="1" smtClean="0"/>
              <a:t>trỏ</a:t>
            </a:r>
            <a:r>
              <a:rPr lang="en-US" dirty="0" smtClean="0"/>
              <a:t> </a:t>
            </a:r>
            <a:r>
              <a:rPr lang="en-US" dirty="0" err="1" smtClean="0"/>
              <a:t>tới</a:t>
            </a:r>
            <a:r>
              <a:rPr lang="en-US" dirty="0" smtClean="0"/>
              <a:t> </a:t>
            </a:r>
            <a:r>
              <a:rPr lang="en-US" dirty="0" err="1" smtClean="0"/>
              <a:t>một</a:t>
            </a:r>
            <a:r>
              <a:rPr lang="en-US" dirty="0" smtClean="0"/>
              <a:t> </a:t>
            </a:r>
            <a:r>
              <a:rPr lang="en-US" dirty="0" err="1" smtClean="0"/>
              <a:t>biến</a:t>
            </a:r>
            <a:endParaRPr lang="en-US" dirty="0"/>
          </a:p>
        </p:txBody>
      </p:sp>
      <p:sp>
        <p:nvSpPr>
          <p:cNvPr id="10" name="Rectangle 9"/>
          <p:cNvSpPr/>
          <p:nvPr/>
        </p:nvSpPr>
        <p:spPr>
          <a:xfrm>
            <a:off x="4343400" y="2279827"/>
            <a:ext cx="3217163" cy="369332"/>
          </a:xfrm>
          <a:prstGeom prst="rect">
            <a:avLst/>
          </a:prstGeom>
        </p:spPr>
        <p:txBody>
          <a:bodyPr wrap="none">
            <a:spAutoFit/>
          </a:bodyPr>
          <a:lstStyle/>
          <a:p>
            <a:r>
              <a:rPr lang="en-US" dirty="0"/>
              <a:t>// </a:t>
            </a:r>
            <a:r>
              <a:rPr lang="en-US" dirty="0" err="1">
                <a:solidFill>
                  <a:srgbClr val="FF0000"/>
                </a:solidFill>
              </a:rPr>
              <a:t>Hằng</a:t>
            </a:r>
            <a:r>
              <a:rPr lang="en-US" dirty="0">
                <a:solidFill>
                  <a:srgbClr val="FF0000"/>
                </a:solidFill>
              </a:rPr>
              <a:t> con </a:t>
            </a:r>
            <a:r>
              <a:rPr lang="en-US" dirty="0" err="1">
                <a:solidFill>
                  <a:srgbClr val="FF0000"/>
                </a:solidFill>
              </a:rPr>
              <a:t>trỏ</a:t>
            </a:r>
            <a:r>
              <a:rPr lang="en-US" dirty="0">
                <a:solidFill>
                  <a:srgbClr val="FF0000"/>
                </a:solidFill>
              </a:rPr>
              <a:t> </a:t>
            </a:r>
            <a:r>
              <a:rPr lang="en-US" dirty="0" err="1"/>
              <a:t>trỏ</a:t>
            </a:r>
            <a:r>
              <a:rPr lang="en-US" dirty="0"/>
              <a:t> </a:t>
            </a:r>
            <a:r>
              <a:rPr lang="en-US" dirty="0" err="1"/>
              <a:t>tới</a:t>
            </a:r>
            <a:r>
              <a:rPr lang="en-US" dirty="0"/>
              <a:t> </a:t>
            </a:r>
            <a:r>
              <a:rPr lang="en-US" dirty="0" err="1"/>
              <a:t>một</a:t>
            </a:r>
            <a:r>
              <a:rPr lang="en-US" dirty="0"/>
              <a:t> </a:t>
            </a:r>
            <a:r>
              <a:rPr lang="en-US" dirty="0" err="1" smtClean="0"/>
              <a:t>hằng</a:t>
            </a:r>
            <a:endParaRPr lang="en-US" dirty="0"/>
          </a:p>
        </p:txBody>
      </p:sp>
      <p:sp>
        <p:nvSpPr>
          <p:cNvPr id="11" name="Rectangle 10"/>
          <p:cNvSpPr/>
          <p:nvPr/>
        </p:nvSpPr>
        <p:spPr>
          <a:xfrm>
            <a:off x="3433104" y="1465160"/>
            <a:ext cx="2706125" cy="369332"/>
          </a:xfrm>
          <a:prstGeom prst="rect">
            <a:avLst/>
          </a:prstGeom>
        </p:spPr>
        <p:txBody>
          <a:bodyPr wrap="none">
            <a:spAutoFit/>
          </a:bodyPr>
          <a:lstStyle/>
          <a:p>
            <a:r>
              <a:rPr lang="en-US" dirty="0"/>
              <a:t>// </a:t>
            </a:r>
            <a:r>
              <a:rPr lang="en-US" dirty="0">
                <a:solidFill>
                  <a:srgbClr val="FF0000"/>
                </a:solidFill>
              </a:rPr>
              <a:t>Con </a:t>
            </a:r>
            <a:r>
              <a:rPr lang="en-US" dirty="0" err="1">
                <a:solidFill>
                  <a:srgbClr val="FF0000"/>
                </a:solidFill>
              </a:rPr>
              <a:t>trỏ</a:t>
            </a:r>
            <a:r>
              <a:rPr lang="en-US" dirty="0">
                <a:solidFill>
                  <a:srgbClr val="FF0000"/>
                </a:solidFill>
              </a:rPr>
              <a:t> </a:t>
            </a:r>
            <a:r>
              <a:rPr lang="en-US" dirty="0" err="1"/>
              <a:t>trỏ</a:t>
            </a:r>
            <a:r>
              <a:rPr lang="en-US" dirty="0"/>
              <a:t> </a:t>
            </a:r>
            <a:r>
              <a:rPr lang="en-US" dirty="0" err="1"/>
              <a:t>tới</a:t>
            </a:r>
            <a:r>
              <a:rPr lang="en-US" dirty="0"/>
              <a:t> </a:t>
            </a:r>
            <a:r>
              <a:rPr lang="en-US" dirty="0" err="1"/>
              <a:t>một</a:t>
            </a:r>
            <a:r>
              <a:rPr lang="en-US" dirty="0"/>
              <a:t> </a:t>
            </a:r>
            <a:r>
              <a:rPr lang="en-US" dirty="0" err="1"/>
              <a:t>hằng</a:t>
            </a:r>
            <a:endParaRPr lang="en-US" dirty="0"/>
          </a:p>
        </p:txBody>
      </p:sp>
    </p:spTree>
    <p:extLst>
      <p:ext uri="{BB962C8B-B14F-4D97-AF65-F5344CB8AC3E}">
        <p14:creationId xmlns:p14="http://schemas.microsoft.com/office/powerpoint/2010/main" val="1329806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5" grpId="0"/>
      <p:bldP spid="9" grpId="0"/>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13</a:t>
            </a:fld>
            <a:endParaRPr lang="en-US" dirty="0"/>
          </a:p>
        </p:txBody>
      </p:sp>
      <p:sp>
        <p:nvSpPr>
          <p:cNvPr id="2" name="Title 1"/>
          <p:cNvSpPr>
            <a:spLocks noGrp="1"/>
          </p:cNvSpPr>
          <p:nvPr>
            <p:ph type="title"/>
          </p:nvPr>
        </p:nvSpPr>
        <p:spPr/>
        <p:txBody>
          <a:bodyPr/>
          <a:lstStyle/>
          <a:p>
            <a:r>
              <a:rPr lang="en-US" smtClean="0"/>
              <a:t>Con trỏ NULL</a:t>
            </a:r>
            <a:endParaRPr lang="en-US"/>
          </a:p>
        </p:txBody>
      </p:sp>
      <p:sp>
        <p:nvSpPr>
          <p:cNvPr id="3" name="Content Placeholder 2"/>
          <p:cNvSpPr>
            <a:spLocks noGrp="1"/>
          </p:cNvSpPr>
          <p:nvPr>
            <p:ph type="body" sz="quarter" idx="13"/>
          </p:nvPr>
        </p:nvSpPr>
        <p:spPr/>
        <p:txBody>
          <a:bodyPr>
            <a:normAutofit/>
          </a:bodyPr>
          <a:lstStyle/>
          <a:p>
            <a:r>
              <a:rPr lang="en-US" sz="2400" dirty="0" err="1" smtClean="0"/>
              <a:t>Là</a:t>
            </a:r>
            <a:r>
              <a:rPr lang="en-US" sz="2400" dirty="0" smtClean="0"/>
              <a:t> </a:t>
            </a:r>
            <a:r>
              <a:rPr lang="en-US" sz="2400" dirty="0" err="1" smtClean="0"/>
              <a:t>một</a:t>
            </a:r>
            <a:r>
              <a:rPr lang="en-US" sz="2400" dirty="0" smtClean="0"/>
              <a:t> </a:t>
            </a:r>
            <a:r>
              <a:rPr lang="en-US" sz="2400" dirty="0" err="1" smtClean="0"/>
              <a:t>hằng</a:t>
            </a:r>
            <a:r>
              <a:rPr lang="en-US" sz="2400" dirty="0" smtClean="0"/>
              <a:t> con </a:t>
            </a:r>
            <a:r>
              <a:rPr lang="en-US" sz="2400" dirty="0" err="1" smtClean="0"/>
              <a:t>trỏ</a:t>
            </a:r>
            <a:r>
              <a:rPr lang="en-US" sz="2400" dirty="0" smtClean="0"/>
              <a:t> </a:t>
            </a:r>
            <a:r>
              <a:rPr lang="en-US" sz="2400" dirty="0" err="1" smtClean="0"/>
              <a:t>mang</a:t>
            </a:r>
            <a:r>
              <a:rPr lang="en-US" sz="2400" dirty="0" smtClean="0"/>
              <a:t> ý </a:t>
            </a:r>
            <a:r>
              <a:rPr lang="en-US" sz="2400" dirty="0" err="1" smtClean="0"/>
              <a:t>nghĩa</a:t>
            </a:r>
            <a:r>
              <a:rPr lang="en-US" sz="2400" dirty="0" smtClean="0"/>
              <a:t> </a:t>
            </a:r>
            <a:r>
              <a:rPr lang="en-US" sz="2400" dirty="0" err="1" smtClean="0"/>
              <a:t>đặc</a:t>
            </a:r>
            <a:r>
              <a:rPr lang="en-US" sz="2400" dirty="0" smtClean="0"/>
              <a:t> </a:t>
            </a:r>
            <a:r>
              <a:rPr lang="en-US" sz="2400" dirty="0" err="1" smtClean="0"/>
              <a:t>biệt</a:t>
            </a:r>
            <a:r>
              <a:rPr lang="en-US" sz="2400" dirty="0" smtClean="0"/>
              <a:t> </a:t>
            </a:r>
            <a:r>
              <a:rPr lang="en-US" sz="2400" dirty="0" err="1" smtClean="0"/>
              <a:t>là</a:t>
            </a:r>
            <a:r>
              <a:rPr lang="en-US" sz="2400" dirty="0" smtClean="0"/>
              <a:t> </a:t>
            </a:r>
            <a:r>
              <a:rPr lang="en-US" sz="2400" dirty="0" err="1" smtClean="0"/>
              <a:t>không</a:t>
            </a:r>
            <a:r>
              <a:rPr lang="en-US" sz="2400" dirty="0" smtClean="0"/>
              <a:t> </a:t>
            </a:r>
            <a:r>
              <a:rPr lang="en-US" sz="2400" dirty="0" err="1" smtClean="0"/>
              <a:t>trỏ</a:t>
            </a:r>
            <a:r>
              <a:rPr lang="en-US" sz="2400" dirty="0" smtClean="0"/>
              <a:t> </a:t>
            </a:r>
            <a:r>
              <a:rPr lang="en-US" sz="2400" dirty="0" err="1" smtClean="0"/>
              <a:t>tới</a:t>
            </a:r>
            <a:r>
              <a:rPr lang="en-US" sz="2400" dirty="0" smtClean="0"/>
              <a:t> </a:t>
            </a:r>
            <a:r>
              <a:rPr lang="en-US" sz="2400" dirty="0" err="1" smtClean="0"/>
              <a:t>địa</a:t>
            </a:r>
            <a:r>
              <a:rPr lang="en-US" sz="2400" dirty="0" smtClean="0"/>
              <a:t> </a:t>
            </a:r>
            <a:r>
              <a:rPr lang="en-US" sz="2400" dirty="0" err="1" smtClean="0"/>
              <a:t>chỉ</a:t>
            </a:r>
            <a:r>
              <a:rPr lang="en-US" sz="2400" dirty="0" smtClean="0"/>
              <a:t> </a:t>
            </a:r>
            <a:r>
              <a:rPr lang="en-US" sz="2400" dirty="0" err="1" smtClean="0"/>
              <a:t>nào</a:t>
            </a:r>
            <a:r>
              <a:rPr lang="en-US" sz="2400" dirty="0" smtClean="0"/>
              <a:t> </a:t>
            </a:r>
            <a:r>
              <a:rPr lang="en-US" sz="2400" dirty="0" err="1" smtClean="0"/>
              <a:t>trong</a:t>
            </a:r>
            <a:r>
              <a:rPr lang="en-US" sz="2400" dirty="0" smtClean="0"/>
              <a:t> </a:t>
            </a:r>
            <a:r>
              <a:rPr lang="en-US" sz="2400" dirty="0" err="1" smtClean="0"/>
              <a:t>bộ</a:t>
            </a:r>
            <a:r>
              <a:rPr lang="en-US" sz="2400" dirty="0" smtClean="0"/>
              <a:t> </a:t>
            </a:r>
            <a:r>
              <a:rPr lang="en-US" sz="2400" dirty="0" err="1" smtClean="0"/>
              <a:t>nhớ</a:t>
            </a:r>
            <a:r>
              <a:rPr lang="en-US" sz="2400" dirty="0" smtClean="0"/>
              <a:t>.</a:t>
            </a:r>
          </a:p>
          <a:p>
            <a:r>
              <a:rPr lang="en-US" sz="2400" dirty="0" err="1" smtClean="0"/>
              <a:t>Tùy</a:t>
            </a:r>
            <a:r>
              <a:rPr lang="en-US" sz="2400" dirty="0" smtClean="0"/>
              <a:t> </a:t>
            </a:r>
            <a:r>
              <a:rPr lang="en-US" sz="2400" dirty="0" err="1" smtClean="0"/>
              <a:t>vào</a:t>
            </a:r>
            <a:r>
              <a:rPr lang="en-US" sz="2400" dirty="0" smtClean="0"/>
              <a:t> </a:t>
            </a:r>
            <a:r>
              <a:rPr lang="en-US" sz="2400" dirty="0" err="1" smtClean="0"/>
              <a:t>thư</a:t>
            </a:r>
            <a:r>
              <a:rPr lang="en-US" sz="2400" dirty="0" smtClean="0"/>
              <a:t> </a:t>
            </a:r>
            <a:r>
              <a:rPr lang="en-US" sz="2400" dirty="0" err="1" smtClean="0"/>
              <a:t>viện</a:t>
            </a:r>
            <a:r>
              <a:rPr lang="en-US" sz="2400" dirty="0" smtClean="0"/>
              <a:t> </a:t>
            </a:r>
            <a:r>
              <a:rPr lang="en-US" sz="2400" dirty="0" err="1" smtClean="0"/>
              <a:t>chuẩn</a:t>
            </a:r>
            <a:r>
              <a:rPr lang="en-US" sz="2400" dirty="0" smtClean="0"/>
              <a:t>, con </a:t>
            </a:r>
            <a:r>
              <a:rPr lang="en-US" sz="2400" dirty="0" err="1" smtClean="0"/>
              <a:t>trỏ</a:t>
            </a:r>
            <a:r>
              <a:rPr lang="en-US" sz="2400" dirty="0" smtClean="0"/>
              <a:t> Null </a:t>
            </a:r>
            <a:r>
              <a:rPr lang="en-US" sz="2400" dirty="0" err="1" smtClean="0"/>
              <a:t>thường</a:t>
            </a:r>
            <a:r>
              <a:rPr lang="en-US" sz="2400" dirty="0" smtClean="0"/>
              <a:t> = 0.</a:t>
            </a:r>
          </a:p>
          <a:p>
            <a:r>
              <a:rPr lang="en-US" sz="2400" dirty="0" err="1" smtClean="0"/>
              <a:t>Không</a:t>
            </a:r>
            <a:r>
              <a:rPr lang="en-US" sz="2400" dirty="0" smtClean="0"/>
              <a:t> </a:t>
            </a:r>
            <a:r>
              <a:rPr lang="en-US" sz="2400" dirty="0" err="1" smtClean="0"/>
              <a:t>được</a:t>
            </a:r>
            <a:r>
              <a:rPr lang="en-US" sz="2400" dirty="0" smtClean="0"/>
              <a:t> </a:t>
            </a:r>
            <a:r>
              <a:rPr lang="en-US" sz="2400" dirty="0" err="1" smtClean="0"/>
              <a:t>gán</a:t>
            </a:r>
            <a:r>
              <a:rPr lang="en-US" sz="2400" dirty="0" smtClean="0"/>
              <a:t> </a:t>
            </a:r>
            <a:r>
              <a:rPr lang="en-US" sz="2400" dirty="0" err="1" smtClean="0"/>
              <a:t>giá</a:t>
            </a:r>
            <a:r>
              <a:rPr lang="en-US" sz="2400" dirty="0" smtClean="0"/>
              <a:t> </a:t>
            </a:r>
            <a:r>
              <a:rPr lang="en-US" sz="2400" dirty="0" err="1" smtClean="0"/>
              <a:t>trị</a:t>
            </a:r>
            <a:r>
              <a:rPr lang="en-US" sz="2400" dirty="0"/>
              <a:t> </a:t>
            </a:r>
            <a:r>
              <a:rPr lang="en-US" sz="2400" dirty="0" err="1" smtClean="0"/>
              <a:t>cho</a:t>
            </a:r>
            <a:r>
              <a:rPr lang="en-US" sz="2400" dirty="0" smtClean="0"/>
              <a:t> con </a:t>
            </a:r>
            <a:r>
              <a:rPr lang="en-US" sz="2400" dirty="0" err="1" smtClean="0"/>
              <a:t>trỏ</a:t>
            </a:r>
            <a:r>
              <a:rPr lang="en-US" sz="2400" dirty="0" smtClean="0"/>
              <a:t> NULL</a:t>
            </a:r>
          </a:p>
          <a:p>
            <a:pPr lvl="1">
              <a:spcBef>
                <a:spcPts val="0"/>
              </a:spcBef>
            </a:pPr>
            <a:r>
              <a:rPr lang="en-US" sz="2000" dirty="0" err="1" smtClean="0">
                <a:latin typeface="Courier New" pitchFamily="49" charset="0"/>
                <a:cs typeface="Courier New" pitchFamily="49" charset="0"/>
              </a:rPr>
              <a:t>int</a:t>
            </a:r>
            <a:r>
              <a:rPr lang="en-US" sz="2000" dirty="0" smtClean="0">
                <a:latin typeface="Courier New" pitchFamily="49" charset="0"/>
                <a:cs typeface="Courier New" pitchFamily="49" charset="0"/>
              </a:rPr>
              <a:t> *</a:t>
            </a:r>
            <a:r>
              <a:rPr lang="en-US" sz="2000" dirty="0" err="1" smtClean="0">
                <a:latin typeface="Courier New" pitchFamily="49" charset="0"/>
                <a:cs typeface="Courier New" pitchFamily="49" charset="0"/>
              </a:rPr>
              <a:t>pInt</a:t>
            </a:r>
            <a:r>
              <a:rPr lang="en-US" sz="2000" dirty="0" smtClean="0">
                <a:latin typeface="Courier New" pitchFamily="49" charset="0"/>
                <a:cs typeface="Courier New" pitchFamily="49" charset="0"/>
              </a:rPr>
              <a:t> = NULL</a:t>
            </a:r>
          </a:p>
          <a:p>
            <a:pPr lvl="1" indent="19050">
              <a:spcBef>
                <a:spcPts val="0"/>
              </a:spcBef>
              <a:buNone/>
            </a:pPr>
            <a:r>
              <a:rPr lang="en-US" sz="2000" dirty="0" smtClean="0">
                <a:latin typeface="Courier New" pitchFamily="49" charset="0"/>
                <a:cs typeface="Courier New" pitchFamily="49" charset="0"/>
              </a:rPr>
              <a:t>*</a:t>
            </a:r>
            <a:r>
              <a:rPr lang="en-US" sz="2000" dirty="0" err="1" smtClean="0">
                <a:latin typeface="Courier New" pitchFamily="49" charset="0"/>
                <a:cs typeface="Courier New" pitchFamily="49" charset="0"/>
              </a:rPr>
              <a:t>pInt</a:t>
            </a:r>
            <a:r>
              <a:rPr lang="en-US" sz="2000" dirty="0" smtClean="0">
                <a:latin typeface="Courier New" pitchFamily="49" charset="0"/>
                <a:cs typeface="Courier New" pitchFamily="49" charset="0"/>
              </a:rPr>
              <a:t> = 100;	/* </a:t>
            </a:r>
            <a:r>
              <a:rPr lang="en-US" sz="2000" dirty="0" err="1" smtClean="0">
                <a:latin typeface="Courier New" pitchFamily="49" charset="0"/>
                <a:cs typeface="Courier New" pitchFamily="49" charset="0"/>
              </a:rPr>
              <a:t>lỗi</a:t>
            </a:r>
            <a:r>
              <a:rPr lang="en-US" sz="2000" dirty="0" smtClean="0">
                <a:latin typeface="Courier New" pitchFamily="49" charset="0"/>
                <a:cs typeface="Courier New" pitchFamily="49" charset="0"/>
              </a:rPr>
              <a:t> */</a:t>
            </a:r>
          </a:p>
          <a:p>
            <a:r>
              <a:rPr lang="en-US" sz="2400" dirty="0" err="1" smtClean="0"/>
              <a:t>Cần</a:t>
            </a:r>
            <a:r>
              <a:rPr lang="en-US" sz="2400" dirty="0" smtClean="0"/>
              <a:t> </a:t>
            </a:r>
            <a:r>
              <a:rPr lang="en-US" sz="2400" dirty="0" err="1" smtClean="0"/>
              <a:t>phân</a:t>
            </a:r>
            <a:r>
              <a:rPr lang="en-US" sz="2400" dirty="0" smtClean="0"/>
              <a:t> </a:t>
            </a:r>
            <a:r>
              <a:rPr lang="en-US" sz="2400" dirty="0" err="1" smtClean="0"/>
              <a:t>biệt</a:t>
            </a:r>
            <a:r>
              <a:rPr lang="en-US" sz="2400" dirty="0" smtClean="0"/>
              <a:t> con </a:t>
            </a:r>
            <a:r>
              <a:rPr lang="en-US" sz="2400" dirty="0" err="1" smtClean="0"/>
              <a:t>trỏ</a:t>
            </a:r>
            <a:r>
              <a:rPr lang="en-US" sz="2400" dirty="0" smtClean="0"/>
              <a:t> NULL </a:t>
            </a:r>
            <a:r>
              <a:rPr lang="en-US" sz="2400" dirty="0" err="1" smtClean="0"/>
              <a:t>và</a:t>
            </a:r>
            <a:r>
              <a:rPr lang="en-US" sz="2400" dirty="0" smtClean="0"/>
              <a:t> con </a:t>
            </a:r>
            <a:r>
              <a:rPr lang="en-US" sz="2400" dirty="0" err="1" smtClean="0"/>
              <a:t>trỏ</a:t>
            </a:r>
            <a:r>
              <a:rPr lang="en-US" sz="2400" dirty="0" smtClean="0"/>
              <a:t> </a:t>
            </a:r>
            <a:r>
              <a:rPr lang="en-US" sz="2400" dirty="0" err="1" smtClean="0"/>
              <a:t>chưa</a:t>
            </a:r>
            <a:r>
              <a:rPr lang="en-US" sz="2400" dirty="0" smtClean="0"/>
              <a:t> </a:t>
            </a:r>
            <a:r>
              <a:rPr lang="en-US" sz="2400" dirty="0" err="1" smtClean="0"/>
              <a:t>được</a:t>
            </a:r>
            <a:r>
              <a:rPr lang="en-US" sz="2400" dirty="0" smtClean="0"/>
              <a:t> </a:t>
            </a:r>
            <a:r>
              <a:rPr lang="en-US" sz="2400" dirty="0" err="1" smtClean="0"/>
              <a:t>khởi</a:t>
            </a:r>
            <a:r>
              <a:rPr lang="en-US" sz="2400" dirty="0" smtClean="0"/>
              <a:t> </a:t>
            </a:r>
            <a:r>
              <a:rPr lang="en-US" sz="2400" dirty="0" err="1" smtClean="0"/>
              <a:t>tạo</a:t>
            </a:r>
            <a:r>
              <a:rPr lang="en-US" sz="2400" dirty="0" smtClean="0"/>
              <a:t> (</a:t>
            </a:r>
            <a:r>
              <a:rPr lang="en-US" sz="2400" dirty="0" err="1" smtClean="0"/>
              <a:t>trỏ</a:t>
            </a:r>
            <a:r>
              <a:rPr lang="en-US" sz="2400" dirty="0" smtClean="0"/>
              <a:t> </a:t>
            </a:r>
            <a:r>
              <a:rPr lang="en-US" sz="2400" dirty="0" err="1" smtClean="0"/>
              <a:t>đến</a:t>
            </a:r>
            <a:r>
              <a:rPr lang="en-US" sz="2400" dirty="0" smtClean="0"/>
              <a:t> </a:t>
            </a:r>
            <a:r>
              <a:rPr lang="en-US" sz="2400" dirty="0" err="1" smtClean="0"/>
              <a:t>địa</a:t>
            </a:r>
            <a:r>
              <a:rPr lang="en-US" sz="2400" dirty="0" smtClean="0"/>
              <a:t> </a:t>
            </a:r>
            <a:r>
              <a:rPr lang="en-US" sz="2400" dirty="0" err="1" smtClean="0"/>
              <a:t>chỉ</a:t>
            </a:r>
            <a:r>
              <a:rPr lang="en-US" sz="2400" dirty="0" smtClean="0"/>
              <a:t> </a:t>
            </a:r>
            <a:r>
              <a:rPr lang="en-US" sz="2400" dirty="0" err="1" smtClean="0"/>
              <a:t>ngẫu</a:t>
            </a:r>
            <a:r>
              <a:rPr lang="en-US" sz="2400" dirty="0" smtClean="0"/>
              <a:t> </a:t>
            </a:r>
            <a:r>
              <a:rPr lang="en-US" sz="2400" dirty="0" err="1" smtClean="0"/>
              <a:t>nhiên</a:t>
            </a:r>
            <a:r>
              <a:rPr lang="en-US" sz="2400" dirty="0" smtClean="0"/>
              <a:t>)</a:t>
            </a:r>
            <a:r>
              <a:rPr lang="en-US" sz="2400" dirty="0">
                <a:sym typeface="Wingdings" pitchFamily="2" charset="2"/>
              </a:rPr>
              <a:t> </a:t>
            </a:r>
            <a:endParaRPr lang="en-US" sz="2400" dirty="0" smtClean="0">
              <a:sym typeface="Wingdings" pitchFamily="2" charset="2"/>
            </a:endParaRPr>
          </a:p>
          <a:p>
            <a:pPr lvl="1"/>
            <a:r>
              <a:rPr lang="en-US" sz="2100" dirty="0" smtClean="0">
                <a:sym typeface="Wingdings" pitchFamily="2" charset="2"/>
              </a:rPr>
              <a:t></a:t>
            </a:r>
            <a:r>
              <a:rPr lang="en-US" sz="2100" dirty="0" smtClean="0"/>
              <a:t> </a:t>
            </a:r>
            <a:r>
              <a:rPr lang="en-US" sz="2100" dirty="0" err="1"/>
              <a:t>để</a:t>
            </a:r>
            <a:r>
              <a:rPr lang="en-US" sz="2100" dirty="0"/>
              <a:t> </a:t>
            </a:r>
            <a:r>
              <a:rPr lang="en-US" sz="2100" dirty="0" err="1"/>
              <a:t>tránh</a:t>
            </a:r>
            <a:r>
              <a:rPr lang="en-US" sz="2100" dirty="0"/>
              <a:t> </a:t>
            </a:r>
            <a:r>
              <a:rPr lang="en-US" sz="2100" dirty="0" err="1"/>
              <a:t>lỗi</a:t>
            </a:r>
            <a:r>
              <a:rPr lang="en-US" sz="2100" dirty="0"/>
              <a:t>, </a:t>
            </a:r>
            <a:r>
              <a:rPr lang="en-US" sz="2100" dirty="0" err="1"/>
              <a:t>luôn</a:t>
            </a:r>
            <a:r>
              <a:rPr lang="en-US" sz="2100" dirty="0"/>
              <a:t> </a:t>
            </a:r>
            <a:r>
              <a:rPr lang="en-US" sz="2100" dirty="0" err="1"/>
              <a:t>gán</a:t>
            </a:r>
            <a:r>
              <a:rPr lang="en-US" sz="2100" dirty="0"/>
              <a:t> con </a:t>
            </a:r>
            <a:r>
              <a:rPr lang="en-US" sz="2100" dirty="0" err="1"/>
              <a:t>trỏ</a:t>
            </a:r>
            <a:r>
              <a:rPr lang="en-US" sz="2100" dirty="0"/>
              <a:t> </a:t>
            </a:r>
            <a:r>
              <a:rPr lang="en-US" sz="2100" dirty="0" err="1"/>
              <a:t>bằng</a:t>
            </a:r>
            <a:r>
              <a:rPr lang="en-US" sz="2100" dirty="0"/>
              <a:t> NULL </a:t>
            </a:r>
            <a:r>
              <a:rPr lang="en-US" sz="2100" dirty="0" err="1"/>
              <a:t>khi</a:t>
            </a:r>
            <a:r>
              <a:rPr lang="en-US" sz="2100" dirty="0"/>
              <a:t> </a:t>
            </a:r>
            <a:r>
              <a:rPr lang="en-US" sz="2100" dirty="0" err="1"/>
              <a:t>chưa</a:t>
            </a:r>
            <a:r>
              <a:rPr lang="en-US" sz="2100" dirty="0"/>
              <a:t> </a:t>
            </a:r>
            <a:r>
              <a:rPr lang="en-US" sz="2100" dirty="0" err="1"/>
              <a:t>hoặc</a:t>
            </a:r>
            <a:r>
              <a:rPr lang="en-US" sz="2100" dirty="0"/>
              <a:t> </a:t>
            </a:r>
            <a:r>
              <a:rPr lang="en-US" sz="2100" dirty="0" err="1"/>
              <a:t>tạm</a:t>
            </a:r>
            <a:r>
              <a:rPr lang="en-US" sz="2100" dirty="0"/>
              <a:t> </a:t>
            </a:r>
            <a:r>
              <a:rPr lang="en-US" sz="2100" dirty="0" err="1"/>
              <a:t>thời</a:t>
            </a:r>
            <a:r>
              <a:rPr lang="en-US" sz="2100" dirty="0"/>
              <a:t> </a:t>
            </a:r>
            <a:r>
              <a:rPr lang="en-US" sz="2100" dirty="0" err="1"/>
              <a:t>không</a:t>
            </a:r>
            <a:r>
              <a:rPr lang="en-US" sz="2100" dirty="0"/>
              <a:t> </a:t>
            </a:r>
            <a:r>
              <a:rPr lang="en-US" sz="2100" dirty="0" err="1"/>
              <a:t>được</a:t>
            </a:r>
            <a:r>
              <a:rPr lang="en-US" sz="2100" dirty="0"/>
              <a:t> </a:t>
            </a:r>
            <a:r>
              <a:rPr lang="en-US" sz="2100" dirty="0" err="1"/>
              <a:t>dùng</a:t>
            </a:r>
            <a:r>
              <a:rPr lang="en-US" sz="2100" dirty="0"/>
              <a:t> </a:t>
            </a:r>
            <a:r>
              <a:rPr lang="en-US" sz="2100" dirty="0" err="1" smtClean="0"/>
              <a:t>tới</a:t>
            </a:r>
            <a:endParaRPr lang="en-US" sz="2100" dirty="0" smtClean="0"/>
          </a:p>
          <a:p>
            <a:r>
              <a:rPr lang="en-US" sz="2400" dirty="0" err="1" smtClean="0"/>
              <a:t>Xác</a:t>
            </a:r>
            <a:r>
              <a:rPr lang="en-US" sz="2400" dirty="0" smtClean="0"/>
              <a:t> </a:t>
            </a:r>
            <a:r>
              <a:rPr lang="en-US" sz="2400" dirty="0" err="1" smtClean="0"/>
              <a:t>định</a:t>
            </a:r>
            <a:r>
              <a:rPr lang="en-US" sz="2400" dirty="0" smtClean="0"/>
              <a:t> </a:t>
            </a:r>
            <a:r>
              <a:rPr lang="en-US" sz="2400" dirty="0" err="1" smtClean="0"/>
              <a:t>tính</a:t>
            </a:r>
            <a:r>
              <a:rPr lang="en-US" sz="2400" dirty="0" smtClean="0"/>
              <a:t> </a:t>
            </a:r>
            <a:r>
              <a:rPr lang="en-US" sz="2400" dirty="0" err="1" smtClean="0"/>
              <a:t>hợp</a:t>
            </a:r>
            <a:r>
              <a:rPr lang="en-US" sz="2400" dirty="0" smtClean="0"/>
              <a:t> </a:t>
            </a:r>
            <a:r>
              <a:rPr lang="en-US" sz="2400" dirty="0" err="1" smtClean="0"/>
              <a:t>lệ</a:t>
            </a:r>
            <a:r>
              <a:rPr lang="en-US" sz="2400" dirty="0" smtClean="0"/>
              <a:t> </a:t>
            </a:r>
            <a:r>
              <a:rPr lang="en-US" sz="2400" dirty="0" err="1" smtClean="0"/>
              <a:t>của</a:t>
            </a:r>
            <a:r>
              <a:rPr lang="en-US" sz="2400" dirty="0" smtClean="0"/>
              <a:t> </a:t>
            </a:r>
            <a:r>
              <a:rPr lang="en-US" sz="2400" dirty="0" err="1" smtClean="0"/>
              <a:t>một</a:t>
            </a:r>
            <a:r>
              <a:rPr lang="en-US" sz="2400" dirty="0" smtClean="0"/>
              <a:t> </a:t>
            </a:r>
            <a:r>
              <a:rPr lang="en-US" sz="2400" dirty="0" err="1" smtClean="0"/>
              <a:t>biến</a:t>
            </a:r>
            <a:r>
              <a:rPr lang="en-US" sz="2400" dirty="0" smtClean="0"/>
              <a:t> con </a:t>
            </a:r>
            <a:r>
              <a:rPr lang="en-US" sz="2400" dirty="0" err="1" smtClean="0"/>
              <a:t>trỏ</a:t>
            </a:r>
            <a:r>
              <a:rPr lang="en-US" sz="2400" dirty="0" smtClean="0"/>
              <a:t>. </a:t>
            </a:r>
            <a:endParaRPr lang="en-US" sz="2400" dirty="0"/>
          </a:p>
          <a:p>
            <a:pPr lvl="1"/>
            <a:r>
              <a:rPr lang="en-US" sz="2000" dirty="0">
                <a:latin typeface="Courier New" pitchFamily="49" charset="0"/>
                <a:cs typeface="Courier New" pitchFamily="49" charset="0"/>
              </a:rPr>
              <a:t>if (p != NULL) </a:t>
            </a:r>
            <a:endParaRPr lang="en-US" sz="2000" dirty="0" smtClean="0">
              <a:latin typeface="Courier New" pitchFamily="49" charset="0"/>
              <a:cs typeface="Courier New" pitchFamily="49" charset="0"/>
            </a:endParaRPr>
          </a:p>
          <a:p>
            <a:pPr lvl="1"/>
            <a:r>
              <a:rPr lang="en-US" sz="2000" dirty="0" smtClean="0">
                <a:latin typeface="Courier New" pitchFamily="49" charset="0"/>
                <a:cs typeface="Courier New" pitchFamily="49" charset="0"/>
              </a:rPr>
              <a:t>i</a:t>
            </a:r>
            <a:r>
              <a:rPr lang="en-US" sz="2000" dirty="0" smtClean="0">
                <a:latin typeface="Courier New" pitchFamily="49" charset="0"/>
                <a:cs typeface="Courier New" pitchFamily="49" charset="0"/>
                <a:sym typeface="Wingdings" pitchFamily="2" charset="2"/>
              </a:rPr>
              <a:t>f </a:t>
            </a:r>
            <a:r>
              <a:rPr lang="en-US" sz="2000" dirty="0">
                <a:latin typeface="Courier New" pitchFamily="49" charset="0"/>
                <a:cs typeface="Courier New" pitchFamily="49" charset="0"/>
                <a:sym typeface="Wingdings" pitchFamily="2" charset="2"/>
              </a:rPr>
              <a:t>(p</a:t>
            </a:r>
            <a:r>
              <a:rPr lang="en-US" sz="2000" dirty="0" smtClean="0">
                <a:latin typeface="Courier New" pitchFamily="49" charset="0"/>
                <a:cs typeface="Courier New" pitchFamily="49" charset="0"/>
                <a:sym typeface="Wingdings" pitchFamily="2" charset="2"/>
              </a:rPr>
              <a:t>)</a:t>
            </a:r>
          </a:p>
          <a:p>
            <a:pPr lvl="1"/>
            <a:r>
              <a:rPr lang="en-US" sz="2000" dirty="0" smtClean="0">
                <a:latin typeface="Courier New" pitchFamily="49" charset="0"/>
                <a:cs typeface="Courier New" pitchFamily="49" charset="0"/>
                <a:sym typeface="Wingdings" pitchFamily="2" charset="2"/>
              </a:rPr>
              <a:t>if(!p)</a:t>
            </a:r>
            <a:endParaRPr lang="en-US" sz="2000" dirty="0">
              <a:latin typeface="Courier New" pitchFamily="49" charset="0"/>
              <a:cs typeface="Courier New" pitchFamily="49" charset="0"/>
            </a:endParaRPr>
          </a:p>
        </p:txBody>
      </p:sp>
    </p:spTree>
    <p:extLst>
      <p:ext uri="{BB962C8B-B14F-4D97-AF65-F5344CB8AC3E}">
        <p14:creationId xmlns:p14="http://schemas.microsoft.com/office/powerpoint/2010/main" val="141960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14</a:t>
            </a:fld>
            <a:endParaRPr lang="en-US"/>
          </a:p>
        </p:txBody>
      </p:sp>
      <p:sp>
        <p:nvSpPr>
          <p:cNvPr id="2" name="Title 1"/>
          <p:cNvSpPr>
            <a:spLocks noGrp="1"/>
          </p:cNvSpPr>
          <p:nvPr>
            <p:ph type="title"/>
          </p:nvPr>
        </p:nvSpPr>
        <p:spPr/>
        <p:txBody>
          <a:bodyPr/>
          <a:lstStyle/>
          <a:p>
            <a:r>
              <a:rPr lang="en-US" dirty="0" err="1" smtClean="0"/>
              <a:t>Cấp</a:t>
            </a:r>
            <a:r>
              <a:rPr lang="en-US" dirty="0" smtClean="0"/>
              <a:t> </a:t>
            </a:r>
            <a:r>
              <a:rPr lang="en-US" dirty="0" err="1" smtClean="0"/>
              <a:t>phát</a:t>
            </a:r>
            <a:r>
              <a:rPr lang="en-US" dirty="0" smtClean="0"/>
              <a:t> </a:t>
            </a:r>
            <a:r>
              <a:rPr lang="en-US" dirty="0" err="1" smtClean="0"/>
              <a:t>bộ</a:t>
            </a:r>
            <a:r>
              <a:rPr lang="en-US" dirty="0" smtClean="0"/>
              <a:t> </a:t>
            </a:r>
            <a:r>
              <a:rPr lang="en-US" dirty="0" err="1" smtClean="0"/>
              <a:t>nhớ</a:t>
            </a:r>
            <a:r>
              <a:rPr lang="en-US" dirty="0" smtClean="0"/>
              <a:t> </a:t>
            </a:r>
            <a:r>
              <a:rPr lang="en-US" dirty="0" err="1" smtClean="0"/>
              <a:t>động</a:t>
            </a:r>
            <a:r>
              <a:rPr lang="en-US" dirty="0" smtClean="0"/>
              <a:t> (</a:t>
            </a:r>
            <a:r>
              <a:rPr lang="en-US" dirty="0"/>
              <a:t>Dynamic Memory </a:t>
            </a:r>
            <a:r>
              <a:rPr lang="en-US" dirty="0" smtClean="0"/>
              <a:t>Allocation)</a:t>
            </a:r>
            <a:endParaRPr lang="en-US" dirty="0"/>
          </a:p>
        </p:txBody>
      </p:sp>
      <p:sp>
        <p:nvSpPr>
          <p:cNvPr id="3" name="Content Placeholder 2"/>
          <p:cNvSpPr>
            <a:spLocks noGrp="1"/>
          </p:cNvSpPr>
          <p:nvPr>
            <p:ph type="body" sz="quarter" idx="13"/>
          </p:nvPr>
        </p:nvSpPr>
        <p:spPr>
          <a:xfrm>
            <a:off x="234951" y="963168"/>
            <a:ext cx="6179982" cy="5132832"/>
          </a:xfrm>
        </p:spPr>
        <p:txBody>
          <a:bodyPr/>
          <a:lstStyle/>
          <a:p>
            <a:r>
              <a:rPr lang="en-US" sz="2400" dirty="0" err="1" smtClean="0"/>
              <a:t>Các</a:t>
            </a:r>
            <a:r>
              <a:rPr lang="en-US" sz="2400" dirty="0" smtClean="0"/>
              <a:t> </a:t>
            </a:r>
            <a:r>
              <a:rPr lang="en-US" sz="2400" dirty="0" err="1" smtClean="0"/>
              <a:t>biến</a:t>
            </a:r>
            <a:r>
              <a:rPr lang="en-US" sz="2400" dirty="0" smtClean="0"/>
              <a:t> </a:t>
            </a:r>
            <a:r>
              <a:rPr lang="en-US" sz="2400" dirty="0" err="1" smtClean="0"/>
              <a:t>khai</a:t>
            </a:r>
            <a:r>
              <a:rPr lang="en-US" sz="2400" dirty="0" smtClean="0"/>
              <a:t> </a:t>
            </a:r>
            <a:r>
              <a:rPr lang="en-US" sz="2400" dirty="0" err="1" smtClean="0"/>
              <a:t>báo</a:t>
            </a:r>
            <a:r>
              <a:rPr lang="en-US" sz="2400" dirty="0" smtClean="0"/>
              <a:t> </a:t>
            </a:r>
            <a:r>
              <a:rPr lang="en-US" sz="2400" dirty="0" err="1" smtClean="0"/>
              <a:t>được</a:t>
            </a:r>
            <a:r>
              <a:rPr lang="en-US" sz="2400" dirty="0" smtClean="0"/>
              <a:t> </a:t>
            </a:r>
            <a:r>
              <a:rPr lang="en-US" sz="2400" dirty="0" err="1" smtClean="0"/>
              <a:t>tạo</a:t>
            </a:r>
            <a:r>
              <a:rPr lang="en-US" sz="2400" dirty="0" smtClean="0"/>
              <a:t> </a:t>
            </a:r>
            <a:r>
              <a:rPr lang="en-US" sz="2400" dirty="0" err="1" smtClean="0"/>
              <a:t>ra</a:t>
            </a:r>
            <a:r>
              <a:rPr lang="en-US" sz="2400" dirty="0" smtClean="0"/>
              <a:t> </a:t>
            </a:r>
            <a:r>
              <a:rPr lang="en-US" sz="2400" dirty="0" err="1" smtClean="0"/>
              <a:t>và</a:t>
            </a:r>
            <a:r>
              <a:rPr lang="en-US" sz="2400" dirty="0" smtClean="0"/>
              <a:t> </a:t>
            </a:r>
            <a:r>
              <a:rPr lang="en-US" sz="2400" dirty="0" err="1" smtClean="0"/>
              <a:t>cấp</a:t>
            </a:r>
            <a:r>
              <a:rPr lang="en-US" sz="2400" dirty="0" smtClean="0"/>
              <a:t> </a:t>
            </a:r>
            <a:r>
              <a:rPr lang="en-US" sz="2400" dirty="0" err="1" smtClean="0"/>
              <a:t>phát</a:t>
            </a:r>
            <a:r>
              <a:rPr lang="en-US" sz="2400" dirty="0" smtClean="0"/>
              <a:t> </a:t>
            </a:r>
            <a:r>
              <a:rPr lang="en-US" sz="2400" dirty="0" err="1" smtClean="0"/>
              <a:t>bộ</a:t>
            </a:r>
            <a:r>
              <a:rPr lang="en-US" sz="2400" dirty="0" smtClean="0"/>
              <a:t> </a:t>
            </a:r>
            <a:r>
              <a:rPr lang="en-US" sz="2400" dirty="0" err="1" smtClean="0"/>
              <a:t>nhớ</a:t>
            </a:r>
            <a:r>
              <a:rPr lang="en-US" sz="2400" dirty="0" smtClean="0"/>
              <a:t> </a:t>
            </a:r>
            <a:r>
              <a:rPr lang="en-US" sz="2400" dirty="0" err="1" smtClean="0"/>
              <a:t>khi</a:t>
            </a:r>
            <a:r>
              <a:rPr lang="en-US" sz="2400" dirty="0" smtClean="0"/>
              <a:t> </a:t>
            </a:r>
            <a:r>
              <a:rPr lang="en-US" sz="2400" dirty="0" err="1" smtClean="0"/>
              <a:t>khai</a:t>
            </a:r>
            <a:r>
              <a:rPr lang="en-US" sz="2400" dirty="0" smtClean="0"/>
              <a:t> </a:t>
            </a:r>
            <a:r>
              <a:rPr lang="en-US" sz="2400" dirty="0" err="1" smtClean="0"/>
              <a:t>báo</a:t>
            </a:r>
            <a:r>
              <a:rPr lang="en-US" sz="2400" dirty="0" smtClean="0"/>
              <a:t> (</a:t>
            </a:r>
            <a:r>
              <a:rPr lang="en-US" sz="2400" dirty="0" err="1" smtClean="0"/>
              <a:t>trong</a:t>
            </a:r>
            <a:r>
              <a:rPr lang="en-US" sz="2400" dirty="0" smtClean="0"/>
              <a:t> stack)</a:t>
            </a:r>
          </a:p>
          <a:p>
            <a:r>
              <a:rPr lang="en-US" sz="2400" dirty="0" err="1" smtClean="0"/>
              <a:t>Có</a:t>
            </a:r>
            <a:r>
              <a:rPr lang="en-US" sz="2400" dirty="0" smtClean="0"/>
              <a:t> </a:t>
            </a:r>
            <a:r>
              <a:rPr lang="en-US" sz="2400" dirty="0" err="1" smtClean="0"/>
              <a:t>khi</a:t>
            </a:r>
            <a:r>
              <a:rPr lang="en-US" sz="2400" dirty="0" smtClean="0"/>
              <a:t> </a:t>
            </a:r>
            <a:r>
              <a:rPr lang="en-US" sz="2400" dirty="0" err="1" smtClean="0"/>
              <a:t>cần</a:t>
            </a:r>
            <a:r>
              <a:rPr lang="en-US" sz="2400" dirty="0" smtClean="0"/>
              <a:t> </a:t>
            </a:r>
            <a:r>
              <a:rPr lang="en-US" sz="2400" dirty="0" err="1" smtClean="0"/>
              <a:t>cấp</a:t>
            </a:r>
            <a:r>
              <a:rPr lang="en-US" sz="2400" dirty="0" smtClean="0"/>
              <a:t> </a:t>
            </a:r>
            <a:r>
              <a:rPr lang="en-US" sz="2400" dirty="0" err="1" smtClean="0"/>
              <a:t>phát</a:t>
            </a:r>
            <a:r>
              <a:rPr lang="en-US" sz="2400" dirty="0" smtClean="0"/>
              <a:t> </a:t>
            </a:r>
            <a:r>
              <a:rPr lang="en-US" sz="2400" dirty="0" err="1" smtClean="0"/>
              <a:t>theo</a:t>
            </a:r>
            <a:r>
              <a:rPr lang="en-US" sz="2400" dirty="0" smtClean="0"/>
              <a:t> </a:t>
            </a:r>
            <a:r>
              <a:rPr lang="en-US" sz="2400" dirty="0" err="1" smtClean="0"/>
              <a:t>nhu</a:t>
            </a:r>
            <a:r>
              <a:rPr lang="en-US" sz="2400" dirty="0" smtClean="0"/>
              <a:t> </a:t>
            </a:r>
            <a:r>
              <a:rPr lang="en-US" sz="2400" dirty="0" err="1" smtClean="0"/>
              <a:t>cầu</a:t>
            </a:r>
            <a:r>
              <a:rPr lang="en-US" sz="2400" dirty="0" smtClean="0"/>
              <a:t> </a:t>
            </a:r>
            <a:r>
              <a:rPr lang="en-US" sz="2400" dirty="0" err="1" smtClean="0"/>
              <a:t>sử</a:t>
            </a:r>
            <a:r>
              <a:rPr lang="en-US" sz="2400" dirty="0" smtClean="0"/>
              <a:t> </a:t>
            </a:r>
            <a:r>
              <a:rPr lang="en-US" sz="2400" dirty="0" err="1" smtClean="0"/>
              <a:t>dụng</a:t>
            </a:r>
            <a:r>
              <a:rPr lang="en-US" sz="2400" dirty="0" smtClean="0"/>
              <a:t> </a:t>
            </a:r>
            <a:r>
              <a:rPr lang="en-US" sz="2400" dirty="0" err="1" smtClean="0"/>
              <a:t>mà</a:t>
            </a:r>
            <a:r>
              <a:rPr lang="en-US" sz="2400" dirty="0" smtClean="0"/>
              <a:t> </a:t>
            </a:r>
            <a:r>
              <a:rPr lang="en-US" sz="2400" dirty="0" err="1" smtClean="0"/>
              <a:t>không</a:t>
            </a:r>
            <a:r>
              <a:rPr lang="en-US" sz="2400" dirty="0" smtClean="0"/>
              <a:t> </a:t>
            </a:r>
            <a:r>
              <a:rPr lang="en-US" sz="2400" dirty="0" err="1" smtClean="0"/>
              <a:t>biết</a:t>
            </a:r>
            <a:r>
              <a:rPr lang="en-US" sz="2400" dirty="0" smtClean="0"/>
              <a:t> </a:t>
            </a:r>
            <a:r>
              <a:rPr lang="en-US" sz="2400" dirty="0" err="1" smtClean="0"/>
              <a:t>từ</a:t>
            </a:r>
            <a:r>
              <a:rPr lang="en-US" sz="2400" dirty="0" smtClean="0"/>
              <a:t> </a:t>
            </a:r>
            <a:r>
              <a:rPr lang="en-US" sz="2400" dirty="0" err="1" smtClean="0"/>
              <a:t>khi</a:t>
            </a:r>
            <a:r>
              <a:rPr lang="en-US" sz="2400" dirty="0" smtClean="0"/>
              <a:t> </a:t>
            </a:r>
            <a:r>
              <a:rPr lang="en-US" sz="2400" dirty="0" err="1" smtClean="0"/>
              <a:t>viết</a:t>
            </a:r>
            <a:r>
              <a:rPr lang="en-US" sz="2400" dirty="0" smtClean="0"/>
              <a:t> </a:t>
            </a:r>
            <a:r>
              <a:rPr lang="en-US" sz="2400" dirty="0" err="1" smtClean="0"/>
              <a:t>chương</a:t>
            </a:r>
            <a:r>
              <a:rPr lang="en-US" sz="2400" dirty="0" smtClean="0"/>
              <a:t> </a:t>
            </a:r>
            <a:r>
              <a:rPr lang="en-US" sz="2400" dirty="0" err="1" smtClean="0"/>
              <a:t>trình</a:t>
            </a:r>
            <a:r>
              <a:rPr lang="en-US" sz="2400" dirty="0" smtClean="0"/>
              <a:t> </a:t>
            </a:r>
            <a:r>
              <a:rPr lang="en-US" sz="2400" dirty="0" smtClean="0">
                <a:sym typeface="Wingdings" pitchFamily="2" charset="2"/>
              </a:rPr>
              <a:t> </a:t>
            </a:r>
            <a:r>
              <a:rPr lang="en-US" sz="2400" dirty="0" err="1" smtClean="0">
                <a:sym typeface="Wingdings" pitchFamily="2" charset="2"/>
              </a:rPr>
              <a:t>cấp</a:t>
            </a:r>
            <a:r>
              <a:rPr lang="en-US" sz="2400" dirty="0" smtClean="0">
                <a:sym typeface="Wingdings" pitchFamily="2" charset="2"/>
              </a:rPr>
              <a:t> </a:t>
            </a:r>
            <a:r>
              <a:rPr lang="en-US" sz="2400" dirty="0" err="1" smtClean="0">
                <a:sym typeface="Wingdings" pitchFamily="2" charset="2"/>
              </a:rPr>
              <a:t>phát</a:t>
            </a:r>
            <a:r>
              <a:rPr lang="en-US" sz="2400" dirty="0" smtClean="0">
                <a:sym typeface="Wingdings" pitchFamily="2" charset="2"/>
              </a:rPr>
              <a:t> </a:t>
            </a:r>
            <a:r>
              <a:rPr lang="en-US" sz="2400" dirty="0" err="1" smtClean="0">
                <a:sym typeface="Wingdings" pitchFamily="2" charset="2"/>
              </a:rPr>
              <a:t>động</a:t>
            </a:r>
            <a:r>
              <a:rPr lang="en-US" sz="2400" dirty="0" smtClean="0">
                <a:sym typeface="Wingdings" pitchFamily="2" charset="2"/>
              </a:rPr>
              <a:t> (</a:t>
            </a:r>
            <a:r>
              <a:rPr lang="en-US" sz="2400" dirty="0" err="1" smtClean="0">
                <a:sym typeface="Wingdings" pitchFamily="2" charset="2"/>
              </a:rPr>
              <a:t>trong</a:t>
            </a:r>
            <a:r>
              <a:rPr lang="en-US" sz="2400" dirty="0" smtClean="0">
                <a:sym typeface="Wingdings" pitchFamily="2" charset="2"/>
              </a:rPr>
              <a:t> heap)</a:t>
            </a:r>
            <a:endParaRPr lang="en-US" sz="2400" dirty="0" smtClean="0"/>
          </a:p>
        </p:txBody>
      </p:sp>
      <p:pic>
        <p:nvPicPr>
          <p:cNvPr id="7" name="Picture 6"/>
          <p:cNvPicPr>
            <a:picLocks noChangeAspect="1"/>
          </p:cNvPicPr>
          <p:nvPr/>
        </p:nvPicPr>
        <p:blipFill>
          <a:blip r:embed="rId3"/>
          <a:stretch>
            <a:fillRect/>
          </a:stretch>
        </p:blipFill>
        <p:spPr>
          <a:xfrm>
            <a:off x="6443493" y="853501"/>
            <a:ext cx="2493990" cy="2162810"/>
          </a:xfrm>
          <a:prstGeom prst="rect">
            <a:avLst/>
          </a:prstGeom>
        </p:spPr>
      </p:pic>
      <p:sp>
        <p:nvSpPr>
          <p:cNvPr id="9" name="Content Placeholder 2"/>
          <p:cNvSpPr txBox="1">
            <a:spLocks/>
          </p:cNvSpPr>
          <p:nvPr/>
        </p:nvSpPr>
        <p:spPr bwMode="auto">
          <a:xfrm>
            <a:off x="457200" y="2863850"/>
            <a:ext cx="8686800" cy="32321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73050" indent="-273050" algn="l" rtl="0" fontAlgn="base">
              <a:spcBef>
                <a:spcPts val="600"/>
              </a:spcBef>
              <a:spcAft>
                <a:spcPct val="0"/>
              </a:spcAft>
              <a:buClr>
                <a:schemeClr val="accent1"/>
              </a:buClr>
              <a:buSzPct val="76000"/>
              <a:buFont typeface="Wingdings 3" pitchFamily="18" charset="2"/>
              <a:buChar char=""/>
              <a:defRPr sz="2600" kern="1200">
                <a:solidFill>
                  <a:schemeClr val="tx1"/>
                </a:solidFill>
                <a:latin typeface="Arial" pitchFamily="34" charset="0"/>
                <a:ea typeface="+mn-ea"/>
                <a:cs typeface="Arial" pitchFamily="34" charset="0"/>
              </a:defRPr>
            </a:lvl1pPr>
            <a:lvl2pPr marL="547688" indent="-273050" algn="l" rtl="0" fontAlgn="base">
              <a:spcBef>
                <a:spcPts val="500"/>
              </a:spcBef>
              <a:spcAft>
                <a:spcPct val="0"/>
              </a:spcAft>
              <a:buClr>
                <a:schemeClr val="accent2"/>
              </a:buClr>
              <a:buSzPct val="76000"/>
              <a:buFont typeface="Wingdings 3" pitchFamily="18" charset="2"/>
              <a:buChar char=""/>
              <a:defRPr sz="2300" kern="1200">
                <a:solidFill>
                  <a:srgbClr val="000000"/>
                </a:solidFill>
                <a:latin typeface="Arial" pitchFamily="34" charset="0"/>
                <a:ea typeface="+mn-ea"/>
                <a:cs typeface="Arial" pitchFamily="34" charset="0"/>
              </a:defRPr>
            </a:lvl2pPr>
            <a:lvl3pPr marL="822325" indent="-228600" algn="l" rtl="0" fontAlgn="base">
              <a:spcBef>
                <a:spcPts val="500"/>
              </a:spcBef>
              <a:spcAft>
                <a:spcPct val="0"/>
              </a:spcAft>
              <a:buClr>
                <a:srgbClr val="BCBCBC"/>
              </a:buClr>
              <a:buSzPct val="76000"/>
              <a:buFont typeface="Wingdings 3" pitchFamily="18" charset="2"/>
              <a:buChar char=""/>
              <a:defRPr sz="2000" kern="1200">
                <a:solidFill>
                  <a:schemeClr val="tx1"/>
                </a:solidFill>
                <a:latin typeface="Arial" pitchFamily="34" charset="0"/>
                <a:ea typeface="+mn-ea"/>
                <a:cs typeface="Arial" pitchFamily="34" charset="0"/>
              </a:defRPr>
            </a:lvl3pPr>
            <a:lvl4pPr marL="1096963" indent="-228600" algn="l" rtl="0" fontAlgn="base">
              <a:spcBef>
                <a:spcPts val="400"/>
              </a:spcBef>
              <a:spcAft>
                <a:spcPct val="0"/>
              </a:spcAft>
              <a:buClr>
                <a:srgbClr val="8BA2B4"/>
              </a:buClr>
              <a:buSzPct val="70000"/>
              <a:buFont typeface="Wingdings 3" pitchFamily="18" charset="2"/>
              <a:buChar char=""/>
              <a:defRPr kern="1200">
                <a:solidFill>
                  <a:schemeClr val="tx1"/>
                </a:solidFill>
                <a:latin typeface="Arial" pitchFamily="34" charset="0"/>
                <a:ea typeface="+mn-ea"/>
                <a:cs typeface="Arial" pitchFamily="34" charset="0"/>
              </a:defRPr>
            </a:lvl4pPr>
            <a:lvl5pPr marL="1371600" indent="-228600" algn="l" rtl="0" fontAlgn="base">
              <a:spcBef>
                <a:spcPts val="300"/>
              </a:spcBef>
              <a:spcAft>
                <a:spcPct val="0"/>
              </a:spcAft>
              <a:buClr>
                <a:schemeClr val="accent2"/>
              </a:buClr>
              <a:buSzPct val="70000"/>
              <a:buFont typeface="Wingdings 3" pitchFamily="18" charset="2"/>
              <a:buChar char=""/>
              <a:defRPr sz="1600" kern="1200">
                <a:solidFill>
                  <a:schemeClr val="tx1"/>
                </a:solidFill>
                <a:latin typeface="Arial" pitchFamily="34" charset="0"/>
                <a:ea typeface="+mn-ea"/>
                <a:cs typeface="Arial" pitchFamily="34" charset="0"/>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buClrTx/>
              <a:buFont typeface="Arial" panose="020B0604020202020204" pitchFamily="34" charset="0"/>
              <a:buChar char="•"/>
            </a:pPr>
            <a:r>
              <a:rPr lang="en-US" sz="2400" dirty="0" err="1" smtClean="0">
                <a:latin typeface="Lato" panose="020F0502020204030203"/>
              </a:rPr>
              <a:t>Cấp</a:t>
            </a:r>
            <a:r>
              <a:rPr lang="en-US" sz="2400" dirty="0" smtClean="0">
                <a:latin typeface="Lato" panose="020F0502020204030203"/>
              </a:rPr>
              <a:t> </a:t>
            </a:r>
            <a:r>
              <a:rPr lang="en-US" sz="2400" dirty="0" err="1" smtClean="0">
                <a:latin typeface="Lato" panose="020F0502020204030203"/>
              </a:rPr>
              <a:t>phát</a:t>
            </a:r>
            <a:r>
              <a:rPr lang="en-US" sz="2400" dirty="0" smtClean="0">
                <a:latin typeface="Lato" panose="020F0502020204030203"/>
              </a:rPr>
              <a:t> </a:t>
            </a:r>
            <a:r>
              <a:rPr lang="en-US" sz="2400" dirty="0" err="1" smtClean="0">
                <a:latin typeface="Lato" panose="020F0502020204030203"/>
              </a:rPr>
              <a:t>bộ</a:t>
            </a:r>
            <a:r>
              <a:rPr lang="en-US" sz="2400" dirty="0" smtClean="0">
                <a:latin typeface="Lato" panose="020F0502020204030203"/>
              </a:rPr>
              <a:t> </a:t>
            </a:r>
            <a:r>
              <a:rPr lang="en-US" sz="2400" dirty="0" err="1" smtClean="0">
                <a:latin typeface="Lato" panose="020F0502020204030203"/>
              </a:rPr>
              <a:t>nhớ</a:t>
            </a:r>
            <a:r>
              <a:rPr lang="en-US" sz="2400" dirty="0" smtClean="0">
                <a:latin typeface="Lato" panose="020F0502020204030203"/>
              </a:rPr>
              <a:t>:</a:t>
            </a:r>
          </a:p>
          <a:p>
            <a:pPr lvl="1">
              <a:spcBef>
                <a:spcPts val="0"/>
              </a:spcBef>
              <a:buClrTx/>
              <a:buFont typeface="Arial" panose="020B0604020202020204" pitchFamily="34" charset="0"/>
              <a:buChar char="•"/>
            </a:pPr>
            <a:r>
              <a:rPr lang="en-US" sz="1800" dirty="0" smtClean="0">
                <a:latin typeface="Courier New" pitchFamily="49" charset="0"/>
                <a:cs typeface="Courier New" pitchFamily="49" charset="0"/>
              </a:rPr>
              <a:t>#include &lt;</a:t>
            </a:r>
            <a:r>
              <a:rPr lang="en-US" sz="1800" dirty="0" err="1" smtClean="0">
                <a:latin typeface="Courier New" pitchFamily="49" charset="0"/>
                <a:cs typeface="Courier New" pitchFamily="49" charset="0"/>
              </a:rPr>
              <a:t>stdlib.h</a:t>
            </a:r>
            <a:r>
              <a:rPr lang="en-US" sz="1800" dirty="0" smtClean="0">
                <a:latin typeface="Courier New" pitchFamily="49" charset="0"/>
                <a:cs typeface="Courier New" pitchFamily="49" charset="0"/>
              </a:rPr>
              <a:t>&gt;</a:t>
            </a:r>
          </a:p>
          <a:p>
            <a:pPr lvl="1">
              <a:spcBef>
                <a:spcPts val="0"/>
              </a:spcBef>
              <a:buClrTx/>
              <a:buFont typeface="Arial" panose="020B0604020202020204" pitchFamily="34" charset="0"/>
              <a:buChar char="•"/>
            </a:pPr>
            <a:r>
              <a:rPr lang="en-US" sz="1800" dirty="0" smtClean="0">
                <a:latin typeface="Courier New" pitchFamily="49" charset="0"/>
                <a:cs typeface="Courier New" pitchFamily="49" charset="0"/>
              </a:rPr>
              <a:t>void *</a:t>
            </a:r>
            <a:r>
              <a:rPr lang="en-US" sz="1800" dirty="0" err="1" smtClean="0">
                <a:latin typeface="Courier New" pitchFamily="49" charset="0"/>
                <a:cs typeface="Courier New" pitchFamily="49" charset="0"/>
              </a:rPr>
              <a:t>malloc</a:t>
            </a:r>
            <a:r>
              <a:rPr lang="en-US" sz="1800" dirty="0" smtClean="0">
                <a:latin typeface="Courier New" pitchFamily="49" charset="0"/>
                <a:cs typeface="Courier New" pitchFamily="49" charset="0"/>
              </a:rPr>
              <a:t>(</a:t>
            </a:r>
            <a:r>
              <a:rPr lang="en-US" sz="1800" dirty="0" err="1" smtClean="0">
                <a:latin typeface="Courier New" pitchFamily="49" charset="0"/>
                <a:cs typeface="Courier New" pitchFamily="49" charset="0"/>
              </a:rPr>
              <a:t>int</a:t>
            </a:r>
            <a:r>
              <a:rPr lang="en-US" sz="1800" dirty="0" smtClean="0">
                <a:latin typeface="Courier New" pitchFamily="49" charset="0"/>
                <a:cs typeface="Courier New" pitchFamily="49" charset="0"/>
              </a:rPr>
              <a:t> size)</a:t>
            </a:r>
          </a:p>
          <a:p>
            <a:pPr lvl="1">
              <a:spcBef>
                <a:spcPts val="0"/>
              </a:spcBef>
              <a:buClrTx/>
              <a:buFont typeface="Arial" panose="020B0604020202020204" pitchFamily="34" charset="0"/>
              <a:buChar char="•"/>
            </a:pPr>
            <a:r>
              <a:rPr lang="en-US" sz="1800" dirty="0" err="1" smtClean="0">
                <a:latin typeface="Courier New" pitchFamily="49" charset="0"/>
                <a:cs typeface="Courier New" pitchFamily="49" charset="0"/>
              </a:rPr>
              <a:t>int</a:t>
            </a:r>
            <a:r>
              <a:rPr lang="en-US" sz="1800" dirty="0" smtClean="0">
                <a:latin typeface="Courier New" pitchFamily="49" charset="0"/>
                <a:cs typeface="Courier New" pitchFamily="49" charset="0"/>
              </a:rPr>
              <a:t> *p = (</a:t>
            </a:r>
            <a:r>
              <a:rPr lang="en-US" sz="1800" dirty="0" err="1" smtClean="0">
                <a:latin typeface="Courier New" pitchFamily="49" charset="0"/>
                <a:cs typeface="Courier New" pitchFamily="49" charset="0"/>
              </a:rPr>
              <a:t>int</a:t>
            </a:r>
            <a:r>
              <a:rPr lang="en-US" sz="1800" dirty="0" smtClean="0">
                <a:latin typeface="Courier New" pitchFamily="49" charset="0"/>
                <a:cs typeface="Courier New" pitchFamily="49" charset="0"/>
              </a:rPr>
              <a:t> *)</a:t>
            </a:r>
            <a:r>
              <a:rPr lang="en-US" sz="1800" dirty="0" err="1" smtClean="0">
                <a:latin typeface="Courier New" pitchFamily="49" charset="0"/>
                <a:cs typeface="Courier New" pitchFamily="49" charset="0"/>
              </a:rPr>
              <a:t>malloc</a:t>
            </a:r>
            <a:r>
              <a:rPr lang="en-US" sz="1800" dirty="0" smtClean="0">
                <a:latin typeface="Courier New" pitchFamily="49" charset="0"/>
                <a:cs typeface="Courier New" pitchFamily="49" charset="0"/>
              </a:rPr>
              <a:t>(10*</a:t>
            </a:r>
            <a:r>
              <a:rPr lang="en-US" sz="1800" dirty="0" err="1" smtClean="0">
                <a:latin typeface="Courier New" pitchFamily="49" charset="0"/>
                <a:cs typeface="Courier New" pitchFamily="49" charset="0"/>
              </a:rPr>
              <a:t>sizeof</a:t>
            </a:r>
            <a:r>
              <a:rPr lang="en-US" sz="1800" dirty="0" smtClean="0">
                <a:latin typeface="Courier New" pitchFamily="49" charset="0"/>
                <a:cs typeface="Courier New" pitchFamily="49" charset="0"/>
              </a:rPr>
              <a:t>(</a:t>
            </a:r>
            <a:r>
              <a:rPr lang="en-US" sz="1800" dirty="0" err="1" smtClean="0">
                <a:latin typeface="Courier New" pitchFamily="49" charset="0"/>
                <a:cs typeface="Courier New" pitchFamily="49" charset="0"/>
              </a:rPr>
              <a:t>int</a:t>
            </a:r>
            <a:r>
              <a:rPr lang="en-US" sz="1800" dirty="0" smtClean="0">
                <a:latin typeface="Courier New" pitchFamily="49" charset="0"/>
                <a:cs typeface="Courier New" pitchFamily="49" charset="0"/>
              </a:rPr>
              <a:t>)); </a:t>
            </a:r>
          </a:p>
          <a:p>
            <a:pPr lvl="1">
              <a:spcBef>
                <a:spcPts val="0"/>
              </a:spcBef>
              <a:buClrTx/>
              <a:buFont typeface="Arial" panose="020B0604020202020204" pitchFamily="34" charset="0"/>
              <a:buChar char="•"/>
            </a:pPr>
            <a:r>
              <a:rPr lang="en-US" sz="1800" dirty="0" smtClean="0">
                <a:latin typeface="Courier New" pitchFamily="49" charset="0"/>
                <a:cs typeface="Courier New" pitchFamily="49" charset="0"/>
              </a:rPr>
              <a:t>void *</a:t>
            </a:r>
            <a:r>
              <a:rPr lang="en-US" sz="1800" dirty="0" err="1" smtClean="0">
                <a:latin typeface="Courier New" pitchFamily="49" charset="0"/>
                <a:cs typeface="Courier New" pitchFamily="49" charset="0"/>
              </a:rPr>
              <a:t>calloc</a:t>
            </a:r>
            <a:r>
              <a:rPr lang="en-US" sz="1800" dirty="0" smtClean="0">
                <a:latin typeface="Courier New" pitchFamily="49" charset="0"/>
                <a:cs typeface="Courier New" pitchFamily="49" charset="0"/>
              </a:rPr>
              <a:t>(</a:t>
            </a:r>
            <a:r>
              <a:rPr lang="en-US" sz="1800" dirty="0" err="1" smtClean="0">
                <a:latin typeface="Courier New" pitchFamily="49" charset="0"/>
                <a:cs typeface="Courier New" pitchFamily="49" charset="0"/>
              </a:rPr>
              <a:t>int</a:t>
            </a:r>
            <a:r>
              <a:rPr lang="en-US" sz="1800" dirty="0" smtClean="0">
                <a:latin typeface="Courier New" pitchFamily="49" charset="0"/>
                <a:cs typeface="Courier New" pitchFamily="49" charset="0"/>
              </a:rPr>
              <a:t> </a:t>
            </a:r>
            <a:r>
              <a:rPr lang="en-US" sz="1800" dirty="0" err="1" smtClean="0">
                <a:latin typeface="Courier New" pitchFamily="49" charset="0"/>
                <a:cs typeface="Courier New" pitchFamily="49" charset="0"/>
              </a:rPr>
              <a:t>num_elem</a:t>
            </a:r>
            <a:r>
              <a:rPr lang="en-US" sz="1800" dirty="0" smtClean="0">
                <a:latin typeface="Courier New" pitchFamily="49" charset="0"/>
                <a:cs typeface="Courier New" pitchFamily="49" charset="0"/>
              </a:rPr>
              <a:t>, </a:t>
            </a:r>
            <a:r>
              <a:rPr lang="en-US" sz="1800" dirty="0" err="1" smtClean="0">
                <a:latin typeface="Courier New" pitchFamily="49" charset="0"/>
                <a:cs typeface="Courier New" pitchFamily="49" charset="0"/>
              </a:rPr>
              <a:t>int</a:t>
            </a:r>
            <a:r>
              <a:rPr lang="en-US" sz="1800" dirty="0" smtClean="0">
                <a:latin typeface="Courier New" pitchFamily="49" charset="0"/>
                <a:cs typeface="Courier New" pitchFamily="49" charset="0"/>
              </a:rPr>
              <a:t> </a:t>
            </a:r>
            <a:r>
              <a:rPr lang="en-US" sz="1800" dirty="0" err="1" smtClean="0">
                <a:latin typeface="Courier New" pitchFamily="49" charset="0"/>
                <a:cs typeface="Courier New" pitchFamily="49" charset="0"/>
              </a:rPr>
              <a:t>elem_size</a:t>
            </a:r>
            <a:r>
              <a:rPr lang="en-US" sz="1800" dirty="0" smtClean="0">
                <a:latin typeface="Courier New" pitchFamily="49" charset="0"/>
                <a:cs typeface="Courier New" pitchFamily="49" charset="0"/>
              </a:rPr>
              <a:t>)</a:t>
            </a:r>
          </a:p>
          <a:p>
            <a:pPr lvl="1">
              <a:spcBef>
                <a:spcPts val="0"/>
              </a:spcBef>
              <a:buClrTx/>
              <a:buFont typeface="Arial" panose="020B0604020202020204" pitchFamily="34" charset="0"/>
              <a:buChar char="•"/>
            </a:pPr>
            <a:r>
              <a:rPr lang="en-US" sz="1800" dirty="0" smtClean="0">
                <a:latin typeface="Courier New" pitchFamily="49" charset="0"/>
                <a:cs typeface="Courier New" pitchFamily="49" charset="0"/>
              </a:rPr>
              <a:t>void *</a:t>
            </a:r>
            <a:r>
              <a:rPr lang="en-US" sz="1800" dirty="0" err="1" smtClean="0">
                <a:latin typeface="Courier New" pitchFamily="49" charset="0"/>
                <a:cs typeface="Courier New" pitchFamily="49" charset="0"/>
              </a:rPr>
              <a:t>realloc</a:t>
            </a:r>
            <a:r>
              <a:rPr lang="en-US" sz="1800" dirty="0" smtClean="0">
                <a:latin typeface="Courier New" pitchFamily="49" charset="0"/>
                <a:cs typeface="Courier New" pitchFamily="49" charset="0"/>
              </a:rPr>
              <a:t>(void* </a:t>
            </a:r>
            <a:r>
              <a:rPr lang="en-US" sz="1800" dirty="0" err="1" smtClean="0">
                <a:latin typeface="Courier New" pitchFamily="49" charset="0"/>
                <a:cs typeface="Courier New" pitchFamily="49" charset="0"/>
              </a:rPr>
              <a:t>ptr</a:t>
            </a:r>
            <a:r>
              <a:rPr lang="en-US" sz="1800" dirty="0" smtClean="0">
                <a:latin typeface="Courier New" pitchFamily="49" charset="0"/>
                <a:cs typeface="Courier New" pitchFamily="49" charset="0"/>
              </a:rPr>
              <a:t>, </a:t>
            </a:r>
            <a:r>
              <a:rPr lang="en-US" sz="1800" dirty="0" err="1" smtClean="0">
                <a:latin typeface="Courier New" pitchFamily="49" charset="0"/>
                <a:cs typeface="Courier New" pitchFamily="49" charset="0"/>
              </a:rPr>
              <a:t>int</a:t>
            </a:r>
            <a:r>
              <a:rPr lang="en-US" sz="1800" dirty="0" smtClean="0">
                <a:latin typeface="Courier New" pitchFamily="49" charset="0"/>
                <a:cs typeface="Courier New" pitchFamily="49" charset="0"/>
              </a:rPr>
              <a:t> </a:t>
            </a:r>
            <a:r>
              <a:rPr lang="en-US" sz="1800" dirty="0" err="1" smtClean="0">
                <a:latin typeface="Courier New" pitchFamily="49" charset="0"/>
                <a:cs typeface="Courier New" pitchFamily="49" charset="0"/>
              </a:rPr>
              <a:t>new_size</a:t>
            </a:r>
            <a:r>
              <a:rPr lang="en-US" sz="1800" dirty="0" smtClean="0">
                <a:latin typeface="Courier New" pitchFamily="49" charset="0"/>
                <a:cs typeface="Courier New" pitchFamily="49" charset="0"/>
              </a:rPr>
              <a:t>)</a:t>
            </a:r>
          </a:p>
          <a:p>
            <a:pPr lvl="1">
              <a:spcBef>
                <a:spcPts val="0"/>
              </a:spcBef>
              <a:buClrTx/>
              <a:buFont typeface="Arial" panose="020B0604020202020204" pitchFamily="34" charset="0"/>
              <a:buChar char="•"/>
            </a:pPr>
            <a:r>
              <a:rPr lang="en-US" sz="1800" dirty="0" err="1" smtClean="0"/>
              <a:t>Việc</a:t>
            </a:r>
            <a:r>
              <a:rPr lang="en-US" sz="1800" dirty="0" smtClean="0"/>
              <a:t> </a:t>
            </a:r>
            <a:r>
              <a:rPr lang="en-US" sz="1800" dirty="0" err="1" smtClean="0"/>
              <a:t>cấp</a:t>
            </a:r>
            <a:r>
              <a:rPr lang="en-US" sz="1800" dirty="0" smtClean="0"/>
              <a:t> </a:t>
            </a:r>
            <a:r>
              <a:rPr lang="en-US" sz="1800" dirty="0" err="1" smtClean="0"/>
              <a:t>phát</a:t>
            </a:r>
            <a:r>
              <a:rPr lang="en-US" sz="1800" dirty="0" smtClean="0"/>
              <a:t> </a:t>
            </a:r>
            <a:r>
              <a:rPr lang="en-US" sz="1800" dirty="0" err="1" smtClean="0"/>
              <a:t>có</a:t>
            </a:r>
            <a:r>
              <a:rPr lang="en-US" sz="1800" dirty="0" smtClean="0"/>
              <a:t> </a:t>
            </a:r>
            <a:r>
              <a:rPr lang="en-US" sz="1800" dirty="0" err="1" smtClean="0"/>
              <a:t>thể</a:t>
            </a:r>
            <a:r>
              <a:rPr lang="en-US" sz="1800" dirty="0" smtClean="0"/>
              <a:t> </a:t>
            </a:r>
            <a:r>
              <a:rPr lang="en-US" sz="1800" dirty="0" err="1" smtClean="0"/>
              <a:t>không</a:t>
            </a:r>
            <a:r>
              <a:rPr lang="en-US" sz="1800" dirty="0" smtClean="0"/>
              <a:t> </a:t>
            </a:r>
            <a:r>
              <a:rPr lang="en-US" sz="1800" dirty="0" err="1" smtClean="0"/>
              <a:t>thành</a:t>
            </a:r>
            <a:r>
              <a:rPr lang="en-US" sz="1800" dirty="0" smtClean="0"/>
              <a:t> </a:t>
            </a:r>
            <a:r>
              <a:rPr lang="en-US" sz="1800" dirty="0" err="1" smtClean="0"/>
              <a:t>công</a:t>
            </a:r>
            <a:r>
              <a:rPr lang="en-US" sz="1800" dirty="0" smtClean="0"/>
              <a:t> </a:t>
            </a:r>
            <a:r>
              <a:rPr lang="en-US" sz="1800" dirty="0" err="1" smtClean="0"/>
              <a:t>và</a:t>
            </a:r>
            <a:r>
              <a:rPr lang="en-US" sz="1800" dirty="0" smtClean="0"/>
              <a:t> </a:t>
            </a:r>
            <a:r>
              <a:rPr lang="en-US" sz="1800" dirty="0" err="1" smtClean="0"/>
              <a:t>trả</a:t>
            </a:r>
            <a:r>
              <a:rPr lang="en-US" sz="1800" dirty="0" smtClean="0"/>
              <a:t> </a:t>
            </a:r>
            <a:r>
              <a:rPr lang="en-US" sz="1800" dirty="0" err="1" smtClean="0"/>
              <a:t>về</a:t>
            </a:r>
            <a:r>
              <a:rPr lang="en-US" sz="1800" dirty="0" smtClean="0"/>
              <a:t> NULL </a:t>
            </a:r>
            <a:r>
              <a:rPr lang="en-US" sz="1800" dirty="0" smtClean="0">
                <a:sym typeface="Wingdings" pitchFamily="2" charset="2"/>
              </a:rPr>
              <a:t> </a:t>
            </a:r>
            <a:r>
              <a:rPr lang="en-US" sz="1800" dirty="0" err="1" smtClean="0">
                <a:sym typeface="Wingdings" pitchFamily="2" charset="2"/>
              </a:rPr>
              <a:t>cần</a:t>
            </a:r>
            <a:r>
              <a:rPr lang="en-US" sz="1800" dirty="0" smtClean="0">
                <a:sym typeface="Wingdings" pitchFamily="2" charset="2"/>
              </a:rPr>
              <a:t> </a:t>
            </a:r>
            <a:r>
              <a:rPr lang="en-US" sz="1800" dirty="0" err="1" smtClean="0">
                <a:sym typeface="Wingdings" pitchFamily="2" charset="2"/>
              </a:rPr>
              <a:t>kiểm</a:t>
            </a:r>
            <a:r>
              <a:rPr lang="en-US" sz="1800" dirty="0" smtClean="0">
                <a:sym typeface="Wingdings" pitchFamily="2" charset="2"/>
              </a:rPr>
              <a:t> </a:t>
            </a:r>
            <a:r>
              <a:rPr lang="en-US" sz="1800" dirty="0" err="1" smtClean="0">
                <a:sym typeface="Wingdings" pitchFamily="2" charset="2"/>
              </a:rPr>
              <a:t>tra</a:t>
            </a:r>
            <a:endParaRPr lang="en-US" sz="1800" dirty="0" smtClean="0"/>
          </a:p>
          <a:p>
            <a:pPr>
              <a:buClrTx/>
              <a:buFont typeface="Arial" panose="020B0604020202020204" pitchFamily="34" charset="0"/>
              <a:buChar char="•"/>
            </a:pPr>
            <a:r>
              <a:rPr lang="en-US" sz="2400" dirty="0" err="1">
                <a:latin typeface="Lato" panose="020F0502020204030203"/>
              </a:rPr>
              <a:t>Huỷ</a:t>
            </a:r>
            <a:r>
              <a:rPr lang="en-US" sz="2400" dirty="0">
                <a:latin typeface="Lato" panose="020F0502020204030203"/>
              </a:rPr>
              <a:t> (</a:t>
            </a:r>
            <a:r>
              <a:rPr lang="en-US" sz="2400" dirty="0" err="1">
                <a:latin typeface="Lato" panose="020F0502020204030203"/>
              </a:rPr>
              <a:t>trả</a:t>
            </a:r>
            <a:r>
              <a:rPr lang="en-US" sz="2400" dirty="0">
                <a:latin typeface="Lato" panose="020F0502020204030203"/>
              </a:rPr>
              <a:t> </a:t>
            </a:r>
            <a:r>
              <a:rPr lang="en-US" sz="2400" dirty="0" err="1">
                <a:latin typeface="Lato" panose="020F0502020204030203"/>
              </a:rPr>
              <a:t>lại</a:t>
            </a:r>
            <a:r>
              <a:rPr lang="en-US" sz="2400" dirty="0">
                <a:latin typeface="Lato" panose="020F0502020204030203"/>
              </a:rPr>
              <a:t>) </a:t>
            </a:r>
            <a:r>
              <a:rPr lang="en-US" sz="2400" dirty="0" err="1">
                <a:latin typeface="Lato" panose="020F0502020204030203"/>
              </a:rPr>
              <a:t>vùng</a:t>
            </a:r>
            <a:r>
              <a:rPr lang="en-US" sz="2400" dirty="0">
                <a:latin typeface="Lato" panose="020F0502020204030203"/>
              </a:rPr>
              <a:t> </a:t>
            </a:r>
            <a:r>
              <a:rPr lang="en-US" sz="2400" dirty="0" err="1">
                <a:latin typeface="Lato" panose="020F0502020204030203"/>
              </a:rPr>
              <a:t>nhớ</a:t>
            </a:r>
            <a:r>
              <a:rPr lang="en-US" sz="2400" dirty="0">
                <a:latin typeface="Lato" panose="020F0502020204030203"/>
              </a:rPr>
              <a:t> </a:t>
            </a:r>
            <a:r>
              <a:rPr lang="en-US" sz="2400" dirty="0" err="1">
                <a:latin typeface="Lato" panose="020F0502020204030203"/>
              </a:rPr>
              <a:t>đã</a:t>
            </a:r>
            <a:r>
              <a:rPr lang="en-US" sz="2400" dirty="0">
                <a:latin typeface="Lato" panose="020F0502020204030203"/>
              </a:rPr>
              <a:t> </a:t>
            </a:r>
            <a:r>
              <a:rPr lang="en-US" sz="2400" dirty="0" err="1">
                <a:latin typeface="Lato" panose="020F0502020204030203"/>
              </a:rPr>
              <a:t>được</a:t>
            </a:r>
            <a:r>
              <a:rPr lang="en-US" sz="2400" dirty="0">
                <a:latin typeface="Lato" panose="020F0502020204030203"/>
              </a:rPr>
              <a:t> </a:t>
            </a:r>
            <a:r>
              <a:rPr lang="en-US" sz="2400" dirty="0" err="1">
                <a:latin typeface="Lato" panose="020F0502020204030203"/>
              </a:rPr>
              <a:t>cấp</a:t>
            </a:r>
            <a:r>
              <a:rPr lang="en-US" sz="2400" dirty="0">
                <a:latin typeface="Lato" panose="020F0502020204030203"/>
              </a:rPr>
              <a:t> </a:t>
            </a:r>
            <a:r>
              <a:rPr lang="en-US" sz="2400" dirty="0" err="1">
                <a:latin typeface="Lato" panose="020F0502020204030203"/>
              </a:rPr>
              <a:t>phát</a:t>
            </a:r>
            <a:r>
              <a:rPr lang="en-US" sz="2400" dirty="0">
                <a:latin typeface="Lato" panose="020F0502020204030203"/>
              </a:rPr>
              <a:t>:</a:t>
            </a:r>
          </a:p>
          <a:p>
            <a:pPr lvl="1">
              <a:spcBef>
                <a:spcPts val="0"/>
              </a:spcBef>
              <a:buClrTx/>
              <a:buFont typeface="Arial" panose="020B0604020202020204" pitchFamily="34" charset="0"/>
              <a:buChar char="•"/>
            </a:pPr>
            <a:r>
              <a:rPr lang="en-US" sz="1800" dirty="0" smtClean="0">
                <a:latin typeface="Courier New" pitchFamily="49" charset="0"/>
                <a:cs typeface="Courier New" pitchFamily="49" charset="0"/>
              </a:rPr>
              <a:t>void free(void *p);</a:t>
            </a:r>
          </a:p>
          <a:p>
            <a:pPr lvl="1">
              <a:spcBef>
                <a:spcPts val="0"/>
              </a:spcBef>
              <a:buClrTx/>
              <a:buFont typeface="Arial" panose="020B0604020202020204" pitchFamily="34" charset="0"/>
              <a:buChar char="•"/>
            </a:pPr>
            <a:r>
              <a:rPr lang="en-US" sz="1800" dirty="0" smtClean="0">
                <a:latin typeface="Courier New" pitchFamily="49" charset="0"/>
                <a:cs typeface="Courier New" pitchFamily="49" charset="0"/>
              </a:rPr>
              <a:t>free(p);</a:t>
            </a:r>
            <a:endParaRPr lang="en-US" sz="1800" dirty="0">
              <a:latin typeface="Courier New" pitchFamily="49" charset="0"/>
              <a:cs typeface="Courier New" pitchFamily="49" charset="0"/>
            </a:endParaRPr>
          </a:p>
        </p:txBody>
      </p:sp>
    </p:spTree>
    <p:extLst>
      <p:ext uri="{BB962C8B-B14F-4D97-AF65-F5344CB8AC3E}">
        <p14:creationId xmlns:p14="http://schemas.microsoft.com/office/powerpoint/2010/main" val="161393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6B269CE-12F4-4F4F-BF2F-21E0A343DA44}" type="slidenum">
              <a:rPr lang="en-US" smtClean="0"/>
              <a:pPr/>
              <a:t>15</a:t>
            </a:fld>
            <a:endParaRPr lang="en-US"/>
          </a:p>
        </p:txBody>
      </p:sp>
      <p:sp>
        <p:nvSpPr>
          <p:cNvPr id="6" name="Title 5"/>
          <p:cNvSpPr>
            <a:spLocks noGrp="1"/>
          </p:cNvSpPr>
          <p:nvPr>
            <p:ph type="title"/>
          </p:nvPr>
        </p:nvSpPr>
        <p:spPr/>
        <p:txBody>
          <a:bodyPr/>
          <a:lstStyle/>
          <a:p>
            <a:r>
              <a:rPr lang="en-US" dirty="0" err="1"/>
              <a:t>Hàm</a:t>
            </a:r>
            <a:endParaRPr lang="vi-VN" dirty="0"/>
          </a:p>
        </p:txBody>
      </p:sp>
      <p:sp>
        <p:nvSpPr>
          <p:cNvPr id="7" name="Content Placeholder 6"/>
          <p:cNvSpPr>
            <a:spLocks noGrp="1"/>
          </p:cNvSpPr>
          <p:nvPr>
            <p:ph type="body" sz="quarter" idx="13"/>
          </p:nvPr>
        </p:nvSpPr>
        <p:spPr>
          <a:xfrm>
            <a:off x="234951" y="963168"/>
            <a:ext cx="8674100" cy="5608960"/>
          </a:xfrm>
        </p:spPr>
        <p:txBody>
          <a:bodyPr>
            <a:normAutofit fontScale="92500" lnSpcReduction="10000"/>
          </a:bodyPr>
          <a:lstStyle/>
          <a:p>
            <a:r>
              <a:rPr lang="en-US" sz="2400" dirty="0" err="1" smtClean="0"/>
              <a:t>Hàm</a:t>
            </a:r>
            <a:r>
              <a:rPr lang="en-US" sz="2400" dirty="0" smtClean="0"/>
              <a:t> </a:t>
            </a:r>
            <a:r>
              <a:rPr lang="en-US" sz="2400" dirty="0" err="1" smtClean="0"/>
              <a:t>là</a:t>
            </a:r>
            <a:r>
              <a:rPr lang="en-US" sz="2400" dirty="0" smtClean="0"/>
              <a:t> </a:t>
            </a:r>
            <a:r>
              <a:rPr lang="en-US" sz="2400" dirty="0" err="1" smtClean="0"/>
              <a:t>một</a:t>
            </a:r>
            <a:r>
              <a:rPr lang="en-US" sz="2400" dirty="0" smtClean="0"/>
              <a:t> </a:t>
            </a:r>
            <a:r>
              <a:rPr lang="en-US" sz="2400" dirty="0" err="1" smtClean="0"/>
              <a:t>khối</a:t>
            </a:r>
            <a:r>
              <a:rPr lang="en-US" sz="2400" dirty="0" smtClean="0"/>
              <a:t> </a:t>
            </a:r>
            <a:r>
              <a:rPr lang="en-US" sz="2400" dirty="0" err="1" smtClean="0"/>
              <a:t>các</a:t>
            </a:r>
            <a:r>
              <a:rPr lang="en-US" sz="2400" dirty="0" smtClean="0"/>
              <a:t> </a:t>
            </a:r>
            <a:r>
              <a:rPr lang="en-US" sz="2400" dirty="0" err="1" smtClean="0"/>
              <a:t>câu</a:t>
            </a:r>
            <a:r>
              <a:rPr lang="en-US" sz="2400" dirty="0" smtClean="0"/>
              <a:t> </a:t>
            </a:r>
            <a:r>
              <a:rPr lang="en-US" sz="2400" dirty="0" err="1" smtClean="0"/>
              <a:t>lệnh</a:t>
            </a:r>
            <a:r>
              <a:rPr lang="en-US" sz="2400" dirty="0" smtClean="0"/>
              <a:t> </a:t>
            </a:r>
            <a:r>
              <a:rPr lang="en-US" sz="2400" dirty="0" err="1" smtClean="0"/>
              <a:t>thực</a:t>
            </a:r>
            <a:r>
              <a:rPr lang="en-US" sz="2400" dirty="0" smtClean="0"/>
              <a:t> </a:t>
            </a:r>
            <a:r>
              <a:rPr lang="en-US" sz="2400" dirty="0" err="1" smtClean="0"/>
              <a:t>hiện</a:t>
            </a:r>
            <a:r>
              <a:rPr lang="en-US" sz="2400" dirty="0" smtClean="0"/>
              <a:t> </a:t>
            </a:r>
            <a:r>
              <a:rPr lang="en-US" sz="2400" dirty="0" err="1" smtClean="0"/>
              <a:t>một</a:t>
            </a:r>
            <a:r>
              <a:rPr lang="en-US" sz="2400" dirty="0" smtClean="0"/>
              <a:t> </a:t>
            </a:r>
            <a:r>
              <a:rPr lang="en-US" sz="2400" dirty="0" err="1" smtClean="0"/>
              <a:t>nhiệm</a:t>
            </a:r>
            <a:r>
              <a:rPr lang="en-US" sz="2400" dirty="0" smtClean="0"/>
              <a:t> </a:t>
            </a:r>
            <a:r>
              <a:rPr lang="en-US" sz="2400" dirty="0" err="1" smtClean="0"/>
              <a:t>vụ</a:t>
            </a:r>
            <a:r>
              <a:rPr lang="en-US" sz="2400" dirty="0" smtClean="0"/>
              <a:t> </a:t>
            </a:r>
            <a:r>
              <a:rPr lang="en-US" sz="2400" dirty="0" err="1" smtClean="0"/>
              <a:t>nhất</a:t>
            </a:r>
            <a:r>
              <a:rPr lang="en-US" sz="2400" dirty="0" smtClean="0"/>
              <a:t> </a:t>
            </a:r>
            <a:r>
              <a:rPr lang="en-US" sz="2400" dirty="0" err="1" smtClean="0"/>
              <a:t>định</a:t>
            </a:r>
            <a:r>
              <a:rPr lang="en-US" sz="2400" dirty="0" smtClean="0"/>
              <a:t>, </a:t>
            </a:r>
            <a:r>
              <a:rPr lang="en-US" sz="2400" dirty="0" err="1" smtClean="0"/>
              <a:t>và</a:t>
            </a:r>
            <a:r>
              <a:rPr lang="en-US" sz="2400" dirty="0" smtClean="0"/>
              <a:t> </a:t>
            </a:r>
            <a:r>
              <a:rPr lang="en-US" sz="2400" dirty="0" err="1" smtClean="0"/>
              <a:t>có</a:t>
            </a:r>
            <a:r>
              <a:rPr lang="en-US" sz="2400" dirty="0" smtClean="0"/>
              <a:t> </a:t>
            </a:r>
            <a:r>
              <a:rPr lang="en-US" sz="2400" dirty="0" err="1" smtClean="0"/>
              <a:t>thể</a:t>
            </a:r>
            <a:r>
              <a:rPr lang="en-US" sz="2400" dirty="0" smtClean="0"/>
              <a:t> </a:t>
            </a:r>
            <a:r>
              <a:rPr lang="en-US" sz="2400" dirty="0" err="1" smtClean="0"/>
              <a:t>được</a:t>
            </a:r>
            <a:r>
              <a:rPr lang="en-US" sz="2400" dirty="0" smtClean="0"/>
              <a:t> </a:t>
            </a:r>
            <a:r>
              <a:rPr lang="en-US" sz="2400" dirty="0" err="1" smtClean="0"/>
              <a:t>gọi</a:t>
            </a:r>
            <a:r>
              <a:rPr lang="en-US" sz="2400" dirty="0" smtClean="0"/>
              <a:t> </a:t>
            </a:r>
            <a:r>
              <a:rPr lang="en-US" sz="2400" dirty="0" err="1" smtClean="0"/>
              <a:t>khi</a:t>
            </a:r>
            <a:r>
              <a:rPr lang="en-US" sz="2400" dirty="0" smtClean="0"/>
              <a:t> </a:t>
            </a:r>
            <a:r>
              <a:rPr lang="en-US" sz="2400" dirty="0" err="1" smtClean="0"/>
              <a:t>cần</a:t>
            </a:r>
            <a:endParaRPr lang="en-US" sz="2400" dirty="0" smtClean="0"/>
          </a:p>
          <a:p>
            <a:r>
              <a:rPr lang="en-US" sz="2400" dirty="0" err="1" smtClean="0"/>
              <a:t>Hàm</a:t>
            </a:r>
            <a:r>
              <a:rPr lang="en-US" sz="2400" dirty="0" smtClean="0"/>
              <a:t> </a:t>
            </a:r>
            <a:r>
              <a:rPr lang="en-US" sz="2400" dirty="0" err="1" smtClean="0"/>
              <a:t>xác</a:t>
            </a:r>
            <a:r>
              <a:rPr lang="en-US" sz="2400" dirty="0" smtClean="0"/>
              <a:t> </a:t>
            </a:r>
            <a:r>
              <a:rPr lang="en-US" sz="2400" dirty="0" err="1" smtClean="0"/>
              <a:t>định</a:t>
            </a:r>
            <a:r>
              <a:rPr lang="en-US" sz="2400" dirty="0" smtClean="0"/>
              <a:t> </a:t>
            </a:r>
            <a:r>
              <a:rPr lang="en-US" sz="2400" dirty="0" err="1" smtClean="0"/>
              <a:t>bởi</a:t>
            </a:r>
            <a:r>
              <a:rPr lang="en-US" sz="2400" dirty="0" smtClean="0"/>
              <a:t> </a:t>
            </a:r>
            <a:r>
              <a:rPr lang="en-US" sz="2400" dirty="0" err="1" smtClean="0">
                <a:solidFill>
                  <a:srgbClr val="FF0000"/>
                </a:solidFill>
              </a:rPr>
              <a:t>tên</a:t>
            </a:r>
            <a:r>
              <a:rPr lang="en-US" sz="2400" dirty="0" smtClean="0">
                <a:solidFill>
                  <a:srgbClr val="FF0000"/>
                </a:solidFill>
              </a:rPr>
              <a:t>, </a:t>
            </a:r>
            <a:r>
              <a:rPr lang="en-US" sz="2400" dirty="0" err="1" smtClean="0">
                <a:solidFill>
                  <a:srgbClr val="FF0000"/>
                </a:solidFill>
              </a:rPr>
              <a:t>tham</a:t>
            </a:r>
            <a:r>
              <a:rPr lang="en-US" sz="2400" dirty="0" smtClean="0">
                <a:solidFill>
                  <a:srgbClr val="FF0000"/>
                </a:solidFill>
              </a:rPr>
              <a:t> </a:t>
            </a:r>
            <a:r>
              <a:rPr lang="en-US" sz="2400" dirty="0" err="1" smtClean="0">
                <a:solidFill>
                  <a:srgbClr val="FF0000"/>
                </a:solidFill>
              </a:rPr>
              <a:t>số</a:t>
            </a:r>
            <a:r>
              <a:rPr lang="en-US" sz="2400" dirty="0" smtClean="0">
                <a:solidFill>
                  <a:srgbClr val="FF0000"/>
                </a:solidFill>
              </a:rPr>
              <a:t>, </a:t>
            </a:r>
            <a:r>
              <a:rPr lang="en-US" sz="2400" dirty="0" err="1" smtClean="0">
                <a:solidFill>
                  <a:srgbClr val="FF0000"/>
                </a:solidFill>
              </a:rPr>
              <a:t>kiểu</a:t>
            </a:r>
            <a:r>
              <a:rPr lang="en-US" sz="2400" dirty="0" smtClean="0">
                <a:solidFill>
                  <a:srgbClr val="FF0000"/>
                </a:solidFill>
              </a:rPr>
              <a:t> </a:t>
            </a:r>
            <a:r>
              <a:rPr lang="en-US" sz="2400" dirty="0" err="1" smtClean="0">
                <a:solidFill>
                  <a:srgbClr val="FF0000"/>
                </a:solidFill>
              </a:rPr>
              <a:t>giá</a:t>
            </a:r>
            <a:r>
              <a:rPr lang="en-US" sz="2400" dirty="0" smtClean="0">
                <a:solidFill>
                  <a:srgbClr val="FF0000"/>
                </a:solidFill>
              </a:rPr>
              <a:t> </a:t>
            </a:r>
            <a:r>
              <a:rPr lang="en-US" sz="2400" dirty="0" err="1" smtClean="0">
                <a:solidFill>
                  <a:srgbClr val="FF0000"/>
                </a:solidFill>
              </a:rPr>
              <a:t>trị</a:t>
            </a:r>
            <a:r>
              <a:rPr lang="en-US" sz="2400" dirty="0" smtClean="0">
                <a:solidFill>
                  <a:srgbClr val="FF0000"/>
                </a:solidFill>
              </a:rPr>
              <a:t> </a:t>
            </a:r>
            <a:r>
              <a:rPr lang="en-US" sz="2400" dirty="0" err="1" smtClean="0">
                <a:solidFill>
                  <a:srgbClr val="FF0000"/>
                </a:solidFill>
              </a:rPr>
              <a:t>trả</a:t>
            </a:r>
            <a:r>
              <a:rPr lang="en-US" sz="2400" dirty="0" smtClean="0">
                <a:solidFill>
                  <a:srgbClr val="FF0000"/>
                </a:solidFill>
              </a:rPr>
              <a:t> </a:t>
            </a:r>
            <a:r>
              <a:rPr lang="en-US" sz="2400" dirty="0" err="1" smtClean="0">
                <a:solidFill>
                  <a:srgbClr val="FF0000"/>
                </a:solidFill>
              </a:rPr>
              <a:t>về</a:t>
            </a:r>
            <a:endParaRPr lang="en-US" sz="2400" dirty="0" smtClean="0">
              <a:solidFill>
                <a:srgbClr val="FF0000"/>
              </a:solidFill>
            </a:endParaRPr>
          </a:p>
          <a:p>
            <a:r>
              <a:rPr lang="en-US" sz="2400" dirty="0" err="1" smtClean="0"/>
              <a:t>Khai</a:t>
            </a:r>
            <a:r>
              <a:rPr lang="en-US" sz="2400" dirty="0" smtClean="0"/>
              <a:t> </a:t>
            </a:r>
            <a:r>
              <a:rPr lang="en-US" sz="2400" dirty="0" err="1" smtClean="0"/>
              <a:t>báo</a:t>
            </a:r>
            <a:r>
              <a:rPr lang="en-US" sz="2400" dirty="0" smtClean="0"/>
              <a:t> </a:t>
            </a:r>
            <a:r>
              <a:rPr lang="en-US" sz="2400" dirty="0" err="1" smtClean="0"/>
              <a:t>hàm</a:t>
            </a:r>
            <a:r>
              <a:rPr lang="en-US" sz="2400" dirty="0" smtClean="0"/>
              <a:t>: </a:t>
            </a:r>
            <a:r>
              <a:rPr lang="en-US" sz="2400" dirty="0" err="1" smtClean="0"/>
              <a:t>Sử</a:t>
            </a:r>
            <a:r>
              <a:rPr lang="en-US" sz="2400" dirty="0" smtClean="0"/>
              <a:t> </a:t>
            </a:r>
            <a:r>
              <a:rPr lang="en-US" sz="2400" dirty="0" err="1" smtClean="0"/>
              <a:t>dụng</a:t>
            </a:r>
            <a:r>
              <a:rPr lang="en-US" sz="2400" dirty="0" smtClean="0"/>
              <a:t> </a:t>
            </a:r>
            <a:r>
              <a:rPr lang="en-US" sz="2400" dirty="0" err="1" smtClean="0"/>
              <a:t>nguyên</a:t>
            </a:r>
            <a:r>
              <a:rPr lang="en-US" sz="2400" dirty="0" smtClean="0"/>
              <a:t> </a:t>
            </a:r>
            <a:r>
              <a:rPr lang="en-US" sz="2400" dirty="0" err="1" smtClean="0"/>
              <a:t>mẫu</a:t>
            </a:r>
            <a:endParaRPr lang="en-US" sz="2400" dirty="0" smtClean="0"/>
          </a:p>
          <a:p>
            <a:pPr lvl="1"/>
            <a:r>
              <a:rPr lang="en-US" sz="2000" dirty="0"/>
              <a:t>&lt;</a:t>
            </a:r>
            <a:r>
              <a:rPr lang="en-US" sz="2000" dirty="0" err="1"/>
              <a:t>kiểu</a:t>
            </a:r>
            <a:r>
              <a:rPr lang="en-US" sz="2000" dirty="0"/>
              <a:t> </a:t>
            </a:r>
            <a:r>
              <a:rPr lang="en-US" sz="2000" dirty="0" err="1"/>
              <a:t>trả</a:t>
            </a:r>
            <a:r>
              <a:rPr lang="en-US" sz="2000" dirty="0"/>
              <a:t> </a:t>
            </a:r>
            <a:r>
              <a:rPr lang="en-US" sz="2000" dirty="0" err="1"/>
              <a:t>về</a:t>
            </a:r>
            <a:r>
              <a:rPr lang="en-US" sz="2000" dirty="0"/>
              <a:t>&gt; &lt;</a:t>
            </a:r>
            <a:r>
              <a:rPr lang="en-US" sz="2000" dirty="0" err="1"/>
              <a:t>tên</a:t>
            </a:r>
            <a:r>
              <a:rPr lang="en-US" sz="2000" dirty="0"/>
              <a:t> </a:t>
            </a:r>
            <a:r>
              <a:rPr lang="en-US" sz="2000" dirty="0" err="1"/>
              <a:t>hàm</a:t>
            </a:r>
            <a:r>
              <a:rPr lang="en-US" sz="2000" dirty="0"/>
              <a:t>&gt;(&lt;</a:t>
            </a:r>
            <a:r>
              <a:rPr lang="en-US" sz="2000" dirty="0" err="1"/>
              <a:t>khai</a:t>
            </a:r>
            <a:r>
              <a:rPr lang="en-US" sz="2000" dirty="0"/>
              <a:t> </a:t>
            </a:r>
            <a:r>
              <a:rPr lang="en-US" sz="2000" dirty="0" err="1"/>
              <a:t>báo</a:t>
            </a:r>
            <a:r>
              <a:rPr lang="en-US" sz="2000" dirty="0"/>
              <a:t> </a:t>
            </a:r>
            <a:r>
              <a:rPr lang="en-US" sz="2000" dirty="0" err="1"/>
              <a:t>các</a:t>
            </a:r>
            <a:r>
              <a:rPr lang="en-US" sz="2000" dirty="0"/>
              <a:t> </a:t>
            </a:r>
            <a:r>
              <a:rPr lang="en-US" sz="2000" dirty="0" err="1"/>
              <a:t>tham</a:t>
            </a:r>
            <a:r>
              <a:rPr lang="en-US" sz="2000" dirty="0"/>
              <a:t> </a:t>
            </a:r>
            <a:r>
              <a:rPr lang="en-US" sz="2000" dirty="0" err="1"/>
              <a:t>số</a:t>
            </a:r>
            <a:r>
              <a:rPr lang="en-US" sz="2000" dirty="0"/>
              <a:t>&gt;);</a:t>
            </a:r>
          </a:p>
          <a:p>
            <a:r>
              <a:rPr lang="en-US" sz="2400" dirty="0" err="1" smtClean="0"/>
              <a:t>Định</a:t>
            </a:r>
            <a:r>
              <a:rPr lang="en-US" sz="2400" dirty="0" smtClean="0"/>
              <a:t> </a:t>
            </a:r>
            <a:r>
              <a:rPr lang="en-US" sz="2400" dirty="0" err="1" smtClean="0"/>
              <a:t>nghĩa</a:t>
            </a:r>
            <a:r>
              <a:rPr lang="en-US" sz="2400" dirty="0" smtClean="0"/>
              <a:t> </a:t>
            </a:r>
            <a:r>
              <a:rPr lang="en-US" sz="2400" dirty="0" err="1" smtClean="0"/>
              <a:t>hàm</a:t>
            </a:r>
            <a:r>
              <a:rPr lang="en-US" sz="2400" dirty="0" smtClean="0"/>
              <a:t>:</a:t>
            </a:r>
          </a:p>
          <a:p>
            <a:pPr lvl="1"/>
            <a:r>
              <a:rPr lang="en-US" sz="2000" dirty="0" smtClean="0"/>
              <a:t>&lt;</a:t>
            </a:r>
            <a:r>
              <a:rPr lang="en-US" sz="2000" dirty="0" err="1" smtClean="0"/>
              <a:t>kiểu</a:t>
            </a:r>
            <a:r>
              <a:rPr lang="en-US" sz="2000" dirty="0" smtClean="0"/>
              <a:t> </a:t>
            </a:r>
            <a:r>
              <a:rPr lang="en-US" sz="2000" dirty="0" err="1" smtClean="0"/>
              <a:t>trả</a:t>
            </a:r>
            <a:r>
              <a:rPr lang="en-US" sz="2000" dirty="0" smtClean="0"/>
              <a:t> </a:t>
            </a:r>
            <a:r>
              <a:rPr lang="en-US" sz="2000" dirty="0" err="1" smtClean="0"/>
              <a:t>về</a:t>
            </a:r>
            <a:r>
              <a:rPr lang="en-US" sz="2000" dirty="0" smtClean="0"/>
              <a:t>&gt; &lt;</a:t>
            </a:r>
            <a:r>
              <a:rPr lang="en-US" sz="2000" dirty="0" err="1" smtClean="0"/>
              <a:t>tên</a:t>
            </a:r>
            <a:r>
              <a:rPr lang="en-US" sz="2000" dirty="0" smtClean="0"/>
              <a:t> </a:t>
            </a:r>
            <a:r>
              <a:rPr lang="en-US" sz="2000" dirty="0" err="1" smtClean="0"/>
              <a:t>hàm</a:t>
            </a:r>
            <a:r>
              <a:rPr lang="en-US" sz="2000" dirty="0" smtClean="0"/>
              <a:t>&gt;(&lt;</a:t>
            </a:r>
            <a:r>
              <a:rPr lang="en-US" sz="2000" dirty="0" err="1" smtClean="0"/>
              <a:t>khai</a:t>
            </a:r>
            <a:r>
              <a:rPr lang="en-US" sz="2000" dirty="0" smtClean="0"/>
              <a:t> </a:t>
            </a:r>
            <a:r>
              <a:rPr lang="en-US" sz="2000" dirty="0" err="1" smtClean="0"/>
              <a:t>báo</a:t>
            </a:r>
            <a:r>
              <a:rPr lang="en-US" sz="2000" dirty="0" smtClean="0"/>
              <a:t> </a:t>
            </a:r>
            <a:r>
              <a:rPr lang="en-US" sz="2000" dirty="0" err="1" smtClean="0"/>
              <a:t>các</a:t>
            </a:r>
            <a:r>
              <a:rPr lang="en-US" sz="2000" dirty="0" smtClean="0"/>
              <a:t> </a:t>
            </a:r>
            <a:r>
              <a:rPr lang="en-US" sz="2000" dirty="0" err="1" smtClean="0"/>
              <a:t>tham</a:t>
            </a:r>
            <a:r>
              <a:rPr lang="en-US" sz="2000" dirty="0" smtClean="0"/>
              <a:t> </a:t>
            </a:r>
            <a:r>
              <a:rPr lang="en-US" sz="2000" dirty="0" err="1" smtClean="0"/>
              <a:t>số</a:t>
            </a:r>
            <a:r>
              <a:rPr lang="en-US" sz="2000" dirty="0" smtClean="0"/>
              <a:t>&gt;) {</a:t>
            </a:r>
          </a:p>
          <a:p>
            <a:pPr lvl="1" indent="366713">
              <a:buNone/>
            </a:pPr>
            <a:r>
              <a:rPr lang="en-US" sz="2000" i="1" dirty="0" err="1" smtClean="0"/>
              <a:t>Khai</a:t>
            </a:r>
            <a:r>
              <a:rPr lang="en-US" sz="2000" i="1" dirty="0" smtClean="0"/>
              <a:t> </a:t>
            </a:r>
            <a:r>
              <a:rPr lang="en-US" sz="2000" i="1" dirty="0" err="1" smtClean="0"/>
              <a:t>báo</a:t>
            </a:r>
            <a:r>
              <a:rPr lang="en-US" sz="2000" i="1" dirty="0" smtClean="0"/>
              <a:t> </a:t>
            </a:r>
            <a:r>
              <a:rPr lang="en-US" sz="2000" i="1" dirty="0" err="1" smtClean="0"/>
              <a:t>các</a:t>
            </a:r>
            <a:r>
              <a:rPr lang="en-US" sz="2000" i="1" dirty="0" smtClean="0"/>
              <a:t> </a:t>
            </a:r>
            <a:r>
              <a:rPr lang="en-US" sz="2000" i="1" dirty="0" err="1" smtClean="0"/>
              <a:t>biến</a:t>
            </a:r>
            <a:r>
              <a:rPr lang="en-US" sz="2000" i="1" dirty="0" smtClean="0"/>
              <a:t> </a:t>
            </a:r>
            <a:r>
              <a:rPr lang="en-US" sz="2000" i="1" dirty="0" err="1" smtClean="0"/>
              <a:t>dùng</a:t>
            </a:r>
            <a:r>
              <a:rPr lang="en-US" sz="2000" i="1" dirty="0" smtClean="0"/>
              <a:t> </a:t>
            </a:r>
            <a:r>
              <a:rPr lang="en-US" sz="2000" i="1" dirty="0" err="1" smtClean="0"/>
              <a:t>cho</a:t>
            </a:r>
            <a:r>
              <a:rPr lang="en-US" sz="2000" i="1" dirty="0" smtClean="0"/>
              <a:t> </a:t>
            </a:r>
            <a:r>
              <a:rPr lang="en-US" sz="2000" i="1" dirty="0" err="1" smtClean="0"/>
              <a:t>hàm</a:t>
            </a:r>
            <a:endParaRPr lang="en-US" sz="2000" i="1" dirty="0" smtClean="0"/>
          </a:p>
          <a:p>
            <a:pPr lvl="1" indent="366713">
              <a:buNone/>
            </a:pPr>
            <a:r>
              <a:rPr lang="en-US" sz="2000" i="1" dirty="0" err="1" smtClean="0"/>
              <a:t>Các</a:t>
            </a:r>
            <a:r>
              <a:rPr lang="en-US" sz="2000" i="1" dirty="0" smtClean="0"/>
              <a:t> </a:t>
            </a:r>
            <a:r>
              <a:rPr lang="en-US" sz="2000" i="1" dirty="0" err="1" smtClean="0"/>
              <a:t>câu</a:t>
            </a:r>
            <a:r>
              <a:rPr lang="en-US" sz="2000" i="1" dirty="0" smtClean="0"/>
              <a:t> </a:t>
            </a:r>
            <a:r>
              <a:rPr lang="en-US" sz="2000" i="1" dirty="0" err="1" smtClean="0"/>
              <a:t>lệnh</a:t>
            </a:r>
            <a:r>
              <a:rPr lang="en-US" sz="2000" i="1" dirty="0" smtClean="0"/>
              <a:t> </a:t>
            </a:r>
            <a:r>
              <a:rPr lang="en-US" sz="2000" i="1" dirty="0" err="1" smtClean="0"/>
              <a:t>của</a:t>
            </a:r>
            <a:r>
              <a:rPr lang="en-US" sz="2000" i="1" dirty="0" smtClean="0"/>
              <a:t> </a:t>
            </a:r>
            <a:r>
              <a:rPr lang="en-US" sz="2000" i="1" dirty="0" err="1" smtClean="0"/>
              <a:t>hàm</a:t>
            </a:r>
            <a:endParaRPr lang="en-US" sz="2000" i="1" dirty="0" smtClean="0"/>
          </a:p>
          <a:p>
            <a:pPr lvl="1" indent="26988">
              <a:buNone/>
            </a:pPr>
            <a:r>
              <a:rPr lang="en-US" sz="2000" dirty="0" smtClean="0"/>
              <a:t>}</a:t>
            </a:r>
          </a:p>
          <a:p>
            <a:pPr marL="171450" lvl="1">
              <a:spcBef>
                <a:spcPts val="750"/>
              </a:spcBef>
            </a:pPr>
            <a:r>
              <a:rPr lang="en-US" sz="2400" dirty="0" err="1" smtClean="0"/>
              <a:t>Gọi</a:t>
            </a:r>
            <a:r>
              <a:rPr lang="en-US" sz="2400" dirty="0" smtClean="0"/>
              <a:t> </a:t>
            </a:r>
            <a:r>
              <a:rPr lang="en-US" sz="2400" dirty="0" err="1"/>
              <a:t>hàm</a:t>
            </a:r>
            <a:r>
              <a:rPr lang="en-US" sz="2400" dirty="0" smtClean="0"/>
              <a:t>:</a:t>
            </a:r>
          </a:p>
          <a:p>
            <a:pPr marL="514350" lvl="2">
              <a:spcBef>
                <a:spcPts val="750"/>
              </a:spcBef>
            </a:pPr>
            <a:r>
              <a:rPr lang="en-US" sz="2000" dirty="0"/>
              <a:t>&lt;</a:t>
            </a:r>
            <a:r>
              <a:rPr lang="en-US" sz="2000" dirty="0" err="1"/>
              <a:t>tên</a:t>
            </a:r>
            <a:r>
              <a:rPr lang="en-US" sz="2000" dirty="0"/>
              <a:t> </a:t>
            </a:r>
            <a:r>
              <a:rPr lang="en-US" sz="2000" dirty="0" err="1"/>
              <a:t>hàm</a:t>
            </a:r>
            <a:r>
              <a:rPr lang="en-US" sz="2000" dirty="0"/>
              <a:t>&gt;(&lt;</a:t>
            </a:r>
            <a:r>
              <a:rPr lang="en-US" sz="2000" dirty="0" err="1"/>
              <a:t>các</a:t>
            </a:r>
            <a:r>
              <a:rPr lang="en-US" sz="2000" dirty="0"/>
              <a:t> </a:t>
            </a:r>
            <a:r>
              <a:rPr lang="en-US" sz="2000" dirty="0" err="1"/>
              <a:t>tham</a:t>
            </a:r>
            <a:r>
              <a:rPr lang="en-US" sz="2000" dirty="0"/>
              <a:t> </a:t>
            </a:r>
            <a:r>
              <a:rPr lang="en-US" sz="2000" dirty="0" err="1"/>
              <a:t>số</a:t>
            </a:r>
            <a:r>
              <a:rPr lang="en-US" sz="2000" dirty="0"/>
              <a:t> </a:t>
            </a:r>
            <a:r>
              <a:rPr lang="en-US" sz="2000" dirty="0" err="1"/>
              <a:t>thực</a:t>
            </a:r>
            <a:r>
              <a:rPr lang="en-US" sz="2000" dirty="0" smtClean="0"/>
              <a:t>&gt;)</a:t>
            </a:r>
          </a:p>
          <a:p>
            <a:pPr marL="514350" lvl="2">
              <a:spcBef>
                <a:spcPts val="750"/>
              </a:spcBef>
            </a:pPr>
            <a:r>
              <a:rPr lang="en-US" sz="2000" dirty="0" err="1" smtClean="0"/>
              <a:t>biến</a:t>
            </a:r>
            <a:r>
              <a:rPr lang="en-US" sz="2000" dirty="0" smtClean="0"/>
              <a:t> = </a:t>
            </a:r>
            <a:r>
              <a:rPr lang="en-US" sz="2000" dirty="0"/>
              <a:t>&lt;</a:t>
            </a:r>
            <a:r>
              <a:rPr lang="en-US" sz="2000" dirty="0" err="1"/>
              <a:t>tên</a:t>
            </a:r>
            <a:r>
              <a:rPr lang="en-US" sz="2000" dirty="0"/>
              <a:t> </a:t>
            </a:r>
            <a:r>
              <a:rPr lang="en-US" sz="2000" dirty="0" err="1"/>
              <a:t>hàm</a:t>
            </a:r>
            <a:r>
              <a:rPr lang="en-US" sz="2000" dirty="0"/>
              <a:t>&gt;(&lt;</a:t>
            </a:r>
            <a:r>
              <a:rPr lang="en-US" sz="2000" dirty="0" err="1"/>
              <a:t>khai</a:t>
            </a:r>
            <a:r>
              <a:rPr lang="en-US" sz="2000" dirty="0"/>
              <a:t> </a:t>
            </a:r>
            <a:r>
              <a:rPr lang="en-US" sz="2000" dirty="0" err="1"/>
              <a:t>báo</a:t>
            </a:r>
            <a:r>
              <a:rPr lang="en-US" sz="2000" dirty="0"/>
              <a:t> </a:t>
            </a:r>
            <a:r>
              <a:rPr lang="en-US" sz="2000" dirty="0" err="1"/>
              <a:t>các</a:t>
            </a:r>
            <a:r>
              <a:rPr lang="en-US" sz="2000" dirty="0"/>
              <a:t> </a:t>
            </a:r>
            <a:r>
              <a:rPr lang="en-US" sz="2000" dirty="0" err="1"/>
              <a:t>tham</a:t>
            </a:r>
            <a:r>
              <a:rPr lang="en-US" sz="2000" dirty="0"/>
              <a:t> </a:t>
            </a:r>
            <a:r>
              <a:rPr lang="en-US" sz="2000" dirty="0" err="1"/>
              <a:t>số</a:t>
            </a:r>
            <a:r>
              <a:rPr lang="en-US" sz="2000" dirty="0"/>
              <a:t>&gt;) </a:t>
            </a:r>
            <a:r>
              <a:rPr lang="en-US" sz="2000" dirty="0" smtClean="0"/>
              <a:t>;</a:t>
            </a:r>
          </a:p>
          <a:p>
            <a:pPr marL="171450" lvl="1">
              <a:spcBef>
                <a:spcPts val="750"/>
              </a:spcBef>
            </a:pPr>
            <a:r>
              <a:rPr lang="en-US" sz="2400" dirty="0" err="1" smtClean="0"/>
              <a:t>Lệnh</a:t>
            </a:r>
            <a:r>
              <a:rPr lang="en-US" sz="2400" dirty="0" smtClean="0"/>
              <a:t> return:</a:t>
            </a:r>
          </a:p>
          <a:p>
            <a:pPr marL="514350" lvl="2">
              <a:spcBef>
                <a:spcPts val="750"/>
              </a:spcBef>
            </a:pPr>
            <a:r>
              <a:rPr lang="en-US" sz="2100" dirty="0" err="1" smtClean="0"/>
              <a:t>Kết</a:t>
            </a:r>
            <a:r>
              <a:rPr lang="en-US" sz="2100" dirty="0" smtClean="0"/>
              <a:t> </a:t>
            </a:r>
            <a:r>
              <a:rPr lang="en-US" sz="2100" dirty="0" err="1"/>
              <a:t>thúc</a:t>
            </a:r>
            <a:r>
              <a:rPr lang="en-US" sz="2100" dirty="0"/>
              <a:t> </a:t>
            </a:r>
            <a:r>
              <a:rPr lang="en-US" sz="2100" dirty="0" err="1"/>
              <a:t>hàm</a:t>
            </a:r>
            <a:r>
              <a:rPr lang="en-US" sz="2100" dirty="0"/>
              <a:t> </a:t>
            </a:r>
            <a:r>
              <a:rPr lang="en-US" sz="2100" dirty="0" err="1"/>
              <a:t>và</a:t>
            </a:r>
            <a:r>
              <a:rPr lang="en-US" sz="2100" dirty="0"/>
              <a:t> </a:t>
            </a:r>
            <a:r>
              <a:rPr lang="en-US" sz="2100" dirty="0" err="1"/>
              <a:t>trả</a:t>
            </a:r>
            <a:r>
              <a:rPr lang="en-US" sz="2100" dirty="0"/>
              <a:t> </a:t>
            </a:r>
            <a:r>
              <a:rPr lang="en-US" sz="2100" dirty="0" err="1"/>
              <a:t>về</a:t>
            </a:r>
            <a:r>
              <a:rPr lang="en-US" sz="2100" dirty="0"/>
              <a:t> </a:t>
            </a:r>
            <a:r>
              <a:rPr lang="en-US" sz="2100" dirty="0" err="1"/>
              <a:t>một</a:t>
            </a:r>
            <a:r>
              <a:rPr lang="en-US" sz="2100" dirty="0"/>
              <a:t> </a:t>
            </a:r>
            <a:r>
              <a:rPr lang="en-US" sz="2100" dirty="0" err="1"/>
              <a:t>giá</a:t>
            </a:r>
            <a:r>
              <a:rPr lang="en-US" sz="2100" dirty="0"/>
              <a:t> </a:t>
            </a:r>
            <a:r>
              <a:rPr lang="en-US" sz="2100" dirty="0" err="1"/>
              <a:t>trị</a:t>
            </a:r>
            <a:r>
              <a:rPr lang="en-US" sz="2100" dirty="0"/>
              <a:t> </a:t>
            </a:r>
            <a:r>
              <a:rPr lang="en-US" sz="2100" dirty="0" err="1"/>
              <a:t>cho</a:t>
            </a:r>
            <a:r>
              <a:rPr lang="en-US" sz="2100" dirty="0"/>
              <a:t> </a:t>
            </a:r>
            <a:r>
              <a:rPr lang="en-US" sz="2100" dirty="0" err="1"/>
              <a:t>nơi</a:t>
            </a:r>
            <a:r>
              <a:rPr lang="en-US" sz="2100" dirty="0"/>
              <a:t> </a:t>
            </a:r>
            <a:r>
              <a:rPr lang="en-US" sz="2100" dirty="0" err="1"/>
              <a:t>gọi</a:t>
            </a:r>
            <a:r>
              <a:rPr lang="en-US" sz="2100" dirty="0"/>
              <a:t> </a:t>
            </a:r>
            <a:r>
              <a:rPr lang="en-US" sz="2100" dirty="0" err="1" smtClean="0"/>
              <a:t>nó</a:t>
            </a:r>
            <a:endParaRPr lang="en-US" sz="2100" dirty="0" smtClean="0"/>
          </a:p>
          <a:p>
            <a:pPr marL="171450" lvl="1">
              <a:spcBef>
                <a:spcPts val="750"/>
              </a:spcBef>
            </a:pPr>
            <a:r>
              <a:rPr lang="en-US" sz="2400" dirty="0" err="1" smtClean="0"/>
              <a:t>Kiểu</a:t>
            </a:r>
            <a:r>
              <a:rPr lang="en-US" sz="2400" dirty="0" smtClean="0"/>
              <a:t> </a:t>
            </a:r>
            <a:r>
              <a:rPr lang="en-US" sz="2400" dirty="0" err="1" smtClean="0"/>
              <a:t>trả</a:t>
            </a:r>
            <a:r>
              <a:rPr lang="en-US" sz="2400" dirty="0" smtClean="0"/>
              <a:t> </a:t>
            </a:r>
            <a:r>
              <a:rPr lang="en-US" sz="2400" dirty="0" err="1" smtClean="0"/>
              <a:t>về</a:t>
            </a:r>
            <a:r>
              <a:rPr lang="en-US" sz="2400" dirty="0" smtClean="0"/>
              <a:t> = void: </a:t>
            </a:r>
            <a:r>
              <a:rPr lang="en-US" sz="2400" dirty="0" err="1" smtClean="0"/>
              <a:t>Hàm</a:t>
            </a:r>
            <a:r>
              <a:rPr lang="en-US" sz="2400" dirty="0" smtClean="0"/>
              <a:t> </a:t>
            </a:r>
            <a:r>
              <a:rPr lang="en-US" sz="2400" dirty="0" err="1"/>
              <a:t>không</a:t>
            </a:r>
            <a:r>
              <a:rPr lang="en-US" sz="2400" dirty="0"/>
              <a:t> </a:t>
            </a:r>
            <a:r>
              <a:rPr lang="en-US" sz="2400" dirty="0" err="1"/>
              <a:t>trả</a:t>
            </a:r>
            <a:r>
              <a:rPr lang="en-US" sz="2400" dirty="0"/>
              <a:t> </a:t>
            </a:r>
            <a:r>
              <a:rPr lang="en-US" sz="2400" dirty="0" err="1"/>
              <a:t>về</a:t>
            </a:r>
            <a:r>
              <a:rPr lang="en-US" sz="2400" dirty="0"/>
              <a:t> </a:t>
            </a:r>
            <a:r>
              <a:rPr lang="en-US" sz="2400" dirty="0" err="1"/>
              <a:t>giá</a:t>
            </a:r>
            <a:r>
              <a:rPr lang="en-US" sz="2400" dirty="0"/>
              <a:t> </a:t>
            </a:r>
            <a:r>
              <a:rPr lang="en-US" sz="2400" dirty="0" err="1"/>
              <a:t>trị</a:t>
            </a:r>
            <a:r>
              <a:rPr lang="en-US" sz="2400" dirty="0"/>
              <a:t> </a:t>
            </a:r>
            <a:r>
              <a:rPr lang="en-US" sz="2400" dirty="0" err="1" smtClean="0"/>
              <a:t>gì</a:t>
            </a:r>
            <a:endParaRPr lang="en-US" sz="2600" dirty="0"/>
          </a:p>
        </p:txBody>
      </p:sp>
    </p:spTree>
    <p:extLst>
      <p:ext uri="{BB962C8B-B14F-4D97-AF65-F5344CB8AC3E}">
        <p14:creationId xmlns:p14="http://schemas.microsoft.com/office/powerpoint/2010/main" val="564151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16</a:t>
            </a:fld>
            <a:endParaRPr lang="en-US"/>
          </a:p>
        </p:txBody>
      </p:sp>
      <p:sp>
        <p:nvSpPr>
          <p:cNvPr id="2" name="Title 1"/>
          <p:cNvSpPr>
            <a:spLocks noGrp="1"/>
          </p:cNvSpPr>
          <p:nvPr>
            <p:ph type="title"/>
          </p:nvPr>
        </p:nvSpPr>
        <p:spPr/>
        <p:txBody>
          <a:bodyPr/>
          <a:lstStyle/>
          <a:p>
            <a:r>
              <a:rPr lang="en-US" dirty="0" err="1" smtClean="0"/>
              <a:t>Hàm</a:t>
            </a:r>
            <a:endParaRPr lang="en-US" dirty="0"/>
          </a:p>
        </p:txBody>
      </p:sp>
      <p:sp>
        <p:nvSpPr>
          <p:cNvPr id="3" name="Content Placeholder 2"/>
          <p:cNvSpPr>
            <a:spLocks noGrp="1"/>
          </p:cNvSpPr>
          <p:nvPr>
            <p:ph type="body" sz="quarter" idx="13"/>
          </p:nvPr>
        </p:nvSpPr>
        <p:spPr>
          <a:xfrm>
            <a:off x="234823" y="563523"/>
            <a:ext cx="8674100" cy="5132832"/>
          </a:xfrm>
        </p:spPr>
        <p:txBody>
          <a:bodyPr>
            <a:normAutofit/>
          </a:bodyPr>
          <a:lstStyle/>
          <a:p>
            <a:endParaRPr lang="en-US" sz="2400" dirty="0" smtClean="0"/>
          </a:p>
          <a:p>
            <a:r>
              <a:rPr lang="en-US" sz="2400" dirty="0" err="1" smtClean="0"/>
              <a:t>Ví</a:t>
            </a:r>
            <a:r>
              <a:rPr lang="en-US" sz="2400" dirty="0" smtClean="0"/>
              <a:t> </a:t>
            </a:r>
            <a:r>
              <a:rPr lang="en-US" sz="2400" dirty="0" err="1" smtClean="0"/>
              <a:t>dụ</a:t>
            </a:r>
            <a:r>
              <a:rPr lang="en-US" sz="2400" dirty="0" smtClean="0"/>
              <a:t>:</a:t>
            </a:r>
          </a:p>
          <a:p>
            <a:pPr lvl="1"/>
            <a:r>
              <a:rPr lang="en-US" sz="2000" dirty="0" smtClean="0">
                <a:latin typeface="Courier New" pitchFamily="49" charset="0"/>
                <a:cs typeface="Courier New" pitchFamily="49" charset="0"/>
              </a:rPr>
              <a:t>double tong(double x, double y);</a:t>
            </a:r>
          </a:p>
          <a:p>
            <a:pPr lvl="1" indent="-34925">
              <a:buNone/>
            </a:pPr>
            <a:r>
              <a:rPr lang="en-US" sz="2000" dirty="0" smtClean="0">
                <a:latin typeface="Courier New" pitchFamily="49" charset="0"/>
                <a:cs typeface="Courier New" pitchFamily="49" charset="0"/>
              </a:rPr>
              <a:t>double </a:t>
            </a:r>
            <a:r>
              <a:rPr lang="en-US" sz="2000" dirty="0" err="1" smtClean="0">
                <a:latin typeface="Courier New" pitchFamily="49" charset="0"/>
                <a:cs typeface="Courier New" pitchFamily="49" charset="0"/>
              </a:rPr>
              <a:t>tich</a:t>
            </a:r>
            <a:r>
              <a:rPr lang="en-US" sz="2000" dirty="0" smtClean="0">
                <a:latin typeface="Courier New" pitchFamily="49" charset="0"/>
                <a:cs typeface="Courier New" pitchFamily="49" charset="0"/>
              </a:rPr>
              <a:t>(double x, double y);</a:t>
            </a:r>
          </a:p>
          <a:p>
            <a:pPr lvl="1" indent="-34925">
              <a:buNone/>
            </a:pPr>
            <a:r>
              <a:rPr lang="en-US" sz="2000" dirty="0" err="1" smtClean="0">
                <a:latin typeface="Courier New" pitchFamily="49" charset="0"/>
                <a:cs typeface="Courier New" pitchFamily="49" charset="0"/>
              </a:rPr>
              <a:t>int</a:t>
            </a:r>
            <a:r>
              <a:rPr lang="en-US" sz="2000" dirty="0" smtClean="0">
                <a:latin typeface="Courier New" pitchFamily="49" charset="0"/>
                <a:cs typeface="Courier New" pitchFamily="49" charset="0"/>
              </a:rPr>
              <a:t> main() {</a:t>
            </a:r>
          </a:p>
          <a:p>
            <a:pPr lvl="1" indent="366713">
              <a:buNone/>
            </a:pPr>
            <a:r>
              <a:rPr lang="en-US" sz="2000" dirty="0" smtClean="0">
                <a:latin typeface="Courier New" pitchFamily="49" charset="0"/>
                <a:cs typeface="Courier New" pitchFamily="49" charset="0"/>
              </a:rPr>
              <a:t>double x = 5., y = 10.;</a:t>
            </a:r>
          </a:p>
          <a:p>
            <a:pPr lvl="1" indent="366713">
              <a:buNone/>
            </a:pPr>
            <a:r>
              <a:rPr lang="en-US" sz="2000" dirty="0" smtClean="0">
                <a:latin typeface="Courier New" pitchFamily="49" charset="0"/>
                <a:cs typeface="Courier New" pitchFamily="49" charset="0"/>
              </a:rPr>
              <a:t>tong(x, y);</a:t>
            </a:r>
          </a:p>
          <a:p>
            <a:pPr lvl="1" indent="366713">
              <a:buNone/>
            </a:pPr>
            <a:r>
              <a:rPr lang="en-US" sz="2000" dirty="0" err="1" smtClean="0">
                <a:latin typeface="Courier New" pitchFamily="49" charset="0"/>
                <a:cs typeface="Courier New" pitchFamily="49" charset="0"/>
              </a:rPr>
              <a:t>tich</a:t>
            </a:r>
            <a:r>
              <a:rPr lang="en-US" sz="2000" dirty="0" smtClean="0">
                <a:latin typeface="Courier New" pitchFamily="49" charset="0"/>
                <a:cs typeface="Courier New" pitchFamily="49" charset="0"/>
              </a:rPr>
              <a:t>(x, y);</a:t>
            </a:r>
          </a:p>
          <a:p>
            <a:pPr lvl="1" indent="366713">
              <a:buNone/>
            </a:pPr>
            <a:r>
              <a:rPr lang="en-US" sz="2000" dirty="0" smtClean="0">
                <a:latin typeface="Courier New" pitchFamily="49" charset="0"/>
                <a:cs typeface="Courier New" pitchFamily="49" charset="0"/>
              </a:rPr>
              <a:t>return 0;</a:t>
            </a:r>
          </a:p>
          <a:p>
            <a:pPr lvl="1" indent="-34925">
              <a:buNone/>
            </a:pPr>
            <a:r>
              <a:rPr lang="en-US" sz="2000" dirty="0" smtClean="0">
                <a:latin typeface="Courier New" pitchFamily="49" charset="0"/>
                <a:cs typeface="Courier New" pitchFamily="49" charset="0"/>
              </a:rPr>
              <a:t>}</a:t>
            </a:r>
          </a:p>
          <a:p>
            <a:pPr lvl="1" indent="-34925">
              <a:buNone/>
            </a:pPr>
            <a:r>
              <a:rPr lang="en-US" sz="2000" dirty="0" smtClean="0">
                <a:latin typeface="Courier New" pitchFamily="49" charset="0"/>
                <a:cs typeface="Courier New" pitchFamily="49" charset="0"/>
              </a:rPr>
              <a:t>double tong(double x, double y) { return </a:t>
            </a:r>
            <a:r>
              <a:rPr lang="en-US" sz="2000" dirty="0" err="1" smtClean="0">
                <a:latin typeface="Courier New" pitchFamily="49" charset="0"/>
                <a:cs typeface="Courier New" pitchFamily="49" charset="0"/>
              </a:rPr>
              <a:t>x+y</a:t>
            </a:r>
            <a:r>
              <a:rPr lang="en-US" sz="2000" dirty="0" smtClean="0">
                <a:latin typeface="Courier New" pitchFamily="49" charset="0"/>
                <a:cs typeface="Courier New" pitchFamily="49" charset="0"/>
              </a:rPr>
              <a:t>; }</a:t>
            </a:r>
          </a:p>
          <a:p>
            <a:pPr lvl="1" indent="-34925">
              <a:buNone/>
            </a:pPr>
            <a:r>
              <a:rPr lang="en-US" sz="2000" dirty="0" smtClean="0">
                <a:latin typeface="Courier New" pitchFamily="49" charset="0"/>
                <a:cs typeface="Courier New" pitchFamily="49" charset="0"/>
              </a:rPr>
              <a:t>double </a:t>
            </a:r>
            <a:r>
              <a:rPr lang="en-US" sz="2000" dirty="0" err="1" smtClean="0">
                <a:latin typeface="Courier New" pitchFamily="49" charset="0"/>
                <a:cs typeface="Courier New" pitchFamily="49" charset="0"/>
              </a:rPr>
              <a:t>tich</a:t>
            </a:r>
            <a:r>
              <a:rPr lang="en-US" sz="2000" dirty="0" smtClean="0">
                <a:latin typeface="Courier New" pitchFamily="49" charset="0"/>
                <a:cs typeface="Courier New" pitchFamily="49" charset="0"/>
              </a:rPr>
              <a:t>(double x, double y) { return x*y; }</a:t>
            </a:r>
            <a:endParaRPr lang="en-US" sz="2000" dirty="0">
              <a:latin typeface="Courier New" pitchFamily="49" charset="0"/>
              <a:cs typeface="Courier New" pitchFamily="49" charset="0"/>
            </a:endParaRPr>
          </a:p>
        </p:txBody>
      </p:sp>
    </p:spTree>
    <p:extLst>
      <p:ext uri="{BB962C8B-B14F-4D97-AF65-F5344CB8AC3E}">
        <p14:creationId xmlns:p14="http://schemas.microsoft.com/office/powerpoint/2010/main" val="2926013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17</a:t>
            </a:fld>
            <a:endParaRPr lang="en-US"/>
          </a:p>
        </p:txBody>
      </p:sp>
      <p:sp>
        <p:nvSpPr>
          <p:cNvPr id="2" name="Title 1"/>
          <p:cNvSpPr>
            <a:spLocks noGrp="1"/>
          </p:cNvSpPr>
          <p:nvPr>
            <p:ph type="title"/>
          </p:nvPr>
        </p:nvSpPr>
        <p:spPr/>
        <p:txBody>
          <a:bodyPr/>
          <a:lstStyle/>
          <a:p>
            <a:r>
              <a:rPr lang="en-US" dirty="0" err="1"/>
              <a:t>Tham</a:t>
            </a:r>
            <a:r>
              <a:rPr lang="en-US" dirty="0"/>
              <a:t> </a:t>
            </a:r>
            <a:r>
              <a:rPr lang="en-US" dirty="0" err="1"/>
              <a:t>số</a:t>
            </a:r>
            <a:r>
              <a:rPr lang="en-US" dirty="0"/>
              <a:t> </a:t>
            </a:r>
            <a:r>
              <a:rPr lang="en-US" dirty="0" err="1"/>
              <a:t>kiểu</a:t>
            </a:r>
            <a:r>
              <a:rPr lang="en-US" dirty="0"/>
              <a:t> </a:t>
            </a:r>
            <a:r>
              <a:rPr lang="en-US" dirty="0" err="1"/>
              <a:t>giá</a:t>
            </a:r>
            <a:r>
              <a:rPr lang="en-US" dirty="0"/>
              <a:t> </a:t>
            </a:r>
            <a:r>
              <a:rPr lang="en-US" dirty="0" err="1"/>
              <a:t>trị</a:t>
            </a:r>
            <a:r>
              <a:rPr lang="en-US" dirty="0"/>
              <a:t> </a:t>
            </a:r>
            <a:r>
              <a:rPr lang="en-US" dirty="0" err="1"/>
              <a:t>và</a:t>
            </a:r>
            <a:r>
              <a:rPr lang="en-US" dirty="0"/>
              <a:t> </a:t>
            </a:r>
            <a:r>
              <a:rPr lang="en-US" dirty="0" err="1"/>
              <a:t>kiểu</a:t>
            </a:r>
            <a:r>
              <a:rPr lang="en-US" dirty="0"/>
              <a:t> con </a:t>
            </a:r>
            <a:r>
              <a:rPr lang="en-US" dirty="0" err="1"/>
              <a:t>trỏ</a:t>
            </a:r>
            <a:r>
              <a:rPr lang="en-US" dirty="0"/>
              <a:t> (</a:t>
            </a:r>
            <a:r>
              <a:rPr lang="en-US" dirty="0" err="1"/>
              <a:t>tham</a:t>
            </a:r>
            <a:r>
              <a:rPr lang="en-US" dirty="0"/>
              <a:t> </a:t>
            </a:r>
            <a:r>
              <a:rPr lang="en-US" dirty="0" err="1"/>
              <a:t>chiếu</a:t>
            </a:r>
            <a:r>
              <a:rPr lang="en-US" dirty="0"/>
              <a:t>)</a:t>
            </a:r>
          </a:p>
        </p:txBody>
      </p:sp>
      <p:sp>
        <p:nvSpPr>
          <p:cNvPr id="3" name="Content Placeholder 2"/>
          <p:cNvSpPr>
            <a:spLocks noGrp="1"/>
          </p:cNvSpPr>
          <p:nvPr>
            <p:ph type="body" sz="quarter" idx="13"/>
          </p:nvPr>
        </p:nvSpPr>
        <p:spPr/>
        <p:txBody>
          <a:bodyPr/>
          <a:lstStyle/>
          <a:p>
            <a:r>
              <a:rPr lang="en-US" sz="2000" dirty="0" err="1" smtClean="0"/>
              <a:t>Tham</a:t>
            </a:r>
            <a:r>
              <a:rPr lang="en-US" sz="2000" dirty="0" smtClean="0"/>
              <a:t> </a:t>
            </a:r>
            <a:r>
              <a:rPr lang="en-US" sz="2000" dirty="0" err="1" smtClean="0"/>
              <a:t>số</a:t>
            </a:r>
            <a:r>
              <a:rPr lang="en-US" sz="2000" dirty="0" smtClean="0"/>
              <a:t> </a:t>
            </a:r>
            <a:r>
              <a:rPr lang="en-US" sz="2000" dirty="0" err="1" smtClean="0"/>
              <a:t>của</a:t>
            </a:r>
            <a:r>
              <a:rPr lang="en-US" sz="2000" dirty="0" smtClean="0"/>
              <a:t> </a:t>
            </a:r>
            <a:r>
              <a:rPr lang="en-US" sz="2000" dirty="0" err="1" smtClean="0"/>
              <a:t>hàm</a:t>
            </a:r>
            <a:r>
              <a:rPr lang="en-US" sz="2000" dirty="0" smtClean="0"/>
              <a:t> </a:t>
            </a:r>
            <a:r>
              <a:rPr lang="en-US" sz="2000" dirty="0" err="1" smtClean="0"/>
              <a:t>là</a:t>
            </a:r>
            <a:r>
              <a:rPr lang="en-US" sz="2000" dirty="0" smtClean="0"/>
              <a:t> </a:t>
            </a:r>
            <a:r>
              <a:rPr lang="en-US" sz="2000" dirty="0" err="1" smtClean="0"/>
              <a:t>biến</a:t>
            </a:r>
            <a:r>
              <a:rPr lang="en-US" sz="2000" dirty="0" smtClean="0"/>
              <a:t> </a:t>
            </a:r>
            <a:r>
              <a:rPr lang="en-US" sz="2000" dirty="0" err="1" smtClean="0"/>
              <a:t>tạm</a:t>
            </a:r>
            <a:r>
              <a:rPr lang="en-US" sz="2000" dirty="0" smtClean="0"/>
              <a:t> </a:t>
            </a:r>
            <a:r>
              <a:rPr lang="en-US" sz="2000" dirty="0" err="1" smtClean="0"/>
              <a:t>thời</a:t>
            </a:r>
            <a:r>
              <a:rPr lang="en-US" sz="2000" dirty="0" smtClean="0"/>
              <a:t>, </a:t>
            </a:r>
            <a:r>
              <a:rPr lang="en-US" sz="2000" dirty="0" err="1" smtClean="0"/>
              <a:t>tạo</a:t>
            </a:r>
            <a:r>
              <a:rPr lang="en-US" sz="2000" dirty="0" smtClean="0"/>
              <a:t> </a:t>
            </a:r>
            <a:r>
              <a:rPr lang="en-US" sz="2000" dirty="0" err="1" smtClean="0"/>
              <a:t>ra</a:t>
            </a:r>
            <a:r>
              <a:rPr lang="en-US" sz="2000" dirty="0" smtClean="0"/>
              <a:t> </a:t>
            </a:r>
            <a:r>
              <a:rPr lang="en-US" sz="2000" dirty="0" err="1" smtClean="0"/>
              <a:t>khi</a:t>
            </a:r>
            <a:r>
              <a:rPr lang="en-US" sz="2000" dirty="0" smtClean="0"/>
              <a:t> </a:t>
            </a:r>
            <a:r>
              <a:rPr lang="en-US" sz="2000" dirty="0" err="1" smtClean="0"/>
              <a:t>gọi</a:t>
            </a:r>
            <a:r>
              <a:rPr lang="en-US" sz="2000" dirty="0" smtClean="0"/>
              <a:t> </a:t>
            </a:r>
            <a:r>
              <a:rPr lang="en-US" sz="2000" dirty="0" err="1" smtClean="0"/>
              <a:t>và</a:t>
            </a:r>
            <a:r>
              <a:rPr lang="en-US" sz="2000" dirty="0" smtClean="0"/>
              <a:t> </a:t>
            </a:r>
            <a:r>
              <a:rPr lang="en-US" sz="2000" dirty="0" err="1" smtClean="0"/>
              <a:t>huỷ</a:t>
            </a:r>
            <a:r>
              <a:rPr lang="en-US" sz="2000" dirty="0" smtClean="0"/>
              <a:t> </a:t>
            </a:r>
            <a:r>
              <a:rPr lang="en-US" sz="2000" dirty="0" err="1" smtClean="0"/>
              <a:t>khi</a:t>
            </a:r>
            <a:r>
              <a:rPr lang="en-US" sz="2000" dirty="0" smtClean="0"/>
              <a:t> </a:t>
            </a:r>
            <a:r>
              <a:rPr lang="en-US" sz="2000" dirty="0" err="1" smtClean="0"/>
              <a:t>hàm</a:t>
            </a:r>
            <a:r>
              <a:rPr lang="en-US" sz="2000" dirty="0" smtClean="0"/>
              <a:t> </a:t>
            </a:r>
            <a:r>
              <a:rPr lang="en-US" sz="2000" dirty="0" err="1" smtClean="0"/>
              <a:t>kết</a:t>
            </a:r>
            <a:r>
              <a:rPr lang="en-US" sz="2000" dirty="0" smtClean="0"/>
              <a:t> </a:t>
            </a:r>
            <a:r>
              <a:rPr lang="en-US" sz="2000" dirty="0" err="1" smtClean="0"/>
              <a:t>thúc</a:t>
            </a:r>
            <a:r>
              <a:rPr lang="en-US" sz="2000" dirty="0" smtClean="0"/>
              <a:t> </a:t>
            </a:r>
            <a:r>
              <a:rPr lang="en-US" sz="2000" dirty="0" smtClean="0">
                <a:sym typeface="Wingdings" pitchFamily="2" charset="2"/>
              </a:rPr>
              <a:t> </a:t>
            </a:r>
            <a:r>
              <a:rPr lang="en-US" sz="2000" dirty="0" err="1" smtClean="0">
                <a:sym typeface="Wingdings" pitchFamily="2" charset="2"/>
              </a:rPr>
              <a:t>gán</a:t>
            </a:r>
            <a:r>
              <a:rPr lang="en-US" sz="2000" dirty="0" smtClean="0">
                <a:sym typeface="Wingdings" pitchFamily="2" charset="2"/>
              </a:rPr>
              <a:t> </a:t>
            </a:r>
            <a:r>
              <a:rPr lang="en-US" sz="2000" dirty="0" err="1" smtClean="0">
                <a:sym typeface="Wingdings" pitchFamily="2" charset="2"/>
              </a:rPr>
              <a:t>giá</a:t>
            </a:r>
            <a:r>
              <a:rPr lang="en-US" sz="2000" dirty="0" smtClean="0">
                <a:sym typeface="Wingdings" pitchFamily="2" charset="2"/>
              </a:rPr>
              <a:t> </a:t>
            </a:r>
            <a:r>
              <a:rPr lang="en-US" sz="2000" dirty="0" err="1" smtClean="0">
                <a:sym typeface="Wingdings" pitchFamily="2" charset="2"/>
              </a:rPr>
              <a:t>trị</a:t>
            </a:r>
            <a:r>
              <a:rPr lang="en-US" sz="2000" dirty="0" smtClean="0">
                <a:sym typeface="Wingdings" pitchFamily="2" charset="2"/>
              </a:rPr>
              <a:t> </a:t>
            </a:r>
            <a:r>
              <a:rPr lang="en-US" sz="2000" dirty="0" err="1" smtClean="0">
                <a:sym typeface="Wingdings" pitchFamily="2" charset="2"/>
              </a:rPr>
              <a:t>cho</a:t>
            </a:r>
            <a:r>
              <a:rPr lang="en-US" sz="2000" dirty="0" smtClean="0">
                <a:sym typeface="Wingdings" pitchFamily="2" charset="2"/>
              </a:rPr>
              <a:t> </a:t>
            </a:r>
            <a:r>
              <a:rPr lang="en-US" sz="2000" dirty="0" err="1" smtClean="0">
                <a:sym typeface="Wingdings" pitchFamily="2" charset="2"/>
              </a:rPr>
              <a:t>tham</a:t>
            </a:r>
            <a:r>
              <a:rPr lang="en-US" sz="2000" dirty="0" smtClean="0">
                <a:sym typeface="Wingdings" pitchFamily="2" charset="2"/>
              </a:rPr>
              <a:t> </a:t>
            </a:r>
            <a:r>
              <a:rPr lang="en-US" sz="2000" dirty="0" err="1" smtClean="0">
                <a:sym typeface="Wingdings" pitchFamily="2" charset="2"/>
              </a:rPr>
              <a:t>số</a:t>
            </a:r>
            <a:r>
              <a:rPr lang="en-US" sz="2000" dirty="0" smtClean="0">
                <a:sym typeface="Wingdings" pitchFamily="2" charset="2"/>
              </a:rPr>
              <a:t> </a:t>
            </a:r>
            <a:r>
              <a:rPr lang="en-US" sz="2000" dirty="0" err="1" smtClean="0">
                <a:sym typeface="Wingdings" pitchFamily="2" charset="2"/>
              </a:rPr>
              <a:t>không</a:t>
            </a:r>
            <a:r>
              <a:rPr lang="en-US" sz="2000" dirty="0" smtClean="0">
                <a:sym typeface="Wingdings" pitchFamily="2" charset="2"/>
              </a:rPr>
              <a:t> </a:t>
            </a:r>
            <a:r>
              <a:rPr lang="en-US" sz="2000" dirty="0" err="1" smtClean="0">
                <a:sym typeface="Wingdings" pitchFamily="2" charset="2"/>
              </a:rPr>
              <a:t>ảnh</a:t>
            </a:r>
            <a:r>
              <a:rPr lang="en-US" sz="2000" dirty="0" smtClean="0">
                <a:sym typeface="Wingdings" pitchFamily="2" charset="2"/>
              </a:rPr>
              <a:t> </a:t>
            </a:r>
            <a:r>
              <a:rPr lang="en-US" sz="2000" dirty="0" err="1" smtClean="0">
                <a:sym typeface="Wingdings" pitchFamily="2" charset="2"/>
              </a:rPr>
              <a:t>hưởng</a:t>
            </a:r>
            <a:r>
              <a:rPr lang="en-US" sz="2000" dirty="0" smtClean="0">
                <a:sym typeface="Wingdings" pitchFamily="2" charset="2"/>
              </a:rPr>
              <a:t> </a:t>
            </a:r>
            <a:r>
              <a:rPr lang="en-US" sz="2000" dirty="0" err="1" smtClean="0">
                <a:sym typeface="Wingdings" pitchFamily="2" charset="2"/>
              </a:rPr>
              <a:t>tới</a:t>
            </a:r>
            <a:r>
              <a:rPr lang="en-US" sz="2000" dirty="0" smtClean="0">
                <a:sym typeface="Wingdings" pitchFamily="2" charset="2"/>
              </a:rPr>
              <a:t> </a:t>
            </a:r>
            <a:r>
              <a:rPr lang="en-US" sz="2000" dirty="0" err="1" smtClean="0">
                <a:sym typeface="Wingdings" pitchFamily="2" charset="2"/>
              </a:rPr>
              <a:t>biến</a:t>
            </a:r>
            <a:r>
              <a:rPr lang="en-US" sz="2000" dirty="0" smtClean="0">
                <a:sym typeface="Wingdings" pitchFamily="2" charset="2"/>
              </a:rPr>
              <a:t> </a:t>
            </a:r>
            <a:r>
              <a:rPr lang="en-US" sz="2000" dirty="0" err="1" smtClean="0">
                <a:sym typeface="Wingdings" pitchFamily="2" charset="2"/>
              </a:rPr>
              <a:t>nơi</a:t>
            </a:r>
            <a:r>
              <a:rPr lang="en-US" sz="2000" dirty="0" smtClean="0">
                <a:sym typeface="Wingdings" pitchFamily="2" charset="2"/>
              </a:rPr>
              <a:t> </a:t>
            </a:r>
            <a:r>
              <a:rPr lang="en-US" sz="2000" dirty="0" err="1" smtClean="0">
                <a:sym typeface="Wingdings" pitchFamily="2" charset="2"/>
              </a:rPr>
              <a:t>gọi</a:t>
            </a:r>
            <a:r>
              <a:rPr lang="en-US" sz="2000" dirty="0" smtClean="0">
                <a:sym typeface="Wingdings" pitchFamily="2" charset="2"/>
              </a:rPr>
              <a:t>.</a:t>
            </a:r>
          </a:p>
          <a:p>
            <a:pPr lvl="1">
              <a:spcBef>
                <a:spcPts val="0"/>
              </a:spcBef>
            </a:pPr>
            <a:endParaRPr lang="en-US" sz="2000" dirty="0" smtClean="0">
              <a:latin typeface="Courier New" pitchFamily="49" charset="0"/>
              <a:cs typeface="Courier New" pitchFamily="49" charset="0"/>
              <a:sym typeface="Wingdings" pitchFamily="2" charset="2"/>
            </a:endParaRPr>
          </a:p>
          <a:p>
            <a:pPr lvl="1">
              <a:spcBef>
                <a:spcPts val="0"/>
              </a:spcBef>
            </a:pPr>
            <a:endParaRPr lang="en-US" sz="2000" dirty="0">
              <a:latin typeface="Courier New" pitchFamily="49" charset="0"/>
              <a:cs typeface="Courier New" pitchFamily="49" charset="0"/>
              <a:sym typeface="Wingdings" pitchFamily="2" charset="2"/>
            </a:endParaRPr>
          </a:p>
          <a:p>
            <a:pPr lvl="1">
              <a:spcBef>
                <a:spcPts val="0"/>
              </a:spcBef>
            </a:pPr>
            <a:r>
              <a:rPr lang="en-US" sz="2000" dirty="0" smtClean="0">
                <a:latin typeface="Courier New" pitchFamily="49" charset="0"/>
                <a:cs typeface="Courier New" pitchFamily="49" charset="0"/>
                <a:sym typeface="Wingdings" pitchFamily="2" charset="2"/>
              </a:rPr>
              <a:t>void assign10(</a:t>
            </a:r>
            <a:r>
              <a:rPr lang="en-US" sz="2000" dirty="0" err="1" smtClean="0">
                <a:latin typeface="Courier New" pitchFamily="49" charset="0"/>
                <a:cs typeface="Courier New" pitchFamily="49" charset="0"/>
                <a:sym typeface="Wingdings" pitchFamily="2" charset="2"/>
              </a:rPr>
              <a:t>int</a:t>
            </a:r>
            <a:r>
              <a:rPr lang="en-US" sz="2000" dirty="0" smtClean="0">
                <a:latin typeface="Courier New" pitchFamily="49" charset="0"/>
                <a:cs typeface="Courier New" pitchFamily="49" charset="0"/>
                <a:sym typeface="Wingdings" pitchFamily="2" charset="2"/>
              </a:rPr>
              <a:t> x){ </a:t>
            </a:r>
          </a:p>
          <a:p>
            <a:pPr marL="593725" lvl="2" indent="0">
              <a:spcBef>
                <a:spcPts val="0"/>
              </a:spcBef>
              <a:buNone/>
            </a:pPr>
            <a:r>
              <a:rPr lang="en-US" sz="1700" dirty="0" smtClean="0">
                <a:latin typeface="Courier New" pitchFamily="49" charset="0"/>
                <a:cs typeface="Courier New" pitchFamily="49" charset="0"/>
                <a:sym typeface="Wingdings" pitchFamily="2" charset="2"/>
              </a:rPr>
              <a:t>      </a:t>
            </a:r>
            <a:r>
              <a:rPr lang="en-US" sz="1800" dirty="0" err="1">
                <a:latin typeface="Courier New" pitchFamily="49" charset="0"/>
                <a:cs typeface="Courier New" pitchFamily="49" charset="0"/>
                <a:sym typeface="Wingdings" pitchFamily="2" charset="2"/>
              </a:rPr>
              <a:t>printf</a:t>
            </a:r>
            <a:r>
              <a:rPr lang="en-US" sz="1800" dirty="0" smtClean="0">
                <a:latin typeface="Courier New" pitchFamily="49" charset="0"/>
                <a:cs typeface="Courier New" pitchFamily="49" charset="0"/>
                <a:sym typeface="Wingdings" pitchFamily="2" charset="2"/>
              </a:rPr>
              <a:t>(“x </a:t>
            </a:r>
            <a:r>
              <a:rPr lang="en-US" sz="1800" dirty="0">
                <a:latin typeface="Courier New" pitchFamily="49" charset="0"/>
                <a:cs typeface="Courier New" pitchFamily="49" charset="0"/>
                <a:sym typeface="Wingdings" pitchFamily="2" charset="2"/>
              </a:rPr>
              <a:t>= %d", </a:t>
            </a:r>
            <a:r>
              <a:rPr lang="en-US" sz="1800" dirty="0" smtClean="0">
                <a:latin typeface="Courier New" pitchFamily="49" charset="0"/>
                <a:cs typeface="Courier New" pitchFamily="49" charset="0"/>
                <a:sym typeface="Wingdings" pitchFamily="2" charset="2"/>
              </a:rPr>
              <a:t>x);</a:t>
            </a:r>
            <a:endParaRPr lang="en-US" sz="1800" dirty="0">
              <a:latin typeface="Courier New" pitchFamily="49" charset="0"/>
              <a:cs typeface="Courier New" pitchFamily="49" charset="0"/>
              <a:sym typeface="Wingdings" pitchFamily="2" charset="2"/>
            </a:endParaRPr>
          </a:p>
          <a:p>
            <a:pPr marL="593725" lvl="2" indent="0">
              <a:spcBef>
                <a:spcPts val="0"/>
              </a:spcBef>
              <a:buNone/>
            </a:pPr>
            <a:r>
              <a:rPr lang="en-US" sz="2000" dirty="0" smtClean="0">
                <a:latin typeface="Courier New" pitchFamily="49" charset="0"/>
                <a:cs typeface="Courier New" pitchFamily="49" charset="0"/>
                <a:sym typeface="Wingdings" pitchFamily="2" charset="2"/>
              </a:rPr>
              <a:t>	   x = 10; </a:t>
            </a:r>
          </a:p>
          <a:p>
            <a:pPr marL="593725" lvl="2" indent="0">
              <a:spcBef>
                <a:spcPts val="0"/>
              </a:spcBef>
              <a:buNone/>
            </a:pPr>
            <a:r>
              <a:rPr lang="en-US" sz="2000" dirty="0" smtClean="0">
                <a:latin typeface="Courier New" pitchFamily="49" charset="0"/>
                <a:cs typeface="Courier New" pitchFamily="49" charset="0"/>
                <a:sym typeface="Wingdings" pitchFamily="2" charset="2"/>
              </a:rPr>
              <a:t>}</a:t>
            </a:r>
          </a:p>
          <a:p>
            <a:pPr lvl="1" indent="25400">
              <a:spcBef>
                <a:spcPts val="0"/>
              </a:spcBef>
              <a:buNone/>
            </a:pPr>
            <a:r>
              <a:rPr lang="en-US" sz="2000" dirty="0" err="1" smtClean="0">
                <a:latin typeface="Courier New" pitchFamily="49" charset="0"/>
                <a:cs typeface="Courier New" pitchFamily="49" charset="0"/>
                <a:sym typeface="Wingdings" pitchFamily="2" charset="2"/>
              </a:rPr>
              <a:t>int</a:t>
            </a:r>
            <a:r>
              <a:rPr lang="en-US" sz="2000" dirty="0" smtClean="0">
                <a:latin typeface="Courier New" pitchFamily="49" charset="0"/>
                <a:cs typeface="Courier New" pitchFamily="49" charset="0"/>
                <a:sym typeface="Wingdings" pitchFamily="2" charset="2"/>
              </a:rPr>
              <a:t> main() {</a:t>
            </a:r>
          </a:p>
          <a:p>
            <a:pPr lvl="1" indent="366713">
              <a:spcBef>
                <a:spcPts val="0"/>
              </a:spcBef>
              <a:buNone/>
            </a:pPr>
            <a:r>
              <a:rPr lang="en-US" sz="2000" dirty="0" err="1" smtClean="0">
                <a:latin typeface="Courier New" pitchFamily="49" charset="0"/>
                <a:cs typeface="Courier New" pitchFamily="49" charset="0"/>
                <a:sym typeface="Wingdings" pitchFamily="2" charset="2"/>
              </a:rPr>
              <a:t>int</a:t>
            </a:r>
            <a:r>
              <a:rPr lang="en-US" sz="2000" dirty="0" smtClean="0">
                <a:latin typeface="Courier New" pitchFamily="49" charset="0"/>
                <a:cs typeface="Courier New" pitchFamily="49" charset="0"/>
                <a:sym typeface="Wingdings" pitchFamily="2" charset="2"/>
              </a:rPr>
              <a:t> a = 20;</a:t>
            </a:r>
          </a:p>
          <a:p>
            <a:pPr lvl="1" indent="366713">
              <a:spcBef>
                <a:spcPts val="0"/>
              </a:spcBef>
              <a:buNone/>
            </a:pPr>
            <a:r>
              <a:rPr lang="en-US" sz="2000" dirty="0" smtClean="0">
                <a:latin typeface="Courier New" pitchFamily="49" charset="0"/>
                <a:cs typeface="Courier New" pitchFamily="49" charset="0"/>
                <a:sym typeface="Wingdings" pitchFamily="2" charset="2"/>
              </a:rPr>
              <a:t>assign10(a);</a:t>
            </a:r>
          </a:p>
          <a:p>
            <a:pPr lvl="1" indent="366713">
              <a:spcBef>
                <a:spcPts val="0"/>
              </a:spcBef>
              <a:buNone/>
            </a:pPr>
            <a:r>
              <a:rPr lang="en-US" sz="2000" dirty="0" err="1" smtClean="0">
                <a:latin typeface="Courier New" pitchFamily="49" charset="0"/>
                <a:cs typeface="Courier New" pitchFamily="49" charset="0"/>
                <a:sym typeface="Wingdings" pitchFamily="2" charset="2"/>
              </a:rPr>
              <a:t>printf</a:t>
            </a:r>
            <a:r>
              <a:rPr lang="en-US" sz="2000" dirty="0" smtClean="0">
                <a:latin typeface="Courier New" pitchFamily="49" charset="0"/>
                <a:cs typeface="Courier New" pitchFamily="49" charset="0"/>
                <a:sym typeface="Wingdings" pitchFamily="2" charset="2"/>
              </a:rPr>
              <a:t>("a = %d", a);</a:t>
            </a:r>
          </a:p>
          <a:p>
            <a:pPr lvl="1" indent="366713">
              <a:spcBef>
                <a:spcPts val="0"/>
              </a:spcBef>
              <a:buNone/>
            </a:pPr>
            <a:r>
              <a:rPr lang="en-US" sz="2000" dirty="0" smtClean="0">
                <a:latin typeface="Courier New" pitchFamily="49" charset="0"/>
                <a:cs typeface="Courier New" pitchFamily="49" charset="0"/>
                <a:sym typeface="Wingdings" pitchFamily="2" charset="2"/>
              </a:rPr>
              <a:t>return 0;</a:t>
            </a:r>
          </a:p>
          <a:p>
            <a:pPr lvl="1" indent="25400">
              <a:spcBef>
                <a:spcPts val="0"/>
              </a:spcBef>
              <a:buNone/>
            </a:pPr>
            <a:r>
              <a:rPr lang="en-US" sz="2000" dirty="0" smtClean="0">
                <a:latin typeface="Courier New" pitchFamily="49" charset="0"/>
                <a:cs typeface="Courier New" pitchFamily="49" charset="0"/>
                <a:sym typeface="Wingdings" pitchFamily="2" charset="2"/>
              </a:rPr>
              <a:t>}</a:t>
            </a:r>
            <a:endParaRPr lang="en-US" sz="2000" dirty="0" smtClean="0">
              <a:sym typeface="Wingdings" pitchFamily="2" charset="2"/>
            </a:endParaRPr>
          </a:p>
        </p:txBody>
      </p:sp>
      <p:sp>
        <p:nvSpPr>
          <p:cNvPr id="9" name="Rectangle 12"/>
          <p:cNvSpPr>
            <a:spLocks noChangeArrowheads="1"/>
          </p:cNvSpPr>
          <p:nvPr/>
        </p:nvSpPr>
        <p:spPr bwMode="auto">
          <a:xfrm>
            <a:off x="6705600" y="2684943"/>
            <a:ext cx="1312672" cy="281003"/>
          </a:xfrm>
          <a:prstGeom prst="rect">
            <a:avLst/>
          </a:prstGeom>
          <a:noFill/>
          <a:ln w="38100">
            <a:solidFill>
              <a:srgbClr val="0000FF"/>
            </a:solidFill>
            <a:miter lim="800000"/>
            <a:headEnd/>
            <a:tailEnd/>
          </a:ln>
          <a:effectLst/>
        </p:spPr>
        <p:txBody>
          <a:bodyPr wrap="none" anchor="ctr"/>
          <a:lstStyle/>
          <a:p>
            <a:endParaRPr lang="vi-VN">
              <a:solidFill>
                <a:srgbClr val="0000FF"/>
              </a:solidFill>
            </a:endParaRPr>
          </a:p>
        </p:txBody>
      </p:sp>
      <p:sp>
        <p:nvSpPr>
          <p:cNvPr id="13" name="Text Box 15"/>
          <p:cNvSpPr txBox="1">
            <a:spLocks noChangeArrowheads="1"/>
          </p:cNvSpPr>
          <p:nvPr/>
        </p:nvSpPr>
        <p:spPr bwMode="auto">
          <a:xfrm>
            <a:off x="7027851" y="2707714"/>
            <a:ext cx="668169" cy="276999"/>
          </a:xfrm>
          <a:prstGeom prst="rect">
            <a:avLst/>
          </a:prstGeom>
          <a:noFill/>
          <a:ln w="9525">
            <a:noFill/>
            <a:miter lim="800000"/>
            <a:headEnd/>
            <a:tailEnd/>
          </a:ln>
          <a:effectLst/>
        </p:spPr>
        <p:txBody>
          <a:bodyPr wrap="square" lIns="0" tIns="0" rIns="0" bIns="0">
            <a:spAutoFit/>
          </a:bodyPr>
          <a:lstStyle/>
          <a:p>
            <a:pPr algn="ctr"/>
            <a:r>
              <a:rPr lang="en-US" b="1" dirty="0" smtClean="0">
                <a:solidFill>
                  <a:srgbClr val="0000FF"/>
                </a:solidFill>
                <a:latin typeface="Arial" charset="0"/>
              </a:rPr>
              <a:t>20</a:t>
            </a:r>
            <a:endParaRPr lang="en-US" dirty="0">
              <a:solidFill>
                <a:srgbClr val="0000FF"/>
              </a:solidFill>
            </a:endParaRPr>
          </a:p>
        </p:txBody>
      </p:sp>
      <p:sp>
        <p:nvSpPr>
          <p:cNvPr id="14" name="Rectangle 12"/>
          <p:cNvSpPr>
            <a:spLocks noChangeArrowheads="1"/>
          </p:cNvSpPr>
          <p:nvPr/>
        </p:nvSpPr>
        <p:spPr bwMode="auto">
          <a:xfrm>
            <a:off x="6705600" y="3986197"/>
            <a:ext cx="1312672" cy="281003"/>
          </a:xfrm>
          <a:prstGeom prst="rect">
            <a:avLst/>
          </a:prstGeom>
          <a:noFill/>
          <a:ln w="38100">
            <a:solidFill>
              <a:srgbClr val="0000FF"/>
            </a:solidFill>
            <a:miter lim="800000"/>
            <a:headEnd/>
            <a:tailEnd/>
          </a:ln>
          <a:effectLst/>
        </p:spPr>
        <p:txBody>
          <a:bodyPr wrap="none" anchor="ctr"/>
          <a:lstStyle/>
          <a:p>
            <a:endParaRPr lang="vi-VN">
              <a:solidFill>
                <a:srgbClr val="0000FF"/>
              </a:solidFill>
            </a:endParaRPr>
          </a:p>
        </p:txBody>
      </p:sp>
      <p:sp>
        <p:nvSpPr>
          <p:cNvPr id="16" name="Text Box 15"/>
          <p:cNvSpPr txBox="1">
            <a:spLocks noChangeArrowheads="1"/>
          </p:cNvSpPr>
          <p:nvPr/>
        </p:nvSpPr>
        <p:spPr bwMode="auto">
          <a:xfrm>
            <a:off x="7086600" y="3980343"/>
            <a:ext cx="609420" cy="276999"/>
          </a:xfrm>
          <a:prstGeom prst="rect">
            <a:avLst/>
          </a:prstGeom>
          <a:noFill/>
          <a:ln w="9525">
            <a:noFill/>
            <a:miter lim="800000"/>
            <a:headEnd/>
            <a:tailEnd/>
          </a:ln>
          <a:effectLst/>
        </p:spPr>
        <p:txBody>
          <a:bodyPr wrap="square" lIns="0" tIns="0" rIns="0" bIns="0">
            <a:spAutoFit/>
          </a:bodyPr>
          <a:lstStyle/>
          <a:p>
            <a:pPr algn="ctr"/>
            <a:r>
              <a:rPr lang="en-US" b="1" dirty="0" smtClean="0">
                <a:solidFill>
                  <a:srgbClr val="0000FF"/>
                </a:solidFill>
                <a:latin typeface="Arial" charset="0"/>
              </a:rPr>
              <a:t>20</a:t>
            </a:r>
            <a:endParaRPr lang="en-US" dirty="0">
              <a:solidFill>
                <a:srgbClr val="0000FF"/>
              </a:solidFill>
            </a:endParaRPr>
          </a:p>
        </p:txBody>
      </p:sp>
      <p:cxnSp>
        <p:nvCxnSpPr>
          <p:cNvPr id="22" name="Straight Arrow Connector 21"/>
          <p:cNvCxnSpPr/>
          <p:nvPr/>
        </p:nvCxnSpPr>
        <p:spPr>
          <a:xfrm flipV="1">
            <a:off x="7353210" y="2984713"/>
            <a:ext cx="8725" cy="995630"/>
          </a:xfrm>
          <a:prstGeom prst="straightConnector1">
            <a:avLst/>
          </a:prstGeom>
          <a:ln w="38100" cap="rnd">
            <a:solidFill>
              <a:srgbClr val="FF0000"/>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27" name="Text Box 15"/>
          <p:cNvSpPr txBox="1">
            <a:spLocks noChangeArrowheads="1"/>
          </p:cNvSpPr>
          <p:nvPr/>
        </p:nvSpPr>
        <p:spPr bwMode="auto">
          <a:xfrm>
            <a:off x="7315200" y="3370743"/>
            <a:ext cx="838200" cy="276999"/>
          </a:xfrm>
          <a:prstGeom prst="rect">
            <a:avLst/>
          </a:prstGeom>
          <a:noFill/>
          <a:ln w="9525">
            <a:noFill/>
            <a:miter lim="800000"/>
            <a:headEnd/>
            <a:tailEnd/>
          </a:ln>
          <a:effectLst/>
        </p:spPr>
        <p:txBody>
          <a:bodyPr wrap="square" lIns="0" tIns="0" rIns="0" bIns="0">
            <a:spAutoFit/>
          </a:bodyPr>
          <a:lstStyle/>
          <a:p>
            <a:pPr algn="ctr"/>
            <a:r>
              <a:rPr lang="en-US" b="1" dirty="0" smtClean="0">
                <a:solidFill>
                  <a:srgbClr val="FF0000"/>
                </a:solidFill>
                <a:latin typeface="Arial" charset="0"/>
              </a:rPr>
              <a:t>copy</a:t>
            </a:r>
            <a:endParaRPr lang="en-US" dirty="0">
              <a:solidFill>
                <a:srgbClr val="FF0000"/>
              </a:solidFill>
            </a:endParaRPr>
          </a:p>
        </p:txBody>
      </p:sp>
      <p:cxnSp>
        <p:nvCxnSpPr>
          <p:cNvPr id="6" name="Straight Arrow Connector 5"/>
          <p:cNvCxnSpPr/>
          <p:nvPr/>
        </p:nvCxnSpPr>
        <p:spPr>
          <a:xfrm>
            <a:off x="4114800" y="2227743"/>
            <a:ext cx="2514600" cy="4828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3261958" y="3693909"/>
            <a:ext cx="3378386" cy="4249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629400" y="3629377"/>
            <a:ext cx="293856" cy="369332"/>
          </a:xfrm>
          <a:prstGeom prst="rect">
            <a:avLst/>
          </a:prstGeom>
          <a:noFill/>
        </p:spPr>
        <p:txBody>
          <a:bodyPr wrap="square" rtlCol="0">
            <a:spAutoFit/>
          </a:bodyPr>
          <a:lstStyle/>
          <a:p>
            <a:r>
              <a:rPr lang="en-US" dirty="0" smtClean="0"/>
              <a:t>a</a:t>
            </a:r>
            <a:endParaRPr lang="en-US" dirty="0"/>
          </a:p>
        </p:txBody>
      </p:sp>
      <p:sp>
        <p:nvSpPr>
          <p:cNvPr id="28" name="TextBox 27"/>
          <p:cNvSpPr txBox="1"/>
          <p:nvPr/>
        </p:nvSpPr>
        <p:spPr>
          <a:xfrm>
            <a:off x="6640344" y="2314817"/>
            <a:ext cx="293856" cy="369332"/>
          </a:xfrm>
          <a:prstGeom prst="rect">
            <a:avLst/>
          </a:prstGeom>
          <a:noFill/>
        </p:spPr>
        <p:txBody>
          <a:bodyPr wrap="square" rtlCol="0">
            <a:spAutoFit/>
          </a:bodyPr>
          <a:lstStyle/>
          <a:p>
            <a:r>
              <a:rPr lang="en-US" dirty="0" smtClean="0"/>
              <a:t>x</a:t>
            </a:r>
            <a:endParaRPr lang="en-US" dirty="0"/>
          </a:p>
        </p:txBody>
      </p:sp>
      <p:cxnSp>
        <p:nvCxnSpPr>
          <p:cNvPr id="21" name="Straight Arrow Connector 20"/>
          <p:cNvCxnSpPr/>
          <p:nvPr/>
        </p:nvCxnSpPr>
        <p:spPr>
          <a:xfrm flipV="1">
            <a:off x="1371600" y="2913543"/>
            <a:ext cx="518160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6696075" y="2361093"/>
            <a:ext cx="1322197" cy="781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6705600" y="2227745"/>
            <a:ext cx="1219200" cy="1047888"/>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5163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p:bldP spid="14" grpId="0" animBg="1"/>
      <p:bldP spid="16" grpId="0"/>
      <p:bldP spid="27" grpId="0"/>
      <p:bldP spid="8" grpId="0"/>
      <p:bldP spid="2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18</a:t>
            </a:fld>
            <a:endParaRPr lang="en-US"/>
          </a:p>
        </p:txBody>
      </p:sp>
      <p:sp>
        <p:nvSpPr>
          <p:cNvPr id="2" name="Title 1"/>
          <p:cNvSpPr>
            <a:spLocks noGrp="1"/>
          </p:cNvSpPr>
          <p:nvPr>
            <p:ph type="title"/>
          </p:nvPr>
        </p:nvSpPr>
        <p:spPr/>
        <p:txBody>
          <a:bodyPr/>
          <a:lstStyle/>
          <a:p>
            <a:r>
              <a:rPr lang="en-US" dirty="0" err="1"/>
              <a:t>Tham</a:t>
            </a:r>
            <a:r>
              <a:rPr lang="en-US" dirty="0"/>
              <a:t> </a:t>
            </a:r>
            <a:r>
              <a:rPr lang="en-US" dirty="0" err="1"/>
              <a:t>số</a:t>
            </a:r>
            <a:r>
              <a:rPr lang="en-US" dirty="0"/>
              <a:t> </a:t>
            </a:r>
            <a:r>
              <a:rPr lang="en-US" dirty="0" err="1"/>
              <a:t>kiểu</a:t>
            </a:r>
            <a:r>
              <a:rPr lang="en-US" dirty="0"/>
              <a:t> </a:t>
            </a:r>
            <a:r>
              <a:rPr lang="en-US" dirty="0" err="1"/>
              <a:t>giá</a:t>
            </a:r>
            <a:r>
              <a:rPr lang="en-US" dirty="0"/>
              <a:t> </a:t>
            </a:r>
            <a:r>
              <a:rPr lang="en-US" dirty="0" err="1"/>
              <a:t>trị</a:t>
            </a:r>
            <a:r>
              <a:rPr lang="en-US" dirty="0"/>
              <a:t> </a:t>
            </a:r>
            <a:r>
              <a:rPr lang="en-US" dirty="0" err="1"/>
              <a:t>và</a:t>
            </a:r>
            <a:r>
              <a:rPr lang="en-US" dirty="0"/>
              <a:t> </a:t>
            </a:r>
            <a:r>
              <a:rPr lang="en-US" dirty="0" err="1"/>
              <a:t>kiểu</a:t>
            </a:r>
            <a:r>
              <a:rPr lang="en-US" dirty="0"/>
              <a:t> </a:t>
            </a:r>
            <a:r>
              <a:rPr lang="en-US" dirty="0" smtClean="0"/>
              <a:t>con </a:t>
            </a:r>
            <a:r>
              <a:rPr lang="en-US" dirty="0" err="1" smtClean="0"/>
              <a:t>trỏ</a:t>
            </a:r>
            <a:r>
              <a:rPr lang="en-US" dirty="0" smtClean="0"/>
              <a:t> (</a:t>
            </a:r>
            <a:r>
              <a:rPr lang="en-US" dirty="0" err="1" smtClean="0"/>
              <a:t>tham</a:t>
            </a:r>
            <a:r>
              <a:rPr lang="en-US" dirty="0" smtClean="0"/>
              <a:t> </a:t>
            </a:r>
            <a:r>
              <a:rPr lang="en-US" dirty="0" err="1" smtClean="0"/>
              <a:t>chiếu</a:t>
            </a:r>
            <a:r>
              <a:rPr lang="en-US" dirty="0" smtClean="0"/>
              <a:t>)</a:t>
            </a:r>
            <a:endParaRPr lang="en-US" dirty="0"/>
          </a:p>
        </p:txBody>
      </p:sp>
      <p:sp>
        <p:nvSpPr>
          <p:cNvPr id="3" name="Content Placeholder 2"/>
          <p:cNvSpPr>
            <a:spLocks noGrp="1"/>
          </p:cNvSpPr>
          <p:nvPr>
            <p:ph type="body" sz="quarter" idx="13"/>
          </p:nvPr>
        </p:nvSpPr>
        <p:spPr/>
        <p:txBody>
          <a:bodyPr>
            <a:normAutofit/>
          </a:bodyPr>
          <a:lstStyle/>
          <a:p>
            <a:r>
              <a:rPr lang="en-US" sz="2000" dirty="0" err="1" smtClean="0">
                <a:sym typeface="Wingdings" pitchFamily="2" charset="2"/>
              </a:rPr>
              <a:t>Dùng</a:t>
            </a:r>
            <a:r>
              <a:rPr lang="en-US" sz="2000" dirty="0" smtClean="0">
                <a:sym typeface="Wingdings" pitchFamily="2" charset="2"/>
              </a:rPr>
              <a:t> con </a:t>
            </a:r>
            <a:r>
              <a:rPr lang="en-US" sz="2000" dirty="0" err="1" smtClean="0">
                <a:sym typeface="Wingdings" pitchFamily="2" charset="2"/>
              </a:rPr>
              <a:t>trỏ</a:t>
            </a:r>
            <a:r>
              <a:rPr lang="en-US" sz="2000" dirty="0" smtClean="0">
                <a:sym typeface="Wingdings" pitchFamily="2" charset="2"/>
              </a:rPr>
              <a:t> </a:t>
            </a:r>
            <a:r>
              <a:rPr lang="en-US" sz="2000" dirty="0" err="1" smtClean="0">
                <a:sym typeface="Wingdings" pitchFamily="2" charset="2"/>
              </a:rPr>
              <a:t>nếu</a:t>
            </a:r>
            <a:r>
              <a:rPr lang="en-US" sz="2000" dirty="0" smtClean="0">
                <a:sym typeface="Wingdings" pitchFamily="2" charset="2"/>
              </a:rPr>
              <a:t> </a:t>
            </a:r>
            <a:r>
              <a:rPr lang="en-US" sz="2000" dirty="0" err="1" smtClean="0">
                <a:sym typeface="Wingdings" pitchFamily="2" charset="2"/>
              </a:rPr>
              <a:t>muốn</a:t>
            </a:r>
            <a:r>
              <a:rPr lang="en-US" sz="2000" dirty="0" smtClean="0">
                <a:sym typeface="Wingdings" pitchFamily="2" charset="2"/>
              </a:rPr>
              <a:t> </a:t>
            </a:r>
            <a:r>
              <a:rPr lang="en-US" sz="2000" dirty="0" err="1" smtClean="0">
                <a:sym typeface="Wingdings" pitchFamily="2" charset="2"/>
              </a:rPr>
              <a:t>thay</a:t>
            </a:r>
            <a:r>
              <a:rPr lang="en-US" sz="2000" dirty="0" smtClean="0">
                <a:sym typeface="Wingdings" pitchFamily="2" charset="2"/>
              </a:rPr>
              <a:t> </a:t>
            </a:r>
            <a:r>
              <a:rPr lang="en-US" sz="2000" dirty="0" err="1" smtClean="0">
                <a:sym typeface="Wingdings" pitchFamily="2" charset="2"/>
              </a:rPr>
              <a:t>đổi</a:t>
            </a:r>
            <a:r>
              <a:rPr lang="en-US" sz="2000" dirty="0" smtClean="0">
                <a:sym typeface="Wingdings" pitchFamily="2" charset="2"/>
              </a:rPr>
              <a:t> </a:t>
            </a:r>
            <a:r>
              <a:rPr lang="en-US" sz="2000" dirty="0" err="1" smtClean="0">
                <a:sym typeface="Wingdings" pitchFamily="2" charset="2"/>
              </a:rPr>
              <a:t>giá</a:t>
            </a:r>
            <a:r>
              <a:rPr lang="en-US" sz="2000" dirty="0" smtClean="0">
                <a:sym typeface="Wingdings" pitchFamily="2" charset="2"/>
              </a:rPr>
              <a:t> </a:t>
            </a:r>
            <a:r>
              <a:rPr lang="en-US" sz="2000" dirty="0" err="1" smtClean="0">
                <a:sym typeface="Wingdings" pitchFamily="2" charset="2"/>
              </a:rPr>
              <a:t>trị</a:t>
            </a:r>
            <a:r>
              <a:rPr lang="en-US" sz="2000" dirty="0" smtClean="0">
                <a:sym typeface="Wingdings" pitchFamily="2" charset="2"/>
              </a:rPr>
              <a:t> </a:t>
            </a:r>
            <a:r>
              <a:rPr lang="en-US" sz="2000" dirty="0" err="1" smtClean="0">
                <a:sym typeface="Wingdings" pitchFamily="2" charset="2"/>
              </a:rPr>
              <a:t>của</a:t>
            </a:r>
            <a:r>
              <a:rPr lang="en-US" sz="2000" dirty="0" smtClean="0">
                <a:sym typeface="Wingdings" pitchFamily="2" charset="2"/>
              </a:rPr>
              <a:t> </a:t>
            </a:r>
            <a:r>
              <a:rPr lang="en-US" sz="2000" dirty="0" err="1" smtClean="0">
                <a:sym typeface="Wingdings" pitchFamily="2" charset="2"/>
              </a:rPr>
              <a:t>biến</a:t>
            </a:r>
            <a:r>
              <a:rPr lang="en-US" sz="2000" dirty="0" smtClean="0">
                <a:sym typeface="Wingdings" pitchFamily="2" charset="2"/>
              </a:rPr>
              <a:t> ở </a:t>
            </a:r>
            <a:r>
              <a:rPr lang="en-US" sz="2000" dirty="0" err="1" smtClean="0">
                <a:sym typeface="Wingdings" pitchFamily="2" charset="2"/>
              </a:rPr>
              <a:t>nơi</a:t>
            </a:r>
            <a:r>
              <a:rPr lang="en-US" sz="2000" dirty="0" smtClean="0">
                <a:sym typeface="Wingdings" pitchFamily="2" charset="2"/>
              </a:rPr>
              <a:t> </a:t>
            </a:r>
            <a:r>
              <a:rPr lang="en-US" sz="2000" dirty="0" err="1" smtClean="0">
                <a:sym typeface="Wingdings" pitchFamily="2" charset="2"/>
              </a:rPr>
              <a:t>gọi</a:t>
            </a:r>
            <a:r>
              <a:rPr lang="en-US" sz="2000" dirty="0" smtClean="0">
                <a:sym typeface="Wingdings" pitchFamily="2" charset="2"/>
              </a:rPr>
              <a:t> (</a:t>
            </a:r>
            <a:r>
              <a:rPr lang="en-US" sz="2000" dirty="0" err="1" smtClean="0">
                <a:sym typeface="Wingdings" pitchFamily="2" charset="2"/>
              </a:rPr>
              <a:t>tham</a:t>
            </a:r>
            <a:r>
              <a:rPr lang="en-US" sz="2000" dirty="0" smtClean="0">
                <a:sym typeface="Wingdings" pitchFamily="2" charset="2"/>
              </a:rPr>
              <a:t> </a:t>
            </a:r>
            <a:r>
              <a:rPr lang="en-US" sz="2000" dirty="0" err="1" smtClean="0">
                <a:sym typeface="Wingdings" pitchFamily="2" charset="2"/>
              </a:rPr>
              <a:t>chiếu</a:t>
            </a:r>
            <a:r>
              <a:rPr lang="en-US" sz="2000" dirty="0" smtClean="0">
                <a:sym typeface="Wingdings" pitchFamily="2" charset="2"/>
              </a:rPr>
              <a:t> </a:t>
            </a:r>
            <a:r>
              <a:rPr lang="en-US" sz="2000" dirty="0" err="1" smtClean="0">
                <a:sym typeface="Wingdings" pitchFamily="2" charset="2"/>
              </a:rPr>
              <a:t>tới</a:t>
            </a:r>
            <a:r>
              <a:rPr lang="en-US" sz="2000" dirty="0" smtClean="0">
                <a:sym typeface="Wingdings" pitchFamily="2" charset="2"/>
              </a:rPr>
              <a:t> </a:t>
            </a:r>
            <a:r>
              <a:rPr lang="en-US" sz="2000" dirty="0" err="1" smtClean="0">
                <a:sym typeface="Wingdings" pitchFamily="2" charset="2"/>
              </a:rPr>
              <a:t>biến</a:t>
            </a:r>
            <a:r>
              <a:rPr lang="en-US" sz="2000" dirty="0" smtClean="0">
                <a:sym typeface="Wingdings" pitchFamily="2" charset="2"/>
              </a:rPr>
              <a:t> ở </a:t>
            </a:r>
            <a:r>
              <a:rPr lang="en-US" sz="2000" dirty="0" err="1" smtClean="0">
                <a:sym typeface="Wingdings" pitchFamily="2" charset="2"/>
              </a:rPr>
              <a:t>nơi</a:t>
            </a:r>
            <a:r>
              <a:rPr lang="en-US" sz="2000" dirty="0" smtClean="0">
                <a:sym typeface="Wingdings" pitchFamily="2" charset="2"/>
              </a:rPr>
              <a:t> </a:t>
            </a:r>
            <a:r>
              <a:rPr lang="en-US" sz="2000" dirty="0" err="1" smtClean="0">
                <a:sym typeface="Wingdings" pitchFamily="2" charset="2"/>
              </a:rPr>
              <a:t>gọi</a:t>
            </a:r>
            <a:r>
              <a:rPr lang="en-US" sz="2000" dirty="0" smtClean="0">
                <a:sym typeface="Wingdings" pitchFamily="2" charset="2"/>
              </a:rPr>
              <a:t>)</a:t>
            </a:r>
          </a:p>
          <a:p>
            <a:pPr lvl="1">
              <a:spcBef>
                <a:spcPts val="0"/>
              </a:spcBef>
            </a:pPr>
            <a:endParaRPr lang="en-US" sz="1800" dirty="0" smtClean="0">
              <a:latin typeface="Courier New" pitchFamily="49" charset="0"/>
              <a:cs typeface="Courier New" pitchFamily="49" charset="0"/>
              <a:sym typeface="Wingdings" pitchFamily="2" charset="2"/>
            </a:endParaRPr>
          </a:p>
          <a:p>
            <a:endParaRPr lang="en-US" sz="2000" dirty="0" smtClean="0">
              <a:sym typeface="Wingdings" pitchFamily="2" charset="2"/>
            </a:endParaRPr>
          </a:p>
          <a:p>
            <a:endParaRPr lang="en-US" sz="2000" dirty="0">
              <a:sym typeface="Wingdings" pitchFamily="2" charset="2"/>
            </a:endParaRPr>
          </a:p>
          <a:p>
            <a:endParaRPr lang="en-US" sz="2000" dirty="0" smtClean="0">
              <a:sym typeface="Wingdings" pitchFamily="2" charset="2"/>
            </a:endParaRPr>
          </a:p>
          <a:p>
            <a:endParaRPr lang="en-US" sz="2000" dirty="0">
              <a:sym typeface="Wingdings" pitchFamily="2" charset="2"/>
            </a:endParaRPr>
          </a:p>
          <a:p>
            <a:endParaRPr lang="en-US" sz="2000" dirty="0" smtClean="0">
              <a:sym typeface="Wingdings" pitchFamily="2" charset="2"/>
            </a:endParaRPr>
          </a:p>
          <a:p>
            <a:endParaRPr lang="en-US" sz="2000" dirty="0">
              <a:sym typeface="Wingdings" pitchFamily="2" charset="2"/>
            </a:endParaRPr>
          </a:p>
          <a:p>
            <a:endParaRPr lang="en-US" sz="2000" dirty="0" smtClean="0">
              <a:sym typeface="Wingdings" pitchFamily="2" charset="2"/>
            </a:endParaRPr>
          </a:p>
          <a:p>
            <a:endParaRPr lang="en-US" sz="2000" dirty="0" smtClean="0">
              <a:sym typeface="Wingdings" pitchFamily="2" charset="2"/>
            </a:endParaRPr>
          </a:p>
          <a:p>
            <a:endParaRPr lang="en-US" sz="2000" dirty="0">
              <a:sym typeface="Wingdings" pitchFamily="2" charset="2"/>
            </a:endParaRPr>
          </a:p>
          <a:p>
            <a:r>
              <a:rPr lang="en-US" sz="2000" dirty="0" err="1" smtClean="0">
                <a:sym typeface="Wingdings" pitchFamily="2" charset="2"/>
              </a:rPr>
              <a:t>Tham</a:t>
            </a:r>
            <a:r>
              <a:rPr lang="en-US" sz="2000" dirty="0" smtClean="0">
                <a:sym typeface="Wingdings" pitchFamily="2" charset="2"/>
              </a:rPr>
              <a:t> </a:t>
            </a:r>
            <a:r>
              <a:rPr lang="en-US" sz="2000" dirty="0" err="1" smtClean="0">
                <a:sym typeface="Wingdings" pitchFamily="2" charset="2"/>
              </a:rPr>
              <a:t>số</a:t>
            </a:r>
            <a:r>
              <a:rPr lang="en-US" sz="2000" dirty="0" smtClean="0">
                <a:sym typeface="Wingdings" pitchFamily="2" charset="2"/>
              </a:rPr>
              <a:t> con </a:t>
            </a:r>
            <a:r>
              <a:rPr lang="en-US" sz="2000" dirty="0" err="1" smtClean="0">
                <a:sym typeface="Wingdings" pitchFamily="2" charset="2"/>
              </a:rPr>
              <a:t>trỏ</a:t>
            </a:r>
            <a:r>
              <a:rPr lang="en-US" sz="2000" dirty="0" smtClean="0">
                <a:sym typeface="Wingdings" pitchFamily="2" charset="2"/>
              </a:rPr>
              <a:t> </a:t>
            </a:r>
            <a:r>
              <a:rPr lang="en-US" sz="2000" dirty="0" err="1" smtClean="0">
                <a:sym typeface="Wingdings" pitchFamily="2" charset="2"/>
              </a:rPr>
              <a:t>thường</a:t>
            </a:r>
            <a:r>
              <a:rPr lang="en-US" sz="2000" dirty="0" smtClean="0">
                <a:sym typeface="Wingdings" pitchFamily="2" charset="2"/>
              </a:rPr>
              <a:t> </a:t>
            </a:r>
            <a:r>
              <a:rPr lang="en-US" sz="2000" dirty="0" err="1" smtClean="0">
                <a:sym typeface="Wingdings" pitchFamily="2" charset="2"/>
              </a:rPr>
              <a:t>được</a:t>
            </a:r>
            <a:r>
              <a:rPr lang="en-US" sz="2000" dirty="0" smtClean="0">
                <a:sym typeface="Wingdings" pitchFamily="2" charset="2"/>
              </a:rPr>
              <a:t> </a:t>
            </a:r>
            <a:r>
              <a:rPr lang="en-US" sz="2000" dirty="0" err="1" smtClean="0">
                <a:sym typeface="Wingdings" pitchFamily="2" charset="2"/>
              </a:rPr>
              <a:t>dùng</a:t>
            </a:r>
            <a:r>
              <a:rPr lang="en-US" sz="2000" dirty="0" smtClean="0">
                <a:sym typeface="Wingdings" pitchFamily="2" charset="2"/>
              </a:rPr>
              <a:t> </a:t>
            </a:r>
            <a:r>
              <a:rPr lang="en-US" sz="2000" dirty="0" err="1" smtClean="0">
                <a:sym typeface="Wingdings" pitchFamily="2" charset="2"/>
              </a:rPr>
              <a:t>như</a:t>
            </a:r>
            <a:r>
              <a:rPr lang="en-US" sz="2000" dirty="0" smtClean="0">
                <a:sym typeface="Wingdings" pitchFamily="2" charset="2"/>
              </a:rPr>
              <a:t> </a:t>
            </a:r>
            <a:r>
              <a:rPr lang="en-US" sz="2000" dirty="0" err="1" smtClean="0">
                <a:sym typeface="Wingdings" pitchFamily="2" charset="2"/>
              </a:rPr>
              <a:t>một</a:t>
            </a:r>
            <a:r>
              <a:rPr lang="en-US" sz="2000" dirty="0" smtClean="0">
                <a:sym typeface="Wingdings" pitchFamily="2" charset="2"/>
              </a:rPr>
              <a:t> </a:t>
            </a:r>
            <a:r>
              <a:rPr lang="en-US" sz="2000" dirty="0" err="1" smtClean="0">
                <a:sym typeface="Wingdings" pitchFamily="2" charset="2"/>
              </a:rPr>
              <a:t>cách</a:t>
            </a:r>
            <a:r>
              <a:rPr lang="en-US" sz="2000" dirty="0" smtClean="0">
                <a:sym typeface="Wingdings" pitchFamily="2" charset="2"/>
              </a:rPr>
              <a:t> </a:t>
            </a:r>
            <a:r>
              <a:rPr lang="en-US" sz="2000" dirty="0" err="1" smtClean="0">
                <a:sym typeface="Wingdings" pitchFamily="2" charset="2"/>
              </a:rPr>
              <a:t>khác</a:t>
            </a:r>
            <a:r>
              <a:rPr lang="en-US" sz="2000" dirty="0" smtClean="0">
                <a:sym typeface="Wingdings" pitchFamily="2" charset="2"/>
              </a:rPr>
              <a:t> </a:t>
            </a:r>
            <a:r>
              <a:rPr lang="en-US" sz="2000" dirty="0" err="1" smtClean="0">
                <a:sym typeface="Wingdings" pitchFamily="2" charset="2"/>
              </a:rPr>
              <a:t>để</a:t>
            </a:r>
            <a:r>
              <a:rPr lang="en-US" sz="2000" dirty="0" smtClean="0">
                <a:sym typeface="Wingdings" pitchFamily="2" charset="2"/>
              </a:rPr>
              <a:t> </a:t>
            </a:r>
            <a:r>
              <a:rPr lang="en-US" sz="2000" dirty="0" err="1" smtClean="0">
                <a:sym typeface="Wingdings" pitchFamily="2" charset="2"/>
              </a:rPr>
              <a:t>trả</a:t>
            </a:r>
            <a:r>
              <a:rPr lang="en-US" sz="2000" dirty="0" smtClean="0">
                <a:sym typeface="Wingdings" pitchFamily="2" charset="2"/>
              </a:rPr>
              <a:t> </a:t>
            </a:r>
            <a:r>
              <a:rPr lang="en-US" sz="2000" dirty="0" err="1" smtClean="0">
                <a:sym typeface="Wingdings" pitchFamily="2" charset="2"/>
              </a:rPr>
              <a:t>về</a:t>
            </a:r>
            <a:r>
              <a:rPr lang="en-US" sz="2000" dirty="0" smtClean="0">
                <a:sym typeface="Wingdings" pitchFamily="2" charset="2"/>
              </a:rPr>
              <a:t> </a:t>
            </a:r>
            <a:r>
              <a:rPr lang="en-US" sz="2000" dirty="0" err="1" smtClean="0">
                <a:sym typeface="Wingdings" pitchFamily="2" charset="2"/>
              </a:rPr>
              <a:t>thêm</a:t>
            </a:r>
            <a:r>
              <a:rPr lang="en-US" sz="2000" dirty="0" smtClean="0">
                <a:sym typeface="Wingdings" pitchFamily="2" charset="2"/>
              </a:rPr>
              <a:t> </a:t>
            </a:r>
            <a:r>
              <a:rPr lang="en-US" sz="2000" dirty="0" err="1" smtClean="0">
                <a:sym typeface="Wingdings" pitchFamily="2" charset="2"/>
              </a:rPr>
              <a:t>giá</a:t>
            </a:r>
            <a:r>
              <a:rPr lang="en-US" sz="2000" dirty="0" smtClean="0">
                <a:sym typeface="Wingdings" pitchFamily="2" charset="2"/>
              </a:rPr>
              <a:t> </a:t>
            </a:r>
            <a:r>
              <a:rPr lang="en-US" sz="2000" dirty="0" err="1" smtClean="0">
                <a:sym typeface="Wingdings" pitchFamily="2" charset="2"/>
              </a:rPr>
              <a:t>trị</a:t>
            </a:r>
            <a:r>
              <a:rPr lang="en-US" sz="2000" dirty="0" smtClean="0">
                <a:sym typeface="Wingdings" pitchFamily="2" charset="2"/>
              </a:rPr>
              <a:t>, </a:t>
            </a:r>
            <a:r>
              <a:rPr lang="en-US" sz="2000" dirty="0" err="1" smtClean="0">
                <a:sym typeface="Wingdings" pitchFamily="2" charset="2"/>
              </a:rPr>
              <a:t>vì</a:t>
            </a:r>
            <a:r>
              <a:rPr lang="en-US" sz="2000" dirty="0" smtClean="0">
                <a:sym typeface="Wingdings" pitchFamily="2" charset="2"/>
              </a:rPr>
              <a:t> </a:t>
            </a:r>
            <a:r>
              <a:rPr lang="en-US" sz="2000" dirty="0" err="1" smtClean="0">
                <a:sym typeface="Wingdings" pitchFamily="2" charset="2"/>
              </a:rPr>
              <a:t>mỗi</a:t>
            </a:r>
            <a:r>
              <a:rPr lang="en-US" sz="2000" dirty="0" smtClean="0">
                <a:sym typeface="Wingdings" pitchFamily="2" charset="2"/>
              </a:rPr>
              <a:t> </a:t>
            </a:r>
            <a:r>
              <a:rPr lang="en-US" sz="2000" dirty="0" err="1" smtClean="0">
                <a:sym typeface="Wingdings" pitchFamily="2" charset="2"/>
              </a:rPr>
              <a:t>hàm</a:t>
            </a:r>
            <a:r>
              <a:rPr lang="en-US" sz="2000" dirty="0" smtClean="0">
                <a:sym typeface="Wingdings" pitchFamily="2" charset="2"/>
              </a:rPr>
              <a:t> </a:t>
            </a:r>
            <a:r>
              <a:rPr lang="en-US" sz="2000" dirty="0" err="1" smtClean="0">
                <a:sym typeface="Wingdings" pitchFamily="2" charset="2"/>
              </a:rPr>
              <a:t>chỉ</a:t>
            </a:r>
            <a:r>
              <a:rPr lang="en-US" sz="2000" dirty="0" smtClean="0">
                <a:sym typeface="Wingdings" pitchFamily="2" charset="2"/>
              </a:rPr>
              <a:t> </a:t>
            </a:r>
            <a:r>
              <a:rPr lang="en-US" sz="2000" dirty="0" err="1" smtClean="0">
                <a:sym typeface="Wingdings" pitchFamily="2" charset="2"/>
              </a:rPr>
              <a:t>có</a:t>
            </a:r>
            <a:r>
              <a:rPr lang="en-US" sz="2000" dirty="0" smtClean="0">
                <a:sym typeface="Wingdings" pitchFamily="2" charset="2"/>
              </a:rPr>
              <a:t> </a:t>
            </a:r>
            <a:r>
              <a:rPr lang="en-US" sz="2000" dirty="0" err="1" smtClean="0">
                <a:sym typeface="Wingdings" pitchFamily="2" charset="2"/>
              </a:rPr>
              <a:t>một</a:t>
            </a:r>
            <a:r>
              <a:rPr lang="en-US" sz="2000" dirty="0" smtClean="0">
                <a:sym typeface="Wingdings" pitchFamily="2" charset="2"/>
              </a:rPr>
              <a:t> </a:t>
            </a:r>
            <a:r>
              <a:rPr lang="en-US" sz="2000" dirty="0" err="1" smtClean="0">
                <a:sym typeface="Wingdings" pitchFamily="2" charset="2"/>
              </a:rPr>
              <a:t>giá</a:t>
            </a:r>
            <a:r>
              <a:rPr lang="en-US" sz="2000" dirty="0" smtClean="0">
                <a:sym typeface="Wingdings" pitchFamily="2" charset="2"/>
              </a:rPr>
              <a:t> </a:t>
            </a:r>
            <a:r>
              <a:rPr lang="en-US" sz="2000" dirty="0" err="1" smtClean="0">
                <a:sym typeface="Wingdings" pitchFamily="2" charset="2"/>
              </a:rPr>
              <a:t>trị</a:t>
            </a:r>
            <a:r>
              <a:rPr lang="en-US" sz="2000" dirty="0" smtClean="0">
                <a:sym typeface="Wingdings" pitchFamily="2" charset="2"/>
              </a:rPr>
              <a:t> </a:t>
            </a:r>
            <a:r>
              <a:rPr lang="en-US" sz="2000" dirty="0" err="1" smtClean="0">
                <a:sym typeface="Wingdings" pitchFamily="2" charset="2"/>
              </a:rPr>
              <a:t>trả</a:t>
            </a:r>
            <a:r>
              <a:rPr lang="en-US" sz="2000" dirty="0" smtClean="0">
                <a:sym typeface="Wingdings" pitchFamily="2" charset="2"/>
              </a:rPr>
              <a:t> </a:t>
            </a:r>
            <a:r>
              <a:rPr lang="en-US" sz="2000" dirty="0" err="1" smtClean="0">
                <a:sym typeface="Wingdings" pitchFamily="2" charset="2"/>
              </a:rPr>
              <a:t>về</a:t>
            </a:r>
            <a:r>
              <a:rPr lang="en-US" sz="2000" dirty="0" smtClean="0">
                <a:sym typeface="Wingdings" pitchFamily="2" charset="2"/>
              </a:rPr>
              <a:t> </a:t>
            </a:r>
            <a:r>
              <a:rPr lang="en-US" sz="2000" dirty="0" err="1" smtClean="0">
                <a:sym typeface="Wingdings" pitchFamily="2" charset="2"/>
              </a:rPr>
              <a:t>theo</a:t>
            </a:r>
            <a:r>
              <a:rPr lang="en-US" sz="2000" dirty="0" smtClean="0">
                <a:sym typeface="Wingdings" pitchFamily="2" charset="2"/>
              </a:rPr>
              <a:t> </a:t>
            </a:r>
            <a:r>
              <a:rPr lang="en-US" sz="2000" dirty="0" err="1" smtClean="0">
                <a:sym typeface="Wingdings" pitchFamily="2" charset="2"/>
              </a:rPr>
              <a:t>đúng</a:t>
            </a:r>
            <a:r>
              <a:rPr lang="en-US" sz="2000" dirty="0" smtClean="0">
                <a:sym typeface="Wingdings" pitchFamily="2" charset="2"/>
              </a:rPr>
              <a:t> </a:t>
            </a:r>
            <a:r>
              <a:rPr lang="en-US" sz="2000" dirty="0" err="1" smtClean="0">
                <a:sym typeface="Wingdings" pitchFamily="2" charset="2"/>
              </a:rPr>
              <a:t>nghĩa</a:t>
            </a:r>
            <a:endParaRPr lang="en-US" sz="2000" dirty="0" smtClean="0">
              <a:latin typeface="Courier New" pitchFamily="49" charset="0"/>
              <a:cs typeface="Courier New" pitchFamily="49" charset="0"/>
              <a:sym typeface="Wingdings" pitchFamily="2" charset="2"/>
            </a:endParaRPr>
          </a:p>
        </p:txBody>
      </p:sp>
      <p:sp>
        <p:nvSpPr>
          <p:cNvPr id="10" name="Line 13"/>
          <p:cNvSpPr>
            <a:spLocks noChangeShapeType="1"/>
          </p:cNvSpPr>
          <p:nvPr/>
        </p:nvSpPr>
        <p:spPr bwMode="auto">
          <a:xfrm flipV="1">
            <a:off x="6156224" y="4287867"/>
            <a:ext cx="654025" cy="1084"/>
          </a:xfrm>
          <a:prstGeom prst="line">
            <a:avLst/>
          </a:prstGeom>
          <a:noFill/>
          <a:ln w="38100">
            <a:solidFill>
              <a:srgbClr val="0000FF"/>
            </a:solidFill>
            <a:round/>
            <a:headEnd type="oval" w="med" len="med"/>
            <a:tailEnd type="triangle" w="med" len="med"/>
          </a:ln>
          <a:effectLst/>
        </p:spPr>
        <p:txBody>
          <a:bodyPr wrap="none" anchor="ctr"/>
          <a:lstStyle/>
          <a:p>
            <a:endParaRPr lang="vi-VN">
              <a:solidFill>
                <a:srgbClr val="0000FF"/>
              </a:solidFill>
            </a:endParaRPr>
          </a:p>
        </p:txBody>
      </p:sp>
      <p:sp>
        <p:nvSpPr>
          <p:cNvPr id="30" name="Rectangle 12"/>
          <p:cNvSpPr>
            <a:spLocks noChangeArrowheads="1"/>
          </p:cNvSpPr>
          <p:nvPr/>
        </p:nvSpPr>
        <p:spPr bwMode="auto">
          <a:xfrm>
            <a:off x="6838188" y="4145363"/>
            <a:ext cx="1312672" cy="281003"/>
          </a:xfrm>
          <a:prstGeom prst="rect">
            <a:avLst/>
          </a:prstGeom>
          <a:noFill/>
          <a:ln w="38100">
            <a:solidFill>
              <a:srgbClr val="0000FF"/>
            </a:solidFill>
            <a:miter lim="800000"/>
            <a:headEnd/>
            <a:tailEnd/>
          </a:ln>
          <a:effectLst/>
        </p:spPr>
        <p:txBody>
          <a:bodyPr wrap="none" anchor="ctr"/>
          <a:lstStyle/>
          <a:p>
            <a:endParaRPr lang="vi-VN">
              <a:solidFill>
                <a:srgbClr val="0000FF"/>
              </a:solidFill>
            </a:endParaRPr>
          </a:p>
        </p:txBody>
      </p:sp>
      <p:sp>
        <p:nvSpPr>
          <p:cNvPr id="31" name="Text Box 15"/>
          <p:cNvSpPr txBox="1">
            <a:spLocks noChangeArrowheads="1"/>
          </p:cNvSpPr>
          <p:nvPr/>
        </p:nvSpPr>
        <p:spPr bwMode="auto">
          <a:xfrm>
            <a:off x="6937096" y="4139832"/>
            <a:ext cx="531800" cy="276999"/>
          </a:xfrm>
          <a:prstGeom prst="rect">
            <a:avLst/>
          </a:prstGeom>
          <a:noFill/>
          <a:ln w="9525">
            <a:noFill/>
            <a:miter lim="800000"/>
            <a:headEnd/>
            <a:tailEnd/>
          </a:ln>
          <a:effectLst/>
        </p:spPr>
        <p:txBody>
          <a:bodyPr wrap="square" lIns="0" tIns="0" rIns="0" bIns="0">
            <a:spAutoFit/>
          </a:bodyPr>
          <a:lstStyle/>
          <a:p>
            <a:pPr algn="ctr"/>
            <a:r>
              <a:rPr lang="en-US" b="1" dirty="0" smtClean="0">
                <a:solidFill>
                  <a:srgbClr val="0000FF"/>
                </a:solidFill>
                <a:latin typeface="Arial" charset="0"/>
              </a:rPr>
              <a:t>20</a:t>
            </a:r>
            <a:endParaRPr lang="en-US" dirty="0">
              <a:solidFill>
                <a:srgbClr val="0000FF"/>
              </a:solidFill>
            </a:endParaRPr>
          </a:p>
        </p:txBody>
      </p:sp>
      <p:sp>
        <p:nvSpPr>
          <p:cNvPr id="32" name="Rectangle 12"/>
          <p:cNvSpPr>
            <a:spLocks noChangeArrowheads="1"/>
          </p:cNvSpPr>
          <p:nvPr/>
        </p:nvSpPr>
        <p:spPr bwMode="auto">
          <a:xfrm>
            <a:off x="5561089" y="2677514"/>
            <a:ext cx="1383224" cy="281003"/>
          </a:xfrm>
          <a:prstGeom prst="rect">
            <a:avLst/>
          </a:prstGeom>
          <a:noFill/>
          <a:ln w="38100">
            <a:solidFill>
              <a:srgbClr val="0000FF"/>
            </a:solidFill>
            <a:miter lim="800000"/>
            <a:headEnd/>
            <a:tailEnd/>
          </a:ln>
          <a:effectLst/>
        </p:spPr>
        <p:txBody>
          <a:bodyPr wrap="none" anchor="ctr"/>
          <a:lstStyle/>
          <a:p>
            <a:endParaRPr lang="vi-VN">
              <a:solidFill>
                <a:srgbClr val="0000FF"/>
              </a:solidFill>
            </a:endParaRPr>
          </a:p>
        </p:txBody>
      </p:sp>
      <p:sp>
        <p:nvSpPr>
          <p:cNvPr id="33" name="Text Box 15"/>
          <p:cNvSpPr txBox="1">
            <a:spLocks noChangeArrowheads="1"/>
          </p:cNvSpPr>
          <p:nvPr/>
        </p:nvSpPr>
        <p:spPr bwMode="auto">
          <a:xfrm>
            <a:off x="5257800" y="2362200"/>
            <a:ext cx="1312672" cy="276999"/>
          </a:xfrm>
          <a:prstGeom prst="rect">
            <a:avLst/>
          </a:prstGeom>
          <a:noFill/>
          <a:ln w="9525">
            <a:noFill/>
            <a:miter lim="800000"/>
            <a:headEnd/>
            <a:tailEnd/>
          </a:ln>
          <a:effectLst/>
        </p:spPr>
        <p:txBody>
          <a:bodyPr wrap="square" lIns="0" tIns="0" rIns="0" bIns="0">
            <a:spAutoFit/>
          </a:bodyPr>
          <a:lstStyle/>
          <a:p>
            <a:pPr algn="ctr"/>
            <a:r>
              <a:rPr lang="en-US" b="1" dirty="0" smtClean="0">
                <a:solidFill>
                  <a:srgbClr val="0000FF"/>
                </a:solidFill>
                <a:latin typeface="Arial" charset="0"/>
              </a:rPr>
              <a:t>x (</a:t>
            </a:r>
            <a:r>
              <a:rPr lang="en-US" b="1" dirty="0" err="1" smtClean="0">
                <a:solidFill>
                  <a:srgbClr val="0000FF"/>
                </a:solidFill>
                <a:latin typeface="Arial" charset="0"/>
              </a:rPr>
              <a:t>int</a:t>
            </a:r>
            <a:r>
              <a:rPr lang="en-US" b="1" dirty="0" smtClean="0">
                <a:solidFill>
                  <a:srgbClr val="0000FF"/>
                </a:solidFill>
                <a:latin typeface="Arial" charset="0"/>
              </a:rPr>
              <a:t>*)</a:t>
            </a:r>
            <a:endParaRPr lang="en-US" dirty="0">
              <a:solidFill>
                <a:srgbClr val="0000FF"/>
              </a:solidFill>
            </a:endParaRPr>
          </a:p>
        </p:txBody>
      </p:sp>
      <p:sp>
        <p:nvSpPr>
          <p:cNvPr id="35" name="Text Box 15"/>
          <p:cNvSpPr txBox="1">
            <a:spLocks noChangeArrowheads="1"/>
          </p:cNvSpPr>
          <p:nvPr/>
        </p:nvSpPr>
        <p:spPr bwMode="auto">
          <a:xfrm>
            <a:off x="5185741" y="4162556"/>
            <a:ext cx="1312672" cy="276999"/>
          </a:xfrm>
          <a:prstGeom prst="rect">
            <a:avLst/>
          </a:prstGeom>
          <a:noFill/>
          <a:ln w="9525">
            <a:noFill/>
            <a:miter lim="800000"/>
            <a:headEnd/>
            <a:tailEnd/>
          </a:ln>
          <a:effectLst/>
        </p:spPr>
        <p:txBody>
          <a:bodyPr wrap="square" lIns="0" tIns="0" rIns="0" bIns="0">
            <a:spAutoFit/>
          </a:bodyPr>
          <a:lstStyle/>
          <a:p>
            <a:pPr algn="ctr"/>
            <a:r>
              <a:rPr lang="en-US" b="1" dirty="0" smtClean="0">
                <a:solidFill>
                  <a:srgbClr val="0000FF"/>
                </a:solidFill>
                <a:latin typeface="Arial" charset="0"/>
              </a:rPr>
              <a:t>&amp;a</a:t>
            </a:r>
            <a:endParaRPr lang="en-US" dirty="0">
              <a:solidFill>
                <a:srgbClr val="0000FF"/>
              </a:solidFill>
            </a:endParaRPr>
          </a:p>
        </p:txBody>
      </p:sp>
      <p:cxnSp>
        <p:nvCxnSpPr>
          <p:cNvPr id="36" name="Straight Arrow Connector 35"/>
          <p:cNvCxnSpPr/>
          <p:nvPr/>
        </p:nvCxnSpPr>
        <p:spPr>
          <a:xfrm flipH="1" flipV="1">
            <a:off x="6156224" y="3012929"/>
            <a:ext cx="2" cy="1157425"/>
          </a:xfrm>
          <a:prstGeom prst="straightConnector1">
            <a:avLst/>
          </a:prstGeom>
          <a:ln w="38100" cap="rnd">
            <a:solidFill>
              <a:srgbClr val="FF0000"/>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37" name="Text Box 15"/>
          <p:cNvSpPr txBox="1">
            <a:spLocks noChangeArrowheads="1"/>
          </p:cNvSpPr>
          <p:nvPr/>
        </p:nvSpPr>
        <p:spPr bwMode="auto">
          <a:xfrm>
            <a:off x="5442738" y="3414893"/>
            <a:ext cx="685800" cy="276999"/>
          </a:xfrm>
          <a:prstGeom prst="rect">
            <a:avLst/>
          </a:prstGeom>
          <a:noFill/>
          <a:ln w="9525">
            <a:noFill/>
            <a:miter lim="800000"/>
            <a:headEnd/>
            <a:tailEnd/>
          </a:ln>
          <a:effectLst/>
        </p:spPr>
        <p:txBody>
          <a:bodyPr wrap="square" lIns="0" tIns="0" rIns="0" bIns="0">
            <a:spAutoFit/>
          </a:bodyPr>
          <a:lstStyle/>
          <a:p>
            <a:pPr algn="ctr"/>
            <a:r>
              <a:rPr lang="en-US" b="1" dirty="0" smtClean="0">
                <a:solidFill>
                  <a:srgbClr val="FF0000"/>
                </a:solidFill>
                <a:latin typeface="Arial" charset="0"/>
              </a:rPr>
              <a:t>copy</a:t>
            </a:r>
            <a:endParaRPr lang="en-US" dirty="0">
              <a:solidFill>
                <a:srgbClr val="FF0000"/>
              </a:solidFill>
            </a:endParaRPr>
          </a:p>
        </p:txBody>
      </p:sp>
      <p:sp>
        <p:nvSpPr>
          <p:cNvPr id="39" name="Line 13"/>
          <p:cNvSpPr>
            <a:spLocks noChangeShapeType="1"/>
          </p:cNvSpPr>
          <p:nvPr/>
        </p:nvSpPr>
        <p:spPr bwMode="auto">
          <a:xfrm>
            <a:off x="6439488" y="3029027"/>
            <a:ext cx="729408" cy="1059450"/>
          </a:xfrm>
          <a:prstGeom prst="line">
            <a:avLst/>
          </a:prstGeom>
          <a:noFill/>
          <a:ln w="38100">
            <a:solidFill>
              <a:srgbClr val="0000FF"/>
            </a:solidFill>
            <a:round/>
            <a:headEnd type="oval" w="med" len="med"/>
            <a:tailEnd type="triangle" w="med" len="med"/>
          </a:ln>
          <a:effectLst/>
        </p:spPr>
        <p:txBody>
          <a:bodyPr wrap="none" anchor="ctr"/>
          <a:lstStyle/>
          <a:p>
            <a:endParaRPr lang="vi-VN">
              <a:solidFill>
                <a:srgbClr val="0000FF"/>
              </a:solidFill>
            </a:endParaRPr>
          </a:p>
        </p:txBody>
      </p:sp>
      <p:sp>
        <p:nvSpPr>
          <p:cNvPr id="5" name="Rectangle 4"/>
          <p:cNvSpPr/>
          <p:nvPr/>
        </p:nvSpPr>
        <p:spPr>
          <a:xfrm>
            <a:off x="473226" y="2078365"/>
            <a:ext cx="4572000" cy="3139321"/>
          </a:xfrm>
          <a:prstGeom prst="rect">
            <a:avLst/>
          </a:prstGeom>
        </p:spPr>
        <p:txBody>
          <a:bodyPr>
            <a:spAutoFit/>
          </a:bodyPr>
          <a:lstStyle/>
          <a:p>
            <a:pPr lvl="1">
              <a:spcBef>
                <a:spcPts val="0"/>
              </a:spcBef>
            </a:pPr>
            <a:r>
              <a:rPr lang="en-US" sz="2000" dirty="0">
                <a:latin typeface="Courier New" pitchFamily="49" charset="0"/>
                <a:cs typeface="Courier New" pitchFamily="49" charset="0"/>
                <a:sym typeface="Wingdings" pitchFamily="2" charset="2"/>
              </a:rPr>
              <a:t>void assign10(</a:t>
            </a:r>
            <a:r>
              <a:rPr lang="en-US" sz="2000" dirty="0" err="1">
                <a:latin typeface="Courier New" pitchFamily="49" charset="0"/>
                <a:cs typeface="Courier New" pitchFamily="49" charset="0"/>
                <a:sym typeface="Wingdings" pitchFamily="2" charset="2"/>
              </a:rPr>
              <a:t>int</a:t>
            </a:r>
            <a:r>
              <a:rPr lang="en-US" sz="2000" dirty="0">
                <a:latin typeface="Courier New" pitchFamily="49" charset="0"/>
                <a:cs typeface="Courier New" pitchFamily="49" charset="0"/>
                <a:sym typeface="Wingdings" pitchFamily="2" charset="2"/>
              </a:rPr>
              <a:t> </a:t>
            </a:r>
            <a:r>
              <a:rPr lang="en-US" sz="2000" dirty="0" smtClean="0">
                <a:solidFill>
                  <a:srgbClr val="FF0000"/>
                </a:solidFill>
                <a:latin typeface="Courier New" pitchFamily="49" charset="0"/>
                <a:cs typeface="Courier New" pitchFamily="49" charset="0"/>
                <a:sym typeface="Wingdings" pitchFamily="2" charset="2"/>
              </a:rPr>
              <a:t>*</a:t>
            </a:r>
            <a:r>
              <a:rPr lang="en-US" sz="2000" dirty="0" smtClean="0">
                <a:latin typeface="Courier New" pitchFamily="49" charset="0"/>
                <a:cs typeface="Courier New" pitchFamily="49" charset="0"/>
                <a:sym typeface="Wingdings" pitchFamily="2" charset="2"/>
              </a:rPr>
              <a:t>x</a:t>
            </a:r>
            <a:r>
              <a:rPr lang="en-US" sz="2000" dirty="0">
                <a:latin typeface="Courier New" pitchFamily="49" charset="0"/>
                <a:cs typeface="Courier New" pitchFamily="49" charset="0"/>
                <a:sym typeface="Wingdings" pitchFamily="2" charset="2"/>
              </a:rPr>
              <a:t>){ </a:t>
            </a:r>
          </a:p>
          <a:p>
            <a:pPr marL="593725" lvl="2" indent="0">
              <a:spcBef>
                <a:spcPts val="0"/>
              </a:spcBef>
              <a:buNone/>
            </a:pPr>
            <a:r>
              <a:rPr lang="en-US" sz="1700" dirty="0">
                <a:latin typeface="Courier New" pitchFamily="49" charset="0"/>
                <a:cs typeface="Courier New" pitchFamily="49" charset="0"/>
                <a:sym typeface="Wingdings" pitchFamily="2" charset="2"/>
              </a:rPr>
              <a:t>      </a:t>
            </a:r>
            <a:r>
              <a:rPr lang="en-US" dirty="0" err="1">
                <a:latin typeface="Courier New" pitchFamily="49" charset="0"/>
                <a:cs typeface="Courier New" pitchFamily="49" charset="0"/>
                <a:sym typeface="Wingdings" pitchFamily="2" charset="2"/>
              </a:rPr>
              <a:t>printf</a:t>
            </a:r>
            <a:r>
              <a:rPr lang="en-US" dirty="0">
                <a:latin typeface="Courier New" pitchFamily="49" charset="0"/>
                <a:cs typeface="Courier New" pitchFamily="49" charset="0"/>
                <a:sym typeface="Wingdings" pitchFamily="2" charset="2"/>
              </a:rPr>
              <a:t>(“x = %d", </a:t>
            </a:r>
            <a:r>
              <a:rPr lang="en-US" dirty="0" smtClean="0">
                <a:solidFill>
                  <a:srgbClr val="FF0000"/>
                </a:solidFill>
                <a:latin typeface="Courier New" pitchFamily="49" charset="0"/>
                <a:cs typeface="Courier New" pitchFamily="49" charset="0"/>
                <a:sym typeface="Wingdings" pitchFamily="2" charset="2"/>
              </a:rPr>
              <a:t>*</a:t>
            </a:r>
            <a:r>
              <a:rPr lang="en-US" dirty="0" smtClean="0">
                <a:latin typeface="Courier New" pitchFamily="49" charset="0"/>
                <a:cs typeface="Courier New" pitchFamily="49" charset="0"/>
                <a:sym typeface="Wingdings" pitchFamily="2" charset="2"/>
              </a:rPr>
              <a:t>x</a:t>
            </a:r>
            <a:r>
              <a:rPr lang="en-US" dirty="0">
                <a:latin typeface="Courier New" pitchFamily="49" charset="0"/>
                <a:cs typeface="Courier New" pitchFamily="49" charset="0"/>
                <a:sym typeface="Wingdings" pitchFamily="2" charset="2"/>
              </a:rPr>
              <a:t>);</a:t>
            </a:r>
          </a:p>
          <a:p>
            <a:pPr marL="593725" lvl="2" indent="0">
              <a:spcBef>
                <a:spcPts val="0"/>
              </a:spcBef>
              <a:buNone/>
            </a:pPr>
            <a:r>
              <a:rPr lang="en-US" sz="2000" dirty="0">
                <a:latin typeface="Courier New" pitchFamily="49" charset="0"/>
                <a:cs typeface="Courier New" pitchFamily="49" charset="0"/>
                <a:sym typeface="Wingdings" pitchFamily="2" charset="2"/>
              </a:rPr>
              <a:t>	   </a:t>
            </a:r>
            <a:r>
              <a:rPr lang="en-US" sz="2000" dirty="0" smtClean="0">
                <a:solidFill>
                  <a:srgbClr val="FF0000"/>
                </a:solidFill>
                <a:latin typeface="Courier New" pitchFamily="49" charset="0"/>
                <a:cs typeface="Courier New" pitchFamily="49" charset="0"/>
                <a:sym typeface="Wingdings" pitchFamily="2" charset="2"/>
              </a:rPr>
              <a:t>*</a:t>
            </a:r>
            <a:r>
              <a:rPr lang="en-US" sz="2000" dirty="0" smtClean="0">
                <a:latin typeface="Courier New" pitchFamily="49" charset="0"/>
                <a:cs typeface="Courier New" pitchFamily="49" charset="0"/>
                <a:sym typeface="Wingdings" pitchFamily="2" charset="2"/>
              </a:rPr>
              <a:t>x </a:t>
            </a:r>
            <a:r>
              <a:rPr lang="en-US" sz="2000" dirty="0">
                <a:latin typeface="Courier New" pitchFamily="49" charset="0"/>
                <a:cs typeface="Courier New" pitchFamily="49" charset="0"/>
                <a:sym typeface="Wingdings" pitchFamily="2" charset="2"/>
              </a:rPr>
              <a:t>= 10; </a:t>
            </a:r>
          </a:p>
          <a:p>
            <a:pPr marL="593725" lvl="2" indent="0">
              <a:spcBef>
                <a:spcPts val="0"/>
              </a:spcBef>
              <a:buNone/>
            </a:pPr>
            <a:r>
              <a:rPr lang="en-US" sz="2000" dirty="0">
                <a:latin typeface="Courier New" pitchFamily="49" charset="0"/>
                <a:cs typeface="Courier New" pitchFamily="49" charset="0"/>
                <a:sym typeface="Wingdings" pitchFamily="2" charset="2"/>
              </a:rPr>
              <a:t>}</a:t>
            </a:r>
          </a:p>
          <a:p>
            <a:pPr lvl="1" indent="25400">
              <a:spcBef>
                <a:spcPts val="0"/>
              </a:spcBef>
              <a:buNone/>
            </a:pPr>
            <a:r>
              <a:rPr lang="en-US" sz="2000" dirty="0" err="1">
                <a:latin typeface="Courier New" pitchFamily="49" charset="0"/>
                <a:cs typeface="Courier New" pitchFamily="49" charset="0"/>
                <a:sym typeface="Wingdings" pitchFamily="2" charset="2"/>
              </a:rPr>
              <a:t>int</a:t>
            </a:r>
            <a:r>
              <a:rPr lang="en-US" sz="2000" dirty="0">
                <a:latin typeface="Courier New" pitchFamily="49" charset="0"/>
                <a:cs typeface="Courier New" pitchFamily="49" charset="0"/>
                <a:sym typeface="Wingdings" pitchFamily="2" charset="2"/>
              </a:rPr>
              <a:t> main() {</a:t>
            </a:r>
          </a:p>
          <a:p>
            <a:pPr lvl="1" indent="366713">
              <a:spcBef>
                <a:spcPts val="0"/>
              </a:spcBef>
              <a:buNone/>
            </a:pPr>
            <a:r>
              <a:rPr lang="en-US" sz="2000" dirty="0" err="1">
                <a:latin typeface="Courier New" pitchFamily="49" charset="0"/>
                <a:cs typeface="Courier New" pitchFamily="49" charset="0"/>
                <a:sym typeface="Wingdings" pitchFamily="2" charset="2"/>
              </a:rPr>
              <a:t>int</a:t>
            </a:r>
            <a:r>
              <a:rPr lang="en-US" sz="2000" dirty="0">
                <a:latin typeface="Courier New" pitchFamily="49" charset="0"/>
                <a:cs typeface="Courier New" pitchFamily="49" charset="0"/>
                <a:sym typeface="Wingdings" pitchFamily="2" charset="2"/>
              </a:rPr>
              <a:t> a = 20;</a:t>
            </a:r>
          </a:p>
          <a:p>
            <a:pPr lvl="1" indent="366713">
              <a:spcBef>
                <a:spcPts val="0"/>
              </a:spcBef>
              <a:buNone/>
            </a:pPr>
            <a:r>
              <a:rPr lang="en-US" sz="2000" dirty="0">
                <a:latin typeface="Courier New" pitchFamily="49" charset="0"/>
                <a:cs typeface="Courier New" pitchFamily="49" charset="0"/>
                <a:sym typeface="Wingdings" pitchFamily="2" charset="2"/>
              </a:rPr>
              <a:t>assign10</a:t>
            </a:r>
            <a:r>
              <a:rPr lang="en-US" sz="2000" dirty="0" smtClean="0">
                <a:latin typeface="Courier New" pitchFamily="49" charset="0"/>
                <a:cs typeface="Courier New" pitchFamily="49" charset="0"/>
                <a:sym typeface="Wingdings" pitchFamily="2" charset="2"/>
              </a:rPr>
              <a:t>(</a:t>
            </a:r>
            <a:r>
              <a:rPr lang="en-US" sz="2000" dirty="0" smtClean="0">
                <a:solidFill>
                  <a:srgbClr val="FF0000"/>
                </a:solidFill>
                <a:latin typeface="Courier New" pitchFamily="49" charset="0"/>
                <a:cs typeface="Courier New" pitchFamily="49" charset="0"/>
                <a:sym typeface="Wingdings" pitchFamily="2" charset="2"/>
              </a:rPr>
              <a:t>&amp;</a:t>
            </a:r>
            <a:r>
              <a:rPr lang="en-US" sz="2000" dirty="0" smtClean="0">
                <a:latin typeface="Courier New" pitchFamily="49" charset="0"/>
                <a:cs typeface="Courier New" pitchFamily="49" charset="0"/>
                <a:sym typeface="Wingdings" pitchFamily="2" charset="2"/>
              </a:rPr>
              <a:t>a</a:t>
            </a:r>
            <a:r>
              <a:rPr lang="en-US" sz="2000" dirty="0">
                <a:latin typeface="Courier New" pitchFamily="49" charset="0"/>
                <a:cs typeface="Courier New" pitchFamily="49" charset="0"/>
                <a:sym typeface="Wingdings" pitchFamily="2" charset="2"/>
              </a:rPr>
              <a:t>);</a:t>
            </a:r>
          </a:p>
          <a:p>
            <a:pPr lvl="1" indent="366713">
              <a:spcBef>
                <a:spcPts val="0"/>
              </a:spcBef>
              <a:buNone/>
            </a:pPr>
            <a:r>
              <a:rPr lang="en-US" sz="2000" dirty="0" err="1">
                <a:latin typeface="Courier New" pitchFamily="49" charset="0"/>
                <a:cs typeface="Courier New" pitchFamily="49" charset="0"/>
                <a:sym typeface="Wingdings" pitchFamily="2" charset="2"/>
              </a:rPr>
              <a:t>printf</a:t>
            </a:r>
            <a:r>
              <a:rPr lang="en-US" sz="2000" dirty="0">
                <a:latin typeface="Courier New" pitchFamily="49" charset="0"/>
                <a:cs typeface="Courier New" pitchFamily="49" charset="0"/>
                <a:sym typeface="Wingdings" pitchFamily="2" charset="2"/>
              </a:rPr>
              <a:t>("a = %d", a);</a:t>
            </a:r>
          </a:p>
          <a:p>
            <a:pPr lvl="1" indent="366713">
              <a:spcBef>
                <a:spcPts val="0"/>
              </a:spcBef>
              <a:buNone/>
            </a:pPr>
            <a:r>
              <a:rPr lang="en-US" sz="2000" dirty="0">
                <a:latin typeface="Courier New" pitchFamily="49" charset="0"/>
                <a:cs typeface="Courier New" pitchFamily="49" charset="0"/>
                <a:sym typeface="Wingdings" pitchFamily="2" charset="2"/>
              </a:rPr>
              <a:t>return 0;</a:t>
            </a:r>
          </a:p>
          <a:p>
            <a:pPr lvl="1" indent="25400">
              <a:spcBef>
                <a:spcPts val="0"/>
              </a:spcBef>
              <a:buNone/>
            </a:pPr>
            <a:r>
              <a:rPr lang="en-US" sz="2000" dirty="0">
                <a:latin typeface="Courier New" pitchFamily="49" charset="0"/>
                <a:cs typeface="Courier New" pitchFamily="49" charset="0"/>
                <a:sym typeface="Wingdings" pitchFamily="2" charset="2"/>
              </a:rPr>
              <a:t>}</a:t>
            </a:r>
            <a:endParaRPr lang="en-US" sz="2000" dirty="0">
              <a:sym typeface="Wingdings" pitchFamily="2" charset="2"/>
            </a:endParaRPr>
          </a:p>
        </p:txBody>
      </p:sp>
      <p:sp>
        <p:nvSpPr>
          <p:cNvPr id="23" name="TextBox 22"/>
          <p:cNvSpPr txBox="1"/>
          <p:nvPr/>
        </p:nvSpPr>
        <p:spPr>
          <a:xfrm>
            <a:off x="6718732" y="3801021"/>
            <a:ext cx="216056" cy="369332"/>
          </a:xfrm>
          <a:prstGeom prst="rect">
            <a:avLst/>
          </a:prstGeom>
          <a:noFill/>
        </p:spPr>
        <p:txBody>
          <a:bodyPr wrap="square" rtlCol="0">
            <a:spAutoFit/>
          </a:bodyPr>
          <a:lstStyle/>
          <a:p>
            <a:r>
              <a:rPr lang="en-US" dirty="0" smtClean="0"/>
              <a:t>a</a:t>
            </a:r>
            <a:endParaRPr lang="en-US" dirty="0"/>
          </a:p>
        </p:txBody>
      </p:sp>
      <p:sp>
        <p:nvSpPr>
          <p:cNvPr id="26" name="Text Box 15"/>
          <p:cNvSpPr txBox="1">
            <a:spLocks noChangeArrowheads="1"/>
          </p:cNvSpPr>
          <p:nvPr/>
        </p:nvSpPr>
        <p:spPr bwMode="auto">
          <a:xfrm>
            <a:off x="5895848" y="2678733"/>
            <a:ext cx="602565" cy="276999"/>
          </a:xfrm>
          <a:prstGeom prst="rect">
            <a:avLst/>
          </a:prstGeom>
          <a:noFill/>
          <a:ln w="9525">
            <a:noFill/>
            <a:miter lim="800000"/>
            <a:headEnd/>
            <a:tailEnd/>
          </a:ln>
          <a:effectLst/>
        </p:spPr>
        <p:txBody>
          <a:bodyPr wrap="square" lIns="0" tIns="0" rIns="0" bIns="0">
            <a:spAutoFit/>
          </a:bodyPr>
          <a:lstStyle/>
          <a:p>
            <a:pPr algn="ctr"/>
            <a:r>
              <a:rPr lang="en-US" b="1" dirty="0" smtClean="0">
                <a:solidFill>
                  <a:srgbClr val="0000FF"/>
                </a:solidFill>
                <a:latin typeface="Arial" charset="0"/>
              </a:rPr>
              <a:t>&amp;a</a:t>
            </a:r>
            <a:endParaRPr lang="en-US" dirty="0">
              <a:solidFill>
                <a:srgbClr val="0000FF"/>
              </a:solidFill>
            </a:endParaRPr>
          </a:p>
        </p:txBody>
      </p:sp>
      <p:cxnSp>
        <p:nvCxnSpPr>
          <p:cNvPr id="12" name="Straight Arrow Connector 11"/>
          <p:cNvCxnSpPr/>
          <p:nvPr/>
        </p:nvCxnSpPr>
        <p:spPr>
          <a:xfrm>
            <a:off x="3124200" y="3691892"/>
            <a:ext cx="3564127" cy="4479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358959" y="2281664"/>
            <a:ext cx="1083779" cy="219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 Box 15"/>
          <p:cNvSpPr txBox="1">
            <a:spLocks noChangeArrowheads="1"/>
          </p:cNvSpPr>
          <p:nvPr/>
        </p:nvSpPr>
        <p:spPr bwMode="auto">
          <a:xfrm>
            <a:off x="7421650" y="4139832"/>
            <a:ext cx="579349" cy="276999"/>
          </a:xfrm>
          <a:prstGeom prst="rect">
            <a:avLst/>
          </a:prstGeom>
          <a:noFill/>
          <a:ln w="9525">
            <a:noFill/>
            <a:miter lim="800000"/>
            <a:headEnd/>
            <a:tailEnd/>
          </a:ln>
          <a:effectLst/>
        </p:spPr>
        <p:txBody>
          <a:bodyPr wrap="square" lIns="0" tIns="0" rIns="0" bIns="0">
            <a:spAutoFit/>
          </a:bodyPr>
          <a:lstStyle/>
          <a:p>
            <a:pPr algn="ctr"/>
            <a:r>
              <a:rPr lang="en-US" b="1" dirty="0" smtClean="0">
                <a:solidFill>
                  <a:srgbClr val="FF0000"/>
                </a:solidFill>
                <a:latin typeface="Arial" charset="0"/>
                <a:sym typeface="Wingdings" panose="05000000000000000000" pitchFamily="2" charset="2"/>
              </a:rPr>
              <a:t> </a:t>
            </a:r>
            <a:r>
              <a:rPr lang="en-US" b="1" dirty="0" smtClean="0">
                <a:solidFill>
                  <a:srgbClr val="FF0000"/>
                </a:solidFill>
                <a:latin typeface="Arial" charset="0"/>
              </a:rPr>
              <a:t>10</a:t>
            </a:r>
            <a:endParaRPr lang="en-US" dirty="0">
              <a:solidFill>
                <a:srgbClr val="FF0000"/>
              </a:solidFill>
            </a:endParaRPr>
          </a:p>
        </p:txBody>
      </p:sp>
      <p:cxnSp>
        <p:nvCxnSpPr>
          <p:cNvPr id="20" name="Straight Arrow Connector 19"/>
          <p:cNvCxnSpPr/>
          <p:nvPr/>
        </p:nvCxnSpPr>
        <p:spPr>
          <a:xfrm flipV="1">
            <a:off x="1447800" y="2895600"/>
            <a:ext cx="388620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5515991" y="2372164"/>
            <a:ext cx="1322197" cy="78105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5525516" y="2238816"/>
            <a:ext cx="1219200" cy="1047888"/>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3525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0" grpId="0" animBg="1"/>
      <p:bldP spid="31" grpId="0"/>
      <p:bldP spid="32" grpId="0" animBg="1"/>
      <p:bldP spid="33" grpId="0"/>
      <p:bldP spid="35" grpId="0"/>
      <p:bldP spid="37" grpId="0"/>
      <p:bldP spid="39" grpId="0" animBg="1"/>
      <p:bldP spid="23" grpId="0"/>
      <p:bldP spid="26" grpId="0"/>
      <p:bldP spid="3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19</a:t>
            </a:fld>
            <a:endParaRPr lang="en-US"/>
          </a:p>
        </p:txBody>
      </p:sp>
      <p:sp>
        <p:nvSpPr>
          <p:cNvPr id="2" name="Title 1"/>
          <p:cNvSpPr>
            <a:spLocks noGrp="1"/>
          </p:cNvSpPr>
          <p:nvPr>
            <p:ph type="title"/>
          </p:nvPr>
        </p:nvSpPr>
        <p:spPr/>
        <p:txBody>
          <a:bodyPr/>
          <a:lstStyle/>
          <a:p>
            <a:r>
              <a:rPr lang="en-US" dirty="0" err="1" smtClean="0"/>
              <a:t>Ví</a:t>
            </a:r>
            <a:r>
              <a:rPr lang="en-US" dirty="0" smtClean="0"/>
              <a:t> </a:t>
            </a:r>
            <a:r>
              <a:rPr lang="en-US" dirty="0" err="1" smtClean="0"/>
              <a:t>dụ</a:t>
            </a:r>
            <a:endParaRPr lang="en-US" dirty="0"/>
          </a:p>
        </p:txBody>
      </p:sp>
      <p:sp>
        <p:nvSpPr>
          <p:cNvPr id="3" name="Content Placeholder 2"/>
          <p:cNvSpPr>
            <a:spLocks noGrp="1"/>
          </p:cNvSpPr>
          <p:nvPr>
            <p:ph type="body" sz="quarter" idx="13"/>
          </p:nvPr>
        </p:nvSpPr>
        <p:spPr/>
        <p:txBody>
          <a:bodyPr/>
          <a:lstStyle/>
          <a:p>
            <a:r>
              <a:rPr lang="en-US" dirty="0" err="1" smtClean="0"/>
              <a:t>Trả</a:t>
            </a:r>
            <a:r>
              <a:rPr lang="en-US" dirty="0" smtClean="0"/>
              <a:t> </a:t>
            </a:r>
            <a:r>
              <a:rPr lang="en-US" dirty="0" err="1" smtClean="0"/>
              <a:t>về</a:t>
            </a:r>
            <a:r>
              <a:rPr lang="en-US" dirty="0" smtClean="0"/>
              <a:t> </a:t>
            </a:r>
            <a:r>
              <a:rPr lang="en-US" dirty="0" err="1" smtClean="0"/>
              <a:t>giá</a:t>
            </a:r>
            <a:r>
              <a:rPr lang="en-US" dirty="0" smtClean="0"/>
              <a:t> </a:t>
            </a:r>
            <a:r>
              <a:rPr lang="en-US" dirty="0" err="1" smtClean="0"/>
              <a:t>trị</a:t>
            </a:r>
            <a:r>
              <a:rPr lang="en-US" dirty="0" smtClean="0"/>
              <a:t> </a:t>
            </a:r>
            <a:r>
              <a:rPr lang="en-US" dirty="0" err="1" smtClean="0"/>
              <a:t>thông</a:t>
            </a:r>
            <a:r>
              <a:rPr lang="en-US" dirty="0" smtClean="0"/>
              <a:t> qua </a:t>
            </a:r>
            <a:r>
              <a:rPr lang="en-US" dirty="0" err="1" smtClean="0"/>
              <a:t>tham</a:t>
            </a:r>
            <a:r>
              <a:rPr lang="en-US" dirty="0" smtClean="0"/>
              <a:t> </a:t>
            </a:r>
            <a:r>
              <a:rPr lang="en-US" dirty="0" err="1" smtClean="0"/>
              <a:t>số</a:t>
            </a:r>
            <a:r>
              <a:rPr lang="en-US" dirty="0" smtClean="0"/>
              <a:t> </a:t>
            </a:r>
            <a:r>
              <a:rPr lang="en-US" dirty="0" err="1" smtClean="0"/>
              <a:t>kiểu</a:t>
            </a:r>
            <a:r>
              <a:rPr lang="en-US" dirty="0" smtClean="0"/>
              <a:t> con </a:t>
            </a:r>
            <a:r>
              <a:rPr lang="en-US" dirty="0" err="1" smtClean="0"/>
              <a:t>trỏ</a:t>
            </a:r>
            <a:endParaRPr lang="en-US" dirty="0"/>
          </a:p>
        </p:txBody>
      </p:sp>
      <p:sp>
        <p:nvSpPr>
          <p:cNvPr id="5" name="Rectangle 4"/>
          <p:cNvSpPr/>
          <p:nvPr/>
        </p:nvSpPr>
        <p:spPr>
          <a:xfrm>
            <a:off x="609600" y="1636192"/>
            <a:ext cx="5257800" cy="1754326"/>
          </a:xfrm>
          <a:prstGeom prst="rect">
            <a:avLst/>
          </a:prstGeom>
        </p:spPr>
        <p:txBody>
          <a:bodyPr wrap="square">
            <a:spAutoFit/>
          </a:bodyPr>
          <a:lstStyle/>
          <a:p>
            <a:pPr fontAlgn="auto">
              <a:spcBef>
                <a:spcPts val="0"/>
              </a:spcBef>
              <a:spcAft>
                <a:spcPts val="0"/>
              </a:spcAft>
              <a:defRPr/>
            </a:pPr>
            <a:r>
              <a:rPr lang="en-US" b="1" dirty="0">
                <a:latin typeface="Courier New" pitchFamily="49" charset="0"/>
                <a:cs typeface="Courier New" pitchFamily="49" charset="0"/>
              </a:rPr>
              <a:t>float sum(float a[], </a:t>
            </a:r>
            <a:r>
              <a:rPr lang="en-US" b="1" dirty="0" err="1">
                <a:latin typeface="Courier New" pitchFamily="49" charset="0"/>
                <a:cs typeface="Courier New" pitchFamily="49" charset="0"/>
              </a:rPr>
              <a:t>int</a:t>
            </a:r>
            <a:r>
              <a:rPr lang="en-US" b="1" dirty="0">
                <a:latin typeface="Courier New" pitchFamily="49" charset="0"/>
                <a:cs typeface="Courier New" pitchFamily="49" charset="0"/>
              </a:rPr>
              <a:t> N){</a:t>
            </a:r>
          </a:p>
          <a:p>
            <a:pPr fontAlgn="auto">
              <a:spcBef>
                <a:spcPts val="0"/>
              </a:spcBef>
              <a:spcAft>
                <a:spcPts val="0"/>
              </a:spcAft>
              <a:defRPr/>
            </a:pPr>
            <a:r>
              <a:rPr lang="en-US" b="1" dirty="0">
                <a:latin typeface="Courier New" pitchFamily="49" charset="0"/>
                <a:cs typeface="Courier New" pitchFamily="49" charset="0"/>
              </a:rPr>
              <a:t>	</a:t>
            </a:r>
            <a:r>
              <a:rPr lang="en-US" b="1" dirty="0" err="1">
                <a:latin typeface="Courier New" pitchFamily="49" charset="0"/>
                <a:cs typeface="Courier New" pitchFamily="49" charset="0"/>
              </a:rPr>
              <a:t>int</a:t>
            </a:r>
            <a:r>
              <a:rPr lang="en-US" b="1" dirty="0">
                <a:latin typeface="Courier New" pitchFamily="49" charset="0"/>
                <a:cs typeface="Courier New" pitchFamily="49" charset="0"/>
              </a:rPr>
              <a:t> </a:t>
            </a:r>
            <a:r>
              <a:rPr lang="en-US" b="1" dirty="0" err="1">
                <a:latin typeface="Courier New" pitchFamily="49" charset="0"/>
                <a:cs typeface="Courier New" pitchFamily="49" charset="0"/>
              </a:rPr>
              <a:t>i</a:t>
            </a:r>
            <a:r>
              <a:rPr lang="en-US" b="1" dirty="0">
                <a:latin typeface="Courier New" pitchFamily="49" charset="0"/>
                <a:cs typeface="Courier New" pitchFamily="49" charset="0"/>
              </a:rPr>
              <a:t>;</a:t>
            </a:r>
          </a:p>
          <a:p>
            <a:pPr fontAlgn="auto">
              <a:spcBef>
                <a:spcPts val="0"/>
              </a:spcBef>
              <a:spcAft>
                <a:spcPts val="0"/>
              </a:spcAft>
              <a:defRPr/>
            </a:pPr>
            <a:r>
              <a:rPr lang="en-US" b="1" dirty="0">
                <a:latin typeface="Courier New" pitchFamily="49" charset="0"/>
                <a:cs typeface="Courier New" pitchFamily="49" charset="0"/>
              </a:rPr>
              <a:t>	float sf=0;</a:t>
            </a:r>
          </a:p>
          <a:p>
            <a:pPr fontAlgn="auto">
              <a:spcBef>
                <a:spcPts val="0"/>
              </a:spcBef>
              <a:spcAft>
                <a:spcPts val="0"/>
              </a:spcAft>
              <a:defRPr/>
            </a:pPr>
            <a:r>
              <a:rPr lang="en-US" b="1" dirty="0">
                <a:latin typeface="Courier New" pitchFamily="49" charset="0"/>
                <a:cs typeface="Courier New" pitchFamily="49" charset="0"/>
              </a:rPr>
              <a:t>	for (</a:t>
            </a:r>
            <a:r>
              <a:rPr lang="en-US" b="1" dirty="0" err="1">
                <a:latin typeface="Courier New" pitchFamily="49" charset="0"/>
                <a:cs typeface="Courier New" pitchFamily="49" charset="0"/>
              </a:rPr>
              <a:t>i</a:t>
            </a:r>
            <a:r>
              <a:rPr lang="en-US" b="1" dirty="0">
                <a:latin typeface="Courier New" pitchFamily="49" charset="0"/>
                <a:cs typeface="Courier New" pitchFamily="49" charset="0"/>
              </a:rPr>
              <a:t>=0;i&lt;</a:t>
            </a:r>
            <a:r>
              <a:rPr lang="en-US" b="1" dirty="0" err="1">
                <a:latin typeface="Courier New" pitchFamily="49" charset="0"/>
                <a:cs typeface="Courier New" pitchFamily="49" charset="0"/>
              </a:rPr>
              <a:t>N;i</a:t>
            </a:r>
            <a:r>
              <a:rPr lang="en-US" b="1" dirty="0">
                <a:latin typeface="Courier New" pitchFamily="49" charset="0"/>
                <a:cs typeface="Courier New" pitchFamily="49" charset="0"/>
              </a:rPr>
              <a:t>++) sf += a[</a:t>
            </a:r>
            <a:r>
              <a:rPr lang="en-US" b="1" dirty="0" err="1">
                <a:latin typeface="Courier New" pitchFamily="49" charset="0"/>
                <a:cs typeface="Courier New" pitchFamily="49" charset="0"/>
              </a:rPr>
              <a:t>i</a:t>
            </a:r>
            <a:r>
              <a:rPr lang="en-US" b="1" dirty="0">
                <a:latin typeface="Courier New" pitchFamily="49" charset="0"/>
                <a:cs typeface="Courier New" pitchFamily="49" charset="0"/>
              </a:rPr>
              <a:t>];</a:t>
            </a:r>
          </a:p>
          <a:p>
            <a:pPr fontAlgn="auto">
              <a:spcBef>
                <a:spcPts val="0"/>
              </a:spcBef>
              <a:spcAft>
                <a:spcPts val="0"/>
              </a:spcAft>
              <a:defRPr/>
            </a:pPr>
            <a:r>
              <a:rPr lang="en-US" b="1" dirty="0">
                <a:latin typeface="Courier New" pitchFamily="49" charset="0"/>
                <a:cs typeface="Courier New" pitchFamily="49" charset="0"/>
              </a:rPr>
              <a:t>	return sf;</a:t>
            </a:r>
          </a:p>
          <a:p>
            <a:pPr fontAlgn="auto">
              <a:spcBef>
                <a:spcPts val="0"/>
              </a:spcBef>
              <a:spcAft>
                <a:spcPts val="0"/>
              </a:spcAft>
              <a:defRPr/>
            </a:pPr>
            <a:r>
              <a:rPr lang="en-US" b="1" dirty="0">
                <a:latin typeface="Courier New" pitchFamily="49" charset="0"/>
                <a:cs typeface="Courier New" pitchFamily="49" charset="0"/>
              </a:rPr>
              <a:t>}</a:t>
            </a:r>
          </a:p>
        </p:txBody>
      </p:sp>
      <p:sp>
        <p:nvSpPr>
          <p:cNvPr id="6" name="Rectangle 5"/>
          <p:cNvSpPr/>
          <p:nvPr/>
        </p:nvSpPr>
        <p:spPr>
          <a:xfrm>
            <a:off x="3238500" y="3702575"/>
            <a:ext cx="5562600" cy="1754326"/>
          </a:xfrm>
          <a:prstGeom prst="rect">
            <a:avLst/>
          </a:prstGeom>
        </p:spPr>
        <p:txBody>
          <a:bodyPr wrap="square">
            <a:spAutoFit/>
          </a:bodyPr>
          <a:lstStyle/>
          <a:p>
            <a:pPr fontAlgn="auto">
              <a:spcBef>
                <a:spcPts val="0"/>
              </a:spcBef>
              <a:spcAft>
                <a:spcPts val="0"/>
              </a:spcAft>
              <a:defRPr/>
            </a:pPr>
            <a:r>
              <a:rPr lang="en-US" b="1" dirty="0">
                <a:latin typeface="Courier New" pitchFamily="49" charset="0"/>
                <a:cs typeface="Courier New" pitchFamily="49" charset="0"/>
              </a:rPr>
              <a:t>void sum(float a[], </a:t>
            </a:r>
            <a:r>
              <a:rPr lang="en-US" b="1" dirty="0" err="1">
                <a:latin typeface="Courier New" pitchFamily="49" charset="0"/>
                <a:cs typeface="Courier New" pitchFamily="49" charset="0"/>
              </a:rPr>
              <a:t>int</a:t>
            </a:r>
            <a:r>
              <a:rPr lang="en-US" b="1" dirty="0">
                <a:latin typeface="Courier New" pitchFamily="49" charset="0"/>
                <a:cs typeface="Courier New" pitchFamily="49" charset="0"/>
              </a:rPr>
              <a:t> N, float* s){</a:t>
            </a:r>
          </a:p>
          <a:p>
            <a:pPr fontAlgn="auto">
              <a:spcBef>
                <a:spcPts val="0"/>
              </a:spcBef>
              <a:spcAft>
                <a:spcPts val="0"/>
              </a:spcAft>
              <a:defRPr/>
            </a:pPr>
            <a:r>
              <a:rPr lang="en-US" b="1" dirty="0">
                <a:latin typeface="Courier New" pitchFamily="49" charset="0"/>
                <a:cs typeface="Courier New" pitchFamily="49" charset="0"/>
              </a:rPr>
              <a:t>	</a:t>
            </a:r>
            <a:r>
              <a:rPr lang="en-US" b="1" dirty="0" err="1">
                <a:latin typeface="Courier New" pitchFamily="49" charset="0"/>
                <a:cs typeface="Courier New" pitchFamily="49" charset="0"/>
              </a:rPr>
              <a:t>int</a:t>
            </a:r>
            <a:r>
              <a:rPr lang="en-US" b="1" dirty="0">
                <a:latin typeface="Courier New" pitchFamily="49" charset="0"/>
                <a:cs typeface="Courier New" pitchFamily="49" charset="0"/>
              </a:rPr>
              <a:t> </a:t>
            </a:r>
            <a:r>
              <a:rPr lang="en-US" b="1" dirty="0" err="1">
                <a:latin typeface="Courier New" pitchFamily="49" charset="0"/>
                <a:cs typeface="Courier New" pitchFamily="49" charset="0"/>
              </a:rPr>
              <a:t>i</a:t>
            </a:r>
            <a:r>
              <a:rPr lang="en-US" b="1" dirty="0">
                <a:latin typeface="Courier New" pitchFamily="49" charset="0"/>
                <a:cs typeface="Courier New" pitchFamily="49" charset="0"/>
              </a:rPr>
              <a:t>;</a:t>
            </a:r>
          </a:p>
          <a:p>
            <a:pPr fontAlgn="auto">
              <a:spcBef>
                <a:spcPts val="0"/>
              </a:spcBef>
              <a:spcAft>
                <a:spcPts val="0"/>
              </a:spcAft>
              <a:defRPr/>
            </a:pPr>
            <a:r>
              <a:rPr lang="en-US" b="1" dirty="0">
                <a:latin typeface="Courier New" pitchFamily="49" charset="0"/>
                <a:cs typeface="Courier New" pitchFamily="49" charset="0"/>
              </a:rPr>
              <a:t>	float sf=0;</a:t>
            </a:r>
          </a:p>
          <a:p>
            <a:pPr fontAlgn="auto">
              <a:spcBef>
                <a:spcPts val="0"/>
              </a:spcBef>
              <a:spcAft>
                <a:spcPts val="0"/>
              </a:spcAft>
              <a:defRPr/>
            </a:pPr>
            <a:r>
              <a:rPr lang="en-US" b="1" dirty="0">
                <a:latin typeface="Courier New" pitchFamily="49" charset="0"/>
                <a:cs typeface="Courier New" pitchFamily="49" charset="0"/>
              </a:rPr>
              <a:t>	for (</a:t>
            </a:r>
            <a:r>
              <a:rPr lang="en-US" b="1" dirty="0" err="1">
                <a:latin typeface="Courier New" pitchFamily="49" charset="0"/>
                <a:cs typeface="Courier New" pitchFamily="49" charset="0"/>
              </a:rPr>
              <a:t>i</a:t>
            </a:r>
            <a:r>
              <a:rPr lang="en-US" b="1" dirty="0">
                <a:latin typeface="Courier New" pitchFamily="49" charset="0"/>
                <a:cs typeface="Courier New" pitchFamily="49" charset="0"/>
              </a:rPr>
              <a:t>=0;i&lt;</a:t>
            </a:r>
            <a:r>
              <a:rPr lang="en-US" b="1" dirty="0" err="1">
                <a:latin typeface="Courier New" pitchFamily="49" charset="0"/>
                <a:cs typeface="Courier New" pitchFamily="49" charset="0"/>
              </a:rPr>
              <a:t>N;i</a:t>
            </a:r>
            <a:r>
              <a:rPr lang="en-US" b="1" dirty="0">
                <a:latin typeface="Courier New" pitchFamily="49" charset="0"/>
                <a:cs typeface="Courier New" pitchFamily="49" charset="0"/>
              </a:rPr>
              <a:t>++) sf += a[</a:t>
            </a:r>
            <a:r>
              <a:rPr lang="en-US" b="1" dirty="0" err="1">
                <a:latin typeface="Courier New" pitchFamily="49" charset="0"/>
                <a:cs typeface="Courier New" pitchFamily="49" charset="0"/>
              </a:rPr>
              <a:t>i</a:t>
            </a:r>
            <a:r>
              <a:rPr lang="en-US" b="1" dirty="0">
                <a:latin typeface="Courier New" pitchFamily="49" charset="0"/>
                <a:cs typeface="Courier New" pitchFamily="49" charset="0"/>
              </a:rPr>
              <a:t>];</a:t>
            </a:r>
          </a:p>
          <a:p>
            <a:pPr fontAlgn="auto">
              <a:spcBef>
                <a:spcPts val="0"/>
              </a:spcBef>
              <a:spcAft>
                <a:spcPts val="0"/>
              </a:spcAft>
              <a:defRPr/>
            </a:pPr>
            <a:r>
              <a:rPr lang="en-US" b="1" dirty="0">
                <a:latin typeface="Courier New" pitchFamily="49" charset="0"/>
                <a:cs typeface="Courier New" pitchFamily="49" charset="0"/>
              </a:rPr>
              <a:t>	*s = sf;</a:t>
            </a:r>
          </a:p>
          <a:p>
            <a:pPr fontAlgn="auto">
              <a:spcBef>
                <a:spcPts val="0"/>
              </a:spcBef>
              <a:spcAft>
                <a:spcPts val="0"/>
              </a:spcAft>
              <a:defRPr/>
            </a:pPr>
            <a:r>
              <a:rPr lang="en-US" b="1" dirty="0">
                <a:latin typeface="Courier New" pitchFamily="49" charset="0"/>
                <a:cs typeface="Courier New" pitchFamily="49" charset="0"/>
              </a:rPr>
              <a:t>}</a:t>
            </a:r>
          </a:p>
        </p:txBody>
      </p:sp>
    </p:spTree>
    <p:extLst>
      <p:ext uri="{BB962C8B-B14F-4D97-AF65-F5344CB8AC3E}">
        <p14:creationId xmlns:p14="http://schemas.microsoft.com/office/powerpoint/2010/main" val="1682914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20</a:t>
            </a:fld>
            <a:endParaRPr lang="en-US"/>
          </a:p>
        </p:txBody>
      </p:sp>
      <p:sp>
        <p:nvSpPr>
          <p:cNvPr id="2" name="Title 1"/>
          <p:cNvSpPr>
            <a:spLocks noGrp="1"/>
          </p:cNvSpPr>
          <p:nvPr>
            <p:ph type="title"/>
          </p:nvPr>
        </p:nvSpPr>
        <p:spPr/>
        <p:txBody>
          <a:bodyPr/>
          <a:lstStyle/>
          <a:p>
            <a:r>
              <a:rPr lang="en-US" smtClean="0"/>
              <a:t>Phạm vi của biến, hằng</a:t>
            </a:r>
            <a:endParaRPr lang="en-US"/>
          </a:p>
        </p:txBody>
      </p:sp>
      <p:sp>
        <p:nvSpPr>
          <p:cNvPr id="3" name="Content Placeholder 2"/>
          <p:cNvSpPr>
            <a:spLocks noGrp="1"/>
          </p:cNvSpPr>
          <p:nvPr>
            <p:ph type="body" sz="quarter" idx="13"/>
          </p:nvPr>
        </p:nvSpPr>
        <p:spPr/>
        <p:txBody>
          <a:bodyPr/>
          <a:lstStyle/>
          <a:p>
            <a:r>
              <a:rPr lang="en-US" sz="2400" dirty="0" err="1" smtClean="0"/>
              <a:t>Biến</a:t>
            </a:r>
            <a:r>
              <a:rPr lang="en-US" sz="2400" dirty="0" smtClean="0"/>
              <a:t> </a:t>
            </a:r>
            <a:r>
              <a:rPr lang="en-US" sz="2400" dirty="0" err="1" smtClean="0"/>
              <a:t>toàn</a:t>
            </a:r>
            <a:r>
              <a:rPr lang="en-US" sz="2400" dirty="0" smtClean="0"/>
              <a:t> </a:t>
            </a:r>
            <a:r>
              <a:rPr lang="en-US" sz="2400" dirty="0" err="1" smtClean="0"/>
              <a:t>cục</a:t>
            </a:r>
            <a:r>
              <a:rPr lang="en-US" sz="2400" dirty="0" smtClean="0"/>
              <a:t>: </a:t>
            </a:r>
            <a:r>
              <a:rPr lang="en-US" sz="2400" dirty="0" err="1" smtClean="0"/>
              <a:t>được</a:t>
            </a:r>
            <a:r>
              <a:rPr lang="en-US" sz="2400" dirty="0" smtClean="0"/>
              <a:t> </a:t>
            </a:r>
            <a:r>
              <a:rPr lang="en-US" sz="2400" dirty="0" err="1" smtClean="0"/>
              <a:t>khai</a:t>
            </a:r>
            <a:r>
              <a:rPr lang="en-US" sz="2400" dirty="0" smtClean="0"/>
              <a:t> </a:t>
            </a:r>
            <a:r>
              <a:rPr lang="en-US" sz="2400" dirty="0" err="1" smtClean="0"/>
              <a:t>báo</a:t>
            </a:r>
            <a:r>
              <a:rPr lang="en-US" sz="2400" dirty="0" smtClean="0"/>
              <a:t> ở </a:t>
            </a:r>
            <a:r>
              <a:rPr lang="en-US" sz="2400" dirty="0" err="1" smtClean="0"/>
              <a:t>ngoài</a:t>
            </a:r>
            <a:r>
              <a:rPr lang="en-US" sz="2400" dirty="0" smtClean="0"/>
              <a:t> </a:t>
            </a:r>
            <a:r>
              <a:rPr lang="en-US" sz="2400" dirty="0" err="1" smtClean="0"/>
              <a:t>các</a:t>
            </a:r>
            <a:r>
              <a:rPr lang="en-US" sz="2400" dirty="0" smtClean="0"/>
              <a:t> </a:t>
            </a:r>
            <a:r>
              <a:rPr lang="en-US" sz="2400" dirty="0" err="1" smtClean="0"/>
              <a:t>hàm</a:t>
            </a:r>
            <a:r>
              <a:rPr lang="en-US" sz="2400" dirty="0" smtClean="0"/>
              <a:t>, </a:t>
            </a:r>
            <a:r>
              <a:rPr lang="en-US" sz="2400" dirty="0" err="1" smtClean="0"/>
              <a:t>có</a:t>
            </a:r>
            <a:r>
              <a:rPr lang="en-US" sz="2400" dirty="0" smtClean="0"/>
              <a:t> </a:t>
            </a:r>
            <a:r>
              <a:rPr lang="en-US" sz="2400" dirty="0" err="1" smtClean="0"/>
              <a:t>phạm</a:t>
            </a:r>
            <a:r>
              <a:rPr lang="en-US" sz="2400" dirty="0" smtClean="0"/>
              <a:t> vi </a:t>
            </a:r>
            <a:r>
              <a:rPr lang="en-US" sz="2400" dirty="0" err="1" smtClean="0"/>
              <a:t>trong</a:t>
            </a:r>
            <a:r>
              <a:rPr lang="en-US" sz="2400" dirty="0" smtClean="0"/>
              <a:t> </a:t>
            </a:r>
            <a:r>
              <a:rPr lang="en-US" sz="2400" dirty="0" err="1" smtClean="0"/>
              <a:t>toàn</a:t>
            </a:r>
            <a:r>
              <a:rPr lang="en-US" sz="2400" dirty="0" smtClean="0"/>
              <a:t> </a:t>
            </a:r>
            <a:r>
              <a:rPr lang="en-US" sz="2400" dirty="0" err="1" smtClean="0"/>
              <a:t>chương</a:t>
            </a:r>
            <a:r>
              <a:rPr lang="en-US" sz="2400" dirty="0" smtClean="0"/>
              <a:t> </a:t>
            </a:r>
            <a:r>
              <a:rPr lang="en-US" sz="2400" dirty="0" err="1" smtClean="0"/>
              <a:t>trình</a:t>
            </a:r>
            <a:r>
              <a:rPr lang="en-US" sz="2400" dirty="0" smtClean="0"/>
              <a:t> </a:t>
            </a:r>
            <a:r>
              <a:rPr lang="en-US" sz="2400" dirty="0" err="1" smtClean="0"/>
              <a:t>và</a:t>
            </a:r>
            <a:r>
              <a:rPr lang="en-US" sz="2400" dirty="0" smtClean="0"/>
              <a:t> </a:t>
            </a:r>
            <a:r>
              <a:rPr lang="en-US" sz="2400" dirty="0" err="1" smtClean="0"/>
              <a:t>tồn</a:t>
            </a:r>
            <a:r>
              <a:rPr lang="en-US" sz="2400" dirty="0" smtClean="0"/>
              <a:t> </a:t>
            </a:r>
            <a:r>
              <a:rPr lang="en-US" sz="2400" dirty="0" err="1" smtClean="0"/>
              <a:t>tại</a:t>
            </a:r>
            <a:r>
              <a:rPr lang="en-US" sz="2400" dirty="0" smtClean="0"/>
              <a:t> </a:t>
            </a:r>
            <a:r>
              <a:rPr lang="en-US" sz="2400" dirty="0" err="1" smtClean="0"/>
              <a:t>trong</a:t>
            </a:r>
            <a:r>
              <a:rPr lang="en-US" sz="2400" dirty="0" smtClean="0"/>
              <a:t> </a:t>
            </a:r>
            <a:r>
              <a:rPr lang="en-US" sz="2400" dirty="0" err="1" smtClean="0"/>
              <a:t>suốt</a:t>
            </a:r>
            <a:r>
              <a:rPr lang="en-US" sz="2400" dirty="0" smtClean="0"/>
              <a:t> </a:t>
            </a:r>
            <a:r>
              <a:rPr lang="en-US" sz="2400" dirty="0" err="1" smtClean="0"/>
              <a:t>quá</a:t>
            </a:r>
            <a:r>
              <a:rPr lang="en-US" sz="2400" dirty="0" smtClean="0"/>
              <a:t> </a:t>
            </a:r>
            <a:r>
              <a:rPr lang="en-US" sz="2400" dirty="0" err="1" smtClean="0"/>
              <a:t>trình</a:t>
            </a:r>
            <a:r>
              <a:rPr lang="en-US" sz="2400" dirty="0" smtClean="0"/>
              <a:t> </a:t>
            </a:r>
            <a:r>
              <a:rPr lang="en-US" sz="2400" dirty="0" err="1" smtClean="0"/>
              <a:t>chạy</a:t>
            </a:r>
            <a:r>
              <a:rPr lang="en-US" sz="2400" dirty="0" smtClean="0"/>
              <a:t>. </a:t>
            </a:r>
          </a:p>
          <a:p>
            <a:pPr lvl="1"/>
            <a:r>
              <a:rPr lang="en-US" sz="2000" dirty="0" err="1" smtClean="0"/>
              <a:t>Được</a:t>
            </a:r>
            <a:r>
              <a:rPr lang="en-US" sz="2000" dirty="0" smtClean="0"/>
              <a:t> </a:t>
            </a:r>
            <a:r>
              <a:rPr lang="en-US" sz="2000" dirty="0" err="1" smtClean="0"/>
              <a:t>truy</a:t>
            </a:r>
            <a:r>
              <a:rPr lang="en-US" sz="2000" dirty="0" smtClean="0"/>
              <a:t> </a:t>
            </a:r>
            <a:r>
              <a:rPr lang="en-US" sz="2000" dirty="0" err="1" smtClean="0"/>
              <a:t>cập</a:t>
            </a:r>
            <a:r>
              <a:rPr lang="en-US" sz="2000" dirty="0" smtClean="0"/>
              <a:t> </a:t>
            </a:r>
            <a:r>
              <a:rPr lang="en-US" sz="2000" dirty="0" err="1" smtClean="0"/>
              <a:t>bởi</a:t>
            </a:r>
            <a:r>
              <a:rPr lang="en-US" sz="2000" dirty="0" smtClean="0"/>
              <a:t> </a:t>
            </a:r>
            <a:r>
              <a:rPr lang="en-US" sz="2000" dirty="0" err="1" smtClean="0"/>
              <a:t>tất</a:t>
            </a:r>
            <a:r>
              <a:rPr lang="en-US" sz="2000" dirty="0" smtClean="0"/>
              <a:t> </a:t>
            </a:r>
            <a:r>
              <a:rPr lang="en-US" sz="2000" dirty="0" err="1" smtClean="0"/>
              <a:t>cả</a:t>
            </a:r>
            <a:r>
              <a:rPr lang="en-US" sz="2000" dirty="0" smtClean="0"/>
              <a:t> </a:t>
            </a:r>
            <a:r>
              <a:rPr lang="en-US" sz="2000" dirty="0" err="1" smtClean="0"/>
              <a:t>các</a:t>
            </a:r>
            <a:r>
              <a:rPr lang="en-US" sz="2000" dirty="0" smtClean="0"/>
              <a:t> </a:t>
            </a:r>
            <a:r>
              <a:rPr lang="en-US" sz="2000" dirty="0" err="1" smtClean="0"/>
              <a:t>hàm</a:t>
            </a:r>
            <a:r>
              <a:rPr lang="en-US" sz="2000" dirty="0" smtClean="0"/>
              <a:t> </a:t>
            </a:r>
            <a:r>
              <a:rPr lang="en-US" sz="2000" dirty="0" err="1" smtClean="0"/>
              <a:t>định</a:t>
            </a:r>
            <a:r>
              <a:rPr lang="en-US" sz="2000" dirty="0" smtClean="0"/>
              <a:t> </a:t>
            </a:r>
            <a:r>
              <a:rPr lang="en-US" sz="2000" dirty="0" err="1" smtClean="0"/>
              <a:t>nghĩa</a:t>
            </a:r>
            <a:r>
              <a:rPr lang="en-US" sz="2000" dirty="0" smtClean="0"/>
              <a:t> </a:t>
            </a:r>
            <a:r>
              <a:rPr lang="en-US" sz="2000" dirty="0" err="1" smtClean="0"/>
              <a:t>sau</a:t>
            </a:r>
            <a:r>
              <a:rPr lang="en-US" sz="2000" dirty="0" smtClean="0"/>
              <a:t> </a:t>
            </a:r>
            <a:r>
              <a:rPr lang="en-US" sz="2000" dirty="0" err="1" smtClean="0"/>
              <a:t>khai</a:t>
            </a:r>
            <a:r>
              <a:rPr lang="en-US" sz="2000" dirty="0" smtClean="0"/>
              <a:t> </a:t>
            </a:r>
            <a:r>
              <a:rPr lang="en-US" sz="2000" dirty="0" err="1" smtClean="0"/>
              <a:t>báo</a:t>
            </a:r>
            <a:r>
              <a:rPr lang="en-US" sz="2000" dirty="0" smtClean="0"/>
              <a:t> </a:t>
            </a:r>
            <a:r>
              <a:rPr lang="en-US" sz="2000" dirty="0" err="1" smtClean="0"/>
              <a:t>biến</a:t>
            </a:r>
            <a:r>
              <a:rPr lang="en-US" sz="2000" dirty="0" smtClean="0"/>
              <a:t> </a:t>
            </a:r>
            <a:r>
              <a:rPr lang="en-US" sz="2000" dirty="0" err="1" smtClean="0"/>
              <a:t>toàn</a:t>
            </a:r>
            <a:r>
              <a:rPr lang="en-US" sz="2000" dirty="0" smtClean="0"/>
              <a:t> </a:t>
            </a:r>
            <a:r>
              <a:rPr lang="en-US" sz="2000" dirty="0" err="1" smtClean="0"/>
              <a:t>cục</a:t>
            </a:r>
            <a:r>
              <a:rPr lang="en-US" sz="2000" dirty="0" smtClean="0"/>
              <a:t>.</a:t>
            </a:r>
          </a:p>
          <a:p>
            <a:r>
              <a:rPr lang="en-US" sz="2400" dirty="0" err="1" smtClean="0"/>
              <a:t>Biến</a:t>
            </a:r>
            <a:r>
              <a:rPr lang="en-US" sz="2400" dirty="0" smtClean="0"/>
              <a:t> </a:t>
            </a:r>
            <a:r>
              <a:rPr lang="en-US" sz="2400" dirty="0" err="1" smtClean="0"/>
              <a:t>địa</a:t>
            </a:r>
            <a:r>
              <a:rPr lang="en-US" sz="2400" dirty="0" smtClean="0"/>
              <a:t> </a:t>
            </a:r>
            <a:r>
              <a:rPr lang="en-US" sz="2400" dirty="0" err="1" smtClean="0"/>
              <a:t>phương</a:t>
            </a:r>
            <a:r>
              <a:rPr lang="en-US" sz="2400" dirty="0" smtClean="0"/>
              <a:t>: </a:t>
            </a:r>
            <a:r>
              <a:rPr lang="en-US" sz="2400" dirty="0" err="1" smtClean="0"/>
              <a:t>được</a:t>
            </a:r>
            <a:r>
              <a:rPr lang="en-US" sz="2400" dirty="0" smtClean="0"/>
              <a:t> </a:t>
            </a:r>
            <a:r>
              <a:rPr lang="en-US" sz="2400" dirty="0" err="1" smtClean="0"/>
              <a:t>khai</a:t>
            </a:r>
            <a:r>
              <a:rPr lang="en-US" sz="2400" dirty="0" smtClean="0"/>
              <a:t> </a:t>
            </a:r>
            <a:r>
              <a:rPr lang="en-US" sz="2400" dirty="0" err="1" smtClean="0"/>
              <a:t>báo</a:t>
            </a:r>
            <a:r>
              <a:rPr lang="en-US" sz="2400" dirty="0" smtClean="0"/>
              <a:t> ở </a:t>
            </a:r>
            <a:r>
              <a:rPr lang="en-US" sz="2400" dirty="0" err="1" smtClean="0"/>
              <a:t>trong</a:t>
            </a:r>
            <a:r>
              <a:rPr lang="en-US" sz="2400" dirty="0" smtClean="0"/>
              <a:t> </a:t>
            </a:r>
            <a:r>
              <a:rPr lang="en-US" sz="2400" dirty="0" err="1" smtClean="0"/>
              <a:t>một</a:t>
            </a:r>
            <a:r>
              <a:rPr lang="en-US" sz="2400" dirty="0" smtClean="0"/>
              <a:t> </a:t>
            </a:r>
            <a:r>
              <a:rPr lang="en-US" sz="2400" dirty="0" err="1" smtClean="0"/>
              <a:t>hàm</a:t>
            </a:r>
            <a:r>
              <a:rPr lang="en-US" sz="2400" dirty="0" smtClean="0"/>
              <a:t> </a:t>
            </a:r>
            <a:r>
              <a:rPr lang="en-US" sz="2400" dirty="0" err="1" smtClean="0"/>
              <a:t>hoặc</a:t>
            </a:r>
            <a:r>
              <a:rPr lang="en-US" sz="2400" dirty="0" smtClean="0"/>
              <a:t> </a:t>
            </a:r>
            <a:r>
              <a:rPr lang="en-US" sz="2400" dirty="0" err="1" smtClean="0"/>
              <a:t>một</a:t>
            </a:r>
            <a:r>
              <a:rPr lang="en-US" sz="2400" dirty="0" smtClean="0"/>
              <a:t> </a:t>
            </a:r>
            <a:r>
              <a:rPr lang="en-US" sz="2400" dirty="0" err="1" smtClean="0"/>
              <a:t>khối</a:t>
            </a:r>
            <a:r>
              <a:rPr lang="en-US" sz="2400" dirty="0" smtClean="0"/>
              <a:t> </a:t>
            </a:r>
            <a:r>
              <a:rPr lang="en-US" sz="2400" dirty="0" err="1" smtClean="0"/>
              <a:t>lệnh</a:t>
            </a:r>
            <a:r>
              <a:rPr lang="en-US" sz="2400" dirty="0" smtClean="0"/>
              <a:t>, </a:t>
            </a:r>
            <a:r>
              <a:rPr lang="en-US" sz="2400" dirty="0" err="1" smtClean="0"/>
              <a:t>chỉ</a:t>
            </a:r>
            <a:r>
              <a:rPr lang="en-US" sz="2400" dirty="0" smtClean="0"/>
              <a:t> </a:t>
            </a:r>
            <a:r>
              <a:rPr lang="en-US" sz="2400" dirty="0" err="1" smtClean="0"/>
              <a:t>có</a:t>
            </a:r>
            <a:r>
              <a:rPr lang="en-US" sz="2400" dirty="0" smtClean="0"/>
              <a:t> </a:t>
            </a:r>
            <a:r>
              <a:rPr lang="en-US" sz="2400" dirty="0" err="1" smtClean="0"/>
              <a:t>phạm</a:t>
            </a:r>
            <a:r>
              <a:rPr lang="en-US" sz="2400" dirty="0" smtClean="0"/>
              <a:t> vi </a:t>
            </a:r>
            <a:r>
              <a:rPr lang="en-US" sz="2400" dirty="0" err="1" smtClean="0"/>
              <a:t>trong</a:t>
            </a:r>
            <a:r>
              <a:rPr lang="en-US" sz="2400" dirty="0" smtClean="0"/>
              <a:t> </a:t>
            </a:r>
            <a:r>
              <a:rPr lang="en-US" sz="2400" dirty="0" err="1" smtClean="0"/>
              <a:t>hàm</a:t>
            </a:r>
            <a:r>
              <a:rPr lang="en-US" sz="2400" dirty="0" smtClean="0"/>
              <a:t>/</a:t>
            </a:r>
            <a:r>
              <a:rPr lang="en-US" sz="2400" dirty="0" err="1" smtClean="0"/>
              <a:t>khối</a:t>
            </a:r>
            <a:r>
              <a:rPr lang="en-US" sz="2400" dirty="0" smtClean="0"/>
              <a:t> </a:t>
            </a:r>
            <a:r>
              <a:rPr lang="en-US" sz="2400" dirty="0" err="1" smtClean="0"/>
              <a:t>đó</a:t>
            </a:r>
            <a:r>
              <a:rPr lang="en-US" sz="2400" dirty="0" smtClean="0"/>
              <a:t>, </a:t>
            </a:r>
            <a:r>
              <a:rPr lang="en-US" sz="2400" dirty="0" err="1" smtClean="0"/>
              <a:t>và</a:t>
            </a:r>
            <a:r>
              <a:rPr lang="en-US" sz="2400" dirty="0" smtClean="0"/>
              <a:t> </a:t>
            </a:r>
            <a:r>
              <a:rPr lang="en-US" sz="2400" dirty="0" err="1" smtClean="0"/>
              <a:t>bị</a:t>
            </a:r>
            <a:r>
              <a:rPr lang="en-US" sz="2400" dirty="0" smtClean="0"/>
              <a:t> </a:t>
            </a:r>
            <a:r>
              <a:rPr lang="en-US" sz="2400" dirty="0" err="1" smtClean="0"/>
              <a:t>huỷ</a:t>
            </a:r>
            <a:r>
              <a:rPr lang="en-US" sz="2400" dirty="0" smtClean="0"/>
              <a:t> </a:t>
            </a:r>
            <a:r>
              <a:rPr lang="en-US" sz="2400" dirty="0" err="1" smtClean="0"/>
              <a:t>sau</a:t>
            </a:r>
            <a:r>
              <a:rPr lang="en-US" sz="2400" dirty="0" smtClean="0"/>
              <a:t> </a:t>
            </a:r>
            <a:r>
              <a:rPr lang="en-US" sz="2400" dirty="0" err="1" smtClean="0"/>
              <a:t>khi</a:t>
            </a:r>
            <a:r>
              <a:rPr lang="en-US" sz="2400" dirty="0" smtClean="0"/>
              <a:t> </a:t>
            </a:r>
            <a:r>
              <a:rPr lang="en-US" sz="2400" dirty="0" err="1" smtClean="0"/>
              <a:t>kết</a:t>
            </a:r>
            <a:r>
              <a:rPr lang="en-US" sz="2400" dirty="0" smtClean="0"/>
              <a:t> </a:t>
            </a:r>
            <a:r>
              <a:rPr lang="en-US" sz="2400" dirty="0" err="1" smtClean="0"/>
              <a:t>thúc</a:t>
            </a:r>
            <a:r>
              <a:rPr lang="en-US" sz="2400" dirty="0" smtClean="0"/>
              <a:t> </a:t>
            </a:r>
            <a:r>
              <a:rPr lang="en-US" sz="2400" dirty="0" err="1" smtClean="0"/>
              <a:t>chạy</a:t>
            </a:r>
            <a:r>
              <a:rPr lang="en-US" sz="2400" dirty="0" smtClean="0"/>
              <a:t> </a:t>
            </a:r>
            <a:r>
              <a:rPr lang="en-US" sz="2400" dirty="0" err="1" smtClean="0"/>
              <a:t>hàm</a:t>
            </a:r>
            <a:r>
              <a:rPr lang="en-US" sz="2400" dirty="0" smtClean="0"/>
              <a:t>/</a:t>
            </a:r>
            <a:r>
              <a:rPr lang="en-US" sz="2400" dirty="0" err="1" smtClean="0"/>
              <a:t>khối</a:t>
            </a:r>
            <a:r>
              <a:rPr lang="en-US" sz="2400" dirty="0" smtClean="0"/>
              <a:t> </a:t>
            </a:r>
            <a:r>
              <a:rPr lang="en-US" sz="2400" dirty="0" err="1" smtClean="0"/>
              <a:t>đó</a:t>
            </a:r>
            <a:endParaRPr lang="en-US" sz="2400" dirty="0" smtClean="0"/>
          </a:p>
          <a:p>
            <a:pPr lvl="1"/>
            <a:r>
              <a:rPr lang="en-US" sz="2000" dirty="0" err="1"/>
              <a:t>Các</a:t>
            </a:r>
            <a:r>
              <a:rPr lang="en-US" sz="2000" dirty="0"/>
              <a:t> </a:t>
            </a:r>
            <a:r>
              <a:rPr lang="en-US" sz="2000" dirty="0" err="1" smtClean="0"/>
              <a:t>khai</a:t>
            </a:r>
            <a:r>
              <a:rPr lang="en-US" sz="2000" dirty="0" smtClean="0"/>
              <a:t> </a:t>
            </a:r>
            <a:r>
              <a:rPr lang="en-US" sz="2000" dirty="0" err="1" smtClean="0"/>
              <a:t>báo</a:t>
            </a:r>
            <a:r>
              <a:rPr lang="en-US" sz="2000" dirty="0" smtClean="0"/>
              <a:t> </a:t>
            </a:r>
            <a:r>
              <a:rPr lang="en-US" sz="2000" dirty="0" err="1" smtClean="0"/>
              <a:t>tham</a:t>
            </a:r>
            <a:r>
              <a:rPr lang="en-US" sz="2000" dirty="0" smtClean="0"/>
              <a:t> </a:t>
            </a:r>
            <a:r>
              <a:rPr lang="en-US" sz="2000" dirty="0" err="1"/>
              <a:t>số</a:t>
            </a:r>
            <a:r>
              <a:rPr lang="en-US" sz="2000" dirty="0"/>
              <a:t> </a:t>
            </a:r>
            <a:r>
              <a:rPr lang="en-US" sz="2000" dirty="0" err="1"/>
              <a:t>và</a:t>
            </a:r>
            <a:r>
              <a:rPr lang="en-US" sz="2000" dirty="0"/>
              <a:t> </a:t>
            </a:r>
            <a:r>
              <a:rPr lang="en-US" sz="2000" dirty="0" err="1"/>
              <a:t>các</a:t>
            </a:r>
            <a:r>
              <a:rPr lang="en-US" sz="2000" dirty="0"/>
              <a:t> </a:t>
            </a:r>
            <a:r>
              <a:rPr lang="en-US" sz="2000" dirty="0" err="1"/>
              <a:t>biến</a:t>
            </a:r>
            <a:r>
              <a:rPr lang="en-US" sz="2000" dirty="0"/>
              <a:t> </a:t>
            </a:r>
            <a:r>
              <a:rPr lang="en-US" sz="2000" dirty="0" err="1"/>
              <a:t>nội</a:t>
            </a:r>
            <a:r>
              <a:rPr lang="en-US" sz="2000" dirty="0"/>
              <a:t> </a:t>
            </a:r>
            <a:r>
              <a:rPr lang="en-US" sz="2000" dirty="0" err="1" smtClean="0"/>
              <a:t>bộ</a:t>
            </a:r>
            <a:r>
              <a:rPr lang="en-US" sz="2000" dirty="0" smtClean="0"/>
              <a:t> </a:t>
            </a:r>
            <a:r>
              <a:rPr lang="en-US" sz="2000" dirty="0" err="1" smtClean="0"/>
              <a:t>của</a:t>
            </a:r>
            <a:r>
              <a:rPr lang="en-US" sz="2000" dirty="0" smtClean="0"/>
              <a:t> </a:t>
            </a:r>
            <a:r>
              <a:rPr lang="en-US" sz="2000" dirty="0" err="1" smtClean="0"/>
              <a:t>một</a:t>
            </a:r>
            <a:r>
              <a:rPr lang="en-US" sz="2000" dirty="0" smtClean="0"/>
              <a:t> </a:t>
            </a:r>
            <a:r>
              <a:rPr lang="en-US" sz="2000" dirty="0" err="1" smtClean="0"/>
              <a:t>hàm</a:t>
            </a:r>
            <a:r>
              <a:rPr lang="en-US" sz="2000" dirty="0" smtClean="0"/>
              <a:t> </a:t>
            </a:r>
            <a:r>
              <a:rPr lang="en-US" sz="2000" dirty="0" err="1"/>
              <a:t>chỉ</a:t>
            </a:r>
            <a:r>
              <a:rPr lang="en-US" sz="2000" dirty="0"/>
              <a:t> </a:t>
            </a:r>
            <a:r>
              <a:rPr lang="en-US" sz="2000" dirty="0" err="1"/>
              <a:t>giới</a:t>
            </a:r>
            <a:r>
              <a:rPr lang="en-US" sz="2000" dirty="0"/>
              <a:t> </a:t>
            </a:r>
            <a:r>
              <a:rPr lang="en-US" sz="2000" dirty="0" err="1"/>
              <a:t>hạn</a:t>
            </a:r>
            <a:r>
              <a:rPr lang="en-US" sz="2000" dirty="0"/>
              <a:t> </a:t>
            </a:r>
            <a:r>
              <a:rPr lang="en-US" sz="2000" dirty="0" err="1"/>
              <a:t>trong</a:t>
            </a:r>
            <a:r>
              <a:rPr lang="en-US" sz="2000" dirty="0"/>
              <a:t> </a:t>
            </a:r>
            <a:r>
              <a:rPr lang="en-US" sz="2000" dirty="0" err="1"/>
              <a:t>phạm</a:t>
            </a:r>
            <a:r>
              <a:rPr lang="en-US" sz="2000" dirty="0"/>
              <a:t> vi </a:t>
            </a:r>
            <a:r>
              <a:rPr lang="en-US" sz="2000" dirty="0" err="1"/>
              <a:t>của</a:t>
            </a:r>
            <a:r>
              <a:rPr lang="en-US" sz="2000" dirty="0"/>
              <a:t> </a:t>
            </a:r>
            <a:r>
              <a:rPr lang="en-US" sz="2000" dirty="0" err="1" smtClean="0"/>
              <a:t>hàm</a:t>
            </a:r>
            <a:r>
              <a:rPr lang="en-US" sz="2000" dirty="0"/>
              <a:t> </a:t>
            </a:r>
            <a:r>
              <a:rPr lang="en-US" sz="2000" dirty="0" err="1" smtClean="0"/>
              <a:t>đó</a:t>
            </a:r>
            <a:endParaRPr lang="en-US" sz="2000" dirty="0"/>
          </a:p>
          <a:p>
            <a:pPr lvl="1"/>
            <a:r>
              <a:rPr lang="vi-VN" sz="2000" dirty="0"/>
              <a:t>Khai báo biến địa phương sẽ “che” mất biến cùng tên khác có phạm vi rộng hơn</a:t>
            </a:r>
          </a:p>
          <a:p>
            <a:pPr lvl="1"/>
            <a:endParaRPr lang="en-US" sz="1700" dirty="0" smtClean="0"/>
          </a:p>
        </p:txBody>
      </p:sp>
      <p:sp>
        <p:nvSpPr>
          <p:cNvPr id="7" name="Rectangle 6"/>
          <p:cNvSpPr/>
          <p:nvPr/>
        </p:nvSpPr>
        <p:spPr>
          <a:xfrm>
            <a:off x="2819400" y="4077034"/>
            <a:ext cx="3962400" cy="2677656"/>
          </a:xfrm>
          <a:prstGeom prst="rect">
            <a:avLst/>
          </a:prstGeom>
        </p:spPr>
        <p:txBody>
          <a:bodyPr wrap="square">
            <a:spAutoFit/>
          </a:bodyPr>
          <a:lstStyle/>
          <a:p>
            <a:r>
              <a:rPr lang="vi-VN" sz="1400" dirty="0">
                <a:solidFill>
                  <a:srgbClr val="0000FF"/>
                </a:solidFill>
                <a:latin typeface="Consolas" panose="020B0609020204030204" pitchFamily="49" charset="0"/>
              </a:rPr>
              <a:t>int</a:t>
            </a:r>
            <a:r>
              <a:rPr lang="vi-VN" sz="1400" dirty="0">
                <a:solidFill>
                  <a:srgbClr val="000000"/>
                </a:solidFill>
                <a:latin typeface="Consolas" panose="020B0609020204030204" pitchFamily="49" charset="0"/>
              </a:rPr>
              <a:t> </a:t>
            </a:r>
            <a:r>
              <a:rPr lang="vi-VN" sz="1400" dirty="0">
                <a:solidFill>
                  <a:srgbClr val="001080"/>
                </a:solidFill>
                <a:latin typeface="Consolas" panose="020B0609020204030204" pitchFamily="49" charset="0"/>
              </a:rPr>
              <a:t>x</a:t>
            </a:r>
            <a:r>
              <a:rPr lang="vi-VN" sz="1400" dirty="0">
                <a:solidFill>
                  <a:srgbClr val="000000"/>
                </a:solidFill>
                <a:latin typeface="Consolas" panose="020B0609020204030204" pitchFamily="49" charset="0"/>
              </a:rPr>
              <a:t> = </a:t>
            </a:r>
            <a:r>
              <a:rPr lang="vi-VN" sz="1400" dirty="0">
                <a:solidFill>
                  <a:srgbClr val="098658"/>
                </a:solidFill>
                <a:latin typeface="Consolas" panose="020B0609020204030204" pitchFamily="49" charset="0"/>
              </a:rPr>
              <a:t>10</a:t>
            </a:r>
            <a:r>
              <a:rPr lang="vi-VN" sz="1400" dirty="0">
                <a:solidFill>
                  <a:srgbClr val="000000"/>
                </a:solidFill>
                <a:latin typeface="Consolas" panose="020B0609020204030204" pitchFamily="49" charset="0"/>
              </a:rPr>
              <a:t>, </a:t>
            </a:r>
            <a:r>
              <a:rPr lang="vi-VN" sz="1400" dirty="0">
                <a:solidFill>
                  <a:srgbClr val="001080"/>
                </a:solidFill>
                <a:latin typeface="Consolas" panose="020B0609020204030204" pitchFamily="49" charset="0"/>
              </a:rPr>
              <a:t>y</a:t>
            </a:r>
            <a:r>
              <a:rPr lang="vi-VN" sz="1400" dirty="0">
                <a:solidFill>
                  <a:srgbClr val="000000"/>
                </a:solidFill>
                <a:latin typeface="Consolas" panose="020B0609020204030204" pitchFamily="49" charset="0"/>
              </a:rPr>
              <a:t> = </a:t>
            </a:r>
            <a:r>
              <a:rPr lang="vi-VN" sz="1400" dirty="0">
                <a:solidFill>
                  <a:srgbClr val="098658"/>
                </a:solidFill>
                <a:latin typeface="Consolas" panose="020B0609020204030204" pitchFamily="49" charset="0"/>
              </a:rPr>
              <a:t>20</a:t>
            </a:r>
            <a:r>
              <a:rPr lang="vi-VN" sz="1400" dirty="0">
                <a:solidFill>
                  <a:srgbClr val="000000"/>
                </a:solidFill>
                <a:latin typeface="Consolas" panose="020B0609020204030204" pitchFamily="49" charset="0"/>
              </a:rPr>
              <a:t>; </a:t>
            </a:r>
          </a:p>
          <a:p>
            <a:r>
              <a:rPr lang="vi-VN" sz="1400" dirty="0">
                <a:solidFill>
                  <a:srgbClr val="0000FF"/>
                </a:solidFill>
                <a:latin typeface="Consolas" panose="020B0609020204030204" pitchFamily="49" charset="0"/>
              </a:rPr>
              <a:t>int</a:t>
            </a:r>
            <a:r>
              <a:rPr lang="vi-VN" sz="1400" dirty="0">
                <a:solidFill>
                  <a:srgbClr val="000000"/>
                </a:solidFill>
                <a:latin typeface="Consolas" panose="020B0609020204030204" pitchFamily="49" charset="0"/>
              </a:rPr>
              <a:t> </a:t>
            </a:r>
            <a:r>
              <a:rPr lang="vi-VN" sz="1400" dirty="0" smtClean="0">
                <a:solidFill>
                  <a:srgbClr val="795E26"/>
                </a:solidFill>
                <a:latin typeface="Consolas" panose="020B0609020204030204" pitchFamily="49" charset="0"/>
              </a:rPr>
              <a:t>sum</a:t>
            </a:r>
            <a:r>
              <a:rPr lang="vi-VN" sz="1400" dirty="0" smtClean="0">
                <a:solidFill>
                  <a:srgbClr val="000000"/>
                </a:solidFill>
                <a:latin typeface="Consolas" panose="020B0609020204030204" pitchFamily="49" charset="0"/>
              </a:rPr>
              <a:t>(</a:t>
            </a:r>
            <a:r>
              <a:rPr lang="vi-VN" sz="1400" dirty="0">
                <a:solidFill>
                  <a:srgbClr val="0000FF"/>
                </a:solidFill>
                <a:latin typeface="Consolas" panose="020B0609020204030204" pitchFamily="49" charset="0"/>
              </a:rPr>
              <a:t>int</a:t>
            </a:r>
            <a:r>
              <a:rPr lang="vi-VN" sz="1400" dirty="0">
                <a:solidFill>
                  <a:srgbClr val="000000"/>
                </a:solidFill>
                <a:latin typeface="Consolas" panose="020B0609020204030204" pitchFamily="49" charset="0"/>
              </a:rPr>
              <a:t> </a:t>
            </a:r>
            <a:r>
              <a:rPr lang="en-US" sz="1400" dirty="0" smtClean="0">
                <a:solidFill>
                  <a:srgbClr val="000000"/>
                </a:solidFill>
                <a:latin typeface="Consolas" panose="020B0609020204030204" pitchFamily="49" charset="0"/>
              </a:rPr>
              <a:t>x, </a:t>
            </a:r>
            <a:r>
              <a:rPr lang="vi-VN" sz="1400" dirty="0">
                <a:solidFill>
                  <a:srgbClr val="0000FF"/>
                </a:solidFill>
                <a:latin typeface="Consolas" panose="020B0609020204030204" pitchFamily="49" charset="0"/>
              </a:rPr>
              <a:t>int</a:t>
            </a:r>
            <a:r>
              <a:rPr lang="vi-VN" sz="1400" dirty="0">
                <a:solidFill>
                  <a:srgbClr val="000000"/>
                </a:solidFill>
                <a:latin typeface="Consolas" panose="020B0609020204030204" pitchFamily="49" charset="0"/>
              </a:rPr>
              <a:t> </a:t>
            </a:r>
            <a:r>
              <a:rPr lang="en-US" sz="1400" dirty="0" smtClean="0">
                <a:solidFill>
                  <a:srgbClr val="000000"/>
                </a:solidFill>
                <a:latin typeface="Consolas" panose="020B0609020204030204" pitchFamily="49" charset="0"/>
              </a:rPr>
              <a:t>y</a:t>
            </a:r>
            <a:r>
              <a:rPr lang="vi-VN" sz="1400" dirty="0" smtClean="0">
                <a:solidFill>
                  <a:srgbClr val="000000"/>
                </a:solidFill>
                <a:latin typeface="Consolas" panose="020B0609020204030204" pitchFamily="49" charset="0"/>
              </a:rPr>
              <a:t>)</a:t>
            </a:r>
            <a:r>
              <a:rPr lang="vi-VN" sz="1400" dirty="0">
                <a:solidFill>
                  <a:srgbClr val="000000"/>
                </a:solidFill>
                <a:latin typeface="Consolas" panose="020B0609020204030204" pitchFamily="49" charset="0"/>
              </a:rPr>
              <a:t> {</a:t>
            </a:r>
          </a:p>
          <a:p>
            <a:r>
              <a:rPr lang="vi-VN" sz="1400" dirty="0">
                <a:solidFill>
                  <a:srgbClr val="000000"/>
                </a:solidFill>
                <a:latin typeface="Consolas" panose="020B0609020204030204" pitchFamily="49" charset="0"/>
              </a:rPr>
              <a:t>    </a:t>
            </a:r>
            <a:r>
              <a:rPr lang="vi-VN" sz="1400" dirty="0" smtClean="0">
                <a:solidFill>
                  <a:srgbClr val="AF00DB"/>
                </a:solidFill>
                <a:latin typeface="Consolas" panose="020B0609020204030204" pitchFamily="49" charset="0"/>
              </a:rPr>
              <a:t>return</a:t>
            </a:r>
            <a:r>
              <a:rPr lang="vi-VN" sz="1400" dirty="0">
                <a:solidFill>
                  <a:srgbClr val="000000"/>
                </a:solidFill>
                <a:latin typeface="Consolas" panose="020B0609020204030204" pitchFamily="49" charset="0"/>
              </a:rPr>
              <a:t> </a:t>
            </a:r>
            <a:r>
              <a:rPr lang="vi-VN" sz="1400" dirty="0" smtClean="0">
                <a:solidFill>
                  <a:srgbClr val="001080"/>
                </a:solidFill>
                <a:latin typeface="Consolas" panose="020B0609020204030204" pitchFamily="49" charset="0"/>
              </a:rPr>
              <a:t>x</a:t>
            </a:r>
            <a:r>
              <a:rPr lang="vi-VN" sz="1400" dirty="0" smtClean="0">
                <a:solidFill>
                  <a:srgbClr val="000000"/>
                </a:solidFill>
                <a:latin typeface="Consolas" panose="020B0609020204030204" pitchFamily="49" charset="0"/>
              </a:rPr>
              <a:t>+</a:t>
            </a:r>
            <a:r>
              <a:rPr lang="vi-VN" sz="1400" dirty="0" smtClean="0">
                <a:solidFill>
                  <a:srgbClr val="001080"/>
                </a:solidFill>
                <a:latin typeface="Consolas" panose="020B0609020204030204" pitchFamily="49" charset="0"/>
              </a:rPr>
              <a:t>y</a:t>
            </a:r>
            <a:r>
              <a:rPr lang="vi-VN" sz="1400" dirty="0" smtClean="0">
                <a:solidFill>
                  <a:srgbClr val="000000"/>
                </a:solidFill>
                <a:latin typeface="Consolas" panose="020B0609020204030204" pitchFamily="49" charset="0"/>
              </a:rPr>
              <a:t>;</a:t>
            </a:r>
            <a:endParaRPr lang="vi-VN" sz="1400" dirty="0">
              <a:solidFill>
                <a:srgbClr val="000000"/>
              </a:solidFill>
              <a:latin typeface="Consolas" panose="020B0609020204030204" pitchFamily="49" charset="0"/>
            </a:endParaRPr>
          </a:p>
          <a:p>
            <a:r>
              <a:rPr lang="vi-VN" sz="1400" dirty="0">
                <a:solidFill>
                  <a:srgbClr val="000000"/>
                </a:solidFill>
                <a:latin typeface="Consolas" panose="020B0609020204030204" pitchFamily="49" charset="0"/>
              </a:rPr>
              <a:t>}</a:t>
            </a:r>
          </a:p>
          <a:p>
            <a:r>
              <a:rPr lang="vi-VN" sz="1400" dirty="0">
                <a:solidFill>
                  <a:srgbClr val="0000FF"/>
                </a:solidFill>
                <a:latin typeface="Consolas" panose="020B0609020204030204" pitchFamily="49" charset="0"/>
              </a:rPr>
              <a:t>int</a:t>
            </a:r>
            <a:r>
              <a:rPr lang="vi-VN" sz="1400" dirty="0">
                <a:solidFill>
                  <a:srgbClr val="000000"/>
                </a:solidFill>
                <a:latin typeface="Consolas" panose="020B0609020204030204" pitchFamily="49" charset="0"/>
              </a:rPr>
              <a:t> </a:t>
            </a:r>
            <a:r>
              <a:rPr lang="vi-VN" sz="1400" dirty="0">
                <a:solidFill>
                  <a:srgbClr val="795E26"/>
                </a:solidFill>
                <a:latin typeface="Consolas" panose="020B0609020204030204" pitchFamily="49" charset="0"/>
              </a:rPr>
              <a:t>main</a:t>
            </a:r>
            <a:r>
              <a:rPr lang="vi-VN" sz="1400" dirty="0">
                <a:solidFill>
                  <a:srgbClr val="000000"/>
                </a:solidFill>
                <a:latin typeface="Consolas" panose="020B0609020204030204" pitchFamily="49" charset="0"/>
              </a:rPr>
              <a:t>() {</a:t>
            </a:r>
          </a:p>
          <a:p>
            <a:r>
              <a:rPr lang="vi-VN" sz="1400" dirty="0">
                <a:solidFill>
                  <a:srgbClr val="000000"/>
                </a:solidFill>
                <a:latin typeface="Consolas" panose="020B0609020204030204" pitchFamily="49" charset="0"/>
              </a:rPr>
              <a:t>    </a:t>
            </a:r>
            <a:r>
              <a:rPr lang="vi-VN" sz="1400" dirty="0">
                <a:solidFill>
                  <a:srgbClr val="0000FF"/>
                </a:solidFill>
                <a:latin typeface="Consolas" panose="020B0609020204030204" pitchFamily="49" charset="0"/>
              </a:rPr>
              <a:t>int</a:t>
            </a:r>
            <a:r>
              <a:rPr lang="vi-VN" sz="1400" dirty="0">
                <a:solidFill>
                  <a:srgbClr val="000000"/>
                </a:solidFill>
                <a:latin typeface="Consolas" panose="020B0609020204030204" pitchFamily="49" charset="0"/>
              </a:rPr>
              <a:t> </a:t>
            </a:r>
            <a:r>
              <a:rPr lang="vi-VN" sz="1400" dirty="0">
                <a:solidFill>
                  <a:srgbClr val="001080"/>
                </a:solidFill>
                <a:latin typeface="Consolas" panose="020B0609020204030204" pitchFamily="49" charset="0"/>
              </a:rPr>
              <a:t>x</a:t>
            </a:r>
            <a:r>
              <a:rPr lang="vi-VN" sz="1400" dirty="0">
                <a:solidFill>
                  <a:srgbClr val="000000"/>
                </a:solidFill>
                <a:latin typeface="Consolas" panose="020B0609020204030204" pitchFamily="49" charset="0"/>
              </a:rPr>
              <a:t> = </a:t>
            </a:r>
            <a:r>
              <a:rPr lang="vi-VN" sz="1400" dirty="0" smtClean="0">
                <a:solidFill>
                  <a:srgbClr val="098658"/>
                </a:solidFill>
                <a:latin typeface="Consolas" panose="020B0609020204030204" pitchFamily="49" charset="0"/>
              </a:rPr>
              <a:t>1</a:t>
            </a:r>
            <a:r>
              <a:rPr lang="en-US" sz="1400" dirty="0" smtClean="0">
                <a:solidFill>
                  <a:srgbClr val="098658"/>
                </a:solidFill>
                <a:latin typeface="Consolas" panose="020B0609020204030204" pitchFamily="49" charset="0"/>
              </a:rPr>
              <a:t>00</a:t>
            </a:r>
            <a:r>
              <a:rPr lang="vi-VN" sz="1400" dirty="0" smtClean="0">
                <a:solidFill>
                  <a:srgbClr val="000000"/>
                </a:solidFill>
                <a:latin typeface="Consolas" panose="020B0609020204030204" pitchFamily="49" charset="0"/>
              </a:rPr>
              <a:t>,</a:t>
            </a:r>
            <a:r>
              <a:rPr lang="vi-VN" sz="1400" dirty="0">
                <a:solidFill>
                  <a:srgbClr val="000000"/>
                </a:solidFill>
                <a:latin typeface="Consolas" panose="020B0609020204030204" pitchFamily="49" charset="0"/>
              </a:rPr>
              <a:t> </a:t>
            </a:r>
            <a:r>
              <a:rPr lang="vi-VN" sz="1400" dirty="0">
                <a:solidFill>
                  <a:srgbClr val="001080"/>
                </a:solidFill>
                <a:latin typeface="Consolas" panose="020B0609020204030204" pitchFamily="49" charset="0"/>
              </a:rPr>
              <a:t>y</a:t>
            </a:r>
            <a:r>
              <a:rPr lang="vi-VN" sz="1400" dirty="0">
                <a:solidFill>
                  <a:srgbClr val="000000"/>
                </a:solidFill>
                <a:latin typeface="Consolas" panose="020B0609020204030204" pitchFamily="49" charset="0"/>
              </a:rPr>
              <a:t> = </a:t>
            </a:r>
            <a:r>
              <a:rPr lang="vi-VN" sz="1400" dirty="0" smtClean="0">
                <a:solidFill>
                  <a:srgbClr val="098658"/>
                </a:solidFill>
                <a:latin typeface="Consolas" panose="020B0609020204030204" pitchFamily="49" charset="0"/>
              </a:rPr>
              <a:t>2</a:t>
            </a:r>
            <a:r>
              <a:rPr lang="en-US" sz="1400" dirty="0" smtClean="0">
                <a:solidFill>
                  <a:srgbClr val="098658"/>
                </a:solidFill>
                <a:latin typeface="Consolas" panose="020B0609020204030204" pitchFamily="49" charset="0"/>
              </a:rPr>
              <a:t>00</a:t>
            </a:r>
            <a:r>
              <a:rPr lang="vi-VN" sz="1400" dirty="0" smtClean="0">
                <a:solidFill>
                  <a:srgbClr val="000000"/>
                </a:solidFill>
                <a:latin typeface="Consolas" panose="020B0609020204030204" pitchFamily="49" charset="0"/>
              </a:rPr>
              <a:t>;</a:t>
            </a:r>
            <a:endParaRPr lang="en-US" sz="1400" dirty="0" smtClean="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smtClean="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vi-VN" sz="1400" dirty="0">
                <a:solidFill>
                  <a:srgbClr val="0000FF"/>
                </a:solidFill>
                <a:latin typeface="Consolas" panose="020B0609020204030204" pitchFamily="49" charset="0"/>
              </a:rPr>
              <a:t>int</a:t>
            </a:r>
            <a:r>
              <a:rPr lang="vi-VN" sz="1400" dirty="0">
                <a:solidFill>
                  <a:srgbClr val="000000"/>
                </a:solidFill>
                <a:latin typeface="Consolas" panose="020B0609020204030204" pitchFamily="49" charset="0"/>
              </a:rPr>
              <a:t> </a:t>
            </a:r>
            <a:r>
              <a:rPr lang="vi-VN" sz="1400" dirty="0">
                <a:solidFill>
                  <a:srgbClr val="001080"/>
                </a:solidFill>
                <a:latin typeface="Consolas" panose="020B0609020204030204" pitchFamily="49" charset="0"/>
              </a:rPr>
              <a:t>x</a:t>
            </a:r>
            <a:r>
              <a:rPr lang="vi-VN" sz="1400" dirty="0">
                <a:solidFill>
                  <a:srgbClr val="000000"/>
                </a:solidFill>
                <a:latin typeface="Consolas" panose="020B0609020204030204" pitchFamily="49" charset="0"/>
              </a:rPr>
              <a:t> = </a:t>
            </a:r>
            <a:r>
              <a:rPr lang="vi-VN" sz="1400" dirty="0" smtClean="0">
                <a:solidFill>
                  <a:srgbClr val="098658"/>
                </a:solidFill>
                <a:latin typeface="Consolas" panose="020B0609020204030204" pitchFamily="49" charset="0"/>
              </a:rPr>
              <a:t>1</a:t>
            </a:r>
            <a:r>
              <a:rPr lang="en-US" sz="1400" dirty="0" smtClean="0">
                <a:solidFill>
                  <a:srgbClr val="098658"/>
                </a:solidFill>
                <a:latin typeface="Consolas" panose="020B0609020204030204" pitchFamily="49" charset="0"/>
              </a:rPr>
              <a:t>,</a:t>
            </a:r>
            <a:r>
              <a:rPr lang="vi-VN" sz="1400" dirty="0">
                <a:solidFill>
                  <a:srgbClr val="000000"/>
                </a:solidFill>
                <a:latin typeface="Consolas" panose="020B0609020204030204" pitchFamily="49" charset="0"/>
              </a:rPr>
              <a:t> </a:t>
            </a:r>
            <a:r>
              <a:rPr lang="vi-VN" sz="1400" dirty="0">
                <a:solidFill>
                  <a:srgbClr val="001080"/>
                </a:solidFill>
                <a:latin typeface="Consolas" panose="020B0609020204030204" pitchFamily="49" charset="0"/>
              </a:rPr>
              <a:t>y</a:t>
            </a:r>
            <a:r>
              <a:rPr lang="vi-VN" sz="1400" dirty="0">
                <a:solidFill>
                  <a:srgbClr val="000000"/>
                </a:solidFill>
                <a:latin typeface="Consolas" panose="020B0609020204030204" pitchFamily="49" charset="0"/>
              </a:rPr>
              <a:t> = </a:t>
            </a:r>
            <a:r>
              <a:rPr lang="vi-VN" sz="1400" dirty="0" smtClean="0">
                <a:solidFill>
                  <a:srgbClr val="098658"/>
                </a:solidFill>
                <a:latin typeface="Consolas" panose="020B0609020204030204" pitchFamily="49" charset="0"/>
              </a:rPr>
              <a:t>2</a:t>
            </a:r>
            <a:r>
              <a:rPr lang="vi-VN" sz="1400" dirty="0" smtClean="0">
                <a:solidFill>
                  <a:srgbClr val="000000"/>
                </a:solidFill>
                <a:latin typeface="Consolas" panose="020B0609020204030204" pitchFamily="49" charset="0"/>
              </a:rPr>
              <a:t>;</a:t>
            </a:r>
            <a:r>
              <a:rPr lang="vi-VN" sz="1400" dirty="0">
                <a:solidFill>
                  <a:srgbClr val="000000"/>
                </a:solidFill>
                <a:latin typeface="Consolas" panose="020B0609020204030204" pitchFamily="49" charset="0"/>
              </a:rPr>
              <a:t> </a:t>
            </a:r>
            <a:endParaRPr lang="en-US" sz="1400" dirty="0" smtClean="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r>
              <a:rPr lang="en-US" sz="1400" dirty="0" smtClean="0">
                <a:solidFill>
                  <a:srgbClr val="000000"/>
                </a:solidFill>
                <a:latin typeface="Consolas" panose="020B0609020204030204" pitchFamily="49" charset="0"/>
              </a:rPr>
              <a:t>   }</a:t>
            </a:r>
            <a:endParaRPr lang="vi-VN" sz="1400" dirty="0">
              <a:solidFill>
                <a:srgbClr val="000000"/>
              </a:solidFill>
              <a:latin typeface="Consolas" panose="020B0609020204030204" pitchFamily="49" charset="0"/>
            </a:endParaRPr>
          </a:p>
          <a:p>
            <a:r>
              <a:rPr lang="vi-VN" sz="1400" dirty="0">
                <a:solidFill>
                  <a:srgbClr val="000000"/>
                </a:solidFill>
                <a:latin typeface="Consolas" panose="020B0609020204030204" pitchFamily="49" charset="0"/>
              </a:rPr>
              <a:t>    </a:t>
            </a:r>
            <a:r>
              <a:rPr lang="vi-VN" sz="1400" dirty="0">
                <a:solidFill>
                  <a:srgbClr val="0000FF"/>
                </a:solidFill>
                <a:latin typeface="Consolas" panose="020B0609020204030204" pitchFamily="49" charset="0"/>
              </a:rPr>
              <a:t>int</a:t>
            </a:r>
            <a:r>
              <a:rPr lang="vi-VN" sz="1400" dirty="0">
                <a:solidFill>
                  <a:srgbClr val="000000"/>
                </a:solidFill>
                <a:latin typeface="Consolas" panose="020B0609020204030204" pitchFamily="49" charset="0"/>
              </a:rPr>
              <a:t> </a:t>
            </a:r>
            <a:r>
              <a:rPr lang="vi-VN" sz="1400" dirty="0">
                <a:solidFill>
                  <a:srgbClr val="001080"/>
                </a:solidFill>
                <a:latin typeface="Consolas" panose="020B0609020204030204" pitchFamily="49" charset="0"/>
              </a:rPr>
              <a:t>z</a:t>
            </a:r>
            <a:r>
              <a:rPr lang="vi-VN" sz="1400" dirty="0">
                <a:solidFill>
                  <a:srgbClr val="000000"/>
                </a:solidFill>
                <a:latin typeface="Consolas" panose="020B0609020204030204" pitchFamily="49" charset="0"/>
              </a:rPr>
              <a:t> = </a:t>
            </a:r>
            <a:r>
              <a:rPr lang="vi-VN" sz="1400" dirty="0" smtClean="0">
                <a:solidFill>
                  <a:srgbClr val="795E26"/>
                </a:solidFill>
                <a:latin typeface="Consolas" panose="020B0609020204030204" pitchFamily="49" charset="0"/>
              </a:rPr>
              <a:t>sum</a:t>
            </a:r>
            <a:r>
              <a:rPr lang="vi-VN" sz="1400" dirty="0" smtClean="0">
                <a:solidFill>
                  <a:srgbClr val="000000"/>
                </a:solidFill>
                <a:latin typeface="Consolas" panose="020B0609020204030204" pitchFamily="49" charset="0"/>
              </a:rPr>
              <a:t>(</a:t>
            </a:r>
            <a:r>
              <a:rPr lang="en-US" sz="1400" dirty="0" smtClean="0">
                <a:solidFill>
                  <a:srgbClr val="000000"/>
                </a:solidFill>
                <a:latin typeface="Consolas" panose="020B0609020204030204" pitchFamily="49" charset="0"/>
              </a:rPr>
              <a:t>x, y</a:t>
            </a:r>
            <a:r>
              <a:rPr lang="vi-VN" sz="1400" dirty="0" smtClean="0">
                <a:solidFill>
                  <a:srgbClr val="000000"/>
                </a:solidFill>
                <a:latin typeface="Consolas" panose="020B0609020204030204" pitchFamily="49" charset="0"/>
              </a:rPr>
              <a:t>);</a:t>
            </a:r>
            <a:r>
              <a:rPr lang="vi-VN" sz="1400" dirty="0">
                <a:solidFill>
                  <a:srgbClr val="000000"/>
                </a:solidFill>
                <a:latin typeface="Consolas" panose="020B0609020204030204" pitchFamily="49" charset="0"/>
              </a:rPr>
              <a:t>    </a:t>
            </a:r>
          </a:p>
          <a:p>
            <a:r>
              <a:rPr lang="vi-VN" sz="1400" dirty="0">
                <a:solidFill>
                  <a:srgbClr val="000000"/>
                </a:solidFill>
                <a:latin typeface="Consolas" panose="020B0609020204030204" pitchFamily="49" charset="0"/>
              </a:rPr>
              <a:t>    </a:t>
            </a:r>
            <a:r>
              <a:rPr lang="vi-VN" sz="1400" dirty="0">
                <a:solidFill>
                  <a:srgbClr val="AF00DB"/>
                </a:solidFill>
                <a:latin typeface="Consolas" panose="020B0609020204030204" pitchFamily="49" charset="0"/>
              </a:rPr>
              <a:t>return</a:t>
            </a:r>
            <a:r>
              <a:rPr lang="vi-VN" sz="1400" dirty="0">
                <a:solidFill>
                  <a:srgbClr val="000000"/>
                </a:solidFill>
                <a:latin typeface="Consolas" panose="020B0609020204030204" pitchFamily="49" charset="0"/>
              </a:rPr>
              <a:t> </a:t>
            </a:r>
            <a:r>
              <a:rPr lang="vi-VN" sz="1400" dirty="0">
                <a:solidFill>
                  <a:srgbClr val="098658"/>
                </a:solidFill>
                <a:latin typeface="Consolas" panose="020B0609020204030204" pitchFamily="49" charset="0"/>
              </a:rPr>
              <a:t>0</a:t>
            </a:r>
            <a:r>
              <a:rPr lang="vi-VN" sz="1400" dirty="0">
                <a:solidFill>
                  <a:srgbClr val="000000"/>
                </a:solidFill>
                <a:latin typeface="Consolas" panose="020B0609020204030204" pitchFamily="49" charset="0"/>
              </a:rPr>
              <a:t>;</a:t>
            </a:r>
          </a:p>
          <a:p>
            <a:r>
              <a:rPr lang="vi-VN" sz="1400" dirty="0">
                <a:solidFill>
                  <a:srgbClr val="000000"/>
                </a:solidFill>
                <a:latin typeface="Consolas" panose="020B0609020204030204" pitchFamily="49" charset="0"/>
              </a:rPr>
              <a:t>}</a:t>
            </a:r>
            <a:endParaRPr lang="vi-VN" sz="14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794049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C24317B-5122-4A99-A6E9-FA23C146A7E0}" type="slidenum">
              <a:rPr lang="en-US" smtClean="0"/>
              <a:pPr/>
              <a:t>21</a:t>
            </a:fld>
            <a:endParaRPr lang="en-US" dirty="0"/>
          </a:p>
        </p:txBody>
      </p:sp>
      <p:sp>
        <p:nvSpPr>
          <p:cNvPr id="2" name="Title 1"/>
          <p:cNvSpPr>
            <a:spLocks noGrp="1"/>
          </p:cNvSpPr>
          <p:nvPr>
            <p:ph type="title"/>
          </p:nvPr>
        </p:nvSpPr>
        <p:spPr/>
        <p:txBody>
          <a:bodyPr/>
          <a:lstStyle/>
          <a:p>
            <a:r>
              <a:rPr lang="en-US" smtClean="0"/>
              <a:t>Biến static</a:t>
            </a:r>
            <a:endParaRPr lang="en-US"/>
          </a:p>
        </p:txBody>
      </p:sp>
      <p:sp>
        <p:nvSpPr>
          <p:cNvPr id="3" name="Content Placeholder 2"/>
          <p:cNvSpPr>
            <a:spLocks noGrp="1"/>
          </p:cNvSpPr>
          <p:nvPr>
            <p:ph type="body" sz="quarter" idx="13"/>
          </p:nvPr>
        </p:nvSpPr>
        <p:spPr/>
        <p:txBody>
          <a:bodyPr/>
          <a:lstStyle/>
          <a:p>
            <a:r>
              <a:rPr lang="en-US" sz="2000" dirty="0" err="1" smtClean="0"/>
              <a:t>Là</a:t>
            </a:r>
            <a:r>
              <a:rPr lang="en-US" sz="2000" dirty="0" smtClean="0"/>
              <a:t> </a:t>
            </a:r>
            <a:r>
              <a:rPr lang="en-US" sz="2000" dirty="0" err="1" smtClean="0"/>
              <a:t>biến</a:t>
            </a:r>
            <a:r>
              <a:rPr lang="en-US" sz="2000" dirty="0" smtClean="0"/>
              <a:t> </a:t>
            </a:r>
            <a:r>
              <a:rPr lang="en-US" sz="2000" dirty="0" err="1" smtClean="0"/>
              <a:t>chỉ</a:t>
            </a:r>
            <a:r>
              <a:rPr lang="en-US" sz="2000" dirty="0" smtClean="0"/>
              <a:t> </a:t>
            </a:r>
            <a:r>
              <a:rPr lang="en-US" sz="2000" dirty="0" err="1" smtClean="0"/>
              <a:t>có</a:t>
            </a:r>
            <a:r>
              <a:rPr lang="en-US" sz="2000" dirty="0" smtClean="0"/>
              <a:t> </a:t>
            </a:r>
            <a:r>
              <a:rPr lang="en-US" sz="2000" dirty="0" err="1" smtClean="0"/>
              <a:t>phạm</a:t>
            </a:r>
            <a:r>
              <a:rPr lang="en-US" sz="2000" dirty="0" smtClean="0"/>
              <a:t> vi </a:t>
            </a:r>
            <a:r>
              <a:rPr lang="en-US" sz="2000" dirty="0" err="1" smtClean="0"/>
              <a:t>địa</a:t>
            </a:r>
            <a:r>
              <a:rPr lang="en-US" sz="2000" dirty="0" smtClean="0"/>
              <a:t> </a:t>
            </a:r>
            <a:r>
              <a:rPr lang="en-US" sz="2000" dirty="0" err="1" smtClean="0"/>
              <a:t>phương</a:t>
            </a:r>
            <a:r>
              <a:rPr lang="en-US" sz="2000" dirty="0" smtClean="0"/>
              <a:t> </a:t>
            </a:r>
            <a:r>
              <a:rPr lang="en-US" sz="2000" dirty="0" err="1" smtClean="0"/>
              <a:t>nhưng</a:t>
            </a:r>
            <a:r>
              <a:rPr lang="en-US" sz="2000" dirty="0" smtClean="0"/>
              <a:t> </a:t>
            </a:r>
            <a:r>
              <a:rPr lang="en-US" sz="2000" dirty="0" err="1" smtClean="0"/>
              <a:t>vẫn</a:t>
            </a:r>
            <a:r>
              <a:rPr lang="en-US" sz="2000" dirty="0" smtClean="0"/>
              <a:t> </a:t>
            </a:r>
            <a:r>
              <a:rPr lang="en-US" sz="2000" dirty="0" err="1" smtClean="0"/>
              <a:t>tồn</a:t>
            </a:r>
            <a:r>
              <a:rPr lang="en-US" sz="2000" dirty="0" smtClean="0"/>
              <a:t> </a:t>
            </a:r>
            <a:r>
              <a:rPr lang="en-US" sz="2000" dirty="0" err="1" smtClean="0"/>
              <a:t>tại</a:t>
            </a:r>
            <a:r>
              <a:rPr lang="en-US" sz="2000" dirty="0" smtClean="0"/>
              <a:t> </a:t>
            </a:r>
            <a:r>
              <a:rPr lang="en-US" sz="2000" dirty="0" err="1" smtClean="0"/>
              <a:t>ngay</a:t>
            </a:r>
            <a:r>
              <a:rPr lang="en-US" sz="2000" dirty="0" smtClean="0"/>
              <a:t> </a:t>
            </a:r>
            <a:r>
              <a:rPr lang="en-US" sz="2000" dirty="0" err="1" smtClean="0"/>
              <a:t>cả</a:t>
            </a:r>
            <a:r>
              <a:rPr lang="en-US" sz="2000" dirty="0" smtClean="0"/>
              <a:t> </a:t>
            </a:r>
            <a:r>
              <a:rPr lang="en-US" sz="2000" dirty="0" err="1" smtClean="0"/>
              <a:t>khi</a:t>
            </a:r>
            <a:r>
              <a:rPr lang="en-US" sz="2000" dirty="0" smtClean="0"/>
              <a:t> </a:t>
            </a:r>
            <a:r>
              <a:rPr lang="en-US" sz="2000" dirty="0" err="1" smtClean="0"/>
              <a:t>chưa</a:t>
            </a:r>
            <a:r>
              <a:rPr lang="en-US" sz="2000" dirty="0" smtClean="0"/>
              <a:t> </a:t>
            </a:r>
            <a:r>
              <a:rPr lang="en-US" sz="2000" dirty="0" err="1" smtClean="0"/>
              <a:t>vào</a:t>
            </a:r>
            <a:r>
              <a:rPr lang="en-US" sz="2000" dirty="0" smtClean="0"/>
              <a:t> </a:t>
            </a:r>
            <a:r>
              <a:rPr lang="en-US" sz="2000" dirty="0" err="1" smtClean="0"/>
              <a:t>hoặc</a:t>
            </a:r>
            <a:r>
              <a:rPr lang="en-US" sz="2000" dirty="0" smtClean="0"/>
              <a:t> </a:t>
            </a:r>
            <a:r>
              <a:rPr lang="en-US" sz="2000" dirty="0" err="1" smtClean="0"/>
              <a:t>đã</a:t>
            </a:r>
            <a:r>
              <a:rPr lang="en-US" sz="2000" dirty="0" smtClean="0"/>
              <a:t> </a:t>
            </a:r>
            <a:r>
              <a:rPr lang="en-US" sz="2000" dirty="0" err="1" smtClean="0"/>
              <a:t>thoát</a:t>
            </a:r>
            <a:r>
              <a:rPr lang="en-US" sz="2000" dirty="0" smtClean="0"/>
              <a:t> </a:t>
            </a:r>
            <a:r>
              <a:rPr lang="en-US" sz="2000" dirty="0" err="1" smtClean="0"/>
              <a:t>khỏi</a:t>
            </a:r>
            <a:r>
              <a:rPr lang="en-US" sz="2000" dirty="0" smtClean="0"/>
              <a:t> </a:t>
            </a:r>
            <a:r>
              <a:rPr lang="en-US" sz="2000" dirty="0" err="1" smtClean="0"/>
              <a:t>hàm</a:t>
            </a:r>
            <a:r>
              <a:rPr lang="en-US" sz="2000" dirty="0" smtClean="0"/>
              <a:t>/</a:t>
            </a:r>
            <a:r>
              <a:rPr lang="en-US" sz="2000" dirty="0" err="1" smtClean="0"/>
              <a:t>khối</a:t>
            </a:r>
            <a:endParaRPr lang="en-US" sz="2000" dirty="0" smtClean="0"/>
          </a:p>
          <a:p>
            <a:r>
              <a:rPr lang="en-US" sz="2000" dirty="0" err="1" smtClean="0"/>
              <a:t>Khai</a:t>
            </a:r>
            <a:r>
              <a:rPr lang="en-US" sz="2000" dirty="0" smtClean="0"/>
              <a:t> </a:t>
            </a:r>
            <a:r>
              <a:rPr lang="en-US" sz="2000" dirty="0" err="1" smtClean="0"/>
              <a:t>báo</a:t>
            </a:r>
            <a:r>
              <a:rPr lang="en-US" sz="2000" dirty="0" smtClean="0"/>
              <a:t> </a:t>
            </a:r>
            <a:r>
              <a:rPr lang="en-US" sz="2000" dirty="0" err="1" smtClean="0"/>
              <a:t>bằng</a:t>
            </a:r>
            <a:r>
              <a:rPr lang="en-US" sz="2000" dirty="0" smtClean="0"/>
              <a:t> </a:t>
            </a:r>
            <a:r>
              <a:rPr lang="en-US" sz="2000" dirty="0" err="1" smtClean="0"/>
              <a:t>cách</a:t>
            </a:r>
            <a:r>
              <a:rPr lang="en-US" sz="2000" dirty="0" smtClean="0"/>
              <a:t> </a:t>
            </a:r>
            <a:r>
              <a:rPr lang="en-US" sz="2000" dirty="0" err="1" smtClean="0"/>
              <a:t>thêm</a:t>
            </a:r>
            <a:r>
              <a:rPr lang="en-US" sz="2000" dirty="0" smtClean="0"/>
              <a:t> </a:t>
            </a:r>
            <a:r>
              <a:rPr lang="en-US" sz="2000" dirty="0" err="1" smtClean="0"/>
              <a:t>từ</a:t>
            </a:r>
            <a:r>
              <a:rPr lang="en-US" sz="2000" dirty="0" smtClean="0"/>
              <a:t> </a:t>
            </a:r>
            <a:r>
              <a:rPr lang="en-US" sz="2000" dirty="0" err="1" smtClean="0"/>
              <a:t>khoá</a:t>
            </a:r>
            <a:r>
              <a:rPr lang="en-US" sz="2000" dirty="0" smtClean="0"/>
              <a:t> static</a:t>
            </a:r>
          </a:p>
          <a:p>
            <a:pPr lvl="1">
              <a:spcBef>
                <a:spcPts val="0"/>
              </a:spcBef>
            </a:pPr>
            <a:r>
              <a:rPr lang="en-US" sz="1800" dirty="0" err="1" smtClean="0">
                <a:latin typeface="Courier New" pitchFamily="49" charset="0"/>
                <a:cs typeface="Courier New" pitchFamily="49" charset="0"/>
              </a:rPr>
              <a:t>int</a:t>
            </a:r>
            <a:r>
              <a:rPr lang="en-US" sz="1800" dirty="0" smtClean="0">
                <a:latin typeface="Courier New" pitchFamily="49" charset="0"/>
                <a:cs typeface="Courier New" pitchFamily="49" charset="0"/>
              </a:rPr>
              <a:t> </a:t>
            </a:r>
            <a:r>
              <a:rPr lang="en-US" sz="1800" dirty="0" err="1" smtClean="0">
                <a:latin typeface="Courier New" pitchFamily="49" charset="0"/>
                <a:cs typeface="Courier New" pitchFamily="49" charset="0"/>
              </a:rPr>
              <a:t>callCount</a:t>
            </a:r>
            <a:r>
              <a:rPr lang="en-US" sz="1800" dirty="0" smtClean="0">
                <a:latin typeface="Courier New" pitchFamily="49" charset="0"/>
                <a:cs typeface="Courier New" pitchFamily="49" charset="0"/>
              </a:rPr>
              <a:t>() {</a:t>
            </a:r>
          </a:p>
          <a:p>
            <a:pPr lvl="1" indent="366713">
              <a:spcBef>
                <a:spcPts val="0"/>
              </a:spcBef>
              <a:buNone/>
            </a:pPr>
            <a:r>
              <a:rPr lang="en-US" sz="1800" dirty="0" smtClean="0">
                <a:solidFill>
                  <a:srgbClr val="FF0000"/>
                </a:solidFill>
                <a:latin typeface="Courier New" pitchFamily="49" charset="0"/>
                <a:cs typeface="Courier New" pitchFamily="49" charset="0"/>
              </a:rPr>
              <a:t>static </a:t>
            </a:r>
            <a:r>
              <a:rPr lang="en-US" sz="1800" dirty="0" err="1" smtClean="0">
                <a:latin typeface="Courier New" pitchFamily="49" charset="0"/>
                <a:cs typeface="Courier New" pitchFamily="49" charset="0"/>
              </a:rPr>
              <a:t>int</a:t>
            </a:r>
            <a:r>
              <a:rPr lang="en-US" sz="1800" dirty="0" smtClean="0">
                <a:latin typeface="Courier New" pitchFamily="49" charset="0"/>
                <a:cs typeface="Courier New" pitchFamily="49" charset="0"/>
              </a:rPr>
              <a:t> count = 0;</a:t>
            </a:r>
          </a:p>
          <a:p>
            <a:pPr lvl="1" indent="366713">
              <a:spcBef>
                <a:spcPts val="0"/>
              </a:spcBef>
              <a:buNone/>
            </a:pPr>
            <a:r>
              <a:rPr lang="en-US" sz="1800" dirty="0" smtClean="0">
                <a:latin typeface="Courier New" pitchFamily="49" charset="0"/>
                <a:cs typeface="Courier New" pitchFamily="49" charset="0"/>
              </a:rPr>
              <a:t>count++;</a:t>
            </a:r>
          </a:p>
          <a:p>
            <a:pPr lvl="1" indent="366713">
              <a:spcBef>
                <a:spcPts val="0"/>
              </a:spcBef>
              <a:buNone/>
            </a:pPr>
            <a:r>
              <a:rPr lang="en-US" sz="1800" dirty="0" smtClean="0">
                <a:latin typeface="Courier New" pitchFamily="49" charset="0"/>
                <a:cs typeface="Courier New" pitchFamily="49" charset="0"/>
              </a:rPr>
              <a:t>return count;</a:t>
            </a:r>
          </a:p>
          <a:p>
            <a:pPr lvl="1" indent="25400">
              <a:spcBef>
                <a:spcPts val="0"/>
              </a:spcBef>
              <a:buNone/>
            </a:pPr>
            <a:r>
              <a:rPr lang="en-US" sz="1800" dirty="0" smtClean="0">
                <a:latin typeface="Courier New" pitchFamily="49" charset="0"/>
                <a:cs typeface="Courier New" pitchFamily="49" charset="0"/>
              </a:rPr>
              <a:t>}</a:t>
            </a:r>
          </a:p>
          <a:p>
            <a:r>
              <a:rPr lang="en-US" sz="2000" dirty="0" err="1" smtClean="0"/>
              <a:t>Biến</a:t>
            </a:r>
            <a:r>
              <a:rPr lang="en-US" sz="2000" dirty="0" smtClean="0"/>
              <a:t> static </a:t>
            </a:r>
            <a:r>
              <a:rPr lang="en-US" sz="2000" dirty="0" err="1" smtClean="0"/>
              <a:t>chỉ</a:t>
            </a:r>
            <a:r>
              <a:rPr lang="en-US" sz="2000" dirty="0" smtClean="0"/>
              <a:t> </a:t>
            </a:r>
            <a:r>
              <a:rPr lang="en-US" sz="2000" dirty="0" err="1" smtClean="0"/>
              <a:t>được</a:t>
            </a:r>
            <a:r>
              <a:rPr lang="en-US" sz="2000" dirty="0" smtClean="0"/>
              <a:t> </a:t>
            </a:r>
            <a:r>
              <a:rPr lang="en-US" sz="2000" dirty="0" err="1" smtClean="0"/>
              <a:t>khởi</a:t>
            </a:r>
            <a:r>
              <a:rPr lang="en-US" sz="2000" dirty="0" smtClean="0"/>
              <a:t> </a:t>
            </a:r>
            <a:r>
              <a:rPr lang="en-US" sz="2000" dirty="0" err="1" smtClean="0"/>
              <a:t>tạo</a:t>
            </a:r>
            <a:r>
              <a:rPr lang="en-US" sz="2000" dirty="0" smtClean="0"/>
              <a:t> 1 </a:t>
            </a:r>
            <a:r>
              <a:rPr lang="en-US" sz="2000" dirty="0" err="1" smtClean="0"/>
              <a:t>lần</a:t>
            </a:r>
            <a:r>
              <a:rPr lang="en-US" sz="2000" dirty="0" smtClean="0"/>
              <a:t>. </a:t>
            </a:r>
            <a:r>
              <a:rPr lang="en-US" sz="2000" dirty="0" err="1" smtClean="0"/>
              <a:t>Nếu</a:t>
            </a:r>
            <a:r>
              <a:rPr lang="en-US" sz="2000" dirty="0" smtClean="0"/>
              <a:t> </a:t>
            </a:r>
            <a:r>
              <a:rPr lang="en-US" sz="2000" dirty="0" err="1" smtClean="0"/>
              <a:t>không</a:t>
            </a:r>
            <a:r>
              <a:rPr lang="en-US" sz="2000" dirty="0" smtClean="0"/>
              <a:t> </a:t>
            </a:r>
            <a:r>
              <a:rPr lang="en-US" sz="2000" dirty="0" err="1" smtClean="0"/>
              <a:t>khởi</a:t>
            </a:r>
            <a:r>
              <a:rPr lang="en-US" sz="2000" dirty="0" smtClean="0"/>
              <a:t> </a:t>
            </a:r>
            <a:r>
              <a:rPr lang="en-US" sz="2000" dirty="0" err="1" smtClean="0"/>
              <a:t>tạo</a:t>
            </a:r>
            <a:r>
              <a:rPr lang="en-US" sz="2000" dirty="0" smtClean="0"/>
              <a:t>, </a:t>
            </a:r>
            <a:r>
              <a:rPr lang="en-US" sz="2000" dirty="0" err="1" smtClean="0"/>
              <a:t>tự</a:t>
            </a:r>
            <a:r>
              <a:rPr lang="en-US" sz="2000" dirty="0" smtClean="0"/>
              <a:t> </a:t>
            </a:r>
            <a:r>
              <a:rPr lang="en-US" sz="2000" dirty="0" err="1" smtClean="0"/>
              <a:t>gán</a:t>
            </a:r>
            <a:r>
              <a:rPr lang="en-US" sz="2000" dirty="0" smtClean="0"/>
              <a:t> =0</a:t>
            </a:r>
          </a:p>
          <a:p>
            <a:r>
              <a:rPr lang="en-US" sz="2000" dirty="0" err="1" smtClean="0"/>
              <a:t>Cũng</a:t>
            </a:r>
            <a:r>
              <a:rPr lang="en-US" sz="2000" dirty="0" smtClean="0"/>
              <a:t> </a:t>
            </a:r>
            <a:r>
              <a:rPr lang="en-US" sz="2000" dirty="0" err="1" smtClean="0"/>
              <a:t>có</a:t>
            </a:r>
            <a:r>
              <a:rPr lang="en-US" sz="2000" dirty="0" smtClean="0"/>
              <a:t> </a:t>
            </a:r>
            <a:r>
              <a:rPr lang="en-US" sz="2000" dirty="0" err="1" smtClean="0"/>
              <a:t>biến</a:t>
            </a:r>
            <a:r>
              <a:rPr lang="en-US" sz="2000" dirty="0" smtClean="0"/>
              <a:t> static </a:t>
            </a:r>
            <a:r>
              <a:rPr lang="en-US" sz="2000" dirty="0" err="1" smtClean="0"/>
              <a:t>toàn</a:t>
            </a:r>
            <a:r>
              <a:rPr lang="en-US" sz="2000" dirty="0" smtClean="0"/>
              <a:t> </a:t>
            </a:r>
            <a:r>
              <a:rPr lang="en-US" sz="2000" dirty="0" err="1" smtClean="0"/>
              <a:t>cục</a:t>
            </a:r>
            <a:r>
              <a:rPr lang="en-US" sz="2000" dirty="0" smtClean="0"/>
              <a:t>: </a:t>
            </a:r>
            <a:r>
              <a:rPr lang="en-US" sz="2000" dirty="0" err="1" smtClean="0"/>
              <a:t>thuộc</a:t>
            </a:r>
            <a:r>
              <a:rPr lang="en-US" sz="2000" dirty="0" smtClean="0"/>
              <a:t> </a:t>
            </a:r>
            <a:r>
              <a:rPr lang="en-US" sz="2000" dirty="0" err="1" smtClean="0"/>
              <a:t>nội</a:t>
            </a:r>
            <a:r>
              <a:rPr lang="en-US" sz="2000" dirty="0" smtClean="0"/>
              <a:t> </a:t>
            </a:r>
            <a:r>
              <a:rPr lang="en-US" sz="2000" dirty="0" err="1" smtClean="0"/>
              <a:t>bộ</a:t>
            </a:r>
            <a:r>
              <a:rPr lang="en-US" sz="2000" dirty="0" smtClean="0"/>
              <a:t> </a:t>
            </a:r>
            <a:r>
              <a:rPr lang="en-US" sz="2000" dirty="0" err="1" smtClean="0"/>
              <a:t>của</a:t>
            </a:r>
            <a:r>
              <a:rPr lang="en-US" sz="2000" dirty="0" smtClean="0"/>
              <a:t> </a:t>
            </a:r>
            <a:r>
              <a:rPr lang="en-US" sz="2000" dirty="0" err="1" smtClean="0"/>
              <a:t>một</a:t>
            </a:r>
            <a:r>
              <a:rPr lang="en-US" sz="2000" dirty="0" smtClean="0"/>
              <a:t> file </a:t>
            </a:r>
            <a:r>
              <a:rPr lang="en-US" sz="2000" dirty="0" err="1" smtClean="0"/>
              <a:t>nguồn</a:t>
            </a:r>
            <a:endParaRPr lang="en-US" sz="2000" dirty="0" smtClean="0"/>
          </a:p>
          <a:p>
            <a:pPr lvl="1">
              <a:spcBef>
                <a:spcPts val="0"/>
              </a:spcBef>
            </a:pPr>
            <a:r>
              <a:rPr lang="en-US" sz="1800" dirty="0">
                <a:solidFill>
                  <a:srgbClr val="FF0000"/>
                </a:solidFill>
                <a:latin typeface="Courier New" pitchFamily="49" charset="0"/>
                <a:cs typeface="Courier New" pitchFamily="49" charset="0"/>
              </a:rPr>
              <a:t>static </a:t>
            </a:r>
            <a:r>
              <a:rPr lang="en-US" sz="1800" dirty="0" err="1">
                <a:latin typeface="Courier New" pitchFamily="49" charset="0"/>
                <a:cs typeface="Courier New" pitchFamily="49" charset="0"/>
              </a:rPr>
              <a:t>int</a:t>
            </a:r>
            <a:r>
              <a:rPr lang="en-US" sz="1800" dirty="0">
                <a:latin typeface="Courier New" pitchFamily="49" charset="0"/>
                <a:cs typeface="Courier New" pitchFamily="49" charset="0"/>
              </a:rPr>
              <a:t> </a:t>
            </a:r>
            <a:r>
              <a:rPr lang="en-US" sz="1800" dirty="0" err="1">
                <a:latin typeface="Courier New" pitchFamily="49" charset="0"/>
                <a:cs typeface="Courier New" pitchFamily="49" charset="0"/>
              </a:rPr>
              <a:t>tic_time</a:t>
            </a:r>
            <a:r>
              <a:rPr lang="en-US" sz="1800" dirty="0">
                <a:latin typeface="Courier New" pitchFamily="49" charset="0"/>
                <a:cs typeface="Courier New" pitchFamily="49" charset="0"/>
              </a:rPr>
              <a:t> = 0;</a:t>
            </a:r>
          </a:p>
          <a:p>
            <a:pPr lvl="1" indent="25400">
              <a:spcBef>
                <a:spcPts val="0"/>
              </a:spcBef>
              <a:buNone/>
            </a:pPr>
            <a:r>
              <a:rPr lang="en-US" sz="1800" dirty="0">
                <a:latin typeface="Courier New" pitchFamily="49" charset="0"/>
                <a:cs typeface="Courier New" pitchFamily="49" charset="0"/>
              </a:rPr>
              <a:t>void tic() {</a:t>
            </a:r>
          </a:p>
          <a:p>
            <a:pPr lvl="1" indent="366713">
              <a:spcBef>
                <a:spcPts val="0"/>
              </a:spcBef>
              <a:buNone/>
            </a:pPr>
            <a:r>
              <a:rPr lang="en-US" sz="1800" dirty="0" err="1">
                <a:latin typeface="Courier New" pitchFamily="49" charset="0"/>
                <a:cs typeface="Courier New" pitchFamily="49" charset="0"/>
              </a:rPr>
              <a:t>tic_time</a:t>
            </a:r>
            <a:r>
              <a:rPr lang="en-US" sz="1800" dirty="0">
                <a:latin typeface="Courier New" pitchFamily="49" charset="0"/>
                <a:cs typeface="Courier New" pitchFamily="49" charset="0"/>
              </a:rPr>
              <a:t> = clock();</a:t>
            </a:r>
          </a:p>
          <a:p>
            <a:pPr lvl="1" indent="25400">
              <a:spcBef>
                <a:spcPts val="0"/>
              </a:spcBef>
              <a:buNone/>
            </a:pPr>
            <a:r>
              <a:rPr lang="en-US" sz="1800" dirty="0">
                <a:latin typeface="Courier New" pitchFamily="49" charset="0"/>
                <a:cs typeface="Courier New" pitchFamily="49" charset="0"/>
              </a:rPr>
              <a:t>}</a:t>
            </a:r>
          </a:p>
          <a:p>
            <a:pPr lvl="1" indent="25400">
              <a:spcBef>
                <a:spcPts val="0"/>
              </a:spcBef>
              <a:buNone/>
            </a:pPr>
            <a:r>
              <a:rPr lang="en-US" sz="1800" dirty="0" err="1">
                <a:latin typeface="Courier New" pitchFamily="49" charset="0"/>
                <a:cs typeface="Courier New" pitchFamily="49" charset="0"/>
              </a:rPr>
              <a:t>int</a:t>
            </a:r>
            <a:r>
              <a:rPr lang="en-US" sz="1800" dirty="0">
                <a:latin typeface="Courier New" pitchFamily="49" charset="0"/>
                <a:cs typeface="Courier New" pitchFamily="49" charset="0"/>
              </a:rPr>
              <a:t> toc() {</a:t>
            </a:r>
          </a:p>
          <a:p>
            <a:pPr lvl="1" indent="366713">
              <a:spcBef>
                <a:spcPts val="0"/>
              </a:spcBef>
              <a:buNone/>
            </a:pPr>
            <a:r>
              <a:rPr lang="en-US" sz="1800" dirty="0">
                <a:latin typeface="Courier New" pitchFamily="49" charset="0"/>
                <a:cs typeface="Courier New" pitchFamily="49" charset="0"/>
              </a:rPr>
              <a:t>return clock() - </a:t>
            </a:r>
            <a:r>
              <a:rPr lang="en-US" sz="1800" dirty="0" err="1">
                <a:latin typeface="Courier New" pitchFamily="49" charset="0"/>
                <a:cs typeface="Courier New" pitchFamily="49" charset="0"/>
              </a:rPr>
              <a:t>tic_time</a:t>
            </a:r>
            <a:r>
              <a:rPr lang="en-US" sz="1800" dirty="0">
                <a:latin typeface="Courier New" pitchFamily="49" charset="0"/>
                <a:cs typeface="Courier New" pitchFamily="49" charset="0"/>
              </a:rPr>
              <a:t>;</a:t>
            </a:r>
          </a:p>
          <a:p>
            <a:pPr lvl="1" indent="25400">
              <a:spcBef>
                <a:spcPts val="0"/>
              </a:spcBef>
              <a:buNone/>
            </a:pPr>
            <a:r>
              <a:rPr lang="en-US" sz="1800" dirty="0" smtClean="0">
                <a:latin typeface="Courier New" pitchFamily="49" charset="0"/>
                <a:cs typeface="Courier New" pitchFamily="49" charset="0"/>
              </a:rPr>
              <a:t>}</a:t>
            </a:r>
            <a:endParaRPr lang="en-US" sz="1800" dirty="0">
              <a:latin typeface="Courier New" pitchFamily="49" charset="0"/>
              <a:cs typeface="Courier New" pitchFamily="49" charset="0"/>
            </a:endParaRPr>
          </a:p>
        </p:txBody>
      </p:sp>
    </p:spTree>
    <p:extLst>
      <p:ext uri="{BB962C8B-B14F-4D97-AF65-F5344CB8AC3E}">
        <p14:creationId xmlns:p14="http://schemas.microsoft.com/office/powerpoint/2010/main" val="220350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4" end="14"/>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BC24317B-5122-4A99-A6E9-FA23C146A7E0}" type="slidenum">
              <a:rPr lang="en-US" smtClean="0"/>
              <a:pPr/>
              <a:t>22</a:t>
            </a:fld>
            <a:endParaRPr lang="en-US"/>
          </a:p>
        </p:txBody>
      </p:sp>
      <p:sp>
        <p:nvSpPr>
          <p:cNvPr id="3" name="Title 2"/>
          <p:cNvSpPr>
            <a:spLocks noGrp="1"/>
          </p:cNvSpPr>
          <p:nvPr>
            <p:ph type="title"/>
          </p:nvPr>
        </p:nvSpPr>
        <p:spPr/>
        <p:txBody>
          <a:bodyPr/>
          <a:lstStyle/>
          <a:p>
            <a:endParaRPr lang="en-US"/>
          </a:p>
        </p:txBody>
      </p:sp>
      <p:sp>
        <p:nvSpPr>
          <p:cNvPr id="4" name="Text Placeholder 3"/>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4155427066"/>
      </p:ext>
    </p:extLst>
  </p:cSld>
  <p:clrMapOvr>
    <a:masterClrMapping/>
  </p:clrMapOvr>
  <p:timing>
    <p:tnLst>
      <p:par>
        <p:cTn id="1" dur="indefinite" restart="never" nodeType="tmRoot"/>
      </p:par>
    </p:tnLst>
  </p:timing>
</p:sld>
</file>

<file path=ppt/theme/theme1.xml><?xml version="1.0" encoding="utf-8"?>
<a:theme xmlns:a="http://schemas.openxmlformats.org/drawingml/2006/main" name="7. SL - Mẫu slides bài giảng_HUST PPT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7. SL - Mẫu slides bài giảng_HUST PPT Template.pptx" id="{45510D97-992C-451E-ADEA-BBABC4EFA76A}" vid="{3E3F4600-7126-4670-8CD5-2C2CB12BC9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7. SL - Mẫu slides bài giảng_HUST PPT Template</Template>
  <TotalTime>13029</TotalTime>
  <Words>2174</Words>
  <Application>Microsoft Office PowerPoint</Application>
  <PresentationFormat>On-screen Show (4:3)</PresentationFormat>
  <Paragraphs>424</Paragraphs>
  <Slides>22</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Calibri</vt:lpstr>
      <vt:lpstr>Calibri Light</vt:lpstr>
      <vt:lpstr>Consolas</vt:lpstr>
      <vt:lpstr>Courier New</vt:lpstr>
      <vt:lpstr>Lato</vt:lpstr>
      <vt:lpstr>Trebuchet MS</vt:lpstr>
      <vt:lpstr>Wingdings</vt:lpstr>
      <vt:lpstr>7. SL - Mẫu slides bài giảng_HUST PPT Template</vt:lpstr>
      <vt:lpstr>Ôn lại NNLT</vt:lpstr>
      <vt:lpstr>Biến (variable), kiểu (type), giá trị (value)</vt:lpstr>
      <vt:lpstr>Các kiểu dữ liệu cơ bản</vt:lpstr>
      <vt:lpstr>Các kiểu dữ liệu cơ bản</vt:lpstr>
      <vt:lpstr>Kiểu dữ liệu phức</vt:lpstr>
      <vt:lpstr>Câu lệnh</vt:lpstr>
      <vt:lpstr>Câu lệnh</vt:lpstr>
      <vt:lpstr>Con trỏ</vt:lpstr>
      <vt:lpstr>Con trỏ</vt:lpstr>
      <vt:lpstr>Các phép toán với con trỏ</vt:lpstr>
      <vt:lpstr>Con trỏ void *</vt:lpstr>
      <vt:lpstr>Hằng con trỏ, con trỏ tới hằng</vt:lpstr>
      <vt:lpstr>Con trỏ NULL</vt:lpstr>
      <vt:lpstr>Cấp phát bộ nhớ động (Dynamic Memory Allocation)</vt:lpstr>
      <vt:lpstr>Hàm</vt:lpstr>
      <vt:lpstr>Hàm</vt:lpstr>
      <vt:lpstr>Tham số kiểu giá trị và kiểu con trỏ (tham chiếu)</vt:lpstr>
      <vt:lpstr>Tham số kiểu giá trị và kiểu con trỏ (tham chiếu)</vt:lpstr>
      <vt:lpstr>Ví dụ</vt:lpstr>
      <vt:lpstr>Phạm vi của biến, hằng</vt:lpstr>
      <vt:lpstr>Biến static</vt:lpstr>
      <vt:lpstr>PowerPoint Presentation</vt:lpstr>
    </vt:vector>
  </TitlesOfParts>
  <Company>Utility Muffin Research Kitchen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Dao Trung Kien</dc:creator>
  <cp:lastModifiedBy>Do Thi Ngoc Diep</cp:lastModifiedBy>
  <cp:revision>922</cp:revision>
  <cp:lastPrinted>2018-09-17T07:06:50Z</cp:lastPrinted>
  <dcterms:created xsi:type="dcterms:W3CDTF">2007-06-13T23:23:09Z</dcterms:created>
  <dcterms:modified xsi:type="dcterms:W3CDTF">2024-03-01T02:40:03Z</dcterms:modified>
</cp:coreProperties>
</file>