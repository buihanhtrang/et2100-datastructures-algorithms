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7" r:id="rId1"/>
  </p:sldMasterIdLst>
  <p:notesMasterIdLst>
    <p:notesMasterId r:id="rId45"/>
  </p:notesMasterIdLst>
  <p:handoutMasterIdLst>
    <p:handoutMasterId r:id="rId46"/>
  </p:handoutMasterIdLst>
  <p:sldIdLst>
    <p:sldId id="297" r:id="rId2"/>
    <p:sldId id="256" r:id="rId3"/>
    <p:sldId id="335" r:id="rId4"/>
    <p:sldId id="375" r:id="rId5"/>
    <p:sldId id="356" r:id="rId6"/>
    <p:sldId id="357" r:id="rId7"/>
    <p:sldId id="358" r:id="rId8"/>
    <p:sldId id="359" r:id="rId9"/>
    <p:sldId id="360" r:id="rId10"/>
    <p:sldId id="376" r:id="rId11"/>
    <p:sldId id="377" r:id="rId12"/>
    <p:sldId id="378" r:id="rId13"/>
    <p:sldId id="379" r:id="rId14"/>
    <p:sldId id="380" r:id="rId15"/>
    <p:sldId id="381" r:id="rId16"/>
    <p:sldId id="361" r:id="rId17"/>
    <p:sldId id="362" r:id="rId18"/>
    <p:sldId id="363" r:id="rId19"/>
    <p:sldId id="412" r:id="rId20"/>
    <p:sldId id="398" r:id="rId21"/>
    <p:sldId id="408" r:id="rId22"/>
    <p:sldId id="364" r:id="rId23"/>
    <p:sldId id="365" r:id="rId24"/>
    <p:sldId id="406" r:id="rId25"/>
    <p:sldId id="400" r:id="rId26"/>
    <p:sldId id="409" r:id="rId27"/>
    <p:sldId id="405" r:id="rId28"/>
    <p:sldId id="410" r:id="rId29"/>
    <p:sldId id="423" r:id="rId30"/>
    <p:sldId id="411" r:id="rId31"/>
    <p:sldId id="419" r:id="rId32"/>
    <p:sldId id="421" r:id="rId33"/>
    <p:sldId id="422" r:id="rId34"/>
    <p:sldId id="384" r:id="rId35"/>
    <p:sldId id="370" r:id="rId36"/>
    <p:sldId id="424" r:id="rId37"/>
    <p:sldId id="426" r:id="rId38"/>
    <p:sldId id="427" r:id="rId39"/>
    <p:sldId id="428" r:id="rId40"/>
    <p:sldId id="429" r:id="rId41"/>
    <p:sldId id="430" r:id="rId42"/>
    <p:sldId id="431" r:id="rId43"/>
    <p:sldId id="425" r:id="rId44"/>
  </p:sldIdLst>
  <p:sldSz cx="9144000" cy="6858000" type="screen4x3"/>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66"/>
    <a:srgbClr val="00004C"/>
    <a:srgbClr val="003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C00C9D-0BF0-4A9E-9B79-9B5BEB6E09CB}" v="4" dt="2025-10-15T04:11:59.4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4" autoAdjust="0"/>
    <p:restoredTop sz="73333" autoAdjust="0"/>
  </p:normalViewPr>
  <p:slideViewPr>
    <p:cSldViewPr>
      <p:cViewPr varScale="1">
        <p:scale>
          <a:sx n="52" d="100"/>
          <a:sy n="52" d="100"/>
        </p:scale>
        <p:origin x="1605" y="30"/>
      </p:cViewPr>
      <p:guideLst>
        <p:guide orient="horz" pos="2160"/>
        <p:guide pos="2880"/>
      </p:guideLst>
    </p:cSldViewPr>
  </p:slideViewPr>
  <p:notesTextViewPr>
    <p:cViewPr>
      <p:scale>
        <a:sx n="125" d="100"/>
        <a:sy n="125" d="100"/>
      </p:scale>
      <p:origin x="0" y="0"/>
    </p:cViewPr>
  </p:notesTextViewPr>
  <p:notesViewPr>
    <p:cSldViewPr>
      <p:cViewPr varScale="1">
        <p:scale>
          <a:sx n="67" d="100"/>
          <a:sy n="67" d="100"/>
        </p:scale>
        <p:origin x="-2784" y="-96"/>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ười dùng Khách" providerId="Windows Live" clId="Web-{B3C00C9D-0BF0-4A9E-9B79-9B5BEB6E09CB}"/>
    <pc:docChg chg="modSld">
      <pc:chgData name="Người dùng Khách" userId="" providerId="Windows Live" clId="Web-{B3C00C9D-0BF0-4A9E-9B79-9B5BEB6E09CB}" dt="2025-10-15T04:11:59.433" v="3" actId="1076"/>
      <pc:docMkLst>
        <pc:docMk/>
      </pc:docMkLst>
      <pc:sldChg chg="modSp">
        <pc:chgData name="Người dùng Khách" userId="" providerId="Windows Live" clId="Web-{B3C00C9D-0BF0-4A9E-9B79-9B5BEB6E09CB}" dt="2025-10-15T04:11:59.433" v="3" actId="1076"/>
        <pc:sldMkLst>
          <pc:docMk/>
          <pc:sldMk cId="213804804" sldId="423"/>
        </pc:sldMkLst>
        <pc:spChg chg="mod">
          <ac:chgData name="Người dùng Khách" userId="" providerId="Windows Live" clId="Web-{B3C00C9D-0BF0-4A9E-9B79-9B5BEB6E09CB}" dt="2025-10-15T04:11:59.417" v="2" actId="1076"/>
          <ac:spMkLst>
            <pc:docMk/>
            <pc:sldMk cId="213804804" sldId="423"/>
            <ac:spMk id="17" creationId="{00000000-0000-0000-0000-000000000000}"/>
          </ac:spMkLst>
        </pc:spChg>
        <pc:picChg chg="mod">
          <ac:chgData name="Người dùng Khách" userId="" providerId="Windows Live" clId="Web-{B3C00C9D-0BF0-4A9E-9B79-9B5BEB6E09CB}" dt="2025-10-15T04:11:59.417" v="1" actId="1076"/>
          <ac:picMkLst>
            <pc:docMk/>
            <pc:sldMk cId="213804804" sldId="423"/>
            <ac:picMk id="11" creationId="{00000000-0000-0000-0000-000000000000}"/>
          </ac:picMkLst>
        </pc:picChg>
        <pc:picChg chg="mod">
          <ac:chgData name="Người dùng Khách" userId="" providerId="Windows Live" clId="Web-{B3C00C9D-0BF0-4A9E-9B79-9B5BEB6E09CB}" dt="2025-10-15T04:11:59.433" v="3" actId="1076"/>
          <ac:picMkLst>
            <pc:docMk/>
            <pc:sldMk cId="213804804" sldId="423"/>
            <ac:picMk id="19" creationId="{00000000-0000-0000-0000-000000000000}"/>
          </ac:picMkLst>
        </pc:picChg>
      </pc:sldChg>
    </pc:docChg>
  </pc:docChgLst>
  <pc:docChgLst>
    <pc:chgData name="Hai Hai" userId="0a4b3da92c65de21" providerId="LiveId" clId="{E4E10A87-320C-47E3-940C-4AECEDEE5FB7}"/>
    <pc:docChg chg="modSld">
      <pc:chgData name="Hai Hai" userId="0a4b3da92c65de21" providerId="LiveId" clId="{E4E10A87-320C-47E3-940C-4AECEDEE5FB7}" dt="2025-09-24T05:04:53.665" v="100" actId="20577"/>
      <pc:docMkLst>
        <pc:docMk/>
      </pc:docMkLst>
      <pc:sldChg chg="modSp mod">
        <pc:chgData name="Hai Hai" userId="0a4b3da92c65de21" providerId="LiveId" clId="{E4E10A87-320C-47E3-940C-4AECEDEE5FB7}" dt="2025-09-24T05:04:53.665" v="100" actId="20577"/>
        <pc:sldMkLst>
          <pc:docMk/>
          <pc:sldMk cId="0" sldId="256"/>
        </pc:sldMkLst>
        <pc:spChg chg="mod">
          <ac:chgData name="Hai Hai" userId="0a4b3da92c65de21" providerId="LiveId" clId="{E4E10A87-320C-47E3-940C-4AECEDEE5FB7}" dt="2025-09-24T05:04:34.691" v="63" actId="1037"/>
          <ac:spMkLst>
            <pc:docMk/>
            <pc:sldMk cId="0" sldId="256"/>
            <ac:spMk id="2" creationId="{00000000-0000-0000-0000-000000000000}"/>
          </ac:spMkLst>
        </pc:spChg>
        <pc:spChg chg="mod">
          <ac:chgData name="Hai Hai" userId="0a4b3da92c65de21" providerId="LiveId" clId="{E4E10A87-320C-47E3-940C-4AECEDEE5FB7}" dt="2025-09-24T05:04:53.665" v="100" actId="20577"/>
          <ac:spMkLst>
            <pc:docMk/>
            <pc:sldMk cId="0" sldId="256"/>
            <ac:spMk id="3" creationId="{A4ACF486-B7D8-4A5A-B633-83527A2F99E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2111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076363" cy="511731"/>
          </a:xfrm>
          <a:prstGeom prst="rect">
            <a:avLst/>
          </a:prstGeom>
        </p:spPr>
        <p:txBody>
          <a:bodyPr vert="horz" wrap="square" lIns="96661" tIns="48331" rIns="96661" bIns="48331" numCol="1" anchor="t" anchorCtr="0" compatLnSpc="1">
            <a:prstTxWarp prst="textNoShape">
              <a:avLst/>
            </a:prstTxWarp>
          </a:bodyPr>
          <a:lstStyle>
            <a:lvl1pPr>
              <a:defRPr sz="1300">
                <a:latin typeface="Calibri" pitchFamily="34" charset="0"/>
              </a:defRPr>
            </a:lvl1pPr>
          </a:lstStyle>
          <a:p>
            <a:endParaRPr lang="en-US"/>
          </a:p>
        </p:txBody>
      </p:sp>
      <p:sp>
        <p:nvSpPr>
          <p:cNvPr id="3" name="Date Placeholder 2"/>
          <p:cNvSpPr>
            <a:spLocks noGrp="1"/>
          </p:cNvSpPr>
          <p:nvPr>
            <p:ph type="dt" idx="1"/>
          </p:nvPr>
        </p:nvSpPr>
        <p:spPr>
          <a:xfrm>
            <a:off x="4021296" y="2"/>
            <a:ext cx="3076363" cy="511731"/>
          </a:xfrm>
          <a:prstGeom prst="rect">
            <a:avLst/>
          </a:prstGeom>
        </p:spPr>
        <p:txBody>
          <a:bodyPr vert="horz" wrap="square" lIns="96661" tIns="48331" rIns="96661" bIns="48331" numCol="1" anchor="t" anchorCtr="0" compatLnSpc="1">
            <a:prstTxWarp prst="textNoShape">
              <a:avLst/>
            </a:prstTxWarp>
          </a:bodyPr>
          <a:lstStyle>
            <a:lvl1pPr algn="r">
              <a:defRPr sz="1300">
                <a:latin typeface="Calibri" pitchFamily="34" charset="0"/>
              </a:defRPr>
            </a:lvl1pPr>
          </a:lstStyle>
          <a:p>
            <a:fld id="{5EDDA0F7-BB27-45D6-A5CE-AEC59009A5B9}" type="datetimeFigureOut">
              <a:rPr lang="en-US"/>
              <a:pPr/>
              <a:t>10/14/2025</a:t>
            </a:fld>
            <a:endParaRPr lang="en-US"/>
          </a:p>
        </p:txBody>
      </p:sp>
      <p:sp>
        <p:nvSpPr>
          <p:cNvPr id="4" name="Slide Image Placeholder 3"/>
          <p:cNvSpPr>
            <a:spLocks noGrp="1" noRot="1" noChangeAspect="1"/>
          </p:cNvSpPr>
          <p:nvPr>
            <p:ph type="sldImg" idx="2"/>
          </p:nvPr>
        </p:nvSpPr>
        <p:spPr>
          <a:xfrm>
            <a:off x="990600" y="768350"/>
            <a:ext cx="5118100" cy="3838575"/>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wrap="square" lIns="96661" tIns="48331" rIns="96661" bIns="48331" numCol="1" anchor="b" anchorCtr="0" compatLnSpc="1">
            <a:prstTxWarp prst="textNoShape">
              <a:avLst/>
            </a:prstTxWarp>
          </a:bodyPr>
          <a:lstStyle>
            <a:lvl1pPr>
              <a:defRPr sz="1300">
                <a:latin typeface="Calibri" pitchFamily="34" charset="0"/>
              </a:defRPr>
            </a:lvl1pPr>
          </a:lstStyle>
          <a:p>
            <a:endParaRPr lang="en-US"/>
          </a:p>
        </p:txBody>
      </p:sp>
      <p:sp>
        <p:nvSpPr>
          <p:cNvPr id="7" name="Slide Number Placeholder 6"/>
          <p:cNvSpPr>
            <a:spLocks noGrp="1"/>
          </p:cNvSpPr>
          <p:nvPr>
            <p:ph type="sldNum" sz="quarter" idx="5"/>
          </p:nvPr>
        </p:nvSpPr>
        <p:spPr>
          <a:xfrm>
            <a:off x="4021296" y="9721106"/>
            <a:ext cx="3076363" cy="511731"/>
          </a:xfrm>
          <a:prstGeom prst="rect">
            <a:avLst/>
          </a:prstGeom>
        </p:spPr>
        <p:txBody>
          <a:bodyPr vert="horz" wrap="square" lIns="96661" tIns="48331" rIns="96661" bIns="48331" numCol="1" anchor="b" anchorCtr="0" compatLnSpc="1">
            <a:prstTxWarp prst="textNoShape">
              <a:avLst/>
            </a:prstTxWarp>
          </a:bodyPr>
          <a:lstStyle>
            <a:lvl1pPr algn="r">
              <a:defRPr sz="1300">
                <a:latin typeface="Calibri" pitchFamily="34" charset="0"/>
              </a:defRPr>
            </a:lvl1pPr>
          </a:lstStyle>
          <a:p>
            <a:fld id="{76159C16-962D-45B7-9AE3-AA455C3EA8F0}" type="slidenum">
              <a:rPr lang="en-US"/>
              <a:pPr/>
              <a:t>‹#›</a:t>
            </a:fld>
            <a:endParaRPr lang="en-US"/>
          </a:p>
        </p:txBody>
      </p:sp>
    </p:spTree>
    <p:extLst>
      <p:ext uri="{BB962C8B-B14F-4D97-AF65-F5344CB8AC3E}">
        <p14:creationId xmlns:p14="http://schemas.microsoft.com/office/powerpoint/2010/main" val="600913562"/>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Thiết kế cấu trúc chương trình cài đặt cho giải thuật.</a:t>
            </a:r>
          </a:p>
          <a:p>
            <a:r>
              <a:rPr lang="vi-VN" dirty="0"/>
              <a:t>Trong giai đoạn này, chúng ta phải tìm cách biến đổi từ đặc tả giải thuật (mô tả giải thuật làm cái gì, các bước thực hiện những gì) thành một chương trình được viết bằng một ngôn ngữ lập trình cụ thể (giải thuật được cài đặt như thế nào) mà có thể chạy tốt trên máy tính (minh hoạ hoạt động cụ thể của giải thuật). </a:t>
            </a:r>
          </a:p>
          <a:p>
            <a:endParaRPr lang="vi-VN"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a:t>
            </a:fld>
            <a:endParaRPr lang="en-US"/>
          </a:p>
        </p:txBody>
      </p:sp>
    </p:spTree>
    <p:extLst>
      <p:ext uri="{BB962C8B-B14F-4D97-AF65-F5344CB8AC3E}">
        <p14:creationId xmlns:p14="http://schemas.microsoft.com/office/powerpoint/2010/main" val="2878990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Nói chung, TK thường được chia làm hai giai đoạn chính:</a:t>
            </a:r>
          </a:p>
          <a:p>
            <a:r>
              <a:rPr lang="vi-VN" dirty="0"/>
              <a:t>Thiết kế sơ bộ: đây là giai đoạn cần tìm hiểu cặn kẽ các thành phần của giải thuật. Cụ thể, chúng ta phải biết giải thuật gồm có bao nhiêu thành phần cơ bản, mỗi thành phần đó làm cái gì, giữa các thành phần đó có mối liên quan gì. Mỗi thành phần cơ bản được goi là một mô dul của giải thuật. Phương pháp thiết kế được sử dụng trong giai đoạn này thường là phương pháp thiết kế từ trên xuống </a:t>
            </a:r>
          </a:p>
          <a:p>
            <a:r>
              <a:rPr lang="vi-VN" dirty="0"/>
              <a:t>Thiết kế chi tiết: giai đoạn này bắt đầu cài đặt cụ thể các mô dul bằng một ngôn ngữ lập trình cụ thể. Sau đó tiến hành ghép nối các mô dul để tạo thành một chương trình hoàn chỉnh thực hiện giải thuật ban đầu. Phương pháp thiết kế sử dụng trong giai đoạn này thường là phương pháp tinh chỉnh từng bước</a:t>
            </a:r>
          </a:p>
          <a:p>
            <a:endParaRPr lang="vi-VN"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6</a:t>
            </a:fld>
            <a:endParaRPr lang="en-US"/>
          </a:p>
        </p:txBody>
      </p:sp>
    </p:spTree>
    <p:extLst>
      <p:ext uri="{BB962C8B-B14F-4D97-AF65-F5344CB8AC3E}">
        <p14:creationId xmlns:p14="http://schemas.microsoft.com/office/powerpoint/2010/main" val="68753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Chúng</a:t>
            </a:r>
            <a:r>
              <a:rPr lang="en-US" dirty="0"/>
              <a:t> ta </a:t>
            </a:r>
            <a:r>
              <a:rPr lang="en-US" dirty="0" err="1"/>
              <a:t>cũng</a:t>
            </a:r>
            <a:r>
              <a:rPr lang="en-US" dirty="0"/>
              <a:t> </a:t>
            </a:r>
            <a:r>
              <a:rPr lang="en-US" dirty="0" err="1"/>
              <a:t>dễ</a:t>
            </a:r>
            <a:r>
              <a:rPr lang="en-US" dirty="0"/>
              <a:t> </a:t>
            </a:r>
            <a:r>
              <a:rPr lang="en-US" dirty="0" err="1"/>
              <a:t>thấy</a:t>
            </a:r>
            <a:r>
              <a:rPr lang="en-US" dirty="0"/>
              <a:t> </a:t>
            </a:r>
            <a:r>
              <a:rPr lang="en-US" dirty="0" err="1"/>
              <a:t>là</a:t>
            </a:r>
            <a:r>
              <a:rPr lang="en-US" dirty="0"/>
              <a:t> </a:t>
            </a:r>
            <a:r>
              <a:rPr lang="en-US" dirty="0" err="1"/>
              <a:t>quá</a:t>
            </a:r>
            <a:r>
              <a:rPr lang="en-US" dirty="0"/>
              <a:t> </a:t>
            </a:r>
            <a:r>
              <a:rPr lang="en-US" dirty="0" err="1"/>
              <a:t>trình</a:t>
            </a:r>
            <a:r>
              <a:rPr lang="en-US" dirty="0"/>
              <a:t> </a:t>
            </a:r>
            <a:r>
              <a:rPr lang="en-US" dirty="0" err="1"/>
              <a:t>phân</a:t>
            </a:r>
            <a:r>
              <a:rPr lang="en-US" dirty="0"/>
              <a:t> chia </a:t>
            </a:r>
            <a:r>
              <a:rPr lang="en-US" dirty="0" err="1"/>
              <a:t>không</a:t>
            </a:r>
            <a:r>
              <a:rPr lang="en-US" dirty="0"/>
              <a:t> </a:t>
            </a:r>
            <a:r>
              <a:rPr lang="en-US" dirty="0" err="1"/>
              <a:t>thể</a:t>
            </a:r>
            <a:r>
              <a:rPr lang="en-US" dirty="0"/>
              <a:t> </a:t>
            </a:r>
            <a:r>
              <a:rPr lang="en-US" dirty="0" err="1"/>
              <a:t>diễn</a:t>
            </a:r>
            <a:r>
              <a:rPr lang="en-US" dirty="0"/>
              <a:t> </a:t>
            </a:r>
            <a:r>
              <a:rPr lang="en-US" dirty="0" err="1"/>
              <a:t>ra</a:t>
            </a:r>
            <a:r>
              <a:rPr lang="en-US" dirty="0"/>
              <a:t> </a:t>
            </a:r>
            <a:r>
              <a:rPr lang="en-US" dirty="0" err="1"/>
              <a:t>vô</a:t>
            </a:r>
            <a:r>
              <a:rPr lang="en-US" dirty="0"/>
              <a:t> </a:t>
            </a:r>
            <a:r>
              <a:rPr lang="en-US" dirty="0" err="1"/>
              <a:t>hạn</a:t>
            </a:r>
            <a:r>
              <a:rPr lang="en-US" dirty="0"/>
              <a:t>, </a:t>
            </a:r>
            <a:r>
              <a:rPr lang="en-US" dirty="0" err="1"/>
              <a:t>mà</a:t>
            </a:r>
            <a:r>
              <a:rPr lang="en-US" dirty="0"/>
              <a:t> </a:t>
            </a:r>
            <a:r>
              <a:rPr lang="en-US" dirty="0" err="1"/>
              <a:t>cần</a:t>
            </a:r>
            <a:r>
              <a:rPr lang="en-US" dirty="0"/>
              <a:t> </a:t>
            </a:r>
            <a:r>
              <a:rPr lang="en-US" dirty="0" err="1"/>
              <a:t>có</a:t>
            </a:r>
            <a:r>
              <a:rPr lang="en-US" dirty="0"/>
              <a:t> </a:t>
            </a:r>
            <a:r>
              <a:rPr lang="en-US" dirty="0" err="1"/>
              <a:t>điểm</a:t>
            </a:r>
            <a:r>
              <a:rPr lang="en-US" dirty="0"/>
              <a:t> </a:t>
            </a:r>
            <a:r>
              <a:rPr lang="en-US" dirty="0" err="1"/>
              <a:t>dừng</a:t>
            </a:r>
            <a:r>
              <a:rPr lang="en-US" dirty="0"/>
              <a:t>. </a:t>
            </a:r>
            <a:r>
              <a:rPr lang="vi-VN" dirty="0"/>
              <a:t>Việc phân chia giải thuật quá nhỏ không giúp chúng ta hiểu rõ hơn giải thuật, mà trái lại nó làm cho giải thuật trở nên dài dòng và vụn vặt không cần thiết. Đồng thời, điều này sẽ làm chúng ta mất thời gian hơn khi phải xác định mối liên kết giữa các thành phần đã được chia và lắp ghép chúng lại. </a:t>
            </a:r>
            <a:endParaRPr lang="en-US" dirty="0"/>
          </a:p>
          <a:p>
            <a:r>
              <a:rPr lang="vi-VN" dirty="0"/>
              <a:t>Điểm dừng, hiển nhiên có thể thấy như là điểm dung hoà giữa cái được và mất của việc phân chia.</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7</a:t>
            </a:fld>
            <a:endParaRPr lang="en-US"/>
          </a:p>
        </p:txBody>
      </p:sp>
    </p:spTree>
    <p:extLst>
      <p:ext uri="{BB962C8B-B14F-4D97-AF65-F5344CB8AC3E}">
        <p14:creationId xmlns:p14="http://schemas.microsoft.com/office/powerpoint/2010/main" val="3455944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lnSpc>
                <a:spcPct val="90000"/>
              </a:lnSpc>
              <a:buClr>
                <a:srgbClr val="727CA3"/>
              </a:buClr>
            </a:pPr>
            <a:r>
              <a:rPr lang="en-US" altLang="en-US" sz="2100" b="0" dirty="0"/>
              <a:t>2 </a:t>
            </a:r>
            <a:r>
              <a:rPr lang="en-US" altLang="en-US" sz="2100" b="0" dirty="0" err="1"/>
              <a:t>nguyên</a:t>
            </a:r>
            <a:r>
              <a:rPr lang="en-US" altLang="en-US" sz="2100" b="0" baseline="0" dirty="0"/>
              <a:t> </a:t>
            </a:r>
            <a:r>
              <a:rPr lang="en-US" altLang="en-US" sz="2100" b="0" baseline="0" dirty="0" err="1"/>
              <a:t>tắc</a:t>
            </a:r>
            <a:r>
              <a:rPr lang="en-US" altLang="en-US" sz="2100" b="0" baseline="0" dirty="0"/>
              <a:t> </a:t>
            </a:r>
            <a:r>
              <a:rPr lang="en-US" altLang="en-US" sz="2100" b="0" baseline="0" dirty="0" err="1"/>
              <a:t>lựa</a:t>
            </a:r>
            <a:r>
              <a:rPr lang="en-US" altLang="en-US" sz="2100" b="0" baseline="0" dirty="0"/>
              <a:t> </a:t>
            </a:r>
            <a:r>
              <a:rPr lang="en-US" altLang="en-US" sz="2100" b="0" baseline="0" dirty="0" err="1"/>
              <a:t>chọn</a:t>
            </a:r>
            <a:r>
              <a:rPr lang="en-US" altLang="en-US" sz="2100" b="0" baseline="0" dirty="0"/>
              <a:t> </a:t>
            </a:r>
            <a:r>
              <a:rPr lang="en-US" sz="2000" dirty="0" err="1"/>
              <a:t>ngôn</a:t>
            </a:r>
            <a:r>
              <a:rPr lang="en-US" sz="2000" dirty="0"/>
              <a:t> </a:t>
            </a:r>
            <a:r>
              <a:rPr lang="en-US" sz="2000" dirty="0" err="1"/>
              <a:t>ngữ</a:t>
            </a:r>
            <a:r>
              <a:rPr lang="en-US" sz="2000" dirty="0"/>
              <a:t> </a:t>
            </a:r>
            <a:r>
              <a:rPr lang="en-US" sz="2000" dirty="0" err="1"/>
              <a:t>diễn</a:t>
            </a:r>
            <a:r>
              <a:rPr lang="en-US" sz="2000" dirty="0"/>
              <a:t> </a:t>
            </a:r>
            <a:r>
              <a:rPr lang="en-US" sz="2000" dirty="0" err="1"/>
              <a:t>đạt</a:t>
            </a:r>
            <a:r>
              <a:rPr lang="en-US" sz="2000" dirty="0"/>
              <a:t> </a:t>
            </a:r>
            <a:r>
              <a:rPr lang="en-US" sz="2000" dirty="0" err="1"/>
              <a:t>giải</a:t>
            </a:r>
            <a:r>
              <a:rPr lang="en-US" sz="2000" dirty="0"/>
              <a:t> </a:t>
            </a:r>
            <a:r>
              <a:rPr lang="en-US" sz="2000" dirty="0" err="1"/>
              <a:t>thuật</a:t>
            </a:r>
            <a:r>
              <a:rPr lang="en-US" sz="2000" dirty="0"/>
              <a:t> </a:t>
            </a:r>
            <a:r>
              <a:rPr lang="en-US" altLang="en-US" sz="2100" b="0" baseline="0" dirty="0"/>
              <a:t>: </a:t>
            </a:r>
            <a:r>
              <a:rPr lang="en-US" altLang="en-US" sz="2100" b="1" dirty="0" err="1"/>
              <a:t>Tính</a:t>
            </a:r>
            <a:r>
              <a:rPr lang="en-US" altLang="en-US" sz="2100" b="1" dirty="0"/>
              <a:t> </a:t>
            </a:r>
            <a:r>
              <a:rPr lang="en-US" altLang="en-US" sz="2100" b="1" dirty="0" err="1"/>
              <a:t>độc</a:t>
            </a:r>
            <a:r>
              <a:rPr lang="en-US" altLang="en-US" sz="2100" b="1" dirty="0"/>
              <a:t> </a:t>
            </a:r>
            <a:r>
              <a:rPr lang="en-US" altLang="en-US" sz="2100" b="1" dirty="0" err="1"/>
              <a:t>lập</a:t>
            </a:r>
            <a:r>
              <a:rPr lang="en-US" altLang="en-US" sz="2100" b="1" dirty="0"/>
              <a:t> </a:t>
            </a:r>
            <a:r>
              <a:rPr lang="en-US" altLang="en-US" sz="2100" b="0" dirty="0" err="1"/>
              <a:t>của</a:t>
            </a:r>
            <a:r>
              <a:rPr lang="en-US" altLang="en-US" sz="2100" b="0" dirty="0"/>
              <a:t> </a:t>
            </a:r>
            <a:r>
              <a:rPr lang="en-US" altLang="en-US" sz="2100" b="0" dirty="0" err="1"/>
              <a:t>giải</a:t>
            </a:r>
            <a:r>
              <a:rPr lang="en-US" altLang="en-US" sz="2100" b="0" dirty="0"/>
              <a:t> </a:t>
            </a:r>
            <a:r>
              <a:rPr lang="en-US" altLang="en-US" sz="2100" b="0" dirty="0" err="1"/>
              <a:t>thuật</a:t>
            </a:r>
            <a:r>
              <a:rPr lang="en-US" altLang="en-US" sz="2100" b="0" dirty="0"/>
              <a:t>:  </a:t>
            </a:r>
            <a:r>
              <a:rPr lang="en-US" altLang="en-US" sz="2100" b="0" dirty="0" err="1"/>
              <a:t>Ngôn</a:t>
            </a:r>
            <a:r>
              <a:rPr lang="en-US" altLang="en-US" sz="2100" b="0" dirty="0"/>
              <a:t> </a:t>
            </a:r>
            <a:r>
              <a:rPr lang="en-US" altLang="en-US" sz="2100" b="0" dirty="0" err="1"/>
              <a:t>ngữ</a:t>
            </a:r>
            <a:r>
              <a:rPr lang="en-US" altLang="en-US" sz="2100" b="0" dirty="0"/>
              <a:t> </a:t>
            </a:r>
            <a:r>
              <a:rPr lang="en-US" altLang="en-US" sz="2100" b="0" dirty="0" err="1"/>
              <a:t>được</a:t>
            </a:r>
            <a:r>
              <a:rPr lang="en-US" altLang="en-US" sz="2100" b="0" dirty="0"/>
              <a:t> </a:t>
            </a:r>
            <a:r>
              <a:rPr lang="en-US" altLang="en-US" sz="2100" b="0" dirty="0" err="1"/>
              <a:t>chọn</a:t>
            </a:r>
            <a:r>
              <a:rPr lang="en-US" altLang="en-US" sz="2100" b="0" dirty="0"/>
              <a:t> </a:t>
            </a:r>
            <a:r>
              <a:rPr lang="en-US" altLang="en-US" sz="2100" b="0" dirty="0" err="1"/>
              <a:t>phải</a:t>
            </a:r>
            <a:r>
              <a:rPr lang="en-US" altLang="en-US" sz="2100" b="0" dirty="0"/>
              <a:t> </a:t>
            </a:r>
            <a:r>
              <a:rPr lang="en-US" altLang="en-US" sz="2100" b="0" dirty="0" err="1"/>
              <a:t>làm</a:t>
            </a:r>
            <a:r>
              <a:rPr lang="en-US" altLang="en-US" sz="2100" b="0" dirty="0"/>
              <a:t> </a:t>
            </a:r>
            <a:r>
              <a:rPr lang="en-US" altLang="en-US" sz="2100" b="0" dirty="0" err="1"/>
              <a:t>sáng</a:t>
            </a:r>
            <a:r>
              <a:rPr lang="en-US" altLang="en-US" sz="2100" b="0" dirty="0"/>
              <a:t> </a:t>
            </a:r>
            <a:r>
              <a:rPr lang="en-US" altLang="en-US" sz="2100" b="0" dirty="0" err="1"/>
              <a:t>tỏ</a:t>
            </a:r>
            <a:r>
              <a:rPr lang="en-US" altLang="en-US" sz="2100" b="0" dirty="0"/>
              <a:t> </a:t>
            </a:r>
            <a:r>
              <a:rPr lang="en-US" altLang="en-US" sz="2100" b="0" dirty="0" err="1"/>
              <a:t>tinh</a:t>
            </a:r>
            <a:r>
              <a:rPr lang="en-US" altLang="en-US" sz="2100" b="0" dirty="0"/>
              <a:t> </a:t>
            </a:r>
            <a:r>
              <a:rPr lang="en-US" altLang="en-US" sz="2100" b="0" dirty="0" err="1"/>
              <a:t>thần</a:t>
            </a:r>
            <a:r>
              <a:rPr lang="en-US" altLang="en-US" sz="2100" b="0" dirty="0"/>
              <a:t> </a:t>
            </a:r>
            <a:r>
              <a:rPr lang="en-US" altLang="en-US" sz="2100" b="0" dirty="0" err="1"/>
              <a:t>của</a:t>
            </a:r>
            <a:r>
              <a:rPr lang="en-US" altLang="en-US" sz="2100" b="0" dirty="0"/>
              <a:t> </a:t>
            </a:r>
            <a:r>
              <a:rPr lang="en-US" altLang="en-US" sz="2100" b="0" dirty="0" err="1"/>
              <a:t>giải</a:t>
            </a:r>
            <a:r>
              <a:rPr lang="en-US" altLang="en-US" sz="2100" b="0" dirty="0"/>
              <a:t> </a:t>
            </a:r>
            <a:r>
              <a:rPr lang="en-US" altLang="en-US" sz="2100" b="0" dirty="0" err="1"/>
              <a:t>thuật</a:t>
            </a:r>
            <a:r>
              <a:rPr lang="en-US" altLang="en-US" sz="2100" b="0" dirty="0"/>
              <a:t>, </a:t>
            </a:r>
            <a:r>
              <a:rPr lang="en-US" altLang="en-US" sz="2100" b="0" dirty="0" err="1"/>
              <a:t>giúp</a:t>
            </a:r>
            <a:r>
              <a:rPr lang="en-US" altLang="en-US" sz="2100" b="0" dirty="0"/>
              <a:t> </a:t>
            </a:r>
            <a:r>
              <a:rPr lang="en-US" altLang="en-US" sz="2100" b="0" dirty="0" err="1"/>
              <a:t>người</a:t>
            </a:r>
            <a:r>
              <a:rPr lang="en-US" altLang="en-US" sz="2100" b="0" dirty="0"/>
              <a:t> </a:t>
            </a:r>
            <a:r>
              <a:rPr lang="en-US" altLang="en-US" sz="2100" b="0" dirty="0" err="1"/>
              <a:t>đọc</a:t>
            </a:r>
            <a:r>
              <a:rPr lang="en-US" altLang="en-US" sz="2100" b="0" dirty="0"/>
              <a:t> </a:t>
            </a:r>
            <a:r>
              <a:rPr lang="en-US" altLang="en-US" sz="2100" b="0" dirty="0" err="1"/>
              <a:t>dễ</a:t>
            </a:r>
            <a:r>
              <a:rPr lang="en-US" altLang="en-US" sz="2100" b="0" dirty="0"/>
              <a:t> </a:t>
            </a:r>
            <a:r>
              <a:rPr lang="en-US" altLang="en-US" sz="2100" b="0" dirty="0" err="1"/>
              <a:t>dàng</a:t>
            </a:r>
            <a:r>
              <a:rPr lang="en-US" altLang="en-US" sz="2100" b="0" dirty="0"/>
              <a:t> </a:t>
            </a:r>
            <a:r>
              <a:rPr lang="en-US" altLang="en-US" sz="2100" b="0" dirty="0" err="1"/>
              <a:t>hiểu</a:t>
            </a:r>
            <a:r>
              <a:rPr lang="en-US" altLang="en-US" sz="2100" b="0" dirty="0"/>
              <a:t> </a:t>
            </a:r>
            <a:r>
              <a:rPr lang="en-US" altLang="en-US" sz="2100" b="0" dirty="0" err="1"/>
              <a:t>được</a:t>
            </a:r>
            <a:r>
              <a:rPr lang="en-US" altLang="en-US" sz="2100" b="0" dirty="0"/>
              <a:t> logic </a:t>
            </a:r>
            <a:r>
              <a:rPr lang="en-US" altLang="en-US" sz="2100" b="0" dirty="0" err="1"/>
              <a:t>của</a:t>
            </a:r>
            <a:r>
              <a:rPr lang="en-US" altLang="en-US" sz="2100" b="0" dirty="0"/>
              <a:t> </a:t>
            </a:r>
            <a:r>
              <a:rPr lang="en-US" altLang="en-US" sz="2100" b="0" dirty="0" err="1"/>
              <a:t>giải</a:t>
            </a:r>
            <a:r>
              <a:rPr lang="en-US" altLang="en-US" sz="2100" b="0" dirty="0"/>
              <a:t> </a:t>
            </a:r>
            <a:r>
              <a:rPr lang="en-US" altLang="en-US" sz="2100" b="0" dirty="0" err="1"/>
              <a:t>thuật</a:t>
            </a:r>
            <a:r>
              <a:rPr lang="en-US" altLang="en-US" sz="2100" b="0" dirty="0"/>
              <a:t>. </a:t>
            </a:r>
            <a:r>
              <a:rPr lang="en-US" altLang="en-US" sz="2100" b="1" dirty="0" err="1"/>
              <a:t>Tính</a:t>
            </a:r>
            <a:r>
              <a:rPr lang="en-US" altLang="en-US" sz="2100" b="1" dirty="0"/>
              <a:t> </a:t>
            </a:r>
            <a:r>
              <a:rPr lang="en-US" altLang="en-US" sz="2100" b="1" dirty="0" err="1"/>
              <a:t>có</a:t>
            </a:r>
            <a:r>
              <a:rPr lang="en-US" altLang="en-US" sz="2100" b="1" dirty="0"/>
              <a:t> </a:t>
            </a:r>
            <a:r>
              <a:rPr lang="en-US" altLang="en-US" sz="2100" b="1" dirty="0" err="1"/>
              <a:t>thể</a:t>
            </a:r>
            <a:r>
              <a:rPr lang="en-US" altLang="en-US" sz="2100" b="1" dirty="0"/>
              <a:t> </a:t>
            </a:r>
            <a:r>
              <a:rPr lang="en-US" altLang="en-US" sz="2100" b="1" dirty="0" err="1"/>
              <a:t>cài</a:t>
            </a:r>
            <a:r>
              <a:rPr lang="en-US" altLang="en-US" sz="2100" b="1" dirty="0"/>
              <a:t> </a:t>
            </a:r>
            <a:r>
              <a:rPr lang="en-US" altLang="en-US" sz="2100" b="1" dirty="0" err="1"/>
              <a:t>đặt</a:t>
            </a:r>
            <a:r>
              <a:rPr lang="en-US" altLang="en-US" sz="2100" b="1" dirty="0"/>
              <a:t> </a:t>
            </a:r>
            <a:r>
              <a:rPr lang="en-US" altLang="en-US" sz="2100" b="1" dirty="0" err="1"/>
              <a:t>được</a:t>
            </a:r>
            <a:r>
              <a:rPr lang="en-US" altLang="en-US" sz="2100" b="1" dirty="0"/>
              <a:t> </a:t>
            </a:r>
            <a:r>
              <a:rPr lang="en-US" altLang="en-US" sz="2100" b="0" dirty="0" err="1"/>
              <a:t>của</a:t>
            </a:r>
            <a:r>
              <a:rPr lang="en-US" altLang="en-US" sz="2100" b="0" dirty="0"/>
              <a:t> </a:t>
            </a:r>
            <a:r>
              <a:rPr lang="en-US" altLang="en-US" sz="2100" b="0" dirty="0" err="1"/>
              <a:t>giải</a:t>
            </a:r>
            <a:r>
              <a:rPr lang="en-US" altLang="en-US" sz="2100" b="0" dirty="0"/>
              <a:t> </a:t>
            </a:r>
            <a:r>
              <a:rPr lang="en-US" altLang="en-US" sz="2100" b="0" dirty="0" err="1"/>
              <a:t>thuật</a:t>
            </a:r>
            <a:r>
              <a:rPr lang="en-US" altLang="en-US" sz="2100" b="0" dirty="0"/>
              <a:t>:</a:t>
            </a:r>
          </a:p>
          <a:p>
            <a:endParaRPr lang="en-US" altLang="en-US" sz="1200" dirty="0"/>
          </a:p>
          <a:p>
            <a:r>
              <a:rPr lang="en-US" altLang="en-US" sz="1200" dirty="0" err="1"/>
              <a:t>Phương</a:t>
            </a:r>
            <a:r>
              <a:rPr lang="en-US" altLang="en-US" sz="1200" dirty="0"/>
              <a:t> </a:t>
            </a:r>
            <a:r>
              <a:rPr lang="en-US" altLang="en-US" sz="1200" dirty="0" err="1"/>
              <a:t>pháp</a:t>
            </a:r>
            <a:r>
              <a:rPr lang="en-US" altLang="en-US" sz="1200" dirty="0"/>
              <a:t> </a:t>
            </a:r>
            <a:r>
              <a:rPr lang="vi-VN" altLang="en-US" sz="1200" dirty="0"/>
              <a:t>tinh chỉnh từng bước </a:t>
            </a:r>
            <a:r>
              <a:rPr lang="en-US" altLang="en-US" sz="1200" dirty="0" err="1"/>
              <a:t>chứa</a:t>
            </a:r>
            <a:r>
              <a:rPr lang="en-US" altLang="en-US" sz="1200" dirty="0"/>
              <a:t> </a:t>
            </a:r>
            <a:r>
              <a:rPr lang="en-US" altLang="en-US" sz="1200" dirty="0" err="1"/>
              <a:t>các</a:t>
            </a:r>
            <a:r>
              <a:rPr lang="en-US" altLang="en-US" sz="1200" dirty="0"/>
              <a:t> </a:t>
            </a:r>
            <a:r>
              <a:rPr lang="en-US" altLang="en-US" sz="1200" dirty="0" err="1"/>
              <a:t>quy</a:t>
            </a:r>
            <a:r>
              <a:rPr lang="en-US" altLang="en-US" sz="1200" dirty="0"/>
              <a:t> </a:t>
            </a:r>
            <a:r>
              <a:rPr lang="en-US" altLang="en-US" sz="1200" dirty="0" err="1"/>
              <a:t>tắc</a:t>
            </a:r>
            <a:r>
              <a:rPr lang="en-US" altLang="en-US" sz="1200" dirty="0"/>
              <a:t> </a:t>
            </a:r>
            <a:r>
              <a:rPr lang="en-US" altLang="en-US" sz="1200" dirty="0" err="1"/>
              <a:t>cho</a:t>
            </a:r>
            <a:r>
              <a:rPr lang="en-US" altLang="en-US" sz="1200" dirty="0"/>
              <a:t> </a:t>
            </a:r>
            <a:r>
              <a:rPr lang="en-US" altLang="en-US" sz="1200" dirty="0" err="1"/>
              <a:t>phép</a:t>
            </a:r>
            <a:r>
              <a:rPr lang="en-US" altLang="en-US" sz="1200" dirty="0"/>
              <a:t> ta </a:t>
            </a:r>
            <a:r>
              <a:rPr lang="en-US" altLang="en-US" sz="1200" dirty="0" err="1"/>
              <a:t>thực</a:t>
            </a:r>
            <a:r>
              <a:rPr lang="en-US" altLang="en-US" sz="1200" dirty="0"/>
              <a:t> </a:t>
            </a:r>
            <a:r>
              <a:rPr lang="en-US" altLang="en-US" sz="1200" dirty="0" err="1"/>
              <a:t>hiện</a:t>
            </a:r>
            <a:r>
              <a:rPr lang="en-US" altLang="en-US" sz="1200" dirty="0"/>
              <a:t> </a:t>
            </a:r>
            <a:r>
              <a:rPr lang="en-US" altLang="en-US" sz="1200" dirty="0" err="1"/>
              <a:t>việc</a:t>
            </a:r>
            <a:r>
              <a:rPr lang="en-US" altLang="en-US" sz="1200" dirty="0"/>
              <a:t> </a:t>
            </a:r>
            <a:r>
              <a:rPr lang="en-US" altLang="en-US" sz="1200" dirty="0" err="1"/>
              <a:t>chuyển</a:t>
            </a:r>
            <a:r>
              <a:rPr lang="en-US" altLang="en-US" sz="1200" dirty="0"/>
              <a:t> </a:t>
            </a:r>
            <a:r>
              <a:rPr lang="en-US" altLang="en-US" sz="1200" dirty="0" err="1"/>
              <a:t>đổi</a:t>
            </a:r>
            <a:r>
              <a:rPr lang="en-US" altLang="en-US" sz="1200" dirty="0"/>
              <a:t> </a:t>
            </a:r>
            <a:r>
              <a:rPr lang="en-US" altLang="en-US" sz="1200" dirty="0" err="1"/>
              <a:t>từ</a:t>
            </a:r>
            <a:r>
              <a:rPr lang="en-US" altLang="en-US" sz="1200" dirty="0"/>
              <a:t> </a:t>
            </a:r>
            <a:r>
              <a:rPr lang="en-US" altLang="en-US" sz="1200" dirty="0" err="1"/>
              <a:t>đặc</a:t>
            </a:r>
            <a:r>
              <a:rPr lang="en-US" altLang="en-US" sz="1200" dirty="0"/>
              <a:t> </a:t>
            </a:r>
            <a:r>
              <a:rPr lang="en-US" altLang="en-US" sz="1200" dirty="0" err="1"/>
              <a:t>tả</a:t>
            </a:r>
            <a:r>
              <a:rPr lang="en-US" altLang="en-US" sz="1200" dirty="0"/>
              <a:t> </a:t>
            </a:r>
            <a:r>
              <a:rPr lang="en-US" altLang="en-US" sz="1200" dirty="0" err="1"/>
              <a:t>giải</a:t>
            </a:r>
            <a:r>
              <a:rPr lang="en-US" altLang="en-US" sz="1200" dirty="0"/>
              <a:t> </a:t>
            </a:r>
            <a:r>
              <a:rPr lang="en-US" altLang="en-US" sz="1200" dirty="0" err="1"/>
              <a:t>thuật</a:t>
            </a:r>
            <a:r>
              <a:rPr lang="en-US" altLang="en-US" sz="1200" dirty="0"/>
              <a:t> </a:t>
            </a:r>
            <a:r>
              <a:rPr lang="en-US" altLang="en-US" sz="1200" dirty="0" err="1"/>
              <a:t>bằng</a:t>
            </a:r>
            <a:r>
              <a:rPr lang="en-US" altLang="en-US" sz="1200" dirty="0"/>
              <a:t> </a:t>
            </a:r>
            <a:r>
              <a:rPr lang="en-US" altLang="en-US" sz="1200" dirty="0" err="1"/>
              <a:t>ngôn</a:t>
            </a:r>
            <a:r>
              <a:rPr lang="en-US" altLang="en-US" sz="1200" dirty="0"/>
              <a:t> </a:t>
            </a:r>
            <a:r>
              <a:rPr lang="en-US" altLang="en-US" sz="1200" dirty="0" err="1"/>
              <a:t>ngữ</a:t>
            </a:r>
            <a:r>
              <a:rPr lang="en-US" altLang="en-US" sz="1200" dirty="0"/>
              <a:t> </a:t>
            </a:r>
            <a:r>
              <a:rPr lang="en-US" altLang="en-US" sz="1200" dirty="0" err="1"/>
              <a:t>tự</a:t>
            </a:r>
            <a:r>
              <a:rPr lang="en-US" altLang="en-US" sz="1200" dirty="0"/>
              <a:t> </a:t>
            </a:r>
            <a:r>
              <a:rPr lang="en-US" altLang="en-US" sz="1200" dirty="0" err="1"/>
              <a:t>nhiên</a:t>
            </a:r>
            <a:r>
              <a:rPr lang="en-US" altLang="en-US" sz="1200" dirty="0"/>
              <a:t> hay </a:t>
            </a:r>
            <a:r>
              <a:rPr lang="en-US" altLang="en-US" sz="1200" dirty="0" err="1"/>
              <a:t>lưu</a:t>
            </a:r>
            <a:r>
              <a:rPr lang="en-US" altLang="en-US" sz="1200" dirty="0"/>
              <a:t> </a:t>
            </a:r>
            <a:r>
              <a:rPr lang="en-US" altLang="en-US" sz="1200" dirty="0" err="1"/>
              <a:t>đồ</a:t>
            </a:r>
            <a:r>
              <a:rPr lang="en-US" altLang="en-US" sz="1200" dirty="0"/>
              <a:t> sang </a:t>
            </a:r>
            <a:r>
              <a:rPr lang="en-US" altLang="en-US" sz="1200" dirty="0" err="1"/>
              <a:t>một</a:t>
            </a:r>
            <a:r>
              <a:rPr lang="en-US" altLang="en-US" sz="1200" dirty="0"/>
              <a:t> </a:t>
            </a:r>
            <a:r>
              <a:rPr lang="en-US" altLang="en-US" sz="1200" dirty="0" err="1"/>
              <a:t>đặc</a:t>
            </a:r>
            <a:r>
              <a:rPr lang="en-US" altLang="en-US" sz="1200" dirty="0"/>
              <a:t> </a:t>
            </a:r>
            <a:r>
              <a:rPr lang="en-US" altLang="en-US" sz="1200" dirty="0" err="1"/>
              <a:t>tả</a:t>
            </a:r>
            <a:r>
              <a:rPr lang="en-US" altLang="en-US" sz="1200" dirty="0"/>
              <a:t> </a:t>
            </a:r>
            <a:r>
              <a:rPr lang="en-US" altLang="en-US" sz="1200" dirty="0" err="1"/>
              <a:t>giải</a:t>
            </a:r>
            <a:r>
              <a:rPr lang="en-US" altLang="en-US" sz="1200" dirty="0"/>
              <a:t> </a:t>
            </a:r>
            <a:r>
              <a:rPr lang="en-US" altLang="en-US" sz="1200" dirty="0" err="1"/>
              <a:t>thuật</a:t>
            </a:r>
            <a:r>
              <a:rPr lang="en-US" altLang="en-US" sz="1200" dirty="0"/>
              <a:t> </a:t>
            </a:r>
            <a:r>
              <a:rPr lang="en-US" altLang="en-US" sz="1200" dirty="0" err="1"/>
              <a:t>bằng</a:t>
            </a:r>
            <a:r>
              <a:rPr lang="en-US" altLang="en-US" sz="1200" dirty="0"/>
              <a:t> </a:t>
            </a:r>
            <a:r>
              <a:rPr lang="en-US" altLang="en-US" sz="1200" dirty="0" err="1"/>
              <a:t>một</a:t>
            </a:r>
            <a:r>
              <a:rPr lang="en-US" altLang="en-US" sz="1200" dirty="0"/>
              <a:t> </a:t>
            </a:r>
            <a:r>
              <a:rPr lang="en-US" altLang="en-US" sz="1200" dirty="0" err="1"/>
              <a:t>ngôn</a:t>
            </a:r>
            <a:r>
              <a:rPr lang="en-US" altLang="en-US" sz="1200" dirty="0"/>
              <a:t> </a:t>
            </a:r>
            <a:r>
              <a:rPr lang="en-US" altLang="en-US" sz="1200" dirty="0" err="1"/>
              <a:t>ngữ</a:t>
            </a:r>
            <a:r>
              <a:rPr lang="en-US" altLang="en-US" sz="1200" dirty="0"/>
              <a:t> </a:t>
            </a:r>
            <a:r>
              <a:rPr lang="en-US" altLang="en-US" sz="1200" dirty="0" err="1"/>
              <a:t>lập</a:t>
            </a:r>
            <a:r>
              <a:rPr lang="en-US" altLang="en-US" sz="1200" dirty="0"/>
              <a:t> </a:t>
            </a:r>
            <a:r>
              <a:rPr lang="en-US" altLang="en-US" sz="1200" dirty="0" err="1"/>
              <a:t>trình</a:t>
            </a:r>
            <a:r>
              <a:rPr lang="en-US" altLang="en-US" sz="1200" dirty="0"/>
              <a:t> </a:t>
            </a:r>
            <a:r>
              <a:rPr lang="en-US" altLang="en-US" sz="1200" dirty="0" err="1"/>
              <a:t>cụ</a:t>
            </a:r>
            <a:r>
              <a:rPr lang="en-US" altLang="en-US" sz="1200" dirty="0"/>
              <a:t> </a:t>
            </a:r>
            <a:r>
              <a:rPr lang="en-US" altLang="en-US" sz="1200" dirty="0" err="1"/>
              <a:t>thể</a:t>
            </a:r>
            <a:r>
              <a:rPr lang="en-US" altLang="en-US" sz="1200" dirty="0"/>
              <a:t>. </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9</a:t>
            </a:fld>
            <a:endParaRPr lang="en-US"/>
          </a:p>
        </p:txBody>
      </p:sp>
    </p:spTree>
    <p:extLst>
      <p:ext uri="{BB962C8B-B14F-4D97-AF65-F5344CB8AC3E}">
        <p14:creationId xmlns:p14="http://schemas.microsoft.com/office/powerpoint/2010/main" val="3565235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Bước 1: Chọn một ngôn ngữ lập trình thích hợp. Đây sẽ là ngôn ngữ đích để</a:t>
            </a:r>
          </a:p>
          <a:p>
            <a:r>
              <a:rPr lang="vi-VN" dirty="0"/>
              <a:t>biểu diễn và thực hiện giải thuật. Nó là cái đích của quá trình tinh chỉnh của </a:t>
            </a:r>
          </a:p>
          <a:p>
            <a:r>
              <a:rPr lang="vi-VN" dirty="0"/>
              <a:t>chúng ta. Do chúng ta quy ước chọn C làm ngôn ngữ để biểu diễn các giải </a:t>
            </a:r>
          </a:p>
          <a:p>
            <a:r>
              <a:rPr lang="vi-VN" dirty="0"/>
              <a:t>thuật, nên ở bước này ta sẽ mặc định chọn ngôn ngữ C. </a:t>
            </a:r>
          </a:p>
          <a:p>
            <a:r>
              <a:rPr lang="vi-VN" dirty="0"/>
              <a:t>Bước 2: </a:t>
            </a:r>
            <a:endParaRPr lang="en-US" dirty="0"/>
          </a:p>
          <a:p>
            <a:r>
              <a:rPr lang="vi-VN" dirty="0"/>
              <a:t>Tinh chỉnh dữ liệu: là quá trình chuyển đổi dần từ các thông tin của bài toán sang các cấu trúc dữ liệu tương ứng, sau đó sang các cấu trúc lưu trữ thích hợp mà ngôn ngữ lập trình hỗ trợ. Nếu cấu trúc lưu trữ chưa được hỗ trợ thì ta phải tiến hành việc xây dựng cấu trúc lưu trữ thích hợp. Nói chung, không có ngôn ngữ lập trình nào có thể hỗ trợ cho tất cả các cấu trúc lưu trữ. Do đó, nó luôn cung cấp các phương pháp, công cụ để giúp chúng ta xây dựng các cấu trúc lưu trữ mới thích hợp để biểu diễn các cấu trúc dữ liệu của chúng ta. </a:t>
            </a:r>
            <a:endParaRPr lang="en-US" dirty="0"/>
          </a:p>
          <a:p>
            <a:r>
              <a:rPr lang="vi-VN" dirty="0"/>
              <a:t>Tinh chỉnh thao tác: là quá trình chuyển đổi dần từ mô tả các bước thực hiện trong giải thuật bằng ngôn ngữ tự nhiên sang các lệnh tương ứng của ngôn ngữ lập trình. Tương tự như quá trình tinh chỉnh dữ liệu, trong trường hợp ngôn ngữ lập trình không hỗ trợ các lệnh tương ứng thì nó cũng cung cấp các phương pháp và công cụ giúp chúng ta tự xây dựng các thao tác phù hợp. Hai quá trình tinh chỉnh dữ liệu và thao tác không phải được thực hiện độc lập mà liên quan chặt chẽ với nhau và thường được thực hiện một cách song song.</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11</a:t>
            </a:fld>
            <a:endParaRPr lang="en-US"/>
          </a:p>
        </p:txBody>
      </p:sp>
    </p:spTree>
    <p:extLst>
      <p:ext uri="{BB962C8B-B14F-4D97-AF65-F5344CB8AC3E}">
        <p14:creationId xmlns:p14="http://schemas.microsoft.com/office/powerpoint/2010/main" val="28350516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Thực hiện bước này trong n-1 lần. Lần thứ i (i = 1..n-1) thực hiện: o Tìm km = min(ki , ki+1, .., kn) với i  m  n o Kiểm tra nếu ki</a:t>
            </a:r>
            <a:r>
              <a:rPr lang="en-US" dirty="0"/>
              <a:t> </a:t>
            </a:r>
            <a:r>
              <a:rPr lang="en-US" dirty="0" err="1"/>
              <a:t>khác</a:t>
            </a:r>
            <a:r>
              <a:rPr lang="en-US" baseline="0" dirty="0"/>
              <a:t> </a:t>
            </a:r>
            <a:r>
              <a:rPr lang="vi-VN" dirty="0"/>
              <a:t>km thì hoán đổi ki cho km</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13</a:t>
            </a:fld>
            <a:endParaRPr lang="en-US"/>
          </a:p>
        </p:txBody>
      </p:sp>
    </p:spTree>
    <p:extLst>
      <p:ext uri="{BB962C8B-B14F-4D97-AF65-F5344CB8AC3E}">
        <p14:creationId xmlns:p14="http://schemas.microsoft.com/office/powerpoint/2010/main" val="3218747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khi giải thuật được thực hiện trên máy tính, nó sẽ cần các tài nguyên tính toán, gồm có hai loại chính là thời gian chạy và dung lượng bộ nhớ mà giải thuật cần. Thời gian chạy là một yếu tố căn bản giúp chúng ta đánh giá tính thực tế của giải thuật. Giải thuật luôn phải có thời gian thực hiện hợp lý thì nó mới có tính thực tế, tức là có thể áp dụng được trong các ứng dụng. Nếu không thì nó chỉ có giá trị về mặt lý thuyế</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16</a:t>
            </a:fld>
            <a:endParaRPr lang="en-US"/>
          </a:p>
        </p:txBody>
      </p:sp>
    </p:spTree>
    <p:extLst>
      <p:ext uri="{BB962C8B-B14F-4D97-AF65-F5344CB8AC3E}">
        <p14:creationId xmlns:p14="http://schemas.microsoft.com/office/powerpoint/2010/main" val="904798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Chứng minh bằng quy nạp</a:t>
            </a:r>
            <a:r>
              <a:rPr lang="en-US" dirty="0"/>
              <a:t>:</a:t>
            </a:r>
            <a:r>
              <a:rPr lang="vi-VN" dirty="0"/>
              <a:t> Phương pháp này gồm hai bước cơ bản:  Bước 1: chứng minh trường hợp cơ sở. Ta cần chỉ ra giải thuật này đúng trong trường hợp đơn giản nhất, thường là trường hợp suy biến. Việc chứng minh này thường rất hiển nhiên.  Bước 2: ta đưa ra một giả thiết quy nạp, tức là giả sử giải thuật đúng với tất cả n giá trị đầu tiên. Ta cần chứng minh giải thuật cũng đúng với giá trị tiếp theo, mà thường là n+1. </a:t>
            </a:r>
            <a:endParaRPr lang="en-US" dirty="0"/>
          </a:p>
          <a:p>
            <a:r>
              <a:rPr lang="vi-VN" dirty="0"/>
              <a:t>Phương pháp này đưa ra một ví dụ cụ thể dùng để chỉ ra sự không đúng đắn của giải thuật. Một trong những nhiệm vụ trong quá trình kiểm thử chương trình chính là tìm các phản ví dụ để phát hiện các chỗ sai sót trong chương trình. </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17</a:t>
            </a:fld>
            <a:endParaRPr lang="en-US"/>
          </a:p>
        </p:txBody>
      </p:sp>
    </p:spTree>
    <p:extLst>
      <p:ext uri="{BB962C8B-B14F-4D97-AF65-F5344CB8AC3E}">
        <p14:creationId xmlns:p14="http://schemas.microsoft.com/office/powerpoint/2010/main" val="4157289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a:t>
            </a:r>
            <a:r>
              <a:rPr lang="en-US" dirty="0" err="1"/>
              <a:t>i</a:t>
            </a:r>
            <a:r>
              <a:rPr lang="en-US" dirty="0"/>
              <a:t>=0;i&lt;100;i++) statement block;  =&gt; number of iterations: 100 </a:t>
            </a:r>
            <a:endParaRPr lang="en-US" baseline="0" dirty="0"/>
          </a:p>
          <a:p>
            <a:r>
              <a:rPr lang="en-US" baseline="0" dirty="0"/>
              <a:t>for(</a:t>
            </a:r>
            <a:r>
              <a:rPr lang="en-US" baseline="0" dirty="0" err="1"/>
              <a:t>i</a:t>
            </a:r>
            <a:r>
              <a:rPr lang="en-US" baseline="0" dirty="0"/>
              <a:t>=0;i&lt;100;i+=2) statement block;  =&gt; number of iterations: 50 </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18</a:t>
            </a:fld>
            <a:endParaRPr lang="en-US"/>
          </a:p>
        </p:txBody>
      </p:sp>
    </p:spTree>
    <p:extLst>
      <p:ext uri="{BB962C8B-B14F-4D97-AF65-F5344CB8AC3E}">
        <p14:creationId xmlns:p14="http://schemas.microsoft.com/office/powerpoint/2010/main" val="3686633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&lt;=2n: 1 </a:t>
            </a:r>
            <a:r>
              <a:rPr lang="en-US" dirty="0" err="1"/>
              <a:t>phép</a:t>
            </a:r>
            <a:r>
              <a:rPr lang="en-US" baseline="0" dirty="0"/>
              <a:t> </a:t>
            </a:r>
            <a:r>
              <a:rPr lang="en-US" baseline="0" dirty="0" err="1"/>
              <a:t>nhân</a:t>
            </a:r>
            <a:r>
              <a:rPr lang="en-US" baseline="0" dirty="0"/>
              <a:t>, 1 </a:t>
            </a:r>
            <a:r>
              <a:rPr lang="en-US" baseline="0" dirty="0" err="1"/>
              <a:t>phép</a:t>
            </a:r>
            <a:r>
              <a:rPr lang="en-US" baseline="0" dirty="0"/>
              <a:t> </a:t>
            </a:r>
            <a:r>
              <a:rPr lang="en-US" baseline="0" dirty="0" err="1"/>
              <a:t>cộng</a:t>
            </a:r>
            <a:r>
              <a:rPr lang="en-US" baseline="0" dirty="0"/>
              <a:t> </a:t>
            </a:r>
            <a:r>
              <a:rPr lang="en-US" baseline="0" dirty="0" err="1"/>
              <a:t>phần</a:t>
            </a:r>
            <a:r>
              <a:rPr lang="en-US" baseline="0" dirty="0"/>
              <a:t> </a:t>
            </a:r>
            <a:r>
              <a:rPr lang="en-US" baseline="0" dirty="0" err="1"/>
              <a:t>nhớ</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19</a:t>
            </a:fld>
            <a:endParaRPr lang="en-US"/>
          </a:p>
        </p:txBody>
      </p:sp>
    </p:spTree>
    <p:extLst>
      <p:ext uri="{BB962C8B-B14F-4D97-AF65-F5344CB8AC3E}">
        <p14:creationId xmlns:p14="http://schemas.microsoft.com/office/powerpoint/2010/main" val="3882112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en-US" dirty="0"/>
              <a:t>(</a:t>
            </a:r>
            <a:r>
              <a:rPr lang="en-US" altLang="en-US" dirty="0" err="1"/>
              <a:t>nếu</a:t>
            </a:r>
            <a:r>
              <a:rPr lang="en-US" altLang="en-US" dirty="0"/>
              <a:t> </a:t>
            </a:r>
            <a:r>
              <a:rPr lang="en-US" altLang="en-US" dirty="0" err="1"/>
              <a:t>không</a:t>
            </a:r>
            <a:r>
              <a:rPr lang="en-US" altLang="en-US" dirty="0"/>
              <a:t> </a:t>
            </a:r>
            <a:r>
              <a:rPr lang="en-US" altLang="en-US" dirty="0" err="1"/>
              <a:t>có</a:t>
            </a:r>
            <a:r>
              <a:rPr lang="en-US" altLang="en-US" dirty="0"/>
              <a:t> </a:t>
            </a:r>
            <a:r>
              <a:rPr lang="en-US" altLang="en-US" dirty="0" err="1"/>
              <a:t>gì</a:t>
            </a:r>
            <a:r>
              <a:rPr lang="en-US" altLang="en-US" dirty="0"/>
              <a:t> </a:t>
            </a:r>
            <a:r>
              <a:rPr lang="en-US" altLang="en-US" dirty="0" err="1"/>
              <a:t>nhầm</a:t>
            </a:r>
            <a:r>
              <a:rPr lang="en-US" altLang="en-US" dirty="0"/>
              <a:t> </a:t>
            </a:r>
            <a:r>
              <a:rPr lang="en-US" altLang="en-US" dirty="0" err="1"/>
              <a:t>lẫn</a:t>
            </a:r>
            <a:r>
              <a:rPr lang="en-US" altLang="en-US" dirty="0"/>
              <a:t> </a:t>
            </a:r>
            <a:r>
              <a:rPr lang="en-US" altLang="en-US" dirty="0" err="1"/>
              <a:t>giải</a:t>
            </a:r>
            <a:r>
              <a:rPr lang="en-US" altLang="en-US" dirty="0"/>
              <a:t> </a:t>
            </a:r>
            <a:r>
              <a:rPr lang="en-US" altLang="en-US" dirty="0" err="1"/>
              <a:t>thuật</a:t>
            </a:r>
            <a:r>
              <a:rPr lang="en-US" altLang="en-US" dirty="0"/>
              <a:t> </a:t>
            </a:r>
            <a:r>
              <a:rPr lang="en-US" altLang="en-US" dirty="0" err="1"/>
              <a:t>thì</a:t>
            </a:r>
            <a:r>
              <a:rPr lang="en-US" altLang="en-US" dirty="0"/>
              <a:t> ta </a:t>
            </a:r>
            <a:r>
              <a:rPr lang="en-US" altLang="en-US" dirty="0" err="1"/>
              <a:t>kí</a:t>
            </a:r>
            <a:r>
              <a:rPr lang="en-US" altLang="en-US" dirty="0"/>
              <a:t> </a:t>
            </a:r>
            <a:r>
              <a:rPr lang="en-US" altLang="en-US" dirty="0" err="1"/>
              <a:t>hiệu</a:t>
            </a:r>
            <a:r>
              <a:rPr lang="en-US" altLang="en-US" dirty="0"/>
              <a:t> </a:t>
            </a:r>
            <a:r>
              <a:rPr lang="en-US" altLang="en-US" dirty="0" err="1"/>
              <a:t>ngắn</a:t>
            </a:r>
            <a:r>
              <a:rPr lang="en-US" altLang="en-US" dirty="0"/>
              <a:t> </a:t>
            </a:r>
            <a:r>
              <a:rPr lang="en-US" altLang="en-US" dirty="0" err="1"/>
              <a:t>gọn</a:t>
            </a:r>
            <a:r>
              <a:rPr lang="en-US" altLang="en-US" dirty="0"/>
              <a:t> </a:t>
            </a:r>
            <a:r>
              <a:rPr lang="en-US" altLang="en-US" dirty="0" err="1"/>
              <a:t>là</a:t>
            </a:r>
            <a:r>
              <a:rPr lang="en-US" altLang="en-US" dirty="0"/>
              <a:t> T(n)). </a:t>
            </a:r>
          </a:p>
          <a:p>
            <a:pPr marL="0" marR="0" lvl="1" indent="0" algn="l" defTabSz="914400" rtl="0" eaLnBrk="1" fontAlgn="base" latinLnBrk="0" hangingPunct="1">
              <a:lnSpc>
                <a:spcPct val="100000"/>
              </a:lnSpc>
              <a:spcBef>
                <a:spcPct val="30000"/>
              </a:spcBef>
              <a:spcAft>
                <a:spcPct val="0"/>
              </a:spcAft>
              <a:buClrTx/>
              <a:buSzTx/>
              <a:buFontTx/>
              <a:buNone/>
              <a:tabLst/>
              <a:defRPr/>
            </a:pPr>
            <a:r>
              <a:rPr lang="en-US" dirty="0"/>
              <a:t>log</a:t>
            </a:r>
            <a:r>
              <a:rPr lang="en-US" baseline="-25000" dirty="0"/>
              <a:t>2</a:t>
            </a:r>
            <a:r>
              <a:rPr lang="en-US" dirty="0"/>
              <a:t>(8) = 3 </a:t>
            </a:r>
            <a:r>
              <a:rPr lang="en-US" dirty="0" err="1"/>
              <a:t>và</a:t>
            </a:r>
            <a:r>
              <a:rPr lang="en-US" dirty="0"/>
              <a:t> 2</a:t>
            </a:r>
            <a:r>
              <a:rPr lang="en-US" baseline="30000" dirty="0"/>
              <a:t>3</a:t>
            </a:r>
            <a:r>
              <a:rPr lang="en-US" dirty="0"/>
              <a:t> = 8. </a:t>
            </a:r>
          </a:p>
          <a:p>
            <a:pPr marL="0" marR="0" lvl="1" indent="0" algn="l" defTabSz="914400" rtl="0" eaLnBrk="1" fontAlgn="base" latinLnBrk="0" hangingPunct="1">
              <a:lnSpc>
                <a:spcPct val="100000"/>
              </a:lnSpc>
              <a:spcBef>
                <a:spcPct val="30000"/>
              </a:spcBef>
              <a:spcAft>
                <a:spcPct val="0"/>
              </a:spcAft>
              <a:buClrTx/>
              <a:buSzTx/>
              <a:buFontTx/>
              <a:buNone/>
              <a:tabLst/>
              <a:defRPr/>
            </a:pPr>
            <a:r>
              <a:rPr lang="vi-VN" dirty="0"/>
              <a:t>log</a:t>
            </a:r>
            <a:r>
              <a:rPr lang="vi-VN" i="1" baseline="-25000" dirty="0"/>
              <a:t>b</a:t>
            </a:r>
            <a:r>
              <a:rPr lang="vi-VN" dirty="0"/>
              <a:t> </a:t>
            </a:r>
            <a:r>
              <a:rPr lang="vi-VN" i="1" dirty="0"/>
              <a:t>x</a:t>
            </a:r>
            <a:r>
              <a:rPr lang="en-US" i="0" baseline="0" dirty="0"/>
              <a:t> = y</a:t>
            </a:r>
            <a:r>
              <a:rPr lang="en-US" i="1" dirty="0"/>
              <a:t>       </a:t>
            </a:r>
            <a:r>
              <a:rPr lang="vi-VN" i="1" dirty="0"/>
              <a:t>b</a:t>
            </a:r>
            <a:r>
              <a:rPr lang="vi-VN" i="1" baseline="30000" dirty="0"/>
              <a:t>y</a:t>
            </a:r>
            <a:r>
              <a:rPr lang="en-US" i="1" baseline="30000" dirty="0"/>
              <a:t> </a:t>
            </a:r>
            <a:r>
              <a:rPr lang="vi-VN" dirty="0"/>
              <a:t> </a:t>
            </a:r>
            <a:r>
              <a:rPr lang="en-US" dirty="0"/>
              <a:t>= x</a:t>
            </a:r>
          </a:p>
          <a:p>
            <a:pPr marL="0" marR="0" lvl="1" indent="0" algn="l" defTabSz="914400" rtl="0" eaLnBrk="1" fontAlgn="base" latinLnBrk="0" hangingPunct="1">
              <a:lnSpc>
                <a:spcPct val="100000"/>
              </a:lnSpc>
              <a:spcBef>
                <a:spcPct val="30000"/>
              </a:spcBef>
              <a:spcAft>
                <a:spcPct val="0"/>
              </a:spcAft>
              <a:buClrTx/>
              <a:buSzTx/>
              <a:buFontTx/>
              <a:buNone/>
              <a:tabLst/>
              <a:defRPr/>
            </a:pPr>
            <a:endParaRPr lang="en-US" altLang="en-US" dirty="0"/>
          </a:p>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en-US" dirty="0" err="1"/>
              <a:t>vòng</a:t>
            </a:r>
            <a:r>
              <a:rPr lang="en-US" altLang="en-US" baseline="0" dirty="0"/>
              <a:t> </a:t>
            </a:r>
            <a:r>
              <a:rPr lang="en-US" altLang="en-US" baseline="0" dirty="0" err="1"/>
              <a:t>lặp</a:t>
            </a:r>
            <a:r>
              <a:rPr lang="en-US" altLang="en-US" baseline="0" dirty="0"/>
              <a:t> </a:t>
            </a:r>
            <a:r>
              <a:rPr lang="en-US" altLang="en-US" baseline="0" dirty="0" err="1"/>
              <a:t>thứ</a:t>
            </a:r>
            <a:r>
              <a:rPr lang="en-US" altLang="en-US" baseline="0" dirty="0"/>
              <a:t> 4</a:t>
            </a:r>
            <a:endParaRPr lang="en-US" altLang="en-US" dirty="0"/>
          </a:p>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en-US" dirty="0"/>
              <a:t>n=10 =&gt; 4 </a:t>
            </a:r>
            <a:r>
              <a:rPr lang="en-US" altLang="en-US" dirty="0" err="1"/>
              <a:t>lần</a:t>
            </a:r>
            <a:r>
              <a:rPr lang="en-US" altLang="en-US" baseline="0" dirty="0"/>
              <a:t> </a:t>
            </a:r>
            <a:r>
              <a:rPr lang="en-US" altLang="en-US" baseline="0" dirty="0" err="1"/>
              <a:t>lặp</a:t>
            </a:r>
            <a:r>
              <a:rPr lang="en-US" altLang="en-US" baseline="0" dirty="0"/>
              <a:t>. log2(10)=3.3</a:t>
            </a:r>
          </a:p>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en-US" dirty="0"/>
              <a:t>n=100 =&gt; 7 </a:t>
            </a:r>
            <a:r>
              <a:rPr lang="en-US" altLang="en-US" dirty="0" err="1"/>
              <a:t>lần</a:t>
            </a:r>
            <a:r>
              <a:rPr lang="en-US" altLang="en-US" baseline="0" dirty="0"/>
              <a:t> </a:t>
            </a:r>
            <a:r>
              <a:rPr lang="en-US" altLang="en-US" baseline="0" dirty="0" err="1"/>
              <a:t>lặp</a:t>
            </a:r>
            <a:r>
              <a:rPr lang="en-US" altLang="en-US" baseline="0" dirty="0"/>
              <a:t>. log2(100)=6.64</a:t>
            </a:r>
          </a:p>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en-US" baseline="0" dirty="0"/>
              <a:t>n=1000 =&gt; 10 </a:t>
            </a:r>
            <a:r>
              <a:rPr lang="en-US" altLang="en-US" baseline="0" dirty="0" err="1"/>
              <a:t>lần</a:t>
            </a:r>
            <a:r>
              <a:rPr lang="en-US" altLang="en-US" baseline="0" dirty="0"/>
              <a:t> </a:t>
            </a:r>
            <a:r>
              <a:rPr lang="en-US" altLang="en-US" baseline="0" dirty="0" err="1"/>
              <a:t>lặp</a:t>
            </a:r>
            <a:r>
              <a:rPr lang="en-US" altLang="en-US" baseline="0" dirty="0"/>
              <a:t>. log2(1000)= 9.97</a:t>
            </a:r>
          </a:p>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en-US" baseline="0" dirty="0"/>
              <a:t>n=10000 =&gt; 14 </a:t>
            </a:r>
            <a:r>
              <a:rPr lang="en-US" altLang="en-US" baseline="0" dirty="0" err="1"/>
              <a:t>lần</a:t>
            </a:r>
            <a:r>
              <a:rPr lang="en-US" altLang="en-US" baseline="0" dirty="0"/>
              <a:t> </a:t>
            </a:r>
            <a:r>
              <a:rPr lang="en-US" altLang="en-US" baseline="0" dirty="0" err="1"/>
              <a:t>lặp</a:t>
            </a:r>
            <a:r>
              <a:rPr lang="en-US" altLang="en-US" baseline="0" dirty="0"/>
              <a:t>. log2(10000)=13.29</a:t>
            </a:r>
            <a:endParaRPr lang="en-US" alt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20</a:t>
            </a:fld>
            <a:endParaRPr lang="en-US"/>
          </a:p>
        </p:txBody>
      </p:sp>
    </p:spTree>
    <p:extLst>
      <p:ext uri="{BB962C8B-B14F-4D97-AF65-F5344CB8AC3E}">
        <p14:creationId xmlns:p14="http://schemas.microsoft.com/office/powerpoint/2010/main" val="3430170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vi-VN" dirty="0"/>
              <a:t>có nhiều giải thuật mà thời gian thực hiện không chỉ phụ thuộc vào kích thước dữ liệu vào mà còn phụ thuộc vào giá trị cụ thể của dữ liệu trong một trường hợp cụ thể. </a:t>
            </a:r>
            <a:r>
              <a:rPr lang="en-US" dirty="0"/>
              <a:t> </a:t>
            </a:r>
          </a:p>
          <a:p>
            <a:r>
              <a:rPr lang="vi-VN" dirty="0"/>
              <a:t>có rất nhiều trường hợp khác nhau cho các thời gian thi hành giải thuật khác nhau. Tuy nhiên, do mục đích tính độ phức tạp của giải thuật để giúp cho ta có một đánh giá sơ bộ về giải thuật cũng như cơ sở để so sánh về hiệu quả thực hiện giữa các giải thuật, nên người ta thường chỉ xét ba trường hợp:</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21</a:t>
            </a:fld>
            <a:endParaRPr lang="en-US"/>
          </a:p>
        </p:txBody>
      </p:sp>
    </p:spTree>
    <p:extLst>
      <p:ext uri="{BB962C8B-B14F-4D97-AF65-F5344CB8AC3E}">
        <p14:creationId xmlns:p14="http://schemas.microsoft.com/office/powerpoint/2010/main" val="1817258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O notation, where O stands for ‘order of’, is concerned with what happens for very</a:t>
            </a:r>
          </a:p>
          <a:p>
            <a:r>
              <a:rPr lang="en-US" dirty="0"/>
              <a:t>large values of n. </a:t>
            </a:r>
          </a:p>
        </p:txBody>
      </p:sp>
      <p:sp>
        <p:nvSpPr>
          <p:cNvPr id="4" name="Slide Number Placeholder 3"/>
          <p:cNvSpPr>
            <a:spLocks noGrp="1"/>
          </p:cNvSpPr>
          <p:nvPr>
            <p:ph type="sldNum" sz="quarter" idx="10"/>
          </p:nvPr>
        </p:nvSpPr>
        <p:spPr/>
        <p:txBody>
          <a:bodyPr/>
          <a:lstStyle/>
          <a:p>
            <a:fld id="{76159C16-962D-45B7-9AE3-AA455C3EA8F0}" type="slidenum">
              <a:rPr lang="en-US" smtClean="0"/>
              <a:pPr/>
              <a:t>22</a:t>
            </a:fld>
            <a:endParaRPr lang="en-US"/>
          </a:p>
        </p:txBody>
      </p:sp>
    </p:spTree>
    <p:extLst>
      <p:ext uri="{BB962C8B-B14F-4D97-AF65-F5344CB8AC3E}">
        <p14:creationId xmlns:p14="http://schemas.microsoft.com/office/powerpoint/2010/main" val="12074957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nSpc>
                    <a:spcPct val="90000"/>
                  </a:lnSpc>
                </a:pPr>
                <a:r>
                  <a:rPr lang="en-US" altLang="en-US" dirty="0"/>
                  <a:t>Cho n </a:t>
                </a:r>
                <a:r>
                  <a:rPr lang="en-US" altLang="en-US" dirty="0" err="1"/>
                  <a:t>là</a:t>
                </a:r>
                <a:r>
                  <a:rPr lang="en-US" altLang="en-US" dirty="0"/>
                  <a:t> </a:t>
                </a:r>
                <a:r>
                  <a:rPr lang="en-US" altLang="en-US" dirty="0" err="1"/>
                  <a:t>một</a:t>
                </a:r>
                <a:r>
                  <a:rPr lang="en-US" altLang="en-US" dirty="0"/>
                  <a:t> </a:t>
                </a:r>
                <a:r>
                  <a:rPr lang="en-US" altLang="en-US" dirty="0" err="1"/>
                  <a:t>số</a:t>
                </a:r>
                <a:r>
                  <a:rPr lang="en-US" altLang="en-US" dirty="0"/>
                  <a:t> </a:t>
                </a:r>
                <a:r>
                  <a:rPr lang="en-US" altLang="en-US" dirty="0" err="1"/>
                  <a:t>nguyên</a:t>
                </a:r>
                <a:r>
                  <a:rPr lang="en-US" altLang="en-US" dirty="0"/>
                  <a:t> </a:t>
                </a:r>
                <a:r>
                  <a:rPr lang="en-US" altLang="en-US" dirty="0" err="1"/>
                  <a:t>không</a:t>
                </a:r>
                <a:r>
                  <a:rPr lang="en-US" altLang="en-US" dirty="0"/>
                  <a:t> </a:t>
                </a:r>
                <a:r>
                  <a:rPr lang="en-US" altLang="en-US" dirty="0" err="1"/>
                  <a:t>âm</a:t>
                </a:r>
                <a:r>
                  <a:rPr lang="en-US" altLang="en-US" dirty="0"/>
                  <a:t>, T(n) </a:t>
                </a:r>
                <a:r>
                  <a:rPr lang="en-US" altLang="en-US" dirty="0" err="1"/>
                  <a:t>và</a:t>
                </a:r>
                <a:r>
                  <a:rPr lang="en-US" altLang="en-US" dirty="0"/>
                  <a:t> f(n) </a:t>
                </a:r>
                <a:r>
                  <a:rPr lang="en-US" altLang="en-US" dirty="0" err="1"/>
                  <a:t>cũng</a:t>
                </a:r>
                <a:r>
                  <a:rPr lang="en-US" altLang="en-US" dirty="0"/>
                  <a:t> </a:t>
                </a:r>
                <a:r>
                  <a:rPr lang="en-US" altLang="en-US" dirty="0" err="1"/>
                  <a:t>là</a:t>
                </a:r>
                <a:r>
                  <a:rPr lang="en-US" altLang="en-US" dirty="0"/>
                  <a:t> </a:t>
                </a:r>
                <a:r>
                  <a:rPr lang="en-US" altLang="en-US" dirty="0" err="1"/>
                  <a:t>các</a:t>
                </a:r>
                <a:r>
                  <a:rPr lang="en-US" altLang="en-US" dirty="0"/>
                  <a:t> </a:t>
                </a:r>
                <a:r>
                  <a:rPr lang="en-US" altLang="en-US" dirty="0" err="1"/>
                  <a:t>hàm</a:t>
                </a:r>
                <a:r>
                  <a:rPr lang="en-US" altLang="en-US" dirty="0"/>
                  <a:t> </a:t>
                </a:r>
                <a:r>
                  <a:rPr lang="en-US" altLang="en-US" dirty="0" err="1"/>
                  <a:t>có</a:t>
                </a:r>
                <a:r>
                  <a:rPr lang="en-US" altLang="en-US" dirty="0"/>
                  <a:t> </a:t>
                </a:r>
                <a:r>
                  <a:rPr lang="en-US" altLang="en-US" dirty="0" err="1"/>
                  <a:t>miền</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cũng</a:t>
                </a:r>
                <a:r>
                  <a:rPr lang="en-US" altLang="en-US" dirty="0"/>
                  <a:t> </a:t>
                </a:r>
                <a:r>
                  <a:rPr lang="en-US" altLang="en-US" dirty="0" err="1"/>
                  <a:t>không</a:t>
                </a:r>
                <a:r>
                  <a:rPr lang="en-US" altLang="en-US" dirty="0"/>
                  <a:t> </a:t>
                </a:r>
                <a:r>
                  <a:rPr lang="en-US" altLang="en-US" dirty="0" err="1"/>
                  <a:t>âm</a:t>
                </a:r>
                <a:r>
                  <a:rPr lang="en-US" altLang="en-US" dirty="0"/>
                  <a:t>. Ta </a:t>
                </a:r>
                <a:r>
                  <a:rPr lang="en-US" altLang="en-US" dirty="0" err="1"/>
                  <a:t>nói</a:t>
                </a:r>
                <a:r>
                  <a:rPr lang="en-US" altLang="en-US" dirty="0"/>
                  <a:t> </a:t>
                </a:r>
                <a:r>
                  <a:rPr lang="en-US" altLang="en-US" b="1" dirty="0"/>
                  <a:t>T(n) </a:t>
                </a:r>
                <a:r>
                  <a:rPr lang="en-US" altLang="en-US" b="1" dirty="0" err="1"/>
                  <a:t>là</a:t>
                </a:r>
                <a:r>
                  <a:rPr lang="en-US" altLang="en-US" b="1" dirty="0"/>
                  <a:t> O </a:t>
                </a:r>
                <a:r>
                  <a:rPr lang="en-US" altLang="en-US" b="1" dirty="0" err="1"/>
                  <a:t>lớn</a:t>
                </a:r>
                <a:r>
                  <a:rPr lang="en-US" altLang="en-US" b="1" dirty="0"/>
                  <a:t> </a:t>
                </a:r>
                <a:r>
                  <a:rPr lang="en-US" altLang="en-US" b="1" dirty="0" err="1"/>
                  <a:t>của</a:t>
                </a:r>
                <a:r>
                  <a:rPr lang="en-US" altLang="en-US" b="1" dirty="0"/>
                  <a:t> f(n) </a:t>
                </a:r>
                <a:r>
                  <a:rPr lang="en-US" altLang="en-US" dirty="0" err="1"/>
                  <a:t>nếu</a:t>
                </a:r>
                <a:r>
                  <a:rPr lang="en-US" altLang="en-US" dirty="0"/>
                  <a:t> </a:t>
                </a:r>
                <a:r>
                  <a:rPr lang="en-US" altLang="en-US" dirty="0" err="1"/>
                  <a:t>và</a:t>
                </a:r>
                <a:r>
                  <a:rPr lang="en-US" altLang="en-US" dirty="0"/>
                  <a:t> </a:t>
                </a:r>
                <a:r>
                  <a:rPr lang="en-US" altLang="en-US" dirty="0" err="1"/>
                  <a:t>chỉ</a:t>
                </a:r>
                <a:r>
                  <a:rPr lang="en-US" altLang="en-US" dirty="0"/>
                  <a:t> </a:t>
                </a:r>
                <a:r>
                  <a:rPr lang="en-US" altLang="en-US" dirty="0" err="1"/>
                  <a:t>nếu</a:t>
                </a:r>
                <a:r>
                  <a:rPr lang="en-US" altLang="en-US" dirty="0"/>
                  <a:t> </a:t>
                </a:r>
                <a:r>
                  <a:rPr lang="en-US" altLang="en-US" dirty="0" err="1"/>
                  <a:t>tồn</a:t>
                </a:r>
                <a:r>
                  <a:rPr lang="en-US" altLang="en-US" dirty="0"/>
                  <a:t> </a:t>
                </a:r>
                <a:r>
                  <a:rPr lang="en-US" altLang="en-US" dirty="0" err="1"/>
                  <a:t>tại</a:t>
                </a:r>
                <a:r>
                  <a:rPr lang="en-US" altLang="en-US" dirty="0"/>
                  <a:t> </a:t>
                </a:r>
                <a:r>
                  <a:rPr lang="en-US" altLang="en-US" dirty="0" err="1"/>
                  <a:t>các</a:t>
                </a:r>
                <a:r>
                  <a:rPr lang="en-US" altLang="en-US" dirty="0"/>
                  <a:t> </a:t>
                </a:r>
                <a:r>
                  <a:rPr lang="en-US" altLang="en-US" dirty="0" err="1"/>
                  <a:t>hằng</a:t>
                </a:r>
                <a:r>
                  <a:rPr lang="en-US" altLang="en-US" dirty="0"/>
                  <a:t> </a:t>
                </a:r>
                <a:r>
                  <a:rPr lang="en-US" altLang="en-US" dirty="0" err="1"/>
                  <a:t>số</a:t>
                </a:r>
                <a:r>
                  <a:rPr lang="en-US" altLang="en-US" dirty="0"/>
                  <a:t> C </a:t>
                </a:r>
                <a:r>
                  <a:rPr lang="en-US" altLang="en-US" b="1" dirty="0" err="1"/>
                  <a:t>dương</a:t>
                </a:r>
                <a:r>
                  <a:rPr lang="en-US" altLang="en-US" baseline="0" dirty="0"/>
                  <a:t> </a:t>
                </a:r>
                <a:r>
                  <a:rPr lang="en-US" altLang="en-US" dirty="0" err="1"/>
                  <a:t>và</a:t>
                </a:r>
                <a:r>
                  <a:rPr lang="en-US" altLang="en-US" dirty="0"/>
                  <a:t> n0 </a:t>
                </a:r>
                <a:r>
                  <a:rPr lang="en-US" altLang="en-US" dirty="0" err="1"/>
                  <a:t>sao</a:t>
                </a:r>
                <a:r>
                  <a:rPr lang="en-US" altLang="en-US" dirty="0"/>
                  <a:t> </a:t>
                </a:r>
                <a:r>
                  <a:rPr lang="en-US" altLang="en-US" dirty="0" err="1"/>
                  <a:t>cho</a:t>
                </a:r>
                <a:r>
                  <a:rPr lang="en-US" altLang="en-US" dirty="0"/>
                  <a:t>: </a:t>
                </a:r>
                <a:r>
                  <a:rPr lang="en-US" altLang="en-US" dirty="0" err="1"/>
                  <a:t>với</a:t>
                </a:r>
                <a:r>
                  <a:rPr lang="en-US" altLang="en-US" dirty="0"/>
                  <a:t> </a:t>
                </a:r>
                <a:r>
                  <a:rPr lang="en-US" altLang="en-US" dirty="0" err="1"/>
                  <a:t>mọi</a:t>
                </a:r>
                <a:r>
                  <a:rPr lang="en-US" altLang="en-US" dirty="0"/>
                  <a:t> n </a:t>
                </a:r>
                <a:r>
                  <a:rPr lang="en-US" altLang="en-US" dirty="0">
                    <a:sym typeface="Symbol" panose="05050102010706020507" pitchFamily="18" charset="2"/>
                  </a:rPr>
                  <a:t></a:t>
                </a:r>
                <a:r>
                  <a:rPr lang="en-US" altLang="en-US" dirty="0"/>
                  <a:t> n0 </a:t>
                </a:r>
                <a:r>
                  <a:rPr lang="en-US" altLang="en-US" dirty="0" err="1"/>
                  <a:t>thì</a:t>
                </a:r>
                <a:r>
                  <a:rPr lang="en-US" altLang="en-US" dirty="0"/>
                  <a:t> T(n)</a:t>
                </a:r>
                <a:r>
                  <a:rPr lang="en-US" altLang="en-US" dirty="0">
                    <a:sym typeface="Symbol" panose="05050102010706020507" pitchFamily="18" charset="2"/>
                  </a:rPr>
                  <a:t></a:t>
                </a:r>
                <a:r>
                  <a:rPr lang="en-US" altLang="en-US" dirty="0" err="1"/>
                  <a:t>C.f</a:t>
                </a:r>
                <a:r>
                  <a:rPr lang="en-US" altLang="en-US" dirty="0"/>
                  <a:t>(n)</a:t>
                </a:r>
              </a:p>
              <a:p>
                <a:pPr marL="0" marR="0" indent="0" algn="l" defTabSz="914400" rtl="0" eaLnBrk="1" fontAlgn="base" latinLnBrk="0" hangingPunct="1">
                  <a:lnSpc>
                    <a:spcPct val="90000"/>
                  </a:lnSpc>
                  <a:spcBef>
                    <a:spcPct val="30000"/>
                  </a:spcBef>
                  <a:spcAft>
                    <a:spcPct val="0"/>
                  </a:spcAft>
                  <a:buClrTx/>
                  <a:buSzTx/>
                  <a:buFontTx/>
                  <a:buNone/>
                  <a:tabLst/>
                  <a:defRPr/>
                </a:pPr>
                <a:r>
                  <a:rPr lang="en-US" altLang="en-US" dirty="0" err="1"/>
                  <a:t>Từ</a:t>
                </a:r>
                <a:r>
                  <a:rPr lang="en-US" altLang="en-US" dirty="0"/>
                  <a:t> </a:t>
                </a:r>
                <a:r>
                  <a:rPr lang="en-US" altLang="en-US" dirty="0" err="1"/>
                  <a:t>định</a:t>
                </a:r>
                <a:r>
                  <a:rPr lang="en-US" altLang="en-US" dirty="0"/>
                  <a:t> </a:t>
                </a:r>
                <a:r>
                  <a:rPr lang="en-US" altLang="en-US" dirty="0" err="1"/>
                  <a:t>nghĩa</a:t>
                </a:r>
                <a:r>
                  <a:rPr lang="en-US" altLang="en-US" dirty="0"/>
                  <a:t> ta </a:t>
                </a:r>
                <a:r>
                  <a:rPr lang="en-US" altLang="en-US" dirty="0" err="1"/>
                  <a:t>thấy</a:t>
                </a:r>
                <a:r>
                  <a:rPr lang="en-US" altLang="en-US" dirty="0"/>
                  <a:t> C*f(n) </a:t>
                </a:r>
                <a:r>
                  <a:rPr lang="en-US" altLang="en-US" dirty="0" err="1"/>
                  <a:t>là</a:t>
                </a:r>
                <a:r>
                  <a:rPr lang="en-US" altLang="en-US" dirty="0"/>
                  <a:t> </a:t>
                </a:r>
                <a:r>
                  <a:rPr lang="en-US" altLang="en-US" b="1" dirty="0" err="1"/>
                  <a:t>hàm</a:t>
                </a:r>
                <a:r>
                  <a:rPr lang="en-US" altLang="en-US" b="1" dirty="0"/>
                  <a:t> </a:t>
                </a:r>
                <a:r>
                  <a:rPr lang="en-US" altLang="en-US" b="1" dirty="0" err="1"/>
                  <a:t>tiệm</a:t>
                </a:r>
                <a:r>
                  <a:rPr lang="en-US" altLang="en-US" b="1" dirty="0"/>
                  <a:t> </a:t>
                </a:r>
                <a:r>
                  <a:rPr lang="en-US" altLang="en-US" b="1" dirty="0" err="1"/>
                  <a:t>cận</a:t>
                </a:r>
                <a:r>
                  <a:rPr lang="en-US" altLang="en-US" b="1" dirty="0"/>
                  <a:t> </a:t>
                </a:r>
                <a:r>
                  <a:rPr lang="en-US" altLang="en-US" b="1" dirty="0" err="1"/>
                  <a:t>trên</a:t>
                </a:r>
                <a:r>
                  <a:rPr lang="en-US" altLang="en-US" b="1" dirty="0"/>
                  <a:t> </a:t>
                </a:r>
                <a:r>
                  <a:rPr lang="en-US" altLang="en-US" dirty="0" err="1"/>
                  <a:t>của</a:t>
                </a:r>
                <a:r>
                  <a:rPr lang="en-US" altLang="en-US" dirty="0"/>
                  <a:t> T(n). Hay </a:t>
                </a:r>
                <a:r>
                  <a:rPr lang="en-US" altLang="en-US" dirty="0" err="1"/>
                  <a:t>hàm</a:t>
                </a:r>
                <a:r>
                  <a:rPr lang="en-US" altLang="en-US" dirty="0"/>
                  <a:t> T(n) tang </a:t>
                </a:r>
                <a:r>
                  <a:rPr lang="en-US" altLang="en-US" dirty="0" err="1"/>
                  <a:t>trưởng</a:t>
                </a:r>
                <a:r>
                  <a:rPr lang="en-US" altLang="en-US" dirty="0"/>
                  <a:t> </a:t>
                </a:r>
                <a:r>
                  <a:rPr lang="en-US" altLang="en-US" dirty="0" err="1"/>
                  <a:t>với</a:t>
                </a:r>
                <a:r>
                  <a:rPr lang="en-US" altLang="en-US" dirty="0"/>
                  <a:t> </a:t>
                </a:r>
                <a:r>
                  <a:rPr lang="en-US" altLang="en-US" dirty="0" err="1"/>
                  <a:t>tốc</a:t>
                </a:r>
                <a:r>
                  <a:rPr lang="en-US" altLang="en-US" dirty="0"/>
                  <a:t> </a:t>
                </a:r>
                <a:r>
                  <a:rPr lang="en-US" altLang="en-US" dirty="0" err="1"/>
                  <a:t>độ</a:t>
                </a:r>
                <a:r>
                  <a:rPr lang="en-US" altLang="en-US" dirty="0"/>
                  <a:t> </a:t>
                </a:r>
                <a:r>
                  <a:rPr lang="en-US" altLang="en-US" dirty="0" err="1"/>
                  <a:t>không</a:t>
                </a:r>
                <a:r>
                  <a:rPr lang="en-US" altLang="en-US" dirty="0"/>
                  <a:t> </a:t>
                </a:r>
                <a:r>
                  <a:rPr lang="en-US" altLang="en-US" dirty="0" err="1"/>
                  <a:t>nhanh</a:t>
                </a:r>
                <a:r>
                  <a:rPr lang="en-US" altLang="en-US" dirty="0"/>
                  <a:t> </a:t>
                </a:r>
                <a:r>
                  <a:rPr lang="en-US" altLang="en-US" dirty="0" err="1"/>
                  <a:t>hơn</a:t>
                </a:r>
                <a:r>
                  <a:rPr lang="en-US" altLang="en-US" dirty="0"/>
                  <a:t> C*f(n)</a:t>
                </a:r>
              </a:p>
              <a:p>
                <a:pPr marL="0" marR="0" indent="0" algn="l" defTabSz="914400" rtl="0" eaLnBrk="1" fontAlgn="base" latinLnBrk="0" hangingPunct="1">
                  <a:lnSpc>
                    <a:spcPct val="90000"/>
                  </a:lnSpc>
                  <a:spcBef>
                    <a:spcPct val="30000"/>
                  </a:spcBef>
                  <a:spcAft>
                    <a:spcPct val="0"/>
                  </a:spcAft>
                  <a:buClrTx/>
                  <a:buSzTx/>
                  <a:buFontTx/>
                  <a:buNone/>
                  <a:tabLst/>
                  <a:defRPr/>
                </a:pPr>
                <a:r>
                  <a:rPr lang="en-US" dirty="0"/>
                  <a:t>Big-O expresses an upper bound on the growth rate of a function, for sufficiently large values of </a:t>
                </a:r>
                <a14:m>
                  <m:oMath xmlns:m="http://schemas.openxmlformats.org/officeDocument/2006/math">
                    <m:r>
                      <a:rPr lang="en-US" i="1" dirty="0" smtClean="0">
                        <a:latin typeface="Cambria Math" panose="02040503050406030204" pitchFamily="18" charset="0"/>
                      </a:rPr>
                      <m:t>𝑛</m:t>
                    </m:r>
                  </m:oMath>
                </a14:m>
                <a:endParaRPr lang="en-US" dirty="0"/>
              </a:p>
              <a:p>
                <a:pPr eaLnBrk="1" hangingPunct="1">
                  <a:lnSpc>
                    <a:spcPct val="90000"/>
                  </a:lnSpc>
                </a:pPr>
                <a:endParaRPr lang="en-US" altLang="en-US" dirty="0"/>
              </a:p>
              <a:p>
                <a:pPr eaLnBrk="1" hangingPunct="1">
                  <a:lnSpc>
                    <a:spcPct val="90000"/>
                  </a:lnSpc>
                </a:pPr>
                <a:r>
                  <a:rPr lang="en-US" altLang="en-US" dirty="0" err="1"/>
                  <a:t>Thời</a:t>
                </a:r>
                <a:r>
                  <a:rPr lang="en-US" altLang="en-US" dirty="0"/>
                  <a:t> </a:t>
                </a:r>
                <a:r>
                  <a:rPr lang="en-US" altLang="en-US" dirty="0" err="1"/>
                  <a:t>gian</a:t>
                </a:r>
                <a:r>
                  <a:rPr lang="en-US" altLang="en-US" dirty="0"/>
                  <a:t> </a:t>
                </a:r>
                <a:r>
                  <a:rPr lang="en-US" altLang="en-US" dirty="0" err="1"/>
                  <a:t>thực</a:t>
                </a:r>
                <a:r>
                  <a:rPr lang="en-US" altLang="en-US" baseline="0" dirty="0"/>
                  <a:t> </a:t>
                </a:r>
                <a:r>
                  <a:rPr lang="en-US" altLang="en-US" baseline="0" dirty="0" err="1"/>
                  <a:t>hiện</a:t>
                </a:r>
                <a:r>
                  <a:rPr lang="en-US" altLang="en-US" baseline="0" dirty="0"/>
                  <a:t> </a:t>
                </a:r>
                <a:r>
                  <a:rPr lang="en-US" altLang="en-US" baseline="0" dirty="0" err="1"/>
                  <a:t>giải</a:t>
                </a:r>
                <a:r>
                  <a:rPr lang="en-US" altLang="en-US" baseline="0" dirty="0"/>
                  <a:t> </a:t>
                </a:r>
                <a:r>
                  <a:rPr lang="en-US" altLang="en-US" baseline="0" dirty="0" err="1"/>
                  <a:t>thuật</a:t>
                </a:r>
                <a:r>
                  <a:rPr lang="en-US" altLang="en-US" baseline="0" dirty="0"/>
                  <a:t> (=T(n)) </a:t>
                </a:r>
                <a:r>
                  <a:rPr lang="en-US" altLang="en-US" baseline="0" dirty="0" err="1"/>
                  <a:t>khi</a:t>
                </a:r>
                <a:r>
                  <a:rPr lang="en-US" altLang="en-US" baseline="0" dirty="0"/>
                  <a:t> n </a:t>
                </a:r>
                <a:r>
                  <a:rPr lang="en-US" altLang="en-US" baseline="0" dirty="0" err="1"/>
                  <a:t>đủ</a:t>
                </a:r>
                <a:r>
                  <a:rPr lang="en-US" altLang="en-US" baseline="0" dirty="0"/>
                  <a:t> </a:t>
                </a:r>
                <a:r>
                  <a:rPr lang="en-US" altLang="en-US" baseline="0" dirty="0" err="1"/>
                  <a:t>lớn</a:t>
                </a:r>
                <a:r>
                  <a:rPr lang="en-US" altLang="en-US" baseline="0" dirty="0"/>
                  <a:t> </a:t>
                </a:r>
                <a:r>
                  <a:rPr lang="en-US" altLang="en-US" baseline="0" dirty="0" err="1"/>
                  <a:t>luôn</a:t>
                </a:r>
                <a:r>
                  <a:rPr lang="en-US" altLang="en-US" baseline="0" dirty="0"/>
                  <a:t> </a:t>
                </a:r>
                <a:r>
                  <a:rPr lang="en-US" altLang="en-US" baseline="0" dirty="0" err="1"/>
                  <a:t>nhỏ</a:t>
                </a:r>
                <a:r>
                  <a:rPr lang="en-US" altLang="en-US" baseline="0" dirty="0"/>
                  <a:t> </a:t>
                </a:r>
                <a:r>
                  <a:rPr lang="en-US" altLang="en-US" baseline="0" dirty="0" err="1"/>
                  <a:t>hơn</a:t>
                </a:r>
                <a:r>
                  <a:rPr lang="en-US" altLang="en-US" baseline="0" dirty="0"/>
                  <a:t> C*f(n). C*f(n) </a:t>
                </a:r>
                <a:r>
                  <a:rPr lang="en-US" altLang="en-US" baseline="0" dirty="0" err="1"/>
                  <a:t>là</a:t>
                </a:r>
                <a:r>
                  <a:rPr lang="en-US" altLang="en-US" baseline="0" dirty="0"/>
                  <a:t> </a:t>
                </a:r>
                <a:r>
                  <a:rPr lang="en-US" altLang="en-US" baseline="0" dirty="0" err="1"/>
                  <a:t>tiệm</a:t>
                </a:r>
                <a:r>
                  <a:rPr lang="en-US" altLang="en-US" baseline="0" dirty="0"/>
                  <a:t> </a:t>
                </a:r>
                <a:r>
                  <a:rPr lang="en-US" altLang="en-US" baseline="0" dirty="0" err="1"/>
                  <a:t>cận</a:t>
                </a:r>
                <a:r>
                  <a:rPr lang="en-US" altLang="en-US" baseline="0" dirty="0"/>
                  <a:t> </a:t>
                </a:r>
                <a:r>
                  <a:rPr lang="en-US" altLang="en-US" baseline="0" dirty="0" err="1"/>
                  <a:t>trên</a:t>
                </a:r>
                <a:r>
                  <a:rPr lang="en-US" altLang="en-US" baseline="0" dirty="0"/>
                  <a:t> </a:t>
                </a:r>
                <a:r>
                  <a:rPr lang="en-US" altLang="en-US" baseline="0" dirty="0" err="1"/>
                  <a:t>của</a:t>
                </a:r>
                <a:r>
                  <a:rPr lang="en-US" altLang="en-US" baseline="0" dirty="0"/>
                  <a:t> T(n) =&gt; T(n) </a:t>
                </a:r>
                <a:r>
                  <a:rPr lang="en-US" altLang="en-US" baseline="0" dirty="0" err="1"/>
                  <a:t>không</a:t>
                </a:r>
                <a:r>
                  <a:rPr lang="en-US" altLang="en-US" baseline="0" dirty="0"/>
                  <a:t> </a:t>
                </a:r>
                <a:r>
                  <a:rPr lang="en-US" altLang="en-US" baseline="0" dirty="0" err="1"/>
                  <a:t>thể</a:t>
                </a:r>
                <a:r>
                  <a:rPr lang="en-US" altLang="en-US" baseline="0" dirty="0"/>
                  <a:t> </a:t>
                </a:r>
                <a:r>
                  <a:rPr lang="en-US" altLang="en-US" baseline="0" dirty="0" err="1"/>
                  <a:t>vượt</a:t>
                </a:r>
                <a:r>
                  <a:rPr lang="en-US" altLang="en-US" baseline="0" dirty="0"/>
                  <a:t> qua C*f(n)</a:t>
                </a:r>
              </a:p>
              <a:p>
                <a:pPr eaLnBrk="1" hangingPunct="1">
                  <a:lnSpc>
                    <a:spcPct val="90000"/>
                  </a:lnSpc>
                </a:pPr>
                <a:endParaRPr lang="en-US" altLang="en-US" baseline="0" dirty="0"/>
              </a:p>
              <a:p>
                <a:pPr eaLnBrk="1" hangingPunct="1">
                  <a:lnSpc>
                    <a:spcPct val="90000"/>
                  </a:lnSpc>
                </a:pPr>
                <a:r>
                  <a:rPr lang="en-US" altLang="en-US" baseline="0" dirty="0" err="1"/>
                  <a:t>Độ</a:t>
                </a:r>
                <a:r>
                  <a:rPr lang="en-US" altLang="en-US" baseline="0" dirty="0"/>
                  <a:t> </a:t>
                </a:r>
                <a:r>
                  <a:rPr lang="en-US" altLang="en-US" baseline="0" dirty="0" err="1"/>
                  <a:t>phức</a:t>
                </a:r>
                <a:r>
                  <a:rPr lang="en-US" altLang="en-US" baseline="0" dirty="0"/>
                  <a:t> </a:t>
                </a:r>
                <a:r>
                  <a:rPr lang="en-US" altLang="en-US" baseline="0" dirty="0" err="1"/>
                  <a:t>tạp</a:t>
                </a:r>
                <a:r>
                  <a:rPr lang="en-US" altLang="en-US" baseline="0" dirty="0"/>
                  <a:t> </a:t>
                </a:r>
                <a:r>
                  <a:rPr lang="en-US" altLang="en-US" baseline="0" dirty="0" err="1"/>
                  <a:t>của</a:t>
                </a:r>
                <a:r>
                  <a:rPr lang="en-US" altLang="en-US" baseline="0" dirty="0"/>
                  <a:t> </a:t>
                </a:r>
                <a:r>
                  <a:rPr lang="en-US" altLang="en-US" baseline="0" dirty="0" err="1"/>
                  <a:t>giải</a:t>
                </a:r>
                <a:r>
                  <a:rPr lang="en-US" altLang="en-US" baseline="0" dirty="0"/>
                  <a:t> </a:t>
                </a:r>
                <a:r>
                  <a:rPr lang="en-US" altLang="en-US" baseline="0" dirty="0" err="1"/>
                  <a:t>thuật</a:t>
                </a:r>
                <a:r>
                  <a:rPr lang="en-US" altLang="en-US" baseline="0" dirty="0"/>
                  <a:t> </a:t>
                </a:r>
                <a:r>
                  <a:rPr lang="en-US" altLang="en-US" baseline="0" dirty="0" err="1"/>
                  <a:t>được</a:t>
                </a:r>
                <a:r>
                  <a:rPr lang="en-US" altLang="en-US" baseline="0" dirty="0"/>
                  <a:t> </a:t>
                </a:r>
                <a:r>
                  <a:rPr lang="en-US" altLang="en-US" baseline="0" dirty="0" err="1"/>
                  <a:t>xác</a:t>
                </a:r>
                <a:r>
                  <a:rPr lang="en-US" altLang="en-US" baseline="0" dirty="0"/>
                  <a:t> </a:t>
                </a:r>
                <a:r>
                  <a:rPr lang="en-US" altLang="en-US" baseline="0" dirty="0" err="1"/>
                  <a:t>định</a:t>
                </a:r>
                <a:r>
                  <a:rPr lang="en-US" altLang="en-US" baseline="0" dirty="0"/>
                  <a:t> </a:t>
                </a:r>
                <a:r>
                  <a:rPr lang="en-US" altLang="en-US" baseline="0" dirty="0" err="1"/>
                  <a:t>dựa</a:t>
                </a:r>
                <a:r>
                  <a:rPr lang="en-US" altLang="en-US" baseline="0" dirty="0"/>
                  <a:t> </a:t>
                </a:r>
                <a:r>
                  <a:rPr lang="en-US" altLang="en-US" baseline="0" dirty="0" err="1"/>
                  <a:t>trên</a:t>
                </a:r>
                <a:r>
                  <a:rPr lang="en-US" altLang="en-US" baseline="0" dirty="0"/>
                  <a:t> </a:t>
                </a:r>
                <a:r>
                  <a:rPr lang="en-US" altLang="en-US" baseline="0" dirty="0" err="1"/>
                  <a:t>thời</a:t>
                </a:r>
                <a:r>
                  <a:rPr lang="en-US" altLang="en-US" baseline="0" dirty="0"/>
                  <a:t> </a:t>
                </a:r>
                <a:r>
                  <a:rPr lang="en-US" altLang="en-US" baseline="0" dirty="0" err="1"/>
                  <a:t>gian</a:t>
                </a:r>
                <a:r>
                  <a:rPr lang="en-US" altLang="en-US" baseline="0" dirty="0"/>
                  <a:t> </a:t>
                </a:r>
                <a:r>
                  <a:rPr lang="en-US" altLang="en-US" baseline="0" dirty="0" err="1"/>
                  <a:t>tối</a:t>
                </a:r>
                <a:r>
                  <a:rPr lang="en-US" altLang="en-US" baseline="0" dirty="0"/>
                  <a:t> </a:t>
                </a:r>
                <a:r>
                  <a:rPr lang="en-US" altLang="en-US" baseline="0" dirty="0" err="1"/>
                  <a:t>đa</a:t>
                </a:r>
                <a:r>
                  <a:rPr lang="en-US" altLang="en-US" baseline="0" dirty="0"/>
                  <a:t> </a:t>
                </a:r>
                <a:r>
                  <a:rPr lang="en-US" altLang="en-US" baseline="0" dirty="0" err="1"/>
                  <a:t>thực</a:t>
                </a:r>
                <a:r>
                  <a:rPr lang="en-US" altLang="en-US" baseline="0" dirty="0"/>
                  <a:t> </a:t>
                </a:r>
                <a:r>
                  <a:rPr lang="en-US" altLang="en-US" baseline="0" dirty="0" err="1"/>
                  <a:t>hiện</a:t>
                </a:r>
                <a:r>
                  <a:rPr lang="en-US" altLang="en-US" baseline="0" dirty="0"/>
                  <a:t> </a:t>
                </a:r>
                <a:r>
                  <a:rPr lang="en-US" altLang="en-US" baseline="0" dirty="0" err="1"/>
                  <a:t>giải</a:t>
                </a:r>
                <a:r>
                  <a:rPr lang="en-US" altLang="en-US" baseline="0" dirty="0"/>
                  <a:t> </a:t>
                </a:r>
                <a:r>
                  <a:rPr lang="en-US" altLang="en-US" baseline="0" dirty="0" err="1"/>
                  <a:t>thuật</a:t>
                </a:r>
                <a:r>
                  <a:rPr lang="en-US" altLang="en-US" baseline="0" dirty="0"/>
                  <a:t>. =&gt; </a:t>
                </a:r>
                <a:r>
                  <a:rPr lang="en-US" altLang="en-US" baseline="0" dirty="0" err="1"/>
                  <a:t>có</a:t>
                </a:r>
                <a:r>
                  <a:rPr lang="en-US" altLang="en-US" baseline="0" dirty="0"/>
                  <a:t> </a:t>
                </a:r>
                <a:r>
                  <a:rPr lang="en-US" altLang="en-US" baseline="0" dirty="0" err="1"/>
                  <a:t>thể</a:t>
                </a:r>
                <a:r>
                  <a:rPr lang="en-US" altLang="en-US" baseline="0" dirty="0"/>
                  <a:t> so </a:t>
                </a:r>
                <a:r>
                  <a:rPr lang="en-US" altLang="en-US" baseline="0" dirty="0" err="1"/>
                  <a:t>sánh</a:t>
                </a:r>
                <a:r>
                  <a:rPr lang="en-US" altLang="en-US" baseline="0" dirty="0"/>
                  <a:t> </a:t>
                </a:r>
                <a:r>
                  <a:rPr lang="en-US" altLang="en-US" baseline="0" dirty="0" err="1"/>
                  <a:t>các</a:t>
                </a:r>
                <a:r>
                  <a:rPr lang="en-US" altLang="en-US" baseline="0" dirty="0"/>
                  <a:t> </a:t>
                </a:r>
                <a:r>
                  <a:rPr lang="en-US" altLang="en-US" baseline="0" dirty="0" err="1"/>
                  <a:t>giải</a:t>
                </a:r>
                <a:r>
                  <a:rPr lang="en-US" altLang="en-US" baseline="0" dirty="0"/>
                  <a:t> </a:t>
                </a:r>
                <a:r>
                  <a:rPr lang="en-US" altLang="en-US" baseline="0" dirty="0" err="1"/>
                  <a:t>thuật</a:t>
                </a:r>
                <a:r>
                  <a:rPr lang="en-US" altLang="en-US" baseline="0" dirty="0"/>
                  <a:t> </a:t>
                </a:r>
                <a:r>
                  <a:rPr lang="en-US" altLang="en-US" baseline="0" dirty="0" err="1"/>
                  <a:t>với</a:t>
                </a:r>
                <a:r>
                  <a:rPr lang="en-US" altLang="en-US" baseline="0" dirty="0"/>
                  <a:t> </a:t>
                </a:r>
                <a:r>
                  <a:rPr lang="en-US" altLang="en-US" baseline="0" dirty="0" err="1"/>
                  <a:t>nhau</a:t>
                </a:r>
                <a:endParaRPr lang="en-US" altLang="en-US" baseline="0" dirty="0"/>
              </a:p>
              <a:p>
                <a:pPr eaLnBrk="1" hangingPunct="1">
                  <a:lnSpc>
                    <a:spcPct val="90000"/>
                  </a:lnSpc>
                </a:pPr>
                <a:endParaRPr lang="en-US" altLang="en-US" dirty="0"/>
              </a:p>
              <a:p>
                <a:pPr eaLnBrk="1" hangingPunct="1">
                  <a:lnSpc>
                    <a:spcPct val="90000"/>
                  </a:lnSpc>
                </a:pPr>
                <a:r>
                  <a:rPr lang="en-US" altLang="en-US" dirty="0"/>
                  <a:t>https://www.tutorialandexample.com/big-o-notations-in-data-structures</a:t>
                </a:r>
              </a:p>
            </p:txBody>
          </p:sp>
        </mc:Choice>
        <mc:Fallback xmlns="">
          <p:sp>
            <p:nvSpPr>
              <p:cNvPr id="3" name="Notes Placeholder 2"/>
              <p:cNvSpPr>
                <a:spLocks noGrp="1"/>
              </p:cNvSpPr>
              <p:nvPr>
                <p:ph type="body" idx="1"/>
              </p:nvPr>
            </p:nvSpPr>
            <p:spPr/>
            <p:txBody>
              <a:bodyPr/>
              <a:lstStyle/>
              <a:p>
                <a:pPr>
                  <a:lnSpc>
                    <a:spcPct val="90000"/>
                  </a:lnSpc>
                </a:pPr>
                <a:r>
                  <a:rPr lang="en-US" altLang="en-US" dirty="0" smtClean="0"/>
                  <a:t>Cho n </a:t>
                </a:r>
                <a:r>
                  <a:rPr lang="en-US" altLang="en-US" dirty="0" err="1" smtClean="0"/>
                  <a:t>là</a:t>
                </a:r>
                <a:r>
                  <a:rPr lang="en-US" altLang="en-US" dirty="0" smtClean="0"/>
                  <a:t> </a:t>
                </a:r>
                <a:r>
                  <a:rPr lang="en-US" altLang="en-US" dirty="0" err="1" smtClean="0"/>
                  <a:t>một</a:t>
                </a:r>
                <a:r>
                  <a:rPr lang="en-US" altLang="en-US" dirty="0" smtClean="0"/>
                  <a:t> </a:t>
                </a:r>
                <a:r>
                  <a:rPr lang="en-US" altLang="en-US" dirty="0" err="1" smtClean="0"/>
                  <a:t>số</a:t>
                </a:r>
                <a:r>
                  <a:rPr lang="en-US" altLang="en-US" dirty="0" smtClean="0"/>
                  <a:t> </a:t>
                </a:r>
                <a:r>
                  <a:rPr lang="en-US" altLang="en-US" dirty="0" err="1" smtClean="0"/>
                  <a:t>nguyên</a:t>
                </a:r>
                <a:r>
                  <a:rPr lang="en-US" altLang="en-US" dirty="0" smtClean="0"/>
                  <a:t> </a:t>
                </a:r>
                <a:r>
                  <a:rPr lang="en-US" altLang="en-US" dirty="0" err="1" smtClean="0"/>
                  <a:t>không</a:t>
                </a:r>
                <a:r>
                  <a:rPr lang="en-US" altLang="en-US" dirty="0" smtClean="0"/>
                  <a:t> </a:t>
                </a:r>
                <a:r>
                  <a:rPr lang="en-US" altLang="en-US" dirty="0" err="1" smtClean="0"/>
                  <a:t>âm</a:t>
                </a:r>
                <a:r>
                  <a:rPr lang="en-US" altLang="en-US" dirty="0" smtClean="0"/>
                  <a:t>, T(n) </a:t>
                </a:r>
                <a:r>
                  <a:rPr lang="en-US" altLang="en-US" dirty="0" err="1" smtClean="0"/>
                  <a:t>và</a:t>
                </a:r>
                <a:r>
                  <a:rPr lang="en-US" altLang="en-US" dirty="0" smtClean="0"/>
                  <a:t> f(n) </a:t>
                </a:r>
                <a:r>
                  <a:rPr lang="en-US" altLang="en-US" dirty="0" err="1" smtClean="0"/>
                  <a:t>cũng</a:t>
                </a:r>
                <a:r>
                  <a:rPr lang="en-US" altLang="en-US" dirty="0" smtClean="0"/>
                  <a:t> </a:t>
                </a:r>
                <a:r>
                  <a:rPr lang="en-US" altLang="en-US" dirty="0" err="1" smtClean="0"/>
                  <a:t>là</a:t>
                </a:r>
                <a:r>
                  <a:rPr lang="en-US" altLang="en-US" dirty="0" smtClean="0"/>
                  <a:t> </a:t>
                </a:r>
                <a:r>
                  <a:rPr lang="en-US" altLang="en-US" dirty="0" err="1" smtClean="0"/>
                  <a:t>các</a:t>
                </a:r>
                <a:r>
                  <a:rPr lang="en-US" altLang="en-US" dirty="0" smtClean="0"/>
                  <a:t> </a:t>
                </a:r>
                <a:r>
                  <a:rPr lang="en-US" altLang="en-US" dirty="0" err="1" smtClean="0"/>
                  <a:t>hàm</a:t>
                </a:r>
                <a:r>
                  <a:rPr lang="en-US" altLang="en-US" dirty="0" smtClean="0"/>
                  <a:t> </a:t>
                </a:r>
                <a:r>
                  <a:rPr lang="en-US" altLang="en-US" dirty="0" err="1" smtClean="0"/>
                  <a:t>có</a:t>
                </a:r>
                <a:r>
                  <a:rPr lang="en-US" altLang="en-US" dirty="0" smtClean="0"/>
                  <a:t> </a:t>
                </a:r>
                <a:r>
                  <a:rPr lang="en-US" altLang="en-US" dirty="0" err="1" smtClean="0"/>
                  <a:t>miền</a:t>
                </a:r>
                <a:r>
                  <a:rPr lang="en-US" altLang="en-US" dirty="0" smtClean="0"/>
                  <a:t> </a:t>
                </a:r>
                <a:r>
                  <a:rPr lang="en-US" altLang="en-US" dirty="0" err="1" smtClean="0"/>
                  <a:t>giá</a:t>
                </a:r>
                <a:r>
                  <a:rPr lang="en-US" altLang="en-US" dirty="0" smtClean="0"/>
                  <a:t> </a:t>
                </a:r>
                <a:r>
                  <a:rPr lang="en-US" altLang="en-US" dirty="0" err="1" smtClean="0"/>
                  <a:t>trị</a:t>
                </a:r>
                <a:r>
                  <a:rPr lang="en-US" altLang="en-US" dirty="0" smtClean="0"/>
                  <a:t> </a:t>
                </a:r>
                <a:r>
                  <a:rPr lang="en-US" altLang="en-US" dirty="0" err="1" smtClean="0"/>
                  <a:t>cũng</a:t>
                </a:r>
                <a:r>
                  <a:rPr lang="en-US" altLang="en-US" dirty="0" smtClean="0"/>
                  <a:t> </a:t>
                </a:r>
                <a:r>
                  <a:rPr lang="en-US" altLang="en-US" dirty="0" err="1" smtClean="0"/>
                  <a:t>không</a:t>
                </a:r>
                <a:r>
                  <a:rPr lang="en-US" altLang="en-US" dirty="0" smtClean="0"/>
                  <a:t> </a:t>
                </a:r>
                <a:r>
                  <a:rPr lang="en-US" altLang="en-US" dirty="0" err="1" smtClean="0"/>
                  <a:t>âm</a:t>
                </a:r>
                <a:r>
                  <a:rPr lang="en-US" altLang="en-US" dirty="0" smtClean="0"/>
                  <a:t>. Ta </a:t>
                </a:r>
                <a:r>
                  <a:rPr lang="en-US" altLang="en-US" dirty="0" err="1" smtClean="0"/>
                  <a:t>nói</a:t>
                </a:r>
                <a:r>
                  <a:rPr lang="en-US" altLang="en-US" dirty="0" smtClean="0"/>
                  <a:t> </a:t>
                </a:r>
                <a:r>
                  <a:rPr lang="en-US" altLang="en-US" b="1" dirty="0" smtClean="0"/>
                  <a:t>T(n) </a:t>
                </a:r>
                <a:r>
                  <a:rPr lang="en-US" altLang="en-US" b="1" dirty="0" err="1" smtClean="0"/>
                  <a:t>là</a:t>
                </a:r>
                <a:r>
                  <a:rPr lang="en-US" altLang="en-US" b="1" dirty="0" smtClean="0"/>
                  <a:t> O </a:t>
                </a:r>
                <a:r>
                  <a:rPr lang="en-US" altLang="en-US" b="1" dirty="0" err="1" smtClean="0"/>
                  <a:t>lớn</a:t>
                </a:r>
                <a:r>
                  <a:rPr lang="en-US" altLang="en-US" b="1" dirty="0" smtClean="0"/>
                  <a:t> </a:t>
                </a:r>
                <a:r>
                  <a:rPr lang="en-US" altLang="en-US" b="1" dirty="0" err="1" smtClean="0"/>
                  <a:t>của</a:t>
                </a:r>
                <a:r>
                  <a:rPr lang="en-US" altLang="en-US" b="1" dirty="0" smtClean="0"/>
                  <a:t> f(n) </a:t>
                </a:r>
                <a:r>
                  <a:rPr lang="en-US" altLang="en-US" dirty="0" err="1" smtClean="0"/>
                  <a:t>nếu</a:t>
                </a:r>
                <a:r>
                  <a:rPr lang="en-US" altLang="en-US" dirty="0" smtClean="0"/>
                  <a:t> </a:t>
                </a:r>
                <a:r>
                  <a:rPr lang="en-US" altLang="en-US" dirty="0" err="1" smtClean="0"/>
                  <a:t>và</a:t>
                </a:r>
                <a:r>
                  <a:rPr lang="en-US" altLang="en-US" dirty="0" smtClean="0"/>
                  <a:t> </a:t>
                </a:r>
                <a:r>
                  <a:rPr lang="en-US" altLang="en-US" dirty="0" err="1" smtClean="0"/>
                  <a:t>chỉ</a:t>
                </a:r>
                <a:r>
                  <a:rPr lang="en-US" altLang="en-US" dirty="0" smtClean="0"/>
                  <a:t> </a:t>
                </a:r>
                <a:r>
                  <a:rPr lang="en-US" altLang="en-US" dirty="0" err="1" smtClean="0"/>
                  <a:t>nếu</a:t>
                </a:r>
                <a:r>
                  <a:rPr lang="en-US" altLang="en-US" dirty="0" smtClean="0"/>
                  <a:t> </a:t>
                </a:r>
                <a:r>
                  <a:rPr lang="en-US" altLang="en-US" dirty="0" err="1" smtClean="0"/>
                  <a:t>tồn</a:t>
                </a:r>
                <a:r>
                  <a:rPr lang="en-US" altLang="en-US" dirty="0" smtClean="0"/>
                  <a:t> </a:t>
                </a:r>
                <a:r>
                  <a:rPr lang="en-US" altLang="en-US" dirty="0" err="1" smtClean="0"/>
                  <a:t>tại</a:t>
                </a:r>
                <a:r>
                  <a:rPr lang="en-US" altLang="en-US" dirty="0" smtClean="0"/>
                  <a:t> </a:t>
                </a:r>
                <a:r>
                  <a:rPr lang="en-US" altLang="en-US" dirty="0" err="1" smtClean="0"/>
                  <a:t>các</a:t>
                </a:r>
                <a:r>
                  <a:rPr lang="en-US" altLang="en-US" dirty="0" smtClean="0"/>
                  <a:t> </a:t>
                </a:r>
                <a:r>
                  <a:rPr lang="en-US" altLang="en-US" dirty="0" err="1" smtClean="0"/>
                  <a:t>hằng</a:t>
                </a:r>
                <a:r>
                  <a:rPr lang="en-US" altLang="en-US" dirty="0" smtClean="0"/>
                  <a:t> </a:t>
                </a:r>
                <a:r>
                  <a:rPr lang="en-US" altLang="en-US" dirty="0" err="1" smtClean="0"/>
                  <a:t>số</a:t>
                </a:r>
                <a:r>
                  <a:rPr lang="en-US" altLang="en-US" dirty="0" smtClean="0"/>
                  <a:t> C </a:t>
                </a:r>
                <a:r>
                  <a:rPr lang="en-US" altLang="en-US" dirty="0" err="1" smtClean="0"/>
                  <a:t>và</a:t>
                </a:r>
                <a:r>
                  <a:rPr lang="en-US" altLang="en-US" dirty="0" smtClean="0"/>
                  <a:t> n0 </a:t>
                </a:r>
                <a:r>
                  <a:rPr lang="en-US" altLang="en-US" dirty="0" err="1" smtClean="0"/>
                  <a:t>sao</a:t>
                </a:r>
                <a:r>
                  <a:rPr lang="en-US" altLang="en-US" dirty="0" smtClean="0"/>
                  <a:t> </a:t>
                </a:r>
                <a:r>
                  <a:rPr lang="en-US" altLang="en-US" dirty="0" err="1" smtClean="0"/>
                  <a:t>cho</a:t>
                </a:r>
                <a:r>
                  <a:rPr lang="en-US" altLang="en-US" dirty="0" smtClean="0"/>
                  <a:t>: </a:t>
                </a:r>
                <a:r>
                  <a:rPr lang="en-US" altLang="en-US" dirty="0" err="1" smtClean="0"/>
                  <a:t>với</a:t>
                </a:r>
                <a:r>
                  <a:rPr lang="en-US" altLang="en-US" dirty="0" smtClean="0"/>
                  <a:t> </a:t>
                </a:r>
                <a:r>
                  <a:rPr lang="en-US" altLang="en-US" dirty="0" err="1" smtClean="0"/>
                  <a:t>mọi</a:t>
                </a:r>
                <a:r>
                  <a:rPr lang="en-US" altLang="en-US" dirty="0" smtClean="0"/>
                  <a:t> n </a:t>
                </a:r>
                <a:r>
                  <a:rPr lang="en-US" altLang="en-US" dirty="0" smtClean="0">
                    <a:sym typeface="Symbol" panose="05050102010706020507" pitchFamily="18" charset="2"/>
                  </a:rPr>
                  <a:t></a:t>
                </a:r>
                <a:r>
                  <a:rPr lang="en-US" altLang="en-US" dirty="0" smtClean="0"/>
                  <a:t> n0 </a:t>
                </a:r>
                <a:r>
                  <a:rPr lang="en-US" altLang="en-US" dirty="0" err="1" smtClean="0"/>
                  <a:t>thì</a:t>
                </a:r>
                <a:r>
                  <a:rPr lang="en-US" altLang="en-US" dirty="0" smtClean="0"/>
                  <a:t> T(n)</a:t>
                </a:r>
                <a:r>
                  <a:rPr lang="en-US" altLang="en-US" dirty="0" smtClean="0">
                    <a:sym typeface="Symbol" panose="05050102010706020507" pitchFamily="18" charset="2"/>
                  </a:rPr>
                  <a:t></a:t>
                </a:r>
                <a:r>
                  <a:rPr lang="en-US" altLang="en-US" dirty="0" err="1" smtClean="0"/>
                  <a:t>C.f</a:t>
                </a:r>
                <a:r>
                  <a:rPr lang="en-US" altLang="en-US" dirty="0" smtClean="0"/>
                  <a:t>(n)</a:t>
                </a:r>
              </a:p>
              <a:p>
                <a:pPr marL="0" marR="0" indent="0" algn="l" defTabSz="914400" rtl="0" eaLnBrk="1" fontAlgn="base" latinLnBrk="0" hangingPunct="1">
                  <a:lnSpc>
                    <a:spcPct val="90000"/>
                  </a:lnSpc>
                  <a:spcBef>
                    <a:spcPct val="30000"/>
                  </a:spcBef>
                  <a:spcAft>
                    <a:spcPct val="0"/>
                  </a:spcAft>
                  <a:buClrTx/>
                  <a:buSzTx/>
                  <a:buFontTx/>
                  <a:buNone/>
                  <a:tabLst/>
                  <a:defRPr/>
                </a:pPr>
                <a:r>
                  <a:rPr lang="en-US" altLang="en-US" dirty="0" err="1" smtClean="0"/>
                  <a:t>Từ</a:t>
                </a:r>
                <a:r>
                  <a:rPr lang="en-US" altLang="en-US" dirty="0" smtClean="0"/>
                  <a:t> </a:t>
                </a:r>
                <a:r>
                  <a:rPr lang="en-US" altLang="en-US" dirty="0" err="1" smtClean="0"/>
                  <a:t>định</a:t>
                </a:r>
                <a:r>
                  <a:rPr lang="en-US" altLang="en-US" dirty="0" smtClean="0"/>
                  <a:t> </a:t>
                </a:r>
                <a:r>
                  <a:rPr lang="en-US" altLang="en-US" dirty="0" err="1" smtClean="0"/>
                  <a:t>nghĩa</a:t>
                </a:r>
                <a:r>
                  <a:rPr lang="en-US" altLang="en-US" dirty="0" smtClean="0"/>
                  <a:t> ta </a:t>
                </a:r>
                <a:r>
                  <a:rPr lang="en-US" altLang="en-US" dirty="0" err="1" smtClean="0"/>
                  <a:t>thấy</a:t>
                </a:r>
                <a:r>
                  <a:rPr lang="en-US" altLang="en-US" dirty="0" smtClean="0"/>
                  <a:t> f(n) </a:t>
                </a:r>
                <a:r>
                  <a:rPr lang="en-US" altLang="en-US" dirty="0" err="1" smtClean="0"/>
                  <a:t>là</a:t>
                </a:r>
                <a:r>
                  <a:rPr lang="en-US" altLang="en-US" dirty="0" smtClean="0"/>
                  <a:t> </a:t>
                </a:r>
                <a:r>
                  <a:rPr lang="en-US" altLang="en-US" dirty="0" err="1" smtClean="0"/>
                  <a:t>hàm</a:t>
                </a:r>
                <a:r>
                  <a:rPr lang="en-US" altLang="en-US" dirty="0" smtClean="0"/>
                  <a:t> </a:t>
                </a:r>
                <a:r>
                  <a:rPr lang="en-US" altLang="en-US" dirty="0" err="1" smtClean="0"/>
                  <a:t>tiệm</a:t>
                </a:r>
                <a:r>
                  <a:rPr lang="en-US" altLang="en-US" dirty="0" smtClean="0"/>
                  <a:t> </a:t>
                </a:r>
                <a:r>
                  <a:rPr lang="en-US" altLang="en-US" dirty="0" err="1" smtClean="0"/>
                  <a:t>cận</a:t>
                </a:r>
                <a:r>
                  <a:rPr lang="en-US" altLang="en-US" dirty="0" smtClean="0"/>
                  <a:t> </a:t>
                </a:r>
                <a:r>
                  <a:rPr lang="en-US" altLang="en-US" dirty="0" err="1" smtClean="0"/>
                  <a:t>trên</a:t>
                </a:r>
                <a:r>
                  <a:rPr lang="en-US" altLang="en-US" dirty="0" smtClean="0"/>
                  <a:t> </a:t>
                </a:r>
                <a:r>
                  <a:rPr lang="en-US" altLang="en-US" dirty="0" err="1" smtClean="0"/>
                  <a:t>của</a:t>
                </a:r>
                <a:r>
                  <a:rPr lang="en-US" altLang="en-US" dirty="0" smtClean="0"/>
                  <a:t> T(n</a:t>
                </a:r>
                <a:r>
                  <a:rPr lang="en-US" altLang="en-US" dirty="0" smtClean="0"/>
                  <a:t>). Hay </a:t>
                </a:r>
                <a:r>
                  <a:rPr lang="en-US" altLang="en-US" dirty="0" err="1" smtClean="0"/>
                  <a:t>hàm</a:t>
                </a:r>
                <a:r>
                  <a:rPr lang="en-US" altLang="en-US" dirty="0" smtClean="0"/>
                  <a:t> T(n) tang </a:t>
                </a:r>
                <a:r>
                  <a:rPr lang="en-US" altLang="en-US" dirty="0" err="1" smtClean="0"/>
                  <a:t>trưởng</a:t>
                </a:r>
                <a:r>
                  <a:rPr lang="en-US" altLang="en-US" dirty="0" smtClean="0"/>
                  <a:t> </a:t>
                </a:r>
                <a:r>
                  <a:rPr lang="en-US" altLang="en-US" dirty="0" err="1" smtClean="0"/>
                  <a:t>với</a:t>
                </a:r>
                <a:r>
                  <a:rPr lang="en-US" altLang="en-US" dirty="0" smtClean="0"/>
                  <a:t> </a:t>
                </a:r>
                <a:r>
                  <a:rPr lang="en-US" altLang="en-US" dirty="0" err="1" smtClean="0"/>
                  <a:t>tốc</a:t>
                </a:r>
                <a:r>
                  <a:rPr lang="en-US" altLang="en-US" dirty="0" smtClean="0"/>
                  <a:t> </a:t>
                </a:r>
                <a:r>
                  <a:rPr lang="en-US" altLang="en-US" dirty="0" err="1" smtClean="0"/>
                  <a:t>độ</a:t>
                </a:r>
                <a:r>
                  <a:rPr lang="en-US" altLang="en-US" dirty="0" smtClean="0"/>
                  <a:t> </a:t>
                </a:r>
                <a:r>
                  <a:rPr lang="en-US" altLang="en-US" dirty="0" err="1" smtClean="0"/>
                  <a:t>không</a:t>
                </a:r>
                <a:r>
                  <a:rPr lang="en-US" altLang="en-US" dirty="0" smtClean="0"/>
                  <a:t> </a:t>
                </a:r>
                <a:r>
                  <a:rPr lang="en-US" altLang="en-US" dirty="0" err="1" smtClean="0"/>
                  <a:t>nhanh</a:t>
                </a:r>
                <a:r>
                  <a:rPr lang="en-US" altLang="en-US" dirty="0" smtClean="0"/>
                  <a:t> </a:t>
                </a:r>
                <a:r>
                  <a:rPr lang="en-US" altLang="en-US" dirty="0" err="1" smtClean="0"/>
                  <a:t>hơn</a:t>
                </a:r>
                <a:r>
                  <a:rPr lang="en-US" altLang="en-US" dirty="0" smtClean="0"/>
                  <a:t> f(n)</a:t>
                </a:r>
              </a:p>
              <a:p>
                <a:pPr marL="0" marR="0" indent="0" algn="l" defTabSz="914400" rtl="0" eaLnBrk="1" fontAlgn="base" latinLnBrk="0" hangingPunct="1">
                  <a:lnSpc>
                    <a:spcPct val="90000"/>
                  </a:lnSpc>
                  <a:spcBef>
                    <a:spcPct val="30000"/>
                  </a:spcBef>
                  <a:spcAft>
                    <a:spcPct val="0"/>
                  </a:spcAft>
                  <a:buClrTx/>
                  <a:buSzTx/>
                  <a:buFontTx/>
                  <a:buNone/>
                  <a:tabLst/>
                  <a:defRPr/>
                </a:pPr>
                <a:r>
                  <a:rPr lang="en-US" dirty="0" smtClean="0"/>
                  <a:t>Big-O expresses an upper bound on the growth rate of a function, for sufficiently large values of </a:t>
                </a:r>
                <a:r>
                  <a:rPr lang="en-US" i="0" dirty="0" smtClean="0">
                    <a:latin typeface="Cambria Math" panose="02040503050406030204" pitchFamily="18" charset="0"/>
                  </a:rPr>
                  <a:t>𝑛</a:t>
                </a:r>
                <a:endParaRPr lang="en-US" dirty="0"/>
              </a:p>
              <a:p>
                <a:pPr eaLnBrk="1" hangingPunct="1">
                  <a:lnSpc>
                    <a:spcPct val="90000"/>
                  </a:lnSpc>
                </a:pPr>
                <a:endParaRPr lang="en-US" altLang="en-US" dirty="0" smtClean="0"/>
              </a:p>
              <a:p>
                <a:pPr eaLnBrk="1" hangingPunct="1">
                  <a:lnSpc>
                    <a:spcPct val="90000"/>
                  </a:lnSpc>
                </a:pPr>
                <a:r>
                  <a:rPr lang="en-US" altLang="en-US" dirty="0" err="1" smtClean="0"/>
                  <a:t>Thời</a:t>
                </a:r>
                <a:r>
                  <a:rPr lang="en-US" altLang="en-US" dirty="0" smtClean="0"/>
                  <a:t> </a:t>
                </a:r>
                <a:r>
                  <a:rPr lang="en-US" altLang="en-US" dirty="0" err="1" smtClean="0"/>
                  <a:t>gian</a:t>
                </a:r>
                <a:r>
                  <a:rPr lang="en-US" altLang="en-US" dirty="0" smtClean="0"/>
                  <a:t> </a:t>
                </a:r>
                <a:r>
                  <a:rPr lang="en-US" altLang="en-US" dirty="0" err="1" smtClean="0"/>
                  <a:t>thực</a:t>
                </a:r>
                <a:r>
                  <a:rPr lang="en-US" altLang="en-US" baseline="0" dirty="0" smtClean="0"/>
                  <a:t> </a:t>
                </a:r>
                <a:r>
                  <a:rPr lang="en-US" altLang="en-US" baseline="0" dirty="0" err="1" smtClean="0"/>
                  <a:t>hiện</a:t>
                </a:r>
                <a:r>
                  <a:rPr lang="en-US" altLang="en-US" baseline="0" dirty="0" smtClean="0"/>
                  <a:t> </a:t>
                </a:r>
                <a:r>
                  <a:rPr lang="en-US" altLang="en-US" baseline="0" dirty="0" err="1" smtClean="0"/>
                  <a:t>giải</a:t>
                </a:r>
                <a:r>
                  <a:rPr lang="en-US" altLang="en-US" baseline="0" dirty="0" smtClean="0"/>
                  <a:t> </a:t>
                </a:r>
                <a:r>
                  <a:rPr lang="en-US" altLang="en-US" baseline="0" dirty="0" err="1" smtClean="0"/>
                  <a:t>thuật</a:t>
                </a:r>
                <a:r>
                  <a:rPr lang="en-US" altLang="en-US" baseline="0" dirty="0" smtClean="0"/>
                  <a:t> (=T(n)) </a:t>
                </a:r>
                <a:r>
                  <a:rPr lang="en-US" altLang="en-US" baseline="0" dirty="0" err="1" smtClean="0"/>
                  <a:t>khi</a:t>
                </a:r>
                <a:r>
                  <a:rPr lang="en-US" altLang="en-US" baseline="0" dirty="0" smtClean="0"/>
                  <a:t> n </a:t>
                </a:r>
                <a:r>
                  <a:rPr lang="en-US" altLang="en-US" baseline="0" dirty="0" err="1" smtClean="0"/>
                  <a:t>đủ</a:t>
                </a:r>
                <a:r>
                  <a:rPr lang="en-US" altLang="en-US" baseline="0" dirty="0" smtClean="0"/>
                  <a:t> </a:t>
                </a:r>
                <a:r>
                  <a:rPr lang="en-US" altLang="en-US" baseline="0" dirty="0" err="1" smtClean="0"/>
                  <a:t>lớn</a:t>
                </a:r>
                <a:r>
                  <a:rPr lang="en-US" altLang="en-US" baseline="0" dirty="0" smtClean="0"/>
                  <a:t> </a:t>
                </a:r>
                <a:r>
                  <a:rPr lang="en-US" altLang="en-US" baseline="0" dirty="0" err="1" smtClean="0"/>
                  <a:t>luôn</a:t>
                </a:r>
                <a:r>
                  <a:rPr lang="en-US" altLang="en-US" baseline="0" dirty="0" smtClean="0"/>
                  <a:t> </a:t>
                </a:r>
                <a:r>
                  <a:rPr lang="en-US" altLang="en-US" baseline="0" dirty="0" err="1" smtClean="0"/>
                  <a:t>nhỏ</a:t>
                </a:r>
                <a:r>
                  <a:rPr lang="en-US" altLang="en-US" baseline="0" dirty="0" smtClean="0"/>
                  <a:t> </a:t>
                </a:r>
                <a:r>
                  <a:rPr lang="en-US" altLang="en-US" baseline="0" dirty="0" err="1" smtClean="0"/>
                  <a:t>hơn</a:t>
                </a:r>
                <a:r>
                  <a:rPr lang="en-US" altLang="en-US" baseline="0" dirty="0" smtClean="0"/>
                  <a:t> f(n). f(n) </a:t>
                </a:r>
                <a:r>
                  <a:rPr lang="en-US" altLang="en-US" baseline="0" dirty="0" err="1" smtClean="0"/>
                  <a:t>là</a:t>
                </a:r>
                <a:r>
                  <a:rPr lang="en-US" altLang="en-US" baseline="0" dirty="0" smtClean="0"/>
                  <a:t> </a:t>
                </a:r>
                <a:r>
                  <a:rPr lang="en-US" altLang="en-US" baseline="0" dirty="0" err="1" smtClean="0"/>
                  <a:t>tiệm</a:t>
                </a:r>
                <a:r>
                  <a:rPr lang="en-US" altLang="en-US" baseline="0" dirty="0" smtClean="0"/>
                  <a:t> </a:t>
                </a:r>
                <a:r>
                  <a:rPr lang="en-US" altLang="en-US" baseline="0" dirty="0" err="1" smtClean="0"/>
                  <a:t>cận</a:t>
                </a:r>
                <a:r>
                  <a:rPr lang="en-US" altLang="en-US" baseline="0" dirty="0" smtClean="0"/>
                  <a:t> </a:t>
                </a:r>
                <a:r>
                  <a:rPr lang="en-US" altLang="en-US" baseline="0" dirty="0" err="1" smtClean="0"/>
                  <a:t>trên</a:t>
                </a:r>
                <a:r>
                  <a:rPr lang="en-US" altLang="en-US" baseline="0" dirty="0" smtClean="0"/>
                  <a:t> </a:t>
                </a:r>
                <a:r>
                  <a:rPr lang="en-US" altLang="en-US" baseline="0" dirty="0" err="1" smtClean="0"/>
                  <a:t>của</a:t>
                </a:r>
                <a:r>
                  <a:rPr lang="en-US" altLang="en-US" baseline="0" dirty="0" smtClean="0"/>
                  <a:t> T(n) =&gt; T(n) </a:t>
                </a:r>
                <a:r>
                  <a:rPr lang="en-US" altLang="en-US" baseline="0" dirty="0" err="1" smtClean="0"/>
                  <a:t>không</a:t>
                </a:r>
                <a:r>
                  <a:rPr lang="en-US" altLang="en-US" baseline="0" dirty="0" smtClean="0"/>
                  <a:t> </a:t>
                </a:r>
                <a:r>
                  <a:rPr lang="en-US" altLang="en-US" baseline="0" dirty="0" err="1" smtClean="0"/>
                  <a:t>thể</a:t>
                </a:r>
                <a:r>
                  <a:rPr lang="en-US" altLang="en-US" baseline="0" dirty="0" smtClean="0"/>
                  <a:t> </a:t>
                </a:r>
                <a:r>
                  <a:rPr lang="en-US" altLang="en-US" baseline="0" dirty="0" err="1" smtClean="0"/>
                  <a:t>vượt</a:t>
                </a:r>
                <a:r>
                  <a:rPr lang="en-US" altLang="en-US" baseline="0" dirty="0" smtClean="0"/>
                  <a:t> qua f(n)</a:t>
                </a:r>
              </a:p>
              <a:p>
                <a:pPr eaLnBrk="1" hangingPunct="1">
                  <a:lnSpc>
                    <a:spcPct val="90000"/>
                  </a:lnSpc>
                </a:pPr>
                <a:endParaRPr lang="en-US" altLang="en-US" baseline="0" dirty="0" smtClean="0"/>
              </a:p>
              <a:p>
                <a:pPr eaLnBrk="1" hangingPunct="1">
                  <a:lnSpc>
                    <a:spcPct val="90000"/>
                  </a:lnSpc>
                </a:pPr>
                <a:r>
                  <a:rPr lang="en-US" altLang="en-US" baseline="0" dirty="0" err="1" smtClean="0"/>
                  <a:t>Độ</a:t>
                </a:r>
                <a:r>
                  <a:rPr lang="en-US" altLang="en-US" baseline="0" dirty="0" smtClean="0"/>
                  <a:t> </a:t>
                </a:r>
                <a:r>
                  <a:rPr lang="en-US" altLang="en-US" baseline="0" dirty="0" err="1" smtClean="0"/>
                  <a:t>phức</a:t>
                </a:r>
                <a:r>
                  <a:rPr lang="en-US" altLang="en-US" baseline="0" dirty="0" smtClean="0"/>
                  <a:t> </a:t>
                </a:r>
                <a:r>
                  <a:rPr lang="en-US" altLang="en-US" baseline="0" dirty="0" err="1" smtClean="0"/>
                  <a:t>tạp</a:t>
                </a:r>
                <a:r>
                  <a:rPr lang="en-US" altLang="en-US" baseline="0" dirty="0" smtClean="0"/>
                  <a:t> </a:t>
                </a:r>
                <a:r>
                  <a:rPr lang="en-US" altLang="en-US" baseline="0" dirty="0" err="1" smtClean="0"/>
                  <a:t>của</a:t>
                </a:r>
                <a:r>
                  <a:rPr lang="en-US" altLang="en-US" baseline="0" dirty="0" smtClean="0"/>
                  <a:t> </a:t>
                </a:r>
                <a:r>
                  <a:rPr lang="en-US" altLang="en-US" baseline="0" dirty="0" err="1" smtClean="0"/>
                  <a:t>giải</a:t>
                </a:r>
                <a:r>
                  <a:rPr lang="en-US" altLang="en-US" baseline="0" dirty="0" smtClean="0"/>
                  <a:t> </a:t>
                </a:r>
                <a:r>
                  <a:rPr lang="en-US" altLang="en-US" baseline="0" dirty="0" err="1" smtClean="0"/>
                  <a:t>thuật</a:t>
                </a:r>
                <a:r>
                  <a:rPr lang="en-US" altLang="en-US" baseline="0" dirty="0" smtClean="0"/>
                  <a:t> </a:t>
                </a:r>
                <a:r>
                  <a:rPr lang="en-US" altLang="en-US" baseline="0" dirty="0" err="1" smtClean="0"/>
                  <a:t>được</a:t>
                </a:r>
                <a:r>
                  <a:rPr lang="en-US" altLang="en-US" baseline="0" dirty="0" smtClean="0"/>
                  <a:t> </a:t>
                </a:r>
                <a:r>
                  <a:rPr lang="en-US" altLang="en-US" baseline="0" dirty="0" err="1" smtClean="0"/>
                  <a:t>xác</a:t>
                </a:r>
                <a:r>
                  <a:rPr lang="en-US" altLang="en-US" baseline="0" dirty="0" smtClean="0"/>
                  <a:t> </a:t>
                </a:r>
                <a:r>
                  <a:rPr lang="en-US" altLang="en-US" baseline="0" dirty="0" err="1" smtClean="0"/>
                  <a:t>định</a:t>
                </a:r>
                <a:r>
                  <a:rPr lang="en-US" altLang="en-US" baseline="0" dirty="0" smtClean="0"/>
                  <a:t> </a:t>
                </a:r>
                <a:r>
                  <a:rPr lang="en-US" altLang="en-US" baseline="0" dirty="0" err="1" smtClean="0"/>
                  <a:t>dựa</a:t>
                </a:r>
                <a:r>
                  <a:rPr lang="en-US" altLang="en-US" baseline="0" dirty="0" smtClean="0"/>
                  <a:t> </a:t>
                </a:r>
                <a:r>
                  <a:rPr lang="en-US" altLang="en-US" baseline="0" dirty="0" err="1" smtClean="0"/>
                  <a:t>trên</a:t>
                </a:r>
                <a:r>
                  <a:rPr lang="en-US" altLang="en-US" baseline="0" dirty="0" smtClean="0"/>
                  <a:t> </a:t>
                </a:r>
                <a:r>
                  <a:rPr lang="en-US" altLang="en-US" baseline="0" dirty="0" err="1" smtClean="0"/>
                  <a:t>thời</a:t>
                </a:r>
                <a:r>
                  <a:rPr lang="en-US" altLang="en-US" baseline="0" dirty="0" smtClean="0"/>
                  <a:t> </a:t>
                </a:r>
                <a:r>
                  <a:rPr lang="en-US" altLang="en-US" baseline="0" dirty="0" err="1" smtClean="0"/>
                  <a:t>gian</a:t>
                </a:r>
                <a:r>
                  <a:rPr lang="en-US" altLang="en-US" baseline="0" dirty="0" smtClean="0"/>
                  <a:t> </a:t>
                </a:r>
                <a:r>
                  <a:rPr lang="en-US" altLang="en-US" baseline="0" dirty="0" err="1" smtClean="0"/>
                  <a:t>tối</a:t>
                </a:r>
                <a:r>
                  <a:rPr lang="en-US" altLang="en-US" baseline="0" dirty="0" smtClean="0"/>
                  <a:t> </a:t>
                </a:r>
                <a:r>
                  <a:rPr lang="en-US" altLang="en-US" baseline="0" dirty="0" err="1" smtClean="0"/>
                  <a:t>đa</a:t>
                </a:r>
                <a:r>
                  <a:rPr lang="en-US" altLang="en-US" baseline="0" dirty="0" smtClean="0"/>
                  <a:t> </a:t>
                </a:r>
                <a:r>
                  <a:rPr lang="en-US" altLang="en-US" baseline="0" dirty="0" err="1" smtClean="0"/>
                  <a:t>thực</a:t>
                </a:r>
                <a:r>
                  <a:rPr lang="en-US" altLang="en-US" baseline="0" dirty="0" smtClean="0"/>
                  <a:t> </a:t>
                </a:r>
                <a:r>
                  <a:rPr lang="en-US" altLang="en-US" baseline="0" dirty="0" err="1" smtClean="0"/>
                  <a:t>hiện</a:t>
                </a:r>
                <a:r>
                  <a:rPr lang="en-US" altLang="en-US" baseline="0" dirty="0" smtClean="0"/>
                  <a:t> </a:t>
                </a:r>
                <a:r>
                  <a:rPr lang="en-US" altLang="en-US" baseline="0" dirty="0" err="1" smtClean="0"/>
                  <a:t>giải</a:t>
                </a:r>
                <a:r>
                  <a:rPr lang="en-US" altLang="en-US" baseline="0" dirty="0" smtClean="0"/>
                  <a:t> </a:t>
                </a:r>
                <a:r>
                  <a:rPr lang="en-US" altLang="en-US" baseline="0" dirty="0" err="1" smtClean="0"/>
                  <a:t>thuật</a:t>
                </a:r>
                <a:r>
                  <a:rPr lang="en-US" altLang="en-US" baseline="0" dirty="0" smtClean="0"/>
                  <a:t>. =&gt; </a:t>
                </a:r>
                <a:r>
                  <a:rPr lang="en-US" altLang="en-US" baseline="0" dirty="0" err="1" smtClean="0"/>
                  <a:t>có</a:t>
                </a:r>
                <a:r>
                  <a:rPr lang="en-US" altLang="en-US" baseline="0" dirty="0" smtClean="0"/>
                  <a:t> </a:t>
                </a:r>
                <a:r>
                  <a:rPr lang="en-US" altLang="en-US" baseline="0" dirty="0" err="1" smtClean="0"/>
                  <a:t>thể</a:t>
                </a:r>
                <a:r>
                  <a:rPr lang="en-US" altLang="en-US" baseline="0" dirty="0" smtClean="0"/>
                  <a:t> so </a:t>
                </a:r>
                <a:r>
                  <a:rPr lang="en-US" altLang="en-US" baseline="0" dirty="0" err="1" smtClean="0"/>
                  <a:t>sánh</a:t>
                </a:r>
                <a:r>
                  <a:rPr lang="en-US" altLang="en-US" baseline="0" dirty="0" smtClean="0"/>
                  <a:t> </a:t>
                </a:r>
                <a:r>
                  <a:rPr lang="en-US" altLang="en-US" baseline="0" dirty="0" err="1" smtClean="0"/>
                  <a:t>các</a:t>
                </a:r>
                <a:r>
                  <a:rPr lang="en-US" altLang="en-US" baseline="0" dirty="0" smtClean="0"/>
                  <a:t> </a:t>
                </a:r>
                <a:r>
                  <a:rPr lang="en-US" altLang="en-US" baseline="0" dirty="0" err="1" smtClean="0"/>
                  <a:t>giải</a:t>
                </a:r>
                <a:r>
                  <a:rPr lang="en-US" altLang="en-US" baseline="0" dirty="0" smtClean="0"/>
                  <a:t> </a:t>
                </a:r>
                <a:r>
                  <a:rPr lang="en-US" altLang="en-US" baseline="0" dirty="0" err="1" smtClean="0"/>
                  <a:t>thuật</a:t>
                </a:r>
                <a:r>
                  <a:rPr lang="en-US" altLang="en-US" baseline="0" dirty="0" smtClean="0"/>
                  <a:t> </a:t>
                </a:r>
                <a:r>
                  <a:rPr lang="en-US" altLang="en-US" baseline="0" dirty="0" err="1" smtClean="0"/>
                  <a:t>với</a:t>
                </a:r>
                <a:r>
                  <a:rPr lang="en-US" altLang="en-US" baseline="0" dirty="0" smtClean="0"/>
                  <a:t> </a:t>
                </a:r>
                <a:r>
                  <a:rPr lang="en-US" altLang="en-US" baseline="0" dirty="0" err="1" smtClean="0"/>
                  <a:t>nhau</a:t>
                </a:r>
                <a:endParaRPr lang="en-US" altLang="en-US" baseline="0" dirty="0" smtClean="0"/>
              </a:p>
              <a:p>
                <a:pPr eaLnBrk="1" hangingPunct="1">
                  <a:lnSpc>
                    <a:spcPct val="90000"/>
                  </a:lnSpc>
                </a:pPr>
                <a:endParaRPr lang="en-US" altLang="en-US" dirty="0" smtClean="0"/>
              </a:p>
            </p:txBody>
          </p:sp>
        </mc:Fallback>
      </mc:AlternateContent>
      <p:sp>
        <p:nvSpPr>
          <p:cNvPr id="4" name="Slide Number Placeholder 3"/>
          <p:cNvSpPr>
            <a:spLocks noGrp="1"/>
          </p:cNvSpPr>
          <p:nvPr>
            <p:ph type="sldNum" sz="quarter" idx="10"/>
          </p:nvPr>
        </p:nvSpPr>
        <p:spPr/>
        <p:txBody>
          <a:bodyPr/>
          <a:lstStyle/>
          <a:p>
            <a:fld id="{76159C16-962D-45B7-9AE3-AA455C3EA8F0}" type="slidenum">
              <a:rPr lang="en-US" smtClean="0"/>
              <a:pPr/>
              <a:t>23</a:t>
            </a:fld>
            <a:endParaRPr lang="en-US"/>
          </a:p>
        </p:txBody>
      </p:sp>
    </p:spTree>
    <p:extLst>
      <p:ext uri="{BB962C8B-B14F-4D97-AF65-F5344CB8AC3E}">
        <p14:creationId xmlns:p14="http://schemas.microsoft.com/office/powerpoint/2010/main" val="18234843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base" latinLnBrk="0" hangingPunct="1">
              <a:lnSpc>
                <a:spcPct val="90000"/>
              </a:lnSpc>
              <a:spcBef>
                <a:spcPct val="30000"/>
              </a:spcBef>
              <a:spcAft>
                <a:spcPct val="0"/>
              </a:spcAft>
              <a:buClrTx/>
              <a:buSzTx/>
              <a:buFontTx/>
              <a:buNone/>
              <a:tabLst/>
              <a:defRPr/>
            </a:pPr>
            <a:r>
              <a:rPr lang="en-US" dirty="0"/>
              <a:t>GT </a:t>
            </a:r>
            <a:r>
              <a:rPr lang="en-US" dirty="0" err="1"/>
              <a:t>có</a:t>
            </a:r>
            <a:r>
              <a:rPr lang="en-US" baseline="0" dirty="0"/>
              <a:t> </a:t>
            </a:r>
            <a:r>
              <a:rPr lang="en-US" baseline="0" dirty="0" err="1"/>
              <a:t>thời</a:t>
            </a:r>
            <a:r>
              <a:rPr lang="en-US" baseline="0" dirty="0"/>
              <a:t> </a:t>
            </a:r>
            <a:r>
              <a:rPr lang="en-US" baseline="0" dirty="0" err="1"/>
              <a:t>gian</a:t>
            </a:r>
            <a:r>
              <a:rPr lang="en-US" baseline="0" dirty="0"/>
              <a:t> </a:t>
            </a:r>
            <a:r>
              <a:rPr lang="en-US" baseline="0" dirty="0" err="1"/>
              <a:t>tính</a:t>
            </a:r>
            <a:r>
              <a:rPr lang="en-US" baseline="0" dirty="0"/>
              <a:t> </a:t>
            </a:r>
            <a:r>
              <a:rPr lang="en-US" baseline="0" dirty="0" err="1"/>
              <a:t>toán</a:t>
            </a:r>
            <a:r>
              <a:rPr lang="en-US" baseline="0" dirty="0"/>
              <a:t> </a:t>
            </a:r>
            <a:r>
              <a:rPr lang="en-US" baseline="0" dirty="0" err="1"/>
              <a:t>là</a:t>
            </a:r>
            <a:r>
              <a:rPr lang="en-US" baseline="0" dirty="0"/>
              <a:t> 3n =&gt; </a:t>
            </a:r>
            <a:r>
              <a:rPr lang="en-US" baseline="0" dirty="0" err="1"/>
              <a:t>độ</a:t>
            </a:r>
            <a:r>
              <a:rPr lang="en-US" baseline="0" dirty="0"/>
              <a:t> </a:t>
            </a:r>
            <a:r>
              <a:rPr lang="en-US" baseline="0" dirty="0" err="1"/>
              <a:t>phức</a:t>
            </a:r>
            <a:r>
              <a:rPr lang="en-US" baseline="0" dirty="0"/>
              <a:t> </a:t>
            </a:r>
            <a:r>
              <a:rPr lang="en-US" baseline="0" dirty="0" err="1"/>
              <a:t>tạp</a:t>
            </a:r>
            <a:r>
              <a:rPr lang="en-US" baseline="0" dirty="0"/>
              <a:t> </a:t>
            </a:r>
            <a:r>
              <a:rPr lang="en-US" baseline="0" dirty="0" err="1"/>
              <a:t>của</a:t>
            </a:r>
            <a:r>
              <a:rPr lang="en-US" baseline="0" dirty="0"/>
              <a:t> </a:t>
            </a:r>
            <a:r>
              <a:rPr lang="en-US" baseline="0" dirty="0" err="1"/>
              <a:t>nó</a:t>
            </a:r>
            <a:r>
              <a:rPr lang="en-US" baseline="0" dirty="0"/>
              <a:t> </a:t>
            </a:r>
            <a:r>
              <a:rPr lang="en-US" baseline="0" dirty="0" err="1"/>
              <a:t>là</a:t>
            </a:r>
            <a:r>
              <a:rPr lang="en-US" baseline="0" dirty="0"/>
              <a:t> O(n)</a:t>
            </a:r>
          </a:p>
          <a:p>
            <a:pPr marL="0" marR="0" lvl="1" indent="0" algn="l" defTabSz="914400" rtl="0" eaLnBrk="1" fontAlgn="base" latinLnBrk="0" hangingPunct="1">
              <a:lnSpc>
                <a:spcPct val="9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25</a:t>
            </a:fld>
            <a:endParaRPr lang="en-US"/>
          </a:p>
        </p:txBody>
      </p:sp>
    </p:spTree>
    <p:extLst>
      <p:ext uri="{BB962C8B-B14F-4D97-AF65-F5344CB8AC3E}">
        <p14:creationId xmlns:p14="http://schemas.microsoft.com/office/powerpoint/2010/main" val="1028919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TC1: </a:t>
            </a:r>
          </a:p>
          <a:p>
            <a:r>
              <a:rPr lang="en-US" dirty="0" err="1"/>
              <a:t>Tồn</a:t>
            </a:r>
            <a:r>
              <a:rPr lang="en-US" baseline="0" dirty="0"/>
              <a:t> </a:t>
            </a:r>
            <a:r>
              <a:rPr lang="en-US" baseline="0" dirty="0" err="1"/>
              <a:t>tại</a:t>
            </a:r>
            <a:r>
              <a:rPr lang="en-US" baseline="0" dirty="0"/>
              <a:t> n0 </a:t>
            </a:r>
            <a:r>
              <a:rPr lang="en-US" baseline="0" dirty="0" err="1"/>
              <a:t>để</a:t>
            </a:r>
            <a:r>
              <a:rPr lang="en-US" baseline="0" dirty="0"/>
              <a:t> n&gt;n0 </a:t>
            </a:r>
            <a:r>
              <a:rPr lang="en-US" baseline="0" dirty="0" err="1"/>
              <a:t>thì</a:t>
            </a:r>
            <a:r>
              <a:rPr lang="en-US" baseline="0" dirty="0"/>
              <a:t> T(n)&lt;</a:t>
            </a:r>
            <a:r>
              <a:rPr lang="en-US" baseline="0" dirty="0" err="1"/>
              <a:t>Cf</a:t>
            </a:r>
            <a:r>
              <a:rPr lang="en-US" baseline="0" dirty="0"/>
              <a:t>(n)</a:t>
            </a: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a:t>Tồn</a:t>
            </a:r>
            <a:r>
              <a:rPr lang="en-US" baseline="0" dirty="0"/>
              <a:t> </a:t>
            </a:r>
            <a:r>
              <a:rPr lang="en-US" baseline="0" dirty="0" err="1"/>
              <a:t>tại</a:t>
            </a:r>
            <a:r>
              <a:rPr lang="en-US" baseline="0" dirty="0"/>
              <a:t> n0* </a:t>
            </a:r>
            <a:r>
              <a:rPr lang="en-US" baseline="0" dirty="0" err="1"/>
              <a:t>để</a:t>
            </a:r>
            <a:r>
              <a:rPr lang="en-US" baseline="0" dirty="0"/>
              <a:t> n&gt;n0* </a:t>
            </a:r>
            <a:r>
              <a:rPr lang="en-US" baseline="0" dirty="0" err="1"/>
              <a:t>thì</a:t>
            </a:r>
            <a:r>
              <a:rPr lang="en-US" baseline="0" dirty="0"/>
              <a:t> f(n)&lt;Dg(n)</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err="1"/>
              <a:t>Nếu</a:t>
            </a:r>
            <a:r>
              <a:rPr lang="en-US" baseline="0" dirty="0"/>
              <a:t> n0&lt;n0* =&gt; n0* </a:t>
            </a:r>
            <a:r>
              <a:rPr lang="en-US" baseline="0" dirty="0" err="1"/>
              <a:t>là</a:t>
            </a:r>
            <a:r>
              <a:rPr lang="en-US" baseline="0" dirty="0"/>
              <a:t> </a:t>
            </a:r>
            <a:r>
              <a:rPr lang="en-US" baseline="0" dirty="0" err="1"/>
              <a:t>điểm</a:t>
            </a:r>
            <a:r>
              <a:rPr lang="en-US" baseline="0" dirty="0"/>
              <a:t> </a:t>
            </a:r>
            <a:r>
              <a:rPr lang="en-US" baseline="0" dirty="0" err="1"/>
              <a:t>thỏa</a:t>
            </a:r>
            <a:r>
              <a:rPr lang="en-US" baseline="0" dirty="0"/>
              <a:t> </a:t>
            </a:r>
            <a:r>
              <a:rPr lang="en-US" baseline="0" dirty="0" err="1"/>
              <a:t>mãn</a:t>
            </a:r>
            <a:r>
              <a:rPr lang="en-US" baseline="0" dirty="0"/>
              <a:t> T(n)&lt;</a:t>
            </a:r>
            <a:r>
              <a:rPr lang="en-US" baseline="0" dirty="0" err="1"/>
              <a:t>Cf</a:t>
            </a:r>
            <a:r>
              <a:rPr lang="en-US" baseline="0" dirty="0"/>
              <a:t>(n)&lt;C*Dg(n) =&gt; T(n)=O(g(n))</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err="1"/>
              <a:t>Nếu</a:t>
            </a:r>
            <a:r>
              <a:rPr lang="en-US" baseline="0" dirty="0"/>
              <a:t> n0*&lt;n0 =&gt; n0 </a:t>
            </a:r>
            <a:r>
              <a:rPr lang="en-US" baseline="0" dirty="0" err="1"/>
              <a:t>là</a:t>
            </a:r>
            <a:r>
              <a:rPr lang="en-US" baseline="0" dirty="0"/>
              <a:t> </a:t>
            </a:r>
            <a:r>
              <a:rPr lang="en-US" baseline="0" dirty="0" err="1"/>
              <a:t>điểm</a:t>
            </a:r>
            <a:r>
              <a:rPr lang="en-US" baseline="0" dirty="0"/>
              <a:t> </a:t>
            </a:r>
            <a:r>
              <a:rPr lang="en-US" baseline="0" dirty="0" err="1"/>
              <a:t>thỏa</a:t>
            </a:r>
            <a:r>
              <a:rPr lang="en-US" baseline="0" dirty="0"/>
              <a:t> </a:t>
            </a:r>
            <a:r>
              <a:rPr lang="en-US" baseline="0" dirty="0" err="1"/>
              <a:t>mãn</a:t>
            </a:r>
            <a:r>
              <a:rPr lang="en-US" baseline="0" dirty="0"/>
              <a:t> T(n)&lt;</a:t>
            </a:r>
            <a:r>
              <a:rPr lang="en-US" baseline="0" dirty="0" err="1"/>
              <a:t>Cf</a:t>
            </a:r>
            <a:r>
              <a:rPr lang="en-US" baseline="0" dirty="0"/>
              <a:t>(n)&lt;C*Dg(n) =&gt; T(n)=O(g(n))</a:t>
            </a:r>
          </a:p>
          <a:p>
            <a:pPr marL="0" marR="0" indent="0" algn="l" defTabSz="914400" rtl="0" eaLnBrk="1" fontAlgn="base" latinLnBrk="0" hangingPunct="1">
              <a:lnSpc>
                <a:spcPct val="100000"/>
              </a:lnSpc>
              <a:spcBef>
                <a:spcPct val="30000"/>
              </a:spcBef>
              <a:spcAft>
                <a:spcPct val="0"/>
              </a:spcAft>
              <a:buClrTx/>
              <a:buSzTx/>
              <a:buFontTx/>
              <a:buNone/>
              <a:tabLst/>
              <a:defRPr/>
            </a:pPr>
            <a:r>
              <a:rPr lang="en-US" u="sng" baseline="0" dirty="0" err="1"/>
              <a:t>Vẽ</a:t>
            </a:r>
            <a:r>
              <a:rPr lang="en-US" u="sng" baseline="0" dirty="0"/>
              <a:t>: </a:t>
            </a:r>
            <a:r>
              <a:rPr lang="en-US" dirty="0"/>
              <a:t>T(n) </a:t>
            </a:r>
            <a:r>
              <a:rPr lang="en-US" dirty="0" err="1"/>
              <a:t>cao</a:t>
            </a:r>
            <a:r>
              <a:rPr lang="en-US" dirty="0"/>
              <a:t> </a:t>
            </a:r>
            <a:r>
              <a:rPr lang="en-US" dirty="0" err="1"/>
              <a:t>hơn</a:t>
            </a:r>
            <a:r>
              <a:rPr lang="en-US" baseline="0" dirty="0"/>
              <a:t> f(n), f(n) </a:t>
            </a:r>
            <a:r>
              <a:rPr lang="en-US" baseline="0" dirty="0" err="1"/>
              <a:t>cao</a:t>
            </a:r>
            <a:r>
              <a:rPr lang="en-US" baseline="0" dirty="0"/>
              <a:t> </a:t>
            </a:r>
            <a:r>
              <a:rPr lang="en-US" baseline="0" dirty="0" err="1"/>
              <a:t>hơn</a:t>
            </a:r>
            <a:r>
              <a:rPr lang="en-US" baseline="0" dirty="0"/>
              <a:t> g(n) =&gt; </a:t>
            </a:r>
            <a:r>
              <a:rPr lang="en-US" baseline="0" dirty="0" err="1"/>
              <a:t>chọn</a:t>
            </a:r>
            <a:r>
              <a:rPr lang="en-US" baseline="0" dirty="0"/>
              <a:t> g(n) </a:t>
            </a:r>
            <a:r>
              <a:rPr lang="en-US" baseline="0" dirty="0" err="1"/>
              <a:t>là</a:t>
            </a:r>
            <a:r>
              <a:rPr lang="en-US" baseline="0" dirty="0"/>
              <a:t> </a:t>
            </a:r>
            <a:r>
              <a:rPr lang="en-US" baseline="0" dirty="0" err="1"/>
              <a:t>hàm</a:t>
            </a:r>
            <a:r>
              <a:rPr lang="en-US" baseline="0" dirty="0"/>
              <a:t> </a:t>
            </a:r>
            <a:r>
              <a:rPr lang="en-US" baseline="0" dirty="0" err="1"/>
              <a:t>nhỏ</a:t>
            </a:r>
            <a:r>
              <a:rPr lang="en-US" baseline="0" dirty="0"/>
              <a:t> </a:t>
            </a:r>
            <a:r>
              <a:rPr lang="en-US" baseline="0" dirty="0" err="1"/>
              <a:t>hơn</a:t>
            </a:r>
            <a:endParaRPr lang="en-US" baseline="0" dirty="0"/>
          </a:p>
          <a:p>
            <a:pPr marL="0" marR="0" indent="0" algn="l" defTabSz="914400" rtl="0" eaLnBrk="1" fontAlgn="base" latinLnBrk="0" hangingPunct="1">
              <a:lnSpc>
                <a:spcPct val="100000"/>
              </a:lnSpc>
              <a:spcBef>
                <a:spcPct val="30000"/>
              </a:spcBef>
              <a:spcAft>
                <a:spcPct val="0"/>
              </a:spcAft>
              <a:buClrTx/>
              <a:buSzTx/>
              <a:buFontTx/>
              <a:buNone/>
              <a:tabLst/>
              <a:defRPr/>
            </a:pPr>
            <a:endParaRPr lang="en-US" baseline="0"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t>TC2: ở </a:t>
            </a:r>
            <a:r>
              <a:rPr lang="en-US" baseline="0" dirty="0" err="1"/>
              <a:t>điểm</a:t>
            </a:r>
            <a:r>
              <a:rPr lang="en-US" baseline="0" dirty="0"/>
              <a:t> n0, n0* </a:t>
            </a:r>
            <a:r>
              <a:rPr lang="en-US" baseline="0" dirty="0" err="1"/>
              <a:t>lớn</a:t>
            </a:r>
            <a:r>
              <a:rPr lang="en-US" baseline="0" dirty="0"/>
              <a:t> </a:t>
            </a:r>
            <a:r>
              <a:rPr lang="en-US" baseline="0" dirty="0" err="1"/>
              <a:t>hơn</a:t>
            </a:r>
            <a:r>
              <a:rPr lang="en-US" baseline="0" dirty="0"/>
              <a:t> </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t>T1&lt; Cf1</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t>T2 &lt; Df2</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err="1"/>
              <a:t>Nếu</a:t>
            </a:r>
            <a:r>
              <a:rPr lang="en-US" baseline="0" dirty="0"/>
              <a:t> f1 &lt; f2 =&gt; T1+T2 &lt; Cf1 + Df2 &lt; Cf2 + Df2 =&gt; O(f2)</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err="1"/>
              <a:t>Nếu</a:t>
            </a:r>
            <a:r>
              <a:rPr lang="en-US" baseline="0" dirty="0"/>
              <a:t> f2 &lt; f1 =&gt; T1+T2 &lt; Cf1 + Df2 &lt; Cf1 + Df1 =&gt; O(f1)</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aseline="0"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t>TC3: </a:t>
            </a:r>
            <a:r>
              <a:rPr lang="en-US" baseline="0" dirty="0" err="1"/>
              <a:t>tương</a:t>
            </a:r>
            <a:r>
              <a:rPr lang="en-US" baseline="0" dirty="0"/>
              <a:t> </a:t>
            </a:r>
            <a:r>
              <a:rPr lang="en-US" baseline="0" dirty="0" err="1"/>
              <a:t>tự</a:t>
            </a:r>
            <a:endParaRPr lang="en-US" baseline="0" dirty="0"/>
          </a:p>
          <a:p>
            <a:pPr marL="0" marR="0" indent="0" algn="l" defTabSz="914400" rtl="0" eaLnBrk="1" fontAlgn="base" latinLnBrk="0" hangingPunct="1">
              <a:lnSpc>
                <a:spcPct val="100000"/>
              </a:lnSpc>
              <a:spcBef>
                <a:spcPct val="30000"/>
              </a:spcBef>
              <a:spcAft>
                <a:spcPct val="0"/>
              </a:spcAft>
              <a:buClrTx/>
              <a:buSzTx/>
              <a:buFontTx/>
              <a:buNone/>
              <a:tabLst/>
              <a:defRPr/>
            </a:pPr>
            <a:endParaRPr lang="en-US" baseline="0" dirty="0"/>
          </a:p>
          <a:p>
            <a:pPr marL="0" marR="0" indent="0" algn="l" defTabSz="914400" rtl="0" eaLnBrk="1" fontAlgn="base" latinLnBrk="0" hangingPunct="1">
              <a:lnSpc>
                <a:spcPct val="100000"/>
              </a:lnSpc>
              <a:spcBef>
                <a:spcPct val="30000"/>
              </a:spcBef>
              <a:spcAft>
                <a:spcPct val="0"/>
              </a:spcAft>
              <a:buClrTx/>
              <a:buSzTx/>
              <a:buFontTx/>
              <a:buNone/>
              <a:tabLst/>
              <a:defRPr/>
            </a:pPr>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26</a:t>
            </a:fld>
            <a:endParaRPr lang="en-US"/>
          </a:p>
        </p:txBody>
      </p:sp>
    </p:spTree>
    <p:extLst>
      <p:ext uri="{BB962C8B-B14F-4D97-AF65-F5344CB8AC3E}">
        <p14:creationId xmlns:p14="http://schemas.microsoft.com/office/powerpoint/2010/main" val="10011795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constant values will be ignored because the main purpose of the Big O notation is to </a:t>
            </a:r>
            <a:r>
              <a:rPr lang="en-US" dirty="0" err="1"/>
              <a:t>analyse</a:t>
            </a:r>
            <a:r>
              <a:rPr lang="en-US" dirty="0"/>
              <a:t> the algorithm in a general fashion, so the anomalies that appear for small input sizes are simply ignored.</a:t>
            </a:r>
          </a:p>
          <a:p>
            <a:endParaRPr lang="en-US" dirty="0"/>
          </a:p>
          <a:p>
            <a:r>
              <a:rPr lang="en-US" dirty="0"/>
              <a:t>=&gt; </a:t>
            </a:r>
            <a:r>
              <a:rPr lang="en-US" dirty="0" err="1"/>
              <a:t>Đánh</a:t>
            </a:r>
            <a:r>
              <a:rPr lang="en-US" baseline="0" dirty="0"/>
              <a:t> </a:t>
            </a:r>
            <a:r>
              <a:rPr lang="en-US" baseline="0" dirty="0" err="1"/>
              <a:t>giá</a:t>
            </a:r>
            <a:r>
              <a:rPr lang="en-US" baseline="0" dirty="0"/>
              <a:t> </a:t>
            </a:r>
            <a:r>
              <a:rPr lang="en-US" baseline="0" dirty="0" err="1"/>
              <a:t>trên</a:t>
            </a:r>
            <a:r>
              <a:rPr lang="en-US" baseline="0" dirty="0"/>
              <a:t> </a:t>
            </a:r>
            <a:r>
              <a:rPr lang="en-US" baseline="0" dirty="0" err="1"/>
              <a:t>các</a:t>
            </a:r>
            <a:r>
              <a:rPr lang="en-US" baseline="0" dirty="0"/>
              <a:t> </a:t>
            </a:r>
            <a:r>
              <a:rPr lang="en-US" baseline="0" dirty="0" err="1"/>
              <a:t>phép</a:t>
            </a:r>
            <a:r>
              <a:rPr lang="en-US" baseline="0" dirty="0"/>
              <a:t> </a:t>
            </a:r>
            <a:r>
              <a:rPr lang="en-US" baseline="0" dirty="0" err="1"/>
              <a:t>toán</a:t>
            </a:r>
            <a:r>
              <a:rPr lang="en-US" baseline="0" dirty="0"/>
              <a:t> </a:t>
            </a:r>
            <a:r>
              <a:rPr lang="en-US" baseline="0" dirty="0" err="1"/>
              <a:t>Tích</a:t>
            </a:r>
            <a:r>
              <a:rPr lang="en-US" baseline="0" dirty="0"/>
              <a:t> </a:t>
            </a:r>
            <a:r>
              <a:rPr lang="en-US" baseline="0" dirty="0" err="1"/>
              <a:t>cực</a:t>
            </a:r>
            <a:r>
              <a:rPr lang="en-US" baseline="0" dirty="0"/>
              <a:t> (</a:t>
            </a:r>
            <a:r>
              <a:rPr lang="en-US" baseline="0"/>
              <a:t>active operation)</a:t>
            </a:r>
            <a:endParaRPr lang="en-US" dirty="0"/>
          </a:p>
          <a:p>
            <a:endParaRPr lang="en-US" dirty="0"/>
          </a:p>
          <a:p>
            <a:r>
              <a:rPr lang="pt-BR" dirty="0"/>
              <a:t>6n log2 n + 6 with just n log n</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27</a:t>
            </a:fld>
            <a:endParaRPr lang="en-US"/>
          </a:p>
        </p:txBody>
      </p:sp>
    </p:spTree>
    <p:extLst>
      <p:ext uri="{BB962C8B-B14F-4D97-AF65-F5344CB8AC3E}">
        <p14:creationId xmlns:p14="http://schemas.microsoft.com/office/powerpoint/2010/main" val="723995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if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1 else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2</a:t>
            </a:r>
            <a:r>
              <a:rPr lang="en-US" dirty="0"/>
              <a:t> =&gt; O(max (</a:t>
            </a:r>
            <a:r>
              <a:rPr lang="en-US" dirty="0" err="1"/>
              <a:t>lệnh</a:t>
            </a:r>
            <a:r>
              <a:rPr lang="en-US" dirty="0"/>
              <a:t> 1, </a:t>
            </a:r>
            <a:r>
              <a:rPr lang="en-US" dirty="0" err="1"/>
              <a:t>lệnh</a:t>
            </a:r>
            <a:r>
              <a:rPr lang="en-US" dirty="0"/>
              <a:t> 2) + </a:t>
            </a:r>
            <a:r>
              <a:rPr lang="en-US" dirty="0" err="1"/>
              <a:t>điều</a:t>
            </a:r>
            <a:r>
              <a:rPr lang="en-US" dirty="0"/>
              <a:t> </a:t>
            </a:r>
            <a:r>
              <a:rPr lang="en-US" dirty="0" err="1"/>
              <a:t>kiện</a:t>
            </a:r>
            <a:r>
              <a:rPr lang="en-US" dirty="0"/>
              <a:t>)</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28</a:t>
            </a:fld>
            <a:endParaRPr lang="en-US"/>
          </a:p>
        </p:txBody>
      </p:sp>
    </p:spTree>
    <p:extLst>
      <p:ext uri="{BB962C8B-B14F-4D97-AF65-F5344CB8AC3E}">
        <p14:creationId xmlns:p14="http://schemas.microsoft.com/office/powerpoint/2010/main" val="6575170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en-US" dirty="0"/>
              <a:t>(</a:t>
            </a:r>
            <a:r>
              <a:rPr lang="en-US" altLang="en-US" dirty="0" err="1"/>
              <a:t>nếu</a:t>
            </a:r>
            <a:r>
              <a:rPr lang="en-US" altLang="en-US" dirty="0"/>
              <a:t> </a:t>
            </a:r>
            <a:r>
              <a:rPr lang="en-US" altLang="en-US" dirty="0" err="1"/>
              <a:t>không</a:t>
            </a:r>
            <a:r>
              <a:rPr lang="en-US" altLang="en-US" dirty="0"/>
              <a:t> </a:t>
            </a:r>
            <a:r>
              <a:rPr lang="en-US" altLang="en-US" dirty="0" err="1"/>
              <a:t>có</a:t>
            </a:r>
            <a:r>
              <a:rPr lang="en-US" altLang="en-US" dirty="0"/>
              <a:t> </a:t>
            </a:r>
            <a:r>
              <a:rPr lang="en-US" altLang="en-US" dirty="0" err="1"/>
              <a:t>gì</a:t>
            </a:r>
            <a:r>
              <a:rPr lang="en-US" altLang="en-US" dirty="0"/>
              <a:t> </a:t>
            </a:r>
            <a:r>
              <a:rPr lang="en-US" altLang="en-US" dirty="0" err="1"/>
              <a:t>nhầm</a:t>
            </a:r>
            <a:r>
              <a:rPr lang="en-US" altLang="en-US" dirty="0"/>
              <a:t> </a:t>
            </a:r>
            <a:r>
              <a:rPr lang="en-US" altLang="en-US" dirty="0" err="1"/>
              <a:t>lẫn</a:t>
            </a:r>
            <a:r>
              <a:rPr lang="en-US" altLang="en-US" dirty="0"/>
              <a:t> </a:t>
            </a:r>
            <a:r>
              <a:rPr lang="en-US" altLang="en-US" dirty="0" err="1"/>
              <a:t>giải</a:t>
            </a:r>
            <a:r>
              <a:rPr lang="en-US" altLang="en-US" dirty="0"/>
              <a:t> </a:t>
            </a:r>
            <a:r>
              <a:rPr lang="en-US" altLang="en-US" dirty="0" err="1"/>
              <a:t>thuật</a:t>
            </a:r>
            <a:r>
              <a:rPr lang="en-US" altLang="en-US" dirty="0"/>
              <a:t> </a:t>
            </a:r>
            <a:r>
              <a:rPr lang="en-US" altLang="en-US" dirty="0" err="1"/>
              <a:t>thì</a:t>
            </a:r>
            <a:r>
              <a:rPr lang="en-US" altLang="en-US" dirty="0"/>
              <a:t> ta </a:t>
            </a:r>
            <a:r>
              <a:rPr lang="en-US" altLang="en-US" dirty="0" err="1"/>
              <a:t>kí</a:t>
            </a:r>
            <a:r>
              <a:rPr lang="en-US" altLang="en-US" dirty="0"/>
              <a:t> </a:t>
            </a:r>
            <a:r>
              <a:rPr lang="en-US" altLang="en-US" dirty="0" err="1"/>
              <a:t>hiệu</a:t>
            </a:r>
            <a:r>
              <a:rPr lang="en-US" altLang="en-US" dirty="0"/>
              <a:t> </a:t>
            </a:r>
            <a:r>
              <a:rPr lang="en-US" altLang="en-US" dirty="0" err="1"/>
              <a:t>ngắn</a:t>
            </a:r>
            <a:r>
              <a:rPr lang="en-US" altLang="en-US" dirty="0"/>
              <a:t> </a:t>
            </a:r>
            <a:r>
              <a:rPr lang="en-US" altLang="en-US" dirty="0" err="1"/>
              <a:t>gọn</a:t>
            </a:r>
            <a:r>
              <a:rPr lang="en-US" altLang="en-US" dirty="0"/>
              <a:t> </a:t>
            </a:r>
            <a:r>
              <a:rPr lang="en-US" altLang="en-US" dirty="0" err="1"/>
              <a:t>là</a:t>
            </a:r>
            <a:r>
              <a:rPr lang="en-US" altLang="en-US" dirty="0"/>
              <a:t> T(n)). </a:t>
            </a:r>
          </a:p>
          <a:p>
            <a:pPr marL="0" marR="0" lvl="1" indent="0" algn="l" defTabSz="914400" rtl="0" eaLnBrk="1" fontAlgn="base" latinLnBrk="0" hangingPunct="1">
              <a:lnSpc>
                <a:spcPct val="100000"/>
              </a:lnSpc>
              <a:spcBef>
                <a:spcPct val="30000"/>
              </a:spcBef>
              <a:spcAft>
                <a:spcPct val="0"/>
              </a:spcAft>
              <a:buClrTx/>
              <a:buSzTx/>
              <a:buFontTx/>
              <a:buNone/>
              <a:tabLst/>
              <a:defRPr/>
            </a:pPr>
            <a:r>
              <a:rPr lang="en-US" dirty="0"/>
              <a:t>log</a:t>
            </a:r>
            <a:r>
              <a:rPr lang="en-US" baseline="-25000" dirty="0"/>
              <a:t>2</a:t>
            </a:r>
            <a:r>
              <a:rPr lang="en-US" dirty="0"/>
              <a:t>(8) = 3 </a:t>
            </a:r>
            <a:r>
              <a:rPr lang="en-US" dirty="0" err="1"/>
              <a:t>và</a:t>
            </a:r>
            <a:r>
              <a:rPr lang="en-US" dirty="0"/>
              <a:t> 2</a:t>
            </a:r>
            <a:r>
              <a:rPr lang="en-US" baseline="30000" dirty="0"/>
              <a:t>3</a:t>
            </a:r>
            <a:r>
              <a:rPr lang="en-US" dirty="0"/>
              <a:t> = 8. </a:t>
            </a:r>
          </a:p>
          <a:p>
            <a:pPr marL="0" marR="0" lvl="1" indent="0" algn="l" defTabSz="914400" rtl="0" eaLnBrk="1" fontAlgn="base" latinLnBrk="0" hangingPunct="1">
              <a:lnSpc>
                <a:spcPct val="100000"/>
              </a:lnSpc>
              <a:spcBef>
                <a:spcPct val="30000"/>
              </a:spcBef>
              <a:spcAft>
                <a:spcPct val="0"/>
              </a:spcAft>
              <a:buClrTx/>
              <a:buSzTx/>
              <a:buFontTx/>
              <a:buNone/>
              <a:tabLst/>
              <a:defRPr/>
            </a:pPr>
            <a:r>
              <a:rPr lang="vi-VN" dirty="0"/>
              <a:t>log</a:t>
            </a:r>
            <a:r>
              <a:rPr lang="vi-VN" i="1" baseline="-25000" dirty="0"/>
              <a:t>b</a:t>
            </a:r>
            <a:r>
              <a:rPr lang="vi-VN" dirty="0"/>
              <a:t> </a:t>
            </a:r>
            <a:r>
              <a:rPr lang="vi-VN" i="1" dirty="0"/>
              <a:t>x</a:t>
            </a:r>
            <a:r>
              <a:rPr lang="en-US" i="0" baseline="0" dirty="0"/>
              <a:t> = y</a:t>
            </a:r>
            <a:r>
              <a:rPr lang="en-US" i="1" dirty="0"/>
              <a:t>       </a:t>
            </a:r>
            <a:r>
              <a:rPr lang="vi-VN" i="1" dirty="0"/>
              <a:t>b</a:t>
            </a:r>
            <a:r>
              <a:rPr lang="vi-VN" i="1" baseline="30000" dirty="0"/>
              <a:t>y</a:t>
            </a:r>
            <a:r>
              <a:rPr lang="en-US" i="1" baseline="30000" dirty="0"/>
              <a:t> </a:t>
            </a:r>
            <a:r>
              <a:rPr lang="vi-VN" dirty="0"/>
              <a:t> </a:t>
            </a:r>
            <a:r>
              <a:rPr lang="en-US" dirty="0"/>
              <a:t>= x</a:t>
            </a:r>
          </a:p>
          <a:p>
            <a:pPr marL="0" marR="0" lvl="1" indent="0" algn="l" defTabSz="914400" rtl="0" eaLnBrk="1" fontAlgn="base" latinLnBrk="0" hangingPunct="1">
              <a:lnSpc>
                <a:spcPct val="100000"/>
              </a:lnSpc>
              <a:spcBef>
                <a:spcPct val="30000"/>
              </a:spcBef>
              <a:spcAft>
                <a:spcPct val="0"/>
              </a:spcAft>
              <a:buClrTx/>
              <a:buSzTx/>
              <a:buFontTx/>
              <a:buNone/>
              <a:tabLst/>
              <a:defRPr/>
            </a:pPr>
            <a:endParaRPr lang="en-US" altLang="en-US" dirty="0"/>
          </a:p>
          <a:p>
            <a:pPr marL="0" marR="0" lvl="1" indent="0" algn="l" defTabSz="914400" rtl="0" eaLnBrk="1" fontAlgn="base" latinLnBrk="0" hangingPunct="1">
              <a:lnSpc>
                <a:spcPct val="100000"/>
              </a:lnSpc>
              <a:spcBef>
                <a:spcPct val="30000"/>
              </a:spcBef>
              <a:spcAft>
                <a:spcPct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29</a:t>
            </a:fld>
            <a:endParaRPr lang="en-US"/>
          </a:p>
        </p:txBody>
      </p:sp>
    </p:spTree>
    <p:extLst>
      <p:ext uri="{BB962C8B-B14F-4D97-AF65-F5344CB8AC3E}">
        <p14:creationId xmlns:p14="http://schemas.microsoft.com/office/powerpoint/2010/main" val="22932675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t>
            </a:r>
            <a:r>
              <a:rPr lang="en-US" dirty="0" err="1"/>
              <a:t>sánh</a:t>
            </a:r>
            <a:r>
              <a:rPr lang="en-US" dirty="0"/>
              <a:t>,</a:t>
            </a:r>
            <a:r>
              <a:rPr lang="en-US" baseline="0" dirty="0"/>
              <a:t> </a:t>
            </a:r>
            <a:r>
              <a:rPr lang="en-US" baseline="0" dirty="0" err="1"/>
              <a:t>kiểm</a:t>
            </a:r>
            <a:r>
              <a:rPr lang="en-US" baseline="0" dirty="0"/>
              <a:t> </a:t>
            </a:r>
            <a:r>
              <a:rPr lang="en-US" baseline="0" dirty="0" err="1"/>
              <a:t>tra</a:t>
            </a:r>
            <a:r>
              <a:rPr lang="en-US" baseline="0" dirty="0"/>
              <a:t> </a:t>
            </a:r>
            <a:r>
              <a:rPr lang="en-US" baseline="0" dirty="0" err="1"/>
              <a:t>đk</a:t>
            </a:r>
            <a:r>
              <a:rPr lang="en-US" baseline="0" dirty="0"/>
              <a:t>, </a:t>
            </a:r>
            <a:r>
              <a:rPr lang="en-US" baseline="0" dirty="0" err="1"/>
              <a:t>tăng</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31</a:t>
            </a:fld>
            <a:endParaRPr lang="en-US"/>
          </a:p>
        </p:txBody>
      </p:sp>
    </p:spTree>
    <p:extLst>
      <p:ext uri="{BB962C8B-B14F-4D97-AF65-F5344CB8AC3E}">
        <p14:creationId xmlns:p14="http://schemas.microsoft.com/office/powerpoint/2010/main" val="3019962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coi như thời gian thực hiện mỗi lệnh đơn là như nhau</a:t>
            </a:r>
            <a:endParaRPr lang="en-US" dirty="0"/>
          </a:p>
          <a:p>
            <a:r>
              <a:rPr lang="vi-VN" dirty="0"/>
              <a:t>Trường hợp tốt nhất</a:t>
            </a:r>
            <a:r>
              <a:rPr lang="en-US" baseline="0" dirty="0"/>
              <a:t> </a:t>
            </a:r>
            <a:r>
              <a:rPr lang="en-US" baseline="0" dirty="0" err="1"/>
              <a:t>cho</a:t>
            </a:r>
            <a:r>
              <a:rPr lang="en-US" baseline="0" dirty="0"/>
              <a:t> </a:t>
            </a:r>
            <a:r>
              <a:rPr lang="en-US" baseline="0" dirty="0" err="1"/>
              <a:t>vòng</a:t>
            </a:r>
            <a:r>
              <a:rPr lang="en-US" baseline="0" dirty="0"/>
              <a:t> for 17-18: </a:t>
            </a:r>
            <a:r>
              <a:rPr lang="vi-VN" dirty="0"/>
              <a:t>k[m] luôn là phần tử bé nhất, tức là dãy đã được sắp xếp, thì không phải thực hiện lệnh gán này. </a:t>
            </a:r>
            <a:r>
              <a:rPr lang="en-US" dirty="0" err="1"/>
              <a:t>Chỉ</a:t>
            </a:r>
            <a:r>
              <a:rPr lang="en-US" dirty="0"/>
              <a:t> </a:t>
            </a:r>
            <a:r>
              <a:rPr lang="en-US" dirty="0" err="1"/>
              <a:t>phải</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lệnh</a:t>
            </a:r>
            <a:r>
              <a:rPr lang="en-US" baseline="0" dirty="0"/>
              <a:t> </a:t>
            </a:r>
            <a:r>
              <a:rPr lang="en-US" baseline="0" dirty="0" err="1"/>
              <a:t>i</a:t>
            </a:r>
            <a:r>
              <a:rPr lang="en-US" baseline="0" dirty="0"/>
              <a:t>++</a:t>
            </a:r>
            <a:endParaRPr lang="en-US" dirty="0"/>
          </a:p>
          <a:p>
            <a:r>
              <a:rPr lang="vi-VN" dirty="0"/>
              <a:t>Trường hợp xấu nhất: số lần thực hiện lệnh gán ở lệnh if là nhiều nhất, đó là khi dãy lại được sắp xếp theo theo chiều ngược lại. Khi đó độ phức tạp của lệnh for trong sẽ là 2(N-i-1).</a:t>
            </a:r>
            <a:r>
              <a:rPr lang="en-US" dirty="0"/>
              <a:t> </a:t>
            </a:r>
            <a:r>
              <a:rPr lang="en-US" dirty="0" err="1"/>
              <a:t>Lệnh</a:t>
            </a:r>
            <a:r>
              <a:rPr lang="en-US" dirty="0"/>
              <a:t> </a:t>
            </a:r>
            <a:r>
              <a:rPr lang="en-US" dirty="0" err="1"/>
              <a:t>gán</a:t>
            </a:r>
            <a:r>
              <a:rPr lang="en-US" baseline="0" dirty="0"/>
              <a:t> m=j </a:t>
            </a:r>
            <a:r>
              <a:rPr lang="en-US" baseline="0" dirty="0" err="1"/>
              <a:t>và</a:t>
            </a:r>
            <a:r>
              <a:rPr lang="en-US" baseline="0" dirty="0"/>
              <a:t> </a:t>
            </a:r>
            <a:r>
              <a:rPr lang="en-US" baseline="0" dirty="0" err="1"/>
              <a:t>i</a:t>
            </a:r>
            <a:r>
              <a:rPr lang="en-US" baseline="0" dirty="0"/>
              <a:t>++</a:t>
            </a:r>
          </a:p>
          <a:p>
            <a:pPr marL="0" marR="0" lvl="2" indent="0" algn="l" defTabSz="914400" rtl="0" eaLnBrk="1" fontAlgn="base" latinLnBrk="0" hangingPunct="1">
              <a:lnSpc>
                <a:spcPct val="100000"/>
              </a:lnSpc>
              <a:spcBef>
                <a:spcPct val="30000"/>
              </a:spcBef>
              <a:spcAft>
                <a:spcPct val="0"/>
              </a:spcAft>
              <a:buClrTx/>
              <a:buSzTx/>
              <a:buFontTx/>
              <a:buNone/>
              <a:tabLst/>
              <a:defRPr/>
            </a:pPr>
            <a:r>
              <a:rPr lang="en-US" dirty="0"/>
              <a:t>TH </a:t>
            </a:r>
            <a:r>
              <a:rPr lang="en-US" dirty="0" err="1"/>
              <a:t>trung</a:t>
            </a:r>
            <a:r>
              <a:rPr lang="en-US" baseline="0" dirty="0"/>
              <a:t> </a:t>
            </a:r>
            <a:r>
              <a:rPr lang="en-US" baseline="0" dirty="0" err="1"/>
              <a:t>bình</a:t>
            </a:r>
            <a:r>
              <a:rPr lang="en-US" baseline="0" dirty="0"/>
              <a:t>: </a:t>
            </a:r>
            <a:r>
              <a:rPr lang="en-US" dirty="0" err="1"/>
              <a:t>tb</a:t>
            </a:r>
            <a:r>
              <a:rPr lang="en-US" dirty="0"/>
              <a:t> 2 TH </a:t>
            </a:r>
            <a:r>
              <a:rPr lang="en-US" dirty="0" err="1"/>
              <a:t>trên</a:t>
            </a:r>
            <a:r>
              <a:rPr lang="en-US" dirty="0"/>
              <a:t> = 3(N-i-1)/2</a:t>
            </a:r>
          </a:p>
          <a:p>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34</a:t>
            </a:fld>
            <a:endParaRPr lang="en-US"/>
          </a:p>
        </p:txBody>
      </p:sp>
    </p:spTree>
    <p:extLst>
      <p:ext uri="{BB962C8B-B14F-4D97-AF65-F5344CB8AC3E}">
        <p14:creationId xmlns:p14="http://schemas.microsoft.com/office/powerpoint/2010/main" val="819271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err="1">
                <a:solidFill>
                  <a:schemeClr val="tx1"/>
                </a:solidFill>
                <a:effectLst/>
                <a:latin typeface="+mn-lt"/>
                <a:ea typeface="+mn-ea"/>
                <a:cs typeface="+mn-cs"/>
              </a:rPr>
              <a:t>int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is_prime</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int</a:t>
            </a:r>
            <a:r>
              <a:rPr lang="en-US" sz="1200" kern="1200" dirty="0">
                <a:solidFill>
                  <a:schemeClr val="tx1"/>
                </a:solidFill>
                <a:effectLst/>
                <a:latin typeface="+mn-lt"/>
                <a:ea typeface="+mn-ea"/>
                <a:cs typeface="+mn-cs"/>
              </a:rPr>
              <a:t> n)</a:t>
            </a:r>
          </a:p>
          <a:p>
            <a:pPr lvl="0"/>
            <a:r>
              <a:rPr lang="en-US" sz="1200" kern="1200" dirty="0">
                <a:solidFill>
                  <a:schemeClr val="tx1"/>
                </a:solidFill>
                <a:effectLst/>
                <a:latin typeface="+mn-lt"/>
                <a:ea typeface="+mn-ea"/>
                <a:cs typeface="+mn-cs"/>
              </a:rPr>
              <a:t>{</a:t>
            </a:r>
          </a:p>
          <a:p>
            <a:pPr lvl="0"/>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a:t>
            </a:r>
          </a:p>
          <a:p>
            <a:pPr lvl="0"/>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cn</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int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sqrt</a:t>
            </a:r>
            <a:r>
              <a:rPr lang="en-US" sz="1200" kern="1200" dirty="0">
                <a:solidFill>
                  <a:schemeClr val="tx1"/>
                </a:solidFill>
                <a:effectLst/>
                <a:latin typeface="+mn-lt"/>
                <a:ea typeface="+mn-ea"/>
                <a:cs typeface="+mn-cs"/>
              </a:rPr>
              <a:t>(n);</a:t>
            </a:r>
          </a:p>
          <a:p>
            <a:pPr lvl="0"/>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	if (n == 1) return 0;</a:t>
            </a:r>
          </a:p>
          <a:p>
            <a:pPr lvl="0"/>
            <a:r>
              <a:rPr lang="en-US" sz="1200" kern="1200" dirty="0">
                <a:solidFill>
                  <a:schemeClr val="tx1"/>
                </a:solidFill>
                <a:effectLst/>
                <a:latin typeface="+mn-lt"/>
                <a:ea typeface="+mn-ea"/>
                <a:cs typeface="+mn-cs"/>
              </a:rPr>
              <a:t>	if (n == 2) return 1;</a:t>
            </a:r>
          </a:p>
          <a:p>
            <a:pPr lvl="0"/>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	for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 2;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&lt;= </a:t>
            </a:r>
            <a:r>
              <a:rPr lang="en-US" sz="1200" kern="1200" dirty="0" err="1">
                <a:solidFill>
                  <a:schemeClr val="tx1"/>
                </a:solidFill>
                <a:effectLst/>
                <a:latin typeface="+mn-lt"/>
                <a:ea typeface="+mn-ea"/>
                <a:cs typeface="+mn-cs"/>
              </a:rPr>
              <a:t>cn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a:t>
            </a:r>
          </a:p>
          <a:p>
            <a:pPr lvl="0"/>
            <a:r>
              <a:rPr lang="en-US" sz="1200" kern="1200" dirty="0">
                <a:solidFill>
                  <a:schemeClr val="tx1"/>
                </a:solidFill>
                <a:effectLst/>
                <a:latin typeface="+mn-lt"/>
                <a:ea typeface="+mn-ea"/>
                <a:cs typeface="+mn-cs"/>
              </a:rPr>
              <a:t>		if (</a:t>
            </a:r>
            <a:r>
              <a:rPr lang="en-US" sz="1200" kern="1200" dirty="0" err="1">
                <a:solidFill>
                  <a:schemeClr val="tx1"/>
                </a:solidFill>
                <a:effectLst/>
                <a:latin typeface="+mn-lt"/>
                <a:ea typeface="+mn-ea"/>
                <a:cs typeface="+mn-cs"/>
              </a:rPr>
              <a:t>n%i</a:t>
            </a:r>
            <a:r>
              <a:rPr lang="en-US" sz="1200" kern="1200" dirty="0">
                <a:solidFill>
                  <a:schemeClr val="tx1"/>
                </a:solidFill>
                <a:effectLst/>
                <a:latin typeface="+mn-lt"/>
                <a:ea typeface="+mn-ea"/>
                <a:cs typeface="+mn-cs"/>
              </a:rPr>
              <a:t> == 0) return 0;</a:t>
            </a:r>
          </a:p>
          <a:p>
            <a:pPr lvl="0"/>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	return 1;</a:t>
            </a:r>
          </a:p>
          <a:p>
            <a:pPr lvl="0"/>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35</a:t>
            </a:fld>
            <a:endParaRPr lang="en-US"/>
          </a:p>
        </p:txBody>
      </p:sp>
    </p:spTree>
    <p:extLst>
      <p:ext uri="{BB962C8B-B14F-4D97-AF65-F5344CB8AC3E}">
        <p14:creationId xmlns:p14="http://schemas.microsoft.com/office/powerpoint/2010/main" val="6815107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n/2:</a:t>
            </a:r>
            <a:r>
              <a:rPr lang="en-US" baseline="0" dirty="0"/>
              <a:t> n over two</a:t>
            </a:r>
          </a:p>
          <a:p>
            <a:r>
              <a:rPr lang="en-US" baseline="0" dirty="0" err="1"/>
              <a:t>a^b</a:t>
            </a:r>
            <a:r>
              <a:rPr lang="en-US" baseline="0" dirty="0"/>
              <a:t>: a raised to the power b</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40</a:t>
            </a:fld>
            <a:endParaRPr lang="en-US"/>
          </a:p>
        </p:txBody>
      </p:sp>
    </p:spTree>
    <p:extLst>
      <p:ext uri="{BB962C8B-B14F-4D97-AF65-F5344CB8AC3E}">
        <p14:creationId xmlns:p14="http://schemas.microsoft.com/office/powerpoint/2010/main" val="32308637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a:t>
            </a:r>
            <a:r>
              <a:rPr lang="it-IT"/>
              <a:t>a+b)(c+d)–(ac)–(bd)=</a:t>
            </a:r>
            <a:r>
              <a:rPr lang="it-IT" dirty="0"/>
              <a:t>ad+bc</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41</a:t>
            </a:fld>
            <a:endParaRPr lang="en-US"/>
          </a:p>
        </p:txBody>
      </p:sp>
    </p:spTree>
    <p:extLst>
      <p:ext uri="{BB962C8B-B14F-4D97-AF65-F5344CB8AC3E}">
        <p14:creationId xmlns:p14="http://schemas.microsoft.com/office/powerpoint/2010/main" val="1226963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10/14/2025</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751282383"/>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10/14/2025</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361418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10/14/2025</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26B269CE-12F4-4F4F-BF2F-21E0A343DA44}" type="slidenum">
              <a:rPr lang="en-US" smtClean="0"/>
              <a:pPr/>
              <a:t>‹#›</a:t>
            </a:fld>
            <a:endParaRPr lang="en-US"/>
          </a:p>
        </p:txBody>
      </p:sp>
    </p:spTree>
    <p:extLst>
      <p:ext uri="{BB962C8B-B14F-4D97-AF65-F5344CB8AC3E}">
        <p14:creationId xmlns:p14="http://schemas.microsoft.com/office/powerpoint/2010/main" val="367048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10/14/2025</a:t>
            </a:fld>
            <a:endParaRPr lang="en-US" dirty="0"/>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737624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10/14/2025</a:t>
            </a:fld>
            <a:endParaRPr lang="en-US" dirty="0"/>
          </a:p>
        </p:txBody>
      </p:sp>
      <p:sp>
        <p:nvSpPr>
          <p:cNvPr id="8" name="Footer Placeholder 7"/>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9" name="Slide Number Placeholder 8"/>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100439708"/>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10/14/2025</a:t>
            </a:fld>
            <a:endParaRPr lang="en-US" dirty="0"/>
          </a:p>
        </p:txBody>
      </p:sp>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5" name="Slide Number Placeholder 4"/>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212774696"/>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10/14/2025</a:t>
            </a:fld>
            <a:endParaRPr lang="en-US" dirty="0"/>
          </a:p>
        </p:txBody>
      </p:sp>
      <p:sp>
        <p:nvSpPr>
          <p:cNvPr id="3" name="Footer Placeholder 2"/>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180218105"/>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10/14/2025</a:t>
            </a:fld>
            <a:endParaRPr lang="en-US" dirty="0"/>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332441272"/>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10/14/2025</a:t>
            </a:fld>
            <a:endParaRPr lang="en-US" dirty="0"/>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54922753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10/14/2025</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1368749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10/14/2025</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735508831"/>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059884"/>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36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525999525"/>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331890"/>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10/14/2025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9"/>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168534"/>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10/14/2025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502029996"/>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10/14/2025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1"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4808169"/>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9"/>
            <a:ext cx="5397627" cy="451739"/>
          </a:xfrm>
          <a:prstGeom prst="rect">
            <a:avLst/>
          </a:prstGeom>
        </p:spPr>
        <p:txBody>
          <a:bodyPr/>
          <a:lstStyle>
            <a:lvl1pPr>
              <a:defRPr sz="21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10/14/2025</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046137180"/>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10/14/2025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750486656"/>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10/14/2025</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88240559"/>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10/14/2025</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24317B-5122-4A99-A6E9-FA23C146A7E0}" type="slidenum">
              <a:rPr lang="en-US" smtClean="0"/>
              <a:pPr/>
              <a:t>‹#›</a:t>
            </a:fld>
            <a:endParaRPr lang="en-US"/>
          </a:p>
        </p:txBody>
      </p:sp>
      <p:pic>
        <p:nvPicPr>
          <p:cNvPr id="7" name="Picture 2" descr="D:\lo go dhbk100957AM.jpg"/>
          <p:cNvPicPr>
            <a:picLocks noChangeAspect="1" noChangeArrowheads="1"/>
          </p:cNvPicPr>
          <p:nvPr userDrawn="1"/>
        </p:nvPicPr>
        <p:blipFill>
          <a:blip r:embed="rId22" cstate="print"/>
          <a:srcRect/>
          <a:stretch>
            <a:fillRect/>
          </a:stretch>
        </p:blipFill>
        <p:spPr bwMode="auto">
          <a:xfrm>
            <a:off x="8766174" y="6372320"/>
            <a:ext cx="225425" cy="336455"/>
          </a:xfrm>
          <a:prstGeom prst="rect">
            <a:avLst/>
          </a:prstGeom>
          <a:noFill/>
        </p:spPr>
      </p:pic>
    </p:spTree>
    <p:extLst>
      <p:ext uri="{BB962C8B-B14F-4D97-AF65-F5344CB8AC3E}">
        <p14:creationId xmlns:p14="http://schemas.microsoft.com/office/powerpoint/2010/main" val="3531121708"/>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7.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8.png"/><Relationship Id="rId1" Type="http://schemas.openxmlformats.org/officeDocument/2006/relationships/slideLayout" Target="../slideLayouts/slideLayout17.xml"/><Relationship Id="rId4" Type="http://schemas.openxmlformats.org/officeDocument/2006/relationships/image" Target="../media/image270.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7.xml"/><Relationship Id="rId6" Type="http://schemas.openxmlformats.org/officeDocument/2006/relationships/image" Target="../media/image39.png"/><Relationship Id="rId5" Type="http://schemas.openxmlformats.org/officeDocument/2006/relationships/image" Target="../media/image18.png"/><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7.xml"/><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066800" y="4159250"/>
            <a:ext cx="7315200" cy="1066800"/>
          </a:xfrm>
        </p:spPr>
        <p:txBody>
          <a:bodyPr>
            <a:normAutofit/>
          </a:bodyPr>
          <a:lstStyle/>
          <a:p>
            <a:pPr algn="ctr"/>
            <a:r>
              <a:rPr lang="en-US" dirty="0">
                <a:solidFill>
                  <a:schemeClr val="bg1"/>
                </a:solidFill>
              </a:rPr>
              <a:t>CẤU TRÚC DỮ LIỆU VÀ GIẢI THUẬT</a:t>
            </a:r>
          </a:p>
        </p:txBody>
      </p:sp>
      <p:sp>
        <p:nvSpPr>
          <p:cNvPr id="3" name="Text Placeholder 2"/>
          <p:cNvSpPr>
            <a:spLocks noGrp="1"/>
          </p:cNvSpPr>
          <p:nvPr>
            <p:ph type="body" idx="4294967295"/>
          </p:nvPr>
        </p:nvSpPr>
        <p:spPr>
          <a:xfrm>
            <a:off x="3695700" y="4953000"/>
            <a:ext cx="6781800" cy="1143000"/>
          </a:xfrm>
        </p:spPr>
        <p:txBody>
          <a:bodyPr>
            <a:normAutofit/>
          </a:bodyPr>
          <a:lstStyle/>
          <a:p>
            <a:pPr marL="0" indent="0">
              <a:buNone/>
            </a:pPr>
            <a:r>
              <a:rPr lang="fr-FR" sz="2400" dirty="0">
                <a:solidFill>
                  <a:schemeClr val="bg1"/>
                </a:solidFill>
              </a:rPr>
              <a:t>ET2100</a:t>
            </a:r>
          </a:p>
          <a:p>
            <a:pPr marL="0" indent="0">
              <a:buNone/>
            </a:pPr>
            <a:endParaRPr lang="en-US" sz="2400" dirty="0">
              <a:solidFill>
                <a:schemeClr val="bg1"/>
              </a:solidFill>
            </a:endParaRPr>
          </a:p>
        </p:txBody>
      </p:sp>
      <p:sp>
        <p:nvSpPr>
          <p:cNvPr id="4" name="Slide Number Placeholder 3"/>
          <p:cNvSpPr>
            <a:spLocks noGrp="1"/>
          </p:cNvSpPr>
          <p:nvPr>
            <p:ph type="sldNum" sz="quarter" idx="4294967295"/>
          </p:nvPr>
        </p:nvSpPr>
        <p:spPr>
          <a:xfrm>
            <a:off x="7086600" y="6356350"/>
            <a:ext cx="2057400" cy="365125"/>
          </a:xfrm>
        </p:spPr>
        <p:txBody>
          <a:bodyPr/>
          <a:lstStyle/>
          <a:p>
            <a:fld id="{26B269CE-12F4-4F4F-BF2F-21E0A343DA44}" type="slidenum">
              <a:rPr lang="en-US" smtClean="0"/>
              <a:pPr/>
              <a:t>1</a:t>
            </a:fld>
            <a:endParaRPr lang="en-US"/>
          </a:p>
        </p:txBody>
      </p:sp>
    </p:spTree>
    <p:extLst>
      <p:ext uri="{BB962C8B-B14F-4D97-AF65-F5344CB8AC3E}">
        <p14:creationId xmlns:p14="http://schemas.microsoft.com/office/powerpoint/2010/main" val="424656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33400" y="2373745"/>
            <a:ext cx="7772400" cy="1066800"/>
          </a:xfrm>
        </p:spPr>
        <p:txBody>
          <a:bodyPr>
            <a:normAutofit/>
          </a:bodyPr>
          <a:lstStyle/>
          <a:p>
            <a:pPr algn="ctr"/>
            <a:r>
              <a:rPr lang="vi-VN" sz="3400" dirty="0">
                <a:latin typeface="+mn-lt"/>
              </a:rPr>
              <a:t>Chương I : </a:t>
            </a:r>
            <a:br>
              <a:rPr lang="en-US" sz="3400" dirty="0">
                <a:latin typeface="+mn-lt"/>
              </a:rPr>
            </a:br>
            <a:r>
              <a:rPr lang="vi-VN" sz="3400" dirty="0">
                <a:latin typeface="+mn-lt"/>
              </a:rPr>
              <a:t>Tổng quan về CTDL và Giải thuật</a:t>
            </a:r>
            <a:endParaRPr lang="en-US" sz="3400" b="1" dirty="0">
              <a:latin typeface="+mn-lt"/>
            </a:endParaRPr>
          </a:p>
        </p:txBody>
      </p:sp>
      <p:sp>
        <p:nvSpPr>
          <p:cNvPr id="3" name="Title 6">
            <a:extLst>
              <a:ext uri="{FF2B5EF4-FFF2-40B4-BE49-F238E27FC236}">
                <a16:creationId xmlns:a16="http://schemas.microsoft.com/office/drawing/2014/main" id="{A4ACF486-B7D8-4A5A-B633-83527A2F99E2}"/>
              </a:ext>
            </a:extLst>
          </p:cNvPr>
          <p:cNvSpPr txBox="1">
            <a:spLocks/>
          </p:cNvSpPr>
          <p:nvPr/>
        </p:nvSpPr>
        <p:spPr>
          <a:xfrm>
            <a:off x="685800" y="3581400"/>
            <a:ext cx="7351077" cy="1119250"/>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ctr"/>
            <a:r>
              <a:rPr lang="en-US" sz="3000" dirty="0"/>
              <a:t>PGS.TS. Vũ Hải</a:t>
            </a:r>
          </a:p>
          <a:p>
            <a:pPr algn="ctr"/>
            <a:r>
              <a:rPr lang="en-US" sz="3000"/>
              <a:t>Khoa KTTT </a:t>
            </a:r>
            <a:r>
              <a:rPr lang="en-US" sz="3000" dirty="0"/>
              <a:t>– </a:t>
            </a:r>
            <a:r>
              <a:rPr lang="en-US" sz="3000" dirty="0" err="1"/>
              <a:t>Trường</a:t>
            </a:r>
            <a:r>
              <a:rPr lang="en-US" sz="3000" dirty="0"/>
              <a:t> </a:t>
            </a:r>
            <a:r>
              <a:rPr lang="en-US" sz="3000" dirty="0" err="1"/>
              <a:t>Điện</a:t>
            </a:r>
            <a:r>
              <a:rPr lang="en-US" sz="3000" dirty="0"/>
              <a:t> </a:t>
            </a:r>
            <a:r>
              <a:rPr lang="en-US" sz="3000" dirty="0" err="1"/>
              <a:t>Điện</a:t>
            </a:r>
            <a:r>
              <a:rPr lang="en-US" sz="3000" dirty="0"/>
              <a:t> </a:t>
            </a:r>
            <a:r>
              <a:rPr lang="en-US" sz="3000" dirty="0" err="1"/>
              <a:t>Tử</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dirty="0"/>
              <a:t>ET2100 </a:t>
            </a:r>
            <a:r>
              <a:rPr lang="en-US" i="1" dirty="0"/>
              <a:t>- </a:t>
            </a:r>
            <a:r>
              <a:rPr lang="en-US" b="1" i="1" dirty="0"/>
              <a:t>Data Structures and Algorithms</a:t>
            </a:r>
            <a:endParaRPr lang="en-US" dirty="0"/>
          </a:p>
          <a:p>
            <a:pPr algn="r"/>
            <a:r>
              <a:rPr lang="en-US" dirty="0"/>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3</a:t>
            </a:fld>
            <a:endParaRPr lang="en-US"/>
          </a:p>
        </p:txBody>
      </p:sp>
      <p:sp>
        <p:nvSpPr>
          <p:cNvPr id="2" name="Title 1"/>
          <p:cNvSpPr>
            <a:spLocks noGrp="1"/>
          </p:cNvSpPr>
          <p:nvPr>
            <p:ph type="title"/>
          </p:nvPr>
        </p:nvSpPr>
        <p:spPr/>
        <p:txBody>
          <a:bodyPr/>
          <a:lstStyle/>
          <a:p>
            <a:r>
              <a:rPr lang="en-US" altLang="en-US" dirty="0" err="1"/>
              <a:t>Các</a:t>
            </a:r>
            <a:r>
              <a:rPr lang="en-US" altLang="en-US" dirty="0"/>
              <a:t> </a:t>
            </a:r>
            <a:r>
              <a:rPr lang="en-US" altLang="en-US" dirty="0" err="1"/>
              <a:t>nội</a:t>
            </a:r>
            <a:r>
              <a:rPr lang="en-US" altLang="en-US" dirty="0"/>
              <a:t> dung </a:t>
            </a:r>
            <a:r>
              <a:rPr lang="en-US" altLang="en-US" dirty="0" err="1"/>
              <a:t>chính</a:t>
            </a:r>
            <a:endParaRPr lang="en-US" dirty="0"/>
          </a:p>
        </p:txBody>
      </p:sp>
      <p:sp>
        <p:nvSpPr>
          <p:cNvPr id="3" name="Content Placeholder 2"/>
          <p:cNvSpPr>
            <a:spLocks noGrp="1"/>
          </p:cNvSpPr>
          <p:nvPr>
            <p:ph type="body" sz="quarter" idx="13"/>
          </p:nvPr>
        </p:nvSpPr>
        <p:spPr/>
        <p:txBody>
          <a:bodyPr/>
          <a:lstStyle/>
          <a:p>
            <a:pPr marL="571500" indent="-571500" eaLnBrk="1" hangingPunct="1">
              <a:buFont typeface="Wingdings" panose="05000000000000000000" pitchFamily="2" charset="2"/>
              <a:buAutoNum type="arabicPeriod"/>
            </a:pPr>
            <a:r>
              <a:rPr lang="en-US" altLang="en-US" dirty="0" err="1"/>
              <a:t>Mục</a:t>
            </a:r>
            <a:r>
              <a:rPr lang="en-US" altLang="en-US" dirty="0"/>
              <a:t> </a:t>
            </a:r>
            <a:r>
              <a:rPr lang="en-US" altLang="en-US" dirty="0" err="1"/>
              <a:t>đích</a:t>
            </a:r>
            <a:r>
              <a:rPr lang="en-US" altLang="en-US" dirty="0"/>
              <a:t> </a:t>
            </a:r>
            <a:r>
              <a:rPr lang="en-US" altLang="en-US" dirty="0" err="1"/>
              <a:t>và</a:t>
            </a:r>
            <a:r>
              <a:rPr lang="en-US" altLang="en-US" dirty="0"/>
              <a:t> </a:t>
            </a:r>
            <a:r>
              <a:rPr lang="en-US" altLang="en-US" dirty="0" err="1"/>
              <a:t>nội</a:t>
            </a:r>
            <a:r>
              <a:rPr lang="en-US" altLang="en-US" dirty="0"/>
              <a:t> dung </a:t>
            </a:r>
            <a:r>
              <a:rPr lang="en-US" altLang="en-US" dirty="0" err="1"/>
              <a:t>của</a:t>
            </a:r>
            <a:r>
              <a:rPr lang="en-US" altLang="en-US" dirty="0"/>
              <a:t> CTDL</a:t>
            </a:r>
          </a:p>
          <a:p>
            <a:pPr marL="571500" indent="-571500" eaLnBrk="1" hangingPunct="1">
              <a:buFont typeface="Wingdings" panose="05000000000000000000" pitchFamily="2" charset="2"/>
              <a:buAutoNum type="arabicPeriod"/>
            </a:pPr>
            <a:r>
              <a:rPr lang="en-US" altLang="en-US" dirty="0" err="1"/>
              <a:t>Các</a:t>
            </a:r>
            <a:r>
              <a:rPr lang="en-US" altLang="en-US" dirty="0"/>
              <a:t> </a:t>
            </a:r>
            <a:r>
              <a:rPr lang="en-US" altLang="en-US" dirty="0" err="1"/>
              <a:t>khái</a:t>
            </a:r>
            <a:r>
              <a:rPr lang="en-US" altLang="en-US" dirty="0"/>
              <a:t> </a:t>
            </a:r>
            <a:r>
              <a:rPr lang="en-US" altLang="en-US" dirty="0" err="1"/>
              <a:t>niệm</a:t>
            </a:r>
            <a:r>
              <a:rPr lang="en-US" altLang="en-US" dirty="0"/>
              <a:t> </a:t>
            </a:r>
            <a:r>
              <a:rPr lang="en-US" altLang="en-US" dirty="0" err="1"/>
              <a:t>cơ</a:t>
            </a:r>
            <a:r>
              <a:rPr lang="en-US" altLang="en-US" dirty="0"/>
              <a:t> </a:t>
            </a:r>
            <a:r>
              <a:rPr lang="en-US" altLang="en-US" dirty="0" err="1"/>
              <a:t>bản</a:t>
            </a:r>
            <a:r>
              <a:rPr lang="en-US" altLang="en-US" dirty="0"/>
              <a:t> </a:t>
            </a:r>
            <a:r>
              <a:rPr lang="en-US" altLang="en-US" dirty="0" err="1"/>
              <a:t>về</a:t>
            </a:r>
            <a:r>
              <a:rPr lang="en-US" altLang="en-US" dirty="0"/>
              <a:t> CTDL </a:t>
            </a:r>
            <a:r>
              <a:rPr lang="en-US" altLang="en-US" dirty="0" err="1"/>
              <a:t>và</a:t>
            </a:r>
            <a:r>
              <a:rPr lang="en-US" altLang="en-US" dirty="0"/>
              <a:t> </a:t>
            </a:r>
            <a:r>
              <a:rPr lang="en-US" altLang="en-US" dirty="0" err="1"/>
              <a:t>giải</a:t>
            </a:r>
            <a:r>
              <a:rPr lang="en-US" altLang="en-US" dirty="0"/>
              <a:t> </a:t>
            </a:r>
            <a:r>
              <a:rPr lang="en-US" altLang="en-US" dirty="0" err="1"/>
              <a:t>thuật</a:t>
            </a:r>
            <a:endParaRPr lang="en-US" altLang="en-US" dirty="0"/>
          </a:p>
          <a:p>
            <a:pPr marL="571500" indent="-571500" eaLnBrk="1" hangingPunct="1">
              <a:buFont typeface="Wingdings" panose="05000000000000000000" pitchFamily="2" charset="2"/>
              <a:buAutoNum type="arabicPeriod"/>
            </a:pPr>
            <a:r>
              <a:rPr lang="en-US" altLang="en-US" dirty="0" err="1"/>
              <a:t>Ngôn</a:t>
            </a:r>
            <a:r>
              <a:rPr lang="en-US" altLang="en-US" dirty="0"/>
              <a:t> </a:t>
            </a:r>
            <a:r>
              <a:rPr lang="en-US" altLang="en-US" dirty="0" err="1"/>
              <a:t>ngữ</a:t>
            </a:r>
            <a:r>
              <a:rPr lang="en-US" altLang="en-US" dirty="0"/>
              <a:t> </a:t>
            </a:r>
            <a:r>
              <a:rPr lang="en-US" altLang="en-US" dirty="0" err="1"/>
              <a:t>diễn</a:t>
            </a:r>
            <a:r>
              <a:rPr lang="en-US" altLang="en-US" dirty="0"/>
              <a:t> </a:t>
            </a:r>
            <a:r>
              <a:rPr lang="en-US" altLang="en-US" dirty="0" err="1"/>
              <a:t>đạt</a:t>
            </a:r>
            <a:r>
              <a:rPr lang="en-US" altLang="en-US" dirty="0"/>
              <a:t> </a:t>
            </a:r>
            <a:r>
              <a:rPr lang="en-US" altLang="en-US" dirty="0" err="1"/>
              <a:t>giải</a:t>
            </a:r>
            <a:r>
              <a:rPr lang="en-US" altLang="en-US" dirty="0"/>
              <a:t> </a:t>
            </a:r>
            <a:r>
              <a:rPr lang="en-US" altLang="en-US" dirty="0" err="1"/>
              <a:t>thuật</a:t>
            </a:r>
            <a:endParaRPr lang="en-US" altLang="en-US" dirty="0"/>
          </a:p>
          <a:p>
            <a:pPr marL="571500" indent="-571500" eaLnBrk="1" hangingPunct="1">
              <a:buFont typeface="Wingdings" panose="05000000000000000000" pitchFamily="2" charset="2"/>
              <a:buAutoNum type="arabicPeriod"/>
            </a:pPr>
            <a:r>
              <a:rPr lang="en-US" altLang="en-US" b="1" dirty="0" err="1"/>
              <a:t>Thiết</a:t>
            </a:r>
            <a:r>
              <a:rPr lang="en-US" altLang="en-US" b="1" dirty="0"/>
              <a:t> </a:t>
            </a:r>
            <a:r>
              <a:rPr lang="en-US" altLang="en-US" b="1" dirty="0" err="1"/>
              <a:t>kế</a:t>
            </a:r>
            <a:r>
              <a:rPr lang="en-US" altLang="en-US" b="1" dirty="0"/>
              <a:t> </a:t>
            </a:r>
            <a:r>
              <a:rPr lang="en-US" altLang="en-US" b="1" dirty="0" err="1"/>
              <a:t>và</a:t>
            </a:r>
            <a:r>
              <a:rPr lang="en-US" altLang="en-US" b="1" dirty="0"/>
              <a:t> </a:t>
            </a:r>
            <a:r>
              <a:rPr lang="en-US" altLang="en-US" b="1" dirty="0" err="1"/>
              <a:t>Đánh</a:t>
            </a:r>
            <a:r>
              <a:rPr lang="en-US" altLang="en-US" b="1" dirty="0"/>
              <a:t> </a:t>
            </a:r>
            <a:r>
              <a:rPr lang="en-US" altLang="en-US" b="1" dirty="0" err="1"/>
              <a:t>giá</a:t>
            </a:r>
            <a:r>
              <a:rPr lang="en-US" altLang="en-US" b="1" dirty="0"/>
              <a:t> </a:t>
            </a:r>
            <a:r>
              <a:rPr lang="en-US" altLang="en-US" b="1" dirty="0" err="1"/>
              <a:t>giải</a:t>
            </a:r>
            <a:r>
              <a:rPr lang="en-US" altLang="en-US" b="1" dirty="0"/>
              <a:t> </a:t>
            </a:r>
            <a:r>
              <a:rPr lang="en-US" altLang="en-US" b="1" dirty="0" err="1"/>
              <a:t>thuật</a:t>
            </a:r>
            <a:endParaRPr lang="en-US" altLang="en-US" b="1" dirty="0"/>
          </a:p>
          <a:p>
            <a:endParaRPr lang="en-US" dirty="0"/>
          </a:p>
        </p:txBody>
      </p:sp>
    </p:spTree>
    <p:extLst>
      <p:ext uri="{BB962C8B-B14F-4D97-AF65-F5344CB8AC3E}">
        <p14:creationId xmlns:p14="http://schemas.microsoft.com/office/powerpoint/2010/main" val="1979605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4</a:t>
            </a:fld>
            <a:endParaRPr lang="en-US"/>
          </a:p>
        </p:txBody>
      </p:sp>
      <p:sp>
        <p:nvSpPr>
          <p:cNvPr id="2" name="Title 1"/>
          <p:cNvSpPr>
            <a:spLocks noGrp="1"/>
          </p:cNvSpPr>
          <p:nvPr>
            <p:ph type="title"/>
          </p:nvPr>
        </p:nvSpPr>
        <p:spPr/>
        <p:txBody>
          <a:bodyPr/>
          <a:lstStyle/>
          <a:p>
            <a:r>
              <a:rPr lang="en-US" altLang="en-US" dirty="0"/>
              <a:t>4. </a:t>
            </a:r>
            <a:r>
              <a:rPr lang="en-US" altLang="en-US" dirty="0" err="1"/>
              <a:t>Thiết</a:t>
            </a:r>
            <a:r>
              <a:rPr lang="en-US" altLang="en-US" dirty="0"/>
              <a:t> </a:t>
            </a:r>
            <a:r>
              <a:rPr lang="en-US" altLang="en-US" dirty="0" err="1"/>
              <a:t>kế</a:t>
            </a:r>
            <a:r>
              <a:rPr lang="en-US" altLang="en-US" dirty="0"/>
              <a:t> </a:t>
            </a:r>
            <a:r>
              <a:rPr lang="en-US" altLang="en-US" dirty="0" err="1"/>
              <a:t>và</a:t>
            </a:r>
            <a:r>
              <a:rPr lang="en-US" altLang="en-US" dirty="0"/>
              <a:t> </a:t>
            </a:r>
            <a:r>
              <a:rPr lang="en-US" altLang="en-US" dirty="0" err="1"/>
              <a:t>Đánh</a:t>
            </a:r>
            <a:r>
              <a:rPr lang="en-US" altLang="en-US" dirty="0"/>
              <a:t> </a:t>
            </a:r>
            <a:r>
              <a:rPr lang="en-US" altLang="en-US" dirty="0" err="1"/>
              <a:t>giá</a:t>
            </a:r>
            <a:r>
              <a:rPr lang="en-US" altLang="en-US" dirty="0"/>
              <a:t> </a:t>
            </a:r>
            <a:r>
              <a:rPr lang="en-US" altLang="en-US" dirty="0" err="1"/>
              <a:t>giải</a:t>
            </a:r>
            <a:r>
              <a:rPr lang="en-US" altLang="en-US" dirty="0"/>
              <a:t> </a:t>
            </a:r>
            <a:r>
              <a:rPr lang="en-US" altLang="en-US" dirty="0" err="1"/>
              <a:t>thuật</a:t>
            </a:r>
            <a:endParaRPr lang="en-US" dirty="0"/>
          </a:p>
        </p:txBody>
      </p:sp>
      <p:sp>
        <p:nvSpPr>
          <p:cNvPr id="3" name="Content Placeholder 2"/>
          <p:cNvSpPr>
            <a:spLocks noGrp="1"/>
          </p:cNvSpPr>
          <p:nvPr>
            <p:ph type="body" sz="quarter" idx="13"/>
          </p:nvPr>
        </p:nvSpPr>
        <p:spPr/>
        <p:txBody>
          <a:bodyPr>
            <a:normAutofit/>
          </a:bodyPr>
          <a:lstStyle/>
          <a:p>
            <a:pPr marL="0" indent="0">
              <a:buNone/>
            </a:pPr>
            <a:r>
              <a:rPr lang="en-US" sz="2400" dirty="0"/>
              <a:t>4.1. </a:t>
            </a:r>
            <a:r>
              <a:rPr lang="en-US" sz="2400" dirty="0" err="1"/>
              <a:t>Thiết</a:t>
            </a:r>
            <a:r>
              <a:rPr lang="en-US" sz="2400" dirty="0"/>
              <a:t> </a:t>
            </a:r>
            <a:r>
              <a:rPr lang="en-US" sz="2400" dirty="0" err="1"/>
              <a:t>kế</a:t>
            </a:r>
            <a:r>
              <a:rPr lang="en-US" sz="2400" dirty="0"/>
              <a:t> </a:t>
            </a:r>
            <a:r>
              <a:rPr lang="en-US" sz="2400" dirty="0" err="1"/>
              <a:t>giải</a:t>
            </a:r>
            <a:r>
              <a:rPr lang="en-US" sz="2400" dirty="0"/>
              <a:t> </a:t>
            </a:r>
            <a:r>
              <a:rPr lang="en-US" sz="2400" dirty="0" err="1"/>
              <a:t>thuật</a:t>
            </a:r>
            <a:endParaRPr lang="en-US" sz="2400" dirty="0"/>
          </a:p>
          <a:p>
            <a:pPr marL="0" indent="0">
              <a:buNone/>
            </a:pPr>
            <a:r>
              <a:rPr lang="en-US" sz="2400" dirty="0"/>
              <a:t>	4.1.1. </a:t>
            </a:r>
            <a:r>
              <a:rPr lang="en-US" sz="2400" dirty="0" err="1"/>
              <a:t>Phương</a:t>
            </a:r>
            <a:r>
              <a:rPr lang="en-US" sz="2400" dirty="0"/>
              <a:t> </a:t>
            </a:r>
            <a:r>
              <a:rPr lang="en-US" sz="2400" dirty="0" err="1"/>
              <a:t>pháp</a:t>
            </a:r>
            <a:r>
              <a:rPr lang="en-US" sz="2400" dirty="0"/>
              <a:t> </a:t>
            </a:r>
            <a:r>
              <a:rPr lang="en-US" sz="2400" dirty="0" err="1"/>
              <a:t>thiết</a:t>
            </a:r>
            <a:r>
              <a:rPr lang="en-US" sz="2400" dirty="0"/>
              <a:t> </a:t>
            </a:r>
            <a:r>
              <a:rPr lang="en-US" sz="2400" dirty="0" err="1"/>
              <a:t>kế</a:t>
            </a:r>
            <a:r>
              <a:rPr lang="en-US" sz="2400" dirty="0"/>
              <a:t> </a:t>
            </a:r>
            <a:r>
              <a:rPr lang="en-US" sz="2400" dirty="0" err="1"/>
              <a:t>từ</a:t>
            </a:r>
            <a:r>
              <a:rPr lang="en-US" sz="2400" dirty="0"/>
              <a:t> </a:t>
            </a:r>
            <a:r>
              <a:rPr lang="en-US" sz="2400" dirty="0" err="1"/>
              <a:t>trên</a:t>
            </a:r>
            <a:r>
              <a:rPr lang="en-US" sz="2400" dirty="0"/>
              <a:t> </a:t>
            </a:r>
            <a:r>
              <a:rPr lang="en-US" sz="2400" dirty="0" err="1"/>
              <a:t>xuống</a:t>
            </a:r>
            <a:r>
              <a:rPr lang="en-US" sz="2400" dirty="0"/>
              <a:t> </a:t>
            </a:r>
            <a:r>
              <a:rPr lang="en-US" sz="2400" i="1" dirty="0"/>
              <a:t>(Top-down design)</a:t>
            </a:r>
            <a:endParaRPr lang="en-US" sz="2400" dirty="0"/>
          </a:p>
          <a:p>
            <a:pPr marL="0" indent="0">
              <a:buNone/>
            </a:pPr>
            <a:r>
              <a:rPr lang="en-US" sz="2400" dirty="0"/>
              <a:t>	4.1.2. </a:t>
            </a:r>
            <a:r>
              <a:rPr lang="en-US" sz="2400" dirty="0" err="1"/>
              <a:t>Phương</a:t>
            </a:r>
            <a:r>
              <a:rPr lang="en-US" sz="2400" dirty="0"/>
              <a:t> </a:t>
            </a:r>
            <a:r>
              <a:rPr lang="en-US" sz="2400" dirty="0" err="1"/>
              <a:t>pháp</a:t>
            </a:r>
            <a:r>
              <a:rPr lang="en-US" sz="2400" dirty="0"/>
              <a:t> </a:t>
            </a:r>
            <a:r>
              <a:rPr lang="en-US" sz="2400" dirty="0" err="1"/>
              <a:t>tinh</a:t>
            </a:r>
            <a:r>
              <a:rPr lang="en-US" sz="2400" dirty="0"/>
              <a:t> </a:t>
            </a:r>
            <a:r>
              <a:rPr lang="en-US" sz="2400" dirty="0" err="1"/>
              <a:t>chỉnh</a:t>
            </a:r>
            <a:r>
              <a:rPr lang="en-US" sz="2400" dirty="0"/>
              <a:t> </a:t>
            </a:r>
            <a:r>
              <a:rPr lang="en-US" sz="2400" dirty="0" err="1"/>
              <a:t>từng</a:t>
            </a:r>
            <a:r>
              <a:rPr lang="en-US" sz="2400" dirty="0"/>
              <a:t> </a:t>
            </a:r>
            <a:r>
              <a:rPr lang="en-US" sz="2400" dirty="0" err="1"/>
              <a:t>bước</a:t>
            </a:r>
            <a:r>
              <a:rPr lang="en-US" sz="2400" dirty="0"/>
              <a:t> </a:t>
            </a:r>
            <a:r>
              <a:rPr lang="en-US" sz="2400" i="1" dirty="0"/>
              <a:t>(Refinement)</a:t>
            </a:r>
            <a:endParaRPr lang="en-US" sz="2400" dirty="0"/>
          </a:p>
          <a:p>
            <a:pPr marL="0" indent="0">
              <a:buNone/>
            </a:pPr>
            <a:r>
              <a:rPr lang="en-US" sz="2400" dirty="0"/>
              <a:t>4.2. </a:t>
            </a:r>
            <a:r>
              <a:rPr lang="en-US" sz="2400" dirty="0" err="1"/>
              <a:t>Đánh</a:t>
            </a:r>
            <a:r>
              <a:rPr lang="en-US" sz="2400" dirty="0"/>
              <a:t> </a:t>
            </a:r>
            <a:r>
              <a:rPr lang="en-US" sz="2400" dirty="0" err="1"/>
              <a:t>giá</a:t>
            </a:r>
            <a:r>
              <a:rPr lang="en-US" sz="2400" dirty="0"/>
              <a:t> </a:t>
            </a:r>
            <a:r>
              <a:rPr lang="en-US" sz="2400" dirty="0" err="1"/>
              <a:t>giải</a:t>
            </a:r>
            <a:r>
              <a:rPr lang="en-US" sz="2400" dirty="0"/>
              <a:t> </a:t>
            </a:r>
            <a:r>
              <a:rPr lang="en-US" sz="2400" dirty="0" err="1"/>
              <a:t>thuật</a:t>
            </a:r>
            <a:endParaRPr lang="en-US" sz="2400" dirty="0"/>
          </a:p>
          <a:p>
            <a:pPr marL="0" indent="0">
              <a:buNone/>
            </a:pPr>
            <a:r>
              <a:rPr lang="en-US" sz="2400" dirty="0"/>
              <a:t>	4.2.1. </a:t>
            </a:r>
            <a:r>
              <a:rPr lang="en-US" sz="2400" dirty="0" err="1"/>
              <a:t>Mục</a:t>
            </a:r>
            <a:r>
              <a:rPr lang="en-US" sz="2400" dirty="0"/>
              <a:t> </a:t>
            </a:r>
            <a:r>
              <a:rPr lang="en-US" sz="2400" dirty="0" err="1"/>
              <a:t>đích</a:t>
            </a:r>
            <a:endParaRPr lang="en-US" sz="2400" dirty="0"/>
          </a:p>
          <a:p>
            <a:pPr marL="0" indent="0">
              <a:buNone/>
            </a:pPr>
            <a:r>
              <a:rPr lang="en-US" sz="2400" dirty="0"/>
              <a:t>	4.2.2. </a:t>
            </a:r>
            <a:r>
              <a:rPr lang="en-US" sz="2400" dirty="0" err="1"/>
              <a:t>Các</a:t>
            </a:r>
            <a:r>
              <a:rPr lang="en-US" sz="2400" dirty="0"/>
              <a:t> </a:t>
            </a:r>
            <a:r>
              <a:rPr lang="en-US" sz="2400" dirty="0" err="1"/>
              <a:t>vấn</a:t>
            </a:r>
            <a:r>
              <a:rPr lang="en-US" sz="2400" dirty="0"/>
              <a:t> </a:t>
            </a:r>
            <a:r>
              <a:rPr lang="en-US" sz="2400" dirty="0" err="1"/>
              <a:t>đề</a:t>
            </a:r>
            <a:r>
              <a:rPr lang="en-US" sz="2400" dirty="0"/>
              <a:t> </a:t>
            </a:r>
            <a:r>
              <a:rPr lang="en-US" sz="2400" dirty="0" err="1"/>
              <a:t>cần</a:t>
            </a:r>
            <a:r>
              <a:rPr lang="en-US" sz="2400" dirty="0"/>
              <a:t> </a:t>
            </a:r>
            <a:r>
              <a:rPr lang="en-US" sz="2400" dirty="0" err="1"/>
              <a:t>đánh</a:t>
            </a:r>
            <a:r>
              <a:rPr lang="en-US" sz="2400" dirty="0"/>
              <a:t> </a:t>
            </a:r>
            <a:r>
              <a:rPr lang="en-US" sz="2400" dirty="0" err="1"/>
              <a:t>giá</a:t>
            </a:r>
            <a:endParaRPr lang="en-US" sz="2400" dirty="0"/>
          </a:p>
        </p:txBody>
      </p:sp>
    </p:spTree>
    <p:extLst>
      <p:ext uri="{BB962C8B-B14F-4D97-AF65-F5344CB8AC3E}">
        <p14:creationId xmlns:p14="http://schemas.microsoft.com/office/powerpoint/2010/main" val="4219958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5</a:t>
            </a:fld>
            <a:endParaRPr lang="en-US"/>
          </a:p>
        </p:txBody>
      </p:sp>
      <p:sp>
        <p:nvSpPr>
          <p:cNvPr id="2" name="Title 1"/>
          <p:cNvSpPr>
            <a:spLocks noGrp="1"/>
          </p:cNvSpPr>
          <p:nvPr>
            <p:ph type="title"/>
          </p:nvPr>
        </p:nvSpPr>
        <p:spPr/>
        <p:txBody>
          <a:bodyPr/>
          <a:lstStyle/>
          <a:p>
            <a:r>
              <a:rPr lang="en-US" altLang="en-US" dirty="0"/>
              <a:t>4.1. </a:t>
            </a:r>
            <a:r>
              <a:rPr lang="en-US" altLang="en-US" dirty="0" err="1"/>
              <a:t>Thiết</a:t>
            </a:r>
            <a:r>
              <a:rPr lang="en-US" altLang="en-US" dirty="0"/>
              <a:t> </a:t>
            </a:r>
            <a:r>
              <a:rPr lang="en-US" altLang="en-US" dirty="0" err="1"/>
              <a:t>kế</a:t>
            </a:r>
            <a:r>
              <a:rPr lang="en-US" altLang="en-US" dirty="0"/>
              <a:t> </a:t>
            </a:r>
            <a:r>
              <a:rPr lang="en-US" altLang="en-US" dirty="0" err="1"/>
              <a:t>giải</a:t>
            </a:r>
            <a:r>
              <a:rPr lang="en-US" altLang="en-US" dirty="0"/>
              <a:t> </a:t>
            </a:r>
            <a:r>
              <a:rPr lang="en-US" altLang="en-US" dirty="0" err="1"/>
              <a:t>thuật</a:t>
            </a:r>
            <a:endParaRPr lang="en-US" dirty="0"/>
          </a:p>
        </p:txBody>
      </p:sp>
      <p:sp>
        <p:nvSpPr>
          <p:cNvPr id="3" name="Content Placeholder 2"/>
          <p:cNvSpPr>
            <a:spLocks noGrp="1"/>
          </p:cNvSpPr>
          <p:nvPr>
            <p:ph type="body" sz="quarter" idx="13"/>
          </p:nvPr>
        </p:nvSpPr>
        <p:spPr/>
        <p:txBody>
          <a:bodyPr>
            <a:normAutofit/>
          </a:bodyPr>
          <a:lstStyle/>
          <a:p>
            <a:pPr eaLnBrk="1" hangingPunct="1">
              <a:lnSpc>
                <a:spcPct val="90000"/>
              </a:lnSpc>
            </a:pPr>
            <a:r>
              <a:rPr lang="en-US" altLang="en-US" sz="2400" dirty="0" err="1"/>
              <a:t>Thiết</a:t>
            </a:r>
            <a:r>
              <a:rPr lang="en-US" altLang="en-US" sz="2400" dirty="0"/>
              <a:t> </a:t>
            </a:r>
            <a:r>
              <a:rPr lang="en-US" altLang="en-US" sz="2400" dirty="0" err="1"/>
              <a:t>kế</a:t>
            </a:r>
            <a:r>
              <a:rPr lang="en-US" altLang="en-US" sz="2400" dirty="0"/>
              <a:t> </a:t>
            </a:r>
            <a:r>
              <a:rPr lang="en-US" altLang="en-US" sz="2400" dirty="0" err="1"/>
              <a:t>cấu</a:t>
            </a:r>
            <a:r>
              <a:rPr lang="en-US" altLang="en-US" sz="2400" dirty="0"/>
              <a:t> </a:t>
            </a:r>
            <a:r>
              <a:rPr lang="en-US" altLang="en-US" sz="2400" dirty="0" err="1"/>
              <a:t>trúc</a:t>
            </a:r>
            <a:r>
              <a:rPr lang="en-US" altLang="en-US" sz="2400" dirty="0"/>
              <a:t> </a:t>
            </a:r>
            <a:r>
              <a:rPr lang="en-US" altLang="en-US" sz="2400" dirty="0" err="1"/>
              <a:t>chương</a:t>
            </a:r>
            <a:r>
              <a:rPr lang="en-US" altLang="en-US" sz="2400" dirty="0"/>
              <a:t> </a:t>
            </a:r>
            <a:r>
              <a:rPr lang="en-US" altLang="en-US" sz="2400" dirty="0" err="1"/>
              <a:t>trình</a:t>
            </a:r>
            <a:r>
              <a:rPr lang="en-US" altLang="en-US" sz="2400" dirty="0"/>
              <a:t> </a:t>
            </a:r>
            <a:r>
              <a:rPr lang="en-US" altLang="en-US" sz="2400" dirty="0" err="1"/>
              <a:t>cài</a:t>
            </a:r>
            <a:r>
              <a:rPr lang="en-US" altLang="en-US" sz="2400" dirty="0"/>
              <a:t> </a:t>
            </a:r>
            <a:r>
              <a:rPr lang="en-US" altLang="en-US" sz="2400" dirty="0" err="1"/>
              <a:t>đặt</a:t>
            </a:r>
            <a:r>
              <a:rPr lang="en-US" altLang="en-US" sz="2400" dirty="0"/>
              <a:t> </a:t>
            </a:r>
            <a:r>
              <a:rPr lang="en-US" altLang="en-US" sz="2400" dirty="0" err="1"/>
              <a:t>cho</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a:t>
            </a:r>
          </a:p>
          <a:p>
            <a:pPr lvl="1">
              <a:lnSpc>
                <a:spcPct val="90000"/>
              </a:lnSpc>
            </a:pPr>
            <a:r>
              <a:rPr lang="en-US" altLang="en-US" sz="2400" dirty="0" err="1"/>
              <a:t>Biến</a:t>
            </a:r>
            <a:r>
              <a:rPr lang="en-US" altLang="en-US" sz="2400" dirty="0"/>
              <a:t> </a:t>
            </a:r>
            <a:r>
              <a:rPr lang="en-US" altLang="en-US" sz="2400" dirty="0" err="1"/>
              <a:t>đổi</a:t>
            </a:r>
            <a:r>
              <a:rPr lang="en-US" altLang="en-US" sz="2400" dirty="0"/>
              <a:t> </a:t>
            </a:r>
            <a:r>
              <a:rPr lang="en-US" altLang="en-US" sz="2400" dirty="0" err="1"/>
              <a:t>từ</a:t>
            </a:r>
            <a:r>
              <a:rPr lang="en-US" altLang="en-US" sz="2400" dirty="0"/>
              <a:t> </a:t>
            </a:r>
            <a:r>
              <a:rPr lang="en-US" altLang="en-US" sz="2400" i="1" u="sng" dirty="0" err="1"/>
              <a:t>đặc</a:t>
            </a:r>
            <a:r>
              <a:rPr lang="en-US" altLang="en-US" sz="2400" i="1" u="sng" dirty="0"/>
              <a:t> </a:t>
            </a:r>
            <a:r>
              <a:rPr lang="en-US" altLang="en-US" sz="2400" i="1" u="sng" dirty="0" err="1"/>
              <a:t>tả</a:t>
            </a:r>
            <a:r>
              <a:rPr lang="en-US" altLang="en-US" sz="2400" i="1" u="sng" dirty="0"/>
              <a:t> </a:t>
            </a:r>
            <a:r>
              <a:rPr lang="en-US" altLang="en-US" sz="2400" i="1" u="sng" dirty="0" err="1"/>
              <a:t>giải</a:t>
            </a:r>
            <a:r>
              <a:rPr lang="en-US" altLang="en-US" sz="2400" i="1" u="sng" dirty="0"/>
              <a:t> </a:t>
            </a:r>
            <a:r>
              <a:rPr lang="en-US" altLang="en-US" sz="2400" i="1" u="sng" dirty="0" err="1"/>
              <a:t>thuật</a:t>
            </a:r>
            <a:r>
              <a:rPr lang="en-US" altLang="en-US" sz="2400" i="1" u="sng" dirty="0"/>
              <a:t> </a:t>
            </a:r>
            <a:r>
              <a:rPr lang="en-US" altLang="en-US" sz="2400" dirty="0" err="1"/>
              <a:t>thành</a:t>
            </a:r>
            <a:r>
              <a:rPr lang="en-US" altLang="en-US" sz="2400" dirty="0"/>
              <a:t> </a:t>
            </a:r>
            <a:r>
              <a:rPr lang="en-US" altLang="en-US" sz="2400" dirty="0" err="1"/>
              <a:t>một</a:t>
            </a:r>
            <a:r>
              <a:rPr lang="en-US" altLang="en-US" sz="2400" dirty="0"/>
              <a:t> </a:t>
            </a:r>
            <a:r>
              <a:rPr lang="en-US" altLang="en-US" sz="2400" i="1" u="sng" dirty="0" err="1"/>
              <a:t>chương</a:t>
            </a:r>
            <a:r>
              <a:rPr lang="en-US" altLang="en-US" sz="2400" i="1" u="sng" dirty="0"/>
              <a:t> </a:t>
            </a:r>
            <a:r>
              <a:rPr lang="en-US" altLang="en-US" sz="2400" i="1" u="sng" dirty="0" err="1"/>
              <a:t>trình</a:t>
            </a:r>
            <a:r>
              <a:rPr lang="en-US" altLang="en-US" sz="2400" i="1" u="sng" dirty="0"/>
              <a:t> </a:t>
            </a:r>
            <a:r>
              <a:rPr lang="en-US" altLang="en-US" sz="2400" dirty="0" err="1"/>
              <a:t>được</a:t>
            </a:r>
            <a:r>
              <a:rPr lang="en-US" altLang="en-US" sz="2400" dirty="0"/>
              <a:t> </a:t>
            </a:r>
            <a:r>
              <a:rPr lang="en-US" altLang="en-US" sz="2400" dirty="0" err="1"/>
              <a:t>viết</a:t>
            </a:r>
            <a:r>
              <a:rPr lang="en-US" altLang="en-US" sz="2400" dirty="0"/>
              <a:t> </a:t>
            </a:r>
            <a:r>
              <a:rPr lang="en-US" altLang="en-US" sz="2400" dirty="0" err="1"/>
              <a:t>bằng</a:t>
            </a:r>
            <a:r>
              <a:rPr lang="en-US" altLang="en-US" sz="2400" dirty="0"/>
              <a:t> </a:t>
            </a:r>
            <a:r>
              <a:rPr lang="en-US" altLang="en-US" sz="2400" dirty="0" err="1"/>
              <a:t>một</a:t>
            </a:r>
            <a:r>
              <a:rPr lang="en-US" altLang="en-US" sz="2400" dirty="0"/>
              <a:t> </a:t>
            </a:r>
            <a:r>
              <a:rPr lang="en-US" altLang="en-US" sz="2400" dirty="0" err="1"/>
              <a:t>ngôn</a:t>
            </a:r>
            <a:r>
              <a:rPr lang="en-US" altLang="en-US" sz="2400" dirty="0"/>
              <a:t> </a:t>
            </a:r>
            <a:r>
              <a:rPr lang="en-US" altLang="en-US" sz="2400" dirty="0" err="1"/>
              <a:t>ngữ</a:t>
            </a:r>
            <a:r>
              <a:rPr lang="en-US" altLang="en-US" sz="2400" dirty="0"/>
              <a:t> </a:t>
            </a:r>
            <a:r>
              <a:rPr lang="en-US" altLang="en-US" sz="2400" dirty="0" err="1"/>
              <a:t>lập</a:t>
            </a:r>
            <a:r>
              <a:rPr lang="en-US" altLang="en-US" sz="2400" dirty="0"/>
              <a:t> </a:t>
            </a:r>
            <a:r>
              <a:rPr lang="en-US" altLang="en-US" sz="2400" dirty="0" err="1"/>
              <a:t>trình</a:t>
            </a:r>
            <a:r>
              <a:rPr lang="en-US" altLang="en-US" sz="2400" dirty="0"/>
              <a:t> </a:t>
            </a:r>
            <a:r>
              <a:rPr lang="en-US" altLang="en-US" sz="2400" dirty="0" err="1"/>
              <a:t>cụ</a:t>
            </a:r>
            <a:r>
              <a:rPr lang="en-US" altLang="en-US" sz="2400" dirty="0"/>
              <a:t> </a:t>
            </a:r>
            <a:r>
              <a:rPr lang="en-US" altLang="en-US" sz="2400" dirty="0" err="1"/>
              <a:t>thể</a:t>
            </a:r>
            <a:r>
              <a:rPr lang="en-US" altLang="en-US" sz="2400" dirty="0"/>
              <a:t> </a:t>
            </a:r>
            <a:r>
              <a:rPr lang="en-US" altLang="en-US" sz="2400" dirty="0" err="1"/>
              <a:t>mà</a:t>
            </a:r>
            <a:r>
              <a:rPr lang="en-US" altLang="en-US" sz="2400" dirty="0"/>
              <a:t> </a:t>
            </a:r>
            <a:r>
              <a:rPr lang="en-US" altLang="en-US" sz="2400" i="1" u="sng" dirty="0" err="1"/>
              <a:t>có</a:t>
            </a:r>
            <a:r>
              <a:rPr lang="en-US" altLang="en-US" sz="2400" i="1" u="sng" dirty="0"/>
              <a:t> </a:t>
            </a:r>
            <a:r>
              <a:rPr lang="en-US" altLang="en-US" sz="2400" i="1" u="sng" dirty="0" err="1"/>
              <a:t>thể</a:t>
            </a:r>
            <a:r>
              <a:rPr lang="en-US" altLang="en-US" sz="2400" i="1" u="sng" dirty="0"/>
              <a:t> </a:t>
            </a:r>
            <a:r>
              <a:rPr lang="en-US" altLang="en-US" sz="2400" i="1" u="sng" dirty="0" err="1"/>
              <a:t>chạy</a:t>
            </a:r>
            <a:r>
              <a:rPr lang="en-US" altLang="en-US" sz="2400" i="1" u="sng" dirty="0"/>
              <a:t> </a:t>
            </a:r>
            <a:r>
              <a:rPr lang="en-US" altLang="en-US" sz="2400" i="1" u="sng" dirty="0" err="1"/>
              <a:t>tốt</a:t>
            </a:r>
            <a:r>
              <a:rPr lang="en-US" altLang="en-US" sz="2400" i="1" u="sng" dirty="0"/>
              <a:t> </a:t>
            </a:r>
            <a:r>
              <a:rPr lang="en-US" altLang="en-US" sz="2400" dirty="0" err="1"/>
              <a:t>trên</a:t>
            </a:r>
            <a:r>
              <a:rPr lang="en-US" altLang="en-US" sz="2400" dirty="0"/>
              <a:t> </a:t>
            </a:r>
            <a:r>
              <a:rPr lang="en-US" altLang="en-US" sz="2400" dirty="0" err="1"/>
              <a:t>máy</a:t>
            </a:r>
            <a:r>
              <a:rPr lang="en-US" altLang="en-US" sz="2400" dirty="0"/>
              <a:t> </a:t>
            </a:r>
            <a:r>
              <a:rPr lang="en-US" altLang="en-US" sz="2400" dirty="0" err="1"/>
              <a:t>tính</a:t>
            </a:r>
            <a:r>
              <a:rPr lang="en-US" altLang="en-US" sz="2400" dirty="0"/>
              <a:t> </a:t>
            </a:r>
          </a:p>
          <a:p>
            <a:pPr lvl="1">
              <a:lnSpc>
                <a:spcPct val="90000"/>
              </a:lnSpc>
            </a:pPr>
            <a:r>
              <a:rPr lang="en-US" altLang="en-US" sz="2400" dirty="0" err="1"/>
              <a:t>Biến</a:t>
            </a:r>
            <a:r>
              <a:rPr lang="en-US" altLang="en-US" sz="2400" dirty="0"/>
              <a:t> </a:t>
            </a:r>
            <a:r>
              <a:rPr lang="en-US" altLang="en-US" sz="2400" dirty="0" err="1"/>
              <a:t>đổi</a:t>
            </a:r>
            <a:r>
              <a:rPr lang="en-US" altLang="en-US" sz="2400" dirty="0"/>
              <a:t> </a:t>
            </a:r>
            <a:r>
              <a:rPr lang="en-US" altLang="en-US" sz="2400" dirty="0" err="1"/>
              <a:t>từ</a:t>
            </a:r>
            <a:r>
              <a:rPr lang="en-US" altLang="en-US" sz="2400" dirty="0"/>
              <a:t> </a:t>
            </a:r>
            <a:r>
              <a:rPr lang="en-US" altLang="en-US" sz="2400" i="1" u="sng" dirty="0" err="1"/>
              <a:t>mô</a:t>
            </a:r>
            <a:r>
              <a:rPr lang="en-US" altLang="en-US" sz="2400" i="1" u="sng" dirty="0"/>
              <a:t> </a:t>
            </a:r>
            <a:r>
              <a:rPr lang="en-US" altLang="en-US" sz="2400" i="1" u="sng" dirty="0" err="1"/>
              <a:t>tả</a:t>
            </a:r>
            <a:r>
              <a:rPr lang="en-US" altLang="en-US" sz="2400" i="1" u="sng" dirty="0"/>
              <a:t> </a:t>
            </a:r>
            <a:r>
              <a:rPr lang="en-US" altLang="en-US" sz="2400" i="1" u="sng" dirty="0" err="1"/>
              <a:t>giải</a:t>
            </a:r>
            <a:r>
              <a:rPr lang="en-US" altLang="en-US" sz="2400" i="1" u="sng" dirty="0"/>
              <a:t> </a:t>
            </a:r>
            <a:r>
              <a:rPr lang="en-US" altLang="en-US" sz="2400" i="1" u="sng" dirty="0" err="1"/>
              <a:t>thuật</a:t>
            </a:r>
            <a:r>
              <a:rPr lang="en-US" altLang="en-US" sz="2400" i="1" dirty="0"/>
              <a:t> </a:t>
            </a:r>
            <a:r>
              <a:rPr lang="en-US" altLang="en-US" sz="2400" i="1" dirty="0" err="1"/>
              <a:t>làm</a:t>
            </a:r>
            <a:r>
              <a:rPr lang="en-US" altLang="en-US" sz="2400" i="1" dirty="0"/>
              <a:t> </a:t>
            </a:r>
            <a:r>
              <a:rPr lang="en-US" altLang="en-US" sz="2400" i="1" dirty="0" err="1"/>
              <a:t>cái</a:t>
            </a:r>
            <a:r>
              <a:rPr lang="en-US" altLang="en-US" sz="2400" i="1" dirty="0"/>
              <a:t> </a:t>
            </a:r>
            <a:r>
              <a:rPr lang="en-US" altLang="en-US" sz="2400" i="1" dirty="0" err="1"/>
              <a:t>gì</a:t>
            </a:r>
            <a:r>
              <a:rPr lang="en-US" altLang="en-US" sz="2400" i="1" dirty="0"/>
              <a:t>, </a:t>
            </a:r>
            <a:r>
              <a:rPr lang="en-US" altLang="en-US" sz="2400" i="1" dirty="0" err="1"/>
              <a:t>các</a:t>
            </a:r>
            <a:r>
              <a:rPr lang="en-US" altLang="en-US" sz="2400" i="1" dirty="0"/>
              <a:t> </a:t>
            </a:r>
            <a:r>
              <a:rPr lang="en-US" altLang="en-US" sz="2400" i="1" dirty="0" err="1"/>
              <a:t>bước</a:t>
            </a:r>
            <a:r>
              <a:rPr lang="en-US" altLang="en-US" sz="2400" i="1" dirty="0"/>
              <a:t> </a:t>
            </a:r>
            <a:r>
              <a:rPr lang="en-US" altLang="en-US" sz="2400" i="1" dirty="0" err="1"/>
              <a:t>thực</a:t>
            </a:r>
            <a:r>
              <a:rPr lang="en-US" altLang="en-US" sz="2400" i="1" dirty="0"/>
              <a:t> </a:t>
            </a:r>
            <a:r>
              <a:rPr lang="en-US" altLang="en-US" sz="2400" i="1" dirty="0" err="1"/>
              <a:t>hiện</a:t>
            </a:r>
            <a:r>
              <a:rPr lang="en-US" altLang="en-US" sz="2400" i="1" dirty="0"/>
              <a:t> </a:t>
            </a:r>
            <a:r>
              <a:rPr lang="en-US" altLang="en-US" sz="2400" i="1" dirty="0" err="1"/>
              <a:t>những</a:t>
            </a:r>
            <a:r>
              <a:rPr lang="en-US" altLang="en-US" sz="2400" i="1" dirty="0"/>
              <a:t> </a:t>
            </a:r>
            <a:r>
              <a:rPr lang="en-US" altLang="en-US" sz="2400" i="1" dirty="0" err="1"/>
              <a:t>gì</a:t>
            </a:r>
            <a:r>
              <a:rPr lang="en-US" altLang="en-US" sz="2400" dirty="0"/>
              <a:t> </a:t>
            </a:r>
            <a:r>
              <a:rPr lang="en-US" altLang="en-US" sz="2400" dirty="0" err="1"/>
              <a:t>thành</a:t>
            </a:r>
            <a:r>
              <a:rPr lang="en-US" altLang="en-US" sz="2400" dirty="0"/>
              <a:t> </a:t>
            </a:r>
            <a:r>
              <a:rPr lang="en-US" altLang="en-US" sz="2400" i="1" u="sng" dirty="0" err="1"/>
              <a:t>giải</a:t>
            </a:r>
            <a:r>
              <a:rPr lang="en-US" altLang="en-US" sz="2400" i="1" u="sng" dirty="0"/>
              <a:t> </a:t>
            </a:r>
            <a:r>
              <a:rPr lang="en-US" altLang="en-US" sz="2400" i="1" u="sng" dirty="0" err="1"/>
              <a:t>thuật</a:t>
            </a:r>
            <a:r>
              <a:rPr lang="en-US" altLang="en-US" sz="2400" i="1" u="sng" dirty="0"/>
              <a:t> </a:t>
            </a:r>
            <a:r>
              <a:rPr lang="en-US" altLang="en-US" sz="2400" i="1" u="sng" dirty="0" err="1"/>
              <a:t>được</a:t>
            </a:r>
            <a:r>
              <a:rPr lang="en-US" altLang="en-US" sz="2400" i="1" u="sng" dirty="0"/>
              <a:t> </a:t>
            </a:r>
            <a:r>
              <a:rPr lang="en-US" altLang="en-US" sz="2400" i="1" u="sng" dirty="0" err="1"/>
              <a:t>cài</a:t>
            </a:r>
            <a:r>
              <a:rPr lang="en-US" altLang="en-US" sz="2400" i="1" u="sng" dirty="0"/>
              <a:t> </a:t>
            </a:r>
            <a:r>
              <a:rPr lang="en-US" altLang="en-US" sz="2400" i="1" u="sng" dirty="0" err="1"/>
              <a:t>đặt</a:t>
            </a:r>
            <a:r>
              <a:rPr lang="en-US" altLang="en-US" sz="2400" i="1" u="sng" dirty="0"/>
              <a:t> </a:t>
            </a:r>
            <a:r>
              <a:rPr lang="en-US" altLang="en-US" sz="2400" i="1" u="sng" dirty="0" err="1"/>
              <a:t>như</a:t>
            </a:r>
            <a:r>
              <a:rPr lang="en-US" altLang="en-US" sz="2400" i="1" u="sng" dirty="0"/>
              <a:t> </a:t>
            </a:r>
            <a:r>
              <a:rPr lang="en-US" altLang="en-US" sz="2400" i="1" u="sng" dirty="0" err="1"/>
              <a:t>thế</a:t>
            </a:r>
            <a:r>
              <a:rPr lang="en-US" altLang="en-US" sz="2400" i="1" u="sng" dirty="0"/>
              <a:t> </a:t>
            </a:r>
            <a:r>
              <a:rPr lang="en-US" altLang="en-US" sz="2400" i="1" u="sng" dirty="0" err="1"/>
              <a:t>nào</a:t>
            </a:r>
            <a:r>
              <a:rPr lang="en-US" altLang="en-US" sz="2400" dirty="0"/>
              <a:t>, minh </a:t>
            </a:r>
            <a:r>
              <a:rPr lang="en-US" altLang="en-US" sz="2400" dirty="0" err="1"/>
              <a:t>hoạ</a:t>
            </a:r>
            <a:r>
              <a:rPr lang="en-US" altLang="en-US" sz="2400" dirty="0"/>
              <a:t> </a:t>
            </a:r>
            <a:r>
              <a:rPr lang="en-US" altLang="en-US" sz="2400" dirty="0" err="1"/>
              <a:t>hoạt</a:t>
            </a:r>
            <a:r>
              <a:rPr lang="en-US" altLang="en-US" sz="2400" dirty="0"/>
              <a:t> </a:t>
            </a:r>
            <a:r>
              <a:rPr lang="en-US" altLang="en-US" sz="2400" dirty="0" err="1"/>
              <a:t>động</a:t>
            </a:r>
            <a:r>
              <a:rPr lang="en-US" altLang="en-US" sz="2400" dirty="0"/>
              <a:t> </a:t>
            </a:r>
            <a:r>
              <a:rPr lang="en-US" altLang="en-US" sz="2400" dirty="0" err="1"/>
              <a:t>cụ</a:t>
            </a:r>
            <a:r>
              <a:rPr lang="en-US" altLang="en-US" sz="2400" dirty="0"/>
              <a:t> </a:t>
            </a:r>
            <a:r>
              <a:rPr lang="en-US" altLang="en-US" sz="2400" dirty="0" err="1"/>
              <a:t>thể</a:t>
            </a:r>
            <a:r>
              <a:rPr lang="en-US" altLang="en-US" sz="2400" dirty="0"/>
              <a:t> </a:t>
            </a:r>
            <a:r>
              <a:rPr lang="en-US" altLang="en-US" sz="2400" dirty="0" err="1"/>
              <a:t>của</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p>
          <a:p>
            <a:endParaRPr lang="en-US" sz="2800" dirty="0"/>
          </a:p>
        </p:txBody>
      </p:sp>
    </p:spTree>
    <p:extLst>
      <p:ext uri="{BB962C8B-B14F-4D97-AF65-F5344CB8AC3E}">
        <p14:creationId xmlns:p14="http://schemas.microsoft.com/office/powerpoint/2010/main" val="257998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6</a:t>
            </a:fld>
            <a:endParaRPr lang="en-US"/>
          </a:p>
        </p:txBody>
      </p:sp>
      <p:sp>
        <p:nvSpPr>
          <p:cNvPr id="2" name="Title 1"/>
          <p:cNvSpPr>
            <a:spLocks noGrp="1"/>
          </p:cNvSpPr>
          <p:nvPr>
            <p:ph type="title"/>
          </p:nvPr>
        </p:nvSpPr>
        <p:spPr/>
        <p:txBody>
          <a:bodyPr/>
          <a:lstStyle/>
          <a:p>
            <a:r>
              <a:rPr lang="en-US" altLang="en-US" dirty="0"/>
              <a:t>4.1. </a:t>
            </a:r>
            <a:r>
              <a:rPr lang="en-US" altLang="en-US" dirty="0" err="1"/>
              <a:t>Thiết</a:t>
            </a:r>
            <a:r>
              <a:rPr lang="en-US" altLang="en-US" dirty="0"/>
              <a:t> </a:t>
            </a:r>
            <a:r>
              <a:rPr lang="en-US" altLang="en-US" dirty="0" err="1"/>
              <a:t>kế</a:t>
            </a:r>
            <a:r>
              <a:rPr lang="en-US" altLang="en-US" dirty="0"/>
              <a:t> </a:t>
            </a:r>
            <a:r>
              <a:rPr lang="en-US" altLang="en-US" dirty="0" err="1"/>
              <a:t>giải</a:t>
            </a:r>
            <a:r>
              <a:rPr lang="en-US" altLang="en-US" dirty="0"/>
              <a:t> </a:t>
            </a:r>
            <a:r>
              <a:rPr lang="en-US" altLang="en-US" dirty="0" err="1"/>
              <a:t>thuật</a:t>
            </a:r>
            <a:endParaRPr lang="en-US" dirty="0"/>
          </a:p>
        </p:txBody>
      </p:sp>
      <p:sp>
        <p:nvSpPr>
          <p:cNvPr id="3" name="Content Placeholder 2"/>
          <p:cNvSpPr>
            <a:spLocks noGrp="1"/>
          </p:cNvSpPr>
          <p:nvPr>
            <p:ph type="body" sz="quarter" idx="13"/>
          </p:nvPr>
        </p:nvSpPr>
        <p:spPr/>
        <p:txBody>
          <a:bodyPr>
            <a:normAutofit/>
          </a:bodyPr>
          <a:lstStyle/>
          <a:p>
            <a:pPr lvl="0">
              <a:lnSpc>
                <a:spcPct val="90000"/>
              </a:lnSpc>
              <a:buClr>
                <a:srgbClr val="727CA3"/>
              </a:buClr>
              <a:buNone/>
            </a:pPr>
            <a:r>
              <a:rPr lang="en-US" altLang="en-US" sz="2400" dirty="0" err="1"/>
              <a:t>Thường</a:t>
            </a:r>
            <a:r>
              <a:rPr lang="en-US" altLang="en-US" sz="2400" dirty="0"/>
              <a:t> </a:t>
            </a:r>
            <a:r>
              <a:rPr lang="en-US" altLang="en-US" sz="2400" dirty="0" err="1"/>
              <a:t>được</a:t>
            </a:r>
            <a:r>
              <a:rPr lang="en-US" altLang="en-US" sz="2400" dirty="0"/>
              <a:t> chia </a:t>
            </a:r>
            <a:r>
              <a:rPr lang="en-US" altLang="en-US" sz="2400" dirty="0" err="1"/>
              <a:t>làm</a:t>
            </a:r>
            <a:r>
              <a:rPr lang="en-US" altLang="en-US" sz="2400" dirty="0"/>
              <a:t> </a:t>
            </a:r>
            <a:r>
              <a:rPr lang="en-US" altLang="en-US" sz="2400" dirty="0" err="1"/>
              <a:t>hai</a:t>
            </a:r>
            <a:r>
              <a:rPr lang="en-US" altLang="en-US" sz="2400" dirty="0"/>
              <a:t> </a:t>
            </a:r>
            <a:r>
              <a:rPr lang="en-US" altLang="en-US" sz="2400" dirty="0" err="1"/>
              <a:t>giai</a:t>
            </a:r>
            <a:r>
              <a:rPr lang="en-US" altLang="en-US" sz="2400" dirty="0"/>
              <a:t> </a:t>
            </a:r>
            <a:r>
              <a:rPr lang="en-US" altLang="en-US" sz="2400" dirty="0" err="1"/>
              <a:t>đoạn</a:t>
            </a:r>
            <a:r>
              <a:rPr lang="en-US" altLang="en-US" sz="2400" dirty="0"/>
              <a:t> </a:t>
            </a:r>
            <a:r>
              <a:rPr lang="en-US" altLang="en-US" sz="2400" dirty="0" err="1"/>
              <a:t>chính</a:t>
            </a:r>
            <a:r>
              <a:rPr lang="en-US" altLang="en-US" sz="2400" dirty="0"/>
              <a:t>:</a:t>
            </a:r>
          </a:p>
          <a:p>
            <a:pPr lvl="0">
              <a:lnSpc>
                <a:spcPct val="90000"/>
              </a:lnSpc>
              <a:buClr>
                <a:srgbClr val="727CA3"/>
              </a:buClr>
            </a:pPr>
            <a:r>
              <a:rPr lang="en-US" altLang="en-US" sz="2400" b="1" dirty="0" err="1"/>
              <a:t>Thiết</a:t>
            </a:r>
            <a:r>
              <a:rPr lang="en-US" altLang="en-US" sz="2400" b="1" dirty="0"/>
              <a:t> </a:t>
            </a:r>
            <a:r>
              <a:rPr lang="en-US" altLang="en-US" sz="2400" b="1" dirty="0" err="1"/>
              <a:t>kế</a:t>
            </a:r>
            <a:r>
              <a:rPr lang="en-US" altLang="en-US" sz="2400" b="1" dirty="0"/>
              <a:t> </a:t>
            </a:r>
            <a:r>
              <a:rPr lang="en-US" altLang="en-US" sz="2400" b="1" dirty="0" err="1"/>
              <a:t>sơ</a:t>
            </a:r>
            <a:r>
              <a:rPr lang="en-US" altLang="en-US" sz="2400" b="1" dirty="0"/>
              <a:t> </a:t>
            </a:r>
            <a:r>
              <a:rPr lang="en-US" altLang="en-US" sz="2400" b="1" dirty="0" err="1"/>
              <a:t>bộ</a:t>
            </a:r>
            <a:r>
              <a:rPr lang="en-US" altLang="en-US" sz="2400" dirty="0"/>
              <a:t>:</a:t>
            </a:r>
          </a:p>
          <a:p>
            <a:pPr lvl="1">
              <a:lnSpc>
                <a:spcPct val="90000"/>
              </a:lnSpc>
              <a:buClr>
                <a:srgbClr val="727CA3"/>
              </a:buClr>
            </a:pPr>
            <a:r>
              <a:rPr lang="en-US" altLang="en-US" sz="2000" dirty="0" err="1"/>
              <a:t>Tìm</a:t>
            </a:r>
            <a:r>
              <a:rPr lang="en-US" altLang="en-US" sz="2000" dirty="0"/>
              <a:t> </a:t>
            </a:r>
            <a:r>
              <a:rPr lang="en-US" altLang="en-US" sz="2000" dirty="0" err="1"/>
              <a:t>hiểu</a:t>
            </a:r>
            <a:r>
              <a:rPr lang="en-US" altLang="en-US" sz="2000" dirty="0"/>
              <a:t> </a:t>
            </a:r>
            <a:r>
              <a:rPr lang="en-US" altLang="en-US" sz="2000" dirty="0" err="1"/>
              <a:t>các</a:t>
            </a:r>
            <a:r>
              <a:rPr lang="en-US" altLang="en-US" sz="2000" dirty="0"/>
              <a:t> </a:t>
            </a:r>
            <a:r>
              <a:rPr lang="en-US" altLang="en-US" sz="2000" dirty="0" err="1"/>
              <a:t>thành</a:t>
            </a:r>
            <a:r>
              <a:rPr lang="en-US" altLang="en-US" sz="2000" dirty="0"/>
              <a:t> </a:t>
            </a:r>
            <a:r>
              <a:rPr lang="en-US" altLang="en-US" sz="2000" dirty="0" err="1"/>
              <a:t>phần</a:t>
            </a:r>
            <a:r>
              <a:rPr lang="en-US" altLang="en-US" sz="2000" dirty="0"/>
              <a:t> </a:t>
            </a:r>
            <a:r>
              <a:rPr lang="en-US" altLang="en-US" sz="2000" dirty="0" err="1"/>
              <a:t>của</a:t>
            </a:r>
            <a:r>
              <a:rPr lang="en-US" altLang="en-US" sz="2000" dirty="0"/>
              <a:t> </a:t>
            </a:r>
            <a:r>
              <a:rPr lang="en-US" altLang="en-US" sz="2000" dirty="0" err="1"/>
              <a:t>giải</a:t>
            </a:r>
            <a:r>
              <a:rPr lang="en-US" altLang="en-US" sz="2000" dirty="0"/>
              <a:t> </a:t>
            </a:r>
            <a:r>
              <a:rPr lang="en-US" altLang="en-US" sz="2000" dirty="0" err="1"/>
              <a:t>thuật</a:t>
            </a:r>
            <a:r>
              <a:rPr lang="en-US" altLang="en-US" sz="2000" dirty="0"/>
              <a:t>: </a:t>
            </a:r>
            <a:r>
              <a:rPr lang="en-US" altLang="en-US" sz="2000" dirty="0" err="1"/>
              <a:t>gồm</a:t>
            </a:r>
            <a:r>
              <a:rPr lang="en-US" altLang="en-US" sz="2000" dirty="0"/>
              <a:t> </a:t>
            </a:r>
            <a:r>
              <a:rPr lang="en-US" altLang="en-US" sz="2000" dirty="0" err="1"/>
              <a:t>bao</a:t>
            </a:r>
            <a:r>
              <a:rPr lang="en-US" altLang="en-US" sz="2000" dirty="0"/>
              <a:t> </a:t>
            </a:r>
            <a:r>
              <a:rPr lang="en-US" altLang="en-US" sz="2000" dirty="0" err="1"/>
              <a:t>nhiêu</a:t>
            </a:r>
            <a:r>
              <a:rPr lang="en-US" altLang="en-US" sz="2000" dirty="0"/>
              <a:t> </a:t>
            </a:r>
            <a:r>
              <a:rPr lang="en-US" altLang="en-US" sz="2000" dirty="0" err="1"/>
              <a:t>thành</a:t>
            </a:r>
            <a:r>
              <a:rPr lang="en-US" altLang="en-US" sz="2000" dirty="0"/>
              <a:t> </a:t>
            </a:r>
            <a:r>
              <a:rPr lang="en-US" altLang="en-US" sz="2000" dirty="0" err="1"/>
              <a:t>phần</a:t>
            </a:r>
            <a:r>
              <a:rPr lang="en-US" altLang="en-US" sz="2000" dirty="0"/>
              <a:t> </a:t>
            </a:r>
            <a:r>
              <a:rPr lang="en-US" altLang="en-US" sz="2000" dirty="0" err="1"/>
              <a:t>cơ</a:t>
            </a:r>
            <a:r>
              <a:rPr lang="en-US" altLang="en-US" sz="2000" dirty="0"/>
              <a:t> </a:t>
            </a:r>
            <a:r>
              <a:rPr lang="en-US" altLang="en-US" sz="2000" dirty="0" err="1"/>
              <a:t>bản</a:t>
            </a:r>
            <a:r>
              <a:rPr lang="en-US" altLang="en-US" sz="2000" dirty="0"/>
              <a:t>, </a:t>
            </a:r>
            <a:r>
              <a:rPr lang="en-US" altLang="en-US" sz="2000" dirty="0" err="1"/>
              <a:t>mỗi</a:t>
            </a:r>
            <a:r>
              <a:rPr lang="en-US" altLang="en-US" sz="2000" dirty="0"/>
              <a:t> </a:t>
            </a:r>
            <a:r>
              <a:rPr lang="en-US" altLang="en-US" sz="2000" dirty="0" err="1"/>
              <a:t>thành</a:t>
            </a:r>
            <a:r>
              <a:rPr lang="en-US" altLang="en-US" sz="2000" dirty="0"/>
              <a:t> </a:t>
            </a:r>
            <a:r>
              <a:rPr lang="en-US" altLang="en-US" sz="2000" dirty="0" err="1"/>
              <a:t>phần</a:t>
            </a:r>
            <a:r>
              <a:rPr lang="en-US" altLang="en-US" sz="2000" dirty="0"/>
              <a:t> </a:t>
            </a:r>
            <a:r>
              <a:rPr lang="en-US" altLang="en-US" sz="2000" dirty="0" err="1"/>
              <a:t>đó</a:t>
            </a:r>
            <a:r>
              <a:rPr lang="en-US" altLang="en-US" sz="2000" dirty="0"/>
              <a:t> </a:t>
            </a:r>
            <a:r>
              <a:rPr lang="en-US" altLang="en-US" sz="2000" dirty="0" err="1"/>
              <a:t>làm</a:t>
            </a:r>
            <a:r>
              <a:rPr lang="en-US" altLang="en-US" sz="2000" dirty="0"/>
              <a:t> </a:t>
            </a:r>
            <a:r>
              <a:rPr lang="en-US" altLang="en-US" sz="2000" dirty="0" err="1"/>
              <a:t>cái</a:t>
            </a:r>
            <a:r>
              <a:rPr lang="en-US" altLang="en-US" sz="2000" dirty="0"/>
              <a:t> </a:t>
            </a:r>
            <a:r>
              <a:rPr lang="en-US" altLang="en-US" sz="2000" dirty="0" err="1"/>
              <a:t>gì</a:t>
            </a:r>
            <a:r>
              <a:rPr lang="en-US" altLang="en-US" sz="2000" dirty="0"/>
              <a:t>, </a:t>
            </a:r>
            <a:r>
              <a:rPr lang="en-US" altLang="en-US" sz="2000" dirty="0" err="1"/>
              <a:t>giữa</a:t>
            </a:r>
            <a:r>
              <a:rPr lang="en-US" altLang="en-US" sz="2000" dirty="0"/>
              <a:t> </a:t>
            </a:r>
            <a:r>
              <a:rPr lang="en-US" altLang="en-US" sz="2000" dirty="0" err="1"/>
              <a:t>các</a:t>
            </a:r>
            <a:r>
              <a:rPr lang="en-US" altLang="en-US" sz="2000" dirty="0"/>
              <a:t> </a:t>
            </a:r>
            <a:r>
              <a:rPr lang="en-US" altLang="en-US" sz="2000" dirty="0" err="1"/>
              <a:t>thành</a:t>
            </a:r>
            <a:r>
              <a:rPr lang="en-US" altLang="en-US" sz="2000" dirty="0"/>
              <a:t> </a:t>
            </a:r>
            <a:r>
              <a:rPr lang="en-US" altLang="en-US" sz="2000" dirty="0" err="1"/>
              <a:t>phần</a:t>
            </a:r>
            <a:r>
              <a:rPr lang="en-US" altLang="en-US" sz="2000" dirty="0"/>
              <a:t> </a:t>
            </a:r>
            <a:r>
              <a:rPr lang="en-US" altLang="en-US" sz="2000" dirty="0" err="1"/>
              <a:t>đó</a:t>
            </a:r>
            <a:r>
              <a:rPr lang="en-US" altLang="en-US" sz="2000" dirty="0"/>
              <a:t> </a:t>
            </a:r>
            <a:r>
              <a:rPr lang="en-US" altLang="en-US" sz="2000" dirty="0" err="1"/>
              <a:t>có</a:t>
            </a:r>
            <a:r>
              <a:rPr lang="en-US" altLang="en-US" sz="2000" dirty="0"/>
              <a:t> </a:t>
            </a:r>
            <a:r>
              <a:rPr lang="en-US" altLang="en-US" sz="2000" dirty="0" err="1"/>
              <a:t>mối</a:t>
            </a:r>
            <a:r>
              <a:rPr lang="en-US" altLang="en-US" sz="2000" dirty="0"/>
              <a:t> </a:t>
            </a:r>
            <a:r>
              <a:rPr lang="en-US" altLang="en-US" sz="2000" dirty="0" err="1"/>
              <a:t>liên</a:t>
            </a:r>
            <a:r>
              <a:rPr lang="en-US" altLang="en-US" sz="2000" dirty="0"/>
              <a:t> </a:t>
            </a:r>
            <a:r>
              <a:rPr lang="en-US" altLang="en-US" sz="2000" dirty="0" err="1"/>
              <a:t>quan</a:t>
            </a:r>
            <a:r>
              <a:rPr lang="en-US" altLang="en-US" sz="2000" dirty="0"/>
              <a:t> </a:t>
            </a:r>
            <a:r>
              <a:rPr lang="en-US" altLang="en-US" sz="2000" dirty="0" err="1"/>
              <a:t>gì</a:t>
            </a:r>
            <a:r>
              <a:rPr lang="en-US" altLang="en-US" sz="2000" dirty="0"/>
              <a:t>. </a:t>
            </a:r>
          </a:p>
          <a:p>
            <a:pPr lvl="1">
              <a:buClr>
                <a:srgbClr val="727CA3"/>
              </a:buClr>
            </a:pPr>
            <a:r>
              <a:rPr lang="en-US" altLang="en-US" sz="2000" dirty="0" err="1"/>
              <a:t>Mỗi</a:t>
            </a:r>
            <a:r>
              <a:rPr lang="en-US" altLang="en-US" sz="2000" dirty="0"/>
              <a:t> </a:t>
            </a:r>
            <a:r>
              <a:rPr lang="en-US" altLang="en-US" sz="2000" dirty="0" err="1"/>
              <a:t>thành</a:t>
            </a:r>
            <a:r>
              <a:rPr lang="en-US" altLang="en-US" sz="2000" dirty="0"/>
              <a:t> </a:t>
            </a:r>
            <a:r>
              <a:rPr lang="en-US" altLang="en-US" sz="2000" dirty="0" err="1"/>
              <a:t>phần</a:t>
            </a:r>
            <a:r>
              <a:rPr lang="en-US" altLang="en-US" sz="2000" dirty="0"/>
              <a:t> </a:t>
            </a:r>
            <a:r>
              <a:rPr lang="en-US" altLang="en-US" sz="2000" dirty="0" err="1"/>
              <a:t>cơ</a:t>
            </a:r>
            <a:r>
              <a:rPr lang="en-US" altLang="en-US" sz="2000" dirty="0"/>
              <a:t> </a:t>
            </a:r>
            <a:r>
              <a:rPr lang="en-US" altLang="en-US" sz="2000" dirty="0" err="1"/>
              <a:t>bản</a:t>
            </a:r>
            <a:r>
              <a:rPr lang="en-US" altLang="en-US" sz="2000" dirty="0"/>
              <a:t> </a:t>
            </a:r>
            <a:r>
              <a:rPr lang="en-US" altLang="en-US" sz="2000" dirty="0" err="1"/>
              <a:t>được</a:t>
            </a:r>
            <a:r>
              <a:rPr lang="en-US" altLang="en-US" sz="2000" dirty="0"/>
              <a:t> </a:t>
            </a:r>
            <a:r>
              <a:rPr lang="en-US" altLang="en-US" sz="2000" dirty="0" err="1"/>
              <a:t>gọi</a:t>
            </a:r>
            <a:r>
              <a:rPr lang="en-US" altLang="en-US" sz="2000" dirty="0"/>
              <a:t> </a:t>
            </a:r>
            <a:r>
              <a:rPr lang="en-US" altLang="en-US" sz="2000" dirty="0" err="1"/>
              <a:t>là</a:t>
            </a:r>
            <a:r>
              <a:rPr lang="en-US" altLang="en-US" sz="2000" dirty="0"/>
              <a:t> </a:t>
            </a:r>
            <a:r>
              <a:rPr lang="en-US" altLang="en-US" sz="2000" dirty="0" err="1"/>
              <a:t>một</a:t>
            </a:r>
            <a:r>
              <a:rPr lang="en-US" altLang="en-US" sz="2000" dirty="0"/>
              <a:t> </a:t>
            </a:r>
            <a:r>
              <a:rPr lang="en-US" altLang="en-US" sz="2000" i="1" dirty="0" err="1"/>
              <a:t>mô</a:t>
            </a:r>
            <a:r>
              <a:rPr lang="en-US" altLang="en-US" sz="2000" i="1" dirty="0"/>
              <a:t> </a:t>
            </a:r>
            <a:r>
              <a:rPr lang="en-US" altLang="en-US" sz="2000" i="1" dirty="0" err="1"/>
              <a:t>đun</a:t>
            </a:r>
            <a:r>
              <a:rPr lang="en-US" altLang="en-US" sz="2000" i="1" dirty="0"/>
              <a:t> </a:t>
            </a:r>
            <a:r>
              <a:rPr lang="en-US" altLang="en-US" sz="2000" dirty="0" err="1"/>
              <a:t>của</a:t>
            </a:r>
            <a:r>
              <a:rPr lang="en-US" altLang="en-US" sz="2000" dirty="0"/>
              <a:t> </a:t>
            </a:r>
            <a:r>
              <a:rPr lang="en-US" altLang="en-US" sz="2000" dirty="0" err="1"/>
              <a:t>giải</a:t>
            </a:r>
            <a:r>
              <a:rPr lang="en-US" altLang="en-US" sz="2000" dirty="0"/>
              <a:t> </a:t>
            </a:r>
            <a:r>
              <a:rPr lang="en-US" altLang="en-US" sz="2000" dirty="0" err="1"/>
              <a:t>thuật</a:t>
            </a:r>
            <a:r>
              <a:rPr lang="en-US" altLang="en-US" sz="2000" dirty="0"/>
              <a:t>. </a:t>
            </a:r>
          </a:p>
          <a:p>
            <a:pPr lvl="1">
              <a:lnSpc>
                <a:spcPct val="90000"/>
              </a:lnSpc>
              <a:buClr>
                <a:srgbClr val="727CA3"/>
              </a:buClr>
            </a:pPr>
            <a:r>
              <a:rPr lang="en-US" altLang="en-US" sz="2000" dirty="0" err="1"/>
              <a:t>Phương</a:t>
            </a:r>
            <a:r>
              <a:rPr lang="en-US" altLang="en-US" sz="2000" dirty="0"/>
              <a:t> </a:t>
            </a:r>
            <a:r>
              <a:rPr lang="en-US" altLang="en-US" sz="2000" dirty="0" err="1"/>
              <a:t>pháp</a:t>
            </a:r>
            <a:r>
              <a:rPr lang="en-US" altLang="en-US" sz="2000" dirty="0"/>
              <a:t> </a:t>
            </a:r>
            <a:r>
              <a:rPr lang="en-US" altLang="en-US" sz="2000" dirty="0" err="1"/>
              <a:t>thiết</a:t>
            </a:r>
            <a:r>
              <a:rPr lang="en-US" altLang="en-US" sz="2000" dirty="0"/>
              <a:t> </a:t>
            </a:r>
            <a:r>
              <a:rPr lang="en-US" altLang="en-US" sz="2000" dirty="0" err="1"/>
              <a:t>kế</a:t>
            </a:r>
            <a:r>
              <a:rPr lang="en-US" altLang="en-US" sz="2000" dirty="0"/>
              <a:t> </a:t>
            </a:r>
            <a:r>
              <a:rPr lang="en-US" altLang="en-US" sz="2000" dirty="0" err="1"/>
              <a:t>được</a:t>
            </a:r>
            <a:r>
              <a:rPr lang="en-US" altLang="en-US" sz="2000" dirty="0"/>
              <a:t> </a:t>
            </a:r>
            <a:r>
              <a:rPr lang="en-US" altLang="en-US" sz="2000" dirty="0" err="1"/>
              <a:t>sử</a:t>
            </a:r>
            <a:r>
              <a:rPr lang="en-US" altLang="en-US" sz="2000" dirty="0"/>
              <a:t> </a:t>
            </a:r>
            <a:r>
              <a:rPr lang="en-US" altLang="en-US" sz="2000" dirty="0" err="1"/>
              <a:t>dụng</a:t>
            </a:r>
            <a:r>
              <a:rPr lang="en-US" altLang="en-US" sz="2000" dirty="0"/>
              <a:t> </a:t>
            </a:r>
            <a:r>
              <a:rPr lang="en-US" altLang="en-US" sz="2000" dirty="0" err="1"/>
              <a:t>thường</a:t>
            </a:r>
            <a:r>
              <a:rPr lang="en-US" altLang="en-US" sz="2000" dirty="0"/>
              <a:t> </a:t>
            </a:r>
            <a:r>
              <a:rPr lang="en-US" altLang="en-US" sz="2000" dirty="0" err="1"/>
              <a:t>là</a:t>
            </a:r>
            <a:r>
              <a:rPr lang="en-US" altLang="en-US" sz="2000" dirty="0"/>
              <a:t> </a:t>
            </a:r>
            <a:r>
              <a:rPr lang="en-US" altLang="en-US" sz="2000" dirty="0" err="1"/>
              <a:t>phương</a:t>
            </a:r>
            <a:r>
              <a:rPr lang="en-US" altLang="en-US" sz="2000" dirty="0"/>
              <a:t> </a:t>
            </a:r>
            <a:r>
              <a:rPr lang="en-US" altLang="en-US" sz="2000" dirty="0" err="1"/>
              <a:t>pháp</a:t>
            </a:r>
            <a:r>
              <a:rPr lang="en-US" altLang="en-US" sz="2000" dirty="0"/>
              <a:t> </a:t>
            </a:r>
            <a:r>
              <a:rPr lang="en-US" altLang="en-US" sz="2000" b="1" i="1" dirty="0" err="1"/>
              <a:t>thiết</a:t>
            </a:r>
            <a:r>
              <a:rPr lang="en-US" altLang="en-US" sz="2000" b="1" i="1" dirty="0"/>
              <a:t> </a:t>
            </a:r>
            <a:r>
              <a:rPr lang="en-US" altLang="en-US" sz="2000" b="1" i="1" dirty="0" err="1"/>
              <a:t>kế</a:t>
            </a:r>
            <a:r>
              <a:rPr lang="en-US" altLang="en-US" sz="2000" b="1" i="1" dirty="0"/>
              <a:t> </a:t>
            </a:r>
            <a:r>
              <a:rPr lang="en-US" altLang="en-US" sz="2000" b="1" i="1" dirty="0" err="1"/>
              <a:t>từ</a:t>
            </a:r>
            <a:r>
              <a:rPr lang="en-US" altLang="en-US" sz="2000" b="1" i="1" dirty="0"/>
              <a:t> </a:t>
            </a:r>
            <a:r>
              <a:rPr lang="en-US" altLang="en-US" sz="2000" b="1" i="1" dirty="0" err="1"/>
              <a:t>trên</a:t>
            </a:r>
            <a:r>
              <a:rPr lang="en-US" altLang="en-US" sz="2000" b="1" i="1" dirty="0"/>
              <a:t> </a:t>
            </a:r>
            <a:r>
              <a:rPr lang="en-US" altLang="en-US" sz="2000" b="1" i="1" dirty="0" err="1"/>
              <a:t>xuống</a:t>
            </a:r>
            <a:r>
              <a:rPr lang="en-US" altLang="en-US" sz="2000" dirty="0"/>
              <a:t> </a:t>
            </a:r>
          </a:p>
          <a:p>
            <a:pPr lvl="0">
              <a:lnSpc>
                <a:spcPct val="90000"/>
              </a:lnSpc>
              <a:buClr>
                <a:srgbClr val="727CA3"/>
              </a:buClr>
            </a:pPr>
            <a:r>
              <a:rPr lang="en-US" altLang="en-US" sz="2400" b="1" dirty="0" err="1"/>
              <a:t>Thiết</a:t>
            </a:r>
            <a:r>
              <a:rPr lang="en-US" altLang="en-US" sz="2400" b="1" dirty="0"/>
              <a:t> </a:t>
            </a:r>
            <a:r>
              <a:rPr lang="en-US" altLang="en-US" sz="2400" b="1" dirty="0" err="1"/>
              <a:t>kế</a:t>
            </a:r>
            <a:r>
              <a:rPr lang="en-US" altLang="en-US" sz="2400" b="1" dirty="0"/>
              <a:t> chi </a:t>
            </a:r>
            <a:r>
              <a:rPr lang="en-US" altLang="en-US" sz="2400" b="1" dirty="0" err="1"/>
              <a:t>tiết</a:t>
            </a:r>
            <a:r>
              <a:rPr lang="en-US" altLang="en-US" sz="2400" dirty="0"/>
              <a:t>: </a:t>
            </a:r>
          </a:p>
          <a:p>
            <a:pPr lvl="1">
              <a:buClr>
                <a:srgbClr val="727CA3"/>
              </a:buClr>
            </a:pPr>
            <a:r>
              <a:rPr lang="en-US" altLang="en-US" sz="2000" dirty="0" err="1"/>
              <a:t>Cài</a:t>
            </a:r>
            <a:r>
              <a:rPr lang="en-US" altLang="en-US" sz="2000" dirty="0"/>
              <a:t> </a:t>
            </a:r>
            <a:r>
              <a:rPr lang="en-US" altLang="en-US" sz="2000" dirty="0" err="1"/>
              <a:t>đặt</a:t>
            </a:r>
            <a:r>
              <a:rPr lang="en-US" altLang="en-US" sz="2000" dirty="0"/>
              <a:t> </a:t>
            </a:r>
            <a:r>
              <a:rPr lang="en-US" altLang="en-US" sz="2000" dirty="0" err="1"/>
              <a:t>cụ</a:t>
            </a:r>
            <a:r>
              <a:rPr lang="en-US" altLang="en-US" sz="2000" dirty="0"/>
              <a:t> </a:t>
            </a:r>
            <a:r>
              <a:rPr lang="en-US" altLang="en-US" sz="2000" dirty="0" err="1"/>
              <a:t>thể</a:t>
            </a:r>
            <a:r>
              <a:rPr lang="en-US" altLang="en-US" sz="2000" dirty="0"/>
              <a:t> </a:t>
            </a:r>
            <a:r>
              <a:rPr lang="en-US" altLang="en-US" sz="2000" dirty="0" err="1"/>
              <a:t>các</a:t>
            </a:r>
            <a:r>
              <a:rPr lang="en-US" altLang="en-US" sz="2000" dirty="0"/>
              <a:t> </a:t>
            </a:r>
            <a:r>
              <a:rPr lang="en-US" altLang="en-US" sz="2000" dirty="0" err="1"/>
              <a:t>mô</a:t>
            </a:r>
            <a:r>
              <a:rPr lang="en-US" altLang="en-US" sz="2000" dirty="0"/>
              <a:t> </a:t>
            </a:r>
            <a:r>
              <a:rPr lang="en-US" altLang="en-US" sz="2000" dirty="0" err="1"/>
              <a:t>đun</a:t>
            </a:r>
            <a:r>
              <a:rPr lang="en-US" altLang="en-US" sz="2000" dirty="0"/>
              <a:t> </a:t>
            </a:r>
            <a:r>
              <a:rPr lang="en-US" altLang="en-US" sz="2000" dirty="0" err="1"/>
              <a:t>bằng</a:t>
            </a:r>
            <a:r>
              <a:rPr lang="en-US" altLang="en-US" sz="2000" dirty="0"/>
              <a:t> </a:t>
            </a:r>
            <a:r>
              <a:rPr lang="en-US" altLang="en-US" sz="2000" dirty="0" err="1"/>
              <a:t>một</a:t>
            </a:r>
            <a:r>
              <a:rPr lang="en-US" altLang="en-US" sz="2000" dirty="0"/>
              <a:t> </a:t>
            </a:r>
            <a:r>
              <a:rPr lang="en-US" altLang="en-US" sz="2000" dirty="0" err="1"/>
              <a:t>ngôn</a:t>
            </a:r>
            <a:r>
              <a:rPr lang="en-US" altLang="en-US" sz="2000" dirty="0"/>
              <a:t> </a:t>
            </a:r>
            <a:r>
              <a:rPr lang="en-US" altLang="en-US" sz="2000" dirty="0" err="1"/>
              <a:t>ngữ</a:t>
            </a:r>
            <a:r>
              <a:rPr lang="en-US" altLang="en-US" sz="2000" dirty="0"/>
              <a:t> </a:t>
            </a:r>
            <a:r>
              <a:rPr lang="en-US" altLang="en-US" sz="2000" dirty="0" err="1"/>
              <a:t>lập</a:t>
            </a:r>
            <a:r>
              <a:rPr lang="en-US" altLang="en-US" sz="2000" dirty="0"/>
              <a:t> </a:t>
            </a:r>
            <a:r>
              <a:rPr lang="en-US" altLang="en-US" sz="2000" dirty="0" err="1"/>
              <a:t>trình</a:t>
            </a:r>
            <a:r>
              <a:rPr lang="en-US" altLang="en-US" sz="2000" dirty="0"/>
              <a:t> </a:t>
            </a:r>
            <a:r>
              <a:rPr lang="en-US" altLang="en-US" sz="2000" dirty="0" err="1"/>
              <a:t>cụ</a:t>
            </a:r>
            <a:r>
              <a:rPr lang="en-US" altLang="en-US" sz="2000" dirty="0"/>
              <a:t> </a:t>
            </a:r>
            <a:r>
              <a:rPr lang="en-US" altLang="en-US" sz="2000" dirty="0" err="1"/>
              <a:t>thể</a:t>
            </a:r>
            <a:r>
              <a:rPr lang="en-US" altLang="en-US" sz="2000" dirty="0"/>
              <a:t>. </a:t>
            </a:r>
          </a:p>
          <a:p>
            <a:pPr lvl="1">
              <a:lnSpc>
                <a:spcPct val="90000"/>
              </a:lnSpc>
              <a:buClr>
                <a:srgbClr val="727CA3"/>
              </a:buClr>
            </a:pPr>
            <a:r>
              <a:rPr lang="en-US" altLang="en-US" sz="2000" dirty="0" err="1"/>
              <a:t>Tiến</a:t>
            </a:r>
            <a:r>
              <a:rPr lang="en-US" altLang="en-US" sz="2000" dirty="0"/>
              <a:t> </a:t>
            </a:r>
            <a:r>
              <a:rPr lang="en-US" altLang="en-US" sz="2000" dirty="0" err="1"/>
              <a:t>hành</a:t>
            </a:r>
            <a:r>
              <a:rPr lang="en-US" altLang="en-US" sz="2000" dirty="0"/>
              <a:t> </a:t>
            </a:r>
            <a:r>
              <a:rPr lang="en-US" altLang="en-US" sz="2000" dirty="0" err="1"/>
              <a:t>ghép</a:t>
            </a:r>
            <a:r>
              <a:rPr lang="en-US" altLang="en-US" sz="2000" dirty="0"/>
              <a:t> </a:t>
            </a:r>
            <a:r>
              <a:rPr lang="en-US" altLang="en-US" sz="2000" dirty="0" err="1"/>
              <a:t>nối</a:t>
            </a:r>
            <a:r>
              <a:rPr lang="en-US" altLang="en-US" sz="2000" dirty="0"/>
              <a:t> </a:t>
            </a:r>
            <a:r>
              <a:rPr lang="en-US" altLang="en-US" sz="2000" dirty="0" err="1"/>
              <a:t>các</a:t>
            </a:r>
            <a:r>
              <a:rPr lang="en-US" altLang="en-US" sz="2000" dirty="0"/>
              <a:t> </a:t>
            </a:r>
            <a:r>
              <a:rPr lang="en-US" altLang="en-US" sz="2000" dirty="0" err="1"/>
              <a:t>mô</a:t>
            </a:r>
            <a:r>
              <a:rPr lang="en-US" altLang="en-US" sz="2000" dirty="0"/>
              <a:t> </a:t>
            </a:r>
            <a:r>
              <a:rPr lang="en-US" altLang="en-US" sz="2000" dirty="0" err="1"/>
              <a:t>dul</a:t>
            </a:r>
            <a:r>
              <a:rPr lang="en-US" altLang="en-US" sz="2000" dirty="0"/>
              <a:t> </a:t>
            </a:r>
            <a:r>
              <a:rPr lang="en-US" altLang="en-US" sz="2000" dirty="0" err="1"/>
              <a:t>để</a:t>
            </a:r>
            <a:r>
              <a:rPr lang="en-US" altLang="en-US" sz="2000" dirty="0"/>
              <a:t> </a:t>
            </a:r>
            <a:r>
              <a:rPr lang="en-US" altLang="en-US" sz="2000" dirty="0" err="1"/>
              <a:t>tạo</a:t>
            </a:r>
            <a:r>
              <a:rPr lang="en-US" altLang="en-US" sz="2000" dirty="0"/>
              <a:t> </a:t>
            </a:r>
            <a:r>
              <a:rPr lang="en-US" altLang="en-US" sz="2000" dirty="0" err="1"/>
              <a:t>thành</a:t>
            </a:r>
            <a:r>
              <a:rPr lang="en-US" altLang="en-US" sz="2000" dirty="0"/>
              <a:t> </a:t>
            </a:r>
            <a:r>
              <a:rPr lang="en-US" altLang="en-US" sz="2000" dirty="0" err="1"/>
              <a:t>một</a:t>
            </a:r>
            <a:r>
              <a:rPr lang="en-US" altLang="en-US" sz="2000" dirty="0"/>
              <a:t> </a:t>
            </a:r>
            <a:r>
              <a:rPr lang="en-US" altLang="en-US" sz="2000" dirty="0" err="1"/>
              <a:t>chương</a:t>
            </a:r>
            <a:r>
              <a:rPr lang="en-US" altLang="en-US" sz="2000" dirty="0"/>
              <a:t> </a:t>
            </a:r>
            <a:r>
              <a:rPr lang="en-US" altLang="en-US" sz="2000" dirty="0" err="1"/>
              <a:t>trình</a:t>
            </a:r>
            <a:r>
              <a:rPr lang="en-US" altLang="en-US" sz="2000" dirty="0"/>
              <a:t> </a:t>
            </a:r>
            <a:r>
              <a:rPr lang="en-US" altLang="en-US" sz="2000" dirty="0" err="1"/>
              <a:t>hoàn</a:t>
            </a:r>
            <a:r>
              <a:rPr lang="en-US" altLang="en-US" sz="2000" dirty="0"/>
              <a:t> </a:t>
            </a:r>
            <a:r>
              <a:rPr lang="en-US" altLang="en-US" sz="2000" dirty="0" err="1"/>
              <a:t>chỉnh</a:t>
            </a:r>
            <a:endParaRPr lang="en-US" altLang="en-US" sz="2000" dirty="0"/>
          </a:p>
          <a:p>
            <a:pPr lvl="1">
              <a:lnSpc>
                <a:spcPct val="90000"/>
              </a:lnSpc>
              <a:buClr>
                <a:srgbClr val="727CA3"/>
              </a:buClr>
            </a:pPr>
            <a:r>
              <a:rPr lang="en-US" altLang="en-US" sz="2000" dirty="0" err="1"/>
              <a:t>Phương</a:t>
            </a:r>
            <a:r>
              <a:rPr lang="en-US" altLang="en-US" sz="2000" dirty="0"/>
              <a:t> </a:t>
            </a:r>
            <a:r>
              <a:rPr lang="en-US" altLang="en-US" sz="2000" dirty="0" err="1"/>
              <a:t>pháp</a:t>
            </a:r>
            <a:r>
              <a:rPr lang="en-US" altLang="en-US" sz="2000" dirty="0"/>
              <a:t> </a:t>
            </a:r>
            <a:r>
              <a:rPr lang="en-US" altLang="en-US" sz="2000" dirty="0" err="1"/>
              <a:t>thiết</a:t>
            </a:r>
            <a:r>
              <a:rPr lang="en-US" altLang="en-US" sz="2000" dirty="0"/>
              <a:t> </a:t>
            </a:r>
            <a:r>
              <a:rPr lang="en-US" altLang="en-US" sz="2000" dirty="0" err="1"/>
              <a:t>kế</a:t>
            </a:r>
            <a:r>
              <a:rPr lang="en-US" altLang="en-US" sz="2000" dirty="0"/>
              <a:t> </a:t>
            </a:r>
            <a:r>
              <a:rPr lang="en-US" altLang="en-US" sz="2000" dirty="0" err="1"/>
              <a:t>sử</a:t>
            </a:r>
            <a:r>
              <a:rPr lang="en-US" altLang="en-US" sz="2000" dirty="0"/>
              <a:t> </a:t>
            </a:r>
            <a:r>
              <a:rPr lang="en-US" altLang="en-US" sz="2000" dirty="0" err="1"/>
              <a:t>dụng</a:t>
            </a:r>
            <a:r>
              <a:rPr lang="en-US" altLang="en-US" sz="2000" dirty="0"/>
              <a:t> </a:t>
            </a:r>
            <a:r>
              <a:rPr lang="en-US" altLang="en-US" sz="2000" dirty="0" err="1"/>
              <a:t>thường</a:t>
            </a:r>
            <a:r>
              <a:rPr lang="en-US" altLang="en-US" sz="2000" dirty="0"/>
              <a:t> </a:t>
            </a:r>
            <a:r>
              <a:rPr lang="en-US" altLang="en-US" sz="2000" dirty="0" err="1"/>
              <a:t>là</a:t>
            </a:r>
            <a:r>
              <a:rPr lang="en-US" altLang="en-US" sz="2000" dirty="0"/>
              <a:t> </a:t>
            </a:r>
            <a:r>
              <a:rPr lang="en-US" altLang="en-US" sz="2000" dirty="0" err="1"/>
              <a:t>phương</a:t>
            </a:r>
            <a:r>
              <a:rPr lang="en-US" altLang="en-US" sz="2000" dirty="0"/>
              <a:t> </a:t>
            </a:r>
            <a:r>
              <a:rPr lang="en-US" altLang="en-US" sz="2000" dirty="0" err="1"/>
              <a:t>pháp</a:t>
            </a:r>
            <a:r>
              <a:rPr lang="en-US" altLang="en-US" sz="2000" dirty="0"/>
              <a:t> </a:t>
            </a:r>
            <a:r>
              <a:rPr lang="en-US" altLang="en-US" sz="2000" b="1" i="1" dirty="0" err="1"/>
              <a:t>tinh</a:t>
            </a:r>
            <a:r>
              <a:rPr lang="en-US" altLang="en-US" sz="2000" b="1" i="1" dirty="0"/>
              <a:t> </a:t>
            </a:r>
            <a:r>
              <a:rPr lang="en-US" altLang="en-US" sz="2000" b="1" i="1" dirty="0" err="1"/>
              <a:t>chỉnh</a:t>
            </a:r>
            <a:r>
              <a:rPr lang="en-US" altLang="en-US" sz="2000" b="1" i="1" dirty="0"/>
              <a:t> </a:t>
            </a:r>
            <a:r>
              <a:rPr lang="en-US" altLang="en-US" sz="2000" b="1" i="1" dirty="0" err="1"/>
              <a:t>từng</a:t>
            </a:r>
            <a:r>
              <a:rPr lang="en-US" altLang="en-US" sz="2000" b="1" i="1" dirty="0"/>
              <a:t> </a:t>
            </a:r>
            <a:r>
              <a:rPr lang="en-US" altLang="en-US" sz="2000" b="1" i="1" dirty="0" err="1"/>
              <a:t>bước</a:t>
            </a:r>
            <a:endParaRPr lang="en-US" altLang="en-US" sz="2000" b="1" dirty="0"/>
          </a:p>
          <a:p>
            <a:endParaRPr lang="en-US" sz="2400" dirty="0"/>
          </a:p>
        </p:txBody>
      </p:sp>
    </p:spTree>
    <p:extLst>
      <p:ext uri="{BB962C8B-B14F-4D97-AF65-F5344CB8AC3E}">
        <p14:creationId xmlns:p14="http://schemas.microsoft.com/office/powerpoint/2010/main" val="150886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7</a:t>
            </a:fld>
            <a:endParaRPr lang="en-US"/>
          </a:p>
        </p:txBody>
      </p:sp>
      <p:sp>
        <p:nvSpPr>
          <p:cNvPr id="2" name="Title 1"/>
          <p:cNvSpPr>
            <a:spLocks noGrp="1"/>
          </p:cNvSpPr>
          <p:nvPr>
            <p:ph type="title"/>
          </p:nvPr>
        </p:nvSpPr>
        <p:spPr/>
        <p:txBody>
          <a:bodyPr/>
          <a:lstStyle/>
          <a:p>
            <a:r>
              <a:rPr lang="en-US" altLang="en-US" dirty="0"/>
              <a:t>4.1.1. </a:t>
            </a:r>
            <a:r>
              <a:rPr lang="en-US" altLang="en-US" sz="2000" dirty="0" err="1"/>
              <a:t>Thiết</a:t>
            </a:r>
            <a:r>
              <a:rPr lang="en-US" altLang="en-US" sz="2000" dirty="0"/>
              <a:t> </a:t>
            </a:r>
            <a:r>
              <a:rPr lang="en-US" altLang="en-US" sz="2000" dirty="0" err="1"/>
              <a:t>kế</a:t>
            </a:r>
            <a:r>
              <a:rPr lang="en-US" altLang="en-US" sz="2000" dirty="0"/>
              <a:t> </a:t>
            </a:r>
            <a:r>
              <a:rPr lang="en-US" altLang="en-US" sz="2000" dirty="0" err="1"/>
              <a:t>sơ</a:t>
            </a:r>
            <a:r>
              <a:rPr lang="en-US" altLang="en-US" sz="2000" dirty="0"/>
              <a:t> </a:t>
            </a:r>
            <a:r>
              <a:rPr lang="en-US" altLang="en-US" sz="2000" dirty="0" err="1"/>
              <a:t>bộ</a:t>
            </a:r>
            <a:r>
              <a:rPr lang="en-US" altLang="en-US" sz="2000" dirty="0"/>
              <a:t> - </a:t>
            </a:r>
            <a:r>
              <a:rPr lang="en-US" altLang="en-US" dirty="0" err="1"/>
              <a:t>Phương</a:t>
            </a:r>
            <a:r>
              <a:rPr lang="en-US" altLang="en-US" dirty="0"/>
              <a:t> </a:t>
            </a:r>
            <a:r>
              <a:rPr lang="en-US" altLang="en-US" dirty="0" err="1"/>
              <a:t>pháp</a:t>
            </a:r>
            <a:r>
              <a:rPr lang="en-US" altLang="en-US" dirty="0"/>
              <a:t> TK </a:t>
            </a:r>
            <a:r>
              <a:rPr lang="en-US" altLang="en-US" dirty="0" err="1"/>
              <a:t>từ</a:t>
            </a:r>
            <a:r>
              <a:rPr lang="en-US" altLang="en-US" dirty="0"/>
              <a:t> </a:t>
            </a:r>
            <a:r>
              <a:rPr lang="en-US" altLang="en-US" dirty="0" err="1"/>
              <a:t>trên</a:t>
            </a:r>
            <a:r>
              <a:rPr lang="en-US" altLang="en-US" dirty="0"/>
              <a:t> </a:t>
            </a:r>
            <a:r>
              <a:rPr lang="en-US" altLang="en-US" dirty="0" err="1"/>
              <a:t>xuống</a:t>
            </a:r>
            <a:endParaRPr lang="en-US" dirty="0"/>
          </a:p>
        </p:txBody>
      </p:sp>
      <p:sp>
        <p:nvSpPr>
          <p:cNvPr id="3" name="Content Placeholder 2"/>
          <p:cNvSpPr>
            <a:spLocks noGrp="1"/>
          </p:cNvSpPr>
          <p:nvPr>
            <p:ph type="body" sz="quarter" idx="13"/>
          </p:nvPr>
        </p:nvSpPr>
        <p:spPr/>
        <p:txBody>
          <a:bodyPr>
            <a:normAutofit/>
          </a:bodyPr>
          <a:lstStyle/>
          <a:p>
            <a:pPr eaLnBrk="1" hangingPunct="1"/>
            <a:r>
              <a:rPr lang="en-US" altLang="en-US" sz="2400" b="1" i="1" dirty="0" err="1"/>
              <a:t>Phương</a:t>
            </a:r>
            <a:r>
              <a:rPr lang="en-US" altLang="en-US" sz="2400" b="1" i="1" dirty="0"/>
              <a:t> </a:t>
            </a:r>
            <a:r>
              <a:rPr lang="en-US" altLang="en-US" sz="2400" b="1" i="1" dirty="0" err="1"/>
              <a:t>pháp</a:t>
            </a:r>
            <a:r>
              <a:rPr lang="en-US" altLang="en-US" sz="2400" b="1" i="1" dirty="0"/>
              <a:t> </a:t>
            </a:r>
            <a:r>
              <a:rPr lang="en-US" altLang="en-US" sz="2400" b="1" i="1" dirty="0" err="1"/>
              <a:t>mô</a:t>
            </a:r>
            <a:r>
              <a:rPr lang="en-US" altLang="en-US" sz="2400" b="1" i="1" dirty="0"/>
              <a:t> </a:t>
            </a:r>
            <a:r>
              <a:rPr lang="en-US" altLang="en-US" sz="2400" b="1" i="1" dirty="0" err="1"/>
              <a:t>đun</a:t>
            </a:r>
            <a:r>
              <a:rPr lang="en-US" altLang="en-US" sz="2400" b="1" i="1" dirty="0"/>
              <a:t> </a:t>
            </a:r>
            <a:r>
              <a:rPr lang="en-US" altLang="en-US" sz="2400" b="1" i="1" dirty="0" err="1"/>
              <a:t>hoá</a:t>
            </a:r>
            <a:endParaRPr lang="en-US" altLang="en-US" sz="2400" b="1" i="1" dirty="0"/>
          </a:p>
          <a:p>
            <a:pPr lvl="1"/>
            <a:r>
              <a:rPr lang="en-US" altLang="en-US" sz="2000" dirty="0" err="1"/>
              <a:t>Dựa</a:t>
            </a:r>
            <a:r>
              <a:rPr lang="en-US" altLang="en-US" sz="2000" dirty="0"/>
              <a:t> </a:t>
            </a:r>
            <a:r>
              <a:rPr lang="en-US" altLang="en-US" sz="2000" dirty="0" err="1"/>
              <a:t>trên</a:t>
            </a:r>
            <a:r>
              <a:rPr lang="en-US" altLang="en-US" sz="2000" dirty="0"/>
              <a:t> </a:t>
            </a:r>
            <a:r>
              <a:rPr lang="en-US" altLang="en-US" sz="2000" dirty="0" err="1"/>
              <a:t>nguyên</a:t>
            </a:r>
            <a:r>
              <a:rPr lang="en-US" altLang="en-US" sz="2000" dirty="0"/>
              <a:t> </a:t>
            </a:r>
            <a:r>
              <a:rPr lang="en-US" altLang="en-US" sz="2000" dirty="0" err="1"/>
              <a:t>tắc</a:t>
            </a:r>
            <a:r>
              <a:rPr lang="en-US" altLang="en-US" sz="2000" dirty="0"/>
              <a:t> </a:t>
            </a:r>
            <a:r>
              <a:rPr lang="en-US" altLang="en-US" sz="2000" i="1" dirty="0"/>
              <a:t>chia </a:t>
            </a:r>
            <a:r>
              <a:rPr lang="en-US" altLang="en-US" sz="2000" i="1" dirty="0" err="1"/>
              <a:t>để</a:t>
            </a:r>
            <a:r>
              <a:rPr lang="en-US" altLang="en-US" sz="2000" i="1" dirty="0"/>
              <a:t> </a:t>
            </a:r>
            <a:r>
              <a:rPr lang="en-US" altLang="en-US" sz="2000" i="1" dirty="0" err="1"/>
              <a:t>trị</a:t>
            </a:r>
            <a:r>
              <a:rPr lang="en-US" altLang="en-US" sz="2000" dirty="0"/>
              <a:t>: chia </a:t>
            </a:r>
            <a:r>
              <a:rPr lang="en-US" altLang="en-US" sz="2000" dirty="0" err="1"/>
              <a:t>giải</a:t>
            </a:r>
            <a:r>
              <a:rPr lang="en-US" altLang="en-US" sz="2000" dirty="0"/>
              <a:t> </a:t>
            </a:r>
            <a:r>
              <a:rPr lang="en-US" altLang="en-US" sz="2000" dirty="0" err="1"/>
              <a:t>thuật</a:t>
            </a:r>
            <a:r>
              <a:rPr lang="en-US" altLang="en-US" sz="2000" dirty="0"/>
              <a:t> ban </a:t>
            </a:r>
            <a:r>
              <a:rPr lang="en-US" altLang="en-US" sz="2000" dirty="0" err="1"/>
              <a:t>đầu</a:t>
            </a:r>
            <a:r>
              <a:rPr lang="en-US" altLang="en-US" sz="2000" dirty="0"/>
              <a:t> </a:t>
            </a:r>
            <a:r>
              <a:rPr lang="en-US" altLang="en-US" sz="2000" dirty="0" err="1"/>
              <a:t>thành</a:t>
            </a:r>
            <a:r>
              <a:rPr lang="en-US" altLang="en-US" sz="2000" dirty="0"/>
              <a:t> </a:t>
            </a:r>
            <a:r>
              <a:rPr lang="en-US" altLang="en-US" sz="2000" dirty="0" err="1"/>
              <a:t>các</a:t>
            </a:r>
            <a:r>
              <a:rPr lang="en-US" altLang="en-US" sz="2000" dirty="0"/>
              <a:t> </a:t>
            </a:r>
            <a:r>
              <a:rPr lang="en-US" altLang="en-US" sz="2000" dirty="0" err="1"/>
              <a:t>giải</a:t>
            </a:r>
            <a:r>
              <a:rPr lang="en-US" altLang="en-US" sz="2000" dirty="0"/>
              <a:t> </a:t>
            </a:r>
            <a:r>
              <a:rPr lang="en-US" altLang="en-US" sz="2000" dirty="0" err="1"/>
              <a:t>thuật</a:t>
            </a:r>
            <a:r>
              <a:rPr lang="en-US" altLang="en-US" sz="2000" dirty="0"/>
              <a:t> con (</a:t>
            </a:r>
            <a:r>
              <a:rPr lang="en-US" altLang="en-US" sz="2000" dirty="0" err="1"/>
              <a:t>mô</a:t>
            </a:r>
            <a:r>
              <a:rPr lang="en-US" altLang="en-US" sz="2000" dirty="0"/>
              <a:t> </a:t>
            </a:r>
            <a:r>
              <a:rPr lang="en-US" altLang="en-US" sz="2000" dirty="0" err="1"/>
              <a:t>đun</a:t>
            </a:r>
            <a:r>
              <a:rPr lang="en-US" altLang="en-US" sz="2000" dirty="0"/>
              <a:t>), </a:t>
            </a:r>
            <a:r>
              <a:rPr lang="en-US" altLang="en-US" sz="2000" dirty="0" err="1"/>
              <a:t>mỗi</a:t>
            </a:r>
            <a:r>
              <a:rPr lang="en-US" altLang="en-US" sz="2000" dirty="0"/>
              <a:t> </a:t>
            </a:r>
            <a:r>
              <a:rPr lang="en-US" altLang="en-US" sz="2000" dirty="0" err="1"/>
              <a:t>giải</a:t>
            </a:r>
            <a:r>
              <a:rPr lang="en-US" altLang="en-US" sz="2000" dirty="0"/>
              <a:t> </a:t>
            </a:r>
            <a:r>
              <a:rPr lang="en-US" altLang="en-US" sz="2000" dirty="0" err="1"/>
              <a:t>thuật</a:t>
            </a:r>
            <a:r>
              <a:rPr lang="en-US" altLang="en-US" sz="2000" dirty="0"/>
              <a:t> con </a:t>
            </a:r>
            <a:r>
              <a:rPr lang="en-US" altLang="en-US" sz="2000" dirty="0" err="1"/>
              <a:t>sẽ</a:t>
            </a:r>
            <a:r>
              <a:rPr lang="en-US" altLang="en-US" sz="2000" dirty="0"/>
              <a:t> </a:t>
            </a:r>
            <a:r>
              <a:rPr lang="en-US" altLang="en-US" sz="2000" dirty="0" err="1"/>
              <a:t>thực</a:t>
            </a:r>
            <a:r>
              <a:rPr lang="en-US" altLang="en-US" sz="2000" dirty="0"/>
              <a:t> </a:t>
            </a:r>
            <a:r>
              <a:rPr lang="en-US" altLang="en-US" sz="2000" dirty="0" err="1"/>
              <a:t>hiện</a:t>
            </a:r>
            <a:r>
              <a:rPr lang="en-US" altLang="en-US" sz="2000" dirty="0"/>
              <a:t> </a:t>
            </a:r>
            <a:r>
              <a:rPr lang="en-US" altLang="en-US" sz="2000" dirty="0" err="1"/>
              <a:t>một</a:t>
            </a:r>
            <a:r>
              <a:rPr lang="en-US" altLang="en-US" sz="2000" dirty="0"/>
              <a:t> </a:t>
            </a:r>
            <a:r>
              <a:rPr lang="en-US" altLang="en-US" sz="2000" dirty="0" err="1"/>
              <a:t>phần</a:t>
            </a:r>
            <a:r>
              <a:rPr lang="en-US" altLang="en-US" sz="2000" dirty="0"/>
              <a:t> </a:t>
            </a:r>
            <a:r>
              <a:rPr lang="en-US" altLang="en-US" sz="2000" dirty="0" err="1"/>
              <a:t>chức</a:t>
            </a:r>
            <a:r>
              <a:rPr lang="en-US" altLang="en-US" sz="2000" dirty="0"/>
              <a:t> </a:t>
            </a:r>
            <a:r>
              <a:rPr lang="en-US" altLang="en-US" sz="2000" dirty="0" err="1"/>
              <a:t>năng</a:t>
            </a:r>
            <a:r>
              <a:rPr lang="en-US" altLang="en-US" sz="2000" dirty="0"/>
              <a:t> </a:t>
            </a:r>
            <a:r>
              <a:rPr lang="en-US" altLang="en-US" sz="2000" dirty="0" err="1"/>
              <a:t>của</a:t>
            </a:r>
            <a:r>
              <a:rPr lang="en-US" altLang="en-US" sz="2000" dirty="0"/>
              <a:t> </a:t>
            </a:r>
            <a:r>
              <a:rPr lang="en-US" altLang="en-US" sz="2000" dirty="0" err="1"/>
              <a:t>giải</a:t>
            </a:r>
            <a:r>
              <a:rPr lang="en-US" altLang="en-US" sz="2000" dirty="0"/>
              <a:t> </a:t>
            </a:r>
            <a:r>
              <a:rPr lang="en-US" altLang="en-US" sz="2000" dirty="0" err="1"/>
              <a:t>thuật</a:t>
            </a:r>
            <a:r>
              <a:rPr lang="en-US" altLang="en-US" sz="2000" dirty="0"/>
              <a:t> ban </a:t>
            </a:r>
            <a:r>
              <a:rPr lang="en-US" altLang="en-US" sz="2000" dirty="0" err="1"/>
              <a:t>đầu</a:t>
            </a:r>
            <a:endParaRPr lang="en-US" altLang="en-US" sz="2000" dirty="0"/>
          </a:p>
          <a:p>
            <a:pPr lvl="1"/>
            <a:r>
              <a:rPr lang="en-US" altLang="en-US" sz="2000" dirty="0" err="1"/>
              <a:t>Quá</a:t>
            </a:r>
            <a:r>
              <a:rPr lang="en-US" altLang="en-US" sz="2000" dirty="0"/>
              <a:t> </a:t>
            </a:r>
            <a:r>
              <a:rPr lang="en-US" altLang="en-US" sz="2000" dirty="0" err="1"/>
              <a:t>trình</a:t>
            </a:r>
            <a:r>
              <a:rPr lang="en-US" altLang="en-US" sz="2000" dirty="0"/>
              <a:t> </a:t>
            </a:r>
            <a:r>
              <a:rPr lang="en-US" altLang="en-US" sz="2000" dirty="0" err="1"/>
              <a:t>phân</a:t>
            </a:r>
            <a:r>
              <a:rPr lang="en-US" altLang="en-US" sz="2000" dirty="0"/>
              <a:t> chia </a:t>
            </a:r>
            <a:r>
              <a:rPr lang="en-US" altLang="en-US" sz="2000" dirty="0" err="1"/>
              <a:t>này</a:t>
            </a:r>
            <a:r>
              <a:rPr lang="en-US" altLang="en-US" sz="2000" dirty="0"/>
              <a:t> </a:t>
            </a:r>
            <a:r>
              <a:rPr lang="en-US" altLang="en-US" sz="2000" dirty="0" err="1"/>
              <a:t>được</a:t>
            </a:r>
            <a:r>
              <a:rPr lang="en-US" altLang="en-US" sz="2000" dirty="0"/>
              <a:t> </a:t>
            </a:r>
            <a:r>
              <a:rPr lang="en-US" altLang="en-US" sz="2000" dirty="0" err="1"/>
              <a:t>lặp</a:t>
            </a:r>
            <a:r>
              <a:rPr lang="en-US" altLang="en-US" sz="2000" dirty="0"/>
              <a:t> </a:t>
            </a:r>
            <a:r>
              <a:rPr lang="en-US" altLang="en-US" sz="2000" dirty="0" err="1"/>
              <a:t>lại</a:t>
            </a:r>
            <a:r>
              <a:rPr lang="en-US" altLang="en-US" sz="2000" dirty="0"/>
              <a:t> </a:t>
            </a:r>
            <a:r>
              <a:rPr lang="en-US" altLang="en-US" sz="2000" dirty="0" err="1"/>
              <a:t>cho</a:t>
            </a:r>
            <a:r>
              <a:rPr lang="en-US" altLang="en-US" sz="2000" dirty="0"/>
              <a:t> </a:t>
            </a:r>
            <a:r>
              <a:rPr lang="en-US" altLang="en-US" sz="2000" dirty="0" err="1"/>
              <a:t>các</a:t>
            </a:r>
            <a:r>
              <a:rPr lang="en-US" altLang="en-US" sz="2000" dirty="0"/>
              <a:t> </a:t>
            </a:r>
            <a:r>
              <a:rPr lang="en-US" altLang="en-US" sz="2000" dirty="0" err="1"/>
              <a:t>mô</a:t>
            </a:r>
            <a:r>
              <a:rPr lang="en-US" altLang="en-US" sz="2000" dirty="0"/>
              <a:t> </a:t>
            </a:r>
            <a:r>
              <a:rPr lang="en-US" altLang="en-US" sz="2000" dirty="0" err="1"/>
              <a:t>đun</a:t>
            </a:r>
            <a:r>
              <a:rPr lang="en-US" altLang="en-US" sz="2000" dirty="0"/>
              <a:t>  con </a:t>
            </a:r>
            <a:r>
              <a:rPr lang="en-US" altLang="en-US" sz="2000" dirty="0" err="1"/>
              <a:t>cho</a:t>
            </a:r>
            <a:r>
              <a:rPr lang="en-US" altLang="en-US" sz="2000" dirty="0"/>
              <a:t> </a:t>
            </a:r>
            <a:r>
              <a:rPr lang="en-US" altLang="en-US" sz="2000" dirty="0" err="1"/>
              <a:t>đến</a:t>
            </a:r>
            <a:r>
              <a:rPr lang="en-US" altLang="en-US" sz="2000" dirty="0"/>
              <a:t> </a:t>
            </a:r>
            <a:r>
              <a:rPr lang="en-US" altLang="en-US" sz="2000" dirty="0" err="1"/>
              <a:t>khi</a:t>
            </a:r>
            <a:r>
              <a:rPr lang="en-US" altLang="en-US" sz="2000" dirty="0"/>
              <a:t> </a:t>
            </a:r>
            <a:r>
              <a:rPr lang="en-US" altLang="en-US" sz="2000" dirty="0" err="1"/>
              <a:t>các</a:t>
            </a:r>
            <a:r>
              <a:rPr lang="en-US" altLang="en-US" sz="2000" dirty="0"/>
              <a:t> </a:t>
            </a:r>
            <a:r>
              <a:rPr lang="en-US" altLang="en-US" sz="2000" dirty="0" err="1"/>
              <a:t>mô</a:t>
            </a:r>
            <a:r>
              <a:rPr lang="en-US" altLang="en-US" sz="2000" dirty="0"/>
              <a:t> </a:t>
            </a:r>
            <a:r>
              <a:rPr lang="en-US" altLang="en-US" sz="2000" dirty="0" err="1"/>
              <a:t>đun</a:t>
            </a:r>
            <a:r>
              <a:rPr lang="en-US" altLang="en-US" sz="2000" dirty="0"/>
              <a:t> </a:t>
            </a:r>
            <a:r>
              <a:rPr lang="en-US" altLang="en-US" sz="2000" dirty="0" err="1"/>
              <a:t>là</a:t>
            </a:r>
            <a:r>
              <a:rPr lang="en-US" altLang="en-US" sz="2000" dirty="0"/>
              <a:t> </a:t>
            </a:r>
            <a:r>
              <a:rPr lang="en-US" altLang="en-US" sz="2000" dirty="0" err="1"/>
              <a:t>đủ</a:t>
            </a:r>
            <a:r>
              <a:rPr lang="en-US" altLang="en-US" sz="2000" dirty="0"/>
              <a:t> </a:t>
            </a:r>
            <a:r>
              <a:rPr lang="en-US" altLang="en-US" sz="2000" dirty="0" err="1"/>
              <a:t>nhỏ</a:t>
            </a:r>
            <a:r>
              <a:rPr lang="en-US" altLang="en-US" sz="2000" dirty="0"/>
              <a:t> </a:t>
            </a:r>
            <a:r>
              <a:rPr lang="en-US" altLang="en-US" sz="2000" dirty="0" err="1"/>
              <a:t>để</a:t>
            </a:r>
            <a:r>
              <a:rPr lang="en-US" altLang="en-US" sz="2000" dirty="0"/>
              <a:t> </a:t>
            </a:r>
            <a:r>
              <a:rPr lang="en-US" altLang="en-US" sz="2000" dirty="0" err="1"/>
              <a:t>có</a:t>
            </a:r>
            <a:r>
              <a:rPr lang="en-US" altLang="en-US" sz="2000" dirty="0"/>
              <a:t> </a:t>
            </a:r>
            <a:r>
              <a:rPr lang="en-US" altLang="en-US" sz="2000" dirty="0" err="1"/>
              <a:t>thể</a:t>
            </a:r>
            <a:r>
              <a:rPr lang="en-US" altLang="en-US" sz="2000" dirty="0"/>
              <a:t> </a:t>
            </a:r>
            <a:r>
              <a:rPr lang="en-US" altLang="en-US" sz="2000" dirty="0" err="1"/>
              <a:t>giải</a:t>
            </a:r>
            <a:r>
              <a:rPr lang="en-US" altLang="en-US" sz="2000" dirty="0"/>
              <a:t> </a:t>
            </a:r>
            <a:r>
              <a:rPr lang="en-US" altLang="en-US" sz="2000" dirty="0" err="1"/>
              <a:t>trực</a:t>
            </a:r>
            <a:r>
              <a:rPr lang="en-US" altLang="en-US" sz="2000" dirty="0"/>
              <a:t> </a:t>
            </a:r>
            <a:r>
              <a:rPr lang="en-US" altLang="en-US" sz="2000" dirty="0" err="1"/>
              <a:t>tiếp</a:t>
            </a:r>
            <a:endParaRPr lang="en-US" altLang="en-US" sz="2000" dirty="0"/>
          </a:p>
          <a:p>
            <a:pPr lvl="1"/>
            <a:r>
              <a:rPr lang="en-US" altLang="en-US" sz="2000" dirty="0" err="1"/>
              <a:t>Kết</a:t>
            </a:r>
            <a:r>
              <a:rPr lang="en-US" altLang="en-US" sz="2000" dirty="0"/>
              <a:t> </a:t>
            </a:r>
            <a:r>
              <a:rPr lang="en-US" altLang="en-US" sz="2000" dirty="0" err="1"/>
              <a:t>quả</a:t>
            </a:r>
            <a:r>
              <a:rPr lang="en-US" altLang="en-US" sz="2000" dirty="0"/>
              <a:t> </a:t>
            </a:r>
            <a:r>
              <a:rPr lang="en-US" altLang="en-US" sz="2000" dirty="0" err="1"/>
              <a:t>phân</a:t>
            </a:r>
            <a:r>
              <a:rPr lang="en-US" altLang="en-US" sz="2000" dirty="0"/>
              <a:t> chia </a:t>
            </a:r>
            <a:r>
              <a:rPr lang="en-US" altLang="en-US" sz="2000" dirty="0" err="1"/>
              <a:t>này</a:t>
            </a:r>
            <a:r>
              <a:rPr lang="en-US" altLang="en-US" sz="2000" dirty="0"/>
              <a:t> </a:t>
            </a:r>
            <a:r>
              <a:rPr lang="en-US" altLang="en-US" sz="2000" dirty="0" err="1"/>
              <a:t>sẽ</a:t>
            </a:r>
            <a:r>
              <a:rPr lang="en-US" altLang="en-US" sz="2000" dirty="0"/>
              <a:t> </a:t>
            </a:r>
            <a:r>
              <a:rPr lang="en-US" altLang="en-US" sz="2000" dirty="0" err="1"/>
              <a:t>tạo</a:t>
            </a:r>
            <a:r>
              <a:rPr lang="en-US" altLang="en-US" sz="2000" dirty="0"/>
              <a:t> </a:t>
            </a:r>
            <a:r>
              <a:rPr lang="en-US" altLang="en-US" sz="2000" dirty="0" err="1"/>
              <a:t>ra</a:t>
            </a:r>
            <a:r>
              <a:rPr lang="en-US" altLang="en-US" sz="2000" dirty="0"/>
              <a:t> </a:t>
            </a:r>
            <a:r>
              <a:rPr lang="en-US" altLang="en-US" sz="2000" dirty="0" err="1"/>
              <a:t>một</a:t>
            </a:r>
            <a:r>
              <a:rPr lang="en-US" altLang="en-US" sz="2000" dirty="0"/>
              <a:t> </a:t>
            </a:r>
            <a:r>
              <a:rPr lang="en-US" altLang="en-US" sz="2000" i="1" dirty="0" err="1"/>
              <a:t>sơ</a:t>
            </a:r>
            <a:r>
              <a:rPr lang="en-US" altLang="en-US" sz="2000" i="1" dirty="0"/>
              <a:t> </a:t>
            </a:r>
            <a:r>
              <a:rPr lang="en-US" altLang="en-US" sz="2000" i="1" dirty="0" err="1"/>
              <a:t>đồ</a:t>
            </a:r>
            <a:r>
              <a:rPr lang="en-US" altLang="en-US" sz="2000" i="1" dirty="0"/>
              <a:t> </a:t>
            </a:r>
            <a:r>
              <a:rPr lang="en-US" altLang="en-US" sz="2000" i="1" dirty="0" err="1"/>
              <a:t>phân</a:t>
            </a:r>
            <a:r>
              <a:rPr lang="en-US" altLang="en-US" sz="2000" i="1" dirty="0"/>
              <a:t> </a:t>
            </a:r>
            <a:r>
              <a:rPr lang="en-US" altLang="en-US" sz="2000" i="1" dirty="0" err="1"/>
              <a:t>cấp</a:t>
            </a:r>
            <a:r>
              <a:rPr lang="en-US" altLang="en-US" sz="2000" i="1" dirty="0"/>
              <a:t> </a:t>
            </a:r>
            <a:r>
              <a:rPr lang="en-US" altLang="en-US" sz="2000" i="1" dirty="0" err="1"/>
              <a:t>chức</a:t>
            </a:r>
            <a:r>
              <a:rPr lang="en-US" altLang="en-US" sz="2000" i="1" dirty="0"/>
              <a:t> </a:t>
            </a:r>
            <a:r>
              <a:rPr lang="en-US" altLang="en-US" sz="2000" i="1" dirty="0" err="1"/>
              <a:t>năng</a:t>
            </a:r>
            <a:r>
              <a:rPr lang="en-US" altLang="en-US" sz="2000" dirty="0"/>
              <a:t> </a:t>
            </a:r>
          </a:p>
          <a:p>
            <a:r>
              <a:rPr lang="en-US" altLang="en-US" sz="2400" dirty="0" err="1"/>
              <a:t>Nên</a:t>
            </a:r>
            <a:r>
              <a:rPr lang="en-US" altLang="en-US" sz="2400" dirty="0"/>
              <a:t> </a:t>
            </a:r>
            <a:r>
              <a:rPr lang="en-US" altLang="en-US" sz="2400" dirty="0" err="1"/>
              <a:t>dùng</a:t>
            </a:r>
            <a:r>
              <a:rPr lang="en-US" altLang="en-US" sz="2400" dirty="0"/>
              <a:t> </a:t>
            </a:r>
            <a:r>
              <a:rPr lang="en-US" altLang="en-US" sz="2400" dirty="0" err="1"/>
              <a:t>khi</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ban </a:t>
            </a:r>
            <a:r>
              <a:rPr lang="en-US" altLang="en-US" sz="2400" dirty="0" err="1"/>
              <a:t>đầu</a:t>
            </a:r>
            <a:r>
              <a:rPr lang="en-US" altLang="en-US" sz="2400" dirty="0"/>
              <a:t> </a:t>
            </a:r>
            <a:r>
              <a:rPr lang="en-US" altLang="en-US" sz="2400" dirty="0" err="1"/>
              <a:t>quá</a:t>
            </a:r>
            <a:r>
              <a:rPr lang="en-US" altLang="en-US" sz="2400" dirty="0"/>
              <a:t> </a:t>
            </a:r>
            <a:r>
              <a:rPr lang="en-US" altLang="en-US" sz="2400" dirty="0" err="1"/>
              <a:t>dài</a:t>
            </a:r>
            <a:r>
              <a:rPr lang="en-US" altLang="en-US" sz="2400" dirty="0"/>
              <a:t>, </a:t>
            </a:r>
            <a:r>
              <a:rPr lang="en-US" altLang="en-US" sz="2400" dirty="0" err="1"/>
              <a:t>phức</a:t>
            </a:r>
            <a:r>
              <a:rPr lang="en-US" altLang="en-US" sz="2400" dirty="0"/>
              <a:t> </a:t>
            </a:r>
            <a:r>
              <a:rPr lang="en-US" altLang="en-US" sz="2400" dirty="0" err="1"/>
              <a:t>tạp</a:t>
            </a:r>
            <a:r>
              <a:rPr lang="en-US" altLang="en-US" sz="2400" dirty="0"/>
              <a:t>; </a:t>
            </a:r>
            <a:r>
              <a:rPr lang="en-US" altLang="en-US" sz="2400" dirty="0" err="1"/>
              <a:t>có</a:t>
            </a:r>
            <a:r>
              <a:rPr lang="en-US" altLang="en-US" sz="2400" dirty="0"/>
              <a:t> </a:t>
            </a:r>
            <a:r>
              <a:rPr lang="en-US" altLang="en-US" sz="2400" dirty="0" err="1"/>
              <a:t>một</a:t>
            </a:r>
            <a:r>
              <a:rPr lang="en-US" altLang="en-US" sz="2400" dirty="0"/>
              <a:t> </a:t>
            </a:r>
            <a:r>
              <a:rPr lang="en-US" altLang="en-US" sz="2400" dirty="0" err="1"/>
              <a:t>số</a:t>
            </a:r>
            <a:r>
              <a:rPr lang="en-US" altLang="en-US" sz="2400" dirty="0"/>
              <a:t> </a:t>
            </a:r>
            <a:r>
              <a:rPr lang="en-US" altLang="en-US" sz="2400" dirty="0" err="1"/>
              <a:t>chức</a:t>
            </a:r>
            <a:r>
              <a:rPr lang="en-US" altLang="en-US" sz="2400" dirty="0"/>
              <a:t> </a:t>
            </a:r>
            <a:r>
              <a:rPr lang="en-US" altLang="en-US" sz="2400" dirty="0" err="1"/>
              <a:t>năng</a:t>
            </a:r>
            <a:r>
              <a:rPr lang="en-US" altLang="en-US" sz="2400" dirty="0"/>
              <a:t> </a:t>
            </a:r>
            <a:r>
              <a:rPr lang="en-US" altLang="en-US" sz="2400" dirty="0" err="1"/>
              <a:t>độc</a:t>
            </a:r>
            <a:r>
              <a:rPr lang="en-US" altLang="en-US" sz="2400" dirty="0"/>
              <a:t> </a:t>
            </a:r>
            <a:r>
              <a:rPr lang="en-US" altLang="en-US" sz="2400" dirty="0" err="1"/>
              <a:t>lập</a:t>
            </a:r>
            <a:r>
              <a:rPr lang="en-US" altLang="en-US" sz="2400" dirty="0"/>
              <a:t> </a:t>
            </a:r>
            <a:r>
              <a:rPr lang="en-US" altLang="en-US" sz="2400" dirty="0" err="1"/>
              <a:t>có</a:t>
            </a:r>
            <a:r>
              <a:rPr lang="en-US" altLang="en-US" sz="2400" dirty="0"/>
              <a:t> </a:t>
            </a:r>
            <a:r>
              <a:rPr lang="en-US" altLang="en-US" sz="2400" dirty="0" err="1"/>
              <a:t>thể</a:t>
            </a:r>
            <a:r>
              <a:rPr lang="en-US" altLang="en-US" sz="2400" dirty="0"/>
              <a:t> </a:t>
            </a:r>
            <a:r>
              <a:rPr lang="en-US" altLang="en-US" sz="2400" dirty="0" err="1"/>
              <a:t>tách</a:t>
            </a:r>
            <a:r>
              <a:rPr lang="en-US" altLang="en-US" sz="2400" dirty="0"/>
              <a:t> </a:t>
            </a:r>
            <a:r>
              <a:rPr lang="en-US" altLang="en-US" sz="2400" dirty="0" err="1"/>
              <a:t>nhỏ</a:t>
            </a:r>
            <a:r>
              <a:rPr lang="en-US" altLang="en-US" sz="2400" dirty="0"/>
              <a:t>. </a:t>
            </a:r>
          </a:p>
          <a:p>
            <a:r>
              <a:rPr lang="en-US" altLang="en-US" sz="2400" u="sng" dirty="0" err="1"/>
              <a:t>Lưu</a:t>
            </a:r>
            <a:r>
              <a:rPr lang="en-US" altLang="en-US" sz="2400" u="sng" dirty="0"/>
              <a:t> ý</a:t>
            </a:r>
            <a:r>
              <a:rPr lang="en-US" altLang="en-US" sz="2400" dirty="0"/>
              <a:t>: </a:t>
            </a:r>
            <a:r>
              <a:rPr lang="en-US" altLang="en-US" sz="2400" dirty="0" err="1"/>
              <a:t>điểm</a:t>
            </a:r>
            <a:r>
              <a:rPr lang="en-US" altLang="en-US" sz="2400" dirty="0"/>
              <a:t> </a:t>
            </a:r>
            <a:r>
              <a:rPr lang="en-US" altLang="en-US" sz="2400" dirty="0" err="1"/>
              <a:t>dừng</a:t>
            </a:r>
            <a:r>
              <a:rPr lang="en-US" altLang="en-US" sz="2400" dirty="0"/>
              <a:t> </a:t>
            </a:r>
            <a:r>
              <a:rPr lang="en-US" altLang="en-US" sz="2400" dirty="0" err="1"/>
              <a:t>phân</a:t>
            </a:r>
            <a:r>
              <a:rPr lang="en-US" altLang="en-US" sz="2400" dirty="0"/>
              <a:t> chia</a:t>
            </a:r>
          </a:p>
          <a:p>
            <a:endParaRPr lang="en-US" sz="2400" dirty="0"/>
          </a:p>
        </p:txBody>
      </p:sp>
    </p:spTree>
    <p:extLst>
      <p:ext uri="{BB962C8B-B14F-4D97-AF65-F5344CB8AC3E}">
        <p14:creationId xmlns:p14="http://schemas.microsoft.com/office/powerpoint/2010/main" val="159976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8</a:t>
            </a:fld>
            <a:endParaRPr lang="en-US"/>
          </a:p>
        </p:txBody>
      </p:sp>
      <p:sp>
        <p:nvSpPr>
          <p:cNvPr id="2" name="Title 1"/>
          <p:cNvSpPr>
            <a:spLocks noGrp="1"/>
          </p:cNvSpPr>
          <p:nvPr>
            <p:ph type="title"/>
          </p:nvPr>
        </p:nvSpPr>
        <p:spPr/>
        <p:txBody>
          <a:bodyPr/>
          <a:lstStyle/>
          <a:p>
            <a:r>
              <a:rPr lang="en-US" altLang="en-US" dirty="0" err="1"/>
              <a:t>Sơ</a:t>
            </a:r>
            <a:r>
              <a:rPr lang="en-US" altLang="en-US" dirty="0"/>
              <a:t> </a:t>
            </a:r>
            <a:r>
              <a:rPr lang="en-US" altLang="en-US" dirty="0" err="1"/>
              <a:t>đồ</a:t>
            </a:r>
            <a:r>
              <a:rPr lang="en-US" altLang="en-US" dirty="0"/>
              <a:t> </a:t>
            </a:r>
            <a:r>
              <a:rPr lang="en-US" altLang="en-US" dirty="0" err="1"/>
              <a:t>phân</a:t>
            </a:r>
            <a:r>
              <a:rPr lang="en-US" altLang="en-US" dirty="0"/>
              <a:t> </a:t>
            </a:r>
            <a:r>
              <a:rPr lang="en-US" altLang="en-US" dirty="0" err="1"/>
              <a:t>cấp</a:t>
            </a:r>
            <a:r>
              <a:rPr lang="en-US" altLang="en-US" dirty="0"/>
              <a:t> </a:t>
            </a:r>
            <a:r>
              <a:rPr lang="en-US" altLang="en-US" dirty="0" err="1"/>
              <a:t>chức</a:t>
            </a:r>
            <a:r>
              <a:rPr lang="en-US" altLang="en-US" dirty="0"/>
              <a:t> </a:t>
            </a:r>
            <a:r>
              <a:rPr lang="en-US" altLang="en-US" dirty="0" err="1"/>
              <a:t>năng</a:t>
            </a:r>
            <a:endParaRPr lang="en-US" dirty="0"/>
          </a:p>
        </p:txBody>
      </p:sp>
      <p:sp>
        <p:nvSpPr>
          <p:cNvPr id="10" name="Text Placeholder 9"/>
          <p:cNvSpPr>
            <a:spLocks noGrp="1"/>
          </p:cNvSpPr>
          <p:nvPr>
            <p:ph type="body" sz="quarter" idx="13"/>
          </p:nvPr>
        </p:nvSpPr>
        <p:spPr/>
        <p:txBody>
          <a:bodyPr/>
          <a:lstStyle/>
          <a:p>
            <a:endParaRPr lang="en-US"/>
          </a:p>
        </p:txBody>
      </p:sp>
      <p:sp>
        <p:nvSpPr>
          <p:cNvPr id="6" name="Rectangle 4"/>
          <p:cNvSpPr>
            <a:spLocks noChangeArrowheads="1"/>
          </p:cNvSpPr>
          <p:nvPr/>
        </p:nvSpPr>
        <p:spPr bwMode="auto">
          <a:xfrm>
            <a:off x="4211472" y="4103895"/>
            <a:ext cx="1905000" cy="457200"/>
          </a:xfrm>
          <a:prstGeom prst="rect">
            <a:avLst/>
          </a:prstGeom>
          <a:solidFill>
            <a:srgbClr val="CC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2000" dirty="0" err="1"/>
              <a:t>Sắp</a:t>
            </a:r>
            <a:r>
              <a:rPr lang="en-US" sz="2000" dirty="0"/>
              <a:t> </a:t>
            </a:r>
            <a:r>
              <a:rPr lang="en-US" sz="2000" dirty="0" err="1"/>
              <a:t>xếp</a:t>
            </a:r>
            <a:r>
              <a:rPr lang="en-US" sz="2000" dirty="0"/>
              <a:t> </a:t>
            </a:r>
            <a:r>
              <a:rPr lang="en-US" sz="2000" dirty="0" err="1"/>
              <a:t>dãy</a:t>
            </a:r>
            <a:r>
              <a:rPr lang="en-US" sz="2000" dirty="0"/>
              <a:t> </a:t>
            </a:r>
            <a:r>
              <a:rPr lang="en-US" sz="2000" dirty="0" err="1"/>
              <a:t>số</a:t>
            </a:r>
            <a:endParaRPr lang="en-US" altLang="en-US" sz="2000" dirty="0"/>
          </a:p>
        </p:txBody>
      </p:sp>
      <p:sp>
        <p:nvSpPr>
          <p:cNvPr id="7" name="Rectangle 5"/>
          <p:cNvSpPr>
            <a:spLocks noChangeArrowheads="1"/>
          </p:cNvSpPr>
          <p:nvPr/>
        </p:nvSpPr>
        <p:spPr bwMode="auto">
          <a:xfrm>
            <a:off x="934872" y="5170695"/>
            <a:ext cx="2590800" cy="457200"/>
          </a:xfrm>
          <a:prstGeom prst="rect">
            <a:avLst/>
          </a:prstGeom>
          <a:solidFill>
            <a:srgbClr val="CC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2000" dirty="0" err="1"/>
              <a:t>Nhập</a:t>
            </a:r>
            <a:r>
              <a:rPr lang="en-US" sz="2000" dirty="0"/>
              <a:t> </a:t>
            </a:r>
            <a:r>
              <a:rPr lang="en-US" sz="2000" dirty="0" err="1"/>
              <a:t>dữ</a:t>
            </a:r>
            <a:r>
              <a:rPr lang="en-US" sz="2000" dirty="0"/>
              <a:t> </a:t>
            </a:r>
            <a:r>
              <a:rPr lang="en-US" sz="2000" dirty="0" err="1"/>
              <a:t>liệu</a:t>
            </a:r>
            <a:r>
              <a:rPr lang="en-US" sz="2000" dirty="0"/>
              <a:t> </a:t>
            </a:r>
            <a:r>
              <a:rPr lang="en-US" sz="2000" dirty="0" err="1"/>
              <a:t>cho</a:t>
            </a:r>
            <a:r>
              <a:rPr lang="en-US" sz="2000" dirty="0"/>
              <a:t> </a:t>
            </a:r>
            <a:r>
              <a:rPr lang="en-US" sz="2000" dirty="0" err="1"/>
              <a:t>dãy</a:t>
            </a:r>
            <a:endParaRPr lang="en-US" altLang="en-US" sz="2000" dirty="0"/>
          </a:p>
        </p:txBody>
      </p:sp>
      <p:sp>
        <p:nvSpPr>
          <p:cNvPr id="8" name="Rectangle 6"/>
          <p:cNvSpPr>
            <a:spLocks noChangeArrowheads="1"/>
          </p:cNvSpPr>
          <p:nvPr/>
        </p:nvSpPr>
        <p:spPr bwMode="auto">
          <a:xfrm>
            <a:off x="3805072" y="5178043"/>
            <a:ext cx="2590800" cy="685800"/>
          </a:xfrm>
          <a:prstGeom prst="rect">
            <a:avLst/>
          </a:prstGeom>
          <a:solidFill>
            <a:srgbClr val="CC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2000" dirty="0" err="1"/>
              <a:t>Sắp</a:t>
            </a:r>
            <a:r>
              <a:rPr lang="en-US" sz="2000" dirty="0"/>
              <a:t> </a:t>
            </a:r>
            <a:r>
              <a:rPr lang="en-US" sz="2000" dirty="0" err="1"/>
              <a:t>xếp</a:t>
            </a:r>
            <a:r>
              <a:rPr lang="en-US" sz="2000" dirty="0"/>
              <a:t> </a:t>
            </a:r>
            <a:r>
              <a:rPr lang="en-US" sz="2000" dirty="0" err="1"/>
              <a:t>lại</a:t>
            </a:r>
            <a:r>
              <a:rPr lang="en-US" sz="2000" dirty="0"/>
              <a:t> </a:t>
            </a:r>
            <a:r>
              <a:rPr lang="en-US" sz="2000" dirty="0" err="1"/>
              <a:t>trật</a:t>
            </a:r>
            <a:r>
              <a:rPr lang="en-US" sz="2000" dirty="0"/>
              <a:t> </a:t>
            </a:r>
            <a:r>
              <a:rPr lang="en-US" sz="2000" dirty="0" err="1"/>
              <a:t>tự</a:t>
            </a:r>
            <a:r>
              <a:rPr lang="en-US" sz="2000" dirty="0"/>
              <a:t> </a:t>
            </a:r>
            <a:br>
              <a:rPr lang="en-US" sz="2000" dirty="0"/>
            </a:br>
            <a:r>
              <a:rPr lang="en-US" sz="2000" dirty="0" err="1"/>
              <a:t>các</a:t>
            </a:r>
            <a:r>
              <a:rPr lang="en-US" sz="2000" dirty="0"/>
              <a:t> </a:t>
            </a:r>
            <a:r>
              <a:rPr lang="en-US" sz="2000" dirty="0" err="1"/>
              <a:t>phần</a:t>
            </a:r>
            <a:r>
              <a:rPr lang="en-US" sz="2000" dirty="0"/>
              <a:t> </a:t>
            </a:r>
            <a:r>
              <a:rPr lang="en-US" sz="2000" dirty="0" err="1"/>
              <a:t>tử</a:t>
            </a:r>
            <a:endParaRPr lang="en-US" altLang="en-US" sz="2000" dirty="0"/>
          </a:p>
        </p:txBody>
      </p:sp>
      <p:sp>
        <p:nvSpPr>
          <p:cNvPr id="9" name="Rectangle 7"/>
          <p:cNvSpPr>
            <a:spLocks noChangeArrowheads="1"/>
          </p:cNvSpPr>
          <p:nvPr/>
        </p:nvSpPr>
        <p:spPr bwMode="auto">
          <a:xfrm>
            <a:off x="6934200" y="5170695"/>
            <a:ext cx="1773072" cy="457200"/>
          </a:xfrm>
          <a:prstGeom prst="rect">
            <a:avLst/>
          </a:prstGeom>
          <a:solidFill>
            <a:srgbClr val="CC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2000" dirty="0" err="1"/>
              <a:t>Trả</a:t>
            </a:r>
            <a:r>
              <a:rPr lang="en-US" sz="2000" dirty="0"/>
              <a:t> </a:t>
            </a:r>
            <a:r>
              <a:rPr lang="en-US" sz="2000" dirty="0" err="1"/>
              <a:t>về</a:t>
            </a:r>
            <a:r>
              <a:rPr lang="en-US" sz="2000" dirty="0"/>
              <a:t> </a:t>
            </a:r>
            <a:r>
              <a:rPr lang="en-US" sz="2000" dirty="0" err="1"/>
              <a:t>kết</a:t>
            </a:r>
            <a:r>
              <a:rPr lang="en-US" sz="2000" dirty="0"/>
              <a:t> </a:t>
            </a:r>
            <a:r>
              <a:rPr lang="en-US" sz="2000" dirty="0" err="1"/>
              <a:t>quả</a:t>
            </a:r>
            <a:endParaRPr lang="en-US" altLang="en-US" sz="2000" dirty="0"/>
          </a:p>
        </p:txBody>
      </p:sp>
      <p:sp>
        <p:nvSpPr>
          <p:cNvPr id="15" name="Line 14"/>
          <p:cNvSpPr>
            <a:spLocks noChangeShapeType="1"/>
          </p:cNvSpPr>
          <p:nvPr/>
        </p:nvSpPr>
        <p:spPr bwMode="auto">
          <a:xfrm flipH="1">
            <a:off x="2611272" y="4561095"/>
            <a:ext cx="2514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 name="Line 15"/>
          <p:cNvSpPr>
            <a:spLocks noChangeShapeType="1"/>
          </p:cNvSpPr>
          <p:nvPr/>
        </p:nvSpPr>
        <p:spPr bwMode="auto">
          <a:xfrm>
            <a:off x="5125872" y="4561095"/>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 name="Line 16"/>
          <p:cNvSpPr>
            <a:spLocks noChangeShapeType="1"/>
          </p:cNvSpPr>
          <p:nvPr/>
        </p:nvSpPr>
        <p:spPr bwMode="auto">
          <a:xfrm>
            <a:off x="5125872" y="4561095"/>
            <a:ext cx="2590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3" name="Picture 2"/>
          <p:cNvPicPr>
            <a:picLocks noChangeAspect="1"/>
          </p:cNvPicPr>
          <p:nvPr/>
        </p:nvPicPr>
        <p:blipFill rotWithShape="1">
          <a:blip r:embed="rId2"/>
          <a:srcRect r="16637"/>
          <a:stretch/>
        </p:blipFill>
        <p:spPr>
          <a:xfrm>
            <a:off x="343194" y="1509242"/>
            <a:ext cx="5829006" cy="1886213"/>
          </a:xfrm>
          <a:prstGeom prst="rect">
            <a:avLst/>
          </a:prstGeom>
        </p:spPr>
      </p:pic>
    </p:spTree>
    <p:extLst>
      <p:ext uri="{BB962C8B-B14F-4D97-AF65-F5344CB8AC3E}">
        <p14:creationId xmlns:p14="http://schemas.microsoft.com/office/powerpoint/2010/main" val="89709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5"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9</a:t>
            </a:fld>
            <a:endParaRPr lang="en-US"/>
          </a:p>
        </p:txBody>
      </p:sp>
      <p:sp>
        <p:nvSpPr>
          <p:cNvPr id="2" name="Title 1"/>
          <p:cNvSpPr>
            <a:spLocks noGrp="1"/>
          </p:cNvSpPr>
          <p:nvPr>
            <p:ph type="title"/>
          </p:nvPr>
        </p:nvSpPr>
        <p:spPr/>
        <p:txBody>
          <a:bodyPr/>
          <a:lstStyle/>
          <a:p>
            <a:r>
              <a:rPr lang="en-US" altLang="en-US" dirty="0"/>
              <a:t>4.1.2. </a:t>
            </a:r>
            <a:r>
              <a:rPr lang="en-US" altLang="en-US" sz="2000" dirty="0" err="1"/>
              <a:t>Thiết</a:t>
            </a:r>
            <a:r>
              <a:rPr lang="en-US" altLang="en-US" sz="2000" dirty="0"/>
              <a:t> </a:t>
            </a:r>
            <a:r>
              <a:rPr lang="en-US" altLang="en-US" sz="2000" dirty="0" err="1"/>
              <a:t>kế</a:t>
            </a:r>
            <a:r>
              <a:rPr lang="en-US" altLang="en-US" sz="2000" dirty="0"/>
              <a:t> chi </a:t>
            </a:r>
            <a:r>
              <a:rPr lang="en-US" altLang="en-US" sz="2000" dirty="0" err="1"/>
              <a:t>tiết</a:t>
            </a:r>
            <a:r>
              <a:rPr lang="en-US" altLang="en-US" sz="2000" dirty="0"/>
              <a:t> - </a:t>
            </a:r>
            <a:r>
              <a:rPr lang="en-US" altLang="en-US" dirty="0" err="1"/>
              <a:t>Phương</a:t>
            </a:r>
            <a:r>
              <a:rPr lang="en-US" altLang="en-US" dirty="0"/>
              <a:t> </a:t>
            </a:r>
            <a:r>
              <a:rPr lang="en-US" altLang="en-US" dirty="0" err="1"/>
              <a:t>pháp</a:t>
            </a:r>
            <a:r>
              <a:rPr lang="en-US" altLang="en-US" dirty="0"/>
              <a:t> </a:t>
            </a:r>
            <a:r>
              <a:rPr lang="en-US" altLang="en-US" dirty="0" err="1"/>
              <a:t>tinh</a:t>
            </a:r>
            <a:r>
              <a:rPr lang="en-US" altLang="en-US" dirty="0"/>
              <a:t> </a:t>
            </a:r>
            <a:r>
              <a:rPr lang="en-US" altLang="en-US" dirty="0" err="1"/>
              <a:t>chỉnh</a:t>
            </a:r>
            <a:r>
              <a:rPr lang="en-US" altLang="en-US" dirty="0"/>
              <a:t> </a:t>
            </a:r>
            <a:r>
              <a:rPr lang="en-US" altLang="en-US" dirty="0" err="1"/>
              <a:t>từng</a:t>
            </a:r>
            <a:r>
              <a:rPr lang="en-US" altLang="en-US" dirty="0"/>
              <a:t> </a:t>
            </a:r>
            <a:r>
              <a:rPr lang="en-US" altLang="en-US" dirty="0" err="1"/>
              <a:t>bước</a:t>
            </a:r>
            <a:r>
              <a:rPr lang="en-US" altLang="en-US" dirty="0"/>
              <a:t> </a:t>
            </a:r>
            <a:endParaRPr lang="en-US" dirty="0"/>
          </a:p>
        </p:txBody>
      </p:sp>
      <p:sp>
        <p:nvSpPr>
          <p:cNvPr id="3" name="Content Placeholder 2"/>
          <p:cNvSpPr>
            <a:spLocks noGrp="1"/>
          </p:cNvSpPr>
          <p:nvPr>
            <p:ph type="body" sz="quarter" idx="13"/>
          </p:nvPr>
        </p:nvSpPr>
        <p:spPr/>
        <p:txBody>
          <a:bodyPr/>
          <a:lstStyle/>
          <a:p>
            <a:pPr lvl="0">
              <a:lnSpc>
                <a:spcPct val="90000"/>
              </a:lnSpc>
              <a:buClr>
                <a:srgbClr val="727CA3"/>
              </a:buClr>
            </a:pPr>
            <a:r>
              <a:rPr lang="en-US" sz="2400" dirty="0"/>
              <a:t>Hai </a:t>
            </a:r>
            <a:r>
              <a:rPr lang="en-US" sz="2400" dirty="0" err="1"/>
              <a:t>nguyên</a:t>
            </a:r>
            <a:r>
              <a:rPr lang="en-US" sz="2400" dirty="0"/>
              <a:t> </a:t>
            </a:r>
            <a:r>
              <a:rPr lang="en-US" sz="2400" dirty="0" err="1"/>
              <a:t>tắc</a:t>
            </a:r>
            <a:r>
              <a:rPr lang="en-US" sz="2400" dirty="0"/>
              <a:t> </a:t>
            </a:r>
            <a:r>
              <a:rPr lang="en-US" sz="2400" dirty="0" err="1"/>
              <a:t>lựa</a:t>
            </a:r>
            <a:r>
              <a:rPr lang="en-US" sz="2400" dirty="0"/>
              <a:t> </a:t>
            </a:r>
            <a:r>
              <a:rPr lang="en-US" sz="2400" dirty="0" err="1"/>
              <a:t>chọn</a:t>
            </a:r>
            <a:r>
              <a:rPr lang="en-US" sz="2400" dirty="0"/>
              <a:t> </a:t>
            </a:r>
            <a:r>
              <a:rPr lang="en-US" sz="2400" dirty="0" err="1"/>
              <a:t>ngôn</a:t>
            </a:r>
            <a:r>
              <a:rPr lang="en-US" sz="2400" dirty="0"/>
              <a:t> </a:t>
            </a:r>
            <a:r>
              <a:rPr lang="en-US" sz="2400" dirty="0" err="1"/>
              <a:t>ngữ</a:t>
            </a:r>
            <a:r>
              <a:rPr lang="en-US" sz="2400" dirty="0"/>
              <a:t> </a:t>
            </a:r>
            <a:r>
              <a:rPr lang="en-US" sz="2400" dirty="0" err="1"/>
              <a:t>diễn</a:t>
            </a:r>
            <a:r>
              <a:rPr lang="en-US" sz="2400" dirty="0"/>
              <a:t> </a:t>
            </a:r>
            <a:r>
              <a:rPr lang="en-US" sz="2400" dirty="0" err="1"/>
              <a:t>đạt</a:t>
            </a:r>
            <a:r>
              <a:rPr lang="en-US" sz="2400" dirty="0"/>
              <a:t> </a:t>
            </a:r>
            <a:r>
              <a:rPr lang="en-US" sz="2400" dirty="0" err="1"/>
              <a:t>giải</a:t>
            </a:r>
            <a:r>
              <a:rPr lang="en-US" sz="2400" dirty="0"/>
              <a:t> </a:t>
            </a:r>
            <a:r>
              <a:rPr lang="en-US" sz="2400" dirty="0" err="1"/>
              <a:t>thuật</a:t>
            </a:r>
            <a:r>
              <a:rPr lang="en-US" sz="2400" dirty="0"/>
              <a:t> t</a:t>
            </a:r>
            <a:r>
              <a:rPr lang="vi-VN" sz="2400" dirty="0"/>
              <a:t>hường mâu thuẫn, khó có ngôn ngữ nào mà có thể thỏa mãn được cả hai.</a:t>
            </a:r>
            <a:endParaRPr lang="en-US" altLang="en-US" sz="2400" dirty="0"/>
          </a:p>
          <a:p>
            <a:pPr lvl="0">
              <a:lnSpc>
                <a:spcPct val="90000"/>
              </a:lnSpc>
              <a:buClr>
                <a:srgbClr val="727CA3"/>
              </a:buClr>
            </a:pPr>
            <a:r>
              <a:rPr lang="en-US" altLang="en-US" sz="2400" i="1" dirty="0" err="1"/>
              <a:t>Phương</a:t>
            </a:r>
            <a:r>
              <a:rPr lang="en-US" altLang="en-US" sz="2400" i="1" dirty="0"/>
              <a:t> </a:t>
            </a:r>
            <a:r>
              <a:rPr lang="en-US" altLang="en-US" sz="2400" i="1" dirty="0" err="1"/>
              <a:t>pháp</a:t>
            </a:r>
            <a:r>
              <a:rPr lang="en-US" altLang="en-US" sz="2400" i="1" dirty="0"/>
              <a:t> </a:t>
            </a:r>
            <a:r>
              <a:rPr lang="vi-VN" altLang="en-US" sz="2400" i="1" dirty="0"/>
              <a:t>tinh chỉnh từng bước</a:t>
            </a:r>
            <a:r>
              <a:rPr lang="en-US" altLang="en-US" sz="2400" dirty="0"/>
              <a:t>: </a:t>
            </a:r>
            <a:r>
              <a:rPr lang="en-US" altLang="en-US" sz="2400" dirty="0" err="1"/>
              <a:t>chuyển</a:t>
            </a:r>
            <a:r>
              <a:rPr lang="en-US" altLang="en-US" sz="2400" dirty="0"/>
              <a:t> </a:t>
            </a:r>
            <a:r>
              <a:rPr lang="en-US" altLang="en-US" sz="2400" dirty="0" err="1"/>
              <a:t>đổi</a:t>
            </a:r>
            <a:r>
              <a:rPr lang="en-US" altLang="en-US" sz="2400" dirty="0"/>
              <a:t> </a:t>
            </a:r>
            <a:r>
              <a:rPr lang="en-US" altLang="en-US" sz="2400" dirty="0" err="1"/>
              <a:t>từ</a:t>
            </a:r>
            <a:r>
              <a:rPr lang="en-US" altLang="en-US" sz="2400" dirty="0"/>
              <a:t> </a:t>
            </a:r>
            <a:r>
              <a:rPr lang="en-US" altLang="en-US" sz="2400" dirty="0" err="1"/>
              <a:t>đặc</a:t>
            </a:r>
            <a:r>
              <a:rPr lang="en-US" altLang="en-US" sz="2400" dirty="0"/>
              <a:t> </a:t>
            </a:r>
            <a:r>
              <a:rPr lang="en-US" altLang="en-US" sz="2400" dirty="0" err="1"/>
              <a:t>tả</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bằng</a:t>
            </a:r>
            <a:r>
              <a:rPr lang="en-US" altLang="en-US" sz="2400" dirty="0"/>
              <a:t> </a:t>
            </a:r>
            <a:r>
              <a:rPr lang="en-US" altLang="en-US" sz="2400" dirty="0" err="1"/>
              <a:t>ngôn</a:t>
            </a:r>
            <a:r>
              <a:rPr lang="en-US" altLang="en-US" sz="2400" dirty="0"/>
              <a:t> </a:t>
            </a:r>
            <a:r>
              <a:rPr lang="en-US" altLang="en-US" sz="2400" dirty="0" err="1"/>
              <a:t>ngữ</a:t>
            </a:r>
            <a:r>
              <a:rPr lang="en-US" altLang="en-US" sz="2400" dirty="0"/>
              <a:t> </a:t>
            </a:r>
            <a:r>
              <a:rPr lang="en-US" altLang="en-US" sz="2400" dirty="0" err="1"/>
              <a:t>tự</a:t>
            </a:r>
            <a:r>
              <a:rPr lang="en-US" altLang="en-US" sz="2400" dirty="0"/>
              <a:t> </a:t>
            </a:r>
            <a:r>
              <a:rPr lang="en-US" altLang="en-US" sz="2400" dirty="0" err="1"/>
              <a:t>nhiên</a:t>
            </a:r>
            <a:r>
              <a:rPr lang="en-US" altLang="en-US" sz="2400" dirty="0"/>
              <a:t> hay </a:t>
            </a:r>
            <a:r>
              <a:rPr lang="en-US" altLang="en-US" sz="2400" dirty="0" err="1"/>
              <a:t>lưu</a:t>
            </a:r>
            <a:r>
              <a:rPr lang="en-US" altLang="en-US" sz="2400" dirty="0"/>
              <a:t> </a:t>
            </a:r>
            <a:r>
              <a:rPr lang="en-US" altLang="en-US" sz="2400" dirty="0" err="1"/>
              <a:t>đồ</a:t>
            </a:r>
            <a:r>
              <a:rPr lang="en-US" altLang="en-US" sz="2400" dirty="0"/>
              <a:t> sang </a:t>
            </a:r>
            <a:r>
              <a:rPr lang="en-US" altLang="en-US" sz="2400" dirty="0" err="1"/>
              <a:t>một</a:t>
            </a:r>
            <a:r>
              <a:rPr lang="en-US" altLang="en-US" sz="2400" dirty="0"/>
              <a:t> </a:t>
            </a:r>
            <a:r>
              <a:rPr lang="en-US" altLang="en-US" sz="2400" dirty="0" err="1"/>
              <a:t>đặc</a:t>
            </a:r>
            <a:r>
              <a:rPr lang="en-US" altLang="en-US" sz="2400" dirty="0"/>
              <a:t> </a:t>
            </a:r>
            <a:r>
              <a:rPr lang="en-US" altLang="en-US" sz="2400" dirty="0" err="1"/>
              <a:t>tả</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bằng</a:t>
            </a:r>
            <a:r>
              <a:rPr lang="en-US" altLang="en-US" sz="2400" dirty="0"/>
              <a:t> </a:t>
            </a:r>
            <a:r>
              <a:rPr lang="en-US" altLang="en-US" sz="2400" dirty="0" err="1"/>
              <a:t>một</a:t>
            </a:r>
            <a:r>
              <a:rPr lang="en-US" altLang="en-US" sz="2400" dirty="0"/>
              <a:t> </a:t>
            </a:r>
            <a:r>
              <a:rPr lang="en-US" altLang="en-US" sz="2400" dirty="0" err="1"/>
              <a:t>ngôn</a:t>
            </a:r>
            <a:r>
              <a:rPr lang="en-US" altLang="en-US" sz="2400" dirty="0"/>
              <a:t> </a:t>
            </a:r>
            <a:r>
              <a:rPr lang="en-US" altLang="en-US" sz="2400" dirty="0" err="1"/>
              <a:t>ngữ</a:t>
            </a:r>
            <a:r>
              <a:rPr lang="en-US" altLang="en-US" sz="2400" dirty="0"/>
              <a:t> </a:t>
            </a:r>
            <a:r>
              <a:rPr lang="en-US" altLang="en-US" sz="2400" dirty="0" err="1"/>
              <a:t>lập</a:t>
            </a:r>
            <a:r>
              <a:rPr lang="en-US" altLang="en-US" sz="2400" dirty="0"/>
              <a:t> </a:t>
            </a:r>
            <a:r>
              <a:rPr lang="en-US" altLang="en-US" sz="2400" dirty="0" err="1"/>
              <a:t>trình</a:t>
            </a:r>
            <a:r>
              <a:rPr lang="en-US" altLang="en-US" sz="2400" dirty="0"/>
              <a:t> </a:t>
            </a:r>
            <a:r>
              <a:rPr lang="en-US" altLang="en-US" sz="2400" dirty="0" err="1"/>
              <a:t>cụ</a:t>
            </a:r>
            <a:r>
              <a:rPr lang="en-US" altLang="en-US" sz="2400" dirty="0"/>
              <a:t> </a:t>
            </a:r>
            <a:r>
              <a:rPr lang="en-US" altLang="en-US" sz="2400" dirty="0" err="1"/>
              <a:t>thể</a:t>
            </a:r>
            <a:r>
              <a:rPr lang="en-US" altLang="en-US" sz="2400" dirty="0"/>
              <a:t>. </a:t>
            </a:r>
          </a:p>
          <a:p>
            <a:pPr lvl="1">
              <a:lnSpc>
                <a:spcPct val="90000"/>
              </a:lnSpc>
              <a:buClr>
                <a:srgbClr val="727CA3"/>
              </a:buClr>
            </a:pPr>
            <a:r>
              <a:rPr lang="en-US" altLang="en-US" sz="2400" dirty="0" err="1"/>
              <a:t>Quá</a:t>
            </a:r>
            <a:r>
              <a:rPr lang="en-US" altLang="en-US" sz="2400" dirty="0"/>
              <a:t> </a:t>
            </a:r>
            <a:r>
              <a:rPr lang="en-US" altLang="en-US" sz="2400" dirty="0" err="1"/>
              <a:t>trình</a:t>
            </a:r>
            <a:r>
              <a:rPr lang="en-US" altLang="en-US" sz="2400" dirty="0"/>
              <a:t> </a:t>
            </a:r>
            <a:r>
              <a:rPr lang="en-US" altLang="en-US" sz="2400" dirty="0" err="1"/>
              <a:t>chuyển</a:t>
            </a:r>
            <a:r>
              <a:rPr lang="en-US" altLang="en-US" sz="2400" dirty="0"/>
              <a:t> </a:t>
            </a:r>
            <a:r>
              <a:rPr lang="en-US" altLang="en-US" sz="2400" dirty="0" err="1"/>
              <a:t>đổi</a:t>
            </a:r>
            <a:r>
              <a:rPr lang="en-US" altLang="en-US" sz="2400" dirty="0"/>
              <a:t> </a:t>
            </a:r>
            <a:r>
              <a:rPr lang="en-US" altLang="en-US" sz="2400" dirty="0" err="1"/>
              <a:t>này</a:t>
            </a:r>
            <a:r>
              <a:rPr lang="en-US" altLang="en-US" sz="2400" dirty="0"/>
              <a:t> </a:t>
            </a:r>
            <a:r>
              <a:rPr lang="en-US" altLang="en-US" sz="2400" dirty="0" err="1"/>
              <a:t>gồm</a:t>
            </a:r>
            <a:r>
              <a:rPr lang="en-US" altLang="en-US" sz="2400" dirty="0"/>
              <a:t> </a:t>
            </a:r>
            <a:r>
              <a:rPr lang="en-US" altLang="en-US" sz="2400" dirty="0" err="1"/>
              <a:t>nhiều</a:t>
            </a:r>
            <a:r>
              <a:rPr lang="en-US" altLang="en-US" sz="2400" dirty="0"/>
              <a:t> </a:t>
            </a:r>
            <a:r>
              <a:rPr lang="en-US" altLang="en-US" sz="2400" dirty="0" err="1"/>
              <a:t>bước</a:t>
            </a:r>
            <a:endParaRPr lang="en-US" altLang="en-US" sz="2400" dirty="0"/>
          </a:p>
          <a:p>
            <a:pPr lvl="1">
              <a:lnSpc>
                <a:spcPct val="90000"/>
              </a:lnSpc>
              <a:buClr>
                <a:srgbClr val="727CA3"/>
              </a:buClr>
            </a:pPr>
            <a:r>
              <a:rPr lang="en-US" altLang="en-US" sz="2400" dirty="0" err="1"/>
              <a:t>Mỗi</a:t>
            </a:r>
            <a:r>
              <a:rPr lang="en-US" altLang="en-US" sz="2400" dirty="0"/>
              <a:t> </a:t>
            </a:r>
            <a:r>
              <a:rPr lang="en-US" altLang="en-US" sz="2400" dirty="0" err="1"/>
              <a:t>bước</a:t>
            </a:r>
            <a:r>
              <a:rPr lang="en-US" altLang="en-US" sz="2400" dirty="0"/>
              <a:t> </a:t>
            </a:r>
            <a:r>
              <a:rPr lang="en-US" altLang="en-US" sz="2400" dirty="0" err="1"/>
              <a:t>là</a:t>
            </a:r>
            <a:r>
              <a:rPr lang="en-US" altLang="en-US" sz="2400" dirty="0"/>
              <a:t> </a:t>
            </a:r>
            <a:r>
              <a:rPr lang="en-US" altLang="en-US" sz="2400" dirty="0" err="1"/>
              <a:t>một</a:t>
            </a:r>
            <a:r>
              <a:rPr lang="en-US" altLang="en-US" sz="2400" dirty="0"/>
              <a:t> </a:t>
            </a:r>
            <a:r>
              <a:rPr lang="en-US" altLang="en-US" sz="2400" dirty="0" err="1"/>
              <a:t>đặc</a:t>
            </a:r>
            <a:r>
              <a:rPr lang="en-US" altLang="en-US" sz="2400" dirty="0"/>
              <a:t> </a:t>
            </a:r>
            <a:r>
              <a:rPr lang="en-US" altLang="en-US" sz="2400" dirty="0" err="1"/>
              <a:t>tả</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p>
          <a:p>
            <a:endParaRPr lang="en-US" dirty="0"/>
          </a:p>
        </p:txBody>
      </p:sp>
    </p:spTree>
    <p:extLst>
      <p:ext uri="{BB962C8B-B14F-4D97-AF65-F5344CB8AC3E}">
        <p14:creationId xmlns:p14="http://schemas.microsoft.com/office/powerpoint/2010/main" val="299223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10</a:t>
            </a:fld>
            <a:endParaRPr lang="en-US"/>
          </a:p>
        </p:txBody>
      </p:sp>
      <p:sp>
        <p:nvSpPr>
          <p:cNvPr id="2" name="Title 1"/>
          <p:cNvSpPr>
            <a:spLocks noGrp="1"/>
          </p:cNvSpPr>
          <p:nvPr>
            <p:ph type="title"/>
          </p:nvPr>
        </p:nvSpPr>
        <p:spPr/>
        <p:txBody>
          <a:bodyPr/>
          <a:lstStyle/>
          <a:p>
            <a:r>
              <a:rPr lang="en-US" altLang="en-US" dirty="0" err="1"/>
              <a:t>Phương</a:t>
            </a:r>
            <a:r>
              <a:rPr lang="en-US" altLang="en-US" dirty="0"/>
              <a:t> </a:t>
            </a:r>
            <a:r>
              <a:rPr lang="en-US" altLang="en-US" dirty="0" err="1"/>
              <a:t>pháp</a:t>
            </a:r>
            <a:r>
              <a:rPr lang="en-US" altLang="en-US" dirty="0"/>
              <a:t> </a:t>
            </a:r>
            <a:r>
              <a:rPr lang="en-US" altLang="en-US" dirty="0" err="1"/>
              <a:t>tinh</a:t>
            </a:r>
            <a:r>
              <a:rPr lang="en-US" altLang="en-US" dirty="0"/>
              <a:t> </a:t>
            </a:r>
            <a:r>
              <a:rPr lang="en-US" altLang="en-US" dirty="0" err="1"/>
              <a:t>chỉnh</a:t>
            </a:r>
            <a:r>
              <a:rPr lang="en-US" altLang="en-US" dirty="0"/>
              <a:t> </a:t>
            </a:r>
            <a:r>
              <a:rPr lang="en-US" altLang="en-US" dirty="0" err="1"/>
              <a:t>từng</a:t>
            </a:r>
            <a:r>
              <a:rPr lang="en-US" altLang="en-US" dirty="0"/>
              <a:t> </a:t>
            </a:r>
            <a:r>
              <a:rPr lang="en-US" altLang="en-US" dirty="0" err="1"/>
              <a:t>bước</a:t>
            </a:r>
            <a:r>
              <a:rPr lang="en-US" altLang="en-US" dirty="0"/>
              <a:t> </a:t>
            </a:r>
            <a:endParaRPr lang="en-US" dirty="0"/>
          </a:p>
        </p:txBody>
      </p:sp>
      <p:sp>
        <p:nvSpPr>
          <p:cNvPr id="3" name="Content Placeholder 2"/>
          <p:cNvSpPr>
            <a:spLocks noGrp="1"/>
          </p:cNvSpPr>
          <p:nvPr>
            <p:ph type="body" sz="quarter" idx="13"/>
          </p:nvPr>
        </p:nvSpPr>
        <p:spPr/>
        <p:txBody>
          <a:bodyPr/>
          <a:lstStyle/>
          <a:p>
            <a:pPr lvl="0">
              <a:lnSpc>
                <a:spcPct val="90000"/>
              </a:lnSpc>
              <a:buClr>
                <a:srgbClr val="727CA3"/>
              </a:buClr>
            </a:pPr>
            <a:r>
              <a:rPr lang="en-US" altLang="en-US" sz="2400" dirty="0" err="1"/>
              <a:t>Nguyên</a:t>
            </a:r>
            <a:r>
              <a:rPr lang="en-US" altLang="en-US" sz="2400" dirty="0"/>
              <a:t> </a:t>
            </a:r>
            <a:r>
              <a:rPr lang="en-US" altLang="en-US" sz="2400" dirty="0" err="1"/>
              <a:t>tắc</a:t>
            </a:r>
            <a:r>
              <a:rPr lang="en-US" altLang="en-US" sz="2400" dirty="0"/>
              <a:t>:</a:t>
            </a:r>
          </a:p>
          <a:p>
            <a:pPr lvl="1">
              <a:lnSpc>
                <a:spcPct val="90000"/>
              </a:lnSpc>
              <a:buClr>
                <a:srgbClr val="727CA3"/>
              </a:buClr>
            </a:pPr>
            <a:r>
              <a:rPr lang="en-US" altLang="en-US" sz="2400" dirty="0" err="1"/>
              <a:t>Trong</a:t>
            </a:r>
            <a:r>
              <a:rPr lang="en-US" altLang="en-US" sz="2400" dirty="0"/>
              <a:t> </a:t>
            </a:r>
            <a:r>
              <a:rPr lang="en-US" altLang="en-US" sz="2400" dirty="0" err="1"/>
              <a:t>bước</a:t>
            </a:r>
            <a:r>
              <a:rPr lang="en-US" altLang="en-US" sz="2400" dirty="0"/>
              <a:t> </a:t>
            </a:r>
            <a:r>
              <a:rPr lang="en-US" altLang="en-US" sz="2400" dirty="0" err="1"/>
              <a:t>đầu</a:t>
            </a:r>
            <a:r>
              <a:rPr lang="en-US" altLang="en-US" sz="2400" dirty="0"/>
              <a:t> </a:t>
            </a:r>
            <a:r>
              <a:rPr lang="en-US" altLang="en-US" sz="2400" dirty="0" err="1"/>
              <a:t>tiên</a:t>
            </a:r>
            <a:r>
              <a:rPr lang="en-US" altLang="en-US" sz="2400" dirty="0"/>
              <a:t>, ta </a:t>
            </a:r>
            <a:r>
              <a:rPr lang="en-US" altLang="en-US" sz="2400" dirty="0" err="1"/>
              <a:t>có</a:t>
            </a:r>
            <a:r>
              <a:rPr lang="en-US" altLang="en-US" sz="2400" dirty="0"/>
              <a:t> </a:t>
            </a:r>
            <a:r>
              <a:rPr lang="en-US" altLang="en-US" sz="2400" dirty="0" err="1"/>
              <a:t>đặc</a:t>
            </a:r>
            <a:r>
              <a:rPr lang="en-US" altLang="en-US" sz="2400" dirty="0"/>
              <a:t> </a:t>
            </a:r>
            <a:r>
              <a:rPr lang="en-US" altLang="en-US" sz="2400" dirty="0" err="1"/>
              <a:t>tả</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bằng</a:t>
            </a:r>
            <a:r>
              <a:rPr lang="en-US" altLang="en-US" sz="2400" dirty="0"/>
              <a:t> </a:t>
            </a:r>
            <a:r>
              <a:rPr lang="en-US" altLang="en-US" sz="2400" dirty="0" err="1"/>
              <a:t>ngôn</a:t>
            </a:r>
            <a:r>
              <a:rPr lang="en-US" altLang="en-US" sz="2400" dirty="0"/>
              <a:t> </a:t>
            </a:r>
            <a:r>
              <a:rPr lang="en-US" altLang="en-US" sz="2400" dirty="0" err="1"/>
              <a:t>ngữ</a:t>
            </a:r>
            <a:r>
              <a:rPr lang="en-US" altLang="en-US" sz="2400" dirty="0"/>
              <a:t> </a:t>
            </a:r>
            <a:r>
              <a:rPr lang="en-US" altLang="en-US" sz="2400" dirty="0" err="1"/>
              <a:t>tự</a:t>
            </a:r>
            <a:r>
              <a:rPr lang="en-US" altLang="en-US" sz="2400" dirty="0"/>
              <a:t> </a:t>
            </a:r>
            <a:r>
              <a:rPr lang="en-US" altLang="en-US" sz="2400" dirty="0" err="1"/>
              <a:t>nhiên</a:t>
            </a:r>
            <a:r>
              <a:rPr lang="en-US" altLang="en-US" sz="2400" dirty="0"/>
              <a:t> hay </a:t>
            </a:r>
            <a:r>
              <a:rPr lang="en-US" altLang="en-US" sz="2400" dirty="0" err="1"/>
              <a:t>lưu</a:t>
            </a:r>
            <a:r>
              <a:rPr lang="en-US" altLang="en-US" sz="2400" dirty="0"/>
              <a:t> </a:t>
            </a:r>
            <a:r>
              <a:rPr lang="en-US" altLang="en-US" sz="2400" dirty="0" err="1"/>
              <a:t>đồ</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p>
          <a:p>
            <a:pPr lvl="1">
              <a:lnSpc>
                <a:spcPct val="90000"/>
              </a:lnSpc>
              <a:buClr>
                <a:srgbClr val="727CA3"/>
              </a:buClr>
            </a:pPr>
            <a:r>
              <a:rPr lang="en-US" altLang="en-US" sz="2400" dirty="0" err="1"/>
              <a:t>Trong</a:t>
            </a:r>
            <a:r>
              <a:rPr lang="en-US" altLang="en-US" sz="2400" dirty="0"/>
              <a:t> </a:t>
            </a:r>
            <a:r>
              <a:rPr lang="en-US" altLang="en-US" sz="2400" dirty="0" err="1"/>
              <a:t>các</a:t>
            </a:r>
            <a:r>
              <a:rPr lang="en-US" altLang="en-US" sz="2400" dirty="0"/>
              <a:t> </a:t>
            </a:r>
            <a:r>
              <a:rPr lang="en-US" altLang="en-US" sz="2400" dirty="0" err="1"/>
              <a:t>bước</a:t>
            </a:r>
            <a:r>
              <a:rPr lang="en-US" altLang="en-US" sz="2400" dirty="0"/>
              <a:t> </a:t>
            </a:r>
            <a:r>
              <a:rPr lang="en-US" altLang="en-US" sz="2400" dirty="0" err="1"/>
              <a:t>sau</a:t>
            </a:r>
            <a:r>
              <a:rPr lang="en-US" altLang="en-US" sz="2400" dirty="0"/>
              <a:t>, </a:t>
            </a:r>
            <a:r>
              <a:rPr lang="en-US" altLang="en-US" sz="2400" dirty="0" err="1"/>
              <a:t>tiến</a:t>
            </a:r>
            <a:r>
              <a:rPr lang="en-US" altLang="en-US" sz="2400" dirty="0"/>
              <a:t> </a:t>
            </a:r>
            <a:r>
              <a:rPr lang="en-US" altLang="en-US" sz="2400" dirty="0" err="1"/>
              <a:t>hành</a:t>
            </a:r>
            <a:r>
              <a:rPr lang="en-US" altLang="en-US" sz="2400" dirty="0"/>
              <a:t> </a:t>
            </a:r>
            <a:r>
              <a:rPr lang="en-US" altLang="en-US" sz="2400" dirty="0" err="1"/>
              <a:t>thay</a:t>
            </a:r>
            <a:r>
              <a:rPr lang="en-US" altLang="en-US" sz="2400" dirty="0"/>
              <a:t> </a:t>
            </a:r>
            <a:r>
              <a:rPr lang="en-US" altLang="en-US" sz="2400" dirty="0" err="1"/>
              <a:t>thế</a:t>
            </a:r>
            <a:r>
              <a:rPr lang="en-US" altLang="en-US" sz="2400" dirty="0"/>
              <a:t> </a:t>
            </a:r>
            <a:r>
              <a:rPr lang="en-US" altLang="en-US" sz="2400" dirty="0" err="1"/>
              <a:t>dần</a:t>
            </a:r>
            <a:r>
              <a:rPr lang="en-US" altLang="en-US" sz="2400" dirty="0"/>
              <a:t> </a:t>
            </a:r>
            <a:r>
              <a:rPr lang="en-US" altLang="en-US" sz="2400" dirty="0" err="1"/>
              <a:t>dần</a:t>
            </a:r>
            <a:r>
              <a:rPr lang="en-US" altLang="en-US" sz="2400" dirty="0"/>
              <a:t> </a:t>
            </a:r>
            <a:r>
              <a:rPr lang="en-US" altLang="en-US" sz="2400" dirty="0" err="1"/>
              <a:t>các</a:t>
            </a:r>
            <a:r>
              <a:rPr lang="en-US" altLang="en-US" sz="2400" dirty="0"/>
              <a:t> </a:t>
            </a:r>
            <a:r>
              <a:rPr lang="en-US" altLang="en-US" sz="2400" dirty="0" err="1"/>
              <a:t>thành</a:t>
            </a:r>
            <a:r>
              <a:rPr lang="en-US" altLang="en-US" sz="2400" dirty="0"/>
              <a:t> </a:t>
            </a:r>
            <a:r>
              <a:rPr lang="en-US" altLang="en-US" sz="2400" dirty="0" err="1"/>
              <a:t>phần</a:t>
            </a:r>
            <a:r>
              <a:rPr lang="en-US" altLang="en-US" sz="2400" dirty="0"/>
              <a:t> </a:t>
            </a:r>
            <a:r>
              <a:rPr lang="en-US" altLang="en-US" sz="2400" dirty="0" err="1"/>
              <a:t>được</a:t>
            </a:r>
            <a:r>
              <a:rPr lang="en-US" altLang="en-US" sz="2400" dirty="0"/>
              <a:t> </a:t>
            </a:r>
            <a:r>
              <a:rPr lang="en-US" altLang="en-US" sz="2400" dirty="0" err="1"/>
              <a:t>biểu</a:t>
            </a:r>
            <a:r>
              <a:rPr lang="en-US" altLang="en-US" sz="2400" dirty="0"/>
              <a:t> </a:t>
            </a:r>
            <a:r>
              <a:rPr lang="en-US" altLang="en-US" sz="2400" dirty="0" err="1"/>
              <a:t>diễn</a:t>
            </a:r>
            <a:r>
              <a:rPr lang="en-US" altLang="en-US" sz="2400" dirty="0"/>
              <a:t> </a:t>
            </a:r>
            <a:r>
              <a:rPr lang="en-US" altLang="en-US" sz="2400" dirty="0" err="1"/>
              <a:t>bằng</a:t>
            </a:r>
            <a:r>
              <a:rPr lang="en-US" altLang="en-US" sz="2400" dirty="0"/>
              <a:t> </a:t>
            </a:r>
            <a:r>
              <a:rPr lang="en-US" altLang="en-US" sz="2400" dirty="0" err="1"/>
              <a:t>ngôn</a:t>
            </a:r>
            <a:r>
              <a:rPr lang="en-US" altLang="en-US" sz="2400" dirty="0"/>
              <a:t> </a:t>
            </a:r>
            <a:r>
              <a:rPr lang="en-US" altLang="en-US" sz="2400" dirty="0" err="1"/>
              <a:t>ngữ</a:t>
            </a:r>
            <a:r>
              <a:rPr lang="en-US" altLang="en-US" sz="2400" dirty="0"/>
              <a:t> </a:t>
            </a:r>
            <a:r>
              <a:rPr lang="en-US" altLang="en-US" sz="2400" dirty="0" err="1"/>
              <a:t>tự</a:t>
            </a:r>
            <a:r>
              <a:rPr lang="en-US" altLang="en-US" sz="2400" dirty="0"/>
              <a:t> </a:t>
            </a:r>
            <a:r>
              <a:rPr lang="en-US" altLang="en-US" sz="2400" dirty="0" err="1"/>
              <a:t>nhiên</a:t>
            </a:r>
            <a:r>
              <a:rPr lang="en-US" altLang="en-US" sz="2400" dirty="0"/>
              <a:t> </a:t>
            </a:r>
            <a:r>
              <a:rPr lang="en-US" altLang="en-US" sz="2400" dirty="0" err="1"/>
              <a:t>của</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bằng</a:t>
            </a:r>
            <a:r>
              <a:rPr lang="en-US" altLang="en-US" sz="2400" dirty="0"/>
              <a:t> </a:t>
            </a:r>
            <a:r>
              <a:rPr lang="en-US" altLang="en-US" sz="2400" dirty="0" err="1"/>
              <a:t>các</a:t>
            </a:r>
            <a:r>
              <a:rPr lang="en-US" altLang="en-US" sz="2400" dirty="0"/>
              <a:t> </a:t>
            </a:r>
            <a:r>
              <a:rPr lang="en-US" altLang="en-US" sz="2400" dirty="0" err="1"/>
              <a:t>thành</a:t>
            </a:r>
            <a:r>
              <a:rPr lang="en-US" altLang="en-US" sz="2400" dirty="0"/>
              <a:t> </a:t>
            </a:r>
            <a:r>
              <a:rPr lang="en-US" altLang="en-US" sz="2400" dirty="0" err="1"/>
              <a:t>phần</a:t>
            </a:r>
            <a:r>
              <a:rPr lang="en-US" altLang="en-US" sz="2400" dirty="0"/>
              <a:t> </a:t>
            </a:r>
            <a:r>
              <a:rPr lang="en-US" altLang="en-US" sz="2400" dirty="0" err="1"/>
              <a:t>tương</a:t>
            </a:r>
            <a:r>
              <a:rPr lang="en-US" altLang="en-US" sz="2400" dirty="0"/>
              <a:t> </a:t>
            </a:r>
            <a:r>
              <a:rPr lang="en-US" altLang="en-US" sz="2400" dirty="0" err="1"/>
              <a:t>tự</a:t>
            </a:r>
            <a:r>
              <a:rPr lang="en-US" altLang="en-US" sz="2400" dirty="0"/>
              <a:t> </a:t>
            </a:r>
            <a:r>
              <a:rPr lang="en-US" altLang="en-US" sz="2400" dirty="0" err="1"/>
              <a:t>được</a:t>
            </a:r>
            <a:r>
              <a:rPr lang="en-US" altLang="en-US" sz="2400" dirty="0"/>
              <a:t> </a:t>
            </a:r>
            <a:r>
              <a:rPr lang="en-US" altLang="en-US" sz="2400" dirty="0" err="1"/>
              <a:t>biểu</a:t>
            </a:r>
            <a:r>
              <a:rPr lang="en-US" altLang="en-US" sz="2400" dirty="0"/>
              <a:t> </a:t>
            </a:r>
            <a:r>
              <a:rPr lang="en-US" altLang="en-US" sz="2400" dirty="0" err="1"/>
              <a:t>diễn</a:t>
            </a:r>
            <a:r>
              <a:rPr lang="en-US" altLang="en-US" sz="2400" dirty="0"/>
              <a:t> </a:t>
            </a:r>
            <a:r>
              <a:rPr lang="en-US" altLang="en-US" sz="2400" dirty="0" err="1"/>
              <a:t>bằng</a:t>
            </a:r>
            <a:r>
              <a:rPr lang="en-US" altLang="en-US" sz="2400" dirty="0"/>
              <a:t> </a:t>
            </a:r>
            <a:r>
              <a:rPr lang="en-US" altLang="en-US" sz="2400" dirty="0" err="1"/>
              <a:t>ngôn</a:t>
            </a:r>
            <a:r>
              <a:rPr lang="en-US" altLang="en-US" sz="2400" dirty="0"/>
              <a:t> </a:t>
            </a:r>
            <a:r>
              <a:rPr lang="en-US" altLang="en-US" sz="2400" dirty="0" err="1"/>
              <a:t>ngữ</a:t>
            </a:r>
            <a:r>
              <a:rPr lang="en-US" altLang="en-US" sz="2400" dirty="0"/>
              <a:t> </a:t>
            </a:r>
            <a:r>
              <a:rPr lang="en-US" altLang="en-US" sz="2400" dirty="0" err="1"/>
              <a:t>lập</a:t>
            </a:r>
            <a:r>
              <a:rPr lang="en-US" altLang="en-US" sz="2400" dirty="0"/>
              <a:t> </a:t>
            </a:r>
            <a:r>
              <a:rPr lang="en-US" altLang="en-US" sz="2400" dirty="0" err="1"/>
              <a:t>trình</a:t>
            </a:r>
            <a:r>
              <a:rPr lang="en-US" altLang="en-US" sz="2400" dirty="0"/>
              <a:t> </a:t>
            </a:r>
            <a:r>
              <a:rPr lang="en-US" altLang="en-US" sz="2400" dirty="0" err="1"/>
              <a:t>đã</a:t>
            </a:r>
            <a:r>
              <a:rPr lang="en-US" altLang="en-US" sz="2400" dirty="0"/>
              <a:t> </a:t>
            </a:r>
            <a:r>
              <a:rPr lang="en-US" altLang="en-US" sz="2400" dirty="0" err="1"/>
              <a:t>chọn</a:t>
            </a:r>
            <a:r>
              <a:rPr lang="en-US" altLang="en-US" sz="2400" dirty="0"/>
              <a:t>.</a:t>
            </a:r>
          </a:p>
          <a:p>
            <a:pPr lvl="1">
              <a:lnSpc>
                <a:spcPct val="90000"/>
              </a:lnSpc>
              <a:buClr>
                <a:srgbClr val="727CA3"/>
              </a:buClr>
            </a:pPr>
            <a:r>
              <a:rPr lang="en-US" altLang="en-US" sz="2400" dirty="0" err="1"/>
              <a:t>Lặp</a:t>
            </a:r>
            <a:r>
              <a:rPr lang="en-US" altLang="en-US" sz="2400" dirty="0"/>
              <a:t> </a:t>
            </a:r>
            <a:r>
              <a:rPr lang="en-US" altLang="en-US" sz="2400" dirty="0" err="1"/>
              <a:t>lại</a:t>
            </a:r>
            <a:r>
              <a:rPr lang="en-US" altLang="en-US" sz="2400" dirty="0"/>
              <a:t> </a:t>
            </a:r>
            <a:r>
              <a:rPr lang="en-US" altLang="en-US" sz="2400" dirty="0" err="1"/>
              <a:t>quá</a:t>
            </a:r>
            <a:r>
              <a:rPr lang="en-US" altLang="en-US" sz="2400" dirty="0"/>
              <a:t> </a:t>
            </a:r>
            <a:r>
              <a:rPr lang="en-US" altLang="en-US" sz="2400" dirty="0" err="1"/>
              <a:t>trình</a:t>
            </a:r>
            <a:r>
              <a:rPr lang="en-US" altLang="en-US" sz="2400" dirty="0"/>
              <a:t> </a:t>
            </a:r>
            <a:r>
              <a:rPr lang="en-US" altLang="en-US" sz="2400" dirty="0" err="1"/>
              <a:t>trên</a:t>
            </a:r>
            <a:r>
              <a:rPr lang="en-US" altLang="en-US" sz="2400" dirty="0"/>
              <a:t> </a:t>
            </a:r>
            <a:r>
              <a:rPr lang="en-US" altLang="en-US" sz="2400" dirty="0" err="1"/>
              <a:t>cho</a:t>
            </a:r>
            <a:r>
              <a:rPr lang="en-US" altLang="en-US" sz="2400" dirty="0"/>
              <a:t> </a:t>
            </a:r>
            <a:r>
              <a:rPr lang="en-US" altLang="en-US" sz="2400" dirty="0" err="1"/>
              <a:t>đến</a:t>
            </a:r>
            <a:r>
              <a:rPr lang="en-US" altLang="en-US" sz="2400" dirty="0"/>
              <a:t> </a:t>
            </a:r>
            <a:r>
              <a:rPr lang="en-US" altLang="en-US" sz="2400" dirty="0" err="1"/>
              <a:t>khi</a:t>
            </a:r>
            <a:r>
              <a:rPr lang="en-US" altLang="en-US" sz="2400" dirty="0"/>
              <a:t> </a:t>
            </a:r>
            <a:r>
              <a:rPr lang="en-US" altLang="en-US" sz="2400" dirty="0" err="1"/>
              <a:t>tạo</a:t>
            </a:r>
            <a:r>
              <a:rPr lang="en-US" altLang="en-US" sz="2400" dirty="0"/>
              <a:t> </a:t>
            </a:r>
            <a:r>
              <a:rPr lang="en-US" altLang="en-US" sz="2400" dirty="0" err="1"/>
              <a:t>ra</a:t>
            </a:r>
            <a:r>
              <a:rPr lang="en-US" altLang="en-US" sz="2400" dirty="0"/>
              <a:t> </a:t>
            </a:r>
            <a:r>
              <a:rPr lang="en-US" altLang="en-US" sz="2400" dirty="0" err="1"/>
              <a:t>một</a:t>
            </a:r>
            <a:r>
              <a:rPr lang="en-US" altLang="en-US" sz="2400" dirty="0"/>
              <a:t> </a:t>
            </a:r>
            <a:r>
              <a:rPr lang="en-US" altLang="en-US" sz="2400" dirty="0" err="1"/>
              <a:t>chương</a:t>
            </a:r>
            <a:r>
              <a:rPr lang="en-US" altLang="en-US" sz="2400" dirty="0"/>
              <a:t> </a:t>
            </a:r>
            <a:r>
              <a:rPr lang="en-US" altLang="en-US" sz="2400" dirty="0" err="1"/>
              <a:t>trình</a:t>
            </a:r>
            <a:r>
              <a:rPr lang="en-US" altLang="en-US" sz="2400" dirty="0"/>
              <a:t> </a:t>
            </a:r>
            <a:r>
              <a:rPr lang="en-US" altLang="en-US" sz="2400" dirty="0" err="1"/>
              <a:t>hoàn</a:t>
            </a:r>
            <a:r>
              <a:rPr lang="en-US" altLang="en-US" sz="2400" dirty="0"/>
              <a:t> </a:t>
            </a:r>
            <a:r>
              <a:rPr lang="en-US" altLang="en-US" sz="2400" dirty="0" err="1"/>
              <a:t>chỉnh</a:t>
            </a:r>
            <a:r>
              <a:rPr lang="en-US" altLang="en-US" sz="2400" dirty="0"/>
              <a:t> </a:t>
            </a:r>
            <a:r>
              <a:rPr lang="en-US" altLang="en-US" sz="2400" dirty="0" err="1"/>
              <a:t>có</a:t>
            </a:r>
            <a:r>
              <a:rPr lang="en-US" altLang="en-US" sz="2400" dirty="0"/>
              <a:t> </a:t>
            </a:r>
            <a:r>
              <a:rPr lang="en-US" altLang="en-US" sz="2400" dirty="0" err="1"/>
              <a:t>thể</a:t>
            </a:r>
            <a:r>
              <a:rPr lang="en-US" altLang="en-US" sz="2400" dirty="0"/>
              <a:t> </a:t>
            </a:r>
            <a:r>
              <a:rPr lang="en-US" altLang="en-US" sz="2400" dirty="0" err="1"/>
              <a:t>chạy</a:t>
            </a:r>
            <a:r>
              <a:rPr lang="en-US" altLang="en-US" sz="2400" dirty="0"/>
              <a:t> </a:t>
            </a:r>
            <a:r>
              <a:rPr lang="en-US" altLang="en-US" sz="2400" dirty="0" err="1"/>
              <a:t>được</a:t>
            </a:r>
            <a:r>
              <a:rPr lang="en-US" altLang="en-US" sz="2400" dirty="0"/>
              <a:t>, </a:t>
            </a:r>
            <a:r>
              <a:rPr lang="en-US" altLang="en-US" sz="2400" dirty="0" err="1"/>
              <a:t>thực</a:t>
            </a:r>
            <a:r>
              <a:rPr lang="en-US" altLang="en-US" sz="2400" dirty="0"/>
              <a:t> </a:t>
            </a:r>
            <a:r>
              <a:rPr lang="en-US" altLang="en-US" sz="2400" dirty="0" err="1"/>
              <a:t>hiện</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yêu</a:t>
            </a:r>
            <a:r>
              <a:rPr lang="en-US" altLang="en-US" sz="2400" dirty="0"/>
              <a:t> </a:t>
            </a:r>
            <a:r>
              <a:rPr lang="en-US" altLang="en-US" sz="2400" dirty="0" err="1"/>
              <a:t>cầu</a:t>
            </a:r>
            <a:r>
              <a:rPr lang="en-US" altLang="en-US" sz="2400" dirty="0"/>
              <a:t> </a:t>
            </a:r>
          </a:p>
          <a:p>
            <a:endParaRPr lang="en-US" dirty="0"/>
          </a:p>
        </p:txBody>
      </p:sp>
    </p:spTree>
    <p:extLst>
      <p:ext uri="{BB962C8B-B14F-4D97-AF65-F5344CB8AC3E}">
        <p14:creationId xmlns:p14="http://schemas.microsoft.com/office/powerpoint/2010/main" val="3183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11</a:t>
            </a:fld>
            <a:endParaRPr lang="en-US"/>
          </a:p>
        </p:txBody>
      </p:sp>
      <p:sp>
        <p:nvSpPr>
          <p:cNvPr id="2" name="Title 1"/>
          <p:cNvSpPr>
            <a:spLocks noGrp="1"/>
          </p:cNvSpPr>
          <p:nvPr>
            <p:ph type="title"/>
          </p:nvPr>
        </p:nvSpPr>
        <p:spPr/>
        <p:txBody>
          <a:bodyPr/>
          <a:lstStyle/>
          <a:p>
            <a:r>
              <a:rPr lang="en-US" altLang="en-US" dirty="0" err="1"/>
              <a:t>Phương</a:t>
            </a:r>
            <a:r>
              <a:rPr lang="en-US" altLang="en-US" dirty="0"/>
              <a:t> </a:t>
            </a:r>
            <a:r>
              <a:rPr lang="en-US" altLang="en-US" dirty="0" err="1"/>
              <a:t>pháp</a:t>
            </a:r>
            <a:r>
              <a:rPr lang="en-US" altLang="en-US" dirty="0"/>
              <a:t> </a:t>
            </a:r>
            <a:r>
              <a:rPr lang="en-US" altLang="en-US" dirty="0" err="1"/>
              <a:t>tinh</a:t>
            </a:r>
            <a:r>
              <a:rPr lang="en-US" altLang="en-US" dirty="0"/>
              <a:t> </a:t>
            </a:r>
            <a:r>
              <a:rPr lang="en-US" altLang="en-US" dirty="0" err="1"/>
              <a:t>chỉnh</a:t>
            </a:r>
            <a:r>
              <a:rPr lang="en-US" altLang="en-US" dirty="0"/>
              <a:t> </a:t>
            </a:r>
            <a:r>
              <a:rPr lang="en-US" altLang="en-US" dirty="0" err="1"/>
              <a:t>từng</a:t>
            </a:r>
            <a:r>
              <a:rPr lang="en-US" altLang="en-US" dirty="0"/>
              <a:t> </a:t>
            </a:r>
            <a:r>
              <a:rPr lang="en-US" altLang="en-US" dirty="0" err="1"/>
              <a:t>bước</a:t>
            </a:r>
            <a:r>
              <a:rPr lang="en-US" altLang="en-US" dirty="0"/>
              <a:t> </a:t>
            </a:r>
            <a:endParaRPr lang="en-US" dirty="0"/>
          </a:p>
        </p:txBody>
      </p:sp>
      <p:sp>
        <p:nvSpPr>
          <p:cNvPr id="3" name="Content Placeholder 2"/>
          <p:cNvSpPr>
            <a:spLocks noGrp="1"/>
          </p:cNvSpPr>
          <p:nvPr>
            <p:ph type="body" sz="quarter" idx="13"/>
          </p:nvPr>
        </p:nvSpPr>
        <p:spPr/>
        <p:txBody>
          <a:bodyPr/>
          <a:lstStyle/>
          <a:p>
            <a:pPr lvl="0">
              <a:lnSpc>
                <a:spcPct val="90000"/>
              </a:lnSpc>
              <a:buClr>
                <a:srgbClr val="727CA3"/>
              </a:buClr>
            </a:pPr>
            <a:r>
              <a:rPr lang="en-US" sz="2400" dirty="0"/>
              <a:t>C</a:t>
            </a:r>
            <a:r>
              <a:rPr lang="vi-VN" sz="2400" dirty="0"/>
              <a:t>ác bước chính</a:t>
            </a:r>
            <a:r>
              <a:rPr lang="en-US" altLang="en-US" sz="2400" dirty="0"/>
              <a:t>:</a:t>
            </a:r>
          </a:p>
          <a:p>
            <a:pPr lvl="1">
              <a:lnSpc>
                <a:spcPct val="90000"/>
              </a:lnSpc>
              <a:buClr>
                <a:srgbClr val="727CA3"/>
              </a:buClr>
            </a:pPr>
            <a:r>
              <a:rPr lang="vi-VN" sz="2000" dirty="0"/>
              <a:t>Bước 1: Chọn một ngôn ngữ lập trình thích hợp</a:t>
            </a:r>
            <a:r>
              <a:rPr lang="en-US" sz="2000" dirty="0"/>
              <a:t> (C)</a:t>
            </a:r>
          </a:p>
          <a:p>
            <a:pPr lvl="1">
              <a:lnSpc>
                <a:spcPct val="90000"/>
              </a:lnSpc>
              <a:buClr>
                <a:srgbClr val="727CA3"/>
              </a:buClr>
            </a:pPr>
            <a:r>
              <a:rPr lang="vi-VN" sz="2000" dirty="0"/>
              <a:t>Bước 2: </a:t>
            </a:r>
            <a:endParaRPr lang="en-US" sz="2000" dirty="0"/>
          </a:p>
          <a:p>
            <a:pPr lvl="2">
              <a:lnSpc>
                <a:spcPct val="90000"/>
              </a:lnSpc>
              <a:buClr>
                <a:srgbClr val="727CA3"/>
              </a:buClr>
            </a:pPr>
            <a:r>
              <a:rPr lang="en-US" sz="1800" dirty="0" err="1"/>
              <a:t>Tinh</a:t>
            </a:r>
            <a:r>
              <a:rPr lang="en-US" sz="1800" dirty="0"/>
              <a:t> </a:t>
            </a:r>
            <a:r>
              <a:rPr lang="en-US" sz="1800" dirty="0" err="1"/>
              <a:t>chỉnh</a:t>
            </a:r>
            <a:r>
              <a:rPr lang="en-US" sz="1800" dirty="0"/>
              <a:t> </a:t>
            </a:r>
            <a:r>
              <a:rPr lang="en-US" sz="1800" dirty="0" err="1"/>
              <a:t>dữ</a:t>
            </a:r>
            <a:r>
              <a:rPr lang="en-US" sz="1800" dirty="0"/>
              <a:t> </a:t>
            </a:r>
            <a:r>
              <a:rPr lang="en-US" sz="1800" dirty="0" err="1"/>
              <a:t>liệu</a:t>
            </a:r>
            <a:r>
              <a:rPr lang="en-US" sz="1800" dirty="0"/>
              <a:t>: </a:t>
            </a:r>
            <a:r>
              <a:rPr lang="vi-VN" sz="1800" dirty="0"/>
              <a:t>chuyển đổi dần </a:t>
            </a:r>
            <a:r>
              <a:rPr lang="en-US" sz="1800" dirty="0" err="1"/>
              <a:t>từ</a:t>
            </a:r>
            <a:r>
              <a:rPr lang="en-US" sz="1800" dirty="0"/>
              <a:t> </a:t>
            </a:r>
            <a:r>
              <a:rPr lang="vi-VN" sz="1800" dirty="0"/>
              <a:t>các thông tin của bài toán sang </a:t>
            </a:r>
            <a:r>
              <a:rPr lang="vi-VN" sz="1800" b="1" dirty="0"/>
              <a:t>các </a:t>
            </a:r>
            <a:r>
              <a:rPr lang="vi-VN" sz="1800" b="1" i="1" dirty="0"/>
              <a:t>cấu trúc dữ liệu </a:t>
            </a:r>
            <a:r>
              <a:rPr lang="vi-VN" sz="1800" dirty="0"/>
              <a:t>tương ứng, sau đó sang các </a:t>
            </a:r>
            <a:r>
              <a:rPr lang="vi-VN" sz="1800" b="1" i="1" dirty="0"/>
              <a:t>cấu trúc lưu trữ </a:t>
            </a:r>
            <a:r>
              <a:rPr lang="vi-VN" sz="1800" dirty="0"/>
              <a:t>thích hợp mà ngôn ngữ lập trình hỗ trợ</a:t>
            </a:r>
            <a:endParaRPr lang="en-US" sz="1800" dirty="0"/>
          </a:p>
          <a:p>
            <a:pPr lvl="2">
              <a:lnSpc>
                <a:spcPct val="90000"/>
              </a:lnSpc>
              <a:buClr>
                <a:srgbClr val="727CA3"/>
              </a:buClr>
            </a:pPr>
            <a:r>
              <a:rPr lang="en-US" sz="1800" dirty="0" err="1"/>
              <a:t>Tinh</a:t>
            </a:r>
            <a:r>
              <a:rPr lang="en-US" sz="1800" dirty="0"/>
              <a:t> </a:t>
            </a:r>
            <a:r>
              <a:rPr lang="en-US" sz="1800" dirty="0" err="1"/>
              <a:t>chỉnh</a:t>
            </a:r>
            <a:r>
              <a:rPr lang="en-US" sz="1800" dirty="0"/>
              <a:t> </a:t>
            </a:r>
            <a:r>
              <a:rPr lang="en-US" sz="1800" dirty="0" err="1"/>
              <a:t>thao</a:t>
            </a:r>
            <a:r>
              <a:rPr lang="en-US" sz="1800" dirty="0"/>
              <a:t> </a:t>
            </a:r>
            <a:r>
              <a:rPr lang="en-US" sz="1800" dirty="0" err="1"/>
              <a:t>tác</a:t>
            </a:r>
            <a:r>
              <a:rPr lang="en-US" sz="1800" dirty="0"/>
              <a:t>: </a:t>
            </a:r>
            <a:r>
              <a:rPr lang="vi-VN" sz="1800" dirty="0"/>
              <a:t>chuyển đổi dần từ mô tả các bước thực hiện trong giải thuật bằng ngôn ngữ tự nhiên sang các </a:t>
            </a:r>
            <a:r>
              <a:rPr lang="vi-VN" sz="1800" b="1" i="1" dirty="0"/>
              <a:t>lệnh</a:t>
            </a:r>
            <a:r>
              <a:rPr lang="vi-VN" sz="1800" dirty="0"/>
              <a:t> tương ứng của ngôn ngữ lập trình.</a:t>
            </a:r>
            <a:endParaRPr lang="en-US" sz="1800" dirty="0"/>
          </a:p>
          <a:p>
            <a:pPr lvl="2">
              <a:lnSpc>
                <a:spcPct val="90000"/>
              </a:lnSpc>
              <a:buClr>
                <a:srgbClr val="727CA3"/>
              </a:buClr>
            </a:pPr>
            <a:r>
              <a:rPr lang="vi-VN" sz="1800" dirty="0"/>
              <a:t>Hai quá trình thường được thực hiện một cách song song</a:t>
            </a:r>
            <a:endParaRPr lang="en-US" sz="1800" dirty="0"/>
          </a:p>
          <a:p>
            <a:pPr lvl="1">
              <a:lnSpc>
                <a:spcPct val="90000"/>
              </a:lnSpc>
              <a:buClr>
                <a:srgbClr val="727CA3"/>
              </a:buClr>
            </a:pPr>
            <a:r>
              <a:rPr lang="vi-VN" sz="2000" dirty="0"/>
              <a:t>Bước 2 được thực hiện nhiều lần cho đến khi thu được một chương trình hoàn chỉnh thực hiện giải thuật ban đầu</a:t>
            </a:r>
            <a:r>
              <a:rPr lang="en-US" sz="2000" dirty="0"/>
              <a:t>.</a:t>
            </a:r>
            <a:endParaRPr lang="vi-VN" sz="2000" dirty="0"/>
          </a:p>
        </p:txBody>
      </p:sp>
    </p:spTree>
    <p:extLst>
      <p:ext uri="{BB962C8B-B14F-4D97-AF65-F5344CB8AC3E}">
        <p14:creationId xmlns:p14="http://schemas.microsoft.com/office/powerpoint/2010/main" val="1199532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12</a:t>
            </a:fld>
            <a:endParaRPr lang="en-US"/>
          </a:p>
        </p:txBody>
      </p:sp>
      <p:sp>
        <p:nvSpPr>
          <p:cNvPr id="2" name="Title 1"/>
          <p:cNvSpPr>
            <a:spLocks noGrp="1"/>
          </p:cNvSpPr>
          <p:nvPr>
            <p:ph type="title"/>
          </p:nvPr>
        </p:nvSpPr>
        <p:spPr/>
        <p:txBody>
          <a:bodyPr>
            <a:normAutofit fontScale="90000"/>
          </a:bodyPr>
          <a:lstStyle/>
          <a:p>
            <a:r>
              <a:rPr lang="en-US" u="sng" dirty="0"/>
              <a:t>VÍ DỤ</a:t>
            </a:r>
            <a:br>
              <a:rPr lang="en-US" dirty="0"/>
            </a:br>
            <a:r>
              <a:rPr lang="en-US" dirty="0" err="1"/>
              <a:t>Bài</a:t>
            </a:r>
            <a:r>
              <a:rPr lang="en-US" dirty="0"/>
              <a:t> </a:t>
            </a:r>
            <a:r>
              <a:rPr lang="en-US" dirty="0" err="1"/>
              <a:t>toán</a:t>
            </a:r>
            <a:r>
              <a:rPr lang="en-US" dirty="0"/>
              <a:t> </a:t>
            </a:r>
            <a:r>
              <a:rPr lang="en-US" dirty="0" err="1"/>
              <a:t>sắp</a:t>
            </a:r>
            <a:r>
              <a:rPr lang="en-US" dirty="0"/>
              <a:t> </a:t>
            </a:r>
            <a:r>
              <a:rPr lang="en-US" dirty="0" err="1"/>
              <a:t>xếp</a:t>
            </a:r>
            <a:r>
              <a:rPr lang="en-US" dirty="0"/>
              <a:t> </a:t>
            </a:r>
            <a:r>
              <a:rPr lang="en-US" dirty="0" err="1"/>
              <a:t>một</a:t>
            </a:r>
            <a:r>
              <a:rPr lang="en-US" dirty="0"/>
              <a:t> </a:t>
            </a:r>
            <a:r>
              <a:rPr lang="en-US" dirty="0" err="1"/>
              <a:t>dãy</a:t>
            </a:r>
            <a:r>
              <a:rPr lang="en-US" dirty="0"/>
              <a:t> </a:t>
            </a:r>
            <a:r>
              <a:rPr lang="en-US" dirty="0" err="1"/>
              <a:t>số</a:t>
            </a:r>
            <a:r>
              <a:rPr lang="en-US" dirty="0"/>
              <a:t> </a:t>
            </a:r>
            <a:r>
              <a:rPr lang="en-US" dirty="0" err="1"/>
              <a:t>theo</a:t>
            </a:r>
            <a:r>
              <a:rPr lang="en-US" dirty="0"/>
              <a:t> </a:t>
            </a:r>
            <a:r>
              <a:rPr lang="en-US" dirty="0" err="1"/>
              <a:t>trật</a:t>
            </a:r>
            <a:r>
              <a:rPr lang="en-US" dirty="0"/>
              <a:t> </a:t>
            </a:r>
            <a:r>
              <a:rPr lang="en-US" dirty="0" err="1"/>
              <a:t>tự</a:t>
            </a:r>
            <a:r>
              <a:rPr lang="en-US" dirty="0"/>
              <a:t> </a:t>
            </a:r>
            <a:r>
              <a:rPr lang="en-US" dirty="0" err="1"/>
              <a:t>tăng</a:t>
            </a:r>
            <a:r>
              <a:rPr lang="en-US" dirty="0"/>
              <a:t> </a:t>
            </a:r>
            <a:r>
              <a:rPr lang="en-US" dirty="0" err="1"/>
              <a:t>dần</a:t>
            </a:r>
            <a:endParaRPr lang="en-US" dirty="0"/>
          </a:p>
        </p:txBody>
      </p:sp>
      <p:sp>
        <p:nvSpPr>
          <p:cNvPr id="3" name="Content Placeholder 2"/>
          <p:cNvSpPr>
            <a:spLocks noGrp="1"/>
          </p:cNvSpPr>
          <p:nvPr>
            <p:ph type="body" sz="quarter" idx="13"/>
          </p:nvPr>
        </p:nvSpPr>
        <p:spPr>
          <a:xfrm>
            <a:off x="234951" y="963168"/>
            <a:ext cx="4489449" cy="5132832"/>
          </a:xfrm>
        </p:spPr>
        <p:txBody>
          <a:bodyPr>
            <a:normAutofit/>
          </a:bodyPr>
          <a:lstStyle/>
          <a:p>
            <a:r>
              <a:rPr lang="vi-VN" sz="2400" dirty="0"/>
              <a:t>Nội dung cơ bản của </a:t>
            </a:r>
            <a:r>
              <a:rPr lang="en-US" sz="2400" dirty="0"/>
              <a:t>GT</a:t>
            </a:r>
          </a:p>
          <a:p>
            <a:pPr lvl="1"/>
            <a:r>
              <a:rPr lang="vi-VN" sz="2000" dirty="0"/>
              <a:t>Dữ liệu: </a:t>
            </a:r>
            <a:endParaRPr lang="en-US" sz="2000" dirty="0"/>
          </a:p>
          <a:p>
            <a:pPr lvl="2"/>
            <a:r>
              <a:rPr lang="vi-VN" sz="1800" dirty="0"/>
              <a:t>Đầu vào: một dãy </a:t>
            </a:r>
            <a:r>
              <a:rPr lang="vi-VN" sz="1800" i="1" dirty="0"/>
              <a:t>n</a:t>
            </a:r>
            <a:r>
              <a:rPr lang="vi-VN" sz="1800" dirty="0"/>
              <a:t> số </a:t>
            </a:r>
            <a:r>
              <a:rPr lang="vi-VN" sz="1800" i="1" dirty="0"/>
              <a:t>k</a:t>
            </a:r>
            <a:r>
              <a:rPr lang="vi-VN" sz="1800" i="1" baseline="-25000" dirty="0"/>
              <a:t>1</a:t>
            </a:r>
            <a:r>
              <a:rPr lang="vi-VN" sz="1800" i="1" dirty="0"/>
              <a:t>, k</a:t>
            </a:r>
            <a:r>
              <a:rPr lang="vi-VN" sz="1800" i="1" baseline="-25000" dirty="0"/>
              <a:t>2</a:t>
            </a:r>
            <a:r>
              <a:rPr lang="vi-VN" sz="1800" i="1" dirty="0"/>
              <a:t>, ..., k</a:t>
            </a:r>
            <a:r>
              <a:rPr lang="vi-VN" sz="1800" i="1" baseline="-25000" dirty="0"/>
              <a:t>n</a:t>
            </a:r>
            <a:r>
              <a:rPr lang="vi-VN" sz="1800" dirty="0"/>
              <a:t> hữu hạn </a:t>
            </a:r>
            <a:endParaRPr lang="en-US" sz="1800" dirty="0"/>
          </a:p>
          <a:p>
            <a:pPr lvl="2"/>
            <a:r>
              <a:rPr lang="vi-VN" sz="1800" dirty="0"/>
              <a:t>Đầu ra: một hoán vị của dãy ban đầu và được sắp xếp theo trật tự tăng dần. </a:t>
            </a:r>
            <a:endParaRPr lang="en-US" sz="1600" dirty="0"/>
          </a:p>
          <a:p>
            <a:pPr lvl="1"/>
            <a:r>
              <a:rPr lang="en-US" sz="2000" dirty="0"/>
              <a:t>Thao </a:t>
            </a:r>
            <a:r>
              <a:rPr lang="en-US" sz="2000" dirty="0" err="1"/>
              <a:t>tác</a:t>
            </a:r>
            <a:r>
              <a:rPr lang="en-US" sz="2000" dirty="0"/>
              <a:t>: </a:t>
            </a:r>
          </a:p>
          <a:p>
            <a:pPr lvl="2"/>
            <a:r>
              <a:rPr lang="en-US" sz="1800" dirty="0" err="1"/>
              <a:t>Nhập</a:t>
            </a:r>
            <a:r>
              <a:rPr lang="en-US" sz="1800" dirty="0"/>
              <a:t> </a:t>
            </a:r>
            <a:r>
              <a:rPr lang="en-US" sz="1800" dirty="0" err="1"/>
              <a:t>dãy</a:t>
            </a:r>
            <a:r>
              <a:rPr lang="en-US" sz="1800" dirty="0"/>
              <a:t> </a:t>
            </a:r>
            <a:r>
              <a:rPr lang="en-US" sz="1800" dirty="0" err="1"/>
              <a:t>vào</a:t>
            </a:r>
            <a:r>
              <a:rPr lang="en-US" sz="1800" dirty="0"/>
              <a:t>.</a:t>
            </a:r>
          </a:p>
          <a:p>
            <a:pPr lvl="2"/>
            <a:r>
              <a:rPr lang="en-US" sz="1800" dirty="0" err="1"/>
              <a:t>Sắp</a:t>
            </a:r>
            <a:r>
              <a:rPr lang="en-US" sz="1800" dirty="0"/>
              <a:t> </a:t>
            </a:r>
            <a:r>
              <a:rPr lang="en-US" sz="1800" dirty="0" err="1"/>
              <a:t>xếp</a:t>
            </a:r>
            <a:r>
              <a:rPr lang="en-US" sz="1800" dirty="0"/>
              <a:t> </a:t>
            </a:r>
            <a:r>
              <a:rPr lang="en-US" sz="1800" dirty="0" err="1"/>
              <a:t>dãy</a:t>
            </a:r>
            <a:r>
              <a:rPr lang="en-US" sz="1800" dirty="0"/>
              <a:t> </a:t>
            </a:r>
            <a:r>
              <a:rPr lang="en-US" sz="1800" dirty="0" err="1"/>
              <a:t>số</a:t>
            </a:r>
            <a:r>
              <a:rPr lang="en-US" sz="1800" dirty="0"/>
              <a:t> </a:t>
            </a:r>
            <a:r>
              <a:rPr lang="en-US" sz="1800" dirty="0" err="1"/>
              <a:t>theo</a:t>
            </a:r>
            <a:r>
              <a:rPr lang="en-US" sz="1800" dirty="0"/>
              <a:t> </a:t>
            </a:r>
            <a:r>
              <a:rPr lang="en-US" sz="1800" dirty="0" err="1"/>
              <a:t>trật</a:t>
            </a:r>
            <a:r>
              <a:rPr lang="en-US" sz="1800" dirty="0"/>
              <a:t> </a:t>
            </a:r>
            <a:r>
              <a:rPr lang="en-US" sz="1800" dirty="0" err="1"/>
              <a:t>tự</a:t>
            </a:r>
            <a:r>
              <a:rPr lang="en-US" sz="1800" dirty="0"/>
              <a:t> </a:t>
            </a:r>
            <a:r>
              <a:rPr lang="en-US" sz="1800" dirty="0" err="1"/>
              <a:t>tăng</a:t>
            </a:r>
            <a:r>
              <a:rPr lang="en-US" sz="1800" dirty="0"/>
              <a:t> </a:t>
            </a:r>
            <a:r>
              <a:rPr lang="en-US" sz="1800" dirty="0" err="1"/>
              <a:t>dần</a:t>
            </a:r>
            <a:r>
              <a:rPr lang="en-US" sz="1800" dirty="0"/>
              <a:t>: </a:t>
            </a:r>
            <a:r>
              <a:rPr lang="en-US" sz="1800" dirty="0" err="1"/>
              <a:t>sử</a:t>
            </a:r>
            <a:r>
              <a:rPr lang="en-US" sz="1800" dirty="0"/>
              <a:t> </a:t>
            </a:r>
            <a:r>
              <a:rPr lang="en-US" sz="1800" dirty="0" err="1"/>
              <a:t>dụng</a:t>
            </a:r>
            <a:r>
              <a:rPr lang="en-US" sz="1800" dirty="0"/>
              <a:t> </a:t>
            </a:r>
            <a:r>
              <a:rPr lang="en-US" sz="1800" dirty="0" err="1"/>
              <a:t>giải</a:t>
            </a:r>
            <a:r>
              <a:rPr lang="en-US" sz="1800" dirty="0"/>
              <a:t> </a:t>
            </a:r>
            <a:r>
              <a:rPr lang="en-US" sz="1800" dirty="0" err="1"/>
              <a:t>thuật</a:t>
            </a:r>
            <a:r>
              <a:rPr lang="en-US" sz="1800" dirty="0"/>
              <a:t> </a:t>
            </a:r>
            <a:r>
              <a:rPr lang="en-US" sz="1800" dirty="0" err="1"/>
              <a:t>sắp</a:t>
            </a:r>
            <a:r>
              <a:rPr lang="en-US" sz="1800" dirty="0"/>
              <a:t> </a:t>
            </a:r>
            <a:r>
              <a:rPr lang="en-US" sz="1800" dirty="0" err="1"/>
              <a:t>xếp</a:t>
            </a:r>
            <a:r>
              <a:rPr lang="en-US" sz="1800" dirty="0"/>
              <a:t> </a:t>
            </a:r>
            <a:r>
              <a:rPr lang="en-US" sz="1800" dirty="0" err="1"/>
              <a:t>chọn</a:t>
            </a:r>
            <a:r>
              <a:rPr lang="en-US" sz="1800" dirty="0"/>
              <a:t> </a:t>
            </a:r>
          </a:p>
          <a:p>
            <a:pPr lvl="2"/>
            <a:r>
              <a:rPr lang="vi-VN" sz="1800" dirty="0"/>
              <a:t>Đưa kết quả ra</a:t>
            </a:r>
            <a:r>
              <a:rPr lang="en-US" sz="1800" dirty="0"/>
              <a:t>.</a:t>
            </a:r>
          </a:p>
        </p:txBody>
      </p:sp>
      <p:pic>
        <p:nvPicPr>
          <p:cNvPr id="14" name="Picture 13"/>
          <p:cNvPicPr>
            <a:picLocks noChangeAspect="1"/>
          </p:cNvPicPr>
          <p:nvPr/>
        </p:nvPicPr>
        <p:blipFill rotWithShape="1">
          <a:blip r:embed="rId2"/>
          <a:srcRect b="1182"/>
          <a:stretch/>
        </p:blipFill>
        <p:spPr>
          <a:xfrm>
            <a:off x="4858817" y="1349684"/>
            <a:ext cx="4091366" cy="4389376"/>
          </a:xfrm>
          <a:prstGeom prst="rect">
            <a:avLst/>
          </a:prstGeom>
        </p:spPr>
      </p:pic>
    </p:spTree>
    <p:extLst>
      <p:ext uri="{BB962C8B-B14F-4D97-AF65-F5344CB8AC3E}">
        <p14:creationId xmlns:p14="http://schemas.microsoft.com/office/powerpoint/2010/main" val="376633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13</a:t>
            </a:fld>
            <a:endParaRPr lang="en-US"/>
          </a:p>
        </p:txBody>
      </p:sp>
      <p:sp>
        <p:nvSpPr>
          <p:cNvPr id="2" name="Title 1"/>
          <p:cNvSpPr>
            <a:spLocks noGrp="1"/>
          </p:cNvSpPr>
          <p:nvPr>
            <p:ph type="title"/>
          </p:nvPr>
        </p:nvSpPr>
        <p:spPr/>
        <p:txBody>
          <a:bodyPr>
            <a:normAutofit fontScale="90000"/>
          </a:bodyPr>
          <a:lstStyle/>
          <a:p>
            <a:r>
              <a:rPr lang="en-US" u="sng" dirty="0"/>
              <a:t>VÍ DỤ</a:t>
            </a:r>
            <a:br>
              <a:rPr lang="en-US" dirty="0"/>
            </a:br>
            <a:r>
              <a:rPr lang="en-US" dirty="0" err="1"/>
              <a:t>Bài</a:t>
            </a:r>
            <a:r>
              <a:rPr lang="en-US" dirty="0"/>
              <a:t> </a:t>
            </a:r>
            <a:r>
              <a:rPr lang="en-US" dirty="0" err="1"/>
              <a:t>toán</a:t>
            </a:r>
            <a:r>
              <a:rPr lang="en-US" dirty="0"/>
              <a:t> </a:t>
            </a:r>
            <a:r>
              <a:rPr lang="en-US" dirty="0" err="1"/>
              <a:t>sắp</a:t>
            </a:r>
            <a:r>
              <a:rPr lang="en-US" dirty="0"/>
              <a:t> </a:t>
            </a:r>
            <a:r>
              <a:rPr lang="en-US" dirty="0" err="1"/>
              <a:t>xếp</a:t>
            </a:r>
            <a:r>
              <a:rPr lang="en-US" dirty="0"/>
              <a:t> </a:t>
            </a:r>
            <a:r>
              <a:rPr lang="en-US" dirty="0" err="1"/>
              <a:t>một</a:t>
            </a:r>
            <a:r>
              <a:rPr lang="en-US" dirty="0"/>
              <a:t> </a:t>
            </a:r>
            <a:r>
              <a:rPr lang="en-US" dirty="0" err="1"/>
              <a:t>dãy</a:t>
            </a:r>
            <a:r>
              <a:rPr lang="en-US" dirty="0"/>
              <a:t> </a:t>
            </a:r>
            <a:r>
              <a:rPr lang="en-US" dirty="0" err="1"/>
              <a:t>số</a:t>
            </a:r>
            <a:r>
              <a:rPr lang="en-US" dirty="0"/>
              <a:t> </a:t>
            </a:r>
            <a:r>
              <a:rPr lang="en-US" dirty="0" err="1"/>
              <a:t>theo</a:t>
            </a:r>
            <a:r>
              <a:rPr lang="en-US" dirty="0"/>
              <a:t> </a:t>
            </a:r>
            <a:r>
              <a:rPr lang="en-US" dirty="0" err="1"/>
              <a:t>trật</a:t>
            </a:r>
            <a:r>
              <a:rPr lang="en-US" dirty="0"/>
              <a:t> </a:t>
            </a:r>
            <a:r>
              <a:rPr lang="en-US" dirty="0" err="1"/>
              <a:t>tự</a:t>
            </a:r>
            <a:r>
              <a:rPr lang="en-US" dirty="0"/>
              <a:t> </a:t>
            </a:r>
            <a:r>
              <a:rPr lang="en-US" dirty="0" err="1"/>
              <a:t>tăng</a:t>
            </a:r>
            <a:r>
              <a:rPr lang="en-US" dirty="0"/>
              <a:t> </a:t>
            </a:r>
            <a:r>
              <a:rPr lang="en-US" dirty="0" err="1"/>
              <a:t>dần</a:t>
            </a:r>
            <a:endParaRPr lang="en-US" dirty="0"/>
          </a:p>
        </p:txBody>
      </p:sp>
      <p:sp>
        <p:nvSpPr>
          <p:cNvPr id="3" name="Content Placeholder 2"/>
          <p:cNvSpPr>
            <a:spLocks noGrp="1"/>
          </p:cNvSpPr>
          <p:nvPr>
            <p:ph type="body" sz="quarter" idx="13"/>
          </p:nvPr>
        </p:nvSpPr>
        <p:spPr/>
        <p:txBody>
          <a:bodyPr/>
          <a:lstStyle/>
          <a:p>
            <a:r>
              <a:rPr lang="vi-VN" dirty="0"/>
              <a:t>Tinh chỉnh dữ liệu</a:t>
            </a:r>
            <a:endParaRPr lang="en-US" dirty="0"/>
          </a:p>
          <a:p>
            <a:endParaRPr lang="en-US" dirty="0"/>
          </a:p>
          <a:p>
            <a:endParaRPr lang="en-US" dirty="0"/>
          </a:p>
          <a:p>
            <a:endParaRPr lang="en-US" dirty="0"/>
          </a:p>
          <a:p>
            <a:endParaRPr lang="en-US" dirty="0"/>
          </a:p>
        </p:txBody>
      </p:sp>
      <p:pic>
        <p:nvPicPr>
          <p:cNvPr id="11" name="Picture 10"/>
          <p:cNvPicPr>
            <a:picLocks noChangeAspect="1"/>
          </p:cNvPicPr>
          <p:nvPr/>
        </p:nvPicPr>
        <p:blipFill rotWithShape="1">
          <a:blip r:embed="rId3"/>
          <a:srcRect r="90013"/>
          <a:stretch/>
        </p:blipFill>
        <p:spPr>
          <a:xfrm>
            <a:off x="1295400" y="1828800"/>
            <a:ext cx="685800" cy="1911896"/>
          </a:xfrm>
          <a:prstGeom prst="rect">
            <a:avLst/>
          </a:prstGeom>
        </p:spPr>
      </p:pic>
      <p:pic>
        <p:nvPicPr>
          <p:cNvPr id="7" name="Picture 6"/>
          <p:cNvPicPr>
            <a:picLocks noChangeAspect="1"/>
          </p:cNvPicPr>
          <p:nvPr/>
        </p:nvPicPr>
        <p:blipFill rotWithShape="1">
          <a:blip r:embed="rId3"/>
          <a:srcRect l="51086" b="80072"/>
          <a:stretch/>
        </p:blipFill>
        <p:spPr>
          <a:xfrm>
            <a:off x="4800600" y="1828800"/>
            <a:ext cx="3358881" cy="381000"/>
          </a:xfrm>
          <a:prstGeom prst="rect">
            <a:avLst/>
          </a:prstGeom>
        </p:spPr>
      </p:pic>
      <p:pic>
        <p:nvPicPr>
          <p:cNvPr id="8" name="Picture 7"/>
          <p:cNvPicPr>
            <a:picLocks noChangeAspect="1"/>
          </p:cNvPicPr>
          <p:nvPr/>
        </p:nvPicPr>
        <p:blipFill rotWithShape="1">
          <a:blip r:embed="rId3"/>
          <a:srcRect l="51086" t="80689"/>
          <a:stretch/>
        </p:blipFill>
        <p:spPr>
          <a:xfrm>
            <a:off x="4808220" y="3372847"/>
            <a:ext cx="3358881" cy="369208"/>
          </a:xfrm>
          <a:prstGeom prst="rect">
            <a:avLst/>
          </a:prstGeom>
        </p:spPr>
      </p:pic>
      <p:pic>
        <p:nvPicPr>
          <p:cNvPr id="9" name="Picture 8"/>
          <p:cNvPicPr>
            <a:picLocks noChangeAspect="1"/>
          </p:cNvPicPr>
          <p:nvPr/>
        </p:nvPicPr>
        <p:blipFill rotWithShape="1">
          <a:blip r:embed="rId3"/>
          <a:srcRect l="51086" t="20687" b="35472"/>
          <a:stretch/>
        </p:blipFill>
        <p:spPr>
          <a:xfrm>
            <a:off x="4838700" y="2213202"/>
            <a:ext cx="3320781" cy="853885"/>
          </a:xfrm>
          <a:prstGeom prst="rect">
            <a:avLst/>
          </a:prstGeom>
        </p:spPr>
      </p:pic>
      <p:pic>
        <p:nvPicPr>
          <p:cNvPr id="10" name="Picture 9"/>
          <p:cNvPicPr>
            <a:picLocks noChangeAspect="1"/>
          </p:cNvPicPr>
          <p:nvPr/>
        </p:nvPicPr>
        <p:blipFill rotWithShape="1">
          <a:blip r:embed="rId3"/>
          <a:srcRect l="51086" t="63479" b="18586"/>
          <a:stretch/>
        </p:blipFill>
        <p:spPr>
          <a:xfrm>
            <a:off x="4808220" y="3048000"/>
            <a:ext cx="3358881" cy="342900"/>
          </a:xfrm>
          <a:prstGeom prst="rect">
            <a:avLst/>
          </a:prstGeom>
        </p:spPr>
      </p:pic>
      <p:pic>
        <p:nvPicPr>
          <p:cNvPr id="14" name="Picture 13"/>
          <p:cNvPicPr>
            <a:picLocks noChangeAspect="1"/>
          </p:cNvPicPr>
          <p:nvPr/>
        </p:nvPicPr>
        <p:blipFill rotWithShape="1">
          <a:blip r:embed="rId3"/>
          <a:srcRect l="9987" t="19928" r="47846"/>
          <a:stretch/>
        </p:blipFill>
        <p:spPr>
          <a:xfrm>
            <a:off x="1968500" y="2209800"/>
            <a:ext cx="2908300" cy="1530896"/>
          </a:xfrm>
          <a:prstGeom prst="rect">
            <a:avLst/>
          </a:prstGeom>
        </p:spPr>
      </p:pic>
      <p:pic>
        <p:nvPicPr>
          <p:cNvPr id="15" name="Picture 14"/>
          <p:cNvPicPr>
            <a:picLocks noChangeAspect="1"/>
          </p:cNvPicPr>
          <p:nvPr/>
        </p:nvPicPr>
        <p:blipFill rotWithShape="1">
          <a:blip r:embed="rId3"/>
          <a:srcRect l="9987" r="47846" b="80509"/>
          <a:stretch/>
        </p:blipFill>
        <p:spPr>
          <a:xfrm>
            <a:off x="1981200" y="1828800"/>
            <a:ext cx="2895600" cy="372656"/>
          </a:xfrm>
          <a:prstGeom prst="rect">
            <a:avLst/>
          </a:prstGeom>
        </p:spPr>
      </p:pic>
    </p:spTree>
    <p:extLst>
      <p:ext uri="{BB962C8B-B14F-4D97-AF65-F5344CB8AC3E}">
        <p14:creationId xmlns:p14="http://schemas.microsoft.com/office/powerpoint/2010/main" val="235578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028950" y="6492875"/>
            <a:ext cx="3086100" cy="365125"/>
          </a:xfrm>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a:xfrm>
            <a:off x="6867383" y="5982840"/>
            <a:ext cx="2057400" cy="365125"/>
          </a:xfrm>
        </p:spPr>
        <p:txBody>
          <a:bodyPr/>
          <a:lstStyle/>
          <a:p>
            <a:fld id="{BC24317B-5122-4A99-A6E9-FA23C146A7E0}" type="slidenum">
              <a:rPr lang="en-US" smtClean="0"/>
              <a:pPr/>
              <a:t>14</a:t>
            </a:fld>
            <a:endParaRPr lang="en-US"/>
          </a:p>
        </p:txBody>
      </p:sp>
      <p:sp>
        <p:nvSpPr>
          <p:cNvPr id="2" name="Title 1"/>
          <p:cNvSpPr>
            <a:spLocks noGrp="1"/>
          </p:cNvSpPr>
          <p:nvPr>
            <p:ph type="title"/>
          </p:nvPr>
        </p:nvSpPr>
        <p:spPr/>
        <p:txBody>
          <a:bodyPr>
            <a:normAutofit fontScale="90000"/>
          </a:bodyPr>
          <a:lstStyle/>
          <a:p>
            <a:r>
              <a:rPr lang="en-US" u="sng" dirty="0"/>
              <a:t>VÍ DỤ</a:t>
            </a:r>
            <a:br>
              <a:rPr lang="en-US" dirty="0"/>
            </a:br>
            <a:r>
              <a:rPr lang="en-US" dirty="0" err="1"/>
              <a:t>Bài</a:t>
            </a:r>
            <a:r>
              <a:rPr lang="en-US" dirty="0"/>
              <a:t> </a:t>
            </a:r>
            <a:r>
              <a:rPr lang="en-US" dirty="0" err="1"/>
              <a:t>toán</a:t>
            </a:r>
            <a:r>
              <a:rPr lang="en-US" dirty="0"/>
              <a:t> </a:t>
            </a:r>
            <a:r>
              <a:rPr lang="en-US" dirty="0" err="1"/>
              <a:t>sắp</a:t>
            </a:r>
            <a:r>
              <a:rPr lang="en-US" dirty="0"/>
              <a:t> </a:t>
            </a:r>
            <a:r>
              <a:rPr lang="en-US" dirty="0" err="1"/>
              <a:t>xếp</a:t>
            </a:r>
            <a:r>
              <a:rPr lang="en-US" dirty="0"/>
              <a:t> </a:t>
            </a:r>
            <a:r>
              <a:rPr lang="en-US" dirty="0" err="1"/>
              <a:t>một</a:t>
            </a:r>
            <a:r>
              <a:rPr lang="en-US" dirty="0"/>
              <a:t> </a:t>
            </a:r>
            <a:r>
              <a:rPr lang="en-US" dirty="0" err="1"/>
              <a:t>dãy</a:t>
            </a:r>
            <a:r>
              <a:rPr lang="en-US" dirty="0"/>
              <a:t> </a:t>
            </a:r>
            <a:r>
              <a:rPr lang="en-US" dirty="0" err="1"/>
              <a:t>số</a:t>
            </a:r>
            <a:r>
              <a:rPr lang="en-US" dirty="0"/>
              <a:t> </a:t>
            </a:r>
            <a:r>
              <a:rPr lang="en-US" dirty="0" err="1"/>
              <a:t>theo</a:t>
            </a:r>
            <a:r>
              <a:rPr lang="en-US" dirty="0"/>
              <a:t> </a:t>
            </a:r>
            <a:r>
              <a:rPr lang="en-US" dirty="0" err="1"/>
              <a:t>trật</a:t>
            </a:r>
            <a:r>
              <a:rPr lang="en-US" dirty="0"/>
              <a:t> </a:t>
            </a:r>
            <a:r>
              <a:rPr lang="en-US" dirty="0" err="1"/>
              <a:t>tự</a:t>
            </a:r>
            <a:r>
              <a:rPr lang="en-US" dirty="0"/>
              <a:t> </a:t>
            </a:r>
            <a:r>
              <a:rPr lang="en-US" dirty="0" err="1"/>
              <a:t>tăng</a:t>
            </a:r>
            <a:r>
              <a:rPr lang="en-US" dirty="0"/>
              <a:t> </a:t>
            </a:r>
            <a:r>
              <a:rPr lang="en-US" dirty="0" err="1"/>
              <a:t>dần</a:t>
            </a:r>
            <a:endParaRPr lang="en-US" dirty="0"/>
          </a:p>
        </p:txBody>
      </p:sp>
      <p:sp>
        <p:nvSpPr>
          <p:cNvPr id="3" name="Content Placeholder 2"/>
          <p:cNvSpPr>
            <a:spLocks noGrp="1"/>
          </p:cNvSpPr>
          <p:nvPr>
            <p:ph type="body" sz="quarter" idx="13"/>
          </p:nvPr>
        </p:nvSpPr>
        <p:spPr/>
        <p:txBody>
          <a:bodyPr/>
          <a:lstStyle/>
          <a:p>
            <a:r>
              <a:rPr lang="en-US" dirty="0" err="1"/>
              <a:t>Tinh</a:t>
            </a:r>
            <a:r>
              <a:rPr lang="en-US" dirty="0"/>
              <a:t> </a:t>
            </a:r>
            <a:r>
              <a:rPr lang="en-US" dirty="0" err="1"/>
              <a:t>chỉnh</a:t>
            </a:r>
            <a:r>
              <a:rPr lang="en-US" dirty="0"/>
              <a:t> </a:t>
            </a:r>
            <a:r>
              <a:rPr lang="en-US" dirty="0" err="1"/>
              <a:t>thao</a:t>
            </a:r>
            <a:r>
              <a:rPr lang="en-US" dirty="0"/>
              <a:t> </a:t>
            </a:r>
            <a:r>
              <a:rPr lang="en-US" dirty="0" err="1"/>
              <a:t>tác</a:t>
            </a:r>
            <a:endParaRPr lang="en-US" dirty="0"/>
          </a:p>
          <a:p>
            <a:endParaRPr lang="en-US" dirty="0"/>
          </a:p>
        </p:txBody>
      </p:sp>
      <p:grpSp>
        <p:nvGrpSpPr>
          <p:cNvPr id="20" name="Group 19"/>
          <p:cNvGrpSpPr/>
          <p:nvPr/>
        </p:nvGrpSpPr>
        <p:grpSpPr>
          <a:xfrm>
            <a:off x="3933433" y="1363974"/>
            <a:ext cx="1905001" cy="4919782"/>
            <a:chOff x="3933433" y="1363974"/>
            <a:chExt cx="1905001" cy="4919782"/>
          </a:xfrm>
        </p:grpSpPr>
        <p:pic>
          <p:nvPicPr>
            <p:cNvPr id="6" name="Picture 5"/>
            <p:cNvPicPr>
              <a:picLocks noChangeAspect="1"/>
            </p:cNvPicPr>
            <p:nvPr/>
          </p:nvPicPr>
          <p:blipFill rotWithShape="1">
            <a:blip r:embed="rId2"/>
            <a:srcRect l="9773" t="8154" r="57282"/>
            <a:stretch/>
          </p:blipFill>
          <p:spPr>
            <a:xfrm>
              <a:off x="3933433" y="1363974"/>
              <a:ext cx="1905001" cy="4191000"/>
            </a:xfrm>
            <a:prstGeom prst="rect">
              <a:avLst/>
            </a:prstGeom>
          </p:spPr>
        </p:pic>
        <p:pic>
          <p:nvPicPr>
            <p:cNvPr id="7" name="Picture 6"/>
            <p:cNvPicPr>
              <a:picLocks noChangeAspect="1"/>
            </p:cNvPicPr>
            <p:nvPr/>
          </p:nvPicPr>
          <p:blipFill rotWithShape="1">
            <a:blip r:embed="rId3"/>
            <a:srcRect l="9326" r="58127"/>
            <a:stretch/>
          </p:blipFill>
          <p:spPr>
            <a:xfrm>
              <a:off x="3933433" y="5521650"/>
              <a:ext cx="1891353" cy="762106"/>
            </a:xfrm>
            <a:prstGeom prst="rect">
              <a:avLst/>
            </a:prstGeom>
          </p:spPr>
        </p:pic>
      </p:grpSp>
      <p:grpSp>
        <p:nvGrpSpPr>
          <p:cNvPr id="21" name="Group 20"/>
          <p:cNvGrpSpPr/>
          <p:nvPr/>
        </p:nvGrpSpPr>
        <p:grpSpPr>
          <a:xfrm>
            <a:off x="5802086" y="4373721"/>
            <a:ext cx="3364774" cy="1201579"/>
            <a:chOff x="5802086" y="4373721"/>
            <a:chExt cx="3344082" cy="1161293"/>
          </a:xfrm>
        </p:grpSpPr>
        <p:pic>
          <p:nvPicPr>
            <p:cNvPr id="13" name="Picture 12"/>
            <p:cNvPicPr>
              <a:picLocks noChangeAspect="1"/>
            </p:cNvPicPr>
            <p:nvPr/>
          </p:nvPicPr>
          <p:blipFill rotWithShape="1">
            <a:blip r:embed="rId2"/>
            <a:srcRect l="42168" t="74550"/>
            <a:stretch/>
          </p:blipFill>
          <p:spPr>
            <a:xfrm>
              <a:off x="5802086" y="4373721"/>
              <a:ext cx="3344082" cy="1161293"/>
            </a:xfrm>
            <a:prstGeom prst="rect">
              <a:avLst/>
            </a:prstGeom>
          </p:spPr>
        </p:pic>
        <p:sp>
          <p:nvSpPr>
            <p:cNvPr id="8" name="TextBox 7"/>
            <p:cNvSpPr txBox="1"/>
            <p:nvPr/>
          </p:nvSpPr>
          <p:spPr>
            <a:xfrm flipH="1">
              <a:off x="7728582" y="5271079"/>
              <a:ext cx="381000" cy="261610"/>
            </a:xfrm>
            <a:prstGeom prst="rect">
              <a:avLst/>
            </a:prstGeom>
            <a:noFill/>
          </p:spPr>
          <p:txBody>
            <a:bodyPr wrap="square" rtlCol="0">
              <a:spAutoFit/>
            </a:bodyPr>
            <a:lstStyle/>
            <a:p>
              <a:r>
                <a:rPr lang="en-US" sz="1100" dirty="0">
                  <a:solidFill>
                    <a:schemeClr val="tx2">
                      <a:lumMod val="60000"/>
                      <a:lumOff val="40000"/>
                    </a:schemeClr>
                  </a:solidFill>
                </a:rPr>
                <a:t>}</a:t>
              </a:r>
            </a:p>
          </p:txBody>
        </p:sp>
      </p:grpSp>
      <p:pic>
        <p:nvPicPr>
          <p:cNvPr id="10" name="Picture 9"/>
          <p:cNvPicPr>
            <a:picLocks noChangeAspect="1"/>
          </p:cNvPicPr>
          <p:nvPr/>
        </p:nvPicPr>
        <p:blipFill rotWithShape="1">
          <a:blip r:embed="rId4"/>
          <a:srcRect b="2435"/>
          <a:stretch/>
        </p:blipFill>
        <p:spPr>
          <a:xfrm>
            <a:off x="92382" y="1696713"/>
            <a:ext cx="3052600" cy="3233428"/>
          </a:xfrm>
          <a:prstGeom prst="rect">
            <a:avLst/>
          </a:prstGeom>
        </p:spPr>
      </p:pic>
      <p:pic>
        <p:nvPicPr>
          <p:cNvPr id="11" name="Picture 10"/>
          <p:cNvPicPr>
            <a:picLocks noChangeAspect="1"/>
          </p:cNvPicPr>
          <p:nvPr/>
        </p:nvPicPr>
        <p:blipFill rotWithShape="1">
          <a:blip r:embed="rId2"/>
          <a:srcRect l="42169" t="-51" r="-123" b="92832"/>
          <a:stretch/>
        </p:blipFill>
        <p:spPr>
          <a:xfrm>
            <a:off x="5797550" y="991862"/>
            <a:ext cx="3351171" cy="329408"/>
          </a:xfrm>
          <a:prstGeom prst="rect">
            <a:avLst/>
          </a:prstGeom>
        </p:spPr>
      </p:pic>
      <p:pic>
        <p:nvPicPr>
          <p:cNvPr id="12" name="Picture 11"/>
          <p:cNvPicPr>
            <a:picLocks noChangeAspect="1"/>
          </p:cNvPicPr>
          <p:nvPr/>
        </p:nvPicPr>
        <p:blipFill rotWithShape="1">
          <a:blip r:embed="rId2"/>
          <a:srcRect l="42094" t="7169" r="-75" b="76206"/>
          <a:stretch/>
        </p:blipFill>
        <p:spPr>
          <a:xfrm>
            <a:off x="5794917" y="1321270"/>
            <a:ext cx="3352799" cy="758669"/>
          </a:xfrm>
          <a:prstGeom prst="rect">
            <a:avLst/>
          </a:prstGeom>
        </p:spPr>
      </p:pic>
      <p:pic>
        <p:nvPicPr>
          <p:cNvPr id="14" name="Picture 13"/>
          <p:cNvPicPr>
            <a:picLocks noChangeAspect="1"/>
          </p:cNvPicPr>
          <p:nvPr/>
        </p:nvPicPr>
        <p:blipFill rotWithShape="1">
          <a:blip r:embed="rId2"/>
          <a:srcRect l="42370" t="49862" b="25090"/>
          <a:stretch/>
        </p:blipFill>
        <p:spPr>
          <a:xfrm>
            <a:off x="5824786" y="3269485"/>
            <a:ext cx="3332442" cy="1143001"/>
          </a:xfrm>
          <a:prstGeom prst="rect">
            <a:avLst/>
          </a:prstGeom>
        </p:spPr>
      </p:pic>
      <p:pic>
        <p:nvPicPr>
          <p:cNvPr id="15" name="Picture 14"/>
          <p:cNvPicPr>
            <a:picLocks noChangeAspect="1"/>
          </p:cNvPicPr>
          <p:nvPr/>
        </p:nvPicPr>
        <p:blipFill rotWithShape="1">
          <a:blip r:embed="rId2"/>
          <a:srcRect l="42183" t="23770" b="50122"/>
          <a:stretch/>
        </p:blipFill>
        <p:spPr>
          <a:xfrm>
            <a:off x="5804429" y="2079939"/>
            <a:ext cx="3343287" cy="1191323"/>
          </a:xfrm>
          <a:prstGeom prst="rect">
            <a:avLst/>
          </a:prstGeom>
        </p:spPr>
      </p:pic>
      <p:pic>
        <p:nvPicPr>
          <p:cNvPr id="16" name="Picture 15"/>
          <p:cNvPicPr>
            <a:picLocks noChangeAspect="1"/>
          </p:cNvPicPr>
          <p:nvPr/>
        </p:nvPicPr>
        <p:blipFill rotWithShape="1">
          <a:blip r:embed="rId3"/>
          <a:srcRect l="41719" r="-445"/>
          <a:stretch/>
        </p:blipFill>
        <p:spPr>
          <a:xfrm>
            <a:off x="5817129" y="5521650"/>
            <a:ext cx="3412595" cy="762106"/>
          </a:xfrm>
          <a:prstGeom prst="rect">
            <a:avLst/>
          </a:prstGeom>
        </p:spPr>
      </p:pic>
      <p:grpSp>
        <p:nvGrpSpPr>
          <p:cNvPr id="9" name="Group 8"/>
          <p:cNvGrpSpPr/>
          <p:nvPr/>
        </p:nvGrpSpPr>
        <p:grpSpPr>
          <a:xfrm>
            <a:off x="3365130" y="991862"/>
            <a:ext cx="2471156" cy="5291894"/>
            <a:chOff x="1764699" y="945711"/>
            <a:chExt cx="2471156" cy="5291894"/>
          </a:xfrm>
        </p:grpSpPr>
        <p:pic>
          <p:nvPicPr>
            <p:cNvPr id="17" name="Picture 16"/>
            <p:cNvPicPr>
              <a:picLocks noChangeAspect="1"/>
            </p:cNvPicPr>
            <p:nvPr/>
          </p:nvPicPr>
          <p:blipFill rotWithShape="1">
            <a:blip r:embed="rId2"/>
            <a:srcRect r="90093"/>
            <a:stretch/>
          </p:blipFill>
          <p:spPr>
            <a:xfrm>
              <a:off x="1764699" y="945711"/>
              <a:ext cx="572834" cy="4563112"/>
            </a:xfrm>
            <a:prstGeom prst="rect">
              <a:avLst/>
            </a:prstGeom>
          </p:spPr>
        </p:pic>
        <p:pic>
          <p:nvPicPr>
            <p:cNvPr id="18" name="Picture 17"/>
            <p:cNvPicPr>
              <a:picLocks noChangeAspect="1"/>
            </p:cNvPicPr>
            <p:nvPr/>
          </p:nvPicPr>
          <p:blipFill rotWithShape="1">
            <a:blip r:embed="rId2"/>
            <a:srcRect l="10045" r="57085" b="93032"/>
            <a:stretch/>
          </p:blipFill>
          <p:spPr>
            <a:xfrm>
              <a:off x="2335152" y="947737"/>
              <a:ext cx="1900703" cy="317950"/>
            </a:xfrm>
            <a:prstGeom prst="rect">
              <a:avLst/>
            </a:prstGeom>
          </p:spPr>
        </p:pic>
        <p:pic>
          <p:nvPicPr>
            <p:cNvPr id="19" name="Picture 18"/>
            <p:cNvPicPr>
              <a:picLocks noChangeAspect="1"/>
            </p:cNvPicPr>
            <p:nvPr/>
          </p:nvPicPr>
          <p:blipFill rotWithShape="1">
            <a:blip r:embed="rId3"/>
            <a:srcRect r="90539"/>
            <a:stretch/>
          </p:blipFill>
          <p:spPr>
            <a:xfrm>
              <a:off x="1785430" y="5475499"/>
              <a:ext cx="549722" cy="762106"/>
            </a:xfrm>
            <a:prstGeom prst="rect">
              <a:avLst/>
            </a:prstGeom>
          </p:spPr>
        </p:pic>
      </p:grpSp>
    </p:spTree>
    <p:extLst>
      <p:ext uri="{BB962C8B-B14F-4D97-AF65-F5344CB8AC3E}">
        <p14:creationId xmlns:p14="http://schemas.microsoft.com/office/powerpoint/2010/main" val="2762904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15</a:t>
            </a:fld>
            <a:endParaRPr lang="en-US" dirty="0"/>
          </a:p>
        </p:txBody>
      </p:sp>
      <p:sp>
        <p:nvSpPr>
          <p:cNvPr id="2" name="Title 1"/>
          <p:cNvSpPr>
            <a:spLocks noGrp="1"/>
          </p:cNvSpPr>
          <p:nvPr>
            <p:ph type="title"/>
          </p:nvPr>
        </p:nvSpPr>
        <p:spPr/>
        <p:txBody>
          <a:bodyPr>
            <a:normAutofit fontScale="90000"/>
          </a:bodyPr>
          <a:lstStyle/>
          <a:p>
            <a:r>
              <a:rPr lang="en-US" u="sng" dirty="0"/>
              <a:t>VÍ DỤ</a:t>
            </a:r>
            <a:br>
              <a:rPr lang="en-US" dirty="0"/>
            </a:br>
            <a:r>
              <a:rPr lang="en-US" dirty="0" err="1"/>
              <a:t>Bài</a:t>
            </a:r>
            <a:r>
              <a:rPr lang="en-US" dirty="0"/>
              <a:t> </a:t>
            </a:r>
            <a:r>
              <a:rPr lang="en-US" dirty="0" err="1"/>
              <a:t>toán</a:t>
            </a:r>
            <a:r>
              <a:rPr lang="en-US" dirty="0"/>
              <a:t> </a:t>
            </a:r>
            <a:r>
              <a:rPr lang="en-US" dirty="0" err="1"/>
              <a:t>sắp</a:t>
            </a:r>
            <a:r>
              <a:rPr lang="en-US" dirty="0"/>
              <a:t> </a:t>
            </a:r>
            <a:r>
              <a:rPr lang="en-US" dirty="0" err="1"/>
              <a:t>xếp</a:t>
            </a:r>
            <a:r>
              <a:rPr lang="en-US" dirty="0"/>
              <a:t> </a:t>
            </a:r>
            <a:r>
              <a:rPr lang="en-US" dirty="0" err="1"/>
              <a:t>một</a:t>
            </a:r>
            <a:r>
              <a:rPr lang="en-US" dirty="0"/>
              <a:t> </a:t>
            </a:r>
            <a:r>
              <a:rPr lang="en-US" dirty="0" err="1"/>
              <a:t>dãy</a:t>
            </a:r>
            <a:r>
              <a:rPr lang="en-US" dirty="0"/>
              <a:t> </a:t>
            </a:r>
            <a:r>
              <a:rPr lang="en-US" dirty="0" err="1"/>
              <a:t>số</a:t>
            </a:r>
            <a:r>
              <a:rPr lang="en-US" dirty="0"/>
              <a:t> </a:t>
            </a:r>
            <a:r>
              <a:rPr lang="en-US" dirty="0" err="1"/>
              <a:t>theo</a:t>
            </a:r>
            <a:r>
              <a:rPr lang="en-US" dirty="0"/>
              <a:t> </a:t>
            </a:r>
            <a:r>
              <a:rPr lang="en-US" dirty="0" err="1"/>
              <a:t>trật</a:t>
            </a:r>
            <a:r>
              <a:rPr lang="en-US" dirty="0"/>
              <a:t> </a:t>
            </a:r>
            <a:r>
              <a:rPr lang="en-US" dirty="0" err="1"/>
              <a:t>tự</a:t>
            </a:r>
            <a:r>
              <a:rPr lang="en-US" dirty="0"/>
              <a:t> </a:t>
            </a:r>
            <a:r>
              <a:rPr lang="en-US" dirty="0" err="1"/>
              <a:t>tăng</a:t>
            </a:r>
            <a:r>
              <a:rPr lang="en-US" dirty="0"/>
              <a:t> </a:t>
            </a:r>
            <a:r>
              <a:rPr lang="en-US" dirty="0" err="1"/>
              <a:t>dần</a:t>
            </a:r>
            <a:endParaRPr lang="en-US" dirty="0"/>
          </a:p>
        </p:txBody>
      </p:sp>
      <p:sp>
        <p:nvSpPr>
          <p:cNvPr id="3" name="Content Placeholder 2"/>
          <p:cNvSpPr>
            <a:spLocks noGrp="1"/>
          </p:cNvSpPr>
          <p:nvPr>
            <p:ph type="body" sz="quarter" idx="13"/>
          </p:nvPr>
        </p:nvSpPr>
        <p:spPr/>
        <p:txBody>
          <a:bodyPr/>
          <a:lstStyle/>
          <a:p>
            <a:r>
              <a:rPr lang="en-US" dirty="0"/>
              <a:t>C</a:t>
            </a:r>
            <a:r>
              <a:rPr lang="vi-VN" dirty="0"/>
              <a:t>hương trình hoàn chỉnh</a:t>
            </a:r>
            <a:endParaRPr lang="en-US" dirty="0"/>
          </a:p>
        </p:txBody>
      </p:sp>
      <p:pic>
        <p:nvPicPr>
          <p:cNvPr id="8" name="Picture 7"/>
          <p:cNvPicPr>
            <a:picLocks noChangeAspect="1"/>
          </p:cNvPicPr>
          <p:nvPr/>
        </p:nvPicPr>
        <p:blipFill rotWithShape="1">
          <a:blip r:embed="rId2"/>
          <a:srcRect b="275"/>
          <a:stretch/>
        </p:blipFill>
        <p:spPr>
          <a:xfrm>
            <a:off x="3980905" y="745188"/>
            <a:ext cx="2886478" cy="5681088"/>
          </a:xfrm>
          <a:prstGeom prst="rect">
            <a:avLst/>
          </a:prstGeom>
          <a:ln>
            <a:solidFill>
              <a:schemeClr val="tx1"/>
            </a:solidFill>
          </a:ln>
        </p:spPr>
      </p:pic>
    </p:spTree>
    <p:extLst>
      <p:ext uri="{BB962C8B-B14F-4D97-AF65-F5344CB8AC3E}">
        <p14:creationId xmlns:p14="http://schemas.microsoft.com/office/powerpoint/2010/main" val="2731471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16</a:t>
            </a:fld>
            <a:endParaRPr lang="en-US"/>
          </a:p>
        </p:txBody>
      </p:sp>
      <p:sp>
        <p:nvSpPr>
          <p:cNvPr id="2" name="Title 1"/>
          <p:cNvSpPr>
            <a:spLocks noGrp="1"/>
          </p:cNvSpPr>
          <p:nvPr>
            <p:ph type="title"/>
          </p:nvPr>
        </p:nvSpPr>
        <p:spPr/>
        <p:txBody>
          <a:bodyPr/>
          <a:lstStyle/>
          <a:p>
            <a:r>
              <a:rPr lang="en-US" altLang="en-US" dirty="0"/>
              <a:t>4.2. </a:t>
            </a:r>
            <a:r>
              <a:rPr lang="en-US" altLang="en-US" dirty="0" err="1"/>
              <a:t>Đánh</a:t>
            </a:r>
            <a:r>
              <a:rPr lang="en-US" altLang="en-US" dirty="0"/>
              <a:t> </a:t>
            </a:r>
            <a:r>
              <a:rPr lang="en-US" altLang="en-US" dirty="0" err="1"/>
              <a:t>giá</a:t>
            </a:r>
            <a:r>
              <a:rPr lang="en-US" altLang="en-US" dirty="0"/>
              <a:t> </a:t>
            </a:r>
            <a:r>
              <a:rPr lang="en-US" altLang="en-US" dirty="0" err="1"/>
              <a:t>giải</a:t>
            </a:r>
            <a:r>
              <a:rPr lang="en-US" altLang="en-US" dirty="0"/>
              <a:t> </a:t>
            </a:r>
            <a:r>
              <a:rPr lang="en-US" altLang="en-US" dirty="0" err="1"/>
              <a:t>thuật</a:t>
            </a:r>
            <a:endParaRPr lang="en-US" dirty="0"/>
          </a:p>
        </p:txBody>
      </p:sp>
      <p:sp>
        <p:nvSpPr>
          <p:cNvPr id="3" name="Content Placeholder 2"/>
          <p:cNvSpPr>
            <a:spLocks noGrp="1"/>
          </p:cNvSpPr>
          <p:nvPr>
            <p:ph type="body" sz="quarter" idx="13"/>
          </p:nvPr>
        </p:nvSpPr>
        <p:spPr/>
        <p:txBody>
          <a:bodyPr/>
          <a:lstStyle/>
          <a:p>
            <a:pPr lvl="0">
              <a:lnSpc>
                <a:spcPct val="90000"/>
              </a:lnSpc>
              <a:buClr>
                <a:srgbClr val="727CA3"/>
              </a:buClr>
              <a:buNone/>
            </a:pPr>
            <a:r>
              <a:rPr lang="en-US" altLang="en-US" sz="2400" dirty="0"/>
              <a:t>4.2.1. </a:t>
            </a:r>
            <a:r>
              <a:rPr lang="en-US" altLang="en-US" sz="2400" dirty="0" err="1"/>
              <a:t>Mục</a:t>
            </a:r>
            <a:r>
              <a:rPr lang="en-US" altLang="en-US" sz="2400" dirty="0"/>
              <a:t> </a:t>
            </a:r>
            <a:r>
              <a:rPr lang="en-US" altLang="en-US" sz="2400" dirty="0" err="1"/>
              <a:t>đích</a:t>
            </a:r>
            <a:r>
              <a:rPr lang="en-US" altLang="en-US" sz="2400" dirty="0"/>
              <a:t>:</a:t>
            </a:r>
          </a:p>
          <a:p>
            <a:pPr lvl="0">
              <a:lnSpc>
                <a:spcPct val="90000"/>
              </a:lnSpc>
              <a:buClr>
                <a:srgbClr val="727CA3"/>
              </a:buClr>
            </a:pPr>
            <a:r>
              <a:rPr lang="en-US" altLang="en-US" sz="2400" dirty="0" err="1"/>
              <a:t>Tìm</a:t>
            </a:r>
            <a:r>
              <a:rPr lang="en-US" altLang="en-US" sz="2400" dirty="0"/>
              <a:t> </a:t>
            </a:r>
            <a:r>
              <a:rPr lang="en-US" altLang="en-US" sz="2400" dirty="0" err="1"/>
              <a:t>hiểu</a:t>
            </a:r>
            <a:r>
              <a:rPr lang="en-US" altLang="en-US" sz="2400" dirty="0"/>
              <a:t> </a:t>
            </a:r>
            <a:r>
              <a:rPr lang="en-US" altLang="en-US" sz="2400" dirty="0" err="1"/>
              <a:t>tính</a:t>
            </a:r>
            <a:r>
              <a:rPr lang="en-US" altLang="en-US" sz="2400" dirty="0"/>
              <a:t> </a:t>
            </a:r>
            <a:r>
              <a:rPr lang="en-US" altLang="en-US" sz="2400" dirty="0" err="1"/>
              <a:t>đúng</a:t>
            </a:r>
            <a:r>
              <a:rPr lang="en-US" altLang="en-US" sz="2400" dirty="0"/>
              <a:t> </a:t>
            </a:r>
            <a:r>
              <a:rPr lang="en-US" altLang="en-US" sz="2400" dirty="0" err="1"/>
              <a:t>đắn</a:t>
            </a:r>
            <a:r>
              <a:rPr lang="en-US" altLang="en-US" sz="2400" dirty="0"/>
              <a:t> </a:t>
            </a:r>
            <a:r>
              <a:rPr lang="en-US" altLang="en-US" sz="2400" dirty="0" err="1"/>
              <a:t>của</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p>
          <a:p>
            <a:pPr lvl="1">
              <a:lnSpc>
                <a:spcPct val="90000"/>
              </a:lnSpc>
              <a:buClr>
                <a:srgbClr val="727CA3"/>
              </a:buClr>
            </a:pPr>
            <a:r>
              <a:rPr lang="en-US" altLang="en-US" sz="2000" dirty="0" err="1"/>
              <a:t>Giải</a:t>
            </a:r>
            <a:r>
              <a:rPr lang="en-US" altLang="en-US" sz="2000" dirty="0"/>
              <a:t> </a:t>
            </a:r>
            <a:r>
              <a:rPr lang="en-US" altLang="en-US" sz="2000" dirty="0" err="1"/>
              <a:t>thuật</a:t>
            </a:r>
            <a:r>
              <a:rPr lang="en-US" altLang="en-US" sz="2000" dirty="0"/>
              <a:t> </a:t>
            </a:r>
            <a:r>
              <a:rPr lang="en-US" altLang="en-US" sz="2000" dirty="0" err="1"/>
              <a:t>có</a:t>
            </a:r>
            <a:r>
              <a:rPr lang="en-US" altLang="en-US" sz="2000" dirty="0"/>
              <a:t> </a:t>
            </a:r>
            <a:r>
              <a:rPr lang="en-US" altLang="en-US" sz="2000" dirty="0" err="1"/>
              <a:t>đúng</a:t>
            </a:r>
            <a:r>
              <a:rPr lang="en-US" altLang="en-US" sz="2000" dirty="0"/>
              <a:t> </a:t>
            </a:r>
            <a:r>
              <a:rPr lang="en-US" altLang="en-US" sz="2000" dirty="0" err="1"/>
              <a:t>đắn</a:t>
            </a:r>
            <a:r>
              <a:rPr lang="en-US" altLang="en-US" sz="2000" dirty="0"/>
              <a:t> hay </a:t>
            </a:r>
            <a:r>
              <a:rPr lang="en-US" altLang="en-US" sz="2000" dirty="0" err="1"/>
              <a:t>không</a:t>
            </a:r>
            <a:r>
              <a:rPr lang="en-US" altLang="en-US" sz="2000" dirty="0"/>
              <a:t>? </a:t>
            </a:r>
            <a:r>
              <a:rPr lang="en-US" altLang="en-US" sz="2000" dirty="0" err="1"/>
              <a:t>Tức</a:t>
            </a:r>
            <a:r>
              <a:rPr lang="en-US" altLang="en-US" sz="2000" dirty="0"/>
              <a:t> </a:t>
            </a:r>
            <a:r>
              <a:rPr lang="en-US" altLang="en-US" sz="2000" dirty="0" err="1"/>
              <a:t>là</a:t>
            </a:r>
            <a:r>
              <a:rPr lang="en-US" altLang="en-US" sz="2000" dirty="0"/>
              <a:t> </a:t>
            </a:r>
            <a:r>
              <a:rPr lang="en-US" altLang="en-US" sz="2000" dirty="0" err="1"/>
              <a:t>nó</a:t>
            </a:r>
            <a:r>
              <a:rPr lang="en-US" altLang="en-US" sz="2000" dirty="0"/>
              <a:t> </a:t>
            </a:r>
            <a:r>
              <a:rPr lang="en-US" altLang="en-US" sz="2000" dirty="0" err="1"/>
              <a:t>cho</a:t>
            </a:r>
            <a:r>
              <a:rPr lang="en-US" altLang="en-US" sz="2000" dirty="0"/>
              <a:t> </a:t>
            </a:r>
            <a:r>
              <a:rPr lang="en-US" altLang="en-US" sz="2000" dirty="0" err="1"/>
              <a:t>ra</a:t>
            </a:r>
            <a:r>
              <a:rPr lang="en-US" altLang="en-US" sz="2000" dirty="0"/>
              <a:t> </a:t>
            </a:r>
            <a:r>
              <a:rPr lang="en-US" altLang="en-US" sz="2000" dirty="0" err="1"/>
              <a:t>kết</a:t>
            </a:r>
            <a:r>
              <a:rPr lang="en-US" altLang="en-US" sz="2000" dirty="0"/>
              <a:t> </a:t>
            </a:r>
            <a:r>
              <a:rPr lang="en-US" altLang="en-US" sz="2000" dirty="0" err="1"/>
              <a:t>quả</a:t>
            </a:r>
            <a:r>
              <a:rPr lang="en-US" altLang="en-US" sz="2000" dirty="0"/>
              <a:t> </a:t>
            </a:r>
            <a:r>
              <a:rPr lang="en-US" altLang="en-US" sz="2000" dirty="0" err="1"/>
              <a:t>đúng</a:t>
            </a:r>
            <a:r>
              <a:rPr lang="en-US" altLang="en-US" sz="2000" dirty="0"/>
              <a:t> </a:t>
            </a:r>
            <a:r>
              <a:rPr lang="en-US" altLang="en-US" sz="2000" dirty="0" err="1"/>
              <a:t>đối</a:t>
            </a:r>
            <a:r>
              <a:rPr lang="en-US" altLang="en-US" sz="2000" dirty="0"/>
              <a:t> </a:t>
            </a:r>
            <a:r>
              <a:rPr lang="en-US" altLang="en-US" sz="2000" dirty="0" err="1"/>
              <a:t>với</a:t>
            </a:r>
            <a:r>
              <a:rPr lang="en-US" altLang="en-US" sz="2000" dirty="0"/>
              <a:t> </a:t>
            </a:r>
            <a:r>
              <a:rPr lang="en-US" altLang="en-US" sz="2000" dirty="0" err="1"/>
              <a:t>mọi</a:t>
            </a:r>
            <a:r>
              <a:rPr lang="en-US" altLang="en-US" sz="2000" dirty="0"/>
              <a:t> </a:t>
            </a:r>
            <a:r>
              <a:rPr lang="en-US" altLang="en-US" sz="2000" dirty="0" err="1"/>
              <a:t>tập</a:t>
            </a:r>
            <a:r>
              <a:rPr lang="en-US" altLang="en-US" sz="2000" dirty="0"/>
              <a:t> </a:t>
            </a:r>
            <a:r>
              <a:rPr lang="en-US" altLang="en-US" sz="2000" dirty="0" err="1"/>
              <a:t>dữ</a:t>
            </a:r>
            <a:r>
              <a:rPr lang="en-US" altLang="en-US" sz="2000" dirty="0"/>
              <a:t> </a:t>
            </a:r>
            <a:r>
              <a:rPr lang="en-US" altLang="en-US" sz="2000" dirty="0" err="1"/>
              <a:t>liệu</a:t>
            </a:r>
            <a:r>
              <a:rPr lang="en-US" altLang="en-US" sz="2000" dirty="0"/>
              <a:t> </a:t>
            </a:r>
            <a:r>
              <a:rPr lang="en-US" altLang="en-US" sz="2000" dirty="0" err="1"/>
              <a:t>vào</a:t>
            </a:r>
            <a:r>
              <a:rPr lang="en-US" altLang="en-US" sz="2000" dirty="0"/>
              <a:t> hay </a:t>
            </a:r>
            <a:r>
              <a:rPr lang="en-US" altLang="en-US" sz="2000" dirty="0" err="1"/>
              <a:t>không</a:t>
            </a:r>
            <a:r>
              <a:rPr lang="en-US" altLang="en-US" sz="2000" dirty="0"/>
              <a:t>.</a:t>
            </a:r>
          </a:p>
          <a:p>
            <a:pPr lvl="0">
              <a:lnSpc>
                <a:spcPct val="90000"/>
              </a:lnSpc>
              <a:buClr>
                <a:srgbClr val="727CA3"/>
              </a:buClr>
            </a:pPr>
            <a:r>
              <a:rPr lang="en-US" altLang="en-US" sz="2400" dirty="0" err="1"/>
              <a:t>Tìm</a:t>
            </a:r>
            <a:r>
              <a:rPr lang="en-US" altLang="en-US" sz="2400" dirty="0"/>
              <a:t> </a:t>
            </a:r>
            <a:r>
              <a:rPr lang="en-US" altLang="en-US" sz="2400" dirty="0" err="1"/>
              <a:t>hiểu</a:t>
            </a:r>
            <a:r>
              <a:rPr lang="en-US" altLang="en-US" sz="2400" dirty="0"/>
              <a:t> </a:t>
            </a:r>
            <a:r>
              <a:rPr lang="en-US" altLang="en-US" sz="2400" dirty="0" err="1"/>
              <a:t>mức</a:t>
            </a:r>
            <a:r>
              <a:rPr lang="en-US" altLang="en-US" sz="2400" dirty="0"/>
              <a:t> </a:t>
            </a:r>
            <a:r>
              <a:rPr lang="en-US" altLang="en-US" sz="2400" dirty="0" err="1"/>
              <a:t>độ</a:t>
            </a:r>
            <a:r>
              <a:rPr lang="en-US" altLang="en-US" sz="2400" dirty="0"/>
              <a:t> </a:t>
            </a:r>
            <a:r>
              <a:rPr lang="en-US" altLang="en-US" sz="2400" dirty="0" err="1"/>
              <a:t>tài</a:t>
            </a:r>
            <a:r>
              <a:rPr lang="en-US" altLang="en-US" sz="2400" dirty="0"/>
              <a:t> </a:t>
            </a:r>
            <a:r>
              <a:rPr lang="en-US" altLang="en-US" sz="2400" dirty="0" err="1"/>
              <a:t>nguyên</a:t>
            </a:r>
            <a:r>
              <a:rPr lang="en-US" altLang="en-US" sz="2400" dirty="0"/>
              <a:t> </a:t>
            </a:r>
            <a:r>
              <a:rPr lang="en-US" altLang="en-US" sz="2400" dirty="0" err="1"/>
              <a:t>mà</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sử</a:t>
            </a:r>
            <a:r>
              <a:rPr lang="en-US" altLang="en-US" sz="2400" dirty="0"/>
              <a:t> </a:t>
            </a:r>
            <a:r>
              <a:rPr lang="en-US" altLang="en-US" sz="2400" dirty="0" err="1"/>
              <a:t>dụng</a:t>
            </a:r>
            <a:r>
              <a:rPr lang="en-US" altLang="en-US" sz="2400" dirty="0"/>
              <a:t>:</a:t>
            </a:r>
          </a:p>
          <a:p>
            <a:pPr lvl="1">
              <a:lnSpc>
                <a:spcPct val="90000"/>
              </a:lnSpc>
              <a:buClr>
                <a:srgbClr val="727CA3"/>
              </a:buClr>
            </a:pPr>
            <a:r>
              <a:rPr lang="en-US" sz="2000" dirty="0"/>
              <a:t>T</a:t>
            </a:r>
            <a:r>
              <a:rPr lang="vi-VN" sz="2000" dirty="0"/>
              <a:t>ài nguyên tính toán gồm thời gian chạy và dung lượng bộ nhớ</a:t>
            </a:r>
            <a:endParaRPr lang="en-US" sz="2000" dirty="0"/>
          </a:p>
          <a:p>
            <a:pPr lvl="1">
              <a:lnSpc>
                <a:spcPct val="90000"/>
              </a:lnSpc>
              <a:buClr>
                <a:srgbClr val="727CA3"/>
              </a:buClr>
            </a:pPr>
            <a:r>
              <a:rPr lang="en-US" sz="2000" dirty="0"/>
              <a:t>=&gt; </a:t>
            </a:r>
            <a:r>
              <a:rPr lang="vi-VN" sz="2000" dirty="0"/>
              <a:t>đánh giá tính thực tế của giải thuật. </a:t>
            </a:r>
            <a:endParaRPr lang="en-US" sz="2400" dirty="0"/>
          </a:p>
        </p:txBody>
      </p:sp>
    </p:spTree>
    <p:extLst>
      <p:ext uri="{BB962C8B-B14F-4D97-AF65-F5344CB8AC3E}">
        <p14:creationId xmlns:p14="http://schemas.microsoft.com/office/powerpoint/2010/main" val="327905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17</a:t>
            </a:fld>
            <a:endParaRPr lang="en-US"/>
          </a:p>
        </p:txBody>
      </p:sp>
      <p:sp>
        <p:nvSpPr>
          <p:cNvPr id="2" name="Title 1"/>
          <p:cNvSpPr>
            <a:spLocks noGrp="1"/>
          </p:cNvSpPr>
          <p:nvPr>
            <p:ph type="title"/>
          </p:nvPr>
        </p:nvSpPr>
        <p:spPr/>
        <p:txBody>
          <a:bodyPr/>
          <a:lstStyle/>
          <a:p>
            <a:r>
              <a:rPr lang="en-US" altLang="en-US" dirty="0"/>
              <a:t>4.2.2. </a:t>
            </a:r>
            <a:r>
              <a:rPr lang="en-US" dirty="0" err="1"/>
              <a:t>Các</a:t>
            </a:r>
            <a:r>
              <a:rPr lang="en-US" dirty="0"/>
              <a:t> </a:t>
            </a:r>
            <a:r>
              <a:rPr lang="en-US" dirty="0" err="1"/>
              <a:t>vấn</a:t>
            </a:r>
            <a:r>
              <a:rPr lang="en-US" dirty="0"/>
              <a:t> </a:t>
            </a:r>
            <a:r>
              <a:rPr lang="en-US" dirty="0" err="1"/>
              <a:t>đề</a:t>
            </a:r>
            <a:r>
              <a:rPr lang="en-US" dirty="0"/>
              <a:t> </a:t>
            </a:r>
            <a:r>
              <a:rPr lang="en-US" dirty="0" err="1"/>
              <a:t>cần</a:t>
            </a:r>
            <a:r>
              <a:rPr lang="en-US" dirty="0"/>
              <a:t> </a:t>
            </a:r>
            <a:r>
              <a:rPr lang="en-US" dirty="0" err="1"/>
              <a:t>đánh</a:t>
            </a:r>
            <a:r>
              <a:rPr lang="en-US" dirty="0"/>
              <a:t> </a:t>
            </a:r>
            <a:r>
              <a:rPr lang="en-US" dirty="0" err="1"/>
              <a:t>giá</a:t>
            </a:r>
            <a:endParaRPr lang="en-US" dirty="0"/>
          </a:p>
        </p:txBody>
      </p:sp>
      <p:sp>
        <p:nvSpPr>
          <p:cNvPr id="3" name="Content Placeholder 2"/>
          <p:cNvSpPr>
            <a:spLocks noGrp="1"/>
          </p:cNvSpPr>
          <p:nvPr>
            <p:ph type="body" sz="quarter" idx="13"/>
          </p:nvPr>
        </p:nvSpPr>
        <p:spPr/>
        <p:txBody>
          <a:bodyPr>
            <a:normAutofit/>
          </a:bodyPr>
          <a:lstStyle/>
          <a:p>
            <a:pPr eaLnBrk="1" hangingPunct="1"/>
            <a:r>
              <a:rPr lang="en-US" altLang="en-US" sz="2400" dirty="0" err="1"/>
              <a:t>Xác</a:t>
            </a:r>
            <a:r>
              <a:rPr lang="en-US" altLang="en-US" sz="2400" dirty="0"/>
              <a:t> </a:t>
            </a:r>
            <a:r>
              <a:rPr lang="en-US" altLang="en-US" sz="2400" dirty="0" err="1"/>
              <a:t>định</a:t>
            </a:r>
            <a:r>
              <a:rPr lang="en-US" altLang="en-US" sz="2400" dirty="0"/>
              <a:t> </a:t>
            </a:r>
            <a:r>
              <a:rPr lang="en-US" altLang="en-US" sz="2400" dirty="0" err="1"/>
              <a:t>tính</a:t>
            </a:r>
            <a:r>
              <a:rPr lang="en-US" altLang="en-US" sz="2400" dirty="0"/>
              <a:t> </a:t>
            </a:r>
            <a:r>
              <a:rPr lang="en-US" altLang="en-US" sz="2400" dirty="0" err="1"/>
              <a:t>đúng</a:t>
            </a:r>
            <a:r>
              <a:rPr lang="en-US" altLang="en-US" sz="2400" dirty="0"/>
              <a:t> </a:t>
            </a:r>
            <a:r>
              <a:rPr lang="en-US" altLang="en-US" sz="2400" dirty="0" err="1"/>
              <a:t>đắn</a:t>
            </a:r>
            <a:r>
              <a:rPr lang="en-US" altLang="en-US" sz="2400" dirty="0"/>
              <a:t> </a:t>
            </a:r>
            <a:r>
              <a:rPr lang="en-US" altLang="en-US" sz="2400" dirty="0" err="1"/>
              <a:t>của</a:t>
            </a:r>
            <a:r>
              <a:rPr lang="en-US" altLang="en-US" sz="2400" dirty="0"/>
              <a:t> GT:</a:t>
            </a:r>
          </a:p>
          <a:p>
            <a:pPr lvl="1" eaLnBrk="1" hangingPunct="1"/>
            <a:r>
              <a:rPr lang="en-US" altLang="en-US" sz="2000" dirty="0" err="1"/>
              <a:t>Chứng</a:t>
            </a:r>
            <a:r>
              <a:rPr lang="en-US" altLang="en-US" sz="2000" dirty="0"/>
              <a:t> minh </a:t>
            </a:r>
            <a:r>
              <a:rPr lang="en-US" altLang="en-US" sz="2000" dirty="0" err="1"/>
              <a:t>bằng</a:t>
            </a:r>
            <a:r>
              <a:rPr lang="en-US" altLang="en-US" sz="2000" dirty="0"/>
              <a:t> </a:t>
            </a:r>
            <a:r>
              <a:rPr lang="en-US" altLang="en-US" sz="2000" dirty="0" err="1"/>
              <a:t>quy</a:t>
            </a:r>
            <a:r>
              <a:rPr lang="en-US" altLang="en-US" sz="2000" dirty="0"/>
              <a:t> </a:t>
            </a:r>
            <a:r>
              <a:rPr lang="en-US" altLang="en-US" sz="2000" dirty="0" err="1"/>
              <a:t>nạp</a:t>
            </a:r>
            <a:r>
              <a:rPr lang="en-US" altLang="en-US" sz="2000" dirty="0"/>
              <a:t> (</a:t>
            </a:r>
            <a:r>
              <a:rPr lang="en-US" sz="2000" dirty="0"/>
              <a:t>Proof by Induction</a:t>
            </a:r>
            <a:r>
              <a:rPr lang="en-US" altLang="en-US" sz="2000" dirty="0"/>
              <a:t>)</a:t>
            </a:r>
          </a:p>
          <a:p>
            <a:pPr lvl="1" eaLnBrk="1" hangingPunct="1"/>
            <a:r>
              <a:rPr lang="en-US" altLang="en-US" sz="2000" dirty="0" err="1"/>
              <a:t>Chứng</a:t>
            </a:r>
            <a:r>
              <a:rPr lang="en-US" altLang="en-US" sz="2000" dirty="0"/>
              <a:t> minh </a:t>
            </a:r>
            <a:r>
              <a:rPr lang="en-US" altLang="en-US" sz="2000" dirty="0" err="1"/>
              <a:t>bằng</a:t>
            </a:r>
            <a:r>
              <a:rPr lang="en-US" altLang="en-US" sz="2000" dirty="0"/>
              <a:t> </a:t>
            </a:r>
            <a:r>
              <a:rPr lang="en-US" altLang="en-US" sz="2000" dirty="0" err="1"/>
              <a:t>phản</a:t>
            </a:r>
            <a:r>
              <a:rPr lang="en-US" altLang="en-US" sz="2000" dirty="0"/>
              <a:t> </a:t>
            </a:r>
            <a:r>
              <a:rPr lang="en-US" altLang="en-US" sz="2000" dirty="0" err="1"/>
              <a:t>ví</a:t>
            </a:r>
            <a:r>
              <a:rPr lang="en-US" altLang="en-US" sz="2000" dirty="0"/>
              <a:t> </a:t>
            </a:r>
            <a:r>
              <a:rPr lang="en-US" altLang="en-US" sz="2000" dirty="0" err="1"/>
              <a:t>dụ</a:t>
            </a:r>
            <a:r>
              <a:rPr lang="en-US" altLang="en-US" sz="2000" dirty="0"/>
              <a:t> (</a:t>
            </a:r>
            <a:r>
              <a:rPr lang="en-US" sz="2000" dirty="0"/>
              <a:t>Counterexample</a:t>
            </a:r>
            <a:r>
              <a:rPr lang="en-US" altLang="en-US" sz="2000" dirty="0"/>
              <a:t>)</a:t>
            </a:r>
          </a:p>
          <a:p>
            <a:r>
              <a:rPr lang="en-US" altLang="en-US" sz="2400" dirty="0" err="1"/>
              <a:t>Ước</a:t>
            </a:r>
            <a:r>
              <a:rPr lang="en-US" altLang="en-US" sz="2400" dirty="0"/>
              <a:t> </a:t>
            </a:r>
            <a:r>
              <a:rPr lang="en-US" altLang="en-US" sz="2400" dirty="0" err="1"/>
              <a:t>lượng</a:t>
            </a:r>
            <a:r>
              <a:rPr lang="en-US" altLang="en-US" sz="2400" dirty="0"/>
              <a:t> </a:t>
            </a:r>
            <a:r>
              <a:rPr lang="en-US" altLang="en-US" sz="2400" dirty="0" err="1"/>
              <a:t>kích</a:t>
            </a:r>
            <a:r>
              <a:rPr lang="en-US" altLang="en-US" sz="2400" dirty="0"/>
              <a:t> </a:t>
            </a:r>
            <a:r>
              <a:rPr lang="en-US" altLang="en-US" sz="2400" dirty="0" err="1"/>
              <a:t>thước</a:t>
            </a:r>
            <a:r>
              <a:rPr lang="en-US" altLang="en-US" sz="2400" dirty="0"/>
              <a:t> </a:t>
            </a:r>
            <a:r>
              <a:rPr lang="en-US" altLang="en-US" sz="2400" dirty="0" err="1"/>
              <a:t>bộ</a:t>
            </a:r>
            <a:r>
              <a:rPr lang="en-US" altLang="en-US" sz="2400" dirty="0"/>
              <a:t> </a:t>
            </a:r>
            <a:r>
              <a:rPr lang="en-US" altLang="en-US" sz="2400" dirty="0" err="1"/>
              <a:t>nhớ</a:t>
            </a:r>
            <a:r>
              <a:rPr lang="en-US" altLang="en-US" sz="2400" dirty="0"/>
              <a:t> (</a:t>
            </a:r>
            <a:r>
              <a:rPr lang="en-US" altLang="en-US" sz="2400" dirty="0" err="1"/>
              <a:t>độ</a:t>
            </a:r>
            <a:r>
              <a:rPr lang="en-US" altLang="en-US" sz="2400" dirty="0"/>
              <a:t> </a:t>
            </a:r>
            <a:r>
              <a:rPr lang="en-US" altLang="en-US" sz="2400" dirty="0" err="1"/>
              <a:t>phức</a:t>
            </a:r>
            <a:r>
              <a:rPr lang="en-US" altLang="en-US" sz="2400" dirty="0"/>
              <a:t> </a:t>
            </a:r>
            <a:r>
              <a:rPr lang="en-US" altLang="en-US" sz="2400" dirty="0" err="1"/>
              <a:t>tạp</a:t>
            </a:r>
            <a:r>
              <a:rPr lang="en-US" altLang="en-US" sz="2400" dirty="0"/>
              <a:t> </a:t>
            </a:r>
            <a:r>
              <a:rPr lang="en-US" altLang="en-US" sz="2400" dirty="0" err="1"/>
              <a:t>bộ</a:t>
            </a:r>
            <a:r>
              <a:rPr lang="en-US" altLang="en-US" sz="2400" dirty="0"/>
              <a:t> </a:t>
            </a:r>
            <a:r>
              <a:rPr lang="en-US" altLang="en-US" sz="2400" dirty="0" err="1"/>
              <a:t>nhớ</a:t>
            </a:r>
            <a:r>
              <a:rPr lang="en-US" altLang="en-US" sz="2400" dirty="0"/>
              <a:t>)</a:t>
            </a:r>
          </a:p>
          <a:p>
            <a:pPr lvl="1"/>
            <a:r>
              <a:rPr lang="en-US" altLang="en-US" sz="2000" dirty="0" err="1"/>
              <a:t>Thường</a:t>
            </a:r>
            <a:r>
              <a:rPr lang="en-US" altLang="en-US" sz="2000" dirty="0"/>
              <a:t> </a:t>
            </a:r>
            <a:r>
              <a:rPr lang="en-US" altLang="en-US" sz="2000" dirty="0" err="1"/>
              <a:t>dựa</a:t>
            </a:r>
            <a:r>
              <a:rPr lang="en-US" altLang="en-US" sz="2000" dirty="0"/>
              <a:t> </a:t>
            </a:r>
            <a:r>
              <a:rPr lang="en-US" altLang="en-US" sz="2000" dirty="0" err="1"/>
              <a:t>trên</a:t>
            </a:r>
            <a:r>
              <a:rPr lang="en-US" altLang="en-US" sz="2000" dirty="0"/>
              <a:t> </a:t>
            </a:r>
            <a:r>
              <a:rPr lang="vi-VN" sz="2000" dirty="0"/>
              <a:t>kích thước dữ liệu của giải thuật</a:t>
            </a:r>
            <a:endParaRPr lang="en-US" altLang="en-US" sz="2000" dirty="0"/>
          </a:p>
          <a:p>
            <a:pPr eaLnBrk="1" hangingPunct="1"/>
            <a:r>
              <a:rPr lang="en-US" altLang="en-US" sz="2400" dirty="0" err="1"/>
              <a:t>Ước</a:t>
            </a:r>
            <a:r>
              <a:rPr lang="en-US" altLang="en-US" sz="2400" dirty="0"/>
              <a:t> </a:t>
            </a:r>
            <a:r>
              <a:rPr lang="en-US" altLang="en-US" sz="2400" dirty="0" err="1"/>
              <a:t>lượng</a:t>
            </a:r>
            <a:r>
              <a:rPr lang="en-US" altLang="en-US" sz="2400" dirty="0"/>
              <a:t> </a:t>
            </a:r>
            <a:r>
              <a:rPr lang="en-US" altLang="en-US" sz="2400" dirty="0" err="1"/>
              <a:t>thời</a:t>
            </a:r>
            <a:r>
              <a:rPr lang="en-US" altLang="en-US" sz="2400" dirty="0"/>
              <a:t> </a:t>
            </a:r>
            <a:r>
              <a:rPr lang="en-US" altLang="en-US" sz="2400" dirty="0" err="1"/>
              <a:t>gian</a:t>
            </a:r>
            <a:r>
              <a:rPr lang="en-US" altLang="en-US" sz="2400" dirty="0"/>
              <a:t> </a:t>
            </a:r>
            <a:r>
              <a:rPr lang="en-US" altLang="en-US" sz="2400" dirty="0" err="1"/>
              <a:t>thực</a:t>
            </a:r>
            <a:r>
              <a:rPr lang="en-US" altLang="en-US" sz="2400" dirty="0"/>
              <a:t> </a:t>
            </a:r>
            <a:r>
              <a:rPr lang="en-US" altLang="en-US" sz="2400" dirty="0" err="1"/>
              <a:t>hiện</a:t>
            </a:r>
            <a:r>
              <a:rPr lang="en-US" altLang="en-US" sz="2400" dirty="0"/>
              <a:t> (</a:t>
            </a:r>
            <a:r>
              <a:rPr lang="en-US" altLang="en-US" sz="2400" dirty="0" err="1"/>
              <a:t>độ</a:t>
            </a:r>
            <a:r>
              <a:rPr lang="en-US" altLang="en-US" sz="2400" dirty="0"/>
              <a:t> </a:t>
            </a:r>
            <a:r>
              <a:rPr lang="en-US" altLang="en-US" sz="2400" dirty="0" err="1"/>
              <a:t>phức</a:t>
            </a:r>
            <a:r>
              <a:rPr lang="en-US" altLang="en-US" sz="2400" dirty="0"/>
              <a:t> </a:t>
            </a:r>
            <a:r>
              <a:rPr lang="en-US" altLang="en-US" sz="2400" dirty="0" err="1"/>
              <a:t>tạp</a:t>
            </a:r>
            <a:r>
              <a:rPr lang="en-US" altLang="en-US" sz="2400" dirty="0"/>
              <a:t> </a:t>
            </a:r>
            <a:r>
              <a:rPr lang="en-US" altLang="en-US" sz="2400" dirty="0" err="1"/>
              <a:t>tính</a:t>
            </a:r>
            <a:r>
              <a:rPr lang="en-US" altLang="en-US" sz="2400" dirty="0"/>
              <a:t> </a:t>
            </a:r>
            <a:r>
              <a:rPr lang="en-US" altLang="en-US" sz="2400" dirty="0" err="1"/>
              <a:t>toán</a:t>
            </a:r>
            <a:r>
              <a:rPr lang="en-US" altLang="en-US" sz="2400" dirty="0"/>
              <a:t>) </a:t>
            </a:r>
          </a:p>
          <a:p>
            <a:pPr lvl="1" eaLnBrk="1" hangingPunct="1"/>
            <a:r>
              <a:rPr lang="en-US" altLang="en-US" sz="2000" dirty="0" err="1"/>
              <a:t>Thủ</a:t>
            </a:r>
            <a:r>
              <a:rPr lang="en-US" altLang="en-US" sz="2000" dirty="0"/>
              <a:t> </a:t>
            </a:r>
            <a:r>
              <a:rPr lang="en-US" altLang="en-US" sz="2000" dirty="0" err="1"/>
              <a:t>công</a:t>
            </a:r>
            <a:r>
              <a:rPr lang="en-US" altLang="en-US" sz="2000" dirty="0"/>
              <a:t>: </a:t>
            </a:r>
            <a:r>
              <a:rPr lang="en-US" altLang="en-US" sz="2000" dirty="0" err="1"/>
              <a:t>dùng</a:t>
            </a:r>
            <a:r>
              <a:rPr lang="en-US" altLang="en-US" sz="2000" dirty="0"/>
              <a:t> </a:t>
            </a:r>
            <a:r>
              <a:rPr lang="en-US" altLang="en-US" sz="2000" dirty="0" err="1"/>
              <a:t>đồng</a:t>
            </a:r>
            <a:r>
              <a:rPr lang="en-US" altLang="en-US" sz="2000" dirty="0"/>
              <a:t> </a:t>
            </a:r>
            <a:r>
              <a:rPr lang="en-US" altLang="en-US" sz="2000" dirty="0" err="1"/>
              <a:t>hồ</a:t>
            </a:r>
            <a:r>
              <a:rPr lang="en-US" altLang="en-US" sz="2000" dirty="0"/>
              <a:t> </a:t>
            </a:r>
            <a:r>
              <a:rPr lang="en-US" altLang="en-US" sz="2000" dirty="0" err="1"/>
              <a:t>đo</a:t>
            </a:r>
            <a:r>
              <a:rPr lang="en-US" altLang="en-US" sz="2000" dirty="0"/>
              <a:t> </a:t>
            </a:r>
          </a:p>
          <a:p>
            <a:pPr lvl="2"/>
            <a:r>
              <a:rPr lang="en-US" sz="1600" dirty="0" err="1"/>
              <a:t>Sử</a:t>
            </a:r>
            <a:r>
              <a:rPr lang="en-US" sz="1600" dirty="0"/>
              <a:t> </a:t>
            </a:r>
            <a:r>
              <a:rPr lang="en-US" sz="1600" dirty="0" err="1"/>
              <a:t>dụng</a:t>
            </a:r>
            <a:r>
              <a:rPr lang="en-US" sz="1600" dirty="0"/>
              <a:t> </a:t>
            </a:r>
            <a:r>
              <a:rPr lang="en-US" sz="1600" dirty="0" err="1"/>
              <a:t>đồng</a:t>
            </a:r>
            <a:r>
              <a:rPr lang="en-US" sz="1600" dirty="0"/>
              <a:t> </a:t>
            </a:r>
            <a:r>
              <a:rPr lang="en-US" sz="1600" dirty="0" err="1"/>
              <a:t>hồ</a:t>
            </a:r>
            <a:r>
              <a:rPr lang="en-US" sz="1600" dirty="0"/>
              <a:t> </a:t>
            </a:r>
            <a:r>
              <a:rPr lang="en-US" sz="1600" dirty="0" err="1"/>
              <a:t>của</a:t>
            </a:r>
            <a:r>
              <a:rPr lang="en-US" sz="1600" dirty="0"/>
              <a:t> </a:t>
            </a:r>
            <a:r>
              <a:rPr lang="en-US" sz="1600" dirty="0" err="1"/>
              <a:t>máy</a:t>
            </a:r>
            <a:r>
              <a:rPr lang="en-US" sz="1600" dirty="0"/>
              <a:t> </a:t>
            </a:r>
            <a:r>
              <a:rPr lang="en-US" sz="1600" dirty="0" err="1"/>
              <a:t>tính</a:t>
            </a:r>
            <a:r>
              <a:rPr lang="en-US" sz="1600" dirty="0"/>
              <a:t>: </a:t>
            </a:r>
            <a:r>
              <a:rPr lang="en-US" sz="1600" dirty="0" err="1"/>
              <a:t>phụ</a:t>
            </a:r>
            <a:r>
              <a:rPr lang="en-US" sz="1600" dirty="0"/>
              <a:t> </a:t>
            </a:r>
            <a:r>
              <a:rPr lang="en-US" sz="1600" dirty="0" err="1"/>
              <a:t>thuộc</a:t>
            </a:r>
            <a:r>
              <a:rPr lang="en-US" sz="1600" dirty="0"/>
              <a:t> </a:t>
            </a:r>
            <a:r>
              <a:rPr lang="en-US" sz="1600" dirty="0" err="1"/>
              <a:t>vào</a:t>
            </a:r>
            <a:r>
              <a:rPr lang="en-US" sz="1600" dirty="0"/>
              <a:t> </a:t>
            </a:r>
            <a:r>
              <a:rPr lang="en-US" sz="1600" dirty="0" err="1"/>
              <a:t>cấu</a:t>
            </a:r>
            <a:r>
              <a:rPr lang="en-US" sz="1600" dirty="0"/>
              <a:t> </a:t>
            </a:r>
            <a:r>
              <a:rPr lang="en-US" sz="1600" dirty="0" err="1"/>
              <a:t>hình</a:t>
            </a:r>
            <a:r>
              <a:rPr lang="en-US" sz="1600" dirty="0"/>
              <a:t>, </a:t>
            </a:r>
            <a:r>
              <a:rPr lang="en-US" sz="1600" dirty="0" err="1"/>
              <a:t>cần</a:t>
            </a:r>
            <a:r>
              <a:rPr lang="en-US" sz="1600" dirty="0"/>
              <a:t> </a:t>
            </a:r>
            <a:r>
              <a:rPr lang="en-US" sz="1600" dirty="0" err="1"/>
              <a:t>chạy</a:t>
            </a:r>
            <a:r>
              <a:rPr lang="en-US" sz="1600" dirty="0"/>
              <a:t> </a:t>
            </a:r>
            <a:r>
              <a:rPr lang="en-US" sz="1600" dirty="0" err="1"/>
              <a:t>thực</a:t>
            </a:r>
            <a:r>
              <a:rPr lang="en-US" sz="1600" dirty="0"/>
              <a:t>, </a:t>
            </a:r>
            <a:r>
              <a:rPr lang="en-US" sz="1600" dirty="0" err="1"/>
              <a:t>tốn</a:t>
            </a:r>
            <a:r>
              <a:rPr lang="en-US" sz="1600" dirty="0"/>
              <a:t> </a:t>
            </a:r>
            <a:r>
              <a:rPr lang="en-US" sz="1600" dirty="0" err="1"/>
              <a:t>kém</a:t>
            </a:r>
            <a:r>
              <a:rPr lang="en-US" sz="1600" dirty="0"/>
              <a:t> </a:t>
            </a:r>
            <a:r>
              <a:rPr lang="en-US" sz="1600" dirty="0" err="1"/>
              <a:t>thời</a:t>
            </a:r>
            <a:r>
              <a:rPr lang="en-US" sz="1600" dirty="0"/>
              <a:t> </a:t>
            </a:r>
            <a:r>
              <a:rPr lang="en-US" sz="1600" dirty="0" err="1"/>
              <a:t>gian</a:t>
            </a:r>
            <a:r>
              <a:rPr lang="en-US" sz="1600" dirty="0"/>
              <a:t> </a:t>
            </a:r>
            <a:r>
              <a:rPr lang="en-US" sz="1600" dirty="0" err="1"/>
              <a:t>tài</a:t>
            </a:r>
            <a:r>
              <a:rPr lang="en-US" sz="1600" dirty="0"/>
              <a:t> </a:t>
            </a:r>
            <a:r>
              <a:rPr lang="en-US" sz="1600" dirty="0" err="1"/>
              <a:t>nguyên</a:t>
            </a:r>
            <a:r>
              <a:rPr lang="en-US" sz="1600" dirty="0"/>
              <a:t> </a:t>
            </a:r>
            <a:r>
              <a:rPr lang="en-US" sz="1600" dirty="0" err="1"/>
              <a:t>nếu</a:t>
            </a:r>
            <a:r>
              <a:rPr lang="en-US" sz="1600" dirty="0"/>
              <a:t> GT </a:t>
            </a:r>
            <a:r>
              <a:rPr lang="en-US" sz="1600" dirty="0" err="1"/>
              <a:t>không</a:t>
            </a:r>
            <a:r>
              <a:rPr lang="en-US" sz="1600" dirty="0"/>
              <a:t> </a:t>
            </a:r>
            <a:r>
              <a:rPr lang="en-US" sz="1600" dirty="0" err="1"/>
              <a:t>tốt</a:t>
            </a:r>
            <a:endParaRPr lang="en-US" altLang="en-US" sz="1600" dirty="0"/>
          </a:p>
          <a:p>
            <a:pPr lvl="1" eaLnBrk="1" hangingPunct="1"/>
            <a:r>
              <a:rPr lang="en-US" altLang="en-US" sz="2000" dirty="0" err="1"/>
              <a:t>Lý</a:t>
            </a:r>
            <a:r>
              <a:rPr lang="en-US" altLang="en-US" sz="2000" dirty="0"/>
              <a:t> </a:t>
            </a:r>
            <a:r>
              <a:rPr lang="en-US" altLang="en-US" sz="2000" dirty="0" err="1"/>
              <a:t>thuyết</a:t>
            </a:r>
            <a:r>
              <a:rPr lang="en-US" altLang="en-US" sz="2000" dirty="0"/>
              <a:t>: </a:t>
            </a:r>
            <a:r>
              <a:rPr lang="en-US" altLang="en-US" sz="2000" dirty="0" err="1">
                <a:solidFill>
                  <a:srgbClr val="FF0000"/>
                </a:solidFill>
              </a:rPr>
              <a:t>xác</a:t>
            </a:r>
            <a:r>
              <a:rPr lang="en-US" altLang="en-US" sz="2000" dirty="0">
                <a:solidFill>
                  <a:srgbClr val="FF0000"/>
                </a:solidFill>
              </a:rPr>
              <a:t> </a:t>
            </a:r>
            <a:r>
              <a:rPr lang="en-US" altLang="en-US" sz="2000" dirty="0" err="1">
                <a:solidFill>
                  <a:srgbClr val="FF0000"/>
                </a:solidFill>
              </a:rPr>
              <a:t>định</a:t>
            </a:r>
            <a:r>
              <a:rPr lang="en-US" altLang="en-US" sz="2000" dirty="0">
                <a:solidFill>
                  <a:srgbClr val="FF0000"/>
                </a:solidFill>
              </a:rPr>
              <a:t> </a:t>
            </a:r>
            <a:r>
              <a:rPr lang="en-US" altLang="en-US" sz="2000" dirty="0" err="1">
                <a:solidFill>
                  <a:srgbClr val="FF0000"/>
                </a:solidFill>
              </a:rPr>
              <a:t>độ</a:t>
            </a:r>
            <a:r>
              <a:rPr lang="en-US" altLang="en-US" sz="2000" dirty="0">
                <a:solidFill>
                  <a:srgbClr val="FF0000"/>
                </a:solidFill>
              </a:rPr>
              <a:t> </a:t>
            </a:r>
            <a:r>
              <a:rPr lang="en-US" altLang="en-US" sz="2000" dirty="0" err="1">
                <a:solidFill>
                  <a:srgbClr val="FF0000"/>
                </a:solidFill>
              </a:rPr>
              <a:t>phức</a:t>
            </a:r>
            <a:r>
              <a:rPr lang="en-US" altLang="en-US" sz="2000" dirty="0">
                <a:solidFill>
                  <a:srgbClr val="FF0000"/>
                </a:solidFill>
              </a:rPr>
              <a:t> </a:t>
            </a:r>
            <a:r>
              <a:rPr lang="en-US" altLang="en-US" sz="2000" dirty="0" err="1">
                <a:solidFill>
                  <a:srgbClr val="FF0000"/>
                </a:solidFill>
              </a:rPr>
              <a:t>tạp</a:t>
            </a:r>
            <a:r>
              <a:rPr lang="en-US" altLang="en-US" sz="2000" dirty="0">
                <a:solidFill>
                  <a:srgbClr val="FF0000"/>
                </a:solidFill>
              </a:rPr>
              <a:t> </a:t>
            </a:r>
            <a:r>
              <a:rPr lang="en-US" altLang="en-US" sz="2000" dirty="0" err="1">
                <a:solidFill>
                  <a:srgbClr val="FF0000"/>
                </a:solidFill>
              </a:rPr>
              <a:t>của</a:t>
            </a:r>
            <a:r>
              <a:rPr lang="en-US" altLang="en-US" sz="2000" dirty="0">
                <a:solidFill>
                  <a:srgbClr val="FF0000"/>
                </a:solidFill>
              </a:rPr>
              <a:t> GT</a:t>
            </a:r>
          </a:p>
          <a:p>
            <a:endParaRPr lang="en-US" sz="2400" dirty="0"/>
          </a:p>
        </p:txBody>
      </p:sp>
    </p:spTree>
    <p:extLst>
      <p:ext uri="{BB962C8B-B14F-4D97-AF65-F5344CB8AC3E}">
        <p14:creationId xmlns:p14="http://schemas.microsoft.com/office/powerpoint/2010/main" val="2101418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18</a:t>
            </a:fld>
            <a:endParaRPr lang="en-US"/>
          </a:p>
        </p:txBody>
      </p:sp>
      <p:sp>
        <p:nvSpPr>
          <p:cNvPr id="2" name="Title 1"/>
          <p:cNvSpPr>
            <a:spLocks noGrp="1"/>
          </p:cNvSpPr>
          <p:nvPr>
            <p:ph type="title"/>
          </p:nvPr>
        </p:nvSpPr>
        <p:spPr/>
        <p:txBody>
          <a:bodyPr/>
          <a:lstStyle/>
          <a:p>
            <a:r>
              <a:rPr lang="en-US" altLang="en-US" dirty="0" err="1"/>
              <a:t>Xác</a:t>
            </a:r>
            <a:r>
              <a:rPr lang="en-US" altLang="en-US" dirty="0"/>
              <a:t> </a:t>
            </a:r>
            <a:r>
              <a:rPr lang="en-US" altLang="en-US" dirty="0" err="1"/>
              <a:t>định</a:t>
            </a:r>
            <a:r>
              <a:rPr lang="en-US" altLang="en-US" dirty="0"/>
              <a:t> </a:t>
            </a:r>
            <a:r>
              <a:rPr lang="en-US" altLang="en-US" dirty="0" err="1"/>
              <a:t>độ</a:t>
            </a:r>
            <a:r>
              <a:rPr lang="en-US" altLang="en-US" dirty="0"/>
              <a:t> </a:t>
            </a:r>
            <a:r>
              <a:rPr lang="en-US" altLang="en-US" dirty="0" err="1"/>
              <a:t>phức</a:t>
            </a:r>
            <a:r>
              <a:rPr lang="en-US" altLang="en-US" dirty="0"/>
              <a:t> </a:t>
            </a:r>
            <a:r>
              <a:rPr lang="en-US" altLang="en-US" dirty="0" err="1"/>
              <a:t>tạp</a:t>
            </a:r>
            <a:r>
              <a:rPr lang="en-US" altLang="en-US" dirty="0"/>
              <a:t> </a:t>
            </a:r>
            <a:r>
              <a:rPr lang="en-US" altLang="en-US" dirty="0" err="1"/>
              <a:t>của</a:t>
            </a:r>
            <a:r>
              <a:rPr lang="en-US" altLang="en-US" dirty="0"/>
              <a:t> GT</a:t>
            </a:r>
            <a:endParaRPr lang="en-US" dirty="0"/>
          </a:p>
        </p:txBody>
      </p:sp>
      <p:sp>
        <p:nvSpPr>
          <p:cNvPr id="3" name="Content Placeholder 2"/>
          <p:cNvSpPr>
            <a:spLocks noGrp="1"/>
          </p:cNvSpPr>
          <p:nvPr>
            <p:ph type="body" sz="quarter" idx="13"/>
          </p:nvPr>
        </p:nvSpPr>
        <p:spPr/>
        <p:txBody>
          <a:bodyPr>
            <a:normAutofit/>
          </a:bodyPr>
          <a:lstStyle/>
          <a:p>
            <a:pPr eaLnBrk="1" hangingPunct="1"/>
            <a:r>
              <a:rPr lang="en-US" sz="2400" dirty="0"/>
              <a:t>Đ</a:t>
            </a:r>
            <a:r>
              <a:rPr lang="vi-VN" sz="2400" dirty="0"/>
              <a:t>ánh giá</a:t>
            </a:r>
            <a:r>
              <a:rPr lang="en-US" sz="2400" dirty="0"/>
              <a:t> </a:t>
            </a:r>
            <a:r>
              <a:rPr lang="en-US" sz="2400" dirty="0" err="1"/>
              <a:t>về</a:t>
            </a:r>
            <a:r>
              <a:rPr lang="en-US" sz="2400" dirty="0"/>
              <a:t> </a:t>
            </a:r>
            <a:r>
              <a:rPr lang="en-US" sz="2400" dirty="0" err="1"/>
              <a:t>thời</a:t>
            </a:r>
            <a:r>
              <a:rPr lang="en-US" sz="2400" dirty="0"/>
              <a:t> </a:t>
            </a:r>
            <a:r>
              <a:rPr lang="en-US" sz="2400" dirty="0" err="1"/>
              <a:t>gian</a:t>
            </a:r>
            <a:r>
              <a:rPr lang="en-US" sz="2400" dirty="0"/>
              <a:t> </a:t>
            </a:r>
            <a:r>
              <a:rPr lang="en-US" sz="2400" dirty="0" err="1"/>
              <a:t>thực</a:t>
            </a:r>
            <a:r>
              <a:rPr lang="en-US" sz="2400" dirty="0"/>
              <a:t> </a:t>
            </a:r>
            <a:r>
              <a:rPr lang="en-US" sz="2400" dirty="0" err="1"/>
              <a:t>hiện</a:t>
            </a:r>
            <a:endParaRPr lang="en-US" sz="2400" dirty="0"/>
          </a:p>
          <a:p>
            <a:pPr lvl="1"/>
            <a:r>
              <a:rPr lang="en-US" sz="2400" dirty="0" err="1"/>
              <a:t>Đánh</a:t>
            </a:r>
            <a:r>
              <a:rPr lang="en-US" sz="2400" dirty="0"/>
              <a:t> </a:t>
            </a:r>
            <a:r>
              <a:rPr lang="en-US" sz="2400" dirty="0" err="1"/>
              <a:t>giá</a:t>
            </a:r>
            <a:r>
              <a:rPr lang="en-US" sz="2400" dirty="0"/>
              <a:t> t</a:t>
            </a:r>
            <a:r>
              <a:rPr lang="vi-VN" sz="2400" dirty="0"/>
              <a:t>hời gian thực hiện giải thuật chỉ phụ thuộc vào </a:t>
            </a:r>
            <a:r>
              <a:rPr lang="vi-VN" sz="2400" i="1" u="sng" dirty="0"/>
              <a:t>dữ liệu vào </a:t>
            </a:r>
            <a:r>
              <a:rPr lang="vi-VN" sz="2400" dirty="0"/>
              <a:t>chứ không phụ thuộc vào môi trường cài đặt</a:t>
            </a:r>
            <a:endParaRPr lang="en-US" sz="2400" dirty="0"/>
          </a:p>
          <a:p>
            <a:pPr lvl="1"/>
            <a:r>
              <a:rPr lang="en-US" sz="2400" dirty="0"/>
              <a:t>G</a:t>
            </a:r>
            <a:r>
              <a:rPr lang="vi-VN" sz="2400" dirty="0"/>
              <a:t>iả sử giải thuật </a:t>
            </a:r>
            <a:r>
              <a:rPr lang="en-US" sz="2400" dirty="0" err="1"/>
              <a:t>được</a:t>
            </a:r>
            <a:r>
              <a:rPr lang="en-US" sz="2400" dirty="0"/>
              <a:t> </a:t>
            </a:r>
            <a:r>
              <a:rPr lang="vi-VN" sz="2400" dirty="0"/>
              <a:t>thực </a:t>
            </a:r>
            <a:r>
              <a:rPr lang="en-US" sz="2400" dirty="0" err="1"/>
              <a:t>thi</a:t>
            </a:r>
            <a:r>
              <a:rPr lang="vi-VN" sz="2400" dirty="0"/>
              <a:t> trên một máy tính trừu tượng mà thời gian thực hiện mỗi</a:t>
            </a:r>
            <a:r>
              <a:rPr lang="en-US" sz="2400" dirty="0"/>
              <a:t> </a:t>
            </a:r>
            <a:r>
              <a:rPr lang="en-US" sz="2400" dirty="0" err="1"/>
              <a:t>thao</a:t>
            </a:r>
            <a:r>
              <a:rPr lang="en-US" sz="2400" dirty="0"/>
              <a:t> </a:t>
            </a:r>
            <a:r>
              <a:rPr lang="en-US" sz="2400" dirty="0" err="1"/>
              <a:t>tác</a:t>
            </a:r>
            <a:r>
              <a:rPr lang="en-US" sz="2400" dirty="0"/>
              <a:t>/</a:t>
            </a:r>
            <a:r>
              <a:rPr lang="en-US" sz="2400" dirty="0" err="1"/>
              <a:t>câu</a:t>
            </a:r>
            <a:r>
              <a:rPr lang="en-US" sz="2400" dirty="0"/>
              <a:t> </a:t>
            </a:r>
            <a:r>
              <a:rPr lang="en-US" sz="2400" dirty="0" err="1"/>
              <a:t>lệnh</a:t>
            </a:r>
            <a:r>
              <a:rPr lang="en-US" sz="2400" dirty="0"/>
              <a:t> </a:t>
            </a:r>
            <a:r>
              <a:rPr lang="en-US" sz="2400" dirty="0" err="1"/>
              <a:t>đơn</a:t>
            </a:r>
            <a:r>
              <a:rPr lang="en-US" sz="2400" dirty="0"/>
              <a:t> </a:t>
            </a:r>
            <a:r>
              <a:rPr lang="vi-VN" sz="2400" dirty="0"/>
              <a:t>là như nhau và bằng </a:t>
            </a:r>
            <a:r>
              <a:rPr lang="en-US" sz="2400" dirty="0"/>
              <a:t>1</a:t>
            </a:r>
            <a:r>
              <a:rPr lang="vi-VN" sz="2400" dirty="0"/>
              <a:t> đơn vị thời gian</a:t>
            </a:r>
            <a:r>
              <a:rPr lang="en-US" sz="2400" dirty="0"/>
              <a:t> </a:t>
            </a:r>
          </a:p>
          <a:p>
            <a:pPr marL="342900" lvl="1" indent="0">
              <a:buNone/>
            </a:pPr>
            <a:br>
              <a:rPr lang="en-US" sz="2400" dirty="0"/>
            </a:br>
            <a:r>
              <a:rPr lang="en-US" sz="2400" dirty="0"/>
              <a:t>=&gt; </a:t>
            </a:r>
            <a:r>
              <a:rPr lang="en-US" sz="2400" dirty="0" err="1"/>
              <a:t>Thời</a:t>
            </a:r>
            <a:r>
              <a:rPr lang="en-US" sz="2400" dirty="0"/>
              <a:t> </a:t>
            </a:r>
            <a:r>
              <a:rPr lang="en-US" sz="2400" dirty="0" err="1"/>
              <a:t>gian</a:t>
            </a:r>
            <a:r>
              <a:rPr lang="en-US" sz="2400" dirty="0"/>
              <a:t> </a:t>
            </a:r>
            <a:r>
              <a:rPr lang="en-US" sz="2400" dirty="0" err="1"/>
              <a:t>thực</a:t>
            </a:r>
            <a:r>
              <a:rPr lang="en-US" sz="2400" dirty="0"/>
              <a:t> </a:t>
            </a:r>
            <a:r>
              <a:rPr lang="en-US" sz="2400" dirty="0" err="1"/>
              <a:t>hiện</a:t>
            </a:r>
            <a:r>
              <a:rPr lang="en-US" sz="2400" dirty="0"/>
              <a:t> </a:t>
            </a:r>
            <a:r>
              <a:rPr lang="en-US" sz="2400" dirty="0" err="1"/>
              <a:t>của</a:t>
            </a:r>
            <a:r>
              <a:rPr lang="en-US" sz="2400" dirty="0"/>
              <a:t> </a:t>
            </a:r>
            <a:r>
              <a:rPr lang="en-US" sz="2400" dirty="0" err="1"/>
              <a:t>giải</a:t>
            </a:r>
            <a:r>
              <a:rPr lang="en-US" sz="2400" dirty="0"/>
              <a:t> </a:t>
            </a:r>
            <a:r>
              <a:rPr lang="en-US" sz="2400" dirty="0" err="1"/>
              <a:t>thuật</a:t>
            </a:r>
            <a:r>
              <a:rPr lang="en-US" sz="2400" dirty="0"/>
              <a:t> = </a:t>
            </a:r>
            <a:r>
              <a:rPr lang="en-US" sz="2400" dirty="0" err="1"/>
              <a:t>tổng</a:t>
            </a:r>
            <a:r>
              <a:rPr lang="en-US" sz="2400" dirty="0"/>
              <a:t> </a:t>
            </a:r>
            <a:r>
              <a:rPr lang="en-US" sz="2400" dirty="0" err="1"/>
              <a:t>số</a:t>
            </a:r>
            <a:r>
              <a:rPr lang="en-US" sz="2400" dirty="0"/>
              <a:t> </a:t>
            </a:r>
            <a:r>
              <a:rPr lang="en-US" sz="2400" dirty="0" err="1"/>
              <a:t>lệnh</a:t>
            </a:r>
            <a:r>
              <a:rPr lang="en-US" sz="2400" dirty="0"/>
              <a:t> </a:t>
            </a:r>
            <a:r>
              <a:rPr lang="en-US" sz="2400" dirty="0" err="1"/>
              <a:t>mà</a:t>
            </a:r>
            <a:r>
              <a:rPr lang="en-US" sz="2400" dirty="0"/>
              <a:t> CT </a:t>
            </a:r>
            <a:r>
              <a:rPr lang="en-US" sz="2400" dirty="0" err="1"/>
              <a:t>thực</a:t>
            </a:r>
            <a:r>
              <a:rPr lang="en-US" sz="2400" dirty="0"/>
              <a:t> </a:t>
            </a:r>
            <a:r>
              <a:rPr lang="en-US" sz="2400" dirty="0" err="1"/>
              <a:t>hiện</a:t>
            </a:r>
            <a:endParaRPr lang="en-US" sz="2400" dirty="0"/>
          </a:p>
          <a:p>
            <a:pPr eaLnBrk="1" hangingPunct="1"/>
            <a:endParaRPr lang="en-US" sz="2400" dirty="0"/>
          </a:p>
        </p:txBody>
      </p:sp>
    </p:spTree>
    <p:extLst>
      <p:ext uri="{BB962C8B-B14F-4D97-AF65-F5344CB8AC3E}">
        <p14:creationId xmlns:p14="http://schemas.microsoft.com/office/powerpoint/2010/main" val="143807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19</a:t>
            </a:fld>
            <a:endParaRPr lang="en-US"/>
          </a:p>
        </p:txBody>
      </p:sp>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Content Placeholder 2"/>
          <p:cNvSpPr>
            <a:spLocks noGrp="1"/>
          </p:cNvSpPr>
          <p:nvPr>
            <p:ph type="body" sz="quarter" idx="13"/>
          </p:nvPr>
        </p:nvSpPr>
        <p:spPr/>
        <p:txBody>
          <a:bodyPr>
            <a:normAutofit/>
          </a:bodyPr>
          <a:lstStyle/>
          <a:p>
            <a:r>
              <a:rPr lang="en-US" sz="2400" dirty="0" err="1"/>
              <a:t>Bài</a:t>
            </a:r>
            <a:r>
              <a:rPr lang="en-US" sz="2400" dirty="0"/>
              <a:t> </a:t>
            </a:r>
            <a:r>
              <a:rPr lang="en-US" sz="2400" dirty="0" err="1"/>
              <a:t>toán</a:t>
            </a:r>
            <a:r>
              <a:rPr lang="en-US" sz="2400" dirty="0"/>
              <a:t> </a:t>
            </a:r>
            <a:r>
              <a:rPr lang="en-US" sz="2400" dirty="0" err="1"/>
              <a:t>nhân</a:t>
            </a:r>
            <a:r>
              <a:rPr lang="en-US" sz="2400" dirty="0"/>
              <a:t> 2 </a:t>
            </a:r>
            <a:r>
              <a:rPr lang="en-US" sz="2400" dirty="0" err="1"/>
              <a:t>số</a:t>
            </a:r>
            <a:r>
              <a:rPr lang="en-US" sz="2400" dirty="0"/>
              <a:t> </a:t>
            </a:r>
            <a:r>
              <a:rPr lang="en-US" sz="2400" dirty="0" err="1"/>
              <a:t>nguyên</a:t>
            </a:r>
            <a:endParaRPr lang="en-US" sz="2400" dirty="0"/>
          </a:p>
          <a:p>
            <a:pPr lvl="1"/>
            <a:r>
              <a:rPr lang="en-US" sz="2000" dirty="0" err="1"/>
              <a:t>Đầu</a:t>
            </a:r>
            <a:r>
              <a:rPr lang="en-US" sz="2000" dirty="0"/>
              <a:t> </a:t>
            </a:r>
            <a:r>
              <a:rPr lang="en-US" sz="2000" dirty="0" err="1"/>
              <a:t>vào</a:t>
            </a:r>
            <a:r>
              <a:rPr lang="en-US" sz="2000" dirty="0"/>
              <a:t>: 2 </a:t>
            </a:r>
            <a:r>
              <a:rPr lang="en-US" sz="2000" dirty="0" err="1"/>
              <a:t>số</a:t>
            </a:r>
            <a:r>
              <a:rPr lang="en-US" sz="2000" dirty="0"/>
              <a:t> </a:t>
            </a:r>
            <a:r>
              <a:rPr lang="en-US" sz="2000" dirty="0" err="1"/>
              <a:t>nguyên</a:t>
            </a:r>
            <a:r>
              <a:rPr lang="en-US" sz="2000" dirty="0"/>
              <a:t> </a:t>
            </a:r>
            <a:r>
              <a:rPr lang="en-US" sz="2000" i="1" dirty="0"/>
              <a:t>x, y</a:t>
            </a:r>
            <a:r>
              <a:rPr lang="en-US" sz="2000" dirty="0"/>
              <a:t> </a:t>
            </a:r>
            <a:r>
              <a:rPr lang="en-US" sz="2000" dirty="0" err="1"/>
              <a:t>có</a:t>
            </a:r>
            <a:r>
              <a:rPr lang="en-US" sz="2000" dirty="0"/>
              <a:t> </a:t>
            </a:r>
            <a:r>
              <a:rPr lang="en-US" sz="2000" i="1" dirty="0"/>
              <a:t>n</a:t>
            </a:r>
            <a:r>
              <a:rPr lang="en-US" sz="2000" dirty="0"/>
              <a:t> </a:t>
            </a:r>
            <a:r>
              <a:rPr lang="en-US" sz="2000" dirty="0" err="1"/>
              <a:t>chữ</a:t>
            </a:r>
            <a:r>
              <a:rPr lang="en-US" sz="2000" dirty="0"/>
              <a:t> </a:t>
            </a:r>
            <a:r>
              <a:rPr lang="en-US" sz="2000" dirty="0" err="1"/>
              <a:t>số</a:t>
            </a:r>
            <a:endParaRPr lang="en-US" sz="2000" dirty="0"/>
          </a:p>
          <a:p>
            <a:pPr lvl="1"/>
            <a:r>
              <a:rPr lang="en-US" sz="2000" dirty="0" err="1"/>
              <a:t>Đầu</a:t>
            </a:r>
            <a:r>
              <a:rPr lang="en-US" sz="2000" dirty="0"/>
              <a:t> </a:t>
            </a:r>
            <a:r>
              <a:rPr lang="en-US" sz="2000" dirty="0" err="1"/>
              <a:t>ra</a:t>
            </a:r>
            <a:r>
              <a:rPr lang="en-US" sz="2000" dirty="0"/>
              <a:t>: </a:t>
            </a:r>
            <a:r>
              <a:rPr lang="en-US" sz="2000" dirty="0" err="1"/>
              <a:t>kết</a:t>
            </a:r>
            <a:r>
              <a:rPr lang="en-US" sz="2000" dirty="0"/>
              <a:t> </a:t>
            </a:r>
            <a:r>
              <a:rPr lang="en-US" sz="2000" dirty="0" err="1"/>
              <a:t>quả</a:t>
            </a:r>
            <a:r>
              <a:rPr lang="en-US" sz="2000" dirty="0"/>
              <a:t> </a:t>
            </a:r>
            <a:r>
              <a:rPr lang="en-US" sz="2000" i="1" dirty="0"/>
              <a:t>x * y</a:t>
            </a:r>
          </a:p>
          <a:p>
            <a:pPr lvl="1"/>
            <a:r>
              <a:rPr lang="en-US" sz="2000" u="sng" dirty="0" err="1"/>
              <a:t>Cách</a:t>
            </a:r>
            <a:r>
              <a:rPr lang="en-US" sz="2000" u="sng" dirty="0"/>
              <a:t> </a:t>
            </a:r>
            <a:r>
              <a:rPr lang="en-US" sz="2000" u="sng" dirty="0" err="1"/>
              <a:t>giải</a:t>
            </a:r>
            <a:r>
              <a:rPr lang="en-US" sz="2000" dirty="0"/>
              <a:t>: </a:t>
            </a:r>
          </a:p>
          <a:p>
            <a:pPr lvl="2"/>
            <a:r>
              <a:rPr lang="en-US" sz="1800" dirty="0" err="1"/>
              <a:t>Sử</a:t>
            </a:r>
            <a:r>
              <a:rPr lang="en-US" sz="1800" dirty="0"/>
              <a:t> </a:t>
            </a:r>
            <a:r>
              <a:rPr lang="en-US" sz="1800" dirty="0" err="1"/>
              <a:t>dụng</a:t>
            </a:r>
            <a:r>
              <a:rPr lang="en-US" sz="1800" dirty="0"/>
              <a:t> </a:t>
            </a:r>
            <a:r>
              <a:rPr lang="en-US" sz="1800" dirty="0" err="1"/>
              <a:t>các</a:t>
            </a:r>
            <a:r>
              <a:rPr lang="en-US" sz="1800" dirty="0"/>
              <a:t> </a:t>
            </a:r>
            <a:r>
              <a:rPr lang="en-US" sz="1800" dirty="0" err="1"/>
              <a:t>toán</a:t>
            </a:r>
            <a:r>
              <a:rPr lang="en-US" sz="1800" dirty="0"/>
              <a:t> </a:t>
            </a:r>
            <a:r>
              <a:rPr lang="en-US" sz="1800" dirty="0" err="1"/>
              <a:t>tử</a:t>
            </a:r>
            <a:r>
              <a:rPr lang="en-US" sz="1800" dirty="0"/>
              <a:t> </a:t>
            </a:r>
            <a:r>
              <a:rPr lang="en-US" sz="1800" dirty="0" err="1"/>
              <a:t>cơ</a:t>
            </a:r>
            <a:r>
              <a:rPr lang="en-US" sz="1800" dirty="0"/>
              <a:t> </a:t>
            </a:r>
            <a:r>
              <a:rPr lang="en-US" sz="1800" dirty="0" err="1"/>
              <a:t>bản</a:t>
            </a:r>
            <a:r>
              <a:rPr lang="en-US" sz="1800" dirty="0"/>
              <a:t>: </a:t>
            </a:r>
            <a:r>
              <a:rPr lang="en-US" sz="1800" dirty="0" err="1"/>
              <a:t>cộng</a:t>
            </a:r>
            <a:r>
              <a:rPr lang="en-US" sz="1800" dirty="0"/>
              <a:t> 2 </a:t>
            </a:r>
            <a:r>
              <a:rPr lang="en-US" sz="1800" dirty="0" err="1"/>
              <a:t>số</a:t>
            </a:r>
            <a:r>
              <a:rPr lang="en-US" sz="1800" dirty="0"/>
              <a:t> </a:t>
            </a:r>
            <a:r>
              <a:rPr lang="en-US" sz="1800" dirty="0" err="1"/>
              <a:t>và</a:t>
            </a:r>
            <a:r>
              <a:rPr lang="en-US" sz="1800" dirty="0"/>
              <a:t> </a:t>
            </a:r>
            <a:r>
              <a:rPr lang="en-US" sz="1800" dirty="0" err="1"/>
              <a:t>nhân</a:t>
            </a:r>
            <a:r>
              <a:rPr lang="en-US" sz="1800" dirty="0"/>
              <a:t> </a:t>
            </a:r>
            <a:r>
              <a:rPr lang="en-US" sz="1800" dirty="0" err="1"/>
              <a:t>hai</a:t>
            </a:r>
            <a:r>
              <a:rPr lang="en-US" sz="1800" dirty="0"/>
              <a:t> </a:t>
            </a:r>
            <a:r>
              <a:rPr lang="en-US" sz="1800" dirty="0" err="1"/>
              <a:t>số</a:t>
            </a:r>
            <a:r>
              <a:rPr lang="en-US" sz="1800" dirty="0"/>
              <a:t> </a:t>
            </a:r>
            <a:r>
              <a:rPr lang="en-US" sz="1800" dirty="0" err="1"/>
              <a:t>có</a:t>
            </a:r>
            <a:r>
              <a:rPr lang="en-US" sz="1800" dirty="0"/>
              <a:t> 1 </a:t>
            </a:r>
            <a:r>
              <a:rPr lang="en-US" sz="1800" dirty="0" err="1"/>
              <a:t>chữ</a:t>
            </a:r>
            <a:r>
              <a:rPr lang="en-US" sz="1800" dirty="0"/>
              <a:t> </a:t>
            </a:r>
            <a:r>
              <a:rPr lang="en-US" sz="1800" dirty="0" err="1"/>
              <a:t>số</a:t>
            </a:r>
            <a:endParaRPr lang="en-US" sz="1800" dirty="0"/>
          </a:p>
          <a:p>
            <a:pPr lvl="2"/>
            <a:r>
              <a:rPr lang="en-US" sz="1800" dirty="0"/>
              <a:t>=&gt; </a:t>
            </a:r>
            <a:r>
              <a:rPr lang="en-US" sz="1800" dirty="0" err="1"/>
              <a:t>tính</a:t>
            </a:r>
            <a:r>
              <a:rPr lang="en-US" sz="1800" dirty="0"/>
              <a:t> </a:t>
            </a:r>
            <a:r>
              <a:rPr lang="en-US" sz="1800" dirty="0" err="1"/>
              <a:t>số</a:t>
            </a:r>
            <a:r>
              <a:rPr lang="en-US" sz="1800" dirty="0"/>
              <a:t> </a:t>
            </a:r>
            <a:r>
              <a:rPr lang="en-US" sz="1800" dirty="0" err="1"/>
              <a:t>lượng</a:t>
            </a:r>
            <a:r>
              <a:rPr lang="en-US" sz="1800" dirty="0"/>
              <a:t> </a:t>
            </a:r>
            <a:r>
              <a:rPr lang="en-US" sz="1800" dirty="0" err="1"/>
              <a:t>các</a:t>
            </a:r>
            <a:r>
              <a:rPr lang="en-US" sz="1800" dirty="0"/>
              <a:t> </a:t>
            </a:r>
            <a:r>
              <a:rPr lang="en-US" sz="1800" dirty="0" err="1"/>
              <a:t>phép</a:t>
            </a:r>
            <a:r>
              <a:rPr lang="en-US" sz="1800" dirty="0"/>
              <a:t> </a:t>
            </a:r>
            <a:r>
              <a:rPr lang="en-US" sz="1800" dirty="0" err="1"/>
              <a:t>toán</a:t>
            </a:r>
            <a:r>
              <a:rPr lang="en-US" sz="1800" dirty="0"/>
              <a:t> </a:t>
            </a:r>
            <a:r>
              <a:rPr lang="en-US" sz="1800" dirty="0" err="1"/>
              <a:t>cơ</a:t>
            </a:r>
            <a:r>
              <a:rPr lang="en-US" sz="1800" dirty="0"/>
              <a:t> </a:t>
            </a:r>
            <a:r>
              <a:rPr lang="en-US" sz="1800" dirty="0" err="1"/>
              <a:t>bản</a:t>
            </a:r>
            <a:r>
              <a:rPr lang="en-US" sz="1800" dirty="0"/>
              <a:t> </a:t>
            </a:r>
            <a:r>
              <a:rPr lang="en-US" sz="1800" dirty="0" err="1"/>
              <a:t>cần</a:t>
            </a:r>
            <a:r>
              <a:rPr lang="en-US" sz="1800" dirty="0"/>
              <a:t> </a:t>
            </a:r>
            <a:r>
              <a:rPr lang="en-US" sz="1800" dirty="0" err="1"/>
              <a:t>thực</a:t>
            </a:r>
            <a:r>
              <a:rPr lang="en-US" sz="1800" dirty="0"/>
              <a:t> </a:t>
            </a:r>
            <a:r>
              <a:rPr lang="en-US" sz="1800" dirty="0" err="1"/>
              <a:t>hiện</a:t>
            </a:r>
            <a:r>
              <a:rPr lang="en-US" sz="1800" dirty="0"/>
              <a:t> ?</a:t>
            </a:r>
            <a:endParaRPr lang="en-US" sz="1600" dirty="0"/>
          </a:p>
          <a:p>
            <a:pPr lvl="1"/>
            <a:endParaRPr lang="en-US" sz="2000" dirty="0"/>
          </a:p>
        </p:txBody>
      </p:sp>
      <p:pic>
        <p:nvPicPr>
          <p:cNvPr id="6" name="Picture 5"/>
          <p:cNvPicPr>
            <a:picLocks noChangeAspect="1"/>
          </p:cNvPicPr>
          <p:nvPr/>
        </p:nvPicPr>
        <p:blipFill>
          <a:blip r:embed="rId3"/>
          <a:stretch>
            <a:fillRect/>
          </a:stretch>
        </p:blipFill>
        <p:spPr>
          <a:xfrm>
            <a:off x="6477000" y="920623"/>
            <a:ext cx="2019582" cy="1009791"/>
          </a:xfrm>
          <a:prstGeom prst="rect">
            <a:avLst/>
          </a:prstGeom>
        </p:spPr>
      </p:pic>
      <p:sp>
        <p:nvSpPr>
          <p:cNvPr id="10" name="Rectangle 9"/>
          <p:cNvSpPr/>
          <p:nvPr/>
        </p:nvSpPr>
        <p:spPr>
          <a:xfrm>
            <a:off x="5123719" y="4665447"/>
            <a:ext cx="3785204" cy="707886"/>
          </a:xfrm>
          <a:prstGeom prst="rect">
            <a:avLst/>
          </a:prstGeom>
        </p:spPr>
        <p:txBody>
          <a:bodyPr wrap="square">
            <a:spAutoFit/>
          </a:bodyPr>
          <a:lstStyle/>
          <a:p>
            <a:r>
              <a:rPr lang="en-US" sz="2000" dirty="0">
                <a:sym typeface="Wingdings" panose="05000000000000000000" pitchFamily="2" charset="2"/>
              </a:rPr>
              <a:t> </a:t>
            </a:r>
            <a:r>
              <a:rPr lang="en-US" sz="2000" dirty="0" err="1"/>
              <a:t>Số</a:t>
            </a:r>
            <a:r>
              <a:rPr lang="en-US" sz="2000" dirty="0"/>
              <a:t> </a:t>
            </a:r>
            <a:r>
              <a:rPr lang="en-US" sz="2000" dirty="0" err="1"/>
              <a:t>lượng</a:t>
            </a:r>
            <a:r>
              <a:rPr lang="en-US" sz="2000" dirty="0"/>
              <a:t> </a:t>
            </a:r>
            <a:r>
              <a:rPr lang="en-US" sz="2000" dirty="0" err="1"/>
              <a:t>các</a:t>
            </a:r>
            <a:r>
              <a:rPr lang="en-US" sz="2000" dirty="0"/>
              <a:t> </a:t>
            </a:r>
            <a:r>
              <a:rPr lang="en-US" sz="2000" dirty="0" err="1"/>
              <a:t>phép</a:t>
            </a:r>
            <a:r>
              <a:rPr lang="en-US" sz="2000" dirty="0"/>
              <a:t> </a:t>
            </a:r>
            <a:r>
              <a:rPr lang="en-US" sz="2000" dirty="0" err="1"/>
              <a:t>toán</a:t>
            </a:r>
            <a:r>
              <a:rPr lang="en-US" sz="2000" dirty="0"/>
              <a:t> </a:t>
            </a:r>
            <a:r>
              <a:rPr lang="en-US" sz="2000" dirty="0" err="1"/>
              <a:t>cơ</a:t>
            </a:r>
            <a:r>
              <a:rPr lang="en-US" sz="2000" dirty="0"/>
              <a:t> </a:t>
            </a:r>
            <a:r>
              <a:rPr lang="en-US" sz="2000" dirty="0" err="1"/>
              <a:t>bản</a:t>
            </a:r>
            <a:r>
              <a:rPr lang="en-US" sz="2000" dirty="0"/>
              <a:t> </a:t>
            </a:r>
            <a:r>
              <a:rPr lang="en-US" sz="2000" dirty="0" err="1"/>
              <a:t>cần</a:t>
            </a:r>
            <a:r>
              <a:rPr lang="en-US" sz="2000" dirty="0"/>
              <a:t> </a:t>
            </a:r>
            <a:r>
              <a:rPr lang="en-US" sz="2000" dirty="0" err="1"/>
              <a:t>thực</a:t>
            </a:r>
            <a:r>
              <a:rPr lang="en-US" sz="2000" dirty="0"/>
              <a:t> </a:t>
            </a:r>
            <a:r>
              <a:rPr lang="en-US" sz="2000" dirty="0" err="1"/>
              <a:t>hiện</a:t>
            </a:r>
            <a:r>
              <a:rPr lang="en-US" sz="2000" dirty="0"/>
              <a:t>  &lt;= 2 * n</a:t>
            </a:r>
            <a:r>
              <a:rPr lang="en-US" sz="2000" baseline="30000" dirty="0"/>
              <a:t>2</a:t>
            </a:r>
            <a:r>
              <a:rPr lang="en-US" sz="2000" dirty="0"/>
              <a:t> + 1 !</a:t>
            </a:r>
          </a:p>
        </p:txBody>
      </p:sp>
      <p:grpSp>
        <p:nvGrpSpPr>
          <p:cNvPr id="12" name="Group 11"/>
          <p:cNvGrpSpPr/>
          <p:nvPr/>
        </p:nvGrpSpPr>
        <p:grpSpPr>
          <a:xfrm>
            <a:off x="685800" y="3016838"/>
            <a:ext cx="5495243" cy="2791215"/>
            <a:chOff x="1519027" y="3013403"/>
            <a:chExt cx="5495243" cy="2791215"/>
          </a:xfrm>
        </p:grpSpPr>
        <p:pic>
          <p:nvPicPr>
            <p:cNvPr id="7" name="Picture 6"/>
            <p:cNvPicPr>
              <a:picLocks noChangeAspect="1"/>
            </p:cNvPicPr>
            <p:nvPr/>
          </p:nvPicPr>
          <p:blipFill>
            <a:blip r:embed="rId4"/>
            <a:stretch>
              <a:fillRect/>
            </a:stretch>
          </p:blipFill>
          <p:spPr>
            <a:xfrm>
              <a:off x="1519027" y="3013403"/>
              <a:ext cx="3019846" cy="2791215"/>
            </a:xfrm>
            <a:prstGeom prst="rect">
              <a:avLst/>
            </a:prstGeom>
          </p:spPr>
        </p:pic>
        <p:pic>
          <p:nvPicPr>
            <p:cNvPr id="9" name="Picture 8"/>
            <p:cNvPicPr>
              <a:picLocks noChangeAspect="1"/>
            </p:cNvPicPr>
            <p:nvPr/>
          </p:nvPicPr>
          <p:blipFill rotWithShape="1">
            <a:blip r:embed="rId5"/>
            <a:srcRect l="74825"/>
            <a:stretch/>
          </p:blipFill>
          <p:spPr>
            <a:xfrm>
              <a:off x="4206198" y="3795944"/>
              <a:ext cx="395717" cy="1590897"/>
            </a:xfrm>
            <a:prstGeom prst="rect">
              <a:avLst/>
            </a:prstGeom>
          </p:spPr>
        </p:pic>
        <p:pic>
          <p:nvPicPr>
            <p:cNvPr id="11" name="Picture 10"/>
            <p:cNvPicPr>
              <a:picLocks noChangeAspect="1"/>
            </p:cNvPicPr>
            <p:nvPr/>
          </p:nvPicPr>
          <p:blipFill rotWithShape="1">
            <a:blip r:embed="rId5"/>
            <a:srcRect r="27260"/>
            <a:stretch/>
          </p:blipFill>
          <p:spPr>
            <a:xfrm>
              <a:off x="4418393" y="4207706"/>
              <a:ext cx="1143361" cy="1590897"/>
            </a:xfrm>
            <a:prstGeom prst="rect">
              <a:avLst/>
            </a:prstGeom>
          </p:spPr>
        </p:pic>
        <p:pic>
          <p:nvPicPr>
            <p:cNvPr id="8" name="Picture 7"/>
            <p:cNvPicPr>
              <a:picLocks noChangeAspect="1"/>
            </p:cNvPicPr>
            <p:nvPr/>
          </p:nvPicPr>
          <p:blipFill>
            <a:blip r:embed="rId6"/>
            <a:stretch>
              <a:fillRect/>
            </a:stretch>
          </p:blipFill>
          <p:spPr>
            <a:xfrm>
              <a:off x="4404056" y="3885940"/>
              <a:ext cx="2610214" cy="733527"/>
            </a:xfrm>
            <a:prstGeom prst="rect">
              <a:avLst/>
            </a:prstGeom>
          </p:spPr>
        </p:pic>
      </p:grpSp>
      <p:sp>
        <p:nvSpPr>
          <p:cNvPr id="14" name="Rectangle 13"/>
          <p:cNvSpPr/>
          <p:nvPr/>
        </p:nvSpPr>
        <p:spPr>
          <a:xfrm>
            <a:off x="5088550" y="5448095"/>
            <a:ext cx="3639281" cy="400110"/>
          </a:xfrm>
          <a:prstGeom prst="rect">
            <a:avLst/>
          </a:prstGeom>
        </p:spPr>
        <p:txBody>
          <a:bodyPr wrap="square">
            <a:spAutoFit/>
          </a:bodyPr>
          <a:lstStyle/>
          <a:p>
            <a:r>
              <a:rPr lang="en-US" sz="2000" dirty="0">
                <a:sym typeface="Wingdings" panose="05000000000000000000" pitchFamily="2" charset="2"/>
              </a:rPr>
              <a:t> </a:t>
            </a:r>
            <a:r>
              <a:rPr lang="en-US" sz="2000" dirty="0" err="1"/>
              <a:t>Cần</a:t>
            </a:r>
            <a:r>
              <a:rPr lang="en-US" sz="2000" dirty="0"/>
              <a:t> </a:t>
            </a:r>
            <a:r>
              <a:rPr lang="en-US" sz="2000" dirty="0" err="1"/>
              <a:t>các</a:t>
            </a:r>
            <a:r>
              <a:rPr lang="en-US" sz="2000" dirty="0"/>
              <a:t> </a:t>
            </a:r>
            <a:r>
              <a:rPr lang="en-US" sz="2000" dirty="0" err="1"/>
              <a:t>thuật</a:t>
            </a:r>
            <a:r>
              <a:rPr lang="en-US" sz="2000" dirty="0"/>
              <a:t> </a:t>
            </a:r>
            <a:r>
              <a:rPr lang="en-US" sz="2000" dirty="0" err="1"/>
              <a:t>toán</a:t>
            </a:r>
            <a:r>
              <a:rPr lang="en-US" sz="2000" dirty="0"/>
              <a:t> </a:t>
            </a:r>
            <a:r>
              <a:rPr lang="en-US" sz="2000" dirty="0" err="1"/>
              <a:t>tốt</a:t>
            </a:r>
            <a:r>
              <a:rPr lang="en-US" sz="2000" dirty="0"/>
              <a:t> </a:t>
            </a:r>
            <a:r>
              <a:rPr lang="en-US" sz="2000" dirty="0" err="1"/>
              <a:t>hơn</a:t>
            </a:r>
            <a:r>
              <a:rPr lang="en-US" sz="2000" dirty="0"/>
              <a:t> </a:t>
            </a:r>
          </a:p>
        </p:txBody>
      </p:sp>
    </p:spTree>
    <p:extLst>
      <p:ext uri="{BB962C8B-B14F-4D97-AF65-F5344CB8AC3E}">
        <p14:creationId xmlns:p14="http://schemas.microsoft.com/office/powerpoint/2010/main" val="71293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dirty="0"/>
              <a:t>ET2100 </a:t>
            </a:r>
            <a:r>
              <a:rPr lang="en-US" i="1" dirty="0"/>
              <a:t>- </a:t>
            </a:r>
            <a:r>
              <a:rPr lang="en-US" b="1" i="1" dirty="0"/>
              <a:t>Data Structures and Algorithms</a:t>
            </a:r>
            <a:endParaRPr lang="en-US" dirty="0"/>
          </a:p>
          <a:p>
            <a:pPr algn="r"/>
            <a:r>
              <a:rPr lang="en-US" dirty="0"/>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20</a:t>
            </a:fld>
            <a:endParaRPr lang="en-US"/>
          </a:p>
        </p:txBody>
      </p:sp>
      <p:sp>
        <p:nvSpPr>
          <p:cNvPr id="2" name="Title 1"/>
          <p:cNvSpPr>
            <a:spLocks noGrp="1"/>
          </p:cNvSpPr>
          <p:nvPr>
            <p:ph type="title"/>
          </p:nvPr>
        </p:nvSpPr>
        <p:spPr/>
        <p:txBody>
          <a:bodyPr/>
          <a:lstStyle/>
          <a:p>
            <a:r>
              <a:rPr lang="en-US" altLang="en-US" dirty="0" err="1"/>
              <a:t>Xác</a:t>
            </a:r>
            <a:r>
              <a:rPr lang="en-US" altLang="en-US" dirty="0"/>
              <a:t> </a:t>
            </a:r>
            <a:r>
              <a:rPr lang="en-US" altLang="en-US" dirty="0" err="1"/>
              <a:t>định</a:t>
            </a:r>
            <a:r>
              <a:rPr lang="en-US" altLang="en-US" dirty="0"/>
              <a:t> </a:t>
            </a:r>
            <a:r>
              <a:rPr lang="en-US" altLang="en-US" dirty="0" err="1"/>
              <a:t>độ</a:t>
            </a:r>
            <a:r>
              <a:rPr lang="en-US" altLang="en-US" dirty="0"/>
              <a:t> </a:t>
            </a:r>
            <a:r>
              <a:rPr lang="en-US" altLang="en-US" dirty="0" err="1"/>
              <a:t>phức</a:t>
            </a:r>
            <a:r>
              <a:rPr lang="en-US" altLang="en-US" dirty="0"/>
              <a:t> </a:t>
            </a:r>
            <a:r>
              <a:rPr lang="en-US" altLang="en-US" dirty="0" err="1"/>
              <a:t>tạp</a:t>
            </a:r>
            <a:r>
              <a:rPr lang="en-US" altLang="en-US" dirty="0"/>
              <a:t> </a:t>
            </a:r>
            <a:r>
              <a:rPr lang="en-US" altLang="en-US" dirty="0" err="1"/>
              <a:t>của</a:t>
            </a:r>
            <a:r>
              <a:rPr lang="en-US" altLang="en-US" dirty="0"/>
              <a:t> GT</a:t>
            </a:r>
            <a:endParaRPr lang="en-US" dirty="0"/>
          </a:p>
        </p:txBody>
      </p:sp>
      <p:sp>
        <p:nvSpPr>
          <p:cNvPr id="3" name="Content Placeholder 2"/>
          <p:cNvSpPr>
            <a:spLocks noGrp="1"/>
          </p:cNvSpPr>
          <p:nvPr>
            <p:ph type="body" sz="quarter" idx="13"/>
          </p:nvPr>
        </p:nvSpPr>
        <p:spPr/>
        <p:txBody>
          <a:bodyPr/>
          <a:lstStyle/>
          <a:p>
            <a:pPr eaLnBrk="1" hangingPunct="1"/>
            <a:r>
              <a:rPr lang="en-US" sz="2400" dirty="0"/>
              <a:t>Đ</a:t>
            </a:r>
            <a:r>
              <a:rPr lang="vi-VN" sz="2400" dirty="0"/>
              <a:t>ánh giá</a:t>
            </a:r>
            <a:r>
              <a:rPr lang="en-US" sz="2400" dirty="0"/>
              <a:t> </a:t>
            </a:r>
            <a:r>
              <a:rPr lang="en-US" sz="2400" dirty="0" err="1"/>
              <a:t>về</a:t>
            </a:r>
            <a:r>
              <a:rPr lang="en-US" sz="2400" dirty="0"/>
              <a:t> </a:t>
            </a:r>
            <a:r>
              <a:rPr lang="en-US" sz="2400" dirty="0" err="1"/>
              <a:t>thời</a:t>
            </a:r>
            <a:r>
              <a:rPr lang="en-US" sz="2400" dirty="0"/>
              <a:t> </a:t>
            </a:r>
            <a:r>
              <a:rPr lang="en-US" sz="2400" dirty="0" err="1"/>
              <a:t>gian</a:t>
            </a:r>
            <a:r>
              <a:rPr lang="en-US" sz="2400" dirty="0"/>
              <a:t> </a:t>
            </a:r>
            <a:r>
              <a:rPr lang="en-US" sz="2400" dirty="0" err="1"/>
              <a:t>thực</a:t>
            </a:r>
            <a:r>
              <a:rPr lang="en-US" sz="2400" dirty="0"/>
              <a:t> </a:t>
            </a:r>
            <a:r>
              <a:rPr lang="en-US" sz="2400" dirty="0" err="1"/>
              <a:t>hiện</a:t>
            </a:r>
            <a:r>
              <a:rPr lang="en-US" altLang="en-US" sz="2400" dirty="0"/>
              <a:t>:</a:t>
            </a:r>
          </a:p>
          <a:p>
            <a:pPr lvl="1" eaLnBrk="1" hangingPunct="1"/>
            <a:r>
              <a:rPr lang="en-US" altLang="en-US" sz="2400" dirty="0" err="1"/>
              <a:t>Quy</a:t>
            </a:r>
            <a:r>
              <a:rPr lang="en-US" altLang="en-US" sz="2400" dirty="0"/>
              <a:t> </a:t>
            </a:r>
            <a:r>
              <a:rPr lang="en-US" altLang="en-US" sz="2400" dirty="0" err="1"/>
              <a:t>kết</a:t>
            </a:r>
            <a:r>
              <a:rPr lang="en-US" altLang="en-US" sz="2400" dirty="0"/>
              <a:t> </a:t>
            </a:r>
            <a:r>
              <a:rPr lang="en-US" altLang="en-US" sz="2400" dirty="0" err="1"/>
              <a:t>quả</a:t>
            </a:r>
            <a:r>
              <a:rPr lang="en-US" altLang="en-US" sz="2400" dirty="0"/>
              <a:t> </a:t>
            </a:r>
            <a:r>
              <a:rPr lang="en-US" altLang="en-US" sz="2400" dirty="0" err="1"/>
              <a:t>tính</a:t>
            </a:r>
            <a:r>
              <a:rPr lang="en-US" altLang="en-US" sz="2400" dirty="0"/>
              <a:t> </a:t>
            </a:r>
            <a:r>
              <a:rPr lang="en-US" altLang="en-US" sz="2400" dirty="0" err="1"/>
              <a:t>toán</a:t>
            </a:r>
            <a:r>
              <a:rPr lang="en-US" altLang="en-US" sz="2400" dirty="0"/>
              <a:t> </a:t>
            </a:r>
            <a:r>
              <a:rPr lang="en-US" altLang="en-US" sz="2400" dirty="0" err="1"/>
              <a:t>thời</a:t>
            </a:r>
            <a:r>
              <a:rPr lang="en-US" altLang="en-US" sz="2400" dirty="0"/>
              <a:t> </a:t>
            </a:r>
            <a:r>
              <a:rPr lang="en-US" altLang="en-US" sz="2400" dirty="0" err="1"/>
              <a:t>gian</a:t>
            </a:r>
            <a:r>
              <a:rPr lang="en-US" altLang="en-US" sz="2400" dirty="0"/>
              <a:t> </a:t>
            </a:r>
            <a:r>
              <a:rPr lang="en-US" altLang="en-US" sz="2400" dirty="0" err="1"/>
              <a:t>thực</a:t>
            </a:r>
            <a:r>
              <a:rPr lang="en-US" altLang="en-US" sz="2400" dirty="0"/>
              <a:t> </a:t>
            </a:r>
            <a:r>
              <a:rPr lang="en-US" altLang="en-US" sz="2400" dirty="0" err="1"/>
              <a:t>hiện</a:t>
            </a:r>
            <a:r>
              <a:rPr lang="en-US" altLang="en-US" sz="2400" dirty="0"/>
              <a:t> </a:t>
            </a:r>
            <a:r>
              <a:rPr lang="en-US" altLang="en-US" sz="2400" dirty="0" err="1"/>
              <a:t>một</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 </a:t>
            </a:r>
            <a:r>
              <a:rPr lang="en-US" altLang="en-US" sz="2400" dirty="0" err="1"/>
              <a:t>nào</a:t>
            </a:r>
            <a:r>
              <a:rPr lang="en-US" altLang="en-US" sz="2400" dirty="0"/>
              <a:t> </a:t>
            </a:r>
            <a:r>
              <a:rPr lang="en-US" altLang="en-US" sz="2400" dirty="0" err="1"/>
              <a:t>đó</a:t>
            </a:r>
            <a:r>
              <a:rPr lang="en-US" altLang="en-US" sz="2400" dirty="0"/>
              <a:t> </a:t>
            </a:r>
            <a:r>
              <a:rPr lang="en-US" altLang="en-US" sz="2400" dirty="0" err="1"/>
              <a:t>về</a:t>
            </a:r>
            <a:r>
              <a:rPr lang="en-US" altLang="en-US" sz="2400" dirty="0"/>
              <a:t> </a:t>
            </a:r>
            <a:r>
              <a:rPr lang="en-US" altLang="en-US" sz="2400" dirty="0" err="1"/>
              <a:t>một</a:t>
            </a:r>
            <a:r>
              <a:rPr lang="en-US" altLang="en-US" sz="2400" dirty="0"/>
              <a:t> </a:t>
            </a:r>
            <a:r>
              <a:rPr lang="en-US" altLang="en-US" sz="2400" dirty="0" err="1"/>
              <a:t>hàm</a:t>
            </a:r>
            <a:r>
              <a:rPr lang="en-US" altLang="en-US" sz="2400" dirty="0"/>
              <a:t> </a:t>
            </a:r>
            <a:r>
              <a:rPr lang="en-US" altLang="en-US" sz="2400" dirty="0" err="1"/>
              <a:t>có</a:t>
            </a:r>
            <a:r>
              <a:rPr lang="en-US" altLang="en-US" sz="2400" dirty="0"/>
              <a:t> </a:t>
            </a:r>
            <a:r>
              <a:rPr lang="en-US" altLang="en-US" sz="2400" dirty="0" err="1"/>
              <a:t>dạng</a:t>
            </a:r>
            <a:r>
              <a:rPr lang="en-US" altLang="en-US" sz="2400" dirty="0"/>
              <a:t> </a:t>
            </a:r>
            <a:r>
              <a:rPr lang="en-US" altLang="en-US" sz="2400" i="1" dirty="0"/>
              <a:t>T</a:t>
            </a:r>
            <a:r>
              <a:rPr lang="en-US" altLang="en-US" sz="2400" i="1" baseline="-25000" dirty="0"/>
              <a:t>A</a:t>
            </a:r>
            <a:r>
              <a:rPr lang="en-US" altLang="en-US" sz="2400" i="1" dirty="0"/>
              <a:t>(n)</a:t>
            </a:r>
            <a:r>
              <a:rPr lang="en-US" altLang="en-US" sz="2400" dirty="0"/>
              <a:t>, </a:t>
            </a:r>
            <a:r>
              <a:rPr lang="en-US" altLang="en-US" sz="2400" dirty="0" err="1"/>
              <a:t>với</a:t>
            </a:r>
            <a:r>
              <a:rPr lang="en-US" altLang="en-US" sz="2400" dirty="0"/>
              <a:t> </a:t>
            </a:r>
            <a:r>
              <a:rPr lang="en-US" altLang="en-US" sz="2400" i="1" dirty="0"/>
              <a:t>n</a:t>
            </a:r>
            <a:r>
              <a:rPr lang="en-US" altLang="en-US" sz="2400" dirty="0"/>
              <a:t> </a:t>
            </a:r>
            <a:r>
              <a:rPr lang="en-US" altLang="en-US" sz="2400" dirty="0" err="1"/>
              <a:t>đại</a:t>
            </a:r>
            <a:r>
              <a:rPr lang="en-US" altLang="en-US" sz="2400" dirty="0"/>
              <a:t> </a:t>
            </a:r>
            <a:r>
              <a:rPr lang="en-US" altLang="en-US" sz="2400" dirty="0" err="1"/>
              <a:t>diện</a:t>
            </a:r>
            <a:r>
              <a:rPr lang="en-US" altLang="en-US" sz="2400" dirty="0"/>
              <a:t> </a:t>
            </a:r>
            <a:r>
              <a:rPr lang="en-US" altLang="en-US" sz="2400" dirty="0" err="1"/>
              <a:t>cho</a:t>
            </a:r>
            <a:r>
              <a:rPr lang="en-US" altLang="en-US" sz="2400" dirty="0"/>
              <a:t> </a:t>
            </a:r>
            <a:r>
              <a:rPr lang="en-US" altLang="en-US" sz="2400" dirty="0" err="1"/>
              <a:t>kích</a:t>
            </a:r>
            <a:r>
              <a:rPr lang="en-US" altLang="en-US" sz="2400" dirty="0"/>
              <a:t> </a:t>
            </a:r>
            <a:r>
              <a:rPr lang="en-US" altLang="en-US" sz="2400" dirty="0" err="1"/>
              <a:t>thước</a:t>
            </a:r>
            <a:r>
              <a:rPr lang="en-US" altLang="en-US" sz="2400" dirty="0"/>
              <a:t> </a:t>
            </a:r>
            <a:r>
              <a:rPr lang="en-US" altLang="en-US" sz="2400" i="1" dirty="0" err="1"/>
              <a:t>dữ</a:t>
            </a:r>
            <a:r>
              <a:rPr lang="en-US" altLang="en-US" sz="2400" i="1" dirty="0"/>
              <a:t> </a:t>
            </a:r>
            <a:r>
              <a:rPr lang="en-US" altLang="en-US" sz="2400" i="1" dirty="0" err="1"/>
              <a:t>liệu</a:t>
            </a:r>
            <a:r>
              <a:rPr lang="en-US" altLang="en-US" sz="2400" i="1" dirty="0"/>
              <a:t> </a:t>
            </a:r>
            <a:r>
              <a:rPr lang="en-US" altLang="en-US" sz="2400" i="1" dirty="0" err="1"/>
              <a:t>vào</a:t>
            </a:r>
            <a:r>
              <a:rPr lang="en-US" altLang="en-US" sz="2400" i="1" dirty="0"/>
              <a:t> </a:t>
            </a:r>
            <a:r>
              <a:rPr lang="en-US" altLang="en-US" sz="2400" dirty="0" err="1"/>
              <a:t>của</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r>
              <a:rPr lang="en-US" altLang="en-US" sz="2400" i="1" dirty="0"/>
              <a:t>A (</a:t>
            </a:r>
            <a:r>
              <a:rPr lang="en-US" altLang="en-US" sz="2400" dirty="0" err="1"/>
              <a:t>kí</a:t>
            </a:r>
            <a:r>
              <a:rPr lang="en-US" altLang="en-US" sz="2400" dirty="0"/>
              <a:t> </a:t>
            </a:r>
            <a:r>
              <a:rPr lang="en-US" altLang="en-US" sz="2400" dirty="0" err="1"/>
              <a:t>hiệu</a:t>
            </a:r>
            <a:r>
              <a:rPr lang="en-US" altLang="en-US" sz="2400" dirty="0"/>
              <a:t> </a:t>
            </a:r>
            <a:r>
              <a:rPr lang="en-US" altLang="en-US" sz="2400" dirty="0" err="1"/>
              <a:t>ngắn</a:t>
            </a:r>
            <a:r>
              <a:rPr lang="en-US" altLang="en-US" sz="2400" dirty="0"/>
              <a:t> </a:t>
            </a:r>
            <a:r>
              <a:rPr lang="en-US" altLang="en-US" sz="2400" dirty="0" err="1"/>
              <a:t>gọn</a:t>
            </a:r>
            <a:r>
              <a:rPr lang="en-US" altLang="en-US" sz="2400" dirty="0"/>
              <a:t> </a:t>
            </a:r>
            <a:r>
              <a:rPr lang="en-US" altLang="en-US" sz="2400" dirty="0" err="1"/>
              <a:t>là</a:t>
            </a:r>
            <a:r>
              <a:rPr lang="en-US" altLang="en-US" sz="2400" dirty="0"/>
              <a:t> T(n))</a:t>
            </a:r>
          </a:p>
          <a:p>
            <a:pPr lvl="1" eaLnBrk="1" hangingPunct="1"/>
            <a:endParaRPr lang="en-US" altLang="en-US" sz="2400" dirty="0"/>
          </a:p>
        </p:txBody>
      </p:sp>
      <p:sp>
        <p:nvSpPr>
          <p:cNvPr id="15" name="TextBox 14"/>
          <p:cNvSpPr txBox="1"/>
          <p:nvPr/>
        </p:nvSpPr>
        <p:spPr>
          <a:xfrm>
            <a:off x="4021491" y="2647686"/>
            <a:ext cx="3119765" cy="369332"/>
          </a:xfrm>
          <a:prstGeom prst="rect">
            <a:avLst/>
          </a:prstGeom>
          <a:noFill/>
        </p:spPr>
        <p:txBody>
          <a:bodyPr wrap="none" rtlCol="0">
            <a:spAutoFit/>
          </a:bodyPr>
          <a:lstStyle/>
          <a:p>
            <a:r>
              <a:rPr lang="en-US" dirty="0"/>
              <a:t>T(n) = 1+(1+1+1)*n+1 = 3*n+2</a:t>
            </a:r>
          </a:p>
        </p:txBody>
      </p:sp>
      <p:sp>
        <p:nvSpPr>
          <p:cNvPr id="16" name="TextBox 15"/>
          <p:cNvSpPr txBox="1"/>
          <p:nvPr/>
        </p:nvSpPr>
        <p:spPr>
          <a:xfrm>
            <a:off x="4025666" y="3244937"/>
            <a:ext cx="3215945" cy="369332"/>
          </a:xfrm>
          <a:prstGeom prst="rect">
            <a:avLst/>
          </a:prstGeom>
          <a:noFill/>
        </p:spPr>
        <p:txBody>
          <a:bodyPr wrap="none" rtlCol="0">
            <a:spAutoFit/>
          </a:bodyPr>
          <a:lstStyle/>
          <a:p>
            <a:r>
              <a:rPr lang="en-US" dirty="0"/>
              <a:t>T(n)=1+(1+1+1)*n/2+1=3*n/2+2</a:t>
            </a:r>
          </a:p>
        </p:txBody>
      </p:sp>
      <p:sp>
        <p:nvSpPr>
          <p:cNvPr id="17" name="TextBox 16"/>
          <p:cNvSpPr txBox="1"/>
          <p:nvPr/>
        </p:nvSpPr>
        <p:spPr>
          <a:xfrm>
            <a:off x="4104194" y="4701536"/>
            <a:ext cx="1545616" cy="369332"/>
          </a:xfrm>
          <a:prstGeom prst="rect">
            <a:avLst/>
          </a:prstGeom>
          <a:noFill/>
        </p:spPr>
        <p:txBody>
          <a:bodyPr wrap="none" rtlCol="0">
            <a:spAutoFit/>
          </a:bodyPr>
          <a:lstStyle/>
          <a:p>
            <a:r>
              <a:rPr lang="en-US" dirty="0"/>
              <a:t>T(n) ~ log</a:t>
            </a:r>
            <a:r>
              <a:rPr lang="en-US" baseline="-25000" dirty="0"/>
              <a:t>2</a:t>
            </a:r>
            <a:r>
              <a:rPr lang="en-US" dirty="0"/>
              <a:t>(n)</a:t>
            </a:r>
          </a:p>
        </p:txBody>
      </p:sp>
      <p:sp>
        <p:nvSpPr>
          <p:cNvPr id="18" name="TextBox 17"/>
          <p:cNvSpPr txBox="1"/>
          <p:nvPr/>
        </p:nvSpPr>
        <p:spPr>
          <a:xfrm>
            <a:off x="4137516" y="5468238"/>
            <a:ext cx="1737976" cy="369332"/>
          </a:xfrm>
          <a:prstGeom prst="rect">
            <a:avLst/>
          </a:prstGeom>
          <a:noFill/>
        </p:spPr>
        <p:txBody>
          <a:bodyPr wrap="none" rtlCol="0">
            <a:spAutoFit/>
          </a:bodyPr>
          <a:lstStyle/>
          <a:p>
            <a:r>
              <a:rPr lang="en-US" dirty="0"/>
              <a:t>T(n) ~ n.log</a:t>
            </a:r>
            <a:r>
              <a:rPr lang="en-US" baseline="-25000" dirty="0"/>
              <a:t>2</a:t>
            </a:r>
            <a:r>
              <a:rPr lang="en-US" dirty="0"/>
              <a:t>(n)</a:t>
            </a:r>
          </a:p>
        </p:txBody>
      </p:sp>
      <p:sp>
        <p:nvSpPr>
          <p:cNvPr id="20" name="TextBox 19"/>
          <p:cNvSpPr txBox="1"/>
          <p:nvPr/>
        </p:nvSpPr>
        <p:spPr>
          <a:xfrm>
            <a:off x="4050586" y="3885638"/>
            <a:ext cx="2816797" cy="646331"/>
          </a:xfrm>
          <a:prstGeom prst="rect">
            <a:avLst/>
          </a:prstGeom>
          <a:noFill/>
        </p:spPr>
        <p:txBody>
          <a:bodyPr wrap="none" rtlCol="0">
            <a:spAutoFit/>
          </a:bodyPr>
          <a:lstStyle/>
          <a:p>
            <a:r>
              <a:rPr lang="en-US" dirty="0"/>
              <a:t>T(n) = 1+(1+(3*n+2)+1)*n+1</a:t>
            </a:r>
          </a:p>
          <a:p>
            <a:r>
              <a:rPr lang="en-US" dirty="0"/>
              <a:t>        = 3*n</a:t>
            </a:r>
            <a:r>
              <a:rPr lang="en-US" baseline="30000" dirty="0"/>
              <a:t>2</a:t>
            </a:r>
            <a:r>
              <a:rPr lang="en-US" dirty="0"/>
              <a:t>+4*n+2</a:t>
            </a:r>
            <a:endParaRPr lang="en-US" baseline="30000" dirty="0"/>
          </a:p>
        </p:txBody>
      </p:sp>
      <p:grpSp>
        <p:nvGrpSpPr>
          <p:cNvPr id="8" name="Group 7"/>
          <p:cNvGrpSpPr/>
          <p:nvPr/>
        </p:nvGrpSpPr>
        <p:grpSpPr>
          <a:xfrm>
            <a:off x="1502611" y="2592027"/>
            <a:ext cx="2010056" cy="514422"/>
            <a:chOff x="362401" y="2620757"/>
            <a:chExt cx="2010056" cy="514422"/>
          </a:xfrm>
        </p:grpSpPr>
        <p:pic>
          <p:nvPicPr>
            <p:cNvPr id="7" name="Picture 6"/>
            <p:cNvPicPr>
              <a:picLocks noChangeAspect="1"/>
            </p:cNvPicPr>
            <p:nvPr/>
          </p:nvPicPr>
          <p:blipFill>
            <a:blip r:embed="rId3"/>
            <a:stretch>
              <a:fillRect/>
            </a:stretch>
          </p:blipFill>
          <p:spPr>
            <a:xfrm>
              <a:off x="362401" y="2620757"/>
              <a:ext cx="2010056" cy="514422"/>
            </a:xfrm>
            <a:prstGeom prst="rect">
              <a:avLst/>
            </a:prstGeom>
          </p:spPr>
        </p:pic>
        <p:sp>
          <p:nvSpPr>
            <p:cNvPr id="6" name="Rectangle 5"/>
            <p:cNvSpPr/>
            <p:nvPr/>
          </p:nvSpPr>
          <p:spPr>
            <a:xfrm>
              <a:off x="1733980" y="2938038"/>
              <a:ext cx="457200" cy="176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p:cNvGrpSpPr/>
          <p:nvPr/>
        </p:nvGrpSpPr>
        <p:grpSpPr>
          <a:xfrm>
            <a:off x="1499239" y="3264203"/>
            <a:ext cx="2086266" cy="447737"/>
            <a:chOff x="362401" y="3569408"/>
            <a:chExt cx="2086266" cy="447737"/>
          </a:xfrm>
        </p:grpSpPr>
        <p:pic>
          <p:nvPicPr>
            <p:cNvPr id="10" name="Picture 9"/>
            <p:cNvPicPr>
              <a:picLocks noChangeAspect="1"/>
            </p:cNvPicPr>
            <p:nvPr/>
          </p:nvPicPr>
          <p:blipFill>
            <a:blip r:embed="rId4"/>
            <a:stretch>
              <a:fillRect/>
            </a:stretch>
          </p:blipFill>
          <p:spPr>
            <a:xfrm>
              <a:off x="362401" y="3569408"/>
              <a:ext cx="2086266" cy="447737"/>
            </a:xfrm>
            <a:prstGeom prst="rect">
              <a:avLst/>
            </a:prstGeom>
          </p:spPr>
        </p:pic>
        <p:sp>
          <p:nvSpPr>
            <p:cNvPr id="23" name="Rectangle 22"/>
            <p:cNvSpPr/>
            <p:nvPr/>
          </p:nvSpPr>
          <p:spPr>
            <a:xfrm>
              <a:off x="1795834" y="3814690"/>
              <a:ext cx="457200" cy="176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p:nvGrpSpPr>
        <p:grpSpPr>
          <a:xfrm>
            <a:off x="1506540" y="3894866"/>
            <a:ext cx="2514951" cy="647790"/>
            <a:chOff x="362401" y="4428384"/>
            <a:chExt cx="2514951" cy="647790"/>
          </a:xfrm>
        </p:grpSpPr>
        <p:pic>
          <p:nvPicPr>
            <p:cNvPr id="19" name="Picture 18"/>
            <p:cNvPicPr>
              <a:picLocks noChangeAspect="1"/>
            </p:cNvPicPr>
            <p:nvPr/>
          </p:nvPicPr>
          <p:blipFill>
            <a:blip r:embed="rId5"/>
            <a:stretch>
              <a:fillRect/>
            </a:stretch>
          </p:blipFill>
          <p:spPr>
            <a:xfrm>
              <a:off x="362401" y="4428384"/>
              <a:ext cx="2514951" cy="647790"/>
            </a:xfrm>
            <a:prstGeom prst="rect">
              <a:avLst/>
            </a:prstGeom>
          </p:spPr>
        </p:pic>
        <p:sp>
          <p:nvSpPr>
            <p:cNvPr id="24" name="Rectangle 23"/>
            <p:cNvSpPr/>
            <p:nvPr/>
          </p:nvSpPr>
          <p:spPr>
            <a:xfrm>
              <a:off x="2247417" y="4872265"/>
              <a:ext cx="457200" cy="176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p:cNvGrpSpPr/>
          <p:nvPr/>
        </p:nvGrpSpPr>
        <p:grpSpPr>
          <a:xfrm>
            <a:off x="1506540" y="4730394"/>
            <a:ext cx="1933845" cy="419158"/>
            <a:chOff x="4764734" y="4707876"/>
            <a:chExt cx="1933845" cy="419158"/>
          </a:xfrm>
        </p:grpSpPr>
        <p:pic>
          <p:nvPicPr>
            <p:cNvPr id="11" name="Picture 10"/>
            <p:cNvPicPr>
              <a:picLocks noChangeAspect="1"/>
            </p:cNvPicPr>
            <p:nvPr/>
          </p:nvPicPr>
          <p:blipFill>
            <a:blip r:embed="rId6"/>
            <a:stretch>
              <a:fillRect/>
            </a:stretch>
          </p:blipFill>
          <p:spPr>
            <a:xfrm>
              <a:off x="4764734" y="4707876"/>
              <a:ext cx="1933845" cy="419158"/>
            </a:xfrm>
            <a:prstGeom prst="rect">
              <a:avLst/>
            </a:prstGeom>
          </p:spPr>
        </p:pic>
        <p:sp>
          <p:nvSpPr>
            <p:cNvPr id="25" name="Rectangle 24"/>
            <p:cNvSpPr/>
            <p:nvPr/>
          </p:nvSpPr>
          <p:spPr>
            <a:xfrm>
              <a:off x="6115050" y="4928600"/>
              <a:ext cx="457200" cy="176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p:cNvGrpSpPr/>
          <p:nvPr/>
        </p:nvGrpSpPr>
        <p:grpSpPr>
          <a:xfrm>
            <a:off x="1499239" y="5426344"/>
            <a:ext cx="2591162" cy="609685"/>
            <a:chOff x="4694120" y="5608896"/>
            <a:chExt cx="2591162" cy="609685"/>
          </a:xfrm>
        </p:grpSpPr>
        <p:pic>
          <p:nvPicPr>
            <p:cNvPr id="13" name="Picture 12"/>
            <p:cNvPicPr>
              <a:picLocks noChangeAspect="1"/>
            </p:cNvPicPr>
            <p:nvPr/>
          </p:nvPicPr>
          <p:blipFill>
            <a:blip r:embed="rId7"/>
            <a:stretch>
              <a:fillRect/>
            </a:stretch>
          </p:blipFill>
          <p:spPr>
            <a:xfrm>
              <a:off x="4694120" y="5608896"/>
              <a:ext cx="2591162" cy="609685"/>
            </a:xfrm>
            <a:prstGeom prst="rect">
              <a:avLst/>
            </a:prstGeom>
          </p:spPr>
        </p:pic>
        <p:sp>
          <p:nvSpPr>
            <p:cNvPr id="26" name="Rectangle 25"/>
            <p:cNvSpPr/>
            <p:nvPr/>
          </p:nvSpPr>
          <p:spPr>
            <a:xfrm>
              <a:off x="6638783" y="6020122"/>
              <a:ext cx="457200" cy="176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34800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21</a:t>
            </a:fld>
            <a:endParaRPr lang="en-US"/>
          </a:p>
        </p:txBody>
      </p:sp>
      <p:sp>
        <p:nvSpPr>
          <p:cNvPr id="7" name="Title 6"/>
          <p:cNvSpPr>
            <a:spLocks noGrp="1"/>
          </p:cNvSpPr>
          <p:nvPr>
            <p:ph type="title"/>
          </p:nvPr>
        </p:nvSpPr>
        <p:spPr/>
        <p:txBody>
          <a:bodyPr/>
          <a:lstStyle/>
          <a:p>
            <a:r>
              <a:rPr lang="en-US" altLang="en-US" dirty="0" err="1"/>
              <a:t>Xác</a:t>
            </a:r>
            <a:r>
              <a:rPr lang="en-US" altLang="en-US" dirty="0"/>
              <a:t> </a:t>
            </a:r>
            <a:r>
              <a:rPr lang="en-US" altLang="en-US" dirty="0" err="1"/>
              <a:t>định</a:t>
            </a:r>
            <a:r>
              <a:rPr lang="en-US" altLang="en-US" dirty="0"/>
              <a:t> </a:t>
            </a:r>
            <a:r>
              <a:rPr lang="en-US" altLang="en-US" dirty="0" err="1"/>
              <a:t>độ</a:t>
            </a:r>
            <a:r>
              <a:rPr lang="en-US" altLang="en-US" dirty="0"/>
              <a:t> </a:t>
            </a:r>
            <a:r>
              <a:rPr lang="en-US" altLang="en-US" dirty="0" err="1"/>
              <a:t>phức</a:t>
            </a:r>
            <a:r>
              <a:rPr lang="en-US" altLang="en-US" dirty="0"/>
              <a:t> </a:t>
            </a:r>
            <a:r>
              <a:rPr lang="en-US" altLang="en-US" dirty="0" err="1"/>
              <a:t>tạp</a:t>
            </a:r>
            <a:r>
              <a:rPr lang="en-US" altLang="en-US" dirty="0"/>
              <a:t> </a:t>
            </a:r>
            <a:r>
              <a:rPr lang="en-US" altLang="en-US" dirty="0" err="1"/>
              <a:t>của</a:t>
            </a:r>
            <a:r>
              <a:rPr lang="en-US" altLang="en-US" dirty="0"/>
              <a:t> GT</a:t>
            </a:r>
            <a:endParaRPr lang="en-US" dirty="0"/>
          </a:p>
        </p:txBody>
      </p:sp>
      <p:sp>
        <p:nvSpPr>
          <p:cNvPr id="3" name="Content Placeholder 2"/>
          <p:cNvSpPr>
            <a:spLocks noGrp="1"/>
          </p:cNvSpPr>
          <p:nvPr>
            <p:ph type="body" sz="quarter" idx="13"/>
          </p:nvPr>
        </p:nvSpPr>
        <p:spPr/>
        <p:txBody>
          <a:bodyPr/>
          <a:lstStyle/>
          <a:p>
            <a:r>
              <a:rPr lang="en-US" altLang="en-US" sz="2400" dirty="0" err="1"/>
              <a:t>Thông</a:t>
            </a:r>
            <a:r>
              <a:rPr lang="en-US" altLang="en-US" sz="2400" dirty="0"/>
              <a:t> </a:t>
            </a:r>
            <a:r>
              <a:rPr lang="en-US" altLang="en-US" sz="2400" dirty="0" err="1"/>
              <a:t>thường</a:t>
            </a:r>
            <a:r>
              <a:rPr lang="en-US" altLang="en-US" sz="2400" dirty="0"/>
              <a:t>, </a:t>
            </a:r>
            <a:r>
              <a:rPr lang="en-US" altLang="en-US" sz="2400" dirty="0" err="1"/>
              <a:t>chỉ</a:t>
            </a:r>
            <a:r>
              <a:rPr lang="en-US" altLang="en-US" sz="2400" dirty="0"/>
              <a:t> </a:t>
            </a:r>
            <a:r>
              <a:rPr lang="en-US" altLang="en-US" sz="2400" dirty="0" err="1"/>
              <a:t>xét</a:t>
            </a:r>
            <a:r>
              <a:rPr lang="en-US" altLang="en-US" sz="2400" dirty="0"/>
              <a:t> 3 </a:t>
            </a:r>
            <a:r>
              <a:rPr lang="en-US" altLang="en-US" sz="2400" dirty="0" err="1"/>
              <a:t>trường</a:t>
            </a:r>
            <a:r>
              <a:rPr lang="en-US" altLang="en-US" sz="2400" dirty="0"/>
              <a:t> </a:t>
            </a:r>
            <a:r>
              <a:rPr lang="en-US" altLang="en-US" sz="2400" dirty="0" err="1"/>
              <a:t>hợp</a:t>
            </a:r>
            <a:r>
              <a:rPr lang="en-US" altLang="en-US" sz="2400" dirty="0"/>
              <a:t> T(n):</a:t>
            </a:r>
          </a:p>
          <a:p>
            <a:pPr lvl="1"/>
            <a:r>
              <a:rPr lang="en-US" altLang="en-US" sz="2000" dirty="0"/>
              <a:t>T/h </a:t>
            </a:r>
            <a:r>
              <a:rPr lang="en-US" altLang="en-US" sz="2000" dirty="0" err="1"/>
              <a:t>tốt</a:t>
            </a:r>
            <a:r>
              <a:rPr lang="en-US" altLang="en-US" sz="2000" dirty="0"/>
              <a:t> </a:t>
            </a:r>
            <a:r>
              <a:rPr lang="en-US" altLang="en-US" sz="2000" dirty="0" err="1"/>
              <a:t>nhất</a:t>
            </a:r>
            <a:r>
              <a:rPr lang="en-US" altLang="en-US" sz="2000" dirty="0"/>
              <a:t> </a:t>
            </a:r>
            <a:r>
              <a:rPr lang="en-US" altLang="en-US" sz="2000" dirty="0" err="1"/>
              <a:t>T</a:t>
            </a:r>
            <a:r>
              <a:rPr lang="en-US" altLang="en-US" sz="2000" baseline="-25000" dirty="0" err="1"/>
              <a:t>tn</a:t>
            </a:r>
            <a:r>
              <a:rPr lang="en-US" altLang="en-US" sz="2000" dirty="0"/>
              <a:t>(n): </a:t>
            </a:r>
            <a:r>
              <a:rPr lang="vi-VN" sz="2000" dirty="0"/>
              <a:t>trường hợp giải thuật yêu cầu số thao tác </a:t>
            </a:r>
            <a:r>
              <a:rPr lang="vi-VN" sz="2000" i="1" dirty="0"/>
              <a:t>ít nhất </a:t>
            </a:r>
            <a:r>
              <a:rPr lang="vi-VN" sz="2000" dirty="0"/>
              <a:t>ứng với kích thước dữ liệu</a:t>
            </a:r>
            <a:r>
              <a:rPr lang="vi-VN" sz="2000" i="1" dirty="0"/>
              <a:t> n</a:t>
            </a:r>
            <a:endParaRPr lang="en-US" altLang="en-US" sz="2000" i="1" dirty="0"/>
          </a:p>
          <a:p>
            <a:pPr lvl="1"/>
            <a:r>
              <a:rPr lang="en-US" altLang="en-US" sz="2000" dirty="0"/>
              <a:t>T/h </a:t>
            </a:r>
            <a:r>
              <a:rPr lang="en-US" altLang="en-US" sz="2000" dirty="0" err="1"/>
              <a:t>xấu</a:t>
            </a:r>
            <a:r>
              <a:rPr lang="en-US" altLang="en-US" sz="2000" dirty="0"/>
              <a:t> </a:t>
            </a:r>
            <a:r>
              <a:rPr lang="en-US" altLang="en-US" sz="2000" dirty="0" err="1"/>
              <a:t>nhất</a:t>
            </a:r>
            <a:r>
              <a:rPr lang="en-US" altLang="en-US" sz="2000" dirty="0"/>
              <a:t> </a:t>
            </a:r>
            <a:r>
              <a:rPr lang="en-US" altLang="en-US" sz="2000" dirty="0" err="1"/>
              <a:t>T</a:t>
            </a:r>
            <a:r>
              <a:rPr lang="en-US" altLang="en-US" sz="2000" baseline="-25000" dirty="0" err="1"/>
              <a:t>xn</a:t>
            </a:r>
            <a:r>
              <a:rPr lang="en-US" altLang="en-US" sz="2000" dirty="0"/>
              <a:t>(n): </a:t>
            </a:r>
            <a:r>
              <a:rPr lang="vi-VN" sz="2000" dirty="0"/>
              <a:t>trường hợp giải thuật yêu cầu số thao tác </a:t>
            </a:r>
            <a:r>
              <a:rPr lang="vi-VN" sz="2000" i="1" dirty="0"/>
              <a:t>nhiều nhất </a:t>
            </a:r>
            <a:r>
              <a:rPr lang="vi-VN" sz="2000" dirty="0"/>
              <a:t>ứng với kích thước dữ liệu </a:t>
            </a:r>
            <a:r>
              <a:rPr lang="vi-VN" sz="2000" i="1" dirty="0"/>
              <a:t>n</a:t>
            </a:r>
            <a:endParaRPr lang="en-US" altLang="en-US" sz="2000" dirty="0"/>
          </a:p>
          <a:p>
            <a:pPr lvl="1"/>
            <a:r>
              <a:rPr lang="en-US" altLang="en-US" sz="2000" dirty="0"/>
              <a:t>T/h </a:t>
            </a:r>
            <a:r>
              <a:rPr lang="en-US" altLang="en-US" sz="2000" dirty="0" err="1"/>
              <a:t>trung</a:t>
            </a:r>
            <a:r>
              <a:rPr lang="en-US" altLang="en-US" sz="2000" dirty="0"/>
              <a:t> </a:t>
            </a:r>
            <a:r>
              <a:rPr lang="en-US" altLang="en-US" sz="2000" dirty="0" err="1"/>
              <a:t>bình</a:t>
            </a:r>
            <a:r>
              <a:rPr lang="en-US" altLang="en-US" sz="2000" dirty="0"/>
              <a:t> </a:t>
            </a:r>
            <a:r>
              <a:rPr lang="en-US" altLang="en-US" sz="2000" dirty="0" err="1"/>
              <a:t>T</a:t>
            </a:r>
            <a:r>
              <a:rPr lang="en-US" altLang="en-US" sz="2000" baseline="-25000" dirty="0" err="1"/>
              <a:t>tb</a:t>
            </a:r>
            <a:r>
              <a:rPr lang="en-US" altLang="en-US" sz="2000" dirty="0"/>
              <a:t>(n): </a:t>
            </a:r>
            <a:r>
              <a:rPr lang="vi-VN" sz="2000" dirty="0"/>
              <a:t>trung bình cộng tất cả các trường hợp ứng với kích thước dữ liệu </a:t>
            </a:r>
            <a:r>
              <a:rPr lang="vi-VN" sz="2000" i="1" dirty="0"/>
              <a:t>n</a:t>
            </a:r>
            <a:endParaRPr lang="en-US" altLang="en-US" sz="2000" i="1" dirty="0"/>
          </a:p>
          <a:p>
            <a:endParaRPr lang="en-US" dirty="0"/>
          </a:p>
        </p:txBody>
      </p:sp>
      <p:pic>
        <p:nvPicPr>
          <p:cNvPr id="6" name="Picture 5"/>
          <p:cNvPicPr>
            <a:picLocks noChangeAspect="1"/>
          </p:cNvPicPr>
          <p:nvPr/>
        </p:nvPicPr>
        <p:blipFill>
          <a:blip r:embed="rId3"/>
          <a:stretch>
            <a:fillRect/>
          </a:stretch>
        </p:blipFill>
        <p:spPr>
          <a:xfrm>
            <a:off x="2819679" y="3886200"/>
            <a:ext cx="3096057" cy="562053"/>
          </a:xfrm>
          <a:prstGeom prst="rect">
            <a:avLst/>
          </a:prstGeom>
        </p:spPr>
      </p:pic>
    </p:spTree>
    <p:extLst>
      <p:ext uri="{BB962C8B-B14F-4D97-AF65-F5344CB8AC3E}">
        <p14:creationId xmlns:p14="http://schemas.microsoft.com/office/powerpoint/2010/main" val="424128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22</a:t>
            </a:fld>
            <a:endParaRPr lang="en-US"/>
          </a:p>
        </p:txBody>
      </p:sp>
      <p:sp>
        <p:nvSpPr>
          <p:cNvPr id="2" name="Title 1"/>
          <p:cNvSpPr>
            <a:spLocks noGrp="1"/>
          </p:cNvSpPr>
          <p:nvPr>
            <p:ph type="title"/>
          </p:nvPr>
        </p:nvSpPr>
        <p:spPr/>
        <p:txBody>
          <a:bodyPr/>
          <a:lstStyle/>
          <a:p>
            <a:r>
              <a:rPr lang="en-US" altLang="en-US" dirty="0" err="1"/>
              <a:t>Xác</a:t>
            </a:r>
            <a:r>
              <a:rPr lang="en-US" altLang="en-US" dirty="0"/>
              <a:t> </a:t>
            </a:r>
            <a:r>
              <a:rPr lang="en-US" altLang="en-US" dirty="0" err="1"/>
              <a:t>định</a:t>
            </a:r>
            <a:r>
              <a:rPr lang="en-US" altLang="en-US" dirty="0"/>
              <a:t> </a:t>
            </a:r>
            <a:r>
              <a:rPr lang="en-US" altLang="en-US" dirty="0" err="1"/>
              <a:t>độ</a:t>
            </a:r>
            <a:r>
              <a:rPr lang="en-US" altLang="en-US" dirty="0"/>
              <a:t> </a:t>
            </a:r>
            <a:r>
              <a:rPr lang="en-US" altLang="en-US" dirty="0" err="1"/>
              <a:t>phức</a:t>
            </a:r>
            <a:r>
              <a:rPr lang="en-US" altLang="en-US" dirty="0"/>
              <a:t> </a:t>
            </a:r>
            <a:r>
              <a:rPr lang="en-US" altLang="en-US" dirty="0" err="1"/>
              <a:t>tạp</a:t>
            </a:r>
            <a:r>
              <a:rPr lang="en-US" altLang="en-US" dirty="0"/>
              <a:t> </a:t>
            </a:r>
            <a:r>
              <a:rPr lang="en-US" altLang="en-US" dirty="0" err="1"/>
              <a:t>của</a:t>
            </a:r>
            <a:r>
              <a:rPr lang="en-US" altLang="en-US" dirty="0"/>
              <a:t> GT</a:t>
            </a:r>
            <a:endParaRPr lang="en-US" dirty="0"/>
          </a:p>
        </p:txBody>
      </p:sp>
      <p:sp>
        <p:nvSpPr>
          <p:cNvPr id="3" name="Content Placeholder 2"/>
          <p:cNvSpPr>
            <a:spLocks noGrp="1"/>
          </p:cNvSpPr>
          <p:nvPr>
            <p:ph type="body" sz="quarter" idx="13"/>
          </p:nvPr>
        </p:nvSpPr>
        <p:spPr/>
        <p:txBody>
          <a:bodyPr>
            <a:normAutofit/>
          </a:bodyPr>
          <a:lstStyle/>
          <a:p>
            <a:pPr eaLnBrk="1" hangingPunct="1"/>
            <a:r>
              <a:rPr lang="en-US" altLang="en-US" sz="2400" dirty="0" err="1"/>
              <a:t>Sử</a:t>
            </a:r>
            <a:r>
              <a:rPr lang="en-US" altLang="en-US" sz="2400" dirty="0"/>
              <a:t> </a:t>
            </a:r>
            <a:r>
              <a:rPr lang="en-US" altLang="en-US" sz="2400" dirty="0" err="1"/>
              <a:t>dụng</a:t>
            </a:r>
            <a:endParaRPr lang="en-US" altLang="en-US" sz="2400" dirty="0"/>
          </a:p>
          <a:p>
            <a:pPr lvl="1"/>
            <a:r>
              <a:rPr lang="en-US" sz="2000" dirty="0" err="1"/>
              <a:t>Khi</a:t>
            </a:r>
            <a:r>
              <a:rPr lang="en-US" sz="2000" dirty="0"/>
              <a:t> m</a:t>
            </a:r>
            <a:r>
              <a:rPr lang="vi-VN" sz="2000" dirty="0"/>
              <a:t>uốn dự đoán tốc độ </a:t>
            </a:r>
            <a:r>
              <a:rPr lang="en-US" sz="2000" dirty="0" err="1"/>
              <a:t>tăng</a:t>
            </a:r>
            <a:r>
              <a:rPr lang="en-US" sz="2000" dirty="0"/>
              <a:t> </a:t>
            </a:r>
            <a:r>
              <a:rPr lang="vi-VN" sz="2000" dirty="0"/>
              <a:t>của độ phức tạp khi kích thước đầu vào của bài toán tăng lên. </a:t>
            </a:r>
            <a:endParaRPr lang="en-US" sz="2000" dirty="0"/>
          </a:p>
          <a:p>
            <a:pPr lvl="1"/>
            <a:r>
              <a:rPr lang="en-US" sz="2000" dirty="0" err="1"/>
              <a:t>Khi</a:t>
            </a:r>
            <a:r>
              <a:rPr lang="en-US" sz="2000" dirty="0"/>
              <a:t> c</a:t>
            </a:r>
            <a:r>
              <a:rPr lang="vi-VN" sz="2000" dirty="0"/>
              <a:t>ó nhiều thuật toán</a:t>
            </a:r>
            <a:r>
              <a:rPr lang="en-US" sz="2000" dirty="0"/>
              <a:t>, </a:t>
            </a:r>
            <a:r>
              <a:rPr lang="vi-VN" sz="2000" dirty="0"/>
              <a:t>cần tìm thuật toán hiệu quả nhất. </a:t>
            </a:r>
            <a:endParaRPr lang="en-US" altLang="en-US" sz="2000" i="1" dirty="0"/>
          </a:p>
          <a:p>
            <a:r>
              <a:rPr lang="en-US" sz="2400" dirty="0" err="1"/>
              <a:t>Khi</a:t>
            </a:r>
            <a:r>
              <a:rPr lang="en-US" sz="2400" dirty="0"/>
              <a:t> </a:t>
            </a:r>
            <a:r>
              <a:rPr lang="en-US" sz="2400" i="1" dirty="0"/>
              <a:t>n </a:t>
            </a:r>
            <a:r>
              <a:rPr lang="en-US" sz="2400" dirty="0" err="1"/>
              <a:t>rất</a:t>
            </a:r>
            <a:r>
              <a:rPr lang="en-US" sz="2400" dirty="0"/>
              <a:t> </a:t>
            </a:r>
            <a:r>
              <a:rPr lang="en-US" sz="2400" dirty="0" err="1"/>
              <a:t>lớn</a:t>
            </a:r>
            <a:r>
              <a:rPr lang="en-US" sz="2400" dirty="0"/>
              <a:t>, </a:t>
            </a:r>
            <a:r>
              <a:rPr lang="en-US" sz="2400" dirty="0" err="1"/>
              <a:t>có</a:t>
            </a:r>
            <a:r>
              <a:rPr lang="en-US" sz="2400" dirty="0"/>
              <a:t> </a:t>
            </a:r>
            <a:r>
              <a:rPr lang="en-US" sz="2400" dirty="0" err="1"/>
              <a:t>thể</a:t>
            </a:r>
            <a:r>
              <a:rPr lang="en-US" sz="2400" dirty="0"/>
              <a:t> </a:t>
            </a:r>
            <a:r>
              <a:rPr lang="en-US" sz="2400" dirty="0" err="1"/>
              <a:t>lựa</a:t>
            </a:r>
            <a:r>
              <a:rPr lang="en-US" sz="2400" dirty="0"/>
              <a:t> </a:t>
            </a:r>
            <a:r>
              <a:rPr lang="en-US" sz="2400" dirty="0" err="1"/>
              <a:t>chọn</a:t>
            </a:r>
            <a:r>
              <a:rPr lang="en-US" sz="2400" dirty="0"/>
              <a:t> </a:t>
            </a:r>
            <a:r>
              <a:rPr lang="en-US" sz="2400" dirty="0" err="1"/>
              <a:t>thành</a:t>
            </a:r>
            <a:r>
              <a:rPr lang="en-US" sz="2400" dirty="0"/>
              <a:t> </a:t>
            </a:r>
            <a:r>
              <a:rPr lang="en-US" sz="2400" dirty="0" err="1"/>
              <a:t>phần</a:t>
            </a:r>
            <a:r>
              <a:rPr lang="en-US" sz="2400" dirty="0"/>
              <a:t> </a:t>
            </a:r>
            <a:r>
              <a:rPr lang="en-US" sz="2400" dirty="0" err="1"/>
              <a:t>lớn</a:t>
            </a:r>
            <a:r>
              <a:rPr lang="en-US" sz="2400" dirty="0"/>
              <a:t> </a:t>
            </a:r>
            <a:r>
              <a:rPr lang="en-US" sz="2400" dirty="0" err="1"/>
              <a:t>nhất</a:t>
            </a:r>
            <a:r>
              <a:rPr lang="en-US" sz="2400" dirty="0"/>
              <a:t> </a:t>
            </a:r>
            <a:r>
              <a:rPr lang="en-US" sz="2400" dirty="0" err="1"/>
              <a:t>trong</a:t>
            </a:r>
            <a:r>
              <a:rPr lang="en-US" sz="2400" dirty="0"/>
              <a:t> </a:t>
            </a:r>
            <a:r>
              <a:rPr lang="en-US" sz="2400" dirty="0" err="1"/>
              <a:t>biểu</a:t>
            </a:r>
            <a:r>
              <a:rPr lang="en-US" sz="2400" dirty="0"/>
              <a:t> </a:t>
            </a:r>
            <a:r>
              <a:rPr lang="en-US" sz="2400" dirty="0" err="1"/>
              <a:t>thức</a:t>
            </a:r>
            <a:r>
              <a:rPr lang="en-US" sz="2400" dirty="0"/>
              <a:t> </a:t>
            </a:r>
            <a:r>
              <a:rPr lang="en-US" sz="2400" dirty="0" err="1"/>
              <a:t>của</a:t>
            </a:r>
            <a:r>
              <a:rPr lang="en-US" sz="2400" dirty="0"/>
              <a:t> T(n) </a:t>
            </a:r>
            <a:r>
              <a:rPr lang="en-US" sz="2400" dirty="0" err="1"/>
              <a:t>để</a:t>
            </a:r>
            <a:r>
              <a:rPr lang="en-US" sz="2400" dirty="0"/>
              <a:t> </a:t>
            </a:r>
            <a:r>
              <a:rPr lang="en-US" sz="2400" dirty="0" err="1"/>
              <a:t>biểu</a:t>
            </a:r>
            <a:r>
              <a:rPr lang="en-US" sz="2400" dirty="0"/>
              <a:t> </a:t>
            </a:r>
            <a:r>
              <a:rPr lang="en-US" sz="2400" dirty="0" err="1"/>
              <a:t>diễn</a:t>
            </a:r>
            <a:r>
              <a:rPr lang="en-US" sz="2400" dirty="0"/>
              <a:t> </a:t>
            </a:r>
            <a:r>
              <a:rPr lang="en-US" sz="2400" dirty="0" err="1"/>
              <a:t>cho</a:t>
            </a:r>
            <a:r>
              <a:rPr lang="en-US" sz="2400" dirty="0"/>
              <a:t> </a:t>
            </a:r>
            <a:r>
              <a:rPr lang="en-US" sz="2400" dirty="0" err="1"/>
              <a:t>độ</a:t>
            </a:r>
            <a:r>
              <a:rPr lang="vi-VN" sz="2400" dirty="0"/>
              <a:t> </a:t>
            </a:r>
            <a:r>
              <a:rPr lang="en-US" sz="2400" dirty="0" err="1"/>
              <a:t>lớn</a:t>
            </a:r>
            <a:r>
              <a:rPr lang="en-US" sz="2400" dirty="0"/>
              <a:t> </a:t>
            </a:r>
            <a:r>
              <a:rPr lang="en-US" sz="2400" dirty="0" err="1"/>
              <a:t>của</a:t>
            </a:r>
            <a:r>
              <a:rPr lang="en-US" sz="2400" dirty="0"/>
              <a:t> GT (</a:t>
            </a:r>
            <a:r>
              <a:rPr lang="en-US" sz="2400" i="1" dirty="0"/>
              <a:t>magnitude of algorithm</a:t>
            </a:r>
            <a:r>
              <a:rPr lang="en-US" sz="2400" dirty="0"/>
              <a:t>)</a:t>
            </a:r>
          </a:p>
          <a:p>
            <a:pPr lvl="1"/>
            <a:r>
              <a:rPr lang="en-US" sz="2400" dirty="0" err="1"/>
              <a:t>Thành</a:t>
            </a:r>
            <a:r>
              <a:rPr lang="en-US" sz="2400" dirty="0"/>
              <a:t> </a:t>
            </a:r>
            <a:r>
              <a:rPr lang="en-US" sz="2400" dirty="0" err="1"/>
              <a:t>phần</a:t>
            </a:r>
            <a:r>
              <a:rPr lang="en-US" sz="2400" dirty="0"/>
              <a:t> </a:t>
            </a:r>
            <a:r>
              <a:rPr lang="en-US" sz="2400" dirty="0" err="1"/>
              <a:t>này</a:t>
            </a:r>
            <a:r>
              <a:rPr lang="en-US" sz="2400" dirty="0"/>
              <a:t> </a:t>
            </a:r>
            <a:r>
              <a:rPr lang="en-US" sz="2400" dirty="0" err="1"/>
              <a:t>được</a:t>
            </a:r>
            <a:r>
              <a:rPr lang="en-US" sz="2400" dirty="0"/>
              <a:t> </a:t>
            </a:r>
            <a:r>
              <a:rPr lang="en-US" sz="2400" dirty="0" err="1"/>
              <a:t>gọi</a:t>
            </a:r>
            <a:r>
              <a:rPr lang="en-US" sz="2400" dirty="0"/>
              <a:t> </a:t>
            </a:r>
            <a:r>
              <a:rPr lang="en-US" sz="2400" dirty="0" err="1"/>
              <a:t>là</a:t>
            </a:r>
            <a:r>
              <a:rPr lang="en-US" sz="2400" dirty="0"/>
              <a:t> O </a:t>
            </a:r>
            <a:r>
              <a:rPr lang="en-US" sz="2400" dirty="0" err="1"/>
              <a:t>lớn</a:t>
            </a:r>
            <a:r>
              <a:rPr lang="en-US" sz="2400" dirty="0"/>
              <a:t> </a:t>
            </a:r>
          </a:p>
          <a:p>
            <a:pPr lvl="1"/>
            <a:endParaRPr lang="en-US" sz="2000" dirty="0"/>
          </a:p>
          <a:p>
            <a:endParaRPr lang="en-US" sz="2400" dirty="0"/>
          </a:p>
        </p:txBody>
      </p:sp>
      <p:sp>
        <p:nvSpPr>
          <p:cNvPr id="6" name="Rectangle 5"/>
          <p:cNvSpPr/>
          <p:nvPr/>
        </p:nvSpPr>
        <p:spPr>
          <a:xfrm>
            <a:off x="2667000" y="4114800"/>
            <a:ext cx="4572000" cy="369332"/>
          </a:xfrm>
          <a:prstGeom prst="rect">
            <a:avLst/>
          </a:prstGeom>
        </p:spPr>
        <p:txBody>
          <a:bodyPr>
            <a:spAutoFit/>
          </a:bodyPr>
          <a:lstStyle/>
          <a:p>
            <a:r>
              <a:rPr lang="en-US" dirty="0"/>
              <a:t>“</a:t>
            </a:r>
            <a:r>
              <a:rPr lang="en-US" i="1" dirty="0"/>
              <a:t>what happens for very large values of n”</a:t>
            </a:r>
          </a:p>
        </p:txBody>
      </p:sp>
    </p:spTree>
    <p:extLst>
      <p:ext uri="{BB962C8B-B14F-4D97-AF65-F5344CB8AC3E}">
        <p14:creationId xmlns:p14="http://schemas.microsoft.com/office/powerpoint/2010/main" val="100475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23</a:t>
            </a:fld>
            <a:endParaRPr lang="en-US"/>
          </a:p>
        </p:txBody>
      </p:sp>
      <p:sp>
        <p:nvSpPr>
          <p:cNvPr id="2" name="Title 1"/>
          <p:cNvSpPr>
            <a:spLocks noGrp="1"/>
          </p:cNvSpPr>
          <p:nvPr>
            <p:ph type="title"/>
          </p:nvPr>
        </p:nvSpPr>
        <p:spPr/>
        <p:txBody>
          <a:bodyPr/>
          <a:lstStyle/>
          <a:p>
            <a:r>
              <a:rPr lang="en-US" altLang="en-US" dirty="0" err="1"/>
              <a:t>Khái</a:t>
            </a:r>
            <a:r>
              <a:rPr lang="en-US" altLang="en-US" dirty="0"/>
              <a:t> </a:t>
            </a:r>
            <a:r>
              <a:rPr lang="en-US" altLang="en-US" dirty="0" err="1"/>
              <a:t>niệm</a:t>
            </a:r>
            <a:r>
              <a:rPr lang="en-US" altLang="en-US" dirty="0"/>
              <a:t> O (ô </a:t>
            </a:r>
            <a:r>
              <a:rPr lang="en-US" altLang="en-US" dirty="0" err="1"/>
              <a:t>lớn</a:t>
            </a:r>
            <a:r>
              <a:rPr lang="en-US" altLang="en-US" dirty="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3"/>
              </p:nvPr>
            </p:nvSpPr>
            <p:spPr/>
            <p:txBody>
              <a:bodyPr>
                <a:normAutofit/>
              </a:bodyPr>
              <a:lstStyle/>
              <a:p>
                <a:pPr>
                  <a:lnSpc>
                    <a:spcPct val="90000"/>
                  </a:lnSpc>
                </a:pPr>
                <a:r>
                  <a:rPr lang="en-US" altLang="en-US" sz="2400" dirty="0"/>
                  <a:t>Cho n </a:t>
                </a:r>
                <a:r>
                  <a:rPr lang="en-US" altLang="en-US" sz="2400" dirty="0" err="1"/>
                  <a:t>là</a:t>
                </a:r>
                <a:r>
                  <a:rPr lang="en-US" altLang="en-US" sz="2400" dirty="0"/>
                  <a:t> </a:t>
                </a:r>
                <a:r>
                  <a:rPr lang="en-US" altLang="en-US" sz="2400" dirty="0" err="1"/>
                  <a:t>một</a:t>
                </a:r>
                <a:r>
                  <a:rPr lang="en-US" altLang="en-US" sz="2400" dirty="0"/>
                  <a:t> </a:t>
                </a:r>
                <a:r>
                  <a:rPr lang="en-US" altLang="en-US" sz="2400" dirty="0" err="1"/>
                  <a:t>số</a:t>
                </a:r>
                <a:r>
                  <a:rPr lang="en-US" altLang="en-US" sz="2400" dirty="0"/>
                  <a:t> </a:t>
                </a:r>
                <a:r>
                  <a:rPr lang="en-US" altLang="en-US" sz="2400" dirty="0" err="1"/>
                  <a:t>nguyên</a:t>
                </a:r>
                <a:r>
                  <a:rPr lang="en-US" altLang="en-US" sz="2400" dirty="0"/>
                  <a:t> </a:t>
                </a:r>
                <a:r>
                  <a:rPr lang="en-US" altLang="en-US" sz="2400" dirty="0" err="1"/>
                  <a:t>không</a:t>
                </a:r>
                <a:r>
                  <a:rPr lang="en-US" altLang="en-US" sz="2400" dirty="0"/>
                  <a:t> </a:t>
                </a:r>
                <a:r>
                  <a:rPr lang="en-US" altLang="en-US" sz="2400" dirty="0" err="1"/>
                  <a:t>âm</a:t>
                </a:r>
                <a:r>
                  <a:rPr lang="en-US" altLang="en-US" sz="2400" dirty="0"/>
                  <a:t>, T(n), f(n) ≥ 0</a:t>
                </a:r>
              </a:p>
              <a:p>
                <a:pPr marL="0" indent="0">
                  <a:lnSpc>
                    <a:spcPct val="90000"/>
                  </a:lnSpc>
                  <a:buNone/>
                </a:pPr>
                <a:r>
                  <a:rPr lang="en-US" altLang="en-US" sz="2400" dirty="0"/>
                  <a:t>   Ta </a:t>
                </a:r>
                <a:r>
                  <a:rPr lang="en-US" altLang="en-US" sz="2400" dirty="0" err="1"/>
                  <a:t>nói</a:t>
                </a:r>
                <a:r>
                  <a:rPr lang="en-US" altLang="en-US" sz="2400" dirty="0"/>
                  <a:t> </a:t>
                </a:r>
                <a:r>
                  <a:rPr lang="en-US" altLang="en-US" sz="2400" b="1" dirty="0"/>
                  <a:t>T(n) </a:t>
                </a:r>
                <a:r>
                  <a:rPr lang="en-US" altLang="en-US" sz="2400" b="1" dirty="0" err="1"/>
                  <a:t>là</a:t>
                </a:r>
                <a:r>
                  <a:rPr lang="en-US" altLang="en-US" sz="2400" b="1" dirty="0"/>
                  <a:t> O (f(n)) </a:t>
                </a:r>
                <a:r>
                  <a:rPr lang="en-US" altLang="en-US" sz="2400" dirty="0" err="1"/>
                  <a:t>nếu</a:t>
                </a:r>
                <a:r>
                  <a:rPr lang="en-US" altLang="en-US" sz="2400" dirty="0"/>
                  <a:t> </a:t>
                </a:r>
                <a:r>
                  <a:rPr lang="en-US" altLang="en-US" sz="2400" dirty="0" err="1"/>
                  <a:t>và</a:t>
                </a:r>
                <a:r>
                  <a:rPr lang="en-US" altLang="en-US" sz="2400" dirty="0"/>
                  <a:t> </a:t>
                </a:r>
                <a:r>
                  <a:rPr lang="en-US" altLang="en-US" sz="2400" dirty="0" err="1"/>
                  <a:t>chỉ</a:t>
                </a:r>
                <a:r>
                  <a:rPr lang="en-US" altLang="en-US" sz="2400" dirty="0"/>
                  <a:t> </a:t>
                </a:r>
                <a:r>
                  <a:rPr lang="en-US" altLang="en-US" sz="2400" dirty="0" err="1"/>
                  <a:t>nếu</a:t>
                </a:r>
                <a:endParaRPr lang="en-US" altLang="en-US" sz="2400" dirty="0"/>
              </a:p>
              <a:p>
                <a:pPr marL="0" indent="0">
                  <a:lnSpc>
                    <a:spcPct val="90000"/>
                  </a:lnSpc>
                  <a:buNone/>
                </a:pPr>
                <a:r>
                  <a:rPr lang="en-US" altLang="en-US" sz="2400" dirty="0"/>
                  <a:t>                                </a:t>
                </a:r>
                <a14:m>
                  <m:oMath xmlns:m="http://schemas.openxmlformats.org/officeDocument/2006/math">
                    <m:r>
                      <a:rPr lang="en-US" altLang="en-US" sz="2800" i="1" smtClean="0">
                        <a:latin typeface="Cambria Math" panose="02040503050406030204" pitchFamily="18" charset="0"/>
                        <a:ea typeface="Cambria Math" panose="02040503050406030204" pitchFamily="18" charset="0"/>
                      </a:rPr>
                      <m:t>∃</m:t>
                    </m:r>
                    <m:r>
                      <m:rPr>
                        <m:nor/>
                      </m:rPr>
                      <a:rPr lang="en-US" altLang="en-US" sz="2800" b="0" i="0" smtClean="0">
                        <a:latin typeface="Cambria Math" panose="02040503050406030204" pitchFamily="18" charset="0"/>
                        <a:ea typeface="Cambria Math" panose="02040503050406030204" pitchFamily="18" charset="0"/>
                      </a:rPr>
                      <m:t> </m:t>
                    </m:r>
                    <m:r>
                      <m:rPr>
                        <m:nor/>
                      </m:rPr>
                      <a:rPr lang="en-US" altLang="en-US" sz="1800" dirty="0"/>
                      <m:t>h</m:t>
                    </m:r>
                    <m:r>
                      <m:rPr>
                        <m:nor/>
                      </m:rPr>
                      <a:rPr lang="en-US" altLang="en-US" sz="1800" dirty="0"/>
                      <m:t>ằ</m:t>
                    </m:r>
                    <m:r>
                      <m:rPr>
                        <m:nor/>
                      </m:rPr>
                      <a:rPr lang="en-US" altLang="en-US" sz="1800" dirty="0"/>
                      <m:t>ng</m:t>
                    </m:r>
                    <m:r>
                      <m:rPr>
                        <m:nor/>
                      </m:rPr>
                      <a:rPr lang="en-US" altLang="en-US" sz="1800" dirty="0"/>
                      <m:t> </m:t>
                    </m:r>
                    <m:r>
                      <m:rPr>
                        <m:nor/>
                      </m:rPr>
                      <a:rPr lang="en-US" altLang="en-US" sz="1800" dirty="0"/>
                      <m:t>s</m:t>
                    </m:r>
                    <m:r>
                      <m:rPr>
                        <m:nor/>
                      </m:rPr>
                      <a:rPr lang="en-US" altLang="en-US" sz="1800" dirty="0"/>
                      <m:t>ố </m:t>
                    </m:r>
                    <m:r>
                      <m:rPr>
                        <m:nor/>
                      </m:rPr>
                      <a:rPr lang="en-US" altLang="en-US" sz="1800" dirty="0"/>
                      <m:t>C</m:t>
                    </m:r>
                    <m:r>
                      <m:rPr>
                        <m:nor/>
                      </m:rPr>
                      <a:rPr lang="en-US" altLang="en-US" sz="1800" b="0" i="0" dirty="0" smtClean="0"/>
                      <m:t> </m:t>
                    </m:r>
                    <m:r>
                      <m:rPr>
                        <m:nor/>
                      </m:rPr>
                      <a:rPr lang="en-US" altLang="en-US" sz="1800" b="0" i="0" dirty="0" smtClean="0"/>
                      <m:t>d</m:t>
                    </m:r>
                    <m:r>
                      <m:rPr>
                        <m:nor/>
                      </m:rPr>
                      <a:rPr lang="en-US" altLang="en-US" sz="1800" b="0" i="0" dirty="0" smtClean="0"/>
                      <m:t>ươ</m:t>
                    </m:r>
                    <m:r>
                      <m:rPr>
                        <m:nor/>
                      </m:rPr>
                      <a:rPr lang="en-US" altLang="en-US" sz="1800" b="0" i="0" dirty="0" smtClean="0"/>
                      <m:t>ng</m:t>
                    </m:r>
                    <m:r>
                      <m:rPr>
                        <m:nor/>
                      </m:rPr>
                      <a:rPr lang="en-US" altLang="en-US" sz="1800" dirty="0"/>
                      <m:t> </m:t>
                    </m:r>
                    <m:r>
                      <m:rPr>
                        <m:nor/>
                      </m:rPr>
                      <a:rPr lang="en-US" altLang="en-US" sz="1800" dirty="0"/>
                      <m:t>v</m:t>
                    </m:r>
                    <m:r>
                      <m:rPr>
                        <m:nor/>
                      </m:rPr>
                      <a:rPr lang="en-US" altLang="en-US" sz="1800" dirty="0"/>
                      <m:t>à </m:t>
                    </m:r>
                    <m:r>
                      <m:rPr>
                        <m:nor/>
                      </m:rPr>
                      <a:rPr lang="en-US" altLang="en-US" sz="1800" dirty="0"/>
                      <m:t>n</m:t>
                    </m:r>
                    <m:r>
                      <m:rPr>
                        <m:nor/>
                      </m:rPr>
                      <a:rPr lang="en-US" altLang="en-US" sz="1800" baseline="-25000" dirty="0"/>
                      <m:t>0</m:t>
                    </m:r>
                  </m:oMath>
                </a14:m>
                <a:r>
                  <a:rPr lang="en-US" altLang="en-US" sz="2400" dirty="0"/>
                  <a:t>: </a:t>
                </a:r>
                <a14:m>
                  <m:oMath xmlns:m="http://schemas.openxmlformats.org/officeDocument/2006/math">
                    <m:r>
                      <a:rPr lang="en-US" altLang="en-US" sz="2400" i="1" smtClean="0">
                        <a:latin typeface="Cambria Math" panose="02040503050406030204" pitchFamily="18" charset="0"/>
                        <a:ea typeface="Cambria Math" panose="02040503050406030204" pitchFamily="18" charset="0"/>
                      </a:rPr>
                      <m:t>∀</m:t>
                    </m:r>
                  </m:oMath>
                </a14:m>
                <a:r>
                  <a:rPr lang="en-US" altLang="en-US" sz="2400" dirty="0"/>
                  <a:t> n </a:t>
                </a:r>
                <a:r>
                  <a:rPr lang="en-US" altLang="en-US" sz="2400" dirty="0">
                    <a:sym typeface="Symbol" panose="05050102010706020507" pitchFamily="18" charset="2"/>
                  </a:rPr>
                  <a:t></a:t>
                </a:r>
                <a:r>
                  <a:rPr lang="en-US" altLang="en-US" sz="2400" dirty="0"/>
                  <a:t> n</a:t>
                </a:r>
                <a:r>
                  <a:rPr lang="en-US" altLang="en-US" sz="2400" baseline="-25000" dirty="0"/>
                  <a:t>0</a:t>
                </a:r>
                <a:r>
                  <a:rPr lang="en-US" altLang="en-US" sz="2400" dirty="0"/>
                  <a:t> </a:t>
                </a:r>
                <a:r>
                  <a:rPr lang="en-US" altLang="en-US" sz="2400" dirty="0" err="1"/>
                  <a:t>thì</a:t>
                </a:r>
                <a:r>
                  <a:rPr lang="en-US" altLang="en-US" sz="2400" dirty="0"/>
                  <a:t> T(n) </a:t>
                </a:r>
                <a:r>
                  <a:rPr lang="en-US" altLang="en-US" sz="2400" dirty="0">
                    <a:sym typeface="Symbol" panose="05050102010706020507" pitchFamily="18" charset="2"/>
                  </a:rPr>
                  <a:t> </a:t>
                </a:r>
                <a:r>
                  <a:rPr lang="en-US" altLang="en-US" sz="2400" dirty="0" err="1"/>
                  <a:t>C.f</a:t>
                </a:r>
                <a:r>
                  <a:rPr lang="en-US" altLang="en-US" sz="2400" dirty="0"/>
                  <a:t>(n)</a:t>
                </a:r>
              </a:p>
              <a:p>
                <a:pPr marL="0" indent="0">
                  <a:lnSpc>
                    <a:spcPct val="90000"/>
                  </a:lnSpc>
                  <a:buNone/>
                </a:pPr>
                <a:endParaRPr lang="en-US" altLang="en-US" sz="2400" dirty="0"/>
              </a:p>
              <a:p>
                <a:pPr eaLnBrk="1" hangingPunct="1">
                  <a:lnSpc>
                    <a:spcPct val="90000"/>
                  </a:lnSpc>
                </a:pPr>
                <a:r>
                  <a:rPr lang="en-US" altLang="en-US" sz="2400" dirty="0"/>
                  <a:t>Ý </a:t>
                </a:r>
                <a:r>
                  <a:rPr lang="en-US" altLang="en-US" sz="2400" dirty="0" err="1"/>
                  <a:t>nghĩa</a:t>
                </a:r>
                <a:r>
                  <a:rPr lang="en-US" altLang="en-US" sz="2400" dirty="0"/>
                  <a:t>: </a:t>
                </a:r>
              </a:p>
              <a:p>
                <a:pPr lvl="1">
                  <a:lnSpc>
                    <a:spcPct val="90000"/>
                  </a:lnSpc>
                </a:pPr>
                <a:r>
                  <a:rPr lang="en-US" altLang="en-US" sz="2000" dirty="0" err="1"/>
                  <a:t>Với</a:t>
                </a:r>
                <a:r>
                  <a:rPr lang="en-US" altLang="en-US" sz="2000" dirty="0"/>
                  <a:t> </a:t>
                </a:r>
                <a:r>
                  <a:rPr lang="en-US" altLang="en-US" sz="2000" dirty="0" err="1"/>
                  <a:t>lượng</a:t>
                </a:r>
                <a:r>
                  <a:rPr lang="en-US" altLang="en-US" sz="2000" dirty="0"/>
                  <a:t> </a:t>
                </a:r>
                <a:r>
                  <a:rPr lang="en-US" altLang="en-US" sz="2000" dirty="0" err="1"/>
                  <a:t>lớn</a:t>
                </a:r>
                <a:r>
                  <a:rPr lang="en-US" altLang="en-US" sz="2000" dirty="0"/>
                  <a:t> </a:t>
                </a:r>
                <a:r>
                  <a:rPr lang="en-US" altLang="en-US" sz="2000" dirty="0" err="1"/>
                  <a:t>dữ</a:t>
                </a:r>
                <a:r>
                  <a:rPr lang="en-US" altLang="en-US" sz="2000" dirty="0"/>
                  <a:t> </a:t>
                </a:r>
                <a:r>
                  <a:rPr lang="en-US" altLang="en-US" sz="2000" dirty="0" err="1"/>
                  <a:t>liệu</a:t>
                </a:r>
                <a:r>
                  <a:rPr lang="en-US" altLang="en-US" sz="2000" dirty="0"/>
                  <a:t>, T(n)</a:t>
                </a:r>
                <a:br>
                  <a:rPr lang="en-US" altLang="en-US" sz="2000" dirty="0"/>
                </a:br>
                <a:r>
                  <a:rPr lang="en-US" altLang="en-US" sz="2000" dirty="0" err="1"/>
                  <a:t>có</a:t>
                </a:r>
                <a:r>
                  <a:rPr lang="en-US" altLang="en-US" sz="2000" dirty="0"/>
                  <a:t> </a:t>
                </a:r>
                <a:r>
                  <a:rPr lang="en-US" altLang="en-US" sz="2000" dirty="0" err="1"/>
                  <a:t>tăng</a:t>
                </a:r>
                <a:r>
                  <a:rPr lang="en-US" altLang="en-US" sz="2000" dirty="0"/>
                  <a:t> </a:t>
                </a:r>
                <a:r>
                  <a:rPr lang="en-US" altLang="en-US" sz="2000" dirty="0" err="1"/>
                  <a:t>cũng</a:t>
                </a:r>
                <a:r>
                  <a:rPr lang="en-US" altLang="en-US" sz="2000" dirty="0"/>
                  <a:t> </a:t>
                </a:r>
                <a:r>
                  <a:rPr lang="en-US" altLang="en-US" sz="2000" dirty="0" err="1"/>
                  <a:t>không</a:t>
                </a:r>
                <a:r>
                  <a:rPr lang="en-US" altLang="en-US" sz="2000" dirty="0"/>
                  <a:t> </a:t>
                </a:r>
                <a:r>
                  <a:rPr lang="en-US" altLang="en-US" sz="2000" dirty="0" err="1"/>
                  <a:t>vượt</a:t>
                </a:r>
                <a:r>
                  <a:rPr lang="en-US" altLang="en-US" sz="2000" dirty="0"/>
                  <a:t> </a:t>
                </a:r>
                <a:br>
                  <a:rPr lang="en-US" altLang="en-US" sz="2000" dirty="0"/>
                </a:br>
                <a:r>
                  <a:rPr lang="en-US" altLang="en-US" sz="2000" dirty="0" err="1"/>
                  <a:t>quá</a:t>
                </a:r>
                <a:r>
                  <a:rPr lang="en-US" altLang="en-US" sz="2000" dirty="0"/>
                  <a:t> </a:t>
                </a:r>
                <a:r>
                  <a:rPr lang="en-US" altLang="en-US" sz="2000" dirty="0" err="1"/>
                  <a:t>C.f</a:t>
                </a:r>
                <a:r>
                  <a:rPr lang="en-US" altLang="en-US" sz="2000" dirty="0"/>
                  <a:t>(n)</a:t>
                </a:r>
              </a:p>
              <a:p>
                <a:pPr lvl="1">
                  <a:lnSpc>
                    <a:spcPct val="90000"/>
                  </a:lnSpc>
                </a:pPr>
                <a:r>
                  <a:rPr lang="en-US" altLang="en-US" sz="2000" dirty="0"/>
                  <a:t>với </a:t>
                </a:r>
                <a14:m>
                  <m:oMath xmlns:m="http://schemas.openxmlformats.org/officeDocument/2006/math">
                    <m:r>
                      <a:rPr lang="en-US" altLang="en-US" sz="2000" i="1">
                        <a:latin typeface="Cambria Math" panose="02040503050406030204" pitchFamily="18" charset="0"/>
                        <a:ea typeface="Cambria Math" panose="02040503050406030204" pitchFamily="18" charset="0"/>
                      </a:rPr>
                      <m:t>∀</m:t>
                    </m:r>
                  </m:oMath>
                </a14:m>
                <a:r>
                  <a:rPr lang="en-US" altLang="en-US" sz="2000" dirty="0"/>
                  <a:t> n </a:t>
                </a:r>
                <a:r>
                  <a:rPr lang="en-US" altLang="en-US" sz="2000" dirty="0">
                    <a:sym typeface="Symbol" panose="05050102010706020507" pitchFamily="18" charset="2"/>
                  </a:rPr>
                  <a:t></a:t>
                </a:r>
                <a:r>
                  <a:rPr lang="en-US" altLang="en-US" sz="2000" dirty="0"/>
                  <a:t> n</a:t>
                </a:r>
                <a:r>
                  <a:rPr lang="en-US" altLang="en-US" sz="2000" baseline="-25000" dirty="0"/>
                  <a:t>0</a:t>
                </a:r>
                <a:r>
                  <a:rPr lang="en-US" altLang="en-US" sz="2000" dirty="0"/>
                  <a:t>, </a:t>
                </a:r>
                <a:r>
                  <a:rPr lang="en-US" altLang="en-US" sz="2000" dirty="0" err="1"/>
                  <a:t>C.f</a:t>
                </a:r>
                <a:r>
                  <a:rPr lang="en-US" altLang="en-US" sz="2000" dirty="0"/>
                  <a:t>(n) </a:t>
                </a:r>
                <a:r>
                  <a:rPr lang="en-US" altLang="en-US" sz="2000" dirty="0" err="1"/>
                  <a:t>là</a:t>
                </a:r>
                <a:br>
                  <a:rPr lang="en-US" altLang="en-US" sz="2000" dirty="0"/>
                </a:br>
                <a:r>
                  <a:rPr lang="en-US" altLang="en-US" sz="2000" dirty="0" err="1"/>
                  <a:t>tiệm</a:t>
                </a:r>
                <a:r>
                  <a:rPr lang="en-US" altLang="en-US" sz="2000" dirty="0"/>
                  <a:t> </a:t>
                </a:r>
                <a:r>
                  <a:rPr lang="en-US" altLang="en-US" sz="2000" dirty="0" err="1"/>
                  <a:t>cận</a:t>
                </a:r>
                <a:r>
                  <a:rPr lang="en-US" altLang="en-US" sz="2000" dirty="0"/>
                  <a:t> </a:t>
                </a:r>
                <a:r>
                  <a:rPr lang="en-US" altLang="en-US" sz="2000" dirty="0" err="1"/>
                  <a:t>trên</a:t>
                </a:r>
                <a:r>
                  <a:rPr lang="en-US" altLang="en-US" sz="2000" dirty="0"/>
                  <a:t> </a:t>
                </a:r>
                <a:r>
                  <a:rPr lang="en-US" altLang="en-US" sz="2000" dirty="0" err="1"/>
                  <a:t>của</a:t>
                </a:r>
                <a:r>
                  <a:rPr lang="en-US" altLang="en-US" sz="2000" dirty="0"/>
                  <a:t> T(n).</a:t>
                </a:r>
              </a:p>
              <a:p>
                <a:pPr lvl="1">
                  <a:lnSpc>
                    <a:spcPct val="90000"/>
                  </a:lnSpc>
                </a:pPr>
                <a:r>
                  <a:rPr lang="en-US" altLang="en-US" sz="2000" dirty="0" err="1"/>
                  <a:t>Hằng</a:t>
                </a:r>
                <a:r>
                  <a:rPr lang="en-US" altLang="en-US" sz="2000" dirty="0"/>
                  <a:t> </a:t>
                </a:r>
                <a:r>
                  <a:rPr lang="en-US" altLang="en-US" sz="2000" dirty="0" err="1"/>
                  <a:t>số</a:t>
                </a:r>
                <a:r>
                  <a:rPr lang="en-US" altLang="en-US" sz="2000" dirty="0"/>
                  <a:t> </a:t>
                </a:r>
                <a:r>
                  <a:rPr lang="en-US" altLang="en-US" sz="2000" i="1" dirty="0"/>
                  <a:t>C</a:t>
                </a:r>
                <a:r>
                  <a:rPr lang="en-US" altLang="en-US" sz="2000" dirty="0"/>
                  <a:t> </a:t>
                </a:r>
                <a:r>
                  <a:rPr lang="en-US" altLang="en-US" sz="2000" dirty="0" err="1"/>
                  <a:t>phụ</a:t>
                </a:r>
                <a:r>
                  <a:rPr lang="en-US" altLang="en-US" sz="2000" dirty="0"/>
                  <a:t> </a:t>
                </a:r>
                <a:r>
                  <a:rPr lang="en-US" altLang="en-US" sz="2000" dirty="0" err="1"/>
                  <a:t>thuộc</a:t>
                </a:r>
                <a:r>
                  <a:rPr lang="en-US" altLang="en-US" sz="2000" dirty="0"/>
                  <a:t> </a:t>
                </a:r>
                <a:r>
                  <a:rPr lang="en-US" altLang="en-US" sz="2000" dirty="0" err="1"/>
                  <a:t>vào</a:t>
                </a:r>
                <a:r>
                  <a:rPr lang="en-US" altLang="en-US" sz="2000" dirty="0"/>
                  <a:t> </a:t>
                </a:r>
                <a:br>
                  <a:rPr lang="en-US" altLang="en-US" sz="2000" dirty="0"/>
                </a:br>
                <a:r>
                  <a:rPr lang="en-US" altLang="en-US" sz="2000" dirty="0" err="1"/>
                  <a:t>ngôn</a:t>
                </a:r>
                <a:r>
                  <a:rPr lang="en-US" altLang="en-US" sz="2000" dirty="0"/>
                  <a:t> </a:t>
                </a:r>
                <a:r>
                  <a:rPr lang="en-US" altLang="en-US" sz="2000" dirty="0" err="1"/>
                  <a:t>ngữ</a:t>
                </a:r>
                <a:r>
                  <a:rPr lang="en-US" altLang="en-US" sz="2000" dirty="0"/>
                  <a:t>, CPU, </a:t>
                </a:r>
                <a:r>
                  <a:rPr lang="en-US" altLang="en-US" sz="2000" dirty="0" err="1"/>
                  <a:t>bộ</a:t>
                </a:r>
                <a:r>
                  <a:rPr lang="en-US" altLang="en-US" sz="2000" dirty="0"/>
                  <a:t> </a:t>
                </a:r>
                <a:r>
                  <a:rPr lang="en-US" altLang="en-US" sz="2000" dirty="0" err="1"/>
                  <a:t>nhớ</a:t>
                </a:r>
                <a:r>
                  <a:rPr lang="en-US" altLang="en-US" sz="2000" dirty="0"/>
                  <a:t> v.v.</a:t>
                </a:r>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3"/>
              </p:nvPr>
            </p:nvSpPr>
            <p:spPr>
              <a:blipFill>
                <a:blip r:embed="rId3"/>
                <a:stretch>
                  <a:fillRect l="-985" t="-1663"/>
                </a:stretch>
              </a:blipFill>
            </p:spPr>
            <p:txBody>
              <a:bodyPr/>
              <a:lstStyle/>
              <a:p>
                <a:r>
                  <a:rPr lang="en-US">
                    <a:noFill/>
                  </a:rPr>
                  <a:t> </a:t>
                </a:r>
              </a:p>
            </p:txBody>
          </p:sp>
        </mc:Fallback>
      </mc:AlternateContent>
      <p:pic>
        <p:nvPicPr>
          <p:cNvPr id="7" name="Picture 6"/>
          <p:cNvPicPr>
            <a:picLocks noChangeAspect="1"/>
          </p:cNvPicPr>
          <p:nvPr/>
        </p:nvPicPr>
        <p:blipFill>
          <a:blip r:embed="rId4"/>
          <a:stretch>
            <a:fillRect/>
          </a:stretch>
        </p:blipFill>
        <p:spPr>
          <a:xfrm>
            <a:off x="4038600" y="2405286"/>
            <a:ext cx="4978385" cy="4414614"/>
          </a:xfrm>
          <a:prstGeom prst="rect">
            <a:avLst/>
          </a:prstGeom>
        </p:spPr>
      </p:pic>
    </p:spTree>
    <p:extLst>
      <p:ext uri="{BB962C8B-B14F-4D97-AF65-F5344CB8AC3E}">
        <p14:creationId xmlns:p14="http://schemas.microsoft.com/office/powerpoint/2010/main" val="3539812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dirty="0"/>
              <a:t>ET2100 </a:t>
            </a:r>
            <a:r>
              <a:rPr lang="en-US" i="1" dirty="0"/>
              <a:t>- </a:t>
            </a:r>
            <a:r>
              <a:rPr lang="en-US" b="1" i="1" dirty="0"/>
              <a:t>Data Structures and Algorithms</a:t>
            </a:r>
            <a:endParaRPr lang="en-US" dirty="0"/>
          </a:p>
          <a:p>
            <a:pPr algn="r"/>
            <a:r>
              <a:rPr lang="en-US" dirty="0"/>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24</a:t>
            </a:fld>
            <a:endParaRPr lang="en-US"/>
          </a:p>
        </p:txBody>
      </p:sp>
      <p:sp>
        <p:nvSpPr>
          <p:cNvPr id="2" name="Title 1"/>
          <p:cNvSpPr>
            <a:spLocks noGrp="1"/>
          </p:cNvSpPr>
          <p:nvPr>
            <p:ph type="title"/>
          </p:nvPr>
        </p:nvSpPr>
        <p:spPr/>
        <p:txBody>
          <a:bodyPr/>
          <a:lstStyle/>
          <a:p>
            <a:r>
              <a:rPr lang="en-US" altLang="en-US" dirty="0" err="1"/>
              <a:t>Khái</a:t>
            </a:r>
            <a:r>
              <a:rPr lang="en-US" altLang="en-US" dirty="0"/>
              <a:t> </a:t>
            </a:r>
            <a:r>
              <a:rPr lang="en-US" altLang="en-US" dirty="0" err="1"/>
              <a:t>niệm</a:t>
            </a:r>
            <a:r>
              <a:rPr lang="en-US" altLang="en-US" dirty="0"/>
              <a:t> O (ô </a:t>
            </a:r>
            <a:r>
              <a:rPr lang="en-US" altLang="en-US" dirty="0" err="1"/>
              <a:t>lớn</a:t>
            </a:r>
            <a:r>
              <a:rPr lang="en-US" altLang="en-US" dirty="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3"/>
              </p:nvPr>
            </p:nvSpPr>
            <p:spPr/>
            <p:txBody>
              <a:bodyPr>
                <a:normAutofit/>
              </a:bodyPr>
              <a:lstStyle/>
              <a:p>
                <a:pPr marL="101600" lvl="1" indent="0">
                  <a:spcBef>
                    <a:spcPts val="600"/>
                  </a:spcBef>
                  <a:buClr>
                    <a:schemeClr val="accent1"/>
                  </a:buClr>
                  <a:buNone/>
                </a:pPr>
                <a:r>
                  <a:rPr lang="en-US" altLang="en-US" sz="2400" dirty="0"/>
                  <a:t>f(n) </a:t>
                </a:r>
                <a:r>
                  <a:rPr lang="en-US" altLang="en-US" sz="2400" dirty="0" err="1"/>
                  <a:t>thường</a:t>
                </a:r>
                <a:r>
                  <a:rPr lang="en-US" altLang="en-US" sz="2400" dirty="0"/>
                  <a:t> </a:t>
                </a:r>
                <a:r>
                  <a:rPr lang="en-US" altLang="en-US" sz="2400" dirty="0" err="1"/>
                  <a:t>đưa</a:t>
                </a:r>
                <a:r>
                  <a:rPr lang="en-US" altLang="en-US" sz="2400" dirty="0"/>
                  <a:t> </a:t>
                </a:r>
                <a:r>
                  <a:rPr lang="en-US" altLang="en-US" sz="2400" dirty="0" err="1"/>
                  <a:t>về</a:t>
                </a:r>
                <a:r>
                  <a:rPr lang="en-US" altLang="en-US" sz="2400" dirty="0"/>
                  <a:t> </a:t>
                </a:r>
                <a:r>
                  <a:rPr lang="en-US" altLang="en-US" sz="2400" dirty="0" err="1"/>
                  <a:t>các</a:t>
                </a:r>
                <a:r>
                  <a:rPr lang="en-US" altLang="en-US" sz="2400" dirty="0"/>
                  <a:t> </a:t>
                </a:r>
                <a:r>
                  <a:rPr lang="en-US" altLang="en-US" sz="2400" dirty="0" err="1"/>
                  <a:t>dạng</a:t>
                </a:r>
                <a:r>
                  <a:rPr lang="en-US" altLang="en-US" sz="2400" dirty="0"/>
                  <a:t> </a:t>
                </a:r>
                <a:r>
                  <a:rPr lang="en-US" altLang="en-US" sz="2400" dirty="0" err="1"/>
                  <a:t>sau</a:t>
                </a:r>
                <a:r>
                  <a:rPr lang="en-US" altLang="en-US" sz="2400" dirty="0"/>
                  <a:t>:</a:t>
                </a:r>
                <a:br>
                  <a:rPr lang="en-US" altLang="en-US" sz="2400" dirty="0"/>
                </a:br>
                <a:r>
                  <a:rPr lang="en-US" altLang="en-US" sz="2400" dirty="0"/>
                  <a:t>            1, log</a:t>
                </a:r>
                <a:r>
                  <a:rPr lang="en-US" altLang="en-US" sz="2400" baseline="-25000" dirty="0"/>
                  <a:t>2</a:t>
                </a:r>
                <a:r>
                  <a:rPr lang="en-US" altLang="en-US" sz="2400" dirty="0"/>
                  <a:t>(n), n, n.log</a:t>
                </a:r>
                <a:r>
                  <a:rPr lang="en-US" altLang="en-US" sz="2400" baseline="-25000" dirty="0"/>
                  <a:t>2</a:t>
                </a:r>
                <a:r>
                  <a:rPr lang="en-US" altLang="en-US" sz="2400" dirty="0"/>
                  <a:t>(n), n</a:t>
                </a:r>
                <a:r>
                  <a:rPr lang="en-US" altLang="en-US" sz="2400" baseline="30000" dirty="0"/>
                  <a:t>2</a:t>
                </a:r>
                <a:r>
                  <a:rPr lang="en-US" altLang="en-US" sz="2400" dirty="0"/>
                  <a:t>, n</a:t>
                </a:r>
                <a:r>
                  <a:rPr lang="en-US" altLang="en-US" sz="2400" baseline="30000" dirty="0"/>
                  <a:t>3</a:t>
                </a:r>
                <a:r>
                  <a:rPr lang="en-US" altLang="en-US" sz="2400" dirty="0"/>
                  <a:t>, </a:t>
                </a:r>
                <a:r>
                  <a:rPr lang="en-US" altLang="en-US" sz="2400" dirty="0" err="1"/>
                  <a:t>n</a:t>
                </a:r>
                <a:r>
                  <a:rPr lang="en-US" altLang="en-US" sz="2400" baseline="30000" dirty="0" err="1"/>
                  <a:t>k</a:t>
                </a:r>
                <a:r>
                  <a:rPr lang="en-US" altLang="en-US" sz="2400" dirty="0"/>
                  <a:t>, 2</a:t>
                </a:r>
                <a:r>
                  <a:rPr lang="en-US" altLang="en-US" sz="2400" baseline="30000" dirty="0"/>
                  <a:t>n</a:t>
                </a:r>
                <a:r>
                  <a:rPr lang="en-US" altLang="en-US" sz="2400" dirty="0"/>
                  <a:t>, k</a:t>
                </a:r>
                <a:r>
                  <a:rPr lang="en-US" altLang="en-US" sz="2400" baseline="30000" dirty="0"/>
                  <a:t>n</a:t>
                </a:r>
                <a:r>
                  <a:rPr lang="en-US" altLang="en-US" sz="2400" dirty="0"/>
                  <a:t>.</a:t>
                </a:r>
              </a:p>
              <a:p>
                <a:pPr marL="101600" lvl="1" indent="0">
                  <a:spcBef>
                    <a:spcPts val="600"/>
                  </a:spcBef>
                  <a:buClr>
                    <a:schemeClr val="accent1"/>
                  </a:buClr>
                  <a:buNone/>
                </a:pPr>
                <a:endParaRPr lang="en-US" altLang="en-US" sz="2400" dirty="0"/>
              </a:p>
              <a:p>
                <a:pPr lvl="1"/>
                <a:r>
                  <a:rPr lang="en-US" sz="2400" dirty="0" err="1"/>
                  <a:t>Hằng</a:t>
                </a:r>
                <a:r>
                  <a:rPr lang="en-US" sz="2400" dirty="0"/>
                  <a:t> </a:t>
                </a:r>
                <a:r>
                  <a:rPr lang="en-US" sz="2400" dirty="0" err="1"/>
                  <a:t>số</a:t>
                </a:r>
                <a:r>
                  <a:rPr lang="en-US" sz="2400" dirty="0"/>
                  <a:t>: O(</a:t>
                </a:r>
                <a14:m>
                  <m:oMath xmlns:m="http://schemas.openxmlformats.org/officeDocument/2006/math">
                    <m:r>
                      <a:rPr lang="en-US" sz="2400" i="1" dirty="0">
                        <a:latin typeface="Cambria Math" panose="02040503050406030204" pitchFamily="18" charset="0"/>
                      </a:rPr>
                      <m:t>1</m:t>
                    </m:r>
                  </m:oMath>
                </a14:m>
                <a:r>
                  <a:rPr lang="en-US" sz="2400" dirty="0"/>
                  <a:t>)</a:t>
                </a:r>
              </a:p>
              <a:p>
                <a:pPr lvl="1"/>
                <a:r>
                  <a:rPr lang="en-US" sz="2400" dirty="0" err="1"/>
                  <a:t>Tuyến</a:t>
                </a:r>
                <a:r>
                  <a:rPr lang="en-US" sz="2400" dirty="0"/>
                  <a:t> </a:t>
                </a:r>
                <a:r>
                  <a:rPr lang="en-US" sz="2400" dirty="0" err="1"/>
                  <a:t>tính</a:t>
                </a:r>
                <a:r>
                  <a:rPr lang="en-US" sz="2400" dirty="0"/>
                  <a:t>: O(</a:t>
                </a:r>
                <a14:m>
                  <m:oMath xmlns:m="http://schemas.openxmlformats.org/officeDocument/2006/math">
                    <m:r>
                      <a:rPr lang="en-US" sz="2400" i="1" dirty="0">
                        <a:latin typeface="Cambria Math" panose="02040503050406030204" pitchFamily="18" charset="0"/>
                      </a:rPr>
                      <m:t>𝑛</m:t>
                    </m:r>
                  </m:oMath>
                </a14:m>
                <a:r>
                  <a:rPr lang="en-US" sz="2400" dirty="0"/>
                  <a:t>)</a:t>
                </a:r>
              </a:p>
              <a:p>
                <a:pPr lvl="1"/>
                <a:r>
                  <a:rPr lang="en-US" sz="2400" dirty="0" err="1"/>
                  <a:t>Bậc</a:t>
                </a:r>
                <a:r>
                  <a:rPr lang="en-US" sz="2400" dirty="0"/>
                  <a:t> </a:t>
                </a:r>
                <a:r>
                  <a:rPr lang="en-US" sz="2400" dirty="0" err="1"/>
                  <a:t>hai</a:t>
                </a:r>
                <a:r>
                  <a:rPr lang="en-US" sz="2400" dirty="0"/>
                  <a:t>: O(</a:t>
                </a:r>
                <a14:m>
                  <m:oMath xmlns:m="http://schemas.openxmlformats.org/officeDocument/2006/math">
                    <m:r>
                      <a:rPr lang="en-US" sz="2400" i="1" dirty="0">
                        <a:latin typeface="Cambria Math" panose="02040503050406030204" pitchFamily="18" charset="0"/>
                      </a:rPr>
                      <m:t>𝑛</m:t>
                    </m:r>
                    <m:r>
                      <a:rPr lang="en-US" sz="2400" i="1" baseline="30000" dirty="0">
                        <a:latin typeface="Cambria Math" panose="02040503050406030204" pitchFamily="18" charset="0"/>
                      </a:rPr>
                      <m:t>2</m:t>
                    </m:r>
                  </m:oMath>
                </a14:m>
                <a:r>
                  <a:rPr lang="en-US" sz="2400" dirty="0"/>
                  <a:t>)</a:t>
                </a:r>
              </a:p>
              <a:p>
                <a:pPr lvl="1"/>
                <a:r>
                  <a:rPr lang="en-US" sz="2400" dirty="0" err="1"/>
                  <a:t>Đa</a:t>
                </a:r>
                <a:r>
                  <a:rPr lang="en-US" sz="2400" dirty="0"/>
                  <a:t> </a:t>
                </a:r>
                <a:r>
                  <a:rPr lang="en-US" sz="2400" dirty="0" err="1"/>
                  <a:t>thức</a:t>
                </a:r>
                <a:r>
                  <a:rPr lang="en-US" sz="2400" dirty="0"/>
                  <a:t>: O(</a:t>
                </a:r>
                <a14:m>
                  <m:oMath xmlns:m="http://schemas.openxmlformats.org/officeDocument/2006/math">
                    <m:r>
                      <a:rPr lang="en-US" sz="2400" i="1" dirty="0">
                        <a:latin typeface="Cambria Math" panose="02040503050406030204" pitchFamily="18" charset="0"/>
                      </a:rPr>
                      <m:t>𝑛</m:t>
                    </m:r>
                    <m:r>
                      <a:rPr lang="en-US" sz="2400" i="1" baseline="30000" dirty="0">
                        <a:latin typeface="Cambria Math" panose="02040503050406030204" pitchFamily="18" charset="0"/>
                      </a:rPr>
                      <m:t>𝑘</m:t>
                    </m:r>
                  </m:oMath>
                </a14:m>
                <a:r>
                  <a:rPr lang="en-US" sz="2400" dirty="0"/>
                  <a:t>), </a:t>
                </a:r>
                <a14:m>
                  <m:oMath xmlns:m="http://schemas.openxmlformats.org/officeDocument/2006/math">
                    <m:r>
                      <a:rPr lang="en-US" sz="2400" i="1" dirty="0">
                        <a:latin typeface="Cambria Math" panose="02040503050406030204" pitchFamily="18" charset="0"/>
                      </a:rPr>
                      <m:t>𝑘</m:t>
                    </m:r>
                    <m:r>
                      <a:rPr lang="en-US" sz="2400" i="1" dirty="0">
                        <a:latin typeface="Cambria Math" panose="02040503050406030204" pitchFamily="18" charset="0"/>
                      </a:rPr>
                      <m:t>≥1</m:t>
                    </m:r>
                  </m:oMath>
                </a14:m>
                <a:endParaRPr lang="en-US" sz="2400" dirty="0"/>
              </a:p>
              <a:p>
                <a:pPr lvl="1"/>
                <a:r>
                  <a:rPr lang="en-US" sz="2400" dirty="0" err="1"/>
                  <a:t>Hàm</a:t>
                </a:r>
                <a:r>
                  <a:rPr lang="en-US" sz="2400" dirty="0"/>
                  <a:t> </a:t>
                </a:r>
                <a:r>
                  <a:rPr lang="en-US" sz="2400" dirty="0" err="1"/>
                  <a:t>mũ</a:t>
                </a:r>
                <a:r>
                  <a:rPr lang="en-US" sz="2400" dirty="0"/>
                  <a:t>: O(</a:t>
                </a:r>
                <a14:m>
                  <m:oMath xmlns:m="http://schemas.openxmlformats.org/officeDocument/2006/math">
                    <m:r>
                      <a:rPr lang="en-US" sz="2400" i="1" dirty="0">
                        <a:latin typeface="Cambria Math" panose="02040503050406030204" pitchFamily="18" charset="0"/>
                      </a:rPr>
                      <m:t>𝑎</m:t>
                    </m:r>
                    <m:r>
                      <a:rPr lang="en-US" sz="2400" i="1" baseline="30000" dirty="0">
                        <a:latin typeface="Cambria Math" panose="02040503050406030204" pitchFamily="18" charset="0"/>
                      </a:rPr>
                      <m:t>𝑛</m:t>
                    </m:r>
                  </m:oMath>
                </a14:m>
                <a:r>
                  <a:rPr lang="en-US" sz="2400" dirty="0"/>
                  <a:t>), </a:t>
                </a:r>
                <a14:m>
                  <m:oMath xmlns:m="http://schemas.openxmlformats.org/officeDocument/2006/math">
                    <m:r>
                      <a:rPr lang="en-US" sz="2400" i="1" dirty="0">
                        <a:latin typeface="Cambria Math" panose="02040503050406030204" pitchFamily="18" charset="0"/>
                      </a:rPr>
                      <m:t>𝑛</m:t>
                    </m:r>
                    <m:r>
                      <a:rPr lang="en-US" sz="2400" i="1" dirty="0">
                        <a:latin typeface="Cambria Math" panose="02040503050406030204" pitchFamily="18" charset="0"/>
                      </a:rPr>
                      <m:t>&gt;1</m:t>
                    </m:r>
                  </m:oMath>
                </a14:m>
                <a:endParaRPr lang="en-US" sz="2400" dirty="0"/>
              </a:p>
              <a:p>
                <a:pPr lvl="1"/>
                <a:r>
                  <a:rPr lang="en-US" sz="2400" dirty="0" err="1"/>
                  <a:t>Logarith</a:t>
                </a:r>
                <a:r>
                  <a:rPr lang="en-US" sz="2400" dirty="0"/>
                  <a:t>: O(</a:t>
                </a:r>
                <a14:m>
                  <m:oMath xmlns:m="http://schemas.openxmlformats.org/officeDocument/2006/math">
                    <m:r>
                      <m:rPr>
                        <m:sty m:val="p"/>
                      </m:rPr>
                      <a:rPr lang="en-US" sz="2400" dirty="0">
                        <a:latin typeface="Cambria Math" panose="02040503050406030204" pitchFamily="18" charset="0"/>
                      </a:rPr>
                      <m:t>log</m:t>
                    </m:r>
                    <m:r>
                      <a:rPr lang="en-US" sz="2400" i="1" dirty="0">
                        <a:latin typeface="Cambria Math" panose="02040503050406030204" pitchFamily="18" charset="0"/>
                      </a:rPr>
                      <m:t>𝑛</m:t>
                    </m:r>
                  </m:oMath>
                </a14:m>
                <a:r>
                  <a:rPr lang="en-US" sz="2400" dirty="0"/>
                  <a:t>)</a:t>
                </a:r>
              </a:p>
              <a:p>
                <a:pPr lvl="1"/>
                <a:r>
                  <a:rPr lang="en-US" sz="2400" dirty="0" err="1"/>
                  <a:t>Giai</a:t>
                </a:r>
                <a:r>
                  <a:rPr lang="en-US" sz="2400" dirty="0"/>
                  <a:t> </a:t>
                </a:r>
                <a:r>
                  <a:rPr lang="en-US" sz="2400" dirty="0" err="1"/>
                  <a:t>thừa</a:t>
                </a:r>
                <a:r>
                  <a:rPr lang="en-US" sz="2400" dirty="0"/>
                  <a:t>: O(</a:t>
                </a:r>
                <a14:m>
                  <m:oMath xmlns:m="http://schemas.openxmlformats.org/officeDocument/2006/math">
                    <m:r>
                      <a:rPr lang="en-US" sz="2400" i="1" dirty="0">
                        <a:latin typeface="Cambria Math" panose="02040503050406030204" pitchFamily="18" charset="0"/>
                      </a:rPr>
                      <m:t>𝑛</m:t>
                    </m:r>
                    <m:r>
                      <a:rPr lang="en-US" sz="2400" i="1" dirty="0">
                        <a:latin typeface="Cambria Math" panose="02040503050406030204" pitchFamily="18" charset="0"/>
                      </a:rPr>
                      <m:t>!</m:t>
                    </m:r>
                  </m:oMath>
                </a14:m>
                <a:r>
                  <a:rPr lang="en-US" sz="2400" dirty="0"/>
                  <a:t>)</a:t>
                </a:r>
              </a:p>
              <a:p>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3"/>
              </p:nvPr>
            </p:nvSpPr>
            <p:spPr>
              <a:blipFill>
                <a:blip r:embed="rId2"/>
                <a:stretch>
                  <a:fillRect t="-1663"/>
                </a:stretch>
              </a:blipFill>
            </p:spPr>
            <p:txBody>
              <a:bodyPr/>
              <a:lstStyle/>
              <a:p>
                <a:r>
                  <a:rPr lang="en-US">
                    <a:noFill/>
                  </a:rPr>
                  <a:t> </a:t>
                </a:r>
              </a:p>
            </p:txBody>
          </p:sp>
        </mc:Fallback>
      </mc:AlternateContent>
      <p:pic>
        <p:nvPicPr>
          <p:cNvPr id="6" name="Picture 2">
            <a:extLst>
              <a:ext uri="{FF2B5EF4-FFF2-40B4-BE49-F238E27FC236}">
                <a16:creationId xmlns:a16="http://schemas.microsoft.com/office/drawing/2014/main" id="{222A65E0-AFC6-4211-9317-3E99FF68A1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133600"/>
            <a:ext cx="3713532" cy="284289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Rectangle 6"/>
              <p:cNvSpPr/>
              <p:nvPr/>
            </p:nvSpPr>
            <p:spPr>
              <a:xfrm>
                <a:off x="1752600" y="5282542"/>
                <a:ext cx="5864225" cy="649409"/>
              </a:xfrm>
              <a:prstGeom prst="rect">
                <a:avLst/>
              </a:prstGeom>
            </p:spPr>
            <p:txBody>
              <a:bodyPr wrap="square">
                <a:spAutoFit/>
              </a:bodyPr>
              <a:lstStyle/>
              <a:p>
                <a:pPr marL="58738" lvl="1" algn="ctr"/>
                <a:r>
                  <a:rPr lang="en-US" dirty="0"/>
                  <a:t>O(1) &lt; O(</a:t>
                </a:r>
                <a14:m>
                  <m:oMath xmlns:m="http://schemas.openxmlformats.org/officeDocument/2006/math">
                    <m:r>
                      <m:rPr>
                        <m:sty m:val="p"/>
                      </m:rPr>
                      <a:rPr lang="en-US" dirty="0">
                        <a:latin typeface="Cambria Math" panose="02040503050406030204" pitchFamily="18" charset="0"/>
                      </a:rPr>
                      <m:t>log</m:t>
                    </m:r>
                    <m:r>
                      <a:rPr lang="en-US" i="1" dirty="0">
                        <a:latin typeface="Cambria Math" panose="02040503050406030204" pitchFamily="18" charset="0"/>
                      </a:rPr>
                      <m:t>𝑛</m:t>
                    </m:r>
                  </m:oMath>
                </a14:m>
                <a:r>
                  <a:rPr lang="en-US" dirty="0"/>
                  <a:t>) &lt; O(</a:t>
                </a:r>
                <a14:m>
                  <m:oMath xmlns:m="http://schemas.openxmlformats.org/officeDocument/2006/math">
                    <m:rad>
                      <m:radPr>
                        <m:degHide m:val="on"/>
                        <m:ctrlPr>
                          <a:rPr lang="en-US" i="1" dirty="0">
                            <a:latin typeface="Cambria Math" panose="02040503050406030204" pitchFamily="18" charset="0"/>
                          </a:rPr>
                        </m:ctrlPr>
                      </m:radPr>
                      <m:deg/>
                      <m:e>
                        <m:r>
                          <a:rPr lang="en-US" i="1" dirty="0">
                            <a:latin typeface="Cambria Math" panose="02040503050406030204" pitchFamily="18" charset="0"/>
                          </a:rPr>
                          <m:t>𝑛</m:t>
                        </m:r>
                      </m:e>
                    </m:rad>
                  </m:oMath>
                </a14:m>
                <a:r>
                  <a:rPr lang="en-US" dirty="0"/>
                  <a:t>) &lt; O(</a:t>
                </a:r>
                <a14:m>
                  <m:oMath xmlns:m="http://schemas.openxmlformats.org/officeDocument/2006/math">
                    <m:r>
                      <a:rPr lang="en-US" i="1" dirty="0">
                        <a:latin typeface="Cambria Math" panose="02040503050406030204" pitchFamily="18" charset="0"/>
                      </a:rPr>
                      <m:t>𝑛</m:t>
                    </m:r>
                  </m:oMath>
                </a14:m>
                <a:r>
                  <a:rPr lang="en-US" dirty="0"/>
                  <a:t>) &lt; O(n</a:t>
                </a:r>
                <a14:m>
                  <m:oMath xmlns:m="http://schemas.openxmlformats.org/officeDocument/2006/math">
                    <m:r>
                      <a:rPr lang="en-US" b="0" i="0" dirty="0" smtClean="0">
                        <a:latin typeface="Cambria Math" panose="02040503050406030204" pitchFamily="18" charset="0"/>
                      </a:rPr>
                      <m:t> </m:t>
                    </m:r>
                    <m:r>
                      <m:rPr>
                        <m:sty m:val="p"/>
                      </m:rPr>
                      <a:rPr lang="en-US" dirty="0">
                        <a:latin typeface="Cambria Math" panose="02040503050406030204" pitchFamily="18" charset="0"/>
                      </a:rPr>
                      <m:t>log</m:t>
                    </m:r>
                    <m:r>
                      <a:rPr lang="en-US" i="1" dirty="0">
                        <a:latin typeface="Cambria Math" panose="02040503050406030204" pitchFamily="18" charset="0"/>
                      </a:rPr>
                      <m:t>𝑛</m:t>
                    </m:r>
                  </m:oMath>
                </a14:m>
                <a:r>
                  <a:rPr lang="en-US" dirty="0"/>
                  <a:t>) &lt; O(</a:t>
                </a:r>
                <a14:m>
                  <m:oMath xmlns:m="http://schemas.openxmlformats.org/officeDocument/2006/math">
                    <m:r>
                      <a:rPr lang="en-US" i="1" dirty="0">
                        <a:latin typeface="Cambria Math" panose="02040503050406030204" pitchFamily="18" charset="0"/>
                      </a:rPr>
                      <m:t>𝑛</m:t>
                    </m:r>
                    <m:r>
                      <a:rPr lang="en-US" i="1" baseline="30000" dirty="0">
                        <a:latin typeface="Cambria Math" panose="02040503050406030204" pitchFamily="18" charset="0"/>
                      </a:rPr>
                      <m:t>2</m:t>
                    </m:r>
                  </m:oMath>
                </a14:m>
                <a:r>
                  <a:rPr lang="en-US" dirty="0"/>
                  <a:t>) </a:t>
                </a:r>
              </a:p>
              <a:p>
                <a:pPr marL="58738" lvl="1" algn="ctr"/>
                <a:r>
                  <a:rPr lang="en-US" dirty="0"/>
                  <a:t>&lt; O(</a:t>
                </a:r>
                <a14:m>
                  <m:oMath xmlns:m="http://schemas.openxmlformats.org/officeDocument/2006/math">
                    <m:r>
                      <a:rPr lang="en-US" i="1" dirty="0">
                        <a:latin typeface="Cambria Math" panose="02040503050406030204" pitchFamily="18" charset="0"/>
                      </a:rPr>
                      <m:t>𝑛</m:t>
                    </m:r>
                    <m:r>
                      <a:rPr lang="en-US" i="1" baseline="30000" dirty="0">
                        <a:latin typeface="Cambria Math" panose="02040503050406030204" pitchFamily="18" charset="0"/>
                      </a:rPr>
                      <m:t>3</m:t>
                    </m:r>
                  </m:oMath>
                </a14:m>
                <a:r>
                  <a:rPr lang="en-US" dirty="0"/>
                  <a:t>) &lt; O(</a:t>
                </a:r>
                <a14:m>
                  <m:oMath xmlns:m="http://schemas.openxmlformats.org/officeDocument/2006/math">
                    <m:r>
                      <a:rPr lang="en-US" i="1" dirty="0">
                        <a:latin typeface="Cambria Math" panose="02040503050406030204" pitchFamily="18" charset="0"/>
                      </a:rPr>
                      <m:t>2</m:t>
                    </m:r>
                    <m:r>
                      <a:rPr lang="en-US" i="1" baseline="30000" dirty="0">
                        <a:latin typeface="Cambria Math" panose="02040503050406030204" pitchFamily="18" charset="0"/>
                      </a:rPr>
                      <m:t>𝑛</m:t>
                    </m:r>
                  </m:oMath>
                </a14:m>
                <a:r>
                  <a:rPr lang="en-US" dirty="0"/>
                  <a:t>) &lt; O(</a:t>
                </a:r>
                <a14:m>
                  <m:oMath xmlns:m="http://schemas.openxmlformats.org/officeDocument/2006/math">
                    <m:r>
                      <a:rPr lang="en-US" i="1" dirty="0">
                        <a:latin typeface="Cambria Math" panose="02040503050406030204" pitchFamily="18" charset="0"/>
                      </a:rPr>
                      <m:t>3</m:t>
                    </m:r>
                    <m:r>
                      <a:rPr lang="en-US" i="1" baseline="30000" dirty="0">
                        <a:latin typeface="Cambria Math" panose="02040503050406030204" pitchFamily="18" charset="0"/>
                      </a:rPr>
                      <m:t>𝑛</m:t>
                    </m:r>
                  </m:oMath>
                </a14:m>
                <a:r>
                  <a:rPr lang="en-US" dirty="0"/>
                  <a:t>) &lt; O(</a:t>
                </a:r>
                <a14:m>
                  <m:oMath xmlns:m="http://schemas.openxmlformats.org/officeDocument/2006/math">
                    <m:r>
                      <a:rPr lang="en-US" i="1" dirty="0">
                        <a:latin typeface="Cambria Math" panose="02040503050406030204" pitchFamily="18" charset="0"/>
                      </a:rPr>
                      <m:t>𝑛</m:t>
                    </m:r>
                    <m:r>
                      <a:rPr lang="en-US" i="1" dirty="0">
                        <a:latin typeface="Cambria Math" panose="02040503050406030204" pitchFamily="18" charset="0"/>
                      </a:rPr>
                      <m:t>!</m:t>
                    </m:r>
                  </m:oMath>
                </a14:m>
                <a:r>
                  <a:rPr lang="en-US" dirty="0"/>
                  <a:t>) &lt; O(</a:t>
                </a:r>
                <a14:m>
                  <m:oMath xmlns:m="http://schemas.openxmlformats.org/officeDocument/2006/math">
                    <m:r>
                      <a:rPr lang="en-US" i="1" dirty="0">
                        <a:latin typeface="Cambria Math" panose="02040503050406030204" pitchFamily="18" charset="0"/>
                      </a:rPr>
                      <m:t>𝑛</m:t>
                    </m:r>
                    <m:r>
                      <a:rPr lang="en-US" i="1" baseline="30000" dirty="0" err="1">
                        <a:latin typeface="Cambria Math" panose="02040503050406030204" pitchFamily="18" charset="0"/>
                      </a:rPr>
                      <m:t>𝑛</m:t>
                    </m:r>
                  </m:oMath>
                </a14:m>
                <a:r>
                  <a:rPr lang="en-US" dirty="0"/>
                  <a:t>)</a:t>
                </a:r>
              </a:p>
            </p:txBody>
          </p:sp>
        </mc:Choice>
        <mc:Fallback xmlns="">
          <p:sp>
            <p:nvSpPr>
              <p:cNvPr id="7" name="Rectangle 6"/>
              <p:cNvSpPr>
                <a:spLocks noRot="1" noChangeAspect="1" noMove="1" noResize="1" noEditPoints="1" noAdjustHandles="1" noChangeArrowheads="1" noChangeShapeType="1" noTextEdit="1"/>
              </p:cNvSpPr>
              <p:nvPr/>
            </p:nvSpPr>
            <p:spPr>
              <a:xfrm>
                <a:off x="1752600" y="5282542"/>
                <a:ext cx="5864225" cy="649409"/>
              </a:xfrm>
              <a:prstGeom prst="rect">
                <a:avLst/>
              </a:prstGeom>
              <a:blipFill>
                <a:blip r:embed="rId4"/>
                <a:stretch>
                  <a:fillRect t="-4717" b="-15094"/>
                </a:stretch>
              </a:blipFill>
            </p:spPr>
            <p:txBody>
              <a:bodyPr/>
              <a:lstStyle/>
              <a:p>
                <a:r>
                  <a:rPr lang="en-US">
                    <a:noFill/>
                  </a:rPr>
                  <a:t> </a:t>
                </a:r>
              </a:p>
            </p:txBody>
          </p:sp>
        </mc:Fallback>
      </mc:AlternateContent>
    </p:spTree>
    <p:extLst>
      <p:ext uri="{BB962C8B-B14F-4D97-AF65-F5344CB8AC3E}">
        <p14:creationId xmlns:p14="http://schemas.microsoft.com/office/powerpoint/2010/main" val="3722236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25</a:t>
            </a:fld>
            <a:endParaRPr lang="en-US"/>
          </a:p>
        </p:txBody>
      </p:sp>
      <p:sp>
        <p:nvSpPr>
          <p:cNvPr id="6" name="Title 5"/>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3"/>
              </p:nvPr>
            </p:nvSpPr>
            <p:spPr/>
            <p:txBody>
              <a:bodyPr>
                <a:normAutofit/>
              </a:bodyPr>
              <a:lstStyle/>
              <a:p>
                <a:pPr eaLnBrk="1" hangingPunct="1"/>
                <a:r>
                  <a:rPr lang="en-US" altLang="en-US" sz="2400" dirty="0" err="1"/>
                  <a:t>Ví</a:t>
                </a:r>
                <a:r>
                  <a:rPr lang="en-US" altLang="en-US" sz="2400" dirty="0"/>
                  <a:t> </a:t>
                </a:r>
                <a:r>
                  <a:rPr lang="en-US" altLang="en-US" sz="2400" dirty="0" err="1"/>
                  <a:t>dụ</a:t>
                </a:r>
                <a:r>
                  <a:rPr lang="en-US" altLang="en-US" sz="2400" dirty="0"/>
                  <a:t>: </a:t>
                </a:r>
                <a:r>
                  <a:rPr lang="en-US" altLang="en-US" sz="2400" dirty="0" err="1"/>
                  <a:t>cho</a:t>
                </a:r>
                <a:r>
                  <a:rPr lang="en-US" altLang="en-US" sz="2400" dirty="0"/>
                  <a:t> </a:t>
                </a:r>
                <a:r>
                  <a:rPr lang="en-US" altLang="en-US" sz="2400" b="1" dirty="0"/>
                  <a:t>T(n) = 3n </a:t>
                </a:r>
              </a:p>
              <a:p>
                <a:pPr lvl="1"/>
                <a:r>
                  <a:rPr lang="en-US" altLang="en-US" sz="2000" dirty="0" err="1"/>
                  <a:t>Tìm</a:t>
                </a:r>
                <a:r>
                  <a:rPr lang="en-US" altLang="en-US" sz="2000" dirty="0"/>
                  <a:t> </a:t>
                </a:r>
                <a:r>
                  <a:rPr lang="en-US" altLang="en-US" sz="2000" dirty="0" err="1"/>
                  <a:t>được</a:t>
                </a:r>
                <a:r>
                  <a:rPr lang="en-US" altLang="en-US" sz="2000" dirty="0"/>
                  <a:t> 1 </a:t>
                </a:r>
                <a:r>
                  <a:rPr lang="en-US" altLang="en-US" sz="2000" dirty="0" err="1"/>
                  <a:t>vài</a:t>
                </a:r>
                <a:r>
                  <a:rPr lang="en-US" altLang="en-US" sz="2000" dirty="0"/>
                  <a:t> </a:t>
                </a:r>
                <a:r>
                  <a:rPr lang="en-US" altLang="en-US" sz="2000" dirty="0" err="1"/>
                  <a:t>hàm</a:t>
                </a:r>
                <a:r>
                  <a:rPr lang="en-US" altLang="en-US" sz="2000" dirty="0"/>
                  <a:t> f(n)</a:t>
                </a:r>
              </a:p>
              <a:p>
                <a:pPr lvl="1" eaLnBrk="1" hangingPunct="1"/>
                <a:r>
                  <a:rPr lang="en-US" altLang="en-US" sz="2000" dirty="0"/>
                  <a:t>f(n) = n: </a:t>
                </a:r>
                <a:r>
                  <a:rPr lang="en-US" altLang="en-US" sz="2000" b="1" dirty="0"/>
                  <a:t>T(n) = O (n)</a:t>
                </a:r>
                <a:r>
                  <a:rPr lang="en-US" altLang="en-US" sz="2000" dirty="0"/>
                  <a:t> </a:t>
                </a:r>
                <a:br>
                  <a:rPr lang="en-US" altLang="en-US" sz="2000" dirty="0"/>
                </a:br>
                <a:r>
                  <a:rPr lang="en-US" altLang="en-US" sz="2000" dirty="0"/>
                  <a:t>              </a:t>
                </a:r>
                <a:r>
                  <a:rPr lang="en-US" altLang="en-US" sz="2000" dirty="0" err="1"/>
                  <a:t>vì</a:t>
                </a:r>
                <a:r>
                  <a:rPr lang="en-US" altLang="en-US" sz="2000" dirty="0"/>
                  <a:t> </a:t>
                </a:r>
                <a:r>
                  <a:rPr lang="en-US" altLang="en-US" sz="2000" dirty="0" err="1"/>
                  <a:t>với</a:t>
                </a:r>
                <a:r>
                  <a:rPr lang="en-US" altLang="en-US" sz="2000" dirty="0"/>
                  <a:t> C=3 </a:t>
                </a:r>
                <a:r>
                  <a:rPr lang="en-US" altLang="en-US" sz="2000" dirty="0" err="1"/>
                  <a:t>và</a:t>
                </a:r>
                <a:r>
                  <a:rPr lang="en-US" altLang="en-US" sz="2000" dirty="0"/>
                  <a:t> n</a:t>
                </a:r>
                <a:r>
                  <a:rPr lang="en-US" altLang="en-US" sz="2000" baseline="-25000" dirty="0"/>
                  <a:t>0</a:t>
                </a:r>
                <a:r>
                  <a:rPr lang="en-US" altLang="en-US" sz="2000" dirty="0"/>
                  <a:t>=0, ta </a:t>
                </a:r>
                <a:r>
                  <a:rPr lang="en-US" altLang="en-US" sz="2000" dirty="0" err="1"/>
                  <a:t>có</a:t>
                </a:r>
                <a:r>
                  <a:rPr lang="en-US" altLang="en-US" sz="2000" dirty="0"/>
                  <a:t> </a:t>
                </a:r>
                <a14:m>
                  <m:oMath xmlns:m="http://schemas.openxmlformats.org/officeDocument/2006/math">
                    <m:r>
                      <a:rPr lang="en-US" altLang="en-US" sz="2000" i="1">
                        <a:latin typeface="Cambria Math" panose="02040503050406030204" pitchFamily="18" charset="0"/>
                        <a:ea typeface="Cambria Math" panose="02040503050406030204" pitchFamily="18" charset="0"/>
                      </a:rPr>
                      <m:t>∀</m:t>
                    </m:r>
                  </m:oMath>
                </a14:m>
                <a:r>
                  <a:rPr lang="en-US" altLang="en-US" sz="2000" dirty="0"/>
                  <a:t> n </a:t>
                </a:r>
                <a:r>
                  <a:rPr lang="en-US" altLang="en-US" sz="2000" dirty="0">
                    <a:sym typeface="Symbol" panose="05050102010706020507" pitchFamily="18" charset="2"/>
                  </a:rPr>
                  <a:t></a:t>
                </a:r>
                <a:r>
                  <a:rPr lang="en-US" altLang="en-US" sz="2000" dirty="0"/>
                  <a:t> 0 </a:t>
                </a:r>
                <a:r>
                  <a:rPr lang="en-US" altLang="en-US" sz="2000" dirty="0">
                    <a:sym typeface="Wingdings" panose="05000000000000000000" pitchFamily="2" charset="2"/>
                  </a:rPr>
                  <a:t></a:t>
                </a:r>
                <a:r>
                  <a:rPr lang="en-US" altLang="en-US" sz="2000" dirty="0"/>
                  <a:t> 3n </a:t>
                </a:r>
                <a:r>
                  <a:rPr lang="en-US" altLang="en-US" sz="2000" dirty="0">
                    <a:sym typeface="Symbol" panose="05050102010706020507" pitchFamily="18" charset="2"/>
                  </a:rPr>
                  <a:t></a:t>
                </a:r>
                <a:r>
                  <a:rPr lang="en-US" altLang="en-US" sz="2000" dirty="0"/>
                  <a:t> 3.n </a:t>
                </a:r>
              </a:p>
              <a:p>
                <a:pPr lvl="1" eaLnBrk="1" hangingPunct="1"/>
                <a:r>
                  <a:rPr lang="en-US" altLang="en-US" sz="2000" dirty="0"/>
                  <a:t>f(n) = n</a:t>
                </a:r>
                <a:r>
                  <a:rPr lang="en-US" altLang="en-US" sz="2000" baseline="30000" dirty="0"/>
                  <a:t>2:</a:t>
                </a:r>
                <a:r>
                  <a:rPr lang="en-US" altLang="en-US" sz="2000" dirty="0"/>
                  <a:t> </a:t>
                </a:r>
                <a:r>
                  <a:rPr lang="en-US" altLang="en-US" sz="2000" b="1" dirty="0"/>
                  <a:t>T(n) = O (n</a:t>
                </a:r>
                <a:r>
                  <a:rPr lang="en-US" altLang="en-US" sz="2000" b="1" baseline="30000" dirty="0"/>
                  <a:t>2</a:t>
                </a:r>
                <a:r>
                  <a:rPr lang="en-US" altLang="en-US" sz="2000" b="1" dirty="0"/>
                  <a:t>)</a:t>
                </a:r>
                <a:r>
                  <a:rPr lang="en-US" altLang="en-US" sz="2000" dirty="0"/>
                  <a:t> </a:t>
                </a:r>
                <a:br>
                  <a:rPr lang="en-US" altLang="en-US" sz="2000" dirty="0"/>
                </a:br>
                <a:r>
                  <a:rPr lang="en-US" altLang="en-US" sz="2000" dirty="0"/>
                  <a:t>              </a:t>
                </a:r>
                <a:r>
                  <a:rPr lang="en-US" altLang="en-US" sz="2000" dirty="0" err="1"/>
                  <a:t>vì</a:t>
                </a:r>
                <a:r>
                  <a:rPr lang="en-US" altLang="en-US" sz="2000" dirty="0"/>
                  <a:t> </a:t>
                </a:r>
                <a:r>
                  <a:rPr lang="en-US" altLang="en-US" sz="2000" dirty="0" err="1"/>
                  <a:t>với</a:t>
                </a:r>
                <a:r>
                  <a:rPr lang="en-US" altLang="en-US" sz="2000" dirty="0"/>
                  <a:t> C=1 </a:t>
                </a:r>
                <a:r>
                  <a:rPr lang="en-US" altLang="en-US" sz="2000" dirty="0" err="1"/>
                  <a:t>và</a:t>
                </a:r>
                <a:r>
                  <a:rPr lang="en-US" altLang="en-US" sz="2000" dirty="0"/>
                  <a:t> n</a:t>
                </a:r>
                <a:r>
                  <a:rPr lang="en-US" altLang="en-US" sz="2000" baseline="-25000" dirty="0"/>
                  <a:t>0</a:t>
                </a:r>
                <a:r>
                  <a:rPr lang="en-US" altLang="en-US" sz="2000" dirty="0"/>
                  <a:t>=3, ta </a:t>
                </a:r>
                <a:r>
                  <a:rPr lang="en-US" altLang="en-US" sz="2000" dirty="0" err="1"/>
                  <a:t>có</a:t>
                </a:r>
                <a:r>
                  <a:rPr lang="en-US" altLang="en-US" sz="2000" dirty="0"/>
                  <a:t> </a:t>
                </a:r>
                <a14:m>
                  <m:oMath xmlns:m="http://schemas.openxmlformats.org/officeDocument/2006/math">
                    <m:r>
                      <a:rPr lang="en-US" altLang="en-US" sz="2000" i="1">
                        <a:latin typeface="Cambria Math" panose="02040503050406030204" pitchFamily="18" charset="0"/>
                        <a:ea typeface="Cambria Math" panose="02040503050406030204" pitchFamily="18" charset="0"/>
                      </a:rPr>
                      <m:t>∀ </m:t>
                    </m:r>
                  </m:oMath>
                </a14:m>
                <a:r>
                  <a:rPr lang="en-US" altLang="en-US" sz="2000" dirty="0"/>
                  <a:t>n </a:t>
                </a:r>
                <a:r>
                  <a:rPr lang="en-US" altLang="en-US" sz="2000" dirty="0">
                    <a:sym typeface="Symbol" panose="05050102010706020507" pitchFamily="18" charset="2"/>
                  </a:rPr>
                  <a:t></a:t>
                </a:r>
                <a:r>
                  <a:rPr lang="en-US" altLang="en-US" sz="2000" dirty="0"/>
                  <a:t> 3 </a:t>
                </a:r>
                <a:r>
                  <a:rPr lang="en-US" altLang="en-US" sz="2000" dirty="0">
                    <a:sym typeface="Wingdings" panose="05000000000000000000" pitchFamily="2" charset="2"/>
                  </a:rPr>
                  <a:t></a:t>
                </a:r>
                <a:r>
                  <a:rPr lang="en-US" altLang="en-US" sz="2000" dirty="0"/>
                  <a:t> 3n </a:t>
                </a:r>
                <a:r>
                  <a:rPr lang="en-US" altLang="en-US" sz="2000" dirty="0">
                    <a:sym typeface="Symbol" panose="05050102010706020507" pitchFamily="18" charset="2"/>
                  </a:rPr>
                  <a:t> </a:t>
                </a:r>
                <a:r>
                  <a:rPr lang="en-US" altLang="en-US" sz="2000" dirty="0"/>
                  <a:t>1.n</a:t>
                </a:r>
                <a:r>
                  <a:rPr lang="en-US" altLang="en-US" sz="2000" baseline="30000" dirty="0"/>
                  <a:t>2</a:t>
                </a:r>
                <a:r>
                  <a:rPr lang="en-US" altLang="en-US" sz="2000" dirty="0"/>
                  <a:t> </a:t>
                </a:r>
              </a:p>
              <a:p>
                <a:pPr lvl="1"/>
                <a:endParaRPr lang="en-US" altLang="en-US" sz="2000" dirty="0"/>
              </a:p>
              <a:p>
                <a:pPr lvl="1"/>
                <a:r>
                  <a:rPr lang="en-US" altLang="en-US" sz="2000" dirty="0" err="1"/>
                  <a:t>Chọn</a:t>
                </a:r>
                <a:r>
                  <a:rPr lang="en-US" altLang="en-US" sz="2000" dirty="0"/>
                  <a:t> f(n) </a:t>
                </a:r>
                <a:r>
                  <a:rPr lang="en-US" altLang="en-US" sz="2000" dirty="0" err="1"/>
                  <a:t>nhỏ</a:t>
                </a:r>
                <a:r>
                  <a:rPr lang="en-US" altLang="en-US" sz="2000" dirty="0"/>
                  <a:t> </a:t>
                </a:r>
                <a:r>
                  <a:rPr lang="en-US" altLang="en-US" sz="2000" dirty="0" err="1"/>
                  <a:t>nhất</a:t>
                </a:r>
                <a:r>
                  <a:rPr lang="en-US" altLang="en-US" sz="2000" dirty="0"/>
                  <a:t> </a:t>
                </a:r>
                <a:r>
                  <a:rPr lang="en-US" altLang="en-US" sz="2000" dirty="0" err="1"/>
                  <a:t>và</a:t>
                </a:r>
                <a:r>
                  <a:rPr lang="en-US" altLang="en-US" sz="2000" dirty="0"/>
                  <a:t> </a:t>
                </a:r>
                <a:r>
                  <a:rPr lang="en-US" altLang="en-US" sz="2000" dirty="0" err="1"/>
                  <a:t>đơn</a:t>
                </a:r>
                <a:r>
                  <a:rPr lang="en-US" altLang="en-US" sz="2000" dirty="0"/>
                  <a:t> </a:t>
                </a:r>
                <a:r>
                  <a:rPr lang="en-US" altLang="en-US" sz="2000" dirty="0" err="1"/>
                  <a:t>giản</a:t>
                </a:r>
                <a:r>
                  <a:rPr lang="en-US" altLang="en-US" sz="2000" dirty="0"/>
                  <a:t> </a:t>
                </a:r>
                <a:r>
                  <a:rPr lang="en-US" altLang="en-US" sz="2000" dirty="0" err="1"/>
                  <a:t>nhất</a:t>
                </a:r>
                <a:r>
                  <a:rPr lang="en-US" altLang="en-US" sz="2000" dirty="0"/>
                  <a:t> </a:t>
                </a:r>
                <a:r>
                  <a:rPr lang="en-US" altLang="en-US" sz="2000" dirty="0" err="1"/>
                  <a:t>thỏa</a:t>
                </a:r>
                <a:r>
                  <a:rPr lang="en-US" altLang="en-US" sz="2000" dirty="0"/>
                  <a:t> </a:t>
                </a:r>
                <a:r>
                  <a:rPr lang="en-US" altLang="en-US" sz="2000" dirty="0" err="1"/>
                  <a:t>mãn</a:t>
                </a:r>
                <a:r>
                  <a:rPr lang="en-US" altLang="en-US" sz="2000" dirty="0"/>
                  <a:t> </a:t>
                </a:r>
                <a:r>
                  <a:rPr lang="en-US" sz="2000" dirty="0">
                    <a:sym typeface="Wingdings" panose="05000000000000000000" pitchFamily="2" charset="2"/>
                  </a:rPr>
                  <a:t> </a:t>
                </a:r>
                <a:r>
                  <a:rPr lang="en-US" altLang="en-US" sz="2000" dirty="0"/>
                  <a:t>f(n) = n</a:t>
                </a:r>
              </a:p>
              <a:p>
                <a:pPr lvl="1"/>
                <a:r>
                  <a:rPr lang="en-US" altLang="en-US" sz="2000" dirty="0" err="1"/>
                  <a:t>Khi</a:t>
                </a:r>
                <a:r>
                  <a:rPr lang="en-US" altLang="en-US" sz="2000" dirty="0"/>
                  <a:t> </a:t>
                </a:r>
                <a:r>
                  <a:rPr lang="en-US" altLang="en-US" sz="2000" dirty="0" err="1"/>
                  <a:t>đó</a:t>
                </a:r>
                <a:r>
                  <a:rPr lang="en-US" altLang="en-US" sz="2000" dirty="0"/>
                  <a:t> f(n) </a:t>
                </a:r>
                <a:r>
                  <a:rPr lang="en-US" altLang="en-US" sz="2000" dirty="0" err="1"/>
                  <a:t>được</a:t>
                </a:r>
                <a:r>
                  <a:rPr lang="en-US" altLang="en-US" sz="2000" dirty="0"/>
                  <a:t> </a:t>
                </a:r>
                <a:r>
                  <a:rPr lang="en-US" altLang="en-US" sz="2000" dirty="0" err="1"/>
                  <a:t>gọi</a:t>
                </a:r>
                <a:r>
                  <a:rPr lang="en-US" altLang="en-US" sz="2000" dirty="0"/>
                  <a:t> </a:t>
                </a:r>
                <a:r>
                  <a:rPr lang="en-US" altLang="en-US" sz="2000" dirty="0" err="1"/>
                  <a:t>là</a:t>
                </a:r>
                <a:r>
                  <a:rPr lang="en-US" altLang="en-US" sz="2000" dirty="0"/>
                  <a:t> </a:t>
                </a:r>
                <a:r>
                  <a:rPr lang="en-US" altLang="en-US" sz="2000" b="1" dirty="0" err="1"/>
                  <a:t>hàm</a:t>
                </a:r>
                <a:r>
                  <a:rPr lang="en-US" altLang="en-US" sz="2000" b="1" dirty="0"/>
                  <a:t> </a:t>
                </a:r>
                <a:r>
                  <a:rPr lang="en-US" altLang="en-US" sz="2000" b="1" dirty="0" err="1"/>
                  <a:t>độ</a:t>
                </a:r>
                <a:r>
                  <a:rPr lang="en-US" altLang="en-US" sz="2000" b="1" dirty="0"/>
                  <a:t> </a:t>
                </a:r>
                <a:r>
                  <a:rPr lang="en-US" altLang="en-US" sz="2000" b="1" dirty="0" err="1"/>
                  <a:t>lớn</a:t>
                </a:r>
                <a:r>
                  <a:rPr lang="en-US" altLang="en-US" sz="2000" b="1" dirty="0"/>
                  <a:t> </a:t>
                </a:r>
                <a:r>
                  <a:rPr lang="en-US" altLang="en-US" sz="2000" dirty="0"/>
                  <a:t>hay </a:t>
                </a:r>
                <a:r>
                  <a:rPr lang="en-US" altLang="en-US" sz="2000" b="1" dirty="0" err="1"/>
                  <a:t>độ</a:t>
                </a:r>
                <a:r>
                  <a:rPr lang="en-US" altLang="en-US" sz="2000" b="1" dirty="0"/>
                  <a:t> </a:t>
                </a:r>
                <a:r>
                  <a:rPr lang="en-US" altLang="en-US" sz="2000" b="1" dirty="0" err="1"/>
                  <a:t>phức</a:t>
                </a:r>
                <a:r>
                  <a:rPr lang="en-US" altLang="en-US" sz="2000" b="1" dirty="0"/>
                  <a:t> </a:t>
                </a:r>
                <a:r>
                  <a:rPr lang="en-US" altLang="en-US" sz="2000" b="1" dirty="0" err="1"/>
                  <a:t>tạp</a:t>
                </a:r>
                <a:r>
                  <a:rPr lang="en-US" altLang="en-US" sz="2000" dirty="0"/>
                  <a:t> (hay </a:t>
                </a:r>
                <a:r>
                  <a:rPr lang="en-US" altLang="en-US" sz="2000" dirty="0" err="1"/>
                  <a:t>cấp</a:t>
                </a:r>
                <a:r>
                  <a:rPr lang="en-US" altLang="en-US" sz="2000" dirty="0"/>
                  <a:t> </a:t>
                </a:r>
                <a:r>
                  <a:rPr lang="en-US" altLang="en-US" sz="2000" dirty="0" err="1"/>
                  <a:t>độ</a:t>
                </a:r>
                <a:r>
                  <a:rPr lang="en-US" altLang="en-US" sz="2000" dirty="0"/>
                  <a:t> so </a:t>
                </a:r>
                <a:r>
                  <a:rPr lang="en-US" altLang="en-US" sz="2000" dirty="0" err="1"/>
                  <a:t>sánh</a:t>
                </a:r>
                <a:r>
                  <a:rPr lang="en-US" altLang="en-US" sz="2000" dirty="0"/>
                  <a:t>, hay </a:t>
                </a:r>
                <a:r>
                  <a:rPr lang="en-US" altLang="en-US" sz="2000" dirty="0" err="1"/>
                  <a:t>cấp</a:t>
                </a:r>
                <a:r>
                  <a:rPr lang="en-US" altLang="en-US" sz="2000" dirty="0"/>
                  <a:t> </a:t>
                </a:r>
                <a:r>
                  <a:rPr lang="en-US" altLang="en-US" sz="2000" dirty="0" err="1"/>
                  <a:t>độ</a:t>
                </a:r>
                <a:r>
                  <a:rPr lang="en-US" altLang="en-US" sz="2000" dirty="0"/>
                  <a:t> </a:t>
                </a:r>
                <a:r>
                  <a:rPr lang="en-US" altLang="en-US" sz="2000" dirty="0" err="1"/>
                  <a:t>thời</a:t>
                </a:r>
                <a:r>
                  <a:rPr lang="en-US" altLang="en-US" sz="2000" dirty="0"/>
                  <a:t> </a:t>
                </a:r>
                <a:r>
                  <a:rPr lang="en-US" altLang="en-US" sz="2000" dirty="0" err="1"/>
                  <a:t>gian</a:t>
                </a:r>
                <a:r>
                  <a:rPr lang="en-US" altLang="en-US" sz="2000" dirty="0"/>
                  <a:t> </a:t>
                </a:r>
                <a:r>
                  <a:rPr lang="en-US" altLang="en-US" sz="2000" dirty="0" err="1"/>
                  <a:t>thực</a:t>
                </a:r>
                <a:r>
                  <a:rPr lang="en-US" altLang="en-US" sz="2000" dirty="0"/>
                  <a:t> </a:t>
                </a:r>
                <a:r>
                  <a:rPr lang="en-US" altLang="en-US" sz="2000" dirty="0" err="1"/>
                  <a:t>hiện</a:t>
                </a:r>
                <a:r>
                  <a:rPr lang="en-US" altLang="en-US" sz="2000" dirty="0"/>
                  <a:t>)</a:t>
                </a:r>
                <a:r>
                  <a:rPr lang="en-US" sz="2000" dirty="0">
                    <a:sym typeface="Wingdings" panose="05000000000000000000" pitchFamily="2" charset="2"/>
                  </a:rPr>
                  <a:t>  </a:t>
                </a:r>
                <a:r>
                  <a:rPr lang="en-US" sz="2000" dirty="0" err="1">
                    <a:sym typeface="Wingdings" panose="05000000000000000000" pitchFamily="2" charset="2"/>
                  </a:rPr>
                  <a:t>Ký</a:t>
                </a:r>
                <a:r>
                  <a:rPr lang="en-US" sz="2000" dirty="0">
                    <a:sym typeface="Wingdings" panose="05000000000000000000" pitchFamily="2" charset="2"/>
                  </a:rPr>
                  <a:t> </a:t>
                </a:r>
                <a:r>
                  <a:rPr lang="en-US" sz="2000" dirty="0" err="1">
                    <a:sym typeface="Wingdings" panose="05000000000000000000" pitchFamily="2" charset="2"/>
                  </a:rPr>
                  <a:t>hiệu</a:t>
                </a:r>
                <a:r>
                  <a:rPr lang="en-US" altLang="en-US" sz="2000" b="1" dirty="0"/>
                  <a:t> T(n) = O (n)</a:t>
                </a:r>
                <a:r>
                  <a:rPr lang="en-US" altLang="en-US" sz="2000" dirty="0"/>
                  <a:t> </a:t>
                </a:r>
              </a:p>
              <a:p>
                <a:pPr lvl="1"/>
                <a:endParaRPr lang="en-US" altLang="en-US" sz="2000" dirty="0"/>
              </a:p>
              <a:p>
                <a:pPr lvl="1"/>
                <a:endParaRPr lang="en-US" altLang="en-US" sz="2000" dirty="0"/>
              </a:p>
              <a:p>
                <a:pPr lvl="1" eaLnBrk="1" hangingPunct="1"/>
                <a:endParaRPr lang="en-US" alt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3"/>
              </p:nvPr>
            </p:nvSpPr>
            <p:spPr>
              <a:blipFill>
                <a:blip r:embed="rId3"/>
                <a:stretch>
                  <a:fillRect l="-985" t="-1663"/>
                </a:stretch>
              </a:blipFill>
            </p:spPr>
            <p:txBody>
              <a:bodyPr/>
              <a:lstStyle/>
              <a:p>
                <a:r>
                  <a:rPr lang="en-US">
                    <a:noFill/>
                  </a:rPr>
                  <a:t> </a:t>
                </a:r>
              </a:p>
            </p:txBody>
          </p:sp>
        </mc:Fallback>
      </mc:AlternateContent>
    </p:spTree>
    <p:extLst>
      <p:ext uri="{BB962C8B-B14F-4D97-AF65-F5344CB8AC3E}">
        <p14:creationId xmlns:p14="http://schemas.microsoft.com/office/powerpoint/2010/main" val="4064736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dirty="0"/>
              <a:t>ET2100 </a:t>
            </a:r>
            <a:r>
              <a:rPr lang="en-US" i="1" dirty="0"/>
              <a:t>- </a:t>
            </a:r>
            <a:r>
              <a:rPr lang="en-US" b="1" i="1" dirty="0"/>
              <a:t>Data Structures and Algorithms</a:t>
            </a:r>
            <a:endParaRPr lang="en-US" dirty="0"/>
          </a:p>
          <a:p>
            <a:pPr algn="r"/>
            <a:r>
              <a:rPr lang="en-US" dirty="0"/>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26</a:t>
            </a:fld>
            <a:endParaRPr lang="en-US" dirty="0"/>
          </a:p>
        </p:txBody>
      </p:sp>
      <p:sp>
        <p:nvSpPr>
          <p:cNvPr id="2" name="Title 1"/>
          <p:cNvSpPr>
            <a:spLocks noGrp="1"/>
          </p:cNvSpPr>
          <p:nvPr>
            <p:ph type="title"/>
          </p:nvPr>
        </p:nvSpPr>
        <p:spPr/>
        <p:txBody>
          <a:bodyPr/>
          <a:lstStyle/>
          <a:p>
            <a:r>
              <a:rPr lang="en-US" altLang="en-US" dirty="0" err="1"/>
              <a:t>Tính</a:t>
            </a:r>
            <a:r>
              <a:rPr lang="en-US" altLang="en-US" dirty="0"/>
              <a:t> </a:t>
            </a:r>
            <a:r>
              <a:rPr lang="en-US" altLang="en-US" dirty="0" err="1"/>
              <a:t>chất</a:t>
            </a:r>
            <a:r>
              <a:rPr lang="en-US" altLang="en-US" dirty="0"/>
              <a:t> </a:t>
            </a:r>
            <a:r>
              <a:rPr lang="en-US" altLang="en-US" dirty="0" err="1"/>
              <a:t>của</a:t>
            </a:r>
            <a:r>
              <a:rPr lang="en-US" altLang="en-US" dirty="0"/>
              <a:t> O </a:t>
            </a:r>
            <a:r>
              <a:rPr lang="en-US" altLang="en-US" dirty="0" err="1"/>
              <a:t>lớn</a:t>
            </a:r>
            <a:endParaRPr lang="en-US" dirty="0"/>
          </a:p>
        </p:txBody>
      </p:sp>
      <p:sp>
        <p:nvSpPr>
          <p:cNvPr id="3" name="Content Placeholder 2"/>
          <p:cNvSpPr>
            <a:spLocks noGrp="1"/>
          </p:cNvSpPr>
          <p:nvPr>
            <p:ph type="body" sz="quarter" idx="13"/>
          </p:nvPr>
        </p:nvSpPr>
        <p:spPr>
          <a:xfrm>
            <a:off x="234951" y="1676400"/>
            <a:ext cx="8674100" cy="4419600"/>
          </a:xfrm>
        </p:spPr>
        <p:txBody>
          <a:bodyPr/>
          <a:lstStyle/>
          <a:p>
            <a:pPr eaLnBrk="1" hangingPunct="1"/>
            <a:r>
              <a:rPr lang="pt-BR" dirty="0"/>
              <a:t>Tính chất 1:</a:t>
            </a:r>
          </a:p>
          <a:p>
            <a:pPr marL="0" indent="0" eaLnBrk="1" hangingPunct="1">
              <a:buNone/>
            </a:pPr>
            <a:r>
              <a:rPr lang="pt-BR" dirty="0"/>
              <a:t>      nếu T(n) = O(f(n)) và f(n) = O(g(n)) thì T(n) = O(g(n))</a:t>
            </a:r>
          </a:p>
          <a:p>
            <a:pPr eaLnBrk="1" hangingPunct="1"/>
            <a:r>
              <a:rPr lang="pt-BR" dirty="0"/>
              <a:t>Tính chất 2:</a:t>
            </a:r>
            <a:br>
              <a:rPr lang="pt-BR" dirty="0"/>
            </a:br>
            <a:r>
              <a:rPr lang="pt-BR" dirty="0"/>
              <a:t>   nếu T(n) = T1(n) + T2(n) </a:t>
            </a:r>
            <a:br>
              <a:rPr lang="pt-BR" dirty="0"/>
            </a:br>
            <a:r>
              <a:rPr lang="pt-BR" dirty="0"/>
              <a:t>                        và T1(n) = O(f1(n)), T2(n) = O(f2(n)) </a:t>
            </a:r>
            <a:br>
              <a:rPr lang="pt-BR" dirty="0"/>
            </a:br>
            <a:r>
              <a:rPr lang="pt-BR" dirty="0"/>
              <a:t>   thì T(n) = O(max(f1(n), f2(n)))</a:t>
            </a:r>
          </a:p>
          <a:p>
            <a:pPr eaLnBrk="1" hangingPunct="1"/>
            <a:r>
              <a:rPr lang="pt-BR" dirty="0"/>
              <a:t>Tính chất 3:</a:t>
            </a:r>
            <a:br>
              <a:rPr lang="pt-BR" dirty="0"/>
            </a:br>
            <a:r>
              <a:rPr lang="pt-BR" dirty="0"/>
              <a:t>   nếu T(n) = T1(n).T2(n) </a:t>
            </a:r>
            <a:br>
              <a:rPr lang="pt-BR" dirty="0"/>
            </a:br>
            <a:r>
              <a:rPr lang="pt-BR" dirty="0"/>
              <a:t>                         và T1(n) = O(f1(n)), T2(n) = O(f2(n))</a:t>
            </a:r>
            <a:br>
              <a:rPr lang="pt-BR" dirty="0"/>
            </a:br>
            <a:r>
              <a:rPr lang="pt-BR" dirty="0"/>
              <a:t>   thì T(n) = O(f1(n). f2(n))</a:t>
            </a:r>
            <a:endParaRPr lang="en-US" dirty="0"/>
          </a:p>
        </p:txBody>
      </p:sp>
      <p:sp>
        <p:nvSpPr>
          <p:cNvPr id="6" name="Rectangle 5"/>
          <p:cNvSpPr/>
          <p:nvPr/>
        </p:nvSpPr>
        <p:spPr>
          <a:xfrm>
            <a:off x="234951" y="817939"/>
            <a:ext cx="4495800" cy="723275"/>
          </a:xfrm>
          <a:prstGeom prst="rect">
            <a:avLst/>
          </a:prstGeom>
        </p:spPr>
        <p:txBody>
          <a:bodyPr wrap="square">
            <a:spAutoFit/>
          </a:bodyPr>
          <a:lstStyle/>
          <a:p>
            <a:pPr marL="342900" indent="-342900">
              <a:spcBef>
                <a:spcPts val="600"/>
              </a:spcBef>
              <a:buFont typeface="Arial" panose="020B0604020202020204" pitchFamily="34" charset="0"/>
              <a:buChar char="•"/>
            </a:pPr>
            <a:r>
              <a:rPr lang="pt-BR" dirty="0">
                <a:latin typeface="Lato" panose="020F0502020204030203"/>
              </a:rPr>
              <a:t>O(Cf(n)) = O(f(n)), C: hằng số</a:t>
            </a:r>
          </a:p>
          <a:p>
            <a:pPr marL="342900" indent="-342900">
              <a:spcBef>
                <a:spcPts val="600"/>
              </a:spcBef>
              <a:buFont typeface="Arial" panose="020B0604020202020204" pitchFamily="34" charset="0"/>
              <a:buChar char="•"/>
            </a:pPr>
            <a:r>
              <a:rPr lang="pt-BR" dirty="0">
                <a:latin typeface="Lato" panose="020F0502020204030203"/>
              </a:rPr>
              <a:t>O(C) = O(1), C: hằng số</a:t>
            </a:r>
            <a:endParaRPr lang="en-US" dirty="0">
              <a:latin typeface="Lato" panose="020F0502020204030203"/>
            </a:endParaRPr>
          </a:p>
        </p:txBody>
      </p:sp>
    </p:spTree>
    <p:extLst>
      <p:ext uri="{BB962C8B-B14F-4D97-AF65-F5344CB8AC3E}">
        <p14:creationId xmlns:p14="http://schemas.microsoft.com/office/powerpoint/2010/main" val="88602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27</a:t>
            </a:fld>
            <a:endParaRPr lang="en-US"/>
          </a:p>
        </p:txBody>
      </p:sp>
      <p:sp>
        <p:nvSpPr>
          <p:cNvPr id="2" name="Title 1"/>
          <p:cNvSpPr>
            <a:spLocks noGrp="1"/>
          </p:cNvSpPr>
          <p:nvPr>
            <p:ph type="title"/>
          </p:nvPr>
        </p:nvSpPr>
        <p:spPr/>
        <p:txBody>
          <a:bodyPr/>
          <a:lstStyle/>
          <a:p>
            <a:r>
              <a:rPr lang="en-US" altLang="en-US" dirty="0" err="1"/>
              <a:t>Ví</a:t>
            </a:r>
            <a:r>
              <a:rPr lang="en-US" altLang="en-US" dirty="0"/>
              <a:t> </a:t>
            </a:r>
            <a:r>
              <a:rPr lang="en-US" altLang="en-US" dirty="0" err="1"/>
              <a:t>dụ</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3"/>
              </p:nvPr>
            </p:nvSpPr>
            <p:spPr/>
            <p:txBody>
              <a:bodyPr/>
              <a:lstStyle/>
              <a:p>
                <a:r>
                  <a:rPr lang="en-US" i="1" dirty="0">
                    <a:latin typeface="Lato" panose="020F0502020204030203"/>
                  </a:rPr>
                  <a:t>T(n)=10  </a:t>
                </a:r>
              </a:p>
              <a:p>
                <a14:m>
                  <m:oMath xmlns:m="http://schemas.openxmlformats.org/officeDocument/2006/math">
                    <m:r>
                      <m:rPr>
                        <m:nor/>
                      </m:rPr>
                      <a:rPr lang="en-US" i="1" dirty="0">
                        <a:latin typeface="Lato" panose="020F0502020204030203"/>
                      </a:rPr>
                      <m:t>T</m:t>
                    </m:r>
                    <m:r>
                      <m:rPr>
                        <m:nor/>
                      </m:rPr>
                      <a:rPr lang="en-US" i="1" dirty="0">
                        <a:latin typeface="Lato" panose="020F0502020204030203"/>
                      </a:rPr>
                      <m:t>(</m:t>
                    </m:r>
                    <m:r>
                      <m:rPr>
                        <m:nor/>
                      </m:rPr>
                      <a:rPr lang="en-US" i="1" dirty="0">
                        <a:latin typeface="Lato" panose="020F0502020204030203"/>
                      </a:rPr>
                      <m:t>n</m:t>
                    </m:r>
                    <m:r>
                      <m:rPr>
                        <m:nor/>
                      </m:rPr>
                      <a:rPr lang="en-US" i="1" dirty="0">
                        <a:latin typeface="Lato" panose="020F0502020204030203"/>
                      </a:rPr>
                      <m:t>)=</m:t>
                    </m:r>
                    <m:r>
                      <a:rPr lang="en-US" i="1" dirty="0">
                        <a:latin typeface="Cambria Math" panose="02040503050406030204" pitchFamily="18" charset="0"/>
                      </a:rPr>
                      <m:t>3</m:t>
                    </m:r>
                    <m:r>
                      <a:rPr lang="en-US" i="1" dirty="0">
                        <a:latin typeface="Cambria Math" panose="02040503050406030204" pitchFamily="18" charset="0"/>
                      </a:rPr>
                      <m:t>𝑛</m:t>
                    </m:r>
                    <m:r>
                      <a:rPr lang="en-US" i="1" dirty="0">
                        <a:latin typeface="Cambria Math" panose="02040503050406030204" pitchFamily="18" charset="0"/>
                      </a:rPr>
                      <m:t>+5</m:t>
                    </m:r>
                  </m:oMath>
                </a14:m>
                <a:r>
                  <a:rPr lang="en-US" dirty="0">
                    <a:latin typeface="Lato" panose="020F0502020204030203"/>
                  </a:rPr>
                  <a:t> </a:t>
                </a:r>
                <a:endParaRPr lang="en-US" i="1" dirty="0">
                  <a:latin typeface="Lato" panose="020F0502020204030203"/>
                </a:endParaRPr>
              </a:p>
              <a:p>
                <a14:m>
                  <m:oMath xmlns:m="http://schemas.openxmlformats.org/officeDocument/2006/math">
                    <m:r>
                      <m:rPr>
                        <m:nor/>
                      </m:rPr>
                      <a:rPr lang="en-US" i="1" dirty="0">
                        <a:latin typeface="Lato" panose="020F0502020204030203"/>
                      </a:rPr>
                      <m:t>T</m:t>
                    </m:r>
                    <m:r>
                      <m:rPr>
                        <m:nor/>
                      </m:rPr>
                      <a:rPr lang="en-US" i="1" dirty="0">
                        <a:latin typeface="Lato" panose="020F0502020204030203"/>
                      </a:rPr>
                      <m:t>(</m:t>
                    </m:r>
                    <m:r>
                      <m:rPr>
                        <m:nor/>
                      </m:rPr>
                      <a:rPr lang="en-US" i="1" dirty="0">
                        <a:latin typeface="Lato" panose="020F0502020204030203"/>
                      </a:rPr>
                      <m:t>n</m:t>
                    </m:r>
                    <m:r>
                      <m:rPr>
                        <m:nor/>
                      </m:rPr>
                      <a:rPr lang="en-US" i="1" dirty="0">
                        <a:latin typeface="Lato" panose="020F0502020204030203"/>
                      </a:rPr>
                      <m:t>)=</m:t>
                    </m:r>
                    <m:r>
                      <a:rPr lang="en-US" i="1" dirty="0">
                        <a:latin typeface="Cambria Math" panose="02040503050406030204" pitchFamily="18" charset="0"/>
                      </a:rPr>
                      <m:t>3</m:t>
                    </m:r>
                    <m:r>
                      <a:rPr lang="en-US" i="1" dirty="0">
                        <a:latin typeface="Cambria Math" panose="02040503050406030204" pitchFamily="18" charset="0"/>
                      </a:rPr>
                      <m:t>𝑛</m:t>
                    </m:r>
                    <m:r>
                      <a:rPr lang="en-US" i="1" baseline="30000" dirty="0">
                        <a:latin typeface="Cambria Math" panose="02040503050406030204" pitchFamily="18" charset="0"/>
                      </a:rPr>
                      <m:t>2</m:t>
                    </m:r>
                    <m:r>
                      <a:rPr lang="en-US" i="1" dirty="0">
                        <a:latin typeface="Cambria Math" panose="02040503050406030204" pitchFamily="18" charset="0"/>
                      </a:rPr>
                      <m:t>+5</m:t>
                    </m:r>
                    <m:r>
                      <a:rPr lang="en-US" i="1" dirty="0">
                        <a:latin typeface="Cambria Math" panose="02040503050406030204" pitchFamily="18" charset="0"/>
                      </a:rPr>
                      <m:t>𝑛</m:t>
                    </m:r>
                    <m:r>
                      <a:rPr lang="en-US" i="1" dirty="0">
                        <a:latin typeface="Cambria Math" panose="02040503050406030204" pitchFamily="18" charset="0"/>
                      </a:rPr>
                      <m:t>+4</m:t>
                    </m:r>
                  </m:oMath>
                </a14:m>
                <a:endParaRPr lang="en-US" dirty="0">
                  <a:latin typeface="Lato" panose="020F0502020204030203"/>
                </a:endParaRPr>
              </a:p>
              <a:p>
                <a:r>
                  <a:rPr lang="en-US" i="1" dirty="0">
                    <a:latin typeface="Lato" panose="020F0502020204030203"/>
                  </a:rPr>
                  <a:t>T(n)= </a:t>
                </a:r>
                <a14:m>
                  <m:oMath xmlns:m="http://schemas.openxmlformats.org/officeDocument/2006/math">
                    <m:r>
                      <a:rPr lang="en-US" i="1" dirty="0">
                        <a:latin typeface="Cambria Math" panose="02040503050406030204" pitchFamily="18" charset="0"/>
                      </a:rPr>
                      <m:t>𝑛</m:t>
                    </m:r>
                    <m:r>
                      <a:rPr lang="en-US" i="1" dirty="0">
                        <a:latin typeface="Cambria Math" panose="02040503050406030204" pitchFamily="18" charset="0"/>
                      </a:rPr>
                      <m:t>+</m:t>
                    </m:r>
                    <m:rad>
                      <m:radPr>
                        <m:degHide m:val="on"/>
                        <m:ctrlPr>
                          <a:rPr lang="en-US" i="1" dirty="0">
                            <a:latin typeface="Cambria Math" panose="02040503050406030204" pitchFamily="18" charset="0"/>
                          </a:rPr>
                        </m:ctrlPr>
                      </m:radPr>
                      <m:deg/>
                      <m:e>
                        <m:r>
                          <a:rPr lang="en-US" i="1" dirty="0">
                            <a:latin typeface="Cambria Math" panose="02040503050406030204" pitchFamily="18" charset="0"/>
                          </a:rPr>
                          <m:t>𝑛</m:t>
                        </m:r>
                      </m:e>
                    </m:rad>
                  </m:oMath>
                </a14:m>
                <a:endParaRPr lang="en-US" dirty="0">
                  <a:latin typeface="Lato" panose="020F0502020204030203"/>
                </a:endParaRPr>
              </a:p>
              <a:p>
                <a14:m>
                  <m:oMath xmlns:m="http://schemas.openxmlformats.org/officeDocument/2006/math">
                    <m:r>
                      <m:rPr>
                        <m:nor/>
                      </m:rPr>
                      <a:rPr lang="en-US" i="1" dirty="0">
                        <a:latin typeface="Lato" panose="020F0502020204030203"/>
                      </a:rPr>
                      <m:t>T</m:t>
                    </m:r>
                    <m:r>
                      <m:rPr>
                        <m:nor/>
                      </m:rPr>
                      <a:rPr lang="en-US" i="1" dirty="0">
                        <a:latin typeface="Lato" panose="020F0502020204030203"/>
                      </a:rPr>
                      <m:t>(</m:t>
                    </m:r>
                    <m:r>
                      <m:rPr>
                        <m:nor/>
                      </m:rPr>
                      <a:rPr lang="en-US" i="1" dirty="0">
                        <a:latin typeface="Lato" panose="020F0502020204030203"/>
                      </a:rPr>
                      <m:t>n</m:t>
                    </m:r>
                    <m:r>
                      <m:rPr>
                        <m:nor/>
                      </m:rPr>
                      <a:rPr lang="en-US" i="1" dirty="0">
                        <a:latin typeface="Lato" panose="020F0502020204030203"/>
                      </a:rPr>
                      <m:t>)=</m:t>
                    </m:r>
                    <m:r>
                      <a:rPr lang="en-US" i="1" dirty="0">
                        <a:latin typeface="Cambria Math" panose="02040503050406030204" pitchFamily="18" charset="0"/>
                      </a:rPr>
                      <m:t>2</m:t>
                    </m:r>
                    <m:r>
                      <a:rPr lang="en-US" i="1" baseline="30000" dirty="0">
                        <a:latin typeface="Cambria Math" panose="02040503050406030204" pitchFamily="18" charset="0"/>
                      </a:rPr>
                      <m:t>𝑛</m:t>
                    </m:r>
                    <m:r>
                      <a:rPr lang="en-US" i="1" dirty="0">
                        <a:latin typeface="Cambria Math" panose="02040503050406030204" pitchFamily="18" charset="0"/>
                      </a:rPr>
                      <m:t>+</m:t>
                    </m:r>
                    <m:r>
                      <a:rPr lang="en-US" i="1" dirty="0">
                        <a:latin typeface="Cambria Math" panose="02040503050406030204" pitchFamily="18" charset="0"/>
                      </a:rPr>
                      <m:t>𝑛</m:t>
                    </m:r>
                    <m:r>
                      <a:rPr lang="en-US" i="1" baseline="30000" dirty="0">
                        <a:latin typeface="Cambria Math" panose="02040503050406030204" pitchFamily="18" charset="0"/>
                      </a:rPr>
                      <m:t>2</m:t>
                    </m:r>
                  </m:oMath>
                </a14:m>
                <a:endParaRPr lang="en-US" i="1" baseline="30000" dirty="0">
                  <a:latin typeface="Cambria Math" panose="02040503050406030204" pitchFamily="18" charset="0"/>
                </a:endParaRPr>
              </a:p>
              <a:p>
                <a14:m>
                  <m:oMath xmlns:m="http://schemas.openxmlformats.org/officeDocument/2006/math">
                    <m:r>
                      <m:rPr>
                        <m:nor/>
                      </m:rPr>
                      <a:rPr lang="en-US" sz="2100" i="1" dirty="0">
                        <a:latin typeface="Lato" panose="020F0502020204030203"/>
                      </a:rPr>
                      <m:t>T</m:t>
                    </m:r>
                    <m:r>
                      <m:rPr>
                        <m:nor/>
                      </m:rPr>
                      <a:rPr lang="en-US" sz="2100" i="1" dirty="0">
                        <a:latin typeface="Lato" panose="020F0502020204030203"/>
                      </a:rPr>
                      <m:t>(</m:t>
                    </m:r>
                    <m:r>
                      <m:rPr>
                        <m:nor/>
                      </m:rPr>
                      <a:rPr lang="en-US" sz="2100" i="1" dirty="0">
                        <a:latin typeface="Lato" panose="020F0502020204030203"/>
                      </a:rPr>
                      <m:t>n</m:t>
                    </m:r>
                    <m:r>
                      <m:rPr>
                        <m:nor/>
                      </m:rPr>
                      <a:rPr lang="en-US" sz="2100" i="1" dirty="0">
                        <a:latin typeface="Lato" panose="020F0502020204030203"/>
                      </a:rPr>
                      <m:t>)=</m:t>
                    </m:r>
                    <m:r>
                      <a:rPr lang="en-US" altLang="en-US" sz="2100" i="1" dirty="0">
                        <a:latin typeface="Cambria Math" panose="02040503050406030204" pitchFamily="18" charset="0"/>
                      </a:rPr>
                      <m:t>8</m:t>
                    </m:r>
                    <m:r>
                      <a:rPr lang="en-US" altLang="en-US" sz="2100" i="1" dirty="0">
                        <a:latin typeface="Cambria Math" panose="02040503050406030204" pitchFamily="18" charset="0"/>
                      </a:rPr>
                      <m:t>𝑛</m:t>
                    </m:r>
                    <m:r>
                      <a:rPr lang="en-US" altLang="en-US" sz="2100" i="1" baseline="30000" dirty="0">
                        <a:latin typeface="Cambria Math" panose="02040503050406030204" pitchFamily="18" charset="0"/>
                      </a:rPr>
                      <m:t>2</m:t>
                    </m:r>
                    <m:r>
                      <m:rPr>
                        <m:sty m:val="p"/>
                      </m:rPr>
                      <a:rPr lang="en-US" altLang="en-US" sz="2100" i="1" dirty="0">
                        <a:latin typeface="Cambria Math" panose="02040503050406030204" pitchFamily="18" charset="0"/>
                      </a:rPr>
                      <m:t>log</m:t>
                    </m:r>
                    <m:r>
                      <a:rPr lang="en-US" altLang="en-US" sz="2100" i="1" dirty="0">
                        <a:latin typeface="Cambria Math" panose="02040503050406030204" pitchFamily="18" charset="0"/>
                      </a:rPr>
                      <m:t>𝑛</m:t>
                    </m:r>
                    <m:r>
                      <a:rPr lang="en-US" altLang="en-US" sz="2100" i="1" dirty="0">
                        <a:latin typeface="Cambria Math" panose="02040503050406030204" pitchFamily="18" charset="0"/>
                      </a:rPr>
                      <m:t>+5</m:t>
                    </m:r>
                    <m:r>
                      <a:rPr lang="en-US" altLang="en-US" sz="2100" i="1" dirty="0">
                        <a:latin typeface="Cambria Math" panose="02040503050406030204" pitchFamily="18" charset="0"/>
                      </a:rPr>
                      <m:t>𝑛</m:t>
                    </m:r>
                    <m:r>
                      <a:rPr lang="en-US" altLang="en-US" sz="2100" i="1" baseline="30000" dirty="0">
                        <a:latin typeface="Cambria Math" panose="02040503050406030204" pitchFamily="18" charset="0"/>
                      </a:rPr>
                      <m:t>2</m:t>
                    </m:r>
                    <m:r>
                      <a:rPr lang="en-US" altLang="en-US" sz="2100" i="1" dirty="0">
                        <a:latin typeface="Cambria Math" panose="02040503050406030204" pitchFamily="18" charset="0"/>
                      </a:rPr>
                      <m:t>+</m:t>
                    </m:r>
                    <m:r>
                      <a:rPr lang="en-US" altLang="en-US" sz="2100" i="1" dirty="0">
                        <a:latin typeface="Cambria Math" panose="02040503050406030204" pitchFamily="18" charset="0"/>
                      </a:rPr>
                      <m:t>𝑛</m:t>
                    </m:r>
                  </m:oMath>
                </a14:m>
                <a:endParaRPr lang="en-US" sz="2100" i="1" dirty="0">
                  <a:latin typeface="Lato" panose="020F0502020204030203"/>
                </a:endParaRP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3"/>
              </p:nvPr>
            </p:nvSpPr>
            <p:spPr>
              <a:blipFill>
                <a:blip r:embed="rId3"/>
                <a:stretch>
                  <a:fillRect l="-703" t="-1306"/>
                </a:stretch>
              </a:blipFill>
            </p:spPr>
            <p:txBody>
              <a:bodyPr/>
              <a:lstStyle/>
              <a:p>
                <a:r>
                  <a:rPr lang="en-US">
                    <a:noFill/>
                  </a:rPr>
                  <a:t> </a:t>
                </a:r>
              </a:p>
            </p:txBody>
          </p:sp>
        </mc:Fallback>
      </mc:AlternateContent>
      <p:sp>
        <p:nvSpPr>
          <p:cNvPr id="7" name="Rectangle 6"/>
          <p:cNvSpPr/>
          <p:nvPr/>
        </p:nvSpPr>
        <p:spPr>
          <a:xfrm>
            <a:off x="2133600" y="3962400"/>
            <a:ext cx="5629593" cy="400110"/>
          </a:xfrm>
          <a:prstGeom prst="rect">
            <a:avLst/>
          </a:prstGeom>
        </p:spPr>
        <p:txBody>
          <a:bodyPr wrap="square">
            <a:spAutoFit/>
          </a:bodyPr>
          <a:lstStyle/>
          <a:p>
            <a:r>
              <a:rPr lang="en-US" sz="2000" i="1" dirty="0">
                <a:sym typeface="Wingdings" panose="05000000000000000000" pitchFamily="2" charset="2"/>
              </a:rPr>
              <a:t>“Drop lower-order terms and constant factors”</a:t>
            </a:r>
          </a:p>
        </p:txBody>
      </p:sp>
      <mc:AlternateContent xmlns:mc="http://schemas.openxmlformats.org/markup-compatibility/2006" xmlns:a14="http://schemas.microsoft.com/office/drawing/2010/main">
        <mc:Choice Requires="a14">
          <p:sp>
            <p:nvSpPr>
              <p:cNvPr id="8" name="Content Placeholder 2"/>
              <p:cNvSpPr txBox="1">
                <a:spLocks/>
              </p:cNvSpPr>
              <p:nvPr/>
            </p:nvSpPr>
            <p:spPr bwMode="auto">
              <a:xfrm>
                <a:off x="3429000" y="838200"/>
                <a:ext cx="3657600" cy="26913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3050" indent="-273050" algn="l" rtl="0" fontAlgn="base">
                  <a:spcBef>
                    <a:spcPts val="600"/>
                  </a:spcBef>
                  <a:spcAft>
                    <a:spcPct val="0"/>
                  </a:spcAft>
                  <a:buClr>
                    <a:schemeClr val="accent1"/>
                  </a:buClr>
                  <a:buSzPct val="76000"/>
                  <a:buFont typeface="Wingdings 3" pitchFamily="18" charset="2"/>
                  <a:buChar char=""/>
                  <a:defRPr sz="2600" kern="1200">
                    <a:solidFill>
                      <a:srgbClr val="000000"/>
                    </a:solidFill>
                    <a:latin typeface="Arial" pitchFamily="34" charset="0"/>
                    <a:ea typeface="+mn-ea"/>
                    <a:cs typeface="Arial" pitchFamily="34" charset="0"/>
                  </a:defRPr>
                </a:lvl1pPr>
                <a:lvl2pPr marL="547688" indent="-273050" algn="l" rtl="0" fontAlgn="base">
                  <a:spcBef>
                    <a:spcPts val="500"/>
                  </a:spcBef>
                  <a:spcAft>
                    <a:spcPct val="0"/>
                  </a:spcAft>
                  <a:buClr>
                    <a:schemeClr val="accent2"/>
                  </a:buClr>
                  <a:buSzPct val="76000"/>
                  <a:buFont typeface="Wingdings 3" pitchFamily="18" charset="2"/>
                  <a:buChar char=""/>
                  <a:defRPr sz="2300" kern="1200">
                    <a:solidFill>
                      <a:srgbClr val="000000"/>
                    </a:solidFill>
                    <a:latin typeface="Arial" pitchFamily="34" charset="0"/>
                    <a:ea typeface="+mn-ea"/>
                    <a:cs typeface="Arial" pitchFamily="34" charset="0"/>
                  </a:defRPr>
                </a:lvl2pPr>
                <a:lvl3pPr marL="822325" indent="-228600" algn="l" rtl="0" fontAlgn="base">
                  <a:spcBef>
                    <a:spcPts val="500"/>
                  </a:spcBef>
                  <a:spcAft>
                    <a:spcPct val="0"/>
                  </a:spcAft>
                  <a:buClr>
                    <a:srgbClr val="BCBCBC"/>
                  </a:buClr>
                  <a:buSzPct val="76000"/>
                  <a:buFont typeface="Wingdings 3" pitchFamily="18" charset="2"/>
                  <a:buChar char=""/>
                  <a:defRPr sz="2000" kern="1200">
                    <a:solidFill>
                      <a:schemeClr val="tx1"/>
                    </a:solidFill>
                    <a:latin typeface="Arial" pitchFamily="34" charset="0"/>
                    <a:ea typeface="+mn-ea"/>
                    <a:cs typeface="Arial" pitchFamily="34" charset="0"/>
                  </a:defRPr>
                </a:lvl3pPr>
                <a:lvl4pPr marL="1096963" indent="-228600" algn="l" rtl="0" fontAlgn="base">
                  <a:spcBef>
                    <a:spcPts val="400"/>
                  </a:spcBef>
                  <a:spcAft>
                    <a:spcPct val="0"/>
                  </a:spcAft>
                  <a:buClr>
                    <a:srgbClr val="8BA2B4"/>
                  </a:buClr>
                  <a:buSzPct val="70000"/>
                  <a:buFont typeface="Wingdings" pitchFamily="2" charset="2"/>
                  <a:buChar char=""/>
                  <a:defRPr kern="1200">
                    <a:solidFill>
                      <a:schemeClr val="tx1"/>
                    </a:solidFill>
                    <a:latin typeface="Arial" pitchFamily="34" charset="0"/>
                    <a:ea typeface="+mn-ea"/>
                    <a:cs typeface="Arial" pitchFamily="34" charset="0"/>
                  </a:defRPr>
                </a:lvl4pPr>
                <a:lvl5pPr marL="1371600" indent="-228600" algn="l" rtl="0" fontAlgn="base">
                  <a:spcBef>
                    <a:spcPts val="300"/>
                  </a:spcBef>
                  <a:spcAft>
                    <a:spcPct val="0"/>
                  </a:spcAft>
                  <a:buClr>
                    <a:schemeClr val="accent2"/>
                  </a:buClr>
                  <a:buSzPct val="70000"/>
                  <a:buFont typeface="Wingdings" pitchFamily="2" charset="2"/>
                  <a:buChar char=""/>
                  <a:defRPr sz="1600" kern="1200">
                    <a:solidFill>
                      <a:schemeClr val="tx1"/>
                    </a:solidFill>
                    <a:latin typeface="Arial" pitchFamily="34" charset="0"/>
                    <a:ea typeface="+mn-ea"/>
                    <a:cs typeface="Arial" pitchFamily="34" charset="0"/>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200" dirty="0">
                    <a:latin typeface="Lato" panose="020F0502020204030203"/>
                  </a:rPr>
                  <a:t>=&gt; T(n)=</a:t>
                </a:r>
                <a:r>
                  <a:rPr lang="en-US" sz="2200" dirty="0">
                    <a:latin typeface="Lato" panose="020F0502020204030203"/>
                    <a:sym typeface="Wingdings" panose="05000000000000000000" pitchFamily="2" charset="2"/>
                  </a:rPr>
                  <a:t>O(</a:t>
                </a:r>
                <a:r>
                  <a:rPr lang="en-US" sz="2200" dirty="0">
                    <a:latin typeface="Lato" panose="020F0502020204030203"/>
                  </a:rPr>
                  <a:t>1)</a:t>
                </a:r>
              </a:p>
              <a:p>
                <a:pPr marL="0" indent="0">
                  <a:buNone/>
                </a:pPr>
                <a:r>
                  <a:rPr lang="en-US" sz="2200" dirty="0">
                    <a:latin typeface="Lato" panose="020F0502020204030203"/>
                  </a:rPr>
                  <a:t>=&gt; T(n)= </a:t>
                </a:r>
                <a:r>
                  <a:rPr lang="en-US" sz="2200" dirty="0">
                    <a:latin typeface="Lato" panose="020F0502020204030203"/>
                    <a:sym typeface="Wingdings" panose="05000000000000000000" pitchFamily="2" charset="2"/>
                  </a:rPr>
                  <a:t>O(</a:t>
                </a:r>
                <a14:m>
                  <m:oMath xmlns:m="http://schemas.openxmlformats.org/officeDocument/2006/math">
                    <m:r>
                      <a:rPr lang="en-US" sz="2200" dirty="0">
                        <a:latin typeface="Cambria Math" panose="02040503050406030204" pitchFamily="18" charset="0"/>
                        <a:sym typeface="Wingdings" panose="05000000000000000000" pitchFamily="2" charset="2"/>
                      </a:rPr>
                      <m:t>𝑛</m:t>
                    </m:r>
                  </m:oMath>
                </a14:m>
                <a:r>
                  <a:rPr lang="en-US" sz="2200" dirty="0">
                    <a:latin typeface="Lato" panose="020F0502020204030203"/>
                    <a:sym typeface="Wingdings" panose="05000000000000000000" pitchFamily="2" charset="2"/>
                  </a:rPr>
                  <a:t>)</a:t>
                </a:r>
              </a:p>
              <a:p>
                <a:pPr marL="0" indent="0">
                  <a:buNone/>
                </a:pPr>
                <a:r>
                  <a:rPr lang="en-US" sz="2200" dirty="0">
                    <a:latin typeface="Lato" panose="020F0502020204030203"/>
                  </a:rPr>
                  <a:t>=&gt; T(n)= O(</a:t>
                </a:r>
                <a14:m>
                  <m:oMath xmlns:m="http://schemas.openxmlformats.org/officeDocument/2006/math">
                    <m:r>
                      <a:rPr lang="en-US" sz="2200" dirty="0">
                        <a:latin typeface="Cambria Math" panose="02040503050406030204" pitchFamily="18" charset="0"/>
                      </a:rPr>
                      <m:t>𝑛</m:t>
                    </m:r>
                    <m:r>
                      <a:rPr lang="en-US" sz="2200" baseline="30000" dirty="0">
                        <a:latin typeface="Cambria Math" panose="02040503050406030204" pitchFamily="18" charset="0"/>
                      </a:rPr>
                      <m:t>2</m:t>
                    </m:r>
                  </m:oMath>
                </a14:m>
                <a:r>
                  <a:rPr lang="en-US" sz="2200" dirty="0">
                    <a:latin typeface="Lato" panose="020F0502020204030203"/>
                  </a:rPr>
                  <a:t>)</a:t>
                </a:r>
              </a:p>
              <a:p>
                <a:pPr marL="0" indent="0">
                  <a:buNone/>
                </a:pPr>
                <a:r>
                  <a:rPr lang="en-US" sz="2200" dirty="0">
                    <a:latin typeface="Lato" panose="020F0502020204030203"/>
                  </a:rPr>
                  <a:t>=&gt; T(n)= O(</a:t>
                </a:r>
                <a14:m>
                  <m:oMath xmlns:m="http://schemas.openxmlformats.org/officeDocument/2006/math">
                    <m:r>
                      <a:rPr lang="en-US" sz="2200" dirty="0">
                        <a:latin typeface="Cambria Math" panose="02040503050406030204" pitchFamily="18" charset="0"/>
                      </a:rPr>
                      <m:t>𝑛</m:t>
                    </m:r>
                  </m:oMath>
                </a14:m>
                <a:r>
                  <a:rPr lang="en-US" sz="2200" dirty="0">
                    <a:latin typeface="Lato" panose="020F0502020204030203"/>
                  </a:rPr>
                  <a:t>)</a:t>
                </a:r>
              </a:p>
              <a:p>
                <a:pPr marL="0" indent="0">
                  <a:buNone/>
                </a:pPr>
                <a:r>
                  <a:rPr lang="en-US" sz="2200" dirty="0">
                    <a:latin typeface="Lato" panose="020F0502020204030203"/>
                  </a:rPr>
                  <a:t>=&gt; T(n)= O(</a:t>
                </a:r>
                <a14:m>
                  <m:oMath xmlns:m="http://schemas.openxmlformats.org/officeDocument/2006/math">
                    <m:r>
                      <a:rPr lang="en-US" sz="2200" dirty="0">
                        <a:latin typeface="Cambria Math" panose="02040503050406030204" pitchFamily="18" charset="0"/>
                      </a:rPr>
                      <m:t>2</m:t>
                    </m:r>
                    <m:r>
                      <a:rPr lang="en-US" sz="2200" baseline="30000" dirty="0">
                        <a:latin typeface="Cambria Math" panose="02040503050406030204" pitchFamily="18" charset="0"/>
                      </a:rPr>
                      <m:t>𝑛</m:t>
                    </m:r>
                  </m:oMath>
                </a14:m>
                <a:r>
                  <a:rPr lang="en-US" sz="2200" dirty="0">
                    <a:latin typeface="Lato" panose="020F0502020204030203"/>
                  </a:rPr>
                  <a:t>)</a:t>
                </a:r>
              </a:p>
              <a:p>
                <a:pPr marL="0" lvl="1" indent="0">
                  <a:spcBef>
                    <a:spcPts val="600"/>
                  </a:spcBef>
                  <a:buClr>
                    <a:schemeClr val="accent1"/>
                  </a:buClr>
                  <a:buNone/>
                </a:pPr>
                <a:r>
                  <a:rPr lang="en-US" sz="2200" dirty="0">
                    <a:latin typeface="Lato" panose="020F0502020204030203"/>
                  </a:rPr>
                  <a:t>=&gt;  T(n)= </a:t>
                </a:r>
                <a:r>
                  <a:rPr lang="en-US" altLang="en-US" sz="2200" dirty="0">
                    <a:latin typeface="Lato" panose="020F0502020204030203"/>
                  </a:rPr>
                  <a:t>O(</a:t>
                </a:r>
                <a14:m>
                  <m:oMath xmlns:m="http://schemas.openxmlformats.org/officeDocument/2006/math">
                    <m:r>
                      <a:rPr lang="en-US" altLang="en-US" sz="2200" dirty="0">
                        <a:latin typeface="Cambria Math" panose="02040503050406030204" pitchFamily="18" charset="0"/>
                      </a:rPr>
                      <m:t>𝑛</m:t>
                    </m:r>
                    <m:r>
                      <a:rPr lang="en-US" altLang="en-US" sz="2200" baseline="30000" dirty="0">
                        <a:latin typeface="Cambria Math" panose="02040503050406030204" pitchFamily="18" charset="0"/>
                      </a:rPr>
                      <m:t>2</m:t>
                    </m:r>
                    <m:r>
                      <m:rPr>
                        <m:sty m:val="p"/>
                      </m:rPr>
                      <a:rPr lang="en-US" altLang="en-US" sz="2200" dirty="0">
                        <a:latin typeface="Cambria Math" panose="02040503050406030204" pitchFamily="18" charset="0"/>
                      </a:rPr>
                      <m:t>log</m:t>
                    </m:r>
                    <m:r>
                      <a:rPr lang="en-US" altLang="en-US" sz="2200" dirty="0">
                        <a:latin typeface="Cambria Math" panose="02040503050406030204" pitchFamily="18" charset="0"/>
                      </a:rPr>
                      <m:t>𝑛</m:t>
                    </m:r>
                  </m:oMath>
                </a14:m>
                <a:r>
                  <a:rPr lang="en-US" altLang="en-US" sz="2200" dirty="0">
                    <a:latin typeface="Lato" panose="020F0502020204030203"/>
                  </a:rPr>
                  <a:t>)</a:t>
                </a:r>
                <a:endParaRPr lang="en-US" sz="2200" dirty="0">
                  <a:latin typeface="Lato" panose="020F0502020204030203"/>
                </a:endParaRPr>
              </a:p>
              <a:p>
                <a:endParaRPr lang="en-US" sz="2200" dirty="0">
                  <a:latin typeface="Lato" panose="020F0502020204030203"/>
                </a:endParaRPr>
              </a:p>
              <a:p>
                <a:endParaRPr lang="en-US" sz="2200" dirty="0">
                  <a:latin typeface="Lato" panose="020F0502020204030203"/>
                </a:endParaRPr>
              </a:p>
            </p:txBody>
          </p:sp>
        </mc:Choice>
        <mc:Fallback xmlns="">
          <p:sp>
            <p:nvSpPr>
              <p:cNvPr id="8" name="Content Placeholder 2"/>
              <p:cNvSpPr txBox="1">
                <a:spLocks noRot="1" noChangeAspect="1" noMove="1" noResize="1" noEditPoints="1" noAdjustHandles="1" noChangeArrowheads="1" noChangeShapeType="1" noTextEdit="1"/>
              </p:cNvSpPr>
              <p:nvPr/>
            </p:nvSpPr>
            <p:spPr bwMode="auto">
              <a:xfrm>
                <a:off x="3429000" y="838200"/>
                <a:ext cx="3657600" cy="2691386"/>
              </a:xfrm>
              <a:prstGeom prst="rect">
                <a:avLst/>
              </a:prstGeom>
              <a:blipFill>
                <a:blip r:embed="rId4"/>
                <a:stretch>
                  <a:fillRect l="-2167" t="-1587"/>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260158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28</a:t>
            </a:fld>
            <a:endParaRPr lang="en-US"/>
          </a:p>
        </p:txBody>
      </p:sp>
      <p:sp>
        <p:nvSpPr>
          <p:cNvPr id="2" name="Title 1"/>
          <p:cNvSpPr>
            <a:spLocks noGrp="1"/>
          </p:cNvSpPr>
          <p:nvPr>
            <p:ph type="title"/>
          </p:nvPr>
        </p:nvSpPr>
        <p:spPr/>
        <p:txBody>
          <a:bodyPr/>
          <a:lstStyle/>
          <a:p>
            <a:r>
              <a:rPr lang="en-US" dirty="0" err="1"/>
              <a:t>Hệ</a:t>
            </a:r>
            <a:r>
              <a:rPr lang="en-US" dirty="0"/>
              <a:t> </a:t>
            </a:r>
            <a:r>
              <a:rPr lang="en-US" dirty="0" err="1"/>
              <a:t>quả</a:t>
            </a:r>
            <a:endParaRPr lang="en-US" dirty="0"/>
          </a:p>
        </p:txBody>
      </p:sp>
      <p:sp>
        <p:nvSpPr>
          <p:cNvPr id="3" name="Content Placeholder 2"/>
          <p:cNvSpPr>
            <a:spLocks noGrp="1"/>
          </p:cNvSpPr>
          <p:nvPr>
            <p:ph type="body" sz="quarter" idx="13"/>
          </p:nvPr>
        </p:nvSpPr>
        <p:spPr/>
        <p:txBody>
          <a:bodyPr>
            <a:normAutofit/>
          </a:bodyPr>
          <a:lstStyle/>
          <a:p>
            <a:r>
              <a:rPr lang="vi-VN" sz="2400" dirty="0"/>
              <a:t>Hệ quả 1: Độ phức tạp của một lệnh rẽ nhánh bằng độ phức tạp của nhánh có độ phức tạp cao nhất. </a:t>
            </a:r>
            <a:endParaRPr lang="en-US" sz="2400" dirty="0"/>
          </a:p>
          <a:p>
            <a:r>
              <a:rPr lang="vi-VN" sz="2400" dirty="0"/>
              <a:t>Hệ quả 2: Độ phức tạp của một lệnh tuần tự bằng tổng độ phức tạp của các lệnh thành phần.</a:t>
            </a:r>
            <a:endParaRPr lang="en-US" sz="2400" dirty="0"/>
          </a:p>
          <a:p>
            <a:r>
              <a:rPr lang="vi-VN" sz="2400" dirty="0"/>
              <a:t>Hệ quả 3: Độ phức tạp của một lệnh lặp bằng tổng độ phức tạp của tất cả các lần lặp</a:t>
            </a:r>
            <a:endParaRPr lang="en-US" sz="2400" dirty="0"/>
          </a:p>
        </p:txBody>
      </p:sp>
    </p:spTree>
    <p:extLst>
      <p:ext uri="{BB962C8B-B14F-4D97-AF65-F5344CB8AC3E}">
        <p14:creationId xmlns:p14="http://schemas.microsoft.com/office/powerpoint/2010/main" val="341300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dirty="0"/>
              <a:t>ET2100 </a:t>
            </a:r>
            <a:r>
              <a:rPr lang="en-US" i="1" dirty="0"/>
              <a:t>- </a:t>
            </a:r>
            <a:r>
              <a:rPr lang="en-US" b="1" i="1" dirty="0"/>
              <a:t>Data Structures and Algorithms</a:t>
            </a:r>
            <a:endParaRPr lang="en-US" dirty="0"/>
          </a:p>
          <a:p>
            <a:pPr algn="r"/>
            <a:r>
              <a:rPr lang="en-US" dirty="0"/>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29</a:t>
            </a:fld>
            <a:endParaRPr lang="en-US"/>
          </a:p>
        </p:txBody>
      </p:sp>
      <p:sp>
        <p:nvSpPr>
          <p:cNvPr id="2" name="Title 1"/>
          <p:cNvSpPr>
            <a:spLocks noGrp="1"/>
          </p:cNvSpPr>
          <p:nvPr>
            <p:ph type="title"/>
          </p:nvPr>
        </p:nvSpPr>
        <p:spPr/>
        <p:txBody>
          <a:bodyPr/>
          <a:lstStyle/>
          <a:p>
            <a:r>
              <a:rPr lang="en-US" altLang="en-US" dirty="0" err="1"/>
              <a:t>Ví</a:t>
            </a:r>
            <a:r>
              <a:rPr lang="en-US" altLang="en-US" dirty="0"/>
              <a:t> </a:t>
            </a:r>
            <a:r>
              <a:rPr lang="en-US" altLang="en-US" dirty="0" err="1"/>
              <a:t>dụ</a:t>
            </a:r>
            <a:endParaRPr lang="en-US" dirty="0"/>
          </a:p>
        </p:txBody>
      </p:sp>
      <p:pic>
        <p:nvPicPr>
          <p:cNvPr id="7" name="Picture 6"/>
          <p:cNvPicPr>
            <a:picLocks noChangeAspect="1"/>
          </p:cNvPicPr>
          <p:nvPr/>
        </p:nvPicPr>
        <p:blipFill>
          <a:blip r:embed="rId3"/>
          <a:stretch>
            <a:fillRect/>
          </a:stretch>
        </p:blipFill>
        <p:spPr>
          <a:xfrm>
            <a:off x="1600200" y="935573"/>
            <a:ext cx="2010056" cy="514422"/>
          </a:xfrm>
          <a:prstGeom prst="rect">
            <a:avLst/>
          </a:prstGeom>
        </p:spPr>
      </p:pic>
      <p:pic>
        <p:nvPicPr>
          <p:cNvPr id="10" name="Picture 9"/>
          <p:cNvPicPr>
            <a:picLocks noChangeAspect="1"/>
          </p:cNvPicPr>
          <p:nvPr/>
        </p:nvPicPr>
        <p:blipFill>
          <a:blip r:embed="rId4"/>
          <a:stretch>
            <a:fillRect/>
          </a:stretch>
        </p:blipFill>
        <p:spPr>
          <a:xfrm>
            <a:off x="1600200" y="1884224"/>
            <a:ext cx="2086266" cy="447737"/>
          </a:xfrm>
          <a:prstGeom prst="rect">
            <a:avLst/>
          </a:prstGeom>
        </p:spPr>
      </p:pic>
      <p:pic>
        <p:nvPicPr>
          <p:cNvPr id="11" name="Picture 10"/>
          <p:cNvPicPr>
            <a:picLocks noChangeAspect="1"/>
          </p:cNvPicPr>
          <p:nvPr/>
        </p:nvPicPr>
        <p:blipFill>
          <a:blip r:embed="rId5"/>
          <a:stretch>
            <a:fillRect/>
          </a:stretch>
        </p:blipFill>
        <p:spPr>
          <a:xfrm>
            <a:off x="1756325" y="3996662"/>
            <a:ext cx="1933845" cy="419158"/>
          </a:xfrm>
          <a:prstGeom prst="rect">
            <a:avLst/>
          </a:prstGeom>
        </p:spPr>
      </p:pic>
      <p:pic>
        <p:nvPicPr>
          <p:cNvPr id="13" name="Picture 12"/>
          <p:cNvPicPr>
            <a:picLocks noChangeAspect="1"/>
          </p:cNvPicPr>
          <p:nvPr/>
        </p:nvPicPr>
        <p:blipFill>
          <a:blip r:embed="rId6"/>
          <a:stretch>
            <a:fillRect/>
          </a:stretch>
        </p:blipFill>
        <p:spPr>
          <a:xfrm>
            <a:off x="1600200" y="4819241"/>
            <a:ext cx="2591162" cy="609685"/>
          </a:xfrm>
          <a:prstGeom prst="rect">
            <a:avLst/>
          </a:prstGeom>
        </p:spPr>
      </p:pic>
      <p:sp>
        <p:nvSpPr>
          <p:cNvPr id="15" name="TextBox 14"/>
          <p:cNvSpPr txBox="1"/>
          <p:nvPr/>
        </p:nvSpPr>
        <p:spPr>
          <a:xfrm>
            <a:off x="4115151" y="982498"/>
            <a:ext cx="1090363" cy="369332"/>
          </a:xfrm>
          <a:prstGeom prst="rect">
            <a:avLst/>
          </a:prstGeom>
          <a:noFill/>
        </p:spPr>
        <p:txBody>
          <a:bodyPr wrap="none" rtlCol="0">
            <a:spAutoFit/>
          </a:bodyPr>
          <a:lstStyle/>
          <a:p>
            <a:r>
              <a:rPr lang="en-US" dirty="0"/>
              <a:t>T(n)=O(n)</a:t>
            </a:r>
          </a:p>
        </p:txBody>
      </p:sp>
      <p:sp>
        <p:nvSpPr>
          <p:cNvPr id="16" name="TextBox 15"/>
          <p:cNvSpPr txBox="1"/>
          <p:nvPr/>
        </p:nvSpPr>
        <p:spPr>
          <a:xfrm>
            <a:off x="4115151" y="1884378"/>
            <a:ext cx="1090363" cy="369332"/>
          </a:xfrm>
          <a:prstGeom prst="rect">
            <a:avLst/>
          </a:prstGeom>
          <a:noFill/>
        </p:spPr>
        <p:txBody>
          <a:bodyPr wrap="none" rtlCol="0">
            <a:spAutoFit/>
          </a:bodyPr>
          <a:lstStyle/>
          <a:p>
            <a:r>
              <a:rPr lang="en-US" dirty="0"/>
              <a:t>T(n)=O(n)</a:t>
            </a:r>
          </a:p>
        </p:txBody>
      </p:sp>
      <p:sp>
        <p:nvSpPr>
          <p:cNvPr id="17" name="TextBox 16"/>
          <p:cNvSpPr txBox="1"/>
          <p:nvPr/>
        </p:nvSpPr>
        <p:spPr>
          <a:xfrm>
            <a:off x="4142402" y="3835984"/>
            <a:ext cx="1505540" cy="369332"/>
          </a:xfrm>
          <a:prstGeom prst="rect">
            <a:avLst/>
          </a:prstGeom>
          <a:noFill/>
        </p:spPr>
        <p:txBody>
          <a:bodyPr wrap="none" rtlCol="0">
            <a:spAutoFit/>
          </a:bodyPr>
          <a:lstStyle/>
          <a:p>
            <a:r>
              <a:rPr lang="en-US" dirty="0"/>
              <a:t>T(n) =O(log</a:t>
            </a:r>
            <a:r>
              <a:rPr lang="en-US" baseline="-25000" dirty="0"/>
              <a:t>2</a:t>
            </a:r>
            <a:r>
              <a:rPr lang="en-US" dirty="0"/>
              <a:t>n)</a:t>
            </a:r>
          </a:p>
        </p:txBody>
      </p:sp>
      <p:sp>
        <p:nvSpPr>
          <p:cNvPr id="18" name="TextBox 17"/>
          <p:cNvSpPr txBox="1"/>
          <p:nvPr/>
        </p:nvSpPr>
        <p:spPr>
          <a:xfrm>
            <a:off x="4181837" y="4876800"/>
            <a:ext cx="1659429" cy="369332"/>
          </a:xfrm>
          <a:prstGeom prst="rect">
            <a:avLst/>
          </a:prstGeom>
          <a:noFill/>
        </p:spPr>
        <p:txBody>
          <a:bodyPr wrap="none" rtlCol="0">
            <a:spAutoFit/>
          </a:bodyPr>
          <a:lstStyle/>
          <a:p>
            <a:r>
              <a:rPr lang="en-US" dirty="0"/>
              <a:t>T(n) = O(</a:t>
            </a:r>
            <a:r>
              <a:rPr lang="en-US" dirty="0" err="1"/>
              <a:t>n.logn</a:t>
            </a:r>
            <a:r>
              <a:rPr lang="en-US" dirty="0"/>
              <a:t>)</a:t>
            </a:r>
          </a:p>
        </p:txBody>
      </p:sp>
      <p:pic>
        <p:nvPicPr>
          <p:cNvPr id="19" name="Picture 18"/>
          <p:cNvPicPr>
            <a:picLocks noChangeAspect="1"/>
          </p:cNvPicPr>
          <p:nvPr/>
        </p:nvPicPr>
        <p:blipFill>
          <a:blip r:embed="rId7"/>
          <a:stretch>
            <a:fillRect/>
          </a:stretch>
        </p:blipFill>
        <p:spPr>
          <a:xfrm>
            <a:off x="1600200" y="2754406"/>
            <a:ext cx="2514951" cy="647790"/>
          </a:xfrm>
          <a:prstGeom prst="rect">
            <a:avLst/>
          </a:prstGeom>
        </p:spPr>
      </p:pic>
      <p:sp>
        <p:nvSpPr>
          <p:cNvPr id="20" name="TextBox 19"/>
          <p:cNvSpPr txBox="1"/>
          <p:nvPr/>
        </p:nvSpPr>
        <p:spPr>
          <a:xfrm>
            <a:off x="4142402" y="2882429"/>
            <a:ext cx="1168910" cy="369332"/>
          </a:xfrm>
          <a:prstGeom prst="rect">
            <a:avLst/>
          </a:prstGeom>
          <a:noFill/>
        </p:spPr>
        <p:txBody>
          <a:bodyPr wrap="none" rtlCol="0">
            <a:spAutoFit/>
          </a:bodyPr>
          <a:lstStyle/>
          <a:p>
            <a:r>
              <a:rPr lang="en-US" dirty="0"/>
              <a:t>T(n)=O(n</a:t>
            </a:r>
            <a:r>
              <a:rPr lang="en-US" baseline="30000" dirty="0"/>
              <a:t>2</a:t>
            </a:r>
            <a:r>
              <a:rPr lang="en-US" dirty="0"/>
              <a:t>)</a:t>
            </a:r>
          </a:p>
        </p:txBody>
      </p:sp>
    </p:spTree>
    <p:extLst>
      <p:ext uri="{BB962C8B-B14F-4D97-AF65-F5344CB8AC3E}">
        <p14:creationId xmlns:p14="http://schemas.microsoft.com/office/powerpoint/2010/main" val="21380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2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30</a:t>
            </a:fld>
            <a:endParaRPr lang="en-US"/>
          </a:p>
        </p:txBody>
      </p:sp>
      <p:sp>
        <p:nvSpPr>
          <p:cNvPr id="2" name="Title 1"/>
          <p:cNvSpPr>
            <a:spLocks noGrp="1"/>
          </p:cNvSpPr>
          <p:nvPr>
            <p:ph type="title"/>
          </p:nvPr>
        </p:nvSpPr>
        <p:spPr/>
        <p:txBody>
          <a:bodyPr/>
          <a:lstStyle/>
          <a:p>
            <a:r>
              <a:rPr lang="en-US" dirty="0" err="1"/>
              <a:t>Cách</a:t>
            </a:r>
            <a:r>
              <a:rPr lang="en-US" dirty="0"/>
              <a:t> </a:t>
            </a:r>
            <a:r>
              <a:rPr lang="en-US" dirty="0" err="1"/>
              <a:t>tính</a:t>
            </a:r>
            <a:r>
              <a:rPr lang="en-US" dirty="0"/>
              <a:t> </a:t>
            </a:r>
            <a:r>
              <a:rPr lang="en-US" dirty="0" err="1"/>
              <a:t>độ</a:t>
            </a:r>
            <a:r>
              <a:rPr lang="en-US" dirty="0"/>
              <a:t> </a:t>
            </a:r>
            <a:r>
              <a:rPr lang="en-US" dirty="0" err="1"/>
              <a:t>phức</a:t>
            </a:r>
            <a:r>
              <a:rPr lang="en-US" dirty="0"/>
              <a:t> </a:t>
            </a:r>
            <a:r>
              <a:rPr lang="en-US" dirty="0" err="1"/>
              <a:t>tạp</a:t>
            </a:r>
            <a:endParaRPr lang="en-US" dirty="0"/>
          </a:p>
        </p:txBody>
      </p:sp>
      <p:sp>
        <p:nvSpPr>
          <p:cNvPr id="3" name="Content Placeholder 2"/>
          <p:cNvSpPr>
            <a:spLocks noGrp="1"/>
          </p:cNvSpPr>
          <p:nvPr>
            <p:ph type="body" sz="quarter" idx="13"/>
          </p:nvPr>
        </p:nvSpPr>
        <p:spPr/>
        <p:txBody>
          <a:bodyPr>
            <a:normAutofit/>
          </a:bodyPr>
          <a:lstStyle/>
          <a:p>
            <a:r>
              <a:rPr lang="vi-VN" sz="2400" dirty="0"/>
              <a:t>Xác định đầu vào: thường ký hiệu là </a:t>
            </a:r>
            <a:r>
              <a:rPr lang="vi-VN" sz="2400" i="1" dirty="0"/>
              <a:t>n</a:t>
            </a:r>
            <a:endParaRPr lang="en-US" sz="2400" i="1" dirty="0"/>
          </a:p>
          <a:p>
            <a:r>
              <a:rPr lang="vi-VN" sz="2400" dirty="0"/>
              <a:t>Cách 1: dùng cho tất cả các loại chương trình</a:t>
            </a:r>
            <a:endParaRPr lang="en-US" sz="2400" dirty="0"/>
          </a:p>
          <a:p>
            <a:pPr lvl="1"/>
            <a:r>
              <a:rPr lang="vi-VN" sz="2000" dirty="0"/>
              <a:t>Tính thời gian thực hiện T(n) cho toàn bộ chương</a:t>
            </a:r>
            <a:r>
              <a:rPr lang="en-US" sz="2000" dirty="0"/>
              <a:t> </a:t>
            </a:r>
            <a:r>
              <a:rPr lang="vi-VN" sz="2000" dirty="0"/>
              <a:t>trình</a:t>
            </a:r>
            <a:endParaRPr lang="en-US" sz="2000" dirty="0"/>
          </a:p>
          <a:p>
            <a:pPr lvl="1"/>
            <a:r>
              <a:rPr lang="en-US" sz="2000" dirty="0" err="1"/>
              <a:t>Xác</a:t>
            </a:r>
            <a:r>
              <a:rPr lang="en-US" sz="2000" dirty="0"/>
              <a:t> </a:t>
            </a:r>
            <a:r>
              <a:rPr lang="en-US" sz="2000" dirty="0" err="1"/>
              <a:t>định</a:t>
            </a:r>
            <a:r>
              <a:rPr lang="vi-VN" sz="2000" dirty="0"/>
              <a:t> O(f(n)) từ T(n)</a:t>
            </a:r>
            <a:endParaRPr lang="en-US" sz="2000" dirty="0"/>
          </a:p>
          <a:p>
            <a:r>
              <a:rPr lang="vi-VN" sz="2400" dirty="0"/>
              <a:t>Cách 2: không áp dụng cho chương trình đệ quy</a:t>
            </a:r>
            <a:endParaRPr lang="en-US" sz="2400" dirty="0"/>
          </a:p>
          <a:p>
            <a:pPr lvl="1"/>
            <a:r>
              <a:rPr lang="vi-VN" sz="2000" dirty="0"/>
              <a:t>Chia chương trình nhiều đoạn nhỏ</a:t>
            </a:r>
            <a:endParaRPr lang="en-US" sz="2000" dirty="0"/>
          </a:p>
          <a:p>
            <a:pPr lvl="1"/>
            <a:r>
              <a:rPr lang="vi-VN" sz="2000" dirty="0"/>
              <a:t>Tính T(n) và O(f(n)) cho từng đoạn</a:t>
            </a:r>
            <a:endParaRPr lang="en-US" sz="2000" dirty="0"/>
          </a:p>
          <a:p>
            <a:pPr lvl="1"/>
            <a:r>
              <a:rPr lang="vi-VN" sz="2000" dirty="0"/>
              <a:t>Áp dụng quy tắc cộng, quy tắc nhân để có O(f(n))</a:t>
            </a:r>
            <a:r>
              <a:rPr lang="en-US" sz="2000" dirty="0"/>
              <a:t> </a:t>
            </a:r>
            <a:r>
              <a:rPr lang="vi-VN" sz="2000" dirty="0"/>
              <a:t>cho cả chương trình</a:t>
            </a:r>
            <a:endParaRPr lang="en-US" sz="2000" dirty="0"/>
          </a:p>
        </p:txBody>
      </p:sp>
    </p:spTree>
    <p:extLst>
      <p:ext uri="{BB962C8B-B14F-4D97-AF65-F5344CB8AC3E}">
        <p14:creationId xmlns:p14="http://schemas.microsoft.com/office/powerpoint/2010/main" val="2386588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31</a:t>
            </a:fld>
            <a:endParaRPr lang="en-US"/>
          </a:p>
        </p:txBody>
      </p:sp>
      <p:sp>
        <p:nvSpPr>
          <p:cNvPr id="4" name="Title 3"/>
          <p:cNvSpPr>
            <a:spLocks noGrp="1"/>
          </p:cNvSpPr>
          <p:nvPr>
            <p:ph type="title"/>
          </p:nvPr>
        </p:nvSpPr>
        <p:spPr/>
        <p:txBody>
          <a:bodyPr>
            <a:normAutofit fontScale="90000"/>
          </a:bodyPr>
          <a:lstStyle/>
          <a:p>
            <a:r>
              <a:rPr lang="en-US" u="sng" dirty="0"/>
              <a:t>VÍ DỤ: </a:t>
            </a:r>
            <a:br>
              <a:rPr lang="en-US" u="sng" dirty="0"/>
            </a:br>
            <a:r>
              <a:rPr lang="en-US" dirty="0" err="1"/>
              <a:t>Xác</a:t>
            </a:r>
            <a:r>
              <a:rPr lang="en-US" dirty="0"/>
              <a:t> </a:t>
            </a:r>
            <a:r>
              <a:rPr lang="en-US" dirty="0" err="1"/>
              <a:t>định</a:t>
            </a:r>
            <a:r>
              <a:rPr lang="en-US" dirty="0"/>
              <a:t> </a:t>
            </a:r>
            <a:r>
              <a:rPr lang="en-US" dirty="0" err="1"/>
              <a:t>độ</a:t>
            </a:r>
            <a:r>
              <a:rPr lang="en-US" dirty="0"/>
              <a:t> </a:t>
            </a:r>
            <a:r>
              <a:rPr lang="en-US" dirty="0" err="1"/>
              <a:t>phức</a:t>
            </a:r>
            <a:r>
              <a:rPr lang="en-US" dirty="0"/>
              <a:t> </a:t>
            </a:r>
            <a:r>
              <a:rPr lang="en-US" dirty="0" err="1"/>
              <a:t>tạp</a:t>
            </a:r>
            <a:r>
              <a:rPr lang="en-US" dirty="0"/>
              <a:t> </a:t>
            </a:r>
            <a:r>
              <a:rPr lang="en-US" dirty="0" err="1"/>
              <a:t>của</a:t>
            </a:r>
            <a:r>
              <a:rPr lang="en-US" dirty="0"/>
              <a:t> </a:t>
            </a:r>
            <a:r>
              <a:rPr lang="en-US" dirty="0" err="1"/>
              <a:t>giải</a:t>
            </a:r>
            <a:r>
              <a:rPr lang="en-US" dirty="0"/>
              <a:t> </a:t>
            </a:r>
            <a:r>
              <a:rPr lang="en-US" dirty="0" err="1"/>
              <a:t>thuật</a:t>
            </a:r>
            <a:r>
              <a:rPr lang="en-US" dirty="0"/>
              <a:t> </a:t>
            </a:r>
            <a:r>
              <a:rPr lang="en-US" dirty="0" err="1"/>
              <a:t>tìm</a:t>
            </a:r>
            <a:r>
              <a:rPr lang="en-US" dirty="0"/>
              <a:t> </a:t>
            </a:r>
            <a:r>
              <a:rPr lang="en-US" dirty="0" err="1"/>
              <a:t>kiếm</a:t>
            </a:r>
            <a:r>
              <a:rPr lang="en-US" dirty="0"/>
              <a:t> </a:t>
            </a:r>
            <a:r>
              <a:rPr lang="en-US" dirty="0" err="1"/>
              <a:t>đơn</a:t>
            </a:r>
            <a:r>
              <a:rPr lang="en-US" dirty="0"/>
              <a:t> </a:t>
            </a:r>
            <a:r>
              <a:rPr lang="en-US" dirty="0" err="1"/>
              <a:t>giản</a:t>
            </a:r>
            <a:endParaRPr lang="en-US" dirty="0"/>
          </a:p>
        </p:txBody>
      </p:sp>
      <p:sp>
        <p:nvSpPr>
          <p:cNvPr id="5" name="Text Placeholder 4"/>
          <p:cNvSpPr>
            <a:spLocks noGrp="1"/>
          </p:cNvSpPr>
          <p:nvPr>
            <p:ph type="body" sz="quarter" idx="13"/>
          </p:nvPr>
        </p:nvSpPr>
        <p:spPr/>
        <p:txBody>
          <a:bodyPr/>
          <a:lstStyle/>
          <a:p>
            <a:r>
              <a:rPr lang="en-US" dirty="0" err="1"/>
              <a:t>Bài</a:t>
            </a:r>
            <a:r>
              <a:rPr lang="en-US" dirty="0"/>
              <a:t> </a:t>
            </a:r>
            <a:r>
              <a:rPr lang="en-US" dirty="0" err="1"/>
              <a:t>toán</a:t>
            </a:r>
            <a:r>
              <a:rPr lang="en-US" dirty="0"/>
              <a:t>: Cho </a:t>
            </a:r>
            <a:r>
              <a:rPr lang="en-US" dirty="0" err="1"/>
              <a:t>mảng</a:t>
            </a:r>
            <a:r>
              <a:rPr lang="en-US" dirty="0"/>
              <a:t> </a:t>
            </a:r>
            <a:r>
              <a:rPr lang="en-US" i="1" dirty="0"/>
              <a:t>A</a:t>
            </a:r>
            <a:r>
              <a:rPr lang="en-US" dirty="0"/>
              <a:t> </a:t>
            </a:r>
            <a:r>
              <a:rPr lang="en-US" dirty="0" err="1"/>
              <a:t>gồm</a:t>
            </a:r>
            <a:r>
              <a:rPr lang="en-US" dirty="0"/>
              <a:t> </a:t>
            </a:r>
            <a:r>
              <a:rPr lang="en-US" i="1" dirty="0"/>
              <a:t>n</a:t>
            </a:r>
            <a:r>
              <a:rPr lang="en-US" dirty="0"/>
              <a:t> </a:t>
            </a:r>
            <a:r>
              <a:rPr lang="en-US" dirty="0" err="1"/>
              <a:t>phần</a:t>
            </a:r>
            <a:r>
              <a:rPr lang="en-US" dirty="0"/>
              <a:t> </a:t>
            </a:r>
            <a:r>
              <a:rPr lang="en-US" dirty="0" err="1"/>
              <a:t>tử</a:t>
            </a:r>
            <a:r>
              <a:rPr lang="en-US" dirty="0"/>
              <a:t> </a:t>
            </a:r>
            <a:r>
              <a:rPr lang="en-US" dirty="0" err="1"/>
              <a:t>số</a:t>
            </a:r>
            <a:r>
              <a:rPr lang="en-US" dirty="0"/>
              <a:t> </a:t>
            </a:r>
            <a:r>
              <a:rPr lang="en-US" dirty="0" err="1"/>
              <a:t>nguyên</a:t>
            </a:r>
            <a:r>
              <a:rPr lang="en-US" dirty="0"/>
              <a:t>, 1 </a:t>
            </a:r>
            <a:r>
              <a:rPr lang="en-US" dirty="0" err="1"/>
              <a:t>giá</a:t>
            </a:r>
            <a:r>
              <a:rPr lang="en-US" dirty="0"/>
              <a:t> </a:t>
            </a:r>
            <a:r>
              <a:rPr lang="en-US" dirty="0" err="1"/>
              <a:t>trị</a:t>
            </a:r>
            <a:r>
              <a:rPr lang="en-US" dirty="0"/>
              <a:t> </a:t>
            </a:r>
            <a:r>
              <a:rPr lang="en-US" dirty="0" err="1"/>
              <a:t>nguyên</a:t>
            </a:r>
            <a:r>
              <a:rPr lang="en-US" dirty="0"/>
              <a:t> </a:t>
            </a:r>
            <a:r>
              <a:rPr lang="en-US" i="1" dirty="0"/>
              <a:t>t</a:t>
            </a:r>
            <a:r>
              <a:rPr lang="en-US" dirty="0"/>
              <a:t>. </a:t>
            </a:r>
            <a:r>
              <a:rPr lang="en-US" dirty="0" err="1"/>
              <a:t>Kiểm</a:t>
            </a:r>
            <a:r>
              <a:rPr lang="en-US" dirty="0"/>
              <a:t> </a:t>
            </a:r>
            <a:r>
              <a:rPr lang="en-US" dirty="0" err="1"/>
              <a:t>tra</a:t>
            </a:r>
            <a:r>
              <a:rPr lang="en-US" dirty="0"/>
              <a:t> </a:t>
            </a:r>
            <a:r>
              <a:rPr lang="en-US" dirty="0" err="1"/>
              <a:t>xem</a:t>
            </a:r>
            <a:r>
              <a:rPr lang="en-US" dirty="0"/>
              <a:t> </a:t>
            </a:r>
            <a:r>
              <a:rPr lang="en-US" dirty="0" err="1"/>
              <a:t>mảng</a:t>
            </a:r>
            <a:r>
              <a:rPr lang="en-US" dirty="0"/>
              <a:t> </a:t>
            </a:r>
            <a:r>
              <a:rPr lang="en-US" i="1" dirty="0"/>
              <a:t>A</a:t>
            </a:r>
            <a:r>
              <a:rPr lang="en-US" dirty="0"/>
              <a:t> </a:t>
            </a:r>
            <a:r>
              <a:rPr lang="en-US" dirty="0" err="1"/>
              <a:t>có</a:t>
            </a:r>
            <a:r>
              <a:rPr lang="en-US" dirty="0"/>
              <a:t> </a:t>
            </a:r>
            <a:r>
              <a:rPr lang="en-US" dirty="0" err="1"/>
              <a:t>chứa</a:t>
            </a:r>
            <a:r>
              <a:rPr lang="en-US" dirty="0"/>
              <a:t> </a:t>
            </a:r>
            <a:r>
              <a:rPr lang="en-US" dirty="0" err="1"/>
              <a:t>giá</a:t>
            </a:r>
            <a:r>
              <a:rPr lang="en-US" dirty="0"/>
              <a:t> </a:t>
            </a:r>
            <a:r>
              <a:rPr lang="en-US" dirty="0" err="1"/>
              <a:t>trị</a:t>
            </a:r>
            <a:r>
              <a:rPr lang="en-US" dirty="0"/>
              <a:t> </a:t>
            </a:r>
            <a:r>
              <a:rPr lang="en-US" dirty="0" err="1"/>
              <a:t>nguyên</a:t>
            </a:r>
            <a:r>
              <a:rPr lang="en-US" dirty="0"/>
              <a:t> </a:t>
            </a:r>
            <a:r>
              <a:rPr lang="en-US" i="1" dirty="0"/>
              <a:t>t</a:t>
            </a:r>
            <a:r>
              <a:rPr lang="en-US" dirty="0"/>
              <a:t> </a:t>
            </a:r>
            <a:r>
              <a:rPr lang="en-US" dirty="0" err="1"/>
              <a:t>không</a:t>
            </a:r>
            <a:r>
              <a:rPr lang="en-US" dirty="0"/>
              <a:t> ?</a:t>
            </a:r>
          </a:p>
        </p:txBody>
      </p:sp>
      <p:pic>
        <p:nvPicPr>
          <p:cNvPr id="7" name="Picture 6"/>
          <p:cNvPicPr>
            <a:picLocks noChangeAspect="1"/>
          </p:cNvPicPr>
          <p:nvPr/>
        </p:nvPicPr>
        <p:blipFill>
          <a:blip r:embed="rId3"/>
          <a:stretch>
            <a:fillRect/>
          </a:stretch>
        </p:blipFill>
        <p:spPr>
          <a:xfrm>
            <a:off x="2743200" y="1981200"/>
            <a:ext cx="3105583" cy="1762371"/>
          </a:xfrm>
          <a:prstGeom prst="rect">
            <a:avLst/>
          </a:prstGeom>
        </p:spPr>
      </p:pic>
      <p:sp>
        <p:nvSpPr>
          <p:cNvPr id="8" name="Rectangle 7"/>
          <p:cNvSpPr/>
          <p:nvPr/>
        </p:nvSpPr>
        <p:spPr>
          <a:xfrm>
            <a:off x="2009991" y="4212830"/>
            <a:ext cx="4572000" cy="1477328"/>
          </a:xfrm>
          <a:prstGeom prst="rect">
            <a:avLst/>
          </a:prstGeom>
        </p:spPr>
        <p:txBody>
          <a:bodyPr>
            <a:spAutoFit/>
          </a:bodyPr>
          <a:lstStyle/>
          <a:p>
            <a:r>
              <a:rPr lang="en-US" dirty="0" err="1"/>
              <a:t>Thời</a:t>
            </a:r>
            <a:r>
              <a:rPr lang="en-US" dirty="0"/>
              <a:t> </a:t>
            </a:r>
            <a:r>
              <a:rPr lang="en-US" dirty="0" err="1"/>
              <a:t>gian</a:t>
            </a:r>
            <a:r>
              <a:rPr lang="en-US" dirty="0"/>
              <a:t> </a:t>
            </a:r>
            <a:r>
              <a:rPr lang="en-US" dirty="0" err="1"/>
              <a:t>thực</a:t>
            </a:r>
            <a:r>
              <a:rPr lang="en-US" dirty="0"/>
              <a:t> </a:t>
            </a:r>
            <a:r>
              <a:rPr lang="en-US" dirty="0" err="1"/>
              <a:t>hiện</a:t>
            </a:r>
            <a:r>
              <a:rPr lang="en-US" dirty="0"/>
              <a:t> ?</a:t>
            </a:r>
          </a:p>
          <a:p>
            <a:r>
              <a:rPr lang="en-US" dirty="0"/>
              <a:t>A) O(1)</a:t>
            </a:r>
          </a:p>
          <a:p>
            <a:r>
              <a:rPr lang="en-US" dirty="0"/>
              <a:t>B) O(log n)</a:t>
            </a:r>
          </a:p>
          <a:p>
            <a:r>
              <a:rPr lang="en-US" dirty="0"/>
              <a:t>C) O(n)</a:t>
            </a:r>
          </a:p>
          <a:p>
            <a:r>
              <a:rPr lang="en-US" dirty="0"/>
              <a:t>D) O(n</a:t>
            </a:r>
            <a:r>
              <a:rPr lang="en-US" baseline="30000" dirty="0"/>
              <a:t>2</a:t>
            </a:r>
            <a:r>
              <a:rPr lang="en-US" dirty="0"/>
              <a:t>)</a:t>
            </a:r>
          </a:p>
        </p:txBody>
      </p:sp>
      <p:sp>
        <p:nvSpPr>
          <p:cNvPr id="9" name="Rectangle 8"/>
          <p:cNvSpPr/>
          <p:nvPr/>
        </p:nvSpPr>
        <p:spPr>
          <a:xfrm>
            <a:off x="4515282" y="4495384"/>
            <a:ext cx="4247718" cy="923330"/>
          </a:xfrm>
          <a:prstGeom prst="rect">
            <a:avLst/>
          </a:prstGeom>
        </p:spPr>
        <p:txBody>
          <a:bodyPr wrap="square">
            <a:spAutoFit/>
          </a:bodyPr>
          <a:lstStyle/>
          <a:p>
            <a:pPr lvl="2"/>
            <a:r>
              <a:rPr lang="en-US" dirty="0" err="1"/>
              <a:t>THtn</a:t>
            </a:r>
            <a:r>
              <a:rPr lang="en-US" dirty="0"/>
              <a:t>: O(1)</a:t>
            </a:r>
          </a:p>
          <a:p>
            <a:pPr lvl="2"/>
            <a:r>
              <a:rPr lang="en-US" dirty="0" err="1"/>
              <a:t>THxn</a:t>
            </a:r>
            <a:r>
              <a:rPr lang="en-US" dirty="0"/>
              <a:t>: O(N)</a:t>
            </a:r>
          </a:p>
          <a:p>
            <a:pPr lvl="2"/>
            <a:r>
              <a:rPr lang="en-US" dirty="0"/>
              <a:t>=&gt; </a:t>
            </a:r>
            <a:r>
              <a:rPr lang="en-US" dirty="0" err="1"/>
              <a:t>THtb</a:t>
            </a:r>
            <a:r>
              <a:rPr lang="en-US" dirty="0"/>
              <a:t>: O(N)</a:t>
            </a:r>
          </a:p>
        </p:txBody>
      </p:sp>
    </p:spTree>
    <p:extLst>
      <p:ext uri="{BB962C8B-B14F-4D97-AF65-F5344CB8AC3E}">
        <p14:creationId xmlns:p14="http://schemas.microsoft.com/office/powerpoint/2010/main" val="3325446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32</a:t>
            </a:fld>
            <a:endParaRPr lang="en-US"/>
          </a:p>
        </p:txBody>
      </p:sp>
      <p:sp>
        <p:nvSpPr>
          <p:cNvPr id="4" name="Title 3"/>
          <p:cNvSpPr>
            <a:spLocks noGrp="1"/>
          </p:cNvSpPr>
          <p:nvPr>
            <p:ph type="title"/>
          </p:nvPr>
        </p:nvSpPr>
        <p:spPr/>
        <p:txBody>
          <a:bodyPr>
            <a:normAutofit fontScale="90000"/>
          </a:bodyPr>
          <a:lstStyle/>
          <a:p>
            <a:r>
              <a:rPr lang="en-US" u="sng" dirty="0"/>
              <a:t>VÍ DỤ: </a:t>
            </a:r>
            <a:br>
              <a:rPr lang="en-US" u="sng" dirty="0"/>
            </a:br>
            <a:r>
              <a:rPr lang="en-US" dirty="0" err="1"/>
              <a:t>Xác</a:t>
            </a:r>
            <a:r>
              <a:rPr lang="en-US" dirty="0"/>
              <a:t> </a:t>
            </a:r>
            <a:r>
              <a:rPr lang="en-US" dirty="0" err="1"/>
              <a:t>định</a:t>
            </a:r>
            <a:r>
              <a:rPr lang="en-US" dirty="0"/>
              <a:t> </a:t>
            </a:r>
            <a:r>
              <a:rPr lang="en-US" dirty="0" err="1"/>
              <a:t>độ</a:t>
            </a:r>
            <a:r>
              <a:rPr lang="en-US" dirty="0"/>
              <a:t> </a:t>
            </a:r>
            <a:r>
              <a:rPr lang="en-US" dirty="0" err="1"/>
              <a:t>phức</a:t>
            </a:r>
            <a:r>
              <a:rPr lang="en-US" dirty="0"/>
              <a:t> </a:t>
            </a:r>
            <a:r>
              <a:rPr lang="en-US" dirty="0" err="1"/>
              <a:t>tạp</a:t>
            </a:r>
            <a:r>
              <a:rPr lang="en-US" dirty="0"/>
              <a:t> </a:t>
            </a:r>
            <a:r>
              <a:rPr lang="en-US" dirty="0" err="1"/>
              <a:t>của</a:t>
            </a:r>
            <a:r>
              <a:rPr lang="en-US" dirty="0"/>
              <a:t> </a:t>
            </a:r>
            <a:r>
              <a:rPr lang="en-US" dirty="0" err="1"/>
              <a:t>giải</a:t>
            </a:r>
            <a:r>
              <a:rPr lang="en-US" dirty="0"/>
              <a:t> </a:t>
            </a:r>
            <a:r>
              <a:rPr lang="en-US" dirty="0" err="1"/>
              <a:t>thuật</a:t>
            </a:r>
            <a:r>
              <a:rPr lang="en-US" dirty="0"/>
              <a:t> </a:t>
            </a:r>
            <a:r>
              <a:rPr lang="en-US" dirty="0" err="1"/>
              <a:t>tìm</a:t>
            </a:r>
            <a:r>
              <a:rPr lang="en-US" dirty="0"/>
              <a:t> </a:t>
            </a:r>
            <a:r>
              <a:rPr lang="en-US" dirty="0" err="1"/>
              <a:t>kiếm</a:t>
            </a:r>
            <a:r>
              <a:rPr lang="en-US" dirty="0"/>
              <a:t> </a:t>
            </a:r>
            <a:r>
              <a:rPr lang="en-US" dirty="0" err="1"/>
              <a:t>đơn</a:t>
            </a:r>
            <a:r>
              <a:rPr lang="en-US" dirty="0"/>
              <a:t> </a:t>
            </a:r>
            <a:r>
              <a:rPr lang="en-US" dirty="0" err="1"/>
              <a:t>giản</a:t>
            </a:r>
            <a:endParaRPr lang="en-US" dirty="0"/>
          </a:p>
        </p:txBody>
      </p:sp>
      <p:sp>
        <p:nvSpPr>
          <p:cNvPr id="5" name="Text Placeholder 4"/>
          <p:cNvSpPr>
            <a:spLocks noGrp="1"/>
          </p:cNvSpPr>
          <p:nvPr>
            <p:ph type="body" sz="quarter" idx="13"/>
          </p:nvPr>
        </p:nvSpPr>
        <p:spPr/>
        <p:txBody>
          <a:bodyPr/>
          <a:lstStyle/>
          <a:p>
            <a:r>
              <a:rPr lang="en-US" dirty="0" err="1"/>
              <a:t>Bài</a:t>
            </a:r>
            <a:r>
              <a:rPr lang="en-US" dirty="0"/>
              <a:t> </a:t>
            </a:r>
            <a:r>
              <a:rPr lang="en-US" dirty="0" err="1"/>
              <a:t>toán</a:t>
            </a:r>
            <a:r>
              <a:rPr lang="en-US" dirty="0"/>
              <a:t>: Cho </a:t>
            </a:r>
            <a:r>
              <a:rPr lang="en-US" dirty="0" err="1"/>
              <a:t>mảng</a:t>
            </a:r>
            <a:r>
              <a:rPr lang="en-US" dirty="0"/>
              <a:t> </a:t>
            </a:r>
            <a:r>
              <a:rPr lang="en-US" i="1" dirty="0"/>
              <a:t>A, B</a:t>
            </a:r>
            <a:r>
              <a:rPr lang="en-US" dirty="0"/>
              <a:t> </a:t>
            </a:r>
            <a:r>
              <a:rPr lang="en-US" dirty="0" err="1"/>
              <a:t>gồm</a:t>
            </a:r>
            <a:r>
              <a:rPr lang="en-US" dirty="0"/>
              <a:t> </a:t>
            </a:r>
            <a:r>
              <a:rPr lang="en-US" i="1" dirty="0"/>
              <a:t>n</a:t>
            </a:r>
            <a:r>
              <a:rPr lang="en-US" dirty="0"/>
              <a:t> </a:t>
            </a:r>
            <a:r>
              <a:rPr lang="en-US" dirty="0" err="1"/>
              <a:t>phần</a:t>
            </a:r>
            <a:r>
              <a:rPr lang="en-US" dirty="0"/>
              <a:t> </a:t>
            </a:r>
            <a:r>
              <a:rPr lang="en-US" dirty="0" err="1"/>
              <a:t>tử</a:t>
            </a:r>
            <a:r>
              <a:rPr lang="en-US" dirty="0"/>
              <a:t> </a:t>
            </a:r>
            <a:r>
              <a:rPr lang="en-US" dirty="0" err="1"/>
              <a:t>số</a:t>
            </a:r>
            <a:r>
              <a:rPr lang="en-US" dirty="0"/>
              <a:t> </a:t>
            </a:r>
            <a:r>
              <a:rPr lang="en-US" dirty="0" err="1"/>
              <a:t>nguyên</a:t>
            </a:r>
            <a:r>
              <a:rPr lang="en-US" dirty="0"/>
              <a:t>, 1 </a:t>
            </a:r>
            <a:r>
              <a:rPr lang="en-US" dirty="0" err="1"/>
              <a:t>giá</a:t>
            </a:r>
            <a:r>
              <a:rPr lang="en-US" dirty="0"/>
              <a:t> </a:t>
            </a:r>
            <a:r>
              <a:rPr lang="en-US" dirty="0" err="1"/>
              <a:t>trị</a:t>
            </a:r>
            <a:r>
              <a:rPr lang="en-US" dirty="0"/>
              <a:t> </a:t>
            </a:r>
            <a:r>
              <a:rPr lang="en-US" dirty="0" err="1"/>
              <a:t>nguyên</a:t>
            </a:r>
            <a:r>
              <a:rPr lang="en-US" dirty="0"/>
              <a:t> </a:t>
            </a:r>
            <a:r>
              <a:rPr lang="en-US" i="1" dirty="0"/>
              <a:t>t</a:t>
            </a:r>
            <a:r>
              <a:rPr lang="en-US" dirty="0"/>
              <a:t>. </a:t>
            </a:r>
            <a:r>
              <a:rPr lang="en-US" dirty="0" err="1"/>
              <a:t>Kiểm</a:t>
            </a:r>
            <a:r>
              <a:rPr lang="en-US" dirty="0"/>
              <a:t> </a:t>
            </a:r>
            <a:r>
              <a:rPr lang="en-US" dirty="0" err="1"/>
              <a:t>tra</a:t>
            </a:r>
            <a:r>
              <a:rPr lang="en-US" dirty="0"/>
              <a:t> </a:t>
            </a:r>
            <a:r>
              <a:rPr lang="en-US" dirty="0" err="1"/>
              <a:t>xem</a:t>
            </a:r>
            <a:r>
              <a:rPr lang="en-US" dirty="0"/>
              <a:t> </a:t>
            </a:r>
            <a:r>
              <a:rPr lang="en-US" dirty="0" err="1"/>
              <a:t>mảng</a:t>
            </a:r>
            <a:r>
              <a:rPr lang="en-US" dirty="0"/>
              <a:t> </a:t>
            </a:r>
            <a:r>
              <a:rPr lang="en-US" i="1" dirty="0"/>
              <a:t>A, B</a:t>
            </a:r>
            <a:r>
              <a:rPr lang="en-US" dirty="0"/>
              <a:t> </a:t>
            </a:r>
            <a:r>
              <a:rPr lang="en-US" dirty="0" err="1"/>
              <a:t>có</a:t>
            </a:r>
            <a:r>
              <a:rPr lang="en-US" dirty="0"/>
              <a:t> </a:t>
            </a:r>
            <a:r>
              <a:rPr lang="en-US" dirty="0" err="1"/>
              <a:t>chứa</a:t>
            </a:r>
            <a:r>
              <a:rPr lang="en-US" dirty="0"/>
              <a:t> </a:t>
            </a:r>
            <a:r>
              <a:rPr lang="en-US" dirty="0" err="1"/>
              <a:t>giá</a:t>
            </a:r>
            <a:r>
              <a:rPr lang="en-US" dirty="0"/>
              <a:t> </a:t>
            </a:r>
            <a:r>
              <a:rPr lang="en-US" dirty="0" err="1"/>
              <a:t>trị</a:t>
            </a:r>
            <a:r>
              <a:rPr lang="en-US" dirty="0"/>
              <a:t> </a:t>
            </a:r>
            <a:r>
              <a:rPr lang="en-US" dirty="0" err="1"/>
              <a:t>nguyên</a:t>
            </a:r>
            <a:r>
              <a:rPr lang="en-US" dirty="0"/>
              <a:t> </a:t>
            </a:r>
            <a:r>
              <a:rPr lang="en-US" i="1" dirty="0"/>
              <a:t>t</a:t>
            </a:r>
            <a:r>
              <a:rPr lang="en-US" dirty="0"/>
              <a:t> </a:t>
            </a:r>
            <a:r>
              <a:rPr lang="en-US" dirty="0" err="1"/>
              <a:t>không</a:t>
            </a:r>
            <a:r>
              <a:rPr lang="en-US" dirty="0"/>
              <a:t> ?</a:t>
            </a:r>
          </a:p>
        </p:txBody>
      </p:sp>
      <p:sp>
        <p:nvSpPr>
          <p:cNvPr id="8" name="Rectangle 7"/>
          <p:cNvSpPr/>
          <p:nvPr/>
        </p:nvSpPr>
        <p:spPr>
          <a:xfrm>
            <a:off x="1982411" y="4853302"/>
            <a:ext cx="4572000" cy="1477328"/>
          </a:xfrm>
          <a:prstGeom prst="rect">
            <a:avLst/>
          </a:prstGeom>
        </p:spPr>
        <p:txBody>
          <a:bodyPr>
            <a:spAutoFit/>
          </a:bodyPr>
          <a:lstStyle/>
          <a:p>
            <a:r>
              <a:rPr lang="en-US" dirty="0" err="1"/>
              <a:t>Thời</a:t>
            </a:r>
            <a:r>
              <a:rPr lang="en-US" dirty="0"/>
              <a:t> </a:t>
            </a:r>
            <a:r>
              <a:rPr lang="en-US" dirty="0" err="1"/>
              <a:t>gian</a:t>
            </a:r>
            <a:r>
              <a:rPr lang="en-US" dirty="0"/>
              <a:t> </a:t>
            </a:r>
            <a:r>
              <a:rPr lang="en-US" dirty="0" err="1"/>
              <a:t>thực</a:t>
            </a:r>
            <a:r>
              <a:rPr lang="en-US" dirty="0"/>
              <a:t> </a:t>
            </a:r>
            <a:r>
              <a:rPr lang="en-US" dirty="0" err="1"/>
              <a:t>hiện</a:t>
            </a:r>
            <a:r>
              <a:rPr lang="en-US" dirty="0"/>
              <a:t> ?</a:t>
            </a:r>
          </a:p>
          <a:p>
            <a:r>
              <a:rPr lang="en-US" dirty="0"/>
              <a:t>A) O(1)</a:t>
            </a:r>
          </a:p>
          <a:p>
            <a:r>
              <a:rPr lang="en-US" dirty="0"/>
              <a:t>B) O(log n)</a:t>
            </a:r>
          </a:p>
          <a:p>
            <a:r>
              <a:rPr lang="en-US" dirty="0"/>
              <a:t>C) O(n)</a:t>
            </a:r>
          </a:p>
          <a:p>
            <a:r>
              <a:rPr lang="en-US" dirty="0"/>
              <a:t>D) O(n</a:t>
            </a:r>
            <a:r>
              <a:rPr lang="en-US" baseline="30000" dirty="0"/>
              <a:t>2</a:t>
            </a:r>
            <a:r>
              <a:rPr lang="en-US" dirty="0"/>
              <a:t>)</a:t>
            </a:r>
          </a:p>
        </p:txBody>
      </p:sp>
      <p:sp>
        <p:nvSpPr>
          <p:cNvPr id="9" name="Rectangle 8"/>
          <p:cNvSpPr/>
          <p:nvPr/>
        </p:nvSpPr>
        <p:spPr>
          <a:xfrm>
            <a:off x="4505930" y="5062950"/>
            <a:ext cx="3418869" cy="923330"/>
          </a:xfrm>
          <a:prstGeom prst="rect">
            <a:avLst/>
          </a:prstGeom>
        </p:spPr>
        <p:txBody>
          <a:bodyPr wrap="square">
            <a:spAutoFit/>
          </a:bodyPr>
          <a:lstStyle/>
          <a:p>
            <a:pPr lvl="2"/>
            <a:r>
              <a:rPr lang="en-US" dirty="0" err="1"/>
              <a:t>THtn</a:t>
            </a:r>
            <a:r>
              <a:rPr lang="en-US" dirty="0"/>
              <a:t>: O(1)</a:t>
            </a:r>
          </a:p>
          <a:p>
            <a:pPr lvl="2"/>
            <a:r>
              <a:rPr lang="en-US" dirty="0" err="1"/>
              <a:t>THxn</a:t>
            </a:r>
            <a:r>
              <a:rPr lang="en-US" dirty="0"/>
              <a:t>: O(N)</a:t>
            </a:r>
          </a:p>
          <a:p>
            <a:pPr lvl="2"/>
            <a:r>
              <a:rPr lang="en-US" dirty="0"/>
              <a:t>=&gt; </a:t>
            </a:r>
            <a:r>
              <a:rPr lang="en-US" dirty="0" err="1"/>
              <a:t>THtb</a:t>
            </a:r>
            <a:r>
              <a:rPr lang="en-US" dirty="0"/>
              <a:t>: O(N)</a:t>
            </a:r>
          </a:p>
        </p:txBody>
      </p:sp>
      <p:pic>
        <p:nvPicPr>
          <p:cNvPr id="6" name="Picture 5"/>
          <p:cNvPicPr>
            <a:picLocks noChangeAspect="1"/>
          </p:cNvPicPr>
          <p:nvPr/>
        </p:nvPicPr>
        <p:blipFill>
          <a:blip r:embed="rId2"/>
          <a:stretch>
            <a:fillRect/>
          </a:stretch>
        </p:blipFill>
        <p:spPr>
          <a:xfrm>
            <a:off x="2529856" y="1742377"/>
            <a:ext cx="3477110" cy="2781688"/>
          </a:xfrm>
          <a:prstGeom prst="rect">
            <a:avLst/>
          </a:prstGeom>
        </p:spPr>
      </p:pic>
    </p:spTree>
    <p:extLst>
      <p:ext uri="{BB962C8B-B14F-4D97-AF65-F5344CB8AC3E}">
        <p14:creationId xmlns:p14="http://schemas.microsoft.com/office/powerpoint/2010/main" val="3814898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33</a:t>
            </a:fld>
            <a:endParaRPr lang="en-US"/>
          </a:p>
        </p:txBody>
      </p:sp>
      <p:sp>
        <p:nvSpPr>
          <p:cNvPr id="4" name="Title 3"/>
          <p:cNvSpPr>
            <a:spLocks noGrp="1"/>
          </p:cNvSpPr>
          <p:nvPr>
            <p:ph type="title"/>
          </p:nvPr>
        </p:nvSpPr>
        <p:spPr/>
        <p:txBody>
          <a:bodyPr>
            <a:normAutofit fontScale="90000"/>
          </a:bodyPr>
          <a:lstStyle/>
          <a:p>
            <a:r>
              <a:rPr lang="en-US" u="sng" dirty="0"/>
              <a:t>VÍ DỤ: </a:t>
            </a:r>
            <a:br>
              <a:rPr lang="en-US" u="sng" dirty="0"/>
            </a:br>
            <a:r>
              <a:rPr lang="en-US" dirty="0" err="1"/>
              <a:t>Xác</a:t>
            </a:r>
            <a:r>
              <a:rPr lang="en-US" dirty="0"/>
              <a:t> </a:t>
            </a:r>
            <a:r>
              <a:rPr lang="en-US" dirty="0" err="1"/>
              <a:t>định</a:t>
            </a:r>
            <a:r>
              <a:rPr lang="en-US" dirty="0"/>
              <a:t> </a:t>
            </a:r>
            <a:r>
              <a:rPr lang="en-US" dirty="0" err="1"/>
              <a:t>độ</a:t>
            </a:r>
            <a:r>
              <a:rPr lang="en-US" dirty="0"/>
              <a:t> </a:t>
            </a:r>
            <a:r>
              <a:rPr lang="en-US" dirty="0" err="1"/>
              <a:t>phức</a:t>
            </a:r>
            <a:r>
              <a:rPr lang="en-US" dirty="0"/>
              <a:t> </a:t>
            </a:r>
            <a:r>
              <a:rPr lang="en-US" dirty="0" err="1"/>
              <a:t>tạp</a:t>
            </a:r>
            <a:r>
              <a:rPr lang="en-US" dirty="0"/>
              <a:t> </a:t>
            </a:r>
            <a:r>
              <a:rPr lang="en-US" dirty="0" err="1"/>
              <a:t>của</a:t>
            </a:r>
            <a:r>
              <a:rPr lang="en-US" dirty="0"/>
              <a:t> </a:t>
            </a:r>
            <a:r>
              <a:rPr lang="en-US" dirty="0" err="1"/>
              <a:t>giải</a:t>
            </a:r>
            <a:r>
              <a:rPr lang="en-US" dirty="0"/>
              <a:t> </a:t>
            </a:r>
            <a:r>
              <a:rPr lang="en-US" dirty="0" err="1"/>
              <a:t>thuật</a:t>
            </a:r>
            <a:r>
              <a:rPr lang="en-US" dirty="0"/>
              <a:t> </a:t>
            </a:r>
            <a:r>
              <a:rPr lang="en-US" dirty="0" err="1"/>
              <a:t>tìm</a:t>
            </a:r>
            <a:r>
              <a:rPr lang="en-US" dirty="0"/>
              <a:t> </a:t>
            </a:r>
            <a:r>
              <a:rPr lang="en-US" dirty="0" err="1"/>
              <a:t>kiếm</a:t>
            </a:r>
            <a:r>
              <a:rPr lang="en-US" dirty="0"/>
              <a:t> </a:t>
            </a:r>
            <a:r>
              <a:rPr lang="en-US" dirty="0" err="1"/>
              <a:t>đơn</a:t>
            </a:r>
            <a:r>
              <a:rPr lang="en-US" dirty="0"/>
              <a:t> </a:t>
            </a:r>
            <a:r>
              <a:rPr lang="en-US" dirty="0" err="1"/>
              <a:t>giản</a:t>
            </a:r>
            <a:endParaRPr lang="en-US" dirty="0"/>
          </a:p>
        </p:txBody>
      </p:sp>
      <p:sp>
        <p:nvSpPr>
          <p:cNvPr id="5" name="Text Placeholder 4"/>
          <p:cNvSpPr>
            <a:spLocks noGrp="1"/>
          </p:cNvSpPr>
          <p:nvPr>
            <p:ph type="body" sz="quarter" idx="13"/>
          </p:nvPr>
        </p:nvSpPr>
        <p:spPr/>
        <p:txBody>
          <a:bodyPr/>
          <a:lstStyle/>
          <a:p>
            <a:r>
              <a:rPr lang="en-US" dirty="0" err="1"/>
              <a:t>Bài</a:t>
            </a:r>
            <a:r>
              <a:rPr lang="en-US" dirty="0"/>
              <a:t> </a:t>
            </a:r>
            <a:r>
              <a:rPr lang="en-US" dirty="0" err="1"/>
              <a:t>toán</a:t>
            </a:r>
            <a:r>
              <a:rPr lang="en-US" dirty="0"/>
              <a:t>: Cho </a:t>
            </a:r>
            <a:r>
              <a:rPr lang="en-US" dirty="0" err="1"/>
              <a:t>mảng</a:t>
            </a:r>
            <a:r>
              <a:rPr lang="en-US" dirty="0"/>
              <a:t> </a:t>
            </a:r>
            <a:r>
              <a:rPr lang="en-US" i="1" dirty="0"/>
              <a:t>A, B</a:t>
            </a:r>
            <a:r>
              <a:rPr lang="en-US" dirty="0"/>
              <a:t> </a:t>
            </a:r>
            <a:r>
              <a:rPr lang="en-US" dirty="0" err="1"/>
              <a:t>gồm</a:t>
            </a:r>
            <a:r>
              <a:rPr lang="en-US" dirty="0"/>
              <a:t> </a:t>
            </a:r>
            <a:r>
              <a:rPr lang="en-US" i="1" dirty="0"/>
              <a:t>n</a:t>
            </a:r>
            <a:r>
              <a:rPr lang="en-US" dirty="0"/>
              <a:t> </a:t>
            </a:r>
            <a:r>
              <a:rPr lang="en-US" dirty="0" err="1"/>
              <a:t>phần</a:t>
            </a:r>
            <a:r>
              <a:rPr lang="en-US" dirty="0"/>
              <a:t> </a:t>
            </a:r>
            <a:r>
              <a:rPr lang="en-US" dirty="0" err="1"/>
              <a:t>tử</a:t>
            </a:r>
            <a:r>
              <a:rPr lang="en-US" dirty="0"/>
              <a:t> </a:t>
            </a:r>
            <a:r>
              <a:rPr lang="en-US" dirty="0" err="1"/>
              <a:t>số</a:t>
            </a:r>
            <a:r>
              <a:rPr lang="en-US" dirty="0"/>
              <a:t> </a:t>
            </a:r>
            <a:r>
              <a:rPr lang="en-US" dirty="0" err="1"/>
              <a:t>nguyên</a:t>
            </a:r>
            <a:r>
              <a:rPr lang="en-US" dirty="0"/>
              <a:t>. </a:t>
            </a:r>
            <a:r>
              <a:rPr lang="en-US" dirty="0" err="1"/>
              <a:t>Kiểm</a:t>
            </a:r>
            <a:r>
              <a:rPr lang="en-US" dirty="0"/>
              <a:t> </a:t>
            </a:r>
            <a:r>
              <a:rPr lang="en-US" dirty="0" err="1"/>
              <a:t>tra</a:t>
            </a:r>
            <a:r>
              <a:rPr lang="en-US" dirty="0"/>
              <a:t> </a:t>
            </a:r>
            <a:r>
              <a:rPr lang="en-US" dirty="0" err="1"/>
              <a:t>xem</a:t>
            </a:r>
            <a:r>
              <a:rPr lang="en-US" dirty="0"/>
              <a:t> </a:t>
            </a:r>
            <a:r>
              <a:rPr lang="en-US" dirty="0" err="1"/>
              <a:t>mảng</a:t>
            </a:r>
            <a:r>
              <a:rPr lang="en-US" dirty="0"/>
              <a:t> </a:t>
            </a:r>
            <a:r>
              <a:rPr lang="en-US" i="1" dirty="0"/>
              <a:t>A, B</a:t>
            </a:r>
            <a:r>
              <a:rPr lang="en-US" dirty="0"/>
              <a:t> </a:t>
            </a:r>
            <a:r>
              <a:rPr lang="en-US" dirty="0" err="1"/>
              <a:t>có</a:t>
            </a:r>
            <a:r>
              <a:rPr lang="en-US" dirty="0"/>
              <a:t> </a:t>
            </a:r>
            <a:r>
              <a:rPr lang="en-US" dirty="0" err="1"/>
              <a:t>chứa</a:t>
            </a:r>
            <a:r>
              <a:rPr lang="en-US" dirty="0"/>
              <a:t> </a:t>
            </a:r>
            <a:r>
              <a:rPr lang="en-US" dirty="0" err="1"/>
              <a:t>giá</a:t>
            </a:r>
            <a:r>
              <a:rPr lang="en-US" dirty="0"/>
              <a:t> </a:t>
            </a:r>
            <a:r>
              <a:rPr lang="en-US" dirty="0" err="1"/>
              <a:t>trị</a:t>
            </a:r>
            <a:r>
              <a:rPr lang="en-US" dirty="0"/>
              <a:t> </a:t>
            </a:r>
            <a:r>
              <a:rPr lang="en-US" dirty="0" err="1"/>
              <a:t>nào</a:t>
            </a:r>
            <a:r>
              <a:rPr lang="en-US" dirty="0"/>
              <a:t> </a:t>
            </a:r>
            <a:r>
              <a:rPr lang="en-US" dirty="0" err="1"/>
              <a:t>chung</a:t>
            </a:r>
            <a:r>
              <a:rPr lang="en-US" dirty="0"/>
              <a:t> </a:t>
            </a:r>
            <a:r>
              <a:rPr lang="en-US" dirty="0" err="1"/>
              <a:t>không</a:t>
            </a:r>
            <a:r>
              <a:rPr lang="en-US" dirty="0"/>
              <a:t> ?</a:t>
            </a:r>
          </a:p>
        </p:txBody>
      </p:sp>
      <p:sp>
        <p:nvSpPr>
          <p:cNvPr id="8" name="Rectangle 7"/>
          <p:cNvSpPr/>
          <p:nvPr/>
        </p:nvSpPr>
        <p:spPr>
          <a:xfrm>
            <a:off x="1982411" y="4495800"/>
            <a:ext cx="4572000" cy="1477328"/>
          </a:xfrm>
          <a:prstGeom prst="rect">
            <a:avLst/>
          </a:prstGeom>
        </p:spPr>
        <p:txBody>
          <a:bodyPr>
            <a:spAutoFit/>
          </a:bodyPr>
          <a:lstStyle/>
          <a:p>
            <a:r>
              <a:rPr lang="en-US" dirty="0" err="1"/>
              <a:t>Thời</a:t>
            </a:r>
            <a:r>
              <a:rPr lang="en-US" dirty="0"/>
              <a:t> </a:t>
            </a:r>
            <a:r>
              <a:rPr lang="en-US" dirty="0" err="1"/>
              <a:t>gian</a:t>
            </a:r>
            <a:r>
              <a:rPr lang="en-US" dirty="0"/>
              <a:t> </a:t>
            </a:r>
            <a:r>
              <a:rPr lang="en-US" dirty="0" err="1"/>
              <a:t>thực</a:t>
            </a:r>
            <a:r>
              <a:rPr lang="en-US" dirty="0"/>
              <a:t> </a:t>
            </a:r>
            <a:r>
              <a:rPr lang="en-US" dirty="0" err="1"/>
              <a:t>hiện</a:t>
            </a:r>
            <a:r>
              <a:rPr lang="en-US" dirty="0"/>
              <a:t> ?</a:t>
            </a:r>
          </a:p>
          <a:p>
            <a:r>
              <a:rPr lang="en-US" dirty="0"/>
              <a:t>A) O(1)</a:t>
            </a:r>
          </a:p>
          <a:p>
            <a:r>
              <a:rPr lang="en-US" dirty="0"/>
              <a:t>B) O(log n)</a:t>
            </a:r>
          </a:p>
          <a:p>
            <a:r>
              <a:rPr lang="en-US" dirty="0"/>
              <a:t>C) O(n)</a:t>
            </a:r>
          </a:p>
          <a:p>
            <a:r>
              <a:rPr lang="en-US" dirty="0"/>
              <a:t>D) O(n</a:t>
            </a:r>
            <a:r>
              <a:rPr lang="en-US" baseline="30000" dirty="0"/>
              <a:t>2</a:t>
            </a:r>
            <a:r>
              <a:rPr lang="en-US" dirty="0"/>
              <a:t>)</a:t>
            </a:r>
          </a:p>
        </p:txBody>
      </p:sp>
      <p:sp>
        <p:nvSpPr>
          <p:cNvPr id="9" name="Rectangle 8"/>
          <p:cNvSpPr/>
          <p:nvPr/>
        </p:nvSpPr>
        <p:spPr>
          <a:xfrm>
            <a:off x="4505930" y="4705448"/>
            <a:ext cx="3418869" cy="923330"/>
          </a:xfrm>
          <a:prstGeom prst="rect">
            <a:avLst/>
          </a:prstGeom>
        </p:spPr>
        <p:txBody>
          <a:bodyPr wrap="square">
            <a:spAutoFit/>
          </a:bodyPr>
          <a:lstStyle/>
          <a:p>
            <a:pPr lvl="2"/>
            <a:r>
              <a:rPr lang="en-US" dirty="0" err="1"/>
              <a:t>THtn</a:t>
            </a:r>
            <a:r>
              <a:rPr lang="en-US" dirty="0"/>
              <a:t>: O(1)</a:t>
            </a:r>
          </a:p>
          <a:p>
            <a:pPr lvl="2"/>
            <a:r>
              <a:rPr lang="en-US" dirty="0" err="1"/>
              <a:t>THxn</a:t>
            </a:r>
            <a:r>
              <a:rPr lang="en-US" dirty="0"/>
              <a:t>: O(N</a:t>
            </a:r>
            <a:r>
              <a:rPr lang="en-US" baseline="30000" dirty="0"/>
              <a:t>2</a:t>
            </a:r>
            <a:r>
              <a:rPr lang="en-US" dirty="0"/>
              <a:t>)</a:t>
            </a:r>
          </a:p>
          <a:p>
            <a:pPr lvl="2"/>
            <a:r>
              <a:rPr lang="en-US" dirty="0"/>
              <a:t>=&gt; </a:t>
            </a:r>
            <a:r>
              <a:rPr lang="en-US" dirty="0" err="1"/>
              <a:t>THtb</a:t>
            </a:r>
            <a:r>
              <a:rPr lang="en-US" dirty="0"/>
              <a:t>: O(N</a:t>
            </a:r>
            <a:r>
              <a:rPr lang="en-US" baseline="30000" dirty="0"/>
              <a:t>2</a:t>
            </a:r>
            <a:r>
              <a:rPr lang="en-US" dirty="0"/>
              <a:t>)</a:t>
            </a:r>
          </a:p>
        </p:txBody>
      </p:sp>
      <p:pic>
        <p:nvPicPr>
          <p:cNvPr id="7" name="Picture 6"/>
          <p:cNvPicPr>
            <a:picLocks noChangeAspect="1"/>
          </p:cNvPicPr>
          <p:nvPr/>
        </p:nvPicPr>
        <p:blipFill>
          <a:blip r:embed="rId2"/>
          <a:stretch>
            <a:fillRect/>
          </a:stretch>
        </p:blipFill>
        <p:spPr>
          <a:xfrm>
            <a:off x="2576306" y="1846050"/>
            <a:ext cx="3639058" cy="2124371"/>
          </a:xfrm>
          <a:prstGeom prst="rect">
            <a:avLst/>
          </a:prstGeom>
        </p:spPr>
      </p:pic>
    </p:spTree>
    <p:extLst>
      <p:ext uri="{BB962C8B-B14F-4D97-AF65-F5344CB8AC3E}">
        <p14:creationId xmlns:p14="http://schemas.microsoft.com/office/powerpoint/2010/main" val="2438564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34</a:t>
            </a:fld>
            <a:endParaRPr lang="en-US" dirty="0"/>
          </a:p>
        </p:txBody>
      </p:sp>
      <p:sp>
        <p:nvSpPr>
          <p:cNvPr id="2" name="Title 1"/>
          <p:cNvSpPr>
            <a:spLocks noGrp="1"/>
          </p:cNvSpPr>
          <p:nvPr>
            <p:ph type="title"/>
          </p:nvPr>
        </p:nvSpPr>
        <p:spPr/>
        <p:txBody>
          <a:bodyPr>
            <a:normAutofit fontScale="90000"/>
          </a:bodyPr>
          <a:lstStyle/>
          <a:p>
            <a:r>
              <a:rPr lang="en-US" u="sng" dirty="0"/>
              <a:t>VÍ DỤ: </a:t>
            </a:r>
            <a:br>
              <a:rPr lang="en-US" u="sng" dirty="0"/>
            </a:br>
            <a:r>
              <a:rPr lang="en-US" dirty="0" err="1"/>
              <a:t>Xác</a:t>
            </a:r>
            <a:r>
              <a:rPr lang="en-US" dirty="0"/>
              <a:t> </a:t>
            </a:r>
            <a:r>
              <a:rPr lang="en-US" dirty="0" err="1"/>
              <a:t>định</a:t>
            </a:r>
            <a:r>
              <a:rPr lang="en-US" dirty="0"/>
              <a:t> </a:t>
            </a:r>
            <a:r>
              <a:rPr lang="en-US" dirty="0" err="1"/>
              <a:t>độ</a:t>
            </a:r>
            <a:r>
              <a:rPr lang="en-US" dirty="0"/>
              <a:t> </a:t>
            </a:r>
            <a:r>
              <a:rPr lang="en-US" dirty="0" err="1"/>
              <a:t>phức</a:t>
            </a:r>
            <a:r>
              <a:rPr lang="en-US" dirty="0"/>
              <a:t> </a:t>
            </a:r>
            <a:r>
              <a:rPr lang="en-US" dirty="0" err="1"/>
              <a:t>tạp</a:t>
            </a:r>
            <a:r>
              <a:rPr lang="en-US" dirty="0"/>
              <a:t> </a:t>
            </a:r>
            <a:r>
              <a:rPr lang="en-US" dirty="0" err="1"/>
              <a:t>của</a:t>
            </a:r>
            <a:r>
              <a:rPr lang="en-US" dirty="0"/>
              <a:t> </a:t>
            </a:r>
            <a:r>
              <a:rPr lang="en-US" dirty="0" err="1"/>
              <a:t>giải</a:t>
            </a:r>
            <a:r>
              <a:rPr lang="en-US" dirty="0"/>
              <a:t> </a:t>
            </a:r>
            <a:r>
              <a:rPr lang="en-US" dirty="0" err="1"/>
              <a:t>thuật</a:t>
            </a:r>
            <a:r>
              <a:rPr lang="en-US" dirty="0"/>
              <a:t> </a:t>
            </a:r>
            <a:r>
              <a:rPr lang="en-US" dirty="0" err="1"/>
              <a:t>sắp</a:t>
            </a:r>
            <a:r>
              <a:rPr lang="en-US" dirty="0"/>
              <a:t> </a:t>
            </a:r>
            <a:r>
              <a:rPr lang="en-US" dirty="0" err="1"/>
              <a:t>xếp</a:t>
            </a:r>
            <a:endParaRPr lang="en-US" dirty="0"/>
          </a:p>
        </p:txBody>
      </p:sp>
      <p:sp>
        <p:nvSpPr>
          <p:cNvPr id="3" name="Content Placeholder 2"/>
          <p:cNvSpPr>
            <a:spLocks noGrp="1"/>
          </p:cNvSpPr>
          <p:nvPr>
            <p:ph type="body" sz="quarter" idx="13"/>
          </p:nvPr>
        </p:nvSpPr>
        <p:spPr>
          <a:xfrm>
            <a:off x="3229405" y="1143000"/>
            <a:ext cx="5926756" cy="5429128"/>
          </a:xfrm>
        </p:spPr>
        <p:txBody>
          <a:bodyPr>
            <a:normAutofit/>
          </a:bodyPr>
          <a:lstStyle/>
          <a:p>
            <a:r>
              <a:rPr lang="en-US" sz="2000" dirty="0"/>
              <a:t>C</a:t>
            </a:r>
            <a:r>
              <a:rPr lang="vi-VN" sz="2000" dirty="0"/>
              <a:t>oi như thời gian thực hiện mỗi lệnh đơn là như nhau</a:t>
            </a:r>
            <a:endParaRPr lang="en-US" sz="2000" dirty="0"/>
          </a:p>
          <a:p>
            <a:endParaRPr lang="en-US" dirty="0"/>
          </a:p>
          <a:p>
            <a:endParaRPr lang="en-US" sz="2000" dirty="0"/>
          </a:p>
          <a:p>
            <a:endParaRPr lang="en-US" sz="2000" dirty="0"/>
          </a:p>
          <a:p>
            <a:r>
              <a:rPr lang="en-US" sz="2000" dirty="0" err="1"/>
              <a:t>Dòng</a:t>
            </a:r>
            <a:r>
              <a:rPr lang="en-US" sz="2000" dirty="0"/>
              <a:t> 13-22:</a:t>
            </a:r>
          </a:p>
          <a:p>
            <a:pPr lvl="1"/>
            <a:r>
              <a:rPr lang="en-US" sz="1700" dirty="0" err="1"/>
              <a:t>Lệnh</a:t>
            </a:r>
            <a:r>
              <a:rPr lang="en-US" sz="1700" dirty="0"/>
              <a:t> </a:t>
            </a:r>
            <a:r>
              <a:rPr lang="en-US" sz="1700" i="1" dirty="0"/>
              <a:t>17-18</a:t>
            </a:r>
          </a:p>
          <a:p>
            <a:pPr lvl="1"/>
            <a:endParaRPr lang="en-US" sz="1700" dirty="0"/>
          </a:p>
          <a:p>
            <a:pPr lvl="1"/>
            <a:endParaRPr lang="en-US" sz="1700" dirty="0"/>
          </a:p>
          <a:p>
            <a:pPr lvl="1"/>
            <a:endParaRPr lang="en-US" sz="1700" dirty="0"/>
          </a:p>
          <a:p>
            <a:pPr lvl="1"/>
            <a:endParaRPr lang="en-US" sz="1700" dirty="0"/>
          </a:p>
          <a:p>
            <a:pPr lvl="1"/>
            <a:endParaRPr lang="en-US" sz="1700" dirty="0"/>
          </a:p>
          <a:p>
            <a:pPr lvl="1"/>
            <a:endParaRPr lang="en-US" sz="1700" dirty="0"/>
          </a:p>
          <a:p>
            <a:pPr lvl="1"/>
            <a:endParaRPr lang="en-US" sz="1700" dirty="0"/>
          </a:p>
          <a:p>
            <a:pPr lvl="1"/>
            <a:r>
              <a:rPr lang="en-US" sz="1700" dirty="0" err="1"/>
              <a:t>Đoạn</a:t>
            </a:r>
            <a:r>
              <a:rPr lang="en-US" sz="1700" dirty="0"/>
              <a:t> </a:t>
            </a:r>
            <a:r>
              <a:rPr lang="en-US" sz="1700" dirty="0" err="1"/>
              <a:t>lệnh</a:t>
            </a:r>
            <a:r>
              <a:rPr lang="en-US" sz="1700" dirty="0"/>
              <a:t> 13-22</a:t>
            </a:r>
          </a:p>
          <a:p>
            <a:pPr lvl="2"/>
            <a:r>
              <a:rPr lang="en-US" sz="1800" dirty="0" err="1"/>
              <a:t>THtn</a:t>
            </a:r>
            <a:r>
              <a:rPr lang="en-US" sz="1800" dirty="0"/>
              <a:t>: N(N-1)/2+5N = N(N+9)/2 = O(N</a:t>
            </a:r>
            <a:r>
              <a:rPr lang="en-US" sz="1800" baseline="30000" dirty="0"/>
              <a:t>2</a:t>
            </a:r>
            <a:r>
              <a:rPr lang="en-US" sz="1800" dirty="0"/>
              <a:t>)</a:t>
            </a:r>
          </a:p>
          <a:p>
            <a:pPr lvl="2"/>
            <a:r>
              <a:rPr lang="en-US" sz="1800" dirty="0" err="1"/>
              <a:t>THxn</a:t>
            </a:r>
            <a:r>
              <a:rPr lang="en-US" sz="1800" dirty="0"/>
              <a:t>: N(N-1)+5N = N(N+4) = O(N</a:t>
            </a:r>
            <a:r>
              <a:rPr lang="en-US" sz="1800" baseline="30000" dirty="0"/>
              <a:t>2</a:t>
            </a:r>
            <a:r>
              <a:rPr lang="en-US" sz="1800" dirty="0"/>
              <a:t>)</a:t>
            </a:r>
          </a:p>
          <a:p>
            <a:pPr lvl="2"/>
            <a:r>
              <a:rPr lang="en-US" sz="1800" dirty="0" err="1"/>
              <a:t>THtb</a:t>
            </a:r>
            <a:r>
              <a:rPr lang="en-US" sz="1800" dirty="0"/>
              <a:t>: 3N(N-1)/4+5N = O(N</a:t>
            </a:r>
            <a:r>
              <a:rPr lang="en-US" sz="1800" baseline="30000" dirty="0"/>
              <a:t>2</a:t>
            </a:r>
            <a:r>
              <a:rPr lang="en-US" sz="1800" dirty="0"/>
              <a:t>)</a:t>
            </a:r>
            <a:endParaRPr lang="en-US" dirty="0"/>
          </a:p>
          <a:p>
            <a:endParaRPr lang="en-US" dirty="0"/>
          </a:p>
        </p:txBody>
      </p:sp>
      <p:pic>
        <p:nvPicPr>
          <p:cNvPr id="7" name="Picture 6"/>
          <p:cNvPicPr>
            <a:picLocks noChangeAspect="1"/>
          </p:cNvPicPr>
          <p:nvPr/>
        </p:nvPicPr>
        <p:blipFill>
          <a:blip r:embed="rId3"/>
          <a:stretch>
            <a:fillRect/>
          </a:stretch>
        </p:blipFill>
        <p:spPr>
          <a:xfrm>
            <a:off x="152400" y="990600"/>
            <a:ext cx="3077004" cy="1667108"/>
          </a:xfrm>
          <a:prstGeom prst="rect">
            <a:avLst/>
          </a:prstGeom>
        </p:spPr>
      </p:pic>
      <p:pic>
        <p:nvPicPr>
          <p:cNvPr id="9" name="Picture 8"/>
          <p:cNvPicPr>
            <a:picLocks noChangeAspect="1"/>
          </p:cNvPicPr>
          <p:nvPr/>
        </p:nvPicPr>
        <p:blipFill rotWithShape="1">
          <a:blip r:embed="rId4"/>
          <a:srcRect r="1854"/>
          <a:stretch/>
        </p:blipFill>
        <p:spPr>
          <a:xfrm>
            <a:off x="192189" y="2742785"/>
            <a:ext cx="3048000" cy="2972215"/>
          </a:xfrm>
          <a:prstGeom prst="rect">
            <a:avLst/>
          </a:prstGeom>
        </p:spPr>
      </p:pic>
      <p:pic>
        <p:nvPicPr>
          <p:cNvPr id="10" name="Picture 9"/>
          <p:cNvPicPr>
            <a:picLocks noChangeAspect="1"/>
          </p:cNvPicPr>
          <p:nvPr/>
        </p:nvPicPr>
        <p:blipFill>
          <a:blip r:embed="rId5"/>
          <a:stretch>
            <a:fillRect/>
          </a:stretch>
        </p:blipFill>
        <p:spPr>
          <a:xfrm>
            <a:off x="3921097" y="1555064"/>
            <a:ext cx="4896533" cy="771633"/>
          </a:xfrm>
          <a:prstGeom prst="rect">
            <a:avLst/>
          </a:prstGeom>
        </p:spPr>
      </p:pic>
      <p:graphicFrame>
        <p:nvGraphicFramePr>
          <p:cNvPr id="11" name="Table 10"/>
          <p:cNvGraphicFramePr>
            <a:graphicFrameLocks noGrp="1"/>
          </p:cNvGraphicFramePr>
          <p:nvPr>
            <p:extLst>
              <p:ext uri="{D42A27DB-BD31-4B8C-83A1-F6EECF244321}">
                <p14:modId xmlns:p14="http://schemas.microsoft.com/office/powerpoint/2010/main" val="915747433"/>
              </p:ext>
            </p:extLst>
          </p:nvPr>
        </p:nvGraphicFramePr>
        <p:xfrm>
          <a:off x="3620667" y="3317561"/>
          <a:ext cx="5497394" cy="1844040"/>
        </p:xfrm>
        <a:graphic>
          <a:graphicData uri="http://schemas.openxmlformats.org/drawingml/2006/table">
            <a:tbl>
              <a:tblPr firstRow="1" bandRow="1">
                <a:tableStyleId>{2D5ABB26-0587-4C30-8999-92F81FD0307C}</a:tableStyleId>
              </a:tblPr>
              <a:tblGrid>
                <a:gridCol w="1143000">
                  <a:extLst>
                    <a:ext uri="{9D8B030D-6E8A-4147-A177-3AD203B41FA5}">
                      <a16:colId xmlns:a16="http://schemas.microsoft.com/office/drawing/2014/main" val="4242847459"/>
                    </a:ext>
                  </a:extLst>
                </a:gridCol>
                <a:gridCol w="1447802">
                  <a:extLst>
                    <a:ext uri="{9D8B030D-6E8A-4147-A177-3AD203B41FA5}">
                      <a16:colId xmlns:a16="http://schemas.microsoft.com/office/drawing/2014/main" val="1873891677"/>
                    </a:ext>
                  </a:extLst>
                </a:gridCol>
                <a:gridCol w="2906592">
                  <a:extLst>
                    <a:ext uri="{9D8B030D-6E8A-4147-A177-3AD203B41FA5}">
                      <a16:colId xmlns:a16="http://schemas.microsoft.com/office/drawing/2014/main" val="1963900528"/>
                    </a:ext>
                  </a:extLst>
                </a:gridCol>
              </a:tblGrid>
              <a:tr h="370840">
                <a:tc>
                  <a:txBody>
                    <a:bodyPr/>
                    <a:lstStyle/>
                    <a:p>
                      <a:r>
                        <a:rPr lang="en-US" dirty="0" err="1"/>
                        <a:t>Độ</a:t>
                      </a:r>
                      <a:r>
                        <a:rPr lang="en-US" dirty="0"/>
                        <a:t> </a:t>
                      </a:r>
                      <a:r>
                        <a:rPr lang="en-US" dirty="0" err="1"/>
                        <a:t>pt</a:t>
                      </a:r>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for </a:t>
                      </a:r>
                      <a:r>
                        <a:rPr lang="en-US" dirty="0" err="1"/>
                        <a:t>trong</a:t>
                      </a:r>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kết</a:t>
                      </a:r>
                      <a:r>
                        <a:rPr lang="en-US" dirty="0"/>
                        <a:t> </a:t>
                      </a:r>
                      <a:r>
                        <a:rPr lang="en-US" dirty="0" err="1"/>
                        <a:t>hợp</a:t>
                      </a:r>
                      <a:r>
                        <a:rPr lang="en-US" baseline="0" dirty="0"/>
                        <a:t> for </a:t>
                      </a:r>
                      <a:r>
                        <a:rPr lang="en-US" baseline="0" dirty="0" err="1"/>
                        <a:t>ngoài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9187858"/>
                  </a:ext>
                </a:extLst>
              </a:tr>
              <a:tr h="370840">
                <a:tc>
                  <a:txBody>
                    <a:bodyPr/>
                    <a:lstStyle/>
                    <a:p>
                      <a:r>
                        <a:rPr lang="en-US" dirty="0" err="1"/>
                        <a:t>TH</a:t>
                      </a:r>
                      <a:r>
                        <a:rPr lang="en-US" baseline="-25000" dirty="0" err="1"/>
                        <a:t>tn</a:t>
                      </a:r>
                      <a:endParaRPr lang="en-US"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N-i-1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400" dirty="0"/>
                    </a:p>
                    <a:p>
                      <a:endParaRPr lang="en-US" sz="1400" dirty="0"/>
                    </a:p>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7207398"/>
                  </a:ext>
                </a:extLst>
              </a:tr>
              <a:tr h="370840">
                <a:tc>
                  <a:txBody>
                    <a:bodyPr/>
                    <a:lstStyle/>
                    <a:p>
                      <a:r>
                        <a:rPr lang="en-US" dirty="0" err="1"/>
                        <a:t>TH</a:t>
                      </a:r>
                      <a:r>
                        <a:rPr lang="en-US" baseline="-25000" dirty="0" err="1"/>
                        <a:t>xn</a:t>
                      </a:r>
                      <a:endParaRPr lang="en-US"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2(N-i-1)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𝑁(𝑁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2821082"/>
                  </a:ext>
                </a:extLst>
              </a:tr>
              <a:tr h="370840">
                <a:tc>
                  <a:txBody>
                    <a:bodyPr/>
                    <a:lstStyle/>
                    <a:p>
                      <a:r>
                        <a:rPr lang="en-US" dirty="0" err="1"/>
                        <a:t>TH</a:t>
                      </a:r>
                      <a:r>
                        <a:rPr lang="en-US" baseline="-25000" dirty="0" err="1"/>
                        <a:t>tb</a:t>
                      </a:r>
                      <a:endParaRPr lang="en-US"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dirty="0"/>
                        <a:t>3(N-i-1)/2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dirty="0"/>
                        <a:t>3N(N-1)/4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6132918"/>
                  </a:ext>
                </a:extLst>
              </a:tr>
            </a:tbl>
          </a:graphicData>
        </a:graphic>
      </p:graphicFrame>
      <p:pic>
        <p:nvPicPr>
          <p:cNvPr id="12" name="Picture 11"/>
          <p:cNvPicPr>
            <a:picLocks noChangeAspect="1"/>
          </p:cNvPicPr>
          <p:nvPr/>
        </p:nvPicPr>
        <p:blipFill>
          <a:blip r:embed="rId6"/>
          <a:stretch>
            <a:fillRect/>
          </a:stretch>
        </p:blipFill>
        <p:spPr>
          <a:xfrm>
            <a:off x="6277405" y="3749028"/>
            <a:ext cx="2762636" cy="609685"/>
          </a:xfrm>
          <a:prstGeom prst="rect">
            <a:avLst/>
          </a:prstGeom>
        </p:spPr>
      </p:pic>
    </p:spTree>
    <p:extLst>
      <p:ext uri="{BB962C8B-B14F-4D97-AF65-F5344CB8AC3E}">
        <p14:creationId xmlns:p14="http://schemas.microsoft.com/office/powerpoint/2010/main" val="363818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type="body" sz="quarter" idx="13"/>
          </p:nvPr>
        </p:nvSpPr>
        <p:spPr/>
        <p:txBody>
          <a:bodyPr/>
          <a:lstStyle/>
          <a:p>
            <a:r>
              <a:rPr lang="vi-VN" sz="2400" dirty="0"/>
              <a:t>Bài tập 1:  </a:t>
            </a:r>
            <a:endParaRPr lang="en-US" sz="2400" dirty="0"/>
          </a:p>
          <a:p>
            <a:pPr marL="457200" indent="-285750">
              <a:buFontTx/>
              <a:buChar char="-"/>
            </a:pPr>
            <a:r>
              <a:rPr lang="en-US" sz="2400" dirty="0"/>
              <a:t>T</a:t>
            </a:r>
            <a:r>
              <a:rPr lang="vi-VN" sz="2400" dirty="0"/>
              <a:t>rình bầy một giải thuật tìm phần tử </a:t>
            </a:r>
            <a:r>
              <a:rPr lang="en-US" sz="2400" dirty="0" err="1"/>
              <a:t>lớn</a:t>
            </a:r>
            <a:r>
              <a:rPr lang="vi-VN" sz="2400" dirty="0"/>
              <a:t> nhất trong một dãy số. </a:t>
            </a:r>
            <a:endParaRPr lang="en-US" sz="2400" dirty="0"/>
          </a:p>
          <a:p>
            <a:pPr marL="457200" indent="-285750">
              <a:buFontTx/>
              <a:buChar char="-"/>
            </a:pPr>
            <a:r>
              <a:rPr lang="en-US" sz="2400" dirty="0"/>
              <a:t>X</a:t>
            </a:r>
            <a:r>
              <a:rPr lang="vi-VN" sz="2400" dirty="0"/>
              <a:t>ác định độ phức tạp của giải thuật sử dụng khái niệm O (hãy xét cả ba trường hợp: tốt nhất, xấu nhất và trung bình). </a:t>
            </a:r>
            <a:endParaRPr lang="en-US" sz="2400" dirty="0"/>
          </a:p>
          <a:p>
            <a:pPr marL="457200" indent="-285750">
              <a:buFontTx/>
              <a:buChar char="-"/>
            </a:pPr>
            <a:r>
              <a:rPr lang="en-US" sz="2400" dirty="0"/>
              <a:t>V</a:t>
            </a:r>
            <a:r>
              <a:rPr lang="vi-VN" sz="2400" dirty="0"/>
              <a:t>iết một chương trình cài đặt cho giải thuật trên</a:t>
            </a:r>
            <a:endParaRPr lang="en-US" sz="2400" dirty="0"/>
          </a:p>
          <a:p>
            <a:r>
              <a:rPr lang="vi-VN" sz="2400" dirty="0"/>
              <a:t>Bài tập 2: </a:t>
            </a:r>
            <a:endParaRPr lang="en-US" sz="2400" dirty="0"/>
          </a:p>
          <a:p>
            <a:pPr marL="457200" indent="-285750">
              <a:buFontTx/>
              <a:buChar char="-"/>
            </a:pPr>
            <a:r>
              <a:rPr lang="vi-VN" sz="2400" dirty="0"/>
              <a:t>Trình bầy một giải thuật kiểm tra một số nguyên N cho trước có phải là số nguyên tố hay không. </a:t>
            </a:r>
            <a:endParaRPr lang="en-US" sz="2400" dirty="0"/>
          </a:p>
          <a:p>
            <a:pPr marL="457200" indent="-285750">
              <a:buFontTx/>
              <a:buChar char="-"/>
            </a:pPr>
            <a:r>
              <a:rPr lang="vi-VN" sz="2400" dirty="0"/>
              <a:t>Xác định độ phức tạp của giải thuật sử dụng khái niệm O. </a:t>
            </a:r>
            <a:endParaRPr lang="en-US" sz="2400" dirty="0"/>
          </a:p>
          <a:p>
            <a:pPr marL="457200" indent="-285750">
              <a:buFontTx/>
              <a:buChar char="-"/>
            </a:pPr>
            <a:r>
              <a:rPr lang="vi-VN" sz="2400" dirty="0"/>
              <a:t>Viết một chương trình cài đặt cho giải thuật trên.</a:t>
            </a:r>
            <a:endParaRPr lang="en-US" sz="2400" dirty="0"/>
          </a:p>
        </p:txBody>
      </p:sp>
    </p:spTree>
    <p:extLst>
      <p:ext uri="{BB962C8B-B14F-4D97-AF65-F5344CB8AC3E}">
        <p14:creationId xmlns:p14="http://schemas.microsoft.com/office/powerpoint/2010/main" val="3605482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36</a:t>
            </a:fld>
            <a:endParaRPr lang="en-US"/>
          </a:p>
        </p:txBody>
      </p:sp>
      <p:sp>
        <p:nvSpPr>
          <p:cNvPr id="4" name="Title 3"/>
          <p:cNvSpPr>
            <a:spLocks noGrp="1"/>
          </p:cNvSpPr>
          <p:nvPr>
            <p:ph type="title"/>
          </p:nvPr>
        </p:nvSpPr>
        <p:spPr/>
        <p:txBody>
          <a:bodyPr/>
          <a:lstStyle/>
          <a:p>
            <a:endParaRPr lang="en-US"/>
          </a:p>
        </p:txBody>
      </p:sp>
      <p:sp>
        <p:nvSpPr>
          <p:cNvPr id="5" name="Text Placeholder 4"/>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2596065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37</a:t>
            </a:fld>
            <a:endParaRPr lang="en-US"/>
          </a:p>
        </p:txBody>
      </p:sp>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Text Placeholder 2"/>
          <p:cNvSpPr>
            <a:spLocks noGrp="1"/>
          </p:cNvSpPr>
          <p:nvPr>
            <p:ph type="body" sz="quarter" idx="13"/>
          </p:nvPr>
        </p:nvSpPr>
        <p:spPr/>
        <p:txBody>
          <a:bodyPr/>
          <a:lstStyle/>
          <a:p>
            <a:endParaRPr lang="en-US"/>
          </a:p>
        </p:txBody>
      </p:sp>
      <p:pic>
        <p:nvPicPr>
          <p:cNvPr id="6" name="Picture 5"/>
          <p:cNvPicPr>
            <a:picLocks noChangeAspect="1"/>
          </p:cNvPicPr>
          <p:nvPr/>
        </p:nvPicPr>
        <p:blipFill>
          <a:blip r:embed="rId2"/>
          <a:stretch>
            <a:fillRect/>
          </a:stretch>
        </p:blipFill>
        <p:spPr>
          <a:xfrm>
            <a:off x="574393" y="1361440"/>
            <a:ext cx="2019582" cy="1009791"/>
          </a:xfrm>
          <a:prstGeom prst="rect">
            <a:avLst/>
          </a:prstGeom>
        </p:spPr>
      </p:pic>
      <p:pic>
        <p:nvPicPr>
          <p:cNvPr id="7" name="Picture 6"/>
          <p:cNvPicPr>
            <a:picLocks noChangeAspect="1"/>
          </p:cNvPicPr>
          <p:nvPr/>
        </p:nvPicPr>
        <p:blipFill>
          <a:blip r:embed="rId3"/>
          <a:stretch>
            <a:fillRect/>
          </a:stretch>
        </p:blipFill>
        <p:spPr>
          <a:xfrm>
            <a:off x="2876840" y="1361440"/>
            <a:ext cx="3019846" cy="2791215"/>
          </a:xfrm>
          <a:prstGeom prst="rect">
            <a:avLst/>
          </a:prstGeom>
        </p:spPr>
      </p:pic>
      <p:pic>
        <p:nvPicPr>
          <p:cNvPr id="11" name="Picture 10"/>
          <p:cNvPicPr>
            <a:picLocks noChangeAspect="1"/>
          </p:cNvPicPr>
          <p:nvPr/>
        </p:nvPicPr>
        <p:blipFill>
          <a:blip r:embed="rId4"/>
          <a:stretch>
            <a:fillRect/>
          </a:stretch>
        </p:blipFill>
        <p:spPr>
          <a:xfrm>
            <a:off x="5715000" y="2162073"/>
            <a:ext cx="2610214" cy="733527"/>
          </a:xfrm>
          <a:prstGeom prst="rect">
            <a:avLst/>
          </a:prstGeom>
        </p:spPr>
      </p:pic>
      <p:pic>
        <p:nvPicPr>
          <p:cNvPr id="12" name="Picture 11"/>
          <p:cNvPicPr>
            <a:picLocks noChangeAspect="1"/>
          </p:cNvPicPr>
          <p:nvPr/>
        </p:nvPicPr>
        <p:blipFill>
          <a:blip r:embed="rId5"/>
          <a:stretch>
            <a:fillRect/>
          </a:stretch>
        </p:blipFill>
        <p:spPr>
          <a:xfrm>
            <a:off x="1526673" y="2371231"/>
            <a:ext cx="1571844" cy="1590897"/>
          </a:xfrm>
          <a:prstGeom prst="rect">
            <a:avLst/>
          </a:prstGeom>
        </p:spPr>
      </p:pic>
      <p:sp>
        <p:nvSpPr>
          <p:cNvPr id="13" name="Rectangle 12"/>
          <p:cNvSpPr/>
          <p:nvPr/>
        </p:nvSpPr>
        <p:spPr>
          <a:xfrm>
            <a:off x="1066800" y="4771864"/>
            <a:ext cx="7475720" cy="400110"/>
          </a:xfrm>
          <a:prstGeom prst="rect">
            <a:avLst/>
          </a:prstGeom>
        </p:spPr>
        <p:txBody>
          <a:bodyPr wrap="square">
            <a:spAutoFit/>
          </a:bodyPr>
          <a:lstStyle/>
          <a:p>
            <a:r>
              <a:rPr lang="en-US" sz="2000" dirty="0" err="1"/>
              <a:t>Số</a:t>
            </a:r>
            <a:r>
              <a:rPr lang="en-US" sz="2000" dirty="0"/>
              <a:t> </a:t>
            </a:r>
            <a:r>
              <a:rPr lang="en-US" sz="2000" dirty="0" err="1"/>
              <a:t>lượng</a:t>
            </a:r>
            <a:r>
              <a:rPr lang="en-US" sz="2000" dirty="0"/>
              <a:t> </a:t>
            </a:r>
            <a:r>
              <a:rPr lang="en-US" sz="2000" dirty="0" err="1"/>
              <a:t>các</a:t>
            </a:r>
            <a:r>
              <a:rPr lang="en-US" sz="2000" dirty="0"/>
              <a:t> </a:t>
            </a:r>
            <a:r>
              <a:rPr lang="en-US" sz="2000" dirty="0" err="1"/>
              <a:t>phép</a:t>
            </a:r>
            <a:r>
              <a:rPr lang="en-US" sz="2000" dirty="0"/>
              <a:t> </a:t>
            </a:r>
            <a:r>
              <a:rPr lang="en-US" sz="2000" dirty="0" err="1"/>
              <a:t>toán</a:t>
            </a:r>
            <a:r>
              <a:rPr lang="en-US" sz="2000" dirty="0"/>
              <a:t> </a:t>
            </a:r>
            <a:r>
              <a:rPr lang="en-US" sz="2000" dirty="0" err="1"/>
              <a:t>cơ</a:t>
            </a:r>
            <a:r>
              <a:rPr lang="en-US" sz="2000" dirty="0"/>
              <a:t> </a:t>
            </a:r>
            <a:r>
              <a:rPr lang="en-US" sz="2000" dirty="0" err="1"/>
              <a:t>bản</a:t>
            </a:r>
            <a:r>
              <a:rPr lang="en-US" sz="2000" dirty="0"/>
              <a:t> </a:t>
            </a:r>
            <a:r>
              <a:rPr lang="en-US" sz="2000" dirty="0" err="1"/>
              <a:t>cần</a:t>
            </a:r>
            <a:r>
              <a:rPr lang="en-US" sz="2000" dirty="0"/>
              <a:t> </a:t>
            </a:r>
            <a:r>
              <a:rPr lang="en-US" sz="2000" dirty="0" err="1"/>
              <a:t>thực</a:t>
            </a:r>
            <a:r>
              <a:rPr lang="en-US" sz="2000" dirty="0"/>
              <a:t> </a:t>
            </a:r>
            <a:r>
              <a:rPr lang="en-US" sz="2000" dirty="0" err="1"/>
              <a:t>hiện</a:t>
            </a:r>
            <a:r>
              <a:rPr lang="en-US" sz="2000" dirty="0"/>
              <a:t>  &lt;= C * n</a:t>
            </a:r>
            <a:r>
              <a:rPr lang="en-US" sz="2000" baseline="30000" dirty="0"/>
              <a:t>2</a:t>
            </a:r>
          </a:p>
        </p:txBody>
      </p:sp>
      <p:pic>
        <p:nvPicPr>
          <p:cNvPr id="14" name="Picture 13"/>
          <p:cNvPicPr>
            <a:picLocks noChangeAspect="1"/>
          </p:cNvPicPr>
          <p:nvPr/>
        </p:nvPicPr>
        <p:blipFill>
          <a:blip r:embed="rId6"/>
          <a:stretch>
            <a:fillRect/>
          </a:stretch>
        </p:blipFill>
        <p:spPr>
          <a:xfrm>
            <a:off x="2438400" y="5420894"/>
            <a:ext cx="5029902" cy="704948"/>
          </a:xfrm>
          <a:prstGeom prst="rect">
            <a:avLst/>
          </a:prstGeom>
        </p:spPr>
      </p:pic>
      <p:sp>
        <p:nvSpPr>
          <p:cNvPr id="16" name="Rectangle 15"/>
          <p:cNvSpPr/>
          <p:nvPr/>
        </p:nvSpPr>
        <p:spPr>
          <a:xfrm>
            <a:off x="19050" y="6538912"/>
            <a:ext cx="4572000" cy="276999"/>
          </a:xfrm>
          <a:prstGeom prst="rect">
            <a:avLst/>
          </a:prstGeom>
        </p:spPr>
        <p:txBody>
          <a:bodyPr>
            <a:spAutoFit/>
          </a:bodyPr>
          <a:lstStyle/>
          <a:p>
            <a:r>
              <a:rPr lang="en-US" sz="1200" dirty="0"/>
              <a:t>https://www.coursera.org/learn/algorithms-divide-conquer</a:t>
            </a:r>
          </a:p>
        </p:txBody>
      </p:sp>
    </p:spTree>
    <p:extLst>
      <p:ext uri="{BB962C8B-B14F-4D97-AF65-F5344CB8AC3E}">
        <p14:creationId xmlns:p14="http://schemas.microsoft.com/office/powerpoint/2010/main" val="4109852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38</a:t>
            </a:fld>
            <a:endParaRPr lang="en-US"/>
          </a:p>
        </p:txBody>
      </p:sp>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Content Placeholder 2"/>
          <p:cNvSpPr>
            <a:spLocks noGrp="1"/>
          </p:cNvSpPr>
          <p:nvPr>
            <p:ph type="body" sz="quarter" idx="13"/>
          </p:nvPr>
        </p:nvSpPr>
        <p:spPr/>
        <p:txBody>
          <a:bodyPr/>
          <a:lstStyle/>
          <a:p>
            <a:r>
              <a:rPr lang="en-US" dirty="0" err="1"/>
              <a:t>Thuật</a:t>
            </a:r>
            <a:r>
              <a:rPr lang="en-US" dirty="0"/>
              <a:t> </a:t>
            </a:r>
            <a:r>
              <a:rPr lang="en-US" dirty="0" err="1"/>
              <a:t>toán</a:t>
            </a:r>
            <a:r>
              <a:rPr lang="en-US" dirty="0"/>
              <a:t> </a:t>
            </a:r>
            <a:r>
              <a:rPr lang="en-US" dirty="0" err="1"/>
              <a:t>nhân</a:t>
            </a:r>
            <a:r>
              <a:rPr lang="en-US" dirty="0"/>
              <a:t> </a:t>
            </a:r>
            <a:r>
              <a:rPr lang="en-US" dirty="0" err="1"/>
              <a:t>nhanh</a:t>
            </a:r>
            <a:r>
              <a:rPr lang="en-US" dirty="0"/>
              <a:t> Karatsuba </a:t>
            </a:r>
          </a:p>
        </p:txBody>
      </p:sp>
      <p:pic>
        <p:nvPicPr>
          <p:cNvPr id="6" name="Picture 5"/>
          <p:cNvPicPr>
            <a:picLocks noChangeAspect="1"/>
          </p:cNvPicPr>
          <p:nvPr/>
        </p:nvPicPr>
        <p:blipFill rotWithShape="1">
          <a:blip r:embed="rId2"/>
          <a:srcRect t="3242"/>
          <a:stretch/>
        </p:blipFill>
        <p:spPr>
          <a:xfrm>
            <a:off x="2743200" y="2895600"/>
            <a:ext cx="6248400" cy="3505200"/>
          </a:xfrm>
          <a:prstGeom prst="rect">
            <a:avLst/>
          </a:prstGeom>
        </p:spPr>
      </p:pic>
      <p:pic>
        <p:nvPicPr>
          <p:cNvPr id="7" name="Picture 6"/>
          <p:cNvPicPr>
            <a:picLocks noChangeAspect="1"/>
          </p:cNvPicPr>
          <p:nvPr/>
        </p:nvPicPr>
        <p:blipFill>
          <a:blip r:embed="rId3"/>
          <a:stretch>
            <a:fillRect/>
          </a:stretch>
        </p:blipFill>
        <p:spPr>
          <a:xfrm>
            <a:off x="256464" y="1412875"/>
            <a:ext cx="2943220" cy="1553210"/>
          </a:xfrm>
          <a:prstGeom prst="rect">
            <a:avLst/>
          </a:prstGeom>
        </p:spPr>
      </p:pic>
      <p:sp>
        <p:nvSpPr>
          <p:cNvPr id="9" name="Rectangle 8"/>
          <p:cNvSpPr/>
          <p:nvPr/>
        </p:nvSpPr>
        <p:spPr>
          <a:xfrm>
            <a:off x="19050" y="6538912"/>
            <a:ext cx="4572000" cy="276999"/>
          </a:xfrm>
          <a:prstGeom prst="rect">
            <a:avLst/>
          </a:prstGeom>
        </p:spPr>
        <p:txBody>
          <a:bodyPr>
            <a:spAutoFit/>
          </a:bodyPr>
          <a:lstStyle/>
          <a:p>
            <a:r>
              <a:rPr lang="en-US" sz="1200" dirty="0"/>
              <a:t>https://www.coursera.org/learn/algorithms-divide-conquer</a:t>
            </a:r>
          </a:p>
        </p:txBody>
      </p:sp>
    </p:spTree>
    <p:extLst>
      <p:ext uri="{BB962C8B-B14F-4D97-AF65-F5344CB8AC3E}">
        <p14:creationId xmlns:p14="http://schemas.microsoft.com/office/powerpoint/2010/main" val="110488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39</a:t>
            </a:fld>
            <a:endParaRPr lang="en-US"/>
          </a:p>
        </p:txBody>
      </p:sp>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Content Placeholder 2"/>
          <p:cNvSpPr>
            <a:spLocks noGrp="1"/>
          </p:cNvSpPr>
          <p:nvPr>
            <p:ph type="body" sz="quarter" idx="13"/>
          </p:nvPr>
        </p:nvSpPr>
        <p:spPr/>
        <p:txBody>
          <a:bodyPr/>
          <a:lstStyle/>
          <a:p>
            <a:r>
              <a:rPr lang="en-US" dirty="0" err="1"/>
              <a:t>Thuật</a:t>
            </a:r>
            <a:r>
              <a:rPr lang="en-US" dirty="0"/>
              <a:t> </a:t>
            </a:r>
            <a:r>
              <a:rPr lang="en-US" dirty="0" err="1"/>
              <a:t>toán</a:t>
            </a:r>
            <a:r>
              <a:rPr lang="en-US" dirty="0"/>
              <a:t> </a:t>
            </a:r>
            <a:r>
              <a:rPr lang="en-US" dirty="0" err="1"/>
              <a:t>nhân</a:t>
            </a:r>
            <a:r>
              <a:rPr lang="en-US" dirty="0"/>
              <a:t> </a:t>
            </a:r>
            <a:r>
              <a:rPr lang="en-US" dirty="0" err="1"/>
              <a:t>nhanh</a:t>
            </a:r>
            <a:r>
              <a:rPr lang="en-US" dirty="0"/>
              <a:t> Karatsuba </a:t>
            </a:r>
          </a:p>
        </p:txBody>
      </p:sp>
      <p:pic>
        <p:nvPicPr>
          <p:cNvPr id="6" name="Picture 5"/>
          <p:cNvPicPr>
            <a:picLocks noChangeAspect="1"/>
          </p:cNvPicPr>
          <p:nvPr/>
        </p:nvPicPr>
        <p:blipFill>
          <a:blip r:embed="rId2"/>
          <a:stretch>
            <a:fillRect/>
          </a:stretch>
        </p:blipFill>
        <p:spPr>
          <a:xfrm>
            <a:off x="1371600" y="1598916"/>
            <a:ext cx="6838950" cy="3010814"/>
          </a:xfrm>
          <a:prstGeom prst="rect">
            <a:avLst/>
          </a:prstGeom>
        </p:spPr>
      </p:pic>
      <p:sp>
        <p:nvSpPr>
          <p:cNvPr id="7" name="Rectangle 6"/>
          <p:cNvSpPr/>
          <p:nvPr/>
        </p:nvSpPr>
        <p:spPr>
          <a:xfrm>
            <a:off x="19050" y="6538912"/>
            <a:ext cx="4572000" cy="276999"/>
          </a:xfrm>
          <a:prstGeom prst="rect">
            <a:avLst/>
          </a:prstGeom>
        </p:spPr>
        <p:txBody>
          <a:bodyPr>
            <a:spAutoFit/>
          </a:bodyPr>
          <a:lstStyle/>
          <a:p>
            <a:r>
              <a:rPr lang="en-US" sz="1200" dirty="0"/>
              <a:t>https://www.coursera.org/learn/algorithms-divide-conquer</a:t>
            </a:r>
          </a:p>
        </p:txBody>
      </p:sp>
    </p:spTree>
    <p:extLst>
      <p:ext uri="{BB962C8B-B14F-4D97-AF65-F5344CB8AC3E}">
        <p14:creationId xmlns:p14="http://schemas.microsoft.com/office/powerpoint/2010/main" val="3059115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40</a:t>
            </a:fld>
            <a:endParaRPr lang="en-US"/>
          </a:p>
        </p:txBody>
      </p:sp>
      <p:sp>
        <p:nvSpPr>
          <p:cNvPr id="8" name="Title 7"/>
          <p:cNvSpPr>
            <a:spLocks noGrp="1"/>
          </p:cNvSpPr>
          <p:nvPr>
            <p:ph type="title"/>
          </p:nvPr>
        </p:nvSpPr>
        <p:spPr/>
        <p:txBody>
          <a:bodyPr/>
          <a:lstStyle/>
          <a:p>
            <a:endParaRPr lang="en-US"/>
          </a:p>
        </p:txBody>
      </p:sp>
      <p:sp>
        <p:nvSpPr>
          <p:cNvPr id="2" name="Content Placeholder 1"/>
          <p:cNvSpPr>
            <a:spLocks noGrp="1"/>
          </p:cNvSpPr>
          <p:nvPr>
            <p:ph type="body" sz="quarter" idx="13"/>
          </p:nvPr>
        </p:nvSpPr>
        <p:spPr/>
        <p:txBody>
          <a:bodyPr/>
          <a:lstStyle/>
          <a:p>
            <a:r>
              <a:rPr lang="en-US" dirty="0" err="1"/>
              <a:t>Thuật</a:t>
            </a:r>
            <a:r>
              <a:rPr lang="en-US" dirty="0"/>
              <a:t> </a:t>
            </a:r>
            <a:r>
              <a:rPr lang="en-US" dirty="0" err="1"/>
              <a:t>toán</a:t>
            </a:r>
            <a:r>
              <a:rPr lang="en-US" dirty="0"/>
              <a:t> </a:t>
            </a:r>
            <a:r>
              <a:rPr lang="en-US" dirty="0" err="1"/>
              <a:t>nhân</a:t>
            </a:r>
            <a:r>
              <a:rPr lang="en-US" dirty="0"/>
              <a:t> </a:t>
            </a:r>
            <a:r>
              <a:rPr lang="en-US" dirty="0" err="1"/>
              <a:t>nhanh</a:t>
            </a:r>
            <a:r>
              <a:rPr lang="en-US" dirty="0"/>
              <a:t> Karatsuba </a:t>
            </a:r>
          </a:p>
          <a:p>
            <a:endParaRPr lang="en-US" dirty="0"/>
          </a:p>
        </p:txBody>
      </p:sp>
      <p:pic>
        <p:nvPicPr>
          <p:cNvPr id="6" name="Picture 5"/>
          <p:cNvPicPr>
            <a:picLocks noChangeAspect="1"/>
          </p:cNvPicPr>
          <p:nvPr/>
        </p:nvPicPr>
        <p:blipFill>
          <a:blip r:embed="rId3"/>
          <a:stretch>
            <a:fillRect/>
          </a:stretch>
        </p:blipFill>
        <p:spPr>
          <a:xfrm>
            <a:off x="2791536" y="3117877"/>
            <a:ext cx="6248400" cy="3622648"/>
          </a:xfrm>
          <a:prstGeom prst="rect">
            <a:avLst/>
          </a:prstGeom>
        </p:spPr>
      </p:pic>
      <p:pic>
        <p:nvPicPr>
          <p:cNvPr id="7" name="Picture 6"/>
          <p:cNvPicPr>
            <a:picLocks noChangeAspect="1"/>
          </p:cNvPicPr>
          <p:nvPr/>
        </p:nvPicPr>
        <p:blipFill>
          <a:blip r:embed="rId4"/>
          <a:stretch>
            <a:fillRect/>
          </a:stretch>
        </p:blipFill>
        <p:spPr>
          <a:xfrm>
            <a:off x="304800" y="1752600"/>
            <a:ext cx="2943220" cy="1553210"/>
          </a:xfrm>
          <a:prstGeom prst="rect">
            <a:avLst/>
          </a:prstGeom>
        </p:spPr>
      </p:pic>
    </p:spTree>
    <p:extLst>
      <p:ext uri="{BB962C8B-B14F-4D97-AF65-F5344CB8AC3E}">
        <p14:creationId xmlns:p14="http://schemas.microsoft.com/office/powerpoint/2010/main" val="3962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41</a:t>
            </a:fld>
            <a:endParaRPr lang="en-US"/>
          </a:p>
        </p:txBody>
      </p:sp>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Content Placeholder 2"/>
          <p:cNvSpPr>
            <a:spLocks noGrp="1"/>
          </p:cNvSpPr>
          <p:nvPr>
            <p:ph type="body" sz="quarter" idx="13"/>
          </p:nvPr>
        </p:nvSpPr>
        <p:spPr/>
        <p:txBody>
          <a:bodyPr/>
          <a:lstStyle/>
          <a:p>
            <a:r>
              <a:rPr lang="en-US" dirty="0" err="1"/>
              <a:t>Thuật</a:t>
            </a:r>
            <a:r>
              <a:rPr lang="en-US" dirty="0"/>
              <a:t> </a:t>
            </a:r>
            <a:r>
              <a:rPr lang="en-US" dirty="0" err="1"/>
              <a:t>toán</a:t>
            </a:r>
            <a:r>
              <a:rPr lang="en-US" dirty="0"/>
              <a:t> </a:t>
            </a:r>
            <a:r>
              <a:rPr lang="en-US" dirty="0" err="1"/>
              <a:t>nhân</a:t>
            </a:r>
            <a:r>
              <a:rPr lang="en-US" dirty="0"/>
              <a:t> </a:t>
            </a:r>
            <a:r>
              <a:rPr lang="en-US" dirty="0" err="1"/>
              <a:t>nhanh</a:t>
            </a:r>
            <a:r>
              <a:rPr lang="en-US" dirty="0"/>
              <a:t> Karatsuba </a:t>
            </a:r>
          </a:p>
          <a:p>
            <a:endParaRPr lang="en-US" dirty="0"/>
          </a:p>
          <a:p>
            <a:endParaRPr lang="en-US" dirty="0"/>
          </a:p>
          <a:p>
            <a:endParaRPr lang="en-US" dirty="0"/>
          </a:p>
          <a:p>
            <a:endParaRPr lang="en-US" dirty="0"/>
          </a:p>
          <a:p>
            <a:endParaRPr lang="en-US" dirty="0"/>
          </a:p>
          <a:p>
            <a:r>
              <a:rPr lang="en-US" dirty="0" err="1"/>
              <a:t>Lặp</a:t>
            </a:r>
            <a:r>
              <a:rPr lang="en-US" dirty="0"/>
              <a:t> </a:t>
            </a:r>
            <a:r>
              <a:rPr lang="en-US" dirty="0" err="1"/>
              <a:t>lại</a:t>
            </a:r>
            <a:r>
              <a:rPr lang="en-US" dirty="0"/>
              <a:t> </a:t>
            </a:r>
            <a:r>
              <a:rPr lang="en-US" dirty="0" err="1"/>
              <a:t>thuật</a:t>
            </a:r>
            <a:r>
              <a:rPr lang="en-US" dirty="0"/>
              <a:t> </a:t>
            </a:r>
            <a:r>
              <a:rPr lang="en-US" dirty="0" err="1"/>
              <a:t>toán</a:t>
            </a:r>
            <a:r>
              <a:rPr lang="en-US" dirty="0"/>
              <a:t> </a:t>
            </a:r>
            <a:r>
              <a:rPr lang="en-US" dirty="0" err="1"/>
              <a:t>nhân</a:t>
            </a:r>
            <a:r>
              <a:rPr lang="en-US" dirty="0"/>
              <a:t> </a:t>
            </a:r>
            <a:r>
              <a:rPr lang="en-US" dirty="0" err="1"/>
              <a:t>nhanh</a:t>
            </a:r>
            <a:r>
              <a:rPr lang="en-US" dirty="0"/>
              <a:t> </a:t>
            </a:r>
            <a:r>
              <a:rPr lang="en-US" dirty="0" err="1"/>
              <a:t>cho</a:t>
            </a:r>
            <a:r>
              <a:rPr lang="en-US" dirty="0"/>
              <a:t> </a:t>
            </a:r>
            <a:r>
              <a:rPr lang="en-US" i="1" dirty="0"/>
              <a:t>ac, ad, </a:t>
            </a:r>
            <a:r>
              <a:rPr lang="en-US" i="1" dirty="0" err="1"/>
              <a:t>bc</a:t>
            </a:r>
            <a:r>
              <a:rPr lang="en-US" i="1" dirty="0"/>
              <a:t>, </a:t>
            </a:r>
            <a:r>
              <a:rPr lang="en-US" i="1" dirty="0" err="1"/>
              <a:t>bd</a:t>
            </a:r>
            <a:r>
              <a:rPr lang="en-US" dirty="0"/>
              <a:t>, </a:t>
            </a:r>
            <a:r>
              <a:rPr lang="en-US" dirty="0" err="1"/>
              <a:t>rồi</a:t>
            </a:r>
            <a:r>
              <a:rPr lang="en-US" dirty="0"/>
              <a:t> </a:t>
            </a:r>
            <a:r>
              <a:rPr lang="en-US" dirty="0" err="1"/>
              <a:t>tính</a:t>
            </a:r>
            <a:r>
              <a:rPr lang="en-US" dirty="0"/>
              <a:t> (*)</a:t>
            </a:r>
          </a:p>
          <a:p>
            <a:pPr lvl="1"/>
            <a:r>
              <a:rPr lang="en-US" dirty="0" err="1"/>
              <a:t>Hoặc</a:t>
            </a:r>
            <a:r>
              <a:rPr lang="en-US" dirty="0"/>
              <a:t> </a:t>
            </a:r>
            <a:r>
              <a:rPr lang="en-US" dirty="0" err="1"/>
              <a:t>tính</a:t>
            </a:r>
            <a:r>
              <a:rPr lang="en-US" dirty="0"/>
              <a:t> ac, </a:t>
            </a:r>
            <a:r>
              <a:rPr lang="en-US" dirty="0" err="1"/>
              <a:t>bd</a:t>
            </a:r>
            <a:r>
              <a:rPr lang="en-US" dirty="0"/>
              <a:t>, (</a:t>
            </a:r>
            <a:r>
              <a:rPr lang="en-US" dirty="0" err="1"/>
              <a:t>a+b</a:t>
            </a:r>
            <a:r>
              <a:rPr lang="en-US" dirty="0"/>
              <a:t>)(</a:t>
            </a:r>
            <a:r>
              <a:rPr lang="en-US" dirty="0" err="1"/>
              <a:t>c+d</a:t>
            </a:r>
            <a:r>
              <a:rPr lang="en-US" dirty="0"/>
              <a:t>)</a:t>
            </a:r>
          </a:p>
          <a:p>
            <a:r>
              <a:rPr lang="en-US" dirty="0"/>
              <a:t>TH </a:t>
            </a:r>
            <a:r>
              <a:rPr lang="en-US" dirty="0" err="1"/>
              <a:t>cơ</a:t>
            </a:r>
            <a:r>
              <a:rPr lang="en-US" dirty="0"/>
              <a:t> </a:t>
            </a:r>
            <a:r>
              <a:rPr lang="en-US" dirty="0" err="1"/>
              <a:t>sở</a:t>
            </a:r>
            <a:r>
              <a:rPr lang="en-US" dirty="0"/>
              <a:t>: </a:t>
            </a:r>
            <a:r>
              <a:rPr lang="en-US" dirty="0" err="1"/>
              <a:t>các</a:t>
            </a:r>
            <a:r>
              <a:rPr lang="en-US" dirty="0"/>
              <a:t> </a:t>
            </a:r>
            <a:r>
              <a:rPr lang="en-US" dirty="0" err="1"/>
              <a:t>toán</a:t>
            </a:r>
            <a:r>
              <a:rPr lang="en-US" dirty="0"/>
              <a:t> </a:t>
            </a:r>
            <a:r>
              <a:rPr lang="en-US" dirty="0" err="1"/>
              <a:t>hạng</a:t>
            </a:r>
            <a:r>
              <a:rPr lang="en-US" dirty="0"/>
              <a:t> </a:t>
            </a:r>
            <a:r>
              <a:rPr lang="en-US" dirty="0" err="1"/>
              <a:t>nhân</a:t>
            </a:r>
            <a:r>
              <a:rPr lang="en-US" dirty="0"/>
              <a:t> </a:t>
            </a:r>
            <a:r>
              <a:rPr lang="en-US" dirty="0" err="1"/>
              <a:t>chỉ</a:t>
            </a:r>
            <a:r>
              <a:rPr lang="en-US" dirty="0"/>
              <a:t> </a:t>
            </a:r>
            <a:r>
              <a:rPr lang="en-US" dirty="0" err="1"/>
              <a:t>còn</a:t>
            </a:r>
            <a:r>
              <a:rPr lang="en-US" dirty="0"/>
              <a:t> 1 </a:t>
            </a:r>
            <a:r>
              <a:rPr lang="en-US" dirty="0" err="1"/>
              <a:t>chữ</a:t>
            </a:r>
            <a:r>
              <a:rPr lang="en-US" dirty="0"/>
              <a:t> </a:t>
            </a:r>
            <a:r>
              <a:rPr lang="en-US" dirty="0" err="1"/>
              <a:t>số</a:t>
            </a:r>
            <a:r>
              <a:rPr lang="en-US" dirty="0"/>
              <a:t>.</a:t>
            </a:r>
          </a:p>
        </p:txBody>
      </p:sp>
      <p:sp>
        <p:nvSpPr>
          <p:cNvPr id="7" name="Rectangle 6"/>
          <p:cNvSpPr/>
          <p:nvPr/>
        </p:nvSpPr>
        <p:spPr>
          <a:xfrm>
            <a:off x="19050" y="6538912"/>
            <a:ext cx="4572000" cy="276999"/>
          </a:xfrm>
          <a:prstGeom prst="rect">
            <a:avLst/>
          </a:prstGeom>
        </p:spPr>
        <p:txBody>
          <a:bodyPr>
            <a:spAutoFit/>
          </a:bodyPr>
          <a:lstStyle/>
          <a:p>
            <a:r>
              <a:rPr lang="en-US" sz="1200" dirty="0"/>
              <a:t>https://www.coursera.org/learn/algorithms-divide-conquer</a:t>
            </a:r>
          </a:p>
        </p:txBody>
      </p:sp>
      <p:pic>
        <p:nvPicPr>
          <p:cNvPr id="8" name="Picture 7"/>
          <p:cNvPicPr>
            <a:picLocks noChangeAspect="1"/>
          </p:cNvPicPr>
          <p:nvPr/>
        </p:nvPicPr>
        <p:blipFill>
          <a:blip r:embed="rId3"/>
          <a:stretch>
            <a:fillRect/>
          </a:stretch>
        </p:blipFill>
        <p:spPr>
          <a:xfrm>
            <a:off x="1371600" y="1371600"/>
            <a:ext cx="5877745" cy="1895740"/>
          </a:xfrm>
          <a:prstGeom prst="rect">
            <a:avLst/>
          </a:prstGeom>
        </p:spPr>
      </p:pic>
    </p:spTree>
    <p:extLst>
      <p:ext uri="{BB962C8B-B14F-4D97-AF65-F5344CB8AC3E}">
        <p14:creationId xmlns:p14="http://schemas.microsoft.com/office/powerpoint/2010/main" val="38988446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42</a:t>
            </a:fld>
            <a:endParaRPr lang="en-US"/>
          </a:p>
        </p:txBody>
      </p:sp>
      <p:sp>
        <p:nvSpPr>
          <p:cNvPr id="6" name="Title 5"/>
          <p:cNvSpPr>
            <a:spLocks noGrp="1"/>
          </p:cNvSpPr>
          <p:nvPr>
            <p:ph type="title"/>
          </p:nvPr>
        </p:nvSpPr>
        <p:spPr/>
        <p:txBody>
          <a:bodyPr/>
          <a:lstStyle/>
          <a:p>
            <a:endParaRPr lang="en-US"/>
          </a:p>
        </p:txBody>
      </p:sp>
      <p:sp>
        <p:nvSpPr>
          <p:cNvPr id="7" name="Text Placeholder 6"/>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8927644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43</a:t>
            </a:fld>
            <a:endParaRPr lang="en-US"/>
          </a:p>
        </p:txBody>
      </p:sp>
      <p:sp>
        <p:nvSpPr>
          <p:cNvPr id="4" name="Title 3"/>
          <p:cNvSpPr>
            <a:spLocks noGrp="1"/>
          </p:cNvSpPr>
          <p:nvPr>
            <p:ph type="title"/>
          </p:nvPr>
        </p:nvSpPr>
        <p:spPr/>
        <p:txBody>
          <a:bodyPr/>
          <a:lstStyle/>
          <a:p>
            <a:endParaRPr lang="en-US"/>
          </a:p>
        </p:txBody>
      </p:sp>
      <p:sp>
        <p:nvSpPr>
          <p:cNvPr id="5" name="Text Placeholder 4"/>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961085781"/>
      </p:ext>
    </p:extLst>
  </p:cSld>
  <p:clrMapOvr>
    <a:masterClrMapping/>
  </p:clrMapOvr>
</p:sld>
</file>

<file path=ppt/theme/theme1.xml><?xml version="1.0" encoding="utf-8"?>
<a:theme xmlns:a="http://schemas.openxmlformats.org/drawingml/2006/main" name="7. SL - Mẫu slides bài giảng_HUST PPT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 SL - Mẫu slides bài giảng_HUST PPT Template.pptx" id="{45510D97-992C-451E-ADEA-BBABC4EFA76A}" vid="{3E3F4600-7126-4670-8CD5-2C2CB12BC9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7. SL - Mẫu slides bài giảng_HUST PPT Template</Template>
  <TotalTime>12908</TotalTime>
  <Words>6104</Words>
  <Application>Microsoft Office PowerPoint</Application>
  <PresentationFormat>Trình chiếu Trên màn hình (4:3)</PresentationFormat>
  <Paragraphs>525</Paragraphs>
  <Slides>43</Slides>
  <Notes>24</Notes>
  <HiddenSlides>0</HiddenSlides>
  <MMClips>0</MMClips>
  <ScaleCrop>false</ScaleCrop>
  <HeadingPairs>
    <vt:vector size="4" baseType="variant">
      <vt:variant>
        <vt:lpstr>Chủ đề</vt:lpstr>
      </vt:variant>
      <vt:variant>
        <vt:i4>1</vt:i4>
      </vt:variant>
      <vt:variant>
        <vt:lpstr>Tiêu đề Bản chiếu</vt:lpstr>
      </vt:variant>
      <vt:variant>
        <vt:i4>43</vt:i4>
      </vt:variant>
    </vt:vector>
  </HeadingPairs>
  <TitlesOfParts>
    <vt:vector size="44" baseType="lpstr">
      <vt:lpstr>7. SL - Mẫu slides bài giảng_HUST PPT Template</vt:lpstr>
      <vt:lpstr>CẤU TRÚC DỮ LIỆU VÀ GIẢI THUẬT</vt:lpstr>
      <vt:lpstr>Chương I :  Tổng quan về CTDL và Giải thuật</vt:lpstr>
      <vt:lpstr>Các nội dung chính</vt:lpstr>
      <vt:lpstr>4. Thiết kế và Đánh giá giải thuật</vt:lpstr>
      <vt:lpstr>4.1. Thiết kế giải thuật</vt:lpstr>
      <vt:lpstr>4.1. Thiết kế giải thuật</vt:lpstr>
      <vt:lpstr>4.1.1. Thiết kế sơ bộ - Phương pháp TK từ trên xuống</vt:lpstr>
      <vt:lpstr>Sơ đồ phân cấp chức năng</vt:lpstr>
      <vt:lpstr>4.1.2. Thiết kế chi tiết - Phương pháp tinh chỉnh từng bước </vt:lpstr>
      <vt:lpstr>Phương pháp tinh chỉnh từng bước </vt:lpstr>
      <vt:lpstr>Phương pháp tinh chỉnh từng bước </vt:lpstr>
      <vt:lpstr>VÍ DỤ Bài toán sắp xếp một dãy số theo trật tự tăng dần</vt:lpstr>
      <vt:lpstr>VÍ DỤ Bài toán sắp xếp một dãy số theo trật tự tăng dần</vt:lpstr>
      <vt:lpstr>VÍ DỤ Bài toán sắp xếp một dãy số theo trật tự tăng dần</vt:lpstr>
      <vt:lpstr>VÍ DỤ Bài toán sắp xếp một dãy số theo trật tự tăng dần</vt:lpstr>
      <vt:lpstr>4.2. Đánh giá giải thuật</vt:lpstr>
      <vt:lpstr>4.2.2. Các vấn đề cần đánh giá</vt:lpstr>
      <vt:lpstr>Xác định độ phức tạp của GT</vt:lpstr>
      <vt:lpstr>Ví dụ</vt:lpstr>
      <vt:lpstr>Xác định độ phức tạp của GT</vt:lpstr>
      <vt:lpstr>Xác định độ phức tạp của GT</vt:lpstr>
      <vt:lpstr>Xác định độ phức tạp của GT</vt:lpstr>
      <vt:lpstr>Khái niệm O (ô lớn)</vt:lpstr>
      <vt:lpstr>Khái niệm O (ô lớn)</vt:lpstr>
      <vt:lpstr>Bản trình bày PowerPoint</vt:lpstr>
      <vt:lpstr>Tính chất của O lớn</vt:lpstr>
      <vt:lpstr>Ví dụ</vt:lpstr>
      <vt:lpstr>Hệ quả</vt:lpstr>
      <vt:lpstr>Ví dụ</vt:lpstr>
      <vt:lpstr>Cách tính độ phức tạp</vt:lpstr>
      <vt:lpstr>VÍ DỤ:  Xác định độ phức tạp của giải thuật tìm kiếm đơn giản</vt:lpstr>
      <vt:lpstr>VÍ DỤ:  Xác định độ phức tạp của giải thuật tìm kiếm đơn giản</vt:lpstr>
      <vt:lpstr>VÍ DỤ:  Xác định độ phức tạp của giải thuật tìm kiếm đơn giản</vt:lpstr>
      <vt:lpstr>VÍ DỤ:  Xác định độ phức tạp của giải thuật sắp xếp</vt:lpstr>
      <vt:lpstr>Bài tập</vt:lpstr>
      <vt:lpstr>Bản trình bày PowerPoint</vt:lpstr>
      <vt:lpstr>Ví dụ</vt:lpstr>
      <vt:lpstr>Ví dụ</vt:lpstr>
      <vt:lpstr>Ví dụ</vt:lpstr>
      <vt:lpstr>Bản trình bày PowerPoint</vt:lpstr>
      <vt:lpstr>Ví dụ</vt:lpstr>
      <vt:lpstr>Bản trình bày PowerPoint</vt:lpstr>
      <vt:lpstr>Bản trình bày PowerPoint</vt:lpstr>
    </vt:vector>
  </TitlesOfParts>
  <Company>Utility Muffin Research Kitchen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Dao Trung Kien</dc:creator>
  <cp:lastModifiedBy>Hai Hai</cp:lastModifiedBy>
  <cp:revision>1336</cp:revision>
  <cp:lastPrinted>2018-10-12T09:39:58Z</cp:lastPrinted>
  <dcterms:created xsi:type="dcterms:W3CDTF">2007-06-13T23:23:09Z</dcterms:created>
  <dcterms:modified xsi:type="dcterms:W3CDTF">2025-10-15T04:12:00Z</dcterms:modified>
</cp:coreProperties>
</file>