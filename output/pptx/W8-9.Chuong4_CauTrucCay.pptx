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8" r:id="rId1"/>
  </p:sldMasterIdLst>
  <p:notesMasterIdLst>
    <p:notesMasterId r:id="rId95"/>
  </p:notesMasterIdLst>
  <p:handoutMasterIdLst>
    <p:handoutMasterId r:id="rId96"/>
  </p:handoutMasterIdLst>
  <p:sldIdLst>
    <p:sldId id="542" r:id="rId2"/>
    <p:sldId id="256" r:id="rId3"/>
    <p:sldId id="335" r:id="rId4"/>
    <p:sldId id="417" r:id="rId5"/>
    <p:sldId id="507" r:id="rId6"/>
    <p:sldId id="438" r:id="rId7"/>
    <p:sldId id="508" r:id="rId8"/>
    <p:sldId id="440" r:id="rId9"/>
    <p:sldId id="509" r:id="rId10"/>
    <p:sldId id="511" r:id="rId11"/>
    <p:sldId id="510" r:id="rId12"/>
    <p:sldId id="441" r:id="rId13"/>
    <p:sldId id="442" r:id="rId14"/>
    <p:sldId id="443" r:id="rId15"/>
    <p:sldId id="444" r:id="rId16"/>
    <p:sldId id="445" r:id="rId17"/>
    <p:sldId id="552" r:id="rId18"/>
    <p:sldId id="553" r:id="rId19"/>
    <p:sldId id="496" r:id="rId20"/>
    <p:sldId id="447" r:id="rId21"/>
    <p:sldId id="448" r:id="rId22"/>
    <p:sldId id="450" r:id="rId23"/>
    <p:sldId id="451" r:id="rId24"/>
    <p:sldId id="452" r:id="rId25"/>
    <p:sldId id="453" r:id="rId26"/>
    <p:sldId id="454" r:id="rId27"/>
    <p:sldId id="449" r:id="rId28"/>
    <p:sldId id="455" r:id="rId29"/>
    <p:sldId id="456" r:id="rId30"/>
    <p:sldId id="498" r:id="rId31"/>
    <p:sldId id="499" r:id="rId32"/>
    <p:sldId id="506" r:id="rId33"/>
    <p:sldId id="519" r:id="rId34"/>
    <p:sldId id="462" r:id="rId35"/>
    <p:sldId id="521" r:id="rId36"/>
    <p:sldId id="464" r:id="rId37"/>
    <p:sldId id="465" r:id="rId38"/>
    <p:sldId id="523" r:id="rId39"/>
    <p:sldId id="466" r:id="rId40"/>
    <p:sldId id="467" r:id="rId41"/>
    <p:sldId id="468" r:id="rId42"/>
    <p:sldId id="469" r:id="rId43"/>
    <p:sldId id="505" r:id="rId44"/>
    <p:sldId id="503" r:id="rId45"/>
    <p:sldId id="470" r:id="rId46"/>
    <p:sldId id="471" r:id="rId47"/>
    <p:sldId id="472" r:id="rId48"/>
    <p:sldId id="474" r:id="rId49"/>
    <p:sldId id="504" r:id="rId50"/>
    <p:sldId id="475" r:id="rId51"/>
    <p:sldId id="543" r:id="rId52"/>
    <p:sldId id="544" r:id="rId53"/>
    <p:sldId id="479" r:id="rId54"/>
    <p:sldId id="480" r:id="rId55"/>
    <p:sldId id="547" r:id="rId56"/>
    <p:sldId id="481" r:id="rId57"/>
    <p:sldId id="513" r:id="rId58"/>
    <p:sldId id="514" r:id="rId59"/>
    <p:sldId id="515" r:id="rId60"/>
    <p:sldId id="516" r:id="rId61"/>
    <p:sldId id="517" r:id="rId62"/>
    <p:sldId id="485" r:id="rId63"/>
    <p:sldId id="518" r:id="rId64"/>
    <p:sldId id="486" r:id="rId65"/>
    <p:sldId id="487" r:id="rId66"/>
    <p:sldId id="548" r:id="rId67"/>
    <p:sldId id="526" r:id="rId68"/>
    <p:sldId id="488" r:id="rId69"/>
    <p:sldId id="489" r:id="rId70"/>
    <p:sldId id="512" r:id="rId71"/>
    <p:sldId id="527" r:id="rId72"/>
    <p:sldId id="525" r:id="rId73"/>
    <p:sldId id="490" r:id="rId74"/>
    <p:sldId id="528" r:id="rId75"/>
    <p:sldId id="529" r:id="rId76"/>
    <p:sldId id="530" r:id="rId77"/>
    <p:sldId id="532" r:id="rId78"/>
    <p:sldId id="540" r:id="rId79"/>
    <p:sldId id="531" r:id="rId80"/>
    <p:sldId id="533" r:id="rId81"/>
    <p:sldId id="534" r:id="rId82"/>
    <p:sldId id="535" r:id="rId83"/>
    <p:sldId id="537" r:id="rId84"/>
    <p:sldId id="538" r:id="rId85"/>
    <p:sldId id="539" r:id="rId86"/>
    <p:sldId id="491" r:id="rId87"/>
    <p:sldId id="492" r:id="rId88"/>
    <p:sldId id="493" r:id="rId89"/>
    <p:sldId id="545" r:id="rId90"/>
    <p:sldId id="550" r:id="rId91"/>
    <p:sldId id="551" r:id="rId92"/>
    <p:sldId id="546" r:id="rId93"/>
    <p:sldId id="549" r:id="rId94"/>
  </p:sldIdLst>
  <p:sldSz cx="9144000" cy="6858000" type="screen4x3"/>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0066"/>
    <a:srgbClr val="00004C"/>
    <a:srgbClr val="0036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54" autoAdjust="0"/>
    <p:restoredTop sz="81264" autoAdjust="0"/>
  </p:normalViewPr>
  <p:slideViewPr>
    <p:cSldViewPr>
      <p:cViewPr varScale="1">
        <p:scale>
          <a:sx n="82" d="100"/>
          <a:sy n="82" d="100"/>
        </p:scale>
        <p:origin x="2358" y="300"/>
      </p:cViewPr>
      <p:guideLst>
        <p:guide orient="horz" pos="2160"/>
        <p:guide pos="2880"/>
      </p:guideLst>
    </p:cSldViewPr>
  </p:slideViewPr>
  <p:notesTextViewPr>
    <p:cViewPr>
      <p:scale>
        <a:sx n="125" d="100"/>
        <a:sy n="125" d="100"/>
      </p:scale>
      <p:origin x="0" y="0"/>
    </p:cViewPr>
  </p:notesTextViewPr>
  <p:notesViewPr>
    <p:cSldViewPr>
      <p:cViewPr varScale="1">
        <p:scale>
          <a:sx n="67" d="100"/>
          <a:sy n="67" d="100"/>
        </p:scale>
        <p:origin x="-2784" y="-96"/>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10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i Hai" userId="0a4b3da92c65de21" providerId="LiveId" clId="{EEAD9791-8288-4925-8167-C7EA9C2B659C}"/>
    <pc:docChg chg="custSel addSld modSld">
      <pc:chgData name="Hai Hai" userId="0a4b3da92c65de21" providerId="LiveId" clId="{EEAD9791-8288-4925-8167-C7EA9C2B659C}" dt="2026-01-25T10:09:09.803" v="323" actId="1076"/>
      <pc:docMkLst>
        <pc:docMk/>
      </pc:docMkLst>
      <pc:sldChg chg="modSp mod">
        <pc:chgData name="Hai Hai" userId="0a4b3da92c65de21" providerId="LiveId" clId="{EEAD9791-8288-4925-8167-C7EA9C2B659C}" dt="2026-01-25T10:08:44.048" v="322" actId="1076"/>
        <pc:sldMkLst>
          <pc:docMk/>
          <pc:sldMk cId="1480097696" sldId="535"/>
        </pc:sldMkLst>
        <pc:picChg chg="mod">
          <ac:chgData name="Hai Hai" userId="0a4b3da92c65de21" providerId="LiveId" clId="{EEAD9791-8288-4925-8167-C7EA9C2B659C}" dt="2026-01-25T10:08:44.048" v="322" actId="1076"/>
          <ac:picMkLst>
            <pc:docMk/>
            <pc:sldMk cId="1480097696" sldId="535"/>
            <ac:picMk id="7" creationId="{00000000-0000-0000-0000-000000000000}"/>
          </ac:picMkLst>
        </pc:picChg>
        <pc:picChg chg="mod">
          <ac:chgData name="Hai Hai" userId="0a4b3da92c65de21" providerId="LiveId" clId="{EEAD9791-8288-4925-8167-C7EA9C2B659C}" dt="2026-01-25T10:08:44.048" v="322" actId="1076"/>
          <ac:picMkLst>
            <pc:docMk/>
            <pc:sldMk cId="1480097696" sldId="535"/>
            <ac:picMk id="9" creationId="{00000000-0000-0000-0000-000000000000}"/>
          </ac:picMkLst>
        </pc:picChg>
        <pc:picChg chg="mod">
          <ac:chgData name="Hai Hai" userId="0a4b3da92c65de21" providerId="LiveId" clId="{EEAD9791-8288-4925-8167-C7EA9C2B659C}" dt="2026-01-25T10:08:44.048" v="322" actId="1076"/>
          <ac:picMkLst>
            <pc:docMk/>
            <pc:sldMk cId="1480097696" sldId="535"/>
            <ac:picMk id="10" creationId="{00000000-0000-0000-0000-000000000000}"/>
          </ac:picMkLst>
        </pc:picChg>
      </pc:sldChg>
      <pc:sldChg chg="modSp mod">
        <pc:chgData name="Hai Hai" userId="0a4b3da92c65de21" providerId="LiveId" clId="{EEAD9791-8288-4925-8167-C7EA9C2B659C}" dt="2026-01-25T10:09:09.803" v="323" actId="1076"/>
        <pc:sldMkLst>
          <pc:docMk/>
          <pc:sldMk cId="3808533382" sldId="537"/>
        </pc:sldMkLst>
        <pc:picChg chg="mod">
          <ac:chgData name="Hai Hai" userId="0a4b3da92c65de21" providerId="LiveId" clId="{EEAD9791-8288-4925-8167-C7EA9C2B659C}" dt="2026-01-25T10:09:09.803" v="323" actId="1076"/>
          <ac:picMkLst>
            <pc:docMk/>
            <pc:sldMk cId="3808533382" sldId="537"/>
            <ac:picMk id="6" creationId="{00000000-0000-0000-0000-000000000000}"/>
          </ac:picMkLst>
        </pc:picChg>
        <pc:picChg chg="mod">
          <ac:chgData name="Hai Hai" userId="0a4b3da92c65de21" providerId="LiveId" clId="{EEAD9791-8288-4925-8167-C7EA9C2B659C}" dt="2026-01-25T10:09:09.803" v="323" actId="1076"/>
          <ac:picMkLst>
            <pc:docMk/>
            <pc:sldMk cId="3808533382" sldId="537"/>
            <ac:picMk id="11" creationId="{00000000-0000-0000-0000-000000000000}"/>
          </ac:picMkLst>
        </pc:picChg>
        <pc:picChg chg="mod">
          <ac:chgData name="Hai Hai" userId="0a4b3da92c65de21" providerId="LiveId" clId="{EEAD9791-8288-4925-8167-C7EA9C2B659C}" dt="2026-01-25T10:09:09.803" v="323" actId="1076"/>
          <ac:picMkLst>
            <pc:docMk/>
            <pc:sldMk cId="3808533382" sldId="537"/>
            <ac:picMk id="12"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32111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0060"/>
          </a:xfrm>
          <a:prstGeom prst="rect">
            <a:avLst/>
          </a:prstGeom>
        </p:spPr>
        <p:txBody>
          <a:bodyPr vert="horz" wrap="square" lIns="96661" tIns="48331" rIns="96661" bIns="48331" numCol="1" anchor="t" anchorCtr="0" compatLnSpc="1">
            <a:prstTxWarp prst="textNoShape">
              <a:avLst/>
            </a:prstTxWarp>
          </a:bodyPr>
          <a:lstStyle>
            <a:lvl1pPr>
              <a:defRPr sz="1300">
                <a:latin typeface="Calibri" pitchFamily="34" charset="0"/>
              </a:defRPr>
            </a:lvl1pPr>
          </a:lstStyle>
          <a:p>
            <a:endParaRPr lang="en-US"/>
          </a:p>
        </p:txBody>
      </p:sp>
      <p:sp>
        <p:nvSpPr>
          <p:cNvPr id="3" name="Date Placeholder 2"/>
          <p:cNvSpPr>
            <a:spLocks noGrp="1"/>
          </p:cNvSpPr>
          <p:nvPr>
            <p:ph type="dt" idx="1"/>
          </p:nvPr>
        </p:nvSpPr>
        <p:spPr>
          <a:xfrm>
            <a:off x="4143590" y="3"/>
            <a:ext cx="3169920" cy="480060"/>
          </a:xfrm>
          <a:prstGeom prst="rect">
            <a:avLst/>
          </a:prstGeom>
        </p:spPr>
        <p:txBody>
          <a:bodyPr vert="horz" wrap="square" lIns="96661" tIns="48331" rIns="96661" bIns="48331" numCol="1" anchor="t" anchorCtr="0" compatLnSpc="1">
            <a:prstTxWarp prst="textNoShape">
              <a:avLst/>
            </a:prstTxWarp>
          </a:bodyPr>
          <a:lstStyle>
            <a:lvl1pPr algn="r">
              <a:defRPr sz="1300">
                <a:latin typeface="Calibri" pitchFamily="34" charset="0"/>
              </a:defRPr>
            </a:lvl1pPr>
          </a:lstStyle>
          <a:p>
            <a:fld id="{5EDDA0F7-BB27-45D6-A5CE-AEC59009A5B9}" type="datetimeFigureOut">
              <a:rPr lang="en-US"/>
              <a:pPr/>
              <a:t>25/1/2026</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pPr lvl="0"/>
            <a:endParaRPr lang="en-US" noProof="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wrap="square" lIns="96661" tIns="48331" rIns="96661" bIns="48331" numCol="1" anchor="b" anchorCtr="0" compatLnSpc="1">
            <a:prstTxWarp prst="textNoShape">
              <a:avLst/>
            </a:prstTxWarp>
          </a:bodyPr>
          <a:lstStyle>
            <a:lvl1pPr>
              <a:defRPr sz="1300">
                <a:latin typeface="Calibri" pitchFamily="34" charset="0"/>
              </a:defRPr>
            </a:lvl1pPr>
          </a:lstStyle>
          <a:p>
            <a:endParaRPr lang="en-US"/>
          </a:p>
        </p:txBody>
      </p:sp>
      <p:sp>
        <p:nvSpPr>
          <p:cNvPr id="7" name="Slide Number Placeholder 6"/>
          <p:cNvSpPr>
            <a:spLocks noGrp="1"/>
          </p:cNvSpPr>
          <p:nvPr>
            <p:ph type="sldNum" sz="quarter" idx="5"/>
          </p:nvPr>
        </p:nvSpPr>
        <p:spPr>
          <a:xfrm>
            <a:off x="4143590" y="9119474"/>
            <a:ext cx="3169920" cy="480060"/>
          </a:xfrm>
          <a:prstGeom prst="rect">
            <a:avLst/>
          </a:prstGeom>
        </p:spPr>
        <p:txBody>
          <a:bodyPr vert="horz" wrap="square" lIns="96661" tIns="48331" rIns="96661" bIns="48331" numCol="1" anchor="b" anchorCtr="0" compatLnSpc="1">
            <a:prstTxWarp prst="textNoShape">
              <a:avLst/>
            </a:prstTxWarp>
          </a:bodyPr>
          <a:lstStyle>
            <a:lvl1pPr algn="r">
              <a:defRPr sz="1300">
                <a:latin typeface="Calibri" pitchFamily="34" charset="0"/>
              </a:defRPr>
            </a:lvl1pPr>
          </a:lstStyle>
          <a:p>
            <a:fld id="{76159C16-962D-45B7-9AE3-AA455C3EA8F0}" type="slidenum">
              <a:rPr lang="en-US"/>
              <a:pPr/>
              <a:t>‹#›</a:t>
            </a:fld>
            <a:endParaRPr lang="en-US"/>
          </a:p>
        </p:txBody>
      </p:sp>
    </p:spTree>
    <p:extLst>
      <p:ext uri="{BB962C8B-B14F-4D97-AF65-F5344CB8AC3E}">
        <p14:creationId xmlns:p14="http://schemas.microsoft.com/office/powerpoint/2010/main" val="600913562"/>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1</a:t>
            </a:fld>
            <a:endParaRPr lang="en-US"/>
          </a:p>
        </p:txBody>
      </p:sp>
    </p:spTree>
    <p:extLst>
      <p:ext uri="{BB962C8B-B14F-4D97-AF65-F5344CB8AC3E}">
        <p14:creationId xmlns:p14="http://schemas.microsoft.com/office/powerpoint/2010/main" val="1661475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Mảng</a:t>
            </a:r>
            <a:r>
              <a:rPr lang="en-US" dirty="0"/>
              <a:t>                       CT </a:t>
            </a:r>
            <a:r>
              <a:rPr lang="en-US" dirty="0" err="1"/>
              <a:t>lưu</a:t>
            </a:r>
            <a:r>
              <a:rPr lang="en-US" dirty="0"/>
              <a:t> </a:t>
            </a:r>
            <a:r>
              <a:rPr lang="en-US" dirty="0" err="1"/>
              <a:t>trữ</a:t>
            </a:r>
            <a:r>
              <a:rPr lang="en-US" baseline="0" dirty="0"/>
              <a:t> </a:t>
            </a:r>
            <a:r>
              <a:rPr lang="en-US" baseline="0" dirty="0" err="1"/>
              <a:t>tuần</a:t>
            </a:r>
            <a:r>
              <a:rPr lang="en-US" baseline="0" dirty="0"/>
              <a:t> </a:t>
            </a:r>
            <a:r>
              <a:rPr lang="en-US" baseline="0" dirty="0" err="1"/>
              <a:t>tự</a:t>
            </a:r>
            <a:endParaRPr lang="en-US" dirty="0"/>
          </a:p>
          <a:p>
            <a:r>
              <a:rPr lang="en-US" dirty="0" err="1"/>
              <a:t>Danh</a:t>
            </a:r>
            <a:r>
              <a:rPr lang="en-US" baseline="0" dirty="0"/>
              <a:t> </a:t>
            </a:r>
            <a:r>
              <a:rPr lang="en-US" baseline="0" dirty="0" err="1"/>
              <a:t>sách</a:t>
            </a:r>
            <a:r>
              <a:rPr lang="en-US" baseline="0" dirty="0"/>
              <a:t>               CT </a:t>
            </a:r>
            <a:r>
              <a:rPr lang="en-US" baseline="0" err="1"/>
              <a:t>lưu</a:t>
            </a:r>
            <a:r>
              <a:rPr lang="en-US" baseline="0"/>
              <a:t> trư</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a:t>
            </a:fld>
            <a:endParaRPr lang="en-US"/>
          </a:p>
        </p:txBody>
      </p:sp>
    </p:spTree>
    <p:extLst>
      <p:ext uri="{BB962C8B-B14F-4D97-AF65-F5344CB8AC3E}">
        <p14:creationId xmlns:p14="http://schemas.microsoft.com/office/powerpoint/2010/main" val="1961691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cấu trúc</a:t>
            </a:r>
            <a:r>
              <a:rPr lang="en-US" dirty="0"/>
              <a:t> </a:t>
            </a:r>
            <a:r>
              <a:rPr lang="vi-VN" dirty="0"/>
              <a:t>danh sách như một cấu trúc cây đặc biệt mà mỗi nút cha chỉ có nhiều nhất một nút</a:t>
            </a:r>
            <a:r>
              <a:rPr lang="en-US" dirty="0"/>
              <a:t> </a:t>
            </a:r>
            <a:r>
              <a:rPr lang="vi-VN" dirty="0"/>
              <a:t>con.</a:t>
            </a:r>
            <a:endParaRPr lang="en-US" dirty="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5</a:t>
            </a:fld>
            <a:endParaRPr lang="en-US"/>
          </a:p>
        </p:txBody>
      </p:sp>
    </p:spTree>
    <p:extLst>
      <p:ext uri="{BB962C8B-B14F-4D97-AF65-F5344CB8AC3E}">
        <p14:creationId xmlns:p14="http://schemas.microsoft.com/office/powerpoint/2010/main" val="34744956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err="1"/>
              <a:t>Một</a:t>
            </a:r>
            <a:r>
              <a:rPr lang="en-US" dirty="0"/>
              <a:t> </a:t>
            </a:r>
            <a:r>
              <a:rPr lang="en-US" dirty="0" err="1"/>
              <a:t>nút</a:t>
            </a:r>
            <a:r>
              <a:rPr lang="en-US" dirty="0"/>
              <a:t> </a:t>
            </a:r>
            <a:r>
              <a:rPr lang="en-US" dirty="0" err="1"/>
              <a:t>tạo</a:t>
            </a:r>
            <a:r>
              <a:rPr lang="en-US" dirty="0"/>
              <a:t> </a:t>
            </a:r>
            <a:r>
              <a:rPr lang="en-US" dirty="0" err="1"/>
              <a:t>thành</a:t>
            </a:r>
            <a:r>
              <a:rPr lang="en-US" dirty="0"/>
              <a:t> </a:t>
            </a:r>
            <a:r>
              <a:rPr lang="en-US" dirty="0" err="1"/>
              <a:t>cây</a:t>
            </a:r>
            <a:r>
              <a:rPr lang="en-US" dirty="0"/>
              <a:t> (</a:t>
            </a:r>
            <a:r>
              <a:rPr lang="en-US" dirty="0" err="1"/>
              <a:t>nút</a:t>
            </a:r>
            <a:r>
              <a:rPr lang="en-US" dirty="0"/>
              <a:t> </a:t>
            </a:r>
            <a:r>
              <a:rPr lang="en-US" dirty="0" err="1"/>
              <a:t>gốc</a:t>
            </a:r>
            <a:r>
              <a:rPr lang="en-US" dirty="0"/>
              <a:t>)</a:t>
            </a:r>
          </a:p>
          <a:p>
            <a:pPr lvl="1"/>
            <a:r>
              <a:rPr lang="en-US" dirty="0" err="1"/>
              <a:t>Khi</a:t>
            </a:r>
            <a:r>
              <a:rPr lang="en-US" dirty="0"/>
              <a:t> </a:t>
            </a:r>
            <a:r>
              <a:rPr lang="en-US" dirty="0" err="1"/>
              <a:t>có</a:t>
            </a:r>
            <a:r>
              <a:rPr lang="en-US" dirty="0"/>
              <a:t> n </a:t>
            </a:r>
            <a:r>
              <a:rPr lang="en-US" dirty="0" err="1"/>
              <a:t>cây</a:t>
            </a:r>
            <a:r>
              <a:rPr lang="en-US" dirty="0"/>
              <a:t>: T</a:t>
            </a:r>
            <a:r>
              <a:rPr lang="en-US" baseline="-25000" dirty="0"/>
              <a:t>1</a:t>
            </a:r>
            <a:r>
              <a:rPr lang="en-US" dirty="0"/>
              <a:t>, T</a:t>
            </a:r>
            <a:r>
              <a:rPr lang="en-US" baseline="-25000" dirty="0"/>
              <a:t>2</a:t>
            </a:r>
            <a:r>
              <a:rPr lang="en-US" dirty="0"/>
              <a:t>, …, </a:t>
            </a:r>
            <a:r>
              <a:rPr lang="en-US" dirty="0" err="1"/>
              <a:t>T</a:t>
            </a:r>
            <a:r>
              <a:rPr lang="en-US" baseline="-25000" dirty="0" err="1"/>
              <a:t>n</a:t>
            </a:r>
            <a:r>
              <a:rPr lang="en-US" dirty="0"/>
              <a:t>, </a:t>
            </a:r>
          </a:p>
          <a:p>
            <a:pPr lvl="2"/>
            <a:r>
              <a:rPr lang="en-US" dirty="0" err="1"/>
              <a:t>mỗi</a:t>
            </a:r>
            <a:r>
              <a:rPr lang="en-US" dirty="0"/>
              <a:t> </a:t>
            </a:r>
            <a:r>
              <a:rPr lang="en-US" dirty="0" err="1"/>
              <a:t>cây</a:t>
            </a:r>
            <a:r>
              <a:rPr lang="en-US" dirty="0"/>
              <a:t> </a:t>
            </a:r>
            <a:r>
              <a:rPr lang="en-US" dirty="0" err="1"/>
              <a:t>này</a:t>
            </a:r>
            <a:r>
              <a:rPr lang="en-US" dirty="0"/>
              <a:t> </a:t>
            </a:r>
            <a:r>
              <a:rPr lang="en-US" dirty="0" err="1"/>
              <a:t>có</a:t>
            </a:r>
            <a:r>
              <a:rPr lang="en-US" dirty="0"/>
              <a:t> </a:t>
            </a:r>
            <a:r>
              <a:rPr lang="en-US" dirty="0" err="1"/>
              <a:t>các</a:t>
            </a:r>
            <a:r>
              <a:rPr lang="en-US" dirty="0"/>
              <a:t> </a:t>
            </a:r>
            <a:r>
              <a:rPr lang="en-US" dirty="0" err="1"/>
              <a:t>nút</a:t>
            </a:r>
            <a:r>
              <a:rPr lang="en-US" dirty="0"/>
              <a:t> </a:t>
            </a:r>
            <a:r>
              <a:rPr lang="en-US" dirty="0" err="1"/>
              <a:t>gốc</a:t>
            </a:r>
            <a:r>
              <a:rPr lang="en-US" dirty="0"/>
              <a:t> </a:t>
            </a:r>
            <a:r>
              <a:rPr lang="en-US" dirty="0" err="1"/>
              <a:t>tương</a:t>
            </a:r>
            <a:r>
              <a:rPr lang="en-US" dirty="0"/>
              <a:t> </a:t>
            </a:r>
            <a:r>
              <a:rPr lang="en-US" dirty="0" err="1"/>
              <a:t>ứng</a:t>
            </a:r>
            <a:r>
              <a:rPr lang="en-US" dirty="0"/>
              <a:t> </a:t>
            </a:r>
            <a:r>
              <a:rPr lang="en-US" dirty="0" err="1"/>
              <a:t>là</a:t>
            </a:r>
            <a:r>
              <a:rPr lang="en-US" dirty="0"/>
              <a:t> r</a:t>
            </a:r>
            <a:r>
              <a:rPr lang="en-US" baseline="-25000" dirty="0"/>
              <a:t>1</a:t>
            </a:r>
            <a:r>
              <a:rPr lang="en-US" dirty="0"/>
              <a:t>, r</a:t>
            </a:r>
            <a:r>
              <a:rPr lang="en-US" baseline="-25000" dirty="0"/>
              <a:t>2</a:t>
            </a:r>
            <a:r>
              <a:rPr lang="en-US" dirty="0"/>
              <a:t>, …, </a:t>
            </a:r>
            <a:r>
              <a:rPr lang="en-US" dirty="0" err="1"/>
              <a:t>r</a:t>
            </a:r>
            <a:r>
              <a:rPr lang="en-US" baseline="-25000" dirty="0" err="1"/>
              <a:t>n</a:t>
            </a:r>
            <a:endParaRPr lang="en-US" baseline="-25000" dirty="0"/>
          </a:p>
          <a:p>
            <a:pPr lvl="2"/>
            <a:r>
              <a:rPr lang="en-US" dirty="0"/>
              <a:t>r </a:t>
            </a:r>
            <a:r>
              <a:rPr lang="en-US" dirty="0" err="1"/>
              <a:t>là</a:t>
            </a:r>
            <a:r>
              <a:rPr lang="en-US" dirty="0"/>
              <a:t> </a:t>
            </a:r>
            <a:r>
              <a:rPr lang="en-US" dirty="0" err="1"/>
              <a:t>quan</a:t>
            </a:r>
            <a:r>
              <a:rPr lang="en-US" dirty="0"/>
              <a:t> </a:t>
            </a:r>
            <a:r>
              <a:rPr lang="en-US" dirty="0" err="1"/>
              <a:t>hệ</a:t>
            </a:r>
            <a:r>
              <a:rPr lang="en-US" dirty="0"/>
              <a:t> cha con </a:t>
            </a:r>
            <a:r>
              <a:rPr lang="en-US" dirty="0" err="1"/>
              <a:t>với</a:t>
            </a:r>
            <a:r>
              <a:rPr lang="en-US" dirty="0"/>
              <a:t> r</a:t>
            </a:r>
            <a:r>
              <a:rPr lang="en-US" baseline="-25000" dirty="0"/>
              <a:t>1</a:t>
            </a:r>
            <a:r>
              <a:rPr lang="en-US" dirty="0"/>
              <a:t>, r</a:t>
            </a:r>
            <a:r>
              <a:rPr lang="en-US" baseline="-25000" dirty="0"/>
              <a:t>2</a:t>
            </a:r>
            <a:r>
              <a:rPr lang="en-US" dirty="0"/>
              <a:t>, …, </a:t>
            </a:r>
            <a:r>
              <a:rPr lang="en-US" dirty="0" err="1"/>
              <a:t>r</a:t>
            </a:r>
            <a:r>
              <a:rPr lang="en-US" baseline="-25000" dirty="0" err="1"/>
              <a:t>n</a:t>
            </a:r>
            <a:endParaRPr lang="en-US" baseline="-25000" dirty="0"/>
          </a:p>
          <a:p>
            <a:pPr lvl="2"/>
            <a:r>
              <a:rPr lang="en-US" dirty="0">
                <a:sym typeface="Wingdings" panose="05000000000000000000" pitchFamily="2" charset="2"/>
              </a:rPr>
              <a:t> </a:t>
            </a:r>
            <a:r>
              <a:rPr lang="en-US" dirty="0" err="1"/>
              <a:t>Tồn</a:t>
            </a:r>
            <a:r>
              <a:rPr lang="en-US" dirty="0"/>
              <a:t> </a:t>
            </a:r>
            <a:r>
              <a:rPr lang="en-US" dirty="0" err="1"/>
              <a:t>tại</a:t>
            </a:r>
            <a:r>
              <a:rPr lang="en-US" dirty="0"/>
              <a:t> </a:t>
            </a:r>
            <a:r>
              <a:rPr lang="en-US" dirty="0" err="1"/>
              <a:t>cây</a:t>
            </a:r>
            <a:r>
              <a:rPr lang="en-US" dirty="0"/>
              <a:t> </a:t>
            </a:r>
            <a:r>
              <a:rPr lang="en-US" dirty="0" err="1"/>
              <a:t>mới</a:t>
            </a:r>
            <a:r>
              <a:rPr lang="en-US" dirty="0"/>
              <a:t> T </a:t>
            </a:r>
            <a:r>
              <a:rPr lang="en-US" dirty="0" err="1"/>
              <a:t>nhận</a:t>
            </a:r>
            <a:r>
              <a:rPr lang="en-US" dirty="0"/>
              <a:t> r </a:t>
            </a:r>
            <a:r>
              <a:rPr lang="en-US" dirty="0" err="1"/>
              <a:t>là</a:t>
            </a:r>
            <a:r>
              <a:rPr lang="en-US" dirty="0"/>
              <a:t> </a:t>
            </a:r>
            <a:r>
              <a:rPr lang="en-US" dirty="0" err="1"/>
              <a:t>nút</a:t>
            </a:r>
            <a:r>
              <a:rPr lang="en-US" dirty="0"/>
              <a:t> </a:t>
            </a:r>
            <a:r>
              <a:rPr lang="en-US" dirty="0" err="1"/>
              <a:t>gốc</a:t>
            </a:r>
            <a:endParaRPr lang="en-US" dirty="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6</a:t>
            </a:fld>
            <a:endParaRPr lang="en-US"/>
          </a:p>
        </p:txBody>
      </p:sp>
    </p:spTree>
    <p:extLst>
      <p:ext uri="{BB962C8B-B14F-4D97-AF65-F5344CB8AC3E}">
        <p14:creationId xmlns:p14="http://schemas.microsoft.com/office/powerpoint/2010/main" val="6302059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 = 9</a:t>
            </a:r>
          </a:p>
          <a:p>
            <a:r>
              <a:rPr lang="pt-BR" dirty="0"/>
              <a:t>d(A) = d(G) = 2; d(B) = 3; d(H) = d(I) =0.</a:t>
            </a:r>
          </a:p>
          <a:p>
            <a:r>
              <a:rPr lang="en-US" dirty="0"/>
              <a:t>d(T) = d(B) = 3;</a:t>
            </a:r>
          </a:p>
          <a:p>
            <a:r>
              <a:rPr lang="fr-FR" dirty="0"/>
              <a:t>A, B, C, G </a:t>
            </a:r>
            <a:r>
              <a:rPr lang="fr-FR" dirty="0" err="1"/>
              <a:t>trong</a:t>
            </a:r>
            <a:r>
              <a:rPr lang="fr-FR" dirty="0"/>
              <a:t> </a:t>
            </a:r>
            <a:r>
              <a:rPr lang="fr-FR" dirty="0" err="1"/>
              <a:t>cây</a:t>
            </a:r>
            <a:r>
              <a:rPr lang="fr-FR" dirty="0"/>
              <a:t> T là </a:t>
            </a:r>
            <a:r>
              <a:rPr lang="fr-FR" dirty="0" err="1"/>
              <a:t>các</a:t>
            </a:r>
            <a:r>
              <a:rPr lang="fr-FR" dirty="0"/>
              <a:t> </a:t>
            </a:r>
            <a:r>
              <a:rPr lang="fr-FR" dirty="0" err="1"/>
              <a:t>nút</a:t>
            </a:r>
            <a:r>
              <a:rPr lang="fr-FR" dirty="0"/>
              <a:t> </a:t>
            </a:r>
            <a:r>
              <a:rPr lang="fr-FR" dirty="0" err="1"/>
              <a:t>nhánh</a:t>
            </a:r>
            <a:r>
              <a:rPr lang="fr-FR" dirty="0"/>
              <a:t>.</a:t>
            </a:r>
          </a:p>
          <a:p>
            <a:r>
              <a:rPr lang="pt-BR" dirty="0"/>
              <a:t>T có năm nút lá: D, E, F, H và I.</a:t>
            </a:r>
          </a:p>
          <a:p>
            <a:r>
              <a:rPr lang="pt-BR" dirty="0"/>
              <a:t> L(A) = 1, L(B) = L(C) = 2.</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8</a:t>
            </a:fld>
            <a:endParaRPr lang="en-US"/>
          </a:p>
        </p:txBody>
      </p:sp>
    </p:spTree>
    <p:extLst>
      <p:ext uri="{BB962C8B-B14F-4D97-AF65-F5344CB8AC3E}">
        <p14:creationId xmlns:p14="http://schemas.microsoft.com/office/powerpoint/2010/main" val="35344089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 = 9</a:t>
            </a:r>
          </a:p>
          <a:p>
            <a:r>
              <a:rPr lang="pt-BR" dirty="0"/>
              <a:t>d(A) = d(G) = 2; d(B) = 3; d(H) = d(I) =0.</a:t>
            </a:r>
          </a:p>
          <a:p>
            <a:r>
              <a:rPr lang="en-US" dirty="0"/>
              <a:t>d(T) = d(B) = 3;</a:t>
            </a:r>
          </a:p>
          <a:p>
            <a:r>
              <a:rPr lang="fr-FR" dirty="0"/>
              <a:t>A, B, C, G </a:t>
            </a:r>
            <a:r>
              <a:rPr lang="fr-FR" dirty="0" err="1"/>
              <a:t>trong</a:t>
            </a:r>
            <a:r>
              <a:rPr lang="fr-FR" dirty="0"/>
              <a:t> </a:t>
            </a:r>
            <a:r>
              <a:rPr lang="fr-FR" dirty="0" err="1"/>
              <a:t>cây</a:t>
            </a:r>
            <a:r>
              <a:rPr lang="fr-FR" dirty="0"/>
              <a:t> T là </a:t>
            </a:r>
            <a:r>
              <a:rPr lang="fr-FR" dirty="0" err="1"/>
              <a:t>các</a:t>
            </a:r>
            <a:r>
              <a:rPr lang="fr-FR" dirty="0"/>
              <a:t> </a:t>
            </a:r>
            <a:r>
              <a:rPr lang="fr-FR" dirty="0" err="1"/>
              <a:t>nút</a:t>
            </a:r>
            <a:r>
              <a:rPr lang="fr-FR" dirty="0"/>
              <a:t> </a:t>
            </a:r>
            <a:r>
              <a:rPr lang="fr-FR" dirty="0" err="1"/>
              <a:t>nhánh</a:t>
            </a:r>
            <a:r>
              <a:rPr lang="fr-FR" dirty="0"/>
              <a:t>.</a:t>
            </a:r>
          </a:p>
          <a:p>
            <a:r>
              <a:rPr lang="pt-BR" dirty="0"/>
              <a:t>T có năm nút lá: D, E, F, H và I.</a:t>
            </a:r>
          </a:p>
          <a:p>
            <a:r>
              <a:rPr lang="pt-BR" dirty="0"/>
              <a:t> L(A) = 1, L(B) = L(C) = 2.</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9</a:t>
            </a:fld>
            <a:endParaRPr lang="en-US"/>
          </a:p>
        </p:txBody>
      </p:sp>
    </p:spTree>
    <p:extLst>
      <p:ext uri="{BB962C8B-B14F-4D97-AF65-F5344CB8AC3E}">
        <p14:creationId xmlns:p14="http://schemas.microsoft.com/office/powerpoint/2010/main" val="4168415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10</a:t>
            </a:fld>
            <a:endParaRPr lang="en-US"/>
          </a:p>
        </p:txBody>
      </p:sp>
    </p:spTree>
    <p:extLst>
      <p:ext uri="{BB962C8B-B14F-4D97-AF65-F5344CB8AC3E}">
        <p14:creationId xmlns:p14="http://schemas.microsoft.com/office/powerpoint/2010/main" val="5752211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11</a:t>
            </a:fld>
            <a:endParaRPr lang="en-US"/>
          </a:p>
        </p:txBody>
      </p:sp>
    </p:spTree>
    <p:extLst>
      <p:ext uri="{BB962C8B-B14F-4D97-AF65-F5344CB8AC3E}">
        <p14:creationId xmlns:p14="http://schemas.microsoft.com/office/powerpoint/2010/main" val="1470421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Chiều</a:t>
            </a:r>
            <a:r>
              <a:rPr lang="en-US" dirty="0"/>
              <a:t> </a:t>
            </a:r>
            <a:r>
              <a:rPr lang="en-US" dirty="0" err="1"/>
              <a:t>cao</a:t>
            </a:r>
            <a:r>
              <a:rPr lang="en-US" dirty="0"/>
              <a:t> </a:t>
            </a:r>
            <a:r>
              <a:rPr lang="en-US" dirty="0" err="1"/>
              <a:t>của</a:t>
            </a:r>
            <a:r>
              <a:rPr lang="en-US" dirty="0"/>
              <a:t> </a:t>
            </a:r>
            <a:r>
              <a:rPr lang="en-US" dirty="0" err="1"/>
              <a:t>một</a:t>
            </a:r>
            <a:r>
              <a:rPr lang="en-US" dirty="0"/>
              <a:t> </a:t>
            </a:r>
            <a:r>
              <a:rPr lang="en-US" dirty="0" err="1"/>
              <a:t>nút</a:t>
            </a:r>
            <a:r>
              <a:rPr lang="en-US" dirty="0"/>
              <a:t> (height): </a:t>
            </a:r>
            <a:r>
              <a:rPr lang="en-US" dirty="0" err="1"/>
              <a:t>là</a:t>
            </a:r>
            <a:r>
              <a:rPr lang="en-US" dirty="0"/>
              <a:t> </a:t>
            </a:r>
            <a:r>
              <a:rPr lang="en-US" dirty="0" err="1"/>
              <a:t>khoảng</a:t>
            </a:r>
            <a:r>
              <a:rPr lang="en-US" dirty="0"/>
              <a:t> </a:t>
            </a:r>
            <a:r>
              <a:rPr lang="en-US" dirty="0" err="1"/>
              <a:t>cách</a:t>
            </a:r>
            <a:r>
              <a:rPr lang="en-US" dirty="0"/>
              <a:t> </a:t>
            </a:r>
            <a:r>
              <a:rPr lang="en-US" dirty="0" err="1"/>
              <a:t>giữa</a:t>
            </a:r>
            <a:r>
              <a:rPr lang="en-US" dirty="0"/>
              <a:t> </a:t>
            </a:r>
            <a:r>
              <a:rPr lang="en-US" dirty="0" err="1"/>
              <a:t>nút</a:t>
            </a:r>
            <a:r>
              <a:rPr lang="en-US" dirty="0"/>
              <a:t> </a:t>
            </a:r>
            <a:r>
              <a:rPr lang="en-US" dirty="0" err="1"/>
              <a:t>và</a:t>
            </a:r>
            <a:r>
              <a:rPr lang="en-US" dirty="0"/>
              <a:t> </a:t>
            </a:r>
            <a:r>
              <a:rPr lang="en-US" dirty="0" err="1"/>
              <a:t>gốc</a:t>
            </a:r>
            <a:r>
              <a:rPr lang="en-US" dirty="0"/>
              <a:t> </a:t>
            </a:r>
            <a:r>
              <a:rPr lang="en-US" dirty="0" err="1"/>
              <a:t>của</a:t>
            </a:r>
            <a:r>
              <a:rPr lang="en-US" dirty="0"/>
              <a:t> </a:t>
            </a:r>
            <a:r>
              <a:rPr lang="en-US" dirty="0" err="1"/>
              <a:t>nó</a:t>
            </a:r>
            <a:r>
              <a:rPr lang="en-US" dirty="0"/>
              <a:t>, </a:t>
            </a:r>
            <a:r>
              <a:rPr lang="en-US" dirty="0" err="1"/>
              <a:t>chính</a:t>
            </a:r>
            <a:r>
              <a:rPr lang="en-US" dirty="0"/>
              <a:t> </a:t>
            </a:r>
            <a:r>
              <a:rPr lang="en-US" dirty="0" err="1"/>
              <a:t>là</a:t>
            </a:r>
            <a:r>
              <a:rPr lang="en-US" dirty="0"/>
              <a:t> </a:t>
            </a:r>
            <a:r>
              <a:rPr lang="en-US" dirty="0" err="1"/>
              <a:t>số</a:t>
            </a:r>
            <a:r>
              <a:rPr lang="en-US" dirty="0"/>
              <a:t> </a:t>
            </a:r>
            <a:r>
              <a:rPr lang="en-US" dirty="0" err="1"/>
              <a:t>nhánh</a:t>
            </a:r>
            <a:r>
              <a:rPr lang="en-US" dirty="0"/>
              <a:t> </a:t>
            </a:r>
            <a:r>
              <a:rPr lang="en-US" dirty="0" err="1"/>
              <a:t>từ</a:t>
            </a:r>
            <a:r>
              <a:rPr lang="en-US" dirty="0"/>
              <a:t> </a:t>
            </a:r>
            <a:r>
              <a:rPr lang="en-US" dirty="0" err="1"/>
              <a:t>gốc</a:t>
            </a:r>
            <a:r>
              <a:rPr lang="en-US" dirty="0"/>
              <a:t> </a:t>
            </a:r>
            <a:r>
              <a:rPr lang="en-US" dirty="0" err="1"/>
              <a:t>đến</a:t>
            </a:r>
            <a:r>
              <a:rPr lang="en-US" dirty="0"/>
              <a:t> </a:t>
            </a:r>
            <a:r>
              <a:rPr lang="en-US" dirty="0" err="1"/>
              <a:t>nút</a:t>
            </a:r>
            <a:r>
              <a:rPr lang="en-US" dirty="0"/>
              <a:t> </a:t>
            </a:r>
            <a:r>
              <a:rPr lang="en-US" dirty="0" err="1"/>
              <a:t>đó</a:t>
            </a:r>
            <a:r>
              <a:rPr lang="en-US" dirty="0"/>
              <a:t>.</a:t>
            </a:r>
          </a:p>
          <a:p>
            <a:r>
              <a:rPr lang="en-US" dirty="0"/>
              <a:t>h(T) = 3.</a:t>
            </a:r>
          </a:p>
          <a:p>
            <a:r>
              <a:rPr lang="vi-VN" dirty="0"/>
              <a:t>Trong thực tế, nhánh thường là</a:t>
            </a:r>
            <a:r>
              <a:rPr lang="en-US" dirty="0"/>
              <a:t> </a:t>
            </a:r>
            <a:r>
              <a:rPr lang="vi-VN" dirty="0"/>
              <a:t>khái niệm logic biểu diễn quan hệ phân cấp giữa một cặp nút, nên nó không có</a:t>
            </a:r>
            <a:r>
              <a:rPr lang="en-US" dirty="0"/>
              <a:t> </a:t>
            </a:r>
            <a:r>
              <a:rPr lang="vi-VN" dirty="0"/>
              <a:t>độ dài. Chính vì vậy, người ta thường quy ước độ dài của tất cả các nhánh trong</a:t>
            </a:r>
            <a:r>
              <a:rPr lang="en-US" dirty="0"/>
              <a:t> </a:t>
            </a:r>
            <a:r>
              <a:rPr lang="vi-VN" dirty="0"/>
              <a:t>một cây đều bằng 1 (đơn vị). Khi đó, độ dài đường đi tương đương với chiều</a:t>
            </a:r>
            <a:r>
              <a:rPr lang="en-US" dirty="0"/>
              <a:t> </a:t>
            </a:r>
            <a:r>
              <a:rPr lang="vi-VN" dirty="0"/>
              <a:t>cao.</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12</a:t>
            </a:fld>
            <a:endParaRPr lang="en-US"/>
          </a:p>
        </p:txBody>
      </p:sp>
    </p:spTree>
    <p:extLst>
      <p:ext uri="{BB962C8B-B14F-4D97-AF65-F5344CB8AC3E}">
        <p14:creationId xmlns:p14="http://schemas.microsoft.com/office/powerpoint/2010/main" val="6881581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err="1">
                <a:cs typeface="Times New Roman" panose="02020603050405020304" pitchFamily="18" charset="0"/>
              </a:rPr>
              <a:t>Có</a:t>
            </a:r>
            <a:r>
              <a:rPr lang="en-US" altLang="en-US" dirty="0">
                <a:cs typeface="Times New Roman" panose="02020603050405020304" pitchFamily="18" charset="0"/>
              </a:rPr>
              <a:t> </a:t>
            </a:r>
            <a:r>
              <a:rPr lang="en-US" altLang="en-US" dirty="0" err="1">
                <a:cs typeface="Times New Roman" panose="02020603050405020304" pitchFamily="18" charset="0"/>
              </a:rPr>
              <a:t>thứ</a:t>
            </a:r>
            <a:r>
              <a:rPr lang="en-US" altLang="en-US" dirty="0">
                <a:cs typeface="Times New Roman" panose="02020603050405020304" pitchFamily="18" charset="0"/>
              </a:rPr>
              <a:t> </a:t>
            </a:r>
            <a:r>
              <a:rPr lang="en-US" altLang="en-US" dirty="0" err="1">
                <a:cs typeface="Times New Roman" panose="02020603050405020304" pitchFamily="18" charset="0"/>
              </a:rPr>
              <a:t>tự</a:t>
            </a:r>
            <a:r>
              <a:rPr lang="en-US" altLang="en-US" dirty="0">
                <a:cs typeface="Times New Roman" panose="02020603050405020304" pitchFamily="18" charset="0"/>
              </a:rPr>
              <a:t> : </a:t>
            </a:r>
            <a:r>
              <a:rPr lang="vi-VN" dirty="0"/>
              <a:t>ta không</a:t>
            </a:r>
            <a:r>
              <a:rPr lang="en-US" dirty="0"/>
              <a:t> </a:t>
            </a:r>
            <a:r>
              <a:rPr lang="vi-VN" dirty="0"/>
              <a:t>những quan tâm đến nội dung của các nút con mà còn quan tâm đến thứ tự</a:t>
            </a:r>
            <a:r>
              <a:rPr lang="en-US" dirty="0"/>
              <a:t> </a:t>
            </a:r>
            <a:r>
              <a:rPr lang="vi-VN" b="1" dirty="0"/>
              <a:t>trước sau (tuyến tính)</a:t>
            </a:r>
            <a:r>
              <a:rPr lang="vi-VN" dirty="0"/>
              <a:t> của các nút con.</a:t>
            </a:r>
            <a:endParaRPr lang="en-US" dirty="0"/>
          </a:p>
          <a:p>
            <a:r>
              <a:rPr lang="vi-VN" dirty="0"/>
              <a:t>Trái lại, nếu ta chỉ quan tâm đến nội</a:t>
            </a:r>
            <a:r>
              <a:rPr lang="en-US" dirty="0"/>
              <a:t> </a:t>
            </a:r>
            <a:r>
              <a:rPr lang="vi-VN" dirty="0"/>
              <a:t>dung của các nút con thì đó là cây không thứ tự (unordered tree). </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13</a:t>
            </a:fld>
            <a:endParaRPr lang="en-US"/>
          </a:p>
        </p:txBody>
      </p:sp>
    </p:spTree>
    <p:extLst>
      <p:ext uri="{BB962C8B-B14F-4D97-AF65-F5344CB8AC3E}">
        <p14:creationId xmlns:p14="http://schemas.microsoft.com/office/powerpoint/2010/main" val="7932305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err="1"/>
              <a:t>Cần</a:t>
            </a:r>
            <a:r>
              <a:rPr lang="en-US" dirty="0"/>
              <a:t> </a:t>
            </a:r>
            <a:r>
              <a:rPr lang="en-US" dirty="0" err="1"/>
              <a:t>lựa</a:t>
            </a:r>
            <a:r>
              <a:rPr lang="en-US" dirty="0"/>
              <a:t> </a:t>
            </a:r>
            <a:r>
              <a:rPr lang="en-US" dirty="0" err="1"/>
              <a:t>chọn</a:t>
            </a:r>
            <a:r>
              <a:rPr lang="en-US" dirty="0"/>
              <a:t> </a:t>
            </a:r>
            <a:r>
              <a:rPr lang="en-US" dirty="0" err="1"/>
              <a:t>cách</a:t>
            </a:r>
            <a:r>
              <a:rPr lang="en-US" dirty="0"/>
              <a:t> </a:t>
            </a:r>
            <a:r>
              <a:rPr lang="en-US" dirty="0" err="1"/>
              <a:t>tổ</a:t>
            </a:r>
            <a:r>
              <a:rPr lang="en-US" dirty="0"/>
              <a:t> </a:t>
            </a:r>
            <a:r>
              <a:rPr lang="en-US" dirty="0" err="1"/>
              <a:t>chức</a:t>
            </a:r>
            <a:r>
              <a:rPr lang="en-US" dirty="0"/>
              <a:t> </a:t>
            </a:r>
            <a:r>
              <a:rPr lang="en-US" dirty="0" err="1"/>
              <a:t>hiệu</a:t>
            </a:r>
            <a:r>
              <a:rPr lang="en-US" dirty="0"/>
              <a:t> </a:t>
            </a:r>
            <a:r>
              <a:rPr lang="en-US" dirty="0" err="1"/>
              <a:t>quả</a:t>
            </a:r>
            <a:r>
              <a:rPr lang="en-US" dirty="0"/>
              <a:t> </a:t>
            </a:r>
            <a:r>
              <a:rPr lang="en-US" dirty="0" err="1"/>
              <a:t>nhất</a:t>
            </a:r>
            <a:r>
              <a:rPr lang="en-US" dirty="0"/>
              <a:t>: </a:t>
            </a:r>
            <a:r>
              <a:rPr lang="en-US" dirty="0" err="1"/>
              <a:t>kích</a:t>
            </a:r>
            <a:r>
              <a:rPr lang="en-US" dirty="0"/>
              <a:t> </a:t>
            </a:r>
            <a:r>
              <a:rPr lang="en-US" dirty="0" err="1"/>
              <a:t>thước</a:t>
            </a:r>
            <a:r>
              <a:rPr lang="en-US" dirty="0"/>
              <a:t> </a:t>
            </a:r>
            <a:r>
              <a:rPr lang="en-US" dirty="0" err="1"/>
              <a:t>lưu</a:t>
            </a:r>
            <a:r>
              <a:rPr lang="en-US" dirty="0"/>
              <a:t> </a:t>
            </a:r>
            <a:r>
              <a:rPr lang="en-US" dirty="0" err="1"/>
              <a:t>trữ</a:t>
            </a:r>
            <a:r>
              <a:rPr lang="en-US" dirty="0"/>
              <a:t> </a:t>
            </a:r>
            <a:r>
              <a:rPr lang="en-US" dirty="0" err="1"/>
              <a:t>là</a:t>
            </a:r>
            <a:r>
              <a:rPr lang="en-US" dirty="0"/>
              <a:t> </a:t>
            </a:r>
            <a:r>
              <a:rPr lang="en-US" dirty="0" err="1"/>
              <a:t>ít</a:t>
            </a:r>
            <a:r>
              <a:rPr lang="en-US" dirty="0"/>
              <a:t> </a:t>
            </a:r>
            <a:r>
              <a:rPr lang="en-US" dirty="0" err="1"/>
              <a:t>nhất</a:t>
            </a:r>
            <a:r>
              <a:rPr lang="en-US" dirty="0"/>
              <a:t> </a:t>
            </a:r>
            <a:r>
              <a:rPr lang="en-US" dirty="0" err="1"/>
              <a:t>và</a:t>
            </a:r>
            <a:r>
              <a:rPr lang="en-US" dirty="0"/>
              <a:t> </a:t>
            </a:r>
            <a:r>
              <a:rPr lang="en-US" dirty="0" err="1"/>
              <a:t>độ</a:t>
            </a:r>
            <a:r>
              <a:rPr lang="en-US" dirty="0"/>
              <a:t> </a:t>
            </a:r>
            <a:r>
              <a:rPr lang="en-US" dirty="0" err="1"/>
              <a:t>phức</a:t>
            </a:r>
            <a:r>
              <a:rPr lang="en-US" dirty="0"/>
              <a:t> </a:t>
            </a:r>
            <a:r>
              <a:rPr lang="en-US" dirty="0" err="1"/>
              <a:t>tạp</a:t>
            </a:r>
            <a:r>
              <a:rPr lang="en-US" dirty="0"/>
              <a:t> </a:t>
            </a:r>
            <a:r>
              <a:rPr lang="en-US" dirty="0" err="1"/>
              <a:t>của</a:t>
            </a:r>
            <a:r>
              <a:rPr lang="en-US" dirty="0"/>
              <a:t> </a:t>
            </a:r>
            <a:r>
              <a:rPr lang="en-US" dirty="0" err="1"/>
              <a:t>các</a:t>
            </a:r>
            <a:r>
              <a:rPr lang="en-US" dirty="0"/>
              <a:t> </a:t>
            </a:r>
            <a:r>
              <a:rPr lang="en-US" dirty="0" err="1"/>
              <a:t>thao</a:t>
            </a:r>
            <a:r>
              <a:rPr lang="en-US" dirty="0"/>
              <a:t> </a:t>
            </a:r>
            <a:r>
              <a:rPr lang="en-US" dirty="0" err="1"/>
              <a:t>tác</a:t>
            </a:r>
            <a:r>
              <a:rPr lang="en-US" dirty="0"/>
              <a:t> </a:t>
            </a:r>
            <a:r>
              <a:rPr lang="en-US" dirty="0" err="1"/>
              <a:t>là</a:t>
            </a:r>
            <a:r>
              <a:rPr lang="en-US" dirty="0"/>
              <a:t> </a:t>
            </a:r>
            <a:r>
              <a:rPr lang="en-US" dirty="0" err="1"/>
              <a:t>nhỏ</a:t>
            </a:r>
            <a:r>
              <a:rPr lang="en-US" dirty="0"/>
              <a:t> </a:t>
            </a:r>
            <a:r>
              <a:rPr lang="en-US" dirty="0" err="1"/>
              <a:t>nhất</a:t>
            </a:r>
            <a:endParaRPr lang="en-US" dirty="0"/>
          </a:p>
          <a:p>
            <a:pPr marL="171450" indent="-171450" algn="just">
              <a:buFont typeface="Wingdings" panose="05000000000000000000" pitchFamily="2" charset="2"/>
              <a:buChar char="à"/>
            </a:pPr>
            <a:r>
              <a:rPr lang="en-US" dirty="0" err="1">
                <a:sym typeface="Wingdings" panose="05000000000000000000" pitchFamily="2" charset="2"/>
              </a:rPr>
              <a:t>Thực</a:t>
            </a:r>
            <a:r>
              <a:rPr lang="en-US" dirty="0">
                <a:sym typeface="Wingdings" panose="05000000000000000000" pitchFamily="2" charset="2"/>
              </a:rPr>
              <a:t> </a:t>
            </a:r>
            <a:r>
              <a:rPr lang="en-US" dirty="0" err="1">
                <a:sym typeface="Wingdings" panose="05000000000000000000" pitchFamily="2" charset="2"/>
              </a:rPr>
              <a:t>tế</a:t>
            </a:r>
            <a:r>
              <a:rPr lang="en-US" dirty="0">
                <a:sym typeface="Wingdings" panose="05000000000000000000" pitchFamily="2" charset="2"/>
              </a:rPr>
              <a:t>, </a:t>
            </a:r>
            <a:r>
              <a:rPr lang="en-US" dirty="0" err="1">
                <a:sym typeface="Wingdings" panose="05000000000000000000" pitchFamily="2" charset="2"/>
              </a:rPr>
              <a:t>rất</a:t>
            </a:r>
            <a:r>
              <a:rPr lang="en-US" dirty="0">
                <a:sym typeface="Wingdings" panose="05000000000000000000" pitchFamily="2" charset="2"/>
              </a:rPr>
              <a:t> </a:t>
            </a:r>
            <a:r>
              <a:rPr lang="en-US" dirty="0" err="1">
                <a:sym typeface="Wingdings" panose="05000000000000000000" pitchFamily="2" charset="2"/>
              </a:rPr>
              <a:t>khó</a:t>
            </a:r>
            <a:r>
              <a:rPr lang="en-US" dirty="0">
                <a:sym typeface="Wingdings" panose="05000000000000000000" pitchFamily="2" charset="2"/>
              </a:rPr>
              <a:t> </a:t>
            </a:r>
            <a:r>
              <a:rPr lang="en-US" dirty="0" err="1">
                <a:sym typeface="Wingdings" panose="05000000000000000000" pitchFamily="2" charset="2"/>
              </a:rPr>
              <a:t>để</a:t>
            </a:r>
            <a:r>
              <a:rPr lang="en-US" dirty="0">
                <a:sym typeface="Wingdings" panose="05000000000000000000" pitchFamily="2" charset="2"/>
              </a:rPr>
              <a:t> </a:t>
            </a:r>
            <a:r>
              <a:rPr lang="en-US" dirty="0" err="1">
                <a:sym typeface="Wingdings" panose="05000000000000000000" pitchFamily="2" charset="2"/>
              </a:rPr>
              <a:t>có</a:t>
            </a:r>
            <a:r>
              <a:rPr lang="en-US" dirty="0">
                <a:sym typeface="Wingdings" panose="05000000000000000000" pitchFamily="2" charset="2"/>
              </a:rPr>
              <a:t> </a:t>
            </a:r>
            <a:r>
              <a:rPr lang="en-US" dirty="0" err="1">
                <a:sym typeface="Wingdings" panose="05000000000000000000" pitchFamily="2" charset="2"/>
              </a:rPr>
              <a:t>thể</a:t>
            </a:r>
            <a:r>
              <a:rPr lang="en-US" dirty="0">
                <a:sym typeface="Wingdings" panose="05000000000000000000" pitchFamily="2" charset="2"/>
              </a:rPr>
              <a:t> </a:t>
            </a:r>
            <a:r>
              <a:rPr lang="en-US" dirty="0" err="1">
                <a:sym typeface="Wingdings" panose="05000000000000000000" pitchFamily="2" charset="2"/>
              </a:rPr>
              <a:t>đạt</a:t>
            </a:r>
            <a:r>
              <a:rPr lang="en-US" dirty="0">
                <a:sym typeface="Wingdings" panose="05000000000000000000" pitchFamily="2" charset="2"/>
              </a:rPr>
              <a:t> </a:t>
            </a:r>
            <a:r>
              <a:rPr lang="en-US" dirty="0" err="1">
                <a:sym typeface="Wingdings" panose="05000000000000000000" pitchFamily="2" charset="2"/>
              </a:rPr>
              <a:t>cả</a:t>
            </a:r>
            <a:r>
              <a:rPr lang="en-US" dirty="0">
                <a:sym typeface="Wingdings" panose="05000000000000000000" pitchFamily="2" charset="2"/>
              </a:rPr>
              <a:t> </a:t>
            </a:r>
            <a:r>
              <a:rPr lang="en-US" dirty="0" err="1">
                <a:sym typeface="Wingdings" panose="05000000000000000000" pitchFamily="2" charset="2"/>
              </a:rPr>
              <a:t>hai</a:t>
            </a:r>
            <a:r>
              <a:rPr lang="en-US" dirty="0">
                <a:sym typeface="Wingdings" panose="05000000000000000000" pitchFamily="2" charset="2"/>
              </a:rPr>
              <a:t> </a:t>
            </a:r>
            <a:r>
              <a:rPr lang="en-US" dirty="0" err="1">
                <a:sym typeface="Wingdings" panose="05000000000000000000" pitchFamily="2" charset="2"/>
              </a:rPr>
              <a:t>yêu</a:t>
            </a:r>
            <a:r>
              <a:rPr lang="en-US" dirty="0">
                <a:sym typeface="Wingdings" panose="05000000000000000000" pitchFamily="2" charset="2"/>
              </a:rPr>
              <a:t> </a:t>
            </a:r>
            <a:r>
              <a:rPr lang="en-US" dirty="0" err="1">
                <a:sym typeface="Wingdings" panose="05000000000000000000" pitchFamily="2" charset="2"/>
              </a:rPr>
              <a:t>cầu</a:t>
            </a:r>
            <a:r>
              <a:rPr lang="en-US" dirty="0">
                <a:sym typeface="Wingdings" panose="05000000000000000000" pitchFamily="2" charset="2"/>
              </a:rPr>
              <a:t> </a:t>
            </a:r>
            <a:r>
              <a:rPr lang="en-US" dirty="0" err="1">
                <a:sym typeface="Wingdings" panose="05000000000000000000" pitchFamily="2" charset="2"/>
              </a:rPr>
              <a:t>này</a:t>
            </a:r>
            <a:endParaRPr lang="en-US" dirty="0">
              <a:sym typeface="Wingdings" panose="05000000000000000000" pitchFamily="2" charset="2"/>
            </a:endParaRPr>
          </a:p>
          <a:p>
            <a:pPr marL="0" indent="0" algn="just">
              <a:buFont typeface="Wingdings" panose="05000000000000000000" pitchFamily="2" charset="2"/>
              <a:buNone/>
            </a:pPr>
            <a:r>
              <a:rPr lang="vi-VN" dirty="0"/>
              <a:t>Trong thực tế, tùy theo yêu cầu ứng dụng mà ta phải lựa chọn ưu tiên ở đâu, thao</a:t>
            </a:r>
          </a:p>
          <a:p>
            <a:pPr marL="0" indent="0" algn="just">
              <a:buFont typeface="Wingdings" panose="05000000000000000000" pitchFamily="2" charset="2"/>
              <a:buNone/>
            </a:pPr>
            <a:r>
              <a:rPr lang="vi-VN" dirty="0"/>
              <a:t>tác nào cần phải nhanh, thao tác nào có thể chậm hơn nhưng vẫn chấp nhận được,</a:t>
            </a:r>
          </a:p>
          <a:p>
            <a:pPr marL="0" indent="0" algn="just">
              <a:buFont typeface="Wingdings" panose="05000000000000000000" pitchFamily="2" charset="2"/>
              <a:buNone/>
            </a:pPr>
            <a:r>
              <a:rPr lang="vi-VN" dirty="0"/>
              <a:t>để từ đó lựa chọn ra cấu trúc lưu trữ và cách tổ chức cài đặt phù hợp.</a:t>
            </a:r>
            <a:endParaRPr lang="en-US" dirty="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16</a:t>
            </a:fld>
            <a:endParaRPr lang="en-US"/>
          </a:p>
        </p:txBody>
      </p:sp>
    </p:spTree>
    <p:extLst>
      <p:ext uri="{BB962C8B-B14F-4D97-AF65-F5344CB8AC3E}">
        <p14:creationId xmlns:p14="http://schemas.microsoft.com/office/powerpoint/2010/main" val="14091324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Khi</a:t>
            </a:r>
            <a:r>
              <a:rPr lang="en-US" dirty="0"/>
              <a:t> </a:t>
            </a:r>
            <a:r>
              <a:rPr lang="en-US" dirty="0" err="1"/>
              <a:t>biểu</a:t>
            </a:r>
            <a:r>
              <a:rPr lang="en-US" dirty="0"/>
              <a:t> </a:t>
            </a:r>
            <a:r>
              <a:rPr lang="en-US" dirty="0" err="1"/>
              <a:t>diễn</a:t>
            </a:r>
            <a:r>
              <a:rPr lang="en-US" dirty="0"/>
              <a:t> </a:t>
            </a:r>
            <a:r>
              <a:rPr lang="en-US" dirty="0" err="1"/>
              <a:t>cây</a:t>
            </a:r>
            <a:r>
              <a:rPr lang="en-US" dirty="0"/>
              <a:t> </a:t>
            </a:r>
            <a:r>
              <a:rPr lang="en-US" dirty="0" err="1"/>
              <a:t>nhị</a:t>
            </a:r>
            <a:r>
              <a:rPr lang="en-US" dirty="0"/>
              <a:t> </a:t>
            </a:r>
            <a:r>
              <a:rPr lang="en-US" dirty="0" err="1"/>
              <a:t>phân</a:t>
            </a:r>
            <a:r>
              <a:rPr lang="en-US" dirty="0"/>
              <a:t>, ta </a:t>
            </a:r>
            <a:r>
              <a:rPr lang="en-US" dirty="0" err="1"/>
              <a:t>cũng</a:t>
            </a:r>
            <a:r>
              <a:rPr lang="en-US" dirty="0"/>
              <a:t> </a:t>
            </a:r>
            <a:r>
              <a:rPr lang="en-US" dirty="0" err="1"/>
              <a:t>cần</a:t>
            </a:r>
            <a:r>
              <a:rPr lang="en-US" dirty="0"/>
              <a:t> </a:t>
            </a:r>
            <a:r>
              <a:rPr lang="en-US" dirty="0" err="1"/>
              <a:t>có</a:t>
            </a:r>
            <a:r>
              <a:rPr lang="en-US" dirty="0"/>
              <a:t> </a:t>
            </a:r>
            <a:r>
              <a:rPr lang="en-US" dirty="0" err="1"/>
              <a:t>sự</a:t>
            </a:r>
            <a:r>
              <a:rPr lang="en-US" dirty="0"/>
              <a:t> </a:t>
            </a:r>
            <a:r>
              <a:rPr lang="en-US" dirty="0" err="1"/>
              <a:t>phân</a:t>
            </a:r>
            <a:r>
              <a:rPr lang="en-US" dirty="0"/>
              <a:t> </a:t>
            </a:r>
            <a:r>
              <a:rPr lang="en-US" dirty="0" err="1"/>
              <a:t>biệt</a:t>
            </a:r>
            <a:r>
              <a:rPr lang="en-US" dirty="0"/>
              <a:t> </a:t>
            </a:r>
            <a:r>
              <a:rPr lang="en-US" dirty="0" err="1"/>
              <a:t>rõ</a:t>
            </a:r>
            <a:r>
              <a:rPr lang="en-US" dirty="0"/>
              <a:t> </a:t>
            </a:r>
            <a:r>
              <a:rPr lang="en-US" dirty="0" err="1"/>
              <a:t>ràng</a:t>
            </a:r>
            <a:r>
              <a:rPr lang="en-US" dirty="0"/>
              <a:t> </a:t>
            </a:r>
            <a:r>
              <a:rPr lang="en-US" dirty="0" err="1"/>
              <a:t>giữa</a:t>
            </a:r>
            <a:r>
              <a:rPr lang="en-US" dirty="0"/>
              <a:t> con </a:t>
            </a:r>
            <a:r>
              <a:rPr lang="en-US" dirty="0" err="1"/>
              <a:t>trái</a:t>
            </a:r>
            <a:r>
              <a:rPr lang="en-US" dirty="0"/>
              <a:t> </a:t>
            </a:r>
            <a:r>
              <a:rPr lang="en-US" dirty="0" err="1"/>
              <a:t>và</a:t>
            </a:r>
            <a:endParaRPr lang="en-US" dirty="0"/>
          </a:p>
          <a:p>
            <a:r>
              <a:rPr lang="en-US" dirty="0"/>
              <a:t>con </a:t>
            </a:r>
            <a:r>
              <a:rPr lang="en-US" dirty="0" err="1"/>
              <a:t>phải</a:t>
            </a:r>
            <a:r>
              <a:rPr lang="en-US" dirty="0"/>
              <a:t>, </a:t>
            </a:r>
            <a:r>
              <a:rPr lang="en-US" dirty="0" err="1"/>
              <a:t>nhất</a:t>
            </a:r>
            <a:r>
              <a:rPr lang="en-US" dirty="0"/>
              <a:t> </a:t>
            </a:r>
            <a:r>
              <a:rPr lang="en-US" dirty="0" err="1"/>
              <a:t>là</a:t>
            </a:r>
            <a:r>
              <a:rPr lang="en-US" dirty="0"/>
              <a:t> </a:t>
            </a:r>
            <a:r>
              <a:rPr lang="en-US" dirty="0" err="1"/>
              <a:t>khi</a:t>
            </a:r>
            <a:r>
              <a:rPr lang="en-US" dirty="0"/>
              <a:t> </a:t>
            </a:r>
            <a:r>
              <a:rPr lang="en-US" dirty="0" err="1"/>
              <a:t>nút</a:t>
            </a:r>
            <a:r>
              <a:rPr lang="en-US" dirty="0"/>
              <a:t> </a:t>
            </a:r>
            <a:r>
              <a:rPr lang="en-US" dirty="0" err="1"/>
              <a:t>chỉ</a:t>
            </a:r>
            <a:r>
              <a:rPr lang="en-US" dirty="0"/>
              <a:t> </a:t>
            </a:r>
            <a:r>
              <a:rPr lang="en-US" dirty="0" err="1"/>
              <a:t>có</a:t>
            </a:r>
            <a:r>
              <a:rPr lang="en-US" dirty="0"/>
              <a:t> </a:t>
            </a:r>
            <a:r>
              <a:rPr lang="en-US" dirty="0" err="1"/>
              <a:t>một</a:t>
            </a:r>
            <a:r>
              <a:rPr lang="en-US" dirty="0"/>
              <a:t> con.</a:t>
            </a:r>
          </a:p>
        </p:txBody>
      </p:sp>
      <p:sp>
        <p:nvSpPr>
          <p:cNvPr id="4" name="Slide Number Placeholder 3"/>
          <p:cNvSpPr>
            <a:spLocks noGrp="1"/>
          </p:cNvSpPr>
          <p:nvPr>
            <p:ph type="sldNum" sz="quarter" idx="10"/>
          </p:nvPr>
        </p:nvSpPr>
        <p:spPr/>
        <p:txBody>
          <a:bodyPr/>
          <a:lstStyle/>
          <a:p>
            <a:fld id="{76159C16-962D-45B7-9AE3-AA455C3EA8F0}" type="slidenum">
              <a:rPr lang="en-US" smtClean="0"/>
              <a:pPr/>
              <a:t>20</a:t>
            </a:fld>
            <a:endParaRPr lang="en-US"/>
          </a:p>
        </p:txBody>
      </p:sp>
    </p:spTree>
    <p:extLst>
      <p:ext uri="{BB962C8B-B14F-4D97-AF65-F5344CB8AC3E}">
        <p14:creationId xmlns:p14="http://schemas.microsoft.com/office/powerpoint/2010/main" val="31209611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đây</a:t>
            </a:r>
            <a:r>
              <a:rPr lang="en-US" dirty="0"/>
              <a:t> </a:t>
            </a:r>
            <a:r>
              <a:rPr lang="en-US" dirty="0" err="1"/>
              <a:t>là</a:t>
            </a:r>
            <a:r>
              <a:rPr lang="en-US" dirty="0"/>
              <a:t> </a:t>
            </a:r>
            <a:r>
              <a:rPr lang="en-US" dirty="0" err="1"/>
              <a:t>cây</a:t>
            </a:r>
            <a:r>
              <a:rPr lang="en-US" dirty="0"/>
              <a:t> </a:t>
            </a:r>
            <a:r>
              <a:rPr lang="en-US" dirty="0" err="1"/>
              <a:t>gần</a:t>
            </a:r>
            <a:r>
              <a:rPr lang="en-US" dirty="0"/>
              <a:t> </a:t>
            </a:r>
            <a:r>
              <a:rPr lang="en-US" dirty="0" err="1"/>
              <a:t>đầy</a:t>
            </a:r>
            <a:r>
              <a:rPr lang="en-US" dirty="0"/>
              <a:t> </a:t>
            </a:r>
            <a:r>
              <a:rPr lang="en-US" dirty="0" err="1"/>
              <a:t>đủ</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24</a:t>
            </a:fld>
            <a:endParaRPr lang="en-US"/>
          </a:p>
        </p:txBody>
      </p:sp>
    </p:spTree>
    <p:extLst>
      <p:ext uri="{BB962C8B-B14F-4D97-AF65-F5344CB8AC3E}">
        <p14:creationId xmlns:p14="http://schemas.microsoft.com/office/powerpoint/2010/main" val="40693555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h+1=n : </a:t>
            </a:r>
            <a:r>
              <a:rPr lang="en-US" dirty="0" err="1"/>
              <a:t>nếu</a:t>
            </a:r>
            <a:r>
              <a:rPr lang="en-US" baseline="0" dirty="0"/>
              <a:t> </a:t>
            </a:r>
            <a:r>
              <a:rPr lang="en-US" baseline="0" dirty="0" err="1"/>
              <a:t>là</a:t>
            </a:r>
            <a:r>
              <a:rPr lang="en-US" baseline="0" dirty="0"/>
              <a:t> </a:t>
            </a:r>
            <a:r>
              <a:rPr lang="en-US" baseline="0" dirty="0" err="1"/>
              <a:t>cây</a:t>
            </a:r>
            <a:r>
              <a:rPr lang="en-US" baseline="0" dirty="0"/>
              <a:t> </a:t>
            </a:r>
            <a:r>
              <a:rPr lang="en-US" baseline="0" dirty="0" err="1"/>
              <a:t>suy</a:t>
            </a:r>
            <a:r>
              <a:rPr lang="en-US" baseline="0" dirty="0"/>
              <a:t> </a:t>
            </a:r>
            <a:r>
              <a:rPr lang="en-US" baseline="0" dirty="0" err="1"/>
              <a:t>biến</a:t>
            </a:r>
            <a:endParaRPr lang="en-US" baseline="0" dirty="0"/>
          </a:p>
          <a:p>
            <a:r>
              <a:rPr lang="en-US" baseline="0" dirty="0"/>
              <a:t>h+1=log2(n+1) </a:t>
            </a:r>
            <a:r>
              <a:rPr lang="en-US" baseline="0" dirty="0" err="1"/>
              <a:t>nếu</a:t>
            </a:r>
            <a:r>
              <a:rPr lang="en-US" baseline="0" dirty="0"/>
              <a:t> </a:t>
            </a:r>
            <a:r>
              <a:rPr lang="en-US" baseline="0" dirty="0" err="1"/>
              <a:t>là</a:t>
            </a:r>
            <a:r>
              <a:rPr lang="en-US" baseline="0" dirty="0"/>
              <a:t> </a:t>
            </a:r>
            <a:r>
              <a:rPr lang="en-US" baseline="0" dirty="0" err="1"/>
              <a:t>cây</a:t>
            </a:r>
            <a:r>
              <a:rPr lang="en-US" baseline="0" dirty="0"/>
              <a:t> </a:t>
            </a:r>
            <a:r>
              <a:rPr lang="en-US" baseline="0" dirty="0" err="1"/>
              <a:t>đầy</a:t>
            </a:r>
            <a:r>
              <a:rPr lang="en-US" baseline="0" dirty="0"/>
              <a:t> </a:t>
            </a:r>
            <a:r>
              <a:rPr lang="en-US" baseline="0" dirty="0" err="1"/>
              <a:t>đủ</a:t>
            </a:r>
            <a:r>
              <a:rPr lang="en-US" baseline="0" dirty="0"/>
              <a:t> (h=2, log2(8)=3=h+1)</a:t>
            </a:r>
          </a:p>
          <a:p>
            <a:r>
              <a:rPr lang="en-US" altLang="en-US" sz="2400" dirty="0" err="1">
                <a:cs typeface="Times New Roman" panose="02020603050405020304" pitchFamily="18" charset="0"/>
              </a:rPr>
              <a:t>Chiều</a:t>
            </a:r>
            <a:r>
              <a:rPr lang="en-US" altLang="en-US" sz="2400" dirty="0">
                <a:cs typeface="Times New Roman" panose="02020603050405020304" pitchFamily="18" charset="0"/>
              </a:rPr>
              <a:t> </a:t>
            </a:r>
            <a:r>
              <a:rPr lang="en-US" altLang="en-US" sz="2400" dirty="0" err="1">
                <a:cs typeface="Times New Roman" panose="02020603050405020304" pitchFamily="18" charset="0"/>
              </a:rPr>
              <a:t>cao</a:t>
            </a:r>
            <a:r>
              <a:rPr lang="en-US" altLang="en-US" sz="2400" dirty="0">
                <a:cs typeface="Times New Roman" panose="02020603050405020304" pitchFamily="18" charset="0"/>
              </a:rPr>
              <a:t> </a:t>
            </a:r>
            <a:r>
              <a:rPr lang="en-US" altLang="en-US" sz="2400" dirty="0" err="1">
                <a:cs typeface="Times New Roman" panose="02020603050405020304" pitchFamily="18" charset="0"/>
              </a:rPr>
              <a:t>của</a:t>
            </a:r>
            <a:r>
              <a:rPr lang="en-US" altLang="en-US" sz="2400" dirty="0">
                <a:cs typeface="Times New Roman" panose="02020603050405020304" pitchFamily="18" charset="0"/>
              </a:rPr>
              <a:t> </a:t>
            </a:r>
            <a:r>
              <a:rPr lang="en-US" altLang="en-US" sz="2400" dirty="0" err="1">
                <a:cs typeface="Times New Roman" panose="02020603050405020304" pitchFamily="18" charset="0"/>
              </a:rPr>
              <a:t>cây</a:t>
            </a:r>
            <a:r>
              <a:rPr lang="en-US" altLang="en-US" sz="2400" dirty="0">
                <a:cs typeface="Times New Roman" panose="02020603050405020304" pitchFamily="18" charset="0"/>
              </a:rPr>
              <a:t>: h(T) </a:t>
            </a:r>
            <a:r>
              <a:rPr lang="en-US" altLang="en-US" sz="2000" dirty="0">
                <a:cs typeface="Times New Roman" panose="02020603050405020304" pitchFamily="18" charset="0"/>
              </a:rPr>
              <a:t>= </a:t>
            </a:r>
            <a:r>
              <a:rPr lang="en-US" altLang="en-US" sz="2000" dirty="0" err="1">
                <a:cs typeface="Times New Roman" panose="02020603050405020304" pitchFamily="18" charset="0"/>
              </a:rPr>
              <a:t>Chiều</a:t>
            </a:r>
            <a:r>
              <a:rPr lang="en-US" altLang="en-US" sz="2000" dirty="0">
                <a:cs typeface="Times New Roman" panose="02020603050405020304" pitchFamily="18" charset="0"/>
              </a:rPr>
              <a:t> </a:t>
            </a:r>
            <a:r>
              <a:rPr lang="en-US" altLang="en-US" sz="2000" dirty="0" err="1">
                <a:cs typeface="Times New Roman" panose="02020603050405020304" pitchFamily="18" charset="0"/>
              </a:rPr>
              <a:t>cao</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gốc</a:t>
            </a:r>
            <a:r>
              <a:rPr lang="en-US" altLang="en-US" sz="2000" dirty="0">
                <a:cs typeface="Times New Roman" panose="02020603050405020304" pitchFamily="18" charset="0"/>
              </a:rPr>
              <a:t> = </a:t>
            </a:r>
            <a:r>
              <a:rPr lang="en-US" altLang="en-US" sz="2000" dirty="0" err="1">
                <a:cs typeface="Times New Roman" panose="02020603050405020304" pitchFamily="18" charset="0"/>
              </a:rPr>
              <a:t>Độ</a:t>
            </a:r>
            <a:r>
              <a:rPr lang="en-US" altLang="en-US" sz="2000" dirty="0">
                <a:cs typeface="Times New Roman" panose="02020603050405020304" pitchFamily="18" charset="0"/>
              </a:rPr>
              <a:t> </a:t>
            </a:r>
            <a:r>
              <a:rPr lang="en-US" altLang="en-US" sz="2000" dirty="0" err="1">
                <a:cs typeface="Times New Roman" panose="02020603050405020304" pitchFamily="18" charset="0"/>
              </a:rPr>
              <a:t>dài</a:t>
            </a:r>
            <a:r>
              <a:rPr lang="en-US" altLang="en-US" sz="2000" dirty="0">
                <a:cs typeface="Times New Roman" panose="02020603050405020304" pitchFamily="18" charset="0"/>
              </a:rPr>
              <a:t> </a:t>
            </a:r>
            <a:r>
              <a:rPr lang="en-US" altLang="en-US" sz="2000" dirty="0" err="1">
                <a:cs typeface="Times New Roman" panose="02020603050405020304" pitchFamily="18" charset="0"/>
              </a:rPr>
              <a:t>đường</a:t>
            </a:r>
            <a:r>
              <a:rPr lang="en-US" altLang="en-US" sz="2000" dirty="0">
                <a:cs typeface="Times New Roman" panose="02020603050405020304" pitchFamily="18" charset="0"/>
              </a:rPr>
              <a:t> </a:t>
            </a:r>
            <a:r>
              <a:rPr lang="en-US" altLang="en-US" sz="2000" dirty="0" err="1">
                <a:cs typeface="Times New Roman" panose="02020603050405020304" pitchFamily="18" charset="0"/>
              </a:rPr>
              <a:t>đi</a:t>
            </a:r>
            <a:r>
              <a:rPr lang="en-US" altLang="en-US" sz="2000" dirty="0">
                <a:cs typeface="Times New Roman" panose="02020603050405020304" pitchFamily="18" charset="0"/>
              </a:rPr>
              <a:t> </a:t>
            </a:r>
            <a:r>
              <a:rPr lang="en-US" altLang="en-US" sz="2000" dirty="0" err="1">
                <a:cs typeface="Times New Roman" panose="02020603050405020304" pitchFamily="18" charset="0"/>
              </a:rPr>
              <a:t>từ</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gốc</a:t>
            </a:r>
            <a:r>
              <a:rPr lang="en-US" altLang="en-US" sz="2000" dirty="0">
                <a:cs typeface="Times New Roman" panose="02020603050405020304" pitchFamily="18" charset="0"/>
              </a:rPr>
              <a:t> </a:t>
            </a:r>
            <a:r>
              <a:rPr lang="en-US" altLang="en-US" sz="2000" dirty="0" err="1">
                <a:cs typeface="Times New Roman" panose="02020603050405020304" pitchFamily="18" charset="0"/>
              </a:rPr>
              <a:t>tới</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lá</a:t>
            </a:r>
            <a:r>
              <a:rPr lang="en-US" altLang="en-US" sz="2000" dirty="0">
                <a:cs typeface="Times New Roman" panose="02020603050405020304" pitchFamily="18" charset="0"/>
              </a:rPr>
              <a:t> </a:t>
            </a:r>
            <a:r>
              <a:rPr lang="en-US" altLang="en-US" sz="2000" dirty="0" err="1">
                <a:cs typeface="Times New Roman" panose="02020603050405020304" pitchFamily="18" charset="0"/>
              </a:rPr>
              <a:t>sâu</a:t>
            </a:r>
            <a:r>
              <a:rPr lang="en-US" altLang="en-US" sz="2000" dirty="0">
                <a:cs typeface="Times New Roman" panose="02020603050405020304" pitchFamily="18" charset="0"/>
              </a:rPr>
              <a:t> </a:t>
            </a:r>
            <a:r>
              <a:rPr lang="en-US" altLang="en-US" sz="2000" dirty="0" err="1">
                <a:cs typeface="Times New Roman" panose="02020603050405020304" pitchFamily="18" charset="0"/>
              </a:rPr>
              <a:t>nhất</a:t>
            </a:r>
            <a:endParaRPr lang="en-US" altLang="en-US" sz="2000" dirty="0">
              <a:cs typeface="Times New Roman" panose="02020603050405020304" pitchFamily="18" charset="0"/>
            </a:endParaRPr>
          </a:p>
          <a:p>
            <a:r>
              <a:rPr lang="en-US" altLang="en-US" sz="2000" dirty="0" err="1">
                <a:cs typeface="Times New Roman" panose="02020603050405020304" pitchFamily="18" charset="0"/>
              </a:rPr>
              <a:t>Nếu</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nhị</a:t>
            </a:r>
            <a:r>
              <a:rPr lang="en-US" altLang="en-US" sz="2000" dirty="0">
                <a:cs typeface="Times New Roman" panose="02020603050405020304" pitchFamily="18" charset="0"/>
              </a:rPr>
              <a:t> </a:t>
            </a:r>
            <a:r>
              <a:rPr lang="en-US" altLang="en-US" sz="2000" dirty="0" err="1">
                <a:cs typeface="Times New Roman" panose="02020603050405020304" pitchFamily="18" charset="0"/>
              </a:rPr>
              <a:t>phân</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chiều</a:t>
            </a:r>
            <a:r>
              <a:rPr lang="en-US" altLang="en-US" sz="2000" dirty="0">
                <a:cs typeface="Times New Roman" panose="02020603050405020304" pitchFamily="18" charset="0"/>
              </a:rPr>
              <a:t> </a:t>
            </a:r>
            <a:r>
              <a:rPr lang="en-US" altLang="en-US" sz="2000" dirty="0" err="1">
                <a:cs typeface="Times New Roman" panose="02020603050405020304" pitchFamily="18" charset="0"/>
              </a:rPr>
              <a:t>cao</a:t>
            </a:r>
            <a:r>
              <a:rPr lang="en-US" altLang="en-US" sz="2000" dirty="0">
                <a:cs typeface="Times New Roman" panose="02020603050405020304" pitchFamily="18" charset="0"/>
              </a:rPr>
              <a:t> </a:t>
            </a:r>
            <a:r>
              <a:rPr lang="en-US" altLang="en-US" sz="2000" i="1" dirty="0">
                <a:cs typeface="Times New Roman" panose="02020603050405020304" pitchFamily="18" charset="0"/>
              </a:rPr>
              <a:t>h</a:t>
            </a:r>
            <a:r>
              <a:rPr lang="en-US" altLang="en-US" sz="2000" dirty="0">
                <a:cs typeface="Times New Roman" panose="02020603050405020304" pitchFamily="18" charset="0"/>
              </a:rPr>
              <a:t> </a:t>
            </a:r>
            <a:r>
              <a:rPr lang="en-US" altLang="en-US" sz="2000" dirty="0" err="1">
                <a:cs typeface="Times New Roman" panose="02020603050405020304" pitchFamily="18" charset="0"/>
              </a:rPr>
              <a:t>thì</a:t>
            </a:r>
            <a:r>
              <a:rPr lang="en-US" altLang="en-US" sz="2000" dirty="0">
                <a:cs typeface="Times New Roman" panose="02020603050405020304" pitchFamily="18" charset="0"/>
              </a:rPr>
              <a:t> </a:t>
            </a:r>
            <a:r>
              <a:rPr lang="en-US" altLang="en-US" sz="2000" dirty="0" err="1">
                <a:cs typeface="Times New Roman" panose="02020603050405020304" pitchFamily="18" charset="0"/>
              </a:rPr>
              <a:t>kích</a:t>
            </a:r>
            <a:r>
              <a:rPr lang="en-US" altLang="en-US" sz="2000" dirty="0">
                <a:cs typeface="Times New Roman" panose="02020603050405020304" pitchFamily="18" charset="0"/>
              </a:rPr>
              <a:t> </a:t>
            </a:r>
            <a:r>
              <a:rPr lang="en-US" altLang="en-US" sz="2000" dirty="0" err="1">
                <a:cs typeface="Times New Roman" panose="02020603050405020304" pitchFamily="18" charset="0"/>
              </a:rPr>
              <a:t>thước</a:t>
            </a:r>
            <a:r>
              <a:rPr lang="en-US" altLang="en-US" sz="2000" dirty="0">
                <a:cs typeface="Times New Roman" panose="02020603050405020304" pitchFamily="18" charset="0"/>
              </a:rPr>
              <a:t> </a:t>
            </a:r>
            <a:r>
              <a:rPr lang="en-US" altLang="en-US" sz="2000" dirty="0" err="1">
                <a:cs typeface="Times New Roman" panose="02020603050405020304" pitchFamily="18" charset="0"/>
              </a:rPr>
              <a:t>là</a:t>
            </a:r>
            <a:r>
              <a:rPr lang="en-US" altLang="en-US" sz="2000" dirty="0">
                <a:cs typeface="Times New Roman" panose="02020603050405020304" pitchFamily="18" charset="0"/>
              </a:rPr>
              <a:t>: n = S(T) = 2</a:t>
            </a:r>
            <a:r>
              <a:rPr lang="en-US" altLang="en-US" sz="2000" baseline="30000" dirty="0">
                <a:cs typeface="Times New Roman" panose="02020603050405020304" pitchFamily="18" charset="0"/>
              </a:rPr>
              <a:t>0</a:t>
            </a:r>
            <a:r>
              <a:rPr lang="en-US" altLang="en-US" sz="2000" dirty="0">
                <a:cs typeface="Times New Roman" panose="02020603050405020304" pitchFamily="18" charset="0"/>
              </a:rPr>
              <a:t>+2</a:t>
            </a:r>
            <a:r>
              <a:rPr lang="en-US" altLang="en-US" sz="2000" baseline="30000" dirty="0">
                <a:cs typeface="Times New Roman" panose="02020603050405020304" pitchFamily="18" charset="0"/>
              </a:rPr>
              <a:t>1</a:t>
            </a:r>
            <a:r>
              <a:rPr lang="en-US" altLang="en-US" sz="2000" dirty="0">
                <a:cs typeface="Times New Roman" panose="02020603050405020304" pitchFamily="18" charset="0"/>
              </a:rPr>
              <a:t>+…+2</a:t>
            </a:r>
            <a:r>
              <a:rPr lang="en-US" altLang="en-US" sz="2000" baseline="30000" dirty="0">
                <a:cs typeface="Times New Roman" panose="02020603050405020304" pitchFamily="18" charset="0"/>
              </a:rPr>
              <a:t>h</a:t>
            </a:r>
            <a:r>
              <a:rPr lang="en-US" altLang="en-US" sz="2000" dirty="0">
                <a:cs typeface="Times New Roman" panose="02020603050405020304" pitchFamily="18" charset="0"/>
              </a:rPr>
              <a:t> = 2</a:t>
            </a:r>
            <a:r>
              <a:rPr lang="en-US" altLang="en-US" sz="2000" baseline="30000" dirty="0">
                <a:cs typeface="Times New Roman" panose="02020603050405020304" pitchFamily="18" charset="0"/>
              </a:rPr>
              <a:t>h+1</a:t>
            </a:r>
            <a:r>
              <a:rPr lang="en-US" altLang="en-US" sz="2000" dirty="0">
                <a:cs typeface="Times New Roman" panose="02020603050405020304" pitchFamily="18" charset="0"/>
              </a:rPr>
              <a:t>-1 ;</a:t>
            </a:r>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25</a:t>
            </a:fld>
            <a:endParaRPr lang="en-US"/>
          </a:p>
        </p:txBody>
      </p:sp>
    </p:spTree>
    <p:extLst>
      <p:ext uri="{BB962C8B-B14F-4D97-AF65-F5344CB8AC3E}">
        <p14:creationId xmlns:p14="http://schemas.microsoft.com/office/powerpoint/2010/main" val="42146899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chúng ta sẽ xét kỹ hơn thao tác duyệt cây, vì đây là thao tác</a:t>
            </a:r>
          </a:p>
          <a:p>
            <a:r>
              <a:rPr lang="vi-VN" dirty="0"/>
              <a:t>khá quan trọng, ứng dụng nhiều trong các thao tác khác, nhất là tìm kiếm trên cây</a:t>
            </a:r>
          </a:p>
          <a:p>
            <a:r>
              <a:rPr lang="vi-VN" dirty="0"/>
              <a:t>nhị phân.</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27</a:t>
            </a:fld>
            <a:endParaRPr lang="en-US"/>
          </a:p>
        </p:txBody>
      </p:sp>
    </p:spTree>
    <p:extLst>
      <p:ext uri="{BB962C8B-B14F-4D97-AF65-F5344CB8AC3E}">
        <p14:creationId xmlns:p14="http://schemas.microsoft.com/office/powerpoint/2010/main" val="414242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Thực ra </a:t>
            </a:r>
            <a:r>
              <a:rPr lang="en-US" dirty="0" err="1"/>
              <a:t>có</a:t>
            </a:r>
            <a:r>
              <a:rPr lang="en-US" baseline="0" dirty="0"/>
              <a:t> 6 </a:t>
            </a:r>
            <a:r>
              <a:rPr lang="en-US" baseline="0" dirty="0" err="1"/>
              <a:t>cách</a:t>
            </a:r>
            <a:r>
              <a:rPr lang="en-US" baseline="0" dirty="0"/>
              <a:t> </a:t>
            </a:r>
            <a:r>
              <a:rPr lang="en-US" baseline="0" dirty="0" err="1"/>
              <a:t>duyệt</a:t>
            </a:r>
            <a:r>
              <a:rPr lang="en-US" baseline="0" dirty="0"/>
              <a:t>. T</a:t>
            </a:r>
            <a:r>
              <a:rPr lang="vi-VN" dirty="0"/>
              <a:t>rong ba cách trên, cây con trái luôn được ưu tiên duyệt trước cây con</a:t>
            </a:r>
            <a:r>
              <a:rPr lang="en-US" dirty="0"/>
              <a:t> </a:t>
            </a:r>
            <a:r>
              <a:rPr lang="vi-VN" dirty="0"/>
              <a:t>phải. Nên nếu chúng ta đảo ngược vai trò của chúng thì sẽ lại có thêm ba cách</a:t>
            </a:r>
            <a:r>
              <a:rPr lang="en-US" dirty="0"/>
              <a:t> </a:t>
            </a:r>
            <a:r>
              <a:rPr lang="vi-VN" dirty="0"/>
              <a:t>duyệt cây mới tương tự.</a:t>
            </a:r>
            <a:endParaRPr lang="en-US" dirty="0"/>
          </a:p>
          <a:p>
            <a:endParaRPr lang="en-US" dirty="0"/>
          </a:p>
          <a:p>
            <a:pPr marL="0" marR="0" indent="0" algn="l" defTabSz="914400" rtl="0" eaLnBrk="1" fontAlgn="base" latinLnBrk="0" hangingPunct="1">
              <a:lnSpc>
                <a:spcPct val="100000"/>
              </a:lnSpc>
              <a:spcBef>
                <a:spcPct val="30000"/>
              </a:spcBef>
              <a:spcAft>
                <a:spcPct val="0"/>
              </a:spcAft>
              <a:buClrTx/>
              <a:buSzTx/>
              <a:buFontTx/>
              <a:buNone/>
              <a:tabLst/>
              <a:defRPr/>
            </a:pPr>
            <a:r>
              <a:rPr lang="en-US" altLang="en-US" dirty="0" err="1">
                <a:cs typeface="Times New Roman" panose="02020603050405020304" pitchFamily="18" charset="0"/>
              </a:rPr>
              <a:t>Hướng</a:t>
            </a:r>
            <a:r>
              <a:rPr lang="en-US" altLang="en-US" dirty="0">
                <a:cs typeface="Times New Roman" panose="02020603050405020304" pitchFamily="18" charset="0"/>
              </a:rPr>
              <a:t> </a:t>
            </a:r>
            <a:r>
              <a:rPr lang="en-US" altLang="en-US" dirty="0" err="1">
                <a:cs typeface="Times New Roman" panose="02020603050405020304" pitchFamily="18" charset="0"/>
              </a:rPr>
              <a:t>thứ</a:t>
            </a:r>
            <a:r>
              <a:rPr lang="en-US" altLang="en-US" dirty="0">
                <a:cs typeface="Times New Roman" panose="02020603050405020304" pitchFamily="18" charset="0"/>
              </a:rPr>
              <a:t> </a:t>
            </a:r>
            <a:r>
              <a:rPr lang="en-US" altLang="en-US" dirty="0" err="1">
                <a:cs typeface="Times New Roman" panose="02020603050405020304" pitchFamily="18" charset="0"/>
              </a:rPr>
              <a:t>nhất</a:t>
            </a:r>
            <a:r>
              <a:rPr lang="en-US" altLang="en-US" dirty="0">
                <a:cs typeface="Times New Roman" panose="02020603050405020304" pitchFamily="18" charset="0"/>
              </a:rPr>
              <a:t>: </a:t>
            </a:r>
            <a:r>
              <a:rPr lang="en-US" altLang="en-US" dirty="0" err="1">
                <a:cs typeface="Times New Roman" panose="02020603050405020304" pitchFamily="18" charset="0"/>
              </a:rPr>
              <a:t>dựa</a:t>
            </a:r>
            <a:r>
              <a:rPr lang="en-US" altLang="en-US" dirty="0">
                <a:cs typeface="Times New Roman" panose="02020603050405020304" pitchFamily="18" charset="0"/>
              </a:rPr>
              <a:t> </a:t>
            </a:r>
            <a:r>
              <a:rPr lang="en-US" altLang="en-US" dirty="0" err="1">
                <a:cs typeface="Times New Roman" panose="02020603050405020304" pitchFamily="18" charset="0"/>
              </a:rPr>
              <a:t>vào</a:t>
            </a:r>
            <a:r>
              <a:rPr lang="en-US" altLang="en-US" dirty="0">
                <a:cs typeface="Times New Roman" panose="02020603050405020304" pitchFamily="18" charset="0"/>
              </a:rPr>
              <a:t> </a:t>
            </a:r>
            <a:r>
              <a:rPr lang="en-US" altLang="en-US" dirty="0" err="1">
                <a:cs typeface="Times New Roman" panose="02020603050405020304" pitchFamily="18" charset="0"/>
              </a:rPr>
              <a:t>tính</a:t>
            </a:r>
            <a:r>
              <a:rPr lang="en-US" altLang="en-US" dirty="0">
                <a:cs typeface="Times New Roman" panose="02020603050405020304" pitchFamily="18" charset="0"/>
              </a:rPr>
              <a:t> </a:t>
            </a:r>
            <a:r>
              <a:rPr lang="en-US" altLang="en-US" dirty="0" err="1">
                <a:cs typeface="Times New Roman" panose="02020603050405020304" pitchFamily="18" charset="0"/>
              </a:rPr>
              <a:t>chất</a:t>
            </a:r>
            <a:r>
              <a:rPr lang="en-US" altLang="en-US" dirty="0">
                <a:cs typeface="Times New Roman" panose="02020603050405020304" pitchFamily="18" charset="0"/>
              </a:rPr>
              <a:t> </a:t>
            </a:r>
            <a:r>
              <a:rPr lang="en-US" altLang="en-US" dirty="0" err="1">
                <a:cs typeface="Times New Roman" panose="02020603050405020304" pitchFamily="18" charset="0"/>
              </a:rPr>
              <a:t>đệ</a:t>
            </a:r>
            <a:r>
              <a:rPr lang="en-US" altLang="en-US" dirty="0">
                <a:cs typeface="Times New Roman" panose="02020603050405020304" pitchFamily="18" charset="0"/>
              </a:rPr>
              <a:t> </a:t>
            </a:r>
            <a:r>
              <a:rPr lang="en-US" altLang="en-US" dirty="0" err="1">
                <a:cs typeface="Times New Roman" panose="02020603050405020304" pitchFamily="18" charset="0"/>
              </a:rPr>
              <a:t>quy</a:t>
            </a:r>
            <a:r>
              <a:rPr lang="en-US" altLang="en-US" dirty="0">
                <a:cs typeface="Times New Roman" panose="02020603050405020304" pitchFamily="18" charset="0"/>
              </a:rPr>
              <a:t> </a:t>
            </a:r>
            <a:r>
              <a:rPr lang="en-US" altLang="en-US" dirty="0" err="1">
                <a:cs typeface="Times New Roman" panose="02020603050405020304" pitchFamily="18" charset="0"/>
              </a:rPr>
              <a:t>của</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để</a:t>
            </a:r>
            <a:r>
              <a:rPr lang="en-US" altLang="en-US" dirty="0">
                <a:cs typeface="Times New Roman" panose="02020603050405020304" pitchFamily="18" charset="0"/>
              </a:rPr>
              <a:t> </a:t>
            </a:r>
            <a:r>
              <a:rPr lang="en-US" altLang="en-US" dirty="0" err="1">
                <a:cs typeface="Times New Roman" panose="02020603050405020304" pitchFamily="18" charset="0"/>
              </a:rPr>
              <a:t>phát</a:t>
            </a:r>
            <a:r>
              <a:rPr lang="en-US" altLang="en-US" dirty="0">
                <a:cs typeface="Times New Roman" panose="02020603050405020304" pitchFamily="18" charset="0"/>
              </a:rPr>
              <a:t> </a:t>
            </a:r>
            <a:r>
              <a:rPr lang="en-US" altLang="en-US" dirty="0" err="1">
                <a:cs typeface="Times New Roman" panose="02020603050405020304" pitchFamily="18" charset="0"/>
              </a:rPr>
              <a:t>triển</a:t>
            </a:r>
            <a:r>
              <a:rPr lang="en-US" altLang="en-US" dirty="0">
                <a:cs typeface="Times New Roman" panose="02020603050405020304" pitchFamily="18" charset="0"/>
              </a:rPr>
              <a:t> </a:t>
            </a:r>
            <a:r>
              <a:rPr lang="en-US" altLang="en-US" dirty="0" err="1">
                <a:cs typeface="Times New Roman" panose="02020603050405020304" pitchFamily="18" charset="0"/>
              </a:rPr>
              <a:t>các</a:t>
            </a:r>
            <a:r>
              <a:rPr lang="en-US" altLang="en-US" dirty="0">
                <a:cs typeface="Times New Roman" panose="02020603050405020304" pitchFamily="18" charset="0"/>
              </a:rPr>
              <a:t> </a:t>
            </a:r>
            <a:r>
              <a:rPr lang="en-US" altLang="en-US" dirty="0" err="1">
                <a:cs typeface="Times New Roman" panose="02020603050405020304" pitchFamily="18" charset="0"/>
              </a:rPr>
              <a:t>giải</a:t>
            </a:r>
            <a:r>
              <a:rPr lang="en-US" altLang="en-US" dirty="0">
                <a:cs typeface="Times New Roman" panose="02020603050405020304" pitchFamily="18" charset="0"/>
              </a:rPr>
              <a:t> </a:t>
            </a:r>
            <a:r>
              <a:rPr lang="en-US" altLang="en-US" dirty="0" err="1">
                <a:cs typeface="Times New Roman" panose="02020603050405020304" pitchFamily="18" charset="0"/>
              </a:rPr>
              <a:t>thuật</a:t>
            </a:r>
            <a:r>
              <a:rPr lang="en-US" altLang="en-US" dirty="0">
                <a:cs typeface="Times New Roman" panose="02020603050405020304" pitchFamily="18" charset="0"/>
              </a:rPr>
              <a:t> </a:t>
            </a:r>
            <a:r>
              <a:rPr lang="en-US" altLang="en-US" dirty="0" err="1">
                <a:cs typeface="Times New Roman" panose="02020603050405020304" pitchFamily="18" charset="0"/>
              </a:rPr>
              <a:t>đệ</a:t>
            </a:r>
            <a:r>
              <a:rPr lang="en-US" altLang="en-US" dirty="0">
                <a:cs typeface="Times New Roman" panose="02020603050405020304" pitchFamily="18" charset="0"/>
              </a:rPr>
              <a:t> </a:t>
            </a:r>
            <a:r>
              <a:rPr lang="en-US" altLang="en-US" dirty="0" err="1">
                <a:cs typeface="Times New Roman" panose="02020603050405020304" pitchFamily="18" charset="0"/>
              </a:rPr>
              <a:t>quy</a:t>
            </a:r>
            <a:r>
              <a:rPr lang="en-US" altLang="en-US" dirty="0">
                <a:cs typeface="Times New Roman" panose="02020603050405020304" pitchFamily="18" charset="0"/>
              </a:rPr>
              <a:t> </a:t>
            </a:r>
            <a:r>
              <a:rPr lang="en-US" altLang="en-US" dirty="0" err="1">
                <a:cs typeface="Times New Roman" panose="02020603050405020304" pitchFamily="18" charset="0"/>
              </a:rPr>
              <a:t>để</a:t>
            </a:r>
            <a:r>
              <a:rPr lang="en-US" altLang="en-US" dirty="0">
                <a:cs typeface="Times New Roman" panose="02020603050405020304" pitchFamily="18" charset="0"/>
              </a:rPr>
              <a:t> </a:t>
            </a:r>
            <a:r>
              <a:rPr lang="en-US" altLang="en-US" dirty="0" err="1">
                <a:cs typeface="Times New Roman" panose="02020603050405020304" pitchFamily="18" charset="0"/>
              </a:rPr>
              <a:t>duyệt</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nhị</a:t>
            </a:r>
            <a:r>
              <a:rPr lang="en-US" altLang="en-US" dirty="0">
                <a:cs typeface="Times New Roman" panose="02020603050405020304" pitchFamily="18" charset="0"/>
              </a:rPr>
              <a:t> </a:t>
            </a:r>
            <a:r>
              <a:rPr lang="en-US" altLang="en-US" dirty="0" err="1">
                <a:cs typeface="Times New Roman" panose="02020603050405020304" pitchFamily="18" charset="0"/>
              </a:rPr>
              <a:t>phân</a:t>
            </a:r>
            <a:r>
              <a:rPr lang="en-US" altLang="en-US" dirty="0">
                <a:cs typeface="Times New Roman" panose="02020603050405020304" pitchFamily="18" charset="0"/>
              </a:rPr>
              <a:t> T </a:t>
            </a:r>
            <a:r>
              <a:rPr lang="en-US" altLang="en-US" dirty="0" err="1">
                <a:cs typeface="Times New Roman" panose="02020603050405020304" pitchFamily="18" charset="0"/>
              </a:rPr>
              <a:t>bất</a:t>
            </a:r>
            <a:r>
              <a:rPr lang="en-US" altLang="en-US" dirty="0">
                <a:cs typeface="Times New Roman" panose="02020603050405020304" pitchFamily="18" charset="0"/>
              </a:rPr>
              <a:t> </a:t>
            </a:r>
            <a:r>
              <a:rPr lang="en-US" altLang="en-US" dirty="0" err="1">
                <a:cs typeface="Times New Roman" panose="02020603050405020304" pitchFamily="18" charset="0"/>
              </a:rPr>
              <a:t>kỳ</a:t>
            </a:r>
            <a:r>
              <a:rPr lang="en-US" altLang="en-US" dirty="0">
                <a:cs typeface="Times New Roman" panose="02020603050405020304" pitchFamily="18" charset="0"/>
              </a:rPr>
              <a:t> </a:t>
            </a:r>
            <a:r>
              <a:rPr lang="en-US" altLang="en-US" dirty="0" err="1">
                <a:cs typeface="Times New Roman" panose="02020603050405020304" pitchFamily="18" charset="0"/>
              </a:rPr>
              <a:t>được</a:t>
            </a:r>
            <a:r>
              <a:rPr lang="en-US" altLang="en-US" dirty="0">
                <a:cs typeface="Times New Roman" panose="02020603050405020304" pitchFamily="18" charset="0"/>
              </a:rPr>
              <a:t> </a:t>
            </a:r>
            <a:r>
              <a:rPr lang="en-US" altLang="en-US" dirty="0" err="1">
                <a:cs typeface="Times New Roman" panose="02020603050405020304" pitchFamily="18" charset="0"/>
              </a:rPr>
              <a:t>hình</a:t>
            </a:r>
            <a:r>
              <a:rPr lang="en-US" altLang="en-US" dirty="0">
                <a:cs typeface="Times New Roman" panose="02020603050405020304" pitchFamily="18" charset="0"/>
              </a:rPr>
              <a:t> </a:t>
            </a:r>
            <a:r>
              <a:rPr lang="en-US" altLang="en-US" dirty="0" err="1">
                <a:cs typeface="Times New Roman" panose="02020603050405020304" pitchFamily="18" charset="0"/>
              </a:rPr>
              <a:t>thành</a:t>
            </a:r>
            <a:r>
              <a:rPr lang="en-US" altLang="en-US" dirty="0">
                <a:cs typeface="Times New Roman" panose="02020603050405020304" pitchFamily="18" charset="0"/>
              </a:rPr>
              <a:t> </a:t>
            </a:r>
            <a:r>
              <a:rPr lang="en-US" altLang="en-US" dirty="0" err="1">
                <a:cs typeface="Times New Roman" panose="02020603050405020304" pitchFamily="18" charset="0"/>
              </a:rPr>
              <a:t>từ</a:t>
            </a:r>
            <a:r>
              <a:rPr lang="en-US" altLang="en-US" dirty="0">
                <a:cs typeface="Times New Roman" panose="02020603050405020304" pitchFamily="18" charset="0"/>
              </a:rPr>
              <a:t> </a:t>
            </a:r>
            <a:r>
              <a:rPr lang="en-US" altLang="en-US" dirty="0" err="1">
                <a:cs typeface="Times New Roman" panose="02020603050405020304" pitchFamily="18" charset="0"/>
              </a:rPr>
              <a:t>ba</a:t>
            </a:r>
            <a:r>
              <a:rPr lang="en-US" altLang="en-US" dirty="0">
                <a:cs typeface="Times New Roman" panose="02020603050405020304" pitchFamily="18" charset="0"/>
              </a:rPr>
              <a:t> </a:t>
            </a:r>
            <a:r>
              <a:rPr lang="en-US" altLang="en-US" dirty="0" err="1">
                <a:cs typeface="Times New Roman" panose="02020603050405020304" pitchFamily="18" charset="0"/>
              </a:rPr>
              <a:t>thành</a:t>
            </a:r>
            <a:r>
              <a:rPr lang="en-US" altLang="en-US" dirty="0">
                <a:cs typeface="Times New Roman" panose="02020603050405020304" pitchFamily="18" charset="0"/>
              </a:rPr>
              <a:t> </a:t>
            </a:r>
            <a:r>
              <a:rPr lang="en-US" altLang="en-US" dirty="0" err="1">
                <a:cs typeface="Times New Roman" panose="02020603050405020304" pitchFamily="18" charset="0"/>
              </a:rPr>
              <a:t>phần</a:t>
            </a:r>
            <a:r>
              <a:rPr lang="en-US" altLang="en-US" dirty="0">
                <a:cs typeface="Times New Roman" panose="02020603050405020304" pitchFamily="18" charset="0"/>
              </a:rPr>
              <a:t>: </a:t>
            </a:r>
            <a:r>
              <a:rPr lang="en-US" altLang="en-US" dirty="0" err="1">
                <a:cs typeface="Times New Roman" panose="02020603050405020304" pitchFamily="18" charset="0"/>
              </a:rPr>
              <a:t>gốc</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con </a:t>
            </a:r>
            <a:r>
              <a:rPr lang="en-US" altLang="en-US" dirty="0" err="1">
                <a:cs typeface="Times New Roman" panose="02020603050405020304" pitchFamily="18" charset="0"/>
              </a:rPr>
              <a:t>trái</a:t>
            </a:r>
            <a:r>
              <a:rPr lang="en-US" altLang="en-US" dirty="0">
                <a:cs typeface="Times New Roman" panose="02020603050405020304" pitchFamily="18" charset="0"/>
              </a:rPr>
              <a:t> </a:t>
            </a:r>
            <a:r>
              <a:rPr lang="en-US" altLang="en-US" dirty="0" err="1">
                <a:cs typeface="Times New Roman" panose="02020603050405020304" pitchFamily="18" charset="0"/>
              </a:rPr>
              <a:t>của</a:t>
            </a:r>
            <a:r>
              <a:rPr lang="en-US" altLang="en-US" dirty="0">
                <a:cs typeface="Times New Roman" panose="02020603050405020304" pitchFamily="18" charset="0"/>
              </a:rPr>
              <a:t> T </a:t>
            </a:r>
            <a:r>
              <a:rPr lang="en-US" altLang="en-US" dirty="0" err="1">
                <a:cs typeface="Times New Roman" panose="02020603050405020304" pitchFamily="18" charset="0"/>
              </a:rPr>
              <a:t>và</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con </a:t>
            </a:r>
            <a:r>
              <a:rPr lang="en-US" altLang="en-US" dirty="0" err="1">
                <a:cs typeface="Times New Roman" panose="02020603050405020304" pitchFamily="18" charset="0"/>
              </a:rPr>
              <a:t>phải</a:t>
            </a:r>
            <a:r>
              <a:rPr lang="en-US" altLang="en-US" dirty="0">
                <a:cs typeface="Times New Roman" panose="02020603050405020304" pitchFamily="18" charset="0"/>
              </a:rPr>
              <a:t> </a:t>
            </a:r>
            <a:r>
              <a:rPr lang="en-US" altLang="en-US" dirty="0" err="1">
                <a:cs typeface="Times New Roman" panose="02020603050405020304" pitchFamily="18" charset="0"/>
              </a:rPr>
              <a:t>của</a:t>
            </a:r>
            <a:r>
              <a:rPr lang="en-US" altLang="en-US" dirty="0">
                <a:cs typeface="Times New Roman" panose="02020603050405020304" pitchFamily="18" charset="0"/>
              </a:rPr>
              <a:t> T. </a:t>
            </a:r>
            <a:r>
              <a:rPr lang="en-US" altLang="en-US" dirty="0" err="1">
                <a:cs typeface="Times New Roman" panose="02020603050405020304" pitchFamily="18" charset="0"/>
              </a:rPr>
              <a:t>Cả</a:t>
            </a:r>
            <a:r>
              <a:rPr lang="en-US" altLang="en-US" dirty="0">
                <a:cs typeface="Times New Roman" panose="02020603050405020304" pitchFamily="18" charset="0"/>
              </a:rPr>
              <a:t> </a:t>
            </a:r>
            <a:r>
              <a:rPr lang="en-US" altLang="en-US" dirty="0" err="1">
                <a:cs typeface="Times New Roman" panose="02020603050405020304" pitchFamily="18" charset="0"/>
              </a:rPr>
              <a:t>ba</a:t>
            </a:r>
            <a:r>
              <a:rPr lang="en-US" altLang="en-US" dirty="0">
                <a:cs typeface="Times New Roman" panose="02020603050405020304" pitchFamily="18" charset="0"/>
              </a:rPr>
              <a:t> </a:t>
            </a:r>
            <a:r>
              <a:rPr lang="en-US" altLang="en-US" dirty="0" err="1">
                <a:cs typeface="Times New Roman" panose="02020603050405020304" pitchFamily="18" charset="0"/>
              </a:rPr>
              <a:t>thành</a:t>
            </a:r>
            <a:r>
              <a:rPr lang="en-US" altLang="en-US" dirty="0">
                <a:cs typeface="Times New Roman" panose="02020603050405020304" pitchFamily="18" charset="0"/>
              </a:rPr>
              <a:t> </a:t>
            </a:r>
            <a:r>
              <a:rPr lang="en-US" altLang="en-US" dirty="0" err="1">
                <a:cs typeface="Times New Roman" panose="02020603050405020304" pitchFamily="18" charset="0"/>
              </a:rPr>
              <a:t>phần</a:t>
            </a:r>
            <a:r>
              <a:rPr lang="en-US" altLang="en-US" dirty="0">
                <a:cs typeface="Times New Roman" panose="02020603050405020304" pitchFamily="18" charset="0"/>
              </a:rPr>
              <a:t> </a:t>
            </a:r>
            <a:r>
              <a:rPr lang="en-US" altLang="en-US" dirty="0" err="1">
                <a:cs typeface="Times New Roman" panose="02020603050405020304" pitchFamily="18" charset="0"/>
              </a:rPr>
              <a:t>này</a:t>
            </a:r>
            <a:r>
              <a:rPr lang="en-US" altLang="en-US" dirty="0">
                <a:cs typeface="Times New Roman" panose="02020603050405020304" pitchFamily="18" charset="0"/>
              </a:rPr>
              <a:t> </a:t>
            </a:r>
            <a:r>
              <a:rPr lang="en-US" altLang="en-US" dirty="0" err="1">
                <a:cs typeface="Times New Roman" panose="02020603050405020304" pitchFamily="18" charset="0"/>
              </a:rPr>
              <a:t>đều</a:t>
            </a:r>
            <a:r>
              <a:rPr lang="en-US" altLang="en-US" dirty="0">
                <a:cs typeface="Times New Roman" panose="02020603050405020304" pitchFamily="18" charset="0"/>
              </a:rPr>
              <a:t> </a:t>
            </a:r>
            <a:r>
              <a:rPr lang="en-US" altLang="en-US" dirty="0" err="1">
                <a:cs typeface="Times New Roman" panose="02020603050405020304" pitchFamily="18" charset="0"/>
              </a:rPr>
              <a:t>là</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nhị</a:t>
            </a:r>
            <a:r>
              <a:rPr lang="en-US" altLang="en-US" dirty="0">
                <a:cs typeface="Times New Roman" panose="02020603050405020304" pitchFamily="18" charset="0"/>
              </a:rPr>
              <a:t> </a:t>
            </a:r>
            <a:r>
              <a:rPr lang="en-US" altLang="en-US" dirty="0" err="1">
                <a:cs typeface="Times New Roman" panose="02020603050405020304" pitchFamily="18" charset="0"/>
              </a:rPr>
              <a:t>phân</a:t>
            </a:r>
            <a:r>
              <a:rPr lang="en-US" altLang="en-US" dirty="0">
                <a:cs typeface="Times New Roman" panose="02020603050405020304" pitchFamily="18" charset="0"/>
              </a:rPr>
              <a:t>.</a:t>
            </a:r>
          </a:p>
          <a:p>
            <a:endParaRPr lang="en-US" dirty="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29</a:t>
            </a:fld>
            <a:endParaRPr lang="en-US"/>
          </a:p>
        </p:txBody>
      </p:sp>
    </p:spTree>
    <p:extLst>
      <p:ext uri="{BB962C8B-B14F-4D97-AF65-F5344CB8AC3E}">
        <p14:creationId xmlns:p14="http://schemas.microsoft.com/office/powerpoint/2010/main" val="27809912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ltLang="en-US" dirty="0">
                <a:cs typeface="Times New Roman" panose="02020603050405020304" pitchFamily="18" charset="0"/>
              </a:rPr>
              <a:t> đưa bài toán duyệt cây nhị phân về bài</a:t>
            </a:r>
            <a:r>
              <a:rPr lang="en-US" altLang="en-US" dirty="0">
                <a:cs typeface="Times New Roman" panose="02020603050405020304" pitchFamily="18" charset="0"/>
              </a:rPr>
              <a:t> </a:t>
            </a:r>
            <a:r>
              <a:rPr lang="vi-VN" altLang="en-US" dirty="0">
                <a:cs typeface="Times New Roman" panose="02020603050405020304" pitchFamily="18" charset="0"/>
              </a:rPr>
              <a:t>toán duyệt cây con </a:t>
            </a:r>
            <a:r>
              <a:rPr lang="en-US" altLang="en-US" dirty="0" err="1">
                <a:cs typeface="Times New Roman" panose="02020603050405020304" pitchFamily="18" charset="0"/>
              </a:rPr>
              <a:t>trái</a:t>
            </a:r>
            <a:r>
              <a:rPr lang="en-US" altLang="en-US" dirty="0">
                <a:cs typeface="Times New Roman" panose="02020603050405020304" pitchFamily="18" charset="0"/>
              </a:rPr>
              <a:t>/</a:t>
            </a:r>
            <a:r>
              <a:rPr lang="vi-VN" altLang="en-US" dirty="0">
                <a:cs typeface="Times New Roman" panose="02020603050405020304" pitchFamily="18" charset="0"/>
              </a:rPr>
              <a:t>phải cũng là cây nhị phân.</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30</a:t>
            </a:fld>
            <a:endParaRPr lang="en-US"/>
          </a:p>
        </p:txBody>
      </p:sp>
    </p:spTree>
    <p:extLst>
      <p:ext uri="{BB962C8B-B14F-4D97-AF65-F5344CB8AC3E}">
        <p14:creationId xmlns:p14="http://schemas.microsoft.com/office/powerpoint/2010/main" val="9931194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Duyệt</a:t>
            </a:r>
            <a:r>
              <a:rPr lang="en-US" dirty="0"/>
              <a:t> </a:t>
            </a:r>
            <a:r>
              <a:rPr lang="en-US" dirty="0" err="1"/>
              <a:t>cây</a:t>
            </a:r>
            <a:r>
              <a:rPr lang="en-US" dirty="0"/>
              <a:t> con </a:t>
            </a:r>
            <a:r>
              <a:rPr lang="en-US" dirty="0" err="1"/>
              <a:t>trái</a:t>
            </a:r>
            <a:r>
              <a:rPr lang="en-US" dirty="0"/>
              <a:t> </a:t>
            </a:r>
            <a:r>
              <a:rPr lang="en-US" dirty="0" err="1"/>
              <a:t>theo</a:t>
            </a:r>
            <a:r>
              <a:rPr lang="en-US" dirty="0"/>
              <a:t> </a:t>
            </a:r>
            <a:r>
              <a:rPr lang="en-US" dirty="0" err="1"/>
              <a:t>thứ</a:t>
            </a:r>
            <a:r>
              <a:rPr lang="en-US" dirty="0"/>
              <a:t> </a:t>
            </a:r>
            <a:r>
              <a:rPr lang="en-US" dirty="0" err="1"/>
              <a:t>tự</a:t>
            </a:r>
            <a:r>
              <a:rPr lang="en-US" dirty="0"/>
              <a:t> </a:t>
            </a:r>
            <a:r>
              <a:rPr lang="en-US" dirty="0" err="1"/>
              <a:t>giữa</a:t>
            </a:r>
            <a:r>
              <a:rPr lang="en-US" dirty="0"/>
              <a:t>.  </a:t>
            </a:r>
            <a:r>
              <a:rPr lang="en-US" dirty="0" err="1"/>
              <a:t>Thăm</a:t>
            </a:r>
            <a:r>
              <a:rPr lang="en-US" dirty="0"/>
              <a:t> </a:t>
            </a:r>
            <a:r>
              <a:rPr lang="en-US" dirty="0" err="1"/>
              <a:t>gốc</a:t>
            </a:r>
            <a:r>
              <a:rPr lang="en-US" dirty="0"/>
              <a:t>. </a:t>
            </a:r>
            <a:r>
              <a:rPr lang="en-US" dirty="0" err="1"/>
              <a:t>Duyệt</a:t>
            </a:r>
            <a:r>
              <a:rPr lang="en-US" dirty="0"/>
              <a:t> </a:t>
            </a:r>
            <a:r>
              <a:rPr lang="en-US" dirty="0" err="1"/>
              <a:t>cây</a:t>
            </a:r>
            <a:r>
              <a:rPr lang="en-US" dirty="0"/>
              <a:t> con </a:t>
            </a:r>
            <a:r>
              <a:rPr lang="en-US" dirty="0" err="1"/>
              <a:t>phải</a:t>
            </a:r>
            <a:r>
              <a:rPr lang="en-US" dirty="0"/>
              <a:t> </a:t>
            </a:r>
            <a:r>
              <a:rPr lang="en-US" dirty="0" err="1"/>
              <a:t>theo</a:t>
            </a:r>
            <a:r>
              <a:rPr lang="en-US" dirty="0"/>
              <a:t> </a:t>
            </a:r>
            <a:r>
              <a:rPr lang="en-US" dirty="0" err="1"/>
              <a:t>thứ</a:t>
            </a:r>
            <a:r>
              <a:rPr lang="en-US" dirty="0"/>
              <a:t> </a:t>
            </a:r>
            <a:r>
              <a:rPr lang="en-US" dirty="0" err="1"/>
              <a:t>tự</a:t>
            </a:r>
            <a:r>
              <a:rPr lang="en-US" dirty="0"/>
              <a:t> </a:t>
            </a:r>
            <a:r>
              <a:rPr lang="en-US" dirty="0" err="1"/>
              <a:t>giữa</a:t>
            </a:r>
            <a:r>
              <a:rPr lang="en-US" dirty="0"/>
              <a:t>.</a:t>
            </a:r>
          </a:p>
          <a:p>
            <a:r>
              <a:rPr lang="en-US" dirty="0" err="1"/>
              <a:t>Duyệt</a:t>
            </a:r>
            <a:r>
              <a:rPr lang="en-US" dirty="0"/>
              <a:t> </a:t>
            </a:r>
            <a:r>
              <a:rPr lang="en-US" dirty="0" err="1"/>
              <a:t>cây</a:t>
            </a:r>
            <a:r>
              <a:rPr lang="en-US" dirty="0"/>
              <a:t> con </a:t>
            </a:r>
            <a:r>
              <a:rPr lang="en-US" dirty="0" err="1"/>
              <a:t>trái</a:t>
            </a:r>
            <a:r>
              <a:rPr lang="en-US" dirty="0"/>
              <a:t> </a:t>
            </a:r>
            <a:r>
              <a:rPr lang="en-US" dirty="0" err="1"/>
              <a:t>theo</a:t>
            </a:r>
            <a:r>
              <a:rPr lang="en-US" dirty="0"/>
              <a:t> </a:t>
            </a:r>
            <a:r>
              <a:rPr lang="en-US" dirty="0" err="1"/>
              <a:t>thứ</a:t>
            </a:r>
            <a:r>
              <a:rPr lang="en-US" dirty="0"/>
              <a:t> </a:t>
            </a:r>
            <a:r>
              <a:rPr lang="en-US" dirty="0" err="1"/>
              <a:t>tự</a:t>
            </a:r>
            <a:r>
              <a:rPr lang="en-US" dirty="0"/>
              <a:t> </a:t>
            </a:r>
            <a:r>
              <a:rPr lang="en-US" dirty="0" err="1"/>
              <a:t>sau</a:t>
            </a:r>
            <a:r>
              <a:rPr lang="en-US" dirty="0"/>
              <a:t>. </a:t>
            </a:r>
            <a:r>
              <a:rPr lang="en-US" dirty="0" err="1"/>
              <a:t>Duyệt</a:t>
            </a:r>
            <a:r>
              <a:rPr lang="en-US" dirty="0"/>
              <a:t> </a:t>
            </a:r>
            <a:r>
              <a:rPr lang="en-US" dirty="0" err="1"/>
              <a:t>cây</a:t>
            </a:r>
            <a:r>
              <a:rPr lang="en-US" dirty="0"/>
              <a:t> con </a:t>
            </a:r>
            <a:r>
              <a:rPr lang="en-US" dirty="0" err="1"/>
              <a:t>phải</a:t>
            </a:r>
            <a:r>
              <a:rPr lang="en-US" dirty="0"/>
              <a:t> </a:t>
            </a:r>
            <a:r>
              <a:rPr lang="en-US" dirty="0" err="1"/>
              <a:t>theo</a:t>
            </a:r>
            <a:r>
              <a:rPr lang="en-US" dirty="0"/>
              <a:t> </a:t>
            </a:r>
            <a:r>
              <a:rPr lang="en-US" dirty="0" err="1"/>
              <a:t>thứ</a:t>
            </a:r>
            <a:r>
              <a:rPr lang="en-US" dirty="0"/>
              <a:t> </a:t>
            </a:r>
            <a:r>
              <a:rPr lang="en-US" dirty="0" err="1"/>
              <a:t>tự</a:t>
            </a:r>
            <a:r>
              <a:rPr lang="en-US" dirty="0"/>
              <a:t> </a:t>
            </a:r>
            <a:r>
              <a:rPr lang="en-US" dirty="0" err="1"/>
              <a:t>sau</a:t>
            </a:r>
            <a:r>
              <a:rPr lang="en-US" dirty="0"/>
              <a:t>. </a:t>
            </a:r>
            <a:r>
              <a:rPr lang="en-US" dirty="0" err="1"/>
              <a:t>Thăm</a:t>
            </a:r>
            <a:r>
              <a:rPr lang="en-US" dirty="0"/>
              <a:t> </a:t>
            </a:r>
            <a:r>
              <a:rPr lang="en-US" dirty="0" err="1"/>
              <a:t>gốc</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31</a:t>
            </a:fld>
            <a:endParaRPr lang="en-US"/>
          </a:p>
        </p:txBody>
      </p:sp>
    </p:spTree>
    <p:extLst>
      <p:ext uri="{BB962C8B-B14F-4D97-AF65-F5344CB8AC3E}">
        <p14:creationId xmlns:p14="http://schemas.microsoft.com/office/powerpoint/2010/main" val="33399543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32</a:t>
            </a:fld>
            <a:endParaRPr lang="en-US"/>
          </a:p>
        </p:txBody>
      </p:sp>
    </p:spTree>
    <p:extLst>
      <p:ext uri="{BB962C8B-B14F-4D97-AF65-F5344CB8AC3E}">
        <p14:creationId xmlns:p14="http://schemas.microsoft.com/office/powerpoint/2010/main" val="17551389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err="1">
                <a:cs typeface="Times New Roman" panose="02020603050405020304" pitchFamily="18" charset="0"/>
              </a:rPr>
              <a:t>Khai</a:t>
            </a:r>
            <a:r>
              <a:rPr lang="en-US" altLang="en-US" dirty="0">
                <a:cs typeface="Times New Roman" panose="02020603050405020304" pitchFamily="18" charset="0"/>
              </a:rPr>
              <a:t> </a:t>
            </a:r>
            <a:r>
              <a:rPr lang="en-US" altLang="en-US" dirty="0" err="1">
                <a:cs typeface="Times New Roman" panose="02020603050405020304" pitchFamily="18" charset="0"/>
              </a:rPr>
              <a:t>báo</a:t>
            </a:r>
            <a:r>
              <a:rPr lang="en-US" altLang="en-US" dirty="0">
                <a:cs typeface="Times New Roman" panose="02020603050405020304" pitchFamily="18" charset="0"/>
              </a:rPr>
              <a:t> </a:t>
            </a:r>
            <a:r>
              <a:rPr lang="en-US" altLang="en-US" dirty="0" err="1">
                <a:cs typeface="Times New Roman" panose="02020603050405020304" pitchFamily="18" charset="0"/>
              </a:rPr>
              <a:t>cấu</a:t>
            </a:r>
            <a:r>
              <a:rPr lang="en-US" altLang="en-US" dirty="0">
                <a:cs typeface="Times New Roman" panose="02020603050405020304" pitchFamily="18" charset="0"/>
              </a:rPr>
              <a:t> </a:t>
            </a:r>
            <a:r>
              <a:rPr lang="en-US" altLang="en-US" dirty="0" err="1">
                <a:cs typeface="Times New Roman" panose="02020603050405020304" pitchFamily="18" charset="0"/>
              </a:rPr>
              <a:t>trúc</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có</a:t>
            </a:r>
            <a:r>
              <a:rPr lang="en-US" altLang="en-US" dirty="0">
                <a:cs typeface="Times New Roman" panose="02020603050405020304" pitchFamily="18" charset="0"/>
              </a:rPr>
              <a:t> 2 </a:t>
            </a:r>
            <a:r>
              <a:rPr lang="en-US" altLang="en-US" dirty="0" err="1">
                <a:cs typeface="Times New Roman" panose="02020603050405020304" pitchFamily="18" charset="0"/>
              </a:rPr>
              <a:t>cách</a:t>
            </a:r>
            <a:r>
              <a:rPr lang="en-US" altLang="en-US" dirty="0">
                <a:cs typeface="Times New Roman" panose="02020603050405020304" pitchFamily="18" charset="0"/>
              </a:rPr>
              <a:t>, </a:t>
            </a:r>
            <a:r>
              <a:rPr lang="en-US" altLang="en-US" dirty="0" err="1">
                <a:cs typeface="Times New Roman" panose="02020603050405020304" pitchFamily="18" charset="0"/>
              </a:rPr>
              <a:t>sau</a:t>
            </a:r>
            <a:r>
              <a:rPr lang="en-US" altLang="en-US" dirty="0">
                <a:cs typeface="Times New Roman" panose="02020603050405020304" pitchFamily="18" charset="0"/>
              </a:rPr>
              <a:t> </a:t>
            </a:r>
            <a:r>
              <a:rPr lang="en-US" altLang="en-US" dirty="0" err="1">
                <a:cs typeface="Times New Roman" panose="02020603050405020304" pitchFamily="18" charset="0"/>
              </a:rPr>
              <a:t>này</a:t>
            </a:r>
            <a:r>
              <a:rPr lang="en-US" altLang="en-US" dirty="0">
                <a:cs typeface="Times New Roman" panose="02020603050405020304" pitchFamily="18" charset="0"/>
              </a:rPr>
              <a:t> </a:t>
            </a:r>
            <a:r>
              <a:rPr lang="en-US" altLang="en-US" dirty="0" err="1">
                <a:cs typeface="Times New Roman" panose="02020603050405020304" pitchFamily="18" charset="0"/>
              </a:rPr>
              <a:t>để</a:t>
            </a:r>
            <a:r>
              <a:rPr lang="en-US" altLang="en-US" dirty="0">
                <a:cs typeface="Times New Roman" panose="02020603050405020304" pitchFamily="18" charset="0"/>
              </a:rPr>
              <a:t> </a:t>
            </a:r>
            <a:r>
              <a:rPr lang="en-US" altLang="en-US" dirty="0" err="1">
                <a:cs typeface="Times New Roman" panose="02020603050405020304" pitchFamily="18" charset="0"/>
              </a:rPr>
              <a:t>đơn</a:t>
            </a:r>
            <a:r>
              <a:rPr lang="en-US" altLang="en-US" dirty="0">
                <a:cs typeface="Times New Roman" panose="02020603050405020304" pitchFamily="18" charset="0"/>
              </a:rPr>
              <a:t> </a:t>
            </a:r>
            <a:r>
              <a:rPr lang="en-US" altLang="en-US" dirty="0" err="1">
                <a:cs typeface="Times New Roman" panose="02020603050405020304" pitchFamily="18" charset="0"/>
              </a:rPr>
              <a:t>giản</a:t>
            </a:r>
            <a:r>
              <a:rPr lang="en-US" altLang="en-US" dirty="0">
                <a:cs typeface="Times New Roman" panose="02020603050405020304" pitchFamily="18" charset="0"/>
              </a:rPr>
              <a:t> ta </a:t>
            </a:r>
            <a:r>
              <a:rPr lang="en-US" altLang="en-US" dirty="0" err="1">
                <a:cs typeface="Times New Roman" panose="02020603050405020304" pitchFamily="18" charset="0"/>
              </a:rPr>
              <a:t>sẽ</a:t>
            </a:r>
            <a:r>
              <a:rPr lang="en-US" altLang="en-US" dirty="0">
                <a:cs typeface="Times New Roman" panose="02020603050405020304" pitchFamily="18" charset="0"/>
              </a:rPr>
              <a:t> </a:t>
            </a:r>
            <a:r>
              <a:rPr lang="en-US" altLang="en-US" dirty="0" err="1">
                <a:cs typeface="Times New Roman" panose="02020603050405020304" pitchFamily="18" charset="0"/>
              </a:rPr>
              <a:t>dùng</a:t>
            </a:r>
            <a:r>
              <a:rPr lang="en-US" altLang="en-US" dirty="0">
                <a:cs typeface="Times New Roman" panose="02020603050405020304" pitchFamily="18" charset="0"/>
              </a:rPr>
              <a:t> </a:t>
            </a:r>
            <a:r>
              <a:rPr lang="en-US" altLang="en-US" dirty="0" err="1">
                <a:cs typeface="Times New Roman" panose="02020603050405020304" pitchFamily="18" charset="0"/>
              </a:rPr>
              <a:t>cách</a:t>
            </a:r>
            <a:r>
              <a:rPr lang="en-US" altLang="en-US" dirty="0">
                <a:cs typeface="Times New Roman" panose="02020603050405020304" pitchFamily="18" charset="0"/>
              </a:rPr>
              <a:t> 1</a:t>
            </a:r>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37</a:t>
            </a:fld>
            <a:endParaRPr lang="en-US"/>
          </a:p>
        </p:txBody>
      </p:sp>
    </p:spTree>
    <p:extLst>
      <p:ext uri="{BB962C8B-B14F-4D97-AF65-F5344CB8AC3E}">
        <p14:creationId xmlns:p14="http://schemas.microsoft.com/office/powerpoint/2010/main" val="8628954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 giải thuật tìm kiếm một nút trong cây nhị phân ở trên, nếu tổ chức</a:t>
            </a:r>
          </a:p>
          <a:p>
            <a:r>
              <a:rPr lang="vi-VN" dirty="0"/>
              <a:t>cây không có gì đặc biệt thì luôn có xu hướng ta phải duyệt hết các nút trong cây,</a:t>
            </a:r>
          </a:p>
          <a:p>
            <a:r>
              <a:rPr lang="vi-VN" dirty="0"/>
              <a:t>nên tốc độ tìm kiếm sẽ chậm (do độ phức tạp là khoảng O(N), với N là kích thước</a:t>
            </a:r>
          </a:p>
          <a:p>
            <a:r>
              <a:rPr lang="vi-VN" dirty="0"/>
              <a:t>của cây).</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44</a:t>
            </a:fld>
            <a:endParaRPr lang="en-US"/>
          </a:p>
        </p:txBody>
      </p:sp>
    </p:spTree>
    <p:extLst>
      <p:ext uri="{BB962C8B-B14F-4D97-AF65-F5344CB8AC3E}">
        <p14:creationId xmlns:p14="http://schemas.microsoft.com/office/powerpoint/2010/main" val="10614146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eaLnBrk="1" hangingPunct="1"/>
            <a:r>
              <a:rPr lang="en-US" altLang="en-US" dirty="0" err="1">
                <a:cs typeface="Times New Roman" panose="02020603050405020304" pitchFamily="18" charset="0"/>
              </a:rPr>
              <a:t>Nguyên</a:t>
            </a:r>
            <a:r>
              <a:rPr lang="en-US" altLang="en-US" dirty="0">
                <a:cs typeface="Times New Roman" panose="02020603050405020304" pitchFamily="18" charset="0"/>
              </a:rPr>
              <a:t> </a:t>
            </a:r>
            <a:r>
              <a:rPr lang="en-US" altLang="en-US" dirty="0" err="1">
                <a:cs typeface="Times New Roman" panose="02020603050405020304" pitchFamily="18" charset="0"/>
              </a:rPr>
              <a:t>tắc</a:t>
            </a:r>
            <a:r>
              <a:rPr lang="en-US" altLang="en-US" dirty="0">
                <a:cs typeface="Times New Roman" panose="02020603050405020304" pitchFamily="18" charset="0"/>
              </a:rPr>
              <a:t>: </a:t>
            </a:r>
            <a:r>
              <a:rPr lang="en-US" altLang="en-US" dirty="0" err="1">
                <a:cs typeface="Times New Roman" panose="02020603050405020304" pitchFamily="18" charset="0"/>
              </a:rPr>
              <a:t>lưu</a:t>
            </a:r>
            <a:r>
              <a:rPr lang="en-US" altLang="en-US" dirty="0">
                <a:cs typeface="Times New Roman" panose="02020603050405020304" pitchFamily="18" charset="0"/>
              </a:rPr>
              <a:t> </a:t>
            </a:r>
            <a:r>
              <a:rPr lang="en-US" altLang="en-US" dirty="0" err="1">
                <a:cs typeface="Times New Roman" panose="02020603050405020304" pitchFamily="18" charset="0"/>
              </a:rPr>
              <a:t>trữ</a:t>
            </a:r>
            <a:r>
              <a:rPr lang="en-US" altLang="en-US" dirty="0">
                <a:cs typeface="Times New Roman" panose="02020603050405020304" pitchFamily="18" charset="0"/>
              </a:rPr>
              <a:t> </a:t>
            </a:r>
            <a:r>
              <a:rPr lang="en-US" altLang="en-US" dirty="0" err="1">
                <a:cs typeface="Times New Roman" panose="02020603050405020304" pitchFamily="18" charset="0"/>
              </a:rPr>
              <a:t>và</a:t>
            </a:r>
            <a:r>
              <a:rPr lang="en-US" altLang="en-US" dirty="0">
                <a:cs typeface="Times New Roman" panose="02020603050405020304" pitchFamily="18" charset="0"/>
              </a:rPr>
              <a:t> </a:t>
            </a:r>
            <a:r>
              <a:rPr lang="en-US" altLang="en-US" dirty="0" err="1">
                <a:cs typeface="Times New Roman" panose="02020603050405020304" pitchFamily="18" charset="0"/>
              </a:rPr>
              <a:t>tìm</a:t>
            </a:r>
            <a:r>
              <a:rPr lang="en-US" altLang="en-US" dirty="0">
                <a:cs typeface="Times New Roman" panose="02020603050405020304" pitchFamily="18" charset="0"/>
              </a:rPr>
              <a:t> </a:t>
            </a:r>
            <a:r>
              <a:rPr lang="en-US" altLang="en-US" dirty="0" err="1">
                <a:cs typeface="Times New Roman" panose="02020603050405020304" pitchFamily="18" charset="0"/>
              </a:rPr>
              <a:t>kiếm</a:t>
            </a:r>
            <a:r>
              <a:rPr lang="en-US" altLang="en-US" dirty="0">
                <a:cs typeface="Times New Roman" panose="02020603050405020304" pitchFamily="18" charset="0"/>
              </a:rPr>
              <a:t> </a:t>
            </a:r>
            <a:r>
              <a:rPr lang="en-US" altLang="en-US" dirty="0" err="1">
                <a:cs typeface="Times New Roman" panose="02020603050405020304" pitchFamily="18" charset="0"/>
              </a:rPr>
              <a:t>thông</a:t>
            </a:r>
            <a:r>
              <a:rPr lang="en-US" altLang="en-US" dirty="0">
                <a:cs typeface="Times New Roman" panose="02020603050405020304" pitchFamily="18" charset="0"/>
              </a:rPr>
              <a:t> qua </a:t>
            </a:r>
            <a:r>
              <a:rPr lang="en-US" altLang="en-US" b="1" dirty="0">
                <a:cs typeface="Times New Roman" panose="02020603050405020304" pitchFamily="18" charset="0"/>
              </a:rPr>
              <a:t>"</a:t>
            </a:r>
            <a:r>
              <a:rPr lang="en-US" altLang="en-US" b="1" dirty="0" err="1">
                <a:cs typeface="Times New Roman" panose="02020603050405020304" pitchFamily="18" charset="0"/>
              </a:rPr>
              <a:t>khoá</a:t>
            </a:r>
            <a:r>
              <a:rPr lang="en-US" altLang="en-US" b="1" dirty="0">
                <a:cs typeface="Times New Roman" panose="02020603050405020304" pitchFamily="18" charset="0"/>
              </a:rPr>
              <a:t>"</a:t>
            </a:r>
          </a:p>
          <a:p>
            <a:pPr lvl="2" eaLnBrk="1" hangingPunct="1"/>
            <a:r>
              <a:rPr lang="en-US" altLang="en-US" dirty="0" err="1">
                <a:cs typeface="Times New Roman" panose="02020603050405020304" pitchFamily="18" charset="0"/>
              </a:rPr>
              <a:t>Nhóm</a:t>
            </a:r>
            <a:r>
              <a:rPr lang="en-US" altLang="en-US" dirty="0">
                <a:cs typeface="Times New Roman" panose="02020603050405020304" pitchFamily="18" charset="0"/>
              </a:rPr>
              <a:t> </a:t>
            </a:r>
            <a:r>
              <a:rPr lang="en-US" altLang="en-US" dirty="0" err="1">
                <a:cs typeface="Times New Roman" panose="02020603050405020304" pitchFamily="18" charset="0"/>
              </a:rPr>
              <a:t>thuộc</a:t>
            </a:r>
            <a:r>
              <a:rPr lang="en-US" altLang="en-US" dirty="0">
                <a:cs typeface="Times New Roman" panose="02020603050405020304" pitchFamily="18" charset="0"/>
              </a:rPr>
              <a:t> </a:t>
            </a:r>
            <a:r>
              <a:rPr lang="en-US" altLang="en-US" dirty="0" err="1">
                <a:cs typeface="Times New Roman" panose="02020603050405020304" pitchFamily="18" charset="0"/>
              </a:rPr>
              <a:t>tính</a:t>
            </a:r>
            <a:r>
              <a:rPr lang="en-US" altLang="en-US" dirty="0">
                <a:cs typeface="Times New Roman" panose="02020603050405020304" pitchFamily="18" charset="0"/>
              </a:rPr>
              <a:t> </a:t>
            </a:r>
            <a:r>
              <a:rPr lang="en-US" altLang="en-US" dirty="0" err="1">
                <a:cs typeface="Times New Roman" panose="02020603050405020304" pitchFamily="18" charset="0"/>
              </a:rPr>
              <a:t>khoá</a:t>
            </a:r>
            <a:r>
              <a:rPr lang="en-US" altLang="en-US" dirty="0">
                <a:cs typeface="Times New Roman" panose="02020603050405020304" pitchFamily="18" charset="0"/>
              </a:rPr>
              <a:t>: </a:t>
            </a:r>
            <a:r>
              <a:rPr lang="en-US" altLang="en-US" dirty="0" err="1">
                <a:cs typeface="Times New Roman" panose="02020603050405020304" pitchFamily="18" charset="0"/>
              </a:rPr>
              <a:t>bao</a:t>
            </a:r>
            <a:r>
              <a:rPr lang="en-US" altLang="en-US" dirty="0">
                <a:cs typeface="Times New Roman" panose="02020603050405020304" pitchFamily="18" charset="0"/>
              </a:rPr>
              <a:t> </a:t>
            </a:r>
            <a:r>
              <a:rPr lang="en-US" altLang="en-US" dirty="0" err="1">
                <a:cs typeface="Times New Roman" panose="02020603050405020304" pitchFamily="18" charset="0"/>
              </a:rPr>
              <a:t>gồm</a:t>
            </a:r>
            <a:r>
              <a:rPr lang="en-US" altLang="en-US" dirty="0">
                <a:cs typeface="Times New Roman" panose="02020603050405020304" pitchFamily="18" charset="0"/>
              </a:rPr>
              <a:t> </a:t>
            </a:r>
            <a:r>
              <a:rPr lang="en-US" altLang="en-US" dirty="0" err="1">
                <a:cs typeface="Times New Roman" panose="02020603050405020304" pitchFamily="18" charset="0"/>
              </a:rPr>
              <a:t>các</a:t>
            </a:r>
            <a:r>
              <a:rPr lang="en-US" altLang="en-US" dirty="0">
                <a:cs typeface="Times New Roman" panose="02020603050405020304" pitchFamily="18" charset="0"/>
              </a:rPr>
              <a:t> </a:t>
            </a:r>
            <a:r>
              <a:rPr lang="en-US" altLang="en-US" dirty="0" err="1">
                <a:cs typeface="Times New Roman" panose="02020603050405020304" pitchFamily="18" charset="0"/>
              </a:rPr>
              <a:t>thuộc</a:t>
            </a:r>
            <a:r>
              <a:rPr lang="en-US" altLang="en-US" dirty="0">
                <a:cs typeface="Times New Roman" panose="02020603050405020304" pitchFamily="18" charset="0"/>
              </a:rPr>
              <a:t> </a:t>
            </a:r>
            <a:r>
              <a:rPr lang="en-US" altLang="en-US" dirty="0" err="1">
                <a:cs typeface="Times New Roman" panose="02020603050405020304" pitchFamily="18" charset="0"/>
              </a:rPr>
              <a:t>tính</a:t>
            </a:r>
            <a:r>
              <a:rPr lang="en-US" altLang="en-US" dirty="0">
                <a:cs typeface="Times New Roman" panose="02020603050405020304" pitchFamily="18" charset="0"/>
              </a:rPr>
              <a:t>, </a:t>
            </a:r>
            <a:r>
              <a:rPr lang="en-US" altLang="en-US" dirty="0" err="1">
                <a:cs typeface="Times New Roman" panose="02020603050405020304" pitchFamily="18" charset="0"/>
              </a:rPr>
              <a:t>tính</a:t>
            </a:r>
            <a:r>
              <a:rPr lang="en-US" altLang="en-US" dirty="0">
                <a:cs typeface="Times New Roman" panose="02020603050405020304" pitchFamily="18" charset="0"/>
              </a:rPr>
              <a:t> </a:t>
            </a:r>
            <a:r>
              <a:rPr lang="en-US" altLang="en-US" dirty="0" err="1">
                <a:cs typeface="Times New Roman" panose="02020603050405020304" pitchFamily="18" charset="0"/>
              </a:rPr>
              <a:t>chất</a:t>
            </a:r>
            <a:r>
              <a:rPr lang="en-US" altLang="en-US" dirty="0">
                <a:cs typeface="Times New Roman" panose="02020603050405020304" pitchFamily="18" charset="0"/>
              </a:rPr>
              <a:t> </a:t>
            </a:r>
            <a:r>
              <a:rPr lang="en-US" altLang="en-US" dirty="0" err="1">
                <a:cs typeface="Times New Roman" panose="02020603050405020304" pitchFamily="18" charset="0"/>
              </a:rPr>
              <a:t>giúp</a:t>
            </a:r>
            <a:r>
              <a:rPr lang="en-US" altLang="en-US" dirty="0">
                <a:cs typeface="Times New Roman" panose="02020603050405020304" pitchFamily="18" charset="0"/>
              </a:rPr>
              <a:t> </a:t>
            </a:r>
            <a:r>
              <a:rPr lang="en-US" altLang="en-US" dirty="0" err="1">
                <a:cs typeface="Times New Roman" panose="02020603050405020304" pitchFamily="18" charset="0"/>
              </a:rPr>
              <a:t>chúng</a:t>
            </a:r>
            <a:r>
              <a:rPr lang="en-US" altLang="en-US" dirty="0">
                <a:cs typeface="Times New Roman" panose="02020603050405020304" pitchFamily="18" charset="0"/>
              </a:rPr>
              <a:t> ta </a:t>
            </a:r>
            <a:r>
              <a:rPr lang="en-US" altLang="en-US" dirty="0" err="1">
                <a:cs typeface="Times New Roman" panose="02020603050405020304" pitchFamily="18" charset="0"/>
              </a:rPr>
              <a:t>hoàn</a:t>
            </a:r>
            <a:r>
              <a:rPr lang="en-US" altLang="en-US" dirty="0">
                <a:cs typeface="Times New Roman" panose="02020603050405020304" pitchFamily="18" charset="0"/>
              </a:rPr>
              <a:t> </a:t>
            </a:r>
            <a:r>
              <a:rPr lang="en-US" altLang="en-US" dirty="0" err="1">
                <a:cs typeface="Times New Roman" panose="02020603050405020304" pitchFamily="18" charset="0"/>
              </a:rPr>
              <a:t>toàn</a:t>
            </a:r>
            <a:r>
              <a:rPr lang="en-US" altLang="en-US" dirty="0">
                <a:cs typeface="Times New Roman" panose="02020603050405020304" pitchFamily="18" charset="0"/>
              </a:rPr>
              <a:t> </a:t>
            </a:r>
            <a:r>
              <a:rPr lang="en-US" altLang="en-US" dirty="0" err="1">
                <a:cs typeface="Times New Roman" panose="02020603050405020304" pitchFamily="18" charset="0"/>
              </a:rPr>
              <a:t>xác</a:t>
            </a:r>
            <a:r>
              <a:rPr lang="en-US" altLang="en-US" dirty="0">
                <a:cs typeface="Times New Roman" panose="02020603050405020304" pitchFamily="18" charset="0"/>
              </a:rPr>
              <a:t> </a:t>
            </a:r>
            <a:r>
              <a:rPr lang="en-US" altLang="en-US" dirty="0" err="1">
                <a:cs typeface="Times New Roman" panose="02020603050405020304" pitchFamily="18" charset="0"/>
              </a:rPr>
              <a:t>định</a:t>
            </a:r>
            <a:r>
              <a:rPr lang="en-US" altLang="en-US" dirty="0">
                <a:cs typeface="Times New Roman" panose="02020603050405020304" pitchFamily="18" charset="0"/>
              </a:rPr>
              <a:t> </a:t>
            </a:r>
            <a:r>
              <a:rPr lang="en-US" altLang="en-US" dirty="0" err="1">
                <a:cs typeface="Times New Roman" panose="02020603050405020304" pitchFamily="18" charset="0"/>
              </a:rPr>
              <a:t>được</a:t>
            </a:r>
            <a:r>
              <a:rPr lang="en-US" altLang="en-US" dirty="0">
                <a:cs typeface="Times New Roman" panose="02020603050405020304" pitchFamily="18" charset="0"/>
              </a:rPr>
              <a:t> </a:t>
            </a:r>
            <a:r>
              <a:rPr lang="en-US" altLang="en-US" dirty="0" err="1">
                <a:cs typeface="Times New Roman" panose="02020603050405020304" pitchFamily="18" charset="0"/>
              </a:rPr>
              <a:t>đối</a:t>
            </a:r>
            <a:r>
              <a:rPr lang="en-US" altLang="en-US" dirty="0">
                <a:cs typeface="Times New Roman" panose="02020603050405020304" pitchFamily="18" charset="0"/>
              </a:rPr>
              <a:t> </a:t>
            </a:r>
            <a:r>
              <a:rPr lang="en-US" altLang="en-US" dirty="0" err="1">
                <a:cs typeface="Times New Roman" panose="02020603050405020304" pitchFamily="18" charset="0"/>
              </a:rPr>
              <a:t>tượng</a:t>
            </a:r>
            <a:endParaRPr lang="en-US" altLang="en-US" dirty="0">
              <a:cs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45</a:t>
            </a:fld>
            <a:endParaRPr lang="en-US"/>
          </a:p>
        </p:txBody>
      </p:sp>
    </p:spTree>
    <p:extLst>
      <p:ext uri="{BB962C8B-B14F-4D97-AF65-F5344CB8AC3E}">
        <p14:creationId xmlns:p14="http://schemas.microsoft.com/office/powerpoint/2010/main" val="8515036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eaLnBrk="1" hangingPunct="1">
              <a:spcBef>
                <a:spcPct val="15000"/>
              </a:spcBef>
            </a:pPr>
            <a:r>
              <a:rPr lang="en-US" altLang="en-US" dirty="0" err="1">
                <a:cs typeface="Times New Roman" panose="02020603050405020304" pitchFamily="18" charset="0"/>
              </a:rPr>
              <a:t>Khoá</a:t>
            </a:r>
            <a:r>
              <a:rPr lang="en-US" altLang="en-US" dirty="0">
                <a:cs typeface="Times New Roman" panose="02020603050405020304" pitchFamily="18" charset="0"/>
              </a:rPr>
              <a:t> </a:t>
            </a:r>
            <a:r>
              <a:rPr lang="en-US" altLang="en-US" dirty="0" err="1">
                <a:cs typeface="Times New Roman" panose="02020603050405020304" pitchFamily="18" charset="0"/>
              </a:rPr>
              <a:t>của</a:t>
            </a:r>
            <a:r>
              <a:rPr lang="en-US" altLang="en-US" dirty="0">
                <a:cs typeface="Times New Roman" panose="02020603050405020304" pitchFamily="18" charset="0"/>
              </a:rPr>
              <a:t> </a:t>
            </a:r>
            <a:r>
              <a:rPr lang="en-US" altLang="en-US" dirty="0" err="1">
                <a:cs typeface="Times New Roman" panose="02020603050405020304" pitchFamily="18" charset="0"/>
              </a:rPr>
              <a:t>các</a:t>
            </a:r>
            <a:r>
              <a:rPr lang="en-US" altLang="en-US" dirty="0">
                <a:cs typeface="Times New Roman" panose="02020603050405020304" pitchFamily="18" charset="0"/>
              </a:rPr>
              <a:t> </a:t>
            </a:r>
            <a:r>
              <a:rPr lang="en-US" altLang="en-US" dirty="0" err="1">
                <a:cs typeface="Times New Roman" panose="02020603050405020304" pitchFamily="18" charset="0"/>
              </a:rPr>
              <a:t>đỉnh</a:t>
            </a:r>
            <a:r>
              <a:rPr lang="en-US" altLang="en-US" dirty="0">
                <a:cs typeface="Times New Roman" panose="02020603050405020304" pitchFamily="18" charset="0"/>
              </a:rPr>
              <a:t> </a:t>
            </a:r>
            <a:r>
              <a:rPr lang="en-US" altLang="en-US" dirty="0" err="1">
                <a:cs typeface="Times New Roman" panose="02020603050405020304" pitchFamily="18" charset="0"/>
              </a:rPr>
              <a:t>thuộc</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con </a:t>
            </a:r>
            <a:r>
              <a:rPr lang="en-US" altLang="en-US" dirty="0" err="1">
                <a:cs typeface="Times New Roman" panose="02020603050405020304" pitchFamily="18" charset="0"/>
              </a:rPr>
              <a:t>trái</a:t>
            </a:r>
            <a:r>
              <a:rPr lang="en-US" altLang="en-US" dirty="0">
                <a:cs typeface="Times New Roman" panose="02020603050405020304" pitchFamily="18" charset="0"/>
              </a:rPr>
              <a:t> </a:t>
            </a:r>
            <a:r>
              <a:rPr lang="en-US" altLang="en-US" dirty="0" err="1">
                <a:cs typeface="Times New Roman" panose="02020603050405020304" pitchFamily="18" charset="0"/>
              </a:rPr>
              <a:t>nhỏ</a:t>
            </a:r>
            <a:r>
              <a:rPr lang="en-US" altLang="en-US" dirty="0">
                <a:cs typeface="Times New Roman" panose="02020603050405020304" pitchFamily="18" charset="0"/>
              </a:rPr>
              <a:t> </a:t>
            </a:r>
            <a:r>
              <a:rPr lang="en-US" altLang="en-US" dirty="0" err="1">
                <a:cs typeface="Times New Roman" panose="02020603050405020304" pitchFamily="18" charset="0"/>
              </a:rPr>
              <a:t>hơn</a:t>
            </a:r>
            <a:r>
              <a:rPr lang="en-US" altLang="en-US" dirty="0">
                <a:cs typeface="Times New Roman" panose="02020603050405020304" pitchFamily="18" charset="0"/>
              </a:rPr>
              <a:t> </a:t>
            </a:r>
            <a:r>
              <a:rPr lang="en-US" altLang="en-US" dirty="0" err="1">
                <a:cs typeface="Times New Roman" panose="02020603050405020304" pitchFamily="18" charset="0"/>
              </a:rPr>
              <a:t>khoá</a:t>
            </a:r>
            <a:r>
              <a:rPr lang="en-US" altLang="en-US" dirty="0">
                <a:cs typeface="Times New Roman" panose="02020603050405020304" pitchFamily="18" charset="0"/>
              </a:rPr>
              <a:t> </a:t>
            </a:r>
            <a:r>
              <a:rPr lang="en-US" altLang="en-US" dirty="0" err="1">
                <a:cs typeface="Times New Roman" panose="02020603050405020304" pitchFamily="18" charset="0"/>
              </a:rPr>
              <a:t>của</a:t>
            </a:r>
            <a:r>
              <a:rPr lang="en-US" altLang="en-US" dirty="0">
                <a:cs typeface="Times New Roman" panose="02020603050405020304" pitchFamily="18" charset="0"/>
              </a:rPr>
              <a:t> </a:t>
            </a:r>
            <a:r>
              <a:rPr lang="en-US" altLang="en-US" dirty="0" err="1">
                <a:cs typeface="Times New Roman" panose="02020603050405020304" pitchFamily="18" charset="0"/>
              </a:rPr>
              <a:t>gốc</a:t>
            </a:r>
            <a:endParaRPr lang="en-US" altLang="en-US" dirty="0">
              <a:cs typeface="Times New Roman" panose="02020603050405020304" pitchFamily="18" charset="0"/>
            </a:endParaRPr>
          </a:p>
          <a:p>
            <a:pPr lvl="1" eaLnBrk="1" hangingPunct="1">
              <a:spcBef>
                <a:spcPct val="15000"/>
              </a:spcBef>
            </a:pPr>
            <a:r>
              <a:rPr lang="en-US" altLang="en-US" dirty="0" err="1">
                <a:cs typeface="Times New Roman" panose="02020603050405020304" pitchFamily="18" charset="0"/>
              </a:rPr>
              <a:t>Khóa</a:t>
            </a:r>
            <a:r>
              <a:rPr lang="en-US" altLang="en-US" dirty="0">
                <a:cs typeface="Times New Roman" panose="02020603050405020304" pitchFamily="18" charset="0"/>
              </a:rPr>
              <a:t> </a:t>
            </a:r>
            <a:r>
              <a:rPr lang="en-US" altLang="en-US" dirty="0" err="1">
                <a:cs typeface="Times New Roman" panose="02020603050405020304" pitchFamily="18" charset="0"/>
              </a:rPr>
              <a:t>của</a:t>
            </a:r>
            <a:r>
              <a:rPr lang="en-US" altLang="en-US" dirty="0">
                <a:cs typeface="Times New Roman" panose="02020603050405020304" pitchFamily="18" charset="0"/>
              </a:rPr>
              <a:t> </a:t>
            </a:r>
            <a:r>
              <a:rPr lang="en-US" altLang="en-US" dirty="0" err="1">
                <a:cs typeface="Times New Roman" panose="02020603050405020304" pitchFamily="18" charset="0"/>
              </a:rPr>
              <a:t>gốc</a:t>
            </a:r>
            <a:r>
              <a:rPr lang="en-US" altLang="en-US" dirty="0">
                <a:cs typeface="Times New Roman" panose="02020603050405020304" pitchFamily="18" charset="0"/>
              </a:rPr>
              <a:t> </a:t>
            </a:r>
            <a:r>
              <a:rPr lang="en-US" altLang="en-US" dirty="0" err="1">
                <a:cs typeface="Times New Roman" panose="02020603050405020304" pitchFamily="18" charset="0"/>
              </a:rPr>
              <a:t>nhỏ</a:t>
            </a:r>
            <a:r>
              <a:rPr lang="en-US" altLang="en-US" dirty="0">
                <a:cs typeface="Times New Roman" panose="02020603050405020304" pitchFamily="18" charset="0"/>
              </a:rPr>
              <a:t> </a:t>
            </a:r>
            <a:r>
              <a:rPr lang="en-US" altLang="en-US" dirty="0" err="1">
                <a:cs typeface="Times New Roman" panose="02020603050405020304" pitchFamily="18" charset="0"/>
              </a:rPr>
              <a:t>hơn</a:t>
            </a:r>
            <a:r>
              <a:rPr lang="en-US" altLang="en-US" dirty="0">
                <a:cs typeface="Times New Roman" panose="02020603050405020304" pitchFamily="18" charset="0"/>
              </a:rPr>
              <a:t> </a:t>
            </a:r>
            <a:r>
              <a:rPr lang="en-US" altLang="en-US" dirty="0" err="1">
                <a:cs typeface="Times New Roman" panose="02020603050405020304" pitchFamily="18" charset="0"/>
              </a:rPr>
              <a:t>khoá</a:t>
            </a:r>
            <a:r>
              <a:rPr lang="en-US" altLang="en-US" dirty="0">
                <a:cs typeface="Times New Roman" panose="02020603050405020304" pitchFamily="18" charset="0"/>
              </a:rPr>
              <a:t> </a:t>
            </a:r>
            <a:r>
              <a:rPr lang="en-US" altLang="en-US" dirty="0" err="1">
                <a:cs typeface="Times New Roman" panose="02020603050405020304" pitchFamily="18" charset="0"/>
              </a:rPr>
              <a:t>của</a:t>
            </a:r>
            <a:r>
              <a:rPr lang="en-US" altLang="en-US" dirty="0">
                <a:cs typeface="Times New Roman" panose="02020603050405020304" pitchFamily="18" charset="0"/>
              </a:rPr>
              <a:t> </a:t>
            </a:r>
            <a:r>
              <a:rPr lang="en-US" altLang="en-US" dirty="0" err="1">
                <a:cs typeface="Times New Roman" panose="02020603050405020304" pitchFamily="18" charset="0"/>
              </a:rPr>
              <a:t>các</a:t>
            </a:r>
            <a:r>
              <a:rPr lang="en-US" altLang="en-US" dirty="0">
                <a:cs typeface="Times New Roman" panose="02020603050405020304" pitchFamily="18" charset="0"/>
              </a:rPr>
              <a:t> </a:t>
            </a:r>
            <a:r>
              <a:rPr lang="en-US" altLang="en-US" dirty="0" err="1">
                <a:cs typeface="Times New Roman" panose="02020603050405020304" pitchFamily="18" charset="0"/>
              </a:rPr>
              <a:t>đỉnh</a:t>
            </a:r>
            <a:r>
              <a:rPr lang="en-US" altLang="en-US" dirty="0">
                <a:cs typeface="Times New Roman" panose="02020603050405020304" pitchFamily="18" charset="0"/>
              </a:rPr>
              <a:t> </a:t>
            </a:r>
            <a:r>
              <a:rPr lang="en-US" altLang="en-US" dirty="0" err="1">
                <a:cs typeface="Times New Roman" panose="02020603050405020304" pitchFamily="18" charset="0"/>
              </a:rPr>
              <a:t>thuộc</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con </a:t>
            </a:r>
            <a:r>
              <a:rPr lang="en-US" altLang="en-US" dirty="0" err="1">
                <a:cs typeface="Times New Roman" panose="02020603050405020304" pitchFamily="18" charset="0"/>
              </a:rPr>
              <a:t>phải</a:t>
            </a:r>
            <a:endParaRPr lang="en-US" altLang="en-US" dirty="0">
              <a:cs typeface="Times New Roman" panose="02020603050405020304" pitchFamily="18" charset="0"/>
            </a:endParaRPr>
          </a:p>
          <a:p>
            <a:pPr lvl="1" eaLnBrk="1" hangingPunct="1">
              <a:spcBef>
                <a:spcPct val="15000"/>
              </a:spcBef>
            </a:pPr>
            <a:r>
              <a:rPr lang="en-US" altLang="en-US" dirty="0" err="1">
                <a:cs typeface="Times New Roman" panose="02020603050405020304" pitchFamily="18" charset="0"/>
              </a:rPr>
              <a:t>Cây</a:t>
            </a:r>
            <a:r>
              <a:rPr lang="en-US" altLang="en-US" dirty="0">
                <a:cs typeface="Times New Roman" panose="02020603050405020304" pitchFamily="18" charset="0"/>
              </a:rPr>
              <a:t> con </a:t>
            </a:r>
            <a:r>
              <a:rPr lang="en-US" altLang="en-US" dirty="0" err="1">
                <a:cs typeface="Times New Roman" panose="02020603050405020304" pitchFamily="18" charset="0"/>
              </a:rPr>
              <a:t>trái</a:t>
            </a:r>
            <a:r>
              <a:rPr lang="en-US" altLang="en-US" dirty="0">
                <a:cs typeface="Times New Roman" panose="02020603050405020304" pitchFamily="18" charset="0"/>
              </a:rPr>
              <a:t> </a:t>
            </a:r>
            <a:r>
              <a:rPr lang="en-US" altLang="en-US" dirty="0" err="1">
                <a:cs typeface="Times New Roman" panose="02020603050405020304" pitchFamily="18" charset="0"/>
              </a:rPr>
              <a:t>và</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con </a:t>
            </a:r>
            <a:r>
              <a:rPr lang="en-US" altLang="en-US" dirty="0" err="1">
                <a:cs typeface="Times New Roman" panose="02020603050405020304" pitchFamily="18" charset="0"/>
              </a:rPr>
              <a:t>phải</a:t>
            </a:r>
            <a:r>
              <a:rPr lang="en-US" altLang="en-US" dirty="0">
                <a:cs typeface="Times New Roman" panose="02020603050405020304" pitchFamily="18" charset="0"/>
              </a:rPr>
              <a:t> </a:t>
            </a:r>
            <a:r>
              <a:rPr lang="en-US" altLang="en-US" dirty="0" err="1">
                <a:cs typeface="Times New Roman" panose="02020603050405020304" pitchFamily="18" charset="0"/>
              </a:rPr>
              <a:t>cũng</a:t>
            </a:r>
            <a:r>
              <a:rPr lang="en-US" altLang="en-US" dirty="0">
                <a:cs typeface="Times New Roman" panose="02020603050405020304" pitchFamily="18" charset="0"/>
              </a:rPr>
              <a:t> </a:t>
            </a:r>
            <a:r>
              <a:rPr lang="en-US" altLang="en-US" dirty="0" err="1">
                <a:cs typeface="Times New Roman" panose="02020603050405020304" pitchFamily="18" charset="0"/>
              </a:rPr>
              <a:t>là</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nhị</a:t>
            </a:r>
            <a:r>
              <a:rPr lang="en-US" altLang="en-US" dirty="0">
                <a:cs typeface="Times New Roman" panose="02020603050405020304" pitchFamily="18" charset="0"/>
              </a:rPr>
              <a:t> </a:t>
            </a:r>
            <a:r>
              <a:rPr lang="en-US" altLang="en-US" dirty="0" err="1">
                <a:cs typeface="Times New Roman" panose="02020603050405020304" pitchFamily="18" charset="0"/>
              </a:rPr>
              <a:t>phân</a:t>
            </a:r>
            <a:r>
              <a:rPr lang="en-US" altLang="en-US" dirty="0">
                <a:cs typeface="Times New Roman" panose="02020603050405020304" pitchFamily="18" charset="0"/>
              </a:rPr>
              <a:t> </a:t>
            </a:r>
            <a:r>
              <a:rPr lang="en-US" altLang="en-US" dirty="0" err="1">
                <a:cs typeface="Times New Roman" panose="02020603050405020304" pitchFamily="18" charset="0"/>
              </a:rPr>
              <a:t>tìm</a:t>
            </a:r>
            <a:r>
              <a:rPr lang="en-US" altLang="en-US" dirty="0">
                <a:cs typeface="Times New Roman" panose="02020603050405020304" pitchFamily="18" charset="0"/>
              </a:rPr>
              <a:t> </a:t>
            </a:r>
            <a:r>
              <a:rPr lang="en-US" altLang="en-US" dirty="0" err="1">
                <a:cs typeface="Times New Roman" panose="02020603050405020304" pitchFamily="18" charset="0"/>
              </a:rPr>
              <a:t>kiếm</a:t>
            </a:r>
            <a:endParaRPr lang="en-US" altLang="en-US" dirty="0">
              <a:cs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46</a:t>
            </a:fld>
            <a:endParaRPr lang="en-US"/>
          </a:p>
        </p:txBody>
      </p:sp>
    </p:spTree>
    <p:extLst>
      <p:ext uri="{BB962C8B-B14F-4D97-AF65-F5344CB8AC3E}">
        <p14:creationId xmlns:p14="http://schemas.microsoft.com/office/powerpoint/2010/main" val="9059211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GT </a:t>
            </a:r>
            <a:r>
              <a:rPr lang="en-US" dirty="0" err="1"/>
              <a:t>đệ</a:t>
            </a:r>
            <a:r>
              <a:rPr lang="en-US" baseline="0" dirty="0"/>
              <a:t> </a:t>
            </a:r>
            <a:r>
              <a:rPr lang="en-US" baseline="0" dirty="0" err="1"/>
              <a:t>quy</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50</a:t>
            </a:fld>
            <a:endParaRPr lang="en-US"/>
          </a:p>
        </p:txBody>
      </p:sp>
    </p:spTree>
    <p:extLst>
      <p:ext uri="{BB962C8B-B14F-4D97-AF65-F5344CB8AC3E}">
        <p14:creationId xmlns:p14="http://schemas.microsoft.com/office/powerpoint/2010/main" val="32317096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eaLnBrk="1" hangingPunct="1">
              <a:lnSpc>
                <a:spcPct val="90000"/>
              </a:lnSpc>
              <a:spcBef>
                <a:spcPct val="15000"/>
              </a:spcBef>
            </a:pPr>
            <a:r>
              <a:rPr lang="en-US" altLang="en-US" dirty="0" err="1">
                <a:cs typeface="Times New Roman" panose="02020603050405020304" pitchFamily="18" charset="0"/>
              </a:rPr>
              <a:t>Tìm</a:t>
            </a:r>
            <a:r>
              <a:rPr lang="en-US" altLang="en-US" dirty="0">
                <a:cs typeface="Times New Roman" panose="02020603050405020304" pitchFamily="18" charset="0"/>
              </a:rPr>
              <a:t> </a:t>
            </a:r>
            <a:r>
              <a:rPr lang="en-US" altLang="en-US" dirty="0" err="1">
                <a:cs typeface="Times New Roman" panose="02020603050405020304" pitchFamily="18" charset="0"/>
              </a:rPr>
              <a:t>đến</a:t>
            </a:r>
            <a:r>
              <a:rPr lang="en-US" altLang="en-US" dirty="0">
                <a:cs typeface="Times New Roman" panose="02020603050405020304" pitchFamily="18" charset="0"/>
              </a:rPr>
              <a:t> </a:t>
            </a:r>
            <a:r>
              <a:rPr lang="en-US" altLang="en-US" dirty="0" err="1">
                <a:cs typeface="Times New Roman" panose="02020603050405020304" pitchFamily="18" charset="0"/>
              </a:rPr>
              <a:t>nút</a:t>
            </a:r>
            <a:r>
              <a:rPr lang="en-US" altLang="en-US" dirty="0">
                <a:cs typeface="Times New Roman" panose="02020603050405020304" pitchFamily="18" charset="0"/>
              </a:rPr>
              <a:t> </a:t>
            </a:r>
            <a:r>
              <a:rPr lang="en-US" altLang="en-US" dirty="0" err="1">
                <a:cs typeface="Times New Roman" panose="02020603050405020304" pitchFamily="18" charset="0"/>
              </a:rPr>
              <a:t>có</a:t>
            </a:r>
            <a:r>
              <a:rPr lang="en-US" altLang="en-US" dirty="0">
                <a:cs typeface="Times New Roman" panose="02020603050405020304" pitchFamily="18" charset="0"/>
              </a:rPr>
              <a:t> </a:t>
            </a:r>
            <a:r>
              <a:rPr lang="en-US" altLang="en-US" dirty="0" err="1">
                <a:cs typeface="Times New Roman" panose="02020603050405020304" pitchFamily="18" charset="0"/>
              </a:rPr>
              <a:t>giá</a:t>
            </a:r>
            <a:r>
              <a:rPr lang="en-US" altLang="en-US" dirty="0">
                <a:cs typeface="Times New Roman" panose="02020603050405020304" pitchFamily="18" charset="0"/>
              </a:rPr>
              <a:t> </a:t>
            </a:r>
            <a:r>
              <a:rPr lang="en-US" altLang="en-US" dirty="0" err="1">
                <a:cs typeface="Times New Roman" panose="02020603050405020304" pitchFamily="18" charset="0"/>
              </a:rPr>
              <a:t>trị</a:t>
            </a:r>
            <a:r>
              <a:rPr lang="en-US" altLang="en-US" dirty="0">
                <a:cs typeface="Times New Roman" panose="02020603050405020304" pitchFamily="18" charset="0"/>
              </a:rPr>
              <a:t> </a:t>
            </a:r>
            <a:r>
              <a:rPr lang="en-US" altLang="en-US" dirty="0" err="1">
                <a:cs typeface="Times New Roman" panose="02020603050405020304" pitchFamily="18" charset="0"/>
              </a:rPr>
              <a:t>khóa</a:t>
            </a:r>
            <a:r>
              <a:rPr lang="en-US" altLang="en-US" dirty="0">
                <a:cs typeface="Times New Roman" panose="02020603050405020304" pitchFamily="18" charset="0"/>
              </a:rPr>
              <a:t> </a:t>
            </a:r>
            <a:r>
              <a:rPr lang="en-US" altLang="en-US" dirty="0" err="1">
                <a:cs typeface="Times New Roman" panose="02020603050405020304" pitchFamily="18" charset="0"/>
              </a:rPr>
              <a:t>cần</a:t>
            </a:r>
            <a:r>
              <a:rPr lang="en-US" altLang="en-US" dirty="0">
                <a:cs typeface="Times New Roman" panose="02020603050405020304" pitchFamily="18" charset="0"/>
              </a:rPr>
              <a:t> </a:t>
            </a:r>
            <a:r>
              <a:rPr lang="en-US" altLang="en-US" dirty="0" err="1">
                <a:cs typeface="Times New Roman" panose="02020603050405020304" pitchFamily="18" charset="0"/>
              </a:rPr>
              <a:t>loại</a:t>
            </a:r>
            <a:r>
              <a:rPr lang="en-US" altLang="en-US" dirty="0">
                <a:cs typeface="Times New Roman" panose="02020603050405020304" pitchFamily="18" charset="0"/>
              </a:rPr>
              <a:t> </a:t>
            </a:r>
            <a:r>
              <a:rPr lang="en-US" altLang="en-US" dirty="0" err="1">
                <a:cs typeface="Times New Roman" panose="02020603050405020304" pitchFamily="18" charset="0"/>
              </a:rPr>
              <a:t>bỏ</a:t>
            </a:r>
            <a:endParaRPr lang="en-US" altLang="en-US" dirty="0">
              <a:cs typeface="Times New Roman" panose="02020603050405020304" pitchFamily="18" charset="0"/>
            </a:endParaRPr>
          </a:p>
          <a:p>
            <a:pPr lvl="1" eaLnBrk="1" hangingPunct="1">
              <a:lnSpc>
                <a:spcPct val="90000"/>
              </a:lnSpc>
              <a:spcBef>
                <a:spcPct val="15000"/>
              </a:spcBef>
            </a:pPr>
            <a:r>
              <a:rPr lang="en-US" altLang="en-US" dirty="0" err="1">
                <a:cs typeface="Times New Roman" panose="02020603050405020304" pitchFamily="18" charset="0"/>
              </a:rPr>
              <a:t>Thực</a:t>
            </a:r>
            <a:r>
              <a:rPr lang="en-US" altLang="en-US" dirty="0">
                <a:cs typeface="Times New Roman" panose="02020603050405020304" pitchFamily="18" charset="0"/>
              </a:rPr>
              <a:t> </a:t>
            </a:r>
            <a:r>
              <a:rPr lang="en-US" altLang="en-US" dirty="0" err="1">
                <a:cs typeface="Times New Roman" panose="02020603050405020304" pitchFamily="18" charset="0"/>
              </a:rPr>
              <a:t>hiện</a:t>
            </a:r>
            <a:r>
              <a:rPr lang="en-US" altLang="en-US" dirty="0">
                <a:cs typeface="Times New Roman" panose="02020603050405020304" pitchFamily="18" charset="0"/>
              </a:rPr>
              <a:t> </a:t>
            </a:r>
            <a:r>
              <a:rPr lang="en-US" altLang="en-US" dirty="0" err="1">
                <a:cs typeface="Times New Roman" panose="02020603050405020304" pitchFamily="18" charset="0"/>
              </a:rPr>
              <a:t>phép</a:t>
            </a:r>
            <a:r>
              <a:rPr lang="en-US" altLang="en-US" dirty="0">
                <a:cs typeface="Times New Roman" panose="02020603050405020304" pitchFamily="18" charset="0"/>
              </a:rPr>
              <a:t> </a:t>
            </a:r>
            <a:r>
              <a:rPr lang="en-US" altLang="en-US" dirty="0" err="1">
                <a:cs typeface="Times New Roman" panose="02020603050405020304" pitchFamily="18" charset="0"/>
              </a:rPr>
              <a:t>loại</a:t>
            </a:r>
            <a:r>
              <a:rPr lang="en-US" altLang="en-US" dirty="0">
                <a:cs typeface="Times New Roman" panose="02020603050405020304" pitchFamily="18" charset="0"/>
              </a:rPr>
              <a:t> </a:t>
            </a:r>
            <a:r>
              <a:rPr lang="en-US" altLang="en-US" dirty="0" err="1">
                <a:cs typeface="Times New Roman" panose="02020603050405020304" pitchFamily="18" charset="0"/>
              </a:rPr>
              <a:t>bỏ</a:t>
            </a:r>
            <a:r>
              <a:rPr lang="en-US" altLang="en-US" dirty="0">
                <a:cs typeface="Times New Roman" panose="02020603050405020304" pitchFamily="18" charset="0"/>
              </a:rPr>
              <a:t> </a:t>
            </a:r>
            <a:r>
              <a:rPr lang="en-US" altLang="en-US" dirty="0" err="1">
                <a:cs typeface="Times New Roman" panose="02020603050405020304" pitchFamily="18" charset="0"/>
              </a:rPr>
              <a:t>nút</a:t>
            </a:r>
            <a:r>
              <a:rPr lang="en-US" altLang="en-US" dirty="0">
                <a:cs typeface="Times New Roman" panose="02020603050405020304" pitchFamily="18" charset="0"/>
              </a:rPr>
              <a:t> </a:t>
            </a:r>
            <a:r>
              <a:rPr lang="en-US" altLang="en-US" dirty="0" err="1">
                <a:cs typeface="Times New Roman" panose="02020603050405020304" pitchFamily="18" charset="0"/>
              </a:rPr>
              <a:t>đó</a:t>
            </a:r>
            <a:endParaRPr lang="en-US" altLang="en-US" dirty="0">
              <a:cs typeface="Times New Roman" panose="02020603050405020304" pitchFamily="18" charset="0"/>
            </a:endParaRPr>
          </a:p>
          <a:p>
            <a:pPr lvl="1" eaLnBrk="1" hangingPunct="1">
              <a:lnSpc>
                <a:spcPct val="90000"/>
              </a:lnSpc>
              <a:spcBef>
                <a:spcPct val="15000"/>
              </a:spcBef>
            </a:pPr>
            <a:r>
              <a:rPr lang="en-US" altLang="en-US" dirty="0" err="1">
                <a:cs typeface="Times New Roman" panose="02020603050405020304" pitchFamily="18" charset="0"/>
              </a:rPr>
              <a:t>Thực</a:t>
            </a:r>
            <a:r>
              <a:rPr lang="en-US" altLang="en-US" dirty="0">
                <a:cs typeface="Times New Roman" panose="02020603050405020304" pitchFamily="18" charset="0"/>
              </a:rPr>
              <a:t> </a:t>
            </a:r>
            <a:r>
              <a:rPr lang="en-US" altLang="en-US" dirty="0" err="1">
                <a:cs typeface="Times New Roman" panose="02020603050405020304" pitchFamily="18" charset="0"/>
              </a:rPr>
              <a:t>hiện</a:t>
            </a:r>
            <a:r>
              <a:rPr lang="en-US" altLang="en-US" dirty="0">
                <a:cs typeface="Times New Roman" panose="02020603050405020304" pitchFamily="18" charset="0"/>
              </a:rPr>
              <a:t> </a:t>
            </a:r>
            <a:r>
              <a:rPr lang="en-US" altLang="en-US" dirty="0" err="1">
                <a:cs typeface="Times New Roman" panose="02020603050405020304" pitchFamily="18" charset="0"/>
              </a:rPr>
              <a:t>xắp</a:t>
            </a:r>
            <a:r>
              <a:rPr lang="en-US" altLang="en-US" dirty="0">
                <a:cs typeface="Times New Roman" panose="02020603050405020304" pitchFamily="18" charset="0"/>
              </a:rPr>
              <a:t> </a:t>
            </a:r>
            <a:r>
              <a:rPr lang="en-US" altLang="en-US" dirty="0" err="1">
                <a:cs typeface="Times New Roman" panose="02020603050405020304" pitchFamily="18" charset="0"/>
              </a:rPr>
              <a:t>xếp</a:t>
            </a:r>
            <a:r>
              <a:rPr lang="en-US" altLang="en-US" dirty="0">
                <a:cs typeface="Times New Roman" panose="02020603050405020304" pitchFamily="18" charset="0"/>
              </a:rPr>
              <a:t> </a:t>
            </a:r>
            <a:r>
              <a:rPr lang="en-US" altLang="en-US" dirty="0" err="1">
                <a:cs typeface="Times New Roman" panose="02020603050405020304" pitchFamily="18" charset="0"/>
              </a:rPr>
              <a:t>lại</a:t>
            </a:r>
            <a:r>
              <a:rPr lang="en-US" altLang="en-US" dirty="0">
                <a:cs typeface="Times New Roman" panose="02020603050405020304" pitchFamily="18" charset="0"/>
              </a:rPr>
              <a:t> </a:t>
            </a:r>
            <a:r>
              <a:rPr lang="en-US" altLang="en-US" dirty="0" err="1">
                <a:cs typeface="Times New Roman" panose="02020603050405020304" pitchFamily="18" charset="0"/>
              </a:rPr>
              <a:t>để</a:t>
            </a:r>
            <a:r>
              <a:rPr lang="en-US" altLang="en-US" dirty="0">
                <a:cs typeface="Times New Roman" panose="02020603050405020304" pitchFamily="18" charset="0"/>
              </a:rPr>
              <a:t> </a:t>
            </a:r>
            <a:r>
              <a:rPr lang="en-US" altLang="en-US" dirty="0" err="1">
                <a:cs typeface="Times New Roman" panose="02020603050405020304" pitchFamily="18" charset="0"/>
              </a:rPr>
              <a:t>đảm</a:t>
            </a:r>
            <a:r>
              <a:rPr lang="en-US" altLang="en-US" dirty="0">
                <a:cs typeface="Times New Roman" panose="02020603050405020304" pitchFamily="18" charset="0"/>
              </a:rPr>
              <a:t> </a:t>
            </a:r>
            <a:r>
              <a:rPr lang="en-US" altLang="en-US" dirty="0" err="1">
                <a:cs typeface="Times New Roman" panose="02020603050405020304" pitchFamily="18" charset="0"/>
              </a:rPr>
              <a:t>bảo</a:t>
            </a:r>
            <a:r>
              <a:rPr lang="en-US" altLang="en-US" dirty="0">
                <a:cs typeface="Times New Roman" panose="02020603050405020304" pitchFamily="18" charset="0"/>
              </a:rPr>
              <a:t> </a:t>
            </a:r>
            <a:r>
              <a:rPr lang="en-US" altLang="en-US" dirty="0" err="1">
                <a:cs typeface="Times New Roman" panose="02020603050405020304" pitchFamily="18" charset="0"/>
              </a:rPr>
              <a:t>tính</a:t>
            </a:r>
            <a:r>
              <a:rPr lang="en-US" altLang="en-US" dirty="0">
                <a:cs typeface="Times New Roman" panose="02020603050405020304" pitchFamily="18" charset="0"/>
              </a:rPr>
              <a:t> </a:t>
            </a:r>
            <a:r>
              <a:rPr lang="en-US" altLang="en-US" dirty="0" err="1">
                <a:cs typeface="Times New Roman" panose="02020603050405020304" pitchFamily="18" charset="0"/>
              </a:rPr>
              <a:t>chất</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tìm</a:t>
            </a:r>
            <a:r>
              <a:rPr lang="en-US" altLang="en-US" dirty="0">
                <a:cs typeface="Times New Roman" panose="02020603050405020304" pitchFamily="18" charset="0"/>
              </a:rPr>
              <a:t> </a:t>
            </a:r>
            <a:r>
              <a:rPr lang="en-US" altLang="en-US" dirty="0" err="1">
                <a:cs typeface="Times New Roman" panose="02020603050405020304" pitchFamily="18" charset="0"/>
              </a:rPr>
              <a:t>kiếm</a:t>
            </a:r>
            <a:r>
              <a:rPr lang="en-US" altLang="en-US" dirty="0">
                <a:cs typeface="Times New Roman" panose="02020603050405020304" pitchFamily="18" charset="0"/>
              </a:rPr>
              <a:t> NP</a:t>
            </a:r>
          </a:p>
          <a:p>
            <a:pPr lvl="2" eaLnBrk="1" hangingPunct="1">
              <a:lnSpc>
                <a:spcPct val="90000"/>
              </a:lnSpc>
              <a:spcBef>
                <a:spcPct val="15000"/>
              </a:spcBef>
            </a:pPr>
            <a:r>
              <a:rPr lang="en-US" altLang="en-US" dirty="0" err="1">
                <a:cs typeface="Times New Roman" panose="02020603050405020304" pitchFamily="18" charset="0"/>
              </a:rPr>
              <a:t>Nếu</a:t>
            </a:r>
            <a:r>
              <a:rPr lang="en-US" altLang="en-US" dirty="0">
                <a:cs typeface="Times New Roman" panose="02020603050405020304" pitchFamily="18" charset="0"/>
              </a:rPr>
              <a:t> </a:t>
            </a:r>
            <a:r>
              <a:rPr lang="en-US" altLang="en-US" dirty="0" err="1">
                <a:cs typeface="Times New Roman" panose="02020603050405020304" pitchFamily="18" charset="0"/>
              </a:rPr>
              <a:t>đỉnh</a:t>
            </a:r>
            <a:r>
              <a:rPr lang="en-US" altLang="en-US" dirty="0">
                <a:cs typeface="Times New Roman" panose="02020603050405020304" pitchFamily="18" charset="0"/>
              </a:rPr>
              <a:t> </a:t>
            </a:r>
            <a:r>
              <a:rPr lang="en-US" altLang="en-US" dirty="0" err="1">
                <a:cs typeface="Times New Roman" panose="02020603050405020304" pitchFamily="18" charset="0"/>
              </a:rPr>
              <a:t>cần</a:t>
            </a:r>
            <a:r>
              <a:rPr lang="en-US" altLang="en-US" dirty="0">
                <a:cs typeface="Times New Roman" panose="02020603050405020304" pitchFamily="18" charset="0"/>
              </a:rPr>
              <a:t> </a:t>
            </a:r>
            <a:r>
              <a:rPr lang="en-US" altLang="en-US" dirty="0" err="1">
                <a:cs typeface="Times New Roman" panose="02020603050405020304" pitchFamily="18" charset="0"/>
              </a:rPr>
              <a:t>loại</a:t>
            </a:r>
            <a:r>
              <a:rPr lang="en-US" altLang="en-US" dirty="0">
                <a:cs typeface="Times New Roman" panose="02020603050405020304" pitchFamily="18" charset="0"/>
              </a:rPr>
              <a:t> </a:t>
            </a:r>
            <a:r>
              <a:rPr lang="en-US" altLang="en-US" dirty="0" err="1">
                <a:cs typeface="Times New Roman" panose="02020603050405020304" pitchFamily="18" charset="0"/>
              </a:rPr>
              <a:t>bỏ</a:t>
            </a:r>
            <a:r>
              <a:rPr lang="en-US" altLang="en-US" dirty="0">
                <a:cs typeface="Times New Roman" panose="02020603050405020304" pitchFamily="18" charset="0"/>
              </a:rPr>
              <a:t> </a:t>
            </a:r>
            <a:r>
              <a:rPr lang="en-US" altLang="en-US" dirty="0" err="1">
                <a:cs typeface="Times New Roman" panose="02020603050405020304" pitchFamily="18" charset="0"/>
              </a:rPr>
              <a:t>là</a:t>
            </a:r>
            <a:r>
              <a:rPr lang="en-US" altLang="en-US" dirty="0">
                <a:cs typeface="Times New Roman" panose="02020603050405020304" pitchFamily="18" charset="0"/>
              </a:rPr>
              <a:t> </a:t>
            </a:r>
            <a:r>
              <a:rPr lang="en-US" altLang="en-US" dirty="0" err="1">
                <a:cs typeface="Times New Roman" panose="02020603050405020304" pitchFamily="18" charset="0"/>
              </a:rPr>
              <a:t>lá</a:t>
            </a:r>
            <a:r>
              <a:rPr lang="en-US" altLang="en-US" dirty="0">
                <a:cs typeface="Times New Roman" panose="02020603050405020304" pitchFamily="18" charset="0"/>
              </a:rPr>
              <a:t> =&gt; </a:t>
            </a:r>
            <a:r>
              <a:rPr lang="en-US" altLang="en-US" dirty="0" err="1">
                <a:cs typeface="Times New Roman" panose="02020603050405020304" pitchFamily="18" charset="0"/>
              </a:rPr>
              <a:t>không</a:t>
            </a:r>
            <a:r>
              <a:rPr lang="en-US" altLang="en-US" dirty="0">
                <a:cs typeface="Times New Roman" panose="02020603050405020304" pitchFamily="18" charset="0"/>
              </a:rPr>
              <a:t> </a:t>
            </a:r>
            <a:r>
              <a:rPr lang="en-US" altLang="en-US" dirty="0" err="1">
                <a:cs typeface="Times New Roman" panose="02020603050405020304" pitchFamily="18" charset="0"/>
              </a:rPr>
              <a:t>cần</a:t>
            </a:r>
            <a:r>
              <a:rPr lang="en-US" altLang="en-US" dirty="0">
                <a:cs typeface="Times New Roman" panose="02020603050405020304" pitchFamily="18" charset="0"/>
              </a:rPr>
              <a:t> </a:t>
            </a:r>
            <a:r>
              <a:rPr lang="en-US" altLang="en-US" dirty="0" err="1">
                <a:cs typeface="Times New Roman" panose="02020603050405020304" pitchFamily="18" charset="0"/>
              </a:rPr>
              <a:t>làm</a:t>
            </a:r>
            <a:r>
              <a:rPr lang="en-US" altLang="en-US" dirty="0">
                <a:cs typeface="Times New Roman" panose="02020603050405020304" pitchFamily="18" charset="0"/>
              </a:rPr>
              <a:t> </a:t>
            </a:r>
            <a:r>
              <a:rPr lang="en-US" altLang="en-US" dirty="0" err="1">
                <a:cs typeface="Times New Roman" panose="02020603050405020304" pitchFamily="18" charset="0"/>
              </a:rPr>
              <a:t>gì</a:t>
            </a:r>
            <a:endParaRPr lang="en-US" altLang="en-US" dirty="0">
              <a:cs typeface="Times New Roman" panose="02020603050405020304" pitchFamily="18" charset="0"/>
            </a:endParaRPr>
          </a:p>
          <a:p>
            <a:pPr lvl="2" eaLnBrk="1" hangingPunct="1">
              <a:lnSpc>
                <a:spcPct val="90000"/>
              </a:lnSpc>
              <a:spcBef>
                <a:spcPct val="15000"/>
              </a:spcBef>
            </a:pPr>
            <a:r>
              <a:rPr lang="en-US" altLang="en-US" dirty="0" err="1">
                <a:cs typeface="Times New Roman" panose="02020603050405020304" pitchFamily="18" charset="0"/>
              </a:rPr>
              <a:t>Nếu</a:t>
            </a:r>
            <a:r>
              <a:rPr lang="en-US" altLang="en-US" dirty="0">
                <a:cs typeface="Times New Roman" panose="02020603050405020304" pitchFamily="18" charset="0"/>
              </a:rPr>
              <a:t> </a:t>
            </a:r>
            <a:r>
              <a:rPr lang="en-US" altLang="en-US" dirty="0" err="1">
                <a:cs typeface="Times New Roman" panose="02020603050405020304" pitchFamily="18" charset="0"/>
              </a:rPr>
              <a:t>đỉnh</a:t>
            </a:r>
            <a:r>
              <a:rPr lang="en-US" altLang="en-US" dirty="0">
                <a:cs typeface="Times New Roman" panose="02020603050405020304" pitchFamily="18" charset="0"/>
              </a:rPr>
              <a:t> </a:t>
            </a:r>
            <a:r>
              <a:rPr lang="en-US" altLang="en-US" dirty="0" err="1">
                <a:cs typeface="Times New Roman" panose="02020603050405020304" pitchFamily="18" charset="0"/>
              </a:rPr>
              <a:t>cần</a:t>
            </a:r>
            <a:r>
              <a:rPr lang="en-US" altLang="en-US" dirty="0">
                <a:cs typeface="Times New Roman" panose="02020603050405020304" pitchFamily="18" charset="0"/>
              </a:rPr>
              <a:t> </a:t>
            </a:r>
            <a:r>
              <a:rPr lang="en-US" altLang="en-US" dirty="0" err="1">
                <a:cs typeface="Times New Roman" panose="02020603050405020304" pitchFamily="18" charset="0"/>
              </a:rPr>
              <a:t>loại</a:t>
            </a:r>
            <a:r>
              <a:rPr lang="en-US" altLang="en-US" dirty="0">
                <a:cs typeface="Times New Roman" panose="02020603050405020304" pitchFamily="18" charset="0"/>
              </a:rPr>
              <a:t> </a:t>
            </a:r>
            <a:r>
              <a:rPr lang="en-US" altLang="en-US" dirty="0" err="1">
                <a:cs typeface="Times New Roman" panose="02020603050405020304" pitchFamily="18" charset="0"/>
              </a:rPr>
              <a:t>bỏ</a:t>
            </a:r>
            <a:r>
              <a:rPr lang="en-US" altLang="en-US" dirty="0">
                <a:cs typeface="Times New Roman" panose="02020603050405020304" pitchFamily="18" charset="0"/>
              </a:rPr>
              <a:t> </a:t>
            </a:r>
            <a:r>
              <a:rPr lang="en-US" altLang="en-US" dirty="0" err="1">
                <a:cs typeface="Times New Roman" panose="02020603050405020304" pitchFamily="18" charset="0"/>
              </a:rPr>
              <a:t>chỉ</a:t>
            </a:r>
            <a:r>
              <a:rPr lang="en-US" altLang="en-US" dirty="0">
                <a:cs typeface="Times New Roman" panose="02020603050405020304" pitchFamily="18" charset="0"/>
              </a:rPr>
              <a:t> </a:t>
            </a:r>
            <a:r>
              <a:rPr lang="en-US" altLang="en-US" dirty="0" err="1">
                <a:cs typeface="Times New Roman" panose="02020603050405020304" pitchFamily="18" charset="0"/>
              </a:rPr>
              <a:t>có</a:t>
            </a:r>
            <a:r>
              <a:rPr lang="en-US" altLang="en-US" dirty="0">
                <a:cs typeface="Times New Roman" panose="02020603050405020304" pitchFamily="18" charset="0"/>
              </a:rPr>
              <a:t> 1 </a:t>
            </a:r>
            <a:r>
              <a:rPr lang="en-US" altLang="en-US" dirty="0" err="1">
                <a:cs typeface="Times New Roman" panose="02020603050405020304" pitchFamily="18" charset="0"/>
              </a:rPr>
              <a:t>cây</a:t>
            </a:r>
            <a:r>
              <a:rPr lang="en-US" altLang="en-US" dirty="0">
                <a:cs typeface="Times New Roman" panose="02020603050405020304" pitchFamily="18" charset="0"/>
              </a:rPr>
              <a:t> con =&gt; </a:t>
            </a:r>
            <a:r>
              <a:rPr lang="en-US" altLang="en-US" dirty="0" err="1">
                <a:cs typeface="Times New Roman" panose="02020603050405020304" pitchFamily="18" charset="0"/>
              </a:rPr>
              <a:t>thực</a:t>
            </a:r>
            <a:r>
              <a:rPr lang="en-US" altLang="en-US" dirty="0">
                <a:cs typeface="Times New Roman" panose="02020603050405020304" pitchFamily="18" charset="0"/>
              </a:rPr>
              <a:t> </a:t>
            </a:r>
            <a:r>
              <a:rPr lang="en-US" altLang="en-US" dirty="0" err="1">
                <a:cs typeface="Times New Roman" panose="02020603050405020304" pitchFamily="18" charset="0"/>
              </a:rPr>
              <a:t>hiện</a:t>
            </a:r>
            <a:r>
              <a:rPr lang="en-US" altLang="en-US" dirty="0">
                <a:cs typeface="Times New Roman" panose="02020603050405020304" pitchFamily="18" charset="0"/>
              </a:rPr>
              <a:t> </a:t>
            </a:r>
            <a:r>
              <a:rPr lang="en-US" altLang="en-US" dirty="0" err="1">
                <a:cs typeface="Times New Roman" panose="02020603050405020304" pitchFamily="18" charset="0"/>
              </a:rPr>
              <a:t>phép</a:t>
            </a:r>
            <a:r>
              <a:rPr lang="en-US" altLang="en-US" dirty="0">
                <a:cs typeface="Times New Roman" panose="02020603050405020304" pitchFamily="18" charset="0"/>
              </a:rPr>
              <a:t> </a:t>
            </a:r>
            <a:r>
              <a:rPr lang="en-US" altLang="en-US" dirty="0" err="1">
                <a:cs typeface="Times New Roman" panose="02020603050405020304" pitchFamily="18" charset="0"/>
              </a:rPr>
              <a:t>nối</a:t>
            </a:r>
            <a:endParaRPr lang="en-US" altLang="en-US" dirty="0">
              <a:cs typeface="Times New Roman" panose="02020603050405020304" pitchFamily="18" charset="0"/>
            </a:endParaRPr>
          </a:p>
          <a:p>
            <a:pPr lvl="2" eaLnBrk="1" hangingPunct="1">
              <a:lnSpc>
                <a:spcPct val="90000"/>
              </a:lnSpc>
              <a:spcBef>
                <a:spcPct val="15000"/>
              </a:spcBef>
            </a:pPr>
            <a:r>
              <a:rPr lang="en-US" altLang="en-US" dirty="0" err="1">
                <a:cs typeface="Times New Roman" panose="02020603050405020304" pitchFamily="18" charset="0"/>
              </a:rPr>
              <a:t>Nếu</a:t>
            </a:r>
            <a:r>
              <a:rPr lang="en-US" altLang="en-US" dirty="0">
                <a:cs typeface="Times New Roman" panose="02020603050405020304" pitchFamily="18" charset="0"/>
              </a:rPr>
              <a:t> </a:t>
            </a:r>
            <a:r>
              <a:rPr lang="en-US" altLang="en-US" dirty="0" err="1">
                <a:cs typeface="Times New Roman" panose="02020603050405020304" pitchFamily="18" charset="0"/>
              </a:rPr>
              <a:t>đỉnh</a:t>
            </a:r>
            <a:r>
              <a:rPr lang="en-US" altLang="en-US" dirty="0">
                <a:cs typeface="Times New Roman" panose="02020603050405020304" pitchFamily="18" charset="0"/>
              </a:rPr>
              <a:t> </a:t>
            </a:r>
            <a:r>
              <a:rPr lang="en-US" altLang="en-US" dirty="0" err="1">
                <a:cs typeface="Times New Roman" panose="02020603050405020304" pitchFamily="18" charset="0"/>
              </a:rPr>
              <a:t>cần</a:t>
            </a:r>
            <a:r>
              <a:rPr lang="en-US" altLang="en-US" dirty="0">
                <a:cs typeface="Times New Roman" panose="02020603050405020304" pitchFamily="18" charset="0"/>
              </a:rPr>
              <a:t> </a:t>
            </a:r>
            <a:r>
              <a:rPr lang="en-US" altLang="en-US" dirty="0" err="1">
                <a:cs typeface="Times New Roman" panose="02020603050405020304" pitchFamily="18" charset="0"/>
              </a:rPr>
              <a:t>loại</a:t>
            </a:r>
            <a:r>
              <a:rPr lang="en-US" altLang="en-US" dirty="0">
                <a:cs typeface="Times New Roman" panose="02020603050405020304" pitchFamily="18" charset="0"/>
              </a:rPr>
              <a:t> </a:t>
            </a:r>
            <a:r>
              <a:rPr lang="en-US" altLang="en-US" dirty="0" err="1">
                <a:cs typeface="Times New Roman" panose="02020603050405020304" pitchFamily="18" charset="0"/>
              </a:rPr>
              <a:t>bỏ</a:t>
            </a:r>
            <a:r>
              <a:rPr lang="en-US" altLang="en-US" dirty="0">
                <a:cs typeface="Times New Roman" panose="02020603050405020304" pitchFamily="18" charset="0"/>
              </a:rPr>
              <a:t> </a:t>
            </a:r>
            <a:r>
              <a:rPr lang="en-US" altLang="en-US" dirty="0" err="1">
                <a:cs typeface="Times New Roman" panose="02020603050405020304" pitchFamily="18" charset="0"/>
              </a:rPr>
              <a:t>có</a:t>
            </a:r>
            <a:r>
              <a:rPr lang="en-US" altLang="en-US" dirty="0">
                <a:cs typeface="Times New Roman" panose="02020603050405020304" pitchFamily="18" charset="0"/>
              </a:rPr>
              <a:t> </a:t>
            </a:r>
            <a:r>
              <a:rPr lang="en-US" altLang="en-US" dirty="0" err="1">
                <a:cs typeface="Times New Roman" panose="02020603050405020304" pitchFamily="18" charset="0"/>
              </a:rPr>
              <a:t>hai</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con </a:t>
            </a:r>
            <a:r>
              <a:rPr lang="en-US" altLang="en-US" dirty="0" err="1">
                <a:cs typeface="Times New Roman" panose="02020603050405020304" pitchFamily="18" charset="0"/>
              </a:rPr>
              <a:t>LTree</a:t>
            </a:r>
            <a:r>
              <a:rPr lang="en-US" altLang="en-US" dirty="0">
                <a:cs typeface="Times New Roman" panose="02020603050405020304" pitchFamily="18" charset="0"/>
              </a:rPr>
              <a:t>, </a:t>
            </a:r>
            <a:r>
              <a:rPr lang="en-US" altLang="en-US" dirty="0" err="1">
                <a:cs typeface="Times New Roman" panose="02020603050405020304" pitchFamily="18" charset="0"/>
              </a:rPr>
              <a:t>RTree</a:t>
            </a:r>
            <a:r>
              <a:rPr lang="en-US" altLang="en-US" dirty="0">
                <a:cs typeface="Times New Roman" panose="02020603050405020304" pitchFamily="18" charset="0"/>
              </a:rPr>
              <a:t> =&gt; </a:t>
            </a:r>
            <a:r>
              <a:rPr lang="en-US" altLang="en-US" dirty="0" err="1">
                <a:cs typeface="Times New Roman" panose="02020603050405020304" pitchFamily="18" charset="0"/>
              </a:rPr>
              <a:t>cần</a:t>
            </a:r>
            <a:r>
              <a:rPr lang="en-US" altLang="en-US" dirty="0">
                <a:cs typeface="Times New Roman" panose="02020603050405020304" pitchFamily="18" charset="0"/>
              </a:rPr>
              <a:t> </a:t>
            </a:r>
            <a:r>
              <a:rPr lang="en-US" altLang="en-US" dirty="0" err="1">
                <a:cs typeface="Times New Roman" panose="02020603050405020304" pitchFamily="18" charset="0"/>
              </a:rPr>
              <a:t>thay</a:t>
            </a:r>
            <a:r>
              <a:rPr lang="en-US" altLang="en-US" dirty="0">
                <a:cs typeface="Times New Roman" panose="02020603050405020304" pitchFamily="18" charset="0"/>
              </a:rPr>
              <a:t> </a:t>
            </a:r>
            <a:r>
              <a:rPr lang="en-US" altLang="en-US" dirty="0" err="1">
                <a:cs typeface="Times New Roman" panose="02020603050405020304" pitchFamily="18" charset="0"/>
              </a:rPr>
              <a:t>khoá</a:t>
            </a:r>
            <a:r>
              <a:rPr lang="en-US" altLang="en-US" dirty="0">
                <a:cs typeface="Times New Roman" panose="02020603050405020304" pitchFamily="18" charset="0"/>
              </a:rPr>
              <a:t> </a:t>
            </a:r>
            <a:r>
              <a:rPr lang="en-US" altLang="en-US" dirty="0" err="1">
                <a:cs typeface="Times New Roman" panose="02020603050405020304" pitchFamily="18" charset="0"/>
              </a:rPr>
              <a:t>của</a:t>
            </a:r>
            <a:r>
              <a:rPr lang="en-US" altLang="en-US" dirty="0">
                <a:cs typeface="Times New Roman" panose="02020603050405020304" pitchFamily="18" charset="0"/>
              </a:rPr>
              <a:t> </a:t>
            </a:r>
            <a:r>
              <a:rPr lang="en-US" altLang="en-US" dirty="0" err="1">
                <a:cs typeface="Times New Roman" panose="02020603050405020304" pitchFamily="18" charset="0"/>
              </a:rPr>
              <a:t>đỉnh</a:t>
            </a:r>
            <a:r>
              <a:rPr lang="en-US" altLang="en-US" dirty="0">
                <a:cs typeface="Times New Roman" panose="02020603050405020304" pitchFamily="18" charset="0"/>
              </a:rPr>
              <a:t> </a:t>
            </a:r>
            <a:r>
              <a:rPr lang="en-US" altLang="en-US" dirty="0" err="1">
                <a:cs typeface="Times New Roman" panose="02020603050405020304" pitchFamily="18" charset="0"/>
              </a:rPr>
              <a:t>hai</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con </a:t>
            </a:r>
            <a:r>
              <a:rPr lang="en-US" altLang="en-US" dirty="0" err="1">
                <a:cs typeface="Times New Roman" panose="02020603050405020304" pitchFamily="18" charset="0"/>
              </a:rPr>
              <a:t>này</a:t>
            </a:r>
            <a:r>
              <a:rPr lang="en-US" altLang="en-US" dirty="0">
                <a:cs typeface="Times New Roman" panose="02020603050405020304" pitchFamily="18" charset="0"/>
              </a:rPr>
              <a:t> </a:t>
            </a:r>
            <a:r>
              <a:rPr lang="en-US" altLang="en-US" dirty="0" err="1">
                <a:cs typeface="Times New Roman" panose="02020603050405020304" pitchFamily="18" charset="0"/>
              </a:rPr>
              <a:t>bằng</a:t>
            </a:r>
            <a:r>
              <a:rPr lang="en-US" altLang="en-US" dirty="0">
                <a:cs typeface="Times New Roman" panose="02020603050405020304" pitchFamily="18" charset="0"/>
              </a:rPr>
              <a:t> </a:t>
            </a:r>
            <a:r>
              <a:rPr lang="en-US" altLang="en-US" dirty="0" err="1">
                <a:cs typeface="Times New Roman" panose="02020603050405020304" pitchFamily="18" charset="0"/>
              </a:rPr>
              <a:t>giá</a:t>
            </a:r>
            <a:r>
              <a:rPr lang="en-US" altLang="en-US" dirty="0">
                <a:cs typeface="Times New Roman" panose="02020603050405020304" pitchFamily="18" charset="0"/>
              </a:rPr>
              <a:t> </a:t>
            </a:r>
            <a:r>
              <a:rPr lang="en-US" altLang="en-US" dirty="0" err="1">
                <a:cs typeface="Times New Roman" panose="02020603050405020304" pitchFamily="18" charset="0"/>
              </a:rPr>
              <a:t>trị</a:t>
            </a:r>
            <a:r>
              <a:rPr lang="en-US" altLang="en-US" dirty="0">
                <a:cs typeface="Times New Roman" panose="02020603050405020304" pitchFamily="18" charset="0"/>
              </a:rPr>
              <a:t> Max(</a:t>
            </a:r>
            <a:r>
              <a:rPr lang="en-US" altLang="en-US" dirty="0" err="1">
                <a:cs typeface="Times New Roman" panose="02020603050405020304" pitchFamily="18" charset="0"/>
              </a:rPr>
              <a:t>LTree</a:t>
            </a:r>
            <a:r>
              <a:rPr lang="en-US" altLang="en-US" dirty="0">
                <a:cs typeface="Times New Roman" panose="02020603050405020304" pitchFamily="18" charset="0"/>
              </a:rPr>
              <a:t>) </a:t>
            </a:r>
            <a:r>
              <a:rPr lang="en-US" altLang="en-US" dirty="0" err="1">
                <a:cs typeface="Times New Roman" panose="02020603050405020304" pitchFamily="18" charset="0"/>
              </a:rPr>
              <a:t>hoặc</a:t>
            </a:r>
            <a:r>
              <a:rPr lang="en-US" altLang="en-US" dirty="0">
                <a:cs typeface="Times New Roman" panose="02020603050405020304" pitchFamily="18" charset="0"/>
              </a:rPr>
              <a:t> Min(</a:t>
            </a:r>
            <a:r>
              <a:rPr lang="en-US" altLang="en-US" dirty="0" err="1">
                <a:cs typeface="Times New Roman" panose="02020603050405020304" pitchFamily="18" charset="0"/>
              </a:rPr>
              <a:t>RTree</a:t>
            </a:r>
            <a:r>
              <a:rPr lang="en-US" altLang="en-US" dirty="0">
                <a:cs typeface="Times New Roman" panose="02020603050405020304" pitchFamily="18" charset="0"/>
              </a:rPr>
              <a:t>)</a:t>
            </a:r>
          </a:p>
          <a:p>
            <a:pPr lvl="1" eaLnBrk="1" hangingPunct="1">
              <a:lnSpc>
                <a:spcPct val="90000"/>
              </a:lnSpc>
              <a:spcBef>
                <a:spcPct val="15000"/>
              </a:spcBef>
            </a:pPr>
            <a:r>
              <a:rPr lang="en-US" altLang="en-US" dirty="0" err="1">
                <a:cs typeface="Times New Roman" panose="02020603050405020304" pitchFamily="18" charset="0"/>
              </a:rPr>
              <a:t>Lưu</a:t>
            </a:r>
            <a:r>
              <a:rPr lang="en-US" altLang="en-US" dirty="0">
                <a:cs typeface="Times New Roman" panose="02020603050405020304" pitchFamily="18" charset="0"/>
              </a:rPr>
              <a:t> ý: </a:t>
            </a:r>
          </a:p>
          <a:p>
            <a:pPr lvl="2" eaLnBrk="1" hangingPunct="1">
              <a:lnSpc>
                <a:spcPct val="90000"/>
              </a:lnSpc>
              <a:spcBef>
                <a:spcPct val="15000"/>
              </a:spcBef>
            </a:pPr>
            <a:r>
              <a:rPr lang="en-US" altLang="en-US" dirty="0" err="1">
                <a:cs typeface="Times New Roman" panose="02020603050405020304" pitchFamily="18" charset="0"/>
              </a:rPr>
              <a:t>Giá</a:t>
            </a:r>
            <a:r>
              <a:rPr lang="en-US" altLang="en-US" dirty="0">
                <a:cs typeface="Times New Roman" panose="02020603050405020304" pitchFamily="18" charset="0"/>
              </a:rPr>
              <a:t> </a:t>
            </a:r>
            <a:r>
              <a:rPr lang="en-US" altLang="en-US" dirty="0" err="1">
                <a:cs typeface="Times New Roman" panose="02020603050405020304" pitchFamily="18" charset="0"/>
              </a:rPr>
              <a:t>trị</a:t>
            </a:r>
            <a:r>
              <a:rPr lang="en-US" altLang="en-US" dirty="0">
                <a:cs typeface="Times New Roman" panose="02020603050405020304" pitchFamily="18" charset="0"/>
              </a:rPr>
              <a:t> Max(</a:t>
            </a:r>
            <a:r>
              <a:rPr lang="en-US" altLang="en-US" dirty="0" err="1">
                <a:cs typeface="Times New Roman" panose="02020603050405020304" pitchFamily="18" charset="0"/>
              </a:rPr>
              <a:t>LTree</a:t>
            </a:r>
            <a:r>
              <a:rPr lang="en-US" altLang="en-US" dirty="0">
                <a:cs typeface="Times New Roman" panose="02020603050405020304" pitchFamily="18" charset="0"/>
              </a:rPr>
              <a:t>) </a:t>
            </a:r>
            <a:r>
              <a:rPr lang="en-US" altLang="en-US" dirty="0" err="1">
                <a:cs typeface="Times New Roman" panose="02020603050405020304" pitchFamily="18" charset="0"/>
              </a:rPr>
              <a:t>cần</a:t>
            </a:r>
            <a:r>
              <a:rPr lang="en-US" altLang="en-US" dirty="0">
                <a:cs typeface="Times New Roman" panose="02020603050405020304" pitchFamily="18" charset="0"/>
              </a:rPr>
              <a:t> </a:t>
            </a:r>
            <a:r>
              <a:rPr lang="en-US" altLang="en-US" dirty="0" err="1">
                <a:cs typeface="Times New Roman" panose="02020603050405020304" pitchFamily="18" charset="0"/>
              </a:rPr>
              <a:t>tìm</a:t>
            </a:r>
            <a:r>
              <a:rPr lang="en-US" altLang="en-US" dirty="0">
                <a:cs typeface="Times New Roman" panose="02020603050405020304" pitchFamily="18" charset="0"/>
              </a:rPr>
              <a:t> ở </a:t>
            </a:r>
            <a:r>
              <a:rPr lang="en-US" altLang="en-US" dirty="0" err="1">
                <a:cs typeface="Times New Roman" panose="02020603050405020304" pitchFamily="18" charset="0"/>
              </a:rPr>
              <a:t>phần</a:t>
            </a:r>
            <a:r>
              <a:rPr lang="en-US" altLang="en-US" dirty="0">
                <a:cs typeface="Times New Roman" panose="02020603050405020304" pitchFamily="18" charset="0"/>
              </a:rPr>
              <a:t> </a:t>
            </a:r>
            <a:r>
              <a:rPr lang="en-US" altLang="en-US" dirty="0" err="1">
                <a:cs typeface="Times New Roman" panose="02020603050405020304" pitchFamily="18" charset="0"/>
              </a:rPr>
              <a:t>tử</a:t>
            </a:r>
            <a:r>
              <a:rPr lang="en-US" altLang="en-US" dirty="0">
                <a:cs typeface="Times New Roman" panose="02020603050405020304" pitchFamily="18" charset="0"/>
              </a:rPr>
              <a:t> </a:t>
            </a:r>
            <a:r>
              <a:rPr lang="en-US" altLang="en-US" dirty="0" err="1">
                <a:cs typeface="Times New Roman" panose="02020603050405020304" pitchFamily="18" charset="0"/>
              </a:rPr>
              <a:t>bên</a:t>
            </a:r>
            <a:r>
              <a:rPr lang="en-US" altLang="en-US" dirty="0">
                <a:cs typeface="Times New Roman" panose="02020603050405020304" pitchFamily="18" charset="0"/>
              </a:rPr>
              <a:t> </a:t>
            </a:r>
            <a:r>
              <a:rPr lang="en-US" altLang="en-US" dirty="0" err="1">
                <a:cs typeface="Times New Roman" panose="02020603050405020304" pitchFamily="18" charset="0"/>
              </a:rPr>
              <a:t>phải</a:t>
            </a:r>
            <a:r>
              <a:rPr lang="en-US" altLang="en-US" dirty="0">
                <a:cs typeface="Times New Roman" panose="02020603050405020304" pitchFamily="18" charset="0"/>
              </a:rPr>
              <a:t> </a:t>
            </a:r>
            <a:r>
              <a:rPr lang="en-US" altLang="en-US" dirty="0" err="1">
                <a:cs typeface="Times New Roman" panose="02020603050405020304" pitchFamily="18" charset="0"/>
              </a:rPr>
              <a:t>ngoài</a:t>
            </a:r>
            <a:r>
              <a:rPr lang="en-US" altLang="en-US" dirty="0">
                <a:cs typeface="Times New Roman" panose="02020603050405020304" pitchFamily="18" charset="0"/>
              </a:rPr>
              <a:t> </a:t>
            </a:r>
            <a:r>
              <a:rPr lang="en-US" altLang="en-US" dirty="0" err="1">
                <a:cs typeface="Times New Roman" panose="02020603050405020304" pitchFamily="18" charset="0"/>
              </a:rPr>
              <a:t>cùng</a:t>
            </a:r>
            <a:r>
              <a:rPr lang="en-US" altLang="en-US" dirty="0">
                <a:cs typeface="Times New Roman" panose="02020603050405020304" pitchFamily="18" charset="0"/>
              </a:rPr>
              <a:t> </a:t>
            </a:r>
            <a:r>
              <a:rPr lang="en-US" altLang="en-US" dirty="0" err="1">
                <a:cs typeface="Times New Roman" panose="02020603050405020304" pitchFamily="18" charset="0"/>
              </a:rPr>
              <a:t>của</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con </a:t>
            </a:r>
            <a:r>
              <a:rPr lang="en-US" altLang="en-US" dirty="0" err="1">
                <a:cs typeface="Times New Roman" panose="02020603050405020304" pitchFamily="18" charset="0"/>
              </a:rPr>
              <a:t>Ltree</a:t>
            </a:r>
            <a:r>
              <a:rPr lang="en-US" altLang="en-US" dirty="0">
                <a:cs typeface="Times New Roman" panose="02020603050405020304" pitchFamily="18" charset="0"/>
              </a:rPr>
              <a:t>:</a:t>
            </a:r>
            <a:r>
              <a:rPr lang="en-US" altLang="en-US" i="1" dirty="0">
                <a:cs typeface="Times New Roman" panose="02020603050405020304" pitchFamily="18" charset="0"/>
              </a:rPr>
              <a:t> </a:t>
            </a:r>
            <a:r>
              <a:rPr lang="en-US" altLang="en-US" i="1" dirty="0" err="1">
                <a:cs typeface="Times New Roman" panose="02020603050405020304" pitchFamily="18" charset="0"/>
              </a:rPr>
              <a:t>luôn</a:t>
            </a:r>
            <a:r>
              <a:rPr lang="en-US" altLang="en-US" i="1" dirty="0">
                <a:cs typeface="Times New Roman" panose="02020603050405020304" pitchFamily="18" charset="0"/>
              </a:rPr>
              <a:t> </a:t>
            </a:r>
            <a:r>
              <a:rPr lang="en-US" altLang="en-US" i="1" dirty="0" err="1">
                <a:cs typeface="Times New Roman" panose="02020603050405020304" pitchFamily="18" charset="0"/>
              </a:rPr>
              <a:t>đi</a:t>
            </a:r>
            <a:r>
              <a:rPr lang="en-US" altLang="en-US" i="1" dirty="0">
                <a:cs typeface="Times New Roman" panose="02020603050405020304" pitchFamily="18" charset="0"/>
              </a:rPr>
              <a:t> </a:t>
            </a:r>
            <a:r>
              <a:rPr lang="en-US" altLang="en-US" i="1" dirty="0" err="1">
                <a:cs typeface="Times New Roman" panose="02020603050405020304" pitchFamily="18" charset="0"/>
              </a:rPr>
              <a:t>theo</a:t>
            </a:r>
            <a:r>
              <a:rPr lang="en-US" altLang="en-US" i="1" dirty="0">
                <a:cs typeface="Times New Roman" panose="02020603050405020304" pitchFamily="18" charset="0"/>
              </a:rPr>
              <a:t> </a:t>
            </a:r>
            <a:r>
              <a:rPr lang="en-US" altLang="en-US" i="1" dirty="0" err="1">
                <a:cs typeface="Times New Roman" panose="02020603050405020304" pitchFamily="18" charset="0"/>
              </a:rPr>
              <a:t>bên</a:t>
            </a:r>
            <a:r>
              <a:rPr lang="en-US" altLang="en-US" i="1" dirty="0">
                <a:cs typeface="Times New Roman" panose="02020603050405020304" pitchFamily="18" charset="0"/>
              </a:rPr>
              <a:t> </a:t>
            </a:r>
            <a:r>
              <a:rPr lang="en-US" altLang="en-US" i="1" dirty="0" err="1">
                <a:cs typeface="Times New Roman" panose="02020603050405020304" pitchFamily="18" charset="0"/>
              </a:rPr>
              <a:t>phải</a:t>
            </a:r>
            <a:r>
              <a:rPr lang="en-US" altLang="en-US" i="1" dirty="0">
                <a:cs typeface="Times New Roman" panose="02020603050405020304" pitchFamily="18" charset="0"/>
              </a:rPr>
              <a:t> </a:t>
            </a:r>
            <a:r>
              <a:rPr lang="en-US" altLang="en-US" i="1" dirty="0" err="1">
                <a:cs typeface="Times New Roman" panose="02020603050405020304" pitchFamily="18" charset="0"/>
              </a:rPr>
              <a:t>của</a:t>
            </a:r>
            <a:r>
              <a:rPr lang="en-US" altLang="en-US" i="1" dirty="0">
                <a:cs typeface="Times New Roman" panose="02020603050405020304" pitchFamily="18" charset="0"/>
              </a:rPr>
              <a:t> </a:t>
            </a:r>
            <a:r>
              <a:rPr lang="en-US" altLang="en-US" i="1" dirty="0" err="1">
                <a:cs typeface="Times New Roman" panose="02020603050405020304" pitchFamily="18" charset="0"/>
              </a:rPr>
              <a:t>cây</a:t>
            </a:r>
            <a:r>
              <a:rPr lang="en-US" altLang="en-US" i="1" dirty="0">
                <a:cs typeface="Times New Roman" panose="02020603050405020304" pitchFamily="18" charset="0"/>
              </a:rPr>
              <a:t> </a:t>
            </a:r>
            <a:r>
              <a:rPr lang="en-US" altLang="en-US" i="1" dirty="0" err="1">
                <a:cs typeface="Times New Roman" panose="02020603050405020304" pitchFamily="18" charset="0"/>
              </a:rPr>
              <a:t>đến</a:t>
            </a:r>
            <a:r>
              <a:rPr lang="en-US" altLang="en-US" i="1" dirty="0">
                <a:cs typeface="Times New Roman" panose="02020603050405020304" pitchFamily="18" charset="0"/>
              </a:rPr>
              <a:t> </a:t>
            </a:r>
            <a:r>
              <a:rPr lang="en-US" altLang="en-US" i="1" dirty="0" err="1">
                <a:cs typeface="Times New Roman" panose="02020603050405020304" pitchFamily="18" charset="0"/>
              </a:rPr>
              <a:t>khi</a:t>
            </a:r>
            <a:r>
              <a:rPr lang="en-US" altLang="en-US" i="1" dirty="0">
                <a:cs typeface="Times New Roman" panose="02020603050405020304" pitchFamily="18" charset="0"/>
              </a:rPr>
              <a:t> </a:t>
            </a:r>
            <a:r>
              <a:rPr lang="en-US" altLang="en-US" i="1" dirty="0" err="1">
                <a:cs typeface="Times New Roman" panose="02020603050405020304" pitchFamily="18" charset="0"/>
              </a:rPr>
              <a:t>không</a:t>
            </a:r>
            <a:r>
              <a:rPr lang="en-US" altLang="en-US" i="1" dirty="0">
                <a:cs typeface="Times New Roman" panose="02020603050405020304" pitchFamily="18" charset="0"/>
              </a:rPr>
              <a:t> </a:t>
            </a:r>
            <a:r>
              <a:rPr lang="en-US" altLang="en-US" i="1" dirty="0" err="1">
                <a:cs typeface="Times New Roman" panose="02020603050405020304" pitchFamily="18" charset="0"/>
              </a:rPr>
              <a:t>được</a:t>
            </a:r>
            <a:r>
              <a:rPr lang="en-US" altLang="en-US" i="1" dirty="0">
                <a:cs typeface="Times New Roman" panose="02020603050405020304" pitchFamily="18" charset="0"/>
              </a:rPr>
              <a:t> </a:t>
            </a:r>
            <a:r>
              <a:rPr lang="en-US" altLang="en-US" i="1" dirty="0" err="1">
                <a:cs typeface="Times New Roman" panose="02020603050405020304" pitchFamily="18" charset="0"/>
              </a:rPr>
              <a:t>nữa</a:t>
            </a:r>
            <a:r>
              <a:rPr lang="en-US" altLang="en-US" i="1" dirty="0">
                <a:cs typeface="Times New Roman" panose="02020603050405020304" pitchFamily="18" charset="0"/>
              </a:rPr>
              <a:t>                Q-&gt;RP=NULL </a:t>
            </a:r>
            <a:r>
              <a:rPr lang="en-US" altLang="en-US" i="1" dirty="0" err="1">
                <a:cs typeface="Times New Roman" panose="02020603050405020304" pitchFamily="18" charset="0"/>
              </a:rPr>
              <a:t>thì</a:t>
            </a:r>
            <a:r>
              <a:rPr lang="en-US" altLang="en-US" i="1" dirty="0">
                <a:cs typeface="Times New Roman" panose="02020603050405020304" pitchFamily="18" charset="0"/>
              </a:rPr>
              <a:t> </a:t>
            </a:r>
            <a:r>
              <a:rPr lang="en-US" altLang="en-US" i="1" dirty="0" err="1">
                <a:cs typeface="Times New Roman" panose="02020603050405020304" pitchFamily="18" charset="0"/>
              </a:rPr>
              <a:t>đó</a:t>
            </a:r>
            <a:r>
              <a:rPr lang="en-US" altLang="en-US" i="1" dirty="0">
                <a:cs typeface="Times New Roman" panose="02020603050405020304" pitchFamily="18" charset="0"/>
              </a:rPr>
              <a:t> </a:t>
            </a:r>
            <a:r>
              <a:rPr lang="en-US" altLang="en-US" i="1" dirty="0" err="1">
                <a:cs typeface="Times New Roman" panose="02020603050405020304" pitchFamily="18" charset="0"/>
              </a:rPr>
              <a:t>là</a:t>
            </a:r>
            <a:r>
              <a:rPr lang="en-US" altLang="en-US" i="1" dirty="0">
                <a:cs typeface="Times New Roman" panose="02020603050405020304" pitchFamily="18" charset="0"/>
              </a:rPr>
              <a:t> </a:t>
            </a:r>
            <a:r>
              <a:rPr lang="en-US" altLang="en-US" i="1" dirty="0" err="1">
                <a:cs typeface="Times New Roman" panose="02020603050405020304" pitchFamily="18" charset="0"/>
              </a:rPr>
              <a:t>nút</a:t>
            </a:r>
            <a:r>
              <a:rPr lang="en-US" altLang="en-US" i="1" dirty="0">
                <a:cs typeface="Times New Roman" panose="02020603050405020304" pitchFamily="18" charset="0"/>
              </a:rPr>
              <a:t> </a:t>
            </a:r>
            <a:r>
              <a:rPr lang="en-US" altLang="en-US" i="1" dirty="0" err="1">
                <a:cs typeface="Times New Roman" panose="02020603050405020304" pitchFamily="18" charset="0"/>
              </a:rPr>
              <a:t>ngoài</a:t>
            </a:r>
            <a:r>
              <a:rPr lang="en-US" altLang="en-US" i="1" dirty="0">
                <a:cs typeface="Times New Roman" panose="02020603050405020304" pitchFamily="18" charset="0"/>
              </a:rPr>
              <a:t> </a:t>
            </a:r>
            <a:r>
              <a:rPr lang="en-US" altLang="en-US" i="1" dirty="0" err="1">
                <a:cs typeface="Times New Roman" panose="02020603050405020304" pitchFamily="18" charset="0"/>
              </a:rPr>
              <a:t>cùng</a:t>
            </a:r>
            <a:r>
              <a:rPr lang="en-US" altLang="en-US" i="1" dirty="0">
                <a:cs typeface="Times New Roman" panose="02020603050405020304" pitchFamily="18" charset="0"/>
              </a:rPr>
              <a:t> </a:t>
            </a:r>
            <a:r>
              <a:rPr lang="en-US" altLang="en-US" i="1" dirty="0" err="1">
                <a:cs typeface="Times New Roman" panose="02020603050405020304" pitchFamily="18" charset="0"/>
              </a:rPr>
              <a:t>bên</a:t>
            </a:r>
            <a:r>
              <a:rPr lang="en-US" altLang="en-US" i="1" dirty="0">
                <a:cs typeface="Times New Roman" panose="02020603050405020304" pitchFamily="18" charset="0"/>
              </a:rPr>
              <a:t> </a:t>
            </a:r>
            <a:r>
              <a:rPr lang="en-US" altLang="en-US" i="1" dirty="0" err="1">
                <a:cs typeface="Times New Roman" panose="02020603050405020304" pitchFamily="18" charset="0"/>
              </a:rPr>
              <a:t>phải</a:t>
            </a:r>
            <a:endParaRPr lang="en-US" altLang="en-US" dirty="0">
              <a:cs typeface="Times New Roman" panose="02020603050405020304" pitchFamily="18" charset="0"/>
            </a:endParaRPr>
          </a:p>
          <a:p>
            <a:pPr lvl="2" eaLnBrk="1" hangingPunct="1">
              <a:lnSpc>
                <a:spcPct val="90000"/>
              </a:lnSpc>
              <a:spcBef>
                <a:spcPct val="15000"/>
              </a:spcBef>
            </a:pPr>
            <a:r>
              <a:rPr lang="en-US" altLang="en-US" dirty="0" err="1">
                <a:cs typeface="Times New Roman" panose="02020603050405020304" pitchFamily="18" charset="0"/>
              </a:rPr>
              <a:t>Giá</a:t>
            </a:r>
            <a:r>
              <a:rPr lang="en-US" altLang="en-US" dirty="0">
                <a:cs typeface="Times New Roman" panose="02020603050405020304" pitchFamily="18" charset="0"/>
              </a:rPr>
              <a:t> </a:t>
            </a:r>
            <a:r>
              <a:rPr lang="en-US" altLang="en-US" dirty="0" err="1">
                <a:cs typeface="Times New Roman" panose="02020603050405020304" pitchFamily="18" charset="0"/>
              </a:rPr>
              <a:t>trị</a:t>
            </a:r>
            <a:r>
              <a:rPr lang="en-US" altLang="en-US" dirty="0">
                <a:cs typeface="Times New Roman" panose="02020603050405020304" pitchFamily="18" charset="0"/>
              </a:rPr>
              <a:t> Min(</a:t>
            </a:r>
            <a:r>
              <a:rPr lang="en-US" altLang="en-US" dirty="0" err="1">
                <a:cs typeface="Times New Roman" panose="02020603050405020304" pitchFamily="18" charset="0"/>
              </a:rPr>
              <a:t>RTree</a:t>
            </a:r>
            <a:r>
              <a:rPr lang="en-US" altLang="en-US" dirty="0">
                <a:cs typeface="Times New Roman" panose="02020603050405020304" pitchFamily="18" charset="0"/>
              </a:rPr>
              <a:t>) </a:t>
            </a:r>
            <a:r>
              <a:rPr lang="en-US" altLang="en-US" dirty="0" err="1">
                <a:cs typeface="Times New Roman" panose="02020603050405020304" pitchFamily="18" charset="0"/>
              </a:rPr>
              <a:t>cần</a:t>
            </a:r>
            <a:r>
              <a:rPr lang="en-US" altLang="en-US" dirty="0">
                <a:cs typeface="Times New Roman" panose="02020603050405020304" pitchFamily="18" charset="0"/>
              </a:rPr>
              <a:t> </a:t>
            </a:r>
            <a:r>
              <a:rPr lang="en-US" altLang="en-US" dirty="0" err="1">
                <a:cs typeface="Times New Roman" panose="02020603050405020304" pitchFamily="18" charset="0"/>
              </a:rPr>
              <a:t>tìm</a:t>
            </a:r>
            <a:r>
              <a:rPr lang="en-US" altLang="en-US" dirty="0">
                <a:cs typeface="Times New Roman" panose="02020603050405020304" pitchFamily="18" charset="0"/>
              </a:rPr>
              <a:t> ở </a:t>
            </a:r>
            <a:r>
              <a:rPr lang="en-US" altLang="en-US" dirty="0" err="1">
                <a:cs typeface="Times New Roman" panose="02020603050405020304" pitchFamily="18" charset="0"/>
              </a:rPr>
              <a:t>phần</a:t>
            </a:r>
            <a:r>
              <a:rPr lang="en-US" altLang="en-US" dirty="0">
                <a:cs typeface="Times New Roman" panose="02020603050405020304" pitchFamily="18" charset="0"/>
              </a:rPr>
              <a:t> </a:t>
            </a:r>
            <a:r>
              <a:rPr lang="en-US" altLang="en-US" dirty="0" err="1">
                <a:cs typeface="Times New Roman" panose="02020603050405020304" pitchFamily="18" charset="0"/>
              </a:rPr>
              <a:t>tử</a:t>
            </a:r>
            <a:r>
              <a:rPr lang="en-US" altLang="en-US" dirty="0">
                <a:cs typeface="Times New Roman" panose="02020603050405020304" pitchFamily="18" charset="0"/>
              </a:rPr>
              <a:t> </a:t>
            </a:r>
            <a:r>
              <a:rPr lang="en-US" altLang="en-US" dirty="0" err="1">
                <a:cs typeface="Times New Roman" panose="02020603050405020304" pitchFamily="18" charset="0"/>
              </a:rPr>
              <a:t>bên</a:t>
            </a:r>
            <a:r>
              <a:rPr lang="en-US" altLang="en-US" dirty="0">
                <a:cs typeface="Times New Roman" panose="02020603050405020304" pitchFamily="18" charset="0"/>
              </a:rPr>
              <a:t> </a:t>
            </a:r>
            <a:r>
              <a:rPr lang="en-US" altLang="en-US" dirty="0" err="1">
                <a:cs typeface="Times New Roman" panose="02020603050405020304" pitchFamily="18" charset="0"/>
              </a:rPr>
              <a:t>trái</a:t>
            </a:r>
            <a:r>
              <a:rPr lang="en-US" altLang="en-US" dirty="0">
                <a:cs typeface="Times New Roman" panose="02020603050405020304" pitchFamily="18" charset="0"/>
              </a:rPr>
              <a:t> </a:t>
            </a:r>
            <a:r>
              <a:rPr lang="en-US" altLang="en-US" dirty="0" err="1">
                <a:cs typeface="Times New Roman" panose="02020603050405020304" pitchFamily="18" charset="0"/>
              </a:rPr>
              <a:t>ngoài</a:t>
            </a:r>
            <a:r>
              <a:rPr lang="en-US" altLang="en-US" dirty="0">
                <a:cs typeface="Times New Roman" panose="02020603050405020304" pitchFamily="18" charset="0"/>
              </a:rPr>
              <a:t> </a:t>
            </a:r>
            <a:r>
              <a:rPr lang="en-US" altLang="en-US" dirty="0" err="1">
                <a:cs typeface="Times New Roman" panose="02020603050405020304" pitchFamily="18" charset="0"/>
              </a:rPr>
              <a:t>cùng</a:t>
            </a:r>
            <a:r>
              <a:rPr lang="en-US" altLang="en-US" dirty="0">
                <a:cs typeface="Times New Roman" panose="02020603050405020304" pitchFamily="18" charset="0"/>
              </a:rPr>
              <a:t> </a:t>
            </a:r>
            <a:r>
              <a:rPr lang="en-US" altLang="en-US" dirty="0" err="1">
                <a:cs typeface="Times New Roman" panose="02020603050405020304" pitchFamily="18" charset="0"/>
              </a:rPr>
              <a:t>của</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con </a:t>
            </a:r>
            <a:r>
              <a:rPr lang="en-US" altLang="en-US" dirty="0" err="1">
                <a:cs typeface="Times New Roman" panose="02020603050405020304" pitchFamily="18" charset="0"/>
              </a:rPr>
              <a:t>Rtree</a:t>
            </a:r>
            <a:r>
              <a:rPr lang="en-US" altLang="en-US" dirty="0">
                <a:cs typeface="Times New Roman" panose="02020603050405020304" pitchFamily="18" charset="0"/>
              </a:rPr>
              <a:t>: </a:t>
            </a:r>
            <a:r>
              <a:rPr lang="en-US" altLang="en-US" i="1" dirty="0">
                <a:cs typeface="Times New Roman" panose="02020603050405020304" pitchFamily="18" charset="0"/>
              </a:rPr>
              <a:t> </a:t>
            </a:r>
            <a:r>
              <a:rPr lang="en-US" altLang="en-US" i="1" dirty="0" err="1">
                <a:cs typeface="Times New Roman" panose="02020603050405020304" pitchFamily="18" charset="0"/>
              </a:rPr>
              <a:t>luôn</a:t>
            </a:r>
            <a:r>
              <a:rPr lang="en-US" altLang="en-US" i="1" dirty="0">
                <a:cs typeface="Times New Roman" panose="02020603050405020304" pitchFamily="18" charset="0"/>
              </a:rPr>
              <a:t> </a:t>
            </a:r>
            <a:r>
              <a:rPr lang="en-US" altLang="en-US" i="1" dirty="0" err="1">
                <a:cs typeface="Times New Roman" panose="02020603050405020304" pitchFamily="18" charset="0"/>
              </a:rPr>
              <a:t>đi</a:t>
            </a:r>
            <a:r>
              <a:rPr lang="en-US" altLang="en-US" i="1" dirty="0">
                <a:cs typeface="Times New Roman" panose="02020603050405020304" pitchFamily="18" charset="0"/>
              </a:rPr>
              <a:t> </a:t>
            </a:r>
            <a:r>
              <a:rPr lang="en-US" altLang="en-US" i="1" dirty="0" err="1">
                <a:cs typeface="Times New Roman" panose="02020603050405020304" pitchFamily="18" charset="0"/>
              </a:rPr>
              <a:t>theo</a:t>
            </a:r>
            <a:r>
              <a:rPr lang="en-US" altLang="en-US" i="1" dirty="0">
                <a:cs typeface="Times New Roman" panose="02020603050405020304" pitchFamily="18" charset="0"/>
              </a:rPr>
              <a:t> </a:t>
            </a:r>
            <a:r>
              <a:rPr lang="en-US" altLang="en-US" i="1" dirty="0" err="1">
                <a:cs typeface="Times New Roman" panose="02020603050405020304" pitchFamily="18" charset="0"/>
              </a:rPr>
              <a:t>bên</a:t>
            </a:r>
            <a:r>
              <a:rPr lang="en-US" altLang="en-US" i="1" dirty="0">
                <a:cs typeface="Times New Roman" panose="02020603050405020304" pitchFamily="18" charset="0"/>
              </a:rPr>
              <a:t> </a:t>
            </a:r>
            <a:r>
              <a:rPr lang="en-US" altLang="en-US" i="1" dirty="0" err="1">
                <a:cs typeface="Times New Roman" panose="02020603050405020304" pitchFamily="18" charset="0"/>
              </a:rPr>
              <a:t>trái</a:t>
            </a:r>
            <a:r>
              <a:rPr lang="en-US" altLang="en-US" i="1" dirty="0">
                <a:cs typeface="Times New Roman" panose="02020603050405020304" pitchFamily="18" charset="0"/>
              </a:rPr>
              <a:t> </a:t>
            </a:r>
            <a:r>
              <a:rPr lang="en-US" altLang="en-US" i="1" dirty="0" err="1">
                <a:cs typeface="Times New Roman" panose="02020603050405020304" pitchFamily="18" charset="0"/>
              </a:rPr>
              <a:t>của</a:t>
            </a:r>
            <a:r>
              <a:rPr lang="en-US" altLang="en-US" i="1" dirty="0">
                <a:cs typeface="Times New Roman" panose="02020603050405020304" pitchFamily="18" charset="0"/>
              </a:rPr>
              <a:t> </a:t>
            </a:r>
            <a:r>
              <a:rPr lang="en-US" altLang="en-US" i="1" dirty="0" err="1">
                <a:cs typeface="Times New Roman" panose="02020603050405020304" pitchFamily="18" charset="0"/>
              </a:rPr>
              <a:t>cây</a:t>
            </a:r>
            <a:r>
              <a:rPr lang="en-US" altLang="en-US" i="1" dirty="0">
                <a:cs typeface="Times New Roman" panose="02020603050405020304" pitchFamily="18" charset="0"/>
              </a:rPr>
              <a:t> </a:t>
            </a:r>
            <a:r>
              <a:rPr lang="en-US" altLang="en-US" i="1" dirty="0" err="1">
                <a:cs typeface="Times New Roman" panose="02020603050405020304" pitchFamily="18" charset="0"/>
              </a:rPr>
              <a:t>đến</a:t>
            </a:r>
            <a:r>
              <a:rPr lang="en-US" altLang="en-US" i="1" dirty="0">
                <a:cs typeface="Times New Roman" panose="02020603050405020304" pitchFamily="18" charset="0"/>
              </a:rPr>
              <a:t> </a:t>
            </a:r>
            <a:r>
              <a:rPr lang="en-US" altLang="en-US" i="1" dirty="0" err="1">
                <a:cs typeface="Times New Roman" panose="02020603050405020304" pitchFamily="18" charset="0"/>
              </a:rPr>
              <a:t>khi</a:t>
            </a:r>
            <a:r>
              <a:rPr lang="en-US" altLang="en-US" i="1" dirty="0">
                <a:cs typeface="Times New Roman" panose="02020603050405020304" pitchFamily="18" charset="0"/>
              </a:rPr>
              <a:t> </a:t>
            </a:r>
            <a:r>
              <a:rPr lang="en-US" altLang="en-US" i="1" dirty="0" err="1">
                <a:cs typeface="Times New Roman" panose="02020603050405020304" pitchFamily="18" charset="0"/>
              </a:rPr>
              <a:t>không</a:t>
            </a:r>
            <a:r>
              <a:rPr lang="en-US" altLang="en-US" i="1" dirty="0">
                <a:cs typeface="Times New Roman" panose="02020603050405020304" pitchFamily="18" charset="0"/>
              </a:rPr>
              <a:t> </a:t>
            </a:r>
            <a:r>
              <a:rPr lang="en-US" altLang="en-US" i="1" dirty="0" err="1">
                <a:cs typeface="Times New Roman" panose="02020603050405020304" pitchFamily="18" charset="0"/>
              </a:rPr>
              <a:t>được</a:t>
            </a:r>
            <a:r>
              <a:rPr lang="en-US" altLang="en-US" i="1" dirty="0">
                <a:cs typeface="Times New Roman" panose="02020603050405020304" pitchFamily="18" charset="0"/>
              </a:rPr>
              <a:t> </a:t>
            </a:r>
            <a:r>
              <a:rPr lang="en-US" altLang="en-US" i="1" dirty="0" err="1">
                <a:cs typeface="Times New Roman" panose="02020603050405020304" pitchFamily="18" charset="0"/>
              </a:rPr>
              <a:t>nữa</a:t>
            </a:r>
            <a:r>
              <a:rPr lang="en-US" altLang="en-US" i="1" dirty="0">
                <a:cs typeface="Times New Roman" panose="02020603050405020304" pitchFamily="18" charset="0"/>
              </a:rPr>
              <a:t>                Q-&gt;LP=NULL </a:t>
            </a:r>
            <a:r>
              <a:rPr lang="en-US" altLang="en-US" i="1" dirty="0" err="1">
                <a:cs typeface="Times New Roman" panose="02020603050405020304" pitchFamily="18" charset="0"/>
              </a:rPr>
              <a:t>thì</a:t>
            </a:r>
            <a:r>
              <a:rPr lang="en-US" altLang="en-US" i="1" dirty="0">
                <a:cs typeface="Times New Roman" panose="02020603050405020304" pitchFamily="18" charset="0"/>
              </a:rPr>
              <a:t> </a:t>
            </a:r>
            <a:r>
              <a:rPr lang="en-US" altLang="en-US" i="1" dirty="0" err="1">
                <a:cs typeface="Times New Roman" panose="02020603050405020304" pitchFamily="18" charset="0"/>
              </a:rPr>
              <a:t>đó</a:t>
            </a:r>
            <a:r>
              <a:rPr lang="en-US" altLang="en-US" i="1" dirty="0">
                <a:cs typeface="Times New Roman" panose="02020603050405020304" pitchFamily="18" charset="0"/>
              </a:rPr>
              <a:t> </a:t>
            </a:r>
            <a:r>
              <a:rPr lang="en-US" altLang="en-US" i="1" dirty="0" err="1">
                <a:cs typeface="Times New Roman" panose="02020603050405020304" pitchFamily="18" charset="0"/>
              </a:rPr>
              <a:t>là</a:t>
            </a:r>
            <a:r>
              <a:rPr lang="en-US" altLang="en-US" i="1" dirty="0">
                <a:cs typeface="Times New Roman" panose="02020603050405020304" pitchFamily="18" charset="0"/>
              </a:rPr>
              <a:t> </a:t>
            </a:r>
            <a:r>
              <a:rPr lang="en-US" altLang="en-US" i="1" dirty="0" err="1">
                <a:cs typeface="Times New Roman" panose="02020603050405020304" pitchFamily="18" charset="0"/>
              </a:rPr>
              <a:t>nút</a:t>
            </a:r>
            <a:r>
              <a:rPr lang="en-US" altLang="en-US" i="1" dirty="0">
                <a:cs typeface="Times New Roman" panose="02020603050405020304" pitchFamily="18" charset="0"/>
              </a:rPr>
              <a:t> </a:t>
            </a:r>
            <a:r>
              <a:rPr lang="en-US" altLang="en-US" i="1" dirty="0" err="1">
                <a:cs typeface="Times New Roman" panose="02020603050405020304" pitchFamily="18" charset="0"/>
              </a:rPr>
              <a:t>ngoài</a:t>
            </a:r>
            <a:r>
              <a:rPr lang="en-US" altLang="en-US" i="1" dirty="0">
                <a:cs typeface="Times New Roman" panose="02020603050405020304" pitchFamily="18" charset="0"/>
              </a:rPr>
              <a:t> </a:t>
            </a:r>
            <a:r>
              <a:rPr lang="en-US" altLang="en-US" i="1" dirty="0" err="1">
                <a:cs typeface="Times New Roman" panose="02020603050405020304" pitchFamily="18" charset="0"/>
              </a:rPr>
              <a:t>cùng</a:t>
            </a:r>
            <a:r>
              <a:rPr lang="en-US" altLang="en-US" i="1" dirty="0">
                <a:cs typeface="Times New Roman" panose="02020603050405020304" pitchFamily="18" charset="0"/>
              </a:rPr>
              <a:t> </a:t>
            </a:r>
            <a:r>
              <a:rPr lang="en-US" altLang="en-US" i="1" dirty="0" err="1">
                <a:cs typeface="Times New Roman" panose="02020603050405020304" pitchFamily="18" charset="0"/>
              </a:rPr>
              <a:t>bên</a:t>
            </a:r>
            <a:r>
              <a:rPr lang="en-US" altLang="en-US" i="1" dirty="0">
                <a:cs typeface="Times New Roman" panose="02020603050405020304" pitchFamily="18" charset="0"/>
              </a:rPr>
              <a:t> </a:t>
            </a:r>
            <a:r>
              <a:rPr lang="en-US" altLang="en-US" i="1" dirty="0" err="1">
                <a:cs typeface="Times New Roman" panose="02020603050405020304" pitchFamily="18" charset="0"/>
              </a:rPr>
              <a:t>trái</a:t>
            </a:r>
            <a:endParaRPr lang="en-US" altLang="en-US" i="1" dirty="0">
              <a:cs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51</a:t>
            </a:fld>
            <a:endParaRPr lang="en-US"/>
          </a:p>
        </p:txBody>
      </p:sp>
    </p:spTree>
    <p:extLst>
      <p:ext uri="{BB962C8B-B14F-4D97-AF65-F5344CB8AC3E}">
        <p14:creationId xmlns:p14="http://schemas.microsoft.com/office/powerpoint/2010/main" val="27286940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eaLnBrk="1" hangingPunct="1">
              <a:lnSpc>
                <a:spcPct val="90000"/>
              </a:lnSpc>
              <a:spcBef>
                <a:spcPct val="15000"/>
              </a:spcBef>
            </a:pPr>
            <a:r>
              <a:rPr lang="en-US" altLang="en-US" dirty="0" err="1">
                <a:cs typeface="Times New Roman" panose="02020603050405020304" pitchFamily="18" charset="0"/>
              </a:rPr>
              <a:t>Tìm</a:t>
            </a:r>
            <a:r>
              <a:rPr lang="en-US" altLang="en-US" dirty="0">
                <a:cs typeface="Times New Roman" panose="02020603050405020304" pitchFamily="18" charset="0"/>
              </a:rPr>
              <a:t> </a:t>
            </a:r>
            <a:r>
              <a:rPr lang="en-US" altLang="en-US" dirty="0" err="1">
                <a:cs typeface="Times New Roman" panose="02020603050405020304" pitchFamily="18" charset="0"/>
              </a:rPr>
              <a:t>đến</a:t>
            </a:r>
            <a:r>
              <a:rPr lang="en-US" altLang="en-US" dirty="0">
                <a:cs typeface="Times New Roman" panose="02020603050405020304" pitchFamily="18" charset="0"/>
              </a:rPr>
              <a:t> </a:t>
            </a:r>
            <a:r>
              <a:rPr lang="en-US" altLang="en-US" dirty="0" err="1">
                <a:cs typeface="Times New Roman" panose="02020603050405020304" pitchFamily="18" charset="0"/>
              </a:rPr>
              <a:t>nút</a:t>
            </a:r>
            <a:r>
              <a:rPr lang="en-US" altLang="en-US" dirty="0">
                <a:cs typeface="Times New Roman" panose="02020603050405020304" pitchFamily="18" charset="0"/>
              </a:rPr>
              <a:t> </a:t>
            </a:r>
            <a:r>
              <a:rPr lang="en-US" altLang="en-US" dirty="0" err="1">
                <a:cs typeface="Times New Roman" panose="02020603050405020304" pitchFamily="18" charset="0"/>
              </a:rPr>
              <a:t>có</a:t>
            </a:r>
            <a:r>
              <a:rPr lang="en-US" altLang="en-US" dirty="0">
                <a:cs typeface="Times New Roman" panose="02020603050405020304" pitchFamily="18" charset="0"/>
              </a:rPr>
              <a:t> </a:t>
            </a:r>
            <a:r>
              <a:rPr lang="en-US" altLang="en-US" dirty="0" err="1">
                <a:cs typeface="Times New Roman" panose="02020603050405020304" pitchFamily="18" charset="0"/>
              </a:rPr>
              <a:t>giá</a:t>
            </a:r>
            <a:r>
              <a:rPr lang="en-US" altLang="en-US" dirty="0">
                <a:cs typeface="Times New Roman" panose="02020603050405020304" pitchFamily="18" charset="0"/>
              </a:rPr>
              <a:t> </a:t>
            </a:r>
            <a:r>
              <a:rPr lang="en-US" altLang="en-US" dirty="0" err="1">
                <a:cs typeface="Times New Roman" panose="02020603050405020304" pitchFamily="18" charset="0"/>
              </a:rPr>
              <a:t>trị</a:t>
            </a:r>
            <a:r>
              <a:rPr lang="en-US" altLang="en-US" dirty="0">
                <a:cs typeface="Times New Roman" panose="02020603050405020304" pitchFamily="18" charset="0"/>
              </a:rPr>
              <a:t> </a:t>
            </a:r>
            <a:r>
              <a:rPr lang="en-US" altLang="en-US" dirty="0" err="1">
                <a:cs typeface="Times New Roman" panose="02020603050405020304" pitchFamily="18" charset="0"/>
              </a:rPr>
              <a:t>khóa</a:t>
            </a:r>
            <a:r>
              <a:rPr lang="en-US" altLang="en-US" dirty="0">
                <a:cs typeface="Times New Roman" panose="02020603050405020304" pitchFamily="18" charset="0"/>
              </a:rPr>
              <a:t> </a:t>
            </a:r>
            <a:r>
              <a:rPr lang="en-US" altLang="en-US" dirty="0" err="1">
                <a:cs typeface="Times New Roman" panose="02020603050405020304" pitchFamily="18" charset="0"/>
              </a:rPr>
              <a:t>cần</a:t>
            </a:r>
            <a:r>
              <a:rPr lang="en-US" altLang="en-US" dirty="0">
                <a:cs typeface="Times New Roman" panose="02020603050405020304" pitchFamily="18" charset="0"/>
              </a:rPr>
              <a:t> </a:t>
            </a:r>
            <a:r>
              <a:rPr lang="en-US" altLang="en-US" dirty="0" err="1">
                <a:cs typeface="Times New Roman" panose="02020603050405020304" pitchFamily="18" charset="0"/>
              </a:rPr>
              <a:t>loại</a:t>
            </a:r>
            <a:r>
              <a:rPr lang="en-US" altLang="en-US" dirty="0">
                <a:cs typeface="Times New Roman" panose="02020603050405020304" pitchFamily="18" charset="0"/>
              </a:rPr>
              <a:t> </a:t>
            </a:r>
            <a:r>
              <a:rPr lang="en-US" altLang="en-US" dirty="0" err="1">
                <a:cs typeface="Times New Roman" panose="02020603050405020304" pitchFamily="18" charset="0"/>
              </a:rPr>
              <a:t>bỏ</a:t>
            </a:r>
            <a:endParaRPr lang="en-US" altLang="en-US" dirty="0">
              <a:cs typeface="Times New Roman" panose="02020603050405020304" pitchFamily="18" charset="0"/>
            </a:endParaRPr>
          </a:p>
          <a:p>
            <a:pPr lvl="1" eaLnBrk="1" hangingPunct="1">
              <a:lnSpc>
                <a:spcPct val="90000"/>
              </a:lnSpc>
              <a:spcBef>
                <a:spcPct val="15000"/>
              </a:spcBef>
            </a:pPr>
            <a:r>
              <a:rPr lang="en-US" altLang="en-US" dirty="0" err="1">
                <a:cs typeface="Times New Roman" panose="02020603050405020304" pitchFamily="18" charset="0"/>
              </a:rPr>
              <a:t>Thực</a:t>
            </a:r>
            <a:r>
              <a:rPr lang="en-US" altLang="en-US" dirty="0">
                <a:cs typeface="Times New Roman" panose="02020603050405020304" pitchFamily="18" charset="0"/>
              </a:rPr>
              <a:t> </a:t>
            </a:r>
            <a:r>
              <a:rPr lang="en-US" altLang="en-US" dirty="0" err="1">
                <a:cs typeface="Times New Roman" panose="02020603050405020304" pitchFamily="18" charset="0"/>
              </a:rPr>
              <a:t>hiện</a:t>
            </a:r>
            <a:r>
              <a:rPr lang="en-US" altLang="en-US" dirty="0">
                <a:cs typeface="Times New Roman" panose="02020603050405020304" pitchFamily="18" charset="0"/>
              </a:rPr>
              <a:t> </a:t>
            </a:r>
            <a:r>
              <a:rPr lang="en-US" altLang="en-US" dirty="0" err="1">
                <a:cs typeface="Times New Roman" panose="02020603050405020304" pitchFamily="18" charset="0"/>
              </a:rPr>
              <a:t>phép</a:t>
            </a:r>
            <a:r>
              <a:rPr lang="en-US" altLang="en-US" dirty="0">
                <a:cs typeface="Times New Roman" panose="02020603050405020304" pitchFamily="18" charset="0"/>
              </a:rPr>
              <a:t> </a:t>
            </a:r>
            <a:r>
              <a:rPr lang="en-US" altLang="en-US" dirty="0" err="1">
                <a:cs typeface="Times New Roman" panose="02020603050405020304" pitchFamily="18" charset="0"/>
              </a:rPr>
              <a:t>loại</a:t>
            </a:r>
            <a:r>
              <a:rPr lang="en-US" altLang="en-US" dirty="0">
                <a:cs typeface="Times New Roman" panose="02020603050405020304" pitchFamily="18" charset="0"/>
              </a:rPr>
              <a:t> </a:t>
            </a:r>
            <a:r>
              <a:rPr lang="en-US" altLang="en-US" dirty="0" err="1">
                <a:cs typeface="Times New Roman" panose="02020603050405020304" pitchFamily="18" charset="0"/>
              </a:rPr>
              <a:t>bỏ</a:t>
            </a:r>
            <a:r>
              <a:rPr lang="en-US" altLang="en-US" dirty="0">
                <a:cs typeface="Times New Roman" panose="02020603050405020304" pitchFamily="18" charset="0"/>
              </a:rPr>
              <a:t> </a:t>
            </a:r>
            <a:r>
              <a:rPr lang="en-US" altLang="en-US" dirty="0" err="1">
                <a:cs typeface="Times New Roman" panose="02020603050405020304" pitchFamily="18" charset="0"/>
              </a:rPr>
              <a:t>nút</a:t>
            </a:r>
            <a:r>
              <a:rPr lang="en-US" altLang="en-US" dirty="0">
                <a:cs typeface="Times New Roman" panose="02020603050405020304" pitchFamily="18" charset="0"/>
              </a:rPr>
              <a:t> </a:t>
            </a:r>
            <a:r>
              <a:rPr lang="en-US" altLang="en-US" dirty="0" err="1">
                <a:cs typeface="Times New Roman" panose="02020603050405020304" pitchFamily="18" charset="0"/>
              </a:rPr>
              <a:t>đó</a:t>
            </a:r>
            <a:endParaRPr lang="en-US" altLang="en-US" dirty="0">
              <a:cs typeface="Times New Roman" panose="02020603050405020304" pitchFamily="18" charset="0"/>
            </a:endParaRPr>
          </a:p>
          <a:p>
            <a:pPr lvl="1" eaLnBrk="1" hangingPunct="1">
              <a:lnSpc>
                <a:spcPct val="90000"/>
              </a:lnSpc>
              <a:spcBef>
                <a:spcPct val="15000"/>
              </a:spcBef>
            </a:pPr>
            <a:r>
              <a:rPr lang="en-US" altLang="en-US" dirty="0" err="1">
                <a:cs typeface="Times New Roman" panose="02020603050405020304" pitchFamily="18" charset="0"/>
              </a:rPr>
              <a:t>Thực</a:t>
            </a:r>
            <a:r>
              <a:rPr lang="en-US" altLang="en-US" dirty="0">
                <a:cs typeface="Times New Roman" panose="02020603050405020304" pitchFamily="18" charset="0"/>
              </a:rPr>
              <a:t> </a:t>
            </a:r>
            <a:r>
              <a:rPr lang="en-US" altLang="en-US" dirty="0" err="1">
                <a:cs typeface="Times New Roman" panose="02020603050405020304" pitchFamily="18" charset="0"/>
              </a:rPr>
              <a:t>hiện</a:t>
            </a:r>
            <a:r>
              <a:rPr lang="en-US" altLang="en-US" dirty="0">
                <a:cs typeface="Times New Roman" panose="02020603050405020304" pitchFamily="18" charset="0"/>
              </a:rPr>
              <a:t> </a:t>
            </a:r>
            <a:r>
              <a:rPr lang="en-US" altLang="en-US" dirty="0" err="1">
                <a:cs typeface="Times New Roman" panose="02020603050405020304" pitchFamily="18" charset="0"/>
              </a:rPr>
              <a:t>xắp</a:t>
            </a:r>
            <a:r>
              <a:rPr lang="en-US" altLang="en-US" dirty="0">
                <a:cs typeface="Times New Roman" panose="02020603050405020304" pitchFamily="18" charset="0"/>
              </a:rPr>
              <a:t> </a:t>
            </a:r>
            <a:r>
              <a:rPr lang="en-US" altLang="en-US" dirty="0" err="1">
                <a:cs typeface="Times New Roman" panose="02020603050405020304" pitchFamily="18" charset="0"/>
              </a:rPr>
              <a:t>xếp</a:t>
            </a:r>
            <a:r>
              <a:rPr lang="en-US" altLang="en-US" dirty="0">
                <a:cs typeface="Times New Roman" panose="02020603050405020304" pitchFamily="18" charset="0"/>
              </a:rPr>
              <a:t> </a:t>
            </a:r>
            <a:r>
              <a:rPr lang="en-US" altLang="en-US" dirty="0" err="1">
                <a:cs typeface="Times New Roman" panose="02020603050405020304" pitchFamily="18" charset="0"/>
              </a:rPr>
              <a:t>lại</a:t>
            </a:r>
            <a:r>
              <a:rPr lang="en-US" altLang="en-US" dirty="0">
                <a:cs typeface="Times New Roman" panose="02020603050405020304" pitchFamily="18" charset="0"/>
              </a:rPr>
              <a:t> </a:t>
            </a:r>
            <a:r>
              <a:rPr lang="en-US" altLang="en-US" dirty="0" err="1">
                <a:cs typeface="Times New Roman" panose="02020603050405020304" pitchFamily="18" charset="0"/>
              </a:rPr>
              <a:t>để</a:t>
            </a:r>
            <a:r>
              <a:rPr lang="en-US" altLang="en-US" dirty="0">
                <a:cs typeface="Times New Roman" panose="02020603050405020304" pitchFamily="18" charset="0"/>
              </a:rPr>
              <a:t> </a:t>
            </a:r>
            <a:r>
              <a:rPr lang="en-US" altLang="en-US" dirty="0" err="1">
                <a:cs typeface="Times New Roman" panose="02020603050405020304" pitchFamily="18" charset="0"/>
              </a:rPr>
              <a:t>đảm</a:t>
            </a:r>
            <a:r>
              <a:rPr lang="en-US" altLang="en-US" dirty="0">
                <a:cs typeface="Times New Roman" panose="02020603050405020304" pitchFamily="18" charset="0"/>
              </a:rPr>
              <a:t> </a:t>
            </a:r>
            <a:r>
              <a:rPr lang="en-US" altLang="en-US" dirty="0" err="1">
                <a:cs typeface="Times New Roman" panose="02020603050405020304" pitchFamily="18" charset="0"/>
              </a:rPr>
              <a:t>bảo</a:t>
            </a:r>
            <a:r>
              <a:rPr lang="en-US" altLang="en-US" dirty="0">
                <a:cs typeface="Times New Roman" panose="02020603050405020304" pitchFamily="18" charset="0"/>
              </a:rPr>
              <a:t> </a:t>
            </a:r>
            <a:r>
              <a:rPr lang="en-US" altLang="en-US" dirty="0" err="1">
                <a:cs typeface="Times New Roman" panose="02020603050405020304" pitchFamily="18" charset="0"/>
              </a:rPr>
              <a:t>tính</a:t>
            </a:r>
            <a:r>
              <a:rPr lang="en-US" altLang="en-US" dirty="0">
                <a:cs typeface="Times New Roman" panose="02020603050405020304" pitchFamily="18" charset="0"/>
              </a:rPr>
              <a:t> </a:t>
            </a:r>
            <a:r>
              <a:rPr lang="en-US" altLang="en-US" dirty="0" err="1">
                <a:cs typeface="Times New Roman" panose="02020603050405020304" pitchFamily="18" charset="0"/>
              </a:rPr>
              <a:t>chất</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tìm</a:t>
            </a:r>
            <a:r>
              <a:rPr lang="en-US" altLang="en-US" dirty="0">
                <a:cs typeface="Times New Roman" panose="02020603050405020304" pitchFamily="18" charset="0"/>
              </a:rPr>
              <a:t> </a:t>
            </a:r>
            <a:r>
              <a:rPr lang="en-US" altLang="en-US" dirty="0" err="1">
                <a:cs typeface="Times New Roman" panose="02020603050405020304" pitchFamily="18" charset="0"/>
              </a:rPr>
              <a:t>kiếm</a:t>
            </a:r>
            <a:r>
              <a:rPr lang="en-US" altLang="en-US" dirty="0">
                <a:cs typeface="Times New Roman" panose="02020603050405020304" pitchFamily="18" charset="0"/>
              </a:rPr>
              <a:t> NP</a:t>
            </a:r>
          </a:p>
          <a:p>
            <a:pPr lvl="2" eaLnBrk="1" hangingPunct="1">
              <a:lnSpc>
                <a:spcPct val="90000"/>
              </a:lnSpc>
              <a:spcBef>
                <a:spcPct val="15000"/>
              </a:spcBef>
            </a:pPr>
            <a:r>
              <a:rPr lang="en-US" altLang="en-US" dirty="0" err="1">
                <a:cs typeface="Times New Roman" panose="02020603050405020304" pitchFamily="18" charset="0"/>
              </a:rPr>
              <a:t>Nếu</a:t>
            </a:r>
            <a:r>
              <a:rPr lang="en-US" altLang="en-US" dirty="0">
                <a:cs typeface="Times New Roman" panose="02020603050405020304" pitchFamily="18" charset="0"/>
              </a:rPr>
              <a:t> </a:t>
            </a:r>
            <a:r>
              <a:rPr lang="en-US" altLang="en-US" dirty="0" err="1">
                <a:cs typeface="Times New Roman" panose="02020603050405020304" pitchFamily="18" charset="0"/>
              </a:rPr>
              <a:t>đỉnh</a:t>
            </a:r>
            <a:r>
              <a:rPr lang="en-US" altLang="en-US" dirty="0">
                <a:cs typeface="Times New Roman" panose="02020603050405020304" pitchFamily="18" charset="0"/>
              </a:rPr>
              <a:t> </a:t>
            </a:r>
            <a:r>
              <a:rPr lang="en-US" altLang="en-US" dirty="0" err="1">
                <a:cs typeface="Times New Roman" panose="02020603050405020304" pitchFamily="18" charset="0"/>
              </a:rPr>
              <a:t>cần</a:t>
            </a:r>
            <a:r>
              <a:rPr lang="en-US" altLang="en-US" dirty="0">
                <a:cs typeface="Times New Roman" panose="02020603050405020304" pitchFamily="18" charset="0"/>
              </a:rPr>
              <a:t> </a:t>
            </a:r>
            <a:r>
              <a:rPr lang="en-US" altLang="en-US" dirty="0" err="1">
                <a:cs typeface="Times New Roman" panose="02020603050405020304" pitchFamily="18" charset="0"/>
              </a:rPr>
              <a:t>loại</a:t>
            </a:r>
            <a:r>
              <a:rPr lang="en-US" altLang="en-US" dirty="0">
                <a:cs typeface="Times New Roman" panose="02020603050405020304" pitchFamily="18" charset="0"/>
              </a:rPr>
              <a:t> </a:t>
            </a:r>
            <a:r>
              <a:rPr lang="en-US" altLang="en-US" dirty="0" err="1">
                <a:cs typeface="Times New Roman" panose="02020603050405020304" pitchFamily="18" charset="0"/>
              </a:rPr>
              <a:t>bỏ</a:t>
            </a:r>
            <a:r>
              <a:rPr lang="en-US" altLang="en-US" dirty="0">
                <a:cs typeface="Times New Roman" panose="02020603050405020304" pitchFamily="18" charset="0"/>
              </a:rPr>
              <a:t> </a:t>
            </a:r>
            <a:r>
              <a:rPr lang="en-US" altLang="en-US" dirty="0" err="1">
                <a:cs typeface="Times New Roman" panose="02020603050405020304" pitchFamily="18" charset="0"/>
              </a:rPr>
              <a:t>là</a:t>
            </a:r>
            <a:r>
              <a:rPr lang="en-US" altLang="en-US" dirty="0">
                <a:cs typeface="Times New Roman" panose="02020603050405020304" pitchFamily="18" charset="0"/>
              </a:rPr>
              <a:t> </a:t>
            </a:r>
            <a:r>
              <a:rPr lang="en-US" altLang="en-US" dirty="0" err="1">
                <a:cs typeface="Times New Roman" panose="02020603050405020304" pitchFamily="18" charset="0"/>
              </a:rPr>
              <a:t>lá</a:t>
            </a:r>
            <a:r>
              <a:rPr lang="en-US" altLang="en-US" dirty="0">
                <a:cs typeface="Times New Roman" panose="02020603050405020304" pitchFamily="18" charset="0"/>
              </a:rPr>
              <a:t> =&gt; </a:t>
            </a:r>
            <a:r>
              <a:rPr lang="en-US" altLang="en-US" dirty="0" err="1">
                <a:cs typeface="Times New Roman" panose="02020603050405020304" pitchFamily="18" charset="0"/>
              </a:rPr>
              <a:t>không</a:t>
            </a:r>
            <a:r>
              <a:rPr lang="en-US" altLang="en-US" dirty="0">
                <a:cs typeface="Times New Roman" panose="02020603050405020304" pitchFamily="18" charset="0"/>
              </a:rPr>
              <a:t> </a:t>
            </a:r>
            <a:r>
              <a:rPr lang="en-US" altLang="en-US" dirty="0" err="1">
                <a:cs typeface="Times New Roman" panose="02020603050405020304" pitchFamily="18" charset="0"/>
              </a:rPr>
              <a:t>cần</a:t>
            </a:r>
            <a:r>
              <a:rPr lang="en-US" altLang="en-US" dirty="0">
                <a:cs typeface="Times New Roman" panose="02020603050405020304" pitchFamily="18" charset="0"/>
              </a:rPr>
              <a:t> </a:t>
            </a:r>
            <a:r>
              <a:rPr lang="en-US" altLang="en-US" dirty="0" err="1">
                <a:cs typeface="Times New Roman" panose="02020603050405020304" pitchFamily="18" charset="0"/>
              </a:rPr>
              <a:t>làm</a:t>
            </a:r>
            <a:r>
              <a:rPr lang="en-US" altLang="en-US" dirty="0">
                <a:cs typeface="Times New Roman" panose="02020603050405020304" pitchFamily="18" charset="0"/>
              </a:rPr>
              <a:t> </a:t>
            </a:r>
            <a:r>
              <a:rPr lang="en-US" altLang="en-US" dirty="0" err="1">
                <a:cs typeface="Times New Roman" panose="02020603050405020304" pitchFamily="18" charset="0"/>
              </a:rPr>
              <a:t>gì</a:t>
            </a:r>
            <a:endParaRPr lang="en-US" altLang="en-US" dirty="0">
              <a:cs typeface="Times New Roman" panose="02020603050405020304" pitchFamily="18" charset="0"/>
            </a:endParaRPr>
          </a:p>
          <a:p>
            <a:pPr lvl="2" eaLnBrk="1" hangingPunct="1">
              <a:lnSpc>
                <a:spcPct val="90000"/>
              </a:lnSpc>
              <a:spcBef>
                <a:spcPct val="15000"/>
              </a:spcBef>
            </a:pPr>
            <a:r>
              <a:rPr lang="en-US" altLang="en-US" dirty="0" err="1">
                <a:cs typeface="Times New Roman" panose="02020603050405020304" pitchFamily="18" charset="0"/>
              </a:rPr>
              <a:t>Nếu</a:t>
            </a:r>
            <a:r>
              <a:rPr lang="en-US" altLang="en-US" dirty="0">
                <a:cs typeface="Times New Roman" panose="02020603050405020304" pitchFamily="18" charset="0"/>
              </a:rPr>
              <a:t> </a:t>
            </a:r>
            <a:r>
              <a:rPr lang="en-US" altLang="en-US" dirty="0" err="1">
                <a:cs typeface="Times New Roman" panose="02020603050405020304" pitchFamily="18" charset="0"/>
              </a:rPr>
              <a:t>đỉnh</a:t>
            </a:r>
            <a:r>
              <a:rPr lang="en-US" altLang="en-US" dirty="0">
                <a:cs typeface="Times New Roman" panose="02020603050405020304" pitchFamily="18" charset="0"/>
              </a:rPr>
              <a:t> </a:t>
            </a:r>
            <a:r>
              <a:rPr lang="en-US" altLang="en-US" dirty="0" err="1">
                <a:cs typeface="Times New Roman" panose="02020603050405020304" pitchFamily="18" charset="0"/>
              </a:rPr>
              <a:t>cần</a:t>
            </a:r>
            <a:r>
              <a:rPr lang="en-US" altLang="en-US" dirty="0">
                <a:cs typeface="Times New Roman" panose="02020603050405020304" pitchFamily="18" charset="0"/>
              </a:rPr>
              <a:t> </a:t>
            </a:r>
            <a:r>
              <a:rPr lang="en-US" altLang="en-US" dirty="0" err="1">
                <a:cs typeface="Times New Roman" panose="02020603050405020304" pitchFamily="18" charset="0"/>
              </a:rPr>
              <a:t>loại</a:t>
            </a:r>
            <a:r>
              <a:rPr lang="en-US" altLang="en-US" dirty="0">
                <a:cs typeface="Times New Roman" panose="02020603050405020304" pitchFamily="18" charset="0"/>
              </a:rPr>
              <a:t> </a:t>
            </a:r>
            <a:r>
              <a:rPr lang="en-US" altLang="en-US" dirty="0" err="1">
                <a:cs typeface="Times New Roman" panose="02020603050405020304" pitchFamily="18" charset="0"/>
              </a:rPr>
              <a:t>bỏ</a:t>
            </a:r>
            <a:r>
              <a:rPr lang="en-US" altLang="en-US" dirty="0">
                <a:cs typeface="Times New Roman" panose="02020603050405020304" pitchFamily="18" charset="0"/>
              </a:rPr>
              <a:t> </a:t>
            </a:r>
            <a:r>
              <a:rPr lang="en-US" altLang="en-US" dirty="0" err="1">
                <a:cs typeface="Times New Roman" panose="02020603050405020304" pitchFamily="18" charset="0"/>
              </a:rPr>
              <a:t>chỉ</a:t>
            </a:r>
            <a:r>
              <a:rPr lang="en-US" altLang="en-US" dirty="0">
                <a:cs typeface="Times New Roman" panose="02020603050405020304" pitchFamily="18" charset="0"/>
              </a:rPr>
              <a:t> </a:t>
            </a:r>
            <a:r>
              <a:rPr lang="en-US" altLang="en-US" dirty="0" err="1">
                <a:cs typeface="Times New Roman" panose="02020603050405020304" pitchFamily="18" charset="0"/>
              </a:rPr>
              <a:t>có</a:t>
            </a:r>
            <a:r>
              <a:rPr lang="en-US" altLang="en-US" dirty="0">
                <a:cs typeface="Times New Roman" panose="02020603050405020304" pitchFamily="18" charset="0"/>
              </a:rPr>
              <a:t> 1 </a:t>
            </a:r>
            <a:r>
              <a:rPr lang="en-US" altLang="en-US" dirty="0" err="1">
                <a:cs typeface="Times New Roman" panose="02020603050405020304" pitchFamily="18" charset="0"/>
              </a:rPr>
              <a:t>cây</a:t>
            </a:r>
            <a:r>
              <a:rPr lang="en-US" altLang="en-US" dirty="0">
                <a:cs typeface="Times New Roman" panose="02020603050405020304" pitchFamily="18" charset="0"/>
              </a:rPr>
              <a:t> con =&gt; </a:t>
            </a:r>
            <a:r>
              <a:rPr lang="en-US" altLang="en-US" dirty="0" err="1">
                <a:cs typeface="Times New Roman" panose="02020603050405020304" pitchFamily="18" charset="0"/>
              </a:rPr>
              <a:t>thực</a:t>
            </a:r>
            <a:r>
              <a:rPr lang="en-US" altLang="en-US" dirty="0">
                <a:cs typeface="Times New Roman" panose="02020603050405020304" pitchFamily="18" charset="0"/>
              </a:rPr>
              <a:t> </a:t>
            </a:r>
            <a:r>
              <a:rPr lang="en-US" altLang="en-US" dirty="0" err="1">
                <a:cs typeface="Times New Roman" panose="02020603050405020304" pitchFamily="18" charset="0"/>
              </a:rPr>
              <a:t>hiện</a:t>
            </a:r>
            <a:r>
              <a:rPr lang="en-US" altLang="en-US" dirty="0">
                <a:cs typeface="Times New Roman" panose="02020603050405020304" pitchFamily="18" charset="0"/>
              </a:rPr>
              <a:t> </a:t>
            </a:r>
            <a:r>
              <a:rPr lang="en-US" altLang="en-US" dirty="0" err="1">
                <a:cs typeface="Times New Roman" panose="02020603050405020304" pitchFamily="18" charset="0"/>
              </a:rPr>
              <a:t>phép</a:t>
            </a:r>
            <a:r>
              <a:rPr lang="en-US" altLang="en-US" dirty="0">
                <a:cs typeface="Times New Roman" panose="02020603050405020304" pitchFamily="18" charset="0"/>
              </a:rPr>
              <a:t> </a:t>
            </a:r>
            <a:r>
              <a:rPr lang="en-US" altLang="en-US" dirty="0" err="1">
                <a:cs typeface="Times New Roman" panose="02020603050405020304" pitchFamily="18" charset="0"/>
              </a:rPr>
              <a:t>nối</a:t>
            </a:r>
            <a:endParaRPr lang="en-US" altLang="en-US" dirty="0">
              <a:cs typeface="Times New Roman" panose="02020603050405020304" pitchFamily="18" charset="0"/>
            </a:endParaRPr>
          </a:p>
          <a:p>
            <a:pPr lvl="2" eaLnBrk="1" hangingPunct="1">
              <a:lnSpc>
                <a:spcPct val="90000"/>
              </a:lnSpc>
              <a:spcBef>
                <a:spcPct val="15000"/>
              </a:spcBef>
            </a:pPr>
            <a:r>
              <a:rPr lang="en-US" altLang="en-US" dirty="0" err="1">
                <a:cs typeface="Times New Roman" panose="02020603050405020304" pitchFamily="18" charset="0"/>
              </a:rPr>
              <a:t>Nếu</a:t>
            </a:r>
            <a:r>
              <a:rPr lang="en-US" altLang="en-US" dirty="0">
                <a:cs typeface="Times New Roman" panose="02020603050405020304" pitchFamily="18" charset="0"/>
              </a:rPr>
              <a:t> </a:t>
            </a:r>
            <a:r>
              <a:rPr lang="en-US" altLang="en-US" dirty="0" err="1">
                <a:cs typeface="Times New Roman" panose="02020603050405020304" pitchFamily="18" charset="0"/>
              </a:rPr>
              <a:t>đỉnh</a:t>
            </a:r>
            <a:r>
              <a:rPr lang="en-US" altLang="en-US" dirty="0">
                <a:cs typeface="Times New Roman" panose="02020603050405020304" pitchFamily="18" charset="0"/>
              </a:rPr>
              <a:t> </a:t>
            </a:r>
            <a:r>
              <a:rPr lang="en-US" altLang="en-US" dirty="0" err="1">
                <a:cs typeface="Times New Roman" panose="02020603050405020304" pitchFamily="18" charset="0"/>
              </a:rPr>
              <a:t>cần</a:t>
            </a:r>
            <a:r>
              <a:rPr lang="en-US" altLang="en-US" dirty="0">
                <a:cs typeface="Times New Roman" panose="02020603050405020304" pitchFamily="18" charset="0"/>
              </a:rPr>
              <a:t> </a:t>
            </a:r>
            <a:r>
              <a:rPr lang="en-US" altLang="en-US" dirty="0" err="1">
                <a:cs typeface="Times New Roman" panose="02020603050405020304" pitchFamily="18" charset="0"/>
              </a:rPr>
              <a:t>loại</a:t>
            </a:r>
            <a:r>
              <a:rPr lang="en-US" altLang="en-US" dirty="0">
                <a:cs typeface="Times New Roman" panose="02020603050405020304" pitchFamily="18" charset="0"/>
              </a:rPr>
              <a:t> </a:t>
            </a:r>
            <a:r>
              <a:rPr lang="en-US" altLang="en-US" dirty="0" err="1">
                <a:cs typeface="Times New Roman" panose="02020603050405020304" pitchFamily="18" charset="0"/>
              </a:rPr>
              <a:t>bỏ</a:t>
            </a:r>
            <a:r>
              <a:rPr lang="en-US" altLang="en-US" dirty="0">
                <a:cs typeface="Times New Roman" panose="02020603050405020304" pitchFamily="18" charset="0"/>
              </a:rPr>
              <a:t> </a:t>
            </a:r>
            <a:r>
              <a:rPr lang="en-US" altLang="en-US" dirty="0" err="1">
                <a:cs typeface="Times New Roman" panose="02020603050405020304" pitchFamily="18" charset="0"/>
              </a:rPr>
              <a:t>có</a:t>
            </a:r>
            <a:r>
              <a:rPr lang="en-US" altLang="en-US" dirty="0">
                <a:cs typeface="Times New Roman" panose="02020603050405020304" pitchFamily="18" charset="0"/>
              </a:rPr>
              <a:t> </a:t>
            </a:r>
            <a:r>
              <a:rPr lang="en-US" altLang="en-US" dirty="0" err="1">
                <a:cs typeface="Times New Roman" panose="02020603050405020304" pitchFamily="18" charset="0"/>
              </a:rPr>
              <a:t>hai</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con </a:t>
            </a:r>
            <a:r>
              <a:rPr lang="en-US" altLang="en-US" dirty="0" err="1">
                <a:cs typeface="Times New Roman" panose="02020603050405020304" pitchFamily="18" charset="0"/>
              </a:rPr>
              <a:t>LTree</a:t>
            </a:r>
            <a:r>
              <a:rPr lang="en-US" altLang="en-US" dirty="0">
                <a:cs typeface="Times New Roman" panose="02020603050405020304" pitchFamily="18" charset="0"/>
              </a:rPr>
              <a:t>, </a:t>
            </a:r>
            <a:r>
              <a:rPr lang="en-US" altLang="en-US" dirty="0" err="1">
                <a:cs typeface="Times New Roman" panose="02020603050405020304" pitchFamily="18" charset="0"/>
              </a:rPr>
              <a:t>RTree</a:t>
            </a:r>
            <a:r>
              <a:rPr lang="en-US" altLang="en-US" dirty="0">
                <a:cs typeface="Times New Roman" panose="02020603050405020304" pitchFamily="18" charset="0"/>
              </a:rPr>
              <a:t> =&gt; </a:t>
            </a:r>
            <a:r>
              <a:rPr lang="en-US" altLang="en-US" dirty="0" err="1">
                <a:cs typeface="Times New Roman" panose="02020603050405020304" pitchFamily="18" charset="0"/>
              </a:rPr>
              <a:t>cần</a:t>
            </a:r>
            <a:r>
              <a:rPr lang="en-US" altLang="en-US" dirty="0">
                <a:cs typeface="Times New Roman" panose="02020603050405020304" pitchFamily="18" charset="0"/>
              </a:rPr>
              <a:t> </a:t>
            </a:r>
            <a:r>
              <a:rPr lang="en-US" altLang="en-US" dirty="0" err="1">
                <a:cs typeface="Times New Roman" panose="02020603050405020304" pitchFamily="18" charset="0"/>
              </a:rPr>
              <a:t>thay</a:t>
            </a:r>
            <a:r>
              <a:rPr lang="en-US" altLang="en-US" dirty="0">
                <a:cs typeface="Times New Roman" panose="02020603050405020304" pitchFamily="18" charset="0"/>
              </a:rPr>
              <a:t> </a:t>
            </a:r>
            <a:r>
              <a:rPr lang="en-US" altLang="en-US" dirty="0" err="1">
                <a:cs typeface="Times New Roman" panose="02020603050405020304" pitchFamily="18" charset="0"/>
              </a:rPr>
              <a:t>khoá</a:t>
            </a:r>
            <a:r>
              <a:rPr lang="en-US" altLang="en-US" dirty="0">
                <a:cs typeface="Times New Roman" panose="02020603050405020304" pitchFamily="18" charset="0"/>
              </a:rPr>
              <a:t> </a:t>
            </a:r>
            <a:r>
              <a:rPr lang="en-US" altLang="en-US" dirty="0" err="1">
                <a:cs typeface="Times New Roman" panose="02020603050405020304" pitchFamily="18" charset="0"/>
              </a:rPr>
              <a:t>của</a:t>
            </a:r>
            <a:r>
              <a:rPr lang="en-US" altLang="en-US" dirty="0">
                <a:cs typeface="Times New Roman" panose="02020603050405020304" pitchFamily="18" charset="0"/>
              </a:rPr>
              <a:t> </a:t>
            </a:r>
            <a:r>
              <a:rPr lang="en-US" altLang="en-US" dirty="0" err="1">
                <a:cs typeface="Times New Roman" panose="02020603050405020304" pitchFamily="18" charset="0"/>
              </a:rPr>
              <a:t>đỉnh</a:t>
            </a:r>
            <a:r>
              <a:rPr lang="en-US" altLang="en-US" dirty="0">
                <a:cs typeface="Times New Roman" panose="02020603050405020304" pitchFamily="18" charset="0"/>
              </a:rPr>
              <a:t> </a:t>
            </a:r>
            <a:r>
              <a:rPr lang="en-US" altLang="en-US" dirty="0" err="1">
                <a:cs typeface="Times New Roman" panose="02020603050405020304" pitchFamily="18" charset="0"/>
              </a:rPr>
              <a:t>hai</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con </a:t>
            </a:r>
            <a:r>
              <a:rPr lang="en-US" altLang="en-US" dirty="0" err="1">
                <a:cs typeface="Times New Roman" panose="02020603050405020304" pitchFamily="18" charset="0"/>
              </a:rPr>
              <a:t>này</a:t>
            </a:r>
            <a:r>
              <a:rPr lang="en-US" altLang="en-US" dirty="0">
                <a:cs typeface="Times New Roman" panose="02020603050405020304" pitchFamily="18" charset="0"/>
              </a:rPr>
              <a:t> </a:t>
            </a:r>
            <a:r>
              <a:rPr lang="en-US" altLang="en-US" dirty="0" err="1">
                <a:cs typeface="Times New Roman" panose="02020603050405020304" pitchFamily="18" charset="0"/>
              </a:rPr>
              <a:t>bằng</a:t>
            </a:r>
            <a:r>
              <a:rPr lang="en-US" altLang="en-US" dirty="0">
                <a:cs typeface="Times New Roman" panose="02020603050405020304" pitchFamily="18" charset="0"/>
              </a:rPr>
              <a:t> </a:t>
            </a:r>
            <a:r>
              <a:rPr lang="en-US" altLang="en-US" dirty="0" err="1">
                <a:cs typeface="Times New Roman" panose="02020603050405020304" pitchFamily="18" charset="0"/>
              </a:rPr>
              <a:t>giá</a:t>
            </a:r>
            <a:r>
              <a:rPr lang="en-US" altLang="en-US" dirty="0">
                <a:cs typeface="Times New Roman" panose="02020603050405020304" pitchFamily="18" charset="0"/>
              </a:rPr>
              <a:t> </a:t>
            </a:r>
            <a:r>
              <a:rPr lang="en-US" altLang="en-US" dirty="0" err="1">
                <a:cs typeface="Times New Roman" panose="02020603050405020304" pitchFamily="18" charset="0"/>
              </a:rPr>
              <a:t>trị</a:t>
            </a:r>
            <a:r>
              <a:rPr lang="en-US" altLang="en-US" dirty="0">
                <a:cs typeface="Times New Roman" panose="02020603050405020304" pitchFamily="18" charset="0"/>
              </a:rPr>
              <a:t> Max(</a:t>
            </a:r>
            <a:r>
              <a:rPr lang="en-US" altLang="en-US" dirty="0" err="1">
                <a:cs typeface="Times New Roman" panose="02020603050405020304" pitchFamily="18" charset="0"/>
              </a:rPr>
              <a:t>LTree</a:t>
            </a:r>
            <a:r>
              <a:rPr lang="en-US" altLang="en-US" dirty="0">
                <a:cs typeface="Times New Roman" panose="02020603050405020304" pitchFamily="18" charset="0"/>
              </a:rPr>
              <a:t>) </a:t>
            </a:r>
            <a:r>
              <a:rPr lang="en-US" altLang="en-US" dirty="0" err="1">
                <a:cs typeface="Times New Roman" panose="02020603050405020304" pitchFamily="18" charset="0"/>
              </a:rPr>
              <a:t>hoặc</a:t>
            </a:r>
            <a:r>
              <a:rPr lang="en-US" altLang="en-US" dirty="0">
                <a:cs typeface="Times New Roman" panose="02020603050405020304" pitchFamily="18" charset="0"/>
              </a:rPr>
              <a:t> Min(</a:t>
            </a:r>
            <a:r>
              <a:rPr lang="en-US" altLang="en-US" dirty="0" err="1">
                <a:cs typeface="Times New Roman" panose="02020603050405020304" pitchFamily="18" charset="0"/>
              </a:rPr>
              <a:t>RTree</a:t>
            </a:r>
            <a:r>
              <a:rPr lang="en-US" altLang="en-US" dirty="0">
                <a:cs typeface="Times New Roman" panose="02020603050405020304" pitchFamily="18" charset="0"/>
              </a:rPr>
              <a:t>)</a:t>
            </a:r>
          </a:p>
          <a:p>
            <a:pPr lvl="1" eaLnBrk="1" hangingPunct="1">
              <a:lnSpc>
                <a:spcPct val="90000"/>
              </a:lnSpc>
              <a:spcBef>
                <a:spcPct val="15000"/>
              </a:spcBef>
            </a:pPr>
            <a:r>
              <a:rPr lang="en-US" altLang="en-US" dirty="0" err="1">
                <a:cs typeface="Times New Roman" panose="02020603050405020304" pitchFamily="18" charset="0"/>
              </a:rPr>
              <a:t>Lưu</a:t>
            </a:r>
            <a:r>
              <a:rPr lang="en-US" altLang="en-US" dirty="0">
                <a:cs typeface="Times New Roman" panose="02020603050405020304" pitchFamily="18" charset="0"/>
              </a:rPr>
              <a:t> ý: </a:t>
            </a:r>
          </a:p>
          <a:p>
            <a:pPr lvl="2" eaLnBrk="1" hangingPunct="1">
              <a:lnSpc>
                <a:spcPct val="90000"/>
              </a:lnSpc>
              <a:spcBef>
                <a:spcPct val="15000"/>
              </a:spcBef>
            </a:pPr>
            <a:r>
              <a:rPr lang="en-US" altLang="en-US" dirty="0" err="1">
                <a:cs typeface="Times New Roman" panose="02020603050405020304" pitchFamily="18" charset="0"/>
              </a:rPr>
              <a:t>Giá</a:t>
            </a:r>
            <a:r>
              <a:rPr lang="en-US" altLang="en-US" dirty="0">
                <a:cs typeface="Times New Roman" panose="02020603050405020304" pitchFamily="18" charset="0"/>
              </a:rPr>
              <a:t> </a:t>
            </a:r>
            <a:r>
              <a:rPr lang="en-US" altLang="en-US" dirty="0" err="1">
                <a:cs typeface="Times New Roman" panose="02020603050405020304" pitchFamily="18" charset="0"/>
              </a:rPr>
              <a:t>trị</a:t>
            </a:r>
            <a:r>
              <a:rPr lang="en-US" altLang="en-US" dirty="0">
                <a:cs typeface="Times New Roman" panose="02020603050405020304" pitchFamily="18" charset="0"/>
              </a:rPr>
              <a:t> Max(</a:t>
            </a:r>
            <a:r>
              <a:rPr lang="en-US" altLang="en-US" dirty="0" err="1">
                <a:cs typeface="Times New Roman" panose="02020603050405020304" pitchFamily="18" charset="0"/>
              </a:rPr>
              <a:t>LTree</a:t>
            </a:r>
            <a:r>
              <a:rPr lang="en-US" altLang="en-US" dirty="0">
                <a:cs typeface="Times New Roman" panose="02020603050405020304" pitchFamily="18" charset="0"/>
              </a:rPr>
              <a:t>) </a:t>
            </a:r>
            <a:r>
              <a:rPr lang="en-US" altLang="en-US" dirty="0" err="1">
                <a:cs typeface="Times New Roman" panose="02020603050405020304" pitchFamily="18" charset="0"/>
              </a:rPr>
              <a:t>cần</a:t>
            </a:r>
            <a:r>
              <a:rPr lang="en-US" altLang="en-US" dirty="0">
                <a:cs typeface="Times New Roman" panose="02020603050405020304" pitchFamily="18" charset="0"/>
              </a:rPr>
              <a:t> </a:t>
            </a:r>
            <a:r>
              <a:rPr lang="en-US" altLang="en-US" dirty="0" err="1">
                <a:cs typeface="Times New Roman" panose="02020603050405020304" pitchFamily="18" charset="0"/>
              </a:rPr>
              <a:t>tìm</a:t>
            </a:r>
            <a:r>
              <a:rPr lang="en-US" altLang="en-US" dirty="0">
                <a:cs typeface="Times New Roman" panose="02020603050405020304" pitchFamily="18" charset="0"/>
              </a:rPr>
              <a:t> ở </a:t>
            </a:r>
            <a:r>
              <a:rPr lang="en-US" altLang="en-US" dirty="0" err="1">
                <a:cs typeface="Times New Roman" panose="02020603050405020304" pitchFamily="18" charset="0"/>
              </a:rPr>
              <a:t>phần</a:t>
            </a:r>
            <a:r>
              <a:rPr lang="en-US" altLang="en-US" dirty="0">
                <a:cs typeface="Times New Roman" panose="02020603050405020304" pitchFamily="18" charset="0"/>
              </a:rPr>
              <a:t> </a:t>
            </a:r>
            <a:r>
              <a:rPr lang="en-US" altLang="en-US" dirty="0" err="1">
                <a:cs typeface="Times New Roman" panose="02020603050405020304" pitchFamily="18" charset="0"/>
              </a:rPr>
              <a:t>tử</a:t>
            </a:r>
            <a:r>
              <a:rPr lang="en-US" altLang="en-US" dirty="0">
                <a:cs typeface="Times New Roman" panose="02020603050405020304" pitchFamily="18" charset="0"/>
              </a:rPr>
              <a:t> </a:t>
            </a:r>
            <a:r>
              <a:rPr lang="en-US" altLang="en-US" dirty="0" err="1">
                <a:cs typeface="Times New Roman" panose="02020603050405020304" pitchFamily="18" charset="0"/>
              </a:rPr>
              <a:t>bên</a:t>
            </a:r>
            <a:r>
              <a:rPr lang="en-US" altLang="en-US" dirty="0">
                <a:cs typeface="Times New Roman" panose="02020603050405020304" pitchFamily="18" charset="0"/>
              </a:rPr>
              <a:t> </a:t>
            </a:r>
            <a:r>
              <a:rPr lang="en-US" altLang="en-US" dirty="0" err="1">
                <a:cs typeface="Times New Roman" panose="02020603050405020304" pitchFamily="18" charset="0"/>
              </a:rPr>
              <a:t>phải</a:t>
            </a:r>
            <a:r>
              <a:rPr lang="en-US" altLang="en-US" dirty="0">
                <a:cs typeface="Times New Roman" panose="02020603050405020304" pitchFamily="18" charset="0"/>
              </a:rPr>
              <a:t> </a:t>
            </a:r>
            <a:r>
              <a:rPr lang="en-US" altLang="en-US" dirty="0" err="1">
                <a:cs typeface="Times New Roman" panose="02020603050405020304" pitchFamily="18" charset="0"/>
              </a:rPr>
              <a:t>ngoài</a:t>
            </a:r>
            <a:r>
              <a:rPr lang="en-US" altLang="en-US" dirty="0">
                <a:cs typeface="Times New Roman" panose="02020603050405020304" pitchFamily="18" charset="0"/>
              </a:rPr>
              <a:t> </a:t>
            </a:r>
            <a:r>
              <a:rPr lang="en-US" altLang="en-US" dirty="0" err="1">
                <a:cs typeface="Times New Roman" panose="02020603050405020304" pitchFamily="18" charset="0"/>
              </a:rPr>
              <a:t>cùng</a:t>
            </a:r>
            <a:r>
              <a:rPr lang="en-US" altLang="en-US" dirty="0">
                <a:cs typeface="Times New Roman" panose="02020603050405020304" pitchFamily="18" charset="0"/>
              </a:rPr>
              <a:t> </a:t>
            </a:r>
            <a:r>
              <a:rPr lang="en-US" altLang="en-US" dirty="0" err="1">
                <a:cs typeface="Times New Roman" panose="02020603050405020304" pitchFamily="18" charset="0"/>
              </a:rPr>
              <a:t>của</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con </a:t>
            </a:r>
            <a:r>
              <a:rPr lang="en-US" altLang="en-US" dirty="0" err="1">
                <a:cs typeface="Times New Roman" panose="02020603050405020304" pitchFamily="18" charset="0"/>
              </a:rPr>
              <a:t>Ltree</a:t>
            </a:r>
            <a:r>
              <a:rPr lang="en-US" altLang="en-US" dirty="0">
                <a:cs typeface="Times New Roman" panose="02020603050405020304" pitchFamily="18" charset="0"/>
              </a:rPr>
              <a:t>:</a:t>
            </a:r>
            <a:r>
              <a:rPr lang="en-US" altLang="en-US" i="1" dirty="0">
                <a:cs typeface="Times New Roman" panose="02020603050405020304" pitchFamily="18" charset="0"/>
              </a:rPr>
              <a:t> </a:t>
            </a:r>
            <a:r>
              <a:rPr lang="en-US" altLang="en-US" i="1" dirty="0" err="1">
                <a:cs typeface="Times New Roman" panose="02020603050405020304" pitchFamily="18" charset="0"/>
              </a:rPr>
              <a:t>luôn</a:t>
            </a:r>
            <a:r>
              <a:rPr lang="en-US" altLang="en-US" i="1" dirty="0">
                <a:cs typeface="Times New Roman" panose="02020603050405020304" pitchFamily="18" charset="0"/>
              </a:rPr>
              <a:t> </a:t>
            </a:r>
            <a:r>
              <a:rPr lang="en-US" altLang="en-US" i="1" dirty="0" err="1">
                <a:cs typeface="Times New Roman" panose="02020603050405020304" pitchFamily="18" charset="0"/>
              </a:rPr>
              <a:t>đi</a:t>
            </a:r>
            <a:r>
              <a:rPr lang="en-US" altLang="en-US" i="1" dirty="0">
                <a:cs typeface="Times New Roman" panose="02020603050405020304" pitchFamily="18" charset="0"/>
              </a:rPr>
              <a:t> </a:t>
            </a:r>
            <a:r>
              <a:rPr lang="en-US" altLang="en-US" i="1" dirty="0" err="1">
                <a:cs typeface="Times New Roman" panose="02020603050405020304" pitchFamily="18" charset="0"/>
              </a:rPr>
              <a:t>theo</a:t>
            </a:r>
            <a:r>
              <a:rPr lang="en-US" altLang="en-US" i="1" dirty="0">
                <a:cs typeface="Times New Roman" panose="02020603050405020304" pitchFamily="18" charset="0"/>
              </a:rPr>
              <a:t> </a:t>
            </a:r>
            <a:r>
              <a:rPr lang="en-US" altLang="en-US" i="1" dirty="0" err="1">
                <a:cs typeface="Times New Roman" panose="02020603050405020304" pitchFamily="18" charset="0"/>
              </a:rPr>
              <a:t>bên</a:t>
            </a:r>
            <a:r>
              <a:rPr lang="en-US" altLang="en-US" i="1" dirty="0">
                <a:cs typeface="Times New Roman" panose="02020603050405020304" pitchFamily="18" charset="0"/>
              </a:rPr>
              <a:t> </a:t>
            </a:r>
            <a:r>
              <a:rPr lang="en-US" altLang="en-US" i="1" dirty="0" err="1">
                <a:cs typeface="Times New Roman" panose="02020603050405020304" pitchFamily="18" charset="0"/>
              </a:rPr>
              <a:t>phải</a:t>
            </a:r>
            <a:r>
              <a:rPr lang="en-US" altLang="en-US" i="1" dirty="0">
                <a:cs typeface="Times New Roman" panose="02020603050405020304" pitchFamily="18" charset="0"/>
              </a:rPr>
              <a:t> </a:t>
            </a:r>
            <a:r>
              <a:rPr lang="en-US" altLang="en-US" i="1" dirty="0" err="1">
                <a:cs typeface="Times New Roman" panose="02020603050405020304" pitchFamily="18" charset="0"/>
              </a:rPr>
              <a:t>của</a:t>
            </a:r>
            <a:r>
              <a:rPr lang="en-US" altLang="en-US" i="1" dirty="0">
                <a:cs typeface="Times New Roman" panose="02020603050405020304" pitchFamily="18" charset="0"/>
              </a:rPr>
              <a:t> </a:t>
            </a:r>
            <a:r>
              <a:rPr lang="en-US" altLang="en-US" i="1" dirty="0" err="1">
                <a:cs typeface="Times New Roman" panose="02020603050405020304" pitchFamily="18" charset="0"/>
              </a:rPr>
              <a:t>cây</a:t>
            </a:r>
            <a:r>
              <a:rPr lang="en-US" altLang="en-US" i="1" dirty="0">
                <a:cs typeface="Times New Roman" panose="02020603050405020304" pitchFamily="18" charset="0"/>
              </a:rPr>
              <a:t> </a:t>
            </a:r>
            <a:r>
              <a:rPr lang="en-US" altLang="en-US" i="1" dirty="0" err="1">
                <a:cs typeface="Times New Roman" panose="02020603050405020304" pitchFamily="18" charset="0"/>
              </a:rPr>
              <a:t>đến</a:t>
            </a:r>
            <a:r>
              <a:rPr lang="en-US" altLang="en-US" i="1" dirty="0">
                <a:cs typeface="Times New Roman" panose="02020603050405020304" pitchFamily="18" charset="0"/>
              </a:rPr>
              <a:t> </a:t>
            </a:r>
            <a:r>
              <a:rPr lang="en-US" altLang="en-US" i="1" dirty="0" err="1">
                <a:cs typeface="Times New Roman" panose="02020603050405020304" pitchFamily="18" charset="0"/>
              </a:rPr>
              <a:t>khi</a:t>
            </a:r>
            <a:r>
              <a:rPr lang="en-US" altLang="en-US" i="1" dirty="0">
                <a:cs typeface="Times New Roman" panose="02020603050405020304" pitchFamily="18" charset="0"/>
              </a:rPr>
              <a:t> </a:t>
            </a:r>
            <a:r>
              <a:rPr lang="en-US" altLang="en-US" i="1" dirty="0" err="1">
                <a:cs typeface="Times New Roman" panose="02020603050405020304" pitchFamily="18" charset="0"/>
              </a:rPr>
              <a:t>không</a:t>
            </a:r>
            <a:r>
              <a:rPr lang="en-US" altLang="en-US" i="1" dirty="0">
                <a:cs typeface="Times New Roman" panose="02020603050405020304" pitchFamily="18" charset="0"/>
              </a:rPr>
              <a:t> </a:t>
            </a:r>
            <a:r>
              <a:rPr lang="en-US" altLang="en-US" i="1" dirty="0" err="1">
                <a:cs typeface="Times New Roman" panose="02020603050405020304" pitchFamily="18" charset="0"/>
              </a:rPr>
              <a:t>được</a:t>
            </a:r>
            <a:r>
              <a:rPr lang="en-US" altLang="en-US" i="1" dirty="0">
                <a:cs typeface="Times New Roman" panose="02020603050405020304" pitchFamily="18" charset="0"/>
              </a:rPr>
              <a:t> </a:t>
            </a:r>
            <a:r>
              <a:rPr lang="en-US" altLang="en-US" i="1" dirty="0" err="1">
                <a:cs typeface="Times New Roman" panose="02020603050405020304" pitchFamily="18" charset="0"/>
              </a:rPr>
              <a:t>nữa</a:t>
            </a:r>
            <a:r>
              <a:rPr lang="en-US" altLang="en-US" i="1" dirty="0">
                <a:cs typeface="Times New Roman" panose="02020603050405020304" pitchFamily="18" charset="0"/>
              </a:rPr>
              <a:t>                Q-&gt;RP=NULL </a:t>
            </a:r>
            <a:r>
              <a:rPr lang="en-US" altLang="en-US" i="1" dirty="0" err="1">
                <a:cs typeface="Times New Roman" panose="02020603050405020304" pitchFamily="18" charset="0"/>
              </a:rPr>
              <a:t>thì</a:t>
            </a:r>
            <a:r>
              <a:rPr lang="en-US" altLang="en-US" i="1" dirty="0">
                <a:cs typeface="Times New Roman" panose="02020603050405020304" pitchFamily="18" charset="0"/>
              </a:rPr>
              <a:t> </a:t>
            </a:r>
            <a:r>
              <a:rPr lang="en-US" altLang="en-US" i="1" dirty="0" err="1">
                <a:cs typeface="Times New Roman" panose="02020603050405020304" pitchFamily="18" charset="0"/>
              </a:rPr>
              <a:t>đó</a:t>
            </a:r>
            <a:r>
              <a:rPr lang="en-US" altLang="en-US" i="1" dirty="0">
                <a:cs typeface="Times New Roman" panose="02020603050405020304" pitchFamily="18" charset="0"/>
              </a:rPr>
              <a:t> </a:t>
            </a:r>
            <a:r>
              <a:rPr lang="en-US" altLang="en-US" i="1" dirty="0" err="1">
                <a:cs typeface="Times New Roman" panose="02020603050405020304" pitchFamily="18" charset="0"/>
              </a:rPr>
              <a:t>là</a:t>
            </a:r>
            <a:r>
              <a:rPr lang="en-US" altLang="en-US" i="1" dirty="0">
                <a:cs typeface="Times New Roman" panose="02020603050405020304" pitchFamily="18" charset="0"/>
              </a:rPr>
              <a:t> </a:t>
            </a:r>
            <a:r>
              <a:rPr lang="en-US" altLang="en-US" i="1" dirty="0" err="1">
                <a:cs typeface="Times New Roman" panose="02020603050405020304" pitchFamily="18" charset="0"/>
              </a:rPr>
              <a:t>nút</a:t>
            </a:r>
            <a:r>
              <a:rPr lang="en-US" altLang="en-US" i="1" dirty="0">
                <a:cs typeface="Times New Roman" panose="02020603050405020304" pitchFamily="18" charset="0"/>
              </a:rPr>
              <a:t> </a:t>
            </a:r>
            <a:r>
              <a:rPr lang="en-US" altLang="en-US" i="1" dirty="0" err="1">
                <a:cs typeface="Times New Roman" panose="02020603050405020304" pitchFamily="18" charset="0"/>
              </a:rPr>
              <a:t>ngoài</a:t>
            </a:r>
            <a:r>
              <a:rPr lang="en-US" altLang="en-US" i="1" dirty="0">
                <a:cs typeface="Times New Roman" panose="02020603050405020304" pitchFamily="18" charset="0"/>
              </a:rPr>
              <a:t> </a:t>
            </a:r>
            <a:r>
              <a:rPr lang="en-US" altLang="en-US" i="1" dirty="0" err="1">
                <a:cs typeface="Times New Roman" panose="02020603050405020304" pitchFamily="18" charset="0"/>
              </a:rPr>
              <a:t>cùng</a:t>
            </a:r>
            <a:r>
              <a:rPr lang="en-US" altLang="en-US" i="1" dirty="0">
                <a:cs typeface="Times New Roman" panose="02020603050405020304" pitchFamily="18" charset="0"/>
              </a:rPr>
              <a:t> </a:t>
            </a:r>
            <a:r>
              <a:rPr lang="en-US" altLang="en-US" i="1" dirty="0" err="1">
                <a:cs typeface="Times New Roman" panose="02020603050405020304" pitchFamily="18" charset="0"/>
              </a:rPr>
              <a:t>bên</a:t>
            </a:r>
            <a:r>
              <a:rPr lang="en-US" altLang="en-US" i="1" dirty="0">
                <a:cs typeface="Times New Roman" panose="02020603050405020304" pitchFamily="18" charset="0"/>
              </a:rPr>
              <a:t> </a:t>
            </a:r>
            <a:r>
              <a:rPr lang="en-US" altLang="en-US" i="1" dirty="0" err="1">
                <a:cs typeface="Times New Roman" panose="02020603050405020304" pitchFamily="18" charset="0"/>
              </a:rPr>
              <a:t>phải</a:t>
            </a:r>
            <a:endParaRPr lang="en-US" altLang="en-US" dirty="0">
              <a:cs typeface="Times New Roman" panose="02020603050405020304" pitchFamily="18" charset="0"/>
            </a:endParaRPr>
          </a:p>
          <a:p>
            <a:pPr lvl="2" eaLnBrk="1" hangingPunct="1">
              <a:lnSpc>
                <a:spcPct val="90000"/>
              </a:lnSpc>
              <a:spcBef>
                <a:spcPct val="15000"/>
              </a:spcBef>
            </a:pPr>
            <a:r>
              <a:rPr lang="en-US" altLang="en-US" dirty="0" err="1">
                <a:cs typeface="Times New Roman" panose="02020603050405020304" pitchFamily="18" charset="0"/>
              </a:rPr>
              <a:t>Giá</a:t>
            </a:r>
            <a:r>
              <a:rPr lang="en-US" altLang="en-US" dirty="0">
                <a:cs typeface="Times New Roman" panose="02020603050405020304" pitchFamily="18" charset="0"/>
              </a:rPr>
              <a:t> </a:t>
            </a:r>
            <a:r>
              <a:rPr lang="en-US" altLang="en-US" dirty="0" err="1">
                <a:cs typeface="Times New Roman" panose="02020603050405020304" pitchFamily="18" charset="0"/>
              </a:rPr>
              <a:t>trị</a:t>
            </a:r>
            <a:r>
              <a:rPr lang="en-US" altLang="en-US" dirty="0">
                <a:cs typeface="Times New Roman" panose="02020603050405020304" pitchFamily="18" charset="0"/>
              </a:rPr>
              <a:t> Min(</a:t>
            </a:r>
            <a:r>
              <a:rPr lang="en-US" altLang="en-US" dirty="0" err="1">
                <a:cs typeface="Times New Roman" panose="02020603050405020304" pitchFamily="18" charset="0"/>
              </a:rPr>
              <a:t>RTree</a:t>
            </a:r>
            <a:r>
              <a:rPr lang="en-US" altLang="en-US" dirty="0">
                <a:cs typeface="Times New Roman" panose="02020603050405020304" pitchFamily="18" charset="0"/>
              </a:rPr>
              <a:t>) </a:t>
            </a:r>
            <a:r>
              <a:rPr lang="en-US" altLang="en-US" dirty="0" err="1">
                <a:cs typeface="Times New Roman" panose="02020603050405020304" pitchFamily="18" charset="0"/>
              </a:rPr>
              <a:t>cần</a:t>
            </a:r>
            <a:r>
              <a:rPr lang="en-US" altLang="en-US" dirty="0">
                <a:cs typeface="Times New Roman" panose="02020603050405020304" pitchFamily="18" charset="0"/>
              </a:rPr>
              <a:t> </a:t>
            </a:r>
            <a:r>
              <a:rPr lang="en-US" altLang="en-US" dirty="0" err="1">
                <a:cs typeface="Times New Roman" panose="02020603050405020304" pitchFamily="18" charset="0"/>
              </a:rPr>
              <a:t>tìm</a:t>
            </a:r>
            <a:r>
              <a:rPr lang="en-US" altLang="en-US" dirty="0">
                <a:cs typeface="Times New Roman" panose="02020603050405020304" pitchFamily="18" charset="0"/>
              </a:rPr>
              <a:t> ở </a:t>
            </a:r>
            <a:r>
              <a:rPr lang="en-US" altLang="en-US" dirty="0" err="1">
                <a:cs typeface="Times New Roman" panose="02020603050405020304" pitchFamily="18" charset="0"/>
              </a:rPr>
              <a:t>phần</a:t>
            </a:r>
            <a:r>
              <a:rPr lang="en-US" altLang="en-US" dirty="0">
                <a:cs typeface="Times New Roman" panose="02020603050405020304" pitchFamily="18" charset="0"/>
              </a:rPr>
              <a:t> </a:t>
            </a:r>
            <a:r>
              <a:rPr lang="en-US" altLang="en-US" dirty="0" err="1">
                <a:cs typeface="Times New Roman" panose="02020603050405020304" pitchFamily="18" charset="0"/>
              </a:rPr>
              <a:t>tử</a:t>
            </a:r>
            <a:r>
              <a:rPr lang="en-US" altLang="en-US" dirty="0">
                <a:cs typeface="Times New Roman" panose="02020603050405020304" pitchFamily="18" charset="0"/>
              </a:rPr>
              <a:t> </a:t>
            </a:r>
            <a:r>
              <a:rPr lang="en-US" altLang="en-US" dirty="0" err="1">
                <a:cs typeface="Times New Roman" panose="02020603050405020304" pitchFamily="18" charset="0"/>
              </a:rPr>
              <a:t>bên</a:t>
            </a:r>
            <a:r>
              <a:rPr lang="en-US" altLang="en-US" dirty="0">
                <a:cs typeface="Times New Roman" panose="02020603050405020304" pitchFamily="18" charset="0"/>
              </a:rPr>
              <a:t> </a:t>
            </a:r>
            <a:r>
              <a:rPr lang="en-US" altLang="en-US" dirty="0" err="1">
                <a:cs typeface="Times New Roman" panose="02020603050405020304" pitchFamily="18" charset="0"/>
              </a:rPr>
              <a:t>trái</a:t>
            </a:r>
            <a:r>
              <a:rPr lang="en-US" altLang="en-US" dirty="0">
                <a:cs typeface="Times New Roman" panose="02020603050405020304" pitchFamily="18" charset="0"/>
              </a:rPr>
              <a:t> </a:t>
            </a:r>
            <a:r>
              <a:rPr lang="en-US" altLang="en-US" dirty="0" err="1">
                <a:cs typeface="Times New Roman" panose="02020603050405020304" pitchFamily="18" charset="0"/>
              </a:rPr>
              <a:t>ngoài</a:t>
            </a:r>
            <a:r>
              <a:rPr lang="en-US" altLang="en-US" dirty="0">
                <a:cs typeface="Times New Roman" panose="02020603050405020304" pitchFamily="18" charset="0"/>
              </a:rPr>
              <a:t> </a:t>
            </a:r>
            <a:r>
              <a:rPr lang="en-US" altLang="en-US" dirty="0" err="1">
                <a:cs typeface="Times New Roman" panose="02020603050405020304" pitchFamily="18" charset="0"/>
              </a:rPr>
              <a:t>cùng</a:t>
            </a:r>
            <a:r>
              <a:rPr lang="en-US" altLang="en-US" dirty="0">
                <a:cs typeface="Times New Roman" panose="02020603050405020304" pitchFamily="18" charset="0"/>
              </a:rPr>
              <a:t> </a:t>
            </a:r>
            <a:r>
              <a:rPr lang="en-US" altLang="en-US" dirty="0" err="1">
                <a:cs typeface="Times New Roman" panose="02020603050405020304" pitchFamily="18" charset="0"/>
              </a:rPr>
              <a:t>của</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con </a:t>
            </a:r>
            <a:r>
              <a:rPr lang="en-US" altLang="en-US" dirty="0" err="1">
                <a:cs typeface="Times New Roman" panose="02020603050405020304" pitchFamily="18" charset="0"/>
              </a:rPr>
              <a:t>Rtree</a:t>
            </a:r>
            <a:r>
              <a:rPr lang="en-US" altLang="en-US" dirty="0">
                <a:cs typeface="Times New Roman" panose="02020603050405020304" pitchFamily="18" charset="0"/>
              </a:rPr>
              <a:t>: </a:t>
            </a:r>
            <a:r>
              <a:rPr lang="en-US" altLang="en-US" i="1" dirty="0">
                <a:cs typeface="Times New Roman" panose="02020603050405020304" pitchFamily="18" charset="0"/>
              </a:rPr>
              <a:t> </a:t>
            </a:r>
            <a:r>
              <a:rPr lang="en-US" altLang="en-US" i="1" dirty="0" err="1">
                <a:cs typeface="Times New Roman" panose="02020603050405020304" pitchFamily="18" charset="0"/>
              </a:rPr>
              <a:t>luôn</a:t>
            </a:r>
            <a:r>
              <a:rPr lang="en-US" altLang="en-US" i="1" dirty="0">
                <a:cs typeface="Times New Roman" panose="02020603050405020304" pitchFamily="18" charset="0"/>
              </a:rPr>
              <a:t> </a:t>
            </a:r>
            <a:r>
              <a:rPr lang="en-US" altLang="en-US" i="1" dirty="0" err="1">
                <a:cs typeface="Times New Roman" panose="02020603050405020304" pitchFamily="18" charset="0"/>
              </a:rPr>
              <a:t>đi</a:t>
            </a:r>
            <a:r>
              <a:rPr lang="en-US" altLang="en-US" i="1" dirty="0">
                <a:cs typeface="Times New Roman" panose="02020603050405020304" pitchFamily="18" charset="0"/>
              </a:rPr>
              <a:t> </a:t>
            </a:r>
            <a:r>
              <a:rPr lang="en-US" altLang="en-US" i="1" dirty="0" err="1">
                <a:cs typeface="Times New Roman" panose="02020603050405020304" pitchFamily="18" charset="0"/>
              </a:rPr>
              <a:t>theo</a:t>
            </a:r>
            <a:r>
              <a:rPr lang="en-US" altLang="en-US" i="1" dirty="0">
                <a:cs typeface="Times New Roman" panose="02020603050405020304" pitchFamily="18" charset="0"/>
              </a:rPr>
              <a:t> </a:t>
            </a:r>
            <a:r>
              <a:rPr lang="en-US" altLang="en-US" i="1" dirty="0" err="1">
                <a:cs typeface="Times New Roman" panose="02020603050405020304" pitchFamily="18" charset="0"/>
              </a:rPr>
              <a:t>bên</a:t>
            </a:r>
            <a:r>
              <a:rPr lang="en-US" altLang="en-US" i="1" dirty="0">
                <a:cs typeface="Times New Roman" panose="02020603050405020304" pitchFamily="18" charset="0"/>
              </a:rPr>
              <a:t> </a:t>
            </a:r>
            <a:r>
              <a:rPr lang="en-US" altLang="en-US" i="1" dirty="0" err="1">
                <a:cs typeface="Times New Roman" panose="02020603050405020304" pitchFamily="18" charset="0"/>
              </a:rPr>
              <a:t>trái</a:t>
            </a:r>
            <a:r>
              <a:rPr lang="en-US" altLang="en-US" i="1" dirty="0">
                <a:cs typeface="Times New Roman" panose="02020603050405020304" pitchFamily="18" charset="0"/>
              </a:rPr>
              <a:t> </a:t>
            </a:r>
            <a:r>
              <a:rPr lang="en-US" altLang="en-US" i="1" dirty="0" err="1">
                <a:cs typeface="Times New Roman" panose="02020603050405020304" pitchFamily="18" charset="0"/>
              </a:rPr>
              <a:t>của</a:t>
            </a:r>
            <a:r>
              <a:rPr lang="en-US" altLang="en-US" i="1" dirty="0">
                <a:cs typeface="Times New Roman" panose="02020603050405020304" pitchFamily="18" charset="0"/>
              </a:rPr>
              <a:t> </a:t>
            </a:r>
            <a:r>
              <a:rPr lang="en-US" altLang="en-US" i="1" dirty="0" err="1">
                <a:cs typeface="Times New Roman" panose="02020603050405020304" pitchFamily="18" charset="0"/>
              </a:rPr>
              <a:t>cây</a:t>
            </a:r>
            <a:r>
              <a:rPr lang="en-US" altLang="en-US" i="1" dirty="0">
                <a:cs typeface="Times New Roman" panose="02020603050405020304" pitchFamily="18" charset="0"/>
              </a:rPr>
              <a:t> </a:t>
            </a:r>
            <a:r>
              <a:rPr lang="en-US" altLang="en-US" i="1" dirty="0" err="1">
                <a:cs typeface="Times New Roman" panose="02020603050405020304" pitchFamily="18" charset="0"/>
              </a:rPr>
              <a:t>đến</a:t>
            </a:r>
            <a:r>
              <a:rPr lang="en-US" altLang="en-US" i="1" dirty="0">
                <a:cs typeface="Times New Roman" panose="02020603050405020304" pitchFamily="18" charset="0"/>
              </a:rPr>
              <a:t> </a:t>
            </a:r>
            <a:r>
              <a:rPr lang="en-US" altLang="en-US" i="1" dirty="0" err="1">
                <a:cs typeface="Times New Roman" panose="02020603050405020304" pitchFamily="18" charset="0"/>
              </a:rPr>
              <a:t>khi</a:t>
            </a:r>
            <a:r>
              <a:rPr lang="en-US" altLang="en-US" i="1" dirty="0">
                <a:cs typeface="Times New Roman" panose="02020603050405020304" pitchFamily="18" charset="0"/>
              </a:rPr>
              <a:t> </a:t>
            </a:r>
            <a:r>
              <a:rPr lang="en-US" altLang="en-US" i="1" dirty="0" err="1">
                <a:cs typeface="Times New Roman" panose="02020603050405020304" pitchFamily="18" charset="0"/>
              </a:rPr>
              <a:t>không</a:t>
            </a:r>
            <a:r>
              <a:rPr lang="en-US" altLang="en-US" i="1" dirty="0">
                <a:cs typeface="Times New Roman" panose="02020603050405020304" pitchFamily="18" charset="0"/>
              </a:rPr>
              <a:t> </a:t>
            </a:r>
            <a:r>
              <a:rPr lang="en-US" altLang="en-US" i="1" dirty="0" err="1">
                <a:cs typeface="Times New Roman" panose="02020603050405020304" pitchFamily="18" charset="0"/>
              </a:rPr>
              <a:t>được</a:t>
            </a:r>
            <a:r>
              <a:rPr lang="en-US" altLang="en-US" i="1" dirty="0">
                <a:cs typeface="Times New Roman" panose="02020603050405020304" pitchFamily="18" charset="0"/>
              </a:rPr>
              <a:t> </a:t>
            </a:r>
            <a:r>
              <a:rPr lang="en-US" altLang="en-US" i="1" dirty="0" err="1">
                <a:cs typeface="Times New Roman" panose="02020603050405020304" pitchFamily="18" charset="0"/>
              </a:rPr>
              <a:t>nữa</a:t>
            </a:r>
            <a:r>
              <a:rPr lang="en-US" altLang="en-US" i="1" dirty="0">
                <a:cs typeface="Times New Roman" panose="02020603050405020304" pitchFamily="18" charset="0"/>
              </a:rPr>
              <a:t>                Q-&gt;LP=NULL </a:t>
            </a:r>
            <a:r>
              <a:rPr lang="en-US" altLang="en-US" i="1" dirty="0" err="1">
                <a:cs typeface="Times New Roman" panose="02020603050405020304" pitchFamily="18" charset="0"/>
              </a:rPr>
              <a:t>thì</a:t>
            </a:r>
            <a:r>
              <a:rPr lang="en-US" altLang="en-US" i="1" dirty="0">
                <a:cs typeface="Times New Roman" panose="02020603050405020304" pitchFamily="18" charset="0"/>
              </a:rPr>
              <a:t> </a:t>
            </a:r>
            <a:r>
              <a:rPr lang="en-US" altLang="en-US" i="1" dirty="0" err="1">
                <a:cs typeface="Times New Roman" panose="02020603050405020304" pitchFamily="18" charset="0"/>
              </a:rPr>
              <a:t>đó</a:t>
            </a:r>
            <a:r>
              <a:rPr lang="en-US" altLang="en-US" i="1" dirty="0">
                <a:cs typeface="Times New Roman" panose="02020603050405020304" pitchFamily="18" charset="0"/>
              </a:rPr>
              <a:t> </a:t>
            </a:r>
            <a:r>
              <a:rPr lang="en-US" altLang="en-US" i="1" dirty="0" err="1">
                <a:cs typeface="Times New Roman" panose="02020603050405020304" pitchFamily="18" charset="0"/>
              </a:rPr>
              <a:t>là</a:t>
            </a:r>
            <a:r>
              <a:rPr lang="en-US" altLang="en-US" i="1" dirty="0">
                <a:cs typeface="Times New Roman" panose="02020603050405020304" pitchFamily="18" charset="0"/>
              </a:rPr>
              <a:t> </a:t>
            </a:r>
            <a:r>
              <a:rPr lang="en-US" altLang="en-US" i="1" dirty="0" err="1">
                <a:cs typeface="Times New Roman" panose="02020603050405020304" pitchFamily="18" charset="0"/>
              </a:rPr>
              <a:t>nút</a:t>
            </a:r>
            <a:r>
              <a:rPr lang="en-US" altLang="en-US" i="1" dirty="0">
                <a:cs typeface="Times New Roman" panose="02020603050405020304" pitchFamily="18" charset="0"/>
              </a:rPr>
              <a:t> </a:t>
            </a:r>
            <a:r>
              <a:rPr lang="en-US" altLang="en-US" i="1" dirty="0" err="1">
                <a:cs typeface="Times New Roman" panose="02020603050405020304" pitchFamily="18" charset="0"/>
              </a:rPr>
              <a:t>ngoài</a:t>
            </a:r>
            <a:r>
              <a:rPr lang="en-US" altLang="en-US" i="1" dirty="0">
                <a:cs typeface="Times New Roman" panose="02020603050405020304" pitchFamily="18" charset="0"/>
              </a:rPr>
              <a:t> </a:t>
            </a:r>
            <a:r>
              <a:rPr lang="en-US" altLang="en-US" i="1" dirty="0" err="1">
                <a:cs typeface="Times New Roman" panose="02020603050405020304" pitchFamily="18" charset="0"/>
              </a:rPr>
              <a:t>cùng</a:t>
            </a:r>
            <a:r>
              <a:rPr lang="en-US" altLang="en-US" i="1" dirty="0">
                <a:cs typeface="Times New Roman" panose="02020603050405020304" pitchFamily="18" charset="0"/>
              </a:rPr>
              <a:t> </a:t>
            </a:r>
            <a:r>
              <a:rPr lang="en-US" altLang="en-US" i="1" dirty="0" err="1">
                <a:cs typeface="Times New Roman" panose="02020603050405020304" pitchFamily="18" charset="0"/>
              </a:rPr>
              <a:t>bên</a:t>
            </a:r>
            <a:r>
              <a:rPr lang="en-US" altLang="en-US" i="1" dirty="0">
                <a:cs typeface="Times New Roman" panose="02020603050405020304" pitchFamily="18" charset="0"/>
              </a:rPr>
              <a:t> </a:t>
            </a:r>
            <a:r>
              <a:rPr lang="en-US" altLang="en-US" i="1" dirty="0" err="1">
                <a:cs typeface="Times New Roman" panose="02020603050405020304" pitchFamily="18" charset="0"/>
              </a:rPr>
              <a:t>trái</a:t>
            </a:r>
            <a:endParaRPr lang="en-US" altLang="en-US" i="1" dirty="0">
              <a:cs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52</a:t>
            </a:fld>
            <a:endParaRPr lang="en-US"/>
          </a:p>
        </p:txBody>
      </p:sp>
    </p:spTree>
    <p:extLst>
      <p:ext uri="{BB962C8B-B14F-4D97-AF65-F5344CB8AC3E}">
        <p14:creationId xmlns:p14="http://schemas.microsoft.com/office/powerpoint/2010/main" val="28658489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 Q, P-&gt;RP,</a:t>
            </a:r>
            <a:r>
              <a:rPr lang="en-US" baseline="0" dirty="0"/>
              <a:t> P-&gt;LP</a:t>
            </a:r>
            <a:r>
              <a:rPr lang="en-US" dirty="0"/>
              <a:t> </a:t>
            </a:r>
            <a:r>
              <a:rPr lang="en-US" dirty="0" err="1"/>
              <a:t>là</a:t>
            </a:r>
            <a:r>
              <a:rPr lang="en-US" baseline="0" dirty="0"/>
              <a:t> con </a:t>
            </a:r>
            <a:r>
              <a:rPr lang="en-US" baseline="0" dirty="0" err="1"/>
              <a:t>trỏ</a:t>
            </a:r>
            <a:r>
              <a:rPr lang="en-US" baseline="0" dirty="0"/>
              <a:t>, </a:t>
            </a:r>
            <a:r>
              <a:rPr lang="en-US" baseline="0" dirty="0" err="1"/>
              <a:t>chứa</a:t>
            </a:r>
            <a:r>
              <a:rPr lang="en-US" baseline="0" dirty="0"/>
              <a:t> đ/c ô </a:t>
            </a:r>
            <a:r>
              <a:rPr lang="en-US" baseline="0" dirty="0" err="1"/>
              <a:t>nhớ</a:t>
            </a:r>
            <a:r>
              <a:rPr lang="en-US" baseline="0" dirty="0"/>
              <a:t> </a:t>
            </a:r>
            <a:r>
              <a:rPr lang="en-US" baseline="0" dirty="0" err="1"/>
              <a:t>nó</a:t>
            </a:r>
            <a:r>
              <a:rPr lang="en-US" baseline="0" dirty="0"/>
              <a:t> </a:t>
            </a:r>
            <a:r>
              <a:rPr lang="en-US" baseline="0" dirty="0" err="1"/>
              <a:t>trỏ</a:t>
            </a:r>
            <a:r>
              <a:rPr lang="en-US" baseline="0" dirty="0"/>
              <a:t> </a:t>
            </a:r>
            <a:r>
              <a:rPr lang="en-US" baseline="0" dirty="0" err="1"/>
              <a:t>tới</a:t>
            </a:r>
            <a:r>
              <a:rPr lang="en-US" baseline="0" dirty="0"/>
              <a:t>, </a:t>
            </a:r>
            <a:r>
              <a:rPr lang="en-US" baseline="0" dirty="0" err="1"/>
              <a:t>nơi</a:t>
            </a:r>
            <a:r>
              <a:rPr lang="en-US" baseline="0" dirty="0"/>
              <a:t> </a:t>
            </a:r>
            <a:r>
              <a:rPr lang="en-US" baseline="0" dirty="0" err="1"/>
              <a:t>lưu</a:t>
            </a:r>
            <a:r>
              <a:rPr lang="en-US" baseline="0" dirty="0"/>
              <a:t> </a:t>
            </a:r>
            <a:r>
              <a:rPr lang="en-US" baseline="0" dirty="0" err="1"/>
              <a:t>phiên</a:t>
            </a:r>
            <a:r>
              <a:rPr lang="en-US" baseline="0" dirty="0"/>
              <a:t> </a:t>
            </a:r>
            <a:r>
              <a:rPr lang="en-US" baseline="0" dirty="0" err="1"/>
              <a:t>bản</a:t>
            </a:r>
            <a:r>
              <a:rPr lang="en-US" baseline="0" dirty="0"/>
              <a:t> </a:t>
            </a:r>
            <a:r>
              <a:rPr lang="en-US" baseline="0" dirty="0" err="1"/>
              <a:t>thực</a:t>
            </a:r>
            <a:r>
              <a:rPr lang="en-US" baseline="0" dirty="0"/>
              <a:t> </a:t>
            </a:r>
            <a:r>
              <a:rPr lang="en-US" baseline="0" dirty="0" err="1"/>
              <a:t>của</a:t>
            </a:r>
            <a:r>
              <a:rPr lang="en-US" baseline="0" dirty="0"/>
              <a:t> </a:t>
            </a:r>
            <a:r>
              <a:rPr lang="en-US" baseline="0" dirty="0" err="1"/>
              <a:t>nút</a:t>
            </a:r>
            <a:endParaRPr lang="en-US" baseline="0" dirty="0"/>
          </a:p>
          <a:p>
            <a:r>
              <a:rPr lang="en-US" baseline="0" dirty="0" err="1"/>
              <a:t>Cập</a:t>
            </a:r>
            <a:r>
              <a:rPr lang="en-US" baseline="0" dirty="0"/>
              <a:t> </a:t>
            </a:r>
            <a:r>
              <a:rPr lang="en-US" baseline="0" dirty="0" err="1"/>
              <a:t>nhật</a:t>
            </a:r>
            <a:r>
              <a:rPr lang="en-US" baseline="0" dirty="0"/>
              <a:t> </a:t>
            </a:r>
            <a:r>
              <a:rPr lang="en-US" baseline="0" dirty="0" err="1"/>
              <a:t>lại</a:t>
            </a:r>
            <a:r>
              <a:rPr lang="en-US" baseline="0" dirty="0"/>
              <a:t> P, Q </a:t>
            </a:r>
            <a:r>
              <a:rPr lang="en-US" baseline="0" dirty="0" err="1"/>
              <a:t>giúp</a:t>
            </a:r>
            <a:r>
              <a:rPr lang="en-US" baseline="0" dirty="0"/>
              <a:t> </a:t>
            </a:r>
            <a:r>
              <a:rPr lang="en-US" baseline="0" dirty="0" err="1"/>
              <a:t>thay</a:t>
            </a:r>
            <a:r>
              <a:rPr lang="en-US" baseline="0" dirty="0"/>
              <a:t> </a:t>
            </a:r>
            <a:r>
              <a:rPr lang="en-US" baseline="0" dirty="0" err="1"/>
              <a:t>đổi</a:t>
            </a:r>
            <a:r>
              <a:rPr lang="en-US" baseline="0" dirty="0"/>
              <a:t> </a:t>
            </a:r>
            <a:r>
              <a:rPr lang="en-US" baseline="0" dirty="0" err="1"/>
              <a:t>lại</a:t>
            </a:r>
            <a:r>
              <a:rPr lang="en-US" baseline="0" dirty="0"/>
              <a:t> </a:t>
            </a:r>
            <a:r>
              <a:rPr lang="en-US" baseline="0" dirty="0" err="1"/>
              <a:t>thứ</a:t>
            </a:r>
            <a:r>
              <a:rPr lang="en-US" baseline="0" dirty="0"/>
              <a:t> </a:t>
            </a:r>
            <a:r>
              <a:rPr lang="en-US" baseline="0" dirty="0" err="1"/>
              <a:t>tự</a:t>
            </a:r>
            <a:r>
              <a:rPr lang="en-US" baseline="0" dirty="0"/>
              <a:t> </a:t>
            </a:r>
            <a:r>
              <a:rPr lang="en-US" baseline="0" dirty="0" err="1"/>
              <a:t>các</a:t>
            </a:r>
            <a:r>
              <a:rPr lang="en-US" baseline="0" dirty="0"/>
              <a:t> </a:t>
            </a:r>
            <a:r>
              <a:rPr lang="en-US" baseline="0" dirty="0" err="1"/>
              <a:t>nút</a:t>
            </a:r>
            <a:r>
              <a:rPr lang="en-US" baseline="0" dirty="0"/>
              <a:t> </a:t>
            </a:r>
            <a:r>
              <a:rPr lang="en-US" baseline="0" dirty="0" err="1"/>
              <a:t>trong</a:t>
            </a:r>
            <a:r>
              <a:rPr lang="en-US" baseline="0" dirty="0"/>
              <a:t> </a:t>
            </a:r>
            <a:r>
              <a:rPr lang="en-US" baseline="0" dirty="0" err="1"/>
              <a:t>cây</a:t>
            </a:r>
            <a:endParaRPr lang="en-US" dirty="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53</a:t>
            </a:fld>
            <a:endParaRPr lang="en-US"/>
          </a:p>
        </p:txBody>
      </p:sp>
    </p:spTree>
    <p:extLst>
      <p:ext uri="{BB962C8B-B14F-4D97-AF65-F5344CB8AC3E}">
        <p14:creationId xmlns:p14="http://schemas.microsoft.com/office/powerpoint/2010/main" val="10561082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2" eaLnBrk="1" hangingPunct="1">
              <a:lnSpc>
                <a:spcPct val="90000"/>
              </a:lnSpc>
              <a:spcBef>
                <a:spcPct val="15000"/>
              </a:spcBef>
            </a:pPr>
            <a:r>
              <a:rPr lang="en-US" altLang="en-US" dirty="0" err="1">
                <a:cs typeface="Times New Roman" panose="02020603050405020304" pitchFamily="18" charset="0"/>
              </a:rPr>
              <a:t>Giá</a:t>
            </a:r>
            <a:r>
              <a:rPr lang="en-US" altLang="en-US" dirty="0">
                <a:cs typeface="Times New Roman" panose="02020603050405020304" pitchFamily="18" charset="0"/>
              </a:rPr>
              <a:t> </a:t>
            </a:r>
            <a:r>
              <a:rPr lang="en-US" altLang="en-US" dirty="0" err="1">
                <a:cs typeface="Times New Roman" panose="02020603050405020304" pitchFamily="18" charset="0"/>
              </a:rPr>
              <a:t>trị</a:t>
            </a:r>
            <a:r>
              <a:rPr lang="en-US" altLang="en-US" dirty="0">
                <a:cs typeface="Times New Roman" panose="02020603050405020304" pitchFamily="18" charset="0"/>
              </a:rPr>
              <a:t> Max(</a:t>
            </a:r>
            <a:r>
              <a:rPr lang="en-US" altLang="en-US" dirty="0" err="1">
                <a:cs typeface="Times New Roman" panose="02020603050405020304" pitchFamily="18" charset="0"/>
              </a:rPr>
              <a:t>LTree</a:t>
            </a:r>
            <a:r>
              <a:rPr lang="en-US" altLang="en-US" dirty="0">
                <a:cs typeface="Times New Roman" panose="02020603050405020304" pitchFamily="18" charset="0"/>
              </a:rPr>
              <a:t>) </a:t>
            </a:r>
            <a:r>
              <a:rPr lang="en-US" altLang="en-US" dirty="0" err="1">
                <a:cs typeface="Times New Roman" panose="02020603050405020304" pitchFamily="18" charset="0"/>
              </a:rPr>
              <a:t>cần</a:t>
            </a:r>
            <a:r>
              <a:rPr lang="en-US" altLang="en-US" dirty="0">
                <a:cs typeface="Times New Roman" panose="02020603050405020304" pitchFamily="18" charset="0"/>
              </a:rPr>
              <a:t> </a:t>
            </a:r>
            <a:r>
              <a:rPr lang="en-US" altLang="en-US" dirty="0" err="1">
                <a:cs typeface="Times New Roman" panose="02020603050405020304" pitchFamily="18" charset="0"/>
              </a:rPr>
              <a:t>tìm</a:t>
            </a:r>
            <a:r>
              <a:rPr lang="en-US" altLang="en-US" dirty="0">
                <a:cs typeface="Times New Roman" panose="02020603050405020304" pitchFamily="18" charset="0"/>
              </a:rPr>
              <a:t> ở </a:t>
            </a:r>
            <a:r>
              <a:rPr lang="en-US" altLang="en-US" dirty="0" err="1">
                <a:cs typeface="Times New Roman" panose="02020603050405020304" pitchFamily="18" charset="0"/>
              </a:rPr>
              <a:t>phần</a:t>
            </a:r>
            <a:r>
              <a:rPr lang="en-US" altLang="en-US" dirty="0">
                <a:cs typeface="Times New Roman" panose="02020603050405020304" pitchFamily="18" charset="0"/>
              </a:rPr>
              <a:t> </a:t>
            </a:r>
            <a:r>
              <a:rPr lang="en-US" altLang="en-US" dirty="0" err="1">
                <a:cs typeface="Times New Roman" panose="02020603050405020304" pitchFamily="18" charset="0"/>
              </a:rPr>
              <a:t>tử</a:t>
            </a:r>
            <a:r>
              <a:rPr lang="en-US" altLang="en-US" dirty="0">
                <a:cs typeface="Times New Roman" panose="02020603050405020304" pitchFamily="18" charset="0"/>
              </a:rPr>
              <a:t> </a:t>
            </a:r>
            <a:r>
              <a:rPr lang="en-US" altLang="en-US" dirty="0" err="1">
                <a:cs typeface="Times New Roman" panose="02020603050405020304" pitchFamily="18" charset="0"/>
              </a:rPr>
              <a:t>bên</a:t>
            </a:r>
            <a:r>
              <a:rPr lang="en-US" altLang="en-US" dirty="0">
                <a:cs typeface="Times New Roman" panose="02020603050405020304" pitchFamily="18" charset="0"/>
              </a:rPr>
              <a:t> </a:t>
            </a:r>
            <a:r>
              <a:rPr lang="en-US" altLang="en-US" dirty="0" err="1">
                <a:cs typeface="Times New Roman" panose="02020603050405020304" pitchFamily="18" charset="0"/>
              </a:rPr>
              <a:t>phải</a:t>
            </a:r>
            <a:r>
              <a:rPr lang="en-US" altLang="en-US" dirty="0">
                <a:cs typeface="Times New Roman" panose="02020603050405020304" pitchFamily="18" charset="0"/>
              </a:rPr>
              <a:t> </a:t>
            </a:r>
            <a:r>
              <a:rPr lang="en-US" altLang="en-US" dirty="0" err="1">
                <a:cs typeface="Times New Roman" panose="02020603050405020304" pitchFamily="18" charset="0"/>
              </a:rPr>
              <a:t>ngoài</a:t>
            </a:r>
            <a:r>
              <a:rPr lang="en-US" altLang="en-US" dirty="0">
                <a:cs typeface="Times New Roman" panose="02020603050405020304" pitchFamily="18" charset="0"/>
              </a:rPr>
              <a:t> </a:t>
            </a:r>
            <a:r>
              <a:rPr lang="en-US" altLang="en-US" dirty="0" err="1">
                <a:cs typeface="Times New Roman" panose="02020603050405020304" pitchFamily="18" charset="0"/>
              </a:rPr>
              <a:t>cùng</a:t>
            </a:r>
            <a:r>
              <a:rPr lang="en-US" altLang="en-US" dirty="0">
                <a:cs typeface="Times New Roman" panose="02020603050405020304" pitchFamily="18" charset="0"/>
              </a:rPr>
              <a:t> </a:t>
            </a:r>
            <a:r>
              <a:rPr lang="en-US" altLang="en-US" dirty="0" err="1">
                <a:cs typeface="Times New Roman" panose="02020603050405020304" pitchFamily="18" charset="0"/>
              </a:rPr>
              <a:t>của</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con </a:t>
            </a:r>
            <a:r>
              <a:rPr lang="en-US" altLang="en-US" dirty="0" err="1">
                <a:cs typeface="Times New Roman" panose="02020603050405020304" pitchFamily="18" charset="0"/>
              </a:rPr>
              <a:t>Ltree</a:t>
            </a:r>
            <a:r>
              <a:rPr lang="en-US" altLang="en-US" dirty="0">
                <a:cs typeface="Times New Roman" panose="02020603050405020304" pitchFamily="18" charset="0"/>
              </a:rPr>
              <a:t>:</a:t>
            </a:r>
            <a:r>
              <a:rPr lang="en-US" altLang="en-US" i="1" dirty="0">
                <a:cs typeface="Times New Roman" panose="02020603050405020304" pitchFamily="18" charset="0"/>
              </a:rPr>
              <a:t> </a:t>
            </a:r>
            <a:r>
              <a:rPr lang="en-US" altLang="en-US" i="1" dirty="0" err="1">
                <a:cs typeface="Times New Roman" panose="02020603050405020304" pitchFamily="18" charset="0"/>
              </a:rPr>
              <a:t>luôn</a:t>
            </a:r>
            <a:r>
              <a:rPr lang="en-US" altLang="en-US" i="1" dirty="0">
                <a:cs typeface="Times New Roman" panose="02020603050405020304" pitchFamily="18" charset="0"/>
              </a:rPr>
              <a:t> </a:t>
            </a:r>
            <a:r>
              <a:rPr lang="en-US" altLang="en-US" i="1" dirty="0" err="1">
                <a:cs typeface="Times New Roman" panose="02020603050405020304" pitchFamily="18" charset="0"/>
              </a:rPr>
              <a:t>đi</a:t>
            </a:r>
            <a:r>
              <a:rPr lang="en-US" altLang="en-US" i="1" dirty="0">
                <a:cs typeface="Times New Roman" panose="02020603050405020304" pitchFamily="18" charset="0"/>
              </a:rPr>
              <a:t> </a:t>
            </a:r>
            <a:r>
              <a:rPr lang="en-US" altLang="en-US" i="1" dirty="0" err="1">
                <a:cs typeface="Times New Roman" panose="02020603050405020304" pitchFamily="18" charset="0"/>
              </a:rPr>
              <a:t>theo</a:t>
            </a:r>
            <a:r>
              <a:rPr lang="en-US" altLang="en-US" i="1" dirty="0">
                <a:cs typeface="Times New Roman" panose="02020603050405020304" pitchFamily="18" charset="0"/>
              </a:rPr>
              <a:t> </a:t>
            </a:r>
            <a:r>
              <a:rPr lang="en-US" altLang="en-US" i="1" dirty="0" err="1">
                <a:cs typeface="Times New Roman" panose="02020603050405020304" pitchFamily="18" charset="0"/>
              </a:rPr>
              <a:t>bên</a:t>
            </a:r>
            <a:r>
              <a:rPr lang="en-US" altLang="en-US" i="1" dirty="0">
                <a:cs typeface="Times New Roman" panose="02020603050405020304" pitchFamily="18" charset="0"/>
              </a:rPr>
              <a:t> </a:t>
            </a:r>
            <a:r>
              <a:rPr lang="en-US" altLang="en-US" i="1" dirty="0" err="1">
                <a:cs typeface="Times New Roman" panose="02020603050405020304" pitchFamily="18" charset="0"/>
              </a:rPr>
              <a:t>phải</a:t>
            </a:r>
            <a:r>
              <a:rPr lang="en-US" altLang="en-US" i="1" dirty="0">
                <a:cs typeface="Times New Roman" panose="02020603050405020304" pitchFamily="18" charset="0"/>
              </a:rPr>
              <a:t> </a:t>
            </a:r>
            <a:r>
              <a:rPr lang="en-US" altLang="en-US" i="1" dirty="0" err="1">
                <a:cs typeface="Times New Roman" panose="02020603050405020304" pitchFamily="18" charset="0"/>
              </a:rPr>
              <a:t>của</a:t>
            </a:r>
            <a:r>
              <a:rPr lang="en-US" altLang="en-US" i="1" dirty="0">
                <a:cs typeface="Times New Roman" panose="02020603050405020304" pitchFamily="18" charset="0"/>
              </a:rPr>
              <a:t> </a:t>
            </a:r>
            <a:r>
              <a:rPr lang="en-US" altLang="en-US" i="1" dirty="0" err="1">
                <a:cs typeface="Times New Roman" panose="02020603050405020304" pitchFamily="18" charset="0"/>
              </a:rPr>
              <a:t>cây</a:t>
            </a:r>
            <a:r>
              <a:rPr lang="en-US" altLang="en-US" i="1" dirty="0">
                <a:cs typeface="Times New Roman" panose="02020603050405020304" pitchFamily="18" charset="0"/>
              </a:rPr>
              <a:t> </a:t>
            </a:r>
            <a:r>
              <a:rPr lang="en-US" altLang="en-US" i="1" dirty="0" err="1">
                <a:cs typeface="Times New Roman" panose="02020603050405020304" pitchFamily="18" charset="0"/>
              </a:rPr>
              <a:t>đến</a:t>
            </a:r>
            <a:r>
              <a:rPr lang="en-US" altLang="en-US" i="1" dirty="0">
                <a:cs typeface="Times New Roman" panose="02020603050405020304" pitchFamily="18" charset="0"/>
              </a:rPr>
              <a:t> </a:t>
            </a:r>
            <a:r>
              <a:rPr lang="en-US" altLang="en-US" i="1" dirty="0" err="1">
                <a:cs typeface="Times New Roman" panose="02020603050405020304" pitchFamily="18" charset="0"/>
              </a:rPr>
              <a:t>khi</a:t>
            </a:r>
            <a:r>
              <a:rPr lang="en-US" altLang="en-US" i="1" dirty="0">
                <a:cs typeface="Times New Roman" panose="02020603050405020304" pitchFamily="18" charset="0"/>
              </a:rPr>
              <a:t> </a:t>
            </a:r>
            <a:r>
              <a:rPr lang="en-US" altLang="en-US" i="1" dirty="0" err="1">
                <a:cs typeface="Times New Roman" panose="02020603050405020304" pitchFamily="18" charset="0"/>
              </a:rPr>
              <a:t>không</a:t>
            </a:r>
            <a:r>
              <a:rPr lang="en-US" altLang="en-US" i="1" dirty="0">
                <a:cs typeface="Times New Roman" panose="02020603050405020304" pitchFamily="18" charset="0"/>
              </a:rPr>
              <a:t> </a:t>
            </a:r>
            <a:r>
              <a:rPr lang="en-US" altLang="en-US" i="1" dirty="0" err="1">
                <a:cs typeface="Times New Roman" panose="02020603050405020304" pitchFamily="18" charset="0"/>
              </a:rPr>
              <a:t>được</a:t>
            </a:r>
            <a:r>
              <a:rPr lang="en-US" altLang="en-US" i="1" dirty="0">
                <a:cs typeface="Times New Roman" panose="02020603050405020304" pitchFamily="18" charset="0"/>
              </a:rPr>
              <a:t> </a:t>
            </a:r>
            <a:r>
              <a:rPr lang="en-US" altLang="en-US" i="1" dirty="0" err="1">
                <a:cs typeface="Times New Roman" panose="02020603050405020304" pitchFamily="18" charset="0"/>
              </a:rPr>
              <a:t>nữa</a:t>
            </a:r>
            <a:r>
              <a:rPr lang="en-US" altLang="en-US" i="1" dirty="0">
                <a:cs typeface="Times New Roman" panose="02020603050405020304" pitchFamily="18" charset="0"/>
              </a:rPr>
              <a:t>                Q-&gt;RP=NULL </a:t>
            </a:r>
            <a:r>
              <a:rPr lang="en-US" altLang="en-US" i="1" dirty="0" err="1">
                <a:cs typeface="Times New Roman" panose="02020603050405020304" pitchFamily="18" charset="0"/>
              </a:rPr>
              <a:t>thì</a:t>
            </a:r>
            <a:r>
              <a:rPr lang="en-US" altLang="en-US" i="1" dirty="0">
                <a:cs typeface="Times New Roman" panose="02020603050405020304" pitchFamily="18" charset="0"/>
              </a:rPr>
              <a:t> </a:t>
            </a:r>
            <a:r>
              <a:rPr lang="en-US" altLang="en-US" i="1" dirty="0" err="1">
                <a:cs typeface="Times New Roman" panose="02020603050405020304" pitchFamily="18" charset="0"/>
              </a:rPr>
              <a:t>đó</a:t>
            </a:r>
            <a:r>
              <a:rPr lang="en-US" altLang="en-US" i="1" dirty="0">
                <a:cs typeface="Times New Roman" panose="02020603050405020304" pitchFamily="18" charset="0"/>
              </a:rPr>
              <a:t> </a:t>
            </a:r>
            <a:r>
              <a:rPr lang="en-US" altLang="en-US" i="1" dirty="0" err="1">
                <a:cs typeface="Times New Roman" panose="02020603050405020304" pitchFamily="18" charset="0"/>
              </a:rPr>
              <a:t>là</a:t>
            </a:r>
            <a:r>
              <a:rPr lang="en-US" altLang="en-US" i="1" dirty="0">
                <a:cs typeface="Times New Roman" panose="02020603050405020304" pitchFamily="18" charset="0"/>
              </a:rPr>
              <a:t> </a:t>
            </a:r>
            <a:r>
              <a:rPr lang="en-US" altLang="en-US" i="1" dirty="0" err="1">
                <a:cs typeface="Times New Roman" panose="02020603050405020304" pitchFamily="18" charset="0"/>
              </a:rPr>
              <a:t>nút</a:t>
            </a:r>
            <a:r>
              <a:rPr lang="en-US" altLang="en-US" i="1" dirty="0">
                <a:cs typeface="Times New Roman" panose="02020603050405020304" pitchFamily="18" charset="0"/>
              </a:rPr>
              <a:t> </a:t>
            </a:r>
            <a:r>
              <a:rPr lang="en-US" altLang="en-US" i="1" dirty="0" err="1">
                <a:cs typeface="Times New Roman" panose="02020603050405020304" pitchFamily="18" charset="0"/>
              </a:rPr>
              <a:t>ngoài</a:t>
            </a:r>
            <a:r>
              <a:rPr lang="en-US" altLang="en-US" i="1" dirty="0">
                <a:cs typeface="Times New Roman" panose="02020603050405020304" pitchFamily="18" charset="0"/>
              </a:rPr>
              <a:t> </a:t>
            </a:r>
            <a:r>
              <a:rPr lang="en-US" altLang="en-US" i="1" dirty="0" err="1">
                <a:cs typeface="Times New Roman" panose="02020603050405020304" pitchFamily="18" charset="0"/>
              </a:rPr>
              <a:t>cùng</a:t>
            </a:r>
            <a:r>
              <a:rPr lang="en-US" altLang="en-US" i="1" dirty="0">
                <a:cs typeface="Times New Roman" panose="02020603050405020304" pitchFamily="18" charset="0"/>
              </a:rPr>
              <a:t> </a:t>
            </a:r>
            <a:r>
              <a:rPr lang="en-US" altLang="en-US" i="1" dirty="0" err="1">
                <a:cs typeface="Times New Roman" panose="02020603050405020304" pitchFamily="18" charset="0"/>
              </a:rPr>
              <a:t>bên</a:t>
            </a:r>
            <a:r>
              <a:rPr lang="en-US" altLang="en-US" i="1" dirty="0">
                <a:cs typeface="Times New Roman" panose="02020603050405020304" pitchFamily="18" charset="0"/>
              </a:rPr>
              <a:t> </a:t>
            </a:r>
            <a:r>
              <a:rPr lang="en-US" altLang="en-US" i="1" dirty="0" err="1">
                <a:cs typeface="Times New Roman" panose="02020603050405020304" pitchFamily="18" charset="0"/>
              </a:rPr>
              <a:t>phải</a:t>
            </a:r>
            <a:endParaRPr lang="en-US" altLang="en-US" dirty="0">
              <a:cs typeface="Times New Roman" panose="02020603050405020304" pitchFamily="18" charset="0"/>
            </a:endParaRPr>
          </a:p>
          <a:p>
            <a:pPr lvl="2" eaLnBrk="1" hangingPunct="1">
              <a:lnSpc>
                <a:spcPct val="90000"/>
              </a:lnSpc>
              <a:spcBef>
                <a:spcPct val="15000"/>
              </a:spcBef>
            </a:pPr>
            <a:r>
              <a:rPr lang="en-US" altLang="en-US" dirty="0" err="1">
                <a:cs typeface="Times New Roman" panose="02020603050405020304" pitchFamily="18" charset="0"/>
              </a:rPr>
              <a:t>Giá</a:t>
            </a:r>
            <a:r>
              <a:rPr lang="en-US" altLang="en-US" dirty="0">
                <a:cs typeface="Times New Roman" panose="02020603050405020304" pitchFamily="18" charset="0"/>
              </a:rPr>
              <a:t> </a:t>
            </a:r>
            <a:r>
              <a:rPr lang="en-US" altLang="en-US" dirty="0" err="1">
                <a:cs typeface="Times New Roman" panose="02020603050405020304" pitchFamily="18" charset="0"/>
              </a:rPr>
              <a:t>trị</a:t>
            </a:r>
            <a:r>
              <a:rPr lang="en-US" altLang="en-US" dirty="0">
                <a:cs typeface="Times New Roman" panose="02020603050405020304" pitchFamily="18" charset="0"/>
              </a:rPr>
              <a:t> Min(</a:t>
            </a:r>
            <a:r>
              <a:rPr lang="en-US" altLang="en-US" dirty="0" err="1">
                <a:cs typeface="Times New Roman" panose="02020603050405020304" pitchFamily="18" charset="0"/>
              </a:rPr>
              <a:t>RTree</a:t>
            </a:r>
            <a:r>
              <a:rPr lang="en-US" altLang="en-US" dirty="0">
                <a:cs typeface="Times New Roman" panose="02020603050405020304" pitchFamily="18" charset="0"/>
              </a:rPr>
              <a:t>) </a:t>
            </a:r>
            <a:r>
              <a:rPr lang="en-US" altLang="en-US" dirty="0" err="1">
                <a:cs typeface="Times New Roman" panose="02020603050405020304" pitchFamily="18" charset="0"/>
              </a:rPr>
              <a:t>cần</a:t>
            </a:r>
            <a:r>
              <a:rPr lang="en-US" altLang="en-US" dirty="0">
                <a:cs typeface="Times New Roman" panose="02020603050405020304" pitchFamily="18" charset="0"/>
              </a:rPr>
              <a:t> </a:t>
            </a:r>
            <a:r>
              <a:rPr lang="en-US" altLang="en-US" dirty="0" err="1">
                <a:cs typeface="Times New Roman" panose="02020603050405020304" pitchFamily="18" charset="0"/>
              </a:rPr>
              <a:t>tìm</a:t>
            </a:r>
            <a:r>
              <a:rPr lang="en-US" altLang="en-US" dirty="0">
                <a:cs typeface="Times New Roman" panose="02020603050405020304" pitchFamily="18" charset="0"/>
              </a:rPr>
              <a:t> ở </a:t>
            </a:r>
            <a:r>
              <a:rPr lang="en-US" altLang="en-US" dirty="0" err="1">
                <a:cs typeface="Times New Roman" panose="02020603050405020304" pitchFamily="18" charset="0"/>
              </a:rPr>
              <a:t>phần</a:t>
            </a:r>
            <a:r>
              <a:rPr lang="en-US" altLang="en-US" dirty="0">
                <a:cs typeface="Times New Roman" panose="02020603050405020304" pitchFamily="18" charset="0"/>
              </a:rPr>
              <a:t> </a:t>
            </a:r>
            <a:r>
              <a:rPr lang="en-US" altLang="en-US" dirty="0" err="1">
                <a:cs typeface="Times New Roman" panose="02020603050405020304" pitchFamily="18" charset="0"/>
              </a:rPr>
              <a:t>tử</a:t>
            </a:r>
            <a:r>
              <a:rPr lang="en-US" altLang="en-US" dirty="0">
                <a:cs typeface="Times New Roman" panose="02020603050405020304" pitchFamily="18" charset="0"/>
              </a:rPr>
              <a:t> </a:t>
            </a:r>
            <a:r>
              <a:rPr lang="en-US" altLang="en-US" dirty="0" err="1">
                <a:cs typeface="Times New Roman" panose="02020603050405020304" pitchFamily="18" charset="0"/>
              </a:rPr>
              <a:t>bên</a:t>
            </a:r>
            <a:r>
              <a:rPr lang="en-US" altLang="en-US" dirty="0">
                <a:cs typeface="Times New Roman" panose="02020603050405020304" pitchFamily="18" charset="0"/>
              </a:rPr>
              <a:t> </a:t>
            </a:r>
            <a:r>
              <a:rPr lang="en-US" altLang="en-US" dirty="0" err="1">
                <a:cs typeface="Times New Roman" panose="02020603050405020304" pitchFamily="18" charset="0"/>
              </a:rPr>
              <a:t>trái</a:t>
            </a:r>
            <a:r>
              <a:rPr lang="en-US" altLang="en-US" dirty="0">
                <a:cs typeface="Times New Roman" panose="02020603050405020304" pitchFamily="18" charset="0"/>
              </a:rPr>
              <a:t> </a:t>
            </a:r>
            <a:r>
              <a:rPr lang="en-US" altLang="en-US" dirty="0" err="1">
                <a:cs typeface="Times New Roman" panose="02020603050405020304" pitchFamily="18" charset="0"/>
              </a:rPr>
              <a:t>ngoài</a:t>
            </a:r>
            <a:r>
              <a:rPr lang="en-US" altLang="en-US" dirty="0">
                <a:cs typeface="Times New Roman" panose="02020603050405020304" pitchFamily="18" charset="0"/>
              </a:rPr>
              <a:t> </a:t>
            </a:r>
            <a:r>
              <a:rPr lang="en-US" altLang="en-US" dirty="0" err="1">
                <a:cs typeface="Times New Roman" panose="02020603050405020304" pitchFamily="18" charset="0"/>
              </a:rPr>
              <a:t>cùng</a:t>
            </a:r>
            <a:r>
              <a:rPr lang="en-US" altLang="en-US" dirty="0">
                <a:cs typeface="Times New Roman" panose="02020603050405020304" pitchFamily="18" charset="0"/>
              </a:rPr>
              <a:t> </a:t>
            </a:r>
            <a:r>
              <a:rPr lang="en-US" altLang="en-US" dirty="0" err="1">
                <a:cs typeface="Times New Roman" panose="02020603050405020304" pitchFamily="18" charset="0"/>
              </a:rPr>
              <a:t>của</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con </a:t>
            </a:r>
            <a:r>
              <a:rPr lang="en-US" altLang="en-US" dirty="0" err="1">
                <a:cs typeface="Times New Roman" panose="02020603050405020304" pitchFamily="18" charset="0"/>
              </a:rPr>
              <a:t>Rtree</a:t>
            </a:r>
            <a:r>
              <a:rPr lang="en-US" altLang="en-US" dirty="0">
                <a:cs typeface="Times New Roman" panose="02020603050405020304" pitchFamily="18" charset="0"/>
              </a:rPr>
              <a:t>: </a:t>
            </a:r>
            <a:r>
              <a:rPr lang="en-US" altLang="en-US" i="1" dirty="0">
                <a:cs typeface="Times New Roman" panose="02020603050405020304" pitchFamily="18" charset="0"/>
              </a:rPr>
              <a:t> </a:t>
            </a:r>
            <a:r>
              <a:rPr lang="en-US" altLang="en-US" i="1" dirty="0" err="1">
                <a:cs typeface="Times New Roman" panose="02020603050405020304" pitchFamily="18" charset="0"/>
              </a:rPr>
              <a:t>luôn</a:t>
            </a:r>
            <a:r>
              <a:rPr lang="en-US" altLang="en-US" i="1" dirty="0">
                <a:cs typeface="Times New Roman" panose="02020603050405020304" pitchFamily="18" charset="0"/>
              </a:rPr>
              <a:t> </a:t>
            </a:r>
            <a:r>
              <a:rPr lang="en-US" altLang="en-US" i="1" dirty="0" err="1">
                <a:cs typeface="Times New Roman" panose="02020603050405020304" pitchFamily="18" charset="0"/>
              </a:rPr>
              <a:t>đi</a:t>
            </a:r>
            <a:r>
              <a:rPr lang="en-US" altLang="en-US" i="1" dirty="0">
                <a:cs typeface="Times New Roman" panose="02020603050405020304" pitchFamily="18" charset="0"/>
              </a:rPr>
              <a:t> </a:t>
            </a:r>
            <a:r>
              <a:rPr lang="en-US" altLang="en-US" i="1" dirty="0" err="1">
                <a:cs typeface="Times New Roman" panose="02020603050405020304" pitchFamily="18" charset="0"/>
              </a:rPr>
              <a:t>theo</a:t>
            </a:r>
            <a:r>
              <a:rPr lang="en-US" altLang="en-US" i="1" dirty="0">
                <a:cs typeface="Times New Roman" panose="02020603050405020304" pitchFamily="18" charset="0"/>
              </a:rPr>
              <a:t> </a:t>
            </a:r>
            <a:r>
              <a:rPr lang="en-US" altLang="en-US" i="1" dirty="0" err="1">
                <a:cs typeface="Times New Roman" panose="02020603050405020304" pitchFamily="18" charset="0"/>
              </a:rPr>
              <a:t>bên</a:t>
            </a:r>
            <a:r>
              <a:rPr lang="en-US" altLang="en-US" i="1" dirty="0">
                <a:cs typeface="Times New Roman" panose="02020603050405020304" pitchFamily="18" charset="0"/>
              </a:rPr>
              <a:t> </a:t>
            </a:r>
            <a:r>
              <a:rPr lang="en-US" altLang="en-US" i="1" dirty="0" err="1">
                <a:cs typeface="Times New Roman" panose="02020603050405020304" pitchFamily="18" charset="0"/>
              </a:rPr>
              <a:t>trái</a:t>
            </a:r>
            <a:r>
              <a:rPr lang="en-US" altLang="en-US" i="1" dirty="0">
                <a:cs typeface="Times New Roman" panose="02020603050405020304" pitchFamily="18" charset="0"/>
              </a:rPr>
              <a:t> </a:t>
            </a:r>
            <a:r>
              <a:rPr lang="en-US" altLang="en-US" i="1" dirty="0" err="1">
                <a:cs typeface="Times New Roman" panose="02020603050405020304" pitchFamily="18" charset="0"/>
              </a:rPr>
              <a:t>của</a:t>
            </a:r>
            <a:r>
              <a:rPr lang="en-US" altLang="en-US" i="1" dirty="0">
                <a:cs typeface="Times New Roman" panose="02020603050405020304" pitchFamily="18" charset="0"/>
              </a:rPr>
              <a:t> </a:t>
            </a:r>
            <a:r>
              <a:rPr lang="en-US" altLang="en-US" i="1" dirty="0" err="1">
                <a:cs typeface="Times New Roman" panose="02020603050405020304" pitchFamily="18" charset="0"/>
              </a:rPr>
              <a:t>cây</a:t>
            </a:r>
            <a:r>
              <a:rPr lang="en-US" altLang="en-US" i="1" dirty="0">
                <a:cs typeface="Times New Roman" panose="02020603050405020304" pitchFamily="18" charset="0"/>
              </a:rPr>
              <a:t> </a:t>
            </a:r>
            <a:r>
              <a:rPr lang="en-US" altLang="en-US" i="1" dirty="0" err="1">
                <a:cs typeface="Times New Roman" panose="02020603050405020304" pitchFamily="18" charset="0"/>
              </a:rPr>
              <a:t>đến</a:t>
            </a:r>
            <a:r>
              <a:rPr lang="en-US" altLang="en-US" i="1" dirty="0">
                <a:cs typeface="Times New Roman" panose="02020603050405020304" pitchFamily="18" charset="0"/>
              </a:rPr>
              <a:t> </a:t>
            </a:r>
            <a:r>
              <a:rPr lang="en-US" altLang="en-US" i="1" dirty="0" err="1">
                <a:cs typeface="Times New Roman" panose="02020603050405020304" pitchFamily="18" charset="0"/>
              </a:rPr>
              <a:t>khi</a:t>
            </a:r>
            <a:r>
              <a:rPr lang="en-US" altLang="en-US" i="1" dirty="0">
                <a:cs typeface="Times New Roman" panose="02020603050405020304" pitchFamily="18" charset="0"/>
              </a:rPr>
              <a:t> </a:t>
            </a:r>
            <a:r>
              <a:rPr lang="en-US" altLang="en-US" i="1" dirty="0" err="1">
                <a:cs typeface="Times New Roman" panose="02020603050405020304" pitchFamily="18" charset="0"/>
              </a:rPr>
              <a:t>không</a:t>
            </a:r>
            <a:r>
              <a:rPr lang="en-US" altLang="en-US" i="1" dirty="0">
                <a:cs typeface="Times New Roman" panose="02020603050405020304" pitchFamily="18" charset="0"/>
              </a:rPr>
              <a:t> </a:t>
            </a:r>
            <a:r>
              <a:rPr lang="en-US" altLang="en-US" i="1" dirty="0" err="1">
                <a:cs typeface="Times New Roman" panose="02020603050405020304" pitchFamily="18" charset="0"/>
              </a:rPr>
              <a:t>được</a:t>
            </a:r>
            <a:r>
              <a:rPr lang="en-US" altLang="en-US" i="1" dirty="0">
                <a:cs typeface="Times New Roman" panose="02020603050405020304" pitchFamily="18" charset="0"/>
              </a:rPr>
              <a:t> </a:t>
            </a:r>
            <a:r>
              <a:rPr lang="en-US" altLang="en-US" i="1" dirty="0" err="1">
                <a:cs typeface="Times New Roman" panose="02020603050405020304" pitchFamily="18" charset="0"/>
              </a:rPr>
              <a:t>nữa</a:t>
            </a:r>
            <a:r>
              <a:rPr lang="en-US" altLang="en-US" i="1" dirty="0">
                <a:cs typeface="Times New Roman" panose="02020603050405020304" pitchFamily="18" charset="0"/>
              </a:rPr>
              <a:t>                Q-&gt;LP=NULL </a:t>
            </a:r>
            <a:r>
              <a:rPr lang="en-US" altLang="en-US" i="1" dirty="0" err="1">
                <a:cs typeface="Times New Roman" panose="02020603050405020304" pitchFamily="18" charset="0"/>
              </a:rPr>
              <a:t>thì</a:t>
            </a:r>
            <a:r>
              <a:rPr lang="en-US" altLang="en-US" i="1" dirty="0">
                <a:cs typeface="Times New Roman" panose="02020603050405020304" pitchFamily="18" charset="0"/>
              </a:rPr>
              <a:t> </a:t>
            </a:r>
            <a:r>
              <a:rPr lang="en-US" altLang="en-US" i="1" dirty="0" err="1">
                <a:cs typeface="Times New Roman" panose="02020603050405020304" pitchFamily="18" charset="0"/>
              </a:rPr>
              <a:t>đó</a:t>
            </a:r>
            <a:r>
              <a:rPr lang="en-US" altLang="en-US" i="1" dirty="0">
                <a:cs typeface="Times New Roman" panose="02020603050405020304" pitchFamily="18" charset="0"/>
              </a:rPr>
              <a:t> </a:t>
            </a:r>
            <a:r>
              <a:rPr lang="en-US" altLang="en-US" i="1" dirty="0" err="1">
                <a:cs typeface="Times New Roman" panose="02020603050405020304" pitchFamily="18" charset="0"/>
              </a:rPr>
              <a:t>là</a:t>
            </a:r>
            <a:r>
              <a:rPr lang="en-US" altLang="en-US" i="1" dirty="0">
                <a:cs typeface="Times New Roman" panose="02020603050405020304" pitchFamily="18" charset="0"/>
              </a:rPr>
              <a:t> </a:t>
            </a:r>
            <a:r>
              <a:rPr lang="en-US" altLang="en-US" i="1" dirty="0" err="1">
                <a:cs typeface="Times New Roman" panose="02020603050405020304" pitchFamily="18" charset="0"/>
              </a:rPr>
              <a:t>nút</a:t>
            </a:r>
            <a:r>
              <a:rPr lang="en-US" altLang="en-US" i="1" dirty="0">
                <a:cs typeface="Times New Roman" panose="02020603050405020304" pitchFamily="18" charset="0"/>
              </a:rPr>
              <a:t> </a:t>
            </a:r>
            <a:r>
              <a:rPr lang="en-US" altLang="en-US" i="1" dirty="0" err="1">
                <a:cs typeface="Times New Roman" panose="02020603050405020304" pitchFamily="18" charset="0"/>
              </a:rPr>
              <a:t>ngoài</a:t>
            </a:r>
            <a:r>
              <a:rPr lang="en-US" altLang="en-US" i="1" dirty="0">
                <a:cs typeface="Times New Roman" panose="02020603050405020304" pitchFamily="18" charset="0"/>
              </a:rPr>
              <a:t> </a:t>
            </a:r>
            <a:r>
              <a:rPr lang="en-US" altLang="en-US" i="1" dirty="0" err="1">
                <a:cs typeface="Times New Roman" panose="02020603050405020304" pitchFamily="18" charset="0"/>
              </a:rPr>
              <a:t>cùng</a:t>
            </a:r>
            <a:r>
              <a:rPr lang="en-US" altLang="en-US" i="1" dirty="0">
                <a:cs typeface="Times New Roman" panose="02020603050405020304" pitchFamily="18" charset="0"/>
              </a:rPr>
              <a:t> </a:t>
            </a:r>
            <a:r>
              <a:rPr lang="en-US" altLang="en-US" i="1" dirty="0" err="1">
                <a:cs typeface="Times New Roman" panose="02020603050405020304" pitchFamily="18" charset="0"/>
              </a:rPr>
              <a:t>bên</a:t>
            </a:r>
            <a:r>
              <a:rPr lang="en-US" altLang="en-US" i="1" dirty="0">
                <a:cs typeface="Times New Roman" panose="02020603050405020304" pitchFamily="18" charset="0"/>
              </a:rPr>
              <a:t> </a:t>
            </a:r>
            <a:r>
              <a:rPr lang="en-US" altLang="en-US" i="1" dirty="0" err="1">
                <a:cs typeface="Times New Roman" panose="02020603050405020304" pitchFamily="18" charset="0"/>
              </a:rPr>
              <a:t>trái</a:t>
            </a:r>
            <a:endParaRPr lang="en-US" altLang="en-US" i="1" dirty="0">
              <a:cs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54</a:t>
            </a:fld>
            <a:endParaRPr lang="en-US"/>
          </a:p>
        </p:txBody>
      </p:sp>
    </p:spTree>
    <p:extLst>
      <p:ext uri="{BB962C8B-B14F-4D97-AF65-F5344CB8AC3E}">
        <p14:creationId xmlns:p14="http://schemas.microsoft.com/office/powerpoint/2010/main" val="3261784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cs typeface="Times New Roman" panose="02020603050405020304" pitchFamily="18" charset="0"/>
              </a:rPr>
              <a:t> (VD: </a:t>
            </a:r>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gia</a:t>
            </a:r>
            <a:r>
              <a:rPr lang="en-US" altLang="en-US" dirty="0">
                <a:cs typeface="Times New Roman" panose="02020603050405020304" pitchFamily="18" charset="0"/>
              </a:rPr>
              <a:t> </a:t>
            </a:r>
            <a:r>
              <a:rPr lang="en-US" altLang="en-US" dirty="0" err="1">
                <a:cs typeface="Times New Roman" panose="02020603050405020304" pitchFamily="18" charset="0"/>
              </a:rPr>
              <a:t>phả</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thư</a:t>
            </a:r>
            <a:r>
              <a:rPr lang="en-US" altLang="en-US" dirty="0">
                <a:cs typeface="Times New Roman" panose="02020603050405020304" pitchFamily="18" charset="0"/>
              </a:rPr>
              <a:t> </a:t>
            </a:r>
            <a:r>
              <a:rPr lang="en-US" altLang="en-US" dirty="0" err="1">
                <a:cs typeface="Times New Roman" panose="02020603050405020304" pitchFamily="18" charset="0"/>
              </a:rPr>
              <a:t>mục</a:t>
            </a:r>
            <a:r>
              <a:rPr lang="en-US" altLang="en-US" dirty="0">
                <a:cs typeface="Times New Roman" panose="02020603050405020304" pitchFamily="18" charset="0"/>
              </a:rPr>
              <a:t>). </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56</a:t>
            </a:fld>
            <a:endParaRPr lang="en-US"/>
          </a:p>
        </p:txBody>
      </p:sp>
    </p:spTree>
    <p:extLst>
      <p:ext uri="{BB962C8B-B14F-4D97-AF65-F5344CB8AC3E}">
        <p14:creationId xmlns:p14="http://schemas.microsoft.com/office/powerpoint/2010/main" val="17761232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63</a:t>
            </a:fld>
            <a:endParaRPr lang="en-US"/>
          </a:p>
        </p:txBody>
      </p:sp>
    </p:spTree>
    <p:extLst>
      <p:ext uri="{BB962C8B-B14F-4D97-AF65-F5344CB8AC3E}">
        <p14:creationId xmlns:p14="http://schemas.microsoft.com/office/powerpoint/2010/main" val="32230350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64</a:t>
            </a:fld>
            <a:endParaRPr lang="en-US"/>
          </a:p>
        </p:txBody>
      </p:sp>
    </p:spTree>
    <p:extLst>
      <p:ext uri="{BB962C8B-B14F-4D97-AF65-F5344CB8AC3E}">
        <p14:creationId xmlns:p14="http://schemas.microsoft.com/office/powerpoint/2010/main" val="26612929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operator precedence:</a:t>
            </a:r>
            <a:r>
              <a:rPr lang="en-US" sz="1200" b="0" i="0" kern="1200" baseline="0" dirty="0">
                <a:solidFill>
                  <a:schemeClr val="tx1"/>
                </a:solidFill>
                <a:effectLst/>
                <a:latin typeface="+mn-lt"/>
                <a:ea typeface="+mn-ea"/>
                <a:cs typeface="+mn-cs"/>
              </a:rPr>
              <a:t> c</a:t>
            </a:r>
            <a:r>
              <a:rPr lang="en-US" sz="1200" b="0" i="0" kern="1200" dirty="0">
                <a:solidFill>
                  <a:schemeClr val="tx1"/>
                </a:solidFill>
                <a:effectLst/>
                <a:latin typeface="+mn-lt"/>
                <a:ea typeface="+mn-ea"/>
                <a:cs typeface="+mn-cs"/>
              </a:rPr>
              <a:t>omputers need to know exactly what operators to perform and in what order. =&gt; need</a:t>
            </a:r>
            <a:r>
              <a:rPr lang="en-US" sz="1200" b="0" i="0" kern="1200" baseline="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fully parenthesized</a:t>
            </a:r>
            <a:r>
              <a:rPr lang="en-US" sz="1200" b="0" i="0" kern="1200" dirty="0">
                <a:solidFill>
                  <a:schemeClr val="tx1"/>
                </a:solidFill>
                <a:effectLst/>
                <a:latin typeface="+mn-lt"/>
                <a:ea typeface="+mn-ea"/>
                <a:cs typeface="+mn-cs"/>
              </a:rPr>
              <a:t> expression =&gt; long, a lot of</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parathesis</a:t>
            </a:r>
            <a:endParaRPr lang="en-US" sz="1200" b="0" i="0" kern="1200" baseline="0" dirty="0">
              <a:solidFill>
                <a:schemeClr val="tx1"/>
              </a:solidFill>
              <a:effectLst/>
              <a:latin typeface="+mn-lt"/>
              <a:ea typeface="+mn-ea"/>
              <a:cs typeface="+mn-cs"/>
            </a:endParaRPr>
          </a:p>
          <a:p>
            <a:r>
              <a:rPr lang="en-US" sz="1200" b="0" i="0" kern="1200" baseline="0" dirty="0">
                <a:solidFill>
                  <a:schemeClr val="tx1"/>
                </a:solidFill>
                <a:effectLst/>
                <a:latin typeface="+mn-lt"/>
                <a:ea typeface="+mn-ea"/>
                <a:cs typeface="+mn-cs"/>
              </a:rPr>
              <a:t>SD </a:t>
            </a:r>
            <a:r>
              <a:rPr lang="en-US" sz="1200" b="0" i="0" kern="1200" baseline="0" dirty="0" err="1">
                <a:solidFill>
                  <a:schemeClr val="tx1"/>
                </a:solidFill>
                <a:effectLst/>
                <a:latin typeface="+mn-lt"/>
                <a:ea typeface="+mn-ea"/>
                <a:cs typeface="+mn-cs"/>
              </a:rPr>
              <a:t>biểu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thức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tiền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tố</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trung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tố</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hậu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tố</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vẫn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đảm</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bảo</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được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thứ</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tự</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phép</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toán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và</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ko</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cần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sử</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dụng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các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ký</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hiệu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đóng</a:t>
            </a:r>
            <a:r>
              <a:rPr lang="en-US" sz="1200" b="0" i="0" kern="1200" baseline="0" dirty="0">
                <a:solidFill>
                  <a:schemeClr val="tx1"/>
                </a:solidFill>
                <a:effectLst/>
                <a:latin typeface="+mn-lt"/>
                <a:ea typeface="+mn-ea"/>
                <a:cs typeface="+mn-cs"/>
              </a:rPr>
              <a:t>/</a:t>
            </a:r>
            <a:r>
              <a:rPr lang="en-US" sz="1200" b="0" i="0" kern="1200" baseline="0" dirty="0" err="1">
                <a:solidFill>
                  <a:schemeClr val="tx1"/>
                </a:solidFill>
                <a:effectLst/>
                <a:latin typeface="+mn-lt"/>
                <a:ea typeface="+mn-ea"/>
                <a:cs typeface="+mn-cs"/>
              </a:rPr>
              <a:t>mở</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ngoặc</a:t>
            </a:r>
            <a:endParaRPr lang="en-US" sz="1200" b="0" i="0" kern="1200" baseline="0" dirty="0">
              <a:solidFill>
                <a:schemeClr val="tx1"/>
              </a:solidFill>
              <a:effectLst/>
              <a:latin typeface="+mn-lt"/>
              <a:ea typeface="+mn-ea"/>
              <a:cs typeface="+mn-cs"/>
            </a:endParaRPr>
          </a:p>
          <a:p>
            <a:endParaRPr lang="en-US" sz="1200" b="0" i="0" kern="1200" baseline="0" dirty="0">
              <a:solidFill>
                <a:schemeClr val="tx1"/>
              </a:solidFill>
              <a:effectLst/>
              <a:latin typeface="+mn-lt"/>
              <a:ea typeface="+mn-ea"/>
              <a:cs typeface="+mn-cs"/>
            </a:endParaRPr>
          </a:p>
          <a:p>
            <a:r>
              <a:rPr lang="en-US" dirty="0"/>
              <a:t>Polish notation : </a:t>
            </a:r>
            <a:r>
              <a:rPr lang="en-US" dirty="0" err="1"/>
              <a:t>ký</a:t>
            </a:r>
            <a:r>
              <a:rPr lang="en-US" baseline="0" dirty="0"/>
              <a:t> </a:t>
            </a:r>
            <a:r>
              <a:rPr lang="en-US" baseline="0" dirty="0" err="1"/>
              <a:t>pháp</a:t>
            </a:r>
            <a:r>
              <a:rPr lang="en-US" baseline="0" dirty="0"/>
              <a:t> </a:t>
            </a:r>
            <a:r>
              <a:rPr lang="en-US" baseline="0" dirty="0" err="1"/>
              <a:t>ba</a:t>
            </a:r>
            <a:r>
              <a:rPr lang="en-US" baseline="0" dirty="0"/>
              <a:t> </a:t>
            </a:r>
            <a:r>
              <a:rPr lang="en-US" baseline="0" dirty="0" err="1"/>
              <a:t>lan</a:t>
            </a:r>
            <a:r>
              <a:rPr lang="en-US" baseline="0" dirty="0"/>
              <a:t> </a:t>
            </a:r>
            <a:r>
              <a:rPr lang="en-US" baseline="0" dirty="0" err="1"/>
              <a:t>cho</a:t>
            </a:r>
            <a:r>
              <a:rPr lang="en-US" baseline="0" dirty="0"/>
              <a:t> </a:t>
            </a:r>
            <a:r>
              <a:rPr lang="en-US" baseline="0" dirty="0" err="1"/>
              <a:t>biểu</a:t>
            </a:r>
            <a:r>
              <a:rPr lang="en-US" baseline="0" dirty="0"/>
              <a:t> </a:t>
            </a:r>
            <a:r>
              <a:rPr lang="en-US" baseline="0" dirty="0" err="1"/>
              <a:t>thức</a:t>
            </a:r>
            <a:r>
              <a:rPr lang="en-US" baseline="0" dirty="0"/>
              <a:t>: Polish notation is a special notation for</a:t>
            </a:r>
          </a:p>
          <a:p>
            <a:r>
              <a:rPr lang="en-US" baseline="0" dirty="0"/>
              <a:t>propositional logic that eliminates all</a:t>
            </a:r>
          </a:p>
          <a:p>
            <a:r>
              <a:rPr lang="en-US" baseline="0" dirty="0"/>
              <a:t>parentheses from formulas</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69</a:t>
            </a:fld>
            <a:endParaRPr lang="en-US"/>
          </a:p>
        </p:txBody>
      </p:sp>
    </p:spTree>
    <p:extLst>
      <p:ext uri="{BB962C8B-B14F-4D97-AF65-F5344CB8AC3E}">
        <p14:creationId xmlns:p14="http://schemas.microsoft.com/office/powerpoint/2010/main" val="29434592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72</a:t>
            </a:fld>
            <a:endParaRPr lang="en-US"/>
          </a:p>
        </p:txBody>
      </p:sp>
    </p:spTree>
    <p:extLst>
      <p:ext uri="{BB962C8B-B14F-4D97-AF65-F5344CB8AC3E}">
        <p14:creationId xmlns:p14="http://schemas.microsoft.com/office/powerpoint/2010/main" val="31402313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trees are a popular machine learning algorithm that can be used for both regression and classification tasks. They are easy to understand, interpret, and implement, making them an ideal choice for beginners in the field of machine learning. A supervised learning technique we use for regression and classification.</a:t>
            </a:r>
          </a:p>
          <a:p>
            <a:endParaRPr lang="en-US" dirty="0"/>
          </a:p>
          <a:p>
            <a:r>
              <a:rPr lang="en-US" b="1" dirty="0"/>
              <a:t>Decision Tree algorithm works in simpler steps</a:t>
            </a:r>
            <a:endParaRPr lang="en-US" dirty="0"/>
          </a:p>
          <a:p>
            <a:r>
              <a:rPr lang="en-US" b="1" dirty="0"/>
              <a:t>Starting at the Root</a:t>
            </a:r>
            <a:r>
              <a:rPr lang="en-US" dirty="0"/>
              <a:t>: The algorithm begins at the top, called the “root node,” representing the entire dataset.</a:t>
            </a:r>
          </a:p>
          <a:p>
            <a:r>
              <a:rPr lang="en-US" b="1" dirty="0"/>
              <a:t>Asking the Best Questions:</a:t>
            </a:r>
            <a:r>
              <a:rPr lang="en-US" dirty="0"/>
              <a:t> It looks for the most important feature or question that splits the data into the most distinct groups. This is like asking a question at a fork in the tree.</a:t>
            </a:r>
          </a:p>
          <a:p>
            <a:r>
              <a:rPr lang="en-US" b="1" dirty="0"/>
              <a:t>Branching Out</a:t>
            </a:r>
            <a:r>
              <a:rPr lang="en-US" dirty="0"/>
              <a:t>: Based on the answer to that question, it divides the data into smaller subsets, creating new branches. Each branch represents a possible route through the tree.</a:t>
            </a:r>
          </a:p>
          <a:p>
            <a:r>
              <a:rPr lang="en-US" b="1" dirty="0"/>
              <a:t>Repeating the Process</a:t>
            </a:r>
            <a:r>
              <a:rPr lang="en-US" dirty="0"/>
              <a:t>: The algorithm continues asking questions and splitting the data at each branch until it reaches the final “leaf nodes,” representing the predicted outcomes or classifications.</a:t>
            </a:r>
          </a:p>
          <a:p>
            <a:endParaRPr lang="en-US" dirty="0"/>
          </a:p>
          <a:p>
            <a:pPr marL="0" marR="0" indent="0" algn="l" defTabSz="914400" rtl="0" eaLnBrk="1" fontAlgn="base" latinLnBrk="0" hangingPunct="1">
              <a:lnSpc>
                <a:spcPct val="100000"/>
              </a:lnSpc>
              <a:spcBef>
                <a:spcPct val="30000"/>
              </a:spcBef>
              <a:spcAft>
                <a:spcPct val="0"/>
              </a:spcAft>
              <a:buClrTx/>
              <a:buSzTx/>
              <a:buFontTx/>
              <a:buNone/>
              <a:tabLst/>
              <a:defRPr/>
            </a:pPr>
            <a:r>
              <a:rPr lang="en-US" b="1" dirty="0"/>
              <a:t>When to Stop Splitting? </a:t>
            </a:r>
            <a:r>
              <a:rPr lang="en-US" b="0" i="1" dirty="0" err="1"/>
              <a:t>max_depth</a:t>
            </a:r>
            <a:r>
              <a:rPr lang="en-US" b="0" dirty="0"/>
              <a:t>, </a:t>
            </a:r>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73</a:t>
            </a:fld>
            <a:endParaRPr lang="en-US"/>
          </a:p>
        </p:txBody>
      </p:sp>
    </p:spTree>
    <p:extLst>
      <p:ext uri="{BB962C8B-B14F-4D97-AF65-F5344CB8AC3E}">
        <p14:creationId xmlns:p14="http://schemas.microsoft.com/office/powerpoint/2010/main" val="12073479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 to get P =&gt; A, G, K, L P. O(n)</a:t>
            </a:r>
          </a:p>
          <a:p>
            <a:r>
              <a:rPr lang="en-US" dirty="0"/>
              <a:t>after</a:t>
            </a:r>
            <a:r>
              <a:rPr lang="en-US" baseline="0" dirty="0"/>
              <a:t> balancing:=&gt; G, L, P. O(</a:t>
            </a:r>
            <a:r>
              <a:rPr lang="en-US" baseline="0" dirty="0" err="1"/>
              <a:t>logn</a:t>
            </a:r>
            <a:r>
              <a:rPr lang="en-US" baseline="0" dirty="0"/>
              <a:t>)</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74</a:t>
            </a:fld>
            <a:endParaRPr lang="en-US"/>
          </a:p>
        </p:txBody>
      </p:sp>
    </p:spTree>
    <p:extLst>
      <p:ext uri="{BB962C8B-B14F-4D97-AF65-F5344CB8AC3E}">
        <p14:creationId xmlns:p14="http://schemas.microsoft.com/office/powerpoint/2010/main" val="18190918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eaLnBrk="1" hangingPunct="1">
              <a:lnSpc>
                <a:spcPct val="90000"/>
              </a:lnSpc>
            </a:pPr>
            <a:r>
              <a:rPr lang="en-US" altLang="en-US" sz="2400" dirty="0" err="1">
                <a:cs typeface="Times New Roman" panose="02020603050405020304" pitchFamily="18" charset="0"/>
              </a:rPr>
              <a:t>Độ</a:t>
            </a:r>
            <a:r>
              <a:rPr lang="en-US" altLang="en-US" sz="2400" dirty="0">
                <a:cs typeface="Times New Roman" panose="02020603050405020304" pitchFamily="18" charset="0"/>
              </a:rPr>
              <a:t> </a:t>
            </a:r>
            <a:r>
              <a:rPr lang="en-US" altLang="en-US" sz="2400" dirty="0" err="1">
                <a:cs typeface="Times New Roman" panose="02020603050405020304" pitchFamily="18" charset="0"/>
              </a:rPr>
              <a:t>sâu</a:t>
            </a:r>
            <a:r>
              <a:rPr lang="en-US" altLang="en-US" sz="2400" dirty="0">
                <a:cs typeface="Times New Roman" panose="02020603050405020304" pitchFamily="18" charset="0"/>
              </a:rPr>
              <a:t> </a:t>
            </a:r>
            <a:r>
              <a:rPr lang="en-US" altLang="en-US" sz="2400" dirty="0" err="1">
                <a:cs typeface="Times New Roman" panose="02020603050405020304" pitchFamily="18" charset="0"/>
              </a:rPr>
              <a:t>của</a:t>
            </a:r>
            <a:r>
              <a:rPr lang="en-US" altLang="en-US" sz="2400" dirty="0">
                <a:cs typeface="Times New Roman" panose="02020603050405020304" pitchFamily="18" charset="0"/>
              </a:rPr>
              <a:t> </a:t>
            </a:r>
            <a:r>
              <a:rPr lang="en-US" altLang="en-US" sz="2400" dirty="0" err="1">
                <a:cs typeface="Times New Roman" panose="02020603050405020304" pitchFamily="18" charset="0"/>
              </a:rPr>
              <a:t>một</a:t>
            </a:r>
            <a:r>
              <a:rPr lang="en-US" altLang="en-US" sz="2400" dirty="0">
                <a:cs typeface="Times New Roman" panose="02020603050405020304" pitchFamily="18" charset="0"/>
              </a:rPr>
              <a:t> </a:t>
            </a:r>
            <a:r>
              <a:rPr lang="en-US" altLang="en-US" sz="2400" dirty="0" err="1">
                <a:cs typeface="Times New Roman" panose="02020603050405020304" pitchFamily="18" charset="0"/>
              </a:rPr>
              <a:t>nút</a:t>
            </a:r>
            <a:r>
              <a:rPr lang="en-US" altLang="en-US" sz="2400" dirty="0">
                <a:cs typeface="Times New Roman" panose="02020603050405020304" pitchFamily="18" charset="0"/>
              </a:rPr>
              <a:t> (depth)</a:t>
            </a:r>
          </a:p>
          <a:p>
            <a:pPr lvl="2">
              <a:lnSpc>
                <a:spcPct val="90000"/>
              </a:lnSpc>
            </a:pPr>
            <a:r>
              <a:rPr lang="en-US" sz="2000" dirty="0" err="1"/>
              <a:t>khoảng</a:t>
            </a:r>
            <a:r>
              <a:rPr lang="en-US" sz="2000" dirty="0"/>
              <a:t> </a:t>
            </a:r>
            <a:r>
              <a:rPr lang="en-US" sz="2000" dirty="0" err="1"/>
              <a:t>cách</a:t>
            </a:r>
            <a:r>
              <a:rPr lang="en-US" sz="2000" dirty="0"/>
              <a:t> </a:t>
            </a:r>
            <a:r>
              <a:rPr lang="en-US" sz="2000" dirty="0" err="1"/>
              <a:t>giữa</a:t>
            </a:r>
            <a:r>
              <a:rPr lang="en-US" sz="2000" dirty="0"/>
              <a:t> </a:t>
            </a:r>
            <a:r>
              <a:rPr lang="en-US" sz="2000" dirty="0" err="1"/>
              <a:t>nút</a:t>
            </a:r>
            <a:r>
              <a:rPr lang="en-US" sz="2000" dirty="0"/>
              <a:t> </a:t>
            </a:r>
            <a:r>
              <a:rPr lang="en-US" sz="2000" dirty="0" err="1"/>
              <a:t>và</a:t>
            </a:r>
            <a:r>
              <a:rPr lang="en-US" sz="2000" dirty="0"/>
              <a:t> </a:t>
            </a:r>
            <a:r>
              <a:rPr lang="en-US" sz="2000" dirty="0" err="1"/>
              <a:t>gốc</a:t>
            </a:r>
            <a:r>
              <a:rPr lang="en-US" sz="2000" dirty="0"/>
              <a:t> </a:t>
            </a:r>
            <a:r>
              <a:rPr lang="en-US" sz="2000" dirty="0" err="1"/>
              <a:t>của</a:t>
            </a:r>
            <a:r>
              <a:rPr lang="en-US" sz="2000" dirty="0"/>
              <a:t> </a:t>
            </a:r>
            <a:r>
              <a:rPr lang="en-US" sz="2000" dirty="0" err="1"/>
              <a:t>nó</a:t>
            </a:r>
            <a:r>
              <a:rPr lang="en-US" sz="2000" dirty="0"/>
              <a:t>. </a:t>
            </a:r>
            <a:r>
              <a:rPr lang="en-US" sz="2000" dirty="0" err="1"/>
              <a:t>Độ</a:t>
            </a:r>
            <a:r>
              <a:rPr lang="en-US" sz="2000" dirty="0"/>
              <a:t> </a:t>
            </a:r>
            <a:r>
              <a:rPr lang="en-US" sz="2000" dirty="0" err="1"/>
              <a:t>sâu</a:t>
            </a:r>
            <a:r>
              <a:rPr lang="en-US" sz="2000" dirty="0"/>
              <a:t> </a:t>
            </a:r>
            <a:r>
              <a:rPr lang="en-US" sz="2000" dirty="0" err="1"/>
              <a:t>nút</a:t>
            </a:r>
            <a:r>
              <a:rPr lang="en-US" sz="2000" dirty="0"/>
              <a:t> </a:t>
            </a:r>
            <a:r>
              <a:rPr lang="en-US" sz="2000" dirty="0" err="1"/>
              <a:t>gốc</a:t>
            </a:r>
            <a:r>
              <a:rPr lang="en-US" sz="2000" dirty="0"/>
              <a:t> = 0</a:t>
            </a:r>
          </a:p>
          <a:p>
            <a:pPr lvl="2">
              <a:lnSpc>
                <a:spcPct val="90000"/>
              </a:lnSpc>
            </a:pPr>
            <a:r>
              <a:rPr lang="en-US" altLang="en-US" sz="2000" dirty="0" err="1"/>
              <a:t>độ</a:t>
            </a:r>
            <a:r>
              <a:rPr lang="en-US" altLang="en-US" sz="2000" dirty="0"/>
              <a:t> </a:t>
            </a:r>
            <a:r>
              <a:rPr lang="en-US" altLang="en-US" sz="2000" dirty="0" err="1"/>
              <a:t>dài</a:t>
            </a:r>
            <a:r>
              <a:rPr lang="en-US" altLang="en-US" sz="2000" dirty="0"/>
              <a:t> </a:t>
            </a:r>
            <a:r>
              <a:rPr lang="en-US" altLang="en-US" sz="2000" dirty="0" err="1"/>
              <a:t>đường</a:t>
            </a:r>
            <a:r>
              <a:rPr lang="en-US" altLang="en-US" sz="2000" dirty="0"/>
              <a:t> </a:t>
            </a:r>
            <a:r>
              <a:rPr lang="en-US" altLang="en-US" sz="2000" dirty="0" err="1"/>
              <a:t>đi</a:t>
            </a:r>
            <a:r>
              <a:rPr lang="en-US" altLang="en-US" sz="2000" dirty="0"/>
              <a:t> </a:t>
            </a:r>
            <a:r>
              <a:rPr lang="en-US" altLang="en-US" sz="2000" dirty="0" err="1"/>
              <a:t>từ</a:t>
            </a:r>
            <a:r>
              <a:rPr lang="en-US" altLang="en-US" sz="2000" dirty="0"/>
              <a:t> </a:t>
            </a:r>
            <a:r>
              <a:rPr lang="en-US" altLang="en-US" sz="2000" dirty="0" err="1"/>
              <a:t>nút</a:t>
            </a:r>
            <a:r>
              <a:rPr lang="en-US" altLang="en-US" sz="2000" dirty="0"/>
              <a:t> </a:t>
            </a:r>
            <a:r>
              <a:rPr lang="en-US" altLang="en-US" sz="2000" dirty="0" err="1"/>
              <a:t>gốc</a:t>
            </a:r>
            <a:r>
              <a:rPr lang="en-US" altLang="en-US" sz="2000" dirty="0"/>
              <a:t> </a:t>
            </a:r>
            <a:r>
              <a:rPr lang="en-US" altLang="en-US" sz="2000" dirty="0" err="1"/>
              <a:t>tới</a:t>
            </a:r>
            <a:r>
              <a:rPr lang="en-US" altLang="en-US" sz="2000" dirty="0"/>
              <a:t> </a:t>
            </a:r>
            <a:r>
              <a:rPr lang="en-US" altLang="en-US" sz="2000" dirty="0" err="1"/>
              <a:t>nút</a:t>
            </a:r>
            <a:endParaRPr lang="en-US" altLang="en-US" sz="2000" dirty="0">
              <a:cs typeface="Times New Roman" panose="02020603050405020304" pitchFamily="18" charset="0"/>
            </a:endParaRPr>
          </a:p>
          <a:p>
            <a:pPr lvl="1">
              <a:lnSpc>
                <a:spcPct val="90000"/>
              </a:lnSpc>
            </a:pPr>
            <a:r>
              <a:rPr lang="en-US" altLang="en-US" sz="2400" dirty="0" err="1">
                <a:cs typeface="Times New Roman" panose="02020603050405020304" pitchFamily="18" charset="0"/>
              </a:rPr>
              <a:t>Chiều</a:t>
            </a:r>
            <a:r>
              <a:rPr lang="en-US" altLang="en-US" sz="2400" dirty="0">
                <a:cs typeface="Times New Roman" panose="02020603050405020304" pitchFamily="18" charset="0"/>
              </a:rPr>
              <a:t> </a:t>
            </a:r>
            <a:r>
              <a:rPr lang="en-US" altLang="en-US" sz="2400" dirty="0" err="1">
                <a:cs typeface="Times New Roman" panose="02020603050405020304" pitchFamily="18" charset="0"/>
              </a:rPr>
              <a:t>cao</a:t>
            </a:r>
            <a:r>
              <a:rPr lang="en-US" altLang="en-US" sz="2400" dirty="0">
                <a:cs typeface="Times New Roman" panose="02020603050405020304" pitchFamily="18" charset="0"/>
              </a:rPr>
              <a:t> </a:t>
            </a:r>
            <a:r>
              <a:rPr lang="en-US" altLang="en-US" sz="2400" dirty="0" err="1">
                <a:cs typeface="Times New Roman" panose="02020603050405020304" pitchFamily="18" charset="0"/>
              </a:rPr>
              <a:t>của</a:t>
            </a:r>
            <a:r>
              <a:rPr lang="en-US" altLang="en-US" sz="2400" dirty="0">
                <a:cs typeface="Times New Roman" panose="02020603050405020304" pitchFamily="18" charset="0"/>
              </a:rPr>
              <a:t> </a:t>
            </a:r>
            <a:r>
              <a:rPr lang="en-US" altLang="en-US" sz="2400" dirty="0" err="1">
                <a:cs typeface="Times New Roman" panose="02020603050405020304" pitchFamily="18" charset="0"/>
              </a:rPr>
              <a:t>một</a:t>
            </a:r>
            <a:r>
              <a:rPr lang="en-US" altLang="en-US" sz="2400" dirty="0">
                <a:cs typeface="Times New Roman" panose="02020603050405020304" pitchFamily="18" charset="0"/>
              </a:rPr>
              <a:t> </a:t>
            </a:r>
            <a:r>
              <a:rPr lang="en-US" altLang="en-US" sz="2400" dirty="0" err="1">
                <a:cs typeface="Times New Roman" panose="02020603050405020304" pitchFamily="18" charset="0"/>
              </a:rPr>
              <a:t>nút</a:t>
            </a:r>
            <a:r>
              <a:rPr lang="en-US" altLang="en-US" sz="2400" dirty="0">
                <a:cs typeface="Times New Roman" panose="02020603050405020304" pitchFamily="18" charset="0"/>
              </a:rPr>
              <a:t> (height)</a:t>
            </a:r>
          </a:p>
          <a:p>
            <a:pPr lvl="2">
              <a:lnSpc>
                <a:spcPct val="90000"/>
              </a:lnSpc>
            </a:pPr>
            <a:r>
              <a:rPr lang="en-US" altLang="en-US" sz="2000" dirty="0" err="1">
                <a:cs typeface="Times New Roman" panose="02020603050405020304" pitchFamily="18" charset="0"/>
              </a:rPr>
              <a:t>Độ</a:t>
            </a:r>
            <a:r>
              <a:rPr lang="en-US" altLang="en-US" sz="2000" dirty="0">
                <a:cs typeface="Times New Roman" panose="02020603050405020304" pitchFamily="18" charset="0"/>
              </a:rPr>
              <a:t> </a:t>
            </a:r>
            <a:r>
              <a:rPr lang="en-US" altLang="en-US" sz="2000" dirty="0" err="1">
                <a:cs typeface="Times New Roman" panose="02020603050405020304" pitchFamily="18" charset="0"/>
              </a:rPr>
              <a:t>dài</a:t>
            </a:r>
            <a:r>
              <a:rPr lang="en-US" altLang="en-US" sz="2000" dirty="0">
                <a:cs typeface="Times New Roman" panose="02020603050405020304" pitchFamily="18" charset="0"/>
              </a:rPr>
              <a:t> </a:t>
            </a:r>
            <a:r>
              <a:rPr lang="en-US" altLang="en-US" sz="2000" dirty="0" err="1">
                <a:cs typeface="Times New Roman" panose="02020603050405020304" pitchFamily="18" charset="0"/>
              </a:rPr>
              <a:t>đường</a:t>
            </a:r>
            <a:r>
              <a:rPr lang="en-US" altLang="en-US" sz="2000" dirty="0">
                <a:cs typeface="Times New Roman" panose="02020603050405020304" pitchFamily="18" charset="0"/>
              </a:rPr>
              <a:t> </a:t>
            </a:r>
            <a:r>
              <a:rPr lang="en-US" altLang="en-US" sz="2000" dirty="0" err="1">
                <a:cs typeface="Times New Roman" panose="02020603050405020304" pitchFamily="18" charset="0"/>
              </a:rPr>
              <a:t>đi</a:t>
            </a:r>
            <a:r>
              <a:rPr lang="en-US" altLang="en-US" sz="2000" dirty="0">
                <a:cs typeface="Times New Roman" panose="02020603050405020304" pitchFamily="18" charset="0"/>
              </a:rPr>
              <a:t> </a:t>
            </a:r>
            <a:r>
              <a:rPr lang="en-US" altLang="en-US" sz="2000" dirty="0" err="1">
                <a:cs typeface="Times New Roman" panose="02020603050405020304" pitchFamily="18" charset="0"/>
              </a:rPr>
              <a:t>từ</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tới</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lá</a:t>
            </a:r>
            <a:r>
              <a:rPr lang="en-US" altLang="en-US" sz="2000" dirty="0">
                <a:cs typeface="Times New Roman" panose="02020603050405020304" pitchFamily="18" charset="0"/>
              </a:rPr>
              <a:t> </a:t>
            </a:r>
            <a:r>
              <a:rPr lang="en-US" altLang="en-US" sz="2000" dirty="0" err="1">
                <a:cs typeface="Times New Roman" panose="02020603050405020304" pitchFamily="18" charset="0"/>
              </a:rPr>
              <a:t>sâu</a:t>
            </a:r>
            <a:r>
              <a:rPr lang="en-US" altLang="en-US" sz="2000" dirty="0">
                <a:cs typeface="Times New Roman" panose="02020603050405020304" pitchFamily="18" charset="0"/>
              </a:rPr>
              <a:t> </a:t>
            </a:r>
            <a:r>
              <a:rPr lang="en-US" altLang="en-US" sz="2000" dirty="0" err="1">
                <a:cs typeface="Times New Roman" panose="02020603050405020304" pitchFamily="18" charset="0"/>
              </a:rPr>
              <a:t>nhất</a:t>
            </a:r>
            <a:r>
              <a:rPr lang="en-US" altLang="en-US" sz="2000" dirty="0">
                <a:cs typeface="Times New Roman" panose="02020603050405020304" pitchFamily="18" charset="0"/>
              </a:rPr>
              <a:t>.</a:t>
            </a:r>
          </a:p>
          <a:p>
            <a:pPr lvl="1">
              <a:lnSpc>
                <a:spcPct val="90000"/>
              </a:lnSpc>
            </a:pPr>
            <a:r>
              <a:rPr lang="en-US" altLang="en-US" sz="2400" dirty="0" err="1">
                <a:cs typeface="Times New Roman" panose="02020603050405020304" pitchFamily="18" charset="0"/>
              </a:rPr>
              <a:t>Chiều</a:t>
            </a:r>
            <a:r>
              <a:rPr lang="en-US" altLang="en-US" sz="2400" dirty="0">
                <a:cs typeface="Times New Roman" panose="02020603050405020304" pitchFamily="18" charset="0"/>
              </a:rPr>
              <a:t> </a:t>
            </a:r>
            <a:r>
              <a:rPr lang="en-US" altLang="en-US" sz="2400" dirty="0" err="1">
                <a:cs typeface="Times New Roman" panose="02020603050405020304" pitchFamily="18" charset="0"/>
              </a:rPr>
              <a:t>cao</a:t>
            </a:r>
            <a:r>
              <a:rPr lang="en-US" altLang="en-US" sz="2400" dirty="0">
                <a:cs typeface="Times New Roman" panose="02020603050405020304" pitchFamily="18" charset="0"/>
              </a:rPr>
              <a:t> </a:t>
            </a:r>
            <a:r>
              <a:rPr lang="en-US" altLang="en-US" sz="2400" dirty="0" err="1">
                <a:cs typeface="Times New Roman" panose="02020603050405020304" pitchFamily="18" charset="0"/>
              </a:rPr>
              <a:t>của</a:t>
            </a:r>
            <a:r>
              <a:rPr lang="en-US" altLang="en-US" sz="2400" dirty="0">
                <a:cs typeface="Times New Roman" panose="02020603050405020304" pitchFamily="18" charset="0"/>
              </a:rPr>
              <a:t> </a:t>
            </a:r>
            <a:r>
              <a:rPr lang="en-US" altLang="en-US" sz="2400" dirty="0" err="1">
                <a:cs typeface="Times New Roman" panose="02020603050405020304" pitchFamily="18" charset="0"/>
              </a:rPr>
              <a:t>cây</a:t>
            </a:r>
            <a:r>
              <a:rPr lang="en-US" altLang="en-US" sz="2400" dirty="0">
                <a:cs typeface="Times New Roman" panose="02020603050405020304" pitchFamily="18" charset="0"/>
              </a:rPr>
              <a:t>: </a:t>
            </a:r>
            <a:r>
              <a:rPr lang="en-US" altLang="en-US" sz="2400" b="1" i="1" dirty="0">
                <a:cs typeface="Times New Roman" panose="02020603050405020304" pitchFamily="18" charset="0"/>
              </a:rPr>
              <a:t>h(T)</a:t>
            </a:r>
          </a:p>
          <a:p>
            <a:pPr lvl="2" eaLnBrk="1" hangingPunct="1">
              <a:lnSpc>
                <a:spcPct val="90000"/>
              </a:lnSpc>
            </a:pPr>
            <a:r>
              <a:rPr lang="en-US" altLang="en-US" sz="2000" dirty="0">
                <a:cs typeface="Times New Roman" panose="02020603050405020304" pitchFamily="18" charset="0"/>
              </a:rPr>
              <a:t>= </a:t>
            </a:r>
            <a:r>
              <a:rPr lang="en-US" altLang="en-US" sz="2000" dirty="0" err="1">
                <a:cs typeface="Times New Roman" panose="02020603050405020304" pitchFamily="18" charset="0"/>
              </a:rPr>
              <a:t>Chiều</a:t>
            </a:r>
            <a:r>
              <a:rPr lang="en-US" altLang="en-US" sz="2000" dirty="0">
                <a:cs typeface="Times New Roman" panose="02020603050405020304" pitchFamily="18" charset="0"/>
              </a:rPr>
              <a:t> </a:t>
            </a:r>
            <a:r>
              <a:rPr lang="en-US" altLang="en-US" sz="2000" dirty="0" err="1">
                <a:cs typeface="Times New Roman" panose="02020603050405020304" pitchFamily="18" charset="0"/>
              </a:rPr>
              <a:t>cao</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gốc</a:t>
            </a:r>
            <a:endParaRPr lang="en-US" altLang="en-US" sz="2000" dirty="0">
              <a:cs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75</a:t>
            </a:fld>
            <a:endParaRPr lang="en-US"/>
          </a:p>
        </p:txBody>
      </p:sp>
    </p:spTree>
    <p:extLst>
      <p:ext uri="{BB962C8B-B14F-4D97-AF65-F5344CB8AC3E}">
        <p14:creationId xmlns:p14="http://schemas.microsoft.com/office/powerpoint/2010/main" val="35036134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76</a:t>
            </a:fld>
            <a:endParaRPr lang="en-US"/>
          </a:p>
        </p:txBody>
      </p:sp>
    </p:spTree>
    <p:extLst>
      <p:ext uri="{BB962C8B-B14F-4D97-AF65-F5344CB8AC3E}">
        <p14:creationId xmlns:p14="http://schemas.microsoft.com/office/powerpoint/2010/main" val="243494645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 C </a:t>
            </a:r>
            <a:r>
              <a:rPr lang="en-US" dirty="0" err="1"/>
              <a:t>là</a:t>
            </a:r>
            <a:r>
              <a:rPr lang="en-US" dirty="0"/>
              <a:t> </a:t>
            </a:r>
            <a:r>
              <a:rPr lang="en-US" dirty="0" err="1"/>
              <a:t>các</a:t>
            </a:r>
            <a:r>
              <a:rPr lang="en-US" dirty="0"/>
              <a:t> </a:t>
            </a:r>
            <a:r>
              <a:rPr lang="en-US" dirty="0" err="1"/>
              <a:t>nút</a:t>
            </a:r>
            <a:r>
              <a:rPr lang="en-US" dirty="0"/>
              <a:t>, </a:t>
            </a:r>
            <a:r>
              <a:rPr lang="en-US" dirty="0" err="1"/>
              <a:t>còn</a:t>
            </a:r>
            <a:r>
              <a:rPr lang="en-US" dirty="0"/>
              <a:t> X, Y, Z </a:t>
            </a:r>
            <a:r>
              <a:rPr lang="en-US" dirty="0" err="1"/>
              <a:t>biểu</a:t>
            </a:r>
            <a:r>
              <a:rPr lang="en-US" dirty="0"/>
              <a:t> </a:t>
            </a:r>
            <a:r>
              <a:rPr lang="en-US" dirty="0" err="1"/>
              <a:t>diễn</a:t>
            </a:r>
            <a:r>
              <a:rPr lang="en-US" dirty="0"/>
              <a:t> </a:t>
            </a:r>
            <a:r>
              <a:rPr lang="en-US" dirty="0" err="1"/>
              <a:t>các</a:t>
            </a:r>
            <a:r>
              <a:rPr lang="en-US" dirty="0"/>
              <a:t> </a:t>
            </a:r>
            <a:r>
              <a:rPr lang="en-US" dirty="0" err="1"/>
              <a:t>cây</a:t>
            </a:r>
            <a:r>
              <a:rPr lang="en-US" dirty="0"/>
              <a:t> con</a:t>
            </a:r>
          </a:p>
          <a:p>
            <a:r>
              <a:rPr lang="en-US" dirty="0" err="1"/>
              <a:t>cây</a:t>
            </a:r>
            <a:r>
              <a:rPr lang="en-US" dirty="0"/>
              <a:t> </a:t>
            </a:r>
            <a:r>
              <a:rPr lang="en-US" dirty="0" err="1"/>
              <a:t>mới</a:t>
            </a:r>
            <a:r>
              <a:rPr lang="en-US" dirty="0"/>
              <a:t> </a:t>
            </a:r>
            <a:r>
              <a:rPr lang="en-US" dirty="0" err="1"/>
              <a:t>tạo</a:t>
            </a:r>
            <a:r>
              <a:rPr lang="en-US" dirty="0"/>
              <a:t> </a:t>
            </a:r>
            <a:r>
              <a:rPr lang="en-US" dirty="0" err="1"/>
              <a:t>ra</a:t>
            </a:r>
            <a:r>
              <a:rPr lang="en-US" dirty="0"/>
              <a:t> </a:t>
            </a:r>
            <a:r>
              <a:rPr lang="en-US" dirty="0" err="1"/>
              <a:t>vẫn</a:t>
            </a:r>
            <a:r>
              <a:rPr lang="en-US" dirty="0"/>
              <a:t> </a:t>
            </a:r>
            <a:r>
              <a:rPr lang="en-US" dirty="0" err="1"/>
              <a:t>là</a:t>
            </a:r>
            <a:r>
              <a:rPr lang="en-US" dirty="0"/>
              <a:t> </a:t>
            </a:r>
            <a:r>
              <a:rPr lang="en-US" dirty="0" err="1"/>
              <a:t>một</a:t>
            </a:r>
            <a:r>
              <a:rPr lang="en-US" dirty="0"/>
              <a:t> </a:t>
            </a:r>
            <a:r>
              <a:rPr lang="en-US" dirty="0" err="1"/>
              <a:t>cây</a:t>
            </a:r>
            <a:r>
              <a:rPr lang="en-US" dirty="0"/>
              <a:t> </a:t>
            </a:r>
            <a:r>
              <a:rPr lang="en-US" dirty="0" err="1"/>
              <a:t>nhị</a:t>
            </a:r>
            <a:r>
              <a:rPr lang="en-US" dirty="0"/>
              <a:t> </a:t>
            </a:r>
            <a:r>
              <a:rPr lang="en-US" dirty="0" err="1"/>
              <a:t>phân</a:t>
            </a:r>
            <a:r>
              <a:rPr lang="en-US" dirty="0"/>
              <a:t> </a:t>
            </a:r>
            <a:r>
              <a:rPr lang="en-US" dirty="0" err="1"/>
              <a:t>tìm</a:t>
            </a:r>
            <a:r>
              <a:rPr lang="en-US" dirty="0"/>
              <a:t> </a:t>
            </a:r>
            <a:r>
              <a:rPr lang="en-US" dirty="0" err="1"/>
              <a:t>kiếm</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77</a:t>
            </a:fld>
            <a:endParaRPr lang="en-US"/>
          </a:p>
        </p:txBody>
      </p:sp>
    </p:spTree>
    <p:extLst>
      <p:ext uri="{BB962C8B-B14F-4D97-AF65-F5344CB8AC3E}">
        <p14:creationId xmlns:p14="http://schemas.microsoft.com/office/powerpoint/2010/main" val="39389780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Quay</a:t>
            </a:r>
            <a:r>
              <a:rPr lang="en-US" baseline="0" dirty="0"/>
              <a:t> </a:t>
            </a:r>
            <a:r>
              <a:rPr lang="en-US" baseline="0" dirty="0" err="1"/>
              <a:t>phải</a:t>
            </a:r>
            <a:r>
              <a:rPr lang="en-US" baseline="0" dirty="0"/>
              <a:t>: B </a:t>
            </a:r>
            <a:r>
              <a:rPr lang="en-US" baseline="0" dirty="0" err="1"/>
              <a:t>lên</a:t>
            </a:r>
            <a:r>
              <a:rPr lang="en-US" baseline="0" dirty="0"/>
              <a:t> </a:t>
            </a:r>
            <a:r>
              <a:rPr lang="en-US" baseline="0" dirty="0" err="1"/>
              <a:t>gốc</a:t>
            </a:r>
            <a:r>
              <a:rPr lang="en-US" baseline="0" dirty="0"/>
              <a:t>, B &lt; Y  </a:t>
            </a:r>
            <a:r>
              <a:rPr lang="en-US" baseline="0" dirty="0" err="1"/>
              <a:t>nên</a:t>
            </a:r>
            <a:r>
              <a:rPr lang="en-US" baseline="0" dirty="0"/>
              <a:t> </a:t>
            </a:r>
            <a:r>
              <a:rPr lang="en-US" baseline="0" dirty="0" err="1"/>
              <a:t>phải</a:t>
            </a:r>
            <a:r>
              <a:rPr lang="en-US" baseline="0" dirty="0"/>
              <a:t> </a:t>
            </a:r>
            <a:r>
              <a:rPr lang="en-US" baseline="0" dirty="0" err="1"/>
              <a:t>chuyển</a:t>
            </a:r>
            <a:r>
              <a:rPr lang="en-US" baseline="0" dirty="0"/>
              <a:t> Y sang con </a:t>
            </a:r>
            <a:r>
              <a:rPr lang="en-US" baseline="0" dirty="0" err="1"/>
              <a:t>phải</a:t>
            </a:r>
            <a:r>
              <a:rPr lang="en-US" baseline="0" dirty="0"/>
              <a:t> </a:t>
            </a:r>
            <a:r>
              <a:rPr lang="en-US" baseline="0" dirty="0" err="1"/>
              <a:t>của</a:t>
            </a:r>
            <a:r>
              <a:rPr lang="en-US" baseline="0" dirty="0"/>
              <a:t> B, Y&lt; C </a:t>
            </a:r>
            <a:r>
              <a:rPr lang="en-US" baseline="0" dirty="0" err="1"/>
              <a:t>nên</a:t>
            </a:r>
            <a:r>
              <a:rPr lang="en-US" baseline="0" dirty="0"/>
              <a:t> Y </a:t>
            </a:r>
            <a:r>
              <a:rPr lang="en-US" baseline="0" dirty="0" err="1"/>
              <a:t>thành</a:t>
            </a:r>
            <a:r>
              <a:rPr lang="en-US" baseline="0" dirty="0"/>
              <a:t> con </a:t>
            </a:r>
            <a:r>
              <a:rPr lang="en-US" baseline="0" dirty="0" err="1"/>
              <a:t>trái</a:t>
            </a:r>
            <a:r>
              <a:rPr lang="en-US" baseline="0" dirty="0"/>
              <a:t> </a:t>
            </a:r>
            <a:r>
              <a:rPr lang="en-US" baseline="0" dirty="0" err="1"/>
              <a:t>của</a:t>
            </a:r>
            <a:r>
              <a:rPr lang="en-US" baseline="0" dirty="0"/>
              <a:t> C</a:t>
            </a:r>
          </a:p>
          <a:p>
            <a:r>
              <a:rPr lang="en-US" baseline="0" dirty="0"/>
              <a:t>Quay </a:t>
            </a:r>
            <a:r>
              <a:rPr lang="en-US" baseline="0" dirty="0" err="1"/>
              <a:t>phải</a:t>
            </a:r>
            <a:r>
              <a:rPr lang="en-US" baseline="0" dirty="0"/>
              <a:t>: </a:t>
            </a:r>
          </a:p>
          <a:p>
            <a:r>
              <a:rPr lang="en-US" baseline="0" dirty="0"/>
              <a:t>+ </a:t>
            </a:r>
            <a:r>
              <a:rPr lang="en-US" baseline="0" dirty="0" err="1"/>
              <a:t>GrandParent.Right</a:t>
            </a:r>
            <a:r>
              <a:rPr lang="en-US" baseline="0" dirty="0"/>
              <a:t> = </a:t>
            </a:r>
            <a:r>
              <a:rPr lang="en-US" baseline="0" dirty="0" err="1"/>
              <a:t>leftChild</a:t>
            </a:r>
            <a:r>
              <a:rPr lang="en-US" baseline="0" dirty="0"/>
              <a:t>: 	</a:t>
            </a:r>
            <a:r>
              <a:rPr lang="en-US" baseline="0" dirty="0" err="1"/>
              <a:t>A.right</a:t>
            </a:r>
            <a:r>
              <a:rPr lang="en-US" baseline="0" dirty="0"/>
              <a:t>=B</a:t>
            </a:r>
          </a:p>
          <a:p>
            <a:r>
              <a:rPr lang="en-US" baseline="0" dirty="0"/>
              <a:t>+ </a:t>
            </a:r>
            <a:r>
              <a:rPr lang="en-US" baseline="0" dirty="0" err="1"/>
              <a:t>parent.left</a:t>
            </a:r>
            <a:r>
              <a:rPr lang="en-US" baseline="0" dirty="0"/>
              <a:t>=</a:t>
            </a:r>
            <a:r>
              <a:rPr lang="en-US" baseline="0" dirty="0" err="1"/>
              <a:t>leftChild.right</a:t>
            </a:r>
            <a:r>
              <a:rPr lang="en-US" baseline="0" dirty="0"/>
              <a:t>		</a:t>
            </a:r>
            <a:r>
              <a:rPr lang="en-US" baseline="0" dirty="0" err="1"/>
              <a:t>C.left</a:t>
            </a:r>
            <a:r>
              <a:rPr lang="en-US" baseline="0" dirty="0"/>
              <a:t>=</a:t>
            </a:r>
            <a:r>
              <a:rPr lang="en-US" baseline="0" dirty="0" err="1"/>
              <a:t>B.right</a:t>
            </a:r>
            <a:r>
              <a:rPr lang="en-US" baseline="0" dirty="0"/>
              <a:t>=Y</a:t>
            </a:r>
          </a:p>
          <a:p>
            <a:r>
              <a:rPr lang="en-US" baseline="0" dirty="0"/>
              <a:t>+ </a:t>
            </a:r>
            <a:r>
              <a:rPr lang="en-US" baseline="0" dirty="0" err="1"/>
              <a:t>leftChild.right</a:t>
            </a:r>
            <a:r>
              <a:rPr lang="en-US" baseline="0" dirty="0"/>
              <a:t> = parent		</a:t>
            </a:r>
            <a:r>
              <a:rPr lang="en-US" baseline="0" dirty="0" err="1"/>
              <a:t>B.right</a:t>
            </a:r>
            <a:r>
              <a:rPr lang="en-US" baseline="0" dirty="0"/>
              <a:t>=C</a:t>
            </a:r>
          </a:p>
          <a:p>
            <a:endParaRPr lang="en-US" baseline="0" dirty="0"/>
          </a:p>
          <a:p>
            <a:endParaRPr lang="en-US" baseline="0" dirty="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78</a:t>
            </a:fld>
            <a:endParaRPr lang="en-US"/>
          </a:p>
        </p:txBody>
      </p:sp>
    </p:spTree>
    <p:extLst>
      <p:ext uri="{BB962C8B-B14F-4D97-AF65-F5344CB8AC3E}">
        <p14:creationId xmlns:p14="http://schemas.microsoft.com/office/powerpoint/2010/main" val="244001341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err="1"/>
              <a:t>cây</a:t>
            </a:r>
            <a:r>
              <a:rPr lang="en-US" dirty="0"/>
              <a:t> </a:t>
            </a:r>
            <a:r>
              <a:rPr lang="en-US" dirty="0" err="1"/>
              <a:t>mới</a:t>
            </a:r>
            <a:r>
              <a:rPr lang="en-US" dirty="0"/>
              <a:t> </a:t>
            </a:r>
            <a:r>
              <a:rPr lang="en-US" dirty="0" err="1"/>
              <a:t>tạo</a:t>
            </a:r>
            <a:r>
              <a:rPr lang="en-US" dirty="0"/>
              <a:t> </a:t>
            </a:r>
            <a:r>
              <a:rPr lang="en-US" dirty="0" err="1"/>
              <a:t>ra</a:t>
            </a:r>
            <a:r>
              <a:rPr lang="en-US" dirty="0"/>
              <a:t> </a:t>
            </a:r>
            <a:r>
              <a:rPr lang="en-US" dirty="0" err="1"/>
              <a:t>vẫn</a:t>
            </a:r>
            <a:r>
              <a:rPr lang="en-US" dirty="0"/>
              <a:t> </a:t>
            </a:r>
            <a:r>
              <a:rPr lang="en-US" dirty="0" err="1"/>
              <a:t>là</a:t>
            </a:r>
            <a:r>
              <a:rPr lang="en-US" dirty="0"/>
              <a:t> </a:t>
            </a:r>
            <a:r>
              <a:rPr lang="en-US" dirty="0" err="1"/>
              <a:t>một</a:t>
            </a:r>
            <a:r>
              <a:rPr lang="en-US" dirty="0"/>
              <a:t> </a:t>
            </a:r>
            <a:r>
              <a:rPr lang="en-US" dirty="0" err="1"/>
              <a:t>cây</a:t>
            </a:r>
            <a:r>
              <a:rPr lang="en-US" dirty="0"/>
              <a:t> </a:t>
            </a:r>
            <a:r>
              <a:rPr lang="en-US" dirty="0" err="1"/>
              <a:t>nhị</a:t>
            </a:r>
            <a:r>
              <a:rPr lang="en-US" dirty="0"/>
              <a:t> </a:t>
            </a:r>
            <a:r>
              <a:rPr lang="en-US" dirty="0" err="1"/>
              <a:t>phân</a:t>
            </a:r>
            <a:r>
              <a:rPr lang="en-US" dirty="0"/>
              <a:t> </a:t>
            </a:r>
            <a:r>
              <a:rPr lang="en-US" dirty="0" err="1"/>
              <a:t>tìm</a:t>
            </a:r>
            <a:r>
              <a:rPr lang="en-US" dirty="0"/>
              <a:t> </a:t>
            </a:r>
            <a:r>
              <a:rPr lang="en-US" dirty="0" err="1"/>
              <a:t>kiếm</a:t>
            </a:r>
            <a:endParaRPr lang="en-US" dirty="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79</a:t>
            </a:fld>
            <a:endParaRPr lang="en-US"/>
          </a:p>
        </p:txBody>
      </p:sp>
    </p:spTree>
    <p:extLst>
      <p:ext uri="{BB962C8B-B14F-4D97-AF65-F5344CB8AC3E}">
        <p14:creationId xmlns:p14="http://schemas.microsoft.com/office/powerpoint/2010/main" val="137184616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Symbol" panose="05050102010706020507" pitchFamily="18" charset="2"/>
              <a:buChar char="Þ"/>
            </a:pPr>
            <a:r>
              <a:rPr lang="en-US" dirty="0" err="1"/>
              <a:t>cây</a:t>
            </a:r>
            <a:r>
              <a:rPr lang="en-US" baseline="0" dirty="0"/>
              <a:t> </a:t>
            </a:r>
            <a:r>
              <a:rPr lang="en-US" baseline="0" dirty="0" err="1"/>
              <a:t>suy</a:t>
            </a:r>
            <a:r>
              <a:rPr lang="en-US" baseline="0" dirty="0"/>
              <a:t> </a:t>
            </a:r>
            <a:r>
              <a:rPr lang="en-US" baseline="0" dirty="0" err="1"/>
              <a:t>biến</a:t>
            </a:r>
            <a:r>
              <a:rPr lang="en-US" baseline="0" dirty="0"/>
              <a:t> </a:t>
            </a:r>
            <a:r>
              <a:rPr lang="en-US" baseline="0" dirty="0" err="1"/>
              <a:t>lệch</a:t>
            </a:r>
            <a:r>
              <a:rPr lang="en-US" baseline="0" dirty="0"/>
              <a:t> </a:t>
            </a:r>
            <a:r>
              <a:rPr lang="en-US" baseline="0" dirty="0" err="1"/>
              <a:t>phải</a:t>
            </a:r>
            <a:endParaRPr lang="en-US" baseline="0" dirty="0"/>
          </a:p>
          <a:p>
            <a:pPr marL="0" indent="0">
              <a:buFont typeface="Symbol" panose="05050102010706020507" pitchFamily="18" charset="2"/>
              <a:buNone/>
            </a:pPr>
            <a:endParaRPr lang="en-US" dirty="0"/>
          </a:p>
          <a:p>
            <a:r>
              <a:rPr lang="en-US" dirty="0" err="1"/>
              <a:t>Quá</a:t>
            </a:r>
            <a:r>
              <a:rPr lang="en-US" dirty="0"/>
              <a:t> </a:t>
            </a:r>
            <a:r>
              <a:rPr lang="en-US" dirty="0" err="1"/>
              <a:t>trình</a:t>
            </a:r>
            <a:r>
              <a:rPr lang="en-US" dirty="0"/>
              <a:t> </a:t>
            </a:r>
            <a:r>
              <a:rPr lang="en-US" dirty="0" err="1"/>
              <a:t>này</a:t>
            </a:r>
            <a:r>
              <a:rPr lang="en-US" dirty="0"/>
              <a:t> </a:t>
            </a:r>
            <a:r>
              <a:rPr lang="en-US" dirty="0" err="1"/>
              <a:t>bắt</a:t>
            </a:r>
            <a:r>
              <a:rPr lang="en-US" dirty="0"/>
              <a:t> </a:t>
            </a:r>
            <a:r>
              <a:rPr lang="en-US" dirty="0" err="1"/>
              <a:t>đầu</a:t>
            </a:r>
            <a:r>
              <a:rPr lang="en-US" dirty="0"/>
              <a:t> </a:t>
            </a:r>
            <a:r>
              <a:rPr lang="en-US" dirty="0" err="1"/>
              <a:t>từ</a:t>
            </a:r>
            <a:r>
              <a:rPr lang="en-US" dirty="0"/>
              <a:t> </a:t>
            </a:r>
            <a:r>
              <a:rPr lang="en-US" dirty="0" err="1"/>
              <a:t>nút</a:t>
            </a:r>
            <a:r>
              <a:rPr lang="en-US" dirty="0"/>
              <a:t> </a:t>
            </a:r>
            <a:r>
              <a:rPr lang="en-US" dirty="0" err="1"/>
              <a:t>gốc</a:t>
            </a:r>
            <a:r>
              <a:rPr lang="en-US" dirty="0"/>
              <a:t> </a:t>
            </a:r>
            <a:r>
              <a:rPr lang="en-US" dirty="0" err="1"/>
              <a:t>của</a:t>
            </a:r>
            <a:r>
              <a:rPr lang="en-US" dirty="0"/>
              <a:t> </a:t>
            </a:r>
            <a:r>
              <a:rPr lang="en-US" dirty="0" err="1"/>
              <a:t>cây</a:t>
            </a:r>
            <a:r>
              <a:rPr lang="en-US" dirty="0"/>
              <a:t> ban </a:t>
            </a:r>
            <a:r>
              <a:rPr lang="en-US" dirty="0" err="1"/>
              <a:t>đầu</a:t>
            </a:r>
            <a:r>
              <a:rPr lang="en-US" dirty="0"/>
              <a:t>. </a:t>
            </a:r>
            <a:r>
              <a:rPr lang="en-US" dirty="0" err="1"/>
              <a:t>Chừng</a:t>
            </a:r>
            <a:r>
              <a:rPr lang="en-US" dirty="0"/>
              <a:t> </a:t>
            </a:r>
            <a:r>
              <a:rPr lang="en-US" dirty="0" err="1"/>
              <a:t>nào</a:t>
            </a:r>
            <a:r>
              <a:rPr lang="en-US" dirty="0"/>
              <a:t> </a:t>
            </a:r>
            <a:r>
              <a:rPr lang="en-US" dirty="0" err="1"/>
              <a:t>nút</a:t>
            </a:r>
            <a:r>
              <a:rPr lang="en-US" dirty="0"/>
              <a:t> </a:t>
            </a:r>
            <a:r>
              <a:rPr lang="en-US" dirty="0" err="1"/>
              <a:t>này</a:t>
            </a:r>
            <a:r>
              <a:rPr lang="en-US" dirty="0"/>
              <a:t> </a:t>
            </a:r>
            <a:r>
              <a:rPr lang="en-US" dirty="0" err="1"/>
              <a:t>còn</a:t>
            </a:r>
            <a:r>
              <a:rPr lang="en-US" dirty="0"/>
              <a:t> </a:t>
            </a:r>
            <a:r>
              <a:rPr lang="en-US" dirty="0" err="1"/>
              <a:t>có</a:t>
            </a:r>
            <a:endParaRPr lang="en-US" dirty="0"/>
          </a:p>
          <a:p>
            <a:r>
              <a:rPr lang="en-US" dirty="0"/>
              <a:t>con </a:t>
            </a:r>
            <a:r>
              <a:rPr lang="en-US" dirty="0" err="1"/>
              <a:t>trái</a:t>
            </a:r>
            <a:r>
              <a:rPr lang="en-US" dirty="0"/>
              <a:t> </a:t>
            </a:r>
            <a:r>
              <a:rPr lang="en-US" dirty="0" err="1"/>
              <a:t>thì</a:t>
            </a:r>
            <a:r>
              <a:rPr lang="en-US" dirty="0"/>
              <a:t> </a:t>
            </a:r>
            <a:r>
              <a:rPr lang="en-US" dirty="0" err="1"/>
              <a:t>tiến</a:t>
            </a:r>
            <a:r>
              <a:rPr lang="en-US" dirty="0"/>
              <a:t> </a:t>
            </a:r>
            <a:r>
              <a:rPr lang="en-US" dirty="0" err="1"/>
              <a:t>hành</a:t>
            </a:r>
            <a:r>
              <a:rPr lang="en-US" dirty="0"/>
              <a:t> quay </a:t>
            </a:r>
            <a:r>
              <a:rPr lang="en-US" dirty="0" err="1"/>
              <a:t>phải</a:t>
            </a:r>
            <a:r>
              <a:rPr lang="en-US" dirty="0"/>
              <a:t> </a:t>
            </a:r>
            <a:r>
              <a:rPr lang="en-US" dirty="0" err="1"/>
              <a:t>tại</a:t>
            </a:r>
            <a:r>
              <a:rPr lang="en-US" dirty="0"/>
              <a:t> </a:t>
            </a:r>
            <a:r>
              <a:rPr lang="en-US" dirty="0" err="1"/>
              <a:t>nút</a:t>
            </a:r>
            <a:r>
              <a:rPr lang="en-US" dirty="0"/>
              <a:t> </a:t>
            </a:r>
            <a:r>
              <a:rPr lang="en-US" dirty="0" err="1"/>
              <a:t>đó</a:t>
            </a:r>
            <a:r>
              <a:rPr lang="en-US" dirty="0"/>
              <a:t>. </a:t>
            </a:r>
            <a:r>
              <a:rPr lang="en-US" dirty="0" err="1"/>
              <a:t>Sau</a:t>
            </a:r>
            <a:r>
              <a:rPr lang="en-US" dirty="0"/>
              <a:t> </a:t>
            </a:r>
            <a:r>
              <a:rPr lang="en-US" dirty="0" err="1"/>
              <a:t>đó</a:t>
            </a:r>
            <a:r>
              <a:rPr lang="en-US" dirty="0"/>
              <a:t> </a:t>
            </a:r>
            <a:r>
              <a:rPr lang="en-US" dirty="0" err="1"/>
              <a:t>tiếp</a:t>
            </a:r>
            <a:r>
              <a:rPr lang="en-US" dirty="0"/>
              <a:t> </a:t>
            </a:r>
            <a:r>
              <a:rPr lang="en-US" dirty="0" err="1"/>
              <a:t>tục</a:t>
            </a:r>
            <a:r>
              <a:rPr lang="en-US" dirty="0"/>
              <a:t> </a:t>
            </a:r>
            <a:r>
              <a:rPr lang="en-US" dirty="0" err="1"/>
              <a:t>quá</a:t>
            </a:r>
            <a:r>
              <a:rPr lang="en-US" dirty="0"/>
              <a:t> </a:t>
            </a:r>
            <a:r>
              <a:rPr lang="en-US" dirty="0" err="1"/>
              <a:t>trình</a:t>
            </a:r>
            <a:r>
              <a:rPr lang="en-US" dirty="0"/>
              <a:t> </a:t>
            </a:r>
            <a:r>
              <a:rPr lang="en-US" dirty="0" err="1"/>
              <a:t>trên</a:t>
            </a:r>
            <a:r>
              <a:rPr lang="en-US" dirty="0"/>
              <a:t> </a:t>
            </a:r>
            <a:r>
              <a:rPr lang="en-US" dirty="0" err="1"/>
              <a:t>với</a:t>
            </a:r>
            <a:r>
              <a:rPr lang="en-US" dirty="0"/>
              <a:t> </a:t>
            </a:r>
            <a:r>
              <a:rPr lang="en-US" dirty="0" err="1"/>
              <a:t>nút</a:t>
            </a:r>
            <a:endParaRPr lang="en-US" dirty="0"/>
          </a:p>
          <a:p>
            <a:r>
              <a:rPr lang="en-US" dirty="0"/>
              <a:t>con </a:t>
            </a:r>
            <a:r>
              <a:rPr lang="en-US" dirty="0" err="1"/>
              <a:t>phải</a:t>
            </a:r>
            <a:r>
              <a:rPr lang="en-US" dirty="0"/>
              <a:t>. </a:t>
            </a:r>
          </a:p>
          <a:p>
            <a:endParaRPr lang="en-US" dirty="0"/>
          </a:p>
          <a:p>
            <a:r>
              <a:rPr lang="en-US" dirty="0"/>
              <a:t>While</a:t>
            </a:r>
            <a:r>
              <a:rPr lang="en-US" baseline="0" dirty="0"/>
              <a:t> </a:t>
            </a:r>
            <a:r>
              <a:rPr lang="en-US" baseline="0" dirty="0" err="1"/>
              <a:t>trong</a:t>
            </a:r>
            <a:r>
              <a:rPr lang="en-US" baseline="0" dirty="0"/>
              <a:t>: </a:t>
            </a:r>
            <a:r>
              <a:rPr lang="en-US" baseline="0" dirty="0" err="1"/>
              <a:t>chuyển</a:t>
            </a:r>
            <a:r>
              <a:rPr lang="en-US" baseline="0" dirty="0"/>
              <a:t> </a:t>
            </a:r>
            <a:r>
              <a:rPr lang="en-US" baseline="0" dirty="0" err="1"/>
              <a:t>dần</a:t>
            </a:r>
            <a:r>
              <a:rPr lang="en-US" baseline="0" dirty="0"/>
              <a:t> </a:t>
            </a:r>
            <a:r>
              <a:rPr lang="en-US" baseline="0" dirty="0" err="1"/>
              <a:t>từng</a:t>
            </a:r>
            <a:r>
              <a:rPr lang="en-US" baseline="0" dirty="0"/>
              <a:t> </a:t>
            </a:r>
            <a:r>
              <a:rPr lang="en-US" baseline="0" dirty="0" err="1"/>
              <a:t>nút</a:t>
            </a:r>
            <a:r>
              <a:rPr lang="en-US" baseline="0" dirty="0"/>
              <a:t> </a:t>
            </a:r>
            <a:r>
              <a:rPr lang="en-US" baseline="0" dirty="0" err="1"/>
              <a:t>từ</a:t>
            </a:r>
            <a:r>
              <a:rPr lang="en-US" baseline="0" dirty="0"/>
              <a:t> con </a:t>
            </a:r>
            <a:r>
              <a:rPr lang="en-US" baseline="0" dirty="0" err="1"/>
              <a:t>trái</a:t>
            </a:r>
            <a:r>
              <a:rPr lang="en-US" baseline="0" dirty="0"/>
              <a:t> sang con </a:t>
            </a:r>
            <a:r>
              <a:rPr lang="en-US" baseline="0" dirty="0" err="1"/>
              <a:t>phải</a:t>
            </a:r>
            <a:endParaRPr lang="en-US" baseline="0" dirty="0"/>
          </a:p>
          <a:p>
            <a:r>
              <a:rPr lang="en-US" baseline="0" dirty="0"/>
              <a:t>While </a:t>
            </a:r>
            <a:r>
              <a:rPr lang="en-US" baseline="0" dirty="0" err="1"/>
              <a:t>ngoài</a:t>
            </a:r>
            <a:r>
              <a:rPr lang="en-US" baseline="0" dirty="0"/>
              <a:t>: </a:t>
            </a:r>
            <a:r>
              <a:rPr lang="en-US" baseline="0" dirty="0" err="1"/>
              <a:t>chuyển</a:t>
            </a:r>
            <a:r>
              <a:rPr lang="en-US" baseline="0" dirty="0"/>
              <a:t> p </a:t>
            </a:r>
            <a:r>
              <a:rPr lang="en-US" baseline="0" dirty="0" err="1"/>
              <a:t>xuống</a:t>
            </a:r>
            <a:r>
              <a:rPr lang="en-US" baseline="0" dirty="0"/>
              <a:t> </a:t>
            </a:r>
            <a:r>
              <a:rPr lang="en-US" baseline="0" dirty="0" err="1"/>
              <a:t>dần</a:t>
            </a:r>
            <a:r>
              <a:rPr lang="en-US" baseline="0" dirty="0"/>
              <a:t> con </a:t>
            </a:r>
            <a:r>
              <a:rPr lang="en-US" baseline="0" dirty="0" err="1"/>
              <a:t>phải</a:t>
            </a:r>
            <a:r>
              <a:rPr lang="en-US" baseline="0" dirty="0"/>
              <a:t>. </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80</a:t>
            </a:fld>
            <a:endParaRPr lang="en-US"/>
          </a:p>
        </p:txBody>
      </p:sp>
    </p:spTree>
    <p:extLst>
      <p:ext uri="{BB962C8B-B14F-4D97-AF65-F5344CB8AC3E}">
        <p14:creationId xmlns:p14="http://schemas.microsoft.com/office/powerpoint/2010/main" val="343655283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dirty="0" err="1">
                <a:latin typeface="Lato" panose="020F0502020204030203"/>
                <a:cs typeface="Times New Roman" panose="02020603050405020304" pitchFamily="18" charset="0"/>
              </a:rPr>
              <a:t>tức</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là</a:t>
            </a:r>
            <a:r>
              <a:rPr lang="en-US" dirty="0">
                <a:latin typeface="Lato" panose="020F0502020204030203"/>
                <a:cs typeface="Times New Roman" panose="02020603050405020304" pitchFamily="18" charset="0"/>
              </a:rPr>
              <a:t> quay </a:t>
            </a:r>
            <a:r>
              <a:rPr lang="en-US" dirty="0" err="1">
                <a:latin typeface="Lato" panose="020F0502020204030203"/>
                <a:cs typeface="Times New Roman" panose="02020603050405020304" pitchFamily="18" charset="0"/>
              </a:rPr>
              <a:t>nút</a:t>
            </a:r>
            <a:r>
              <a:rPr lang="en-US" dirty="0">
                <a:latin typeface="Lato" panose="020F0502020204030203"/>
                <a:cs typeface="Times New Roman" panose="02020603050405020304" pitchFamily="18" charset="0"/>
              </a:rPr>
              <a:t> cha </a:t>
            </a:r>
            <a:r>
              <a:rPr lang="en-US" dirty="0" err="1">
                <a:latin typeface="Lato" panose="020F0502020204030203"/>
                <a:cs typeface="Times New Roman" panose="02020603050405020304" pitchFamily="18" charset="0"/>
              </a:rPr>
              <a:t>xong</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thì</a:t>
            </a:r>
            <a:r>
              <a:rPr lang="en-US" dirty="0">
                <a:latin typeface="Lato" panose="020F0502020204030203"/>
                <a:cs typeface="Times New Roman" panose="02020603050405020304" pitchFamily="18" charset="0"/>
              </a:rPr>
              <a:t> quay </a:t>
            </a:r>
            <a:r>
              <a:rPr lang="en-US" dirty="0" err="1">
                <a:latin typeface="Lato" panose="020F0502020204030203"/>
                <a:cs typeface="Times New Roman" panose="02020603050405020304" pitchFamily="18" charset="0"/>
              </a:rPr>
              <a:t>tiếp</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nút</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cháu</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chứ</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không</a:t>
            </a:r>
            <a:r>
              <a:rPr lang="en-US" dirty="0">
                <a:latin typeface="Lato" panose="020F0502020204030203"/>
                <a:cs typeface="Times New Roman" panose="02020603050405020304" pitchFamily="18" charset="0"/>
              </a:rPr>
              <a:t> quay </a:t>
            </a:r>
            <a:r>
              <a:rPr lang="en-US" dirty="0" err="1">
                <a:latin typeface="Lato" panose="020F0502020204030203"/>
                <a:cs typeface="Times New Roman" panose="02020603050405020304" pitchFamily="18" charset="0"/>
              </a:rPr>
              <a:t>ngay</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nút</a:t>
            </a:r>
            <a:r>
              <a:rPr lang="en-US" dirty="0">
                <a:latin typeface="Lato" panose="020F0502020204030203"/>
                <a:cs typeface="Times New Roman" panose="02020603050405020304" pitchFamily="18" charset="0"/>
              </a:rPr>
              <a:t> con</a:t>
            </a:r>
          </a:p>
          <a:p>
            <a:endParaRPr lang="en-US" dirty="0">
              <a:latin typeface="Lato" panose="020F0502020204030203"/>
              <a:cs typeface="Times New Roman" panose="02020603050405020304" pitchFamily="18" charset="0"/>
            </a:endParaRPr>
          </a:p>
          <a:p>
            <a:endParaRPr lang="en-US" dirty="0">
              <a:latin typeface="Lato" panose="020F0502020204030203"/>
              <a:cs typeface="Times New Roman" panose="02020603050405020304" pitchFamily="18" charset="0"/>
            </a:endParaRPr>
          </a:p>
          <a:p>
            <a:pPr eaLnBrk="1" hangingPunct="1"/>
            <a:r>
              <a:rPr lang="en-US" altLang="en-US" sz="2400" dirty="0" err="1">
                <a:cs typeface="Times New Roman" panose="02020603050405020304" pitchFamily="18" charset="0"/>
              </a:rPr>
              <a:t>Cây</a:t>
            </a:r>
            <a:r>
              <a:rPr lang="en-US" altLang="en-US" sz="2400" dirty="0">
                <a:cs typeface="Times New Roman" panose="02020603050405020304" pitchFamily="18" charset="0"/>
              </a:rPr>
              <a:t> </a:t>
            </a:r>
            <a:r>
              <a:rPr lang="en-US" altLang="en-US" sz="2400" dirty="0" err="1">
                <a:cs typeface="Times New Roman" panose="02020603050405020304" pitchFamily="18" charset="0"/>
              </a:rPr>
              <a:t>đầy</a:t>
            </a:r>
            <a:r>
              <a:rPr lang="en-US" altLang="en-US" sz="2400" dirty="0">
                <a:cs typeface="Times New Roman" panose="02020603050405020304" pitchFamily="18" charset="0"/>
              </a:rPr>
              <a:t> </a:t>
            </a:r>
            <a:r>
              <a:rPr lang="en-US" altLang="en-US" sz="2400" dirty="0" err="1">
                <a:cs typeface="Times New Roman" panose="02020603050405020304" pitchFamily="18" charset="0"/>
              </a:rPr>
              <a:t>đủ</a:t>
            </a:r>
            <a:r>
              <a:rPr lang="en-US" altLang="en-US" sz="2400" dirty="0">
                <a:cs typeface="Times New Roman" panose="02020603050405020304" pitchFamily="18" charset="0"/>
              </a:rPr>
              <a:t> (full binary tree) :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nhị</a:t>
            </a:r>
            <a:r>
              <a:rPr lang="en-US" altLang="en-US" sz="2000" dirty="0">
                <a:cs typeface="Times New Roman" panose="02020603050405020304" pitchFamily="18" charset="0"/>
              </a:rPr>
              <a:t> </a:t>
            </a:r>
            <a:r>
              <a:rPr lang="en-US" altLang="en-US" sz="2000" dirty="0" err="1">
                <a:cs typeface="Times New Roman" panose="02020603050405020304" pitchFamily="18" charset="0"/>
              </a:rPr>
              <a:t>phân</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số</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tối</a:t>
            </a:r>
            <a:r>
              <a:rPr lang="en-US" altLang="en-US" sz="2000" dirty="0">
                <a:cs typeface="Times New Roman" panose="02020603050405020304" pitchFamily="18" charset="0"/>
              </a:rPr>
              <a:t> </a:t>
            </a:r>
            <a:r>
              <a:rPr lang="en-US" altLang="en-US" sz="2000" dirty="0" err="1">
                <a:cs typeface="Times New Roman" panose="02020603050405020304" pitchFamily="18" charset="0"/>
              </a:rPr>
              <a:t>đa</a:t>
            </a:r>
            <a:r>
              <a:rPr lang="en-US" altLang="en-US" sz="2000" dirty="0">
                <a:cs typeface="Times New Roman" panose="02020603050405020304" pitchFamily="18" charset="0"/>
              </a:rPr>
              <a:t> ở </a:t>
            </a:r>
            <a:r>
              <a:rPr lang="en-US" altLang="en-US" sz="2000" dirty="0" err="1">
                <a:cs typeface="Times New Roman" panose="02020603050405020304" pitchFamily="18" charset="0"/>
              </a:rPr>
              <a:t>tất</a:t>
            </a:r>
            <a:r>
              <a:rPr lang="en-US" altLang="en-US" sz="2000" dirty="0">
                <a:cs typeface="Times New Roman" panose="02020603050405020304" pitchFamily="18" charset="0"/>
              </a:rPr>
              <a:t> </a:t>
            </a:r>
            <a:r>
              <a:rPr lang="en-US" altLang="en-US" sz="2000" dirty="0" err="1">
                <a:cs typeface="Times New Roman" panose="02020603050405020304" pitchFamily="18" charset="0"/>
              </a:rPr>
              <a:t>cả</a:t>
            </a:r>
            <a:r>
              <a:rPr lang="en-US" altLang="en-US" sz="2000" dirty="0">
                <a:cs typeface="Times New Roman" panose="02020603050405020304" pitchFamily="18" charset="0"/>
              </a:rPr>
              <a:t> </a:t>
            </a: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mức</a:t>
            </a:r>
            <a:r>
              <a:rPr lang="en-US" altLang="en-US" sz="2000" dirty="0">
                <a:cs typeface="Times New Roman" panose="02020603050405020304" pitchFamily="18" charset="0"/>
              </a:rPr>
              <a:t>. </a:t>
            </a:r>
            <a:r>
              <a:rPr lang="en-US" altLang="en-US" sz="2000" dirty="0" err="1">
                <a:cs typeface="Times New Roman" panose="02020603050405020304" pitchFamily="18" charset="0"/>
              </a:rPr>
              <a:t>Nếu</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nhị</a:t>
            </a:r>
            <a:r>
              <a:rPr lang="en-US" altLang="en-US" sz="2000" dirty="0">
                <a:cs typeface="Times New Roman" panose="02020603050405020304" pitchFamily="18" charset="0"/>
              </a:rPr>
              <a:t> </a:t>
            </a:r>
            <a:r>
              <a:rPr lang="en-US" altLang="en-US" sz="2000" dirty="0" err="1">
                <a:cs typeface="Times New Roman" panose="02020603050405020304" pitchFamily="18" charset="0"/>
              </a:rPr>
              <a:t>phân</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chiều</a:t>
            </a:r>
            <a:r>
              <a:rPr lang="en-US" altLang="en-US" sz="2000" dirty="0">
                <a:cs typeface="Times New Roman" panose="02020603050405020304" pitchFamily="18" charset="0"/>
              </a:rPr>
              <a:t> </a:t>
            </a:r>
            <a:r>
              <a:rPr lang="en-US" altLang="en-US" sz="2000" dirty="0" err="1">
                <a:cs typeface="Times New Roman" panose="02020603050405020304" pitchFamily="18" charset="0"/>
              </a:rPr>
              <a:t>cao</a:t>
            </a:r>
            <a:r>
              <a:rPr lang="en-US" altLang="en-US" sz="2000" dirty="0">
                <a:cs typeface="Times New Roman" panose="02020603050405020304" pitchFamily="18" charset="0"/>
              </a:rPr>
              <a:t> </a:t>
            </a:r>
            <a:r>
              <a:rPr lang="en-US" altLang="en-US" sz="2000" i="1" dirty="0">
                <a:cs typeface="Times New Roman" panose="02020603050405020304" pitchFamily="18" charset="0"/>
              </a:rPr>
              <a:t>h</a:t>
            </a:r>
            <a:r>
              <a:rPr lang="en-US" altLang="en-US" sz="2000" dirty="0">
                <a:cs typeface="Times New Roman" panose="02020603050405020304" pitchFamily="18" charset="0"/>
              </a:rPr>
              <a:t> </a:t>
            </a:r>
            <a:r>
              <a:rPr lang="en-US" altLang="en-US" sz="2000" dirty="0" err="1">
                <a:cs typeface="Times New Roman" panose="02020603050405020304" pitchFamily="18" charset="0"/>
              </a:rPr>
              <a:t>thì</a:t>
            </a:r>
            <a:r>
              <a:rPr lang="en-US" altLang="en-US" sz="2000" dirty="0">
                <a:cs typeface="Times New Roman" panose="02020603050405020304" pitchFamily="18" charset="0"/>
              </a:rPr>
              <a:t> </a:t>
            </a:r>
            <a:r>
              <a:rPr lang="en-US" altLang="en-US" sz="2000" dirty="0" err="1">
                <a:cs typeface="Times New Roman" panose="02020603050405020304" pitchFamily="18" charset="0"/>
              </a:rPr>
              <a:t>kích</a:t>
            </a:r>
            <a:r>
              <a:rPr lang="en-US" altLang="en-US" sz="2000" dirty="0">
                <a:cs typeface="Times New Roman" panose="02020603050405020304" pitchFamily="18" charset="0"/>
              </a:rPr>
              <a:t> </a:t>
            </a:r>
            <a:r>
              <a:rPr lang="en-US" altLang="en-US" sz="2000" dirty="0" err="1">
                <a:cs typeface="Times New Roman" panose="02020603050405020304" pitchFamily="18" charset="0"/>
              </a:rPr>
              <a:t>thước</a:t>
            </a:r>
            <a:r>
              <a:rPr lang="en-US" altLang="en-US" sz="2000" dirty="0">
                <a:cs typeface="Times New Roman" panose="02020603050405020304" pitchFamily="18" charset="0"/>
              </a:rPr>
              <a:t> </a:t>
            </a:r>
            <a:r>
              <a:rPr lang="en-US" altLang="en-US" sz="2000" dirty="0" err="1">
                <a:cs typeface="Times New Roman" panose="02020603050405020304" pitchFamily="18" charset="0"/>
              </a:rPr>
              <a:t>là</a:t>
            </a:r>
            <a:r>
              <a:rPr lang="en-US" altLang="en-US" sz="2000" dirty="0">
                <a:cs typeface="Times New Roman" panose="02020603050405020304" pitchFamily="18" charset="0"/>
              </a:rPr>
              <a:t>: S(T) = 2</a:t>
            </a:r>
            <a:r>
              <a:rPr lang="en-US" altLang="en-US" sz="2000" baseline="30000" dirty="0">
                <a:cs typeface="Times New Roman" panose="02020603050405020304" pitchFamily="18" charset="0"/>
              </a:rPr>
              <a:t>0</a:t>
            </a:r>
            <a:r>
              <a:rPr lang="en-US" altLang="en-US" sz="2000" dirty="0">
                <a:cs typeface="Times New Roman" panose="02020603050405020304" pitchFamily="18" charset="0"/>
              </a:rPr>
              <a:t>+2</a:t>
            </a:r>
            <a:r>
              <a:rPr lang="en-US" altLang="en-US" sz="2000" baseline="30000" dirty="0">
                <a:cs typeface="Times New Roman" panose="02020603050405020304" pitchFamily="18" charset="0"/>
              </a:rPr>
              <a:t>1</a:t>
            </a:r>
            <a:r>
              <a:rPr lang="en-US" altLang="en-US" sz="2000" dirty="0">
                <a:cs typeface="Times New Roman" panose="02020603050405020304" pitchFamily="18" charset="0"/>
              </a:rPr>
              <a:t>+…+2</a:t>
            </a:r>
            <a:r>
              <a:rPr lang="en-US" altLang="en-US" sz="2000" baseline="30000" dirty="0">
                <a:cs typeface="Times New Roman" panose="02020603050405020304" pitchFamily="18" charset="0"/>
              </a:rPr>
              <a:t>h</a:t>
            </a:r>
            <a:r>
              <a:rPr lang="en-US" altLang="en-US" sz="2000" dirty="0">
                <a:cs typeface="Times New Roman" panose="02020603050405020304" pitchFamily="18" charset="0"/>
              </a:rPr>
              <a:t> = 2</a:t>
            </a:r>
            <a:r>
              <a:rPr lang="en-US" altLang="en-US" sz="2000" baseline="30000" dirty="0">
                <a:cs typeface="Times New Roman" panose="02020603050405020304" pitchFamily="18" charset="0"/>
              </a:rPr>
              <a:t>h+1</a:t>
            </a:r>
            <a:r>
              <a:rPr lang="en-US" altLang="en-US" sz="2000" dirty="0">
                <a:cs typeface="Times New Roman" panose="02020603050405020304" pitchFamily="18" charset="0"/>
              </a:rPr>
              <a:t>-1 ; </a:t>
            </a:r>
          </a:p>
          <a:p>
            <a:pPr eaLnBrk="1" hangingPunct="1"/>
            <a:endParaRPr lang="en-US" altLang="en-US" sz="2000" dirty="0">
              <a:cs typeface="Times New Roman" panose="02020603050405020304" pitchFamily="18" charset="0"/>
            </a:endParaRPr>
          </a:p>
          <a:p>
            <a:pPr marL="0" marR="0" lvl="2" indent="0" algn="l" defTabSz="914400" rtl="0" eaLnBrk="1" fontAlgn="base" latinLnBrk="0" hangingPunct="1">
              <a:lnSpc>
                <a:spcPct val="100000"/>
              </a:lnSpc>
              <a:spcBef>
                <a:spcPct val="30000"/>
              </a:spcBef>
              <a:spcAft>
                <a:spcPct val="0"/>
              </a:spcAft>
              <a:buClrTx/>
              <a:buSzTx/>
              <a:buFontTx/>
              <a:buNone/>
              <a:tabLst/>
              <a:defRPr/>
            </a:pPr>
            <a:r>
              <a:rPr lang="en-US" sz="2000" b="1" dirty="0"/>
              <a:t>routine</a:t>
            </a:r>
            <a:r>
              <a:rPr lang="en-US" sz="2000" dirty="0"/>
              <a:t> vine-to-tree(root, size) </a:t>
            </a:r>
          </a:p>
          <a:p>
            <a:pPr marL="0" marR="0" lvl="2" indent="0" algn="l" defTabSz="914400" rtl="0" eaLnBrk="1" fontAlgn="base" latinLnBrk="0" hangingPunct="1">
              <a:lnSpc>
                <a:spcPct val="100000"/>
              </a:lnSpc>
              <a:spcBef>
                <a:spcPct val="30000"/>
              </a:spcBef>
              <a:spcAft>
                <a:spcPct val="0"/>
              </a:spcAft>
              <a:buClrTx/>
              <a:buSzTx/>
              <a:buFontTx/>
              <a:buNone/>
              <a:tabLst/>
              <a:defRPr/>
            </a:pPr>
            <a:r>
              <a:rPr lang="en-US" sz="2000" dirty="0"/>
              <a:t>leaves ← size + 1 − 2</a:t>
            </a:r>
            <a:r>
              <a:rPr lang="en-US" sz="2000" baseline="30000" dirty="0"/>
              <a:t>⌊log</a:t>
            </a:r>
            <a:r>
              <a:rPr lang="en-US" sz="2000" baseline="-25000" dirty="0"/>
              <a:t>2</a:t>
            </a:r>
            <a:r>
              <a:rPr lang="en-US" sz="2000" baseline="30000" dirty="0"/>
              <a:t>(size + 1))⌋</a:t>
            </a:r>
            <a:r>
              <a:rPr lang="en-US" sz="2000" dirty="0"/>
              <a:t> </a:t>
            </a:r>
          </a:p>
          <a:p>
            <a:pPr marL="0" marR="0" lvl="2" indent="0" algn="l" defTabSz="914400" rtl="0" eaLnBrk="1" fontAlgn="base" latinLnBrk="0" hangingPunct="1">
              <a:lnSpc>
                <a:spcPct val="100000"/>
              </a:lnSpc>
              <a:spcBef>
                <a:spcPct val="30000"/>
              </a:spcBef>
              <a:spcAft>
                <a:spcPct val="0"/>
              </a:spcAft>
              <a:buClrTx/>
              <a:buSzTx/>
              <a:buFontTx/>
              <a:buNone/>
              <a:tabLst/>
              <a:defRPr/>
            </a:pPr>
            <a:r>
              <a:rPr lang="en-US" sz="2000" dirty="0"/>
              <a:t>compress(root, leaves) </a:t>
            </a:r>
          </a:p>
          <a:p>
            <a:pPr marL="0" marR="0" lvl="2" indent="0" algn="l" defTabSz="914400" rtl="0" eaLnBrk="1" fontAlgn="base" latinLnBrk="0" hangingPunct="1">
              <a:lnSpc>
                <a:spcPct val="100000"/>
              </a:lnSpc>
              <a:spcBef>
                <a:spcPct val="30000"/>
              </a:spcBef>
              <a:spcAft>
                <a:spcPct val="0"/>
              </a:spcAft>
              <a:buClrTx/>
              <a:buSzTx/>
              <a:buFontTx/>
              <a:buNone/>
              <a:tabLst/>
              <a:defRPr/>
            </a:pPr>
            <a:r>
              <a:rPr lang="en-US" sz="2000" dirty="0"/>
              <a:t>size ← size − leaves</a:t>
            </a:r>
          </a:p>
          <a:p>
            <a:pPr marL="0" marR="0" lvl="2" indent="0" algn="l" defTabSz="914400" rtl="0" eaLnBrk="1" fontAlgn="base" latinLnBrk="0" hangingPunct="1">
              <a:lnSpc>
                <a:spcPct val="100000"/>
              </a:lnSpc>
              <a:spcBef>
                <a:spcPct val="30000"/>
              </a:spcBef>
              <a:spcAft>
                <a:spcPct val="0"/>
              </a:spcAft>
              <a:buClrTx/>
              <a:buSzTx/>
              <a:buFontTx/>
              <a:buNone/>
              <a:tabLst/>
              <a:defRPr/>
            </a:pPr>
            <a:r>
              <a:rPr lang="en-US" sz="2000" b="1" dirty="0"/>
              <a:t>while</a:t>
            </a:r>
            <a:r>
              <a:rPr lang="en-US" sz="2000" dirty="0"/>
              <a:t> size &gt; 1 compress(root, ⌊size / 2⌋) size ← ⌊size / 2⌋</a:t>
            </a:r>
          </a:p>
          <a:p>
            <a:pPr marL="0" marR="0" lvl="2" indent="0" algn="l" defTabSz="914400" rtl="0" eaLnBrk="1" fontAlgn="base" latinLnBrk="0" hangingPunct="1">
              <a:lnSpc>
                <a:spcPct val="100000"/>
              </a:lnSpc>
              <a:spcBef>
                <a:spcPct val="30000"/>
              </a:spcBef>
              <a:spcAft>
                <a:spcPct val="0"/>
              </a:spcAft>
              <a:buClrTx/>
              <a:buSzTx/>
              <a:buFontTx/>
              <a:buNone/>
              <a:tabLst/>
              <a:defRPr/>
            </a:pPr>
            <a:endParaRPr lang="en-US" sz="2000" dirty="0"/>
          </a:p>
          <a:p>
            <a:pPr marL="0" marR="0" lvl="2" indent="0" algn="l" defTabSz="914400" rtl="0" eaLnBrk="1" fontAlgn="base" latinLnBrk="0" hangingPunct="1">
              <a:lnSpc>
                <a:spcPct val="100000"/>
              </a:lnSpc>
              <a:spcBef>
                <a:spcPct val="30000"/>
              </a:spcBef>
              <a:spcAft>
                <a:spcPct val="0"/>
              </a:spcAft>
              <a:buClrTx/>
              <a:buSzTx/>
              <a:buFontTx/>
              <a:buNone/>
              <a:tabLst/>
              <a:defRPr/>
            </a:pPr>
            <a:r>
              <a:rPr lang="en-US" sz="2000" b="1" dirty="0"/>
              <a:t>routine</a:t>
            </a:r>
            <a:r>
              <a:rPr lang="en-US" sz="2000" dirty="0"/>
              <a:t> compress(root, count) </a:t>
            </a:r>
          </a:p>
          <a:p>
            <a:pPr marL="0" marR="0" lvl="2" indent="0" algn="l" defTabSz="914400" rtl="0" eaLnBrk="1" fontAlgn="base" latinLnBrk="0" hangingPunct="1">
              <a:lnSpc>
                <a:spcPct val="100000"/>
              </a:lnSpc>
              <a:spcBef>
                <a:spcPct val="30000"/>
              </a:spcBef>
              <a:spcAft>
                <a:spcPct val="0"/>
              </a:spcAft>
              <a:buClrTx/>
              <a:buSzTx/>
              <a:buFontTx/>
              <a:buNone/>
              <a:tabLst/>
              <a:defRPr/>
            </a:pPr>
            <a:r>
              <a:rPr lang="en-US" sz="2000" dirty="0"/>
              <a:t>scanner ← root </a:t>
            </a:r>
          </a:p>
          <a:p>
            <a:pPr marL="0" marR="0" lvl="2" indent="0" algn="l" defTabSz="914400" rtl="0" eaLnBrk="1" fontAlgn="base" latinLnBrk="0" hangingPunct="1">
              <a:lnSpc>
                <a:spcPct val="100000"/>
              </a:lnSpc>
              <a:spcBef>
                <a:spcPct val="30000"/>
              </a:spcBef>
              <a:spcAft>
                <a:spcPct val="0"/>
              </a:spcAft>
              <a:buClrTx/>
              <a:buSzTx/>
              <a:buFontTx/>
              <a:buNone/>
              <a:tabLst/>
              <a:defRPr/>
            </a:pPr>
            <a:r>
              <a:rPr lang="en-US" sz="2000" b="1" dirty="0"/>
              <a:t>for</a:t>
            </a:r>
            <a:r>
              <a:rPr lang="en-US" sz="2000" dirty="0"/>
              <a:t> </a:t>
            </a:r>
            <a:r>
              <a:rPr lang="en-US" sz="2000" dirty="0" err="1"/>
              <a:t>i</a:t>
            </a:r>
            <a:r>
              <a:rPr lang="en-US" sz="2000" dirty="0"/>
              <a:t> ← 1 </a:t>
            </a:r>
            <a:r>
              <a:rPr lang="en-US" sz="2000" b="1" dirty="0"/>
              <a:t>to</a:t>
            </a:r>
            <a:r>
              <a:rPr lang="en-US" sz="2000" dirty="0"/>
              <a:t> count child ← </a:t>
            </a:r>
            <a:r>
              <a:rPr lang="en-US" sz="2000" dirty="0" err="1"/>
              <a:t>scanner.right</a:t>
            </a:r>
            <a:endParaRPr lang="en-US" sz="2000" dirty="0"/>
          </a:p>
          <a:p>
            <a:pPr marL="0" marR="0" lvl="2" indent="0" algn="l" defTabSz="914400" rtl="0" eaLnBrk="1" fontAlgn="base" latinLnBrk="0" hangingPunct="1">
              <a:lnSpc>
                <a:spcPct val="100000"/>
              </a:lnSpc>
              <a:spcBef>
                <a:spcPct val="30000"/>
              </a:spcBef>
              <a:spcAft>
                <a:spcPct val="0"/>
              </a:spcAft>
              <a:buClrTx/>
              <a:buSzTx/>
              <a:buFontTx/>
              <a:buNone/>
              <a:tabLst/>
              <a:defRPr/>
            </a:pPr>
            <a:r>
              <a:rPr lang="en-US" sz="2000" dirty="0" err="1"/>
              <a:t>scanner.right</a:t>
            </a:r>
            <a:r>
              <a:rPr lang="en-US" sz="2000" dirty="0"/>
              <a:t> ← </a:t>
            </a:r>
            <a:r>
              <a:rPr lang="en-US" sz="2000" dirty="0" err="1"/>
              <a:t>child.right</a:t>
            </a:r>
            <a:r>
              <a:rPr lang="en-US" sz="2000" dirty="0"/>
              <a:t> </a:t>
            </a:r>
          </a:p>
          <a:p>
            <a:pPr marL="0" marR="0" lvl="2" indent="0" algn="l" defTabSz="914400" rtl="0" eaLnBrk="1" fontAlgn="base" latinLnBrk="0" hangingPunct="1">
              <a:lnSpc>
                <a:spcPct val="100000"/>
              </a:lnSpc>
              <a:spcBef>
                <a:spcPct val="30000"/>
              </a:spcBef>
              <a:spcAft>
                <a:spcPct val="0"/>
              </a:spcAft>
              <a:buClrTx/>
              <a:buSzTx/>
              <a:buFontTx/>
              <a:buNone/>
              <a:tabLst/>
              <a:defRPr/>
            </a:pPr>
            <a:r>
              <a:rPr lang="en-US" sz="2000" dirty="0"/>
              <a:t>scanner ← </a:t>
            </a:r>
            <a:r>
              <a:rPr lang="en-US" sz="2000" dirty="0" err="1"/>
              <a:t>scanner.right</a:t>
            </a:r>
            <a:r>
              <a:rPr lang="en-US" sz="2000" dirty="0"/>
              <a:t> </a:t>
            </a:r>
          </a:p>
          <a:p>
            <a:pPr marL="0" marR="0" lvl="2" indent="0" algn="l" defTabSz="914400" rtl="0" eaLnBrk="1" fontAlgn="base" latinLnBrk="0" hangingPunct="1">
              <a:lnSpc>
                <a:spcPct val="100000"/>
              </a:lnSpc>
              <a:spcBef>
                <a:spcPct val="30000"/>
              </a:spcBef>
              <a:spcAft>
                <a:spcPct val="0"/>
              </a:spcAft>
              <a:buClrTx/>
              <a:buSzTx/>
              <a:buFontTx/>
              <a:buNone/>
              <a:tabLst/>
              <a:defRPr/>
            </a:pPr>
            <a:r>
              <a:rPr lang="en-US" sz="2000" dirty="0" err="1"/>
              <a:t>child.right</a:t>
            </a:r>
            <a:r>
              <a:rPr lang="en-US" sz="2000" dirty="0"/>
              <a:t> ← </a:t>
            </a:r>
            <a:r>
              <a:rPr lang="en-US" sz="2000" dirty="0" err="1"/>
              <a:t>scanner.left</a:t>
            </a:r>
            <a:r>
              <a:rPr lang="en-US" sz="2000" dirty="0"/>
              <a:t> </a:t>
            </a:r>
          </a:p>
          <a:p>
            <a:pPr marL="0" marR="0" lvl="2" indent="0" algn="l" defTabSz="914400" rtl="0" eaLnBrk="1" fontAlgn="base" latinLnBrk="0" hangingPunct="1">
              <a:lnSpc>
                <a:spcPct val="100000"/>
              </a:lnSpc>
              <a:spcBef>
                <a:spcPct val="30000"/>
              </a:spcBef>
              <a:spcAft>
                <a:spcPct val="0"/>
              </a:spcAft>
              <a:buClrTx/>
              <a:buSzTx/>
              <a:buFontTx/>
              <a:buNone/>
              <a:tabLst/>
              <a:defRPr/>
            </a:pPr>
            <a:r>
              <a:rPr lang="en-US" sz="2000" dirty="0" err="1"/>
              <a:t>scanner.left</a:t>
            </a:r>
            <a:r>
              <a:rPr lang="en-US" sz="2000" dirty="0"/>
              <a:t> ← child</a:t>
            </a:r>
          </a:p>
          <a:p>
            <a:pPr marL="0" marR="0" lvl="2" indent="0" algn="l" defTabSz="914400" rtl="0" eaLnBrk="1" fontAlgn="base" latinLnBrk="0" hangingPunct="1">
              <a:lnSpc>
                <a:spcPct val="100000"/>
              </a:lnSpc>
              <a:spcBef>
                <a:spcPct val="30000"/>
              </a:spcBef>
              <a:spcAft>
                <a:spcPct val="0"/>
              </a:spcAft>
              <a:buClrTx/>
              <a:buSzTx/>
              <a:buFontTx/>
              <a:buNone/>
              <a:tabLst/>
              <a:defRPr/>
            </a:pPr>
            <a:endParaRPr lang="en-US" sz="2000" baseline="0" dirty="0"/>
          </a:p>
          <a:p>
            <a:pPr marL="0" marR="0" lvl="2" indent="0" algn="l" defTabSz="914400" rtl="0" eaLnBrk="1" fontAlgn="base" latinLnBrk="0" hangingPunct="1">
              <a:lnSpc>
                <a:spcPct val="100000"/>
              </a:lnSpc>
              <a:spcBef>
                <a:spcPct val="30000"/>
              </a:spcBef>
              <a:spcAft>
                <a:spcPct val="0"/>
              </a:spcAft>
              <a:buClrTx/>
              <a:buSzTx/>
              <a:buFontTx/>
              <a:buNone/>
              <a:tabLst/>
              <a:defRPr/>
            </a:pPr>
            <a:r>
              <a:rPr lang="en-US" sz="2000" baseline="0" dirty="0"/>
              <a:t>leaves: </a:t>
            </a:r>
            <a:r>
              <a:rPr lang="en-US" sz="2000" baseline="0" dirty="0" err="1"/>
              <a:t>sau</a:t>
            </a:r>
            <a:r>
              <a:rPr lang="en-US" sz="2000" baseline="0" dirty="0"/>
              <a:t> </a:t>
            </a:r>
            <a:r>
              <a:rPr lang="en-US" sz="2000" baseline="0" dirty="0" err="1"/>
              <a:t>khi</a:t>
            </a:r>
            <a:r>
              <a:rPr lang="en-US" sz="2000" baseline="0" dirty="0"/>
              <a:t> </a:t>
            </a:r>
            <a:r>
              <a:rPr lang="en-US" sz="2000" baseline="0" dirty="0" err="1"/>
              <a:t>dựng</a:t>
            </a:r>
            <a:r>
              <a:rPr lang="en-US" sz="2000" baseline="0" dirty="0"/>
              <a:t> </a:t>
            </a:r>
            <a:r>
              <a:rPr lang="en-US" sz="2000" baseline="0" dirty="0" err="1"/>
              <a:t>cây</a:t>
            </a:r>
            <a:r>
              <a:rPr lang="en-US" sz="2000" baseline="0" dirty="0"/>
              <a:t> </a:t>
            </a:r>
            <a:r>
              <a:rPr lang="en-US" sz="2000" baseline="0" dirty="0" err="1"/>
              <a:t>đầy</a:t>
            </a:r>
            <a:r>
              <a:rPr lang="en-US" sz="2000" baseline="0" dirty="0"/>
              <a:t> </a:t>
            </a:r>
            <a:r>
              <a:rPr lang="en-US" sz="2000" baseline="0" dirty="0" err="1"/>
              <a:t>đủ</a:t>
            </a:r>
            <a:r>
              <a:rPr lang="en-US" sz="2000" baseline="0" dirty="0"/>
              <a:t>, </a:t>
            </a:r>
            <a:r>
              <a:rPr lang="en-US" sz="2000" baseline="0" dirty="0" err="1"/>
              <a:t>số</a:t>
            </a:r>
            <a:r>
              <a:rPr lang="en-US" sz="2000" baseline="0" dirty="0"/>
              <a:t> </a:t>
            </a:r>
            <a:r>
              <a:rPr lang="en-US" sz="2000" baseline="0" dirty="0" err="1"/>
              <a:t>lượng</a:t>
            </a:r>
            <a:r>
              <a:rPr lang="en-US" sz="2000" baseline="0" dirty="0"/>
              <a:t> leaves </a:t>
            </a:r>
            <a:r>
              <a:rPr lang="en-US" sz="2000" baseline="0" dirty="0" err="1"/>
              <a:t>còn</a:t>
            </a:r>
            <a:r>
              <a:rPr lang="en-US" sz="2000" baseline="0" dirty="0"/>
              <a:t> </a:t>
            </a:r>
            <a:r>
              <a:rPr lang="en-US" sz="2000" baseline="0" dirty="0" err="1"/>
              <a:t>dư</a:t>
            </a:r>
            <a:r>
              <a:rPr lang="en-US" sz="2000" baseline="0" dirty="0"/>
              <a:t> </a:t>
            </a:r>
            <a:r>
              <a:rPr lang="en-US" sz="2000" baseline="0" dirty="0" err="1"/>
              <a:t>lại</a:t>
            </a:r>
            <a:r>
              <a:rPr lang="en-US" sz="2000" baseline="0" dirty="0"/>
              <a:t> ở </a:t>
            </a:r>
            <a:r>
              <a:rPr lang="en-US" sz="2000" baseline="0" dirty="0" err="1"/>
              <a:t>từng</a:t>
            </a:r>
            <a:r>
              <a:rPr lang="en-US" sz="2000" baseline="0" dirty="0"/>
              <a:t> </a:t>
            </a:r>
            <a:r>
              <a:rPr lang="en-US" sz="2000" baseline="0" dirty="0" err="1"/>
              <a:t>mức</a:t>
            </a:r>
            <a:r>
              <a:rPr lang="en-US" sz="2000" baseline="0" dirty="0"/>
              <a:t>.</a:t>
            </a:r>
          </a:p>
          <a:p>
            <a:pPr marL="0" marR="0" lvl="2" indent="0" algn="l" defTabSz="914400" rtl="0" eaLnBrk="1" fontAlgn="base" latinLnBrk="0" hangingPunct="1">
              <a:lnSpc>
                <a:spcPct val="100000"/>
              </a:lnSpc>
              <a:spcBef>
                <a:spcPct val="30000"/>
              </a:spcBef>
              <a:spcAft>
                <a:spcPct val="0"/>
              </a:spcAft>
              <a:buClrTx/>
              <a:buSzTx/>
              <a:buFontTx/>
              <a:buNone/>
              <a:tabLst/>
              <a:defRPr/>
            </a:pPr>
            <a:endParaRPr lang="en-US" altLang="en-US" sz="2000" baseline="0" dirty="0">
              <a:cs typeface="Times New Roman" panose="02020603050405020304" pitchFamily="18" charset="0"/>
            </a:endParaRPr>
          </a:p>
          <a:p>
            <a:pPr marL="0" marR="0" lvl="2" indent="0" algn="l" defTabSz="914400" rtl="0" eaLnBrk="1" fontAlgn="base" latinLnBrk="0" hangingPunct="1">
              <a:lnSpc>
                <a:spcPct val="100000"/>
              </a:lnSpc>
              <a:spcBef>
                <a:spcPct val="30000"/>
              </a:spcBef>
              <a:spcAft>
                <a:spcPct val="0"/>
              </a:spcAft>
              <a:buClrTx/>
              <a:buSzTx/>
              <a:buFontTx/>
              <a:buNone/>
              <a:tabLst/>
              <a:defRPr/>
            </a:pPr>
            <a:endParaRPr lang="en-US" altLang="en-US" sz="2000" dirty="0">
              <a:cs typeface="Times New Roman" panose="02020603050405020304" pitchFamily="18" charset="0"/>
            </a:endParaRPr>
          </a:p>
          <a:p>
            <a:pPr lvl="2">
              <a:lnSpc>
                <a:spcPct val="110000"/>
              </a:lnSpc>
            </a:pPr>
            <a:endParaRPr lang="en-US" altLang="en-US" sz="1600" dirty="0">
              <a:cs typeface="Times New Roman" panose="02020603050405020304" pitchFamily="18" charset="0"/>
            </a:endParaRPr>
          </a:p>
          <a:p>
            <a:pPr lvl="2">
              <a:lnSpc>
                <a:spcPct val="110000"/>
              </a:lnSpc>
            </a:pP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81</a:t>
            </a:fld>
            <a:endParaRPr lang="en-US"/>
          </a:p>
        </p:txBody>
      </p:sp>
    </p:spTree>
    <p:extLst>
      <p:ext uri="{BB962C8B-B14F-4D97-AF65-F5344CB8AC3E}">
        <p14:creationId xmlns:p14="http://schemas.microsoft.com/office/powerpoint/2010/main" val="9722072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pPr marL="0" marR="0" lvl="2" indent="0" algn="l" defTabSz="914400" rtl="0" eaLnBrk="1" fontAlgn="base" latinLnBrk="0" hangingPunct="1">
              <a:lnSpc>
                <a:spcPct val="100000"/>
              </a:lnSpc>
              <a:spcBef>
                <a:spcPct val="30000"/>
              </a:spcBef>
              <a:spcAft>
                <a:spcPct val="0"/>
              </a:spcAft>
              <a:buClrTx/>
              <a:buSzTx/>
              <a:buFontTx/>
              <a:buNone/>
              <a:tabLst/>
              <a:defRPr/>
            </a:pPr>
            <a:r>
              <a:rPr lang="en-US" sz="2000" b="1" baseline="0" dirty="0" err="1"/>
              <a:t>Bổ</a:t>
            </a:r>
            <a:r>
              <a:rPr lang="en-US" sz="2000" b="1" baseline="0" dirty="0"/>
              <a:t> sung </a:t>
            </a:r>
            <a:r>
              <a:rPr lang="en-US" sz="2000" b="1" baseline="0" dirty="0" err="1"/>
              <a:t>cây</a:t>
            </a:r>
            <a:r>
              <a:rPr lang="en-US" sz="2000" b="1" baseline="0" dirty="0"/>
              <a:t> con </a:t>
            </a:r>
            <a:r>
              <a:rPr lang="en-US" sz="2000" b="1" baseline="0" dirty="0" err="1"/>
              <a:t>phải</a:t>
            </a:r>
            <a:r>
              <a:rPr lang="en-US" sz="2000" b="1" baseline="0" dirty="0"/>
              <a:t>. =&gt; quay </a:t>
            </a:r>
            <a:r>
              <a:rPr lang="en-US" sz="2000" b="1" baseline="0" dirty="0" err="1"/>
              <a:t>trái</a:t>
            </a:r>
            <a:r>
              <a:rPr lang="en-US" sz="2000" b="1" baseline="0" dirty="0"/>
              <a:t> </a:t>
            </a:r>
            <a:r>
              <a:rPr lang="en-US" sz="2000" b="1" baseline="0" dirty="0" err="1"/>
              <a:t>để</a:t>
            </a:r>
            <a:r>
              <a:rPr lang="en-US" sz="2000" b="1" baseline="0" dirty="0"/>
              <a:t> </a:t>
            </a:r>
            <a:r>
              <a:rPr lang="en-US" sz="2000" b="1" baseline="0" dirty="0" err="1"/>
              <a:t>bớt</a:t>
            </a:r>
            <a:r>
              <a:rPr lang="en-US" sz="2000" b="1" baseline="0" dirty="0"/>
              <a:t> </a:t>
            </a:r>
            <a:r>
              <a:rPr lang="en-US" sz="2000" b="1" baseline="0" dirty="0" err="1"/>
              <a:t>nút</a:t>
            </a:r>
            <a:r>
              <a:rPr lang="en-US" sz="2000" b="1" baseline="0" dirty="0"/>
              <a:t> </a:t>
            </a:r>
            <a:r>
              <a:rPr lang="en-US" sz="2000" b="1" baseline="0" dirty="0" err="1"/>
              <a:t>bên</a:t>
            </a:r>
            <a:r>
              <a:rPr lang="en-US" sz="2000" b="1" baseline="0" dirty="0"/>
              <a:t> </a:t>
            </a:r>
            <a:r>
              <a:rPr lang="en-US" sz="2000" b="1" baseline="0" dirty="0" err="1"/>
              <a:t>phải</a:t>
            </a:r>
            <a:endParaRPr lang="en-US" sz="2000" b="1" baseline="0" dirty="0"/>
          </a:p>
          <a:p>
            <a:pPr marL="0" marR="0" lvl="2" indent="0" algn="l" defTabSz="914400" rtl="0" eaLnBrk="1" fontAlgn="base" latinLnBrk="0" hangingPunct="1">
              <a:lnSpc>
                <a:spcPct val="100000"/>
              </a:lnSpc>
              <a:spcBef>
                <a:spcPct val="30000"/>
              </a:spcBef>
              <a:spcAft>
                <a:spcPct val="0"/>
              </a:spcAft>
              <a:buClrTx/>
              <a:buSzTx/>
              <a:buFontTx/>
              <a:buNone/>
              <a:tabLst/>
              <a:defRPr/>
            </a:pPr>
            <a:r>
              <a:rPr lang="en-US" sz="2000" b="1" baseline="0" dirty="0" err="1"/>
              <a:t>Bổ</a:t>
            </a:r>
            <a:r>
              <a:rPr lang="en-US" sz="2000" b="1" baseline="0" dirty="0"/>
              <a:t> sung </a:t>
            </a:r>
            <a:r>
              <a:rPr lang="en-US" sz="2000" b="1" baseline="0" dirty="0" err="1"/>
              <a:t>cây</a:t>
            </a:r>
            <a:r>
              <a:rPr lang="en-US" sz="2000" b="1" baseline="0" dirty="0"/>
              <a:t> con </a:t>
            </a:r>
            <a:r>
              <a:rPr lang="en-US" sz="2000" b="1" baseline="0" dirty="0" err="1"/>
              <a:t>trái</a:t>
            </a:r>
            <a:r>
              <a:rPr lang="en-US" sz="2000" b="1" baseline="0" dirty="0"/>
              <a:t> =&gt; quay </a:t>
            </a:r>
            <a:r>
              <a:rPr lang="en-US" sz="2000" b="1" baseline="0" dirty="0" err="1"/>
              <a:t>phải</a:t>
            </a:r>
            <a:r>
              <a:rPr lang="en-US" sz="2000" b="1" baseline="0" dirty="0"/>
              <a:t> </a:t>
            </a:r>
            <a:r>
              <a:rPr lang="en-US" sz="2000" b="1" baseline="0" dirty="0" err="1"/>
              <a:t>để</a:t>
            </a:r>
            <a:r>
              <a:rPr lang="en-US" sz="2000" b="1" baseline="0" dirty="0"/>
              <a:t> </a:t>
            </a:r>
            <a:r>
              <a:rPr lang="en-US" sz="2000" b="1" baseline="0" dirty="0" err="1"/>
              <a:t>bớt</a:t>
            </a:r>
            <a:r>
              <a:rPr lang="en-US" sz="2000" b="1" baseline="0" dirty="0"/>
              <a:t> </a:t>
            </a:r>
            <a:r>
              <a:rPr lang="en-US" sz="2000" b="1" baseline="0" dirty="0" err="1"/>
              <a:t>nút</a:t>
            </a:r>
            <a:r>
              <a:rPr lang="en-US" sz="2000" b="1" baseline="0" dirty="0"/>
              <a:t> </a:t>
            </a:r>
            <a:r>
              <a:rPr lang="en-US" sz="2000" b="1" baseline="0" dirty="0" err="1"/>
              <a:t>bên</a:t>
            </a:r>
            <a:r>
              <a:rPr lang="en-US" sz="2000" b="1" baseline="0" dirty="0"/>
              <a:t> </a:t>
            </a:r>
            <a:r>
              <a:rPr lang="en-US" sz="2000" b="1" baseline="0" dirty="0" err="1"/>
              <a:t>trái</a:t>
            </a:r>
            <a:endParaRPr lang="en-US" sz="2000" b="1" dirty="0"/>
          </a:p>
          <a:p>
            <a:pPr marL="0" marR="0" lvl="2" indent="0" algn="l" defTabSz="914400" rtl="0" eaLnBrk="1" fontAlgn="base" latinLnBrk="0" hangingPunct="1">
              <a:lnSpc>
                <a:spcPct val="100000"/>
              </a:lnSpc>
              <a:spcBef>
                <a:spcPct val="30000"/>
              </a:spcBef>
              <a:spcAft>
                <a:spcPct val="0"/>
              </a:spcAft>
              <a:buClrTx/>
              <a:buSzTx/>
              <a:buFontTx/>
              <a:buNone/>
              <a:tabLst/>
              <a:defRPr/>
            </a:pPr>
            <a:endParaRPr lang="en-US" sz="2000" dirty="0"/>
          </a:p>
          <a:p>
            <a:pPr marL="0" marR="0" lvl="2" indent="0" algn="l" defTabSz="914400" rtl="0" eaLnBrk="1" fontAlgn="base" latinLnBrk="0" hangingPunct="1">
              <a:lnSpc>
                <a:spcPct val="100000"/>
              </a:lnSpc>
              <a:spcBef>
                <a:spcPct val="30000"/>
              </a:spcBef>
              <a:spcAft>
                <a:spcPct val="0"/>
              </a:spcAft>
              <a:buClrTx/>
              <a:buSzTx/>
              <a:buFontTx/>
              <a:buNone/>
              <a:tabLst/>
              <a:defRPr/>
            </a:pPr>
            <a:r>
              <a:rPr lang="vi-VN" sz="2000" dirty="0"/>
              <a:t>Việc mất cân bằng xảy ra khi bổ sung một nút, nên chỉ có khả</a:t>
            </a:r>
            <a:r>
              <a:rPr lang="en-US" sz="2000" dirty="0"/>
              <a:t> </a:t>
            </a:r>
            <a:r>
              <a:rPr lang="vi-VN" sz="2000" dirty="0"/>
              <a:t>năng </a:t>
            </a:r>
            <a:r>
              <a:rPr lang="vi-VN" sz="2000" b="1" dirty="0"/>
              <a:t>trước khi bổ sung chiều cao của cây con phải đã lớn hơn chiều cao của cây</a:t>
            </a:r>
            <a:r>
              <a:rPr lang="en-US" sz="2000" b="1" dirty="0"/>
              <a:t> </a:t>
            </a:r>
            <a:r>
              <a:rPr lang="vi-VN" sz="2000" b="1" dirty="0"/>
              <a:t>con trái </a:t>
            </a:r>
            <a:r>
              <a:rPr lang="vi-VN" sz="2000" dirty="0"/>
              <a:t>(lớn hơn đúng 1), và việc bổ sung vào cây con phải lại tiếp tục làm tăng</a:t>
            </a:r>
            <a:r>
              <a:rPr lang="en-US" sz="2000" dirty="0"/>
              <a:t> </a:t>
            </a:r>
            <a:r>
              <a:rPr lang="vi-VN" sz="2000" dirty="0"/>
              <a:t>chiều cao của nó.</a:t>
            </a:r>
            <a:endParaRPr lang="en-US" sz="2000" dirty="0"/>
          </a:p>
          <a:p>
            <a:pPr marL="0" marR="0" lvl="2" indent="0" algn="l" defTabSz="914400" rtl="0" eaLnBrk="1" fontAlgn="base" latinLnBrk="0" hangingPunct="1">
              <a:lnSpc>
                <a:spcPct val="100000"/>
              </a:lnSpc>
              <a:spcBef>
                <a:spcPct val="30000"/>
              </a:spcBef>
              <a:spcAft>
                <a:spcPct val="0"/>
              </a:spcAft>
              <a:buClrTx/>
              <a:buSzTx/>
              <a:buFontTx/>
              <a:buNone/>
              <a:tabLst/>
              <a:defRPr/>
            </a:pPr>
            <a:endParaRPr lang="en-US" sz="2000" dirty="0"/>
          </a:p>
          <a:p>
            <a:pPr marL="0" marR="0" lvl="2" indent="0" algn="l" defTabSz="914400" rtl="0" eaLnBrk="1" fontAlgn="base" latinLnBrk="0" hangingPunct="1">
              <a:lnSpc>
                <a:spcPct val="100000"/>
              </a:lnSpc>
              <a:spcBef>
                <a:spcPct val="30000"/>
              </a:spcBef>
              <a:spcAft>
                <a:spcPct val="0"/>
              </a:spcAft>
              <a:buClrTx/>
              <a:buSzTx/>
              <a:buFontTx/>
              <a:buNone/>
              <a:tabLst/>
              <a:defRPr/>
            </a:pPr>
            <a:r>
              <a:rPr lang="vi-VN" sz="2000" dirty="0"/>
              <a:t>Giả sử chiều cao cây con trái và phải trước khi bổ sung lần</a:t>
            </a:r>
            <a:r>
              <a:rPr lang="en-US" sz="2000" dirty="0"/>
              <a:t> </a:t>
            </a:r>
            <a:r>
              <a:rPr lang="vi-VN" sz="2000" dirty="0"/>
              <a:t>lượt là h và h+1</a:t>
            </a:r>
            <a:r>
              <a:rPr lang="en-US" sz="2000" dirty="0"/>
              <a:t> (a1) =&gt; </a:t>
            </a:r>
            <a:r>
              <a:rPr lang="en-US" sz="2000" dirty="0" err="1"/>
              <a:t>để</a:t>
            </a:r>
            <a:r>
              <a:rPr lang="en-US" sz="2000" baseline="0" dirty="0"/>
              <a:t> </a:t>
            </a:r>
            <a:r>
              <a:rPr lang="en-US" sz="2000" baseline="0" dirty="0" err="1"/>
              <a:t>sau</a:t>
            </a:r>
            <a:r>
              <a:rPr lang="en-US" sz="2000" baseline="0" dirty="0"/>
              <a:t> </a:t>
            </a:r>
            <a:r>
              <a:rPr lang="en-US" sz="2000" baseline="0" dirty="0" err="1"/>
              <a:t>khi</a:t>
            </a:r>
            <a:r>
              <a:rPr lang="en-US" sz="2000" baseline="0" dirty="0"/>
              <a:t> </a:t>
            </a:r>
            <a:r>
              <a:rPr lang="en-US" sz="2000" baseline="0" dirty="0" err="1"/>
              <a:t>bổ</a:t>
            </a:r>
            <a:r>
              <a:rPr lang="en-US" sz="2000" baseline="0" dirty="0"/>
              <a:t> sung, </a:t>
            </a:r>
            <a:r>
              <a:rPr lang="en-US" sz="2000" baseline="0" dirty="0" err="1"/>
              <a:t>thì</a:t>
            </a:r>
            <a:r>
              <a:rPr lang="en-US" sz="2000" baseline="0" dirty="0"/>
              <a:t> </a:t>
            </a:r>
            <a:r>
              <a:rPr lang="en-US" sz="2000" baseline="0" dirty="0" err="1"/>
              <a:t>cây</a:t>
            </a:r>
            <a:r>
              <a:rPr lang="en-US" sz="2000" baseline="0" dirty="0"/>
              <a:t> </a:t>
            </a:r>
            <a:r>
              <a:rPr lang="en-US" sz="2000" baseline="0" dirty="0" err="1"/>
              <a:t>mất</a:t>
            </a:r>
            <a:r>
              <a:rPr lang="en-US" sz="2000" baseline="0" dirty="0"/>
              <a:t> </a:t>
            </a:r>
            <a:r>
              <a:rPr lang="en-US" sz="2000" baseline="0" dirty="0" err="1"/>
              <a:t>cân</a:t>
            </a:r>
            <a:r>
              <a:rPr lang="en-US" sz="2000" baseline="0" dirty="0"/>
              <a:t> </a:t>
            </a:r>
            <a:r>
              <a:rPr lang="en-US" sz="2000" baseline="0" dirty="0" err="1"/>
              <a:t>bằng</a:t>
            </a:r>
            <a:r>
              <a:rPr lang="en-US" sz="2000" baseline="0" dirty="0"/>
              <a:t>. </a:t>
            </a:r>
            <a:r>
              <a:rPr lang="en-US" sz="2000" baseline="0" dirty="0" err="1"/>
              <a:t>Các</a:t>
            </a:r>
            <a:r>
              <a:rPr lang="en-US" sz="2000" baseline="0" dirty="0"/>
              <a:t> </a:t>
            </a:r>
            <a:r>
              <a:rPr lang="en-US" sz="2000" baseline="0" dirty="0" err="1"/>
              <a:t>trường</a:t>
            </a:r>
            <a:r>
              <a:rPr lang="en-US" sz="2000" baseline="0" dirty="0"/>
              <a:t> </a:t>
            </a:r>
            <a:r>
              <a:rPr lang="en-US" sz="2000" baseline="0" dirty="0" err="1"/>
              <a:t>hợp</a:t>
            </a:r>
            <a:r>
              <a:rPr lang="en-US" sz="2000" baseline="0" dirty="0"/>
              <a:t> </a:t>
            </a:r>
            <a:r>
              <a:rPr lang="en-US" sz="2000" baseline="0" dirty="0" err="1"/>
              <a:t>khác</a:t>
            </a:r>
            <a:r>
              <a:rPr lang="en-US" sz="2000" baseline="0" dirty="0"/>
              <a:t> </a:t>
            </a:r>
            <a:r>
              <a:rPr lang="en-US" sz="2000" baseline="0" dirty="0" err="1"/>
              <a:t>việc</a:t>
            </a:r>
            <a:r>
              <a:rPr lang="en-US" sz="2000" baseline="0" dirty="0"/>
              <a:t> </a:t>
            </a:r>
            <a:r>
              <a:rPr lang="en-US" sz="2000" baseline="0" dirty="0" err="1"/>
              <a:t>bổ</a:t>
            </a:r>
            <a:r>
              <a:rPr lang="en-US" sz="2000" baseline="0" dirty="0"/>
              <a:t> sung </a:t>
            </a:r>
            <a:r>
              <a:rPr lang="en-US" sz="2000" baseline="0" dirty="0" err="1"/>
              <a:t>ko</a:t>
            </a:r>
            <a:r>
              <a:rPr lang="en-US" sz="2000" baseline="0" dirty="0"/>
              <a:t> </a:t>
            </a:r>
            <a:r>
              <a:rPr lang="en-US" sz="2000" baseline="0" dirty="0" err="1"/>
              <a:t>làm</a:t>
            </a:r>
            <a:r>
              <a:rPr lang="en-US" sz="2000" baseline="0" dirty="0"/>
              <a:t> </a:t>
            </a:r>
            <a:r>
              <a:rPr lang="en-US" sz="2000" baseline="0" dirty="0" err="1"/>
              <a:t>cây</a:t>
            </a:r>
            <a:r>
              <a:rPr lang="en-US" sz="2000" baseline="0" dirty="0"/>
              <a:t> </a:t>
            </a:r>
            <a:r>
              <a:rPr lang="en-US" sz="2000" baseline="0" dirty="0" err="1"/>
              <a:t>mất</a:t>
            </a:r>
            <a:r>
              <a:rPr lang="en-US" sz="2000" baseline="0" dirty="0"/>
              <a:t> </a:t>
            </a:r>
            <a:r>
              <a:rPr lang="en-US" sz="2000" baseline="0" dirty="0" err="1"/>
              <a:t>cb</a:t>
            </a:r>
            <a:endParaRPr lang="en-US" sz="2000" baseline="0" dirty="0"/>
          </a:p>
          <a:p>
            <a:pPr marL="0" marR="0" lvl="2" indent="0" algn="l" defTabSz="914400" rtl="0" eaLnBrk="1" fontAlgn="base" latinLnBrk="0" hangingPunct="1">
              <a:lnSpc>
                <a:spcPct val="100000"/>
              </a:lnSpc>
              <a:spcBef>
                <a:spcPct val="30000"/>
              </a:spcBef>
              <a:spcAft>
                <a:spcPct val="0"/>
              </a:spcAft>
              <a:buClrTx/>
              <a:buSzTx/>
              <a:buFontTx/>
              <a:buNone/>
              <a:tabLst/>
              <a:defRPr/>
            </a:pPr>
            <a:endParaRPr lang="en-US" sz="2000" baseline="0" dirty="0"/>
          </a:p>
          <a:p>
            <a:pPr marL="0" marR="0" lvl="2" indent="0" algn="l" defTabSz="914400" rtl="0" eaLnBrk="1" fontAlgn="base" latinLnBrk="0" hangingPunct="1">
              <a:lnSpc>
                <a:spcPct val="100000"/>
              </a:lnSpc>
              <a:spcBef>
                <a:spcPct val="30000"/>
              </a:spcBef>
              <a:spcAft>
                <a:spcPct val="0"/>
              </a:spcAft>
              <a:buClrTx/>
              <a:buSzTx/>
              <a:buFontTx/>
              <a:buNone/>
              <a:tabLst/>
              <a:defRPr/>
            </a:pPr>
            <a:r>
              <a:rPr lang="en-US" sz="2000" baseline="0" dirty="0"/>
              <a:t>+1, 0, … : </a:t>
            </a:r>
            <a:r>
              <a:rPr lang="vi-VN" sz="2000" dirty="0"/>
              <a:t>yếu tố cân bằng (balanced factor)</a:t>
            </a:r>
            <a:r>
              <a:rPr lang="en-US" sz="2000" dirty="0"/>
              <a:t> =</a:t>
            </a:r>
            <a:r>
              <a:rPr lang="vi-VN" sz="2000" dirty="0"/>
              <a:t> h(A</a:t>
            </a:r>
            <a:r>
              <a:rPr lang="vi-VN" sz="2000" baseline="-25000" dirty="0"/>
              <a:t>R</a:t>
            </a:r>
            <a:r>
              <a:rPr lang="vi-VN" sz="2000" dirty="0"/>
              <a:t>)–h(A</a:t>
            </a:r>
            <a:r>
              <a:rPr lang="vi-VN" sz="2000" baseline="-25000" dirty="0"/>
              <a:t>L</a:t>
            </a:r>
            <a:r>
              <a:rPr lang="vi-VN" sz="2000" dirty="0"/>
              <a:t>) </a:t>
            </a:r>
            <a:r>
              <a:rPr lang="en-US" sz="2000" dirty="0"/>
              <a:t> (</a:t>
            </a:r>
            <a:r>
              <a:rPr lang="en-US" sz="2000" dirty="0" err="1"/>
              <a:t>phai</a:t>
            </a:r>
            <a:r>
              <a:rPr lang="en-US" sz="2000" baseline="0" dirty="0"/>
              <a:t> – </a:t>
            </a:r>
            <a:r>
              <a:rPr lang="en-US" sz="2000" baseline="0" dirty="0" err="1"/>
              <a:t>trai</a:t>
            </a:r>
            <a:r>
              <a:rPr lang="en-US" sz="2000" baseline="0" dirty="0"/>
              <a:t>)</a:t>
            </a:r>
          </a:p>
          <a:p>
            <a:pPr marL="0" marR="0" lvl="2" indent="0" algn="l" defTabSz="914400" rtl="0" eaLnBrk="1" fontAlgn="base" latinLnBrk="0" hangingPunct="1">
              <a:lnSpc>
                <a:spcPct val="100000"/>
              </a:lnSpc>
              <a:spcBef>
                <a:spcPct val="30000"/>
              </a:spcBef>
              <a:spcAft>
                <a:spcPct val="0"/>
              </a:spcAft>
              <a:buClrTx/>
              <a:buSzTx/>
              <a:buFontTx/>
              <a:buNone/>
              <a:tabLst/>
              <a:defRPr/>
            </a:pPr>
            <a:endParaRPr lang="en-US" sz="2000" baseline="0" dirty="0"/>
          </a:p>
          <a:p>
            <a:pPr marL="0" marR="0" lvl="2" indent="0" algn="l" defTabSz="914400" rtl="0" eaLnBrk="1" fontAlgn="base" latinLnBrk="0" hangingPunct="1">
              <a:lnSpc>
                <a:spcPct val="100000"/>
              </a:lnSpc>
              <a:spcBef>
                <a:spcPct val="30000"/>
              </a:spcBef>
              <a:spcAft>
                <a:spcPct val="0"/>
              </a:spcAft>
              <a:buClrTx/>
              <a:buSzTx/>
              <a:buFontTx/>
              <a:buNone/>
              <a:tabLst/>
              <a:defRPr/>
            </a:pPr>
            <a:endParaRPr lang="en-US" sz="2000" baseline="0" dirty="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82</a:t>
            </a:fld>
            <a:endParaRPr lang="en-US"/>
          </a:p>
        </p:txBody>
      </p:sp>
    </p:spTree>
    <p:extLst>
      <p:ext uri="{BB962C8B-B14F-4D97-AF65-F5344CB8AC3E}">
        <p14:creationId xmlns:p14="http://schemas.microsoft.com/office/powerpoint/2010/main" val="373392752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2" indent="0" algn="l" defTabSz="914400" rtl="0" eaLnBrk="1" fontAlgn="base" latinLnBrk="0" hangingPunct="1">
              <a:lnSpc>
                <a:spcPct val="100000"/>
              </a:lnSpc>
              <a:spcBef>
                <a:spcPct val="30000"/>
              </a:spcBef>
              <a:spcAft>
                <a:spcPct val="0"/>
              </a:spcAft>
              <a:buClrTx/>
              <a:buSzTx/>
              <a:buFontTx/>
              <a:buNone/>
              <a:tabLst/>
              <a:defRPr/>
            </a:pPr>
            <a:r>
              <a:rPr lang="en-US" sz="2000" b="1" baseline="0" dirty="0" err="1"/>
              <a:t>Bổ</a:t>
            </a:r>
            <a:r>
              <a:rPr lang="en-US" sz="2000" b="1" baseline="0" dirty="0"/>
              <a:t> sung </a:t>
            </a:r>
            <a:r>
              <a:rPr lang="en-US" sz="2000" b="1" baseline="0" dirty="0" err="1"/>
              <a:t>bên</a:t>
            </a:r>
            <a:r>
              <a:rPr lang="en-US" sz="2000" b="1" baseline="0" dirty="0"/>
              <a:t> </a:t>
            </a:r>
            <a:r>
              <a:rPr lang="en-US" sz="2000" b="1" baseline="0" dirty="0" err="1"/>
              <a:t>phải</a:t>
            </a:r>
            <a:r>
              <a:rPr lang="en-US" sz="2000" b="1" baseline="0" dirty="0"/>
              <a:t>. =&gt; quay </a:t>
            </a:r>
            <a:r>
              <a:rPr lang="en-US" sz="2000" b="1" baseline="0" dirty="0" err="1"/>
              <a:t>trái</a:t>
            </a:r>
            <a:r>
              <a:rPr lang="en-US" sz="2000" b="1" baseline="0" dirty="0"/>
              <a:t>. </a:t>
            </a:r>
            <a:r>
              <a:rPr lang="en-US" sz="2000" b="1" baseline="0" dirty="0" err="1"/>
              <a:t>Nếu</a:t>
            </a:r>
            <a:r>
              <a:rPr lang="en-US" sz="2000" b="1" baseline="0" dirty="0"/>
              <a:t> quay </a:t>
            </a:r>
            <a:r>
              <a:rPr lang="en-US" sz="2000" b="1" baseline="0" dirty="0" err="1"/>
              <a:t>trái</a:t>
            </a:r>
            <a:r>
              <a:rPr lang="en-US" sz="2000" b="1" baseline="0" dirty="0"/>
              <a:t> </a:t>
            </a:r>
            <a:r>
              <a:rPr lang="en-US" sz="2000" b="1" baseline="0" dirty="0" err="1"/>
              <a:t>vẫn</a:t>
            </a:r>
            <a:r>
              <a:rPr lang="en-US" sz="2000" b="1" baseline="0" dirty="0"/>
              <a:t> </a:t>
            </a:r>
            <a:r>
              <a:rPr lang="en-US" sz="2000" b="1" baseline="0" dirty="0" err="1"/>
              <a:t>làm</a:t>
            </a:r>
            <a:r>
              <a:rPr lang="en-US" sz="2000" b="1" baseline="0" dirty="0"/>
              <a:t> </a:t>
            </a:r>
            <a:r>
              <a:rPr lang="en-US" sz="2000" b="1" baseline="0" dirty="0" err="1"/>
              <a:t>lệch</a:t>
            </a:r>
            <a:r>
              <a:rPr lang="en-US" sz="2000" b="1" baseline="0" dirty="0"/>
              <a:t> =&gt; quay </a:t>
            </a:r>
            <a:r>
              <a:rPr lang="en-US" sz="2000" b="1" baseline="0" dirty="0" err="1"/>
              <a:t>phải</a:t>
            </a:r>
            <a:r>
              <a:rPr lang="en-US" sz="2000" b="1" baseline="0" dirty="0"/>
              <a:t> </a:t>
            </a:r>
            <a:r>
              <a:rPr lang="en-US" sz="2000" b="1" baseline="0" dirty="0" err="1"/>
              <a:t>cây</a:t>
            </a:r>
            <a:r>
              <a:rPr lang="en-US" sz="2000" b="1" baseline="0" dirty="0"/>
              <a:t> con </a:t>
            </a:r>
            <a:r>
              <a:rPr lang="en-US" sz="2000" b="1" baseline="0" dirty="0" err="1"/>
              <a:t>rồi</a:t>
            </a:r>
            <a:r>
              <a:rPr lang="en-US" sz="2000" b="1" baseline="0" dirty="0"/>
              <a:t> quay </a:t>
            </a:r>
            <a:r>
              <a:rPr lang="en-US" sz="2000" b="1" baseline="0" dirty="0" err="1"/>
              <a:t>trái</a:t>
            </a:r>
            <a:endParaRPr lang="en-US" sz="2000" b="1" baseline="0" dirty="0"/>
          </a:p>
          <a:p>
            <a:pPr marL="0" marR="0" lvl="2" indent="0" algn="l" defTabSz="914400" rtl="0" eaLnBrk="1" fontAlgn="base" latinLnBrk="0" hangingPunct="1">
              <a:lnSpc>
                <a:spcPct val="100000"/>
              </a:lnSpc>
              <a:spcBef>
                <a:spcPct val="30000"/>
              </a:spcBef>
              <a:spcAft>
                <a:spcPct val="0"/>
              </a:spcAft>
              <a:buClrTx/>
              <a:buSzTx/>
              <a:buFontTx/>
              <a:buNone/>
              <a:tabLst/>
              <a:defRPr/>
            </a:pPr>
            <a:endParaRPr lang="en-US" sz="2000" b="1" baseline="0" dirty="0"/>
          </a:p>
          <a:p>
            <a:pPr marL="0" marR="0" lvl="2" indent="0" algn="l" defTabSz="914400" rtl="0" eaLnBrk="1" fontAlgn="base" latinLnBrk="0" hangingPunct="1">
              <a:lnSpc>
                <a:spcPct val="100000"/>
              </a:lnSpc>
              <a:spcBef>
                <a:spcPct val="30000"/>
              </a:spcBef>
              <a:spcAft>
                <a:spcPct val="0"/>
              </a:spcAft>
              <a:buClrTx/>
              <a:buSzTx/>
              <a:buFontTx/>
              <a:buNone/>
              <a:tabLst/>
              <a:defRPr/>
            </a:pPr>
            <a:endParaRPr lang="en-US" sz="2000" b="1" dirty="0"/>
          </a:p>
          <a:p>
            <a:endParaRPr lang="en-US" dirty="0"/>
          </a:p>
          <a:p>
            <a:r>
              <a:rPr lang="vi-VN" dirty="0"/>
              <a:t>Nếu nút được bổ sung nằm ở cây con trái của cây con phải của nút gốc (xem</a:t>
            </a:r>
            <a:r>
              <a:rPr lang="en-US" dirty="0"/>
              <a:t> </a:t>
            </a:r>
            <a:r>
              <a:rPr lang="vi-VN" dirty="0"/>
              <a:t>hình 8.12 b1, b2)</a:t>
            </a:r>
            <a:r>
              <a:rPr lang="en-US" dirty="0"/>
              <a:t>: </a:t>
            </a:r>
            <a:r>
              <a:rPr lang="en-US" baseline="0" dirty="0" err="1"/>
              <a:t>cây</a:t>
            </a:r>
            <a:r>
              <a:rPr lang="en-US" baseline="0" dirty="0"/>
              <a:t> con </a:t>
            </a:r>
            <a:r>
              <a:rPr lang="en-US" baseline="0" dirty="0" err="1"/>
              <a:t>phải</a:t>
            </a:r>
            <a:r>
              <a:rPr lang="en-US" baseline="0" dirty="0"/>
              <a:t> C </a:t>
            </a:r>
            <a:r>
              <a:rPr lang="en-US" baseline="0" dirty="0" err="1"/>
              <a:t>độ</a:t>
            </a:r>
            <a:r>
              <a:rPr lang="en-US" baseline="0" dirty="0"/>
              <a:t> </a:t>
            </a:r>
            <a:r>
              <a:rPr lang="en-US" baseline="0" dirty="0" err="1"/>
              <a:t>cao</a:t>
            </a:r>
            <a:r>
              <a:rPr lang="en-US" baseline="0" dirty="0"/>
              <a:t> h, con </a:t>
            </a:r>
            <a:r>
              <a:rPr lang="en-US" baseline="0" dirty="0" err="1"/>
              <a:t>trái</a:t>
            </a:r>
            <a:r>
              <a:rPr lang="en-US" baseline="0" dirty="0"/>
              <a:t> C </a:t>
            </a:r>
            <a:r>
              <a:rPr lang="en-US" baseline="0" dirty="0" err="1"/>
              <a:t>độ</a:t>
            </a:r>
            <a:r>
              <a:rPr lang="en-US" baseline="0" dirty="0"/>
              <a:t> </a:t>
            </a:r>
            <a:r>
              <a:rPr lang="en-US" baseline="0" dirty="0" err="1"/>
              <a:t>cao</a:t>
            </a:r>
            <a:r>
              <a:rPr lang="en-US" baseline="0" dirty="0"/>
              <a:t> h+1 =&gt; </a:t>
            </a:r>
            <a:r>
              <a:rPr lang="en-US" dirty="0" err="1"/>
              <a:t>yếu</a:t>
            </a:r>
            <a:r>
              <a:rPr lang="en-US" baseline="0" dirty="0"/>
              <a:t> </a:t>
            </a:r>
            <a:r>
              <a:rPr lang="en-US" baseline="0" dirty="0" err="1"/>
              <a:t>tố</a:t>
            </a:r>
            <a:r>
              <a:rPr lang="en-US" baseline="0" dirty="0"/>
              <a:t> </a:t>
            </a:r>
            <a:r>
              <a:rPr lang="en-US" baseline="0" dirty="0" err="1"/>
              <a:t>cân</a:t>
            </a:r>
            <a:r>
              <a:rPr lang="en-US" baseline="0" dirty="0"/>
              <a:t> </a:t>
            </a:r>
            <a:r>
              <a:rPr lang="en-US" baseline="0" dirty="0" err="1"/>
              <a:t>bằng</a:t>
            </a:r>
            <a:r>
              <a:rPr lang="en-US" baseline="0" dirty="0"/>
              <a:t> </a:t>
            </a:r>
            <a:r>
              <a:rPr lang="en-US" baseline="0" dirty="0" err="1"/>
              <a:t>nút</a:t>
            </a:r>
            <a:r>
              <a:rPr lang="en-US" baseline="0" dirty="0"/>
              <a:t> C </a:t>
            </a:r>
            <a:r>
              <a:rPr lang="en-US" baseline="0" dirty="0" err="1"/>
              <a:t>sau</a:t>
            </a:r>
            <a:r>
              <a:rPr lang="en-US" baseline="0" dirty="0"/>
              <a:t> </a:t>
            </a:r>
            <a:r>
              <a:rPr lang="en-US" baseline="0" dirty="0" err="1"/>
              <a:t>bổ</a:t>
            </a:r>
            <a:r>
              <a:rPr lang="en-US" baseline="0" dirty="0"/>
              <a:t> sung </a:t>
            </a:r>
            <a:r>
              <a:rPr lang="en-US" baseline="0" dirty="0" err="1"/>
              <a:t>là</a:t>
            </a:r>
            <a:r>
              <a:rPr lang="en-US" baseline="0" dirty="0"/>
              <a:t> -1, </a:t>
            </a:r>
            <a:endParaRPr lang="en-US" dirty="0"/>
          </a:p>
          <a:p>
            <a:r>
              <a:rPr lang="en-US" dirty="0"/>
              <a:t>G</a:t>
            </a:r>
            <a:r>
              <a:rPr lang="vi-VN" dirty="0"/>
              <a:t>ọi nút gốc của cây con trái này là B (xem hình 8.12</a:t>
            </a:r>
            <a:r>
              <a:rPr lang="en-US" dirty="0"/>
              <a:t> </a:t>
            </a:r>
            <a:r>
              <a:rPr lang="vi-VN" dirty="0"/>
              <a:t>b3)</a:t>
            </a:r>
            <a:r>
              <a:rPr lang="en-US" dirty="0"/>
              <a:t>:</a:t>
            </a:r>
          </a:p>
          <a:p>
            <a:r>
              <a:rPr lang="vi-VN" dirty="0"/>
              <a:t>. Khi đó, để cân bằng lại cây, ta cần thực hiện lần lượt hai phép quay: đầu</a:t>
            </a:r>
          </a:p>
          <a:p>
            <a:r>
              <a:rPr lang="vi-VN" dirty="0"/>
              <a:t>tiên là quay phải tại C (xem hình 8.12 b4), rồi sau đó quay trái tại A (xem</a:t>
            </a:r>
          </a:p>
          <a:p>
            <a:r>
              <a:rPr lang="vi-VN" dirty="0"/>
              <a:t>hình 8.12 b5). Kết hợp của hai phép quay liên tiếp ngược chiều nhau như</a:t>
            </a:r>
          </a:p>
          <a:p>
            <a:r>
              <a:rPr lang="vi-VN" dirty="0"/>
              <a:t>trên còn được gọi là phép quay kép. Còn các phép quay trái, phải đã nói ở</a:t>
            </a:r>
          </a:p>
          <a:p>
            <a:r>
              <a:rPr lang="vi-VN" dirty="0"/>
              <a:t>trên được gọi là quay đơn.</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83</a:t>
            </a:fld>
            <a:endParaRPr lang="en-US"/>
          </a:p>
        </p:txBody>
      </p:sp>
    </p:spTree>
    <p:extLst>
      <p:ext uri="{BB962C8B-B14F-4D97-AF65-F5344CB8AC3E}">
        <p14:creationId xmlns:p14="http://schemas.microsoft.com/office/powerpoint/2010/main" val="188095608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a:t>Loại</a:t>
            </a:r>
            <a:r>
              <a:rPr lang="en-US" b="1" baseline="0" dirty="0"/>
              <a:t> </a:t>
            </a:r>
            <a:r>
              <a:rPr lang="en-US" b="1" baseline="0" dirty="0" err="1"/>
              <a:t>bỏ</a:t>
            </a:r>
            <a:r>
              <a:rPr lang="en-US" b="1" baseline="0" dirty="0"/>
              <a:t> </a:t>
            </a:r>
            <a:r>
              <a:rPr lang="en-US" b="1" baseline="0" dirty="0" err="1"/>
              <a:t>bên</a:t>
            </a:r>
            <a:r>
              <a:rPr lang="en-US" b="1" baseline="0" dirty="0"/>
              <a:t> </a:t>
            </a:r>
            <a:r>
              <a:rPr lang="en-US" b="1" baseline="0" dirty="0" err="1"/>
              <a:t>trái</a:t>
            </a:r>
            <a:r>
              <a:rPr lang="en-US" b="1" baseline="0" dirty="0"/>
              <a:t> =&gt; quay </a:t>
            </a:r>
            <a:r>
              <a:rPr lang="en-US" b="1" baseline="0" dirty="0" err="1"/>
              <a:t>trái</a:t>
            </a:r>
            <a:r>
              <a:rPr lang="en-US" b="1" baseline="0" dirty="0"/>
              <a:t> </a:t>
            </a:r>
            <a:r>
              <a:rPr lang="en-US" b="1" baseline="0" dirty="0" err="1"/>
              <a:t>để</a:t>
            </a:r>
            <a:r>
              <a:rPr lang="en-US" b="1" baseline="0" dirty="0"/>
              <a:t> </a:t>
            </a:r>
            <a:r>
              <a:rPr lang="en-US" b="1" baseline="0" dirty="0" err="1"/>
              <a:t>dồn</a:t>
            </a:r>
            <a:r>
              <a:rPr lang="en-US" b="1" baseline="0" dirty="0"/>
              <a:t> </a:t>
            </a:r>
            <a:r>
              <a:rPr lang="en-US" b="1" baseline="0" dirty="0" err="1"/>
              <a:t>nút</a:t>
            </a:r>
            <a:r>
              <a:rPr lang="en-US" b="1" baseline="0" dirty="0"/>
              <a:t> sang </a:t>
            </a:r>
            <a:r>
              <a:rPr lang="en-US" b="1" baseline="0" dirty="0" err="1"/>
              <a:t>trái</a:t>
            </a:r>
            <a:endParaRPr lang="en-US" b="1" baseline="0" dirty="0"/>
          </a:p>
          <a:p>
            <a:pPr marL="0" marR="0" indent="0" algn="l" defTabSz="914400" rtl="0" eaLnBrk="1" fontAlgn="base" latinLnBrk="0" hangingPunct="1">
              <a:lnSpc>
                <a:spcPct val="100000"/>
              </a:lnSpc>
              <a:spcBef>
                <a:spcPct val="30000"/>
              </a:spcBef>
              <a:spcAft>
                <a:spcPct val="0"/>
              </a:spcAft>
              <a:buClrTx/>
              <a:buSzTx/>
              <a:buFontTx/>
              <a:buNone/>
              <a:tabLst/>
              <a:defRPr/>
            </a:pPr>
            <a:r>
              <a:rPr lang="en-US" b="1" dirty="0" err="1"/>
              <a:t>Loại</a:t>
            </a:r>
            <a:r>
              <a:rPr lang="en-US" b="1" baseline="0" dirty="0"/>
              <a:t> </a:t>
            </a:r>
            <a:r>
              <a:rPr lang="en-US" b="1" baseline="0" dirty="0" err="1"/>
              <a:t>bỏ</a:t>
            </a:r>
            <a:r>
              <a:rPr lang="en-US" b="1" baseline="0" dirty="0"/>
              <a:t> </a:t>
            </a:r>
            <a:r>
              <a:rPr lang="en-US" b="1" baseline="0" dirty="0" err="1"/>
              <a:t>bên</a:t>
            </a:r>
            <a:r>
              <a:rPr lang="en-US" b="1" baseline="0" dirty="0"/>
              <a:t> </a:t>
            </a:r>
            <a:r>
              <a:rPr lang="en-US" b="1" baseline="0" dirty="0" err="1"/>
              <a:t>phải</a:t>
            </a:r>
            <a:r>
              <a:rPr lang="en-US" b="1" baseline="0" dirty="0"/>
              <a:t> =&gt; quay </a:t>
            </a:r>
            <a:r>
              <a:rPr lang="en-US" b="1" baseline="0" dirty="0" err="1"/>
              <a:t>phải</a:t>
            </a:r>
            <a:r>
              <a:rPr lang="en-US" b="1" baseline="0" dirty="0"/>
              <a:t> </a:t>
            </a:r>
            <a:r>
              <a:rPr lang="en-US" b="1" baseline="0" dirty="0" err="1"/>
              <a:t>để</a:t>
            </a:r>
            <a:r>
              <a:rPr lang="en-US" b="1" baseline="0" dirty="0"/>
              <a:t> </a:t>
            </a:r>
            <a:r>
              <a:rPr lang="en-US" b="1" baseline="0" dirty="0" err="1"/>
              <a:t>dồn</a:t>
            </a:r>
            <a:r>
              <a:rPr lang="en-US" b="1" baseline="0" dirty="0"/>
              <a:t> </a:t>
            </a:r>
            <a:r>
              <a:rPr lang="en-US" b="1" baseline="0" dirty="0" err="1"/>
              <a:t>nút</a:t>
            </a:r>
            <a:r>
              <a:rPr lang="en-US" b="1" baseline="0" dirty="0"/>
              <a:t> sang </a:t>
            </a:r>
            <a:r>
              <a:rPr lang="en-US" b="1" baseline="0" dirty="0" err="1"/>
              <a:t>phải</a:t>
            </a:r>
            <a:endParaRPr lang="en-US" b="1" dirty="0"/>
          </a:p>
          <a:p>
            <a:endParaRPr lang="en-US" b="1" dirty="0"/>
          </a:p>
          <a:p>
            <a:r>
              <a:rPr lang="vi-VN" dirty="0"/>
              <a:t>Do trước khi loại bỏ cây vẫn</a:t>
            </a:r>
            <a:r>
              <a:rPr lang="en-US" dirty="0"/>
              <a:t> </a:t>
            </a:r>
            <a:r>
              <a:rPr lang="vi-VN" dirty="0"/>
              <a:t>cân bằng, nên việc mất cân bằng chỉ có thể xảy ra khi chiều cao của cây con trái</a:t>
            </a:r>
            <a:r>
              <a:rPr lang="en-US" dirty="0"/>
              <a:t> </a:t>
            </a:r>
            <a:r>
              <a:rPr lang="vi-VN" dirty="0"/>
              <a:t>nhỏ hơn chiều cao của cây con phải (nhỏ hơn đúng 1), và việc loại bỏ lại làm</a:t>
            </a:r>
            <a:r>
              <a:rPr lang="en-US" dirty="0"/>
              <a:t> </a:t>
            </a:r>
            <a:r>
              <a:rPr lang="vi-VN" dirty="0"/>
              <a:t>giảm chiều cao của cây con trái. </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84</a:t>
            </a:fld>
            <a:endParaRPr lang="en-US"/>
          </a:p>
        </p:txBody>
      </p:sp>
    </p:spTree>
    <p:extLst>
      <p:ext uri="{BB962C8B-B14F-4D97-AF65-F5344CB8AC3E}">
        <p14:creationId xmlns:p14="http://schemas.microsoft.com/office/powerpoint/2010/main" val="373374352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err="1"/>
              <a:t>Giả</a:t>
            </a:r>
            <a:r>
              <a:rPr lang="en-US" sz="1200" b="1" dirty="0"/>
              <a:t> </a:t>
            </a:r>
            <a:r>
              <a:rPr lang="en-US" sz="1200" b="1" dirty="0" err="1"/>
              <a:t>sử</a:t>
            </a:r>
            <a:r>
              <a:rPr lang="en-US" sz="1200" b="1" dirty="0"/>
              <a:t> </a:t>
            </a:r>
            <a:r>
              <a:rPr lang="en-US" sz="1200" b="1" dirty="0" err="1"/>
              <a:t>nút</a:t>
            </a:r>
            <a:r>
              <a:rPr lang="en-US" sz="1200" b="1" dirty="0"/>
              <a:t> </a:t>
            </a:r>
            <a:r>
              <a:rPr lang="en-US" sz="1200" b="1" dirty="0" err="1"/>
              <a:t>bị</a:t>
            </a:r>
            <a:r>
              <a:rPr lang="en-US" sz="1200" b="1" dirty="0"/>
              <a:t> </a:t>
            </a:r>
            <a:r>
              <a:rPr lang="en-US" sz="1200" b="1" dirty="0" err="1"/>
              <a:t>loại</a:t>
            </a:r>
            <a:r>
              <a:rPr lang="en-US" sz="1200" b="1" dirty="0"/>
              <a:t> </a:t>
            </a:r>
            <a:r>
              <a:rPr lang="en-US" sz="1200" b="1" dirty="0" err="1"/>
              <a:t>bỏ</a:t>
            </a:r>
            <a:r>
              <a:rPr lang="en-US" sz="1200" b="1" dirty="0"/>
              <a:t> </a:t>
            </a:r>
            <a:r>
              <a:rPr lang="en-US" sz="1200" b="1" dirty="0" err="1"/>
              <a:t>nằm</a:t>
            </a:r>
            <a:r>
              <a:rPr lang="en-US" sz="1200" b="1" dirty="0"/>
              <a:t> ở </a:t>
            </a:r>
            <a:r>
              <a:rPr lang="en-US" sz="1200" b="1" dirty="0" err="1"/>
              <a:t>cây</a:t>
            </a:r>
            <a:r>
              <a:rPr lang="en-US" sz="1200" b="1" dirty="0"/>
              <a:t> con </a:t>
            </a:r>
            <a:r>
              <a:rPr lang="en-US" sz="1200" b="1" dirty="0" err="1"/>
              <a:t>trái</a:t>
            </a:r>
            <a:r>
              <a:rPr lang="en-US" sz="1200" dirty="0"/>
              <a:t>, </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85</a:t>
            </a:fld>
            <a:endParaRPr lang="en-US"/>
          </a:p>
        </p:txBody>
      </p:sp>
    </p:spTree>
    <p:extLst>
      <p:ext uri="{BB962C8B-B14F-4D97-AF65-F5344CB8AC3E}">
        <p14:creationId xmlns:p14="http://schemas.microsoft.com/office/powerpoint/2010/main" val="332860685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86</a:t>
            </a:fld>
            <a:endParaRPr lang="en-US"/>
          </a:p>
        </p:txBody>
      </p:sp>
    </p:spTree>
    <p:extLst>
      <p:ext uri="{BB962C8B-B14F-4D97-AF65-F5344CB8AC3E}">
        <p14:creationId xmlns:p14="http://schemas.microsoft.com/office/powerpoint/2010/main" val="34395659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25/1/2026</a:t>
            </a:fld>
            <a:endParaRPr lang="en-US" dirty="0"/>
          </a:p>
        </p:txBody>
      </p:sp>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6" name="Slide Number Placeholder 5"/>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4189815164"/>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25/1/2026</a:t>
            </a:fld>
            <a:endParaRPr lang="en-US" dirty="0"/>
          </a:p>
        </p:txBody>
      </p:sp>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6" name="Slide Number Placeholder 5"/>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4195225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25/1/2026</a:t>
            </a:fld>
            <a:endParaRPr lang="en-US" dirty="0"/>
          </a:p>
        </p:txBody>
      </p:sp>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6" name="Slide Number Placeholder 5"/>
          <p:cNvSpPr>
            <a:spLocks noGrp="1"/>
          </p:cNvSpPr>
          <p:nvPr>
            <p:ph type="sldNum" sz="quarter" idx="12"/>
          </p:nvPr>
        </p:nvSpPr>
        <p:spPr/>
        <p:txBody>
          <a:bodyPr/>
          <a:lstStyle/>
          <a:p>
            <a:fld id="{26B269CE-12F4-4F4F-BF2F-21E0A343DA44}" type="slidenum">
              <a:rPr lang="en-US" smtClean="0"/>
              <a:pPr/>
              <a:t>‹#›</a:t>
            </a:fld>
            <a:endParaRPr lang="en-US"/>
          </a:p>
        </p:txBody>
      </p:sp>
    </p:spTree>
    <p:extLst>
      <p:ext uri="{BB962C8B-B14F-4D97-AF65-F5344CB8AC3E}">
        <p14:creationId xmlns:p14="http://schemas.microsoft.com/office/powerpoint/2010/main" val="2082005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25/1/2026</a:t>
            </a:fld>
            <a:endParaRPr lang="en-US" dirty="0"/>
          </a:p>
        </p:txBody>
      </p:sp>
      <p:sp>
        <p:nvSpPr>
          <p:cNvPr id="6" name="Footer Placeholder 5"/>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7" name="Slide Number Placeholder 6"/>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1147849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25/1/2026</a:t>
            </a:fld>
            <a:endParaRPr lang="en-US" dirty="0"/>
          </a:p>
        </p:txBody>
      </p:sp>
      <p:sp>
        <p:nvSpPr>
          <p:cNvPr id="8" name="Footer Placeholder 7"/>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9" name="Slide Number Placeholder 8"/>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4254718382"/>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25/1/2026</a:t>
            </a:fld>
            <a:endParaRPr lang="en-US" dirty="0"/>
          </a:p>
        </p:txBody>
      </p:sp>
      <p:sp>
        <p:nvSpPr>
          <p:cNvPr id="4" name="Footer Placeholder 3"/>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5" name="Slide Number Placeholder 4"/>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2533680451"/>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25/1/2026</a:t>
            </a:fld>
            <a:endParaRPr lang="en-US" dirty="0"/>
          </a:p>
        </p:txBody>
      </p:sp>
      <p:sp>
        <p:nvSpPr>
          <p:cNvPr id="3" name="Footer Placeholder 2"/>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65200043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25/1/2026</a:t>
            </a:fld>
            <a:endParaRPr lang="en-US" dirty="0"/>
          </a:p>
        </p:txBody>
      </p:sp>
      <p:sp>
        <p:nvSpPr>
          <p:cNvPr id="6" name="Footer Placeholder 5"/>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7" name="Slide Number Placeholder 6"/>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1524753341"/>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25/1/2026</a:t>
            </a:fld>
            <a:endParaRPr lang="en-US" dirty="0"/>
          </a:p>
        </p:txBody>
      </p:sp>
      <p:sp>
        <p:nvSpPr>
          <p:cNvPr id="6" name="Footer Placeholder 5"/>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7" name="Slide Number Placeholder 6"/>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1721311087"/>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25/1/2026</a:t>
            </a:fld>
            <a:endParaRPr lang="en-US" dirty="0"/>
          </a:p>
        </p:txBody>
      </p:sp>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6" name="Slide Number Placeholder 5"/>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3833052840"/>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25/1/2026</a:t>
            </a:fld>
            <a:endParaRPr lang="en-US" dirty="0"/>
          </a:p>
        </p:txBody>
      </p:sp>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6" name="Slide Number Placeholder 5"/>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2463209534"/>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7539155"/>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id="{C5DD3B49-F775-49FC-ACAD-45B074D1C945}"/>
              </a:ext>
            </a:extLst>
          </p:cNvPr>
          <p:cNvSpPr>
            <a:spLocks noGrp="1"/>
          </p:cNvSpPr>
          <p:nvPr>
            <p:ph type="title" hasCustomPrompt="1"/>
          </p:nvPr>
        </p:nvSpPr>
        <p:spPr>
          <a:xfrm>
            <a:off x="2380488" y="2365248"/>
            <a:ext cx="4383024" cy="2127504"/>
          </a:xfrm>
          <a:prstGeom prst="rect">
            <a:avLst/>
          </a:prstGeom>
        </p:spPr>
        <p:txBody>
          <a:bodyPr/>
          <a:lstStyle>
            <a:lvl1pPr algn="ctr">
              <a:defRPr sz="36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4156344884"/>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4425394"/>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9"/>
            <a:ext cx="2057400" cy="365125"/>
          </a:xfrm>
          <a:prstGeom prst="rect">
            <a:avLst/>
          </a:prstGeom>
        </p:spPr>
        <p:txBody>
          <a:bodyPr/>
          <a:lstStyle>
            <a:lvl1pP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25/1/2026</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5"/>
            <a:ext cx="8673846" cy="451739"/>
          </a:xfrm>
          <a:prstGeom prst="rect">
            <a:avLst/>
          </a:prstGeom>
        </p:spPr>
        <p:txBody>
          <a:bodyPr/>
          <a:lstStyle>
            <a:lvl1pPr>
              <a:defRPr sz="21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9"/>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27758618"/>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9"/>
            <a:ext cx="2057400" cy="365125"/>
          </a:xfrm>
          <a:prstGeom prst="rect">
            <a:avLst/>
          </a:prstGeom>
        </p:spPr>
        <p:txBody>
          <a:bodyPr/>
          <a:lstStyle>
            <a:lvl1pP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25/1/2026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5"/>
            <a:ext cx="8673846" cy="451739"/>
          </a:xfrm>
          <a:prstGeom prst="rect">
            <a:avLst/>
          </a:prstGeom>
        </p:spPr>
        <p:txBody>
          <a:bodyPr/>
          <a:lstStyle>
            <a:lvl1pPr>
              <a:defRPr sz="21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 ………………………………………</a:t>
            </a:r>
          </a:p>
        </p:txBody>
      </p:sp>
    </p:spTree>
    <p:extLst>
      <p:ext uri="{BB962C8B-B14F-4D97-AF65-F5344CB8AC3E}">
        <p14:creationId xmlns:p14="http://schemas.microsoft.com/office/powerpoint/2010/main" val="2597379192"/>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9"/>
            <a:ext cx="2057400" cy="365125"/>
          </a:xfrm>
          <a:prstGeom prst="rect">
            <a:avLst/>
          </a:prstGeom>
        </p:spPr>
        <p:txBody>
          <a:bodyPr/>
          <a:lstStyle>
            <a:lvl1pP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25/1/2026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5"/>
            <a:ext cx="8673846" cy="451739"/>
          </a:xfrm>
          <a:prstGeom prst="rect">
            <a:avLst/>
          </a:prstGeom>
        </p:spPr>
        <p:txBody>
          <a:bodyPr/>
          <a:lstStyle>
            <a:lvl1pPr>
              <a:defRPr sz="21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1"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90710213"/>
      </p:ext>
    </p:extLst>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689FBFE6-E7AD-40DE-88B8-794C73F956C5}"/>
              </a:ext>
            </a:extLst>
          </p:cNvPr>
          <p:cNvSpPr>
            <a:spLocks noGrp="1"/>
          </p:cNvSpPr>
          <p:nvPr>
            <p:ph type="title" hasCustomPrompt="1"/>
          </p:nvPr>
        </p:nvSpPr>
        <p:spPr>
          <a:xfrm>
            <a:off x="3511295" y="224919"/>
            <a:ext cx="5397627" cy="451739"/>
          </a:xfrm>
          <a:prstGeom prst="rect">
            <a:avLst/>
          </a:prstGeom>
        </p:spPr>
        <p:txBody>
          <a:bodyPr/>
          <a:lstStyle>
            <a:lvl1pPr>
              <a:defRPr sz="21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
        <p:nvSpPr>
          <p:cNvPr id="12" name="Text Placeholder 7">
            <a:extLst>
              <a:ext uri="{FF2B5EF4-FFF2-40B4-BE49-F238E27FC236}">
                <a16:creationId xmlns:a16="http://schemas.microsoft.com/office/drawing/2014/main" id="{1C2ED7A5-CBB5-4B5C-BD2A-3596087A71FA}"/>
              </a:ext>
            </a:extLst>
          </p:cNvPr>
          <p:cNvSpPr>
            <a:spLocks noGrp="1"/>
          </p:cNvSpPr>
          <p:nvPr>
            <p:ph type="body" sz="quarter" idx="13"/>
          </p:nvPr>
        </p:nvSpPr>
        <p:spPr>
          <a:xfrm>
            <a:off x="3524251" y="1011238"/>
            <a:ext cx="5384672" cy="552926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3">
            <a:extLst>
              <a:ext uri="{FF2B5EF4-FFF2-40B4-BE49-F238E27FC236}">
                <a16:creationId xmlns:a16="http://schemas.microsoft.com/office/drawing/2014/main" id="{E21F2271-B488-4DC9-A50E-592D82F22CE9}"/>
              </a:ext>
            </a:extLst>
          </p:cNvPr>
          <p:cNvSpPr>
            <a:spLocks noGrp="1"/>
          </p:cNvSpPr>
          <p:nvPr>
            <p:ph type="dt" sz="half" idx="10"/>
          </p:nvPr>
        </p:nvSpPr>
        <p:spPr>
          <a:xfrm>
            <a:off x="628650" y="6565259"/>
            <a:ext cx="2057400" cy="365125"/>
          </a:xfrm>
          <a:prstGeom prst="rect">
            <a:avLst/>
          </a:prstGeom>
        </p:spPr>
        <p:txBody>
          <a:bodyPr/>
          <a:lstStyle>
            <a:lvl1pPr>
              <a:defRPr sz="9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25/1/2026</a:t>
            </a:fld>
            <a:endParaRPr lang="en-US"/>
          </a:p>
        </p:txBody>
      </p:sp>
      <p:sp>
        <p:nvSpPr>
          <p:cNvPr id="14" name="Footer Placeholder 4">
            <a:extLst>
              <a:ext uri="{FF2B5EF4-FFF2-40B4-BE49-F238E27FC236}">
                <a16:creationId xmlns:a16="http://schemas.microsoft.com/office/drawing/2014/main" id="{706E966D-F219-41DE-82BF-3F3121B7DCCC}"/>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15" name="Slide Number Placeholder 5">
            <a:extLst>
              <a:ext uri="{FF2B5EF4-FFF2-40B4-BE49-F238E27FC236}">
                <a16:creationId xmlns:a16="http://schemas.microsoft.com/office/drawing/2014/main" id="{AF61A491-C108-489A-B2EA-9FC27DAD4D24}"/>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Tree>
    <p:extLst>
      <p:ext uri="{BB962C8B-B14F-4D97-AF65-F5344CB8AC3E}">
        <p14:creationId xmlns:p14="http://schemas.microsoft.com/office/powerpoint/2010/main" val="2711407357"/>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1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5"/>
            <a:ext cx="8673846" cy="451739"/>
          </a:xfrm>
          <a:prstGeom prst="rect">
            <a:avLst/>
          </a:prstGeom>
        </p:spPr>
        <p:txBody>
          <a:bodyPr/>
          <a:lstStyle>
            <a:lvl1pPr>
              <a:defRPr sz="21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9"/>
            <a:ext cx="2057400" cy="365125"/>
          </a:xfrm>
          <a:prstGeom prst="rect">
            <a:avLst/>
          </a:prstGeom>
        </p:spPr>
        <p:txBody>
          <a:bodyPr/>
          <a:lstStyle>
            <a:lvl1pP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25/1/2026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Tree>
    <p:extLst>
      <p:ext uri="{BB962C8B-B14F-4D97-AF65-F5344CB8AC3E}">
        <p14:creationId xmlns:p14="http://schemas.microsoft.com/office/powerpoint/2010/main" val="2880886043"/>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9"/>
            <a:ext cx="2057400" cy="365125"/>
          </a:xfrm>
          <a:prstGeom prst="rect">
            <a:avLst/>
          </a:prstGeom>
        </p:spPr>
        <p:txBody>
          <a:bodyPr/>
          <a:lstStyle>
            <a:lvl1pPr>
              <a:defRPr sz="9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25/1/2026</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Tree>
    <p:extLst>
      <p:ext uri="{BB962C8B-B14F-4D97-AF65-F5344CB8AC3E}">
        <p14:creationId xmlns:p14="http://schemas.microsoft.com/office/powerpoint/2010/main" val="3932600197"/>
      </p:ext>
    </p:extLst>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8" name="Content Placeholder 7"/>
          <p:cNvSpPr>
            <a:spLocks noGrp="1"/>
          </p:cNvSpPr>
          <p:nvPr>
            <p:ph sz="quarter" idx="1"/>
          </p:nvPr>
        </p:nvSpPr>
        <p:spPr>
          <a:xfrm>
            <a:off x="457200" y="1219200"/>
            <a:ext cx="8229600"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22"/>
          <p:cNvSpPr>
            <a:spLocks noGrp="1"/>
          </p:cNvSpPr>
          <p:nvPr>
            <p:ph type="sldNum" sz="quarter" idx="4"/>
          </p:nvPr>
        </p:nvSpPr>
        <p:spPr>
          <a:xfrm>
            <a:off x="612775" y="6356350"/>
            <a:ext cx="1981200" cy="365125"/>
          </a:xfrm>
          <a:prstGeom prst="rect">
            <a:avLst/>
          </a:prstGeom>
        </p:spPr>
        <p:txBody>
          <a:bodyPr vert="horz" wrap="square" lIns="91440" tIns="45720" rIns="91440" bIns="45720" numCol="1" anchor="t" anchorCtr="0" compatLnSpc="1">
            <a:prstTxWarp prst="textNoShape">
              <a:avLst/>
            </a:prstTxWarp>
          </a:bodyPr>
          <a:lstStyle>
            <a:lvl1pPr>
              <a:defRPr sz="1400">
                <a:solidFill>
                  <a:schemeClr val="tx2"/>
                </a:solidFill>
                <a:latin typeface="Gill Sans MT"/>
              </a:defRPr>
            </a:lvl1pPr>
          </a:lstStyle>
          <a:p>
            <a:fld id="{BC24317B-5122-4A99-A6E9-FA23C146A7E0}" type="slidenum">
              <a:rPr lang="en-US"/>
              <a:pPr/>
              <a:t>‹#›</a:t>
            </a:fld>
            <a:endParaRPr lang="en-US"/>
          </a:p>
        </p:txBody>
      </p:sp>
      <p:sp>
        <p:nvSpPr>
          <p:cNvPr id="6" name="Footer Placeholder 20"/>
          <p:cNvSpPr>
            <a:spLocks noGrp="1"/>
          </p:cNvSpPr>
          <p:nvPr>
            <p:ph type="ftr" sz="quarter" idx="3"/>
          </p:nvPr>
        </p:nvSpPr>
        <p:spPr>
          <a:xfrm>
            <a:off x="3124200" y="6356350"/>
            <a:ext cx="5583072"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lgn="r"/>
            <a:r>
              <a:rPr lang="fr-FR" dirty="0"/>
              <a:t>ET2100 </a:t>
            </a:r>
            <a:r>
              <a:rPr lang="en-US" i="1" dirty="0"/>
              <a:t>- </a:t>
            </a:r>
            <a:r>
              <a:rPr lang="en-US" b="1" i="1" dirty="0"/>
              <a:t>Data Structures and Algorithms</a:t>
            </a:r>
            <a:endParaRPr lang="en-US" dirty="0"/>
          </a:p>
          <a:p>
            <a:pPr algn="r"/>
            <a:r>
              <a:rPr lang="en-US" dirty="0"/>
              <a:t>School of Electrical and Electronic Engineering</a:t>
            </a:r>
          </a:p>
        </p:txBody>
      </p:sp>
      <p:sp>
        <p:nvSpPr>
          <p:cNvPr id="5" name="Title Placeholder 21"/>
          <p:cNvSpPr>
            <a:spLocks noGrp="1"/>
          </p:cNvSpPr>
          <p:nvPr>
            <p:ph type="title"/>
          </p:nvPr>
        </p:nvSpPr>
        <p:spPr bwMode="auto">
          <a:xfrm>
            <a:off x="457200" y="152400"/>
            <a:ext cx="8229600" cy="990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25/1/2026</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C24317B-5122-4A99-A6E9-FA23C146A7E0}" type="slidenum">
              <a:rPr lang="en-US" smtClean="0"/>
              <a:pPr/>
              <a:t>‹#›</a:t>
            </a:fld>
            <a:endParaRPr lang="en-US"/>
          </a:p>
        </p:txBody>
      </p:sp>
      <p:pic>
        <p:nvPicPr>
          <p:cNvPr id="7" name="Picture 2" descr="D:\lo go dhbk100957AM.jpg"/>
          <p:cNvPicPr>
            <a:picLocks noChangeAspect="1" noChangeArrowheads="1"/>
          </p:cNvPicPr>
          <p:nvPr userDrawn="1"/>
        </p:nvPicPr>
        <p:blipFill>
          <a:blip r:embed="rId23" cstate="print"/>
          <a:srcRect/>
          <a:stretch>
            <a:fillRect/>
          </a:stretch>
        </p:blipFill>
        <p:spPr bwMode="auto">
          <a:xfrm>
            <a:off x="8766174" y="6372320"/>
            <a:ext cx="225425" cy="336455"/>
          </a:xfrm>
          <a:prstGeom prst="rect">
            <a:avLst/>
          </a:prstGeom>
          <a:noFill/>
        </p:spPr>
      </p:pic>
    </p:spTree>
    <p:extLst>
      <p:ext uri="{BB962C8B-B14F-4D97-AF65-F5344CB8AC3E}">
        <p14:creationId xmlns:p14="http://schemas.microsoft.com/office/powerpoint/2010/main" val="1769272137"/>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 id="2147483773" r:id="rId15"/>
    <p:sldLayoutId id="2147483774" r:id="rId16"/>
    <p:sldLayoutId id="2147483775" r:id="rId17"/>
    <p:sldLayoutId id="2147483776" r:id="rId18"/>
    <p:sldLayoutId id="2147483777" r:id="rId19"/>
    <p:sldLayoutId id="2147483778" r:id="rId20"/>
    <p:sldLayoutId id="2147483751" r:id="rId21"/>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7.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7.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7.xml"/><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1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9.xml.rels><?xml version="1.0" encoding="UTF-8" standalone="yes"?>
<Relationships xmlns="http://schemas.openxmlformats.org/package/2006/relationships"><Relationship Id="rId3" Type="http://schemas.openxmlformats.org/officeDocument/2006/relationships/image" Target="../media/image35.gif"/><Relationship Id="rId2" Type="http://schemas.openxmlformats.org/officeDocument/2006/relationships/notesSlide" Target="../notesSlides/notesSlide32.xml"/><Relationship Id="rId1" Type="http://schemas.openxmlformats.org/officeDocument/2006/relationships/slideLayout" Target="../slideLayouts/slideLayout1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3.xml"/><Relationship Id="rId1" Type="http://schemas.openxmlformats.org/officeDocument/2006/relationships/slideLayout" Target="../slideLayouts/slideLayout1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7.xml"/></Relationships>
</file>

<file path=ppt/slides/_rels/slide7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5.xml"/><Relationship Id="rId1" Type="http://schemas.openxmlformats.org/officeDocument/2006/relationships/slideLayout" Target="../slideLayouts/slideLayout17.xml"/><Relationship Id="rId4" Type="http://schemas.openxmlformats.org/officeDocument/2006/relationships/image" Target="../media/image38.png"/></Relationships>
</file>

<file path=ppt/slides/_rels/slide7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17.xml"/><Relationship Id="rId4" Type="http://schemas.openxmlformats.org/officeDocument/2006/relationships/image" Target="../media/image40.png"/></Relationships>
</file>

<file path=ppt/slides/_rels/slide7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7.xml"/><Relationship Id="rId1" Type="http://schemas.openxmlformats.org/officeDocument/2006/relationships/slideLayout" Target="../slideLayouts/slideLayout17.xml"/></Relationships>
</file>

<file path=ppt/slides/_rels/slide7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8.xml"/><Relationship Id="rId1" Type="http://schemas.openxmlformats.org/officeDocument/2006/relationships/slideLayout" Target="../slideLayouts/slideLayout17.xml"/><Relationship Id="rId4" Type="http://schemas.openxmlformats.org/officeDocument/2006/relationships/image" Target="../media/image43.png"/></Relationships>
</file>

<file path=ppt/slides/_rels/slide7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9.xml"/><Relationship Id="rId1" Type="http://schemas.openxmlformats.org/officeDocument/2006/relationships/slideLayout" Target="../slideLayouts/slideLayout1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7.xml"/></Relationships>
</file>

<file path=ppt/slides/_rels/slide80.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41.xml"/><Relationship Id="rId1" Type="http://schemas.openxmlformats.org/officeDocument/2006/relationships/slideLayout" Target="../slideLayouts/slideLayout17.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81.xml.rels><?xml version="1.0" encoding="UTF-8" standalone="yes"?>
<Relationships xmlns="http://schemas.openxmlformats.org/package/2006/relationships"><Relationship Id="rId3" Type="http://schemas.openxmlformats.org/officeDocument/2006/relationships/image" Target="../media/image480.png"/><Relationship Id="rId7" Type="http://schemas.openxmlformats.org/officeDocument/2006/relationships/image" Target="../media/image53.png"/><Relationship Id="rId2" Type="http://schemas.openxmlformats.org/officeDocument/2006/relationships/notesSlide" Target="../notesSlides/notesSlide42.xml"/><Relationship Id="rId1" Type="http://schemas.openxmlformats.org/officeDocument/2006/relationships/slideLayout" Target="../slideLayouts/slideLayout17.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8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3.xml"/><Relationship Id="rId1" Type="http://schemas.openxmlformats.org/officeDocument/2006/relationships/slideLayout" Target="../slideLayouts/slideLayout17.xml"/></Relationships>
</file>

<file path=ppt/slides/_rels/slide8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4.xml"/><Relationship Id="rId1" Type="http://schemas.openxmlformats.org/officeDocument/2006/relationships/slideLayout" Target="../slideLayouts/slideLayout17.xml"/><Relationship Id="rId4" Type="http://schemas.openxmlformats.org/officeDocument/2006/relationships/image" Target="../media/image56.png"/></Relationships>
</file>

<file path=ppt/slides/_rels/slide8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5.xml"/><Relationship Id="rId1" Type="http://schemas.openxmlformats.org/officeDocument/2006/relationships/slideLayout" Target="../slideLayouts/slideLayout17.xml"/></Relationships>
</file>

<file path=ppt/slides/_rels/slide8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6.xml"/><Relationship Id="rId1" Type="http://schemas.openxmlformats.org/officeDocument/2006/relationships/slideLayout" Target="../slideLayouts/slideLayout17.xml"/><Relationship Id="rId4" Type="http://schemas.openxmlformats.org/officeDocument/2006/relationships/image" Target="../media/image59.pn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7.xml"/></Relationships>
</file>

<file path=ppt/slides/_rels/slide9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43000" y="4120243"/>
            <a:ext cx="7315200" cy="1066800"/>
          </a:xfrm>
        </p:spPr>
        <p:txBody>
          <a:bodyPr>
            <a:normAutofit/>
          </a:bodyPr>
          <a:lstStyle/>
          <a:p>
            <a:pPr algn="ctr"/>
            <a:r>
              <a:rPr lang="en-US" dirty="0">
                <a:solidFill>
                  <a:schemeClr val="bg1"/>
                </a:solidFill>
              </a:rPr>
              <a:t>CẤU TRÚC DỮ LIỆU VÀ GIẢI THUẬT</a:t>
            </a:r>
          </a:p>
        </p:txBody>
      </p:sp>
      <p:sp>
        <p:nvSpPr>
          <p:cNvPr id="3" name="Text Placeholder 2"/>
          <p:cNvSpPr>
            <a:spLocks noGrp="1"/>
          </p:cNvSpPr>
          <p:nvPr>
            <p:ph type="body" idx="4294967295"/>
          </p:nvPr>
        </p:nvSpPr>
        <p:spPr>
          <a:xfrm>
            <a:off x="3886200" y="4876800"/>
            <a:ext cx="6781800" cy="1143000"/>
          </a:xfrm>
        </p:spPr>
        <p:txBody>
          <a:bodyPr>
            <a:normAutofit/>
          </a:bodyPr>
          <a:lstStyle/>
          <a:p>
            <a:pPr marL="0" indent="0">
              <a:buNone/>
            </a:pPr>
            <a:r>
              <a:rPr lang="fr-FR" sz="2800" dirty="0">
                <a:solidFill>
                  <a:schemeClr val="bg1"/>
                </a:solidFill>
              </a:rPr>
              <a:t>ET2100</a:t>
            </a:r>
          </a:p>
          <a:p>
            <a:pPr marL="0" indent="0">
              <a:buNone/>
            </a:pPr>
            <a:endParaRPr lang="en-US" sz="2800" dirty="0">
              <a:solidFill>
                <a:schemeClr val="bg1"/>
              </a:solidFill>
            </a:endParaRPr>
          </a:p>
        </p:txBody>
      </p:sp>
      <p:sp>
        <p:nvSpPr>
          <p:cNvPr id="4" name="Slide Number Placeholder 3"/>
          <p:cNvSpPr>
            <a:spLocks noGrp="1"/>
          </p:cNvSpPr>
          <p:nvPr>
            <p:ph type="sldNum" sz="quarter" idx="4294967295"/>
          </p:nvPr>
        </p:nvSpPr>
        <p:spPr>
          <a:xfrm>
            <a:off x="7086600" y="6356350"/>
            <a:ext cx="2057400" cy="365125"/>
          </a:xfrm>
        </p:spPr>
        <p:txBody>
          <a:bodyPr/>
          <a:lstStyle/>
          <a:p>
            <a:fld id="{26B269CE-12F4-4F4F-BF2F-21E0A343DA44}" type="slidenum">
              <a:rPr lang="en-US" smtClean="0"/>
              <a:pPr/>
              <a:t>1</a:t>
            </a:fld>
            <a:endParaRPr lang="en-US"/>
          </a:p>
        </p:txBody>
      </p:sp>
    </p:spTree>
    <p:extLst>
      <p:ext uri="{BB962C8B-B14F-4D97-AF65-F5344CB8AC3E}">
        <p14:creationId xmlns:p14="http://schemas.microsoft.com/office/powerpoint/2010/main" val="4082488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419600" y="2819400"/>
            <a:ext cx="3429000" cy="1066800"/>
          </a:xfrm>
        </p:spPr>
        <p:txBody>
          <a:bodyPr>
            <a:normAutofit/>
          </a:bodyPr>
          <a:lstStyle/>
          <a:p>
            <a:pPr algn="r"/>
            <a:r>
              <a:rPr lang="vi-VN" i="1" dirty="0">
                <a:latin typeface="Lato"/>
              </a:rPr>
              <a:t>Chương I</a:t>
            </a:r>
            <a:r>
              <a:rPr lang="en-US" i="1" dirty="0">
                <a:latin typeface="Lato"/>
              </a:rPr>
              <a:t>V</a:t>
            </a:r>
            <a:r>
              <a:rPr lang="vi-VN" i="1" dirty="0">
                <a:latin typeface="Lato"/>
              </a:rPr>
              <a:t>: </a:t>
            </a:r>
            <a:br>
              <a:rPr lang="en-US" i="1" dirty="0">
                <a:latin typeface="Lato"/>
              </a:rPr>
            </a:br>
            <a:r>
              <a:rPr lang="en-US" i="1" dirty="0" err="1">
                <a:latin typeface="Lato"/>
              </a:rPr>
              <a:t>Cấu</a:t>
            </a:r>
            <a:r>
              <a:rPr lang="en-US" i="1" dirty="0">
                <a:latin typeface="Lato"/>
              </a:rPr>
              <a:t> </a:t>
            </a:r>
            <a:r>
              <a:rPr lang="en-US" i="1" dirty="0" err="1">
                <a:latin typeface="Lato"/>
              </a:rPr>
              <a:t>trúc</a:t>
            </a:r>
            <a:r>
              <a:rPr lang="en-US" i="1" dirty="0">
                <a:latin typeface="Lato"/>
              </a:rPr>
              <a:t> CÂY</a:t>
            </a:r>
            <a:endParaRPr lang="en-US" b="1" i="1" dirty="0">
              <a:latin typeface="Lato"/>
            </a:endParaRPr>
          </a:p>
        </p:txBody>
      </p:sp>
      <p:sp>
        <p:nvSpPr>
          <p:cNvPr id="3" name="Title 6">
            <a:extLst>
              <a:ext uri="{FF2B5EF4-FFF2-40B4-BE49-F238E27FC236}">
                <a16:creationId xmlns:a16="http://schemas.microsoft.com/office/drawing/2014/main" id="{A4ACF486-B7D8-4A5A-B633-83527A2F99E2}"/>
              </a:ext>
            </a:extLst>
          </p:cNvPr>
          <p:cNvSpPr txBox="1">
            <a:spLocks/>
          </p:cNvSpPr>
          <p:nvPr/>
        </p:nvSpPr>
        <p:spPr>
          <a:xfrm>
            <a:off x="3733800" y="4648200"/>
            <a:ext cx="7351077" cy="1119250"/>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1400" dirty="0" err="1"/>
              <a:t>Giảng</a:t>
            </a:r>
            <a:r>
              <a:rPr lang="en-US" sz="1400" dirty="0"/>
              <a:t> </a:t>
            </a:r>
            <a:r>
              <a:rPr lang="en-US" sz="1400" dirty="0" err="1"/>
              <a:t>viên</a:t>
            </a:r>
            <a:r>
              <a:rPr lang="en-US" sz="1400" dirty="0"/>
              <a:t>: PGS.TS. Vũ Hải</a:t>
            </a:r>
          </a:p>
          <a:p>
            <a:r>
              <a:rPr lang="en-US" sz="1400" dirty="0" err="1"/>
              <a:t>Khoa</a:t>
            </a:r>
            <a:r>
              <a:rPr lang="en-US" sz="1400" dirty="0"/>
              <a:t> </a:t>
            </a:r>
            <a:r>
              <a:rPr lang="en-US" sz="1400" dirty="0" err="1"/>
              <a:t>Kỹ</a:t>
            </a:r>
            <a:r>
              <a:rPr lang="en-US" sz="1400" dirty="0"/>
              <a:t> </a:t>
            </a:r>
            <a:r>
              <a:rPr lang="en-US" sz="1400" dirty="0" err="1"/>
              <a:t>thuật</a:t>
            </a:r>
            <a:r>
              <a:rPr lang="en-US" sz="1400" dirty="0"/>
              <a:t> </a:t>
            </a:r>
            <a:r>
              <a:rPr lang="en-US" sz="1400" dirty="0" err="1"/>
              <a:t>Truyền</a:t>
            </a:r>
            <a:r>
              <a:rPr lang="en-US" sz="1400" dirty="0"/>
              <a:t> </a:t>
            </a:r>
            <a:r>
              <a:rPr lang="en-US" sz="1400" dirty="0" err="1"/>
              <a:t>thông</a:t>
            </a:r>
            <a:r>
              <a:rPr lang="en-US" sz="1400" dirty="0"/>
              <a:t> – </a:t>
            </a:r>
            <a:r>
              <a:rPr lang="en-US" sz="1400" dirty="0" err="1"/>
              <a:t>Trường</a:t>
            </a:r>
            <a:r>
              <a:rPr lang="en-US" sz="1400" dirty="0"/>
              <a:t> </a:t>
            </a:r>
            <a:r>
              <a:rPr lang="en-US" sz="1400" dirty="0" err="1"/>
              <a:t>Điện</a:t>
            </a:r>
            <a:r>
              <a:rPr lang="en-US" sz="1400" dirty="0"/>
              <a:t> </a:t>
            </a:r>
            <a:r>
              <a:rPr lang="en-US" sz="1400" dirty="0" err="1"/>
              <a:t>Điện</a:t>
            </a:r>
            <a:r>
              <a:rPr lang="en-US" sz="1400" dirty="0"/>
              <a:t> </a:t>
            </a:r>
            <a:r>
              <a:rPr lang="en-US" sz="1400" dirty="0" err="1"/>
              <a:t>Tử</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dirty="0"/>
              <a:t>ET2100 </a:t>
            </a:r>
            <a:r>
              <a:rPr lang="en-US" i="1" dirty="0"/>
              <a:t>- </a:t>
            </a:r>
            <a:r>
              <a:rPr lang="en-US" b="1" i="1" dirty="0"/>
              <a:t>Data Structures and Algorithms</a:t>
            </a:r>
            <a:endParaRPr lang="en-US" dirty="0"/>
          </a:p>
          <a:p>
            <a:pPr algn="r"/>
            <a:r>
              <a:rPr lang="en-US" dirty="0"/>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3</a:t>
            </a:fld>
            <a:endParaRPr lang="en-US"/>
          </a:p>
        </p:txBody>
      </p:sp>
      <p:sp>
        <p:nvSpPr>
          <p:cNvPr id="2" name="Title 1"/>
          <p:cNvSpPr>
            <a:spLocks noGrp="1"/>
          </p:cNvSpPr>
          <p:nvPr>
            <p:ph type="title"/>
          </p:nvPr>
        </p:nvSpPr>
        <p:spPr/>
        <p:txBody>
          <a:bodyPr/>
          <a:lstStyle/>
          <a:p>
            <a:r>
              <a:rPr lang="en-US" altLang="en-US" dirty="0" err="1"/>
              <a:t>Các</a:t>
            </a:r>
            <a:r>
              <a:rPr lang="en-US" altLang="en-US" dirty="0"/>
              <a:t> </a:t>
            </a:r>
            <a:r>
              <a:rPr lang="en-US" altLang="en-US" dirty="0" err="1"/>
              <a:t>nội</a:t>
            </a:r>
            <a:r>
              <a:rPr lang="en-US" altLang="en-US" dirty="0"/>
              <a:t> dung </a:t>
            </a:r>
            <a:r>
              <a:rPr lang="en-US" altLang="en-US" dirty="0" err="1"/>
              <a:t>chính</a:t>
            </a:r>
            <a:endParaRPr lang="en-US" dirty="0"/>
          </a:p>
        </p:txBody>
      </p:sp>
      <p:sp>
        <p:nvSpPr>
          <p:cNvPr id="3" name="Content Placeholder 2"/>
          <p:cNvSpPr>
            <a:spLocks noGrp="1"/>
          </p:cNvSpPr>
          <p:nvPr>
            <p:ph type="body" sz="quarter" idx="13"/>
          </p:nvPr>
        </p:nvSpPr>
        <p:spPr>
          <a:xfrm>
            <a:off x="234951" y="838200"/>
            <a:ext cx="8674100" cy="5257800"/>
          </a:xfrm>
        </p:spPr>
        <p:txBody>
          <a:bodyPr>
            <a:normAutofit lnSpcReduction="10000"/>
          </a:bodyPr>
          <a:lstStyle/>
          <a:p>
            <a:pPr eaLnBrk="1" hangingPunct="1">
              <a:lnSpc>
                <a:spcPct val="90000"/>
              </a:lnSpc>
            </a:pPr>
            <a:r>
              <a:rPr lang="en-US" altLang="en-US" dirty="0"/>
              <a:t>1.</a:t>
            </a:r>
            <a:r>
              <a:rPr lang="en-US" altLang="en-US" dirty="0">
                <a:cs typeface="Times New Roman" panose="02020603050405020304" pitchFamily="18" charset="0"/>
              </a:rPr>
              <a:t> </a:t>
            </a:r>
            <a:r>
              <a:rPr lang="en-US" altLang="en-US" dirty="0" err="1">
                <a:cs typeface="Times New Roman" panose="02020603050405020304" pitchFamily="18" charset="0"/>
              </a:rPr>
              <a:t>Giới</a:t>
            </a:r>
            <a:r>
              <a:rPr lang="en-US" altLang="en-US" dirty="0">
                <a:cs typeface="Times New Roman" panose="02020603050405020304" pitchFamily="18" charset="0"/>
              </a:rPr>
              <a:t> </a:t>
            </a:r>
            <a:r>
              <a:rPr lang="en-US" altLang="en-US" dirty="0" err="1">
                <a:cs typeface="Times New Roman" panose="02020603050405020304" pitchFamily="18" charset="0"/>
              </a:rPr>
              <a:t>thiệu</a:t>
            </a:r>
            <a:endParaRPr lang="en-US" altLang="en-US" dirty="0">
              <a:cs typeface="Times New Roman" panose="02020603050405020304" pitchFamily="18" charset="0"/>
            </a:endParaRPr>
          </a:p>
          <a:p>
            <a:pPr lvl="1" eaLnBrk="1" hangingPunct="1">
              <a:lnSpc>
                <a:spcPct val="90000"/>
              </a:lnSpc>
            </a:pPr>
            <a:r>
              <a:rPr lang="en-US" altLang="en-US" sz="2000" dirty="0" err="1">
                <a:cs typeface="Times New Roman" panose="02020603050405020304" pitchFamily="18" charset="0"/>
              </a:rPr>
              <a:t>Mô</a:t>
            </a:r>
            <a:r>
              <a:rPr lang="en-US" altLang="en-US" sz="2000" dirty="0">
                <a:cs typeface="Times New Roman" panose="02020603050405020304" pitchFamily="18" charset="0"/>
              </a:rPr>
              <a:t> </a:t>
            </a:r>
            <a:r>
              <a:rPr lang="en-US" altLang="en-US" sz="2000" dirty="0" err="1">
                <a:cs typeface="Times New Roman" panose="02020603050405020304" pitchFamily="18" charset="0"/>
              </a:rPr>
              <a:t>tả</a:t>
            </a:r>
            <a:r>
              <a:rPr lang="en-US" altLang="en-US" sz="2000" dirty="0">
                <a:cs typeface="Times New Roman" panose="02020603050405020304" pitchFamily="18" charset="0"/>
              </a:rPr>
              <a:t> </a:t>
            </a:r>
            <a:r>
              <a:rPr lang="en-US" altLang="en-US" sz="2000" dirty="0" err="1">
                <a:cs typeface="Times New Roman" panose="02020603050405020304" pitchFamily="18" charset="0"/>
              </a:rPr>
              <a:t>cấu</a:t>
            </a:r>
            <a:r>
              <a:rPr lang="en-US" altLang="en-US" sz="2000" dirty="0">
                <a:cs typeface="Times New Roman" panose="02020603050405020304" pitchFamily="18" charset="0"/>
              </a:rPr>
              <a:t> </a:t>
            </a:r>
            <a:r>
              <a:rPr lang="en-US" altLang="en-US" sz="2000" dirty="0" err="1">
                <a:cs typeface="Times New Roman" panose="02020603050405020304" pitchFamily="18" charset="0"/>
              </a:rPr>
              <a:t>trúc</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(tree) </a:t>
            </a:r>
          </a:p>
          <a:p>
            <a:pPr lvl="1" eaLnBrk="1" hangingPunct="1">
              <a:lnSpc>
                <a:spcPct val="90000"/>
              </a:lnSpc>
            </a:pP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khái</a:t>
            </a:r>
            <a:r>
              <a:rPr lang="en-US" altLang="en-US" sz="2000" dirty="0">
                <a:cs typeface="Times New Roman" panose="02020603050405020304" pitchFamily="18" charset="0"/>
              </a:rPr>
              <a:t> </a:t>
            </a:r>
            <a:r>
              <a:rPr lang="en-US" altLang="en-US" sz="2000" dirty="0" err="1">
                <a:cs typeface="Times New Roman" panose="02020603050405020304" pitchFamily="18" charset="0"/>
              </a:rPr>
              <a:t>niệm</a:t>
            </a:r>
            <a:r>
              <a:rPr lang="en-US" altLang="en-US" sz="2000" dirty="0">
                <a:cs typeface="Times New Roman" panose="02020603050405020304" pitchFamily="18" charset="0"/>
              </a:rPr>
              <a:t> </a:t>
            </a:r>
            <a:r>
              <a:rPr lang="en-US" altLang="en-US" sz="2000" dirty="0" err="1">
                <a:cs typeface="Times New Roman" panose="02020603050405020304" pitchFamily="18" charset="0"/>
              </a:rPr>
              <a:t>cơ</a:t>
            </a:r>
            <a:r>
              <a:rPr lang="en-US" altLang="en-US" sz="2000" dirty="0">
                <a:cs typeface="Times New Roman" panose="02020603050405020304" pitchFamily="18" charset="0"/>
              </a:rPr>
              <a:t> </a:t>
            </a:r>
            <a:r>
              <a:rPr lang="en-US" altLang="en-US" sz="2000" dirty="0" err="1">
                <a:cs typeface="Times New Roman" panose="02020603050405020304" pitchFamily="18" charset="0"/>
              </a:rPr>
              <a:t>bản</a:t>
            </a:r>
            <a:r>
              <a:rPr lang="en-US" altLang="en-US" sz="2000" dirty="0">
                <a:cs typeface="Times New Roman" panose="02020603050405020304" pitchFamily="18" charset="0"/>
              </a:rPr>
              <a:t> </a:t>
            </a:r>
            <a:r>
              <a:rPr lang="en-US" altLang="en-US" sz="2000" dirty="0" err="1">
                <a:cs typeface="Times New Roman" panose="02020603050405020304" pitchFamily="18" charset="0"/>
              </a:rPr>
              <a:t>trong</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p>
          <a:p>
            <a:pPr lvl="1" eaLnBrk="1" hangingPunct="1">
              <a:lnSpc>
                <a:spcPct val="90000"/>
              </a:lnSpc>
            </a:pP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tính</a:t>
            </a:r>
            <a:r>
              <a:rPr lang="en-US" altLang="en-US" sz="2000" dirty="0">
                <a:cs typeface="Times New Roman" panose="02020603050405020304" pitchFamily="18" charset="0"/>
              </a:rPr>
              <a:t> </a:t>
            </a:r>
            <a:r>
              <a:rPr lang="en-US" altLang="en-US" sz="2000" dirty="0" err="1">
                <a:cs typeface="Times New Roman" panose="02020603050405020304" pitchFamily="18" charset="0"/>
              </a:rPr>
              <a:t>chất</a:t>
            </a:r>
            <a:r>
              <a:rPr lang="en-US" altLang="en-US" sz="2000" dirty="0">
                <a:cs typeface="Times New Roman" panose="02020603050405020304" pitchFamily="18" charset="0"/>
              </a:rPr>
              <a:t> </a:t>
            </a:r>
            <a:r>
              <a:rPr lang="en-US" altLang="en-US" sz="2000" dirty="0" err="1">
                <a:cs typeface="Times New Roman" panose="02020603050405020304" pitchFamily="18" charset="0"/>
              </a:rPr>
              <a:t>cơ</a:t>
            </a:r>
            <a:r>
              <a:rPr lang="en-US" altLang="en-US" sz="2000" dirty="0">
                <a:cs typeface="Times New Roman" panose="02020603050405020304" pitchFamily="18" charset="0"/>
              </a:rPr>
              <a:t> </a:t>
            </a:r>
            <a:r>
              <a:rPr lang="en-US" altLang="en-US" sz="2000" dirty="0" err="1">
                <a:cs typeface="Times New Roman" panose="02020603050405020304" pitchFamily="18" charset="0"/>
              </a:rPr>
              <a:t>bản</a:t>
            </a:r>
            <a:endParaRPr lang="en-US" altLang="en-US" sz="2000" dirty="0">
              <a:cs typeface="Times New Roman" panose="02020603050405020304" pitchFamily="18" charset="0"/>
            </a:endParaRPr>
          </a:p>
          <a:p>
            <a:pPr lvl="1" eaLnBrk="1" hangingPunct="1">
              <a:lnSpc>
                <a:spcPct val="90000"/>
              </a:lnSpc>
            </a:pP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thao</a:t>
            </a:r>
            <a:r>
              <a:rPr lang="en-US" altLang="en-US" sz="2000" dirty="0">
                <a:cs typeface="Times New Roman" panose="02020603050405020304" pitchFamily="18" charset="0"/>
              </a:rPr>
              <a:t> </a:t>
            </a:r>
            <a:r>
              <a:rPr lang="en-US" altLang="en-US" sz="2000" dirty="0" err="1">
                <a:cs typeface="Times New Roman" panose="02020603050405020304" pitchFamily="18" charset="0"/>
              </a:rPr>
              <a:t>tác</a:t>
            </a:r>
            <a:r>
              <a:rPr lang="en-US" altLang="en-US" sz="2000" dirty="0">
                <a:cs typeface="Times New Roman" panose="02020603050405020304" pitchFamily="18" charset="0"/>
              </a:rPr>
              <a:t> </a:t>
            </a:r>
            <a:r>
              <a:rPr lang="en-US" altLang="en-US" sz="2000" dirty="0" err="1">
                <a:cs typeface="Times New Roman" panose="02020603050405020304" pitchFamily="18" charset="0"/>
              </a:rPr>
              <a:t>cơ</a:t>
            </a:r>
            <a:r>
              <a:rPr lang="en-US" altLang="en-US" sz="2000" dirty="0">
                <a:cs typeface="Times New Roman" panose="02020603050405020304" pitchFamily="18" charset="0"/>
              </a:rPr>
              <a:t> </a:t>
            </a:r>
            <a:r>
              <a:rPr lang="en-US" altLang="en-US" sz="2000" dirty="0" err="1">
                <a:cs typeface="Times New Roman" panose="02020603050405020304" pitchFamily="18" charset="0"/>
              </a:rPr>
              <a:t>bản</a:t>
            </a:r>
            <a:r>
              <a:rPr lang="en-US" altLang="en-US" sz="2000" dirty="0">
                <a:cs typeface="Times New Roman" panose="02020603050405020304" pitchFamily="18" charset="0"/>
              </a:rPr>
              <a:t> </a:t>
            </a:r>
          </a:p>
          <a:p>
            <a:pPr eaLnBrk="1" hangingPunct="1">
              <a:lnSpc>
                <a:spcPct val="90000"/>
              </a:lnSpc>
            </a:pPr>
            <a:r>
              <a:rPr lang="en-US" altLang="en-US" dirty="0">
                <a:cs typeface="Times New Roman" panose="02020603050405020304" pitchFamily="18" charset="0"/>
              </a:rPr>
              <a:t>2. </a:t>
            </a:r>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nhị</a:t>
            </a:r>
            <a:r>
              <a:rPr lang="en-US" altLang="en-US" dirty="0">
                <a:cs typeface="Times New Roman" panose="02020603050405020304" pitchFamily="18" charset="0"/>
              </a:rPr>
              <a:t> </a:t>
            </a:r>
            <a:r>
              <a:rPr lang="en-US" altLang="en-US" dirty="0" err="1">
                <a:cs typeface="Times New Roman" panose="02020603050405020304" pitchFamily="18" charset="0"/>
              </a:rPr>
              <a:t>phân</a:t>
            </a:r>
            <a:r>
              <a:rPr lang="en-US" altLang="en-US" dirty="0">
                <a:cs typeface="Times New Roman" panose="02020603050405020304" pitchFamily="18" charset="0"/>
              </a:rPr>
              <a:t> (binary tree)</a:t>
            </a:r>
          </a:p>
          <a:p>
            <a:pPr lvl="1" eaLnBrk="1" hangingPunct="1">
              <a:lnSpc>
                <a:spcPct val="90000"/>
              </a:lnSpc>
            </a:pPr>
            <a:r>
              <a:rPr lang="en-US" altLang="en-US" sz="2000" dirty="0" err="1">
                <a:cs typeface="Times New Roman" panose="02020603050405020304" pitchFamily="18" charset="0"/>
              </a:rPr>
              <a:t>Khái</a:t>
            </a:r>
            <a:r>
              <a:rPr lang="en-US" altLang="en-US" sz="2000" dirty="0">
                <a:cs typeface="Times New Roman" panose="02020603050405020304" pitchFamily="18" charset="0"/>
              </a:rPr>
              <a:t> </a:t>
            </a:r>
            <a:r>
              <a:rPr lang="en-US" altLang="en-US" sz="2000" dirty="0" err="1">
                <a:cs typeface="Times New Roman" panose="02020603050405020304" pitchFamily="18" charset="0"/>
              </a:rPr>
              <a:t>niệm</a:t>
            </a:r>
            <a:r>
              <a:rPr lang="en-US" altLang="en-US" sz="2000" dirty="0">
                <a:cs typeface="Times New Roman" panose="02020603050405020304" pitchFamily="18" charset="0"/>
              </a:rPr>
              <a:t>, </a:t>
            </a:r>
            <a:r>
              <a:rPr lang="en-US" altLang="en-US" sz="2000" dirty="0" err="1">
                <a:cs typeface="Times New Roman" panose="02020603050405020304" pitchFamily="18" charset="0"/>
              </a:rPr>
              <a:t>tính</a:t>
            </a:r>
            <a:r>
              <a:rPr lang="en-US" altLang="en-US" sz="2000" dirty="0">
                <a:cs typeface="Times New Roman" panose="02020603050405020304" pitchFamily="18" charset="0"/>
              </a:rPr>
              <a:t> </a:t>
            </a:r>
            <a:r>
              <a:rPr lang="en-US" altLang="en-US" sz="2000" dirty="0" err="1">
                <a:cs typeface="Times New Roman" panose="02020603050405020304" pitchFamily="18" charset="0"/>
              </a:rPr>
              <a:t>chất</a:t>
            </a:r>
            <a:r>
              <a:rPr lang="en-US" altLang="en-US" sz="2000" dirty="0">
                <a:cs typeface="Times New Roman" panose="02020603050405020304" pitchFamily="18" charset="0"/>
              </a:rPr>
              <a:t> </a:t>
            </a:r>
            <a:r>
              <a:rPr lang="en-US" altLang="en-US" sz="2000" dirty="0" err="1">
                <a:cs typeface="Times New Roman" panose="02020603050405020304" pitchFamily="18" charset="0"/>
              </a:rPr>
              <a:t>của</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nhị</a:t>
            </a:r>
            <a:r>
              <a:rPr lang="en-US" altLang="en-US" sz="2000" dirty="0">
                <a:cs typeface="Times New Roman" panose="02020603050405020304" pitchFamily="18" charset="0"/>
              </a:rPr>
              <a:t> </a:t>
            </a:r>
            <a:r>
              <a:rPr lang="en-US" altLang="en-US" sz="2000" dirty="0" err="1">
                <a:cs typeface="Times New Roman" panose="02020603050405020304" pitchFamily="18" charset="0"/>
              </a:rPr>
              <a:t>phân</a:t>
            </a:r>
            <a:endParaRPr lang="en-US" altLang="en-US" sz="2000" dirty="0">
              <a:cs typeface="Times New Roman" panose="02020603050405020304" pitchFamily="18" charset="0"/>
            </a:endParaRPr>
          </a:p>
          <a:p>
            <a:pPr lvl="1"/>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thao</a:t>
            </a:r>
            <a:r>
              <a:rPr lang="en-US" altLang="en-US" sz="2000" dirty="0">
                <a:cs typeface="Times New Roman" panose="02020603050405020304" pitchFamily="18" charset="0"/>
              </a:rPr>
              <a:t> </a:t>
            </a:r>
            <a:r>
              <a:rPr lang="en-US" altLang="en-US" sz="2000" dirty="0" err="1">
                <a:cs typeface="Times New Roman" panose="02020603050405020304" pitchFamily="18" charset="0"/>
              </a:rPr>
              <a:t>tác</a:t>
            </a:r>
            <a:r>
              <a:rPr lang="en-US" altLang="en-US" sz="2000" dirty="0">
                <a:cs typeface="Times New Roman" panose="02020603050405020304" pitchFamily="18" charset="0"/>
              </a:rPr>
              <a:t> </a:t>
            </a:r>
            <a:r>
              <a:rPr lang="en-US" altLang="en-US" sz="2000" dirty="0" err="1">
                <a:cs typeface="Times New Roman" panose="02020603050405020304" pitchFamily="18" charset="0"/>
              </a:rPr>
              <a:t>cơ</a:t>
            </a:r>
            <a:r>
              <a:rPr lang="en-US" altLang="en-US" sz="2000" dirty="0">
                <a:cs typeface="Times New Roman" panose="02020603050405020304" pitchFamily="18" charset="0"/>
              </a:rPr>
              <a:t> </a:t>
            </a:r>
            <a:r>
              <a:rPr lang="en-US" altLang="en-US" sz="2000" dirty="0" err="1">
                <a:cs typeface="Times New Roman" panose="02020603050405020304" pitchFamily="18" charset="0"/>
              </a:rPr>
              <a:t>bản</a:t>
            </a:r>
            <a:endParaRPr lang="en-US" altLang="en-US" sz="2000" dirty="0">
              <a:cs typeface="Times New Roman" panose="02020603050405020304" pitchFamily="18" charset="0"/>
            </a:endParaRPr>
          </a:p>
          <a:p>
            <a:pPr lvl="1"/>
            <a:r>
              <a:rPr lang="en-US" altLang="en-US" sz="2000" dirty="0" err="1">
                <a:cs typeface="Times New Roman" panose="02020603050405020304" pitchFamily="18" charset="0"/>
              </a:rPr>
              <a:t>Duyệt</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nhị</a:t>
            </a:r>
            <a:r>
              <a:rPr lang="en-US" altLang="en-US" sz="2000" dirty="0">
                <a:cs typeface="Times New Roman" panose="02020603050405020304" pitchFamily="18" charset="0"/>
              </a:rPr>
              <a:t> </a:t>
            </a:r>
            <a:r>
              <a:rPr lang="en-US" altLang="en-US" sz="2000" dirty="0" err="1">
                <a:cs typeface="Times New Roman" panose="02020603050405020304" pitchFamily="18" charset="0"/>
              </a:rPr>
              <a:t>phân</a:t>
            </a:r>
            <a:endParaRPr lang="en-US" altLang="en-US" sz="2000" dirty="0">
              <a:cs typeface="Times New Roman" panose="02020603050405020304" pitchFamily="18" charset="0"/>
            </a:endParaRPr>
          </a:p>
          <a:p>
            <a:pPr lvl="1"/>
            <a:r>
              <a:rPr lang="en-US" altLang="en-US" sz="2000" dirty="0" err="1">
                <a:cs typeface="Times New Roman" panose="02020603050405020304" pitchFamily="18" charset="0"/>
              </a:rPr>
              <a:t>Cài</a:t>
            </a:r>
            <a:r>
              <a:rPr lang="en-US" altLang="en-US" sz="2000" dirty="0">
                <a:cs typeface="Times New Roman" panose="02020603050405020304" pitchFamily="18" charset="0"/>
              </a:rPr>
              <a:t> </a:t>
            </a:r>
            <a:r>
              <a:rPr lang="en-US" altLang="en-US" sz="2000" dirty="0" err="1">
                <a:cs typeface="Times New Roman" panose="02020603050405020304" pitchFamily="18" charset="0"/>
              </a:rPr>
              <a:t>đặt</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nhị</a:t>
            </a:r>
            <a:r>
              <a:rPr lang="en-US" altLang="en-US" sz="2000" dirty="0">
                <a:cs typeface="Times New Roman" panose="02020603050405020304" pitchFamily="18" charset="0"/>
              </a:rPr>
              <a:t> </a:t>
            </a:r>
            <a:r>
              <a:rPr lang="en-US" altLang="en-US" sz="2000" dirty="0" err="1">
                <a:cs typeface="Times New Roman" panose="02020603050405020304" pitchFamily="18" charset="0"/>
              </a:rPr>
              <a:t>phân</a:t>
            </a:r>
            <a:endParaRPr lang="en-US" altLang="en-US" sz="2000" dirty="0">
              <a:cs typeface="Times New Roman" panose="02020603050405020304" pitchFamily="18" charset="0"/>
            </a:endParaRPr>
          </a:p>
          <a:p>
            <a:pPr lvl="1"/>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nhị</a:t>
            </a:r>
            <a:r>
              <a:rPr lang="en-US" altLang="en-US" sz="2000" dirty="0">
                <a:cs typeface="Times New Roman" panose="02020603050405020304" pitchFamily="18" charset="0"/>
              </a:rPr>
              <a:t> </a:t>
            </a:r>
            <a:r>
              <a:rPr lang="en-US" altLang="en-US" sz="2000" dirty="0" err="1">
                <a:cs typeface="Times New Roman" panose="02020603050405020304" pitchFamily="18" charset="0"/>
              </a:rPr>
              <a:t>phân</a:t>
            </a:r>
            <a:r>
              <a:rPr lang="en-US" altLang="en-US" sz="2000" dirty="0">
                <a:cs typeface="Times New Roman" panose="02020603050405020304" pitchFamily="18" charset="0"/>
              </a:rPr>
              <a:t> </a:t>
            </a:r>
            <a:r>
              <a:rPr lang="en-US" altLang="en-US" sz="2000" dirty="0" err="1">
                <a:cs typeface="Times New Roman" panose="02020603050405020304" pitchFamily="18" charset="0"/>
              </a:rPr>
              <a:t>tìm</a:t>
            </a:r>
            <a:r>
              <a:rPr lang="en-US" altLang="en-US" sz="2000" dirty="0">
                <a:cs typeface="Times New Roman" panose="02020603050405020304" pitchFamily="18" charset="0"/>
              </a:rPr>
              <a:t> </a:t>
            </a:r>
            <a:r>
              <a:rPr lang="en-US" altLang="en-US" sz="2000" dirty="0" err="1">
                <a:cs typeface="Times New Roman" panose="02020603050405020304" pitchFamily="18" charset="0"/>
              </a:rPr>
              <a:t>kiếm</a:t>
            </a:r>
            <a:r>
              <a:rPr lang="en-US" altLang="en-US" sz="2000" dirty="0">
                <a:cs typeface="Times New Roman" panose="02020603050405020304" pitchFamily="18" charset="0"/>
              </a:rPr>
              <a:t> </a:t>
            </a:r>
          </a:p>
          <a:p>
            <a:pPr>
              <a:lnSpc>
                <a:spcPct val="90000"/>
              </a:lnSpc>
            </a:pPr>
            <a:r>
              <a:rPr lang="en-US" altLang="en-US" dirty="0">
                <a:cs typeface="Times New Roman" panose="02020603050405020304" pitchFamily="18" charset="0"/>
              </a:rPr>
              <a:t>3. C</a:t>
            </a:r>
            <a:r>
              <a:rPr lang="vi-VN" altLang="en-US" dirty="0">
                <a:cs typeface="Times New Roman" panose="02020603050405020304" pitchFamily="18" charset="0"/>
              </a:rPr>
              <a:t>ây tổng quát</a:t>
            </a:r>
            <a:endParaRPr lang="en-US" altLang="en-US" dirty="0">
              <a:cs typeface="Times New Roman" panose="02020603050405020304" pitchFamily="18" charset="0"/>
            </a:endParaRPr>
          </a:p>
          <a:p>
            <a:pPr lvl="1"/>
            <a:r>
              <a:rPr lang="en-US" altLang="en-US" sz="2000" dirty="0" err="1">
                <a:cs typeface="Times New Roman" panose="02020603050405020304" pitchFamily="18" charset="0"/>
              </a:rPr>
              <a:t>Biểu</a:t>
            </a:r>
            <a:r>
              <a:rPr lang="en-US" altLang="en-US" sz="2000" dirty="0">
                <a:cs typeface="Times New Roman" panose="02020603050405020304" pitchFamily="18" charset="0"/>
              </a:rPr>
              <a:t> </a:t>
            </a:r>
            <a:r>
              <a:rPr lang="en-US" altLang="en-US" sz="2000" dirty="0" err="1">
                <a:cs typeface="Times New Roman" panose="02020603050405020304" pitchFamily="18" charset="0"/>
              </a:rPr>
              <a:t>diễn</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tổng</a:t>
            </a:r>
            <a:r>
              <a:rPr lang="en-US" altLang="en-US" sz="2000" dirty="0">
                <a:cs typeface="Times New Roman" panose="02020603050405020304" pitchFamily="18" charset="0"/>
              </a:rPr>
              <a:t> </a:t>
            </a:r>
            <a:r>
              <a:rPr lang="en-US" altLang="en-US" sz="2000" dirty="0" err="1">
                <a:cs typeface="Times New Roman" panose="02020603050405020304" pitchFamily="18" charset="0"/>
              </a:rPr>
              <a:t>quát</a:t>
            </a:r>
            <a:endParaRPr lang="en-US" altLang="en-US" sz="2000" dirty="0">
              <a:cs typeface="Times New Roman" panose="02020603050405020304" pitchFamily="18" charset="0"/>
            </a:endParaRPr>
          </a:p>
          <a:p>
            <a:pPr lvl="1"/>
            <a:r>
              <a:rPr lang="en-US" altLang="en-US" sz="2000" dirty="0" err="1">
                <a:cs typeface="Times New Roman" panose="02020603050405020304" pitchFamily="18" charset="0"/>
              </a:rPr>
              <a:t>Cài</a:t>
            </a:r>
            <a:r>
              <a:rPr lang="en-US" altLang="en-US" sz="2000" dirty="0">
                <a:cs typeface="Times New Roman" panose="02020603050405020304" pitchFamily="18" charset="0"/>
              </a:rPr>
              <a:t> </a:t>
            </a:r>
            <a:r>
              <a:rPr lang="en-US" altLang="en-US" sz="2000" dirty="0" err="1">
                <a:cs typeface="Times New Roman" panose="02020603050405020304" pitchFamily="18" charset="0"/>
              </a:rPr>
              <a:t>đặt</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tổng</a:t>
            </a:r>
            <a:r>
              <a:rPr lang="en-US" altLang="en-US" sz="2000" dirty="0">
                <a:cs typeface="Times New Roman" panose="02020603050405020304" pitchFamily="18" charset="0"/>
              </a:rPr>
              <a:t> </a:t>
            </a:r>
            <a:r>
              <a:rPr lang="en-US" altLang="en-US" sz="2000" dirty="0" err="1">
                <a:cs typeface="Times New Roman" panose="02020603050405020304" pitchFamily="18" charset="0"/>
              </a:rPr>
              <a:t>quát</a:t>
            </a:r>
            <a:endParaRPr lang="en-US" altLang="en-US" sz="2000" dirty="0">
              <a:cs typeface="Times New Roman" panose="02020603050405020304" pitchFamily="18" charset="0"/>
            </a:endParaRPr>
          </a:p>
          <a:p>
            <a:r>
              <a:rPr lang="en-US" altLang="en-US" dirty="0">
                <a:cs typeface="Times New Roman" panose="02020603050405020304" pitchFamily="18" charset="0"/>
              </a:rPr>
              <a:t>4. </a:t>
            </a:r>
            <a:r>
              <a:rPr lang="en-US" altLang="en-US" dirty="0" err="1">
                <a:cs typeface="Times New Roman" panose="02020603050405020304" pitchFamily="18" charset="0"/>
              </a:rPr>
              <a:t>Ứng</a:t>
            </a:r>
            <a:r>
              <a:rPr lang="en-US" altLang="en-US" dirty="0">
                <a:cs typeface="Times New Roman" panose="02020603050405020304" pitchFamily="18" charset="0"/>
              </a:rPr>
              <a:t> </a:t>
            </a:r>
            <a:r>
              <a:rPr lang="en-US" altLang="en-US" dirty="0" err="1">
                <a:cs typeface="Times New Roman" panose="02020603050405020304" pitchFamily="18" charset="0"/>
              </a:rPr>
              <a:t>dụng</a:t>
            </a:r>
            <a:r>
              <a:rPr lang="en-US" altLang="en-US" dirty="0">
                <a:cs typeface="Times New Roman" panose="02020603050405020304" pitchFamily="18" charset="0"/>
              </a:rPr>
              <a:t> </a:t>
            </a:r>
            <a:r>
              <a:rPr lang="en-US" altLang="en-US" dirty="0" err="1">
                <a:cs typeface="Times New Roman" panose="02020603050405020304" pitchFamily="18" charset="0"/>
              </a:rPr>
              <a:t>của</a:t>
            </a:r>
            <a:r>
              <a:rPr lang="en-US" altLang="en-US" dirty="0">
                <a:cs typeface="Times New Roman" panose="02020603050405020304" pitchFamily="18" charset="0"/>
              </a:rPr>
              <a:t> </a:t>
            </a:r>
            <a:r>
              <a:rPr lang="en-US" altLang="en-US" dirty="0" err="1">
                <a:cs typeface="Times New Roman" panose="02020603050405020304" pitchFamily="18" charset="0"/>
              </a:rPr>
              <a:t>cấu</a:t>
            </a:r>
            <a:r>
              <a:rPr lang="en-US" altLang="en-US" dirty="0">
                <a:cs typeface="Times New Roman" panose="02020603050405020304" pitchFamily="18" charset="0"/>
              </a:rPr>
              <a:t> </a:t>
            </a:r>
            <a:r>
              <a:rPr lang="en-US" altLang="en-US" dirty="0" err="1">
                <a:cs typeface="Times New Roman" panose="02020603050405020304" pitchFamily="18" charset="0"/>
              </a:rPr>
              <a:t>trúc</a:t>
            </a:r>
            <a:r>
              <a:rPr lang="en-US" altLang="en-US" dirty="0">
                <a:cs typeface="Times New Roman" panose="02020603050405020304" pitchFamily="18" charset="0"/>
              </a:rPr>
              <a:t> </a:t>
            </a:r>
            <a:r>
              <a:rPr lang="en-US" altLang="en-US" dirty="0" err="1">
                <a:cs typeface="Times New Roman" panose="02020603050405020304" pitchFamily="18" charset="0"/>
              </a:rPr>
              <a:t>cây</a:t>
            </a:r>
            <a:endParaRPr lang="en-US" altLang="en-US" dirty="0">
              <a:cs typeface="Times New Roman" panose="02020603050405020304" pitchFamily="18" charset="0"/>
            </a:endParaRPr>
          </a:p>
          <a:p>
            <a:r>
              <a:rPr lang="en-US" altLang="en-US" dirty="0">
                <a:cs typeface="Times New Roman" panose="02020603050405020304" pitchFamily="18" charset="0"/>
              </a:rPr>
              <a:t>5. </a:t>
            </a:r>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cân</a:t>
            </a:r>
            <a:r>
              <a:rPr lang="en-US" altLang="en-US" dirty="0">
                <a:cs typeface="Times New Roman" panose="02020603050405020304" pitchFamily="18" charset="0"/>
              </a:rPr>
              <a:t> </a:t>
            </a:r>
            <a:r>
              <a:rPr lang="en-US" altLang="en-US" dirty="0" err="1">
                <a:cs typeface="Times New Roman" panose="02020603050405020304" pitchFamily="18" charset="0"/>
              </a:rPr>
              <a:t>bằng</a:t>
            </a:r>
            <a:endParaRPr lang="en-US" altLang="en-US" dirty="0">
              <a:cs typeface="Times New Roman" panose="02020603050405020304" pitchFamily="18" charset="0"/>
            </a:endParaRPr>
          </a:p>
          <a:p>
            <a:endParaRPr lang="en-US" dirty="0"/>
          </a:p>
        </p:txBody>
      </p:sp>
    </p:spTree>
    <p:extLst>
      <p:ext uri="{BB962C8B-B14F-4D97-AF65-F5344CB8AC3E}">
        <p14:creationId xmlns:p14="http://schemas.microsoft.com/office/powerpoint/2010/main" val="19796058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26B269CE-12F4-4F4F-BF2F-21E0A343DA44}" type="slidenum">
              <a:rPr lang="en-US" smtClean="0"/>
              <a:pPr/>
              <a:t>4</a:t>
            </a:fld>
            <a:endParaRPr lang="en-US"/>
          </a:p>
        </p:txBody>
      </p:sp>
      <p:sp>
        <p:nvSpPr>
          <p:cNvPr id="2" name="Title 1"/>
          <p:cNvSpPr>
            <a:spLocks noGrp="1"/>
          </p:cNvSpPr>
          <p:nvPr>
            <p:ph type="title"/>
          </p:nvPr>
        </p:nvSpPr>
        <p:spPr>
          <a:xfrm>
            <a:off x="3559160" y="2514600"/>
            <a:ext cx="8673846" cy="451739"/>
          </a:xfrm>
        </p:spPr>
        <p:txBody>
          <a:bodyPr/>
          <a:lstStyle/>
          <a:p>
            <a:r>
              <a:rPr lang="en-US" altLang="en-US" dirty="0">
                <a:solidFill>
                  <a:schemeClr val="tx1"/>
                </a:solidFill>
              </a:rPr>
              <a:t>1. </a:t>
            </a:r>
            <a:r>
              <a:rPr lang="en-US" altLang="en-US" dirty="0" err="1">
                <a:solidFill>
                  <a:schemeClr val="tx1"/>
                </a:solidFill>
              </a:rPr>
              <a:t>Giới</a:t>
            </a:r>
            <a:r>
              <a:rPr lang="en-US" altLang="en-US" dirty="0">
                <a:solidFill>
                  <a:schemeClr val="tx1"/>
                </a:solidFill>
              </a:rPr>
              <a:t> </a:t>
            </a:r>
            <a:r>
              <a:rPr lang="en-US" altLang="en-US" dirty="0" err="1">
                <a:solidFill>
                  <a:schemeClr val="tx1"/>
                </a:solidFill>
              </a:rPr>
              <a:t>thiệu</a:t>
            </a:r>
            <a:endParaRPr lang="en-US" dirty="0">
              <a:solidFill>
                <a:schemeClr val="tx1"/>
              </a:solidFill>
            </a:endParaRPr>
          </a:p>
        </p:txBody>
      </p:sp>
      <p:sp>
        <p:nvSpPr>
          <p:cNvPr id="6" name="Text Placeholder 5"/>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398060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5</a:t>
            </a:fld>
            <a:endParaRPr lang="en-US"/>
          </a:p>
        </p:txBody>
      </p:sp>
      <p:sp>
        <p:nvSpPr>
          <p:cNvPr id="5" name="Title 4"/>
          <p:cNvSpPr>
            <a:spLocks noGrp="1"/>
          </p:cNvSpPr>
          <p:nvPr>
            <p:ph type="title"/>
          </p:nvPr>
        </p:nvSpPr>
        <p:spPr/>
        <p:txBody>
          <a:bodyPr/>
          <a:lstStyle/>
          <a:p>
            <a:r>
              <a:rPr lang="en-US" dirty="0" err="1"/>
              <a:t>Định</a:t>
            </a:r>
            <a:r>
              <a:rPr lang="en-US" dirty="0"/>
              <a:t> </a:t>
            </a:r>
            <a:r>
              <a:rPr lang="en-US" dirty="0" err="1"/>
              <a:t>nghĩa</a:t>
            </a:r>
            <a:r>
              <a:rPr lang="en-US" dirty="0"/>
              <a:t> </a:t>
            </a:r>
            <a:r>
              <a:rPr lang="en-US" dirty="0" err="1"/>
              <a:t>cây</a:t>
            </a:r>
            <a:endParaRPr lang="en-US" dirty="0"/>
          </a:p>
        </p:txBody>
      </p:sp>
      <p:sp>
        <p:nvSpPr>
          <p:cNvPr id="2" name="Content Placeholder 1"/>
          <p:cNvSpPr>
            <a:spLocks noGrp="1"/>
          </p:cNvSpPr>
          <p:nvPr>
            <p:ph type="body" sz="quarter" idx="13"/>
          </p:nvPr>
        </p:nvSpPr>
        <p:spPr/>
        <p:txBody>
          <a:bodyPr/>
          <a:lstStyle/>
          <a:p>
            <a:r>
              <a:rPr lang="en-US" dirty="0" err="1"/>
              <a:t>Cây</a:t>
            </a:r>
            <a:r>
              <a:rPr lang="en-US" dirty="0"/>
              <a:t> </a:t>
            </a:r>
            <a:r>
              <a:rPr lang="en-US" dirty="0" err="1"/>
              <a:t>là</a:t>
            </a:r>
            <a:r>
              <a:rPr lang="en-US" dirty="0"/>
              <a:t> </a:t>
            </a:r>
            <a:r>
              <a:rPr lang="en-US" dirty="0" err="1"/>
              <a:t>một</a:t>
            </a:r>
            <a:r>
              <a:rPr lang="en-US" dirty="0"/>
              <a:t> </a:t>
            </a:r>
            <a:r>
              <a:rPr lang="en-US" dirty="0" err="1"/>
              <a:t>cấu</a:t>
            </a:r>
            <a:r>
              <a:rPr lang="en-US" dirty="0"/>
              <a:t> </a:t>
            </a:r>
            <a:r>
              <a:rPr lang="en-US" dirty="0" err="1"/>
              <a:t>trúc</a:t>
            </a:r>
            <a:r>
              <a:rPr lang="en-US" dirty="0"/>
              <a:t> phi </a:t>
            </a:r>
            <a:r>
              <a:rPr lang="en-US" dirty="0" err="1"/>
              <a:t>tuyến</a:t>
            </a:r>
            <a:endParaRPr lang="en-US" dirty="0"/>
          </a:p>
          <a:p>
            <a:r>
              <a:rPr lang="vi-VN" dirty="0"/>
              <a:t>Thiết lập trên một tập hữu hạn các </a:t>
            </a:r>
            <a:r>
              <a:rPr lang="en-US" dirty="0" err="1"/>
              <a:t>phần</a:t>
            </a:r>
            <a:r>
              <a:rPr lang="en-US" dirty="0"/>
              <a:t> </a:t>
            </a:r>
            <a:r>
              <a:rPr lang="en-US" dirty="0" err="1"/>
              <a:t>tử</a:t>
            </a:r>
            <a:r>
              <a:rPr lang="en-US" dirty="0"/>
              <a:t> / </a:t>
            </a:r>
            <a:r>
              <a:rPr lang="vi-VN" dirty="0"/>
              <a:t>“nút”</a:t>
            </a:r>
          </a:p>
          <a:p>
            <a:pPr lvl="1"/>
            <a:r>
              <a:rPr lang="vi-VN" dirty="0"/>
              <a:t>Tồn tại một nút đặc biệt gọi là “gốc” (root)</a:t>
            </a:r>
          </a:p>
          <a:p>
            <a:pPr lvl="1"/>
            <a:r>
              <a:rPr lang="vi-VN" dirty="0"/>
              <a:t>Tồn tại một quan hệ phân cấp hay gọi là quan hệ cha con giữa các nút</a:t>
            </a:r>
            <a:r>
              <a:rPr lang="en-US" dirty="0"/>
              <a:t> (</a:t>
            </a:r>
            <a:r>
              <a:rPr lang="en-US" altLang="en-US" dirty="0" err="1">
                <a:cs typeface="Times New Roman" panose="02020603050405020304" pitchFamily="18" charset="0"/>
              </a:rPr>
              <a:t>đường</a:t>
            </a:r>
            <a:r>
              <a:rPr lang="en-US" altLang="en-US" dirty="0">
                <a:cs typeface="Times New Roman" panose="02020603050405020304" pitchFamily="18" charset="0"/>
              </a:rPr>
              <a:t> </a:t>
            </a:r>
            <a:r>
              <a:rPr lang="en-US" altLang="en-US" dirty="0" err="1">
                <a:cs typeface="Times New Roman" panose="02020603050405020304" pitchFamily="18" charset="0"/>
              </a:rPr>
              <a:t>nối</a:t>
            </a:r>
            <a:r>
              <a:rPr lang="en-US" altLang="en-US" dirty="0">
                <a:cs typeface="Times New Roman" panose="02020603050405020304" pitchFamily="18" charset="0"/>
              </a:rPr>
              <a:t> </a:t>
            </a:r>
            <a:r>
              <a:rPr lang="en-US" altLang="en-US" dirty="0" err="1">
                <a:cs typeface="Times New Roman" panose="02020603050405020304" pitchFamily="18" charset="0"/>
              </a:rPr>
              <a:t>gọi</a:t>
            </a:r>
            <a:r>
              <a:rPr lang="en-US" altLang="en-US" dirty="0">
                <a:cs typeface="Times New Roman" panose="02020603050405020304" pitchFamily="18" charset="0"/>
              </a:rPr>
              <a:t> </a:t>
            </a:r>
            <a:r>
              <a:rPr lang="en-US" altLang="en-US" dirty="0" err="1">
                <a:cs typeface="Times New Roman" panose="02020603050405020304" pitchFamily="18" charset="0"/>
              </a:rPr>
              <a:t>là</a:t>
            </a:r>
            <a:r>
              <a:rPr lang="en-US" altLang="en-US" dirty="0">
                <a:cs typeface="Times New Roman" panose="02020603050405020304" pitchFamily="18" charset="0"/>
              </a:rPr>
              <a:t> </a:t>
            </a:r>
            <a:r>
              <a:rPr lang="en-US" altLang="en-US" dirty="0" err="1">
                <a:cs typeface="Times New Roman" panose="02020603050405020304" pitchFamily="18" charset="0"/>
              </a:rPr>
              <a:t>nhánh</a:t>
            </a:r>
            <a:r>
              <a:rPr lang="en-US" altLang="en-US" dirty="0">
                <a:cs typeface="Times New Roman" panose="02020603050405020304" pitchFamily="18" charset="0"/>
              </a:rPr>
              <a:t>)</a:t>
            </a:r>
            <a:endParaRPr lang="vi-VN" dirty="0"/>
          </a:p>
          <a:p>
            <a:pPr lvl="1"/>
            <a:r>
              <a:rPr lang="vi-VN" dirty="0"/>
              <a:t>Một nút (trừ nút gốc) chỉ có một cha</a:t>
            </a:r>
          </a:p>
          <a:p>
            <a:pPr lvl="1"/>
            <a:r>
              <a:rPr lang="vi-VN" dirty="0"/>
              <a:t>Một nút có thể có từ </a:t>
            </a:r>
            <a:r>
              <a:rPr lang="vi-VN" i="1" dirty="0"/>
              <a:t>0</a:t>
            </a:r>
            <a:r>
              <a:rPr lang="vi-VN" dirty="0"/>
              <a:t> đến </a:t>
            </a:r>
            <a:r>
              <a:rPr lang="vi-VN" i="1" dirty="0"/>
              <a:t>n</a:t>
            </a:r>
            <a:r>
              <a:rPr lang="vi-VN" dirty="0"/>
              <a:t> con</a:t>
            </a:r>
            <a:endParaRPr lang="en-US" dirty="0"/>
          </a:p>
        </p:txBody>
      </p:sp>
      <p:grpSp>
        <p:nvGrpSpPr>
          <p:cNvPr id="6" name="Group 15">
            <a:extLst>
              <a:ext uri="{FF2B5EF4-FFF2-40B4-BE49-F238E27FC236}">
                <a16:creationId xmlns:a16="http://schemas.microsoft.com/office/drawing/2014/main" id="{7F52EC72-55AC-4917-8065-581491C64FBE}"/>
              </a:ext>
            </a:extLst>
          </p:cNvPr>
          <p:cNvGrpSpPr>
            <a:grpSpLocks/>
          </p:cNvGrpSpPr>
          <p:nvPr/>
        </p:nvGrpSpPr>
        <p:grpSpPr bwMode="auto">
          <a:xfrm>
            <a:off x="990600" y="3509481"/>
            <a:ext cx="3715152" cy="2586519"/>
            <a:chOff x="2512" y="1622"/>
            <a:chExt cx="3111" cy="2376"/>
          </a:xfrm>
        </p:grpSpPr>
        <p:sp>
          <p:nvSpPr>
            <p:cNvPr id="7" name="Oval 16">
              <a:extLst>
                <a:ext uri="{FF2B5EF4-FFF2-40B4-BE49-F238E27FC236}">
                  <a16:creationId xmlns:a16="http://schemas.microsoft.com/office/drawing/2014/main" id="{A154D95F-7BCD-4BB2-B56E-7D1E2BD3E1EC}"/>
                </a:ext>
              </a:extLst>
            </p:cNvPr>
            <p:cNvSpPr>
              <a:spLocks noChangeArrowheads="1"/>
            </p:cNvSpPr>
            <p:nvPr/>
          </p:nvSpPr>
          <p:spPr bwMode="auto">
            <a:xfrm>
              <a:off x="3864" y="2032"/>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8" name="Oval 17">
              <a:extLst>
                <a:ext uri="{FF2B5EF4-FFF2-40B4-BE49-F238E27FC236}">
                  <a16:creationId xmlns:a16="http://schemas.microsoft.com/office/drawing/2014/main" id="{6A038844-AE44-4605-849A-D0F04D6B3BC0}"/>
                </a:ext>
              </a:extLst>
            </p:cNvPr>
            <p:cNvSpPr>
              <a:spLocks noChangeArrowheads="1"/>
            </p:cNvSpPr>
            <p:nvPr/>
          </p:nvSpPr>
          <p:spPr bwMode="auto">
            <a:xfrm>
              <a:off x="4608" y="2736"/>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9" name="Oval 18">
              <a:extLst>
                <a:ext uri="{FF2B5EF4-FFF2-40B4-BE49-F238E27FC236}">
                  <a16:creationId xmlns:a16="http://schemas.microsoft.com/office/drawing/2014/main" id="{BBB76C97-FB62-42AE-B444-DE025CD3F818}"/>
                </a:ext>
              </a:extLst>
            </p:cNvPr>
            <p:cNvSpPr>
              <a:spLocks noChangeArrowheads="1"/>
            </p:cNvSpPr>
            <p:nvPr/>
          </p:nvSpPr>
          <p:spPr bwMode="auto">
            <a:xfrm>
              <a:off x="3216" y="2708"/>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10" name="Oval 19">
              <a:extLst>
                <a:ext uri="{FF2B5EF4-FFF2-40B4-BE49-F238E27FC236}">
                  <a16:creationId xmlns:a16="http://schemas.microsoft.com/office/drawing/2014/main" id="{3DBDE932-3078-44F6-B41D-1AFE3C7C863E}"/>
                </a:ext>
              </a:extLst>
            </p:cNvPr>
            <p:cNvSpPr>
              <a:spLocks noChangeArrowheads="1"/>
            </p:cNvSpPr>
            <p:nvPr/>
          </p:nvSpPr>
          <p:spPr bwMode="auto">
            <a:xfrm>
              <a:off x="2592" y="3408"/>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11" name="Oval 20">
              <a:extLst>
                <a:ext uri="{FF2B5EF4-FFF2-40B4-BE49-F238E27FC236}">
                  <a16:creationId xmlns:a16="http://schemas.microsoft.com/office/drawing/2014/main" id="{67A6470C-2C45-45AE-8BCD-B15F43CBE45C}"/>
                </a:ext>
              </a:extLst>
            </p:cNvPr>
            <p:cNvSpPr>
              <a:spLocks noChangeArrowheads="1"/>
            </p:cNvSpPr>
            <p:nvPr/>
          </p:nvSpPr>
          <p:spPr bwMode="auto">
            <a:xfrm>
              <a:off x="3744" y="3408"/>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12" name="Oval 21">
              <a:extLst>
                <a:ext uri="{FF2B5EF4-FFF2-40B4-BE49-F238E27FC236}">
                  <a16:creationId xmlns:a16="http://schemas.microsoft.com/office/drawing/2014/main" id="{5746B2CA-B165-4214-ACF8-992B100AC473}"/>
                </a:ext>
              </a:extLst>
            </p:cNvPr>
            <p:cNvSpPr>
              <a:spLocks noChangeArrowheads="1"/>
            </p:cNvSpPr>
            <p:nvPr/>
          </p:nvSpPr>
          <p:spPr bwMode="auto">
            <a:xfrm>
              <a:off x="3168" y="3408"/>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13" name="Oval 22">
              <a:extLst>
                <a:ext uri="{FF2B5EF4-FFF2-40B4-BE49-F238E27FC236}">
                  <a16:creationId xmlns:a16="http://schemas.microsoft.com/office/drawing/2014/main" id="{F9C7F947-D2B3-4254-B5D1-9E18F0FDF1B0}"/>
                </a:ext>
              </a:extLst>
            </p:cNvPr>
            <p:cNvSpPr>
              <a:spLocks noChangeArrowheads="1"/>
            </p:cNvSpPr>
            <p:nvPr/>
          </p:nvSpPr>
          <p:spPr bwMode="auto">
            <a:xfrm>
              <a:off x="4656" y="3360"/>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14" name="Line 24">
              <a:extLst>
                <a:ext uri="{FF2B5EF4-FFF2-40B4-BE49-F238E27FC236}">
                  <a16:creationId xmlns:a16="http://schemas.microsoft.com/office/drawing/2014/main" id="{F894004A-EE3B-461C-92EF-1884A341AE4E}"/>
                </a:ext>
              </a:extLst>
            </p:cNvPr>
            <p:cNvSpPr>
              <a:spLocks noChangeShapeType="1"/>
            </p:cNvSpPr>
            <p:nvPr/>
          </p:nvSpPr>
          <p:spPr bwMode="auto">
            <a:xfrm flipH="1">
              <a:off x="3456" y="2208"/>
              <a:ext cx="432"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 name="Line 25">
              <a:extLst>
                <a:ext uri="{FF2B5EF4-FFF2-40B4-BE49-F238E27FC236}">
                  <a16:creationId xmlns:a16="http://schemas.microsoft.com/office/drawing/2014/main" id="{E41E63D6-F085-4206-AFA6-AA315D3A5BD5}"/>
                </a:ext>
              </a:extLst>
            </p:cNvPr>
            <p:cNvSpPr>
              <a:spLocks noChangeShapeType="1"/>
            </p:cNvSpPr>
            <p:nvPr/>
          </p:nvSpPr>
          <p:spPr bwMode="auto">
            <a:xfrm flipH="1">
              <a:off x="2784" y="2928"/>
              <a:ext cx="48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 name="Line 26">
              <a:extLst>
                <a:ext uri="{FF2B5EF4-FFF2-40B4-BE49-F238E27FC236}">
                  <a16:creationId xmlns:a16="http://schemas.microsoft.com/office/drawing/2014/main" id="{761C6BF8-7108-42EF-856D-3373FE67B93D}"/>
                </a:ext>
              </a:extLst>
            </p:cNvPr>
            <p:cNvSpPr>
              <a:spLocks noChangeShapeType="1"/>
            </p:cNvSpPr>
            <p:nvPr/>
          </p:nvSpPr>
          <p:spPr bwMode="auto">
            <a:xfrm flipH="1">
              <a:off x="3312" y="2928"/>
              <a:ext cx="4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 name="Line 27">
              <a:extLst>
                <a:ext uri="{FF2B5EF4-FFF2-40B4-BE49-F238E27FC236}">
                  <a16:creationId xmlns:a16="http://schemas.microsoft.com/office/drawing/2014/main" id="{CBDD095A-EA03-4370-8D0E-D4688DDD67C3}"/>
                </a:ext>
              </a:extLst>
            </p:cNvPr>
            <p:cNvSpPr>
              <a:spLocks noChangeShapeType="1"/>
            </p:cNvSpPr>
            <p:nvPr/>
          </p:nvSpPr>
          <p:spPr bwMode="auto">
            <a:xfrm>
              <a:off x="3456" y="2928"/>
              <a:ext cx="384"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 name="Line 28">
              <a:extLst>
                <a:ext uri="{FF2B5EF4-FFF2-40B4-BE49-F238E27FC236}">
                  <a16:creationId xmlns:a16="http://schemas.microsoft.com/office/drawing/2014/main" id="{2728C920-EF13-403B-8B8D-4C4166257E5D}"/>
                </a:ext>
              </a:extLst>
            </p:cNvPr>
            <p:cNvSpPr>
              <a:spLocks noChangeShapeType="1"/>
            </p:cNvSpPr>
            <p:nvPr/>
          </p:nvSpPr>
          <p:spPr bwMode="auto">
            <a:xfrm>
              <a:off x="4128" y="2208"/>
              <a:ext cx="528"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 name="Line 29">
              <a:extLst>
                <a:ext uri="{FF2B5EF4-FFF2-40B4-BE49-F238E27FC236}">
                  <a16:creationId xmlns:a16="http://schemas.microsoft.com/office/drawing/2014/main" id="{C3C8549A-B932-4886-A06A-7BF22C026CBC}"/>
                </a:ext>
              </a:extLst>
            </p:cNvPr>
            <p:cNvSpPr>
              <a:spLocks noChangeShapeType="1"/>
            </p:cNvSpPr>
            <p:nvPr/>
          </p:nvSpPr>
          <p:spPr bwMode="auto">
            <a:xfrm>
              <a:off x="4752" y="2976"/>
              <a:ext cx="48"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 name="Text Box 31">
              <a:extLst>
                <a:ext uri="{FF2B5EF4-FFF2-40B4-BE49-F238E27FC236}">
                  <a16:creationId xmlns:a16="http://schemas.microsoft.com/office/drawing/2014/main" id="{664E721D-2475-4B2F-A579-52D7F26C23E7}"/>
                </a:ext>
              </a:extLst>
            </p:cNvPr>
            <p:cNvSpPr txBox="1">
              <a:spLocks noChangeArrowheads="1"/>
            </p:cNvSpPr>
            <p:nvPr/>
          </p:nvSpPr>
          <p:spPr bwMode="auto">
            <a:xfrm>
              <a:off x="2512" y="1622"/>
              <a:ext cx="708"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800" b="1" dirty="0">
                  <a:latin typeface="Arial" panose="020B0604020202020204" pitchFamily="34" charset="0"/>
                </a:rPr>
                <a:t>Cây</a:t>
              </a:r>
            </a:p>
          </p:txBody>
        </p:sp>
        <p:sp>
          <p:nvSpPr>
            <p:cNvPr id="21" name="Text Box 32">
              <a:extLst>
                <a:ext uri="{FF2B5EF4-FFF2-40B4-BE49-F238E27FC236}">
                  <a16:creationId xmlns:a16="http://schemas.microsoft.com/office/drawing/2014/main" id="{5804E751-BC71-4F18-BDA3-3054A4E53ECC}"/>
                </a:ext>
              </a:extLst>
            </p:cNvPr>
            <p:cNvSpPr txBox="1">
              <a:spLocks noChangeArrowheads="1"/>
            </p:cNvSpPr>
            <p:nvPr/>
          </p:nvSpPr>
          <p:spPr bwMode="auto">
            <a:xfrm>
              <a:off x="4224" y="1968"/>
              <a:ext cx="897"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800" b="1" dirty="0">
                  <a:latin typeface="Arial" panose="020B0604020202020204" pitchFamily="34" charset="0"/>
                </a:rPr>
                <a:t>Nút gốc</a:t>
              </a:r>
            </a:p>
          </p:txBody>
        </p:sp>
        <p:sp>
          <p:nvSpPr>
            <p:cNvPr id="22" name="Text Box 33">
              <a:extLst>
                <a:ext uri="{FF2B5EF4-FFF2-40B4-BE49-F238E27FC236}">
                  <a16:creationId xmlns:a16="http://schemas.microsoft.com/office/drawing/2014/main" id="{047AD022-EBF1-40A1-88BA-02C124797F56}"/>
                </a:ext>
              </a:extLst>
            </p:cNvPr>
            <p:cNvSpPr txBox="1">
              <a:spLocks noChangeArrowheads="1"/>
            </p:cNvSpPr>
            <p:nvPr/>
          </p:nvSpPr>
          <p:spPr bwMode="auto">
            <a:xfrm>
              <a:off x="2592" y="3743"/>
              <a:ext cx="1776"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800" dirty="0">
                  <a:latin typeface="Arial" panose="020B0604020202020204" pitchFamily="34" charset="0"/>
                </a:rPr>
                <a:t>Các nút con</a:t>
              </a:r>
            </a:p>
          </p:txBody>
        </p:sp>
        <p:sp>
          <p:nvSpPr>
            <p:cNvPr id="23" name="Text Box 34">
              <a:extLst>
                <a:ext uri="{FF2B5EF4-FFF2-40B4-BE49-F238E27FC236}">
                  <a16:creationId xmlns:a16="http://schemas.microsoft.com/office/drawing/2014/main" id="{3F83B78A-B998-4AEC-A61D-5AD35AAF36BD}"/>
                </a:ext>
              </a:extLst>
            </p:cNvPr>
            <p:cNvSpPr txBox="1">
              <a:spLocks noChangeArrowheads="1"/>
            </p:cNvSpPr>
            <p:nvPr/>
          </p:nvSpPr>
          <p:spPr bwMode="auto">
            <a:xfrm>
              <a:off x="4903" y="2686"/>
              <a:ext cx="720"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800" dirty="0">
                  <a:latin typeface="Arial" panose="020B0604020202020204" pitchFamily="34" charset="0"/>
                </a:rPr>
                <a:t>Nút cha</a:t>
              </a:r>
            </a:p>
          </p:txBody>
        </p:sp>
        <p:sp>
          <p:nvSpPr>
            <p:cNvPr id="24" name="Text Box 36">
              <a:extLst>
                <a:ext uri="{FF2B5EF4-FFF2-40B4-BE49-F238E27FC236}">
                  <a16:creationId xmlns:a16="http://schemas.microsoft.com/office/drawing/2014/main" id="{0E9976C8-4EB4-45ED-8124-E12AD9494EBA}"/>
                </a:ext>
              </a:extLst>
            </p:cNvPr>
            <p:cNvSpPr txBox="1">
              <a:spLocks noChangeArrowheads="1"/>
            </p:cNvSpPr>
            <p:nvPr/>
          </p:nvSpPr>
          <p:spPr bwMode="auto">
            <a:xfrm>
              <a:off x="4944" y="3408"/>
              <a:ext cx="679"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800" dirty="0">
                  <a:latin typeface="Arial" panose="020B0604020202020204" pitchFamily="34" charset="0"/>
                </a:rPr>
                <a:t>Nút con</a:t>
              </a:r>
            </a:p>
          </p:txBody>
        </p:sp>
      </p:grpSp>
      <p:grpSp>
        <p:nvGrpSpPr>
          <p:cNvPr id="25" name="Group 4">
            <a:extLst>
              <a:ext uri="{FF2B5EF4-FFF2-40B4-BE49-F238E27FC236}">
                <a16:creationId xmlns:a16="http://schemas.microsoft.com/office/drawing/2014/main" id="{3D3A3437-05E8-42DB-B4ED-914BA20A534B}"/>
              </a:ext>
            </a:extLst>
          </p:cNvPr>
          <p:cNvGrpSpPr>
            <a:grpSpLocks/>
          </p:cNvGrpSpPr>
          <p:nvPr/>
        </p:nvGrpSpPr>
        <p:grpSpPr bwMode="auto">
          <a:xfrm>
            <a:off x="5725097" y="3411504"/>
            <a:ext cx="3114676" cy="2422251"/>
            <a:chOff x="246" y="1494"/>
            <a:chExt cx="1962" cy="2710"/>
          </a:xfrm>
        </p:grpSpPr>
        <p:sp>
          <p:nvSpPr>
            <p:cNvPr id="26" name="Oval 5">
              <a:extLst>
                <a:ext uri="{FF2B5EF4-FFF2-40B4-BE49-F238E27FC236}">
                  <a16:creationId xmlns:a16="http://schemas.microsoft.com/office/drawing/2014/main" id="{C9770D01-2A11-47B0-A837-2601F05E8E3C}"/>
                </a:ext>
              </a:extLst>
            </p:cNvPr>
            <p:cNvSpPr>
              <a:spLocks noChangeArrowheads="1"/>
            </p:cNvSpPr>
            <p:nvPr/>
          </p:nvSpPr>
          <p:spPr bwMode="auto">
            <a:xfrm>
              <a:off x="1200" y="1872"/>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27" name="Oval 6">
              <a:extLst>
                <a:ext uri="{FF2B5EF4-FFF2-40B4-BE49-F238E27FC236}">
                  <a16:creationId xmlns:a16="http://schemas.microsoft.com/office/drawing/2014/main" id="{83CADB09-871B-4860-BF1E-A05FADAB1F36}"/>
                </a:ext>
              </a:extLst>
            </p:cNvPr>
            <p:cNvSpPr>
              <a:spLocks noChangeArrowheads="1"/>
            </p:cNvSpPr>
            <p:nvPr/>
          </p:nvSpPr>
          <p:spPr bwMode="auto">
            <a:xfrm>
              <a:off x="1200" y="2544"/>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28" name="Oval 7">
              <a:extLst>
                <a:ext uri="{FF2B5EF4-FFF2-40B4-BE49-F238E27FC236}">
                  <a16:creationId xmlns:a16="http://schemas.microsoft.com/office/drawing/2014/main" id="{AAC5D0D0-07F1-4359-8352-1EC8D81A64B8}"/>
                </a:ext>
              </a:extLst>
            </p:cNvPr>
            <p:cNvSpPr>
              <a:spLocks noChangeArrowheads="1"/>
            </p:cNvSpPr>
            <p:nvPr/>
          </p:nvSpPr>
          <p:spPr bwMode="auto">
            <a:xfrm>
              <a:off x="1200" y="3216"/>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29" name="Oval 8">
              <a:extLst>
                <a:ext uri="{FF2B5EF4-FFF2-40B4-BE49-F238E27FC236}">
                  <a16:creationId xmlns:a16="http://schemas.microsoft.com/office/drawing/2014/main" id="{F4B172F7-E504-4534-91B4-A5F83E689C59}"/>
                </a:ext>
              </a:extLst>
            </p:cNvPr>
            <p:cNvSpPr>
              <a:spLocks noChangeArrowheads="1"/>
            </p:cNvSpPr>
            <p:nvPr/>
          </p:nvSpPr>
          <p:spPr bwMode="auto">
            <a:xfrm>
              <a:off x="1200" y="3840"/>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sp>
          <p:nvSpPr>
            <p:cNvPr id="30" name="Line 9">
              <a:extLst>
                <a:ext uri="{FF2B5EF4-FFF2-40B4-BE49-F238E27FC236}">
                  <a16:creationId xmlns:a16="http://schemas.microsoft.com/office/drawing/2014/main" id="{BE834D24-022B-4B50-A774-9C778F4A3ED1}"/>
                </a:ext>
              </a:extLst>
            </p:cNvPr>
            <p:cNvSpPr>
              <a:spLocks noChangeShapeType="1"/>
            </p:cNvSpPr>
            <p:nvPr/>
          </p:nvSpPr>
          <p:spPr bwMode="auto">
            <a:xfrm>
              <a:off x="1344" y="2112"/>
              <a:ext cx="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 name="Line 10">
              <a:extLst>
                <a:ext uri="{FF2B5EF4-FFF2-40B4-BE49-F238E27FC236}">
                  <a16:creationId xmlns:a16="http://schemas.microsoft.com/office/drawing/2014/main" id="{FAE9ACC9-84E1-4E74-8E28-805EAEBFDBF8}"/>
                </a:ext>
              </a:extLst>
            </p:cNvPr>
            <p:cNvSpPr>
              <a:spLocks noChangeShapeType="1"/>
            </p:cNvSpPr>
            <p:nvPr/>
          </p:nvSpPr>
          <p:spPr bwMode="auto">
            <a:xfrm>
              <a:off x="1344" y="2784"/>
              <a:ext cx="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 name="Line 11">
              <a:extLst>
                <a:ext uri="{FF2B5EF4-FFF2-40B4-BE49-F238E27FC236}">
                  <a16:creationId xmlns:a16="http://schemas.microsoft.com/office/drawing/2014/main" id="{6A630F78-EF54-47F8-80A6-913C17358F7F}"/>
                </a:ext>
              </a:extLst>
            </p:cNvPr>
            <p:cNvSpPr>
              <a:spLocks noChangeShapeType="1"/>
            </p:cNvSpPr>
            <p:nvPr/>
          </p:nvSpPr>
          <p:spPr bwMode="auto">
            <a:xfrm>
              <a:off x="1344" y="3456"/>
              <a:ext cx="0" cy="37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 name="Text Box 12">
              <a:extLst>
                <a:ext uri="{FF2B5EF4-FFF2-40B4-BE49-F238E27FC236}">
                  <a16:creationId xmlns:a16="http://schemas.microsoft.com/office/drawing/2014/main" id="{B3024900-BAD6-4602-B247-C6FDCCA3639C}"/>
                </a:ext>
              </a:extLst>
            </p:cNvPr>
            <p:cNvSpPr txBox="1">
              <a:spLocks noChangeArrowheads="1"/>
            </p:cNvSpPr>
            <p:nvPr/>
          </p:nvSpPr>
          <p:spPr bwMode="auto">
            <a:xfrm>
              <a:off x="246" y="1494"/>
              <a:ext cx="963" cy="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800" b="1" dirty="0">
                  <a:latin typeface="Arial" panose="020B0604020202020204" pitchFamily="34" charset="0"/>
                </a:rPr>
                <a:t>Danh sách</a:t>
              </a:r>
            </a:p>
          </p:txBody>
        </p:sp>
        <p:sp>
          <p:nvSpPr>
            <p:cNvPr id="34" name="Text Box 13">
              <a:extLst>
                <a:ext uri="{FF2B5EF4-FFF2-40B4-BE49-F238E27FC236}">
                  <a16:creationId xmlns:a16="http://schemas.microsoft.com/office/drawing/2014/main" id="{78D42C99-866D-4658-9D5A-D352B48E1C70}"/>
                </a:ext>
              </a:extLst>
            </p:cNvPr>
            <p:cNvSpPr txBox="1">
              <a:spLocks noChangeArrowheads="1"/>
            </p:cNvSpPr>
            <p:nvPr/>
          </p:nvSpPr>
          <p:spPr bwMode="auto">
            <a:xfrm>
              <a:off x="1536" y="1872"/>
              <a:ext cx="672" cy="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800" dirty="0">
                  <a:latin typeface="Arial" panose="020B0604020202020204" pitchFamily="34" charset="0"/>
                </a:rPr>
                <a:t>Đầu</a:t>
              </a:r>
            </a:p>
          </p:txBody>
        </p:sp>
        <p:sp>
          <p:nvSpPr>
            <p:cNvPr id="35" name="Text Box 14">
              <a:extLst>
                <a:ext uri="{FF2B5EF4-FFF2-40B4-BE49-F238E27FC236}">
                  <a16:creationId xmlns:a16="http://schemas.microsoft.com/office/drawing/2014/main" id="{6A563696-71A9-479D-9CF5-57F57F5F3EE4}"/>
                </a:ext>
              </a:extLst>
            </p:cNvPr>
            <p:cNvSpPr txBox="1">
              <a:spLocks noChangeArrowheads="1"/>
            </p:cNvSpPr>
            <p:nvPr/>
          </p:nvSpPr>
          <p:spPr bwMode="auto">
            <a:xfrm>
              <a:off x="1584" y="3794"/>
              <a:ext cx="528" cy="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800" dirty="0">
                  <a:latin typeface="Arial" panose="020B0604020202020204" pitchFamily="34" charset="0"/>
                </a:rPr>
                <a:t>Đuôi</a:t>
              </a:r>
            </a:p>
          </p:txBody>
        </p:sp>
      </p:grpSp>
    </p:spTree>
    <p:extLst>
      <p:ext uri="{BB962C8B-B14F-4D97-AF65-F5344CB8AC3E}">
        <p14:creationId xmlns:p14="http://schemas.microsoft.com/office/powerpoint/2010/main" val="1018622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3"/>
          <p:cNvSpPr>
            <a:spLocks noGrp="1" noChangeArrowheads="1"/>
          </p:cNvSpPr>
          <p:nvPr>
            <p:ph type="title"/>
          </p:nvPr>
        </p:nvSpPr>
        <p:spPr>
          <a:noFill/>
        </p:spPr>
        <p:txBody>
          <a:bodyPr/>
          <a:lstStyle/>
          <a:p>
            <a:pPr eaLnBrk="1" hangingPunct="1"/>
            <a:r>
              <a:rPr lang="en-US" dirty="0" err="1"/>
              <a:t>Định</a:t>
            </a:r>
            <a:r>
              <a:rPr lang="en-US" dirty="0"/>
              <a:t> </a:t>
            </a:r>
            <a:r>
              <a:rPr lang="en-US" dirty="0" err="1"/>
              <a:t>nghĩa</a:t>
            </a:r>
            <a:r>
              <a:rPr lang="en-US" dirty="0"/>
              <a:t> </a:t>
            </a:r>
            <a:r>
              <a:rPr lang="en-US" dirty="0" err="1"/>
              <a:t>cây</a:t>
            </a:r>
            <a:endParaRPr lang="en-US" altLang="en-US" dirty="0"/>
          </a:p>
        </p:txBody>
      </p:sp>
      <p:sp>
        <p:nvSpPr>
          <p:cNvPr id="5124" name="Rectangle 2"/>
          <p:cNvSpPr>
            <a:spLocks noGrp="1" noChangeArrowheads="1"/>
          </p:cNvSpPr>
          <p:nvPr>
            <p:ph type="body" sz="quarter" idx="13"/>
          </p:nvPr>
        </p:nvSpPr>
        <p:spPr>
          <a:xfrm>
            <a:off x="234951" y="1905000"/>
            <a:ext cx="8674100" cy="4191000"/>
          </a:xfrm>
          <a:noFill/>
        </p:spPr>
        <p:txBody>
          <a:bodyPr/>
          <a:lstStyle/>
          <a:p>
            <a:endParaRPr lang="en-US" altLang="en-US" dirty="0">
              <a:cs typeface="Times New Roman" panose="02020603050405020304" pitchFamily="18" charset="0"/>
            </a:endParaRPr>
          </a:p>
          <a:p>
            <a:endParaRPr lang="en-US" altLang="en-US" dirty="0">
              <a:cs typeface="Times New Roman" panose="02020603050405020304" pitchFamily="18" charset="0"/>
            </a:endParaRPr>
          </a:p>
          <a:p>
            <a:endParaRPr lang="en-US" altLang="en-US" dirty="0">
              <a:cs typeface="Times New Roman" panose="02020603050405020304" pitchFamily="18" charset="0"/>
            </a:endParaRPr>
          </a:p>
          <a:p>
            <a:endParaRPr lang="en-US" altLang="en-US" dirty="0">
              <a:cs typeface="Times New Roman" panose="02020603050405020304" pitchFamily="18" charset="0"/>
            </a:endParaRPr>
          </a:p>
          <a:p>
            <a:endParaRPr lang="en-US" altLang="en-US" dirty="0">
              <a:cs typeface="Times New Roman" panose="02020603050405020304" pitchFamily="18" charset="0"/>
            </a:endParaRPr>
          </a:p>
          <a:p>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rỗng</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không</a:t>
            </a:r>
            <a:r>
              <a:rPr lang="en-US" altLang="en-US" dirty="0">
                <a:cs typeface="Times New Roman" panose="02020603050405020304" pitchFamily="18" charset="0"/>
              </a:rPr>
              <a:t> </a:t>
            </a:r>
            <a:r>
              <a:rPr lang="en-US" altLang="en-US" dirty="0" err="1">
                <a:cs typeface="Times New Roman" panose="02020603050405020304" pitchFamily="18" charset="0"/>
              </a:rPr>
              <a:t>một</a:t>
            </a:r>
            <a:r>
              <a:rPr lang="en-US" altLang="en-US" dirty="0">
                <a:cs typeface="Times New Roman" panose="02020603050405020304" pitchFamily="18" charset="0"/>
              </a:rPr>
              <a:t> </a:t>
            </a:r>
            <a:r>
              <a:rPr lang="en-US" altLang="en-US" dirty="0" err="1">
                <a:cs typeface="Times New Roman" panose="02020603050405020304" pitchFamily="18" charset="0"/>
              </a:rPr>
              <a:t>nút</a:t>
            </a:r>
            <a:r>
              <a:rPr lang="en-US" altLang="en-US" dirty="0">
                <a:cs typeface="Times New Roman" panose="02020603050405020304" pitchFamily="18" charset="0"/>
              </a:rPr>
              <a:t> </a:t>
            </a:r>
            <a:r>
              <a:rPr lang="en-US" altLang="en-US" dirty="0" err="1">
                <a:cs typeface="Times New Roman" panose="02020603050405020304" pitchFamily="18" charset="0"/>
              </a:rPr>
              <a:t>nào</a:t>
            </a:r>
            <a:endParaRPr lang="en-US" altLang="en-US" dirty="0">
              <a:cs typeface="Times New Roman" panose="02020603050405020304" pitchFamily="18" charset="0"/>
            </a:endParaRPr>
          </a:p>
          <a:p>
            <a:r>
              <a:rPr lang="en-US" altLang="en-US" dirty="0" err="1">
                <a:cs typeface="Times New Roman" panose="02020603050405020304" pitchFamily="18" charset="0"/>
              </a:rPr>
              <a:t>Một</a:t>
            </a:r>
            <a:r>
              <a:rPr lang="en-US" altLang="en-US" dirty="0">
                <a:cs typeface="Times New Roman" panose="02020603050405020304" pitchFamily="18" charset="0"/>
              </a:rPr>
              <a:t> </a:t>
            </a:r>
            <a:r>
              <a:rPr lang="en-US" altLang="en-US" dirty="0" err="1">
                <a:cs typeface="Times New Roman" panose="02020603050405020304" pitchFamily="18" charset="0"/>
              </a:rPr>
              <a:t>nút</a:t>
            </a:r>
            <a:r>
              <a:rPr lang="en-US" altLang="en-US" dirty="0">
                <a:cs typeface="Times New Roman" panose="02020603050405020304" pitchFamily="18" charset="0"/>
              </a:rPr>
              <a:t> </a:t>
            </a:r>
            <a:r>
              <a:rPr lang="en-US" altLang="en-US" dirty="0" err="1">
                <a:cs typeface="Times New Roman" panose="02020603050405020304" pitchFamily="18" charset="0"/>
              </a:rPr>
              <a:t>tạo</a:t>
            </a:r>
            <a:r>
              <a:rPr lang="en-US" altLang="en-US" dirty="0">
                <a:cs typeface="Times New Roman" panose="02020603050405020304" pitchFamily="18" charset="0"/>
              </a:rPr>
              <a:t> </a:t>
            </a:r>
            <a:r>
              <a:rPr lang="en-US" altLang="en-US" dirty="0" err="1">
                <a:cs typeface="Times New Roman" panose="02020603050405020304" pitchFamily="18" charset="0"/>
              </a:rPr>
              <a:t>thành</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nút</a:t>
            </a:r>
            <a:r>
              <a:rPr lang="en-US" altLang="en-US" dirty="0">
                <a:cs typeface="Times New Roman" panose="02020603050405020304" pitchFamily="18" charset="0"/>
              </a:rPr>
              <a:t> </a:t>
            </a:r>
            <a:r>
              <a:rPr lang="en-US" altLang="en-US" dirty="0" err="1">
                <a:cs typeface="Times New Roman" panose="02020603050405020304" pitchFamily="18" charset="0"/>
              </a:rPr>
              <a:t>gốc</a:t>
            </a:r>
            <a:r>
              <a:rPr lang="en-US" altLang="en-US" dirty="0">
                <a:cs typeface="Times New Roman" panose="02020603050405020304" pitchFamily="18" charset="0"/>
              </a:rPr>
              <a:t>)</a:t>
            </a:r>
          </a:p>
          <a:p>
            <a:r>
              <a:rPr lang="en-US" dirty="0" err="1"/>
              <a:t>Cây</a:t>
            </a:r>
            <a:r>
              <a:rPr lang="en-US" dirty="0"/>
              <a:t> </a:t>
            </a:r>
            <a:r>
              <a:rPr lang="en-US" dirty="0" err="1"/>
              <a:t>có</a:t>
            </a:r>
            <a:r>
              <a:rPr lang="en-US" dirty="0"/>
              <a:t> </a:t>
            </a:r>
            <a:r>
              <a:rPr lang="en-US" dirty="0" err="1"/>
              <a:t>thể</a:t>
            </a:r>
            <a:r>
              <a:rPr lang="en-US" dirty="0"/>
              <a:t> </a:t>
            </a:r>
            <a:r>
              <a:rPr lang="en-US" dirty="0" err="1"/>
              <a:t>định</a:t>
            </a:r>
            <a:r>
              <a:rPr lang="en-US" dirty="0"/>
              <a:t> </a:t>
            </a:r>
            <a:r>
              <a:rPr lang="en-US" dirty="0" err="1"/>
              <a:t>nghĩa</a:t>
            </a:r>
            <a:r>
              <a:rPr lang="en-US" dirty="0"/>
              <a:t> </a:t>
            </a:r>
            <a:r>
              <a:rPr lang="en-US" dirty="0" err="1"/>
              <a:t>một</a:t>
            </a:r>
            <a:r>
              <a:rPr lang="en-US" dirty="0"/>
              <a:t> </a:t>
            </a:r>
            <a:r>
              <a:rPr lang="en-US" dirty="0" err="1"/>
              <a:t>cách</a:t>
            </a:r>
            <a:br>
              <a:rPr lang="en-US" dirty="0"/>
            </a:br>
            <a:r>
              <a:rPr lang="en-US" dirty="0" err="1"/>
              <a:t>đệ</a:t>
            </a:r>
            <a:r>
              <a:rPr lang="en-US" dirty="0"/>
              <a:t> </a:t>
            </a:r>
            <a:r>
              <a:rPr lang="en-US" dirty="0" err="1"/>
              <a:t>quy</a:t>
            </a:r>
            <a:endParaRPr lang="en-US" dirty="0"/>
          </a:p>
          <a:p>
            <a:endParaRPr lang="en-US" altLang="en-US" dirty="0">
              <a:cs typeface="Times New Roman" panose="02020603050405020304" pitchFamily="18" charset="0"/>
            </a:endParaRPr>
          </a:p>
        </p:txBody>
      </p:sp>
      <p:pic>
        <p:nvPicPr>
          <p:cNvPr id="2" name="Picture 1"/>
          <p:cNvPicPr>
            <a:picLocks noChangeAspect="1"/>
          </p:cNvPicPr>
          <p:nvPr/>
        </p:nvPicPr>
        <p:blipFill>
          <a:blip r:embed="rId3"/>
          <a:stretch>
            <a:fillRect/>
          </a:stretch>
        </p:blipFill>
        <p:spPr>
          <a:xfrm>
            <a:off x="1600200" y="975239"/>
            <a:ext cx="2882019" cy="2286000"/>
          </a:xfrm>
          <a:prstGeom prst="rect">
            <a:avLst/>
          </a:prstGeom>
        </p:spPr>
      </p:pic>
      <p:sp>
        <p:nvSpPr>
          <p:cNvPr id="3" name="Rectangle 2"/>
          <p:cNvSpPr/>
          <p:nvPr/>
        </p:nvSpPr>
        <p:spPr>
          <a:xfrm>
            <a:off x="4775613" y="1143000"/>
            <a:ext cx="3840043" cy="646331"/>
          </a:xfrm>
          <a:prstGeom prst="rect">
            <a:avLst/>
          </a:prstGeom>
        </p:spPr>
        <p:txBody>
          <a:bodyPr wrap="square">
            <a:spAutoFit/>
          </a:bodyPr>
          <a:lstStyle/>
          <a:p>
            <a:r>
              <a:rPr lang="en-US" dirty="0" err="1"/>
              <a:t>Nút</a:t>
            </a:r>
            <a:r>
              <a:rPr lang="en-US" dirty="0"/>
              <a:t> </a:t>
            </a:r>
            <a:r>
              <a:rPr lang="en-US" dirty="0" err="1"/>
              <a:t>gốc</a:t>
            </a:r>
            <a:r>
              <a:rPr lang="en-US" dirty="0"/>
              <a:t>: A</a:t>
            </a:r>
          </a:p>
          <a:p>
            <a:r>
              <a:rPr lang="en-US" dirty="0" err="1"/>
              <a:t>Các</a:t>
            </a:r>
            <a:r>
              <a:rPr lang="en-US" dirty="0"/>
              <a:t> </a:t>
            </a:r>
            <a:r>
              <a:rPr lang="en-US" dirty="0" err="1"/>
              <a:t>nhánh</a:t>
            </a:r>
            <a:r>
              <a:rPr lang="en-US" dirty="0"/>
              <a:t>: (A, B), (A, C), ..., (G, I)</a:t>
            </a:r>
          </a:p>
        </p:txBody>
      </p:sp>
      <p:pic>
        <p:nvPicPr>
          <p:cNvPr id="7" name="Picture 6"/>
          <p:cNvPicPr>
            <a:picLocks noChangeAspect="1"/>
          </p:cNvPicPr>
          <p:nvPr/>
        </p:nvPicPr>
        <p:blipFill>
          <a:blip r:embed="rId4"/>
          <a:stretch>
            <a:fillRect/>
          </a:stretch>
        </p:blipFill>
        <p:spPr>
          <a:xfrm>
            <a:off x="5034256" y="3703200"/>
            <a:ext cx="3581400" cy="2392800"/>
          </a:xfrm>
          <a:prstGeom prst="rect">
            <a:avLst/>
          </a:prstGeom>
        </p:spPr>
      </p:pic>
    </p:spTree>
    <p:extLst>
      <p:ext uri="{BB962C8B-B14F-4D97-AF65-F5344CB8AC3E}">
        <p14:creationId xmlns:p14="http://schemas.microsoft.com/office/powerpoint/2010/main" val="1615225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4">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124">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7</a:t>
            </a:fld>
            <a:endParaRPr lang="en-US"/>
          </a:p>
        </p:txBody>
      </p:sp>
      <p:sp>
        <p:nvSpPr>
          <p:cNvPr id="5" name="Title 4"/>
          <p:cNvSpPr>
            <a:spLocks noGrp="1"/>
          </p:cNvSpPr>
          <p:nvPr>
            <p:ph type="title"/>
          </p:nvPr>
        </p:nvSpPr>
        <p:spPr/>
        <p:txBody>
          <a:bodyPr/>
          <a:lstStyle/>
          <a:p>
            <a:r>
              <a:rPr lang="en-US" dirty="0" err="1"/>
              <a:t>Ví</a:t>
            </a:r>
            <a:r>
              <a:rPr lang="en-US" dirty="0"/>
              <a:t> </a:t>
            </a:r>
            <a:r>
              <a:rPr lang="en-US" dirty="0" err="1"/>
              <a:t>dụ</a:t>
            </a:r>
            <a:r>
              <a:rPr lang="en-US" dirty="0"/>
              <a:t> </a:t>
            </a:r>
            <a:r>
              <a:rPr lang="en-US" dirty="0" err="1"/>
              <a:t>về</a:t>
            </a:r>
            <a:r>
              <a:rPr lang="en-US" dirty="0"/>
              <a:t> </a:t>
            </a:r>
            <a:r>
              <a:rPr lang="en-US" dirty="0" err="1"/>
              <a:t>cây</a:t>
            </a:r>
            <a:endParaRPr lang="en-US" dirty="0"/>
          </a:p>
        </p:txBody>
      </p:sp>
      <p:sp>
        <p:nvSpPr>
          <p:cNvPr id="2" name="Content Placeholder 1"/>
          <p:cNvSpPr>
            <a:spLocks noGrp="1"/>
          </p:cNvSpPr>
          <p:nvPr>
            <p:ph type="body" sz="quarter" idx="13"/>
          </p:nvPr>
        </p:nvSpPr>
        <p:spPr/>
        <p:txBody>
          <a:bodyPr/>
          <a:lstStyle/>
          <a:p>
            <a:r>
              <a:rPr lang="en-US" dirty="0" err="1"/>
              <a:t>Cấu</a:t>
            </a:r>
            <a:r>
              <a:rPr lang="en-US" dirty="0"/>
              <a:t> </a:t>
            </a:r>
            <a:r>
              <a:rPr lang="en-US" dirty="0" err="1"/>
              <a:t>trúc</a:t>
            </a:r>
            <a:r>
              <a:rPr lang="en-US" dirty="0"/>
              <a:t> </a:t>
            </a:r>
            <a:r>
              <a:rPr lang="en-US" dirty="0" err="1"/>
              <a:t>lưu</a:t>
            </a:r>
            <a:r>
              <a:rPr lang="en-US" dirty="0"/>
              <a:t> </a:t>
            </a:r>
            <a:r>
              <a:rPr lang="en-US" dirty="0" err="1"/>
              <a:t>trữ</a:t>
            </a:r>
            <a:r>
              <a:rPr lang="en-US" dirty="0"/>
              <a:t> </a:t>
            </a:r>
            <a:r>
              <a:rPr lang="en-US" dirty="0" err="1"/>
              <a:t>thư</a:t>
            </a:r>
            <a:r>
              <a:rPr lang="en-US" dirty="0"/>
              <a:t> </a:t>
            </a:r>
            <a:r>
              <a:rPr lang="en-US" dirty="0" err="1"/>
              <a:t>mục</a:t>
            </a:r>
            <a:r>
              <a:rPr lang="en-US" dirty="0"/>
              <a:t> </a:t>
            </a:r>
            <a:r>
              <a:rPr lang="en-US" dirty="0" err="1"/>
              <a:t>trong</a:t>
            </a:r>
            <a:r>
              <a:rPr lang="en-US" dirty="0"/>
              <a:t> </a:t>
            </a:r>
            <a:r>
              <a:rPr lang="en-US" dirty="0" err="1"/>
              <a:t>máy</a:t>
            </a:r>
            <a:r>
              <a:rPr lang="en-US" dirty="0"/>
              <a:t> </a:t>
            </a:r>
            <a:r>
              <a:rPr lang="en-US" dirty="0" err="1"/>
              <a:t>tính</a:t>
            </a:r>
            <a:endParaRPr lang="en-US" dirty="0"/>
          </a:p>
          <a:p>
            <a:r>
              <a:rPr lang="en-US" dirty="0" err="1"/>
              <a:t>Cấu</a:t>
            </a:r>
            <a:r>
              <a:rPr lang="en-US" dirty="0"/>
              <a:t> </a:t>
            </a:r>
            <a:r>
              <a:rPr lang="en-US" dirty="0" err="1"/>
              <a:t>trúc</a:t>
            </a:r>
            <a:r>
              <a:rPr lang="en-US" dirty="0"/>
              <a:t> </a:t>
            </a:r>
            <a:r>
              <a:rPr lang="en-US" dirty="0" err="1"/>
              <a:t>mục</a:t>
            </a:r>
            <a:r>
              <a:rPr lang="en-US" dirty="0"/>
              <a:t> </a:t>
            </a:r>
            <a:r>
              <a:rPr lang="en-US" dirty="0" err="1"/>
              <a:t>lục</a:t>
            </a:r>
            <a:r>
              <a:rPr lang="en-US" dirty="0"/>
              <a:t> </a:t>
            </a:r>
            <a:r>
              <a:rPr lang="en-US" dirty="0" err="1"/>
              <a:t>của</a:t>
            </a:r>
            <a:r>
              <a:rPr lang="en-US" dirty="0"/>
              <a:t> </a:t>
            </a:r>
            <a:r>
              <a:rPr lang="en-US" dirty="0" err="1"/>
              <a:t>sách</a:t>
            </a:r>
            <a:r>
              <a:rPr lang="en-US" dirty="0"/>
              <a:t> / </a:t>
            </a:r>
            <a:r>
              <a:rPr lang="en-US" dirty="0" err="1"/>
              <a:t>tài</a:t>
            </a:r>
            <a:r>
              <a:rPr lang="en-US" dirty="0"/>
              <a:t> </a:t>
            </a:r>
            <a:r>
              <a:rPr lang="en-US" dirty="0" err="1"/>
              <a:t>liệu</a:t>
            </a:r>
            <a:endParaRPr lang="en-US" dirty="0"/>
          </a:p>
          <a:p>
            <a:r>
              <a:rPr lang="en-US" dirty="0" err="1"/>
              <a:t>Cấu</a:t>
            </a:r>
            <a:r>
              <a:rPr lang="en-US" dirty="0"/>
              <a:t> </a:t>
            </a:r>
            <a:r>
              <a:rPr lang="en-US" dirty="0" err="1"/>
              <a:t>trúc</a:t>
            </a:r>
            <a:r>
              <a:rPr lang="en-US" dirty="0"/>
              <a:t> </a:t>
            </a:r>
            <a:r>
              <a:rPr lang="en-US" dirty="0" err="1"/>
              <a:t>các</a:t>
            </a:r>
            <a:r>
              <a:rPr lang="en-US" dirty="0"/>
              <a:t> </a:t>
            </a:r>
            <a:r>
              <a:rPr lang="en-US" dirty="0" err="1"/>
              <a:t>chức</a:t>
            </a:r>
            <a:r>
              <a:rPr lang="en-US" dirty="0"/>
              <a:t> </a:t>
            </a:r>
            <a:r>
              <a:rPr lang="en-US" dirty="0" err="1"/>
              <a:t>năng</a:t>
            </a:r>
            <a:r>
              <a:rPr lang="en-US" dirty="0"/>
              <a:t> </a:t>
            </a:r>
            <a:r>
              <a:rPr lang="en-US" dirty="0" err="1"/>
              <a:t>của</a:t>
            </a:r>
            <a:r>
              <a:rPr lang="en-US" dirty="0"/>
              <a:t> </a:t>
            </a:r>
            <a:r>
              <a:rPr lang="en-US" dirty="0" err="1"/>
              <a:t>một</a:t>
            </a:r>
            <a:r>
              <a:rPr lang="en-US" dirty="0"/>
              <a:t> </a:t>
            </a:r>
            <a:r>
              <a:rPr lang="en-US" dirty="0" err="1"/>
              <a:t>hệ</a:t>
            </a:r>
            <a:r>
              <a:rPr lang="en-US" dirty="0"/>
              <a:t> </a:t>
            </a:r>
            <a:r>
              <a:rPr lang="en-US" dirty="0" err="1"/>
              <a:t>thống</a:t>
            </a:r>
            <a:r>
              <a:rPr lang="en-US" dirty="0"/>
              <a:t> </a:t>
            </a:r>
            <a:r>
              <a:rPr lang="en-US" dirty="0" err="1"/>
              <a:t>thông</a:t>
            </a:r>
            <a:r>
              <a:rPr lang="en-US" dirty="0"/>
              <a:t> tin</a:t>
            </a:r>
          </a:p>
          <a:p>
            <a:endParaRPr lang="en-US" dirty="0"/>
          </a:p>
        </p:txBody>
      </p:sp>
      <p:pic>
        <p:nvPicPr>
          <p:cNvPr id="19" name="Picture 18"/>
          <p:cNvPicPr>
            <a:picLocks noChangeAspect="1"/>
          </p:cNvPicPr>
          <p:nvPr/>
        </p:nvPicPr>
        <p:blipFill>
          <a:blip r:embed="rId2"/>
          <a:stretch>
            <a:fillRect/>
          </a:stretch>
        </p:blipFill>
        <p:spPr>
          <a:xfrm>
            <a:off x="2057400" y="2667000"/>
            <a:ext cx="4476206" cy="2653916"/>
          </a:xfrm>
          <a:prstGeom prst="rect">
            <a:avLst/>
          </a:prstGeom>
        </p:spPr>
      </p:pic>
    </p:spTree>
    <p:extLst>
      <p:ext uri="{BB962C8B-B14F-4D97-AF65-F5344CB8AC3E}">
        <p14:creationId xmlns:p14="http://schemas.microsoft.com/office/powerpoint/2010/main" val="3207449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Rectangle 3"/>
          <p:cNvSpPr>
            <a:spLocks noGrp="1" noChangeArrowheads="1"/>
          </p:cNvSpPr>
          <p:nvPr>
            <p:ph type="title"/>
          </p:nvPr>
        </p:nvSpPr>
        <p:spPr>
          <a:noFill/>
        </p:spPr>
        <p:txBody>
          <a:bodyPr/>
          <a:lstStyle/>
          <a:p>
            <a:pPr eaLnBrk="1" hangingPunct="1"/>
            <a:r>
              <a:rPr lang="en-US" altLang="en-US" dirty="0" err="1">
                <a:cs typeface="Times New Roman" panose="02020603050405020304" pitchFamily="18" charset="0"/>
              </a:rPr>
              <a:t>Các</a:t>
            </a:r>
            <a:r>
              <a:rPr lang="en-US" altLang="en-US" dirty="0">
                <a:cs typeface="Times New Roman" panose="02020603050405020304" pitchFamily="18" charset="0"/>
              </a:rPr>
              <a:t> </a:t>
            </a:r>
            <a:r>
              <a:rPr lang="en-US" altLang="en-US" dirty="0" err="1">
                <a:cs typeface="Times New Roman" panose="02020603050405020304" pitchFamily="18" charset="0"/>
              </a:rPr>
              <a:t>khái</a:t>
            </a:r>
            <a:r>
              <a:rPr lang="en-US" altLang="en-US" dirty="0">
                <a:cs typeface="Times New Roman" panose="02020603050405020304" pitchFamily="18" charset="0"/>
              </a:rPr>
              <a:t> </a:t>
            </a:r>
            <a:r>
              <a:rPr lang="en-US" altLang="en-US" dirty="0" err="1">
                <a:cs typeface="Times New Roman" panose="02020603050405020304" pitchFamily="18" charset="0"/>
              </a:rPr>
              <a:t>niệm</a:t>
            </a:r>
            <a:r>
              <a:rPr lang="en-US" altLang="en-US" dirty="0">
                <a:cs typeface="Times New Roman" panose="02020603050405020304" pitchFamily="18" charset="0"/>
              </a:rPr>
              <a:t> </a:t>
            </a:r>
            <a:r>
              <a:rPr lang="en-US" altLang="en-US" dirty="0" err="1">
                <a:cs typeface="Times New Roman" panose="02020603050405020304" pitchFamily="18" charset="0"/>
              </a:rPr>
              <a:t>cơ</a:t>
            </a:r>
            <a:r>
              <a:rPr lang="en-US" altLang="en-US" dirty="0">
                <a:cs typeface="Times New Roman" panose="02020603050405020304" pitchFamily="18" charset="0"/>
              </a:rPr>
              <a:t> </a:t>
            </a:r>
            <a:r>
              <a:rPr lang="en-US" altLang="en-US" dirty="0" err="1">
                <a:cs typeface="Times New Roman" panose="02020603050405020304" pitchFamily="18" charset="0"/>
              </a:rPr>
              <a:t>bản</a:t>
            </a:r>
            <a:r>
              <a:rPr lang="en-US" altLang="en-US" dirty="0"/>
              <a:t>  </a:t>
            </a:r>
          </a:p>
        </p:txBody>
      </p:sp>
      <p:sp>
        <p:nvSpPr>
          <p:cNvPr id="7172" name="Rectangle 2"/>
          <p:cNvSpPr>
            <a:spLocks noGrp="1" noChangeArrowheads="1"/>
          </p:cNvSpPr>
          <p:nvPr>
            <p:ph type="body" sz="quarter" idx="13"/>
          </p:nvPr>
        </p:nvSpPr>
        <p:spPr>
          <a:xfrm>
            <a:off x="234951" y="963168"/>
            <a:ext cx="5251449" cy="5132832"/>
          </a:xfrm>
          <a:noFill/>
        </p:spPr>
        <p:txBody>
          <a:bodyPr>
            <a:normAutofit/>
          </a:bodyPr>
          <a:lstStyle/>
          <a:p>
            <a:pPr>
              <a:spcBef>
                <a:spcPct val="10000"/>
              </a:spcBef>
            </a:pPr>
            <a:r>
              <a:rPr lang="en-US" altLang="en-US" sz="2400" dirty="0" err="1">
                <a:cs typeface="Times New Roman" panose="02020603050405020304" pitchFamily="18" charset="0"/>
              </a:rPr>
              <a:t>Gọi</a:t>
            </a:r>
            <a:r>
              <a:rPr lang="en-US" altLang="en-US" sz="2400" dirty="0">
                <a:cs typeface="Times New Roman" panose="02020603050405020304" pitchFamily="18" charset="0"/>
              </a:rPr>
              <a:t> </a:t>
            </a:r>
            <a:r>
              <a:rPr lang="en-US" altLang="en-US" sz="2400" dirty="0" err="1">
                <a:cs typeface="Times New Roman" panose="02020603050405020304" pitchFamily="18" charset="0"/>
              </a:rPr>
              <a:t>cây</a:t>
            </a:r>
            <a:r>
              <a:rPr lang="en-US" altLang="en-US" sz="2400" dirty="0">
                <a:cs typeface="Times New Roman" panose="02020603050405020304" pitchFamily="18" charset="0"/>
              </a:rPr>
              <a:t> </a:t>
            </a:r>
            <a:r>
              <a:rPr lang="en-US" altLang="en-US" sz="2400" dirty="0" err="1">
                <a:cs typeface="Times New Roman" panose="02020603050405020304" pitchFamily="18" charset="0"/>
              </a:rPr>
              <a:t>là</a:t>
            </a:r>
            <a:r>
              <a:rPr lang="en-US" altLang="en-US" sz="2400" dirty="0">
                <a:cs typeface="Times New Roman" panose="02020603050405020304" pitchFamily="18" charset="0"/>
              </a:rPr>
              <a:t> T:</a:t>
            </a:r>
          </a:p>
          <a:p>
            <a:pPr lvl="1">
              <a:spcBef>
                <a:spcPct val="10000"/>
              </a:spcBef>
            </a:pPr>
            <a:r>
              <a:rPr lang="en-US" altLang="en-US" sz="2000" b="1" dirty="0" err="1">
                <a:cs typeface="Times New Roman" panose="02020603050405020304" pitchFamily="18" charset="0"/>
              </a:rPr>
              <a:t>Kích</a:t>
            </a:r>
            <a:r>
              <a:rPr lang="en-US" altLang="en-US" sz="2000" b="1" dirty="0">
                <a:cs typeface="Times New Roman" panose="02020603050405020304" pitchFamily="18" charset="0"/>
              </a:rPr>
              <a:t> </a:t>
            </a:r>
            <a:r>
              <a:rPr lang="en-US" altLang="en-US" sz="2000" b="1" dirty="0" err="1">
                <a:cs typeface="Times New Roman" panose="02020603050405020304" pitchFamily="18" charset="0"/>
              </a:rPr>
              <a:t>thước</a:t>
            </a:r>
            <a:r>
              <a:rPr lang="en-US" altLang="en-US" sz="2000" b="1"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(size) </a:t>
            </a:r>
            <a:r>
              <a:rPr lang="en-US" altLang="en-US" sz="2000" b="1" dirty="0">
                <a:cs typeface="Times New Roman" panose="02020603050405020304" pitchFamily="18" charset="0"/>
              </a:rPr>
              <a:t>S(T)</a:t>
            </a:r>
            <a:r>
              <a:rPr lang="en-US" altLang="en-US" sz="2000" dirty="0">
                <a:cs typeface="Times New Roman" panose="02020603050405020304" pitchFamily="18" charset="0"/>
              </a:rPr>
              <a:t>: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số</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trên</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endParaRPr lang="en-US" altLang="en-US" sz="2000" dirty="0">
              <a:cs typeface="Times New Roman" panose="02020603050405020304" pitchFamily="18" charset="0"/>
            </a:endParaRPr>
          </a:p>
          <a:p>
            <a:pPr lvl="1">
              <a:spcBef>
                <a:spcPct val="10000"/>
              </a:spcBef>
            </a:pPr>
            <a:r>
              <a:rPr lang="en-US" altLang="en-US" sz="2000" b="1" dirty="0" err="1">
                <a:cs typeface="Times New Roman" panose="02020603050405020304" pitchFamily="18" charset="0"/>
              </a:rPr>
              <a:t>Cấp</a:t>
            </a:r>
            <a:r>
              <a:rPr lang="en-US" altLang="en-US" sz="2000" dirty="0">
                <a:cs typeface="Times New Roman" panose="02020603050405020304" pitchFamily="18" charset="0"/>
              </a:rPr>
              <a:t> </a:t>
            </a:r>
            <a:r>
              <a:rPr lang="en-US" altLang="en-US" sz="2000" dirty="0" err="1">
                <a:cs typeface="Times New Roman" panose="02020603050405020304" pitchFamily="18" charset="0"/>
              </a:rPr>
              <a:t>của</a:t>
            </a:r>
            <a:r>
              <a:rPr lang="en-US" altLang="en-US" sz="2000" dirty="0">
                <a:cs typeface="Times New Roman" panose="02020603050405020304" pitchFamily="18" charset="0"/>
              </a:rPr>
              <a:t> </a:t>
            </a:r>
            <a:r>
              <a:rPr lang="en-US" altLang="en-US" sz="2000" dirty="0" err="1">
                <a:cs typeface="Times New Roman" panose="02020603050405020304" pitchFamily="18" charset="0"/>
              </a:rPr>
              <a:t>một</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 (degree) </a:t>
            </a:r>
            <a:r>
              <a:rPr lang="en-US" altLang="en-US" sz="2000" b="1" i="1" dirty="0">
                <a:cs typeface="Times New Roman" panose="02020603050405020304" pitchFamily="18" charset="0"/>
              </a:rPr>
              <a:t>d(A)</a:t>
            </a:r>
            <a:r>
              <a:rPr lang="en-US" altLang="en-US" sz="2000" dirty="0">
                <a:cs typeface="Times New Roman" panose="02020603050405020304" pitchFamily="18" charset="0"/>
              </a:rPr>
              <a:t>: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số</a:t>
            </a:r>
            <a:r>
              <a:rPr lang="en-US" altLang="en-US" sz="2000" dirty="0">
                <a:cs typeface="Times New Roman" panose="02020603050405020304" pitchFamily="18" charset="0"/>
              </a:rPr>
              <a:t> con </a:t>
            </a:r>
            <a:r>
              <a:rPr lang="en-US" altLang="en-US" sz="2000" dirty="0" err="1">
                <a:cs typeface="Times New Roman" panose="02020603050405020304" pitchFamily="18" charset="0"/>
              </a:rPr>
              <a:t>mà</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này</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endParaRPr lang="en-US" altLang="en-US" sz="2000" dirty="0">
              <a:cs typeface="Times New Roman" panose="02020603050405020304" pitchFamily="18" charset="0"/>
            </a:endParaRPr>
          </a:p>
          <a:p>
            <a:pPr lvl="1">
              <a:spcBef>
                <a:spcPct val="10000"/>
              </a:spcBef>
            </a:pPr>
            <a:r>
              <a:rPr lang="en-US" altLang="en-US" sz="2000" b="1" dirty="0" err="1">
                <a:cs typeface="Times New Roman" panose="02020603050405020304" pitchFamily="18" charset="0"/>
              </a:rPr>
              <a:t>Cấp</a:t>
            </a:r>
            <a:r>
              <a:rPr lang="en-US" altLang="en-US" sz="2000" dirty="0">
                <a:cs typeface="Times New Roman" panose="02020603050405020304" pitchFamily="18" charset="0"/>
              </a:rPr>
              <a:t> </a:t>
            </a:r>
            <a:r>
              <a:rPr lang="en-US" altLang="en-US" sz="2000" dirty="0" err="1">
                <a:cs typeface="Times New Roman" panose="02020603050405020304" pitchFamily="18" charset="0"/>
              </a:rPr>
              <a:t>của</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b="1" i="1" dirty="0">
                <a:cs typeface="Times New Roman" panose="02020603050405020304" pitchFamily="18" charset="0"/>
              </a:rPr>
              <a:t>d(T)</a:t>
            </a:r>
            <a:r>
              <a:rPr lang="en-US" altLang="en-US" sz="2000" dirty="0">
                <a:cs typeface="Times New Roman" panose="02020603050405020304" pitchFamily="18" charset="0"/>
              </a:rPr>
              <a:t>:</a:t>
            </a:r>
          </a:p>
          <a:p>
            <a:pPr lvl="2">
              <a:spcBef>
                <a:spcPct val="10000"/>
              </a:spcBef>
            </a:pP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cấp</a:t>
            </a:r>
            <a:r>
              <a:rPr lang="en-US" altLang="en-US" sz="2000" dirty="0">
                <a:cs typeface="Times New Roman" panose="02020603050405020304" pitchFamily="18" charset="0"/>
              </a:rPr>
              <a:t> </a:t>
            </a:r>
            <a:r>
              <a:rPr lang="en-US" altLang="en-US" sz="2000" dirty="0" err="1">
                <a:cs typeface="Times New Roman" panose="02020603050405020304" pitchFamily="18" charset="0"/>
              </a:rPr>
              <a:t>của</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số</a:t>
            </a:r>
            <a:r>
              <a:rPr lang="en-US" altLang="en-US" sz="2000" dirty="0">
                <a:cs typeface="Times New Roman" panose="02020603050405020304" pitchFamily="18" charset="0"/>
              </a:rPr>
              <a:t> con </a:t>
            </a:r>
            <a:r>
              <a:rPr lang="en-US" altLang="en-US" sz="2000" dirty="0" err="1">
                <a:cs typeface="Times New Roman" panose="02020603050405020304" pitchFamily="18" charset="0"/>
              </a:rPr>
              <a:t>nhiều</a:t>
            </a:r>
            <a:r>
              <a:rPr lang="en-US" altLang="en-US" sz="2000" dirty="0">
                <a:cs typeface="Times New Roman" panose="02020603050405020304" pitchFamily="18" charset="0"/>
              </a:rPr>
              <a:t> </a:t>
            </a:r>
            <a:r>
              <a:rPr lang="en-US" altLang="en-US" sz="2000" dirty="0" err="1">
                <a:cs typeface="Times New Roman" panose="02020603050405020304" pitchFamily="18" charset="0"/>
              </a:rPr>
              <a:t>nhất</a:t>
            </a:r>
            <a:r>
              <a:rPr lang="en-US" altLang="en-US" sz="2000" dirty="0">
                <a:cs typeface="Times New Roman" panose="02020603050405020304" pitchFamily="18" charset="0"/>
              </a:rPr>
              <a:t> </a:t>
            </a:r>
            <a:r>
              <a:rPr lang="en-US" altLang="en-US" sz="2000" dirty="0" err="1">
                <a:cs typeface="Times New Roman" panose="02020603050405020304" pitchFamily="18" charset="0"/>
              </a:rPr>
              <a:t>trên</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p>
        </p:txBody>
      </p:sp>
      <p:pic>
        <p:nvPicPr>
          <p:cNvPr id="5" name="Picture 4"/>
          <p:cNvPicPr>
            <a:picLocks noChangeAspect="1"/>
          </p:cNvPicPr>
          <p:nvPr/>
        </p:nvPicPr>
        <p:blipFill>
          <a:blip r:embed="rId3"/>
          <a:stretch>
            <a:fillRect/>
          </a:stretch>
        </p:blipFill>
        <p:spPr>
          <a:xfrm>
            <a:off x="5391150" y="1066800"/>
            <a:ext cx="3611880" cy="1856232"/>
          </a:xfrm>
          <a:prstGeom prst="rect">
            <a:avLst/>
          </a:prstGeom>
        </p:spPr>
      </p:pic>
      <p:pic>
        <p:nvPicPr>
          <p:cNvPr id="6" name="Picture 5"/>
          <p:cNvPicPr>
            <a:picLocks noChangeAspect="1"/>
          </p:cNvPicPr>
          <p:nvPr/>
        </p:nvPicPr>
        <p:blipFill>
          <a:blip r:embed="rId4"/>
          <a:stretch>
            <a:fillRect/>
          </a:stretch>
        </p:blipFill>
        <p:spPr>
          <a:xfrm>
            <a:off x="1609725" y="3700493"/>
            <a:ext cx="3181350" cy="2523428"/>
          </a:xfrm>
          <a:prstGeom prst="rect">
            <a:avLst/>
          </a:prstGeom>
        </p:spPr>
      </p:pic>
      <p:sp>
        <p:nvSpPr>
          <p:cNvPr id="7" name="Rectangle 6"/>
          <p:cNvSpPr/>
          <p:nvPr/>
        </p:nvSpPr>
        <p:spPr>
          <a:xfrm>
            <a:off x="6436238" y="4038600"/>
            <a:ext cx="2286000" cy="1477328"/>
          </a:xfrm>
          <a:prstGeom prst="rect">
            <a:avLst/>
          </a:prstGeom>
        </p:spPr>
        <p:txBody>
          <a:bodyPr wrap="square">
            <a:spAutoFit/>
          </a:bodyPr>
          <a:lstStyle/>
          <a:p>
            <a:r>
              <a:rPr lang="en-US" dirty="0"/>
              <a:t>S(T) = 9</a:t>
            </a:r>
          </a:p>
          <a:p>
            <a:r>
              <a:rPr lang="pt-BR" dirty="0"/>
              <a:t>d(A) = d(G) = 2; </a:t>
            </a:r>
          </a:p>
          <a:p>
            <a:r>
              <a:rPr lang="pt-BR" dirty="0"/>
              <a:t>d(B) = 3; </a:t>
            </a:r>
          </a:p>
          <a:p>
            <a:r>
              <a:rPr lang="pt-BR" dirty="0"/>
              <a:t>d(H) = d(I) =0.</a:t>
            </a:r>
          </a:p>
          <a:p>
            <a:r>
              <a:rPr lang="en-US" dirty="0"/>
              <a:t>d(T) = d(B) = 3;</a:t>
            </a:r>
          </a:p>
        </p:txBody>
      </p:sp>
      <p:sp>
        <p:nvSpPr>
          <p:cNvPr id="8" name="Rectangle 7"/>
          <p:cNvSpPr/>
          <p:nvPr/>
        </p:nvSpPr>
        <p:spPr>
          <a:xfrm>
            <a:off x="5353050" y="4038600"/>
            <a:ext cx="2286000" cy="1477328"/>
          </a:xfrm>
          <a:prstGeom prst="rect">
            <a:avLst/>
          </a:prstGeom>
        </p:spPr>
        <p:txBody>
          <a:bodyPr wrap="square">
            <a:spAutoFit/>
          </a:bodyPr>
          <a:lstStyle/>
          <a:p>
            <a:r>
              <a:rPr lang="en-US" dirty="0"/>
              <a:t>S(T) </a:t>
            </a:r>
          </a:p>
          <a:p>
            <a:r>
              <a:rPr lang="pt-BR" dirty="0"/>
              <a:t>d(A), d(G) </a:t>
            </a:r>
          </a:p>
          <a:p>
            <a:r>
              <a:rPr lang="pt-BR" dirty="0"/>
              <a:t>d(B) </a:t>
            </a:r>
          </a:p>
          <a:p>
            <a:r>
              <a:rPr lang="pt-BR" dirty="0"/>
              <a:t>d(H), d(I)</a:t>
            </a:r>
          </a:p>
          <a:p>
            <a:r>
              <a:rPr lang="en-US" dirty="0"/>
              <a:t>d(T), d(B)</a:t>
            </a:r>
          </a:p>
        </p:txBody>
      </p:sp>
    </p:spTree>
    <p:extLst>
      <p:ext uri="{BB962C8B-B14F-4D97-AF65-F5344CB8AC3E}">
        <p14:creationId xmlns:p14="http://schemas.microsoft.com/office/powerpoint/2010/main" val="531528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2">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172">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Rectangle 3"/>
          <p:cNvSpPr>
            <a:spLocks noGrp="1" noChangeArrowheads="1"/>
          </p:cNvSpPr>
          <p:nvPr>
            <p:ph type="title"/>
          </p:nvPr>
        </p:nvSpPr>
        <p:spPr>
          <a:noFill/>
        </p:spPr>
        <p:txBody>
          <a:bodyPr/>
          <a:lstStyle/>
          <a:p>
            <a:pPr eaLnBrk="1" hangingPunct="1"/>
            <a:r>
              <a:rPr lang="en-US" altLang="en-US" dirty="0" err="1">
                <a:cs typeface="Times New Roman" panose="02020603050405020304" pitchFamily="18" charset="0"/>
              </a:rPr>
              <a:t>Các</a:t>
            </a:r>
            <a:r>
              <a:rPr lang="en-US" altLang="en-US" dirty="0">
                <a:cs typeface="Times New Roman" panose="02020603050405020304" pitchFamily="18" charset="0"/>
              </a:rPr>
              <a:t> </a:t>
            </a:r>
            <a:r>
              <a:rPr lang="en-US" altLang="en-US" dirty="0" err="1">
                <a:cs typeface="Times New Roman" panose="02020603050405020304" pitchFamily="18" charset="0"/>
              </a:rPr>
              <a:t>khái</a:t>
            </a:r>
            <a:r>
              <a:rPr lang="en-US" altLang="en-US" dirty="0">
                <a:cs typeface="Times New Roman" panose="02020603050405020304" pitchFamily="18" charset="0"/>
              </a:rPr>
              <a:t> </a:t>
            </a:r>
            <a:r>
              <a:rPr lang="en-US" altLang="en-US" dirty="0" err="1">
                <a:cs typeface="Times New Roman" panose="02020603050405020304" pitchFamily="18" charset="0"/>
              </a:rPr>
              <a:t>niệm</a:t>
            </a:r>
            <a:r>
              <a:rPr lang="en-US" altLang="en-US" dirty="0">
                <a:cs typeface="Times New Roman" panose="02020603050405020304" pitchFamily="18" charset="0"/>
              </a:rPr>
              <a:t> </a:t>
            </a:r>
            <a:r>
              <a:rPr lang="en-US" altLang="en-US" dirty="0" err="1">
                <a:cs typeface="Times New Roman" panose="02020603050405020304" pitchFamily="18" charset="0"/>
              </a:rPr>
              <a:t>cơ</a:t>
            </a:r>
            <a:r>
              <a:rPr lang="en-US" altLang="en-US" dirty="0">
                <a:cs typeface="Times New Roman" panose="02020603050405020304" pitchFamily="18" charset="0"/>
              </a:rPr>
              <a:t> </a:t>
            </a:r>
            <a:r>
              <a:rPr lang="en-US" altLang="en-US" dirty="0" err="1">
                <a:cs typeface="Times New Roman" panose="02020603050405020304" pitchFamily="18" charset="0"/>
              </a:rPr>
              <a:t>bản</a:t>
            </a:r>
            <a:r>
              <a:rPr lang="en-US" altLang="en-US" dirty="0"/>
              <a:t>  </a:t>
            </a:r>
          </a:p>
        </p:txBody>
      </p:sp>
      <p:sp>
        <p:nvSpPr>
          <p:cNvPr id="7172" name="Rectangle 2"/>
          <p:cNvSpPr>
            <a:spLocks noGrp="1" noChangeArrowheads="1"/>
          </p:cNvSpPr>
          <p:nvPr>
            <p:ph type="body" sz="quarter" idx="13"/>
          </p:nvPr>
        </p:nvSpPr>
        <p:spPr>
          <a:noFill/>
        </p:spPr>
        <p:txBody>
          <a:bodyPr>
            <a:normAutofit/>
          </a:bodyPr>
          <a:lstStyle/>
          <a:p>
            <a:pPr>
              <a:spcBef>
                <a:spcPct val="10000"/>
              </a:spcBef>
            </a:pPr>
            <a:r>
              <a:rPr lang="en-US" altLang="en-US" sz="2400" dirty="0" err="1">
                <a:cs typeface="Times New Roman" panose="02020603050405020304" pitchFamily="18" charset="0"/>
              </a:rPr>
              <a:t>Gọi</a:t>
            </a:r>
            <a:r>
              <a:rPr lang="en-US" altLang="en-US" sz="2400" dirty="0">
                <a:cs typeface="Times New Roman" panose="02020603050405020304" pitchFamily="18" charset="0"/>
              </a:rPr>
              <a:t> </a:t>
            </a:r>
            <a:r>
              <a:rPr lang="en-US" altLang="en-US" sz="2400" dirty="0" err="1">
                <a:cs typeface="Times New Roman" panose="02020603050405020304" pitchFamily="18" charset="0"/>
              </a:rPr>
              <a:t>cây</a:t>
            </a:r>
            <a:r>
              <a:rPr lang="en-US" altLang="en-US" sz="2400" dirty="0">
                <a:cs typeface="Times New Roman" panose="02020603050405020304" pitchFamily="18" charset="0"/>
              </a:rPr>
              <a:t> </a:t>
            </a:r>
            <a:r>
              <a:rPr lang="en-US" altLang="en-US" sz="2400" dirty="0" err="1">
                <a:cs typeface="Times New Roman" panose="02020603050405020304" pitchFamily="18" charset="0"/>
              </a:rPr>
              <a:t>là</a:t>
            </a:r>
            <a:r>
              <a:rPr lang="en-US" altLang="en-US" sz="2400" dirty="0">
                <a:cs typeface="Times New Roman" panose="02020603050405020304" pitchFamily="18" charset="0"/>
              </a:rPr>
              <a:t> T:</a:t>
            </a:r>
          </a:p>
          <a:p>
            <a:pPr lvl="1">
              <a:spcBef>
                <a:spcPct val="10000"/>
              </a:spcBef>
            </a:pP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nhánh</a:t>
            </a:r>
            <a:r>
              <a:rPr lang="en-US" altLang="en-US" sz="2000" dirty="0">
                <a:cs typeface="Times New Roman" panose="02020603050405020304" pitchFamily="18" charset="0"/>
              </a:rPr>
              <a:t> (branch node)</a:t>
            </a:r>
          </a:p>
          <a:p>
            <a:pPr lvl="2">
              <a:spcBef>
                <a:spcPct val="10000"/>
              </a:spcBef>
            </a:pP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ít</a:t>
            </a:r>
            <a:r>
              <a:rPr lang="en-US" altLang="en-US" sz="2000" dirty="0">
                <a:cs typeface="Times New Roman" panose="02020603050405020304" pitchFamily="18" charset="0"/>
              </a:rPr>
              <a:t> </a:t>
            </a:r>
            <a:r>
              <a:rPr lang="en-US" altLang="en-US" sz="2000" dirty="0" err="1">
                <a:cs typeface="Times New Roman" panose="02020603050405020304" pitchFamily="18" charset="0"/>
              </a:rPr>
              <a:t>nhất</a:t>
            </a:r>
            <a:r>
              <a:rPr lang="en-US" altLang="en-US" sz="2000" dirty="0">
                <a:cs typeface="Times New Roman" panose="02020603050405020304" pitchFamily="18" charset="0"/>
              </a:rPr>
              <a:t> </a:t>
            </a:r>
            <a:r>
              <a:rPr lang="en-US" altLang="en-US" sz="2000" dirty="0" err="1">
                <a:cs typeface="Times New Roman" panose="02020603050405020304" pitchFamily="18" charset="0"/>
              </a:rPr>
              <a:t>một</a:t>
            </a:r>
            <a:r>
              <a:rPr lang="en-US" altLang="en-US" sz="2000" dirty="0">
                <a:cs typeface="Times New Roman" panose="02020603050405020304" pitchFamily="18" charset="0"/>
              </a:rPr>
              <a:t> con </a:t>
            </a:r>
          </a:p>
          <a:p>
            <a:pPr lvl="2">
              <a:spcBef>
                <a:spcPct val="10000"/>
              </a:spcBef>
            </a:pPr>
            <a:r>
              <a:rPr lang="en-US" altLang="en-US" sz="2000" dirty="0" err="1">
                <a:cs typeface="Times New Roman" panose="02020603050405020304" pitchFamily="18" charset="0"/>
              </a:rPr>
              <a:t>tên</a:t>
            </a:r>
            <a:r>
              <a:rPr lang="en-US" altLang="en-US" sz="2000" dirty="0">
                <a:cs typeface="Times New Roman" panose="02020603050405020304" pitchFamily="18" charset="0"/>
              </a:rPr>
              <a:t> </a:t>
            </a:r>
            <a:r>
              <a:rPr lang="en-US" altLang="en-US" sz="2000" dirty="0" err="1">
                <a:cs typeface="Times New Roman" panose="02020603050405020304" pitchFamily="18" charset="0"/>
              </a:rPr>
              <a:t>gọi</a:t>
            </a:r>
            <a:r>
              <a:rPr lang="en-US" altLang="en-US" sz="2000" dirty="0">
                <a:cs typeface="Times New Roman" panose="02020603050405020304" pitchFamily="18" charset="0"/>
              </a:rPr>
              <a:t> </a:t>
            </a:r>
            <a:r>
              <a:rPr lang="en-US" altLang="en-US" sz="2000" dirty="0" err="1">
                <a:cs typeface="Times New Roman" panose="02020603050405020304" pitchFamily="18" charset="0"/>
              </a:rPr>
              <a:t>khác</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trong</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không</a:t>
            </a:r>
            <a:r>
              <a:rPr lang="en-US" altLang="en-US" sz="2000" dirty="0">
                <a:cs typeface="Times New Roman" panose="02020603050405020304" pitchFamily="18" charset="0"/>
              </a:rPr>
              <a:t> </a:t>
            </a:r>
            <a:r>
              <a:rPr lang="en-US" altLang="en-US" sz="2000" dirty="0" err="1">
                <a:cs typeface="Times New Roman" panose="02020603050405020304" pitchFamily="18" charset="0"/>
              </a:rPr>
              <a:t>tận</a:t>
            </a:r>
            <a:r>
              <a:rPr lang="en-US" altLang="en-US" sz="2000" dirty="0">
                <a:cs typeface="Times New Roman" panose="02020603050405020304" pitchFamily="18" charset="0"/>
              </a:rPr>
              <a:t> </a:t>
            </a:r>
            <a:r>
              <a:rPr lang="en-US" altLang="en-US" sz="2000" dirty="0" err="1">
                <a:cs typeface="Times New Roman" panose="02020603050405020304" pitchFamily="18" charset="0"/>
              </a:rPr>
              <a:t>cùng</a:t>
            </a:r>
            <a:r>
              <a:rPr lang="en-US" altLang="en-US" sz="2000" dirty="0">
                <a:cs typeface="Times New Roman" panose="02020603050405020304" pitchFamily="18" charset="0"/>
              </a:rPr>
              <a:t> </a:t>
            </a:r>
          </a:p>
          <a:p>
            <a:pPr lvl="1">
              <a:spcBef>
                <a:spcPct val="10000"/>
              </a:spcBef>
            </a:pP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lá</a:t>
            </a:r>
            <a:r>
              <a:rPr lang="en-US" altLang="en-US" sz="2000" dirty="0">
                <a:cs typeface="Times New Roman" panose="02020603050405020304" pitchFamily="18" charset="0"/>
              </a:rPr>
              <a:t> (leaf node, terminal node)</a:t>
            </a:r>
          </a:p>
          <a:p>
            <a:pPr lvl="2">
              <a:spcBef>
                <a:spcPct val="10000"/>
              </a:spcBef>
            </a:pP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không</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con </a:t>
            </a:r>
            <a:r>
              <a:rPr lang="en-US" altLang="en-US" sz="2000" dirty="0" err="1">
                <a:cs typeface="Times New Roman" panose="02020603050405020304" pitchFamily="18" charset="0"/>
              </a:rPr>
              <a:t>nào</a:t>
            </a:r>
            <a:r>
              <a:rPr lang="en-US" altLang="en-US" sz="2000" dirty="0">
                <a:cs typeface="Times New Roman" panose="02020603050405020304" pitchFamily="18" charset="0"/>
              </a:rPr>
              <a:t> </a:t>
            </a:r>
          </a:p>
          <a:p>
            <a:pPr lvl="2">
              <a:spcBef>
                <a:spcPct val="10000"/>
              </a:spcBef>
            </a:pPr>
            <a:r>
              <a:rPr lang="en-US" altLang="en-US" sz="2000" dirty="0" err="1">
                <a:cs typeface="Times New Roman" panose="02020603050405020304" pitchFamily="18" charset="0"/>
              </a:rPr>
              <a:t>tên</a:t>
            </a:r>
            <a:r>
              <a:rPr lang="en-US" altLang="en-US" sz="2000" dirty="0">
                <a:cs typeface="Times New Roman" panose="02020603050405020304" pitchFamily="18" charset="0"/>
              </a:rPr>
              <a:t> </a:t>
            </a:r>
            <a:r>
              <a:rPr lang="en-US" altLang="en-US" sz="2000" dirty="0" err="1">
                <a:cs typeface="Times New Roman" panose="02020603050405020304" pitchFamily="18" charset="0"/>
              </a:rPr>
              <a:t>gọi</a:t>
            </a:r>
            <a:r>
              <a:rPr lang="en-US" altLang="en-US" sz="2000" dirty="0">
                <a:cs typeface="Times New Roman" panose="02020603050405020304" pitchFamily="18" charset="0"/>
              </a:rPr>
              <a:t> </a:t>
            </a:r>
            <a:r>
              <a:rPr lang="en-US" altLang="en-US" sz="2000" dirty="0" err="1">
                <a:cs typeface="Times New Roman" panose="02020603050405020304" pitchFamily="18" charset="0"/>
              </a:rPr>
              <a:t>khác</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ngoài</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tận</a:t>
            </a:r>
            <a:r>
              <a:rPr lang="en-US" altLang="en-US" sz="2000" dirty="0">
                <a:cs typeface="Times New Roman" panose="02020603050405020304" pitchFamily="18" charset="0"/>
              </a:rPr>
              <a:t> </a:t>
            </a:r>
            <a:r>
              <a:rPr lang="en-US" altLang="en-US" sz="2000" dirty="0" err="1">
                <a:cs typeface="Times New Roman" panose="02020603050405020304" pitchFamily="18" charset="0"/>
              </a:rPr>
              <a:t>cùng</a:t>
            </a:r>
            <a:r>
              <a:rPr lang="en-US" altLang="en-US" sz="2000" dirty="0">
                <a:cs typeface="Times New Roman" panose="02020603050405020304" pitchFamily="18" charset="0"/>
              </a:rPr>
              <a:t>  </a:t>
            </a:r>
          </a:p>
          <a:p>
            <a:pPr lvl="1">
              <a:spcBef>
                <a:spcPct val="10000"/>
              </a:spcBef>
            </a:pPr>
            <a:r>
              <a:rPr lang="en-US" altLang="en-US" sz="2000" b="1" dirty="0" err="1">
                <a:cs typeface="Times New Roman" panose="02020603050405020304" pitchFamily="18" charset="0"/>
              </a:rPr>
              <a:t>Mức</a:t>
            </a:r>
            <a:r>
              <a:rPr lang="en-US" altLang="en-US" sz="2000" dirty="0">
                <a:cs typeface="Times New Roman" panose="02020603050405020304" pitchFamily="18" charset="0"/>
              </a:rPr>
              <a:t> </a:t>
            </a:r>
            <a:r>
              <a:rPr lang="en-US" altLang="en-US" sz="2000" dirty="0" err="1">
                <a:cs typeface="Times New Roman" panose="02020603050405020304" pitchFamily="18" charset="0"/>
              </a:rPr>
              <a:t>của</a:t>
            </a:r>
            <a:r>
              <a:rPr lang="en-US" altLang="en-US" sz="2000" dirty="0">
                <a:cs typeface="Times New Roman" panose="02020603050405020304" pitchFamily="18" charset="0"/>
              </a:rPr>
              <a:t> </a:t>
            </a:r>
            <a:r>
              <a:rPr lang="en-US" altLang="en-US" sz="2000" dirty="0" err="1">
                <a:cs typeface="Times New Roman" panose="02020603050405020304" pitchFamily="18" charset="0"/>
              </a:rPr>
              <a:t>một</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 (level) </a:t>
            </a:r>
            <a:r>
              <a:rPr lang="en-US" altLang="en-US" sz="2000" b="1" dirty="0">
                <a:cs typeface="Times New Roman" panose="02020603050405020304" pitchFamily="18" charset="0"/>
              </a:rPr>
              <a:t>L(A)</a:t>
            </a:r>
            <a:r>
              <a:rPr lang="en-US" altLang="en-US" sz="2000" dirty="0">
                <a:cs typeface="Times New Roman" panose="02020603050405020304" pitchFamily="18" charset="0"/>
              </a:rPr>
              <a:t>: </a:t>
            </a:r>
          </a:p>
          <a:p>
            <a:pPr lvl="2">
              <a:spcBef>
                <a:spcPct val="10000"/>
              </a:spcBef>
            </a:pPr>
            <a:r>
              <a:rPr lang="en-US" altLang="en-US" sz="2000" dirty="0" err="1">
                <a:cs typeface="Times New Roman" panose="02020603050405020304" pitchFamily="18" charset="0"/>
              </a:rPr>
              <a:t>Nếu</a:t>
            </a:r>
            <a:r>
              <a:rPr lang="en-US" altLang="en-US" sz="2000" dirty="0">
                <a:cs typeface="Times New Roman" panose="02020603050405020304" pitchFamily="18" charset="0"/>
              </a:rPr>
              <a:t> A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gốc</a:t>
            </a:r>
            <a:r>
              <a:rPr lang="en-US" altLang="en-US" sz="2000" dirty="0">
                <a:cs typeface="Times New Roman" panose="02020603050405020304" pitchFamily="18" charset="0"/>
              </a:rPr>
              <a:t> </a:t>
            </a:r>
            <a:r>
              <a:rPr lang="en-US" altLang="en-US" sz="2000" dirty="0" err="1">
                <a:cs typeface="Times New Roman" panose="02020603050405020304" pitchFamily="18" charset="0"/>
              </a:rPr>
              <a:t>thì</a:t>
            </a:r>
            <a:r>
              <a:rPr lang="en-US" altLang="en-US" sz="2000" dirty="0">
                <a:cs typeface="Times New Roman" panose="02020603050405020304" pitchFamily="18" charset="0"/>
              </a:rPr>
              <a:t> L(A) = 1 (</a:t>
            </a:r>
            <a:r>
              <a:rPr lang="en-US" altLang="en-US" sz="2000" dirty="0" err="1">
                <a:cs typeface="Times New Roman" panose="02020603050405020304" pitchFamily="18" charset="0"/>
              </a:rPr>
              <a:t>hoặc</a:t>
            </a:r>
            <a:r>
              <a:rPr lang="en-US" altLang="en-US" sz="2000" dirty="0">
                <a:cs typeface="Times New Roman" panose="02020603050405020304" pitchFamily="18" charset="0"/>
              </a:rPr>
              <a:t> 0)</a:t>
            </a:r>
          </a:p>
          <a:p>
            <a:pPr lvl="2">
              <a:spcBef>
                <a:spcPct val="10000"/>
              </a:spcBef>
            </a:pPr>
            <a:r>
              <a:rPr lang="en-US" altLang="en-US" sz="2000" dirty="0" err="1">
                <a:cs typeface="Times New Roman" panose="02020603050405020304" pitchFamily="18" charset="0"/>
              </a:rPr>
              <a:t>Nếu</a:t>
            </a:r>
            <a:r>
              <a:rPr lang="en-US" altLang="en-US" sz="2000" dirty="0">
                <a:cs typeface="Times New Roman" panose="02020603050405020304" pitchFamily="18" charset="0"/>
              </a:rPr>
              <a:t> A </a:t>
            </a:r>
            <a:r>
              <a:rPr lang="en-US" altLang="en-US" sz="2000" dirty="0" err="1">
                <a:cs typeface="Times New Roman" panose="02020603050405020304" pitchFamily="18" charset="0"/>
              </a:rPr>
              <a:t>là</a:t>
            </a:r>
            <a:r>
              <a:rPr lang="en-US" altLang="en-US" sz="2000" dirty="0">
                <a:cs typeface="Times New Roman" panose="02020603050405020304" pitchFamily="18" charset="0"/>
              </a:rPr>
              <a:t> cha </a:t>
            </a:r>
            <a:r>
              <a:rPr lang="en-US" altLang="en-US" sz="2000" dirty="0" err="1">
                <a:cs typeface="Times New Roman" panose="02020603050405020304" pitchFamily="18" charset="0"/>
              </a:rPr>
              <a:t>của</a:t>
            </a:r>
            <a:r>
              <a:rPr lang="en-US" altLang="en-US" sz="2000" dirty="0">
                <a:cs typeface="Times New Roman" panose="02020603050405020304" pitchFamily="18" charset="0"/>
              </a:rPr>
              <a:t> B </a:t>
            </a:r>
            <a:r>
              <a:rPr lang="en-US" altLang="en-US" sz="2000" dirty="0" err="1">
                <a:cs typeface="Times New Roman" panose="02020603050405020304" pitchFamily="18" charset="0"/>
              </a:rPr>
              <a:t>thì</a:t>
            </a:r>
            <a:r>
              <a:rPr lang="en-US" altLang="en-US" sz="2000" dirty="0">
                <a:cs typeface="Times New Roman" panose="02020603050405020304" pitchFamily="18" charset="0"/>
              </a:rPr>
              <a:t> L(B) = L(A) +1 </a:t>
            </a:r>
          </a:p>
          <a:p>
            <a:pPr lvl="1">
              <a:spcBef>
                <a:spcPct val="10000"/>
              </a:spcBef>
            </a:pPr>
            <a:r>
              <a:rPr lang="en-US" altLang="en-US" sz="2000" dirty="0" err="1">
                <a:cs typeface="Times New Roman" panose="02020603050405020304" pitchFamily="18" charset="0"/>
              </a:rPr>
              <a:t>Anh</a:t>
            </a:r>
            <a:r>
              <a:rPr lang="en-US" altLang="en-US" sz="2000" dirty="0">
                <a:cs typeface="Times New Roman" panose="02020603050405020304" pitchFamily="18" charset="0"/>
              </a:rPr>
              <a:t> </a:t>
            </a:r>
            <a:r>
              <a:rPr lang="en-US" altLang="en-US" sz="2000" dirty="0" err="1">
                <a:cs typeface="Times New Roman" panose="02020603050405020304" pitchFamily="18" charset="0"/>
              </a:rPr>
              <a:t>chị</a:t>
            </a:r>
            <a:r>
              <a:rPr lang="en-US" altLang="en-US" sz="2000" dirty="0">
                <a:cs typeface="Times New Roman" panose="02020603050405020304" pitchFamily="18" charset="0"/>
              </a:rPr>
              <a:t> </a:t>
            </a:r>
            <a:r>
              <a:rPr lang="en-US" altLang="en-US" sz="2000" dirty="0" err="1">
                <a:cs typeface="Times New Roman" panose="02020603050405020304" pitchFamily="18" charset="0"/>
              </a:rPr>
              <a:t>em</a:t>
            </a:r>
            <a:r>
              <a:rPr lang="en-US" altLang="en-US" sz="2000" dirty="0">
                <a:cs typeface="Times New Roman" panose="02020603050405020304" pitchFamily="18" charset="0"/>
              </a:rPr>
              <a:t> </a:t>
            </a:r>
            <a:r>
              <a:rPr lang="en-US" altLang="en-US" sz="2000" dirty="0" err="1">
                <a:cs typeface="Times New Roman" panose="02020603050405020304" pitchFamily="18" charset="0"/>
              </a:rPr>
              <a:t>của</a:t>
            </a:r>
            <a:r>
              <a:rPr lang="en-US" altLang="en-US" sz="2000" dirty="0">
                <a:cs typeface="Times New Roman" panose="02020603050405020304" pitchFamily="18" charset="0"/>
              </a:rPr>
              <a:t> </a:t>
            </a:r>
            <a:r>
              <a:rPr lang="en-US" altLang="en-US" sz="2000" dirty="0" err="1">
                <a:cs typeface="Times New Roman" panose="02020603050405020304" pitchFamily="18" charset="0"/>
              </a:rPr>
              <a:t>một</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(sibling):</a:t>
            </a:r>
          </a:p>
          <a:p>
            <a:pPr lvl="2">
              <a:spcBef>
                <a:spcPct val="10000"/>
              </a:spcBef>
            </a:pP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cùng</a:t>
            </a:r>
            <a:r>
              <a:rPr lang="en-US" altLang="en-US" sz="2000" dirty="0">
                <a:cs typeface="Times New Roman" panose="02020603050405020304" pitchFamily="18" charset="0"/>
              </a:rPr>
              <a:t> </a:t>
            </a:r>
            <a:r>
              <a:rPr lang="en-US" altLang="en-US" sz="2000" dirty="0" err="1">
                <a:cs typeface="Times New Roman" panose="02020603050405020304" pitchFamily="18" charset="0"/>
              </a:rPr>
              <a:t>mức</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cùng</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cha</a:t>
            </a:r>
          </a:p>
        </p:txBody>
      </p:sp>
    </p:spTree>
    <p:extLst>
      <p:ext uri="{BB962C8B-B14F-4D97-AF65-F5344CB8AC3E}">
        <p14:creationId xmlns:p14="http://schemas.microsoft.com/office/powerpoint/2010/main" val="3284662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17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172">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17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72">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172">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172">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172">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17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Rectangle 3"/>
          <p:cNvSpPr>
            <a:spLocks noGrp="1" noChangeArrowheads="1"/>
          </p:cNvSpPr>
          <p:nvPr>
            <p:ph type="title"/>
          </p:nvPr>
        </p:nvSpPr>
        <p:spPr>
          <a:noFill/>
        </p:spPr>
        <p:txBody>
          <a:bodyPr/>
          <a:lstStyle/>
          <a:p>
            <a:pPr eaLnBrk="1" hangingPunct="1"/>
            <a:r>
              <a:rPr lang="en-US" altLang="en-US" dirty="0" err="1">
                <a:cs typeface="Times New Roman" panose="02020603050405020304" pitchFamily="18" charset="0"/>
              </a:rPr>
              <a:t>Các</a:t>
            </a:r>
            <a:r>
              <a:rPr lang="en-US" altLang="en-US" dirty="0">
                <a:cs typeface="Times New Roman" panose="02020603050405020304" pitchFamily="18" charset="0"/>
              </a:rPr>
              <a:t> </a:t>
            </a:r>
            <a:r>
              <a:rPr lang="en-US" altLang="en-US" dirty="0" err="1">
                <a:cs typeface="Times New Roman" panose="02020603050405020304" pitchFamily="18" charset="0"/>
              </a:rPr>
              <a:t>khái</a:t>
            </a:r>
            <a:r>
              <a:rPr lang="en-US" altLang="en-US" dirty="0">
                <a:cs typeface="Times New Roman" panose="02020603050405020304" pitchFamily="18" charset="0"/>
              </a:rPr>
              <a:t> </a:t>
            </a:r>
            <a:r>
              <a:rPr lang="en-US" altLang="en-US" dirty="0" err="1">
                <a:cs typeface="Times New Roman" panose="02020603050405020304" pitchFamily="18" charset="0"/>
              </a:rPr>
              <a:t>niệm</a:t>
            </a:r>
            <a:r>
              <a:rPr lang="en-US" altLang="en-US" dirty="0">
                <a:cs typeface="Times New Roman" panose="02020603050405020304" pitchFamily="18" charset="0"/>
              </a:rPr>
              <a:t> </a:t>
            </a:r>
            <a:r>
              <a:rPr lang="en-US" altLang="en-US" dirty="0" err="1">
                <a:cs typeface="Times New Roman" panose="02020603050405020304" pitchFamily="18" charset="0"/>
              </a:rPr>
              <a:t>cơ</a:t>
            </a:r>
            <a:r>
              <a:rPr lang="en-US" altLang="en-US" dirty="0">
                <a:cs typeface="Times New Roman" panose="02020603050405020304" pitchFamily="18" charset="0"/>
              </a:rPr>
              <a:t> </a:t>
            </a:r>
            <a:r>
              <a:rPr lang="en-US" altLang="en-US" dirty="0" err="1">
                <a:cs typeface="Times New Roman" panose="02020603050405020304" pitchFamily="18" charset="0"/>
              </a:rPr>
              <a:t>bản</a:t>
            </a:r>
            <a:r>
              <a:rPr lang="en-US" altLang="en-US" dirty="0"/>
              <a:t>  </a:t>
            </a:r>
          </a:p>
        </p:txBody>
      </p:sp>
      <p:sp>
        <p:nvSpPr>
          <p:cNvPr id="8196" name="Rectangle 2"/>
          <p:cNvSpPr>
            <a:spLocks noGrp="1" noChangeArrowheads="1"/>
          </p:cNvSpPr>
          <p:nvPr>
            <p:ph type="body" sz="quarter" idx="13"/>
          </p:nvPr>
        </p:nvSpPr>
        <p:spPr>
          <a:noFill/>
        </p:spPr>
        <p:txBody>
          <a:bodyPr/>
          <a:lstStyle/>
          <a:p>
            <a:pPr lvl="1" eaLnBrk="1" hangingPunct="1">
              <a:lnSpc>
                <a:spcPct val="90000"/>
              </a:lnSpc>
            </a:pPr>
            <a:r>
              <a:rPr lang="en-US" altLang="en-US" sz="2400" dirty="0" err="1">
                <a:cs typeface="Times New Roman" panose="02020603050405020304" pitchFamily="18" charset="0"/>
              </a:rPr>
              <a:t>Đường</a:t>
            </a:r>
            <a:r>
              <a:rPr lang="en-US" altLang="en-US" sz="2400" dirty="0">
                <a:cs typeface="Times New Roman" panose="02020603050405020304" pitchFamily="18" charset="0"/>
              </a:rPr>
              <a:t> </a:t>
            </a:r>
            <a:r>
              <a:rPr lang="en-US" altLang="en-US" sz="2400" dirty="0" err="1">
                <a:cs typeface="Times New Roman" panose="02020603050405020304" pitchFamily="18" charset="0"/>
              </a:rPr>
              <a:t>đi</a:t>
            </a:r>
            <a:r>
              <a:rPr lang="en-US" altLang="en-US" sz="2400" dirty="0">
                <a:cs typeface="Times New Roman" panose="02020603050405020304" pitchFamily="18" charset="0"/>
              </a:rPr>
              <a:t> </a:t>
            </a:r>
            <a:r>
              <a:rPr lang="en-US" altLang="en-US" sz="2400" dirty="0" err="1">
                <a:cs typeface="Times New Roman" panose="02020603050405020304" pitchFamily="18" charset="0"/>
              </a:rPr>
              <a:t>giữa</a:t>
            </a:r>
            <a:r>
              <a:rPr lang="en-US" altLang="en-US" sz="2400" dirty="0">
                <a:cs typeface="Times New Roman" panose="02020603050405020304" pitchFamily="18" charset="0"/>
              </a:rPr>
              <a:t> </a:t>
            </a:r>
            <a:r>
              <a:rPr lang="en-US" altLang="en-US" sz="2400" dirty="0" err="1">
                <a:cs typeface="Times New Roman" panose="02020603050405020304" pitchFamily="18" charset="0"/>
              </a:rPr>
              <a:t>nút</a:t>
            </a:r>
            <a:r>
              <a:rPr lang="en-US" altLang="en-US" sz="2400" dirty="0">
                <a:cs typeface="Times New Roman" panose="02020603050405020304" pitchFamily="18" charset="0"/>
              </a:rPr>
              <a:t> </a:t>
            </a:r>
            <a:r>
              <a:rPr lang="en-US" altLang="en-US" sz="2400" dirty="0" err="1">
                <a:cs typeface="Times New Roman" panose="02020603050405020304" pitchFamily="18" charset="0"/>
              </a:rPr>
              <a:t>gốc</a:t>
            </a:r>
            <a:r>
              <a:rPr lang="en-US" altLang="en-US" sz="2400" dirty="0">
                <a:cs typeface="Times New Roman" panose="02020603050405020304" pitchFamily="18" charset="0"/>
              </a:rPr>
              <a:t> </a:t>
            </a:r>
            <a:r>
              <a:rPr lang="en-US" altLang="en-US" sz="2400" dirty="0" err="1">
                <a:cs typeface="Times New Roman" panose="02020603050405020304" pitchFamily="18" charset="0"/>
              </a:rPr>
              <a:t>và</a:t>
            </a:r>
            <a:r>
              <a:rPr lang="en-US" altLang="en-US" sz="2400" dirty="0">
                <a:cs typeface="Times New Roman" panose="02020603050405020304" pitchFamily="18" charset="0"/>
              </a:rPr>
              <a:t> </a:t>
            </a:r>
            <a:r>
              <a:rPr lang="en-US" altLang="en-US" sz="2400" dirty="0" err="1">
                <a:cs typeface="Times New Roman" panose="02020603050405020304" pitchFamily="18" charset="0"/>
              </a:rPr>
              <a:t>một</a:t>
            </a:r>
            <a:r>
              <a:rPr lang="en-US" altLang="en-US" sz="2400" dirty="0">
                <a:cs typeface="Times New Roman" panose="02020603050405020304" pitchFamily="18" charset="0"/>
              </a:rPr>
              <a:t> </a:t>
            </a:r>
            <a:r>
              <a:rPr lang="en-US" altLang="en-US" sz="2400" dirty="0" err="1">
                <a:cs typeface="Times New Roman" panose="02020603050405020304" pitchFamily="18" charset="0"/>
              </a:rPr>
              <a:t>nút</a:t>
            </a:r>
            <a:r>
              <a:rPr lang="en-US" altLang="en-US" sz="2400" dirty="0">
                <a:cs typeface="Times New Roman" panose="02020603050405020304" pitchFamily="18" charset="0"/>
              </a:rPr>
              <a:t> </a:t>
            </a:r>
            <a:r>
              <a:rPr lang="en-US" altLang="en-US" sz="2400" dirty="0" err="1">
                <a:cs typeface="Times New Roman" panose="02020603050405020304" pitchFamily="18" charset="0"/>
              </a:rPr>
              <a:t>khác</a:t>
            </a:r>
            <a:r>
              <a:rPr lang="en-US" altLang="en-US" sz="2400" dirty="0">
                <a:cs typeface="Times New Roman" panose="02020603050405020304" pitchFamily="18" charset="0"/>
              </a:rPr>
              <a:t> (path): </a:t>
            </a:r>
            <a:r>
              <a:rPr lang="en-US" altLang="en-US" sz="2400" b="1" i="1" dirty="0">
                <a:cs typeface="Times New Roman" panose="02020603050405020304" pitchFamily="18" charset="0"/>
              </a:rPr>
              <a:t>p(A)</a:t>
            </a:r>
          </a:p>
          <a:p>
            <a:pPr lvl="2" eaLnBrk="1" hangingPunct="1">
              <a:lnSpc>
                <a:spcPct val="90000"/>
              </a:lnSpc>
            </a:pP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dãy</a:t>
            </a:r>
            <a:r>
              <a:rPr lang="en-US" altLang="en-US" sz="2000" dirty="0">
                <a:cs typeface="Times New Roman" panose="02020603050405020304" pitchFamily="18" charset="0"/>
              </a:rPr>
              <a:t> </a:t>
            </a: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nhánh</a:t>
            </a:r>
            <a:r>
              <a:rPr lang="en-US" altLang="en-US" sz="2000" dirty="0">
                <a:cs typeface="Times New Roman" panose="02020603050405020304" pitchFamily="18" charset="0"/>
              </a:rPr>
              <a:t> </a:t>
            </a:r>
            <a:r>
              <a:rPr lang="en-US" altLang="en-US" sz="2000" dirty="0" err="1">
                <a:cs typeface="Times New Roman" panose="02020603050405020304" pitchFamily="18" charset="0"/>
              </a:rPr>
              <a:t>nối</a:t>
            </a:r>
            <a:r>
              <a:rPr lang="en-US" altLang="en-US" sz="2000" dirty="0">
                <a:cs typeface="Times New Roman" panose="02020603050405020304" pitchFamily="18" charset="0"/>
              </a:rPr>
              <a:t> </a:t>
            </a:r>
            <a:r>
              <a:rPr lang="en-US" altLang="en-US" sz="2000" dirty="0" err="1">
                <a:cs typeface="Times New Roman" panose="02020603050405020304" pitchFamily="18" charset="0"/>
              </a:rPr>
              <a:t>từ</a:t>
            </a:r>
            <a:r>
              <a:rPr lang="en-US" altLang="en-US" sz="2000" dirty="0">
                <a:cs typeface="Times New Roman" panose="02020603050405020304" pitchFamily="18" charset="0"/>
              </a:rPr>
              <a:t> </a:t>
            </a:r>
            <a:r>
              <a:rPr lang="en-US" altLang="en-US" sz="2000" dirty="0" err="1">
                <a:cs typeface="Times New Roman" panose="02020603050405020304" pitchFamily="18" charset="0"/>
              </a:rPr>
              <a:t>gốc</a:t>
            </a:r>
            <a:r>
              <a:rPr lang="en-US" altLang="en-US" sz="2000" dirty="0">
                <a:cs typeface="Times New Roman" panose="02020603050405020304" pitchFamily="18" charset="0"/>
              </a:rPr>
              <a:t> </a:t>
            </a:r>
            <a:r>
              <a:rPr lang="en-US" altLang="en-US" sz="2000" dirty="0" err="1">
                <a:cs typeface="Times New Roman" panose="02020603050405020304" pitchFamily="18" charset="0"/>
              </a:rPr>
              <a:t>đến</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đó</a:t>
            </a:r>
            <a:endParaRPr lang="en-US" altLang="en-US" sz="2000" dirty="0">
              <a:cs typeface="Times New Roman" panose="02020603050405020304" pitchFamily="18" charset="0"/>
            </a:endParaRPr>
          </a:p>
          <a:p>
            <a:pPr lvl="2"/>
            <a:r>
              <a:rPr lang="en-US" sz="2000" dirty="0" err="1"/>
              <a:t>Hoặc</a:t>
            </a:r>
            <a:r>
              <a:rPr lang="en-US" sz="2000" dirty="0"/>
              <a:t> </a:t>
            </a:r>
            <a:r>
              <a:rPr lang="en-US" sz="2000" dirty="0" err="1"/>
              <a:t>dãy</a:t>
            </a:r>
            <a:r>
              <a:rPr lang="en-US" sz="2000" dirty="0"/>
              <a:t> </a:t>
            </a:r>
            <a:r>
              <a:rPr lang="en-US" sz="2000" dirty="0" err="1"/>
              <a:t>các</a:t>
            </a:r>
            <a:r>
              <a:rPr lang="en-US" sz="2000" dirty="0"/>
              <a:t> </a:t>
            </a:r>
            <a:r>
              <a:rPr lang="en-US" sz="2000" dirty="0" err="1"/>
              <a:t>nút</a:t>
            </a:r>
            <a:r>
              <a:rPr lang="en-US" sz="2000" dirty="0"/>
              <a:t> n</a:t>
            </a:r>
            <a:r>
              <a:rPr lang="en-US" sz="2000" baseline="-25000" dirty="0"/>
              <a:t>1</a:t>
            </a:r>
            <a:r>
              <a:rPr lang="en-US" sz="2000" dirty="0"/>
              <a:t>, n</a:t>
            </a:r>
            <a:r>
              <a:rPr lang="en-US" sz="2000" baseline="-25000" dirty="0"/>
              <a:t>2</a:t>
            </a:r>
            <a:r>
              <a:rPr lang="en-US" sz="2000" dirty="0"/>
              <a:t>, …, </a:t>
            </a:r>
            <a:r>
              <a:rPr lang="en-US" sz="2000" dirty="0" err="1"/>
              <a:t>n</a:t>
            </a:r>
            <a:r>
              <a:rPr lang="en-US" sz="2000" baseline="-25000" dirty="0" err="1"/>
              <a:t>k</a:t>
            </a:r>
            <a:r>
              <a:rPr lang="en-US" sz="2000" baseline="-25000" dirty="0"/>
              <a:t> </a:t>
            </a:r>
            <a:r>
              <a:rPr lang="en-US" sz="2000" dirty="0" err="1"/>
              <a:t>với</a:t>
            </a:r>
            <a:r>
              <a:rPr lang="en-US" sz="2000" dirty="0"/>
              <a:t> </a:t>
            </a:r>
            <a:r>
              <a:rPr lang="en-US" sz="2000" dirty="0" err="1"/>
              <a:t>n</a:t>
            </a:r>
            <a:r>
              <a:rPr lang="en-US" sz="2000" baseline="-25000" dirty="0" err="1"/>
              <a:t>i</a:t>
            </a:r>
            <a:r>
              <a:rPr lang="en-US" sz="2000" dirty="0"/>
              <a:t> </a:t>
            </a:r>
            <a:r>
              <a:rPr lang="en-US" sz="2000" dirty="0" err="1"/>
              <a:t>là</a:t>
            </a:r>
            <a:r>
              <a:rPr lang="en-US" sz="2000" dirty="0"/>
              <a:t> </a:t>
            </a:r>
            <a:r>
              <a:rPr lang="en-US" sz="2000" dirty="0" err="1"/>
              <a:t>nút</a:t>
            </a:r>
            <a:r>
              <a:rPr lang="en-US" sz="2000" dirty="0"/>
              <a:t> cha </a:t>
            </a:r>
            <a:r>
              <a:rPr lang="en-US" sz="2000" dirty="0" err="1"/>
              <a:t>của</a:t>
            </a:r>
            <a:r>
              <a:rPr lang="en-US" sz="2000" dirty="0"/>
              <a:t> n</a:t>
            </a:r>
            <a:r>
              <a:rPr lang="en-US" sz="2000" baseline="-25000" dirty="0"/>
              <a:t>i+1</a:t>
            </a:r>
            <a:r>
              <a:rPr lang="en-US" sz="2000" dirty="0"/>
              <a:t> (</a:t>
            </a:r>
            <a:r>
              <a:rPr lang="en-US" sz="2000" dirty="0" err="1"/>
              <a:t>i</a:t>
            </a:r>
            <a:r>
              <a:rPr lang="en-US" sz="2000" dirty="0"/>
              <a:t> = 1..k-1)</a:t>
            </a:r>
          </a:p>
          <a:p>
            <a:pPr lvl="2" eaLnBrk="1" hangingPunct="1">
              <a:lnSpc>
                <a:spcPct val="90000"/>
              </a:lnSpc>
            </a:pPr>
            <a:endParaRPr lang="en-US" altLang="en-US" dirty="0">
              <a:cs typeface="Times New Roman" panose="02020603050405020304" pitchFamily="18" charset="0"/>
            </a:endParaRPr>
          </a:p>
        </p:txBody>
      </p:sp>
      <p:pic>
        <p:nvPicPr>
          <p:cNvPr id="21" name="Picture 20"/>
          <p:cNvPicPr>
            <a:picLocks noChangeAspect="1"/>
          </p:cNvPicPr>
          <p:nvPr/>
        </p:nvPicPr>
        <p:blipFill>
          <a:blip r:embed="rId3"/>
          <a:stretch>
            <a:fillRect/>
          </a:stretch>
        </p:blipFill>
        <p:spPr>
          <a:xfrm>
            <a:off x="2057400" y="2386584"/>
            <a:ext cx="2882019" cy="2286000"/>
          </a:xfrm>
          <a:prstGeom prst="rect">
            <a:avLst/>
          </a:prstGeom>
        </p:spPr>
      </p:pic>
      <p:sp>
        <p:nvSpPr>
          <p:cNvPr id="2" name="Rectangle 1"/>
          <p:cNvSpPr/>
          <p:nvPr/>
        </p:nvSpPr>
        <p:spPr>
          <a:xfrm>
            <a:off x="5181600" y="2606254"/>
            <a:ext cx="2667000" cy="923330"/>
          </a:xfrm>
          <a:prstGeom prst="rect">
            <a:avLst/>
          </a:prstGeom>
        </p:spPr>
        <p:txBody>
          <a:bodyPr wrap="square">
            <a:spAutoFit/>
          </a:bodyPr>
          <a:lstStyle/>
          <a:p>
            <a:r>
              <a:rPr lang="en-US" dirty="0"/>
              <a:t> p(G) = {(A,C), (C,G)}</a:t>
            </a:r>
          </a:p>
          <a:p>
            <a:r>
              <a:rPr lang="en-US" dirty="0"/>
              <a:t> p(G) = { A, C, G }</a:t>
            </a:r>
          </a:p>
          <a:p>
            <a:endParaRPr lang="en-US" dirty="0"/>
          </a:p>
        </p:txBody>
      </p:sp>
    </p:spTree>
    <p:extLst>
      <p:ext uri="{BB962C8B-B14F-4D97-AF65-F5344CB8AC3E}">
        <p14:creationId xmlns:p14="http://schemas.microsoft.com/office/powerpoint/2010/main" val="2516195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Rectangle 3"/>
          <p:cNvSpPr>
            <a:spLocks noGrp="1" noChangeArrowheads="1"/>
          </p:cNvSpPr>
          <p:nvPr>
            <p:ph type="title"/>
          </p:nvPr>
        </p:nvSpPr>
        <p:spPr>
          <a:noFill/>
        </p:spPr>
        <p:txBody>
          <a:bodyPr/>
          <a:lstStyle/>
          <a:p>
            <a:pPr eaLnBrk="1" hangingPunct="1"/>
            <a:r>
              <a:rPr lang="en-US" altLang="en-US" dirty="0" err="1">
                <a:cs typeface="Times New Roman" panose="02020603050405020304" pitchFamily="18" charset="0"/>
              </a:rPr>
              <a:t>Các</a:t>
            </a:r>
            <a:r>
              <a:rPr lang="en-US" altLang="en-US" dirty="0">
                <a:cs typeface="Times New Roman" panose="02020603050405020304" pitchFamily="18" charset="0"/>
              </a:rPr>
              <a:t> </a:t>
            </a:r>
            <a:r>
              <a:rPr lang="en-US" altLang="en-US" dirty="0" err="1">
                <a:cs typeface="Times New Roman" panose="02020603050405020304" pitchFamily="18" charset="0"/>
              </a:rPr>
              <a:t>khái</a:t>
            </a:r>
            <a:r>
              <a:rPr lang="en-US" altLang="en-US" dirty="0">
                <a:cs typeface="Times New Roman" panose="02020603050405020304" pitchFamily="18" charset="0"/>
              </a:rPr>
              <a:t> </a:t>
            </a:r>
            <a:r>
              <a:rPr lang="en-US" altLang="en-US" dirty="0" err="1">
                <a:cs typeface="Times New Roman" panose="02020603050405020304" pitchFamily="18" charset="0"/>
              </a:rPr>
              <a:t>niệm</a:t>
            </a:r>
            <a:r>
              <a:rPr lang="en-US" altLang="en-US" dirty="0">
                <a:cs typeface="Times New Roman" panose="02020603050405020304" pitchFamily="18" charset="0"/>
              </a:rPr>
              <a:t> </a:t>
            </a:r>
            <a:r>
              <a:rPr lang="en-US" altLang="en-US" dirty="0" err="1">
                <a:cs typeface="Times New Roman" panose="02020603050405020304" pitchFamily="18" charset="0"/>
              </a:rPr>
              <a:t>cơ</a:t>
            </a:r>
            <a:r>
              <a:rPr lang="en-US" altLang="en-US" dirty="0">
                <a:cs typeface="Times New Roman" panose="02020603050405020304" pitchFamily="18" charset="0"/>
              </a:rPr>
              <a:t> </a:t>
            </a:r>
            <a:r>
              <a:rPr lang="en-US" altLang="en-US" dirty="0" err="1">
                <a:cs typeface="Times New Roman" panose="02020603050405020304" pitchFamily="18" charset="0"/>
              </a:rPr>
              <a:t>bản</a:t>
            </a:r>
            <a:r>
              <a:rPr lang="en-US" altLang="en-US" dirty="0"/>
              <a:t>  </a:t>
            </a:r>
          </a:p>
        </p:txBody>
      </p:sp>
      <p:sp>
        <p:nvSpPr>
          <p:cNvPr id="8196" name="Rectangle 2"/>
          <p:cNvSpPr>
            <a:spLocks noGrp="1" noChangeArrowheads="1"/>
          </p:cNvSpPr>
          <p:nvPr>
            <p:ph type="body" sz="quarter" idx="13"/>
          </p:nvPr>
        </p:nvSpPr>
        <p:spPr>
          <a:noFill/>
        </p:spPr>
        <p:txBody>
          <a:bodyPr/>
          <a:lstStyle/>
          <a:p>
            <a:pPr lvl="1" eaLnBrk="1" hangingPunct="1">
              <a:lnSpc>
                <a:spcPct val="90000"/>
              </a:lnSpc>
            </a:pPr>
            <a:r>
              <a:rPr lang="en-US" altLang="en-US" sz="2400" dirty="0" err="1">
                <a:cs typeface="Times New Roman" panose="02020603050405020304" pitchFamily="18" charset="0"/>
              </a:rPr>
              <a:t>Độ</a:t>
            </a:r>
            <a:r>
              <a:rPr lang="en-US" altLang="en-US" sz="2400" dirty="0">
                <a:cs typeface="Times New Roman" panose="02020603050405020304" pitchFamily="18" charset="0"/>
              </a:rPr>
              <a:t> </a:t>
            </a:r>
            <a:r>
              <a:rPr lang="en-US" altLang="en-US" sz="2400" dirty="0" err="1">
                <a:cs typeface="Times New Roman" panose="02020603050405020304" pitchFamily="18" charset="0"/>
              </a:rPr>
              <a:t>dài</a:t>
            </a:r>
            <a:r>
              <a:rPr lang="en-US" altLang="en-US" sz="2400" dirty="0">
                <a:cs typeface="Times New Roman" panose="02020603050405020304" pitchFamily="18" charset="0"/>
              </a:rPr>
              <a:t> </a:t>
            </a:r>
            <a:r>
              <a:rPr lang="en-US" altLang="en-US" sz="2400" dirty="0" err="1">
                <a:cs typeface="Times New Roman" panose="02020603050405020304" pitchFamily="18" charset="0"/>
              </a:rPr>
              <a:t>đường</a:t>
            </a:r>
            <a:r>
              <a:rPr lang="en-US" altLang="en-US" sz="2400" dirty="0">
                <a:cs typeface="Times New Roman" panose="02020603050405020304" pitchFamily="18" charset="0"/>
              </a:rPr>
              <a:t> </a:t>
            </a:r>
            <a:r>
              <a:rPr lang="en-US" altLang="en-US" sz="2400" dirty="0" err="1">
                <a:cs typeface="Times New Roman" panose="02020603050405020304" pitchFamily="18" charset="0"/>
              </a:rPr>
              <a:t>đi</a:t>
            </a:r>
            <a:r>
              <a:rPr lang="en-US" altLang="en-US" sz="2400" dirty="0">
                <a:cs typeface="Times New Roman" panose="02020603050405020304" pitchFamily="18" charset="0"/>
              </a:rPr>
              <a:t> (path length): </a:t>
            </a:r>
            <a:r>
              <a:rPr lang="en-US" altLang="en-US" sz="2400" b="1" i="1" dirty="0">
                <a:cs typeface="Times New Roman" panose="02020603050405020304" pitchFamily="18" charset="0"/>
              </a:rPr>
              <a:t>PL(...)</a:t>
            </a:r>
          </a:p>
          <a:p>
            <a:pPr lvl="2" eaLnBrk="1" hangingPunct="1">
              <a:lnSpc>
                <a:spcPct val="90000"/>
              </a:lnSpc>
            </a:pP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tổng</a:t>
            </a:r>
            <a:r>
              <a:rPr lang="en-US" altLang="en-US" sz="2000" dirty="0">
                <a:cs typeface="Times New Roman" panose="02020603050405020304" pitchFamily="18" charset="0"/>
              </a:rPr>
              <a:t> </a:t>
            </a:r>
            <a:r>
              <a:rPr lang="en-US" altLang="en-US" sz="2000" dirty="0" err="1">
                <a:cs typeface="Times New Roman" panose="02020603050405020304" pitchFamily="18" charset="0"/>
              </a:rPr>
              <a:t>độ</a:t>
            </a:r>
            <a:r>
              <a:rPr lang="en-US" altLang="en-US" sz="2000" dirty="0">
                <a:cs typeface="Times New Roman" panose="02020603050405020304" pitchFamily="18" charset="0"/>
              </a:rPr>
              <a:t> </a:t>
            </a:r>
            <a:r>
              <a:rPr lang="en-US" altLang="en-US" sz="2000" dirty="0" err="1">
                <a:cs typeface="Times New Roman" panose="02020603050405020304" pitchFamily="18" charset="0"/>
              </a:rPr>
              <a:t>dài</a:t>
            </a:r>
            <a:r>
              <a:rPr lang="en-US" altLang="en-US" sz="2000" dirty="0">
                <a:cs typeface="Times New Roman" panose="02020603050405020304" pitchFamily="18" charset="0"/>
              </a:rPr>
              <a:t> </a:t>
            </a: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nhánh</a:t>
            </a:r>
            <a:r>
              <a:rPr lang="en-US" altLang="en-US" sz="2000" dirty="0">
                <a:cs typeface="Times New Roman" panose="02020603050405020304" pitchFamily="18" charset="0"/>
              </a:rPr>
              <a:t> </a:t>
            </a:r>
            <a:r>
              <a:rPr lang="en-US" altLang="en-US" sz="2000" dirty="0" err="1">
                <a:cs typeface="Times New Roman" panose="02020603050405020304" pitchFamily="18" charset="0"/>
              </a:rPr>
              <a:t>tạo</a:t>
            </a:r>
            <a:r>
              <a:rPr lang="en-US" altLang="en-US" sz="2000" dirty="0">
                <a:cs typeface="Times New Roman" panose="02020603050405020304" pitchFamily="18" charset="0"/>
              </a:rPr>
              <a:t> </a:t>
            </a:r>
            <a:r>
              <a:rPr lang="en-US" altLang="en-US" sz="2000" dirty="0" err="1">
                <a:cs typeface="Times New Roman" panose="02020603050405020304" pitchFamily="18" charset="0"/>
              </a:rPr>
              <a:t>thành</a:t>
            </a:r>
            <a:r>
              <a:rPr lang="en-US" altLang="en-US" sz="2000" dirty="0">
                <a:cs typeface="Times New Roman" panose="02020603050405020304" pitchFamily="18" charset="0"/>
              </a:rPr>
              <a:t> </a:t>
            </a:r>
            <a:r>
              <a:rPr lang="en-US" altLang="en-US" sz="2000" dirty="0" err="1">
                <a:cs typeface="Times New Roman" panose="02020603050405020304" pitchFamily="18" charset="0"/>
              </a:rPr>
              <a:t>đường</a:t>
            </a:r>
            <a:r>
              <a:rPr lang="en-US" altLang="en-US" sz="2000" dirty="0">
                <a:cs typeface="Times New Roman" panose="02020603050405020304" pitchFamily="18" charset="0"/>
              </a:rPr>
              <a:t> </a:t>
            </a:r>
            <a:r>
              <a:rPr lang="en-US" altLang="en-US" sz="2000" dirty="0" err="1">
                <a:cs typeface="Times New Roman" panose="02020603050405020304" pitchFamily="18" charset="0"/>
              </a:rPr>
              <a:t>đi</a:t>
            </a:r>
            <a:r>
              <a:rPr lang="en-US" altLang="en-US" sz="2000" dirty="0">
                <a:cs typeface="Times New Roman" panose="02020603050405020304" pitchFamily="18" charset="0"/>
              </a:rPr>
              <a:t>  </a:t>
            </a:r>
          </a:p>
          <a:p>
            <a:pPr lvl="2" eaLnBrk="1" hangingPunct="1">
              <a:lnSpc>
                <a:spcPct val="90000"/>
              </a:lnSpc>
            </a:pPr>
            <a:r>
              <a:rPr lang="en-US" altLang="en-US" sz="2000" dirty="0" err="1">
                <a:cs typeface="Times New Roman" panose="02020603050405020304" pitchFamily="18" charset="0"/>
              </a:rPr>
              <a:t>Thực</a:t>
            </a:r>
            <a:r>
              <a:rPr lang="en-US" altLang="en-US" sz="2000" dirty="0">
                <a:cs typeface="Times New Roman" panose="02020603050405020304" pitchFamily="18" charset="0"/>
              </a:rPr>
              <a:t> </a:t>
            </a:r>
            <a:r>
              <a:rPr lang="en-US" altLang="en-US" sz="2000" dirty="0" err="1">
                <a:cs typeface="Times New Roman" panose="02020603050405020304" pitchFamily="18" charset="0"/>
              </a:rPr>
              <a:t>tế</a:t>
            </a:r>
            <a:r>
              <a:rPr lang="en-US" altLang="en-US" sz="2000" dirty="0">
                <a:cs typeface="Times New Roman" panose="02020603050405020304" pitchFamily="18" charset="0"/>
              </a:rPr>
              <a:t>: </a:t>
            </a:r>
            <a:r>
              <a:rPr lang="vi-VN" altLang="en-US" sz="2000" dirty="0">
                <a:cs typeface="Times New Roman" panose="02020603050405020304" pitchFamily="18" charset="0"/>
              </a:rPr>
              <a:t>quy ước độ dài của tất cả các nhánh trong</a:t>
            </a:r>
            <a:r>
              <a:rPr lang="en-US" altLang="en-US" sz="2000" dirty="0">
                <a:cs typeface="Times New Roman" panose="02020603050405020304" pitchFamily="18" charset="0"/>
              </a:rPr>
              <a:t> </a:t>
            </a:r>
            <a:r>
              <a:rPr lang="vi-VN" altLang="en-US" sz="2000" dirty="0">
                <a:cs typeface="Times New Roman" panose="02020603050405020304" pitchFamily="18" charset="0"/>
              </a:rPr>
              <a:t>một cây đều bằng 1 (đơn vị)</a:t>
            </a:r>
            <a:endParaRPr lang="en-US" altLang="en-US" sz="2000" dirty="0">
              <a:cs typeface="Times New Roman" panose="02020603050405020304" pitchFamily="18" charset="0"/>
            </a:endParaRPr>
          </a:p>
          <a:p>
            <a:pPr marL="593725" lvl="2" indent="0" eaLnBrk="1" hangingPunct="1">
              <a:lnSpc>
                <a:spcPct val="90000"/>
              </a:lnSpc>
              <a:buNone/>
            </a:pPr>
            <a:br>
              <a:rPr lang="en-US" altLang="en-US" sz="2400" dirty="0">
                <a:cs typeface="Times New Roman" panose="02020603050405020304" pitchFamily="18" charset="0"/>
              </a:rPr>
            </a:br>
            <a:endParaRPr lang="en-US" altLang="en-US" sz="2400" dirty="0">
              <a:cs typeface="Times New Roman" panose="02020603050405020304" pitchFamily="18" charset="0"/>
            </a:endParaRPr>
          </a:p>
        </p:txBody>
      </p:sp>
      <p:pic>
        <p:nvPicPr>
          <p:cNvPr id="6" name="Picture 5"/>
          <p:cNvPicPr>
            <a:picLocks noChangeAspect="1"/>
          </p:cNvPicPr>
          <p:nvPr/>
        </p:nvPicPr>
        <p:blipFill>
          <a:blip r:embed="rId3"/>
          <a:stretch>
            <a:fillRect/>
          </a:stretch>
        </p:blipFill>
        <p:spPr>
          <a:xfrm>
            <a:off x="2209800" y="2667000"/>
            <a:ext cx="5189000" cy="2732800"/>
          </a:xfrm>
          <a:prstGeom prst="rect">
            <a:avLst/>
          </a:prstGeom>
        </p:spPr>
      </p:pic>
    </p:spTree>
    <p:extLst>
      <p:ext uri="{BB962C8B-B14F-4D97-AF65-F5344CB8AC3E}">
        <p14:creationId xmlns:p14="http://schemas.microsoft.com/office/powerpoint/2010/main" val="2663981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Rectangle 3"/>
          <p:cNvSpPr>
            <a:spLocks noGrp="1" noChangeArrowheads="1"/>
          </p:cNvSpPr>
          <p:nvPr>
            <p:ph type="title"/>
          </p:nvPr>
        </p:nvSpPr>
        <p:spPr>
          <a:noFill/>
        </p:spPr>
        <p:txBody>
          <a:bodyPr/>
          <a:lstStyle/>
          <a:p>
            <a:pPr eaLnBrk="1" hangingPunct="1"/>
            <a:r>
              <a:rPr lang="en-US" altLang="en-US" dirty="0" err="1">
                <a:cs typeface="Times New Roman" panose="02020603050405020304" pitchFamily="18" charset="0"/>
              </a:rPr>
              <a:t>Các</a:t>
            </a:r>
            <a:r>
              <a:rPr lang="en-US" altLang="en-US" dirty="0">
                <a:cs typeface="Times New Roman" panose="02020603050405020304" pitchFamily="18" charset="0"/>
              </a:rPr>
              <a:t> </a:t>
            </a:r>
            <a:r>
              <a:rPr lang="en-US" altLang="en-US" dirty="0" err="1">
                <a:cs typeface="Times New Roman" panose="02020603050405020304" pitchFamily="18" charset="0"/>
              </a:rPr>
              <a:t>khái</a:t>
            </a:r>
            <a:r>
              <a:rPr lang="en-US" altLang="en-US" dirty="0">
                <a:cs typeface="Times New Roman" panose="02020603050405020304" pitchFamily="18" charset="0"/>
              </a:rPr>
              <a:t> </a:t>
            </a:r>
            <a:r>
              <a:rPr lang="en-US" altLang="en-US" dirty="0" err="1">
                <a:cs typeface="Times New Roman" panose="02020603050405020304" pitchFamily="18" charset="0"/>
              </a:rPr>
              <a:t>niệm</a:t>
            </a:r>
            <a:r>
              <a:rPr lang="en-US" altLang="en-US" dirty="0">
                <a:cs typeface="Times New Roman" panose="02020603050405020304" pitchFamily="18" charset="0"/>
              </a:rPr>
              <a:t> </a:t>
            </a:r>
            <a:r>
              <a:rPr lang="en-US" altLang="en-US" dirty="0" err="1">
                <a:cs typeface="Times New Roman" panose="02020603050405020304" pitchFamily="18" charset="0"/>
              </a:rPr>
              <a:t>cơ</a:t>
            </a:r>
            <a:r>
              <a:rPr lang="en-US" altLang="en-US" dirty="0">
                <a:cs typeface="Times New Roman" panose="02020603050405020304" pitchFamily="18" charset="0"/>
              </a:rPr>
              <a:t> </a:t>
            </a:r>
            <a:r>
              <a:rPr lang="en-US" altLang="en-US" dirty="0" err="1">
                <a:cs typeface="Times New Roman" panose="02020603050405020304" pitchFamily="18" charset="0"/>
              </a:rPr>
              <a:t>bản</a:t>
            </a:r>
            <a:r>
              <a:rPr lang="en-US" altLang="en-US" dirty="0"/>
              <a:t>  </a:t>
            </a:r>
          </a:p>
        </p:txBody>
      </p:sp>
      <p:sp>
        <p:nvSpPr>
          <p:cNvPr id="8196" name="Rectangle 2"/>
          <p:cNvSpPr>
            <a:spLocks noGrp="1" noChangeArrowheads="1"/>
          </p:cNvSpPr>
          <p:nvPr>
            <p:ph type="body" sz="quarter" idx="13"/>
          </p:nvPr>
        </p:nvSpPr>
        <p:spPr>
          <a:noFill/>
        </p:spPr>
        <p:txBody>
          <a:bodyPr/>
          <a:lstStyle/>
          <a:p>
            <a:pPr lvl="1" eaLnBrk="1" hangingPunct="1">
              <a:lnSpc>
                <a:spcPct val="90000"/>
              </a:lnSpc>
            </a:pPr>
            <a:r>
              <a:rPr lang="en-US" altLang="en-US" sz="2400" dirty="0" err="1">
                <a:cs typeface="Times New Roman" panose="02020603050405020304" pitchFamily="18" charset="0"/>
              </a:rPr>
              <a:t>Độ</a:t>
            </a:r>
            <a:r>
              <a:rPr lang="en-US" altLang="en-US" sz="2400" dirty="0">
                <a:cs typeface="Times New Roman" panose="02020603050405020304" pitchFamily="18" charset="0"/>
              </a:rPr>
              <a:t> </a:t>
            </a:r>
            <a:r>
              <a:rPr lang="en-US" altLang="en-US" sz="2400" dirty="0" err="1">
                <a:cs typeface="Times New Roman" panose="02020603050405020304" pitchFamily="18" charset="0"/>
              </a:rPr>
              <a:t>sâu</a:t>
            </a:r>
            <a:r>
              <a:rPr lang="en-US" altLang="en-US" sz="2400" dirty="0">
                <a:cs typeface="Times New Roman" panose="02020603050405020304" pitchFamily="18" charset="0"/>
              </a:rPr>
              <a:t> </a:t>
            </a:r>
            <a:r>
              <a:rPr lang="en-US" altLang="en-US" sz="2400" dirty="0" err="1">
                <a:cs typeface="Times New Roman" panose="02020603050405020304" pitchFamily="18" charset="0"/>
              </a:rPr>
              <a:t>của</a:t>
            </a:r>
            <a:r>
              <a:rPr lang="en-US" altLang="en-US" sz="2400" dirty="0">
                <a:cs typeface="Times New Roman" panose="02020603050405020304" pitchFamily="18" charset="0"/>
              </a:rPr>
              <a:t> </a:t>
            </a:r>
            <a:r>
              <a:rPr lang="en-US" altLang="en-US" sz="2400" dirty="0" err="1">
                <a:cs typeface="Times New Roman" panose="02020603050405020304" pitchFamily="18" charset="0"/>
              </a:rPr>
              <a:t>một</a:t>
            </a:r>
            <a:r>
              <a:rPr lang="en-US" altLang="en-US" sz="2400" dirty="0">
                <a:cs typeface="Times New Roman" panose="02020603050405020304" pitchFamily="18" charset="0"/>
              </a:rPr>
              <a:t> </a:t>
            </a:r>
            <a:r>
              <a:rPr lang="en-US" altLang="en-US" sz="2400" dirty="0" err="1">
                <a:cs typeface="Times New Roman" panose="02020603050405020304" pitchFamily="18" charset="0"/>
              </a:rPr>
              <a:t>nút</a:t>
            </a:r>
            <a:r>
              <a:rPr lang="en-US" altLang="en-US" sz="2400" dirty="0">
                <a:cs typeface="Times New Roman" panose="02020603050405020304" pitchFamily="18" charset="0"/>
              </a:rPr>
              <a:t> (depth)</a:t>
            </a:r>
          </a:p>
          <a:p>
            <a:pPr lvl="2">
              <a:lnSpc>
                <a:spcPct val="90000"/>
              </a:lnSpc>
            </a:pPr>
            <a:r>
              <a:rPr lang="en-US" sz="2000" dirty="0" err="1"/>
              <a:t>khoảng</a:t>
            </a:r>
            <a:r>
              <a:rPr lang="en-US" sz="2000" dirty="0"/>
              <a:t> </a:t>
            </a:r>
            <a:r>
              <a:rPr lang="en-US" sz="2000" dirty="0" err="1"/>
              <a:t>cách</a:t>
            </a:r>
            <a:r>
              <a:rPr lang="en-US" sz="2000" dirty="0"/>
              <a:t> </a:t>
            </a:r>
            <a:r>
              <a:rPr lang="en-US" sz="2000" dirty="0" err="1"/>
              <a:t>giữa</a:t>
            </a:r>
            <a:r>
              <a:rPr lang="en-US" sz="2000" dirty="0"/>
              <a:t> </a:t>
            </a:r>
            <a:r>
              <a:rPr lang="en-US" sz="2000" dirty="0" err="1"/>
              <a:t>nút</a:t>
            </a:r>
            <a:r>
              <a:rPr lang="en-US" sz="2000" dirty="0"/>
              <a:t> </a:t>
            </a:r>
            <a:r>
              <a:rPr lang="en-US" sz="2000" dirty="0" err="1"/>
              <a:t>và</a:t>
            </a:r>
            <a:r>
              <a:rPr lang="en-US" sz="2000" dirty="0"/>
              <a:t> </a:t>
            </a:r>
            <a:r>
              <a:rPr lang="en-US" sz="2000" dirty="0" err="1"/>
              <a:t>gốc</a:t>
            </a:r>
            <a:r>
              <a:rPr lang="en-US" sz="2000" dirty="0"/>
              <a:t> </a:t>
            </a:r>
            <a:r>
              <a:rPr lang="en-US" sz="2000" dirty="0" err="1"/>
              <a:t>của</a:t>
            </a:r>
            <a:r>
              <a:rPr lang="en-US" sz="2000" dirty="0"/>
              <a:t> </a:t>
            </a:r>
            <a:r>
              <a:rPr lang="en-US" sz="2000" dirty="0" err="1"/>
              <a:t>nó</a:t>
            </a:r>
            <a:r>
              <a:rPr lang="en-US" sz="2000" dirty="0"/>
              <a:t>. </a:t>
            </a:r>
            <a:r>
              <a:rPr lang="en-US" sz="2000" dirty="0" err="1"/>
              <a:t>Độ</a:t>
            </a:r>
            <a:r>
              <a:rPr lang="en-US" sz="2000" dirty="0"/>
              <a:t> </a:t>
            </a:r>
            <a:r>
              <a:rPr lang="en-US" sz="2000" dirty="0" err="1"/>
              <a:t>sâu</a:t>
            </a:r>
            <a:r>
              <a:rPr lang="en-US" sz="2000" dirty="0"/>
              <a:t> </a:t>
            </a:r>
            <a:r>
              <a:rPr lang="en-US" sz="2000" dirty="0" err="1"/>
              <a:t>nút</a:t>
            </a:r>
            <a:r>
              <a:rPr lang="en-US" sz="2000" dirty="0"/>
              <a:t> </a:t>
            </a:r>
            <a:r>
              <a:rPr lang="en-US" sz="2000" dirty="0" err="1"/>
              <a:t>gốc</a:t>
            </a:r>
            <a:r>
              <a:rPr lang="en-US" sz="2000" dirty="0"/>
              <a:t> = 0</a:t>
            </a:r>
          </a:p>
          <a:p>
            <a:pPr lvl="2">
              <a:lnSpc>
                <a:spcPct val="90000"/>
              </a:lnSpc>
            </a:pPr>
            <a:r>
              <a:rPr lang="en-US" altLang="en-US" sz="2000" dirty="0" err="1"/>
              <a:t>độ</a:t>
            </a:r>
            <a:r>
              <a:rPr lang="en-US" altLang="en-US" sz="2000" dirty="0"/>
              <a:t> </a:t>
            </a:r>
            <a:r>
              <a:rPr lang="en-US" altLang="en-US" sz="2000" dirty="0" err="1"/>
              <a:t>dài</a:t>
            </a:r>
            <a:r>
              <a:rPr lang="en-US" altLang="en-US" sz="2000" dirty="0"/>
              <a:t> </a:t>
            </a:r>
            <a:r>
              <a:rPr lang="en-US" altLang="en-US" sz="2000" dirty="0" err="1"/>
              <a:t>đường</a:t>
            </a:r>
            <a:r>
              <a:rPr lang="en-US" altLang="en-US" sz="2000" dirty="0"/>
              <a:t> </a:t>
            </a:r>
            <a:r>
              <a:rPr lang="en-US" altLang="en-US" sz="2000" dirty="0" err="1"/>
              <a:t>đi</a:t>
            </a:r>
            <a:r>
              <a:rPr lang="en-US" altLang="en-US" sz="2000" dirty="0"/>
              <a:t> </a:t>
            </a:r>
            <a:r>
              <a:rPr lang="en-US" altLang="en-US" sz="2000" dirty="0" err="1"/>
              <a:t>từ</a:t>
            </a:r>
            <a:r>
              <a:rPr lang="en-US" altLang="en-US" sz="2000" dirty="0"/>
              <a:t> </a:t>
            </a:r>
            <a:r>
              <a:rPr lang="en-US" altLang="en-US" sz="2000" dirty="0" err="1"/>
              <a:t>nút</a:t>
            </a:r>
            <a:r>
              <a:rPr lang="en-US" altLang="en-US" sz="2000" dirty="0"/>
              <a:t> </a:t>
            </a:r>
            <a:r>
              <a:rPr lang="en-US" altLang="en-US" sz="2000" dirty="0" err="1"/>
              <a:t>gốc</a:t>
            </a:r>
            <a:r>
              <a:rPr lang="en-US" altLang="en-US" sz="2000" dirty="0"/>
              <a:t> </a:t>
            </a:r>
            <a:r>
              <a:rPr lang="en-US" altLang="en-US" sz="2000" dirty="0" err="1"/>
              <a:t>tới</a:t>
            </a:r>
            <a:r>
              <a:rPr lang="en-US" altLang="en-US" sz="2000" dirty="0"/>
              <a:t> </a:t>
            </a:r>
            <a:r>
              <a:rPr lang="en-US" altLang="en-US" sz="2000" dirty="0" err="1"/>
              <a:t>nút</a:t>
            </a:r>
            <a:endParaRPr lang="en-US" altLang="en-US" sz="2000" dirty="0">
              <a:cs typeface="Times New Roman" panose="02020603050405020304" pitchFamily="18" charset="0"/>
            </a:endParaRPr>
          </a:p>
          <a:p>
            <a:pPr lvl="1">
              <a:lnSpc>
                <a:spcPct val="90000"/>
              </a:lnSpc>
            </a:pPr>
            <a:r>
              <a:rPr lang="en-US" altLang="en-US" sz="2400" dirty="0" err="1">
                <a:cs typeface="Times New Roman" panose="02020603050405020304" pitchFamily="18" charset="0"/>
              </a:rPr>
              <a:t>Chiều</a:t>
            </a:r>
            <a:r>
              <a:rPr lang="en-US" altLang="en-US" sz="2400" dirty="0">
                <a:cs typeface="Times New Roman" panose="02020603050405020304" pitchFamily="18" charset="0"/>
              </a:rPr>
              <a:t> </a:t>
            </a:r>
            <a:r>
              <a:rPr lang="en-US" altLang="en-US" sz="2400" dirty="0" err="1">
                <a:cs typeface="Times New Roman" panose="02020603050405020304" pitchFamily="18" charset="0"/>
              </a:rPr>
              <a:t>cao</a:t>
            </a:r>
            <a:r>
              <a:rPr lang="en-US" altLang="en-US" sz="2400" dirty="0">
                <a:cs typeface="Times New Roman" panose="02020603050405020304" pitchFamily="18" charset="0"/>
              </a:rPr>
              <a:t> </a:t>
            </a:r>
            <a:r>
              <a:rPr lang="en-US" altLang="en-US" sz="2400" dirty="0" err="1">
                <a:cs typeface="Times New Roman" panose="02020603050405020304" pitchFamily="18" charset="0"/>
              </a:rPr>
              <a:t>của</a:t>
            </a:r>
            <a:r>
              <a:rPr lang="en-US" altLang="en-US" sz="2400" dirty="0">
                <a:cs typeface="Times New Roman" panose="02020603050405020304" pitchFamily="18" charset="0"/>
              </a:rPr>
              <a:t> </a:t>
            </a:r>
            <a:r>
              <a:rPr lang="en-US" altLang="en-US" sz="2400" dirty="0" err="1">
                <a:cs typeface="Times New Roman" panose="02020603050405020304" pitchFamily="18" charset="0"/>
              </a:rPr>
              <a:t>một</a:t>
            </a:r>
            <a:r>
              <a:rPr lang="en-US" altLang="en-US" sz="2400" dirty="0">
                <a:cs typeface="Times New Roman" panose="02020603050405020304" pitchFamily="18" charset="0"/>
              </a:rPr>
              <a:t> </a:t>
            </a:r>
            <a:r>
              <a:rPr lang="en-US" altLang="en-US" sz="2400" dirty="0" err="1">
                <a:cs typeface="Times New Roman" panose="02020603050405020304" pitchFamily="18" charset="0"/>
              </a:rPr>
              <a:t>nút</a:t>
            </a:r>
            <a:r>
              <a:rPr lang="en-US" altLang="en-US" sz="2400" dirty="0">
                <a:cs typeface="Times New Roman" panose="02020603050405020304" pitchFamily="18" charset="0"/>
              </a:rPr>
              <a:t> (height)</a:t>
            </a:r>
          </a:p>
          <a:p>
            <a:pPr lvl="2">
              <a:lnSpc>
                <a:spcPct val="90000"/>
              </a:lnSpc>
            </a:pPr>
            <a:r>
              <a:rPr lang="en-US" altLang="en-US" sz="2000" dirty="0" err="1">
                <a:cs typeface="Times New Roman" panose="02020603050405020304" pitchFamily="18" charset="0"/>
              </a:rPr>
              <a:t>Độ</a:t>
            </a:r>
            <a:r>
              <a:rPr lang="en-US" altLang="en-US" sz="2000" dirty="0">
                <a:cs typeface="Times New Roman" panose="02020603050405020304" pitchFamily="18" charset="0"/>
              </a:rPr>
              <a:t> </a:t>
            </a:r>
            <a:r>
              <a:rPr lang="en-US" altLang="en-US" sz="2000" dirty="0" err="1">
                <a:cs typeface="Times New Roman" panose="02020603050405020304" pitchFamily="18" charset="0"/>
              </a:rPr>
              <a:t>dài</a:t>
            </a:r>
            <a:r>
              <a:rPr lang="en-US" altLang="en-US" sz="2000" dirty="0">
                <a:cs typeface="Times New Roman" panose="02020603050405020304" pitchFamily="18" charset="0"/>
              </a:rPr>
              <a:t> </a:t>
            </a:r>
            <a:r>
              <a:rPr lang="en-US" altLang="en-US" sz="2000" dirty="0" err="1">
                <a:cs typeface="Times New Roman" panose="02020603050405020304" pitchFamily="18" charset="0"/>
              </a:rPr>
              <a:t>đường</a:t>
            </a:r>
            <a:r>
              <a:rPr lang="en-US" altLang="en-US" sz="2000" dirty="0">
                <a:cs typeface="Times New Roman" panose="02020603050405020304" pitchFamily="18" charset="0"/>
              </a:rPr>
              <a:t> </a:t>
            </a:r>
            <a:r>
              <a:rPr lang="en-US" altLang="en-US" sz="2000" dirty="0" err="1">
                <a:cs typeface="Times New Roman" panose="02020603050405020304" pitchFamily="18" charset="0"/>
              </a:rPr>
              <a:t>đi</a:t>
            </a:r>
            <a:r>
              <a:rPr lang="en-US" altLang="en-US" sz="2000" dirty="0">
                <a:cs typeface="Times New Roman" panose="02020603050405020304" pitchFamily="18" charset="0"/>
              </a:rPr>
              <a:t> </a:t>
            </a:r>
            <a:r>
              <a:rPr lang="en-US" altLang="en-US" sz="2000" dirty="0" err="1">
                <a:cs typeface="Times New Roman" panose="02020603050405020304" pitchFamily="18" charset="0"/>
              </a:rPr>
              <a:t>từ</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tới</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lá</a:t>
            </a:r>
            <a:r>
              <a:rPr lang="en-US" altLang="en-US" sz="2000" dirty="0">
                <a:cs typeface="Times New Roman" panose="02020603050405020304" pitchFamily="18" charset="0"/>
              </a:rPr>
              <a:t> </a:t>
            </a:r>
            <a:r>
              <a:rPr lang="en-US" altLang="en-US" sz="2000" dirty="0" err="1">
                <a:cs typeface="Times New Roman" panose="02020603050405020304" pitchFamily="18" charset="0"/>
              </a:rPr>
              <a:t>sâu</a:t>
            </a:r>
            <a:r>
              <a:rPr lang="en-US" altLang="en-US" sz="2000" dirty="0">
                <a:cs typeface="Times New Roman" panose="02020603050405020304" pitchFamily="18" charset="0"/>
              </a:rPr>
              <a:t> </a:t>
            </a:r>
            <a:r>
              <a:rPr lang="en-US" altLang="en-US" sz="2000" dirty="0" err="1">
                <a:cs typeface="Times New Roman" panose="02020603050405020304" pitchFamily="18" charset="0"/>
              </a:rPr>
              <a:t>nhất</a:t>
            </a:r>
            <a:r>
              <a:rPr lang="en-US" altLang="en-US" sz="2000" dirty="0">
                <a:cs typeface="Times New Roman" panose="02020603050405020304" pitchFamily="18" charset="0"/>
              </a:rPr>
              <a:t>.</a:t>
            </a:r>
          </a:p>
          <a:p>
            <a:pPr lvl="1">
              <a:lnSpc>
                <a:spcPct val="90000"/>
              </a:lnSpc>
            </a:pPr>
            <a:r>
              <a:rPr lang="en-US" altLang="en-US" sz="2400" dirty="0" err="1">
                <a:cs typeface="Times New Roman" panose="02020603050405020304" pitchFamily="18" charset="0"/>
              </a:rPr>
              <a:t>Chiều</a:t>
            </a:r>
            <a:r>
              <a:rPr lang="en-US" altLang="en-US" sz="2400" dirty="0">
                <a:cs typeface="Times New Roman" panose="02020603050405020304" pitchFamily="18" charset="0"/>
              </a:rPr>
              <a:t> </a:t>
            </a:r>
            <a:r>
              <a:rPr lang="en-US" altLang="en-US" sz="2400" dirty="0" err="1">
                <a:cs typeface="Times New Roman" panose="02020603050405020304" pitchFamily="18" charset="0"/>
              </a:rPr>
              <a:t>cao</a:t>
            </a:r>
            <a:r>
              <a:rPr lang="en-US" altLang="en-US" sz="2400" dirty="0">
                <a:cs typeface="Times New Roman" panose="02020603050405020304" pitchFamily="18" charset="0"/>
              </a:rPr>
              <a:t> </a:t>
            </a:r>
            <a:r>
              <a:rPr lang="en-US" altLang="en-US" sz="2400" dirty="0" err="1">
                <a:cs typeface="Times New Roman" panose="02020603050405020304" pitchFamily="18" charset="0"/>
              </a:rPr>
              <a:t>của</a:t>
            </a:r>
            <a:r>
              <a:rPr lang="en-US" altLang="en-US" sz="2400" dirty="0">
                <a:cs typeface="Times New Roman" panose="02020603050405020304" pitchFamily="18" charset="0"/>
              </a:rPr>
              <a:t> </a:t>
            </a:r>
            <a:r>
              <a:rPr lang="en-US" altLang="en-US" sz="2400" dirty="0" err="1">
                <a:cs typeface="Times New Roman" panose="02020603050405020304" pitchFamily="18" charset="0"/>
              </a:rPr>
              <a:t>cây</a:t>
            </a:r>
            <a:r>
              <a:rPr lang="en-US" altLang="en-US" sz="2400" dirty="0">
                <a:cs typeface="Times New Roman" panose="02020603050405020304" pitchFamily="18" charset="0"/>
              </a:rPr>
              <a:t>: </a:t>
            </a:r>
            <a:r>
              <a:rPr lang="en-US" altLang="en-US" sz="2400" b="1" i="1" dirty="0">
                <a:cs typeface="Times New Roman" panose="02020603050405020304" pitchFamily="18" charset="0"/>
              </a:rPr>
              <a:t>h(T)</a:t>
            </a:r>
          </a:p>
          <a:p>
            <a:pPr lvl="2" eaLnBrk="1" hangingPunct="1">
              <a:lnSpc>
                <a:spcPct val="90000"/>
              </a:lnSpc>
            </a:pPr>
            <a:r>
              <a:rPr lang="en-US" altLang="en-US" sz="2000" dirty="0">
                <a:cs typeface="Times New Roman" panose="02020603050405020304" pitchFamily="18" charset="0"/>
              </a:rPr>
              <a:t>= </a:t>
            </a:r>
            <a:r>
              <a:rPr lang="en-US" altLang="en-US" sz="2000" dirty="0" err="1">
                <a:cs typeface="Times New Roman" panose="02020603050405020304" pitchFamily="18" charset="0"/>
              </a:rPr>
              <a:t>Chiều</a:t>
            </a:r>
            <a:r>
              <a:rPr lang="en-US" altLang="en-US" sz="2000" dirty="0">
                <a:cs typeface="Times New Roman" panose="02020603050405020304" pitchFamily="18" charset="0"/>
              </a:rPr>
              <a:t> </a:t>
            </a:r>
            <a:r>
              <a:rPr lang="en-US" altLang="en-US" sz="2000" dirty="0" err="1">
                <a:cs typeface="Times New Roman" panose="02020603050405020304" pitchFamily="18" charset="0"/>
              </a:rPr>
              <a:t>cao</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gốc</a:t>
            </a:r>
            <a:endParaRPr lang="en-US" altLang="en-US" sz="2000" dirty="0">
              <a:cs typeface="Times New Roman" panose="02020603050405020304" pitchFamily="18" charset="0"/>
            </a:endParaRPr>
          </a:p>
          <a:p>
            <a:pPr lvl="2">
              <a:lnSpc>
                <a:spcPct val="90000"/>
              </a:lnSpc>
            </a:pPr>
            <a:endParaRPr lang="en-US" altLang="en-US" sz="2100" dirty="0">
              <a:cs typeface="Times New Roman" panose="02020603050405020304" pitchFamily="18" charset="0"/>
            </a:endParaRPr>
          </a:p>
          <a:p>
            <a:pPr lvl="2" eaLnBrk="1" hangingPunct="1">
              <a:lnSpc>
                <a:spcPct val="90000"/>
              </a:lnSpc>
            </a:pPr>
            <a:endParaRPr lang="en-US" altLang="en-US" sz="2400" dirty="0">
              <a:cs typeface="Times New Roman" panose="02020603050405020304" pitchFamily="18" charset="0"/>
            </a:endParaRPr>
          </a:p>
        </p:txBody>
      </p:sp>
      <p:pic>
        <p:nvPicPr>
          <p:cNvPr id="5" name="Picture 4"/>
          <p:cNvPicPr>
            <a:picLocks noChangeAspect="1"/>
          </p:cNvPicPr>
          <p:nvPr/>
        </p:nvPicPr>
        <p:blipFill>
          <a:blip r:embed="rId3"/>
          <a:stretch>
            <a:fillRect/>
          </a:stretch>
        </p:blipFill>
        <p:spPr>
          <a:xfrm>
            <a:off x="1371600" y="3505200"/>
            <a:ext cx="6529208" cy="2947416"/>
          </a:xfrm>
          <a:prstGeom prst="rect">
            <a:avLst/>
          </a:prstGeom>
        </p:spPr>
      </p:pic>
    </p:spTree>
    <p:extLst>
      <p:ext uri="{BB962C8B-B14F-4D97-AF65-F5344CB8AC3E}">
        <p14:creationId xmlns:p14="http://schemas.microsoft.com/office/powerpoint/2010/main" val="1804283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6">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196">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196">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Rectangle 3"/>
          <p:cNvSpPr>
            <a:spLocks noGrp="1" noChangeArrowheads="1"/>
          </p:cNvSpPr>
          <p:nvPr>
            <p:ph type="title"/>
          </p:nvPr>
        </p:nvSpPr>
        <p:spPr>
          <a:noFill/>
        </p:spPr>
        <p:txBody>
          <a:bodyPr/>
          <a:lstStyle/>
          <a:p>
            <a:pPr eaLnBrk="1" hangingPunct="1"/>
            <a:r>
              <a:rPr lang="en-US" altLang="en-US" dirty="0" err="1">
                <a:cs typeface="Times New Roman" panose="02020603050405020304" pitchFamily="18" charset="0"/>
              </a:rPr>
              <a:t>Các</a:t>
            </a:r>
            <a:r>
              <a:rPr lang="en-US" altLang="en-US" dirty="0">
                <a:cs typeface="Times New Roman" panose="02020603050405020304" pitchFamily="18" charset="0"/>
              </a:rPr>
              <a:t> </a:t>
            </a:r>
            <a:r>
              <a:rPr lang="en-US" altLang="en-US" dirty="0" err="1">
                <a:cs typeface="Times New Roman" panose="02020603050405020304" pitchFamily="18" charset="0"/>
              </a:rPr>
              <a:t>khái</a:t>
            </a:r>
            <a:r>
              <a:rPr lang="en-US" altLang="en-US" dirty="0">
                <a:cs typeface="Times New Roman" panose="02020603050405020304" pitchFamily="18" charset="0"/>
              </a:rPr>
              <a:t> </a:t>
            </a:r>
            <a:r>
              <a:rPr lang="en-US" altLang="en-US" dirty="0" err="1">
                <a:cs typeface="Times New Roman" panose="02020603050405020304" pitchFamily="18" charset="0"/>
              </a:rPr>
              <a:t>niệm</a:t>
            </a:r>
            <a:r>
              <a:rPr lang="en-US" altLang="en-US" dirty="0">
                <a:cs typeface="Times New Roman" panose="02020603050405020304" pitchFamily="18" charset="0"/>
              </a:rPr>
              <a:t> </a:t>
            </a:r>
            <a:r>
              <a:rPr lang="en-US" altLang="en-US" dirty="0" err="1">
                <a:cs typeface="Times New Roman" panose="02020603050405020304" pitchFamily="18" charset="0"/>
              </a:rPr>
              <a:t>cơ</a:t>
            </a:r>
            <a:r>
              <a:rPr lang="en-US" altLang="en-US" dirty="0">
                <a:cs typeface="Times New Roman" panose="02020603050405020304" pitchFamily="18" charset="0"/>
              </a:rPr>
              <a:t> </a:t>
            </a:r>
            <a:r>
              <a:rPr lang="en-US" altLang="en-US" dirty="0" err="1">
                <a:cs typeface="Times New Roman" panose="02020603050405020304" pitchFamily="18" charset="0"/>
              </a:rPr>
              <a:t>bản</a:t>
            </a:r>
            <a:r>
              <a:rPr lang="en-US" altLang="en-US" dirty="0"/>
              <a:t>  </a:t>
            </a:r>
          </a:p>
        </p:txBody>
      </p:sp>
      <p:sp>
        <p:nvSpPr>
          <p:cNvPr id="9220" name="Rectangle 2"/>
          <p:cNvSpPr>
            <a:spLocks noGrp="1" noChangeArrowheads="1"/>
          </p:cNvSpPr>
          <p:nvPr>
            <p:ph type="body" sz="quarter" idx="13"/>
          </p:nvPr>
        </p:nvSpPr>
        <p:spPr>
          <a:noFill/>
        </p:spPr>
        <p:txBody>
          <a:bodyPr>
            <a:normAutofit/>
          </a:bodyPr>
          <a:lstStyle/>
          <a:p>
            <a:r>
              <a:rPr lang="en-US" altLang="en-US" sz="2400" dirty="0" err="1">
                <a:cs typeface="Times New Roman" panose="02020603050405020304" pitchFamily="18" charset="0"/>
              </a:rPr>
              <a:t>Cây</a:t>
            </a:r>
            <a:r>
              <a:rPr lang="en-US" altLang="en-US" sz="2400" dirty="0">
                <a:cs typeface="Times New Roman" panose="02020603050405020304" pitchFamily="18" charset="0"/>
              </a:rPr>
              <a:t> con</a:t>
            </a:r>
          </a:p>
          <a:p>
            <a:r>
              <a:rPr lang="en-US" altLang="en-US" sz="2400" dirty="0" err="1">
                <a:cs typeface="Times New Roman" panose="02020603050405020304" pitchFamily="18" charset="0"/>
              </a:rPr>
              <a:t>Cây</a:t>
            </a:r>
            <a:r>
              <a:rPr lang="en-US" altLang="en-US" sz="2400" dirty="0">
                <a:cs typeface="Times New Roman" panose="02020603050405020304" pitchFamily="18" charset="0"/>
              </a:rPr>
              <a:t> </a:t>
            </a:r>
            <a:r>
              <a:rPr lang="en-US" altLang="en-US" sz="2400" dirty="0" err="1">
                <a:cs typeface="Times New Roman" panose="02020603050405020304" pitchFamily="18" charset="0"/>
              </a:rPr>
              <a:t>được</a:t>
            </a:r>
            <a:r>
              <a:rPr lang="en-US" altLang="en-US" sz="2400" dirty="0">
                <a:cs typeface="Times New Roman" panose="02020603050405020304" pitchFamily="18" charset="0"/>
              </a:rPr>
              <a:t> </a:t>
            </a:r>
            <a:r>
              <a:rPr lang="en-US" altLang="en-US" sz="2400" dirty="0" err="1">
                <a:cs typeface="Times New Roman" panose="02020603050405020304" pitchFamily="18" charset="0"/>
              </a:rPr>
              <a:t>sắp</a:t>
            </a:r>
            <a:r>
              <a:rPr lang="en-US" altLang="en-US" sz="2400" dirty="0">
                <a:cs typeface="Times New Roman" panose="02020603050405020304" pitchFamily="18" charset="0"/>
              </a:rPr>
              <a:t> (</a:t>
            </a:r>
            <a:r>
              <a:rPr lang="en-US" altLang="en-US" sz="2400" dirty="0" err="1">
                <a:cs typeface="Times New Roman" panose="02020603050405020304" pitchFamily="18" charset="0"/>
              </a:rPr>
              <a:t>có</a:t>
            </a:r>
            <a:r>
              <a:rPr lang="en-US" altLang="en-US" sz="2400" dirty="0">
                <a:cs typeface="Times New Roman" panose="02020603050405020304" pitchFamily="18" charset="0"/>
              </a:rPr>
              <a:t> </a:t>
            </a:r>
            <a:r>
              <a:rPr lang="en-US" altLang="en-US" sz="2400" dirty="0" err="1">
                <a:cs typeface="Times New Roman" panose="02020603050405020304" pitchFamily="18" charset="0"/>
              </a:rPr>
              <a:t>thứ</a:t>
            </a:r>
            <a:r>
              <a:rPr lang="en-US" altLang="en-US" sz="2400" dirty="0">
                <a:cs typeface="Times New Roman" panose="02020603050405020304" pitchFamily="18" charset="0"/>
              </a:rPr>
              <a:t> </a:t>
            </a:r>
            <a:r>
              <a:rPr lang="en-US" altLang="en-US" sz="2400" dirty="0" err="1">
                <a:cs typeface="Times New Roman" panose="02020603050405020304" pitchFamily="18" charset="0"/>
              </a:rPr>
              <a:t>tự</a:t>
            </a:r>
            <a:r>
              <a:rPr lang="en-US" altLang="en-US" sz="2400" dirty="0">
                <a:cs typeface="Times New Roman" panose="02020603050405020304" pitchFamily="18" charset="0"/>
              </a:rPr>
              <a:t> - ordered tree)</a:t>
            </a:r>
          </a:p>
          <a:p>
            <a:pPr lvl="1"/>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thứ</a:t>
            </a:r>
            <a:r>
              <a:rPr lang="en-US" altLang="en-US" sz="2000" dirty="0">
                <a:cs typeface="Times New Roman" panose="02020603050405020304" pitchFamily="18" charset="0"/>
              </a:rPr>
              <a:t> </a:t>
            </a:r>
            <a:r>
              <a:rPr lang="en-US" altLang="en-US" sz="2000" dirty="0" err="1">
                <a:cs typeface="Times New Roman" panose="02020603050405020304" pitchFamily="18" charset="0"/>
              </a:rPr>
              <a:t>tự</a:t>
            </a:r>
            <a:r>
              <a:rPr lang="en-US" altLang="en-US" sz="2000" dirty="0">
                <a:cs typeface="Times New Roman" panose="02020603050405020304" pitchFamily="18" charset="0"/>
              </a:rPr>
              <a:t> (ordered tree):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trật</a:t>
            </a:r>
            <a:r>
              <a:rPr lang="en-US" altLang="en-US" sz="2000" dirty="0">
                <a:cs typeface="Times New Roman" panose="02020603050405020304" pitchFamily="18" charset="0"/>
              </a:rPr>
              <a:t> </a:t>
            </a:r>
            <a:r>
              <a:rPr lang="en-US" altLang="en-US" sz="2000" dirty="0" err="1">
                <a:cs typeface="Times New Roman" panose="02020603050405020304" pitchFamily="18" charset="0"/>
              </a:rPr>
              <a:t>tự</a:t>
            </a:r>
            <a:r>
              <a:rPr lang="en-US" altLang="en-US" sz="2000" dirty="0">
                <a:cs typeface="Times New Roman" panose="02020603050405020304" pitchFamily="18" charset="0"/>
              </a:rPr>
              <a:t> </a:t>
            </a:r>
            <a:r>
              <a:rPr lang="en-US" altLang="en-US" sz="2000" dirty="0" err="1">
                <a:cs typeface="Times New Roman" panose="02020603050405020304" pitchFamily="18" charset="0"/>
              </a:rPr>
              <a:t>tuyến</a:t>
            </a:r>
            <a:r>
              <a:rPr lang="en-US" altLang="en-US" sz="2000" dirty="0">
                <a:cs typeface="Times New Roman" panose="02020603050405020304" pitchFamily="18" charset="0"/>
              </a:rPr>
              <a:t> </a:t>
            </a:r>
            <a:r>
              <a:rPr lang="en-US" altLang="en-US" sz="2000" dirty="0" err="1">
                <a:cs typeface="Times New Roman" panose="02020603050405020304" pitchFamily="18" charset="0"/>
              </a:rPr>
              <a:t>tính</a:t>
            </a:r>
            <a:r>
              <a:rPr lang="en-US" altLang="en-US" sz="2000" dirty="0">
                <a:cs typeface="Times New Roman" panose="02020603050405020304" pitchFamily="18" charset="0"/>
              </a:rPr>
              <a:t> </a:t>
            </a:r>
            <a:r>
              <a:rPr lang="en-US" altLang="en-US" sz="2000" dirty="0" err="1">
                <a:cs typeface="Times New Roman" panose="02020603050405020304" pitchFamily="18" charset="0"/>
              </a:rPr>
              <a:t>giữa</a:t>
            </a:r>
            <a:r>
              <a:rPr lang="en-US" altLang="en-US" sz="2000" dirty="0">
                <a:cs typeface="Times New Roman" panose="02020603050405020304" pitchFamily="18" charset="0"/>
              </a:rPr>
              <a:t> </a:t>
            </a: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con</a:t>
            </a:r>
          </a:p>
          <a:p>
            <a:pPr lvl="1"/>
            <a:r>
              <a:rPr lang="en-US" altLang="en-US" sz="2000" dirty="0" err="1">
                <a:cs typeface="Times New Roman" panose="02020603050405020304" pitchFamily="18" charset="0"/>
              </a:rPr>
              <a:t>Không</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thứ</a:t>
            </a:r>
            <a:r>
              <a:rPr lang="en-US" altLang="en-US" sz="2000" dirty="0">
                <a:cs typeface="Times New Roman" panose="02020603050405020304" pitchFamily="18" charset="0"/>
              </a:rPr>
              <a:t> </a:t>
            </a:r>
            <a:r>
              <a:rPr lang="en-US" altLang="en-US" sz="2000" dirty="0" err="1">
                <a:cs typeface="Times New Roman" panose="02020603050405020304" pitchFamily="18" charset="0"/>
              </a:rPr>
              <a:t>tự</a:t>
            </a:r>
            <a:r>
              <a:rPr lang="en-US" altLang="en-US" sz="2000" dirty="0">
                <a:cs typeface="Times New Roman" panose="02020603050405020304" pitchFamily="18" charset="0"/>
              </a:rPr>
              <a:t> (unordered tree): </a:t>
            </a:r>
            <a:r>
              <a:rPr lang="en-US" altLang="en-US" sz="2000" dirty="0" err="1">
                <a:cs typeface="Times New Roman" panose="02020603050405020304" pitchFamily="18" charset="0"/>
              </a:rPr>
              <a:t>không</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trật</a:t>
            </a:r>
            <a:r>
              <a:rPr lang="en-US" altLang="en-US" sz="2000" dirty="0">
                <a:cs typeface="Times New Roman" panose="02020603050405020304" pitchFamily="18" charset="0"/>
              </a:rPr>
              <a:t> </a:t>
            </a:r>
            <a:r>
              <a:rPr lang="en-US" altLang="en-US" sz="2000" dirty="0" err="1">
                <a:cs typeface="Times New Roman" panose="02020603050405020304" pitchFamily="18" charset="0"/>
              </a:rPr>
              <a:t>tự</a:t>
            </a:r>
            <a:r>
              <a:rPr lang="en-US" altLang="en-US" sz="2000" dirty="0">
                <a:cs typeface="Times New Roman" panose="02020603050405020304" pitchFamily="18" charset="0"/>
              </a:rPr>
              <a:t> </a:t>
            </a:r>
            <a:r>
              <a:rPr lang="en-US" altLang="en-US" sz="2000" dirty="0" err="1">
                <a:cs typeface="Times New Roman" panose="02020603050405020304" pitchFamily="18" charset="0"/>
              </a:rPr>
              <a:t>tuyến</a:t>
            </a:r>
            <a:r>
              <a:rPr lang="en-US" altLang="en-US" sz="2000" dirty="0">
                <a:cs typeface="Times New Roman" panose="02020603050405020304" pitchFamily="18" charset="0"/>
              </a:rPr>
              <a:t> </a:t>
            </a:r>
            <a:r>
              <a:rPr lang="en-US" altLang="en-US" sz="2000" dirty="0" err="1">
                <a:cs typeface="Times New Roman" panose="02020603050405020304" pitchFamily="18" charset="0"/>
              </a:rPr>
              <a:t>tính</a:t>
            </a:r>
            <a:endParaRPr lang="en-US" altLang="en-US" sz="2000" dirty="0">
              <a:cs typeface="Times New Roman" panose="02020603050405020304" pitchFamily="18" charset="0"/>
            </a:endParaRPr>
          </a:p>
          <a:p>
            <a:r>
              <a:rPr lang="en-US" altLang="en-US" sz="2400" dirty="0" err="1">
                <a:cs typeface="Times New Roman" panose="02020603050405020304" pitchFamily="18" charset="0"/>
              </a:rPr>
              <a:t>Rừng</a:t>
            </a:r>
            <a:r>
              <a:rPr lang="en-US" altLang="en-US" sz="2400" dirty="0">
                <a:cs typeface="Times New Roman" panose="02020603050405020304" pitchFamily="18" charset="0"/>
              </a:rPr>
              <a:t> (forest)</a:t>
            </a:r>
          </a:p>
          <a:p>
            <a:pPr lvl="1"/>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cấu</a:t>
            </a:r>
            <a:r>
              <a:rPr lang="en-US" altLang="en-US" sz="2000" dirty="0">
                <a:cs typeface="Times New Roman" panose="02020603050405020304" pitchFamily="18" charset="0"/>
              </a:rPr>
              <a:t> </a:t>
            </a:r>
            <a:r>
              <a:rPr lang="en-US" altLang="en-US" sz="2000" dirty="0" err="1">
                <a:cs typeface="Times New Roman" panose="02020603050405020304" pitchFamily="18" charset="0"/>
              </a:rPr>
              <a:t>trúc</a:t>
            </a:r>
            <a:r>
              <a:rPr lang="en-US" altLang="en-US" sz="2000" dirty="0">
                <a:cs typeface="Times New Roman" panose="02020603050405020304" pitchFamily="18" charset="0"/>
              </a:rPr>
              <a:t> </a:t>
            </a:r>
            <a:r>
              <a:rPr lang="en-US" altLang="en-US" sz="2000" dirty="0" err="1">
                <a:cs typeface="Times New Roman" panose="02020603050405020304" pitchFamily="18" charset="0"/>
              </a:rPr>
              <a:t>bao</a:t>
            </a:r>
            <a:r>
              <a:rPr lang="en-US" altLang="en-US" sz="2000" dirty="0">
                <a:cs typeface="Times New Roman" panose="02020603050405020304" pitchFamily="18" charset="0"/>
              </a:rPr>
              <a:t> </a:t>
            </a:r>
            <a:r>
              <a:rPr lang="en-US" altLang="en-US" sz="2000" dirty="0" err="1">
                <a:cs typeface="Times New Roman" panose="02020603050405020304" pitchFamily="18" charset="0"/>
              </a:rPr>
              <a:t>gồm</a:t>
            </a:r>
            <a:r>
              <a:rPr lang="en-US" altLang="en-US" sz="2000" dirty="0">
                <a:cs typeface="Times New Roman" panose="02020603050405020304" pitchFamily="18" charset="0"/>
              </a:rPr>
              <a:t> </a:t>
            </a:r>
            <a:r>
              <a:rPr lang="en-US" altLang="en-US" sz="2000" dirty="0" err="1">
                <a:cs typeface="Times New Roman" panose="02020603050405020304" pitchFamily="18" charset="0"/>
              </a:rPr>
              <a:t>nhiều</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p>
          <a:p>
            <a:pPr lvl="1"/>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thể</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rừng</a:t>
            </a:r>
            <a:r>
              <a:rPr lang="en-US" altLang="en-US" sz="2000" dirty="0">
                <a:cs typeface="Times New Roman" panose="02020603050405020304" pitchFamily="18" charset="0"/>
              </a:rPr>
              <a:t> </a:t>
            </a:r>
            <a:r>
              <a:rPr lang="en-US" altLang="en-US" sz="2000" dirty="0" err="1">
                <a:cs typeface="Times New Roman" panose="02020603050405020304" pitchFamily="18" charset="0"/>
              </a:rPr>
              <a:t>rỗng</a:t>
            </a:r>
            <a:endParaRPr lang="en-US" altLang="en-US" sz="2000" dirty="0">
              <a:cs typeface="Times New Roman" panose="02020603050405020304" pitchFamily="18" charset="0"/>
            </a:endParaRPr>
          </a:p>
        </p:txBody>
      </p:sp>
      <p:grpSp>
        <p:nvGrpSpPr>
          <p:cNvPr id="9222" name="Group 4"/>
          <p:cNvGrpSpPr>
            <a:grpSpLocks/>
          </p:cNvGrpSpPr>
          <p:nvPr/>
        </p:nvGrpSpPr>
        <p:grpSpPr bwMode="auto">
          <a:xfrm>
            <a:off x="4648200" y="2743200"/>
            <a:ext cx="3276600" cy="3352800"/>
            <a:chOff x="3456" y="1536"/>
            <a:chExt cx="2064" cy="2112"/>
          </a:xfrm>
        </p:grpSpPr>
        <p:sp>
          <p:nvSpPr>
            <p:cNvPr id="9223" name="Oval 5"/>
            <p:cNvSpPr>
              <a:spLocks noChangeArrowheads="1"/>
            </p:cNvSpPr>
            <p:nvPr/>
          </p:nvSpPr>
          <p:spPr bwMode="auto">
            <a:xfrm>
              <a:off x="4672" y="1536"/>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1</a:t>
              </a:r>
            </a:p>
          </p:txBody>
        </p:sp>
        <p:sp>
          <p:nvSpPr>
            <p:cNvPr id="9224" name="Oval 6"/>
            <p:cNvSpPr>
              <a:spLocks noChangeArrowheads="1"/>
            </p:cNvSpPr>
            <p:nvPr/>
          </p:nvSpPr>
          <p:spPr bwMode="auto">
            <a:xfrm>
              <a:off x="5250" y="2256"/>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7</a:t>
              </a:r>
            </a:p>
          </p:txBody>
        </p:sp>
        <p:sp>
          <p:nvSpPr>
            <p:cNvPr id="9225" name="Oval 7"/>
            <p:cNvSpPr>
              <a:spLocks noChangeArrowheads="1"/>
            </p:cNvSpPr>
            <p:nvPr/>
          </p:nvSpPr>
          <p:spPr bwMode="auto">
            <a:xfrm>
              <a:off x="4132" y="2208"/>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2</a:t>
              </a:r>
            </a:p>
          </p:txBody>
        </p:sp>
        <p:sp>
          <p:nvSpPr>
            <p:cNvPr id="9226" name="Oval 8"/>
            <p:cNvSpPr>
              <a:spLocks noChangeArrowheads="1"/>
            </p:cNvSpPr>
            <p:nvPr/>
          </p:nvSpPr>
          <p:spPr bwMode="auto">
            <a:xfrm>
              <a:off x="3631" y="292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3</a:t>
              </a:r>
            </a:p>
          </p:txBody>
        </p:sp>
        <p:sp>
          <p:nvSpPr>
            <p:cNvPr id="9227" name="Oval 9"/>
            <p:cNvSpPr>
              <a:spLocks noChangeArrowheads="1"/>
            </p:cNvSpPr>
            <p:nvPr/>
          </p:nvSpPr>
          <p:spPr bwMode="auto">
            <a:xfrm>
              <a:off x="4556" y="2928"/>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5</a:t>
              </a:r>
            </a:p>
          </p:txBody>
        </p:sp>
        <p:sp>
          <p:nvSpPr>
            <p:cNvPr id="9228" name="Oval 10"/>
            <p:cNvSpPr>
              <a:spLocks noChangeArrowheads="1"/>
            </p:cNvSpPr>
            <p:nvPr/>
          </p:nvSpPr>
          <p:spPr bwMode="auto">
            <a:xfrm>
              <a:off x="4094" y="292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4</a:t>
              </a:r>
            </a:p>
          </p:txBody>
        </p:sp>
        <p:sp>
          <p:nvSpPr>
            <p:cNvPr id="9229" name="Oval 11"/>
            <p:cNvSpPr>
              <a:spLocks noChangeArrowheads="1"/>
            </p:cNvSpPr>
            <p:nvPr/>
          </p:nvSpPr>
          <p:spPr bwMode="auto">
            <a:xfrm>
              <a:off x="5289" y="2880"/>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6</a:t>
              </a:r>
            </a:p>
          </p:txBody>
        </p:sp>
        <p:sp>
          <p:nvSpPr>
            <p:cNvPr id="9230" name="Oval 12"/>
            <p:cNvSpPr>
              <a:spLocks noChangeArrowheads="1"/>
            </p:cNvSpPr>
            <p:nvPr/>
          </p:nvSpPr>
          <p:spPr bwMode="auto">
            <a:xfrm>
              <a:off x="5289" y="340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8</a:t>
              </a:r>
            </a:p>
          </p:txBody>
        </p:sp>
        <p:sp>
          <p:nvSpPr>
            <p:cNvPr id="9231" name="Line 13"/>
            <p:cNvSpPr>
              <a:spLocks noChangeShapeType="1"/>
            </p:cNvSpPr>
            <p:nvPr/>
          </p:nvSpPr>
          <p:spPr bwMode="auto">
            <a:xfrm flipH="1">
              <a:off x="4325" y="1728"/>
              <a:ext cx="347"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2" name="Line 14"/>
            <p:cNvSpPr>
              <a:spLocks noChangeShapeType="1"/>
            </p:cNvSpPr>
            <p:nvPr/>
          </p:nvSpPr>
          <p:spPr bwMode="auto">
            <a:xfrm flipH="1">
              <a:off x="3785" y="2448"/>
              <a:ext cx="386"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3" name="Line 15"/>
            <p:cNvSpPr>
              <a:spLocks noChangeShapeType="1"/>
            </p:cNvSpPr>
            <p:nvPr/>
          </p:nvSpPr>
          <p:spPr bwMode="auto">
            <a:xfrm flipH="1">
              <a:off x="4209" y="2448"/>
              <a:ext cx="39"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4" name="Line 16"/>
            <p:cNvSpPr>
              <a:spLocks noChangeShapeType="1"/>
            </p:cNvSpPr>
            <p:nvPr/>
          </p:nvSpPr>
          <p:spPr bwMode="auto">
            <a:xfrm>
              <a:off x="4325" y="2448"/>
              <a:ext cx="30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5" name="Line 17"/>
            <p:cNvSpPr>
              <a:spLocks noChangeShapeType="1"/>
            </p:cNvSpPr>
            <p:nvPr/>
          </p:nvSpPr>
          <p:spPr bwMode="auto">
            <a:xfrm>
              <a:off x="4865" y="1728"/>
              <a:ext cx="424"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6" name="Line 18"/>
            <p:cNvSpPr>
              <a:spLocks noChangeShapeType="1"/>
            </p:cNvSpPr>
            <p:nvPr/>
          </p:nvSpPr>
          <p:spPr bwMode="auto">
            <a:xfrm>
              <a:off x="5366" y="2496"/>
              <a:ext cx="39"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7" name="Line 19"/>
            <p:cNvSpPr>
              <a:spLocks noChangeShapeType="1"/>
            </p:cNvSpPr>
            <p:nvPr/>
          </p:nvSpPr>
          <p:spPr bwMode="auto">
            <a:xfrm>
              <a:off x="5405" y="312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8" name="Oval 20"/>
            <p:cNvSpPr>
              <a:spLocks noChangeArrowheads="1"/>
            </p:cNvSpPr>
            <p:nvPr/>
          </p:nvSpPr>
          <p:spPr bwMode="auto">
            <a:xfrm>
              <a:off x="3456" y="2016"/>
              <a:ext cx="1584" cy="148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spTree>
    <p:extLst>
      <p:ext uri="{BB962C8B-B14F-4D97-AF65-F5344CB8AC3E}">
        <p14:creationId xmlns:p14="http://schemas.microsoft.com/office/powerpoint/2010/main" val="1357897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0">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220">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22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Rectangle 3"/>
          <p:cNvSpPr>
            <a:spLocks noGrp="1" noChangeArrowheads="1"/>
          </p:cNvSpPr>
          <p:nvPr>
            <p:ph type="title"/>
          </p:nvPr>
        </p:nvSpPr>
        <p:spPr>
          <a:noFill/>
        </p:spPr>
        <p:txBody>
          <a:bodyPr/>
          <a:lstStyle/>
          <a:p>
            <a:pPr eaLnBrk="1" hangingPunct="1"/>
            <a:r>
              <a:rPr lang="en-US" altLang="en-US" dirty="0" err="1"/>
              <a:t>Các</a:t>
            </a:r>
            <a:r>
              <a:rPr lang="en-US" altLang="en-US" dirty="0"/>
              <a:t> </a:t>
            </a:r>
            <a:r>
              <a:rPr lang="en-US" altLang="en-US" dirty="0" err="1"/>
              <a:t>tính</a:t>
            </a:r>
            <a:r>
              <a:rPr lang="en-US" altLang="en-US" dirty="0"/>
              <a:t> </a:t>
            </a:r>
            <a:r>
              <a:rPr lang="en-US" altLang="en-US" dirty="0" err="1"/>
              <a:t>chất</a:t>
            </a:r>
            <a:r>
              <a:rPr lang="en-US" altLang="en-US" dirty="0"/>
              <a:t> </a:t>
            </a:r>
            <a:r>
              <a:rPr lang="en-US" altLang="en-US" dirty="0" err="1"/>
              <a:t>cơ</a:t>
            </a:r>
            <a:r>
              <a:rPr lang="en-US" altLang="en-US" dirty="0"/>
              <a:t> </a:t>
            </a:r>
            <a:r>
              <a:rPr lang="en-US" altLang="en-US" dirty="0" err="1"/>
              <a:t>bản</a:t>
            </a:r>
            <a:endParaRPr lang="en-US" altLang="en-US" dirty="0"/>
          </a:p>
        </p:txBody>
      </p:sp>
      <p:sp>
        <p:nvSpPr>
          <p:cNvPr id="10244" name="Rectangle 2"/>
          <p:cNvSpPr>
            <a:spLocks noGrp="1" noChangeArrowheads="1"/>
          </p:cNvSpPr>
          <p:nvPr>
            <p:ph type="body" sz="quarter" idx="13"/>
          </p:nvPr>
        </p:nvSpPr>
        <p:spPr>
          <a:noFill/>
        </p:spPr>
        <p:txBody>
          <a:bodyPr/>
          <a:lstStyle/>
          <a:p>
            <a:r>
              <a:rPr lang="en-US" altLang="en-US" sz="2400" dirty="0" err="1">
                <a:cs typeface="Times New Roman" panose="02020603050405020304" pitchFamily="18" charset="0"/>
              </a:rPr>
              <a:t>Số</a:t>
            </a:r>
            <a:r>
              <a:rPr lang="en-US" altLang="en-US" sz="2400" dirty="0">
                <a:cs typeface="Times New Roman" panose="02020603050405020304" pitchFamily="18" charset="0"/>
              </a:rPr>
              <a:t> </a:t>
            </a:r>
            <a:r>
              <a:rPr lang="en-US" altLang="en-US" sz="2400" dirty="0" err="1">
                <a:cs typeface="Times New Roman" panose="02020603050405020304" pitchFamily="18" charset="0"/>
              </a:rPr>
              <a:t>nút</a:t>
            </a:r>
            <a:r>
              <a:rPr lang="en-US" altLang="en-US" sz="2400" dirty="0">
                <a:cs typeface="Times New Roman" panose="02020603050405020304" pitchFamily="18" charset="0"/>
              </a:rPr>
              <a:t> </a:t>
            </a:r>
            <a:r>
              <a:rPr lang="en-US" altLang="en-US" sz="2400" dirty="0" err="1">
                <a:cs typeface="Times New Roman" panose="02020603050405020304" pitchFamily="18" charset="0"/>
              </a:rPr>
              <a:t>của</a:t>
            </a:r>
            <a:r>
              <a:rPr lang="en-US" altLang="en-US" sz="2400" dirty="0">
                <a:cs typeface="Times New Roman" panose="02020603050405020304" pitchFamily="18" charset="0"/>
              </a:rPr>
              <a:t> </a:t>
            </a:r>
            <a:r>
              <a:rPr lang="en-US" altLang="en-US" sz="2400" dirty="0" err="1">
                <a:cs typeface="Times New Roman" panose="02020603050405020304" pitchFamily="18" charset="0"/>
              </a:rPr>
              <a:t>cây</a:t>
            </a:r>
            <a:r>
              <a:rPr lang="en-US" altLang="en-US" sz="2400" dirty="0">
                <a:cs typeface="Times New Roman" panose="02020603050405020304" pitchFamily="18" charset="0"/>
              </a:rPr>
              <a:t> </a:t>
            </a:r>
            <a:r>
              <a:rPr lang="en-US" altLang="en-US" sz="2400" dirty="0" err="1">
                <a:cs typeface="Times New Roman" panose="02020603050405020304" pitchFamily="18" charset="0"/>
              </a:rPr>
              <a:t>bằng</a:t>
            </a:r>
            <a:r>
              <a:rPr lang="en-US" altLang="en-US" sz="2400" dirty="0">
                <a:cs typeface="Times New Roman" panose="02020603050405020304" pitchFamily="18" charset="0"/>
              </a:rPr>
              <a:t> </a:t>
            </a:r>
            <a:r>
              <a:rPr lang="en-US" altLang="en-US" sz="2400" dirty="0" err="1">
                <a:cs typeface="Times New Roman" panose="02020603050405020304" pitchFamily="18" charset="0"/>
              </a:rPr>
              <a:t>số</a:t>
            </a:r>
            <a:r>
              <a:rPr lang="en-US" altLang="en-US" sz="2400" dirty="0">
                <a:cs typeface="Times New Roman" panose="02020603050405020304" pitchFamily="18" charset="0"/>
              </a:rPr>
              <a:t> </a:t>
            </a:r>
            <a:r>
              <a:rPr lang="en-US" altLang="en-US" sz="2400" dirty="0" err="1">
                <a:cs typeface="Times New Roman" panose="02020603050405020304" pitchFamily="18" charset="0"/>
              </a:rPr>
              <a:t>nhánh</a:t>
            </a:r>
            <a:r>
              <a:rPr lang="en-US" altLang="en-US" sz="2400" dirty="0">
                <a:cs typeface="Times New Roman" panose="02020603050405020304" pitchFamily="18" charset="0"/>
              </a:rPr>
              <a:t> </a:t>
            </a:r>
            <a:r>
              <a:rPr lang="en-US" altLang="en-US" sz="2400" dirty="0" err="1">
                <a:cs typeface="Times New Roman" panose="02020603050405020304" pitchFamily="18" charset="0"/>
              </a:rPr>
              <a:t>cộng</a:t>
            </a:r>
            <a:r>
              <a:rPr lang="en-US" altLang="en-US" sz="2400" dirty="0">
                <a:cs typeface="Times New Roman" panose="02020603050405020304" pitchFamily="18" charset="0"/>
              </a:rPr>
              <a:t> 1</a:t>
            </a:r>
          </a:p>
          <a:p>
            <a:r>
              <a:rPr lang="en-US" altLang="en-US" sz="2400" dirty="0" err="1">
                <a:cs typeface="Times New Roman" panose="02020603050405020304" pitchFamily="18" charset="0"/>
              </a:rPr>
              <a:t>Cây</a:t>
            </a:r>
            <a:r>
              <a:rPr lang="en-US" altLang="en-US" sz="2400" dirty="0">
                <a:cs typeface="Times New Roman" panose="02020603050405020304" pitchFamily="18" charset="0"/>
              </a:rPr>
              <a:t> </a:t>
            </a:r>
            <a:r>
              <a:rPr lang="en-US" altLang="en-US" sz="2400" dirty="0" err="1">
                <a:cs typeface="Times New Roman" panose="02020603050405020304" pitchFamily="18" charset="0"/>
              </a:rPr>
              <a:t>có</a:t>
            </a:r>
            <a:r>
              <a:rPr lang="en-US" altLang="en-US" sz="2400" dirty="0">
                <a:cs typeface="Times New Roman" panose="02020603050405020304" pitchFamily="18" charset="0"/>
              </a:rPr>
              <a:t> </a:t>
            </a:r>
            <a:r>
              <a:rPr lang="en-US" altLang="en-US" sz="2400" dirty="0" err="1">
                <a:cs typeface="Times New Roman" panose="02020603050405020304" pitchFamily="18" charset="0"/>
              </a:rPr>
              <a:t>tính</a:t>
            </a:r>
            <a:r>
              <a:rPr lang="en-US" altLang="en-US" sz="2400" dirty="0">
                <a:cs typeface="Times New Roman" panose="02020603050405020304" pitchFamily="18" charset="0"/>
              </a:rPr>
              <a:t> </a:t>
            </a:r>
            <a:r>
              <a:rPr lang="en-US" altLang="en-US" sz="2400" dirty="0" err="1">
                <a:cs typeface="Times New Roman" panose="02020603050405020304" pitchFamily="18" charset="0"/>
              </a:rPr>
              <a:t>chất</a:t>
            </a:r>
            <a:r>
              <a:rPr lang="en-US" altLang="en-US" sz="2400" dirty="0">
                <a:cs typeface="Times New Roman" panose="02020603050405020304" pitchFamily="18" charset="0"/>
              </a:rPr>
              <a:t> </a:t>
            </a:r>
            <a:r>
              <a:rPr lang="en-US" altLang="en-US" sz="2400" dirty="0" err="1">
                <a:cs typeface="Times New Roman" panose="02020603050405020304" pitchFamily="18" charset="0"/>
              </a:rPr>
              <a:t>đệ</a:t>
            </a:r>
            <a:r>
              <a:rPr lang="en-US" altLang="en-US" sz="2400" dirty="0">
                <a:cs typeface="Times New Roman" panose="02020603050405020304" pitchFamily="18" charset="0"/>
              </a:rPr>
              <a:t> </a:t>
            </a:r>
            <a:r>
              <a:rPr lang="en-US" altLang="en-US" sz="2400" dirty="0" err="1">
                <a:cs typeface="Times New Roman" panose="02020603050405020304" pitchFamily="18" charset="0"/>
              </a:rPr>
              <a:t>quy</a:t>
            </a:r>
            <a:r>
              <a:rPr lang="en-US" altLang="en-US" sz="2400" dirty="0">
                <a:cs typeface="Times New Roman" panose="02020603050405020304" pitchFamily="18" charset="0"/>
              </a:rPr>
              <a:t>: </a:t>
            </a:r>
            <a:r>
              <a:rPr lang="vi-VN" altLang="en-US" sz="2400" dirty="0">
                <a:cs typeface="Times New Roman" panose="02020603050405020304" pitchFamily="18" charset="0"/>
              </a:rPr>
              <a:t>cây được hình thành từ việc tổ chức các cây con theo cấu trúc phân cấp</a:t>
            </a:r>
            <a:r>
              <a:rPr lang="en-US" altLang="en-US" sz="2400" dirty="0">
                <a:cs typeface="Times New Roman" panose="02020603050405020304" pitchFamily="18" charset="0"/>
              </a:rPr>
              <a:t>. </a:t>
            </a:r>
          </a:p>
          <a:p>
            <a:r>
              <a:rPr lang="en-US" altLang="en-US" sz="2400" dirty="0" err="1">
                <a:cs typeface="Times New Roman" panose="02020603050405020304" pitchFamily="18" charset="0"/>
              </a:rPr>
              <a:t>Cây</a:t>
            </a:r>
            <a:r>
              <a:rPr lang="en-US" altLang="en-US" sz="2400" dirty="0">
                <a:cs typeface="Times New Roman" panose="02020603050405020304" pitchFamily="18" charset="0"/>
              </a:rPr>
              <a:t> </a:t>
            </a:r>
            <a:r>
              <a:rPr lang="en-US" altLang="en-US" sz="2400" dirty="0" err="1">
                <a:cs typeface="Times New Roman" panose="02020603050405020304" pitchFamily="18" charset="0"/>
              </a:rPr>
              <a:t>là</a:t>
            </a:r>
            <a:r>
              <a:rPr lang="en-US" altLang="en-US" sz="2400" dirty="0">
                <a:cs typeface="Times New Roman" panose="02020603050405020304" pitchFamily="18" charset="0"/>
              </a:rPr>
              <a:t> </a:t>
            </a:r>
            <a:r>
              <a:rPr lang="en-US" altLang="en-US" sz="2400" dirty="0" err="1">
                <a:cs typeface="Times New Roman" panose="02020603050405020304" pitchFamily="18" charset="0"/>
              </a:rPr>
              <a:t>một</a:t>
            </a:r>
            <a:r>
              <a:rPr lang="en-US" altLang="en-US" sz="2400" dirty="0">
                <a:cs typeface="Times New Roman" panose="02020603050405020304" pitchFamily="18" charset="0"/>
              </a:rPr>
              <a:t> </a:t>
            </a:r>
            <a:r>
              <a:rPr lang="en-US" altLang="en-US" sz="2400" dirty="0" err="1">
                <a:cs typeface="Times New Roman" panose="02020603050405020304" pitchFamily="18" charset="0"/>
              </a:rPr>
              <a:t>cấu</a:t>
            </a:r>
            <a:r>
              <a:rPr lang="en-US" altLang="en-US" sz="2400" dirty="0">
                <a:cs typeface="Times New Roman" panose="02020603050405020304" pitchFamily="18" charset="0"/>
              </a:rPr>
              <a:t> </a:t>
            </a:r>
            <a:r>
              <a:rPr lang="en-US" altLang="en-US" sz="2400" dirty="0" err="1">
                <a:cs typeface="Times New Roman" panose="02020603050405020304" pitchFamily="18" charset="0"/>
              </a:rPr>
              <a:t>trúc</a:t>
            </a:r>
            <a:r>
              <a:rPr lang="en-US" altLang="en-US" sz="2400" dirty="0">
                <a:cs typeface="Times New Roman" panose="02020603050405020304" pitchFamily="18" charset="0"/>
              </a:rPr>
              <a:t> </a:t>
            </a:r>
            <a:r>
              <a:rPr lang="en-US" altLang="en-US" sz="2400" dirty="0" err="1">
                <a:cs typeface="Times New Roman" panose="02020603050405020304" pitchFamily="18" charset="0"/>
              </a:rPr>
              <a:t>dữ</a:t>
            </a:r>
            <a:r>
              <a:rPr lang="en-US" altLang="en-US" sz="2400" dirty="0">
                <a:cs typeface="Times New Roman" panose="02020603050405020304" pitchFamily="18" charset="0"/>
              </a:rPr>
              <a:t> </a:t>
            </a:r>
            <a:r>
              <a:rPr lang="en-US" altLang="en-US" sz="2400" dirty="0" err="1">
                <a:cs typeface="Times New Roman" panose="02020603050405020304" pitchFamily="18" charset="0"/>
              </a:rPr>
              <a:t>liệu</a:t>
            </a:r>
            <a:r>
              <a:rPr lang="en-US" altLang="en-US" sz="2400" dirty="0">
                <a:cs typeface="Times New Roman" panose="02020603050405020304" pitchFamily="18" charset="0"/>
              </a:rPr>
              <a:t> </a:t>
            </a:r>
            <a:r>
              <a:rPr lang="en-US" altLang="en-US" sz="2400" dirty="0" err="1">
                <a:cs typeface="Times New Roman" panose="02020603050405020304" pitchFamily="18" charset="0"/>
              </a:rPr>
              <a:t>động</a:t>
            </a:r>
            <a:r>
              <a:rPr lang="en-US" altLang="en-US" sz="2400" dirty="0">
                <a:cs typeface="Times New Roman" panose="02020603050405020304" pitchFamily="18" charset="0"/>
              </a:rPr>
              <a:t>, </a:t>
            </a:r>
            <a:r>
              <a:rPr lang="en-US" altLang="en-US" sz="2400" dirty="0" err="1">
                <a:cs typeface="Times New Roman" panose="02020603050405020304" pitchFamily="18" charset="0"/>
              </a:rPr>
              <a:t>kích</a:t>
            </a:r>
            <a:r>
              <a:rPr lang="en-US" altLang="en-US" sz="2400" dirty="0">
                <a:cs typeface="Times New Roman" panose="02020603050405020304" pitchFamily="18" charset="0"/>
              </a:rPr>
              <a:t> </a:t>
            </a:r>
            <a:r>
              <a:rPr lang="en-US" altLang="en-US" sz="2400" dirty="0" err="1">
                <a:cs typeface="Times New Roman" panose="02020603050405020304" pitchFamily="18" charset="0"/>
              </a:rPr>
              <a:t>thước</a:t>
            </a:r>
            <a:r>
              <a:rPr lang="en-US" altLang="en-US" sz="2400" dirty="0">
                <a:cs typeface="Times New Roman" panose="02020603050405020304" pitchFamily="18" charset="0"/>
              </a:rPr>
              <a:t> </a:t>
            </a:r>
            <a:r>
              <a:rPr lang="en-US" altLang="en-US" sz="2400" dirty="0" err="1">
                <a:cs typeface="Times New Roman" panose="02020603050405020304" pitchFamily="18" charset="0"/>
              </a:rPr>
              <a:t>của</a:t>
            </a:r>
            <a:r>
              <a:rPr lang="en-US" altLang="en-US" sz="2400" dirty="0">
                <a:cs typeface="Times New Roman" panose="02020603050405020304" pitchFamily="18" charset="0"/>
              </a:rPr>
              <a:t> </a:t>
            </a:r>
            <a:r>
              <a:rPr lang="en-US" altLang="en-US" sz="2400" dirty="0" err="1">
                <a:cs typeface="Times New Roman" panose="02020603050405020304" pitchFamily="18" charset="0"/>
              </a:rPr>
              <a:t>nó</a:t>
            </a:r>
            <a:r>
              <a:rPr lang="en-US" altLang="en-US" sz="2400" dirty="0">
                <a:cs typeface="Times New Roman" panose="02020603050405020304" pitchFamily="18" charset="0"/>
              </a:rPr>
              <a:t> (</a:t>
            </a:r>
            <a:r>
              <a:rPr lang="en-US" altLang="en-US" sz="2400" dirty="0" err="1">
                <a:cs typeface="Times New Roman" panose="02020603050405020304" pitchFamily="18" charset="0"/>
              </a:rPr>
              <a:t>số</a:t>
            </a:r>
            <a:r>
              <a:rPr lang="en-US" altLang="en-US" sz="2400" dirty="0">
                <a:cs typeface="Times New Roman" panose="02020603050405020304" pitchFamily="18" charset="0"/>
              </a:rPr>
              <a:t> </a:t>
            </a:r>
            <a:r>
              <a:rPr lang="en-US" altLang="en-US" sz="2400" dirty="0" err="1">
                <a:cs typeface="Times New Roman" panose="02020603050405020304" pitchFamily="18" charset="0"/>
              </a:rPr>
              <a:t>nút</a:t>
            </a:r>
            <a:r>
              <a:rPr lang="en-US" altLang="en-US" sz="2400" dirty="0">
                <a:cs typeface="Times New Roman" panose="02020603050405020304" pitchFamily="18" charset="0"/>
              </a:rPr>
              <a:t>) </a:t>
            </a:r>
            <a:r>
              <a:rPr lang="en-US" altLang="en-US" sz="2400" dirty="0" err="1">
                <a:cs typeface="Times New Roman" panose="02020603050405020304" pitchFamily="18" charset="0"/>
              </a:rPr>
              <a:t>có</a:t>
            </a:r>
            <a:r>
              <a:rPr lang="en-US" altLang="en-US" sz="2400" dirty="0">
                <a:cs typeface="Times New Roman" panose="02020603050405020304" pitchFamily="18" charset="0"/>
              </a:rPr>
              <a:t> </a:t>
            </a:r>
            <a:r>
              <a:rPr lang="en-US" altLang="en-US" sz="2400" dirty="0" err="1">
                <a:cs typeface="Times New Roman" panose="02020603050405020304" pitchFamily="18" charset="0"/>
              </a:rPr>
              <a:t>thể</a:t>
            </a:r>
            <a:r>
              <a:rPr lang="en-US" altLang="en-US" sz="2400" dirty="0">
                <a:cs typeface="Times New Roman" panose="02020603050405020304" pitchFamily="18" charset="0"/>
              </a:rPr>
              <a:t> </a:t>
            </a:r>
            <a:r>
              <a:rPr lang="en-US" altLang="en-US" sz="2400" dirty="0" err="1">
                <a:cs typeface="Times New Roman" panose="02020603050405020304" pitchFamily="18" charset="0"/>
              </a:rPr>
              <a:t>thay</a:t>
            </a:r>
            <a:r>
              <a:rPr lang="en-US" altLang="en-US" sz="2400" dirty="0">
                <a:cs typeface="Times New Roman" panose="02020603050405020304" pitchFamily="18" charset="0"/>
              </a:rPr>
              <a:t> </a:t>
            </a:r>
            <a:r>
              <a:rPr lang="en-US" altLang="en-US" sz="2400" dirty="0" err="1">
                <a:cs typeface="Times New Roman" panose="02020603050405020304" pitchFamily="18" charset="0"/>
              </a:rPr>
              <a:t>đổi</a:t>
            </a:r>
            <a:r>
              <a:rPr lang="en-US" altLang="en-US" sz="2400" dirty="0">
                <a:cs typeface="Times New Roman" panose="02020603050405020304" pitchFamily="18" charset="0"/>
              </a:rPr>
              <a:t>. </a:t>
            </a:r>
          </a:p>
          <a:p>
            <a:r>
              <a:rPr lang="en-US" altLang="en-US" sz="2400" dirty="0" err="1">
                <a:cs typeface="Times New Roman" panose="02020603050405020304" pitchFamily="18" charset="0"/>
              </a:rPr>
              <a:t>Cấu</a:t>
            </a:r>
            <a:r>
              <a:rPr lang="en-US" altLang="en-US" sz="2400" dirty="0">
                <a:cs typeface="Times New Roman" panose="02020603050405020304" pitchFamily="18" charset="0"/>
              </a:rPr>
              <a:t> </a:t>
            </a:r>
            <a:r>
              <a:rPr lang="en-US" altLang="en-US" sz="2400" dirty="0" err="1">
                <a:cs typeface="Times New Roman" panose="02020603050405020304" pitchFamily="18" charset="0"/>
              </a:rPr>
              <a:t>trúc</a:t>
            </a:r>
            <a:r>
              <a:rPr lang="en-US" altLang="en-US" sz="2400" dirty="0">
                <a:cs typeface="Times New Roman" panose="02020603050405020304" pitchFamily="18" charset="0"/>
              </a:rPr>
              <a:t> </a:t>
            </a:r>
            <a:r>
              <a:rPr lang="en-US" altLang="en-US" sz="2400" dirty="0" err="1">
                <a:cs typeface="Times New Roman" panose="02020603050405020304" pitchFamily="18" charset="0"/>
              </a:rPr>
              <a:t>cây</a:t>
            </a:r>
            <a:r>
              <a:rPr lang="en-US" altLang="en-US" sz="2400" dirty="0">
                <a:cs typeface="Times New Roman" panose="02020603050405020304" pitchFamily="18" charset="0"/>
              </a:rPr>
              <a:t> </a:t>
            </a:r>
            <a:r>
              <a:rPr lang="en-US" altLang="en-US" sz="2400" dirty="0" err="1">
                <a:cs typeface="Times New Roman" panose="02020603050405020304" pitchFamily="18" charset="0"/>
              </a:rPr>
              <a:t>không</a:t>
            </a:r>
            <a:r>
              <a:rPr lang="en-US" altLang="en-US" sz="2400" dirty="0">
                <a:cs typeface="Times New Roman" panose="02020603050405020304" pitchFamily="18" charset="0"/>
              </a:rPr>
              <a:t> </a:t>
            </a:r>
            <a:r>
              <a:rPr lang="en-US" altLang="en-US" sz="2400" dirty="0" err="1">
                <a:cs typeface="Times New Roman" panose="02020603050405020304" pitchFamily="18" charset="0"/>
              </a:rPr>
              <a:t>còn</a:t>
            </a:r>
            <a:r>
              <a:rPr lang="en-US" altLang="en-US" sz="2400" dirty="0">
                <a:cs typeface="Times New Roman" panose="02020603050405020304" pitchFamily="18" charset="0"/>
              </a:rPr>
              <a:t> </a:t>
            </a:r>
            <a:r>
              <a:rPr lang="en-US" altLang="en-US" sz="2400" dirty="0" err="1">
                <a:cs typeface="Times New Roman" panose="02020603050405020304" pitchFamily="18" charset="0"/>
              </a:rPr>
              <a:t>cấu</a:t>
            </a:r>
            <a:r>
              <a:rPr lang="en-US" altLang="en-US" sz="2400" dirty="0">
                <a:cs typeface="Times New Roman" panose="02020603050405020304" pitchFamily="18" charset="0"/>
              </a:rPr>
              <a:t> </a:t>
            </a:r>
            <a:r>
              <a:rPr lang="en-US" altLang="en-US" sz="2400" dirty="0" err="1">
                <a:cs typeface="Times New Roman" panose="02020603050405020304" pitchFamily="18" charset="0"/>
              </a:rPr>
              <a:t>trúc</a:t>
            </a:r>
            <a:r>
              <a:rPr lang="en-US" altLang="en-US" sz="2400" dirty="0">
                <a:cs typeface="Times New Roman" panose="02020603050405020304" pitchFamily="18" charset="0"/>
              </a:rPr>
              <a:t> </a:t>
            </a:r>
            <a:r>
              <a:rPr lang="en-US" altLang="en-US" sz="2400" dirty="0" err="1">
                <a:cs typeface="Times New Roman" panose="02020603050405020304" pitchFamily="18" charset="0"/>
              </a:rPr>
              <a:t>tuyến</a:t>
            </a:r>
            <a:r>
              <a:rPr lang="en-US" altLang="en-US" sz="2400" dirty="0">
                <a:cs typeface="Times New Roman" panose="02020603050405020304" pitchFamily="18" charset="0"/>
              </a:rPr>
              <a:t> </a:t>
            </a:r>
            <a:r>
              <a:rPr lang="en-US" altLang="en-US" sz="2400" dirty="0" err="1">
                <a:cs typeface="Times New Roman" panose="02020603050405020304" pitchFamily="18" charset="0"/>
              </a:rPr>
              <a:t>tính</a:t>
            </a:r>
            <a:br>
              <a:rPr lang="en-US" altLang="en-US" sz="2400" dirty="0">
                <a:cs typeface="Times New Roman" panose="02020603050405020304" pitchFamily="18" charset="0"/>
              </a:rPr>
            </a:br>
            <a:r>
              <a:rPr lang="en-US" altLang="en-US" sz="2400" dirty="0" err="1">
                <a:cs typeface="Times New Roman" panose="02020603050405020304" pitchFamily="18" charset="0"/>
              </a:rPr>
              <a:t>nữa</a:t>
            </a:r>
            <a:r>
              <a:rPr lang="en-US" altLang="en-US" sz="2400" dirty="0">
                <a:cs typeface="Times New Roman" panose="02020603050405020304" pitchFamily="18" charset="0"/>
              </a:rPr>
              <a:t> </a:t>
            </a:r>
            <a:r>
              <a:rPr lang="en-US" altLang="en-US" sz="2400" dirty="0" err="1">
                <a:cs typeface="Times New Roman" panose="02020603050405020304" pitchFamily="18" charset="0"/>
              </a:rPr>
              <a:t>mà</a:t>
            </a:r>
            <a:r>
              <a:rPr lang="en-US" altLang="en-US" sz="2400" dirty="0">
                <a:cs typeface="Times New Roman" panose="02020603050405020304" pitchFamily="18" charset="0"/>
              </a:rPr>
              <a:t> </a:t>
            </a:r>
            <a:r>
              <a:rPr lang="en-US" altLang="en-US" sz="2400" dirty="0" err="1">
                <a:cs typeface="Times New Roman" panose="02020603050405020304" pitchFamily="18" charset="0"/>
              </a:rPr>
              <a:t>là</a:t>
            </a:r>
            <a:r>
              <a:rPr lang="en-US" altLang="en-US" sz="2400" dirty="0">
                <a:cs typeface="Times New Roman" panose="02020603050405020304" pitchFamily="18" charset="0"/>
              </a:rPr>
              <a:t> </a:t>
            </a:r>
            <a:r>
              <a:rPr lang="en-US" altLang="en-US" sz="2400" dirty="0" err="1">
                <a:cs typeface="Times New Roman" panose="02020603050405020304" pitchFamily="18" charset="0"/>
              </a:rPr>
              <a:t>cấu</a:t>
            </a:r>
            <a:r>
              <a:rPr lang="en-US" altLang="en-US" sz="2400" dirty="0">
                <a:cs typeface="Times New Roman" panose="02020603050405020304" pitchFamily="18" charset="0"/>
              </a:rPr>
              <a:t> </a:t>
            </a:r>
            <a:r>
              <a:rPr lang="en-US" altLang="en-US" sz="2400" dirty="0" err="1">
                <a:cs typeface="Times New Roman" panose="02020603050405020304" pitchFamily="18" charset="0"/>
              </a:rPr>
              <a:t>trúc</a:t>
            </a:r>
            <a:r>
              <a:rPr lang="en-US" altLang="en-US" sz="2400" dirty="0">
                <a:cs typeface="Times New Roman" panose="02020603050405020304" pitchFamily="18" charset="0"/>
              </a:rPr>
              <a:t> </a:t>
            </a:r>
            <a:r>
              <a:rPr lang="en-US" altLang="en-US" sz="2400" dirty="0" err="1">
                <a:cs typeface="Times New Roman" panose="02020603050405020304" pitchFamily="18" charset="0"/>
              </a:rPr>
              <a:t>phân</a:t>
            </a:r>
            <a:r>
              <a:rPr lang="en-US" altLang="en-US" sz="2400" dirty="0">
                <a:cs typeface="Times New Roman" panose="02020603050405020304" pitchFamily="18" charset="0"/>
              </a:rPr>
              <a:t> </a:t>
            </a:r>
            <a:r>
              <a:rPr lang="en-US" altLang="en-US" sz="2400" dirty="0" err="1">
                <a:cs typeface="Times New Roman" panose="02020603050405020304" pitchFamily="18" charset="0"/>
              </a:rPr>
              <a:t>cấp</a:t>
            </a:r>
            <a:r>
              <a:rPr lang="en-US" altLang="en-US" sz="2400" dirty="0">
                <a:cs typeface="Times New Roman" panose="02020603050405020304" pitchFamily="18" charset="0"/>
              </a:rPr>
              <a:t>.</a:t>
            </a:r>
          </a:p>
          <a:p>
            <a:r>
              <a:rPr lang="en-US" altLang="en-US" sz="2400" dirty="0" err="1">
                <a:cs typeface="Times New Roman" panose="02020603050405020304" pitchFamily="18" charset="0"/>
              </a:rPr>
              <a:t>Chỉ</a:t>
            </a:r>
            <a:r>
              <a:rPr lang="en-US" altLang="en-US" sz="2400" dirty="0">
                <a:cs typeface="Times New Roman" panose="02020603050405020304" pitchFamily="18" charset="0"/>
              </a:rPr>
              <a:t> </a:t>
            </a:r>
            <a:r>
              <a:rPr lang="en-US" altLang="en-US" sz="2400" dirty="0" err="1">
                <a:cs typeface="Times New Roman" panose="02020603050405020304" pitchFamily="18" charset="0"/>
              </a:rPr>
              <a:t>tồn</a:t>
            </a:r>
            <a:r>
              <a:rPr lang="en-US" altLang="en-US" sz="2400" dirty="0">
                <a:cs typeface="Times New Roman" panose="02020603050405020304" pitchFamily="18" charset="0"/>
              </a:rPr>
              <a:t> </a:t>
            </a:r>
            <a:r>
              <a:rPr lang="en-US" altLang="en-US" sz="2400" dirty="0" err="1">
                <a:cs typeface="Times New Roman" panose="02020603050405020304" pitchFamily="18" charset="0"/>
              </a:rPr>
              <a:t>tại</a:t>
            </a:r>
            <a:r>
              <a:rPr lang="en-US" altLang="en-US" sz="2400" dirty="0">
                <a:cs typeface="Times New Roman" panose="02020603050405020304" pitchFamily="18" charset="0"/>
              </a:rPr>
              <a:t> </a:t>
            </a:r>
            <a:r>
              <a:rPr lang="en-US" altLang="en-US" sz="2400" dirty="0" err="1">
                <a:cs typeface="Times New Roman" panose="02020603050405020304" pitchFamily="18" charset="0"/>
              </a:rPr>
              <a:t>duy</a:t>
            </a:r>
            <a:r>
              <a:rPr lang="en-US" altLang="en-US" sz="2400" dirty="0">
                <a:cs typeface="Times New Roman" panose="02020603050405020304" pitchFamily="18" charset="0"/>
              </a:rPr>
              <a:t> </a:t>
            </a:r>
            <a:r>
              <a:rPr lang="en-US" altLang="en-US" sz="2400" dirty="0" err="1">
                <a:cs typeface="Times New Roman" panose="02020603050405020304" pitchFamily="18" charset="0"/>
              </a:rPr>
              <a:t>nhất</a:t>
            </a:r>
            <a:r>
              <a:rPr lang="en-US" altLang="en-US" sz="2400" dirty="0">
                <a:cs typeface="Times New Roman" panose="02020603050405020304" pitchFamily="18" charset="0"/>
              </a:rPr>
              <a:t> </a:t>
            </a:r>
            <a:r>
              <a:rPr lang="en-US" altLang="en-US" sz="2400" dirty="0" err="1">
                <a:cs typeface="Times New Roman" panose="02020603050405020304" pitchFamily="18" charset="0"/>
              </a:rPr>
              <a:t>một</a:t>
            </a:r>
            <a:r>
              <a:rPr lang="en-US" altLang="en-US" sz="2400" dirty="0">
                <a:cs typeface="Times New Roman" panose="02020603050405020304" pitchFamily="18" charset="0"/>
              </a:rPr>
              <a:t> </a:t>
            </a:r>
            <a:r>
              <a:rPr lang="en-US" altLang="en-US" sz="2400" dirty="0" err="1">
                <a:cs typeface="Times New Roman" panose="02020603050405020304" pitchFamily="18" charset="0"/>
              </a:rPr>
              <a:t>đường</a:t>
            </a:r>
            <a:r>
              <a:rPr lang="en-US" altLang="en-US" sz="2400" dirty="0">
                <a:cs typeface="Times New Roman" panose="02020603050405020304" pitchFamily="18" charset="0"/>
              </a:rPr>
              <a:t> </a:t>
            </a:r>
            <a:r>
              <a:rPr lang="en-US" altLang="en-US" sz="2400" dirty="0" err="1">
                <a:cs typeface="Times New Roman" panose="02020603050405020304" pitchFamily="18" charset="0"/>
              </a:rPr>
              <a:t>đi</a:t>
            </a:r>
            <a:r>
              <a:rPr lang="en-US" altLang="en-US" sz="2400" dirty="0">
                <a:cs typeface="Times New Roman" panose="02020603050405020304" pitchFamily="18" charset="0"/>
              </a:rPr>
              <a:t> </a:t>
            </a:r>
            <a:r>
              <a:rPr lang="en-US" altLang="en-US" sz="2400" dirty="0" err="1">
                <a:cs typeface="Times New Roman" panose="02020603050405020304" pitchFamily="18" charset="0"/>
              </a:rPr>
              <a:t>từ</a:t>
            </a:r>
            <a:r>
              <a:rPr lang="en-US" altLang="en-US" sz="2400" dirty="0">
                <a:cs typeface="Times New Roman" panose="02020603050405020304" pitchFamily="18" charset="0"/>
              </a:rPr>
              <a:t> </a:t>
            </a:r>
            <a:br>
              <a:rPr lang="en-US" altLang="en-US" sz="2400" dirty="0">
                <a:cs typeface="Times New Roman" panose="02020603050405020304" pitchFamily="18" charset="0"/>
              </a:rPr>
            </a:br>
            <a:r>
              <a:rPr lang="en-US" altLang="en-US" sz="2400" dirty="0" err="1">
                <a:cs typeface="Times New Roman" panose="02020603050405020304" pitchFamily="18" charset="0"/>
              </a:rPr>
              <a:t>gốc</a:t>
            </a:r>
            <a:r>
              <a:rPr lang="en-US" altLang="en-US" sz="2400" dirty="0">
                <a:cs typeface="Times New Roman" panose="02020603050405020304" pitchFamily="18" charset="0"/>
              </a:rPr>
              <a:t> </a:t>
            </a:r>
            <a:r>
              <a:rPr lang="en-US" altLang="en-US" sz="2400" dirty="0" err="1">
                <a:cs typeface="Times New Roman" panose="02020603050405020304" pitchFamily="18" charset="0"/>
              </a:rPr>
              <a:t>đến</a:t>
            </a:r>
            <a:r>
              <a:rPr lang="en-US" altLang="en-US" sz="2400" dirty="0">
                <a:cs typeface="Times New Roman" panose="02020603050405020304" pitchFamily="18" charset="0"/>
              </a:rPr>
              <a:t> </a:t>
            </a:r>
            <a:r>
              <a:rPr lang="en-US" altLang="en-US" sz="2400" dirty="0" err="1">
                <a:cs typeface="Times New Roman" panose="02020603050405020304" pitchFamily="18" charset="0"/>
              </a:rPr>
              <a:t>một</a:t>
            </a:r>
            <a:r>
              <a:rPr lang="en-US" altLang="en-US" sz="2400" dirty="0">
                <a:cs typeface="Times New Roman" panose="02020603050405020304" pitchFamily="18" charset="0"/>
              </a:rPr>
              <a:t> </a:t>
            </a:r>
            <a:r>
              <a:rPr lang="en-US" altLang="en-US" sz="2400" dirty="0" err="1">
                <a:cs typeface="Times New Roman" panose="02020603050405020304" pitchFamily="18" charset="0"/>
              </a:rPr>
              <a:t>nút</a:t>
            </a:r>
            <a:r>
              <a:rPr lang="en-US" altLang="en-US" sz="2400" dirty="0">
                <a:cs typeface="Times New Roman" panose="02020603050405020304" pitchFamily="18" charset="0"/>
              </a:rPr>
              <a:t> </a:t>
            </a:r>
            <a:r>
              <a:rPr lang="en-US" altLang="en-US" sz="2400" dirty="0" err="1">
                <a:cs typeface="Times New Roman" panose="02020603050405020304" pitchFamily="18" charset="0"/>
              </a:rPr>
              <a:t>khác</a:t>
            </a:r>
            <a:r>
              <a:rPr lang="en-US" altLang="en-US" sz="2400" dirty="0">
                <a:cs typeface="Times New Roman" panose="02020603050405020304" pitchFamily="18" charset="0"/>
              </a:rPr>
              <a:t>. </a:t>
            </a:r>
          </a:p>
          <a:p>
            <a:pPr lvl="1" eaLnBrk="1" hangingPunct="1"/>
            <a:endParaRPr lang="en-US" altLang="en-US" dirty="0">
              <a:cs typeface="Times New Roman" panose="02020603050405020304" pitchFamily="18" charset="0"/>
            </a:endParaRPr>
          </a:p>
        </p:txBody>
      </p:sp>
      <p:grpSp>
        <p:nvGrpSpPr>
          <p:cNvPr id="10246" name="Group 4"/>
          <p:cNvGrpSpPr>
            <a:grpSpLocks/>
          </p:cNvGrpSpPr>
          <p:nvPr/>
        </p:nvGrpSpPr>
        <p:grpSpPr bwMode="auto">
          <a:xfrm>
            <a:off x="5715000" y="2819400"/>
            <a:ext cx="2895600" cy="3352800"/>
            <a:chOff x="3631" y="1536"/>
            <a:chExt cx="1889" cy="2112"/>
          </a:xfrm>
        </p:grpSpPr>
        <p:sp>
          <p:nvSpPr>
            <p:cNvPr id="10247" name="Oval 5"/>
            <p:cNvSpPr>
              <a:spLocks noChangeArrowheads="1"/>
            </p:cNvSpPr>
            <p:nvPr/>
          </p:nvSpPr>
          <p:spPr bwMode="auto">
            <a:xfrm>
              <a:off x="4672" y="1536"/>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1</a:t>
              </a:r>
            </a:p>
          </p:txBody>
        </p:sp>
        <p:sp>
          <p:nvSpPr>
            <p:cNvPr id="10248" name="Oval 6"/>
            <p:cNvSpPr>
              <a:spLocks noChangeArrowheads="1"/>
            </p:cNvSpPr>
            <p:nvPr/>
          </p:nvSpPr>
          <p:spPr bwMode="auto">
            <a:xfrm>
              <a:off x="5250" y="2256"/>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7</a:t>
              </a:r>
            </a:p>
          </p:txBody>
        </p:sp>
        <p:sp>
          <p:nvSpPr>
            <p:cNvPr id="10249" name="Oval 7"/>
            <p:cNvSpPr>
              <a:spLocks noChangeArrowheads="1"/>
            </p:cNvSpPr>
            <p:nvPr/>
          </p:nvSpPr>
          <p:spPr bwMode="auto">
            <a:xfrm>
              <a:off x="4132" y="2208"/>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2</a:t>
              </a:r>
            </a:p>
          </p:txBody>
        </p:sp>
        <p:sp>
          <p:nvSpPr>
            <p:cNvPr id="10250" name="Oval 8"/>
            <p:cNvSpPr>
              <a:spLocks noChangeArrowheads="1"/>
            </p:cNvSpPr>
            <p:nvPr/>
          </p:nvSpPr>
          <p:spPr bwMode="auto">
            <a:xfrm>
              <a:off x="3631" y="292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3</a:t>
              </a:r>
            </a:p>
          </p:txBody>
        </p:sp>
        <p:sp>
          <p:nvSpPr>
            <p:cNvPr id="10251" name="Oval 9"/>
            <p:cNvSpPr>
              <a:spLocks noChangeArrowheads="1"/>
            </p:cNvSpPr>
            <p:nvPr/>
          </p:nvSpPr>
          <p:spPr bwMode="auto">
            <a:xfrm>
              <a:off x="4556" y="2928"/>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5</a:t>
              </a:r>
            </a:p>
          </p:txBody>
        </p:sp>
        <p:sp>
          <p:nvSpPr>
            <p:cNvPr id="10252" name="Oval 10"/>
            <p:cNvSpPr>
              <a:spLocks noChangeArrowheads="1"/>
            </p:cNvSpPr>
            <p:nvPr/>
          </p:nvSpPr>
          <p:spPr bwMode="auto">
            <a:xfrm>
              <a:off x="4094" y="292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4</a:t>
              </a:r>
            </a:p>
          </p:txBody>
        </p:sp>
        <p:sp>
          <p:nvSpPr>
            <p:cNvPr id="10253" name="Oval 11"/>
            <p:cNvSpPr>
              <a:spLocks noChangeArrowheads="1"/>
            </p:cNvSpPr>
            <p:nvPr/>
          </p:nvSpPr>
          <p:spPr bwMode="auto">
            <a:xfrm>
              <a:off x="5289" y="2880"/>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6</a:t>
              </a:r>
            </a:p>
          </p:txBody>
        </p:sp>
        <p:sp>
          <p:nvSpPr>
            <p:cNvPr id="10254" name="Oval 12"/>
            <p:cNvSpPr>
              <a:spLocks noChangeArrowheads="1"/>
            </p:cNvSpPr>
            <p:nvPr/>
          </p:nvSpPr>
          <p:spPr bwMode="auto">
            <a:xfrm>
              <a:off x="5289" y="340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8</a:t>
              </a:r>
            </a:p>
          </p:txBody>
        </p:sp>
        <p:sp>
          <p:nvSpPr>
            <p:cNvPr id="10255" name="Line 13"/>
            <p:cNvSpPr>
              <a:spLocks noChangeShapeType="1"/>
            </p:cNvSpPr>
            <p:nvPr/>
          </p:nvSpPr>
          <p:spPr bwMode="auto">
            <a:xfrm flipH="1">
              <a:off x="4325" y="1728"/>
              <a:ext cx="347"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56" name="Line 14"/>
            <p:cNvSpPr>
              <a:spLocks noChangeShapeType="1"/>
            </p:cNvSpPr>
            <p:nvPr/>
          </p:nvSpPr>
          <p:spPr bwMode="auto">
            <a:xfrm flipH="1">
              <a:off x="3785" y="2448"/>
              <a:ext cx="386"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57" name="Line 15"/>
            <p:cNvSpPr>
              <a:spLocks noChangeShapeType="1"/>
            </p:cNvSpPr>
            <p:nvPr/>
          </p:nvSpPr>
          <p:spPr bwMode="auto">
            <a:xfrm flipH="1">
              <a:off x="4209" y="2448"/>
              <a:ext cx="39"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58" name="Line 16"/>
            <p:cNvSpPr>
              <a:spLocks noChangeShapeType="1"/>
            </p:cNvSpPr>
            <p:nvPr/>
          </p:nvSpPr>
          <p:spPr bwMode="auto">
            <a:xfrm>
              <a:off x="4325" y="2448"/>
              <a:ext cx="30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59" name="Line 17"/>
            <p:cNvSpPr>
              <a:spLocks noChangeShapeType="1"/>
            </p:cNvSpPr>
            <p:nvPr/>
          </p:nvSpPr>
          <p:spPr bwMode="auto">
            <a:xfrm>
              <a:off x="4865" y="1728"/>
              <a:ext cx="424"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60" name="Line 18"/>
            <p:cNvSpPr>
              <a:spLocks noChangeShapeType="1"/>
            </p:cNvSpPr>
            <p:nvPr/>
          </p:nvSpPr>
          <p:spPr bwMode="auto">
            <a:xfrm>
              <a:off x="5366" y="2496"/>
              <a:ext cx="39"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61" name="Line 19"/>
            <p:cNvSpPr>
              <a:spLocks noChangeShapeType="1"/>
            </p:cNvSpPr>
            <p:nvPr/>
          </p:nvSpPr>
          <p:spPr bwMode="auto">
            <a:xfrm>
              <a:off x="5405" y="312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2631428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4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4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3"/>
          <p:cNvSpPr>
            <a:spLocks noGrp="1" noChangeArrowheads="1"/>
          </p:cNvSpPr>
          <p:nvPr>
            <p:ph type="title"/>
          </p:nvPr>
        </p:nvSpPr>
        <p:spPr>
          <a:noFill/>
        </p:spPr>
        <p:txBody>
          <a:bodyPr/>
          <a:lstStyle/>
          <a:p>
            <a:pPr eaLnBrk="1" hangingPunct="1"/>
            <a:r>
              <a:rPr lang="en-US" altLang="en-US" dirty="0" err="1"/>
              <a:t>Các</a:t>
            </a:r>
            <a:r>
              <a:rPr lang="en-US" altLang="en-US" dirty="0"/>
              <a:t> </a:t>
            </a:r>
            <a:r>
              <a:rPr lang="en-US" altLang="en-US" dirty="0" err="1"/>
              <a:t>thao</a:t>
            </a:r>
            <a:r>
              <a:rPr lang="en-US" altLang="en-US" dirty="0"/>
              <a:t> </a:t>
            </a:r>
            <a:r>
              <a:rPr lang="en-US" altLang="en-US" dirty="0" err="1"/>
              <a:t>tác</a:t>
            </a:r>
            <a:r>
              <a:rPr lang="en-US" altLang="en-US" dirty="0"/>
              <a:t> </a:t>
            </a:r>
            <a:r>
              <a:rPr lang="en-US" altLang="en-US" dirty="0" err="1"/>
              <a:t>cơ</a:t>
            </a:r>
            <a:r>
              <a:rPr lang="en-US" altLang="en-US" dirty="0"/>
              <a:t> </a:t>
            </a:r>
            <a:r>
              <a:rPr lang="en-US" altLang="en-US" dirty="0" err="1"/>
              <a:t>bản</a:t>
            </a:r>
            <a:r>
              <a:rPr lang="en-US" altLang="en-US" dirty="0"/>
              <a:t> </a:t>
            </a:r>
            <a:r>
              <a:rPr lang="en-US" altLang="en-US" dirty="0" err="1"/>
              <a:t>trên</a:t>
            </a:r>
            <a:r>
              <a:rPr lang="en-US" altLang="en-US" dirty="0"/>
              <a:t> </a:t>
            </a:r>
            <a:r>
              <a:rPr lang="en-US" altLang="en-US" dirty="0" err="1"/>
              <a:t>cây</a:t>
            </a:r>
            <a:endParaRPr lang="en-US" altLang="en-US" dirty="0"/>
          </a:p>
        </p:txBody>
      </p:sp>
      <p:sp>
        <p:nvSpPr>
          <p:cNvPr id="11268" name="Rectangle 2"/>
          <p:cNvSpPr>
            <a:spLocks noGrp="1" noChangeArrowheads="1"/>
          </p:cNvSpPr>
          <p:nvPr>
            <p:ph type="body" sz="quarter" idx="13"/>
          </p:nvPr>
        </p:nvSpPr>
        <p:spPr>
          <a:noFill/>
        </p:spPr>
        <p:txBody>
          <a:bodyPr>
            <a:normAutofit/>
          </a:bodyPr>
          <a:lstStyle/>
          <a:p>
            <a:pPr>
              <a:lnSpc>
                <a:spcPct val="90000"/>
              </a:lnSpc>
            </a:pPr>
            <a:r>
              <a:rPr lang="en-US" altLang="en-US" sz="2400" dirty="0" err="1">
                <a:cs typeface="Times New Roman" panose="02020603050405020304" pitchFamily="18" charset="0"/>
              </a:rPr>
              <a:t>Khởi</a:t>
            </a:r>
            <a:r>
              <a:rPr lang="en-US" altLang="en-US" sz="2400" dirty="0">
                <a:cs typeface="Times New Roman" panose="02020603050405020304" pitchFamily="18" charset="0"/>
              </a:rPr>
              <a:t> </a:t>
            </a:r>
            <a:r>
              <a:rPr lang="en-US" altLang="en-US" sz="2400" dirty="0" err="1">
                <a:cs typeface="Times New Roman" panose="02020603050405020304" pitchFamily="18" charset="0"/>
              </a:rPr>
              <a:t>tạo</a:t>
            </a:r>
            <a:r>
              <a:rPr lang="en-US" altLang="en-US" sz="2400" dirty="0">
                <a:cs typeface="Times New Roman" panose="02020603050405020304" pitchFamily="18" charset="0"/>
              </a:rPr>
              <a:t>: </a:t>
            </a:r>
            <a:r>
              <a:rPr lang="en-US" altLang="en-US" sz="2400" dirty="0" err="1">
                <a:cs typeface="Times New Roman" panose="02020603050405020304" pitchFamily="18" charset="0"/>
              </a:rPr>
              <a:t>chuẩn</a:t>
            </a:r>
            <a:r>
              <a:rPr lang="en-US" altLang="en-US" sz="2400" dirty="0">
                <a:cs typeface="Times New Roman" panose="02020603050405020304" pitchFamily="18" charset="0"/>
              </a:rPr>
              <a:t> </a:t>
            </a:r>
            <a:r>
              <a:rPr lang="en-US" altLang="en-US" sz="2400" dirty="0" err="1">
                <a:cs typeface="Times New Roman" panose="02020603050405020304" pitchFamily="18" charset="0"/>
              </a:rPr>
              <a:t>bị</a:t>
            </a:r>
            <a:r>
              <a:rPr lang="en-US" altLang="en-US" sz="2400" dirty="0">
                <a:cs typeface="Times New Roman" panose="02020603050405020304" pitchFamily="18" charset="0"/>
              </a:rPr>
              <a:t> CTLT </a:t>
            </a:r>
            <a:r>
              <a:rPr lang="en-US" altLang="en-US" sz="2400" dirty="0" err="1">
                <a:cs typeface="Times New Roman" panose="02020603050405020304" pitchFamily="18" charset="0"/>
              </a:rPr>
              <a:t>để</a:t>
            </a:r>
            <a:r>
              <a:rPr lang="en-US" altLang="en-US" sz="2400" dirty="0">
                <a:cs typeface="Times New Roman" panose="02020603050405020304" pitchFamily="18" charset="0"/>
              </a:rPr>
              <a:t> </a:t>
            </a:r>
            <a:r>
              <a:rPr lang="en-US" altLang="en-US" sz="2400" dirty="0" err="1">
                <a:cs typeface="Times New Roman" panose="02020603050405020304" pitchFamily="18" charset="0"/>
              </a:rPr>
              <a:t>lưu</a:t>
            </a:r>
            <a:r>
              <a:rPr lang="en-US" altLang="en-US" sz="2400" dirty="0">
                <a:cs typeface="Times New Roman" panose="02020603050405020304" pitchFamily="18" charset="0"/>
              </a:rPr>
              <a:t> </a:t>
            </a:r>
            <a:r>
              <a:rPr lang="en-US" altLang="en-US" sz="2400" dirty="0" err="1">
                <a:cs typeface="Times New Roman" panose="02020603050405020304" pitchFamily="18" charset="0"/>
              </a:rPr>
              <a:t>trữ</a:t>
            </a:r>
            <a:r>
              <a:rPr lang="en-US" altLang="en-US" sz="2400" dirty="0">
                <a:cs typeface="Times New Roman" panose="02020603050405020304" pitchFamily="18" charset="0"/>
              </a:rPr>
              <a:t> </a:t>
            </a:r>
            <a:r>
              <a:rPr lang="en-US" altLang="en-US" sz="2400" dirty="0" err="1">
                <a:cs typeface="Times New Roman" panose="02020603050405020304" pitchFamily="18" charset="0"/>
              </a:rPr>
              <a:t>cấu</a:t>
            </a:r>
            <a:r>
              <a:rPr lang="en-US" altLang="en-US" sz="2400" dirty="0">
                <a:cs typeface="Times New Roman" panose="02020603050405020304" pitchFamily="18" charset="0"/>
              </a:rPr>
              <a:t> </a:t>
            </a:r>
            <a:r>
              <a:rPr lang="en-US" altLang="en-US" sz="2400" dirty="0" err="1">
                <a:cs typeface="Times New Roman" panose="02020603050405020304" pitchFamily="18" charset="0"/>
              </a:rPr>
              <a:t>trúc</a:t>
            </a:r>
            <a:r>
              <a:rPr lang="en-US" altLang="en-US" sz="2400" dirty="0">
                <a:cs typeface="Times New Roman" panose="02020603050405020304" pitchFamily="18" charset="0"/>
              </a:rPr>
              <a:t> </a:t>
            </a:r>
            <a:r>
              <a:rPr lang="en-US" altLang="en-US" sz="2400" dirty="0" err="1">
                <a:cs typeface="Times New Roman" panose="02020603050405020304" pitchFamily="18" charset="0"/>
              </a:rPr>
              <a:t>cây</a:t>
            </a:r>
            <a:r>
              <a:rPr lang="en-US" altLang="en-US" sz="2400" dirty="0">
                <a:cs typeface="Times New Roman" panose="02020603050405020304" pitchFamily="18" charset="0"/>
              </a:rPr>
              <a:t> </a:t>
            </a:r>
          </a:p>
          <a:p>
            <a:pPr>
              <a:lnSpc>
                <a:spcPct val="90000"/>
              </a:lnSpc>
            </a:pPr>
            <a:r>
              <a:rPr lang="en-US" altLang="en-US" sz="2400" dirty="0" err="1">
                <a:cs typeface="Times New Roman" panose="02020603050405020304" pitchFamily="18" charset="0"/>
              </a:rPr>
              <a:t>Bổ</a:t>
            </a:r>
            <a:r>
              <a:rPr lang="en-US" altLang="en-US" sz="2400" dirty="0">
                <a:cs typeface="Times New Roman" panose="02020603050405020304" pitchFamily="18" charset="0"/>
              </a:rPr>
              <a:t> sung </a:t>
            </a:r>
            <a:r>
              <a:rPr lang="en-US" altLang="en-US" sz="2400" dirty="0" err="1">
                <a:cs typeface="Times New Roman" panose="02020603050405020304" pitchFamily="18" charset="0"/>
              </a:rPr>
              <a:t>một</a:t>
            </a:r>
            <a:r>
              <a:rPr lang="en-US" altLang="en-US" sz="2400" dirty="0">
                <a:cs typeface="Times New Roman" panose="02020603050405020304" pitchFamily="18" charset="0"/>
              </a:rPr>
              <a:t> </a:t>
            </a:r>
            <a:r>
              <a:rPr lang="en-US" altLang="en-US" sz="2400" dirty="0" err="1">
                <a:cs typeface="Times New Roman" panose="02020603050405020304" pitchFamily="18" charset="0"/>
              </a:rPr>
              <a:t>nút</a:t>
            </a:r>
            <a:r>
              <a:rPr lang="en-US" altLang="en-US" sz="2400" dirty="0">
                <a:cs typeface="Times New Roman" panose="02020603050405020304" pitchFamily="18" charset="0"/>
              </a:rPr>
              <a:t> </a:t>
            </a:r>
            <a:r>
              <a:rPr lang="en-US" altLang="en-US" sz="2400" dirty="0" err="1">
                <a:cs typeface="Times New Roman" panose="02020603050405020304" pitchFamily="18" charset="0"/>
              </a:rPr>
              <a:t>mới</a:t>
            </a:r>
            <a:r>
              <a:rPr lang="en-US" altLang="en-US" sz="2400" dirty="0">
                <a:cs typeface="Times New Roman" panose="02020603050405020304" pitchFamily="18" charset="0"/>
              </a:rPr>
              <a:t> </a:t>
            </a:r>
            <a:r>
              <a:rPr lang="en-US" altLang="en-US" sz="2400" dirty="0" err="1">
                <a:cs typeface="Times New Roman" panose="02020603050405020304" pitchFamily="18" charset="0"/>
              </a:rPr>
              <a:t>vào</a:t>
            </a:r>
            <a:r>
              <a:rPr lang="en-US" altLang="en-US" sz="2400" dirty="0">
                <a:cs typeface="Times New Roman" panose="02020603050405020304" pitchFamily="18" charset="0"/>
              </a:rPr>
              <a:t> </a:t>
            </a:r>
            <a:r>
              <a:rPr lang="en-US" altLang="en-US" sz="2400" dirty="0" err="1">
                <a:cs typeface="Times New Roman" panose="02020603050405020304" pitchFamily="18" charset="0"/>
              </a:rPr>
              <a:t>cây</a:t>
            </a:r>
            <a:r>
              <a:rPr lang="en-US" altLang="en-US" sz="2400" dirty="0">
                <a:cs typeface="Times New Roman" panose="02020603050405020304" pitchFamily="18" charset="0"/>
              </a:rPr>
              <a:t> </a:t>
            </a:r>
          </a:p>
          <a:p>
            <a:pPr lvl="1">
              <a:lnSpc>
                <a:spcPct val="90000"/>
              </a:lnSpc>
            </a:pPr>
            <a:r>
              <a:rPr lang="en-US" altLang="en-US" sz="2000" dirty="0" err="1">
                <a:cs typeface="Times New Roman" panose="02020603050405020304" pitchFamily="18" charset="0"/>
              </a:rPr>
              <a:t>Xác</a:t>
            </a:r>
            <a:r>
              <a:rPr lang="en-US" altLang="en-US" sz="2000" dirty="0">
                <a:cs typeface="Times New Roman" panose="02020603050405020304" pitchFamily="18" charset="0"/>
              </a:rPr>
              <a:t> </a:t>
            </a:r>
            <a:r>
              <a:rPr lang="en-US" altLang="en-US" sz="2000" dirty="0" err="1">
                <a:cs typeface="Times New Roman" panose="02020603050405020304" pitchFamily="18" charset="0"/>
              </a:rPr>
              <a:t>định</a:t>
            </a:r>
            <a:r>
              <a:rPr lang="en-US" altLang="en-US" sz="2000" dirty="0">
                <a:cs typeface="Times New Roman" panose="02020603050405020304" pitchFamily="18" charset="0"/>
              </a:rPr>
              <a:t> </a:t>
            </a:r>
            <a:r>
              <a:rPr lang="en-US" altLang="en-US" sz="2000" dirty="0" err="1">
                <a:cs typeface="Times New Roman" panose="02020603050405020304" pitchFamily="18" charset="0"/>
              </a:rPr>
              <a:t>vị</a:t>
            </a:r>
            <a:r>
              <a:rPr lang="en-US" altLang="en-US" sz="2000" dirty="0">
                <a:cs typeface="Times New Roman" panose="02020603050405020304" pitchFamily="18" charset="0"/>
              </a:rPr>
              <a:t> </a:t>
            </a:r>
            <a:r>
              <a:rPr lang="en-US" altLang="en-US" sz="2000" dirty="0" err="1">
                <a:cs typeface="Times New Roman" panose="02020603050405020304" pitchFamily="18" charset="0"/>
              </a:rPr>
              <a:t>trí</a:t>
            </a:r>
            <a:r>
              <a:rPr lang="en-US" altLang="en-US" sz="2000" dirty="0">
                <a:cs typeface="Times New Roman" panose="02020603050405020304" pitchFamily="18" charset="0"/>
              </a:rPr>
              <a:t> </a:t>
            </a:r>
            <a:r>
              <a:rPr lang="en-US" altLang="en-US" sz="2000" dirty="0" err="1">
                <a:cs typeface="Times New Roman" panose="02020603050405020304" pitchFamily="18" charset="0"/>
              </a:rPr>
              <a:t>cần</a:t>
            </a:r>
            <a:r>
              <a:rPr lang="en-US" altLang="en-US" sz="2000" dirty="0">
                <a:cs typeface="Times New Roman" panose="02020603050405020304" pitchFamily="18" charset="0"/>
              </a:rPr>
              <a:t> </a:t>
            </a:r>
            <a:r>
              <a:rPr lang="en-US" altLang="en-US" sz="2000" dirty="0" err="1">
                <a:cs typeface="Times New Roman" panose="02020603050405020304" pitchFamily="18" charset="0"/>
              </a:rPr>
              <a:t>bổ</a:t>
            </a:r>
            <a:r>
              <a:rPr lang="en-US" altLang="en-US" sz="2000" dirty="0">
                <a:cs typeface="Times New Roman" panose="02020603050405020304" pitchFamily="18" charset="0"/>
              </a:rPr>
              <a:t> sung</a:t>
            </a:r>
          </a:p>
          <a:p>
            <a:pPr lvl="1">
              <a:lnSpc>
                <a:spcPct val="90000"/>
              </a:lnSpc>
            </a:pPr>
            <a:r>
              <a:rPr lang="en-US" altLang="en-US" sz="2000" dirty="0" err="1">
                <a:cs typeface="Times New Roman" panose="02020603050405020304" pitchFamily="18" charset="0"/>
              </a:rPr>
              <a:t>Xác</a:t>
            </a:r>
            <a:r>
              <a:rPr lang="en-US" altLang="en-US" sz="2000" dirty="0">
                <a:cs typeface="Times New Roman" panose="02020603050405020304" pitchFamily="18" charset="0"/>
              </a:rPr>
              <a:t> </a:t>
            </a:r>
            <a:r>
              <a:rPr lang="en-US" altLang="en-US" sz="2000" dirty="0" err="1">
                <a:cs typeface="Times New Roman" panose="02020603050405020304" pitchFamily="18" charset="0"/>
              </a:rPr>
              <a:t>định</a:t>
            </a:r>
            <a:r>
              <a:rPr lang="en-US" altLang="en-US" sz="2000" dirty="0">
                <a:cs typeface="Times New Roman" panose="02020603050405020304" pitchFamily="18" charset="0"/>
              </a:rPr>
              <a:t> </a:t>
            </a:r>
            <a:r>
              <a:rPr lang="en-US" altLang="en-US" sz="2000" dirty="0" err="1">
                <a:cs typeface="Times New Roman" panose="02020603050405020304" pitchFamily="18" charset="0"/>
              </a:rPr>
              <a:t>quan</a:t>
            </a:r>
            <a:r>
              <a:rPr lang="en-US" altLang="en-US" sz="2000" dirty="0">
                <a:cs typeface="Times New Roman" panose="02020603050405020304" pitchFamily="18" charset="0"/>
              </a:rPr>
              <a:t> </a:t>
            </a:r>
            <a:r>
              <a:rPr lang="en-US" altLang="en-US" sz="2000" dirty="0" err="1">
                <a:cs typeface="Times New Roman" panose="02020603050405020304" pitchFamily="18" charset="0"/>
              </a:rPr>
              <a:t>hệ</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mới</a:t>
            </a:r>
            <a:r>
              <a:rPr lang="en-US" altLang="en-US" sz="2000" dirty="0">
                <a:cs typeface="Times New Roman" panose="02020603050405020304" pitchFamily="18" charset="0"/>
              </a:rPr>
              <a:t> </a:t>
            </a:r>
            <a:r>
              <a:rPr lang="en-US" altLang="en-US" sz="2000" dirty="0" err="1">
                <a:cs typeface="Times New Roman" panose="02020603050405020304" pitchFamily="18" charset="0"/>
              </a:rPr>
              <a:t>và</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tại</a:t>
            </a:r>
            <a:r>
              <a:rPr lang="en-US" altLang="en-US" sz="2000" dirty="0">
                <a:cs typeface="Times New Roman" panose="02020603050405020304" pitchFamily="18" charset="0"/>
              </a:rPr>
              <a:t> </a:t>
            </a:r>
            <a:r>
              <a:rPr lang="en-US" altLang="en-US" sz="2000" dirty="0" err="1">
                <a:cs typeface="Times New Roman" panose="02020603050405020304" pitchFamily="18" charset="0"/>
              </a:rPr>
              <a:t>vị</a:t>
            </a:r>
            <a:r>
              <a:rPr lang="en-US" altLang="en-US" sz="2000" dirty="0">
                <a:cs typeface="Times New Roman" panose="02020603050405020304" pitchFamily="18" charset="0"/>
              </a:rPr>
              <a:t> </a:t>
            </a:r>
            <a:r>
              <a:rPr lang="en-US" altLang="en-US" sz="2000" dirty="0" err="1">
                <a:cs typeface="Times New Roman" panose="02020603050405020304" pitchFamily="18" charset="0"/>
              </a:rPr>
              <a:t>trí</a:t>
            </a:r>
            <a:r>
              <a:rPr lang="en-US" altLang="en-US" sz="2000" dirty="0">
                <a:cs typeface="Times New Roman" panose="02020603050405020304" pitchFamily="18" charset="0"/>
              </a:rPr>
              <a:t> </a:t>
            </a:r>
            <a:r>
              <a:rPr lang="en-US" altLang="en-US" sz="2000" dirty="0" err="1">
                <a:cs typeface="Times New Roman" panose="02020603050405020304" pitchFamily="18" charset="0"/>
              </a:rPr>
              <a:t>bổ</a:t>
            </a:r>
            <a:r>
              <a:rPr lang="en-US" altLang="en-US" sz="2000" dirty="0">
                <a:cs typeface="Times New Roman" panose="02020603050405020304" pitchFamily="18" charset="0"/>
              </a:rPr>
              <a:t> sung</a:t>
            </a:r>
          </a:p>
          <a:p>
            <a:pPr>
              <a:lnSpc>
                <a:spcPct val="90000"/>
              </a:lnSpc>
            </a:pPr>
            <a:r>
              <a:rPr lang="en-US" altLang="en-US" sz="2400" dirty="0" err="1">
                <a:cs typeface="Times New Roman" panose="02020603050405020304" pitchFamily="18" charset="0"/>
              </a:rPr>
              <a:t>Lấy</a:t>
            </a:r>
            <a:r>
              <a:rPr lang="en-US" altLang="en-US" sz="2400" dirty="0">
                <a:cs typeface="Times New Roman" panose="02020603050405020304" pitchFamily="18" charset="0"/>
              </a:rPr>
              <a:t> </a:t>
            </a:r>
            <a:r>
              <a:rPr lang="en-US" altLang="en-US" sz="2400" dirty="0" err="1">
                <a:cs typeface="Times New Roman" panose="02020603050405020304" pitchFamily="18" charset="0"/>
              </a:rPr>
              <a:t>ra</a:t>
            </a:r>
            <a:r>
              <a:rPr lang="en-US" altLang="en-US" sz="2400" dirty="0">
                <a:cs typeface="Times New Roman" panose="02020603050405020304" pitchFamily="18" charset="0"/>
              </a:rPr>
              <a:t> </a:t>
            </a:r>
            <a:r>
              <a:rPr lang="en-US" altLang="en-US" sz="2400" dirty="0" err="1">
                <a:cs typeface="Times New Roman" panose="02020603050405020304" pitchFamily="18" charset="0"/>
              </a:rPr>
              <a:t>một</a:t>
            </a:r>
            <a:r>
              <a:rPr lang="en-US" altLang="en-US" sz="2400" dirty="0">
                <a:cs typeface="Times New Roman" panose="02020603050405020304" pitchFamily="18" charset="0"/>
              </a:rPr>
              <a:t> </a:t>
            </a:r>
            <a:r>
              <a:rPr lang="en-US" altLang="en-US" sz="2400" dirty="0" err="1">
                <a:cs typeface="Times New Roman" panose="02020603050405020304" pitchFamily="18" charset="0"/>
              </a:rPr>
              <a:t>nút</a:t>
            </a:r>
            <a:r>
              <a:rPr lang="en-US" altLang="en-US" sz="2400" dirty="0">
                <a:cs typeface="Times New Roman" panose="02020603050405020304" pitchFamily="18" charset="0"/>
              </a:rPr>
              <a:t> </a:t>
            </a:r>
          </a:p>
          <a:p>
            <a:pPr lvl="1">
              <a:lnSpc>
                <a:spcPct val="90000"/>
              </a:lnSpc>
            </a:pPr>
            <a:r>
              <a:rPr lang="en-US" altLang="en-US" sz="2000" dirty="0" err="1">
                <a:cs typeface="Times New Roman" panose="02020603050405020304" pitchFamily="18" charset="0"/>
              </a:rPr>
              <a:t>Xác</a:t>
            </a:r>
            <a:r>
              <a:rPr lang="en-US" altLang="en-US" sz="2000" dirty="0">
                <a:cs typeface="Times New Roman" panose="02020603050405020304" pitchFamily="18" charset="0"/>
              </a:rPr>
              <a:t> </a:t>
            </a:r>
            <a:r>
              <a:rPr lang="en-US" altLang="en-US" sz="2000" dirty="0" err="1">
                <a:cs typeface="Times New Roman" panose="02020603050405020304" pitchFamily="18" charset="0"/>
              </a:rPr>
              <a:t>định</a:t>
            </a:r>
            <a:r>
              <a:rPr lang="en-US" altLang="en-US" sz="2000" dirty="0">
                <a:cs typeface="Times New Roman" panose="02020603050405020304" pitchFamily="18" charset="0"/>
              </a:rPr>
              <a:t> </a:t>
            </a:r>
            <a:r>
              <a:rPr lang="en-US" altLang="en-US" sz="2000" dirty="0" err="1">
                <a:cs typeface="Times New Roman" panose="02020603050405020304" pitchFamily="18" charset="0"/>
              </a:rPr>
              <a:t>vị</a:t>
            </a:r>
            <a:r>
              <a:rPr lang="en-US" altLang="en-US" sz="2000" dirty="0">
                <a:cs typeface="Times New Roman" panose="02020603050405020304" pitchFamily="18" charset="0"/>
              </a:rPr>
              <a:t> </a:t>
            </a:r>
            <a:r>
              <a:rPr lang="en-US" altLang="en-US" sz="2000" dirty="0" err="1">
                <a:cs typeface="Times New Roman" panose="02020603050405020304" pitchFamily="18" charset="0"/>
              </a:rPr>
              <a:t>trí</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lấy</a:t>
            </a:r>
            <a:r>
              <a:rPr lang="en-US" altLang="en-US" sz="2000" dirty="0">
                <a:cs typeface="Times New Roman" panose="02020603050405020304" pitchFamily="18" charset="0"/>
              </a:rPr>
              <a:t> </a:t>
            </a:r>
            <a:r>
              <a:rPr lang="en-US" altLang="en-US" sz="2000" dirty="0" err="1">
                <a:cs typeface="Times New Roman" panose="02020603050405020304" pitchFamily="18" charset="0"/>
              </a:rPr>
              <a:t>ra</a:t>
            </a:r>
            <a:endParaRPr lang="en-US" altLang="en-US" sz="2000" dirty="0">
              <a:cs typeface="Times New Roman" panose="02020603050405020304" pitchFamily="18" charset="0"/>
            </a:endParaRPr>
          </a:p>
          <a:p>
            <a:pPr lvl="1">
              <a:lnSpc>
                <a:spcPct val="90000"/>
              </a:lnSpc>
            </a:pPr>
            <a:r>
              <a:rPr lang="en-US" altLang="en-US" sz="2000" dirty="0" err="1">
                <a:cs typeface="Times New Roman" panose="02020603050405020304" pitchFamily="18" charset="0"/>
              </a:rPr>
              <a:t>Cấu</a:t>
            </a:r>
            <a:r>
              <a:rPr lang="en-US" altLang="en-US" sz="2000" dirty="0">
                <a:cs typeface="Times New Roman" panose="02020603050405020304" pitchFamily="18" charset="0"/>
              </a:rPr>
              <a:t> </a:t>
            </a:r>
            <a:r>
              <a:rPr lang="en-US" altLang="en-US" sz="2000" dirty="0" err="1">
                <a:cs typeface="Times New Roman" panose="02020603050405020304" pitchFamily="18" charset="0"/>
              </a:rPr>
              <a:t>trúc</a:t>
            </a:r>
            <a:r>
              <a:rPr lang="en-US" altLang="en-US" sz="2000" dirty="0">
                <a:cs typeface="Times New Roman" panose="02020603050405020304" pitchFamily="18" charset="0"/>
              </a:rPr>
              <a:t> </a:t>
            </a:r>
            <a:r>
              <a:rPr lang="en-US" altLang="en-US" sz="2000" dirty="0" err="1">
                <a:cs typeface="Times New Roman" panose="02020603050405020304" pitchFamily="18" charset="0"/>
              </a:rPr>
              <a:t>lại</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sau</a:t>
            </a:r>
            <a:r>
              <a:rPr lang="en-US" altLang="en-US" sz="2000" dirty="0">
                <a:cs typeface="Times New Roman" panose="02020603050405020304" pitchFamily="18" charset="0"/>
              </a:rPr>
              <a:t> </a:t>
            </a:r>
            <a:r>
              <a:rPr lang="en-US" altLang="en-US" sz="2000" dirty="0" err="1">
                <a:cs typeface="Times New Roman" panose="02020603050405020304" pitchFamily="18" charset="0"/>
              </a:rPr>
              <a:t>loại</a:t>
            </a:r>
            <a:r>
              <a:rPr lang="en-US" altLang="en-US" sz="2000" dirty="0">
                <a:cs typeface="Times New Roman" panose="02020603050405020304" pitchFamily="18" charset="0"/>
              </a:rPr>
              <a:t> </a:t>
            </a:r>
            <a:r>
              <a:rPr lang="en-US" altLang="en-US" sz="2000" dirty="0" err="1">
                <a:cs typeface="Times New Roman" panose="02020603050405020304" pitchFamily="18" charset="0"/>
              </a:rPr>
              <a:t>bỏ</a:t>
            </a:r>
            <a:endParaRPr lang="en-US" altLang="en-US" sz="2000" dirty="0">
              <a:cs typeface="Times New Roman" panose="02020603050405020304" pitchFamily="18" charset="0"/>
            </a:endParaRPr>
          </a:p>
          <a:p>
            <a:pPr>
              <a:lnSpc>
                <a:spcPct val="90000"/>
              </a:lnSpc>
            </a:pPr>
            <a:r>
              <a:rPr lang="en-US" altLang="en-US" sz="2400" dirty="0" err="1">
                <a:cs typeface="Times New Roman" panose="02020603050405020304" pitchFamily="18" charset="0"/>
              </a:rPr>
              <a:t>Tìm</a:t>
            </a:r>
            <a:r>
              <a:rPr lang="en-US" altLang="en-US" sz="2400" dirty="0">
                <a:cs typeface="Times New Roman" panose="02020603050405020304" pitchFamily="18" charset="0"/>
              </a:rPr>
              <a:t> cha </a:t>
            </a:r>
            <a:r>
              <a:rPr lang="en-US" altLang="en-US" sz="2400" dirty="0" err="1">
                <a:cs typeface="Times New Roman" panose="02020603050405020304" pitchFamily="18" charset="0"/>
              </a:rPr>
              <a:t>mỗi</a:t>
            </a:r>
            <a:r>
              <a:rPr lang="en-US" altLang="en-US" sz="2400" dirty="0">
                <a:cs typeface="Times New Roman" panose="02020603050405020304" pitchFamily="18" charset="0"/>
              </a:rPr>
              <a:t> </a:t>
            </a:r>
            <a:r>
              <a:rPr lang="en-US" altLang="en-US" sz="2400" dirty="0" err="1">
                <a:cs typeface="Times New Roman" panose="02020603050405020304" pitchFamily="18" charset="0"/>
              </a:rPr>
              <a:t>nút</a:t>
            </a:r>
            <a:endParaRPr lang="en-US" altLang="en-US" sz="2400" dirty="0">
              <a:cs typeface="Times New Roman" panose="02020603050405020304" pitchFamily="18" charset="0"/>
            </a:endParaRPr>
          </a:p>
          <a:p>
            <a:pPr lvl="1">
              <a:lnSpc>
                <a:spcPct val="90000"/>
              </a:lnSpc>
            </a:pPr>
            <a:r>
              <a:rPr lang="en-US" altLang="en-US" sz="2000" dirty="0">
                <a:cs typeface="Times New Roman" panose="02020603050405020304" pitchFamily="18" charset="0"/>
              </a:rPr>
              <a:t>Parent(x)</a:t>
            </a:r>
          </a:p>
          <a:p>
            <a:pPr>
              <a:lnSpc>
                <a:spcPct val="90000"/>
              </a:lnSpc>
            </a:pPr>
            <a:r>
              <a:rPr lang="en-US" altLang="en-US" sz="2400" dirty="0" err="1">
                <a:cs typeface="Times New Roman" panose="02020603050405020304" pitchFamily="18" charset="0"/>
              </a:rPr>
              <a:t>Tìm</a:t>
            </a:r>
            <a:r>
              <a:rPr lang="en-US" altLang="en-US" sz="2400" dirty="0">
                <a:cs typeface="Times New Roman" panose="02020603050405020304" pitchFamily="18" charset="0"/>
              </a:rPr>
              <a:t> con </a:t>
            </a:r>
            <a:r>
              <a:rPr lang="en-US" altLang="en-US" sz="2400" dirty="0" err="1">
                <a:cs typeface="Times New Roman" panose="02020603050405020304" pitchFamily="18" charset="0"/>
              </a:rPr>
              <a:t>bên</a:t>
            </a:r>
            <a:r>
              <a:rPr lang="en-US" altLang="en-US" sz="2400" dirty="0">
                <a:cs typeface="Times New Roman" panose="02020603050405020304" pitchFamily="18" charset="0"/>
              </a:rPr>
              <a:t> </a:t>
            </a:r>
            <a:r>
              <a:rPr lang="en-US" altLang="en-US" sz="2400" dirty="0" err="1">
                <a:cs typeface="Times New Roman" panose="02020603050405020304" pitchFamily="18" charset="0"/>
              </a:rPr>
              <a:t>trái</a:t>
            </a:r>
            <a:r>
              <a:rPr lang="en-US" altLang="en-US" sz="2400" dirty="0">
                <a:cs typeface="Times New Roman" panose="02020603050405020304" pitchFamily="18" charset="0"/>
              </a:rPr>
              <a:t> </a:t>
            </a:r>
            <a:r>
              <a:rPr lang="en-US" altLang="en-US" sz="2400" dirty="0" err="1">
                <a:cs typeface="Times New Roman" panose="02020603050405020304" pitchFamily="18" charset="0"/>
              </a:rPr>
              <a:t>ngoài</a:t>
            </a:r>
            <a:r>
              <a:rPr lang="en-US" altLang="en-US" sz="2400" dirty="0">
                <a:cs typeface="Times New Roman" panose="02020603050405020304" pitchFamily="18" charset="0"/>
              </a:rPr>
              <a:t> </a:t>
            </a:r>
            <a:r>
              <a:rPr lang="en-US" altLang="en-US" sz="2400" dirty="0" err="1">
                <a:cs typeface="Times New Roman" panose="02020603050405020304" pitchFamily="18" charset="0"/>
              </a:rPr>
              <a:t>cùng</a:t>
            </a:r>
            <a:r>
              <a:rPr lang="en-US" altLang="en-US" sz="2400" dirty="0">
                <a:cs typeface="Times New Roman" panose="02020603050405020304" pitchFamily="18" charset="0"/>
              </a:rPr>
              <a:t> (con </a:t>
            </a:r>
            <a:r>
              <a:rPr lang="en-US" altLang="en-US" sz="2400" dirty="0" err="1">
                <a:cs typeface="Times New Roman" panose="02020603050405020304" pitchFamily="18" charset="0"/>
              </a:rPr>
              <a:t>trưởng</a:t>
            </a:r>
            <a:r>
              <a:rPr lang="en-US" altLang="en-US" sz="2400" dirty="0">
                <a:cs typeface="Times New Roman" panose="02020603050405020304" pitchFamily="18" charset="0"/>
              </a:rPr>
              <a:t>) </a:t>
            </a:r>
            <a:r>
              <a:rPr lang="en-US" altLang="en-US" sz="2400" dirty="0" err="1">
                <a:cs typeface="Times New Roman" panose="02020603050405020304" pitchFamily="18" charset="0"/>
              </a:rPr>
              <a:t>của</a:t>
            </a:r>
            <a:r>
              <a:rPr lang="en-US" altLang="en-US" sz="2400" dirty="0">
                <a:cs typeface="Times New Roman" panose="02020603050405020304" pitchFamily="18" charset="0"/>
              </a:rPr>
              <a:t> </a:t>
            </a:r>
            <a:r>
              <a:rPr lang="en-US" altLang="en-US" sz="2400" dirty="0" err="1">
                <a:cs typeface="Times New Roman" panose="02020603050405020304" pitchFamily="18" charset="0"/>
              </a:rPr>
              <a:t>mỗi</a:t>
            </a:r>
            <a:r>
              <a:rPr lang="en-US" altLang="en-US" sz="2400" dirty="0">
                <a:cs typeface="Times New Roman" panose="02020603050405020304" pitchFamily="18" charset="0"/>
              </a:rPr>
              <a:t> </a:t>
            </a:r>
            <a:r>
              <a:rPr lang="en-US" altLang="en-US" sz="2400" dirty="0" err="1">
                <a:cs typeface="Times New Roman" panose="02020603050405020304" pitchFamily="18" charset="0"/>
              </a:rPr>
              <a:t>nút</a:t>
            </a:r>
            <a:endParaRPr lang="en-US" altLang="en-US" sz="2400" dirty="0">
              <a:cs typeface="Times New Roman" panose="02020603050405020304" pitchFamily="18" charset="0"/>
            </a:endParaRPr>
          </a:p>
          <a:p>
            <a:pPr lvl="1">
              <a:lnSpc>
                <a:spcPct val="90000"/>
              </a:lnSpc>
            </a:pPr>
            <a:r>
              <a:rPr lang="en-US" altLang="en-US" sz="2000" dirty="0" err="1">
                <a:cs typeface="Times New Roman" panose="02020603050405020304" pitchFamily="18" charset="0"/>
              </a:rPr>
              <a:t>EldestChild</a:t>
            </a:r>
            <a:r>
              <a:rPr lang="en-US" altLang="en-US" sz="2000" dirty="0">
                <a:cs typeface="Times New Roman" panose="02020603050405020304" pitchFamily="18" charset="0"/>
              </a:rPr>
              <a:t>(x)</a:t>
            </a:r>
          </a:p>
          <a:p>
            <a:pPr>
              <a:lnSpc>
                <a:spcPct val="90000"/>
              </a:lnSpc>
            </a:pPr>
            <a:r>
              <a:rPr lang="en-US" altLang="en-US" sz="2400" dirty="0" err="1">
                <a:cs typeface="Times New Roman" panose="02020603050405020304" pitchFamily="18" charset="0"/>
              </a:rPr>
              <a:t>Tìm</a:t>
            </a:r>
            <a:r>
              <a:rPr lang="en-US" altLang="en-US" sz="2400" dirty="0">
                <a:cs typeface="Times New Roman" panose="02020603050405020304" pitchFamily="18" charset="0"/>
              </a:rPr>
              <a:t> </a:t>
            </a:r>
            <a:r>
              <a:rPr lang="en-US" altLang="en-US" sz="2400" dirty="0" err="1">
                <a:cs typeface="Times New Roman" panose="02020603050405020304" pitchFamily="18" charset="0"/>
              </a:rPr>
              <a:t>anh</a:t>
            </a:r>
            <a:r>
              <a:rPr lang="en-US" altLang="en-US" sz="2400" dirty="0">
                <a:cs typeface="Times New Roman" panose="02020603050405020304" pitchFamily="18" charset="0"/>
              </a:rPr>
              <a:t>/</a:t>
            </a:r>
            <a:r>
              <a:rPr lang="en-US" altLang="en-US" sz="2400" dirty="0" err="1">
                <a:cs typeface="Times New Roman" panose="02020603050405020304" pitchFamily="18" charset="0"/>
              </a:rPr>
              <a:t>em</a:t>
            </a:r>
            <a:r>
              <a:rPr lang="en-US" altLang="en-US" sz="2400" dirty="0">
                <a:cs typeface="Times New Roman" panose="02020603050405020304" pitchFamily="18" charset="0"/>
              </a:rPr>
              <a:t> </a:t>
            </a:r>
            <a:r>
              <a:rPr lang="en-US" altLang="en-US" sz="2400" dirty="0" err="1">
                <a:cs typeface="Times New Roman" panose="02020603050405020304" pitchFamily="18" charset="0"/>
              </a:rPr>
              <a:t>liền</a:t>
            </a:r>
            <a:r>
              <a:rPr lang="en-US" altLang="en-US" sz="2400" dirty="0">
                <a:cs typeface="Times New Roman" panose="02020603050405020304" pitchFamily="18" charset="0"/>
              </a:rPr>
              <a:t> </a:t>
            </a:r>
            <a:r>
              <a:rPr lang="en-US" altLang="en-US" sz="2400" dirty="0" err="1">
                <a:cs typeface="Times New Roman" panose="02020603050405020304" pitchFamily="18" charset="0"/>
              </a:rPr>
              <a:t>kề</a:t>
            </a:r>
            <a:r>
              <a:rPr lang="en-US" altLang="en-US" sz="2400" dirty="0">
                <a:cs typeface="Times New Roman" panose="02020603050405020304" pitchFamily="18" charset="0"/>
              </a:rPr>
              <a:t> </a:t>
            </a:r>
            <a:r>
              <a:rPr lang="en-US" altLang="en-US" sz="2400" dirty="0" err="1">
                <a:cs typeface="Times New Roman" panose="02020603050405020304" pitchFamily="18" charset="0"/>
              </a:rPr>
              <a:t>mỗi</a:t>
            </a:r>
            <a:r>
              <a:rPr lang="en-US" altLang="en-US" sz="2400" dirty="0">
                <a:cs typeface="Times New Roman" panose="02020603050405020304" pitchFamily="18" charset="0"/>
              </a:rPr>
              <a:t> </a:t>
            </a:r>
            <a:r>
              <a:rPr lang="en-US" altLang="en-US" sz="2400" dirty="0" err="1">
                <a:cs typeface="Times New Roman" panose="02020603050405020304" pitchFamily="18" charset="0"/>
              </a:rPr>
              <a:t>nút</a:t>
            </a:r>
            <a:endParaRPr lang="en-US" altLang="en-US" sz="2400" dirty="0">
              <a:cs typeface="Times New Roman" panose="02020603050405020304" pitchFamily="18" charset="0"/>
            </a:endParaRPr>
          </a:p>
          <a:p>
            <a:pPr lvl="1">
              <a:lnSpc>
                <a:spcPct val="90000"/>
              </a:lnSpc>
            </a:pPr>
            <a:r>
              <a:rPr lang="en-US" altLang="en-US" sz="2000" dirty="0" err="1">
                <a:cs typeface="Times New Roman" panose="02020603050405020304" pitchFamily="18" charset="0"/>
              </a:rPr>
              <a:t>NextSibling</a:t>
            </a:r>
            <a:r>
              <a:rPr lang="en-US" altLang="en-US" sz="2000" dirty="0">
                <a:cs typeface="Times New Roman" panose="02020603050405020304" pitchFamily="18" charset="0"/>
              </a:rPr>
              <a:t>(x)</a:t>
            </a:r>
          </a:p>
        </p:txBody>
      </p:sp>
    </p:spTree>
    <p:extLst>
      <p:ext uri="{BB962C8B-B14F-4D97-AF65-F5344CB8AC3E}">
        <p14:creationId xmlns:p14="http://schemas.microsoft.com/office/powerpoint/2010/main" val="762164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8">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268">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26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268">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268">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268">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268">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268">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268">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268">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268">
                                            <p:txEl>
                                              <p:pRg st="11" end="11"/>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126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Rectangle 3"/>
          <p:cNvSpPr>
            <a:spLocks noGrp="1" noChangeArrowheads="1"/>
          </p:cNvSpPr>
          <p:nvPr>
            <p:ph type="title"/>
          </p:nvPr>
        </p:nvSpPr>
        <p:spPr>
          <a:noFill/>
        </p:spPr>
        <p:txBody>
          <a:bodyPr/>
          <a:lstStyle/>
          <a:p>
            <a:pPr eaLnBrk="1" hangingPunct="1"/>
            <a:r>
              <a:rPr lang="en-US" altLang="en-US" dirty="0" err="1"/>
              <a:t>Các</a:t>
            </a:r>
            <a:r>
              <a:rPr lang="en-US" altLang="en-US" dirty="0"/>
              <a:t> </a:t>
            </a:r>
            <a:r>
              <a:rPr lang="en-US" altLang="en-US" dirty="0" err="1"/>
              <a:t>thao</a:t>
            </a:r>
            <a:r>
              <a:rPr lang="en-US" altLang="en-US" dirty="0"/>
              <a:t> </a:t>
            </a:r>
            <a:r>
              <a:rPr lang="en-US" altLang="en-US" dirty="0" err="1"/>
              <a:t>tác</a:t>
            </a:r>
            <a:r>
              <a:rPr lang="en-US" altLang="en-US" dirty="0"/>
              <a:t> </a:t>
            </a:r>
            <a:r>
              <a:rPr lang="en-US" altLang="en-US" dirty="0" err="1"/>
              <a:t>cơ</a:t>
            </a:r>
            <a:r>
              <a:rPr lang="en-US" altLang="en-US" dirty="0"/>
              <a:t> </a:t>
            </a:r>
            <a:r>
              <a:rPr lang="en-US" altLang="en-US" dirty="0" err="1"/>
              <a:t>bản</a:t>
            </a:r>
            <a:r>
              <a:rPr lang="en-US" altLang="en-US" dirty="0"/>
              <a:t> </a:t>
            </a:r>
            <a:r>
              <a:rPr lang="en-US" altLang="en-US" dirty="0" err="1"/>
              <a:t>trên</a:t>
            </a:r>
            <a:r>
              <a:rPr lang="en-US" altLang="en-US" dirty="0"/>
              <a:t> </a:t>
            </a:r>
            <a:r>
              <a:rPr lang="en-US" altLang="en-US" dirty="0" err="1"/>
              <a:t>cây</a:t>
            </a:r>
            <a:endParaRPr lang="en-US" altLang="en-US" dirty="0"/>
          </a:p>
        </p:txBody>
      </p:sp>
      <p:sp>
        <p:nvSpPr>
          <p:cNvPr id="12292" name="Rectangle 2"/>
          <p:cNvSpPr>
            <a:spLocks noGrp="1" noChangeArrowheads="1"/>
          </p:cNvSpPr>
          <p:nvPr>
            <p:ph type="body" sz="quarter" idx="13"/>
          </p:nvPr>
        </p:nvSpPr>
        <p:spPr>
          <a:noFill/>
        </p:spPr>
        <p:txBody>
          <a:bodyPr>
            <a:normAutofit lnSpcReduction="10000"/>
          </a:bodyPr>
          <a:lstStyle/>
          <a:p>
            <a:r>
              <a:rPr lang="en-US" altLang="en-US" sz="2400" u="sng" dirty="0" err="1">
                <a:cs typeface="Times New Roman" panose="02020603050405020304" pitchFamily="18" charset="0"/>
              </a:rPr>
              <a:t>Duyệt</a:t>
            </a:r>
            <a:r>
              <a:rPr lang="en-US" altLang="en-US" sz="2400" u="sng" dirty="0">
                <a:cs typeface="Times New Roman" panose="02020603050405020304" pitchFamily="18" charset="0"/>
              </a:rPr>
              <a:t> </a:t>
            </a:r>
            <a:r>
              <a:rPr lang="en-US" altLang="en-US" sz="2400" u="sng" dirty="0" err="1">
                <a:cs typeface="Times New Roman" panose="02020603050405020304" pitchFamily="18" charset="0"/>
              </a:rPr>
              <a:t>cây</a:t>
            </a:r>
            <a:r>
              <a:rPr lang="en-US" altLang="en-US" sz="2400" dirty="0">
                <a:cs typeface="Times New Roman" panose="02020603050405020304" pitchFamily="18" charset="0"/>
              </a:rPr>
              <a:t>: </a:t>
            </a:r>
            <a:r>
              <a:rPr lang="en-US" altLang="en-US" sz="2400" dirty="0" err="1">
                <a:cs typeface="Times New Roman" panose="02020603050405020304" pitchFamily="18" charset="0"/>
              </a:rPr>
              <a:t>truy</a:t>
            </a:r>
            <a:r>
              <a:rPr lang="en-US" altLang="en-US" sz="2400" dirty="0">
                <a:cs typeface="Times New Roman" panose="02020603050405020304" pitchFamily="18" charset="0"/>
              </a:rPr>
              <a:t> </a:t>
            </a:r>
            <a:r>
              <a:rPr lang="en-US" altLang="en-US" sz="2400" dirty="0" err="1">
                <a:cs typeface="Times New Roman" panose="02020603050405020304" pitchFamily="18" charset="0"/>
              </a:rPr>
              <a:t>nhập</a:t>
            </a:r>
            <a:r>
              <a:rPr lang="en-US" altLang="en-US" sz="2400" dirty="0">
                <a:cs typeface="Times New Roman" panose="02020603050405020304" pitchFamily="18" charset="0"/>
              </a:rPr>
              <a:t> </a:t>
            </a:r>
            <a:r>
              <a:rPr lang="en-US" altLang="en-US" sz="2400" dirty="0" err="1">
                <a:cs typeface="Times New Roman" panose="02020603050405020304" pitchFamily="18" charset="0"/>
              </a:rPr>
              <a:t>vào</a:t>
            </a:r>
            <a:r>
              <a:rPr lang="en-US" altLang="en-US" sz="2400" dirty="0">
                <a:cs typeface="Times New Roman" panose="02020603050405020304" pitchFamily="18" charset="0"/>
              </a:rPr>
              <a:t> </a:t>
            </a:r>
            <a:r>
              <a:rPr lang="en-US" altLang="en-US" sz="2400" dirty="0" err="1">
                <a:cs typeface="Times New Roman" panose="02020603050405020304" pitchFamily="18" charset="0"/>
              </a:rPr>
              <a:t>tất</a:t>
            </a:r>
            <a:r>
              <a:rPr lang="en-US" altLang="en-US" sz="2400" dirty="0">
                <a:cs typeface="Times New Roman" panose="02020603050405020304" pitchFamily="18" charset="0"/>
              </a:rPr>
              <a:t> </a:t>
            </a:r>
            <a:r>
              <a:rPr lang="en-US" altLang="en-US" sz="2400" dirty="0" err="1">
                <a:cs typeface="Times New Roman" panose="02020603050405020304" pitchFamily="18" charset="0"/>
              </a:rPr>
              <a:t>cả</a:t>
            </a:r>
            <a:r>
              <a:rPr lang="en-US" altLang="en-US" sz="2400" dirty="0">
                <a:cs typeface="Times New Roman" panose="02020603050405020304" pitchFamily="18" charset="0"/>
              </a:rPr>
              <a:t> </a:t>
            </a:r>
            <a:r>
              <a:rPr lang="en-US" altLang="en-US" sz="2400" dirty="0" err="1">
                <a:cs typeface="Times New Roman" panose="02020603050405020304" pitchFamily="18" charset="0"/>
              </a:rPr>
              <a:t>các</a:t>
            </a:r>
            <a:r>
              <a:rPr lang="en-US" altLang="en-US" sz="2400" dirty="0">
                <a:cs typeface="Times New Roman" panose="02020603050405020304" pitchFamily="18" charset="0"/>
              </a:rPr>
              <a:t> </a:t>
            </a:r>
            <a:r>
              <a:rPr lang="en-US" altLang="en-US" sz="2400" dirty="0" err="1">
                <a:cs typeface="Times New Roman" panose="02020603050405020304" pitchFamily="18" charset="0"/>
              </a:rPr>
              <a:t>nút</a:t>
            </a:r>
            <a:r>
              <a:rPr lang="en-US" altLang="en-US" sz="2400" dirty="0">
                <a:cs typeface="Times New Roman" panose="02020603050405020304" pitchFamily="18" charset="0"/>
              </a:rPr>
              <a:t> </a:t>
            </a:r>
            <a:r>
              <a:rPr lang="en-US" altLang="en-US" sz="2400" dirty="0" err="1">
                <a:cs typeface="Times New Roman" panose="02020603050405020304" pitchFamily="18" charset="0"/>
              </a:rPr>
              <a:t>của</a:t>
            </a:r>
            <a:r>
              <a:rPr lang="en-US" altLang="en-US" sz="2400" dirty="0">
                <a:cs typeface="Times New Roman" panose="02020603050405020304" pitchFamily="18" charset="0"/>
              </a:rPr>
              <a:t> </a:t>
            </a:r>
            <a:r>
              <a:rPr lang="en-US" altLang="en-US" sz="2400" dirty="0" err="1">
                <a:cs typeface="Times New Roman" panose="02020603050405020304" pitchFamily="18" charset="0"/>
              </a:rPr>
              <a:t>cây</a:t>
            </a:r>
            <a:r>
              <a:rPr lang="en-US" altLang="en-US" sz="2400" dirty="0">
                <a:cs typeface="Times New Roman" panose="02020603050405020304" pitchFamily="18" charset="0"/>
              </a:rPr>
              <a:t>, </a:t>
            </a:r>
            <a:r>
              <a:rPr lang="en-US" altLang="en-US" sz="2400" dirty="0" err="1">
                <a:cs typeface="Times New Roman" panose="02020603050405020304" pitchFamily="18" charset="0"/>
              </a:rPr>
              <a:t>mỗi</a:t>
            </a:r>
            <a:r>
              <a:rPr lang="en-US" altLang="en-US" sz="2400" dirty="0">
                <a:cs typeface="Times New Roman" panose="02020603050405020304" pitchFamily="18" charset="0"/>
              </a:rPr>
              <a:t> </a:t>
            </a:r>
            <a:r>
              <a:rPr lang="en-US" altLang="en-US" sz="2400" dirty="0" err="1">
                <a:cs typeface="Times New Roman" panose="02020603050405020304" pitchFamily="18" charset="0"/>
              </a:rPr>
              <a:t>nút</a:t>
            </a:r>
            <a:r>
              <a:rPr lang="en-US" altLang="en-US" sz="2400" dirty="0">
                <a:cs typeface="Times New Roman" panose="02020603050405020304" pitchFamily="18" charset="0"/>
              </a:rPr>
              <a:t> </a:t>
            </a:r>
            <a:r>
              <a:rPr lang="en-US" altLang="en-US" sz="2400" dirty="0" err="1">
                <a:cs typeface="Times New Roman" panose="02020603050405020304" pitchFamily="18" charset="0"/>
              </a:rPr>
              <a:t>đúng</a:t>
            </a:r>
            <a:r>
              <a:rPr lang="en-US" altLang="en-US" sz="2400" dirty="0">
                <a:cs typeface="Times New Roman" panose="02020603050405020304" pitchFamily="18" charset="0"/>
              </a:rPr>
              <a:t> </a:t>
            </a:r>
            <a:r>
              <a:rPr lang="en-US" altLang="en-US" sz="2400" dirty="0" err="1">
                <a:cs typeface="Times New Roman" panose="02020603050405020304" pitchFamily="18" charset="0"/>
              </a:rPr>
              <a:t>một</a:t>
            </a:r>
            <a:r>
              <a:rPr lang="en-US" altLang="en-US" sz="2400" dirty="0">
                <a:cs typeface="Times New Roman" panose="02020603050405020304" pitchFamily="18" charset="0"/>
              </a:rPr>
              <a:t> </a:t>
            </a:r>
            <a:r>
              <a:rPr lang="en-US" altLang="en-US" sz="2400" dirty="0" err="1">
                <a:cs typeface="Times New Roman" panose="02020603050405020304" pitchFamily="18" charset="0"/>
              </a:rPr>
              <a:t>lần</a:t>
            </a:r>
            <a:endParaRPr lang="en-US" altLang="en-US" sz="2400" dirty="0">
              <a:cs typeface="Times New Roman" panose="02020603050405020304" pitchFamily="18" charset="0"/>
            </a:endParaRPr>
          </a:p>
          <a:p>
            <a:pPr lvl="1"/>
            <a:r>
              <a:rPr lang="en-US" altLang="en-US" sz="2400" dirty="0">
                <a:cs typeface="Times New Roman" panose="02020603050405020304" pitchFamily="18" charset="0"/>
              </a:rPr>
              <a:t>Preorder (</a:t>
            </a:r>
            <a:r>
              <a:rPr lang="en-US" altLang="en-US" sz="2400" dirty="0" err="1">
                <a:cs typeface="Times New Roman" panose="02020603050405020304" pitchFamily="18" charset="0"/>
              </a:rPr>
              <a:t>tiền</a:t>
            </a:r>
            <a:r>
              <a:rPr lang="en-US" altLang="en-US" sz="2400" dirty="0">
                <a:cs typeface="Times New Roman" panose="02020603050405020304" pitchFamily="18" charset="0"/>
              </a:rPr>
              <a:t> </a:t>
            </a:r>
            <a:r>
              <a:rPr lang="en-US" altLang="en-US" sz="2400" dirty="0" err="1">
                <a:cs typeface="Times New Roman" panose="02020603050405020304" pitchFamily="18" charset="0"/>
              </a:rPr>
              <a:t>tự</a:t>
            </a:r>
            <a:r>
              <a:rPr lang="en-US" altLang="en-US" sz="2400" dirty="0">
                <a:cs typeface="Times New Roman" panose="02020603050405020304" pitchFamily="18" charset="0"/>
              </a:rPr>
              <a:t>): 1, 2, 4, 3, 5, 7, 6, 8, 9</a:t>
            </a:r>
          </a:p>
          <a:p>
            <a:pPr lvl="1"/>
            <a:r>
              <a:rPr lang="en-US" altLang="en-US" sz="2100" dirty="0" err="1">
                <a:cs typeface="Times New Roman" panose="02020603050405020304" pitchFamily="18" charset="0"/>
              </a:rPr>
              <a:t>Postorder</a:t>
            </a:r>
            <a:r>
              <a:rPr lang="en-US" altLang="en-US" sz="2100" dirty="0">
                <a:cs typeface="Times New Roman" panose="02020603050405020304" pitchFamily="18" charset="0"/>
              </a:rPr>
              <a:t> (</a:t>
            </a:r>
            <a:r>
              <a:rPr lang="en-US" sz="2400" dirty="0" err="1"/>
              <a:t>hậu</a:t>
            </a:r>
            <a:r>
              <a:rPr lang="en-US" sz="2400" dirty="0"/>
              <a:t> </a:t>
            </a:r>
            <a:r>
              <a:rPr lang="en-US" sz="2400" dirty="0" err="1"/>
              <a:t>tự</a:t>
            </a:r>
            <a:r>
              <a:rPr lang="en-US" sz="2400" dirty="0"/>
              <a:t> </a:t>
            </a:r>
            <a:r>
              <a:rPr lang="en-US" altLang="en-US" sz="2100" dirty="0">
                <a:cs typeface="Times New Roman" panose="02020603050405020304" pitchFamily="18" charset="0"/>
              </a:rPr>
              <a:t>):  8 , 4, 3, 5, 6, 9, 2, 7, 1</a:t>
            </a:r>
          </a:p>
          <a:p>
            <a:endParaRPr lang="en-US" altLang="en-US" sz="2400" u="sng" dirty="0">
              <a:cs typeface="Times New Roman" panose="02020603050405020304" pitchFamily="18" charset="0"/>
            </a:endParaRPr>
          </a:p>
          <a:p>
            <a:r>
              <a:rPr lang="en-US" altLang="en-US" sz="2400" u="sng" dirty="0" err="1">
                <a:cs typeface="Times New Roman" panose="02020603050405020304" pitchFamily="18" charset="0"/>
              </a:rPr>
              <a:t>Tìm</a:t>
            </a:r>
            <a:r>
              <a:rPr lang="en-US" altLang="en-US" sz="2400" u="sng" dirty="0">
                <a:cs typeface="Times New Roman" panose="02020603050405020304" pitchFamily="18" charset="0"/>
              </a:rPr>
              <a:t> </a:t>
            </a:r>
            <a:r>
              <a:rPr lang="en-US" altLang="en-US" sz="2400" u="sng" dirty="0" err="1">
                <a:cs typeface="Times New Roman" panose="02020603050405020304" pitchFamily="18" charset="0"/>
              </a:rPr>
              <a:t>kiếm</a:t>
            </a:r>
            <a:r>
              <a:rPr lang="en-US" altLang="en-US" sz="2400" dirty="0">
                <a:cs typeface="Times New Roman" panose="02020603050405020304" pitchFamily="18" charset="0"/>
              </a:rPr>
              <a:t>: </a:t>
            </a:r>
            <a:r>
              <a:rPr lang="en-US" altLang="en-US" sz="2400" dirty="0" err="1">
                <a:cs typeface="Times New Roman" panose="02020603050405020304" pitchFamily="18" charset="0"/>
              </a:rPr>
              <a:t>một</a:t>
            </a:r>
            <a:r>
              <a:rPr lang="en-US" altLang="en-US" sz="2400" dirty="0">
                <a:cs typeface="Times New Roman" panose="02020603050405020304" pitchFamily="18" charset="0"/>
              </a:rPr>
              <a:t> hay </a:t>
            </a:r>
            <a:r>
              <a:rPr lang="en-US" altLang="en-US" sz="2400" dirty="0" err="1">
                <a:cs typeface="Times New Roman" panose="02020603050405020304" pitchFamily="18" charset="0"/>
              </a:rPr>
              <a:t>nhiều</a:t>
            </a:r>
            <a:r>
              <a:rPr lang="en-US" altLang="en-US" sz="2400" dirty="0">
                <a:cs typeface="Times New Roman" panose="02020603050405020304" pitchFamily="18" charset="0"/>
              </a:rPr>
              <a:t> </a:t>
            </a:r>
            <a:r>
              <a:rPr lang="en-US" altLang="en-US" sz="2400" dirty="0" err="1">
                <a:cs typeface="Times New Roman" panose="02020603050405020304" pitchFamily="18" charset="0"/>
              </a:rPr>
              <a:t>nút</a:t>
            </a:r>
            <a:r>
              <a:rPr lang="en-US" altLang="en-US" sz="2400" dirty="0">
                <a:cs typeface="Times New Roman" panose="02020603050405020304" pitchFamily="18" charset="0"/>
              </a:rPr>
              <a:t> </a:t>
            </a:r>
            <a:r>
              <a:rPr lang="en-US" altLang="en-US" sz="2400" dirty="0" err="1">
                <a:cs typeface="Times New Roman" panose="02020603050405020304" pitchFamily="18" charset="0"/>
              </a:rPr>
              <a:t>thoả</a:t>
            </a:r>
            <a:br>
              <a:rPr lang="en-US" altLang="en-US" sz="2400" dirty="0">
                <a:cs typeface="Times New Roman" panose="02020603050405020304" pitchFamily="18" charset="0"/>
              </a:rPr>
            </a:br>
            <a:r>
              <a:rPr lang="en-US" altLang="en-US" sz="2400" dirty="0" err="1">
                <a:cs typeface="Times New Roman" panose="02020603050405020304" pitchFamily="18" charset="0"/>
              </a:rPr>
              <a:t>một</a:t>
            </a:r>
            <a:r>
              <a:rPr lang="en-US" altLang="en-US" sz="2400" dirty="0">
                <a:cs typeface="Times New Roman" panose="02020603050405020304" pitchFamily="18" charset="0"/>
              </a:rPr>
              <a:t> </a:t>
            </a:r>
            <a:r>
              <a:rPr lang="en-US" altLang="en-US" sz="2400" dirty="0" err="1">
                <a:cs typeface="Times New Roman" panose="02020603050405020304" pitchFamily="18" charset="0"/>
              </a:rPr>
              <a:t>điều</a:t>
            </a:r>
            <a:r>
              <a:rPr lang="en-US" altLang="en-US" sz="2400" dirty="0">
                <a:cs typeface="Times New Roman" panose="02020603050405020304" pitchFamily="18" charset="0"/>
              </a:rPr>
              <a:t> </a:t>
            </a:r>
            <a:r>
              <a:rPr lang="en-US" altLang="en-US" sz="2400" dirty="0" err="1">
                <a:cs typeface="Times New Roman" panose="02020603050405020304" pitchFamily="18" charset="0"/>
              </a:rPr>
              <a:t>kiện</a:t>
            </a:r>
            <a:r>
              <a:rPr lang="en-US" altLang="en-US" sz="2400" dirty="0">
                <a:cs typeface="Times New Roman" panose="02020603050405020304" pitchFamily="18" charset="0"/>
              </a:rPr>
              <a:t> </a:t>
            </a:r>
            <a:r>
              <a:rPr lang="en-US" altLang="en-US" sz="2400" dirty="0" err="1">
                <a:cs typeface="Times New Roman" panose="02020603050405020304" pitchFamily="18" charset="0"/>
              </a:rPr>
              <a:t>nào</a:t>
            </a:r>
            <a:r>
              <a:rPr lang="en-US" altLang="en-US" sz="2400" dirty="0">
                <a:cs typeface="Times New Roman" panose="02020603050405020304" pitchFamily="18" charset="0"/>
              </a:rPr>
              <a:t> </a:t>
            </a:r>
            <a:r>
              <a:rPr lang="en-US" altLang="en-US" sz="2400" dirty="0" err="1">
                <a:cs typeface="Times New Roman" panose="02020603050405020304" pitchFamily="18" charset="0"/>
              </a:rPr>
              <a:t>đó</a:t>
            </a:r>
            <a:r>
              <a:rPr lang="en-US" altLang="en-US" sz="2400" dirty="0">
                <a:cs typeface="Times New Roman" panose="02020603050405020304" pitchFamily="18" charset="0"/>
              </a:rPr>
              <a:t>.</a:t>
            </a:r>
          </a:p>
          <a:p>
            <a:pPr>
              <a:lnSpc>
                <a:spcPct val="105000"/>
              </a:lnSpc>
              <a:spcBef>
                <a:spcPct val="10000"/>
              </a:spcBef>
            </a:pPr>
            <a:r>
              <a:rPr lang="en-US" altLang="en-US" sz="2400" u="sng" dirty="0" err="1">
                <a:cs typeface="Times New Roman" panose="02020603050405020304" pitchFamily="18" charset="0"/>
              </a:rPr>
              <a:t>Ghép</a:t>
            </a:r>
            <a:r>
              <a:rPr lang="en-US" altLang="en-US" sz="2400" u="sng" dirty="0">
                <a:cs typeface="Times New Roman" panose="02020603050405020304" pitchFamily="18" charset="0"/>
              </a:rPr>
              <a:t> </a:t>
            </a:r>
            <a:r>
              <a:rPr lang="en-US" altLang="en-US" sz="2400" u="sng" dirty="0" err="1">
                <a:cs typeface="Times New Roman" panose="02020603050405020304" pitchFamily="18" charset="0"/>
              </a:rPr>
              <a:t>cây</a:t>
            </a:r>
            <a:endParaRPr lang="en-US" altLang="en-US" sz="2400" u="sng" dirty="0">
              <a:solidFill>
                <a:srgbClr val="FF3399"/>
              </a:solidFill>
              <a:cs typeface="Times New Roman" panose="02020603050405020304" pitchFamily="18" charset="0"/>
            </a:endParaRPr>
          </a:p>
          <a:p>
            <a:pPr lvl="1">
              <a:lnSpc>
                <a:spcPct val="105000"/>
              </a:lnSpc>
              <a:spcBef>
                <a:spcPct val="10000"/>
              </a:spcBef>
            </a:pPr>
            <a:r>
              <a:rPr lang="en-US" altLang="en-US" sz="2400" dirty="0" err="1">
                <a:cs typeface="Times New Roman" panose="02020603050405020304" pitchFamily="18" charset="0"/>
              </a:rPr>
              <a:t>MergeTree</a:t>
            </a:r>
            <a:r>
              <a:rPr lang="en-US" altLang="en-US" sz="2400" dirty="0">
                <a:cs typeface="Times New Roman" panose="02020603050405020304" pitchFamily="18" charset="0"/>
              </a:rPr>
              <a:t>(T1,T2,x): x=1</a:t>
            </a:r>
          </a:p>
          <a:p>
            <a:pPr lvl="1">
              <a:lnSpc>
                <a:spcPct val="105000"/>
              </a:lnSpc>
              <a:spcBef>
                <a:spcPct val="10000"/>
              </a:spcBef>
            </a:pPr>
            <a:r>
              <a:rPr lang="en-US" altLang="en-US" sz="2400" dirty="0">
                <a:cs typeface="Times New Roman" panose="02020603050405020304" pitchFamily="18" charset="0"/>
              </a:rPr>
              <a:t>x: </a:t>
            </a:r>
            <a:r>
              <a:rPr lang="en-US" altLang="en-US" sz="2400" dirty="0" err="1">
                <a:cs typeface="Times New Roman" panose="02020603050405020304" pitchFamily="18" charset="0"/>
              </a:rPr>
              <a:t>nút</a:t>
            </a:r>
            <a:r>
              <a:rPr lang="en-US" altLang="en-US" sz="2400" dirty="0">
                <a:cs typeface="Times New Roman" panose="02020603050405020304" pitchFamily="18" charset="0"/>
              </a:rPr>
              <a:t> </a:t>
            </a:r>
            <a:r>
              <a:rPr lang="en-US" altLang="en-US" sz="2400" dirty="0" err="1">
                <a:cs typeface="Times New Roman" panose="02020603050405020304" pitchFamily="18" charset="0"/>
              </a:rPr>
              <a:t>ghép</a:t>
            </a:r>
            <a:r>
              <a:rPr lang="en-US" altLang="en-US" sz="2400" dirty="0">
                <a:cs typeface="Times New Roman" panose="02020603050405020304" pitchFamily="18" charset="0"/>
              </a:rPr>
              <a:t> </a:t>
            </a:r>
            <a:r>
              <a:rPr lang="en-US" altLang="en-US" sz="2400" dirty="0" err="1">
                <a:cs typeface="Times New Roman" panose="02020603050405020304" pitchFamily="18" charset="0"/>
              </a:rPr>
              <a:t>thuộc</a:t>
            </a:r>
            <a:r>
              <a:rPr lang="en-US" altLang="en-US" sz="2400" dirty="0">
                <a:cs typeface="Times New Roman" panose="02020603050405020304" pitchFamily="18" charset="0"/>
              </a:rPr>
              <a:t> </a:t>
            </a:r>
            <a:r>
              <a:rPr lang="en-US" altLang="en-US" sz="2400" dirty="0" err="1">
                <a:cs typeface="Times New Roman" panose="02020603050405020304" pitchFamily="18" charset="0"/>
              </a:rPr>
              <a:t>cây</a:t>
            </a:r>
            <a:r>
              <a:rPr lang="en-US" altLang="en-US" sz="2400" dirty="0">
                <a:cs typeface="Times New Roman" panose="02020603050405020304" pitchFamily="18" charset="0"/>
              </a:rPr>
              <a:t> T1,</a:t>
            </a:r>
            <a:br>
              <a:rPr lang="en-US" altLang="en-US" sz="2400" dirty="0">
                <a:cs typeface="Times New Roman" panose="02020603050405020304" pitchFamily="18" charset="0"/>
              </a:rPr>
            </a:br>
            <a:r>
              <a:rPr lang="en-US" altLang="en-US" sz="2400" dirty="0" err="1">
                <a:cs typeface="Times New Roman" panose="02020603050405020304" pitchFamily="18" charset="0"/>
              </a:rPr>
              <a:t>gốc</a:t>
            </a:r>
            <a:r>
              <a:rPr lang="en-US" altLang="en-US" sz="2400" dirty="0">
                <a:cs typeface="Times New Roman" panose="02020603050405020304" pitchFamily="18" charset="0"/>
              </a:rPr>
              <a:t> </a:t>
            </a:r>
            <a:r>
              <a:rPr lang="en-US" altLang="en-US" sz="2400" dirty="0" err="1">
                <a:cs typeface="Times New Roman" panose="02020603050405020304" pitchFamily="18" charset="0"/>
              </a:rPr>
              <a:t>của</a:t>
            </a:r>
            <a:r>
              <a:rPr lang="en-US" altLang="en-US" sz="2400" dirty="0">
                <a:cs typeface="Times New Roman" panose="02020603050405020304" pitchFamily="18" charset="0"/>
              </a:rPr>
              <a:t> T2 </a:t>
            </a:r>
            <a:r>
              <a:rPr lang="en-US" altLang="en-US" sz="2400" dirty="0" err="1">
                <a:cs typeface="Times New Roman" panose="02020603050405020304" pitchFamily="18" charset="0"/>
              </a:rPr>
              <a:t>sẽ</a:t>
            </a:r>
            <a:r>
              <a:rPr lang="en-US" altLang="en-US" sz="2400" dirty="0">
                <a:cs typeface="Times New Roman" panose="02020603050405020304" pitchFamily="18" charset="0"/>
              </a:rPr>
              <a:t> </a:t>
            </a:r>
            <a:r>
              <a:rPr lang="en-US" altLang="en-US" sz="2400" dirty="0" err="1">
                <a:cs typeface="Times New Roman" panose="02020603050405020304" pitchFamily="18" charset="0"/>
              </a:rPr>
              <a:t>là</a:t>
            </a:r>
            <a:r>
              <a:rPr lang="en-US" altLang="en-US" sz="2400" dirty="0">
                <a:cs typeface="Times New Roman" panose="02020603050405020304" pitchFamily="18" charset="0"/>
              </a:rPr>
              <a:t> con </a:t>
            </a:r>
            <a:r>
              <a:rPr lang="en-US" altLang="en-US" sz="2400" dirty="0" err="1">
                <a:cs typeface="Times New Roman" panose="02020603050405020304" pitchFamily="18" charset="0"/>
              </a:rPr>
              <a:t>của</a:t>
            </a:r>
            <a:r>
              <a:rPr lang="en-US" altLang="en-US" sz="2400" dirty="0">
                <a:cs typeface="Times New Roman" panose="02020603050405020304" pitchFamily="18" charset="0"/>
              </a:rPr>
              <a:t> x, </a:t>
            </a:r>
            <a:br>
              <a:rPr lang="en-US" altLang="en-US" sz="2400" dirty="0">
                <a:cs typeface="Times New Roman" panose="02020603050405020304" pitchFamily="18" charset="0"/>
              </a:rPr>
            </a:br>
            <a:r>
              <a:rPr lang="en-US" altLang="en-US" sz="2400" dirty="0" err="1">
                <a:cs typeface="Times New Roman" panose="02020603050405020304" pitchFamily="18" charset="0"/>
              </a:rPr>
              <a:t>có</a:t>
            </a:r>
            <a:r>
              <a:rPr lang="en-US" altLang="en-US" sz="2400" dirty="0">
                <a:cs typeface="Times New Roman" panose="02020603050405020304" pitchFamily="18" charset="0"/>
              </a:rPr>
              <a:t> </a:t>
            </a:r>
            <a:r>
              <a:rPr lang="en-US" altLang="en-US" sz="2400" dirty="0" err="1">
                <a:cs typeface="Times New Roman" panose="02020603050405020304" pitchFamily="18" charset="0"/>
              </a:rPr>
              <a:t>thể</a:t>
            </a:r>
            <a:r>
              <a:rPr lang="en-US" altLang="en-US" sz="2400" dirty="0">
                <a:cs typeface="Times New Roman" panose="02020603050405020304" pitchFamily="18" charset="0"/>
              </a:rPr>
              <a:t> </a:t>
            </a:r>
            <a:r>
              <a:rPr lang="en-US" altLang="en-US" sz="2400" dirty="0" err="1">
                <a:cs typeface="Times New Roman" panose="02020603050405020304" pitchFamily="18" charset="0"/>
              </a:rPr>
              <a:t>ghép</a:t>
            </a:r>
            <a:r>
              <a:rPr lang="en-US" altLang="en-US" sz="2400" dirty="0">
                <a:cs typeface="Times New Roman" panose="02020603050405020304" pitchFamily="18" charset="0"/>
              </a:rPr>
              <a:t> </a:t>
            </a:r>
            <a:r>
              <a:rPr lang="en-US" altLang="en-US" sz="2400" dirty="0" err="1">
                <a:cs typeface="Times New Roman" panose="02020603050405020304" pitchFamily="18" charset="0"/>
              </a:rPr>
              <a:t>trái</a:t>
            </a:r>
            <a:r>
              <a:rPr lang="en-US" altLang="en-US" sz="2400" dirty="0">
                <a:cs typeface="Times New Roman" panose="02020603050405020304" pitchFamily="18" charset="0"/>
              </a:rPr>
              <a:t>, </a:t>
            </a:r>
            <a:r>
              <a:rPr lang="en-US" altLang="en-US" sz="2400" dirty="0" err="1">
                <a:cs typeface="Times New Roman" panose="02020603050405020304" pitchFamily="18" charset="0"/>
              </a:rPr>
              <a:t>ghép</a:t>
            </a:r>
            <a:r>
              <a:rPr lang="en-US" altLang="en-US" sz="2400" dirty="0">
                <a:cs typeface="Times New Roman" panose="02020603050405020304" pitchFamily="18" charset="0"/>
              </a:rPr>
              <a:t> </a:t>
            </a:r>
            <a:r>
              <a:rPr lang="en-US" altLang="en-US" sz="2400" dirty="0" err="1">
                <a:cs typeface="Times New Roman" panose="02020603050405020304" pitchFamily="18" charset="0"/>
              </a:rPr>
              <a:t>phải</a:t>
            </a:r>
            <a:endParaRPr lang="en-US" altLang="en-US" sz="2400" dirty="0">
              <a:cs typeface="Times New Roman" panose="02020603050405020304" pitchFamily="18" charset="0"/>
            </a:endParaRPr>
          </a:p>
          <a:p>
            <a:pPr marL="171450" lvl="1">
              <a:lnSpc>
                <a:spcPct val="105000"/>
              </a:lnSpc>
              <a:spcBef>
                <a:spcPct val="10000"/>
              </a:spcBef>
            </a:pPr>
            <a:r>
              <a:rPr lang="en-US" altLang="en-US" sz="2400" u="sng" dirty="0" err="1">
                <a:cs typeface="Times New Roman" panose="02020603050405020304" pitchFamily="18" charset="0"/>
              </a:rPr>
              <a:t>Cắt</a:t>
            </a:r>
            <a:r>
              <a:rPr lang="en-US" altLang="en-US" sz="2400" u="sng" dirty="0">
                <a:cs typeface="Times New Roman" panose="02020603050405020304" pitchFamily="18" charset="0"/>
              </a:rPr>
              <a:t> </a:t>
            </a:r>
            <a:r>
              <a:rPr lang="en-US" altLang="en-US" sz="2400" u="sng" dirty="0" err="1">
                <a:cs typeface="Times New Roman" panose="02020603050405020304" pitchFamily="18" charset="0"/>
              </a:rPr>
              <a:t>cây</a:t>
            </a:r>
            <a:endParaRPr lang="en-US" altLang="en-US" sz="2400" u="sng" dirty="0">
              <a:cs typeface="Times New Roman" panose="02020603050405020304" pitchFamily="18" charset="0"/>
            </a:endParaRPr>
          </a:p>
          <a:p>
            <a:pPr lvl="1" eaLnBrk="1" hangingPunct="1">
              <a:lnSpc>
                <a:spcPct val="105000"/>
              </a:lnSpc>
              <a:spcBef>
                <a:spcPct val="10000"/>
              </a:spcBef>
            </a:pPr>
            <a:r>
              <a:rPr lang="en-US" altLang="en-US" sz="2400" dirty="0" err="1">
                <a:cs typeface="Times New Roman" panose="02020603050405020304" pitchFamily="18" charset="0"/>
              </a:rPr>
              <a:t>CutTree</a:t>
            </a:r>
            <a:r>
              <a:rPr lang="en-US" altLang="en-US" sz="2400" dirty="0">
                <a:cs typeface="Times New Roman" panose="02020603050405020304" pitchFamily="18" charset="0"/>
              </a:rPr>
              <a:t>(T1,x,T2): x=2</a:t>
            </a:r>
          </a:p>
          <a:p>
            <a:endParaRPr lang="en-US" altLang="en-US" sz="2400" dirty="0">
              <a:cs typeface="Times New Roman" panose="02020603050405020304" pitchFamily="18" charset="0"/>
            </a:endParaRPr>
          </a:p>
        </p:txBody>
      </p:sp>
      <p:grpSp>
        <p:nvGrpSpPr>
          <p:cNvPr id="12294" name="Group 4"/>
          <p:cNvGrpSpPr>
            <a:grpSpLocks/>
          </p:cNvGrpSpPr>
          <p:nvPr/>
        </p:nvGrpSpPr>
        <p:grpSpPr bwMode="auto">
          <a:xfrm>
            <a:off x="5879714" y="1461443"/>
            <a:ext cx="2347912" cy="1981200"/>
            <a:chOff x="3504" y="1632"/>
            <a:chExt cx="2151" cy="2160"/>
          </a:xfrm>
        </p:grpSpPr>
        <p:sp>
          <p:nvSpPr>
            <p:cNvPr id="12328" name="Oval 5"/>
            <p:cNvSpPr>
              <a:spLocks noChangeArrowheads="1"/>
            </p:cNvSpPr>
            <p:nvPr/>
          </p:nvSpPr>
          <p:spPr bwMode="auto">
            <a:xfrm>
              <a:off x="4545" y="1632"/>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1</a:t>
              </a:r>
            </a:p>
          </p:txBody>
        </p:sp>
        <p:sp>
          <p:nvSpPr>
            <p:cNvPr id="12329" name="Oval 6"/>
            <p:cNvSpPr>
              <a:spLocks noChangeArrowheads="1"/>
            </p:cNvSpPr>
            <p:nvPr/>
          </p:nvSpPr>
          <p:spPr bwMode="auto">
            <a:xfrm>
              <a:off x="5123" y="2352"/>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7</a:t>
              </a:r>
            </a:p>
          </p:txBody>
        </p:sp>
        <p:sp>
          <p:nvSpPr>
            <p:cNvPr id="12330" name="Oval 7"/>
            <p:cNvSpPr>
              <a:spLocks noChangeArrowheads="1"/>
            </p:cNvSpPr>
            <p:nvPr/>
          </p:nvSpPr>
          <p:spPr bwMode="auto">
            <a:xfrm>
              <a:off x="4005" y="2304"/>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2</a:t>
              </a:r>
            </a:p>
          </p:txBody>
        </p:sp>
        <p:sp>
          <p:nvSpPr>
            <p:cNvPr id="12331" name="Oval 8"/>
            <p:cNvSpPr>
              <a:spLocks noChangeArrowheads="1"/>
            </p:cNvSpPr>
            <p:nvPr/>
          </p:nvSpPr>
          <p:spPr bwMode="auto">
            <a:xfrm>
              <a:off x="3504" y="3024"/>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4</a:t>
              </a:r>
            </a:p>
          </p:txBody>
        </p:sp>
        <p:sp>
          <p:nvSpPr>
            <p:cNvPr id="12332" name="Oval 9"/>
            <p:cNvSpPr>
              <a:spLocks noChangeArrowheads="1"/>
            </p:cNvSpPr>
            <p:nvPr/>
          </p:nvSpPr>
          <p:spPr bwMode="auto">
            <a:xfrm>
              <a:off x="4429" y="3024"/>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dirty="0"/>
                <a:t>5</a:t>
              </a:r>
            </a:p>
          </p:txBody>
        </p:sp>
        <p:sp>
          <p:nvSpPr>
            <p:cNvPr id="12333" name="Oval 10"/>
            <p:cNvSpPr>
              <a:spLocks noChangeArrowheads="1"/>
            </p:cNvSpPr>
            <p:nvPr/>
          </p:nvSpPr>
          <p:spPr bwMode="auto">
            <a:xfrm>
              <a:off x="3967" y="3024"/>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3</a:t>
              </a:r>
            </a:p>
          </p:txBody>
        </p:sp>
        <p:sp>
          <p:nvSpPr>
            <p:cNvPr id="12334" name="Oval 11"/>
            <p:cNvSpPr>
              <a:spLocks noChangeArrowheads="1"/>
            </p:cNvSpPr>
            <p:nvPr/>
          </p:nvSpPr>
          <p:spPr bwMode="auto">
            <a:xfrm>
              <a:off x="4848" y="3024"/>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6</a:t>
              </a:r>
            </a:p>
          </p:txBody>
        </p:sp>
        <p:sp>
          <p:nvSpPr>
            <p:cNvPr id="12335" name="Oval 12"/>
            <p:cNvSpPr>
              <a:spLocks noChangeArrowheads="1"/>
            </p:cNvSpPr>
            <p:nvPr/>
          </p:nvSpPr>
          <p:spPr bwMode="auto">
            <a:xfrm>
              <a:off x="4848" y="3552"/>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8</a:t>
              </a:r>
            </a:p>
          </p:txBody>
        </p:sp>
        <p:sp>
          <p:nvSpPr>
            <p:cNvPr id="12336" name="Line 13"/>
            <p:cNvSpPr>
              <a:spLocks noChangeShapeType="1"/>
            </p:cNvSpPr>
            <p:nvPr/>
          </p:nvSpPr>
          <p:spPr bwMode="auto">
            <a:xfrm flipH="1">
              <a:off x="4198" y="1824"/>
              <a:ext cx="347"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37" name="Line 14"/>
            <p:cNvSpPr>
              <a:spLocks noChangeShapeType="1"/>
            </p:cNvSpPr>
            <p:nvPr/>
          </p:nvSpPr>
          <p:spPr bwMode="auto">
            <a:xfrm flipH="1">
              <a:off x="3658" y="2544"/>
              <a:ext cx="386"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38" name="Line 15"/>
            <p:cNvSpPr>
              <a:spLocks noChangeShapeType="1"/>
            </p:cNvSpPr>
            <p:nvPr/>
          </p:nvSpPr>
          <p:spPr bwMode="auto">
            <a:xfrm flipH="1">
              <a:off x="4082" y="2544"/>
              <a:ext cx="39"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39" name="Line 16"/>
            <p:cNvSpPr>
              <a:spLocks noChangeShapeType="1"/>
            </p:cNvSpPr>
            <p:nvPr/>
          </p:nvSpPr>
          <p:spPr bwMode="auto">
            <a:xfrm>
              <a:off x="4198" y="2544"/>
              <a:ext cx="30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40" name="Line 17"/>
            <p:cNvSpPr>
              <a:spLocks noChangeShapeType="1"/>
            </p:cNvSpPr>
            <p:nvPr/>
          </p:nvSpPr>
          <p:spPr bwMode="auto">
            <a:xfrm>
              <a:off x="4738" y="1824"/>
              <a:ext cx="424"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41" name="Line 18"/>
            <p:cNvSpPr>
              <a:spLocks noChangeShapeType="1"/>
            </p:cNvSpPr>
            <p:nvPr/>
          </p:nvSpPr>
          <p:spPr bwMode="auto">
            <a:xfrm flipH="1">
              <a:off x="4964" y="2592"/>
              <a:ext cx="22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42" name="Line 19"/>
            <p:cNvSpPr>
              <a:spLocks noChangeShapeType="1"/>
            </p:cNvSpPr>
            <p:nvPr/>
          </p:nvSpPr>
          <p:spPr bwMode="auto">
            <a:xfrm>
              <a:off x="4964" y="3264"/>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43" name="Oval 20"/>
            <p:cNvSpPr>
              <a:spLocks noChangeArrowheads="1"/>
            </p:cNvSpPr>
            <p:nvPr/>
          </p:nvSpPr>
          <p:spPr bwMode="auto">
            <a:xfrm>
              <a:off x="5424" y="3024"/>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9</a:t>
              </a:r>
            </a:p>
          </p:txBody>
        </p:sp>
        <p:sp>
          <p:nvSpPr>
            <p:cNvPr id="12344" name="Line 21"/>
            <p:cNvSpPr>
              <a:spLocks noChangeShapeType="1"/>
            </p:cNvSpPr>
            <p:nvPr/>
          </p:nvSpPr>
          <p:spPr bwMode="auto">
            <a:xfrm>
              <a:off x="5280" y="2544"/>
              <a:ext cx="192"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82" name="Group 31"/>
          <p:cNvGrpSpPr>
            <a:grpSpLocks/>
          </p:cNvGrpSpPr>
          <p:nvPr/>
        </p:nvGrpSpPr>
        <p:grpSpPr bwMode="auto">
          <a:xfrm>
            <a:off x="6117803" y="4697375"/>
            <a:ext cx="1066587" cy="1169772"/>
            <a:chOff x="468" y="2016"/>
            <a:chExt cx="1138" cy="960"/>
          </a:xfrm>
        </p:grpSpPr>
        <p:grpSp>
          <p:nvGrpSpPr>
            <p:cNvPr id="83" name="Group 32"/>
            <p:cNvGrpSpPr>
              <a:grpSpLocks/>
            </p:cNvGrpSpPr>
            <p:nvPr/>
          </p:nvGrpSpPr>
          <p:grpSpPr bwMode="auto">
            <a:xfrm>
              <a:off x="912" y="2016"/>
              <a:ext cx="694" cy="960"/>
              <a:chOff x="4142" y="1632"/>
              <a:chExt cx="694" cy="960"/>
            </a:xfrm>
          </p:grpSpPr>
          <p:sp>
            <p:nvSpPr>
              <p:cNvPr id="86" name="Oval 33"/>
              <p:cNvSpPr>
                <a:spLocks noChangeArrowheads="1"/>
              </p:cNvSpPr>
              <p:nvPr/>
            </p:nvSpPr>
            <p:spPr bwMode="auto">
              <a:xfrm>
                <a:off x="4180" y="1632"/>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2</a:t>
                </a:r>
              </a:p>
            </p:txBody>
          </p:sp>
          <p:sp>
            <p:nvSpPr>
              <p:cNvPr id="87" name="Oval 34"/>
              <p:cNvSpPr>
                <a:spLocks noChangeArrowheads="1"/>
              </p:cNvSpPr>
              <p:nvPr/>
            </p:nvSpPr>
            <p:spPr bwMode="auto">
              <a:xfrm>
                <a:off x="4604" y="2352"/>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5</a:t>
                </a:r>
              </a:p>
            </p:txBody>
          </p:sp>
          <p:sp>
            <p:nvSpPr>
              <p:cNvPr id="88" name="Oval 35"/>
              <p:cNvSpPr>
                <a:spLocks noChangeArrowheads="1"/>
              </p:cNvSpPr>
              <p:nvPr/>
            </p:nvSpPr>
            <p:spPr bwMode="auto">
              <a:xfrm>
                <a:off x="4142" y="2352"/>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4</a:t>
                </a:r>
              </a:p>
            </p:txBody>
          </p:sp>
          <p:sp>
            <p:nvSpPr>
              <p:cNvPr id="89" name="Line 36"/>
              <p:cNvSpPr>
                <a:spLocks noChangeShapeType="1"/>
              </p:cNvSpPr>
              <p:nvPr/>
            </p:nvSpPr>
            <p:spPr bwMode="auto">
              <a:xfrm flipH="1">
                <a:off x="4257" y="1872"/>
                <a:ext cx="39"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 name="Line 37"/>
              <p:cNvSpPr>
                <a:spLocks noChangeShapeType="1"/>
              </p:cNvSpPr>
              <p:nvPr/>
            </p:nvSpPr>
            <p:spPr bwMode="auto">
              <a:xfrm>
                <a:off x="4373" y="1872"/>
                <a:ext cx="30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84" name="Oval 38"/>
            <p:cNvSpPr>
              <a:spLocks noChangeArrowheads="1"/>
            </p:cNvSpPr>
            <p:nvPr/>
          </p:nvSpPr>
          <p:spPr bwMode="auto">
            <a:xfrm>
              <a:off x="468" y="2736"/>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3</a:t>
              </a:r>
            </a:p>
          </p:txBody>
        </p:sp>
        <p:sp>
          <p:nvSpPr>
            <p:cNvPr id="85" name="Line 39"/>
            <p:cNvSpPr>
              <a:spLocks noChangeShapeType="1"/>
            </p:cNvSpPr>
            <p:nvPr/>
          </p:nvSpPr>
          <p:spPr bwMode="auto">
            <a:xfrm flipH="1">
              <a:off x="622" y="2256"/>
              <a:ext cx="386"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 name="Group 2"/>
          <p:cNvGrpSpPr/>
          <p:nvPr/>
        </p:nvGrpSpPr>
        <p:grpSpPr>
          <a:xfrm>
            <a:off x="7192031" y="3826397"/>
            <a:ext cx="1113487" cy="2164079"/>
            <a:chOff x="7344745" y="4751996"/>
            <a:chExt cx="1113487" cy="2164079"/>
          </a:xfrm>
        </p:grpSpPr>
        <p:grpSp>
          <p:nvGrpSpPr>
            <p:cNvPr id="74" name="Group 23"/>
            <p:cNvGrpSpPr>
              <a:grpSpLocks/>
            </p:cNvGrpSpPr>
            <p:nvPr/>
          </p:nvGrpSpPr>
          <p:grpSpPr bwMode="auto">
            <a:xfrm>
              <a:off x="7344745" y="4751996"/>
              <a:ext cx="741362" cy="2164079"/>
              <a:chOff x="2409" y="2208"/>
              <a:chExt cx="791" cy="1776"/>
            </a:xfrm>
          </p:grpSpPr>
          <p:sp>
            <p:nvSpPr>
              <p:cNvPr id="75" name="Line 24"/>
              <p:cNvSpPr>
                <a:spLocks noChangeShapeType="1"/>
              </p:cNvSpPr>
              <p:nvPr/>
            </p:nvSpPr>
            <p:spPr bwMode="auto">
              <a:xfrm>
                <a:off x="3070" y="2936"/>
                <a:ext cx="39" cy="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 name="Oval 25"/>
              <p:cNvSpPr>
                <a:spLocks noChangeArrowheads="1"/>
              </p:cNvSpPr>
              <p:nvPr/>
            </p:nvSpPr>
            <p:spPr bwMode="auto">
              <a:xfrm>
                <a:off x="2409" y="2208"/>
                <a:ext cx="231" cy="21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1</a:t>
                </a:r>
              </a:p>
            </p:txBody>
          </p:sp>
          <p:sp>
            <p:nvSpPr>
              <p:cNvPr id="77" name="Oval 26"/>
              <p:cNvSpPr>
                <a:spLocks noChangeArrowheads="1"/>
              </p:cNvSpPr>
              <p:nvPr/>
            </p:nvSpPr>
            <p:spPr bwMode="auto">
              <a:xfrm>
                <a:off x="2930" y="2718"/>
                <a:ext cx="232" cy="21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dirty="0"/>
                  <a:t>7</a:t>
                </a:r>
              </a:p>
            </p:txBody>
          </p:sp>
          <p:sp>
            <p:nvSpPr>
              <p:cNvPr id="78" name="Oval 27"/>
              <p:cNvSpPr>
                <a:spLocks noChangeArrowheads="1"/>
              </p:cNvSpPr>
              <p:nvPr/>
            </p:nvSpPr>
            <p:spPr bwMode="auto">
              <a:xfrm>
                <a:off x="2969" y="3286"/>
                <a:ext cx="231" cy="21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dirty="0"/>
                  <a:t>6</a:t>
                </a:r>
              </a:p>
            </p:txBody>
          </p:sp>
          <p:sp>
            <p:nvSpPr>
              <p:cNvPr id="79" name="Oval 28"/>
              <p:cNvSpPr>
                <a:spLocks noChangeArrowheads="1"/>
              </p:cNvSpPr>
              <p:nvPr/>
            </p:nvSpPr>
            <p:spPr bwMode="auto">
              <a:xfrm>
                <a:off x="2969" y="3766"/>
                <a:ext cx="231" cy="21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8</a:t>
                </a:r>
              </a:p>
            </p:txBody>
          </p:sp>
          <p:sp>
            <p:nvSpPr>
              <p:cNvPr id="80" name="Line 29"/>
              <p:cNvSpPr>
                <a:spLocks noChangeShapeType="1"/>
              </p:cNvSpPr>
              <p:nvPr/>
            </p:nvSpPr>
            <p:spPr bwMode="auto">
              <a:xfrm>
                <a:off x="2592" y="2400"/>
                <a:ext cx="377" cy="3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 name="Line 30"/>
              <p:cNvSpPr>
                <a:spLocks noChangeShapeType="1"/>
              </p:cNvSpPr>
              <p:nvPr/>
            </p:nvSpPr>
            <p:spPr bwMode="auto">
              <a:xfrm>
                <a:off x="3085" y="3504"/>
                <a:ext cx="0" cy="2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1" name="Oval 20"/>
            <p:cNvSpPr>
              <a:spLocks noChangeArrowheads="1"/>
            </p:cNvSpPr>
            <p:nvPr/>
          </p:nvSpPr>
          <p:spPr bwMode="auto">
            <a:xfrm>
              <a:off x="8206085" y="5987727"/>
              <a:ext cx="252147" cy="22013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9</a:t>
              </a:r>
            </a:p>
          </p:txBody>
        </p:sp>
        <p:sp>
          <p:nvSpPr>
            <p:cNvPr id="92" name="Line 21"/>
            <p:cNvSpPr>
              <a:spLocks noChangeShapeType="1"/>
            </p:cNvSpPr>
            <p:nvPr/>
          </p:nvSpPr>
          <p:spPr bwMode="auto">
            <a:xfrm>
              <a:off x="8048903" y="5547461"/>
              <a:ext cx="209577" cy="4402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4" name="Text Box 40"/>
          <p:cNvSpPr txBox="1">
            <a:spLocks noChangeArrowheads="1"/>
          </p:cNvSpPr>
          <p:nvPr/>
        </p:nvSpPr>
        <p:spPr bwMode="auto">
          <a:xfrm>
            <a:off x="5920739" y="4352057"/>
            <a:ext cx="522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dirty="0"/>
              <a:t>T2</a:t>
            </a:r>
          </a:p>
        </p:txBody>
      </p:sp>
      <p:sp>
        <p:nvSpPr>
          <p:cNvPr id="95" name="Text Box 41"/>
          <p:cNvSpPr txBox="1">
            <a:spLocks noChangeArrowheads="1"/>
          </p:cNvSpPr>
          <p:nvPr/>
        </p:nvSpPr>
        <p:spPr bwMode="auto">
          <a:xfrm>
            <a:off x="8279171" y="3690852"/>
            <a:ext cx="522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dirty="0"/>
              <a:t>T1</a:t>
            </a:r>
          </a:p>
        </p:txBody>
      </p:sp>
      <p:cxnSp>
        <p:nvCxnSpPr>
          <p:cNvPr id="4" name="Straight Connector 3"/>
          <p:cNvCxnSpPr/>
          <p:nvPr/>
        </p:nvCxnSpPr>
        <p:spPr>
          <a:xfrm flipH="1">
            <a:off x="6739855" y="4114800"/>
            <a:ext cx="463809" cy="561511"/>
          </a:xfrm>
          <a:prstGeom prst="line">
            <a:avLst/>
          </a:prstGeom>
          <a:ln>
            <a:prstDash val="lg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18939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9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29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29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292">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292">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292">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2292">
                                            <p:txEl>
                                              <p:pRg st="8" end="8"/>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29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p:bldP spid="9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6EB9D70-6346-DBD0-EC03-C68175D2C85A}"/>
              </a:ext>
            </a:extLst>
          </p:cNvPr>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3" name="Slide Number Placeholder 2">
            <a:extLst>
              <a:ext uri="{FF2B5EF4-FFF2-40B4-BE49-F238E27FC236}">
                <a16:creationId xmlns:a16="http://schemas.microsoft.com/office/drawing/2014/main" id="{3FAAAC29-CCC6-E46D-5F65-6D84C90C89EE}"/>
              </a:ext>
            </a:extLst>
          </p:cNvPr>
          <p:cNvSpPr>
            <a:spLocks noGrp="1"/>
          </p:cNvSpPr>
          <p:nvPr>
            <p:ph type="sldNum" sz="quarter" idx="12"/>
          </p:nvPr>
        </p:nvSpPr>
        <p:spPr/>
        <p:txBody>
          <a:bodyPr/>
          <a:lstStyle/>
          <a:p>
            <a:fld id="{BC24317B-5122-4A99-A6E9-FA23C146A7E0}" type="slidenum">
              <a:rPr lang="en-US" smtClean="0"/>
              <a:pPr/>
              <a:t>17</a:t>
            </a:fld>
            <a:endParaRPr lang="en-US"/>
          </a:p>
        </p:txBody>
      </p:sp>
      <p:sp>
        <p:nvSpPr>
          <p:cNvPr id="4" name="Title 3">
            <a:extLst>
              <a:ext uri="{FF2B5EF4-FFF2-40B4-BE49-F238E27FC236}">
                <a16:creationId xmlns:a16="http://schemas.microsoft.com/office/drawing/2014/main" id="{C61E0B45-2761-908D-88D4-705144949573}"/>
              </a:ext>
            </a:extLst>
          </p:cNvPr>
          <p:cNvSpPr>
            <a:spLocks noGrp="1"/>
          </p:cNvSpPr>
          <p:nvPr>
            <p:ph type="title"/>
          </p:nvPr>
        </p:nvSpPr>
        <p:spPr/>
        <p:txBody>
          <a:bodyPr/>
          <a:lstStyle/>
          <a:p>
            <a:r>
              <a:rPr lang="en-US" dirty="0" err="1"/>
              <a:t>Biểu</a:t>
            </a:r>
            <a:r>
              <a:rPr lang="en-US" dirty="0"/>
              <a:t> </a:t>
            </a:r>
            <a:r>
              <a:rPr lang="en-US" dirty="0" err="1"/>
              <a:t>diễn</a:t>
            </a:r>
            <a:r>
              <a:rPr lang="en-US" dirty="0"/>
              <a:t> </a:t>
            </a:r>
            <a:r>
              <a:rPr lang="en-US" dirty="0" err="1"/>
              <a:t>cây</a:t>
            </a:r>
            <a:endParaRPr lang="en-US" dirty="0"/>
          </a:p>
        </p:txBody>
      </p:sp>
      <p:sp>
        <p:nvSpPr>
          <p:cNvPr id="5" name="Text Placeholder 4">
            <a:extLst>
              <a:ext uri="{FF2B5EF4-FFF2-40B4-BE49-F238E27FC236}">
                <a16:creationId xmlns:a16="http://schemas.microsoft.com/office/drawing/2014/main" id="{52FA66B3-E17A-61FF-4F1F-37F0DB90E4C3}"/>
              </a:ext>
            </a:extLst>
          </p:cNvPr>
          <p:cNvSpPr>
            <a:spLocks noGrp="1"/>
          </p:cNvSpPr>
          <p:nvPr>
            <p:ph type="body" sz="quarter" idx="13"/>
          </p:nvPr>
        </p:nvSpPr>
        <p:spPr/>
        <p:txBody>
          <a:bodyPr/>
          <a:lstStyle/>
          <a:p>
            <a:r>
              <a:rPr lang="en-US" b="1" dirty="0"/>
              <a:t>Thông qua </a:t>
            </a:r>
            <a:r>
              <a:rPr lang="en-US" b="1" dirty="0" err="1"/>
              <a:t>nút</a:t>
            </a:r>
            <a:r>
              <a:rPr lang="en-US" b="1" dirty="0"/>
              <a:t> cha </a:t>
            </a:r>
            <a:r>
              <a:rPr lang="en-US" b="1" dirty="0" err="1"/>
              <a:t>của</a:t>
            </a:r>
            <a:r>
              <a:rPr lang="en-US" b="1" dirty="0"/>
              <a:t> </a:t>
            </a:r>
            <a:r>
              <a:rPr lang="en-US" b="1" dirty="0" err="1"/>
              <a:t>nó</a:t>
            </a:r>
            <a:r>
              <a:rPr lang="en-US" b="1" dirty="0"/>
              <a:t> (</a:t>
            </a:r>
            <a:r>
              <a:rPr lang="en-US" b="1" dirty="0" err="1"/>
              <a:t>cấu</a:t>
            </a:r>
            <a:r>
              <a:rPr lang="en-US" b="1" dirty="0"/>
              <a:t> </a:t>
            </a:r>
            <a:r>
              <a:rPr lang="en-US" b="1" dirty="0" err="1"/>
              <a:t>trúc</a:t>
            </a:r>
            <a:r>
              <a:rPr lang="en-US" b="1" dirty="0"/>
              <a:t> </a:t>
            </a:r>
            <a:r>
              <a:rPr lang="en-US" b="1" dirty="0" err="1"/>
              <a:t>liên</a:t>
            </a:r>
            <a:r>
              <a:rPr lang="en-US" b="1" dirty="0"/>
              <a:t> </a:t>
            </a:r>
            <a:r>
              <a:rPr lang="en-US" b="1" dirty="0" err="1"/>
              <a:t>tiếp</a:t>
            </a:r>
            <a:r>
              <a:rPr lang="en-US" b="1" dirty="0"/>
              <a:t>)</a:t>
            </a:r>
            <a:endParaRPr lang="en-US" dirty="0"/>
          </a:p>
        </p:txBody>
      </p:sp>
      <p:pic>
        <p:nvPicPr>
          <p:cNvPr id="7" name="Picture 6">
            <a:extLst>
              <a:ext uri="{FF2B5EF4-FFF2-40B4-BE49-F238E27FC236}">
                <a16:creationId xmlns:a16="http://schemas.microsoft.com/office/drawing/2014/main" id="{D22F04F9-18DB-12FC-6F52-C5008A8BF88A}"/>
              </a:ext>
            </a:extLst>
          </p:cNvPr>
          <p:cNvPicPr>
            <a:picLocks noChangeAspect="1"/>
          </p:cNvPicPr>
          <p:nvPr/>
        </p:nvPicPr>
        <p:blipFill>
          <a:blip r:embed="rId2">
            <a:lum bright="-20000" contrast="40000"/>
          </a:blip>
          <a:stretch>
            <a:fillRect/>
          </a:stretch>
        </p:blipFill>
        <p:spPr>
          <a:xfrm>
            <a:off x="1524000" y="1652346"/>
            <a:ext cx="6096000" cy="4242486"/>
          </a:xfrm>
          <a:prstGeom prst="rect">
            <a:avLst/>
          </a:prstGeom>
        </p:spPr>
      </p:pic>
    </p:spTree>
    <p:extLst>
      <p:ext uri="{BB962C8B-B14F-4D97-AF65-F5344CB8AC3E}">
        <p14:creationId xmlns:p14="http://schemas.microsoft.com/office/powerpoint/2010/main" val="33458165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FC674E9-2665-464D-899F-3C41150165D2}"/>
              </a:ext>
            </a:extLst>
          </p:cNvPr>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3" name="Slide Number Placeholder 2">
            <a:extLst>
              <a:ext uri="{FF2B5EF4-FFF2-40B4-BE49-F238E27FC236}">
                <a16:creationId xmlns:a16="http://schemas.microsoft.com/office/drawing/2014/main" id="{59BAC503-C71C-FEB5-D24B-A60CB8C1A186}"/>
              </a:ext>
            </a:extLst>
          </p:cNvPr>
          <p:cNvSpPr>
            <a:spLocks noGrp="1"/>
          </p:cNvSpPr>
          <p:nvPr>
            <p:ph type="sldNum" sz="quarter" idx="12"/>
          </p:nvPr>
        </p:nvSpPr>
        <p:spPr/>
        <p:txBody>
          <a:bodyPr/>
          <a:lstStyle/>
          <a:p>
            <a:fld id="{BC24317B-5122-4A99-A6E9-FA23C146A7E0}" type="slidenum">
              <a:rPr lang="en-US" smtClean="0"/>
              <a:pPr/>
              <a:t>18</a:t>
            </a:fld>
            <a:endParaRPr lang="en-US"/>
          </a:p>
        </p:txBody>
      </p:sp>
      <p:sp>
        <p:nvSpPr>
          <p:cNvPr id="4" name="Title 3">
            <a:extLst>
              <a:ext uri="{FF2B5EF4-FFF2-40B4-BE49-F238E27FC236}">
                <a16:creationId xmlns:a16="http://schemas.microsoft.com/office/drawing/2014/main" id="{80F75F6B-4C12-C4BF-0C86-3E45081D08AA}"/>
              </a:ext>
            </a:extLst>
          </p:cNvPr>
          <p:cNvSpPr>
            <a:spLocks noGrp="1"/>
          </p:cNvSpPr>
          <p:nvPr>
            <p:ph type="title"/>
          </p:nvPr>
        </p:nvSpPr>
        <p:spPr/>
        <p:txBody>
          <a:bodyPr/>
          <a:lstStyle/>
          <a:p>
            <a:r>
              <a:rPr lang="en-US" dirty="0" err="1"/>
              <a:t>Biểu</a:t>
            </a:r>
            <a:r>
              <a:rPr lang="en-US" dirty="0"/>
              <a:t> </a:t>
            </a:r>
            <a:r>
              <a:rPr lang="en-US" dirty="0" err="1"/>
              <a:t>diễn</a:t>
            </a:r>
            <a:r>
              <a:rPr lang="en-US" dirty="0"/>
              <a:t> </a:t>
            </a:r>
            <a:r>
              <a:rPr lang="en-US" dirty="0" err="1"/>
              <a:t>cây</a:t>
            </a:r>
            <a:endParaRPr lang="en-US" dirty="0"/>
          </a:p>
        </p:txBody>
      </p:sp>
      <p:sp>
        <p:nvSpPr>
          <p:cNvPr id="5" name="Text Placeholder 4">
            <a:extLst>
              <a:ext uri="{FF2B5EF4-FFF2-40B4-BE49-F238E27FC236}">
                <a16:creationId xmlns:a16="http://schemas.microsoft.com/office/drawing/2014/main" id="{57D10AA5-0A15-A1B2-E4BE-B05029F06009}"/>
              </a:ext>
            </a:extLst>
          </p:cNvPr>
          <p:cNvSpPr>
            <a:spLocks noGrp="1"/>
          </p:cNvSpPr>
          <p:nvPr>
            <p:ph type="body" sz="quarter" idx="13"/>
          </p:nvPr>
        </p:nvSpPr>
        <p:spPr/>
        <p:txBody>
          <a:bodyPr/>
          <a:lstStyle/>
          <a:p>
            <a:r>
              <a:rPr lang="en-US" dirty="0"/>
              <a:t>Danh </a:t>
            </a:r>
            <a:r>
              <a:rPr lang="en-US" dirty="0" err="1"/>
              <a:t>sách</a:t>
            </a:r>
            <a:r>
              <a:rPr lang="en-US" dirty="0"/>
              <a:t> </a:t>
            </a:r>
            <a:r>
              <a:rPr lang="en-US" dirty="0" err="1"/>
              <a:t>các</a:t>
            </a:r>
            <a:r>
              <a:rPr lang="en-US" dirty="0"/>
              <a:t> </a:t>
            </a:r>
            <a:r>
              <a:rPr lang="en-US" dirty="0" err="1"/>
              <a:t>nút</a:t>
            </a:r>
            <a:r>
              <a:rPr lang="en-US" dirty="0"/>
              <a:t> con (</a:t>
            </a:r>
            <a:r>
              <a:rPr lang="en-US" dirty="0" err="1"/>
              <a:t>cấu</a:t>
            </a:r>
            <a:r>
              <a:rPr lang="en-US" dirty="0"/>
              <a:t> </a:t>
            </a:r>
            <a:r>
              <a:rPr lang="en-US" dirty="0" err="1"/>
              <a:t>trúc</a:t>
            </a:r>
            <a:r>
              <a:rPr lang="en-US" dirty="0"/>
              <a:t> </a:t>
            </a:r>
            <a:r>
              <a:rPr lang="en-US" dirty="0" err="1"/>
              <a:t>liên</a:t>
            </a:r>
            <a:r>
              <a:rPr lang="en-US" dirty="0"/>
              <a:t> </a:t>
            </a:r>
            <a:r>
              <a:rPr lang="en-US" dirty="0" err="1"/>
              <a:t>kết</a:t>
            </a:r>
            <a:r>
              <a:rPr lang="en-US" dirty="0"/>
              <a:t>)</a:t>
            </a:r>
          </a:p>
        </p:txBody>
      </p:sp>
      <p:pic>
        <p:nvPicPr>
          <p:cNvPr id="7" name="Picture 6">
            <a:extLst>
              <a:ext uri="{FF2B5EF4-FFF2-40B4-BE49-F238E27FC236}">
                <a16:creationId xmlns:a16="http://schemas.microsoft.com/office/drawing/2014/main" id="{B1014DC0-5178-AA29-727D-588A96D447B2}"/>
              </a:ext>
            </a:extLst>
          </p:cNvPr>
          <p:cNvPicPr>
            <a:picLocks noChangeAspect="1"/>
          </p:cNvPicPr>
          <p:nvPr/>
        </p:nvPicPr>
        <p:blipFill>
          <a:blip r:embed="rId2">
            <a:lum contrast="20000"/>
          </a:blip>
          <a:stretch>
            <a:fillRect/>
          </a:stretch>
        </p:blipFill>
        <p:spPr>
          <a:xfrm>
            <a:off x="711200" y="1828800"/>
            <a:ext cx="7721599" cy="2895600"/>
          </a:xfrm>
          <a:prstGeom prst="rect">
            <a:avLst/>
          </a:prstGeom>
        </p:spPr>
      </p:pic>
    </p:spTree>
    <p:extLst>
      <p:ext uri="{BB962C8B-B14F-4D97-AF65-F5344CB8AC3E}">
        <p14:creationId xmlns:p14="http://schemas.microsoft.com/office/powerpoint/2010/main" val="29874683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26B269CE-12F4-4F4F-BF2F-21E0A343DA44}" type="slidenum">
              <a:rPr lang="en-US" smtClean="0"/>
              <a:pPr/>
              <a:t>19</a:t>
            </a:fld>
            <a:endParaRPr lang="en-US"/>
          </a:p>
        </p:txBody>
      </p:sp>
      <p:sp>
        <p:nvSpPr>
          <p:cNvPr id="2" name="Title 1"/>
          <p:cNvSpPr>
            <a:spLocks noGrp="1"/>
          </p:cNvSpPr>
          <p:nvPr>
            <p:ph type="title"/>
          </p:nvPr>
        </p:nvSpPr>
        <p:spPr>
          <a:xfrm>
            <a:off x="3451083" y="2590800"/>
            <a:ext cx="4419600" cy="451739"/>
          </a:xfrm>
        </p:spPr>
        <p:txBody>
          <a:bodyPr>
            <a:noAutofit/>
          </a:bodyPr>
          <a:lstStyle/>
          <a:p>
            <a:r>
              <a:rPr lang="en-US" sz="2800" dirty="0">
                <a:solidFill>
                  <a:schemeClr val="tx1"/>
                </a:solidFill>
              </a:rPr>
              <a:t>2. </a:t>
            </a:r>
            <a:r>
              <a:rPr lang="en-US" sz="2800" dirty="0" err="1">
                <a:solidFill>
                  <a:schemeClr val="tx1"/>
                </a:solidFill>
              </a:rPr>
              <a:t>Cây</a:t>
            </a:r>
            <a:r>
              <a:rPr lang="en-US" sz="2800" dirty="0">
                <a:solidFill>
                  <a:schemeClr val="tx1"/>
                </a:solidFill>
              </a:rPr>
              <a:t> </a:t>
            </a:r>
            <a:r>
              <a:rPr lang="en-US" sz="2800" dirty="0" err="1">
                <a:solidFill>
                  <a:schemeClr val="tx1"/>
                </a:solidFill>
              </a:rPr>
              <a:t>nhị</a:t>
            </a:r>
            <a:r>
              <a:rPr lang="en-US" sz="2800" dirty="0">
                <a:solidFill>
                  <a:schemeClr val="tx1"/>
                </a:solidFill>
              </a:rPr>
              <a:t> </a:t>
            </a:r>
            <a:r>
              <a:rPr lang="en-US" sz="2800" dirty="0" err="1">
                <a:solidFill>
                  <a:schemeClr val="tx1"/>
                </a:solidFill>
              </a:rPr>
              <a:t>phân</a:t>
            </a:r>
            <a:endParaRPr lang="en-US" sz="2800" dirty="0">
              <a:solidFill>
                <a:schemeClr val="tx1"/>
              </a:solidFill>
            </a:endParaRPr>
          </a:p>
        </p:txBody>
      </p:sp>
    </p:spTree>
    <p:extLst>
      <p:ext uri="{BB962C8B-B14F-4D97-AF65-F5344CB8AC3E}">
        <p14:creationId xmlns:p14="http://schemas.microsoft.com/office/powerpoint/2010/main" val="11532592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p:nvPr>
        </p:nvSpPr>
        <p:spPr/>
        <p:txBody>
          <a:bodyPr/>
          <a:lstStyle/>
          <a:p>
            <a:r>
              <a:rPr lang="en-US" altLang="en-US" dirty="0" err="1"/>
              <a:t>Khái</a:t>
            </a:r>
            <a:r>
              <a:rPr lang="en-US" altLang="en-US" dirty="0"/>
              <a:t> </a:t>
            </a:r>
            <a:r>
              <a:rPr lang="en-US" altLang="en-US" dirty="0" err="1"/>
              <a:t>niệm</a:t>
            </a:r>
            <a:r>
              <a:rPr lang="en-US" altLang="en-US" dirty="0"/>
              <a:t> </a:t>
            </a:r>
            <a:r>
              <a:rPr lang="en-US" altLang="en-US" dirty="0" err="1"/>
              <a:t>cơ</a:t>
            </a:r>
            <a:r>
              <a:rPr lang="en-US" altLang="en-US" dirty="0"/>
              <a:t> </a:t>
            </a:r>
            <a:r>
              <a:rPr lang="en-US" altLang="en-US" dirty="0" err="1"/>
              <a:t>bản</a:t>
            </a:r>
            <a:endParaRPr lang="en-US" altLang="en-US" dirty="0"/>
          </a:p>
        </p:txBody>
      </p:sp>
      <p:sp>
        <p:nvSpPr>
          <p:cNvPr id="14341" name="Rectangle 3"/>
          <p:cNvSpPr>
            <a:spLocks noGrp="1" noChangeArrowheads="1"/>
          </p:cNvSpPr>
          <p:nvPr>
            <p:ph type="body" sz="quarter" idx="13"/>
          </p:nvPr>
        </p:nvSpPr>
        <p:spPr>
          <a:noFill/>
        </p:spPr>
        <p:txBody>
          <a:bodyPr>
            <a:normAutofit/>
          </a:bodyPr>
          <a:lstStyle/>
          <a:p>
            <a:pPr eaLnBrk="1" hangingPunct="1"/>
            <a:r>
              <a:rPr lang="en-US" altLang="en-US" sz="2400" dirty="0" err="1">
                <a:cs typeface="Times New Roman" panose="02020603050405020304" pitchFamily="18" charset="0"/>
              </a:rPr>
              <a:t>Mô</a:t>
            </a:r>
            <a:r>
              <a:rPr lang="en-US" altLang="en-US" sz="2400" dirty="0">
                <a:cs typeface="Times New Roman" panose="02020603050405020304" pitchFamily="18" charset="0"/>
              </a:rPr>
              <a:t> </a:t>
            </a:r>
            <a:r>
              <a:rPr lang="en-US" altLang="en-US" sz="2400" dirty="0" err="1">
                <a:cs typeface="Times New Roman" panose="02020603050405020304" pitchFamily="18" charset="0"/>
              </a:rPr>
              <a:t>tả</a:t>
            </a:r>
            <a:r>
              <a:rPr lang="en-US" altLang="en-US" sz="2400" dirty="0">
                <a:cs typeface="Times New Roman" panose="02020603050405020304" pitchFamily="18" charset="0"/>
              </a:rPr>
              <a:t> </a:t>
            </a:r>
            <a:r>
              <a:rPr lang="en-US" altLang="en-US" sz="2400" dirty="0" err="1">
                <a:cs typeface="Times New Roman" panose="02020603050405020304" pitchFamily="18" charset="0"/>
              </a:rPr>
              <a:t>cây</a:t>
            </a:r>
            <a:r>
              <a:rPr lang="en-US" altLang="en-US" sz="2400" dirty="0">
                <a:cs typeface="Times New Roman" panose="02020603050405020304" pitchFamily="18" charset="0"/>
              </a:rPr>
              <a:t> </a:t>
            </a:r>
            <a:r>
              <a:rPr lang="en-US" altLang="en-US" sz="2400" dirty="0" err="1">
                <a:cs typeface="Times New Roman" panose="02020603050405020304" pitchFamily="18" charset="0"/>
              </a:rPr>
              <a:t>nhị</a:t>
            </a:r>
            <a:r>
              <a:rPr lang="en-US" altLang="en-US" sz="2400" dirty="0">
                <a:cs typeface="Times New Roman" panose="02020603050405020304" pitchFamily="18" charset="0"/>
              </a:rPr>
              <a:t> </a:t>
            </a:r>
            <a:r>
              <a:rPr lang="en-US" altLang="en-US" sz="2400" dirty="0" err="1">
                <a:cs typeface="Times New Roman" panose="02020603050405020304" pitchFamily="18" charset="0"/>
              </a:rPr>
              <a:t>phân</a:t>
            </a:r>
            <a:r>
              <a:rPr lang="en-US" altLang="en-US" sz="2400" dirty="0">
                <a:cs typeface="Times New Roman" panose="02020603050405020304" pitchFamily="18" charset="0"/>
              </a:rPr>
              <a:t> (binary tree)</a:t>
            </a:r>
          </a:p>
          <a:p>
            <a:pPr lvl="1" eaLnBrk="1" hangingPunct="1"/>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thứ</a:t>
            </a:r>
            <a:r>
              <a:rPr lang="en-US" altLang="en-US" sz="2000" dirty="0">
                <a:cs typeface="Times New Roman" panose="02020603050405020304" pitchFamily="18" charset="0"/>
              </a:rPr>
              <a:t> </a:t>
            </a:r>
            <a:r>
              <a:rPr lang="en-US" altLang="en-US" sz="2000" dirty="0" err="1">
                <a:cs typeface="Times New Roman" panose="02020603050405020304" pitchFamily="18" charset="0"/>
              </a:rPr>
              <a:t>tự</a:t>
            </a:r>
            <a:r>
              <a:rPr lang="en-US" altLang="en-US" sz="2000" dirty="0">
                <a:cs typeface="Times New Roman" panose="02020603050405020304" pitchFamily="18" charset="0"/>
              </a:rPr>
              <a:t> </a:t>
            </a:r>
            <a:r>
              <a:rPr lang="en-US" altLang="en-US" sz="2000" dirty="0" err="1">
                <a:cs typeface="Times New Roman" panose="02020603050405020304" pitchFamily="18" charset="0"/>
              </a:rPr>
              <a:t>và</a:t>
            </a:r>
            <a:r>
              <a:rPr lang="en-US" altLang="en-US" sz="2000" dirty="0">
                <a:cs typeface="Times New Roman" panose="02020603050405020304" pitchFamily="18" charset="0"/>
              </a:rPr>
              <a:t>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cấp</a:t>
            </a:r>
            <a:r>
              <a:rPr lang="en-US" altLang="en-US" sz="2000" dirty="0">
                <a:cs typeface="Times New Roman" panose="02020603050405020304" pitchFamily="18" charset="0"/>
              </a:rPr>
              <a:t> </a:t>
            </a:r>
            <a:r>
              <a:rPr lang="en-US" altLang="en-US" sz="2000" dirty="0" err="1">
                <a:cs typeface="Times New Roman" panose="02020603050405020304" pitchFamily="18" charset="0"/>
              </a:rPr>
              <a:t>hai</a:t>
            </a:r>
            <a:r>
              <a:rPr lang="en-US" altLang="en-US" sz="2000" dirty="0">
                <a:cs typeface="Times New Roman" panose="02020603050405020304" pitchFamily="18" charset="0"/>
              </a:rPr>
              <a:t>, </a:t>
            </a:r>
            <a:r>
              <a:rPr lang="en-US" altLang="en-US" sz="2000" dirty="0" err="1">
                <a:cs typeface="Times New Roman" panose="02020603050405020304" pitchFamily="18" charset="0"/>
              </a:rPr>
              <a:t>tức</a:t>
            </a:r>
            <a:r>
              <a:rPr lang="en-US" altLang="en-US" sz="2000" dirty="0">
                <a:cs typeface="Times New Roman" panose="02020603050405020304" pitchFamily="18" charset="0"/>
              </a:rPr>
              <a:t>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mỗi</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b="1" i="1" dirty="0" err="1">
                <a:cs typeface="Times New Roman" panose="02020603050405020304" pitchFamily="18" charset="0"/>
              </a:rPr>
              <a:t>tối</a:t>
            </a:r>
            <a:r>
              <a:rPr lang="en-US" altLang="en-US" sz="2000" b="1" i="1" dirty="0">
                <a:cs typeface="Times New Roman" panose="02020603050405020304" pitchFamily="18" charset="0"/>
              </a:rPr>
              <a:t> </a:t>
            </a:r>
            <a:r>
              <a:rPr lang="en-US" altLang="en-US" sz="2000" b="1" i="1" dirty="0" err="1">
                <a:cs typeface="Times New Roman" panose="02020603050405020304" pitchFamily="18" charset="0"/>
              </a:rPr>
              <a:t>đa</a:t>
            </a:r>
            <a:r>
              <a:rPr lang="en-US" altLang="en-US" sz="2000" b="1" i="1" dirty="0">
                <a:cs typeface="Times New Roman" panose="02020603050405020304" pitchFamily="18" charset="0"/>
              </a:rPr>
              <a:t> </a:t>
            </a:r>
            <a:r>
              <a:rPr lang="en-US" altLang="en-US" sz="2000" dirty="0">
                <a:cs typeface="Times New Roman" panose="02020603050405020304" pitchFamily="18" charset="0"/>
              </a:rPr>
              <a:t>2 con. </a:t>
            </a:r>
          </a:p>
          <a:p>
            <a:pPr lvl="1" eaLnBrk="1" hangingPunct="1"/>
            <a:r>
              <a:rPr lang="en-US" altLang="en-US" sz="2000" dirty="0">
                <a:cs typeface="Times New Roman" panose="02020603050405020304" pitchFamily="18" charset="0"/>
              </a:rPr>
              <a:t>Hai con </a:t>
            </a:r>
            <a:r>
              <a:rPr lang="en-US" altLang="en-US" sz="2000" dirty="0" err="1">
                <a:cs typeface="Times New Roman" panose="02020603050405020304" pitchFamily="18" charset="0"/>
              </a:rPr>
              <a:t>của</a:t>
            </a:r>
            <a:r>
              <a:rPr lang="en-US" altLang="en-US" sz="2000" dirty="0">
                <a:cs typeface="Times New Roman" panose="02020603050405020304" pitchFamily="18" charset="0"/>
              </a:rPr>
              <a:t> </a:t>
            </a:r>
            <a:r>
              <a:rPr lang="en-US" altLang="en-US" sz="2000" dirty="0" err="1">
                <a:cs typeface="Times New Roman" panose="02020603050405020304" pitchFamily="18" charset="0"/>
              </a:rPr>
              <a:t>một</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được</a:t>
            </a:r>
            <a:r>
              <a:rPr lang="en-US" altLang="en-US" sz="2000" dirty="0">
                <a:cs typeface="Times New Roman" panose="02020603050405020304" pitchFamily="18" charset="0"/>
              </a:rPr>
              <a:t> </a:t>
            </a:r>
            <a:r>
              <a:rPr lang="en-US" altLang="en-US" sz="2000" dirty="0" err="1">
                <a:cs typeface="Times New Roman" panose="02020603050405020304" pitchFamily="18" charset="0"/>
              </a:rPr>
              <a:t>phân</a:t>
            </a:r>
            <a:r>
              <a:rPr lang="en-US" altLang="en-US" sz="2000" dirty="0">
                <a:cs typeface="Times New Roman" panose="02020603050405020304" pitchFamily="18" charset="0"/>
              </a:rPr>
              <a:t> </a:t>
            </a:r>
            <a:r>
              <a:rPr lang="en-US" altLang="en-US" sz="2000" dirty="0" err="1">
                <a:cs typeface="Times New Roman" panose="02020603050405020304" pitchFamily="18" charset="0"/>
              </a:rPr>
              <a:t>biệt</a:t>
            </a:r>
            <a:r>
              <a:rPr lang="en-US" altLang="en-US" sz="2000" dirty="0">
                <a:cs typeface="Times New Roman" panose="02020603050405020304" pitchFamily="18" charset="0"/>
              </a:rPr>
              <a:t> </a:t>
            </a:r>
            <a:r>
              <a:rPr lang="en-US" altLang="en-US" sz="2000" dirty="0" err="1">
                <a:cs typeface="Times New Roman" panose="02020603050405020304" pitchFamily="18" charset="0"/>
              </a:rPr>
              <a:t>thứ</a:t>
            </a:r>
            <a:r>
              <a:rPr lang="en-US" altLang="en-US" sz="2000" dirty="0">
                <a:cs typeface="Times New Roman" panose="02020603050405020304" pitchFamily="18" charset="0"/>
              </a:rPr>
              <a:t> </a:t>
            </a:r>
            <a:r>
              <a:rPr lang="en-US" altLang="en-US" sz="2000" dirty="0" err="1">
                <a:cs typeface="Times New Roman" panose="02020603050405020304" pitchFamily="18" charset="0"/>
              </a:rPr>
              <a:t>tự</a:t>
            </a:r>
            <a:r>
              <a:rPr lang="en-US" altLang="en-US" sz="2000" dirty="0">
                <a:cs typeface="Times New Roman" panose="02020603050405020304" pitchFamily="18" charset="0"/>
              </a:rPr>
              <a:t> </a:t>
            </a:r>
          </a:p>
          <a:p>
            <a:pPr lvl="1" eaLnBrk="1" hangingPunct="1"/>
            <a:r>
              <a:rPr lang="en-US" altLang="en-US" sz="2000" dirty="0" err="1">
                <a:cs typeface="Times New Roman" panose="02020603050405020304" pitchFamily="18" charset="0"/>
              </a:rPr>
              <a:t>Quy</a:t>
            </a:r>
            <a:r>
              <a:rPr lang="en-US" altLang="en-US" sz="2000" dirty="0">
                <a:cs typeface="Times New Roman" panose="02020603050405020304" pitchFamily="18" charset="0"/>
              </a:rPr>
              <a:t> </a:t>
            </a:r>
            <a:r>
              <a:rPr lang="en-US" altLang="en-US" sz="2000" dirty="0" err="1">
                <a:cs typeface="Times New Roman" panose="02020603050405020304" pitchFamily="18" charset="0"/>
              </a:rPr>
              <a:t>ước</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trước</a:t>
            </a:r>
            <a:r>
              <a:rPr lang="en-US" altLang="en-US" sz="2000" dirty="0">
                <a:cs typeface="Times New Roman" panose="02020603050405020304" pitchFamily="18" charset="0"/>
              </a:rPr>
              <a:t> </a:t>
            </a:r>
            <a:r>
              <a:rPr lang="en-US" altLang="en-US" sz="2000" dirty="0" err="1">
                <a:cs typeface="Times New Roman" panose="02020603050405020304" pitchFamily="18" charset="0"/>
              </a:rPr>
              <a:t>gọi</a:t>
            </a:r>
            <a:r>
              <a:rPr lang="en-US" altLang="en-US" sz="2000" dirty="0">
                <a:cs typeface="Times New Roman" panose="02020603050405020304" pitchFamily="18" charset="0"/>
              </a:rPr>
              <a:t>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con </a:t>
            </a:r>
            <a:r>
              <a:rPr lang="en-US" altLang="en-US" sz="2000" dirty="0" err="1">
                <a:cs typeface="Times New Roman" panose="02020603050405020304" pitchFamily="18" charset="0"/>
              </a:rPr>
              <a:t>trái</a:t>
            </a:r>
            <a:r>
              <a:rPr lang="en-US" altLang="en-US" sz="2000" dirty="0">
                <a:cs typeface="Times New Roman" panose="02020603050405020304" pitchFamily="18" charset="0"/>
              </a:rPr>
              <a:t> </a:t>
            </a:r>
            <a:br>
              <a:rPr lang="en-US" altLang="en-US" sz="2000" dirty="0">
                <a:cs typeface="Times New Roman" panose="02020603050405020304" pitchFamily="18" charset="0"/>
              </a:rPr>
            </a:b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sau</a:t>
            </a:r>
            <a:r>
              <a:rPr lang="en-US" altLang="en-US" sz="2000" dirty="0">
                <a:cs typeface="Times New Roman" panose="02020603050405020304" pitchFamily="18" charset="0"/>
              </a:rPr>
              <a:t> </a:t>
            </a:r>
            <a:r>
              <a:rPr lang="en-US" altLang="en-US" sz="2000" dirty="0" err="1">
                <a:cs typeface="Times New Roman" panose="02020603050405020304" pitchFamily="18" charset="0"/>
              </a:rPr>
              <a:t>gọi</a:t>
            </a:r>
            <a:r>
              <a:rPr lang="en-US" altLang="en-US" sz="2000" dirty="0">
                <a:cs typeface="Times New Roman" panose="02020603050405020304" pitchFamily="18" charset="0"/>
              </a:rPr>
              <a:t>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con </a:t>
            </a:r>
            <a:r>
              <a:rPr lang="en-US" altLang="en-US" sz="2000" dirty="0" err="1">
                <a:cs typeface="Times New Roman" panose="02020603050405020304" pitchFamily="18" charset="0"/>
              </a:rPr>
              <a:t>phải</a:t>
            </a:r>
            <a:endParaRPr lang="en-US" altLang="en-US" sz="2000" dirty="0">
              <a:cs typeface="Times New Roman" panose="02020603050405020304" pitchFamily="18" charset="0"/>
            </a:endParaRPr>
          </a:p>
        </p:txBody>
      </p:sp>
      <p:grpSp>
        <p:nvGrpSpPr>
          <p:cNvPr id="14342" name="Group 37"/>
          <p:cNvGrpSpPr>
            <a:grpSpLocks/>
          </p:cNvGrpSpPr>
          <p:nvPr/>
        </p:nvGrpSpPr>
        <p:grpSpPr bwMode="auto">
          <a:xfrm>
            <a:off x="5327523" y="2743200"/>
            <a:ext cx="3581400" cy="3505200"/>
            <a:chOff x="3168" y="1776"/>
            <a:chExt cx="2256" cy="2208"/>
          </a:xfrm>
        </p:grpSpPr>
        <p:sp>
          <p:nvSpPr>
            <p:cNvPr id="14344" name="Oval 22"/>
            <p:cNvSpPr>
              <a:spLocks noChangeArrowheads="1"/>
            </p:cNvSpPr>
            <p:nvPr/>
          </p:nvSpPr>
          <p:spPr bwMode="auto">
            <a:xfrm>
              <a:off x="4209" y="1776"/>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1</a:t>
              </a:r>
            </a:p>
          </p:txBody>
        </p:sp>
        <p:sp>
          <p:nvSpPr>
            <p:cNvPr id="14345" name="Oval 23"/>
            <p:cNvSpPr>
              <a:spLocks noChangeArrowheads="1"/>
            </p:cNvSpPr>
            <p:nvPr/>
          </p:nvSpPr>
          <p:spPr bwMode="auto">
            <a:xfrm>
              <a:off x="4787" y="2496"/>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3</a:t>
              </a:r>
            </a:p>
          </p:txBody>
        </p:sp>
        <p:sp>
          <p:nvSpPr>
            <p:cNvPr id="14346" name="Oval 24"/>
            <p:cNvSpPr>
              <a:spLocks noChangeArrowheads="1"/>
            </p:cNvSpPr>
            <p:nvPr/>
          </p:nvSpPr>
          <p:spPr bwMode="auto">
            <a:xfrm>
              <a:off x="3669" y="2448"/>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2</a:t>
              </a:r>
            </a:p>
          </p:txBody>
        </p:sp>
        <p:sp>
          <p:nvSpPr>
            <p:cNvPr id="14347" name="Oval 25"/>
            <p:cNvSpPr>
              <a:spLocks noChangeArrowheads="1"/>
            </p:cNvSpPr>
            <p:nvPr/>
          </p:nvSpPr>
          <p:spPr bwMode="auto">
            <a:xfrm>
              <a:off x="3168" y="316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4</a:t>
              </a:r>
            </a:p>
          </p:txBody>
        </p:sp>
        <p:sp>
          <p:nvSpPr>
            <p:cNvPr id="14348" name="Oval 26"/>
            <p:cNvSpPr>
              <a:spLocks noChangeArrowheads="1"/>
            </p:cNvSpPr>
            <p:nvPr/>
          </p:nvSpPr>
          <p:spPr bwMode="auto">
            <a:xfrm>
              <a:off x="4071" y="3168"/>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5</a:t>
              </a:r>
            </a:p>
          </p:txBody>
        </p:sp>
        <p:sp>
          <p:nvSpPr>
            <p:cNvPr id="14349" name="Oval 27"/>
            <p:cNvSpPr>
              <a:spLocks noChangeArrowheads="1"/>
            </p:cNvSpPr>
            <p:nvPr/>
          </p:nvSpPr>
          <p:spPr bwMode="auto">
            <a:xfrm>
              <a:off x="4512" y="316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6</a:t>
              </a:r>
            </a:p>
          </p:txBody>
        </p:sp>
        <p:sp>
          <p:nvSpPr>
            <p:cNvPr id="14350" name="Oval 28"/>
            <p:cNvSpPr>
              <a:spLocks noChangeArrowheads="1"/>
            </p:cNvSpPr>
            <p:nvPr/>
          </p:nvSpPr>
          <p:spPr bwMode="auto">
            <a:xfrm>
              <a:off x="5193" y="3120"/>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7</a:t>
              </a:r>
            </a:p>
          </p:txBody>
        </p:sp>
        <p:sp>
          <p:nvSpPr>
            <p:cNvPr id="14351" name="Oval 29"/>
            <p:cNvSpPr>
              <a:spLocks noChangeArrowheads="1"/>
            </p:cNvSpPr>
            <p:nvPr/>
          </p:nvSpPr>
          <p:spPr bwMode="auto">
            <a:xfrm>
              <a:off x="4826" y="3744"/>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8</a:t>
              </a:r>
            </a:p>
          </p:txBody>
        </p:sp>
        <p:sp>
          <p:nvSpPr>
            <p:cNvPr id="14352" name="Line 30"/>
            <p:cNvSpPr>
              <a:spLocks noChangeShapeType="1"/>
            </p:cNvSpPr>
            <p:nvPr/>
          </p:nvSpPr>
          <p:spPr bwMode="auto">
            <a:xfrm flipH="1">
              <a:off x="3862" y="1968"/>
              <a:ext cx="347"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53" name="Line 31"/>
            <p:cNvSpPr>
              <a:spLocks noChangeShapeType="1"/>
            </p:cNvSpPr>
            <p:nvPr/>
          </p:nvSpPr>
          <p:spPr bwMode="auto">
            <a:xfrm flipH="1">
              <a:off x="3322" y="2688"/>
              <a:ext cx="386"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54" name="Line 32"/>
            <p:cNvSpPr>
              <a:spLocks noChangeShapeType="1"/>
            </p:cNvSpPr>
            <p:nvPr/>
          </p:nvSpPr>
          <p:spPr bwMode="auto">
            <a:xfrm flipH="1">
              <a:off x="4608" y="2736"/>
              <a:ext cx="24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55" name="Line 33"/>
            <p:cNvSpPr>
              <a:spLocks noChangeShapeType="1"/>
            </p:cNvSpPr>
            <p:nvPr/>
          </p:nvSpPr>
          <p:spPr bwMode="auto">
            <a:xfrm>
              <a:off x="3840" y="2688"/>
              <a:ext cx="30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56" name="Line 34"/>
            <p:cNvSpPr>
              <a:spLocks noChangeShapeType="1"/>
            </p:cNvSpPr>
            <p:nvPr/>
          </p:nvSpPr>
          <p:spPr bwMode="auto">
            <a:xfrm>
              <a:off x="4402" y="1968"/>
              <a:ext cx="446"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57" name="Line 35"/>
            <p:cNvSpPr>
              <a:spLocks noChangeShapeType="1"/>
            </p:cNvSpPr>
            <p:nvPr/>
          </p:nvSpPr>
          <p:spPr bwMode="auto">
            <a:xfrm>
              <a:off x="4992" y="2688"/>
              <a:ext cx="288"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58" name="Line 36"/>
            <p:cNvSpPr>
              <a:spLocks noChangeShapeType="1"/>
            </p:cNvSpPr>
            <p:nvPr/>
          </p:nvSpPr>
          <p:spPr bwMode="auto">
            <a:xfrm flipH="1">
              <a:off x="4992" y="3312"/>
              <a:ext cx="249" cy="4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4343" name="Rectangle 39"/>
          <p:cNvSpPr>
            <a:spLocks noChangeArrowheads="1"/>
          </p:cNvSpPr>
          <p:nvPr/>
        </p:nvSpPr>
        <p:spPr bwMode="auto">
          <a:xfrm>
            <a:off x="-57151" y="3366655"/>
            <a:ext cx="5561013"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457200" lvl="1" indent="0" eaLnBrk="1" hangingPunct="1">
              <a:spcBef>
                <a:spcPct val="20000"/>
              </a:spcBef>
            </a:pPr>
            <a:r>
              <a:rPr lang="en-US" altLang="en-US" sz="2000" dirty="0">
                <a:latin typeface="Lato" panose="020F0502020204030203"/>
                <a:cs typeface="Times New Roman" panose="02020603050405020304" pitchFamily="18" charset="0"/>
                <a:sym typeface="Wingdings" panose="05000000000000000000" pitchFamily="2" charset="2"/>
              </a:rPr>
              <a:t> </a:t>
            </a:r>
            <a:r>
              <a:rPr lang="en-US" altLang="en-US" sz="2000" dirty="0" err="1">
                <a:latin typeface="Lato" panose="020F0502020204030203"/>
                <a:cs typeface="Times New Roman" panose="02020603050405020304" pitchFamily="18" charset="0"/>
                <a:sym typeface="Wingdings" panose="05000000000000000000" pitchFamily="2" charset="2"/>
              </a:rPr>
              <a:t>C</a:t>
            </a:r>
            <a:r>
              <a:rPr lang="en-US" altLang="en-US" sz="2000" dirty="0" err="1">
                <a:latin typeface="Lato" panose="020F0502020204030203"/>
                <a:cs typeface="Times New Roman" panose="02020603050405020304" pitchFamily="18" charset="0"/>
              </a:rPr>
              <a:t>ần</a:t>
            </a:r>
            <a:r>
              <a:rPr lang="en-US" altLang="en-US" sz="2000" dirty="0">
                <a:latin typeface="Lato" panose="020F0502020204030203"/>
                <a:cs typeface="Times New Roman" panose="02020603050405020304" pitchFamily="18" charset="0"/>
              </a:rPr>
              <a:t> </a:t>
            </a:r>
            <a:r>
              <a:rPr lang="en-US" altLang="en-US" sz="2000" dirty="0" err="1">
                <a:latin typeface="Lato" panose="020F0502020204030203"/>
                <a:cs typeface="Times New Roman" panose="02020603050405020304" pitchFamily="18" charset="0"/>
              </a:rPr>
              <a:t>phân</a:t>
            </a:r>
            <a:r>
              <a:rPr lang="en-US" altLang="en-US" sz="2000" dirty="0">
                <a:latin typeface="Lato" panose="020F0502020204030203"/>
                <a:cs typeface="Times New Roman" panose="02020603050405020304" pitchFamily="18" charset="0"/>
              </a:rPr>
              <a:t> </a:t>
            </a:r>
            <a:r>
              <a:rPr lang="en-US" altLang="en-US" sz="2000" dirty="0" err="1">
                <a:latin typeface="Lato" panose="020F0502020204030203"/>
                <a:cs typeface="Times New Roman" panose="02020603050405020304" pitchFamily="18" charset="0"/>
              </a:rPr>
              <a:t>biệt</a:t>
            </a:r>
            <a:r>
              <a:rPr lang="en-US" altLang="en-US" sz="2000" dirty="0">
                <a:latin typeface="Lato" panose="020F0502020204030203"/>
                <a:cs typeface="Times New Roman" panose="02020603050405020304" pitchFamily="18" charset="0"/>
              </a:rPr>
              <a:t> </a:t>
            </a:r>
            <a:r>
              <a:rPr lang="en-US" altLang="en-US" sz="2000" dirty="0" err="1">
                <a:latin typeface="Lato" panose="020F0502020204030203"/>
                <a:cs typeface="Times New Roman" panose="02020603050405020304" pitchFamily="18" charset="0"/>
              </a:rPr>
              <a:t>rõ</a:t>
            </a:r>
            <a:r>
              <a:rPr lang="en-US" altLang="en-US" sz="2000" dirty="0">
                <a:latin typeface="Lato" panose="020F0502020204030203"/>
                <a:cs typeface="Times New Roman" panose="02020603050405020304" pitchFamily="18" charset="0"/>
              </a:rPr>
              <a:t> </a:t>
            </a:r>
            <a:r>
              <a:rPr lang="en-US" altLang="en-US" sz="2000" dirty="0" err="1">
                <a:latin typeface="Lato" panose="020F0502020204030203"/>
                <a:cs typeface="Times New Roman" panose="02020603050405020304" pitchFamily="18" charset="0"/>
              </a:rPr>
              <a:t>ràng</a:t>
            </a:r>
            <a:r>
              <a:rPr lang="en-US" altLang="en-US" sz="2000" dirty="0">
                <a:latin typeface="Lato" panose="020F0502020204030203"/>
                <a:cs typeface="Times New Roman" panose="02020603050405020304" pitchFamily="18" charset="0"/>
              </a:rPr>
              <a:t> </a:t>
            </a:r>
            <a:r>
              <a:rPr lang="en-US" altLang="en-US" sz="2000" dirty="0" err="1">
                <a:latin typeface="Lato" panose="020F0502020204030203"/>
                <a:cs typeface="Times New Roman" panose="02020603050405020304" pitchFamily="18" charset="0"/>
              </a:rPr>
              <a:t>giữa</a:t>
            </a:r>
            <a:r>
              <a:rPr lang="en-US" altLang="en-US" sz="2000" dirty="0">
                <a:latin typeface="Lato" panose="020F0502020204030203"/>
                <a:cs typeface="Times New Roman" panose="02020603050405020304" pitchFamily="18" charset="0"/>
              </a:rPr>
              <a:t> con </a:t>
            </a:r>
            <a:r>
              <a:rPr lang="en-US" altLang="en-US" sz="2000" dirty="0" err="1">
                <a:latin typeface="Lato" panose="020F0502020204030203"/>
                <a:cs typeface="Times New Roman" panose="02020603050405020304" pitchFamily="18" charset="0"/>
              </a:rPr>
              <a:t>trái</a:t>
            </a:r>
            <a:r>
              <a:rPr lang="en-US" altLang="en-US" sz="2000" dirty="0">
                <a:latin typeface="Lato" panose="020F0502020204030203"/>
                <a:cs typeface="Times New Roman" panose="02020603050405020304" pitchFamily="18" charset="0"/>
              </a:rPr>
              <a:t> </a:t>
            </a:r>
            <a:r>
              <a:rPr lang="en-US" altLang="en-US" sz="2000" dirty="0" err="1">
                <a:latin typeface="Lato" panose="020F0502020204030203"/>
                <a:cs typeface="Times New Roman" panose="02020603050405020304" pitchFamily="18" charset="0"/>
              </a:rPr>
              <a:t>và</a:t>
            </a:r>
            <a:r>
              <a:rPr lang="en-US" altLang="en-US" sz="2000" dirty="0">
                <a:latin typeface="Lato" panose="020F0502020204030203"/>
                <a:cs typeface="Times New Roman" panose="02020603050405020304" pitchFamily="18" charset="0"/>
              </a:rPr>
              <a:t> con </a:t>
            </a:r>
            <a:r>
              <a:rPr lang="en-US" altLang="en-US" sz="2000" dirty="0" err="1">
                <a:latin typeface="Lato" panose="020F0502020204030203"/>
                <a:cs typeface="Times New Roman" panose="02020603050405020304" pitchFamily="18" charset="0"/>
              </a:rPr>
              <a:t>phải</a:t>
            </a:r>
            <a:r>
              <a:rPr lang="en-US" altLang="en-US" sz="2000" dirty="0">
                <a:latin typeface="Lato" panose="020F0502020204030203"/>
                <a:cs typeface="Times New Roman" panose="02020603050405020304" pitchFamily="18" charset="0"/>
              </a:rPr>
              <a:t>, </a:t>
            </a:r>
            <a:r>
              <a:rPr lang="en-US" altLang="en-US" sz="2000" dirty="0" err="1">
                <a:latin typeface="Lato" panose="020F0502020204030203"/>
                <a:cs typeface="Times New Roman" panose="02020603050405020304" pitchFamily="18" charset="0"/>
              </a:rPr>
              <a:t>nhất</a:t>
            </a:r>
            <a:r>
              <a:rPr lang="en-US" altLang="en-US" sz="2000" dirty="0">
                <a:latin typeface="Lato" panose="020F0502020204030203"/>
                <a:cs typeface="Times New Roman" panose="02020603050405020304" pitchFamily="18" charset="0"/>
              </a:rPr>
              <a:t> </a:t>
            </a:r>
            <a:r>
              <a:rPr lang="en-US" altLang="en-US" sz="2000" dirty="0" err="1">
                <a:latin typeface="Lato" panose="020F0502020204030203"/>
                <a:cs typeface="Times New Roman" panose="02020603050405020304" pitchFamily="18" charset="0"/>
              </a:rPr>
              <a:t>là</a:t>
            </a:r>
            <a:r>
              <a:rPr lang="en-US" altLang="en-US" sz="2000" dirty="0">
                <a:latin typeface="Lato" panose="020F0502020204030203"/>
                <a:cs typeface="Times New Roman" panose="02020603050405020304" pitchFamily="18" charset="0"/>
              </a:rPr>
              <a:t> </a:t>
            </a:r>
            <a:r>
              <a:rPr lang="en-US" altLang="en-US" sz="2000" dirty="0" err="1">
                <a:latin typeface="Lato" panose="020F0502020204030203"/>
                <a:cs typeface="Times New Roman" panose="02020603050405020304" pitchFamily="18" charset="0"/>
              </a:rPr>
              <a:t>khi</a:t>
            </a:r>
            <a:r>
              <a:rPr lang="en-US" altLang="en-US" sz="2000" dirty="0">
                <a:latin typeface="Lato" panose="020F0502020204030203"/>
                <a:cs typeface="Times New Roman" panose="02020603050405020304" pitchFamily="18" charset="0"/>
              </a:rPr>
              <a:t> </a:t>
            </a:r>
            <a:r>
              <a:rPr lang="en-US" altLang="en-US" sz="2000" dirty="0" err="1">
                <a:latin typeface="Lato" panose="020F0502020204030203"/>
                <a:cs typeface="Times New Roman" panose="02020603050405020304" pitchFamily="18" charset="0"/>
              </a:rPr>
              <a:t>nút</a:t>
            </a:r>
            <a:r>
              <a:rPr lang="en-US" altLang="en-US" sz="2000" dirty="0">
                <a:latin typeface="Lato" panose="020F0502020204030203"/>
                <a:cs typeface="Times New Roman" panose="02020603050405020304" pitchFamily="18" charset="0"/>
              </a:rPr>
              <a:t> </a:t>
            </a:r>
            <a:r>
              <a:rPr lang="en-US" altLang="en-US" sz="2000" dirty="0" err="1">
                <a:latin typeface="Lato" panose="020F0502020204030203"/>
                <a:cs typeface="Times New Roman" panose="02020603050405020304" pitchFamily="18" charset="0"/>
              </a:rPr>
              <a:t>chỉ</a:t>
            </a:r>
            <a:r>
              <a:rPr lang="en-US" altLang="en-US" sz="2000" dirty="0">
                <a:latin typeface="Lato" panose="020F0502020204030203"/>
                <a:cs typeface="Times New Roman" panose="02020603050405020304" pitchFamily="18" charset="0"/>
              </a:rPr>
              <a:t> </a:t>
            </a:r>
            <a:r>
              <a:rPr lang="en-US" altLang="en-US" sz="2000" dirty="0" err="1">
                <a:latin typeface="Lato" panose="020F0502020204030203"/>
                <a:cs typeface="Times New Roman" panose="02020603050405020304" pitchFamily="18" charset="0"/>
              </a:rPr>
              <a:t>có</a:t>
            </a:r>
            <a:r>
              <a:rPr lang="en-US" altLang="en-US" sz="2000" dirty="0">
                <a:latin typeface="Lato" panose="020F0502020204030203"/>
                <a:cs typeface="Times New Roman" panose="02020603050405020304" pitchFamily="18" charset="0"/>
              </a:rPr>
              <a:t> </a:t>
            </a:r>
            <a:r>
              <a:rPr lang="en-US" altLang="en-US" sz="2000" dirty="0" err="1">
                <a:latin typeface="Lato" panose="020F0502020204030203"/>
                <a:cs typeface="Times New Roman" panose="02020603050405020304" pitchFamily="18" charset="0"/>
              </a:rPr>
              <a:t>một</a:t>
            </a:r>
            <a:r>
              <a:rPr lang="en-US" altLang="en-US" sz="2000" dirty="0">
                <a:latin typeface="Lato" panose="020F0502020204030203"/>
                <a:cs typeface="Times New Roman" panose="02020603050405020304" pitchFamily="18" charset="0"/>
              </a:rPr>
              <a:t> con</a:t>
            </a:r>
          </a:p>
        </p:txBody>
      </p:sp>
    </p:spTree>
    <p:extLst>
      <p:ext uri="{BB962C8B-B14F-4D97-AF65-F5344CB8AC3E}">
        <p14:creationId xmlns:p14="http://schemas.microsoft.com/office/powerpoint/2010/main" val="1672942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41">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3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lstStyle/>
          <a:p>
            <a:pPr eaLnBrk="1" hangingPunct="1"/>
            <a:r>
              <a:rPr lang="en-US" altLang="en-US" dirty="0" err="1"/>
              <a:t>Khái</a:t>
            </a:r>
            <a:r>
              <a:rPr lang="en-US" altLang="en-US" dirty="0"/>
              <a:t> </a:t>
            </a:r>
            <a:r>
              <a:rPr lang="en-US" altLang="en-US" dirty="0" err="1"/>
              <a:t>niệm</a:t>
            </a:r>
            <a:r>
              <a:rPr lang="en-US" altLang="en-US" dirty="0"/>
              <a:t> </a:t>
            </a:r>
            <a:r>
              <a:rPr lang="en-US" altLang="en-US" dirty="0" err="1"/>
              <a:t>cơ</a:t>
            </a:r>
            <a:r>
              <a:rPr lang="en-US" altLang="en-US" dirty="0"/>
              <a:t> </a:t>
            </a:r>
            <a:r>
              <a:rPr lang="en-US" altLang="en-US" dirty="0" err="1"/>
              <a:t>bản</a:t>
            </a:r>
            <a:endParaRPr lang="en-US" altLang="en-US" dirty="0"/>
          </a:p>
        </p:txBody>
      </p:sp>
      <p:sp>
        <p:nvSpPr>
          <p:cNvPr id="15365" name="Rectangle 3"/>
          <p:cNvSpPr>
            <a:spLocks noGrp="1" noChangeArrowheads="1"/>
          </p:cNvSpPr>
          <p:nvPr>
            <p:ph type="body" sz="quarter" idx="13"/>
          </p:nvPr>
        </p:nvSpPr>
        <p:spPr>
          <a:noFill/>
        </p:spPr>
        <p:txBody>
          <a:bodyPr>
            <a:normAutofit/>
          </a:bodyPr>
          <a:lstStyle/>
          <a:p>
            <a:r>
              <a:rPr lang="en-US" altLang="en-US" sz="2400" dirty="0" err="1">
                <a:cs typeface="Times New Roman" panose="02020603050405020304" pitchFamily="18" charset="0"/>
              </a:rPr>
              <a:t>Loại</a:t>
            </a:r>
            <a:r>
              <a:rPr lang="en-US" altLang="en-US" sz="2400" dirty="0">
                <a:cs typeface="Times New Roman" panose="02020603050405020304" pitchFamily="18" charset="0"/>
              </a:rPr>
              <a:t> </a:t>
            </a:r>
            <a:r>
              <a:rPr lang="en-US" altLang="en-US" sz="2400" dirty="0" err="1">
                <a:cs typeface="Times New Roman" panose="02020603050405020304" pitchFamily="18" charset="0"/>
              </a:rPr>
              <a:t>nút</a:t>
            </a:r>
            <a:r>
              <a:rPr lang="en-US" altLang="en-US" sz="2400" dirty="0">
                <a:cs typeface="Times New Roman" panose="02020603050405020304" pitchFamily="18" charset="0"/>
              </a:rPr>
              <a:t>:</a:t>
            </a:r>
          </a:p>
          <a:p>
            <a:pPr lvl="1"/>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đủ</a:t>
            </a:r>
            <a:r>
              <a:rPr lang="en-US" altLang="en-US" sz="2000" dirty="0">
                <a:cs typeface="Times New Roman" panose="02020603050405020304" pitchFamily="18" charset="0"/>
              </a:rPr>
              <a:t> </a:t>
            </a:r>
            <a:r>
              <a:rPr lang="en-US" altLang="en-US" sz="2000" dirty="0" err="1">
                <a:cs typeface="Times New Roman" panose="02020603050405020304" pitchFamily="18" charset="0"/>
              </a:rPr>
              <a:t>hai</a:t>
            </a:r>
            <a:r>
              <a:rPr lang="en-US" altLang="en-US" sz="2000" dirty="0">
                <a:cs typeface="Times New Roman" panose="02020603050405020304" pitchFamily="18" charset="0"/>
              </a:rPr>
              <a:t> con </a:t>
            </a:r>
            <a:r>
              <a:rPr lang="en-US" altLang="en-US" sz="2000" dirty="0" err="1">
                <a:cs typeface="Times New Roman" panose="02020603050405020304" pitchFamily="18" charset="0"/>
              </a:rPr>
              <a:t>được</a:t>
            </a:r>
            <a:r>
              <a:rPr lang="en-US" altLang="en-US" sz="2000" dirty="0">
                <a:cs typeface="Times New Roman" panose="02020603050405020304" pitchFamily="18" charset="0"/>
              </a:rPr>
              <a:t> </a:t>
            </a:r>
            <a:r>
              <a:rPr lang="en-US" altLang="en-US" sz="2000" dirty="0" err="1">
                <a:cs typeface="Times New Roman" panose="02020603050405020304" pitchFamily="18" charset="0"/>
              </a:rPr>
              <a:t>gọi</a:t>
            </a:r>
            <a:r>
              <a:rPr lang="en-US" altLang="en-US" sz="2000" dirty="0">
                <a:cs typeface="Times New Roman" panose="02020603050405020304" pitchFamily="18" charset="0"/>
              </a:rPr>
              <a:t>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kép</a:t>
            </a:r>
            <a:r>
              <a:rPr lang="en-US" altLang="en-US" sz="2000" dirty="0">
                <a:cs typeface="Times New Roman" panose="02020603050405020304" pitchFamily="18" charset="0"/>
              </a:rPr>
              <a:t>: 2, 3</a:t>
            </a:r>
          </a:p>
          <a:p>
            <a:pPr lvl="1"/>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chỉ</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một</a:t>
            </a:r>
            <a:r>
              <a:rPr lang="en-US" altLang="en-US" sz="2000" dirty="0">
                <a:cs typeface="Times New Roman" panose="02020603050405020304" pitchFamily="18" charset="0"/>
              </a:rPr>
              <a:t> con </a:t>
            </a:r>
            <a:r>
              <a:rPr lang="en-US" altLang="en-US" sz="2000" dirty="0" err="1">
                <a:cs typeface="Times New Roman" panose="02020603050405020304" pitchFamily="18" charset="0"/>
              </a:rPr>
              <a:t>gọi</a:t>
            </a:r>
            <a:r>
              <a:rPr lang="en-US" altLang="en-US" sz="2000" dirty="0">
                <a:cs typeface="Times New Roman" panose="02020603050405020304" pitchFamily="18" charset="0"/>
              </a:rPr>
              <a:t>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đơn</a:t>
            </a:r>
            <a:r>
              <a:rPr lang="en-US" altLang="en-US" sz="2000" dirty="0">
                <a:cs typeface="Times New Roman" panose="02020603050405020304" pitchFamily="18" charset="0"/>
              </a:rPr>
              <a:t>: 7</a:t>
            </a:r>
          </a:p>
          <a:p>
            <a:pPr lvl="1"/>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không</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con </a:t>
            </a:r>
            <a:r>
              <a:rPr lang="en-US" altLang="en-US" sz="2000" dirty="0" err="1">
                <a:cs typeface="Times New Roman" panose="02020603050405020304" pitchFamily="18" charset="0"/>
              </a:rPr>
              <a:t>được</a:t>
            </a:r>
            <a:r>
              <a:rPr lang="en-US" altLang="en-US" sz="2000" dirty="0">
                <a:cs typeface="Times New Roman" panose="02020603050405020304" pitchFamily="18" charset="0"/>
              </a:rPr>
              <a:t> </a:t>
            </a:r>
            <a:r>
              <a:rPr lang="en-US" altLang="en-US" sz="2000" dirty="0" err="1">
                <a:cs typeface="Times New Roman" panose="02020603050405020304" pitchFamily="18" charset="0"/>
              </a:rPr>
              <a:t>gọi</a:t>
            </a:r>
            <a:r>
              <a:rPr lang="en-US" altLang="en-US" sz="2000" dirty="0">
                <a:cs typeface="Times New Roman" panose="02020603050405020304" pitchFamily="18" charset="0"/>
              </a:rPr>
              <a:t>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lá</a:t>
            </a:r>
            <a:r>
              <a:rPr lang="en-US" altLang="en-US" sz="2000" dirty="0">
                <a:cs typeface="Times New Roman" panose="02020603050405020304" pitchFamily="18" charset="0"/>
              </a:rPr>
              <a:t>: 4, 5, 6, 8</a:t>
            </a:r>
          </a:p>
          <a:p>
            <a:r>
              <a:rPr lang="en-US" altLang="en-US" sz="2400" dirty="0" err="1">
                <a:cs typeface="Times New Roman" panose="02020603050405020304" pitchFamily="18" charset="0"/>
              </a:rPr>
              <a:t>Cây</a:t>
            </a:r>
            <a:r>
              <a:rPr lang="en-US" altLang="en-US" sz="2400" dirty="0">
                <a:cs typeface="Times New Roman" panose="02020603050405020304" pitchFamily="18" charset="0"/>
              </a:rPr>
              <a:t> con </a:t>
            </a:r>
            <a:r>
              <a:rPr lang="en-US" altLang="en-US" sz="2400" dirty="0" err="1">
                <a:cs typeface="Times New Roman" panose="02020603050405020304" pitchFamily="18" charset="0"/>
              </a:rPr>
              <a:t>có</a:t>
            </a:r>
            <a:r>
              <a:rPr lang="en-US" altLang="en-US" sz="2400" dirty="0">
                <a:cs typeface="Times New Roman" panose="02020603050405020304" pitchFamily="18" charset="0"/>
              </a:rPr>
              <a:t> </a:t>
            </a:r>
            <a:r>
              <a:rPr lang="en-US" altLang="en-US" sz="2400" dirty="0" err="1">
                <a:cs typeface="Times New Roman" panose="02020603050405020304" pitchFamily="18" charset="0"/>
              </a:rPr>
              <a:t>gốc</a:t>
            </a:r>
            <a:r>
              <a:rPr lang="en-US" altLang="en-US" sz="2400" dirty="0">
                <a:cs typeface="Times New Roman" panose="02020603050405020304" pitchFamily="18" charset="0"/>
              </a:rPr>
              <a:t> </a:t>
            </a:r>
            <a:r>
              <a:rPr lang="en-US" altLang="en-US" sz="2400" dirty="0" err="1">
                <a:cs typeface="Times New Roman" panose="02020603050405020304" pitchFamily="18" charset="0"/>
              </a:rPr>
              <a:t>là</a:t>
            </a:r>
            <a:r>
              <a:rPr lang="en-US" altLang="en-US" sz="2400" dirty="0">
                <a:cs typeface="Times New Roman" panose="02020603050405020304" pitchFamily="18" charset="0"/>
              </a:rPr>
              <a:t> </a:t>
            </a:r>
            <a:r>
              <a:rPr lang="en-US" altLang="en-US" sz="2400" dirty="0" err="1">
                <a:cs typeface="Times New Roman" panose="02020603050405020304" pitchFamily="18" charset="0"/>
              </a:rPr>
              <a:t>nút</a:t>
            </a:r>
            <a:r>
              <a:rPr lang="en-US" altLang="en-US" sz="2400" dirty="0">
                <a:cs typeface="Times New Roman" panose="02020603050405020304" pitchFamily="18" charset="0"/>
              </a:rPr>
              <a:t> con </a:t>
            </a:r>
            <a:r>
              <a:rPr lang="en-US" altLang="en-US" sz="2400" dirty="0" err="1">
                <a:cs typeface="Times New Roman" panose="02020603050405020304" pitchFamily="18" charset="0"/>
              </a:rPr>
              <a:t>trái</a:t>
            </a:r>
            <a:r>
              <a:rPr lang="en-US" altLang="en-US" sz="2400" dirty="0">
                <a:cs typeface="Times New Roman" panose="02020603050405020304" pitchFamily="18" charset="0"/>
              </a:rPr>
              <a:t>/</a:t>
            </a:r>
            <a:r>
              <a:rPr lang="en-US" altLang="en-US" sz="2400" dirty="0" err="1">
                <a:cs typeface="Times New Roman" panose="02020603050405020304" pitchFamily="18" charset="0"/>
              </a:rPr>
              <a:t>phải</a:t>
            </a:r>
            <a:r>
              <a:rPr lang="en-US" altLang="en-US" sz="2400" dirty="0">
                <a:cs typeface="Times New Roman" panose="02020603050405020304" pitchFamily="18" charset="0"/>
              </a:rPr>
              <a:t> </a:t>
            </a:r>
            <a:r>
              <a:rPr lang="en-US" altLang="en-US" sz="2400" dirty="0" err="1">
                <a:cs typeface="Times New Roman" panose="02020603050405020304" pitchFamily="18" charset="0"/>
              </a:rPr>
              <a:t>được</a:t>
            </a:r>
            <a:r>
              <a:rPr lang="en-US" altLang="en-US" sz="2400" dirty="0">
                <a:cs typeface="Times New Roman" panose="02020603050405020304" pitchFamily="18" charset="0"/>
              </a:rPr>
              <a:t> </a:t>
            </a:r>
            <a:r>
              <a:rPr lang="en-US" altLang="en-US" sz="2400" dirty="0" err="1">
                <a:cs typeface="Times New Roman" panose="02020603050405020304" pitchFamily="18" charset="0"/>
              </a:rPr>
              <a:t>gọi</a:t>
            </a:r>
            <a:r>
              <a:rPr lang="en-US" altLang="en-US" sz="2400" dirty="0">
                <a:cs typeface="Times New Roman" panose="02020603050405020304" pitchFamily="18" charset="0"/>
              </a:rPr>
              <a:t> </a:t>
            </a:r>
            <a:r>
              <a:rPr lang="en-US" altLang="en-US" sz="2400" dirty="0" err="1">
                <a:cs typeface="Times New Roman" panose="02020603050405020304" pitchFamily="18" charset="0"/>
              </a:rPr>
              <a:t>là</a:t>
            </a:r>
            <a:r>
              <a:rPr lang="en-US" altLang="en-US" sz="2400" dirty="0">
                <a:cs typeface="Times New Roman" panose="02020603050405020304" pitchFamily="18" charset="0"/>
              </a:rPr>
              <a:t> </a:t>
            </a:r>
            <a:r>
              <a:rPr lang="en-US" altLang="en-US" sz="2400" dirty="0" err="1">
                <a:cs typeface="Times New Roman" panose="02020603050405020304" pitchFamily="18" charset="0"/>
              </a:rPr>
              <a:t>cây</a:t>
            </a:r>
            <a:r>
              <a:rPr lang="en-US" altLang="en-US" sz="2400" dirty="0">
                <a:cs typeface="Times New Roman" panose="02020603050405020304" pitchFamily="18" charset="0"/>
              </a:rPr>
              <a:t> con </a:t>
            </a:r>
            <a:r>
              <a:rPr lang="en-US" altLang="en-US" sz="2400" dirty="0" err="1">
                <a:cs typeface="Times New Roman" panose="02020603050405020304" pitchFamily="18" charset="0"/>
              </a:rPr>
              <a:t>trái</a:t>
            </a:r>
            <a:r>
              <a:rPr lang="en-US" altLang="en-US" sz="2400" dirty="0">
                <a:cs typeface="Times New Roman" panose="02020603050405020304" pitchFamily="18" charset="0"/>
              </a:rPr>
              <a:t>/</a:t>
            </a:r>
            <a:r>
              <a:rPr lang="en-US" altLang="en-US" sz="2400" dirty="0" err="1">
                <a:cs typeface="Times New Roman" panose="02020603050405020304" pitchFamily="18" charset="0"/>
              </a:rPr>
              <a:t>phải</a:t>
            </a:r>
            <a:r>
              <a:rPr lang="en-US" altLang="en-US" sz="2400" dirty="0">
                <a:cs typeface="Times New Roman" panose="02020603050405020304" pitchFamily="18" charset="0"/>
              </a:rPr>
              <a:t> </a:t>
            </a:r>
          </a:p>
          <a:p>
            <a:pPr eaLnBrk="1" hangingPunct="1"/>
            <a:endParaRPr lang="en-US" altLang="en-US" sz="2400" dirty="0">
              <a:cs typeface="Times New Roman" panose="02020603050405020304" pitchFamily="18" charset="0"/>
            </a:endParaRPr>
          </a:p>
        </p:txBody>
      </p:sp>
      <p:grpSp>
        <p:nvGrpSpPr>
          <p:cNvPr id="15366" name="Group 4"/>
          <p:cNvGrpSpPr>
            <a:grpSpLocks/>
          </p:cNvGrpSpPr>
          <p:nvPr/>
        </p:nvGrpSpPr>
        <p:grpSpPr bwMode="auto">
          <a:xfrm>
            <a:off x="5257800" y="2819400"/>
            <a:ext cx="3581400" cy="3505200"/>
            <a:chOff x="3168" y="1776"/>
            <a:chExt cx="2256" cy="2208"/>
          </a:xfrm>
        </p:grpSpPr>
        <p:sp>
          <p:nvSpPr>
            <p:cNvPr id="15371" name="Oval 5"/>
            <p:cNvSpPr>
              <a:spLocks noChangeArrowheads="1"/>
            </p:cNvSpPr>
            <p:nvPr/>
          </p:nvSpPr>
          <p:spPr bwMode="auto">
            <a:xfrm>
              <a:off x="4209" y="1776"/>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1</a:t>
              </a:r>
            </a:p>
          </p:txBody>
        </p:sp>
        <p:sp>
          <p:nvSpPr>
            <p:cNvPr id="15372" name="Oval 6"/>
            <p:cNvSpPr>
              <a:spLocks noChangeArrowheads="1"/>
            </p:cNvSpPr>
            <p:nvPr/>
          </p:nvSpPr>
          <p:spPr bwMode="auto">
            <a:xfrm>
              <a:off x="4787" y="2496"/>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3</a:t>
              </a:r>
            </a:p>
          </p:txBody>
        </p:sp>
        <p:sp>
          <p:nvSpPr>
            <p:cNvPr id="15373" name="Oval 7"/>
            <p:cNvSpPr>
              <a:spLocks noChangeArrowheads="1"/>
            </p:cNvSpPr>
            <p:nvPr/>
          </p:nvSpPr>
          <p:spPr bwMode="auto">
            <a:xfrm>
              <a:off x="3669" y="2448"/>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2</a:t>
              </a:r>
            </a:p>
          </p:txBody>
        </p:sp>
        <p:sp>
          <p:nvSpPr>
            <p:cNvPr id="15374" name="Oval 8"/>
            <p:cNvSpPr>
              <a:spLocks noChangeArrowheads="1"/>
            </p:cNvSpPr>
            <p:nvPr/>
          </p:nvSpPr>
          <p:spPr bwMode="auto">
            <a:xfrm>
              <a:off x="3168" y="316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4</a:t>
              </a:r>
            </a:p>
          </p:txBody>
        </p:sp>
        <p:sp>
          <p:nvSpPr>
            <p:cNvPr id="15375" name="Oval 9"/>
            <p:cNvSpPr>
              <a:spLocks noChangeArrowheads="1"/>
            </p:cNvSpPr>
            <p:nvPr/>
          </p:nvSpPr>
          <p:spPr bwMode="auto">
            <a:xfrm>
              <a:off x="4071" y="3168"/>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5</a:t>
              </a:r>
            </a:p>
          </p:txBody>
        </p:sp>
        <p:sp>
          <p:nvSpPr>
            <p:cNvPr id="15376" name="Oval 10"/>
            <p:cNvSpPr>
              <a:spLocks noChangeArrowheads="1"/>
            </p:cNvSpPr>
            <p:nvPr/>
          </p:nvSpPr>
          <p:spPr bwMode="auto">
            <a:xfrm>
              <a:off x="4512" y="316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6</a:t>
              </a:r>
            </a:p>
          </p:txBody>
        </p:sp>
        <p:sp>
          <p:nvSpPr>
            <p:cNvPr id="15377" name="Oval 11"/>
            <p:cNvSpPr>
              <a:spLocks noChangeArrowheads="1"/>
            </p:cNvSpPr>
            <p:nvPr/>
          </p:nvSpPr>
          <p:spPr bwMode="auto">
            <a:xfrm>
              <a:off x="5193" y="3120"/>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7</a:t>
              </a:r>
            </a:p>
          </p:txBody>
        </p:sp>
        <p:sp>
          <p:nvSpPr>
            <p:cNvPr id="15378" name="Oval 12"/>
            <p:cNvSpPr>
              <a:spLocks noChangeArrowheads="1"/>
            </p:cNvSpPr>
            <p:nvPr/>
          </p:nvSpPr>
          <p:spPr bwMode="auto">
            <a:xfrm>
              <a:off x="4826" y="3744"/>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8</a:t>
              </a:r>
            </a:p>
          </p:txBody>
        </p:sp>
        <p:sp>
          <p:nvSpPr>
            <p:cNvPr id="15379" name="Line 13"/>
            <p:cNvSpPr>
              <a:spLocks noChangeShapeType="1"/>
            </p:cNvSpPr>
            <p:nvPr/>
          </p:nvSpPr>
          <p:spPr bwMode="auto">
            <a:xfrm flipH="1">
              <a:off x="3862" y="1968"/>
              <a:ext cx="347"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80" name="Line 14"/>
            <p:cNvSpPr>
              <a:spLocks noChangeShapeType="1"/>
            </p:cNvSpPr>
            <p:nvPr/>
          </p:nvSpPr>
          <p:spPr bwMode="auto">
            <a:xfrm flipH="1">
              <a:off x="3322" y="2688"/>
              <a:ext cx="386"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81" name="Line 15"/>
            <p:cNvSpPr>
              <a:spLocks noChangeShapeType="1"/>
            </p:cNvSpPr>
            <p:nvPr/>
          </p:nvSpPr>
          <p:spPr bwMode="auto">
            <a:xfrm flipH="1">
              <a:off x="4608" y="2736"/>
              <a:ext cx="24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82" name="Line 16"/>
            <p:cNvSpPr>
              <a:spLocks noChangeShapeType="1"/>
            </p:cNvSpPr>
            <p:nvPr/>
          </p:nvSpPr>
          <p:spPr bwMode="auto">
            <a:xfrm>
              <a:off x="3840" y="2688"/>
              <a:ext cx="30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83" name="Line 17"/>
            <p:cNvSpPr>
              <a:spLocks noChangeShapeType="1"/>
            </p:cNvSpPr>
            <p:nvPr/>
          </p:nvSpPr>
          <p:spPr bwMode="auto">
            <a:xfrm>
              <a:off x="4402" y="1968"/>
              <a:ext cx="446"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84" name="Line 18"/>
            <p:cNvSpPr>
              <a:spLocks noChangeShapeType="1"/>
            </p:cNvSpPr>
            <p:nvPr/>
          </p:nvSpPr>
          <p:spPr bwMode="auto">
            <a:xfrm>
              <a:off x="4992" y="2688"/>
              <a:ext cx="288"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85" name="Line 19"/>
            <p:cNvSpPr>
              <a:spLocks noChangeShapeType="1"/>
            </p:cNvSpPr>
            <p:nvPr/>
          </p:nvSpPr>
          <p:spPr bwMode="auto">
            <a:xfrm flipH="1">
              <a:off x="4944" y="3360"/>
              <a:ext cx="288"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5367" name="Oval 20"/>
          <p:cNvSpPr>
            <a:spLocks noChangeArrowheads="1"/>
          </p:cNvSpPr>
          <p:nvPr/>
        </p:nvSpPr>
        <p:spPr bwMode="auto">
          <a:xfrm>
            <a:off x="5105400" y="3810000"/>
            <a:ext cx="2133600" cy="2133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5368" name="Oval 21"/>
          <p:cNvSpPr>
            <a:spLocks noChangeArrowheads="1"/>
          </p:cNvSpPr>
          <p:nvPr/>
        </p:nvSpPr>
        <p:spPr bwMode="auto">
          <a:xfrm>
            <a:off x="7315200" y="3733800"/>
            <a:ext cx="1600200" cy="2667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15369" name="Text Box 23"/>
          <p:cNvSpPr txBox="1">
            <a:spLocks noChangeArrowheads="1"/>
          </p:cNvSpPr>
          <p:nvPr/>
        </p:nvSpPr>
        <p:spPr bwMode="auto">
          <a:xfrm>
            <a:off x="4711700" y="3565525"/>
            <a:ext cx="7747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a:t>Trái</a:t>
            </a:r>
            <a:br>
              <a:rPr lang="en-US" altLang="en-US" sz="2000"/>
            </a:br>
            <a:r>
              <a:rPr lang="en-US" altLang="en-US" sz="2000"/>
              <a:t>(Left)</a:t>
            </a:r>
          </a:p>
        </p:txBody>
      </p:sp>
      <p:sp>
        <p:nvSpPr>
          <p:cNvPr id="15370" name="Text Box 24"/>
          <p:cNvSpPr txBox="1">
            <a:spLocks noChangeArrowheads="1"/>
          </p:cNvSpPr>
          <p:nvPr/>
        </p:nvSpPr>
        <p:spPr bwMode="auto">
          <a:xfrm>
            <a:off x="7920038" y="3032125"/>
            <a:ext cx="91916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a:t>Phải</a:t>
            </a:r>
            <a:br>
              <a:rPr lang="en-US" altLang="en-US" sz="2000"/>
            </a:br>
            <a:r>
              <a:rPr lang="en-US" altLang="en-US" sz="2000"/>
              <a:t>(Right)</a:t>
            </a:r>
          </a:p>
        </p:txBody>
      </p:sp>
    </p:spTree>
    <p:extLst>
      <p:ext uri="{BB962C8B-B14F-4D97-AF65-F5344CB8AC3E}">
        <p14:creationId xmlns:p14="http://schemas.microsoft.com/office/powerpoint/2010/main" val="1562902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p:nvPr>
        </p:nvSpPr>
        <p:spPr/>
        <p:txBody>
          <a:bodyPr/>
          <a:lstStyle/>
          <a:p>
            <a:pPr eaLnBrk="1" hangingPunct="1"/>
            <a:r>
              <a:rPr lang="en-US" dirty="0" err="1"/>
              <a:t>Một</a:t>
            </a:r>
            <a:r>
              <a:rPr lang="en-US" dirty="0"/>
              <a:t> </a:t>
            </a:r>
            <a:r>
              <a:rPr lang="en-US" dirty="0" err="1"/>
              <a:t>số</a:t>
            </a:r>
            <a:r>
              <a:rPr lang="en-US" dirty="0"/>
              <a:t> </a:t>
            </a:r>
            <a:r>
              <a:rPr lang="en-US" dirty="0" err="1"/>
              <a:t>loại</a:t>
            </a:r>
            <a:r>
              <a:rPr lang="en-US" dirty="0"/>
              <a:t> </a:t>
            </a:r>
            <a:r>
              <a:rPr lang="en-US" dirty="0" err="1"/>
              <a:t>cây</a:t>
            </a:r>
            <a:r>
              <a:rPr lang="en-US" dirty="0"/>
              <a:t> </a:t>
            </a:r>
            <a:r>
              <a:rPr lang="en-US" dirty="0" err="1"/>
              <a:t>nhị</a:t>
            </a:r>
            <a:r>
              <a:rPr lang="en-US" dirty="0"/>
              <a:t> </a:t>
            </a:r>
            <a:r>
              <a:rPr lang="en-US" dirty="0" err="1"/>
              <a:t>phân</a:t>
            </a:r>
            <a:r>
              <a:rPr lang="en-US" dirty="0"/>
              <a:t> </a:t>
            </a:r>
            <a:r>
              <a:rPr lang="en-US" dirty="0" err="1"/>
              <a:t>đặc</a:t>
            </a:r>
            <a:r>
              <a:rPr lang="en-US" dirty="0"/>
              <a:t> </a:t>
            </a:r>
            <a:r>
              <a:rPr lang="en-US" dirty="0" err="1"/>
              <a:t>biệt</a:t>
            </a:r>
            <a:endParaRPr lang="en-US" altLang="en-US" dirty="0"/>
          </a:p>
        </p:txBody>
      </p:sp>
      <p:sp>
        <p:nvSpPr>
          <p:cNvPr id="17413" name="Rectangle 3"/>
          <p:cNvSpPr>
            <a:spLocks noGrp="1" noChangeArrowheads="1"/>
          </p:cNvSpPr>
          <p:nvPr>
            <p:ph type="body" sz="quarter" idx="13"/>
          </p:nvPr>
        </p:nvSpPr>
        <p:spPr>
          <a:noFill/>
        </p:spPr>
        <p:txBody>
          <a:bodyPr>
            <a:normAutofit/>
          </a:bodyPr>
          <a:lstStyle/>
          <a:p>
            <a:pPr eaLnBrk="1" hangingPunct="1"/>
            <a:r>
              <a:rPr lang="en-US" altLang="en-US" sz="2400" dirty="0" err="1">
                <a:cs typeface="Times New Roman" panose="02020603050405020304" pitchFamily="18" charset="0"/>
              </a:rPr>
              <a:t>Cây</a:t>
            </a:r>
            <a:r>
              <a:rPr lang="en-US" altLang="en-US" sz="2400" dirty="0">
                <a:cs typeface="Times New Roman" panose="02020603050405020304" pitchFamily="18" charset="0"/>
              </a:rPr>
              <a:t> </a:t>
            </a:r>
            <a:r>
              <a:rPr lang="en-US" altLang="en-US" sz="2400" dirty="0" err="1">
                <a:cs typeface="Times New Roman" panose="02020603050405020304" pitchFamily="18" charset="0"/>
              </a:rPr>
              <a:t>suy</a:t>
            </a:r>
            <a:r>
              <a:rPr lang="en-US" altLang="en-US" sz="2400" dirty="0">
                <a:cs typeface="Times New Roman" panose="02020603050405020304" pitchFamily="18" charset="0"/>
              </a:rPr>
              <a:t> </a:t>
            </a:r>
            <a:r>
              <a:rPr lang="en-US" altLang="en-US" sz="2400" dirty="0" err="1">
                <a:cs typeface="Times New Roman" panose="02020603050405020304" pitchFamily="18" charset="0"/>
              </a:rPr>
              <a:t>biến</a:t>
            </a:r>
            <a:r>
              <a:rPr lang="en-US" altLang="en-US" sz="2400" dirty="0">
                <a:cs typeface="Times New Roman" panose="02020603050405020304" pitchFamily="18" charset="0"/>
              </a:rPr>
              <a:t> (degenerate binary tree) </a:t>
            </a:r>
          </a:p>
          <a:p>
            <a:pPr lvl="1" eaLnBrk="1" hangingPunct="1"/>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nhị</a:t>
            </a:r>
            <a:r>
              <a:rPr lang="en-US" altLang="en-US" sz="2000" dirty="0">
                <a:cs typeface="Times New Roman" panose="02020603050405020304" pitchFamily="18" charset="0"/>
              </a:rPr>
              <a:t> </a:t>
            </a:r>
            <a:r>
              <a:rPr lang="en-US" altLang="en-US" sz="2000" dirty="0" err="1">
                <a:cs typeface="Times New Roman" panose="02020603050405020304" pitchFamily="18" charset="0"/>
              </a:rPr>
              <a:t>phân</a:t>
            </a:r>
            <a:r>
              <a:rPr lang="en-US" altLang="en-US" sz="2000" dirty="0">
                <a:cs typeface="Times New Roman" panose="02020603050405020304" pitchFamily="18" charset="0"/>
              </a:rPr>
              <a:t> </a:t>
            </a:r>
            <a:r>
              <a:rPr lang="en-US" altLang="en-US" sz="2000" dirty="0" err="1">
                <a:cs typeface="Times New Roman" panose="02020603050405020304" pitchFamily="18" charset="0"/>
              </a:rPr>
              <a:t>mà</a:t>
            </a:r>
            <a:r>
              <a:rPr lang="en-US" altLang="en-US" sz="2000" dirty="0">
                <a:cs typeface="Times New Roman" panose="02020603050405020304" pitchFamily="18" charset="0"/>
              </a:rPr>
              <a:t> </a:t>
            </a:r>
            <a:r>
              <a:rPr lang="en-US" altLang="en-US" sz="2000" dirty="0" err="1">
                <a:cs typeface="Times New Roman" panose="02020603050405020304" pitchFamily="18" charset="0"/>
              </a:rPr>
              <a:t>mỗi</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chỉ</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tối</a:t>
            </a:r>
            <a:r>
              <a:rPr lang="en-US" altLang="en-US" sz="2000" dirty="0">
                <a:cs typeface="Times New Roman" panose="02020603050405020304" pitchFamily="18" charset="0"/>
              </a:rPr>
              <a:t> </a:t>
            </a:r>
            <a:r>
              <a:rPr lang="en-US" altLang="en-US" sz="2000" dirty="0" err="1">
                <a:cs typeface="Times New Roman" panose="02020603050405020304" pitchFamily="18" charset="0"/>
              </a:rPr>
              <a:t>đa</a:t>
            </a:r>
            <a:r>
              <a:rPr lang="en-US" altLang="en-US" sz="2000" dirty="0">
                <a:cs typeface="Times New Roman" panose="02020603050405020304" pitchFamily="18" charset="0"/>
              </a:rPr>
              <a:t> </a:t>
            </a:r>
            <a:r>
              <a:rPr lang="en-US" altLang="en-US" sz="2000" dirty="0" err="1">
                <a:cs typeface="Times New Roman" panose="02020603050405020304" pitchFamily="18" charset="0"/>
              </a:rPr>
              <a:t>một</a:t>
            </a:r>
            <a:r>
              <a:rPr lang="en-US" altLang="en-US" sz="2000" dirty="0">
                <a:cs typeface="Times New Roman" panose="02020603050405020304" pitchFamily="18" charset="0"/>
              </a:rPr>
              <a:t> con</a:t>
            </a:r>
          </a:p>
          <a:p>
            <a:pPr lvl="2"/>
            <a:r>
              <a:rPr lang="en-US" altLang="en-US" sz="2000" dirty="0">
                <a:cs typeface="Times New Roman" panose="02020603050405020304" pitchFamily="18" charset="0"/>
                <a:sym typeface="Wingdings" panose="05000000000000000000" pitchFamily="2" charset="2"/>
              </a:rPr>
              <a:t> </a:t>
            </a:r>
            <a:r>
              <a:rPr lang="en-US" altLang="en-US" sz="2000" dirty="0" err="1">
                <a:cs typeface="Times New Roman" panose="02020603050405020304" pitchFamily="18" charset="0"/>
              </a:rPr>
              <a:t>suy</a:t>
            </a:r>
            <a:r>
              <a:rPr lang="en-US" altLang="en-US" sz="2000" dirty="0">
                <a:cs typeface="Times New Roman" panose="02020603050405020304" pitchFamily="18" charset="0"/>
              </a:rPr>
              <a:t> </a:t>
            </a:r>
            <a:r>
              <a:rPr lang="en-US" altLang="en-US" sz="2000" dirty="0" err="1">
                <a:cs typeface="Times New Roman" panose="02020603050405020304" pitchFamily="18" charset="0"/>
              </a:rPr>
              <a:t>biến</a:t>
            </a:r>
            <a:r>
              <a:rPr lang="en-US" altLang="en-US" sz="2000" dirty="0">
                <a:cs typeface="Times New Roman" panose="02020603050405020304" pitchFamily="18" charset="0"/>
              </a:rPr>
              <a:t> </a:t>
            </a:r>
            <a:r>
              <a:rPr lang="en-US" altLang="en-US" sz="2000" dirty="0" err="1">
                <a:cs typeface="Times New Roman" panose="02020603050405020304" pitchFamily="18" charset="0"/>
              </a:rPr>
              <a:t>về</a:t>
            </a:r>
            <a:r>
              <a:rPr lang="en-US" altLang="en-US" sz="2000" dirty="0">
                <a:cs typeface="Times New Roman" panose="02020603050405020304" pitchFamily="18" charset="0"/>
              </a:rPr>
              <a:t> </a:t>
            </a:r>
            <a:r>
              <a:rPr lang="en-US" altLang="en-US" sz="2000" dirty="0" err="1">
                <a:cs typeface="Times New Roman" panose="02020603050405020304" pitchFamily="18" charset="0"/>
              </a:rPr>
              <a:t>cấu</a:t>
            </a:r>
            <a:r>
              <a:rPr lang="en-US" altLang="en-US" sz="2000" dirty="0">
                <a:cs typeface="Times New Roman" panose="02020603050405020304" pitchFamily="18" charset="0"/>
              </a:rPr>
              <a:t> </a:t>
            </a:r>
            <a:r>
              <a:rPr lang="en-US" altLang="en-US" sz="2000" dirty="0" err="1">
                <a:cs typeface="Times New Roman" panose="02020603050405020304" pitchFamily="18" charset="0"/>
              </a:rPr>
              <a:t>trúc</a:t>
            </a:r>
            <a:r>
              <a:rPr lang="en-US" altLang="en-US" sz="2000" dirty="0">
                <a:cs typeface="Times New Roman" panose="02020603050405020304" pitchFamily="18" charset="0"/>
              </a:rPr>
              <a:t> </a:t>
            </a:r>
            <a:r>
              <a:rPr lang="en-US" altLang="en-US" sz="2000" dirty="0" err="1">
                <a:cs typeface="Times New Roman" panose="02020603050405020304" pitchFamily="18" charset="0"/>
              </a:rPr>
              <a:t>danh</a:t>
            </a:r>
            <a:r>
              <a:rPr lang="en-US" altLang="en-US" sz="2000" dirty="0">
                <a:cs typeface="Times New Roman" panose="02020603050405020304" pitchFamily="18" charset="0"/>
              </a:rPr>
              <a:t> </a:t>
            </a:r>
            <a:r>
              <a:rPr lang="en-US" altLang="en-US" sz="2000" dirty="0" err="1">
                <a:cs typeface="Times New Roman" panose="02020603050405020304" pitchFamily="18" charset="0"/>
              </a:rPr>
              <a:t>sách</a:t>
            </a:r>
            <a:r>
              <a:rPr lang="en-US" altLang="en-US" sz="2000" dirty="0">
                <a:cs typeface="Times New Roman" panose="02020603050405020304" pitchFamily="18" charset="0"/>
              </a:rPr>
              <a:t>.</a:t>
            </a:r>
          </a:p>
          <a:p>
            <a:pPr lvl="2"/>
            <a:r>
              <a:rPr lang="en-US" altLang="en-US" sz="2000" dirty="0" err="1">
                <a:cs typeface="Times New Roman" panose="02020603050405020304" pitchFamily="18" charset="0"/>
              </a:rPr>
              <a:t>danh</a:t>
            </a:r>
            <a:r>
              <a:rPr lang="en-US" altLang="en-US" sz="2000" dirty="0">
                <a:cs typeface="Times New Roman" panose="02020603050405020304" pitchFamily="18" charset="0"/>
              </a:rPr>
              <a:t> </a:t>
            </a:r>
            <a:r>
              <a:rPr lang="en-US" altLang="en-US" sz="2000" dirty="0" err="1">
                <a:cs typeface="Times New Roman" panose="02020603050405020304" pitchFamily="18" charset="0"/>
              </a:rPr>
              <a:t>sách</a:t>
            </a:r>
            <a:r>
              <a:rPr lang="en-US" altLang="en-US" sz="2000" dirty="0">
                <a:cs typeface="Times New Roman" panose="02020603050405020304" pitchFamily="18" charset="0"/>
              </a:rPr>
              <a:t>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dạng</a:t>
            </a:r>
            <a:r>
              <a:rPr lang="en-US" altLang="en-US" sz="2000" dirty="0">
                <a:cs typeface="Times New Roman" panose="02020603050405020304" pitchFamily="18" charset="0"/>
              </a:rPr>
              <a:t> </a:t>
            </a:r>
            <a:r>
              <a:rPr lang="en-US" altLang="en-US" sz="2000" dirty="0" err="1">
                <a:cs typeface="Times New Roman" panose="02020603050405020304" pitchFamily="18" charset="0"/>
              </a:rPr>
              <a:t>suy</a:t>
            </a:r>
            <a:r>
              <a:rPr lang="en-US" altLang="en-US" sz="2000" dirty="0">
                <a:cs typeface="Times New Roman" panose="02020603050405020304" pitchFamily="18" charset="0"/>
              </a:rPr>
              <a:t> </a:t>
            </a:r>
            <a:r>
              <a:rPr lang="en-US" altLang="en-US" sz="2000" dirty="0" err="1">
                <a:cs typeface="Times New Roman" panose="02020603050405020304" pitchFamily="18" charset="0"/>
              </a:rPr>
              <a:t>biến</a:t>
            </a:r>
            <a:r>
              <a:rPr lang="en-US" altLang="en-US" sz="2000" dirty="0">
                <a:cs typeface="Times New Roman" panose="02020603050405020304" pitchFamily="18" charset="0"/>
              </a:rPr>
              <a:t>, </a:t>
            </a:r>
            <a:r>
              <a:rPr lang="en-US" altLang="en-US" sz="2000" dirty="0" err="1">
                <a:cs typeface="Times New Roman" panose="02020603050405020304" pitchFamily="18" charset="0"/>
              </a:rPr>
              <a:t>trường</a:t>
            </a:r>
            <a:r>
              <a:rPr lang="en-US" altLang="en-US" sz="2000" dirty="0">
                <a:cs typeface="Times New Roman" panose="02020603050405020304" pitchFamily="18" charset="0"/>
              </a:rPr>
              <a:t> </a:t>
            </a:r>
            <a:r>
              <a:rPr lang="en-US" altLang="en-US" sz="2000" dirty="0" err="1">
                <a:cs typeface="Times New Roman" panose="02020603050405020304" pitchFamily="18" charset="0"/>
              </a:rPr>
              <a:t>hợp</a:t>
            </a:r>
            <a:r>
              <a:rPr lang="en-US" altLang="en-US" sz="2000" dirty="0">
                <a:cs typeface="Times New Roman" panose="02020603050405020304" pitchFamily="18" charset="0"/>
              </a:rPr>
              <a:t> </a:t>
            </a:r>
            <a:r>
              <a:rPr lang="en-US" altLang="en-US" sz="2000" dirty="0" err="1">
                <a:cs typeface="Times New Roman" panose="02020603050405020304" pitchFamily="18" charset="0"/>
              </a:rPr>
              <a:t>đặc</a:t>
            </a:r>
            <a:r>
              <a:rPr lang="en-US" altLang="en-US" sz="2000" dirty="0">
                <a:cs typeface="Times New Roman" panose="02020603050405020304" pitchFamily="18" charset="0"/>
              </a:rPr>
              <a:t> </a:t>
            </a:r>
            <a:r>
              <a:rPr lang="en-US" altLang="en-US" sz="2000" dirty="0" err="1">
                <a:cs typeface="Times New Roman" panose="02020603050405020304" pitchFamily="18" charset="0"/>
              </a:rPr>
              <a:t>biệt</a:t>
            </a:r>
            <a:r>
              <a:rPr lang="en-US" altLang="en-US" sz="2000" dirty="0">
                <a:cs typeface="Times New Roman" panose="02020603050405020304" pitchFamily="18" charset="0"/>
              </a:rPr>
              <a:t> </a:t>
            </a:r>
            <a:r>
              <a:rPr lang="en-US" altLang="en-US" sz="2000" dirty="0" err="1">
                <a:cs typeface="Times New Roman" panose="02020603050405020304" pitchFamily="18" charset="0"/>
              </a:rPr>
              <a:t>của</a:t>
            </a:r>
            <a:r>
              <a:rPr lang="en-US" altLang="en-US" sz="2000" dirty="0">
                <a:cs typeface="Times New Roman" panose="02020603050405020304" pitchFamily="18" charset="0"/>
              </a:rPr>
              <a:t> </a:t>
            </a:r>
            <a:r>
              <a:rPr lang="en-US" altLang="en-US" sz="2000" dirty="0" err="1">
                <a:cs typeface="Times New Roman" panose="02020603050405020304" pitchFamily="18" charset="0"/>
              </a:rPr>
              <a:t>cấu</a:t>
            </a:r>
            <a:r>
              <a:rPr lang="en-US" altLang="en-US" sz="2000" dirty="0">
                <a:cs typeface="Times New Roman" panose="02020603050405020304" pitchFamily="18" charset="0"/>
              </a:rPr>
              <a:t> </a:t>
            </a:r>
            <a:r>
              <a:rPr lang="en-US" altLang="en-US" sz="2000" dirty="0" err="1">
                <a:cs typeface="Times New Roman" panose="02020603050405020304" pitchFamily="18" charset="0"/>
              </a:rPr>
              <a:t>trúc</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và</a:t>
            </a:r>
            <a:r>
              <a:rPr lang="en-US" altLang="en-US" sz="2000" dirty="0">
                <a:cs typeface="Times New Roman" panose="02020603050405020304" pitchFamily="18" charset="0"/>
              </a:rPr>
              <a:t> </a:t>
            </a:r>
            <a:r>
              <a:rPr lang="en-US" altLang="en-US" sz="2000" dirty="0" err="1">
                <a:cs typeface="Times New Roman" panose="02020603050405020304" pitchFamily="18" charset="0"/>
              </a:rPr>
              <a:t>nó</a:t>
            </a:r>
            <a:r>
              <a:rPr lang="en-US" altLang="en-US" sz="2000" dirty="0">
                <a:cs typeface="Times New Roman" panose="02020603050405020304" pitchFamily="18" charset="0"/>
              </a:rPr>
              <a:t> </a:t>
            </a:r>
            <a:r>
              <a:rPr lang="en-US" altLang="en-US" sz="2000" dirty="0" err="1">
                <a:cs typeface="Times New Roman" panose="02020603050405020304" pitchFamily="18" charset="0"/>
              </a:rPr>
              <a:t>vẫn</a:t>
            </a:r>
            <a:r>
              <a:rPr lang="en-US" altLang="en-US" sz="2000" dirty="0">
                <a:cs typeface="Times New Roman" panose="02020603050405020304" pitchFamily="18" charset="0"/>
              </a:rPr>
              <a:t> </a:t>
            </a:r>
            <a:r>
              <a:rPr lang="en-US" altLang="en-US" sz="2000" dirty="0" err="1">
                <a:cs typeface="Times New Roman" panose="02020603050405020304" pitchFamily="18" charset="0"/>
              </a:rPr>
              <a:t>giữa</a:t>
            </a:r>
            <a:r>
              <a:rPr lang="en-US" altLang="en-US" sz="2000" dirty="0">
                <a:cs typeface="Times New Roman" panose="02020603050405020304" pitchFamily="18" charset="0"/>
              </a:rPr>
              <a:t> </a:t>
            </a:r>
            <a:r>
              <a:rPr lang="en-US" altLang="en-US" sz="2000" dirty="0" err="1">
                <a:cs typeface="Times New Roman" panose="02020603050405020304" pitchFamily="18" charset="0"/>
              </a:rPr>
              <a:t>được</a:t>
            </a:r>
            <a:r>
              <a:rPr lang="en-US" altLang="en-US" sz="2000" dirty="0">
                <a:cs typeface="Times New Roman" panose="02020603050405020304" pitchFamily="18" charset="0"/>
              </a:rPr>
              <a:t> </a:t>
            </a:r>
            <a:r>
              <a:rPr lang="en-US" altLang="en-US" sz="2000" dirty="0" err="1">
                <a:cs typeface="Times New Roman" panose="02020603050405020304" pitchFamily="18" charset="0"/>
              </a:rPr>
              <a:t>tính</a:t>
            </a:r>
            <a:r>
              <a:rPr lang="en-US" altLang="en-US" sz="2000" dirty="0">
                <a:cs typeface="Times New Roman" panose="02020603050405020304" pitchFamily="18" charset="0"/>
              </a:rPr>
              <a:t> </a:t>
            </a:r>
            <a:r>
              <a:rPr lang="en-US" altLang="en-US" sz="2000" dirty="0" err="1">
                <a:cs typeface="Times New Roman" panose="02020603050405020304" pitchFamily="18" charset="0"/>
              </a:rPr>
              <a:t>chất</a:t>
            </a:r>
            <a:r>
              <a:rPr lang="en-US" altLang="en-US" sz="2000" dirty="0">
                <a:cs typeface="Times New Roman" panose="02020603050405020304" pitchFamily="18" charset="0"/>
              </a:rPr>
              <a:t> </a:t>
            </a:r>
            <a:r>
              <a:rPr lang="en-US" altLang="en-US" sz="2000" dirty="0" err="1">
                <a:cs typeface="Times New Roman" panose="02020603050405020304" pitchFamily="18" charset="0"/>
              </a:rPr>
              <a:t>đệ</a:t>
            </a:r>
            <a:r>
              <a:rPr lang="en-US" altLang="en-US" sz="2000" dirty="0">
                <a:cs typeface="Times New Roman" panose="02020603050405020304" pitchFamily="18" charset="0"/>
              </a:rPr>
              <a:t> </a:t>
            </a:r>
            <a:r>
              <a:rPr lang="en-US" altLang="en-US" sz="2000" dirty="0" err="1">
                <a:cs typeface="Times New Roman" panose="02020603050405020304" pitchFamily="18" charset="0"/>
              </a:rPr>
              <a:t>quy</a:t>
            </a:r>
            <a:r>
              <a:rPr lang="en-US" altLang="en-US" sz="2000" dirty="0">
                <a:cs typeface="Times New Roman" panose="02020603050405020304" pitchFamily="18" charset="0"/>
              </a:rPr>
              <a:t> </a:t>
            </a:r>
            <a:r>
              <a:rPr lang="en-US" altLang="en-US" sz="2000" dirty="0" err="1">
                <a:cs typeface="Times New Roman" panose="02020603050405020304" pitchFamily="18" charset="0"/>
              </a:rPr>
              <a:t>của</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p>
        </p:txBody>
      </p:sp>
      <p:grpSp>
        <p:nvGrpSpPr>
          <p:cNvPr id="17414" name="Group 35"/>
          <p:cNvGrpSpPr>
            <a:grpSpLocks/>
          </p:cNvGrpSpPr>
          <p:nvPr/>
        </p:nvGrpSpPr>
        <p:grpSpPr bwMode="auto">
          <a:xfrm>
            <a:off x="1371600" y="3048000"/>
            <a:ext cx="2019300" cy="2590800"/>
            <a:chOff x="456" y="1968"/>
            <a:chExt cx="1272" cy="1632"/>
          </a:xfrm>
        </p:grpSpPr>
        <p:sp>
          <p:nvSpPr>
            <p:cNvPr id="17429" name="Oval 5"/>
            <p:cNvSpPr>
              <a:spLocks noChangeArrowheads="1"/>
            </p:cNvSpPr>
            <p:nvPr/>
          </p:nvSpPr>
          <p:spPr bwMode="auto">
            <a:xfrm>
              <a:off x="1497" y="196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1</a:t>
              </a:r>
            </a:p>
          </p:txBody>
        </p:sp>
        <p:sp>
          <p:nvSpPr>
            <p:cNvPr id="17430" name="Oval 7"/>
            <p:cNvSpPr>
              <a:spLocks noChangeArrowheads="1"/>
            </p:cNvSpPr>
            <p:nvPr/>
          </p:nvSpPr>
          <p:spPr bwMode="auto">
            <a:xfrm>
              <a:off x="957" y="2640"/>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2</a:t>
              </a:r>
            </a:p>
          </p:txBody>
        </p:sp>
        <p:sp>
          <p:nvSpPr>
            <p:cNvPr id="17431" name="Oval 8"/>
            <p:cNvSpPr>
              <a:spLocks noChangeArrowheads="1"/>
            </p:cNvSpPr>
            <p:nvPr/>
          </p:nvSpPr>
          <p:spPr bwMode="auto">
            <a:xfrm>
              <a:off x="456" y="3360"/>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3</a:t>
              </a:r>
            </a:p>
          </p:txBody>
        </p:sp>
        <p:sp>
          <p:nvSpPr>
            <p:cNvPr id="17432" name="Line 13"/>
            <p:cNvSpPr>
              <a:spLocks noChangeShapeType="1"/>
            </p:cNvSpPr>
            <p:nvPr/>
          </p:nvSpPr>
          <p:spPr bwMode="auto">
            <a:xfrm flipH="1">
              <a:off x="1150" y="2208"/>
              <a:ext cx="386"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3" name="Line 14"/>
            <p:cNvSpPr>
              <a:spLocks noChangeShapeType="1"/>
            </p:cNvSpPr>
            <p:nvPr/>
          </p:nvSpPr>
          <p:spPr bwMode="auto">
            <a:xfrm flipH="1">
              <a:off x="610" y="2880"/>
              <a:ext cx="386"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7415" name="Group 50"/>
          <p:cNvGrpSpPr>
            <a:grpSpLocks/>
          </p:cNvGrpSpPr>
          <p:nvPr/>
        </p:nvGrpSpPr>
        <p:grpSpPr bwMode="auto">
          <a:xfrm>
            <a:off x="5981700" y="3048000"/>
            <a:ext cx="1890713" cy="3276600"/>
            <a:chOff x="4521" y="1968"/>
            <a:chExt cx="1191" cy="2064"/>
          </a:xfrm>
        </p:grpSpPr>
        <p:sp>
          <p:nvSpPr>
            <p:cNvPr id="17422" name="Oval 20"/>
            <p:cNvSpPr>
              <a:spLocks noChangeArrowheads="1"/>
            </p:cNvSpPr>
            <p:nvPr/>
          </p:nvSpPr>
          <p:spPr bwMode="auto">
            <a:xfrm>
              <a:off x="4521" y="196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1</a:t>
              </a:r>
            </a:p>
          </p:txBody>
        </p:sp>
        <p:sp>
          <p:nvSpPr>
            <p:cNvPr id="17423" name="Oval 21"/>
            <p:cNvSpPr>
              <a:spLocks noChangeArrowheads="1"/>
            </p:cNvSpPr>
            <p:nvPr/>
          </p:nvSpPr>
          <p:spPr bwMode="auto">
            <a:xfrm>
              <a:off x="5040" y="2592"/>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2</a:t>
              </a:r>
            </a:p>
          </p:txBody>
        </p:sp>
        <p:sp>
          <p:nvSpPr>
            <p:cNvPr id="17424" name="Oval 26"/>
            <p:cNvSpPr>
              <a:spLocks noChangeArrowheads="1"/>
            </p:cNvSpPr>
            <p:nvPr/>
          </p:nvSpPr>
          <p:spPr bwMode="auto">
            <a:xfrm>
              <a:off x="5481" y="3216"/>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3</a:t>
              </a:r>
            </a:p>
          </p:txBody>
        </p:sp>
        <p:sp>
          <p:nvSpPr>
            <p:cNvPr id="17425" name="Oval 27"/>
            <p:cNvSpPr>
              <a:spLocks noChangeArrowheads="1"/>
            </p:cNvSpPr>
            <p:nvPr/>
          </p:nvSpPr>
          <p:spPr bwMode="auto">
            <a:xfrm>
              <a:off x="5001" y="3792"/>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4</a:t>
              </a:r>
            </a:p>
          </p:txBody>
        </p:sp>
        <p:sp>
          <p:nvSpPr>
            <p:cNvPr id="17426" name="Line 32"/>
            <p:cNvSpPr>
              <a:spLocks noChangeShapeType="1"/>
            </p:cNvSpPr>
            <p:nvPr/>
          </p:nvSpPr>
          <p:spPr bwMode="auto">
            <a:xfrm>
              <a:off x="4752" y="2160"/>
              <a:ext cx="336"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27" name="Line 33"/>
            <p:cNvSpPr>
              <a:spLocks noChangeShapeType="1"/>
            </p:cNvSpPr>
            <p:nvPr/>
          </p:nvSpPr>
          <p:spPr bwMode="auto">
            <a:xfrm>
              <a:off x="5232" y="2784"/>
              <a:ext cx="336"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28" name="Line 34"/>
            <p:cNvSpPr>
              <a:spLocks noChangeShapeType="1"/>
            </p:cNvSpPr>
            <p:nvPr/>
          </p:nvSpPr>
          <p:spPr bwMode="auto">
            <a:xfrm flipH="1">
              <a:off x="5184" y="3456"/>
              <a:ext cx="336"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7416" name="Group 51"/>
          <p:cNvGrpSpPr>
            <a:grpSpLocks/>
          </p:cNvGrpSpPr>
          <p:nvPr/>
        </p:nvGrpSpPr>
        <p:grpSpPr bwMode="auto">
          <a:xfrm>
            <a:off x="3690938" y="3048000"/>
            <a:ext cx="1223962" cy="2590800"/>
            <a:chOff x="1941" y="2016"/>
            <a:chExt cx="771" cy="1632"/>
          </a:xfrm>
        </p:grpSpPr>
        <p:sp>
          <p:nvSpPr>
            <p:cNvPr id="17417" name="Oval 36"/>
            <p:cNvSpPr>
              <a:spLocks noChangeArrowheads="1"/>
            </p:cNvSpPr>
            <p:nvPr/>
          </p:nvSpPr>
          <p:spPr bwMode="auto">
            <a:xfrm>
              <a:off x="2481" y="2016"/>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1</a:t>
              </a:r>
            </a:p>
          </p:txBody>
        </p:sp>
        <p:sp>
          <p:nvSpPr>
            <p:cNvPr id="17418" name="Oval 38"/>
            <p:cNvSpPr>
              <a:spLocks noChangeArrowheads="1"/>
            </p:cNvSpPr>
            <p:nvPr/>
          </p:nvSpPr>
          <p:spPr bwMode="auto">
            <a:xfrm>
              <a:off x="1941" y="2688"/>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2</a:t>
              </a:r>
            </a:p>
          </p:txBody>
        </p:sp>
        <p:sp>
          <p:nvSpPr>
            <p:cNvPr id="17419" name="Oval 40"/>
            <p:cNvSpPr>
              <a:spLocks noChangeArrowheads="1"/>
            </p:cNvSpPr>
            <p:nvPr/>
          </p:nvSpPr>
          <p:spPr bwMode="auto">
            <a:xfrm>
              <a:off x="2343" y="3408"/>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3</a:t>
              </a:r>
            </a:p>
          </p:txBody>
        </p:sp>
        <p:sp>
          <p:nvSpPr>
            <p:cNvPr id="17420" name="Line 43"/>
            <p:cNvSpPr>
              <a:spLocks noChangeShapeType="1"/>
            </p:cNvSpPr>
            <p:nvPr/>
          </p:nvSpPr>
          <p:spPr bwMode="auto">
            <a:xfrm flipH="1">
              <a:off x="2134" y="2256"/>
              <a:ext cx="38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21" name="Line 46"/>
            <p:cNvSpPr>
              <a:spLocks noChangeShapeType="1"/>
            </p:cNvSpPr>
            <p:nvPr/>
          </p:nvSpPr>
          <p:spPr bwMode="auto">
            <a:xfrm>
              <a:off x="2112" y="2928"/>
              <a:ext cx="30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3003226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p:txBody>
          <a:bodyPr/>
          <a:lstStyle/>
          <a:p>
            <a:pPr eaLnBrk="1" hangingPunct="1"/>
            <a:r>
              <a:rPr lang="en-US" dirty="0" err="1"/>
              <a:t>Một</a:t>
            </a:r>
            <a:r>
              <a:rPr lang="en-US" dirty="0"/>
              <a:t> </a:t>
            </a:r>
            <a:r>
              <a:rPr lang="en-US" dirty="0" err="1"/>
              <a:t>số</a:t>
            </a:r>
            <a:r>
              <a:rPr lang="en-US" dirty="0"/>
              <a:t> </a:t>
            </a:r>
            <a:r>
              <a:rPr lang="en-US" dirty="0" err="1"/>
              <a:t>loại</a:t>
            </a:r>
            <a:r>
              <a:rPr lang="en-US" dirty="0"/>
              <a:t> </a:t>
            </a:r>
            <a:r>
              <a:rPr lang="en-US" dirty="0" err="1"/>
              <a:t>cây</a:t>
            </a:r>
            <a:r>
              <a:rPr lang="en-US" dirty="0"/>
              <a:t> </a:t>
            </a:r>
            <a:r>
              <a:rPr lang="en-US" dirty="0" err="1"/>
              <a:t>nhị</a:t>
            </a:r>
            <a:r>
              <a:rPr lang="en-US" dirty="0"/>
              <a:t> </a:t>
            </a:r>
            <a:r>
              <a:rPr lang="en-US" dirty="0" err="1"/>
              <a:t>phân</a:t>
            </a:r>
            <a:r>
              <a:rPr lang="en-US" dirty="0"/>
              <a:t> </a:t>
            </a:r>
            <a:r>
              <a:rPr lang="en-US" dirty="0" err="1"/>
              <a:t>đặc</a:t>
            </a:r>
            <a:r>
              <a:rPr lang="en-US" dirty="0"/>
              <a:t> </a:t>
            </a:r>
            <a:r>
              <a:rPr lang="en-US" dirty="0" err="1"/>
              <a:t>biệt</a:t>
            </a:r>
            <a:endParaRPr lang="en-US" altLang="en-US" dirty="0"/>
          </a:p>
        </p:txBody>
      </p:sp>
      <p:sp>
        <p:nvSpPr>
          <p:cNvPr id="18437" name="Rectangle 3"/>
          <p:cNvSpPr>
            <a:spLocks noGrp="1" noChangeArrowheads="1"/>
          </p:cNvSpPr>
          <p:nvPr>
            <p:ph type="body" sz="quarter" idx="13"/>
          </p:nvPr>
        </p:nvSpPr>
        <p:spPr>
          <a:noFill/>
        </p:spPr>
        <p:txBody>
          <a:bodyPr>
            <a:normAutofit/>
          </a:bodyPr>
          <a:lstStyle/>
          <a:p>
            <a:pPr eaLnBrk="1" hangingPunct="1"/>
            <a:r>
              <a:rPr lang="en-US" altLang="en-US" sz="2400" dirty="0" err="1">
                <a:cs typeface="Times New Roman" panose="02020603050405020304" pitchFamily="18" charset="0"/>
              </a:rPr>
              <a:t>Cây</a:t>
            </a:r>
            <a:r>
              <a:rPr lang="en-US" altLang="en-US" sz="2400" dirty="0">
                <a:cs typeface="Times New Roman" panose="02020603050405020304" pitchFamily="18" charset="0"/>
              </a:rPr>
              <a:t> </a:t>
            </a:r>
            <a:r>
              <a:rPr lang="en-US" altLang="en-US" sz="2400" dirty="0" err="1">
                <a:cs typeface="Times New Roman" panose="02020603050405020304" pitchFamily="18" charset="0"/>
              </a:rPr>
              <a:t>đầy</a:t>
            </a:r>
            <a:r>
              <a:rPr lang="en-US" altLang="en-US" sz="2400" dirty="0">
                <a:cs typeface="Times New Roman" panose="02020603050405020304" pitchFamily="18" charset="0"/>
              </a:rPr>
              <a:t> </a:t>
            </a:r>
            <a:r>
              <a:rPr lang="en-US" altLang="en-US" sz="2400" dirty="0" err="1">
                <a:cs typeface="Times New Roman" panose="02020603050405020304" pitchFamily="18" charset="0"/>
              </a:rPr>
              <a:t>đủ</a:t>
            </a:r>
            <a:r>
              <a:rPr lang="en-US" altLang="en-US" sz="2400" dirty="0">
                <a:cs typeface="Times New Roman" panose="02020603050405020304" pitchFamily="18" charset="0"/>
              </a:rPr>
              <a:t> (full binary tree) </a:t>
            </a:r>
          </a:p>
          <a:p>
            <a:pPr lvl="1" eaLnBrk="1" hangingPunct="1">
              <a:lnSpc>
                <a:spcPct val="110000"/>
              </a:lnSpc>
            </a:pP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nhị</a:t>
            </a:r>
            <a:r>
              <a:rPr lang="en-US" altLang="en-US" sz="2000" dirty="0">
                <a:cs typeface="Times New Roman" panose="02020603050405020304" pitchFamily="18" charset="0"/>
              </a:rPr>
              <a:t> </a:t>
            </a:r>
            <a:r>
              <a:rPr lang="en-US" altLang="en-US" sz="2000" dirty="0" err="1">
                <a:cs typeface="Times New Roman" panose="02020603050405020304" pitchFamily="18" charset="0"/>
              </a:rPr>
              <a:t>phân</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số</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tối</a:t>
            </a:r>
            <a:r>
              <a:rPr lang="en-US" altLang="en-US" sz="2000" dirty="0">
                <a:cs typeface="Times New Roman" panose="02020603050405020304" pitchFamily="18" charset="0"/>
              </a:rPr>
              <a:t> </a:t>
            </a:r>
            <a:r>
              <a:rPr lang="en-US" altLang="en-US" sz="2000" dirty="0" err="1">
                <a:cs typeface="Times New Roman" panose="02020603050405020304" pitchFamily="18" charset="0"/>
              </a:rPr>
              <a:t>đa</a:t>
            </a:r>
            <a:r>
              <a:rPr lang="en-US" altLang="en-US" sz="2000" dirty="0">
                <a:cs typeface="Times New Roman" panose="02020603050405020304" pitchFamily="18" charset="0"/>
              </a:rPr>
              <a:t> ở </a:t>
            </a:r>
            <a:r>
              <a:rPr lang="en-US" altLang="en-US" sz="2000" dirty="0" err="1">
                <a:cs typeface="Times New Roman" panose="02020603050405020304" pitchFamily="18" charset="0"/>
              </a:rPr>
              <a:t>tất</a:t>
            </a:r>
            <a:r>
              <a:rPr lang="en-US" altLang="en-US" sz="2000" dirty="0">
                <a:cs typeface="Times New Roman" panose="02020603050405020304" pitchFamily="18" charset="0"/>
              </a:rPr>
              <a:t> </a:t>
            </a:r>
            <a:r>
              <a:rPr lang="en-US" altLang="en-US" sz="2000" dirty="0" err="1">
                <a:cs typeface="Times New Roman" panose="02020603050405020304" pitchFamily="18" charset="0"/>
              </a:rPr>
              <a:t>cả</a:t>
            </a:r>
            <a:r>
              <a:rPr lang="en-US" altLang="en-US" sz="2000" dirty="0">
                <a:cs typeface="Times New Roman" panose="02020603050405020304" pitchFamily="18" charset="0"/>
              </a:rPr>
              <a:t> </a:t>
            </a: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mức</a:t>
            </a:r>
            <a:r>
              <a:rPr lang="en-US" altLang="en-US" sz="2000" dirty="0">
                <a:cs typeface="Times New Roman" panose="02020603050405020304" pitchFamily="18" charset="0"/>
              </a:rPr>
              <a:t>. </a:t>
            </a:r>
          </a:p>
          <a:p>
            <a:pPr lvl="2">
              <a:lnSpc>
                <a:spcPct val="110000"/>
              </a:lnSpc>
            </a:pPr>
            <a:r>
              <a:rPr lang="en-US" altLang="en-US" sz="2000" dirty="0">
                <a:cs typeface="Times New Roman" panose="02020603050405020304" pitchFamily="18" charset="0"/>
              </a:rPr>
              <a:t>Ở </a:t>
            </a:r>
            <a:r>
              <a:rPr lang="en-US" altLang="en-US" sz="2000" dirty="0" err="1">
                <a:cs typeface="Times New Roman" panose="02020603050405020304" pitchFamily="18" charset="0"/>
              </a:rPr>
              <a:t>mức</a:t>
            </a:r>
            <a:r>
              <a:rPr lang="en-US" altLang="en-US" sz="2000" dirty="0">
                <a:cs typeface="Times New Roman" panose="02020603050405020304" pitchFamily="18" charset="0"/>
              </a:rPr>
              <a:t> </a:t>
            </a:r>
            <a:r>
              <a:rPr lang="en-US" altLang="en-US" sz="2000" i="1" dirty="0" err="1">
                <a:cs typeface="Times New Roman" panose="02020603050405020304" pitchFamily="18" charset="0"/>
              </a:rPr>
              <a:t>i</a:t>
            </a:r>
            <a:r>
              <a:rPr lang="en-US" altLang="en-US" sz="2000" dirty="0">
                <a:cs typeface="Times New Roman" panose="02020603050405020304" pitchFamily="18" charset="0"/>
              </a:rPr>
              <a:t> </a:t>
            </a:r>
            <a:r>
              <a:rPr lang="en-US" altLang="en-US" sz="2000" dirty="0" err="1">
                <a:cs typeface="Times New Roman" panose="02020603050405020304" pitchFamily="18" charset="0"/>
              </a:rPr>
              <a:t>sẽ</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đúng</a:t>
            </a:r>
            <a:r>
              <a:rPr lang="en-US" altLang="en-US" sz="2000" dirty="0">
                <a:cs typeface="Times New Roman" panose="02020603050405020304" pitchFamily="18" charset="0"/>
              </a:rPr>
              <a:t> </a:t>
            </a:r>
            <a:r>
              <a:rPr lang="en-US" altLang="en-US" sz="2000" i="1" dirty="0">
                <a:cs typeface="Times New Roman" panose="02020603050405020304" pitchFamily="18" charset="0"/>
              </a:rPr>
              <a:t>2</a:t>
            </a:r>
            <a:r>
              <a:rPr lang="en-US" altLang="en-US" sz="2000" i="1" baseline="30000" dirty="0">
                <a:cs typeface="Times New Roman" panose="02020603050405020304" pitchFamily="18" charset="0"/>
              </a:rPr>
              <a:t>i-1</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p>
          <a:p>
            <a:pPr lvl="2">
              <a:lnSpc>
                <a:spcPct val="110000"/>
              </a:lnSpc>
            </a:pPr>
            <a:r>
              <a:rPr lang="en-US" altLang="en-US" sz="2000" dirty="0" err="1">
                <a:cs typeface="Times New Roman" panose="02020603050405020304" pitchFamily="18" charset="0"/>
              </a:rPr>
              <a:t>Nếu</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nhị</a:t>
            </a:r>
            <a:r>
              <a:rPr lang="en-US" altLang="en-US" sz="2000" dirty="0">
                <a:cs typeface="Times New Roman" panose="02020603050405020304" pitchFamily="18" charset="0"/>
              </a:rPr>
              <a:t> </a:t>
            </a:r>
            <a:r>
              <a:rPr lang="en-US" altLang="en-US" sz="2000" dirty="0" err="1">
                <a:cs typeface="Times New Roman" panose="02020603050405020304" pitchFamily="18" charset="0"/>
              </a:rPr>
              <a:t>phân</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chiều</a:t>
            </a:r>
            <a:r>
              <a:rPr lang="en-US" altLang="en-US" sz="2000" dirty="0">
                <a:cs typeface="Times New Roman" panose="02020603050405020304" pitchFamily="18" charset="0"/>
              </a:rPr>
              <a:t> </a:t>
            </a:r>
            <a:r>
              <a:rPr lang="en-US" altLang="en-US" sz="2000" dirty="0" err="1">
                <a:cs typeface="Times New Roman" panose="02020603050405020304" pitchFamily="18" charset="0"/>
              </a:rPr>
              <a:t>cao</a:t>
            </a:r>
            <a:r>
              <a:rPr lang="en-US" altLang="en-US" sz="2000" dirty="0">
                <a:cs typeface="Times New Roman" panose="02020603050405020304" pitchFamily="18" charset="0"/>
              </a:rPr>
              <a:t> </a:t>
            </a:r>
            <a:r>
              <a:rPr lang="en-US" altLang="en-US" sz="2000" i="1" dirty="0">
                <a:cs typeface="Times New Roman" panose="02020603050405020304" pitchFamily="18" charset="0"/>
              </a:rPr>
              <a:t>h</a:t>
            </a:r>
            <a:r>
              <a:rPr lang="en-US" altLang="en-US" sz="2000" dirty="0">
                <a:cs typeface="Times New Roman" panose="02020603050405020304" pitchFamily="18" charset="0"/>
              </a:rPr>
              <a:t> </a:t>
            </a:r>
            <a:r>
              <a:rPr lang="en-US" altLang="en-US" sz="2000" dirty="0" err="1">
                <a:cs typeface="Times New Roman" panose="02020603050405020304" pitchFamily="18" charset="0"/>
              </a:rPr>
              <a:t>thì</a:t>
            </a:r>
            <a:r>
              <a:rPr lang="en-US" altLang="en-US" sz="2000" dirty="0">
                <a:cs typeface="Times New Roman" panose="02020603050405020304" pitchFamily="18" charset="0"/>
              </a:rPr>
              <a:t> </a:t>
            </a:r>
            <a:r>
              <a:rPr lang="en-US" altLang="en-US" sz="2000" dirty="0" err="1">
                <a:cs typeface="Times New Roman" panose="02020603050405020304" pitchFamily="18" charset="0"/>
              </a:rPr>
              <a:t>kích</a:t>
            </a:r>
            <a:r>
              <a:rPr lang="en-US" altLang="en-US" sz="2000" dirty="0">
                <a:cs typeface="Times New Roman" panose="02020603050405020304" pitchFamily="18" charset="0"/>
              </a:rPr>
              <a:t> </a:t>
            </a:r>
            <a:r>
              <a:rPr lang="en-US" altLang="en-US" sz="2000" dirty="0" err="1">
                <a:cs typeface="Times New Roman" panose="02020603050405020304" pitchFamily="18" charset="0"/>
              </a:rPr>
              <a:t>thước</a:t>
            </a:r>
            <a:r>
              <a:rPr lang="en-US" altLang="en-US" sz="2000" dirty="0">
                <a:cs typeface="Times New Roman" panose="02020603050405020304" pitchFamily="18" charset="0"/>
              </a:rPr>
              <a:t>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br>
              <a:rPr lang="en-US" altLang="en-US" sz="2000" dirty="0">
                <a:cs typeface="Times New Roman" panose="02020603050405020304" pitchFamily="18" charset="0"/>
              </a:rPr>
            </a:br>
            <a:r>
              <a:rPr lang="en-US" altLang="en-US" sz="2000" dirty="0">
                <a:cs typeface="Times New Roman" panose="02020603050405020304" pitchFamily="18" charset="0"/>
              </a:rPr>
              <a:t>       S(T) = 2</a:t>
            </a:r>
            <a:r>
              <a:rPr lang="en-US" altLang="en-US" sz="2000" baseline="30000" dirty="0">
                <a:cs typeface="Times New Roman" panose="02020603050405020304" pitchFamily="18" charset="0"/>
              </a:rPr>
              <a:t>0</a:t>
            </a:r>
            <a:r>
              <a:rPr lang="en-US" altLang="en-US" sz="2000" dirty="0">
                <a:cs typeface="Times New Roman" panose="02020603050405020304" pitchFamily="18" charset="0"/>
              </a:rPr>
              <a:t>+2</a:t>
            </a:r>
            <a:r>
              <a:rPr lang="en-US" altLang="en-US" sz="2000" baseline="30000" dirty="0">
                <a:cs typeface="Times New Roman" panose="02020603050405020304" pitchFamily="18" charset="0"/>
              </a:rPr>
              <a:t>1</a:t>
            </a:r>
            <a:r>
              <a:rPr lang="en-US" altLang="en-US" sz="2000" dirty="0">
                <a:cs typeface="Times New Roman" panose="02020603050405020304" pitchFamily="18" charset="0"/>
              </a:rPr>
              <a:t>+…+2</a:t>
            </a:r>
            <a:r>
              <a:rPr lang="en-US" altLang="en-US" sz="2000" baseline="30000" dirty="0">
                <a:cs typeface="Times New Roman" panose="02020603050405020304" pitchFamily="18" charset="0"/>
              </a:rPr>
              <a:t>h</a:t>
            </a:r>
            <a:r>
              <a:rPr lang="en-US" altLang="en-US" sz="2000" dirty="0">
                <a:cs typeface="Times New Roman" panose="02020603050405020304" pitchFamily="18" charset="0"/>
              </a:rPr>
              <a:t> = 2</a:t>
            </a:r>
            <a:r>
              <a:rPr lang="en-US" altLang="en-US" sz="2000" baseline="30000" dirty="0">
                <a:cs typeface="Times New Roman" panose="02020603050405020304" pitchFamily="18" charset="0"/>
              </a:rPr>
              <a:t>h+1</a:t>
            </a:r>
            <a:r>
              <a:rPr lang="en-US" altLang="en-US" sz="2000" dirty="0">
                <a:cs typeface="Times New Roman" panose="02020603050405020304" pitchFamily="18" charset="0"/>
              </a:rPr>
              <a:t>-1 ; </a:t>
            </a:r>
          </a:p>
          <a:p>
            <a:pPr lvl="2">
              <a:lnSpc>
                <a:spcPct val="110000"/>
              </a:lnSpc>
            </a:pPr>
            <a:endParaRPr lang="en-US" altLang="en-US" sz="1600" dirty="0">
              <a:cs typeface="Times New Roman" panose="02020603050405020304" pitchFamily="18" charset="0"/>
            </a:endParaRPr>
          </a:p>
          <a:p>
            <a:pPr lvl="2">
              <a:lnSpc>
                <a:spcPct val="110000"/>
              </a:lnSpc>
            </a:pPr>
            <a:endParaRPr lang="en-US" altLang="en-US" sz="1600" dirty="0">
              <a:cs typeface="Times New Roman" panose="02020603050405020304" pitchFamily="18" charset="0"/>
            </a:endParaRPr>
          </a:p>
          <a:p>
            <a:pPr lvl="1">
              <a:lnSpc>
                <a:spcPct val="110000"/>
              </a:lnSpc>
            </a:pPr>
            <a:r>
              <a:rPr lang="en-US" sz="2000" dirty="0" err="1"/>
              <a:t>Cây</a:t>
            </a:r>
            <a:r>
              <a:rPr lang="en-US" sz="2000" dirty="0"/>
              <a:t> </a:t>
            </a:r>
            <a:r>
              <a:rPr lang="en-US" sz="2000" dirty="0" err="1"/>
              <a:t>nhị</a:t>
            </a:r>
            <a:r>
              <a:rPr lang="en-US" sz="2000" dirty="0"/>
              <a:t> </a:t>
            </a:r>
            <a:r>
              <a:rPr lang="en-US" sz="2000" dirty="0" err="1"/>
              <a:t>phân</a:t>
            </a:r>
            <a:r>
              <a:rPr lang="en-US" sz="2000" dirty="0"/>
              <a:t> </a:t>
            </a:r>
            <a:r>
              <a:rPr lang="en-US" sz="2000" dirty="0" err="1"/>
              <a:t>gần</a:t>
            </a:r>
            <a:r>
              <a:rPr lang="en-US" sz="2000" dirty="0"/>
              <a:t> </a:t>
            </a:r>
            <a:r>
              <a:rPr lang="en-US" sz="2000" dirty="0" err="1"/>
              <a:t>đầy</a:t>
            </a:r>
            <a:r>
              <a:rPr lang="en-US" sz="2000" dirty="0"/>
              <a:t> </a:t>
            </a:r>
            <a:r>
              <a:rPr lang="en-US" sz="2000" dirty="0" err="1"/>
              <a:t>đủ</a:t>
            </a:r>
            <a:r>
              <a:rPr lang="en-US" sz="2000" dirty="0"/>
              <a:t>: </a:t>
            </a:r>
            <a:br>
              <a:rPr lang="en-US" sz="2000" dirty="0"/>
            </a:br>
            <a:r>
              <a:rPr lang="vi-VN" sz="2000" dirty="0"/>
              <a:t>ở mức cuối không có đầy đủ các nút</a:t>
            </a:r>
            <a:endParaRPr lang="en-US" altLang="en-US" sz="2000" dirty="0">
              <a:cs typeface="Times New Roman" panose="02020603050405020304" pitchFamily="18" charset="0"/>
            </a:endParaRPr>
          </a:p>
        </p:txBody>
      </p:sp>
      <p:grpSp>
        <p:nvGrpSpPr>
          <p:cNvPr id="18438" name="Group 20"/>
          <p:cNvGrpSpPr>
            <a:grpSpLocks/>
          </p:cNvGrpSpPr>
          <p:nvPr/>
        </p:nvGrpSpPr>
        <p:grpSpPr bwMode="auto">
          <a:xfrm>
            <a:off x="6155463" y="1066800"/>
            <a:ext cx="2852738" cy="1981200"/>
            <a:chOff x="3312" y="1776"/>
            <a:chExt cx="2256" cy="1632"/>
          </a:xfrm>
        </p:grpSpPr>
        <p:sp>
          <p:nvSpPr>
            <p:cNvPr id="18445" name="Oval 5"/>
            <p:cNvSpPr>
              <a:spLocks noChangeArrowheads="1"/>
            </p:cNvSpPr>
            <p:nvPr/>
          </p:nvSpPr>
          <p:spPr bwMode="auto">
            <a:xfrm>
              <a:off x="4353" y="1776"/>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1</a:t>
              </a:r>
            </a:p>
          </p:txBody>
        </p:sp>
        <p:sp>
          <p:nvSpPr>
            <p:cNvPr id="18446" name="Oval 6"/>
            <p:cNvSpPr>
              <a:spLocks noChangeArrowheads="1"/>
            </p:cNvSpPr>
            <p:nvPr/>
          </p:nvSpPr>
          <p:spPr bwMode="auto">
            <a:xfrm>
              <a:off x="4931" y="2496"/>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3</a:t>
              </a:r>
            </a:p>
          </p:txBody>
        </p:sp>
        <p:sp>
          <p:nvSpPr>
            <p:cNvPr id="18447" name="Oval 7"/>
            <p:cNvSpPr>
              <a:spLocks noChangeArrowheads="1"/>
            </p:cNvSpPr>
            <p:nvPr/>
          </p:nvSpPr>
          <p:spPr bwMode="auto">
            <a:xfrm>
              <a:off x="3813" y="2448"/>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2</a:t>
              </a:r>
            </a:p>
          </p:txBody>
        </p:sp>
        <p:sp>
          <p:nvSpPr>
            <p:cNvPr id="18448" name="Oval 8"/>
            <p:cNvSpPr>
              <a:spLocks noChangeArrowheads="1"/>
            </p:cNvSpPr>
            <p:nvPr/>
          </p:nvSpPr>
          <p:spPr bwMode="auto">
            <a:xfrm>
              <a:off x="3312" y="316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4</a:t>
              </a:r>
            </a:p>
          </p:txBody>
        </p:sp>
        <p:sp>
          <p:nvSpPr>
            <p:cNvPr id="18449" name="Oval 9"/>
            <p:cNvSpPr>
              <a:spLocks noChangeArrowheads="1"/>
            </p:cNvSpPr>
            <p:nvPr/>
          </p:nvSpPr>
          <p:spPr bwMode="auto">
            <a:xfrm>
              <a:off x="4215" y="3168"/>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5</a:t>
              </a:r>
            </a:p>
          </p:txBody>
        </p:sp>
        <p:sp>
          <p:nvSpPr>
            <p:cNvPr id="18450" name="Oval 10"/>
            <p:cNvSpPr>
              <a:spLocks noChangeArrowheads="1"/>
            </p:cNvSpPr>
            <p:nvPr/>
          </p:nvSpPr>
          <p:spPr bwMode="auto">
            <a:xfrm>
              <a:off x="4656" y="316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6</a:t>
              </a:r>
            </a:p>
          </p:txBody>
        </p:sp>
        <p:sp>
          <p:nvSpPr>
            <p:cNvPr id="18451" name="Oval 11"/>
            <p:cNvSpPr>
              <a:spLocks noChangeArrowheads="1"/>
            </p:cNvSpPr>
            <p:nvPr/>
          </p:nvSpPr>
          <p:spPr bwMode="auto">
            <a:xfrm>
              <a:off x="5337" y="3120"/>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7</a:t>
              </a:r>
            </a:p>
          </p:txBody>
        </p:sp>
        <p:sp>
          <p:nvSpPr>
            <p:cNvPr id="18452" name="Line 13"/>
            <p:cNvSpPr>
              <a:spLocks noChangeShapeType="1"/>
            </p:cNvSpPr>
            <p:nvPr/>
          </p:nvSpPr>
          <p:spPr bwMode="auto">
            <a:xfrm flipH="1">
              <a:off x="4006" y="2016"/>
              <a:ext cx="434"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3" name="Line 14"/>
            <p:cNvSpPr>
              <a:spLocks noChangeShapeType="1"/>
            </p:cNvSpPr>
            <p:nvPr/>
          </p:nvSpPr>
          <p:spPr bwMode="auto">
            <a:xfrm flipH="1">
              <a:off x="3466" y="2688"/>
              <a:ext cx="386"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4" name="Line 15"/>
            <p:cNvSpPr>
              <a:spLocks noChangeShapeType="1"/>
            </p:cNvSpPr>
            <p:nvPr/>
          </p:nvSpPr>
          <p:spPr bwMode="auto">
            <a:xfrm flipH="1">
              <a:off x="4752" y="2736"/>
              <a:ext cx="24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5" name="Line 16"/>
            <p:cNvSpPr>
              <a:spLocks noChangeShapeType="1"/>
            </p:cNvSpPr>
            <p:nvPr/>
          </p:nvSpPr>
          <p:spPr bwMode="auto">
            <a:xfrm>
              <a:off x="3984" y="2688"/>
              <a:ext cx="30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6" name="Line 17"/>
            <p:cNvSpPr>
              <a:spLocks noChangeShapeType="1"/>
            </p:cNvSpPr>
            <p:nvPr/>
          </p:nvSpPr>
          <p:spPr bwMode="auto">
            <a:xfrm>
              <a:off x="4521" y="2011"/>
              <a:ext cx="458"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7" name="Line 18"/>
            <p:cNvSpPr>
              <a:spLocks noChangeShapeType="1"/>
            </p:cNvSpPr>
            <p:nvPr/>
          </p:nvSpPr>
          <p:spPr bwMode="auto">
            <a:xfrm>
              <a:off x="5105" y="2736"/>
              <a:ext cx="319"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4" name="TextBox 23"/>
          <p:cNvSpPr txBox="1"/>
          <p:nvPr/>
        </p:nvSpPr>
        <p:spPr>
          <a:xfrm>
            <a:off x="7123340" y="750204"/>
            <a:ext cx="341760" cy="400110"/>
          </a:xfrm>
          <a:prstGeom prst="rect">
            <a:avLst/>
          </a:prstGeom>
          <a:noFill/>
        </p:spPr>
        <p:txBody>
          <a:bodyPr wrap="none" rtlCol="0">
            <a:spAutoFit/>
          </a:bodyPr>
          <a:lstStyle/>
          <a:p>
            <a:r>
              <a:rPr lang="en-US" sz="2000" dirty="0"/>
              <a:t>T</a:t>
            </a:r>
          </a:p>
        </p:txBody>
      </p:sp>
      <p:pic>
        <p:nvPicPr>
          <p:cNvPr id="26" name="Picture 25"/>
          <p:cNvPicPr>
            <a:picLocks noChangeAspect="1"/>
          </p:cNvPicPr>
          <p:nvPr/>
        </p:nvPicPr>
        <p:blipFill>
          <a:blip r:embed="rId2"/>
          <a:stretch>
            <a:fillRect/>
          </a:stretch>
        </p:blipFill>
        <p:spPr>
          <a:xfrm>
            <a:off x="6141442" y="3835071"/>
            <a:ext cx="2494394" cy="1877269"/>
          </a:xfrm>
          <a:prstGeom prst="rect">
            <a:avLst/>
          </a:prstGeom>
        </p:spPr>
      </p:pic>
    </p:spTree>
    <p:extLst>
      <p:ext uri="{BB962C8B-B14F-4D97-AF65-F5344CB8AC3E}">
        <p14:creationId xmlns:p14="http://schemas.microsoft.com/office/powerpoint/2010/main" val="3175187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437">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437">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p:txBody>
          <a:bodyPr/>
          <a:lstStyle/>
          <a:p>
            <a:pPr eaLnBrk="1" hangingPunct="1"/>
            <a:r>
              <a:rPr lang="en-US" dirty="0" err="1"/>
              <a:t>Một</a:t>
            </a:r>
            <a:r>
              <a:rPr lang="en-US" dirty="0"/>
              <a:t> </a:t>
            </a:r>
            <a:r>
              <a:rPr lang="en-US" dirty="0" err="1"/>
              <a:t>số</a:t>
            </a:r>
            <a:r>
              <a:rPr lang="en-US" dirty="0"/>
              <a:t> </a:t>
            </a:r>
            <a:r>
              <a:rPr lang="en-US" dirty="0" err="1"/>
              <a:t>loại</a:t>
            </a:r>
            <a:r>
              <a:rPr lang="en-US" dirty="0"/>
              <a:t> </a:t>
            </a:r>
            <a:r>
              <a:rPr lang="en-US" dirty="0" err="1"/>
              <a:t>cây</a:t>
            </a:r>
            <a:r>
              <a:rPr lang="en-US" dirty="0"/>
              <a:t> </a:t>
            </a:r>
            <a:r>
              <a:rPr lang="en-US" dirty="0" err="1"/>
              <a:t>nhị</a:t>
            </a:r>
            <a:r>
              <a:rPr lang="en-US" dirty="0"/>
              <a:t> </a:t>
            </a:r>
            <a:r>
              <a:rPr lang="en-US" dirty="0" err="1"/>
              <a:t>phân</a:t>
            </a:r>
            <a:r>
              <a:rPr lang="en-US" dirty="0"/>
              <a:t> </a:t>
            </a:r>
            <a:r>
              <a:rPr lang="en-US" dirty="0" err="1"/>
              <a:t>đặc</a:t>
            </a:r>
            <a:r>
              <a:rPr lang="en-US" dirty="0"/>
              <a:t> </a:t>
            </a:r>
            <a:r>
              <a:rPr lang="en-US" dirty="0" err="1"/>
              <a:t>biệt</a:t>
            </a:r>
            <a:endParaRPr lang="en-US" altLang="en-US" dirty="0"/>
          </a:p>
        </p:txBody>
      </p:sp>
      <p:sp>
        <p:nvSpPr>
          <p:cNvPr id="19461" name="Rectangle 3"/>
          <p:cNvSpPr>
            <a:spLocks noGrp="1" noChangeArrowheads="1"/>
          </p:cNvSpPr>
          <p:nvPr>
            <p:ph type="body" sz="quarter" idx="13"/>
          </p:nvPr>
        </p:nvSpPr>
        <p:spPr>
          <a:noFill/>
        </p:spPr>
        <p:txBody>
          <a:bodyPr>
            <a:normAutofit/>
          </a:bodyPr>
          <a:lstStyle/>
          <a:p>
            <a:pPr eaLnBrk="1" hangingPunct="1"/>
            <a:r>
              <a:rPr lang="en-US" altLang="en-US" sz="2400" dirty="0" err="1">
                <a:cs typeface="Times New Roman" panose="02020603050405020304" pitchFamily="18" charset="0"/>
              </a:rPr>
              <a:t>Cây</a:t>
            </a:r>
            <a:r>
              <a:rPr lang="en-US" altLang="en-US" sz="2400" dirty="0">
                <a:cs typeface="Times New Roman" panose="02020603050405020304" pitchFamily="18" charset="0"/>
              </a:rPr>
              <a:t> </a:t>
            </a:r>
            <a:r>
              <a:rPr lang="en-US" altLang="en-US" sz="2400" dirty="0" err="1">
                <a:cs typeface="Times New Roman" panose="02020603050405020304" pitchFamily="18" charset="0"/>
              </a:rPr>
              <a:t>hoàn</a:t>
            </a:r>
            <a:r>
              <a:rPr lang="en-US" altLang="en-US" sz="2400" dirty="0">
                <a:cs typeface="Times New Roman" panose="02020603050405020304" pitchFamily="18" charset="0"/>
              </a:rPr>
              <a:t> </a:t>
            </a:r>
            <a:r>
              <a:rPr lang="en-US" altLang="en-US" sz="2400" dirty="0" err="1">
                <a:cs typeface="Times New Roman" panose="02020603050405020304" pitchFamily="18" charset="0"/>
              </a:rPr>
              <a:t>chỉnh</a:t>
            </a:r>
            <a:r>
              <a:rPr lang="en-US" altLang="en-US" sz="2400" dirty="0">
                <a:cs typeface="Times New Roman" panose="02020603050405020304" pitchFamily="18" charset="0"/>
              </a:rPr>
              <a:t> (complete binary tree) </a:t>
            </a:r>
          </a:p>
          <a:p>
            <a:pPr lvl="1" eaLnBrk="1" hangingPunct="1"/>
            <a:r>
              <a:rPr lang="en-US" altLang="en-US" sz="2000" dirty="0" err="1">
                <a:cs typeface="Times New Roman" panose="02020603050405020304" pitchFamily="18" charset="0"/>
              </a:rPr>
              <a:t>Gọi</a:t>
            </a:r>
            <a:r>
              <a:rPr lang="en-US" altLang="en-US" sz="2000" dirty="0">
                <a:cs typeface="Times New Roman" panose="02020603050405020304" pitchFamily="18" charset="0"/>
              </a:rPr>
              <a:t> </a:t>
            </a:r>
            <a:r>
              <a:rPr lang="en-US" altLang="en-US" sz="2000" i="1" dirty="0">
                <a:cs typeface="Times New Roman" panose="02020603050405020304" pitchFamily="18" charset="0"/>
              </a:rPr>
              <a:t>h</a:t>
            </a:r>
            <a:r>
              <a:rPr lang="en-US" altLang="en-US" sz="2000" dirty="0">
                <a:cs typeface="Times New Roman" panose="02020603050405020304" pitchFamily="18" charset="0"/>
              </a:rPr>
              <a:t>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chiều</a:t>
            </a:r>
            <a:r>
              <a:rPr lang="en-US" altLang="en-US" sz="2000" dirty="0">
                <a:cs typeface="Times New Roman" panose="02020603050405020304" pitchFamily="18" charset="0"/>
              </a:rPr>
              <a:t> </a:t>
            </a:r>
            <a:r>
              <a:rPr lang="en-US" altLang="en-US" sz="2000" dirty="0" err="1">
                <a:cs typeface="Times New Roman" panose="02020603050405020304" pitchFamily="18" charset="0"/>
              </a:rPr>
              <a:t>cao</a:t>
            </a:r>
            <a:r>
              <a:rPr lang="en-US" altLang="en-US" sz="2000" dirty="0">
                <a:cs typeface="Times New Roman" panose="02020603050405020304" pitchFamily="18" charset="0"/>
              </a:rPr>
              <a:t> </a:t>
            </a:r>
            <a:r>
              <a:rPr lang="en-US" altLang="en-US" sz="2000" dirty="0" err="1">
                <a:cs typeface="Times New Roman" panose="02020603050405020304" pitchFamily="18" charset="0"/>
              </a:rPr>
              <a:t>của</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T. </a:t>
            </a:r>
          </a:p>
          <a:p>
            <a:pPr lvl="1" eaLnBrk="1" hangingPunct="1"/>
            <a:r>
              <a:rPr lang="en-US" altLang="en-US" sz="2000" dirty="0">
                <a:cs typeface="Times New Roman" panose="02020603050405020304" pitchFamily="18" charset="0"/>
              </a:rPr>
              <a:t>T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hoàn</a:t>
            </a:r>
            <a:r>
              <a:rPr lang="en-US" altLang="en-US" sz="2000" dirty="0">
                <a:cs typeface="Times New Roman" panose="02020603050405020304" pitchFamily="18" charset="0"/>
              </a:rPr>
              <a:t> </a:t>
            </a:r>
            <a:r>
              <a:rPr lang="en-US" altLang="en-US" sz="2000" dirty="0" err="1">
                <a:cs typeface="Times New Roman" panose="02020603050405020304" pitchFamily="18" charset="0"/>
              </a:rPr>
              <a:t>chỉnh</a:t>
            </a:r>
            <a:r>
              <a:rPr lang="en-US" altLang="en-US" sz="2000" dirty="0">
                <a:cs typeface="Times New Roman" panose="02020603050405020304" pitchFamily="18" charset="0"/>
              </a:rPr>
              <a:t> </a:t>
            </a:r>
            <a:r>
              <a:rPr lang="en-US" altLang="en-US" sz="2000" dirty="0" err="1">
                <a:cs typeface="Times New Roman" panose="02020603050405020304" pitchFamily="18" charset="0"/>
              </a:rPr>
              <a:t>nếu</a:t>
            </a:r>
            <a:r>
              <a:rPr lang="en-US" altLang="en-US" sz="2000" dirty="0">
                <a:cs typeface="Times New Roman" panose="02020603050405020304" pitchFamily="18" charset="0"/>
              </a:rPr>
              <a:t>: </a:t>
            </a:r>
          </a:p>
          <a:p>
            <a:pPr lvl="2" eaLnBrk="1" hangingPunct="1"/>
            <a:r>
              <a:rPr lang="en-US" altLang="en-US" sz="2000" dirty="0">
                <a:cs typeface="Times New Roman" panose="02020603050405020304" pitchFamily="18" charset="0"/>
              </a:rPr>
              <a:t>T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đầy</a:t>
            </a:r>
            <a:r>
              <a:rPr lang="en-US" altLang="en-US" sz="2000" dirty="0">
                <a:cs typeface="Times New Roman" panose="02020603050405020304" pitchFamily="18" charset="0"/>
              </a:rPr>
              <a:t> </a:t>
            </a:r>
            <a:r>
              <a:rPr lang="en-US" altLang="en-US" sz="2000" dirty="0" err="1">
                <a:cs typeface="Times New Roman" panose="02020603050405020304" pitchFamily="18" charset="0"/>
              </a:rPr>
              <a:t>đủ</a:t>
            </a:r>
            <a:r>
              <a:rPr lang="en-US" altLang="en-US" sz="2000" dirty="0">
                <a:cs typeface="Times New Roman" panose="02020603050405020304" pitchFamily="18" charset="0"/>
              </a:rPr>
              <a:t> </a:t>
            </a:r>
            <a:r>
              <a:rPr lang="en-US" altLang="en-US" sz="2000" dirty="0" err="1">
                <a:cs typeface="Times New Roman" panose="02020603050405020304" pitchFamily="18" charset="0"/>
              </a:rPr>
              <a:t>đến</a:t>
            </a:r>
            <a:r>
              <a:rPr lang="en-US" altLang="en-US" sz="2000" dirty="0">
                <a:cs typeface="Times New Roman" panose="02020603050405020304" pitchFamily="18" charset="0"/>
              </a:rPr>
              <a:t> </a:t>
            </a:r>
            <a:r>
              <a:rPr lang="en-US" altLang="en-US" sz="2000" dirty="0" err="1">
                <a:cs typeface="Times New Roman" panose="02020603050405020304" pitchFamily="18" charset="0"/>
              </a:rPr>
              <a:t>độ</a:t>
            </a:r>
            <a:r>
              <a:rPr lang="en-US" altLang="en-US" sz="2000" dirty="0">
                <a:cs typeface="Times New Roman" panose="02020603050405020304" pitchFamily="18" charset="0"/>
              </a:rPr>
              <a:t> </a:t>
            </a:r>
            <a:r>
              <a:rPr lang="en-US" altLang="en-US" sz="2000" dirty="0" err="1">
                <a:cs typeface="Times New Roman" panose="02020603050405020304" pitchFamily="18" charset="0"/>
              </a:rPr>
              <a:t>sâu</a:t>
            </a:r>
            <a:r>
              <a:rPr lang="en-US" altLang="en-US" sz="2000" dirty="0">
                <a:cs typeface="Times New Roman" panose="02020603050405020304" pitchFamily="18" charset="0"/>
              </a:rPr>
              <a:t> </a:t>
            </a:r>
            <a:r>
              <a:rPr lang="en-US" altLang="en-US" sz="2000" i="1" dirty="0">
                <a:cs typeface="Times New Roman" panose="02020603050405020304" pitchFamily="18" charset="0"/>
              </a:rPr>
              <a:t>h-1</a:t>
            </a:r>
          </a:p>
          <a:p>
            <a:pPr lvl="2" eaLnBrk="1" hangingPunct="1"/>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chiều</a:t>
            </a:r>
            <a:r>
              <a:rPr lang="en-US" altLang="en-US" sz="2000" dirty="0">
                <a:cs typeface="Times New Roman" panose="02020603050405020304" pitchFamily="18" charset="0"/>
              </a:rPr>
              <a:t> </a:t>
            </a:r>
            <a:r>
              <a:rPr lang="en-US" altLang="en-US" sz="2000" dirty="0" err="1">
                <a:cs typeface="Times New Roman" panose="02020603050405020304" pitchFamily="18" charset="0"/>
              </a:rPr>
              <a:t>cao</a:t>
            </a:r>
            <a:r>
              <a:rPr lang="en-US" altLang="en-US" sz="2000" dirty="0">
                <a:cs typeface="Times New Roman" panose="02020603050405020304" pitchFamily="18" charset="0"/>
              </a:rPr>
              <a:t> </a:t>
            </a:r>
            <a:r>
              <a:rPr lang="en-US" altLang="en-US" sz="2000" i="1" dirty="0">
                <a:cs typeface="Times New Roman" panose="02020603050405020304" pitchFamily="18" charset="0"/>
              </a:rPr>
              <a:t>h</a:t>
            </a:r>
            <a:r>
              <a:rPr lang="en-US" altLang="en-US" sz="2000" dirty="0">
                <a:cs typeface="Times New Roman" panose="02020603050405020304" pitchFamily="18" charset="0"/>
              </a:rPr>
              <a:t> </a:t>
            </a:r>
            <a:r>
              <a:rPr lang="en-US" altLang="en-US" sz="2000" dirty="0" err="1">
                <a:cs typeface="Times New Roman" panose="02020603050405020304" pitchFamily="18" charset="0"/>
              </a:rPr>
              <a:t>thì</a:t>
            </a:r>
            <a:r>
              <a:rPr lang="en-US" altLang="en-US" sz="2000" dirty="0">
                <a:cs typeface="Times New Roman" panose="02020603050405020304" pitchFamily="18" charset="0"/>
              </a:rPr>
              <a:t> </a:t>
            </a:r>
            <a:r>
              <a:rPr lang="en-US" altLang="en-US" sz="2000" dirty="0" err="1">
                <a:cs typeface="Times New Roman" panose="02020603050405020304" pitchFamily="18" charset="0"/>
              </a:rPr>
              <a:t>dồn</a:t>
            </a:r>
            <a:r>
              <a:rPr lang="en-US" altLang="en-US" sz="2000" dirty="0">
                <a:cs typeface="Times New Roman" panose="02020603050405020304" pitchFamily="18" charset="0"/>
              </a:rPr>
              <a:t> </a:t>
            </a:r>
            <a:r>
              <a:rPr lang="en-US" altLang="en-US" sz="2000" dirty="0" err="1">
                <a:cs typeface="Times New Roman" panose="02020603050405020304" pitchFamily="18" charset="0"/>
              </a:rPr>
              <a:t>hết</a:t>
            </a:r>
            <a:r>
              <a:rPr lang="en-US" altLang="en-US" sz="2000" dirty="0">
                <a:cs typeface="Times New Roman" panose="02020603050405020304" pitchFamily="18" charset="0"/>
              </a:rPr>
              <a:t> </a:t>
            </a:r>
            <a:r>
              <a:rPr lang="en-US" altLang="en-US" sz="2000" dirty="0" err="1">
                <a:cs typeface="Times New Roman" panose="02020603050405020304" pitchFamily="18" charset="0"/>
              </a:rPr>
              <a:t>về</a:t>
            </a:r>
            <a:r>
              <a:rPr lang="en-US" altLang="en-US" sz="2000" dirty="0">
                <a:cs typeface="Times New Roman" panose="02020603050405020304" pitchFamily="18" charset="0"/>
              </a:rPr>
              <a:t> </a:t>
            </a:r>
            <a:r>
              <a:rPr lang="en-US" altLang="en-US" sz="2000" dirty="0" err="1">
                <a:cs typeface="Times New Roman" panose="02020603050405020304" pitchFamily="18" charset="0"/>
              </a:rPr>
              <a:t>bên</a:t>
            </a:r>
            <a:r>
              <a:rPr lang="en-US" altLang="en-US" sz="2000" dirty="0">
                <a:cs typeface="Times New Roman" panose="02020603050405020304" pitchFamily="18" charset="0"/>
              </a:rPr>
              <a:t> </a:t>
            </a:r>
            <a:r>
              <a:rPr lang="en-US" altLang="en-US" sz="2000" dirty="0" err="1">
                <a:cs typeface="Times New Roman" panose="02020603050405020304" pitchFamily="18" charset="0"/>
              </a:rPr>
              <a:t>trái</a:t>
            </a:r>
            <a:r>
              <a:rPr lang="en-US" altLang="en-US" sz="2000" dirty="0">
                <a:cs typeface="Times New Roman" panose="02020603050405020304" pitchFamily="18" charset="0"/>
              </a:rPr>
              <a:t>. </a:t>
            </a:r>
          </a:p>
          <a:p>
            <a:pPr lvl="2" eaLnBrk="1" hangingPunct="1"/>
            <a:endParaRPr lang="en-US" altLang="en-US" sz="1600" dirty="0">
              <a:cs typeface="Times New Roman" panose="02020603050405020304" pitchFamily="18" charset="0"/>
            </a:endParaRPr>
          </a:p>
        </p:txBody>
      </p:sp>
      <p:grpSp>
        <p:nvGrpSpPr>
          <p:cNvPr id="19462" name="Group 24"/>
          <p:cNvGrpSpPr>
            <a:grpSpLocks/>
          </p:cNvGrpSpPr>
          <p:nvPr/>
        </p:nvGrpSpPr>
        <p:grpSpPr bwMode="auto">
          <a:xfrm>
            <a:off x="4800600" y="2743200"/>
            <a:ext cx="4191000" cy="3505200"/>
            <a:chOff x="3024" y="1776"/>
            <a:chExt cx="2640" cy="2208"/>
          </a:xfrm>
        </p:grpSpPr>
        <p:sp>
          <p:nvSpPr>
            <p:cNvPr id="19463" name="Oval 5"/>
            <p:cNvSpPr>
              <a:spLocks noChangeArrowheads="1"/>
            </p:cNvSpPr>
            <p:nvPr/>
          </p:nvSpPr>
          <p:spPr bwMode="auto">
            <a:xfrm>
              <a:off x="4449" y="1776"/>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dirty="0"/>
                <a:t>1</a:t>
              </a:r>
            </a:p>
          </p:txBody>
        </p:sp>
        <p:sp>
          <p:nvSpPr>
            <p:cNvPr id="19464" name="Oval 6"/>
            <p:cNvSpPr>
              <a:spLocks noChangeArrowheads="1"/>
            </p:cNvSpPr>
            <p:nvPr/>
          </p:nvSpPr>
          <p:spPr bwMode="auto">
            <a:xfrm>
              <a:off x="5027" y="2496"/>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3</a:t>
              </a:r>
            </a:p>
          </p:txBody>
        </p:sp>
        <p:sp>
          <p:nvSpPr>
            <p:cNvPr id="19465" name="Oval 7"/>
            <p:cNvSpPr>
              <a:spLocks noChangeArrowheads="1"/>
            </p:cNvSpPr>
            <p:nvPr/>
          </p:nvSpPr>
          <p:spPr bwMode="auto">
            <a:xfrm>
              <a:off x="3909" y="2448"/>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2</a:t>
              </a:r>
            </a:p>
          </p:txBody>
        </p:sp>
        <p:sp>
          <p:nvSpPr>
            <p:cNvPr id="19466" name="Oval 8"/>
            <p:cNvSpPr>
              <a:spLocks noChangeArrowheads="1"/>
            </p:cNvSpPr>
            <p:nvPr/>
          </p:nvSpPr>
          <p:spPr bwMode="auto">
            <a:xfrm>
              <a:off x="3408" y="316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4</a:t>
              </a:r>
            </a:p>
          </p:txBody>
        </p:sp>
        <p:sp>
          <p:nvSpPr>
            <p:cNvPr id="19467" name="Oval 9"/>
            <p:cNvSpPr>
              <a:spLocks noChangeArrowheads="1"/>
            </p:cNvSpPr>
            <p:nvPr/>
          </p:nvSpPr>
          <p:spPr bwMode="auto">
            <a:xfrm>
              <a:off x="4311" y="3168"/>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5</a:t>
              </a:r>
            </a:p>
          </p:txBody>
        </p:sp>
        <p:sp>
          <p:nvSpPr>
            <p:cNvPr id="19468" name="Oval 10"/>
            <p:cNvSpPr>
              <a:spLocks noChangeArrowheads="1"/>
            </p:cNvSpPr>
            <p:nvPr/>
          </p:nvSpPr>
          <p:spPr bwMode="auto">
            <a:xfrm>
              <a:off x="4752" y="316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6</a:t>
              </a:r>
            </a:p>
          </p:txBody>
        </p:sp>
        <p:sp>
          <p:nvSpPr>
            <p:cNvPr id="19469" name="Oval 11"/>
            <p:cNvSpPr>
              <a:spLocks noChangeArrowheads="1"/>
            </p:cNvSpPr>
            <p:nvPr/>
          </p:nvSpPr>
          <p:spPr bwMode="auto">
            <a:xfrm>
              <a:off x="5433" y="3120"/>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7</a:t>
              </a:r>
            </a:p>
          </p:txBody>
        </p:sp>
        <p:sp>
          <p:nvSpPr>
            <p:cNvPr id="19470" name="Oval 12"/>
            <p:cNvSpPr>
              <a:spLocks noChangeArrowheads="1"/>
            </p:cNvSpPr>
            <p:nvPr/>
          </p:nvSpPr>
          <p:spPr bwMode="auto">
            <a:xfrm>
              <a:off x="3024" y="3744"/>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8</a:t>
              </a:r>
            </a:p>
          </p:txBody>
        </p:sp>
        <p:sp>
          <p:nvSpPr>
            <p:cNvPr id="19471" name="Line 13"/>
            <p:cNvSpPr>
              <a:spLocks noChangeShapeType="1"/>
            </p:cNvSpPr>
            <p:nvPr/>
          </p:nvSpPr>
          <p:spPr bwMode="auto">
            <a:xfrm flipH="1">
              <a:off x="4102" y="1968"/>
              <a:ext cx="410"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2" name="Line 14"/>
            <p:cNvSpPr>
              <a:spLocks noChangeShapeType="1"/>
            </p:cNvSpPr>
            <p:nvPr/>
          </p:nvSpPr>
          <p:spPr bwMode="auto">
            <a:xfrm flipH="1">
              <a:off x="3562" y="2688"/>
              <a:ext cx="386"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3" name="Line 15"/>
            <p:cNvSpPr>
              <a:spLocks noChangeShapeType="1"/>
            </p:cNvSpPr>
            <p:nvPr/>
          </p:nvSpPr>
          <p:spPr bwMode="auto">
            <a:xfrm flipH="1">
              <a:off x="4848" y="2736"/>
              <a:ext cx="24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4" name="Line 16"/>
            <p:cNvSpPr>
              <a:spLocks noChangeShapeType="1"/>
            </p:cNvSpPr>
            <p:nvPr/>
          </p:nvSpPr>
          <p:spPr bwMode="auto">
            <a:xfrm>
              <a:off x="4080" y="2688"/>
              <a:ext cx="30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5" name="Line 17"/>
            <p:cNvSpPr>
              <a:spLocks noChangeShapeType="1"/>
            </p:cNvSpPr>
            <p:nvPr/>
          </p:nvSpPr>
          <p:spPr bwMode="auto">
            <a:xfrm>
              <a:off x="4642" y="1968"/>
              <a:ext cx="446"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6" name="Line 18"/>
            <p:cNvSpPr>
              <a:spLocks noChangeShapeType="1"/>
            </p:cNvSpPr>
            <p:nvPr/>
          </p:nvSpPr>
          <p:spPr bwMode="auto">
            <a:xfrm>
              <a:off x="5232" y="2688"/>
              <a:ext cx="288"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7" name="Line 19"/>
            <p:cNvSpPr>
              <a:spLocks noChangeShapeType="1"/>
            </p:cNvSpPr>
            <p:nvPr/>
          </p:nvSpPr>
          <p:spPr bwMode="auto">
            <a:xfrm flipH="1">
              <a:off x="3142" y="3360"/>
              <a:ext cx="288"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8" name="Oval 20"/>
            <p:cNvSpPr>
              <a:spLocks noChangeArrowheads="1"/>
            </p:cNvSpPr>
            <p:nvPr/>
          </p:nvSpPr>
          <p:spPr bwMode="auto">
            <a:xfrm>
              <a:off x="3674" y="3744"/>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9</a:t>
              </a:r>
            </a:p>
          </p:txBody>
        </p:sp>
        <p:sp>
          <p:nvSpPr>
            <p:cNvPr id="19479" name="Line 21"/>
            <p:cNvSpPr>
              <a:spLocks noChangeShapeType="1"/>
            </p:cNvSpPr>
            <p:nvPr/>
          </p:nvSpPr>
          <p:spPr bwMode="auto">
            <a:xfrm>
              <a:off x="3600" y="3408"/>
              <a:ext cx="192"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80" name="Oval 22"/>
            <p:cNvSpPr>
              <a:spLocks noChangeArrowheads="1"/>
            </p:cNvSpPr>
            <p:nvPr/>
          </p:nvSpPr>
          <p:spPr bwMode="auto">
            <a:xfrm>
              <a:off x="4010" y="3744"/>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10</a:t>
              </a:r>
            </a:p>
          </p:txBody>
        </p:sp>
        <p:sp>
          <p:nvSpPr>
            <p:cNvPr id="19481" name="Line 23"/>
            <p:cNvSpPr>
              <a:spLocks noChangeShapeType="1"/>
            </p:cNvSpPr>
            <p:nvPr/>
          </p:nvSpPr>
          <p:spPr bwMode="auto">
            <a:xfrm flipH="1">
              <a:off x="4128" y="3408"/>
              <a:ext cx="24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 name="TextBox 1"/>
          <p:cNvSpPr txBox="1"/>
          <p:nvPr/>
        </p:nvSpPr>
        <p:spPr>
          <a:xfrm>
            <a:off x="7333957" y="2386568"/>
            <a:ext cx="341760" cy="400110"/>
          </a:xfrm>
          <a:prstGeom prst="rect">
            <a:avLst/>
          </a:prstGeom>
          <a:noFill/>
        </p:spPr>
        <p:txBody>
          <a:bodyPr wrap="none" rtlCol="0">
            <a:spAutoFit/>
          </a:bodyPr>
          <a:lstStyle/>
          <a:p>
            <a:r>
              <a:rPr lang="en-US" sz="2000" dirty="0"/>
              <a:t>T</a:t>
            </a:r>
          </a:p>
        </p:txBody>
      </p:sp>
    </p:spTree>
    <p:extLst>
      <p:ext uri="{BB962C8B-B14F-4D97-AF65-F5344CB8AC3E}">
        <p14:creationId xmlns:p14="http://schemas.microsoft.com/office/powerpoint/2010/main" val="8997006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p:cNvSpPr>
            <a:spLocks noGrp="1" noChangeArrowheads="1"/>
          </p:cNvSpPr>
          <p:nvPr>
            <p:ph type="title"/>
          </p:nvPr>
        </p:nvSpPr>
        <p:spPr/>
        <p:txBody>
          <a:bodyPr/>
          <a:lstStyle/>
          <a:p>
            <a:pPr eaLnBrk="1" hangingPunct="1"/>
            <a:r>
              <a:rPr lang="en-US" altLang="en-US" dirty="0" err="1">
                <a:cs typeface="Times New Roman" panose="02020603050405020304" pitchFamily="18" charset="0"/>
              </a:rPr>
              <a:t>Một</a:t>
            </a:r>
            <a:r>
              <a:rPr lang="en-US" altLang="en-US" dirty="0">
                <a:cs typeface="Times New Roman" panose="02020603050405020304" pitchFamily="18" charset="0"/>
              </a:rPr>
              <a:t> </a:t>
            </a:r>
            <a:r>
              <a:rPr lang="en-US" altLang="en-US" dirty="0" err="1">
                <a:cs typeface="Times New Roman" panose="02020603050405020304" pitchFamily="18" charset="0"/>
              </a:rPr>
              <a:t>số</a:t>
            </a:r>
            <a:r>
              <a:rPr lang="en-US" altLang="en-US" dirty="0">
                <a:cs typeface="Times New Roman" panose="02020603050405020304" pitchFamily="18" charset="0"/>
              </a:rPr>
              <a:t> </a:t>
            </a:r>
            <a:r>
              <a:rPr lang="en-US" altLang="en-US" dirty="0" err="1">
                <a:cs typeface="Times New Roman" panose="02020603050405020304" pitchFamily="18" charset="0"/>
              </a:rPr>
              <a:t>tính</a:t>
            </a:r>
            <a:r>
              <a:rPr lang="en-US" altLang="en-US" dirty="0">
                <a:cs typeface="Times New Roman" panose="02020603050405020304" pitchFamily="18" charset="0"/>
              </a:rPr>
              <a:t> </a:t>
            </a:r>
            <a:r>
              <a:rPr lang="en-US" altLang="en-US" dirty="0" err="1">
                <a:cs typeface="Times New Roman" panose="02020603050405020304" pitchFamily="18" charset="0"/>
              </a:rPr>
              <a:t>chất</a:t>
            </a:r>
            <a:r>
              <a:rPr lang="en-US" altLang="en-US" dirty="0">
                <a:cs typeface="Times New Roman" panose="02020603050405020304" pitchFamily="18" charset="0"/>
              </a:rPr>
              <a:t> </a:t>
            </a:r>
            <a:r>
              <a:rPr lang="en-US" altLang="en-US" dirty="0" err="1">
                <a:cs typeface="Times New Roman" panose="02020603050405020304" pitchFamily="18" charset="0"/>
              </a:rPr>
              <a:t>của</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nhị</a:t>
            </a:r>
            <a:r>
              <a:rPr lang="en-US" altLang="en-US" dirty="0">
                <a:cs typeface="Times New Roman" panose="02020603050405020304" pitchFamily="18" charset="0"/>
              </a:rPr>
              <a:t> </a:t>
            </a:r>
            <a:r>
              <a:rPr lang="en-US" altLang="en-US" dirty="0" err="1">
                <a:cs typeface="Times New Roman" panose="02020603050405020304" pitchFamily="18" charset="0"/>
              </a:rPr>
              <a:t>phân</a:t>
            </a:r>
            <a:r>
              <a:rPr lang="en-US" altLang="en-US" dirty="0"/>
              <a:t> </a:t>
            </a:r>
          </a:p>
        </p:txBody>
      </p:sp>
      <p:sp>
        <p:nvSpPr>
          <p:cNvPr id="20485" name="Rectangle 3"/>
          <p:cNvSpPr>
            <a:spLocks noGrp="1" noChangeArrowheads="1"/>
          </p:cNvSpPr>
          <p:nvPr>
            <p:ph type="body" sz="quarter" idx="13"/>
          </p:nvPr>
        </p:nvSpPr>
        <p:spPr>
          <a:noFill/>
        </p:spPr>
        <p:txBody>
          <a:bodyPr/>
          <a:lstStyle/>
          <a:p>
            <a:r>
              <a:rPr lang="en-US" altLang="en-US" sz="2400" dirty="0">
                <a:cs typeface="Times New Roman" panose="02020603050405020304" pitchFamily="18" charset="0"/>
              </a:rPr>
              <a:t>TC1: </a:t>
            </a:r>
            <a:r>
              <a:rPr lang="en-US" altLang="en-US" sz="2400" dirty="0" err="1">
                <a:cs typeface="Times New Roman" panose="02020603050405020304" pitchFamily="18" charset="0"/>
              </a:rPr>
              <a:t>Tính</a:t>
            </a:r>
            <a:r>
              <a:rPr lang="en-US" altLang="en-US" sz="2400" dirty="0">
                <a:cs typeface="Times New Roman" panose="02020603050405020304" pitchFamily="18" charset="0"/>
              </a:rPr>
              <a:t> </a:t>
            </a:r>
            <a:r>
              <a:rPr lang="en-US" altLang="en-US" sz="2400" dirty="0" err="1">
                <a:cs typeface="Times New Roman" panose="02020603050405020304" pitchFamily="18" charset="0"/>
              </a:rPr>
              <a:t>đệ</a:t>
            </a:r>
            <a:r>
              <a:rPr lang="en-US" altLang="en-US" sz="2400" dirty="0">
                <a:cs typeface="Times New Roman" panose="02020603050405020304" pitchFamily="18" charset="0"/>
              </a:rPr>
              <a:t> </a:t>
            </a:r>
            <a:r>
              <a:rPr lang="en-US" altLang="en-US" sz="2400" dirty="0" err="1">
                <a:cs typeface="Times New Roman" panose="02020603050405020304" pitchFamily="18" charset="0"/>
              </a:rPr>
              <a:t>quy</a:t>
            </a:r>
            <a:r>
              <a:rPr lang="en-US" altLang="en-US" sz="2400" dirty="0">
                <a:cs typeface="Times New Roman" panose="02020603050405020304" pitchFamily="18" charset="0"/>
              </a:rPr>
              <a:t>: </a:t>
            </a:r>
            <a:r>
              <a:rPr lang="en-US" altLang="en-US" sz="2400" dirty="0" err="1">
                <a:cs typeface="Times New Roman" panose="02020603050405020304" pitchFamily="18" charset="0"/>
              </a:rPr>
              <a:t>nếu</a:t>
            </a:r>
            <a:r>
              <a:rPr lang="en-US" altLang="en-US" sz="2400" dirty="0">
                <a:cs typeface="Times New Roman" panose="02020603050405020304" pitchFamily="18" charset="0"/>
              </a:rPr>
              <a:t> ta </a:t>
            </a:r>
            <a:r>
              <a:rPr lang="en-US" altLang="en-US" sz="2400" dirty="0" err="1">
                <a:cs typeface="Times New Roman" panose="02020603050405020304" pitchFamily="18" charset="0"/>
              </a:rPr>
              <a:t>chặt</a:t>
            </a:r>
            <a:r>
              <a:rPr lang="en-US" altLang="en-US" sz="2400" dirty="0">
                <a:cs typeface="Times New Roman" panose="02020603050405020304" pitchFamily="18" charset="0"/>
              </a:rPr>
              <a:t> </a:t>
            </a:r>
            <a:r>
              <a:rPr lang="en-US" altLang="en-US" sz="2400" dirty="0" err="1">
                <a:cs typeface="Times New Roman" panose="02020603050405020304" pitchFamily="18" charset="0"/>
              </a:rPr>
              <a:t>một</a:t>
            </a:r>
            <a:r>
              <a:rPr lang="en-US" altLang="en-US" sz="2400" dirty="0">
                <a:cs typeface="Times New Roman" panose="02020603050405020304" pitchFamily="18" charset="0"/>
              </a:rPr>
              <a:t> </a:t>
            </a:r>
            <a:r>
              <a:rPr lang="en-US" altLang="en-US" sz="2400" dirty="0" err="1">
                <a:cs typeface="Times New Roman" panose="02020603050405020304" pitchFamily="18" charset="0"/>
              </a:rPr>
              <a:t>nhánh</a:t>
            </a:r>
            <a:r>
              <a:rPr lang="en-US" altLang="en-US" sz="2400" dirty="0">
                <a:cs typeface="Times New Roman" panose="02020603050405020304" pitchFamily="18" charset="0"/>
              </a:rPr>
              <a:t> </a:t>
            </a:r>
            <a:r>
              <a:rPr lang="en-US" altLang="en-US" sz="2400" dirty="0" err="1">
                <a:cs typeface="Times New Roman" panose="02020603050405020304" pitchFamily="18" charset="0"/>
              </a:rPr>
              <a:t>bất</a:t>
            </a:r>
            <a:r>
              <a:rPr lang="en-US" altLang="en-US" sz="2400" dirty="0">
                <a:cs typeface="Times New Roman" panose="02020603050405020304" pitchFamily="18" charset="0"/>
              </a:rPr>
              <a:t> </a:t>
            </a:r>
            <a:r>
              <a:rPr lang="en-US" altLang="en-US" sz="2400" dirty="0" err="1">
                <a:cs typeface="Times New Roman" panose="02020603050405020304" pitchFamily="18" charset="0"/>
              </a:rPr>
              <a:t>kì</a:t>
            </a:r>
            <a:r>
              <a:rPr lang="en-US" altLang="en-US" sz="2400" dirty="0">
                <a:cs typeface="Times New Roman" panose="02020603050405020304" pitchFamily="18" charset="0"/>
              </a:rPr>
              <a:t> </a:t>
            </a:r>
            <a:r>
              <a:rPr lang="en-US" altLang="en-US" sz="2400" dirty="0" err="1">
                <a:cs typeface="Times New Roman" panose="02020603050405020304" pitchFamily="18" charset="0"/>
              </a:rPr>
              <a:t>của</a:t>
            </a:r>
            <a:r>
              <a:rPr lang="en-US" altLang="en-US" sz="2400" dirty="0">
                <a:cs typeface="Times New Roman" panose="02020603050405020304" pitchFamily="18" charset="0"/>
              </a:rPr>
              <a:t> </a:t>
            </a:r>
            <a:r>
              <a:rPr lang="en-US" altLang="en-US" sz="2400" dirty="0" err="1">
                <a:cs typeface="Times New Roman" panose="02020603050405020304" pitchFamily="18" charset="0"/>
              </a:rPr>
              <a:t>cây</a:t>
            </a:r>
            <a:r>
              <a:rPr lang="en-US" altLang="en-US" sz="2400" dirty="0">
                <a:cs typeface="Times New Roman" panose="02020603050405020304" pitchFamily="18" charset="0"/>
              </a:rPr>
              <a:t> </a:t>
            </a:r>
            <a:r>
              <a:rPr lang="en-US" altLang="en-US" sz="2400" dirty="0" err="1">
                <a:cs typeface="Times New Roman" panose="02020603050405020304" pitchFamily="18" charset="0"/>
              </a:rPr>
              <a:t>nhị</a:t>
            </a:r>
            <a:r>
              <a:rPr lang="en-US" altLang="en-US" sz="2400" dirty="0">
                <a:cs typeface="Times New Roman" panose="02020603050405020304" pitchFamily="18" charset="0"/>
              </a:rPr>
              <a:t> </a:t>
            </a:r>
            <a:r>
              <a:rPr lang="en-US" altLang="en-US" sz="2400" dirty="0" err="1">
                <a:cs typeface="Times New Roman" panose="02020603050405020304" pitchFamily="18" charset="0"/>
              </a:rPr>
              <a:t>phân</a:t>
            </a:r>
            <a:r>
              <a:rPr lang="en-US" altLang="en-US" sz="2400" dirty="0">
                <a:cs typeface="Times New Roman" panose="02020603050405020304" pitchFamily="18" charset="0"/>
              </a:rPr>
              <a:t> </a:t>
            </a:r>
            <a:r>
              <a:rPr lang="en-US" altLang="en-US" sz="2400" dirty="0" err="1">
                <a:cs typeface="Times New Roman" panose="02020603050405020304" pitchFamily="18" charset="0"/>
              </a:rPr>
              <a:t>thì</a:t>
            </a:r>
            <a:r>
              <a:rPr lang="en-US" altLang="en-US" sz="2400" dirty="0">
                <a:cs typeface="Times New Roman" panose="02020603050405020304" pitchFamily="18" charset="0"/>
              </a:rPr>
              <a:t> ta </a:t>
            </a:r>
            <a:r>
              <a:rPr lang="en-US" altLang="en-US" sz="2400" dirty="0" err="1">
                <a:cs typeface="Times New Roman" panose="02020603050405020304" pitchFamily="18" charset="0"/>
              </a:rPr>
              <a:t>sẽ</a:t>
            </a:r>
            <a:r>
              <a:rPr lang="en-US" altLang="en-US" sz="2400" dirty="0">
                <a:cs typeface="Times New Roman" panose="02020603050405020304" pitchFamily="18" charset="0"/>
              </a:rPr>
              <a:t> </a:t>
            </a:r>
            <a:r>
              <a:rPr lang="en-US" altLang="en-US" sz="2400" dirty="0" err="1">
                <a:cs typeface="Times New Roman" panose="02020603050405020304" pitchFamily="18" charset="0"/>
              </a:rPr>
              <a:t>thu</a:t>
            </a:r>
            <a:r>
              <a:rPr lang="en-US" altLang="en-US" sz="2400" dirty="0">
                <a:cs typeface="Times New Roman" panose="02020603050405020304" pitchFamily="18" charset="0"/>
              </a:rPr>
              <a:t> </a:t>
            </a:r>
            <a:r>
              <a:rPr lang="en-US" altLang="en-US" sz="2400" dirty="0" err="1">
                <a:cs typeface="Times New Roman" panose="02020603050405020304" pitchFamily="18" charset="0"/>
              </a:rPr>
              <a:t>được</a:t>
            </a:r>
            <a:r>
              <a:rPr lang="en-US" altLang="en-US" sz="2400" dirty="0">
                <a:cs typeface="Times New Roman" panose="02020603050405020304" pitchFamily="18" charset="0"/>
              </a:rPr>
              <a:t> </a:t>
            </a:r>
            <a:r>
              <a:rPr lang="en-US" altLang="en-US" sz="2400" dirty="0" err="1">
                <a:cs typeface="Times New Roman" panose="02020603050405020304" pitchFamily="18" charset="0"/>
              </a:rPr>
              <a:t>hai</a:t>
            </a:r>
            <a:r>
              <a:rPr lang="en-US" altLang="en-US" sz="2400" dirty="0">
                <a:cs typeface="Times New Roman" panose="02020603050405020304" pitchFamily="18" charset="0"/>
              </a:rPr>
              <a:t> </a:t>
            </a:r>
            <a:r>
              <a:rPr lang="en-US" altLang="en-US" sz="2400" dirty="0" err="1">
                <a:cs typeface="Times New Roman" panose="02020603050405020304" pitchFamily="18" charset="0"/>
              </a:rPr>
              <a:t>cây</a:t>
            </a:r>
            <a:r>
              <a:rPr lang="en-US" altLang="en-US" sz="2400" dirty="0">
                <a:cs typeface="Times New Roman" panose="02020603050405020304" pitchFamily="18" charset="0"/>
              </a:rPr>
              <a:t> con </a:t>
            </a:r>
            <a:r>
              <a:rPr lang="en-US" altLang="en-US" sz="2400" dirty="0" err="1">
                <a:cs typeface="Times New Roman" panose="02020603050405020304" pitchFamily="18" charset="0"/>
              </a:rPr>
              <a:t>cũng</a:t>
            </a:r>
            <a:r>
              <a:rPr lang="en-US" altLang="en-US" sz="2400" dirty="0">
                <a:cs typeface="Times New Roman" panose="02020603050405020304" pitchFamily="18" charset="0"/>
              </a:rPr>
              <a:t>  </a:t>
            </a:r>
            <a:r>
              <a:rPr lang="en-US" altLang="en-US" sz="2400" dirty="0" err="1">
                <a:cs typeface="Times New Roman" panose="02020603050405020304" pitchFamily="18" charset="0"/>
              </a:rPr>
              <a:t>đều</a:t>
            </a:r>
            <a:r>
              <a:rPr lang="en-US" altLang="en-US" sz="2400" dirty="0">
                <a:cs typeface="Times New Roman" panose="02020603050405020304" pitchFamily="18" charset="0"/>
              </a:rPr>
              <a:t> </a:t>
            </a:r>
            <a:r>
              <a:rPr lang="en-US" altLang="en-US" sz="2400" dirty="0" err="1">
                <a:cs typeface="Times New Roman" panose="02020603050405020304" pitchFamily="18" charset="0"/>
              </a:rPr>
              <a:t>là</a:t>
            </a:r>
            <a:r>
              <a:rPr lang="en-US" altLang="en-US" sz="2400" dirty="0">
                <a:cs typeface="Times New Roman" panose="02020603050405020304" pitchFamily="18" charset="0"/>
              </a:rPr>
              <a:t> </a:t>
            </a:r>
            <a:r>
              <a:rPr lang="en-US" altLang="en-US" sz="2400" dirty="0" err="1">
                <a:cs typeface="Times New Roman" panose="02020603050405020304" pitchFamily="18" charset="0"/>
              </a:rPr>
              <a:t>cây</a:t>
            </a:r>
            <a:r>
              <a:rPr lang="en-US" altLang="en-US" sz="2400" dirty="0">
                <a:cs typeface="Times New Roman" panose="02020603050405020304" pitchFamily="18" charset="0"/>
              </a:rPr>
              <a:t> </a:t>
            </a:r>
            <a:r>
              <a:rPr lang="en-US" altLang="en-US" sz="2400" dirty="0" err="1">
                <a:cs typeface="Times New Roman" panose="02020603050405020304" pitchFamily="18" charset="0"/>
              </a:rPr>
              <a:t>nhị</a:t>
            </a:r>
            <a:r>
              <a:rPr lang="en-US" altLang="en-US" sz="2400" dirty="0">
                <a:cs typeface="Times New Roman" panose="02020603050405020304" pitchFamily="18" charset="0"/>
              </a:rPr>
              <a:t> </a:t>
            </a:r>
            <a:r>
              <a:rPr lang="en-US" altLang="en-US" sz="2400" dirty="0" err="1">
                <a:cs typeface="Times New Roman" panose="02020603050405020304" pitchFamily="18" charset="0"/>
              </a:rPr>
              <a:t>phân</a:t>
            </a:r>
            <a:r>
              <a:rPr lang="en-US" altLang="en-US" sz="2400" dirty="0">
                <a:cs typeface="Times New Roman" panose="02020603050405020304" pitchFamily="18" charset="0"/>
              </a:rPr>
              <a:t>.</a:t>
            </a:r>
          </a:p>
          <a:p>
            <a:pPr>
              <a:lnSpc>
                <a:spcPct val="120000"/>
              </a:lnSpc>
            </a:pPr>
            <a:r>
              <a:rPr lang="en-US" altLang="en-US" sz="2400" dirty="0">
                <a:cs typeface="Times New Roman" panose="02020603050405020304" pitchFamily="18" charset="0"/>
              </a:rPr>
              <a:t>TC2: </a:t>
            </a:r>
            <a:r>
              <a:rPr lang="en-US" altLang="en-US" sz="2400" dirty="0" err="1">
                <a:cs typeface="Times New Roman" panose="02020603050405020304" pitchFamily="18" charset="0"/>
              </a:rPr>
              <a:t>Gọi</a:t>
            </a:r>
            <a:r>
              <a:rPr lang="en-US" altLang="en-US" sz="2400" dirty="0">
                <a:cs typeface="Times New Roman" panose="02020603050405020304" pitchFamily="18" charset="0"/>
              </a:rPr>
              <a:t> </a:t>
            </a:r>
            <a:r>
              <a:rPr lang="en-US" altLang="en-US" sz="2400" i="1" dirty="0">
                <a:cs typeface="Times New Roman" panose="02020603050405020304" pitchFamily="18" charset="0"/>
              </a:rPr>
              <a:t>h</a:t>
            </a:r>
            <a:r>
              <a:rPr lang="en-US" altLang="en-US" sz="2400" dirty="0">
                <a:cs typeface="Times New Roman" panose="02020603050405020304" pitchFamily="18" charset="0"/>
              </a:rPr>
              <a:t> </a:t>
            </a:r>
            <a:r>
              <a:rPr lang="en-US" altLang="en-US" sz="2400" dirty="0" err="1">
                <a:cs typeface="Times New Roman" panose="02020603050405020304" pitchFamily="18" charset="0"/>
              </a:rPr>
              <a:t>và</a:t>
            </a:r>
            <a:r>
              <a:rPr lang="en-US" altLang="en-US" sz="2400" dirty="0">
                <a:cs typeface="Times New Roman" panose="02020603050405020304" pitchFamily="18" charset="0"/>
              </a:rPr>
              <a:t> </a:t>
            </a:r>
            <a:r>
              <a:rPr lang="en-US" altLang="en-US" sz="2400" i="1" dirty="0">
                <a:cs typeface="Times New Roman" panose="02020603050405020304" pitchFamily="18" charset="0"/>
              </a:rPr>
              <a:t>n</a:t>
            </a:r>
            <a:r>
              <a:rPr lang="en-US" altLang="en-US" sz="2400" dirty="0">
                <a:cs typeface="Times New Roman" panose="02020603050405020304" pitchFamily="18" charset="0"/>
              </a:rPr>
              <a:t> </a:t>
            </a:r>
            <a:r>
              <a:rPr lang="en-US" altLang="en-US" sz="2400" dirty="0" err="1">
                <a:cs typeface="Times New Roman" panose="02020603050405020304" pitchFamily="18" charset="0"/>
              </a:rPr>
              <a:t>lần</a:t>
            </a:r>
            <a:r>
              <a:rPr lang="en-US" altLang="en-US" sz="2400" dirty="0">
                <a:cs typeface="Times New Roman" panose="02020603050405020304" pitchFamily="18" charset="0"/>
              </a:rPr>
              <a:t> </a:t>
            </a:r>
            <a:r>
              <a:rPr lang="en-US" altLang="en-US" sz="2400" dirty="0" err="1">
                <a:cs typeface="Times New Roman" panose="02020603050405020304" pitchFamily="18" charset="0"/>
              </a:rPr>
              <a:t>lượt</a:t>
            </a:r>
            <a:r>
              <a:rPr lang="en-US" altLang="en-US" sz="2400" dirty="0">
                <a:cs typeface="Times New Roman" panose="02020603050405020304" pitchFamily="18" charset="0"/>
              </a:rPr>
              <a:t> </a:t>
            </a:r>
            <a:r>
              <a:rPr lang="en-US" altLang="en-US" sz="2400" dirty="0" err="1">
                <a:cs typeface="Times New Roman" panose="02020603050405020304" pitchFamily="18" charset="0"/>
              </a:rPr>
              <a:t>là</a:t>
            </a:r>
            <a:r>
              <a:rPr lang="en-US" altLang="en-US" sz="2400" dirty="0">
                <a:cs typeface="Times New Roman" panose="02020603050405020304" pitchFamily="18" charset="0"/>
              </a:rPr>
              <a:t> </a:t>
            </a:r>
            <a:r>
              <a:rPr lang="en-US" altLang="en-US" sz="2400" dirty="0" err="1">
                <a:cs typeface="Times New Roman" panose="02020603050405020304" pitchFamily="18" charset="0"/>
              </a:rPr>
              <a:t>chiều</a:t>
            </a:r>
            <a:r>
              <a:rPr lang="en-US" altLang="en-US" sz="2400" dirty="0">
                <a:cs typeface="Times New Roman" panose="02020603050405020304" pitchFamily="18" charset="0"/>
              </a:rPr>
              <a:t> </a:t>
            </a:r>
            <a:r>
              <a:rPr lang="en-US" altLang="en-US" sz="2400" dirty="0" err="1">
                <a:cs typeface="Times New Roman" panose="02020603050405020304" pitchFamily="18" charset="0"/>
              </a:rPr>
              <a:t>cao</a:t>
            </a:r>
            <a:r>
              <a:rPr lang="en-US" altLang="en-US" sz="2400" dirty="0">
                <a:cs typeface="Times New Roman" panose="02020603050405020304" pitchFamily="18" charset="0"/>
              </a:rPr>
              <a:t> </a:t>
            </a:r>
            <a:r>
              <a:rPr lang="en-US" altLang="en-US" sz="2400" dirty="0" err="1">
                <a:cs typeface="Times New Roman" panose="02020603050405020304" pitchFamily="18" charset="0"/>
              </a:rPr>
              <a:t>và</a:t>
            </a:r>
            <a:r>
              <a:rPr lang="en-US" altLang="en-US" sz="2400" dirty="0">
                <a:cs typeface="Times New Roman" panose="02020603050405020304" pitchFamily="18" charset="0"/>
              </a:rPr>
              <a:t> </a:t>
            </a:r>
            <a:r>
              <a:rPr lang="en-US" altLang="en-US" sz="2400" dirty="0" err="1">
                <a:cs typeface="Times New Roman" panose="02020603050405020304" pitchFamily="18" charset="0"/>
              </a:rPr>
              <a:t>kích</a:t>
            </a:r>
            <a:r>
              <a:rPr lang="en-US" altLang="en-US" sz="2400" dirty="0">
                <a:cs typeface="Times New Roman" panose="02020603050405020304" pitchFamily="18" charset="0"/>
              </a:rPr>
              <a:t> </a:t>
            </a:r>
            <a:r>
              <a:rPr lang="en-US" altLang="en-US" sz="2400" dirty="0" err="1">
                <a:cs typeface="Times New Roman" panose="02020603050405020304" pitchFamily="18" charset="0"/>
              </a:rPr>
              <a:t>thước</a:t>
            </a:r>
            <a:r>
              <a:rPr lang="en-US" altLang="en-US" sz="2400" dirty="0">
                <a:cs typeface="Times New Roman" panose="02020603050405020304" pitchFamily="18" charset="0"/>
              </a:rPr>
              <a:t> </a:t>
            </a:r>
            <a:r>
              <a:rPr lang="en-US" altLang="en-US" sz="2400" dirty="0" err="1">
                <a:cs typeface="Times New Roman" panose="02020603050405020304" pitchFamily="18" charset="0"/>
              </a:rPr>
              <a:t>của</a:t>
            </a:r>
            <a:r>
              <a:rPr lang="en-US" altLang="en-US" sz="2400" dirty="0">
                <a:cs typeface="Times New Roman" panose="02020603050405020304" pitchFamily="18" charset="0"/>
              </a:rPr>
              <a:t> </a:t>
            </a:r>
            <a:r>
              <a:rPr lang="en-US" altLang="en-US" sz="2400" dirty="0" err="1">
                <a:cs typeface="Times New Roman" panose="02020603050405020304" pitchFamily="18" charset="0"/>
              </a:rPr>
              <a:t>cây</a:t>
            </a:r>
            <a:r>
              <a:rPr lang="en-US" altLang="en-US" sz="2400" dirty="0">
                <a:cs typeface="Times New Roman" panose="02020603050405020304" pitchFamily="18" charset="0"/>
              </a:rPr>
              <a:t> </a:t>
            </a:r>
            <a:r>
              <a:rPr lang="en-US" altLang="en-US" sz="2400" dirty="0" err="1">
                <a:cs typeface="Times New Roman" panose="02020603050405020304" pitchFamily="18" charset="0"/>
              </a:rPr>
              <a:t>nhị</a:t>
            </a:r>
            <a:r>
              <a:rPr lang="en-US" altLang="en-US" sz="2400" dirty="0">
                <a:cs typeface="Times New Roman" panose="02020603050405020304" pitchFamily="18" charset="0"/>
              </a:rPr>
              <a:t> </a:t>
            </a:r>
            <a:r>
              <a:rPr lang="en-US" altLang="en-US" sz="2400" dirty="0" err="1">
                <a:cs typeface="Times New Roman" panose="02020603050405020304" pitchFamily="18" charset="0"/>
              </a:rPr>
              <a:t>phân</a:t>
            </a:r>
            <a:r>
              <a:rPr lang="en-US" altLang="en-US" sz="2400" dirty="0">
                <a:cs typeface="Times New Roman" panose="02020603050405020304" pitchFamily="18" charset="0"/>
              </a:rPr>
              <a:t> </a:t>
            </a:r>
            <a:r>
              <a:rPr lang="en-US" altLang="en-US" sz="2400" dirty="0" err="1">
                <a:cs typeface="Times New Roman" panose="02020603050405020304" pitchFamily="18" charset="0"/>
              </a:rPr>
              <a:t>thì</a:t>
            </a:r>
            <a:r>
              <a:rPr lang="en-US" altLang="en-US" sz="2400" dirty="0">
                <a:cs typeface="Times New Roman" panose="02020603050405020304" pitchFamily="18" charset="0"/>
              </a:rPr>
              <a:t> ta </a:t>
            </a:r>
            <a:r>
              <a:rPr lang="en-US" altLang="en-US" sz="2400" dirty="0" err="1">
                <a:cs typeface="Times New Roman" panose="02020603050405020304" pitchFamily="18" charset="0"/>
              </a:rPr>
              <a:t>luôn</a:t>
            </a:r>
            <a:r>
              <a:rPr lang="en-US" altLang="en-US" sz="2400" dirty="0">
                <a:cs typeface="Times New Roman" panose="02020603050405020304" pitchFamily="18" charset="0"/>
              </a:rPr>
              <a:t> </a:t>
            </a:r>
            <a:r>
              <a:rPr lang="en-US" altLang="en-US" sz="2400" dirty="0" err="1">
                <a:cs typeface="Times New Roman" panose="02020603050405020304" pitchFamily="18" charset="0"/>
              </a:rPr>
              <a:t>có</a:t>
            </a:r>
            <a:r>
              <a:rPr lang="en-US" altLang="en-US" sz="2400" dirty="0">
                <a:cs typeface="Times New Roman" panose="02020603050405020304" pitchFamily="18" charset="0"/>
              </a:rPr>
              <a:t>: log</a:t>
            </a:r>
            <a:r>
              <a:rPr lang="en-US" altLang="en-US" sz="2400" baseline="-30000" dirty="0">
                <a:cs typeface="Times New Roman" panose="02020603050405020304" pitchFamily="18" charset="0"/>
              </a:rPr>
              <a:t>2</a:t>
            </a:r>
            <a:r>
              <a:rPr lang="en-US" altLang="en-US" sz="2400" dirty="0">
                <a:cs typeface="Times New Roman" panose="02020603050405020304" pitchFamily="18" charset="0"/>
              </a:rPr>
              <a:t>(n+1) ≤ h+1 ≤ n  </a:t>
            </a:r>
            <a:endParaRPr lang="en-US" altLang="en-US" sz="2800" dirty="0">
              <a:cs typeface="Times New Roman" panose="02020603050405020304" pitchFamily="18" charset="0"/>
            </a:endParaRPr>
          </a:p>
        </p:txBody>
      </p:sp>
      <p:grpSp>
        <p:nvGrpSpPr>
          <p:cNvPr id="20486" name="Group 24"/>
          <p:cNvGrpSpPr>
            <a:grpSpLocks/>
          </p:cNvGrpSpPr>
          <p:nvPr/>
        </p:nvGrpSpPr>
        <p:grpSpPr bwMode="auto">
          <a:xfrm>
            <a:off x="5029200" y="2438400"/>
            <a:ext cx="3810000" cy="3505200"/>
            <a:chOff x="3024" y="1776"/>
            <a:chExt cx="2640" cy="2208"/>
          </a:xfrm>
        </p:grpSpPr>
        <p:sp>
          <p:nvSpPr>
            <p:cNvPr id="20507" name="Oval 25"/>
            <p:cNvSpPr>
              <a:spLocks noChangeArrowheads="1"/>
            </p:cNvSpPr>
            <p:nvPr/>
          </p:nvSpPr>
          <p:spPr bwMode="auto">
            <a:xfrm>
              <a:off x="4449" y="1776"/>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1</a:t>
              </a:r>
            </a:p>
          </p:txBody>
        </p:sp>
        <p:sp>
          <p:nvSpPr>
            <p:cNvPr id="20508" name="Oval 26"/>
            <p:cNvSpPr>
              <a:spLocks noChangeArrowheads="1"/>
            </p:cNvSpPr>
            <p:nvPr/>
          </p:nvSpPr>
          <p:spPr bwMode="auto">
            <a:xfrm>
              <a:off x="5027" y="2496"/>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3</a:t>
              </a:r>
            </a:p>
          </p:txBody>
        </p:sp>
        <p:sp>
          <p:nvSpPr>
            <p:cNvPr id="20509" name="Oval 27"/>
            <p:cNvSpPr>
              <a:spLocks noChangeArrowheads="1"/>
            </p:cNvSpPr>
            <p:nvPr/>
          </p:nvSpPr>
          <p:spPr bwMode="auto">
            <a:xfrm>
              <a:off x="3909" y="2448"/>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2</a:t>
              </a:r>
            </a:p>
          </p:txBody>
        </p:sp>
        <p:sp>
          <p:nvSpPr>
            <p:cNvPr id="20510" name="Oval 28"/>
            <p:cNvSpPr>
              <a:spLocks noChangeArrowheads="1"/>
            </p:cNvSpPr>
            <p:nvPr/>
          </p:nvSpPr>
          <p:spPr bwMode="auto">
            <a:xfrm>
              <a:off x="3408" y="316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4</a:t>
              </a:r>
            </a:p>
          </p:txBody>
        </p:sp>
        <p:sp>
          <p:nvSpPr>
            <p:cNvPr id="20511" name="Oval 29"/>
            <p:cNvSpPr>
              <a:spLocks noChangeArrowheads="1"/>
            </p:cNvSpPr>
            <p:nvPr/>
          </p:nvSpPr>
          <p:spPr bwMode="auto">
            <a:xfrm>
              <a:off x="4311" y="3168"/>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5</a:t>
              </a:r>
            </a:p>
          </p:txBody>
        </p:sp>
        <p:sp>
          <p:nvSpPr>
            <p:cNvPr id="20512" name="Oval 30"/>
            <p:cNvSpPr>
              <a:spLocks noChangeArrowheads="1"/>
            </p:cNvSpPr>
            <p:nvPr/>
          </p:nvSpPr>
          <p:spPr bwMode="auto">
            <a:xfrm>
              <a:off x="4752" y="316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6</a:t>
              </a:r>
            </a:p>
          </p:txBody>
        </p:sp>
        <p:sp>
          <p:nvSpPr>
            <p:cNvPr id="20513" name="Oval 31"/>
            <p:cNvSpPr>
              <a:spLocks noChangeArrowheads="1"/>
            </p:cNvSpPr>
            <p:nvPr/>
          </p:nvSpPr>
          <p:spPr bwMode="auto">
            <a:xfrm>
              <a:off x="5433" y="3120"/>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7</a:t>
              </a:r>
            </a:p>
          </p:txBody>
        </p:sp>
        <p:sp>
          <p:nvSpPr>
            <p:cNvPr id="20514" name="Oval 32"/>
            <p:cNvSpPr>
              <a:spLocks noChangeArrowheads="1"/>
            </p:cNvSpPr>
            <p:nvPr/>
          </p:nvSpPr>
          <p:spPr bwMode="auto">
            <a:xfrm>
              <a:off x="3024" y="3744"/>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8</a:t>
              </a:r>
            </a:p>
          </p:txBody>
        </p:sp>
        <p:sp>
          <p:nvSpPr>
            <p:cNvPr id="20515" name="Line 33"/>
            <p:cNvSpPr>
              <a:spLocks noChangeShapeType="1"/>
            </p:cNvSpPr>
            <p:nvPr/>
          </p:nvSpPr>
          <p:spPr bwMode="auto">
            <a:xfrm flipH="1">
              <a:off x="4102" y="1968"/>
              <a:ext cx="410"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16" name="Line 34"/>
            <p:cNvSpPr>
              <a:spLocks noChangeShapeType="1"/>
            </p:cNvSpPr>
            <p:nvPr/>
          </p:nvSpPr>
          <p:spPr bwMode="auto">
            <a:xfrm flipH="1">
              <a:off x="3562" y="2688"/>
              <a:ext cx="386"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17" name="Line 35"/>
            <p:cNvSpPr>
              <a:spLocks noChangeShapeType="1"/>
            </p:cNvSpPr>
            <p:nvPr/>
          </p:nvSpPr>
          <p:spPr bwMode="auto">
            <a:xfrm flipH="1">
              <a:off x="4848" y="2736"/>
              <a:ext cx="24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18" name="Line 36"/>
            <p:cNvSpPr>
              <a:spLocks noChangeShapeType="1"/>
            </p:cNvSpPr>
            <p:nvPr/>
          </p:nvSpPr>
          <p:spPr bwMode="auto">
            <a:xfrm>
              <a:off x="4080" y="2688"/>
              <a:ext cx="30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19" name="Line 37"/>
            <p:cNvSpPr>
              <a:spLocks noChangeShapeType="1"/>
            </p:cNvSpPr>
            <p:nvPr/>
          </p:nvSpPr>
          <p:spPr bwMode="auto">
            <a:xfrm>
              <a:off x="4642" y="1968"/>
              <a:ext cx="446"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20" name="Line 38"/>
            <p:cNvSpPr>
              <a:spLocks noChangeShapeType="1"/>
            </p:cNvSpPr>
            <p:nvPr/>
          </p:nvSpPr>
          <p:spPr bwMode="auto">
            <a:xfrm>
              <a:off x="5232" y="2688"/>
              <a:ext cx="288"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21" name="Line 39"/>
            <p:cNvSpPr>
              <a:spLocks noChangeShapeType="1"/>
            </p:cNvSpPr>
            <p:nvPr/>
          </p:nvSpPr>
          <p:spPr bwMode="auto">
            <a:xfrm flipH="1">
              <a:off x="3142" y="3360"/>
              <a:ext cx="288"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22" name="Oval 40"/>
            <p:cNvSpPr>
              <a:spLocks noChangeArrowheads="1"/>
            </p:cNvSpPr>
            <p:nvPr/>
          </p:nvSpPr>
          <p:spPr bwMode="auto">
            <a:xfrm>
              <a:off x="3674" y="3744"/>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9</a:t>
              </a:r>
            </a:p>
          </p:txBody>
        </p:sp>
        <p:sp>
          <p:nvSpPr>
            <p:cNvPr id="20523" name="Line 41"/>
            <p:cNvSpPr>
              <a:spLocks noChangeShapeType="1"/>
            </p:cNvSpPr>
            <p:nvPr/>
          </p:nvSpPr>
          <p:spPr bwMode="auto">
            <a:xfrm>
              <a:off x="3600" y="3408"/>
              <a:ext cx="192"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24" name="Oval 42"/>
            <p:cNvSpPr>
              <a:spLocks noChangeArrowheads="1"/>
            </p:cNvSpPr>
            <p:nvPr/>
          </p:nvSpPr>
          <p:spPr bwMode="auto">
            <a:xfrm>
              <a:off x="4010" y="3744"/>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10</a:t>
              </a:r>
            </a:p>
          </p:txBody>
        </p:sp>
        <p:sp>
          <p:nvSpPr>
            <p:cNvPr id="20525" name="Line 43"/>
            <p:cNvSpPr>
              <a:spLocks noChangeShapeType="1"/>
            </p:cNvSpPr>
            <p:nvPr/>
          </p:nvSpPr>
          <p:spPr bwMode="auto">
            <a:xfrm flipH="1">
              <a:off x="4128" y="3408"/>
              <a:ext cx="24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0487" name="Group 44"/>
          <p:cNvGrpSpPr>
            <a:grpSpLocks/>
          </p:cNvGrpSpPr>
          <p:nvPr/>
        </p:nvGrpSpPr>
        <p:grpSpPr bwMode="auto">
          <a:xfrm>
            <a:off x="1828800" y="3352800"/>
            <a:ext cx="2971800" cy="2590800"/>
            <a:chOff x="3312" y="1776"/>
            <a:chExt cx="2256" cy="1632"/>
          </a:xfrm>
        </p:grpSpPr>
        <p:sp>
          <p:nvSpPr>
            <p:cNvPr id="20494" name="Oval 45"/>
            <p:cNvSpPr>
              <a:spLocks noChangeArrowheads="1"/>
            </p:cNvSpPr>
            <p:nvPr/>
          </p:nvSpPr>
          <p:spPr bwMode="auto">
            <a:xfrm>
              <a:off x="4353" y="1776"/>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1</a:t>
              </a:r>
            </a:p>
          </p:txBody>
        </p:sp>
        <p:sp>
          <p:nvSpPr>
            <p:cNvPr id="20495" name="Oval 46"/>
            <p:cNvSpPr>
              <a:spLocks noChangeArrowheads="1"/>
            </p:cNvSpPr>
            <p:nvPr/>
          </p:nvSpPr>
          <p:spPr bwMode="auto">
            <a:xfrm>
              <a:off x="4931" y="2496"/>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3</a:t>
              </a:r>
            </a:p>
          </p:txBody>
        </p:sp>
        <p:sp>
          <p:nvSpPr>
            <p:cNvPr id="20496" name="Oval 47"/>
            <p:cNvSpPr>
              <a:spLocks noChangeArrowheads="1"/>
            </p:cNvSpPr>
            <p:nvPr/>
          </p:nvSpPr>
          <p:spPr bwMode="auto">
            <a:xfrm>
              <a:off x="3813" y="2448"/>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2</a:t>
              </a:r>
            </a:p>
          </p:txBody>
        </p:sp>
        <p:sp>
          <p:nvSpPr>
            <p:cNvPr id="20497" name="Oval 48"/>
            <p:cNvSpPr>
              <a:spLocks noChangeArrowheads="1"/>
            </p:cNvSpPr>
            <p:nvPr/>
          </p:nvSpPr>
          <p:spPr bwMode="auto">
            <a:xfrm>
              <a:off x="3312" y="316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4</a:t>
              </a:r>
            </a:p>
          </p:txBody>
        </p:sp>
        <p:sp>
          <p:nvSpPr>
            <p:cNvPr id="20498" name="Oval 49"/>
            <p:cNvSpPr>
              <a:spLocks noChangeArrowheads="1"/>
            </p:cNvSpPr>
            <p:nvPr/>
          </p:nvSpPr>
          <p:spPr bwMode="auto">
            <a:xfrm>
              <a:off x="4215" y="3168"/>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5</a:t>
              </a:r>
            </a:p>
          </p:txBody>
        </p:sp>
        <p:sp>
          <p:nvSpPr>
            <p:cNvPr id="20499" name="Oval 50"/>
            <p:cNvSpPr>
              <a:spLocks noChangeArrowheads="1"/>
            </p:cNvSpPr>
            <p:nvPr/>
          </p:nvSpPr>
          <p:spPr bwMode="auto">
            <a:xfrm>
              <a:off x="4656" y="316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6</a:t>
              </a:r>
            </a:p>
          </p:txBody>
        </p:sp>
        <p:sp>
          <p:nvSpPr>
            <p:cNvPr id="20500" name="Oval 51"/>
            <p:cNvSpPr>
              <a:spLocks noChangeArrowheads="1"/>
            </p:cNvSpPr>
            <p:nvPr/>
          </p:nvSpPr>
          <p:spPr bwMode="auto">
            <a:xfrm>
              <a:off x="5337" y="3120"/>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7</a:t>
              </a:r>
            </a:p>
          </p:txBody>
        </p:sp>
        <p:sp>
          <p:nvSpPr>
            <p:cNvPr id="20501" name="Line 52"/>
            <p:cNvSpPr>
              <a:spLocks noChangeShapeType="1"/>
            </p:cNvSpPr>
            <p:nvPr/>
          </p:nvSpPr>
          <p:spPr bwMode="auto">
            <a:xfrm flipH="1">
              <a:off x="4006" y="1968"/>
              <a:ext cx="347"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2" name="Line 53"/>
            <p:cNvSpPr>
              <a:spLocks noChangeShapeType="1"/>
            </p:cNvSpPr>
            <p:nvPr/>
          </p:nvSpPr>
          <p:spPr bwMode="auto">
            <a:xfrm flipH="1">
              <a:off x="3466" y="2688"/>
              <a:ext cx="386"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3" name="Line 54"/>
            <p:cNvSpPr>
              <a:spLocks noChangeShapeType="1"/>
            </p:cNvSpPr>
            <p:nvPr/>
          </p:nvSpPr>
          <p:spPr bwMode="auto">
            <a:xfrm flipH="1">
              <a:off x="4752" y="2736"/>
              <a:ext cx="24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4" name="Line 55"/>
            <p:cNvSpPr>
              <a:spLocks noChangeShapeType="1"/>
            </p:cNvSpPr>
            <p:nvPr/>
          </p:nvSpPr>
          <p:spPr bwMode="auto">
            <a:xfrm>
              <a:off x="3984" y="2688"/>
              <a:ext cx="30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5" name="Line 56"/>
            <p:cNvSpPr>
              <a:spLocks noChangeShapeType="1"/>
            </p:cNvSpPr>
            <p:nvPr/>
          </p:nvSpPr>
          <p:spPr bwMode="auto">
            <a:xfrm>
              <a:off x="4546" y="1968"/>
              <a:ext cx="446"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6" name="Line 57"/>
            <p:cNvSpPr>
              <a:spLocks noChangeShapeType="1"/>
            </p:cNvSpPr>
            <p:nvPr/>
          </p:nvSpPr>
          <p:spPr bwMode="auto">
            <a:xfrm>
              <a:off x="5136" y="2688"/>
              <a:ext cx="288"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0488" name="Group 58"/>
          <p:cNvGrpSpPr>
            <a:grpSpLocks/>
          </p:cNvGrpSpPr>
          <p:nvPr/>
        </p:nvGrpSpPr>
        <p:grpSpPr bwMode="auto">
          <a:xfrm>
            <a:off x="685800" y="3352800"/>
            <a:ext cx="990600" cy="2590800"/>
            <a:chOff x="1941" y="2016"/>
            <a:chExt cx="771" cy="1632"/>
          </a:xfrm>
        </p:grpSpPr>
        <p:sp>
          <p:nvSpPr>
            <p:cNvPr id="20489" name="Oval 59"/>
            <p:cNvSpPr>
              <a:spLocks noChangeArrowheads="1"/>
            </p:cNvSpPr>
            <p:nvPr/>
          </p:nvSpPr>
          <p:spPr bwMode="auto">
            <a:xfrm>
              <a:off x="2481" y="2016"/>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1</a:t>
              </a:r>
            </a:p>
          </p:txBody>
        </p:sp>
        <p:sp>
          <p:nvSpPr>
            <p:cNvPr id="20490" name="Oval 60"/>
            <p:cNvSpPr>
              <a:spLocks noChangeArrowheads="1"/>
            </p:cNvSpPr>
            <p:nvPr/>
          </p:nvSpPr>
          <p:spPr bwMode="auto">
            <a:xfrm>
              <a:off x="1941" y="2688"/>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2</a:t>
              </a:r>
            </a:p>
          </p:txBody>
        </p:sp>
        <p:sp>
          <p:nvSpPr>
            <p:cNvPr id="20491" name="Oval 61"/>
            <p:cNvSpPr>
              <a:spLocks noChangeArrowheads="1"/>
            </p:cNvSpPr>
            <p:nvPr/>
          </p:nvSpPr>
          <p:spPr bwMode="auto">
            <a:xfrm>
              <a:off x="2343" y="3408"/>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3</a:t>
              </a:r>
            </a:p>
          </p:txBody>
        </p:sp>
        <p:sp>
          <p:nvSpPr>
            <p:cNvPr id="20492" name="Line 62"/>
            <p:cNvSpPr>
              <a:spLocks noChangeShapeType="1"/>
            </p:cNvSpPr>
            <p:nvPr/>
          </p:nvSpPr>
          <p:spPr bwMode="auto">
            <a:xfrm flipH="1">
              <a:off x="2134" y="2208"/>
              <a:ext cx="347"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3" name="Line 63"/>
            <p:cNvSpPr>
              <a:spLocks noChangeShapeType="1"/>
            </p:cNvSpPr>
            <p:nvPr/>
          </p:nvSpPr>
          <p:spPr bwMode="auto">
            <a:xfrm>
              <a:off x="2112" y="2928"/>
              <a:ext cx="30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2929958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p:nvPr>
        </p:nvSpPr>
        <p:spPr/>
        <p:txBody>
          <a:bodyPr/>
          <a:lstStyle/>
          <a:p>
            <a:pPr eaLnBrk="1" hangingPunct="1"/>
            <a:r>
              <a:rPr lang="en-US" altLang="en-US" dirty="0" err="1">
                <a:cs typeface="Times New Roman" panose="02020603050405020304" pitchFamily="18" charset="0"/>
              </a:rPr>
              <a:t>Một</a:t>
            </a:r>
            <a:r>
              <a:rPr lang="en-US" altLang="en-US" dirty="0">
                <a:cs typeface="Times New Roman" panose="02020603050405020304" pitchFamily="18" charset="0"/>
              </a:rPr>
              <a:t> </a:t>
            </a:r>
            <a:r>
              <a:rPr lang="en-US" altLang="en-US" dirty="0" err="1">
                <a:cs typeface="Times New Roman" panose="02020603050405020304" pitchFamily="18" charset="0"/>
              </a:rPr>
              <a:t>số</a:t>
            </a:r>
            <a:r>
              <a:rPr lang="en-US" altLang="en-US" dirty="0">
                <a:cs typeface="Times New Roman" panose="02020603050405020304" pitchFamily="18" charset="0"/>
              </a:rPr>
              <a:t> </a:t>
            </a:r>
            <a:r>
              <a:rPr lang="en-US" altLang="en-US" dirty="0" err="1">
                <a:cs typeface="Times New Roman" panose="02020603050405020304" pitchFamily="18" charset="0"/>
              </a:rPr>
              <a:t>tính</a:t>
            </a:r>
            <a:r>
              <a:rPr lang="en-US" altLang="en-US" dirty="0">
                <a:cs typeface="Times New Roman" panose="02020603050405020304" pitchFamily="18" charset="0"/>
              </a:rPr>
              <a:t> </a:t>
            </a:r>
            <a:r>
              <a:rPr lang="en-US" altLang="en-US" dirty="0" err="1">
                <a:cs typeface="Times New Roman" panose="02020603050405020304" pitchFamily="18" charset="0"/>
              </a:rPr>
              <a:t>chất</a:t>
            </a:r>
            <a:r>
              <a:rPr lang="en-US" altLang="en-US" dirty="0">
                <a:cs typeface="Times New Roman" panose="02020603050405020304" pitchFamily="18" charset="0"/>
              </a:rPr>
              <a:t> </a:t>
            </a:r>
            <a:r>
              <a:rPr lang="en-US" altLang="en-US" dirty="0" err="1">
                <a:cs typeface="Times New Roman" panose="02020603050405020304" pitchFamily="18" charset="0"/>
              </a:rPr>
              <a:t>của</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nhị</a:t>
            </a:r>
            <a:r>
              <a:rPr lang="en-US" altLang="en-US" dirty="0">
                <a:cs typeface="Times New Roman" panose="02020603050405020304" pitchFamily="18" charset="0"/>
              </a:rPr>
              <a:t> </a:t>
            </a:r>
            <a:r>
              <a:rPr lang="en-US" altLang="en-US" dirty="0" err="1">
                <a:cs typeface="Times New Roman" panose="02020603050405020304" pitchFamily="18" charset="0"/>
              </a:rPr>
              <a:t>phân</a:t>
            </a:r>
            <a:r>
              <a:rPr lang="en-US" altLang="en-US" dirty="0"/>
              <a:t> </a:t>
            </a:r>
          </a:p>
        </p:txBody>
      </p:sp>
      <p:sp>
        <p:nvSpPr>
          <p:cNvPr id="21509" name="Rectangle 3"/>
          <p:cNvSpPr>
            <a:spLocks noGrp="1" noChangeArrowheads="1"/>
          </p:cNvSpPr>
          <p:nvPr>
            <p:ph type="body" sz="quarter" idx="13"/>
          </p:nvPr>
        </p:nvSpPr>
        <p:spPr>
          <a:noFill/>
        </p:spPr>
        <p:txBody>
          <a:bodyPr/>
          <a:lstStyle/>
          <a:p>
            <a:r>
              <a:rPr lang="en-US" altLang="en-US" sz="2400" dirty="0">
                <a:cs typeface="Times New Roman" panose="02020603050405020304" pitchFamily="18" charset="0"/>
              </a:rPr>
              <a:t>TC3: </a:t>
            </a:r>
            <a:r>
              <a:rPr lang="en-US" altLang="en-US" sz="2400" dirty="0" err="1">
                <a:cs typeface="Times New Roman" panose="02020603050405020304" pitchFamily="18" charset="0"/>
              </a:rPr>
              <a:t>Đối</a:t>
            </a:r>
            <a:r>
              <a:rPr lang="en-US" altLang="en-US" sz="2400" dirty="0">
                <a:cs typeface="Times New Roman" panose="02020603050405020304" pitchFamily="18" charset="0"/>
              </a:rPr>
              <a:t> </a:t>
            </a:r>
            <a:r>
              <a:rPr lang="en-US" altLang="en-US" sz="2400" dirty="0" err="1">
                <a:cs typeface="Times New Roman" panose="02020603050405020304" pitchFamily="18" charset="0"/>
              </a:rPr>
              <a:t>với</a:t>
            </a:r>
            <a:r>
              <a:rPr lang="en-US" altLang="en-US" sz="2400" dirty="0">
                <a:cs typeface="Times New Roman" panose="02020603050405020304" pitchFamily="18" charset="0"/>
              </a:rPr>
              <a:t> </a:t>
            </a:r>
            <a:r>
              <a:rPr lang="en-US" altLang="en-US" sz="2400" dirty="0" err="1">
                <a:cs typeface="Times New Roman" panose="02020603050405020304" pitchFamily="18" charset="0"/>
              </a:rPr>
              <a:t>cây</a:t>
            </a:r>
            <a:r>
              <a:rPr lang="en-US" altLang="en-US" sz="2400" dirty="0">
                <a:cs typeface="Times New Roman" panose="02020603050405020304" pitchFamily="18" charset="0"/>
              </a:rPr>
              <a:t> </a:t>
            </a:r>
            <a:r>
              <a:rPr lang="en-US" altLang="en-US" sz="2400" dirty="0" err="1">
                <a:cs typeface="Times New Roman" panose="02020603050405020304" pitchFamily="18" charset="0"/>
              </a:rPr>
              <a:t>hoàn</a:t>
            </a:r>
            <a:r>
              <a:rPr lang="en-US" altLang="en-US" sz="2400" dirty="0">
                <a:cs typeface="Times New Roman" panose="02020603050405020304" pitchFamily="18" charset="0"/>
              </a:rPr>
              <a:t> </a:t>
            </a:r>
            <a:r>
              <a:rPr lang="en-US" altLang="en-US" sz="2400" dirty="0" err="1">
                <a:cs typeface="Times New Roman" panose="02020603050405020304" pitchFamily="18" charset="0"/>
              </a:rPr>
              <a:t>chỉnh</a:t>
            </a:r>
            <a:r>
              <a:rPr lang="en-US" altLang="en-US" sz="2400" dirty="0">
                <a:cs typeface="Times New Roman" panose="02020603050405020304" pitchFamily="18" charset="0"/>
              </a:rPr>
              <a:t> </a:t>
            </a:r>
            <a:r>
              <a:rPr lang="en-US" altLang="en-US" sz="2400" dirty="0" err="1">
                <a:cs typeface="Times New Roman" panose="02020603050405020304" pitchFamily="18" charset="0"/>
              </a:rPr>
              <a:t>và</a:t>
            </a:r>
            <a:r>
              <a:rPr lang="en-US" altLang="en-US" sz="2400" dirty="0">
                <a:cs typeface="Times New Roman" panose="02020603050405020304" pitchFamily="18" charset="0"/>
              </a:rPr>
              <a:t> </a:t>
            </a:r>
            <a:r>
              <a:rPr lang="en-US" altLang="en-US" sz="2400" dirty="0" err="1">
                <a:cs typeface="Times New Roman" panose="02020603050405020304" pitchFamily="18" charset="0"/>
              </a:rPr>
              <a:t>cây</a:t>
            </a:r>
            <a:r>
              <a:rPr lang="en-US" altLang="en-US" sz="2400" dirty="0">
                <a:cs typeface="Times New Roman" panose="02020603050405020304" pitchFamily="18" charset="0"/>
              </a:rPr>
              <a:t> </a:t>
            </a:r>
            <a:r>
              <a:rPr lang="en-US" altLang="en-US" sz="2400" dirty="0" err="1">
                <a:cs typeface="Times New Roman" panose="02020603050405020304" pitchFamily="18" charset="0"/>
              </a:rPr>
              <a:t>đầy</a:t>
            </a:r>
            <a:r>
              <a:rPr lang="en-US" altLang="en-US" sz="2400" dirty="0">
                <a:cs typeface="Times New Roman" panose="02020603050405020304" pitchFamily="18" charset="0"/>
              </a:rPr>
              <a:t> </a:t>
            </a:r>
            <a:r>
              <a:rPr lang="en-US" altLang="en-US" sz="2400" dirty="0" err="1">
                <a:cs typeface="Times New Roman" panose="02020603050405020304" pitchFamily="18" charset="0"/>
              </a:rPr>
              <a:t>đủ</a:t>
            </a:r>
            <a:r>
              <a:rPr lang="en-US" altLang="en-US" sz="2400" dirty="0">
                <a:cs typeface="Times New Roman" panose="02020603050405020304" pitchFamily="18" charset="0"/>
              </a:rPr>
              <a:t>: </a:t>
            </a:r>
            <a:r>
              <a:rPr lang="en-US" altLang="en-US" sz="2400" dirty="0" err="1">
                <a:cs typeface="Times New Roman" panose="02020603050405020304" pitchFamily="18" charset="0"/>
              </a:rPr>
              <a:t>nếu</a:t>
            </a:r>
            <a:r>
              <a:rPr lang="en-US" altLang="en-US" sz="2400" dirty="0">
                <a:cs typeface="Times New Roman" panose="02020603050405020304" pitchFamily="18" charset="0"/>
              </a:rPr>
              <a:t> ta </a:t>
            </a:r>
            <a:r>
              <a:rPr lang="en-US" altLang="en-US" sz="2400" dirty="0" err="1">
                <a:cs typeface="Times New Roman" panose="02020603050405020304" pitchFamily="18" charset="0"/>
              </a:rPr>
              <a:t>đánh</a:t>
            </a:r>
            <a:r>
              <a:rPr lang="en-US" altLang="en-US" sz="2400" dirty="0">
                <a:cs typeface="Times New Roman" panose="02020603050405020304" pitchFamily="18" charset="0"/>
              </a:rPr>
              <a:t> </a:t>
            </a:r>
            <a:r>
              <a:rPr lang="en-US" altLang="en-US" sz="2400" dirty="0" err="1">
                <a:cs typeface="Times New Roman" panose="02020603050405020304" pitchFamily="18" charset="0"/>
              </a:rPr>
              <a:t>số</a:t>
            </a:r>
            <a:r>
              <a:rPr lang="en-US" altLang="en-US" sz="2400" dirty="0">
                <a:cs typeface="Times New Roman" panose="02020603050405020304" pitchFamily="18" charset="0"/>
              </a:rPr>
              <a:t> </a:t>
            </a:r>
            <a:r>
              <a:rPr lang="en-US" altLang="en-US" sz="2400" dirty="0" err="1">
                <a:cs typeface="Times New Roman" panose="02020603050405020304" pitchFamily="18" charset="0"/>
              </a:rPr>
              <a:t>các</a:t>
            </a:r>
            <a:r>
              <a:rPr lang="en-US" altLang="en-US" sz="2400" dirty="0">
                <a:cs typeface="Times New Roman" panose="02020603050405020304" pitchFamily="18" charset="0"/>
              </a:rPr>
              <a:t> </a:t>
            </a:r>
            <a:r>
              <a:rPr lang="en-US" altLang="en-US" sz="2400" dirty="0" err="1">
                <a:cs typeface="Times New Roman" panose="02020603050405020304" pitchFamily="18" charset="0"/>
              </a:rPr>
              <a:t>nút</a:t>
            </a:r>
            <a:r>
              <a:rPr lang="en-US" altLang="en-US" sz="2400" dirty="0">
                <a:cs typeface="Times New Roman" panose="02020603050405020304" pitchFamily="18" charset="0"/>
              </a:rPr>
              <a:t> </a:t>
            </a:r>
            <a:r>
              <a:rPr lang="en-US" altLang="en-US" sz="2400" dirty="0" err="1">
                <a:cs typeface="Times New Roman" panose="02020603050405020304" pitchFamily="18" charset="0"/>
              </a:rPr>
              <a:t>lần</a:t>
            </a:r>
            <a:r>
              <a:rPr lang="en-US" altLang="en-US" sz="2400" dirty="0">
                <a:cs typeface="Times New Roman" panose="02020603050405020304" pitchFamily="18" charset="0"/>
              </a:rPr>
              <a:t> </a:t>
            </a:r>
            <a:r>
              <a:rPr lang="en-US" altLang="en-US" sz="2400" dirty="0" err="1">
                <a:cs typeface="Times New Roman" panose="02020603050405020304" pitchFamily="18" charset="0"/>
              </a:rPr>
              <a:t>lượt</a:t>
            </a:r>
            <a:r>
              <a:rPr lang="en-US" altLang="en-US" sz="2400" dirty="0">
                <a:cs typeface="Times New Roman" panose="02020603050405020304" pitchFamily="18" charset="0"/>
              </a:rPr>
              <a:t> </a:t>
            </a:r>
            <a:r>
              <a:rPr lang="en-US" altLang="en-US" sz="2400" dirty="0" err="1">
                <a:cs typeface="Times New Roman" panose="02020603050405020304" pitchFamily="18" charset="0"/>
              </a:rPr>
              <a:t>từ</a:t>
            </a:r>
            <a:r>
              <a:rPr lang="en-US" altLang="en-US" sz="2400" dirty="0">
                <a:cs typeface="Times New Roman" panose="02020603050405020304" pitchFamily="18" charset="0"/>
              </a:rPr>
              <a:t> 1..N </a:t>
            </a:r>
            <a:r>
              <a:rPr lang="en-US" altLang="en-US" sz="2400" dirty="0" err="1">
                <a:cs typeface="Times New Roman" panose="02020603050405020304" pitchFamily="18" charset="0"/>
              </a:rPr>
              <a:t>như</a:t>
            </a:r>
            <a:r>
              <a:rPr lang="en-US" altLang="en-US" sz="2400" dirty="0">
                <a:cs typeface="Times New Roman" panose="02020603050405020304" pitchFamily="18" charset="0"/>
              </a:rPr>
              <a:t> </a:t>
            </a:r>
            <a:r>
              <a:rPr lang="en-US" altLang="en-US" sz="2400" dirty="0" err="1">
                <a:cs typeface="Times New Roman" panose="02020603050405020304" pitchFamily="18" charset="0"/>
              </a:rPr>
              <a:t>hình</a:t>
            </a:r>
            <a:r>
              <a:rPr lang="en-US" altLang="en-US" sz="2400" dirty="0">
                <a:cs typeface="Times New Roman" panose="02020603050405020304" pitchFamily="18" charset="0"/>
              </a:rPr>
              <a:t> </a:t>
            </a:r>
            <a:r>
              <a:rPr lang="en-US" altLang="en-US" sz="2400" dirty="0" err="1">
                <a:cs typeface="Times New Roman" panose="02020603050405020304" pitchFamily="18" charset="0"/>
              </a:rPr>
              <a:t>vẽ</a:t>
            </a:r>
            <a:r>
              <a:rPr lang="en-US" altLang="en-US" sz="2400" dirty="0">
                <a:cs typeface="Times New Roman" panose="02020603050405020304" pitchFamily="18" charset="0"/>
              </a:rPr>
              <a:t> (N </a:t>
            </a:r>
            <a:r>
              <a:rPr lang="en-US" altLang="en-US" sz="2400" dirty="0" err="1">
                <a:cs typeface="Times New Roman" panose="02020603050405020304" pitchFamily="18" charset="0"/>
              </a:rPr>
              <a:t>là</a:t>
            </a:r>
            <a:r>
              <a:rPr lang="en-US" altLang="en-US" sz="2400" dirty="0">
                <a:cs typeface="Times New Roman" panose="02020603050405020304" pitchFamily="18" charset="0"/>
              </a:rPr>
              <a:t> </a:t>
            </a:r>
            <a:r>
              <a:rPr lang="en-US" altLang="en-US" sz="2400" dirty="0" err="1">
                <a:cs typeface="Times New Roman" panose="02020603050405020304" pitchFamily="18" charset="0"/>
              </a:rPr>
              <a:t>kích</a:t>
            </a:r>
            <a:r>
              <a:rPr lang="en-US" altLang="en-US" sz="2400" dirty="0">
                <a:cs typeface="Times New Roman" panose="02020603050405020304" pitchFamily="18" charset="0"/>
              </a:rPr>
              <a:t> </a:t>
            </a:r>
            <a:r>
              <a:rPr lang="en-US" altLang="en-US" sz="2400" dirty="0" err="1">
                <a:cs typeface="Times New Roman" panose="02020603050405020304" pitchFamily="18" charset="0"/>
              </a:rPr>
              <a:t>thước</a:t>
            </a:r>
            <a:r>
              <a:rPr lang="en-US" altLang="en-US" sz="2400" dirty="0">
                <a:cs typeface="Times New Roman" panose="02020603050405020304" pitchFamily="18" charset="0"/>
              </a:rPr>
              <a:t> </a:t>
            </a:r>
            <a:r>
              <a:rPr lang="en-US" altLang="en-US" sz="2400" dirty="0" err="1">
                <a:cs typeface="Times New Roman" panose="02020603050405020304" pitchFamily="18" charset="0"/>
              </a:rPr>
              <a:t>của</a:t>
            </a:r>
            <a:r>
              <a:rPr lang="en-US" altLang="en-US" sz="2400" dirty="0">
                <a:cs typeface="Times New Roman" panose="02020603050405020304" pitchFamily="18" charset="0"/>
              </a:rPr>
              <a:t> </a:t>
            </a:r>
            <a:r>
              <a:rPr lang="en-US" altLang="en-US" sz="2400" dirty="0" err="1">
                <a:cs typeface="Times New Roman" panose="02020603050405020304" pitchFamily="18" charset="0"/>
              </a:rPr>
              <a:t>cây</a:t>
            </a:r>
            <a:r>
              <a:rPr lang="en-US" altLang="en-US" sz="2400" dirty="0">
                <a:cs typeface="Times New Roman" panose="02020603050405020304" pitchFamily="18" charset="0"/>
              </a:rPr>
              <a:t>):</a:t>
            </a:r>
          </a:p>
          <a:p>
            <a:r>
              <a:rPr lang="en-US" altLang="en-US" sz="2400" dirty="0" err="1">
                <a:cs typeface="Times New Roman" panose="02020603050405020304" pitchFamily="18" charset="0"/>
              </a:rPr>
              <a:t>Tại</a:t>
            </a:r>
            <a:r>
              <a:rPr lang="en-US" altLang="en-US" sz="2400" dirty="0">
                <a:cs typeface="Times New Roman" panose="02020603050405020304" pitchFamily="18" charset="0"/>
              </a:rPr>
              <a:t> </a:t>
            </a:r>
            <a:r>
              <a:rPr lang="en-US" altLang="en-US" sz="2400" dirty="0" err="1">
                <a:cs typeface="Times New Roman" panose="02020603050405020304" pitchFamily="18" charset="0"/>
              </a:rPr>
              <a:t>nút</a:t>
            </a:r>
            <a:r>
              <a:rPr lang="en-US" altLang="en-US" sz="2400" dirty="0">
                <a:cs typeface="Times New Roman" panose="02020603050405020304" pitchFamily="18" charset="0"/>
              </a:rPr>
              <a:t> </a:t>
            </a:r>
            <a:r>
              <a:rPr lang="en-US" altLang="en-US" sz="2400" dirty="0" err="1">
                <a:cs typeface="Times New Roman" panose="02020603050405020304" pitchFamily="18" charset="0"/>
              </a:rPr>
              <a:t>có</a:t>
            </a:r>
            <a:r>
              <a:rPr lang="en-US" altLang="en-US" sz="2400" dirty="0">
                <a:cs typeface="Times New Roman" panose="02020603050405020304" pitchFamily="18" charset="0"/>
              </a:rPr>
              <a:t> </a:t>
            </a:r>
            <a:r>
              <a:rPr lang="en-US" altLang="en-US" sz="2400" dirty="0" err="1">
                <a:cs typeface="Times New Roman" panose="02020603050405020304" pitchFamily="18" charset="0"/>
              </a:rPr>
              <a:t>số</a:t>
            </a:r>
            <a:r>
              <a:rPr lang="en-US" altLang="en-US" sz="2400" dirty="0">
                <a:cs typeface="Times New Roman" panose="02020603050405020304" pitchFamily="18" charset="0"/>
              </a:rPr>
              <a:t> </a:t>
            </a:r>
            <a:r>
              <a:rPr lang="en-US" altLang="en-US" sz="2400" dirty="0" err="1">
                <a:cs typeface="Times New Roman" panose="02020603050405020304" pitchFamily="18" charset="0"/>
              </a:rPr>
              <a:t>thứ</a:t>
            </a:r>
            <a:r>
              <a:rPr lang="en-US" altLang="en-US" sz="2400" dirty="0">
                <a:cs typeface="Times New Roman" panose="02020603050405020304" pitchFamily="18" charset="0"/>
              </a:rPr>
              <a:t> </a:t>
            </a:r>
            <a:r>
              <a:rPr lang="en-US" altLang="en-US" sz="2400" dirty="0" err="1">
                <a:cs typeface="Times New Roman" panose="02020603050405020304" pitchFamily="18" charset="0"/>
              </a:rPr>
              <a:t>tự</a:t>
            </a:r>
            <a:r>
              <a:rPr lang="en-US" altLang="en-US" sz="2400" dirty="0">
                <a:cs typeface="Times New Roman" panose="02020603050405020304" pitchFamily="18" charset="0"/>
              </a:rPr>
              <a:t> i: </a:t>
            </a:r>
          </a:p>
          <a:p>
            <a:pPr lvl="1"/>
            <a:r>
              <a:rPr lang="en-US" altLang="en-US" sz="2000" dirty="0" err="1">
                <a:cs typeface="Times New Roman" panose="02020603050405020304" pitchFamily="18" charset="0"/>
              </a:rPr>
              <a:t>nếu</a:t>
            </a:r>
            <a:r>
              <a:rPr lang="en-US" altLang="en-US" sz="2000" dirty="0">
                <a:cs typeface="Times New Roman" panose="02020603050405020304" pitchFamily="18" charset="0"/>
              </a:rPr>
              <a:t> 2i&gt;N: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i</a:t>
            </a:r>
            <a:r>
              <a:rPr lang="en-US" altLang="en-US" sz="2000" dirty="0">
                <a:cs typeface="Times New Roman" panose="02020603050405020304" pitchFamily="18" charset="0"/>
              </a:rPr>
              <a:t>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lá</a:t>
            </a:r>
            <a:endParaRPr lang="en-US" altLang="en-US" sz="2000" dirty="0">
              <a:cs typeface="Times New Roman" panose="02020603050405020304" pitchFamily="18" charset="0"/>
            </a:endParaRPr>
          </a:p>
          <a:p>
            <a:pPr lvl="1"/>
            <a:r>
              <a:rPr lang="en-US" altLang="en-US" sz="2000" dirty="0" err="1">
                <a:cs typeface="Times New Roman" panose="02020603050405020304" pitchFamily="18" charset="0"/>
              </a:rPr>
              <a:t>nếu</a:t>
            </a:r>
            <a:r>
              <a:rPr lang="en-US" altLang="en-US" sz="2000" dirty="0">
                <a:cs typeface="Times New Roman" panose="02020603050405020304" pitchFamily="18" charset="0"/>
              </a:rPr>
              <a:t> 2i=N: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i</a:t>
            </a:r>
            <a:r>
              <a:rPr lang="en-US" altLang="en-US" sz="2000" dirty="0">
                <a:cs typeface="Times New Roman" panose="02020603050405020304" pitchFamily="18" charset="0"/>
              </a:rPr>
              <a:t>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đơn</a:t>
            </a:r>
            <a:endParaRPr lang="en-US" altLang="en-US" sz="2000" dirty="0">
              <a:cs typeface="Times New Roman" panose="02020603050405020304" pitchFamily="18" charset="0"/>
            </a:endParaRPr>
          </a:p>
          <a:p>
            <a:pPr lvl="1"/>
            <a:r>
              <a:rPr lang="en-US" altLang="en-US" sz="2000" dirty="0" err="1">
                <a:cs typeface="Times New Roman" panose="02020603050405020304" pitchFamily="18" charset="0"/>
              </a:rPr>
              <a:t>nếu</a:t>
            </a:r>
            <a:r>
              <a:rPr lang="en-US" altLang="en-US" sz="2000" dirty="0">
                <a:cs typeface="Times New Roman" panose="02020603050405020304" pitchFamily="18" charset="0"/>
              </a:rPr>
              <a:t> 2i&lt;N: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i</a:t>
            </a:r>
            <a:r>
              <a:rPr lang="en-US" altLang="en-US" sz="2000" dirty="0">
                <a:cs typeface="Times New Roman" panose="02020603050405020304" pitchFamily="18" charset="0"/>
              </a:rPr>
              <a:t>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kép</a:t>
            </a:r>
            <a:r>
              <a:rPr lang="en-US" altLang="en-US" sz="2000" dirty="0">
                <a:cs typeface="Times New Roman" panose="02020603050405020304" pitchFamily="18" charset="0"/>
              </a:rPr>
              <a:t> </a:t>
            </a:r>
            <a:r>
              <a:rPr lang="en-US" altLang="en-US" sz="2000" dirty="0" err="1">
                <a:cs typeface="Times New Roman" panose="02020603050405020304" pitchFamily="18" charset="0"/>
              </a:rPr>
              <a:t>và</a:t>
            </a:r>
            <a:r>
              <a:rPr lang="en-US" altLang="en-US" sz="2000" dirty="0">
                <a:cs typeface="Times New Roman" panose="02020603050405020304" pitchFamily="18" charset="0"/>
              </a:rPr>
              <a:t> </a:t>
            </a:r>
            <a:br>
              <a:rPr lang="en-US" altLang="en-US" sz="2000" dirty="0">
                <a:cs typeface="Times New Roman" panose="02020603050405020304" pitchFamily="18" charset="0"/>
              </a:rPr>
            </a:b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hai</a:t>
            </a:r>
            <a:r>
              <a:rPr lang="en-US" altLang="en-US" sz="2000" dirty="0">
                <a:cs typeface="Times New Roman" panose="02020603050405020304" pitchFamily="18" charset="0"/>
              </a:rPr>
              <a:t> con </a:t>
            </a:r>
            <a:r>
              <a:rPr lang="en-US" altLang="en-US" sz="2000" dirty="0" err="1">
                <a:cs typeface="Times New Roman" panose="02020603050405020304" pitchFamily="18" charset="0"/>
              </a:rPr>
              <a:t>trái</a:t>
            </a:r>
            <a:r>
              <a:rPr lang="en-US" altLang="en-US" sz="2000" dirty="0">
                <a:cs typeface="Times New Roman" panose="02020603050405020304" pitchFamily="18" charset="0"/>
              </a:rPr>
              <a:t>, </a:t>
            </a:r>
            <a:r>
              <a:rPr lang="en-US" altLang="en-US" sz="2000" dirty="0" err="1">
                <a:cs typeface="Times New Roman" panose="02020603050405020304" pitchFamily="18" charset="0"/>
              </a:rPr>
              <a:t>phải</a:t>
            </a:r>
            <a:r>
              <a:rPr lang="en-US" altLang="en-US" sz="2000" dirty="0">
                <a:cs typeface="Times New Roman" panose="02020603050405020304" pitchFamily="18" charset="0"/>
              </a:rPr>
              <a:t> </a:t>
            </a:r>
            <a:r>
              <a:rPr lang="en-US" altLang="en-US" sz="2000" dirty="0" err="1">
                <a:cs typeface="Times New Roman" panose="02020603050405020304" pitchFamily="18" charset="0"/>
              </a:rPr>
              <a:t>tương</a:t>
            </a:r>
            <a:r>
              <a:rPr lang="en-US" altLang="en-US" sz="2000" dirty="0">
                <a:cs typeface="Times New Roman" panose="02020603050405020304" pitchFamily="18" charset="0"/>
              </a:rPr>
              <a:t> </a:t>
            </a:r>
            <a:r>
              <a:rPr lang="en-US" altLang="en-US" sz="2000" dirty="0" err="1">
                <a:cs typeface="Times New Roman" panose="02020603050405020304" pitchFamily="18" charset="0"/>
              </a:rPr>
              <a:t>ứng</a:t>
            </a:r>
            <a:r>
              <a:rPr lang="en-US" altLang="en-US" sz="2000" dirty="0">
                <a:cs typeface="Times New Roman" panose="02020603050405020304" pitchFamily="18" charset="0"/>
              </a:rPr>
              <a:t> </a:t>
            </a:r>
            <a:r>
              <a:rPr lang="en-US" altLang="en-US" sz="2000" dirty="0" err="1">
                <a:cs typeface="Times New Roman" panose="02020603050405020304" pitchFamily="18" charset="0"/>
              </a:rPr>
              <a:t>là</a:t>
            </a:r>
            <a:r>
              <a:rPr lang="en-US" altLang="en-US" sz="2000" dirty="0">
                <a:cs typeface="Times New Roman" panose="02020603050405020304" pitchFamily="18" charset="0"/>
              </a:rPr>
              <a:t> 2i </a:t>
            </a:r>
            <a:r>
              <a:rPr lang="en-US" altLang="en-US" sz="2000" dirty="0" err="1">
                <a:cs typeface="Times New Roman" panose="02020603050405020304" pitchFamily="18" charset="0"/>
              </a:rPr>
              <a:t>và</a:t>
            </a:r>
            <a:r>
              <a:rPr lang="en-US" altLang="en-US" sz="2000" dirty="0">
                <a:cs typeface="Times New Roman" panose="02020603050405020304" pitchFamily="18" charset="0"/>
              </a:rPr>
              <a:t> 2i+1</a:t>
            </a:r>
          </a:p>
          <a:p>
            <a:r>
              <a:rPr lang="en-US" altLang="en-US" sz="2400" dirty="0" err="1">
                <a:cs typeface="Times New Roman" panose="02020603050405020304" pitchFamily="18" charset="0"/>
              </a:rPr>
              <a:t>Tại</a:t>
            </a:r>
            <a:r>
              <a:rPr lang="en-US" altLang="en-US" sz="2400" dirty="0">
                <a:cs typeface="Times New Roman" panose="02020603050405020304" pitchFamily="18" charset="0"/>
              </a:rPr>
              <a:t> </a:t>
            </a:r>
            <a:r>
              <a:rPr lang="en-US" altLang="en-US" sz="2400" dirty="0" err="1">
                <a:cs typeface="Times New Roman" panose="02020603050405020304" pitchFamily="18" charset="0"/>
              </a:rPr>
              <a:t>nút</a:t>
            </a:r>
            <a:r>
              <a:rPr lang="en-US" altLang="en-US" sz="2400" dirty="0">
                <a:cs typeface="Times New Roman" panose="02020603050405020304" pitchFamily="18" charset="0"/>
              </a:rPr>
              <a:t> </a:t>
            </a:r>
            <a:r>
              <a:rPr lang="en-US" altLang="en-US" sz="2400" dirty="0" err="1">
                <a:cs typeface="Times New Roman" panose="02020603050405020304" pitchFamily="18" charset="0"/>
              </a:rPr>
              <a:t>có</a:t>
            </a:r>
            <a:r>
              <a:rPr lang="en-US" altLang="en-US" sz="2400" dirty="0">
                <a:cs typeface="Times New Roman" panose="02020603050405020304" pitchFamily="18" charset="0"/>
              </a:rPr>
              <a:t> </a:t>
            </a:r>
            <a:r>
              <a:rPr lang="en-US" altLang="en-US" sz="2400" dirty="0" err="1">
                <a:cs typeface="Times New Roman" panose="02020603050405020304" pitchFamily="18" charset="0"/>
              </a:rPr>
              <a:t>số</a:t>
            </a:r>
            <a:r>
              <a:rPr lang="en-US" altLang="en-US" sz="2400" dirty="0">
                <a:cs typeface="Times New Roman" panose="02020603050405020304" pitchFamily="18" charset="0"/>
              </a:rPr>
              <a:t> </a:t>
            </a:r>
            <a:r>
              <a:rPr lang="en-US" altLang="en-US" sz="2400" dirty="0" err="1">
                <a:cs typeface="Times New Roman" panose="02020603050405020304" pitchFamily="18" charset="0"/>
              </a:rPr>
              <a:t>thứ</a:t>
            </a:r>
            <a:r>
              <a:rPr lang="en-US" altLang="en-US" sz="2400" dirty="0">
                <a:cs typeface="Times New Roman" panose="02020603050405020304" pitchFamily="18" charset="0"/>
              </a:rPr>
              <a:t> </a:t>
            </a:r>
            <a:r>
              <a:rPr lang="en-US" altLang="en-US" sz="2400" dirty="0" err="1">
                <a:cs typeface="Times New Roman" panose="02020603050405020304" pitchFamily="18" charset="0"/>
              </a:rPr>
              <a:t>tự</a:t>
            </a:r>
            <a:r>
              <a:rPr lang="en-US" altLang="en-US" sz="2400" dirty="0">
                <a:cs typeface="Times New Roman" panose="02020603050405020304" pitchFamily="18" charset="0"/>
              </a:rPr>
              <a:t> j:</a:t>
            </a:r>
          </a:p>
          <a:p>
            <a:pPr lvl="1"/>
            <a:r>
              <a:rPr lang="en-US" altLang="en-US" sz="2000" dirty="0" err="1">
                <a:cs typeface="Times New Roman" panose="02020603050405020304" pitchFamily="18" charset="0"/>
              </a:rPr>
              <a:t>nếu</a:t>
            </a:r>
            <a:r>
              <a:rPr lang="en-US" altLang="en-US" sz="2000" dirty="0">
                <a:cs typeface="Times New Roman" panose="02020603050405020304" pitchFamily="18" charset="0"/>
              </a:rPr>
              <a:t> j=1: </a:t>
            </a:r>
            <a:r>
              <a:rPr lang="en-US" altLang="en-US" sz="2000" dirty="0" err="1">
                <a:cs typeface="Times New Roman" panose="02020603050405020304" pitchFamily="18" charset="0"/>
              </a:rPr>
              <a:t>nút</a:t>
            </a:r>
            <a:r>
              <a:rPr lang="en-US" altLang="en-US" sz="2000" dirty="0">
                <a:cs typeface="Times New Roman" panose="02020603050405020304" pitchFamily="18" charset="0"/>
              </a:rPr>
              <a:t> j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gốc</a:t>
            </a:r>
            <a:endParaRPr lang="en-US" altLang="en-US" sz="2000" dirty="0">
              <a:cs typeface="Times New Roman" panose="02020603050405020304" pitchFamily="18" charset="0"/>
            </a:endParaRPr>
          </a:p>
          <a:p>
            <a:pPr lvl="1"/>
            <a:r>
              <a:rPr lang="en-US" altLang="en-US" sz="2000" dirty="0" err="1">
                <a:cs typeface="Times New Roman" panose="02020603050405020304" pitchFamily="18" charset="0"/>
              </a:rPr>
              <a:t>nếu</a:t>
            </a:r>
            <a:r>
              <a:rPr lang="en-US" altLang="en-US" sz="2000" dirty="0">
                <a:cs typeface="Times New Roman" panose="02020603050405020304" pitchFamily="18" charset="0"/>
              </a:rPr>
              <a:t> j&gt;1: </a:t>
            </a:r>
            <a:r>
              <a:rPr lang="en-US" altLang="en-US" sz="2000" dirty="0" err="1">
                <a:cs typeface="Times New Roman" panose="02020603050405020304" pitchFamily="18" charset="0"/>
              </a:rPr>
              <a:t>nút</a:t>
            </a:r>
            <a:r>
              <a:rPr lang="en-US" altLang="en-US" sz="2000" dirty="0">
                <a:cs typeface="Times New Roman" panose="02020603050405020304" pitchFamily="18" charset="0"/>
              </a:rPr>
              <a:t> j/2 (</a:t>
            </a:r>
            <a:r>
              <a:rPr lang="en-US" altLang="en-US" sz="2000" dirty="0" err="1">
                <a:cs typeface="Times New Roman" panose="02020603050405020304" pitchFamily="18" charset="0"/>
              </a:rPr>
              <a:t>nếu</a:t>
            </a:r>
            <a:r>
              <a:rPr lang="en-US" altLang="en-US" sz="2000" dirty="0">
                <a:cs typeface="Times New Roman" panose="02020603050405020304" pitchFamily="18" charset="0"/>
              </a:rPr>
              <a:t> j </a:t>
            </a:r>
            <a:r>
              <a:rPr lang="en-US" altLang="en-US" sz="2000" dirty="0" err="1">
                <a:cs typeface="Times New Roman" panose="02020603050405020304" pitchFamily="18" charset="0"/>
              </a:rPr>
              <a:t>chẵn</a:t>
            </a:r>
            <a:r>
              <a:rPr lang="en-US" altLang="en-US" sz="2000" dirty="0">
                <a:cs typeface="Times New Roman" panose="02020603050405020304" pitchFamily="18" charset="0"/>
              </a:rPr>
              <a:t>) </a:t>
            </a:r>
            <a:r>
              <a:rPr lang="en-US" altLang="en-US" sz="2000" dirty="0" err="1">
                <a:cs typeface="Times New Roman" panose="02020603050405020304" pitchFamily="18" charset="0"/>
              </a:rPr>
              <a:t>hoặc</a:t>
            </a:r>
            <a:r>
              <a:rPr lang="en-US" altLang="en-US" sz="2000" dirty="0">
                <a:cs typeface="Times New Roman" panose="02020603050405020304" pitchFamily="18" charset="0"/>
              </a:rPr>
              <a:t> </a:t>
            </a:r>
            <a:br>
              <a:rPr lang="en-US" altLang="en-US" sz="2000" dirty="0">
                <a:cs typeface="Times New Roman" panose="02020603050405020304" pitchFamily="18" charset="0"/>
              </a:rPr>
            </a:br>
            <a:r>
              <a:rPr lang="en-US" altLang="en-US" sz="2000" dirty="0">
                <a:cs typeface="Times New Roman" panose="02020603050405020304" pitchFamily="18" charset="0"/>
              </a:rPr>
              <a:t>(j-1)/2 (</a:t>
            </a:r>
            <a:r>
              <a:rPr lang="en-US" altLang="en-US" sz="2000" dirty="0" err="1">
                <a:cs typeface="Times New Roman" panose="02020603050405020304" pitchFamily="18" charset="0"/>
              </a:rPr>
              <a:t>nếu</a:t>
            </a:r>
            <a:r>
              <a:rPr lang="en-US" altLang="en-US" sz="2000" dirty="0">
                <a:cs typeface="Times New Roman" panose="02020603050405020304" pitchFamily="18" charset="0"/>
              </a:rPr>
              <a:t> j </a:t>
            </a:r>
            <a:r>
              <a:rPr lang="en-US" altLang="en-US" sz="2000" dirty="0" err="1">
                <a:cs typeface="Times New Roman" panose="02020603050405020304" pitchFamily="18" charset="0"/>
              </a:rPr>
              <a:t>lẻ</a:t>
            </a:r>
            <a:r>
              <a:rPr lang="en-US" altLang="en-US" sz="2000" dirty="0">
                <a:cs typeface="Times New Roman" panose="02020603050405020304" pitchFamily="18" charset="0"/>
              </a:rPr>
              <a:t>)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cha </a:t>
            </a:r>
            <a:r>
              <a:rPr lang="en-US" altLang="en-US" sz="2000" dirty="0" err="1">
                <a:cs typeface="Times New Roman" panose="02020603050405020304" pitchFamily="18" charset="0"/>
              </a:rPr>
              <a:t>của</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j. </a:t>
            </a:r>
            <a:endParaRPr lang="en-US" altLang="en-US" dirty="0">
              <a:cs typeface="Times New Roman" panose="02020603050405020304" pitchFamily="18" charset="0"/>
            </a:endParaRPr>
          </a:p>
        </p:txBody>
      </p:sp>
      <p:grpSp>
        <p:nvGrpSpPr>
          <p:cNvPr id="21510" name="Group 4"/>
          <p:cNvGrpSpPr>
            <a:grpSpLocks/>
          </p:cNvGrpSpPr>
          <p:nvPr/>
        </p:nvGrpSpPr>
        <p:grpSpPr bwMode="auto">
          <a:xfrm>
            <a:off x="5638800" y="2514600"/>
            <a:ext cx="3429000" cy="3505200"/>
            <a:chOff x="3024" y="1776"/>
            <a:chExt cx="2640" cy="2208"/>
          </a:xfrm>
        </p:grpSpPr>
        <p:sp>
          <p:nvSpPr>
            <p:cNvPr id="21511" name="Oval 5"/>
            <p:cNvSpPr>
              <a:spLocks noChangeArrowheads="1"/>
            </p:cNvSpPr>
            <p:nvPr/>
          </p:nvSpPr>
          <p:spPr bwMode="auto">
            <a:xfrm>
              <a:off x="4449" y="1776"/>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1</a:t>
              </a:r>
            </a:p>
          </p:txBody>
        </p:sp>
        <p:sp>
          <p:nvSpPr>
            <p:cNvPr id="21512" name="Oval 6"/>
            <p:cNvSpPr>
              <a:spLocks noChangeArrowheads="1"/>
            </p:cNvSpPr>
            <p:nvPr/>
          </p:nvSpPr>
          <p:spPr bwMode="auto">
            <a:xfrm>
              <a:off x="5027" y="2496"/>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3</a:t>
              </a:r>
            </a:p>
          </p:txBody>
        </p:sp>
        <p:sp>
          <p:nvSpPr>
            <p:cNvPr id="21513" name="Oval 7"/>
            <p:cNvSpPr>
              <a:spLocks noChangeArrowheads="1"/>
            </p:cNvSpPr>
            <p:nvPr/>
          </p:nvSpPr>
          <p:spPr bwMode="auto">
            <a:xfrm>
              <a:off x="3909" y="2448"/>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2</a:t>
              </a:r>
            </a:p>
          </p:txBody>
        </p:sp>
        <p:sp>
          <p:nvSpPr>
            <p:cNvPr id="21514" name="Oval 8"/>
            <p:cNvSpPr>
              <a:spLocks noChangeArrowheads="1"/>
            </p:cNvSpPr>
            <p:nvPr/>
          </p:nvSpPr>
          <p:spPr bwMode="auto">
            <a:xfrm>
              <a:off x="3408" y="316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4</a:t>
              </a:r>
            </a:p>
          </p:txBody>
        </p:sp>
        <p:sp>
          <p:nvSpPr>
            <p:cNvPr id="21515" name="Oval 9"/>
            <p:cNvSpPr>
              <a:spLocks noChangeArrowheads="1"/>
            </p:cNvSpPr>
            <p:nvPr/>
          </p:nvSpPr>
          <p:spPr bwMode="auto">
            <a:xfrm>
              <a:off x="4311" y="3168"/>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5</a:t>
              </a:r>
            </a:p>
          </p:txBody>
        </p:sp>
        <p:sp>
          <p:nvSpPr>
            <p:cNvPr id="21516" name="Oval 10"/>
            <p:cNvSpPr>
              <a:spLocks noChangeArrowheads="1"/>
            </p:cNvSpPr>
            <p:nvPr/>
          </p:nvSpPr>
          <p:spPr bwMode="auto">
            <a:xfrm>
              <a:off x="4752" y="316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6</a:t>
              </a:r>
            </a:p>
          </p:txBody>
        </p:sp>
        <p:sp>
          <p:nvSpPr>
            <p:cNvPr id="21517" name="Oval 11"/>
            <p:cNvSpPr>
              <a:spLocks noChangeArrowheads="1"/>
            </p:cNvSpPr>
            <p:nvPr/>
          </p:nvSpPr>
          <p:spPr bwMode="auto">
            <a:xfrm>
              <a:off x="5433" y="3120"/>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7</a:t>
              </a:r>
            </a:p>
          </p:txBody>
        </p:sp>
        <p:sp>
          <p:nvSpPr>
            <p:cNvPr id="21518" name="Oval 12"/>
            <p:cNvSpPr>
              <a:spLocks noChangeArrowheads="1"/>
            </p:cNvSpPr>
            <p:nvPr/>
          </p:nvSpPr>
          <p:spPr bwMode="auto">
            <a:xfrm>
              <a:off x="3024" y="3744"/>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8</a:t>
              </a:r>
            </a:p>
          </p:txBody>
        </p:sp>
        <p:sp>
          <p:nvSpPr>
            <p:cNvPr id="21519" name="Line 13"/>
            <p:cNvSpPr>
              <a:spLocks noChangeShapeType="1"/>
            </p:cNvSpPr>
            <p:nvPr/>
          </p:nvSpPr>
          <p:spPr bwMode="auto">
            <a:xfrm flipH="1">
              <a:off x="4102" y="1968"/>
              <a:ext cx="410"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20" name="Line 14"/>
            <p:cNvSpPr>
              <a:spLocks noChangeShapeType="1"/>
            </p:cNvSpPr>
            <p:nvPr/>
          </p:nvSpPr>
          <p:spPr bwMode="auto">
            <a:xfrm flipH="1">
              <a:off x="3562" y="2688"/>
              <a:ext cx="386"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21" name="Line 15"/>
            <p:cNvSpPr>
              <a:spLocks noChangeShapeType="1"/>
            </p:cNvSpPr>
            <p:nvPr/>
          </p:nvSpPr>
          <p:spPr bwMode="auto">
            <a:xfrm flipH="1">
              <a:off x="4848" y="2736"/>
              <a:ext cx="24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22" name="Line 16"/>
            <p:cNvSpPr>
              <a:spLocks noChangeShapeType="1"/>
            </p:cNvSpPr>
            <p:nvPr/>
          </p:nvSpPr>
          <p:spPr bwMode="auto">
            <a:xfrm>
              <a:off x="4080" y="2688"/>
              <a:ext cx="30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23" name="Line 17"/>
            <p:cNvSpPr>
              <a:spLocks noChangeShapeType="1"/>
            </p:cNvSpPr>
            <p:nvPr/>
          </p:nvSpPr>
          <p:spPr bwMode="auto">
            <a:xfrm>
              <a:off x="4642" y="1968"/>
              <a:ext cx="446"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24" name="Line 18"/>
            <p:cNvSpPr>
              <a:spLocks noChangeShapeType="1"/>
            </p:cNvSpPr>
            <p:nvPr/>
          </p:nvSpPr>
          <p:spPr bwMode="auto">
            <a:xfrm>
              <a:off x="5232" y="2688"/>
              <a:ext cx="288"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25" name="Line 19"/>
            <p:cNvSpPr>
              <a:spLocks noChangeShapeType="1"/>
            </p:cNvSpPr>
            <p:nvPr/>
          </p:nvSpPr>
          <p:spPr bwMode="auto">
            <a:xfrm flipH="1">
              <a:off x="3142" y="3360"/>
              <a:ext cx="288"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26" name="Oval 20"/>
            <p:cNvSpPr>
              <a:spLocks noChangeArrowheads="1"/>
            </p:cNvSpPr>
            <p:nvPr/>
          </p:nvSpPr>
          <p:spPr bwMode="auto">
            <a:xfrm>
              <a:off x="3674" y="3744"/>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9</a:t>
              </a:r>
            </a:p>
          </p:txBody>
        </p:sp>
        <p:sp>
          <p:nvSpPr>
            <p:cNvPr id="21527" name="Line 21"/>
            <p:cNvSpPr>
              <a:spLocks noChangeShapeType="1"/>
            </p:cNvSpPr>
            <p:nvPr/>
          </p:nvSpPr>
          <p:spPr bwMode="auto">
            <a:xfrm>
              <a:off x="3600" y="3408"/>
              <a:ext cx="192"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28" name="Oval 22"/>
            <p:cNvSpPr>
              <a:spLocks noChangeArrowheads="1"/>
            </p:cNvSpPr>
            <p:nvPr/>
          </p:nvSpPr>
          <p:spPr bwMode="auto">
            <a:xfrm>
              <a:off x="4010" y="3744"/>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10</a:t>
              </a:r>
            </a:p>
          </p:txBody>
        </p:sp>
        <p:sp>
          <p:nvSpPr>
            <p:cNvPr id="21529" name="Line 23"/>
            <p:cNvSpPr>
              <a:spLocks noChangeShapeType="1"/>
            </p:cNvSpPr>
            <p:nvPr/>
          </p:nvSpPr>
          <p:spPr bwMode="auto">
            <a:xfrm flipH="1">
              <a:off x="4128" y="3408"/>
              <a:ext cx="24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825260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9">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09">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50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p:txBody>
          <a:bodyPr/>
          <a:lstStyle/>
          <a:p>
            <a:pPr eaLnBrk="1" hangingPunct="1">
              <a:spcBef>
                <a:spcPct val="15000"/>
              </a:spcBef>
            </a:pPr>
            <a:r>
              <a:rPr lang="en-US" altLang="en-US" dirty="0" err="1"/>
              <a:t>Các</a:t>
            </a:r>
            <a:r>
              <a:rPr lang="en-US" altLang="en-US" dirty="0"/>
              <a:t> </a:t>
            </a:r>
            <a:r>
              <a:rPr lang="en-US" altLang="en-US" dirty="0" err="1"/>
              <a:t>thao</a:t>
            </a:r>
            <a:r>
              <a:rPr lang="en-US" altLang="en-US" dirty="0"/>
              <a:t> </a:t>
            </a:r>
            <a:r>
              <a:rPr lang="en-US" altLang="en-US" dirty="0" err="1"/>
              <a:t>tác</a:t>
            </a:r>
            <a:r>
              <a:rPr lang="en-US" altLang="en-US" dirty="0"/>
              <a:t> </a:t>
            </a:r>
            <a:r>
              <a:rPr lang="en-US" altLang="en-US" dirty="0" err="1"/>
              <a:t>cơ</a:t>
            </a:r>
            <a:r>
              <a:rPr lang="en-US" altLang="en-US" dirty="0"/>
              <a:t> </a:t>
            </a:r>
            <a:r>
              <a:rPr lang="en-US" altLang="en-US" dirty="0" err="1"/>
              <a:t>bản</a:t>
            </a:r>
            <a:r>
              <a:rPr lang="en-US" altLang="en-US" dirty="0"/>
              <a:t> </a:t>
            </a:r>
          </a:p>
        </p:txBody>
      </p:sp>
      <p:sp>
        <p:nvSpPr>
          <p:cNvPr id="16389" name="Rectangle 3"/>
          <p:cNvSpPr>
            <a:spLocks noGrp="1" noChangeArrowheads="1"/>
          </p:cNvSpPr>
          <p:nvPr>
            <p:ph type="body" sz="quarter" idx="13"/>
          </p:nvPr>
        </p:nvSpPr>
        <p:spPr>
          <a:noFill/>
        </p:spPr>
        <p:txBody>
          <a:bodyPr/>
          <a:lstStyle/>
          <a:p>
            <a:pPr>
              <a:spcBef>
                <a:spcPct val="15000"/>
              </a:spcBef>
            </a:pPr>
            <a:r>
              <a:rPr lang="en-US" altLang="en-US" dirty="0" err="1">
                <a:cs typeface="Times New Roman" panose="02020603050405020304" pitchFamily="18" charset="0"/>
              </a:rPr>
              <a:t>Khởi</a:t>
            </a:r>
            <a:r>
              <a:rPr lang="en-US" altLang="en-US" dirty="0">
                <a:cs typeface="Times New Roman" panose="02020603050405020304" pitchFamily="18" charset="0"/>
              </a:rPr>
              <a:t> </a:t>
            </a:r>
            <a:r>
              <a:rPr lang="en-US" altLang="en-US" dirty="0" err="1">
                <a:cs typeface="Times New Roman" panose="02020603050405020304" pitchFamily="18" charset="0"/>
              </a:rPr>
              <a:t>tạo</a:t>
            </a:r>
            <a:endParaRPr lang="en-US" altLang="en-US" dirty="0">
              <a:cs typeface="Times New Roman" panose="02020603050405020304" pitchFamily="18" charset="0"/>
            </a:endParaRPr>
          </a:p>
          <a:p>
            <a:pPr>
              <a:spcBef>
                <a:spcPct val="15000"/>
              </a:spcBef>
            </a:pPr>
            <a:r>
              <a:rPr lang="en-US" altLang="en-US" dirty="0" err="1">
                <a:cs typeface="Times New Roman" panose="02020603050405020304" pitchFamily="18" charset="0"/>
              </a:rPr>
              <a:t>Bổ</a:t>
            </a:r>
            <a:r>
              <a:rPr lang="en-US" altLang="en-US" dirty="0">
                <a:cs typeface="Times New Roman" panose="02020603050405020304" pitchFamily="18" charset="0"/>
              </a:rPr>
              <a:t> sung </a:t>
            </a:r>
            <a:r>
              <a:rPr lang="en-US" altLang="en-US" dirty="0" err="1">
                <a:cs typeface="Times New Roman" panose="02020603050405020304" pitchFamily="18" charset="0"/>
              </a:rPr>
              <a:t>một</a:t>
            </a:r>
            <a:r>
              <a:rPr lang="en-US" altLang="en-US" dirty="0">
                <a:cs typeface="Times New Roman" panose="02020603050405020304" pitchFamily="18" charset="0"/>
              </a:rPr>
              <a:t> </a:t>
            </a:r>
            <a:r>
              <a:rPr lang="en-US" altLang="en-US" dirty="0" err="1">
                <a:cs typeface="Times New Roman" panose="02020603050405020304" pitchFamily="18" charset="0"/>
              </a:rPr>
              <a:t>nút</a:t>
            </a:r>
            <a:r>
              <a:rPr lang="en-US" altLang="en-US" dirty="0">
                <a:cs typeface="Times New Roman" panose="02020603050405020304" pitchFamily="18" charset="0"/>
              </a:rPr>
              <a:t> </a:t>
            </a:r>
            <a:r>
              <a:rPr lang="en-US" altLang="en-US" dirty="0" err="1">
                <a:cs typeface="Times New Roman" panose="02020603050405020304" pitchFamily="18" charset="0"/>
              </a:rPr>
              <a:t>mới</a:t>
            </a:r>
            <a:r>
              <a:rPr lang="en-US" altLang="en-US" dirty="0">
                <a:cs typeface="Times New Roman" panose="02020603050405020304" pitchFamily="18" charset="0"/>
              </a:rPr>
              <a:t> </a:t>
            </a:r>
            <a:r>
              <a:rPr lang="en-US" altLang="en-US" dirty="0" err="1">
                <a:cs typeface="Times New Roman" panose="02020603050405020304" pitchFamily="18" charset="0"/>
              </a:rPr>
              <a:t>vào</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a:t>
            </a:r>
          </a:p>
          <a:p>
            <a:pPr>
              <a:spcBef>
                <a:spcPct val="15000"/>
              </a:spcBef>
            </a:pPr>
            <a:r>
              <a:rPr lang="en-US" altLang="en-US" dirty="0" err="1">
                <a:cs typeface="Times New Roman" panose="02020603050405020304" pitchFamily="18" charset="0"/>
              </a:rPr>
              <a:t>Lấy</a:t>
            </a:r>
            <a:r>
              <a:rPr lang="en-US" altLang="en-US" dirty="0">
                <a:cs typeface="Times New Roman" panose="02020603050405020304" pitchFamily="18" charset="0"/>
              </a:rPr>
              <a:t> </a:t>
            </a:r>
            <a:r>
              <a:rPr lang="en-US" altLang="en-US" dirty="0" err="1">
                <a:cs typeface="Times New Roman" panose="02020603050405020304" pitchFamily="18" charset="0"/>
              </a:rPr>
              <a:t>ra</a:t>
            </a:r>
            <a:r>
              <a:rPr lang="en-US" altLang="en-US" dirty="0">
                <a:cs typeface="Times New Roman" panose="02020603050405020304" pitchFamily="18" charset="0"/>
              </a:rPr>
              <a:t> </a:t>
            </a:r>
            <a:r>
              <a:rPr lang="en-US" altLang="en-US" dirty="0" err="1">
                <a:cs typeface="Times New Roman" panose="02020603050405020304" pitchFamily="18" charset="0"/>
              </a:rPr>
              <a:t>một</a:t>
            </a:r>
            <a:r>
              <a:rPr lang="en-US" altLang="en-US" dirty="0">
                <a:cs typeface="Times New Roman" panose="02020603050405020304" pitchFamily="18" charset="0"/>
              </a:rPr>
              <a:t> </a:t>
            </a:r>
            <a:r>
              <a:rPr lang="en-US" altLang="en-US" dirty="0" err="1">
                <a:cs typeface="Times New Roman" panose="02020603050405020304" pitchFamily="18" charset="0"/>
              </a:rPr>
              <a:t>nút</a:t>
            </a:r>
            <a:r>
              <a:rPr lang="en-US" altLang="en-US" dirty="0">
                <a:cs typeface="Times New Roman" panose="02020603050405020304" pitchFamily="18" charset="0"/>
              </a:rPr>
              <a:t> </a:t>
            </a:r>
          </a:p>
          <a:p>
            <a:pPr>
              <a:spcBef>
                <a:spcPct val="15000"/>
              </a:spcBef>
            </a:pPr>
            <a:r>
              <a:rPr lang="en-US" altLang="en-US" dirty="0" err="1">
                <a:cs typeface="Times New Roman" panose="02020603050405020304" pitchFamily="18" charset="0"/>
              </a:rPr>
              <a:t>Tìm</a:t>
            </a:r>
            <a:r>
              <a:rPr lang="en-US" altLang="en-US" dirty="0">
                <a:cs typeface="Times New Roman" panose="02020603050405020304" pitchFamily="18" charset="0"/>
              </a:rPr>
              <a:t> cha </a:t>
            </a:r>
            <a:r>
              <a:rPr lang="en-US" altLang="en-US" dirty="0" err="1">
                <a:cs typeface="Times New Roman" panose="02020603050405020304" pitchFamily="18" charset="0"/>
              </a:rPr>
              <a:t>mỗi</a:t>
            </a:r>
            <a:r>
              <a:rPr lang="en-US" altLang="en-US" dirty="0">
                <a:cs typeface="Times New Roman" panose="02020603050405020304" pitchFamily="18" charset="0"/>
              </a:rPr>
              <a:t> </a:t>
            </a:r>
            <a:r>
              <a:rPr lang="en-US" altLang="en-US" dirty="0" err="1">
                <a:cs typeface="Times New Roman" panose="02020603050405020304" pitchFamily="18" charset="0"/>
              </a:rPr>
              <a:t>nút</a:t>
            </a:r>
            <a:r>
              <a:rPr lang="en-US" altLang="en-US" dirty="0">
                <a:cs typeface="Times New Roman" panose="02020603050405020304" pitchFamily="18" charset="0"/>
              </a:rPr>
              <a:t>: Parent(x)</a:t>
            </a:r>
          </a:p>
          <a:p>
            <a:pPr>
              <a:spcBef>
                <a:spcPct val="15000"/>
              </a:spcBef>
            </a:pPr>
            <a:r>
              <a:rPr lang="en-US" altLang="en-US" dirty="0" err="1">
                <a:cs typeface="Times New Roman" panose="02020603050405020304" pitchFamily="18" charset="0"/>
              </a:rPr>
              <a:t>Tìm</a:t>
            </a:r>
            <a:r>
              <a:rPr lang="en-US" altLang="en-US" dirty="0">
                <a:cs typeface="Times New Roman" panose="02020603050405020304" pitchFamily="18" charset="0"/>
              </a:rPr>
              <a:t> con </a:t>
            </a:r>
            <a:r>
              <a:rPr lang="en-US" altLang="en-US" dirty="0" err="1">
                <a:cs typeface="Times New Roman" panose="02020603050405020304" pitchFamily="18" charset="0"/>
              </a:rPr>
              <a:t>bên</a:t>
            </a:r>
            <a:r>
              <a:rPr lang="en-US" altLang="en-US" dirty="0">
                <a:cs typeface="Times New Roman" panose="02020603050405020304" pitchFamily="18" charset="0"/>
              </a:rPr>
              <a:t> </a:t>
            </a:r>
            <a:r>
              <a:rPr lang="en-US" altLang="en-US" dirty="0" err="1">
                <a:cs typeface="Times New Roman" panose="02020603050405020304" pitchFamily="18" charset="0"/>
              </a:rPr>
              <a:t>trái</a:t>
            </a:r>
            <a:r>
              <a:rPr lang="en-US" altLang="en-US" dirty="0">
                <a:cs typeface="Times New Roman" panose="02020603050405020304" pitchFamily="18" charset="0"/>
              </a:rPr>
              <a:t> </a:t>
            </a:r>
            <a:r>
              <a:rPr lang="en-US" altLang="en-US" dirty="0" err="1">
                <a:cs typeface="Times New Roman" panose="02020603050405020304" pitchFamily="18" charset="0"/>
              </a:rPr>
              <a:t>của</a:t>
            </a:r>
            <a:r>
              <a:rPr lang="en-US" altLang="en-US" dirty="0">
                <a:cs typeface="Times New Roman" panose="02020603050405020304" pitchFamily="18" charset="0"/>
              </a:rPr>
              <a:t> </a:t>
            </a:r>
            <a:r>
              <a:rPr lang="en-US" altLang="en-US" dirty="0" err="1">
                <a:cs typeface="Times New Roman" panose="02020603050405020304" pitchFamily="18" charset="0"/>
              </a:rPr>
              <a:t>mỗi</a:t>
            </a:r>
            <a:r>
              <a:rPr lang="en-US" altLang="en-US" dirty="0">
                <a:cs typeface="Times New Roman" panose="02020603050405020304" pitchFamily="18" charset="0"/>
              </a:rPr>
              <a:t> </a:t>
            </a:r>
            <a:r>
              <a:rPr lang="en-US" altLang="en-US" dirty="0" err="1">
                <a:cs typeface="Times New Roman" panose="02020603050405020304" pitchFamily="18" charset="0"/>
              </a:rPr>
              <a:t>nút</a:t>
            </a:r>
            <a:r>
              <a:rPr lang="en-US" altLang="en-US" dirty="0">
                <a:cs typeface="Times New Roman" panose="02020603050405020304" pitchFamily="18" charset="0"/>
              </a:rPr>
              <a:t> : </a:t>
            </a:r>
            <a:r>
              <a:rPr lang="en-US" altLang="en-US" dirty="0" err="1">
                <a:cs typeface="Times New Roman" panose="02020603050405020304" pitchFamily="18" charset="0"/>
              </a:rPr>
              <a:t>LeftChild</a:t>
            </a:r>
            <a:r>
              <a:rPr lang="en-US" altLang="en-US" dirty="0">
                <a:cs typeface="Times New Roman" panose="02020603050405020304" pitchFamily="18" charset="0"/>
              </a:rPr>
              <a:t>(x)</a:t>
            </a:r>
          </a:p>
          <a:p>
            <a:pPr>
              <a:spcBef>
                <a:spcPct val="15000"/>
              </a:spcBef>
            </a:pPr>
            <a:r>
              <a:rPr lang="en-US" altLang="en-US" dirty="0" err="1">
                <a:cs typeface="Times New Roman" panose="02020603050405020304" pitchFamily="18" charset="0"/>
              </a:rPr>
              <a:t>Tìm</a:t>
            </a:r>
            <a:r>
              <a:rPr lang="en-US" altLang="en-US" dirty="0">
                <a:cs typeface="Times New Roman" panose="02020603050405020304" pitchFamily="18" charset="0"/>
              </a:rPr>
              <a:t> con </a:t>
            </a:r>
            <a:r>
              <a:rPr lang="en-US" altLang="en-US" dirty="0" err="1">
                <a:cs typeface="Times New Roman" panose="02020603050405020304" pitchFamily="18" charset="0"/>
              </a:rPr>
              <a:t>bên</a:t>
            </a:r>
            <a:r>
              <a:rPr lang="en-US" altLang="en-US" dirty="0">
                <a:cs typeface="Times New Roman" panose="02020603050405020304" pitchFamily="18" charset="0"/>
              </a:rPr>
              <a:t> </a:t>
            </a:r>
            <a:r>
              <a:rPr lang="en-US" altLang="en-US" dirty="0" err="1">
                <a:cs typeface="Times New Roman" panose="02020603050405020304" pitchFamily="18" charset="0"/>
              </a:rPr>
              <a:t>phải</a:t>
            </a:r>
            <a:r>
              <a:rPr lang="en-US" altLang="en-US" dirty="0">
                <a:cs typeface="Times New Roman" panose="02020603050405020304" pitchFamily="18" charset="0"/>
              </a:rPr>
              <a:t> </a:t>
            </a:r>
            <a:r>
              <a:rPr lang="en-US" altLang="en-US" dirty="0" err="1">
                <a:cs typeface="Times New Roman" panose="02020603050405020304" pitchFamily="18" charset="0"/>
              </a:rPr>
              <a:t>của</a:t>
            </a:r>
            <a:r>
              <a:rPr lang="en-US" altLang="en-US" dirty="0">
                <a:cs typeface="Times New Roman" panose="02020603050405020304" pitchFamily="18" charset="0"/>
              </a:rPr>
              <a:t> </a:t>
            </a:r>
            <a:r>
              <a:rPr lang="en-US" altLang="en-US" dirty="0" err="1">
                <a:cs typeface="Times New Roman" panose="02020603050405020304" pitchFamily="18" charset="0"/>
              </a:rPr>
              <a:t>mỗi</a:t>
            </a:r>
            <a:r>
              <a:rPr lang="en-US" altLang="en-US" dirty="0">
                <a:cs typeface="Times New Roman" panose="02020603050405020304" pitchFamily="18" charset="0"/>
              </a:rPr>
              <a:t> </a:t>
            </a:r>
            <a:r>
              <a:rPr lang="en-US" altLang="en-US" dirty="0" err="1">
                <a:cs typeface="Times New Roman" panose="02020603050405020304" pitchFamily="18" charset="0"/>
              </a:rPr>
              <a:t>nút</a:t>
            </a:r>
            <a:r>
              <a:rPr lang="en-US" altLang="en-US" dirty="0">
                <a:cs typeface="Times New Roman" panose="02020603050405020304" pitchFamily="18" charset="0"/>
              </a:rPr>
              <a:t> : </a:t>
            </a:r>
            <a:r>
              <a:rPr lang="en-US" altLang="en-US" dirty="0" err="1">
                <a:cs typeface="Times New Roman" panose="02020603050405020304" pitchFamily="18" charset="0"/>
              </a:rPr>
              <a:t>RightChild</a:t>
            </a:r>
            <a:r>
              <a:rPr lang="en-US" altLang="en-US" dirty="0">
                <a:cs typeface="Times New Roman" panose="02020603050405020304" pitchFamily="18" charset="0"/>
              </a:rPr>
              <a:t>(x)</a:t>
            </a:r>
            <a:endParaRPr lang="en-US" altLang="en-US" sz="2400" dirty="0">
              <a:cs typeface="Times New Roman" panose="02020603050405020304" pitchFamily="18" charset="0"/>
            </a:endParaRPr>
          </a:p>
          <a:p>
            <a:pPr>
              <a:spcBef>
                <a:spcPct val="15000"/>
              </a:spcBef>
            </a:pPr>
            <a:r>
              <a:rPr lang="en-US" altLang="en-US" dirty="0" err="1">
                <a:cs typeface="Times New Roman" panose="02020603050405020304" pitchFamily="18" charset="0"/>
              </a:rPr>
              <a:t>Ghép</a:t>
            </a:r>
            <a:r>
              <a:rPr lang="en-US" altLang="en-US" dirty="0">
                <a:cs typeface="Times New Roman" panose="02020603050405020304" pitchFamily="18" charset="0"/>
              </a:rPr>
              <a:t> </a:t>
            </a:r>
            <a:r>
              <a:rPr lang="en-US" altLang="en-US" dirty="0" err="1">
                <a:cs typeface="Times New Roman" panose="02020603050405020304" pitchFamily="18" charset="0"/>
              </a:rPr>
              <a:t>cây</a:t>
            </a:r>
            <a:endParaRPr lang="en-US" altLang="en-US" dirty="0">
              <a:cs typeface="Times New Roman" panose="02020603050405020304" pitchFamily="18" charset="0"/>
            </a:endParaRPr>
          </a:p>
          <a:p>
            <a:pPr>
              <a:spcBef>
                <a:spcPct val="15000"/>
              </a:spcBef>
            </a:pPr>
            <a:r>
              <a:rPr lang="en-US" altLang="en-US" dirty="0" err="1">
                <a:cs typeface="Times New Roman" panose="02020603050405020304" pitchFamily="18" charset="0"/>
              </a:rPr>
              <a:t>Cắt</a:t>
            </a:r>
            <a:r>
              <a:rPr lang="en-US" altLang="en-US" dirty="0">
                <a:cs typeface="Times New Roman" panose="02020603050405020304" pitchFamily="18" charset="0"/>
              </a:rPr>
              <a:t> </a:t>
            </a:r>
            <a:r>
              <a:rPr lang="en-US" altLang="en-US" dirty="0" err="1">
                <a:cs typeface="Times New Roman" panose="02020603050405020304" pitchFamily="18" charset="0"/>
              </a:rPr>
              <a:t>cây</a:t>
            </a:r>
            <a:endParaRPr lang="en-US" altLang="en-US" dirty="0">
              <a:cs typeface="Times New Roman" panose="02020603050405020304" pitchFamily="18" charset="0"/>
            </a:endParaRPr>
          </a:p>
          <a:p>
            <a:pPr>
              <a:spcBef>
                <a:spcPct val="15000"/>
              </a:spcBef>
            </a:pPr>
            <a:r>
              <a:rPr lang="en-US" altLang="en-US" b="1" dirty="0" err="1">
                <a:cs typeface="Times New Roman" panose="02020603050405020304" pitchFamily="18" charset="0"/>
              </a:rPr>
              <a:t>Duyệt</a:t>
            </a:r>
            <a:r>
              <a:rPr lang="en-US" altLang="en-US" b="1" dirty="0">
                <a:cs typeface="Times New Roman" panose="02020603050405020304" pitchFamily="18" charset="0"/>
              </a:rPr>
              <a:t> </a:t>
            </a:r>
            <a:r>
              <a:rPr lang="en-US" altLang="en-US" b="1" dirty="0" err="1">
                <a:cs typeface="Times New Roman" panose="02020603050405020304" pitchFamily="18" charset="0"/>
              </a:rPr>
              <a:t>cây</a:t>
            </a:r>
            <a:r>
              <a:rPr lang="en-US" altLang="en-US" b="1" dirty="0">
                <a:cs typeface="Times New Roman" panose="02020603050405020304" pitchFamily="18" charset="0"/>
              </a:rPr>
              <a:t> (!)</a:t>
            </a:r>
          </a:p>
        </p:txBody>
      </p:sp>
    </p:spTree>
    <p:extLst>
      <p:ext uri="{BB962C8B-B14F-4D97-AF65-F5344CB8AC3E}">
        <p14:creationId xmlns:p14="http://schemas.microsoft.com/office/powerpoint/2010/main" val="41322631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2"/>
          <p:cNvSpPr>
            <a:spLocks noGrp="1" noChangeArrowheads="1"/>
          </p:cNvSpPr>
          <p:nvPr>
            <p:ph type="title"/>
          </p:nvPr>
        </p:nvSpPr>
        <p:spPr/>
        <p:txBody>
          <a:bodyPr/>
          <a:lstStyle/>
          <a:p>
            <a:pPr eaLnBrk="1" hangingPunct="1"/>
            <a:r>
              <a:rPr lang="en-US" altLang="en-US" dirty="0" err="1"/>
              <a:t>Phép</a:t>
            </a:r>
            <a:r>
              <a:rPr lang="en-US" altLang="en-US" dirty="0"/>
              <a:t> </a:t>
            </a:r>
            <a:r>
              <a:rPr lang="en-US" altLang="en-US" dirty="0" err="1"/>
              <a:t>duyệt</a:t>
            </a:r>
            <a:r>
              <a:rPr lang="en-US" altLang="en-US" dirty="0"/>
              <a:t> </a:t>
            </a:r>
            <a:r>
              <a:rPr lang="en-US" altLang="en-US" dirty="0" err="1"/>
              <a:t>cây</a:t>
            </a:r>
            <a:endParaRPr lang="en-US" altLang="en-US" dirty="0"/>
          </a:p>
        </p:txBody>
      </p:sp>
      <p:sp>
        <p:nvSpPr>
          <p:cNvPr id="22533" name="Rectangle 3"/>
          <p:cNvSpPr>
            <a:spLocks noGrp="1" noChangeArrowheads="1"/>
          </p:cNvSpPr>
          <p:nvPr>
            <p:ph type="body" sz="quarter" idx="13"/>
          </p:nvPr>
        </p:nvSpPr>
        <p:spPr>
          <a:noFill/>
        </p:spPr>
        <p:txBody>
          <a:bodyPr/>
          <a:lstStyle/>
          <a:p>
            <a:pPr marL="342900" lvl="1">
              <a:spcBef>
                <a:spcPct val="15000"/>
              </a:spcBef>
            </a:pPr>
            <a:r>
              <a:rPr lang="en-US" altLang="en-US" sz="2400" dirty="0" err="1">
                <a:cs typeface="Times New Roman" panose="02020603050405020304" pitchFamily="18" charset="0"/>
              </a:rPr>
              <a:t>Bao</a:t>
            </a:r>
            <a:r>
              <a:rPr lang="en-US" altLang="en-US" sz="2400" dirty="0">
                <a:cs typeface="Times New Roman" panose="02020603050405020304" pitchFamily="18" charset="0"/>
              </a:rPr>
              <a:t> </a:t>
            </a:r>
            <a:r>
              <a:rPr lang="en-US" altLang="en-US" sz="2400" dirty="0" err="1">
                <a:cs typeface="Times New Roman" panose="02020603050405020304" pitchFamily="18" charset="0"/>
              </a:rPr>
              <a:t>gồm</a:t>
            </a:r>
            <a:r>
              <a:rPr lang="en-US" altLang="en-US" sz="2400" dirty="0">
                <a:cs typeface="Times New Roman" panose="02020603050405020304" pitchFamily="18" charset="0"/>
              </a:rPr>
              <a:t> 2 </a:t>
            </a:r>
            <a:r>
              <a:rPr lang="en-US" altLang="en-US" sz="2400" dirty="0" err="1">
                <a:cs typeface="Times New Roman" panose="02020603050405020304" pitchFamily="18" charset="0"/>
              </a:rPr>
              <a:t>thao</a:t>
            </a:r>
            <a:r>
              <a:rPr lang="en-US" altLang="en-US" sz="2400" dirty="0">
                <a:cs typeface="Times New Roman" panose="02020603050405020304" pitchFamily="18" charset="0"/>
              </a:rPr>
              <a:t> </a:t>
            </a:r>
            <a:r>
              <a:rPr lang="en-US" altLang="en-US" sz="2400" dirty="0" err="1">
                <a:cs typeface="Times New Roman" panose="02020603050405020304" pitchFamily="18" charset="0"/>
              </a:rPr>
              <a:t>tác</a:t>
            </a:r>
            <a:r>
              <a:rPr lang="en-US" altLang="en-US" sz="2400" dirty="0">
                <a:cs typeface="Times New Roman" panose="02020603050405020304" pitchFamily="18" charset="0"/>
              </a:rPr>
              <a:t>:</a:t>
            </a:r>
            <a:endParaRPr lang="en-US" altLang="en-US" sz="2700" dirty="0">
              <a:cs typeface="Times New Roman" panose="02020603050405020304" pitchFamily="18" charset="0"/>
            </a:endParaRPr>
          </a:p>
          <a:p>
            <a:pPr lvl="1">
              <a:spcBef>
                <a:spcPct val="15000"/>
              </a:spcBef>
            </a:pPr>
            <a:r>
              <a:rPr lang="en-US" altLang="en-US" sz="2000" dirty="0" err="1">
                <a:cs typeface="Times New Roman" panose="02020603050405020304" pitchFamily="18" charset="0"/>
              </a:rPr>
              <a:t>Phép</a:t>
            </a:r>
            <a:r>
              <a:rPr lang="en-US" altLang="en-US" sz="2000" dirty="0">
                <a:cs typeface="Times New Roman" panose="02020603050405020304" pitchFamily="18" charset="0"/>
              </a:rPr>
              <a:t> </a:t>
            </a:r>
            <a:r>
              <a:rPr lang="en-US" altLang="en-US" sz="2000" dirty="0" err="1">
                <a:cs typeface="Times New Roman" panose="02020603050405020304" pitchFamily="18" charset="0"/>
              </a:rPr>
              <a:t>thăm</a:t>
            </a:r>
            <a:r>
              <a:rPr lang="en-US" altLang="en-US" sz="2000" dirty="0">
                <a:cs typeface="Times New Roman" panose="02020603050405020304" pitchFamily="18" charset="0"/>
              </a:rPr>
              <a:t> </a:t>
            </a:r>
            <a:r>
              <a:rPr lang="en-US" altLang="en-US" sz="2000" dirty="0" err="1">
                <a:cs typeface="Times New Roman" panose="02020603050405020304" pitchFamily="18" charset="0"/>
              </a:rPr>
              <a:t>một</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(visit):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thao</a:t>
            </a:r>
            <a:r>
              <a:rPr lang="en-US" altLang="en-US" sz="2000" dirty="0">
                <a:cs typeface="Times New Roman" panose="02020603050405020304" pitchFamily="18" charset="0"/>
              </a:rPr>
              <a:t> </a:t>
            </a:r>
            <a:r>
              <a:rPr lang="en-US" altLang="en-US" sz="2000" dirty="0" err="1">
                <a:cs typeface="Times New Roman" panose="02020603050405020304" pitchFamily="18" charset="0"/>
              </a:rPr>
              <a:t>tác</a:t>
            </a:r>
            <a:r>
              <a:rPr lang="en-US" altLang="en-US" sz="2000" dirty="0">
                <a:cs typeface="Times New Roman" panose="02020603050405020304" pitchFamily="18" charset="0"/>
              </a:rPr>
              <a:t> </a:t>
            </a:r>
            <a:r>
              <a:rPr lang="en-US" altLang="en-US" sz="2000" dirty="0" err="1">
                <a:cs typeface="Times New Roman" panose="02020603050405020304" pitchFamily="18" charset="0"/>
              </a:rPr>
              <a:t>truy</a:t>
            </a:r>
            <a:r>
              <a:rPr lang="en-US" altLang="en-US" sz="2000" dirty="0">
                <a:cs typeface="Times New Roman" panose="02020603050405020304" pitchFamily="18" charset="0"/>
              </a:rPr>
              <a:t> </a:t>
            </a:r>
            <a:r>
              <a:rPr lang="en-US" altLang="en-US" sz="2000" dirty="0" err="1">
                <a:cs typeface="Times New Roman" panose="02020603050405020304" pitchFamily="18" charset="0"/>
              </a:rPr>
              <a:t>nhập</a:t>
            </a:r>
            <a:r>
              <a:rPr lang="en-US" altLang="en-US" sz="2000" dirty="0">
                <a:cs typeface="Times New Roman" panose="02020603050405020304" pitchFamily="18" charset="0"/>
              </a:rPr>
              <a:t> </a:t>
            </a:r>
            <a:r>
              <a:rPr lang="en-US" altLang="en-US" sz="2000" dirty="0" err="1">
                <a:cs typeface="Times New Roman" panose="02020603050405020304" pitchFamily="18" charset="0"/>
              </a:rPr>
              <a:t>vào</a:t>
            </a:r>
            <a:r>
              <a:rPr lang="en-US" altLang="en-US" sz="2000" dirty="0">
                <a:cs typeface="Times New Roman" panose="02020603050405020304" pitchFamily="18" charset="0"/>
              </a:rPr>
              <a:t> </a:t>
            </a:r>
            <a:r>
              <a:rPr lang="en-US" altLang="en-US" sz="2000" dirty="0" err="1">
                <a:cs typeface="Times New Roman" panose="02020603050405020304" pitchFamily="18" charset="0"/>
              </a:rPr>
              <a:t>một</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của</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để</a:t>
            </a:r>
            <a:r>
              <a:rPr lang="en-US" altLang="en-US" sz="2000" dirty="0">
                <a:cs typeface="Times New Roman" panose="02020603050405020304" pitchFamily="18" charset="0"/>
              </a:rPr>
              <a:t> </a:t>
            </a:r>
            <a:r>
              <a:rPr lang="en-US" altLang="en-US" sz="2000" dirty="0" err="1">
                <a:cs typeface="Times New Roman" panose="02020603050405020304" pitchFamily="18" charset="0"/>
              </a:rPr>
              <a:t>xử</a:t>
            </a:r>
            <a:r>
              <a:rPr lang="en-US" altLang="en-US" sz="2000" dirty="0">
                <a:cs typeface="Times New Roman" panose="02020603050405020304" pitchFamily="18" charset="0"/>
              </a:rPr>
              <a:t> </a:t>
            </a:r>
            <a:r>
              <a:rPr lang="en-US" altLang="en-US" sz="2000" dirty="0" err="1">
                <a:cs typeface="Times New Roman" panose="02020603050405020304" pitchFamily="18" charset="0"/>
              </a:rPr>
              <a:t>lý</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đó</a:t>
            </a:r>
            <a:r>
              <a:rPr lang="en-US" altLang="en-US" sz="2000" dirty="0">
                <a:cs typeface="Times New Roman" panose="02020603050405020304" pitchFamily="18" charset="0"/>
              </a:rPr>
              <a:t>.</a:t>
            </a:r>
          </a:p>
          <a:p>
            <a:pPr lvl="1">
              <a:spcBef>
                <a:spcPct val="15000"/>
              </a:spcBef>
            </a:pPr>
            <a:r>
              <a:rPr lang="en-US" altLang="en-US" sz="2000" dirty="0" err="1">
                <a:cs typeface="Times New Roman" panose="02020603050405020304" pitchFamily="18" charset="0"/>
              </a:rPr>
              <a:t>Phép</a:t>
            </a:r>
            <a:r>
              <a:rPr lang="en-US" altLang="en-US" sz="2000" dirty="0">
                <a:cs typeface="Times New Roman" panose="02020603050405020304" pitchFamily="18" charset="0"/>
              </a:rPr>
              <a:t> </a:t>
            </a:r>
            <a:r>
              <a:rPr lang="en-US" altLang="en-US" sz="2000" dirty="0" err="1">
                <a:cs typeface="Times New Roman" panose="02020603050405020304" pitchFamily="18" charset="0"/>
              </a:rPr>
              <a:t>duyệt</a:t>
            </a:r>
            <a:r>
              <a:rPr lang="en-US" altLang="en-US" sz="2000" dirty="0">
                <a:cs typeface="Times New Roman" panose="02020603050405020304" pitchFamily="18" charset="0"/>
              </a:rPr>
              <a:t> (traversal):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phép</a:t>
            </a:r>
            <a:r>
              <a:rPr lang="en-US" altLang="en-US" sz="2000" dirty="0">
                <a:cs typeface="Times New Roman" panose="02020603050405020304" pitchFamily="18" charset="0"/>
              </a:rPr>
              <a:t> </a:t>
            </a:r>
            <a:r>
              <a:rPr lang="en-US" altLang="en-US" sz="2000" dirty="0" err="1">
                <a:cs typeface="Times New Roman" panose="02020603050405020304" pitchFamily="18" charset="0"/>
              </a:rPr>
              <a:t>thăm</a:t>
            </a:r>
            <a:r>
              <a:rPr lang="en-US" altLang="en-US" sz="2000" dirty="0">
                <a:cs typeface="Times New Roman" panose="02020603050405020304" pitchFamily="18" charset="0"/>
              </a:rPr>
              <a:t> </a:t>
            </a:r>
            <a:r>
              <a:rPr lang="en-US" altLang="en-US" sz="2000" dirty="0" err="1">
                <a:cs typeface="Times New Roman" panose="02020603050405020304" pitchFamily="18" charset="0"/>
              </a:rPr>
              <a:t>một</a:t>
            </a:r>
            <a:r>
              <a:rPr lang="en-US" altLang="en-US" sz="2000" dirty="0">
                <a:cs typeface="Times New Roman" panose="02020603050405020304" pitchFamily="18" charset="0"/>
              </a:rPr>
              <a:t> </a:t>
            </a:r>
            <a:r>
              <a:rPr lang="en-US" altLang="en-US" sz="2000" dirty="0" err="1">
                <a:cs typeface="Times New Roman" panose="02020603050405020304" pitchFamily="18" charset="0"/>
              </a:rPr>
              <a:t>cách</a:t>
            </a:r>
            <a:r>
              <a:rPr lang="en-US" altLang="en-US" sz="2000" dirty="0">
                <a:cs typeface="Times New Roman" panose="02020603050405020304" pitchFamily="18" charset="0"/>
              </a:rPr>
              <a:t> </a:t>
            </a:r>
            <a:r>
              <a:rPr lang="en-US" altLang="en-US" sz="2000" dirty="0" err="1">
                <a:cs typeface="Times New Roman" panose="02020603050405020304" pitchFamily="18" charset="0"/>
              </a:rPr>
              <a:t>hệ</a:t>
            </a:r>
            <a:r>
              <a:rPr lang="en-US" altLang="en-US" sz="2000" dirty="0">
                <a:cs typeface="Times New Roman" panose="02020603050405020304" pitchFamily="18" charset="0"/>
              </a:rPr>
              <a:t> </a:t>
            </a:r>
            <a:r>
              <a:rPr lang="en-US" altLang="en-US" sz="2000" dirty="0" err="1">
                <a:cs typeface="Times New Roman" panose="02020603050405020304" pitchFamily="18" charset="0"/>
              </a:rPr>
              <a:t>thống</a:t>
            </a:r>
            <a:r>
              <a:rPr lang="en-US" altLang="en-US" sz="2000" dirty="0">
                <a:cs typeface="Times New Roman" panose="02020603050405020304" pitchFamily="18" charset="0"/>
              </a:rPr>
              <a:t> </a:t>
            </a:r>
            <a:r>
              <a:rPr lang="en-US" altLang="en-US" sz="2000" dirty="0" err="1">
                <a:cs typeface="Times New Roman" panose="02020603050405020304" pitchFamily="18" charset="0"/>
              </a:rPr>
              <a:t>tất</a:t>
            </a:r>
            <a:r>
              <a:rPr lang="en-US" altLang="en-US" sz="2000" dirty="0">
                <a:cs typeface="Times New Roman" panose="02020603050405020304" pitchFamily="18" charset="0"/>
              </a:rPr>
              <a:t> </a:t>
            </a:r>
            <a:r>
              <a:rPr lang="en-US" altLang="en-US" sz="2000" dirty="0" err="1">
                <a:cs typeface="Times New Roman" panose="02020603050405020304" pitchFamily="18" charset="0"/>
              </a:rPr>
              <a:t>cả</a:t>
            </a:r>
            <a:r>
              <a:rPr lang="en-US" altLang="en-US" sz="2000" dirty="0">
                <a:cs typeface="Times New Roman" panose="02020603050405020304" pitchFamily="18" charset="0"/>
              </a:rPr>
              <a:t> </a:t>
            </a: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của</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mỗi</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đúng</a:t>
            </a:r>
            <a:r>
              <a:rPr lang="en-US" altLang="en-US" sz="2000" dirty="0">
                <a:cs typeface="Times New Roman" panose="02020603050405020304" pitchFamily="18" charset="0"/>
              </a:rPr>
              <a:t> </a:t>
            </a:r>
            <a:r>
              <a:rPr lang="en-US" altLang="en-US" sz="2000" dirty="0" err="1">
                <a:cs typeface="Times New Roman" panose="02020603050405020304" pitchFamily="18" charset="0"/>
              </a:rPr>
              <a:t>một</a:t>
            </a:r>
            <a:r>
              <a:rPr lang="en-US" altLang="en-US" sz="2000" dirty="0">
                <a:cs typeface="Times New Roman" panose="02020603050405020304" pitchFamily="18" charset="0"/>
              </a:rPr>
              <a:t> </a:t>
            </a:r>
            <a:r>
              <a:rPr lang="en-US" altLang="en-US" sz="2000" dirty="0" err="1">
                <a:cs typeface="Times New Roman" panose="02020603050405020304" pitchFamily="18" charset="0"/>
              </a:rPr>
              <a:t>lần</a:t>
            </a:r>
            <a:r>
              <a:rPr lang="en-US" altLang="en-US" sz="2000" dirty="0">
                <a:cs typeface="Times New Roman" panose="02020603050405020304" pitchFamily="18" charset="0"/>
              </a:rPr>
              <a:t>. </a:t>
            </a:r>
          </a:p>
        </p:txBody>
      </p:sp>
    </p:spTree>
    <p:extLst>
      <p:ext uri="{BB962C8B-B14F-4D97-AF65-F5344CB8AC3E}">
        <p14:creationId xmlns:p14="http://schemas.microsoft.com/office/powerpoint/2010/main" val="5786220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p:cNvSpPr>
            <a:spLocks noGrp="1" noChangeArrowheads="1"/>
          </p:cNvSpPr>
          <p:nvPr>
            <p:ph type="title"/>
          </p:nvPr>
        </p:nvSpPr>
        <p:spPr/>
        <p:txBody>
          <a:bodyPr/>
          <a:lstStyle/>
          <a:p>
            <a:pPr eaLnBrk="1" hangingPunct="1">
              <a:lnSpc>
                <a:spcPct val="95000"/>
              </a:lnSpc>
              <a:spcBef>
                <a:spcPct val="5000"/>
              </a:spcBef>
            </a:pPr>
            <a:r>
              <a:rPr lang="en-US" altLang="en-US" dirty="0" err="1"/>
              <a:t>Giải</a:t>
            </a:r>
            <a:r>
              <a:rPr lang="en-US" altLang="en-US" dirty="0"/>
              <a:t> </a:t>
            </a:r>
            <a:r>
              <a:rPr lang="en-US" altLang="en-US" dirty="0" err="1"/>
              <a:t>thuật</a:t>
            </a:r>
            <a:r>
              <a:rPr lang="en-US" altLang="en-US" dirty="0"/>
              <a:t> </a:t>
            </a:r>
            <a:r>
              <a:rPr lang="en-US" altLang="en-US" dirty="0" err="1"/>
              <a:t>duyệt</a:t>
            </a:r>
            <a:r>
              <a:rPr lang="en-US" altLang="en-US" dirty="0"/>
              <a:t> </a:t>
            </a:r>
            <a:r>
              <a:rPr lang="en-US" altLang="en-US" dirty="0" err="1"/>
              <a:t>cây</a:t>
            </a:r>
            <a:endParaRPr lang="en-US" altLang="en-US" dirty="0"/>
          </a:p>
        </p:txBody>
      </p:sp>
      <p:sp>
        <p:nvSpPr>
          <p:cNvPr id="23557" name="Rectangle 3"/>
          <p:cNvSpPr>
            <a:spLocks noGrp="1" noChangeArrowheads="1"/>
          </p:cNvSpPr>
          <p:nvPr>
            <p:ph type="body" sz="quarter" idx="13"/>
          </p:nvPr>
        </p:nvSpPr>
        <p:spPr>
          <a:noFill/>
        </p:spPr>
        <p:txBody>
          <a:bodyPr/>
          <a:lstStyle/>
          <a:p>
            <a:pPr>
              <a:lnSpc>
                <a:spcPct val="95000"/>
              </a:lnSpc>
              <a:spcBef>
                <a:spcPct val="5000"/>
              </a:spcBef>
            </a:pPr>
            <a:r>
              <a:rPr lang="en-US" altLang="en-US" sz="2400" dirty="0" err="1">
                <a:cs typeface="Times New Roman" panose="02020603050405020304" pitchFamily="18" charset="0"/>
              </a:rPr>
              <a:t>Hướng</a:t>
            </a:r>
            <a:r>
              <a:rPr lang="en-US" altLang="en-US" sz="2400" dirty="0">
                <a:cs typeface="Times New Roman" panose="02020603050405020304" pitchFamily="18" charset="0"/>
              </a:rPr>
              <a:t> </a:t>
            </a:r>
            <a:r>
              <a:rPr lang="en-US" altLang="en-US" sz="2400" dirty="0" err="1">
                <a:cs typeface="Times New Roman" panose="02020603050405020304" pitchFamily="18" charset="0"/>
              </a:rPr>
              <a:t>thứ</a:t>
            </a:r>
            <a:r>
              <a:rPr lang="en-US" altLang="en-US" sz="2400" dirty="0">
                <a:cs typeface="Times New Roman" panose="02020603050405020304" pitchFamily="18" charset="0"/>
              </a:rPr>
              <a:t> </a:t>
            </a:r>
            <a:r>
              <a:rPr lang="en-US" altLang="en-US" sz="2400" dirty="0" err="1">
                <a:cs typeface="Times New Roman" panose="02020603050405020304" pitchFamily="18" charset="0"/>
              </a:rPr>
              <a:t>nhất</a:t>
            </a:r>
            <a:r>
              <a:rPr lang="en-US" altLang="en-US" sz="2400" dirty="0">
                <a:cs typeface="Times New Roman" panose="02020603050405020304" pitchFamily="18" charset="0"/>
              </a:rPr>
              <a:t>: </a:t>
            </a:r>
            <a:r>
              <a:rPr lang="en-US" altLang="en-US" sz="2400" dirty="0" err="1">
                <a:cs typeface="Times New Roman" panose="02020603050405020304" pitchFamily="18" charset="0"/>
              </a:rPr>
              <a:t>dựa</a:t>
            </a:r>
            <a:r>
              <a:rPr lang="en-US" altLang="en-US" sz="2400" dirty="0">
                <a:cs typeface="Times New Roman" panose="02020603050405020304" pitchFamily="18" charset="0"/>
              </a:rPr>
              <a:t> </a:t>
            </a:r>
            <a:r>
              <a:rPr lang="en-US" altLang="en-US" sz="2400" dirty="0" err="1">
                <a:cs typeface="Times New Roman" panose="02020603050405020304" pitchFamily="18" charset="0"/>
              </a:rPr>
              <a:t>vào</a:t>
            </a:r>
            <a:r>
              <a:rPr lang="en-US" altLang="en-US" sz="2400" dirty="0">
                <a:cs typeface="Times New Roman" panose="02020603050405020304" pitchFamily="18" charset="0"/>
              </a:rPr>
              <a:t> </a:t>
            </a:r>
            <a:r>
              <a:rPr lang="en-US" altLang="en-US" sz="2400" dirty="0" err="1">
                <a:cs typeface="Times New Roman" panose="02020603050405020304" pitchFamily="18" charset="0"/>
              </a:rPr>
              <a:t>tính</a:t>
            </a:r>
            <a:r>
              <a:rPr lang="en-US" altLang="en-US" sz="2400" dirty="0">
                <a:cs typeface="Times New Roman" panose="02020603050405020304" pitchFamily="18" charset="0"/>
              </a:rPr>
              <a:t> </a:t>
            </a:r>
            <a:r>
              <a:rPr lang="en-US" altLang="en-US" sz="2400" dirty="0" err="1">
                <a:cs typeface="Times New Roman" panose="02020603050405020304" pitchFamily="18" charset="0"/>
              </a:rPr>
              <a:t>chất</a:t>
            </a:r>
            <a:r>
              <a:rPr lang="en-US" altLang="en-US" sz="2400" dirty="0">
                <a:cs typeface="Times New Roman" panose="02020603050405020304" pitchFamily="18" charset="0"/>
              </a:rPr>
              <a:t> </a:t>
            </a:r>
            <a:r>
              <a:rPr lang="en-US" altLang="en-US" sz="2400" dirty="0" err="1">
                <a:cs typeface="Times New Roman" panose="02020603050405020304" pitchFamily="18" charset="0"/>
              </a:rPr>
              <a:t>đệ</a:t>
            </a:r>
            <a:r>
              <a:rPr lang="en-US" altLang="en-US" sz="2400" dirty="0">
                <a:cs typeface="Times New Roman" panose="02020603050405020304" pitchFamily="18" charset="0"/>
              </a:rPr>
              <a:t> </a:t>
            </a:r>
            <a:r>
              <a:rPr lang="en-US" altLang="en-US" sz="2400" dirty="0" err="1">
                <a:cs typeface="Times New Roman" panose="02020603050405020304" pitchFamily="18" charset="0"/>
              </a:rPr>
              <a:t>quy</a:t>
            </a:r>
            <a:r>
              <a:rPr lang="en-US" altLang="en-US" sz="2400" dirty="0">
                <a:cs typeface="Times New Roman" panose="02020603050405020304" pitchFamily="18" charset="0"/>
              </a:rPr>
              <a:t> </a:t>
            </a:r>
            <a:r>
              <a:rPr lang="en-US" altLang="en-US" sz="2400" dirty="0" err="1">
                <a:cs typeface="Times New Roman" panose="02020603050405020304" pitchFamily="18" charset="0"/>
              </a:rPr>
              <a:t>của</a:t>
            </a:r>
            <a:r>
              <a:rPr lang="en-US" altLang="en-US" sz="2400" dirty="0">
                <a:cs typeface="Times New Roman" panose="02020603050405020304" pitchFamily="18" charset="0"/>
              </a:rPr>
              <a:t> </a:t>
            </a:r>
            <a:r>
              <a:rPr lang="en-US" altLang="en-US" sz="2400" dirty="0" err="1">
                <a:cs typeface="Times New Roman" panose="02020603050405020304" pitchFamily="18" charset="0"/>
              </a:rPr>
              <a:t>cây</a:t>
            </a:r>
            <a:endParaRPr lang="en-US" altLang="en-US" sz="2400" dirty="0">
              <a:cs typeface="Times New Roman" panose="02020603050405020304" pitchFamily="18" charset="0"/>
            </a:endParaRPr>
          </a:p>
          <a:p>
            <a:pPr lvl="1">
              <a:lnSpc>
                <a:spcPct val="95000"/>
              </a:lnSpc>
              <a:spcBef>
                <a:spcPct val="5000"/>
              </a:spcBef>
            </a:pPr>
            <a:r>
              <a:rPr lang="en-US" altLang="en-US" sz="2000" dirty="0" err="1">
                <a:cs typeface="Times New Roman" panose="02020603050405020304" pitchFamily="18" charset="0"/>
              </a:rPr>
              <a:t>Duyệt</a:t>
            </a:r>
            <a:r>
              <a:rPr lang="en-US" altLang="en-US" sz="2000" dirty="0">
                <a:cs typeface="Times New Roman" panose="02020603050405020304" pitchFamily="18" charset="0"/>
              </a:rPr>
              <a:t> </a:t>
            </a:r>
            <a:r>
              <a:rPr lang="en-US" altLang="en-US" sz="2000" dirty="0" err="1">
                <a:cs typeface="Times New Roman" panose="02020603050405020304" pitchFamily="18" charset="0"/>
              </a:rPr>
              <a:t>theo</a:t>
            </a:r>
            <a:r>
              <a:rPr lang="en-US" altLang="en-US" sz="2000" dirty="0">
                <a:cs typeface="Times New Roman" panose="02020603050405020304" pitchFamily="18" charset="0"/>
              </a:rPr>
              <a:t> </a:t>
            </a:r>
            <a:r>
              <a:rPr lang="en-US" altLang="en-US" sz="2000" dirty="0" err="1">
                <a:cs typeface="Times New Roman" panose="02020603050405020304" pitchFamily="18" charset="0"/>
              </a:rPr>
              <a:t>thứ</a:t>
            </a:r>
            <a:r>
              <a:rPr lang="en-US" altLang="en-US" sz="2000" dirty="0">
                <a:cs typeface="Times New Roman" panose="02020603050405020304" pitchFamily="18" charset="0"/>
              </a:rPr>
              <a:t> </a:t>
            </a:r>
            <a:r>
              <a:rPr lang="en-US" altLang="en-US" sz="2000" dirty="0" err="1">
                <a:cs typeface="Times New Roman" panose="02020603050405020304" pitchFamily="18" charset="0"/>
              </a:rPr>
              <a:t>tự</a:t>
            </a:r>
            <a:r>
              <a:rPr lang="en-US" altLang="en-US" sz="2000" dirty="0">
                <a:cs typeface="Times New Roman" panose="02020603050405020304" pitchFamily="18" charset="0"/>
              </a:rPr>
              <a:t> </a:t>
            </a:r>
            <a:r>
              <a:rPr lang="en-US" altLang="en-US" sz="2000" dirty="0" err="1">
                <a:cs typeface="Times New Roman" panose="02020603050405020304" pitchFamily="18" charset="0"/>
              </a:rPr>
              <a:t>trước</a:t>
            </a:r>
            <a:r>
              <a:rPr lang="en-US" altLang="en-US" sz="2000" dirty="0">
                <a:cs typeface="Times New Roman" panose="02020603050405020304" pitchFamily="18" charset="0"/>
              </a:rPr>
              <a:t> (preorder traversal) </a:t>
            </a:r>
            <a:r>
              <a:rPr lang="en-US" altLang="en-US" sz="2000" dirty="0" err="1">
                <a:cs typeface="Times New Roman" panose="02020603050405020304" pitchFamily="18" charset="0"/>
              </a:rPr>
              <a:t>còn</a:t>
            </a:r>
            <a:r>
              <a:rPr lang="en-US" altLang="en-US" sz="2000" dirty="0">
                <a:cs typeface="Times New Roman" panose="02020603050405020304" pitchFamily="18" charset="0"/>
              </a:rPr>
              <a:t> </a:t>
            </a:r>
            <a:r>
              <a:rPr lang="en-US" altLang="en-US" sz="2000" dirty="0" err="1">
                <a:cs typeface="Times New Roman" panose="02020603050405020304" pitchFamily="18" charset="0"/>
              </a:rPr>
              <a:t>gọi</a:t>
            </a:r>
            <a:r>
              <a:rPr lang="en-US" altLang="en-US" sz="2000" dirty="0">
                <a:cs typeface="Times New Roman" panose="02020603050405020304" pitchFamily="18" charset="0"/>
              </a:rPr>
              <a:t>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duyệt</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theo</a:t>
            </a:r>
            <a:r>
              <a:rPr lang="en-US" altLang="en-US" sz="2000" dirty="0">
                <a:cs typeface="Times New Roman" panose="02020603050405020304" pitchFamily="18" charset="0"/>
              </a:rPr>
              <a:t> </a:t>
            </a:r>
            <a:r>
              <a:rPr lang="en-US" altLang="en-US" sz="2000" dirty="0" err="1">
                <a:cs typeface="Times New Roman" panose="02020603050405020304" pitchFamily="18" charset="0"/>
              </a:rPr>
              <a:t>chiều</a:t>
            </a:r>
            <a:r>
              <a:rPr lang="en-US" altLang="en-US" sz="2000" dirty="0">
                <a:cs typeface="Times New Roman" panose="02020603050405020304" pitchFamily="18" charset="0"/>
              </a:rPr>
              <a:t> </a:t>
            </a:r>
            <a:r>
              <a:rPr lang="en-US" altLang="en-US" sz="2000" dirty="0" err="1">
                <a:cs typeface="Times New Roman" panose="02020603050405020304" pitchFamily="18" charset="0"/>
              </a:rPr>
              <a:t>sâu</a:t>
            </a:r>
            <a:endParaRPr lang="en-US" altLang="en-US" sz="2000" dirty="0">
              <a:cs typeface="Times New Roman" panose="02020603050405020304" pitchFamily="18" charset="0"/>
            </a:endParaRPr>
          </a:p>
          <a:p>
            <a:pPr lvl="1">
              <a:lnSpc>
                <a:spcPct val="95000"/>
              </a:lnSpc>
              <a:spcBef>
                <a:spcPct val="5000"/>
              </a:spcBef>
            </a:pPr>
            <a:r>
              <a:rPr lang="en-US" altLang="en-US" sz="2000" dirty="0" err="1">
                <a:cs typeface="Times New Roman" panose="02020603050405020304" pitchFamily="18" charset="0"/>
              </a:rPr>
              <a:t>Duyệt</a:t>
            </a:r>
            <a:r>
              <a:rPr lang="en-US" altLang="en-US" sz="2000" dirty="0">
                <a:cs typeface="Times New Roman" panose="02020603050405020304" pitchFamily="18" charset="0"/>
              </a:rPr>
              <a:t> </a:t>
            </a:r>
            <a:r>
              <a:rPr lang="en-US" altLang="en-US" sz="2000" dirty="0" err="1">
                <a:cs typeface="Times New Roman" panose="02020603050405020304" pitchFamily="18" charset="0"/>
              </a:rPr>
              <a:t>theo</a:t>
            </a:r>
            <a:r>
              <a:rPr lang="en-US" altLang="en-US" sz="2000" dirty="0">
                <a:cs typeface="Times New Roman" panose="02020603050405020304" pitchFamily="18" charset="0"/>
              </a:rPr>
              <a:t> </a:t>
            </a:r>
            <a:r>
              <a:rPr lang="en-US" altLang="en-US" sz="2000" dirty="0" err="1">
                <a:cs typeface="Times New Roman" panose="02020603050405020304" pitchFamily="18" charset="0"/>
              </a:rPr>
              <a:t>thứ</a:t>
            </a:r>
            <a:r>
              <a:rPr lang="en-US" altLang="en-US" sz="2000" dirty="0">
                <a:cs typeface="Times New Roman" panose="02020603050405020304" pitchFamily="18" charset="0"/>
              </a:rPr>
              <a:t> </a:t>
            </a:r>
            <a:r>
              <a:rPr lang="en-US" altLang="en-US" sz="2000" dirty="0" err="1">
                <a:cs typeface="Times New Roman" panose="02020603050405020304" pitchFamily="18" charset="0"/>
              </a:rPr>
              <a:t>tự</a:t>
            </a:r>
            <a:r>
              <a:rPr lang="en-US" altLang="en-US" sz="2000" dirty="0">
                <a:cs typeface="Times New Roman" panose="02020603050405020304" pitchFamily="18" charset="0"/>
              </a:rPr>
              <a:t> </a:t>
            </a:r>
            <a:r>
              <a:rPr lang="en-US" altLang="en-US" sz="2000" dirty="0" err="1">
                <a:cs typeface="Times New Roman" panose="02020603050405020304" pitchFamily="18" charset="0"/>
              </a:rPr>
              <a:t>giữa</a:t>
            </a:r>
            <a:r>
              <a:rPr lang="en-US" altLang="en-US" sz="2000" dirty="0">
                <a:cs typeface="Times New Roman" panose="02020603050405020304" pitchFamily="18" charset="0"/>
              </a:rPr>
              <a:t> (</a:t>
            </a:r>
            <a:r>
              <a:rPr lang="en-US" altLang="en-US" sz="2000" dirty="0" err="1">
                <a:cs typeface="Times New Roman" panose="02020603050405020304" pitchFamily="18" charset="0"/>
              </a:rPr>
              <a:t>inorder</a:t>
            </a:r>
            <a:r>
              <a:rPr lang="en-US" altLang="en-US" sz="2000" dirty="0">
                <a:cs typeface="Times New Roman" panose="02020603050405020304" pitchFamily="18" charset="0"/>
              </a:rPr>
              <a:t> traversal) </a:t>
            </a:r>
          </a:p>
          <a:p>
            <a:pPr lvl="1">
              <a:lnSpc>
                <a:spcPct val="95000"/>
              </a:lnSpc>
              <a:spcBef>
                <a:spcPct val="5000"/>
              </a:spcBef>
            </a:pPr>
            <a:r>
              <a:rPr lang="en-US" altLang="en-US" sz="2000" dirty="0" err="1">
                <a:cs typeface="Times New Roman" panose="02020603050405020304" pitchFamily="18" charset="0"/>
              </a:rPr>
              <a:t>Duyệt</a:t>
            </a:r>
            <a:r>
              <a:rPr lang="en-US" altLang="en-US" sz="2000" dirty="0">
                <a:cs typeface="Times New Roman" panose="02020603050405020304" pitchFamily="18" charset="0"/>
              </a:rPr>
              <a:t> </a:t>
            </a:r>
            <a:r>
              <a:rPr lang="en-US" altLang="en-US" sz="2000" dirty="0" err="1">
                <a:cs typeface="Times New Roman" panose="02020603050405020304" pitchFamily="18" charset="0"/>
              </a:rPr>
              <a:t>theo</a:t>
            </a:r>
            <a:r>
              <a:rPr lang="en-US" altLang="en-US" sz="2000" dirty="0">
                <a:cs typeface="Times New Roman" panose="02020603050405020304" pitchFamily="18" charset="0"/>
              </a:rPr>
              <a:t> </a:t>
            </a:r>
            <a:r>
              <a:rPr lang="en-US" altLang="en-US" sz="2000" dirty="0" err="1">
                <a:cs typeface="Times New Roman" panose="02020603050405020304" pitchFamily="18" charset="0"/>
              </a:rPr>
              <a:t>thứ</a:t>
            </a:r>
            <a:r>
              <a:rPr lang="en-US" altLang="en-US" sz="2000" dirty="0">
                <a:cs typeface="Times New Roman" panose="02020603050405020304" pitchFamily="18" charset="0"/>
              </a:rPr>
              <a:t> </a:t>
            </a:r>
            <a:r>
              <a:rPr lang="en-US" altLang="en-US" sz="2000" dirty="0" err="1">
                <a:cs typeface="Times New Roman" panose="02020603050405020304" pitchFamily="18" charset="0"/>
              </a:rPr>
              <a:t>tự</a:t>
            </a:r>
            <a:r>
              <a:rPr lang="en-US" altLang="en-US" sz="2000" dirty="0">
                <a:cs typeface="Times New Roman" panose="02020603050405020304" pitchFamily="18" charset="0"/>
              </a:rPr>
              <a:t> </a:t>
            </a:r>
            <a:r>
              <a:rPr lang="en-US" altLang="en-US" sz="2000" dirty="0" err="1">
                <a:cs typeface="Times New Roman" panose="02020603050405020304" pitchFamily="18" charset="0"/>
              </a:rPr>
              <a:t>sau</a:t>
            </a:r>
            <a:r>
              <a:rPr lang="en-US" altLang="en-US" sz="2000" dirty="0">
                <a:cs typeface="Times New Roman" panose="02020603050405020304" pitchFamily="18" charset="0"/>
              </a:rPr>
              <a:t> (</a:t>
            </a:r>
            <a:r>
              <a:rPr lang="en-US" altLang="en-US" sz="2000" dirty="0" err="1">
                <a:cs typeface="Times New Roman" panose="02020603050405020304" pitchFamily="18" charset="0"/>
              </a:rPr>
              <a:t>postorder</a:t>
            </a:r>
            <a:r>
              <a:rPr lang="en-US" altLang="en-US" sz="2000" dirty="0">
                <a:cs typeface="Times New Roman" panose="02020603050405020304" pitchFamily="18" charset="0"/>
              </a:rPr>
              <a:t> traversal)</a:t>
            </a:r>
          </a:p>
          <a:p>
            <a:pPr>
              <a:lnSpc>
                <a:spcPct val="95000"/>
              </a:lnSpc>
              <a:spcBef>
                <a:spcPct val="5000"/>
              </a:spcBef>
            </a:pPr>
            <a:r>
              <a:rPr lang="en-US" altLang="en-US" sz="2400" dirty="0" err="1">
                <a:cs typeface="Times New Roman" panose="02020603050405020304" pitchFamily="18" charset="0"/>
              </a:rPr>
              <a:t>Hướng</a:t>
            </a:r>
            <a:r>
              <a:rPr lang="en-US" altLang="en-US" sz="2400" dirty="0">
                <a:cs typeface="Times New Roman" panose="02020603050405020304" pitchFamily="18" charset="0"/>
              </a:rPr>
              <a:t> </a:t>
            </a:r>
            <a:r>
              <a:rPr lang="en-US" altLang="en-US" sz="2400" dirty="0" err="1">
                <a:cs typeface="Times New Roman" panose="02020603050405020304" pitchFamily="18" charset="0"/>
              </a:rPr>
              <a:t>thứ</a:t>
            </a:r>
            <a:r>
              <a:rPr lang="en-US" altLang="en-US" sz="2400" dirty="0">
                <a:cs typeface="Times New Roman" panose="02020603050405020304" pitchFamily="18" charset="0"/>
              </a:rPr>
              <a:t> </a:t>
            </a:r>
            <a:r>
              <a:rPr lang="en-US" altLang="en-US" sz="2400" dirty="0" err="1">
                <a:cs typeface="Times New Roman" panose="02020603050405020304" pitchFamily="18" charset="0"/>
              </a:rPr>
              <a:t>hai</a:t>
            </a:r>
            <a:r>
              <a:rPr lang="en-US" altLang="en-US" sz="2400" dirty="0">
                <a:cs typeface="Times New Roman" panose="02020603050405020304" pitchFamily="18" charset="0"/>
              </a:rPr>
              <a:t>: </a:t>
            </a:r>
            <a:r>
              <a:rPr lang="en-US" altLang="en-US" sz="2400" dirty="0" err="1">
                <a:cs typeface="Times New Roman" panose="02020603050405020304" pitchFamily="18" charset="0"/>
              </a:rPr>
              <a:t>Chuyển</a:t>
            </a:r>
            <a:r>
              <a:rPr lang="en-US" altLang="en-US" sz="2400" dirty="0">
                <a:cs typeface="Times New Roman" panose="02020603050405020304" pitchFamily="18" charset="0"/>
              </a:rPr>
              <a:t> </a:t>
            </a:r>
            <a:r>
              <a:rPr lang="en-US" altLang="en-US" sz="2400" dirty="0" err="1">
                <a:cs typeface="Times New Roman" panose="02020603050405020304" pitchFamily="18" charset="0"/>
              </a:rPr>
              <a:t>cấu</a:t>
            </a:r>
            <a:r>
              <a:rPr lang="en-US" altLang="en-US" sz="2400" dirty="0">
                <a:cs typeface="Times New Roman" panose="02020603050405020304" pitchFamily="18" charset="0"/>
              </a:rPr>
              <a:t> </a:t>
            </a:r>
            <a:r>
              <a:rPr lang="en-US" altLang="en-US" sz="2400" dirty="0" err="1">
                <a:cs typeface="Times New Roman" panose="02020603050405020304" pitchFamily="18" charset="0"/>
              </a:rPr>
              <a:t>trúc</a:t>
            </a:r>
            <a:r>
              <a:rPr lang="en-US" altLang="en-US" sz="2400" dirty="0">
                <a:cs typeface="Times New Roman" panose="02020603050405020304" pitchFamily="18" charset="0"/>
              </a:rPr>
              <a:t> </a:t>
            </a:r>
            <a:r>
              <a:rPr lang="en-US" altLang="en-US" sz="2400" dirty="0" err="1">
                <a:cs typeface="Times New Roman" panose="02020603050405020304" pitchFamily="18" charset="0"/>
              </a:rPr>
              <a:t>cây</a:t>
            </a:r>
            <a:r>
              <a:rPr lang="en-US" altLang="en-US" sz="2400" dirty="0">
                <a:cs typeface="Times New Roman" panose="02020603050405020304" pitchFamily="18" charset="0"/>
              </a:rPr>
              <a:t> </a:t>
            </a:r>
            <a:r>
              <a:rPr lang="en-US" altLang="en-US" sz="2400" dirty="0" err="1">
                <a:cs typeface="Times New Roman" panose="02020603050405020304" pitchFamily="18" charset="0"/>
              </a:rPr>
              <a:t>về</a:t>
            </a:r>
            <a:r>
              <a:rPr lang="en-US" altLang="en-US" sz="2400" dirty="0">
                <a:cs typeface="Times New Roman" panose="02020603050405020304" pitchFamily="18" charset="0"/>
              </a:rPr>
              <a:t> CT </a:t>
            </a:r>
            <a:r>
              <a:rPr lang="en-US" altLang="en-US" sz="2400" dirty="0" err="1">
                <a:cs typeface="Times New Roman" panose="02020603050405020304" pitchFamily="18" charset="0"/>
              </a:rPr>
              <a:t>danh</a:t>
            </a:r>
            <a:r>
              <a:rPr lang="en-US" altLang="en-US" sz="2400" dirty="0">
                <a:cs typeface="Times New Roman" panose="02020603050405020304" pitchFamily="18" charset="0"/>
              </a:rPr>
              <a:t> </a:t>
            </a:r>
            <a:r>
              <a:rPr lang="en-US" altLang="en-US" sz="2400" dirty="0" err="1">
                <a:cs typeface="Times New Roman" panose="02020603050405020304" pitchFamily="18" charset="0"/>
              </a:rPr>
              <a:t>sách</a:t>
            </a:r>
            <a:endParaRPr lang="en-US" altLang="en-US" sz="2400" dirty="0">
              <a:cs typeface="Times New Roman" panose="02020603050405020304" pitchFamily="18" charset="0"/>
            </a:endParaRPr>
          </a:p>
          <a:p>
            <a:pPr lvl="1">
              <a:lnSpc>
                <a:spcPct val="95000"/>
              </a:lnSpc>
              <a:spcBef>
                <a:spcPct val="5000"/>
              </a:spcBef>
            </a:pPr>
            <a:r>
              <a:rPr lang="en-US" altLang="en-US" sz="2000" dirty="0" err="1">
                <a:cs typeface="Times New Roman" panose="02020603050405020304" pitchFamily="18" charset="0"/>
              </a:rPr>
              <a:t>Đưa</a:t>
            </a:r>
            <a:r>
              <a:rPr lang="en-US" altLang="en-US" sz="2000" dirty="0">
                <a:cs typeface="Times New Roman" panose="02020603050405020304" pitchFamily="18" charset="0"/>
              </a:rPr>
              <a:t> </a:t>
            </a:r>
            <a:r>
              <a:rPr lang="en-US" altLang="en-US" sz="2000" dirty="0" err="1">
                <a:cs typeface="Times New Roman" panose="02020603050405020304" pitchFamily="18" charset="0"/>
              </a:rPr>
              <a:t>bài</a:t>
            </a:r>
            <a:r>
              <a:rPr lang="en-US" altLang="en-US" sz="2000" dirty="0">
                <a:cs typeface="Times New Roman" panose="02020603050405020304" pitchFamily="18" charset="0"/>
              </a:rPr>
              <a:t> </a:t>
            </a:r>
            <a:r>
              <a:rPr lang="en-US" altLang="en-US" sz="2000" dirty="0" err="1">
                <a:cs typeface="Times New Roman" panose="02020603050405020304" pitchFamily="18" charset="0"/>
              </a:rPr>
              <a:t>toán</a:t>
            </a:r>
            <a:r>
              <a:rPr lang="en-US" altLang="en-US" sz="2000" dirty="0">
                <a:cs typeface="Times New Roman" panose="02020603050405020304" pitchFamily="18" charset="0"/>
              </a:rPr>
              <a:t> </a:t>
            </a:r>
            <a:r>
              <a:rPr lang="en-US" altLang="en-US" sz="2000" dirty="0" err="1">
                <a:cs typeface="Times New Roman" panose="02020603050405020304" pitchFamily="18" charset="0"/>
              </a:rPr>
              <a:t>duyệt</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về</a:t>
            </a:r>
            <a:r>
              <a:rPr lang="en-US" altLang="en-US" sz="2000" dirty="0">
                <a:cs typeface="Times New Roman" panose="02020603050405020304" pitchFamily="18" charset="0"/>
              </a:rPr>
              <a:t> </a:t>
            </a:r>
            <a:r>
              <a:rPr lang="en-US" altLang="en-US" sz="2000" dirty="0" err="1">
                <a:cs typeface="Times New Roman" panose="02020603050405020304" pitchFamily="18" charset="0"/>
              </a:rPr>
              <a:t>bài</a:t>
            </a:r>
            <a:r>
              <a:rPr lang="en-US" altLang="en-US" sz="2000" dirty="0">
                <a:cs typeface="Times New Roman" panose="02020603050405020304" pitchFamily="18" charset="0"/>
              </a:rPr>
              <a:t> </a:t>
            </a:r>
            <a:r>
              <a:rPr lang="en-US" altLang="en-US" sz="2000" dirty="0" err="1">
                <a:cs typeface="Times New Roman" panose="02020603050405020304" pitchFamily="18" charset="0"/>
              </a:rPr>
              <a:t>toán</a:t>
            </a:r>
            <a:r>
              <a:rPr lang="en-US" altLang="en-US" sz="2000" dirty="0">
                <a:cs typeface="Times New Roman" panose="02020603050405020304" pitchFamily="18" charset="0"/>
              </a:rPr>
              <a:t> </a:t>
            </a:r>
            <a:r>
              <a:rPr lang="en-US" altLang="en-US" sz="2000" dirty="0" err="1">
                <a:cs typeface="Times New Roman" panose="02020603050405020304" pitchFamily="18" charset="0"/>
              </a:rPr>
              <a:t>duyệt</a:t>
            </a:r>
            <a:r>
              <a:rPr lang="en-US" altLang="en-US" sz="2000" dirty="0">
                <a:cs typeface="Times New Roman" panose="02020603050405020304" pitchFamily="18" charset="0"/>
              </a:rPr>
              <a:t> </a:t>
            </a:r>
            <a:r>
              <a:rPr lang="en-US" altLang="en-US" sz="2000" dirty="0" err="1">
                <a:cs typeface="Times New Roman" panose="02020603050405020304" pitchFamily="18" charset="0"/>
              </a:rPr>
              <a:t>danh</a:t>
            </a:r>
            <a:r>
              <a:rPr lang="en-US" altLang="en-US" sz="2000" dirty="0">
                <a:cs typeface="Times New Roman" panose="02020603050405020304" pitchFamily="18" charset="0"/>
              </a:rPr>
              <a:t> </a:t>
            </a:r>
            <a:r>
              <a:rPr lang="en-US" altLang="en-US" sz="2000" dirty="0" err="1">
                <a:cs typeface="Times New Roman" panose="02020603050405020304" pitchFamily="18" charset="0"/>
              </a:rPr>
              <a:t>sách</a:t>
            </a:r>
            <a:r>
              <a:rPr lang="en-US" altLang="en-US" sz="2000" dirty="0">
                <a:cs typeface="Times New Roman" panose="02020603050405020304" pitchFamily="18" charset="0"/>
              </a:rPr>
              <a:t> </a:t>
            </a:r>
            <a:r>
              <a:rPr lang="en-US" altLang="en-US" sz="2000" dirty="0" err="1">
                <a:cs typeface="Times New Roman" panose="02020603050405020304" pitchFamily="18" charset="0"/>
              </a:rPr>
              <a:t>đơn</a:t>
            </a:r>
            <a:r>
              <a:rPr lang="en-US" altLang="en-US" sz="2000" dirty="0">
                <a:cs typeface="Times New Roman" panose="02020603050405020304" pitchFamily="18" charset="0"/>
              </a:rPr>
              <a:t> </a:t>
            </a:r>
            <a:r>
              <a:rPr lang="en-US" altLang="en-US" sz="2000" dirty="0" err="1">
                <a:cs typeface="Times New Roman" panose="02020603050405020304" pitchFamily="18" charset="0"/>
              </a:rPr>
              <a:t>giản</a:t>
            </a:r>
            <a:r>
              <a:rPr lang="en-US" altLang="en-US" sz="2000" dirty="0">
                <a:cs typeface="Times New Roman" panose="02020603050405020304" pitchFamily="18" charset="0"/>
              </a:rPr>
              <a:t> </a:t>
            </a:r>
            <a:r>
              <a:rPr lang="en-US" altLang="en-US" sz="2000" dirty="0" err="1">
                <a:cs typeface="Times New Roman" panose="02020603050405020304" pitchFamily="18" charset="0"/>
              </a:rPr>
              <a:t>hơn</a:t>
            </a:r>
            <a:r>
              <a:rPr lang="en-US" altLang="en-US" sz="2000" dirty="0">
                <a:cs typeface="Times New Roman" panose="02020603050405020304" pitchFamily="18" charset="0"/>
              </a:rPr>
              <a:t> </a:t>
            </a:r>
          </a:p>
          <a:p>
            <a:pPr lvl="1">
              <a:lnSpc>
                <a:spcPct val="95000"/>
              </a:lnSpc>
              <a:spcBef>
                <a:spcPct val="5000"/>
              </a:spcBef>
            </a:pPr>
            <a:r>
              <a:rPr lang="en-US" altLang="en-US" sz="2000" dirty="0" err="1">
                <a:cs typeface="Times New Roman" panose="02020603050405020304" pitchFamily="18" charset="0"/>
              </a:rPr>
              <a:t>Sử</a:t>
            </a:r>
            <a:r>
              <a:rPr lang="en-US" altLang="en-US" sz="2000" dirty="0">
                <a:cs typeface="Times New Roman" panose="02020603050405020304" pitchFamily="18" charset="0"/>
              </a:rPr>
              <a:t> </a:t>
            </a:r>
            <a:r>
              <a:rPr lang="en-US" altLang="en-US" sz="2000" dirty="0" err="1">
                <a:cs typeface="Times New Roman" panose="02020603050405020304" pitchFamily="18" charset="0"/>
              </a:rPr>
              <a:t>dụng</a:t>
            </a:r>
            <a:r>
              <a:rPr lang="en-US" altLang="en-US" sz="2000" dirty="0">
                <a:cs typeface="Times New Roman" panose="02020603050405020304" pitchFamily="18" charset="0"/>
              </a:rPr>
              <a:t> </a:t>
            </a:r>
            <a:r>
              <a:rPr lang="en-US" altLang="en-US" sz="2000" dirty="0" err="1">
                <a:cs typeface="Times New Roman" panose="02020603050405020304" pitchFamily="18" charset="0"/>
              </a:rPr>
              <a:t>một</a:t>
            </a:r>
            <a:r>
              <a:rPr lang="en-US" altLang="en-US" sz="2000" dirty="0">
                <a:cs typeface="Times New Roman" panose="02020603050405020304" pitchFamily="18" charset="0"/>
              </a:rPr>
              <a:t> </a:t>
            </a:r>
            <a:r>
              <a:rPr lang="en-US" altLang="en-US" sz="2000" dirty="0" err="1">
                <a:cs typeface="Times New Roman" panose="02020603050405020304" pitchFamily="18" charset="0"/>
              </a:rPr>
              <a:t>danh</a:t>
            </a:r>
            <a:r>
              <a:rPr lang="en-US" altLang="en-US" sz="2000" dirty="0">
                <a:cs typeface="Times New Roman" panose="02020603050405020304" pitchFamily="18" charset="0"/>
              </a:rPr>
              <a:t> </a:t>
            </a:r>
            <a:r>
              <a:rPr lang="en-US" altLang="en-US" sz="2000" dirty="0" err="1">
                <a:cs typeface="Times New Roman" panose="02020603050405020304" pitchFamily="18" charset="0"/>
              </a:rPr>
              <a:t>sách</a:t>
            </a:r>
            <a:r>
              <a:rPr lang="en-US" altLang="en-US" sz="2000" dirty="0">
                <a:cs typeface="Times New Roman" panose="02020603050405020304" pitchFamily="18" charset="0"/>
              </a:rPr>
              <a:t> </a:t>
            </a:r>
            <a:r>
              <a:rPr lang="en-US" altLang="en-US" sz="2000" dirty="0" err="1">
                <a:cs typeface="Times New Roman" panose="02020603050405020304" pitchFamily="18" charset="0"/>
              </a:rPr>
              <a:t>để</a:t>
            </a:r>
            <a:r>
              <a:rPr lang="en-US" altLang="en-US" sz="2000" dirty="0">
                <a:cs typeface="Times New Roman" panose="02020603050405020304" pitchFamily="18" charset="0"/>
              </a:rPr>
              <a:t> </a:t>
            </a:r>
            <a:r>
              <a:rPr lang="en-US" altLang="en-US" sz="2000" dirty="0" err="1">
                <a:cs typeface="Times New Roman" panose="02020603050405020304" pitchFamily="18" charset="0"/>
              </a:rPr>
              <a:t>lưu</a:t>
            </a:r>
            <a:r>
              <a:rPr lang="en-US" altLang="en-US" sz="2000" dirty="0">
                <a:cs typeface="Times New Roman" panose="02020603050405020304" pitchFamily="18" charset="0"/>
              </a:rPr>
              <a:t> </a:t>
            </a: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của</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sau</a:t>
            </a:r>
            <a:r>
              <a:rPr lang="en-US" altLang="en-US" sz="2000" dirty="0">
                <a:cs typeface="Times New Roman" panose="02020603050405020304" pitchFamily="18" charset="0"/>
              </a:rPr>
              <a:t> </a:t>
            </a:r>
            <a:r>
              <a:rPr lang="en-US" altLang="en-US" sz="2000" dirty="0" err="1">
                <a:cs typeface="Times New Roman" panose="02020603050405020304" pitchFamily="18" charset="0"/>
              </a:rPr>
              <a:t>đó</a:t>
            </a:r>
            <a:r>
              <a:rPr lang="en-US" altLang="en-US" sz="2000" dirty="0">
                <a:cs typeface="Times New Roman" panose="02020603050405020304" pitchFamily="18" charset="0"/>
              </a:rPr>
              <a:t> </a:t>
            </a:r>
            <a:r>
              <a:rPr lang="en-US" altLang="en-US" sz="2000" dirty="0" err="1">
                <a:cs typeface="Times New Roman" panose="02020603050405020304" pitchFamily="18" charset="0"/>
              </a:rPr>
              <a:t>sẽ</a:t>
            </a:r>
            <a:r>
              <a:rPr lang="en-US" altLang="en-US" sz="2000" dirty="0">
                <a:cs typeface="Times New Roman" panose="02020603050405020304" pitchFamily="18" charset="0"/>
              </a:rPr>
              <a:t> </a:t>
            </a:r>
            <a:r>
              <a:rPr lang="en-US" altLang="en-US" sz="2000" dirty="0" err="1">
                <a:cs typeface="Times New Roman" panose="02020603050405020304" pitchFamily="18" charset="0"/>
              </a:rPr>
              <a:t>duyệt</a:t>
            </a:r>
            <a:r>
              <a:rPr lang="en-US" altLang="en-US" sz="2000" dirty="0">
                <a:cs typeface="Times New Roman" panose="02020603050405020304" pitchFamily="18" charset="0"/>
              </a:rPr>
              <a:t> </a:t>
            </a:r>
            <a:r>
              <a:rPr lang="en-US" altLang="en-US" sz="2000" dirty="0" err="1">
                <a:cs typeface="Times New Roman" panose="02020603050405020304" pitchFamily="18" charset="0"/>
              </a:rPr>
              <a:t>danh</a:t>
            </a:r>
            <a:r>
              <a:rPr lang="en-US" altLang="en-US" sz="2000" dirty="0">
                <a:cs typeface="Times New Roman" panose="02020603050405020304" pitchFamily="18" charset="0"/>
              </a:rPr>
              <a:t> </a:t>
            </a:r>
            <a:r>
              <a:rPr lang="en-US" altLang="en-US" sz="2000" dirty="0" err="1">
                <a:cs typeface="Times New Roman" panose="02020603050405020304" pitchFamily="18" charset="0"/>
              </a:rPr>
              <a:t>sách</a:t>
            </a:r>
            <a:endParaRPr lang="en-US" altLang="en-US" sz="2000" dirty="0">
              <a:cs typeface="Times New Roman" panose="02020603050405020304" pitchFamily="18" charset="0"/>
            </a:endParaRPr>
          </a:p>
          <a:p>
            <a:pPr lvl="1">
              <a:lnSpc>
                <a:spcPct val="95000"/>
              </a:lnSpc>
              <a:spcBef>
                <a:spcPct val="5000"/>
              </a:spcBef>
            </a:pPr>
            <a:r>
              <a:rPr lang="en-US" altLang="en-US" sz="2000" dirty="0" err="1">
                <a:cs typeface="Times New Roman" panose="02020603050405020304" pitchFamily="18" charset="0"/>
              </a:rPr>
              <a:t>Tuỳ</a:t>
            </a:r>
            <a:r>
              <a:rPr lang="en-US" altLang="en-US" sz="2000" dirty="0">
                <a:cs typeface="Times New Roman" panose="02020603050405020304" pitchFamily="18" charset="0"/>
              </a:rPr>
              <a:t> </a:t>
            </a:r>
            <a:r>
              <a:rPr lang="en-US" altLang="en-US" sz="2000" dirty="0" err="1">
                <a:cs typeface="Times New Roman" panose="02020603050405020304" pitchFamily="18" charset="0"/>
              </a:rPr>
              <a:t>theo</a:t>
            </a:r>
            <a:r>
              <a:rPr lang="en-US" altLang="en-US" sz="2000" dirty="0">
                <a:cs typeface="Times New Roman" panose="02020603050405020304" pitchFamily="18" charset="0"/>
              </a:rPr>
              <a:t> </a:t>
            </a:r>
            <a:r>
              <a:rPr lang="en-US" altLang="en-US" sz="2000" dirty="0" err="1">
                <a:cs typeface="Times New Roman" panose="02020603050405020304" pitchFamily="18" charset="0"/>
              </a:rPr>
              <a:t>loại</a:t>
            </a:r>
            <a:r>
              <a:rPr lang="en-US" altLang="en-US" sz="2000" dirty="0">
                <a:cs typeface="Times New Roman" panose="02020603050405020304" pitchFamily="18" charset="0"/>
              </a:rPr>
              <a:t> </a:t>
            </a:r>
            <a:r>
              <a:rPr lang="en-US" altLang="en-US" sz="2000" dirty="0" err="1">
                <a:cs typeface="Times New Roman" panose="02020603050405020304" pitchFamily="18" charset="0"/>
              </a:rPr>
              <a:t>danh</a:t>
            </a:r>
            <a:r>
              <a:rPr lang="en-US" altLang="en-US" sz="2000" dirty="0">
                <a:cs typeface="Times New Roman" panose="02020603050405020304" pitchFamily="18" charset="0"/>
              </a:rPr>
              <a:t> </a:t>
            </a:r>
            <a:r>
              <a:rPr lang="en-US" altLang="en-US" sz="2000" dirty="0" err="1">
                <a:cs typeface="Times New Roman" panose="02020603050405020304" pitchFamily="18" charset="0"/>
              </a:rPr>
              <a:t>sách</a:t>
            </a:r>
            <a:r>
              <a:rPr lang="en-US" altLang="en-US" sz="2000" dirty="0">
                <a:cs typeface="Times New Roman" panose="02020603050405020304" pitchFamily="18" charset="0"/>
              </a:rPr>
              <a:t> (</a:t>
            </a:r>
            <a:r>
              <a:rPr lang="en-US" altLang="en-US" sz="2000" dirty="0" err="1">
                <a:cs typeface="Times New Roman" panose="02020603050405020304" pitchFamily="18" charset="0"/>
              </a:rPr>
              <a:t>hàng</a:t>
            </a:r>
            <a:r>
              <a:rPr lang="en-US" altLang="en-US" sz="2000" dirty="0">
                <a:cs typeface="Times New Roman" panose="02020603050405020304" pitchFamily="18" charset="0"/>
              </a:rPr>
              <a:t> </a:t>
            </a:r>
            <a:r>
              <a:rPr lang="en-US" altLang="en-US" sz="2000" dirty="0" err="1">
                <a:cs typeface="Times New Roman" panose="02020603050405020304" pitchFamily="18" charset="0"/>
              </a:rPr>
              <a:t>đợi</a:t>
            </a:r>
            <a:r>
              <a:rPr lang="en-US" altLang="en-US" sz="2000" dirty="0">
                <a:cs typeface="Times New Roman" panose="02020603050405020304" pitchFamily="18" charset="0"/>
              </a:rPr>
              <a:t>, </a:t>
            </a:r>
            <a:r>
              <a:rPr lang="en-US" altLang="en-US" sz="2000" dirty="0" err="1">
                <a:cs typeface="Times New Roman" panose="02020603050405020304" pitchFamily="18" charset="0"/>
              </a:rPr>
              <a:t>ngăn</a:t>
            </a:r>
            <a:r>
              <a:rPr lang="en-US" altLang="en-US" sz="2000" dirty="0">
                <a:cs typeface="Times New Roman" panose="02020603050405020304" pitchFamily="18" charset="0"/>
              </a:rPr>
              <a:t> </a:t>
            </a:r>
            <a:r>
              <a:rPr lang="en-US" altLang="en-US" sz="2000" dirty="0" err="1">
                <a:cs typeface="Times New Roman" panose="02020603050405020304" pitchFamily="18" charset="0"/>
              </a:rPr>
              <a:t>xếp</a:t>
            </a:r>
            <a:r>
              <a:rPr lang="en-US" altLang="en-US" sz="2000" dirty="0">
                <a:cs typeface="Times New Roman" panose="02020603050405020304" pitchFamily="18" charset="0"/>
              </a:rPr>
              <a:t>,…) </a:t>
            </a:r>
            <a:r>
              <a:rPr lang="en-US" altLang="en-US" sz="2000" dirty="0" err="1">
                <a:cs typeface="Times New Roman" panose="02020603050405020304" pitchFamily="18" charset="0"/>
              </a:rPr>
              <a:t>và</a:t>
            </a:r>
            <a:r>
              <a:rPr lang="en-US" altLang="en-US" sz="2000" dirty="0">
                <a:cs typeface="Times New Roman" panose="02020603050405020304" pitchFamily="18" charset="0"/>
              </a:rPr>
              <a:t> </a:t>
            </a:r>
            <a:r>
              <a:rPr lang="en-US" altLang="en-US" sz="2000" dirty="0" err="1">
                <a:cs typeface="Times New Roman" panose="02020603050405020304" pitchFamily="18" charset="0"/>
              </a:rPr>
              <a:t>thứ</a:t>
            </a:r>
            <a:r>
              <a:rPr lang="en-US" altLang="en-US" sz="2000" dirty="0">
                <a:cs typeface="Times New Roman" panose="02020603050405020304" pitchFamily="18" charset="0"/>
              </a:rPr>
              <a:t> </a:t>
            </a:r>
            <a:r>
              <a:rPr lang="en-US" altLang="en-US" sz="2000" dirty="0" err="1">
                <a:cs typeface="Times New Roman" panose="02020603050405020304" pitchFamily="18" charset="0"/>
              </a:rPr>
              <a:t>tự</a:t>
            </a:r>
            <a:r>
              <a:rPr lang="en-US" altLang="en-US" sz="2000" dirty="0">
                <a:cs typeface="Times New Roman" panose="02020603050405020304" pitchFamily="18" charset="0"/>
              </a:rPr>
              <a:t> </a:t>
            </a:r>
            <a:r>
              <a:rPr lang="en-US" altLang="en-US" sz="2000" dirty="0" err="1">
                <a:cs typeface="Times New Roman" panose="02020603050405020304" pitchFamily="18" charset="0"/>
              </a:rPr>
              <a:t>duyệt</a:t>
            </a:r>
            <a:r>
              <a:rPr lang="en-US" altLang="en-US" sz="2000" dirty="0">
                <a:cs typeface="Times New Roman" panose="02020603050405020304" pitchFamily="18" charset="0"/>
              </a:rPr>
              <a:t> </a:t>
            </a:r>
            <a:r>
              <a:rPr lang="en-US" altLang="en-US" sz="2000" dirty="0" err="1">
                <a:cs typeface="Times New Roman" panose="02020603050405020304" pitchFamily="18" charset="0"/>
              </a:rPr>
              <a:t>trong</a:t>
            </a:r>
            <a:r>
              <a:rPr lang="en-US" altLang="en-US" sz="2000" dirty="0">
                <a:cs typeface="Times New Roman" panose="02020603050405020304" pitchFamily="18" charset="0"/>
              </a:rPr>
              <a:t> </a:t>
            </a:r>
            <a:r>
              <a:rPr lang="en-US" altLang="en-US" sz="2000" dirty="0" err="1">
                <a:cs typeface="Times New Roman" panose="02020603050405020304" pitchFamily="18" charset="0"/>
              </a:rPr>
              <a:t>danh</a:t>
            </a:r>
            <a:r>
              <a:rPr lang="en-US" altLang="en-US" sz="2000" dirty="0">
                <a:cs typeface="Times New Roman" panose="02020603050405020304" pitchFamily="18" charset="0"/>
              </a:rPr>
              <a:t> </a:t>
            </a:r>
            <a:r>
              <a:rPr lang="en-US" altLang="en-US" sz="2000" dirty="0" err="1">
                <a:cs typeface="Times New Roman" panose="02020603050405020304" pitchFamily="18" charset="0"/>
              </a:rPr>
              <a:t>sách</a:t>
            </a:r>
            <a:r>
              <a:rPr lang="en-US" altLang="en-US" sz="2000" dirty="0">
                <a:cs typeface="Times New Roman" panose="02020603050405020304" pitchFamily="18" charset="0"/>
              </a:rPr>
              <a:t> </a:t>
            </a:r>
            <a:r>
              <a:rPr lang="en-US" altLang="en-US" sz="2000" dirty="0" err="1">
                <a:cs typeface="Times New Roman" panose="02020603050405020304" pitchFamily="18" charset="0"/>
              </a:rPr>
              <a:t>mà</a:t>
            </a:r>
            <a:r>
              <a:rPr lang="en-US" altLang="en-US" sz="2000" dirty="0">
                <a:cs typeface="Times New Roman" panose="02020603050405020304" pitchFamily="18" charset="0"/>
              </a:rPr>
              <a:t> </a:t>
            </a:r>
            <a:r>
              <a:rPr lang="en-US" altLang="en-US" sz="2000" dirty="0" err="1">
                <a:cs typeface="Times New Roman" panose="02020603050405020304" pitchFamily="18" charset="0"/>
              </a:rPr>
              <a:t>chúng</a:t>
            </a:r>
            <a:r>
              <a:rPr lang="en-US" altLang="en-US" sz="2000" dirty="0">
                <a:cs typeface="Times New Roman" panose="02020603050405020304" pitchFamily="18" charset="0"/>
              </a:rPr>
              <a:t> ta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những</a:t>
            </a:r>
            <a:r>
              <a:rPr lang="en-US" altLang="en-US" sz="2000" dirty="0">
                <a:cs typeface="Times New Roman" panose="02020603050405020304" pitchFamily="18" charset="0"/>
              </a:rPr>
              <a:t> </a:t>
            </a:r>
            <a:r>
              <a:rPr lang="en-US" altLang="en-US" sz="2000" dirty="0" err="1">
                <a:cs typeface="Times New Roman" panose="02020603050405020304" pitchFamily="18" charset="0"/>
              </a:rPr>
              <a:t>cách</a:t>
            </a:r>
            <a:r>
              <a:rPr lang="en-US" altLang="en-US" sz="2000" dirty="0">
                <a:cs typeface="Times New Roman" panose="02020603050405020304" pitchFamily="18" charset="0"/>
              </a:rPr>
              <a:t> </a:t>
            </a:r>
            <a:r>
              <a:rPr lang="en-US" altLang="en-US" sz="2000" dirty="0" err="1">
                <a:cs typeface="Times New Roman" panose="02020603050405020304" pitchFamily="18" charset="0"/>
              </a:rPr>
              <a:t>duyệt</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khác</a:t>
            </a:r>
            <a:r>
              <a:rPr lang="en-US" altLang="en-US" sz="2000" dirty="0">
                <a:cs typeface="Times New Roman" panose="02020603050405020304" pitchFamily="18" charset="0"/>
              </a:rPr>
              <a:t> </a:t>
            </a:r>
            <a:r>
              <a:rPr lang="en-US" altLang="en-US" sz="2000" dirty="0" err="1">
                <a:cs typeface="Times New Roman" panose="02020603050405020304" pitchFamily="18" charset="0"/>
              </a:rPr>
              <a:t>nhau</a:t>
            </a:r>
            <a:endParaRPr lang="en-US" altLang="en-US" sz="2000" dirty="0">
              <a:cs typeface="Times New Roman" panose="02020603050405020304" pitchFamily="18" charset="0"/>
            </a:endParaRPr>
          </a:p>
          <a:p>
            <a:pPr lvl="1">
              <a:lnSpc>
                <a:spcPct val="95000"/>
              </a:lnSpc>
              <a:spcBef>
                <a:spcPct val="5000"/>
              </a:spcBef>
            </a:pPr>
            <a:r>
              <a:rPr lang="en-US" altLang="en-US" sz="2000" dirty="0" err="1">
                <a:cs typeface="Times New Roman" panose="02020603050405020304" pitchFamily="18" charset="0"/>
              </a:rPr>
              <a:t>Duy</a:t>
            </a:r>
            <a:r>
              <a:rPr lang="en-US" altLang="en-US" sz="2000" dirty="0" err="1"/>
              <a:t>ệt</a:t>
            </a:r>
            <a:r>
              <a:rPr lang="en-US" altLang="en-US" sz="2000" dirty="0"/>
              <a:t> </a:t>
            </a:r>
            <a:r>
              <a:rPr lang="en-US" altLang="en-US" sz="2000" dirty="0" err="1"/>
              <a:t>theo</a:t>
            </a:r>
            <a:r>
              <a:rPr lang="en-US" altLang="en-US" sz="2000" dirty="0"/>
              <a:t> </a:t>
            </a:r>
            <a:r>
              <a:rPr lang="en-US" altLang="en-US" sz="2000" dirty="0" err="1"/>
              <a:t>từng</a:t>
            </a:r>
            <a:r>
              <a:rPr lang="en-US" altLang="en-US" sz="2000" dirty="0"/>
              <a:t> </a:t>
            </a:r>
            <a:r>
              <a:rPr lang="en-US" altLang="en-US" sz="2000" dirty="0" err="1"/>
              <a:t>mức</a:t>
            </a:r>
            <a:r>
              <a:rPr lang="en-US" altLang="en-US" sz="2000" dirty="0"/>
              <a:t> (</a:t>
            </a:r>
            <a:r>
              <a:rPr lang="en-US" altLang="en-US" sz="2000" dirty="0" err="1"/>
              <a:t>tầng</a:t>
            </a:r>
            <a:r>
              <a:rPr lang="en-US" altLang="en-US" sz="2000" dirty="0"/>
              <a:t>) - </a:t>
            </a:r>
            <a:r>
              <a:rPr lang="en-US" altLang="en-US" sz="2000" dirty="0" err="1"/>
              <a:t>Duyệt</a:t>
            </a:r>
            <a:r>
              <a:rPr lang="en-US" altLang="en-US" sz="2000" dirty="0"/>
              <a:t> </a:t>
            </a:r>
            <a:r>
              <a:rPr lang="en-US" altLang="en-US" sz="2000" dirty="0" err="1"/>
              <a:t>theo</a:t>
            </a:r>
            <a:r>
              <a:rPr lang="en-US" altLang="en-US" sz="2000" dirty="0"/>
              <a:t> </a:t>
            </a:r>
            <a:r>
              <a:rPr lang="en-US" altLang="en-US" sz="2000" dirty="0" err="1"/>
              <a:t>chiều</a:t>
            </a:r>
            <a:r>
              <a:rPr lang="en-US" altLang="en-US" sz="2000" dirty="0"/>
              <a:t> </a:t>
            </a:r>
            <a:r>
              <a:rPr lang="en-US" altLang="en-US" sz="2000" dirty="0" err="1"/>
              <a:t>rộng</a:t>
            </a:r>
            <a:endParaRPr lang="en-US" altLang="en-US" sz="2000" dirty="0">
              <a:cs typeface="Times New Roman" panose="02020603050405020304" pitchFamily="18" charset="0"/>
            </a:endParaRPr>
          </a:p>
          <a:p>
            <a:pPr lvl="1">
              <a:lnSpc>
                <a:spcPct val="95000"/>
              </a:lnSpc>
              <a:spcBef>
                <a:spcPct val="5000"/>
              </a:spcBef>
            </a:pPr>
            <a:endParaRPr lang="en-US" altLang="en-US" dirty="0">
              <a:cs typeface="Times New Roman" panose="02020603050405020304" pitchFamily="18" charset="0"/>
            </a:endParaRPr>
          </a:p>
        </p:txBody>
      </p:sp>
    </p:spTree>
    <p:extLst>
      <p:ext uri="{BB962C8B-B14F-4D97-AF65-F5344CB8AC3E}">
        <p14:creationId xmlns:p14="http://schemas.microsoft.com/office/powerpoint/2010/main" val="2660779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5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55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55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355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3557">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3557">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3557">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55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p:cNvSpPr>
            <a:spLocks noGrp="1" noChangeArrowheads="1"/>
          </p:cNvSpPr>
          <p:nvPr>
            <p:ph type="title"/>
          </p:nvPr>
        </p:nvSpPr>
        <p:spPr/>
        <p:txBody>
          <a:bodyPr/>
          <a:lstStyle/>
          <a:p>
            <a:pPr eaLnBrk="1" hangingPunct="1">
              <a:lnSpc>
                <a:spcPct val="95000"/>
              </a:lnSpc>
              <a:spcBef>
                <a:spcPct val="5000"/>
              </a:spcBef>
            </a:pPr>
            <a:r>
              <a:rPr lang="en-US" altLang="en-US" dirty="0" err="1"/>
              <a:t>Giải</a:t>
            </a:r>
            <a:r>
              <a:rPr lang="en-US" altLang="en-US" dirty="0"/>
              <a:t> </a:t>
            </a:r>
            <a:r>
              <a:rPr lang="en-US" altLang="en-US" dirty="0" err="1"/>
              <a:t>thuật</a:t>
            </a:r>
            <a:r>
              <a:rPr lang="en-US" altLang="en-US" dirty="0"/>
              <a:t> </a:t>
            </a:r>
            <a:r>
              <a:rPr lang="en-US" altLang="en-US" dirty="0" err="1"/>
              <a:t>duyệt</a:t>
            </a:r>
            <a:r>
              <a:rPr lang="en-US" altLang="en-US" dirty="0"/>
              <a:t> </a:t>
            </a:r>
            <a:r>
              <a:rPr lang="en-US" altLang="en-US" dirty="0" err="1"/>
              <a:t>cây</a:t>
            </a:r>
            <a:endParaRPr lang="en-US" altLang="en-US" dirty="0"/>
          </a:p>
        </p:txBody>
      </p:sp>
      <p:sp>
        <p:nvSpPr>
          <p:cNvPr id="23557" name="Rectangle 3"/>
          <p:cNvSpPr>
            <a:spLocks noGrp="1" noChangeArrowheads="1"/>
          </p:cNvSpPr>
          <p:nvPr>
            <p:ph type="body" sz="quarter" idx="13"/>
          </p:nvPr>
        </p:nvSpPr>
        <p:spPr>
          <a:noFill/>
        </p:spPr>
        <p:txBody>
          <a:bodyPr>
            <a:normAutofit/>
          </a:bodyPr>
          <a:lstStyle/>
          <a:p>
            <a:pPr>
              <a:lnSpc>
                <a:spcPct val="95000"/>
              </a:lnSpc>
              <a:spcBef>
                <a:spcPct val="5000"/>
              </a:spcBef>
            </a:pPr>
            <a:r>
              <a:rPr lang="en-US" altLang="en-US" sz="2400" dirty="0" err="1">
                <a:cs typeface="Times New Roman" panose="02020603050405020304" pitchFamily="18" charset="0"/>
              </a:rPr>
              <a:t>Duyệt</a:t>
            </a:r>
            <a:r>
              <a:rPr lang="en-US" altLang="en-US" sz="2400" dirty="0">
                <a:cs typeface="Times New Roman" panose="02020603050405020304" pitchFamily="18" charset="0"/>
              </a:rPr>
              <a:t> </a:t>
            </a:r>
            <a:r>
              <a:rPr lang="en-US" altLang="en-US" sz="2400" dirty="0" err="1">
                <a:cs typeface="Times New Roman" panose="02020603050405020304" pitchFamily="18" charset="0"/>
              </a:rPr>
              <a:t>theo</a:t>
            </a:r>
            <a:r>
              <a:rPr lang="en-US" altLang="en-US" sz="2400" dirty="0">
                <a:cs typeface="Times New Roman" panose="02020603050405020304" pitchFamily="18" charset="0"/>
              </a:rPr>
              <a:t> </a:t>
            </a:r>
            <a:r>
              <a:rPr lang="en-US" altLang="en-US" sz="2400" dirty="0" err="1">
                <a:cs typeface="Times New Roman" panose="02020603050405020304" pitchFamily="18" charset="0"/>
              </a:rPr>
              <a:t>thứ</a:t>
            </a:r>
            <a:r>
              <a:rPr lang="en-US" altLang="en-US" sz="2400" dirty="0">
                <a:cs typeface="Times New Roman" panose="02020603050405020304" pitchFamily="18" charset="0"/>
              </a:rPr>
              <a:t> </a:t>
            </a:r>
            <a:r>
              <a:rPr lang="en-US" altLang="en-US" sz="2400" dirty="0" err="1">
                <a:cs typeface="Times New Roman" panose="02020603050405020304" pitchFamily="18" charset="0"/>
              </a:rPr>
              <a:t>tự</a:t>
            </a:r>
            <a:r>
              <a:rPr lang="en-US" altLang="en-US" sz="2400" dirty="0">
                <a:cs typeface="Times New Roman" panose="02020603050405020304" pitchFamily="18" charset="0"/>
              </a:rPr>
              <a:t> </a:t>
            </a:r>
            <a:r>
              <a:rPr lang="en-US" altLang="en-US" sz="2400" dirty="0" err="1">
                <a:cs typeface="Times New Roman" panose="02020603050405020304" pitchFamily="18" charset="0"/>
              </a:rPr>
              <a:t>trước</a:t>
            </a:r>
            <a:r>
              <a:rPr lang="en-US" altLang="en-US" sz="2400" dirty="0">
                <a:cs typeface="Times New Roman" panose="02020603050405020304" pitchFamily="18" charset="0"/>
              </a:rPr>
              <a:t> (preorder traversal) </a:t>
            </a:r>
          </a:p>
          <a:p>
            <a:pPr lvl="1">
              <a:lnSpc>
                <a:spcPct val="95000"/>
              </a:lnSpc>
              <a:spcBef>
                <a:spcPct val="5000"/>
              </a:spcBef>
            </a:pPr>
            <a:r>
              <a:rPr lang="vi-VN" altLang="en-US" sz="2000" dirty="0">
                <a:cs typeface="Times New Roman" panose="02020603050405020304" pitchFamily="18" charset="0"/>
              </a:rPr>
              <a:t>Trường hợp đệ</a:t>
            </a:r>
            <a:r>
              <a:rPr lang="en-US" altLang="en-US" sz="2000" dirty="0">
                <a:cs typeface="Times New Roman" panose="02020603050405020304" pitchFamily="18" charset="0"/>
              </a:rPr>
              <a:t> </a:t>
            </a:r>
            <a:r>
              <a:rPr lang="vi-VN" altLang="en-US" sz="2000" dirty="0">
                <a:cs typeface="Times New Roman" panose="02020603050405020304" pitchFamily="18" charset="0"/>
              </a:rPr>
              <a:t>quy: Nếu T khác rỗng, nó được duyệt theo các bước sau:</a:t>
            </a:r>
          </a:p>
          <a:p>
            <a:pPr lvl="2">
              <a:lnSpc>
                <a:spcPct val="95000"/>
              </a:lnSpc>
              <a:spcBef>
                <a:spcPct val="5000"/>
              </a:spcBef>
            </a:pPr>
            <a:r>
              <a:rPr lang="vi-VN" altLang="en-US" sz="1800" u="sng" dirty="0">
                <a:cs typeface="Times New Roman" panose="02020603050405020304" pitchFamily="18" charset="0"/>
              </a:rPr>
              <a:t>Thăm gốc:</a:t>
            </a:r>
            <a:r>
              <a:rPr lang="vi-VN" altLang="en-US" sz="1800" dirty="0">
                <a:cs typeface="Times New Roman" panose="02020603050405020304" pitchFamily="18" charset="0"/>
              </a:rPr>
              <a:t> cây chỉ có một nút thì phép duyệt chính là phép thăm</a:t>
            </a:r>
          </a:p>
          <a:p>
            <a:pPr lvl="2">
              <a:lnSpc>
                <a:spcPct val="95000"/>
              </a:lnSpc>
              <a:spcBef>
                <a:spcPct val="5000"/>
              </a:spcBef>
            </a:pPr>
            <a:r>
              <a:rPr lang="vi-VN" altLang="en-US" sz="1800" u="sng" dirty="0">
                <a:cs typeface="Times New Roman" panose="02020603050405020304" pitchFamily="18" charset="0"/>
              </a:rPr>
              <a:t>Duyệt cây con trái theo thứ tự trước</a:t>
            </a:r>
            <a:endParaRPr lang="vi-VN" altLang="en-US" sz="1800" dirty="0">
              <a:cs typeface="Times New Roman" panose="02020603050405020304" pitchFamily="18" charset="0"/>
            </a:endParaRPr>
          </a:p>
          <a:p>
            <a:pPr lvl="2">
              <a:lnSpc>
                <a:spcPct val="95000"/>
              </a:lnSpc>
              <a:spcBef>
                <a:spcPct val="5000"/>
              </a:spcBef>
            </a:pPr>
            <a:r>
              <a:rPr lang="vi-VN" altLang="en-US" sz="1800" u="sng" dirty="0">
                <a:cs typeface="Times New Roman" panose="02020603050405020304" pitchFamily="18" charset="0"/>
              </a:rPr>
              <a:t>Duyệt cây con phải theo thứ tự trước</a:t>
            </a:r>
            <a:endParaRPr lang="vi-VN" altLang="en-US" sz="1800" dirty="0">
              <a:cs typeface="Times New Roman" panose="02020603050405020304" pitchFamily="18" charset="0"/>
            </a:endParaRPr>
          </a:p>
          <a:p>
            <a:pPr lvl="1">
              <a:lnSpc>
                <a:spcPct val="95000"/>
              </a:lnSpc>
              <a:spcBef>
                <a:spcPct val="5000"/>
              </a:spcBef>
            </a:pPr>
            <a:r>
              <a:rPr lang="vi-VN" altLang="en-US" sz="2000" dirty="0">
                <a:cs typeface="Times New Roman" panose="02020603050405020304" pitchFamily="18" charset="0"/>
              </a:rPr>
              <a:t>Trường hợp điểm dừng: khi cây T rỗng</a:t>
            </a:r>
            <a:endParaRPr lang="en-US" altLang="en-US" sz="2000" dirty="0">
              <a:cs typeface="Times New Roman" panose="02020603050405020304" pitchFamily="18" charset="0"/>
            </a:endParaRPr>
          </a:p>
        </p:txBody>
      </p:sp>
      <p:pic>
        <p:nvPicPr>
          <p:cNvPr id="2" name="Picture 1"/>
          <p:cNvPicPr>
            <a:picLocks noChangeAspect="1"/>
          </p:cNvPicPr>
          <p:nvPr/>
        </p:nvPicPr>
        <p:blipFill>
          <a:blip r:embed="rId3"/>
          <a:stretch>
            <a:fillRect/>
          </a:stretch>
        </p:blipFill>
        <p:spPr>
          <a:xfrm>
            <a:off x="1219200" y="3124200"/>
            <a:ext cx="2603426" cy="2641600"/>
          </a:xfrm>
          <a:prstGeom prst="rect">
            <a:avLst/>
          </a:prstGeom>
        </p:spPr>
      </p:pic>
      <p:pic>
        <p:nvPicPr>
          <p:cNvPr id="3" name="Picture 2"/>
          <p:cNvPicPr>
            <a:picLocks noChangeAspect="1"/>
          </p:cNvPicPr>
          <p:nvPr/>
        </p:nvPicPr>
        <p:blipFill>
          <a:blip r:embed="rId4"/>
          <a:stretch>
            <a:fillRect/>
          </a:stretch>
        </p:blipFill>
        <p:spPr>
          <a:xfrm>
            <a:off x="4328503" y="3886200"/>
            <a:ext cx="4067743" cy="828791"/>
          </a:xfrm>
          <a:prstGeom prst="rect">
            <a:avLst/>
          </a:prstGeom>
        </p:spPr>
      </p:pic>
    </p:spTree>
    <p:extLst>
      <p:ext uri="{BB962C8B-B14F-4D97-AF65-F5344CB8AC3E}">
        <p14:creationId xmlns:p14="http://schemas.microsoft.com/office/powerpoint/2010/main" val="3236284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55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55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55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55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p:cNvSpPr>
            <a:spLocks noGrp="1" noChangeArrowheads="1"/>
          </p:cNvSpPr>
          <p:nvPr>
            <p:ph type="title"/>
          </p:nvPr>
        </p:nvSpPr>
        <p:spPr/>
        <p:txBody>
          <a:bodyPr/>
          <a:lstStyle/>
          <a:p>
            <a:pPr eaLnBrk="1" hangingPunct="1">
              <a:lnSpc>
                <a:spcPct val="95000"/>
              </a:lnSpc>
              <a:spcBef>
                <a:spcPct val="5000"/>
              </a:spcBef>
            </a:pPr>
            <a:r>
              <a:rPr lang="en-US" altLang="en-US" dirty="0" err="1"/>
              <a:t>Giải</a:t>
            </a:r>
            <a:r>
              <a:rPr lang="en-US" altLang="en-US" dirty="0"/>
              <a:t> </a:t>
            </a:r>
            <a:r>
              <a:rPr lang="en-US" altLang="en-US" dirty="0" err="1"/>
              <a:t>thuật</a:t>
            </a:r>
            <a:r>
              <a:rPr lang="en-US" altLang="en-US" dirty="0"/>
              <a:t> </a:t>
            </a:r>
            <a:r>
              <a:rPr lang="en-US" altLang="en-US" dirty="0" err="1"/>
              <a:t>duyệt</a:t>
            </a:r>
            <a:r>
              <a:rPr lang="en-US" altLang="en-US" dirty="0"/>
              <a:t> </a:t>
            </a:r>
            <a:r>
              <a:rPr lang="en-US" altLang="en-US" dirty="0" err="1"/>
              <a:t>cây</a:t>
            </a:r>
            <a:endParaRPr lang="en-US" altLang="en-US" dirty="0"/>
          </a:p>
        </p:txBody>
      </p:sp>
      <p:sp>
        <p:nvSpPr>
          <p:cNvPr id="23557" name="Rectangle 3"/>
          <p:cNvSpPr>
            <a:spLocks noGrp="1" noChangeArrowheads="1"/>
          </p:cNvSpPr>
          <p:nvPr>
            <p:ph type="body" sz="quarter" idx="13"/>
          </p:nvPr>
        </p:nvSpPr>
        <p:spPr>
          <a:noFill/>
        </p:spPr>
        <p:txBody>
          <a:bodyPr>
            <a:normAutofit/>
          </a:bodyPr>
          <a:lstStyle/>
          <a:p>
            <a:pPr>
              <a:lnSpc>
                <a:spcPct val="95000"/>
              </a:lnSpc>
              <a:spcBef>
                <a:spcPct val="5000"/>
              </a:spcBef>
            </a:pPr>
            <a:r>
              <a:rPr lang="en-US" altLang="en-US" sz="2400" dirty="0" err="1">
                <a:cs typeface="Times New Roman" panose="02020603050405020304" pitchFamily="18" charset="0"/>
              </a:rPr>
              <a:t>Duyệt</a:t>
            </a:r>
            <a:r>
              <a:rPr lang="en-US" altLang="en-US" sz="2400" dirty="0">
                <a:cs typeface="Times New Roman" panose="02020603050405020304" pitchFamily="18" charset="0"/>
              </a:rPr>
              <a:t> </a:t>
            </a:r>
            <a:r>
              <a:rPr lang="en-US" altLang="en-US" sz="2400" dirty="0" err="1">
                <a:cs typeface="Times New Roman" panose="02020603050405020304" pitchFamily="18" charset="0"/>
              </a:rPr>
              <a:t>theo</a:t>
            </a:r>
            <a:r>
              <a:rPr lang="en-US" altLang="en-US" sz="2400" dirty="0">
                <a:cs typeface="Times New Roman" panose="02020603050405020304" pitchFamily="18" charset="0"/>
              </a:rPr>
              <a:t> </a:t>
            </a:r>
            <a:r>
              <a:rPr lang="en-US" altLang="en-US" sz="2400" dirty="0" err="1">
                <a:cs typeface="Times New Roman" panose="02020603050405020304" pitchFamily="18" charset="0"/>
              </a:rPr>
              <a:t>thứ</a:t>
            </a:r>
            <a:r>
              <a:rPr lang="en-US" altLang="en-US" sz="2400" dirty="0">
                <a:cs typeface="Times New Roman" panose="02020603050405020304" pitchFamily="18" charset="0"/>
              </a:rPr>
              <a:t> </a:t>
            </a:r>
            <a:r>
              <a:rPr lang="en-US" altLang="en-US" sz="2400" dirty="0" err="1">
                <a:cs typeface="Times New Roman" panose="02020603050405020304" pitchFamily="18" charset="0"/>
              </a:rPr>
              <a:t>tự</a:t>
            </a:r>
            <a:r>
              <a:rPr lang="en-US" altLang="en-US" sz="2400" dirty="0">
                <a:cs typeface="Times New Roman" panose="02020603050405020304" pitchFamily="18" charset="0"/>
              </a:rPr>
              <a:t> </a:t>
            </a:r>
            <a:r>
              <a:rPr lang="en-US" altLang="en-US" sz="2400" dirty="0" err="1">
                <a:cs typeface="Times New Roman" panose="02020603050405020304" pitchFamily="18" charset="0"/>
              </a:rPr>
              <a:t>giữa</a:t>
            </a:r>
            <a:r>
              <a:rPr lang="en-US" altLang="en-US" sz="2400" dirty="0">
                <a:cs typeface="Times New Roman" panose="02020603050405020304" pitchFamily="18" charset="0"/>
              </a:rPr>
              <a:t> (</a:t>
            </a:r>
            <a:r>
              <a:rPr lang="en-US" altLang="en-US" sz="2400" dirty="0" err="1">
                <a:cs typeface="Times New Roman" panose="02020603050405020304" pitchFamily="18" charset="0"/>
              </a:rPr>
              <a:t>inorder</a:t>
            </a:r>
            <a:r>
              <a:rPr lang="en-US" altLang="en-US" sz="2400" dirty="0">
                <a:cs typeface="Times New Roman" panose="02020603050405020304" pitchFamily="18" charset="0"/>
              </a:rPr>
              <a:t> traversal) </a:t>
            </a:r>
          </a:p>
          <a:p>
            <a:pPr>
              <a:lnSpc>
                <a:spcPct val="95000"/>
              </a:lnSpc>
              <a:spcBef>
                <a:spcPct val="5000"/>
              </a:spcBef>
            </a:pPr>
            <a:r>
              <a:rPr lang="en-US" altLang="en-US" sz="2400" dirty="0" err="1">
                <a:cs typeface="Times New Roman" panose="02020603050405020304" pitchFamily="18" charset="0"/>
              </a:rPr>
              <a:t>Duyệt</a:t>
            </a:r>
            <a:r>
              <a:rPr lang="en-US" altLang="en-US" sz="2400" dirty="0">
                <a:cs typeface="Times New Roman" panose="02020603050405020304" pitchFamily="18" charset="0"/>
              </a:rPr>
              <a:t> </a:t>
            </a:r>
            <a:r>
              <a:rPr lang="en-US" altLang="en-US" sz="2400" dirty="0" err="1">
                <a:cs typeface="Times New Roman" panose="02020603050405020304" pitchFamily="18" charset="0"/>
              </a:rPr>
              <a:t>theo</a:t>
            </a:r>
            <a:r>
              <a:rPr lang="en-US" altLang="en-US" sz="2400" dirty="0">
                <a:cs typeface="Times New Roman" panose="02020603050405020304" pitchFamily="18" charset="0"/>
              </a:rPr>
              <a:t> </a:t>
            </a:r>
            <a:r>
              <a:rPr lang="en-US" altLang="en-US" sz="2400" dirty="0" err="1">
                <a:cs typeface="Times New Roman" panose="02020603050405020304" pitchFamily="18" charset="0"/>
              </a:rPr>
              <a:t>thứ</a:t>
            </a:r>
            <a:r>
              <a:rPr lang="en-US" altLang="en-US" sz="2400" dirty="0">
                <a:cs typeface="Times New Roman" panose="02020603050405020304" pitchFamily="18" charset="0"/>
              </a:rPr>
              <a:t> </a:t>
            </a:r>
            <a:r>
              <a:rPr lang="en-US" altLang="en-US" sz="2400" dirty="0" err="1">
                <a:cs typeface="Times New Roman" panose="02020603050405020304" pitchFamily="18" charset="0"/>
              </a:rPr>
              <a:t>tự</a:t>
            </a:r>
            <a:r>
              <a:rPr lang="en-US" altLang="en-US" sz="2400" dirty="0">
                <a:cs typeface="Times New Roman" panose="02020603050405020304" pitchFamily="18" charset="0"/>
              </a:rPr>
              <a:t> </a:t>
            </a:r>
            <a:r>
              <a:rPr lang="en-US" altLang="en-US" sz="2400" dirty="0" err="1">
                <a:cs typeface="Times New Roman" panose="02020603050405020304" pitchFamily="18" charset="0"/>
              </a:rPr>
              <a:t>sau</a:t>
            </a:r>
            <a:r>
              <a:rPr lang="en-US" altLang="en-US" sz="2400" dirty="0">
                <a:cs typeface="Times New Roman" panose="02020603050405020304" pitchFamily="18" charset="0"/>
              </a:rPr>
              <a:t> (</a:t>
            </a:r>
            <a:r>
              <a:rPr lang="en-US" altLang="en-US" sz="2400" dirty="0" err="1">
                <a:cs typeface="Times New Roman" panose="02020603050405020304" pitchFamily="18" charset="0"/>
              </a:rPr>
              <a:t>postorder</a:t>
            </a:r>
            <a:r>
              <a:rPr lang="en-US" altLang="en-US" sz="2400" dirty="0">
                <a:cs typeface="Times New Roman" panose="02020603050405020304" pitchFamily="18" charset="0"/>
              </a:rPr>
              <a:t> traversal)</a:t>
            </a:r>
          </a:p>
        </p:txBody>
      </p:sp>
      <p:pic>
        <p:nvPicPr>
          <p:cNvPr id="2" name="Picture 1"/>
          <p:cNvPicPr>
            <a:picLocks noChangeAspect="1"/>
          </p:cNvPicPr>
          <p:nvPr/>
        </p:nvPicPr>
        <p:blipFill>
          <a:blip r:embed="rId3"/>
          <a:stretch>
            <a:fillRect/>
          </a:stretch>
        </p:blipFill>
        <p:spPr>
          <a:xfrm>
            <a:off x="5105400" y="2647490"/>
            <a:ext cx="3248478" cy="3296110"/>
          </a:xfrm>
          <a:prstGeom prst="rect">
            <a:avLst/>
          </a:prstGeom>
        </p:spPr>
      </p:pic>
      <p:pic>
        <p:nvPicPr>
          <p:cNvPr id="3" name="Picture 2"/>
          <p:cNvPicPr>
            <a:picLocks noChangeAspect="1"/>
          </p:cNvPicPr>
          <p:nvPr/>
        </p:nvPicPr>
        <p:blipFill>
          <a:blip r:embed="rId4"/>
          <a:stretch>
            <a:fillRect/>
          </a:stretch>
        </p:blipFill>
        <p:spPr>
          <a:xfrm>
            <a:off x="685800" y="2516715"/>
            <a:ext cx="4153480" cy="1000265"/>
          </a:xfrm>
          <a:prstGeom prst="rect">
            <a:avLst/>
          </a:prstGeom>
        </p:spPr>
      </p:pic>
      <p:grpSp>
        <p:nvGrpSpPr>
          <p:cNvPr id="6" name="Group 5"/>
          <p:cNvGrpSpPr/>
          <p:nvPr/>
        </p:nvGrpSpPr>
        <p:grpSpPr>
          <a:xfrm>
            <a:off x="723906" y="4244399"/>
            <a:ext cx="4115374" cy="866896"/>
            <a:chOff x="723906" y="4244399"/>
            <a:chExt cx="4115374" cy="866896"/>
          </a:xfrm>
        </p:grpSpPr>
        <p:pic>
          <p:nvPicPr>
            <p:cNvPr id="4" name="Picture 3"/>
            <p:cNvPicPr>
              <a:picLocks noChangeAspect="1"/>
            </p:cNvPicPr>
            <p:nvPr/>
          </p:nvPicPr>
          <p:blipFill>
            <a:blip r:embed="rId5"/>
            <a:stretch>
              <a:fillRect/>
            </a:stretch>
          </p:blipFill>
          <p:spPr>
            <a:xfrm>
              <a:off x="723906" y="4244399"/>
              <a:ext cx="4115374" cy="552527"/>
            </a:xfrm>
            <a:prstGeom prst="rect">
              <a:avLst/>
            </a:prstGeom>
          </p:spPr>
        </p:pic>
        <p:pic>
          <p:nvPicPr>
            <p:cNvPr id="5" name="Picture 4"/>
            <p:cNvPicPr>
              <a:picLocks noChangeAspect="1"/>
            </p:cNvPicPr>
            <p:nvPr/>
          </p:nvPicPr>
          <p:blipFill>
            <a:blip r:embed="rId6"/>
            <a:stretch>
              <a:fillRect/>
            </a:stretch>
          </p:blipFill>
          <p:spPr>
            <a:xfrm>
              <a:off x="1371600" y="4796926"/>
              <a:ext cx="3353225" cy="314369"/>
            </a:xfrm>
            <a:prstGeom prst="rect">
              <a:avLst/>
            </a:prstGeom>
          </p:spPr>
        </p:pic>
      </p:grpSp>
    </p:spTree>
    <p:extLst>
      <p:ext uri="{BB962C8B-B14F-4D97-AF65-F5344CB8AC3E}">
        <p14:creationId xmlns:p14="http://schemas.microsoft.com/office/powerpoint/2010/main" val="881070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title"/>
          </p:nvPr>
        </p:nvSpPr>
        <p:spPr/>
        <p:txBody>
          <a:bodyPr/>
          <a:lstStyle/>
          <a:p>
            <a:pPr eaLnBrk="1" hangingPunct="1"/>
            <a:r>
              <a:rPr lang="en-US" altLang="en-US" dirty="0" err="1"/>
              <a:t>Giải</a:t>
            </a:r>
            <a:r>
              <a:rPr lang="en-US" altLang="en-US" dirty="0"/>
              <a:t> </a:t>
            </a:r>
            <a:r>
              <a:rPr lang="en-US" altLang="en-US" dirty="0" err="1"/>
              <a:t>thuật</a:t>
            </a:r>
            <a:r>
              <a:rPr lang="en-US" altLang="en-US" dirty="0"/>
              <a:t> </a:t>
            </a:r>
            <a:r>
              <a:rPr lang="en-US" altLang="en-US" dirty="0" err="1"/>
              <a:t>duyệt</a:t>
            </a:r>
            <a:r>
              <a:rPr lang="en-US" altLang="en-US" dirty="0"/>
              <a:t> </a:t>
            </a:r>
            <a:r>
              <a:rPr lang="en-US" altLang="en-US" dirty="0" err="1"/>
              <a:t>cây</a:t>
            </a:r>
            <a:endParaRPr lang="en-US" altLang="en-US" dirty="0"/>
          </a:p>
        </p:txBody>
      </p:sp>
      <p:sp>
        <p:nvSpPr>
          <p:cNvPr id="28677" name="Rectangle 3"/>
          <p:cNvSpPr>
            <a:spLocks noGrp="1" noChangeArrowheads="1"/>
          </p:cNvSpPr>
          <p:nvPr>
            <p:ph type="body" sz="quarter" idx="13"/>
          </p:nvPr>
        </p:nvSpPr>
        <p:spPr>
          <a:noFill/>
        </p:spPr>
        <p:txBody>
          <a:bodyPr>
            <a:normAutofit/>
          </a:bodyPr>
          <a:lstStyle/>
          <a:p>
            <a:pPr>
              <a:spcBef>
                <a:spcPct val="15000"/>
              </a:spcBef>
            </a:pPr>
            <a:r>
              <a:rPr lang="en-US" altLang="en-US" sz="2400" dirty="0" err="1">
                <a:cs typeface="Times New Roman" panose="02020603050405020304" pitchFamily="18" charset="0"/>
              </a:rPr>
              <a:t>Giải</a:t>
            </a:r>
            <a:r>
              <a:rPr lang="en-US" altLang="en-US" sz="2400" dirty="0">
                <a:cs typeface="Times New Roman" panose="02020603050405020304" pitchFamily="18" charset="0"/>
              </a:rPr>
              <a:t> </a:t>
            </a:r>
            <a:r>
              <a:rPr lang="en-US" altLang="en-US" sz="2400" dirty="0" err="1">
                <a:cs typeface="Times New Roman" panose="02020603050405020304" pitchFamily="18" charset="0"/>
              </a:rPr>
              <a:t>thuật</a:t>
            </a:r>
            <a:r>
              <a:rPr lang="en-US" altLang="en-US" sz="2400" dirty="0">
                <a:cs typeface="Times New Roman" panose="02020603050405020304" pitchFamily="18" charset="0"/>
              </a:rPr>
              <a:t> </a:t>
            </a:r>
            <a:r>
              <a:rPr lang="en-US" altLang="en-US" sz="2400" dirty="0" err="1">
                <a:cs typeface="Times New Roman" panose="02020603050405020304" pitchFamily="18" charset="0"/>
              </a:rPr>
              <a:t>duyệt</a:t>
            </a:r>
            <a:r>
              <a:rPr lang="en-US" altLang="en-US" sz="2400" dirty="0">
                <a:cs typeface="Times New Roman" panose="02020603050405020304" pitchFamily="18" charset="0"/>
              </a:rPr>
              <a:t> </a:t>
            </a:r>
            <a:r>
              <a:rPr lang="en-US" altLang="en-US" sz="2400" dirty="0" err="1">
                <a:cs typeface="Times New Roman" panose="02020603050405020304" pitchFamily="18" charset="0"/>
              </a:rPr>
              <a:t>cây</a:t>
            </a:r>
            <a:r>
              <a:rPr lang="en-US" altLang="en-US" sz="2400" dirty="0">
                <a:cs typeface="Times New Roman" panose="02020603050405020304" pitchFamily="18" charset="0"/>
              </a:rPr>
              <a:t> </a:t>
            </a:r>
            <a:r>
              <a:rPr lang="en-US" altLang="en-US" sz="2400" dirty="0" err="1">
                <a:cs typeface="Times New Roman" panose="02020603050405020304" pitchFamily="18" charset="0"/>
              </a:rPr>
              <a:t>theo</a:t>
            </a:r>
            <a:r>
              <a:rPr lang="en-US" altLang="en-US" sz="2400" dirty="0">
                <a:cs typeface="Times New Roman" panose="02020603050405020304" pitchFamily="18" charset="0"/>
              </a:rPr>
              <a:t> </a:t>
            </a:r>
            <a:r>
              <a:rPr lang="en-US" altLang="en-US" sz="2400" dirty="0" err="1">
                <a:cs typeface="Times New Roman" panose="02020603050405020304" pitchFamily="18" charset="0"/>
              </a:rPr>
              <a:t>từng</a:t>
            </a:r>
            <a:r>
              <a:rPr lang="en-US" altLang="en-US" sz="2400" dirty="0">
                <a:cs typeface="Times New Roman" panose="02020603050405020304" pitchFamily="18" charset="0"/>
              </a:rPr>
              <a:t> </a:t>
            </a:r>
            <a:r>
              <a:rPr lang="en-US" altLang="en-US" sz="2400" dirty="0" err="1">
                <a:cs typeface="Times New Roman" panose="02020603050405020304" pitchFamily="18" charset="0"/>
              </a:rPr>
              <a:t>mức</a:t>
            </a:r>
            <a:r>
              <a:rPr lang="en-US" altLang="en-US" sz="2400" dirty="0">
                <a:cs typeface="Times New Roman" panose="02020603050405020304" pitchFamily="18" charset="0"/>
              </a:rPr>
              <a:t> (</a:t>
            </a:r>
            <a:r>
              <a:rPr lang="en-US" altLang="en-US" sz="2400" dirty="0" err="1">
                <a:cs typeface="Times New Roman" panose="02020603050405020304" pitchFamily="18" charset="0"/>
              </a:rPr>
              <a:t>theo</a:t>
            </a:r>
            <a:r>
              <a:rPr lang="en-US" altLang="en-US" sz="2400" dirty="0">
                <a:cs typeface="Times New Roman" panose="02020603050405020304" pitchFamily="18" charset="0"/>
              </a:rPr>
              <a:t> </a:t>
            </a:r>
            <a:r>
              <a:rPr lang="en-US" altLang="en-US" sz="2400" dirty="0" err="1">
                <a:cs typeface="Times New Roman" panose="02020603050405020304" pitchFamily="18" charset="0"/>
              </a:rPr>
              <a:t>chiều</a:t>
            </a:r>
            <a:r>
              <a:rPr lang="en-US" altLang="en-US" sz="2400" dirty="0">
                <a:cs typeface="Times New Roman" panose="02020603050405020304" pitchFamily="18" charset="0"/>
              </a:rPr>
              <a:t> </a:t>
            </a:r>
            <a:r>
              <a:rPr lang="en-US" altLang="en-US" sz="2400" dirty="0" err="1">
                <a:cs typeface="Times New Roman" panose="02020603050405020304" pitchFamily="18" charset="0"/>
              </a:rPr>
              <a:t>rộng</a:t>
            </a:r>
            <a:r>
              <a:rPr lang="en-US" altLang="en-US" sz="2400" dirty="0">
                <a:cs typeface="Times New Roman" panose="02020603050405020304" pitchFamily="18" charset="0"/>
              </a:rPr>
              <a:t>): </a:t>
            </a:r>
            <a:r>
              <a:rPr lang="en-US" altLang="en-US" sz="2400" dirty="0" err="1">
                <a:cs typeface="Times New Roman" panose="02020603050405020304" pitchFamily="18" charset="0"/>
              </a:rPr>
              <a:t>giải</a:t>
            </a:r>
            <a:r>
              <a:rPr lang="en-US" altLang="en-US" sz="2400" dirty="0">
                <a:cs typeface="Times New Roman" panose="02020603050405020304" pitchFamily="18" charset="0"/>
              </a:rPr>
              <a:t> </a:t>
            </a:r>
            <a:r>
              <a:rPr lang="en-US" altLang="en-US" sz="2400" dirty="0" err="1">
                <a:cs typeface="Times New Roman" panose="02020603050405020304" pitchFamily="18" charset="0"/>
              </a:rPr>
              <a:t>thuật</a:t>
            </a:r>
            <a:r>
              <a:rPr lang="en-US" altLang="en-US" sz="2400" dirty="0">
                <a:cs typeface="Times New Roman" panose="02020603050405020304" pitchFamily="18" charset="0"/>
              </a:rPr>
              <a:t> </a:t>
            </a:r>
            <a:r>
              <a:rPr lang="en-US" altLang="en-US" sz="2400" b="1" i="1" dirty="0" err="1">
                <a:cs typeface="Times New Roman" panose="02020603050405020304" pitchFamily="18" charset="0"/>
              </a:rPr>
              <a:t>không</a:t>
            </a:r>
            <a:r>
              <a:rPr lang="en-US" altLang="en-US" sz="2400" dirty="0">
                <a:cs typeface="Times New Roman" panose="02020603050405020304" pitchFamily="18" charset="0"/>
              </a:rPr>
              <a:t> </a:t>
            </a:r>
            <a:r>
              <a:rPr lang="en-US" altLang="en-US" sz="2400" dirty="0" err="1">
                <a:cs typeface="Times New Roman" panose="02020603050405020304" pitchFamily="18" charset="0"/>
              </a:rPr>
              <a:t>đệ</a:t>
            </a:r>
            <a:r>
              <a:rPr lang="en-US" altLang="en-US" sz="2400" dirty="0">
                <a:cs typeface="Times New Roman" panose="02020603050405020304" pitchFamily="18" charset="0"/>
              </a:rPr>
              <a:t> </a:t>
            </a:r>
            <a:r>
              <a:rPr lang="en-US" altLang="en-US" sz="2400" dirty="0" err="1">
                <a:cs typeface="Times New Roman" panose="02020603050405020304" pitchFamily="18" charset="0"/>
              </a:rPr>
              <a:t>quy</a:t>
            </a:r>
            <a:r>
              <a:rPr lang="en-US" altLang="en-US" sz="2400" dirty="0">
                <a:cs typeface="Times New Roman" panose="02020603050405020304" pitchFamily="18" charset="0"/>
              </a:rPr>
              <a:t> </a:t>
            </a:r>
          </a:p>
          <a:p>
            <a:pPr lvl="1">
              <a:spcBef>
                <a:spcPct val="15000"/>
              </a:spcBef>
            </a:pPr>
            <a:r>
              <a:rPr lang="en-US" altLang="en-US" sz="2000" dirty="0" err="1">
                <a:cs typeface="Times New Roman" panose="02020603050405020304" pitchFamily="18" charset="0"/>
              </a:rPr>
              <a:t>Đưa</a:t>
            </a:r>
            <a:r>
              <a:rPr lang="en-US" altLang="en-US" sz="2000" dirty="0">
                <a:cs typeface="Times New Roman" panose="02020603050405020304" pitchFamily="18" charset="0"/>
              </a:rPr>
              <a:t> </a:t>
            </a:r>
            <a:r>
              <a:rPr lang="en-US" altLang="en-US" sz="2000" dirty="0" err="1">
                <a:cs typeface="Times New Roman" panose="02020603050405020304" pitchFamily="18" charset="0"/>
              </a:rPr>
              <a:t>bài</a:t>
            </a:r>
            <a:r>
              <a:rPr lang="en-US" altLang="en-US" sz="2000" dirty="0">
                <a:cs typeface="Times New Roman" panose="02020603050405020304" pitchFamily="18" charset="0"/>
              </a:rPr>
              <a:t> </a:t>
            </a:r>
            <a:r>
              <a:rPr lang="en-US" altLang="en-US" sz="2000" dirty="0" err="1">
                <a:cs typeface="Times New Roman" panose="02020603050405020304" pitchFamily="18" charset="0"/>
              </a:rPr>
              <a:t>toán</a:t>
            </a:r>
            <a:r>
              <a:rPr lang="en-US" altLang="en-US" sz="2000" dirty="0">
                <a:cs typeface="Times New Roman" panose="02020603050405020304" pitchFamily="18" charset="0"/>
              </a:rPr>
              <a:t> </a:t>
            </a:r>
            <a:r>
              <a:rPr lang="en-US" altLang="en-US" sz="2000" dirty="0" err="1">
                <a:cs typeface="Times New Roman" panose="02020603050405020304" pitchFamily="18" charset="0"/>
              </a:rPr>
              <a:t>duyệt</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về</a:t>
            </a:r>
            <a:r>
              <a:rPr lang="en-US" altLang="en-US" sz="2000" dirty="0">
                <a:cs typeface="Times New Roman" panose="02020603050405020304" pitchFamily="18" charset="0"/>
              </a:rPr>
              <a:t> </a:t>
            </a:r>
            <a:r>
              <a:rPr lang="en-US" altLang="en-US" sz="2000" dirty="0" err="1">
                <a:cs typeface="Times New Roman" panose="02020603050405020304" pitchFamily="18" charset="0"/>
              </a:rPr>
              <a:t>duyệt</a:t>
            </a:r>
            <a:r>
              <a:rPr lang="en-US" altLang="en-US" sz="2000" dirty="0">
                <a:cs typeface="Times New Roman" panose="02020603050405020304" pitchFamily="18" charset="0"/>
              </a:rPr>
              <a:t> </a:t>
            </a:r>
            <a:r>
              <a:rPr lang="en-US" altLang="en-US" sz="2000" dirty="0" err="1">
                <a:cs typeface="Times New Roman" panose="02020603050405020304" pitchFamily="18" charset="0"/>
              </a:rPr>
              <a:t>danh</a:t>
            </a:r>
            <a:r>
              <a:rPr lang="en-US" altLang="en-US" sz="2000" dirty="0">
                <a:cs typeface="Times New Roman" panose="02020603050405020304" pitchFamily="18" charset="0"/>
              </a:rPr>
              <a:t> </a:t>
            </a:r>
            <a:r>
              <a:rPr lang="en-US" altLang="en-US" sz="2000" dirty="0" err="1">
                <a:cs typeface="Times New Roman" panose="02020603050405020304" pitchFamily="18" charset="0"/>
              </a:rPr>
              <a:t>sách</a:t>
            </a:r>
            <a:r>
              <a:rPr lang="en-US" altLang="en-US" sz="2000" dirty="0">
                <a:cs typeface="Times New Roman" panose="02020603050405020304" pitchFamily="18" charset="0"/>
              </a:rPr>
              <a:t>. </a:t>
            </a:r>
          </a:p>
          <a:p>
            <a:pPr lvl="1">
              <a:spcBef>
                <a:spcPct val="15000"/>
              </a:spcBef>
            </a:pPr>
            <a:r>
              <a:rPr lang="en-US" altLang="en-US" sz="2000" dirty="0" err="1">
                <a:cs typeface="Times New Roman" panose="02020603050405020304" pitchFamily="18" charset="0"/>
              </a:rPr>
              <a:t>Để</a:t>
            </a:r>
            <a:r>
              <a:rPr lang="en-US" altLang="en-US" sz="2000" dirty="0">
                <a:cs typeface="Times New Roman" panose="02020603050405020304" pitchFamily="18" charset="0"/>
              </a:rPr>
              <a:t> </a:t>
            </a:r>
            <a:r>
              <a:rPr lang="en-US" altLang="en-US" sz="2000" dirty="0" err="1">
                <a:cs typeface="Times New Roman" panose="02020603050405020304" pitchFamily="18" charset="0"/>
              </a:rPr>
              <a:t>thứ</a:t>
            </a:r>
            <a:r>
              <a:rPr lang="en-US" altLang="en-US" sz="2000" dirty="0">
                <a:cs typeface="Times New Roman" panose="02020603050405020304" pitchFamily="18" charset="0"/>
              </a:rPr>
              <a:t> </a:t>
            </a:r>
            <a:r>
              <a:rPr lang="en-US" altLang="en-US" sz="2000" dirty="0" err="1">
                <a:cs typeface="Times New Roman" panose="02020603050405020304" pitchFamily="18" charset="0"/>
              </a:rPr>
              <a:t>tự</a:t>
            </a:r>
            <a:r>
              <a:rPr lang="en-US" altLang="en-US" sz="2000" dirty="0">
                <a:cs typeface="Times New Roman" panose="02020603050405020304" pitchFamily="18" charset="0"/>
              </a:rPr>
              <a:t> </a:t>
            </a:r>
            <a:r>
              <a:rPr lang="en-US" altLang="en-US" sz="2000" dirty="0" err="1">
                <a:cs typeface="Times New Roman" panose="02020603050405020304" pitchFamily="18" charset="0"/>
              </a:rPr>
              <a:t>duyệt</a:t>
            </a:r>
            <a:r>
              <a:rPr lang="en-US" altLang="en-US" sz="2000" dirty="0">
                <a:cs typeface="Times New Roman" panose="02020603050405020304" pitchFamily="18" charset="0"/>
              </a:rPr>
              <a:t>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theo</a:t>
            </a:r>
            <a:r>
              <a:rPr lang="en-US" altLang="en-US" sz="2000" dirty="0">
                <a:cs typeface="Times New Roman" panose="02020603050405020304" pitchFamily="18" charset="0"/>
              </a:rPr>
              <a:t> </a:t>
            </a:r>
            <a:r>
              <a:rPr lang="en-US" altLang="en-US" sz="2000" dirty="0" err="1">
                <a:cs typeface="Times New Roman" panose="02020603050405020304" pitchFamily="18" charset="0"/>
              </a:rPr>
              <a:t>từng</a:t>
            </a:r>
            <a:r>
              <a:rPr lang="en-US" altLang="en-US" sz="2000" dirty="0">
                <a:cs typeface="Times New Roman" panose="02020603050405020304" pitchFamily="18" charset="0"/>
              </a:rPr>
              <a:t> </a:t>
            </a:r>
            <a:r>
              <a:rPr lang="en-US" altLang="en-US" sz="2000" dirty="0" err="1">
                <a:cs typeface="Times New Roman" panose="02020603050405020304" pitchFamily="18" charset="0"/>
              </a:rPr>
              <a:t>mức</a:t>
            </a:r>
            <a:r>
              <a:rPr lang="en-US" altLang="en-US" sz="2000" dirty="0">
                <a:cs typeface="Times New Roman" panose="02020603050405020304" pitchFamily="18" charset="0"/>
              </a:rPr>
              <a:t> (</a:t>
            </a:r>
            <a:r>
              <a:rPr lang="en-US" altLang="en-US" sz="2000" dirty="0" err="1">
                <a:cs typeface="Times New Roman" panose="02020603050405020304" pitchFamily="18" charset="0"/>
              </a:rPr>
              <a:t>từng</a:t>
            </a:r>
            <a:r>
              <a:rPr lang="en-US" altLang="en-US" sz="2000" dirty="0">
                <a:cs typeface="Times New Roman" panose="02020603050405020304" pitchFamily="18" charset="0"/>
              </a:rPr>
              <a:t> </a:t>
            </a:r>
            <a:r>
              <a:rPr lang="en-US" altLang="en-US" sz="2000" dirty="0" err="1">
                <a:cs typeface="Times New Roman" panose="02020603050405020304" pitchFamily="18" charset="0"/>
              </a:rPr>
              <a:t>tầng</a:t>
            </a:r>
            <a:r>
              <a:rPr lang="en-US" altLang="en-US" sz="2000" dirty="0">
                <a:cs typeface="Times New Roman" panose="02020603050405020304" pitchFamily="18" charset="0"/>
              </a:rPr>
              <a:t>) </a:t>
            </a:r>
            <a:r>
              <a:rPr lang="en-US" altLang="en-US" sz="2000" dirty="0" err="1">
                <a:cs typeface="Times New Roman" panose="02020603050405020304" pitchFamily="18" charset="0"/>
              </a:rPr>
              <a:t>và</a:t>
            </a:r>
            <a:r>
              <a:rPr lang="en-US" altLang="en-US" sz="2000" dirty="0">
                <a:cs typeface="Times New Roman" panose="02020603050405020304" pitchFamily="18" charset="0"/>
              </a:rPr>
              <a:t> </a:t>
            </a:r>
            <a:r>
              <a:rPr lang="en-US" altLang="en-US" sz="2000" dirty="0" err="1">
                <a:cs typeface="Times New Roman" panose="02020603050405020304" pitchFamily="18" charset="0"/>
              </a:rPr>
              <a:t>sử</a:t>
            </a:r>
            <a:r>
              <a:rPr lang="en-US" altLang="en-US" sz="2000" dirty="0">
                <a:cs typeface="Times New Roman" panose="02020603050405020304" pitchFamily="18" charset="0"/>
              </a:rPr>
              <a:t> </a:t>
            </a:r>
            <a:r>
              <a:rPr lang="en-US" altLang="en-US" sz="2000" dirty="0" err="1">
                <a:cs typeface="Times New Roman" panose="02020603050405020304" pitchFamily="18" charset="0"/>
              </a:rPr>
              <a:t>dụng</a:t>
            </a:r>
            <a:r>
              <a:rPr lang="en-US" altLang="en-US" sz="2000" dirty="0">
                <a:cs typeface="Times New Roman" panose="02020603050405020304" pitchFamily="18" charset="0"/>
              </a:rPr>
              <a:t> </a:t>
            </a:r>
            <a:r>
              <a:rPr lang="en-US" altLang="en-US" sz="2000" dirty="0" err="1">
                <a:cs typeface="Times New Roman" panose="02020603050405020304" pitchFamily="18" charset="0"/>
              </a:rPr>
              <a:t>một</a:t>
            </a:r>
            <a:r>
              <a:rPr lang="en-US" altLang="en-US" sz="2000" dirty="0">
                <a:cs typeface="Times New Roman" panose="02020603050405020304" pitchFamily="18" charset="0"/>
              </a:rPr>
              <a:t> </a:t>
            </a:r>
            <a:r>
              <a:rPr lang="en-US" altLang="en-US" sz="2000" dirty="0" err="1">
                <a:cs typeface="Times New Roman" panose="02020603050405020304" pitchFamily="18" charset="0"/>
              </a:rPr>
              <a:t>cấu</a:t>
            </a:r>
            <a:r>
              <a:rPr lang="en-US" altLang="en-US" sz="2000" dirty="0">
                <a:cs typeface="Times New Roman" panose="02020603050405020304" pitchFamily="18" charset="0"/>
              </a:rPr>
              <a:t> </a:t>
            </a:r>
            <a:r>
              <a:rPr lang="en-US" altLang="en-US" sz="2000" dirty="0" err="1">
                <a:cs typeface="Times New Roman" panose="02020603050405020304" pitchFamily="18" charset="0"/>
              </a:rPr>
              <a:t>trúc</a:t>
            </a:r>
            <a:r>
              <a:rPr lang="en-US" altLang="en-US" sz="2000" dirty="0">
                <a:cs typeface="Times New Roman" panose="02020603050405020304" pitchFamily="18" charset="0"/>
              </a:rPr>
              <a:t> </a:t>
            </a:r>
            <a:r>
              <a:rPr lang="en-US" altLang="en-US" sz="2000" dirty="0" err="1">
                <a:cs typeface="Times New Roman" panose="02020603050405020304" pitchFamily="18" charset="0"/>
              </a:rPr>
              <a:t>danh</a:t>
            </a:r>
            <a:r>
              <a:rPr lang="en-US" altLang="en-US" sz="2000" dirty="0">
                <a:cs typeface="Times New Roman" panose="02020603050405020304" pitchFamily="18" charset="0"/>
              </a:rPr>
              <a:t> </a:t>
            </a:r>
            <a:r>
              <a:rPr lang="en-US" altLang="en-US" sz="2000" dirty="0" err="1">
                <a:cs typeface="Times New Roman" panose="02020603050405020304" pitchFamily="18" charset="0"/>
              </a:rPr>
              <a:t>sách</a:t>
            </a:r>
            <a:r>
              <a:rPr lang="en-US" altLang="en-US" sz="2000" dirty="0">
                <a:cs typeface="Times New Roman" panose="02020603050405020304" pitchFamily="18" charset="0"/>
              </a:rPr>
              <a:t> </a:t>
            </a:r>
            <a:r>
              <a:rPr lang="en-US" altLang="en-US" sz="2000" dirty="0" err="1">
                <a:cs typeface="Times New Roman" panose="02020603050405020304" pitchFamily="18" charset="0"/>
              </a:rPr>
              <a:t>kiểu</a:t>
            </a:r>
            <a:r>
              <a:rPr lang="en-US" altLang="en-US" sz="2000" dirty="0">
                <a:cs typeface="Times New Roman" panose="02020603050405020304" pitchFamily="18" charset="0"/>
              </a:rPr>
              <a:t> </a:t>
            </a:r>
            <a:r>
              <a:rPr lang="en-US" altLang="en-US" sz="2000" dirty="0" err="1">
                <a:cs typeface="Times New Roman" panose="02020603050405020304" pitchFamily="18" charset="0"/>
              </a:rPr>
              <a:t>hàng</a:t>
            </a:r>
            <a:r>
              <a:rPr lang="en-US" altLang="en-US" sz="2000" dirty="0">
                <a:cs typeface="Times New Roman" panose="02020603050405020304" pitchFamily="18" charset="0"/>
              </a:rPr>
              <a:t> </a:t>
            </a:r>
            <a:r>
              <a:rPr lang="en-US" altLang="en-US" sz="2000" dirty="0" err="1">
                <a:cs typeface="Times New Roman" panose="02020603050405020304" pitchFamily="18" charset="0"/>
              </a:rPr>
              <a:t>đợi</a:t>
            </a:r>
            <a:r>
              <a:rPr lang="en-US" altLang="en-US" sz="2000" dirty="0">
                <a:cs typeface="Times New Roman" panose="02020603050405020304" pitchFamily="18" charset="0"/>
              </a:rPr>
              <a:t> Q. </a:t>
            </a:r>
          </a:p>
          <a:p>
            <a:pPr>
              <a:spcBef>
                <a:spcPct val="15000"/>
              </a:spcBef>
            </a:pPr>
            <a:endParaRPr lang="en-US" altLang="en-US" sz="3200" dirty="0">
              <a:cs typeface="Times New Roman" panose="02020603050405020304" pitchFamily="18" charset="0"/>
            </a:endParaRPr>
          </a:p>
          <a:p>
            <a:pPr marL="404813" lvl="2" eaLnBrk="1" hangingPunct="1">
              <a:spcBef>
                <a:spcPct val="15000"/>
              </a:spcBef>
              <a:buFontTx/>
              <a:buNone/>
            </a:pPr>
            <a:r>
              <a:rPr lang="en-US" altLang="en-US" sz="2000" dirty="0">
                <a:cs typeface="Times New Roman" panose="02020603050405020304" pitchFamily="18" charset="0"/>
              </a:rPr>
              <a:t>VD: </a:t>
            </a:r>
          </a:p>
          <a:p>
            <a:pPr marL="404813" lvl="2" eaLnBrk="1" hangingPunct="1">
              <a:spcBef>
                <a:spcPct val="15000"/>
              </a:spcBef>
            </a:pPr>
            <a:r>
              <a:rPr lang="en-US" altLang="en-US" sz="2000" dirty="0" err="1">
                <a:cs typeface="Times New Roman" panose="02020603050405020304" pitchFamily="18" charset="0"/>
              </a:rPr>
              <a:t>Thứ</a:t>
            </a:r>
            <a:r>
              <a:rPr lang="en-US" altLang="en-US" sz="2000" dirty="0">
                <a:cs typeface="Times New Roman" panose="02020603050405020304" pitchFamily="18" charset="0"/>
              </a:rPr>
              <a:t> </a:t>
            </a:r>
            <a:r>
              <a:rPr lang="en-US" altLang="en-US" sz="2000" dirty="0" err="1">
                <a:cs typeface="Times New Roman" panose="02020603050405020304" pitchFamily="18" charset="0"/>
              </a:rPr>
              <a:t>tự</a:t>
            </a:r>
            <a:r>
              <a:rPr lang="en-US" altLang="en-US" sz="2000" dirty="0">
                <a:cs typeface="Times New Roman" panose="02020603050405020304" pitchFamily="18" charset="0"/>
              </a:rPr>
              <a:t> </a:t>
            </a:r>
            <a:r>
              <a:rPr lang="en-US" altLang="en-US" sz="2000" dirty="0" err="1">
                <a:cs typeface="Times New Roman" panose="02020603050405020304" pitchFamily="18" charset="0"/>
              </a:rPr>
              <a:t>đưa</a:t>
            </a:r>
            <a:r>
              <a:rPr lang="en-US" altLang="en-US" sz="2000" dirty="0">
                <a:cs typeface="Times New Roman" panose="02020603050405020304" pitchFamily="18" charset="0"/>
              </a:rPr>
              <a:t> </a:t>
            </a:r>
            <a:r>
              <a:rPr lang="en-US" altLang="en-US" sz="2000" dirty="0" err="1">
                <a:cs typeface="Times New Roman" panose="02020603050405020304" pitchFamily="18" charset="0"/>
              </a:rPr>
              <a:t>vào</a:t>
            </a:r>
            <a:r>
              <a:rPr lang="en-US" altLang="en-US" sz="2000" dirty="0">
                <a:cs typeface="Times New Roman" panose="02020603050405020304" pitchFamily="18" charset="0"/>
              </a:rPr>
              <a:t> </a:t>
            </a:r>
            <a:r>
              <a:rPr lang="en-US" altLang="en-US" sz="2000" dirty="0" err="1">
                <a:cs typeface="Times New Roman" panose="02020603050405020304" pitchFamily="18" charset="0"/>
              </a:rPr>
              <a:t>hàng</a:t>
            </a:r>
            <a:r>
              <a:rPr lang="en-US" altLang="en-US" sz="2000" dirty="0">
                <a:cs typeface="Times New Roman" panose="02020603050405020304" pitchFamily="18" charset="0"/>
              </a:rPr>
              <a:t> </a:t>
            </a:r>
            <a:r>
              <a:rPr lang="en-US" altLang="en-US" sz="2000" dirty="0" err="1">
                <a:cs typeface="Times New Roman" panose="02020603050405020304" pitchFamily="18" charset="0"/>
              </a:rPr>
              <a:t>đợi</a:t>
            </a:r>
            <a:r>
              <a:rPr lang="en-US" altLang="en-US" sz="2000" dirty="0">
                <a:cs typeface="Times New Roman" panose="02020603050405020304" pitchFamily="18" charset="0"/>
              </a:rPr>
              <a:t>: </a:t>
            </a:r>
            <a:br>
              <a:rPr lang="en-US" altLang="en-US" sz="2000" dirty="0">
                <a:cs typeface="Times New Roman" panose="02020603050405020304" pitchFamily="18" charset="0"/>
              </a:rPr>
            </a:br>
            <a:r>
              <a:rPr lang="en-US" altLang="en-US" sz="2000" dirty="0">
                <a:cs typeface="Times New Roman" panose="02020603050405020304" pitchFamily="18" charset="0"/>
              </a:rPr>
              <a:t>	                 1 | 2 3 | 4 5 | 6 7 | 8 9 | 10 </a:t>
            </a:r>
          </a:p>
          <a:p>
            <a:pPr marL="404813" lvl="2" eaLnBrk="1" hangingPunct="1">
              <a:spcBef>
                <a:spcPct val="15000"/>
              </a:spcBef>
            </a:pPr>
            <a:endParaRPr lang="en-US" altLang="en-US" sz="2000" dirty="0">
              <a:cs typeface="Times New Roman" panose="02020603050405020304" pitchFamily="18" charset="0"/>
            </a:endParaRPr>
          </a:p>
          <a:p>
            <a:pPr marL="404813" lvl="2">
              <a:spcBef>
                <a:spcPct val="15000"/>
              </a:spcBef>
            </a:pPr>
            <a:endParaRPr lang="en-US" altLang="en-US" sz="2000" dirty="0">
              <a:cs typeface="Times New Roman" panose="02020603050405020304" pitchFamily="18" charset="0"/>
            </a:endParaRPr>
          </a:p>
          <a:p>
            <a:pPr marL="233363" lvl="2">
              <a:spcBef>
                <a:spcPct val="15000"/>
              </a:spcBef>
            </a:pPr>
            <a:r>
              <a:rPr lang="en-US" altLang="en-US" sz="2000" dirty="0" err="1">
                <a:cs typeface="Times New Roman" panose="02020603050405020304" pitchFamily="18" charset="0"/>
              </a:rPr>
              <a:t>Thứ</a:t>
            </a:r>
            <a:r>
              <a:rPr lang="en-US" altLang="en-US" sz="2000" dirty="0">
                <a:cs typeface="Times New Roman" panose="02020603050405020304" pitchFamily="18" charset="0"/>
              </a:rPr>
              <a:t> </a:t>
            </a:r>
            <a:r>
              <a:rPr lang="en-US" altLang="en-US" sz="2000" dirty="0" err="1">
                <a:cs typeface="Times New Roman" panose="02020603050405020304" pitchFamily="18" charset="0"/>
              </a:rPr>
              <a:t>tự</a:t>
            </a:r>
            <a:r>
              <a:rPr lang="en-US" altLang="en-US" sz="2000" dirty="0">
                <a:cs typeface="Times New Roman" panose="02020603050405020304" pitchFamily="18" charset="0"/>
              </a:rPr>
              <a:t> </a:t>
            </a:r>
            <a:r>
              <a:rPr lang="en-US" altLang="en-US" sz="2000" dirty="0" err="1">
                <a:cs typeface="Times New Roman" panose="02020603050405020304" pitchFamily="18" charset="0"/>
              </a:rPr>
              <a:t>thăm</a:t>
            </a:r>
            <a:r>
              <a:rPr lang="en-US" altLang="en-US" sz="2000" dirty="0">
                <a:cs typeface="Times New Roman" panose="02020603050405020304" pitchFamily="18" charset="0"/>
              </a:rPr>
              <a:t>: 1,  2, 3,  4, 5,  6, 7,  8, 9,  10</a:t>
            </a:r>
          </a:p>
          <a:p>
            <a:pPr lvl="2" eaLnBrk="1" hangingPunct="1">
              <a:spcBef>
                <a:spcPct val="15000"/>
              </a:spcBef>
            </a:pPr>
            <a:endParaRPr lang="en-US" altLang="en-US" sz="2000" dirty="0">
              <a:cs typeface="Times New Roman" panose="02020603050405020304" pitchFamily="18" charset="0"/>
            </a:endParaRPr>
          </a:p>
        </p:txBody>
      </p:sp>
      <p:grpSp>
        <p:nvGrpSpPr>
          <p:cNvPr id="28678" name="Group 4"/>
          <p:cNvGrpSpPr>
            <a:grpSpLocks/>
          </p:cNvGrpSpPr>
          <p:nvPr/>
        </p:nvGrpSpPr>
        <p:grpSpPr bwMode="auto">
          <a:xfrm>
            <a:off x="4838625" y="2601191"/>
            <a:ext cx="4191000" cy="3505200"/>
            <a:chOff x="3024" y="1776"/>
            <a:chExt cx="2640" cy="2208"/>
          </a:xfrm>
        </p:grpSpPr>
        <p:sp>
          <p:nvSpPr>
            <p:cNvPr id="28684" name="Oval 5"/>
            <p:cNvSpPr>
              <a:spLocks noChangeArrowheads="1"/>
            </p:cNvSpPr>
            <p:nvPr/>
          </p:nvSpPr>
          <p:spPr bwMode="auto">
            <a:xfrm>
              <a:off x="4449" y="1776"/>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1</a:t>
              </a:r>
            </a:p>
          </p:txBody>
        </p:sp>
        <p:sp>
          <p:nvSpPr>
            <p:cNvPr id="28685" name="Oval 6"/>
            <p:cNvSpPr>
              <a:spLocks noChangeArrowheads="1"/>
            </p:cNvSpPr>
            <p:nvPr/>
          </p:nvSpPr>
          <p:spPr bwMode="auto">
            <a:xfrm>
              <a:off x="5027" y="2496"/>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3</a:t>
              </a:r>
            </a:p>
          </p:txBody>
        </p:sp>
        <p:sp>
          <p:nvSpPr>
            <p:cNvPr id="28686" name="Oval 7"/>
            <p:cNvSpPr>
              <a:spLocks noChangeArrowheads="1"/>
            </p:cNvSpPr>
            <p:nvPr/>
          </p:nvSpPr>
          <p:spPr bwMode="auto">
            <a:xfrm>
              <a:off x="3909" y="2448"/>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2</a:t>
              </a:r>
            </a:p>
          </p:txBody>
        </p:sp>
        <p:sp>
          <p:nvSpPr>
            <p:cNvPr id="28687" name="Oval 8"/>
            <p:cNvSpPr>
              <a:spLocks noChangeArrowheads="1"/>
            </p:cNvSpPr>
            <p:nvPr/>
          </p:nvSpPr>
          <p:spPr bwMode="auto">
            <a:xfrm>
              <a:off x="3408" y="316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4</a:t>
              </a:r>
            </a:p>
          </p:txBody>
        </p:sp>
        <p:sp>
          <p:nvSpPr>
            <p:cNvPr id="28688" name="Oval 9"/>
            <p:cNvSpPr>
              <a:spLocks noChangeArrowheads="1"/>
            </p:cNvSpPr>
            <p:nvPr/>
          </p:nvSpPr>
          <p:spPr bwMode="auto">
            <a:xfrm>
              <a:off x="4311" y="3168"/>
              <a:ext cx="232"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5</a:t>
              </a:r>
            </a:p>
          </p:txBody>
        </p:sp>
        <p:sp>
          <p:nvSpPr>
            <p:cNvPr id="28689" name="Oval 10"/>
            <p:cNvSpPr>
              <a:spLocks noChangeArrowheads="1"/>
            </p:cNvSpPr>
            <p:nvPr/>
          </p:nvSpPr>
          <p:spPr bwMode="auto">
            <a:xfrm>
              <a:off x="4752" y="316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6</a:t>
              </a:r>
            </a:p>
          </p:txBody>
        </p:sp>
        <p:sp>
          <p:nvSpPr>
            <p:cNvPr id="28690" name="Oval 11"/>
            <p:cNvSpPr>
              <a:spLocks noChangeArrowheads="1"/>
            </p:cNvSpPr>
            <p:nvPr/>
          </p:nvSpPr>
          <p:spPr bwMode="auto">
            <a:xfrm>
              <a:off x="5433" y="3120"/>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7</a:t>
              </a:r>
            </a:p>
          </p:txBody>
        </p:sp>
        <p:sp>
          <p:nvSpPr>
            <p:cNvPr id="28691" name="Oval 12"/>
            <p:cNvSpPr>
              <a:spLocks noChangeArrowheads="1"/>
            </p:cNvSpPr>
            <p:nvPr/>
          </p:nvSpPr>
          <p:spPr bwMode="auto">
            <a:xfrm>
              <a:off x="3024" y="3744"/>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8</a:t>
              </a:r>
            </a:p>
          </p:txBody>
        </p:sp>
        <p:sp>
          <p:nvSpPr>
            <p:cNvPr id="28692" name="Line 13"/>
            <p:cNvSpPr>
              <a:spLocks noChangeShapeType="1"/>
            </p:cNvSpPr>
            <p:nvPr/>
          </p:nvSpPr>
          <p:spPr bwMode="auto">
            <a:xfrm flipH="1">
              <a:off x="4102" y="1968"/>
              <a:ext cx="410"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3" name="Line 14"/>
            <p:cNvSpPr>
              <a:spLocks noChangeShapeType="1"/>
            </p:cNvSpPr>
            <p:nvPr/>
          </p:nvSpPr>
          <p:spPr bwMode="auto">
            <a:xfrm flipH="1">
              <a:off x="3562" y="2688"/>
              <a:ext cx="386"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4" name="Line 15"/>
            <p:cNvSpPr>
              <a:spLocks noChangeShapeType="1"/>
            </p:cNvSpPr>
            <p:nvPr/>
          </p:nvSpPr>
          <p:spPr bwMode="auto">
            <a:xfrm flipH="1">
              <a:off x="4848" y="2736"/>
              <a:ext cx="24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5" name="Line 16"/>
            <p:cNvSpPr>
              <a:spLocks noChangeShapeType="1"/>
            </p:cNvSpPr>
            <p:nvPr/>
          </p:nvSpPr>
          <p:spPr bwMode="auto">
            <a:xfrm>
              <a:off x="4080" y="2688"/>
              <a:ext cx="30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6" name="Line 17"/>
            <p:cNvSpPr>
              <a:spLocks noChangeShapeType="1"/>
            </p:cNvSpPr>
            <p:nvPr/>
          </p:nvSpPr>
          <p:spPr bwMode="auto">
            <a:xfrm>
              <a:off x="4642" y="1968"/>
              <a:ext cx="446"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7" name="Line 18"/>
            <p:cNvSpPr>
              <a:spLocks noChangeShapeType="1"/>
            </p:cNvSpPr>
            <p:nvPr/>
          </p:nvSpPr>
          <p:spPr bwMode="auto">
            <a:xfrm>
              <a:off x="5232" y="2688"/>
              <a:ext cx="288"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8" name="Line 19"/>
            <p:cNvSpPr>
              <a:spLocks noChangeShapeType="1"/>
            </p:cNvSpPr>
            <p:nvPr/>
          </p:nvSpPr>
          <p:spPr bwMode="auto">
            <a:xfrm flipH="1">
              <a:off x="3142" y="3360"/>
              <a:ext cx="288"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9" name="Oval 20"/>
            <p:cNvSpPr>
              <a:spLocks noChangeArrowheads="1"/>
            </p:cNvSpPr>
            <p:nvPr/>
          </p:nvSpPr>
          <p:spPr bwMode="auto">
            <a:xfrm>
              <a:off x="3674" y="3744"/>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9</a:t>
              </a:r>
            </a:p>
          </p:txBody>
        </p:sp>
        <p:sp>
          <p:nvSpPr>
            <p:cNvPr id="28700" name="Line 21"/>
            <p:cNvSpPr>
              <a:spLocks noChangeShapeType="1"/>
            </p:cNvSpPr>
            <p:nvPr/>
          </p:nvSpPr>
          <p:spPr bwMode="auto">
            <a:xfrm>
              <a:off x="3600" y="3408"/>
              <a:ext cx="192"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1" name="Oval 22"/>
            <p:cNvSpPr>
              <a:spLocks noChangeArrowheads="1"/>
            </p:cNvSpPr>
            <p:nvPr/>
          </p:nvSpPr>
          <p:spPr bwMode="auto">
            <a:xfrm>
              <a:off x="4010" y="3744"/>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10</a:t>
              </a:r>
            </a:p>
          </p:txBody>
        </p:sp>
        <p:sp>
          <p:nvSpPr>
            <p:cNvPr id="28702" name="Line 23"/>
            <p:cNvSpPr>
              <a:spLocks noChangeShapeType="1"/>
            </p:cNvSpPr>
            <p:nvPr/>
          </p:nvSpPr>
          <p:spPr bwMode="auto">
            <a:xfrm flipH="1">
              <a:off x="4128" y="3408"/>
              <a:ext cx="24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8679" name="Line 25"/>
          <p:cNvSpPr>
            <a:spLocks noChangeShapeType="1"/>
          </p:cNvSpPr>
          <p:nvPr/>
        </p:nvSpPr>
        <p:spPr bwMode="auto">
          <a:xfrm flipV="1">
            <a:off x="2095501" y="4048991"/>
            <a:ext cx="246064" cy="652872"/>
          </a:xfrm>
          <a:prstGeom prst="line">
            <a:avLst/>
          </a:prstGeom>
          <a:noFill/>
          <a:ln w="9525">
            <a:solidFill>
              <a:schemeClr val="tx1"/>
            </a:solidFill>
            <a:prstDash val="lg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80" name="Line 26"/>
          <p:cNvSpPr>
            <a:spLocks noChangeShapeType="1"/>
          </p:cNvSpPr>
          <p:nvPr/>
        </p:nvSpPr>
        <p:spPr bwMode="auto">
          <a:xfrm flipV="1">
            <a:off x="2676376" y="4004817"/>
            <a:ext cx="787550" cy="711061"/>
          </a:xfrm>
          <a:prstGeom prst="line">
            <a:avLst/>
          </a:prstGeom>
          <a:noFill/>
          <a:ln w="9525">
            <a:solidFill>
              <a:schemeClr val="tx1"/>
            </a:solidFill>
            <a:prstDash val="lg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81" name="Line 27"/>
          <p:cNvSpPr>
            <a:spLocks noChangeShapeType="1"/>
          </p:cNvSpPr>
          <p:nvPr/>
        </p:nvSpPr>
        <p:spPr bwMode="auto">
          <a:xfrm flipV="1">
            <a:off x="3198177" y="3994425"/>
            <a:ext cx="1324692" cy="701363"/>
          </a:xfrm>
          <a:prstGeom prst="line">
            <a:avLst/>
          </a:prstGeom>
          <a:noFill/>
          <a:ln w="9525">
            <a:solidFill>
              <a:schemeClr val="tx1"/>
            </a:solidFill>
            <a:prstDash val="lg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cxnSp>
        <p:nvCxnSpPr>
          <p:cNvPr id="4" name="Straight Arrow Connector 3"/>
          <p:cNvCxnSpPr/>
          <p:nvPr/>
        </p:nvCxnSpPr>
        <p:spPr>
          <a:xfrm flipH="1">
            <a:off x="2057400" y="4048991"/>
            <a:ext cx="0" cy="65708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p:cNvCxnSpPr/>
          <p:nvPr/>
        </p:nvCxnSpPr>
        <p:spPr>
          <a:xfrm flipH="1">
            <a:off x="2376342" y="4044950"/>
            <a:ext cx="0" cy="65708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p:cNvCxnSpPr/>
          <p:nvPr/>
        </p:nvCxnSpPr>
        <p:spPr>
          <a:xfrm flipH="1">
            <a:off x="2654457" y="4044778"/>
            <a:ext cx="0" cy="65708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p:cNvCxnSpPr/>
          <p:nvPr/>
        </p:nvCxnSpPr>
        <p:spPr>
          <a:xfrm flipH="1">
            <a:off x="2972073" y="4038600"/>
            <a:ext cx="0" cy="65708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p:cNvCxnSpPr/>
          <p:nvPr/>
        </p:nvCxnSpPr>
        <p:spPr>
          <a:xfrm flipH="1">
            <a:off x="3187857" y="4038600"/>
            <a:ext cx="0" cy="65708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p:cNvCxnSpPr/>
          <p:nvPr/>
        </p:nvCxnSpPr>
        <p:spPr>
          <a:xfrm flipH="1">
            <a:off x="3483011" y="4029901"/>
            <a:ext cx="0" cy="65708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42" name="Line 25"/>
          <p:cNvSpPr>
            <a:spLocks noChangeShapeType="1"/>
          </p:cNvSpPr>
          <p:nvPr/>
        </p:nvSpPr>
        <p:spPr bwMode="auto">
          <a:xfrm flipV="1">
            <a:off x="2412813" y="4004817"/>
            <a:ext cx="488045" cy="680904"/>
          </a:xfrm>
          <a:prstGeom prst="line">
            <a:avLst/>
          </a:prstGeom>
          <a:noFill/>
          <a:ln w="9525">
            <a:solidFill>
              <a:schemeClr val="tx1"/>
            </a:solidFill>
            <a:prstDash val="lg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 name="Line 26"/>
          <p:cNvSpPr>
            <a:spLocks noChangeShapeType="1"/>
          </p:cNvSpPr>
          <p:nvPr/>
        </p:nvSpPr>
        <p:spPr bwMode="auto">
          <a:xfrm flipV="1">
            <a:off x="2968898" y="3994426"/>
            <a:ext cx="979215" cy="686210"/>
          </a:xfrm>
          <a:prstGeom prst="line">
            <a:avLst/>
          </a:prstGeom>
          <a:noFill/>
          <a:ln w="9525">
            <a:solidFill>
              <a:schemeClr val="tx1"/>
            </a:solidFill>
            <a:prstDash val="lg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cxnSp>
        <p:nvCxnSpPr>
          <p:cNvPr id="47" name="Straight Arrow Connector 46"/>
          <p:cNvCxnSpPr/>
          <p:nvPr/>
        </p:nvCxnSpPr>
        <p:spPr>
          <a:xfrm flipH="1">
            <a:off x="3730782" y="4023000"/>
            <a:ext cx="0" cy="65708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p:cNvCxnSpPr/>
          <p:nvPr/>
        </p:nvCxnSpPr>
        <p:spPr>
          <a:xfrm flipH="1">
            <a:off x="4054632" y="4022279"/>
            <a:ext cx="0" cy="65708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p:cNvCxnSpPr/>
          <p:nvPr/>
        </p:nvCxnSpPr>
        <p:spPr>
          <a:xfrm flipH="1">
            <a:off x="4267357" y="4013475"/>
            <a:ext cx="0" cy="65708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p:cNvCxnSpPr/>
          <p:nvPr/>
        </p:nvCxnSpPr>
        <p:spPr>
          <a:xfrm flipH="1">
            <a:off x="4635657" y="3994425"/>
            <a:ext cx="0" cy="65708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47965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7">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7">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677">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867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868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68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9" grpId="0" animBg="1"/>
      <p:bldP spid="28680" grpId="0" animBg="1"/>
      <p:bldP spid="28681" grpId="0" animBg="1"/>
      <p:bldP spid="42" grpId="0" animBg="1"/>
      <p:bldP spid="4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33</a:t>
            </a:fld>
            <a:endParaRPr lang="en-US"/>
          </a:p>
        </p:txBody>
      </p:sp>
      <p:sp>
        <p:nvSpPr>
          <p:cNvPr id="5" name="Title 4"/>
          <p:cNvSpPr>
            <a:spLocks noGrp="1"/>
          </p:cNvSpPr>
          <p:nvPr>
            <p:ph type="title"/>
          </p:nvPr>
        </p:nvSpPr>
        <p:spPr/>
        <p:txBody>
          <a:bodyPr/>
          <a:lstStyle/>
          <a:p>
            <a:r>
              <a:rPr lang="en-US" altLang="en-US" dirty="0" err="1"/>
              <a:t>Cài</a:t>
            </a:r>
            <a:r>
              <a:rPr lang="en-US" altLang="en-US" dirty="0"/>
              <a:t> </a:t>
            </a:r>
            <a:r>
              <a:rPr lang="en-US" altLang="en-US" dirty="0" err="1"/>
              <a:t>đặt</a:t>
            </a:r>
            <a:r>
              <a:rPr lang="en-US" altLang="en-US" dirty="0"/>
              <a:t> </a:t>
            </a:r>
            <a:r>
              <a:rPr lang="en-US" altLang="en-US" dirty="0" err="1"/>
              <a:t>cây</a:t>
            </a:r>
            <a:r>
              <a:rPr lang="en-US" altLang="en-US" dirty="0"/>
              <a:t> </a:t>
            </a:r>
            <a:r>
              <a:rPr lang="en-US" altLang="en-US" dirty="0" err="1"/>
              <a:t>nhị</a:t>
            </a:r>
            <a:r>
              <a:rPr lang="en-US" altLang="en-US" dirty="0"/>
              <a:t> </a:t>
            </a:r>
            <a:r>
              <a:rPr lang="en-US" altLang="en-US" dirty="0" err="1"/>
              <a:t>phân</a:t>
            </a:r>
            <a:r>
              <a:rPr lang="en-US" altLang="en-US" dirty="0"/>
              <a:t> </a:t>
            </a:r>
            <a:endParaRPr lang="en-US" dirty="0"/>
          </a:p>
        </p:txBody>
      </p:sp>
      <p:sp>
        <p:nvSpPr>
          <p:cNvPr id="2" name="Content Placeholder 1"/>
          <p:cNvSpPr>
            <a:spLocks noGrp="1"/>
          </p:cNvSpPr>
          <p:nvPr>
            <p:ph type="body" sz="quarter" idx="13"/>
          </p:nvPr>
        </p:nvSpPr>
        <p:spPr/>
        <p:txBody>
          <a:bodyPr>
            <a:normAutofit/>
          </a:bodyPr>
          <a:lstStyle/>
          <a:p>
            <a:pPr marL="0" indent="-274638"/>
            <a:r>
              <a:rPr lang="en-US" altLang="en-US" sz="2400" dirty="0" err="1">
                <a:cs typeface="Times New Roman" panose="02020603050405020304" pitchFamily="18" charset="0"/>
              </a:rPr>
              <a:t>Sử</a:t>
            </a:r>
            <a:r>
              <a:rPr lang="en-US" altLang="en-US" sz="2400" dirty="0">
                <a:cs typeface="Times New Roman" panose="02020603050405020304" pitchFamily="18" charset="0"/>
              </a:rPr>
              <a:t> </a:t>
            </a:r>
            <a:r>
              <a:rPr lang="en-US" altLang="en-US" sz="2400" dirty="0" err="1">
                <a:cs typeface="Times New Roman" panose="02020603050405020304" pitchFamily="18" charset="0"/>
              </a:rPr>
              <a:t>dụng</a:t>
            </a:r>
            <a:r>
              <a:rPr lang="en-US" altLang="en-US" sz="2400" dirty="0">
                <a:cs typeface="Times New Roman" panose="02020603050405020304" pitchFamily="18" charset="0"/>
              </a:rPr>
              <a:t> CTLT </a:t>
            </a:r>
            <a:r>
              <a:rPr lang="en-US" altLang="en-US" sz="2400" dirty="0" err="1">
                <a:cs typeface="Times New Roman" panose="02020603050405020304" pitchFamily="18" charset="0"/>
              </a:rPr>
              <a:t>tuần</a:t>
            </a:r>
            <a:r>
              <a:rPr lang="en-US" altLang="en-US" sz="2400" dirty="0">
                <a:cs typeface="Times New Roman" panose="02020603050405020304" pitchFamily="18" charset="0"/>
              </a:rPr>
              <a:t> </a:t>
            </a:r>
            <a:r>
              <a:rPr lang="en-US" altLang="en-US" sz="2400" dirty="0" err="1">
                <a:cs typeface="Times New Roman" panose="02020603050405020304" pitchFamily="18" charset="0"/>
              </a:rPr>
              <a:t>tự</a:t>
            </a:r>
            <a:r>
              <a:rPr lang="en-US" altLang="en-US" sz="2400" dirty="0">
                <a:cs typeface="Times New Roman" panose="02020603050405020304" pitchFamily="18" charset="0"/>
              </a:rPr>
              <a:t>: </a:t>
            </a:r>
          </a:p>
          <a:p>
            <a:pPr lvl="1"/>
            <a:r>
              <a:rPr lang="vi-VN" sz="2000" dirty="0"/>
              <a:t>Đánh số các nút trên cây theo trình tự từ mức 1, hết mức này đến mức khác, từ trái sang phải</a:t>
            </a:r>
          </a:p>
          <a:p>
            <a:pPr lvl="1"/>
            <a:r>
              <a:rPr lang="vi-VN" sz="2000" dirty="0"/>
              <a:t>Lưu trữ trong vector lưu trữ V theo nguyên tắc phần tử V[i] sẽ lưu thông tin của nút được đánh số i </a:t>
            </a:r>
            <a:br>
              <a:rPr lang="vi-VN" sz="2000" dirty="0"/>
            </a:br>
            <a:endParaRPr lang="vi-VN" sz="2000" dirty="0"/>
          </a:p>
          <a:p>
            <a:endParaRPr lang="en-US" sz="2400" dirty="0"/>
          </a:p>
        </p:txBody>
      </p:sp>
      <p:pic>
        <p:nvPicPr>
          <p:cNvPr id="6" name="Picture 5"/>
          <p:cNvPicPr>
            <a:picLocks noChangeAspect="1"/>
          </p:cNvPicPr>
          <p:nvPr/>
        </p:nvPicPr>
        <p:blipFill>
          <a:blip r:embed="rId2"/>
          <a:stretch>
            <a:fillRect/>
          </a:stretch>
        </p:blipFill>
        <p:spPr>
          <a:xfrm>
            <a:off x="695325" y="2895600"/>
            <a:ext cx="3429000" cy="2131846"/>
          </a:xfrm>
          <a:prstGeom prst="rect">
            <a:avLst/>
          </a:prstGeom>
        </p:spPr>
      </p:pic>
      <p:pic>
        <p:nvPicPr>
          <p:cNvPr id="7" name="Picture 6"/>
          <p:cNvPicPr>
            <a:picLocks noChangeAspect="1"/>
          </p:cNvPicPr>
          <p:nvPr/>
        </p:nvPicPr>
        <p:blipFill>
          <a:blip r:embed="rId3"/>
          <a:stretch>
            <a:fillRect/>
          </a:stretch>
        </p:blipFill>
        <p:spPr>
          <a:xfrm>
            <a:off x="4521365" y="2895600"/>
            <a:ext cx="4362158" cy="658911"/>
          </a:xfrm>
          <a:prstGeom prst="rect">
            <a:avLst/>
          </a:prstGeom>
        </p:spPr>
      </p:pic>
    </p:spTree>
    <p:extLst>
      <p:ext uri="{BB962C8B-B14F-4D97-AF65-F5344CB8AC3E}">
        <p14:creationId xmlns:p14="http://schemas.microsoft.com/office/powerpoint/2010/main" val="958185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2"/>
          <p:cNvSpPr>
            <a:spLocks noGrp="1" noChangeArrowheads="1"/>
          </p:cNvSpPr>
          <p:nvPr>
            <p:ph type="title"/>
          </p:nvPr>
        </p:nvSpPr>
        <p:spPr/>
        <p:txBody>
          <a:bodyPr/>
          <a:lstStyle/>
          <a:p>
            <a:pPr eaLnBrk="1" hangingPunct="1"/>
            <a:r>
              <a:rPr lang="en-US" altLang="en-US" dirty="0" err="1">
                <a:cs typeface="Times New Roman" panose="02020603050405020304" pitchFamily="18" charset="0"/>
              </a:rPr>
              <a:t>Cài</a:t>
            </a:r>
            <a:r>
              <a:rPr lang="en-US" altLang="en-US" dirty="0">
                <a:cs typeface="Times New Roman" panose="02020603050405020304" pitchFamily="18" charset="0"/>
              </a:rPr>
              <a:t> </a:t>
            </a:r>
            <a:r>
              <a:rPr lang="en-US" altLang="en-US" dirty="0" err="1">
                <a:cs typeface="Times New Roman" panose="02020603050405020304" pitchFamily="18" charset="0"/>
              </a:rPr>
              <a:t>đặt</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nhị</a:t>
            </a:r>
            <a:r>
              <a:rPr lang="en-US" altLang="en-US" dirty="0">
                <a:cs typeface="Times New Roman" panose="02020603050405020304" pitchFamily="18" charset="0"/>
              </a:rPr>
              <a:t> </a:t>
            </a:r>
            <a:r>
              <a:rPr lang="en-US" altLang="en-US" dirty="0" err="1">
                <a:cs typeface="Times New Roman" panose="02020603050405020304" pitchFamily="18" charset="0"/>
              </a:rPr>
              <a:t>phân</a:t>
            </a:r>
            <a:r>
              <a:rPr lang="en-US" altLang="en-US" dirty="0"/>
              <a:t> </a:t>
            </a:r>
          </a:p>
        </p:txBody>
      </p:sp>
      <p:sp>
        <p:nvSpPr>
          <p:cNvPr id="29701" name="Rectangle 3"/>
          <p:cNvSpPr>
            <a:spLocks noGrp="1" noChangeArrowheads="1"/>
          </p:cNvSpPr>
          <p:nvPr>
            <p:ph type="body" sz="quarter" idx="13"/>
          </p:nvPr>
        </p:nvSpPr>
        <p:spPr>
          <a:noFill/>
        </p:spPr>
        <p:txBody>
          <a:bodyPr>
            <a:normAutofit/>
          </a:bodyPr>
          <a:lstStyle/>
          <a:p>
            <a:r>
              <a:rPr lang="en-US" altLang="en-US" sz="2400" dirty="0">
                <a:cs typeface="Times New Roman" panose="02020603050405020304" pitchFamily="18" charset="0"/>
              </a:rPr>
              <a:t> </a:t>
            </a:r>
            <a:r>
              <a:rPr lang="en-US" altLang="en-US" sz="2400" dirty="0" err="1">
                <a:cs typeface="Times New Roman" panose="02020603050405020304" pitchFamily="18" charset="0"/>
              </a:rPr>
              <a:t>Sử</a:t>
            </a:r>
            <a:r>
              <a:rPr lang="en-US" altLang="en-US" sz="2400" dirty="0">
                <a:cs typeface="Times New Roman" panose="02020603050405020304" pitchFamily="18" charset="0"/>
              </a:rPr>
              <a:t> </a:t>
            </a:r>
            <a:r>
              <a:rPr lang="en-US" altLang="en-US" sz="2400" dirty="0" err="1">
                <a:cs typeface="Times New Roman" panose="02020603050405020304" pitchFamily="18" charset="0"/>
              </a:rPr>
              <a:t>dụng</a:t>
            </a:r>
            <a:r>
              <a:rPr lang="en-US" altLang="en-US" sz="2400" dirty="0">
                <a:cs typeface="Times New Roman" panose="02020603050405020304" pitchFamily="18" charset="0"/>
              </a:rPr>
              <a:t> CTLT </a:t>
            </a:r>
            <a:r>
              <a:rPr lang="en-US" altLang="en-US" sz="2400" dirty="0" err="1">
                <a:cs typeface="Times New Roman" panose="02020603050405020304" pitchFamily="18" charset="0"/>
              </a:rPr>
              <a:t>tuần</a:t>
            </a:r>
            <a:r>
              <a:rPr lang="en-US" altLang="en-US" sz="2400" dirty="0">
                <a:cs typeface="Times New Roman" panose="02020603050405020304" pitchFamily="18" charset="0"/>
              </a:rPr>
              <a:t> </a:t>
            </a:r>
            <a:r>
              <a:rPr lang="en-US" altLang="en-US" sz="2400" dirty="0" err="1">
                <a:cs typeface="Times New Roman" panose="02020603050405020304" pitchFamily="18" charset="0"/>
              </a:rPr>
              <a:t>tự</a:t>
            </a:r>
            <a:r>
              <a:rPr lang="en-US" altLang="en-US" sz="2400" dirty="0">
                <a:cs typeface="Times New Roman" panose="02020603050405020304" pitchFamily="18" charset="0"/>
              </a:rPr>
              <a:t>: </a:t>
            </a:r>
          </a:p>
          <a:p>
            <a:pPr lvl="1"/>
            <a:r>
              <a:rPr lang="en-US" altLang="en-US" sz="2000" dirty="0" err="1">
                <a:cs typeface="Times New Roman" panose="02020603050405020304" pitchFamily="18" charset="0"/>
              </a:rPr>
              <a:t>Thường</a:t>
            </a:r>
            <a:r>
              <a:rPr lang="en-US" altLang="en-US" sz="2000" dirty="0">
                <a:cs typeface="Times New Roman" panose="02020603050405020304" pitchFamily="18" charset="0"/>
              </a:rPr>
              <a:t> </a:t>
            </a:r>
            <a:r>
              <a:rPr lang="en-US" altLang="en-US" sz="2000" dirty="0" err="1">
                <a:cs typeface="Times New Roman" panose="02020603050405020304" pitchFamily="18" charset="0"/>
              </a:rPr>
              <a:t>thích</a:t>
            </a:r>
            <a:r>
              <a:rPr lang="en-US" altLang="en-US" sz="2000" dirty="0">
                <a:cs typeface="Times New Roman" panose="02020603050405020304" pitchFamily="18" charset="0"/>
              </a:rPr>
              <a:t> </a:t>
            </a:r>
            <a:r>
              <a:rPr lang="en-US" altLang="en-US" sz="2000" dirty="0" err="1">
                <a:cs typeface="Times New Roman" panose="02020603050405020304" pitchFamily="18" charset="0"/>
              </a:rPr>
              <a:t>hợp</a:t>
            </a:r>
            <a:r>
              <a:rPr lang="en-US" altLang="en-US" sz="2000" dirty="0">
                <a:cs typeface="Times New Roman" panose="02020603050405020304" pitchFamily="18" charset="0"/>
              </a:rPr>
              <a:t> </a:t>
            </a:r>
            <a:r>
              <a:rPr lang="en-US" altLang="en-US" sz="2000" dirty="0" err="1">
                <a:cs typeface="Times New Roman" panose="02020603050405020304" pitchFamily="18" charset="0"/>
              </a:rPr>
              <a:t>với</a:t>
            </a:r>
            <a:r>
              <a:rPr lang="en-US" altLang="en-US" sz="2000" dirty="0">
                <a:cs typeface="Times New Roman" panose="02020603050405020304" pitchFamily="18" charset="0"/>
              </a:rPr>
              <a:t> </a:t>
            </a: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NP </a:t>
            </a:r>
            <a:r>
              <a:rPr lang="en-US" altLang="en-US" sz="2000" dirty="0" err="1">
                <a:cs typeface="Times New Roman" panose="02020603050405020304" pitchFamily="18" charset="0"/>
              </a:rPr>
              <a:t>đặc</a:t>
            </a:r>
            <a:r>
              <a:rPr lang="en-US" altLang="en-US" sz="2000" dirty="0">
                <a:cs typeface="Times New Roman" panose="02020603050405020304" pitchFamily="18" charset="0"/>
              </a:rPr>
              <a:t> </a:t>
            </a:r>
            <a:r>
              <a:rPr lang="en-US" altLang="en-US" sz="2000" dirty="0" err="1">
                <a:cs typeface="Times New Roman" panose="02020603050405020304" pitchFamily="18" charset="0"/>
              </a:rPr>
              <a:t>biệt</a:t>
            </a:r>
            <a:r>
              <a:rPr lang="en-US" altLang="en-US" sz="2000" dirty="0">
                <a:cs typeface="Times New Roman" panose="02020603050405020304" pitchFamily="18" charset="0"/>
              </a:rPr>
              <a:t>: </a:t>
            </a:r>
            <a:r>
              <a:rPr lang="vi-VN" altLang="en-US" sz="2000" dirty="0">
                <a:cs typeface="Times New Roman" panose="02020603050405020304" pitchFamily="18" charset="0"/>
              </a:rPr>
              <a:t>cây nhị phân gần đầy hoặc đầy đủ</a:t>
            </a:r>
          </a:p>
          <a:p>
            <a:pPr lvl="2"/>
            <a:r>
              <a:rPr lang="vi-VN" altLang="en-US" sz="2000" dirty="0">
                <a:cs typeface="Times New Roman" panose="02020603050405020304" pitchFamily="18" charset="0"/>
              </a:rPr>
              <a:t>Với các dạng khác có thể dẫn đến lãng phí bộ nhớ </a:t>
            </a:r>
          </a:p>
          <a:p>
            <a:pPr lvl="1"/>
            <a:endParaRPr lang="en-US" altLang="en-US" sz="2000" dirty="0">
              <a:cs typeface="Times New Roman" panose="02020603050405020304" pitchFamily="18" charset="0"/>
            </a:endParaRPr>
          </a:p>
          <a:p>
            <a:pPr lvl="1"/>
            <a:endParaRPr lang="en-US" altLang="en-US" sz="2000" dirty="0">
              <a:cs typeface="Times New Roman" panose="02020603050405020304" pitchFamily="18" charset="0"/>
            </a:endParaRPr>
          </a:p>
          <a:p>
            <a:pPr lvl="1"/>
            <a:endParaRPr lang="en-US" altLang="en-US" sz="2000" dirty="0">
              <a:cs typeface="Times New Roman" panose="02020603050405020304" pitchFamily="18" charset="0"/>
            </a:endParaRPr>
          </a:p>
          <a:p>
            <a:pPr lvl="1"/>
            <a:endParaRPr lang="en-US" altLang="en-US" sz="2000" dirty="0">
              <a:cs typeface="Times New Roman" panose="02020603050405020304" pitchFamily="18" charset="0"/>
            </a:endParaRPr>
          </a:p>
          <a:p>
            <a:pPr lvl="1"/>
            <a:endParaRPr lang="en-US" altLang="en-US" sz="2000" dirty="0">
              <a:cs typeface="Times New Roman" panose="02020603050405020304" pitchFamily="18" charset="0"/>
            </a:endParaRPr>
          </a:p>
          <a:p>
            <a:pPr lvl="1"/>
            <a:endParaRPr lang="en-US" altLang="en-US" sz="2000" dirty="0">
              <a:cs typeface="Times New Roman" panose="02020603050405020304" pitchFamily="18" charset="0"/>
            </a:endParaRPr>
          </a:p>
          <a:p>
            <a:pPr lvl="1"/>
            <a:r>
              <a:rPr lang="en-US" altLang="en-US" sz="2000" dirty="0" err="1">
                <a:cs typeface="Times New Roman" panose="02020603050405020304" pitchFamily="18" charset="0"/>
              </a:rPr>
              <a:t>Đối</a:t>
            </a:r>
            <a:r>
              <a:rPr lang="en-US" altLang="en-US" sz="2000" dirty="0">
                <a:cs typeface="Times New Roman" panose="02020603050405020304" pitchFamily="18" charset="0"/>
              </a:rPr>
              <a:t> </a:t>
            </a:r>
            <a:r>
              <a:rPr lang="en-US" altLang="en-US" sz="2000" dirty="0" err="1">
                <a:cs typeface="Times New Roman" panose="02020603050405020304" pitchFamily="18" charset="0"/>
              </a:rPr>
              <a:t>với</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thông</a:t>
            </a:r>
            <a:r>
              <a:rPr lang="en-US" altLang="en-US" sz="2000" dirty="0">
                <a:cs typeface="Times New Roman" panose="02020603050405020304" pitchFamily="18" charset="0"/>
              </a:rPr>
              <a:t> </a:t>
            </a:r>
            <a:r>
              <a:rPr lang="en-US" altLang="en-US" sz="2000" dirty="0" err="1">
                <a:cs typeface="Times New Roman" panose="02020603050405020304" pitchFamily="18" charset="0"/>
              </a:rPr>
              <a:t>thường</a:t>
            </a:r>
            <a:r>
              <a:rPr lang="en-US" altLang="en-US" sz="2000" dirty="0">
                <a:cs typeface="Times New Roman" panose="02020603050405020304" pitchFamily="18" charset="0"/>
              </a:rPr>
              <a:t>, </a:t>
            </a:r>
            <a:r>
              <a:rPr lang="en-US" altLang="en-US" sz="2000" dirty="0" err="1">
                <a:cs typeface="Times New Roman" panose="02020603050405020304" pitchFamily="18" charset="0"/>
              </a:rPr>
              <a:t>phải</a:t>
            </a:r>
            <a:r>
              <a:rPr lang="en-US" altLang="en-US" sz="2000" dirty="0">
                <a:cs typeface="Times New Roman" panose="02020603050405020304" pitchFamily="18" charset="0"/>
              </a:rPr>
              <a:t> </a:t>
            </a:r>
            <a:r>
              <a:rPr lang="en-US" altLang="en-US" sz="2000" dirty="0" err="1">
                <a:cs typeface="Times New Roman" panose="02020603050405020304" pitchFamily="18" charset="0"/>
              </a:rPr>
              <a:t>bổ</a:t>
            </a:r>
            <a:r>
              <a:rPr lang="en-US" altLang="en-US" sz="2000" dirty="0">
                <a:cs typeface="Times New Roman" panose="02020603050405020304" pitchFamily="18" charset="0"/>
              </a:rPr>
              <a:t> sung </a:t>
            </a:r>
            <a:r>
              <a:rPr lang="en-US" altLang="en-US" sz="2000" dirty="0" err="1">
                <a:cs typeface="Times New Roman" panose="02020603050405020304" pitchFamily="18" charset="0"/>
              </a:rPr>
              <a:t>thêm</a:t>
            </a:r>
            <a:r>
              <a:rPr lang="en-US" altLang="en-US" sz="2000" dirty="0">
                <a:cs typeface="Times New Roman" panose="02020603050405020304" pitchFamily="18" charset="0"/>
              </a:rPr>
              <a:t> </a:t>
            </a: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để</a:t>
            </a:r>
            <a:r>
              <a:rPr lang="en-US" altLang="en-US" sz="2000" dirty="0">
                <a:cs typeface="Times New Roman" panose="02020603050405020304" pitchFamily="18" charset="0"/>
              </a:rPr>
              <a:t> </a:t>
            </a:r>
            <a:r>
              <a:rPr lang="en-US" altLang="en-US" sz="2000" dirty="0" err="1">
                <a:cs typeface="Times New Roman" panose="02020603050405020304" pitchFamily="18" charset="0"/>
              </a:rPr>
              <a:t>nó</a:t>
            </a:r>
            <a:r>
              <a:rPr lang="en-US" altLang="en-US" sz="2000" dirty="0">
                <a:cs typeface="Times New Roman" panose="02020603050405020304" pitchFamily="18" charset="0"/>
              </a:rPr>
              <a:t> </a:t>
            </a:r>
            <a:r>
              <a:rPr lang="en-US" altLang="en-US" sz="2000" dirty="0" err="1">
                <a:cs typeface="Times New Roman" panose="02020603050405020304" pitchFamily="18" charset="0"/>
              </a:rPr>
              <a:t>trở</a:t>
            </a:r>
            <a:r>
              <a:rPr lang="en-US" altLang="en-US" sz="2000" dirty="0">
                <a:cs typeface="Times New Roman" panose="02020603050405020304" pitchFamily="18" charset="0"/>
              </a:rPr>
              <a:t> </a:t>
            </a:r>
            <a:r>
              <a:rPr lang="en-US" altLang="en-US" sz="2000" dirty="0" err="1">
                <a:cs typeface="Times New Roman" panose="02020603050405020304" pitchFamily="18" charset="0"/>
              </a:rPr>
              <a:t>thành</a:t>
            </a:r>
            <a:r>
              <a:rPr lang="en-US" altLang="en-US" sz="2000" dirty="0">
                <a:cs typeface="Times New Roman" panose="02020603050405020304" pitchFamily="18" charset="0"/>
              </a:rPr>
              <a:t> </a:t>
            </a:r>
            <a:r>
              <a:rPr lang="en-US" altLang="en-US" sz="2000" dirty="0" err="1">
                <a:cs typeface="Times New Roman" panose="02020603050405020304" pitchFamily="18" charset="0"/>
              </a:rPr>
              <a:t>đặc</a:t>
            </a:r>
            <a:r>
              <a:rPr lang="en-US" altLang="en-US" sz="2000" dirty="0">
                <a:cs typeface="Times New Roman" panose="02020603050405020304" pitchFamily="18" charset="0"/>
              </a:rPr>
              <a:t> </a:t>
            </a:r>
            <a:r>
              <a:rPr lang="en-US" altLang="en-US" sz="2000" dirty="0" err="1">
                <a:cs typeface="Times New Roman" panose="02020603050405020304" pitchFamily="18" charset="0"/>
              </a:rPr>
              <a:t>biệt</a:t>
            </a:r>
            <a:r>
              <a:rPr lang="en-US" altLang="en-US" sz="2000" dirty="0">
                <a:cs typeface="Times New Roman" panose="02020603050405020304" pitchFamily="18" charset="0"/>
              </a:rPr>
              <a:t> (</a:t>
            </a:r>
            <a:r>
              <a:rPr lang="en-US" altLang="en-US" sz="2000" dirty="0" err="1">
                <a:cs typeface="Times New Roman" panose="02020603050405020304" pitchFamily="18" charset="0"/>
              </a:rPr>
              <a:t>thành</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đầy</a:t>
            </a:r>
            <a:r>
              <a:rPr lang="en-US" altLang="en-US" sz="2000" dirty="0">
                <a:cs typeface="Times New Roman" panose="02020603050405020304" pitchFamily="18" charset="0"/>
              </a:rPr>
              <a:t> </a:t>
            </a:r>
            <a:r>
              <a:rPr lang="en-US" altLang="en-US" sz="2000" dirty="0" err="1">
                <a:cs typeface="Times New Roman" panose="02020603050405020304" pitchFamily="18" charset="0"/>
              </a:rPr>
              <a:t>đủ</a:t>
            </a:r>
            <a:r>
              <a:rPr lang="en-US" altLang="en-US" sz="2000" dirty="0">
                <a:cs typeface="Times New Roman" panose="02020603050405020304" pitchFamily="18" charset="0"/>
              </a:rPr>
              <a:t> </a:t>
            </a:r>
            <a:r>
              <a:rPr lang="en-US" altLang="en-US" sz="2000" dirty="0" err="1">
                <a:cs typeface="Times New Roman" panose="02020603050405020304" pitchFamily="18" charset="0"/>
              </a:rPr>
              <a:t>hoặc</a:t>
            </a:r>
            <a:r>
              <a:rPr lang="en-US" altLang="en-US" sz="2000" dirty="0">
                <a:cs typeface="Times New Roman" panose="02020603050405020304" pitchFamily="18" charset="0"/>
              </a:rPr>
              <a:t> </a:t>
            </a:r>
            <a:r>
              <a:rPr lang="en-US" altLang="en-US" sz="2000" dirty="0" err="1">
                <a:cs typeface="Times New Roman" panose="02020603050405020304" pitchFamily="18" charset="0"/>
              </a:rPr>
              <a:t>hoàn</a:t>
            </a:r>
            <a:r>
              <a:rPr lang="en-US" altLang="en-US" sz="2000" dirty="0">
                <a:cs typeface="Times New Roman" panose="02020603050405020304" pitchFamily="18" charset="0"/>
              </a:rPr>
              <a:t> </a:t>
            </a:r>
            <a:r>
              <a:rPr lang="en-US" altLang="en-US" sz="2000" dirty="0" err="1">
                <a:cs typeface="Times New Roman" panose="02020603050405020304" pitchFamily="18" charset="0"/>
              </a:rPr>
              <a:t>chỉnh</a:t>
            </a:r>
            <a:r>
              <a:rPr lang="en-US" altLang="en-US" sz="2000" dirty="0">
                <a:cs typeface="Times New Roman" panose="02020603050405020304" pitchFamily="18" charset="0"/>
              </a:rPr>
              <a:t>). Do </a:t>
            </a:r>
            <a:r>
              <a:rPr lang="en-US" altLang="en-US" sz="2000" dirty="0" err="1">
                <a:cs typeface="Times New Roman" panose="02020603050405020304" pitchFamily="18" charset="0"/>
              </a:rPr>
              <a:t>đó</a:t>
            </a:r>
            <a:r>
              <a:rPr lang="en-US" altLang="en-US" sz="2000" dirty="0">
                <a:cs typeface="Times New Roman" panose="02020603050405020304" pitchFamily="18" charset="0"/>
              </a:rPr>
              <a:t>, </a:t>
            </a:r>
            <a:r>
              <a:rPr lang="en-US" altLang="en-US" sz="2000" dirty="0" err="1">
                <a:cs typeface="Times New Roman" panose="02020603050405020304" pitchFamily="18" charset="0"/>
              </a:rPr>
              <a:t>làm</a:t>
            </a:r>
            <a:r>
              <a:rPr lang="en-US" altLang="en-US" sz="2000" dirty="0">
                <a:cs typeface="Times New Roman" panose="02020603050405020304" pitchFamily="18" charset="0"/>
              </a:rPr>
              <a:t> </a:t>
            </a:r>
            <a:r>
              <a:rPr lang="en-US" altLang="en-US" sz="2000" dirty="0" err="1">
                <a:cs typeface="Times New Roman" panose="02020603050405020304" pitchFamily="18" charset="0"/>
              </a:rPr>
              <a:t>cho</a:t>
            </a:r>
            <a:r>
              <a:rPr lang="en-US" altLang="en-US" sz="2000" dirty="0">
                <a:cs typeface="Times New Roman" panose="02020603050405020304" pitchFamily="18" charset="0"/>
              </a:rPr>
              <a:t> </a:t>
            </a:r>
            <a:r>
              <a:rPr lang="en-US" altLang="en-US" sz="2000" dirty="0" err="1">
                <a:cs typeface="Times New Roman" panose="02020603050405020304" pitchFamily="18" charset="0"/>
              </a:rPr>
              <a:t>việc</a:t>
            </a:r>
            <a:r>
              <a:rPr lang="en-US" altLang="en-US" sz="2000" dirty="0">
                <a:cs typeface="Times New Roman" panose="02020603050405020304" pitchFamily="18" charset="0"/>
              </a:rPr>
              <a:t> </a:t>
            </a:r>
            <a:r>
              <a:rPr lang="en-US" altLang="en-US" sz="2000" dirty="0" err="1">
                <a:cs typeface="Times New Roman" panose="02020603050405020304" pitchFamily="18" charset="0"/>
              </a:rPr>
              <a:t>cài</a:t>
            </a:r>
            <a:r>
              <a:rPr lang="en-US" altLang="en-US" sz="2000" dirty="0">
                <a:cs typeface="Times New Roman" panose="02020603050405020304" pitchFamily="18" charset="0"/>
              </a:rPr>
              <a:t> </a:t>
            </a:r>
            <a:r>
              <a:rPr lang="en-US" altLang="en-US" sz="2000" dirty="0" err="1">
                <a:cs typeface="Times New Roman" panose="02020603050405020304" pitchFamily="18" charset="0"/>
              </a:rPr>
              <a:t>đặt</a:t>
            </a:r>
            <a:r>
              <a:rPr lang="en-US" altLang="en-US" sz="2000" dirty="0">
                <a:cs typeface="Times New Roman" panose="02020603050405020304" pitchFamily="18" charset="0"/>
              </a:rPr>
              <a:t> </a:t>
            </a:r>
            <a:r>
              <a:rPr lang="en-US" altLang="en-US" sz="2000" dirty="0" err="1">
                <a:cs typeface="Times New Roman" panose="02020603050405020304" pitchFamily="18" charset="0"/>
              </a:rPr>
              <a:t>phức</a:t>
            </a:r>
            <a:r>
              <a:rPr lang="en-US" altLang="en-US" sz="2000" dirty="0">
                <a:cs typeface="Times New Roman" panose="02020603050405020304" pitchFamily="18" charset="0"/>
              </a:rPr>
              <a:t> </a:t>
            </a:r>
            <a:r>
              <a:rPr lang="en-US" altLang="en-US" sz="2000" dirty="0" err="1">
                <a:cs typeface="Times New Roman" panose="02020603050405020304" pitchFamily="18" charset="0"/>
              </a:rPr>
              <a:t>tạp</a:t>
            </a:r>
            <a:r>
              <a:rPr lang="en-US" altLang="en-US" sz="2000" dirty="0">
                <a:cs typeface="Times New Roman" panose="02020603050405020304" pitchFamily="18" charset="0"/>
              </a:rPr>
              <a:t> </a:t>
            </a:r>
            <a:r>
              <a:rPr lang="en-US" altLang="en-US" sz="2000" dirty="0" err="1">
                <a:cs typeface="Times New Roman" panose="02020603050405020304" pitchFamily="18" charset="0"/>
              </a:rPr>
              <a:t>và</a:t>
            </a:r>
            <a:r>
              <a:rPr lang="en-US" altLang="en-US" sz="2000" dirty="0">
                <a:cs typeface="Times New Roman" panose="02020603050405020304" pitchFamily="18" charset="0"/>
              </a:rPr>
              <a:t> </a:t>
            </a:r>
            <a:r>
              <a:rPr lang="en-US" altLang="en-US" sz="2000" dirty="0" err="1">
                <a:cs typeface="Times New Roman" panose="02020603050405020304" pitchFamily="18" charset="0"/>
              </a:rPr>
              <a:t>tốn</a:t>
            </a:r>
            <a:r>
              <a:rPr lang="en-US" altLang="en-US" sz="2000" dirty="0">
                <a:cs typeface="Times New Roman" panose="02020603050405020304" pitchFamily="18" charset="0"/>
              </a:rPr>
              <a:t> </a:t>
            </a:r>
            <a:r>
              <a:rPr lang="en-US" altLang="en-US" sz="2000" dirty="0" err="1">
                <a:cs typeface="Times New Roman" panose="02020603050405020304" pitchFamily="18" charset="0"/>
              </a:rPr>
              <a:t>bộ</a:t>
            </a:r>
            <a:r>
              <a:rPr lang="en-US" altLang="en-US" sz="2000" dirty="0">
                <a:cs typeface="Times New Roman" panose="02020603050405020304" pitchFamily="18" charset="0"/>
              </a:rPr>
              <a:t> </a:t>
            </a:r>
            <a:r>
              <a:rPr lang="en-US" altLang="en-US" sz="2000" dirty="0" err="1">
                <a:cs typeface="Times New Roman" panose="02020603050405020304" pitchFamily="18" charset="0"/>
              </a:rPr>
              <a:t>nhớ</a:t>
            </a:r>
            <a:r>
              <a:rPr lang="en-US" altLang="en-US" sz="2000" dirty="0">
                <a:cs typeface="Times New Roman" panose="02020603050405020304" pitchFamily="18" charset="0"/>
              </a:rPr>
              <a:t>, </a:t>
            </a:r>
            <a:r>
              <a:rPr lang="en-US" altLang="en-US" sz="2000" dirty="0" err="1">
                <a:cs typeface="Times New Roman" panose="02020603050405020304" pitchFamily="18" charset="0"/>
              </a:rPr>
              <a:t>nên</a:t>
            </a:r>
            <a:r>
              <a:rPr lang="en-US" altLang="en-US" sz="2000" dirty="0">
                <a:cs typeface="Times New Roman" panose="02020603050405020304" pitchFamily="18" charset="0"/>
              </a:rPr>
              <a:t> </a:t>
            </a:r>
            <a:r>
              <a:rPr lang="en-US" altLang="en-US" sz="2000" dirty="0" err="1">
                <a:cs typeface="Times New Roman" panose="02020603050405020304" pitchFamily="18" charset="0"/>
              </a:rPr>
              <a:t>ít</a:t>
            </a:r>
            <a:r>
              <a:rPr lang="en-US" altLang="en-US" sz="2000" dirty="0">
                <a:cs typeface="Times New Roman" panose="02020603050405020304" pitchFamily="18" charset="0"/>
              </a:rPr>
              <a:t> </a:t>
            </a:r>
            <a:r>
              <a:rPr lang="en-US" altLang="en-US" sz="2000" dirty="0" err="1">
                <a:cs typeface="Times New Roman" panose="02020603050405020304" pitchFamily="18" charset="0"/>
              </a:rPr>
              <a:t>khi</a:t>
            </a:r>
            <a:r>
              <a:rPr lang="en-US" altLang="en-US" sz="2000" dirty="0">
                <a:cs typeface="Times New Roman" panose="02020603050405020304" pitchFamily="18" charset="0"/>
              </a:rPr>
              <a:t> </a:t>
            </a:r>
            <a:r>
              <a:rPr lang="en-US" altLang="en-US" sz="2000" dirty="0" err="1">
                <a:cs typeface="Times New Roman" panose="02020603050405020304" pitchFamily="18" charset="0"/>
              </a:rPr>
              <a:t>được</a:t>
            </a:r>
            <a:r>
              <a:rPr lang="en-US" altLang="en-US" sz="2000" dirty="0">
                <a:cs typeface="Times New Roman" panose="02020603050405020304" pitchFamily="18" charset="0"/>
              </a:rPr>
              <a:t> </a:t>
            </a:r>
            <a:r>
              <a:rPr lang="en-US" altLang="en-US" sz="2000" dirty="0" err="1">
                <a:cs typeface="Times New Roman" panose="02020603050405020304" pitchFamily="18" charset="0"/>
              </a:rPr>
              <a:t>sử</a:t>
            </a:r>
            <a:r>
              <a:rPr lang="en-US" altLang="en-US" sz="2000" dirty="0">
                <a:cs typeface="Times New Roman" panose="02020603050405020304" pitchFamily="18" charset="0"/>
              </a:rPr>
              <a:t> </a:t>
            </a:r>
            <a:r>
              <a:rPr lang="en-US" altLang="en-US" sz="2000" dirty="0" err="1">
                <a:cs typeface="Times New Roman" panose="02020603050405020304" pitchFamily="18" charset="0"/>
              </a:rPr>
              <a:t>dụng</a:t>
            </a:r>
            <a:r>
              <a:rPr lang="en-US" altLang="en-US" sz="2000" dirty="0">
                <a:cs typeface="Times New Roman" panose="02020603050405020304" pitchFamily="18" charset="0"/>
              </a:rPr>
              <a:t>. </a:t>
            </a:r>
          </a:p>
          <a:p>
            <a:pPr lvl="1"/>
            <a:r>
              <a:rPr lang="en-US" altLang="en-US" sz="2000" dirty="0" err="1">
                <a:cs typeface="Times New Roman" panose="02020603050405020304" pitchFamily="18" charset="0"/>
              </a:rPr>
              <a:t>Thường</a:t>
            </a:r>
            <a:r>
              <a:rPr lang="en-US" altLang="en-US" sz="2000" dirty="0">
                <a:cs typeface="Times New Roman" panose="02020603050405020304" pitchFamily="18" charset="0"/>
              </a:rPr>
              <a:t> </a:t>
            </a:r>
            <a:r>
              <a:rPr lang="en-US" altLang="en-US" sz="2000" dirty="0" err="1">
                <a:cs typeface="Times New Roman" panose="02020603050405020304" pitchFamily="18" charset="0"/>
              </a:rPr>
              <a:t>chỉ</a:t>
            </a:r>
            <a:r>
              <a:rPr lang="en-US" altLang="en-US" sz="2000" dirty="0">
                <a:cs typeface="Times New Roman" panose="02020603050405020304" pitchFamily="18" charset="0"/>
              </a:rPr>
              <a:t> </a:t>
            </a:r>
            <a:r>
              <a:rPr lang="en-US" altLang="en-US" sz="2000" dirty="0" err="1">
                <a:cs typeface="Times New Roman" panose="02020603050405020304" pitchFamily="18" charset="0"/>
              </a:rPr>
              <a:t>áp</a:t>
            </a:r>
            <a:r>
              <a:rPr lang="en-US" altLang="en-US" sz="2000" dirty="0">
                <a:cs typeface="Times New Roman" panose="02020603050405020304" pitchFamily="18" charset="0"/>
              </a:rPr>
              <a:t> </a:t>
            </a:r>
            <a:r>
              <a:rPr lang="en-US" altLang="en-US" sz="2000" dirty="0" err="1">
                <a:cs typeface="Times New Roman" panose="02020603050405020304" pitchFamily="18" charset="0"/>
              </a:rPr>
              <a:t>dụng</a:t>
            </a:r>
            <a:r>
              <a:rPr lang="en-US" altLang="en-US" sz="2000" dirty="0">
                <a:cs typeface="Times New Roman" panose="02020603050405020304" pitchFamily="18" charset="0"/>
              </a:rPr>
              <a:t> </a:t>
            </a:r>
            <a:r>
              <a:rPr lang="en-US" altLang="en-US" sz="2000" dirty="0" err="1">
                <a:cs typeface="Times New Roman" panose="02020603050405020304" pitchFamily="18" charset="0"/>
              </a:rPr>
              <a:t>khi</a:t>
            </a:r>
            <a:r>
              <a:rPr lang="en-US" altLang="en-US" sz="2000" dirty="0">
                <a:cs typeface="Times New Roman" panose="02020603050405020304" pitchFamily="18" charset="0"/>
              </a:rPr>
              <a:t> </a:t>
            </a:r>
            <a:r>
              <a:rPr lang="en-US" altLang="en-US" sz="2000" dirty="0" err="1">
                <a:cs typeface="Times New Roman" panose="02020603050405020304" pitchFamily="18" charset="0"/>
              </a:rPr>
              <a:t>hệ</a:t>
            </a:r>
            <a:r>
              <a:rPr lang="en-US" altLang="en-US" sz="2000" dirty="0">
                <a:cs typeface="Times New Roman" panose="02020603050405020304" pitchFamily="18" charset="0"/>
              </a:rPr>
              <a:t> </a:t>
            </a:r>
            <a:r>
              <a:rPr lang="en-US" altLang="en-US" sz="2000" dirty="0" err="1">
                <a:cs typeface="Times New Roman" panose="02020603050405020304" pitchFamily="18" charset="0"/>
              </a:rPr>
              <a:t>thống</a:t>
            </a:r>
            <a:r>
              <a:rPr lang="en-US" altLang="en-US" sz="2000" dirty="0">
                <a:cs typeface="Times New Roman" panose="02020603050405020304" pitchFamily="18" charset="0"/>
              </a:rPr>
              <a:t> </a:t>
            </a:r>
            <a:r>
              <a:rPr lang="en-US" altLang="en-US" sz="2000" dirty="0" err="1">
                <a:cs typeface="Times New Roman" panose="02020603050405020304" pitchFamily="18" charset="0"/>
              </a:rPr>
              <a:t>không</a:t>
            </a:r>
            <a:r>
              <a:rPr lang="en-US" altLang="en-US" sz="2000" dirty="0">
                <a:cs typeface="Times New Roman" panose="02020603050405020304" pitchFamily="18" charset="0"/>
              </a:rPr>
              <a:t> </a:t>
            </a:r>
            <a:r>
              <a:rPr lang="en-US" altLang="en-US" sz="2000" dirty="0" err="1">
                <a:cs typeface="Times New Roman" panose="02020603050405020304" pitchFamily="18" charset="0"/>
              </a:rPr>
              <a:t>cung</a:t>
            </a:r>
            <a:r>
              <a:rPr lang="en-US" altLang="en-US" sz="2000" dirty="0">
                <a:cs typeface="Times New Roman" panose="02020603050405020304" pitchFamily="18" charset="0"/>
              </a:rPr>
              <a:t> </a:t>
            </a:r>
            <a:r>
              <a:rPr lang="en-US" altLang="en-US" sz="2000" dirty="0" err="1">
                <a:cs typeface="Times New Roman" panose="02020603050405020304" pitchFamily="18" charset="0"/>
              </a:rPr>
              <a:t>cấp</a:t>
            </a:r>
            <a:r>
              <a:rPr lang="en-US" altLang="en-US" sz="2000" dirty="0">
                <a:cs typeface="Times New Roman" panose="02020603050405020304" pitchFamily="18" charset="0"/>
              </a:rPr>
              <a:t> CTLT </a:t>
            </a:r>
            <a:r>
              <a:rPr lang="en-US" altLang="en-US" sz="2000" dirty="0" err="1">
                <a:cs typeface="Times New Roman" panose="02020603050405020304" pitchFamily="18" charset="0"/>
              </a:rPr>
              <a:t>móc</a:t>
            </a:r>
            <a:r>
              <a:rPr lang="en-US" altLang="en-US" sz="2000" dirty="0">
                <a:cs typeface="Times New Roman" panose="02020603050405020304" pitchFamily="18" charset="0"/>
              </a:rPr>
              <a:t> </a:t>
            </a:r>
            <a:r>
              <a:rPr lang="en-US" altLang="en-US" sz="2000" dirty="0" err="1">
                <a:cs typeface="Times New Roman" panose="02020603050405020304" pitchFamily="18" charset="0"/>
              </a:rPr>
              <a:t>nối</a:t>
            </a:r>
            <a:r>
              <a:rPr lang="en-US" altLang="en-US" sz="2000" dirty="0">
                <a:cs typeface="Times New Roman" panose="02020603050405020304" pitchFamily="18" charset="0"/>
              </a:rPr>
              <a:t>.</a:t>
            </a:r>
          </a:p>
        </p:txBody>
      </p:sp>
      <p:pic>
        <p:nvPicPr>
          <p:cNvPr id="4" name="Picture 3"/>
          <p:cNvPicPr>
            <a:picLocks noChangeAspect="1"/>
          </p:cNvPicPr>
          <p:nvPr/>
        </p:nvPicPr>
        <p:blipFill>
          <a:blip r:embed="rId2"/>
          <a:stretch>
            <a:fillRect/>
          </a:stretch>
        </p:blipFill>
        <p:spPr>
          <a:xfrm>
            <a:off x="1925919" y="2057400"/>
            <a:ext cx="5292162" cy="1676400"/>
          </a:xfrm>
          <a:prstGeom prst="rect">
            <a:avLst/>
          </a:prstGeom>
        </p:spPr>
      </p:pic>
    </p:spTree>
    <p:extLst>
      <p:ext uri="{BB962C8B-B14F-4D97-AF65-F5344CB8AC3E}">
        <p14:creationId xmlns:p14="http://schemas.microsoft.com/office/powerpoint/2010/main" val="3204689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01">
                                            <p:txEl>
                                              <p:pRg st="9" end="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70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2"/>
          <p:cNvSpPr>
            <a:spLocks noGrp="1" noChangeArrowheads="1"/>
          </p:cNvSpPr>
          <p:nvPr>
            <p:ph type="title"/>
          </p:nvPr>
        </p:nvSpPr>
        <p:spPr/>
        <p:txBody>
          <a:bodyPr/>
          <a:lstStyle/>
          <a:p>
            <a:pPr eaLnBrk="1" hangingPunct="1"/>
            <a:r>
              <a:rPr lang="en-US" altLang="en-US" dirty="0" err="1">
                <a:cs typeface="Times New Roman" panose="02020603050405020304" pitchFamily="18" charset="0"/>
              </a:rPr>
              <a:t>Cài</a:t>
            </a:r>
            <a:r>
              <a:rPr lang="en-US" altLang="en-US" dirty="0">
                <a:cs typeface="Times New Roman" panose="02020603050405020304" pitchFamily="18" charset="0"/>
              </a:rPr>
              <a:t> </a:t>
            </a:r>
            <a:r>
              <a:rPr lang="en-US" altLang="en-US" dirty="0" err="1">
                <a:cs typeface="Times New Roman" panose="02020603050405020304" pitchFamily="18" charset="0"/>
              </a:rPr>
              <a:t>đặt</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nhị</a:t>
            </a:r>
            <a:r>
              <a:rPr lang="en-US" altLang="en-US" dirty="0">
                <a:cs typeface="Times New Roman" panose="02020603050405020304" pitchFamily="18" charset="0"/>
              </a:rPr>
              <a:t> </a:t>
            </a:r>
            <a:r>
              <a:rPr lang="en-US" altLang="en-US" dirty="0" err="1">
                <a:cs typeface="Times New Roman" panose="02020603050405020304" pitchFamily="18" charset="0"/>
              </a:rPr>
              <a:t>phân</a:t>
            </a:r>
            <a:r>
              <a:rPr lang="en-US" altLang="en-US" dirty="0"/>
              <a:t> </a:t>
            </a:r>
          </a:p>
        </p:txBody>
      </p:sp>
      <p:sp>
        <p:nvSpPr>
          <p:cNvPr id="29701" name="Rectangle 3"/>
          <p:cNvSpPr>
            <a:spLocks noGrp="1" noChangeArrowheads="1"/>
          </p:cNvSpPr>
          <p:nvPr>
            <p:ph type="body" sz="quarter" idx="13"/>
          </p:nvPr>
        </p:nvSpPr>
        <p:spPr>
          <a:noFill/>
        </p:spPr>
        <p:txBody>
          <a:bodyPr>
            <a:normAutofit/>
          </a:bodyPr>
          <a:lstStyle/>
          <a:p>
            <a:r>
              <a:rPr lang="en-US" altLang="en-US" sz="2400" dirty="0" err="1">
                <a:cs typeface="Times New Roman" panose="02020603050405020304" pitchFamily="18" charset="0"/>
              </a:rPr>
              <a:t>Sử</a:t>
            </a:r>
            <a:r>
              <a:rPr lang="en-US" altLang="en-US" sz="2400" dirty="0">
                <a:cs typeface="Times New Roman" panose="02020603050405020304" pitchFamily="18" charset="0"/>
              </a:rPr>
              <a:t> </a:t>
            </a:r>
            <a:r>
              <a:rPr lang="en-US" altLang="en-US" sz="2400" dirty="0" err="1">
                <a:cs typeface="Times New Roman" panose="02020603050405020304" pitchFamily="18" charset="0"/>
              </a:rPr>
              <a:t>dụng</a:t>
            </a:r>
            <a:r>
              <a:rPr lang="en-US" altLang="en-US" sz="2400" dirty="0">
                <a:cs typeface="Times New Roman" panose="02020603050405020304" pitchFamily="18" charset="0"/>
              </a:rPr>
              <a:t> CTLT </a:t>
            </a:r>
            <a:r>
              <a:rPr lang="en-US" altLang="en-US" sz="2400" dirty="0" err="1">
                <a:cs typeface="Times New Roman" panose="02020603050405020304" pitchFamily="18" charset="0"/>
              </a:rPr>
              <a:t>móc</a:t>
            </a:r>
            <a:r>
              <a:rPr lang="en-US" altLang="en-US" sz="2400" dirty="0">
                <a:cs typeface="Times New Roman" panose="02020603050405020304" pitchFamily="18" charset="0"/>
              </a:rPr>
              <a:t> </a:t>
            </a:r>
            <a:r>
              <a:rPr lang="en-US" altLang="en-US" sz="2400" dirty="0" err="1">
                <a:cs typeface="Times New Roman" panose="02020603050405020304" pitchFamily="18" charset="0"/>
              </a:rPr>
              <a:t>nối</a:t>
            </a:r>
            <a:r>
              <a:rPr lang="en-US" altLang="en-US" sz="2400" dirty="0">
                <a:cs typeface="Times New Roman" panose="02020603050405020304" pitchFamily="18" charset="0"/>
              </a:rPr>
              <a:t>: </a:t>
            </a:r>
          </a:p>
          <a:p>
            <a:pPr lvl="1"/>
            <a:r>
              <a:rPr lang="en-US" altLang="en-US" sz="2000" dirty="0" err="1">
                <a:cs typeface="Times New Roman" panose="02020603050405020304" pitchFamily="18" charset="0"/>
              </a:rPr>
              <a:t>Thường</a:t>
            </a:r>
            <a:r>
              <a:rPr lang="en-US" altLang="en-US" sz="2000" dirty="0">
                <a:cs typeface="Times New Roman" panose="02020603050405020304" pitchFamily="18" charset="0"/>
              </a:rPr>
              <a:t> </a:t>
            </a:r>
            <a:r>
              <a:rPr lang="en-US" altLang="en-US" sz="2000" dirty="0" err="1">
                <a:cs typeface="Times New Roman" panose="02020603050405020304" pitchFamily="18" charset="0"/>
              </a:rPr>
              <a:t>được</a:t>
            </a:r>
            <a:r>
              <a:rPr lang="en-US" altLang="en-US" sz="2000" dirty="0">
                <a:cs typeface="Times New Roman" panose="02020603050405020304" pitchFamily="18" charset="0"/>
              </a:rPr>
              <a:t> </a:t>
            </a:r>
            <a:r>
              <a:rPr lang="en-US" altLang="en-US" sz="2000" dirty="0" err="1">
                <a:cs typeface="Times New Roman" panose="02020603050405020304" pitchFamily="18" charset="0"/>
              </a:rPr>
              <a:t>dùng</a:t>
            </a:r>
            <a:r>
              <a:rPr lang="en-US" altLang="en-US" sz="2000" dirty="0">
                <a:cs typeface="Times New Roman" panose="02020603050405020304" pitchFamily="18" charset="0"/>
              </a:rPr>
              <a:t> do </a:t>
            </a:r>
            <a:r>
              <a:rPr lang="en-US" altLang="en-US" sz="2000" dirty="0" err="1">
                <a:cs typeface="Times New Roman" panose="02020603050405020304" pitchFamily="18" charset="0"/>
              </a:rPr>
              <a:t>tính</a:t>
            </a:r>
            <a:r>
              <a:rPr lang="en-US" altLang="en-US" sz="2000" dirty="0">
                <a:cs typeface="Times New Roman" panose="02020603050405020304" pitchFamily="18" charset="0"/>
              </a:rPr>
              <a:t> </a:t>
            </a:r>
            <a:r>
              <a:rPr lang="en-US" altLang="en-US" sz="2000" dirty="0" err="1">
                <a:cs typeface="Times New Roman" panose="02020603050405020304" pitchFamily="18" charset="0"/>
              </a:rPr>
              <a:t>linh</a:t>
            </a:r>
            <a:r>
              <a:rPr lang="en-US" altLang="en-US" sz="2000" dirty="0">
                <a:cs typeface="Times New Roman" panose="02020603050405020304" pitchFamily="18" charset="0"/>
              </a:rPr>
              <a:t> </a:t>
            </a:r>
            <a:r>
              <a:rPr lang="en-US" altLang="en-US" sz="2000" dirty="0" err="1">
                <a:cs typeface="Times New Roman" panose="02020603050405020304" pitchFamily="18" charset="0"/>
              </a:rPr>
              <a:t>hoạt</a:t>
            </a:r>
            <a:r>
              <a:rPr lang="en-US" altLang="en-US" sz="2000" dirty="0">
                <a:cs typeface="Times New Roman" panose="02020603050405020304" pitchFamily="18" charset="0"/>
              </a:rPr>
              <a:t> </a:t>
            </a:r>
            <a:r>
              <a:rPr lang="en-US" altLang="en-US" sz="2000" dirty="0" err="1">
                <a:cs typeface="Times New Roman" panose="02020603050405020304" pitchFamily="18" charset="0"/>
              </a:rPr>
              <a:t>của</a:t>
            </a:r>
            <a:r>
              <a:rPr lang="en-US" altLang="en-US" sz="2000" dirty="0">
                <a:cs typeface="Times New Roman" panose="02020603050405020304" pitchFamily="18" charset="0"/>
              </a:rPr>
              <a:t> CTLT </a:t>
            </a:r>
            <a:r>
              <a:rPr lang="en-US" altLang="en-US" sz="2000" dirty="0" err="1">
                <a:cs typeface="Times New Roman" panose="02020603050405020304" pitchFamily="18" charset="0"/>
              </a:rPr>
              <a:t>móc</a:t>
            </a:r>
            <a:r>
              <a:rPr lang="en-US" altLang="en-US" sz="2000" dirty="0">
                <a:cs typeface="Times New Roman" panose="02020603050405020304" pitchFamily="18" charset="0"/>
              </a:rPr>
              <a:t> </a:t>
            </a:r>
            <a:r>
              <a:rPr lang="en-US" altLang="en-US" sz="2000" dirty="0" err="1">
                <a:cs typeface="Times New Roman" panose="02020603050405020304" pitchFamily="18" charset="0"/>
              </a:rPr>
              <a:t>nối</a:t>
            </a:r>
            <a:r>
              <a:rPr lang="en-US" altLang="en-US" sz="2000" dirty="0">
                <a:cs typeface="Times New Roman" panose="02020603050405020304" pitchFamily="18" charset="0"/>
              </a:rPr>
              <a:t>, </a:t>
            </a:r>
            <a:r>
              <a:rPr lang="en-US" altLang="en-US" sz="2000" dirty="0" err="1">
                <a:cs typeface="Times New Roman" panose="02020603050405020304" pitchFamily="18" charset="0"/>
              </a:rPr>
              <a:t>rất</a:t>
            </a:r>
            <a:r>
              <a:rPr lang="en-US" altLang="en-US" sz="2000" dirty="0">
                <a:cs typeface="Times New Roman" panose="02020603050405020304" pitchFamily="18" charset="0"/>
              </a:rPr>
              <a:t> </a:t>
            </a:r>
            <a:r>
              <a:rPr lang="en-US" altLang="en-US" sz="2000" dirty="0" err="1">
                <a:cs typeface="Times New Roman" panose="02020603050405020304" pitchFamily="18" charset="0"/>
              </a:rPr>
              <a:t>thích</a:t>
            </a:r>
            <a:r>
              <a:rPr lang="en-US" altLang="en-US" sz="2000" dirty="0">
                <a:cs typeface="Times New Roman" panose="02020603050405020304" pitchFamily="18" charset="0"/>
              </a:rPr>
              <a:t> </a:t>
            </a:r>
            <a:r>
              <a:rPr lang="en-US" altLang="en-US" sz="2000" dirty="0" err="1">
                <a:cs typeface="Times New Roman" panose="02020603050405020304" pitchFamily="18" charset="0"/>
              </a:rPr>
              <a:t>hợp</a:t>
            </a:r>
            <a:r>
              <a:rPr lang="en-US" altLang="en-US" sz="2000" dirty="0">
                <a:cs typeface="Times New Roman" panose="02020603050405020304" pitchFamily="18" charset="0"/>
              </a:rPr>
              <a:t> </a:t>
            </a:r>
            <a:r>
              <a:rPr lang="en-US" altLang="en-US" sz="2000" dirty="0" err="1">
                <a:cs typeface="Times New Roman" panose="02020603050405020304" pitchFamily="18" charset="0"/>
              </a:rPr>
              <a:t>để</a:t>
            </a:r>
            <a:r>
              <a:rPr lang="en-US" altLang="en-US" sz="2000" dirty="0">
                <a:cs typeface="Times New Roman" panose="02020603050405020304" pitchFamily="18" charset="0"/>
              </a:rPr>
              <a:t> </a:t>
            </a:r>
            <a:r>
              <a:rPr lang="en-US" altLang="en-US" sz="2000" dirty="0" err="1">
                <a:cs typeface="Times New Roman" panose="02020603050405020304" pitchFamily="18" charset="0"/>
              </a:rPr>
              <a:t>cài</a:t>
            </a:r>
            <a:r>
              <a:rPr lang="en-US" altLang="en-US" sz="2000" dirty="0">
                <a:cs typeface="Times New Roman" panose="02020603050405020304" pitchFamily="18" charset="0"/>
              </a:rPr>
              <a:t> </a:t>
            </a:r>
            <a:r>
              <a:rPr lang="en-US" altLang="en-US" sz="2000" dirty="0" err="1">
                <a:cs typeface="Times New Roman" panose="02020603050405020304" pitchFamily="18" charset="0"/>
              </a:rPr>
              <a:t>đặt</a:t>
            </a:r>
            <a:r>
              <a:rPr lang="en-US" altLang="en-US" sz="2000" dirty="0">
                <a:cs typeface="Times New Roman" panose="02020603050405020304" pitchFamily="18" charset="0"/>
              </a:rPr>
              <a:t> </a:t>
            </a:r>
            <a:r>
              <a:rPr lang="en-US" altLang="en-US" sz="2000" dirty="0" err="1">
                <a:cs typeface="Times New Roman" panose="02020603050405020304" pitchFamily="18" charset="0"/>
              </a:rPr>
              <a:t>các</a:t>
            </a:r>
            <a:r>
              <a:rPr lang="en-US" altLang="en-US" sz="2000" dirty="0">
                <a:cs typeface="Times New Roman" panose="02020603050405020304" pitchFamily="18" charset="0"/>
              </a:rPr>
              <a:t> CTDL phi </a:t>
            </a:r>
            <a:r>
              <a:rPr lang="en-US" altLang="en-US" sz="2000" dirty="0" err="1">
                <a:cs typeface="Times New Roman" panose="02020603050405020304" pitchFamily="18" charset="0"/>
              </a:rPr>
              <a:t>tuyến</a:t>
            </a:r>
            <a:r>
              <a:rPr lang="en-US" altLang="en-US" sz="2000" dirty="0">
                <a:cs typeface="Times New Roman" panose="02020603050405020304" pitchFamily="18" charset="0"/>
              </a:rPr>
              <a:t>. </a:t>
            </a:r>
          </a:p>
          <a:p>
            <a:pPr eaLnBrk="1" hangingPunct="1"/>
            <a:r>
              <a:rPr lang="en-US" altLang="en-US" sz="2400" dirty="0" err="1">
                <a:cs typeface="Times New Roman" panose="02020603050405020304" pitchFamily="18" charset="0"/>
              </a:rPr>
              <a:t>Nguyên</a:t>
            </a:r>
            <a:r>
              <a:rPr lang="en-US" altLang="en-US" sz="2400" dirty="0">
                <a:cs typeface="Times New Roman" panose="02020603050405020304" pitchFamily="18" charset="0"/>
              </a:rPr>
              <a:t> </a:t>
            </a:r>
            <a:r>
              <a:rPr lang="en-US" altLang="en-US" sz="2400" dirty="0" err="1">
                <a:cs typeface="Times New Roman" panose="02020603050405020304" pitchFamily="18" charset="0"/>
              </a:rPr>
              <a:t>tắc</a:t>
            </a:r>
            <a:r>
              <a:rPr lang="en-US" altLang="en-US" sz="2400" dirty="0">
                <a:cs typeface="Times New Roman" panose="02020603050405020304" pitchFamily="18" charset="0"/>
              </a:rPr>
              <a:t> </a:t>
            </a:r>
            <a:r>
              <a:rPr lang="en-US" altLang="en-US" sz="2400" dirty="0" err="1">
                <a:cs typeface="Times New Roman" panose="02020603050405020304" pitchFamily="18" charset="0"/>
              </a:rPr>
              <a:t>cài</a:t>
            </a:r>
            <a:r>
              <a:rPr lang="en-US" altLang="en-US" sz="2400" dirty="0">
                <a:cs typeface="Times New Roman" panose="02020603050405020304" pitchFamily="18" charset="0"/>
              </a:rPr>
              <a:t> </a:t>
            </a:r>
            <a:r>
              <a:rPr lang="en-US" altLang="en-US" sz="2400" dirty="0" err="1">
                <a:cs typeface="Times New Roman" panose="02020603050405020304" pitchFamily="18" charset="0"/>
              </a:rPr>
              <a:t>đặt</a:t>
            </a:r>
            <a:r>
              <a:rPr lang="en-US" altLang="en-US" sz="2400" dirty="0">
                <a:cs typeface="Times New Roman" panose="02020603050405020304" pitchFamily="18" charset="0"/>
              </a:rPr>
              <a:t> </a:t>
            </a:r>
            <a:r>
              <a:rPr lang="en-US" altLang="en-US" sz="2400" dirty="0" err="1">
                <a:cs typeface="Times New Roman" panose="02020603050405020304" pitchFamily="18" charset="0"/>
              </a:rPr>
              <a:t>sử</a:t>
            </a:r>
            <a:r>
              <a:rPr lang="en-US" altLang="en-US" sz="2400" dirty="0">
                <a:cs typeface="Times New Roman" panose="02020603050405020304" pitchFamily="18" charset="0"/>
              </a:rPr>
              <a:t> </a:t>
            </a:r>
            <a:r>
              <a:rPr lang="en-US" altLang="en-US" sz="2400" dirty="0" err="1">
                <a:cs typeface="Times New Roman" panose="02020603050405020304" pitchFamily="18" charset="0"/>
              </a:rPr>
              <a:t>dụng</a:t>
            </a:r>
            <a:r>
              <a:rPr lang="en-US" altLang="en-US" sz="2400" dirty="0">
                <a:cs typeface="Times New Roman" panose="02020603050405020304" pitchFamily="18" charset="0"/>
              </a:rPr>
              <a:t> </a:t>
            </a:r>
            <a:r>
              <a:rPr lang="en-US" altLang="en-US" sz="2400" dirty="0" err="1">
                <a:cs typeface="Times New Roman" panose="02020603050405020304" pitchFamily="18" charset="0"/>
              </a:rPr>
              <a:t>cấu</a:t>
            </a:r>
            <a:r>
              <a:rPr lang="en-US" altLang="en-US" sz="2400" dirty="0">
                <a:cs typeface="Times New Roman" panose="02020603050405020304" pitchFamily="18" charset="0"/>
              </a:rPr>
              <a:t> </a:t>
            </a:r>
            <a:r>
              <a:rPr lang="en-US" altLang="en-US" sz="2400" dirty="0" err="1">
                <a:cs typeface="Times New Roman" panose="02020603050405020304" pitchFamily="18" charset="0"/>
              </a:rPr>
              <a:t>trúc</a:t>
            </a:r>
            <a:r>
              <a:rPr lang="en-US" altLang="en-US" sz="2400" dirty="0">
                <a:cs typeface="Times New Roman" panose="02020603050405020304" pitchFamily="18" charset="0"/>
              </a:rPr>
              <a:t> </a:t>
            </a:r>
            <a:r>
              <a:rPr lang="en-US" altLang="en-US" sz="2400" dirty="0" err="1">
                <a:cs typeface="Times New Roman" panose="02020603050405020304" pitchFamily="18" charset="0"/>
              </a:rPr>
              <a:t>lưu</a:t>
            </a:r>
            <a:r>
              <a:rPr lang="en-US" altLang="en-US" sz="2400" dirty="0">
                <a:cs typeface="Times New Roman" panose="02020603050405020304" pitchFamily="18" charset="0"/>
              </a:rPr>
              <a:t> </a:t>
            </a:r>
            <a:r>
              <a:rPr lang="en-US" altLang="en-US" sz="2400" dirty="0" err="1">
                <a:cs typeface="Times New Roman" panose="02020603050405020304" pitchFamily="18" charset="0"/>
              </a:rPr>
              <a:t>trữ</a:t>
            </a:r>
            <a:r>
              <a:rPr lang="en-US" altLang="en-US" sz="2400" dirty="0">
                <a:cs typeface="Times New Roman" panose="02020603050405020304" pitchFamily="18" charset="0"/>
              </a:rPr>
              <a:t> </a:t>
            </a:r>
            <a:r>
              <a:rPr lang="en-US" altLang="en-US" sz="2400" dirty="0" err="1">
                <a:cs typeface="Times New Roman" panose="02020603050405020304" pitchFamily="18" charset="0"/>
              </a:rPr>
              <a:t>móc</a:t>
            </a:r>
            <a:r>
              <a:rPr lang="en-US" altLang="en-US" sz="2400" dirty="0">
                <a:cs typeface="Times New Roman" panose="02020603050405020304" pitchFamily="18" charset="0"/>
              </a:rPr>
              <a:t> </a:t>
            </a:r>
            <a:r>
              <a:rPr lang="en-US" altLang="en-US" sz="2400" dirty="0" err="1">
                <a:cs typeface="Times New Roman" panose="02020603050405020304" pitchFamily="18" charset="0"/>
              </a:rPr>
              <a:t>nối</a:t>
            </a:r>
            <a:endParaRPr lang="en-US" altLang="en-US" sz="2400" dirty="0">
              <a:cs typeface="Times New Roman" panose="02020603050405020304" pitchFamily="18" charset="0"/>
            </a:endParaRPr>
          </a:p>
          <a:p>
            <a:pPr lvl="1" eaLnBrk="1" hangingPunct="1"/>
            <a:r>
              <a:rPr lang="en-US" altLang="en-US" sz="2000" dirty="0" err="1">
                <a:cs typeface="Times New Roman" panose="02020603050405020304" pitchFamily="18" charset="0"/>
              </a:rPr>
              <a:t>Đối</a:t>
            </a:r>
            <a:r>
              <a:rPr lang="en-US" altLang="en-US" sz="2000" dirty="0">
                <a:cs typeface="Times New Roman" panose="02020603050405020304" pitchFamily="18" charset="0"/>
              </a:rPr>
              <a:t> </a:t>
            </a:r>
            <a:r>
              <a:rPr lang="en-US" altLang="en-US" sz="2000" dirty="0" err="1">
                <a:cs typeface="Times New Roman" panose="02020603050405020304" pitchFamily="18" charset="0"/>
              </a:rPr>
              <a:t>với</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nhị</a:t>
            </a:r>
            <a:r>
              <a:rPr lang="en-US" altLang="en-US" sz="2000" dirty="0">
                <a:cs typeface="Times New Roman" panose="02020603050405020304" pitchFamily="18" charset="0"/>
              </a:rPr>
              <a:t> </a:t>
            </a:r>
            <a:r>
              <a:rPr lang="en-US" altLang="en-US" sz="2000" dirty="0" err="1">
                <a:cs typeface="Times New Roman" panose="02020603050405020304" pitchFamily="18" charset="0"/>
              </a:rPr>
              <a:t>phân</a:t>
            </a:r>
            <a:r>
              <a:rPr lang="en-US" altLang="en-US" sz="2000" dirty="0">
                <a:cs typeface="Times New Roman" panose="02020603050405020304" pitchFamily="18" charset="0"/>
              </a:rPr>
              <a:t>, </a:t>
            </a:r>
            <a:r>
              <a:rPr lang="en-US" altLang="en-US" sz="2000" dirty="0" err="1">
                <a:cs typeface="Times New Roman" panose="02020603050405020304" pitchFamily="18" charset="0"/>
              </a:rPr>
              <a:t>cần</a:t>
            </a:r>
            <a:r>
              <a:rPr lang="en-US" altLang="en-US" sz="2000" dirty="0">
                <a:cs typeface="Times New Roman" panose="02020603050405020304" pitchFamily="18" charset="0"/>
              </a:rPr>
              <a:t> </a:t>
            </a:r>
            <a:r>
              <a:rPr lang="en-US" altLang="en-US" sz="2000" dirty="0" err="1">
                <a:cs typeface="Times New Roman" panose="02020603050405020304" pitchFamily="18" charset="0"/>
              </a:rPr>
              <a:t>lưu</a:t>
            </a:r>
            <a:r>
              <a:rPr lang="en-US" altLang="en-US" sz="2000" dirty="0">
                <a:cs typeface="Times New Roman" panose="02020603050405020304" pitchFamily="18" charset="0"/>
              </a:rPr>
              <a:t> </a:t>
            </a:r>
            <a:r>
              <a:rPr lang="en-US" altLang="en-US" sz="2000" dirty="0" err="1">
                <a:cs typeface="Times New Roman" panose="02020603050405020304" pitchFamily="18" charset="0"/>
              </a:rPr>
              <a:t>trữ</a:t>
            </a:r>
            <a:r>
              <a:rPr lang="en-US" altLang="en-US" sz="2000" dirty="0">
                <a:cs typeface="Times New Roman" panose="02020603050405020304" pitchFamily="18" charset="0"/>
              </a:rPr>
              <a:t> </a:t>
            </a:r>
            <a:r>
              <a:rPr lang="en-US" altLang="en-US" sz="2000" dirty="0" err="1">
                <a:cs typeface="Times New Roman" panose="02020603050405020304" pitchFamily="18" charset="0"/>
              </a:rPr>
              <a:t>hai</a:t>
            </a:r>
            <a:r>
              <a:rPr lang="en-US" altLang="en-US" sz="2000" dirty="0">
                <a:cs typeface="Times New Roman" panose="02020603050405020304" pitchFamily="18" charset="0"/>
              </a:rPr>
              <a:t> </a:t>
            </a:r>
            <a:r>
              <a:rPr lang="en-US" altLang="en-US" sz="2000" dirty="0" err="1">
                <a:cs typeface="Times New Roman" panose="02020603050405020304" pitchFamily="18" charset="0"/>
              </a:rPr>
              <a:t>thành</a:t>
            </a:r>
            <a:r>
              <a:rPr lang="en-US" altLang="en-US" sz="2000" dirty="0">
                <a:cs typeface="Times New Roman" panose="02020603050405020304" pitchFamily="18" charset="0"/>
              </a:rPr>
              <a:t> </a:t>
            </a:r>
            <a:r>
              <a:rPr lang="en-US" altLang="en-US" sz="2000" dirty="0" err="1">
                <a:cs typeface="Times New Roman" panose="02020603050405020304" pitchFamily="18" charset="0"/>
              </a:rPr>
              <a:t>phần</a:t>
            </a:r>
            <a:r>
              <a:rPr lang="en-US" altLang="en-US" sz="2000" dirty="0">
                <a:cs typeface="Times New Roman" panose="02020603050405020304" pitchFamily="18" charset="0"/>
              </a:rPr>
              <a:t>: </a:t>
            </a:r>
          </a:p>
          <a:p>
            <a:pPr lvl="1" eaLnBrk="1" hangingPunct="1"/>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phần</a:t>
            </a:r>
            <a:r>
              <a:rPr lang="en-US" altLang="en-US" sz="2000" dirty="0">
                <a:cs typeface="Times New Roman" panose="02020603050405020304" pitchFamily="18" charset="0"/>
              </a:rPr>
              <a:t> </a:t>
            </a:r>
            <a:r>
              <a:rPr lang="en-US" altLang="en-US" sz="2000" dirty="0" err="1">
                <a:cs typeface="Times New Roman" panose="02020603050405020304" pitchFamily="18" charset="0"/>
              </a:rPr>
              <a:t>tử</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của</a:t>
            </a:r>
            <a:r>
              <a:rPr lang="en-US" altLang="en-US" sz="2000" dirty="0">
                <a:cs typeface="Times New Roman" panose="02020603050405020304" pitchFamily="18" charset="0"/>
              </a:rPr>
              <a:t> </a:t>
            </a:r>
            <a:r>
              <a:rPr lang="en-US" altLang="en-US" sz="2000" dirty="0" err="1">
                <a:cs typeface="Times New Roman" panose="02020603050405020304" pitchFamily="18" charset="0"/>
              </a:rPr>
              <a:t>cấu</a:t>
            </a:r>
            <a:r>
              <a:rPr lang="en-US" altLang="en-US" sz="2000" dirty="0">
                <a:cs typeface="Times New Roman" panose="02020603050405020304" pitchFamily="18" charset="0"/>
              </a:rPr>
              <a:t> </a:t>
            </a:r>
            <a:r>
              <a:rPr lang="en-US" altLang="en-US" sz="2000" dirty="0" err="1">
                <a:cs typeface="Times New Roman" panose="02020603050405020304" pitchFamily="18" charset="0"/>
              </a:rPr>
              <a:t>trúc</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a:t>
            </a:r>
          </a:p>
          <a:p>
            <a:pPr lvl="2" eaLnBrk="1" hangingPunct="1"/>
            <a:r>
              <a:rPr lang="en-US" altLang="en-US" sz="2000" dirty="0" err="1">
                <a:cs typeface="Times New Roman" panose="02020603050405020304" pitchFamily="18" charset="0"/>
              </a:rPr>
              <a:t>Dùng</a:t>
            </a:r>
            <a:r>
              <a:rPr lang="en-US" altLang="en-US" sz="2000" dirty="0">
                <a:cs typeface="Times New Roman" panose="02020603050405020304" pitchFamily="18" charset="0"/>
              </a:rPr>
              <a:t> </a:t>
            </a: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của</a:t>
            </a:r>
            <a:r>
              <a:rPr lang="en-US" altLang="en-US" sz="2000" dirty="0">
                <a:cs typeface="Times New Roman" panose="02020603050405020304" pitchFamily="18" charset="0"/>
              </a:rPr>
              <a:t> CTLT </a:t>
            </a:r>
            <a:r>
              <a:rPr lang="en-US" altLang="en-US" sz="2000" dirty="0" err="1">
                <a:cs typeface="Times New Roman" panose="02020603050405020304" pitchFamily="18" charset="0"/>
              </a:rPr>
              <a:t>để</a:t>
            </a:r>
            <a:r>
              <a:rPr lang="en-US" altLang="en-US" sz="2000" dirty="0">
                <a:cs typeface="Times New Roman" panose="02020603050405020304" pitchFamily="18" charset="0"/>
              </a:rPr>
              <a:t> </a:t>
            </a:r>
            <a:r>
              <a:rPr lang="en-US" altLang="en-US" sz="2000" dirty="0" err="1">
                <a:cs typeface="Times New Roman" panose="02020603050405020304" pitchFamily="18" charset="0"/>
              </a:rPr>
              <a:t>lưu</a:t>
            </a:r>
            <a:r>
              <a:rPr lang="en-US" altLang="en-US" sz="2000" dirty="0">
                <a:cs typeface="Times New Roman" panose="02020603050405020304" pitchFamily="18" charset="0"/>
              </a:rPr>
              <a:t> </a:t>
            </a:r>
            <a:r>
              <a:rPr lang="en-US" altLang="en-US" sz="2000" dirty="0" err="1">
                <a:cs typeface="Times New Roman" panose="02020603050405020304" pitchFamily="18" charset="0"/>
              </a:rPr>
              <a:t>trữ</a:t>
            </a:r>
            <a:r>
              <a:rPr lang="en-US" altLang="en-US" sz="2000" dirty="0">
                <a:cs typeface="Times New Roman" panose="02020603050405020304" pitchFamily="18" charset="0"/>
              </a:rPr>
              <a:t> </a:t>
            </a: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phần</a:t>
            </a:r>
            <a:r>
              <a:rPr lang="en-US" altLang="en-US" sz="2000" dirty="0">
                <a:cs typeface="Times New Roman" panose="02020603050405020304" pitchFamily="18" charset="0"/>
              </a:rPr>
              <a:t> </a:t>
            </a:r>
            <a:r>
              <a:rPr lang="en-US" altLang="en-US" sz="2000" dirty="0" err="1">
                <a:cs typeface="Times New Roman" panose="02020603050405020304" pitchFamily="18" charset="0"/>
              </a:rPr>
              <a:t>tử</a:t>
            </a:r>
            <a:r>
              <a:rPr lang="en-US" altLang="en-US" sz="2000" dirty="0">
                <a:cs typeface="Times New Roman" panose="02020603050405020304" pitchFamily="18" charset="0"/>
              </a:rPr>
              <a:t>.</a:t>
            </a:r>
          </a:p>
          <a:p>
            <a:pPr lvl="1" eaLnBrk="1" hangingPunct="1"/>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nhánh</a:t>
            </a:r>
            <a:r>
              <a:rPr lang="en-US" altLang="en-US" sz="2000" dirty="0">
                <a:cs typeface="Times New Roman" panose="02020603050405020304" pitchFamily="18" charset="0"/>
              </a:rPr>
              <a:t> (</a:t>
            </a:r>
            <a:r>
              <a:rPr lang="en-US" altLang="en-US" sz="2000" dirty="0" err="1">
                <a:cs typeface="Times New Roman" panose="02020603050405020304" pitchFamily="18" charset="0"/>
              </a:rPr>
              <a:t>quan</a:t>
            </a:r>
            <a:r>
              <a:rPr lang="en-US" altLang="en-US" sz="2000" dirty="0">
                <a:cs typeface="Times New Roman" panose="02020603050405020304" pitchFamily="18" charset="0"/>
              </a:rPr>
              <a:t> </a:t>
            </a:r>
            <a:r>
              <a:rPr lang="en-US" altLang="en-US" sz="2000" dirty="0" err="1">
                <a:cs typeface="Times New Roman" panose="02020603050405020304" pitchFamily="18" charset="0"/>
              </a:rPr>
              <a:t>hệ</a:t>
            </a:r>
            <a:r>
              <a:rPr lang="en-US" altLang="en-US" sz="2000" dirty="0">
                <a:cs typeface="Times New Roman" panose="02020603050405020304" pitchFamily="18" charset="0"/>
              </a:rPr>
              <a:t> cha-con) </a:t>
            </a:r>
            <a:r>
              <a:rPr lang="en-US" altLang="en-US" sz="2000" dirty="0" err="1">
                <a:cs typeface="Times New Roman" panose="02020603050405020304" pitchFamily="18" charset="0"/>
              </a:rPr>
              <a:t>giữa</a:t>
            </a:r>
            <a:r>
              <a:rPr lang="en-US" altLang="en-US" sz="2000" dirty="0">
                <a:cs typeface="Times New Roman" panose="02020603050405020304" pitchFamily="18" charset="0"/>
              </a:rPr>
              <a:t> </a:t>
            </a: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cặp</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p>
          <a:p>
            <a:pPr lvl="2" eaLnBrk="1" hangingPunct="1"/>
            <a:r>
              <a:rPr lang="en-US" altLang="en-US" sz="2000" dirty="0" err="1">
                <a:cs typeface="Times New Roman" panose="02020603050405020304" pitchFamily="18" charset="0"/>
              </a:rPr>
              <a:t>Sử</a:t>
            </a:r>
            <a:r>
              <a:rPr lang="en-US" altLang="en-US" sz="2000" dirty="0">
                <a:cs typeface="Times New Roman" panose="02020603050405020304" pitchFamily="18" charset="0"/>
              </a:rPr>
              <a:t> </a:t>
            </a:r>
            <a:r>
              <a:rPr lang="en-US" altLang="en-US" sz="2000" dirty="0" err="1">
                <a:cs typeface="Times New Roman" panose="02020603050405020304" pitchFamily="18" charset="0"/>
              </a:rPr>
              <a:t>dụng</a:t>
            </a:r>
            <a:r>
              <a:rPr lang="en-US" altLang="en-US" sz="2000" dirty="0">
                <a:cs typeface="Times New Roman" panose="02020603050405020304" pitchFamily="18" charset="0"/>
              </a:rPr>
              <a:t> con </a:t>
            </a:r>
            <a:r>
              <a:rPr lang="en-US" altLang="en-US" sz="2000" dirty="0" err="1">
                <a:cs typeface="Times New Roman" panose="02020603050405020304" pitchFamily="18" charset="0"/>
              </a:rPr>
              <a:t>trỏ</a:t>
            </a:r>
            <a:r>
              <a:rPr lang="en-US" altLang="en-US" sz="2000" dirty="0">
                <a:cs typeface="Times New Roman" panose="02020603050405020304" pitchFamily="18" charset="0"/>
              </a:rPr>
              <a:t> </a:t>
            </a:r>
            <a:r>
              <a:rPr lang="en-US" altLang="en-US" sz="2000" dirty="0" err="1">
                <a:cs typeface="Times New Roman" panose="02020603050405020304" pitchFamily="18" charset="0"/>
              </a:rPr>
              <a:t>để</a:t>
            </a:r>
            <a:r>
              <a:rPr lang="en-US" altLang="en-US" sz="2000" dirty="0">
                <a:cs typeface="Times New Roman" panose="02020603050405020304" pitchFamily="18" charset="0"/>
              </a:rPr>
              <a:t> </a:t>
            </a:r>
            <a:r>
              <a:rPr lang="en-US" altLang="en-US" sz="2000" dirty="0" err="1">
                <a:cs typeface="Times New Roman" panose="02020603050405020304" pitchFamily="18" charset="0"/>
              </a:rPr>
              <a:t>biểu</a:t>
            </a:r>
            <a:r>
              <a:rPr lang="en-US" altLang="en-US" sz="2000" dirty="0">
                <a:cs typeface="Times New Roman" panose="02020603050405020304" pitchFamily="18" charset="0"/>
              </a:rPr>
              <a:t> </a:t>
            </a:r>
            <a:r>
              <a:rPr lang="en-US" altLang="en-US" sz="2000" dirty="0" err="1">
                <a:cs typeface="Times New Roman" panose="02020603050405020304" pitchFamily="18" charset="0"/>
              </a:rPr>
              <a:t>diễn</a:t>
            </a:r>
            <a:r>
              <a:rPr lang="en-US" altLang="en-US" sz="2000" dirty="0">
                <a:cs typeface="Times New Roman" panose="02020603050405020304" pitchFamily="18" charset="0"/>
              </a:rPr>
              <a:t> </a:t>
            </a: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nhánh</a:t>
            </a:r>
            <a:r>
              <a:rPr lang="en-US" altLang="en-US" sz="2000" dirty="0">
                <a:cs typeface="Times New Roman" panose="02020603050405020304" pitchFamily="18" charset="0"/>
              </a:rPr>
              <a:t>. </a:t>
            </a:r>
          </a:p>
          <a:p>
            <a:pPr lvl="2" eaLnBrk="1" hangingPunct="1"/>
            <a:r>
              <a:rPr lang="en-US" altLang="en-US" sz="2000" dirty="0">
                <a:cs typeface="Times New Roman" panose="02020603050405020304" pitchFamily="18" charset="0"/>
              </a:rPr>
              <a:t>Do </a:t>
            </a:r>
            <a:r>
              <a:rPr lang="en-US" altLang="en-US" sz="2000" dirty="0" err="1">
                <a:cs typeface="Times New Roman" panose="02020603050405020304" pitchFamily="18" charset="0"/>
              </a:rPr>
              <a:t>mỗi</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nhiều</a:t>
            </a:r>
            <a:r>
              <a:rPr lang="en-US" altLang="en-US" sz="2000" dirty="0">
                <a:cs typeface="Times New Roman" panose="02020603050405020304" pitchFamily="18" charset="0"/>
              </a:rPr>
              <a:t> </a:t>
            </a:r>
            <a:r>
              <a:rPr lang="en-US" altLang="en-US" sz="2000" dirty="0" err="1">
                <a:cs typeface="Times New Roman" panose="02020603050405020304" pitchFamily="18" charset="0"/>
              </a:rPr>
              <a:t>nhất</a:t>
            </a:r>
            <a:r>
              <a:rPr lang="en-US" altLang="en-US" sz="2000" dirty="0">
                <a:cs typeface="Times New Roman" panose="02020603050405020304" pitchFamily="18" charset="0"/>
              </a:rPr>
              <a:t> </a:t>
            </a:r>
            <a:r>
              <a:rPr lang="en-US" altLang="en-US" sz="2000" dirty="0" err="1">
                <a:cs typeface="Times New Roman" panose="02020603050405020304" pitchFamily="18" charset="0"/>
              </a:rPr>
              <a:t>hai</a:t>
            </a:r>
            <a:r>
              <a:rPr lang="en-US" altLang="en-US" sz="2000" dirty="0">
                <a:cs typeface="Times New Roman" panose="02020603050405020304" pitchFamily="18" charset="0"/>
              </a:rPr>
              <a:t> con </a:t>
            </a:r>
            <a:r>
              <a:rPr lang="en-US" altLang="en-US" sz="2000" dirty="0" err="1">
                <a:cs typeface="Times New Roman" panose="02020603050405020304" pitchFamily="18" charset="0"/>
              </a:rPr>
              <a:t>nên</a:t>
            </a:r>
            <a:r>
              <a:rPr lang="en-US" altLang="en-US" sz="2000" dirty="0">
                <a:cs typeface="Times New Roman" panose="02020603050405020304" pitchFamily="18" charset="0"/>
              </a:rPr>
              <a:t> </a:t>
            </a:r>
            <a:r>
              <a:rPr lang="en-US" altLang="en-US" sz="2000" dirty="0" err="1">
                <a:cs typeface="Times New Roman" panose="02020603050405020304" pitchFamily="18" charset="0"/>
              </a:rPr>
              <a:t>trong</a:t>
            </a:r>
            <a:r>
              <a:rPr lang="en-US" altLang="en-US" sz="2000" dirty="0">
                <a:cs typeface="Times New Roman" panose="02020603050405020304" pitchFamily="18" charset="0"/>
              </a:rPr>
              <a:t> </a:t>
            </a:r>
            <a:r>
              <a:rPr lang="en-US" altLang="en-US" sz="2000" dirty="0" err="1">
                <a:cs typeface="Times New Roman" panose="02020603050405020304" pitchFamily="18" charset="0"/>
              </a:rPr>
              <a:t>mỗi</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của</a:t>
            </a:r>
            <a:r>
              <a:rPr lang="en-US" altLang="en-US" sz="2000" dirty="0">
                <a:cs typeface="Times New Roman" panose="02020603050405020304" pitchFamily="18" charset="0"/>
              </a:rPr>
              <a:t> CTLT </a:t>
            </a:r>
            <a:r>
              <a:rPr lang="en-US" altLang="en-US" sz="2000" dirty="0" err="1">
                <a:cs typeface="Times New Roman" panose="02020603050405020304" pitchFamily="18" charset="0"/>
              </a:rPr>
              <a:t>sẽ</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hai</a:t>
            </a:r>
            <a:r>
              <a:rPr lang="en-US" altLang="en-US" sz="2000" dirty="0">
                <a:cs typeface="Times New Roman" panose="02020603050405020304" pitchFamily="18" charset="0"/>
              </a:rPr>
              <a:t> con </a:t>
            </a:r>
            <a:r>
              <a:rPr lang="en-US" altLang="en-US" sz="2000" dirty="0" err="1">
                <a:cs typeface="Times New Roman" panose="02020603050405020304" pitchFamily="18" charset="0"/>
              </a:rPr>
              <a:t>trỏ</a:t>
            </a:r>
            <a:r>
              <a:rPr lang="en-US" altLang="en-US" sz="2000" dirty="0">
                <a:cs typeface="Times New Roman" panose="02020603050405020304" pitchFamily="18" charset="0"/>
              </a:rPr>
              <a:t> </a:t>
            </a:r>
            <a:r>
              <a:rPr lang="en-US" altLang="en-US" sz="2000" dirty="0" err="1">
                <a:cs typeface="Times New Roman" panose="02020603050405020304" pitchFamily="18" charset="0"/>
              </a:rPr>
              <a:t>để</a:t>
            </a:r>
            <a:r>
              <a:rPr lang="en-US" altLang="en-US" sz="2000" dirty="0">
                <a:cs typeface="Times New Roman" panose="02020603050405020304" pitchFamily="18" charset="0"/>
              </a:rPr>
              <a:t> </a:t>
            </a:r>
            <a:r>
              <a:rPr lang="en-US" altLang="en-US" sz="2000" dirty="0" err="1">
                <a:cs typeface="Times New Roman" panose="02020603050405020304" pitchFamily="18" charset="0"/>
              </a:rPr>
              <a:t>trỏ</a:t>
            </a:r>
            <a:r>
              <a:rPr lang="en-US" altLang="en-US" sz="2000" dirty="0">
                <a:cs typeface="Times New Roman" panose="02020603050405020304" pitchFamily="18" charset="0"/>
              </a:rPr>
              <a:t> </a:t>
            </a:r>
            <a:r>
              <a:rPr lang="en-US" altLang="en-US" sz="2000" dirty="0" err="1">
                <a:cs typeface="Times New Roman" panose="02020603050405020304" pitchFamily="18" charset="0"/>
              </a:rPr>
              <a:t>đến</a:t>
            </a:r>
            <a:r>
              <a:rPr lang="en-US" altLang="en-US" sz="2000" dirty="0">
                <a:cs typeface="Times New Roman" panose="02020603050405020304" pitchFamily="18" charset="0"/>
              </a:rPr>
              <a:t> </a:t>
            </a:r>
            <a:r>
              <a:rPr lang="en-US" altLang="en-US" sz="2000" dirty="0" err="1">
                <a:cs typeface="Times New Roman" panose="02020603050405020304" pitchFamily="18" charset="0"/>
              </a:rPr>
              <a:t>tối</a:t>
            </a:r>
            <a:r>
              <a:rPr lang="en-US" altLang="en-US" sz="2000" dirty="0">
                <a:cs typeface="Times New Roman" panose="02020603050405020304" pitchFamily="18" charset="0"/>
              </a:rPr>
              <a:t> </a:t>
            </a:r>
            <a:r>
              <a:rPr lang="en-US" altLang="en-US" sz="2000" dirty="0" err="1">
                <a:cs typeface="Times New Roman" panose="02020603050405020304" pitchFamily="18" charset="0"/>
              </a:rPr>
              <a:t>đa</a:t>
            </a:r>
            <a:r>
              <a:rPr lang="en-US" altLang="en-US" sz="2000" dirty="0">
                <a:cs typeface="Times New Roman" panose="02020603050405020304" pitchFamily="18" charset="0"/>
              </a:rPr>
              <a:t> </a:t>
            </a:r>
            <a:r>
              <a:rPr lang="en-US" altLang="en-US" sz="2000" dirty="0" err="1">
                <a:cs typeface="Times New Roman" panose="02020603050405020304" pitchFamily="18" charset="0"/>
              </a:rPr>
              <a:t>hai</a:t>
            </a:r>
            <a:r>
              <a:rPr lang="en-US" altLang="en-US" sz="2000" dirty="0">
                <a:cs typeface="Times New Roman" panose="02020603050405020304" pitchFamily="18" charset="0"/>
              </a:rPr>
              <a:t> con </a:t>
            </a:r>
            <a:r>
              <a:rPr lang="en-US" altLang="en-US" sz="2000" dirty="0" err="1">
                <a:cs typeface="Times New Roman" panose="02020603050405020304" pitchFamily="18" charset="0"/>
              </a:rPr>
              <a:t>này</a:t>
            </a:r>
            <a:r>
              <a:rPr lang="en-US" altLang="en-US" sz="2000" dirty="0">
                <a:cs typeface="Times New Roman" panose="02020603050405020304" pitchFamily="18" charset="0"/>
              </a:rPr>
              <a:t>. </a:t>
            </a:r>
          </a:p>
        </p:txBody>
      </p:sp>
    </p:spTree>
    <p:extLst>
      <p:ext uri="{BB962C8B-B14F-4D97-AF65-F5344CB8AC3E}">
        <p14:creationId xmlns:p14="http://schemas.microsoft.com/office/powerpoint/2010/main" val="3758878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0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70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70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701">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701">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9701">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970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p:txBody>
          <a:bodyPr/>
          <a:lstStyle/>
          <a:p>
            <a:pPr eaLnBrk="1" hangingPunct="1"/>
            <a:r>
              <a:rPr lang="en-US" altLang="en-US" dirty="0" err="1">
                <a:cs typeface="Times New Roman" panose="02020603050405020304" pitchFamily="18" charset="0"/>
              </a:rPr>
              <a:t>Cài</a:t>
            </a:r>
            <a:r>
              <a:rPr lang="en-US" altLang="en-US" dirty="0">
                <a:cs typeface="Times New Roman" panose="02020603050405020304" pitchFamily="18" charset="0"/>
              </a:rPr>
              <a:t> </a:t>
            </a:r>
            <a:r>
              <a:rPr lang="en-US" altLang="en-US" dirty="0" err="1">
                <a:cs typeface="Times New Roman" panose="02020603050405020304" pitchFamily="18" charset="0"/>
              </a:rPr>
              <a:t>đặt</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nhị</a:t>
            </a:r>
            <a:r>
              <a:rPr lang="en-US" altLang="en-US" dirty="0">
                <a:cs typeface="Times New Roman" panose="02020603050405020304" pitchFamily="18" charset="0"/>
              </a:rPr>
              <a:t> </a:t>
            </a:r>
            <a:r>
              <a:rPr lang="en-US" altLang="en-US" dirty="0" err="1">
                <a:cs typeface="Times New Roman" panose="02020603050405020304" pitchFamily="18" charset="0"/>
              </a:rPr>
              <a:t>phân</a:t>
            </a:r>
            <a:r>
              <a:rPr lang="en-US" altLang="en-US" dirty="0"/>
              <a:t> </a:t>
            </a:r>
          </a:p>
        </p:txBody>
      </p:sp>
      <p:sp>
        <p:nvSpPr>
          <p:cNvPr id="31749" name="Rectangle 3"/>
          <p:cNvSpPr>
            <a:spLocks noGrp="1" noChangeArrowheads="1"/>
          </p:cNvSpPr>
          <p:nvPr>
            <p:ph type="body" sz="quarter" idx="13"/>
          </p:nvPr>
        </p:nvSpPr>
        <p:spPr>
          <a:noFill/>
        </p:spPr>
        <p:txBody>
          <a:bodyPr>
            <a:normAutofit/>
          </a:bodyPr>
          <a:lstStyle/>
          <a:p>
            <a:pPr eaLnBrk="1" hangingPunct="1"/>
            <a:r>
              <a:rPr lang="en-US" altLang="en-US" sz="2400" dirty="0" err="1">
                <a:cs typeface="Times New Roman" panose="02020603050405020304" pitchFamily="18" charset="0"/>
              </a:rPr>
              <a:t>Dùng</a:t>
            </a:r>
            <a:r>
              <a:rPr lang="en-US" altLang="en-US" sz="2400" dirty="0">
                <a:cs typeface="Times New Roman" panose="02020603050405020304" pitchFamily="18" charset="0"/>
              </a:rPr>
              <a:t> </a:t>
            </a:r>
            <a:r>
              <a:rPr lang="en-US" altLang="en-US" sz="2400" dirty="0" err="1">
                <a:cs typeface="Times New Roman" panose="02020603050405020304" pitchFamily="18" charset="0"/>
              </a:rPr>
              <a:t>cấu</a:t>
            </a:r>
            <a:r>
              <a:rPr lang="en-US" altLang="en-US" sz="2400" dirty="0">
                <a:cs typeface="Times New Roman" panose="02020603050405020304" pitchFamily="18" charset="0"/>
              </a:rPr>
              <a:t> </a:t>
            </a:r>
            <a:r>
              <a:rPr lang="en-US" altLang="en-US" sz="2400" dirty="0" err="1">
                <a:cs typeface="Times New Roman" panose="02020603050405020304" pitchFamily="18" charset="0"/>
              </a:rPr>
              <a:t>trúc</a:t>
            </a:r>
            <a:r>
              <a:rPr lang="en-US" altLang="en-US" sz="2400" dirty="0">
                <a:cs typeface="Times New Roman" panose="02020603050405020304" pitchFamily="18" charset="0"/>
              </a:rPr>
              <a:t> </a:t>
            </a:r>
            <a:r>
              <a:rPr lang="en-US" altLang="en-US" sz="2400" dirty="0" err="1">
                <a:cs typeface="Times New Roman" panose="02020603050405020304" pitchFamily="18" charset="0"/>
              </a:rPr>
              <a:t>móc</a:t>
            </a:r>
            <a:r>
              <a:rPr lang="en-US" altLang="en-US" sz="2400" dirty="0">
                <a:cs typeface="Times New Roman" panose="02020603050405020304" pitchFamily="18" charset="0"/>
              </a:rPr>
              <a:t> </a:t>
            </a:r>
            <a:r>
              <a:rPr lang="en-US" altLang="en-US" sz="2400" dirty="0" err="1">
                <a:cs typeface="Times New Roman" panose="02020603050405020304" pitchFamily="18" charset="0"/>
              </a:rPr>
              <a:t>nối</a:t>
            </a:r>
            <a:endParaRPr lang="en-US" altLang="en-US" sz="2400" dirty="0">
              <a:cs typeface="Times New Roman" panose="02020603050405020304" pitchFamily="18" charset="0"/>
            </a:endParaRPr>
          </a:p>
          <a:p>
            <a:pPr lvl="1" eaLnBrk="1" hangingPunct="1"/>
            <a:r>
              <a:rPr lang="en-US" altLang="en-US" sz="2000" dirty="0" err="1">
                <a:cs typeface="Times New Roman" panose="02020603050405020304" pitchFamily="18" charset="0"/>
              </a:rPr>
              <a:t>Cấu</a:t>
            </a:r>
            <a:r>
              <a:rPr lang="en-US" altLang="en-US" sz="2000" dirty="0">
                <a:cs typeface="Times New Roman" panose="02020603050405020304" pitchFamily="18" charset="0"/>
              </a:rPr>
              <a:t> </a:t>
            </a:r>
            <a:r>
              <a:rPr lang="en-US" altLang="en-US" sz="2000" dirty="0" err="1">
                <a:cs typeface="Times New Roman" panose="02020603050405020304" pitchFamily="18" charset="0"/>
              </a:rPr>
              <a:t>tạo</a:t>
            </a:r>
            <a:r>
              <a:rPr lang="en-US" altLang="en-US" sz="2000" dirty="0">
                <a:cs typeface="Times New Roman" panose="02020603050405020304" pitchFamily="18" charset="0"/>
              </a:rPr>
              <a:t> </a:t>
            </a:r>
            <a:r>
              <a:rPr lang="en-US" altLang="en-US" sz="2000" dirty="0" err="1">
                <a:cs typeface="Times New Roman" panose="02020603050405020304" pitchFamily="18" charset="0"/>
              </a:rPr>
              <a:t>mỗi</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a:t>
            </a:r>
          </a:p>
          <a:p>
            <a:pPr lvl="2" eaLnBrk="1" hangingPunct="1"/>
            <a:r>
              <a:rPr lang="en-US" altLang="en-US" sz="2000" dirty="0" err="1">
                <a:cs typeface="Times New Roman" panose="02020603050405020304" pitchFamily="18" charset="0"/>
              </a:rPr>
              <a:t>Trường</a:t>
            </a:r>
            <a:r>
              <a:rPr lang="en-US" altLang="en-US" sz="2000" dirty="0">
                <a:cs typeface="Times New Roman" panose="02020603050405020304" pitchFamily="18" charset="0"/>
              </a:rPr>
              <a:t> Info: </a:t>
            </a:r>
            <a:r>
              <a:rPr lang="en-US" altLang="en-US" sz="2000" dirty="0" err="1">
                <a:cs typeface="Times New Roman" panose="02020603050405020304" pitchFamily="18" charset="0"/>
              </a:rPr>
              <a:t>chứa</a:t>
            </a:r>
            <a:r>
              <a:rPr lang="en-US" altLang="en-US" sz="2000" dirty="0">
                <a:cs typeface="Times New Roman" panose="02020603050405020304" pitchFamily="18" charset="0"/>
              </a:rPr>
              <a:t> </a:t>
            </a:r>
            <a:r>
              <a:rPr lang="en-US" altLang="en-US" sz="2000" dirty="0" err="1">
                <a:cs typeface="Times New Roman" panose="02020603050405020304" pitchFamily="18" charset="0"/>
              </a:rPr>
              <a:t>thông</a:t>
            </a:r>
            <a:r>
              <a:rPr lang="en-US" altLang="en-US" sz="2000" dirty="0">
                <a:cs typeface="Times New Roman" panose="02020603050405020304" pitchFamily="18" charset="0"/>
              </a:rPr>
              <a:t> tin </a:t>
            </a:r>
            <a:r>
              <a:rPr lang="en-US" altLang="en-US" sz="2000" dirty="0" err="1">
                <a:cs typeface="Times New Roman" panose="02020603050405020304" pitchFamily="18" charset="0"/>
              </a:rPr>
              <a:t>về</a:t>
            </a:r>
            <a:r>
              <a:rPr lang="en-US" altLang="en-US" sz="2000" dirty="0">
                <a:cs typeface="Times New Roman" panose="02020603050405020304" pitchFamily="18" charset="0"/>
              </a:rPr>
              <a:t> </a:t>
            </a:r>
            <a:r>
              <a:rPr lang="en-US" altLang="en-US" sz="2000" dirty="0" err="1">
                <a:cs typeface="Times New Roman" panose="02020603050405020304" pitchFamily="18" charset="0"/>
              </a:rPr>
              <a:t>một</a:t>
            </a:r>
            <a:r>
              <a:rPr lang="en-US" altLang="en-US" sz="2000" dirty="0">
                <a:cs typeface="Times New Roman" panose="02020603050405020304" pitchFamily="18" charset="0"/>
              </a:rPr>
              <a:t> </a:t>
            </a:r>
            <a:r>
              <a:rPr lang="en-US" altLang="en-US" sz="2000" dirty="0" err="1">
                <a:cs typeface="Times New Roman" panose="02020603050405020304" pitchFamily="18" charset="0"/>
              </a:rPr>
              <a:t>phần</a:t>
            </a:r>
            <a:r>
              <a:rPr lang="en-US" altLang="en-US" sz="2000" dirty="0">
                <a:cs typeface="Times New Roman" panose="02020603050405020304" pitchFamily="18" charset="0"/>
              </a:rPr>
              <a:t> </a:t>
            </a:r>
            <a:r>
              <a:rPr lang="en-US" altLang="en-US" sz="2000" dirty="0" err="1">
                <a:cs typeface="Times New Roman" panose="02020603050405020304" pitchFamily="18" charset="0"/>
              </a:rPr>
              <a:t>tử</a:t>
            </a:r>
            <a:r>
              <a:rPr lang="en-US" altLang="en-US" sz="2000" dirty="0">
                <a:cs typeface="Times New Roman" panose="02020603050405020304" pitchFamily="18" charset="0"/>
              </a:rPr>
              <a:t>. </a:t>
            </a:r>
          </a:p>
          <a:p>
            <a:pPr lvl="2" eaLnBrk="1" hangingPunct="1"/>
            <a:r>
              <a:rPr lang="en-US" altLang="en-US" sz="2000" dirty="0" err="1">
                <a:cs typeface="Times New Roman" panose="02020603050405020304" pitchFamily="18" charset="0"/>
              </a:rPr>
              <a:t>Trường</a:t>
            </a:r>
            <a:r>
              <a:rPr lang="en-US" altLang="en-US" sz="2000" dirty="0">
                <a:cs typeface="Times New Roman" panose="02020603050405020304" pitchFamily="18" charset="0"/>
              </a:rPr>
              <a:t> LP, RP: </a:t>
            </a:r>
            <a:r>
              <a:rPr lang="en-US" altLang="en-US" sz="2000" dirty="0" err="1">
                <a:cs typeface="Times New Roman" panose="02020603050405020304" pitchFamily="18" charset="0"/>
              </a:rPr>
              <a:t>hai</a:t>
            </a:r>
            <a:r>
              <a:rPr lang="en-US" altLang="en-US" sz="2000" dirty="0">
                <a:cs typeface="Times New Roman" panose="02020603050405020304" pitchFamily="18" charset="0"/>
              </a:rPr>
              <a:t> con </a:t>
            </a:r>
            <a:r>
              <a:rPr lang="en-US" altLang="en-US" sz="2000" dirty="0" err="1">
                <a:cs typeface="Times New Roman" panose="02020603050405020304" pitchFamily="18" charset="0"/>
              </a:rPr>
              <a:t>trỏ</a:t>
            </a:r>
            <a:r>
              <a:rPr lang="en-US" altLang="en-US" sz="2000" dirty="0">
                <a:cs typeface="Times New Roman" panose="02020603050405020304" pitchFamily="18" charset="0"/>
              </a:rPr>
              <a:t> </a:t>
            </a:r>
            <a:r>
              <a:rPr lang="en-US" altLang="en-US" sz="2000" dirty="0" err="1">
                <a:cs typeface="Times New Roman" panose="02020603050405020304" pitchFamily="18" charset="0"/>
              </a:rPr>
              <a:t>sẽ</a:t>
            </a:r>
            <a:r>
              <a:rPr lang="en-US" altLang="en-US" sz="2000" dirty="0">
                <a:cs typeface="Times New Roman" panose="02020603050405020304" pitchFamily="18" charset="0"/>
              </a:rPr>
              <a:t> </a:t>
            </a:r>
            <a:r>
              <a:rPr lang="en-US" altLang="en-US" sz="2000" dirty="0" err="1">
                <a:cs typeface="Times New Roman" panose="02020603050405020304" pitchFamily="18" charset="0"/>
              </a:rPr>
              <a:t>trỏ</a:t>
            </a:r>
            <a:r>
              <a:rPr lang="en-US" altLang="en-US" sz="2000" dirty="0">
                <a:cs typeface="Times New Roman" panose="02020603050405020304" pitchFamily="18" charset="0"/>
              </a:rPr>
              <a:t> </a:t>
            </a:r>
            <a:r>
              <a:rPr lang="en-US" altLang="en-US" sz="2000" dirty="0" err="1">
                <a:cs typeface="Times New Roman" panose="02020603050405020304" pitchFamily="18" charset="0"/>
              </a:rPr>
              <a:t>vào</a:t>
            </a:r>
            <a:r>
              <a:rPr lang="en-US" altLang="en-US" sz="2000" dirty="0">
                <a:cs typeface="Times New Roman" panose="02020603050405020304" pitchFamily="18" charset="0"/>
              </a:rPr>
              <a:t> </a:t>
            </a:r>
            <a:r>
              <a:rPr lang="en-US" altLang="en-US" sz="2000" dirty="0" err="1">
                <a:cs typeface="Times New Roman" panose="02020603050405020304" pitchFamily="18" charset="0"/>
              </a:rPr>
              <a:t>hai</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con </a:t>
            </a:r>
            <a:r>
              <a:rPr lang="en-US" altLang="en-US" sz="2000" dirty="0" err="1">
                <a:cs typeface="Times New Roman" panose="02020603050405020304" pitchFamily="18" charset="0"/>
              </a:rPr>
              <a:t>trái</a:t>
            </a:r>
            <a:r>
              <a:rPr lang="en-US" altLang="en-US" sz="2000" dirty="0">
                <a:cs typeface="Times New Roman" panose="02020603050405020304" pitchFamily="18" charset="0"/>
              </a:rPr>
              <a:t> </a:t>
            </a:r>
            <a:r>
              <a:rPr lang="en-US" altLang="en-US" sz="2000" dirty="0" err="1">
                <a:cs typeface="Times New Roman" panose="02020603050405020304" pitchFamily="18" charset="0"/>
              </a:rPr>
              <a:t>và</a:t>
            </a:r>
            <a:r>
              <a:rPr lang="en-US" altLang="en-US" sz="2000" dirty="0">
                <a:cs typeface="Times New Roman" panose="02020603050405020304" pitchFamily="18" charset="0"/>
              </a:rPr>
              <a:t> con </a:t>
            </a:r>
            <a:r>
              <a:rPr lang="en-US" altLang="en-US" sz="2000" dirty="0" err="1">
                <a:cs typeface="Times New Roman" panose="02020603050405020304" pitchFamily="18" charset="0"/>
              </a:rPr>
              <a:t>phải</a:t>
            </a:r>
            <a:r>
              <a:rPr lang="en-US" altLang="en-US" sz="2000" dirty="0">
                <a:cs typeface="Times New Roman" panose="02020603050405020304" pitchFamily="18" charset="0"/>
              </a:rPr>
              <a:t>. </a:t>
            </a:r>
          </a:p>
          <a:p>
            <a:pPr lvl="2" eaLnBrk="1" hangingPunct="1"/>
            <a:r>
              <a:rPr lang="en-US" altLang="en-US" sz="2000" dirty="0" err="1">
                <a:cs typeface="Times New Roman" panose="02020603050405020304" pitchFamily="18" charset="0"/>
              </a:rPr>
              <a:t>Nếu</a:t>
            </a:r>
            <a:r>
              <a:rPr lang="en-US" altLang="en-US" sz="2000" dirty="0">
                <a:cs typeface="Times New Roman" panose="02020603050405020304" pitchFamily="18" charset="0"/>
              </a:rPr>
              <a:t> </a:t>
            </a:r>
            <a:r>
              <a:rPr lang="en-US" altLang="en-US" sz="2000" dirty="0" err="1">
                <a:cs typeface="Times New Roman" panose="02020603050405020304" pitchFamily="18" charset="0"/>
              </a:rPr>
              <a:t>không</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con </a:t>
            </a:r>
            <a:r>
              <a:rPr lang="en-US" altLang="en-US" sz="2000" dirty="0" err="1">
                <a:cs typeface="Times New Roman" panose="02020603050405020304" pitchFamily="18" charset="0"/>
              </a:rPr>
              <a:t>thì</a:t>
            </a:r>
            <a:r>
              <a:rPr lang="en-US" altLang="en-US" sz="2000" dirty="0">
                <a:cs typeface="Times New Roman" panose="02020603050405020304" pitchFamily="18" charset="0"/>
              </a:rPr>
              <a:t> </a:t>
            </a:r>
            <a:r>
              <a:rPr lang="en-US" altLang="en-US" sz="2000" dirty="0" err="1">
                <a:cs typeface="Times New Roman" panose="02020603050405020304" pitchFamily="18" charset="0"/>
              </a:rPr>
              <a:t>giá</a:t>
            </a:r>
            <a:r>
              <a:rPr lang="en-US" altLang="en-US" sz="2000" dirty="0">
                <a:cs typeface="Times New Roman" panose="02020603050405020304" pitchFamily="18" charset="0"/>
              </a:rPr>
              <a:t> </a:t>
            </a:r>
            <a:r>
              <a:rPr lang="en-US" altLang="en-US" sz="2000" dirty="0" err="1">
                <a:cs typeface="Times New Roman" panose="02020603050405020304" pitchFamily="18" charset="0"/>
              </a:rPr>
              <a:t>trị</a:t>
            </a:r>
            <a:r>
              <a:rPr lang="en-US" altLang="en-US" sz="2000" dirty="0">
                <a:cs typeface="Times New Roman" panose="02020603050405020304" pitchFamily="18" charset="0"/>
              </a:rPr>
              <a:t> con </a:t>
            </a:r>
            <a:r>
              <a:rPr lang="en-US" altLang="en-US" sz="2000" dirty="0" err="1">
                <a:cs typeface="Times New Roman" panose="02020603050405020304" pitchFamily="18" charset="0"/>
              </a:rPr>
              <a:t>trỏ</a:t>
            </a:r>
            <a:r>
              <a:rPr lang="en-US" altLang="en-US" sz="2000" dirty="0">
                <a:cs typeface="Times New Roman" panose="02020603050405020304" pitchFamily="18" charset="0"/>
              </a:rPr>
              <a:t> </a:t>
            </a:r>
            <a:r>
              <a:rPr lang="en-US" altLang="en-US" sz="2000" dirty="0" err="1">
                <a:cs typeface="Times New Roman" panose="02020603050405020304" pitchFamily="18" charset="0"/>
              </a:rPr>
              <a:t>tương</a:t>
            </a:r>
            <a:r>
              <a:rPr lang="en-US" altLang="en-US" sz="2000" dirty="0">
                <a:cs typeface="Times New Roman" panose="02020603050405020304" pitchFamily="18" charset="0"/>
              </a:rPr>
              <a:t> </a:t>
            </a:r>
            <a:r>
              <a:rPr lang="en-US" altLang="en-US" sz="2000" dirty="0" err="1">
                <a:cs typeface="Times New Roman" panose="02020603050405020304" pitchFamily="18" charset="0"/>
              </a:rPr>
              <a:t>ứng</a:t>
            </a:r>
            <a:r>
              <a:rPr lang="en-US" altLang="en-US" sz="2000" dirty="0">
                <a:cs typeface="Times New Roman" panose="02020603050405020304" pitchFamily="18" charset="0"/>
              </a:rPr>
              <a:t> </a:t>
            </a:r>
            <a:r>
              <a:rPr lang="en-US" altLang="en-US" sz="2000" dirty="0" err="1">
                <a:cs typeface="Times New Roman" panose="02020603050405020304" pitchFamily="18" charset="0"/>
              </a:rPr>
              <a:t>sẽ</a:t>
            </a:r>
            <a:r>
              <a:rPr lang="en-US" altLang="en-US" sz="2000" dirty="0">
                <a:cs typeface="Times New Roman" panose="02020603050405020304" pitchFamily="18" charset="0"/>
              </a:rPr>
              <a:t> </a:t>
            </a:r>
            <a:r>
              <a:rPr lang="en-US" altLang="en-US" sz="2000" dirty="0" err="1">
                <a:cs typeface="Times New Roman" panose="02020603050405020304" pitchFamily="18" charset="0"/>
              </a:rPr>
              <a:t>rỗng</a:t>
            </a:r>
            <a:r>
              <a:rPr lang="en-US" altLang="en-US" sz="2000" dirty="0">
                <a:cs typeface="Times New Roman" panose="02020603050405020304" pitchFamily="18" charset="0"/>
              </a:rPr>
              <a:t> (NULL)</a:t>
            </a:r>
          </a:p>
        </p:txBody>
      </p:sp>
      <p:grpSp>
        <p:nvGrpSpPr>
          <p:cNvPr id="31750" name="Group 46"/>
          <p:cNvGrpSpPr>
            <a:grpSpLocks/>
          </p:cNvGrpSpPr>
          <p:nvPr/>
        </p:nvGrpSpPr>
        <p:grpSpPr bwMode="auto">
          <a:xfrm>
            <a:off x="5448300" y="3848100"/>
            <a:ext cx="3009900" cy="952500"/>
            <a:chOff x="3240" y="2040"/>
            <a:chExt cx="1008" cy="288"/>
          </a:xfrm>
        </p:grpSpPr>
        <p:sp>
          <p:nvSpPr>
            <p:cNvPr id="31752" name="Text Box 7"/>
            <p:cNvSpPr txBox="1">
              <a:spLocks noChangeArrowheads="1"/>
            </p:cNvSpPr>
            <p:nvPr/>
          </p:nvSpPr>
          <p:spPr bwMode="auto">
            <a:xfrm>
              <a:off x="3600" y="2040"/>
              <a:ext cx="288" cy="102"/>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Info</a:t>
              </a:r>
            </a:p>
          </p:txBody>
        </p:sp>
        <p:sp>
          <p:nvSpPr>
            <p:cNvPr id="31753" name="Text Box 8"/>
            <p:cNvSpPr txBox="1">
              <a:spLocks noChangeArrowheads="1"/>
            </p:cNvSpPr>
            <p:nvPr/>
          </p:nvSpPr>
          <p:spPr bwMode="auto">
            <a:xfrm>
              <a:off x="3888" y="2040"/>
              <a:ext cx="288" cy="102"/>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RP</a:t>
              </a:r>
            </a:p>
          </p:txBody>
        </p:sp>
        <p:sp>
          <p:nvSpPr>
            <p:cNvPr id="31754" name="Text Box 9"/>
            <p:cNvSpPr txBox="1">
              <a:spLocks noChangeArrowheads="1"/>
            </p:cNvSpPr>
            <p:nvPr/>
          </p:nvSpPr>
          <p:spPr bwMode="auto">
            <a:xfrm>
              <a:off x="3312" y="2040"/>
              <a:ext cx="288" cy="102"/>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LP</a:t>
              </a:r>
            </a:p>
          </p:txBody>
        </p:sp>
        <p:sp>
          <p:nvSpPr>
            <p:cNvPr id="31755" name="Line 10"/>
            <p:cNvSpPr>
              <a:spLocks noChangeShapeType="1"/>
            </p:cNvSpPr>
            <p:nvPr/>
          </p:nvSpPr>
          <p:spPr bwMode="auto">
            <a:xfrm flipH="1">
              <a:off x="3240" y="2112"/>
              <a:ext cx="144" cy="216"/>
            </a:xfrm>
            <a:prstGeom prst="line">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756" name="Line 11"/>
            <p:cNvSpPr>
              <a:spLocks noChangeShapeType="1"/>
            </p:cNvSpPr>
            <p:nvPr/>
          </p:nvSpPr>
          <p:spPr bwMode="auto">
            <a:xfrm>
              <a:off x="4104" y="2112"/>
              <a:ext cx="144" cy="216"/>
            </a:xfrm>
            <a:prstGeom prst="line">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31751" name="Rectangle 47"/>
          <p:cNvSpPr>
            <a:spLocks noChangeArrowheads="1"/>
          </p:cNvSpPr>
          <p:nvPr/>
        </p:nvSpPr>
        <p:spPr bwMode="auto">
          <a:xfrm>
            <a:off x="1417412" y="3216275"/>
            <a:ext cx="3124200" cy="19383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eaLnBrk="0" hangingPunct="0">
              <a:defRPr sz="2400">
                <a:solidFill>
                  <a:schemeClr val="tx1"/>
                </a:solidFill>
                <a:latin typeface="Times New Roman" panose="02020603050405020304" pitchFamily="18" charset="0"/>
              </a:defRPr>
            </a:lvl1pPr>
            <a:lvl2pPr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114300" lvl="1" eaLnBrk="1" hangingPunct="1"/>
            <a:r>
              <a:rPr lang="en-US" altLang="en-US" sz="2000" b="1" dirty="0" err="1">
                <a:cs typeface="Times New Roman" panose="02020603050405020304" pitchFamily="18" charset="0"/>
              </a:rPr>
              <a:t>struct</a:t>
            </a:r>
            <a:r>
              <a:rPr lang="en-US" altLang="en-US" sz="2000" dirty="0">
                <a:cs typeface="Times New Roman" panose="02020603050405020304" pitchFamily="18" charset="0"/>
              </a:rPr>
              <a:t>  </a:t>
            </a:r>
            <a:r>
              <a:rPr lang="en-US" altLang="en-US" sz="2000" b="1" dirty="0">
                <a:cs typeface="Times New Roman" panose="02020603050405020304" pitchFamily="18" charset="0"/>
              </a:rPr>
              <a:t>Node</a:t>
            </a:r>
            <a:r>
              <a:rPr lang="en-US" altLang="en-US" sz="2000" dirty="0">
                <a:cs typeface="Times New Roman" panose="02020603050405020304" pitchFamily="18" charset="0"/>
              </a:rPr>
              <a:t>  {</a:t>
            </a:r>
          </a:p>
          <a:p>
            <a:pPr marL="114300" lvl="1" eaLnBrk="1" hangingPunct="1"/>
            <a:r>
              <a:rPr lang="en-US" altLang="en-US" sz="2000" dirty="0">
                <a:cs typeface="Times New Roman" panose="02020603050405020304" pitchFamily="18" charset="0"/>
              </a:rPr>
              <a:t>	type  Info;</a:t>
            </a:r>
          </a:p>
          <a:p>
            <a:pPr marL="114300" lvl="1"/>
            <a:r>
              <a:rPr lang="en-US" altLang="en-US" sz="2000" dirty="0">
                <a:cs typeface="Times New Roman" panose="02020603050405020304" pitchFamily="18" charset="0"/>
              </a:rPr>
              <a:t>	Node *LP, *RP;</a:t>
            </a:r>
          </a:p>
          <a:p>
            <a:pPr marL="114300" lvl="1"/>
            <a:r>
              <a:rPr lang="en-US" altLang="en-US" sz="2000" dirty="0">
                <a:cs typeface="Times New Roman" panose="02020603050405020304" pitchFamily="18" charset="0"/>
              </a:rPr>
              <a:t>};</a:t>
            </a:r>
          </a:p>
          <a:p>
            <a:pPr marL="114300" lvl="1"/>
            <a:endParaRPr lang="en-US" altLang="en-US" sz="2000" dirty="0">
              <a:cs typeface="Times New Roman" panose="02020603050405020304" pitchFamily="18" charset="0"/>
            </a:endParaRPr>
          </a:p>
          <a:p>
            <a:pPr marL="114300" lvl="1"/>
            <a:r>
              <a:rPr lang="en-US" altLang="en-US" sz="2000" dirty="0">
                <a:cs typeface="Times New Roman" panose="02020603050405020304" pitchFamily="18" charset="0"/>
              </a:rPr>
              <a:t> </a:t>
            </a:r>
            <a:r>
              <a:rPr lang="en-US" altLang="en-US" sz="2000" b="1" dirty="0" err="1">
                <a:cs typeface="Times New Roman" panose="02020603050405020304" pitchFamily="18" charset="0"/>
              </a:rPr>
              <a:t>typedef</a:t>
            </a:r>
            <a:r>
              <a:rPr lang="en-US" altLang="en-US" sz="2000" dirty="0">
                <a:cs typeface="Times New Roman" panose="02020603050405020304" pitchFamily="18" charset="0"/>
              </a:rPr>
              <a:t>  Node*  </a:t>
            </a:r>
            <a:r>
              <a:rPr lang="en-US" altLang="en-US" sz="2000" b="1" dirty="0" err="1">
                <a:cs typeface="Times New Roman" panose="02020603050405020304" pitchFamily="18" charset="0"/>
              </a:rPr>
              <a:t>PNode</a:t>
            </a:r>
            <a:r>
              <a:rPr lang="en-US" altLang="en-US" sz="2000" dirty="0">
                <a:cs typeface="Times New Roman" panose="02020603050405020304" pitchFamily="18" charset="0"/>
              </a:rPr>
              <a:t>;</a:t>
            </a:r>
            <a:endParaRPr lang="en-US" altLang="en-US" sz="2000" b="1" dirty="0"/>
          </a:p>
        </p:txBody>
      </p:sp>
    </p:spTree>
    <p:extLst>
      <p:ext uri="{BB962C8B-B14F-4D97-AF65-F5344CB8AC3E}">
        <p14:creationId xmlns:p14="http://schemas.microsoft.com/office/powerpoint/2010/main" val="1141739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2"/>
          <p:cNvSpPr>
            <a:spLocks noGrp="1" noChangeArrowheads="1"/>
          </p:cNvSpPr>
          <p:nvPr>
            <p:ph type="title"/>
          </p:nvPr>
        </p:nvSpPr>
        <p:spPr/>
        <p:txBody>
          <a:bodyPr/>
          <a:lstStyle/>
          <a:p>
            <a:pPr eaLnBrk="1" hangingPunct="1"/>
            <a:r>
              <a:rPr lang="en-US" altLang="en-US" dirty="0" err="1">
                <a:cs typeface="Times New Roman" panose="02020603050405020304" pitchFamily="18" charset="0"/>
              </a:rPr>
              <a:t>Cài</a:t>
            </a:r>
            <a:r>
              <a:rPr lang="en-US" altLang="en-US" dirty="0">
                <a:cs typeface="Times New Roman" panose="02020603050405020304" pitchFamily="18" charset="0"/>
              </a:rPr>
              <a:t> </a:t>
            </a:r>
            <a:r>
              <a:rPr lang="en-US" altLang="en-US" dirty="0" err="1">
                <a:cs typeface="Times New Roman" panose="02020603050405020304" pitchFamily="18" charset="0"/>
              </a:rPr>
              <a:t>đặt</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nhị</a:t>
            </a:r>
            <a:r>
              <a:rPr lang="en-US" altLang="en-US" dirty="0">
                <a:cs typeface="Times New Roman" panose="02020603050405020304" pitchFamily="18" charset="0"/>
              </a:rPr>
              <a:t> </a:t>
            </a:r>
            <a:r>
              <a:rPr lang="en-US" altLang="en-US" dirty="0" err="1">
                <a:cs typeface="Times New Roman" panose="02020603050405020304" pitchFamily="18" charset="0"/>
              </a:rPr>
              <a:t>phân</a:t>
            </a:r>
            <a:r>
              <a:rPr lang="en-US" altLang="en-US" dirty="0"/>
              <a:t> </a:t>
            </a:r>
          </a:p>
        </p:txBody>
      </p:sp>
      <p:sp>
        <p:nvSpPr>
          <p:cNvPr id="32773" name="Rectangle 3"/>
          <p:cNvSpPr>
            <a:spLocks noGrp="1" noChangeArrowheads="1"/>
          </p:cNvSpPr>
          <p:nvPr>
            <p:ph type="body" sz="quarter" idx="13"/>
          </p:nvPr>
        </p:nvSpPr>
        <p:spPr>
          <a:noFill/>
        </p:spPr>
        <p:txBody>
          <a:bodyPr>
            <a:normAutofit/>
          </a:bodyPr>
          <a:lstStyle/>
          <a:p>
            <a:pPr eaLnBrk="1" hangingPunct="1">
              <a:spcBef>
                <a:spcPct val="5000"/>
              </a:spcBef>
            </a:pPr>
            <a:r>
              <a:rPr lang="en-US" altLang="en-US" sz="2400" dirty="0" err="1">
                <a:cs typeface="Times New Roman" panose="02020603050405020304" pitchFamily="18" charset="0"/>
              </a:rPr>
              <a:t>Dùng</a:t>
            </a:r>
            <a:r>
              <a:rPr lang="en-US" altLang="en-US" sz="2400" dirty="0">
                <a:cs typeface="Times New Roman" panose="02020603050405020304" pitchFamily="18" charset="0"/>
              </a:rPr>
              <a:t> </a:t>
            </a:r>
            <a:r>
              <a:rPr lang="en-US" altLang="en-US" sz="2400" dirty="0" err="1">
                <a:cs typeface="Times New Roman" panose="02020603050405020304" pitchFamily="18" charset="0"/>
              </a:rPr>
              <a:t>cấu</a:t>
            </a:r>
            <a:r>
              <a:rPr lang="en-US" altLang="en-US" sz="2400" dirty="0">
                <a:cs typeface="Times New Roman" panose="02020603050405020304" pitchFamily="18" charset="0"/>
              </a:rPr>
              <a:t> </a:t>
            </a:r>
            <a:r>
              <a:rPr lang="en-US" altLang="en-US" sz="2400" dirty="0" err="1">
                <a:cs typeface="Times New Roman" panose="02020603050405020304" pitchFamily="18" charset="0"/>
              </a:rPr>
              <a:t>trúc</a:t>
            </a:r>
            <a:r>
              <a:rPr lang="en-US" altLang="en-US" sz="2400" dirty="0">
                <a:cs typeface="Times New Roman" panose="02020603050405020304" pitchFamily="18" charset="0"/>
              </a:rPr>
              <a:t> </a:t>
            </a:r>
            <a:r>
              <a:rPr lang="en-US" altLang="en-US" sz="2400" dirty="0" err="1">
                <a:cs typeface="Times New Roman" panose="02020603050405020304" pitchFamily="18" charset="0"/>
              </a:rPr>
              <a:t>móc</a:t>
            </a:r>
            <a:r>
              <a:rPr lang="en-US" altLang="en-US" sz="2400" dirty="0">
                <a:cs typeface="Times New Roman" panose="02020603050405020304" pitchFamily="18" charset="0"/>
              </a:rPr>
              <a:t> </a:t>
            </a:r>
            <a:r>
              <a:rPr lang="en-US" altLang="en-US" sz="2400" dirty="0" err="1">
                <a:cs typeface="Times New Roman" panose="02020603050405020304" pitchFamily="18" charset="0"/>
              </a:rPr>
              <a:t>nối</a:t>
            </a:r>
            <a:endParaRPr lang="en-US" altLang="en-US" sz="2400" dirty="0">
              <a:cs typeface="Times New Roman" panose="02020603050405020304" pitchFamily="18" charset="0"/>
            </a:endParaRPr>
          </a:p>
          <a:p>
            <a:pPr lvl="1" eaLnBrk="1" hangingPunct="1">
              <a:spcBef>
                <a:spcPct val="5000"/>
              </a:spcBef>
            </a:pPr>
            <a:r>
              <a:rPr lang="en-US" altLang="en-US" sz="2000" dirty="0" err="1">
                <a:cs typeface="Times New Roman" panose="02020603050405020304" pitchFamily="18" charset="0"/>
              </a:rPr>
              <a:t>Cấu</a:t>
            </a:r>
            <a:r>
              <a:rPr lang="en-US" altLang="en-US" sz="2000" dirty="0">
                <a:cs typeface="Times New Roman" panose="02020603050405020304" pitchFamily="18" charset="0"/>
              </a:rPr>
              <a:t> </a:t>
            </a:r>
            <a:r>
              <a:rPr lang="en-US" altLang="en-US" sz="2000" dirty="0" err="1">
                <a:cs typeface="Times New Roman" panose="02020603050405020304" pitchFamily="18" charset="0"/>
              </a:rPr>
              <a:t>trúc</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a:t>
            </a:r>
          </a:p>
          <a:p>
            <a:pPr lvl="2" eaLnBrk="1" hangingPunct="1">
              <a:spcBef>
                <a:spcPct val="5000"/>
              </a:spcBef>
            </a:pPr>
            <a:r>
              <a:rPr lang="en-US" altLang="en-US" sz="2000" dirty="0" err="1">
                <a:cs typeface="Times New Roman" panose="02020603050405020304" pitchFamily="18" charset="0"/>
              </a:rPr>
              <a:t>Ít</a:t>
            </a:r>
            <a:r>
              <a:rPr lang="en-US" altLang="en-US" sz="2000" dirty="0">
                <a:cs typeface="Times New Roman" panose="02020603050405020304" pitchFamily="18" charset="0"/>
              </a:rPr>
              <a:t> </a:t>
            </a:r>
            <a:r>
              <a:rPr lang="en-US" altLang="en-US" sz="2000" dirty="0" err="1">
                <a:cs typeface="Times New Roman" panose="02020603050405020304" pitchFamily="18" charset="0"/>
              </a:rPr>
              <a:t>nhất</a:t>
            </a:r>
            <a:r>
              <a:rPr lang="en-US" altLang="en-US" sz="2000" dirty="0">
                <a:cs typeface="Times New Roman" panose="02020603050405020304" pitchFamily="18" charset="0"/>
              </a:rPr>
              <a:t> </a:t>
            </a:r>
            <a:r>
              <a:rPr lang="en-US" altLang="en-US" sz="2000" dirty="0" err="1">
                <a:cs typeface="Times New Roman" panose="02020603050405020304" pitchFamily="18" charset="0"/>
              </a:rPr>
              <a:t>một</a:t>
            </a:r>
            <a:r>
              <a:rPr lang="en-US" altLang="en-US" sz="2000" dirty="0">
                <a:cs typeface="Times New Roman" panose="02020603050405020304" pitchFamily="18" charset="0"/>
              </a:rPr>
              <a:t> con </a:t>
            </a:r>
            <a:r>
              <a:rPr lang="en-US" altLang="en-US" sz="2000" dirty="0" err="1">
                <a:cs typeface="Times New Roman" panose="02020603050405020304" pitchFamily="18" charset="0"/>
              </a:rPr>
              <a:t>trỏ</a:t>
            </a:r>
            <a:r>
              <a:rPr lang="en-US" altLang="en-US" sz="2000" dirty="0">
                <a:cs typeface="Times New Roman" panose="02020603050405020304" pitchFamily="18" charset="0"/>
              </a:rPr>
              <a:t> T </a:t>
            </a:r>
            <a:r>
              <a:rPr lang="en-US" altLang="en-US" sz="2000" dirty="0" err="1">
                <a:cs typeface="Times New Roman" panose="02020603050405020304" pitchFamily="18" charset="0"/>
              </a:rPr>
              <a:t>trỏ</a:t>
            </a:r>
            <a:r>
              <a:rPr lang="en-US" altLang="en-US" sz="2000" dirty="0">
                <a:cs typeface="Times New Roman" panose="02020603050405020304" pitchFamily="18" charset="0"/>
              </a:rPr>
              <a:t> </a:t>
            </a:r>
            <a:r>
              <a:rPr lang="en-US" altLang="en-US" sz="2000" dirty="0" err="1">
                <a:cs typeface="Times New Roman" panose="02020603050405020304" pitchFamily="18" charset="0"/>
              </a:rPr>
              <a:t>vào</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gốc</a:t>
            </a:r>
            <a:r>
              <a:rPr lang="en-US" altLang="en-US" sz="2000" dirty="0">
                <a:cs typeface="Times New Roman" panose="02020603050405020304" pitchFamily="18" charset="0"/>
              </a:rPr>
              <a:t>: </a:t>
            </a:r>
            <a:r>
              <a:rPr lang="en-US" altLang="en-US" sz="2000" dirty="0" err="1">
                <a:cs typeface="Times New Roman" panose="02020603050405020304" pitchFamily="18" charset="0"/>
              </a:rPr>
              <a:t>đại</a:t>
            </a:r>
            <a:r>
              <a:rPr lang="en-US" altLang="en-US" sz="2000" dirty="0">
                <a:cs typeface="Times New Roman" panose="02020603050405020304" pitchFamily="18" charset="0"/>
              </a:rPr>
              <a:t> </a:t>
            </a:r>
            <a:r>
              <a:rPr lang="en-US" altLang="en-US" sz="2000" dirty="0" err="1">
                <a:cs typeface="Times New Roman" panose="02020603050405020304" pitchFamily="18" charset="0"/>
              </a:rPr>
              <a:t>diện</a:t>
            </a:r>
            <a:r>
              <a:rPr lang="en-US" altLang="en-US" sz="2000" dirty="0">
                <a:cs typeface="Times New Roman" panose="02020603050405020304" pitchFamily="18" charset="0"/>
              </a:rPr>
              <a:t> </a:t>
            </a:r>
            <a:r>
              <a:rPr lang="en-US" altLang="en-US" sz="2000" dirty="0" err="1">
                <a:cs typeface="Times New Roman" panose="02020603050405020304" pitchFamily="18" charset="0"/>
              </a:rPr>
              <a:t>cho</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điểm</a:t>
            </a:r>
            <a:r>
              <a:rPr lang="en-US" altLang="en-US" sz="2000" dirty="0">
                <a:cs typeface="Times New Roman" panose="02020603050405020304" pitchFamily="18" charset="0"/>
              </a:rPr>
              <a:t> </a:t>
            </a:r>
            <a:r>
              <a:rPr lang="en-US" altLang="en-US" sz="2000" dirty="0" err="1">
                <a:cs typeface="Times New Roman" panose="02020603050405020304" pitchFamily="18" charset="0"/>
              </a:rPr>
              <a:t>truy</a:t>
            </a:r>
            <a:r>
              <a:rPr lang="en-US" altLang="en-US" sz="2000" dirty="0">
                <a:cs typeface="Times New Roman" panose="02020603050405020304" pitchFamily="18" charset="0"/>
              </a:rPr>
              <a:t> </a:t>
            </a:r>
            <a:r>
              <a:rPr lang="en-US" altLang="en-US" sz="2000" dirty="0" err="1">
                <a:cs typeface="Times New Roman" panose="02020603050405020304" pitchFamily="18" charset="0"/>
              </a:rPr>
              <a:t>nhập</a:t>
            </a:r>
            <a:r>
              <a:rPr lang="en-US" altLang="en-US" sz="2000" dirty="0">
                <a:cs typeface="Times New Roman" panose="02020603050405020304" pitchFamily="18" charset="0"/>
              </a:rPr>
              <a:t> </a:t>
            </a:r>
            <a:r>
              <a:rPr lang="en-US" altLang="en-US" sz="2000" dirty="0" err="1">
                <a:cs typeface="Times New Roman" panose="02020603050405020304" pitchFamily="18" charset="0"/>
              </a:rPr>
              <a:t>vào</a:t>
            </a:r>
            <a:r>
              <a:rPr lang="en-US" altLang="en-US" sz="2000" dirty="0">
                <a:cs typeface="Times New Roman" panose="02020603050405020304" pitchFamily="18" charset="0"/>
              </a:rPr>
              <a:t> </a:t>
            </a: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khác</a:t>
            </a:r>
            <a:r>
              <a:rPr lang="en-US" altLang="en-US" sz="2000" dirty="0">
                <a:cs typeface="Times New Roman" panose="02020603050405020304" pitchFamily="18" charset="0"/>
              </a:rPr>
              <a:t> </a:t>
            </a:r>
            <a:r>
              <a:rPr lang="en-US" altLang="en-US" sz="2000" dirty="0" err="1">
                <a:cs typeface="Times New Roman" panose="02020603050405020304" pitchFamily="18" charset="0"/>
              </a:rPr>
              <a:t>trong</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p>
          <a:p>
            <a:pPr lvl="2" eaLnBrk="1" hangingPunct="1">
              <a:spcBef>
                <a:spcPct val="5000"/>
              </a:spcBef>
            </a:pPr>
            <a:r>
              <a:rPr lang="en-US" altLang="en-US" sz="2000" dirty="0" err="1">
                <a:cs typeface="Times New Roman" panose="02020603050405020304" pitchFamily="18" charset="0"/>
              </a:rPr>
              <a:t>Khi</a:t>
            </a:r>
            <a:r>
              <a:rPr lang="en-US" altLang="en-US" sz="2000" dirty="0">
                <a:cs typeface="Times New Roman" panose="02020603050405020304" pitchFamily="18" charset="0"/>
              </a:rPr>
              <a:t> </a:t>
            </a:r>
            <a:r>
              <a:rPr lang="en-US" altLang="en-US" sz="2000" dirty="0" err="1">
                <a:cs typeface="Times New Roman" panose="02020603050405020304" pitchFamily="18" charset="0"/>
              </a:rPr>
              <a:t>kích</a:t>
            </a:r>
            <a:r>
              <a:rPr lang="en-US" altLang="en-US" sz="2000" dirty="0">
                <a:cs typeface="Times New Roman" panose="02020603050405020304" pitchFamily="18" charset="0"/>
              </a:rPr>
              <a:t> </a:t>
            </a:r>
            <a:r>
              <a:rPr lang="en-US" altLang="en-US" sz="2000" dirty="0" err="1">
                <a:cs typeface="Times New Roman" panose="02020603050405020304" pitchFamily="18" charset="0"/>
              </a:rPr>
              <a:t>thước</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là</a:t>
            </a:r>
            <a:r>
              <a:rPr lang="en-US" altLang="en-US" sz="2000" dirty="0">
                <a:cs typeface="Times New Roman" panose="02020603050405020304" pitchFamily="18" charset="0"/>
              </a:rPr>
              <a:t> N </a:t>
            </a:r>
            <a:r>
              <a:rPr lang="en-US" altLang="en-US" sz="2000" dirty="0" err="1">
                <a:cs typeface="Times New Roman" panose="02020603050405020304" pitchFamily="18" charset="0"/>
              </a:rPr>
              <a:t>thì</a:t>
            </a:r>
            <a:r>
              <a:rPr lang="en-US" altLang="en-US" sz="2000" dirty="0">
                <a:cs typeface="Times New Roman" panose="02020603050405020304" pitchFamily="18" charset="0"/>
              </a:rPr>
              <a:t> </a:t>
            </a:r>
            <a:r>
              <a:rPr lang="en-US" altLang="en-US" sz="2000" dirty="0" err="1">
                <a:cs typeface="Times New Roman" panose="02020603050405020304" pitchFamily="18" charset="0"/>
              </a:rPr>
              <a:t>sẽ</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N+1 con </a:t>
            </a:r>
            <a:r>
              <a:rPr lang="en-US" altLang="en-US" sz="2000" dirty="0" err="1">
                <a:cs typeface="Times New Roman" panose="02020603050405020304" pitchFamily="18" charset="0"/>
              </a:rPr>
              <a:t>trỏ</a:t>
            </a:r>
            <a:r>
              <a:rPr lang="en-US" altLang="en-US" sz="2000" dirty="0">
                <a:cs typeface="Times New Roman" panose="02020603050405020304" pitchFamily="18" charset="0"/>
              </a:rPr>
              <a:t> </a:t>
            </a:r>
            <a:r>
              <a:rPr lang="en-US" altLang="en-US" sz="2000" dirty="0" err="1">
                <a:cs typeface="Times New Roman" panose="02020603050405020304" pitchFamily="18" charset="0"/>
              </a:rPr>
              <a:t>rỗng</a:t>
            </a:r>
            <a:r>
              <a:rPr lang="en-US" altLang="en-US" sz="2000" dirty="0">
                <a:cs typeface="Times New Roman" panose="02020603050405020304" pitchFamily="18" charset="0"/>
              </a:rPr>
              <a:t>. </a:t>
            </a:r>
          </a:p>
          <a:p>
            <a:pPr lvl="2" eaLnBrk="1" hangingPunct="1">
              <a:spcBef>
                <a:spcPct val="5000"/>
              </a:spcBef>
            </a:pPr>
            <a:r>
              <a:rPr lang="vi-VN" altLang="en-US" sz="2000" dirty="0">
                <a:cs typeface="Times New Roman" panose="02020603050405020304" pitchFamily="18" charset="0"/>
              </a:rPr>
              <a:t>chỉ có một chiều truy nhập từ nút cha xuống nút con mà không có chiều</a:t>
            </a:r>
            <a:r>
              <a:rPr lang="en-US" altLang="en-US" sz="2000" dirty="0">
                <a:cs typeface="Times New Roman" panose="02020603050405020304" pitchFamily="18" charset="0"/>
              </a:rPr>
              <a:t> </a:t>
            </a:r>
            <a:r>
              <a:rPr lang="vi-VN" altLang="en-US" sz="2000" dirty="0">
                <a:cs typeface="Times New Roman" panose="02020603050405020304" pitchFamily="18" charset="0"/>
              </a:rPr>
              <a:t>ngược lại</a:t>
            </a:r>
            <a:endParaRPr lang="en-US" altLang="en-US" sz="2000" dirty="0">
              <a:cs typeface="Times New Roman" panose="02020603050405020304" pitchFamily="18" charset="0"/>
            </a:endParaRPr>
          </a:p>
        </p:txBody>
      </p:sp>
      <p:grpSp>
        <p:nvGrpSpPr>
          <p:cNvPr id="32774" name="Group 46"/>
          <p:cNvGrpSpPr>
            <a:grpSpLocks/>
          </p:cNvGrpSpPr>
          <p:nvPr/>
        </p:nvGrpSpPr>
        <p:grpSpPr bwMode="auto">
          <a:xfrm>
            <a:off x="5308600" y="3581400"/>
            <a:ext cx="3619500" cy="2163763"/>
            <a:chOff x="2664" y="2265"/>
            <a:chExt cx="1584" cy="938"/>
          </a:xfrm>
        </p:grpSpPr>
        <p:sp>
          <p:nvSpPr>
            <p:cNvPr id="32776" name="Text Box 6"/>
            <p:cNvSpPr txBox="1">
              <a:spLocks noChangeArrowheads="1"/>
            </p:cNvSpPr>
            <p:nvPr/>
          </p:nvSpPr>
          <p:spPr bwMode="auto">
            <a:xfrm>
              <a:off x="3672" y="2265"/>
              <a:ext cx="144" cy="1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T</a:t>
              </a:r>
            </a:p>
          </p:txBody>
        </p:sp>
        <p:sp>
          <p:nvSpPr>
            <p:cNvPr id="32777" name="Text Box 12"/>
            <p:cNvSpPr txBox="1">
              <a:spLocks noChangeArrowheads="1"/>
            </p:cNvSpPr>
            <p:nvPr/>
          </p:nvSpPr>
          <p:spPr bwMode="auto">
            <a:xfrm>
              <a:off x="3600" y="2481"/>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1</a:t>
              </a:r>
            </a:p>
          </p:txBody>
        </p:sp>
        <p:sp>
          <p:nvSpPr>
            <p:cNvPr id="32778" name="Text Box 13"/>
            <p:cNvSpPr txBox="1">
              <a:spLocks noChangeArrowheads="1"/>
            </p:cNvSpPr>
            <p:nvPr/>
          </p:nvSpPr>
          <p:spPr bwMode="auto">
            <a:xfrm>
              <a:off x="3456" y="2481"/>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32779" name="Line 14"/>
            <p:cNvSpPr>
              <a:spLocks noChangeShapeType="1"/>
            </p:cNvSpPr>
            <p:nvPr/>
          </p:nvSpPr>
          <p:spPr bwMode="auto">
            <a:xfrm flipH="1">
              <a:off x="3384" y="2553"/>
              <a:ext cx="144" cy="216"/>
            </a:xfrm>
            <a:prstGeom prst="line">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780" name="Text Box 15"/>
            <p:cNvSpPr txBox="1">
              <a:spLocks noChangeArrowheads="1"/>
            </p:cNvSpPr>
            <p:nvPr/>
          </p:nvSpPr>
          <p:spPr bwMode="auto">
            <a:xfrm>
              <a:off x="3744" y="2481"/>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32781" name="Line 16"/>
            <p:cNvSpPr>
              <a:spLocks noChangeShapeType="1"/>
            </p:cNvSpPr>
            <p:nvPr/>
          </p:nvSpPr>
          <p:spPr bwMode="auto">
            <a:xfrm>
              <a:off x="3816" y="2553"/>
              <a:ext cx="144" cy="216"/>
            </a:xfrm>
            <a:prstGeom prst="line">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32782" name="Group 17"/>
            <p:cNvGrpSpPr>
              <a:grpSpLocks/>
            </p:cNvGrpSpPr>
            <p:nvPr/>
          </p:nvGrpSpPr>
          <p:grpSpPr bwMode="auto">
            <a:xfrm>
              <a:off x="2952" y="2769"/>
              <a:ext cx="576" cy="288"/>
              <a:chOff x="6714" y="3084"/>
              <a:chExt cx="1200" cy="617"/>
            </a:xfrm>
          </p:grpSpPr>
          <p:sp>
            <p:nvSpPr>
              <p:cNvPr id="32803" name="Text Box 18"/>
              <p:cNvSpPr txBox="1">
                <a:spLocks noChangeArrowheads="1"/>
              </p:cNvSpPr>
              <p:nvPr/>
            </p:nvSpPr>
            <p:spPr bwMode="auto">
              <a:xfrm>
                <a:off x="7164" y="3084"/>
                <a:ext cx="300" cy="313"/>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2</a:t>
                </a:r>
              </a:p>
            </p:txBody>
          </p:sp>
          <p:sp>
            <p:nvSpPr>
              <p:cNvPr id="32804" name="Text Box 19"/>
              <p:cNvSpPr txBox="1">
                <a:spLocks noChangeArrowheads="1"/>
              </p:cNvSpPr>
              <p:nvPr/>
            </p:nvSpPr>
            <p:spPr bwMode="auto">
              <a:xfrm>
                <a:off x="6864" y="3084"/>
                <a:ext cx="300" cy="313"/>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32805" name="Line 20"/>
              <p:cNvSpPr>
                <a:spLocks noChangeShapeType="1"/>
              </p:cNvSpPr>
              <p:nvPr/>
            </p:nvSpPr>
            <p:spPr bwMode="auto">
              <a:xfrm flipH="1">
                <a:off x="6714" y="3238"/>
                <a:ext cx="300" cy="463"/>
              </a:xfrm>
              <a:prstGeom prst="line">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806" name="Text Box 21"/>
              <p:cNvSpPr txBox="1">
                <a:spLocks noChangeArrowheads="1"/>
              </p:cNvSpPr>
              <p:nvPr/>
            </p:nvSpPr>
            <p:spPr bwMode="auto">
              <a:xfrm>
                <a:off x="7464" y="3084"/>
                <a:ext cx="300" cy="313"/>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32807" name="Line 22"/>
              <p:cNvSpPr>
                <a:spLocks noChangeShapeType="1"/>
              </p:cNvSpPr>
              <p:nvPr/>
            </p:nvSpPr>
            <p:spPr bwMode="auto">
              <a:xfrm>
                <a:off x="7614" y="3238"/>
                <a:ext cx="300" cy="463"/>
              </a:xfrm>
              <a:prstGeom prst="line">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32783" name="Text Box 23"/>
            <p:cNvSpPr txBox="1">
              <a:spLocks noChangeArrowheads="1"/>
            </p:cNvSpPr>
            <p:nvPr/>
          </p:nvSpPr>
          <p:spPr bwMode="auto">
            <a:xfrm>
              <a:off x="3960" y="2769"/>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3</a:t>
              </a:r>
            </a:p>
          </p:txBody>
        </p:sp>
        <p:sp>
          <p:nvSpPr>
            <p:cNvPr id="32784" name="Text Box 24"/>
            <p:cNvSpPr txBox="1">
              <a:spLocks noChangeArrowheads="1"/>
            </p:cNvSpPr>
            <p:nvPr/>
          </p:nvSpPr>
          <p:spPr bwMode="auto">
            <a:xfrm>
              <a:off x="3816" y="2769"/>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32785" name="Line 25"/>
            <p:cNvSpPr>
              <a:spLocks noChangeShapeType="1"/>
            </p:cNvSpPr>
            <p:nvPr/>
          </p:nvSpPr>
          <p:spPr bwMode="auto">
            <a:xfrm flipH="1">
              <a:off x="3744" y="2841"/>
              <a:ext cx="144" cy="216"/>
            </a:xfrm>
            <a:prstGeom prst="line">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786" name="Text Box 26"/>
            <p:cNvSpPr txBox="1">
              <a:spLocks noChangeArrowheads="1"/>
            </p:cNvSpPr>
            <p:nvPr/>
          </p:nvSpPr>
          <p:spPr bwMode="auto">
            <a:xfrm>
              <a:off x="4104" y="2769"/>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32787" name="Text Box 27"/>
            <p:cNvSpPr txBox="1">
              <a:spLocks noChangeArrowheads="1"/>
            </p:cNvSpPr>
            <p:nvPr/>
          </p:nvSpPr>
          <p:spPr bwMode="auto">
            <a:xfrm>
              <a:off x="2808"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4</a:t>
              </a:r>
            </a:p>
          </p:txBody>
        </p:sp>
        <p:sp>
          <p:nvSpPr>
            <p:cNvPr id="32788" name="Text Box 28"/>
            <p:cNvSpPr txBox="1">
              <a:spLocks noChangeArrowheads="1"/>
            </p:cNvSpPr>
            <p:nvPr/>
          </p:nvSpPr>
          <p:spPr bwMode="auto">
            <a:xfrm>
              <a:off x="2664"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32789" name="Text Box 29"/>
            <p:cNvSpPr txBox="1">
              <a:spLocks noChangeArrowheads="1"/>
            </p:cNvSpPr>
            <p:nvPr/>
          </p:nvSpPr>
          <p:spPr bwMode="auto">
            <a:xfrm>
              <a:off x="2952"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32790" name="Text Box 30"/>
            <p:cNvSpPr txBox="1">
              <a:spLocks noChangeArrowheads="1"/>
            </p:cNvSpPr>
            <p:nvPr/>
          </p:nvSpPr>
          <p:spPr bwMode="auto">
            <a:xfrm>
              <a:off x="3312"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5</a:t>
              </a:r>
            </a:p>
          </p:txBody>
        </p:sp>
        <p:sp>
          <p:nvSpPr>
            <p:cNvPr id="32791" name="Text Box 31"/>
            <p:cNvSpPr txBox="1">
              <a:spLocks noChangeArrowheads="1"/>
            </p:cNvSpPr>
            <p:nvPr/>
          </p:nvSpPr>
          <p:spPr bwMode="auto">
            <a:xfrm>
              <a:off x="3168"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32792" name="Text Box 32"/>
            <p:cNvSpPr txBox="1">
              <a:spLocks noChangeArrowheads="1"/>
            </p:cNvSpPr>
            <p:nvPr/>
          </p:nvSpPr>
          <p:spPr bwMode="auto">
            <a:xfrm>
              <a:off x="3456"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32793" name="Text Box 33"/>
            <p:cNvSpPr txBox="1">
              <a:spLocks noChangeArrowheads="1"/>
            </p:cNvSpPr>
            <p:nvPr/>
          </p:nvSpPr>
          <p:spPr bwMode="auto">
            <a:xfrm>
              <a:off x="3816"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6</a:t>
              </a:r>
            </a:p>
          </p:txBody>
        </p:sp>
        <p:sp>
          <p:nvSpPr>
            <p:cNvPr id="32794" name="Text Box 34"/>
            <p:cNvSpPr txBox="1">
              <a:spLocks noChangeArrowheads="1"/>
            </p:cNvSpPr>
            <p:nvPr/>
          </p:nvSpPr>
          <p:spPr bwMode="auto">
            <a:xfrm>
              <a:off x="3672"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32795" name="Text Box 35"/>
            <p:cNvSpPr txBox="1">
              <a:spLocks noChangeArrowheads="1"/>
            </p:cNvSpPr>
            <p:nvPr/>
          </p:nvSpPr>
          <p:spPr bwMode="auto">
            <a:xfrm>
              <a:off x="3960"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32796" name="Line 36"/>
            <p:cNvSpPr>
              <a:spLocks noChangeShapeType="1"/>
            </p:cNvSpPr>
            <p:nvPr/>
          </p:nvSpPr>
          <p:spPr bwMode="auto">
            <a:xfrm flipH="1">
              <a:off x="3960" y="3057"/>
              <a:ext cx="144"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97" name="Line 37"/>
            <p:cNvSpPr>
              <a:spLocks noChangeShapeType="1"/>
            </p:cNvSpPr>
            <p:nvPr/>
          </p:nvSpPr>
          <p:spPr bwMode="auto">
            <a:xfrm>
              <a:off x="3672" y="2337"/>
              <a:ext cx="0" cy="143"/>
            </a:xfrm>
            <a:prstGeom prst="line">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798" name="Line 38"/>
            <p:cNvSpPr>
              <a:spLocks noChangeShapeType="1"/>
            </p:cNvSpPr>
            <p:nvPr/>
          </p:nvSpPr>
          <p:spPr bwMode="auto">
            <a:xfrm flipH="1">
              <a:off x="2664" y="3056"/>
              <a:ext cx="144"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99" name="Line 39"/>
            <p:cNvSpPr>
              <a:spLocks noChangeShapeType="1"/>
            </p:cNvSpPr>
            <p:nvPr/>
          </p:nvSpPr>
          <p:spPr bwMode="auto">
            <a:xfrm flipH="1">
              <a:off x="2952" y="3056"/>
              <a:ext cx="144"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00" name="Line 40"/>
            <p:cNvSpPr>
              <a:spLocks noChangeShapeType="1"/>
            </p:cNvSpPr>
            <p:nvPr/>
          </p:nvSpPr>
          <p:spPr bwMode="auto">
            <a:xfrm flipH="1">
              <a:off x="3168" y="3056"/>
              <a:ext cx="144"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01" name="Line 41"/>
            <p:cNvSpPr>
              <a:spLocks noChangeShapeType="1"/>
            </p:cNvSpPr>
            <p:nvPr/>
          </p:nvSpPr>
          <p:spPr bwMode="auto">
            <a:xfrm flipH="1">
              <a:off x="3456" y="3056"/>
              <a:ext cx="144"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02" name="Line 42"/>
            <p:cNvSpPr>
              <a:spLocks noChangeShapeType="1"/>
            </p:cNvSpPr>
            <p:nvPr/>
          </p:nvSpPr>
          <p:spPr bwMode="auto">
            <a:xfrm flipH="1">
              <a:off x="4104" y="2768"/>
              <a:ext cx="144"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2775" name="Rectangle 47"/>
          <p:cNvSpPr>
            <a:spLocks noChangeArrowheads="1"/>
          </p:cNvSpPr>
          <p:nvPr/>
        </p:nvSpPr>
        <p:spPr bwMode="auto">
          <a:xfrm>
            <a:off x="277667" y="3847358"/>
            <a:ext cx="5543550" cy="1631216"/>
          </a:xfrm>
          <a:prstGeom prst="rect">
            <a:avLst/>
          </a:prstGeom>
          <a:noFill/>
          <a:ln w="9525">
            <a:noFill/>
            <a:miter lim="800000"/>
            <a:headEnd/>
            <a:tailEnd/>
          </a:ln>
        </p:spPr>
        <p:txBody>
          <a:bodyPr wrap="square">
            <a:spAutoFit/>
          </a:bodyPr>
          <a:lstStyle>
            <a:lvl1pPr marL="342900" indent="-342900" eaLnBrk="0" hangingPunct="0">
              <a:defRPr sz="2400">
                <a:solidFill>
                  <a:schemeClr val="tx1"/>
                </a:solidFill>
                <a:latin typeface="Times New Roman" panose="02020603050405020304" pitchFamily="18" charset="0"/>
              </a:defRPr>
            </a:lvl1pPr>
            <a:lvl2pPr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lvl="1" eaLnBrk="1" hangingPunct="1"/>
            <a:r>
              <a:rPr lang="en-US" altLang="en-US" sz="2000" dirty="0" err="1">
                <a:cs typeface="Times New Roman" panose="02020603050405020304" pitchFamily="18" charset="0"/>
              </a:rPr>
              <a:t>Cách</a:t>
            </a:r>
            <a:r>
              <a:rPr lang="en-US" altLang="en-US" sz="2000" dirty="0">
                <a:cs typeface="Times New Roman" panose="02020603050405020304" pitchFamily="18" charset="0"/>
              </a:rPr>
              <a:t> 1:   </a:t>
            </a:r>
            <a:r>
              <a:rPr lang="en-US" altLang="en-US" sz="2000" dirty="0" err="1">
                <a:cs typeface="Times New Roman" panose="02020603050405020304" pitchFamily="18" charset="0"/>
              </a:rPr>
              <a:t>typedef</a:t>
            </a:r>
            <a:r>
              <a:rPr lang="en-US" altLang="en-US" sz="2000" dirty="0">
                <a:cs typeface="Times New Roman" panose="02020603050405020304" pitchFamily="18" charset="0"/>
              </a:rPr>
              <a:t>  </a:t>
            </a:r>
            <a:r>
              <a:rPr lang="en-US" altLang="en-US" sz="2000" dirty="0" err="1">
                <a:cs typeface="Times New Roman" panose="02020603050405020304" pitchFamily="18" charset="0"/>
              </a:rPr>
              <a:t>PNode</a:t>
            </a:r>
            <a:r>
              <a:rPr lang="en-US" altLang="en-US" sz="2000" dirty="0">
                <a:cs typeface="Times New Roman" panose="02020603050405020304" pitchFamily="18" charset="0"/>
              </a:rPr>
              <a:t>  </a:t>
            </a:r>
            <a:r>
              <a:rPr lang="en-US" altLang="en-US" sz="2000" b="1" dirty="0" err="1">
                <a:cs typeface="Times New Roman" panose="02020603050405020304" pitchFamily="18" charset="0"/>
              </a:rPr>
              <a:t>BinaryTree</a:t>
            </a:r>
            <a:r>
              <a:rPr lang="en-US" altLang="en-US" sz="2000" dirty="0">
                <a:cs typeface="Times New Roman" panose="02020603050405020304" pitchFamily="18" charset="0"/>
              </a:rPr>
              <a:t>;</a:t>
            </a:r>
          </a:p>
          <a:p>
            <a:pPr marL="0" lvl="1" eaLnBrk="1" hangingPunct="1"/>
            <a:r>
              <a:rPr lang="en-US" altLang="en-US" sz="2000" dirty="0" err="1">
                <a:cs typeface="Times New Roman" panose="02020603050405020304" pitchFamily="18" charset="0"/>
              </a:rPr>
              <a:t>Cách</a:t>
            </a:r>
            <a:r>
              <a:rPr lang="en-US" altLang="en-US" sz="2000" dirty="0">
                <a:cs typeface="Times New Roman" panose="02020603050405020304" pitchFamily="18" charset="0"/>
              </a:rPr>
              <a:t> 2:   </a:t>
            </a:r>
            <a:r>
              <a:rPr lang="en-US" altLang="en-US" sz="2000" dirty="0" err="1">
                <a:cs typeface="Times New Roman" panose="02020603050405020304" pitchFamily="18" charset="0"/>
              </a:rPr>
              <a:t>struct</a:t>
            </a:r>
            <a:r>
              <a:rPr lang="en-US" altLang="en-US" sz="2000" dirty="0">
                <a:cs typeface="Times New Roman" panose="02020603050405020304" pitchFamily="18" charset="0"/>
              </a:rPr>
              <a:t>  </a:t>
            </a:r>
            <a:r>
              <a:rPr lang="en-US" altLang="en-US" sz="2000" b="1" dirty="0" err="1">
                <a:cs typeface="Times New Roman" panose="02020603050405020304" pitchFamily="18" charset="0"/>
              </a:rPr>
              <a:t>BinaryTree</a:t>
            </a:r>
            <a:r>
              <a:rPr lang="en-US" altLang="en-US" sz="2000" dirty="0">
                <a:cs typeface="Times New Roman" panose="02020603050405020304" pitchFamily="18" charset="0"/>
              </a:rPr>
              <a:t> {</a:t>
            </a:r>
          </a:p>
          <a:p>
            <a:pPr marL="0" lvl="1" eaLnBrk="1" hangingPunct="1"/>
            <a:r>
              <a:rPr lang="en-US" altLang="en-US" sz="2000" dirty="0">
                <a:cs typeface="Times New Roman" panose="02020603050405020304" pitchFamily="18" charset="0"/>
              </a:rPr>
              <a:t>	           </a:t>
            </a:r>
            <a:r>
              <a:rPr lang="en-US" altLang="en-US" sz="2000" dirty="0" err="1">
                <a:cs typeface="Times New Roman" panose="02020603050405020304" pitchFamily="18" charset="0"/>
              </a:rPr>
              <a:t>PNode</a:t>
            </a:r>
            <a:r>
              <a:rPr lang="en-US" altLang="en-US" sz="2000" dirty="0">
                <a:cs typeface="Times New Roman" panose="02020603050405020304" pitchFamily="18" charset="0"/>
              </a:rPr>
              <a:t>  T;    </a:t>
            </a:r>
            <a:r>
              <a:rPr lang="en-US" altLang="en-US" sz="2000" i="1" dirty="0">
                <a:cs typeface="Times New Roman" panose="02020603050405020304" pitchFamily="18" charset="0"/>
              </a:rPr>
              <a:t>//con </a:t>
            </a:r>
            <a:r>
              <a:rPr lang="en-US" altLang="en-US" sz="2000" i="1" dirty="0" err="1">
                <a:cs typeface="Times New Roman" panose="02020603050405020304" pitchFamily="18" charset="0"/>
              </a:rPr>
              <a:t>trỏ</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trỏ</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vào</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nút</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gốc</a:t>
            </a:r>
            <a:r>
              <a:rPr lang="en-US" altLang="en-US" sz="2000" i="1" dirty="0">
                <a:cs typeface="Times New Roman" panose="02020603050405020304" pitchFamily="18" charset="0"/>
              </a:rPr>
              <a:t> </a:t>
            </a:r>
          </a:p>
          <a:p>
            <a:pPr marL="0" lvl="1" eaLnBrk="1" hangingPunct="1"/>
            <a:r>
              <a:rPr lang="en-US" altLang="en-US" sz="2000" dirty="0">
                <a:cs typeface="Times New Roman" panose="02020603050405020304" pitchFamily="18" charset="0"/>
              </a:rPr>
              <a:t>	           </a:t>
            </a:r>
            <a:r>
              <a:rPr lang="en-US" altLang="en-US" sz="2000" dirty="0" err="1">
                <a:cs typeface="Times New Roman" panose="02020603050405020304" pitchFamily="18" charset="0"/>
              </a:rPr>
              <a:t>int</a:t>
            </a:r>
            <a:r>
              <a:rPr lang="en-US" altLang="en-US" sz="2000" dirty="0">
                <a:cs typeface="Times New Roman" panose="02020603050405020304" pitchFamily="18" charset="0"/>
              </a:rPr>
              <a:t>  n;	          </a:t>
            </a:r>
            <a:r>
              <a:rPr lang="en-US" altLang="en-US" sz="2000" i="1" dirty="0">
                <a:cs typeface="Times New Roman" panose="02020603050405020304" pitchFamily="18" charset="0"/>
              </a:rPr>
              <a:t>//</a:t>
            </a:r>
            <a:r>
              <a:rPr lang="en-US" altLang="en-US" sz="2000" i="1" dirty="0" err="1">
                <a:cs typeface="Times New Roman" panose="02020603050405020304" pitchFamily="18" charset="0"/>
              </a:rPr>
              <a:t>kích</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thước</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cây</a:t>
            </a:r>
            <a:endParaRPr lang="en-US" altLang="en-US" sz="2000" i="1" dirty="0">
              <a:cs typeface="Times New Roman" panose="02020603050405020304" pitchFamily="18" charset="0"/>
            </a:endParaRPr>
          </a:p>
          <a:p>
            <a:pPr marL="0" lvl="1" eaLnBrk="1" hangingPunct="1"/>
            <a:r>
              <a:rPr lang="en-US" altLang="en-US" sz="2000" dirty="0">
                <a:cs typeface="Times New Roman" panose="02020603050405020304" pitchFamily="18" charset="0"/>
              </a:rPr>
              <a:t>	        }</a:t>
            </a:r>
            <a:endParaRPr lang="en-US" altLang="en-US" sz="2000" dirty="0"/>
          </a:p>
        </p:txBody>
      </p:sp>
      <p:sp>
        <p:nvSpPr>
          <p:cNvPr id="38" name="Line 36"/>
          <p:cNvSpPr>
            <a:spLocks noChangeShapeType="1"/>
          </p:cNvSpPr>
          <p:nvPr/>
        </p:nvSpPr>
        <p:spPr bwMode="auto">
          <a:xfrm flipH="1">
            <a:off x="7620000" y="5382823"/>
            <a:ext cx="329045" cy="33217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45539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77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277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7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Lưu trữ cấu trúc cây trong bộ nhớ</a:t>
            </a:r>
          </a:p>
        </p:txBody>
      </p:sp>
      <p:sp>
        <p:nvSpPr>
          <p:cNvPr id="3" name="Text Placeholder 2"/>
          <p:cNvSpPr>
            <a:spLocks noGrp="1"/>
          </p:cNvSpPr>
          <p:nvPr>
            <p:ph type="body" sz="quarter" idx="13"/>
          </p:nvPr>
        </p:nvSpPr>
        <p:spPr/>
        <p:txBody>
          <a:bodyPr/>
          <a:lstStyle/>
          <a:p>
            <a:endParaRPr lang="en-US"/>
          </a:p>
        </p:txBody>
      </p:sp>
      <p:pic>
        <p:nvPicPr>
          <p:cNvPr id="4" name="Picture 3"/>
          <p:cNvPicPr>
            <a:picLocks noChangeAspect="1"/>
          </p:cNvPicPr>
          <p:nvPr/>
        </p:nvPicPr>
        <p:blipFill>
          <a:blip r:embed="rId2"/>
          <a:stretch>
            <a:fillRect/>
          </a:stretch>
        </p:blipFill>
        <p:spPr>
          <a:xfrm>
            <a:off x="4908549" y="1981200"/>
            <a:ext cx="3709112" cy="2698848"/>
          </a:xfrm>
          <a:prstGeom prst="rect">
            <a:avLst/>
          </a:prstGeom>
        </p:spPr>
      </p:pic>
      <p:pic>
        <p:nvPicPr>
          <p:cNvPr id="5" name="Picture 4"/>
          <p:cNvPicPr>
            <a:picLocks noChangeAspect="1"/>
          </p:cNvPicPr>
          <p:nvPr/>
        </p:nvPicPr>
        <p:blipFill>
          <a:blip r:embed="rId3"/>
          <a:stretch>
            <a:fillRect/>
          </a:stretch>
        </p:blipFill>
        <p:spPr>
          <a:xfrm>
            <a:off x="342900" y="810196"/>
            <a:ext cx="4457700" cy="5438775"/>
          </a:xfrm>
          <a:prstGeom prst="rect">
            <a:avLst/>
          </a:prstGeom>
        </p:spPr>
      </p:pic>
    </p:spTree>
    <p:extLst>
      <p:ext uri="{BB962C8B-B14F-4D97-AF65-F5344CB8AC3E}">
        <p14:creationId xmlns:p14="http://schemas.microsoft.com/office/powerpoint/2010/main" val="803102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p:cNvSpPr>
            <a:spLocks noGrp="1" noChangeArrowheads="1"/>
          </p:cNvSpPr>
          <p:nvPr>
            <p:ph type="title"/>
          </p:nvPr>
        </p:nvSpPr>
        <p:spPr/>
        <p:txBody>
          <a:bodyPr/>
          <a:lstStyle/>
          <a:p>
            <a:pPr eaLnBrk="1" hangingPunct="1"/>
            <a:r>
              <a:rPr lang="en-US" altLang="en-US" dirty="0" err="1">
                <a:cs typeface="Times New Roman" panose="02020603050405020304" pitchFamily="18" charset="0"/>
              </a:rPr>
              <a:t>Cài</a:t>
            </a:r>
            <a:r>
              <a:rPr lang="en-US" altLang="en-US" dirty="0">
                <a:cs typeface="Times New Roman" panose="02020603050405020304" pitchFamily="18" charset="0"/>
              </a:rPr>
              <a:t> </a:t>
            </a:r>
            <a:r>
              <a:rPr lang="en-US" altLang="en-US" dirty="0" err="1">
                <a:cs typeface="Times New Roman" panose="02020603050405020304" pitchFamily="18" charset="0"/>
              </a:rPr>
              <a:t>đặt</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nhị</a:t>
            </a:r>
            <a:r>
              <a:rPr lang="en-US" altLang="en-US" dirty="0">
                <a:cs typeface="Times New Roman" panose="02020603050405020304" pitchFamily="18" charset="0"/>
              </a:rPr>
              <a:t> </a:t>
            </a:r>
            <a:r>
              <a:rPr lang="en-US" altLang="en-US" dirty="0" err="1">
                <a:cs typeface="Times New Roman" panose="02020603050405020304" pitchFamily="18" charset="0"/>
              </a:rPr>
              <a:t>phân</a:t>
            </a:r>
            <a:r>
              <a:rPr lang="en-US" altLang="en-US" dirty="0"/>
              <a:t> </a:t>
            </a:r>
          </a:p>
        </p:txBody>
      </p:sp>
      <p:sp>
        <p:nvSpPr>
          <p:cNvPr id="33797" name="Rectangle 3"/>
          <p:cNvSpPr>
            <a:spLocks noGrp="1" noChangeArrowheads="1"/>
          </p:cNvSpPr>
          <p:nvPr>
            <p:ph type="body" sz="quarter" idx="13"/>
          </p:nvPr>
        </p:nvSpPr>
        <p:spPr>
          <a:noFill/>
        </p:spPr>
        <p:txBody>
          <a:bodyPr>
            <a:normAutofit/>
          </a:bodyPr>
          <a:lstStyle/>
          <a:p>
            <a:pPr eaLnBrk="1" hangingPunct="1"/>
            <a:r>
              <a:rPr lang="en-US" altLang="en-US" sz="2400" dirty="0" err="1">
                <a:cs typeface="Times New Roman" panose="02020603050405020304" pitchFamily="18" charset="0"/>
              </a:rPr>
              <a:t>Dùng</a:t>
            </a:r>
            <a:r>
              <a:rPr lang="en-US" altLang="en-US" sz="2400" dirty="0">
                <a:cs typeface="Times New Roman" panose="02020603050405020304" pitchFamily="18" charset="0"/>
              </a:rPr>
              <a:t> </a:t>
            </a:r>
            <a:r>
              <a:rPr lang="en-US" altLang="en-US" sz="2400" dirty="0" err="1">
                <a:cs typeface="Times New Roman" panose="02020603050405020304" pitchFamily="18" charset="0"/>
              </a:rPr>
              <a:t>cấu</a:t>
            </a:r>
            <a:r>
              <a:rPr lang="en-US" altLang="en-US" sz="2400" dirty="0">
                <a:cs typeface="Times New Roman" panose="02020603050405020304" pitchFamily="18" charset="0"/>
              </a:rPr>
              <a:t> </a:t>
            </a:r>
            <a:r>
              <a:rPr lang="en-US" altLang="en-US" sz="2400" dirty="0" err="1">
                <a:cs typeface="Times New Roman" panose="02020603050405020304" pitchFamily="18" charset="0"/>
              </a:rPr>
              <a:t>trúc</a:t>
            </a:r>
            <a:r>
              <a:rPr lang="en-US" altLang="en-US" sz="2400" dirty="0">
                <a:cs typeface="Times New Roman" panose="02020603050405020304" pitchFamily="18" charset="0"/>
              </a:rPr>
              <a:t> </a:t>
            </a:r>
            <a:r>
              <a:rPr lang="en-US" altLang="en-US" sz="2400" dirty="0" err="1">
                <a:cs typeface="Times New Roman" panose="02020603050405020304" pitchFamily="18" charset="0"/>
              </a:rPr>
              <a:t>móc</a:t>
            </a:r>
            <a:r>
              <a:rPr lang="en-US" altLang="en-US" sz="2400" dirty="0">
                <a:cs typeface="Times New Roman" panose="02020603050405020304" pitchFamily="18" charset="0"/>
              </a:rPr>
              <a:t> </a:t>
            </a:r>
            <a:r>
              <a:rPr lang="en-US" altLang="en-US" sz="2400" dirty="0" err="1">
                <a:cs typeface="Times New Roman" panose="02020603050405020304" pitchFamily="18" charset="0"/>
              </a:rPr>
              <a:t>nối</a:t>
            </a:r>
            <a:r>
              <a:rPr lang="en-US" altLang="en-US" sz="2400" dirty="0">
                <a:cs typeface="Times New Roman" panose="02020603050405020304" pitchFamily="18" charset="0"/>
              </a:rPr>
              <a:t> - </a:t>
            </a:r>
            <a:r>
              <a:rPr lang="en-US" altLang="en-US" sz="2400" dirty="0" err="1">
                <a:cs typeface="Times New Roman" panose="02020603050405020304" pitchFamily="18" charset="0"/>
              </a:rPr>
              <a:t>Cài</a:t>
            </a:r>
            <a:r>
              <a:rPr lang="en-US" altLang="en-US" sz="2400" dirty="0">
                <a:cs typeface="Times New Roman" panose="02020603050405020304" pitchFamily="18" charset="0"/>
              </a:rPr>
              <a:t> </a:t>
            </a:r>
            <a:r>
              <a:rPr lang="en-US" altLang="en-US" sz="2400" dirty="0" err="1">
                <a:cs typeface="Times New Roman" panose="02020603050405020304" pitchFamily="18" charset="0"/>
              </a:rPr>
              <a:t>đặt</a:t>
            </a:r>
            <a:r>
              <a:rPr lang="en-US" altLang="en-US" sz="2400" dirty="0">
                <a:cs typeface="Times New Roman" panose="02020603050405020304" pitchFamily="18" charset="0"/>
              </a:rPr>
              <a:t> </a:t>
            </a:r>
            <a:r>
              <a:rPr lang="en-US" altLang="en-US" sz="2400" dirty="0" err="1">
                <a:cs typeface="Times New Roman" panose="02020603050405020304" pitchFamily="18" charset="0"/>
              </a:rPr>
              <a:t>một</a:t>
            </a:r>
            <a:r>
              <a:rPr lang="en-US" altLang="en-US" sz="2400" dirty="0">
                <a:cs typeface="Times New Roman" panose="02020603050405020304" pitchFamily="18" charset="0"/>
              </a:rPr>
              <a:t> </a:t>
            </a:r>
            <a:r>
              <a:rPr lang="en-US" altLang="en-US" sz="2400" dirty="0" err="1">
                <a:cs typeface="Times New Roman" panose="02020603050405020304" pitchFamily="18" charset="0"/>
              </a:rPr>
              <a:t>số</a:t>
            </a:r>
            <a:r>
              <a:rPr lang="en-US" altLang="en-US" sz="2400" dirty="0">
                <a:cs typeface="Times New Roman" panose="02020603050405020304" pitchFamily="18" charset="0"/>
              </a:rPr>
              <a:t> </a:t>
            </a:r>
            <a:r>
              <a:rPr lang="en-US" altLang="en-US" sz="2400" dirty="0" err="1">
                <a:cs typeface="Times New Roman" panose="02020603050405020304" pitchFamily="18" charset="0"/>
              </a:rPr>
              <a:t>thao</a:t>
            </a:r>
            <a:r>
              <a:rPr lang="en-US" altLang="en-US" sz="2400" dirty="0">
                <a:cs typeface="Times New Roman" panose="02020603050405020304" pitchFamily="18" charset="0"/>
              </a:rPr>
              <a:t> </a:t>
            </a:r>
            <a:r>
              <a:rPr lang="en-US" altLang="en-US" sz="2400" dirty="0" err="1">
                <a:cs typeface="Times New Roman" panose="02020603050405020304" pitchFamily="18" charset="0"/>
              </a:rPr>
              <a:t>tác</a:t>
            </a:r>
            <a:r>
              <a:rPr lang="en-US" altLang="en-US" sz="2400" dirty="0">
                <a:cs typeface="Times New Roman" panose="02020603050405020304" pitchFamily="18" charset="0"/>
              </a:rPr>
              <a:t> </a:t>
            </a:r>
            <a:r>
              <a:rPr lang="en-US" altLang="en-US" sz="2400" dirty="0" err="1">
                <a:cs typeface="Times New Roman" panose="02020603050405020304" pitchFamily="18" charset="0"/>
              </a:rPr>
              <a:t>cơ</a:t>
            </a:r>
            <a:r>
              <a:rPr lang="en-US" altLang="en-US" sz="2400" dirty="0">
                <a:cs typeface="Times New Roman" panose="02020603050405020304" pitchFamily="18" charset="0"/>
              </a:rPr>
              <a:t> </a:t>
            </a:r>
            <a:r>
              <a:rPr lang="en-US" altLang="en-US" sz="2400" dirty="0" err="1">
                <a:cs typeface="Times New Roman" panose="02020603050405020304" pitchFamily="18" charset="0"/>
              </a:rPr>
              <a:t>bản</a:t>
            </a:r>
            <a:endParaRPr lang="en-US" altLang="en-US" sz="2400" dirty="0">
              <a:cs typeface="Times New Roman" panose="02020603050405020304" pitchFamily="18" charset="0"/>
            </a:endParaRPr>
          </a:p>
          <a:p>
            <a:pPr lvl="1" eaLnBrk="1" hangingPunct="1"/>
            <a:r>
              <a:rPr lang="en-US" altLang="en-US" sz="2000" dirty="0">
                <a:cs typeface="Times New Roman" panose="02020603050405020304" pitchFamily="18" charset="0"/>
              </a:rPr>
              <a:t>Thao </a:t>
            </a:r>
            <a:r>
              <a:rPr lang="en-US" altLang="en-US" sz="2000" dirty="0" err="1">
                <a:cs typeface="Times New Roman" panose="02020603050405020304" pitchFamily="18" charset="0"/>
              </a:rPr>
              <a:t>tác</a:t>
            </a:r>
            <a:r>
              <a:rPr lang="en-US" altLang="en-US" sz="2000" dirty="0">
                <a:cs typeface="Times New Roman" panose="02020603050405020304" pitchFamily="18" charset="0"/>
              </a:rPr>
              <a:t> </a:t>
            </a:r>
            <a:r>
              <a:rPr lang="en-US" altLang="en-US" sz="2000" dirty="0" err="1">
                <a:cs typeface="Times New Roman" panose="02020603050405020304" pitchFamily="18" charset="0"/>
              </a:rPr>
              <a:t>khởi</a:t>
            </a:r>
            <a:r>
              <a:rPr lang="en-US" altLang="en-US" sz="2000" dirty="0">
                <a:cs typeface="Times New Roman" panose="02020603050405020304" pitchFamily="18" charset="0"/>
              </a:rPr>
              <a:t> </a:t>
            </a:r>
            <a:r>
              <a:rPr lang="en-US" altLang="en-US" sz="2000" dirty="0" err="1">
                <a:cs typeface="Times New Roman" panose="02020603050405020304" pitchFamily="18" charset="0"/>
              </a:rPr>
              <a:t>tạo</a:t>
            </a:r>
            <a:r>
              <a:rPr lang="en-US" altLang="en-US" sz="2000" dirty="0">
                <a:cs typeface="Times New Roman" panose="02020603050405020304" pitchFamily="18" charset="0"/>
              </a:rPr>
              <a:t>: </a:t>
            </a:r>
            <a:r>
              <a:rPr lang="en-US" altLang="en-US" sz="2000" dirty="0" err="1">
                <a:cs typeface="Times New Roman" panose="02020603050405020304" pitchFamily="18" charset="0"/>
              </a:rPr>
              <a:t>tạo</a:t>
            </a:r>
            <a:r>
              <a:rPr lang="en-US" altLang="en-US" sz="2000" dirty="0">
                <a:cs typeface="Times New Roman" panose="02020603050405020304" pitchFamily="18" charset="0"/>
              </a:rPr>
              <a:t> </a:t>
            </a:r>
            <a:r>
              <a:rPr lang="en-US" altLang="en-US" sz="2000" dirty="0" err="1">
                <a:cs typeface="Times New Roman" panose="02020603050405020304" pitchFamily="18" charset="0"/>
              </a:rPr>
              <a:t>ra</a:t>
            </a:r>
            <a:r>
              <a:rPr lang="en-US" altLang="en-US" sz="2000" dirty="0">
                <a:cs typeface="Times New Roman" panose="02020603050405020304" pitchFamily="18" charset="0"/>
              </a:rPr>
              <a:t> </a:t>
            </a:r>
            <a:r>
              <a:rPr lang="en-US" altLang="en-US" sz="2000" dirty="0" err="1">
                <a:cs typeface="Times New Roman" panose="02020603050405020304" pitchFamily="18" charset="0"/>
              </a:rPr>
              <a:t>một</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rỗng</a:t>
            </a:r>
            <a:r>
              <a:rPr lang="en-US" altLang="en-US" sz="2000" dirty="0">
                <a:cs typeface="Times New Roman" panose="02020603050405020304" pitchFamily="18" charset="0"/>
              </a:rPr>
              <a:t>. </a:t>
            </a:r>
          </a:p>
        </p:txBody>
      </p:sp>
      <p:sp>
        <p:nvSpPr>
          <p:cNvPr id="33799" name="Rectangle 37"/>
          <p:cNvSpPr>
            <a:spLocks noChangeArrowheads="1"/>
          </p:cNvSpPr>
          <p:nvPr/>
        </p:nvSpPr>
        <p:spPr bwMode="auto">
          <a:xfrm>
            <a:off x="765462" y="2413838"/>
            <a:ext cx="4800600" cy="1016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eaLnBrk="0" hangingPunct="0">
              <a:defRPr sz="2400">
                <a:solidFill>
                  <a:schemeClr val="tx1"/>
                </a:solidFill>
                <a:latin typeface="Times New Roman" panose="02020603050405020304" pitchFamily="18" charset="0"/>
              </a:defRPr>
            </a:lvl1pPr>
            <a:lvl2pPr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lvl="1" eaLnBrk="1" hangingPunct="1"/>
            <a:r>
              <a:rPr lang="en-US" altLang="en-US" sz="2000" b="1" dirty="0">
                <a:cs typeface="Times New Roman" panose="02020603050405020304" pitchFamily="18" charset="0"/>
              </a:rPr>
              <a:t>void</a:t>
            </a:r>
            <a:r>
              <a:rPr lang="en-US" altLang="en-US" sz="2000" dirty="0">
                <a:cs typeface="Times New Roman" panose="02020603050405020304" pitchFamily="18" charset="0"/>
              </a:rPr>
              <a:t>  </a:t>
            </a:r>
            <a:r>
              <a:rPr lang="en-US" altLang="en-US" sz="2000" b="1" i="1" dirty="0" err="1">
                <a:cs typeface="Times New Roman" panose="02020603050405020304" pitchFamily="18" charset="0"/>
              </a:rPr>
              <a:t>InitBT</a:t>
            </a:r>
            <a:r>
              <a:rPr lang="en-US" altLang="en-US" sz="2000" dirty="0">
                <a:cs typeface="Times New Roman" panose="02020603050405020304" pitchFamily="18" charset="0"/>
              </a:rPr>
              <a:t> (</a:t>
            </a:r>
            <a:r>
              <a:rPr lang="en-US" altLang="en-US" sz="2000" dirty="0" err="1">
                <a:cs typeface="Times New Roman" panose="02020603050405020304" pitchFamily="18" charset="0"/>
              </a:rPr>
              <a:t>BinaryTree</a:t>
            </a:r>
            <a:r>
              <a:rPr lang="en-US" altLang="en-US" sz="2000" dirty="0">
                <a:cs typeface="Times New Roman" panose="02020603050405020304" pitchFamily="18" charset="0"/>
              </a:rPr>
              <a:t>  T) {</a:t>
            </a:r>
          </a:p>
          <a:p>
            <a:pPr lvl="1" eaLnBrk="1" hangingPunct="1"/>
            <a:r>
              <a:rPr lang="en-US" altLang="en-US" sz="2000" dirty="0">
                <a:cs typeface="Times New Roman" panose="02020603050405020304" pitchFamily="18" charset="0"/>
              </a:rPr>
              <a:t>	T = NULL;</a:t>
            </a:r>
          </a:p>
          <a:p>
            <a:pPr lvl="1" eaLnBrk="1" hangingPunct="1"/>
            <a:r>
              <a:rPr lang="en-US" altLang="en-US" sz="2000" dirty="0">
                <a:cs typeface="Times New Roman" panose="02020603050405020304" pitchFamily="18" charset="0"/>
              </a:rPr>
              <a:t>}</a:t>
            </a:r>
          </a:p>
        </p:txBody>
      </p:sp>
      <p:grpSp>
        <p:nvGrpSpPr>
          <p:cNvPr id="38" name="Group 4"/>
          <p:cNvGrpSpPr>
            <a:grpSpLocks/>
          </p:cNvGrpSpPr>
          <p:nvPr/>
        </p:nvGrpSpPr>
        <p:grpSpPr bwMode="auto">
          <a:xfrm>
            <a:off x="5295900" y="4084638"/>
            <a:ext cx="3619500" cy="2163762"/>
            <a:chOff x="2664" y="2265"/>
            <a:chExt cx="1584" cy="938"/>
          </a:xfrm>
        </p:grpSpPr>
        <p:sp>
          <p:nvSpPr>
            <p:cNvPr id="39" name="Text Box 5"/>
            <p:cNvSpPr txBox="1">
              <a:spLocks noChangeArrowheads="1"/>
            </p:cNvSpPr>
            <p:nvPr/>
          </p:nvSpPr>
          <p:spPr bwMode="auto">
            <a:xfrm>
              <a:off x="3672" y="2265"/>
              <a:ext cx="144" cy="1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T</a:t>
              </a:r>
            </a:p>
          </p:txBody>
        </p:sp>
        <p:sp>
          <p:nvSpPr>
            <p:cNvPr id="40" name="Text Box 6"/>
            <p:cNvSpPr txBox="1">
              <a:spLocks noChangeArrowheads="1"/>
            </p:cNvSpPr>
            <p:nvPr/>
          </p:nvSpPr>
          <p:spPr bwMode="auto">
            <a:xfrm>
              <a:off x="3600" y="2481"/>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1</a:t>
              </a:r>
            </a:p>
          </p:txBody>
        </p:sp>
        <p:sp>
          <p:nvSpPr>
            <p:cNvPr id="41" name="Text Box 7"/>
            <p:cNvSpPr txBox="1">
              <a:spLocks noChangeArrowheads="1"/>
            </p:cNvSpPr>
            <p:nvPr/>
          </p:nvSpPr>
          <p:spPr bwMode="auto">
            <a:xfrm>
              <a:off x="3456" y="2481"/>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42" name="Line 8"/>
            <p:cNvSpPr>
              <a:spLocks noChangeShapeType="1"/>
            </p:cNvSpPr>
            <p:nvPr/>
          </p:nvSpPr>
          <p:spPr bwMode="auto">
            <a:xfrm flipH="1">
              <a:off x="3240" y="2553"/>
              <a:ext cx="288" cy="216"/>
            </a:xfrm>
            <a:prstGeom prst="line">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 name="Text Box 9"/>
            <p:cNvSpPr txBox="1">
              <a:spLocks noChangeArrowheads="1"/>
            </p:cNvSpPr>
            <p:nvPr/>
          </p:nvSpPr>
          <p:spPr bwMode="auto">
            <a:xfrm>
              <a:off x="3744" y="2481"/>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44" name="Line 10"/>
            <p:cNvSpPr>
              <a:spLocks noChangeShapeType="1"/>
            </p:cNvSpPr>
            <p:nvPr/>
          </p:nvSpPr>
          <p:spPr bwMode="auto">
            <a:xfrm>
              <a:off x="3816" y="2553"/>
              <a:ext cx="216" cy="225"/>
            </a:xfrm>
            <a:prstGeom prst="line">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45" name="Group 11"/>
            <p:cNvGrpSpPr>
              <a:grpSpLocks/>
            </p:cNvGrpSpPr>
            <p:nvPr/>
          </p:nvGrpSpPr>
          <p:grpSpPr bwMode="auto">
            <a:xfrm>
              <a:off x="2880" y="2769"/>
              <a:ext cx="576" cy="287"/>
              <a:chOff x="6564" y="3084"/>
              <a:chExt cx="1200" cy="615"/>
            </a:xfrm>
          </p:grpSpPr>
          <p:sp>
            <p:nvSpPr>
              <p:cNvPr id="66" name="Text Box 12"/>
              <p:cNvSpPr txBox="1">
                <a:spLocks noChangeArrowheads="1"/>
              </p:cNvSpPr>
              <p:nvPr/>
            </p:nvSpPr>
            <p:spPr bwMode="auto">
              <a:xfrm>
                <a:off x="7164" y="3084"/>
                <a:ext cx="300" cy="313"/>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2</a:t>
                </a:r>
              </a:p>
            </p:txBody>
          </p:sp>
          <p:sp>
            <p:nvSpPr>
              <p:cNvPr id="67" name="Text Box 13"/>
              <p:cNvSpPr txBox="1">
                <a:spLocks noChangeArrowheads="1"/>
              </p:cNvSpPr>
              <p:nvPr/>
            </p:nvSpPr>
            <p:spPr bwMode="auto">
              <a:xfrm>
                <a:off x="6864" y="3084"/>
                <a:ext cx="300" cy="313"/>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68" name="Line 14"/>
              <p:cNvSpPr>
                <a:spLocks noChangeShapeType="1"/>
              </p:cNvSpPr>
              <p:nvPr/>
            </p:nvSpPr>
            <p:spPr bwMode="auto">
              <a:xfrm flipH="1">
                <a:off x="6564" y="3238"/>
                <a:ext cx="450" cy="454"/>
              </a:xfrm>
              <a:prstGeom prst="line">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9" name="Text Box 15"/>
              <p:cNvSpPr txBox="1">
                <a:spLocks noChangeArrowheads="1"/>
              </p:cNvSpPr>
              <p:nvPr/>
            </p:nvSpPr>
            <p:spPr bwMode="auto">
              <a:xfrm>
                <a:off x="7464" y="3084"/>
                <a:ext cx="300" cy="313"/>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70" name="Line 16"/>
              <p:cNvSpPr>
                <a:spLocks noChangeShapeType="1"/>
              </p:cNvSpPr>
              <p:nvPr/>
            </p:nvSpPr>
            <p:spPr bwMode="auto">
              <a:xfrm>
                <a:off x="7614" y="3238"/>
                <a:ext cx="46" cy="461"/>
              </a:xfrm>
              <a:prstGeom prst="line">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46" name="Text Box 17"/>
            <p:cNvSpPr txBox="1">
              <a:spLocks noChangeArrowheads="1"/>
            </p:cNvSpPr>
            <p:nvPr/>
          </p:nvSpPr>
          <p:spPr bwMode="auto">
            <a:xfrm>
              <a:off x="3960" y="2769"/>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3</a:t>
              </a:r>
            </a:p>
          </p:txBody>
        </p:sp>
        <p:sp>
          <p:nvSpPr>
            <p:cNvPr id="47" name="Text Box 18"/>
            <p:cNvSpPr txBox="1">
              <a:spLocks noChangeArrowheads="1"/>
            </p:cNvSpPr>
            <p:nvPr/>
          </p:nvSpPr>
          <p:spPr bwMode="auto">
            <a:xfrm>
              <a:off x="3816" y="2769"/>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48" name="Line 19"/>
            <p:cNvSpPr>
              <a:spLocks noChangeShapeType="1"/>
            </p:cNvSpPr>
            <p:nvPr/>
          </p:nvSpPr>
          <p:spPr bwMode="auto">
            <a:xfrm flipH="1">
              <a:off x="3862" y="2841"/>
              <a:ext cx="26" cy="215"/>
            </a:xfrm>
            <a:prstGeom prst="line">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9" name="Text Box 20"/>
            <p:cNvSpPr txBox="1">
              <a:spLocks noChangeArrowheads="1"/>
            </p:cNvSpPr>
            <p:nvPr/>
          </p:nvSpPr>
          <p:spPr bwMode="auto">
            <a:xfrm>
              <a:off x="4104" y="2769"/>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50" name="Text Box 21"/>
            <p:cNvSpPr txBox="1">
              <a:spLocks noChangeArrowheads="1"/>
            </p:cNvSpPr>
            <p:nvPr/>
          </p:nvSpPr>
          <p:spPr bwMode="auto">
            <a:xfrm>
              <a:off x="2808"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4</a:t>
              </a:r>
            </a:p>
          </p:txBody>
        </p:sp>
        <p:sp>
          <p:nvSpPr>
            <p:cNvPr id="51" name="Text Box 22"/>
            <p:cNvSpPr txBox="1">
              <a:spLocks noChangeArrowheads="1"/>
            </p:cNvSpPr>
            <p:nvPr/>
          </p:nvSpPr>
          <p:spPr bwMode="auto">
            <a:xfrm>
              <a:off x="2664"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52" name="Text Box 23"/>
            <p:cNvSpPr txBox="1">
              <a:spLocks noChangeArrowheads="1"/>
            </p:cNvSpPr>
            <p:nvPr/>
          </p:nvSpPr>
          <p:spPr bwMode="auto">
            <a:xfrm>
              <a:off x="2952"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53" name="Text Box 24"/>
            <p:cNvSpPr txBox="1">
              <a:spLocks noChangeArrowheads="1"/>
            </p:cNvSpPr>
            <p:nvPr/>
          </p:nvSpPr>
          <p:spPr bwMode="auto">
            <a:xfrm>
              <a:off x="3312"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5</a:t>
              </a:r>
            </a:p>
          </p:txBody>
        </p:sp>
        <p:sp>
          <p:nvSpPr>
            <p:cNvPr id="54" name="Text Box 25"/>
            <p:cNvSpPr txBox="1">
              <a:spLocks noChangeArrowheads="1"/>
            </p:cNvSpPr>
            <p:nvPr/>
          </p:nvSpPr>
          <p:spPr bwMode="auto">
            <a:xfrm>
              <a:off x="3168"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55" name="Text Box 26"/>
            <p:cNvSpPr txBox="1">
              <a:spLocks noChangeArrowheads="1"/>
            </p:cNvSpPr>
            <p:nvPr/>
          </p:nvSpPr>
          <p:spPr bwMode="auto">
            <a:xfrm>
              <a:off x="3456"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56" name="Text Box 27"/>
            <p:cNvSpPr txBox="1">
              <a:spLocks noChangeArrowheads="1"/>
            </p:cNvSpPr>
            <p:nvPr/>
          </p:nvSpPr>
          <p:spPr bwMode="auto">
            <a:xfrm>
              <a:off x="3816"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6</a:t>
              </a:r>
            </a:p>
          </p:txBody>
        </p:sp>
        <p:sp>
          <p:nvSpPr>
            <p:cNvPr id="57" name="Text Box 28"/>
            <p:cNvSpPr txBox="1">
              <a:spLocks noChangeArrowheads="1"/>
            </p:cNvSpPr>
            <p:nvPr/>
          </p:nvSpPr>
          <p:spPr bwMode="auto">
            <a:xfrm>
              <a:off x="3672"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58" name="Text Box 29"/>
            <p:cNvSpPr txBox="1">
              <a:spLocks noChangeArrowheads="1"/>
            </p:cNvSpPr>
            <p:nvPr/>
          </p:nvSpPr>
          <p:spPr bwMode="auto">
            <a:xfrm>
              <a:off x="3960"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59" name="Line 30"/>
            <p:cNvSpPr>
              <a:spLocks noChangeShapeType="1"/>
            </p:cNvSpPr>
            <p:nvPr/>
          </p:nvSpPr>
          <p:spPr bwMode="auto">
            <a:xfrm flipH="1">
              <a:off x="3960" y="3057"/>
              <a:ext cx="144"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 name="Line 31"/>
            <p:cNvSpPr>
              <a:spLocks noChangeShapeType="1"/>
            </p:cNvSpPr>
            <p:nvPr/>
          </p:nvSpPr>
          <p:spPr bwMode="auto">
            <a:xfrm>
              <a:off x="3672" y="2337"/>
              <a:ext cx="0" cy="143"/>
            </a:xfrm>
            <a:prstGeom prst="line">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1" name="Line 32"/>
            <p:cNvSpPr>
              <a:spLocks noChangeShapeType="1"/>
            </p:cNvSpPr>
            <p:nvPr/>
          </p:nvSpPr>
          <p:spPr bwMode="auto">
            <a:xfrm flipH="1">
              <a:off x="2664" y="3056"/>
              <a:ext cx="144"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 name="Line 33"/>
            <p:cNvSpPr>
              <a:spLocks noChangeShapeType="1"/>
            </p:cNvSpPr>
            <p:nvPr/>
          </p:nvSpPr>
          <p:spPr bwMode="auto">
            <a:xfrm flipH="1">
              <a:off x="2952" y="3056"/>
              <a:ext cx="144"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 name="Line 34"/>
            <p:cNvSpPr>
              <a:spLocks noChangeShapeType="1"/>
            </p:cNvSpPr>
            <p:nvPr/>
          </p:nvSpPr>
          <p:spPr bwMode="auto">
            <a:xfrm flipH="1">
              <a:off x="3168" y="3056"/>
              <a:ext cx="144"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 name="Line 35"/>
            <p:cNvSpPr>
              <a:spLocks noChangeShapeType="1"/>
            </p:cNvSpPr>
            <p:nvPr/>
          </p:nvSpPr>
          <p:spPr bwMode="auto">
            <a:xfrm flipH="1">
              <a:off x="3456" y="3056"/>
              <a:ext cx="144"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 name="Line 36"/>
            <p:cNvSpPr>
              <a:spLocks noChangeShapeType="1"/>
            </p:cNvSpPr>
            <p:nvPr/>
          </p:nvSpPr>
          <p:spPr bwMode="auto">
            <a:xfrm flipH="1">
              <a:off x="4104" y="2768"/>
              <a:ext cx="144"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2332494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p:txBody>
          <a:bodyPr/>
          <a:lstStyle/>
          <a:p>
            <a:pPr eaLnBrk="1" hangingPunct="1"/>
            <a:r>
              <a:rPr lang="en-US" altLang="en-US" dirty="0" err="1"/>
              <a:t>Cài</a:t>
            </a:r>
            <a:r>
              <a:rPr lang="en-US" altLang="en-US" dirty="0"/>
              <a:t> </a:t>
            </a:r>
            <a:r>
              <a:rPr lang="en-US" altLang="en-US" dirty="0" err="1"/>
              <a:t>đặt</a:t>
            </a:r>
            <a:r>
              <a:rPr lang="en-US" altLang="en-US" dirty="0"/>
              <a:t> </a:t>
            </a:r>
            <a:r>
              <a:rPr lang="en-US" altLang="en-US" dirty="0" err="1"/>
              <a:t>cây</a:t>
            </a:r>
            <a:r>
              <a:rPr lang="en-US" altLang="en-US" dirty="0"/>
              <a:t> </a:t>
            </a:r>
            <a:r>
              <a:rPr lang="en-US" altLang="en-US" dirty="0" err="1"/>
              <a:t>nhị</a:t>
            </a:r>
            <a:r>
              <a:rPr lang="en-US" altLang="en-US" dirty="0"/>
              <a:t> </a:t>
            </a:r>
            <a:r>
              <a:rPr lang="en-US" altLang="en-US" dirty="0" err="1"/>
              <a:t>phân</a:t>
            </a:r>
            <a:r>
              <a:rPr lang="en-US" altLang="en-US" dirty="0"/>
              <a:t> </a:t>
            </a:r>
          </a:p>
        </p:txBody>
      </p:sp>
      <p:sp>
        <p:nvSpPr>
          <p:cNvPr id="34821" name="Rectangle 3"/>
          <p:cNvSpPr>
            <a:spLocks noGrp="1" noChangeArrowheads="1"/>
          </p:cNvSpPr>
          <p:nvPr>
            <p:ph type="body" sz="quarter" idx="13"/>
          </p:nvPr>
        </p:nvSpPr>
        <p:spPr>
          <a:noFill/>
        </p:spPr>
        <p:txBody>
          <a:bodyPr>
            <a:normAutofit/>
          </a:bodyPr>
          <a:lstStyle/>
          <a:p>
            <a:pPr eaLnBrk="1" hangingPunct="1"/>
            <a:r>
              <a:rPr lang="en-US" altLang="en-US" sz="2400" dirty="0" err="1">
                <a:cs typeface="Times New Roman" panose="02020603050405020304" pitchFamily="18" charset="0"/>
              </a:rPr>
              <a:t>Dùng</a:t>
            </a:r>
            <a:r>
              <a:rPr lang="en-US" altLang="en-US" sz="2400" dirty="0">
                <a:cs typeface="Times New Roman" panose="02020603050405020304" pitchFamily="18" charset="0"/>
              </a:rPr>
              <a:t> </a:t>
            </a:r>
            <a:r>
              <a:rPr lang="en-US" altLang="en-US" sz="2400" dirty="0" err="1">
                <a:cs typeface="Times New Roman" panose="02020603050405020304" pitchFamily="18" charset="0"/>
              </a:rPr>
              <a:t>cấu</a:t>
            </a:r>
            <a:r>
              <a:rPr lang="en-US" altLang="en-US" sz="2400" dirty="0">
                <a:cs typeface="Times New Roman" panose="02020603050405020304" pitchFamily="18" charset="0"/>
              </a:rPr>
              <a:t> </a:t>
            </a:r>
            <a:r>
              <a:rPr lang="en-US" altLang="en-US" sz="2400" dirty="0" err="1">
                <a:cs typeface="Times New Roman" panose="02020603050405020304" pitchFamily="18" charset="0"/>
              </a:rPr>
              <a:t>trúc</a:t>
            </a:r>
            <a:r>
              <a:rPr lang="en-US" altLang="en-US" sz="2400" dirty="0">
                <a:cs typeface="Times New Roman" panose="02020603050405020304" pitchFamily="18" charset="0"/>
              </a:rPr>
              <a:t> </a:t>
            </a:r>
            <a:r>
              <a:rPr lang="en-US" altLang="en-US" sz="2400" dirty="0" err="1">
                <a:cs typeface="Times New Roman" panose="02020603050405020304" pitchFamily="18" charset="0"/>
              </a:rPr>
              <a:t>móc</a:t>
            </a:r>
            <a:r>
              <a:rPr lang="en-US" altLang="en-US" sz="2400" dirty="0">
                <a:cs typeface="Times New Roman" panose="02020603050405020304" pitchFamily="18" charset="0"/>
              </a:rPr>
              <a:t> </a:t>
            </a:r>
            <a:r>
              <a:rPr lang="en-US" altLang="en-US" sz="2400" dirty="0" err="1">
                <a:cs typeface="Times New Roman" panose="02020603050405020304" pitchFamily="18" charset="0"/>
              </a:rPr>
              <a:t>nối</a:t>
            </a:r>
            <a:r>
              <a:rPr lang="en-US" altLang="en-US" sz="2400" dirty="0">
                <a:cs typeface="Times New Roman" panose="02020603050405020304" pitchFamily="18" charset="0"/>
              </a:rPr>
              <a:t> - </a:t>
            </a:r>
            <a:r>
              <a:rPr lang="en-US" altLang="en-US" sz="2400" dirty="0" err="1">
                <a:cs typeface="Times New Roman" panose="02020603050405020304" pitchFamily="18" charset="0"/>
              </a:rPr>
              <a:t>Cài</a:t>
            </a:r>
            <a:r>
              <a:rPr lang="en-US" altLang="en-US" sz="2400" dirty="0">
                <a:cs typeface="Times New Roman" panose="02020603050405020304" pitchFamily="18" charset="0"/>
              </a:rPr>
              <a:t> </a:t>
            </a:r>
            <a:r>
              <a:rPr lang="en-US" altLang="en-US" sz="2400" dirty="0" err="1">
                <a:cs typeface="Times New Roman" panose="02020603050405020304" pitchFamily="18" charset="0"/>
              </a:rPr>
              <a:t>đặt</a:t>
            </a:r>
            <a:r>
              <a:rPr lang="en-US" altLang="en-US" sz="2400" dirty="0">
                <a:cs typeface="Times New Roman" panose="02020603050405020304" pitchFamily="18" charset="0"/>
              </a:rPr>
              <a:t> </a:t>
            </a:r>
            <a:r>
              <a:rPr lang="en-US" altLang="en-US" sz="2400" dirty="0" err="1">
                <a:cs typeface="Times New Roman" panose="02020603050405020304" pitchFamily="18" charset="0"/>
              </a:rPr>
              <a:t>một</a:t>
            </a:r>
            <a:r>
              <a:rPr lang="en-US" altLang="en-US" sz="2400" dirty="0">
                <a:cs typeface="Times New Roman" panose="02020603050405020304" pitchFamily="18" charset="0"/>
              </a:rPr>
              <a:t> </a:t>
            </a:r>
            <a:r>
              <a:rPr lang="en-US" altLang="en-US" sz="2400" dirty="0" err="1">
                <a:cs typeface="Times New Roman" panose="02020603050405020304" pitchFamily="18" charset="0"/>
              </a:rPr>
              <a:t>số</a:t>
            </a:r>
            <a:r>
              <a:rPr lang="en-US" altLang="en-US" sz="2400" dirty="0">
                <a:cs typeface="Times New Roman" panose="02020603050405020304" pitchFamily="18" charset="0"/>
              </a:rPr>
              <a:t> </a:t>
            </a:r>
            <a:r>
              <a:rPr lang="en-US" altLang="en-US" sz="2400" dirty="0" err="1">
                <a:cs typeface="Times New Roman" panose="02020603050405020304" pitchFamily="18" charset="0"/>
              </a:rPr>
              <a:t>thao</a:t>
            </a:r>
            <a:r>
              <a:rPr lang="en-US" altLang="en-US" sz="2400" dirty="0">
                <a:cs typeface="Times New Roman" panose="02020603050405020304" pitchFamily="18" charset="0"/>
              </a:rPr>
              <a:t> </a:t>
            </a:r>
            <a:r>
              <a:rPr lang="en-US" altLang="en-US" sz="2400" dirty="0" err="1">
                <a:cs typeface="Times New Roman" panose="02020603050405020304" pitchFamily="18" charset="0"/>
              </a:rPr>
              <a:t>tác</a:t>
            </a:r>
            <a:r>
              <a:rPr lang="en-US" altLang="en-US" sz="2400" dirty="0">
                <a:cs typeface="Times New Roman" panose="02020603050405020304" pitchFamily="18" charset="0"/>
              </a:rPr>
              <a:t> </a:t>
            </a:r>
            <a:r>
              <a:rPr lang="en-US" altLang="en-US" sz="2400" dirty="0" err="1">
                <a:cs typeface="Times New Roman" panose="02020603050405020304" pitchFamily="18" charset="0"/>
              </a:rPr>
              <a:t>cơ</a:t>
            </a:r>
            <a:r>
              <a:rPr lang="en-US" altLang="en-US" sz="2400" dirty="0">
                <a:cs typeface="Times New Roman" panose="02020603050405020304" pitchFamily="18" charset="0"/>
              </a:rPr>
              <a:t> </a:t>
            </a:r>
            <a:r>
              <a:rPr lang="en-US" altLang="en-US" sz="2400" dirty="0" err="1">
                <a:cs typeface="Times New Roman" panose="02020603050405020304" pitchFamily="18" charset="0"/>
              </a:rPr>
              <a:t>bản</a:t>
            </a:r>
            <a:endParaRPr lang="en-US" altLang="en-US" sz="2400" dirty="0">
              <a:cs typeface="Times New Roman" panose="02020603050405020304" pitchFamily="18" charset="0"/>
            </a:endParaRPr>
          </a:p>
          <a:p>
            <a:pPr lvl="1" eaLnBrk="1" hangingPunct="1"/>
            <a:r>
              <a:rPr lang="en-US" altLang="en-US" sz="2000" dirty="0" err="1">
                <a:cs typeface="Times New Roman" panose="02020603050405020304" pitchFamily="18" charset="0"/>
              </a:rPr>
              <a:t>Duyệt</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theo</a:t>
            </a:r>
            <a:r>
              <a:rPr lang="en-US" altLang="en-US" sz="2000" dirty="0">
                <a:cs typeface="Times New Roman" panose="02020603050405020304" pitchFamily="18" charset="0"/>
              </a:rPr>
              <a:t> </a:t>
            </a:r>
            <a:r>
              <a:rPr lang="en-US" altLang="en-US" sz="2000" dirty="0" err="1">
                <a:cs typeface="Times New Roman" panose="02020603050405020304" pitchFamily="18" charset="0"/>
              </a:rPr>
              <a:t>thứ</a:t>
            </a:r>
            <a:r>
              <a:rPr lang="en-US" altLang="en-US" sz="2000" dirty="0">
                <a:cs typeface="Times New Roman" panose="02020603050405020304" pitchFamily="18" charset="0"/>
              </a:rPr>
              <a:t> </a:t>
            </a:r>
            <a:r>
              <a:rPr lang="en-US" altLang="en-US" sz="2000" dirty="0" err="1">
                <a:cs typeface="Times New Roman" panose="02020603050405020304" pitchFamily="18" charset="0"/>
              </a:rPr>
              <a:t>tự</a:t>
            </a:r>
            <a:r>
              <a:rPr lang="en-US" altLang="en-US" sz="2000" dirty="0">
                <a:cs typeface="Times New Roman" panose="02020603050405020304" pitchFamily="18" charset="0"/>
              </a:rPr>
              <a:t> </a:t>
            </a:r>
            <a:r>
              <a:rPr lang="en-US" altLang="en-US" sz="2000" dirty="0" err="1">
                <a:cs typeface="Times New Roman" panose="02020603050405020304" pitchFamily="18" charset="0"/>
              </a:rPr>
              <a:t>trước</a:t>
            </a:r>
            <a:r>
              <a:rPr lang="en-US" altLang="en-US" sz="2000" dirty="0">
                <a:cs typeface="Times New Roman" panose="02020603050405020304" pitchFamily="18" charset="0"/>
              </a:rPr>
              <a:t> (preorder traversal)</a:t>
            </a:r>
          </a:p>
        </p:txBody>
      </p:sp>
      <p:grpSp>
        <p:nvGrpSpPr>
          <p:cNvPr id="34822" name="Group 4"/>
          <p:cNvGrpSpPr>
            <a:grpSpLocks/>
          </p:cNvGrpSpPr>
          <p:nvPr/>
        </p:nvGrpSpPr>
        <p:grpSpPr bwMode="auto">
          <a:xfrm>
            <a:off x="5295900" y="4084638"/>
            <a:ext cx="3619500" cy="2163762"/>
            <a:chOff x="2664" y="2265"/>
            <a:chExt cx="1584" cy="938"/>
          </a:xfrm>
        </p:grpSpPr>
        <p:sp>
          <p:nvSpPr>
            <p:cNvPr id="34826" name="Text Box 5"/>
            <p:cNvSpPr txBox="1">
              <a:spLocks noChangeArrowheads="1"/>
            </p:cNvSpPr>
            <p:nvPr/>
          </p:nvSpPr>
          <p:spPr bwMode="auto">
            <a:xfrm>
              <a:off x="3672" y="2265"/>
              <a:ext cx="144" cy="1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T</a:t>
              </a:r>
            </a:p>
          </p:txBody>
        </p:sp>
        <p:sp>
          <p:nvSpPr>
            <p:cNvPr id="34827" name="Text Box 6"/>
            <p:cNvSpPr txBox="1">
              <a:spLocks noChangeArrowheads="1"/>
            </p:cNvSpPr>
            <p:nvPr/>
          </p:nvSpPr>
          <p:spPr bwMode="auto">
            <a:xfrm>
              <a:off x="3600" y="2481"/>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1</a:t>
              </a:r>
            </a:p>
          </p:txBody>
        </p:sp>
        <p:sp>
          <p:nvSpPr>
            <p:cNvPr id="34828" name="Text Box 7"/>
            <p:cNvSpPr txBox="1">
              <a:spLocks noChangeArrowheads="1"/>
            </p:cNvSpPr>
            <p:nvPr/>
          </p:nvSpPr>
          <p:spPr bwMode="auto">
            <a:xfrm>
              <a:off x="3456" y="2481"/>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34829" name="Line 8"/>
            <p:cNvSpPr>
              <a:spLocks noChangeShapeType="1"/>
            </p:cNvSpPr>
            <p:nvPr/>
          </p:nvSpPr>
          <p:spPr bwMode="auto">
            <a:xfrm flipH="1">
              <a:off x="3240" y="2553"/>
              <a:ext cx="288" cy="216"/>
            </a:xfrm>
            <a:prstGeom prst="line">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830" name="Text Box 9"/>
            <p:cNvSpPr txBox="1">
              <a:spLocks noChangeArrowheads="1"/>
            </p:cNvSpPr>
            <p:nvPr/>
          </p:nvSpPr>
          <p:spPr bwMode="auto">
            <a:xfrm>
              <a:off x="3744" y="2481"/>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34831" name="Line 10"/>
            <p:cNvSpPr>
              <a:spLocks noChangeShapeType="1"/>
            </p:cNvSpPr>
            <p:nvPr/>
          </p:nvSpPr>
          <p:spPr bwMode="auto">
            <a:xfrm>
              <a:off x="3816" y="2553"/>
              <a:ext cx="216" cy="225"/>
            </a:xfrm>
            <a:prstGeom prst="line">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34832" name="Group 11"/>
            <p:cNvGrpSpPr>
              <a:grpSpLocks/>
            </p:cNvGrpSpPr>
            <p:nvPr/>
          </p:nvGrpSpPr>
          <p:grpSpPr bwMode="auto">
            <a:xfrm>
              <a:off x="2880" y="2769"/>
              <a:ext cx="576" cy="287"/>
              <a:chOff x="6564" y="3084"/>
              <a:chExt cx="1200" cy="615"/>
            </a:xfrm>
          </p:grpSpPr>
          <p:sp>
            <p:nvSpPr>
              <p:cNvPr id="34853" name="Text Box 12"/>
              <p:cNvSpPr txBox="1">
                <a:spLocks noChangeArrowheads="1"/>
              </p:cNvSpPr>
              <p:nvPr/>
            </p:nvSpPr>
            <p:spPr bwMode="auto">
              <a:xfrm>
                <a:off x="7164" y="3084"/>
                <a:ext cx="300" cy="313"/>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2</a:t>
                </a:r>
              </a:p>
            </p:txBody>
          </p:sp>
          <p:sp>
            <p:nvSpPr>
              <p:cNvPr id="34854" name="Text Box 13"/>
              <p:cNvSpPr txBox="1">
                <a:spLocks noChangeArrowheads="1"/>
              </p:cNvSpPr>
              <p:nvPr/>
            </p:nvSpPr>
            <p:spPr bwMode="auto">
              <a:xfrm>
                <a:off x="6864" y="3084"/>
                <a:ext cx="300" cy="313"/>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34855" name="Line 14"/>
              <p:cNvSpPr>
                <a:spLocks noChangeShapeType="1"/>
              </p:cNvSpPr>
              <p:nvPr/>
            </p:nvSpPr>
            <p:spPr bwMode="auto">
              <a:xfrm flipH="1">
                <a:off x="6564" y="3238"/>
                <a:ext cx="450" cy="454"/>
              </a:xfrm>
              <a:prstGeom prst="line">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856" name="Text Box 15"/>
              <p:cNvSpPr txBox="1">
                <a:spLocks noChangeArrowheads="1"/>
              </p:cNvSpPr>
              <p:nvPr/>
            </p:nvSpPr>
            <p:spPr bwMode="auto">
              <a:xfrm>
                <a:off x="7464" y="3084"/>
                <a:ext cx="300" cy="313"/>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34857" name="Line 16"/>
              <p:cNvSpPr>
                <a:spLocks noChangeShapeType="1"/>
              </p:cNvSpPr>
              <p:nvPr/>
            </p:nvSpPr>
            <p:spPr bwMode="auto">
              <a:xfrm>
                <a:off x="7614" y="3238"/>
                <a:ext cx="46" cy="461"/>
              </a:xfrm>
              <a:prstGeom prst="line">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34833" name="Text Box 17"/>
            <p:cNvSpPr txBox="1">
              <a:spLocks noChangeArrowheads="1"/>
            </p:cNvSpPr>
            <p:nvPr/>
          </p:nvSpPr>
          <p:spPr bwMode="auto">
            <a:xfrm>
              <a:off x="3960" y="2769"/>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3</a:t>
              </a:r>
            </a:p>
          </p:txBody>
        </p:sp>
        <p:sp>
          <p:nvSpPr>
            <p:cNvPr id="34834" name="Text Box 18"/>
            <p:cNvSpPr txBox="1">
              <a:spLocks noChangeArrowheads="1"/>
            </p:cNvSpPr>
            <p:nvPr/>
          </p:nvSpPr>
          <p:spPr bwMode="auto">
            <a:xfrm>
              <a:off x="3816" y="2769"/>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34835" name="Line 19"/>
            <p:cNvSpPr>
              <a:spLocks noChangeShapeType="1"/>
            </p:cNvSpPr>
            <p:nvPr/>
          </p:nvSpPr>
          <p:spPr bwMode="auto">
            <a:xfrm flipH="1">
              <a:off x="3862" y="2841"/>
              <a:ext cx="26" cy="215"/>
            </a:xfrm>
            <a:prstGeom prst="line">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836" name="Text Box 20"/>
            <p:cNvSpPr txBox="1">
              <a:spLocks noChangeArrowheads="1"/>
            </p:cNvSpPr>
            <p:nvPr/>
          </p:nvSpPr>
          <p:spPr bwMode="auto">
            <a:xfrm>
              <a:off x="4104" y="2769"/>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34837" name="Text Box 21"/>
            <p:cNvSpPr txBox="1">
              <a:spLocks noChangeArrowheads="1"/>
            </p:cNvSpPr>
            <p:nvPr/>
          </p:nvSpPr>
          <p:spPr bwMode="auto">
            <a:xfrm>
              <a:off x="2808"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4</a:t>
              </a:r>
            </a:p>
          </p:txBody>
        </p:sp>
        <p:sp>
          <p:nvSpPr>
            <p:cNvPr id="34838" name="Text Box 22"/>
            <p:cNvSpPr txBox="1">
              <a:spLocks noChangeArrowheads="1"/>
            </p:cNvSpPr>
            <p:nvPr/>
          </p:nvSpPr>
          <p:spPr bwMode="auto">
            <a:xfrm>
              <a:off x="2664"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34839" name="Text Box 23"/>
            <p:cNvSpPr txBox="1">
              <a:spLocks noChangeArrowheads="1"/>
            </p:cNvSpPr>
            <p:nvPr/>
          </p:nvSpPr>
          <p:spPr bwMode="auto">
            <a:xfrm>
              <a:off x="2952"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34840" name="Text Box 24"/>
            <p:cNvSpPr txBox="1">
              <a:spLocks noChangeArrowheads="1"/>
            </p:cNvSpPr>
            <p:nvPr/>
          </p:nvSpPr>
          <p:spPr bwMode="auto">
            <a:xfrm>
              <a:off x="3312"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5</a:t>
              </a:r>
            </a:p>
          </p:txBody>
        </p:sp>
        <p:sp>
          <p:nvSpPr>
            <p:cNvPr id="34841" name="Text Box 25"/>
            <p:cNvSpPr txBox="1">
              <a:spLocks noChangeArrowheads="1"/>
            </p:cNvSpPr>
            <p:nvPr/>
          </p:nvSpPr>
          <p:spPr bwMode="auto">
            <a:xfrm>
              <a:off x="3168"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34842" name="Text Box 26"/>
            <p:cNvSpPr txBox="1">
              <a:spLocks noChangeArrowheads="1"/>
            </p:cNvSpPr>
            <p:nvPr/>
          </p:nvSpPr>
          <p:spPr bwMode="auto">
            <a:xfrm>
              <a:off x="3456"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34843" name="Text Box 27"/>
            <p:cNvSpPr txBox="1">
              <a:spLocks noChangeArrowheads="1"/>
            </p:cNvSpPr>
            <p:nvPr/>
          </p:nvSpPr>
          <p:spPr bwMode="auto">
            <a:xfrm>
              <a:off x="3816"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6</a:t>
              </a:r>
            </a:p>
          </p:txBody>
        </p:sp>
        <p:sp>
          <p:nvSpPr>
            <p:cNvPr id="34844" name="Text Box 28"/>
            <p:cNvSpPr txBox="1">
              <a:spLocks noChangeArrowheads="1"/>
            </p:cNvSpPr>
            <p:nvPr/>
          </p:nvSpPr>
          <p:spPr bwMode="auto">
            <a:xfrm>
              <a:off x="3672"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34845" name="Text Box 29"/>
            <p:cNvSpPr txBox="1">
              <a:spLocks noChangeArrowheads="1"/>
            </p:cNvSpPr>
            <p:nvPr/>
          </p:nvSpPr>
          <p:spPr bwMode="auto">
            <a:xfrm>
              <a:off x="3960"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34846" name="Line 30"/>
            <p:cNvSpPr>
              <a:spLocks noChangeShapeType="1"/>
            </p:cNvSpPr>
            <p:nvPr/>
          </p:nvSpPr>
          <p:spPr bwMode="auto">
            <a:xfrm flipH="1">
              <a:off x="3960" y="3057"/>
              <a:ext cx="144"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7" name="Line 31"/>
            <p:cNvSpPr>
              <a:spLocks noChangeShapeType="1"/>
            </p:cNvSpPr>
            <p:nvPr/>
          </p:nvSpPr>
          <p:spPr bwMode="auto">
            <a:xfrm>
              <a:off x="3672" y="2337"/>
              <a:ext cx="0" cy="143"/>
            </a:xfrm>
            <a:prstGeom prst="line">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848" name="Line 32"/>
            <p:cNvSpPr>
              <a:spLocks noChangeShapeType="1"/>
            </p:cNvSpPr>
            <p:nvPr/>
          </p:nvSpPr>
          <p:spPr bwMode="auto">
            <a:xfrm flipH="1">
              <a:off x="2664" y="3056"/>
              <a:ext cx="144"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9" name="Line 33"/>
            <p:cNvSpPr>
              <a:spLocks noChangeShapeType="1"/>
            </p:cNvSpPr>
            <p:nvPr/>
          </p:nvSpPr>
          <p:spPr bwMode="auto">
            <a:xfrm flipH="1">
              <a:off x="2952" y="3056"/>
              <a:ext cx="144"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0" name="Line 34"/>
            <p:cNvSpPr>
              <a:spLocks noChangeShapeType="1"/>
            </p:cNvSpPr>
            <p:nvPr/>
          </p:nvSpPr>
          <p:spPr bwMode="auto">
            <a:xfrm flipH="1">
              <a:off x="3168" y="3056"/>
              <a:ext cx="144"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1" name="Line 35"/>
            <p:cNvSpPr>
              <a:spLocks noChangeShapeType="1"/>
            </p:cNvSpPr>
            <p:nvPr/>
          </p:nvSpPr>
          <p:spPr bwMode="auto">
            <a:xfrm flipH="1">
              <a:off x="3456" y="3056"/>
              <a:ext cx="144"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2" name="Line 36"/>
            <p:cNvSpPr>
              <a:spLocks noChangeShapeType="1"/>
            </p:cNvSpPr>
            <p:nvPr/>
          </p:nvSpPr>
          <p:spPr bwMode="auto">
            <a:xfrm flipH="1">
              <a:off x="4104" y="2768"/>
              <a:ext cx="144"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4823" name="Rectangle 37"/>
          <p:cNvSpPr>
            <a:spLocks noChangeArrowheads="1"/>
          </p:cNvSpPr>
          <p:nvPr/>
        </p:nvSpPr>
        <p:spPr bwMode="auto">
          <a:xfrm>
            <a:off x="1066800" y="2173287"/>
            <a:ext cx="5715000" cy="22463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eaLnBrk="0" hangingPunct="0">
              <a:defRPr sz="2400">
                <a:solidFill>
                  <a:schemeClr val="tx1"/>
                </a:solidFill>
                <a:latin typeface="Times New Roman" panose="02020603050405020304" pitchFamily="18" charset="0"/>
              </a:defRPr>
            </a:lvl1pPr>
            <a:lvl2pPr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lvl="1" eaLnBrk="1" hangingPunct="1"/>
            <a:r>
              <a:rPr lang="en-US" altLang="en-US" sz="2000" i="1" dirty="0">
                <a:cs typeface="Times New Roman" panose="02020603050405020304" pitchFamily="18" charset="0"/>
              </a:rPr>
              <a:t>//</a:t>
            </a:r>
            <a:r>
              <a:rPr lang="en-US" altLang="en-US" sz="2000" i="1" dirty="0" err="1">
                <a:cs typeface="Times New Roman" panose="02020603050405020304" pitchFamily="18" charset="0"/>
              </a:rPr>
              <a:t>Duyệt</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cây</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theo</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thứ</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tự</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trước</a:t>
            </a:r>
            <a:endParaRPr lang="en-US" altLang="en-US" sz="2000" dirty="0">
              <a:cs typeface="Times New Roman" panose="02020603050405020304" pitchFamily="18" charset="0"/>
            </a:endParaRPr>
          </a:p>
          <a:p>
            <a:pPr lvl="1" eaLnBrk="1" hangingPunct="1"/>
            <a:r>
              <a:rPr lang="en-US" altLang="en-US" sz="2000" b="1" dirty="0">
                <a:cs typeface="Times New Roman" panose="02020603050405020304" pitchFamily="18" charset="0"/>
              </a:rPr>
              <a:t>void </a:t>
            </a:r>
            <a:r>
              <a:rPr lang="en-US" altLang="en-US" sz="2000" dirty="0">
                <a:cs typeface="Times New Roman" panose="02020603050405020304" pitchFamily="18" charset="0"/>
              </a:rPr>
              <a:t> </a:t>
            </a:r>
            <a:r>
              <a:rPr lang="en-US" altLang="en-US" sz="2000" b="1" i="1" dirty="0" err="1">
                <a:cs typeface="Times New Roman" panose="02020603050405020304" pitchFamily="18" charset="0"/>
              </a:rPr>
              <a:t>PreOrderTraversal</a:t>
            </a:r>
            <a:r>
              <a:rPr lang="en-US" altLang="en-US" sz="2000" dirty="0">
                <a:cs typeface="Times New Roman" panose="02020603050405020304" pitchFamily="18" charset="0"/>
              </a:rPr>
              <a:t> (</a:t>
            </a:r>
            <a:r>
              <a:rPr lang="en-US" altLang="en-US" sz="2000" dirty="0" err="1">
                <a:cs typeface="Times New Roman" panose="02020603050405020304" pitchFamily="18" charset="0"/>
              </a:rPr>
              <a:t>BinaryTree</a:t>
            </a:r>
            <a:r>
              <a:rPr lang="en-US" altLang="en-US" sz="2000" dirty="0">
                <a:cs typeface="Times New Roman" panose="02020603050405020304" pitchFamily="18" charset="0"/>
              </a:rPr>
              <a:t>  T) {</a:t>
            </a:r>
          </a:p>
          <a:p>
            <a:pPr lvl="1" eaLnBrk="1" hangingPunct="1"/>
            <a:r>
              <a:rPr lang="en-US" altLang="en-US" sz="2000" dirty="0">
                <a:cs typeface="Times New Roman" panose="02020603050405020304" pitchFamily="18" charset="0"/>
              </a:rPr>
              <a:t>	</a:t>
            </a:r>
            <a:r>
              <a:rPr lang="en-US" altLang="en-US" sz="2000" b="1" dirty="0">
                <a:cs typeface="Times New Roman" panose="02020603050405020304" pitchFamily="18" charset="0"/>
              </a:rPr>
              <a:t>if</a:t>
            </a:r>
            <a:r>
              <a:rPr lang="en-US" altLang="en-US" sz="2000" dirty="0">
                <a:cs typeface="Times New Roman" panose="02020603050405020304" pitchFamily="18" charset="0"/>
              </a:rPr>
              <a:t>  (T==NULL) return;</a:t>
            </a:r>
            <a:endParaRPr lang="en-US" altLang="en-US" sz="2000" b="1" dirty="0">
              <a:cs typeface="Times New Roman" panose="02020603050405020304" pitchFamily="18" charset="0"/>
            </a:endParaRPr>
          </a:p>
          <a:p>
            <a:pPr lvl="1" eaLnBrk="1" hangingPunct="1"/>
            <a:r>
              <a:rPr lang="en-US" altLang="en-US" sz="2000" dirty="0">
                <a:cs typeface="Times New Roman" panose="02020603050405020304" pitchFamily="18" charset="0"/>
              </a:rPr>
              <a:t>	</a:t>
            </a:r>
            <a:r>
              <a:rPr lang="en-US" altLang="en-US" sz="2000" b="1" i="1" dirty="0">
                <a:cs typeface="Times New Roman" panose="02020603050405020304" pitchFamily="18" charset="0"/>
              </a:rPr>
              <a:t>Visit</a:t>
            </a:r>
            <a:r>
              <a:rPr lang="en-US" altLang="en-US" sz="2000" dirty="0">
                <a:cs typeface="Times New Roman" panose="02020603050405020304" pitchFamily="18" charset="0"/>
              </a:rPr>
              <a:t>(T);</a:t>
            </a:r>
          </a:p>
          <a:p>
            <a:pPr lvl="1" eaLnBrk="1" hangingPunct="1"/>
            <a:r>
              <a:rPr lang="en-US" altLang="en-US" sz="2000" dirty="0">
                <a:cs typeface="Times New Roman" panose="02020603050405020304" pitchFamily="18" charset="0"/>
              </a:rPr>
              <a:t>	</a:t>
            </a:r>
            <a:r>
              <a:rPr lang="en-US" altLang="en-US" sz="2000" b="1" i="1" dirty="0" err="1">
                <a:cs typeface="Times New Roman" panose="02020603050405020304" pitchFamily="18" charset="0"/>
              </a:rPr>
              <a:t>PreOrderTraversal</a:t>
            </a:r>
            <a:r>
              <a:rPr lang="en-US" altLang="en-US" sz="2000" dirty="0">
                <a:cs typeface="Times New Roman" panose="02020603050405020304" pitchFamily="18" charset="0"/>
              </a:rPr>
              <a:t>(T-&gt;LP);</a:t>
            </a:r>
          </a:p>
          <a:p>
            <a:pPr lvl="1" eaLnBrk="1" hangingPunct="1"/>
            <a:r>
              <a:rPr lang="en-US" altLang="en-US" sz="2000" dirty="0">
                <a:cs typeface="Times New Roman" panose="02020603050405020304" pitchFamily="18" charset="0"/>
              </a:rPr>
              <a:t>	</a:t>
            </a:r>
            <a:r>
              <a:rPr lang="en-US" altLang="en-US" sz="2000" b="1" i="1" dirty="0" err="1">
                <a:cs typeface="Times New Roman" panose="02020603050405020304" pitchFamily="18" charset="0"/>
              </a:rPr>
              <a:t>PreOrderTraversal</a:t>
            </a:r>
            <a:r>
              <a:rPr lang="en-US" altLang="en-US" sz="2000" dirty="0">
                <a:cs typeface="Times New Roman" panose="02020603050405020304" pitchFamily="18" charset="0"/>
              </a:rPr>
              <a:t>(T-&gt;RP);</a:t>
            </a:r>
          </a:p>
          <a:p>
            <a:pPr lvl="1" eaLnBrk="1" hangingPunct="1"/>
            <a:r>
              <a:rPr lang="en-US" altLang="en-US" sz="2000" dirty="0">
                <a:cs typeface="Times New Roman" panose="02020603050405020304" pitchFamily="18" charset="0"/>
              </a:rPr>
              <a:t>}</a:t>
            </a:r>
          </a:p>
        </p:txBody>
      </p:sp>
      <p:sp>
        <p:nvSpPr>
          <p:cNvPr id="34824" name="Rectangle 38"/>
          <p:cNvSpPr>
            <a:spLocks noChangeArrowheads="1"/>
          </p:cNvSpPr>
          <p:nvPr/>
        </p:nvSpPr>
        <p:spPr bwMode="auto">
          <a:xfrm>
            <a:off x="1066800" y="5257800"/>
            <a:ext cx="2971800" cy="40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eaLnBrk="0" hangingPunct="0">
              <a:defRPr sz="2400">
                <a:solidFill>
                  <a:schemeClr val="tx1"/>
                </a:solidFill>
                <a:latin typeface="Times New Roman" panose="02020603050405020304" pitchFamily="18" charset="0"/>
              </a:defRPr>
            </a:lvl1pPr>
            <a:lvl2pPr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lvl="1" eaLnBrk="1" hangingPunct="1"/>
            <a:r>
              <a:rPr lang="en-US" altLang="en-US" sz="2000" b="1" i="1">
                <a:cs typeface="Times New Roman" panose="02020603050405020304" pitchFamily="18" charset="0"/>
              </a:rPr>
              <a:t>1, 2, 4, 5, 3, 6</a:t>
            </a:r>
          </a:p>
        </p:txBody>
      </p:sp>
      <p:sp>
        <p:nvSpPr>
          <p:cNvPr id="41" name="Left Arrow 40"/>
          <p:cNvSpPr/>
          <p:nvPr/>
        </p:nvSpPr>
        <p:spPr>
          <a:xfrm>
            <a:off x="4419600" y="5334000"/>
            <a:ext cx="990600" cy="2286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2088005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2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82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82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482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48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4" grpId="0" animBg="1"/>
      <p:bldP spid="4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2"/>
          <p:cNvSpPr>
            <a:spLocks noGrp="1" noChangeArrowheads="1"/>
          </p:cNvSpPr>
          <p:nvPr>
            <p:ph type="title"/>
          </p:nvPr>
        </p:nvSpPr>
        <p:spPr/>
        <p:txBody>
          <a:bodyPr/>
          <a:lstStyle/>
          <a:p>
            <a:pPr eaLnBrk="1" hangingPunct="1"/>
            <a:r>
              <a:rPr lang="en-US" altLang="en-US" dirty="0" err="1"/>
              <a:t>Cài</a:t>
            </a:r>
            <a:r>
              <a:rPr lang="en-US" altLang="en-US" dirty="0"/>
              <a:t> </a:t>
            </a:r>
            <a:r>
              <a:rPr lang="en-US" altLang="en-US" dirty="0" err="1"/>
              <a:t>đặt</a:t>
            </a:r>
            <a:r>
              <a:rPr lang="en-US" altLang="en-US" dirty="0"/>
              <a:t> </a:t>
            </a:r>
            <a:r>
              <a:rPr lang="en-US" altLang="en-US" dirty="0" err="1"/>
              <a:t>cây</a:t>
            </a:r>
            <a:r>
              <a:rPr lang="en-US" altLang="en-US" dirty="0"/>
              <a:t> </a:t>
            </a:r>
            <a:r>
              <a:rPr lang="en-US" altLang="en-US" dirty="0" err="1"/>
              <a:t>nhị</a:t>
            </a:r>
            <a:r>
              <a:rPr lang="en-US" altLang="en-US" dirty="0"/>
              <a:t> </a:t>
            </a:r>
            <a:r>
              <a:rPr lang="en-US" altLang="en-US" dirty="0" err="1"/>
              <a:t>phân</a:t>
            </a:r>
            <a:r>
              <a:rPr lang="en-US" altLang="en-US" dirty="0"/>
              <a:t> </a:t>
            </a:r>
          </a:p>
        </p:txBody>
      </p:sp>
      <p:sp>
        <p:nvSpPr>
          <p:cNvPr id="35845" name="Rectangle 3"/>
          <p:cNvSpPr>
            <a:spLocks noGrp="1" noChangeArrowheads="1"/>
          </p:cNvSpPr>
          <p:nvPr>
            <p:ph type="body" sz="quarter" idx="13"/>
          </p:nvPr>
        </p:nvSpPr>
        <p:spPr>
          <a:noFill/>
        </p:spPr>
        <p:txBody>
          <a:bodyPr>
            <a:normAutofit/>
          </a:bodyPr>
          <a:lstStyle/>
          <a:p>
            <a:pPr eaLnBrk="1" hangingPunct="1"/>
            <a:r>
              <a:rPr lang="en-US" altLang="en-US" sz="2400" dirty="0" err="1">
                <a:cs typeface="Times New Roman" panose="02020603050405020304" pitchFamily="18" charset="0"/>
              </a:rPr>
              <a:t>Dùng</a:t>
            </a:r>
            <a:r>
              <a:rPr lang="en-US" altLang="en-US" sz="2400" dirty="0">
                <a:cs typeface="Times New Roman" panose="02020603050405020304" pitchFamily="18" charset="0"/>
              </a:rPr>
              <a:t> </a:t>
            </a:r>
            <a:r>
              <a:rPr lang="en-US" altLang="en-US" sz="2400" dirty="0" err="1">
                <a:cs typeface="Times New Roman" panose="02020603050405020304" pitchFamily="18" charset="0"/>
              </a:rPr>
              <a:t>cấu</a:t>
            </a:r>
            <a:r>
              <a:rPr lang="en-US" altLang="en-US" sz="2400" dirty="0">
                <a:cs typeface="Times New Roman" panose="02020603050405020304" pitchFamily="18" charset="0"/>
              </a:rPr>
              <a:t> </a:t>
            </a:r>
            <a:r>
              <a:rPr lang="en-US" altLang="en-US" sz="2400" dirty="0" err="1">
                <a:cs typeface="Times New Roman" panose="02020603050405020304" pitchFamily="18" charset="0"/>
              </a:rPr>
              <a:t>trúc</a:t>
            </a:r>
            <a:r>
              <a:rPr lang="en-US" altLang="en-US" sz="2400" dirty="0">
                <a:cs typeface="Times New Roman" panose="02020603050405020304" pitchFamily="18" charset="0"/>
              </a:rPr>
              <a:t> </a:t>
            </a:r>
            <a:r>
              <a:rPr lang="en-US" altLang="en-US" sz="2400" dirty="0" err="1">
                <a:cs typeface="Times New Roman" panose="02020603050405020304" pitchFamily="18" charset="0"/>
              </a:rPr>
              <a:t>móc</a:t>
            </a:r>
            <a:r>
              <a:rPr lang="en-US" altLang="en-US" sz="2400" dirty="0">
                <a:cs typeface="Times New Roman" panose="02020603050405020304" pitchFamily="18" charset="0"/>
              </a:rPr>
              <a:t> </a:t>
            </a:r>
            <a:r>
              <a:rPr lang="en-US" altLang="en-US" sz="2400" dirty="0" err="1">
                <a:cs typeface="Times New Roman" panose="02020603050405020304" pitchFamily="18" charset="0"/>
              </a:rPr>
              <a:t>nối</a:t>
            </a:r>
            <a:r>
              <a:rPr lang="en-US" altLang="en-US" sz="2400" dirty="0">
                <a:cs typeface="Times New Roman" panose="02020603050405020304" pitchFamily="18" charset="0"/>
              </a:rPr>
              <a:t> - </a:t>
            </a:r>
            <a:r>
              <a:rPr lang="en-US" altLang="en-US" sz="2400" dirty="0" err="1">
                <a:cs typeface="Times New Roman" panose="02020603050405020304" pitchFamily="18" charset="0"/>
              </a:rPr>
              <a:t>Cài</a:t>
            </a:r>
            <a:r>
              <a:rPr lang="en-US" altLang="en-US" sz="2400" dirty="0">
                <a:cs typeface="Times New Roman" panose="02020603050405020304" pitchFamily="18" charset="0"/>
              </a:rPr>
              <a:t> </a:t>
            </a:r>
            <a:r>
              <a:rPr lang="en-US" altLang="en-US" sz="2400" dirty="0" err="1">
                <a:cs typeface="Times New Roman" panose="02020603050405020304" pitchFamily="18" charset="0"/>
              </a:rPr>
              <a:t>đặt</a:t>
            </a:r>
            <a:r>
              <a:rPr lang="en-US" altLang="en-US" sz="2400" dirty="0">
                <a:cs typeface="Times New Roman" panose="02020603050405020304" pitchFamily="18" charset="0"/>
              </a:rPr>
              <a:t> </a:t>
            </a:r>
            <a:r>
              <a:rPr lang="en-US" altLang="en-US" sz="2400" dirty="0" err="1">
                <a:cs typeface="Times New Roman" panose="02020603050405020304" pitchFamily="18" charset="0"/>
              </a:rPr>
              <a:t>một</a:t>
            </a:r>
            <a:r>
              <a:rPr lang="en-US" altLang="en-US" sz="2400" dirty="0">
                <a:cs typeface="Times New Roman" panose="02020603050405020304" pitchFamily="18" charset="0"/>
              </a:rPr>
              <a:t> </a:t>
            </a:r>
            <a:r>
              <a:rPr lang="en-US" altLang="en-US" sz="2400" dirty="0" err="1">
                <a:cs typeface="Times New Roman" panose="02020603050405020304" pitchFamily="18" charset="0"/>
              </a:rPr>
              <a:t>số</a:t>
            </a:r>
            <a:r>
              <a:rPr lang="en-US" altLang="en-US" sz="2400" dirty="0">
                <a:cs typeface="Times New Roman" panose="02020603050405020304" pitchFamily="18" charset="0"/>
              </a:rPr>
              <a:t> </a:t>
            </a:r>
            <a:r>
              <a:rPr lang="en-US" altLang="en-US" sz="2400" dirty="0" err="1">
                <a:cs typeface="Times New Roman" panose="02020603050405020304" pitchFamily="18" charset="0"/>
              </a:rPr>
              <a:t>thao</a:t>
            </a:r>
            <a:r>
              <a:rPr lang="en-US" altLang="en-US" sz="2400" dirty="0">
                <a:cs typeface="Times New Roman" panose="02020603050405020304" pitchFamily="18" charset="0"/>
              </a:rPr>
              <a:t> </a:t>
            </a:r>
            <a:r>
              <a:rPr lang="en-US" altLang="en-US" sz="2400" dirty="0" err="1">
                <a:cs typeface="Times New Roman" panose="02020603050405020304" pitchFamily="18" charset="0"/>
              </a:rPr>
              <a:t>tác</a:t>
            </a:r>
            <a:r>
              <a:rPr lang="en-US" altLang="en-US" sz="2400" dirty="0">
                <a:cs typeface="Times New Roman" panose="02020603050405020304" pitchFamily="18" charset="0"/>
              </a:rPr>
              <a:t> </a:t>
            </a:r>
            <a:r>
              <a:rPr lang="en-US" altLang="en-US" sz="2400" dirty="0" err="1">
                <a:cs typeface="Times New Roman" panose="02020603050405020304" pitchFamily="18" charset="0"/>
              </a:rPr>
              <a:t>cơ</a:t>
            </a:r>
            <a:r>
              <a:rPr lang="en-US" altLang="en-US" sz="2400" dirty="0">
                <a:cs typeface="Times New Roman" panose="02020603050405020304" pitchFamily="18" charset="0"/>
              </a:rPr>
              <a:t> </a:t>
            </a:r>
            <a:r>
              <a:rPr lang="en-US" altLang="en-US" sz="2400" dirty="0" err="1">
                <a:cs typeface="Times New Roman" panose="02020603050405020304" pitchFamily="18" charset="0"/>
              </a:rPr>
              <a:t>bản</a:t>
            </a:r>
            <a:endParaRPr lang="en-US" altLang="en-US" sz="2400" dirty="0">
              <a:cs typeface="Times New Roman" panose="02020603050405020304" pitchFamily="18" charset="0"/>
            </a:endParaRPr>
          </a:p>
          <a:p>
            <a:pPr lvl="1" eaLnBrk="1" hangingPunct="1"/>
            <a:r>
              <a:rPr lang="en-US" altLang="en-US" sz="2000" dirty="0" err="1">
                <a:cs typeface="Times New Roman" panose="02020603050405020304" pitchFamily="18" charset="0"/>
              </a:rPr>
              <a:t>Duyệt</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theo</a:t>
            </a:r>
            <a:r>
              <a:rPr lang="en-US" altLang="en-US" sz="2000" dirty="0">
                <a:cs typeface="Times New Roman" panose="02020603050405020304" pitchFamily="18" charset="0"/>
              </a:rPr>
              <a:t> </a:t>
            </a:r>
            <a:r>
              <a:rPr lang="en-US" altLang="en-US" sz="2000" dirty="0" err="1">
                <a:cs typeface="Times New Roman" panose="02020603050405020304" pitchFamily="18" charset="0"/>
              </a:rPr>
              <a:t>thứ</a:t>
            </a:r>
            <a:r>
              <a:rPr lang="en-US" altLang="en-US" sz="2000" dirty="0">
                <a:cs typeface="Times New Roman" panose="02020603050405020304" pitchFamily="18" charset="0"/>
              </a:rPr>
              <a:t> </a:t>
            </a:r>
            <a:r>
              <a:rPr lang="en-US" altLang="en-US" sz="2000" dirty="0" err="1">
                <a:cs typeface="Times New Roman" panose="02020603050405020304" pitchFamily="18" charset="0"/>
              </a:rPr>
              <a:t>tự</a:t>
            </a:r>
            <a:r>
              <a:rPr lang="en-US" altLang="en-US" sz="2000" dirty="0">
                <a:cs typeface="Times New Roman" panose="02020603050405020304" pitchFamily="18" charset="0"/>
              </a:rPr>
              <a:t> </a:t>
            </a:r>
            <a:r>
              <a:rPr lang="en-US" altLang="en-US" sz="2000" dirty="0" err="1">
                <a:cs typeface="Times New Roman" panose="02020603050405020304" pitchFamily="18" charset="0"/>
              </a:rPr>
              <a:t>giữa</a:t>
            </a:r>
            <a:r>
              <a:rPr lang="en-US" altLang="en-US" sz="2000" dirty="0">
                <a:cs typeface="Times New Roman" panose="02020603050405020304" pitchFamily="18" charset="0"/>
              </a:rPr>
              <a:t> (</a:t>
            </a:r>
            <a:r>
              <a:rPr lang="en-US" altLang="en-US" sz="2000" dirty="0" err="1">
                <a:cs typeface="Times New Roman" panose="02020603050405020304" pitchFamily="18" charset="0"/>
              </a:rPr>
              <a:t>inorder</a:t>
            </a:r>
            <a:r>
              <a:rPr lang="en-US" altLang="en-US" sz="2000" dirty="0">
                <a:cs typeface="Times New Roman" panose="02020603050405020304" pitchFamily="18" charset="0"/>
              </a:rPr>
              <a:t> traversal)</a:t>
            </a:r>
          </a:p>
        </p:txBody>
      </p:sp>
      <p:sp>
        <p:nvSpPr>
          <p:cNvPr id="35847" name="Rectangle 37"/>
          <p:cNvSpPr>
            <a:spLocks noChangeArrowheads="1"/>
          </p:cNvSpPr>
          <p:nvPr/>
        </p:nvSpPr>
        <p:spPr bwMode="auto">
          <a:xfrm>
            <a:off x="1066800" y="2249487"/>
            <a:ext cx="5715000" cy="22463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eaLnBrk="0" hangingPunct="0">
              <a:defRPr sz="2400">
                <a:solidFill>
                  <a:schemeClr val="tx1"/>
                </a:solidFill>
                <a:latin typeface="Times New Roman" panose="02020603050405020304" pitchFamily="18" charset="0"/>
              </a:defRPr>
            </a:lvl1pPr>
            <a:lvl2pPr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lvl="1" eaLnBrk="1" hangingPunct="1"/>
            <a:r>
              <a:rPr lang="en-US" altLang="en-US" sz="2000" i="1" dirty="0">
                <a:cs typeface="Times New Roman" panose="02020603050405020304" pitchFamily="18" charset="0"/>
              </a:rPr>
              <a:t>//</a:t>
            </a:r>
            <a:r>
              <a:rPr lang="en-US" altLang="en-US" sz="2000" i="1" dirty="0" err="1">
                <a:cs typeface="Times New Roman" panose="02020603050405020304" pitchFamily="18" charset="0"/>
              </a:rPr>
              <a:t>Duyệt</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cây</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theo</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thứ</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tự</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giữa</a:t>
            </a:r>
            <a:endParaRPr lang="en-US" altLang="en-US" sz="2000" dirty="0">
              <a:cs typeface="Times New Roman" panose="02020603050405020304" pitchFamily="18" charset="0"/>
            </a:endParaRPr>
          </a:p>
          <a:p>
            <a:pPr lvl="1" eaLnBrk="1" hangingPunct="1"/>
            <a:r>
              <a:rPr lang="en-US" altLang="en-US" sz="2000" b="1" dirty="0">
                <a:cs typeface="Times New Roman" panose="02020603050405020304" pitchFamily="18" charset="0"/>
              </a:rPr>
              <a:t>void</a:t>
            </a:r>
            <a:r>
              <a:rPr lang="en-US" altLang="en-US" sz="2000" dirty="0">
                <a:cs typeface="Times New Roman" panose="02020603050405020304" pitchFamily="18" charset="0"/>
              </a:rPr>
              <a:t>  </a:t>
            </a:r>
            <a:r>
              <a:rPr lang="en-US" altLang="en-US" sz="2000" b="1" i="1" dirty="0" err="1">
                <a:cs typeface="Times New Roman" panose="02020603050405020304" pitchFamily="18" charset="0"/>
              </a:rPr>
              <a:t>InOrderTraversal</a:t>
            </a:r>
            <a:r>
              <a:rPr lang="en-US" altLang="en-US" sz="2000" dirty="0">
                <a:cs typeface="Times New Roman" panose="02020603050405020304" pitchFamily="18" charset="0"/>
              </a:rPr>
              <a:t> (</a:t>
            </a:r>
            <a:r>
              <a:rPr lang="en-US" altLang="en-US" sz="2000" dirty="0" err="1">
                <a:cs typeface="Times New Roman" panose="02020603050405020304" pitchFamily="18" charset="0"/>
              </a:rPr>
              <a:t>BinaryTree</a:t>
            </a:r>
            <a:r>
              <a:rPr lang="en-US" altLang="en-US" sz="2000" dirty="0">
                <a:cs typeface="Times New Roman" panose="02020603050405020304" pitchFamily="18" charset="0"/>
              </a:rPr>
              <a:t>  T) {</a:t>
            </a:r>
          </a:p>
          <a:p>
            <a:pPr lvl="1" eaLnBrk="1" hangingPunct="1"/>
            <a:r>
              <a:rPr lang="en-US" altLang="en-US" sz="2000" dirty="0">
                <a:cs typeface="Times New Roman" panose="02020603050405020304" pitchFamily="18" charset="0"/>
              </a:rPr>
              <a:t>	</a:t>
            </a:r>
            <a:r>
              <a:rPr lang="en-US" altLang="en-US" sz="2000" b="1" dirty="0">
                <a:cs typeface="Times New Roman" panose="02020603050405020304" pitchFamily="18" charset="0"/>
              </a:rPr>
              <a:t>if</a:t>
            </a:r>
            <a:r>
              <a:rPr lang="en-US" altLang="en-US" sz="2000" dirty="0">
                <a:cs typeface="Times New Roman" panose="02020603050405020304" pitchFamily="18" charset="0"/>
              </a:rPr>
              <a:t>  (T==NULL) </a:t>
            </a:r>
            <a:r>
              <a:rPr lang="en-US" altLang="en-US" sz="2000" b="1" dirty="0">
                <a:cs typeface="Times New Roman" panose="02020603050405020304" pitchFamily="18" charset="0"/>
              </a:rPr>
              <a:t>return;</a:t>
            </a:r>
          </a:p>
          <a:p>
            <a:pPr lvl="1" eaLnBrk="1" hangingPunct="1"/>
            <a:r>
              <a:rPr lang="en-US" altLang="en-US" sz="2000" dirty="0">
                <a:cs typeface="Times New Roman" panose="02020603050405020304" pitchFamily="18" charset="0"/>
              </a:rPr>
              <a:t>	</a:t>
            </a:r>
            <a:r>
              <a:rPr lang="en-US" altLang="en-US" sz="2000" b="1" i="1" dirty="0" err="1">
                <a:cs typeface="Times New Roman" panose="02020603050405020304" pitchFamily="18" charset="0"/>
              </a:rPr>
              <a:t>InOrderTraversal</a:t>
            </a:r>
            <a:r>
              <a:rPr lang="en-US" altLang="en-US" sz="2000" dirty="0">
                <a:cs typeface="Times New Roman" panose="02020603050405020304" pitchFamily="18" charset="0"/>
              </a:rPr>
              <a:t>(T-&gt;LP); 			</a:t>
            </a:r>
            <a:r>
              <a:rPr lang="en-US" altLang="en-US" sz="2000" b="1" i="1" dirty="0">
                <a:cs typeface="Times New Roman" panose="02020603050405020304" pitchFamily="18" charset="0"/>
              </a:rPr>
              <a:t>Visit</a:t>
            </a:r>
            <a:r>
              <a:rPr lang="en-US" altLang="en-US" sz="2000" dirty="0">
                <a:cs typeface="Times New Roman" panose="02020603050405020304" pitchFamily="18" charset="0"/>
              </a:rPr>
              <a:t>(T);</a:t>
            </a:r>
          </a:p>
          <a:p>
            <a:pPr lvl="1" eaLnBrk="1" hangingPunct="1"/>
            <a:r>
              <a:rPr lang="en-US" altLang="en-US" sz="2000" dirty="0">
                <a:cs typeface="Times New Roman" panose="02020603050405020304" pitchFamily="18" charset="0"/>
              </a:rPr>
              <a:t>	</a:t>
            </a:r>
            <a:r>
              <a:rPr lang="en-US" altLang="en-US" sz="2000" b="1" i="1" dirty="0" err="1">
                <a:cs typeface="Times New Roman" panose="02020603050405020304" pitchFamily="18" charset="0"/>
              </a:rPr>
              <a:t>InOrderTraversal</a:t>
            </a:r>
            <a:r>
              <a:rPr lang="en-US" altLang="en-US" sz="2000" dirty="0">
                <a:cs typeface="Times New Roman" panose="02020603050405020304" pitchFamily="18" charset="0"/>
              </a:rPr>
              <a:t>(T-&gt;RP);</a:t>
            </a:r>
          </a:p>
          <a:p>
            <a:pPr lvl="1" eaLnBrk="1" hangingPunct="1"/>
            <a:r>
              <a:rPr lang="en-US" altLang="en-US" sz="2000" b="1" dirty="0">
                <a:cs typeface="Times New Roman" panose="02020603050405020304" pitchFamily="18" charset="0"/>
              </a:rPr>
              <a:t>}</a:t>
            </a:r>
            <a:endParaRPr lang="en-US" altLang="en-US" sz="2000" dirty="0">
              <a:cs typeface="Times New Roman" panose="02020603050405020304" pitchFamily="18" charset="0"/>
            </a:endParaRPr>
          </a:p>
        </p:txBody>
      </p:sp>
      <p:sp>
        <p:nvSpPr>
          <p:cNvPr id="35848" name="Rectangle 38"/>
          <p:cNvSpPr>
            <a:spLocks noChangeArrowheads="1"/>
          </p:cNvSpPr>
          <p:nvPr/>
        </p:nvSpPr>
        <p:spPr bwMode="auto">
          <a:xfrm>
            <a:off x="1066800" y="5257800"/>
            <a:ext cx="2971800" cy="40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eaLnBrk="0" hangingPunct="0">
              <a:defRPr sz="2400">
                <a:solidFill>
                  <a:schemeClr val="tx1"/>
                </a:solidFill>
                <a:latin typeface="Times New Roman" panose="02020603050405020304" pitchFamily="18" charset="0"/>
              </a:defRPr>
            </a:lvl1pPr>
            <a:lvl2pPr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lvl="1" eaLnBrk="1" hangingPunct="1"/>
            <a:r>
              <a:rPr lang="en-US" altLang="en-US" sz="2000" b="1" i="1" dirty="0">
                <a:cs typeface="Times New Roman" panose="02020603050405020304" pitchFamily="18" charset="0"/>
              </a:rPr>
              <a:t>4, 2, 5, 1, 6, 3</a:t>
            </a:r>
          </a:p>
        </p:txBody>
      </p:sp>
      <p:sp>
        <p:nvSpPr>
          <p:cNvPr id="41" name="Left Arrow 40"/>
          <p:cNvSpPr/>
          <p:nvPr/>
        </p:nvSpPr>
        <p:spPr>
          <a:xfrm>
            <a:off x="4419600" y="5334000"/>
            <a:ext cx="990600" cy="2286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40" name="Group 4"/>
          <p:cNvGrpSpPr>
            <a:grpSpLocks/>
          </p:cNvGrpSpPr>
          <p:nvPr/>
        </p:nvGrpSpPr>
        <p:grpSpPr bwMode="auto">
          <a:xfrm>
            <a:off x="5295900" y="4084638"/>
            <a:ext cx="3619500" cy="2163762"/>
            <a:chOff x="2664" y="2265"/>
            <a:chExt cx="1584" cy="938"/>
          </a:xfrm>
        </p:grpSpPr>
        <p:sp>
          <p:nvSpPr>
            <p:cNvPr id="42" name="Text Box 5"/>
            <p:cNvSpPr txBox="1">
              <a:spLocks noChangeArrowheads="1"/>
            </p:cNvSpPr>
            <p:nvPr/>
          </p:nvSpPr>
          <p:spPr bwMode="auto">
            <a:xfrm>
              <a:off x="3672" y="2265"/>
              <a:ext cx="144" cy="1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T</a:t>
              </a:r>
            </a:p>
          </p:txBody>
        </p:sp>
        <p:sp>
          <p:nvSpPr>
            <p:cNvPr id="43" name="Text Box 6"/>
            <p:cNvSpPr txBox="1">
              <a:spLocks noChangeArrowheads="1"/>
            </p:cNvSpPr>
            <p:nvPr/>
          </p:nvSpPr>
          <p:spPr bwMode="auto">
            <a:xfrm>
              <a:off x="3600" y="2481"/>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1</a:t>
              </a:r>
            </a:p>
          </p:txBody>
        </p:sp>
        <p:sp>
          <p:nvSpPr>
            <p:cNvPr id="44" name="Text Box 7"/>
            <p:cNvSpPr txBox="1">
              <a:spLocks noChangeArrowheads="1"/>
            </p:cNvSpPr>
            <p:nvPr/>
          </p:nvSpPr>
          <p:spPr bwMode="auto">
            <a:xfrm>
              <a:off x="3456" y="2481"/>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45" name="Line 8"/>
            <p:cNvSpPr>
              <a:spLocks noChangeShapeType="1"/>
            </p:cNvSpPr>
            <p:nvPr/>
          </p:nvSpPr>
          <p:spPr bwMode="auto">
            <a:xfrm flipH="1">
              <a:off x="3240" y="2553"/>
              <a:ext cx="288" cy="216"/>
            </a:xfrm>
            <a:prstGeom prst="line">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6" name="Text Box 9"/>
            <p:cNvSpPr txBox="1">
              <a:spLocks noChangeArrowheads="1"/>
            </p:cNvSpPr>
            <p:nvPr/>
          </p:nvSpPr>
          <p:spPr bwMode="auto">
            <a:xfrm>
              <a:off x="3744" y="2481"/>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47" name="Line 10"/>
            <p:cNvSpPr>
              <a:spLocks noChangeShapeType="1"/>
            </p:cNvSpPr>
            <p:nvPr/>
          </p:nvSpPr>
          <p:spPr bwMode="auto">
            <a:xfrm>
              <a:off x="3816" y="2553"/>
              <a:ext cx="216" cy="225"/>
            </a:xfrm>
            <a:prstGeom prst="line">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48" name="Group 11"/>
            <p:cNvGrpSpPr>
              <a:grpSpLocks/>
            </p:cNvGrpSpPr>
            <p:nvPr/>
          </p:nvGrpSpPr>
          <p:grpSpPr bwMode="auto">
            <a:xfrm>
              <a:off x="2880" y="2769"/>
              <a:ext cx="576" cy="287"/>
              <a:chOff x="6564" y="3084"/>
              <a:chExt cx="1200" cy="615"/>
            </a:xfrm>
          </p:grpSpPr>
          <p:sp>
            <p:nvSpPr>
              <p:cNvPr id="69" name="Text Box 12"/>
              <p:cNvSpPr txBox="1">
                <a:spLocks noChangeArrowheads="1"/>
              </p:cNvSpPr>
              <p:nvPr/>
            </p:nvSpPr>
            <p:spPr bwMode="auto">
              <a:xfrm>
                <a:off x="7164" y="3084"/>
                <a:ext cx="300" cy="313"/>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2</a:t>
                </a:r>
              </a:p>
            </p:txBody>
          </p:sp>
          <p:sp>
            <p:nvSpPr>
              <p:cNvPr id="70" name="Text Box 13"/>
              <p:cNvSpPr txBox="1">
                <a:spLocks noChangeArrowheads="1"/>
              </p:cNvSpPr>
              <p:nvPr/>
            </p:nvSpPr>
            <p:spPr bwMode="auto">
              <a:xfrm>
                <a:off x="6864" y="3084"/>
                <a:ext cx="300" cy="313"/>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71" name="Line 14"/>
              <p:cNvSpPr>
                <a:spLocks noChangeShapeType="1"/>
              </p:cNvSpPr>
              <p:nvPr/>
            </p:nvSpPr>
            <p:spPr bwMode="auto">
              <a:xfrm flipH="1">
                <a:off x="6564" y="3238"/>
                <a:ext cx="450" cy="454"/>
              </a:xfrm>
              <a:prstGeom prst="line">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 name="Text Box 15"/>
              <p:cNvSpPr txBox="1">
                <a:spLocks noChangeArrowheads="1"/>
              </p:cNvSpPr>
              <p:nvPr/>
            </p:nvSpPr>
            <p:spPr bwMode="auto">
              <a:xfrm>
                <a:off x="7464" y="3084"/>
                <a:ext cx="300" cy="313"/>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73" name="Line 16"/>
              <p:cNvSpPr>
                <a:spLocks noChangeShapeType="1"/>
              </p:cNvSpPr>
              <p:nvPr/>
            </p:nvSpPr>
            <p:spPr bwMode="auto">
              <a:xfrm>
                <a:off x="7614" y="3238"/>
                <a:ext cx="46" cy="461"/>
              </a:xfrm>
              <a:prstGeom prst="line">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49" name="Text Box 17"/>
            <p:cNvSpPr txBox="1">
              <a:spLocks noChangeArrowheads="1"/>
            </p:cNvSpPr>
            <p:nvPr/>
          </p:nvSpPr>
          <p:spPr bwMode="auto">
            <a:xfrm>
              <a:off x="3960" y="2769"/>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3</a:t>
              </a:r>
            </a:p>
          </p:txBody>
        </p:sp>
        <p:sp>
          <p:nvSpPr>
            <p:cNvPr id="50" name="Text Box 18"/>
            <p:cNvSpPr txBox="1">
              <a:spLocks noChangeArrowheads="1"/>
            </p:cNvSpPr>
            <p:nvPr/>
          </p:nvSpPr>
          <p:spPr bwMode="auto">
            <a:xfrm>
              <a:off x="3816" y="2769"/>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51" name="Line 19"/>
            <p:cNvSpPr>
              <a:spLocks noChangeShapeType="1"/>
            </p:cNvSpPr>
            <p:nvPr/>
          </p:nvSpPr>
          <p:spPr bwMode="auto">
            <a:xfrm flipH="1">
              <a:off x="3862" y="2841"/>
              <a:ext cx="26" cy="215"/>
            </a:xfrm>
            <a:prstGeom prst="line">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2" name="Text Box 20"/>
            <p:cNvSpPr txBox="1">
              <a:spLocks noChangeArrowheads="1"/>
            </p:cNvSpPr>
            <p:nvPr/>
          </p:nvSpPr>
          <p:spPr bwMode="auto">
            <a:xfrm>
              <a:off x="4104" y="2769"/>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53" name="Text Box 21"/>
            <p:cNvSpPr txBox="1">
              <a:spLocks noChangeArrowheads="1"/>
            </p:cNvSpPr>
            <p:nvPr/>
          </p:nvSpPr>
          <p:spPr bwMode="auto">
            <a:xfrm>
              <a:off x="2808"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4</a:t>
              </a:r>
            </a:p>
          </p:txBody>
        </p:sp>
        <p:sp>
          <p:nvSpPr>
            <p:cNvPr id="54" name="Text Box 22"/>
            <p:cNvSpPr txBox="1">
              <a:spLocks noChangeArrowheads="1"/>
            </p:cNvSpPr>
            <p:nvPr/>
          </p:nvSpPr>
          <p:spPr bwMode="auto">
            <a:xfrm>
              <a:off x="2664"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55" name="Text Box 23"/>
            <p:cNvSpPr txBox="1">
              <a:spLocks noChangeArrowheads="1"/>
            </p:cNvSpPr>
            <p:nvPr/>
          </p:nvSpPr>
          <p:spPr bwMode="auto">
            <a:xfrm>
              <a:off x="2952"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56" name="Text Box 24"/>
            <p:cNvSpPr txBox="1">
              <a:spLocks noChangeArrowheads="1"/>
            </p:cNvSpPr>
            <p:nvPr/>
          </p:nvSpPr>
          <p:spPr bwMode="auto">
            <a:xfrm>
              <a:off x="3312"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5</a:t>
              </a:r>
            </a:p>
          </p:txBody>
        </p:sp>
        <p:sp>
          <p:nvSpPr>
            <p:cNvPr id="57" name="Text Box 25"/>
            <p:cNvSpPr txBox="1">
              <a:spLocks noChangeArrowheads="1"/>
            </p:cNvSpPr>
            <p:nvPr/>
          </p:nvSpPr>
          <p:spPr bwMode="auto">
            <a:xfrm>
              <a:off x="3168"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58" name="Text Box 26"/>
            <p:cNvSpPr txBox="1">
              <a:spLocks noChangeArrowheads="1"/>
            </p:cNvSpPr>
            <p:nvPr/>
          </p:nvSpPr>
          <p:spPr bwMode="auto">
            <a:xfrm>
              <a:off x="3456"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59" name="Text Box 27"/>
            <p:cNvSpPr txBox="1">
              <a:spLocks noChangeArrowheads="1"/>
            </p:cNvSpPr>
            <p:nvPr/>
          </p:nvSpPr>
          <p:spPr bwMode="auto">
            <a:xfrm>
              <a:off x="3816"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6</a:t>
              </a:r>
            </a:p>
          </p:txBody>
        </p:sp>
        <p:sp>
          <p:nvSpPr>
            <p:cNvPr id="60" name="Text Box 28"/>
            <p:cNvSpPr txBox="1">
              <a:spLocks noChangeArrowheads="1"/>
            </p:cNvSpPr>
            <p:nvPr/>
          </p:nvSpPr>
          <p:spPr bwMode="auto">
            <a:xfrm>
              <a:off x="3672"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61" name="Text Box 29"/>
            <p:cNvSpPr txBox="1">
              <a:spLocks noChangeArrowheads="1"/>
            </p:cNvSpPr>
            <p:nvPr/>
          </p:nvSpPr>
          <p:spPr bwMode="auto">
            <a:xfrm>
              <a:off x="3960"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62" name="Line 30"/>
            <p:cNvSpPr>
              <a:spLocks noChangeShapeType="1"/>
            </p:cNvSpPr>
            <p:nvPr/>
          </p:nvSpPr>
          <p:spPr bwMode="auto">
            <a:xfrm flipH="1">
              <a:off x="3960" y="3057"/>
              <a:ext cx="144"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 name="Line 31"/>
            <p:cNvSpPr>
              <a:spLocks noChangeShapeType="1"/>
            </p:cNvSpPr>
            <p:nvPr/>
          </p:nvSpPr>
          <p:spPr bwMode="auto">
            <a:xfrm>
              <a:off x="3672" y="2337"/>
              <a:ext cx="0" cy="143"/>
            </a:xfrm>
            <a:prstGeom prst="line">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4" name="Line 32"/>
            <p:cNvSpPr>
              <a:spLocks noChangeShapeType="1"/>
            </p:cNvSpPr>
            <p:nvPr/>
          </p:nvSpPr>
          <p:spPr bwMode="auto">
            <a:xfrm flipH="1">
              <a:off x="2664" y="3056"/>
              <a:ext cx="144"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 name="Line 33"/>
            <p:cNvSpPr>
              <a:spLocks noChangeShapeType="1"/>
            </p:cNvSpPr>
            <p:nvPr/>
          </p:nvSpPr>
          <p:spPr bwMode="auto">
            <a:xfrm flipH="1">
              <a:off x="2952" y="3056"/>
              <a:ext cx="144"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 name="Line 34"/>
            <p:cNvSpPr>
              <a:spLocks noChangeShapeType="1"/>
            </p:cNvSpPr>
            <p:nvPr/>
          </p:nvSpPr>
          <p:spPr bwMode="auto">
            <a:xfrm flipH="1">
              <a:off x="3168" y="3056"/>
              <a:ext cx="144"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 name="Line 35"/>
            <p:cNvSpPr>
              <a:spLocks noChangeShapeType="1"/>
            </p:cNvSpPr>
            <p:nvPr/>
          </p:nvSpPr>
          <p:spPr bwMode="auto">
            <a:xfrm flipH="1">
              <a:off x="3456" y="3056"/>
              <a:ext cx="144"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 name="Line 36"/>
            <p:cNvSpPr>
              <a:spLocks noChangeShapeType="1"/>
            </p:cNvSpPr>
            <p:nvPr/>
          </p:nvSpPr>
          <p:spPr bwMode="auto">
            <a:xfrm flipH="1">
              <a:off x="4104" y="2768"/>
              <a:ext cx="144"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3705009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84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84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84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8" grpId="0" animBg="1"/>
      <p:bldP spid="4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2"/>
          <p:cNvSpPr>
            <a:spLocks noGrp="1" noChangeArrowheads="1"/>
          </p:cNvSpPr>
          <p:nvPr>
            <p:ph type="title"/>
          </p:nvPr>
        </p:nvSpPr>
        <p:spPr/>
        <p:txBody>
          <a:bodyPr/>
          <a:lstStyle/>
          <a:p>
            <a:pPr eaLnBrk="1" hangingPunct="1"/>
            <a:r>
              <a:rPr lang="en-US" altLang="en-US" dirty="0" err="1"/>
              <a:t>Cài</a:t>
            </a:r>
            <a:r>
              <a:rPr lang="en-US" altLang="en-US" dirty="0"/>
              <a:t> </a:t>
            </a:r>
            <a:r>
              <a:rPr lang="en-US" altLang="en-US" dirty="0" err="1"/>
              <a:t>đặt</a:t>
            </a:r>
            <a:r>
              <a:rPr lang="en-US" altLang="en-US" dirty="0"/>
              <a:t> </a:t>
            </a:r>
            <a:r>
              <a:rPr lang="en-US" altLang="en-US" dirty="0" err="1"/>
              <a:t>cây</a:t>
            </a:r>
            <a:r>
              <a:rPr lang="en-US" altLang="en-US" dirty="0"/>
              <a:t> </a:t>
            </a:r>
            <a:r>
              <a:rPr lang="en-US" altLang="en-US" dirty="0" err="1"/>
              <a:t>nhị</a:t>
            </a:r>
            <a:r>
              <a:rPr lang="en-US" altLang="en-US" dirty="0"/>
              <a:t> </a:t>
            </a:r>
            <a:r>
              <a:rPr lang="en-US" altLang="en-US" dirty="0" err="1"/>
              <a:t>phân</a:t>
            </a:r>
            <a:r>
              <a:rPr lang="en-US" altLang="en-US" dirty="0"/>
              <a:t> </a:t>
            </a:r>
          </a:p>
        </p:txBody>
      </p:sp>
      <p:sp>
        <p:nvSpPr>
          <p:cNvPr id="36869" name="Rectangle 3"/>
          <p:cNvSpPr>
            <a:spLocks noGrp="1" noChangeArrowheads="1"/>
          </p:cNvSpPr>
          <p:nvPr>
            <p:ph type="body" sz="quarter" idx="13"/>
          </p:nvPr>
        </p:nvSpPr>
        <p:spPr>
          <a:noFill/>
        </p:spPr>
        <p:txBody>
          <a:bodyPr>
            <a:normAutofit/>
          </a:bodyPr>
          <a:lstStyle/>
          <a:p>
            <a:pPr eaLnBrk="1" hangingPunct="1"/>
            <a:r>
              <a:rPr lang="en-US" altLang="en-US" sz="2400" dirty="0" err="1">
                <a:cs typeface="Times New Roman" panose="02020603050405020304" pitchFamily="18" charset="0"/>
              </a:rPr>
              <a:t>Dùng</a:t>
            </a:r>
            <a:r>
              <a:rPr lang="en-US" altLang="en-US" sz="2400" dirty="0">
                <a:cs typeface="Times New Roman" panose="02020603050405020304" pitchFamily="18" charset="0"/>
              </a:rPr>
              <a:t> </a:t>
            </a:r>
            <a:r>
              <a:rPr lang="en-US" altLang="en-US" sz="2400" dirty="0" err="1">
                <a:cs typeface="Times New Roman" panose="02020603050405020304" pitchFamily="18" charset="0"/>
              </a:rPr>
              <a:t>cấu</a:t>
            </a:r>
            <a:r>
              <a:rPr lang="en-US" altLang="en-US" sz="2400" dirty="0">
                <a:cs typeface="Times New Roman" panose="02020603050405020304" pitchFamily="18" charset="0"/>
              </a:rPr>
              <a:t> </a:t>
            </a:r>
            <a:r>
              <a:rPr lang="en-US" altLang="en-US" sz="2400" dirty="0" err="1">
                <a:cs typeface="Times New Roman" panose="02020603050405020304" pitchFamily="18" charset="0"/>
              </a:rPr>
              <a:t>trúc</a:t>
            </a:r>
            <a:r>
              <a:rPr lang="en-US" altLang="en-US" sz="2400" dirty="0">
                <a:cs typeface="Times New Roman" panose="02020603050405020304" pitchFamily="18" charset="0"/>
              </a:rPr>
              <a:t> </a:t>
            </a:r>
            <a:r>
              <a:rPr lang="en-US" altLang="en-US" sz="2400" dirty="0" err="1">
                <a:cs typeface="Times New Roman" panose="02020603050405020304" pitchFamily="18" charset="0"/>
              </a:rPr>
              <a:t>móc</a:t>
            </a:r>
            <a:r>
              <a:rPr lang="en-US" altLang="en-US" sz="2400" dirty="0">
                <a:cs typeface="Times New Roman" panose="02020603050405020304" pitchFamily="18" charset="0"/>
              </a:rPr>
              <a:t> </a:t>
            </a:r>
            <a:r>
              <a:rPr lang="en-US" altLang="en-US" sz="2400" dirty="0" err="1">
                <a:cs typeface="Times New Roman" panose="02020603050405020304" pitchFamily="18" charset="0"/>
              </a:rPr>
              <a:t>nối</a:t>
            </a:r>
            <a:r>
              <a:rPr lang="en-US" altLang="en-US" sz="2400" dirty="0">
                <a:cs typeface="Times New Roman" panose="02020603050405020304" pitchFamily="18" charset="0"/>
              </a:rPr>
              <a:t> - </a:t>
            </a:r>
            <a:r>
              <a:rPr lang="en-US" altLang="en-US" sz="2400" dirty="0" err="1">
                <a:cs typeface="Times New Roman" panose="02020603050405020304" pitchFamily="18" charset="0"/>
              </a:rPr>
              <a:t>Cài</a:t>
            </a:r>
            <a:r>
              <a:rPr lang="en-US" altLang="en-US" sz="2400" dirty="0">
                <a:cs typeface="Times New Roman" panose="02020603050405020304" pitchFamily="18" charset="0"/>
              </a:rPr>
              <a:t> </a:t>
            </a:r>
            <a:r>
              <a:rPr lang="en-US" altLang="en-US" sz="2400" dirty="0" err="1">
                <a:cs typeface="Times New Roman" panose="02020603050405020304" pitchFamily="18" charset="0"/>
              </a:rPr>
              <a:t>đặt</a:t>
            </a:r>
            <a:r>
              <a:rPr lang="en-US" altLang="en-US" sz="2400" dirty="0">
                <a:cs typeface="Times New Roman" panose="02020603050405020304" pitchFamily="18" charset="0"/>
              </a:rPr>
              <a:t> </a:t>
            </a:r>
            <a:r>
              <a:rPr lang="en-US" altLang="en-US" sz="2400" dirty="0" err="1">
                <a:cs typeface="Times New Roman" panose="02020603050405020304" pitchFamily="18" charset="0"/>
              </a:rPr>
              <a:t>một</a:t>
            </a:r>
            <a:r>
              <a:rPr lang="en-US" altLang="en-US" sz="2400" dirty="0">
                <a:cs typeface="Times New Roman" panose="02020603050405020304" pitchFamily="18" charset="0"/>
              </a:rPr>
              <a:t> </a:t>
            </a:r>
            <a:r>
              <a:rPr lang="en-US" altLang="en-US" sz="2400" dirty="0" err="1">
                <a:cs typeface="Times New Roman" panose="02020603050405020304" pitchFamily="18" charset="0"/>
              </a:rPr>
              <a:t>số</a:t>
            </a:r>
            <a:r>
              <a:rPr lang="en-US" altLang="en-US" sz="2400" dirty="0">
                <a:cs typeface="Times New Roman" panose="02020603050405020304" pitchFamily="18" charset="0"/>
              </a:rPr>
              <a:t> </a:t>
            </a:r>
            <a:r>
              <a:rPr lang="en-US" altLang="en-US" sz="2400" dirty="0" err="1">
                <a:cs typeface="Times New Roman" panose="02020603050405020304" pitchFamily="18" charset="0"/>
              </a:rPr>
              <a:t>thao</a:t>
            </a:r>
            <a:r>
              <a:rPr lang="en-US" altLang="en-US" sz="2400" dirty="0">
                <a:cs typeface="Times New Roman" panose="02020603050405020304" pitchFamily="18" charset="0"/>
              </a:rPr>
              <a:t> </a:t>
            </a:r>
            <a:r>
              <a:rPr lang="en-US" altLang="en-US" sz="2400" dirty="0" err="1">
                <a:cs typeface="Times New Roman" panose="02020603050405020304" pitchFamily="18" charset="0"/>
              </a:rPr>
              <a:t>tác</a:t>
            </a:r>
            <a:r>
              <a:rPr lang="en-US" altLang="en-US" sz="2400" dirty="0">
                <a:cs typeface="Times New Roman" panose="02020603050405020304" pitchFamily="18" charset="0"/>
              </a:rPr>
              <a:t> </a:t>
            </a:r>
            <a:r>
              <a:rPr lang="en-US" altLang="en-US" sz="2400" dirty="0" err="1">
                <a:cs typeface="Times New Roman" panose="02020603050405020304" pitchFamily="18" charset="0"/>
              </a:rPr>
              <a:t>cơ</a:t>
            </a:r>
            <a:r>
              <a:rPr lang="en-US" altLang="en-US" sz="2400" dirty="0">
                <a:cs typeface="Times New Roman" panose="02020603050405020304" pitchFamily="18" charset="0"/>
              </a:rPr>
              <a:t> </a:t>
            </a:r>
            <a:r>
              <a:rPr lang="en-US" altLang="en-US" sz="2400" dirty="0" err="1">
                <a:cs typeface="Times New Roman" panose="02020603050405020304" pitchFamily="18" charset="0"/>
              </a:rPr>
              <a:t>bản</a:t>
            </a:r>
            <a:endParaRPr lang="en-US" altLang="en-US" sz="2400" dirty="0">
              <a:cs typeface="Times New Roman" panose="02020603050405020304" pitchFamily="18" charset="0"/>
            </a:endParaRPr>
          </a:p>
          <a:p>
            <a:pPr lvl="1" eaLnBrk="1" hangingPunct="1"/>
            <a:r>
              <a:rPr lang="en-US" altLang="en-US" sz="2000" dirty="0" err="1">
                <a:cs typeface="Times New Roman" panose="02020603050405020304" pitchFamily="18" charset="0"/>
              </a:rPr>
              <a:t>Duyệt</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theo</a:t>
            </a:r>
            <a:r>
              <a:rPr lang="en-US" altLang="en-US" sz="2000" dirty="0">
                <a:cs typeface="Times New Roman" panose="02020603050405020304" pitchFamily="18" charset="0"/>
              </a:rPr>
              <a:t> </a:t>
            </a:r>
            <a:r>
              <a:rPr lang="en-US" altLang="en-US" sz="2000" dirty="0" err="1">
                <a:cs typeface="Times New Roman" panose="02020603050405020304" pitchFamily="18" charset="0"/>
              </a:rPr>
              <a:t>thứ</a:t>
            </a:r>
            <a:r>
              <a:rPr lang="en-US" altLang="en-US" sz="2000" dirty="0">
                <a:cs typeface="Times New Roman" panose="02020603050405020304" pitchFamily="18" charset="0"/>
              </a:rPr>
              <a:t> </a:t>
            </a:r>
            <a:r>
              <a:rPr lang="en-US" altLang="en-US" sz="2000" dirty="0" err="1">
                <a:cs typeface="Times New Roman" panose="02020603050405020304" pitchFamily="18" charset="0"/>
              </a:rPr>
              <a:t>tự</a:t>
            </a:r>
            <a:r>
              <a:rPr lang="en-US" altLang="en-US" sz="2000" dirty="0">
                <a:cs typeface="Times New Roman" panose="02020603050405020304" pitchFamily="18" charset="0"/>
              </a:rPr>
              <a:t> </a:t>
            </a:r>
            <a:r>
              <a:rPr lang="en-US" altLang="en-US" sz="2000" dirty="0" err="1">
                <a:cs typeface="Times New Roman" panose="02020603050405020304" pitchFamily="18" charset="0"/>
              </a:rPr>
              <a:t>sau</a:t>
            </a:r>
            <a:r>
              <a:rPr lang="en-US" altLang="en-US" sz="2000" dirty="0">
                <a:cs typeface="Times New Roman" panose="02020603050405020304" pitchFamily="18" charset="0"/>
              </a:rPr>
              <a:t> (</a:t>
            </a:r>
            <a:r>
              <a:rPr lang="en-US" altLang="en-US" sz="2000" dirty="0" err="1">
                <a:cs typeface="Times New Roman" panose="02020603050405020304" pitchFamily="18" charset="0"/>
              </a:rPr>
              <a:t>postorder</a:t>
            </a:r>
            <a:r>
              <a:rPr lang="en-US" altLang="en-US" sz="2000" dirty="0">
                <a:cs typeface="Times New Roman" panose="02020603050405020304" pitchFamily="18" charset="0"/>
              </a:rPr>
              <a:t> </a:t>
            </a:r>
            <a:r>
              <a:rPr lang="en-US" altLang="en-US" sz="2000" dirty="0" err="1">
                <a:cs typeface="Times New Roman" panose="02020603050405020304" pitchFamily="18" charset="0"/>
              </a:rPr>
              <a:t>travelsal</a:t>
            </a:r>
            <a:r>
              <a:rPr lang="en-US" altLang="en-US" sz="2000" dirty="0">
                <a:cs typeface="Times New Roman" panose="02020603050405020304" pitchFamily="18" charset="0"/>
              </a:rPr>
              <a:t>)</a:t>
            </a:r>
          </a:p>
        </p:txBody>
      </p:sp>
      <p:sp>
        <p:nvSpPr>
          <p:cNvPr id="36871" name="Rectangle 37"/>
          <p:cNvSpPr>
            <a:spLocks noChangeArrowheads="1"/>
          </p:cNvSpPr>
          <p:nvPr/>
        </p:nvSpPr>
        <p:spPr bwMode="auto">
          <a:xfrm>
            <a:off x="1066800" y="2249487"/>
            <a:ext cx="5715000" cy="22463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eaLnBrk="0" hangingPunct="0">
              <a:defRPr sz="2400">
                <a:solidFill>
                  <a:schemeClr val="tx1"/>
                </a:solidFill>
                <a:latin typeface="Times New Roman" panose="02020603050405020304" pitchFamily="18" charset="0"/>
              </a:defRPr>
            </a:lvl1pPr>
            <a:lvl2pPr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lvl="1" eaLnBrk="1" hangingPunct="1"/>
            <a:r>
              <a:rPr lang="en-US" altLang="en-US" sz="2000" i="1" dirty="0">
                <a:cs typeface="Times New Roman" panose="02020603050405020304" pitchFamily="18" charset="0"/>
              </a:rPr>
              <a:t>//</a:t>
            </a:r>
            <a:r>
              <a:rPr lang="en-US" altLang="en-US" sz="2000" i="1" dirty="0" err="1">
                <a:cs typeface="Times New Roman" panose="02020603050405020304" pitchFamily="18" charset="0"/>
              </a:rPr>
              <a:t>Duyệt</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cây</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theo</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thứ</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tự</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sau</a:t>
            </a:r>
            <a:endParaRPr lang="en-US" altLang="en-US" sz="2000" dirty="0">
              <a:cs typeface="Times New Roman" panose="02020603050405020304" pitchFamily="18" charset="0"/>
            </a:endParaRPr>
          </a:p>
          <a:p>
            <a:pPr lvl="1" eaLnBrk="1" hangingPunct="1"/>
            <a:r>
              <a:rPr lang="en-US" altLang="en-US" sz="2000" b="1" dirty="0">
                <a:cs typeface="Times New Roman" panose="02020603050405020304" pitchFamily="18" charset="0"/>
              </a:rPr>
              <a:t>void </a:t>
            </a:r>
            <a:r>
              <a:rPr lang="en-US" altLang="en-US" sz="2000" dirty="0">
                <a:cs typeface="Times New Roman" panose="02020603050405020304" pitchFamily="18" charset="0"/>
              </a:rPr>
              <a:t>  </a:t>
            </a:r>
            <a:r>
              <a:rPr lang="en-US" altLang="en-US" sz="2000" b="1" i="1" dirty="0" err="1">
                <a:cs typeface="Times New Roman" panose="02020603050405020304" pitchFamily="18" charset="0"/>
              </a:rPr>
              <a:t>PostOrderTraversal</a:t>
            </a:r>
            <a:r>
              <a:rPr lang="en-US" altLang="en-US" sz="2000" dirty="0">
                <a:cs typeface="Times New Roman" panose="02020603050405020304" pitchFamily="18" charset="0"/>
              </a:rPr>
              <a:t> (</a:t>
            </a:r>
            <a:r>
              <a:rPr lang="en-US" altLang="en-US" sz="2000" dirty="0" err="1">
                <a:cs typeface="Times New Roman" panose="02020603050405020304" pitchFamily="18" charset="0"/>
              </a:rPr>
              <a:t>BinaryTree</a:t>
            </a:r>
            <a:r>
              <a:rPr lang="en-US" altLang="en-US" sz="2000" dirty="0">
                <a:cs typeface="Times New Roman" panose="02020603050405020304" pitchFamily="18" charset="0"/>
              </a:rPr>
              <a:t>  T) {</a:t>
            </a:r>
          </a:p>
          <a:p>
            <a:pPr lvl="1" eaLnBrk="1" hangingPunct="1"/>
            <a:r>
              <a:rPr lang="en-US" altLang="en-US" sz="2000" dirty="0">
                <a:cs typeface="Times New Roman" panose="02020603050405020304" pitchFamily="18" charset="0"/>
              </a:rPr>
              <a:t>	</a:t>
            </a:r>
            <a:r>
              <a:rPr lang="en-US" altLang="en-US" sz="2000" b="1" dirty="0">
                <a:cs typeface="Times New Roman" panose="02020603050405020304" pitchFamily="18" charset="0"/>
              </a:rPr>
              <a:t>if</a:t>
            </a:r>
            <a:r>
              <a:rPr lang="en-US" altLang="en-US" sz="2000" dirty="0">
                <a:cs typeface="Times New Roman" panose="02020603050405020304" pitchFamily="18" charset="0"/>
              </a:rPr>
              <a:t>  (T==NULL) </a:t>
            </a:r>
            <a:r>
              <a:rPr lang="en-US" altLang="en-US" sz="2000" b="1" dirty="0">
                <a:cs typeface="Times New Roman" panose="02020603050405020304" pitchFamily="18" charset="0"/>
              </a:rPr>
              <a:t>return;</a:t>
            </a:r>
          </a:p>
          <a:p>
            <a:pPr lvl="1" eaLnBrk="1" hangingPunct="1"/>
            <a:r>
              <a:rPr lang="en-US" altLang="en-US" sz="2000" dirty="0">
                <a:cs typeface="Times New Roman" panose="02020603050405020304" pitchFamily="18" charset="0"/>
              </a:rPr>
              <a:t>	</a:t>
            </a:r>
            <a:r>
              <a:rPr lang="en-US" altLang="en-US" sz="2000" b="1" i="1" dirty="0" err="1">
                <a:cs typeface="Times New Roman" panose="02020603050405020304" pitchFamily="18" charset="0"/>
              </a:rPr>
              <a:t>PostOrderTraversal</a:t>
            </a:r>
            <a:r>
              <a:rPr lang="en-US" altLang="en-US" sz="2000" dirty="0">
                <a:cs typeface="Times New Roman" panose="02020603050405020304" pitchFamily="18" charset="0"/>
              </a:rPr>
              <a:t>(T-&gt;LP); 	</a:t>
            </a:r>
          </a:p>
          <a:p>
            <a:pPr lvl="1" eaLnBrk="1" hangingPunct="1"/>
            <a:r>
              <a:rPr lang="en-US" altLang="en-US" sz="2000" dirty="0">
                <a:cs typeface="Times New Roman" panose="02020603050405020304" pitchFamily="18" charset="0"/>
              </a:rPr>
              <a:t>	</a:t>
            </a:r>
            <a:r>
              <a:rPr lang="en-US" altLang="en-US" sz="2000" b="1" i="1" dirty="0" err="1">
                <a:cs typeface="Times New Roman" panose="02020603050405020304" pitchFamily="18" charset="0"/>
              </a:rPr>
              <a:t>PostOrderTraversal</a:t>
            </a:r>
            <a:r>
              <a:rPr lang="en-US" altLang="en-US" sz="2000" dirty="0">
                <a:cs typeface="Times New Roman" panose="02020603050405020304" pitchFamily="18" charset="0"/>
              </a:rPr>
              <a:t>(T-&gt;RP);</a:t>
            </a:r>
          </a:p>
          <a:p>
            <a:pPr lvl="1" eaLnBrk="1" hangingPunct="1"/>
            <a:r>
              <a:rPr lang="en-US" altLang="en-US" sz="2000" dirty="0">
                <a:cs typeface="Times New Roman" panose="02020603050405020304" pitchFamily="18" charset="0"/>
              </a:rPr>
              <a:t>	</a:t>
            </a:r>
            <a:r>
              <a:rPr lang="en-US" altLang="en-US" sz="2000" b="1" i="1" dirty="0">
                <a:cs typeface="Times New Roman" panose="02020603050405020304" pitchFamily="18" charset="0"/>
              </a:rPr>
              <a:t>Visit</a:t>
            </a:r>
            <a:r>
              <a:rPr lang="en-US" altLang="en-US" sz="2000" dirty="0">
                <a:cs typeface="Times New Roman" panose="02020603050405020304" pitchFamily="18" charset="0"/>
              </a:rPr>
              <a:t>(T);</a:t>
            </a:r>
          </a:p>
          <a:p>
            <a:pPr lvl="1" eaLnBrk="1" hangingPunct="1"/>
            <a:r>
              <a:rPr lang="en-US" altLang="en-US" sz="2000" dirty="0">
                <a:cs typeface="Times New Roman" panose="02020603050405020304" pitchFamily="18" charset="0"/>
              </a:rPr>
              <a:t>}</a:t>
            </a:r>
          </a:p>
        </p:txBody>
      </p:sp>
      <p:sp>
        <p:nvSpPr>
          <p:cNvPr id="36872" name="Rectangle 38"/>
          <p:cNvSpPr>
            <a:spLocks noChangeArrowheads="1"/>
          </p:cNvSpPr>
          <p:nvPr/>
        </p:nvSpPr>
        <p:spPr bwMode="auto">
          <a:xfrm>
            <a:off x="1066800" y="5257800"/>
            <a:ext cx="2971800" cy="40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eaLnBrk="0" hangingPunct="0">
              <a:defRPr sz="2400">
                <a:solidFill>
                  <a:schemeClr val="tx1"/>
                </a:solidFill>
                <a:latin typeface="Times New Roman" panose="02020603050405020304" pitchFamily="18" charset="0"/>
              </a:defRPr>
            </a:lvl1pPr>
            <a:lvl2pPr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lvl="1" eaLnBrk="1" hangingPunct="1"/>
            <a:r>
              <a:rPr lang="en-US" altLang="en-US" sz="2000" b="1" i="1">
                <a:cs typeface="Times New Roman" panose="02020603050405020304" pitchFamily="18" charset="0"/>
              </a:rPr>
              <a:t>4, 5, 2, 6, 3, 1</a:t>
            </a:r>
          </a:p>
        </p:txBody>
      </p:sp>
      <p:sp>
        <p:nvSpPr>
          <p:cNvPr id="41" name="Left Arrow 40"/>
          <p:cNvSpPr/>
          <p:nvPr/>
        </p:nvSpPr>
        <p:spPr>
          <a:xfrm>
            <a:off x="4419600" y="5334000"/>
            <a:ext cx="990600" cy="2286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40" name="Group 4"/>
          <p:cNvGrpSpPr>
            <a:grpSpLocks/>
          </p:cNvGrpSpPr>
          <p:nvPr/>
        </p:nvGrpSpPr>
        <p:grpSpPr bwMode="auto">
          <a:xfrm>
            <a:off x="5295900" y="4084638"/>
            <a:ext cx="3619500" cy="2163762"/>
            <a:chOff x="2664" y="2265"/>
            <a:chExt cx="1584" cy="938"/>
          </a:xfrm>
        </p:grpSpPr>
        <p:sp>
          <p:nvSpPr>
            <p:cNvPr id="42" name="Text Box 5"/>
            <p:cNvSpPr txBox="1">
              <a:spLocks noChangeArrowheads="1"/>
            </p:cNvSpPr>
            <p:nvPr/>
          </p:nvSpPr>
          <p:spPr bwMode="auto">
            <a:xfrm>
              <a:off x="3672" y="2265"/>
              <a:ext cx="144" cy="1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T</a:t>
              </a:r>
            </a:p>
          </p:txBody>
        </p:sp>
        <p:sp>
          <p:nvSpPr>
            <p:cNvPr id="43" name="Text Box 6"/>
            <p:cNvSpPr txBox="1">
              <a:spLocks noChangeArrowheads="1"/>
            </p:cNvSpPr>
            <p:nvPr/>
          </p:nvSpPr>
          <p:spPr bwMode="auto">
            <a:xfrm>
              <a:off x="3600" y="2481"/>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1</a:t>
              </a:r>
            </a:p>
          </p:txBody>
        </p:sp>
        <p:sp>
          <p:nvSpPr>
            <p:cNvPr id="44" name="Text Box 7"/>
            <p:cNvSpPr txBox="1">
              <a:spLocks noChangeArrowheads="1"/>
            </p:cNvSpPr>
            <p:nvPr/>
          </p:nvSpPr>
          <p:spPr bwMode="auto">
            <a:xfrm>
              <a:off x="3456" y="2481"/>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45" name="Line 8"/>
            <p:cNvSpPr>
              <a:spLocks noChangeShapeType="1"/>
            </p:cNvSpPr>
            <p:nvPr/>
          </p:nvSpPr>
          <p:spPr bwMode="auto">
            <a:xfrm flipH="1">
              <a:off x="3240" y="2553"/>
              <a:ext cx="288" cy="216"/>
            </a:xfrm>
            <a:prstGeom prst="line">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6" name="Text Box 9"/>
            <p:cNvSpPr txBox="1">
              <a:spLocks noChangeArrowheads="1"/>
            </p:cNvSpPr>
            <p:nvPr/>
          </p:nvSpPr>
          <p:spPr bwMode="auto">
            <a:xfrm>
              <a:off x="3744" y="2481"/>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47" name="Line 10"/>
            <p:cNvSpPr>
              <a:spLocks noChangeShapeType="1"/>
            </p:cNvSpPr>
            <p:nvPr/>
          </p:nvSpPr>
          <p:spPr bwMode="auto">
            <a:xfrm>
              <a:off x="3816" y="2553"/>
              <a:ext cx="216" cy="225"/>
            </a:xfrm>
            <a:prstGeom prst="line">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48" name="Group 11"/>
            <p:cNvGrpSpPr>
              <a:grpSpLocks/>
            </p:cNvGrpSpPr>
            <p:nvPr/>
          </p:nvGrpSpPr>
          <p:grpSpPr bwMode="auto">
            <a:xfrm>
              <a:off x="2880" y="2769"/>
              <a:ext cx="576" cy="287"/>
              <a:chOff x="6564" y="3084"/>
              <a:chExt cx="1200" cy="615"/>
            </a:xfrm>
          </p:grpSpPr>
          <p:sp>
            <p:nvSpPr>
              <p:cNvPr id="69" name="Text Box 12"/>
              <p:cNvSpPr txBox="1">
                <a:spLocks noChangeArrowheads="1"/>
              </p:cNvSpPr>
              <p:nvPr/>
            </p:nvSpPr>
            <p:spPr bwMode="auto">
              <a:xfrm>
                <a:off x="7164" y="3084"/>
                <a:ext cx="300" cy="313"/>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2</a:t>
                </a:r>
              </a:p>
            </p:txBody>
          </p:sp>
          <p:sp>
            <p:nvSpPr>
              <p:cNvPr id="70" name="Text Box 13"/>
              <p:cNvSpPr txBox="1">
                <a:spLocks noChangeArrowheads="1"/>
              </p:cNvSpPr>
              <p:nvPr/>
            </p:nvSpPr>
            <p:spPr bwMode="auto">
              <a:xfrm>
                <a:off x="6864" y="3084"/>
                <a:ext cx="300" cy="313"/>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71" name="Line 14"/>
              <p:cNvSpPr>
                <a:spLocks noChangeShapeType="1"/>
              </p:cNvSpPr>
              <p:nvPr/>
            </p:nvSpPr>
            <p:spPr bwMode="auto">
              <a:xfrm flipH="1">
                <a:off x="6564" y="3238"/>
                <a:ext cx="450" cy="454"/>
              </a:xfrm>
              <a:prstGeom prst="line">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 name="Text Box 15"/>
              <p:cNvSpPr txBox="1">
                <a:spLocks noChangeArrowheads="1"/>
              </p:cNvSpPr>
              <p:nvPr/>
            </p:nvSpPr>
            <p:spPr bwMode="auto">
              <a:xfrm>
                <a:off x="7464" y="3084"/>
                <a:ext cx="300" cy="313"/>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73" name="Line 16"/>
              <p:cNvSpPr>
                <a:spLocks noChangeShapeType="1"/>
              </p:cNvSpPr>
              <p:nvPr/>
            </p:nvSpPr>
            <p:spPr bwMode="auto">
              <a:xfrm>
                <a:off x="7614" y="3238"/>
                <a:ext cx="46" cy="461"/>
              </a:xfrm>
              <a:prstGeom prst="line">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49" name="Text Box 17"/>
            <p:cNvSpPr txBox="1">
              <a:spLocks noChangeArrowheads="1"/>
            </p:cNvSpPr>
            <p:nvPr/>
          </p:nvSpPr>
          <p:spPr bwMode="auto">
            <a:xfrm>
              <a:off x="3960" y="2769"/>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3</a:t>
              </a:r>
            </a:p>
          </p:txBody>
        </p:sp>
        <p:sp>
          <p:nvSpPr>
            <p:cNvPr id="50" name="Text Box 18"/>
            <p:cNvSpPr txBox="1">
              <a:spLocks noChangeArrowheads="1"/>
            </p:cNvSpPr>
            <p:nvPr/>
          </p:nvSpPr>
          <p:spPr bwMode="auto">
            <a:xfrm>
              <a:off x="3816" y="2769"/>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51" name="Line 19"/>
            <p:cNvSpPr>
              <a:spLocks noChangeShapeType="1"/>
            </p:cNvSpPr>
            <p:nvPr/>
          </p:nvSpPr>
          <p:spPr bwMode="auto">
            <a:xfrm flipH="1">
              <a:off x="3862" y="2841"/>
              <a:ext cx="26" cy="215"/>
            </a:xfrm>
            <a:prstGeom prst="line">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2" name="Text Box 20"/>
            <p:cNvSpPr txBox="1">
              <a:spLocks noChangeArrowheads="1"/>
            </p:cNvSpPr>
            <p:nvPr/>
          </p:nvSpPr>
          <p:spPr bwMode="auto">
            <a:xfrm>
              <a:off x="4104" y="2769"/>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53" name="Text Box 21"/>
            <p:cNvSpPr txBox="1">
              <a:spLocks noChangeArrowheads="1"/>
            </p:cNvSpPr>
            <p:nvPr/>
          </p:nvSpPr>
          <p:spPr bwMode="auto">
            <a:xfrm>
              <a:off x="2808"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4</a:t>
              </a:r>
            </a:p>
          </p:txBody>
        </p:sp>
        <p:sp>
          <p:nvSpPr>
            <p:cNvPr id="54" name="Text Box 22"/>
            <p:cNvSpPr txBox="1">
              <a:spLocks noChangeArrowheads="1"/>
            </p:cNvSpPr>
            <p:nvPr/>
          </p:nvSpPr>
          <p:spPr bwMode="auto">
            <a:xfrm>
              <a:off x="2664"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55" name="Text Box 23"/>
            <p:cNvSpPr txBox="1">
              <a:spLocks noChangeArrowheads="1"/>
            </p:cNvSpPr>
            <p:nvPr/>
          </p:nvSpPr>
          <p:spPr bwMode="auto">
            <a:xfrm>
              <a:off x="2952"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56" name="Text Box 24"/>
            <p:cNvSpPr txBox="1">
              <a:spLocks noChangeArrowheads="1"/>
            </p:cNvSpPr>
            <p:nvPr/>
          </p:nvSpPr>
          <p:spPr bwMode="auto">
            <a:xfrm>
              <a:off x="3312"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5</a:t>
              </a:r>
            </a:p>
          </p:txBody>
        </p:sp>
        <p:sp>
          <p:nvSpPr>
            <p:cNvPr id="57" name="Text Box 25"/>
            <p:cNvSpPr txBox="1">
              <a:spLocks noChangeArrowheads="1"/>
            </p:cNvSpPr>
            <p:nvPr/>
          </p:nvSpPr>
          <p:spPr bwMode="auto">
            <a:xfrm>
              <a:off x="3168"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58" name="Text Box 26"/>
            <p:cNvSpPr txBox="1">
              <a:spLocks noChangeArrowheads="1"/>
            </p:cNvSpPr>
            <p:nvPr/>
          </p:nvSpPr>
          <p:spPr bwMode="auto">
            <a:xfrm>
              <a:off x="3456"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59" name="Text Box 27"/>
            <p:cNvSpPr txBox="1">
              <a:spLocks noChangeArrowheads="1"/>
            </p:cNvSpPr>
            <p:nvPr/>
          </p:nvSpPr>
          <p:spPr bwMode="auto">
            <a:xfrm>
              <a:off x="3816"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6</a:t>
              </a:r>
            </a:p>
          </p:txBody>
        </p:sp>
        <p:sp>
          <p:nvSpPr>
            <p:cNvPr id="60" name="Text Box 28"/>
            <p:cNvSpPr txBox="1">
              <a:spLocks noChangeArrowheads="1"/>
            </p:cNvSpPr>
            <p:nvPr/>
          </p:nvSpPr>
          <p:spPr bwMode="auto">
            <a:xfrm>
              <a:off x="3672"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61" name="Text Box 29"/>
            <p:cNvSpPr txBox="1">
              <a:spLocks noChangeArrowheads="1"/>
            </p:cNvSpPr>
            <p:nvPr/>
          </p:nvSpPr>
          <p:spPr bwMode="auto">
            <a:xfrm>
              <a:off x="3960" y="3057"/>
              <a:ext cx="144" cy="146"/>
            </a:xfrm>
            <a:prstGeom prst="rect">
              <a:avLst/>
            </a:prstGeom>
            <a:solidFill>
              <a:srgbClr val="FFFFFF"/>
            </a:solidFill>
            <a:ln w="9525">
              <a:solidFill>
                <a:srgbClr val="000000"/>
              </a:solidFill>
              <a:miter lim="800000"/>
              <a:headEnd/>
              <a:tailEnd/>
            </a:ln>
          </p:spPr>
          <p:txBody>
            <a:bodyPr lIns="54000" tIns="10800" rIns="54000" bIns="10800">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2000"/>
            </a:p>
          </p:txBody>
        </p:sp>
        <p:sp>
          <p:nvSpPr>
            <p:cNvPr id="62" name="Line 30"/>
            <p:cNvSpPr>
              <a:spLocks noChangeShapeType="1"/>
            </p:cNvSpPr>
            <p:nvPr/>
          </p:nvSpPr>
          <p:spPr bwMode="auto">
            <a:xfrm flipH="1">
              <a:off x="3960" y="3057"/>
              <a:ext cx="144"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 name="Line 31"/>
            <p:cNvSpPr>
              <a:spLocks noChangeShapeType="1"/>
            </p:cNvSpPr>
            <p:nvPr/>
          </p:nvSpPr>
          <p:spPr bwMode="auto">
            <a:xfrm>
              <a:off x="3672" y="2337"/>
              <a:ext cx="0" cy="143"/>
            </a:xfrm>
            <a:prstGeom prst="line">
              <a:avLst/>
            </a:prstGeom>
            <a:noFill/>
            <a:ln w="952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4" name="Line 32"/>
            <p:cNvSpPr>
              <a:spLocks noChangeShapeType="1"/>
            </p:cNvSpPr>
            <p:nvPr/>
          </p:nvSpPr>
          <p:spPr bwMode="auto">
            <a:xfrm flipH="1">
              <a:off x="2664" y="3056"/>
              <a:ext cx="144"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 name="Line 33"/>
            <p:cNvSpPr>
              <a:spLocks noChangeShapeType="1"/>
            </p:cNvSpPr>
            <p:nvPr/>
          </p:nvSpPr>
          <p:spPr bwMode="auto">
            <a:xfrm flipH="1">
              <a:off x="2952" y="3056"/>
              <a:ext cx="144"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 name="Line 34"/>
            <p:cNvSpPr>
              <a:spLocks noChangeShapeType="1"/>
            </p:cNvSpPr>
            <p:nvPr/>
          </p:nvSpPr>
          <p:spPr bwMode="auto">
            <a:xfrm flipH="1">
              <a:off x="3168" y="3056"/>
              <a:ext cx="144"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 name="Line 35"/>
            <p:cNvSpPr>
              <a:spLocks noChangeShapeType="1"/>
            </p:cNvSpPr>
            <p:nvPr/>
          </p:nvSpPr>
          <p:spPr bwMode="auto">
            <a:xfrm flipH="1">
              <a:off x="3456" y="3056"/>
              <a:ext cx="144"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 name="Line 36"/>
            <p:cNvSpPr>
              <a:spLocks noChangeShapeType="1"/>
            </p:cNvSpPr>
            <p:nvPr/>
          </p:nvSpPr>
          <p:spPr bwMode="auto">
            <a:xfrm flipH="1">
              <a:off x="4104" y="2768"/>
              <a:ext cx="144" cy="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3747021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7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871">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6871">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6871">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687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2" grpId="0" animBg="1"/>
      <p:bldP spid="41"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p:cNvSpPr>
            <a:spLocks noGrp="1" noChangeArrowheads="1"/>
          </p:cNvSpPr>
          <p:nvPr>
            <p:ph type="title"/>
          </p:nvPr>
        </p:nvSpPr>
        <p:spPr/>
        <p:txBody>
          <a:bodyPr/>
          <a:lstStyle/>
          <a:p>
            <a:pPr eaLnBrk="1" hangingPunct="1"/>
            <a:r>
              <a:rPr lang="en-US" altLang="en-US" dirty="0" err="1"/>
              <a:t>Giải</a:t>
            </a:r>
            <a:r>
              <a:rPr lang="en-US" altLang="en-US" dirty="0"/>
              <a:t> </a:t>
            </a:r>
            <a:r>
              <a:rPr lang="en-US" altLang="en-US" dirty="0" err="1"/>
              <a:t>thuật</a:t>
            </a:r>
            <a:r>
              <a:rPr lang="en-US" altLang="en-US" dirty="0"/>
              <a:t> </a:t>
            </a:r>
            <a:r>
              <a:rPr lang="en-US" altLang="en-US" dirty="0" err="1"/>
              <a:t>duyệt</a:t>
            </a:r>
            <a:r>
              <a:rPr lang="en-US" altLang="en-US" dirty="0"/>
              <a:t> </a:t>
            </a:r>
            <a:r>
              <a:rPr lang="en-US" altLang="en-US" dirty="0" err="1"/>
              <a:t>cây</a:t>
            </a:r>
            <a:endParaRPr lang="en-US" altLang="en-US" dirty="0"/>
          </a:p>
        </p:txBody>
      </p:sp>
      <p:sp>
        <p:nvSpPr>
          <p:cNvPr id="27653" name="Rectangle 3"/>
          <p:cNvSpPr>
            <a:spLocks noGrp="1" noChangeArrowheads="1"/>
          </p:cNvSpPr>
          <p:nvPr>
            <p:ph type="body" sz="quarter" idx="13"/>
          </p:nvPr>
        </p:nvSpPr>
        <p:spPr>
          <a:noFill/>
        </p:spPr>
        <p:txBody>
          <a:bodyPr>
            <a:normAutofit/>
          </a:bodyPr>
          <a:lstStyle/>
          <a:p>
            <a:pPr>
              <a:spcBef>
                <a:spcPct val="15000"/>
              </a:spcBef>
            </a:pPr>
            <a:r>
              <a:rPr lang="en-US" altLang="en-US" sz="2400" dirty="0" err="1">
                <a:cs typeface="Times New Roman" panose="02020603050405020304" pitchFamily="18" charset="0"/>
              </a:rPr>
              <a:t>Giải</a:t>
            </a:r>
            <a:r>
              <a:rPr lang="en-US" altLang="en-US" sz="2400" dirty="0">
                <a:cs typeface="Times New Roman" panose="02020603050405020304" pitchFamily="18" charset="0"/>
              </a:rPr>
              <a:t> </a:t>
            </a:r>
            <a:r>
              <a:rPr lang="en-US" altLang="en-US" sz="2400" dirty="0" err="1">
                <a:cs typeface="Times New Roman" panose="02020603050405020304" pitchFamily="18" charset="0"/>
              </a:rPr>
              <a:t>thuật</a:t>
            </a:r>
            <a:r>
              <a:rPr lang="en-US" altLang="en-US" sz="2400" dirty="0">
                <a:cs typeface="Times New Roman" panose="02020603050405020304" pitchFamily="18" charset="0"/>
              </a:rPr>
              <a:t> </a:t>
            </a:r>
            <a:r>
              <a:rPr lang="en-US" altLang="en-US" sz="2400" dirty="0" err="1">
                <a:cs typeface="Times New Roman" panose="02020603050405020304" pitchFamily="18" charset="0"/>
              </a:rPr>
              <a:t>duyệt</a:t>
            </a:r>
            <a:r>
              <a:rPr lang="en-US" altLang="en-US" sz="2400" dirty="0">
                <a:cs typeface="Times New Roman" panose="02020603050405020304" pitchFamily="18" charset="0"/>
              </a:rPr>
              <a:t> </a:t>
            </a:r>
            <a:r>
              <a:rPr lang="en-US" altLang="en-US" sz="2400" dirty="0" err="1">
                <a:cs typeface="Times New Roman" panose="02020603050405020304" pitchFamily="18" charset="0"/>
              </a:rPr>
              <a:t>cây</a:t>
            </a:r>
            <a:r>
              <a:rPr lang="en-US" altLang="en-US" sz="2400" dirty="0">
                <a:cs typeface="Times New Roman" panose="02020603050405020304" pitchFamily="18" charset="0"/>
              </a:rPr>
              <a:t> </a:t>
            </a:r>
            <a:r>
              <a:rPr lang="en-US" altLang="en-US" sz="2400" dirty="0" err="1">
                <a:cs typeface="Times New Roman" panose="02020603050405020304" pitchFamily="18" charset="0"/>
              </a:rPr>
              <a:t>theo</a:t>
            </a:r>
            <a:r>
              <a:rPr lang="en-US" altLang="en-US" sz="2400" dirty="0">
                <a:cs typeface="Times New Roman" panose="02020603050405020304" pitchFamily="18" charset="0"/>
              </a:rPr>
              <a:t> </a:t>
            </a:r>
            <a:r>
              <a:rPr lang="en-US" altLang="en-US" sz="2400" dirty="0" err="1">
                <a:cs typeface="Times New Roman" panose="02020603050405020304" pitchFamily="18" charset="0"/>
              </a:rPr>
              <a:t>từng</a:t>
            </a:r>
            <a:r>
              <a:rPr lang="en-US" altLang="en-US" sz="2400" dirty="0">
                <a:cs typeface="Times New Roman" panose="02020603050405020304" pitchFamily="18" charset="0"/>
              </a:rPr>
              <a:t> </a:t>
            </a:r>
            <a:r>
              <a:rPr lang="en-US" altLang="en-US" sz="2400" dirty="0" err="1">
                <a:cs typeface="Times New Roman" panose="02020603050405020304" pitchFamily="18" charset="0"/>
              </a:rPr>
              <a:t>mức</a:t>
            </a:r>
            <a:r>
              <a:rPr lang="en-US" altLang="en-US" sz="2400" dirty="0">
                <a:cs typeface="Times New Roman" panose="02020603050405020304" pitchFamily="18" charset="0"/>
              </a:rPr>
              <a:t> (</a:t>
            </a:r>
            <a:r>
              <a:rPr lang="en-US" altLang="en-US" sz="2400" dirty="0" err="1">
                <a:cs typeface="Times New Roman" panose="02020603050405020304" pitchFamily="18" charset="0"/>
              </a:rPr>
              <a:t>theo</a:t>
            </a:r>
            <a:r>
              <a:rPr lang="en-US" altLang="en-US" sz="2400" dirty="0">
                <a:cs typeface="Times New Roman" panose="02020603050405020304" pitchFamily="18" charset="0"/>
              </a:rPr>
              <a:t> </a:t>
            </a:r>
            <a:r>
              <a:rPr lang="en-US" altLang="en-US" sz="2400" dirty="0" err="1">
                <a:cs typeface="Times New Roman" panose="02020603050405020304" pitchFamily="18" charset="0"/>
              </a:rPr>
              <a:t>chiều</a:t>
            </a:r>
            <a:r>
              <a:rPr lang="en-US" altLang="en-US" sz="2400" dirty="0">
                <a:cs typeface="Times New Roman" panose="02020603050405020304" pitchFamily="18" charset="0"/>
              </a:rPr>
              <a:t> </a:t>
            </a:r>
            <a:r>
              <a:rPr lang="en-US" altLang="en-US" sz="2400" dirty="0" err="1">
                <a:cs typeface="Times New Roman" panose="02020603050405020304" pitchFamily="18" charset="0"/>
              </a:rPr>
              <a:t>rộng</a:t>
            </a:r>
            <a:r>
              <a:rPr lang="en-US" altLang="en-US" sz="2400" dirty="0">
                <a:cs typeface="Times New Roman" panose="02020603050405020304" pitchFamily="18" charset="0"/>
              </a:rPr>
              <a:t>): </a:t>
            </a:r>
            <a:r>
              <a:rPr lang="en-US" altLang="en-US" sz="2400" dirty="0" err="1">
                <a:cs typeface="Times New Roman" panose="02020603050405020304" pitchFamily="18" charset="0"/>
              </a:rPr>
              <a:t>giải</a:t>
            </a:r>
            <a:r>
              <a:rPr lang="en-US" altLang="en-US" sz="2400" dirty="0">
                <a:cs typeface="Times New Roman" panose="02020603050405020304" pitchFamily="18" charset="0"/>
              </a:rPr>
              <a:t> </a:t>
            </a:r>
            <a:r>
              <a:rPr lang="en-US" altLang="en-US" sz="2400" dirty="0" err="1">
                <a:cs typeface="Times New Roman" panose="02020603050405020304" pitchFamily="18" charset="0"/>
              </a:rPr>
              <a:t>thuật</a:t>
            </a:r>
            <a:r>
              <a:rPr lang="en-US" altLang="en-US" sz="2400" dirty="0">
                <a:cs typeface="Times New Roman" panose="02020603050405020304" pitchFamily="18" charset="0"/>
              </a:rPr>
              <a:t> </a:t>
            </a:r>
            <a:r>
              <a:rPr lang="en-US" altLang="en-US" sz="2400" b="1" i="1" dirty="0" err="1">
                <a:cs typeface="Times New Roman" panose="02020603050405020304" pitchFamily="18" charset="0"/>
              </a:rPr>
              <a:t>không</a:t>
            </a:r>
            <a:r>
              <a:rPr lang="en-US" altLang="en-US" sz="2400" dirty="0">
                <a:cs typeface="Times New Roman" panose="02020603050405020304" pitchFamily="18" charset="0"/>
              </a:rPr>
              <a:t> </a:t>
            </a:r>
            <a:r>
              <a:rPr lang="en-US" altLang="en-US" sz="2400" dirty="0" err="1">
                <a:cs typeface="Times New Roman" panose="02020603050405020304" pitchFamily="18" charset="0"/>
              </a:rPr>
              <a:t>đệ</a:t>
            </a:r>
            <a:r>
              <a:rPr lang="en-US" altLang="en-US" sz="2400" dirty="0">
                <a:cs typeface="Times New Roman" panose="02020603050405020304" pitchFamily="18" charset="0"/>
              </a:rPr>
              <a:t> </a:t>
            </a:r>
            <a:r>
              <a:rPr lang="en-US" altLang="en-US" sz="2400" dirty="0" err="1">
                <a:cs typeface="Times New Roman" panose="02020603050405020304" pitchFamily="18" charset="0"/>
              </a:rPr>
              <a:t>quy</a:t>
            </a:r>
            <a:r>
              <a:rPr lang="en-US" altLang="en-US" sz="2400" dirty="0">
                <a:cs typeface="Times New Roman" panose="02020603050405020304" pitchFamily="18" charset="0"/>
              </a:rPr>
              <a:t>: </a:t>
            </a:r>
          </a:p>
          <a:p>
            <a:pPr lvl="1">
              <a:spcBef>
                <a:spcPct val="15000"/>
              </a:spcBef>
            </a:pPr>
            <a:r>
              <a:rPr lang="en-US" altLang="en-US" sz="2000" dirty="0" err="1">
                <a:cs typeface="Times New Roman" panose="02020603050405020304" pitchFamily="18" charset="0"/>
              </a:rPr>
              <a:t>Đưa</a:t>
            </a:r>
            <a:r>
              <a:rPr lang="en-US" altLang="en-US" sz="2000" dirty="0">
                <a:cs typeface="Times New Roman" panose="02020603050405020304" pitchFamily="18" charset="0"/>
              </a:rPr>
              <a:t> </a:t>
            </a:r>
            <a:r>
              <a:rPr lang="en-US" altLang="en-US" sz="2000" dirty="0" err="1">
                <a:cs typeface="Times New Roman" panose="02020603050405020304" pitchFamily="18" charset="0"/>
              </a:rPr>
              <a:t>bài</a:t>
            </a:r>
            <a:r>
              <a:rPr lang="en-US" altLang="en-US" sz="2000" dirty="0">
                <a:cs typeface="Times New Roman" panose="02020603050405020304" pitchFamily="18" charset="0"/>
              </a:rPr>
              <a:t> </a:t>
            </a:r>
            <a:r>
              <a:rPr lang="en-US" altLang="en-US" sz="2000" dirty="0" err="1">
                <a:cs typeface="Times New Roman" panose="02020603050405020304" pitchFamily="18" charset="0"/>
              </a:rPr>
              <a:t>toán</a:t>
            </a:r>
            <a:r>
              <a:rPr lang="en-US" altLang="en-US" sz="2000" dirty="0">
                <a:cs typeface="Times New Roman" panose="02020603050405020304" pitchFamily="18" charset="0"/>
              </a:rPr>
              <a:t> </a:t>
            </a:r>
            <a:r>
              <a:rPr lang="en-US" altLang="en-US" sz="2000" dirty="0" err="1">
                <a:cs typeface="Times New Roman" panose="02020603050405020304" pitchFamily="18" charset="0"/>
              </a:rPr>
              <a:t>duyệt</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về</a:t>
            </a:r>
            <a:r>
              <a:rPr lang="en-US" altLang="en-US" sz="2000" dirty="0">
                <a:cs typeface="Times New Roman" panose="02020603050405020304" pitchFamily="18" charset="0"/>
              </a:rPr>
              <a:t> </a:t>
            </a:r>
            <a:r>
              <a:rPr lang="en-US" altLang="en-US" sz="2000" dirty="0" err="1">
                <a:cs typeface="Times New Roman" panose="02020603050405020304" pitchFamily="18" charset="0"/>
              </a:rPr>
              <a:t>duyệt</a:t>
            </a:r>
            <a:r>
              <a:rPr lang="en-US" altLang="en-US" sz="2000" dirty="0">
                <a:cs typeface="Times New Roman" panose="02020603050405020304" pitchFamily="18" charset="0"/>
              </a:rPr>
              <a:t> </a:t>
            </a:r>
            <a:r>
              <a:rPr lang="en-US" altLang="en-US" sz="2000" dirty="0" err="1">
                <a:cs typeface="Times New Roman" panose="02020603050405020304" pitchFamily="18" charset="0"/>
              </a:rPr>
              <a:t>danh</a:t>
            </a:r>
            <a:r>
              <a:rPr lang="en-US" altLang="en-US" sz="2000" dirty="0">
                <a:cs typeface="Times New Roman" panose="02020603050405020304" pitchFamily="18" charset="0"/>
              </a:rPr>
              <a:t> </a:t>
            </a:r>
            <a:r>
              <a:rPr lang="en-US" altLang="en-US" sz="2000" dirty="0" err="1">
                <a:cs typeface="Times New Roman" panose="02020603050405020304" pitchFamily="18" charset="0"/>
              </a:rPr>
              <a:t>sách</a:t>
            </a:r>
            <a:r>
              <a:rPr lang="en-US" altLang="en-US" sz="2000" dirty="0">
                <a:cs typeface="Times New Roman" panose="02020603050405020304" pitchFamily="18" charset="0"/>
              </a:rPr>
              <a:t>. </a:t>
            </a:r>
          </a:p>
          <a:p>
            <a:pPr lvl="1">
              <a:spcBef>
                <a:spcPct val="15000"/>
              </a:spcBef>
            </a:pPr>
            <a:r>
              <a:rPr lang="en-US" altLang="en-US" sz="2000" dirty="0" err="1">
                <a:cs typeface="Times New Roman" panose="02020603050405020304" pitchFamily="18" charset="0"/>
              </a:rPr>
              <a:t>Để</a:t>
            </a:r>
            <a:r>
              <a:rPr lang="en-US" altLang="en-US" sz="2000" dirty="0">
                <a:cs typeface="Times New Roman" panose="02020603050405020304" pitchFamily="18" charset="0"/>
              </a:rPr>
              <a:t> </a:t>
            </a:r>
            <a:r>
              <a:rPr lang="en-US" altLang="en-US" sz="2000" dirty="0" err="1">
                <a:cs typeface="Times New Roman" panose="02020603050405020304" pitchFamily="18" charset="0"/>
              </a:rPr>
              <a:t>thứ</a:t>
            </a:r>
            <a:r>
              <a:rPr lang="en-US" altLang="en-US" sz="2000" dirty="0">
                <a:cs typeface="Times New Roman" panose="02020603050405020304" pitchFamily="18" charset="0"/>
              </a:rPr>
              <a:t> </a:t>
            </a:r>
            <a:r>
              <a:rPr lang="en-US" altLang="en-US" sz="2000" dirty="0" err="1">
                <a:cs typeface="Times New Roman" panose="02020603050405020304" pitchFamily="18" charset="0"/>
              </a:rPr>
              <a:t>tự</a:t>
            </a:r>
            <a:r>
              <a:rPr lang="en-US" altLang="en-US" sz="2000" dirty="0">
                <a:cs typeface="Times New Roman" panose="02020603050405020304" pitchFamily="18" charset="0"/>
              </a:rPr>
              <a:t> </a:t>
            </a:r>
            <a:r>
              <a:rPr lang="en-US" altLang="en-US" sz="2000" dirty="0" err="1">
                <a:cs typeface="Times New Roman" panose="02020603050405020304" pitchFamily="18" charset="0"/>
              </a:rPr>
              <a:t>duyệt</a:t>
            </a:r>
            <a:r>
              <a:rPr lang="en-US" altLang="en-US" sz="2000" dirty="0">
                <a:cs typeface="Times New Roman" panose="02020603050405020304" pitchFamily="18" charset="0"/>
              </a:rPr>
              <a:t>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theo</a:t>
            </a:r>
            <a:r>
              <a:rPr lang="en-US" altLang="en-US" sz="2000" dirty="0">
                <a:cs typeface="Times New Roman" panose="02020603050405020304" pitchFamily="18" charset="0"/>
              </a:rPr>
              <a:t> </a:t>
            </a:r>
            <a:r>
              <a:rPr lang="en-US" altLang="en-US" sz="2000" dirty="0" err="1">
                <a:cs typeface="Times New Roman" panose="02020603050405020304" pitchFamily="18" charset="0"/>
              </a:rPr>
              <a:t>từng</a:t>
            </a:r>
            <a:r>
              <a:rPr lang="en-US" altLang="en-US" sz="2000" dirty="0">
                <a:cs typeface="Times New Roman" panose="02020603050405020304" pitchFamily="18" charset="0"/>
              </a:rPr>
              <a:t> </a:t>
            </a:r>
            <a:r>
              <a:rPr lang="en-US" altLang="en-US" sz="2000" dirty="0" err="1">
                <a:cs typeface="Times New Roman" panose="02020603050405020304" pitchFamily="18" charset="0"/>
              </a:rPr>
              <a:t>mức</a:t>
            </a:r>
            <a:r>
              <a:rPr lang="en-US" altLang="en-US" sz="2000" dirty="0">
                <a:cs typeface="Times New Roman" panose="02020603050405020304" pitchFamily="18" charset="0"/>
              </a:rPr>
              <a:t> (</a:t>
            </a:r>
            <a:r>
              <a:rPr lang="en-US" altLang="en-US" sz="2000" dirty="0" err="1">
                <a:cs typeface="Times New Roman" panose="02020603050405020304" pitchFamily="18" charset="0"/>
              </a:rPr>
              <a:t>từng</a:t>
            </a:r>
            <a:r>
              <a:rPr lang="en-US" altLang="en-US" sz="2000" dirty="0">
                <a:cs typeface="Times New Roman" panose="02020603050405020304" pitchFamily="18" charset="0"/>
              </a:rPr>
              <a:t> </a:t>
            </a:r>
            <a:r>
              <a:rPr lang="en-US" altLang="en-US" sz="2000" dirty="0" err="1">
                <a:cs typeface="Times New Roman" panose="02020603050405020304" pitchFamily="18" charset="0"/>
              </a:rPr>
              <a:t>tầng</a:t>
            </a:r>
            <a:r>
              <a:rPr lang="en-US" altLang="en-US" sz="2000" dirty="0">
                <a:cs typeface="Times New Roman" panose="02020603050405020304" pitchFamily="18" charset="0"/>
              </a:rPr>
              <a:t>) </a:t>
            </a:r>
            <a:r>
              <a:rPr lang="en-US" altLang="en-US" sz="2000" dirty="0" err="1">
                <a:cs typeface="Times New Roman" panose="02020603050405020304" pitchFamily="18" charset="0"/>
              </a:rPr>
              <a:t>và</a:t>
            </a:r>
            <a:r>
              <a:rPr lang="en-US" altLang="en-US" sz="2000" dirty="0">
                <a:cs typeface="Times New Roman" panose="02020603050405020304" pitchFamily="18" charset="0"/>
              </a:rPr>
              <a:t> </a:t>
            </a:r>
            <a:r>
              <a:rPr lang="en-US" altLang="en-US" sz="2000" dirty="0" err="1">
                <a:cs typeface="Times New Roman" panose="02020603050405020304" pitchFamily="18" charset="0"/>
              </a:rPr>
              <a:t>sử</a:t>
            </a:r>
            <a:r>
              <a:rPr lang="en-US" altLang="en-US" sz="2000" dirty="0">
                <a:cs typeface="Times New Roman" panose="02020603050405020304" pitchFamily="18" charset="0"/>
              </a:rPr>
              <a:t> </a:t>
            </a:r>
            <a:r>
              <a:rPr lang="en-US" altLang="en-US" sz="2000" dirty="0" err="1">
                <a:cs typeface="Times New Roman" panose="02020603050405020304" pitchFamily="18" charset="0"/>
              </a:rPr>
              <a:t>dụng</a:t>
            </a:r>
            <a:r>
              <a:rPr lang="en-US" altLang="en-US" sz="2000" dirty="0">
                <a:cs typeface="Times New Roman" panose="02020603050405020304" pitchFamily="18" charset="0"/>
              </a:rPr>
              <a:t> </a:t>
            </a:r>
            <a:r>
              <a:rPr lang="en-US" altLang="en-US" sz="2000" dirty="0" err="1">
                <a:cs typeface="Times New Roman" panose="02020603050405020304" pitchFamily="18" charset="0"/>
              </a:rPr>
              <a:t>một</a:t>
            </a:r>
            <a:r>
              <a:rPr lang="en-US" altLang="en-US" sz="2000" dirty="0">
                <a:cs typeface="Times New Roman" panose="02020603050405020304" pitchFamily="18" charset="0"/>
              </a:rPr>
              <a:t> </a:t>
            </a:r>
            <a:r>
              <a:rPr lang="en-US" altLang="en-US" sz="2000" dirty="0" err="1">
                <a:cs typeface="Times New Roman" panose="02020603050405020304" pitchFamily="18" charset="0"/>
              </a:rPr>
              <a:t>cấu</a:t>
            </a:r>
            <a:r>
              <a:rPr lang="en-US" altLang="en-US" sz="2000" dirty="0">
                <a:cs typeface="Times New Roman" panose="02020603050405020304" pitchFamily="18" charset="0"/>
              </a:rPr>
              <a:t> </a:t>
            </a:r>
            <a:r>
              <a:rPr lang="en-US" altLang="en-US" sz="2000" dirty="0" err="1">
                <a:cs typeface="Times New Roman" panose="02020603050405020304" pitchFamily="18" charset="0"/>
              </a:rPr>
              <a:t>trúc</a:t>
            </a:r>
            <a:r>
              <a:rPr lang="en-US" altLang="en-US" sz="2000" dirty="0">
                <a:cs typeface="Times New Roman" panose="02020603050405020304" pitchFamily="18" charset="0"/>
              </a:rPr>
              <a:t> </a:t>
            </a:r>
            <a:r>
              <a:rPr lang="en-US" altLang="en-US" sz="2000" dirty="0" err="1">
                <a:cs typeface="Times New Roman" panose="02020603050405020304" pitchFamily="18" charset="0"/>
              </a:rPr>
              <a:t>danh</a:t>
            </a:r>
            <a:r>
              <a:rPr lang="en-US" altLang="en-US" sz="2000" dirty="0">
                <a:cs typeface="Times New Roman" panose="02020603050405020304" pitchFamily="18" charset="0"/>
              </a:rPr>
              <a:t> </a:t>
            </a:r>
            <a:r>
              <a:rPr lang="en-US" altLang="en-US" sz="2000" dirty="0" err="1">
                <a:cs typeface="Times New Roman" panose="02020603050405020304" pitchFamily="18" charset="0"/>
              </a:rPr>
              <a:t>sách</a:t>
            </a:r>
            <a:r>
              <a:rPr lang="en-US" altLang="en-US" sz="2000" dirty="0">
                <a:cs typeface="Times New Roman" panose="02020603050405020304" pitchFamily="18" charset="0"/>
              </a:rPr>
              <a:t> </a:t>
            </a:r>
            <a:r>
              <a:rPr lang="en-US" altLang="en-US" sz="2000" dirty="0" err="1">
                <a:cs typeface="Times New Roman" panose="02020603050405020304" pitchFamily="18" charset="0"/>
              </a:rPr>
              <a:t>kiểu</a:t>
            </a:r>
            <a:r>
              <a:rPr lang="en-US" altLang="en-US" sz="2000" dirty="0">
                <a:cs typeface="Times New Roman" panose="02020603050405020304" pitchFamily="18" charset="0"/>
              </a:rPr>
              <a:t> </a:t>
            </a:r>
            <a:r>
              <a:rPr lang="en-US" altLang="en-US" sz="2000" dirty="0" err="1">
                <a:cs typeface="Times New Roman" panose="02020603050405020304" pitchFamily="18" charset="0"/>
              </a:rPr>
              <a:t>hàng</a:t>
            </a:r>
            <a:r>
              <a:rPr lang="en-US" altLang="en-US" sz="2000" dirty="0">
                <a:cs typeface="Times New Roman" panose="02020603050405020304" pitchFamily="18" charset="0"/>
              </a:rPr>
              <a:t> </a:t>
            </a:r>
            <a:r>
              <a:rPr lang="en-US" altLang="en-US" sz="2000" dirty="0" err="1">
                <a:cs typeface="Times New Roman" panose="02020603050405020304" pitchFamily="18" charset="0"/>
              </a:rPr>
              <a:t>đợi</a:t>
            </a:r>
            <a:r>
              <a:rPr lang="en-US" altLang="en-US" sz="2000" dirty="0">
                <a:cs typeface="Times New Roman" panose="02020603050405020304" pitchFamily="18" charset="0"/>
              </a:rPr>
              <a:t> Q. </a:t>
            </a:r>
          </a:p>
        </p:txBody>
      </p:sp>
      <p:sp>
        <p:nvSpPr>
          <p:cNvPr id="27654" name="Rectangle 24"/>
          <p:cNvSpPr>
            <a:spLocks noChangeArrowheads="1"/>
          </p:cNvSpPr>
          <p:nvPr/>
        </p:nvSpPr>
        <p:spPr bwMode="auto">
          <a:xfrm>
            <a:off x="609600" y="2971800"/>
            <a:ext cx="8153400" cy="266226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
              </a:spcBef>
            </a:pPr>
            <a:r>
              <a:rPr lang="en-US" altLang="en-US" sz="2000" b="1" i="1" dirty="0">
                <a:cs typeface="Times New Roman" panose="02020603050405020304" pitchFamily="18" charset="0"/>
              </a:rPr>
              <a:t>Initialize </a:t>
            </a:r>
            <a:r>
              <a:rPr lang="en-US" altLang="en-US" sz="2000" dirty="0">
                <a:cs typeface="Times New Roman" panose="02020603050405020304" pitchFamily="18" charset="0"/>
              </a:rPr>
              <a:t>(Q)			</a:t>
            </a:r>
          </a:p>
          <a:p>
            <a:pPr eaLnBrk="1" hangingPunct="1">
              <a:spcBef>
                <a:spcPct val="5000"/>
              </a:spcBef>
            </a:pPr>
            <a:r>
              <a:rPr lang="en-US" altLang="en-US" sz="2000" b="1" i="1" dirty="0" err="1">
                <a:cs typeface="Times New Roman" panose="02020603050405020304" pitchFamily="18" charset="0"/>
              </a:rPr>
              <a:t>InsertQ</a:t>
            </a:r>
            <a:r>
              <a:rPr lang="en-US" altLang="en-US" sz="2000" b="1" i="1" dirty="0">
                <a:cs typeface="Times New Roman" panose="02020603050405020304" pitchFamily="18" charset="0"/>
              </a:rPr>
              <a:t> </a:t>
            </a:r>
            <a:r>
              <a:rPr lang="en-US" altLang="en-US" sz="2000" dirty="0">
                <a:cs typeface="Times New Roman" panose="02020603050405020304" pitchFamily="18" charset="0"/>
              </a:rPr>
              <a:t>(T, Q);			</a:t>
            </a:r>
          </a:p>
          <a:p>
            <a:pPr eaLnBrk="1" hangingPunct="1">
              <a:spcBef>
                <a:spcPct val="5000"/>
              </a:spcBef>
            </a:pPr>
            <a:r>
              <a:rPr lang="en-US" altLang="en-US" sz="2000" b="1" i="1" dirty="0">
                <a:cs typeface="Times New Roman" panose="02020603050405020304" pitchFamily="18" charset="0"/>
              </a:rPr>
              <a:t>While</a:t>
            </a:r>
            <a:r>
              <a:rPr lang="en-US" altLang="en-US" sz="2000" dirty="0">
                <a:cs typeface="Times New Roman" panose="02020603050405020304" pitchFamily="18" charset="0"/>
              </a:rPr>
              <a:t> ( Q &lt;&gt; </a:t>
            </a:r>
            <a:r>
              <a:rPr lang="en-US" altLang="en-US" sz="2000" dirty="0">
                <a:cs typeface="Times New Roman" panose="02020603050405020304" pitchFamily="18" charset="0"/>
                <a:sym typeface="Symbol" panose="05050102010706020507" pitchFamily="18" charset="2"/>
              </a:rPr>
              <a:t> )</a:t>
            </a:r>
            <a:r>
              <a:rPr lang="en-US" altLang="en-US" sz="2000" dirty="0">
                <a:cs typeface="Times New Roman" panose="02020603050405020304" pitchFamily="18" charset="0"/>
              </a:rPr>
              <a:t> </a:t>
            </a:r>
            <a:r>
              <a:rPr lang="en-US" altLang="en-US" sz="2000" b="1" i="1" dirty="0">
                <a:cs typeface="Times New Roman" panose="02020603050405020304" pitchFamily="18" charset="0"/>
              </a:rPr>
              <a:t>do</a:t>
            </a:r>
          </a:p>
          <a:p>
            <a:pPr eaLnBrk="1" hangingPunct="1">
              <a:spcBef>
                <a:spcPct val="5000"/>
              </a:spcBef>
            </a:pPr>
            <a:r>
              <a:rPr lang="en-US" altLang="en-US" sz="2000" dirty="0">
                <a:cs typeface="Times New Roman" panose="02020603050405020304" pitchFamily="18" charset="0"/>
              </a:rPr>
              <a:t>	P = </a:t>
            </a:r>
            <a:r>
              <a:rPr lang="en-US" altLang="en-US" sz="2000" b="1" i="1" dirty="0" err="1">
                <a:cs typeface="Times New Roman" panose="02020603050405020304" pitchFamily="18" charset="0"/>
              </a:rPr>
              <a:t>DeleteQ</a:t>
            </a:r>
            <a:r>
              <a:rPr lang="en-US" altLang="en-US" sz="2000" b="1" i="1" dirty="0">
                <a:cs typeface="Times New Roman" panose="02020603050405020304" pitchFamily="18" charset="0"/>
              </a:rPr>
              <a:t> </a:t>
            </a:r>
            <a:r>
              <a:rPr lang="en-US" altLang="en-US" sz="2000" dirty="0">
                <a:cs typeface="Times New Roman" panose="02020603050405020304" pitchFamily="18" charset="0"/>
              </a:rPr>
              <a:t>(Q);		</a:t>
            </a:r>
          </a:p>
          <a:p>
            <a:pPr eaLnBrk="1" hangingPunct="1">
              <a:spcBef>
                <a:spcPct val="5000"/>
              </a:spcBef>
            </a:pPr>
            <a:r>
              <a:rPr lang="en-US" altLang="en-US" sz="2000" dirty="0">
                <a:cs typeface="Times New Roman" panose="02020603050405020304" pitchFamily="18" charset="0"/>
              </a:rPr>
              <a:t>	</a:t>
            </a:r>
            <a:r>
              <a:rPr lang="en-US" altLang="en-US" sz="2000" b="1" i="1" dirty="0">
                <a:cs typeface="Times New Roman" panose="02020603050405020304" pitchFamily="18" charset="0"/>
              </a:rPr>
              <a:t>Visit </a:t>
            </a:r>
            <a:r>
              <a:rPr lang="en-US" altLang="en-US" sz="2000" dirty="0">
                <a:cs typeface="Times New Roman" panose="02020603050405020304" pitchFamily="18" charset="0"/>
              </a:rPr>
              <a:t>(P);     		</a:t>
            </a:r>
          </a:p>
          <a:p>
            <a:pPr eaLnBrk="1" hangingPunct="1">
              <a:spcBef>
                <a:spcPct val="5000"/>
              </a:spcBef>
            </a:pPr>
            <a:r>
              <a:rPr lang="en-US" altLang="en-US" sz="2000" dirty="0">
                <a:cs typeface="Times New Roman" panose="02020603050405020304" pitchFamily="18" charset="0"/>
              </a:rPr>
              <a:t>	</a:t>
            </a:r>
            <a:r>
              <a:rPr lang="en-US" altLang="en-US" sz="2000" b="1" i="1" dirty="0">
                <a:cs typeface="Times New Roman" panose="02020603050405020304" pitchFamily="18" charset="0"/>
              </a:rPr>
              <a:t>if</a:t>
            </a:r>
            <a:r>
              <a:rPr lang="en-US" altLang="en-US" sz="2000" dirty="0">
                <a:cs typeface="Times New Roman" panose="02020603050405020304" pitchFamily="18" charset="0"/>
              </a:rPr>
              <a:t> &lt;P </a:t>
            </a:r>
            <a:r>
              <a:rPr lang="en-US" altLang="en-US" sz="2000" dirty="0" err="1">
                <a:cs typeface="Times New Roman" panose="02020603050405020304" pitchFamily="18" charset="0"/>
              </a:rPr>
              <a:t>có</a:t>
            </a:r>
            <a:r>
              <a:rPr lang="en-US" altLang="en-US" sz="2000" dirty="0">
                <a:cs typeface="Times New Roman" panose="02020603050405020304" pitchFamily="18" charset="0"/>
              </a:rPr>
              <a:t> con </a:t>
            </a:r>
            <a:r>
              <a:rPr lang="en-US" altLang="en-US" sz="2000" dirty="0" err="1">
                <a:cs typeface="Times New Roman" panose="02020603050405020304" pitchFamily="18" charset="0"/>
              </a:rPr>
              <a:t>trái</a:t>
            </a:r>
            <a:r>
              <a:rPr lang="en-US" altLang="en-US" sz="2000" dirty="0">
                <a:cs typeface="Times New Roman" panose="02020603050405020304" pitchFamily="18" charset="0"/>
              </a:rPr>
              <a:t> LP&gt; </a:t>
            </a:r>
            <a:r>
              <a:rPr lang="en-US" altLang="en-US" sz="2000" b="1" i="1" dirty="0">
                <a:cs typeface="Times New Roman" panose="02020603050405020304" pitchFamily="18" charset="0"/>
              </a:rPr>
              <a:t>then</a:t>
            </a:r>
            <a:r>
              <a:rPr lang="en-US" altLang="en-US" sz="2000" dirty="0">
                <a:cs typeface="Times New Roman" panose="02020603050405020304" pitchFamily="18" charset="0"/>
              </a:rPr>
              <a:t> </a:t>
            </a:r>
            <a:r>
              <a:rPr lang="en-US" altLang="en-US" sz="2000" b="1" i="1" dirty="0" err="1">
                <a:cs typeface="Times New Roman" panose="02020603050405020304" pitchFamily="18" charset="0"/>
              </a:rPr>
              <a:t>InsertQ</a:t>
            </a:r>
            <a:r>
              <a:rPr lang="en-US" altLang="en-US" sz="2000" b="1" i="1" dirty="0">
                <a:cs typeface="Times New Roman" panose="02020603050405020304" pitchFamily="18" charset="0"/>
              </a:rPr>
              <a:t> </a:t>
            </a:r>
            <a:r>
              <a:rPr lang="en-US" altLang="en-US" sz="2000" dirty="0">
                <a:cs typeface="Times New Roman" panose="02020603050405020304" pitchFamily="18" charset="0"/>
              </a:rPr>
              <a:t>(LP, Q);</a:t>
            </a:r>
          </a:p>
          <a:p>
            <a:pPr eaLnBrk="1" hangingPunct="1">
              <a:spcBef>
                <a:spcPct val="5000"/>
              </a:spcBef>
            </a:pPr>
            <a:r>
              <a:rPr lang="en-US" altLang="en-US" sz="2000" dirty="0">
                <a:cs typeface="Times New Roman" panose="02020603050405020304" pitchFamily="18" charset="0"/>
              </a:rPr>
              <a:t>	</a:t>
            </a:r>
            <a:r>
              <a:rPr lang="en-US" altLang="en-US" sz="2000" b="1" i="1" dirty="0">
                <a:cs typeface="Times New Roman" panose="02020603050405020304" pitchFamily="18" charset="0"/>
              </a:rPr>
              <a:t>if</a:t>
            </a:r>
            <a:r>
              <a:rPr lang="en-US" altLang="en-US" sz="2000" dirty="0">
                <a:cs typeface="Times New Roman" panose="02020603050405020304" pitchFamily="18" charset="0"/>
              </a:rPr>
              <a:t> &lt;P </a:t>
            </a:r>
            <a:r>
              <a:rPr lang="en-US" altLang="en-US" sz="2000" dirty="0" err="1">
                <a:cs typeface="Times New Roman" panose="02020603050405020304" pitchFamily="18" charset="0"/>
              </a:rPr>
              <a:t>có</a:t>
            </a:r>
            <a:r>
              <a:rPr lang="en-US" altLang="en-US" sz="2000" dirty="0">
                <a:cs typeface="Times New Roman" panose="02020603050405020304" pitchFamily="18" charset="0"/>
              </a:rPr>
              <a:t> con </a:t>
            </a:r>
            <a:r>
              <a:rPr lang="en-US" altLang="en-US" sz="2000" dirty="0" err="1">
                <a:cs typeface="Times New Roman" panose="02020603050405020304" pitchFamily="18" charset="0"/>
              </a:rPr>
              <a:t>phải</a:t>
            </a:r>
            <a:r>
              <a:rPr lang="en-US" altLang="en-US" sz="2000" dirty="0">
                <a:cs typeface="Times New Roman" panose="02020603050405020304" pitchFamily="18" charset="0"/>
              </a:rPr>
              <a:t> RP&gt; </a:t>
            </a:r>
            <a:r>
              <a:rPr lang="en-US" altLang="en-US" sz="2000" b="1" i="1" dirty="0">
                <a:cs typeface="Times New Roman" panose="02020603050405020304" pitchFamily="18" charset="0"/>
              </a:rPr>
              <a:t>then</a:t>
            </a:r>
            <a:r>
              <a:rPr lang="en-US" altLang="en-US" sz="2000" dirty="0">
                <a:cs typeface="Times New Roman" panose="02020603050405020304" pitchFamily="18" charset="0"/>
              </a:rPr>
              <a:t> </a:t>
            </a:r>
            <a:r>
              <a:rPr lang="en-US" altLang="en-US" sz="2000" b="1" i="1" dirty="0" err="1">
                <a:cs typeface="Times New Roman" panose="02020603050405020304" pitchFamily="18" charset="0"/>
              </a:rPr>
              <a:t>InsertQ</a:t>
            </a:r>
            <a:r>
              <a:rPr lang="en-US" altLang="en-US" sz="2000" b="1" i="1" dirty="0">
                <a:cs typeface="Times New Roman" panose="02020603050405020304" pitchFamily="18" charset="0"/>
              </a:rPr>
              <a:t> </a:t>
            </a:r>
            <a:r>
              <a:rPr lang="en-US" altLang="en-US" sz="2000" dirty="0">
                <a:cs typeface="Times New Roman" panose="02020603050405020304" pitchFamily="18" charset="0"/>
              </a:rPr>
              <a:t>(RP, Q);</a:t>
            </a:r>
          </a:p>
          <a:p>
            <a:pPr eaLnBrk="1" hangingPunct="1">
              <a:spcBef>
                <a:spcPct val="5000"/>
              </a:spcBef>
            </a:pPr>
            <a:r>
              <a:rPr lang="en-US" altLang="en-US" sz="2000" b="1" i="1" dirty="0">
                <a:cs typeface="Times New Roman" panose="02020603050405020304" pitchFamily="18" charset="0"/>
              </a:rPr>
              <a:t>End While</a:t>
            </a:r>
            <a:r>
              <a:rPr lang="en-US" altLang="en-US" sz="2000" dirty="0">
                <a:cs typeface="Times New Roman" panose="02020603050405020304" pitchFamily="18" charset="0"/>
              </a:rPr>
              <a:t> ;</a:t>
            </a:r>
          </a:p>
        </p:txBody>
      </p:sp>
      <p:sp>
        <p:nvSpPr>
          <p:cNvPr id="5" name="Rectangle 24"/>
          <p:cNvSpPr>
            <a:spLocks noChangeArrowheads="1"/>
          </p:cNvSpPr>
          <p:nvPr/>
        </p:nvSpPr>
        <p:spPr bwMode="auto">
          <a:xfrm>
            <a:off x="3962400" y="2967067"/>
            <a:ext cx="4419600" cy="1692771"/>
          </a:xfrm>
          <a:prstGeom prst="rect">
            <a:avLst/>
          </a:prstGeom>
          <a:noFill/>
          <a:ln w="9525">
            <a:noFill/>
            <a:miter lim="800000"/>
            <a:headEnd/>
            <a:tailEnd/>
          </a:ln>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
              </a:spcBef>
            </a:pPr>
            <a:r>
              <a:rPr lang="en-US" altLang="en-US" sz="2000" dirty="0">
                <a:cs typeface="Times New Roman" panose="02020603050405020304" pitchFamily="18" charset="0"/>
              </a:rPr>
              <a:t>// </a:t>
            </a:r>
            <a:r>
              <a:rPr lang="en-US" altLang="en-US" sz="2000" dirty="0" err="1">
                <a:cs typeface="Times New Roman" panose="02020603050405020304" pitchFamily="18" charset="0"/>
              </a:rPr>
              <a:t>Khởi</a:t>
            </a:r>
            <a:r>
              <a:rPr lang="en-US" altLang="en-US" sz="2000" dirty="0">
                <a:cs typeface="Times New Roman" panose="02020603050405020304" pitchFamily="18" charset="0"/>
              </a:rPr>
              <a:t> </a:t>
            </a:r>
            <a:r>
              <a:rPr lang="en-US" altLang="en-US" sz="2000" dirty="0" err="1">
                <a:cs typeface="Times New Roman" panose="02020603050405020304" pitchFamily="18" charset="0"/>
              </a:rPr>
              <a:t>tạo</a:t>
            </a:r>
            <a:r>
              <a:rPr lang="en-US" altLang="en-US" sz="2000" dirty="0">
                <a:cs typeface="Times New Roman" panose="02020603050405020304" pitchFamily="18" charset="0"/>
              </a:rPr>
              <a:t>: Q=</a:t>
            </a:r>
            <a:r>
              <a:rPr lang="en-US" altLang="en-US" sz="2000" dirty="0">
                <a:cs typeface="Times New Roman" panose="02020603050405020304" pitchFamily="18" charset="0"/>
                <a:sym typeface="Symbol" panose="05050102010706020507" pitchFamily="18" charset="2"/>
              </a:rPr>
              <a:t></a:t>
            </a:r>
            <a:r>
              <a:rPr lang="en-US" altLang="en-US" sz="2000" dirty="0">
                <a:cs typeface="Times New Roman" panose="02020603050405020304" pitchFamily="18" charset="0"/>
              </a:rPr>
              <a:t>.</a:t>
            </a:r>
          </a:p>
          <a:p>
            <a:pPr eaLnBrk="1" hangingPunct="1">
              <a:spcBef>
                <a:spcPct val="5000"/>
              </a:spcBef>
            </a:pPr>
            <a:r>
              <a:rPr lang="en-US" altLang="en-US" sz="2000" dirty="0">
                <a:cs typeface="Times New Roman" panose="02020603050405020304" pitchFamily="18" charset="0"/>
              </a:rPr>
              <a:t>//</a:t>
            </a:r>
            <a:r>
              <a:rPr lang="en-US" altLang="en-US" sz="2000" dirty="0" err="1">
                <a:cs typeface="Times New Roman" panose="02020603050405020304" pitchFamily="18" charset="0"/>
              </a:rPr>
              <a:t>Bổ</a:t>
            </a:r>
            <a:r>
              <a:rPr lang="en-US" altLang="en-US" sz="2000" dirty="0">
                <a:cs typeface="Times New Roman" panose="02020603050405020304" pitchFamily="18" charset="0"/>
              </a:rPr>
              <a:t> sung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gốc</a:t>
            </a:r>
            <a:r>
              <a:rPr lang="en-US" altLang="en-US" sz="2000" dirty="0">
                <a:cs typeface="Times New Roman" panose="02020603050405020304" pitchFamily="18" charset="0"/>
              </a:rPr>
              <a:t> </a:t>
            </a:r>
            <a:r>
              <a:rPr lang="en-US" altLang="en-US" sz="2000" dirty="0" err="1">
                <a:cs typeface="Times New Roman" panose="02020603050405020304" pitchFamily="18" charset="0"/>
              </a:rPr>
              <a:t>vào</a:t>
            </a:r>
            <a:r>
              <a:rPr lang="en-US" altLang="en-US" sz="2000" dirty="0">
                <a:cs typeface="Times New Roman" panose="02020603050405020304" pitchFamily="18" charset="0"/>
              </a:rPr>
              <a:t> Q</a:t>
            </a:r>
          </a:p>
          <a:p>
            <a:pPr eaLnBrk="1" hangingPunct="1">
              <a:spcBef>
                <a:spcPct val="5000"/>
              </a:spcBef>
            </a:pPr>
            <a:endParaRPr lang="en-US" altLang="en-US" sz="2000" dirty="0">
              <a:cs typeface="Times New Roman" panose="02020603050405020304" pitchFamily="18" charset="0"/>
            </a:endParaRPr>
          </a:p>
          <a:p>
            <a:pPr eaLnBrk="1" hangingPunct="1">
              <a:spcBef>
                <a:spcPct val="5000"/>
              </a:spcBef>
            </a:pPr>
            <a:r>
              <a:rPr lang="en-US" altLang="en-US" sz="2000" dirty="0">
                <a:cs typeface="Times New Roman" panose="02020603050405020304" pitchFamily="18" charset="0"/>
              </a:rPr>
              <a:t>//</a:t>
            </a:r>
            <a:r>
              <a:rPr lang="en-US" altLang="en-US" sz="2000" dirty="0" err="1">
                <a:cs typeface="Times New Roman" panose="02020603050405020304" pitchFamily="18" charset="0"/>
              </a:rPr>
              <a:t>Lấy</a:t>
            </a:r>
            <a:r>
              <a:rPr lang="en-US" altLang="en-US" sz="2000" dirty="0">
                <a:cs typeface="Times New Roman" panose="02020603050405020304" pitchFamily="18" charset="0"/>
              </a:rPr>
              <a:t> </a:t>
            </a:r>
            <a:r>
              <a:rPr lang="en-US" altLang="en-US" sz="2000" dirty="0" err="1">
                <a:cs typeface="Times New Roman" panose="02020603050405020304" pitchFamily="18" charset="0"/>
              </a:rPr>
              <a:t>một</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ra</a:t>
            </a:r>
            <a:r>
              <a:rPr lang="en-US" altLang="en-US" sz="2000" dirty="0">
                <a:cs typeface="Times New Roman" panose="02020603050405020304" pitchFamily="18" charset="0"/>
              </a:rPr>
              <a:t> </a:t>
            </a:r>
            <a:r>
              <a:rPr lang="en-US" altLang="en-US" sz="2000" dirty="0" err="1">
                <a:cs typeface="Times New Roman" panose="02020603050405020304" pitchFamily="18" charset="0"/>
              </a:rPr>
              <a:t>khỏi</a:t>
            </a:r>
            <a:r>
              <a:rPr lang="en-US" altLang="en-US" sz="2000" dirty="0">
                <a:cs typeface="Times New Roman" panose="02020603050405020304" pitchFamily="18" charset="0"/>
              </a:rPr>
              <a:t> Q </a:t>
            </a:r>
            <a:r>
              <a:rPr lang="en-US" altLang="en-US" sz="2000" dirty="0" err="1">
                <a:cs typeface="Times New Roman" panose="02020603050405020304" pitchFamily="18" charset="0"/>
              </a:rPr>
              <a:t>để</a:t>
            </a:r>
            <a:r>
              <a:rPr lang="en-US" altLang="en-US" sz="2000" dirty="0">
                <a:cs typeface="Times New Roman" panose="02020603050405020304" pitchFamily="18" charset="0"/>
              </a:rPr>
              <a:t> </a:t>
            </a:r>
            <a:r>
              <a:rPr lang="en-US" altLang="en-US" sz="2000" dirty="0" err="1">
                <a:cs typeface="Times New Roman" panose="02020603050405020304" pitchFamily="18" charset="0"/>
              </a:rPr>
              <a:t>chuẩn</a:t>
            </a:r>
            <a:r>
              <a:rPr lang="en-US" altLang="en-US" sz="2000" dirty="0">
                <a:cs typeface="Times New Roman" panose="02020603050405020304" pitchFamily="18" charset="0"/>
              </a:rPr>
              <a:t> </a:t>
            </a:r>
            <a:r>
              <a:rPr lang="en-US" altLang="en-US" sz="2000" dirty="0" err="1">
                <a:cs typeface="Times New Roman" panose="02020603050405020304" pitchFamily="18" charset="0"/>
              </a:rPr>
              <a:t>bị</a:t>
            </a:r>
            <a:r>
              <a:rPr lang="en-US" altLang="en-US" sz="2000" dirty="0">
                <a:cs typeface="Times New Roman" panose="02020603050405020304" pitchFamily="18" charset="0"/>
              </a:rPr>
              <a:t> </a:t>
            </a:r>
            <a:r>
              <a:rPr lang="en-US" altLang="en-US" sz="2000" dirty="0" err="1">
                <a:cs typeface="Times New Roman" panose="02020603050405020304" pitchFamily="18" charset="0"/>
              </a:rPr>
              <a:t>thăm</a:t>
            </a:r>
            <a:endParaRPr lang="en-US" altLang="en-US" sz="2000" dirty="0">
              <a:cs typeface="Times New Roman" panose="02020603050405020304" pitchFamily="18" charset="0"/>
            </a:endParaRPr>
          </a:p>
          <a:p>
            <a:pPr eaLnBrk="1" hangingPunct="1">
              <a:spcBef>
                <a:spcPct val="5000"/>
              </a:spcBef>
            </a:pPr>
            <a:r>
              <a:rPr lang="en-US" altLang="en-US" sz="2000" dirty="0">
                <a:cs typeface="Times New Roman" panose="02020603050405020304" pitchFamily="18" charset="0"/>
              </a:rPr>
              <a:t>//</a:t>
            </a:r>
            <a:r>
              <a:rPr lang="en-US" altLang="en-US" sz="2000" dirty="0" err="1">
                <a:cs typeface="Times New Roman" panose="02020603050405020304" pitchFamily="18" charset="0"/>
              </a:rPr>
              <a:t>Thăm</a:t>
            </a:r>
            <a:r>
              <a:rPr lang="en-US" altLang="en-US" sz="2000" dirty="0">
                <a:cs typeface="Times New Roman" panose="02020603050405020304" pitchFamily="18" charset="0"/>
              </a:rPr>
              <a:t> P</a:t>
            </a:r>
          </a:p>
        </p:txBody>
      </p:sp>
    </p:spTree>
    <p:extLst>
      <p:ext uri="{BB962C8B-B14F-4D97-AF65-F5344CB8AC3E}">
        <p14:creationId xmlns:p14="http://schemas.microsoft.com/office/powerpoint/2010/main" val="4194149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4" grpId="0" animBg="1"/>
      <p:bldP spid="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44</a:t>
            </a:fld>
            <a:endParaRPr lang="en-US"/>
          </a:p>
        </p:txBody>
      </p:sp>
      <p:sp>
        <p:nvSpPr>
          <p:cNvPr id="5" name="Title 4"/>
          <p:cNvSpPr>
            <a:spLocks noGrp="1"/>
          </p:cNvSpPr>
          <p:nvPr>
            <p:ph type="title"/>
          </p:nvPr>
        </p:nvSpPr>
        <p:spPr/>
        <p:txBody>
          <a:bodyPr/>
          <a:lstStyle/>
          <a:p>
            <a:r>
              <a:rPr lang="en-US" altLang="en-US" dirty="0" err="1"/>
              <a:t>Cài</a:t>
            </a:r>
            <a:r>
              <a:rPr lang="en-US" altLang="en-US" dirty="0"/>
              <a:t> </a:t>
            </a:r>
            <a:r>
              <a:rPr lang="en-US" altLang="en-US" dirty="0" err="1"/>
              <a:t>đặt</a:t>
            </a:r>
            <a:r>
              <a:rPr lang="en-US" altLang="en-US" dirty="0"/>
              <a:t> </a:t>
            </a:r>
            <a:r>
              <a:rPr lang="en-US" altLang="en-US" dirty="0" err="1"/>
              <a:t>cây</a:t>
            </a:r>
            <a:r>
              <a:rPr lang="en-US" altLang="en-US" dirty="0"/>
              <a:t> </a:t>
            </a:r>
            <a:r>
              <a:rPr lang="en-US" altLang="en-US" dirty="0" err="1"/>
              <a:t>nhị</a:t>
            </a:r>
            <a:r>
              <a:rPr lang="en-US" altLang="en-US" dirty="0"/>
              <a:t> </a:t>
            </a:r>
            <a:r>
              <a:rPr lang="en-US" altLang="en-US" dirty="0" err="1"/>
              <a:t>phân</a:t>
            </a:r>
            <a:r>
              <a:rPr lang="en-US" altLang="en-US" dirty="0"/>
              <a:t> </a:t>
            </a:r>
            <a:endParaRPr lang="en-US" dirty="0"/>
          </a:p>
        </p:txBody>
      </p:sp>
      <p:sp>
        <p:nvSpPr>
          <p:cNvPr id="2" name="Content Placeholder 1"/>
          <p:cNvSpPr>
            <a:spLocks noGrp="1"/>
          </p:cNvSpPr>
          <p:nvPr>
            <p:ph type="body" sz="quarter" idx="13"/>
          </p:nvPr>
        </p:nvSpPr>
        <p:spPr/>
        <p:txBody>
          <a:bodyPr/>
          <a:lstStyle/>
          <a:p>
            <a:pPr eaLnBrk="1" hangingPunct="1"/>
            <a:r>
              <a:rPr lang="en-US" altLang="en-US" sz="2400" dirty="0" err="1">
                <a:cs typeface="Times New Roman" panose="02020603050405020304" pitchFamily="18" charset="0"/>
              </a:rPr>
              <a:t>Dùng</a:t>
            </a:r>
            <a:r>
              <a:rPr lang="en-US" altLang="en-US" sz="2400" dirty="0">
                <a:cs typeface="Times New Roman" panose="02020603050405020304" pitchFamily="18" charset="0"/>
              </a:rPr>
              <a:t> </a:t>
            </a:r>
            <a:r>
              <a:rPr lang="en-US" altLang="en-US" sz="2400" dirty="0" err="1">
                <a:cs typeface="Times New Roman" panose="02020603050405020304" pitchFamily="18" charset="0"/>
              </a:rPr>
              <a:t>cấu</a:t>
            </a:r>
            <a:r>
              <a:rPr lang="en-US" altLang="en-US" sz="2400" dirty="0">
                <a:cs typeface="Times New Roman" panose="02020603050405020304" pitchFamily="18" charset="0"/>
              </a:rPr>
              <a:t> </a:t>
            </a:r>
            <a:r>
              <a:rPr lang="en-US" altLang="en-US" sz="2400" dirty="0" err="1">
                <a:cs typeface="Times New Roman" panose="02020603050405020304" pitchFamily="18" charset="0"/>
              </a:rPr>
              <a:t>trúc</a:t>
            </a:r>
            <a:r>
              <a:rPr lang="en-US" altLang="en-US" sz="2400" dirty="0">
                <a:cs typeface="Times New Roman" panose="02020603050405020304" pitchFamily="18" charset="0"/>
              </a:rPr>
              <a:t> </a:t>
            </a:r>
            <a:r>
              <a:rPr lang="en-US" altLang="en-US" sz="2400" dirty="0" err="1">
                <a:cs typeface="Times New Roman" panose="02020603050405020304" pitchFamily="18" charset="0"/>
              </a:rPr>
              <a:t>móc</a:t>
            </a:r>
            <a:r>
              <a:rPr lang="en-US" altLang="en-US" sz="2400" dirty="0">
                <a:cs typeface="Times New Roman" panose="02020603050405020304" pitchFamily="18" charset="0"/>
              </a:rPr>
              <a:t> </a:t>
            </a:r>
            <a:r>
              <a:rPr lang="en-US" altLang="en-US" sz="2400" dirty="0" err="1">
                <a:cs typeface="Times New Roman" panose="02020603050405020304" pitchFamily="18" charset="0"/>
              </a:rPr>
              <a:t>nối</a:t>
            </a:r>
            <a:r>
              <a:rPr lang="en-US" altLang="en-US" sz="2400" dirty="0">
                <a:cs typeface="Times New Roman" panose="02020603050405020304" pitchFamily="18" charset="0"/>
              </a:rPr>
              <a:t> - </a:t>
            </a:r>
            <a:r>
              <a:rPr lang="en-US" altLang="en-US" sz="2400" dirty="0" err="1">
                <a:cs typeface="Times New Roman" panose="02020603050405020304" pitchFamily="18" charset="0"/>
              </a:rPr>
              <a:t>Cài</a:t>
            </a:r>
            <a:r>
              <a:rPr lang="en-US" altLang="en-US" sz="2400" dirty="0">
                <a:cs typeface="Times New Roman" panose="02020603050405020304" pitchFamily="18" charset="0"/>
              </a:rPr>
              <a:t> </a:t>
            </a:r>
            <a:r>
              <a:rPr lang="en-US" altLang="en-US" sz="2400" dirty="0" err="1">
                <a:cs typeface="Times New Roman" panose="02020603050405020304" pitchFamily="18" charset="0"/>
              </a:rPr>
              <a:t>đặt</a:t>
            </a:r>
            <a:r>
              <a:rPr lang="en-US" altLang="en-US" sz="2400" dirty="0">
                <a:cs typeface="Times New Roman" panose="02020603050405020304" pitchFamily="18" charset="0"/>
              </a:rPr>
              <a:t> </a:t>
            </a:r>
            <a:r>
              <a:rPr lang="en-US" altLang="en-US" sz="2400" dirty="0" err="1">
                <a:cs typeface="Times New Roman" panose="02020603050405020304" pitchFamily="18" charset="0"/>
              </a:rPr>
              <a:t>một</a:t>
            </a:r>
            <a:r>
              <a:rPr lang="en-US" altLang="en-US" sz="2400" dirty="0">
                <a:cs typeface="Times New Roman" panose="02020603050405020304" pitchFamily="18" charset="0"/>
              </a:rPr>
              <a:t> </a:t>
            </a:r>
            <a:r>
              <a:rPr lang="en-US" altLang="en-US" sz="2400" dirty="0" err="1">
                <a:cs typeface="Times New Roman" panose="02020603050405020304" pitchFamily="18" charset="0"/>
              </a:rPr>
              <a:t>số</a:t>
            </a:r>
            <a:r>
              <a:rPr lang="en-US" altLang="en-US" sz="2400" dirty="0">
                <a:cs typeface="Times New Roman" panose="02020603050405020304" pitchFamily="18" charset="0"/>
              </a:rPr>
              <a:t> </a:t>
            </a:r>
            <a:r>
              <a:rPr lang="en-US" altLang="en-US" sz="2400" dirty="0" err="1">
                <a:cs typeface="Times New Roman" panose="02020603050405020304" pitchFamily="18" charset="0"/>
              </a:rPr>
              <a:t>thao</a:t>
            </a:r>
            <a:r>
              <a:rPr lang="en-US" altLang="en-US" sz="2400" dirty="0">
                <a:cs typeface="Times New Roman" panose="02020603050405020304" pitchFamily="18" charset="0"/>
              </a:rPr>
              <a:t> </a:t>
            </a:r>
            <a:r>
              <a:rPr lang="en-US" altLang="en-US" sz="2400" dirty="0" err="1">
                <a:cs typeface="Times New Roman" panose="02020603050405020304" pitchFamily="18" charset="0"/>
              </a:rPr>
              <a:t>tác</a:t>
            </a:r>
            <a:r>
              <a:rPr lang="en-US" altLang="en-US" sz="2400" dirty="0">
                <a:cs typeface="Times New Roman" panose="02020603050405020304" pitchFamily="18" charset="0"/>
              </a:rPr>
              <a:t> </a:t>
            </a:r>
            <a:r>
              <a:rPr lang="en-US" altLang="en-US" sz="2400" dirty="0" err="1">
                <a:cs typeface="Times New Roman" panose="02020603050405020304" pitchFamily="18" charset="0"/>
              </a:rPr>
              <a:t>cơ</a:t>
            </a:r>
            <a:r>
              <a:rPr lang="en-US" altLang="en-US" sz="2400" dirty="0">
                <a:cs typeface="Times New Roman" panose="02020603050405020304" pitchFamily="18" charset="0"/>
              </a:rPr>
              <a:t> </a:t>
            </a:r>
            <a:r>
              <a:rPr lang="en-US" altLang="en-US" sz="2400" dirty="0" err="1">
                <a:cs typeface="Times New Roman" panose="02020603050405020304" pitchFamily="18" charset="0"/>
              </a:rPr>
              <a:t>bản</a:t>
            </a:r>
            <a:endParaRPr lang="en-US" altLang="en-US" sz="2400" dirty="0">
              <a:cs typeface="Times New Roman" panose="02020603050405020304" pitchFamily="18" charset="0"/>
            </a:endParaRPr>
          </a:p>
          <a:p>
            <a:pPr lvl="1" eaLnBrk="1" hangingPunct="1"/>
            <a:r>
              <a:rPr lang="en-US" altLang="en-US" sz="2000" dirty="0" err="1">
                <a:cs typeface="Times New Roman" panose="02020603050405020304" pitchFamily="18" charset="0"/>
              </a:rPr>
              <a:t>Tìm</a:t>
            </a:r>
            <a:r>
              <a:rPr lang="en-US" altLang="en-US" sz="2000" dirty="0">
                <a:cs typeface="Times New Roman" panose="02020603050405020304" pitchFamily="18" charset="0"/>
              </a:rPr>
              <a:t> </a:t>
            </a:r>
            <a:r>
              <a:rPr lang="en-US" altLang="en-US" sz="2000" dirty="0" err="1">
                <a:cs typeface="Times New Roman" panose="02020603050405020304" pitchFamily="18" charset="0"/>
              </a:rPr>
              <a:t>kiếm</a:t>
            </a:r>
            <a:r>
              <a:rPr lang="en-US" altLang="en-US" sz="2000" dirty="0">
                <a:cs typeface="Times New Roman" panose="02020603050405020304" pitchFamily="18" charset="0"/>
              </a:rPr>
              <a:t> </a:t>
            </a:r>
            <a:r>
              <a:rPr lang="en-US" altLang="en-US" sz="2000" dirty="0" err="1">
                <a:cs typeface="Times New Roman" panose="02020603050405020304" pitchFamily="18" charset="0"/>
              </a:rPr>
              <a:t>một</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trên</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vi-VN" altLang="en-US" sz="2000" dirty="0">
                <a:cs typeface="Times New Roman" panose="02020603050405020304" pitchFamily="18" charset="0"/>
              </a:rPr>
              <a:t>có giá trị bằng K cho</a:t>
            </a:r>
            <a:r>
              <a:rPr lang="en-US" altLang="en-US" sz="2000" dirty="0">
                <a:cs typeface="Times New Roman" panose="02020603050405020304" pitchFamily="18" charset="0"/>
              </a:rPr>
              <a:t> t</a:t>
            </a:r>
            <a:r>
              <a:rPr lang="vi-VN" altLang="en-US" sz="2000" dirty="0">
                <a:cs typeface="Times New Roman" panose="02020603050405020304" pitchFamily="18" charset="0"/>
              </a:rPr>
              <a:t>rước</a:t>
            </a:r>
            <a:endParaRPr lang="en-US" altLang="en-US" sz="2000" dirty="0">
              <a:cs typeface="Times New Roman" panose="02020603050405020304" pitchFamily="18" charset="0"/>
            </a:endParaRPr>
          </a:p>
          <a:p>
            <a:endParaRPr lang="en-US" sz="2400" dirty="0"/>
          </a:p>
        </p:txBody>
      </p:sp>
      <p:sp>
        <p:nvSpPr>
          <p:cNvPr id="6" name="Rectangle 5"/>
          <p:cNvSpPr/>
          <p:nvPr/>
        </p:nvSpPr>
        <p:spPr>
          <a:xfrm>
            <a:off x="1895475" y="2126812"/>
            <a:ext cx="4876799" cy="286232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marL="635000" indent="-342900" eaLnBrk="0" hangingPunct="0"/>
            <a:r>
              <a:rPr lang="en-US" sz="2000" b="1" dirty="0" err="1">
                <a:latin typeface="Times New Roman" panose="02020603050405020304" pitchFamily="18" charset="0"/>
              </a:rPr>
              <a:t>PNode</a:t>
            </a:r>
            <a:r>
              <a:rPr lang="en-US" sz="2000" b="1" dirty="0">
                <a:latin typeface="Times New Roman" panose="02020603050405020304" pitchFamily="18" charset="0"/>
              </a:rPr>
              <a:t> </a:t>
            </a:r>
            <a:r>
              <a:rPr lang="en-US" sz="2000" b="1" i="1" dirty="0">
                <a:latin typeface="Times New Roman" panose="02020603050405020304" pitchFamily="18" charset="0"/>
              </a:rPr>
              <a:t>Find</a:t>
            </a:r>
            <a:r>
              <a:rPr lang="en-US" sz="2000" b="1" dirty="0">
                <a:latin typeface="Times New Roman" panose="02020603050405020304" pitchFamily="18" charset="0"/>
              </a:rPr>
              <a:t> </a:t>
            </a:r>
            <a:r>
              <a:rPr lang="en-US" sz="2000" dirty="0">
                <a:latin typeface="Times New Roman" panose="02020603050405020304" pitchFamily="18" charset="0"/>
              </a:rPr>
              <a:t>(</a:t>
            </a:r>
            <a:r>
              <a:rPr lang="en-US" sz="2000" dirty="0" err="1">
                <a:latin typeface="Times New Roman" panose="02020603050405020304" pitchFamily="18" charset="0"/>
              </a:rPr>
              <a:t>BinaryTree</a:t>
            </a:r>
            <a:r>
              <a:rPr lang="en-US" sz="2000" dirty="0">
                <a:latin typeface="Times New Roman" panose="02020603050405020304" pitchFamily="18" charset="0"/>
              </a:rPr>
              <a:t> T, type K){</a:t>
            </a:r>
          </a:p>
          <a:p>
            <a:pPr marL="914400" indent="-228600" eaLnBrk="0" hangingPunct="0"/>
            <a:r>
              <a:rPr lang="en-US" sz="2000" dirty="0">
                <a:latin typeface="Times New Roman" panose="02020603050405020304" pitchFamily="18" charset="0"/>
              </a:rPr>
              <a:t>if (T==NULL) return NULL;</a:t>
            </a:r>
          </a:p>
          <a:p>
            <a:pPr marL="914400" indent="-228600" eaLnBrk="0" hangingPunct="0"/>
            <a:r>
              <a:rPr lang="en-US" sz="2000" dirty="0">
                <a:latin typeface="Times New Roman" panose="02020603050405020304" pitchFamily="18" charset="0"/>
              </a:rPr>
              <a:t>if (T-&gt;Info==K) return T;</a:t>
            </a:r>
          </a:p>
          <a:p>
            <a:pPr marL="914400" indent="-228600" eaLnBrk="0" hangingPunct="0"/>
            <a:r>
              <a:rPr lang="en-US" sz="2000" dirty="0">
                <a:latin typeface="Times New Roman" panose="02020603050405020304" pitchFamily="18" charset="0"/>
              </a:rPr>
              <a:t>else {</a:t>
            </a:r>
          </a:p>
          <a:p>
            <a:pPr marL="1143000" indent="-228600" eaLnBrk="0" hangingPunct="0"/>
            <a:r>
              <a:rPr lang="en-US" sz="2000" dirty="0" err="1">
                <a:latin typeface="Times New Roman" panose="02020603050405020304" pitchFamily="18" charset="0"/>
              </a:rPr>
              <a:t>PNode</a:t>
            </a:r>
            <a:r>
              <a:rPr lang="en-US" sz="2000" dirty="0">
                <a:latin typeface="Times New Roman" panose="02020603050405020304" pitchFamily="18" charset="0"/>
              </a:rPr>
              <a:t> found = </a:t>
            </a:r>
            <a:r>
              <a:rPr lang="en-US" sz="2000" b="1" i="1" dirty="0">
                <a:latin typeface="Times New Roman" panose="02020603050405020304" pitchFamily="18" charset="0"/>
              </a:rPr>
              <a:t>Find</a:t>
            </a:r>
            <a:r>
              <a:rPr lang="en-US" sz="2000" dirty="0">
                <a:latin typeface="Times New Roman" panose="02020603050405020304" pitchFamily="18" charset="0"/>
              </a:rPr>
              <a:t>(T-&gt;LP, K);</a:t>
            </a:r>
          </a:p>
          <a:p>
            <a:pPr marL="1143000" indent="-228600" eaLnBrk="0" hangingPunct="0"/>
            <a:r>
              <a:rPr lang="en-US" sz="2000" dirty="0">
                <a:latin typeface="Times New Roman" panose="02020603050405020304" pitchFamily="18" charset="0"/>
              </a:rPr>
              <a:t>if (found != NULL) return found;</a:t>
            </a:r>
          </a:p>
          <a:p>
            <a:pPr marL="1143000" indent="-228600" eaLnBrk="0" hangingPunct="0"/>
            <a:r>
              <a:rPr lang="en-US" sz="2000" dirty="0">
                <a:latin typeface="Times New Roman" panose="02020603050405020304" pitchFamily="18" charset="0"/>
              </a:rPr>
              <a:t>else return </a:t>
            </a:r>
            <a:r>
              <a:rPr lang="en-US" sz="2000" b="1" i="1" dirty="0">
                <a:latin typeface="Times New Roman" panose="02020603050405020304" pitchFamily="18" charset="0"/>
              </a:rPr>
              <a:t>Find</a:t>
            </a:r>
            <a:r>
              <a:rPr lang="en-US" sz="2000" dirty="0">
                <a:latin typeface="Times New Roman" panose="02020603050405020304" pitchFamily="18" charset="0"/>
              </a:rPr>
              <a:t>(T-</a:t>
            </a:r>
            <a:r>
              <a:rPr lang="en-US" sz="2000">
                <a:latin typeface="Times New Roman" panose="02020603050405020304" pitchFamily="18" charset="0"/>
              </a:rPr>
              <a:t>&gt;RP, K);</a:t>
            </a:r>
            <a:endParaRPr lang="en-US" sz="2000" dirty="0">
              <a:latin typeface="Times New Roman" panose="02020603050405020304" pitchFamily="18" charset="0"/>
            </a:endParaRPr>
          </a:p>
          <a:p>
            <a:pPr marL="914400" indent="-228600" eaLnBrk="0" hangingPunct="0"/>
            <a:r>
              <a:rPr lang="en-US" sz="2000" dirty="0">
                <a:latin typeface="Times New Roman" panose="02020603050405020304" pitchFamily="18" charset="0"/>
              </a:rPr>
              <a:t>}</a:t>
            </a:r>
          </a:p>
          <a:p>
            <a:pPr marL="635000" indent="-342900" eaLnBrk="0" hangingPunct="0"/>
            <a:r>
              <a:rPr lang="en-US" sz="2000" dirty="0">
                <a:latin typeface="Times New Roman" panose="02020603050405020304" pitchFamily="18" charset="0"/>
              </a:rPr>
              <a:t>}</a:t>
            </a:r>
          </a:p>
        </p:txBody>
      </p:sp>
      <p:sp>
        <p:nvSpPr>
          <p:cNvPr id="10" name="Rectangle 9"/>
          <p:cNvSpPr/>
          <p:nvPr/>
        </p:nvSpPr>
        <p:spPr>
          <a:xfrm>
            <a:off x="762000" y="5506447"/>
            <a:ext cx="7442201" cy="646331"/>
          </a:xfrm>
          <a:prstGeom prst="rect">
            <a:avLst/>
          </a:prstGeom>
        </p:spPr>
        <p:txBody>
          <a:bodyPr wrap="square">
            <a:spAutoFit/>
          </a:bodyPr>
          <a:lstStyle/>
          <a:p>
            <a:pPr algn="ctr"/>
            <a:r>
              <a:rPr lang="en-US" dirty="0"/>
              <a:t>Xu </a:t>
            </a:r>
            <a:r>
              <a:rPr lang="en-US" dirty="0" err="1"/>
              <a:t>hướng</a:t>
            </a:r>
            <a:r>
              <a:rPr lang="en-US" dirty="0"/>
              <a:t> </a:t>
            </a:r>
            <a:r>
              <a:rPr lang="en-US" dirty="0" err="1"/>
              <a:t>phải</a:t>
            </a:r>
            <a:r>
              <a:rPr lang="en-US" dirty="0"/>
              <a:t> </a:t>
            </a:r>
            <a:r>
              <a:rPr lang="en-US" dirty="0" err="1"/>
              <a:t>duyệt</a:t>
            </a:r>
            <a:r>
              <a:rPr lang="en-US" dirty="0"/>
              <a:t> </a:t>
            </a:r>
            <a:r>
              <a:rPr lang="en-US" dirty="0" err="1"/>
              <a:t>hết</a:t>
            </a:r>
            <a:r>
              <a:rPr lang="en-US" dirty="0"/>
              <a:t> </a:t>
            </a:r>
            <a:r>
              <a:rPr lang="en-US" dirty="0" err="1"/>
              <a:t>các</a:t>
            </a:r>
            <a:r>
              <a:rPr lang="en-US" dirty="0"/>
              <a:t> </a:t>
            </a:r>
            <a:r>
              <a:rPr lang="en-US" dirty="0" err="1"/>
              <a:t>nút</a:t>
            </a:r>
            <a:r>
              <a:rPr lang="en-US" dirty="0"/>
              <a:t> </a:t>
            </a:r>
            <a:r>
              <a:rPr lang="en-US" dirty="0" err="1"/>
              <a:t>trong</a:t>
            </a:r>
            <a:r>
              <a:rPr lang="en-US" dirty="0"/>
              <a:t> </a:t>
            </a:r>
            <a:r>
              <a:rPr lang="en-US" dirty="0" err="1"/>
              <a:t>cây</a:t>
            </a:r>
            <a:r>
              <a:rPr lang="en-US" dirty="0"/>
              <a:t>, </a:t>
            </a:r>
            <a:r>
              <a:rPr lang="en-US" dirty="0" err="1"/>
              <a:t>tốc</a:t>
            </a:r>
            <a:r>
              <a:rPr lang="en-US" dirty="0"/>
              <a:t> </a:t>
            </a:r>
            <a:r>
              <a:rPr lang="en-US" dirty="0" err="1"/>
              <a:t>độ</a:t>
            </a:r>
            <a:r>
              <a:rPr lang="en-US" dirty="0"/>
              <a:t> </a:t>
            </a:r>
            <a:r>
              <a:rPr lang="en-US" dirty="0" err="1"/>
              <a:t>tìm</a:t>
            </a:r>
            <a:r>
              <a:rPr lang="en-US" dirty="0"/>
              <a:t> </a:t>
            </a:r>
            <a:r>
              <a:rPr lang="en-US" dirty="0" err="1"/>
              <a:t>kiếm</a:t>
            </a:r>
            <a:r>
              <a:rPr lang="en-US" dirty="0"/>
              <a:t> </a:t>
            </a:r>
            <a:r>
              <a:rPr lang="en-US" dirty="0" err="1"/>
              <a:t>chậm</a:t>
            </a:r>
            <a:r>
              <a:rPr lang="en-US" dirty="0"/>
              <a:t>.</a:t>
            </a:r>
          </a:p>
          <a:p>
            <a:pPr algn="ctr"/>
            <a:r>
              <a:rPr lang="en-US" dirty="0" err="1"/>
              <a:t>Độ</a:t>
            </a:r>
            <a:r>
              <a:rPr lang="en-US" dirty="0"/>
              <a:t> </a:t>
            </a:r>
            <a:r>
              <a:rPr lang="en-US" dirty="0" err="1"/>
              <a:t>phức</a:t>
            </a:r>
            <a:r>
              <a:rPr lang="en-US" dirty="0"/>
              <a:t> </a:t>
            </a:r>
            <a:r>
              <a:rPr lang="en-US" dirty="0" err="1"/>
              <a:t>tạp</a:t>
            </a:r>
            <a:r>
              <a:rPr lang="en-US" dirty="0"/>
              <a:t> </a:t>
            </a:r>
            <a:r>
              <a:rPr lang="en-US" dirty="0" err="1"/>
              <a:t>là</a:t>
            </a:r>
            <a:r>
              <a:rPr lang="en-US" dirty="0"/>
              <a:t> ~ O(N), </a:t>
            </a:r>
            <a:r>
              <a:rPr lang="en-US" dirty="0" err="1"/>
              <a:t>với</a:t>
            </a:r>
            <a:r>
              <a:rPr lang="en-US" dirty="0"/>
              <a:t> N </a:t>
            </a:r>
            <a:r>
              <a:rPr lang="en-US" dirty="0" err="1"/>
              <a:t>là</a:t>
            </a:r>
            <a:r>
              <a:rPr lang="en-US" dirty="0"/>
              <a:t> </a:t>
            </a:r>
            <a:r>
              <a:rPr lang="en-US" dirty="0" err="1"/>
              <a:t>kích</a:t>
            </a:r>
            <a:r>
              <a:rPr lang="en-US" dirty="0"/>
              <a:t> </a:t>
            </a:r>
            <a:r>
              <a:rPr lang="en-US" dirty="0" err="1"/>
              <a:t>thước</a:t>
            </a:r>
            <a:r>
              <a:rPr lang="en-US" dirty="0"/>
              <a:t> </a:t>
            </a:r>
            <a:r>
              <a:rPr lang="en-US" dirty="0" err="1"/>
              <a:t>của</a:t>
            </a:r>
            <a:r>
              <a:rPr lang="en-US" dirty="0"/>
              <a:t> </a:t>
            </a:r>
            <a:r>
              <a:rPr lang="en-US" dirty="0" err="1"/>
              <a:t>cây</a:t>
            </a:r>
            <a:endParaRPr lang="en-US" dirty="0"/>
          </a:p>
        </p:txBody>
      </p:sp>
    </p:spTree>
    <p:extLst>
      <p:ext uri="{BB962C8B-B14F-4D97-AF65-F5344CB8AC3E}">
        <p14:creationId xmlns:p14="http://schemas.microsoft.com/office/powerpoint/2010/main" val="2302381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2"/>
          <p:cNvSpPr>
            <a:spLocks noGrp="1" noChangeArrowheads="1"/>
          </p:cNvSpPr>
          <p:nvPr>
            <p:ph type="title"/>
          </p:nvPr>
        </p:nvSpPr>
        <p:spPr/>
        <p:txBody>
          <a:bodyPr/>
          <a:lstStyle/>
          <a:p>
            <a:pPr eaLnBrk="1" hangingPunct="1"/>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nhị</a:t>
            </a:r>
            <a:r>
              <a:rPr lang="en-US" altLang="en-US" dirty="0">
                <a:cs typeface="Times New Roman" panose="02020603050405020304" pitchFamily="18" charset="0"/>
              </a:rPr>
              <a:t> </a:t>
            </a:r>
            <a:r>
              <a:rPr lang="en-US" altLang="en-US" dirty="0" err="1">
                <a:cs typeface="Times New Roman" panose="02020603050405020304" pitchFamily="18" charset="0"/>
              </a:rPr>
              <a:t>phân</a:t>
            </a:r>
            <a:r>
              <a:rPr lang="en-US" altLang="en-US" dirty="0">
                <a:cs typeface="Times New Roman" panose="02020603050405020304" pitchFamily="18" charset="0"/>
              </a:rPr>
              <a:t> </a:t>
            </a:r>
            <a:r>
              <a:rPr lang="en-US" altLang="en-US" dirty="0" err="1">
                <a:cs typeface="Times New Roman" panose="02020603050405020304" pitchFamily="18" charset="0"/>
              </a:rPr>
              <a:t>tìm</a:t>
            </a:r>
            <a:r>
              <a:rPr lang="en-US" altLang="en-US" dirty="0">
                <a:cs typeface="Times New Roman" panose="02020603050405020304" pitchFamily="18" charset="0"/>
              </a:rPr>
              <a:t> </a:t>
            </a:r>
            <a:r>
              <a:rPr lang="en-US" altLang="en-US" dirty="0" err="1">
                <a:cs typeface="Times New Roman" panose="02020603050405020304" pitchFamily="18" charset="0"/>
              </a:rPr>
              <a:t>kiếm</a:t>
            </a:r>
            <a:endParaRPr lang="en-US" altLang="en-US" dirty="0">
              <a:cs typeface="Times New Roman" panose="02020603050405020304" pitchFamily="18" charset="0"/>
            </a:endParaRPr>
          </a:p>
        </p:txBody>
      </p:sp>
      <p:sp>
        <p:nvSpPr>
          <p:cNvPr id="37893" name="Rectangle 3"/>
          <p:cNvSpPr>
            <a:spLocks noGrp="1" noChangeArrowheads="1"/>
          </p:cNvSpPr>
          <p:nvPr>
            <p:ph type="body" sz="quarter" idx="13"/>
          </p:nvPr>
        </p:nvSpPr>
        <p:spPr>
          <a:noFill/>
        </p:spPr>
        <p:txBody>
          <a:bodyPr>
            <a:normAutofit/>
          </a:bodyPr>
          <a:lstStyle/>
          <a:p>
            <a:pPr eaLnBrk="1" hangingPunct="1"/>
            <a:r>
              <a:rPr lang="en-US" altLang="en-US" sz="2400" dirty="0" err="1">
                <a:cs typeface="Times New Roman" panose="02020603050405020304" pitchFamily="18" charset="0"/>
              </a:rPr>
              <a:t>Cây</a:t>
            </a:r>
            <a:r>
              <a:rPr lang="en-US" altLang="en-US" sz="2400" dirty="0">
                <a:cs typeface="Times New Roman" panose="02020603050405020304" pitchFamily="18" charset="0"/>
              </a:rPr>
              <a:t> </a:t>
            </a:r>
            <a:r>
              <a:rPr lang="en-US" altLang="en-US" sz="2400" dirty="0" err="1">
                <a:cs typeface="Times New Roman" panose="02020603050405020304" pitchFamily="18" charset="0"/>
              </a:rPr>
              <a:t>chuyên</a:t>
            </a:r>
            <a:r>
              <a:rPr lang="en-US" altLang="en-US" sz="2400" dirty="0">
                <a:cs typeface="Times New Roman" panose="02020603050405020304" pitchFamily="18" charset="0"/>
              </a:rPr>
              <a:t> </a:t>
            </a:r>
            <a:r>
              <a:rPr lang="en-US" altLang="en-US" sz="2400" dirty="0" err="1">
                <a:cs typeface="Times New Roman" panose="02020603050405020304" pitchFamily="18" charset="0"/>
              </a:rPr>
              <a:t>dụng</a:t>
            </a:r>
            <a:r>
              <a:rPr lang="en-US" altLang="en-US" sz="2400" dirty="0">
                <a:cs typeface="Times New Roman" panose="02020603050405020304" pitchFamily="18" charset="0"/>
              </a:rPr>
              <a:t>, </a:t>
            </a:r>
            <a:r>
              <a:rPr lang="en-US" altLang="en-US" sz="2400" dirty="0" err="1">
                <a:cs typeface="Times New Roman" panose="02020603050405020304" pitchFamily="18" charset="0"/>
              </a:rPr>
              <a:t>ứng</a:t>
            </a:r>
            <a:r>
              <a:rPr lang="en-US" altLang="en-US" sz="2400" dirty="0">
                <a:cs typeface="Times New Roman" panose="02020603050405020304" pitchFamily="18" charset="0"/>
              </a:rPr>
              <a:t> </a:t>
            </a:r>
            <a:r>
              <a:rPr lang="en-US" altLang="en-US" sz="2400" dirty="0" err="1">
                <a:cs typeface="Times New Roman" panose="02020603050405020304" pitchFamily="18" charset="0"/>
              </a:rPr>
              <a:t>dụng</a:t>
            </a:r>
            <a:r>
              <a:rPr lang="en-US" altLang="en-US" sz="2400" dirty="0">
                <a:cs typeface="Times New Roman" panose="02020603050405020304" pitchFamily="18" charset="0"/>
              </a:rPr>
              <a:t> </a:t>
            </a:r>
            <a:r>
              <a:rPr lang="en-US" altLang="en-US" sz="2400" dirty="0" err="1">
                <a:cs typeface="Times New Roman" panose="02020603050405020304" pitchFamily="18" charset="0"/>
              </a:rPr>
              <a:t>vào</a:t>
            </a:r>
            <a:r>
              <a:rPr lang="en-US" altLang="en-US" sz="2400" dirty="0">
                <a:cs typeface="Times New Roman" panose="02020603050405020304" pitchFamily="18" charset="0"/>
              </a:rPr>
              <a:t> </a:t>
            </a:r>
            <a:r>
              <a:rPr lang="en-US" altLang="en-US" sz="2400" dirty="0" err="1">
                <a:cs typeface="Times New Roman" panose="02020603050405020304" pitchFamily="18" charset="0"/>
              </a:rPr>
              <a:t>lưu</a:t>
            </a:r>
            <a:r>
              <a:rPr lang="en-US" altLang="en-US" sz="2400" dirty="0">
                <a:cs typeface="Times New Roman" panose="02020603050405020304" pitchFamily="18" charset="0"/>
              </a:rPr>
              <a:t> </a:t>
            </a:r>
            <a:r>
              <a:rPr lang="en-US" altLang="en-US" sz="2400" dirty="0" err="1">
                <a:cs typeface="Times New Roman" panose="02020603050405020304" pitchFamily="18" charset="0"/>
              </a:rPr>
              <a:t>trữ</a:t>
            </a:r>
            <a:r>
              <a:rPr lang="en-US" altLang="en-US" sz="2400" dirty="0">
                <a:cs typeface="Times New Roman" panose="02020603050405020304" pitchFamily="18" charset="0"/>
              </a:rPr>
              <a:t> </a:t>
            </a:r>
            <a:r>
              <a:rPr lang="en-US" altLang="en-US" sz="2400" dirty="0" err="1">
                <a:cs typeface="Times New Roman" panose="02020603050405020304" pitchFamily="18" charset="0"/>
              </a:rPr>
              <a:t>và</a:t>
            </a:r>
            <a:r>
              <a:rPr lang="en-US" altLang="en-US" sz="2400" dirty="0">
                <a:cs typeface="Times New Roman" panose="02020603050405020304" pitchFamily="18" charset="0"/>
              </a:rPr>
              <a:t> </a:t>
            </a:r>
            <a:r>
              <a:rPr lang="en-US" altLang="en-US" sz="2400" dirty="0" err="1">
                <a:cs typeface="Times New Roman" panose="02020603050405020304" pitchFamily="18" charset="0"/>
              </a:rPr>
              <a:t>tìm</a:t>
            </a:r>
            <a:r>
              <a:rPr lang="en-US" altLang="en-US" sz="2400" dirty="0">
                <a:cs typeface="Times New Roman" panose="02020603050405020304" pitchFamily="18" charset="0"/>
              </a:rPr>
              <a:t> </a:t>
            </a:r>
            <a:r>
              <a:rPr lang="en-US" altLang="en-US" sz="2400" dirty="0" err="1">
                <a:cs typeface="Times New Roman" panose="02020603050405020304" pitchFamily="18" charset="0"/>
              </a:rPr>
              <a:t>kiếm</a:t>
            </a:r>
            <a:r>
              <a:rPr lang="en-US" altLang="en-US" sz="2400" dirty="0">
                <a:cs typeface="Times New Roman" panose="02020603050405020304" pitchFamily="18" charset="0"/>
              </a:rPr>
              <a:t> </a:t>
            </a:r>
            <a:r>
              <a:rPr lang="en-US" altLang="en-US" sz="2400" dirty="0" err="1">
                <a:cs typeface="Times New Roman" panose="02020603050405020304" pitchFamily="18" charset="0"/>
              </a:rPr>
              <a:t>thông</a:t>
            </a:r>
            <a:r>
              <a:rPr lang="en-US" altLang="en-US" sz="2400" dirty="0">
                <a:cs typeface="Times New Roman" panose="02020603050405020304" pitchFamily="18" charset="0"/>
              </a:rPr>
              <a:t> tin </a:t>
            </a:r>
            <a:r>
              <a:rPr lang="en-US" altLang="en-US" sz="2400" dirty="0" err="1">
                <a:cs typeface="Times New Roman" panose="02020603050405020304" pitchFamily="18" charset="0"/>
              </a:rPr>
              <a:t>hiệu</a:t>
            </a:r>
            <a:r>
              <a:rPr lang="en-US" altLang="en-US" sz="2400" dirty="0">
                <a:cs typeface="Times New Roman" panose="02020603050405020304" pitchFamily="18" charset="0"/>
              </a:rPr>
              <a:t> </a:t>
            </a:r>
            <a:r>
              <a:rPr lang="en-US" altLang="en-US" sz="2400" dirty="0" err="1">
                <a:cs typeface="Times New Roman" panose="02020603050405020304" pitchFamily="18" charset="0"/>
              </a:rPr>
              <a:t>quả</a:t>
            </a:r>
            <a:endParaRPr lang="en-US" altLang="en-US" sz="2400" dirty="0">
              <a:cs typeface="Times New Roman" panose="02020603050405020304" pitchFamily="18" charset="0"/>
            </a:endParaRPr>
          </a:p>
          <a:p>
            <a:pPr lvl="1"/>
            <a:r>
              <a:rPr lang="en-US" altLang="en-US" sz="2400" dirty="0">
                <a:cs typeface="Times New Roman" panose="02020603050405020304" pitchFamily="18" charset="0"/>
              </a:rPr>
              <a:t>T</a:t>
            </a:r>
            <a:r>
              <a:rPr lang="vi-VN" altLang="en-US" sz="2400" dirty="0">
                <a:cs typeface="Times New Roman" panose="02020603050405020304" pitchFamily="18" charset="0"/>
              </a:rPr>
              <a:t>ại mọi nút A được coi</a:t>
            </a:r>
            <a:r>
              <a:rPr lang="en-US" altLang="en-US" sz="2400" dirty="0">
                <a:cs typeface="Times New Roman" panose="02020603050405020304" pitchFamily="18" charset="0"/>
              </a:rPr>
              <a:t> </a:t>
            </a:r>
            <a:r>
              <a:rPr lang="vi-VN" altLang="en-US" sz="2400" dirty="0">
                <a:cs typeface="Times New Roman" panose="02020603050405020304" pitchFamily="18" charset="0"/>
              </a:rPr>
              <a:t>là gốc</a:t>
            </a:r>
            <a:r>
              <a:rPr lang="en-US" altLang="en-US" sz="2400" dirty="0">
                <a:cs typeface="Times New Roman" panose="02020603050405020304" pitchFamily="18" charset="0"/>
              </a:rPr>
              <a:t>,</a:t>
            </a:r>
            <a:br>
              <a:rPr lang="en-US" altLang="en-US" sz="2400" dirty="0">
                <a:cs typeface="Times New Roman" panose="02020603050405020304" pitchFamily="18" charset="0"/>
              </a:rPr>
            </a:br>
            <a:r>
              <a:rPr lang="vi-VN" altLang="en-US" sz="2400" dirty="0">
                <a:cs typeface="Times New Roman" panose="02020603050405020304" pitchFamily="18" charset="0"/>
              </a:rPr>
              <a:t>giá trị mọi nút thuộc cây con trái </a:t>
            </a:r>
            <a:r>
              <a:rPr lang="en-US" altLang="en-US" sz="2400" dirty="0">
                <a:cs typeface="Times New Roman" panose="02020603050405020304" pitchFamily="18" charset="0"/>
              </a:rPr>
              <a:t>  </a:t>
            </a:r>
            <a:r>
              <a:rPr lang="vi-VN" altLang="en-US" sz="2400" dirty="0">
                <a:cs typeface="Times New Roman" panose="02020603050405020304" pitchFamily="18" charset="0"/>
              </a:rPr>
              <a:t>của A ≤ giá trị tại</a:t>
            </a:r>
            <a:r>
              <a:rPr lang="en-US" altLang="en-US" sz="2400" dirty="0">
                <a:cs typeface="Times New Roman" panose="02020603050405020304" pitchFamily="18" charset="0"/>
              </a:rPr>
              <a:t> </a:t>
            </a:r>
            <a:r>
              <a:rPr lang="en-US" altLang="en-US" sz="2400" dirty="0" err="1">
                <a:cs typeface="Times New Roman" panose="02020603050405020304" pitchFamily="18" charset="0"/>
              </a:rPr>
              <a:t>nút</a:t>
            </a:r>
            <a:r>
              <a:rPr lang="vi-VN" altLang="en-US" sz="2400" dirty="0">
                <a:cs typeface="Times New Roman" panose="02020603050405020304" pitchFamily="18" charset="0"/>
              </a:rPr>
              <a:t> A</a:t>
            </a:r>
            <a:r>
              <a:rPr lang="en-US" altLang="en-US" sz="2400" dirty="0">
                <a:cs typeface="Times New Roman" panose="02020603050405020304" pitchFamily="18" charset="0"/>
              </a:rPr>
              <a:t>;</a:t>
            </a:r>
            <a:br>
              <a:rPr lang="en-US" altLang="en-US" sz="2400" dirty="0">
                <a:cs typeface="Times New Roman" panose="02020603050405020304" pitchFamily="18" charset="0"/>
              </a:rPr>
            </a:br>
            <a:r>
              <a:rPr lang="vi-VN" altLang="en-US" sz="2400" dirty="0">
                <a:cs typeface="Times New Roman" panose="02020603050405020304" pitchFamily="18" charset="0"/>
              </a:rPr>
              <a:t>giá trị mọi nút thuộc cây con phải của A ≥</a:t>
            </a:r>
            <a:r>
              <a:rPr lang="en-US" altLang="en-US" sz="2400" dirty="0">
                <a:cs typeface="Times New Roman" panose="02020603050405020304" pitchFamily="18" charset="0"/>
              </a:rPr>
              <a:t> </a:t>
            </a:r>
            <a:r>
              <a:rPr lang="vi-VN" altLang="en-US" sz="2400" dirty="0">
                <a:cs typeface="Times New Roman" panose="02020603050405020304" pitchFamily="18" charset="0"/>
              </a:rPr>
              <a:t>giá trị tại nút A</a:t>
            </a:r>
            <a:r>
              <a:rPr lang="en-US" altLang="en-US" sz="2400" dirty="0">
                <a:cs typeface="Times New Roman" panose="02020603050405020304" pitchFamily="18" charset="0"/>
              </a:rPr>
              <a:t>.</a:t>
            </a:r>
          </a:p>
        </p:txBody>
      </p:sp>
      <p:grpSp>
        <p:nvGrpSpPr>
          <p:cNvPr id="5" name="Group 12"/>
          <p:cNvGrpSpPr>
            <a:grpSpLocks/>
          </p:cNvGrpSpPr>
          <p:nvPr/>
        </p:nvGrpSpPr>
        <p:grpSpPr bwMode="auto">
          <a:xfrm>
            <a:off x="5486400" y="3352800"/>
            <a:ext cx="3124200" cy="2667000"/>
            <a:chOff x="3264" y="2112"/>
            <a:chExt cx="1968" cy="1680"/>
          </a:xfrm>
        </p:grpSpPr>
        <p:sp>
          <p:nvSpPr>
            <p:cNvPr id="6" name="Oval 4"/>
            <p:cNvSpPr>
              <a:spLocks noChangeArrowheads="1"/>
            </p:cNvSpPr>
            <p:nvPr/>
          </p:nvSpPr>
          <p:spPr bwMode="auto">
            <a:xfrm>
              <a:off x="3888" y="2112"/>
              <a:ext cx="624"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root</a:t>
              </a:r>
            </a:p>
          </p:txBody>
        </p:sp>
        <p:sp>
          <p:nvSpPr>
            <p:cNvPr id="7" name="AutoShape 5"/>
            <p:cNvSpPr>
              <a:spLocks noChangeArrowheads="1"/>
            </p:cNvSpPr>
            <p:nvPr/>
          </p:nvSpPr>
          <p:spPr bwMode="auto">
            <a:xfrm>
              <a:off x="4512" y="2832"/>
              <a:ext cx="720" cy="960"/>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RTree</a:t>
              </a:r>
            </a:p>
          </p:txBody>
        </p:sp>
        <p:sp>
          <p:nvSpPr>
            <p:cNvPr id="8" name="AutoShape 6"/>
            <p:cNvSpPr>
              <a:spLocks noChangeArrowheads="1"/>
            </p:cNvSpPr>
            <p:nvPr/>
          </p:nvSpPr>
          <p:spPr bwMode="auto">
            <a:xfrm>
              <a:off x="3264" y="2832"/>
              <a:ext cx="720" cy="960"/>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LTree</a:t>
              </a:r>
            </a:p>
          </p:txBody>
        </p:sp>
        <p:sp>
          <p:nvSpPr>
            <p:cNvPr id="9" name="Oval 7"/>
            <p:cNvSpPr>
              <a:spLocks noChangeArrowheads="1"/>
            </p:cNvSpPr>
            <p:nvPr/>
          </p:nvSpPr>
          <p:spPr bwMode="auto">
            <a:xfrm>
              <a:off x="3264" y="2592"/>
              <a:ext cx="76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LChild</a:t>
              </a:r>
            </a:p>
          </p:txBody>
        </p:sp>
        <p:sp>
          <p:nvSpPr>
            <p:cNvPr id="10" name="Oval 8"/>
            <p:cNvSpPr>
              <a:spLocks noChangeArrowheads="1"/>
            </p:cNvSpPr>
            <p:nvPr/>
          </p:nvSpPr>
          <p:spPr bwMode="auto">
            <a:xfrm>
              <a:off x="4464" y="2592"/>
              <a:ext cx="72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RChild</a:t>
              </a:r>
            </a:p>
          </p:txBody>
        </p:sp>
        <p:sp>
          <p:nvSpPr>
            <p:cNvPr id="11" name="Line 9"/>
            <p:cNvSpPr>
              <a:spLocks noChangeShapeType="1"/>
            </p:cNvSpPr>
            <p:nvPr/>
          </p:nvSpPr>
          <p:spPr bwMode="auto">
            <a:xfrm flipH="1">
              <a:off x="3696" y="2304"/>
              <a:ext cx="288"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 name="Line 10"/>
            <p:cNvSpPr>
              <a:spLocks noChangeShapeType="1"/>
            </p:cNvSpPr>
            <p:nvPr/>
          </p:nvSpPr>
          <p:spPr bwMode="auto">
            <a:xfrm>
              <a:off x="4464" y="2304"/>
              <a:ext cx="384"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3" name="Rectangle 11"/>
          <p:cNvSpPr>
            <a:spLocks noChangeArrowheads="1"/>
          </p:cNvSpPr>
          <p:nvPr/>
        </p:nvSpPr>
        <p:spPr bwMode="auto">
          <a:xfrm>
            <a:off x="952500" y="3253025"/>
            <a:ext cx="3810000" cy="172354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tIns="91440" bIns="91440">
            <a:spAutoFit/>
          </a:bodyPr>
          <a:lstStyle>
            <a:lvl1pPr marL="342900" indent="-342900" eaLnBrk="0" hangingPunct="0">
              <a:defRPr sz="2400">
                <a:solidFill>
                  <a:schemeClr val="tx1"/>
                </a:solidFill>
                <a:latin typeface="Times New Roman" panose="02020603050405020304" pitchFamily="18" charset="0"/>
              </a:defRPr>
            </a:lvl1pPr>
            <a:lvl2pPr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114300" lvl="1" eaLnBrk="1" hangingPunct="1"/>
            <a:r>
              <a:rPr lang="en-US" altLang="en-US" sz="2000" b="1" dirty="0" err="1">
                <a:cs typeface="Times New Roman" panose="02020603050405020304" pitchFamily="18" charset="0"/>
              </a:rPr>
              <a:t>BSearchTree</a:t>
            </a:r>
            <a:r>
              <a:rPr lang="en-US" altLang="en-US" sz="2000" b="1" dirty="0">
                <a:cs typeface="Times New Roman" panose="02020603050405020304" pitchFamily="18" charset="0"/>
              </a:rPr>
              <a:t> = </a:t>
            </a:r>
            <a:r>
              <a:rPr lang="en-US" altLang="en-US" sz="2000" b="1" dirty="0" err="1">
                <a:cs typeface="Times New Roman" panose="02020603050405020304" pitchFamily="18" charset="0"/>
              </a:rPr>
              <a:t>BinaryTree</a:t>
            </a:r>
            <a:r>
              <a:rPr lang="en-US" altLang="en-US" sz="2000" b="1" dirty="0">
                <a:cs typeface="Times New Roman" panose="02020603050405020304" pitchFamily="18" charset="0"/>
              </a:rPr>
              <a:t>; </a:t>
            </a:r>
          </a:p>
          <a:p>
            <a:pPr marL="114300" lvl="1" eaLnBrk="1" hangingPunct="1"/>
            <a:r>
              <a:rPr lang="en-US" altLang="en-US" sz="2000" dirty="0">
                <a:cs typeface="Times New Roman" panose="02020603050405020304" pitchFamily="18" charset="0"/>
              </a:rPr>
              <a:t>and </a:t>
            </a:r>
            <a:r>
              <a:rPr lang="en-US" altLang="en-US" sz="2000" b="1" dirty="0">
                <a:cs typeface="Times New Roman" panose="02020603050405020304" pitchFamily="18" charset="0"/>
              </a:rPr>
              <a:t>Key</a:t>
            </a:r>
            <a:r>
              <a:rPr lang="en-US" altLang="en-US" sz="2000" dirty="0">
                <a:cs typeface="Times New Roman" panose="02020603050405020304" pitchFamily="18" charset="0"/>
              </a:rPr>
              <a:t>(</a:t>
            </a:r>
            <a:r>
              <a:rPr lang="en-US" altLang="en-US" sz="2000" dirty="0" err="1">
                <a:cs typeface="Times New Roman" panose="02020603050405020304" pitchFamily="18" charset="0"/>
              </a:rPr>
              <a:t>LChild</a:t>
            </a:r>
            <a:r>
              <a:rPr lang="en-US" altLang="en-US" sz="2000" dirty="0">
                <a:cs typeface="Times New Roman" panose="02020603050405020304" pitchFamily="18" charset="0"/>
              </a:rPr>
              <a:t>)</a:t>
            </a:r>
            <a:r>
              <a:rPr lang="en-US" altLang="en-US" sz="2000" b="1" dirty="0">
                <a:cs typeface="Times New Roman" panose="02020603050405020304" pitchFamily="18" charset="0"/>
              </a:rPr>
              <a:t> &lt; Key</a:t>
            </a:r>
            <a:r>
              <a:rPr lang="en-US" altLang="en-US" sz="2000" dirty="0">
                <a:cs typeface="Times New Roman" panose="02020603050405020304" pitchFamily="18" charset="0"/>
              </a:rPr>
              <a:t>(root)</a:t>
            </a:r>
            <a:r>
              <a:rPr lang="en-US" altLang="en-US" sz="2000" b="1" dirty="0">
                <a:cs typeface="Times New Roman" panose="02020603050405020304" pitchFamily="18" charset="0"/>
              </a:rPr>
              <a:t>;</a:t>
            </a:r>
          </a:p>
          <a:p>
            <a:pPr marL="114300" lvl="1" eaLnBrk="1" hangingPunct="1"/>
            <a:r>
              <a:rPr lang="en-US" altLang="en-US" sz="2000" dirty="0">
                <a:cs typeface="Times New Roman" panose="02020603050405020304" pitchFamily="18" charset="0"/>
              </a:rPr>
              <a:t>and </a:t>
            </a:r>
            <a:r>
              <a:rPr lang="en-US" altLang="en-US" sz="2000" b="1" dirty="0">
                <a:cs typeface="Times New Roman" panose="02020603050405020304" pitchFamily="18" charset="0"/>
              </a:rPr>
              <a:t>Key</a:t>
            </a:r>
            <a:r>
              <a:rPr lang="en-US" altLang="en-US" sz="2000" dirty="0">
                <a:cs typeface="Times New Roman" panose="02020603050405020304" pitchFamily="18" charset="0"/>
              </a:rPr>
              <a:t>(root)</a:t>
            </a:r>
            <a:r>
              <a:rPr lang="en-US" altLang="en-US" sz="2000" b="1" dirty="0">
                <a:cs typeface="Times New Roman" panose="02020603050405020304" pitchFamily="18" charset="0"/>
              </a:rPr>
              <a:t> &lt; Key</a:t>
            </a:r>
            <a:r>
              <a:rPr lang="en-US" altLang="en-US" sz="2000" dirty="0">
                <a:cs typeface="Times New Roman" panose="02020603050405020304" pitchFamily="18" charset="0"/>
              </a:rPr>
              <a:t>(</a:t>
            </a:r>
            <a:r>
              <a:rPr lang="en-US" altLang="en-US" sz="2000" dirty="0" err="1">
                <a:cs typeface="Times New Roman" panose="02020603050405020304" pitchFamily="18" charset="0"/>
              </a:rPr>
              <a:t>RChild</a:t>
            </a:r>
            <a:r>
              <a:rPr lang="en-US" altLang="en-US" sz="2000" dirty="0">
                <a:cs typeface="Times New Roman" panose="02020603050405020304" pitchFamily="18" charset="0"/>
              </a:rPr>
              <a:t>)</a:t>
            </a:r>
            <a:r>
              <a:rPr lang="en-US" altLang="en-US" sz="2000" b="1" dirty="0">
                <a:cs typeface="Times New Roman" panose="02020603050405020304" pitchFamily="18" charset="0"/>
              </a:rPr>
              <a:t>;</a:t>
            </a:r>
          </a:p>
          <a:p>
            <a:pPr marL="114300" lvl="1" eaLnBrk="1" hangingPunct="1"/>
            <a:r>
              <a:rPr lang="en-US" altLang="en-US" sz="2000" dirty="0">
                <a:cs typeface="Times New Roman" panose="02020603050405020304" pitchFamily="18" charset="0"/>
              </a:rPr>
              <a:t>and </a:t>
            </a:r>
            <a:r>
              <a:rPr lang="en-US" altLang="en-US" sz="2000" dirty="0" err="1">
                <a:cs typeface="Times New Roman" panose="02020603050405020304" pitchFamily="18" charset="0"/>
              </a:rPr>
              <a:t>LTree</a:t>
            </a:r>
            <a:r>
              <a:rPr lang="en-US" altLang="en-US" sz="2000" dirty="0">
                <a:cs typeface="Times New Roman" panose="02020603050405020304" pitchFamily="18" charset="0"/>
              </a:rPr>
              <a:t> =</a:t>
            </a:r>
            <a:r>
              <a:rPr lang="en-US" altLang="en-US" sz="2000" b="1" dirty="0">
                <a:cs typeface="Times New Roman" panose="02020603050405020304" pitchFamily="18" charset="0"/>
              </a:rPr>
              <a:t> </a:t>
            </a:r>
            <a:r>
              <a:rPr lang="en-US" altLang="en-US" sz="2000" b="1" dirty="0" err="1">
                <a:cs typeface="Times New Roman" panose="02020603050405020304" pitchFamily="18" charset="0"/>
              </a:rPr>
              <a:t>BSearchTree</a:t>
            </a:r>
            <a:r>
              <a:rPr lang="en-US" altLang="en-US" sz="2000" b="1" dirty="0">
                <a:cs typeface="Times New Roman" panose="02020603050405020304" pitchFamily="18" charset="0"/>
              </a:rPr>
              <a:t>; </a:t>
            </a:r>
          </a:p>
          <a:p>
            <a:pPr marL="114300" lvl="1" eaLnBrk="1" hangingPunct="1"/>
            <a:r>
              <a:rPr lang="en-US" altLang="en-US" sz="2000" dirty="0">
                <a:cs typeface="Times New Roman" panose="02020603050405020304" pitchFamily="18" charset="0"/>
              </a:rPr>
              <a:t>and </a:t>
            </a:r>
            <a:r>
              <a:rPr lang="en-US" altLang="en-US" sz="2000" dirty="0" err="1">
                <a:cs typeface="Times New Roman" panose="02020603050405020304" pitchFamily="18" charset="0"/>
              </a:rPr>
              <a:t>RTree</a:t>
            </a:r>
            <a:r>
              <a:rPr lang="en-US" altLang="en-US" sz="2000" dirty="0">
                <a:cs typeface="Times New Roman" panose="02020603050405020304" pitchFamily="18" charset="0"/>
              </a:rPr>
              <a:t> =</a:t>
            </a:r>
            <a:r>
              <a:rPr lang="en-US" altLang="en-US" sz="2000" b="1" dirty="0">
                <a:cs typeface="Times New Roman" panose="02020603050405020304" pitchFamily="18" charset="0"/>
              </a:rPr>
              <a:t> </a:t>
            </a:r>
            <a:r>
              <a:rPr lang="en-US" altLang="en-US" sz="2000" b="1" dirty="0" err="1">
                <a:cs typeface="Times New Roman" panose="02020603050405020304" pitchFamily="18" charset="0"/>
              </a:rPr>
              <a:t>BSearchTree</a:t>
            </a:r>
            <a:r>
              <a:rPr lang="en-US" altLang="en-US" sz="2000" b="1" dirty="0">
                <a:cs typeface="Times New Roman" panose="02020603050405020304" pitchFamily="18" charset="0"/>
              </a:rPr>
              <a:t>;</a:t>
            </a:r>
          </a:p>
        </p:txBody>
      </p:sp>
    </p:spTree>
    <p:extLst>
      <p:ext uri="{BB962C8B-B14F-4D97-AF65-F5344CB8AC3E}">
        <p14:creationId xmlns:p14="http://schemas.microsoft.com/office/powerpoint/2010/main" val="3273161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2"/>
          <p:cNvSpPr>
            <a:spLocks noGrp="1" noChangeArrowheads="1"/>
          </p:cNvSpPr>
          <p:nvPr>
            <p:ph type="title"/>
          </p:nvPr>
        </p:nvSpPr>
        <p:spPr/>
        <p:txBody>
          <a:bodyPr/>
          <a:lstStyle/>
          <a:p>
            <a:pPr eaLnBrk="1" hangingPunct="1"/>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nhị</a:t>
            </a:r>
            <a:r>
              <a:rPr lang="en-US" altLang="en-US" dirty="0">
                <a:cs typeface="Times New Roman" panose="02020603050405020304" pitchFamily="18" charset="0"/>
              </a:rPr>
              <a:t> </a:t>
            </a:r>
            <a:r>
              <a:rPr lang="en-US" altLang="en-US" dirty="0" err="1">
                <a:cs typeface="Times New Roman" panose="02020603050405020304" pitchFamily="18" charset="0"/>
              </a:rPr>
              <a:t>phân</a:t>
            </a:r>
            <a:r>
              <a:rPr lang="en-US" altLang="en-US" dirty="0">
                <a:cs typeface="Times New Roman" panose="02020603050405020304" pitchFamily="18" charset="0"/>
              </a:rPr>
              <a:t> </a:t>
            </a:r>
            <a:r>
              <a:rPr lang="en-US" altLang="en-US" dirty="0" err="1">
                <a:cs typeface="Times New Roman" panose="02020603050405020304" pitchFamily="18" charset="0"/>
              </a:rPr>
              <a:t>tìm</a:t>
            </a:r>
            <a:r>
              <a:rPr lang="en-US" altLang="en-US" dirty="0">
                <a:cs typeface="Times New Roman" panose="02020603050405020304" pitchFamily="18" charset="0"/>
              </a:rPr>
              <a:t> </a:t>
            </a:r>
            <a:r>
              <a:rPr lang="en-US" altLang="en-US" dirty="0" err="1">
                <a:cs typeface="Times New Roman" panose="02020603050405020304" pitchFamily="18" charset="0"/>
              </a:rPr>
              <a:t>kiếm</a:t>
            </a:r>
            <a:endParaRPr lang="en-US" altLang="en-US" dirty="0"/>
          </a:p>
        </p:txBody>
      </p:sp>
      <p:sp>
        <p:nvSpPr>
          <p:cNvPr id="38917" name="Rectangle 3"/>
          <p:cNvSpPr>
            <a:spLocks noGrp="1" noChangeArrowheads="1"/>
          </p:cNvSpPr>
          <p:nvPr>
            <p:ph type="body" sz="quarter" idx="13"/>
          </p:nvPr>
        </p:nvSpPr>
        <p:spPr>
          <a:noFill/>
        </p:spPr>
        <p:txBody>
          <a:bodyPr>
            <a:normAutofit/>
          </a:bodyPr>
          <a:lstStyle/>
          <a:p>
            <a:r>
              <a:rPr lang="en-US" altLang="en-US" sz="2400" dirty="0">
                <a:cs typeface="Times New Roman" panose="02020603050405020304" pitchFamily="18" charset="0"/>
              </a:rPr>
              <a:t>N</a:t>
            </a:r>
            <a:r>
              <a:rPr lang="vi-VN" altLang="en-US" sz="2400" dirty="0">
                <a:cs typeface="Times New Roman" panose="02020603050405020304" pitchFamily="18" charset="0"/>
              </a:rPr>
              <a:t>ếu duyệt cây theo thứ </a:t>
            </a:r>
            <a:r>
              <a:rPr lang="vi-VN" altLang="en-US" sz="2400">
                <a:cs typeface="Times New Roman" panose="02020603050405020304" pitchFamily="18" charset="0"/>
              </a:rPr>
              <a:t>tự </a:t>
            </a:r>
            <a:r>
              <a:rPr lang="en-US" altLang="en-US" sz="2400">
                <a:cs typeface="Times New Roman" panose="02020603050405020304" pitchFamily="18" charset="0"/>
              </a:rPr>
              <a:t>giữa</a:t>
            </a:r>
            <a:r>
              <a:rPr lang="en-US" altLang="en-US" sz="2400" dirty="0">
                <a:cs typeface="Times New Roman" panose="02020603050405020304" pitchFamily="18" charset="0"/>
              </a:rPr>
              <a:t> </a:t>
            </a:r>
            <a:r>
              <a:rPr lang="vi-VN" altLang="en-US" sz="2400" dirty="0">
                <a:cs typeface="Times New Roman" panose="02020603050405020304" pitchFamily="18" charset="0"/>
              </a:rPr>
              <a:t>thì</a:t>
            </a:r>
            <a:r>
              <a:rPr lang="en-US" altLang="en-US" sz="2400" dirty="0">
                <a:cs typeface="Times New Roman" panose="02020603050405020304" pitchFamily="18" charset="0"/>
              </a:rPr>
              <a:t> đ</a:t>
            </a:r>
            <a:r>
              <a:rPr lang="vi-VN" altLang="en-US" sz="2400" dirty="0">
                <a:cs typeface="Times New Roman" panose="02020603050405020304" pitchFamily="18" charset="0"/>
              </a:rPr>
              <a:t>ược các nút</a:t>
            </a:r>
            <a:r>
              <a:rPr lang="en-US" altLang="en-US" sz="2400" dirty="0">
                <a:cs typeface="Times New Roman" panose="02020603050405020304" pitchFamily="18" charset="0"/>
              </a:rPr>
              <a:t> </a:t>
            </a:r>
            <a:r>
              <a:rPr lang="vi-VN" altLang="en-US" sz="2400" dirty="0">
                <a:cs typeface="Times New Roman" panose="02020603050405020304" pitchFamily="18" charset="0"/>
              </a:rPr>
              <a:t>được sắp xếp theo thứ tự tăng dần</a:t>
            </a:r>
            <a:endParaRPr lang="en-US" altLang="en-US" sz="2400" dirty="0">
              <a:cs typeface="Times New Roman" panose="02020603050405020304" pitchFamily="18" charset="0"/>
            </a:endParaRPr>
          </a:p>
          <a:p>
            <a:r>
              <a:rPr lang="en-US" altLang="en-US" sz="2400" dirty="0">
                <a:cs typeface="Times New Roman" panose="02020603050405020304" pitchFamily="18" charset="0"/>
              </a:rPr>
              <a:t>G</a:t>
            </a:r>
            <a:r>
              <a:rPr lang="vi-VN" altLang="en-US" sz="2400" dirty="0">
                <a:cs typeface="Times New Roman" panose="02020603050405020304" pitchFamily="18" charset="0"/>
              </a:rPr>
              <a:t>iải thuật tìm kiếm</a:t>
            </a:r>
            <a:r>
              <a:rPr lang="en-US" altLang="en-US" sz="2400" dirty="0">
                <a:cs typeface="Times New Roman" panose="02020603050405020304" pitchFamily="18" charset="0"/>
              </a:rPr>
              <a:t> </a:t>
            </a:r>
            <a:r>
              <a:rPr lang="vi-VN" altLang="en-US" sz="2400" dirty="0">
                <a:cs typeface="Times New Roman" panose="02020603050405020304" pitchFamily="18" charset="0"/>
              </a:rPr>
              <a:t>nhị phân</a:t>
            </a:r>
            <a:endParaRPr lang="en-US" altLang="en-US" sz="2400" dirty="0">
              <a:cs typeface="Times New Roman" panose="02020603050405020304" pitchFamily="18" charset="0"/>
            </a:endParaRPr>
          </a:p>
          <a:p>
            <a:pPr lvl="1"/>
            <a:r>
              <a:rPr lang="vi-VN" altLang="en-US" sz="2000" dirty="0">
                <a:cs typeface="Times New Roman" panose="02020603050405020304" pitchFamily="18" charset="0"/>
              </a:rPr>
              <a:t>so sánh K với nút gốc</a:t>
            </a:r>
            <a:endParaRPr lang="en-US" altLang="en-US" sz="2000" dirty="0">
              <a:cs typeface="Times New Roman" panose="02020603050405020304" pitchFamily="18" charset="0"/>
            </a:endParaRPr>
          </a:p>
          <a:p>
            <a:pPr lvl="1"/>
            <a:r>
              <a:rPr lang="vi-VN" altLang="en-US" sz="2000" dirty="0">
                <a:cs typeface="Times New Roman" panose="02020603050405020304" pitchFamily="18" charset="0"/>
              </a:rPr>
              <a:t>nếu K &lt;</a:t>
            </a:r>
            <a:r>
              <a:rPr lang="en-US" altLang="en-US" sz="2000" dirty="0">
                <a:cs typeface="Times New Roman" panose="02020603050405020304" pitchFamily="18" charset="0"/>
              </a:rPr>
              <a:t> </a:t>
            </a:r>
            <a:r>
              <a:rPr lang="vi-VN" altLang="en-US" sz="2000" dirty="0">
                <a:cs typeface="Times New Roman" panose="02020603050405020304" pitchFamily="18" charset="0"/>
              </a:rPr>
              <a:t>nút gốc</a:t>
            </a:r>
            <a:r>
              <a:rPr lang="en-US" altLang="en-US" sz="2000" dirty="0">
                <a:cs typeface="Times New Roman" panose="02020603050405020304" pitchFamily="18" charset="0"/>
              </a:rPr>
              <a:t>,</a:t>
            </a:r>
            <a:r>
              <a:rPr lang="vi-VN" altLang="en-US" sz="2000" dirty="0">
                <a:cs typeface="Times New Roman" panose="02020603050405020304" pitchFamily="18" charset="0"/>
              </a:rPr>
              <a:t> tìm K trong cây con trái của nút gốc. </a:t>
            </a:r>
            <a:endParaRPr lang="en-US" altLang="en-US" sz="2000" dirty="0">
              <a:cs typeface="Times New Roman" panose="02020603050405020304" pitchFamily="18" charset="0"/>
            </a:endParaRPr>
          </a:p>
          <a:p>
            <a:pPr lvl="1"/>
            <a:r>
              <a:rPr lang="vi-VN" altLang="en-US" sz="2000" dirty="0">
                <a:cs typeface="Times New Roman" panose="02020603050405020304" pitchFamily="18" charset="0"/>
              </a:rPr>
              <a:t>nếu K</a:t>
            </a:r>
            <a:r>
              <a:rPr lang="en-US" altLang="en-US" sz="2000" dirty="0">
                <a:cs typeface="Times New Roman" panose="02020603050405020304" pitchFamily="18" charset="0"/>
              </a:rPr>
              <a:t> &gt;</a:t>
            </a:r>
            <a:r>
              <a:rPr lang="vi-VN" altLang="en-US" sz="2000" dirty="0">
                <a:cs typeface="Times New Roman" panose="02020603050405020304" pitchFamily="18" charset="0"/>
              </a:rPr>
              <a:t> nút gốc</a:t>
            </a:r>
            <a:r>
              <a:rPr lang="en-US" altLang="en-US" sz="2000" dirty="0">
                <a:cs typeface="Times New Roman" panose="02020603050405020304" pitchFamily="18" charset="0"/>
              </a:rPr>
              <a:t>, </a:t>
            </a:r>
            <a:r>
              <a:rPr lang="vi-VN" altLang="en-US" sz="2000" dirty="0">
                <a:cs typeface="Times New Roman" panose="02020603050405020304" pitchFamily="18" charset="0"/>
              </a:rPr>
              <a:t>tìm K trong cây con phải của nút gốc.</a:t>
            </a:r>
            <a:endParaRPr lang="en-US" altLang="en-US" sz="2000" dirty="0">
              <a:cs typeface="Times New Roman" panose="02020603050405020304" pitchFamily="18" charset="0"/>
            </a:endParaRPr>
          </a:p>
          <a:p>
            <a:pPr lvl="1"/>
            <a:r>
              <a:rPr lang="en-US" altLang="en-US" sz="2000" dirty="0" err="1">
                <a:cs typeface="Times New Roman" panose="02020603050405020304" pitchFamily="18" charset="0"/>
              </a:rPr>
              <a:t>Nếu</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cân</a:t>
            </a:r>
            <a:r>
              <a:rPr lang="en-US" altLang="en-US" sz="2000" dirty="0">
                <a:cs typeface="Times New Roman" panose="02020603050405020304" pitchFamily="18" charset="0"/>
              </a:rPr>
              <a:t> </a:t>
            </a:r>
            <a:r>
              <a:rPr lang="en-US" altLang="en-US" sz="2000" dirty="0" err="1">
                <a:cs typeface="Times New Roman" panose="02020603050405020304" pitchFamily="18" charset="0"/>
              </a:rPr>
              <a:t>bằng</a:t>
            </a:r>
            <a:r>
              <a:rPr lang="en-US" altLang="en-US" sz="2000" dirty="0">
                <a:cs typeface="Times New Roman" panose="02020603050405020304" pitchFamily="18" charset="0"/>
              </a:rPr>
              <a:t> </a:t>
            </a:r>
            <a:r>
              <a:rPr lang="en-US" altLang="en-US" sz="2000" dirty="0">
                <a:cs typeface="Times New Roman" panose="02020603050405020304" pitchFamily="18" charset="0"/>
                <a:sym typeface="Wingdings" panose="05000000000000000000" pitchFamily="2" charset="2"/>
              </a:rPr>
              <a:t> </a:t>
            </a:r>
            <a:r>
              <a:rPr lang="en-US" altLang="en-US" sz="2000" dirty="0">
                <a:cs typeface="Times New Roman" panose="02020603050405020304" pitchFamily="18" charset="0"/>
              </a:rPr>
              <a:t>O(log</a:t>
            </a:r>
            <a:r>
              <a:rPr lang="en-US" altLang="en-US" sz="2000" baseline="-25000" dirty="0">
                <a:cs typeface="Times New Roman" panose="02020603050405020304" pitchFamily="18" charset="0"/>
              </a:rPr>
              <a:t>2</a:t>
            </a:r>
            <a:r>
              <a:rPr lang="en-US" altLang="en-US" sz="2000" dirty="0">
                <a:cs typeface="Times New Roman" panose="02020603050405020304" pitchFamily="18" charset="0"/>
              </a:rPr>
              <a:t>N)</a:t>
            </a:r>
          </a:p>
          <a:p>
            <a:pPr lvl="1" eaLnBrk="1" hangingPunct="1">
              <a:spcBef>
                <a:spcPct val="15000"/>
              </a:spcBef>
            </a:pPr>
            <a:endParaRPr lang="en-US" altLang="en-US" sz="2000" dirty="0">
              <a:cs typeface="Times New Roman" panose="02020603050405020304" pitchFamily="18" charset="0"/>
            </a:endParaRPr>
          </a:p>
        </p:txBody>
      </p:sp>
      <p:pic>
        <p:nvPicPr>
          <p:cNvPr id="13" name="Picture 12"/>
          <p:cNvPicPr>
            <a:picLocks noChangeAspect="1"/>
          </p:cNvPicPr>
          <p:nvPr/>
        </p:nvPicPr>
        <p:blipFill>
          <a:blip r:embed="rId3"/>
          <a:stretch>
            <a:fillRect/>
          </a:stretch>
        </p:blipFill>
        <p:spPr>
          <a:xfrm>
            <a:off x="5105400" y="3352800"/>
            <a:ext cx="2971800" cy="2863886"/>
          </a:xfrm>
          <a:prstGeom prst="rect">
            <a:avLst/>
          </a:prstGeom>
        </p:spPr>
      </p:pic>
    </p:spTree>
    <p:extLst>
      <p:ext uri="{BB962C8B-B14F-4D97-AF65-F5344CB8AC3E}">
        <p14:creationId xmlns:p14="http://schemas.microsoft.com/office/powerpoint/2010/main" val="1226676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91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91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917">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891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r>
              <a:rPr lang="en-US" altLang="en-US">
                <a:cs typeface="Times New Roman" panose="02020603050405020304" pitchFamily="18" charset="0"/>
              </a:rPr>
              <a:t>Cây nhị phân tìm kiếm</a:t>
            </a:r>
            <a:endParaRPr lang="en-US" altLang="en-US"/>
          </a:p>
        </p:txBody>
      </p:sp>
      <p:sp>
        <p:nvSpPr>
          <p:cNvPr id="39939" name="Content Placeholder 2"/>
          <p:cNvSpPr>
            <a:spLocks noGrp="1"/>
          </p:cNvSpPr>
          <p:nvPr>
            <p:ph type="body" sz="quarter" idx="13"/>
          </p:nvPr>
        </p:nvSpPr>
        <p:spPr/>
        <p:txBody>
          <a:bodyPr>
            <a:normAutofit/>
          </a:bodyPr>
          <a:lstStyle/>
          <a:p>
            <a:r>
              <a:rPr lang="en-US" altLang="en-US" sz="2400" dirty="0" err="1">
                <a:cs typeface="Times New Roman" panose="02020603050405020304" pitchFamily="18" charset="0"/>
              </a:rPr>
              <a:t>Khai</a:t>
            </a:r>
            <a:r>
              <a:rPr lang="en-US" altLang="en-US" sz="2400" dirty="0">
                <a:cs typeface="Times New Roman" panose="02020603050405020304" pitchFamily="18" charset="0"/>
              </a:rPr>
              <a:t> </a:t>
            </a:r>
            <a:r>
              <a:rPr lang="en-US" altLang="en-US" sz="2400" dirty="0" err="1">
                <a:cs typeface="Times New Roman" panose="02020603050405020304" pitchFamily="18" charset="0"/>
              </a:rPr>
              <a:t>báo</a:t>
            </a:r>
            <a:r>
              <a:rPr lang="en-US" altLang="en-US" sz="2400" dirty="0">
                <a:cs typeface="Times New Roman" panose="02020603050405020304" pitchFamily="18" charset="0"/>
              </a:rPr>
              <a:t> </a:t>
            </a:r>
            <a:r>
              <a:rPr lang="en-US" altLang="en-US" sz="2400" dirty="0" err="1">
                <a:cs typeface="Times New Roman" panose="02020603050405020304" pitchFamily="18" charset="0"/>
              </a:rPr>
              <a:t>cấu</a:t>
            </a:r>
            <a:r>
              <a:rPr lang="en-US" altLang="en-US" sz="2400" dirty="0">
                <a:cs typeface="Times New Roman" panose="02020603050405020304" pitchFamily="18" charset="0"/>
              </a:rPr>
              <a:t> </a:t>
            </a:r>
            <a:r>
              <a:rPr lang="en-US" altLang="en-US" sz="2400" dirty="0" err="1">
                <a:cs typeface="Times New Roman" panose="02020603050405020304" pitchFamily="18" charset="0"/>
              </a:rPr>
              <a:t>trúc</a:t>
            </a:r>
            <a:r>
              <a:rPr lang="en-US" altLang="en-US" sz="2400" dirty="0">
                <a:cs typeface="Times New Roman" panose="02020603050405020304" pitchFamily="18" charset="0"/>
              </a:rPr>
              <a:t> </a:t>
            </a:r>
            <a:r>
              <a:rPr lang="en-US" altLang="en-US" sz="2400" dirty="0" err="1">
                <a:cs typeface="Times New Roman" panose="02020603050405020304" pitchFamily="18" charset="0"/>
              </a:rPr>
              <a:t>nút</a:t>
            </a:r>
            <a:endParaRPr lang="en-US" altLang="en-US" sz="2400" dirty="0"/>
          </a:p>
        </p:txBody>
      </p:sp>
      <p:sp>
        <p:nvSpPr>
          <p:cNvPr id="39942" name="Rectangle 4"/>
          <p:cNvSpPr>
            <a:spLocks noChangeArrowheads="1"/>
          </p:cNvSpPr>
          <p:nvPr/>
        </p:nvSpPr>
        <p:spPr bwMode="auto">
          <a:xfrm>
            <a:off x="838200" y="1828800"/>
            <a:ext cx="8001000" cy="26463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91440" bIns="91440">
            <a:spAutoFit/>
          </a:bodyPr>
          <a:lstStyle>
            <a:lvl1pPr marL="342900" indent="-342900" eaLnBrk="0" hangingPunct="0">
              <a:defRPr sz="2400">
                <a:solidFill>
                  <a:schemeClr val="tx1"/>
                </a:solidFill>
                <a:latin typeface="Times New Roman" panose="02020603050405020304" pitchFamily="18" charset="0"/>
              </a:defRPr>
            </a:lvl1pPr>
            <a:lvl2pPr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114300" lvl="1" eaLnBrk="1" hangingPunct="1"/>
            <a:r>
              <a:rPr lang="en-US" altLang="en-US" sz="2000" b="1" dirty="0" err="1">
                <a:cs typeface="Times New Roman" panose="02020603050405020304" pitchFamily="18" charset="0"/>
              </a:rPr>
              <a:t>struct</a:t>
            </a:r>
            <a:r>
              <a:rPr lang="en-US" altLang="en-US" sz="2000" dirty="0">
                <a:cs typeface="Times New Roman" panose="02020603050405020304" pitchFamily="18" charset="0"/>
              </a:rPr>
              <a:t>  </a:t>
            </a:r>
            <a:r>
              <a:rPr lang="en-US" altLang="en-US" sz="2000" b="1" dirty="0">
                <a:cs typeface="Times New Roman" panose="02020603050405020304" pitchFamily="18" charset="0"/>
              </a:rPr>
              <a:t>Node</a:t>
            </a:r>
            <a:r>
              <a:rPr lang="en-US" altLang="en-US" sz="2000" dirty="0">
                <a:cs typeface="Times New Roman" panose="02020603050405020304" pitchFamily="18" charset="0"/>
              </a:rPr>
              <a:t>  {</a:t>
            </a:r>
          </a:p>
          <a:p>
            <a:pPr marL="114300" lvl="1" eaLnBrk="1" hangingPunct="1"/>
            <a:r>
              <a:rPr lang="en-US" altLang="en-US" sz="2000" dirty="0">
                <a:cs typeface="Times New Roman" panose="02020603050405020304" pitchFamily="18" charset="0"/>
              </a:rPr>
              <a:t>	</a:t>
            </a:r>
            <a:r>
              <a:rPr lang="en-US" altLang="en-US" sz="2000" dirty="0" err="1">
                <a:cs typeface="Times New Roman" panose="02020603050405020304" pitchFamily="18" charset="0"/>
              </a:rPr>
              <a:t>keytype</a:t>
            </a:r>
            <a:r>
              <a:rPr lang="en-US" altLang="en-US" sz="2000" dirty="0">
                <a:cs typeface="Times New Roman" panose="02020603050405020304" pitchFamily="18" charset="0"/>
              </a:rPr>
              <a:t>  Key; </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Thường</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là</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kiểu</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có</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thứ</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tự</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có</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thể</a:t>
            </a:r>
            <a:r>
              <a:rPr lang="en-US" altLang="en-US" sz="2000" i="1" dirty="0">
                <a:cs typeface="Times New Roman" panose="02020603050405020304" pitchFamily="18" charset="0"/>
              </a:rPr>
              <a:t> so </a:t>
            </a:r>
            <a:r>
              <a:rPr lang="en-US" altLang="en-US" sz="2000" i="1" dirty="0" err="1">
                <a:cs typeface="Times New Roman" panose="02020603050405020304" pitchFamily="18" charset="0"/>
              </a:rPr>
              <a:t>sánh</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được</a:t>
            </a:r>
            <a:endParaRPr lang="en-US" altLang="en-US" sz="2000" dirty="0">
              <a:cs typeface="Times New Roman" panose="02020603050405020304" pitchFamily="18" charset="0"/>
            </a:endParaRPr>
          </a:p>
          <a:p>
            <a:pPr marL="114300" lvl="1"/>
            <a:r>
              <a:rPr lang="en-US" altLang="en-US" sz="2000" dirty="0">
                <a:cs typeface="Times New Roman" panose="02020603050405020304" pitchFamily="18" charset="0"/>
              </a:rPr>
              <a:t>	Node * LP, *RP;</a:t>
            </a:r>
          </a:p>
          <a:p>
            <a:pPr marL="114300" lvl="1"/>
            <a:r>
              <a:rPr lang="en-US" altLang="en-US" sz="2000" dirty="0">
                <a:cs typeface="Times New Roman" panose="02020603050405020304" pitchFamily="18" charset="0"/>
              </a:rPr>
              <a:t>};</a:t>
            </a:r>
          </a:p>
          <a:p>
            <a:pPr marL="114300" lvl="1"/>
            <a:endParaRPr lang="en-US" altLang="en-US" sz="2000" dirty="0">
              <a:cs typeface="Times New Roman" panose="02020603050405020304" pitchFamily="18" charset="0"/>
            </a:endParaRPr>
          </a:p>
          <a:p>
            <a:pPr marL="114300" lvl="1"/>
            <a:r>
              <a:rPr lang="en-US" altLang="en-US" sz="2000" b="1" dirty="0" err="1">
                <a:cs typeface="Times New Roman" panose="02020603050405020304" pitchFamily="18" charset="0"/>
              </a:rPr>
              <a:t>typedef</a:t>
            </a:r>
            <a:r>
              <a:rPr lang="en-US" altLang="en-US" sz="2000" dirty="0">
                <a:cs typeface="Times New Roman" panose="02020603050405020304" pitchFamily="18" charset="0"/>
              </a:rPr>
              <a:t>  Node*  </a:t>
            </a:r>
            <a:r>
              <a:rPr lang="en-US" altLang="en-US" sz="2000" b="1" dirty="0" err="1">
                <a:cs typeface="Times New Roman" panose="02020603050405020304" pitchFamily="18" charset="0"/>
              </a:rPr>
              <a:t>PNode</a:t>
            </a:r>
            <a:r>
              <a:rPr lang="en-US" altLang="en-US" sz="2000" dirty="0">
                <a:cs typeface="Times New Roman" panose="02020603050405020304" pitchFamily="18" charset="0"/>
              </a:rPr>
              <a:t>;</a:t>
            </a:r>
            <a:endParaRPr lang="en-US" altLang="en-US" sz="2000" b="1" dirty="0"/>
          </a:p>
          <a:p>
            <a:pPr marL="114300" lvl="1"/>
            <a:r>
              <a:rPr lang="en-US" altLang="en-US" sz="2000" b="1" dirty="0" err="1">
                <a:cs typeface="Times New Roman" panose="02020603050405020304" pitchFamily="18" charset="0"/>
              </a:rPr>
              <a:t>typedef</a:t>
            </a:r>
            <a:r>
              <a:rPr lang="en-US" altLang="en-US" sz="2000" b="1" dirty="0">
                <a:cs typeface="Times New Roman" panose="02020603050405020304" pitchFamily="18" charset="0"/>
              </a:rPr>
              <a:t>  </a:t>
            </a:r>
            <a:r>
              <a:rPr lang="en-US" altLang="en-US" sz="2000" b="1" dirty="0" err="1">
                <a:cs typeface="Times New Roman" panose="02020603050405020304" pitchFamily="18" charset="0"/>
              </a:rPr>
              <a:t>PNode</a:t>
            </a:r>
            <a:r>
              <a:rPr lang="en-US" altLang="en-US" sz="2000" b="1" dirty="0">
                <a:cs typeface="Times New Roman" panose="02020603050405020304" pitchFamily="18" charset="0"/>
              </a:rPr>
              <a:t> </a:t>
            </a:r>
            <a:r>
              <a:rPr lang="en-US" altLang="en-US" sz="2000" b="1" dirty="0" err="1">
                <a:cs typeface="Times New Roman" panose="02020603050405020304" pitchFamily="18" charset="0"/>
              </a:rPr>
              <a:t>BinaryTree</a:t>
            </a:r>
            <a:r>
              <a:rPr lang="en-US" altLang="en-US" sz="2000" dirty="0">
                <a:cs typeface="Times New Roman" panose="02020603050405020304" pitchFamily="18" charset="0"/>
              </a:rPr>
              <a:t>;</a:t>
            </a:r>
          </a:p>
          <a:p>
            <a:pPr marL="114300" lvl="1"/>
            <a:r>
              <a:rPr lang="en-US" altLang="en-US" sz="2000" b="1" dirty="0" err="1">
                <a:cs typeface="Times New Roman" panose="02020603050405020304" pitchFamily="18" charset="0"/>
              </a:rPr>
              <a:t>typedef</a:t>
            </a:r>
            <a:r>
              <a:rPr lang="en-US" altLang="en-US" sz="2000" b="1" dirty="0">
                <a:cs typeface="Times New Roman" panose="02020603050405020304" pitchFamily="18" charset="0"/>
              </a:rPr>
              <a:t>  </a:t>
            </a:r>
            <a:r>
              <a:rPr lang="en-US" altLang="en-US" sz="2000" b="1" dirty="0" err="1">
                <a:cs typeface="Times New Roman" panose="02020603050405020304" pitchFamily="18" charset="0"/>
              </a:rPr>
              <a:t>BinaryTree</a:t>
            </a:r>
            <a:r>
              <a:rPr lang="en-US" altLang="en-US" sz="2000" b="1" dirty="0">
                <a:cs typeface="Times New Roman" panose="02020603050405020304" pitchFamily="18" charset="0"/>
              </a:rPr>
              <a:t>  </a:t>
            </a:r>
            <a:r>
              <a:rPr lang="en-US" altLang="en-US" sz="2000" b="1" dirty="0" err="1">
                <a:cs typeface="Times New Roman" panose="02020603050405020304" pitchFamily="18" charset="0"/>
              </a:rPr>
              <a:t>BSearchTree</a:t>
            </a:r>
            <a:r>
              <a:rPr lang="en-US" altLang="en-US" sz="2000" dirty="0">
                <a:cs typeface="Times New Roman" panose="02020603050405020304" pitchFamily="18" charset="0"/>
              </a:rPr>
              <a:t>;</a:t>
            </a:r>
          </a:p>
        </p:txBody>
      </p:sp>
    </p:spTree>
    <p:extLst>
      <p:ext uri="{BB962C8B-B14F-4D97-AF65-F5344CB8AC3E}">
        <p14:creationId xmlns:p14="http://schemas.microsoft.com/office/powerpoint/2010/main" val="11639697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p:nvPr>
        </p:nvSpPr>
        <p:spPr/>
        <p:txBody>
          <a:bodyPr/>
          <a:lstStyle/>
          <a:p>
            <a:pPr eaLnBrk="1" hangingPunct="1"/>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nhị</a:t>
            </a:r>
            <a:r>
              <a:rPr lang="en-US" altLang="en-US" dirty="0">
                <a:cs typeface="Times New Roman" panose="02020603050405020304" pitchFamily="18" charset="0"/>
              </a:rPr>
              <a:t> </a:t>
            </a:r>
            <a:r>
              <a:rPr lang="en-US" altLang="en-US" dirty="0" err="1">
                <a:cs typeface="Times New Roman" panose="02020603050405020304" pitchFamily="18" charset="0"/>
              </a:rPr>
              <a:t>phân</a:t>
            </a:r>
            <a:r>
              <a:rPr lang="en-US" altLang="en-US" dirty="0">
                <a:cs typeface="Times New Roman" panose="02020603050405020304" pitchFamily="18" charset="0"/>
              </a:rPr>
              <a:t> </a:t>
            </a:r>
            <a:r>
              <a:rPr lang="en-US" altLang="en-US" dirty="0" err="1">
                <a:cs typeface="Times New Roman" panose="02020603050405020304" pitchFamily="18" charset="0"/>
              </a:rPr>
              <a:t>tìm</a:t>
            </a:r>
            <a:r>
              <a:rPr lang="en-US" altLang="en-US" dirty="0">
                <a:cs typeface="Times New Roman" panose="02020603050405020304" pitchFamily="18" charset="0"/>
              </a:rPr>
              <a:t> </a:t>
            </a:r>
            <a:r>
              <a:rPr lang="en-US" altLang="en-US" dirty="0" err="1">
                <a:cs typeface="Times New Roman" panose="02020603050405020304" pitchFamily="18" charset="0"/>
              </a:rPr>
              <a:t>kiếm</a:t>
            </a:r>
            <a:endParaRPr lang="en-US" altLang="en-US" dirty="0"/>
          </a:p>
        </p:txBody>
      </p:sp>
      <p:sp>
        <p:nvSpPr>
          <p:cNvPr id="41989" name="Rectangle 3"/>
          <p:cNvSpPr>
            <a:spLocks noGrp="1" noChangeArrowheads="1"/>
          </p:cNvSpPr>
          <p:nvPr>
            <p:ph type="body" sz="quarter" idx="13"/>
          </p:nvPr>
        </p:nvSpPr>
        <p:spPr>
          <a:noFill/>
        </p:spPr>
        <p:txBody>
          <a:bodyPr>
            <a:normAutofit/>
          </a:bodyPr>
          <a:lstStyle/>
          <a:p>
            <a:pPr eaLnBrk="1" hangingPunct="1">
              <a:spcBef>
                <a:spcPct val="15000"/>
              </a:spcBef>
            </a:pPr>
            <a:r>
              <a:rPr lang="en-US" altLang="en-US" sz="2400" dirty="0" err="1">
                <a:cs typeface="Times New Roman" panose="02020603050405020304" pitchFamily="18" charset="0"/>
              </a:rPr>
              <a:t>Cài</a:t>
            </a:r>
            <a:r>
              <a:rPr lang="en-US" altLang="en-US" sz="2400" dirty="0">
                <a:cs typeface="Times New Roman" panose="02020603050405020304" pitchFamily="18" charset="0"/>
              </a:rPr>
              <a:t> </a:t>
            </a:r>
            <a:r>
              <a:rPr lang="en-US" altLang="en-US" sz="2400" dirty="0" err="1">
                <a:cs typeface="Times New Roman" panose="02020603050405020304" pitchFamily="18" charset="0"/>
              </a:rPr>
              <a:t>đặt</a:t>
            </a:r>
            <a:r>
              <a:rPr lang="en-US" altLang="en-US" sz="2400" dirty="0">
                <a:cs typeface="Times New Roman" panose="02020603050405020304" pitchFamily="18" charset="0"/>
              </a:rPr>
              <a:t> </a:t>
            </a:r>
            <a:r>
              <a:rPr lang="en-US" altLang="en-US" sz="2400" dirty="0" err="1">
                <a:cs typeface="Times New Roman" panose="02020603050405020304" pitchFamily="18" charset="0"/>
              </a:rPr>
              <a:t>các</a:t>
            </a:r>
            <a:r>
              <a:rPr lang="en-US" altLang="en-US" sz="2400" dirty="0">
                <a:cs typeface="Times New Roman" panose="02020603050405020304" pitchFamily="18" charset="0"/>
              </a:rPr>
              <a:t> </a:t>
            </a:r>
            <a:r>
              <a:rPr lang="en-US" altLang="en-US" sz="2400" dirty="0" err="1">
                <a:cs typeface="Times New Roman" panose="02020603050405020304" pitchFamily="18" charset="0"/>
              </a:rPr>
              <a:t>thao</a:t>
            </a:r>
            <a:r>
              <a:rPr lang="en-US" altLang="en-US" sz="2400" dirty="0">
                <a:cs typeface="Times New Roman" panose="02020603050405020304" pitchFamily="18" charset="0"/>
              </a:rPr>
              <a:t> </a:t>
            </a:r>
            <a:r>
              <a:rPr lang="en-US" altLang="en-US" sz="2400" dirty="0" err="1">
                <a:cs typeface="Times New Roman" panose="02020603050405020304" pitchFamily="18" charset="0"/>
              </a:rPr>
              <a:t>tác</a:t>
            </a:r>
            <a:r>
              <a:rPr lang="en-US" altLang="en-US" sz="2400" dirty="0">
                <a:cs typeface="Times New Roman" panose="02020603050405020304" pitchFamily="18" charset="0"/>
              </a:rPr>
              <a:t> </a:t>
            </a:r>
            <a:r>
              <a:rPr lang="en-US" altLang="en-US" sz="2400" dirty="0" err="1">
                <a:cs typeface="Times New Roman" panose="02020603050405020304" pitchFamily="18" charset="0"/>
              </a:rPr>
              <a:t>cơ</a:t>
            </a:r>
            <a:r>
              <a:rPr lang="en-US" altLang="en-US" sz="2400" dirty="0">
                <a:cs typeface="Times New Roman" panose="02020603050405020304" pitchFamily="18" charset="0"/>
              </a:rPr>
              <a:t> </a:t>
            </a:r>
            <a:r>
              <a:rPr lang="en-US" altLang="en-US" sz="2400" dirty="0" err="1">
                <a:cs typeface="Times New Roman" panose="02020603050405020304" pitchFamily="18" charset="0"/>
              </a:rPr>
              <a:t>bản</a:t>
            </a:r>
            <a:r>
              <a:rPr lang="en-US" altLang="en-US" sz="2400" dirty="0">
                <a:cs typeface="Times New Roman" panose="02020603050405020304" pitchFamily="18" charset="0"/>
              </a:rPr>
              <a:t>: </a:t>
            </a:r>
          </a:p>
          <a:p>
            <a:pPr lvl="1">
              <a:spcBef>
                <a:spcPct val="15000"/>
              </a:spcBef>
            </a:pPr>
            <a:r>
              <a:rPr lang="en-US" altLang="en-US" sz="2400" u="sng" dirty="0" err="1">
                <a:cs typeface="Times New Roman" panose="02020603050405020304" pitchFamily="18" charset="0"/>
              </a:rPr>
              <a:t>Tìm</a:t>
            </a:r>
            <a:r>
              <a:rPr lang="en-US" altLang="en-US" sz="2400" u="sng" dirty="0">
                <a:cs typeface="Times New Roman" panose="02020603050405020304" pitchFamily="18" charset="0"/>
              </a:rPr>
              <a:t> </a:t>
            </a:r>
            <a:r>
              <a:rPr lang="en-US" altLang="en-US" sz="2400" u="sng" dirty="0" err="1">
                <a:cs typeface="Times New Roman" panose="02020603050405020304" pitchFamily="18" charset="0"/>
              </a:rPr>
              <a:t>kiếm</a:t>
            </a:r>
            <a:r>
              <a:rPr lang="en-US" altLang="en-US" sz="2400" dirty="0">
                <a:cs typeface="Times New Roman" panose="02020603050405020304" pitchFamily="18" charset="0"/>
              </a:rPr>
              <a:t> </a:t>
            </a:r>
            <a:r>
              <a:rPr lang="en-US" altLang="en-US" sz="2400" dirty="0" err="1">
                <a:cs typeface="Times New Roman" panose="02020603050405020304" pitchFamily="18" charset="0"/>
              </a:rPr>
              <a:t>một</a:t>
            </a:r>
            <a:r>
              <a:rPr lang="en-US" altLang="en-US" sz="2400" dirty="0">
                <a:cs typeface="Times New Roman" panose="02020603050405020304" pitchFamily="18" charset="0"/>
              </a:rPr>
              <a:t> </a:t>
            </a:r>
            <a:r>
              <a:rPr lang="en-US" altLang="en-US" sz="2400" dirty="0" err="1">
                <a:cs typeface="Times New Roman" panose="02020603050405020304" pitchFamily="18" charset="0"/>
              </a:rPr>
              <a:t>nút</a:t>
            </a:r>
            <a:r>
              <a:rPr lang="en-US" altLang="en-US" sz="2400" dirty="0">
                <a:cs typeface="Times New Roman" panose="02020603050405020304" pitchFamily="18" charset="0"/>
              </a:rPr>
              <a:t> </a:t>
            </a:r>
            <a:r>
              <a:rPr lang="en-US" altLang="en-US" sz="2400" dirty="0" err="1">
                <a:cs typeface="Times New Roman" panose="02020603050405020304" pitchFamily="18" charset="0"/>
              </a:rPr>
              <a:t>có</a:t>
            </a:r>
            <a:r>
              <a:rPr lang="en-US" altLang="en-US" sz="2400" dirty="0">
                <a:cs typeface="Times New Roman" panose="02020603050405020304" pitchFamily="18" charset="0"/>
              </a:rPr>
              <a:t> </a:t>
            </a:r>
            <a:r>
              <a:rPr lang="en-US" altLang="en-US" sz="2400" dirty="0" err="1">
                <a:cs typeface="Times New Roman" panose="02020603050405020304" pitchFamily="18" charset="0"/>
              </a:rPr>
              <a:t>giá</a:t>
            </a:r>
            <a:r>
              <a:rPr lang="en-US" altLang="en-US" sz="2400" dirty="0">
                <a:cs typeface="Times New Roman" panose="02020603050405020304" pitchFamily="18" charset="0"/>
              </a:rPr>
              <a:t> </a:t>
            </a:r>
            <a:r>
              <a:rPr lang="en-US" altLang="en-US" sz="2400" dirty="0" err="1">
                <a:cs typeface="Times New Roman" panose="02020603050405020304" pitchFamily="18" charset="0"/>
              </a:rPr>
              <a:t>trị</a:t>
            </a:r>
            <a:r>
              <a:rPr lang="en-US" altLang="en-US" sz="2400" dirty="0">
                <a:cs typeface="Times New Roman" panose="02020603050405020304" pitchFamily="18" charset="0"/>
              </a:rPr>
              <a:t> </a:t>
            </a:r>
            <a:r>
              <a:rPr lang="en-US" altLang="en-US" sz="2400" i="1" dirty="0">
                <a:cs typeface="Times New Roman" panose="02020603050405020304" pitchFamily="18" charset="0"/>
              </a:rPr>
              <a:t>x</a:t>
            </a:r>
            <a:r>
              <a:rPr lang="en-US" altLang="en-US" sz="2400" dirty="0">
                <a:cs typeface="Times New Roman" panose="02020603050405020304" pitchFamily="18" charset="0"/>
              </a:rPr>
              <a:t> </a:t>
            </a:r>
            <a:r>
              <a:rPr lang="en-US" altLang="en-US" sz="2400" dirty="0" err="1">
                <a:cs typeface="Times New Roman" panose="02020603050405020304" pitchFamily="18" charset="0"/>
              </a:rPr>
              <a:t>cho</a:t>
            </a:r>
            <a:r>
              <a:rPr lang="en-US" altLang="en-US" sz="2400" dirty="0">
                <a:cs typeface="Times New Roman" panose="02020603050405020304" pitchFamily="18" charset="0"/>
              </a:rPr>
              <a:t> </a:t>
            </a:r>
            <a:r>
              <a:rPr lang="en-US" altLang="en-US" sz="2400" dirty="0" err="1">
                <a:cs typeface="Times New Roman" panose="02020603050405020304" pitchFamily="18" charset="0"/>
              </a:rPr>
              <a:t>trước</a:t>
            </a:r>
            <a:r>
              <a:rPr lang="en-US" altLang="en-US" sz="2400" dirty="0">
                <a:cs typeface="Times New Roman" panose="02020603050405020304" pitchFamily="18" charset="0"/>
              </a:rPr>
              <a:t>: </a:t>
            </a:r>
            <a:r>
              <a:rPr lang="en-US" altLang="en-US" sz="2400" dirty="0" err="1">
                <a:cs typeface="Times New Roman" panose="02020603050405020304" pitchFamily="18" charset="0"/>
              </a:rPr>
              <a:t>Hàm</a:t>
            </a:r>
            <a:r>
              <a:rPr lang="en-US" altLang="en-US" sz="2400" dirty="0">
                <a:cs typeface="Times New Roman" panose="02020603050405020304" pitchFamily="18" charset="0"/>
              </a:rPr>
              <a:t> </a:t>
            </a:r>
            <a:r>
              <a:rPr lang="en-US" altLang="en-US" sz="2400" dirty="0" err="1">
                <a:cs typeface="Times New Roman" panose="02020603050405020304" pitchFamily="18" charset="0"/>
              </a:rPr>
              <a:t>sẽ</a:t>
            </a:r>
            <a:r>
              <a:rPr lang="en-US" altLang="en-US" sz="2400" dirty="0">
                <a:cs typeface="Times New Roman" panose="02020603050405020304" pitchFamily="18" charset="0"/>
              </a:rPr>
              <a:t> </a:t>
            </a:r>
            <a:r>
              <a:rPr lang="en-US" altLang="en-US" sz="2400" dirty="0" err="1">
                <a:cs typeface="Times New Roman" panose="02020603050405020304" pitchFamily="18" charset="0"/>
              </a:rPr>
              <a:t>trả</a:t>
            </a:r>
            <a:r>
              <a:rPr lang="en-US" altLang="en-US" sz="2400" dirty="0">
                <a:cs typeface="Times New Roman" panose="02020603050405020304" pitchFamily="18" charset="0"/>
              </a:rPr>
              <a:t> </a:t>
            </a:r>
            <a:r>
              <a:rPr lang="en-US" altLang="en-US" sz="2400" dirty="0" err="1">
                <a:cs typeface="Times New Roman" panose="02020603050405020304" pitchFamily="18" charset="0"/>
              </a:rPr>
              <a:t>về</a:t>
            </a:r>
            <a:r>
              <a:rPr lang="en-US" altLang="en-US" sz="2400" dirty="0">
                <a:cs typeface="Times New Roman" panose="02020603050405020304" pitchFamily="18" charset="0"/>
              </a:rPr>
              <a:t> con </a:t>
            </a:r>
            <a:r>
              <a:rPr lang="en-US" altLang="en-US" sz="2400" dirty="0" err="1">
                <a:cs typeface="Times New Roman" panose="02020603050405020304" pitchFamily="18" charset="0"/>
              </a:rPr>
              <a:t>trỏ</a:t>
            </a:r>
            <a:r>
              <a:rPr lang="en-US" altLang="en-US" sz="2400" dirty="0">
                <a:cs typeface="Times New Roman" panose="02020603050405020304" pitchFamily="18" charset="0"/>
              </a:rPr>
              <a:t> </a:t>
            </a:r>
            <a:r>
              <a:rPr lang="en-US" altLang="en-US" sz="2400" dirty="0" err="1">
                <a:cs typeface="Times New Roman" panose="02020603050405020304" pitchFamily="18" charset="0"/>
              </a:rPr>
              <a:t>trỏ</a:t>
            </a:r>
            <a:r>
              <a:rPr lang="en-US" altLang="en-US" sz="2400" dirty="0">
                <a:cs typeface="Times New Roman" panose="02020603050405020304" pitchFamily="18" charset="0"/>
              </a:rPr>
              <a:t> </a:t>
            </a:r>
            <a:r>
              <a:rPr lang="en-US" altLang="en-US" sz="2400" dirty="0" err="1">
                <a:cs typeface="Times New Roman" panose="02020603050405020304" pitchFamily="18" charset="0"/>
              </a:rPr>
              <a:t>vào</a:t>
            </a:r>
            <a:r>
              <a:rPr lang="en-US" altLang="en-US" sz="2400" dirty="0">
                <a:cs typeface="Times New Roman" panose="02020603050405020304" pitchFamily="18" charset="0"/>
              </a:rPr>
              <a:t> </a:t>
            </a:r>
            <a:r>
              <a:rPr lang="en-US" altLang="en-US" sz="2400" dirty="0" err="1">
                <a:cs typeface="Times New Roman" panose="02020603050405020304" pitchFamily="18" charset="0"/>
              </a:rPr>
              <a:t>nút</a:t>
            </a:r>
            <a:r>
              <a:rPr lang="en-US" altLang="en-US" sz="2400" dirty="0">
                <a:cs typeface="Times New Roman" panose="02020603050405020304" pitchFamily="18" charset="0"/>
              </a:rPr>
              <a:t> </a:t>
            </a:r>
            <a:r>
              <a:rPr lang="en-US" altLang="en-US" sz="2400" dirty="0" err="1">
                <a:cs typeface="Times New Roman" panose="02020603050405020304" pitchFamily="18" charset="0"/>
              </a:rPr>
              <a:t>tìm</a:t>
            </a:r>
            <a:r>
              <a:rPr lang="en-US" altLang="en-US" sz="2400" dirty="0">
                <a:cs typeface="Times New Roman" panose="02020603050405020304" pitchFamily="18" charset="0"/>
              </a:rPr>
              <a:t> </a:t>
            </a:r>
            <a:r>
              <a:rPr lang="en-US" altLang="en-US" sz="2400" dirty="0" err="1">
                <a:cs typeface="Times New Roman" panose="02020603050405020304" pitchFamily="18" charset="0"/>
              </a:rPr>
              <a:t>được</a:t>
            </a:r>
            <a:r>
              <a:rPr lang="en-US" altLang="en-US" sz="2400" dirty="0">
                <a:cs typeface="Times New Roman" panose="02020603050405020304" pitchFamily="18" charset="0"/>
              </a:rPr>
              <a:t> </a:t>
            </a:r>
            <a:r>
              <a:rPr lang="en-US" altLang="en-US" sz="2400" dirty="0" err="1">
                <a:cs typeface="Times New Roman" panose="02020603050405020304" pitchFamily="18" charset="0"/>
              </a:rPr>
              <a:t>nếu</a:t>
            </a:r>
            <a:r>
              <a:rPr lang="en-US" altLang="en-US" sz="2400" dirty="0">
                <a:cs typeface="Times New Roman" panose="02020603050405020304" pitchFamily="18" charset="0"/>
              </a:rPr>
              <a:t> </a:t>
            </a:r>
            <a:r>
              <a:rPr lang="en-US" altLang="en-US" sz="2400" dirty="0" err="1">
                <a:cs typeface="Times New Roman" panose="02020603050405020304" pitchFamily="18" charset="0"/>
              </a:rPr>
              <a:t>có</a:t>
            </a:r>
            <a:r>
              <a:rPr lang="en-US" altLang="en-US" sz="2400" dirty="0">
                <a:cs typeface="Times New Roman" panose="02020603050405020304" pitchFamily="18" charset="0"/>
              </a:rPr>
              <a:t>, </a:t>
            </a:r>
            <a:r>
              <a:rPr lang="en-US" altLang="en-US" sz="2400" dirty="0" err="1">
                <a:cs typeface="Times New Roman" panose="02020603050405020304" pitchFamily="18" charset="0"/>
              </a:rPr>
              <a:t>trái</a:t>
            </a:r>
            <a:r>
              <a:rPr lang="en-US" altLang="en-US" sz="2400" dirty="0">
                <a:cs typeface="Times New Roman" panose="02020603050405020304" pitchFamily="18" charset="0"/>
              </a:rPr>
              <a:t> </a:t>
            </a:r>
            <a:r>
              <a:rPr lang="en-US" altLang="en-US" sz="2400" dirty="0" err="1">
                <a:cs typeface="Times New Roman" panose="02020603050405020304" pitchFamily="18" charset="0"/>
              </a:rPr>
              <a:t>lại</a:t>
            </a:r>
            <a:r>
              <a:rPr lang="en-US" altLang="en-US" sz="2400" dirty="0">
                <a:cs typeface="Times New Roman" panose="02020603050405020304" pitchFamily="18" charset="0"/>
              </a:rPr>
              <a:t> </a:t>
            </a:r>
            <a:r>
              <a:rPr lang="en-US" altLang="en-US" sz="2400" dirty="0" err="1">
                <a:cs typeface="Times New Roman" panose="02020603050405020304" pitchFamily="18" charset="0"/>
              </a:rPr>
              <a:t>trả</a:t>
            </a:r>
            <a:r>
              <a:rPr lang="en-US" altLang="en-US" sz="2400" dirty="0">
                <a:cs typeface="Times New Roman" panose="02020603050405020304" pitchFamily="18" charset="0"/>
              </a:rPr>
              <a:t> </a:t>
            </a:r>
            <a:r>
              <a:rPr lang="en-US" altLang="en-US" sz="2400" dirty="0" err="1">
                <a:cs typeface="Times New Roman" panose="02020603050405020304" pitchFamily="18" charset="0"/>
              </a:rPr>
              <a:t>về</a:t>
            </a:r>
            <a:r>
              <a:rPr lang="en-US" altLang="en-US" sz="2400" dirty="0">
                <a:cs typeface="Times New Roman" panose="02020603050405020304" pitchFamily="18" charset="0"/>
              </a:rPr>
              <a:t> con </a:t>
            </a:r>
            <a:r>
              <a:rPr lang="en-US" altLang="en-US" sz="2400" dirty="0" err="1">
                <a:cs typeface="Times New Roman" panose="02020603050405020304" pitchFamily="18" charset="0"/>
              </a:rPr>
              <a:t>trỏ</a:t>
            </a:r>
            <a:r>
              <a:rPr lang="en-US" altLang="en-US" sz="2400" dirty="0">
                <a:cs typeface="Times New Roman" panose="02020603050405020304" pitchFamily="18" charset="0"/>
              </a:rPr>
              <a:t> NULL</a:t>
            </a:r>
          </a:p>
          <a:p>
            <a:pPr lvl="1" eaLnBrk="1" hangingPunct="1">
              <a:spcBef>
                <a:spcPct val="15000"/>
              </a:spcBef>
            </a:pPr>
            <a:endParaRPr lang="en-US" altLang="en-US" sz="2000" dirty="0">
              <a:cs typeface="Times New Roman" panose="02020603050405020304" pitchFamily="18" charset="0"/>
            </a:endParaRPr>
          </a:p>
          <a:p>
            <a:pPr eaLnBrk="1" hangingPunct="1">
              <a:spcBef>
                <a:spcPct val="15000"/>
              </a:spcBef>
            </a:pPr>
            <a:endParaRPr lang="en-US" altLang="en-US" sz="3600" dirty="0">
              <a:cs typeface="Times New Roman" panose="02020603050405020304" pitchFamily="18" charset="0"/>
            </a:endParaRPr>
          </a:p>
        </p:txBody>
      </p:sp>
      <p:sp>
        <p:nvSpPr>
          <p:cNvPr id="41990" name="Rectangle 4"/>
          <p:cNvSpPr>
            <a:spLocks noChangeArrowheads="1"/>
          </p:cNvSpPr>
          <p:nvPr/>
        </p:nvSpPr>
        <p:spPr bwMode="auto">
          <a:xfrm>
            <a:off x="762000" y="2606254"/>
            <a:ext cx="7162800" cy="184665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eaLnBrk="0" hangingPunct="0">
              <a:defRPr sz="2400">
                <a:solidFill>
                  <a:schemeClr val="tx1"/>
                </a:solidFill>
                <a:latin typeface="Times New Roman" panose="02020603050405020304" pitchFamily="18" charset="0"/>
              </a:defRPr>
            </a:lvl1pPr>
            <a:lvl2pPr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lvl="1" eaLnBrk="1" hangingPunct="1">
              <a:lnSpc>
                <a:spcPct val="95000"/>
              </a:lnSpc>
            </a:pPr>
            <a:r>
              <a:rPr lang="en-US" altLang="en-US" sz="2000" b="1" dirty="0" err="1">
                <a:cs typeface="Times New Roman" panose="02020603050405020304" pitchFamily="18" charset="0"/>
              </a:rPr>
              <a:t>PNode</a:t>
            </a:r>
            <a:r>
              <a:rPr lang="en-US" altLang="en-US" sz="2000" dirty="0">
                <a:cs typeface="Times New Roman" panose="02020603050405020304" pitchFamily="18" charset="0"/>
              </a:rPr>
              <a:t> </a:t>
            </a:r>
            <a:r>
              <a:rPr lang="en-US" altLang="en-US" sz="2000" b="1" i="1" dirty="0" err="1">
                <a:cs typeface="Times New Roman" panose="02020603050405020304" pitchFamily="18" charset="0"/>
              </a:rPr>
              <a:t>SearchT</a:t>
            </a:r>
            <a:r>
              <a:rPr lang="en-US" altLang="en-US" sz="2000" dirty="0">
                <a:cs typeface="Times New Roman" panose="02020603050405020304" pitchFamily="18" charset="0"/>
              </a:rPr>
              <a:t> (</a:t>
            </a:r>
            <a:r>
              <a:rPr lang="en-US" altLang="en-US" sz="2000" dirty="0" err="1">
                <a:cs typeface="Times New Roman" panose="02020603050405020304" pitchFamily="18" charset="0"/>
              </a:rPr>
              <a:t>BSearchTree</a:t>
            </a:r>
            <a:r>
              <a:rPr lang="en-US" altLang="en-US" sz="2000" dirty="0">
                <a:cs typeface="Times New Roman" panose="02020603050405020304" pitchFamily="18" charset="0"/>
              </a:rPr>
              <a:t> Root, </a:t>
            </a:r>
            <a:r>
              <a:rPr lang="en-US" altLang="en-US" sz="2000" dirty="0" err="1">
                <a:cs typeface="Times New Roman" panose="02020603050405020304" pitchFamily="18" charset="0"/>
              </a:rPr>
              <a:t>keytype</a:t>
            </a:r>
            <a:r>
              <a:rPr lang="en-US" altLang="en-US" sz="2000" dirty="0">
                <a:cs typeface="Times New Roman" panose="02020603050405020304" pitchFamily="18" charset="0"/>
              </a:rPr>
              <a:t>  x){</a:t>
            </a:r>
          </a:p>
          <a:p>
            <a:pPr lvl="1" eaLnBrk="1" hangingPunct="1">
              <a:lnSpc>
                <a:spcPct val="95000"/>
              </a:lnSpc>
            </a:pPr>
            <a:r>
              <a:rPr lang="en-US" altLang="en-US" sz="2000" dirty="0">
                <a:cs typeface="Times New Roman" panose="02020603050405020304" pitchFamily="18" charset="0"/>
              </a:rPr>
              <a:t>	if  (Root==NULL)  return  NULL;</a:t>
            </a:r>
          </a:p>
          <a:p>
            <a:pPr lvl="1" eaLnBrk="1" hangingPunct="1">
              <a:lnSpc>
                <a:spcPct val="95000"/>
              </a:lnSpc>
            </a:pPr>
            <a:r>
              <a:rPr lang="en-US" altLang="en-US" sz="2000" dirty="0">
                <a:cs typeface="Times New Roman" panose="02020603050405020304" pitchFamily="18" charset="0"/>
              </a:rPr>
              <a:t>	if  (x ==</a:t>
            </a:r>
            <a:r>
              <a:rPr lang="en-US" altLang="en-US" sz="2000" b="1" dirty="0">
                <a:cs typeface="Times New Roman" panose="02020603050405020304" pitchFamily="18" charset="0"/>
              </a:rPr>
              <a:t> </a:t>
            </a:r>
            <a:r>
              <a:rPr lang="en-US" altLang="en-US" sz="2000" dirty="0">
                <a:cs typeface="Times New Roman" panose="02020603050405020304" pitchFamily="18" charset="0"/>
              </a:rPr>
              <a:t>Root</a:t>
            </a:r>
            <a:r>
              <a:rPr lang="en-US" altLang="en-US" sz="2000" b="1" dirty="0">
                <a:cs typeface="Times New Roman" panose="02020603050405020304" pitchFamily="18" charset="0"/>
              </a:rPr>
              <a:t>-&gt;</a:t>
            </a:r>
            <a:r>
              <a:rPr lang="en-US" altLang="en-US" sz="2000" dirty="0">
                <a:cs typeface="Times New Roman" panose="02020603050405020304" pitchFamily="18" charset="0"/>
              </a:rPr>
              <a:t>Key) return  Root;</a:t>
            </a:r>
          </a:p>
          <a:p>
            <a:pPr lvl="1" eaLnBrk="1" hangingPunct="1">
              <a:lnSpc>
                <a:spcPct val="95000"/>
              </a:lnSpc>
            </a:pPr>
            <a:r>
              <a:rPr lang="en-US" altLang="en-US" sz="2000" b="1" dirty="0">
                <a:cs typeface="Times New Roman" panose="02020603050405020304" pitchFamily="18" charset="0"/>
              </a:rPr>
              <a:t>	</a:t>
            </a:r>
            <a:r>
              <a:rPr lang="en-US" altLang="en-US" sz="2000" dirty="0">
                <a:cs typeface="Times New Roman" panose="02020603050405020304" pitchFamily="18" charset="0"/>
              </a:rPr>
              <a:t>else   if  </a:t>
            </a:r>
            <a:r>
              <a:rPr lang="en-US" altLang="en-US" sz="2000" b="1" dirty="0">
                <a:cs typeface="Times New Roman" panose="02020603050405020304" pitchFamily="18" charset="0"/>
              </a:rPr>
              <a:t>(</a:t>
            </a:r>
            <a:r>
              <a:rPr lang="en-US" altLang="en-US" sz="2000" dirty="0">
                <a:cs typeface="Times New Roman" panose="02020603050405020304" pitchFamily="18" charset="0"/>
              </a:rPr>
              <a:t>x &lt;</a:t>
            </a:r>
            <a:r>
              <a:rPr lang="en-US" altLang="en-US" sz="2000" b="1" dirty="0">
                <a:cs typeface="Times New Roman" panose="02020603050405020304" pitchFamily="18" charset="0"/>
              </a:rPr>
              <a:t> Root-&gt;</a:t>
            </a:r>
            <a:r>
              <a:rPr lang="en-US" altLang="en-US" sz="2000" dirty="0">
                <a:cs typeface="Times New Roman" panose="02020603050405020304" pitchFamily="18" charset="0"/>
              </a:rPr>
              <a:t>Key)</a:t>
            </a:r>
            <a:r>
              <a:rPr lang="en-US" altLang="en-US" sz="2000" b="1" dirty="0">
                <a:cs typeface="Times New Roman" panose="02020603050405020304" pitchFamily="18" charset="0"/>
              </a:rPr>
              <a:t> </a:t>
            </a:r>
            <a:r>
              <a:rPr lang="en-US" altLang="en-US" sz="2000" dirty="0">
                <a:cs typeface="Times New Roman" panose="02020603050405020304" pitchFamily="18" charset="0"/>
              </a:rPr>
              <a:t> return  </a:t>
            </a:r>
            <a:r>
              <a:rPr lang="en-US" altLang="en-US" sz="2000" b="1" i="1" dirty="0" err="1">
                <a:cs typeface="Times New Roman" panose="02020603050405020304" pitchFamily="18" charset="0"/>
              </a:rPr>
              <a:t>SearchT</a:t>
            </a:r>
            <a:r>
              <a:rPr lang="en-US" altLang="en-US" sz="2000" b="1" i="1" dirty="0">
                <a:cs typeface="Times New Roman" panose="02020603050405020304" pitchFamily="18" charset="0"/>
              </a:rPr>
              <a:t> </a:t>
            </a:r>
            <a:r>
              <a:rPr lang="en-US" altLang="en-US" sz="2000" dirty="0">
                <a:cs typeface="Times New Roman" panose="02020603050405020304" pitchFamily="18" charset="0"/>
              </a:rPr>
              <a:t>(Root-&gt;LP, x);</a:t>
            </a:r>
          </a:p>
          <a:p>
            <a:pPr lvl="1" eaLnBrk="1" hangingPunct="1">
              <a:lnSpc>
                <a:spcPct val="95000"/>
              </a:lnSpc>
            </a:pPr>
            <a:r>
              <a:rPr lang="en-US" altLang="en-US" sz="2000" dirty="0">
                <a:cs typeface="Times New Roman" panose="02020603050405020304" pitchFamily="18" charset="0"/>
              </a:rPr>
              <a:t>	         </a:t>
            </a:r>
            <a:r>
              <a:rPr lang="en-US" altLang="en-US" sz="2000" b="1" dirty="0">
                <a:cs typeface="Times New Roman" panose="02020603050405020304" pitchFamily="18" charset="0"/>
              </a:rPr>
              <a:t>else  </a:t>
            </a:r>
            <a:r>
              <a:rPr lang="en-US" altLang="en-US" sz="2000" dirty="0">
                <a:cs typeface="Times New Roman" panose="02020603050405020304" pitchFamily="18" charset="0"/>
              </a:rPr>
              <a:t>return  </a:t>
            </a:r>
            <a:r>
              <a:rPr lang="en-US" altLang="en-US" sz="2000" b="1" i="1" dirty="0" err="1">
                <a:cs typeface="Times New Roman" panose="02020603050405020304" pitchFamily="18" charset="0"/>
              </a:rPr>
              <a:t>SearchT</a:t>
            </a:r>
            <a:r>
              <a:rPr lang="en-US" altLang="en-US" sz="2000" b="1" i="1" dirty="0">
                <a:cs typeface="Times New Roman" panose="02020603050405020304" pitchFamily="18" charset="0"/>
              </a:rPr>
              <a:t> </a:t>
            </a:r>
            <a:r>
              <a:rPr lang="en-US" altLang="en-US" sz="2000" dirty="0">
                <a:cs typeface="Times New Roman" panose="02020603050405020304" pitchFamily="18" charset="0"/>
              </a:rPr>
              <a:t>(Root-&gt;RP, x);</a:t>
            </a:r>
          </a:p>
          <a:p>
            <a:pPr lvl="1" eaLnBrk="1" hangingPunct="1">
              <a:lnSpc>
                <a:spcPct val="95000"/>
              </a:lnSpc>
            </a:pPr>
            <a:r>
              <a:rPr lang="en-US" altLang="en-US" sz="2000" dirty="0">
                <a:cs typeface="Times New Roman" panose="02020603050405020304" pitchFamily="18" charset="0"/>
              </a:rPr>
              <a:t>}</a:t>
            </a:r>
          </a:p>
        </p:txBody>
      </p:sp>
    </p:spTree>
    <p:extLst>
      <p:ext uri="{BB962C8B-B14F-4D97-AF65-F5344CB8AC3E}">
        <p14:creationId xmlns:p14="http://schemas.microsoft.com/office/powerpoint/2010/main" val="1546340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9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990">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1990">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99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dirty="0"/>
              <a:t>ET2100 </a:t>
            </a:r>
            <a:r>
              <a:rPr lang="en-US" i="1" dirty="0"/>
              <a:t>- </a:t>
            </a:r>
            <a:r>
              <a:rPr lang="en-US" b="1" i="1" dirty="0"/>
              <a:t>Data Structures and Algorithms</a:t>
            </a:r>
            <a:endParaRPr lang="en-US" dirty="0"/>
          </a:p>
          <a:p>
            <a:pPr algn="r"/>
            <a:r>
              <a:rPr lang="en-US" dirty="0"/>
              <a:t>School of Electrical and Electronic Engineering</a:t>
            </a:r>
          </a:p>
        </p:txBody>
      </p:sp>
      <p:sp>
        <p:nvSpPr>
          <p:cNvPr id="3" name="Slide Number Placeholder 2"/>
          <p:cNvSpPr>
            <a:spLocks noGrp="1"/>
          </p:cNvSpPr>
          <p:nvPr>
            <p:ph type="sldNum" sz="quarter" idx="12"/>
          </p:nvPr>
        </p:nvSpPr>
        <p:spPr/>
        <p:txBody>
          <a:bodyPr/>
          <a:lstStyle/>
          <a:p>
            <a:fld id="{BC24317B-5122-4A99-A6E9-FA23C146A7E0}" type="slidenum">
              <a:rPr lang="en-US" smtClean="0"/>
              <a:pPr/>
              <a:t>49</a:t>
            </a:fld>
            <a:endParaRPr lang="en-US"/>
          </a:p>
        </p:txBody>
      </p:sp>
      <p:sp>
        <p:nvSpPr>
          <p:cNvPr id="2" name="Title 1"/>
          <p:cNvSpPr>
            <a:spLocks noGrp="1"/>
          </p:cNvSpPr>
          <p:nvPr>
            <p:ph type="title"/>
          </p:nvPr>
        </p:nvSpPr>
        <p:spPr/>
        <p:txBody>
          <a:bodyPr/>
          <a:lstStyle/>
          <a:p>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nhị</a:t>
            </a:r>
            <a:r>
              <a:rPr lang="en-US" altLang="en-US" dirty="0">
                <a:cs typeface="Times New Roman" panose="02020603050405020304" pitchFamily="18" charset="0"/>
              </a:rPr>
              <a:t> </a:t>
            </a:r>
            <a:r>
              <a:rPr lang="en-US" altLang="en-US" dirty="0" err="1">
                <a:cs typeface="Times New Roman" panose="02020603050405020304" pitchFamily="18" charset="0"/>
              </a:rPr>
              <a:t>phân</a:t>
            </a:r>
            <a:r>
              <a:rPr lang="en-US" altLang="en-US" dirty="0">
                <a:cs typeface="Times New Roman" panose="02020603050405020304" pitchFamily="18" charset="0"/>
              </a:rPr>
              <a:t> </a:t>
            </a:r>
            <a:r>
              <a:rPr lang="en-US" altLang="en-US" dirty="0" err="1">
                <a:cs typeface="Times New Roman" panose="02020603050405020304" pitchFamily="18" charset="0"/>
              </a:rPr>
              <a:t>tìm</a:t>
            </a:r>
            <a:r>
              <a:rPr lang="en-US" altLang="en-US" dirty="0">
                <a:cs typeface="Times New Roman" panose="02020603050405020304" pitchFamily="18" charset="0"/>
              </a:rPr>
              <a:t> </a:t>
            </a:r>
            <a:r>
              <a:rPr lang="en-US" altLang="en-US" dirty="0" err="1">
                <a:cs typeface="Times New Roman" panose="02020603050405020304" pitchFamily="18" charset="0"/>
              </a:rPr>
              <a:t>kiếm</a:t>
            </a:r>
            <a:endParaRPr lang="en-US" dirty="0"/>
          </a:p>
        </p:txBody>
      </p:sp>
      <p:sp>
        <p:nvSpPr>
          <p:cNvPr id="5" name="Text Placeholder 4"/>
          <p:cNvSpPr>
            <a:spLocks noGrp="1"/>
          </p:cNvSpPr>
          <p:nvPr>
            <p:ph type="body" sz="quarter" idx="13"/>
          </p:nvPr>
        </p:nvSpPr>
        <p:spPr/>
        <p:txBody>
          <a:bodyPr>
            <a:normAutofit/>
          </a:bodyPr>
          <a:lstStyle/>
          <a:p>
            <a:pPr>
              <a:spcBef>
                <a:spcPct val="15000"/>
              </a:spcBef>
            </a:pPr>
            <a:r>
              <a:rPr lang="en-US" altLang="en-US" sz="2400" dirty="0" err="1">
                <a:cs typeface="Times New Roman" panose="02020603050405020304" pitchFamily="18" charset="0"/>
              </a:rPr>
              <a:t>Cài</a:t>
            </a:r>
            <a:r>
              <a:rPr lang="en-US" altLang="en-US" sz="2400" dirty="0">
                <a:cs typeface="Times New Roman" panose="02020603050405020304" pitchFamily="18" charset="0"/>
              </a:rPr>
              <a:t> </a:t>
            </a:r>
            <a:r>
              <a:rPr lang="en-US" altLang="en-US" sz="2400" dirty="0" err="1">
                <a:cs typeface="Times New Roman" panose="02020603050405020304" pitchFamily="18" charset="0"/>
              </a:rPr>
              <a:t>đặt</a:t>
            </a:r>
            <a:r>
              <a:rPr lang="en-US" altLang="en-US" sz="2400" dirty="0">
                <a:cs typeface="Times New Roman" panose="02020603050405020304" pitchFamily="18" charset="0"/>
              </a:rPr>
              <a:t> </a:t>
            </a:r>
            <a:r>
              <a:rPr lang="en-US" altLang="en-US" sz="2400" dirty="0" err="1">
                <a:cs typeface="Times New Roman" panose="02020603050405020304" pitchFamily="18" charset="0"/>
              </a:rPr>
              <a:t>các</a:t>
            </a:r>
            <a:r>
              <a:rPr lang="en-US" altLang="en-US" sz="2400" dirty="0">
                <a:cs typeface="Times New Roman" panose="02020603050405020304" pitchFamily="18" charset="0"/>
              </a:rPr>
              <a:t> </a:t>
            </a:r>
            <a:r>
              <a:rPr lang="en-US" altLang="en-US" sz="2400" dirty="0" err="1">
                <a:cs typeface="Times New Roman" panose="02020603050405020304" pitchFamily="18" charset="0"/>
              </a:rPr>
              <a:t>thao</a:t>
            </a:r>
            <a:r>
              <a:rPr lang="en-US" altLang="en-US" sz="2400" dirty="0">
                <a:cs typeface="Times New Roman" panose="02020603050405020304" pitchFamily="18" charset="0"/>
              </a:rPr>
              <a:t> </a:t>
            </a:r>
            <a:r>
              <a:rPr lang="en-US" altLang="en-US" sz="2400" dirty="0" err="1">
                <a:cs typeface="Times New Roman" panose="02020603050405020304" pitchFamily="18" charset="0"/>
              </a:rPr>
              <a:t>tác</a:t>
            </a:r>
            <a:r>
              <a:rPr lang="en-US" altLang="en-US" sz="2400" dirty="0">
                <a:cs typeface="Times New Roman" panose="02020603050405020304" pitchFamily="18" charset="0"/>
              </a:rPr>
              <a:t> </a:t>
            </a:r>
            <a:r>
              <a:rPr lang="en-US" altLang="en-US" sz="2400" dirty="0" err="1">
                <a:cs typeface="Times New Roman" panose="02020603050405020304" pitchFamily="18" charset="0"/>
              </a:rPr>
              <a:t>cơ</a:t>
            </a:r>
            <a:r>
              <a:rPr lang="en-US" altLang="en-US" sz="2400" dirty="0">
                <a:cs typeface="Times New Roman" panose="02020603050405020304" pitchFamily="18" charset="0"/>
              </a:rPr>
              <a:t> </a:t>
            </a:r>
            <a:r>
              <a:rPr lang="en-US" altLang="en-US" sz="2400" dirty="0" err="1">
                <a:cs typeface="Times New Roman" panose="02020603050405020304" pitchFamily="18" charset="0"/>
              </a:rPr>
              <a:t>bản</a:t>
            </a:r>
            <a:r>
              <a:rPr lang="en-US" altLang="en-US" sz="2400" dirty="0">
                <a:cs typeface="Times New Roman" panose="02020603050405020304" pitchFamily="18" charset="0"/>
              </a:rPr>
              <a:t>: </a:t>
            </a:r>
          </a:p>
          <a:p>
            <a:pPr lvl="1">
              <a:spcBef>
                <a:spcPct val="15000"/>
              </a:spcBef>
            </a:pPr>
            <a:r>
              <a:rPr lang="en-US" altLang="en-US" sz="2400" u="sng" dirty="0" err="1">
                <a:cs typeface="Times New Roman" panose="02020603050405020304" pitchFamily="18" charset="0"/>
              </a:rPr>
              <a:t>Bổ</a:t>
            </a:r>
            <a:r>
              <a:rPr lang="en-US" altLang="en-US" sz="2400" u="sng" dirty="0">
                <a:cs typeface="Times New Roman" panose="02020603050405020304" pitchFamily="18" charset="0"/>
              </a:rPr>
              <a:t> sung </a:t>
            </a:r>
            <a:r>
              <a:rPr lang="en-US" altLang="en-US" sz="2400" dirty="0" err="1">
                <a:cs typeface="Times New Roman" panose="02020603050405020304" pitchFamily="18" charset="0"/>
              </a:rPr>
              <a:t>một</a:t>
            </a:r>
            <a:r>
              <a:rPr lang="en-US" altLang="en-US" sz="2400" dirty="0">
                <a:cs typeface="Times New Roman" panose="02020603050405020304" pitchFamily="18" charset="0"/>
              </a:rPr>
              <a:t> </a:t>
            </a:r>
            <a:r>
              <a:rPr lang="en-US" altLang="en-US" sz="2400" dirty="0" err="1">
                <a:cs typeface="Times New Roman" panose="02020603050405020304" pitchFamily="18" charset="0"/>
              </a:rPr>
              <a:t>nút</a:t>
            </a:r>
            <a:endParaRPr lang="en-US" altLang="en-US" sz="2400" dirty="0">
              <a:cs typeface="Times New Roman" panose="02020603050405020304" pitchFamily="18" charset="0"/>
            </a:endParaRPr>
          </a:p>
          <a:p>
            <a:pPr lvl="2">
              <a:spcBef>
                <a:spcPct val="15000"/>
              </a:spcBef>
            </a:pPr>
            <a:r>
              <a:rPr lang="en-US" altLang="en-US" sz="2000" dirty="0" err="1">
                <a:cs typeface="Times New Roman" panose="02020603050405020304" pitchFamily="18" charset="0"/>
              </a:rPr>
              <a:t>cần</a:t>
            </a:r>
            <a:r>
              <a:rPr lang="en-US" altLang="en-US" sz="2000" dirty="0">
                <a:cs typeface="Times New Roman" panose="02020603050405020304" pitchFamily="18" charset="0"/>
              </a:rPr>
              <a:t> </a:t>
            </a:r>
            <a:r>
              <a:rPr lang="en-US" altLang="en-US" sz="2000" dirty="0" err="1">
                <a:cs typeface="Times New Roman" panose="02020603050405020304" pitchFamily="18" charset="0"/>
              </a:rPr>
              <a:t>đảm</a:t>
            </a:r>
            <a:r>
              <a:rPr lang="en-US" altLang="en-US" sz="2000" dirty="0">
                <a:cs typeface="Times New Roman" panose="02020603050405020304" pitchFamily="18" charset="0"/>
              </a:rPr>
              <a:t> </a:t>
            </a:r>
            <a:r>
              <a:rPr lang="en-US" altLang="en-US" sz="2000" dirty="0" err="1">
                <a:cs typeface="Times New Roman" panose="02020603050405020304" pitchFamily="18" charset="0"/>
              </a:rPr>
              <a:t>bảo</a:t>
            </a:r>
            <a:r>
              <a:rPr lang="en-US" altLang="en-US" sz="2000" dirty="0">
                <a:cs typeface="Times New Roman" panose="02020603050405020304" pitchFamily="18" charset="0"/>
              </a:rPr>
              <a:t> </a:t>
            </a:r>
            <a:r>
              <a:rPr lang="en-US" altLang="en-US" sz="2000" dirty="0" err="1">
                <a:cs typeface="Times New Roman" panose="02020603050405020304" pitchFamily="18" charset="0"/>
              </a:rPr>
              <a:t>sau</a:t>
            </a:r>
            <a:r>
              <a:rPr lang="en-US" altLang="en-US" sz="2000" dirty="0">
                <a:cs typeface="Times New Roman" panose="02020603050405020304" pitchFamily="18" charset="0"/>
              </a:rPr>
              <a:t> </a:t>
            </a:r>
            <a:r>
              <a:rPr lang="en-US" altLang="en-US" sz="2000" dirty="0" err="1">
                <a:cs typeface="Times New Roman" panose="02020603050405020304" pitchFamily="18" charset="0"/>
              </a:rPr>
              <a:t>khi</a:t>
            </a:r>
            <a:r>
              <a:rPr lang="en-US" altLang="en-US" sz="2000" dirty="0">
                <a:cs typeface="Times New Roman" panose="02020603050405020304" pitchFamily="18" charset="0"/>
              </a:rPr>
              <a:t> </a:t>
            </a:r>
            <a:r>
              <a:rPr lang="en-US" altLang="en-US" sz="2000" dirty="0" err="1">
                <a:cs typeface="Times New Roman" panose="02020603050405020304" pitchFamily="18" charset="0"/>
              </a:rPr>
              <a:t>bổ</a:t>
            </a:r>
            <a:r>
              <a:rPr lang="en-US" altLang="en-US" sz="2000" dirty="0">
                <a:cs typeface="Times New Roman" panose="02020603050405020304" pitchFamily="18" charset="0"/>
              </a:rPr>
              <a:t> sung, </a:t>
            </a:r>
            <a:r>
              <a:rPr lang="en-US" altLang="en-US" sz="2000" dirty="0" err="1">
                <a:cs typeface="Times New Roman" panose="02020603050405020304" pitchFamily="18" charset="0"/>
              </a:rPr>
              <a:t>cây</a:t>
            </a:r>
            <a:r>
              <a:rPr lang="en-US" altLang="en-US" sz="2000" dirty="0">
                <a:cs typeface="Times New Roman" panose="02020603050405020304" pitchFamily="18" charset="0"/>
              </a:rPr>
              <a:t> T </a:t>
            </a:r>
            <a:r>
              <a:rPr lang="en-US" altLang="en-US" sz="2000" dirty="0" err="1">
                <a:cs typeface="Times New Roman" panose="02020603050405020304" pitchFamily="18" charset="0"/>
              </a:rPr>
              <a:t>vẫn</a:t>
            </a:r>
            <a:r>
              <a:rPr lang="en-US" altLang="en-US" sz="2000" dirty="0">
                <a:cs typeface="Times New Roman" panose="02020603050405020304" pitchFamily="18" charset="0"/>
              </a:rPr>
              <a:t>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nhị</a:t>
            </a:r>
            <a:r>
              <a:rPr lang="en-US" altLang="en-US" sz="2000" dirty="0">
                <a:cs typeface="Times New Roman" panose="02020603050405020304" pitchFamily="18" charset="0"/>
              </a:rPr>
              <a:t> </a:t>
            </a:r>
            <a:r>
              <a:rPr lang="en-US" altLang="en-US" sz="2000" dirty="0" err="1">
                <a:cs typeface="Times New Roman" panose="02020603050405020304" pitchFamily="18" charset="0"/>
              </a:rPr>
              <a:t>phân</a:t>
            </a:r>
            <a:r>
              <a:rPr lang="en-US" altLang="en-US" sz="2000" dirty="0">
                <a:cs typeface="Times New Roman" panose="02020603050405020304" pitchFamily="18" charset="0"/>
              </a:rPr>
              <a:t> </a:t>
            </a:r>
            <a:r>
              <a:rPr lang="en-US" altLang="en-US" sz="2000" dirty="0" err="1">
                <a:cs typeface="Times New Roman" panose="02020603050405020304" pitchFamily="18" charset="0"/>
              </a:rPr>
              <a:t>tìm</a:t>
            </a:r>
            <a:r>
              <a:rPr lang="en-US" altLang="en-US" sz="2000" dirty="0">
                <a:cs typeface="Times New Roman" panose="02020603050405020304" pitchFamily="18" charset="0"/>
              </a:rPr>
              <a:t> </a:t>
            </a:r>
            <a:r>
              <a:rPr lang="en-US" altLang="en-US" sz="2000" dirty="0" err="1">
                <a:cs typeface="Times New Roman" panose="02020603050405020304" pitchFamily="18" charset="0"/>
              </a:rPr>
              <a:t>kiếm</a:t>
            </a:r>
            <a:r>
              <a:rPr lang="en-US" altLang="en-US" sz="2000" dirty="0">
                <a:cs typeface="Times New Roman" panose="02020603050405020304" pitchFamily="18" charset="0"/>
              </a:rPr>
              <a:t>.</a:t>
            </a:r>
          </a:p>
          <a:p>
            <a:endParaRPr lang="en-US" sz="2400" dirty="0"/>
          </a:p>
        </p:txBody>
      </p:sp>
      <p:sp>
        <p:nvSpPr>
          <p:cNvPr id="8" name="Rectangle 7"/>
          <p:cNvSpPr/>
          <p:nvPr/>
        </p:nvSpPr>
        <p:spPr>
          <a:xfrm>
            <a:off x="398129" y="2583689"/>
            <a:ext cx="2334293" cy="461665"/>
          </a:xfrm>
          <a:prstGeom prst="rect">
            <a:avLst/>
          </a:prstGeom>
        </p:spPr>
        <p:txBody>
          <a:bodyPr wrap="none">
            <a:spAutoFit/>
          </a:bodyPr>
          <a:lstStyle/>
          <a:p>
            <a:r>
              <a:rPr lang="en-US" sz="2400" dirty="0"/>
              <a:t>(3, 4, 1, 6, 2, 7, 5)</a:t>
            </a:r>
          </a:p>
        </p:txBody>
      </p:sp>
      <p:pic>
        <p:nvPicPr>
          <p:cNvPr id="10" name="Picture 9"/>
          <p:cNvPicPr>
            <a:picLocks noChangeAspect="1"/>
          </p:cNvPicPr>
          <p:nvPr/>
        </p:nvPicPr>
        <p:blipFill>
          <a:blip r:embed="rId2"/>
          <a:stretch>
            <a:fillRect/>
          </a:stretch>
        </p:blipFill>
        <p:spPr>
          <a:xfrm>
            <a:off x="2895600" y="2583689"/>
            <a:ext cx="5486400" cy="3627372"/>
          </a:xfrm>
          <a:prstGeom prst="rect">
            <a:avLst/>
          </a:prstGeom>
        </p:spPr>
      </p:pic>
    </p:spTree>
    <p:extLst>
      <p:ext uri="{BB962C8B-B14F-4D97-AF65-F5344CB8AC3E}">
        <p14:creationId xmlns:p14="http://schemas.microsoft.com/office/powerpoint/2010/main" val="358200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2"/>
          <p:cNvSpPr>
            <a:spLocks noGrp="1" noChangeArrowheads="1"/>
          </p:cNvSpPr>
          <p:nvPr>
            <p:ph type="title"/>
          </p:nvPr>
        </p:nvSpPr>
        <p:spPr/>
        <p:txBody>
          <a:bodyPr/>
          <a:lstStyle/>
          <a:p>
            <a:pPr eaLnBrk="1" hangingPunct="1"/>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nhị</a:t>
            </a:r>
            <a:r>
              <a:rPr lang="en-US" altLang="en-US" dirty="0">
                <a:cs typeface="Times New Roman" panose="02020603050405020304" pitchFamily="18" charset="0"/>
              </a:rPr>
              <a:t> </a:t>
            </a:r>
            <a:r>
              <a:rPr lang="en-US" altLang="en-US" dirty="0" err="1">
                <a:cs typeface="Times New Roman" panose="02020603050405020304" pitchFamily="18" charset="0"/>
              </a:rPr>
              <a:t>phân</a:t>
            </a:r>
            <a:r>
              <a:rPr lang="en-US" altLang="en-US" dirty="0">
                <a:cs typeface="Times New Roman" panose="02020603050405020304" pitchFamily="18" charset="0"/>
              </a:rPr>
              <a:t> </a:t>
            </a:r>
            <a:r>
              <a:rPr lang="en-US" altLang="en-US" dirty="0" err="1">
                <a:cs typeface="Times New Roman" panose="02020603050405020304" pitchFamily="18" charset="0"/>
              </a:rPr>
              <a:t>tìm</a:t>
            </a:r>
            <a:r>
              <a:rPr lang="en-US" altLang="en-US" dirty="0">
                <a:cs typeface="Times New Roman" panose="02020603050405020304" pitchFamily="18" charset="0"/>
              </a:rPr>
              <a:t> </a:t>
            </a:r>
            <a:r>
              <a:rPr lang="en-US" altLang="en-US" dirty="0" err="1">
                <a:cs typeface="Times New Roman" panose="02020603050405020304" pitchFamily="18" charset="0"/>
              </a:rPr>
              <a:t>kiếm</a:t>
            </a:r>
            <a:endParaRPr lang="en-US" altLang="en-US" dirty="0"/>
          </a:p>
        </p:txBody>
      </p:sp>
      <p:sp>
        <p:nvSpPr>
          <p:cNvPr id="43013" name="Rectangle 3"/>
          <p:cNvSpPr>
            <a:spLocks noGrp="1" noChangeArrowheads="1"/>
          </p:cNvSpPr>
          <p:nvPr>
            <p:ph type="body" sz="quarter" idx="13"/>
          </p:nvPr>
        </p:nvSpPr>
        <p:spPr>
          <a:noFill/>
        </p:spPr>
        <p:txBody>
          <a:bodyPr>
            <a:normAutofit/>
          </a:bodyPr>
          <a:lstStyle/>
          <a:p>
            <a:pPr eaLnBrk="1" hangingPunct="1">
              <a:spcBef>
                <a:spcPct val="15000"/>
              </a:spcBef>
            </a:pPr>
            <a:r>
              <a:rPr lang="en-US" altLang="en-US" sz="2400" dirty="0" err="1">
                <a:cs typeface="Times New Roman" panose="02020603050405020304" pitchFamily="18" charset="0"/>
              </a:rPr>
              <a:t>Cài</a:t>
            </a:r>
            <a:r>
              <a:rPr lang="en-US" altLang="en-US" sz="2400" dirty="0">
                <a:cs typeface="Times New Roman" panose="02020603050405020304" pitchFamily="18" charset="0"/>
              </a:rPr>
              <a:t> </a:t>
            </a:r>
            <a:r>
              <a:rPr lang="en-US" altLang="en-US" sz="2400" dirty="0" err="1">
                <a:cs typeface="Times New Roman" panose="02020603050405020304" pitchFamily="18" charset="0"/>
              </a:rPr>
              <a:t>đặt</a:t>
            </a:r>
            <a:r>
              <a:rPr lang="en-US" altLang="en-US" sz="2400" dirty="0">
                <a:cs typeface="Times New Roman" panose="02020603050405020304" pitchFamily="18" charset="0"/>
              </a:rPr>
              <a:t> </a:t>
            </a:r>
            <a:r>
              <a:rPr lang="en-US" altLang="en-US" sz="2400" dirty="0" err="1">
                <a:cs typeface="Times New Roman" panose="02020603050405020304" pitchFamily="18" charset="0"/>
              </a:rPr>
              <a:t>các</a:t>
            </a:r>
            <a:r>
              <a:rPr lang="en-US" altLang="en-US" sz="2400" dirty="0">
                <a:cs typeface="Times New Roman" panose="02020603050405020304" pitchFamily="18" charset="0"/>
              </a:rPr>
              <a:t> </a:t>
            </a:r>
            <a:r>
              <a:rPr lang="en-US" altLang="en-US" sz="2400" dirty="0" err="1">
                <a:cs typeface="Times New Roman" panose="02020603050405020304" pitchFamily="18" charset="0"/>
              </a:rPr>
              <a:t>thao</a:t>
            </a:r>
            <a:r>
              <a:rPr lang="en-US" altLang="en-US" sz="2400" dirty="0">
                <a:cs typeface="Times New Roman" panose="02020603050405020304" pitchFamily="18" charset="0"/>
              </a:rPr>
              <a:t> </a:t>
            </a:r>
            <a:r>
              <a:rPr lang="en-US" altLang="en-US" sz="2400" dirty="0" err="1">
                <a:cs typeface="Times New Roman" panose="02020603050405020304" pitchFamily="18" charset="0"/>
              </a:rPr>
              <a:t>tác</a:t>
            </a:r>
            <a:r>
              <a:rPr lang="en-US" altLang="en-US" sz="2400" dirty="0">
                <a:cs typeface="Times New Roman" panose="02020603050405020304" pitchFamily="18" charset="0"/>
              </a:rPr>
              <a:t> </a:t>
            </a:r>
            <a:r>
              <a:rPr lang="en-US" altLang="en-US" sz="2400" dirty="0" err="1">
                <a:cs typeface="Times New Roman" panose="02020603050405020304" pitchFamily="18" charset="0"/>
              </a:rPr>
              <a:t>cơ</a:t>
            </a:r>
            <a:r>
              <a:rPr lang="en-US" altLang="en-US" sz="2400" dirty="0">
                <a:cs typeface="Times New Roman" panose="02020603050405020304" pitchFamily="18" charset="0"/>
              </a:rPr>
              <a:t> </a:t>
            </a:r>
            <a:r>
              <a:rPr lang="en-US" altLang="en-US" sz="2400" dirty="0" err="1">
                <a:cs typeface="Times New Roman" panose="02020603050405020304" pitchFamily="18" charset="0"/>
              </a:rPr>
              <a:t>bản</a:t>
            </a:r>
            <a:r>
              <a:rPr lang="en-US" altLang="en-US" sz="2400" dirty="0">
                <a:cs typeface="Times New Roman" panose="02020603050405020304" pitchFamily="18" charset="0"/>
              </a:rPr>
              <a:t>: </a:t>
            </a:r>
          </a:p>
          <a:p>
            <a:pPr lvl="1">
              <a:spcBef>
                <a:spcPct val="15000"/>
              </a:spcBef>
            </a:pPr>
            <a:r>
              <a:rPr lang="en-US" altLang="en-US" sz="2400" dirty="0" err="1">
                <a:cs typeface="Times New Roman" panose="02020603050405020304" pitchFamily="18" charset="0"/>
              </a:rPr>
              <a:t>Bổ</a:t>
            </a:r>
            <a:r>
              <a:rPr lang="en-US" altLang="en-US" sz="2400" dirty="0">
                <a:cs typeface="Times New Roman" panose="02020603050405020304" pitchFamily="18" charset="0"/>
              </a:rPr>
              <a:t> sung </a:t>
            </a:r>
            <a:r>
              <a:rPr lang="en-US" altLang="en-US" sz="2400" dirty="0" err="1">
                <a:cs typeface="Times New Roman" panose="02020603050405020304" pitchFamily="18" charset="0"/>
              </a:rPr>
              <a:t>một</a:t>
            </a:r>
            <a:r>
              <a:rPr lang="en-US" altLang="en-US" sz="2400" dirty="0">
                <a:cs typeface="Times New Roman" panose="02020603050405020304" pitchFamily="18" charset="0"/>
              </a:rPr>
              <a:t> </a:t>
            </a:r>
            <a:r>
              <a:rPr lang="en-US" altLang="en-US" sz="2400" dirty="0" err="1">
                <a:cs typeface="Times New Roman" panose="02020603050405020304" pitchFamily="18" charset="0"/>
              </a:rPr>
              <a:t>nút</a:t>
            </a:r>
            <a:endParaRPr lang="en-US" altLang="en-US" sz="2400" dirty="0">
              <a:cs typeface="Times New Roman" panose="02020603050405020304" pitchFamily="18" charset="0"/>
            </a:endParaRPr>
          </a:p>
          <a:p>
            <a:pPr lvl="2">
              <a:spcBef>
                <a:spcPct val="15000"/>
              </a:spcBef>
            </a:pPr>
            <a:r>
              <a:rPr lang="en-US" altLang="en-US" sz="2000" dirty="0" err="1">
                <a:cs typeface="Times New Roman" panose="02020603050405020304" pitchFamily="18" charset="0"/>
              </a:rPr>
              <a:t>cần</a:t>
            </a:r>
            <a:r>
              <a:rPr lang="en-US" altLang="en-US" sz="2000" dirty="0">
                <a:cs typeface="Times New Roman" panose="02020603050405020304" pitchFamily="18" charset="0"/>
              </a:rPr>
              <a:t> </a:t>
            </a:r>
            <a:r>
              <a:rPr lang="en-US" altLang="en-US" sz="2000" dirty="0" err="1">
                <a:cs typeface="Times New Roman" panose="02020603050405020304" pitchFamily="18" charset="0"/>
              </a:rPr>
              <a:t>đảm</a:t>
            </a:r>
            <a:r>
              <a:rPr lang="en-US" altLang="en-US" sz="2000" dirty="0">
                <a:cs typeface="Times New Roman" panose="02020603050405020304" pitchFamily="18" charset="0"/>
              </a:rPr>
              <a:t> </a:t>
            </a:r>
            <a:r>
              <a:rPr lang="en-US" altLang="en-US" sz="2000" dirty="0" err="1">
                <a:cs typeface="Times New Roman" panose="02020603050405020304" pitchFamily="18" charset="0"/>
              </a:rPr>
              <a:t>bảo</a:t>
            </a:r>
            <a:r>
              <a:rPr lang="en-US" altLang="en-US" sz="2000" dirty="0">
                <a:cs typeface="Times New Roman" panose="02020603050405020304" pitchFamily="18" charset="0"/>
              </a:rPr>
              <a:t> </a:t>
            </a:r>
            <a:r>
              <a:rPr lang="en-US" altLang="en-US" sz="2000" dirty="0" err="1">
                <a:cs typeface="Times New Roman" panose="02020603050405020304" pitchFamily="18" charset="0"/>
              </a:rPr>
              <a:t>sau</a:t>
            </a:r>
            <a:r>
              <a:rPr lang="en-US" altLang="en-US" sz="2000" dirty="0">
                <a:cs typeface="Times New Roman" panose="02020603050405020304" pitchFamily="18" charset="0"/>
              </a:rPr>
              <a:t> </a:t>
            </a:r>
            <a:r>
              <a:rPr lang="en-US" altLang="en-US" sz="2000" dirty="0" err="1">
                <a:cs typeface="Times New Roman" panose="02020603050405020304" pitchFamily="18" charset="0"/>
              </a:rPr>
              <a:t>khi</a:t>
            </a:r>
            <a:r>
              <a:rPr lang="en-US" altLang="en-US" sz="2000" dirty="0">
                <a:cs typeface="Times New Roman" panose="02020603050405020304" pitchFamily="18" charset="0"/>
              </a:rPr>
              <a:t> </a:t>
            </a:r>
            <a:r>
              <a:rPr lang="en-US" altLang="en-US" sz="2000" dirty="0" err="1">
                <a:cs typeface="Times New Roman" panose="02020603050405020304" pitchFamily="18" charset="0"/>
              </a:rPr>
              <a:t>bổ</a:t>
            </a:r>
            <a:r>
              <a:rPr lang="en-US" altLang="en-US" sz="2000" dirty="0">
                <a:cs typeface="Times New Roman" panose="02020603050405020304" pitchFamily="18" charset="0"/>
              </a:rPr>
              <a:t> sung, </a:t>
            </a:r>
            <a:r>
              <a:rPr lang="en-US" altLang="en-US" sz="2000" dirty="0" err="1">
                <a:cs typeface="Times New Roman" panose="02020603050405020304" pitchFamily="18" charset="0"/>
              </a:rPr>
              <a:t>cây</a:t>
            </a:r>
            <a:r>
              <a:rPr lang="en-US" altLang="en-US" sz="2000" dirty="0">
                <a:cs typeface="Times New Roman" panose="02020603050405020304" pitchFamily="18" charset="0"/>
              </a:rPr>
              <a:t> T </a:t>
            </a:r>
            <a:r>
              <a:rPr lang="en-US" altLang="en-US" sz="2000" dirty="0" err="1">
                <a:cs typeface="Times New Roman" panose="02020603050405020304" pitchFamily="18" charset="0"/>
              </a:rPr>
              <a:t>vẫn</a:t>
            </a:r>
            <a:r>
              <a:rPr lang="en-US" altLang="en-US" sz="2000" dirty="0">
                <a:cs typeface="Times New Roman" panose="02020603050405020304" pitchFamily="18" charset="0"/>
              </a:rPr>
              <a:t>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nhị</a:t>
            </a:r>
            <a:r>
              <a:rPr lang="en-US" altLang="en-US" sz="2000" dirty="0">
                <a:cs typeface="Times New Roman" panose="02020603050405020304" pitchFamily="18" charset="0"/>
              </a:rPr>
              <a:t> </a:t>
            </a:r>
            <a:r>
              <a:rPr lang="en-US" altLang="en-US" sz="2000" dirty="0" err="1">
                <a:cs typeface="Times New Roman" panose="02020603050405020304" pitchFamily="18" charset="0"/>
              </a:rPr>
              <a:t>phân</a:t>
            </a:r>
            <a:r>
              <a:rPr lang="en-US" altLang="en-US" sz="2000" dirty="0">
                <a:cs typeface="Times New Roman" panose="02020603050405020304" pitchFamily="18" charset="0"/>
              </a:rPr>
              <a:t> </a:t>
            </a:r>
            <a:r>
              <a:rPr lang="en-US" altLang="en-US" sz="2000" dirty="0" err="1">
                <a:cs typeface="Times New Roman" panose="02020603050405020304" pitchFamily="18" charset="0"/>
              </a:rPr>
              <a:t>tìm</a:t>
            </a:r>
            <a:r>
              <a:rPr lang="en-US" altLang="en-US" sz="2000" dirty="0">
                <a:cs typeface="Times New Roman" panose="02020603050405020304" pitchFamily="18" charset="0"/>
              </a:rPr>
              <a:t> </a:t>
            </a:r>
            <a:r>
              <a:rPr lang="en-US" altLang="en-US" sz="2000" dirty="0" err="1">
                <a:cs typeface="Times New Roman" panose="02020603050405020304" pitchFamily="18" charset="0"/>
              </a:rPr>
              <a:t>kiếm</a:t>
            </a:r>
            <a:r>
              <a:rPr lang="en-US" altLang="en-US" sz="2000" dirty="0">
                <a:cs typeface="Times New Roman" panose="02020603050405020304" pitchFamily="18" charset="0"/>
              </a:rPr>
              <a:t>.</a:t>
            </a:r>
          </a:p>
        </p:txBody>
      </p:sp>
      <p:sp>
        <p:nvSpPr>
          <p:cNvPr id="54" name="Rectangle 4"/>
          <p:cNvSpPr>
            <a:spLocks noChangeArrowheads="1"/>
          </p:cNvSpPr>
          <p:nvPr/>
        </p:nvSpPr>
        <p:spPr bwMode="auto">
          <a:xfrm>
            <a:off x="1219200" y="2286000"/>
            <a:ext cx="6934200" cy="409342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eaLnBrk="0" hangingPunct="0">
              <a:defRPr sz="2400">
                <a:solidFill>
                  <a:schemeClr val="tx1"/>
                </a:solidFill>
                <a:latin typeface="Times New Roman" panose="02020603050405020304" pitchFamily="18" charset="0"/>
              </a:defRPr>
            </a:lvl1pPr>
            <a:lvl2pPr eaLnBrk="0" hangingPunct="0">
              <a:defRPr sz="2400">
                <a:solidFill>
                  <a:schemeClr val="tx1"/>
                </a:solidFill>
                <a:latin typeface="Times New Roman" panose="02020603050405020304" pitchFamily="18" charset="0"/>
              </a:defRPr>
            </a:lvl2pPr>
            <a:lvl3pPr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114300" lvl="1" eaLnBrk="1" hangingPunct="1"/>
            <a:r>
              <a:rPr lang="en-US" altLang="en-US" sz="2000" b="1" dirty="0">
                <a:cs typeface="Times New Roman" panose="02020603050405020304" pitchFamily="18" charset="0"/>
              </a:rPr>
              <a:t>void  </a:t>
            </a:r>
            <a:r>
              <a:rPr lang="en-US" altLang="en-US" sz="2000" b="1" i="1" dirty="0" err="1">
                <a:cs typeface="Times New Roman" panose="02020603050405020304" pitchFamily="18" charset="0"/>
              </a:rPr>
              <a:t>InsertT</a:t>
            </a:r>
            <a:r>
              <a:rPr lang="en-US" altLang="en-US" sz="2000" dirty="0">
                <a:cs typeface="Times New Roman" panose="02020603050405020304" pitchFamily="18" charset="0"/>
              </a:rPr>
              <a:t> (</a:t>
            </a:r>
            <a:r>
              <a:rPr lang="en-US" altLang="en-US" sz="2000" dirty="0" err="1">
                <a:cs typeface="Times New Roman" panose="02020603050405020304" pitchFamily="18" charset="0"/>
              </a:rPr>
              <a:t>BSearchTree</a:t>
            </a:r>
            <a:r>
              <a:rPr lang="en-US" altLang="en-US" sz="2000" dirty="0">
                <a:cs typeface="Times New Roman" panose="02020603050405020304" pitchFamily="18" charset="0"/>
              </a:rPr>
              <a:t>  &amp; Root, </a:t>
            </a:r>
            <a:r>
              <a:rPr lang="en-US" altLang="en-US" sz="2000" dirty="0" err="1">
                <a:cs typeface="Times New Roman" panose="02020603050405020304" pitchFamily="18" charset="0"/>
              </a:rPr>
              <a:t>keytype</a:t>
            </a:r>
            <a:r>
              <a:rPr lang="en-US" altLang="en-US" sz="2000" dirty="0">
                <a:cs typeface="Times New Roman" panose="02020603050405020304" pitchFamily="18" charset="0"/>
              </a:rPr>
              <a:t>  x){</a:t>
            </a:r>
          </a:p>
          <a:p>
            <a:pPr marL="114300" lvl="1" eaLnBrk="1" hangingPunct="1"/>
            <a:r>
              <a:rPr lang="en-US" altLang="en-US" sz="2000" dirty="0">
                <a:cs typeface="Times New Roman" panose="02020603050405020304" pitchFamily="18" charset="0"/>
              </a:rPr>
              <a:t>	</a:t>
            </a:r>
            <a:r>
              <a:rPr lang="en-US" altLang="en-US" sz="2000" dirty="0" err="1">
                <a:cs typeface="Times New Roman" panose="02020603050405020304" pitchFamily="18" charset="0"/>
              </a:rPr>
              <a:t>PNode</a:t>
            </a:r>
            <a:r>
              <a:rPr lang="en-US" altLang="en-US" sz="2000" dirty="0">
                <a:cs typeface="Times New Roman" panose="02020603050405020304" pitchFamily="18" charset="0"/>
              </a:rPr>
              <a:t>  Q;</a:t>
            </a:r>
          </a:p>
          <a:p>
            <a:pPr marL="114300" lvl="1" eaLnBrk="1" hangingPunct="1"/>
            <a:r>
              <a:rPr lang="en-US" altLang="en-US" sz="2000" dirty="0">
                <a:cs typeface="Times New Roman" panose="02020603050405020304" pitchFamily="18" charset="0"/>
              </a:rPr>
              <a:t>	</a:t>
            </a:r>
            <a:r>
              <a:rPr lang="en-US" altLang="en-US" sz="2000" b="1" dirty="0">
                <a:cs typeface="Times New Roman" panose="02020603050405020304" pitchFamily="18" charset="0"/>
              </a:rPr>
              <a:t>if</a:t>
            </a:r>
            <a:r>
              <a:rPr lang="en-US" altLang="en-US" sz="2000" dirty="0">
                <a:cs typeface="Times New Roman" panose="02020603050405020304" pitchFamily="18" charset="0"/>
              </a:rPr>
              <a:t>  (Root==NULL) {</a:t>
            </a:r>
            <a:r>
              <a:rPr lang="en-US" altLang="en-US" sz="2000" i="1" dirty="0">
                <a:cs typeface="Times New Roman" panose="02020603050405020304" pitchFamily="18" charset="0"/>
              </a:rPr>
              <a:t>		</a:t>
            </a:r>
          </a:p>
          <a:p>
            <a:pPr marL="114300" lvl="1" eaLnBrk="1" hangingPunct="1"/>
            <a:r>
              <a:rPr lang="en-US" altLang="en-US" sz="2000" dirty="0">
                <a:cs typeface="Times New Roman" panose="02020603050405020304" pitchFamily="18" charset="0"/>
              </a:rPr>
              <a:t>		Q = new Node;</a:t>
            </a:r>
          </a:p>
          <a:p>
            <a:pPr marL="114300" lvl="1" eaLnBrk="1" hangingPunct="1"/>
            <a:r>
              <a:rPr lang="en-US" altLang="en-US" sz="2000" dirty="0">
                <a:cs typeface="Times New Roman" panose="02020603050405020304" pitchFamily="18" charset="0"/>
              </a:rPr>
              <a:t> 		Q-&gt;Key = x;</a:t>
            </a:r>
          </a:p>
          <a:p>
            <a:pPr marL="114300" lvl="1" eaLnBrk="1" hangingPunct="1"/>
            <a:r>
              <a:rPr lang="en-US" altLang="en-US" sz="2000" dirty="0">
                <a:cs typeface="Times New Roman" panose="02020603050405020304" pitchFamily="18" charset="0"/>
              </a:rPr>
              <a:t>		Q-&gt;LP = Q-&gt;RP = NULL;</a:t>
            </a:r>
          </a:p>
          <a:p>
            <a:pPr marL="114300" lvl="1" eaLnBrk="1" hangingPunct="1"/>
            <a:r>
              <a:rPr lang="en-US" altLang="en-US" sz="2000" dirty="0">
                <a:cs typeface="Times New Roman" panose="02020603050405020304" pitchFamily="18" charset="0"/>
              </a:rPr>
              <a:t>		Root = Q;	</a:t>
            </a:r>
          </a:p>
          <a:p>
            <a:pPr marL="114300" lvl="1" eaLnBrk="1" hangingPunct="1"/>
            <a:r>
              <a:rPr lang="en-US" altLang="en-US" sz="2000" dirty="0">
                <a:cs typeface="Times New Roman" panose="02020603050405020304" pitchFamily="18" charset="0"/>
              </a:rPr>
              <a:t>	}</a:t>
            </a:r>
            <a:endParaRPr lang="en-US" altLang="en-US" sz="2000" b="1" dirty="0">
              <a:cs typeface="Times New Roman" panose="02020603050405020304" pitchFamily="18" charset="0"/>
            </a:endParaRPr>
          </a:p>
          <a:p>
            <a:pPr marL="114300" lvl="1" eaLnBrk="1" hangingPunct="1"/>
            <a:r>
              <a:rPr lang="en-US" altLang="en-US" sz="2000" b="1" dirty="0">
                <a:cs typeface="Times New Roman" panose="02020603050405020304" pitchFamily="18" charset="0"/>
              </a:rPr>
              <a:t>	else {</a:t>
            </a:r>
          </a:p>
          <a:p>
            <a:pPr marL="114300" lvl="1" eaLnBrk="1" hangingPunct="1"/>
            <a:r>
              <a:rPr lang="en-US" altLang="en-US" sz="2000" b="1" dirty="0">
                <a:cs typeface="Times New Roman" panose="02020603050405020304" pitchFamily="18" charset="0"/>
              </a:rPr>
              <a:t>		if  (</a:t>
            </a:r>
            <a:r>
              <a:rPr lang="en-US" altLang="en-US" sz="2000" dirty="0">
                <a:cs typeface="Times New Roman" panose="02020603050405020304" pitchFamily="18" charset="0"/>
              </a:rPr>
              <a:t>x &lt;</a:t>
            </a:r>
            <a:r>
              <a:rPr lang="en-US" altLang="en-US" sz="2000" b="1" dirty="0">
                <a:cs typeface="Times New Roman" panose="02020603050405020304" pitchFamily="18" charset="0"/>
              </a:rPr>
              <a:t> </a:t>
            </a:r>
            <a:r>
              <a:rPr lang="en-US" altLang="en-US" sz="2000" dirty="0">
                <a:cs typeface="Times New Roman" panose="02020603050405020304" pitchFamily="18" charset="0"/>
              </a:rPr>
              <a:t>Root-&gt;Key)</a:t>
            </a:r>
            <a:r>
              <a:rPr lang="en-US" altLang="en-US" sz="2000" b="1" dirty="0">
                <a:cs typeface="Times New Roman" panose="02020603050405020304" pitchFamily="18" charset="0"/>
              </a:rPr>
              <a:t>  </a:t>
            </a:r>
            <a:r>
              <a:rPr lang="en-US" altLang="en-US" sz="2000" b="1" i="1" dirty="0" err="1">
                <a:cs typeface="Times New Roman" panose="02020603050405020304" pitchFamily="18" charset="0"/>
              </a:rPr>
              <a:t>InsertT</a:t>
            </a:r>
            <a:r>
              <a:rPr lang="en-US" altLang="en-US" sz="2000" b="1" i="1" dirty="0">
                <a:cs typeface="Times New Roman" panose="02020603050405020304" pitchFamily="18" charset="0"/>
              </a:rPr>
              <a:t> </a:t>
            </a:r>
            <a:r>
              <a:rPr lang="en-US" altLang="en-US" sz="2000" dirty="0">
                <a:cs typeface="Times New Roman" panose="02020603050405020304" pitchFamily="18" charset="0"/>
              </a:rPr>
              <a:t>(Root-&gt;LP, x);</a:t>
            </a:r>
          </a:p>
          <a:p>
            <a:pPr marL="114300" lvl="1" eaLnBrk="1" hangingPunct="1"/>
            <a:r>
              <a:rPr lang="en-US" altLang="en-US" sz="2000" dirty="0">
                <a:cs typeface="Times New Roman" panose="02020603050405020304" pitchFamily="18" charset="0"/>
              </a:rPr>
              <a:t>		</a:t>
            </a:r>
            <a:r>
              <a:rPr lang="en-US" altLang="en-US" sz="2000" b="1" dirty="0">
                <a:cs typeface="Times New Roman" panose="02020603050405020304" pitchFamily="18" charset="0"/>
              </a:rPr>
              <a:t>else if  (</a:t>
            </a:r>
            <a:r>
              <a:rPr lang="en-US" altLang="en-US" sz="2000" dirty="0">
                <a:cs typeface="Times New Roman" panose="02020603050405020304" pitchFamily="18" charset="0"/>
              </a:rPr>
              <a:t>x &gt; Root-&gt;Key)</a:t>
            </a:r>
            <a:r>
              <a:rPr lang="en-US" altLang="en-US" sz="2000" b="1" dirty="0">
                <a:cs typeface="Times New Roman" panose="02020603050405020304" pitchFamily="18" charset="0"/>
              </a:rPr>
              <a:t>  </a:t>
            </a:r>
            <a:r>
              <a:rPr lang="en-US" altLang="en-US" sz="2000" b="1" i="1" dirty="0" err="1">
                <a:cs typeface="Times New Roman" panose="02020603050405020304" pitchFamily="18" charset="0"/>
              </a:rPr>
              <a:t>InsertT</a:t>
            </a:r>
            <a:r>
              <a:rPr lang="en-US" altLang="en-US" sz="2000" b="1" i="1" dirty="0">
                <a:cs typeface="Times New Roman" panose="02020603050405020304" pitchFamily="18" charset="0"/>
              </a:rPr>
              <a:t> </a:t>
            </a:r>
            <a:r>
              <a:rPr lang="en-US" altLang="en-US" sz="2000" dirty="0">
                <a:cs typeface="Times New Roman" panose="02020603050405020304" pitchFamily="18" charset="0"/>
              </a:rPr>
              <a:t>(Root-&gt;RP, x);</a:t>
            </a:r>
          </a:p>
          <a:p>
            <a:pPr marL="114300" lvl="1" eaLnBrk="1" hangingPunct="1"/>
            <a:r>
              <a:rPr lang="en-US" altLang="en-US" sz="2000" dirty="0">
                <a:cs typeface="Times New Roman" panose="02020603050405020304" pitchFamily="18" charset="0"/>
              </a:rPr>
              <a:t>	</a:t>
            </a:r>
            <a:r>
              <a:rPr lang="en-US" altLang="en-US" sz="2000" b="1" dirty="0">
                <a:cs typeface="Times New Roman" panose="02020603050405020304" pitchFamily="18" charset="0"/>
              </a:rPr>
              <a:t>}</a:t>
            </a:r>
          </a:p>
          <a:p>
            <a:pPr marL="114300" lvl="1" eaLnBrk="1" hangingPunct="1"/>
            <a:r>
              <a:rPr lang="en-US" altLang="en-US" sz="2000" b="1" dirty="0">
                <a:cs typeface="Times New Roman" panose="02020603050405020304" pitchFamily="18" charset="0"/>
              </a:rPr>
              <a:t>}</a:t>
            </a:r>
            <a:endParaRPr lang="en-US" altLang="en-US" sz="2000" dirty="0">
              <a:cs typeface="Times New Roman" panose="02020603050405020304" pitchFamily="18" charset="0"/>
            </a:endParaRPr>
          </a:p>
        </p:txBody>
      </p:sp>
    </p:spTree>
    <p:extLst>
      <p:ext uri="{BB962C8B-B14F-4D97-AF65-F5344CB8AC3E}">
        <p14:creationId xmlns:p14="http://schemas.microsoft.com/office/powerpoint/2010/main" val="643920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4">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4">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4">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4">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4">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4">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2"/>
          <p:cNvSpPr>
            <a:spLocks noGrp="1" noChangeArrowheads="1"/>
          </p:cNvSpPr>
          <p:nvPr>
            <p:ph type="title"/>
          </p:nvPr>
        </p:nvSpPr>
        <p:spPr/>
        <p:txBody>
          <a:bodyPr/>
          <a:lstStyle/>
          <a:p>
            <a:pPr eaLnBrk="1" hangingPunct="1"/>
            <a:r>
              <a:rPr lang="en-US" altLang="en-US">
                <a:cs typeface="Times New Roman" panose="02020603050405020304" pitchFamily="18" charset="0"/>
              </a:rPr>
              <a:t>Cây nhị phân tìm kiếm</a:t>
            </a:r>
            <a:endParaRPr lang="en-US" altLang="en-US"/>
          </a:p>
        </p:txBody>
      </p:sp>
      <p:sp>
        <p:nvSpPr>
          <p:cNvPr id="46085" name="Rectangle 3"/>
          <p:cNvSpPr>
            <a:spLocks noGrp="1" noChangeArrowheads="1"/>
          </p:cNvSpPr>
          <p:nvPr>
            <p:ph type="body" sz="quarter" idx="13"/>
          </p:nvPr>
        </p:nvSpPr>
        <p:spPr>
          <a:noFill/>
        </p:spPr>
        <p:txBody>
          <a:bodyPr>
            <a:normAutofit/>
          </a:bodyPr>
          <a:lstStyle/>
          <a:p>
            <a:pPr eaLnBrk="1" hangingPunct="1">
              <a:lnSpc>
                <a:spcPct val="90000"/>
              </a:lnSpc>
              <a:spcBef>
                <a:spcPct val="15000"/>
              </a:spcBef>
            </a:pPr>
            <a:r>
              <a:rPr lang="en-US" altLang="en-US" sz="2400" dirty="0" err="1">
                <a:cs typeface="Times New Roman" panose="02020603050405020304" pitchFamily="18" charset="0"/>
              </a:rPr>
              <a:t>Cài</a:t>
            </a:r>
            <a:r>
              <a:rPr lang="en-US" altLang="en-US" sz="2400" dirty="0">
                <a:cs typeface="Times New Roman" panose="02020603050405020304" pitchFamily="18" charset="0"/>
              </a:rPr>
              <a:t> </a:t>
            </a:r>
            <a:r>
              <a:rPr lang="en-US" altLang="en-US" sz="2400" dirty="0" err="1">
                <a:cs typeface="Times New Roman" panose="02020603050405020304" pitchFamily="18" charset="0"/>
              </a:rPr>
              <a:t>đặt</a:t>
            </a:r>
            <a:r>
              <a:rPr lang="en-US" altLang="en-US" sz="2400" dirty="0">
                <a:cs typeface="Times New Roman" panose="02020603050405020304" pitchFamily="18" charset="0"/>
              </a:rPr>
              <a:t> </a:t>
            </a:r>
            <a:r>
              <a:rPr lang="en-US" altLang="en-US" sz="2400" dirty="0" err="1">
                <a:cs typeface="Times New Roman" panose="02020603050405020304" pitchFamily="18" charset="0"/>
              </a:rPr>
              <a:t>các</a:t>
            </a:r>
            <a:r>
              <a:rPr lang="en-US" altLang="en-US" sz="2400" dirty="0">
                <a:cs typeface="Times New Roman" panose="02020603050405020304" pitchFamily="18" charset="0"/>
              </a:rPr>
              <a:t> </a:t>
            </a:r>
            <a:r>
              <a:rPr lang="en-US" altLang="en-US" sz="2400" dirty="0" err="1">
                <a:cs typeface="Times New Roman" panose="02020603050405020304" pitchFamily="18" charset="0"/>
              </a:rPr>
              <a:t>thao</a:t>
            </a:r>
            <a:r>
              <a:rPr lang="en-US" altLang="en-US" sz="2400" dirty="0">
                <a:cs typeface="Times New Roman" panose="02020603050405020304" pitchFamily="18" charset="0"/>
              </a:rPr>
              <a:t> </a:t>
            </a:r>
            <a:r>
              <a:rPr lang="en-US" altLang="en-US" sz="2400" dirty="0" err="1">
                <a:cs typeface="Times New Roman" panose="02020603050405020304" pitchFamily="18" charset="0"/>
              </a:rPr>
              <a:t>tác</a:t>
            </a:r>
            <a:r>
              <a:rPr lang="en-US" altLang="en-US" sz="2400" dirty="0">
                <a:cs typeface="Times New Roman" panose="02020603050405020304" pitchFamily="18" charset="0"/>
              </a:rPr>
              <a:t> </a:t>
            </a:r>
            <a:r>
              <a:rPr lang="en-US" altLang="en-US" sz="2400" dirty="0" err="1">
                <a:cs typeface="Times New Roman" panose="02020603050405020304" pitchFamily="18" charset="0"/>
              </a:rPr>
              <a:t>cơ</a:t>
            </a:r>
            <a:r>
              <a:rPr lang="en-US" altLang="en-US" sz="2400" dirty="0">
                <a:cs typeface="Times New Roman" panose="02020603050405020304" pitchFamily="18" charset="0"/>
              </a:rPr>
              <a:t> </a:t>
            </a:r>
            <a:r>
              <a:rPr lang="en-US" altLang="en-US" sz="2400" dirty="0" err="1">
                <a:cs typeface="Times New Roman" panose="02020603050405020304" pitchFamily="18" charset="0"/>
              </a:rPr>
              <a:t>bản</a:t>
            </a:r>
            <a:r>
              <a:rPr lang="en-US" altLang="en-US" sz="2400" dirty="0">
                <a:cs typeface="Times New Roman" panose="02020603050405020304" pitchFamily="18" charset="0"/>
              </a:rPr>
              <a:t>:</a:t>
            </a:r>
          </a:p>
          <a:p>
            <a:pPr lvl="1">
              <a:lnSpc>
                <a:spcPct val="90000"/>
              </a:lnSpc>
              <a:spcBef>
                <a:spcPct val="15000"/>
              </a:spcBef>
            </a:pPr>
            <a:r>
              <a:rPr lang="en-US" altLang="en-US" sz="2400" u="sng" dirty="0" err="1">
                <a:cs typeface="Times New Roman" panose="02020603050405020304" pitchFamily="18" charset="0"/>
              </a:rPr>
              <a:t>Lấy</a:t>
            </a:r>
            <a:r>
              <a:rPr lang="en-US" altLang="en-US" sz="2400" u="sng" dirty="0">
                <a:cs typeface="Times New Roman" panose="02020603050405020304" pitchFamily="18" charset="0"/>
              </a:rPr>
              <a:t> </a:t>
            </a:r>
            <a:r>
              <a:rPr lang="en-US" altLang="en-US" sz="2400" u="sng" dirty="0" err="1">
                <a:cs typeface="Times New Roman" panose="02020603050405020304" pitchFamily="18" charset="0"/>
              </a:rPr>
              <a:t>ra</a:t>
            </a:r>
            <a:r>
              <a:rPr lang="en-US" altLang="en-US" sz="2400" u="sng" dirty="0">
                <a:cs typeface="Times New Roman" panose="02020603050405020304" pitchFamily="18" charset="0"/>
              </a:rPr>
              <a:t> (</a:t>
            </a:r>
            <a:r>
              <a:rPr lang="en-US" altLang="en-US" sz="2400" u="sng" dirty="0" err="1">
                <a:cs typeface="Times New Roman" panose="02020603050405020304" pitchFamily="18" charset="0"/>
              </a:rPr>
              <a:t>loại</a:t>
            </a:r>
            <a:r>
              <a:rPr lang="en-US" altLang="en-US" sz="2400" u="sng" dirty="0">
                <a:cs typeface="Times New Roman" panose="02020603050405020304" pitchFamily="18" charset="0"/>
              </a:rPr>
              <a:t> </a:t>
            </a:r>
            <a:r>
              <a:rPr lang="en-US" altLang="en-US" sz="2400" u="sng" dirty="0" err="1">
                <a:cs typeface="Times New Roman" panose="02020603050405020304" pitchFamily="18" charset="0"/>
              </a:rPr>
              <a:t>bỏ</a:t>
            </a:r>
            <a:r>
              <a:rPr lang="en-US" altLang="en-US" sz="2400" u="sng" dirty="0">
                <a:cs typeface="Times New Roman" panose="02020603050405020304" pitchFamily="18" charset="0"/>
              </a:rPr>
              <a:t>)</a:t>
            </a:r>
            <a:r>
              <a:rPr lang="en-US" altLang="en-US" sz="2400" dirty="0">
                <a:cs typeface="Times New Roman" panose="02020603050405020304" pitchFamily="18" charset="0"/>
              </a:rPr>
              <a:t> </a:t>
            </a:r>
            <a:r>
              <a:rPr lang="en-US" altLang="en-US" sz="2400" dirty="0" err="1">
                <a:cs typeface="Times New Roman" panose="02020603050405020304" pitchFamily="18" charset="0"/>
              </a:rPr>
              <a:t>một</a:t>
            </a:r>
            <a:r>
              <a:rPr lang="en-US" altLang="en-US" sz="2400" dirty="0">
                <a:cs typeface="Times New Roman" panose="02020603050405020304" pitchFamily="18" charset="0"/>
              </a:rPr>
              <a:t> </a:t>
            </a:r>
            <a:r>
              <a:rPr lang="en-US" altLang="en-US" sz="2400" dirty="0" err="1">
                <a:cs typeface="Times New Roman" panose="02020603050405020304" pitchFamily="18" charset="0"/>
              </a:rPr>
              <a:t>nút</a:t>
            </a:r>
            <a:r>
              <a:rPr lang="en-US" altLang="en-US" sz="2400" dirty="0">
                <a:cs typeface="Times New Roman" panose="02020603050405020304" pitchFamily="18" charset="0"/>
              </a:rPr>
              <a:t>: </a:t>
            </a:r>
            <a:r>
              <a:rPr lang="en-US" altLang="en-US" sz="2400" dirty="0" err="1">
                <a:cs typeface="Times New Roman" panose="02020603050405020304" pitchFamily="18" charset="0"/>
              </a:rPr>
              <a:t>cần</a:t>
            </a:r>
            <a:r>
              <a:rPr lang="en-US" altLang="en-US" sz="2400" dirty="0">
                <a:cs typeface="Times New Roman" panose="02020603050405020304" pitchFamily="18" charset="0"/>
              </a:rPr>
              <a:t> </a:t>
            </a:r>
            <a:r>
              <a:rPr lang="en-US" altLang="en-US" sz="2400" dirty="0" err="1">
                <a:cs typeface="Times New Roman" panose="02020603050405020304" pitchFamily="18" charset="0"/>
              </a:rPr>
              <a:t>sắp</a:t>
            </a:r>
            <a:r>
              <a:rPr lang="en-US" altLang="en-US" sz="2400" dirty="0">
                <a:cs typeface="Times New Roman" panose="02020603050405020304" pitchFamily="18" charset="0"/>
              </a:rPr>
              <a:t> </a:t>
            </a:r>
            <a:r>
              <a:rPr lang="en-US" altLang="en-US" sz="2400" dirty="0" err="1">
                <a:cs typeface="Times New Roman" panose="02020603050405020304" pitchFamily="18" charset="0"/>
              </a:rPr>
              <a:t>xếp</a:t>
            </a:r>
            <a:r>
              <a:rPr lang="en-US" altLang="en-US" sz="2400" dirty="0">
                <a:cs typeface="Times New Roman" panose="02020603050405020304" pitchFamily="18" charset="0"/>
              </a:rPr>
              <a:t> </a:t>
            </a:r>
            <a:r>
              <a:rPr lang="en-US" altLang="en-US" sz="2400" dirty="0" err="1">
                <a:cs typeface="Times New Roman" panose="02020603050405020304" pitchFamily="18" charset="0"/>
              </a:rPr>
              <a:t>lại</a:t>
            </a:r>
            <a:r>
              <a:rPr lang="en-US" altLang="en-US" sz="2400" dirty="0">
                <a:cs typeface="Times New Roman" panose="02020603050405020304" pitchFamily="18" charset="0"/>
              </a:rPr>
              <a:t> </a:t>
            </a:r>
            <a:r>
              <a:rPr lang="en-US" altLang="en-US" sz="2400" dirty="0" err="1">
                <a:cs typeface="Times New Roman" panose="02020603050405020304" pitchFamily="18" charset="0"/>
              </a:rPr>
              <a:t>để</a:t>
            </a:r>
            <a:r>
              <a:rPr lang="en-US" altLang="en-US" sz="2400" dirty="0">
                <a:cs typeface="Times New Roman" panose="02020603050405020304" pitchFamily="18" charset="0"/>
              </a:rPr>
              <a:t> </a:t>
            </a:r>
            <a:r>
              <a:rPr lang="en-US" altLang="en-US" sz="2400" dirty="0" err="1">
                <a:cs typeface="Times New Roman" panose="02020603050405020304" pitchFamily="18" charset="0"/>
              </a:rPr>
              <a:t>đảm</a:t>
            </a:r>
            <a:r>
              <a:rPr lang="en-US" altLang="en-US" sz="2400" dirty="0">
                <a:cs typeface="Times New Roman" panose="02020603050405020304" pitchFamily="18" charset="0"/>
              </a:rPr>
              <a:t> </a:t>
            </a:r>
            <a:r>
              <a:rPr lang="en-US" altLang="en-US" sz="2400" dirty="0" err="1">
                <a:cs typeface="Times New Roman" panose="02020603050405020304" pitchFamily="18" charset="0"/>
              </a:rPr>
              <a:t>bảo</a:t>
            </a:r>
            <a:r>
              <a:rPr lang="en-US" altLang="en-US" sz="2400" dirty="0">
                <a:cs typeface="Times New Roman" panose="02020603050405020304" pitchFamily="18" charset="0"/>
              </a:rPr>
              <a:t> </a:t>
            </a:r>
            <a:r>
              <a:rPr lang="en-US" altLang="en-US" sz="2400" dirty="0" err="1">
                <a:cs typeface="Times New Roman" panose="02020603050405020304" pitchFamily="18" charset="0"/>
              </a:rPr>
              <a:t>tính</a:t>
            </a:r>
            <a:r>
              <a:rPr lang="en-US" altLang="en-US" sz="2400" dirty="0">
                <a:cs typeface="Times New Roman" panose="02020603050405020304" pitchFamily="18" charset="0"/>
              </a:rPr>
              <a:t> </a:t>
            </a:r>
            <a:r>
              <a:rPr lang="en-US" altLang="en-US" sz="2400" dirty="0" err="1">
                <a:cs typeface="Times New Roman" panose="02020603050405020304" pitchFamily="18" charset="0"/>
              </a:rPr>
              <a:t>chất</a:t>
            </a:r>
            <a:r>
              <a:rPr lang="en-US" altLang="en-US" sz="2400" dirty="0">
                <a:cs typeface="Times New Roman" panose="02020603050405020304" pitchFamily="18" charset="0"/>
              </a:rPr>
              <a:t> </a:t>
            </a:r>
            <a:r>
              <a:rPr lang="en-US" altLang="en-US" sz="2400" dirty="0" err="1">
                <a:cs typeface="Times New Roman" panose="02020603050405020304" pitchFamily="18" charset="0"/>
              </a:rPr>
              <a:t>cây</a:t>
            </a:r>
            <a:r>
              <a:rPr lang="en-US" altLang="en-US" sz="2400" dirty="0">
                <a:cs typeface="Times New Roman" panose="02020603050405020304" pitchFamily="18" charset="0"/>
              </a:rPr>
              <a:t> </a:t>
            </a:r>
            <a:r>
              <a:rPr lang="en-US" altLang="en-US" sz="2400" dirty="0" err="1">
                <a:cs typeface="Times New Roman" panose="02020603050405020304" pitchFamily="18" charset="0"/>
              </a:rPr>
              <a:t>tìm</a:t>
            </a:r>
            <a:r>
              <a:rPr lang="en-US" altLang="en-US" sz="2400" dirty="0">
                <a:cs typeface="Times New Roman" panose="02020603050405020304" pitchFamily="18" charset="0"/>
              </a:rPr>
              <a:t> </a:t>
            </a:r>
            <a:r>
              <a:rPr lang="en-US" altLang="en-US" sz="2400" dirty="0" err="1">
                <a:cs typeface="Times New Roman" panose="02020603050405020304" pitchFamily="18" charset="0"/>
              </a:rPr>
              <a:t>kiếm</a:t>
            </a:r>
            <a:r>
              <a:rPr lang="en-US" altLang="en-US" sz="2400" dirty="0">
                <a:cs typeface="Times New Roman" panose="02020603050405020304" pitchFamily="18" charset="0"/>
              </a:rPr>
              <a:t> NP</a:t>
            </a:r>
          </a:p>
          <a:p>
            <a:pPr lvl="1">
              <a:lnSpc>
                <a:spcPct val="90000"/>
              </a:lnSpc>
              <a:spcBef>
                <a:spcPct val="15000"/>
              </a:spcBef>
            </a:pPr>
            <a:endParaRPr lang="en-US" altLang="en-US" sz="2400" dirty="0">
              <a:cs typeface="Times New Roman" panose="02020603050405020304" pitchFamily="18" charset="0"/>
            </a:endParaRPr>
          </a:p>
          <a:p>
            <a:pPr lvl="1" eaLnBrk="1" hangingPunct="1">
              <a:spcBef>
                <a:spcPct val="15000"/>
              </a:spcBef>
            </a:pPr>
            <a:endParaRPr lang="en-US" altLang="en-US" sz="2000" dirty="0">
              <a:cs typeface="Times New Roman" panose="02020603050405020304" pitchFamily="18" charset="0"/>
            </a:endParaRPr>
          </a:p>
        </p:txBody>
      </p:sp>
      <p:sp>
        <p:nvSpPr>
          <p:cNvPr id="46086" name="Text Box 65"/>
          <p:cNvSpPr txBox="1">
            <a:spLocks noChangeArrowheads="1"/>
          </p:cNvSpPr>
          <p:nvPr/>
        </p:nvSpPr>
        <p:spPr bwMode="auto">
          <a:xfrm>
            <a:off x="158750" y="2362200"/>
            <a:ext cx="708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dirty="0"/>
              <a:t>x=10</a:t>
            </a:r>
          </a:p>
        </p:txBody>
      </p:sp>
      <p:sp>
        <p:nvSpPr>
          <p:cNvPr id="46087" name="Line 66"/>
          <p:cNvSpPr>
            <a:spLocks noChangeShapeType="1"/>
          </p:cNvSpPr>
          <p:nvPr/>
        </p:nvSpPr>
        <p:spPr bwMode="auto">
          <a:xfrm>
            <a:off x="2133600" y="4419600"/>
            <a:ext cx="457200" cy="533400"/>
          </a:xfrm>
          <a:prstGeom prst="line">
            <a:avLst/>
          </a:prstGeom>
          <a:noFill/>
          <a:ln w="28575" cap="rnd">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46088" name="Text Box 108"/>
          <p:cNvSpPr txBox="1">
            <a:spLocks noChangeArrowheads="1"/>
          </p:cNvSpPr>
          <p:nvPr/>
        </p:nvSpPr>
        <p:spPr bwMode="auto">
          <a:xfrm>
            <a:off x="2892015" y="2373079"/>
            <a:ext cx="581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dirty="0"/>
              <a:t>x=8</a:t>
            </a:r>
          </a:p>
        </p:txBody>
      </p:sp>
      <p:sp>
        <p:nvSpPr>
          <p:cNvPr id="46089" name="Text Box 126"/>
          <p:cNvSpPr txBox="1">
            <a:spLocks noChangeArrowheads="1"/>
          </p:cNvSpPr>
          <p:nvPr/>
        </p:nvSpPr>
        <p:spPr bwMode="auto">
          <a:xfrm>
            <a:off x="6027125" y="2337814"/>
            <a:ext cx="581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dirty="0"/>
              <a:t>x=9</a:t>
            </a:r>
          </a:p>
        </p:txBody>
      </p:sp>
      <p:cxnSp>
        <p:nvCxnSpPr>
          <p:cNvPr id="46091" name="AutoShape 130"/>
          <p:cNvCxnSpPr>
            <a:cxnSpLocks noChangeShapeType="1"/>
            <a:stCxn id="46129" idx="1"/>
            <a:endCxn id="46126" idx="1"/>
          </p:cNvCxnSpPr>
          <p:nvPr/>
        </p:nvCxnSpPr>
        <p:spPr bwMode="auto">
          <a:xfrm rot="5400000" flipH="1" flipV="1">
            <a:off x="3500167" y="4551596"/>
            <a:ext cx="914400" cy="457200"/>
          </a:xfrm>
          <a:prstGeom prst="curvedConnector3">
            <a:avLst>
              <a:gd name="adj1" fmla="val 131102"/>
            </a:avLst>
          </a:prstGeom>
          <a:noFill/>
          <a:ln w="38100">
            <a:solidFill>
              <a:srgbClr val="FF0000"/>
            </a:solidFill>
            <a:prstDash val="lgDash"/>
            <a:round/>
            <a:headEnd type="none" w="med" len="med"/>
            <a:tailEnd type="arrow" w="med" len="med"/>
          </a:ln>
          <a:extLst>
            <a:ext uri="{909E8E84-426E-40DD-AFC4-6F175D3DCCD1}">
              <a14:hiddenFill xmlns:a14="http://schemas.microsoft.com/office/drawing/2010/main">
                <a:noFill/>
              </a14:hiddenFill>
            </a:ext>
          </a:extLst>
        </p:spPr>
      </p:cxnSp>
      <p:grpSp>
        <p:nvGrpSpPr>
          <p:cNvPr id="46092" name="Group 137"/>
          <p:cNvGrpSpPr>
            <a:grpSpLocks/>
          </p:cNvGrpSpPr>
          <p:nvPr/>
        </p:nvGrpSpPr>
        <p:grpSpPr bwMode="auto">
          <a:xfrm>
            <a:off x="430213" y="2454275"/>
            <a:ext cx="2312987" cy="4038600"/>
            <a:chOff x="271" y="1296"/>
            <a:chExt cx="1457" cy="2544"/>
          </a:xfrm>
        </p:grpSpPr>
        <p:sp>
          <p:nvSpPr>
            <p:cNvPr id="46137" name="Line 64"/>
            <p:cNvSpPr>
              <a:spLocks noChangeShapeType="1"/>
            </p:cNvSpPr>
            <p:nvPr/>
          </p:nvSpPr>
          <p:spPr bwMode="auto">
            <a:xfrm>
              <a:off x="1423" y="2112"/>
              <a:ext cx="192"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38" name="Oval 55"/>
            <p:cNvSpPr>
              <a:spLocks noChangeArrowheads="1"/>
            </p:cNvSpPr>
            <p:nvPr/>
          </p:nvSpPr>
          <p:spPr bwMode="auto">
            <a:xfrm>
              <a:off x="895" y="1296"/>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4</a:t>
              </a:r>
            </a:p>
          </p:txBody>
        </p:sp>
        <p:sp>
          <p:nvSpPr>
            <p:cNvPr id="46139" name="Oval 56"/>
            <p:cNvSpPr>
              <a:spLocks noChangeArrowheads="1"/>
            </p:cNvSpPr>
            <p:nvPr/>
          </p:nvSpPr>
          <p:spPr bwMode="auto">
            <a:xfrm>
              <a:off x="511" y="1872"/>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2</a:t>
              </a:r>
            </a:p>
          </p:txBody>
        </p:sp>
        <p:sp>
          <p:nvSpPr>
            <p:cNvPr id="46140" name="Line 57"/>
            <p:cNvSpPr>
              <a:spLocks noChangeShapeType="1"/>
            </p:cNvSpPr>
            <p:nvPr/>
          </p:nvSpPr>
          <p:spPr bwMode="auto">
            <a:xfrm flipH="1">
              <a:off x="629" y="1488"/>
              <a:ext cx="288"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41" name="Line 58"/>
            <p:cNvSpPr>
              <a:spLocks noChangeShapeType="1"/>
            </p:cNvSpPr>
            <p:nvPr/>
          </p:nvSpPr>
          <p:spPr bwMode="auto">
            <a:xfrm>
              <a:off x="1087" y="1536"/>
              <a:ext cx="192"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42" name="Oval 60"/>
            <p:cNvSpPr>
              <a:spLocks noChangeArrowheads="1"/>
            </p:cNvSpPr>
            <p:nvPr/>
          </p:nvSpPr>
          <p:spPr bwMode="auto">
            <a:xfrm>
              <a:off x="1231" y="1872"/>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9</a:t>
              </a:r>
            </a:p>
          </p:txBody>
        </p:sp>
        <p:sp>
          <p:nvSpPr>
            <p:cNvPr id="46143" name="Oval 61"/>
            <p:cNvSpPr>
              <a:spLocks noChangeArrowheads="1"/>
            </p:cNvSpPr>
            <p:nvPr/>
          </p:nvSpPr>
          <p:spPr bwMode="auto">
            <a:xfrm>
              <a:off x="847" y="244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8</a:t>
              </a:r>
            </a:p>
          </p:txBody>
        </p:sp>
        <p:sp>
          <p:nvSpPr>
            <p:cNvPr id="46144" name="Line 62"/>
            <p:cNvSpPr>
              <a:spLocks noChangeShapeType="1"/>
            </p:cNvSpPr>
            <p:nvPr/>
          </p:nvSpPr>
          <p:spPr bwMode="auto">
            <a:xfrm flipH="1">
              <a:off x="1008" y="2064"/>
              <a:ext cx="245"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45" name="Oval 63"/>
            <p:cNvSpPr>
              <a:spLocks noChangeArrowheads="1"/>
            </p:cNvSpPr>
            <p:nvPr/>
          </p:nvSpPr>
          <p:spPr bwMode="auto">
            <a:xfrm>
              <a:off x="1497" y="244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dirty="0"/>
                <a:t>11</a:t>
              </a:r>
            </a:p>
          </p:txBody>
        </p:sp>
        <p:sp>
          <p:nvSpPr>
            <p:cNvPr id="46146" name="Oval 67"/>
            <p:cNvSpPr>
              <a:spLocks noChangeArrowheads="1"/>
            </p:cNvSpPr>
            <p:nvPr/>
          </p:nvSpPr>
          <p:spPr bwMode="auto">
            <a:xfrm>
              <a:off x="559" y="3024"/>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6</a:t>
              </a:r>
            </a:p>
          </p:txBody>
        </p:sp>
        <p:sp>
          <p:nvSpPr>
            <p:cNvPr id="46147" name="Oval 68"/>
            <p:cNvSpPr>
              <a:spLocks noChangeArrowheads="1"/>
            </p:cNvSpPr>
            <p:nvPr/>
          </p:nvSpPr>
          <p:spPr bwMode="auto">
            <a:xfrm>
              <a:off x="271" y="3600"/>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5</a:t>
              </a:r>
            </a:p>
          </p:txBody>
        </p:sp>
        <p:sp>
          <p:nvSpPr>
            <p:cNvPr id="46148" name="Line 69"/>
            <p:cNvSpPr>
              <a:spLocks noChangeShapeType="1"/>
            </p:cNvSpPr>
            <p:nvPr/>
          </p:nvSpPr>
          <p:spPr bwMode="auto">
            <a:xfrm flipH="1">
              <a:off x="415" y="3264"/>
              <a:ext cx="192"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49" name="Line 70"/>
            <p:cNvSpPr>
              <a:spLocks noChangeShapeType="1"/>
            </p:cNvSpPr>
            <p:nvPr/>
          </p:nvSpPr>
          <p:spPr bwMode="auto">
            <a:xfrm flipV="1">
              <a:off x="703" y="2688"/>
              <a:ext cx="192"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50" name="Oval 72"/>
            <p:cNvSpPr>
              <a:spLocks noChangeArrowheads="1"/>
            </p:cNvSpPr>
            <p:nvPr/>
          </p:nvSpPr>
          <p:spPr bwMode="auto">
            <a:xfrm>
              <a:off x="864" y="3600"/>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7</a:t>
              </a:r>
            </a:p>
          </p:txBody>
        </p:sp>
        <p:sp>
          <p:nvSpPr>
            <p:cNvPr id="46151" name="Line 73"/>
            <p:cNvSpPr>
              <a:spLocks noChangeShapeType="1"/>
            </p:cNvSpPr>
            <p:nvPr/>
          </p:nvSpPr>
          <p:spPr bwMode="auto">
            <a:xfrm>
              <a:off x="720" y="3264"/>
              <a:ext cx="24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52" name="Line 131"/>
            <p:cNvSpPr>
              <a:spLocks noChangeShapeType="1"/>
            </p:cNvSpPr>
            <p:nvPr/>
          </p:nvSpPr>
          <p:spPr bwMode="auto">
            <a:xfrm flipH="1">
              <a:off x="1366" y="2688"/>
              <a:ext cx="218"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53" name="Oval 132"/>
            <p:cNvSpPr>
              <a:spLocks noChangeArrowheads="1"/>
            </p:cNvSpPr>
            <p:nvPr/>
          </p:nvSpPr>
          <p:spPr bwMode="auto">
            <a:xfrm>
              <a:off x="1248" y="3024"/>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10</a:t>
              </a:r>
            </a:p>
          </p:txBody>
        </p:sp>
      </p:grpSp>
      <p:grpSp>
        <p:nvGrpSpPr>
          <p:cNvPr id="46093" name="Group 138"/>
          <p:cNvGrpSpPr>
            <a:grpSpLocks/>
          </p:cNvGrpSpPr>
          <p:nvPr/>
        </p:nvGrpSpPr>
        <p:grpSpPr bwMode="auto">
          <a:xfrm>
            <a:off x="3217863" y="2438400"/>
            <a:ext cx="2312988" cy="4038600"/>
            <a:chOff x="1872" y="1296"/>
            <a:chExt cx="1457" cy="2544"/>
          </a:xfrm>
        </p:grpSpPr>
        <p:sp>
          <p:nvSpPr>
            <p:cNvPr id="46120" name="Line 92"/>
            <p:cNvSpPr>
              <a:spLocks noChangeShapeType="1"/>
            </p:cNvSpPr>
            <p:nvPr/>
          </p:nvSpPr>
          <p:spPr bwMode="auto">
            <a:xfrm>
              <a:off x="3024" y="2112"/>
              <a:ext cx="192"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21" name="Oval 94"/>
            <p:cNvSpPr>
              <a:spLocks noChangeArrowheads="1"/>
            </p:cNvSpPr>
            <p:nvPr/>
          </p:nvSpPr>
          <p:spPr bwMode="auto">
            <a:xfrm>
              <a:off x="2496" y="1296"/>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4</a:t>
              </a:r>
            </a:p>
          </p:txBody>
        </p:sp>
        <p:sp>
          <p:nvSpPr>
            <p:cNvPr id="46122" name="Oval 95"/>
            <p:cNvSpPr>
              <a:spLocks noChangeArrowheads="1"/>
            </p:cNvSpPr>
            <p:nvPr/>
          </p:nvSpPr>
          <p:spPr bwMode="auto">
            <a:xfrm>
              <a:off x="2112" y="1872"/>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2</a:t>
              </a:r>
            </a:p>
          </p:txBody>
        </p:sp>
        <p:sp>
          <p:nvSpPr>
            <p:cNvPr id="46123" name="Line 96"/>
            <p:cNvSpPr>
              <a:spLocks noChangeShapeType="1"/>
            </p:cNvSpPr>
            <p:nvPr/>
          </p:nvSpPr>
          <p:spPr bwMode="auto">
            <a:xfrm flipH="1">
              <a:off x="2230" y="1488"/>
              <a:ext cx="288"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24" name="Line 97"/>
            <p:cNvSpPr>
              <a:spLocks noChangeShapeType="1"/>
            </p:cNvSpPr>
            <p:nvPr/>
          </p:nvSpPr>
          <p:spPr bwMode="auto">
            <a:xfrm>
              <a:off x="2688" y="1536"/>
              <a:ext cx="192"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25" name="Oval 98"/>
            <p:cNvSpPr>
              <a:spLocks noChangeArrowheads="1"/>
            </p:cNvSpPr>
            <p:nvPr/>
          </p:nvSpPr>
          <p:spPr bwMode="auto">
            <a:xfrm>
              <a:off x="2832" y="1872"/>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9</a:t>
              </a:r>
            </a:p>
          </p:txBody>
        </p:sp>
        <p:sp>
          <p:nvSpPr>
            <p:cNvPr id="46126" name="Oval 99"/>
            <p:cNvSpPr>
              <a:spLocks noChangeArrowheads="1"/>
            </p:cNvSpPr>
            <p:nvPr/>
          </p:nvSpPr>
          <p:spPr bwMode="auto">
            <a:xfrm>
              <a:off x="2448" y="244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8</a:t>
              </a:r>
            </a:p>
          </p:txBody>
        </p:sp>
        <p:sp>
          <p:nvSpPr>
            <p:cNvPr id="46127" name="Line 100"/>
            <p:cNvSpPr>
              <a:spLocks noChangeShapeType="1"/>
            </p:cNvSpPr>
            <p:nvPr/>
          </p:nvSpPr>
          <p:spPr bwMode="auto">
            <a:xfrm flipH="1">
              <a:off x="2609" y="2064"/>
              <a:ext cx="245"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28" name="Oval 101"/>
            <p:cNvSpPr>
              <a:spLocks noChangeArrowheads="1"/>
            </p:cNvSpPr>
            <p:nvPr/>
          </p:nvSpPr>
          <p:spPr bwMode="auto">
            <a:xfrm>
              <a:off x="3098" y="244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11</a:t>
              </a:r>
            </a:p>
          </p:txBody>
        </p:sp>
        <p:sp>
          <p:nvSpPr>
            <p:cNvPr id="46129" name="Oval 102"/>
            <p:cNvSpPr>
              <a:spLocks noChangeArrowheads="1"/>
            </p:cNvSpPr>
            <p:nvPr/>
          </p:nvSpPr>
          <p:spPr bwMode="auto">
            <a:xfrm>
              <a:off x="2160" y="3024"/>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6</a:t>
              </a:r>
            </a:p>
          </p:txBody>
        </p:sp>
        <p:sp>
          <p:nvSpPr>
            <p:cNvPr id="46130" name="Oval 103"/>
            <p:cNvSpPr>
              <a:spLocks noChangeArrowheads="1"/>
            </p:cNvSpPr>
            <p:nvPr/>
          </p:nvSpPr>
          <p:spPr bwMode="auto">
            <a:xfrm>
              <a:off x="1872" y="3600"/>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5</a:t>
              </a:r>
            </a:p>
          </p:txBody>
        </p:sp>
        <p:sp>
          <p:nvSpPr>
            <p:cNvPr id="46131" name="Line 104"/>
            <p:cNvSpPr>
              <a:spLocks noChangeShapeType="1"/>
            </p:cNvSpPr>
            <p:nvPr/>
          </p:nvSpPr>
          <p:spPr bwMode="auto">
            <a:xfrm flipH="1">
              <a:off x="2016" y="3264"/>
              <a:ext cx="192"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32" name="Line 105"/>
            <p:cNvSpPr>
              <a:spLocks noChangeShapeType="1"/>
            </p:cNvSpPr>
            <p:nvPr/>
          </p:nvSpPr>
          <p:spPr bwMode="auto">
            <a:xfrm flipV="1">
              <a:off x="2304" y="2688"/>
              <a:ext cx="192"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33" name="Oval 106"/>
            <p:cNvSpPr>
              <a:spLocks noChangeArrowheads="1"/>
            </p:cNvSpPr>
            <p:nvPr/>
          </p:nvSpPr>
          <p:spPr bwMode="auto">
            <a:xfrm>
              <a:off x="2465" y="3600"/>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7</a:t>
              </a:r>
            </a:p>
          </p:txBody>
        </p:sp>
        <p:sp>
          <p:nvSpPr>
            <p:cNvPr id="46134" name="Line 107"/>
            <p:cNvSpPr>
              <a:spLocks noChangeShapeType="1"/>
            </p:cNvSpPr>
            <p:nvPr/>
          </p:nvSpPr>
          <p:spPr bwMode="auto">
            <a:xfrm>
              <a:off x="2321" y="3264"/>
              <a:ext cx="24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35" name="Line 133"/>
            <p:cNvSpPr>
              <a:spLocks noChangeShapeType="1"/>
            </p:cNvSpPr>
            <p:nvPr/>
          </p:nvSpPr>
          <p:spPr bwMode="auto">
            <a:xfrm flipH="1">
              <a:off x="2950" y="2688"/>
              <a:ext cx="218"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36" name="Oval 134"/>
            <p:cNvSpPr>
              <a:spLocks noChangeArrowheads="1"/>
            </p:cNvSpPr>
            <p:nvPr/>
          </p:nvSpPr>
          <p:spPr bwMode="auto">
            <a:xfrm>
              <a:off x="2832" y="3024"/>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dirty="0"/>
                <a:t>10</a:t>
              </a:r>
            </a:p>
          </p:txBody>
        </p:sp>
      </p:grpSp>
      <p:grpSp>
        <p:nvGrpSpPr>
          <p:cNvPr id="46094" name="Group 139"/>
          <p:cNvGrpSpPr>
            <a:grpSpLocks/>
          </p:cNvGrpSpPr>
          <p:nvPr/>
        </p:nvGrpSpPr>
        <p:grpSpPr bwMode="auto">
          <a:xfrm>
            <a:off x="6150950" y="2490214"/>
            <a:ext cx="2312987" cy="4038600"/>
            <a:chOff x="3631" y="1296"/>
            <a:chExt cx="1457" cy="2544"/>
          </a:xfrm>
        </p:grpSpPr>
        <p:sp>
          <p:nvSpPr>
            <p:cNvPr id="46103" name="Line 110"/>
            <p:cNvSpPr>
              <a:spLocks noChangeShapeType="1"/>
            </p:cNvSpPr>
            <p:nvPr/>
          </p:nvSpPr>
          <p:spPr bwMode="auto">
            <a:xfrm>
              <a:off x="4783" y="2112"/>
              <a:ext cx="192"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04" name="Oval 112"/>
            <p:cNvSpPr>
              <a:spLocks noChangeArrowheads="1"/>
            </p:cNvSpPr>
            <p:nvPr/>
          </p:nvSpPr>
          <p:spPr bwMode="auto">
            <a:xfrm>
              <a:off x="4255" y="1296"/>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4</a:t>
              </a:r>
            </a:p>
          </p:txBody>
        </p:sp>
        <p:sp>
          <p:nvSpPr>
            <p:cNvPr id="46105" name="Oval 113"/>
            <p:cNvSpPr>
              <a:spLocks noChangeArrowheads="1"/>
            </p:cNvSpPr>
            <p:nvPr/>
          </p:nvSpPr>
          <p:spPr bwMode="auto">
            <a:xfrm>
              <a:off x="3871" y="1872"/>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2</a:t>
              </a:r>
            </a:p>
          </p:txBody>
        </p:sp>
        <p:sp>
          <p:nvSpPr>
            <p:cNvPr id="46106" name="Line 114"/>
            <p:cNvSpPr>
              <a:spLocks noChangeShapeType="1"/>
            </p:cNvSpPr>
            <p:nvPr/>
          </p:nvSpPr>
          <p:spPr bwMode="auto">
            <a:xfrm flipH="1">
              <a:off x="3989" y="1488"/>
              <a:ext cx="288"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07" name="Line 115"/>
            <p:cNvSpPr>
              <a:spLocks noChangeShapeType="1"/>
            </p:cNvSpPr>
            <p:nvPr/>
          </p:nvSpPr>
          <p:spPr bwMode="auto">
            <a:xfrm>
              <a:off x="4447" y="1536"/>
              <a:ext cx="192"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08" name="Oval 116"/>
            <p:cNvSpPr>
              <a:spLocks noChangeArrowheads="1"/>
            </p:cNvSpPr>
            <p:nvPr/>
          </p:nvSpPr>
          <p:spPr bwMode="auto">
            <a:xfrm>
              <a:off x="4591" y="1872"/>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9</a:t>
              </a:r>
            </a:p>
          </p:txBody>
        </p:sp>
        <p:sp>
          <p:nvSpPr>
            <p:cNvPr id="46109" name="Oval 117"/>
            <p:cNvSpPr>
              <a:spLocks noChangeArrowheads="1"/>
            </p:cNvSpPr>
            <p:nvPr/>
          </p:nvSpPr>
          <p:spPr bwMode="auto">
            <a:xfrm>
              <a:off x="4207" y="244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8</a:t>
              </a:r>
            </a:p>
          </p:txBody>
        </p:sp>
        <p:sp>
          <p:nvSpPr>
            <p:cNvPr id="46110" name="Line 118"/>
            <p:cNvSpPr>
              <a:spLocks noChangeShapeType="1"/>
            </p:cNvSpPr>
            <p:nvPr/>
          </p:nvSpPr>
          <p:spPr bwMode="auto">
            <a:xfrm flipH="1">
              <a:off x="4368" y="2064"/>
              <a:ext cx="245"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1" name="Oval 119"/>
            <p:cNvSpPr>
              <a:spLocks noChangeArrowheads="1"/>
            </p:cNvSpPr>
            <p:nvPr/>
          </p:nvSpPr>
          <p:spPr bwMode="auto">
            <a:xfrm>
              <a:off x="4857" y="244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11</a:t>
              </a:r>
            </a:p>
          </p:txBody>
        </p:sp>
        <p:sp>
          <p:nvSpPr>
            <p:cNvPr id="46112" name="Oval 120"/>
            <p:cNvSpPr>
              <a:spLocks noChangeArrowheads="1"/>
            </p:cNvSpPr>
            <p:nvPr/>
          </p:nvSpPr>
          <p:spPr bwMode="auto">
            <a:xfrm>
              <a:off x="3919" y="3024"/>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6</a:t>
              </a:r>
            </a:p>
          </p:txBody>
        </p:sp>
        <p:sp>
          <p:nvSpPr>
            <p:cNvPr id="46113" name="Oval 121"/>
            <p:cNvSpPr>
              <a:spLocks noChangeArrowheads="1"/>
            </p:cNvSpPr>
            <p:nvPr/>
          </p:nvSpPr>
          <p:spPr bwMode="auto">
            <a:xfrm>
              <a:off x="3631" y="3600"/>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5</a:t>
              </a:r>
            </a:p>
          </p:txBody>
        </p:sp>
        <p:sp>
          <p:nvSpPr>
            <p:cNvPr id="46114" name="Line 122"/>
            <p:cNvSpPr>
              <a:spLocks noChangeShapeType="1"/>
            </p:cNvSpPr>
            <p:nvPr/>
          </p:nvSpPr>
          <p:spPr bwMode="auto">
            <a:xfrm flipH="1">
              <a:off x="3775" y="3264"/>
              <a:ext cx="192"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5" name="Line 123"/>
            <p:cNvSpPr>
              <a:spLocks noChangeShapeType="1"/>
            </p:cNvSpPr>
            <p:nvPr/>
          </p:nvSpPr>
          <p:spPr bwMode="auto">
            <a:xfrm flipV="1">
              <a:off x="4063" y="2688"/>
              <a:ext cx="192"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6" name="Oval 124"/>
            <p:cNvSpPr>
              <a:spLocks noChangeArrowheads="1"/>
            </p:cNvSpPr>
            <p:nvPr/>
          </p:nvSpPr>
          <p:spPr bwMode="auto">
            <a:xfrm>
              <a:off x="4224" y="3600"/>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7</a:t>
              </a:r>
            </a:p>
          </p:txBody>
        </p:sp>
        <p:sp>
          <p:nvSpPr>
            <p:cNvPr id="46117" name="Line 125"/>
            <p:cNvSpPr>
              <a:spLocks noChangeShapeType="1"/>
            </p:cNvSpPr>
            <p:nvPr/>
          </p:nvSpPr>
          <p:spPr bwMode="auto">
            <a:xfrm>
              <a:off x="4080" y="3264"/>
              <a:ext cx="24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8" name="Line 135"/>
            <p:cNvSpPr>
              <a:spLocks noChangeShapeType="1"/>
            </p:cNvSpPr>
            <p:nvPr/>
          </p:nvSpPr>
          <p:spPr bwMode="auto">
            <a:xfrm flipH="1">
              <a:off x="4752" y="2688"/>
              <a:ext cx="192"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9" name="Oval 136"/>
            <p:cNvSpPr>
              <a:spLocks noChangeArrowheads="1"/>
            </p:cNvSpPr>
            <p:nvPr/>
          </p:nvSpPr>
          <p:spPr bwMode="auto">
            <a:xfrm>
              <a:off x="4608" y="3024"/>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10</a:t>
              </a:r>
            </a:p>
          </p:txBody>
        </p:sp>
      </p:grpSp>
      <p:cxnSp>
        <p:nvCxnSpPr>
          <p:cNvPr id="46095" name="AutoShape 140"/>
          <p:cNvCxnSpPr>
            <a:cxnSpLocks noChangeShapeType="1"/>
            <a:endCxn id="46108" idx="2"/>
          </p:cNvCxnSpPr>
          <p:nvPr/>
        </p:nvCxnSpPr>
        <p:spPr bwMode="auto">
          <a:xfrm rot="-5400000">
            <a:off x="6974862" y="3712589"/>
            <a:ext cx="817563" cy="582613"/>
          </a:xfrm>
          <a:prstGeom prst="curvedConnector2">
            <a:avLst/>
          </a:prstGeom>
          <a:noFill/>
          <a:ln w="28575">
            <a:solidFill>
              <a:srgbClr val="FF0000"/>
            </a:solidFill>
            <a:prstDash val="lgDash"/>
            <a:round/>
            <a:headEnd type="none" w="med" len="med"/>
            <a:tailEnd type="arrow" w="med" len="med"/>
          </a:ln>
          <a:extLst>
            <a:ext uri="{909E8E84-426E-40DD-AFC4-6F175D3DCCD1}">
              <a14:hiddenFill xmlns:a14="http://schemas.microsoft.com/office/drawing/2010/main">
                <a:noFill/>
              </a14:hiddenFill>
            </a:ext>
          </a:extLst>
        </p:spPr>
      </p:cxnSp>
      <p:cxnSp>
        <p:nvCxnSpPr>
          <p:cNvPr id="46096" name="AutoShape 141"/>
          <p:cNvCxnSpPr>
            <a:cxnSpLocks noChangeShapeType="1"/>
            <a:stCxn id="46119" idx="7"/>
            <a:endCxn id="46108" idx="6"/>
          </p:cNvCxnSpPr>
          <p:nvPr/>
        </p:nvCxnSpPr>
        <p:spPr bwMode="auto">
          <a:xfrm rot="5400000" flipH="1" flipV="1">
            <a:off x="7181255" y="4428804"/>
            <a:ext cx="1694096" cy="26717"/>
          </a:xfrm>
          <a:prstGeom prst="curvedConnector4">
            <a:avLst>
              <a:gd name="adj1" fmla="val 2999"/>
              <a:gd name="adj2" fmla="val 2239087"/>
            </a:avLst>
          </a:prstGeom>
          <a:noFill/>
          <a:ln w="28575">
            <a:solidFill>
              <a:srgbClr val="FF0000"/>
            </a:solidFill>
            <a:prstDash val="lgDash"/>
            <a:round/>
            <a:headEnd type="none" w="med" len="med"/>
            <a:tailEnd type="arrow" w="med" len="med"/>
          </a:ln>
          <a:extLst>
            <a:ext uri="{909E8E84-426E-40DD-AFC4-6F175D3DCCD1}">
              <a14:hiddenFill xmlns:a14="http://schemas.microsoft.com/office/drawing/2010/main">
                <a:noFill/>
              </a14:hiddenFill>
            </a:ext>
          </a:extLst>
        </p:spPr>
      </p:cxnSp>
      <p:sp>
        <p:nvSpPr>
          <p:cNvPr id="46099" name="Text Box 144"/>
          <p:cNvSpPr txBox="1">
            <a:spLocks noChangeArrowheads="1"/>
          </p:cNvSpPr>
          <p:nvPr/>
        </p:nvSpPr>
        <p:spPr bwMode="auto">
          <a:xfrm>
            <a:off x="134938" y="2057400"/>
            <a:ext cx="1241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dirty="0" err="1"/>
              <a:t>Xóa</a:t>
            </a:r>
            <a:r>
              <a:rPr lang="en-US" altLang="en-US" sz="2000" dirty="0"/>
              <a:t> </a:t>
            </a:r>
            <a:r>
              <a:rPr lang="en-US" altLang="en-US" sz="2000" dirty="0" err="1"/>
              <a:t>nút</a:t>
            </a:r>
            <a:r>
              <a:rPr lang="en-US" altLang="en-US" sz="2000" dirty="0"/>
              <a:t> </a:t>
            </a:r>
            <a:r>
              <a:rPr lang="en-US" altLang="en-US" sz="2000" dirty="0" err="1"/>
              <a:t>lá</a:t>
            </a:r>
            <a:endParaRPr lang="en-US" altLang="en-US" sz="2000" dirty="0"/>
          </a:p>
        </p:txBody>
      </p:sp>
      <p:sp>
        <p:nvSpPr>
          <p:cNvPr id="46100" name="Text Box 145"/>
          <p:cNvSpPr txBox="1">
            <a:spLocks noChangeArrowheads="1"/>
          </p:cNvSpPr>
          <p:nvPr/>
        </p:nvSpPr>
        <p:spPr bwMode="auto">
          <a:xfrm>
            <a:off x="2854325" y="2057400"/>
            <a:ext cx="2708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dirty="0" err="1"/>
              <a:t>Xóa</a:t>
            </a:r>
            <a:r>
              <a:rPr lang="en-US" altLang="en-US" sz="2000" dirty="0"/>
              <a:t> </a:t>
            </a:r>
            <a:r>
              <a:rPr lang="en-US" altLang="en-US" sz="2000" dirty="0" err="1"/>
              <a:t>nút</a:t>
            </a:r>
            <a:r>
              <a:rPr lang="en-US" altLang="en-US" sz="2000" dirty="0"/>
              <a:t> </a:t>
            </a:r>
            <a:r>
              <a:rPr lang="en-US" altLang="en-US" sz="2000" dirty="0" err="1"/>
              <a:t>chỉ</a:t>
            </a:r>
            <a:r>
              <a:rPr lang="en-US" altLang="en-US" sz="2000" dirty="0"/>
              <a:t> </a:t>
            </a:r>
            <a:r>
              <a:rPr lang="en-US" altLang="en-US" sz="2000" dirty="0" err="1"/>
              <a:t>có</a:t>
            </a:r>
            <a:r>
              <a:rPr lang="en-US" altLang="en-US" sz="2000" dirty="0"/>
              <a:t> 1 </a:t>
            </a:r>
            <a:r>
              <a:rPr lang="en-US" altLang="en-US" sz="2000" dirty="0" err="1"/>
              <a:t>cây</a:t>
            </a:r>
            <a:r>
              <a:rPr lang="en-US" altLang="en-US" sz="2000" dirty="0"/>
              <a:t> con</a:t>
            </a:r>
          </a:p>
        </p:txBody>
      </p:sp>
      <p:sp>
        <p:nvSpPr>
          <p:cNvPr id="46101" name="Text Box 146"/>
          <p:cNvSpPr txBox="1">
            <a:spLocks noChangeArrowheads="1"/>
          </p:cNvSpPr>
          <p:nvPr/>
        </p:nvSpPr>
        <p:spPr bwMode="auto">
          <a:xfrm>
            <a:off x="6008868" y="2057400"/>
            <a:ext cx="23352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dirty="0" err="1"/>
              <a:t>Xóa</a:t>
            </a:r>
            <a:r>
              <a:rPr lang="en-US" altLang="en-US" sz="2000" dirty="0"/>
              <a:t> </a:t>
            </a:r>
            <a:r>
              <a:rPr lang="en-US" altLang="en-US" sz="2000" dirty="0" err="1"/>
              <a:t>nút</a:t>
            </a:r>
            <a:r>
              <a:rPr lang="en-US" altLang="en-US" sz="2000" dirty="0"/>
              <a:t> </a:t>
            </a:r>
            <a:r>
              <a:rPr lang="en-US" altLang="en-US" sz="2000" dirty="0" err="1"/>
              <a:t>có</a:t>
            </a:r>
            <a:r>
              <a:rPr lang="en-US" altLang="en-US" sz="2000" dirty="0"/>
              <a:t> 2 </a:t>
            </a:r>
            <a:r>
              <a:rPr lang="en-US" altLang="en-US" sz="2000" dirty="0" err="1"/>
              <a:t>cây</a:t>
            </a:r>
            <a:r>
              <a:rPr lang="en-US" altLang="en-US" sz="2000" dirty="0"/>
              <a:t> con</a:t>
            </a:r>
          </a:p>
        </p:txBody>
      </p:sp>
      <p:sp>
        <p:nvSpPr>
          <p:cNvPr id="46102" name="Line 147"/>
          <p:cNvSpPr>
            <a:spLocks noChangeShapeType="1"/>
          </p:cNvSpPr>
          <p:nvPr/>
        </p:nvSpPr>
        <p:spPr bwMode="auto">
          <a:xfrm>
            <a:off x="3979864" y="4595579"/>
            <a:ext cx="304800" cy="533400"/>
          </a:xfrm>
          <a:prstGeom prst="line">
            <a:avLst/>
          </a:prstGeom>
          <a:noFill/>
          <a:ln w="38100" cap="rnd">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5" name="Rectangle 4"/>
          <p:cNvSpPr/>
          <p:nvPr/>
        </p:nvSpPr>
        <p:spPr>
          <a:xfrm>
            <a:off x="5936549" y="4499780"/>
            <a:ext cx="1222964" cy="338554"/>
          </a:xfrm>
          <a:prstGeom prst="rect">
            <a:avLst/>
          </a:prstGeom>
          <a:ln>
            <a:noFill/>
          </a:ln>
        </p:spPr>
        <p:txBody>
          <a:bodyPr wrap="none">
            <a:spAutoFit/>
          </a:bodyPr>
          <a:lstStyle/>
          <a:p>
            <a:r>
              <a:rPr lang="en-US" altLang="en-US" sz="1600" dirty="0">
                <a:cs typeface="Times New Roman" panose="02020603050405020304" pitchFamily="18" charset="0"/>
              </a:rPr>
              <a:t>Max(</a:t>
            </a:r>
            <a:r>
              <a:rPr lang="en-US" altLang="en-US" sz="1600" dirty="0" err="1">
                <a:cs typeface="Times New Roman" panose="02020603050405020304" pitchFamily="18" charset="0"/>
              </a:rPr>
              <a:t>LTree</a:t>
            </a:r>
            <a:r>
              <a:rPr lang="en-US" altLang="en-US" sz="1600" dirty="0">
                <a:cs typeface="Times New Roman" panose="02020603050405020304" pitchFamily="18" charset="0"/>
              </a:rPr>
              <a:t>)</a:t>
            </a:r>
            <a:endParaRPr lang="en-US" sz="1600" dirty="0"/>
          </a:p>
        </p:txBody>
      </p:sp>
      <p:sp>
        <p:nvSpPr>
          <p:cNvPr id="6" name="Rectangle 5"/>
          <p:cNvSpPr/>
          <p:nvPr/>
        </p:nvSpPr>
        <p:spPr>
          <a:xfrm>
            <a:off x="7858306" y="5604889"/>
            <a:ext cx="1210460" cy="338554"/>
          </a:xfrm>
          <a:prstGeom prst="rect">
            <a:avLst/>
          </a:prstGeom>
        </p:spPr>
        <p:txBody>
          <a:bodyPr wrap="none">
            <a:spAutoFit/>
          </a:bodyPr>
          <a:lstStyle/>
          <a:p>
            <a:r>
              <a:rPr lang="en-US" altLang="en-US" sz="1600" dirty="0">
                <a:cs typeface="Times New Roman" panose="02020603050405020304" pitchFamily="18" charset="0"/>
              </a:rPr>
              <a:t>Min(</a:t>
            </a:r>
            <a:r>
              <a:rPr lang="en-US" altLang="en-US" sz="1600" dirty="0" err="1">
                <a:cs typeface="Times New Roman" panose="02020603050405020304" pitchFamily="18" charset="0"/>
              </a:rPr>
              <a:t>RTree</a:t>
            </a:r>
            <a:r>
              <a:rPr lang="en-US" altLang="en-US" sz="1600" dirty="0">
                <a:cs typeface="Times New Roman" panose="02020603050405020304" pitchFamily="18" charset="0"/>
              </a:rPr>
              <a:t>)</a:t>
            </a:r>
            <a:endParaRPr lang="en-US" sz="1600" dirty="0"/>
          </a:p>
        </p:txBody>
      </p:sp>
      <p:sp>
        <p:nvSpPr>
          <p:cNvPr id="2" name="TextBox 1"/>
          <p:cNvSpPr txBox="1"/>
          <p:nvPr/>
        </p:nvSpPr>
        <p:spPr>
          <a:xfrm rot="17500463">
            <a:off x="3092768" y="4096141"/>
            <a:ext cx="996298" cy="369332"/>
          </a:xfrm>
          <a:prstGeom prst="rect">
            <a:avLst/>
          </a:prstGeom>
          <a:noFill/>
        </p:spPr>
        <p:txBody>
          <a:bodyPr wrap="none" rtlCol="0">
            <a:spAutoFit/>
          </a:bodyPr>
          <a:lstStyle/>
          <a:p>
            <a:r>
              <a:rPr lang="en-US" dirty="0" err="1"/>
              <a:t>Thay</a:t>
            </a:r>
            <a:r>
              <a:rPr lang="en-US" dirty="0"/>
              <a:t> </a:t>
            </a:r>
            <a:r>
              <a:rPr lang="en-US" dirty="0" err="1"/>
              <a:t>thế</a:t>
            </a:r>
            <a:endParaRPr lang="en-US" dirty="0"/>
          </a:p>
        </p:txBody>
      </p:sp>
      <p:sp>
        <p:nvSpPr>
          <p:cNvPr id="75" name="TextBox 74"/>
          <p:cNvSpPr txBox="1"/>
          <p:nvPr/>
        </p:nvSpPr>
        <p:spPr>
          <a:xfrm rot="17500463">
            <a:off x="6477929" y="3663266"/>
            <a:ext cx="1083537" cy="369332"/>
          </a:xfrm>
          <a:prstGeom prst="rect">
            <a:avLst/>
          </a:prstGeom>
          <a:noFill/>
        </p:spPr>
        <p:txBody>
          <a:bodyPr wrap="square" rtlCol="0">
            <a:spAutoFit/>
          </a:bodyPr>
          <a:lstStyle/>
          <a:p>
            <a:r>
              <a:rPr lang="en-US" dirty="0" err="1"/>
              <a:t>Thay</a:t>
            </a:r>
            <a:r>
              <a:rPr lang="en-US" dirty="0"/>
              <a:t> </a:t>
            </a:r>
            <a:r>
              <a:rPr lang="en-US" dirty="0" err="1"/>
              <a:t>thế</a:t>
            </a:r>
            <a:endParaRPr lang="en-US" dirty="0"/>
          </a:p>
        </p:txBody>
      </p:sp>
      <p:sp>
        <p:nvSpPr>
          <p:cNvPr id="76" name="TextBox 75"/>
          <p:cNvSpPr txBox="1"/>
          <p:nvPr/>
        </p:nvSpPr>
        <p:spPr>
          <a:xfrm rot="3221486">
            <a:off x="8180969" y="3614274"/>
            <a:ext cx="996298" cy="369332"/>
          </a:xfrm>
          <a:prstGeom prst="rect">
            <a:avLst/>
          </a:prstGeom>
          <a:noFill/>
        </p:spPr>
        <p:txBody>
          <a:bodyPr wrap="none" rtlCol="0">
            <a:spAutoFit/>
          </a:bodyPr>
          <a:lstStyle/>
          <a:p>
            <a:r>
              <a:rPr lang="en-US" dirty="0" err="1"/>
              <a:t>Thay</a:t>
            </a:r>
            <a:r>
              <a:rPr lang="en-US" dirty="0"/>
              <a:t> </a:t>
            </a:r>
            <a:r>
              <a:rPr lang="en-US" dirty="0" err="1"/>
              <a:t>thế</a:t>
            </a:r>
            <a:endParaRPr lang="en-US" dirty="0"/>
          </a:p>
        </p:txBody>
      </p:sp>
    </p:spTree>
    <p:extLst>
      <p:ext uri="{BB962C8B-B14F-4D97-AF65-F5344CB8AC3E}">
        <p14:creationId xmlns:p14="http://schemas.microsoft.com/office/powerpoint/2010/main" val="3985420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9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608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608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610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609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608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609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610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609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610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608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609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609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6" grpId="0"/>
      <p:bldP spid="46087" grpId="0" animBg="1"/>
      <p:bldP spid="46088" grpId="0"/>
      <p:bldP spid="46089" grpId="0"/>
      <p:bldP spid="46099" grpId="0"/>
      <p:bldP spid="46100" grpId="0"/>
      <p:bldP spid="46101" grpId="0"/>
      <p:bldP spid="46102" grpId="0" animBg="1"/>
      <p:bldP spid="5" grpId="0"/>
      <p:bldP spid="6" grpId="0"/>
      <p:bldP spid="2" grpId="0"/>
      <p:bldP spid="75" grpId="0"/>
      <p:bldP spid="7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2"/>
          <p:cNvSpPr>
            <a:spLocks noGrp="1" noChangeArrowheads="1"/>
          </p:cNvSpPr>
          <p:nvPr>
            <p:ph type="title"/>
          </p:nvPr>
        </p:nvSpPr>
        <p:spPr/>
        <p:txBody>
          <a:bodyPr/>
          <a:lstStyle/>
          <a:p>
            <a:pPr eaLnBrk="1" hangingPunct="1"/>
            <a:r>
              <a:rPr lang="en-US" altLang="en-US">
                <a:cs typeface="Times New Roman" panose="02020603050405020304" pitchFamily="18" charset="0"/>
              </a:rPr>
              <a:t>Cây nhị phân tìm kiếm</a:t>
            </a:r>
            <a:endParaRPr lang="en-US" altLang="en-US"/>
          </a:p>
        </p:txBody>
      </p:sp>
      <p:sp>
        <p:nvSpPr>
          <p:cNvPr id="46085" name="Rectangle 3"/>
          <p:cNvSpPr>
            <a:spLocks noGrp="1" noChangeArrowheads="1"/>
          </p:cNvSpPr>
          <p:nvPr>
            <p:ph type="body" sz="quarter" idx="13"/>
          </p:nvPr>
        </p:nvSpPr>
        <p:spPr>
          <a:noFill/>
        </p:spPr>
        <p:txBody>
          <a:bodyPr>
            <a:normAutofit/>
          </a:bodyPr>
          <a:lstStyle/>
          <a:p>
            <a:pPr eaLnBrk="1" hangingPunct="1">
              <a:lnSpc>
                <a:spcPct val="90000"/>
              </a:lnSpc>
              <a:spcBef>
                <a:spcPct val="15000"/>
              </a:spcBef>
            </a:pPr>
            <a:r>
              <a:rPr lang="en-US" altLang="en-US" sz="2400" dirty="0" err="1">
                <a:cs typeface="Times New Roman" panose="02020603050405020304" pitchFamily="18" charset="0"/>
              </a:rPr>
              <a:t>Cài</a:t>
            </a:r>
            <a:r>
              <a:rPr lang="en-US" altLang="en-US" sz="2400" dirty="0">
                <a:cs typeface="Times New Roman" panose="02020603050405020304" pitchFamily="18" charset="0"/>
              </a:rPr>
              <a:t> </a:t>
            </a:r>
            <a:r>
              <a:rPr lang="en-US" altLang="en-US" sz="2400" dirty="0" err="1">
                <a:cs typeface="Times New Roman" panose="02020603050405020304" pitchFamily="18" charset="0"/>
              </a:rPr>
              <a:t>đặt</a:t>
            </a:r>
            <a:r>
              <a:rPr lang="en-US" altLang="en-US" sz="2400" dirty="0">
                <a:cs typeface="Times New Roman" panose="02020603050405020304" pitchFamily="18" charset="0"/>
              </a:rPr>
              <a:t> </a:t>
            </a:r>
            <a:r>
              <a:rPr lang="en-US" altLang="en-US" sz="2400" dirty="0" err="1">
                <a:cs typeface="Times New Roman" panose="02020603050405020304" pitchFamily="18" charset="0"/>
              </a:rPr>
              <a:t>các</a:t>
            </a:r>
            <a:r>
              <a:rPr lang="en-US" altLang="en-US" sz="2400" dirty="0">
                <a:cs typeface="Times New Roman" panose="02020603050405020304" pitchFamily="18" charset="0"/>
              </a:rPr>
              <a:t> </a:t>
            </a:r>
            <a:r>
              <a:rPr lang="en-US" altLang="en-US" sz="2400" dirty="0" err="1">
                <a:cs typeface="Times New Roman" panose="02020603050405020304" pitchFamily="18" charset="0"/>
              </a:rPr>
              <a:t>thao</a:t>
            </a:r>
            <a:r>
              <a:rPr lang="en-US" altLang="en-US" sz="2400" dirty="0">
                <a:cs typeface="Times New Roman" panose="02020603050405020304" pitchFamily="18" charset="0"/>
              </a:rPr>
              <a:t> </a:t>
            </a:r>
            <a:r>
              <a:rPr lang="en-US" altLang="en-US" sz="2400" dirty="0" err="1">
                <a:cs typeface="Times New Roman" panose="02020603050405020304" pitchFamily="18" charset="0"/>
              </a:rPr>
              <a:t>tác</a:t>
            </a:r>
            <a:r>
              <a:rPr lang="en-US" altLang="en-US" sz="2400" dirty="0">
                <a:cs typeface="Times New Roman" panose="02020603050405020304" pitchFamily="18" charset="0"/>
              </a:rPr>
              <a:t> </a:t>
            </a:r>
            <a:r>
              <a:rPr lang="en-US" altLang="en-US" sz="2400" dirty="0" err="1">
                <a:cs typeface="Times New Roman" panose="02020603050405020304" pitchFamily="18" charset="0"/>
              </a:rPr>
              <a:t>cơ</a:t>
            </a:r>
            <a:r>
              <a:rPr lang="en-US" altLang="en-US" sz="2400" dirty="0">
                <a:cs typeface="Times New Roman" panose="02020603050405020304" pitchFamily="18" charset="0"/>
              </a:rPr>
              <a:t> </a:t>
            </a:r>
            <a:r>
              <a:rPr lang="en-US" altLang="en-US" sz="2400" dirty="0" err="1">
                <a:cs typeface="Times New Roman" panose="02020603050405020304" pitchFamily="18" charset="0"/>
              </a:rPr>
              <a:t>bản</a:t>
            </a:r>
            <a:r>
              <a:rPr lang="en-US" altLang="en-US" sz="2400" dirty="0">
                <a:cs typeface="Times New Roman" panose="02020603050405020304" pitchFamily="18" charset="0"/>
              </a:rPr>
              <a:t>:</a:t>
            </a:r>
          </a:p>
          <a:p>
            <a:pPr lvl="1">
              <a:lnSpc>
                <a:spcPct val="90000"/>
              </a:lnSpc>
              <a:spcBef>
                <a:spcPct val="15000"/>
              </a:spcBef>
            </a:pPr>
            <a:r>
              <a:rPr lang="en-US" altLang="en-US" sz="2400" u="sng" dirty="0" err="1">
                <a:cs typeface="Times New Roman" panose="02020603050405020304" pitchFamily="18" charset="0"/>
              </a:rPr>
              <a:t>Lấy</a:t>
            </a:r>
            <a:r>
              <a:rPr lang="en-US" altLang="en-US" sz="2400" u="sng" dirty="0">
                <a:cs typeface="Times New Roman" panose="02020603050405020304" pitchFamily="18" charset="0"/>
              </a:rPr>
              <a:t> </a:t>
            </a:r>
            <a:r>
              <a:rPr lang="en-US" altLang="en-US" sz="2400" u="sng" dirty="0" err="1">
                <a:cs typeface="Times New Roman" panose="02020603050405020304" pitchFamily="18" charset="0"/>
              </a:rPr>
              <a:t>ra</a:t>
            </a:r>
            <a:r>
              <a:rPr lang="en-US" altLang="en-US" sz="2400" u="sng" dirty="0">
                <a:cs typeface="Times New Roman" panose="02020603050405020304" pitchFamily="18" charset="0"/>
              </a:rPr>
              <a:t> (</a:t>
            </a:r>
            <a:r>
              <a:rPr lang="en-US" altLang="en-US" sz="2400" u="sng" dirty="0" err="1">
                <a:cs typeface="Times New Roman" panose="02020603050405020304" pitchFamily="18" charset="0"/>
              </a:rPr>
              <a:t>loại</a:t>
            </a:r>
            <a:r>
              <a:rPr lang="en-US" altLang="en-US" sz="2400" u="sng" dirty="0">
                <a:cs typeface="Times New Roman" panose="02020603050405020304" pitchFamily="18" charset="0"/>
              </a:rPr>
              <a:t> </a:t>
            </a:r>
            <a:r>
              <a:rPr lang="en-US" altLang="en-US" sz="2400" u="sng" dirty="0" err="1">
                <a:cs typeface="Times New Roman" panose="02020603050405020304" pitchFamily="18" charset="0"/>
              </a:rPr>
              <a:t>bỏ</a:t>
            </a:r>
            <a:r>
              <a:rPr lang="en-US" altLang="en-US" sz="2400" u="sng" dirty="0">
                <a:cs typeface="Times New Roman" panose="02020603050405020304" pitchFamily="18" charset="0"/>
              </a:rPr>
              <a:t>)</a:t>
            </a:r>
            <a:r>
              <a:rPr lang="en-US" altLang="en-US" sz="2400" dirty="0">
                <a:cs typeface="Times New Roman" panose="02020603050405020304" pitchFamily="18" charset="0"/>
              </a:rPr>
              <a:t> </a:t>
            </a:r>
            <a:r>
              <a:rPr lang="en-US" altLang="en-US" sz="2400" dirty="0" err="1">
                <a:cs typeface="Times New Roman" panose="02020603050405020304" pitchFamily="18" charset="0"/>
              </a:rPr>
              <a:t>một</a:t>
            </a:r>
            <a:r>
              <a:rPr lang="en-US" altLang="en-US" sz="2400" dirty="0">
                <a:cs typeface="Times New Roman" panose="02020603050405020304" pitchFamily="18" charset="0"/>
              </a:rPr>
              <a:t> </a:t>
            </a:r>
            <a:r>
              <a:rPr lang="en-US" altLang="en-US" sz="2400" dirty="0" err="1">
                <a:cs typeface="Times New Roman" panose="02020603050405020304" pitchFamily="18" charset="0"/>
              </a:rPr>
              <a:t>nút</a:t>
            </a:r>
            <a:r>
              <a:rPr lang="en-US" altLang="en-US" sz="2400" dirty="0">
                <a:cs typeface="Times New Roman" panose="02020603050405020304" pitchFamily="18" charset="0"/>
              </a:rPr>
              <a:t>: </a:t>
            </a:r>
            <a:r>
              <a:rPr lang="en-US" altLang="en-US" sz="2400" dirty="0" err="1">
                <a:cs typeface="Times New Roman" panose="02020603050405020304" pitchFamily="18" charset="0"/>
              </a:rPr>
              <a:t>cần</a:t>
            </a:r>
            <a:r>
              <a:rPr lang="en-US" altLang="en-US" sz="2400" dirty="0">
                <a:cs typeface="Times New Roman" panose="02020603050405020304" pitchFamily="18" charset="0"/>
              </a:rPr>
              <a:t> </a:t>
            </a:r>
            <a:r>
              <a:rPr lang="en-US" altLang="en-US" sz="2400" dirty="0" err="1">
                <a:cs typeface="Times New Roman" panose="02020603050405020304" pitchFamily="18" charset="0"/>
              </a:rPr>
              <a:t>sắp</a:t>
            </a:r>
            <a:r>
              <a:rPr lang="en-US" altLang="en-US" sz="2400" dirty="0">
                <a:cs typeface="Times New Roman" panose="02020603050405020304" pitchFamily="18" charset="0"/>
              </a:rPr>
              <a:t> </a:t>
            </a:r>
            <a:r>
              <a:rPr lang="en-US" altLang="en-US" sz="2400" dirty="0" err="1">
                <a:cs typeface="Times New Roman" panose="02020603050405020304" pitchFamily="18" charset="0"/>
              </a:rPr>
              <a:t>xếp</a:t>
            </a:r>
            <a:r>
              <a:rPr lang="en-US" altLang="en-US" sz="2400" dirty="0">
                <a:cs typeface="Times New Roman" panose="02020603050405020304" pitchFamily="18" charset="0"/>
              </a:rPr>
              <a:t> </a:t>
            </a:r>
            <a:r>
              <a:rPr lang="en-US" altLang="en-US" sz="2400" dirty="0" err="1">
                <a:cs typeface="Times New Roman" panose="02020603050405020304" pitchFamily="18" charset="0"/>
              </a:rPr>
              <a:t>lại</a:t>
            </a:r>
            <a:r>
              <a:rPr lang="en-US" altLang="en-US" sz="2400" dirty="0">
                <a:cs typeface="Times New Roman" panose="02020603050405020304" pitchFamily="18" charset="0"/>
              </a:rPr>
              <a:t> </a:t>
            </a:r>
            <a:r>
              <a:rPr lang="en-US" altLang="en-US" sz="2400" dirty="0" err="1">
                <a:cs typeface="Times New Roman" panose="02020603050405020304" pitchFamily="18" charset="0"/>
              </a:rPr>
              <a:t>để</a:t>
            </a:r>
            <a:r>
              <a:rPr lang="en-US" altLang="en-US" sz="2400" dirty="0">
                <a:cs typeface="Times New Roman" panose="02020603050405020304" pitchFamily="18" charset="0"/>
              </a:rPr>
              <a:t> </a:t>
            </a:r>
            <a:r>
              <a:rPr lang="en-US" altLang="en-US" sz="2400" dirty="0" err="1">
                <a:cs typeface="Times New Roman" panose="02020603050405020304" pitchFamily="18" charset="0"/>
              </a:rPr>
              <a:t>đảm</a:t>
            </a:r>
            <a:r>
              <a:rPr lang="en-US" altLang="en-US" sz="2400" dirty="0">
                <a:cs typeface="Times New Roman" panose="02020603050405020304" pitchFamily="18" charset="0"/>
              </a:rPr>
              <a:t> </a:t>
            </a:r>
            <a:r>
              <a:rPr lang="en-US" altLang="en-US" sz="2400" dirty="0" err="1">
                <a:cs typeface="Times New Roman" panose="02020603050405020304" pitchFamily="18" charset="0"/>
              </a:rPr>
              <a:t>bảo</a:t>
            </a:r>
            <a:r>
              <a:rPr lang="en-US" altLang="en-US" sz="2400" dirty="0">
                <a:cs typeface="Times New Roman" panose="02020603050405020304" pitchFamily="18" charset="0"/>
              </a:rPr>
              <a:t> </a:t>
            </a:r>
            <a:r>
              <a:rPr lang="en-US" altLang="en-US" sz="2400" dirty="0" err="1">
                <a:cs typeface="Times New Roman" panose="02020603050405020304" pitchFamily="18" charset="0"/>
              </a:rPr>
              <a:t>tính</a:t>
            </a:r>
            <a:r>
              <a:rPr lang="en-US" altLang="en-US" sz="2400" dirty="0">
                <a:cs typeface="Times New Roman" panose="02020603050405020304" pitchFamily="18" charset="0"/>
              </a:rPr>
              <a:t> </a:t>
            </a:r>
            <a:r>
              <a:rPr lang="en-US" altLang="en-US" sz="2400" dirty="0" err="1">
                <a:cs typeface="Times New Roman" panose="02020603050405020304" pitchFamily="18" charset="0"/>
              </a:rPr>
              <a:t>chất</a:t>
            </a:r>
            <a:r>
              <a:rPr lang="en-US" altLang="en-US" sz="2400" dirty="0">
                <a:cs typeface="Times New Roman" panose="02020603050405020304" pitchFamily="18" charset="0"/>
              </a:rPr>
              <a:t> </a:t>
            </a:r>
            <a:r>
              <a:rPr lang="en-US" altLang="en-US" sz="2400" dirty="0" err="1">
                <a:cs typeface="Times New Roman" panose="02020603050405020304" pitchFamily="18" charset="0"/>
              </a:rPr>
              <a:t>cây</a:t>
            </a:r>
            <a:r>
              <a:rPr lang="en-US" altLang="en-US" sz="2400" dirty="0">
                <a:cs typeface="Times New Roman" panose="02020603050405020304" pitchFamily="18" charset="0"/>
              </a:rPr>
              <a:t> </a:t>
            </a:r>
            <a:r>
              <a:rPr lang="en-US" altLang="en-US" sz="2400" dirty="0" err="1">
                <a:cs typeface="Times New Roman" panose="02020603050405020304" pitchFamily="18" charset="0"/>
              </a:rPr>
              <a:t>tìm</a:t>
            </a:r>
            <a:r>
              <a:rPr lang="en-US" altLang="en-US" sz="2400" dirty="0">
                <a:cs typeface="Times New Roman" panose="02020603050405020304" pitchFamily="18" charset="0"/>
              </a:rPr>
              <a:t> </a:t>
            </a:r>
            <a:r>
              <a:rPr lang="en-US" altLang="en-US" sz="2400" dirty="0" err="1">
                <a:cs typeface="Times New Roman" panose="02020603050405020304" pitchFamily="18" charset="0"/>
              </a:rPr>
              <a:t>kiếm</a:t>
            </a:r>
            <a:r>
              <a:rPr lang="en-US" altLang="en-US" sz="2400" dirty="0">
                <a:cs typeface="Times New Roman" panose="02020603050405020304" pitchFamily="18" charset="0"/>
              </a:rPr>
              <a:t> NP</a:t>
            </a:r>
          </a:p>
          <a:p>
            <a:pPr lvl="1">
              <a:lnSpc>
                <a:spcPct val="90000"/>
              </a:lnSpc>
              <a:spcBef>
                <a:spcPct val="15000"/>
              </a:spcBef>
            </a:pPr>
            <a:endParaRPr lang="en-US" altLang="en-US" sz="2400" dirty="0">
              <a:cs typeface="Times New Roman" panose="02020603050405020304" pitchFamily="18" charset="0"/>
            </a:endParaRPr>
          </a:p>
          <a:p>
            <a:pPr lvl="1" eaLnBrk="1" hangingPunct="1">
              <a:spcBef>
                <a:spcPct val="15000"/>
              </a:spcBef>
            </a:pPr>
            <a:endParaRPr lang="en-US" altLang="en-US" sz="2000" dirty="0">
              <a:cs typeface="Times New Roman" panose="02020603050405020304" pitchFamily="18" charset="0"/>
            </a:endParaRPr>
          </a:p>
        </p:txBody>
      </p:sp>
      <p:sp>
        <p:nvSpPr>
          <p:cNvPr id="46089" name="Text Box 126"/>
          <p:cNvSpPr txBox="1">
            <a:spLocks noChangeArrowheads="1"/>
          </p:cNvSpPr>
          <p:nvPr/>
        </p:nvSpPr>
        <p:spPr bwMode="auto">
          <a:xfrm>
            <a:off x="1400175" y="2325114"/>
            <a:ext cx="581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dirty="0"/>
              <a:t>x=9</a:t>
            </a:r>
          </a:p>
        </p:txBody>
      </p:sp>
      <p:grpSp>
        <p:nvGrpSpPr>
          <p:cNvPr id="46094" name="Group 139"/>
          <p:cNvGrpSpPr>
            <a:grpSpLocks/>
          </p:cNvGrpSpPr>
          <p:nvPr/>
        </p:nvGrpSpPr>
        <p:grpSpPr bwMode="auto">
          <a:xfrm>
            <a:off x="1524000" y="2477514"/>
            <a:ext cx="2312987" cy="4038600"/>
            <a:chOff x="3631" y="1296"/>
            <a:chExt cx="1457" cy="2544"/>
          </a:xfrm>
        </p:grpSpPr>
        <p:sp>
          <p:nvSpPr>
            <p:cNvPr id="46103" name="Line 110"/>
            <p:cNvSpPr>
              <a:spLocks noChangeShapeType="1"/>
            </p:cNvSpPr>
            <p:nvPr/>
          </p:nvSpPr>
          <p:spPr bwMode="auto">
            <a:xfrm>
              <a:off x="4783" y="2112"/>
              <a:ext cx="192"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04" name="Oval 112"/>
            <p:cNvSpPr>
              <a:spLocks noChangeArrowheads="1"/>
            </p:cNvSpPr>
            <p:nvPr/>
          </p:nvSpPr>
          <p:spPr bwMode="auto">
            <a:xfrm>
              <a:off x="4255" y="1296"/>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4</a:t>
              </a:r>
            </a:p>
          </p:txBody>
        </p:sp>
        <p:sp>
          <p:nvSpPr>
            <p:cNvPr id="46105" name="Oval 113"/>
            <p:cNvSpPr>
              <a:spLocks noChangeArrowheads="1"/>
            </p:cNvSpPr>
            <p:nvPr/>
          </p:nvSpPr>
          <p:spPr bwMode="auto">
            <a:xfrm>
              <a:off x="3871" y="1872"/>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2</a:t>
              </a:r>
            </a:p>
          </p:txBody>
        </p:sp>
        <p:sp>
          <p:nvSpPr>
            <p:cNvPr id="46106" name="Line 114"/>
            <p:cNvSpPr>
              <a:spLocks noChangeShapeType="1"/>
            </p:cNvSpPr>
            <p:nvPr/>
          </p:nvSpPr>
          <p:spPr bwMode="auto">
            <a:xfrm flipH="1">
              <a:off x="3989" y="1488"/>
              <a:ext cx="288"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07" name="Line 115"/>
            <p:cNvSpPr>
              <a:spLocks noChangeShapeType="1"/>
            </p:cNvSpPr>
            <p:nvPr/>
          </p:nvSpPr>
          <p:spPr bwMode="auto">
            <a:xfrm>
              <a:off x="4447" y="1536"/>
              <a:ext cx="192"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08" name="Oval 116"/>
            <p:cNvSpPr>
              <a:spLocks noChangeArrowheads="1"/>
            </p:cNvSpPr>
            <p:nvPr/>
          </p:nvSpPr>
          <p:spPr bwMode="auto">
            <a:xfrm>
              <a:off x="4591" y="1872"/>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9</a:t>
              </a:r>
            </a:p>
          </p:txBody>
        </p:sp>
        <p:sp>
          <p:nvSpPr>
            <p:cNvPr id="46109" name="Oval 117"/>
            <p:cNvSpPr>
              <a:spLocks noChangeArrowheads="1"/>
            </p:cNvSpPr>
            <p:nvPr/>
          </p:nvSpPr>
          <p:spPr bwMode="auto">
            <a:xfrm>
              <a:off x="4207" y="244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8</a:t>
              </a:r>
            </a:p>
          </p:txBody>
        </p:sp>
        <p:sp>
          <p:nvSpPr>
            <p:cNvPr id="46110" name="Line 118"/>
            <p:cNvSpPr>
              <a:spLocks noChangeShapeType="1"/>
            </p:cNvSpPr>
            <p:nvPr/>
          </p:nvSpPr>
          <p:spPr bwMode="auto">
            <a:xfrm flipH="1">
              <a:off x="4368" y="2064"/>
              <a:ext cx="245"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1" name="Oval 119"/>
            <p:cNvSpPr>
              <a:spLocks noChangeArrowheads="1"/>
            </p:cNvSpPr>
            <p:nvPr/>
          </p:nvSpPr>
          <p:spPr bwMode="auto">
            <a:xfrm>
              <a:off x="4857" y="244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11</a:t>
              </a:r>
            </a:p>
          </p:txBody>
        </p:sp>
        <p:sp>
          <p:nvSpPr>
            <p:cNvPr id="46112" name="Oval 120"/>
            <p:cNvSpPr>
              <a:spLocks noChangeArrowheads="1"/>
            </p:cNvSpPr>
            <p:nvPr/>
          </p:nvSpPr>
          <p:spPr bwMode="auto">
            <a:xfrm>
              <a:off x="3919" y="3024"/>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6</a:t>
              </a:r>
            </a:p>
          </p:txBody>
        </p:sp>
        <p:sp>
          <p:nvSpPr>
            <p:cNvPr id="46113" name="Oval 121"/>
            <p:cNvSpPr>
              <a:spLocks noChangeArrowheads="1"/>
            </p:cNvSpPr>
            <p:nvPr/>
          </p:nvSpPr>
          <p:spPr bwMode="auto">
            <a:xfrm>
              <a:off x="3631" y="3600"/>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5</a:t>
              </a:r>
            </a:p>
          </p:txBody>
        </p:sp>
        <p:sp>
          <p:nvSpPr>
            <p:cNvPr id="46114" name="Line 122"/>
            <p:cNvSpPr>
              <a:spLocks noChangeShapeType="1"/>
            </p:cNvSpPr>
            <p:nvPr/>
          </p:nvSpPr>
          <p:spPr bwMode="auto">
            <a:xfrm flipH="1">
              <a:off x="3775" y="3264"/>
              <a:ext cx="192"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5" name="Line 123"/>
            <p:cNvSpPr>
              <a:spLocks noChangeShapeType="1"/>
            </p:cNvSpPr>
            <p:nvPr/>
          </p:nvSpPr>
          <p:spPr bwMode="auto">
            <a:xfrm flipV="1">
              <a:off x="4063" y="2688"/>
              <a:ext cx="192"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6" name="Oval 124"/>
            <p:cNvSpPr>
              <a:spLocks noChangeArrowheads="1"/>
            </p:cNvSpPr>
            <p:nvPr/>
          </p:nvSpPr>
          <p:spPr bwMode="auto">
            <a:xfrm>
              <a:off x="4224" y="3600"/>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7</a:t>
              </a:r>
            </a:p>
          </p:txBody>
        </p:sp>
        <p:sp>
          <p:nvSpPr>
            <p:cNvPr id="46117" name="Line 125"/>
            <p:cNvSpPr>
              <a:spLocks noChangeShapeType="1"/>
            </p:cNvSpPr>
            <p:nvPr/>
          </p:nvSpPr>
          <p:spPr bwMode="auto">
            <a:xfrm>
              <a:off x="4080" y="3264"/>
              <a:ext cx="24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8" name="Line 135"/>
            <p:cNvSpPr>
              <a:spLocks noChangeShapeType="1"/>
            </p:cNvSpPr>
            <p:nvPr/>
          </p:nvSpPr>
          <p:spPr bwMode="auto">
            <a:xfrm flipH="1">
              <a:off x="4752" y="2688"/>
              <a:ext cx="192"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9" name="Oval 136"/>
            <p:cNvSpPr>
              <a:spLocks noChangeArrowheads="1"/>
            </p:cNvSpPr>
            <p:nvPr/>
          </p:nvSpPr>
          <p:spPr bwMode="auto">
            <a:xfrm>
              <a:off x="4608" y="3024"/>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10</a:t>
              </a:r>
            </a:p>
          </p:txBody>
        </p:sp>
      </p:grpSp>
      <p:cxnSp>
        <p:nvCxnSpPr>
          <p:cNvPr id="46095" name="AutoShape 140"/>
          <p:cNvCxnSpPr>
            <a:cxnSpLocks noChangeShapeType="1"/>
            <a:endCxn id="46108" idx="2"/>
          </p:cNvCxnSpPr>
          <p:nvPr/>
        </p:nvCxnSpPr>
        <p:spPr bwMode="auto">
          <a:xfrm rot="-5400000">
            <a:off x="2347912" y="3699889"/>
            <a:ext cx="817563" cy="582613"/>
          </a:xfrm>
          <a:prstGeom prst="curvedConnector2">
            <a:avLst/>
          </a:prstGeom>
          <a:noFill/>
          <a:ln w="28575">
            <a:solidFill>
              <a:srgbClr val="FF0000"/>
            </a:solidFill>
            <a:prstDash val="lgDash"/>
            <a:round/>
            <a:headEnd type="none" w="med" len="med"/>
            <a:tailEnd type="arrow" w="med" len="med"/>
          </a:ln>
          <a:extLst>
            <a:ext uri="{909E8E84-426E-40DD-AFC4-6F175D3DCCD1}">
              <a14:hiddenFill xmlns:a14="http://schemas.microsoft.com/office/drawing/2010/main">
                <a:noFill/>
              </a14:hiddenFill>
            </a:ext>
          </a:extLst>
        </p:spPr>
      </p:cxnSp>
      <p:cxnSp>
        <p:nvCxnSpPr>
          <p:cNvPr id="46096" name="AutoShape 141"/>
          <p:cNvCxnSpPr>
            <a:cxnSpLocks noChangeShapeType="1"/>
            <a:stCxn id="46119" idx="7"/>
            <a:endCxn id="46108" idx="6"/>
          </p:cNvCxnSpPr>
          <p:nvPr/>
        </p:nvCxnSpPr>
        <p:spPr bwMode="auto">
          <a:xfrm rot="5400000" flipH="1" flipV="1">
            <a:off x="2554305" y="4416104"/>
            <a:ext cx="1694096" cy="26717"/>
          </a:xfrm>
          <a:prstGeom prst="curvedConnector4">
            <a:avLst>
              <a:gd name="adj1" fmla="val 2999"/>
              <a:gd name="adj2" fmla="val 2239087"/>
            </a:avLst>
          </a:prstGeom>
          <a:noFill/>
          <a:ln w="28575">
            <a:solidFill>
              <a:srgbClr val="FF0000"/>
            </a:solidFill>
            <a:prstDash val="lgDash"/>
            <a:round/>
            <a:headEnd type="none" w="med" len="med"/>
            <a:tailEnd type="arrow" w="med" len="med"/>
          </a:ln>
          <a:extLst>
            <a:ext uri="{909E8E84-426E-40DD-AFC4-6F175D3DCCD1}">
              <a14:hiddenFill xmlns:a14="http://schemas.microsoft.com/office/drawing/2010/main">
                <a:noFill/>
              </a14:hiddenFill>
            </a:ext>
          </a:extLst>
        </p:spPr>
      </p:cxnSp>
      <p:sp>
        <p:nvSpPr>
          <p:cNvPr id="46101" name="Text Box 146"/>
          <p:cNvSpPr txBox="1">
            <a:spLocks noChangeArrowheads="1"/>
          </p:cNvSpPr>
          <p:nvPr/>
        </p:nvSpPr>
        <p:spPr bwMode="auto">
          <a:xfrm>
            <a:off x="1381918" y="2044700"/>
            <a:ext cx="23352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dirty="0" err="1"/>
              <a:t>Xóa</a:t>
            </a:r>
            <a:r>
              <a:rPr lang="en-US" altLang="en-US" sz="2000" dirty="0"/>
              <a:t> </a:t>
            </a:r>
            <a:r>
              <a:rPr lang="en-US" altLang="en-US" sz="2000" dirty="0" err="1"/>
              <a:t>nút</a:t>
            </a:r>
            <a:r>
              <a:rPr lang="en-US" altLang="en-US" sz="2000" dirty="0"/>
              <a:t> </a:t>
            </a:r>
            <a:r>
              <a:rPr lang="en-US" altLang="en-US" sz="2000" dirty="0" err="1"/>
              <a:t>có</a:t>
            </a:r>
            <a:r>
              <a:rPr lang="en-US" altLang="en-US" sz="2000" dirty="0"/>
              <a:t> 2 </a:t>
            </a:r>
            <a:r>
              <a:rPr lang="en-US" altLang="en-US" sz="2000" dirty="0" err="1"/>
              <a:t>cây</a:t>
            </a:r>
            <a:r>
              <a:rPr lang="en-US" altLang="en-US" sz="2000" dirty="0"/>
              <a:t> con</a:t>
            </a:r>
          </a:p>
        </p:txBody>
      </p:sp>
      <p:sp>
        <p:nvSpPr>
          <p:cNvPr id="5" name="Rectangle 4"/>
          <p:cNvSpPr/>
          <p:nvPr/>
        </p:nvSpPr>
        <p:spPr>
          <a:xfrm>
            <a:off x="1309599" y="4487080"/>
            <a:ext cx="1222964" cy="338554"/>
          </a:xfrm>
          <a:prstGeom prst="rect">
            <a:avLst/>
          </a:prstGeom>
          <a:ln>
            <a:noFill/>
          </a:ln>
        </p:spPr>
        <p:txBody>
          <a:bodyPr wrap="none">
            <a:spAutoFit/>
          </a:bodyPr>
          <a:lstStyle/>
          <a:p>
            <a:r>
              <a:rPr lang="en-US" altLang="en-US" sz="1600" dirty="0">
                <a:cs typeface="Times New Roman" panose="02020603050405020304" pitchFamily="18" charset="0"/>
              </a:rPr>
              <a:t>Max(</a:t>
            </a:r>
            <a:r>
              <a:rPr lang="en-US" altLang="en-US" sz="1600" dirty="0" err="1">
                <a:cs typeface="Times New Roman" panose="02020603050405020304" pitchFamily="18" charset="0"/>
              </a:rPr>
              <a:t>LTree</a:t>
            </a:r>
            <a:r>
              <a:rPr lang="en-US" altLang="en-US" sz="1600" dirty="0">
                <a:cs typeface="Times New Roman" panose="02020603050405020304" pitchFamily="18" charset="0"/>
              </a:rPr>
              <a:t>)</a:t>
            </a:r>
            <a:endParaRPr lang="en-US" sz="1600" dirty="0"/>
          </a:p>
        </p:txBody>
      </p:sp>
      <p:sp>
        <p:nvSpPr>
          <p:cNvPr id="6" name="Rectangle 5"/>
          <p:cNvSpPr/>
          <p:nvPr/>
        </p:nvSpPr>
        <p:spPr>
          <a:xfrm>
            <a:off x="3231356" y="5592189"/>
            <a:ext cx="1210460" cy="338554"/>
          </a:xfrm>
          <a:prstGeom prst="rect">
            <a:avLst/>
          </a:prstGeom>
        </p:spPr>
        <p:txBody>
          <a:bodyPr wrap="none">
            <a:spAutoFit/>
          </a:bodyPr>
          <a:lstStyle/>
          <a:p>
            <a:r>
              <a:rPr lang="en-US" altLang="en-US" sz="1600" dirty="0">
                <a:cs typeface="Times New Roman" panose="02020603050405020304" pitchFamily="18" charset="0"/>
              </a:rPr>
              <a:t>Min(</a:t>
            </a:r>
            <a:r>
              <a:rPr lang="en-US" altLang="en-US" sz="1600" dirty="0" err="1">
                <a:cs typeface="Times New Roman" panose="02020603050405020304" pitchFamily="18" charset="0"/>
              </a:rPr>
              <a:t>RTree</a:t>
            </a:r>
            <a:r>
              <a:rPr lang="en-US" altLang="en-US" sz="1600" dirty="0">
                <a:cs typeface="Times New Roman" panose="02020603050405020304" pitchFamily="18" charset="0"/>
              </a:rPr>
              <a:t>)</a:t>
            </a:r>
            <a:endParaRPr lang="en-US" sz="1600" dirty="0"/>
          </a:p>
        </p:txBody>
      </p:sp>
      <p:sp>
        <p:nvSpPr>
          <p:cNvPr id="75" name="TextBox 74"/>
          <p:cNvSpPr txBox="1"/>
          <p:nvPr/>
        </p:nvSpPr>
        <p:spPr>
          <a:xfrm rot="17500463">
            <a:off x="1850979" y="3650566"/>
            <a:ext cx="1083537" cy="369332"/>
          </a:xfrm>
          <a:prstGeom prst="rect">
            <a:avLst/>
          </a:prstGeom>
          <a:noFill/>
        </p:spPr>
        <p:txBody>
          <a:bodyPr wrap="square" rtlCol="0">
            <a:spAutoFit/>
          </a:bodyPr>
          <a:lstStyle/>
          <a:p>
            <a:r>
              <a:rPr lang="en-US" dirty="0" err="1"/>
              <a:t>Thay</a:t>
            </a:r>
            <a:r>
              <a:rPr lang="en-US" dirty="0"/>
              <a:t> </a:t>
            </a:r>
            <a:r>
              <a:rPr lang="en-US" dirty="0" err="1"/>
              <a:t>thế</a:t>
            </a:r>
            <a:endParaRPr lang="en-US" dirty="0"/>
          </a:p>
        </p:txBody>
      </p:sp>
      <p:sp>
        <p:nvSpPr>
          <p:cNvPr id="76" name="TextBox 75"/>
          <p:cNvSpPr txBox="1"/>
          <p:nvPr/>
        </p:nvSpPr>
        <p:spPr>
          <a:xfrm rot="3221486">
            <a:off x="3554019" y="3601574"/>
            <a:ext cx="996298" cy="369332"/>
          </a:xfrm>
          <a:prstGeom prst="rect">
            <a:avLst/>
          </a:prstGeom>
          <a:noFill/>
        </p:spPr>
        <p:txBody>
          <a:bodyPr wrap="none" rtlCol="0">
            <a:spAutoFit/>
          </a:bodyPr>
          <a:lstStyle/>
          <a:p>
            <a:r>
              <a:rPr lang="en-US" dirty="0" err="1"/>
              <a:t>Thay</a:t>
            </a:r>
            <a:r>
              <a:rPr lang="en-US" dirty="0"/>
              <a:t> </a:t>
            </a:r>
            <a:r>
              <a:rPr lang="en-US" dirty="0" err="1"/>
              <a:t>thế</a:t>
            </a:r>
            <a:endParaRPr lang="en-US" dirty="0"/>
          </a:p>
        </p:txBody>
      </p:sp>
      <p:sp>
        <p:nvSpPr>
          <p:cNvPr id="3" name="Rectangle 2"/>
          <p:cNvSpPr/>
          <p:nvPr/>
        </p:nvSpPr>
        <p:spPr>
          <a:xfrm>
            <a:off x="4458495" y="2668014"/>
            <a:ext cx="4572000" cy="3277820"/>
          </a:xfrm>
          <a:prstGeom prst="rect">
            <a:avLst/>
          </a:prstGeom>
        </p:spPr>
        <p:txBody>
          <a:bodyPr>
            <a:spAutoFit/>
          </a:bodyPr>
          <a:lstStyle/>
          <a:p>
            <a:pPr marL="292100" lvl="2" indent="-285750">
              <a:lnSpc>
                <a:spcPct val="90000"/>
              </a:lnSpc>
              <a:spcBef>
                <a:spcPct val="15000"/>
              </a:spcBef>
              <a:buFont typeface="Arial" panose="020B0604020202020204" pitchFamily="34" charset="0"/>
              <a:buChar char="•"/>
            </a:pPr>
            <a:r>
              <a:rPr lang="en-US" altLang="en-US" dirty="0">
                <a:cs typeface="Times New Roman" panose="02020603050405020304" pitchFamily="18" charset="0"/>
              </a:rPr>
              <a:t>Max(</a:t>
            </a:r>
            <a:r>
              <a:rPr lang="en-US" altLang="en-US" dirty="0" err="1">
                <a:cs typeface="Times New Roman" panose="02020603050405020304" pitchFamily="18" charset="0"/>
              </a:rPr>
              <a:t>LTree</a:t>
            </a:r>
            <a:r>
              <a:rPr lang="en-US" altLang="en-US" dirty="0">
                <a:cs typeface="Times New Roman" panose="02020603050405020304" pitchFamily="18" charset="0"/>
              </a:rPr>
              <a:t>) </a:t>
            </a:r>
            <a:r>
              <a:rPr lang="en-US" altLang="en-US" dirty="0" err="1">
                <a:cs typeface="Times New Roman" panose="02020603050405020304" pitchFamily="18" charset="0"/>
              </a:rPr>
              <a:t>phần</a:t>
            </a:r>
            <a:r>
              <a:rPr lang="en-US" altLang="en-US" dirty="0">
                <a:cs typeface="Times New Roman" panose="02020603050405020304" pitchFamily="18" charset="0"/>
              </a:rPr>
              <a:t> </a:t>
            </a:r>
            <a:r>
              <a:rPr lang="en-US" altLang="en-US" dirty="0" err="1">
                <a:cs typeface="Times New Roman" panose="02020603050405020304" pitchFamily="18" charset="0"/>
              </a:rPr>
              <a:t>tử</a:t>
            </a:r>
            <a:r>
              <a:rPr lang="en-US" altLang="en-US" dirty="0">
                <a:cs typeface="Times New Roman" panose="02020603050405020304" pitchFamily="18" charset="0"/>
              </a:rPr>
              <a:t> </a:t>
            </a:r>
            <a:r>
              <a:rPr lang="en-US" altLang="en-US" dirty="0" err="1">
                <a:cs typeface="Times New Roman" panose="02020603050405020304" pitchFamily="18" charset="0"/>
              </a:rPr>
              <a:t>bên</a:t>
            </a:r>
            <a:r>
              <a:rPr lang="en-US" altLang="en-US" dirty="0">
                <a:cs typeface="Times New Roman" panose="02020603050405020304" pitchFamily="18" charset="0"/>
              </a:rPr>
              <a:t> </a:t>
            </a:r>
            <a:r>
              <a:rPr lang="en-US" altLang="en-US" dirty="0" err="1">
                <a:cs typeface="Times New Roman" panose="02020603050405020304" pitchFamily="18" charset="0"/>
              </a:rPr>
              <a:t>phải</a:t>
            </a:r>
            <a:r>
              <a:rPr lang="en-US" altLang="en-US" dirty="0">
                <a:cs typeface="Times New Roman" panose="02020603050405020304" pitchFamily="18" charset="0"/>
              </a:rPr>
              <a:t> </a:t>
            </a:r>
            <a:r>
              <a:rPr lang="en-US" altLang="en-US" dirty="0" err="1">
                <a:cs typeface="Times New Roman" panose="02020603050405020304" pitchFamily="18" charset="0"/>
              </a:rPr>
              <a:t>ngoài</a:t>
            </a:r>
            <a:r>
              <a:rPr lang="en-US" altLang="en-US" dirty="0">
                <a:cs typeface="Times New Roman" panose="02020603050405020304" pitchFamily="18" charset="0"/>
              </a:rPr>
              <a:t> </a:t>
            </a:r>
            <a:r>
              <a:rPr lang="en-US" altLang="en-US" dirty="0" err="1">
                <a:cs typeface="Times New Roman" panose="02020603050405020304" pitchFamily="18" charset="0"/>
              </a:rPr>
              <a:t>cùng</a:t>
            </a:r>
            <a:r>
              <a:rPr lang="en-US" altLang="en-US" dirty="0">
                <a:cs typeface="Times New Roman" panose="02020603050405020304" pitchFamily="18" charset="0"/>
              </a:rPr>
              <a:t> </a:t>
            </a:r>
            <a:r>
              <a:rPr lang="en-US" altLang="en-US" dirty="0" err="1">
                <a:cs typeface="Times New Roman" panose="02020603050405020304" pitchFamily="18" charset="0"/>
              </a:rPr>
              <a:t>của</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con </a:t>
            </a:r>
            <a:r>
              <a:rPr lang="en-US" altLang="en-US" dirty="0" err="1">
                <a:cs typeface="Times New Roman" panose="02020603050405020304" pitchFamily="18" charset="0"/>
              </a:rPr>
              <a:t>Ltree</a:t>
            </a:r>
            <a:r>
              <a:rPr lang="en-US" altLang="en-US" dirty="0">
                <a:cs typeface="Times New Roman" panose="02020603050405020304" pitchFamily="18" charset="0"/>
              </a:rPr>
              <a:t>:</a:t>
            </a:r>
            <a:r>
              <a:rPr lang="en-US" altLang="en-US" i="1" dirty="0">
                <a:cs typeface="Times New Roman" panose="02020603050405020304" pitchFamily="18" charset="0"/>
              </a:rPr>
              <a:t> </a:t>
            </a:r>
          </a:p>
          <a:p>
            <a:pPr marL="749300" lvl="3" indent="-285750">
              <a:lnSpc>
                <a:spcPct val="90000"/>
              </a:lnSpc>
              <a:spcBef>
                <a:spcPct val="15000"/>
              </a:spcBef>
              <a:buFont typeface="Arial" panose="020B0604020202020204" pitchFamily="34" charset="0"/>
              <a:buChar char="•"/>
            </a:pPr>
            <a:r>
              <a:rPr lang="en-US" altLang="en-US" i="1" dirty="0" err="1">
                <a:cs typeface="Times New Roman" panose="02020603050405020304" pitchFamily="18" charset="0"/>
              </a:rPr>
              <a:t>luôn</a:t>
            </a:r>
            <a:r>
              <a:rPr lang="en-US" altLang="en-US" i="1" dirty="0">
                <a:cs typeface="Times New Roman" panose="02020603050405020304" pitchFamily="18" charset="0"/>
              </a:rPr>
              <a:t> </a:t>
            </a:r>
            <a:r>
              <a:rPr lang="en-US" altLang="en-US" i="1" dirty="0" err="1">
                <a:cs typeface="Times New Roman" panose="02020603050405020304" pitchFamily="18" charset="0"/>
              </a:rPr>
              <a:t>đi</a:t>
            </a:r>
            <a:r>
              <a:rPr lang="en-US" altLang="en-US" i="1" dirty="0">
                <a:cs typeface="Times New Roman" panose="02020603050405020304" pitchFamily="18" charset="0"/>
              </a:rPr>
              <a:t> </a:t>
            </a:r>
            <a:r>
              <a:rPr lang="en-US" altLang="en-US" i="1" dirty="0" err="1">
                <a:cs typeface="Times New Roman" panose="02020603050405020304" pitchFamily="18" charset="0"/>
              </a:rPr>
              <a:t>theo</a:t>
            </a:r>
            <a:r>
              <a:rPr lang="en-US" altLang="en-US" i="1" dirty="0">
                <a:cs typeface="Times New Roman" panose="02020603050405020304" pitchFamily="18" charset="0"/>
              </a:rPr>
              <a:t> </a:t>
            </a:r>
            <a:r>
              <a:rPr lang="en-US" altLang="en-US" i="1" dirty="0" err="1">
                <a:cs typeface="Times New Roman" panose="02020603050405020304" pitchFamily="18" charset="0"/>
              </a:rPr>
              <a:t>bên</a:t>
            </a:r>
            <a:r>
              <a:rPr lang="en-US" altLang="en-US" i="1" dirty="0">
                <a:cs typeface="Times New Roman" panose="02020603050405020304" pitchFamily="18" charset="0"/>
              </a:rPr>
              <a:t> </a:t>
            </a:r>
            <a:r>
              <a:rPr lang="en-US" altLang="en-US" i="1" dirty="0" err="1">
                <a:cs typeface="Times New Roman" panose="02020603050405020304" pitchFamily="18" charset="0"/>
              </a:rPr>
              <a:t>phải</a:t>
            </a:r>
            <a:r>
              <a:rPr lang="en-US" altLang="en-US" i="1" dirty="0">
                <a:cs typeface="Times New Roman" panose="02020603050405020304" pitchFamily="18" charset="0"/>
              </a:rPr>
              <a:t> </a:t>
            </a:r>
            <a:r>
              <a:rPr lang="en-US" altLang="en-US" i="1" dirty="0" err="1">
                <a:cs typeface="Times New Roman" panose="02020603050405020304" pitchFamily="18" charset="0"/>
              </a:rPr>
              <a:t>của</a:t>
            </a:r>
            <a:r>
              <a:rPr lang="en-US" altLang="en-US" i="1" dirty="0">
                <a:cs typeface="Times New Roman" panose="02020603050405020304" pitchFamily="18" charset="0"/>
              </a:rPr>
              <a:t> </a:t>
            </a:r>
            <a:r>
              <a:rPr lang="en-US" altLang="en-US" i="1" dirty="0" err="1">
                <a:cs typeface="Times New Roman" panose="02020603050405020304" pitchFamily="18" charset="0"/>
              </a:rPr>
              <a:t>cây</a:t>
            </a:r>
            <a:r>
              <a:rPr lang="en-US" altLang="en-US" i="1" dirty="0">
                <a:cs typeface="Times New Roman" panose="02020603050405020304" pitchFamily="18" charset="0"/>
              </a:rPr>
              <a:t> </a:t>
            </a:r>
            <a:r>
              <a:rPr lang="en-US" altLang="en-US" i="1" dirty="0" err="1">
                <a:cs typeface="Times New Roman" panose="02020603050405020304" pitchFamily="18" charset="0"/>
              </a:rPr>
              <a:t>LTree</a:t>
            </a:r>
            <a:r>
              <a:rPr lang="en-US" altLang="en-US" i="1" dirty="0">
                <a:cs typeface="Times New Roman" panose="02020603050405020304" pitchFamily="18" charset="0"/>
              </a:rPr>
              <a:t> </a:t>
            </a:r>
            <a:r>
              <a:rPr lang="en-US" altLang="en-US" i="1" dirty="0" err="1">
                <a:cs typeface="Times New Roman" panose="02020603050405020304" pitchFamily="18" charset="0"/>
              </a:rPr>
              <a:t>đến</a:t>
            </a:r>
            <a:r>
              <a:rPr lang="en-US" altLang="en-US" i="1" dirty="0">
                <a:cs typeface="Times New Roman" panose="02020603050405020304" pitchFamily="18" charset="0"/>
              </a:rPr>
              <a:t> </a:t>
            </a:r>
            <a:r>
              <a:rPr lang="en-US" altLang="en-US" i="1" dirty="0" err="1">
                <a:cs typeface="Times New Roman" panose="02020603050405020304" pitchFamily="18" charset="0"/>
              </a:rPr>
              <a:t>khi</a:t>
            </a:r>
            <a:r>
              <a:rPr lang="en-US" altLang="en-US" i="1" dirty="0">
                <a:cs typeface="Times New Roman" panose="02020603050405020304" pitchFamily="18" charset="0"/>
              </a:rPr>
              <a:t> </a:t>
            </a:r>
            <a:r>
              <a:rPr lang="en-US" altLang="en-US" i="1" dirty="0" err="1">
                <a:cs typeface="Times New Roman" panose="02020603050405020304" pitchFamily="18" charset="0"/>
              </a:rPr>
              <a:t>không</a:t>
            </a:r>
            <a:r>
              <a:rPr lang="en-US" altLang="en-US" i="1" dirty="0">
                <a:cs typeface="Times New Roman" panose="02020603050405020304" pitchFamily="18" charset="0"/>
              </a:rPr>
              <a:t> </a:t>
            </a:r>
            <a:r>
              <a:rPr lang="en-US" altLang="en-US" i="1" dirty="0" err="1">
                <a:cs typeface="Times New Roman" panose="02020603050405020304" pitchFamily="18" charset="0"/>
              </a:rPr>
              <a:t>được</a:t>
            </a:r>
            <a:r>
              <a:rPr lang="en-US" altLang="en-US" i="1" dirty="0">
                <a:cs typeface="Times New Roman" panose="02020603050405020304" pitchFamily="18" charset="0"/>
              </a:rPr>
              <a:t> </a:t>
            </a:r>
            <a:r>
              <a:rPr lang="en-US" altLang="en-US" i="1" dirty="0" err="1">
                <a:cs typeface="Times New Roman" panose="02020603050405020304" pitchFamily="18" charset="0"/>
              </a:rPr>
              <a:t>nữa</a:t>
            </a:r>
            <a:r>
              <a:rPr lang="en-US" altLang="en-US" i="1" dirty="0">
                <a:cs typeface="Times New Roman" panose="02020603050405020304" pitchFamily="18" charset="0"/>
              </a:rPr>
              <a:t> Q-&gt;RP=NULL </a:t>
            </a:r>
            <a:r>
              <a:rPr lang="en-US" altLang="en-US" i="1" dirty="0" err="1">
                <a:cs typeface="Times New Roman" panose="02020603050405020304" pitchFamily="18" charset="0"/>
              </a:rPr>
              <a:t>thì</a:t>
            </a:r>
            <a:r>
              <a:rPr lang="en-US" altLang="en-US" i="1" dirty="0">
                <a:cs typeface="Times New Roman" panose="02020603050405020304" pitchFamily="18" charset="0"/>
              </a:rPr>
              <a:t> Q </a:t>
            </a:r>
            <a:r>
              <a:rPr lang="en-US" altLang="en-US" i="1" dirty="0" err="1">
                <a:cs typeface="Times New Roman" panose="02020603050405020304" pitchFamily="18" charset="0"/>
              </a:rPr>
              <a:t>là</a:t>
            </a:r>
            <a:r>
              <a:rPr lang="en-US" altLang="en-US" i="1" dirty="0">
                <a:cs typeface="Times New Roman" panose="02020603050405020304" pitchFamily="18" charset="0"/>
              </a:rPr>
              <a:t> </a:t>
            </a:r>
            <a:r>
              <a:rPr lang="en-US" altLang="en-US" i="1" dirty="0" err="1">
                <a:cs typeface="Times New Roman" panose="02020603050405020304" pitchFamily="18" charset="0"/>
              </a:rPr>
              <a:t>nút</a:t>
            </a:r>
            <a:r>
              <a:rPr lang="en-US" altLang="en-US" i="1" dirty="0">
                <a:cs typeface="Times New Roman" panose="02020603050405020304" pitchFamily="18" charset="0"/>
              </a:rPr>
              <a:t> </a:t>
            </a:r>
            <a:r>
              <a:rPr lang="en-US" altLang="en-US" i="1" dirty="0" err="1">
                <a:cs typeface="Times New Roman" panose="02020603050405020304" pitchFamily="18" charset="0"/>
              </a:rPr>
              <a:t>ngoài</a:t>
            </a:r>
            <a:r>
              <a:rPr lang="en-US" altLang="en-US" i="1" dirty="0">
                <a:cs typeface="Times New Roman" panose="02020603050405020304" pitchFamily="18" charset="0"/>
              </a:rPr>
              <a:t> </a:t>
            </a:r>
            <a:r>
              <a:rPr lang="en-US" altLang="en-US" i="1" dirty="0" err="1">
                <a:cs typeface="Times New Roman" panose="02020603050405020304" pitchFamily="18" charset="0"/>
              </a:rPr>
              <a:t>cùng</a:t>
            </a:r>
            <a:r>
              <a:rPr lang="en-US" altLang="en-US" i="1" dirty="0">
                <a:cs typeface="Times New Roman" panose="02020603050405020304" pitchFamily="18" charset="0"/>
              </a:rPr>
              <a:t> </a:t>
            </a:r>
            <a:r>
              <a:rPr lang="en-US" altLang="en-US" i="1" dirty="0" err="1">
                <a:cs typeface="Times New Roman" panose="02020603050405020304" pitchFamily="18" charset="0"/>
              </a:rPr>
              <a:t>bên</a:t>
            </a:r>
            <a:r>
              <a:rPr lang="en-US" altLang="en-US" i="1" dirty="0">
                <a:cs typeface="Times New Roman" panose="02020603050405020304" pitchFamily="18" charset="0"/>
              </a:rPr>
              <a:t> </a:t>
            </a:r>
            <a:r>
              <a:rPr lang="en-US" altLang="en-US" i="1" dirty="0" err="1">
                <a:cs typeface="Times New Roman" panose="02020603050405020304" pitchFamily="18" charset="0"/>
              </a:rPr>
              <a:t>phải</a:t>
            </a:r>
            <a:endParaRPr lang="en-US" altLang="en-US" dirty="0">
              <a:cs typeface="Times New Roman" panose="02020603050405020304" pitchFamily="18" charset="0"/>
            </a:endParaRPr>
          </a:p>
          <a:p>
            <a:pPr marL="292100" lvl="2" indent="-285750">
              <a:lnSpc>
                <a:spcPct val="90000"/>
              </a:lnSpc>
              <a:spcBef>
                <a:spcPct val="15000"/>
              </a:spcBef>
              <a:buFont typeface="Arial" panose="020B0604020202020204" pitchFamily="34" charset="0"/>
              <a:buChar char="•"/>
            </a:pPr>
            <a:endParaRPr lang="en-US" altLang="en-US" dirty="0">
              <a:cs typeface="Times New Roman" panose="02020603050405020304" pitchFamily="18" charset="0"/>
            </a:endParaRPr>
          </a:p>
          <a:p>
            <a:pPr marL="292100" lvl="2" indent="-285750">
              <a:lnSpc>
                <a:spcPct val="90000"/>
              </a:lnSpc>
              <a:spcBef>
                <a:spcPct val="15000"/>
              </a:spcBef>
              <a:buFont typeface="Arial" panose="020B0604020202020204" pitchFamily="34" charset="0"/>
              <a:buChar char="•"/>
            </a:pPr>
            <a:r>
              <a:rPr lang="en-US" altLang="en-US" dirty="0">
                <a:cs typeface="Times New Roman" panose="02020603050405020304" pitchFamily="18" charset="0"/>
              </a:rPr>
              <a:t>Min(</a:t>
            </a:r>
            <a:r>
              <a:rPr lang="en-US" altLang="en-US" dirty="0" err="1">
                <a:cs typeface="Times New Roman" panose="02020603050405020304" pitchFamily="18" charset="0"/>
              </a:rPr>
              <a:t>RTree</a:t>
            </a:r>
            <a:r>
              <a:rPr lang="en-US" altLang="en-US" dirty="0">
                <a:cs typeface="Times New Roman" panose="02020603050405020304" pitchFamily="18" charset="0"/>
              </a:rPr>
              <a:t>) </a:t>
            </a:r>
            <a:r>
              <a:rPr lang="en-US" altLang="en-US" dirty="0" err="1">
                <a:cs typeface="Times New Roman" panose="02020603050405020304" pitchFamily="18" charset="0"/>
              </a:rPr>
              <a:t>phần</a:t>
            </a:r>
            <a:r>
              <a:rPr lang="en-US" altLang="en-US" dirty="0">
                <a:cs typeface="Times New Roman" panose="02020603050405020304" pitchFamily="18" charset="0"/>
              </a:rPr>
              <a:t> </a:t>
            </a:r>
            <a:r>
              <a:rPr lang="en-US" altLang="en-US" dirty="0" err="1">
                <a:cs typeface="Times New Roman" panose="02020603050405020304" pitchFamily="18" charset="0"/>
              </a:rPr>
              <a:t>tử</a:t>
            </a:r>
            <a:r>
              <a:rPr lang="en-US" altLang="en-US" dirty="0">
                <a:cs typeface="Times New Roman" panose="02020603050405020304" pitchFamily="18" charset="0"/>
              </a:rPr>
              <a:t> </a:t>
            </a:r>
            <a:r>
              <a:rPr lang="en-US" altLang="en-US" dirty="0" err="1">
                <a:cs typeface="Times New Roman" panose="02020603050405020304" pitchFamily="18" charset="0"/>
              </a:rPr>
              <a:t>bên</a:t>
            </a:r>
            <a:r>
              <a:rPr lang="en-US" altLang="en-US" dirty="0">
                <a:cs typeface="Times New Roman" panose="02020603050405020304" pitchFamily="18" charset="0"/>
              </a:rPr>
              <a:t> </a:t>
            </a:r>
            <a:r>
              <a:rPr lang="en-US" altLang="en-US" dirty="0" err="1">
                <a:cs typeface="Times New Roman" panose="02020603050405020304" pitchFamily="18" charset="0"/>
              </a:rPr>
              <a:t>trái</a:t>
            </a:r>
            <a:r>
              <a:rPr lang="en-US" altLang="en-US" dirty="0">
                <a:cs typeface="Times New Roman" panose="02020603050405020304" pitchFamily="18" charset="0"/>
              </a:rPr>
              <a:t> </a:t>
            </a:r>
            <a:r>
              <a:rPr lang="en-US" altLang="en-US" dirty="0" err="1">
                <a:cs typeface="Times New Roman" panose="02020603050405020304" pitchFamily="18" charset="0"/>
              </a:rPr>
              <a:t>ngoài</a:t>
            </a:r>
            <a:r>
              <a:rPr lang="en-US" altLang="en-US" dirty="0">
                <a:cs typeface="Times New Roman" panose="02020603050405020304" pitchFamily="18" charset="0"/>
              </a:rPr>
              <a:t> </a:t>
            </a:r>
            <a:r>
              <a:rPr lang="en-US" altLang="en-US" dirty="0" err="1">
                <a:cs typeface="Times New Roman" panose="02020603050405020304" pitchFamily="18" charset="0"/>
              </a:rPr>
              <a:t>cùng</a:t>
            </a:r>
            <a:r>
              <a:rPr lang="en-US" altLang="en-US" dirty="0">
                <a:cs typeface="Times New Roman" panose="02020603050405020304" pitchFamily="18" charset="0"/>
              </a:rPr>
              <a:t> </a:t>
            </a:r>
            <a:r>
              <a:rPr lang="en-US" altLang="en-US" dirty="0" err="1">
                <a:cs typeface="Times New Roman" panose="02020603050405020304" pitchFamily="18" charset="0"/>
              </a:rPr>
              <a:t>của</a:t>
            </a:r>
            <a:r>
              <a:rPr lang="en-US" altLang="en-US"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con </a:t>
            </a:r>
            <a:r>
              <a:rPr lang="en-US" altLang="en-US" dirty="0" err="1">
                <a:cs typeface="Times New Roman" panose="02020603050405020304" pitchFamily="18" charset="0"/>
              </a:rPr>
              <a:t>Rtree</a:t>
            </a:r>
            <a:r>
              <a:rPr lang="en-US" altLang="en-US" dirty="0">
                <a:cs typeface="Times New Roman" panose="02020603050405020304" pitchFamily="18" charset="0"/>
              </a:rPr>
              <a:t>:</a:t>
            </a:r>
          </a:p>
          <a:p>
            <a:pPr marL="749300" lvl="3" indent="-285750">
              <a:lnSpc>
                <a:spcPct val="90000"/>
              </a:lnSpc>
              <a:spcBef>
                <a:spcPct val="15000"/>
              </a:spcBef>
              <a:buFont typeface="Arial" panose="020B0604020202020204" pitchFamily="34" charset="0"/>
              <a:buChar char="•"/>
            </a:pPr>
            <a:r>
              <a:rPr lang="en-US" altLang="en-US" i="1" dirty="0" err="1">
                <a:cs typeface="Times New Roman" panose="02020603050405020304" pitchFamily="18" charset="0"/>
              </a:rPr>
              <a:t>luôn</a:t>
            </a:r>
            <a:r>
              <a:rPr lang="en-US" altLang="en-US" i="1" dirty="0">
                <a:cs typeface="Times New Roman" panose="02020603050405020304" pitchFamily="18" charset="0"/>
              </a:rPr>
              <a:t> </a:t>
            </a:r>
            <a:r>
              <a:rPr lang="en-US" altLang="en-US" i="1" dirty="0" err="1">
                <a:cs typeface="Times New Roman" panose="02020603050405020304" pitchFamily="18" charset="0"/>
              </a:rPr>
              <a:t>đi</a:t>
            </a:r>
            <a:r>
              <a:rPr lang="en-US" altLang="en-US" i="1" dirty="0">
                <a:cs typeface="Times New Roman" panose="02020603050405020304" pitchFamily="18" charset="0"/>
              </a:rPr>
              <a:t> </a:t>
            </a:r>
            <a:r>
              <a:rPr lang="en-US" altLang="en-US" i="1" dirty="0" err="1">
                <a:cs typeface="Times New Roman" panose="02020603050405020304" pitchFamily="18" charset="0"/>
              </a:rPr>
              <a:t>theo</a:t>
            </a:r>
            <a:r>
              <a:rPr lang="en-US" altLang="en-US" i="1" dirty="0">
                <a:cs typeface="Times New Roman" panose="02020603050405020304" pitchFamily="18" charset="0"/>
              </a:rPr>
              <a:t> </a:t>
            </a:r>
            <a:r>
              <a:rPr lang="en-US" altLang="en-US" i="1" dirty="0" err="1">
                <a:cs typeface="Times New Roman" panose="02020603050405020304" pitchFamily="18" charset="0"/>
              </a:rPr>
              <a:t>bên</a:t>
            </a:r>
            <a:r>
              <a:rPr lang="en-US" altLang="en-US" i="1" dirty="0">
                <a:cs typeface="Times New Roman" panose="02020603050405020304" pitchFamily="18" charset="0"/>
              </a:rPr>
              <a:t> </a:t>
            </a:r>
            <a:r>
              <a:rPr lang="en-US" altLang="en-US" i="1" dirty="0" err="1">
                <a:cs typeface="Times New Roman" panose="02020603050405020304" pitchFamily="18" charset="0"/>
              </a:rPr>
              <a:t>trái</a:t>
            </a:r>
            <a:r>
              <a:rPr lang="en-US" altLang="en-US" i="1" dirty="0">
                <a:cs typeface="Times New Roman" panose="02020603050405020304" pitchFamily="18" charset="0"/>
              </a:rPr>
              <a:t> </a:t>
            </a:r>
            <a:r>
              <a:rPr lang="en-US" altLang="en-US" i="1" dirty="0" err="1">
                <a:cs typeface="Times New Roman" panose="02020603050405020304" pitchFamily="18" charset="0"/>
              </a:rPr>
              <a:t>của</a:t>
            </a:r>
            <a:r>
              <a:rPr lang="en-US" altLang="en-US" i="1" dirty="0">
                <a:cs typeface="Times New Roman" panose="02020603050405020304" pitchFamily="18" charset="0"/>
              </a:rPr>
              <a:t> </a:t>
            </a:r>
            <a:r>
              <a:rPr lang="en-US" altLang="en-US" i="1" dirty="0" err="1">
                <a:cs typeface="Times New Roman" panose="02020603050405020304" pitchFamily="18" charset="0"/>
              </a:rPr>
              <a:t>cây</a:t>
            </a:r>
            <a:r>
              <a:rPr lang="en-US" altLang="en-US" i="1" dirty="0">
                <a:cs typeface="Times New Roman" panose="02020603050405020304" pitchFamily="18" charset="0"/>
              </a:rPr>
              <a:t> </a:t>
            </a:r>
            <a:r>
              <a:rPr lang="en-US" altLang="en-US" i="1" dirty="0" err="1">
                <a:cs typeface="Times New Roman" panose="02020603050405020304" pitchFamily="18" charset="0"/>
              </a:rPr>
              <a:t>RTree</a:t>
            </a:r>
            <a:r>
              <a:rPr lang="en-US" altLang="en-US" i="1" dirty="0">
                <a:cs typeface="Times New Roman" panose="02020603050405020304" pitchFamily="18" charset="0"/>
              </a:rPr>
              <a:t> </a:t>
            </a:r>
            <a:r>
              <a:rPr lang="en-US" altLang="en-US" i="1" dirty="0" err="1">
                <a:cs typeface="Times New Roman" panose="02020603050405020304" pitchFamily="18" charset="0"/>
              </a:rPr>
              <a:t>đến</a:t>
            </a:r>
            <a:r>
              <a:rPr lang="en-US" altLang="en-US" i="1" dirty="0">
                <a:cs typeface="Times New Roman" panose="02020603050405020304" pitchFamily="18" charset="0"/>
              </a:rPr>
              <a:t> </a:t>
            </a:r>
            <a:r>
              <a:rPr lang="en-US" altLang="en-US" i="1" dirty="0" err="1">
                <a:cs typeface="Times New Roman" panose="02020603050405020304" pitchFamily="18" charset="0"/>
              </a:rPr>
              <a:t>khi</a:t>
            </a:r>
            <a:r>
              <a:rPr lang="en-US" altLang="en-US" i="1" dirty="0">
                <a:cs typeface="Times New Roman" panose="02020603050405020304" pitchFamily="18" charset="0"/>
              </a:rPr>
              <a:t> </a:t>
            </a:r>
            <a:r>
              <a:rPr lang="en-US" altLang="en-US" i="1" dirty="0" err="1">
                <a:cs typeface="Times New Roman" panose="02020603050405020304" pitchFamily="18" charset="0"/>
              </a:rPr>
              <a:t>không</a:t>
            </a:r>
            <a:r>
              <a:rPr lang="en-US" altLang="en-US" i="1" dirty="0">
                <a:cs typeface="Times New Roman" panose="02020603050405020304" pitchFamily="18" charset="0"/>
              </a:rPr>
              <a:t> </a:t>
            </a:r>
            <a:r>
              <a:rPr lang="en-US" altLang="en-US" i="1" dirty="0" err="1">
                <a:cs typeface="Times New Roman" panose="02020603050405020304" pitchFamily="18" charset="0"/>
              </a:rPr>
              <a:t>được</a:t>
            </a:r>
            <a:r>
              <a:rPr lang="en-US" altLang="en-US" i="1" dirty="0">
                <a:cs typeface="Times New Roman" panose="02020603050405020304" pitchFamily="18" charset="0"/>
              </a:rPr>
              <a:t> </a:t>
            </a:r>
            <a:r>
              <a:rPr lang="en-US" altLang="en-US" i="1" dirty="0" err="1">
                <a:cs typeface="Times New Roman" panose="02020603050405020304" pitchFamily="18" charset="0"/>
              </a:rPr>
              <a:t>nữa</a:t>
            </a:r>
            <a:r>
              <a:rPr lang="en-US" altLang="en-US" i="1" dirty="0">
                <a:cs typeface="Times New Roman" panose="02020603050405020304" pitchFamily="18" charset="0"/>
              </a:rPr>
              <a:t> Q-&gt;LP=NULL </a:t>
            </a:r>
            <a:r>
              <a:rPr lang="en-US" altLang="en-US" i="1" dirty="0" err="1">
                <a:cs typeface="Times New Roman" panose="02020603050405020304" pitchFamily="18" charset="0"/>
              </a:rPr>
              <a:t>thì</a:t>
            </a:r>
            <a:r>
              <a:rPr lang="en-US" altLang="en-US" i="1" dirty="0">
                <a:cs typeface="Times New Roman" panose="02020603050405020304" pitchFamily="18" charset="0"/>
              </a:rPr>
              <a:t> Q </a:t>
            </a:r>
            <a:r>
              <a:rPr lang="en-US" altLang="en-US" i="1" dirty="0" err="1">
                <a:cs typeface="Times New Roman" panose="02020603050405020304" pitchFamily="18" charset="0"/>
              </a:rPr>
              <a:t>là</a:t>
            </a:r>
            <a:r>
              <a:rPr lang="en-US" altLang="en-US" i="1" dirty="0">
                <a:cs typeface="Times New Roman" panose="02020603050405020304" pitchFamily="18" charset="0"/>
              </a:rPr>
              <a:t> </a:t>
            </a:r>
            <a:r>
              <a:rPr lang="en-US" altLang="en-US" i="1" dirty="0" err="1">
                <a:cs typeface="Times New Roman" panose="02020603050405020304" pitchFamily="18" charset="0"/>
              </a:rPr>
              <a:t>nút</a:t>
            </a:r>
            <a:r>
              <a:rPr lang="en-US" altLang="en-US" i="1" dirty="0">
                <a:cs typeface="Times New Roman" panose="02020603050405020304" pitchFamily="18" charset="0"/>
              </a:rPr>
              <a:t> </a:t>
            </a:r>
            <a:r>
              <a:rPr lang="en-US" altLang="en-US" i="1" dirty="0" err="1">
                <a:cs typeface="Times New Roman" panose="02020603050405020304" pitchFamily="18" charset="0"/>
              </a:rPr>
              <a:t>ngoài</a:t>
            </a:r>
            <a:r>
              <a:rPr lang="en-US" altLang="en-US" i="1" dirty="0">
                <a:cs typeface="Times New Roman" panose="02020603050405020304" pitchFamily="18" charset="0"/>
              </a:rPr>
              <a:t> </a:t>
            </a:r>
            <a:r>
              <a:rPr lang="en-US" altLang="en-US" i="1" dirty="0" err="1">
                <a:cs typeface="Times New Roman" panose="02020603050405020304" pitchFamily="18" charset="0"/>
              </a:rPr>
              <a:t>cùng</a:t>
            </a:r>
            <a:r>
              <a:rPr lang="en-US" altLang="en-US" i="1" dirty="0">
                <a:cs typeface="Times New Roman" panose="02020603050405020304" pitchFamily="18" charset="0"/>
              </a:rPr>
              <a:t> </a:t>
            </a:r>
            <a:r>
              <a:rPr lang="en-US" altLang="en-US" i="1" dirty="0" err="1">
                <a:cs typeface="Times New Roman" panose="02020603050405020304" pitchFamily="18" charset="0"/>
              </a:rPr>
              <a:t>bên</a:t>
            </a:r>
            <a:r>
              <a:rPr lang="en-US" altLang="en-US" i="1" dirty="0">
                <a:cs typeface="Times New Roman" panose="02020603050405020304" pitchFamily="18" charset="0"/>
              </a:rPr>
              <a:t> </a:t>
            </a:r>
            <a:r>
              <a:rPr lang="en-US" altLang="en-US" i="1" dirty="0" err="1">
                <a:cs typeface="Times New Roman" panose="02020603050405020304" pitchFamily="18" charset="0"/>
              </a:rPr>
              <a:t>trái</a:t>
            </a:r>
            <a:endParaRPr lang="en-US" altLang="en-US" i="1" dirty="0">
              <a:cs typeface="Times New Roman" panose="02020603050405020304" pitchFamily="18" charset="0"/>
            </a:endParaRPr>
          </a:p>
          <a:p>
            <a:endParaRPr lang="en-US" dirty="0"/>
          </a:p>
        </p:txBody>
      </p:sp>
    </p:spTree>
    <p:extLst>
      <p:ext uri="{BB962C8B-B14F-4D97-AF65-F5344CB8AC3E}">
        <p14:creationId xmlns:p14="http://schemas.microsoft.com/office/powerpoint/2010/main" val="2563527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2"/>
          <p:cNvSpPr>
            <a:spLocks noGrp="1" noChangeArrowheads="1"/>
          </p:cNvSpPr>
          <p:nvPr>
            <p:ph type="title"/>
          </p:nvPr>
        </p:nvSpPr>
        <p:spPr/>
        <p:txBody>
          <a:bodyPr/>
          <a:lstStyle/>
          <a:p>
            <a:pPr eaLnBrk="1" hangingPunct="1"/>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nhị</a:t>
            </a:r>
            <a:r>
              <a:rPr lang="en-US" altLang="en-US" dirty="0">
                <a:cs typeface="Times New Roman" panose="02020603050405020304" pitchFamily="18" charset="0"/>
              </a:rPr>
              <a:t> </a:t>
            </a:r>
            <a:r>
              <a:rPr lang="en-US" altLang="en-US" dirty="0" err="1">
                <a:cs typeface="Times New Roman" panose="02020603050405020304" pitchFamily="18" charset="0"/>
              </a:rPr>
              <a:t>phân</a:t>
            </a:r>
            <a:r>
              <a:rPr lang="en-US" altLang="en-US" dirty="0">
                <a:cs typeface="Times New Roman" panose="02020603050405020304" pitchFamily="18" charset="0"/>
              </a:rPr>
              <a:t> </a:t>
            </a:r>
            <a:r>
              <a:rPr lang="en-US" altLang="en-US" dirty="0" err="1">
                <a:cs typeface="Times New Roman" panose="02020603050405020304" pitchFamily="18" charset="0"/>
              </a:rPr>
              <a:t>tìm</a:t>
            </a:r>
            <a:r>
              <a:rPr lang="en-US" altLang="en-US" dirty="0">
                <a:cs typeface="Times New Roman" panose="02020603050405020304" pitchFamily="18" charset="0"/>
              </a:rPr>
              <a:t> </a:t>
            </a:r>
            <a:r>
              <a:rPr lang="en-US" altLang="en-US" dirty="0" err="1">
                <a:cs typeface="Times New Roman" panose="02020603050405020304" pitchFamily="18" charset="0"/>
              </a:rPr>
              <a:t>kiếm</a:t>
            </a:r>
            <a:endParaRPr lang="en-US" altLang="en-US" dirty="0"/>
          </a:p>
        </p:txBody>
      </p:sp>
      <p:sp>
        <p:nvSpPr>
          <p:cNvPr id="47110" name="Rectangle 4"/>
          <p:cNvSpPr>
            <a:spLocks noChangeArrowheads="1"/>
          </p:cNvSpPr>
          <p:nvPr/>
        </p:nvSpPr>
        <p:spPr bwMode="auto">
          <a:xfrm>
            <a:off x="762000" y="891728"/>
            <a:ext cx="7924800" cy="213904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eaLnBrk="0" hangingPunct="0">
              <a:defRPr sz="2400">
                <a:solidFill>
                  <a:schemeClr val="tx1"/>
                </a:solidFill>
                <a:latin typeface="Times New Roman" panose="02020603050405020304" pitchFamily="18" charset="0"/>
              </a:defRPr>
            </a:lvl1pPr>
            <a:lvl2pPr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lvl="1" eaLnBrk="1" hangingPunct="1">
              <a:lnSpc>
                <a:spcPct val="95000"/>
              </a:lnSpc>
            </a:pPr>
            <a:r>
              <a:rPr lang="en-US" altLang="en-US" sz="2000" b="1" dirty="0">
                <a:cs typeface="Times New Roman" panose="02020603050405020304" pitchFamily="18" charset="0"/>
              </a:rPr>
              <a:t>void</a:t>
            </a:r>
            <a:r>
              <a:rPr lang="en-US" altLang="en-US" sz="2000" dirty="0">
                <a:cs typeface="Times New Roman" panose="02020603050405020304" pitchFamily="18" charset="0"/>
              </a:rPr>
              <a:t>  </a:t>
            </a:r>
            <a:r>
              <a:rPr lang="en-US" altLang="en-US" sz="2000" b="1" i="1" dirty="0" err="1">
                <a:cs typeface="Times New Roman" panose="02020603050405020304" pitchFamily="18" charset="0"/>
              </a:rPr>
              <a:t>DeleteT</a:t>
            </a:r>
            <a:r>
              <a:rPr lang="en-US" altLang="en-US" sz="2000" dirty="0">
                <a:cs typeface="Times New Roman" panose="02020603050405020304" pitchFamily="18" charset="0"/>
              </a:rPr>
              <a:t> (</a:t>
            </a:r>
            <a:r>
              <a:rPr lang="en-US" altLang="en-US" sz="2000" dirty="0" err="1">
                <a:cs typeface="Times New Roman" panose="02020603050405020304" pitchFamily="18" charset="0"/>
              </a:rPr>
              <a:t>BSearchTree</a:t>
            </a:r>
            <a:r>
              <a:rPr lang="en-US" altLang="en-US" sz="2000" dirty="0">
                <a:cs typeface="Times New Roman" panose="02020603050405020304" pitchFamily="18" charset="0"/>
              </a:rPr>
              <a:t> &amp; Root, </a:t>
            </a:r>
            <a:r>
              <a:rPr lang="en-US" altLang="en-US" sz="2000" dirty="0" err="1">
                <a:cs typeface="Times New Roman" panose="02020603050405020304" pitchFamily="18" charset="0"/>
              </a:rPr>
              <a:t>keytype</a:t>
            </a:r>
            <a:r>
              <a:rPr lang="en-US" altLang="en-US" sz="2000" dirty="0">
                <a:cs typeface="Times New Roman" panose="02020603050405020304" pitchFamily="18" charset="0"/>
              </a:rPr>
              <a:t>  x){</a:t>
            </a:r>
          </a:p>
          <a:p>
            <a:pPr lvl="1" eaLnBrk="1" hangingPunct="1">
              <a:lnSpc>
                <a:spcPct val="95000"/>
              </a:lnSpc>
            </a:pPr>
            <a:r>
              <a:rPr lang="en-US" altLang="en-US" sz="2000" dirty="0">
                <a:cs typeface="Times New Roman" panose="02020603050405020304" pitchFamily="18" charset="0"/>
              </a:rPr>
              <a:t>	</a:t>
            </a:r>
            <a:r>
              <a:rPr lang="en-US" altLang="en-US" sz="2000" b="1" dirty="0">
                <a:cs typeface="Times New Roman" panose="02020603050405020304" pitchFamily="18" charset="0"/>
              </a:rPr>
              <a:t>if</a:t>
            </a:r>
            <a:r>
              <a:rPr lang="en-US" altLang="en-US" sz="2000" dirty="0">
                <a:cs typeface="Times New Roman" panose="02020603050405020304" pitchFamily="18" charset="0"/>
              </a:rPr>
              <a:t>  (Root != NULL) </a:t>
            </a:r>
            <a:r>
              <a:rPr lang="en-US" altLang="en-US" sz="2000" b="1" dirty="0">
                <a:cs typeface="Times New Roman" panose="02020603050405020304" pitchFamily="18" charset="0"/>
              </a:rPr>
              <a:t>{</a:t>
            </a:r>
          </a:p>
          <a:p>
            <a:pPr lvl="1" eaLnBrk="1" hangingPunct="1">
              <a:lnSpc>
                <a:spcPct val="95000"/>
              </a:lnSpc>
            </a:pPr>
            <a:r>
              <a:rPr lang="en-US" altLang="en-US" sz="2000" b="1" dirty="0">
                <a:cs typeface="Times New Roman" panose="02020603050405020304" pitchFamily="18" charset="0"/>
              </a:rPr>
              <a:t>		if  (</a:t>
            </a:r>
            <a:r>
              <a:rPr lang="en-US" altLang="en-US" sz="2000" dirty="0">
                <a:cs typeface="Times New Roman" panose="02020603050405020304" pitchFamily="18" charset="0"/>
              </a:rPr>
              <a:t>x &lt;</a:t>
            </a:r>
            <a:r>
              <a:rPr lang="en-US" altLang="en-US" sz="2000" b="1" dirty="0">
                <a:cs typeface="Times New Roman" panose="02020603050405020304" pitchFamily="18" charset="0"/>
              </a:rPr>
              <a:t> </a:t>
            </a:r>
            <a:r>
              <a:rPr lang="en-US" altLang="en-US" sz="2000" dirty="0">
                <a:cs typeface="Times New Roman" panose="02020603050405020304" pitchFamily="18" charset="0"/>
              </a:rPr>
              <a:t>Root-&gt;Key)</a:t>
            </a:r>
            <a:r>
              <a:rPr lang="en-US" altLang="en-US" sz="2000" b="1" dirty="0">
                <a:cs typeface="Times New Roman" panose="02020603050405020304" pitchFamily="18" charset="0"/>
              </a:rPr>
              <a:t>  </a:t>
            </a:r>
            <a:r>
              <a:rPr lang="en-US" altLang="en-US" sz="2000" b="1" i="1" dirty="0" err="1">
                <a:cs typeface="Times New Roman" panose="02020603050405020304" pitchFamily="18" charset="0"/>
              </a:rPr>
              <a:t>DeleteT</a:t>
            </a:r>
            <a:r>
              <a:rPr lang="en-US" altLang="en-US" sz="2000" b="1" i="1" dirty="0">
                <a:cs typeface="Times New Roman" panose="02020603050405020304" pitchFamily="18" charset="0"/>
              </a:rPr>
              <a:t> </a:t>
            </a:r>
            <a:r>
              <a:rPr lang="en-US" altLang="en-US" sz="2000" dirty="0">
                <a:cs typeface="Times New Roman" panose="02020603050405020304" pitchFamily="18" charset="0"/>
              </a:rPr>
              <a:t>(Root-&gt;LP, x);</a:t>
            </a:r>
          </a:p>
          <a:p>
            <a:pPr lvl="1" eaLnBrk="1" hangingPunct="1">
              <a:lnSpc>
                <a:spcPct val="95000"/>
              </a:lnSpc>
            </a:pPr>
            <a:r>
              <a:rPr lang="en-US" altLang="en-US" sz="2000" dirty="0">
                <a:cs typeface="Times New Roman" panose="02020603050405020304" pitchFamily="18" charset="0"/>
              </a:rPr>
              <a:t>		</a:t>
            </a:r>
            <a:r>
              <a:rPr lang="en-US" altLang="en-US" sz="2000" b="1" dirty="0">
                <a:cs typeface="Times New Roman" panose="02020603050405020304" pitchFamily="18" charset="0"/>
              </a:rPr>
              <a:t>else  if  (</a:t>
            </a:r>
            <a:r>
              <a:rPr lang="en-US" altLang="en-US" sz="2000" dirty="0">
                <a:cs typeface="Times New Roman" panose="02020603050405020304" pitchFamily="18" charset="0"/>
              </a:rPr>
              <a:t>x &gt; Root-&gt;key)  </a:t>
            </a:r>
            <a:r>
              <a:rPr lang="en-US" altLang="en-US" sz="2000" b="1" i="1" dirty="0" err="1">
                <a:cs typeface="Times New Roman" panose="02020603050405020304" pitchFamily="18" charset="0"/>
              </a:rPr>
              <a:t>DeleteT</a:t>
            </a:r>
            <a:r>
              <a:rPr lang="en-US" altLang="en-US" sz="2000" b="1" i="1" dirty="0">
                <a:cs typeface="Times New Roman" panose="02020603050405020304" pitchFamily="18" charset="0"/>
              </a:rPr>
              <a:t> </a:t>
            </a:r>
            <a:r>
              <a:rPr lang="en-US" altLang="en-US" sz="2000" dirty="0">
                <a:cs typeface="Times New Roman" panose="02020603050405020304" pitchFamily="18" charset="0"/>
              </a:rPr>
              <a:t>(Root-&gt;RP, x);</a:t>
            </a:r>
          </a:p>
          <a:p>
            <a:pPr lvl="1" eaLnBrk="1" hangingPunct="1">
              <a:lnSpc>
                <a:spcPct val="95000"/>
              </a:lnSpc>
            </a:pPr>
            <a:r>
              <a:rPr lang="en-US" altLang="en-US" sz="2000" dirty="0">
                <a:cs typeface="Times New Roman" panose="02020603050405020304" pitchFamily="18" charset="0"/>
              </a:rPr>
              <a:t>		        </a:t>
            </a:r>
            <a:r>
              <a:rPr lang="en-US" altLang="en-US" sz="2000" b="1" dirty="0">
                <a:cs typeface="Times New Roman" panose="02020603050405020304" pitchFamily="18" charset="0"/>
              </a:rPr>
              <a:t>else</a:t>
            </a:r>
            <a:r>
              <a:rPr lang="en-US" altLang="en-US" sz="2000" dirty="0">
                <a:cs typeface="Times New Roman" panose="02020603050405020304" pitchFamily="18" charset="0"/>
              </a:rPr>
              <a:t>  </a:t>
            </a:r>
            <a:r>
              <a:rPr lang="en-US" altLang="en-US" sz="2000" b="1" i="1" dirty="0" err="1">
                <a:cs typeface="Times New Roman" panose="02020603050405020304" pitchFamily="18" charset="0"/>
              </a:rPr>
              <a:t>DelNode</a:t>
            </a:r>
            <a:r>
              <a:rPr lang="en-US" altLang="en-US" sz="2000" b="1" i="1" dirty="0">
                <a:cs typeface="Times New Roman" panose="02020603050405020304" pitchFamily="18" charset="0"/>
              </a:rPr>
              <a:t> </a:t>
            </a:r>
            <a:r>
              <a:rPr lang="en-US" altLang="en-US" sz="2000" dirty="0">
                <a:cs typeface="Times New Roman" panose="02020603050405020304" pitchFamily="18" charset="0"/>
              </a:rPr>
              <a:t>(Root);		</a:t>
            </a:r>
            <a:endParaRPr lang="en-US" altLang="en-US" sz="1800" i="1" dirty="0">
              <a:cs typeface="Times New Roman" panose="02020603050405020304" pitchFamily="18" charset="0"/>
            </a:endParaRPr>
          </a:p>
          <a:p>
            <a:pPr lvl="1" eaLnBrk="1" hangingPunct="1">
              <a:lnSpc>
                <a:spcPct val="95000"/>
              </a:lnSpc>
            </a:pPr>
            <a:r>
              <a:rPr lang="en-US" altLang="en-US" sz="2000" dirty="0">
                <a:cs typeface="Times New Roman" panose="02020603050405020304" pitchFamily="18" charset="0"/>
              </a:rPr>
              <a:t>	</a:t>
            </a:r>
            <a:r>
              <a:rPr lang="en-US" altLang="en-US" sz="2000" b="1" dirty="0">
                <a:cs typeface="Times New Roman" panose="02020603050405020304" pitchFamily="18" charset="0"/>
              </a:rPr>
              <a:t>}</a:t>
            </a:r>
          </a:p>
          <a:p>
            <a:pPr lvl="1" eaLnBrk="1" hangingPunct="1">
              <a:lnSpc>
                <a:spcPct val="95000"/>
              </a:lnSpc>
            </a:pPr>
            <a:r>
              <a:rPr lang="en-US" altLang="en-US" sz="2000" b="1" dirty="0">
                <a:cs typeface="Times New Roman" panose="02020603050405020304" pitchFamily="18" charset="0"/>
              </a:rPr>
              <a:t>}</a:t>
            </a:r>
            <a:r>
              <a:rPr lang="en-US" altLang="en-US" sz="2000" dirty="0">
                <a:cs typeface="Times New Roman" panose="02020603050405020304" pitchFamily="18" charset="0"/>
              </a:rPr>
              <a:t> </a:t>
            </a:r>
          </a:p>
        </p:txBody>
      </p:sp>
      <p:sp>
        <p:nvSpPr>
          <p:cNvPr id="47111" name="Rectangle 5"/>
          <p:cNvSpPr>
            <a:spLocks noChangeArrowheads="1"/>
          </p:cNvSpPr>
          <p:nvPr/>
        </p:nvSpPr>
        <p:spPr bwMode="auto">
          <a:xfrm>
            <a:off x="762000" y="3392149"/>
            <a:ext cx="7924800" cy="26776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eaLnBrk="0" hangingPunct="0">
              <a:defRPr sz="2400">
                <a:solidFill>
                  <a:schemeClr val="tx1"/>
                </a:solidFill>
                <a:latin typeface="Times New Roman" panose="02020603050405020304" pitchFamily="18" charset="0"/>
              </a:defRPr>
            </a:lvl1pPr>
            <a:lvl2pPr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lvl="1" eaLnBrk="1" hangingPunct="1">
              <a:lnSpc>
                <a:spcPct val="95000"/>
              </a:lnSpc>
            </a:pPr>
            <a:r>
              <a:rPr lang="en-US" altLang="en-US" sz="2000" b="1" dirty="0">
                <a:cs typeface="Times New Roman" panose="02020603050405020304" pitchFamily="18" charset="0"/>
              </a:rPr>
              <a:t>void</a:t>
            </a:r>
            <a:r>
              <a:rPr lang="en-US" altLang="en-US" sz="2000" dirty="0">
                <a:cs typeface="Times New Roman" panose="02020603050405020304" pitchFamily="18" charset="0"/>
              </a:rPr>
              <a:t>  </a:t>
            </a:r>
            <a:r>
              <a:rPr lang="en-US" altLang="en-US" sz="2000" b="1" i="1" dirty="0" err="1">
                <a:cs typeface="Times New Roman" panose="02020603050405020304" pitchFamily="18" charset="0"/>
              </a:rPr>
              <a:t>DelNode</a:t>
            </a:r>
            <a:r>
              <a:rPr lang="en-US" altLang="en-US" sz="2000" dirty="0">
                <a:cs typeface="Times New Roman" panose="02020603050405020304" pitchFamily="18" charset="0"/>
              </a:rPr>
              <a:t> (</a:t>
            </a:r>
            <a:r>
              <a:rPr lang="en-US" altLang="en-US" sz="2000" dirty="0" err="1">
                <a:cs typeface="Times New Roman" panose="02020603050405020304" pitchFamily="18" charset="0"/>
              </a:rPr>
              <a:t>PNode</a:t>
            </a:r>
            <a:r>
              <a:rPr lang="en-US" altLang="en-US" sz="2000" dirty="0">
                <a:cs typeface="Times New Roman" panose="02020603050405020304" pitchFamily="18" charset="0"/>
              </a:rPr>
              <a:t> &amp; P)</a:t>
            </a:r>
            <a:r>
              <a:rPr lang="en-US" altLang="en-US" sz="2000" b="1" dirty="0">
                <a:cs typeface="Times New Roman" panose="02020603050405020304" pitchFamily="18" charset="0"/>
              </a:rPr>
              <a:t> {</a:t>
            </a:r>
            <a:r>
              <a:rPr lang="en-US" altLang="en-US" sz="2000" dirty="0">
                <a:cs typeface="Times New Roman" panose="02020603050405020304" pitchFamily="18" charset="0"/>
              </a:rPr>
              <a:t>	</a:t>
            </a:r>
            <a:r>
              <a:rPr lang="en-US" altLang="en-US" sz="1800" i="1" dirty="0">
                <a:cs typeface="Times New Roman" panose="02020603050405020304" pitchFamily="18" charset="0"/>
              </a:rPr>
              <a:t>//</a:t>
            </a:r>
            <a:r>
              <a:rPr lang="en-US" altLang="en-US" sz="1800" i="1" dirty="0" err="1">
                <a:cs typeface="Times New Roman" panose="02020603050405020304" pitchFamily="18" charset="0"/>
              </a:rPr>
              <a:t>Xóa</a:t>
            </a:r>
            <a:r>
              <a:rPr lang="en-US" altLang="en-US" sz="1800" i="1" dirty="0">
                <a:cs typeface="Times New Roman" panose="02020603050405020304" pitchFamily="18" charset="0"/>
              </a:rPr>
              <a:t> </a:t>
            </a:r>
            <a:r>
              <a:rPr lang="en-US" altLang="en-US" sz="1800" i="1" dirty="0" err="1">
                <a:cs typeface="Times New Roman" panose="02020603050405020304" pitchFamily="18" charset="0"/>
              </a:rPr>
              <a:t>giá</a:t>
            </a:r>
            <a:r>
              <a:rPr lang="en-US" altLang="en-US" sz="1800" i="1" dirty="0">
                <a:cs typeface="Times New Roman" panose="02020603050405020304" pitchFamily="18" charset="0"/>
              </a:rPr>
              <a:t> </a:t>
            </a:r>
            <a:r>
              <a:rPr lang="en-US" altLang="en-US" sz="1800" i="1" dirty="0" err="1">
                <a:cs typeface="Times New Roman" panose="02020603050405020304" pitchFamily="18" charset="0"/>
              </a:rPr>
              <a:t>trị</a:t>
            </a:r>
            <a:r>
              <a:rPr lang="en-US" altLang="en-US" sz="1800" i="1" dirty="0">
                <a:cs typeface="Times New Roman" panose="02020603050405020304" pitchFamily="18" charset="0"/>
              </a:rPr>
              <a:t> ở </a:t>
            </a:r>
            <a:r>
              <a:rPr lang="en-US" altLang="en-US" sz="1800" i="1" dirty="0" err="1">
                <a:cs typeface="Times New Roman" panose="02020603050405020304" pitchFamily="18" charset="0"/>
              </a:rPr>
              <a:t>nút</a:t>
            </a:r>
            <a:r>
              <a:rPr lang="en-US" altLang="en-US" sz="1800" i="1" dirty="0">
                <a:cs typeface="Times New Roman" panose="02020603050405020304" pitchFamily="18" charset="0"/>
              </a:rPr>
              <a:t> P </a:t>
            </a:r>
            <a:r>
              <a:rPr lang="en-US" altLang="en-US" sz="1800" i="1" dirty="0" err="1">
                <a:cs typeface="Times New Roman" panose="02020603050405020304" pitchFamily="18" charset="0"/>
              </a:rPr>
              <a:t>và</a:t>
            </a:r>
            <a:r>
              <a:rPr lang="en-US" altLang="en-US" sz="1800" i="1" dirty="0">
                <a:cs typeface="Times New Roman" panose="02020603050405020304" pitchFamily="18" charset="0"/>
              </a:rPr>
              <a:t> </a:t>
            </a:r>
            <a:r>
              <a:rPr lang="en-US" altLang="en-US" sz="1800" i="1" dirty="0" err="1">
                <a:cs typeface="Times New Roman" panose="02020603050405020304" pitchFamily="18" charset="0"/>
              </a:rPr>
              <a:t>sắp</a:t>
            </a:r>
            <a:r>
              <a:rPr lang="en-US" altLang="en-US" sz="1800" i="1" dirty="0">
                <a:cs typeface="Times New Roman" panose="02020603050405020304" pitchFamily="18" charset="0"/>
              </a:rPr>
              <a:t> </a:t>
            </a:r>
            <a:r>
              <a:rPr lang="en-US" altLang="en-US" sz="1800" i="1" dirty="0" err="1">
                <a:cs typeface="Times New Roman" panose="02020603050405020304" pitchFamily="18" charset="0"/>
              </a:rPr>
              <a:t>lại</a:t>
            </a:r>
            <a:r>
              <a:rPr lang="en-US" altLang="en-US" sz="1800" i="1" dirty="0">
                <a:cs typeface="Times New Roman" panose="02020603050405020304" pitchFamily="18" charset="0"/>
              </a:rPr>
              <a:t> </a:t>
            </a:r>
            <a:r>
              <a:rPr lang="en-US" altLang="en-US" sz="1800" i="1" dirty="0" err="1">
                <a:cs typeface="Times New Roman" panose="02020603050405020304" pitchFamily="18" charset="0"/>
              </a:rPr>
              <a:t>cây</a:t>
            </a:r>
            <a:endParaRPr lang="en-US" altLang="en-US" sz="1800" i="1" dirty="0">
              <a:cs typeface="Times New Roman" panose="02020603050405020304" pitchFamily="18" charset="0"/>
            </a:endParaRPr>
          </a:p>
          <a:p>
            <a:pPr lvl="1" eaLnBrk="1" hangingPunct="1">
              <a:lnSpc>
                <a:spcPct val="95000"/>
              </a:lnSpc>
            </a:pPr>
            <a:r>
              <a:rPr lang="en-US" altLang="en-US" sz="2000" dirty="0">
                <a:cs typeface="Times New Roman" panose="02020603050405020304" pitchFamily="18" charset="0"/>
              </a:rPr>
              <a:t>	</a:t>
            </a:r>
            <a:r>
              <a:rPr lang="en-US" altLang="en-US" sz="2000" dirty="0" err="1">
                <a:cs typeface="Times New Roman" panose="02020603050405020304" pitchFamily="18" charset="0"/>
              </a:rPr>
              <a:t>PNode</a:t>
            </a:r>
            <a:r>
              <a:rPr lang="en-US" altLang="en-US" sz="2000" dirty="0">
                <a:cs typeface="Times New Roman" panose="02020603050405020304" pitchFamily="18" charset="0"/>
              </a:rPr>
              <a:t> Q, R;</a:t>
            </a:r>
          </a:p>
          <a:p>
            <a:pPr lvl="1" eaLnBrk="1" hangingPunct="1">
              <a:lnSpc>
                <a:spcPct val="95000"/>
              </a:lnSpc>
            </a:pPr>
            <a:r>
              <a:rPr lang="en-US" altLang="en-US" sz="2000" b="1" dirty="0">
                <a:cs typeface="Times New Roman" panose="02020603050405020304" pitchFamily="18" charset="0"/>
              </a:rPr>
              <a:t>	if </a:t>
            </a:r>
            <a:r>
              <a:rPr lang="en-US" altLang="en-US" sz="2000" dirty="0">
                <a:cs typeface="Times New Roman" panose="02020603050405020304" pitchFamily="18" charset="0"/>
              </a:rPr>
              <a:t>(P-&gt;LP == NULL) </a:t>
            </a:r>
            <a:r>
              <a:rPr lang="en-US" altLang="en-US" sz="2000" b="1" dirty="0">
                <a:cs typeface="Times New Roman" panose="02020603050405020304" pitchFamily="18" charset="0"/>
              </a:rPr>
              <a:t>{	</a:t>
            </a:r>
            <a:endParaRPr lang="en-US" altLang="en-US" sz="1800" i="1" dirty="0">
              <a:cs typeface="Times New Roman" panose="02020603050405020304" pitchFamily="18" charset="0"/>
            </a:endParaRPr>
          </a:p>
          <a:p>
            <a:pPr lvl="1" eaLnBrk="1" hangingPunct="1">
              <a:lnSpc>
                <a:spcPct val="95000"/>
              </a:lnSpc>
            </a:pPr>
            <a:r>
              <a:rPr lang="en-US" altLang="en-US" sz="2000" dirty="0">
                <a:cs typeface="Times New Roman" panose="02020603050405020304" pitchFamily="18" charset="0"/>
              </a:rPr>
              <a:t>		Q = P;                  </a:t>
            </a:r>
            <a:endParaRPr lang="en-US" altLang="en-US" sz="2000" i="1" dirty="0">
              <a:cs typeface="Times New Roman" panose="02020603050405020304" pitchFamily="18" charset="0"/>
            </a:endParaRPr>
          </a:p>
          <a:p>
            <a:pPr lvl="1" eaLnBrk="1" hangingPunct="1">
              <a:lnSpc>
                <a:spcPct val="95000"/>
              </a:lnSpc>
            </a:pPr>
            <a:r>
              <a:rPr lang="en-US" altLang="en-US" sz="2000" dirty="0">
                <a:cs typeface="Times New Roman" panose="02020603050405020304" pitchFamily="18" charset="0"/>
              </a:rPr>
              <a:t>		P = P-&gt;RP;</a:t>
            </a:r>
          </a:p>
          <a:p>
            <a:pPr lvl="1" eaLnBrk="1" hangingPunct="1">
              <a:lnSpc>
                <a:spcPct val="95000"/>
              </a:lnSpc>
            </a:pPr>
            <a:r>
              <a:rPr lang="en-US" altLang="en-US" sz="2000" b="1" dirty="0">
                <a:cs typeface="Times New Roman" panose="02020603050405020304" pitchFamily="18" charset="0"/>
              </a:rPr>
              <a:t>	} else if </a:t>
            </a:r>
            <a:r>
              <a:rPr lang="en-US" altLang="en-US" sz="2000" dirty="0">
                <a:cs typeface="Times New Roman" panose="02020603050405020304" pitchFamily="18" charset="0"/>
              </a:rPr>
              <a:t>(P-&gt;RP = NULL) </a:t>
            </a:r>
            <a:r>
              <a:rPr lang="en-US" altLang="en-US" sz="2000" b="1" dirty="0">
                <a:cs typeface="Times New Roman" panose="02020603050405020304" pitchFamily="18" charset="0"/>
              </a:rPr>
              <a:t>	{	</a:t>
            </a:r>
            <a:endParaRPr lang="en-US" altLang="en-US" sz="2000" dirty="0">
              <a:cs typeface="Times New Roman" panose="02020603050405020304" pitchFamily="18" charset="0"/>
            </a:endParaRPr>
          </a:p>
          <a:p>
            <a:pPr lvl="1" eaLnBrk="1" hangingPunct="1">
              <a:lnSpc>
                <a:spcPct val="90000"/>
              </a:lnSpc>
            </a:pPr>
            <a:r>
              <a:rPr lang="en-US" altLang="en-US" sz="2000" dirty="0">
                <a:cs typeface="Times New Roman" panose="02020603050405020304" pitchFamily="18" charset="0"/>
              </a:rPr>
              <a:t>		Q = P;		</a:t>
            </a:r>
          </a:p>
          <a:p>
            <a:pPr lvl="1" eaLnBrk="1" hangingPunct="1">
              <a:lnSpc>
                <a:spcPct val="90000"/>
              </a:lnSpc>
            </a:pPr>
            <a:r>
              <a:rPr lang="en-US" altLang="en-US" sz="2000" dirty="0">
                <a:cs typeface="Times New Roman" panose="02020603050405020304" pitchFamily="18" charset="0"/>
              </a:rPr>
              <a:t>		P = P-&gt;LP;</a:t>
            </a:r>
          </a:p>
          <a:p>
            <a:pPr lvl="1" eaLnBrk="1" hangingPunct="1">
              <a:lnSpc>
                <a:spcPct val="90000"/>
              </a:lnSpc>
            </a:pPr>
            <a:r>
              <a:rPr lang="en-US" altLang="en-US" sz="2000" b="1" dirty="0">
                <a:cs typeface="Times New Roman" panose="02020603050405020304" pitchFamily="18" charset="0"/>
              </a:rPr>
              <a:t>	} else </a:t>
            </a:r>
            <a:endParaRPr lang="en-US" altLang="en-US" sz="2000" dirty="0">
              <a:cs typeface="Times New Roman" panose="02020603050405020304" pitchFamily="18" charset="0"/>
            </a:endParaRPr>
          </a:p>
        </p:txBody>
      </p:sp>
      <p:sp>
        <p:nvSpPr>
          <p:cNvPr id="6" name="Rectangle 5"/>
          <p:cNvSpPr>
            <a:spLocks noChangeArrowheads="1"/>
          </p:cNvSpPr>
          <p:nvPr/>
        </p:nvSpPr>
        <p:spPr bwMode="auto">
          <a:xfrm>
            <a:off x="4572000" y="3997699"/>
            <a:ext cx="3429000" cy="146655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eaLnBrk="0" hangingPunct="0">
              <a:defRPr sz="2400">
                <a:solidFill>
                  <a:schemeClr val="tx1"/>
                </a:solidFill>
                <a:latin typeface="Times New Roman" panose="02020603050405020304" pitchFamily="18" charset="0"/>
              </a:defRPr>
            </a:lvl1pPr>
            <a:lvl2pPr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lvl="1" eaLnBrk="1" hangingPunct="1">
              <a:lnSpc>
                <a:spcPct val="95000"/>
              </a:lnSpc>
            </a:pPr>
            <a:r>
              <a:rPr lang="en-US" altLang="en-US" sz="1800" i="1" dirty="0">
                <a:cs typeface="Times New Roman" panose="02020603050405020304" pitchFamily="18" charset="0"/>
              </a:rPr>
              <a:t>// </a:t>
            </a:r>
            <a:r>
              <a:rPr lang="en-US" altLang="en-US" sz="1800" i="1" dirty="0" err="1">
                <a:cs typeface="Times New Roman" panose="02020603050405020304" pitchFamily="18" charset="0"/>
              </a:rPr>
              <a:t>nút</a:t>
            </a:r>
            <a:r>
              <a:rPr lang="en-US" altLang="en-US" sz="1800" i="1" dirty="0">
                <a:cs typeface="Times New Roman" panose="02020603050405020304" pitchFamily="18" charset="0"/>
              </a:rPr>
              <a:t> P </a:t>
            </a:r>
            <a:r>
              <a:rPr lang="en-US" altLang="en-US" sz="1800" i="1" dirty="0" err="1">
                <a:cs typeface="Times New Roman" panose="02020603050405020304" pitchFamily="18" charset="0"/>
              </a:rPr>
              <a:t>chỉ</a:t>
            </a:r>
            <a:r>
              <a:rPr lang="en-US" altLang="en-US" sz="1800" i="1" dirty="0">
                <a:cs typeface="Times New Roman" panose="02020603050405020304" pitchFamily="18" charset="0"/>
              </a:rPr>
              <a:t> </a:t>
            </a:r>
            <a:r>
              <a:rPr lang="en-US" altLang="en-US" sz="1800" i="1" dirty="0" err="1">
                <a:cs typeface="Times New Roman" panose="02020603050405020304" pitchFamily="18" charset="0"/>
              </a:rPr>
              <a:t>có</a:t>
            </a:r>
            <a:r>
              <a:rPr lang="en-US" altLang="en-US" sz="1800" i="1" dirty="0">
                <a:cs typeface="Times New Roman" panose="02020603050405020304" pitchFamily="18" charset="0"/>
              </a:rPr>
              <a:t> </a:t>
            </a:r>
            <a:r>
              <a:rPr lang="en-US" altLang="en-US" sz="1800" i="1" dirty="0" err="1">
                <a:cs typeface="Times New Roman" panose="02020603050405020304" pitchFamily="18" charset="0"/>
              </a:rPr>
              <a:t>cây</a:t>
            </a:r>
            <a:r>
              <a:rPr lang="en-US" altLang="en-US" sz="1800" i="1" dirty="0">
                <a:cs typeface="Times New Roman" panose="02020603050405020304" pitchFamily="18" charset="0"/>
              </a:rPr>
              <a:t> con </a:t>
            </a:r>
            <a:r>
              <a:rPr lang="en-US" altLang="en-US" sz="1800" i="1" dirty="0" err="1">
                <a:cs typeface="Times New Roman" panose="02020603050405020304" pitchFamily="18" charset="0"/>
              </a:rPr>
              <a:t>phải</a:t>
            </a:r>
            <a:endParaRPr lang="en-US" altLang="en-US" sz="1800" i="1" dirty="0">
              <a:cs typeface="Times New Roman" panose="02020603050405020304" pitchFamily="18" charset="0"/>
            </a:endParaRPr>
          </a:p>
          <a:p>
            <a:pPr lvl="1" eaLnBrk="1" hangingPunct="1">
              <a:lnSpc>
                <a:spcPct val="95000"/>
              </a:lnSpc>
            </a:pPr>
            <a:r>
              <a:rPr lang="en-US" altLang="en-US" sz="1800" i="1" dirty="0">
                <a:cs typeface="Times New Roman" panose="02020603050405020304" pitchFamily="18" charset="0"/>
              </a:rPr>
              <a:t>// </a:t>
            </a:r>
            <a:r>
              <a:rPr lang="en-US" altLang="en-US" sz="1800" i="1" dirty="0" err="1">
                <a:cs typeface="Times New Roman" panose="02020603050405020304" pitchFamily="18" charset="0"/>
              </a:rPr>
              <a:t>lưu</a:t>
            </a:r>
            <a:r>
              <a:rPr lang="en-US" altLang="en-US" sz="1800" i="1" dirty="0">
                <a:cs typeface="Times New Roman" panose="02020603050405020304" pitchFamily="18" charset="0"/>
              </a:rPr>
              <a:t> </a:t>
            </a:r>
            <a:r>
              <a:rPr lang="en-US" altLang="en-US" sz="1800" i="1" dirty="0" err="1">
                <a:cs typeface="Times New Roman" panose="02020603050405020304" pitchFamily="18" charset="0"/>
              </a:rPr>
              <a:t>nút</a:t>
            </a:r>
            <a:r>
              <a:rPr lang="en-US" altLang="en-US" sz="1800" i="1" dirty="0">
                <a:cs typeface="Times New Roman" panose="02020603050405020304" pitchFamily="18" charset="0"/>
              </a:rPr>
              <a:t> </a:t>
            </a:r>
            <a:r>
              <a:rPr lang="en-US" altLang="en-US" sz="1800" i="1" dirty="0" err="1">
                <a:cs typeface="Times New Roman" panose="02020603050405020304" pitchFamily="18" charset="0"/>
              </a:rPr>
              <a:t>sẽ</a:t>
            </a:r>
            <a:r>
              <a:rPr lang="en-US" altLang="en-US" sz="1800" i="1" dirty="0">
                <a:cs typeface="Times New Roman" panose="02020603050405020304" pitchFamily="18" charset="0"/>
              </a:rPr>
              <a:t> </a:t>
            </a:r>
            <a:r>
              <a:rPr lang="en-US" altLang="en-US" sz="1800" i="1" dirty="0" err="1">
                <a:cs typeface="Times New Roman" panose="02020603050405020304" pitchFamily="18" charset="0"/>
              </a:rPr>
              <a:t>xóa</a:t>
            </a:r>
            <a:r>
              <a:rPr lang="en-US" altLang="en-US" sz="1800" i="1" dirty="0">
                <a:cs typeface="Times New Roman" panose="02020603050405020304" pitchFamily="18" charset="0"/>
              </a:rPr>
              <a:t> </a:t>
            </a:r>
            <a:r>
              <a:rPr lang="en-US" altLang="en-US" sz="1800" i="1" dirty="0" err="1">
                <a:cs typeface="Times New Roman" panose="02020603050405020304" pitchFamily="18" charset="0"/>
              </a:rPr>
              <a:t>là</a:t>
            </a:r>
            <a:r>
              <a:rPr lang="en-US" altLang="en-US" sz="1800" i="1" dirty="0">
                <a:cs typeface="Times New Roman" panose="02020603050405020304" pitchFamily="18" charset="0"/>
              </a:rPr>
              <a:t> Q</a:t>
            </a:r>
            <a:endParaRPr lang="en-US" altLang="en-US" sz="2000" i="1" dirty="0">
              <a:cs typeface="Times New Roman" panose="02020603050405020304" pitchFamily="18" charset="0"/>
            </a:endParaRPr>
          </a:p>
          <a:p>
            <a:pPr lvl="1" eaLnBrk="1" hangingPunct="1">
              <a:lnSpc>
                <a:spcPct val="95000"/>
              </a:lnSpc>
            </a:pPr>
            <a:r>
              <a:rPr lang="en-US" altLang="en-US" sz="2000" dirty="0">
                <a:cs typeface="Times New Roman" panose="02020603050405020304" pitchFamily="18" charset="0"/>
              </a:rPr>
              <a:t> </a:t>
            </a:r>
            <a:endParaRPr lang="en-US" altLang="en-US" sz="2000" dirty="0">
              <a:solidFill>
                <a:schemeClr val="bg1"/>
              </a:solidFill>
              <a:cs typeface="Times New Roman" panose="02020603050405020304" pitchFamily="18" charset="0"/>
            </a:endParaRPr>
          </a:p>
          <a:p>
            <a:pPr lvl="1" eaLnBrk="1" hangingPunct="1">
              <a:lnSpc>
                <a:spcPct val="95000"/>
              </a:lnSpc>
            </a:pPr>
            <a:r>
              <a:rPr lang="en-US" altLang="en-US" sz="1800" i="1" dirty="0">
                <a:cs typeface="Times New Roman" panose="02020603050405020304" pitchFamily="18" charset="0"/>
              </a:rPr>
              <a:t>// </a:t>
            </a:r>
            <a:r>
              <a:rPr lang="en-US" altLang="en-US" sz="1800" i="1" dirty="0" err="1">
                <a:cs typeface="Times New Roman" panose="02020603050405020304" pitchFamily="18" charset="0"/>
              </a:rPr>
              <a:t>nút</a:t>
            </a:r>
            <a:r>
              <a:rPr lang="en-US" altLang="en-US" sz="1800" i="1" dirty="0">
                <a:cs typeface="Times New Roman" panose="02020603050405020304" pitchFamily="18" charset="0"/>
              </a:rPr>
              <a:t> P </a:t>
            </a:r>
            <a:r>
              <a:rPr lang="en-US" altLang="en-US" sz="1800" i="1" dirty="0" err="1">
                <a:cs typeface="Times New Roman" panose="02020603050405020304" pitchFamily="18" charset="0"/>
              </a:rPr>
              <a:t>chỉ</a:t>
            </a:r>
            <a:r>
              <a:rPr lang="en-US" altLang="en-US" sz="1800" i="1" dirty="0">
                <a:cs typeface="Times New Roman" panose="02020603050405020304" pitchFamily="18" charset="0"/>
              </a:rPr>
              <a:t> </a:t>
            </a:r>
            <a:r>
              <a:rPr lang="en-US" altLang="en-US" sz="1800" i="1" dirty="0" err="1">
                <a:cs typeface="Times New Roman" panose="02020603050405020304" pitchFamily="18" charset="0"/>
              </a:rPr>
              <a:t>có</a:t>
            </a:r>
            <a:r>
              <a:rPr lang="en-US" altLang="en-US" sz="1800" i="1" dirty="0">
                <a:cs typeface="Times New Roman" panose="02020603050405020304" pitchFamily="18" charset="0"/>
              </a:rPr>
              <a:t> </a:t>
            </a:r>
            <a:r>
              <a:rPr lang="en-US" altLang="en-US" sz="1800" i="1" dirty="0" err="1">
                <a:cs typeface="Times New Roman" panose="02020603050405020304" pitchFamily="18" charset="0"/>
              </a:rPr>
              <a:t>cây</a:t>
            </a:r>
            <a:r>
              <a:rPr lang="en-US" altLang="en-US" sz="1800" i="1" dirty="0">
                <a:cs typeface="Times New Roman" panose="02020603050405020304" pitchFamily="18" charset="0"/>
              </a:rPr>
              <a:t> con </a:t>
            </a:r>
            <a:r>
              <a:rPr lang="en-US" altLang="en-US" sz="1800" i="1" dirty="0" err="1">
                <a:cs typeface="Times New Roman" panose="02020603050405020304" pitchFamily="18" charset="0"/>
              </a:rPr>
              <a:t>trái</a:t>
            </a:r>
            <a:endParaRPr lang="en-US" altLang="en-US" sz="1800" i="1" dirty="0">
              <a:cs typeface="Times New Roman" panose="02020603050405020304" pitchFamily="18" charset="0"/>
            </a:endParaRPr>
          </a:p>
          <a:p>
            <a:pPr lvl="1" eaLnBrk="1" hangingPunct="1">
              <a:lnSpc>
                <a:spcPct val="95000"/>
              </a:lnSpc>
            </a:pPr>
            <a:r>
              <a:rPr lang="en-US" altLang="en-US" sz="2000" b="1" dirty="0">
                <a:cs typeface="Times New Roman" panose="02020603050405020304" pitchFamily="18" charset="0"/>
              </a:rPr>
              <a:t>	</a:t>
            </a:r>
            <a:endParaRPr lang="en-US" altLang="en-US" sz="2000" dirty="0">
              <a:cs typeface="Times New Roman" panose="02020603050405020304" pitchFamily="18" charset="0"/>
            </a:endParaRPr>
          </a:p>
        </p:txBody>
      </p:sp>
      <p:sp>
        <p:nvSpPr>
          <p:cNvPr id="3" name="Rectangle 2"/>
          <p:cNvSpPr/>
          <p:nvPr/>
        </p:nvSpPr>
        <p:spPr>
          <a:xfrm>
            <a:off x="1753746" y="2661769"/>
            <a:ext cx="4621778" cy="355482"/>
          </a:xfrm>
          <a:prstGeom prst="rect">
            <a:avLst/>
          </a:prstGeom>
        </p:spPr>
        <p:txBody>
          <a:bodyPr wrap="none">
            <a:spAutoFit/>
          </a:bodyPr>
          <a:lstStyle/>
          <a:p>
            <a:pPr lvl="1">
              <a:lnSpc>
                <a:spcPct val="95000"/>
              </a:lnSpc>
            </a:pPr>
            <a:r>
              <a:rPr lang="en-US" altLang="en-US" i="1" dirty="0">
                <a:latin typeface="Times New Roman" panose="02020603050405020304" pitchFamily="18" charset="0"/>
                <a:cs typeface="Times New Roman" panose="02020603050405020304" pitchFamily="18" charset="0"/>
              </a:rPr>
              <a:t>//</a:t>
            </a:r>
            <a:r>
              <a:rPr lang="en-US" altLang="en-US" i="1" dirty="0" err="1">
                <a:latin typeface="Times New Roman" panose="02020603050405020304" pitchFamily="18" charset="0"/>
                <a:cs typeface="Times New Roman" panose="02020603050405020304" pitchFamily="18" charset="0"/>
              </a:rPr>
              <a:t>Tìm</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đến</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nút</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cần</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loại</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bỏ</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gọi</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hàm</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Xóa</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nút</a:t>
            </a:r>
            <a:endParaRPr lang="en-US"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9698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1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110">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7110">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7110">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7110">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111">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7111">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7111">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7111">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7111">
                                            <p:txEl>
                                              <p:pRg st="5" end="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7111">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7111">
                                            <p:txEl>
                                              <p:pRg st="6" end="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7111">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4" name="Rectangle 5"/>
          <p:cNvSpPr>
            <a:spLocks noChangeArrowheads="1"/>
          </p:cNvSpPr>
          <p:nvPr/>
        </p:nvSpPr>
        <p:spPr bwMode="auto">
          <a:xfrm>
            <a:off x="114300" y="817860"/>
            <a:ext cx="8915400" cy="48320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342900" indent="-342900" eaLnBrk="0" hangingPunct="0">
              <a:defRPr sz="2400">
                <a:solidFill>
                  <a:schemeClr val="tx1"/>
                </a:solidFill>
                <a:latin typeface="Times New Roman" panose="02020603050405020304" pitchFamily="18" charset="0"/>
              </a:defRPr>
            </a:lvl1pPr>
            <a:lvl2pPr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lvl="1" eaLnBrk="1" hangingPunct="1">
              <a:lnSpc>
                <a:spcPct val="90000"/>
              </a:lnSpc>
            </a:pPr>
            <a:r>
              <a:rPr lang="en-US" altLang="en-US" sz="2000" dirty="0">
                <a:cs typeface="Times New Roman" panose="02020603050405020304" pitchFamily="18" charset="0"/>
              </a:rPr>
              <a:t>		// else	</a:t>
            </a:r>
            <a:endParaRPr lang="en-US" altLang="en-US" sz="2000" b="1" dirty="0">
              <a:cs typeface="Times New Roman" panose="02020603050405020304" pitchFamily="18" charset="0"/>
            </a:endParaRPr>
          </a:p>
          <a:p>
            <a:pPr lvl="1" eaLnBrk="1" hangingPunct="1">
              <a:lnSpc>
                <a:spcPct val="90000"/>
              </a:lnSpc>
            </a:pPr>
            <a:r>
              <a:rPr lang="en-US" altLang="en-US" sz="2000" b="1" dirty="0">
                <a:cs typeface="Times New Roman" panose="02020603050405020304" pitchFamily="18" charset="0"/>
              </a:rPr>
              <a:t>             {		 	</a:t>
            </a:r>
            <a:endParaRPr lang="en-US" altLang="en-US" sz="2000" b="1" i="1" dirty="0">
              <a:cs typeface="Times New Roman" panose="02020603050405020304" pitchFamily="18" charset="0"/>
            </a:endParaRPr>
          </a:p>
          <a:p>
            <a:pPr lvl="1" eaLnBrk="1" hangingPunct="1">
              <a:lnSpc>
                <a:spcPct val="90000"/>
              </a:lnSpc>
            </a:pPr>
            <a:r>
              <a:rPr lang="en-US" altLang="en-US" sz="2000" dirty="0">
                <a:cs typeface="Times New Roman" panose="02020603050405020304" pitchFamily="18" charset="0"/>
              </a:rPr>
              <a:t>			Q = P-&gt;LP;	 </a:t>
            </a:r>
          </a:p>
          <a:p>
            <a:pPr lvl="1" eaLnBrk="1" hangingPunct="1">
              <a:lnSpc>
                <a:spcPct val="90000"/>
              </a:lnSpc>
            </a:pPr>
            <a:r>
              <a:rPr lang="en-US" altLang="en-US" sz="2000" dirty="0">
                <a:cs typeface="Times New Roman" panose="02020603050405020304" pitchFamily="18" charset="0"/>
              </a:rPr>
              <a:t>			</a:t>
            </a:r>
            <a:r>
              <a:rPr lang="en-US" altLang="en-US" sz="2000" b="1" dirty="0">
                <a:cs typeface="Times New Roman" panose="02020603050405020304" pitchFamily="18" charset="0"/>
              </a:rPr>
              <a:t>if</a:t>
            </a:r>
            <a:r>
              <a:rPr lang="en-US" altLang="en-US" sz="2000" dirty="0">
                <a:cs typeface="Times New Roman" panose="02020603050405020304" pitchFamily="18" charset="0"/>
              </a:rPr>
              <a:t>  (Q-&gt;RP == NULL) {   </a:t>
            </a:r>
            <a:r>
              <a:rPr lang="en-US" altLang="en-US" sz="1800" i="1" dirty="0">
                <a:cs typeface="Times New Roman" panose="02020603050405020304" pitchFamily="18" charset="0"/>
              </a:rPr>
              <a:t>  </a:t>
            </a:r>
            <a:br>
              <a:rPr lang="en-US" altLang="en-US" sz="1800" i="1" dirty="0">
                <a:cs typeface="Times New Roman" panose="02020603050405020304" pitchFamily="18" charset="0"/>
              </a:rPr>
            </a:br>
            <a:r>
              <a:rPr lang="en-US" altLang="en-US" sz="2000" dirty="0">
                <a:cs typeface="Times New Roman" panose="02020603050405020304" pitchFamily="18" charset="0"/>
              </a:rPr>
              <a:t>			     P-&gt;Key = Q-&gt;Key;    </a:t>
            </a:r>
            <a:r>
              <a:rPr lang="en-US" altLang="en-US" sz="2000" i="1" dirty="0">
                <a:cs typeface="Times New Roman" panose="02020603050405020304" pitchFamily="18" charset="0"/>
              </a:rPr>
              <a:t> </a:t>
            </a:r>
            <a:endParaRPr lang="en-US" altLang="en-US" sz="1800" i="1" dirty="0">
              <a:cs typeface="Times New Roman" panose="02020603050405020304" pitchFamily="18" charset="0"/>
            </a:endParaRPr>
          </a:p>
          <a:p>
            <a:pPr lvl="1" eaLnBrk="1" hangingPunct="1">
              <a:lnSpc>
                <a:spcPct val="90000"/>
              </a:lnSpc>
            </a:pPr>
            <a:r>
              <a:rPr lang="en-US" altLang="en-US" sz="2000" dirty="0">
                <a:cs typeface="Times New Roman" panose="02020603050405020304" pitchFamily="18" charset="0"/>
              </a:rPr>
              <a:t>			     P-&gt;LP = Q-&gt;LP;</a:t>
            </a:r>
          </a:p>
          <a:p>
            <a:pPr lvl="1" eaLnBrk="1" hangingPunct="1">
              <a:lnSpc>
                <a:spcPct val="90000"/>
              </a:lnSpc>
            </a:pPr>
            <a:r>
              <a:rPr lang="en-US" altLang="en-US" sz="2000" dirty="0">
                <a:cs typeface="Times New Roman" panose="02020603050405020304" pitchFamily="18" charset="0"/>
              </a:rPr>
              <a:t>			</a:t>
            </a:r>
            <a:r>
              <a:rPr lang="en-US" altLang="en-US" sz="2000" b="1" dirty="0">
                <a:cs typeface="Times New Roman" panose="02020603050405020304" pitchFamily="18" charset="0"/>
              </a:rPr>
              <a:t>} else {</a:t>
            </a:r>
          </a:p>
          <a:p>
            <a:pPr lvl="1" eaLnBrk="1" hangingPunct="1">
              <a:lnSpc>
                <a:spcPct val="90000"/>
              </a:lnSpc>
            </a:pPr>
            <a:r>
              <a:rPr lang="en-US" altLang="en-US" sz="2000" b="1" dirty="0">
                <a:cs typeface="Times New Roman" panose="02020603050405020304" pitchFamily="18" charset="0"/>
              </a:rPr>
              <a:t>			     do {		</a:t>
            </a:r>
          </a:p>
          <a:p>
            <a:pPr lvl="1" eaLnBrk="1" hangingPunct="1">
              <a:lnSpc>
                <a:spcPct val="90000"/>
              </a:lnSpc>
            </a:pPr>
            <a:r>
              <a:rPr lang="en-US" altLang="en-US" sz="2000" dirty="0">
                <a:cs typeface="Times New Roman" panose="02020603050405020304" pitchFamily="18" charset="0"/>
              </a:rPr>
              <a:t>				R = Q;	</a:t>
            </a:r>
            <a:endParaRPr lang="en-US" altLang="en-US" sz="1800" i="1" dirty="0">
              <a:cs typeface="Times New Roman" panose="02020603050405020304" pitchFamily="18" charset="0"/>
            </a:endParaRPr>
          </a:p>
          <a:p>
            <a:pPr lvl="1" eaLnBrk="1" hangingPunct="1">
              <a:lnSpc>
                <a:spcPct val="90000"/>
              </a:lnSpc>
            </a:pPr>
            <a:r>
              <a:rPr lang="en-US" altLang="en-US" sz="2000" dirty="0">
                <a:cs typeface="Times New Roman" panose="02020603050405020304" pitchFamily="18" charset="0"/>
              </a:rPr>
              <a:t>				Q = Q-&gt;RP;       </a:t>
            </a:r>
          </a:p>
          <a:p>
            <a:pPr lvl="1" eaLnBrk="1" hangingPunct="1">
              <a:lnSpc>
                <a:spcPct val="90000"/>
              </a:lnSpc>
            </a:pPr>
            <a:r>
              <a:rPr lang="en-US" altLang="en-US" sz="2000" dirty="0">
                <a:cs typeface="Times New Roman" panose="02020603050405020304" pitchFamily="18" charset="0"/>
              </a:rPr>
              <a:t>			     } </a:t>
            </a:r>
            <a:r>
              <a:rPr lang="en-US" altLang="en-US" sz="2000" b="1" dirty="0">
                <a:cs typeface="Times New Roman" panose="02020603050405020304" pitchFamily="18" charset="0"/>
              </a:rPr>
              <a:t>while</a:t>
            </a:r>
            <a:r>
              <a:rPr lang="en-US" altLang="en-US" sz="2000" dirty="0">
                <a:cs typeface="Times New Roman" panose="02020603050405020304" pitchFamily="18" charset="0"/>
              </a:rPr>
              <a:t>  (Q-&gt;RP != NULL);</a:t>
            </a:r>
          </a:p>
          <a:p>
            <a:pPr lvl="1" eaLnBrk="1" hangingPunct="1">
              <a:lnSpc>
                <a:spcPct val="95000"/>
              </a:lnSpc>
            </a:pPr>
            <a:r>
              <a:rPr lang="en-US" altLang="en-US" sz="2000" dirty="0">
                <a:cs typeface="Times New Roman" panose="02020603050405020304" pitchFamily="18" charset="0"/>
              </a:rPr>
              <a:t>			     P-&gt;Key = Q-&gt;Key; 	</a:t>
            </a:r>
            <a:endParaRPr lang="en-US" altLang="en-US" sz="1800" i="1" dirty="0">
              <a:cs typeface="Times New Roman" panose="02020603050405020304" pitchFamily="18" charset="0"/>
            </a:endParaRPr>
          </a:p>
          <a:p>
            <a:pPr lvl="1" eaLnBrk="1" hangingPunct="1">
              <a:lnSpc>
                <a:spcPct val="95000"/>
              </a:lnSpc>
            </a:pPr>
            <a:r>
              <a:rPr lang="en-US" altLang="en-US" sz="2000" dirty="0">
                <a:cs typeface="Times New Roman" panose="02020603050405020304" pitchFamily="18" charset="0"/>
              </a:rPr>
              <a:t>			     R-&gt;RP = Q-&gt;LP;	</a:t>
            </a:r>
            <a:endParaRPr lang="en-US" altLang="en-US" sz="1800" i="1" dirty="0">
              <a:cs typeface="Times New Roman" panose="02020603050405020304" pitchFamily="18" charset="0"/>
            </a:endParaRPr>
          </a:p>
          <a:p>
            <a:pPr lvl="1" eaLnBrk="1" hangingPunct="1">
              <a:lnSpc>
                <a:spcPct val="90000"/>
              </a:lnSpc>
            </a:pPr>
            <a:r>
              <a:rPr lang="en-US" altLang="en-US" sz="2000" b="1" dirty="0">
                <a:cs typeface="Times New Roman" panose="02020603050405020304" pitchFamily="18" charset="0"/>
              </a:rPr>
              <a:t>			}</a:t>
            </a:r>
          </a:p>
          <a:p>
            <a:pPr lvl="1" eaLnBrk="1" hangingPunct="1">
              <a:lnSpc>
                <a:spcPct val="90000"/>
              </a:lnSpc>
            </a:pPr>
            <a:r>
              <a:rPr lang="en-US" altLang="en-US" sz="2000" b="1" dirty="0">
                <a:cs typeface="Times New Roman" panose="02020603050405020304" pitchFamily="18" charset="0"/>
              </a:rPr>
              <a:t>		}</a:t>
            </a:r>
          </a:p>
          <a:p>
            <a:pPr lvl="1" eaLnBrk="1" hangingPunct="1">
              <a:lnSpc>
                <a:spcPct val="90000"/>
              </a:lnSpc>
            </a:pPr>
            <a:r>
              <a:rPr lang="en-US" altLang="en-US" sz="2000" b="1" dirty="0">
                <a:cs typeface="Times New Roman" panose="02020603050405020304" pitchFamily="18" charset="0"/>
              </a:rPr>
              <a:t>	       delete  </a:t>
            </a:r>
            <a:r>
              <a:rPr lang="en-US" altLang="en-US" sz="2000" dirty="0">
                <a:cs typeface="Times New Roman" panose="02020603050405020304" pitchFamily="18" charset="0"/>
              </a:rPr>
              <a:t>Q</a:t>
            </a:r>
            <a:r>
              <a:rPr lang="en-US" altLang="en-US" sz="2000" b="1" dirty="0">
                <a:cs typeface="Times New Roman" panose="02020603050405020304" pitchFamily="18" charset="0"/>
              </a:rPr>
              <a:t>;			</a:t>
            </a:r>
            <a:endParaRPr lang="en-US" altLang="en-US" sz="2000" i="1" dirty="0">
              <a:cs typeface="Times New Roman" panose="02020603050405020304" pitchFamily="18" charset="0"/>
            </a:endParaRPr>
          </a:p>
          <a:p>
            <a:pPr lvl="1" eaLnBrk="1" hangingPunct="1">
              <a:lnSpc>
                <a:spcPct val="90000"/>
              </a:lnSpc>
            </a:pPr>
            <a:r>
              <a:rPr lang="en-US" altLang="en-US" sz="2000" b="1" dirty="0">
                <a:cs typeface="Times New Roman" panose="02020603050405020304" pitchFamily="18" charset="0"/>
              </a:rPr>
              <a:t>}</a:t>
            </a:r>
            <a:endParaRPr lang="en-US" altLang="en-US" sz="2000" dirty="0">
              <a:cs typeface="Times New Roman" panose="02020603050405020304" pitchFamily="18" charset="0"/>
            </a:endParaRPr>
          </a:p>
        </p:txBody>
      </p:sp>
      <p:sp>
        <p:nvSpPr>
          <p:cNvPr id="48135" name="Rectangle 7"/>
          <p:cNvSpPr>
            <a:spLocks noChangeArrowheads="1"/>
          </p:cNvSpPr>
          <p:nvPr/>
        </p:nvSpPr>
        <p:spPr bwMode="auto">
          <a:xfrm>
            <a:off x="3687783" y="5775246"/>
            <a:ext cx="5316517" cy="655436"/>
          </a:xfrm>
          <a:prstGeom prst="rect">
            <a:avLst/>
          </a:prstGeom>
          <a:solidFill>
            <a:schemeClr val="bg1"/>
          </a:solidFill>
          <a:ln>
            <a:noFill/>
          </a:ln>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lnSpc>
                <a:spcPct val="105000"/>
              </a:lnSpc>
            </a:pPr>
            <a:r>
              <a:rPr lang="en-US" altLang="en-US" sz="1800" i="1" dirty="0">
                <a:cs typeface="Times New Roman" panose="02020603050405020304" pitchFamily="18" charset="0"/>
              </a:rPr>
              <a:t>[</a:t>
            </a:r>
            <a:r>
              <a:rPr lang="en-US" altLang="en-US" sz="1800" i="1" dirty="0" err="1">
                <a:cs typeface="Times New Roman" panose="02020603050405020304" pitchFamily="18" charset="0"/>
              </a:rPr>
              <a:t>Tìm</a:t>
            </a:r>
            <a:r>
              <a:rPr lang="en-US" altLang="en-US" sz="1800" i="1" dirty="0">
                <a:cs typeface="Times New Roman" panose="02020603050405020304" pitchFamily="18" charset="0"/>
              </a:rPr>
              <a:t> Max(</a:t>
            </a:r>
            <a:r>
              <a:rPr lang="en-US" altLang="en-US" sz="1800" i="1" dirty="0" err="1">
                <a:cs typeface="Times New Roman" panose="02020603050405020304" pitchFamily="18" charset="0"/>
              </a:rPr>
              <a:t>LTree</a:t>
            </a:r>
            <a:r>
              <a:rPr lang="en-US" altLang="en-US" sz="1800" i="1" dirty="0">
                <a:cs typeface="Times New Roman" panose="02020603050405020304" pitchFamily="18" charset="0"/>
              </a:rPr>
              <a:t>): </a:t>
            </a:r>
            <a:r>
              <a:rPr lang="en-US" altLang="en-US" sz="1800" i="1" dirty="0" err="1">
                <a:cs typeface="Times New Roman" panose="02020603050405020304" pitchFamily="18" charset="0"/>
              </a:rPr>
              <a:t>Luôn</a:t>
            </a:r>
            <a:r>
              <a:rPr lang="en-US" altLang="en-US" sz="1800" i="1" dirty="0">
                <a:cs typeface="Times New Roman" panose="02020603050405020304" pitchFamily="18" charset="0"/>
              </a:rPr>
              <a:t> </a:t>
            </a:r>
            <a:r>
              <a:rPr lang="en-US" altLang="en-US" sz="1800" i="1" dirty="0" err="1">
                <a:cs typeface="Times New Roman" panose="02020603050405020304" pitchFamily="18" charset="0"/>
              </a:rPr>
              <a:t>đi</a:t>
            </a:r>
            <a:r>
              <a:rPr lang="en-US" altLang="en-US" sz="1800" i="1" dirty="0">
                <a:cs typeface="Times New Roman" panose="02020603050405020304" pitchFamily="18" charset="0"/>
              </a:rPr>
              <a:t> </a:t>
            </a:r>
            <a:r>
              <a:rPr lang="en-US" altLang="en-US" sz="1800" i="1" dirty="0" err="1">
                <a:cs typeface="Times New Roman" panose="02020603050405020304" pitchFamily="18" charset="0"/>
              </a:rPr>
              <a:t>theo</a:t>
            </a:r>
            <a:r>
              <a:rPr lang="en-US" altLang="en-US" sz="1800" i="1" dirty="0">
                <a:cs typeface="Times New Roman" panose="02020603050405020304" pitchFamily="18" charset="0"/>
              </a:rPr>
              <a:t> </a:t>
            </a:r>
            <a:r>
              <a:rPr lang="en-US" altLang="en-US" sz="1800" i="1" dirty="0" err="1">
                <a:cs typeface="Times New Roman" panose="02020603050405020304" pitchFamily="18" charset="0"/>
              </a:rPr>
              <a:t>bên</a:t>
            </a:r>
            <a:r>
              <a:rPr lang="en-US" altLang="en-US" sz="1800" i="1" dirty="0">
                <a:cs typeface="Times New Roman" panose="02020603050405020304" pitchFamily="18" charset="0"/>
              </a:rPr>
              <a:t> </a:t>
            </a:r>
            <a:r>
              <a:rPr lang="en-US" altLang="en-US" sz="1800" i="1" dirty="0" err="1">
                <a:cs typeface="Times New Roman" panose="02020603050405020304" pitchFamily="18" charset="0"/>
              </a:rPr>
              <a:t>phải</a:t>
            </a:r>
            <a:r>
              <a:rPr lang="en-US" altLang="en-US" sz="1800" i="1" dirty="0">
                <a:cs typeface="Times New Roman" panose="02020603050405020304" pitchFamily="18" charset="0"/>
              </a:rPr>
              <a:t> </a:t>
            </a:r>
            <a:r>
              <a:rPr lang="en-US" altLang="en-US" sz="1800" i="1" dirty="0" err="1">
                <a:cs typeface="Times New Roman" panose="02020603050405020304" pitchFamily="18" charset="0"/>
              </a:rPr>
              <a:t>của</a:t>
            </a:r>
            <a:r>
              <a:rPr lang="en-US" altLang="en-US" sz="1800" i="1" dirty="0">
                <a:cs typeface="Times New Roman" panose="02020603050405020304" pitchFamily="18" charset="0"/>
              </a:rPr>
              <a:t> Q, </a:t>
            </a:r>
            <a:r>
              <a:rPr lang="en-US" altLang="en-US" sz="1800" i="1" dirty="0" err="1">
                <a:cs typeface="Times New Roman" panose="02020603050405020304" pitchFamily="18" charset="0"/>
              </a:rPr>
              <a:t>khi</a:t>
            </a:r>
            <a:r>
              <a:rPr lang="en-US" altLang="en-US" sz="1800" i="1" dirty="0">
                <a:cs typeface="Times New Roman" panose="02020603050405020304" pitchFamily="18" charset="0"/>
              </a:rPr>
              <a:t> </a:t>
            </a:r>
            <a:r>
              <a:rPr lang="en-US" altLang="en-US" sz="1800" i="1" dirty="0" err="1">
                <a:cs typeface="Times New Roman" panose="02020603050405020304" pitchFamily="18" charset="0"/>
              </a:rPr>
              <a:t>nào</a:t>
            </a:r>
            <a:r>
              <a:rPr lang="en-US" altLang="en-US" sz="1800" i="1" dirty="0">
                <a:cs typeface="Times New Roman" panose="02020603050405020304" pitchFamily="18" charset="0"/>
              </a:rPr>
              <a:t> </a:t>
            </a:r>
            <a:r>
              <a:rPr lang="en-US" altLang="en-US" sz="1800" i="1" dirty="0" err="1">
                <a:cs typeface="Times New Roman" panose="02020603050405020304" pitchFamily="18" charset="0"/>
              </a:rPr>
              <a:t>không</a:t>
            </a:r>
            <a:r>
              <a:rPr lang="en-US" altLang="en-US" sz="1800" i="1" dirty="0">
                <a:cs typeface="Times New Roman" panose="02020603050405020304" pitchFamily="18" charset="0"/>
              </a:rPr>
              <a:t> </a:t>
            </a:r>
            <a:r>
              <a:rPr lang="en-US" altLang="en-US" sz="1800" i="1" dirty="0" err="1">
                <a:cs typeface="Times New Roman" panose="02020603050405020304" pitchFamily="18" charset="0"/>
              </a:rPr>
              <a:t>đi</a:t>
            </a:r>
            <a:r>
              <a:rPr lang="en-US" altLang="en-US" sz="1800" i="1" dirty="0">
                <a:cs typeface="Times New Roman" panose="02020603050405020304" pitchFamily="18" charset="0"/>
              </a:rPr>
              <a:t> </a:t>
            </a:r>
            <a:r>
              <a:rPr lang="en-US" altLang="en-US" sz="1800" i="1" dirty="0" err="1">
                <a:cs typeface="Times New Roman" panose="02020603050405020304" pitchFamily="18" charset="0"/>
              </a:rPr>
              <a:t>đươc</a:t>
            </a:r>
            <a:r>
              <a:rPr lang="en-US" altLang="en-US" sz="1800" i="1" dirty="0">
                <a:cs typeface="Times New Roman" panose="02020603050405020304" pitchFamily="18" charset="0"/>
              </a:rPr>
              <a:t> </a:t>
            </a:r>
            <a:r>
              <a:rPr lang="en-US" altLang="en-US" sz="1800" i="1" dirty="0" err="1">
                <a:cs typeface="Times New Roman" panose="02020603050405020304" pitchFamily="18" charset="0"/>
              </a:rPr>
              <a:t>nữa</a:t>
            </a:r>
            <a:r>
              <a:rPr lang="en-US" altLang="en-US" sz="1800" i="1" dirty="0">
                <a:cs typeface="Times New Roman" panose="02020603050405020304" pitchFamily="18" charset="0"/>
              </a:rPr>
              <a:t> </a:t>
            </a:r>
            <a:r>
              <a:rPr lang="en-US" altLang="en-US" sz="1800" i="1" dirty="0" err="1">
                <a:cs typeface="Times New Roman" panose="02020603050405020304" pitchFamily="18" charset="0"/>
              </a:rPr>
              <a:t>thì</a:t>
            </a:r>
            <a:r>
              <a:rPr lang="en-US" altLang="en-US" sz="1800" i="1" dirty="0">
                <a:cs typeface="Times New Roman" panose="02020603050405020304" pitchFamily="18" charset="0"/>
              </a:rPr>
              <a:t> </a:t>
            </a:r>
            <a:r>
              <a:rPr lang="en-US" altLang="en-US" sz="1800" i="1" dirty="0" err="1">
                <a:cs typeface="Times New Roman" panose="02020603050405020304" pitchFamily="18" charset="0"/>
              </a:rPr>
              <a:t>đó</a:t>
            </a:r>
            <a:r>
              <a:rPr lang="en-US" altLang="en-US" sz="1800" i="1" dirty="0">
                <a:cs typeface="Times New Roman" panose="02020603050405020304" pitchFamily="18" charset="0"/>
              </a:rPr>
              <a:t> </a:t>
            </a:r>
            <a:r>
              <a:rPr lang="en-US" altLang="en-US" sz="1800" i="1" dirty="0" err="1">
                <a:cs typeface="Times New Roman" panose="02020603050405020304" pitchFamily="18" charset="0"/>
              </a:rPr>
              <a:t>là</a:t>
            </a:r>
            <a:r>
              <a:rPr lang="en-US" altLang="en-US" sz="1800" i="1" dirty="0">
                <a:cs typeface="Times New Roman" panose="02020603050405020304" pitchFamily="18" charset="0"/>
              </a:rPr>
              <a:t> </a:t>
            </a:r>
            <a:r>
              <a:rPr lang="en-US" altLang="en-US" sz="1800" i="1" dirty="0" err="1">
                <a:cs typeface="Times New Roman" panose="02020603050405020304" pitchFamily="18" charset="0"/>
              </a:rPr>
              <a:t>nút</a:t>
            </a:r>
            <a:r>
              <a:rPr lang="en-US" altLang="en-US" sz="1800" i="1" dirty="0">
                <a:cs typeface="Times New Roman" panose="02020603050405020304" pitchFamily="18" charset="0"/>
              </a:rPr>
              <a:t> </a:t>
            </a:r>
            <a:r>
              <a:rPr lang="en-US" altLang="en-US" sz="1800" i="1" dirty="0" err="1">
                <a:cs typeface="Times New Roman" panose="02020603050405020304" pitchFamily="18" charset="0"/>
              </a:rPr>
              <a:t>ngoài</a:t>
            </a:r>
            <a:r>
              <a:rPr lang="en-US" altLang="en-US" sz="1800" i="1" dirty="0">
                <a:cs typeface="Times New Roman" panose="02020603050405020304" pitchFamily="18" charset="0"/>
              </a:rPr>
              <a:t> </a:t>
            </a:r>
            <a:r>
              <a:rPr lang="en-US" altLang="en-US" sz="1800" i="1" dirty="0" err="1">
                <a:cs typeface="Times New Roman" panose="02020603050405020304" pitchFamily="18" charset="0"/>
              </a:rPr>
              <a:t>cùng</a:t>
            </a:r>
            <a:r>
              <a:rPr lang="en-US" altLang="en-US" sz="1800" i="1" dirty="0">
                <a:cs typeface="Times New Roman" panose="02020603050405020304" pitchFamily="18" charset="0"/>
              </a:rPr>
              <a:t> </a:t>
            </a:r>
            <a:r>
              <a:rPr lang="en-US" altLang="en-US" sz="1800" i="1" dirty="0" err="1">
                <a:cs typeface="Times New Roman" panose="02020603050405020304" pitchFamily="18" charset="0"/>
              </a:rPr>
              <a:t>bên</a:t>
            </a:r>
            <a:r>
              <a:rPr lang="en-US" altLang="en-US" sz="1800" i="1" dirty="0">
                <a:cs typeface="Times New Roman" panose="02020603050405020304" pitchFamily="18" charset="0"/>
              </a:rPr>
              <a:t> </a:t>
            </a:r>
            <a:r>
              <a:rPr lang="en-US" altLang="en-US" sz="1800" i="1" dirty="0" err="1">
                <a:cs typeface="Times New Roman" panose="02020603050405020304" pitchFamily="18" charset="0"/>
              </a:rPr>
              <a:t>phải</a:t>
            </a:r>
            <a:r>
              <a:rPr lang="en-US" altLang="en-US" sz="1800" i="1" dirty="0">
                <a:cs typeface="Times New Roman" panose="02020603050405020304" pitchFamily="18" charset="0"/>
              </a:rPr>
              <a:t>]</a:t>
            </a:r>
          </a:p>
        </p:txBody>
      </p:sp>
      <p:sp>
        <p:nvSpPr>
          <p:cNvPr id="2" name="Rectangle 1"/>
          <p:cNvSpPr/>
          <p:nvPr/>
        </p:nvSpPr>
        <p:spPr>
          <a:xfrm>
            <a:off x="5219700" y="867012"/>
            <a:ext cx="2734916" cy="355482"/>
          </a:xfrm>
          <a:prstGeom prst="rect">
            <a:avLst/>
          </a:prstGeom>
        </p:spPr>
        <p:txBody>
          <a:bodyPr wrap="none">
            <a:spAutoFit/>
          </a:bodyPr>
          <a:lstStyle/>
          <a:p>
            <a:pPr lvl="1">
              <a:lnSpc>
                <a:spcPct val="95000"/>
              </a:lnSpc>
            </a:pPr>
            <a:r>
              <a:rPr lang="en-US" altLang="en-US" i="1" dirty="0">
                <a:latin typeface="Times New Roman" panose="02020603050405020304" pitchFamily="18" charset="0"/>
                <a:cs typeface="Times New Roman" panose="02020603050405020304" pitchFamily="18" charset="0"/>
              </a:rPr>
              <a:t>//</a:t>
            </a:r>
            <a:r>
              <a:rPr lang="en-US" altLang="en-US" i="1" dirty="0" err="1">
                <a:latin typeface="Times New Roman" panose="02020603050405020304" pitchFamily="18" charset="0"/>
                <a:cs typeface="Times New Roman" panose="02020603050405020304" pitchFamily="18" charset="0"/>
              </a:rPr>
              <a:t>Xóa</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nút</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có</a:t>
            </a:r>
            <a:r>
              <a:rPr lang="en-US" altLang="en-US" i="1" dirty="0">
                <a:latin typeface="Times New Roman" panose="02020603050405020304" pitchFamily="18" charset="0"/>
                <a:cs typeface="Times New Roman" panose="02020603050405020304" pitchFamily="18" charset="0"/>
              </a:rPr>
              <a:t> 2 </a:t>
            </a:r>
            <a:r>
              <a:rPr lang="en-US" altLang="en-US" i="1" dirty="0" err="1">
                <a:latin typeface="Times New Roman" panose="02020603050405020304" pitchFamily="18" charset="0"/>
                <a:cs typeface="Times New Roman" panose="02020603050405020304" pitchFamily="18" charset="0"/>
              </a:rPr>
              <a:t>cây</a:t>
            </a:r>
            <a:r>
              <a:rPr lang="en-US" altLang="en-US" i="1" dirty="0">
                <a:latin typeface="Times New Roman" panose="02020603050405020304" pitchFamily="18" charset="0"/>
                <a:cs typeface="Times New Roman" panose="02020603050405020304" pitchFamily="18" charset="0"/>
              </a:rPr>
              <a:t> con</a:t>
            </a:r>
            <a:endParaRPr lang="en-US" i="1" dirty="0">
              <a:latin typeface="Times New Roman" panose="02020603050405020304" pitchFamily="18" charset="0"/>
              <a:cs typeface="Times New Roman" panose="02020603050405020304" pitchFamily="18" charset="0"/>
            </a:endParaRPr>
          </a:p>
        </p:txBody>
      </p:sp>
      <p:sp>
        <p:nvSpPr>
          <p:cNvPr id="3" name="Rectangle 2"/>
          <p:cNvSpPr/>
          <p:nvPr/>
        </p:nvSpPr>
        <p:spPr>
          <a:xfrm>
            <a:off x="5181600" y="1576506"/>
            <a:ext cx="3149708" cy="355482"/>
          </a:xfrm>
          <a:prstGeom prst="rect">
            <a:avLst/>
          </a:prstGeom>
        </p:spPr>
        <p:txBody>
          <a:bodyPr wrap="none">
            <a:spAutoFit/>
          </a:bodyPr>
          <a:lstStyle/>
          <a:p>
            <a:pPr lvl="1">
              <a:lnSpc>
                <a:spcPct val="95000"/>
              </a:lnSpc>
            </a:pPr>
            <a:r>
              <a:rPr lang="en-US" altLang="en-US" i="1" dirty="0">
                <a:latin typeface="Times New Roman" panose="02020603050405020304" pitchFamily="18" charset="0"/>
                <a:cs typeface="Times New Roman" panose="02020603050405020304" pitchFamily="18" charset="0"/>
              </a:rPr>
              <a:t>//Q </a:t>
            </a:r>
            <a:r>
              <a:rPr lang="en-US" altLang="en-US" i="1" dirty="0" err="1">
                <a:latin typeface="Times New Roman" panose="02020603050405020304" pitchFamily="18" charset="0"/>
                <a:cs typeface="Times New Roman" panose="02020603050405020304" pitchFamily="18" charset="0"/>
              </a:rPr>
              <a:t>không</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có</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cây</a:t>
            </a:r>
            <a:r>
              <a:rPr lang="en-US" altLang="en-US" i="1" dirty="0">
                <a:latin typeface="Times New Roman" panose="02020603050405020304" pitchFamily="18" charset="0"/>
                <a:cs typeface="Times New Roman" panose="02020603050405020304" pitchFamily="18" charset="0"/>
              </a:rPr>
              <a:t> con </a:t>
            </a:r>
            <a:r>
              <a:rPr lang="en-US" altLang="en-US" i="1" dirty="0" err="1">
                <a:latin typeface="Times New Roman" panose="02020603050405020304" pitchFamily="18" charset="0"/>
                <a:cs typeface="Times New Roman" panose="02020603050405020304" pitchFamily="18" charset="0"/>
              </a:rPr>
              <a:t>phải</a:t>
            </a:r>
            <a:r>
              <a:rPr lang="en-US" altLang="en-US" i="1" dirty="0">
                <a:latin typeface="Times New Roman" panose="02020603050405020304" pitchFamily="18" charset="0"/>
                <a:cs typeface="Times New Roman" panose="02020603050405020304" pitchFamily="18" charset="0"/>
              </a:rPr>
              <a:t>,</a:t>
            </a:r>
            <a:endParaRPr lang="en-US" i="1" dirty="0">
              <a:latin typeface="Times New Roman" panose="02020603050405020304" pitchFamily="18" charset="0"/>
              <a:cs typeface="Times New Roman" panose="02020603050405020304" pitchFamily="18" charset="0"/>
            </a:endParaRPr>
          </a:p>
        </p:txBody>
      </p:sp>
      <p:sp>
        <p:nvSpPr>
          <p:cNvPr id="4" name="Rectangle 3"/>
          <p:cNvSpPr/>
          <p:nvPr/>
        </p:nvSpPr>
        <p:spPr>
          <a:xfrm>
            <a:off x="5643618" y="1956599"/>
            <a:ext cx="1874616" cy="369332"/>
          </a:xfrm>
          <a:prstGeom prst="rect">
            <a:avLst/>
          </a:prstGeom>
        </p:spPr>
        <p:txBody>
          <a:bodyPr wrap="none">
            <a:spAutoFit/>
          </a:bodyPr>
          <a:lstStyle/>
          <a:p>
            <a:r>
              <a:rPr lang="en-US" altLang="en-US" i="1" dirty="0">
                <a:latin typeface="Times New Roman" panose="02020603050405020304" pitchFamily="18" charset="0"/>
                <a:cs typeface="Times New Roman" panose="02020603050405020304" pitchFamily="18" charset="0"/>
              </a:rPr>
              <a:t>//</a:t>
            </a:r>
            <a:r>
              <a:rPr lang="en-US" altLang="en-US" dirty="0"/>
              <a:t> </a:t>
            </a:r>
            <a:r>
              <a:rPr lang="en-US" altLang="en-US" i="1" dirty="0">
                <a:latin typeface="Times New Roman" panose="02020603050405020304" pitchFamily="18" charset="0"/>
                <a:cs typeface="Times New Roman" panose="02020603050405020304" pitchFamily="18" charset="0"/>
              </a:rPr>
              <a:t>Q </a:t>
            </a:r>
            <a:r>
              <a:rPr lang="en-US" altLang="en-US" i="1" dirty="0" err="1">
                <a:latin typeface="Times New Roman" panose="02020603050405020304" pitchFamily="18" charset="0"/>
                <a:cs typeface="Times New Roman" panose="02020603050405020304" pitchFamily="18" charset="0"/>
              </a:rPr>
              <a:t>là</a:t>
            </a:r>
            <a:r>
              <a:rPr lang="en-US" altLang="en-US" i="1" dirty="0">
                <a:latin typeface="Times New Roman" panose="02020603050405020304" pitchFamily="18" charset="0"/>
                <a:cs typeface="Times New Roman" panose="02020603050405020304" pitchFamily="18" charset="0"/>
              </a:rPr>
              <a:t> Max(</a:t>
            </a:r>
            <a:r>
              <a:rPr lang="en-US" altLang="en-US" i="1" dirty="0" err="1">
                <a:latin typeface="Times New Roman" panose="02020603050405020304" pitchFamily="18" charset="0"/>
                <a:cs typeface="Times New Roman" panose="02020603050405020304" pitchFamily="18" charset="0"/>
              </a:rPr>
              <a:t>Ltree</a:t>
            </a:r>
            <a:r>
              <a:rPr lang="en-US" altLang="en-US" i="1" dirty="0">
                <a:latin typeface="Times New Roman" panose="02020603050405020304" pitchFamily="18" charset="0"/>
                <a:cs typeface="Times New Roman" panose="02020603050405020304" pitchFamily="18" charset="0"/>
              </a:rPr>
              <a:t>)</a:t>
            </a:r>
            <a:endParaRPr lang="en-US" i="1" dirty="0">
              <a:latin typeface="Times New Roman" panose="02020603050405020304" pitchFamily="18" charset="0"/>
              <a:cs typeface="Times New Roman" panose="02020603050405020304" pitchFamily="18" charset="0"/>
            </a:endParaRPr>
          </a:p>
        </p:txBody>
      </p:sp>
      <p:sp>
        <p:nvSpPr>
          <p:cNvPr id="5" name="Rectangle 4"/>
          <p:cNvSpPr/>
          <p:nvPr/>
        </p:nvSpPr>
        <p:spPr>
          <a:xfrm>
            <a:off x="5549445" y="2939781"/>
            <a:ext cx="2168542" cy="369332"/>
          </a:xfrm>
          <a:prstGeom prst="rect">
            <a:avLst/>
          </a:prstGeom>
        </p:spPr>
        <p:txBody>
          <a:bodyPr wrap="none">
            <a:spAutoFit/>
          </a:bodyPr>
          <a:lstStyle/>
          <a:p>
            <a:r>
              <a:rPr lang="en-US" altLang="en-US" i="1" dirty="0">
                <a:latin typeface="Times New Roman" panose="02020603050405020304" pitchFamily="18" charset="0"/>
                <a:cs typeface="Times New Roman" panose="02020603050405020304" pitchFamily="18" charset="0"/>
              </a:rPr>
              <a:t>// R </a:t>
            </a:r>
            <a:r>
              <a:rPr lang="en-US" altLang="en-US" i="1" dirty="0" err="1">
                <a:latin typeface="Times New Roman" panose="02020603050405020304" pitchFamily="18" charset="0"/>
                <a:cs typeface="Times New Roman" panose="02020603050405020304" pitchFamily="18" charset="0"/>
              </a:rPr>
              <a:t>lưu</a:t>
            </a:r>
            <a:r>
              <a:rPr lang="en-US" altLang="en-US" i="1" dirty="0">
                <a:latin typeface="Times New Roman" panose="02020603050405020304" pitchFamily="18" charset="0"/>
                <a:cs typeface="Times New Roman" panose="02020603050405020304" pitchFamily="18" charset="0"/>
              </a:rPr>
              <a:t> parent </a:t>
            </a:r>
            <a:r>
              <a:rPr lang="en-US" altLang="en-US" i="1" dirty="0" err="1">
                <a:latin typeface="Times New Roman" panose="02020603050405020304" pitchFamily="18" charset="0"/>
                <a:cs typeface="Times New Roman" panose="02020603050405020304" pitchFamily="18" charset="0"/>
              </a:rPr>
              <a:t>của</a:t>
            </a:r>
            <a:r>
              <a:rPr lang="en-US" altLang="en-US" i="1" dirty="0">
                <a:latin typeface="Times New Roman" panose="02020603050405020304" pitchFamily="18" charset="0"/>
                <a:cs typeface="Times New Roman" panose="02020603050405020304" pitchFamily="18" charset="0"/>
              </a:rPr>
              <a:t> Q</a:t>
            </a:r>
            <a:endParaRPr lang="en-US" i="1" dirty="0">
              <a:latin typeface="Times New Roman" panose="02020603050405020304" pitchFamily="18" charset="0"/>
              <a:cs typeface="Times New Roman" panose="02020603050405020304" pitchFamily="18" charset="0"/>
            </a:endParaRPr>
          </a:p>
        </p:txBody>
      </p:sp>
      <p:sp>
        <p:nvSpPr>
          <p:cNvPr id="6" name="Rectangle 5"/>
          <p:cNvSpPr/>
          <p:nvPr/>
        </p:nvSpPr>
        <p:spPr>
          <a:xfrm>
            <a:off x="5648293" y="3745934"/>
            <a:ext cx="2646878" cy="369332"/>
          </a:xfrm>
          <a:prstGeom prst="rect">
            <a:avLst/>
          </a:prstGeom>
        </p:spPr>
        <p:txBody>
          <a:bodyPr wrap="none">
            <a:spAutoFit/>
          </a:bodyPr>
          <a:lstStyle/>
          <a:p>
            <a:r>
              <a:rPr lang="en-US" altLang="en-US" i="1" dirty="0">
                <a:latin typeface="Times New Roman" panose="02020603050405020304" pitchFamily="18" charset="0"/>
                <a:cs typeface="Times New Roman" panose="02020603050405020304" pitchFamily="18" charset="0"/>
              </a:rPr>
              <a:t>//</a:t>
            </a:r>
            <a:r>
              <a:rPr lang="en-US" altLang="en-US" i="1" dirty="0" err="1">
                <a:latin typeface="Times New Roman" panose="02020603050405020304" pitchFamily="18" charset="0"/>
                <a:cs typeface="Times New Roman" panose="02020603050405020304" pitchFamily="18" charset="0"/>
              </a:rPr>
              <a:t>Lấy</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giá</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trị</a:t>
            </a:r>
            <a:r>
              <a:rPr lang="en-US" altLang="en-US" i="1" dirty="0">
                <a:latin typeface="Times New Roman" panose="02020603050405020304" pitchFamily="18" charset="0"/>
                <a:cs typeface="Times New Roman" panose="02020603050405020304" pitchFamily="18" charset="0"/>
              </a:rPr>
              <a:t> ở Q </a:t>
            </a:r>
            <a:r>
              <a:rPr lang="en-US" altLang="en-US" i="1" dirty="0" err="1">
                <a:latin typeface="Times New Roman" panose="02020603050405020304" pitchFamily="18" charset="0"/>
                <a:cs typeface="Times New Roman" panose="02020603050405020304" pitchFamily="18" charset="0"/>
              </a:rPr>
              <a:t>đưa</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lên</a:t>
            </a:r>
            <a:r>
              <a:rPr lang="en-US" altLang="en-US" i="1" dirty="0">
                <a:latin typeface="Times New Roman" panose="02020603050405020304" pitchFamily="18" charset="0"/>
                <a:cs typeface="Times New Roman" panose="02020603050405020304" pitchFamily="18" charset="0"/>
              </a:rPr>
              <a:t> P</a:t>
            </a:r>
            <a:endParaRPr lang="en-US" i="1" dirty="0">
              <a:latin typeface="Times New Roman" panose="02020603050405020304" pitchFamily="18" charset="0"/>
              <a:cs typeface="Times New Roman" panose="02020603050405020304" pitchFamily="18" charset="0"/>
            </a:endParaRPr>
          </a:p>
        </p:txBody>
      </p:sp>
      <p:sp>
        <p:nvSpPr>
          <p:cNvPr id="7" name="Rectangle 6"/>
          <p:cNvSpPr/>
          <p:nvPr/>
        </p:nvSpPr>
        <p:spPr>
          <a:xfrm>
            <a:off x="5673693" y="4132951"/>
            <a:ext cx="3089307" cy="369332"/>
          </a:xfrm>
          <a:prstGeom prst="rect">
            <a:avLst/>
          </a:prstGeom>
        </p:spPr>
        <p:txBody>
          <a:bodyPr wrap="none">
            <a:spAutoFit/>
          </a:bodyPr>
          <a:lstStyle/>
          <a:p>
            <a:r>
              <a:rPr lang="en-US" altLang="en-US" i="1" dirty="0">
                <a:latin typeface="Times New Roman" panose="02020603050405020304" pitchFamily="18" charset="0"/>
                <a:cs typeface="Times New Roman" panose="02020603050405020304" pitchFamily="18" charset="0"/>
              </a:rPr>
              <a:t>//</a:t>
            </a:r>
            <a:r>
              <a:rPr lang="en-US" altLang="en-US" i="1" dirty="0" err="1">
                <a:latin typeface="Times New Roman" panose="02020603050405020304" pitchFamily="18" charset="0"/>
                <a:cs typeface="Times New Roman" panose="02020603050405020304" pitchFamily="18" charset="0"/>
              </a:rPr>
              <a:t>Chuyển</a:t>
            </a:r>
            <a:r>
              <a:rPr lang="en-US" altLang="en-US" i="1" dirty="0">
                <a:latin typeface="Times New Roman" panose="02020603050405020304" pitchFamily="18" charset="0"/>
                <a:cs typeface="Times New Roman" panose="02020603050405020304" pitchFamily="18" charset="0"/>
              </a:rPr>
              <a:t> con </a:t>
            </a:r>
            <a:r>
              <a:rPr lang="en-US" altLang="en-US" i="1" dirty="0" err="1">
                <a:latin typeface="Times New Roman" panose="02020603050405020304" pitchFamily="18" charset="0"/>
                <a:cs typeface="Times New Roman" panose="02020603050405020304" pitchFamily="18" charset="0"/>
              </a:rPr>
              <a:t>của</a:t>
            </a:r>
            <a:r>
              <a:rPr lang="en-US" altLang="en-US" i="1" dirty="0">
                <a:latin typeface="Times New Roman" panose="02020603050405020304" pitchFamily="18" charset="0"/>
                <a:cs typeface="Times New Roman" panose="02020603050405020304" pitchFamily="18" charset="0"/>
              </a:rPr>
              <a:t> Q </a:t>
            </a:r>
            <a:r>
              <a:rPr lang="en-US" altLang="en-US" i="1" dirty="0" err="1">
                <a:latin typeface="Times New Roman" panose="02020603050405020304" pitchFamily="18" charset="0"/>
                <a:cs typeface="Times New Roman" panose="02020603050405020304" pitchFamily="18" charset="0"/>
              </a:rPr>
              <a:t>lên</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vị</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trí</a:t>
            </a:r>
            <a:r>
              <a:rPr lang="en-US" altLang="en-US" i="1" dirty="0">
                <a:latin typeface="Times New Roman" panose="02020603050405020304" pitchFamily="18" charset="0"/>
                <a:cs typeface="Times New Roman" panose="02020603050405020304" pitchFamily="18" charset="0"/>
              </a:rPr>
              <a:t> Q</a:t>
            </a:r>
            <a:endParaRPr lang="en-US" i="1" dirty="0">
              <a:latin typeface="Times New Roman" panose="02020603050405020304" pitchFamily="18" charset="0"/>
              <a:cs typeface="Times New Roman" panose="02020603050405020304" pitchFamily="18" charset="0"/>
            </a:endParaRPr>
          </a:p>
        </p:txBody>
      </p:sp>
      <p:sp>
        <p:nvSpPr>
          <p:cNvPr id="8" name="Rectangle 7"/>
          <p:cNvSpPr/>
          <p:nvPr/>
        </p:nvSpPr>
        <p:spPr>
          <a:xfrm>
            <a:off x="5724493" y="4889301"/>
            <a:ext cx="909223" cy="369332"/>
          </a:xfrm>
          <a:prstGeom prst="rect">
            <a:avLst/>
          </a:prstGeom>
        </p:spPr>
        <p:txBody>
          <a:bodyPr wrap="none">
            <a:spAutoFit/>
          </a:bodyPr>
          <a:lstStyle/>
          <a:p>
            <a:r>
              <a:rPr lang="en-US" altLang="en-US" i="1" dirty="0">
                <a:latin typeface="Times New Roman" panose="02020603050405020304" pitchFamily="18" charset="0"/>
                <a:cs typeface="Times New Roman" panose="02020603050405020304" pitchFamily="18" charset="0"/>
              </a:rPr>
              <a:t>//</a:t>
            </a:r>
            <a:r>
              <a:rPr lang="en-US" altLang="en-US" i="1" dirty="0" err="1">
                <a:latin typeface="Times New Roman" panose="02020603050405020304" pitchFamily="18" charset="0"/>
                <a:cs typeface="Times New Roman" panose="02020603050405020304" pitchFamily="18" charset="0"/>
              </a:rPr>
              <a:t>Xoá</a:t>
            </a:r>
            <a:r>
              <a:rPr lang="en-US" altLang="en-US" i="1" dirty="0">
                <a:latin typeface="Times New Roman" panose="02020603050405020304" pitchFamily="18" charset="0"/>
                <a:cs typeface="Times New Roman" panose="02020603050405020304" pitchFamily="18" charset="0"/>
              </a:rPr>
              <a:t> Q</a:t>
            </a:r>
            <a:endParaRPr lang="en-US" i="1" dirty="0">
              <a:latin typeface="Times New Roman" panose="02020603050405020304" pitchFamily="18" charset="0"/>
              <a:cs typeface="Times New Roman" panose="02020603050405020304" pitchFamily="18" charset="0"/>
            </a:endParaRPr>
          </a:p>
        </p:txBody>
      </p:sp>
      <p:sp>
        <p:nvSpPr>
          <p:cNvPr id="9" name="Title 8"/>
          <p:cNvSpPr>
            <a:spLocks noGrp="1"/>
          </p:cNvSpPr>
          <p:nvPr>
            <p:ph type="title"/>
          </p:nvPr>
        </p:nvSpPr>
        <p:spPr/>
        <p:txBody>
          <a:bodyPr/>
          <a:lstStyle/>
          <a:p>
            <a:endParaRPr lang="en-US"/>
          </a:p>
        </p:txBody>
      </p:sp>
    </p:spTree>
    <p:extLst>
      <p:ext uri="{BB962C8B-B14F-4D97-AF65-F5344CB8AC3E}">
        <p14:creationId xmlns:p14="http://schemas.microsoft.com/office/powerpoint/2010/main" val="2036009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55</a:t>
            </a:fld>
            <a:endParaRPr lang="en-US"/>
          </a:p>
        </p:txBody>
      </p:sp>
      <p:sp>
        <p:nvSpPr>
          <p:cNvPr id="4" name="Title 3"/>
          <p:cNvSpPr>
            <a:spLocks noGrp="1"/>
          </p:cNvSpPr>
          <p:nvPr>
            <p:ph type="title"/>
          </p:nvPr>
        </p:nvSpPr>
        <p:spPr/>
        <p:txBody>
          <a:bodyPr/>
          <a:lstStyle/>
          <a:p>
            <a:endParaRPr lang="en-US"/>
          </a:p>
        </p:txBody>
      </p:sp>
      <p:sp>
        <p:nvSpPr>
          <p:cNvPr id="5" name="Text Placeholder 4"/>
          <p:cNvSpPr>
            <a:spLocks noGrp="1"/>
          </p:cNvSpPr>
          <p:nvPr>
            <p:ph type="body" sz="quarter" idx="13"/>
          </p:nvPr>
        </p:nvSpPr>
        <p:spPr>
          <a:xfrm>
            <a:off x="2971800" y="2438400"/>
            <a:ext cx="5937250" cy="3657600"/>
          </a:xfrm>
        </p:spPr>
        <p:txBody>
          <a:bodyPr/>
          <a:lstStyle/>
          <a:p>
            <a:pPr marL="0" indent="0">
              <a:buNone/>
            </a:pPr>
            <a:r>
              <a:rPr lang="en-US" altLang="en-US" sz="2800" dirty="0">
                <a:cs typeface="Times New Roman" panose="02020603050405020304" pitchFamily="18" charset="0"/>
              </a:rPr>
              <a:t>3. </a:t>
            </a:r>
            <a:r>
              <a:rPr lang="en-US" altLang="en-US" sz="2800" dirty="0" err="1">
                <a:cs typeface="Times New Roman" panose="02020603050405020304" pitchFamily="18" charset="0"/>
              </a:rPr>
              <a:t>Cây</a:t>
            </a:r>
            <a:r>
              <a:rPr lang="en-US" altLang="en-US" sz="2800" dirty="0">
                <a:cs typeface="Times New Roman" panose="02020603050405020304" pitchFamily="18" charset="0"/>
              </a:rPr>
              <a:t> </a:t>
            </a:r>
            <a:r>
              <a:rPr lang="en-US" altLang="en-US" sz="2800" dirty="0" err="1">
                <a:cs typeface="Times New Roman" panose="02020603050405020304" pitchFamily="18" charset="0"/>
              </a:rPr>
              <a:t>tổng</a:t>
            </a:r>
            <a:r>
              <a:rPr lang="en-US" altLang="en-US" sz="2800" dirty="0">
                <a:cs typeface="Times New Roman" panose="02020603050405020304" pitchFamily="18" charset="0"/>
              </a:rPr>
              <a:t> </a:t>
            </a:r>
            <a:r>
              <a:rPr lang="en-US" altLang="en-US" sz="2800" dirty="0" err="1">
                <a:cs typeface="Times New Roman" panose="02020603050405020304" pitchFamily="18" charset="0"/>
              </a:rPr>
              <a:t>quát</a:t>
            </a:r>
            <a:endParaRPr lang="en-US" dirty="0"/>
          </a:p>
        </p:txBody>
      </p:sp>
    </p:spTree>
    <p:extLst>
      <p:ext uri="{BB962C8B-B14F-4D97-AF65-F5344CB8AC3E}">
        <p14:creationId xmlns:p14="http://schemas.microsoft.com/office/powerpoint/2010/main" val="39980017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2"/>
          <p:cNvSpPr>
            <a:spLocks noGrp="1" noChangeArrowheads="1"/>
          </p:cNvSpPr>
          <p:nvPr>
            <p:ph type="title"/>
          </p:nvPr>
        </p:nvSpPr>
        <p:spPr/>
        <p:txBody>
          <a:bodyPr/>
          <a:lstStyle/>
          <a:p>
            <a:pPr eaLnBrk="1" hangingPunct="1"/>
            <a:r>
              <a:rPr lang="en-US" altLang="en-US" dirty="0">
                <a:cs typeface="Times New Roman" panose="02020603050405020304" pitchFamily="18" charset="0"/>
              </a:rPr>
              <a:t>3. </a:t>
            </a:r>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tổng</a:t>
            </a:r>
            <a:r>
              <a:rPr lang="en-US" altLang="en-US" dirty="0">
                <a:cs typeface="Times New Roman" panose="02020603050405020304" pitchFamily="18" charset="0"/>
              </a:rPr>
              <a:t> </a:t>
            </a:r>
            <a:r>
              <a:rPr lang="en-US" altLang="en-US" dirty="0" err="1">
                <a:cs typeface="Times New Roman" panose="02020603050405020304" pitchFamily="18" charset="0"/>
              </a:rPr>
              <a:t>quát</a:t>
            </a:r>
            <a:endParaRPr lang="en-US" altLang="en-US" dirty="0">
              <a:cs typeface="Times New Roman" panose="02020603050405020304" pitchFamily="18" charset="0"/>
            </a:endParaRPr>
          </a:p>
        </p:txBody>
      </p:sp>
      <p:sp>
        <p:nvSpPr>
          <p:cNvPr id="49157" name="Rectangle 3"/>
          <p:cNvSpPr>
            <a:spLocks noGrp="1" noChangeArrowheads="1"/>
          </p:cNvSpPr>
          <p:nvPr>
            <p:ph type="body" sz="quarter" idx="13"/>
          </p:nvPr>
        </p:nvSpPr>
        <p:spPr>
          <a:noFill/>
        </p:spPr>
        <p:txBody>
          <a:bodyPr>
            <a:normAutofit/>
          </a:bodyPr>
          <a:lstStyle/>
          <a:p>
            <a:pPr eaLnBrk="1" hangingPunct="1">
              <a:spcBef>
                <a:spcPct val="15000"/>
              </a:spcBef>
            </a:pPr>
            <a:r>
              <a:rPr lang="en-US" altLang="en-US" sz="2400" dirty="0" err="1">
                <a:cs typeface="Times New Roman" panose="02020603050405020304" pitchFamily="18" charset="0"/>
              </a:rPr>
              <a:t>Giới</a:t>
            </a:r>
            <a:r>
              <a:rPr lang="en-US" altLang="en-US" sz="2400" dirty="0">
                <a:cs typeface="Times New Roman" panose="02020603050405020304" pitchFamily="18" charset="0"/>
              </a:rPr>
              <a:t> </a:t>
            </a:r>
            <a:r>
              <a:rPr lang="en-US" altLang="en-US" sz="2400" dirty="0" err="1">
                <a:cs typeface="Times New Roman" panose="02020603050405020304" pitchFamily="18" charset="0"/>
              </a:rPr>
              <a:t>thiệu</a:t>
            </a:r>
            <a:endParaRPr lang="en-US" altLang="en-US" sz="2400" dirty="0">
              <a:cs typeface="Times New Roman" panose="02020603050405020304" pitchFamily="18" charset="0"/>
            </a:endParaRPr>
          </a:p>
          <a:p>
            <a:pPr lvl="1" eaLnBrk="1" hangingPunct="1">
              <a:spcBef>
                <a:spcPct val="15000"/>
              </a:spcBef>
            </a:pP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tổng</a:t>
            </a:r>
            <a:r>
              <a:rPr lang="en-US" altLang="en-US" sz="2000" dirty="0">
                <a:cs typeface="Times New Roman" panose="02020603050405020304" pitchFamily="18" charset="0"/>
              </a:rPr>
              <a:t> </a:t>
            </a:r>
            <a:r>
              <a:rPr lang="en-US" altLang="en-US" sz="2000" dirty="0" err="1">
                <a:cs typeface="Times New Roman" panose="02020603050405020304" pitchFamily="18" charset="0"/>
              </a:rPr>
              <a:t>quát</a:t>
            </a:r>
            <a:r>
              <a:rPr lang="en-US" altLang="en-US" sz="2000" dirty="0">
                <a:cs typeface="Times New Roman" panose="02020603050405020304" pitchFamily="18" charset="0"/>
              </a:rPr>
              <a:t>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mà</a:t>
            </a:r>
            <a:r>
              <a:rPr lang="en-US" altLang="en-US" sz="2000" dirty="0">
                <a:cs typeface="Times New Roman" panose="02020603050405020304" pitchFamily="18" charset="0"/>
              </a:rPr>
              <a:t> </a:t>
            </a:r>
            <a:r>
              <a:rPr lang="en-US" altLang="en-US" sz="2000" dirty="0" err="1">
                <a:cs typeface="Times New Roman" panose="02020603050405020304" pitchFamily="18" charset="0"/>
              </a:rPr>
              <a:t>mỗi</a:t>
            </a:r>
            <a:r>
              <a:rPr lang="en-US" altLang="en-US" sz="2000" dirty="0">
                <a:cs typeface="Times New Roman" panose="02020603050405020304" pitchFamily="18" charset="0"/>
              </a:rPr>
              <a:t> </a:t>
            </a:r>
            <a:r>
              <a:rPr lang="en-US" altLang="en-US" sz="2000" dirty="0" err="1">
                <a:cs typeface="Times New Roman" panose="02020603050405020304" pitchFamily="18" charset="0"/>
              </a:rPr>
              <a:t>nút</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thể</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nhiều</a:t>
            </a:r>
            <a:r>
              <a:rPr lang="en-US" altLang="en-US" sz="2000" dirty="0">
                <a:cs typeface="Times New Roman" panose="02020603050405020304" pitchFamily="18" charset="0"/>
              </a:rPr>
              <a:t> </a:t>
            </a:r>
            <a:r>
              <a:rPr lang="en-US" altLang="en-US" sz="2000" dirty="0" err="1">
                <a:cs typeface="Times New Roman" panose="02020603050405020304" pitchFamily="18" charset="0"/>
              </a:rPr>
              <a:t>hơn</a:t>
            </a:r>
            <a:r>
              <a:rPr lang="en-US" altLang="en-US" sz="2000" dirty="0">
                <a:cs typeface="Times New Roman" panose="02020603050405020304" pitchFamily="18" charset="0"/>
              </a:rPr>
              <a:t> </a:t>
            </a:r>
            <a:r>
              <a:rPr lang="en-US" altLang="en-US" sz="2000" dirty="0" err="1">
                <a:cs typeface="Times New Roman" panose="02020603050405020304" pitchFamily="18" charset="0"/>
              </a:rPr>
              <a:t>hai</a:t>
            </a:r>
            <a:r>
              <a:rPr lang="en-US" altLang="en-US" sz="2000" dirty="0">
                <a:cs typeface="Times New Roman" panose="02020603050405020304" pitchFamily="18" charset="0"/>
              </a:rPr>
              <a:t> con. </a:t>
            </a:r>
          </a:p>
          <a:p>
            <a:pPr lvl="1" eaLnBrk="1" hangingPunct="1">
              <a:spcBef>
                <a:spcPct val="15000"/>
              </a:spcBef>
            </a:pPr>
            <a:r>
              <a:rPr lang="en-US" altLang="en-US" sz="2000" dirty="0" err="1">
                <a:cs typeface="Times New Roman" panose="02020603050405020304" pitchFamily="18" charset="0"/>
              </a:rPr>
              <a:t>Việc</a:t>
            </a:r>
            <a:r>
              <a:rPr lang="en-US" altLang="en-US" sz="2000" dirty="0">
                <a:cs typeface="Times New Roman" panose="02020603050405020304" pitchFamily="18" charset="0"/>
              </a:rPr>
              <a:t> </a:t>
            </a:r>
            <a:r>
              <a:rPr lang="en-US" altLang="en-US" sz="2000" dirty="0" err="1">
                <a:cs typeface="Times New Roman" panose="02020603050405020304" pitchFamily="18" charset="0"/>
              </a:rPr>
              <a:t>cài</a:t>
            </a:r>
            <a:r>
              <a:rPr lang="en-US" altLang="en-US" sz="2000" dirty="0">
                <a:cs typeface="Times New Roman" panose="02020603050405020304" pitchFamily="18" charset="0"/>
              </a:rPr>
              <a:t> </a:t>
            </a:r>
            <a:r>
              <a:rPr lang="en-US" altLang="en-US" sz="2000" dirty="0" err="1">
                <a:cs typeface="Times New Roman" panose="02020603050405020304" pitchFamily="18" charset="0"/>
              </a:rPr>
              <a:t>đặt</a:t>
            </a:r>
            <a:r>
              <a:rPr lang="en-US" altLang="en-US" sz="2000" dirty="0">
                <a:cs typeface="Times New Roman" panose="02020603050405020304" pitchFamily="18" charset="0"/>
              </a:rPr>
              <a:t> </a:t>
            </a:r>
            <a:r>
              <a:rPr lang="en-US" altLang="en-US" sz="2000" dirty="0" err="1">
                <a:cs typeface="Times New Roman" panose="02020603050405020304" pitchFamily="18" charset="0"/>
              </a:rPr>
              <a:t>càng</a:t>
            </a:r>
            <a:r>
              <a:rPr lang="en-US" altLang="en-US" sz="2000" dirty="0">
                <a:cs typeface="Times New Roman" panose="02020603050405020304" pitchFamily="18" charset="0"/>
              </a:rPr>
              <a:t> </a:t>
            </a:r>
            <a:r>
              <a:rPr lang="en-US" altLang="en-US" sz="2000" dirty="0" err="1">
                <a:cs typeface="Times New Roman" panose="02020603050405020304" pitchFamily="18" charset="0"/>
              </a:rPr>
              <a:t>phức</a:t>
            </a:r>
            <a:r>
              <a:rPr lang="en-US" altLang="en-US" sz="2000" dirty="0">
                <a:cs typeface="Times New Roman" panose="02020603050405020304" pitchFamily="18" charset="0"/>
              </a:rPr>
              <a:t> </a:t>
            </a:r>
            <a:r>
              <a:rPr lang="en-US" altLang="en-US" sz="2000" dirty="0" err="1">
                <a:cs typeface="Times New Roman" panose="02020603050405020304" pitchFamily="18" charset="0"/>
              </a:rPr>
              <a:t>tạp</a:t>
            </a:r>
            <a:r>
              <a:rPr lang="en-US" altLang="en-US" sz="2000" dirty="0">
                <a:cs typeface="Times New Roman" panose="02020603050405020304" pitchFamily="18" charset="0"/>
              </a:rPr>
              <a:t>, </a:t>
            </a:r>
            <a:r>
              <a:rPr lang="en-US" altLang="en-US" sz="2000" dirty="0" err="1">
                <a:cs typeface="Times New Roman" panose="02020603050405020304" pitchFamily="18" charset="0"/>
              </a:rPr>
              <a:t>nhất</a:t>
            </a:r>
            <a:r>
              <a:rPr lang="en-US" altLang="en-US" sz="2000" dirty="0">
                <a:cs typeface="Times New Roman" panose="02020603050405020304" pitchFamily="18" charset="0"/>
              </a:rPr>
              <a:t>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những</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mà</a:t>
            </a:r>
            <a:r>
              <a:rPr lang="en-US" altLang="en-US" sz="2000" dirty="0">
                <a:cs typeface="Times New Roman" panose="02020603050405020304" pitchFamily="18" charset="0"/>
              </a:rPr>
              <a:t> </a:t>
            </a:r>
            <a:r>
              <a:rPr lang="en-US" altLang="en-US" sz="2000" dirty="0" err="1">
                <a:cs typeface="Times New Roman" panose="02020603050405020304" pitchFamily="18" charset="0"/>
              </a:rPr>
              <a:t>số</a:t>
            </a:r>
            <a:r>
              <a:rPr lang="en-US" altLang="en-US" sz="2000" dirty="0">
                <a:cs typeface="Times New Roman" panose="02020603050405020304" pitchFamily="18" charset="0"/>
              </a:rPr>
              <a:t> con </a:t>
            </a:r>
            <a:r>
              <a:rPr lang="en-US" altLang="en-US" sz="2000" dirty="0" err="1">
                <a:cs typeface="Times New Roman" panose="02020603050405020304" pitchFamily="18" charset="0"/>
              </a:rPr>
              <a:t>tối</a:t>
            </a:r>
            <a:r>
              <a:rPr lang="en-US" altLang="en-US" sz="2000" dirty="0">
                <a:cs typeface="Times New Roman" panose="02020603050405020304" pitchFamily="18" charset="0"/>
              </a:rPr>
              <a:t> </a:t>
            </a:r>
            <a:r>
              <a:rPr lang="en-US" altLang="en-US" sz="2000" dirty="0" err="1">
                <a:cs typeface="Times New Roman" panose="02020603050405020304" pitchFamily="18" charset="0"/>
              </a:rPr>
              <a:t>đa</a:t>
            </a:r>
            <a:r>
              <a:rPr lang="en-US" altLang="en-US" sz="2000" dirty="0">
                <a:cs typeface="Times New Roman" panose="02020603050405020304" pitchFamily="18" charset="0"/>
              </a:rPr>
              <a:t> </a:t>
            </a:r>
            <a:r>
              <a:rPr lang="en-US" altLang="en-US" sz="2000" dirty="0" err="1">
                <a:cs typeface="Times New Roman" panose="02020603050405020304" pitchFamily="18" charset="0"/>
              </a:rPr>
              <a:t>thường</a:t>
            </a:r>
            <a:r>
              <a:rPr lang="en-US" altLang="en-US" sz="2000" dirty="0">
                <a:cs typeface="Times New Roman" panose="02020603050405020304" pitchFamily="18" charset="0"/>
              </a:rPr>
              <a:t> </a:t>
            </a:r>
            <a:r>
              <a:rPr lang="en-US" altLang="en-US" sz="2000" dirty="0" err="1">
                <a:cs typeface="Times New Roman" panose="02020603050405020304" pitchFamily="18" charset="0"/>
              </a:rPr>
              <a:t>không</a:t>
            </a:r>
            <a:r>
              <a:rPr lang="en-US" altLang="en-US" sz="2000" dirty="0">
                <a:cs typeface="Times New Roman" panose="02020603050405020304" pitchFamily="18" charset="0"/>
              </a:rPr>
              <a:t> </a:t>
            </a:r>
            <a:r>
              <a:rPr lang="en-US" altLang="en-US" sz="2000" dirty="0" err="1">
                <a:cs typeface="Times New Roman" panose="02020603050405020304" pitchFamily="18" charset="0"/>
              </a:rPr>
              <a:t>cố</a:t>
            </a:r>
            <a:r>
              <a:rPr lang="en-US" altLang="en-US" sz="2000" dirty="0">
                <a:cs typeface="Times New Roman" panose="02020603050405020304" pitchFamily="18" charset="0"/>
              </a:rPr>
              <a:t> </a:t>
            </a:r>
            <a:r>
              <a:rPr lang="en-US" altLang="en-US" sz="2000" dirty="0" err="1">
                <a:cs typeface="Times New Roman" panose="02020603050405020304" pitchFamily="18" charset="0"/>
              </a:rPr>
              <a:t>định</a:t>
            </a:r>
            <a:endParaRPr lang="en-US" altLang="en-US" sz="2000" dirty="0">
              <a:cs typeface="Times New Roman" panose="02020603050405020304" pitchFamily="18" charset="0"/>
            </a:endParaRPr>
          </a:p>
          <a:p>
            <a:pPr eaLnBrk="1" hangingPunct="1">
              <a:spcBef>
                <a:spcPct val="15000"/>
              </a:spcBef>
            </a:pPr>
            <a:endParaRPr lang="en-US" altLang="en-US" sz="2800" dirty="0">
              <a:cs typeface="Times New Roman" panose="02020603050405020304" pitchFamily="18" charset="0"/>
            </a:endParaRPr>
          </a:p>
        </p:txBody>
      </p:sp>
      <p:grpSp>
        <p:nvGrpSpPr>
          <p:cNvPr id="49158" name="Group 32"/>
          <p:cNvGrpSpPr>
            <a:grpSpLocks/>
          </p:cNvGrpSpPr>
          <p:nvPr/>
        </p:nvGrpSpPr>
        <p:grpSpPr bwMode="auto">
          <a:xfrm>
            <a:off x="4135523" y="2457516"/>
            <a:ext cx="4800600" cy="3505200"/>
            <a:chOff x="2333" y="1680"/>
            <a:chExt cx="3283" cy="2304"/>
          </a:xfrm>
        </p:grpSpPr>
        <p:sp>
          <p:nvSpPr>
            <p:cNvPr id="49171" name="Oval 5"/>
            <p:cNvSpPr>
              <a:spLocks noChangeArrowheads="1"/>
            </p:cNvSpPr>
            <p:nvPr/>
          </p:nvSpPr>
          <p:spPr bwMode="auto">
            <a:xfrm>
              <a:off x="3882" y="1680"/>
              <a:ext cx="365" cy="34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t>4</a:t>
              </a:r>
            </a:p>
          </p:txBody>
        </p:sp>
        <p:sp>
          <p:nvSpPr>
            <p:cNvPr id="49172" name="Oval 6"/>
            <p:cNvSpPr>
              <a:spLocks noChangeArrowheads="1"/>
            </p:cNvSpPr>
            <p:nvPr/>
          </p:nvSpPr>
          <p:spPr bwMode="auto">
            <a:xfrm>
              <a:off x="4764" y="2753"/>
              <a:ext cx="365" cy="34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t>4.2</a:t>
              </a:r>
            </a:p>
          </p:txBody>
        </p:sp>
        <p:sp>
          <p:nvSpPr>
            <p:cNvPr id="49173" name="Oval 7"/>
            <p:cNvSpPr>
              <a:spLocks noChangeArrowheads="1"/>
            </p:cNvSpPr>
            <p:nvPr/>
          </p:nvSpPr>
          <p:spPr bwMode="auto">
            <a:xfrm>
              <a:off x="3124" y="2685"/>
              <a:ext cx="365" cy="34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t>4.1</a:t>
              </a:r>
            </a:p>
          </p:txBody>
        </p:sp>
        <p:sp>
          <p:nvSpPr>
            <p:cNvPr id="49174" name="Oval 8"/>
            <p:cNvSpPr>
              <a:spLocks noChangeArrowheads="1"/>
            </p:cNvSpPr>
            <p:nvPr/>
          </p:nvSpPr>
          <p:spPr bwMode="auto">
            <a:xfrm>
              <a:off x="2333" y="3642"/>
              <a:ext cx="365" cy="34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t>4.1.1</a:t>
              </a:r>
            </a:p>
          </p:txBody>
        </p:sp>
        <p:sp>
          <p:nvSpPr>
            <p:cNvPr id="49175" name="Oval 9"/>
            <p:cNvSpPr>
              <a:spLocks noChangeArrowheads="1"/>
            </p:cNvSpPr>
            <p:nvPr/>
          </p:nvSpPr>
          <p:spPr bwMode="auto">
            <a:xfrm>
              <a:off x="3794" y="3642"/>
              <a:ext cx="365" cy="34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t>4.1.3</a:t>
              </a:r>
            </a:p>
          </p:txBody>
        </p:sp>
        <p:sp>
          <p:nvSpPr>
            <p:cNvPr id="49176" name="Oval 10"/>
            <p:cNvSpPr>
              <a:spLocks noChangeArrowheads="1"/>
            </p:cNvSpPr>
            <p:nvPr/>
          </p:nvSpPr>
          <p:spPr bwMode="auto">
            <a:xfrm>
              <a:off x="3063" y="3642"/>
              <a:ext cx="365" cy="34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t>4.1.2</a:t>
              </a:r>
            </a:p>
          </p:txBody>
        </p:sp>
        <p:sp>
          <p:nvSpPr>
            <p:cNvPr id="49177" name="Oval 11"/>
            <p:cNvSpPr>
              <a:spLocks noChangeArrowheads="1"/>
            </p:cNvSpPr>
            <p:nvPr/>
          </p:nvSpPr>
          <p:spPr bwMode="auto">
            <a:xfrm>
              <a:off x="4399" y="3642"/>
              <a:ext cx="365" cy="34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t>4.2.1</a:t>
              </a:r>
            </a:p>
          </p:txBody>
        </p:sp>
        <p:sp>
          <p:nvSpPr>
            <p:cNvPr id="49178" name="Oval 12"/>
            <p:cNvSpPr>
              <a:spLocks noChangeArrowheads="1"/>
            </p:cNvSpPr>
            <p:nvPr/>
          </p:nvSpPr>
          <p:spPr bwMode="auto">
            <a:xfrm>
              <a:off x="5251" y="3642"/>
              <a:ext cx="365" cy="34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t>4.2.2</a:t>
              </a:r>
            </a:p>
          </p:txBody>
        </p:sp>
        <p:sp>
          <p:nvSpPr>
            <p:cNvPr id="49179" name="Line 13"/>
            <p:cNvSpPr>
              <a:spLocks noChangeShapeType="1"/>
            </p:cNvSpPr>
            <p:nvPr/>
          </p:nvSpPr>
          <p:spPr bwMode="auto">
            <a:xfrm flipH="1">
              <a:off x="3334" y="1968"/>
              <a:ext cx="602" cy="7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80" name="Line 14"/>
            <p:cNvSpPr>
              <a:spLocks noChangeShapeType="1"/>
            </p:cNvSpPr>
            <p:nvPr/>
          </p:nvSpPr>
          <p:spPr bwMode="auto">
            <a:xfrm flipH="1">
              <a:off x="2576" y="2959"/>
              <a:ext cx="609" cy="68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81" name="Line 15"/>
            <p:cNvSpPr>
              <a:spLocks noChangeShapeType="1"/>
            </p:cNvSpPr>
            <p:nvPr/>
          </p:nvSpPr>
          <p:spPr bwMode="auto">
            <a:xfrm flipH="1">
              <a:off x="3246" y="3024"/>
              <a:ext cx="18" cy="6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82" name="Line 16"/>
            <p:cNvSpPr>
              <a:spLocks noChangeShapeType="1"/>
            </p:cNvSpPr>
            <p:nvPr/>
          </p:nvSpPr>
          <p:spPr bwMode="auto">
            <a:xfrm>
              <a:off x="3428" y="2959"/>
              <a:ext cx="487" cy="68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83" name="Line 17"/>
            <p:cNvSpPr>
              <a:spLocks noChangeShapeType="1"/>
            </p:cNvSpPr>
            <p:nvPr/>
          </p:nvSpPr>
          <p:spPr bwMode="auto">
            <a:xfrm>
              <a:off x="4224" y="1968"/>
              <a:ext cx="632" cy="8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84" name="Line 18"/>
            <p:cNvSpPr>
              <a:spLocks noChangeShapeType="1"/>
            </p:cNvSpPr>
            <p:nvPr/>
          </p:nvSpPr>
          <p:spPr bwMode="auto">
            <a:xfrm flipH="1">
              <a:off x="4581" y="3095"/>
              <a:ext cx="366" cy="5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85" name="Line 19"/>
            <p:cNvSpPr>
              <a:spLocks noChangeShapeType="1"/>
            </p:cNvSpPr>
            <p:nvPr/>
          </p:nvSpPr>
          <p:spPr bwMode="auto">
            <a:xfrm>
              <a:off x="5007" y="3095"/>
              <a:ext cx="426" cy="5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9159" name="Group 20"/>
          <p:cNvGrpSpPr>
            <a:grpSpLocks/>
          </p:cNvGrpSpPr>
          <p:nvPr/>
        </p:nvGrpSpPr>
        <p:grpSpPr bwMode="auto">
          <a:xfrm>
            <a:off x="659912" y="2914716"/>
            <a:ext cx="3429000" cy="2057400"/>
            <a:chOff x="336" y="1632"/>
            <a:chExt cx="2160" cy="1296"/>
          </a:xfrm>
        </p:grpSpPr>
        <p:sp>
          <p:nvSpPr>
            <p:cNvPr id="49160" name="Rectangle 21"/>
            <p:cNvSpPr>
              <a:spLocks noChangeArrowheads="1"/>
            </p:cNvSpPr>
            <p:nvPr/>
          </p:nvSpPr>
          <p:spPr bwMode="auto">
            <a:xfrm>
              <a:off x="336" y="1632"/>
              <a:ext cx="384"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C</a:t>
              </a:r>
            </a:p>
          </p:txBody>
        </p:sp>
        <p:sp>
          <p:nvSpPr>
            <p:cNvPr id="49161" name="Rectangle 22"/>
            <p:cNvSpPr>
              <a:spLocks noChangeArrowheads="1"/>
            </p:cNvSpPr>
            <p:nvPr/>
          </p:nvSpPr>
          <p:spPr bwMode="auto">
            <a:xfrm>
              <a:off x="1200" y="1632"/>
              <a:ext cx="1008"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a:t>Users</a:t>
              </a:r>
            </a:p>
          </p:txBody>
        </p:sp>
        <p:sp>
          <p:nvSpPr>
            <p:cNvPr id="49162" name="Rectangle 23"/>
            <p:cNvSpPr>
              <a:spLocks noChangeArrowheads="1"/>
            </p:cNvSpPr>
            <p:nvPr/>
          </p:nvSpPr>
          <p:spPr bwMode="auto">
            <a:xfrm>
              <a:off x="1200" y="1968"/>
              <a:ext cx="1008"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a:t>Windows</a:t>
              </a:r>
            </a:p>
          </p:txBody>
        </p:sp>
        <p:sp>
          <p:nvSpPr>
            <p:cNvPr id="49163" name="Rectangle 24"/>
            <p:cNvSpPr>
              <a:spLocks noChangeArrowheads="1"/>
            </p:cNvSpPr>
            <p:nvPr/>
          </p:nvSpPr>
          <p:spPr bwMode="auto">
            <a:xfrm>
              <a:off x="1200" y="2304"/>
              <a:ext cx="1008"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a:t>Temp</a:t>
              </a:r>
            </a:p>
          </p:txBody>
        </p:sp>
        <p:sp>
          <p:nvSpPr>
            <p:cNvPr id="49164" name="Rectangle 25"/>
            <p:cNvSpPr>
              <a:spLocks noChangeArrowheads="1"/>
            </p:cNvSpPr>
            <p:nvPr/>
          </p:nvSpPr>
          <p:spPr bwMode="auto">
            <a:xfrm>
              <a:off x="1200" y="2640"/>
              <a:ext cx="1008"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a:t>Program Files</a:t>
              </a:r>
            </a:p>
          </p:txBody>
        </p:sp>
        <p:cxnSp>
          <p:nvCxnSpPr>
            <p:cNvPr id="49165" name="AutoShape 26"/>
            <p:cNvCxnSpPr>
              <a:cxnSpLocks noChangeShapeType="1"/>
              <a:stCxn id="49160" idx="3"/>
              <a:endCxn id="49161" idx="1"/>
            </p:cNvCxnSpPr>
            <p:nvPr/>
          </p:nvCxnSpPr>
          <p:spPr bwMode="auto">
            <a:xfrm>
              <a:off x="720" y="1776"/>
              <a:ext cx="480"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9166" name="AutoShape 27"/>
            <p:cNvCxnSpPr>
              <a:cxnSpLocks noChangeShapeType="1"/>
              <a:stCxn id="49160" idx="3"/>
              <a:endCxn id="49162" idx="1"/>
            </p:cNvCxnSpPr>
            <p:nvPr/>
          </p:nvCxnSpPr>
          <p:spPr bwMode="auto">
            <a:xfrm>
              <a:off x="720" y="1776"/>
              <a:ext cx="480" cy="336"/>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49167" name="AutoShape 28"/>
            <p:cNvCxnSpPr>
              <a:cxnSpLocks noChangeShapeType="1"/>
              <a:stCxn id="49160" idx="3"/>
              <a:endCxn id="49163" idx="1"/>
            </p:cNvCxnSpPr>
            <p:nvPr/>
          </p:nvCxnSpPr>
          <p:spPr bwMode="auto">
            <a:xfrm>
              <a:off x="720" y="1776"/>
              <a:ext cx="480" cy="672"/>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49168" name="AutoShape 29"/>
            <p:cNvCxnSpPr>
              <a:cxnSpLocks noChangeShapeType="1"/>
              <a:stCxn id="49160" idx="3"/>
              <a:endCxn id="49164" idx="1"/>
            </p:cNvCxnSpPr>
            <p:nvPr/>
          </p:nvCxnSpPr>
          <p:spPr bwMode="auto">
            <a:xfrm>
              <a:off x="720" y="1776"/>
              <a:ext cx="480" cy="1008"/>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49169" name="AutoShape 30"/>
            <p:cNvCxnSpPr>
              <a:cxnSpLocks noChangeShapeType="1"/>
              <a:stCxn id="49161" idx="3"/>
            </p:cNvCxnSpPr>
            <p:nvPr/>
          </p:nvCxnSpPr>
          <p:spPr bwMode="auto">
            <a:xfrm>
              <a:off x="2208" y="1776"/>
              <a:ext cx="288" cy="240"/>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49170" name="AutoShape 31"/>
            <p:cNvCxnSpPr>
              <a:cxnSpLocks noChangeShapeType="1"/>
              <a:stCxn id="49161" idx="3"/>
            </p:cNvCxnSpPr>
            <p:nvPr/>
          </p:nvCxnSpPr>
          <p:spPr bwMode="auto">
            <a:xfrm>
              <a:off x="2208" y="1776"/>
              <a:ext cx="288"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677762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57</a:t>
            </a:fld>
            <a:endParaRPr lang="en-US"/>
          </a:p>
        </p:txBody>
      </p:sp>
      <p:sp>
        <p:nvSpPr>
          <p:cNvPr id="5" name="Title 4"/>
          <p:cNvSpPr>
            <a:spLocks noGrp="1"/>
          </p:cNvSpPr>
          <p:nvPr>
            <p:ph type="title"/>
          </p:nvPr>
        </p:nvSpPr>
        <p:spPr/>
        <p:txBody>
          <a:bodyPr/>
          <a:lstStyle/>
          <a:p>
            <a:r>
              <a:rPr lang="en-US" dirty="0" err="1"/>
              <a:t>Biểu</a:t>
            </a:r>
            <a:r>
              <a:rPr lang="en-US" dirty="0"/>
              <a:t> </a:t>
            </a:r>
            <a:r>
              <a:rPr lang="en-US" dirty="0" err="1"/>
              <a:t>diễn</a:t>
            </a:r>
            <a:r>
              <a:rPr lang="en-US" dirty="0"/>
              <a:t> </a:t>
            </a:r>
            <a:r>
              <a:rPr lang="en-US" dirty="0" err="1"/>
              <a:t>cây</a:t>
            </a:r>
            <a:r>
              <a:rPr lang="en-US" dirty="0"/>
              <a:t> </a:t>
            </a:r>
            <a:r>
              <a:rPr lang="en-US" dirty="0" err="1"/>
              <a:t>tổng</a:t>
            </a:r>
            <a:r>
              <a:rPr lang="en-US" dirty="0"/>
              <a:t> </a:t>
            </a:r>
            <a:r>
              <a:rPr lang="en-US" dirty="0" err="1"/>
              <a:t>quát</a:t>
            </a:r>
            <a:endParaRPr lang="en-US" dirty="0"/>
          </a:p>
        </p:txBody>
      </p:sp>
      <p:sp>
        <p:nvSpPr>
          <p:cNvPr id="2" name="Content Placeholder 1"/>
          <p:cNvSpPr>
            <a:spLocks noGrp="1"/>
          </p:cNvSpPr>
          <p:nvPr>
            <p:ph type="body" sz="quarter" idx="13"/>
          </p:nvPr>
        </p:nvSpPr>
        <p:spPr/>
        <p:txBody>
          <a:bodyPr>
            <a:normAutofit/>
          </a:bodyPr>
          <a:lstStyle/>
          <a:p>
            <a:r>
              <a:rPr lang="en-US" sz="2400" dirty="0" err="1"/>
              <a:t>Dựa</a:t>
            </a:r>
            <a:r>
              <a:rPr lang="en-US" sz="2400" dirty="0"/>
              <a:t> </a:t>
            </a:r>
            <a:r>
              <a:rPr lang="en-US" sz="2400" dirty="0" err="1"/>
              <a:t>trên</a:t>
            </a:r>
            <a:r>
              <a:rPr lang="en-US" sz="2400" dirty="0"/>
              <a:t> </a:t>
            </a:r>
            <a:r>
              <a:rPr lang="en-US" sz="2400" dirty="0" err="1"/>
              <a:t>tham</a:t>
            </a:r>
            <a:r>
              <a:rPr lang="en-US" sz="2400" dirty="0"/>
              <a:t> </a:t>
            </a:r>
            <a:r>
              <a:rPr lang="en-US" sz="2400" dirty="0" err="1"/>
              <a:t>chiếu</a:t>
            </a:r>
            <a:r>
              <a:rPr lang="en-US" sz="2400" dirty="0"/>
              <a:t> </a:t>
            </a:r>
            <a:r>
              <a:rPr lang="en-US" sz="2400" dirty="0" err="1"/>
              <a:t>đến</a:t>
            </a:r>
            <a:r>
              <a:rPr lang="en-US" sz="2400" dirty="0"/>
              <a:t> </a:t>
            </a:r>
            <a:r>
              <a:rPr lang="en-US" sz="2400" dirty="0" err="1"/>
              <a:t>nút</a:t>
            </a:r>
            <a:r>
              <a:rPr lang="en-US" sz="2400" dirty="0"/>
              <a:t> cha:</a:t>
            </a:r>
          </a:p>
          <a:p>
            <a:pPr lvl="1"/>
            <a:r>
              <a:rPr lang="vi-VN" sz="2000" dirty="0"/>
              <a:t>Cây T có các nút được đánh số từ 1 đến n</a:t>
            </a:r>
          </a:p>
          <a:p>
            <a:pPr lvl="1"/>
            <a:r>
              <a:rPr lang="vi-VN" sz="2000" dirty="0"/>
              <a:t>Cây T được biểu diễn bằng một danh sách tuyến tính</a:t>
            </a:r>
            <a:r>
              <a:rPr lang="en-US" sz="2000" dirty="0"/>
              <a:t> </a:t>
            </a:r>
            <a:r>
              <a:rPr lang="vi-VN" sz="2000" dirty="0"/>
              <a:t>trong đó nút thứ i sẽ chứa một thành phần tham chiếu</a:t>
            </a:r>
            <a:r>
              <a:rPr lang="en-US" sz="2000" dirty="0"/>
              <a:t> </a:t>
            </a:r>
            <a:r>
              <a:rPr lang="vi-VN" sz="2000" dirty="0"/>
              <a:t>đến cha của nó </a:t>
            </a:r>
          </a:p>
          <a:p>
            <a:pPr lvl="1"/>
            <a:r>
              <a:rPr lang="vi-VN" sz="2000" dirty="0"/>
              <a:t>Nếu dùng mảng, A[i] = j nếu j là cha của nút i ; nếu i là</a:t>
            </a:r>
            <a:r>
              <a:rPr lang="en-US" sz="2000" dirty="0"/>
              <a:t> </a:t>
            </a:r>
            <a:r>
              <a:rPr lang="vi-VN" sz="2000" dirty="0"/>
              <a:t>gốc thì A[i] = 0;</a:t>
            </a:r>
            <a:endParaRPr lang="en-US" sz="2000" dirty="0"/>
          </a:p>
        </p:txBody>
      </p:sp>
      <p:pic>
        <p:nvPicPr>
          <p:cNvPr id="6" name="Picture 5"/>
          <p:cNvPicPr>
            <a:picLocks noChangeAspect="1"/>
          </p:cNvPicPr>
          <p:nvPr/>
        </p:nvPicPr>
        <p:blipFill>
          <a:blip r:embed="rId2"/>
          <a:stretch>
            <a:fillRect/>
          </a:stretch>
        </p:blipFill>
        <p:spPr>
          <a:xfrm>
            <a:off x="4545059" y="3597812"/>
            <a:ext cx="4162332" cy="847168"/>
          </a:xfrm>
          <a:prstGeom prst="rect">
            <a:avLst/>
          </a:prstGeom>
        </p:spPr>
      </p:pic>
      <p:pic>
        <p:nvPicPr>
          <p:cNvPr id="7" name="Picture 6"/>
          <p:cNvPicPr>
            <a:picLocks noChangeAspect="1"/>
          </p:cNvPicPr>
          <p:nvPr/>
        </p:nvPicPr>
        <p:blipFill>
          <a:blip r:embed="rId3"/>
          <a:stretch>
            <a:fillRect/>
          </a:stretch>
        </p:blipFill>
        <p:spPr>
          <a:xfrm>
            <a:off x="700634" y="2971800"/>
            <a:ext cx="3642765" cy="2510888"/>
          </a:xfrm>
          <a:prstGeom prst="rect">
            <a:avLst/>
          </a:prstGeom>
        </p:spPr>
      </p:pic>
    </p:spTree>
    <p:extLst>
      <p:ext uri="{BB962C8B-B14F-4D97-AF65-F5344CB8AC3E}">
        <p14:creationId xmlns:p14="http://schemas.microsoft.com/office/powerpoint/2010/main" val="1869444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Biểu diễn cây tổng quát</a:t>
            </a:r>
            <a:endParaRPr lang="vi-VN" dirty="0"/>
          </a:p>
        </p:txBody>
      </p:sp>
      <p:sp>
        <p:nvSpPr>
          <p:cNvPr id="3" name="Content Placeholder 2"/>
          <p:cNvSpPr>
            <a:spLocks noGrp="1"/>
          </p:cNvSpPr>
          <p:nvPr>
            <p:ph type="body" sz="quarter" idx="13"/>
          </p:nvPr>
        </p:nvSpPr>
        <p:spPr/>
        <p:txBody>
          <a:bodyPr>
            <a:normAutofit/>
          </a:bodyPr>
          <a:lstStyle/>
          <a:p>
            <a:r>
              <a:rPr lang="en-US" sz="2400" dirty="0"/>
              <a:t>Dựa trên danh sách các nút con:</a:t>
            </a:r>
            <a:endParaRPr lang="vi-VN" sz="2400" dirty="0"/>
          </a:p>
          <a:p>
            <a:pPr lvl="1"/>
            <a:r>
              <a:rPr lang="vi-VN" sz="2000" b="0" dirty="0"/>
              <a:t>1 nút trong cây có một danh sách các nút con</a:t>
            </a:r>
          </a:p>
          <a:p>
            <a:pPr lvl="1"/>
            <a:r>
              <a:rPr lang="vi-VN" sz="2000" b="0" dirty="0"/>
              <a:t>Danh sách các nút con thường là danh sách móc nối</a:t>
            </a:r>
            <a:endParaRPr lang="vi-VN" sz="2000" dirty="0"/>
          </a:p>
          <a:p>
            <a:pPr lvl="1"/>
            <a:r>
              <a:rPr lang="vi-VN" sz="2000" b="0" dirty="0"/>
              <a:t>Trong trường hợp sử dụng danh sách móc nối, các nút đầu danh sách được lưu trong một mảng</a:t>
            </a:r>
            <a:r>
              <a:rPr lang="vi-VN" sz="2000" dirty="0"/>
              <a:t> </a:t>
            </a:r>
            <a:br>
              <a:rPr lang="vi-VN" sz="2000" dirty="0"/>
            </a:br>
            <a:endParaRPr lang="en-US" sz="2000" dirty="0"/>
          </a:p>
        </p:txBody>
      </p:sp>
      <p:pic>
        <p:nvPicPr>
          <p:cNvPr id="5" name="Picture 4"/>
          <p:cNvPicPr>
            <a:picLocks noChangeAspect="1"/>
          </p:cNvPicPr>
          <p:nvPr/>
        </p:nvPicPr>
        <p:blipFill>
          <a:blip r:embed="rId2"/>
          <a:stretch>
            <a:fillRect/>
          </a:stretch>
        </p:blipFill>
        <p:spPr>
          <a:xfrm>
            <a:off x="762133" y="3124200"/>
            <a:ext cx="3784467" cy="2590800"/>
          </a:xfrm>
          <a:prstGeom prst="rect">
            <a:avLst/>
          </a:prstGeom>
        </p:spPr>
      </p:pic>
      <p:pic>
        <p:nvPicPr>
          <p:cNvPr id="6" name="Picture 5"/>
          <p:cNvPicPr>
            <a:picLocks noChangeAspect="1"/>
          </p:cNvPicPr>
          <p:nvPr/>
        </p:nvPicPr>
        <p:blipFill>
          <a:blip r:embed="rId3"/>
          <a:stretch>
            <a:fillRect/>
          </a:stretch>
        </p:blipFill>
        <p:spPr>
          <a:xfrm>
            <a:off x="5048382" y="2743200"/>
            <a:ext cx="3705762" cy="3654425"/>
          </a:xfrm>
          <a:prstGeom prst="rect">
            <a:avLst/>
          </a:prstGeom>
        </p:spPr>
      </p:pic>
    </p:spTree>
    <p:extLst>
      <p:ext uri="{BB962C8B-B14F-4D97-AF65-F5344CB8AC3E}">
        <p14:creationId xmlns:p14="http://schemas.microsoft.com/office/powerpoint/2010/main" val="2906960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Biểu diễn cây tổng quát</a:t>
            </a:r>
            <a:endParaRPr lang="vi-VN" dirty="0"/>
          </a:p>
        </p:txBody>
      </p:sp>
      <p:sp>
        <p:nvSpPr>
          <p:cNvPr id="3" name="Content Placeholder 2"/>
          <p:cNvSpPr>
            <a:spLocks noGrp="1"/>
          </p:cNvSpPr>
          <p:nvPr>
            <p:ph type="body" sz="quarter" idx="13"/>
          </p:nvPr>
        </p:nvSpPr>
        <p:spPr/>
        <p:txBody>
          <a:bodyPr>
            <a:normAutofit/>
          </a:bodyPr>
          <a:lstStyle/>
          <a:p>
            <a:r>
              <a:rPr lang="en-US" sz="2400" dirty="0" err="1"/>
              <a:t>Dựa</a:t>
            </a:r>
            <a:r>
              <a:rPr lang="en-US" sz="2400" dirty="0"/>
              <a:t> </a:t>
            </a:r>
            <a:r>
              <a:rPr lang="en-US" sz="2400" dirty="0" err="1"/>
              <a:t>trên</a:t>
            </a:r>
            <a:r>
              <a:rPr lang="en-US" sz="2400" dirty="0"/>
              <a:t> </a:t>
            </a:r>
            <a:r>
              <a:rPr lang="en-US" sz="2400" dirty="0" err="1"/>
              <a:t>danh</a:t>
            </a:r>
            <a:r>
              <a:rPr lang="en-US" sz="2400" dirty="0"/>
              <a:t> </a:t>
            </a:r>
            <a:r>
              <a:rPr lang="en-US" sz="2400" dirty="0" err="1"/>
              <a:t>sách</a:t>
            </a:r>
            <a:r>
              <a:rPr lang="en-US" sz="2400" dirty="0"/>
              <a:t> </a:t>
            </a:r>
            <a:r>
              <a:rPr lang="en-US" sz="2400" dirty="0" err="1"/>
              <a:t>liên</a:t>
            </a:r>
            <a:r>
              <a:rPr lang="en-US" sz="2400" dirty="0"/>
              <a:t> </a:t>
            </a:r>
            <a:r>
              <a:rPr lang="en-US" sz="2400" dirty="0" err="1"/>
              <a:t>kết</a:t>
            </a:r>
            <a:endParaRPr lang="en-US" sz="2400" dirty="0"/>
          </a:p>
          <a:p>
            <a:pPr lvl="1"/>
            <a:r>
              <a:rPr lang="en-US" sz="2000" dirty="0" err="1"/>
              <a:t>Giả</a:t>
            </a:r>
            <a:r>
              <a:rPr lang="en-US" sz="2000" dirty="0"/>
              <a:t> sử một cây có cấp độ d</a:t>
            </a:r>
          </a:p>
          <a:p>
            <a:pPr lvl="1"/>
            <a:r>
              <a:rPr lang="en-US" sz="2000" dirty="0"/>
              <a:t>Cấu trúc của một nút sẽ bao gồm các thông tin sau: </a:t>
            </a:r>
          </a:p>
          <a:p>
            <a:pPr lvl="2"/>
            <a:r>
              <a:rPr lang="en-US" sz="2000" dirty="0"/>
              <a:t>Info: chứa thông tin của nút</a:t>
            </a:r>
          </a:p>
          <a:p>
            <a:pPr lvl="2"/>
            <a:r>
              <a:rPr lang="en-US" sz="2000" dirty="0"/>
              <a:t>Link: chứa d con trỏ p</a:t>
            </a:r>
            <a:r>
              <a:rPr lang="en-US" sz="2000" baseline="-25000" dirty="0"/>
              <a:t>1</a:t>
            </a:r>
            <a:r>
              <a:rPr lang="en-US" sz="2000" dirty="0"/>
              <a:t>, p</a:t>
            </a:r>
            <a:r>
              <a:rPr lang="en-US" sz="2000" baseline="-25000" dirty="0"/>
              <a:t>2</a:t>
            </a:r>
            <a:r>
              <a:rPr lang="en-US" sz="2000" dirty="0"/>
              <a:t>,…</a:t>
            </a:r>
            <a:r>
              <a:rPr lang="en-US" sz="2000" dirty="0" err="1"/>
              <a:t>p</a:t>
            </a:r>
            <a:r>
              <a:rPr lang="en-US" sz="2000" baseline="-25000" dirty="0" err="1"/>
              <a:t>d</a:t>
            </a:r>
            <a:r>
              <a:rPr lang="en-US" sz="2000" dirty="0"/>
              <a:t> trỏ đến các con của nó (lớn nhất là d con </a:t>
            </a:r>
            <a:r>
              <a:rPr lang="en-US" sz="2000" dirty="0" err="1"/>
              <a:t>trỏ</a:t>
            </a:r>
            <a:r>
              <a:rPr lang="en-US" sz="2000" dirty="0"/>
              <a:t>)</a:t>
            </a:r>
          </a:p>
          <a:p>
            <a:pPr lvl="1"/>
            <a:endParaRPr lang="vi-VN" sz="2000" dirty="0"/>
          </a:p>
        </p:txBody>
      </p:sp>
      <p:grpSp>
        <p:nvGrpSpPr>
          <p:cNvPr id="4" name="Group 3">
            <a:extLst>
              <a:ext uri="{FF2B5EF4-FFF2-40B4-BE49-F238E27FC236}">
                <a16:creationId xmlns:a16="http://schemas.microsoft.com/office/drawing/2014/main" id="{ABC28834-E67A-4D1F-B05B-0F3415069B63}"/>
              </a:ext>
            </a:extLst>
          </p:cNvPr>
          <p:cNvGrpSpPr/>
          <p:nvPr/>
        </p:nvGrpSpPr>
        <p:grpSpPr>
          <a:xfrm>
            <a:off x="3124200" y="3491484"/>
            <a:ext cx="2319334" cy="1197409"/>
            <a:chOff x="381000" y="5228179"/>
            <a:chExt cx="2319334" cy="1197409"/>
          </a:xfrm>
          <a:solidFill>
            <a:srgbClr val="99CCFF"/>
          </a:solidFill>
        </p:grpSpPr>
        <p:sp>
          <p:nvSpPr>
            <p:cNvPr id="5" name="Rectangle 4">
              <a:extLst>
                <a:ext uri="{FF2B5EF4-FFF2-40B4-BE49-F238E27FC236}">
                  <a16:creationId xmlns:a16="http://schemas.microsoft.com/office/drawing/2014/main" id="{5B354F87-5B50-4CE4-B300-4A4F6CBADED4}"/>
                </a:ext>
              </a:extLst>
            </p:cNvPr>
            <p:cNvSpPr/>
            <p:nvPr/>
          </p:nvSpPr>
          <p:spPr>
            <a:xfrm>
              <a:off x="381000" y="5228179"/>
              <a:ext cx="761996" cy="682626"/>
            </a:xfrm>
            <a:prstGeom prst="rect">
              <a:avLst/>
            </a:prstGeom>
            <a:grp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dirty="0">
                  <a:solidFill>
                    <a:schemeClr val="tx1"/>
                  </a:solidFill>
                </a:rPr>
                <a:t>Info</a:t>
              </a:r>
            </a:p>
          </p:txBody>
        </p:sp>
        <p:sp>
          <p:nvSpPr>
            <p:cNvPr id="6" name="Rectangle 5">
              <a:extLst>
                <a:ext uri="{FF2B5EF4-FFF2-40B4-BE49-F238E27FC236}">
                  <a16:creationId xmlns:a16="http://schemas.microsoft.com/office/drawing/2014/main" id="{8893471D-8E2B-46F4-B1AB-5A6A0BF75A02}"/>
                </a:ext>
              </a:extLst>
            </p:cNvPr>
            <p:cNvSpPr/>
            <p:nvPr/>
          </p:nvSpPr>
          <p:spPr>
            <a:xfrm>
              <a:off x="1142995" y="5228179"/>
              <a:ext cx="1557339" cy="682626"/>
            </a:xfrm>
            <a:prstGeom prst="rect">
              <a:avLst/>
            </a:prstGeom>
            <a:grp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solidFill>
                    <a:schemeClr val="tx1"/>
                  </a:solidFill>
                </a:rPr>
                <a:t>Link</a:t>
              </a:r>
            </a:p>
          </p:txBody>
        </p:sp>
        <p:sp>
          <p:nvSpPr>
            <p:cNvPr id="7" name="Line 8">
              <a:extLst>
                <a:ext uri="{FF2B5EF4-FFF2-40B4-BE49-F238E27FC236}">
                  <a16:creationId xmlns:a16="http://schemas.microsoft.com/office/drawing/2014/main" id="{2E71C296-CCDC-4404-BFCF-CFACC9B461A4}"/>
                </a:ext>
              </a:extLst>
            </p:cNvPr>
            <p:cNvSpPr>
              <a:spLocks noChangeShapeType="1"/>
            </p:cNvSpPr>
            <p:nvPr/>
          </p:nvSpPr>
          <p:spPr bwMode="auto">
            <a:xfrm flipH="1">
              <a:off x="1371600" y="5737767"/>
              <a:ext cx="0" cy="434433"/>
            </a:xfrm>
            <a:prstGeom prst="line">
              <a:avLst/>
            </a:prstGeom>
            <a:grpFill/>
            <a:ln w="9525">
              <a:solidFill>
                <a:srgbClr val="000000"/>
              </a:solidFill>
              <a:round/>
              <a:headEnd type="oval" w="med" len="med"/>
              <a:tailEnd type="triangle" w="med" len="med"/>
            </a:ln>
          </p:spPr>
          <p:txBody>
            <a:bodyPr/>
            <a:lstStyle/>
            <a:p>
              <a:endParaRPr lang="en-US"/>
            </a:p>
          </p:txBody>
        </p:sp>
        <p:sp>
          <p:nvSpPr>
            <p:cNvPr id="8" name="Line 8">
              <a:extLst>
                <a:ext uri="{FF2B5EF4-FFF2-40B4-BE49-F238E27FC236}">
                  <a16:creationId xmlns:a16="http://schemas.microsoft.com/office/drawing/2014/main" id="{6A73D20B-7AE8-4416-ADCC-B75DD0A30F91}"/>
                </a:ext>
              </a:extLst>
            </p:cNvPr>
            <p:cNvSpPr>
              <a:spLocks noChangeShapeType="1"/>
            </p:cNvSpPr>
            <p:nvPr/>
          </p:nvSpPr>
          <p:spPr bwMode="auto">
            <a:xfrm flipH="1">
              <a:off x="1643598" y="5737767"/>
              <a:ext cx="0" cy="434433"/>
            </a:xfrm>
            <a:prstGeom prst="line">
              <a:avLst/>
            </a:prstGeom>
            <a:grpFill/>
            <a:ln w="9525">
              <a:solidFill>
                <a:srgbClr val="000000"/>
              </a:solidFill>
              <a:round/>
              <a:headEnd type="oval" w="med" len="med"/>
              <a:tailEnd type="triangle" w="med" len="med"/>
            </a:ln>
          </p:spPr>
          <p:txBody>
            <a:bodyPr/>
            <a:lstStyle/>
            <a:p>
              <a:endParaRPr lang="en-US"/>
            </a:p>
          </p:txBody>
        </p:sp>
        <p:sp>
          <p:nvSpPr>
            <p:cNvPr id="9" name="Line 8">
              <a:extLst>
                <a:ext uri="{FF2B5EF4-FFF2-40B4-BE49-F238E27FC236}">
                  <a16:creationId xmlns:a16="http://schemas.microsoft.com/office/drawing/2014/main" id="{EC2F7ABB-A135-40A8-97F4-16365B300A6C}"/>
                </a:ext>
              </a:extLst>
            </p:cNvPr>
            <p:cNvSpPr>
              <a:spLocks noChangeShapeType="1"/>
            </p:cNvSpPr>
            <p:nvPr/>
          </p:nvSpPr>
          <p:spPr bwMode="auto">
            <a:xfrm flipH="1">
              <a:off x="2362200" y="5737767"/>
              <a:ext cx="0" cy="434433"/>
            </a:xfrm>
            <a:prstGeom prst="line">
              <a:avLst/>
            </a:prstGeom>
            <a:grpFill/>
            <a:ln w="9525">
              <a:solidFill>
                <a:srgbClr val="000000"/>
              </a:solidFill>
              <a:round/>
              <a:headEnd type="oval" w="med" len="med"/>
              <a:tailEnd type="triangle" w="med" len="med"/>
            </a:ln>
          </p:spPr>
          <p:txBody>
            <a:bodyPr/>
            <a:lstStyle/>
            <a:p>
              <a:endParaRPr lang="en-US"/>
            </a:p>
          </p:txBody>
        </p:sp>
        <p:sp>
          <p:nvSpPr>
            <p:cNvPr id="10" name="Text Box 5">
              <a:extLst>
                <a:ext uri="{FF2B5EF4-FFF2-40B4-BE49-F238E27FC236}">
                  <a16:creationId xmlns:a16="http://schemas.microsoft.com/office/drawing/2014/main" id="{8BF8667A-4642-4B0C-B9B2-68333225F265}"/>
                </a:ext>
              </a:extLst>
            </p:cNvPr>
            <p:cNvSpPr txBox="1">
              <a:spLocks noChangeArrowheads="1"/>
            </p:cNvSpPr>
            <p:nvPr/>
          </p:nvSpPr>
          <p:spPr bwMode="auto">
            <a:xfrm>
              <a:off x="1143000" y="6096000"/>
              <a:ext cx="436303" cy="329588"/>
            </a:xfrm>
            <a:prstGeom prst="rect">
              <a:avLst/>
            </a:prstGeom>
            <a:noFill/>
            <a:ln>
              <a:noFill/>
            </a:ln>
          </p:spPr>
          <p:txBody>
            <a:bodyPr wrap="square"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000"/>
                <a:t>p</a:t>
              </a:r>
              <a:r>
                <a:rPr lang="en-US" altLang="en-US" sz="2000" baseline="-25000"/>
                <a:t>1</a:t>
              </a:r>
            </a:p>
          </p:txBody>
        </p:sp>
        <p:sp>
          <p:nvSpPr>
            <p:cNvPr id="11" name="Text Box 5">
              <a:extLst>
                <a:ext uri="{FF2B5EF4-FFF2-40B4-BE49-F238E27FC236}">
                  <a16:creationId xmlns:a16="http://schemas.microsoft.com/office/drawing/2014/main" id="{6A087DB4-BACB-40FF-AAD3-38773548973A}"/>
                </a:ext>
              </a:extLst>
            </p:cNvPr>
            <p:cNvSpPr txBox="1">
              <a:spLocks noChangeArrowheads="1"/>
            </p:cNvSpPr>
            <p:nvPr/>
          </p:nvSpPr>
          <p:spPr bwMode="auto">
            <a:xfrm>
              <a:off x="1446193" y="6096000"/>
              <a:ext cx="436303" cy="329588"/>
            </a:xfrm>
            <a:prstGeom prst="rect">
              <a:avLst/>
            </a:prstGeom>
            <a:noFill/>
            <a:ln>
              <a:noFill/>
            </a:ln>
          </p:spPr>
          <p:txBody>
            <a:bodyPr wrap="square"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000"/>
                <a:t>p</a:t>
              </a:r>
              <a:r>
                <a:rPr lang="en-US" altLang="en-US" sz="2000" baseline="-25000"/>
                <a:t>2</a:t>
              </a:r>
            </a:p>
          </p:txBody>
        </p:sp>
        <p:sp>
          <p:nvSpPr>
            <p:cNvPr id="12" name="Text Box 5">
              <a:extLst>
                <a:ext uri="{FF2B5EF4-FFF2-40B4-BE49-F238E27FC236}">
                  <a16:creationId xmlns:a16="http://schemas.microsoft.com/office/drawing/2014/main" id="{3F19654D-B9A8-4F58-9C27-833DAC3A3BD4}"/>
                </a:ext>
              </a:extLst>
            </p:cNvPr>
            <p:cNvSpPr txBox="1">
              <a:spLocks noChangeArrowheads="1"/>
            </p:cNvSpPr>
            <p:nvPr/>
          </p:nvSpPr>
          <p:spPr bwMode="auto">
            <a:xfrm>
              <a:off x="2114625" y="6096000"/>
              <a:ext cx="436303" cy="329588"/>
            </a:xfrm>
            <a:prstGeom prst="rect">
              <a:avLst/>
            </a:prstGeom>
            <a:noFill/>
            <a:ln>
              <a:noFill/>
            </a:ln>
          </p:spPr>
          <p:txBody>
            <a:bodyPr wrap="square"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000"/>
                <a:t>p</a:t>
              </a:r>
              <a:r>
                <a:rPr lang="en-US" altLang="en-US" sz="2000" baseline="-25000"/>
                <a:t>d</a:t>
              </a:r>
            </a:p>
          </p:txBody>
        </p:sp>
        <p:sp>
          <p:nvSpPr>
            <p:cNvPr id="13" name="Text Box 5">
              <a:extLst>
                <a:ext uri="{FF2B5EF4-FFF2-40B4-BE49-F238E27FC236}">
                  <a16:creationId xmlns:a16="http://schemas.microsoft.com/office/drawing/2014/main" id="{C6A97095-A191-44E1-903C-DFEA724B727B}"/>
                </a:ext>
              </a:extLst>
            </p:cNvPr>
            <p:cNvSpPr txBox="1">
              <a:spLocks noChangeArrowheads="1"/>
            </p:cNvSpPr>
            <p:nvPr/>
          </p:nvSpPr>
          <p:spPr bwMode="auto">
            <a:xfrm>
              <a:off x="1780046" y="5530769"/>
              <a:ext cx="436303" cy="329588"/>
            </a:xfrm>
            <a:prstGeom prst="rect">
              <a:avLst/>
            </a:prstGeom>
            <a:grpFill/>
            <a:ln>
              <a:noFill/>
            </a:ln>
          </p:spPr>
          <p:txBody>
            <a:bodyPr wrap="square"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000" dirty="0"/>
                <a:t>…</a:t>
              </a:r>
              <a:endParaRPr lang="en-US" altLang="en-US" sz="2000" baseline="-25000" dirty="0"/>
            </a:p>
          </p:txBody>
        </p:sp>
      </p:grpSp>
    </p:spTree>
    <p:extLst>
      <p:ext uri="{BB962C8B-B14F-4D97-AF65-F5344CB8AC3E}">
        <p14:creationId xmlns:p14="http://schemas.microsoft.com/office/powerpoint/2010/main" val="37744589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Biểu diễn cây tổng quát</a:t>
            </a:r>
            <a:endParaRPr lang="vi-VN" dirty="0"/>
          </a:p>
        </p:txBody>
      </p:sp>
      <p:sp>
        <p:nvSpPr>
          <p:cNvPr id="3" name="Content Placeholder 2"/>
          <p:cNvSpPr>
            <a:spLocks noGrp="1"/>
          </p:cNvSpPr>
          <p:nvPr>
            <p:ph type="body" sz="quarter" idx="13"/>
          </p:nvPr>
        </p:nvSpPr>
        <p:spPr/>
        <p:txBody>
          <a:bodyPr>
            <a:normAutofit/>
          </a:bodyPr>
          <a:lstStyle/>
          <a:p>
            <a:r>
              <a:rPr lang="en-US" sz="2400" dirty="0" err="1"/>
              <a:t>Dựa</a:t>
            </a:r>
            <a:r>
              <a:rPr lang="en-US" sz="2400" dirty="0"/>
              <a:t> </a:t>
            </a:r>
            <a:r>
              <a:rPr lang="en-US" sz="2400" dirty="0" err="1"/>
              <a:t>trên</a:t>
            </a:r>
            <a:r>
              <a:rPr lang="en-US" sz="2400" dirty="0"/>
              <a:t> </a:t>
            </a:r>
            <a:r>
              <a:rPr lang="en-US" sz="2400" dirty="0" err="1"/>
              <a:t>danh</a:t>
            </a:r>
            <a:r>
              <a:rPr lang="en-US" sz="2400" dirty="0"/>
              <a:t> </a:t>
            </a:r>
            <a:r>
              <a:rPr lang="en-US" sz="2400" dirty="0" err="1"/>
              <a:t>sách</a:t>
            </a:r>
            <a:r>
              <a:rPr lang="en-US" sz="2400" dirty="0"/>
              <a:t> </a:t>
            </a:r>
            <a:r>
              <a:rPr lang="en-US" sz="2400" dirty="0" err="1"/>
              <a:t>liên</a:t>
            </a:r>
            <a:r>
              <a:rPr lang="en-US" sz="2400" dirty="0"/>
              <a:t> </a:t>
            </a:r>
            <a:r>
              <a:rPr lang="en-US" sz="2400" dirty="0" err="1"/>
              <a:t>kết</a:t>
            </a:r>
            <a:endParaRPr lang="en-US" sz="2400" dirty="0"/>
          </a:p>
          <a:p>
            <a:pPr lvl="1"/>
            <a:r>
              <a:rPr lang="en-US" sz="2000" dirty="0" err="1"/>
              <a:t>Tổ</a:t>
            </a:r>
            <a:r>
              <a:rPr lang="en-US" sz="2000" dirty="0"/>
              <a:t> chức của cây tổng quát: </a:t>
            </a:r>
          </a:p>
          <a:p>
            <a:pPr lvl="2"/>
            <a:r>
              <a:rPr lang="en-US" sz="2000" dirty="0"/>
              <a:t>Một nút truy nhập vào nút gốc</a:t>
            </a:r>
          </a:p>
          <a:p>
            <a:pPr lvl="2"/>
            <a:r>
              <a:rPr lang="en-US" sz="2000" dirty="0"/>
              <a:t>Với mỗi nút, các con trỏ </a:t>
            </a:r>
            <a:r>
              <a:rPr lang="en-US" sz="2000" dirty="0" err="1"/>
              <a:t>trỏ</a:t>
            </a:r>
            <a:r>
              <a:rPr lang="en-US" sz="2000" dirty="0"/>
              <a:t> đến các con của nó</a:t>
            </a:r>
          </a:p>
          <a:p>
            <a:pPr lvl="1"/>
            <a:endParaRPr lang="vi-VN" sz="2000" dirty="0"/>
          </a:p>
        </p:txBody>
      </p:sp>
      <p:grpSp>
        <p:nvGrpSpPr>
          <p:cNvPr id="14" name="Group 13">
            <a:extLst>
              <a:ext uri="{FF2B5EF4-FFF2-40B4-BE49-F238E27FC236}">
                <a16:creationId xmlns:a16="http://schemas.microsoft.com/office/drawing/2014/main" id="{F2EBA6B6-7A76-418C-B203-1CBC92F6790B}"/>
              </a:ext>
            </a:extLst>
          </p:cNvPr>
          <p:cNvGrpSpPr/>
          <p:nvPr/>
        </p:nvGrpSpPr>
        <p:grpSpPr>
          <a:xfrm>
            <a:off x="1807912" y="2743200"/>
            <a:ext cx="5528176" cy="2758190"/>
            <a:chOff x="1142728" y="3105150"/>
            <a:chExt cx="5528176" cy="2758190"/>
          </a:xfrm>
        </p:grpSpPr>
        <p:sp>
          <p:nvSpPr>
            <p:cNvPr id="15" name="Text Box 5">
              <a:extLst>
                <a:ext uri="{FF2B5EF4-FFF2-40B4-BE49-F238E27FC236}">
                  <a16:creationId xmlns:a16="http://schemas.microsoft.com/office/drawing/2014/main" id="{18ECB9CA-B400-47F0-A178-83EFCA00DB74}"/>
                </a:ext>
              </a:extLst>
            </p:cNvPr>
            <p:cNvSpPr txBox="1">
              <a:spLocks noChangeArrowheads="1"/>
            </p:cNvSpPr>
            <p:nvPr/>
          </p:nvSpPr>
          <p:spPr bwMode="auto">
            <a:xfrm>
              <a:off x="4471988" y="3105150"/>
              <a:ext cx="328612" cy="3270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000"/>
                <a:t>T</a:t>
              </a:r>
            </a:p>
          </p:txBody>
        </p:sp>
        <p:sp>
          <p:nvSpPr>
            <p:cNvPr id="16" name="Text Box 6">
              <a:extLst>
                <a:ext uri="{FF2B5EF4-FFF2-40B4-BE49-F238E27FC236}">
                  <a16:creationId xmlns:a16="http://schemas.microsoft.com/office/drawing/2014/main" id="{E5323B09-3E32-447D-A868-067ED6068A61}"/>
                </a:ext>
              </a:extLst>
            </p:cNvPr>
            <p:cNvSpPr txBox="1">
              <a:spLocks noChangeArrowheads="1"/>
            </p:cNvSpPr>
            <p:nvPr/>
          </p:nvSpPr>
          <p:spPr bwMode="auto">
            <a:xfrm>
              <a:off x="4119563" y="3625850"/>
              <a:ext cx="330200" cy="336550"/>
            </a:xfrm>
            <a:prstGeom prst="rect">
              <a:avLst/>
            </a:prstGeom>
            <a:solidFill>
              <a:srgbClr val="FFFFFF"/>
            </a:solidFill>
            <a:ln w="9525">
              <a:solidFill>
                <a:srgbClr val="000000"/>
              </a:solidFill>
              <a:miter lim="800000"/>
              <a:headEnd/>
              <a:tailEnd/>
            </a:ln>
          </p:spPr>
          <p:txBody>
            <a:bodyPr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2000"/>
            </a:p>
          </p:txBody>
        </p:sp>
        <p:sp>
          <p:nvSpPr>
            <p:cNvPr id="17" name="Text Box 7">
              <a:extLst>
                <a:ext uri="{FF2B5EF4-FFF2-40B4-BE49-F238E27FC236}">
                  <a16:creationId xmlns:a16="http://schemas.microsoft.com/office/drawing/2014/main" id="{061E1DFA-6E5A-4EB8-B013-9C35FFBE6605}"/>
                </a:ext>
              </a:extLst>
            </p:cNvPr>
            <p:cNvSpPr txBox="1">
              <a:spLocks noChangeArrowheads="1"/>
            </p:cNvSpPr>
            <p:nvPr/>
          </p:nvSpPr>
          <p:spPr bwMode="auto">
            <a:xfrm>
              <a:off x="3790950" y="3625850"/>
              <a:ext cx="328613" cy="336550"/>
            </a:xfrm>
            <a:prstGeom prst="rect">
              <a:avLst/>
            </a:prstGeom>
            <a:solidFill>
              <a:srgbClr val="FFFFFF"/>
            </a:solidFill>
            <a:ln w="9525">
              <a:solidFill>
                <a:srgbClr val="000000"/>
              </a:solidFill>
              <a:miter lim="800000"/>
              <a:headEnd/>
              <a:tailEnd/>
            </a:ln>
          </p:spPr>
          <p:txBody>
            <a:bodyPr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000"/>
            </a:p>
          </p:txBody>
        </p:sp>
        <p:sp>
          <p:nvSpPr>
            <p:cNvPr id="18" name="Text Box 9">
              <a:extLst>
                <a:ext uri="{FF2B5EF4-FFF2-40B4-BE49-F238E27FC236}">
                  <a16:creationId xmlns:a16="http://schemas.microsoft.com/office/drawing/2014/main" id="{A179A3E1-5F1E-4AD6-9BD2-F68A8124E0AB}"/>
                </a:ext>
              </a:extLst>
            </p:cNvPr>
            <p:cNvSpPr txBox="1">
              <a:spLocks noChangeArrowheads="1"/>
            </p:cNvSpPr>
            <p:nvPr/>
          </p:nvSpPr>
          <p:spPr bwMode="auto">
            <a:xfrm>
              <a:off x="4449763" y="3625850"/>
              <a:ext cx="328612" cy="336550"/>
            </a:xfrm>
            <a:prstGeom prst="rect">
              <a:avLst/>
            </a:prstGeom>
            <a:solidFill>
              <a:srgbClr val="FFFFFF"/>
            </a:solidFill>
            <a:ln w="9525">
              <a:solidFill>
                <a:srgbClr val="000000"/>
              </a:solidFill>
              <a:miter lim="800000"/>
              <a:headEnd/>
              <a:tailEnd/>
            </a:ln>
          </p:spPr>
          <p:txBody>
            <a:bodyPr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000"/>
            </a:p>
          </p:txBody>
        </p:sp>
        <p:sp>
          <p:nvSpPr>
            <p:cNvPr id="19" name="Line 10">
              <a:extLst>
                <a:ext uri="{FF2B5EF4-FFF2-40B4-BE49-F238E27FC236}">
                  <a16:creationId xmlns:a16="http://schemas.microsoft.com/office/drawing/2014/main" id="{03B9E3CB-05BB-4E42-AAAF-787C63E5F563}"/>
                </a:ext>
              </a:extLst>
            </p:cNvPr>
            <p:cNvSpPr>
              <a:spLocks noChangeShapeType="1"/>
            </p:cNvSpPr>
            <p:nvPr/>
          </p:nvSpPr>
          <p:spPr bwMode="auto">
            <a:xfrm>
              <a:off x="4613274" y="3768725"/>
              <a:ext cx="1136177" cy="771161"/>
            </a:xfrm>
            <a:prstGeom prst="line">
              <a:avLst/>
            </a:prstGeom>
            <a:noFill/>
            <a:ln w="9525">
              <a:solidFill>
                <a:srgbClr val="000000"/>
              </a:solidFill>
              <a:round/>
              <a:headEnd type="oval" w="med" len="me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20" name="Line 31">
              <a:extLst>
                <a:ext uri="{FF2B5EF4-FFF2-40B4-BE49-F238E27FC236}">
                  <a16:creationId xmlns:a16="http://schemas.microsoft.com/office/drawing/2014/main" id="{6506DF40-3C61-49F2-906B-F957329A8620}"/>
                </a:ext>
              </a:extLst>
            </p:cNvPr>
            <p:cNvSpPr>
              <a:spLocks noChangeShapeType="1"/>
            </p:cNvSpPr>
            <p:nvPr/>
          </p:nvSpPr>
          <p:spPr bwMode="auto">
            <a:xfrm>
              <a:off x="4284663" y="3271838"/>
              <a:ext cx="0" cy="328612"/>
            </a:xfrm>
            <a:prstGeom prst="line">
              <a:avLst/>
            </a:prstGeom>
            <a:noFill/>
            <a:ln w="9525">
              <a:solidFill>
                <a:srgbClr val="000000"/>
              </a:solidFill>
              <a:round/>
              <a:headEnd type="oval" w="med" len="me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21" name="Text Box 37">
              <a:extLst>
                <a:ext uri="{FF2B5EF4-FFF2-40B4-BE49-F238E27FC236}">
                  <a16:creationId xmlns:a16="http://schemas.microsoft.com/office/drawing/2014/main" id="{CDE4C9EE-053F-401D-A840-1F700D3D60AB}"/>
                </a:ext>
              </a:extLst>
            </p:cNvPr>
            <p:cNvSpPr txBox="1">
              <a:spLocks noChangeArrowheads="1"/>
            </p:cNvSpPr>
            <p:nvPr/>
          </p:nvSpPr>
          <p:spPr bwMode="auto">
            <a:xfrm>
              <a:off x="3460750" y="3625850"/>
              <a:ext cx="330200" cy="336550"/>
            </a:xfrm>
            <a:prstGeom prst="rect">
              <a:avLst/>
            </a:prstGeom>
            <a:solidFill>
              <a:schemeClr val="accent1">
                <a:lumMod val="20000"/>
                <a:lumOff val="80000"/>
              </a:schemeClr>
            </a:solidFill>
            <a:ln w="9525">
              <a:solidFill>
                <a:srgbClr val="000000"/>
              </a:solidFill>
              <a:miter lim="800000"/>
              <a:headEnd/>
              <a:tailEnd/>
            </a:ln>
          </p:spPr>
          <p:txBody>
            <a:bodyPr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000"/>
                <a:t>1</a:t>
              </a:r>
            </a:p>
          </p:txBody>
        </p:sp>
        <p:sp>
          <p:nvSpPr>
            <p:cNvPr id="22" name="Line 38">
              <a:extLst>
                <a:ext uri="{FF2B5EF4-FFF2-40B4-BE49-F238E27FC236}">
                  <a16:creationId xmlns:a16="http://schemas.microsoft.com/office/drawing/2014/main" id="{8D3FC0E5-3F35-4C55-8A0A-43BCBEC8B2F9}"/>
                </a:ext>
              </a:extLst>
            </p:cNvPr>
            <p:cNvSpPr>
              <a:spLocks noChangeShapeType="1"/>
            </p:cNvSpPr>
            <p:nvPr/>
          </p:nvSpPr>
          <p:spPr bwMode="auto">
            <a:xfrm flipH="1">
              <a:off x="4255855" y="3768724"/>
              <a:ext cx="9758" cy="771162"/>
            </a:xfrm>
            <a:prstGeom prst="line">
              <a:avLst/>
            </a:prstGeom>
            <a:noFill/>
            <a:ln w="9525">
              <a:solidFill>
                <a:srgbClr val="000000"/>
              </a:solidFill>
              <a:round/>
              <a:headEnd type="oval" w="med" len="me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23" name="Text Box 6">
              <a:extLst>
                <a:ext uri="{FF2B5EF4-FFF2-40B4-BE49-F238E27FC236}">
                  <a16:creationId xmlns:a16="http://schemas.microsoft.com/office/drawing/2014/main" id="{14D08D1F-7215-4FED-B827-90CD543EB739}"/>
                </a:ext>
              </a:extLst>
            </p:cNvPr>
            <p:cNvSpPr txBox="1">
              <a:spLocks noChangeArrowheads="1"/>
            </p:cNvSpPr>
            <p:nvPr/>
          </p:nvSpPr>
          <p:spPr bwMode="auto">
            <a:xfrm>
              <a:off x="2517302" y="4547764"/>
              <a:ext cx="330200" cy="336550"/>
            </a:xfrm>
            <a:prstGeom prst="rect">
              <a:avLst/>
            </a:prstGeom>
            <a:solidFill>
              <a:srgbClr val="FFFFFF"/>
            </a:solidFill>
            <a:ln w="9525">
              <a:solidFill>
                <a:srgbClr val="000000"/>
              </a:solidFill>
              <a:miter lim="800000"/>
              <a:headEnd/>
              <a:tailEnd/>
            </a:ln>
          </p:spPr>
          <p:txBody>
            <a:bodyPr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2000"/>
            </a:p>
          </p:txBody>
        </p:sp>
        <p:sp>
          <p:nvSpPr>
            <p:cNvPr id="24" name="Text Box 7">
              <a:extLst>
                <a:ext uri="{FF2B5EF4-FFF2-40B4-BE49-F238E27FC236}">
                  <a16:creationId xmlns:a16="http://schemas.microsoft.com/office/drawing/2014/main" id="{F0263480-607A-4A47-8477-84B721E2CAFF}"/>
                </a:ext>
              </a:extLst>
            </p:cNvPr>
            <p:cNvSpPr txBox="1">
              <a:spLocks noChangeArrowheads="1"/>
            </p:cNvSpPr>
            <p:nvPr/>
          </p:nvSpPr>
          <p:spPr bwMode="auto">
            <a:xfrm>
              <a:off x="2188689" y="4547764"/>
              <a:ext cx="328613" cy="336550"/>
            </a:xfrm>
            <a:prstGeom prst="rect">
              <a:avLst/>
            </a:prstGeom>
            <a:solidFill>
              <a:srgbClr val="FFFFFF"/>
            </a:solidFill>
            <a:ln w="9525">
              <a:solidFill>
                <a:srgbClr val="000000"/>
              </a:solidFill>
              <a:miter lim="800000"/>
              <a:headEnd/>
              <a:tailEnd/>
            </a:ln>
          </p:spPr>
          <p:txBody>
            <a:bodyPr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000"/>
            </a:p>
          </p:txBody>
        </p:sp>
        <p:sp>
          <p:nvSpPr>
            <p:cNvPr id="25" name="Line 8">
              <a:extLst>
                <a:ext uri="{FF2B5EF4-FFF2-40B4-BE49-F238E27FC236}">
                  <a16:creationId xmlns:a16="http://schemas.microsoft.com/office/drawing/2014/main" id="{F6935EB9-81CA-41C4-BA20-15A77A688254}"/>
                </a:ext>
              </a:extLst>
            </p:cNvPr>
            <p:cNvSpPr>
              <a:spLocks noChangeShapeType="1"/>
            </p:cNvSpPr>
            <p:nvPr/>
          </p:nvSpPr>
          <p:spPr bwMode="auto">
            <a:xfrm flipH="1">
              <a:off x="1782491" y="4690639"/>
              <a:ext cx="571298" cy="828675"/>
            </a:xfrm>
            <a:prstGeom prst="line">
              <a:avLst/>
            </a:prstGeom>
            <a:noFill/>
            <a:ln w="9525">
              <a:solidFill>
                <a:srgbClr val="000000"/>
              </a:solidFill>
              <a:round/>
              <a:headEnd type="oval" w="med" len="me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26" name="Text Box 9">
              <a:extLst>
                <a:ext uri="{FF2B5EF4-FFF2-40B4-BE49-F238E27FC236}">
                  <a16:creationId xmlns:a16="http://schemas.microsoft.com/office/drawing/2014/main" id="{994776DA-B6A8-4E2A-9857-C648E39F847A}"/>
                </a:ext>
              </a:extLst>
            </p:cNvPr>
            <p:cNvSpPr txBox="1">
              <a:spLocks noChangeArrowheads="1"/>
            </p:cNvSpPr>
            <p:nvPr/>
          </p:nvSpPr>
          <p:spPr bwMode="auto">
            <a:xfrm>
              <a:off x="2847502" y="4547764"/>
              <a:ext cx="328612" cy="336550"/>
            </a:xfrm>
            <a:prstGeom prst="rect">
              <a:avLst/>
            </a:prstGeom>
            <a:solidFill>
              <a:srgbClr val="FFFFFF"/>
            </a:solidFill>
            <a:ln w="9525">
              <a:solidFill>
                <a:srgbClr val="000000"/>
              </a:solidFill>
              <a:miter lim="800000"/>
              <a:headEnd/>
              <a:tailEnd/>
            </a:ln>
          </p:spPr>
          <p:txBody>
            <a:bodyPr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000"/>
            </a:p>
          </p:txBody>
        </p:sp>
        <p:sp>
          <p:nvSpPr>
            <p:cNvPr id="27" name="Text Box 37">
              <a:extLst>
                <a:ext uri="{FF2B5EF4-FFF2-40B4-BE49-F238E27FC236}">
                  <a16:creationId xmlns:a16="http://schemas.microsoft.com/office/drawing/2014/main" id="{DE2E8F63-1849-4E97-A1DD-C0BC75828D6E}"/>
                </a:ext>
              </a:extLst>
            </p:cNvPr>
            <p:cNvSpPr txBox="1">
              <a:spLocks noChangeArrowheads="1"/>
            </p:cNvSpPr>
            <p:nvPr/>
          </p:nvSpPr>
          <p:spPr bwMode="auto">
            <a:xfrm>
              <a:off x="1877539" y="4547764"/>
              <a:ext cx="330200" cy="336550"/>
            </a:xfrm>
            <a:prstGeom prst="rect">
              <a:avLst/>
            </a:prstGeom>
            <a:solidFill>
              <a:schemeClr val="accent1">
                <a:lumMod val="20000"/>
                <a:lumOff val="80000"/>
              </a:schemeClr>
            </a:solidFill>
            <a:ln w="9525">
              <a:solidFill>
                <a:srgbClr val="000000"/>
              </a:solidFill>
              <a:miter lim="800000"/>
              <a:headEnd/>
              <a:tailEnd/>
            </a:ln>
          </p:spPr>
          <p:txBody>
            <a:bodyPr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000"/>
                <a:t>3</a:t>
              </a:r>
            </a:p>
          </p:txBody>
        </p:sp>
        <p:sp>
          <p:nvSpPr>
            <p:cNvPr id="28" name="Line 38">
              <a:extLst>
                <a:ext uri="{FF2B5EF4-FFF2-40B4-BE49-F238E27FC236}">
                  <a16:creationId xmlns:a16="http://schemas.microsoft.com/office/drawing/2014/main" id="{1259F1B4-BEA1-4823-BA8F-7862528C7898}"/>
                </a:ext>
              </a:extLst>
            </p:cNvPr>
            <p:cNvSpPr>
              <a:spLocks noChangeShapeType="1"/>
            </p:cNvSpPr>
            <p:nvPr/>
          </p:nvSpPr>
          <p:spPr bwMode="auto">
            <a:xfrm>
              <a:off x="2679187" y="4690638"/>
              <a:ext cx="714876" cy="828675"/>
            </a:xfrm>
            <a:prstGeom prst="line">
              <a:avLst/>
            </a:prstGeom>
            <a:noFill/>
            <a:ln w="9525">
              <a:solidFill>
                <a:srgbClr val="000000"/>
              </a:solidFill>
              <a:round/>
              <a:headEnd type="oval" w="med" len="me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29" name="Text Box 6">
              <a:extLst>
                <a:ext uri="{FF2B5EF4-FFF2-40B4-BE49-F238E27FC236}">
                  <a16:creationId xmlns:a16="http://schemas.microsoft.com/office/drawing/2014/main" id="{F15E1E0D-7AFF-46AC-9DAE-F1FAD561CB71}"/>
                </a:ext>
              </a:extLst>
            </p:cNvPr>
            <p:cNvSpPr txBox="1">
              <a:spLocks noChangeArrowheads="1"/>
            </p:cNvSpPr>
            <p:nvPr/>
          </p:nvSpPr>
          <p:spPr bwMode="auto">
            <a:xfrm>
              <a:off x="4255855" y="4547764"/>
              <a:ext cx="330200" cy="336550"/>
            </a:xfrm>
            <a:prstGeom prst="rect">
              <a:avLst/>
            </a:prstGeom>
            <a:solidFill>
              <a:srgbClr val="FFFFFF"/>
            </a:solidFill>
            <a:ln w="9525">
              <a:solidFill>
                <a:srgbClr val="000000"/>
              </a:solidFill>
              <a:miter lim="800000"/>
              <a:headEnd/>
              <a:tailEnd/>
            </a:ln>
          </p:spPr>
          <p:txBody>
            <a:bodyPr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2000"/>
            </a:p>
          </p:txBody>
        </p:sp>
        <p:sp>
          <p:nvSpPr>
            <p:cNvPr id="30" name="Text Box 7">
              <a:extLst>
                <a:ext uri="{FF2B5EF4-FFF2-40B4-BE49-F238E27FC236}">
                  <a16:creationId xmlns:a16="http://schemas.microsoft.com/office/drawing/2014/main" id="{2DC4FCDD-14A1-4D4A-B639-524BCC1FF7A7}"/>
                </a:ext>
              </a:extLst>
            </p:cNvPr>
            <p:cNvSpPr txBox="1">
              <a:spLocks noChangeArrowheads="1"/>
            </p:cNvSpPr>
            <p:nvPr/>
          </p:nvSpPr>
          <p:spPr bwMode="auto">
            <a:xfrm>
              <a:off x="3927242" y="4547764"/>
              <a:ext cx="328613" cy="336550"/>
            </a:xfrm>
            <a:prstGeom prst="rect">
              <a:avLst/>
            </a:prstGeom>
            <a:solidFill>
              <a:srgbClr val="FFFFFF"/>
            </a:solidFill>
            <a:ln w="9525">
              <a:solidFill>
                <a:srgbClr val="000000"/>
              </a:solidFill>
              <a:miter lim="800000"/>
              <a:headEnd/>
              <a:tailEnd/>
            </a:ln>
          </p:spPr>
          <p:txBody>
            <a:bodyPr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000"/>
            </a:p>
          </p:txBody>
        </p:sp>
        <p:sp>
          <p:nvSpPr>
            <p:cNvPr id="31" name="Text Box 9">
              <a:extLst>
                <a:ext uri="{FF2B5EF4-FFF2-40B4-BE49-F238E27FC236}">
                  <a16:creationId xmlns:a16="http://schemas.microsoft.com/office/drawing/2014/main" id="{AE55F97A-EE4C-4190-A360-E5CB3B62F18E}"/>
                </a:ext>
              </a:extLst>
            </p:cNvPr>
            <p:cNvSpPr txBox="1">
              <a:spLocks noChangeArrowheads="1"/>
            </p:cNvSpPr>
            <p:nvPr/>
          </p:nvSpPr>
          <p:spPr bwMode="auto">
            <a:xfrm>
              <a:off x="4586055" y="4547764"/>
              <a:ext cx="328612" cy="336550"/>
            </a:xfrm>
            <a:prstGeom prst="rect">
              <a:avLst/>
            </a:prstGeom>
            <a:solidFill>
              <a:srgbClr val="FFFFFF"/>
            </a:solidFill>
            <a:ln w="9525">
              <a:solidFill>
                <a:srgbClr val="000000"/>
              </a:solidFill>
              <a:miter lim="800000"/>
              <a:headEnd/>
              <a:tailEnd/>
            </a:ln>
          </p:spPr>
          <p:txBody>
            <a:bodyPr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000"/>
            </a:p>
          </p:txBody>
        </p:sp>
        <p:sp>
          <p:nvSpPr>
            <p:cNvPr id="32" name="Text Box 37">
              <a:extLst>
                <a:ext uri="{FF2B5EF4-FFF2-40B4-BE49-F238E27FC236}">
                  <a16:creationId xmlns:a16="http://schemas.microsoft.com/office/drawing/2014/main" id="{5EBCD4FD-6BC6-40C9-8EF1-C04542CF9E74}"/>
                </a:ext>
              </a:extLst>
            </p:cNvPr>
            <p:cNvSpPr txBox="1">
              <a:spLocks noChangeArrowheads="1"/>
            </p:cNvSpPr>
            <p:nvPr/>
          </p:nvSpPr>
          <p:spPr bwMode="auto">
            <a:xfrm>
              <a:off x="3616092" y="4547764"/>
              <a:ext cx="330200" cy="336550"/>
            </a:xfrm>
            <a:prstGeom prst="rect">
              <a:avLst/>
            </a:prstGeom>
            <a:solidFill>
              <a:schemeClr val="accent1">
                <a:lumMod val="20000"/>
                <a:lumOff val="80000"/>
              </a:schemeClr>
            </a:solidFill>
            <a:ln w="9525">
              <a:solidFill>
                <a:srgbClr val="000000"/>
              </a:solidFill>
              <a:miter lim="800000"/>
              <a:headEnd/>
              <a:tailEnd/>
            </a:ln>
          </p:spPr>
          <p:txBody>
            <a:bodyPr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000"/>
                <a:t>2</a:t>
              </a:r>
            </a:p>
          </p:txBody>
        </p:sp>
        <p:sp>
          <p:nvSpPr>
            <p:cNvPr id="33" name="Text Box 6">
              <a:extLst>
                <a:ext uri="{FF2B5EF4-FFF2-40B4-BE49-F238E27FC236}">
                  <a16:creationId xmlns:a16="http://schemas.microsoft.com/office/drawing/2014/main" id="{EB1080A4-A308-4414-AA72-ACE21BDDA05F}"/>
                </a:ext>
              </a:extLst>
            </p:cNvPr>
            <p:cNvSpPr txBox="1">
              <a:spLocks noChangeArrowheads="1"/>
            </p:cNvSpPr>
            <p:nvPr/>
          </p:nvSpPr>
          <p:spPr bwMode="auto">
            <a:xfrm>
              <a:off x="6012092" y="4553551"/>
              <a:ext cx="330200" cy="336550"/>
            </a:xfrm>
            <a:prstGeom prst="rect">
              <a:avLst/>
            </a:prstGeom>
            <a:solidFill>
              <a:srgbClr val="FFFFFF"/>
            </a:solidFill>
            <a:ln w="9525">
              <a:solidFill>
                <a:srgbClr val="000000"/>
              </a:solidFill>
              <a:miter lim="800000"/>
              <a:headEnd/>
              <a:tailEnd/>
            </a:ln>
          </p:spPr>
          <p:txBody>
            <a:bodyPr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2000"/>
            </a:p>
          </p:txBody>
        </p:sp>
        <p:sp>
          <p:nvSpPr>
            <p:cNvPr id="34" name="Text Box 7">
              <a:extLst>
                <a:ext uri="{FF2B5EF4-FFF2-40B4-BE49-F238E27FC236}">
                  <a16:creationId xmlns:a16="http://schemas.microsoft.com/office/drawing/2014/main" id="{BE5B7900-60E6-4A60-9300-1B8F6FDBB5EA}"/>
                </a:ext>
              </a:extLst>
            </p:cNvPr>
            <p:cNvSpPr txBox="1">
              <a:spLocks noChangeArrowheads="1"/>
            </p:cNvSpPr>
            <p:nvPr/>
          </p:nvSpPr>
          <p:spPr bwMode="auto">
            <a:xfrm>
              <a:off x="5683479" y="4553551"/>
              <a:ext cx="328613" cy="336550"/>
            </a:xfrm>
            <a:prstGeom prst="rect">
              <a:avLst/>
            </a:prstGeom>
            <a:solidFill>
              <a:srgbClr val="FFFFFF"/>
            </a:solidFill>
            <a:ln w="9525">
              <a:solidFill>
                <a:srgbClr val="000000"/>
              </a:solidFill>
              <a:miter lim="800000"/>
              <a:headEnd/>
              <a:tailEnd/>
            </a:ln>
          </p:spPr>
          <p:txBody>
            <a:bodyPr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000"/>
            </a:p>
          </p:txBody>
        </p:sp>
        <p:sp>
          <p:nvSpPr>
            <p:cNvPr id="35" name="Line 8">
              <a:extLst>
                <a:ext uri="{FF2B5EF4-FFF2-40B4-BE49-F238E27FC236}">
                  <a16:creationId xmlns:a16="http://schemas.microsoft.com/office/drawing/2014/main" id="{31BC3BCE-57C2-40E7-96D9-BDC6DE519D0A}"/>
                </a:ext>
              </a:extLst>
            </p:cNvPr>
            <p:cNvSpPr>
              <a:spLocks noChangeShapeType="1"/>
            </p:cNvSpPr>
            <p:nvPr/>
          </p:nvSpPr>
          <p:spPr bwMode="auto">
            <a:xfrm flipH="1">
              <a:off x="5372329" y="4696426"/>
              <a:ext cx="476250" cy="822888"/>
            </a:xfrm>
            <a:prstGeom prst="line">
              <a:avLst/>
            </a:prstGeom>
            <a:noFill/>
            <a:ln w="9525">
              <a:solidFill>
                <a:srgbClr val="000000"/>
              </a:solidFill>
              <a:round/>
              <a:headEnd type="oval" w="med" len="me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36" name="Text Box 9">
              <a:extLst>
                <a:ext uri="{FF2B5EF4-FFF2-40B4-BE49-F238E27FC236}">
                  <a16:creationId xmlns:a16="http://schemas.microsoft.com/office/drawing/2014/main" id="{DA7AF2DD-BB3E-4384-B520-1A43FA8E939A}"/>
                </a:ext>
              </a:extLst>
            </p:cNvPr>
            <p:cNvSpPr txBox="1">
              <a:spLocks noChangeArrowheads="1"/>
            </p:cNvSpPr>
            <p:nvPr/>
          </p:nvSpPr>
          <p:spPr bwMode="auto">
            <a:xfrm>
              <a:off x="6342292" y="4553551"/>
              <a:ext cx="328612" cy="336550"/>
            </a:xfrm>
            <a:prstGeom prst="rect">
              <a:avLst/>
            </a:prstGeom>
            <a:solidFill>
              <a:srgbClr val="FFFFFF"/>
            </a:solidFill>
            <a:ln w="9525">
              <a:solidFill>
                <a:srgbClr val="000000"/>
              </a:solidFill>
              <a:miter lim="800000"/>
              <a:headEnd/>
              <a:tailEnd/>
            </a:ln>
          </p:spPr>
          <p:txBody>
            <a:bodyPr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000"/>
            </a:p>
          </p:txBody>
        </p:sp>
        <p:sp>
          <p:nvSpPr>
            <p:cNvPr id="37" name="Text Box 37">
              <a:extLst>
                <a:ext uri="{FF2B5EF4-FFF2-40B4-BE49-F238E27FC236}">
                  <a16:creationId xmlns:a16="http://schemas.microsoft.com/office/drawing/2014/main" id="{DC664B88-15CB-4CE6-BB32-1088F90AA18D}"/>
                </a:ext>
              </a:extLst>
            </p:cNvPr>
            <p:cNvSpPr txBox="1">
              <a:spLocks noChangeArrowheads="1"/>
            </p:cNvSpPr>
            <p:nvPr/>
          </p:nvSpPr>
          <p:spPr bwMode="auto">
            <a:xfrm>
              <a:off x="5372329" y="4553551"/>
              <a:ext cx="330200" cy="336550"/>
            </a:xfrm>
            <a:prstGeom prst="rect">
              <a:avLst/>
            </a:prstGeom>
            <a:solidFill>
              <a:schemeClr val="accent1">
                <a:lumMod val="20000"/>
                <a:lumOff val="80000"/>
              </a:schemeClr>
            </a:solidFill>
            <a:ln w="9525">
              <a:solidFill>
                <a:srgbClr val="000000"/>
              </a:solidFill>
              <a:miter lim="800000"/>
              <a:headEnd/>
              <a:tailEnd/>
            </a:ln>
          </p:spPr>
          <p:txBody>
            <a:bodyPr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000"/>
                <a:t>5</a:t>
              </a:r>
            </a:p>
          </p:txBody>
        </p:sp>
        <p:sp>
          <p:nvSpPr>
            <p:cNvPr id="38" name="Text Box 6">
              <a:extLst>
                <a:ext uri="{FF2B5EF4-FFF2-40B4-BE49-F238E27FC236}">
                  <a16:creationId xmlns:a16="http://schemas.microsoft.com/office/drawing/2014/main" id="{5F49809D-8434-4395-A205-0A42F19C134F}"/>
                </a:ext>
              </a:extLst>
            </p:cNvPr>
            <p:cNvSpPr txBox="1">
              <a:spLocks noChangeArrowheads="1"/>
            </p:cNvSpPr>
            <p:nvPr/>
          </p:nvSpPr>
          <p:spPr bwMode="auto">
            <a:xfrm>
              <a:off x="1782491" y="5519314"/>
              <a:ext cx="330200" cy="336550"/>
            </a:xfrm>
            <a:prstGeom prst="rect">
              <a:avLst/>
            </a:prstGeom>
            <a:solidFill>
              <a:srgbClr val="FFFFFF"/>
            </a:solidFill>
            <a:ln w="9525">
              <a:solidFill>
                <a:srgbClr val="000000"/>
              </a:solidFill>
              <a:miter lim="800000"/>
              <a:headEnd/>
              <a:tailEnd/>
            </a:ln>
          </p:spPr>
          <p:txBody>
            <a:bodyPr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2000"/>
            </a:p>
          </p:txBody>
        </p:sp>
        <p:sp>
          <p:nvSpPr>
            <p:cNvPr id="39" name="Text Box 7">
              <a:extLst>
                <a:ext uri="{FF2B5EF4-FFF2-40B4-BE49-F238E27FC236}">
                  <a16:creationId xmlns:a16="http://schemas.microsoft.com/office/drawing/2014/main" id="{F70E8A6B-3BA9-4642-9FD1-5F653622370B}"/>
                </a:ext>
              </a:extLst>
            </p:cNvPr>
            <p:cNvSpPr txBox="1">
              <a:spLocks noChangeArrowheads="1"/>
            </p:cNvSpPr>
            <p:nvPr/>
          </p:nvSpPr>
          <p:spPr bwMode="auto">
            <a:xfrm>
              <a:off x="1453878" y="5519314"/>
              <a:ext cx="328613" cy="336550"/>
            </a:xfrm>
            <a:prstGeom prst="rect">
              <a:avLst/>
            </a:prstGeom>
            <a:solidFill>
              <a:srgbClr val="FFFFFF"/>
            </a:solidFill>
            <a:ln w="9525">
              <a:solidFill>
                <a:srgbClr val="000000"/>
              </a:solidFill>
              <a:miter lim="800000"/>
              <a:headEnd/>
              <a:tailEnd/>
            </a:ln>
          </p:spPr>
          <p:txBody>
            <a:bodyPr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000"/>
            </a:p>
          </p:txBody>
        </p:sp>
        <p:sp>
          <p:nvSpPr>
            <p:cNvPr id="40" name="Text Box 9">
              <a:extLst>
                <a:ext uri="{FF2B5EF4-FFF2-40B4-BE49-F238E27FC236}">
                  <a16:creationId xmlns:a16="http://schemas.microsoft.com/office/drawing/2014/main" id="{7DE3C856-9C4D-4150-930A-FC68C3E55975}"/>
                </a:ext>
              </a:extLst>
            </p:cNvPr>
            <p:cNvSpPr txBox="1">
              <a:spLocks noChangeArrowheads="1"/>
            </p:cNvSpPr>
            <p:nvPr/>
          </p:nvSpPr>
          <p:spPr bwMode="auto">
            <a:xfrm>
              <a:off x="2112691" y="5519314"/>
              <a:ext cx="328612" cy="336550"/>
            </a:xfrm>
            <a:prstGeom prst="rect">
              <a:avLst/>
            </a:prstGeom>
            <a:solidFill>
              <a:srgbClr val="FFFFFF"/>
            </a:solidFill>
            <a:ln w="9525">
              <a:solidFill>
                <a:srgbClr val="000000"/>
              </a:solidFill>
              <a:miter lim="800000"/>
              <a:headEnd/>
              <a:tailEnd/>
            </a:ln>
          </p:spPr>
          <p:txBody>
            <a:bodyPr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000"/>
            </a:p>
          </p:txBody>
        </p:sp>
        <p:sp>
          <p:nvSpPr>
            <p:cNvPr id="41" name="Text Box 37">
              <a:extLst>
                <a:ext uri="{FF2B5EF4-FFF2-40B4-BE49-F238E27FC236}">
                  <a16:creationId xmlns:a16="http://schemas.microsoft.com/office/drawing/2014/main" id="{A682975E-8DBC-4AB9-9039-5AC132E7EE66}"/>
                </a:ext>
              </a:extLst>
            </p:cNvPr>
            <p:cNvSpPr txBox="1">
              <a:spLocks noChangeArrowheads="1"/>
            </p:cNvSpPr>
            <p:nvPr/>
          </p:nvSpPr>
          <p:spPr bwMode="auto">
            <a:xfrm>
              <a:off x="1142728" y="5519314"/>
              <a:ext cx="330200" cy="336550"/>
            </a:xfrm>
            <a:prstGeom prst="rect">
              <a:avLst/>
            </a:prstGeom>
            <a:solidFill>
              <a:schemeClr val="accent1">
                <a:lumMod val="20000"/>
                <a:lumOff val="80000"/>
              </a:schemeClr>
            </a:solidFill>
            <a:ln w="9525">
              <a:solidFill>
                <a:srgbClr val="000000"/>
              </a:solidFill>
              <a:miter lim="800000"/>
              <a:headEnd/>
              <a:tailEnd/>
            </a:ln>
          </p:spPr>
          <p:txBody>
            <a:bodyPr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000"/>
                <a:t>4</a:t>
              </a:r>
            </a:p>
          </p:txBody>
        </p:sp>
        <p:sp>
          <p:nvSpPr>
            <p:cNvPr id="42" name="Text Box 6">
              <a:extLst>
                <a:ext uri="{FF2B5EF4-FFF2-40B4-BE49-F238E27FC236}">
                  <a16:creationId xmlns:a16="http://schemas.microsoft.com/office/drawing/2014/main" id="{F7B5017D-384C-4D88-BEFD-94BC6001B9F6}"/>
                </a:ext>
              </a:extLst>
            </p:cNvPr>
            <p:cNvSpPr txBox="1">
              <a:spLocks noChangeArrowheads="1"/>
            </p:cNvSpPr>
            <p:nvPr/>
          </p:nvSpPr>
          <p:spPr bwMode="auto">
            <a:xfrm>
              <a:off x="3481317" y="5519314"/>
              <a:ext cx="330200" cy="336550"/>
            </a:xfrm>
            <a:prstGeom prst="rect">
              <a:avLst/>
            </a:prstGeom>
            <a:solidFill>
              <a:srgbClr val="FFFFFF"/>
            </a:solidFill>
            <a:ln w="9525">
              <a:solidFill>
                <a:srgbClr val="000000"/>
              </a:solidFill>
              <a:miter lim="800000"/>
              <a:headEnd/>
              <a:tailEnd/>
            </a:ln>
          </p:spPr>
          <p:txBody>
            <a:bodyPr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2000"/>
            </a:p>
          </p:txBody>
        </p:sp>
        <p:sp>
          <p:nvSpPr>
            <p:cNvPr id="43" name="Text Box 7">
              <a:extLst>
                <a:ext uri="{FF2B5EF4-FFF2-40B4-BE49-F238E27FC236}">
                  <a16:creationId xmlns:a16="http://schemas.microsoft.com/office/drawing/2014/main" id="{F84228AB-DAD3-4A38-898C-FD389AF3C62D}"/>
                </a:ext>
              </a:extLst>
            </p:cNvPr>
            <p:cNvSpPr txBox="1">
              <a:spLocks noChangeArrowheads="1"/>
            </p:cNvSpPr>
            <p:nvPr/>
          </p:nvSpPr>
          <p:spPr bwMode="auto">
            <a:xfrm>
              <a:off x="3152704" y="5519314"/>
              <a:ext cx="328613" cy="336550"/>
            </a:xfrm>
            <a:prstGeom prst="rect">
              <a:avLst/>
            </a:prstGeom>
            <a:solidFill>
              <a:srgbClr val="FFFFFF"/>
            </a:solidFill>
            <a:ln w="9525">
              <a:solidFill>
                <a:srgbClr val="000000"/>
              </a:solidFill>
              <a:miter lim="800000"/>
              <a:headEnd/>
              <a:tailEnd/>
            </a:ln>
          </p:spPr>
          <p:txBody>
            <a:bodyPr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000"/>
            </a:p>
          </p:txBody>
        </p:sp>
        <p:sp>
          <p:nvSpPr>
            <p:cNvPr id="44" name="Text Box 9">
              <a:extLst>
                <a:ext uri="{FF2B5EF4-FFF2-40B4-BE49-F238E27FC236}">
                  <a16:creationId xmlns:a16="http://schemas.microsoft.com/office/drawing/2014/main" id="{E746B07F-E2BC-4AE4-BA7F-A0C4CE9C4984}"/>
                </a:ext>
              </a:extLst>
            </p:cNvPr>
            <p:cNvSpPr txBox="1">
              <a:spLocks noChangeArrowheads="1"/>
            </p:cNvSpPr>
            <p:nvPr/>
          </p:nvSpPr>
          <p:spPr bwMode="auto">
            <a:xfrm>
              <a:off x="3811517" y="5519314"/>
              <a:ext cx="328612" cy="336550"/>
            </a:xfrm>
            <a:prstGeom prst="rect">
              <a:avLst/>
            </a:prstGeom>
            <a:solidFill>
              <a:srgbClr val="FFFFFF"/>
            </a:solidFill>
            <a:ln w="9525">
              <a:solidFill>
                <a:srgbClr val="000000"/>
              </a:solidFill>
              <a:miter lim="800000"/>
              <a:headEnd/>
              <a:tailEnd/>
            </a:ln>
          </p:spPr>
          <p:txBody>
            <a:bodyPr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000"/>
            </a:p>
          </p:txBody>
        </p:sp>
        <p:sp>
          <p:nvSpPr>
            <p:cNvPr id="45" name="Text Box 37">
              <a:extLst>
                <a:ext uri="{FF2B5EF4-FFF2-40B4-BE49-F238E27FC236}">
                  <a16:creationId xmlns:a16="http://schemas.microsoft.com/office/drawing/2014/main" id="{11359091-735A-4519-9957-B8B94CCE0C75}"/>
                </a:ext>
              </a:extLst>
            </p:cNvPr>
            <p:cNvSpPr txBox="1">
              <a:spLocks noChangeArrowheads="1"/>
            </p:cNvSpPr>
            <p:nvPr/>
          </p:nvSpPr>
          <p:spPr bwMode="auto">
            <a:xfrm>
              <a:off x="2841554" y="5519314"/>
              <a:ext cx="330200" cy="336550"/>
            </a:xfrm>
            <a:prstGeom prst="rect">
              <a:avLst/>
            </a:prstGeom>
            <a:solidFill>
              <a:schemeClr val="accent1">
                <a:lumMod val="20000"/>
                <a:lumOff val="80000"/>
              </a:schemeClr>
            </a:solidFill>
            <a:ln w="9525">
              <a:solidFill>
                <a:srgbClr val="000000"/>
              </a:solidFill>
              <a:miter lim="800000"/>
              <a:headEnd/>
              <a:tailEnd/>
            </a:ln>
          </p:spPr>
          <p:txBody>
            <a:bodyPr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000"/>
                <a:t>6</a:t>
              </a:r>
            </a:p>
          </p:txBody>
        </p:sp>
        <p:sp>
          <p:nvSpPr>
            <p:cNvPr id="46" name="Text Box 6">
              <a:extLst>
                <a:ext uri="{FF2B5EF4-FFF2-40B4-BE49-F238E27FC236}">
                  <a16:creationId xmlns:a16="http://schemas.microsoft.com/office/drawing/2014/main" id="{80D42806-A4DF-4FCF-B8CE-DC3D605AA519}"/>
                </a:ext>
              </a:extLst>
            </p:cNvPr>
            <p:cNvSpPr txBox="1">
              <a:spLocks noChangeArrowheads="1"/>
            </p:cNvSpPr>
            <p:nvPr/>
          </p:nvSpPr>
          <p:spPr bwMode="auto">
            <a:xfrm>
              <a:off x="5363689" y="5519314"/>
              <a:ext cx="330200" cy="336550"/>
            </a:xfrm>
            <a:prstGeom prst="rect">
              <a:avLst/>
            </a:prstGeom>
            <a:solidFill>
              <a:srgbClr val="FFFFFF"/>
            </a:solidFill>
            <a:ln w="9525">
              <a:solidFill>
                <a:srgbClr val="000000"/>
              </a:solidFill>
              <a:miter lim="800000"/>
              <a:headEnd/>
              <a:tailEnd/>
            </a:ln>
          </p:spPr>
          <p:txBody>
            <a:bodyPr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2000"/>
            </a:p>
          </p:txBody>
        </p:sp>
        <p:sp>
          <p:nvSpPr>
            <p:cNvPr id="47" name="Text Box 7">
              <a:extLst>
                <a:ext uri="{FF2B5EF4-FFF2-40B4-BE49-F238E27FC236}">
                  <a16:creationId xmlns:a16="http://schemas.microsoft.com/office/drawing/2014/main" id="{FC696351-44FD-4754-8CD2-0F922792FB46}"/>
                </a:ext>
              </a:extLst>
            </p:cNvPr>
            <p:cNvSpPr txBox="1">
              <a:spLocks noChangeArrowheads="1"/>
            </p:cNvSpPr>
            <p:nvPr/>
          </p:nvSpPr>
          <p:spPr bwMode="auto">
            <a:xfrm>
              <a:off x="5035076" y="5519314"/>
              <a:ext cx="328613" cy="336550"/>
            </a:xfrm>
            <a:prstGeom prst="rect">
              <a:avLst/>
            </a:prstGeom>
            <a:solidFill>
              <a:srgbClr val="FFFFFF"/>
            </a:solidFill>
            <a:ln w="9525">
              <a:solidFill>
                <a:srgbClr val="000000"/>
              </a:solidFill>
              <a:miter lim="800000"/>
              <a:headEnd/>
              <a:tailEnd/>
            </a:ln>
          </p:spPr>
          <p:txBody>
            <a:bodyPr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000"/>
            </a:p>
          </p:txBody>
        </p:sp>
        <p:sp>
          <p:nvSpPr>
            <p:cNvPr id="48" name="Text Box 9">
              <a:extLst>
                <a:ext uri="{FF2B5EF4-FFF2-40B4-BE49-F238E27FC236}">
                  <a16:creationId xmlns:a16="http://schemas.microsoft.com/office/drawing/2014/main" id="{9532BE83-5D7D-4C4E-A7C0-8794EA190E1B}"/>
                </a:ext>
              </a:extLst>
            </p:cNvPr>
            <p:cNvSpPr txBox="1">
              <a:spLocks noChangeArrowheads="1"/>
            </p:cNvSpPr>
            <p:nvPr/>
          </p:nvSpPr>
          <p:spPr bwMode="auto">
            <a:xfrm>
              <a:off x="5693889" y="5519314"/>
              <a:ext cx="328612" cy="336550"/>
            </a:xfrm>
            <a:prstGeom prst="rect">
              <a:avLst/>
            </a:prstGeom>
            <a:solidFill>
              <a:srgbClr val="FFFFFF"/>
            </a:solidFill>
            <a:ln w="9525">
              <a:solidFill>
                <a:srgbClr val="000000"/>
              </a:solidFill>
              <a:miter lim="800000"/>
              <a:headEnd/>
              <a:tailEnd/>
            </a:ln>
          </p:spPr>
          <p:txBody>
            <a:bodyPr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000"/>
            </a:p>
          </p:txBody>
        </p:sp>
        <p:sp>
          <p:nvSpPr>
            <p:cNvPr id="49" name="Text Box 37">
              <a:extLst>
                <a:ext uri="{FF2B5EF4-FFF2-40B4-BE49-F238E27FC236}">
                  <a16:creationId xmlns:a16="http://schemas.microsoft.com/office/drawing/2014/main" id="{BB298FBE-7205-4242-A7E2-9D6443D920E3}"/>
                </a:ext>
              </a:extLst>
            </p:cNvPr>
            <p:cNvSpPr txBox="1">
              <a:spLocks noChangeArrowheads="1"/>
            </p:cNvSpPr>
            <p:nvPr/>
          </p:nvSpPr>
          <p:spPr bwMode="auto">
            <a:xfrm>
              <a:off x="4723926" y="5519314"/>
              <a:ext cx="330200" cy="336550"/>
            </a:xfrm>
            <a:prstGeom prst="rect">
              <a:avLst/>
            </a:prstGeom>
            <a:solidFill>
              <a:schemeClr val="accent1">
                <a:lumMod val="20000"/>
                <a:lumOff val="80000"/>
              </a:schemeClr>
            </a:solidFill>
            <a:ln w="9525">
              <a:solidFill>
                <a:srgbClr val="000000"/>
              </a:solidFill>
              <a:miter lim="800000"/>
              <a:headEnd/>
              <a:tailEnd/>
            </a:ln>
          </p:spPr>
          <p:txBody>
            <a:bodyPr lIns="54000" tIns="10800" rIns="54000" bIns="10800">
              <a:spAutoFit/>
            </a:bodyPr>
            <a:lstStyle>
              <a:lvl1pPr>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000"/>
                <a:t>7</a:t>
              </a:r>
            </a:p>
          </p:txBody>
        </p:sp>
        <p:cxnSp>
          <p:nvCxnSpPr>
            <p:cNvPr id="50" name="Straight Connector 49">
              <a:extLst>
                <a:ext uri="{FF2B5EF4-FFF2-40B4-BE49-F238E27FC236}">
                  <a16:creationId xmlns:a16="http://schemas.microsoft.com/office/drawing/2014/main" id="{B5FF6F10-F69F-4F10-A2C7-26979CB6731A}"/>
                </a:ext>
              </a:extLst>
            </p:cNvPr>
            <p:cNvCxnSpPr/>
            <p:nvPr/>
          </p:nvCxnSpPr>
          <p:spPr>
            <a:xfrm flipH="1">
              <a:off x="6342292" y="4544026"/>
              <a:ext cx="328612" cy="34028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7C56902-C0BF-4289-8FAB-E785D5B9DEFC}"/>
                </a:ext>
              </a:extLst>
            </p:cNvPr>
            <p:cNvCxnSpPr/>
            <p:nvPr/>
          </p:nvCxnSpPr>
          <p:spPr>
            <a:xfrm flipH="1">
              <a:off x="6019566" y="4553912"/>
              <a:ext cx="328612" cy="34028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BFA904E-2643-47FE-9B19-8249E2F2565C}"/>
                </a:ext>
              </a:extLst>
            </p:cNvPr>
            <p:cNvCxnSpPr/>
            <p:nvPr/>
          </p:nvCxnSpPr>
          <p:spPr>
            <a:xfrm flipH="1">
              <a:off x="4583112" y="4532049"/>
              <a:ext cx="328612" cy="34028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755F98C-5679-4206-B138-26DD1216FCA8}"/>
                </a:ext>
              </a:extLst>
            </p:cNvPr>
            <p:cNvCxnSpPr/>
            <p:nvPr/>
          </p:nvCxnSpPr>
          <p:spPr>
            <a:xfrm flipH="1">
              <a:off x="4259705" y="4544026"/>
              <a:ext cx="328612" cy="34028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A9224CFA-EF9E-4088-9DB5-EBE2871858F5}"/>
                </a:ext>
              </a:extLst>
            </p:cNvPr>
            <p:cNvCxnSpPr/>
            <p:nvPr/>
          </p:nvCxnSpPr>
          <p:spPr>
            <a:xfrm flipH="1">
              <a:off x="3937001" y="4548166"/>
              <a:ext cx="328612" cy="34028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8A58360-806C-46FE-A49D-1163CCF630F1}"/>
                </a:ext>
              </a:extLst>
            </p:cNvPr>
            <p:cNvCxnSpPr/>
            <p:nvPr/>
          </p:nvCxnSpPr>
          <p:spPr>
            <a:xfrm flipH="1">
              <a:off x="1461464" y="5515576"/>
              <a:ext cx="328612" cy="34028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4DDB230-7AC4-44A3-A034-592C0BA2C762}"/>
                </a:ext>
              </a:extLst>
            </p:cNvPr>
            <p:cNvCxnSpPr/>
            <p:nvPr/>
          </p:nvCxnSpPr>
          <p:spPr>
            <a:xfrm flipH="1">
              <a:off x="1774885" y="5523052"/>
              <a:ext cx="328612" cy="34028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DE6D909-7205-4F56-B359-27B7B38008D8}"/>
                </a:ext>
              </a:extLst>
            </p:cNvPr>
            <p:cNvCxnSpPr/>
            <p:nvPr/>
          </p:nvCxnSpPr>
          <p:spPr>
            <a:xfrm flipH="1">
              <a:off x="2099007" y="5520620"/>
              <a:ext cx="328612" cy="34028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224018C4-5DCA-48C0-868B-60436133031E}"/>
                </a:ext>
              </a:extLst>
            </p:cNvPr>
            <p:cNvCxnSpPr/>
            <p:nvPr/>
          </p:nvCxnSpPr>
          <p:spPr>
            <a:xfrm flipH="1">
              <a:off x="3163241" y="5514905"/>
              <a:ext cx="328612" cy="34028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5012099E-CBF3-4459-A881-FC608AFCD284}"/>
                </a:ext>
              </a:extLst>
            </p:cNvPr>
            <p:cNvCxnSpPr/>
            <p:nvPr/>
          </p:nvCxnSpPr>
          <p:spPr>
            <a:xfrm flipH="1">
              <a:off x="3490690" y="5520620"/>
              <a:ext cx="328612" cy="34028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0A300F2-31E6-4600-A6FE-22E234465B23}"/>
                </a:ext>
              </a:extLst>
            </p:cNvPr>
            <p:cNvCxnSpPr/>
            <p:nvPr/>
          </p:nvCxnSpPr>
          <p:spPr>
            <a:xfrm flipH="1">
              <a:off x="3812647" y="5507285"/>
              <a:ext cx="328612" cy="34028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D28EC579-B9F2-464C-9726-2192B5236E3E}"/>
                </a:ext>
              </a:extLst>
            </p:cNvPr>
            <p:cNvCxnSpPr/>
            <p:nvPr/>
          </p:nvCxnSpPr>
          <p:spPr>
            <a:xfrm flipH="1">
              <a:off x="5044602" y="5518570"/>
              <a:ext cx="328612" cy="34028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3D8649E-DCD3-4E4D-856B-CC3DE5787FBC}"/>
                </a:ext>
              </a:extLst>
            </p:cNvPr>
            <p:cNvCxnSpPr/>
            <p:nvPr/>
          </p:nvCxnSpPr>
          <p:spPr>
            <a:xfrm flipH="1">
              <a:off x="5358645" y="5515576"/>
              <a:ext cx="328612" cy="34028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B28661B9-4191-4619-BAFA-0EDBD9EFD628}"/>
                </a:ext>
              </a:extLst>
            </p:cNvPr>
            <p:cNvCxnSpPr/>
            <p:nvPr/>
          </p:nvCxnSpPr>
          <p:spPr>
            <a:xfrm flipH="1">
              <a:off x="5690996" y="5515576"/>
              <a:ext cx="328612" cy="34028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17937B07-BBE3-4FD0-9001-D589F9C8E2C0}"/>
                </a:ext>
              </a:extLst>
            </p:cNvPr>
            <p:cNvCxnSpPr/>
            <p:nvPr/>
          </p:nvCxnSpPr>
          <p:spPr>
            <a:xfrm flipH="1">
              <a:off x="2832080" y="4551311"/>
              <a:ext cx="328612" cy="34028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5" name="Line 8">
              <a:extLst>
                <a:ext uri="{FF2B5EF4-FFF2-40B4-BE49-F238E27FC236}">
                  <a16:creationId xmlns:a16="http://schemas.microsoft.com/office/drawing/2014/main" id="{1FC8E206-F4FB-4D78-B404-089608F8A017}"/>
                </a:ext>
              </a:extLst>
            </p:cNvPr>
            <p:cNvSpPr>
              <a:spLocks noChangeShapeType="1"/>
            </p:cNvSpPr>
            <p:nvPr/>
          </p:nvSpPr>
          <p:spPr bwMode="auto">
            <a:xfrm flipH="1">
              <a:off x="2663351" y="3768725"/>
              <a:ext cx="1292698" cy="777542"/>
            </a:xfrm>
            <a:prstGeom prst="line">
              <a:avLst/>
            </a:prstGeom>
            <a:noFill/>
            <a:ln w="9525">
              <a:solidFill>
                <a:srgbClr val="000000"/>
              </a:solidFill>
              <a:round/>
              <a:headEnd type="oval" w="med" len="med"/>
              <a:tailEnd type="arrow" w="med" len="me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158865553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Biểu diễn cây tổng quát</a:t>
            </a:r>
            <a:endParaRPr lang="vi-VN" dirty="0"/>
          </a:p>
        </p:txBody>
      </p:sp>
      <p:sp>
        <p:nvSpPr>
          <p:cNvPr id="3" name="Content Placeholder 2"/>
          <p:cNvSpPr>
            <a:spLocks noGrp="1"/>
          </p:cNvSpPr>
          <p:nvPr>
            <p:ph type="body" sz="quarter" idx="13"/>
          </p:nvPr>
        </p:nvSpPr>
        <p:spPr/>
        <p:txBody>
          <a:bodyPr>
            <a:normAutofit/>
          </a:bodyPr>
          <a:lstStyle/>
          <a:p>
            <a:r>
              <a:rPr lang="en-US" sz="2400" dirty="0"/>
              <a:t>Hạn chế của phương pháp biểu diễn dạng danh sách liên kết</a:t>
            </a:r>
          </a:p>
          <a:p>
            <a:pPr lvl="1"/>
            <a:r>
              <a:rPr lang="en-US" sz="2000" dirty="0"/>
              <a:t>Nếu cây có kích thước N, cấp d thì số con trỏ NULL là N(d-1)+1</a:t>
            </a:r>
          </a:p>
          <a:p>
            <a:pPr lvl="1"/>
            <a:r>
              <a:rPr lang="en-US" sz="2000" dirty="0"/>
              <a:t>Khi d &gt;=2 thì số con trỏ NULL lớn hơn kích thước của cây =&gt; lãng phí bộ nhớ</a:t>
            </a:r>
          </a:p>
          <a:p>
            <a:pPr lvl="1"/>
            <a:r>
              <a:rPr lang="en-US" sz="2000" dirty="0"/>
              <a:t>Đòi hỏi phải biết trước cấp của cây (d), điều này không phải lúc nào cũng thỏa mãn. </a:t>
            </a:r>
          </a:p>
          <a:p>
            <a:pPr lvl="1"/>
            <a:endParaRPr lang="vi-VN" sz="2000" dirty="0"/>
          </a:p>
        </p:txBody>
      </p:sp>
    </p:spTree>
    <p:extLst>
      <p:ext uri="{BB962C8B-B14F-4D97-AF65-F5344CB8AC3E}">
        <p14:creationId xmlns:p14="http://schemas.microsoft.com/office/powerpoint/2010/main" val="2467487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2"/>
          <p:cNvSpPr>
            <a:spLocks noGrp="1" noChangeArrowheads="1"/>
          </p:cNvSpPr>
          <p:nvPr>
            <p:ph type="title"/>
          </p:nvPr>
        </p:nvSpPr>
        <p:spPr/>
        <p:txBody>
          <a:bodyPr/>
          <a:lstStyle/>
          <a:p>
            <a:r>
              <a:rPr lang="en-US" altLang="en-US" sz="2000" dirty="0" err="1">
                <a:cs typeface="Times New Roman" panose="02020603050405020304" pitchFamily="18" charset="0"/>
              </a:rPr>
              <a:t>Cài</a:t>
            </a:r>
            <a:r>
              <a:rPr lang="en-US" altLang="en-US" sz="2000" dirty="0">
                <a:cs typeface="Times New Roman" panose="02020603050405020304" pitchFamily="18" charset="0"/>
              </a:rPr>
              <a:t> </a:t>
            </a:r>
            <a:r>
              <a:rPr lang="en-US" altLang="en-US" sz="2000" dirty="0" err="1">
                <a:cs typeface="Times New Roman" panose="02020603050405020304" pitchFamily="18" charset="0"/>
              </a:rPr>
              <a:t>đặt</a:t>
            </a:r>
            <a:r>
              <a:rPr lang="en-US" altLang="en-US" sz="2000" dirty="0">
                <a:cs typeface="Times New Roman" panose="02020603050405020304" pitchFamily="18" charset="0"/>
              </a:rPr>
              <a:t> </a:t>
            </a:r>
            <a:r>
              <a:rPr lang="en-US" dirty="0" err="1"/>
              <a:t>cây</a:t>
            </a:r>
            <a:r>
              <a:rPr lang="en-US" dirty="0"/>
              <a:t> </a:t>
            </a:r>
            <a:r>
              <a:rPr lang="en-US" dirty="0" err="1"/>
              <a:t>tổng</a:t>
            </a:r>
            <a:r>
              <a:rPr lang="en-US" dirty="0"/>
              <a:t> </a:t>
            </a:r>
            <a:r>
              <a:rPr lang="en-US" dirty="0" err="1"/>
              <a:t>quát</a:t>
            </a:r>
            <a:endParaRPr lang="en-US" altLang="en-US" dirty="0">
              <a:cs typeface="Times New Roman" panose="02020603050405020304" pitchFamily="18" charset="0"/>
            </a:endParaRPr>
          </a:p>
        </p:txBody>
      </p:sp>
      <p:sp>
        <p:nvSpPr>
          <p:cNvPr id="53253" name="Rectangle 3"/>
          <p:cNvSpPr>
            <a:spLocks noGrp="1" noChangeArrowheads="1"/>
          </p:cNvSpPr>
          <p:nvPr>
            <p:ph type="body" sz="quarter" idx="13"/>
          </p:nvPr>
        </p:nvSpPr>
        <p:spPr>
          <a:noFill/>
        </p:spPr>
        <p:txBody>
          <a:bodyPr>
            <a:normAutofit/>
          </a:bodyPr>
          <a:lstStyle/>
          <a:p>
            <a:pPr eaLnBrk="1" hangingPunct="1">
              <a:spcBef>
                <a:spcPct val="15000"/>
              </a:spcBef>
            </a:pPr>
            <a:r>
              <a:rPr lang="en-US" altLang="en-US" sz="2400" dirty="0" err="1">
                <a:cs typeface="Times New Roman" panose="02020603050405020304" pitchFamily="18" charset="0"/>
              </a:rPr>
              <a:t>Cài</a:t>
            </a:r>
            <a:r>
              <a:rPr lang="en-US" altLang="en-US" sz="2400" dirty="0">
                <a:cs typeface="Times New Roman" panose="02020603050405020304" pitchFamily="18" charset="0"/>
              </a:rPr>
              <a:t> </a:t>
            </a:r>
            <a:r>
              <a:rPr lang="en-US" altLang="en-US" sz="2400" dirty="0" err="1">
                <a:cs typeface="Times New Roman" panose="02020603050405020304" pitchFamily="18" charset="0"/>
              </a:rPr>
              <a:t>đặt</a:t>
            </a:r>
            <a:r>
              <a:rPr lang="en-US" altLang="en-US" sz="2400" dirty="0">
                <a:cs typeface="Times New Roman" panose="02020603050405020304" pitchFamily="18" charset="0"/>
              </a:rPr>
              <a:t> </a:t>
            </a:r>
            <a:r>
              <a:rPr lang="en-US" altLang="en-US" sz="2400" dirty="0" err="1">
                <a:cs typeface="Times New Roman" panose="02020603050405020304" pitchFamily="18" charset="0"/>
              </a:rPr>
              <a:t>gián</a:t>
            </a:r>
            <a:r>
              <a:rPr lang="en-US" altLang="en-US" sz="2400" dirty="0">
                <a:cs typeface="Times New Roman" panose="02020603050405020304" pitchFamily="18" charset="0"/>
              </a:rPr>
              <a:t> </a:t>
            </a:r>
            <a:r>
              <a:rPr lang="en-US" altLang="en-US" sz="2400" dirty="0" err="1">
                <a:cs typeface="Times New Roman" panose="02020603050405020304" pitchFamily="18" charset="0"/>
              </a:rPr>
              <a:t>tiếp</a:t>
            </a:r>
            <a:r>
              <a:rPr lang="en-US" altLang="en-US" sz="2400" dirty="0">
                <a:cs typeface="Times New Roman" panose="02020603050405020304" pitchFamily="18" charset="0"/>
              </a:rPr>
              <a:t> qua </a:t>
            </a:r>
            <a:r>
              <a:rPr lang="en-US" altLang="en-US" sz="2400" dirty="0" err="1">
                <a:cs typeface="Times New Roman" panose="02020603050405020304" pitchFamily="18" charset="0"/>
              </a:rPr>
              <a:t>cây</a:t>
            </a:r>
            <a:r>
              <a:rPr lang="en-US" altLang="en-US" sz="2400" dirty="0">
                <a:cs typeface="Times New Roman" panose="02020603050405020304" pitchFamily="18" charset="0"/>
              </a:rPr>
              <a:t> </a:t>
            </a:r>
            <a:r>
              <a:rPr lang="en-US" altLang="en-US" sz="2400" dirty="0" err="1">
                <a:cs typeface="Times New Roman" panose="02020603050405020304" pitchFamily="18" charset="0"/>
              </a:rPr>
              <a:t>nhị</a:t>
            </a:r>
            <a:r>
              <a:rPr lang="en-US" altLang="en-US" sz="2400" dirty="0">
                <a:cs typeface="Times New Roman" panose="02020603050405020304" pitchFamily="18" charset="0"/>
              </a:rPr>
              <a:t> </a:t>
            </a:r>
            <a:r>
              <a:rPr lang="en-US" altLang="en-US" sz="2400" dirty="0" err="1">
                <a:cs typeface="Times New Roman" panose="02020603050405020304" pitchFamily="18" charset="0"/>
              </a:rPr>
              <a:t>phân</a:t>
            </a:r>
            <a:r>
              <a:rPr lang="en-US" altLang="en-US" sz="2400" dirty="0">
                <a:cs typeface="Times New Roman" panose="02020603050405020304" pitchFamily="18" charset="0"/>
              </a:rPr>
              <a:t> </a:t>
            </a:r>
          </a:p>
          <a:p>
            <a:pPr lvl="1" eaLnBrk="1" hangingPunct="1">
              <a:spcBef>
                <a:spcPct val="15000"/>
              </a:spcBef>
              <a:buFontTx/>
              <a:buNone/>
            </a:pPr>
            <a:r>
              <a:rPr lang="en-US" altLang="en-US" sz="2000" b="1" u="sng" dirty="0">
                <a:cs typeface="Times New Roman" panose="02020603050405020304" pitchFamily="18" charset="0"/>
              </a:rPr>
              <a:t>Ý </a:t>
            </a:r>
            <a:r>
              <a:rPr lang="en-US" altLang="en-US" sz="2000" b="1" u="sng" dirty="0" err="1">
                <a:cs typeface="Times New Roman" panose="02020603050405020304" pitchFamily="18" charset="0"/>
              </a:rPr>
              <a:t>tưởng</a:t>
            </a:r>
            <a:r>
              <a:rPr lang="en-US" altLang="en-US" sz="2000" b="1" u="sng" dirty="0">
                <a:cs typeface="Times New Roman" panose="02020603050405020304" pitchFamily="18" charset="0"/>
              </a:rPr>
              <a:t>: </a:t>
            </a:r>
          </a:p>
          <a:p>
            <a:pPr lvl="1" eaLnBrk="1" hangingPunct="1">
              <a:spcBef>
                <a:spcPct val="15000"/>
              </a:spcBef>
            </a:pPr>
            <a:r>
              <a:rPr lang="en-US" altLang="en-US" sz="2000" dirty="0" err="1">
                <a:cs typeface="Times New Roman" panose="02020603050405020304" pitchFamily="18" charset="0"/>
              </a:rPr>
              <a:t>Tận</a:t>
            </a:r>
            <a:r>
              <a:rPr lang="en-US" altLang="en-US" sz="2000" dirty="0">
                <a:cs typeface="Times New Roman" panose="02020603050405020304" pitchFamily="18" charset="0"/>
              </a:rPr>
              <a:t> </a:t>
            </a:r>
            <a:r>
              <a:rPr lang="en-US" altLang="en-US" sz="2000" dirty="0" err="1">
                <a:cs typeface="Times New Roman" panose="02020603050405020304" pitchFamily="18" charset="0"/>
              </a:rPr>
              <a:t>dụng</a:t>
            </a:r>
            <a:r>
              <a:rPr lang="en-US" altLang="en-US" sz="2000" dirty="0">
                <a:cs typeface="Times New Roman" panose="02020603050405020304" pitchFamily="18" charset="0"/>
              </a:rPr>
              <a:t> </a:t>
            </a: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kết</a:t>
            </a:r>
            <a:r>
              <a:rPr lang="en-US" altLang="en-US" sz="2000" dirty="0">
                <a:cs typeface="Times New Roman" panose="02020603050405020304" pitchFamily="18" charset="0"/>
              </a:rPr>
              <a:t> </a:t>
            </a:r>
            <a:r>
              <a:rPr lang="en-US" altLang="en-US" sz="2000" dirty="0" err="1">
                <a:cs typeface="Times New Roman" panose="02020603050405020304" pitchFamily="18" charset="0"/>
              </a:rPr>
              <a:t>quả</a:t>
            </a:r>
            <a:r>
              <a:rPr lang="en-US" altLang="en-US" sz="2000" dirty="0">
                <a:cs typeface="Times New Roman" panose="02020603050405020304" pitchFamily="18" charset="0"/>
              </a:rPr>
              <a:t> </a:t>
            </a:r>
            <a:r>
              <a:rPr lang="en-US" altLang="en-US" sz="2000" dirty="0" err="1">
                <a:cs typeface="Times New Roman" panose="02020603050405020304" pitchFamily="18" charset="0"/>
              </a:rPr>
              <a:t>cài</a:t>
            </a:r>
            <a:r>
              <a:rPr lang="en-US" altLang="en-US" sz="2000" dirty="0">
                <a:cs typeface="Times New Roman" panose="02020603050405020304" pitchFamily="18" charset="0"/>
              </a:rPr>
              <a:t> </a:t>
            </a:r>
            <a:r>
              <a:rPr lang="en-US" altLang="en-US" sz="2000" dirty="0" err="1">
                <a:cs typeface="Times New Roman" panose="02020603050405020304" pitchFamily="18" charset="0"/>
              </a:rPr>
              <a:t>đặt</a:t>
            </a:r>
            <a:r>
              <a:rPr lang="en-US" altLang="en-US" sz="2000" dirty="0">
                <a:cs typeface="Times New Roman" panose="02020603050405020304" pitchFamily="18" charset="0"/>
              </a:rPr>
              <a:t>  </a:t>
            </a:r>
            <a:r>
              <a:rPr lang="en-US" altLang="en-US" sz="2000" dirty="0" err="1">
                <a:cs typeface="Times New Roman" panose="02020603050405020304" pitchFamily="18" charset="0"/>
              </a:rPr>
              <a:t>từ</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NP, </a:t>
            </a:r>
            <a:r>
              <a:rPr lang="en-US" altLang="en-US" sz="2000" dirty="0" err="1">
                <a:cs typeface="Times New Roman" panose="02020603050405020304" pitchFamily="18" charset="0"/>
              </a:rPr>
              <a:t>đồng</a:t>
            </a:r>
            <a:r>
              <a:rPr lang="en-US" altLang="en-US" sz="2000" dirty="0">
                <a:cs typeface="Times New Roman" panose="02020603050405020304" pitchFamily="18" charset="0"/>
              </a:rPr>
              <a:t> </a:t>
            </a:r>
            <a:r>
              <a:rPr lang="en-US" altLang="en-US" sz="2000" dirty="0" err="1">
                <a:cs typeface="Times New Roman" panose="02020603050405020304" pitchFamily="18" charset="0"/>
              </a:rPr>
              <a:t>thời</a:t>
            </a:r>
            <a:r>
              <a:rPr lang="en-US" altLang="en-US" sz="2000" dirty="0">
                <a:cs typeface="Times New Roman" panose="02020603050405020304" pitchFamily="18" charset="0"/>
              </a:rPr>
              <a:t> </a:t>
            </a:r>
            <a:r>
              <a:rPr lang="en-US" altLang="en-US" sz="2000" dirty="0" err="1">
                <a:cs typeface="Times New Roman" panose="02020603050405020304" pitchFamily="18" charset="0"/>
              </a:rPr>
              <a:t>khắc</a:t>
            </a:r>
            <a:r>
              <a:rPr lang="en-US" altLang="en-US" sz="2000" dirty="0">
                <a:cs typeface="Times New Roman" panose="02020603050405020304" pitchFamily="18" charset="0"/>
              </a:rPr>
              <a:t> </a:t>
            </a:r>
            <a:r>
              <a:rPr lang="en-US" altLang="en-US" sz="2000" dirty="0" err="1">
                <a:cs typeface="Times New Roman" panose="02020603050405020304" pitchFamily="18" charset="0"/>
              </a:rPr>
              <a:t>phục</a:t>
            </a:r>
            <a:r>
              <a:rPr lang="en-US" altLang="en-US" sz="2000" dirty="0">
                <a:cs typeface="Times New Roman" panose="02020603050405020304" pitchFamily="18" charset="0"/>
              </a:rPr>
              <a:t> </a:t>
            </a: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hạn</a:t>
            </a:r>
            <a:r>
              <a:rPr lang="en-US" altLang="en-US" sz="2000" dirty="0">
                <a:cs typeface="Times New Roman" panose="02020603050405020304" pitchFamily="18" charset="0"/>
              </a:rPr>
              <a:t> </a:t>
            </a:r>
            <a:r>
              <a:rPr lang="en-US" altLang="en-US" sz="2000" dirty="0" err="1">
                <a:cs typeface="Times New Roman" panose="02020603050405020304" pitchFamily="18" charset="0"/>
              </a:rPr>
              <a:t>chế</a:t>
            </a:r>
            <a:r>
              <a:rPr lang="en-US" altLang="en-US" sz="2000" dirty="0">
                <a:cs typeface="Times New Roman" panose="02020603050405020304" pitchFamily="18" charset="0"/>
              </a:rPr>
              <a:t> </a:t>
            </a:r>
            <a:r>
              <a:rPr lang="en-US" altLang="en-US" sz="2000" dirty="0" err="1">
                <a:cs typeface="Times New Roman" panose="02020603050405020304" pitchFamily="18" charset="0"/>
              </a:rPr>
              <a:t>của</a:t>
            </a:r>
            <a:r>
              <a:rPr lang="en-US" altLang="en-US" sz="2000" dirty="0">
                <a:cs typeface="Times New Roman" panose="02020603050405020304" pitchFamily="18" charset="0"/>
              </a:rPr>
              <a:t> </a:t>
            </a:r>
            <a:r>
              <a:rPr lang="en-US" altLang="en-US" sz="2000" dirty="0" err="1">
                <a:cs typeface="Times New Roman" panose="02020603050405020304" pitchFamily="18" charset="0"/>
              </a:rPr>
              <a:t>cách</a:t>
            </a:r>
            <a:r>
              <a:rPr lang="en-US" altLang="en-US" sz="2000" dirty="0">
                <a:cs typeface="Times New Roman" panose="02020603050405020304" pitchFamily="18" charset="0"/>
              </a:rPr>
              <a:t> </a:t>
            </a:r>
            <a:r>
              <a:rPr lang="en-US" altLang="en-US" sz="2000" dirty="0" err="1">
                <a:cs typeface="Times New Roman" panose="02020603050405020304" pitchFamily="18" charset="0"/>
              </a:rPr>
              <a:t>cài</a:t>
            </a:r>
            <a:r>
              <a:rPr lang="en-US" altLang="en-US" sz="2000" dirty="0">
                <a:cs typeface="Times New Roman" panose="02020603050405020304" pitchFamily="18" charset="0"/>
              </a:rPr>
              <a:t> </a:t>
            </a:r>
            <a:r>
              <a:rPr lang="en-US" altLang="en-US" sz="2000" dirty="0" err="1">
                <a:cs typeface="Times New Roman" panose="02020603050405020304" pitchFamily="18" charset="0"/>
              </a:rPr>
              <a:t>đặt</a:t>
            </a:r>
            <a:r>
              <a:rPr lang="en-US" altLang="en-US" sz="2000" dirty="0">
                <a:cs typeface="Times New Roman" panose="02020603050405020304" pitchFamily="18" charset="0"/>
              </a:rPr>
              <a:t> </a:t>
            </a:r>
            <a:r>
              <a:rPr lang="en-US" altLang="en-US" sz="2000" dirty="0" err="1">
                <a:cs typeface="Times New Roman" panose="02020603050405020304" pitchFamily="18" charset="0"/>
              </a:rPr>
              <a:t>trực</a:t>
            </a:r>
            <a:r>
              <a:rPr lang="en-US" altLang="en-US" sz="2000" dirty="0">
                <a:cs typeface="Times New Roman" panose="02020603050405020304" pitchFamily="18" charset="0"/>
              </a:rPr>
              <a:t> </a:t>
            </a:r>
            <a:r>
              <a:rPr lang="en-US" altLang="en-US" sz="2000" dirty="0" err="1">
                <a:cs typeface="Times New Roman" panose="02020603050405020304" pitchFamily="18" charset="0"/>
              </a:rPr>
              <a:t>tiếp</a:t>
            </a:r>
            <a:r>
              <a:rPr lang="en-US" altLang="en-US" sz="2000" dirty="0">
                <a:cs typeface="Times New Roman" panose="02020603050405020304" pitchFamily="18" charset="0"/>
              </a:rPr>
              <a:t>. </a:t>
            </a:r>
          </a:p>
          <a:p>
            <a:pPr lvl="1" eaLnBrk="1" hangingPunct="1">
              <a:spcBef>
                <a:spcPct val="15000"/>
              </a:spcBef>
            </a:pPr>
            <a:r>
              <a:rPr lang="en-US" altLang="en-US" sz="2000" dirty="0" err="1">
                <a:cs typeface="Times New Roman" panose="02020603050405020304" pitchFamily="18" charset="0"/>
              </a:rPr>
              <a:t>Chuyển</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tổng</a:t>
            </a:r>
            <a:r>
              <a:rPr lang="en-US" altLang="en-US" sz="2000" dirty="0">
                <a:cs typeface="Times New Roman" panose="02020603050405020304" pitchFamily="18" charset="0"/>
              </a:rPr>
              <a:t> </a:t>
            </a:r>
            <a:r>
              <a:rPr lang="en-US" altLang="en-US" sz="2000" dirty="0" err="1">
                <a:cs typeface="Times New Roman" panose="02020603050405020304" pitchFamily="18" charset="0"/>
              </a:rPr>
              <a:t>quát</a:t>
            </a:r>
            <a:r>
              <a:rPr lang="en-US" altLang="en-US" sz="2000" dirty="0">
                <a:cs typeface="Times New Roman" panose="02020603050405020304" pitchFamily="18" charset="0"/>
              </a:rPr>
              <a:t> </a:t>
            </a:r>
            <a:r>
              <a:rPr lang="en-US" altLang="en-US" sz="2000" dirty="0" err="1">
                <a:cs typeface="Times New Roman" panose="02020603050405020304" pitchFamily="18" charset="0"/>
              </a:rPr>
              <a:t>về</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NP. </a:t>
            </a:r>
          </a:p>
          <a:p>
            <a:pPr lvl="2">
              <a:spcBef>
                <a:spcPct val="15000"/>
              </a:spcBef>
            </a:pPr>
            <a:r>
              <a:rPr lang="en-US" altLang="en-US" sz="2000" dirty="0" err="1">
                <a:cs typeface="Times New Roman" panose="02020603050405020304" pitchFamily="18" charset="0"/>
              </a:rPr>
              <a:t>Xác</a:t>
            </a:r>
            <a:r>
              <a:rPr lang="en-US" altLang="en-US" sz="2000" dirty="0">
                <a:cs typeface="Times New Roman" panose="02020603050405020304" pitchFamily="18" charset="0"/>
              </a:rPr>
              <a:t> </a:t>
            </a:r>
            <a:r>
              <a:rPr lang="en-US" altLang="en-US" sz="2000" dirty="0" err="1">
                <a:cs typeface="Times New Roman" panose="02020603050405020304" pitchFamily="18" charset="0"/>
              </a:rPr>
              <a:t>định</a:t>
            </a:r>
            <a:r>
              <a:rPr lang="en-US" altLang="en-US" sz="2000" dirty="0">
                <a:cs typeface="Times New Roman" panose="02020603050405020304" pitchFamily="18" charset="0"/>
              </a:rPr>
              <a:t> </a:t>
            </a:r>
            <a:r>
              <a:rPr lang="en-US" altLang="en-US" sz="2000" dirty="0" err="1">
                <a:cs typeface="Times New Roman" panose="02020603050405020304" pitchFamily="18" charset="0"/>
              </a:rPr>
              <a:t>quy</a:t>
            </a:r>
            <a:r>
              <a:rPr lang="en-US" altLang="en-US" sz="2000" dirty="0">
                <a:cs typeface="Times New Roman" panose="02020603050405020304" pitchFamily="18" charset="0"/>
              </a:rPr>
              <a:t> </a:t>
            </a:r>
            <a:r>
              <a:rPr lang="en-US" altLang="en-US" sz="2000" dirty="0" err="1">
                <a:cs typeface="Times New Roman" panose="02020603050405020304" pitchFamily="18" charset="0"/>
              </a:rPr>
              <a:t>tắc</a:t>
            </a:r>
            <a:r>
              <a:rPr lang="en-US" altLang="en-US" sz="2000" dirty="0">
                <a:cs typeface="Times New Roman" panose="02020603050405020304" pitchFamily="18" charset="0"/>
              </a:rPr>
              <a:t> </a:t>
            </a:r>
            <a:r>
              <a:rPr lang="en-US" altLang="en-US" sz="2000" dirty="0" err="1">
                <a:cs typeface="Times New Roman" panose="02020603050405020304" pitchFamily="18" charset="0"/>
              </a:rPr>
              <a:t>chuyển</a:t>
            </a:r>
            <a:r>
              <a:rPr lang="en-US" altLang="en-US" sz="2000" dirty="0">
                <a:cs typeface="Times New Roman" panose="02020603050405020304" pitchFamily="18" charset="0"/>
              </a:rPr>
              <a:t> </a:t>
            </a:r>
            <a:r>
              <a:rPr lang="en-US" altLang="en-US" sz="2000" dirty="0" err="1">
                <a:cs typeface="Times New Roman" panose="02020603050405020304" pitchFamily="18" charset="0"/>
              </a:rPr>
              <a:t>đổi</a:t>
            </a:r>
            <a:r>
              <a:rPr lang="en-US" altLang="en-US" sz="2000" dirty="0">
                <a:cs typeface="Times New Roman" panose="02020603050405020304" pitchFamily="18" charset="0"/>
              </a:rPr>
              <a:t> </a:t>
            </a:r>
            <a:r>
              <a:rPr lang="en-US" altLang="en-US" sz="2000" dirty="0" err="1">
                <a:cs typeface="Times New Roman" panose="02020603050405020304" pitchFamily="18" charset="0"/>
              </a:rPr>
              <a:t>hai</a:t>
            </a:r>
            <a:r>
              <a:rPr lang="en-US" altLang="en-US" sz="2000" dirty="0">
                <a:cs typeface="Times New Roman" panose="02020603050405020304" pitchFamily="18" charset="0"/>
              </a:rPr>
              <a:t> </a:t>
            </a:r>
            <a:r>
              <a:rPr lang="en-US" altLang="en-US" sz="2000" dirty="0" err="1">
                <a:cs typeface="Times New Roman" panose="02020603050405020304" pitchFamily="18" charset="0"/>
              </a:rPr>
              <a:t>chiều</a:t>
            </a:r>
            <a:r>
              <a:rPr lang="en-US" altLang="en-US" sz="2000" dirty="0">
                <a:cs typeface="Times New Roman" panose="02020603050405020304" pitchFamily="18" charset="0"/>
              </a:rPr>
              <a:t> </a:t>
            </a:r>
            <a:r>
              <a:rPr lang="en-US" altLang="en-US" sz="2000" dirty="0" err="1">
                <a:cs typeface="Times New Roman" panose="02020603050405020304" pitchFamily="18" charset="0"/>
              </a:rPr>
              <a:t>từ</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tổng</a:t>
            </a:r>
            <a:r>
              <a:rPr lang="en-US" altLang="en-US" sz="2000" dirty="0">
                <a:cs typeface="Times New Roman" panose="02020603050405020304" pitchFamily="18" charset="0"/>
              </a:rPr>
              <a:t> </a:t>
            </a:r>
            <a:r>
              <a:rPr lang="en-US" altLang="en-US" sz="2000" dirty="0" err="1">
                <a:cs typeface="Times New Roman" panose="02020603050405020304" pitchFamily="18" charset="0"/>
              </a:rPr>
              <a:t>quát</a:t>
            </a:r>
            <a:r>
              <a:rPr lang="en-US" altLang="en-US" sz="2000" dirty="0">
                <a:cs typeface="Times New Roman" panose="02020603050405020304" pitchFamily="18" charset="0"/>
              </a:rPr>
              <a:t> sang </a:t>
            </a:r>
            <a:r>
              <a:rPr lang="en-US" altLang="en-US" sz="2000" dirty="0" err="1">
                <a:cs typeface="Times New Roman" panose="02020603050405020304" pitchFamily="18" charset="0"/>
              </a:rPr>
              <a:t>cây</a:t>
            </a:r>
            <a:r>
              <a:rPr lang="en-US" altLang="en-US" sz="2000" dirty="0">
                <a:cs typeface="Times New Roman" panose="02020603050405020304" pitchFamily="18" charset="0"/>
              </a:rPr>
              <a:t> NP </a:t>
            </a:r>
            <a:r>
              <a:rPr lang="en-US" altLang="en-US" sz="2000" dirty="0" err="1">
                <a:cs typeface="Times New Roman" panose="02020603050405020304" pitchFamily="18" charset="0"/>
              </a:rPr>
              <a:t>và</a:t>
            </a:r>
            <a:r>
              <a:rPr lang="en-US" altLang="en-US" sz="2000" dirty="0">
                <a:cs typeface="Times New Roman" panose="02020603050405020304" pitchFamily="18" charset="0"/>
              </a:rPr>
              <a:t> </a:t>
            </a:r>
            <a:r>
              <a:rPr lang="en-US" altLang="en-US" sz="2000" dirty="0" err="1">
                <a:cs typeface="Times New Roman" panose="02020603050405020304" pitchFamily="18" charset="0"/>
              </a:rPr>
              <a:t>ngược</a:t>
            </a:r>
            <a:r>
              <a:rPr lang="en-US" altLang="en-US" sz="2000" dirty="0">
                <a:cs typeface="Times New Roman" panose="02020603050405020304" pitchFamily="18" charset="0"/>
              </a:rPr>
              <a:t> </a:t>
            </a:r>
            <a:r>
              <a:rPr lang="en-US" altLang="en-US" sz="2000" dirty="0" err="1">
                <a:cs typeface="Times New Roman" panose="02020603050405020304" pitchFamily="18" charset="0"/>
              </a:rPr>
              <a:t>lại</a:t>
            </a:r>
            <a:r>
              <a:rPr lang="en-US" altLang="en-US" sz="2000" dirty="0">
                <a:cs typeface="Times New Roman" panose="02020603050405020304" pitchFamily="18" charset="0"/>
              </a:rPr>
              <a:t>. </a:t>
            </a:r>
          </a:p>
          <a:p>
            <a:pPr lvl="2" eaLnBrk="1" hangingPunct="1">
              <a:spcBef>
                <a:spcPct val="15000"/>
              </a:spcBef>
            </a:pPr>
            <a:r>
              <a:rPr lang="en-US" altLang="en-US" sz="2000" dirty="0" err="1">
                <a:cs typeface="Times New Roman" panose="02020603050405020304" pitchFamily="18" charset="0"/>
              </a:rPr>
              <a:t>Coi</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tổng</a:t>
            </a:r>
            <a:r>
              <a:rPr lang="en-US" altLang="en-US" sz="2000" dirty="0">
                <a:cs typeface="Times New Roman" panose="02020603050405020304" pitchFamily="18" charset="0"/>
              </a:rPr>
              <a:t> </a:t>
            </a:r>
            <a:r>
              <a:rPr lang="en-US" altLang="en-US" sz="2000" dirty="0" err="1">
                <a:cs typeface="Times New Roman" panose="02020603050405020304" pitchFamily="18" charset="0"/>
              </a:rPr>
              <a:t>quát</a:t>
            </a:r>
            <a:r>
              <a:rPr lang="en-US" altLang="en-US" sz="2000" dirty="0">
                <a:cs typeface="Times New Roman" panose="02020603050405020304" pitchFamily="18" charset="0"/>
              </a:rPr>
              <a:t>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thứ</a:t>
            </a:r>
            <a:r>
              <a:rPr lang="en-US" altLang="en-US" sz="2000" dirty="0">
                <a:cs typeface="Times New Roman" panose="02020603050405020304" pitchFamily="18" charset="0"/>
              </a:rPr>
              <a:t> </a:t>
            </a:r>
            <a:r>
              <a:rPr lang="en-US" altLang="en-US" sz="2000" dirty="0" err="1">
                <a:cs typeface="Times New Roman" panose="02020603050405020304" pitchFamily="18" charset="0"/>
              </a:rPr>
              <a:t>tự</a:t>
            </a:r>
            <a:r>
              <a:rPr lang="en-US" altLang="en-US" sz="2000" dirty="0">
                <a:cs typeface="Times New Roman" panose="02020603050405020304" pitchFamily="18" charset="0"/>
              </a:rPr>
              <a:t>. </a:t>
            </a:r>
            <a:r>
              <a:rPr lang="en-US" altLang="en-US" sz="2000" dirty="0" err="1">
                <a:cs typeface="Times New Roman" panose="02020603050405020304" pitchFamily="18" charset="0"/>
              </a:rPr>
              <a:t>Nếu</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tổng</a:t>
            </a:r>
            <a:r>
              <a:rPr lang="en-US" altLang="en-US" sz="2000" dirty="0">
                <a:cs typeface="Times New Roman" panose="02020603050405020304" pitchFamily="18" charset="0"/>
              </a:rPr>
              <a:t> </a:t>
            </a:r>
            <a:r>
              <a:rPr lang="en-US" altLang="en-US" sz="2000" dirty="0" err="1">
                <a:cs typeface="Times New Roman" panose="02020603050405020304" pitchFamily="18" charset="0"/>
              </a:rPr>
              <a:t>quát</a:t>
            </a:r>
            <a:r>
              <a:rPr lang="en-US" altLang="en-US" sz="2000" dirty="0">
                <a:cs typeface="Times New Roman" panose="02020603050405020304" pitchFamily="18" charset="0"/>
              </a:rPr>
              <a:t> </a:t>
            </a:r>
            <a:r>
              <a:rPr lang="en-US" altLang="en-US" sz="2000" dirty="0" err="1">
                <a:cs typeface="Times New Roman" panose="02020603050405020304" pitchFamily="18" charset="0"/>
              </a:rPr>
              <a:t>không</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thứ</a:t>
            </a:r>
            <a:r>
              <a:rPr lang="en-US" altLang="en-US" sz="2000" dirty="0">
                <a:cs typeface="Times New Roman" panose="02020603050405020304" pitchFamily="18" charset="0"/>
              </a:rPr>
              <a:t> </a:t>
            </a:r>
            <a:r>
              <a:rPr lang="en-US" altLang="en-US" sz="2000" dirty="0" err="1">
                <a:cs typeface="Times New Roman" panose="02020603050405020304" pitchFamily="18" charset="0"/>
              </a:rPr>
              <a:t>tự</a:t>
            </a:r>
            <a:r>
              <a:rPr lang="en-US" altLang="en-US" sz="2000" dirty="0">
                <a:cs typeface="Times New Roman" panose="02020603050405020304" pitchFamily="18" charset="0"/>
              </a:rPr>
              <a:t> </a:t>
            </a:r>
            <a:r>
              <a:rPr lang="en-US" altLang="en-US" sz="2000" dirty="0" err="1">
                <a:cs typeface="Times New Roman" panose="02020603050405020304" pitchFamily="18" charset="0"/>
              </a:rPr>
              <a:t>thì</a:t>
            </a:r>
            <a:r>
              <a:rPr lang="en-US" altLang="en-US" sz="2000" dirty="0">
                <a:cs typeface="Times New Roman" panose="02020603050405020304" pitchFamily="18" charset="0"/>
              </a:rPr>
              <a:t> ta </a:t>
            </a:r>
            <a:r>
              <a:rPr lang="en-US" altLang="en-US" sz="2000" dirty="0" err="1">
                <a:cs typeface="Times New Roman" panose="02020603050405020304" pitchFamily="18" charset="0"/>
              </a:rPr>
              <a:t>đưa</a:t>
            </a:r>
            <a:r>
              <a:rPr lang="en-US" altLang="en-US" sz="2000" dirty="0">
                <a:cs typeface="Times New Roman" panose="02020603050405020304" pitchFamily="18" charset="0"/>
              </a:rPr>
              <a:t> </a:t>
            </a:r>
            <a:r>
              <a:rPr lang="en-US" altLang="en-US" sz="2000" dirty="0" err="1">
                <a:cs typeface="Times New Roman" panose="02020603050405020304" pitchFamily="18" charset="0"/>
              </a:rPr>
              <a:t>thêm</a:t>
            </a:r>
            <a:r>
              <a:rPr lang="en-US" altLang="en-US" sz="2000" dirty="0">
                <a:cs typeface="Times New Roman" panose="02020603050405020304" pitchFamily="18" charset="0"/>
              </a:rPr>
              <a:t> </a:t>
            </a:r>
            <a:r>
              <a:rPr lang="en-US" altLang="en-US" sz="2000" dirty="0" err="1">
                <a:cs typeface="Times New Roman" panose="02020603050405020304" pitchFamily="18" charset="0"/>
              </a:rPr>
              <a:t>vào</a:t>
            </a:r>
            <a:r>
              <a:rPr lang="en-US" altLang="en-US" sz="2000" dirty="0">
                <a:cs typeface="Times New Roman" panose="02020603050405020304" pitchFamily="18" charset="0"/>
              </a:rPr>
              <a:t> </a:t>
            </a:r>
            <a:r>
              <a:rPr lang="en-US" altLang="en-US" sz="2000" dirty="0" err="1">
                <a:cs typeface="Times New Roman" panose="02020603050405020304" pitchFamily="18" charset="0"/>
              </a:rPr>
              <a:t>một</a:t>
            </a:r>
            <a:r>
              <a:rPr lang="en-US" altLang="en-US" sz="2000" dirty="0">
                <a:cs typeface="Times New Roman" panose="02020603050405020304" pitchFamily="18" charset="0"/>
              </a:rPr>
              <a:t> </a:t>
            </a:r>
            <a:r>
              <a:rPr lang="en-US" altLang="en-US" sz="2000" dirty="0" err="1">
                <a:cs typeface="Times New Roman" panose="02020603050405020304" pitchFamily="18" charset="0"/>
              </a:rPr>
              <a:t>thứ</a:t>
            </a:r>
            <a:r>
              <a:rPr lang="en-US" altLang="en-US" sz="2000" dirty="0">
                <a:cs typeface="Times New Roman" panose="02020603050405020304" pitchFamily="18" charset="0"/>
              </a:rPr>
              <a:t> </a:t>
            </a:r>
            <a:r>
              <a:rPr lang="en-US" altLang="en-US" sz="2000" dirty="0" err="1">
                <a:cs typeface="Times New Roman" panose="02020603050405020304" pitchFamily="18" charset="0"/>
              </a:rPr>
              <a:t>tự</a:t>
            </a:r>
            <a:r>
              <a:rPr lang="en-US" altLang="en-US" sz="2000" dirty="0">
                <a:cs typeface="Times New Roman" panose="02020603050405020304" pitchFamily="18" charset="0"/>
              </a:rPr>
              <a:t> </a:t>
            </a:r>
            <a:r>
              <a:rPr lang="en-US" altLang="en-US" sz="2000" dirty="0" err="1">
                <a:cs typeface="Times New Roman" panose="02020603050405020304" pitchFamily="18" charset="0"/>
              </a:rPr>
              <a:t>trong</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đó</a:t>
            </a:r>
            <a:r>
              <a:rPr lang="en-US" altLang="en-US" sz="2000" dirty="0">
                <a:cs typeface="Times New Roman" panose="02020603050405020304" pitchFamily="18" charset="0"/>
              </a:rPr>
              <a:t>. </a:t>
            </a:r>
          </a:p>
          <a:p>
            <a:pPr lvl="2"/>
            <a:r>
              <a:rPr lang="vi-VN" sz="2000" dirty="0"/>
              <a:t>Với một nút trong cây, chỉ quan tâm tới 2 quan hệ: </a:t>
            </a:r>
          </a:p>
          <a:p>
            <a:pPr lvl="3"/>
            <a:r>
              <a:rPr lang="vi-VN" sz="2000" dirty="0"/>
              <a:t>Quan hệ 1-1 giữa nút đó và nút con cực trái của nó (con cả)</a:t>
            </a:r>
          </a:p>
          <a:p>
            <a:pPr lvl="3"/>
            <a:r>
              <a:rPr lang="vi-VN" sz="2000" dirty="0"/>
              <a:t>Quan hệ 1-1 giữa nút đó và nút em kế cận bên phải của nó</a:t>
            </a:r>
          </a:p>
          <a:p>
            <a:pPr lvl="2">
              <a:spcBef>
                <a:spcPct val="15000"/>
              </a:spcBef>
            </a:pPr>
            <a:r>
              <a:rPr lang="vi-VN" sz="2000" dirty="0"/>
              <a:t>Dựa vào </a:t>
            </a:r>
            <a:r>
              <a:rPr lang="en-US" sz="2000" dirty="0" err="1"/>
              <a:t>đó</a:t>
            </a:r>
            <a:r>
              <a:rPr lang="vi-VN" sz="2000" dirty="0"/>
              <a:t>, biểu diễn được một cây tổng quát dưới dạng một cây nhị phân gọi là </a:t>
            </a:r>
            <a:r>
              <a:rPr lang="vi-VN" sz="2000" dirty="0">
                <a:solidFill>
                  <a:srgbClr val="00B050"/>
                </a:solidFill>
              </a:rPr>
              <a:t>cây nhị phân tương đương</a:t>
            </a:r>
            <a:r>
              <a:rPr lang="vi-VN" sz="2000" dirty="0"/>
              <a:t> (equivalent binary tree)</a:t>
            </a:r>
          </a:p>
          <a:p>
            <a:pPr lvl="2">
              <a:spcBef>
                <a:spcPct val="15000"/>
              </a:spcBef>
            </a:pPr>
            <a:endParaRPr lang="en-US" altLang="en-US" sz="2000" dirty="0">
              <a:cs typeface="Times New Roman" panose="02020603050405020304" pitchFamily="18" charset="0"/>
            </a:endParaRPr>
          </a:p>
        </p:txBody>
      </p:sp>
    </p:spTree>
    <p:extLst>
      <p:ext uri="{BB962C8B-B14F-4D97-AF65-F5344CB8AC3E}">
        <p14:creationId xmlns:p14="http://schemas.microsoft.com/office/powerpoint/2010/main" val="2575861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25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25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25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325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325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325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2"/>
          <p:cNvSpPr>
            <a:spLocks noGrp="1" noChangeArrowheads="1"/>
          </p:cNvSpPr>
          <p:nvPr>
            <p:ph type="title"/>
          </p:nvPr>
        </p:nvSpPr>
        <p:spPr/>
        <p:txBody>
          <a:bodyPr/>
          <a:lstStyle/>
          <a:p>
            <a:r>
              <a:rPr lang="en-US" altLang="en-US" sz="2000" dirty="0" err="1">
                <a:cs typeface="Times New Roman" panose="02020603050405020304" pitchFamily="18" charset="0"/>
              </a:rPr>
              <a:t>Cài</a:t>
            </a:r>
            <a:r>
              <a:rPr lang="en-US" altLang="en-US" sz="2000" dirty="0">
                <a:cs typeface="Times New Roman" panose="02020603050405020304" pitchFamily="18" charset="0"/>
              </a:rPr>
              <a:t> </a:t>
            </a:r>
            <a:r>
              <a:rPr lang="en-US" altLang="en-US" sz="2000" dirty="0" err="1">
                <a:cs typeface="Times New Roman" panose="02020603050405020304" pitchFamily="18" charset="0"/>
              </a:rPr>
              <a:t>đặt</a:t>
            </a:r>
            <a:r>
              <a:rPr lang="en-US" altLang="en-US" sz="2000" dirty="0">
                <a:cs typeface="Times New Roman" panose="02020603050405020304" pitchFamily="18" charset="0"/>
              </a:rPr>
              <a:t> </a:t>
            </a:r>
            <a:r>
              <a:rPr lang="en-US" dirty="0" err="1"/>
              <a:t>cây</a:t>
            </a:r>
            <a:r>
              <a:rPr lang="en-US" dirty="0"/>
              <a:t> </a:t>
            </a:r>
            <a:r>
              <a:rPr lang="en-US" dirty="0" err="1"/>
              <a:t>tổng</a:t>
            </a:r>
            <a:r>
              <a:rPr lang="en-US" dirty="0"/>
              <a:t> </a:t>
            </a:r>
            <a:r>
              <a:rPr lang="en-US" dirty="0" err="1"/>
              <a:t>quát</a:t>
            </a:r>
            <a:endParaRPr lang="en-US" altLang="en-US" dirty="0">
              <a:cs typeface="Times New Roman" panose="02020603050405020304" pitchFamily="18" charset="0"/>
            </a:endParaRPr>
          </a:p>
        </p:txBody>
      </p:sp>
      <p:sp>
        <p:nvSpPr>
          <p:cNvPr id="53253" name="Rectangle 3"/>
          <p:cNvSpPr>
            <a:spLocks noGrp="1" noChangeArrowheads="1"/>
          </p:cNvSpPr>
          <p:nvPr>
            <p:ph type="body" sz="quarter" idx="13"/>
          </p:nvPr>
        </p:nvSpPr>
        <p:spPr>
          <a:noFill/>
        </p:spPr>
        <p:txBody>
          <a:bodyPr>
            <a:normAutofit/>
          </a:bodyPr>
          <a:lstStyle/>
          <a:p>
            <a:pPr eaLnBrk="1" hangingPunct="1">
              <a:spcBef>
                <a:spcPct val="15000"/>
              </a:spcBef>
            </a:pPr>
            <a:r>
              <a:rPr lang="en-US" altLang="en-US" sz="2400" dirty="0" err="1">
                <a:cs typeface="Times New Roman" panose="02020603050405020304" pitchFamily="18" charset="0"/>
              </a:rPr>
              <a:t>Cài</a:t>
            </a:r>
            <a:r>
              <a:rPr lang="en-US" altLang="en-US" sz="2400" dirty="0">
                <a:cs typeface="Times New Roman" panose="02020603050405020304" pitchFamily="18" charset="0"/>
              </a:rPr>
              <a:t> </a:t>
            </a:r>
            <a:r>
              <a:rPr lang="en-US" altLang="en-US" sz="2400" dirty="0" err="1">
                <a:cs typeface="Times New Roman" panose="02020603050405020304" pitchFamily="18" charset="0"/>
              </a:rPr>
              <a:t>đặt</a:t>
            </a:r>
            <a:r>
              <a:rPr lang="en-US" altLang="en-US" sz="2400" dirty="0">
                <a:cs typeface="Times New Roman" panose="02020603050405020304" pitchFamily="18" charset="0"/>
              </a:rPr>
              <a:t> </a:t>
            </a:r>
            <a:r>
              <a:rPr lang="en-US" altLang="en-US" sz="2400" dirty="0" err="1">
                <a:cs typeface="Times New Roman" panose="02020603050405020304" pitchFamily="18" charset="0"/>
              </a:rPr>
              <a:t>gián</a:t>
            </a:r>
            <a:r>
              <a:rPr lang="en-US" altLang="en-US" sz="2400" dirty="0">
                <a:cs typeface="Times New Roman" panose="02020603050405020304" pitchFamily="18" charset="0"/>
              </a:rPr>
              <a:t> </a:t>
            </a:r>
            <a:r>
              <a:rPr lang="en-US" altLang="en-US" sz="2400" dirty="0" err="1">
                <a:cs typeface="Times New Roman" panose="02020603050405020304" pitchFamily="18" charset="0"/>
              </a:rPr>
              <a:t>tiếp</a:t>
            </a:r>
            <a:r>
              <a:rPr lang="en-US" altLang="en-US" sz="2400" dirty="0">
                <a:cs typeface="Times New Roman" panose="02020603050405020304" pitchFamily="18" charset="0"/>
              </a:rPr>
              <a:t> qua </a:t>
            </a:r>
            <a:r>
              <a:rPr lang="en-US" altLang="en-US" sz="2400" dirty="0" err="1">
                <a:cs typeface="Times New Roman" panose="02020603050405020304" pitchFamily="18" charset="0"/>
              </a:rPr>
              <a:t>cây</a:t>
            </a:r>
            <a:r>
              <a:rPr lang="en-US" altLang="en-US" sz="2400" dirty="0">
                <a:cs typeface="Times New Roman" panose="02020603050405020304" pitchFamily="18" charset="0"/>
              </a:rPr>
              <a:t> </a:t>
            </a:r>
            <a:r>
              <a:rPr lang="en-US" altLang="en-US" sz="2400" dirty="0" err="1">
                <a:cs typeface="Times New Roman" panose="02020603050405020304" pitchFamily="18" charset="0"/>
              </a:rPr>
              <a:t>nhị</a:t>
            </a:r>
            <a:r>
              <a:rPr lang="en-US" altLang="en-US" sz="2400" dirty="0">
                <a:cs typeface="Times New Roman" panose="02020603050405020304" pitchFamily="18" charset="0"/>
              </a:rPr>
              <a:t> </a:t>
            </a:r>
            <a:r>
              <a:rPr lang="en-US" altLang="en-US" sz="2400" dirty="0" err="1">
                <a:cs typeface="Times New Roman" panose="02020603050405020304" pitchFamily="18" charset="0"/>
              </a:rPr>
              <a:t>phân</a:t>
            </a:r>
            <a:r>
              <a:rPr lang="en-US" altLang="en-US" sz="2400" dirty="0">
                <a:cs typeface="Times New Roman" panose="02020603050405020304" pitchFamily="18" charset="0"/>
              </a:rPr>
              <a:t> </a:t>
            </a:r>
          </a:p>
          <a:p>
            <a:pPr lvl="1">
              <a:spcBef>
                <a:spcPct val="15000"/>
              </a:spcBef>
            </a:pPr>
            <a:r>
              <a:rPr lang="en-US" altLang="en-US" sz="2000" dirty="0" err="1">
                <a:cs typeface="Times New Roman" panose="02020603050405020304" pitchFamily="18" charset="0"/>
              </a:rPr>
              <a:t>Quy</a:t>
            </a:r>
            <a:r>
              <a:rPr lang="en-US" altLang="en-US" sz="2000" dirty="0">
                <a:cs typeface="Times New Roman" panose="02020603050405020304" pitchFamily="18" charset="0"/>
              </a:rPr>
              <a:t> </a:t>
            </a:r>
            <a:r>
              <a:rPr lang="en-US" altLang="en-US" sz="2000" dirty="0" err="1">
                <a:cs typeface="Times New Roman" panose="02020603050405020304" pitchFamily="18" charset="0"/>
              </a:rPr>
              <a:t>tắc</a:t>
            </a:r>
            <a:r>
              <a:rPr lang="en-US" altLang="en-US" sz="2000" dirty="0">
                <a:cs typeface="Times New Roman" panose="02020603050405020304" pitchFamily="18" charset="0"/>
              </a:rPr>
              <a:t>:</a:t>
            </a:r>
          </a:p>
          <a:p>
            <a:pPr lvl="2" eaLnBrk="1" hangingPunct="1">
              <a:spcBef>
                <a:spcPct val="15000"/>
              </a:spcBef>
            </a:pPr>
            <a:r>
              <a:rPr lang="en-US" sz="1800" dirty="0" err="1"/>
              <a:t>Sắp</a:t>
            </a:r>
            <a:r>
              <a:rPr lang="en-US" sz="1800" dirty="0"/>
              <a:t> </a:t>
            </a:r>
            <a:r>
              <a:rPr lang="en-US" sz="1800" dirty="0" err="1"/>
              <a:t>xếp</a:t>
            </a:r>
            <a:r>
              <a:rPr lang="en-US" sz="1800" dirty="0"/>
              <a:t> </a:t>
            </a:r>
            <a:r>
              <a:rPr lang="en-US" sz="1800" dirty="0" err="1"/>
              <a:t>lại</a:t>
            </a:r>
            <a:r>
              <a:rPr lang="en-US" sz="1800" dirty="0"/>
              <a:t> </a:t>
            </a:r>
            <a:r>
              <a:rPr lang="en-US" sz="1800" dirty="0" err="1"/>
              <a:t>cây</a:t>
            </a:r>
            <a:r>
              <a:rPr lang="en-US" sz="1800" dirty="0"/>
              <a:t> </a:t>
            </a:r>
            <a:r>
              <a:rPr lang="en-US" sz="1800" dirty="0" err="1"/>
              <a:t>tổng</a:t>
            </a:r>
            <a:r>
              <a:rPr lang="en-US" sz="1800" dirty="0"/>
              <a:t> </a:t>
            </a:r>
            <a:r>
              <a:rPr lang="en-US" sz="1800" dirty="0" err="1"/>
              <a:t>quát</a:t>
            </a:r>
            <a:r>
              <a:rPr lang="en-US" sz="1800" dirty="0"/>
              <a:t> (</a:t>
            </a:r>
            <a:r>
              <a:rPr lang="en-US" sz="1800" dirty="0" err="1"/>
              <a:t>nếu</a:t>
            </a:r>
            <a:r>
              <a:rPr lang="en-US" sz="1800" dirty="0"/>
              <a:t> </a:t>
            </a:r>
            <a:r>
              <a:rPr lang="en-US" sz="1800" dirty="0" err="1"/>
              <a:t>cần</a:t>
            </a:r>
            <a:r>
              <a:rPr lang="en-US" sz="1800" dirty="0"/>
              <a:t>)</a:t>
            </a:r>
            <a:endParaRPr lang="en-US" altLang="en-US" sz="1800" dirty="0">
              <a:cs typeface="Times New Roman" panose="02020603050405020304" pitchFamily="18" charset="0"/>
            </a:endParaRPr>
          </a:p>
          <a:p>
            <a:pPr lvl="2" eaLnBrk="1" hangingPunct="1">
              <a:spcBef>
                <a:spcPct val="15000"/>
              </a:spcBef>
            </a:pPr>
            <a:r>
              <a:rPr lang="en-US" altLang="en-US" sz="1800" dirty="0" err="1">
                <a:cs typeface="Times New Roman" panose="02020603050405020304" pitchFamily="18" charset="0"/>
              </a:rPr>
              <a:t>Chuyển</a:t>
            </a:r>
            <a:r>
              <a:rPr lang="en-US" altLang="en-US" sz="1800" dirty="0">
                <a:cs typeface="Times New Roman" panose="02020603050405020304" pitchFamily="18" charset="0"/>
              </a:rPr>
              <a:t> </a:t>
            </a:r>
            <a:r>
              <a:rPr lang="en-US" altLang="en-US" sz="1800" dirty="0" err="1">
                <a:cs typeface="Times New Roman" panose="02020603050405020304" pitchFamily="18" charset="0"/>
              </a:rPr>
              <a:t>nút</a:t>
            </a:r>
            <a:r>
              <a:rPr lang="en-US" altLang="en-US" sz="1800" dirty="0">
                <a:cs typeface="Times New Roman" panose="02020603050405020304" pitchFamily="18" charset="0"/>
              </a:rPr>
              <a:t> con </a:t>
            </a:r>
            <a:r>
              <a:rPr lang="en-US" altLang="en-US" sz="1800" dirty="0" err="1">
                <a:cs typeface="Times New Roman" panose="02020603050405020304" pitchFamily="18" charset="0"/>
              </a:rPr>
              <a:t>trái</a:t>
            </a:r>
            <a:r>
              <a:rPr lang="en-US" altLang="en-US" sz="1800" dirty="0">
                <a:cs typeface="Times New Roman" panose="02020603050405020304" pitchFamily="18" charset="0"/>
              </a:rPr>
              <a:t> </a:t>
            </a:r>
            <a:r>
              <a:rPr lang="en-US" altLang="en-US" sz="1800" dirty="0" err="1">
                <a:cs typeface="Times New Roman" panose="02020603050405020304" pitchFamily="18" charset="0"/>
              </a:rPr>
              <a:t>nhất</a:t>
            </a:r>
            <a:r>
              <a:rPr lang="en-US" altLang="en-US" sz="1800" dirty="0">
                <a:cs typeface="Times New Roman" panose="02020603050405020304" pitchFamily="18" charset="0"/>
              </a:rPr>
              <a:t> (con </a:t>
            </a:r>
            <a:r>
              <a:rPr lang="en-US" altLang="en-US" sz="1800" dirty="0" err="1">
                <a:cs typeface="Times New Roman" panose="02020603050405020304" pitchFamily="18" charset="0"/>
              </a:rPr>
              <a:t>cả</a:t>
            </a:r>
            <a:r>
              <a:rPr lang="en-US" altLang="en-US" sz="1800" dirty="0">
                <a:cs typeface="Times New Roman" panose="02020603050405020304" pitchFamily="18" charset="0"/>
              </a:rPr>
              <a:t>) </a:t>
            </a:r>
            <a:r>
              <a:rPr lang="en-US" altLang="en-US" sz="1800" dirty="0" err="1">
                <a:cs typeface="Times New Roman" panose="02020603050405020304" pitchFamily="18" charset="0"/>
              </a:rPr>
              <a:t>của</a:t>
            </a:r>
            <a:r>
              <a:rPr lang="en-US" altLang="en-US" sz="1800" dirty="0">
                <a:cs typeface="Times New Roman" panose="02020603050405020304" pitchFamily="18" charset="0"/>
              </a:rPr>
              <a:t> </a:t>
            </a:r>
            <a:r>
              <a:rPr lang="en-US" altLang="en-US" sz="1800" dirty="0" err="1">
                <a:cs typeface="Times New Roman" panose="02020603050405020304" pitchFamily="18" charset="0"/>
              </a:rPr>
              <a:t>một</a:t>
            </a:r>
            <a:r>
              <a:rPr lang="en-US" altLang="en-US" sz="1800" dirty="0">
                <a:cs typeface="Times New Roman" panose="02020603050405020304" pitchFamily="18" charset="0"/>
              </a:rPr>
              <a:t> </a:t>
            </a:r>
            <a:r>
              <a:rPr lang="en-US" altLang="en-US" sz="1800" dirty="0" err="1">
                <a:cs typeface="Times New Roman" panose="02020603050405020304" pitchFamily="18" charset="0"/>
              </a:rPr>
              <a:t>nút</a:t>
            </a:r>
            <a:r>
              <a:rPr lang="en-US" altLang="en-US" sz="1800" dirty="0">
                <a:cs typeface="Times New Roman" panose="02020603050405020304" pitchFamily="18" charset="0"/>
              </a:rPr>
              <a:t> </a:t>
            </a:r>
            <a:r>
              <a:rPr lang="en-US" altLang="en-US" sz="1800" dirty="0" err="1">
                <a:cs typeface="Times New Roman" panose="02020603050405020304" pitchFamily="18" charset="0"/>
              </a:rPr>
              <a:t>thành</a:t>
            </a:r>
            <a:r>
              <a:rPr lang="en-US" altLang="en-US" sz="1800" dirty="0">
                <a:cs typeface="Times New Roman" panose="02020603050405020304" pitchFamily="18" charset="0"/>
              </a:rPr>
              <a:t> </a:t>
            </a:r>
            <a:r>
              <a:rPr lang="en-US" altLang="en-US" sz="1800" dirty="0" err="1">
                <a:cs typeface="Times New Roman" panose="02020603050405020304" pitchFamily="18" charset="0"/>
              </a:rPr>
              <a:t>nút</a:t>
            </a:r>
            <a:r>
              <a:rPr lang="en-US" altLang="en-US" sz="1800" dirty="0">
                <a:cs typeface="Times New Roman" panose="02020603050405020304" pitchFamily="18" charset="0"/>
              </a:rPr>
              <a:t> con </a:t>
            </a:r>
            <a:r>
              <a:rPr lang="en-US" altLang="en-US" sz="1800" dirty="0" err="1">
                <a:cs typeface="Times New Roman" panose="02020603050405020304" pitchFamily="18" charset="0"/>
              </a:rPr>
              <a:t>trái</a:t>
            </a:r>
            <a:r>
              <a:rPr lang="en-US" altLang="en-US" sz="1800" dirty="0">
                <a:cs typeface="Times New Roman" panose="02020603050405020304" pitchFamily="18" charset="0"/>
              </a:rPr>
              <a:t> </a:t>
            </a:r>
            <a:r>
              <a:rPr lang="en-US" altLang="en-US" sz="1800" dirty="0" err="1">
                <a:cs typeface="Times New Roman" panose="02020603050405020304" pitchFamily="18" charset="0"/>
              </a:rPr>
              <a:t>của</a:t>
            </a:r>
            <a:r>
              <a:rPr lang="en-US" altLang="en-US" sz="1800" dirty="0">
                <a:cs typeface="Times New Roman" panose="02020603050405020304" pitchFamily="18" charset="0"/>
              </a:rPr>
              <a:t> </a:t>
            </a:r>
            <a:r>
              <a:rPr lang="en-US" altLang="en-US" sz="1800" dirty="0" err="1">
                <a:cs typeface="Times New Roman" panose="02020603050405020304" pitchFamily="18" charset="0"/>
              </a:rPr>
              <a:t>nó</a:t>
            </a:r>
            <a:endParaRPr lang="en-US" altLang="en-US" sz="1800" dirty="0">
              <a:cs typeface="Times New Roman" panose="02020603050405020304" pitchFamily="18" charset="0"/>
            </a:endParaRPr>
          </a:p>
          <a:p>
            <a:pPr lvl="2" eaLnBrk="1" hangingPunct="1">
              <a:spcBef>
                <a:spcPct val="15000"/>
              </a:spcBef>
            </a:pPr>
            <a:r>
              <a:rPr lang="en-US" altLang="en-US" sz="1800" dirty="0" err="1">
                <a:cs typeface="Times New Roman" panose="02020603050405020304" pitchFamily="18" charset="0"/>
              </a:rPr>
              <a:t>Chuyển</a:t>
            </a:r>
            <a:r>
              <a:rPr lang="en-US" altLang="en-US" sz="1800" dirty="0">
                <a:cs typeface="Times New Roman" panose="02020603050405020304" pitchFamily="18" charset="0"/>
              </a:rPr>
              <a:t> </a:t>
            </a:r>
            <a:r>
              <a:rPr lang="en-US" altLang="en-US" sz="1800" dirty="0" err="1">
                <a:cs typeface="Times New Roman" panose="02020603050405020304" pitchFamily="18" charset="0"/>
              </a:rPr>
              <a:t>nút</a:t>
            </a:r>
            <a:r>
              <a:rPr lang="en-US" altLang="en-US" sz="1800" dirty="0">
                <a:cs typeface="Times New Roman" panose="02020603050405020304" pitchFamily="18" charset="0"/>
              </a:rPr>
              <a:t> </a:t>
            </a:r>
            <a:r>
              <a:rPr lang="en-US" altLang="en-US" sz="1800" dirty="0" err="1">
                <a:cs typeface="Times New Roman" panose="02020603050405020304" pitchFamily="18" charset="0"/>
              </a:rPr>
              <a:t>em</a:t>
            </a:r>
            <a:r>
              <a:rPr lang="en-US" altLang="en-US" sz="1800" dirty="0">
                <a:cs typeface="Times New Roman" panose="02020603050405020304" pitchFamily="18" charset="0"/>
              </a:rPr>
              <a:t> </a:t>
            </a:r>
            <a:r>
              <a:rPr lang="en-US" altLang="en-US" sz="1800" dirty="0" err="1">
                <a:cs typeface="Times New Roman" panose="02020603050405020304" pitchFamily="18" charset="0"/>
              </a:rPr>
              <a:t>kế</a:t>
            </a:r>
            <a:r>
              <a:rPr lang="en-US" altLang="en-US" sz="1800" dirty="0">
                <a:cs typeface="Times New Roman" panose="02020603050405020304" pitchFamily="18" charset="0"/>
              </a:rPr>
              <a:t> </a:t>
            </a:r>
            <a:r>
              <a:rPr lang="en-US" altLang="en-US" sz="1800" dirty="0" err="1">
                <a:cs typeface="Times New Roman" panose="02020603050405020304" pitchFamily="18" charset="0"/>
              </a:rPr>
              <a:t>cận</a:t>
            </a:r>
            <a:r>
              <a:rPr lang="en-US" altLang="en-US" sz="1800" dirty="0">
                <a:cs typeface="Times New Roman" panose="02020603050405020304" pitchFamily="18" charset="0"/>
              </a:rPr>
              <a:t> </a:t>
            </a:r>
            <a:r>
              <a:rPr lang="en-US" altLang="en-US" sz="1800" dirty="0" err="1">
                <a:cs typeface="Times New Roman" panose="02020603050405020304" pitchFamily="18" charset="0"/>
              </a:rPr>
              <a:t>của</a:t>
            </a:r>
            <a:r>
              <a:rPr lang="en-US" altLang="en-US" sz="1800" dirty="0">
                <a:cs typeface="Times New Roman" panose="02020603050405020304" pitchFamily="18" charset="0"/>
              </a:rPr>
              <a:t> </a:t>
            </a:r>
            <a:r>
              <a:rPr lang="en-US" altLang="en-US" sz="1800" dirty="0" err="1">
                <a:cs typeface="Times New Roman" panose="02020603050405020304" pitchFamily="18" charset="0"/>
              </a:rPr>
              <a:t>một</a:t>
            </a:r>
            <a:r>
              <a:rPr lang="en-US" altLang="en-US" sz="1800" dirty="0">
                <a:cs typeface="Times New Roman" panose="02020603050405020304" pitchFamily="18" charset="0"/>
              </a:rPr>
              <a:t> </a:t>
            </a:r>
            <a:r>
              <a:rPr lang="en-US" altLang="en-US" sz="1800" dirty="0" err="1">
                <a:cs typeface="Times New Roman" panose="02020603050405020304" pitchFamily="18" charset="0"/>
              </a:rPr>
              <a:t>nút</a:t>
            </a:r>
            <a:r>
              <a:rPr lang="en-US" altLang="en-US" sz="1800" dirty="0">
                <a:cs typeface="Times New Roman" panose="02020603050405020304" pitchFamily="18" charset="0"/>
              </a:rPr>
              <a:t> </a:t>
            </a:r>
            <a:r>
              <a:rPr lang="en-US" altLang="en-US" sz="1800" dirty="0" err="1">
                <a:cs typeface="Times New Roman" panose="02020603050405020304" pitchFamily="18" charset="0"/>
              </a:rPr>
              <a:t>thành</a:t>
            </a:r>
            <a:r>
              <a:rPr lang="en-US" altLang="en-US" sz="1800" dirty="0">
                <a:cs typeface="Times New Roman" panose="02020603050405020304" pitchFamily="18" charset="0"/>
              </a:rPr>
              <a:t> </a:t>
            </a:r>
            <a:r>
              <a:rPr lang="en-US" altLang="en-US" sz="1800" dirty="0" err="1">
                <a:cs typeface="Times New Roman" panose="02020603050405020304" pitchFamily="18" charset="0"/>
              </a:rPr>
              <a:t>nút</a:t>
            </a:r>
            <a:r>
              <a:rPr lang="en-US" altLang="en-US" sz="1800" dirty="0">
                <a:cs typeface="Times New Roman" panose="02020603050405020304" pitchFamily="18" charset="0"/>
              </a:rPr>
              <a:t> con </a:t>
            </a:r>
            <a:r>
              <a:rPr lang="en-US" altLang="en-US" sz="1800" dirty="0" err="1">
                <a:cs typeface="Times New Roman" panose="02020603050405020304" pitchFamily="18" charset="0"/>
              </a:rPr>
              <a:t>phải</a:t>
            </a:r>
            <a:r>
              <a:rPr lang="en-US" altLang="en-US" sz="1800" dirty="0">
                <a:cs typeface="Times New Roman" panose="02020603050405020304" pitchFamily="18" charset="0"/>
              </a:rPr>
              <a:t> </a:t>
            </a:r>
            <a:r>
              <a:rPr lang="en-US" altLang="en-US" sz="1800" dirty="0" err="1">
                <a:cs typeface="Times New Roman" panose="02020603050405020304" pitchFamily="18" charset="0"/>
              </a:rPr>
              <a:t>của</a:t>
            </a:r>
            <a:r>
              <a:rPr lang="en-US" altLang="en-US" sz="1800" dirty="0">
                <a:cs typeface="Times New Roman" panose="02020603050405020304" pitchFamily="18" charset="0"/>
              </a:rPr>
              <a:t> </a:t>
            </a:r>
            <a:r>
              <a:rPr lang="en-US" altLang="en-US" sz="1800" dirty="0" err="1">
                <a:cs typeface="Times New Roman" panose="02020603050405020304" pitchFamily="18" charset="0"/>
              </a:rPr>
              <a:t>nút</a:t>
            </a:r>
            <a:r>
              <a:rPr lang="en-US" altLang="en-US" sz="1800" dirty="0">
                <a:cs typeface="Times New Roman" panose="02020603050405020304" pitchFamily="18" charset="0"/>
              </a:rPr>
              <a:t> </a:t>
            </a:r>
            <a:r>
              <a:rPr lang="en-US" altLang="en-US" sz="1800" dirty="0" err="1">
                <a:cs typeface="Times New Roman" panose="02020603050405020304" pitchFamily="18" charset="0"/>
              </a:rPr>
              <a:t>đó</a:t>
            </a:r>
            <a:r>
              <a:rPr lang="en-US" altLang="en-US" sz="1800" dirty="0">
                <a:cs typeface="Times New Roman" panose="02020603050405020304" pitchFamily="18" charset="0"/>
              </a:rPr>
              <a:t>.</a:t>
            </a:r>
          </a:p>
          <a:p>
            <a:pPr lvl="2" eaLnBrk="1" hangingPunct="1">
              <a:spcBef>
                <a:spcPct val="15000"/>
              </a:spcBef>
            </a:pPr>
            <a:r>
              <a:rPr lang="vi-VN" sz="1800" dirty="0"/>
              <a:t>Quy cách của 1 nút trên cây nhị phân tương đương sẽ</a:t>
            </a:r>
            <a:r>
              <a:rPr lang="en-US" sz="1800" dirty="0"/>
              <a:t> </a:t>
            </a:r>
            <a:r>
              <a:rPr lang="vi-VN" sz="1800" dirty="0"/>
              <a:t>như sau</a:t>
            </a:r>
            <a:endParaRPr lang="en-US" sz="1600" dirty="0"/>
          </a:p>
          <a:p>
            <a:pPr lvl="2" eaLnBrk="1" hangingPunct="1">
              <a:spcBef>
                <a:spcPct val="15000"/>
              </a:spcBef>
            </a:pPr>
            <a:endParaRPr lang="en-US" altLang="en-US" sz="1600" dirty="0">
              <a:cs typeface="Times New Roman" panose="02020603050405020304" pitchFamily="18" charset="0"/>
            </a:endParaRPr>
          </a:p>
          <a:p>
            <a:pPr lvl="2" eaLnBrk="1" hangingPunct="1">
              <a:spcBef>
                <a:spcPct val="15000"/>
              </a:spcBef>
            </a:pPr>
            <a:endParaRPr lang="en-US" altLang="en-US" sz="1600" dirty="0">
              <a:cs typeface="Times New Roman" panose="02020603050405020304" pitchFamily="18" charset="0"/>
            </a:endParaRPr>
          </a:p>
          <a:p>
            <a:pPr lvl="2" eaLnBrk="1" hangingPunct="1">
              <a:spcBef>
                <a:spcPct val="15000"/>
              </a:spcBef>
            </a:pPr>
            <a:endParaRPr lang="en-US" altLang="en-US" sz="1600" dirty="0">
              <a:cs typeface="Times New Roman" panose="02020603050405020304" pitchFamily="18" charset="0"/>
            </a:endParaRPr>
          </a:p>
          <a:p>
            <a:pPr lvl="2" eaLnBrk="1" hangingPunct="1">
              <a:spcBef>
                <a:spcPct val="15000"/>
              </a:spcBef>
            </a:pPr>
            <a:endParaRPr lang="en-US" altLang="en-US" sz="1600" dirty="0">
              <a:cs typeface="Times New Roman" panose="02020603050405020304" pitchFamily="18" charset="0"/>
            </a:endParaRPr>
          </a:p>
          <a:p>
            <a:pPr lvl="1"/>
            <a:r>
              <a:rPr lang="en-US" sz="2000" dirty="0" err="1"/>
              <a:t>Nhận</a:t>
            </a:r>
            <a:r>
              <a:rPr lang="en-US" sz="2000" dirty="0"/>
              <a:t> </a:t>
            </a:r>
            <a:r>
              <a:rPr lang="en-US" sz="2000" dirty="0" err="1"/>
              <a:t>xét</a:t>
            </a:r>
            <a:r>
              <a:rPr lang="en-US" sz="2000" dirty="0"/>
              <a:t>:</a:t>
            </a:r>
          </a:p>
          <a:p>
            <a:pPr lvl="2"/>
            <a:r>
              <a:rPr lang="en-US" sz="1800" dirty="0" err="1"/>
              <a:t>Sử</a:t>
            </a:r>
            <a:r>
              <a:rPr lang="en-US" sz="1800" dirty="0"/>
              <a:t> </a:t>
            </a:r>
            <a:r>
              <a:rPr lang="en-US" sz="1800" dirty="0" err="1"/>
              <a:t>dụng</a:t>
            </a:r>
            <a:r>
              <a:rPr lang="en-US" sz="1800" dirty="0"/>
              <a:t> </a:t>
            </a:r>
            <a:r>
              <a:rPr lang="en-US" sz="1800" dirty="0" err="1"/>
              <a:t>bộ</a:t>
            </a:r>
            <a:r>
              <a:rPr lang="en-US" sz="1800" dirty="0"/>
              <a:t> </a:t>
            </a:r>
            <a:r>
              <a:rPr lang="en-US" sz="1800" dirty="0" err="1"/>
              <a:t>nhớ</a:t>
            </a:r>
            <a:r>
              <a:rPr lang="en-US" sz="1800" dirty="0"/>
              <a:t> </a:t>
            </a:r>
            <a:r>
              <a:rPr lang="en-US" sz="1800" dirty="0" err="1"/>
              <a:t>hiệu</a:t>
            </a:r>
            <a:r>
              <a:rPr lang="en-US" sz="1800" dirty="0"/>
              <a:t> </a:t>
            </a:r>
            <a:r>
              <a:rPr lang="en-US" sz="1800" dirty="0" err="1"/>
              <a:t>quả</a:t>
            </a:r>
            <a:endParaRPr lang="en-US" sz="1800" dirty="0"/>
          </a:p>
          <a:p>
            <a:pPr lvl="2"/>
            <a:r>
              <a:rPr lang="en-US" sz="1800" dirty="0" err="1"/>
              <a:t>Tuy</a:t>
            </a:r>
            <a:r>
              <a:rPr lang="en-US" sz="1800" dirty="0"/>
              <a:t> </a:t>
            </a:r>
            <a:r>
              <a:rPr lang="en-US" sz="1800" dirty="0" err="1"/>
              <a:t>nhiên</a:t>
            </a:r>
            <a:r>
              <a:rPr lang="en-US" sz="1800" dirty="0"/>
              <a:t> </a:t>
            </a:r>
            <a:r>
              <a:rPr lang="en-US" sz="1800" dirty="0" err="1"/>
              <a:t>việc</a:t>
            </a:r>
            <a:r>
              <a:rPr lang="en-US" sz="1800" dirty="0"/>
              <a:t> </a:t>
            </a:r>
            <a:r>
              <a:rPr lang="en-US" sz="1800" dirty="0" err="1"/>
              <a:t>đưa</a:t>
            </a:r>
            <a:r>
              <a:rPr lang="en-US" sz="1800" dirty="0"/>
              <a:t> </a:t>
            </a:r>
            <a:r>
              <a:rPr lang="en-US" sz="1800" dirty="0" err="1"/>
              <a:t>thêm</a:t>
            </a:r>
            <a:r>
              <a:rPr lang="en-US" sz="1800" dirty="0"/>
              <a:t> </a:t>
            </a:r>
            <a:r>
              <a:rPr lang="en-US" sz="1800" dirty="0" err="1"/>
              <a:t>các</a:t>
            </a:r>
            <a:r>
              <a:rPr lang="en-US" sz="1800" dirty="0"/>
              <a:t> </a:t>
            </a:r>
            <a:r>
              <a:rPr lang="en-US" sz="1800" dirty="0" err="1"/>
              <a:t>luật</a:t>
            </a:r>
            <a:r>
              <a:rPr lang="en-US" sz="1800" dirty="0"/>
              <a:t> </a:t>
            </a:r>
            <a:r>
              <a:rPr lang="en-US" sz="1800" dirty="0" err="1"/>
              <a:t>ánh</a:t>
            </a:r>
            <a:r>
              <a:rPr lang="en-US" sz="1800" dirty="0"/>
              <a:t> </a:t>
            </a:r>
            <a:r>
              <a:rPr lang="en-US" sz="1800" dirty="0" err="1"/>
              <a:t>xạ</a:t>
            </a:r>
            <a:r>
              <a:rPr lang="en-US" sz="1800" dirty="0"/>
              <a:t> </a:t>
            </a:r>
            <a:r>
              <a:rPr lang="en-US" sz="1800" dirty="0" err="1"/>
              <a:t>sẽ</a:t>
            </a:r>
            <a:r>
              <a:rPr lang="en-US" sz="1800" dirty="0"/>
              <a:t> </a:t>
            </a:r>
            <a:r>
              <a:rPr lang="en-US" sz="1800" dirty="0" err="1"/>
              <a:t>làm</a:t>
            </a:r>
            <a:r>
              <a:rPr lang="en-US" sz="1800" dirty="0"/>
              <a:t> </a:t>
            </a:r>
            <a:r>
              <a:rPr lang="en-US" sz="1800" dirty="0" err="1"/>
              <a:t>cho</a:t>
            </a:r>
            <a:r>
              <a:rPr lang="en-US" sz="1800" dirty="0"/>
              <a:t> </a:t>
            </a:r>
            <a:r>
              <a:rPr lang="en-US" sz="1800" dirty="0" err="1"/>
              <a:t>các</a:t>
            </a:r>
            <a:r>
              <a:rPr lang="en-US" sz="1800" dirty="0"/>
              <a:t> </a:t>
            </a:r>
            <a:r>
              <a:rPr lang="en-US" sz="1800" dirty="0" err="1"/>
              <a:t>thao</a:t>
            </a:r>
            <a:r>
              <a:rPr lang="en-US" sz="1800" dirty="0"/>
              <a:t> </a:t>
            </a:r>
            <a:r>
              <a:rPr lang="en-US" sz="1800" dirty="0" err="1"/>
              <a:t>tác</a:t>
            </a:r>
            <a:r>
              <a:rPr lang="en-US" sz="1800" dirty="0"/>
              <a:t> </a:t>
            </a:r>
            <a:r>
              <a:rPr lang="en-US" sz="1800" dirty="0" err="1"/>
              <a:t>trên</a:t>
            </a:r>
            <a:r>
              <a:rPr lang="en-US" sz="1800" dirty="0"/>
              <a:t> </a:t>
            </a:r>
            <a:r>
              <a:rPr lang="en-US" sz="1800" dirty="0" err="1"/>
              <a:t>cây</a:t>
            </a:r>
            <a:r>
              <a:rPr lang="en-US" sz="1800" dirty="0"/>
              <a:t> </a:t>
            </a:r>
            <a:r>
              <a:rPr lang="en-US" sz="1800" dirty="0" err="1"/>
              <a:t>trở</a:t>
            </a:r>
            <a:r>
              <a:rPr lang="en-US" sz="1800" dirty="0"/>
              <a:t> </a:t>
            </a:r>
            <a:r>
              <a:rPr lang="en-US" sz="1800" dirty="0" err="1"/>
              <a:t>nên</a:t>
            </a:r>
            <a:r>
              <a:rPr lang="en-US" sz="1800" dirty="0"/>
              <a:t> </a:t>
            </a:r>
            <a:r>
              <a:rPr lang="en-US" sz="1800" dirty="0" err="1"/>
              <a:t>phức</a:t>
            </a:r>
            <a:r>
              <a:rPr lang="en-US" sz="1800" dirty="0"/>
              <a:t> </a:t>
            </a:r>
            <a:r>
              <a:rPr lang="en-US" sz="1800" dirty="0" err="1"/>
              <a:t>tạp</a:t>
            </a:r>
            <a:endParaRPr lang="en-US" sz="1800" dirty="0"/>
          </a:p>
          <a:p>
            <a:pPr lvl="1">
              <a:spcBef>
                <a:spcPct val="15000"/>
              </a:spcBef>
            </a:pPr>
            <a:endParaRPr lang="en-US" altLang="en-US" sz="2400" dirty="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3048000" y="2895600"/>
            <a:ext cx="2590800" cy="402454"/>
          </a:xfrm>
          <a:prstGeom prst="rect">
            <a:avLst/>
          </a:prstGeom>
        </p:spPr>
      </p:pic>
    </p:spTree>
    <p:extLst>
      <p:ext uri="{BB962C8B-B14F-4D97-AF65-F5344CB8AC3E}">
        <p14:creationId xmlns:p14="http://schemas.microsoft.com/office/powerpoint/2010/main" val="2068851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253">
                                            <p:txEl>
                                              <p:pRg st="10" end="1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3253">
                                            <p:txEl>
                                              <p:pRg st="11" end="1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325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2"/>
          <p:cNvSpPr>
            <a:spLocks noGrp="1" noChangeArrowheads="1"/>
          </p:cNvSpPr>
          <p:nvPr>
            <p:ph type="title"/>
          </p:nvPr>
        </p:nvSpPr>
        <p:spPr/>
        <p:txBody>
          <a:bodyPr/>
          <a:lstStyle/>
          <a:p>
            <a:r>
              <a:rPr lang="en-US" altLang="en-US" sz="2000" dirty="0" err="1">
                <a:cs typeface="Times New Roman" panose="02020603050405020304" pitchFamily="18" charset="0"/>
              </a:rPr>
              <a:t>Cài</a:t>
            </a:r>
            <a:r>
              <a:rPr lang="en-US" altLang="en-US" sz="2000" dirty="0">
                <a:cs typeface="Times New Roman" panose="02020603050405020304" pitchFamily="18" charset="0"/>
              </a:rPr>
              <a:t> </a:t>
            </a:r>
            <a:r>
              <a:rPr lang="en-US" altLang="en-US" sz="2000" dirty="0" err="1">
                <a:cs typeface="Times New Roman" panose="02020603050405020304" pitchFamily="18" charset="0"/>
              </a:rPr>
              <a:t>đặt</a:t>
            </a:r>
            <a:r>
              <a:rPr lang="en-US" altLang="en-US" sz="2000" dirty="0">
                <a:cs typeface="Times New Roman" panose="02020603050405020304" pitchFamily="18" charset="0"/>
              </a:rPr>
              <a:t> </a:t>
            </a:r>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tổng</a:t>
            </a:r>
            <a:r>
              <a:rPr lang="en-US" altLang="en-US" dirty="0">
                <a:cs typeface="Times New Roman" panose="02020603050405020304" pitchFamily="18" charset="0"/>
              </a:rPr>
              <a:t> </a:t>
            </a:r>
            <a:r>
              <a:rPr lang="en-US" altLang="en-US" dirty="0" err="1">
                <a:cs typeface="Times New Roman" panose="02020603050405020304" pitchFamily="18" charset="0"/>
              </a:rPr>
              <a:t>quát</a:t>
            </a:r>
            <a:endParaRPr lang="en-US" altLang="en-US" dirty="0">
              <a:cs typeface="Times New Roman" panose="02020603050405020304" pitchFamily="18" charset="0"/>
            </a:endParaRPr>
          </a:p>
        </p:txBody>
      </p:sp>
      <p:sp>
        <p:nvSpPr>
          <p:cNvPr id="54277" name="Rectangle 3"/>
          <p:cNvSpPr>
            <a:spLocks noGrp="1" noChangeArrowheads="1"/>
          </p:cNvSpPr>
          <p:nvPr>
            <p:ph type="body" sz="quarter" idx="13"/>
          </p:nvPr>
        </p:nvSpPr>
        <p:spPr>
          <a:noFill/>
        </p:spPr>
        <p:txBody>
          <a:bodyPr/>
          <a:lstStyle/>
          <a:p>
            <a:pPr lvl="1" eaLnBrk="1" hangingPunct="1">
              <a:spcBef>
                <a:spcPct val="15000"/>
              </a:spcBef>
            </a:pPr>
            <a:r>
              <a:rPr lang="en-US" altLang="en-US">
                <a:cs typeface="Times New Roman" panose="02020603050405020304" pitchFamily="18" charset="0"/>
              </a:rPr>
              <a:t>V</a:t>
            </a:r>
            <a:r>
              <a:rPr lang="en-US" altLang="en-US"/>
              <a:t>í dụ</a:t>
            </a:r>
          </a:p>
        </p:txBody>
      </p:sp>
      <p:grpSp>
        <p:nvGrpSpPr>
          <p:cNvPr id="54278" name="Group 41"/>
          <p:cNvGrpSpPr>
            <a:grpSpLocks/>
          </p:cNvGrpSpPr>
          <p:nvPr/>
        </p:nvGrpSpPr>
        <p:grpSpPr bwMode="auto">
          <a:xfrm>
            <a:off x="838200" y="1295400"/>
            <a:ext cx="3200400" cy="2819400"/>
            <a:chOff x="672" y="1296"/>
            <a:chExt cx="2352" cy="2208"/>
          </a:xfrm>
        </p:grpSpPr>
        <p:sp>
          <p:nvSpPr>
            <p:cNvPr id="54297" name="Oval 5"/>
            <p:cNvSpPr>
              <a:spLocks noChangeArrowheads="1"/>
            </p:cNvSpPr>
            <p:nvPr/>
          </p:nvSpPr>
          <p:spPr bwMode="auto">
            <a:xfrm>
              <a:off x="1763" y="1296"/>
              <a:ext cx="336" cy="32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t>1</a:t>
              </a:r>
            </a:p>
          </p:txBody>
        </p:sp>
        <p:sp>
          <p:nvSpPr>
            <p:cNvPr id="54298" name="Oval 6"/>
            <p:cNvSpPr>
              <a:spLocks noChangeArrowheads="1"/>
            </p:cNvSpPr>
            <p:nvPr/>
          </p:nvSpPr>
          <p:spPr bwMode="auto">
            <a:xfrm>
              <a:off x="1776" y="2256"/>
              <a:ext cx="336" cy="32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t>3</a:t>
              </a:r>
            </a:p>
          </p:txBody>
        </p:sp>
        <p:sp>
          <p:nvSpPr>
            <p:cNvPr id="54299" name="Oval 7"/>
            <p:cNvSpPr>
              <a:spLocks noChangeArrowheads="1"/>
            </p:cNvSpPr>
            <p:nvPr/>
          </p:nvSpPr>
          <p:spPr bwMode="auto">
            <a:xfrm>
              <a:off x="1065" y="2259"/>
              <a:ext cx="336" cy="32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t>2</a:t>
              </a:r>
            </a:p>
          </p:txBody>
        </p:sp>
        <p:sp>
          <p:nvSpPr>
            <p:cNvPr id="54300" name="Oval 8"/>
            <p:cNvSpPr>
              <a:spLocks noChangeArrowheads="1"/>
            </p:cNvSpPr>
            <p:nvPr/>
          </p:nvSpPr>
          <p:spPr bwMode="auto">
            <a:xfrm>
              <a:off x="672" y="3176"/>
              <a:ext cx="336" cy="32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t>5</a:t>
              </a:r>
            </a:p>
          </p:txBody>
        </p:sp>
        <p:sp>
          <p:nvSpPr>
            <p:cNvPr id="54301" name="Oval 9"/>
            <p:cNvSpPr>
              <a:spLocks noChangeArrowheads="1"/>
            </p:cNvSpPr>
            <p:nvPr/>
          </p:nvSpPr>
          <p:spPr bwMode="auto">
            <a:xfrm rot="527845">
              <a:off x="1536" y="3176"/>
              <a:ext cx="336" cy="32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t>7</a:t>
              </a:r>
            </a:p>
          </p:txBody>
        </p:sp>
        <p:sp>
          <p:nvSpPr>
            <p:cNvPr id="54302" name="Oval 10"/>
            <p:cNvSpPr>
              <a:spLocks noChangeArrowheads="1"/>
            </p:cNvSpPr>
            <p:nvPr/>
          </p:nvSpPr>
          <p:spPr bwMode="auto">
            <a:xfrm>
              <a:off x="1103" y="3176"/>
              <a:ext cx="337" cy="32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t>6</a:t>
              </a:r>
            </a:p>
          </p:txBody>
        </p:sp>
        <p:sp>
          <p:nvSpPr>
            <p:cNvPr id="54303" name="Oval 11"/>
            <p:cNvSpPr>
              <a:spLocks noChangeArrowheads="1"/>
            </p:cNvSpPr>
            <p:nvPr/>
          </p:nvSpPr>
          <p:spPr bwMode="auto">
            <a:xfrm>
              <a:off x="2016" y="3176"/>
              <a:ext cx="336" cy="32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t>8</a:t>
              </a:r>
            </a:p>
          </p:txBody>
        </p:sp>
        <p:sp>
          <p:nvSpPr>
            <p:cNvPr id="54304" name="Oval 12"/>
            <p:cNvSpPr>
              <a:spLocks noChangeArrowheads="1"/>
            </p:cNvSpPr>
            <p:nvPr/>
          </p:nvSpPr>
          <p:spPr bwMode="auto">
            <a:xfrm>
              <a:off x="2688" y="3176"/>
              <a:ext cx="336" cy="32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t>9</a:t>
              </a:r>
            </a:p>
          </p:txBody>
        </p:sp>
        <p:cxnSp>
          <p:nvCxnSpPr>
            <p:cNvPr id="54305" name="AutoShape 32"/>
            <p:cNvCxnSpPr>
              <a:cxnSpLocks noChangeShapeType="1"/>
              <a:stCxn id="54297" idx="4"/>
              <a:endCxn id="54298" idx="0"/>
            </p:cNvCxnSpPr>
            <p:nvPr/>
          </p:nvCxnSpPr>
          <p:spPr bwMode="auto">
            <a:xfrm>
              <a:off x="1931" y="1624"/>
              <a:ext cx="13" cy="632"/>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54306" name="Oval 33"/>
            <p:cNvSpPr>
              <a:spLocks noChangeArrowheads="1"/>
            </p:cNvSpPr>
            <p:nvPr/>
          </p:nvSpPr>
          <p:spPr bwMode="auto">
            <a:xfrm>
              <a:off x="2496" y="2256"/>
              <a:ext cx="336" cy="32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t>4</a:t>
              </a:r>
            </a:p>
          </p:txBody>
        </p:sp>
        <p:cxnSp>
          <p:nvCxnSpPr>
            <p:cNvPr id="54307" name="AutoShape 34"/>
            <p:cNvCxnSpPr>
              <a:cxnSpLocks noChangeShapeType="1"/>
              <a:stCxn id="54297" idx="6"/>
              <a:endCxn id="54306" idx="0"/>
            </p:cNvCxnSpPr>
            <p:nvPr/>
          </p:nvCxnSpPr>
          <p:spPr bwMode="auto">
            <a:xfrm>
              <a:off x="2099" y="1460"/>
              <a:ext cx="565" cy="79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4308" name="AutoShape 35"/>
            <p:cNvCxnSpPr>
              <a:cxnSpLocks noChangeShapeType="1"/>
              <a:stCxn id="54297" idx="2"/>
              <a:endCxn id="54299" idx="7"/>
            </p:cNvCxnSpPr>
            <p:nvPr/>
          </p:nvCxnSpPr>
          <p:spPr bwMode="auto">
            <a:xfrm flipH="1">
              <a:off x="1352" y="1460"/>
              <a:ext cx="411" cy="84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4309" name="AutoShape 36"/>
            <p:cNvCxnSpPr>
              <a:cxnSpLocks noChangeShapeType="1"/>
              <a:stCxn id="54299" idx="3"/>
              <a:endCxn id="54300" idx="0"/>
            </p:cNvCxnSpPr>
            <p:nvPr/>
          </p:nvCxnSpPr>
          <p:spPr bwMode="auto">
            <a:xfrm flipH="1">
              <a:off x="840" y="2539"/>
              <a:ext cx="274" cy="63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4310" name="AutoShape 37"/>
            <p:cNvCxnSpPr>
              <a:cxnSpLocks noChangeShapeType="1"/>
              <a:stCxn id="54302" idx="0"/>
              <a:endCxn id="54299" idx="5"/>
            </p:cNvCxnSpPr>
            <p:nvPr/>
          </p:nvCxnSpPr>
          <p:spPr bwMode="auto">
            <a:xfrm flipV="1">
              <a:off x="1272" y="2539"/>
              <a:ext cx="80" cy="63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4311" name="AutoShape 38"/>
            <p:cNvCxnSpPr>
              <a:cxnSpLocks noChangeShapeType="1"/>
              <a:stCxn id="54301" idx="0"/>
              <a:endCxn id="54298" idx="3"/>
            </p:cNvCxnSpPr>
            <p:nvPr/>
          </p:nvCxnSpPr>
          <p:spPr bwMode="auto">
            <a:xfrm flipV="1">
              <a:off x="1729" y="2536"/>
              <a:ext cx="96" cy="641"/>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4312" name="AutoShape 39"/>
            <p:cNvCxnSpPr>
              <a:cxnSpLocks noChangeShapeType="1"/>
              <a:stCxn id="54298" idx="5"/>
              <a:endCxn id="54303" idx="0"/>
            </p:cNvCxnSpPr>
            <p:nvPr/>
          </p:nvCxnSpPr>
          <p:spPr bwMode="auto">
            <a:xfrm>
              <a:off x="2063" y="2536"/>
              <a:ext cx="121" cy="64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4313" name="AutoShape 40"/>
            <p:cNvCxnSpPr>
              <a:cxnSpLocks noChangeShapeType="1"/>
              <a:stCxn id="54304" idx="1"/>
              <a:endCxn id="54298" idx="6"/>
            </p:cNvCxnSpPr>
            <p:nvPr/>
          </p:nvCxnSpPr>
          <p:spPr bwMode="auto">
            <a:xfrm flipH="1" flipV="1">
              <a:off x="2112" y="2420"/>
              <a:ext cx="625" cy="804"/>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grpSp>
        <p:nvGrpSpPr>
          <p:cNvPr id="2" name="Group 1"/>
          <p:cNvGrpSpPr/>
          <p:nvPr/>
        </p:nvGrpSpPr>
        <p:grpSpPr>
          <a:xfrm>
            <a:off x="4800600" y="1295400"/>
            <a:ext cx="3048000" cy="4883812"/>
            <a:chOff x="4800600" y="1752600"/>
            <a:chExt cx="3048000" cy="4883812"/>
          </a:xfrm>
        </p:grpSpPr>
        <p:sp>
          <p:nvSpPr>
            <p:cNvPr id="54279" name="Oval 44"/>
            <p:cNvSpPr>
              <a:spLocks noChangeArrowheads="1"/>
            </p:cNvSpPr>
            <p:nvPr/>
          </p:nvSpPr>
          <p:spPr bwMode="auto">
            <a:xfrm>
              <a:off x="6437313" y="1752600"/>
              <a:ext cx="457200" cy="4191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t>1</a:t>
              </a:r>
            </a:p>
          </p:txBody>
        </p:sp>
        <p:sp>
          <p:nvSpPr>
            <p:cNvPr id="54280" name="Oval 45"/>
            <p:cNvSpPr>
              <a:spLocks noChangeArrowheads="1"/>
            </p:cNvSpPr>
            <p:nvPr/>
          </p:nvSpPr>
          <p:spPr bwMode="auto">
            <a:xfrm>
              <a:off x="6781800" y="4191000"/>
              <a:ext cx="457200" cy="4191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t>3</a:t>
              </a:r>
            </a:p>
          </p:txBody>
        </p:sp>
        <p:sp>
          <p:nvSpPr>
            <p:cNvPr id="54281" name="Oval 46"/>
            <p:cNvSpPr>
              <a:spLocks noChangeArrowheads="1"/>
            </p:cNvSpPr>
            <p:nvPr/>
          </p:nvSpPr>
          <p:spPr bwMode="auto">
            <a:xfrm>
              <a:off x="5638800" y="2982913"/>
              <a:ext cx="457200" cy="41751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t>2</a:t>
              </a:r>
            </a:p>
          </p:txBody>
        </p:sp>
        <p:sp>
          <p:nvSpPr>
            <p:cNvPr id="54282" name="Oval 47"/>
            <p:cNvSpPr>
              <a:spLocks noChangeArrowheads="1"/>
            </p:cNvSpPr>
            <p:nvPr/>
          </p:nvSpPr>
          <p:spPr bwMode="auto">
            <a:xfrm>
              <a:off x="4800600" y="4152900"/>
              <a:ext cx="457200" cy="4191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t>5</a:t>
              </a:r>
            </a:p>
          </p:txBody>
        </p:sp>
        <p:sp>
          <p:nvSpPr>
            <p:cNvPr id="54283" name="Oval 48"/>
            <p:cNvSpPr>
              <a:spLocks noChangeArrowheads="1"/>
            </p:cNvSpPr>
            <p:nvPr/>
          </p:nvSpPr>
          <p:spPr bwMode="auto">
            <a:xfrm rot="527845">
              <a:off x="6143625" y="4832350"/>
              <a:ext cx="457200" cy="4191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t>7</a:t>
              </a:r>
            </a:p>
          </p:txBody>
        </p:sp>
        <p:sp>
          <p:nvSpPr>
            <p:cNvPr id="54284" name="Oval 49"/>
            <p:cNvSpPr>
              <a:spLocks noChangeArrowheads="1"/>
            </p:cNvSpPr>
            <p:nvPr/>
          </p:nvSpPr>
          <p:spPr bwMode="auto">
            <a:xfrm>
              <a:off x="5410200" y="4800600"/>
              <a:ext cx="458788" cy="4191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t>6</a:t>
              </a:r>
            </a:p>
          </p:txBody>
        </p:sp>
        <p:sp>
          <p:nvSpPr>
            <p:cNvPr id="54285" name="Oval 50"/>
            <p:cNvSpPr>
              <a:spLocks noChangeArrowheads="1"/>
            </p:cNvSpPr>
            <p:nvPr/>
          </p:nvSpPr>
          <p:spPr bwMode="auto">
            <a:xfrm rot="21185327">
              <a:off x="6724392" y="5501608"/>
              <a:ext cx="457200" cy="4191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t>8</a:t>
              </a:r>
            </a:p>
          </p:txBody>
        </p:sp>
        <p:sp>
          <p:nvSpPr>
            <p:cNvPr id="54286" name="Oval 51"/>
            <p:cNvSpPr>
              <a:spLocks noChangeArrowheads="1"/>
            </p:cNvSpPr>
            <p:nvPr/>
          </p:nvSpPr>
          <p:spPr bwMode="auto">
            <a:xfrm>
              <a:off x="7276275" y="6217312"/>
              <a:ext cx="457200" cy="4191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t>9</a:t>
              </a:r>
            </a:p>
          </p:txBody>
        </p:sp>
        <p:cxnSp>
          <p:nvCxnSpPr>
            <p:cNvPr id="54287" name="AutoShape 52"/>
            <p:cNvCxnSpPr>
              <a:cxnSpLocks noChangeShapeType="1"/>
              <a:stCxn id="54281" idx="5"/>
              <a:endCxn id="54280" idx="1"/>
            </p:cNvCxnSpPr>
            <p:nvPr/>
          </p:nvCxnSpPr>
          <p:spPr bwMode="auto">
            <a:xfrm rot="16200000" flipH="1">
              <a:off x="5981700" y="3386138"/>
              <a:ext cx="914400" cy="81915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54288" name="Oval 53"/>
            <p:cNvSpPr>
              <a:spLocks noChangeArrowheads="1"/>
            </p:cNvSpPr>
            <p:nvPr/>
          </p:nvSpPr>
          <p:spPr bwMode="auto">
            <a:xfrm>
              <a:off x="7391400" y="4800600"/>
              <a:ext cx="457200" cy="4191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t>4</a:t>
              </a:r>
            </a:p>
          </p:txBody>
        </p:sp>
        <p:cxnSp>
          <p:nvCxnSpPr>
            <p:cNvPr id="54289" name="AutoShape 54"/>
            <p:cNvCxnSpPr>
              <a:cxnSpLocks noChangeShapeType="1"/>
              <a:stCxn id="54280" idx="5"/>
              <a:endCxn id="54288" idx="1"/>
            </p:cNvCxnSpPr>
            <p:nvPr/>
          </p:nvCxnSpPr>
          <p:spPr bwMode="auto">
            <a:xfrm rot="16200000" flipH="1">
              <a:off x="7158037" y="4562476"/>
              <a:ext cx="314325" cy="28575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4290" name="AutoShape 55"/>
            <p:cNvCxnSpPr>
              <a:cxnSpLocks noChangeShapeType="1"/>
              <a:stCxn id="54279" idx="3"/>
              <a:endCxn id="54281" idx="7"/>
            </p:cNvCxnSpPr>
            <p:nvPr/>
          </p:nvCxnSpPr>
          <p:spPr bwMode="auto">
            <a:xfrm rot="5400000">
              <a:off x="5799138" y="2339975"/>
              <a:ext cx="935037" cy="474663"/>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4291" name="AutoShape 56"/>
            <p:cNvCxnSpPr>
              <a:cxnSpLocks noChangeShapeType="1"/>
              <a:stCxn id="54281" idx="3"/>
              <a:endCxn id="54282" idx="7"/>
            </p:cNvCxnSpPr>
            <p:nvPr/>
          </p:nvCxnSpPr>
          <p:spPr bwMode="auto">
            <a:xfrm rot="5400000">
              <a:off x="5010150" y="3519488"/>
              <a:ext cx="876300" cy="51435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4292" name="AutoShape 57"/>
            <p:cNvCxnSpPr>
              <a:cxnSpLocks noChangeShapeType="1"/>
              <a:stCxn id="54284" idx="1"/>
              <a:endCxn id="54282" idx="5"/>
            </p:cNvCxnSpPr>
            <p:nvPr/>
          </p:nvCxnSpPr>
          <p:spPr bwMode="auto">
            <a:xfrm rot="16200000" flipV="1">
              <a:off x="5157787" y="4543426"/>
              <a:ext cx="352425" cy="28575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4293" name="AutoShape 58"/>
            <p:cNvCxnSpPr>
              <a:cxnSpLocks noChangeShapeType="1"/>
              <a:stCxn id="54283" idx="7"/>
              <a:endCxn id="54280" idx="3"/>
            </p:cNvCxnSpPr>
            <p:nvPr/>
          </p:nvCxnSpPr>
          <p:spPr bwMode="auto">
            <a:xfrm rot="5400000" flipH="1" flipV="1">
              <a:off x="6514307" y="4587081"/>
              <a:ext cx="373062" cy="29527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4294" name="AutoShape 59"/>
            <p:cNvCxnSpPr>
              <a:cxnSpLocks noChangeShapeType="1"/>
              <a:stCxn id="54283" idx="5"/>
              <a:endCxn id="54285" idx="1"/>
            </p:cNvCxnSpPr>
            <p:nvPr/>
          </p:nvCxnSpPr>
          <p:spPr bwMode="auto">
            <a:xfrm>
              <a:off x="6509306" y="5213053"/>
              <a:ext cx="265386" cy="370459"/>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4295" name="AutoShape 60"/>
            <p:cNvCxnSpPr>
              <a:cxnSpLocks noChangeShapeType="1"/>
            </p:cNvCxnSpPr>
            <p:nvPr/>
          </p:nvCxnSpPr>
          <p:spPr bwMode="auto">
            <a:xfrm flipH="1" flipV="1">
              <a:off x="7064337" y="5894763"/>
              <a:ext cx="327063" cy="38091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sp>
        <p:nvSpPr>
          <p:cNvPr id="71" name="Left-Right Arrow 70"/>
          <p:cNvSpPr/>
          <p:nvPr/>
        </p:nvSpPr>
        <p:spPr>
          <a:xfrm>
            <a:off x="4114800" y="2514600"/>
            <a:ext cx="914400" cy="3810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1264473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2"/>
          <p:cNvSpPr>
            <a:spLocks noGrp="1" noChangeArrowheads="1"/>
          </p:cNvSpPr>
          <p:nvPr>
            <p:ph type="title"/>
          </p:nvPr>
        </p:nvSpPr>
        <p:spPr/>
        <p:txBody>
          <a:bodyPr/>
          <a:lstStyle/>
          <a:p>
            <a:r>
              <a:rPr lang="en-US" altLang="en-US" sz="2000" dirty="0" err="1">
                <a:cs typeface="Times New Roman" panose="02020603050405020304" pitchFamily="18" charset="0"/>
              </a:rPr>
              <a:t>Cài</a:t>
            </a:r>
            <a:r>
              <a:rPr lang="en-US" altLang="en-US" sz="2000" dirty="0">
                <a:cs typeface="Times New Roman" panose="02020603050405020304" pitchFamily="18" charset="0"/>
              </a:rPr>
              <a:t> </a:t>
            </a:r>
            <a:r>
              <a:rPr lang="en-US" altLang="en-US" sz="2000" dirty="0" err="1">
                <a:cs typeface="Times New Roman" panose="02020603050405020304" pitchFamily="18" charset="0"/>
              </a:rPr>
              <a:t>đặt</a:t>
            </a:r>
            <a:r>
              <a:rPr lang="en-US" altLang="en-US" sz="2000" dirty="0">
                <a:cs typeface="Times New Roman" panose="02020603050405020304" pitchFamily="18" charset="0"/>
              </a:rPr>
              <a:t> </a:t>
            </a:r>
            <a:r>
              <a:rPr lang="en-US" altLang="en-US" sz="2000" dirty="0" err="1">
                <a:cs typeface="Times New Roman" panose="02020603050405020304" pitchFamily="18" charset="0"/>
              </a:rPr>
              <a:t>c</a:t>
            </a:r>
            <a:r>
              <a:rPr lang="en-US" altLang="en-US" dirty="0" err="1">
                <a:cs typeface="Times New Roman" panose="02020603050405020304" pitchFamily="18" charset="0"/>
              </a:rPr>
              <a:t>ây</a:t>
            </a:r>
            <a:r>
              <a:rPr lang="en-US" altLang="en-US" dirty="0">
                <a:cs typeface="Times New Roman" panose="02020603050405020304" pitchFamily="18" charset="0"/>
              </a:rPr>
              <a:t> </a:t>
            </a:r>
            <a:r>
              <a:rPr lang="en-US" altLang="en-US" dirty="0" err="1">
                <a:cs typeface="Times New Roman" panose="02020603050405020304" pitchFamily="18" charset="0"/>
              </a:rPr>
              <a:t>tổng</a:t>
            </a:r>
            <a:r>
              <a:rPr lang="en-US" altLang="en-US" dirty="0">
                <a:cs typeface="Times New Roman" panose="02020603050405020304" pitchFamily="18" charset="0"/>
              </a:rPr>
              <a:t> </a:t>
            </a:r>
            <a:r>
              <a:rPr lang="en-US" altLang="en-US" dirty="0" err="1">
                <a:cs typeface="Times New Roman" panose="02020603050405020304" pitchFamily="18" charset="0"/>
              </a:rPr>
              <a:t>quát</a:t>
            </a:r>
            <a:endParaRPr lang="en-US" altLang="en-US" dirty="0">
              <a:cs typeface="Times New Roman" panose="02020603050405020304" pitchFamily="18" charset="0"/>
            </a:endParaRPr>
          </a:p>
        </p:txBody>
      </p:sp>
      <p:sp>
        <p:nvSpPr>
          <p:cNvPr id="55301" name="Rectangle 3"/>
          <p:cNvSpPr>
            <a:spLocks noGrp="1" noChangeArrowheads="1"/>
          </p:cNvSpPr>
          <p:nvPr>
            <p:ph type="body" sz="quarter" idx="13"/>
          </p:nvPr>
        </p:nvSpPr>
        <p:spPr>
          <a:noFill/>
        </p:spPr>
        <p:txBody>
          <a:bodyPr>
            <a:normAutofit/>
          </a:bodyPr>
          <a:lstStyle/>
          <a:p>
            <a:pPr eaLnBrk="1" hangingPunct="1">
              <a:spcBef>
                <a:spcPct val="15000"/>
              </a:spcBef>
            </a:pPr>
            <a:r>
              <a:rPr lang="en-US" altLang="en-US" sz="2400" dirty="0" err="1">
                <a:cs typeface="Times New Roman" panose="02020603050405020304" pitchFamily="18" charset="0"/>
              </a:rPr>
              <a:t>Cài</a:t>
            </a:r>
            <a:r>
              <a:rPr lang="en-US" altLang="en-US" sz="2400" dirty="0">
                <a:cs typeface="Times New Roman" panose="02020603050405020304" pitchFamily="18" charset="0"/>
              </a:rPr>
              <a:t> </a:t>
            </a:r>
            <a:r>
              <a:rPr lang="en-US" altLang="en-US" sz="2400" dirty="0" err="1">
                <a:cs typeface="Times New Roman" panose="02020603050405020304" pitchFamily="18" charset="0"/>
              </a:rPr>
              <a:t>đặt</a:t>
            </a:r>
            <a:r>
              <a:rPr lang="en-US" altLang="en-US" sz="2400" dirty="0">
                <a:cs typeface="Times New Roman" panose="02020603050405020304" pitchFamily="18" charset="0"/>
              </a:rPr>
              <a:t> </a:t>
            </a:r>
            <a:r>
              <a:rPr lang="en-US" altLang="en-US" sz="2400" dirty="0" err="1">
                <a:cs typeface="Times New Roman" panose="02020603050405020304" pitchFamily="18" charset="0"/>
              </a:rPr>
              <a:t>gián</a:t>
            </a:r>
            <a:r>
              <a:rPr lang="en-US" altLang="en-US" sz="2400" dirty="0">
                <a:cs typeface="Times New Roman" panose="02020603050405020304" pitchFamily="18" charset="0"/>
              </a:rPr>
              <a:t> </a:t>
            </a:r>
            <a:r>
              <a:rPr lang="en-US" altLang="en-US" sz="2400" dirty="0" err="1">
                <a:cs typeface="Times New Roman" panose="02020603050405020304" pitchFamily="18" charset="0"/>
              </a:rPr>
              <a:t>tiếp</a:t>
            </a:r>
            <a:r>
              <a:rPr lang="en-US" altLang="en-US" sz="2400" dirty="0">
                <a:cs typeface="Times New Roman" panose="02020603050405020304" pitchFamily="18" charset="0"/>
              </a:rPr>
              <a:t> qua </a:t>
            </a:r>
            <a:r>
              <a:rPr lang="en-US" altLang="en-US" sz="2400" dirty="0" err="1">
                <a:cs typeface="Times New Roman" panose="02020603050405020304" pitchFamily="18" charset="0"/>
              </a:rPr>
              <a:t>cây</a:t>
            </a:r>
            <a:r>
              <a:rPr lang="en-US" altLang="en-US" sz="2400" dirty="0">
                <a:cs typeface="Times New Roman" panose="02020603050405020304" pitchFamily="18" charset="0"/>
              </a:rPr>
              <a:t> </a:t>
            </a:r>
            <a:r>
              <a:rPr lang="en-US" altLang="en-US" sz="2400" dirty="0" err="1">
                <a:cs typeface="Times New Roman" panose="02020603050405020304" pitchFamily="18" charset="0"/>
              </a:rPr>
              <a:t>nhị</a:t>
            </a:r>
            <a:r>
              <a:rPr lang="en-US" altLang="en-US" sz="2400" dirty="0">
                <a:cs typeface="Times New Roman" panose="02020603050405020304" pitchFamily="18" charset="0"/>
              </a:rPr>
              <a:t> </a:t>
            </a:r>
            <a:r>
              <a:rPr lang="en-US" altLang="en-US" sz="2400" dirty="0" err="1">
                <a:cs typeface="Times New Roman" panose="02020603050405020304" pitchFamily="18" charset="0"/>
              </a:rPr>
              <a:t>phân</a:t>
            </a:r>
            <a:r>
              <a:rPr lang="en-US" altLang="en-US" sz="2400" dirty="0">
                <a:cs typeface="Times New Roman" panose="02020603050405020304" pitchFamily="18" charset="0"/>
              </a:rPr>
              <a:t> </a:t>
            </a:r>
          </a:p>
          <a:p>
            <a:pPr lvl="1" eaLnBrk="1" hangingPunct="1">
              <a:spcBef>
                <a:spcPct val="15000"/>
              </a:spcBef>
              <a:buFontTx/>
              <a:buNone/>
            </a:pPr>
            <a:r>
              <a:rPr lang="en-US" altLang="en-US" sz="2000" b="1" u="sng" dirty="0" err="1">
                <a:cs typeface="Times New Roman" panose="02020603050405020304" pitchFamily="18" charset="0"/>
              </a:rPr>
              <a:t>Nhận</a:t>
            </a:r>
            <a:r>
              <a:rPr lang="en-US" altLang="en-US" sz="2000" b="1" u="sng" dirty="0">
                <a:cs typeface="Times New Roman" panose="02020603050405020304" pitchFamily="18" charset="0"/>
              </a:rPr>
              <a:t> </a:t>
            </a:r>
            <a:r>
              <a:rPr lang="en-US" altLang="en-US" sz="2000" b="1" u="sng" dirty="0" err="1">
                <a:cs typeface="Times New Roman" panose="02020603050405020304" pitchFamily="18" charset="0"/>
              </a:rPr>
              <a:t>xét</a:t>
            </a:r>
            <a:r>
              <a:rPr lang="en-US" altLang="en-US" sz="2000" b="1" u="sng" dirty="0">
                <a:cs typeface="Times New Roman" panose="02020603050405020304" pitchFamily="18" charset="0"/>
              </a:rPr>
              <a:t>: </a:t>
            </a:r>
          </a:p>
          <a:p>
            <a:pPr lvl="1" eaLnBrk="1" hangingPunct="1">
              <a:spcBef>
                <a:spcPct val="15000"/>
              </a:spcBef>
            </a:pPr>
            <a:r>
              <a:rPr lang="en-US" altLang="en-US" sz="2000" dirty="0">
                <a:cs typeface="Times New Roman" panose="02020603050405020304" pitchFamily="18" charset="0"/>
              </a:rPr>
              <a:t>Cho </a:t>
            </a:r>
            <a:r>
              <a:rPr lang="en-US" altLang="en-US" sz="2000" dirty="0" err="1">
                <a:cs typeface="Times New Roman" panose="02020603050405020304" pitchFamily="18" charset="0"/>
              </a:rPr>
              <a:t>phép</a:t>
            </a:r>
            <a:r>
              <a:rPr lang="en-US" altLang="en-US" sz="2000" dirty="0">
                <a:cs typeface="Times New Roman" panose="02020603050405020304" pitchFamily="18" charset="0"/>
              </a:rPr>
              <a:t> </a:t>
            </a:r>
            <a:r>
              <a:rPr lang="en-US" altLang="en-US" sz="2000" dirty="0" err="1">
                <a:cs typeface="Times New Roman" panose="02020603050405020304" pitchFamily="18" charset="0"/>
              </a:rPr>
              <a:t>cài</a:t>
            </a:r>
            <a:r>
              <a:rPr lang="en-US" altLang="en-US" sz="2000" dirty="0">
                <a:cs typeface="Times New Roman" panose="02020603050405020304" pitchFamily="18" charset="0"/>
              </a:rPr>
              <a:t> </a:t>
            </a:r>
            <a:r>
              <a:rPr lang="en-US" altLang="en-US" sz="2000" dirty="0" err="1">
                <a:cs typeface="Times New Roman" panose="02020603050405020304" pitchFamily="18" charset="0"/>
              </a:rPr>
              <a:t>đặt</a:t>
            </a:r>
            <a:r>
              <a:rPr lang="en-US" altLang="en-US" sz="2000" dirty="0">
                <a:cs typeface="Times New Roman" panose="02020603050405020304" pitchFamily="18" charset="0"/>
              </a:rPr>
              <a:t> </a:t>
            </a:r>
            <a:r>
              <a:rPr lang="en-US" altLang="en-US" sz="2000" dirty="0" err="1">
                <a:cs typeface="Times New Roman" panose="02020603050405020304" pitchFamily="18" charset="0"/>
              </a:rPr>
              <a:t>một</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bất</a:t>
            </a:r>
            <a:r>
              <a:rPr lang="en-US" altLang="en-US" sz="2000" dirty="0">
                <a:cs typeface="Times New Roman" panose="02020603050405020304" pitchFamily="18" charset="0"/>
              </a:rPr>
              <a:t> </a:t>
            </a:r>
            <a:r>
              <a:rPr lang="en-US" altLang="en-US" sz="2000" dirty="0" err="1">
                <a:cs typeface="Times New Roman" panose="02020603050405020304" pitchFamily="18" charset="0"/>
              </a:rPr>
              <a:t>kì</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thể</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cấp</a:t>
            </a:r>
            <a:r>
              <a:rPr lang="en-US" altLang="en-US" sz="2000" dirty="0">
                <a:cs typeface="Times New Roman" panose="02020603050405020304" pitchFamily="18" charset="0"/>
              </a:rPr>
              <a:t> </a:t>
            </a:r>
            <a:r>
              <a:rPr lang="en-US" altLang="en-US" sz="2000" dirty="0" err="1">
                <a:cs typeface="Times New Roman" panose="02020603050405020304" pitchFamily="18" charset="0"/>
              </a:rPr>
              <a:t>rất</a:t>
            </a:r>
            <a:r>
              <a:rPr lang="en-US" altLang="en-US" sz="2000" dirty="0">
                <a:cs typeface="Times New Roman" panose="02020603050405020304" pitchFamily="18" charset="0"/>
              </a:rPr>
              <a:t> </a:t>
            </a:r>
            <a:r>
              <a:rPr lang="en-US" altLang="en-US" sz="2000" dirty="0" err="1">
                <a:cs typeface="Times New Roman" panose="02020603050405020304" pitchFamily="18" charset="0"/>
              </a:rPr>
              <a:t>lớn</a:t>
            </a:r>
            <a:r>
              <a:rPr lang="en-US" altLang="en-US" sz="2000" dirty="0">
                <a:cs typeface="Times New Roman" panose="02020603050405020304" pitchFamily="18" charset="0"/>
              </a:rPr>
              <a:t> </a:t>
            </a:r>
            <a:r>
              <a:rPr lang="en-US" altLang="en-US" sz="2000" dirty="0" err="1">
                <a:cs typeface="Times New Roman" panose="02020603050405020304" pitchFamily="18" charset="0"/>
              </a:rPr>
              <a:t>và</a:t>
            </a:r>
            <a:r>
              <a:rPr lang="en-US" altLang="en-US" sz="2000" dirty="0">
                <a:cs typeface="Times New Roman" panose="02020603050405020304" pitchFamily="18" charset="0"/>
              </a:rPr>
              <a:t> </a:t>
            </a:r>
            <a:r>
              <a:rPr lang="en-US" altLang="en-US" sz="2000" dirty="0" err="1">
                <a:cs typeface="Times New Roman" panose="02020603050405020304" pitchFamily="18" charset="0"/>
              </a:rPr>
              <a:t>hiệu</a:t>
            </a:r>
            <a:r>
              <a:rPr lang="en-US" altLang="en-US" sz="2000" dirty="0">
                <a:cs typeface="Times New Roman" panose="02020603050405020304" pitchFamily="18" charset="0"/>
              </a:rPr>
              <a:t> </a:t>
            </a:r>
            <a:r>
              <a:rPr lang="en-US" altLang="en-US" sz="2000" dirty="0" err="1">
                <a:cs typeface="Times New Roman" panose="02020603050405020304" pitchFamily="18" charset="0"/>
              </a:rPr>
              <a:t>quả</a:t>
            </a:r>
            <a:r>
              <a:rPr lang="en-US" altLang="en-US" sz="2000" dirty="0">
                <a:cs typeface="Times New Roman" panose="02020603050405020304" pitchFamily="18" charset="0"/>
              </a:rPr>
              <a:t> </a:t>
            </a:r>
            <a:r>
              <a:rPr lang="en-US" altLang="en-US" sz="2000" dirty="0" err="1">
                <a:cs typeface="Times New Roman" panose="02020603050405020304" pitchFamily="18" charset="0"/>
              </a:rPr>
              <a:t>về</a:t>
            </a:r>
            <a:r>
              <a:rPr lang="en-US" altLang="en-US" sz="2000" dirty="0">
                <a:cs typeface="Times New Roman" panose="02020603050405020304" pitchFamily="18" charset="0"/>
              </a:rPr>
              <a:t> </a:t>
            </a:r>
            <a:r>
              <a:rPr lang="en-US" altLang="en-US" sz="2000" dirty="0" err="1">
                <a:cs typeface="Times New Roman" panose="02020603050405020304" pitchFamily="18" charset="0"/>
              </a:rPr>
              <a:t>bộ</a:t>
            </a:r>
            <a:r>
              <a:rPr lang="en-US" altLang="en-US" sz="2000" dirty="0">
                <a:cs typeface="Times New Roman" panose="02020603050405020304" pitchFamily="18" charset="0"/>
              </a:rPr>
              <a:t> </a:t>
            </a:r>
            <a:r>
              <a:rPr lang="en-US" altLang="en-US" sz="2000" dirty="0" err="1">
                <a:cs typeface="Times New Roman" panose="02020603050405020304" pitchFamily="18" charset="0"/>
              </a:rPr>
              <a:t>nhớ</a:t>
            </a:r>
            <a:r>
              <a:rPr lang="en-US" altLang="en-US" sz="2000" dirty="0">
                <a:cs typeface="Times New Roman" panose="02020603050405020304" pitchFamily="18" charset="0"/>
              </a:rPr>
              <a:t>. </a:t>
            </a:r>
          </a:p>
          <a:p>
            <a:pPr lvl="1" eaLnBrk="1" hangingPunct="1">
              <a:spcBef>
                <a:spcPct val="15000"/>
              </a:spcBef>
            </a:pPr>
            <a:r>
              <a:rPr lang="en-US" altLang="en-US" sz="2000" dirty="0" err="1">
                <a:cs typeface="Times New Roman" panose="02020603050405020304" pitchFamily="18" charset="0"/>
              </a:rPr>
              <a:t>Cần</a:t>
            </a:r>
            <a:r>
              <a:rPr lang="en-US" altLang="en-US" sz="2000" dirty="0">
                <a:cs typeface="Times New Roman" panose="02020603050405020304" pitchFamily="18" charset="0"/>
              </a:rPr>
              <a:t> </a:t>
            </a:r>
            <a:r>
              <a:rPr lang="en-US" altLang="en-US" sz="2000" dirty="0" err="1">
                <a:cs typeface="Times New Roman" panose="02020603050405020304" pitchFamily="18" charset="0"/>
              </a:rPr>
              <a:t>thêm</a:t>
            </a:r>
            <a:r>
              <a:rPr lang="en-US" altLang="en-US" sz="2000" dirty="0">
                <a:cs typeface="Times New Roman" panose="02020603050405020304" pitchFamily="18" charset="0"/>
              </a:rPr>
              <a:t> </a:t>
            </a:r>
            <a:r>
              <a:rPr lang="en-US" altLang="en-US" sz="2000" dirty="0" err="1">
                <a:cs typeface="Times New Roman" panose="02020603050405020304" pitchFamily="18" charset="0"/>
              </a:rPr>
              <a:t>quá</a:t>
            </a:r>
            <a:r>
              <a:rPr lang="en-US" altLang="en-US" sz="2000" dirty="0">
                <a:cs typeface="Times New Roman" panose="02020603050405020304" pitchFamily="18" charset="0"/>
              </a:rPr>
              <a:t> </a:t>
            </a:r>
            <a:r>
              <a:rPr lang="en-US" altLang="en-US" sz="2000" dirty="0" err="1">
                <a:cs typeface="Times New Roman" panose="02020603050405020304" pitchFamily="18" charset="0"/>
              </a:rPr>
              <a:t>trình</a:t>
            </a:r>
            <a:r>
              <a:rPr lang="en-US" altLang="en-US" sz="2000" dirty="0">
                <a:cs typeface="Times New Roman" panose="02020603050405020304" pitchFamily="18" charset="0"/>
              </a:rPr>
              <a:t> </a:t>
            </a:r>
            <a:r>
              <a:rPr lang="en-US" altLang="en-US" sz="2000" dirty="0" err="1">
                <a:cs typeface="Times New Roman" panose="02020603050405020304" pitchFamily="18" charset="0"/>
              </a:rPr>
              <a:t>chuyển</a:t>
            </a:r>
            <a:r>
              <a:rPr lang="en-US" altLang="en-US" sz="2000" dirty="0">
                <a:cs typeface="Times New Roman" panose="02020603050405020304" pitchFamily="18" charset="0"/>
              </a:rPr>
              <a:t> </a:t>
            </a:r>
            <a:r>
              <a:rPr lang="en-US" altLang="en-US" sz="2000" dirty="0" err="1">
                <a:cs typeface="Times New Roman" panose="02020603050405020304" pitchFamily="18" charset="0"/>
              </a:rPr>
              <a:t>đổi</a:t>
            </a:r>
            <a:r>
              <a:rPr lang="en-US" altLang="en-US" sz="2000" dirty="0">
                <a:cs typeface="Times New Roman" panose="02020603050405020304" pitchFamily="18" charset="0"/>
              </a:rPr>
              <a:t> </a:t>
            </a:r>
            <a:r>
              <a:rPr lang="en-US" altLang="en-US" sz="2000" dirty="0" err="1">
                <a:cs typeface="Times New Roman" panose="02020603050405020304" pitchFamily="18" charset="0"/>
              </a:rPr>
              <a:t>ngữ</a:t>
            </a:r>
            <a:r>
              <a:rPr lang="en-US" altLang="en-US" sz="2000" dirty="0">
                <a:cs typeface="Times New Roman" panose="02020603050405020304" pitchFamily="18" charset="0"/>
              </a:rPr>
              <a:t> </a:t>
            </a:r>
            <a:r>
              <a:rPr lang="en-US" altLang="en-US" sz="2000" dirty="0" err="1">
                <a:cs typeface="Times New Roman" panose="02020603050405020304" pitchFamily="18" charset="0"/>
              </a:rPr>
              <a:t>nghĩa</a:t>
            </a:r>
            <a:r>
              <a:rPr lang="en-US" altLang="en-US" sz="2000" dirty="0">
                <a:cs typeface="Times New Roman" panose="02020603050405020304" pitchFamily="18" charset="0"/>
              </a:rPr>
              <a:t> </a:t>
            </a:r>
            <a:r>
              <a:rPr lang="en-US" altLang="en-US" sz="2000" dirty="0" err="1">
                <a:cs typeface="Times New Roman" panose="02020603050405020304" pitchFamily="18" charset="0"/>
              </a:rPr>
              <a:t>thuận</a:t>
            </a:r>
            <a:r>
              <a:rPr lang="en-US" altLang="en-US" sz="2000" dirty="0">
                <a:cs typeface="Times New Roman" panose="02020603050405020304" pitchFamily="18" charset="0"/>
              </a:rPr>
              <a:t> </a:t>
            </a:r>
            <a:r>
              <a:rPr lang="en-US" altLang="en-US" sz="2000" dirty="0" err="1">
                <a:cs typeface="Times New Roman" panose="02020603050405020304" pitchFamily="18" charset="0"/>
              </a:rPr>
              <a:t>và</a:t>
            </a:r>
            <a:r>
              <a:rPr lang="en-US" altLang="en-US" sz="2000" dirty="0">
                <a:cs typeface="Times New Roman" panose="02020603050405020304" pitchFamily="18" charset="0"/>
              </a:rPr>
              <a:t> </a:t>
            </a:r>
            <a:r>
              <a:rPr lang="en-US" altLang="en-US" sz="2000" dirty="0" err="1">
                <a:cs typeface="Times New Roman" panose="02020603050405020304" pitchFamily="18" charset="0"/>
              </a:rPr>
              <a:t>nghịch</a:t>
            </a:r>
            <a:r>
              <a:rPr lang="en-US" altLang="en-US" sz="2000" dirty="0">
                <a:cs typeface="Times New Roman" panose="02020603050405020304" pitchFamily="18" charset="0"/>
              </a:rPr>
              <a:t> </a:t>
            </a:r>
            <a:r>
              <a:rPr lang="en-US" altLang="en-US" sz="2000" dirty="0" err="1">
                <a:cs typeface="Times New Roman" panose="02020603050405020304" pitchFamily="18" charset="0"/>
              </a:rPr>
              <a:t>giữa</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tổng</a:t>
            </a:r>
            <a:r>
              <a:rPr lang="en-US" altLang="en-US" sz="2000" dirty="0">
                <a:cs typeface="Times New Roman" panose="02020603050405020304" pitchFamily="18" charset="0"/>
              </a:rPr>
              <a:t> </a:t>
            </a:r>
            <a:r>
              <a:rPr lang="en-US" altLang="en-US" sz="2000" dirty="0" err="1">
                <a:cs typeface="Times New Roman" panose="02020603050405020304" pitchFamily="18" charset="0"/>
              </a:rPr>
              <a:t>quát</a:t>
            </a:r>
            <a:r>
              <a:rPr lang="en-US" altLang="en-US" sz="2000" dirty="0">
                <a:cs typeface="Times New Roman" panose="02020603050405020304" pitchFamily="18" charset="0"/>
              </a:rPr>
              <a:t> </a:t>
            </a:r>
            <a:r>
              <a:rPr lang="en-US" altLang="en-US" sz="2000" dirty="0" err="1">
                <a:cs typeface="Times New Roman" panose="02020603050405020304" pitchFamily="18" charset="0"/>
              </a:rPr>
              <a:t>và</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nhị</a:t>
            </a:r>
            <a:r>
              <a:rPr lang="en-US" altLang="en-US" sz="2000" dirty="0">
                <a:cs typeface="Times New Roman" panose="02020603050405020304" pitchFamily="18" charset="0"/>
              </a:rPr>
              <a:t> </a:t>
            </a:r>
            <a:r>
              <a:rPr lang="en-US" altLang="en-US" sz="2000" dirty="0" err="1">
                <a:cs typeface="Times New Roman" panose="02020603050405020304" pitchFamily="18" charset="0"/>
              </a:rPr>
              <a:t>phân</a:t>
            </a:r>
            <a:r>
              <a:rPr lang="en-US" altLang="en-US" sz="2000" dirty="0">
                <a:cs typeface="Times New Roman" panose="02020603050405020304" pitchFamily="18" charset="0"/>
              </a:rPr>
              <a:t>. </a:t>
            </a:r>
          </a:p>
          <a:p>
            <a:pPr lvl="2">
              <a:spcBef>
                <a:spcPct val="15000"/>
              </a:spcBef>
            </a:pPr>
            <a:r>
              <a:rPr lang="en-US" altLang="en-US" sz="1800" dirty="0" err="1">
                <a:cs typeface="Times New Roman" panose="02020603050405020304" pitchFamily="18" charset="0"/>
              </a:rPr>
              <a:t>Ví</a:t>
            </a:r>
            <a:r>
              <a:rPr lang="en-US" altLang="en-US" sz="1800" dirty="0">
                <a:cs typeface="Times New Roman" panose="02020603050405020304" pitchFamily="18" charset="0"/>
              </a:rPr>
              <a:t> </a:t>
            </a:r>
            <a:r>
              <a:rPr lang="en-US" altLang="en-US" sz="1800" dirty="0" err="1">
                <a:cs typeface="Times New Roman" panose="02020603050405020304" pitchFamily="18" charset="0"/>
              </a:rPr>
              <a:t>dụ</a:t>
            </a:r>
            <a:r>
              <a:rPr lang="en-US" altLang="en-US" sz="1800" dirty="0">
                <a:cs typeface="Times New Roman" panose="02020603050405020304" pitchFamily="18" charset="0"/>
              </a:rPr>
              <a:t> </a:t>
            </a:r>
            <a:r>
              <a:rPr lang="en-US" altLang="en-US" sz="1800" dirty="0" err="1">
                <a:cs typeface="Times New Roman" panose="02020603050405020304" pitchFamily="18" charset="0"/>
              </a:rPr>
              <a:t>bổ</a:t>
            </a:r>
            <a:r>
              <a:rPr lang="en-US" altLang="en-US" sz="1800" dirty="0">
                <a:cs typeface="Times New Roman" panose="02020603050405020304" pitchFamily="18" charset="0"/>
              </a:rPr>
              <a:t> sung </a:t>
            </a:r>
            <a:r>
              <a:rPr lang="en-US" altLang="en-US" sz="1800" dirty="0" err="1">
                <a:cs typeface="Times New Roman" panose="02020603050405020304" pitchFamily="18" charset="0"/>
              </a:rPr>
              <a:t>một</a:t>
            </a:r>
            <a:r>
              <a:rPr lang="en-US" altLang="en-US" sz="1800" dirty="0">
                <a:cs typeface="Times New Roman" panose="02020603050405020304" pitchFamily="18" charset="0"/>
              </a:rPr>
              <a:t> </a:t>
            </a:r>
            <a:r>
              <a:rPr lang="en-US" altLang="en-US" sz="1800" dirty="0" err="1">
                <a:cs typeface="Times New Roman" panose="02020603050405020304" pitchFamily="18" charset="0"/>
              </a:rPr>
              <a:t>nút</a:t>
            </a:r>
            <a:r>
              <a:rPr lang="en-US" altLang="en-US" sz="1800" dirty="0">
                <a:cs typeface="Times New Roman" panose="02020603050405020304" pitchFamily="18" charset="0"/>
              </a:rPr>
              <a:t> </a:t>
            </a:r>
            <a:r>
              <a:rPr lang="en-US" altLang="en-US" sz="1800" dirty="0" err="1">
                <a:cs typeface="Times New Roman" panose="02020603050405020304" pitchFamily="18" charset="0"/>
              </a:rPr>
              <a:t>là</a:t>
            </a:r>
            <a:r>
              <a:rPr lang="en-US" altLang="en-US" sz="1800" dirty="0">
                <a:cs typeface="Times New Roman" panose="02020603050405020304" pitchFamily="18" charset="0"/>
              </a:rPr>
              <a:t> con </a:t>
            </a:r>
            <a:r>
              <a:rPr lang="en-US" altLang="en-US" sz="1800" dirty="0" err="1">
                <a:cs typeface="Times New Roman" panose="02020603050405020304" pitchFamily="18" charset="0"/>
              </a:rPr>
              <a:t>cả</a:t>
            </a:r>
            <a:r>
              <a:rPr lang="en-US" altLang="en-US" sz="1800" dirty="0">
                <a:cs typeface="Times New Roman" panose="02020603050405020304" pitchFamily="18" charset="0"/>
              </a:rPr>
              <a:t> </a:t>
            </a:r>
            <a:r>
              <a:rPr lang="en-US" altLang="en-US" sz="1800" dirty="0" err="1">
                <a:cs typeface="Times New Roman" panose="02020603050405020304" pitchFamily="18" charset="0"/>
              </a:rPr>
              <a:t>của</a:t>
            </a:r>
            <a:r>
              <a:rPr lang="en-US" altLang="en-US" sz="1800" dirty="0">
                <a:cs typeface="Times New Roman" panose="02020603050405020304" pitchFamily="18" charset="0"/>
              </a:rPr>
              <a:t> </a:t>
            </a:r>
            <a:r>
              <a:rPr lang="en-US" altLang="en-US" sz="1800" dirty="0" err="1">
                <a:cs typeface="Times New Roman" panose="02020603050405020304" pitchFamily="18" charset="0"/>
              </a:rPr>
              <a:t>một</a:t>
            </a:r>
            <a:r>
              <a:rPr lang="en-US" altLang="en-US" sz="1800" dirty="0">
                <a:cs typeface="Times New Roman" panose="02020603050405020304" pitchFamily="18" charset="0"/>
              </a:rPr>
              <a:t> </a:t>
            </a:r>
            <a:r>
              <a:rPr lang="en-US" altLang="en-US" sz="1800" dirty="0" err="1">
                <a:cs typeface="Times New Roman" panose="02020603050405020304" pitchFamily="18" charset="0"/>
              </a:rPr>
              <a:t>nút</a:t>
            </a:r>
            <a:r>
              <a:rPr lang="en-US" altLang="en-US" sz="1800" dirty="0">
                <a:cs typeface="Times New Roman" panose="02020603050405020304" pitchFamily="18" charset="0"/>
              </a:rPr>
              <a:t> </a:t>
            </a:r>
            <a:r>
              <a:rPr lang="en-US" altLang="en-US" sz="1800" dirty="0" err="1">
                <a:cs typeface="Times New Roman" panose="02020603050405020304" pitchFamily="18" charset="0"/>
              </a:rPr>
              <a:t>trong</a:t>
            </a:r>
            <a:r>
              <a:rPr lang="en-US" altLang="en-US" sz="1800" dirty="0">
                <a:cs typeface="Times New Roman" panose="02020603050405020304" pitchFamily="18" charset="0"/>
              </a:rPr>
              <a:t> </a:t>
            </a:r>
            <a:r>
              <a:rPr lang="en-US" altLang="en-US" sz="1800" dirty="0" err="1">
                <a:cs typeface="Times New Roman" panose="02020603050405020304" pitchFamily="18" charset="0"/>
              </a:rPr>
              <a:t>cây</a:t>
            </a:r>
            <a:r>
              <a:rPr lang="en-US" altLang="en-US" sz="1800" dirty="0">
                <a:cs typeface="Times New Roman" panose="02020603050405020304" pitchFamily="18" charset="0"/>
              </a:rPr>
              <a:t> </a:t>
            </a:r>
            <a:r>
              <a:rPr lang="en-US" altLang="en-US" sz="1800" dirty="0" err="1">
                <a:cs typeface="Times New Roman" panose="02020603050405020304" pitchFamily="18" charset="0"/>
              </a:rPr>
              <a:t>tổng</a:t>
            </a:r>
            <a:r>
              <a:rPr lang="en-US" altLang="en-US" sz="1800" dirty="0">
                <a:cs typeface="Times New Roman" panose="02020603050405020304" pitchFamily="18" charset="0"/>
              </a:rPr>
              <a:t> </a:t>
            </a:r>
            <a:r>
              <a:rPr lang="en-US" altLang="en-US" sz="1800" dirty="0" err="1">
                <a:cs typeface="Times New Roman" panose="02020603050405020304" pitchFamily="18" charset="0"/>
              </a:rPr>
              <a:t>quát</a:t>
            </a:r>
            <a:r>
              <a:rPr lang="en-US" altLang="en-US" sz="1800" dirty="0">
                <a:cs typeface="Times New Roman" panose="02020603050405020304" pitchFamily="18" charset="0"/>
              </a:rPr>
              <a:t> </a:t>
            </a:r>
            <a:r>
              <a:rPr lang="en-US" altLang="en-US" sz="1800" dirty="0" err="1">
                <a:cs typeface="Times New Roman" panose="02020603050405020304" pitchFamily="18" charset="0"/>
              </a:rPr>
              <a:t>sẽ</a:t>
            </a:r>
            <a:r>
              <a:rPr lang="en-US" altLang="en-US" sz="1800" dirty="0">
                <a:cs typeface="Times New Roman" panose="02020603050405020304" pitchFamily="18" charset="0"/>
              </a:rPr>
              <a:t> </a:t>
            </a:r>
            <a:r>
              <a:rPr lang="en-US" altLang="en-US" sz="1800" dirty="0" err="1">
                <a:cs typeface="Times New Roman" panose="02020603050405020304" pitchFamily="18" charset="0"/>
              </a:rPr>
              <a:t>thành</a:t>
            </a:r>
            <a:r>
              <a:rPr lang="en-US" altLang="en-US" sz="1800" dirty="0">
                <a:cs typeface="Times New Roman" panose="02020603050405020304" pitchFamily="18" charset="0"/>
              </a:rPr>
              <a:t> </a:t>
            </a:r>
            <a:r>
              <a:rPr lang="en-US" altLang="en-US" sz="1800" dirty="0" err="1">
                <a:cs typeface="Times New Roman" panose="02020603050405020304" pitchFamily="18" charset="0"/>
              </a:rPr>
              <a:t>bổ</a:t>
            </a:r>
            <a:r>
              <a:rPr lang="en-US" altLang="en-US" sz="1800" dirty="0">
                <a:cs typeface="Times New Roman" panose="02020603050405020304" pitchFamily="18" charset="0"/>
              </a:rPr>
              <a:t> sung </a:t>
            </a:r>
            <a:r>
              <a:rPr lang="en-US" altLang="en-US" sz="1800" dirty="0" err="1">
                <a:cs typeface="Times New Roman" panose="02020603050405020304" pitchFamily="18" charset="0"/>
              </a:rPr>
              <a:t>một</a:t>
            </a:r>
            <a:r>
              <a:rPr lang="en-US" altLang="en-US" sz="1800" dirty="0">
                <a:cs typeface="Times New Roman" panose="02020603050405020304" pitchFamily="18" charset="0"/>
              </a:rPr>
              <a:t> </a:t>
            </a:r>
            <a:r>
              <a:rPr lang="en-US" altLang="en-US" sz="1800" dirty="0" err="1">
                <a:cs typeface="Times New Roman" panose="02020603050405020304" pitchFamily="18" charset="0"/>
              </a:rPr>
              <a:t>nút</a:t>
            </a:r>
            <a:r>
              <a:rPr lang="en-US" altLang="en-US" sz="1800" dirty="0">
                <a:cs typeface="Times New Roman" panose="02020603050405020304" pitchFamily="18" charset="0"/>
              </a:rPr>
              <a:t> </a:t>
            </a:r>
            <a:r>
              <a:rPr lang="en-US" altLang="en-US" sz="1800" dirty="0" err="1">
                <a:cs typeface="Times New Roman" panose="02020603050405020304" pitchFamily="18" charset="0"/>
              </a:rPr>
              <a:t>thành</a:t>
            </a:r>
            <a:r>
              <a:rPr lang="en-US" altLang="en-US" sz="1800" dirty="0">
                <a:cs typeface="Times New Roman" panose="02020603050405020304" pitchFamily="18" charset="0"/>
              </a:rPr>
              <a:t> </a:t>
            </a:r>
            <a:r>
              <a:rPr lang="en-US" altLang="en-US" sz="1800" dirty="0" err="1">
                <a:cs typeface="Times New Roman" panose="02020603050405020304" pitchFamily="18" charset="0"/>
              </a:rPr>
              <a:t>nút</a:t>
            </a:r>
            <a:r>
              <a:rPr lang="en-US" altLang="en-US" sz="1800" dirty="0">
                <a:cs typeface="Times New Roman" panose="02020603050405020304" pitchFamily="18" charset="0"/>
              </a:rPr>
              <a:t> con </a:t>
            </a:r>
            <a:r>
              <a:rPr lang="en-US" altLang="en-US" sz="1800" dirty="0" err="1">
                <a:cs typeface="Times New Roman" panose="02020603050405020304" pitchFamily="18" charset="0"/>
              </a:rPr>
              <a:t>trái</a:t>
            </a:r>
            <a:r>
              <a:rPr lang="en-US" altLang="en-US" sz="1800" dirty="0">
                <a:cs typeface="Times New Roman" panose="02020603050405020304" pitchFamily="18" charset="0"/>
              </a:rPr>
              <a:t> </a:t>
            </a:r>
            <a:r>
              <a:rPr lang="en-US" altLang="en-US" sz="1800" dirty="0" err="1">
                <a:cs typeface="Times New Roman" panose="02020603050405020304" pitchFamily="18" charset="0"/>
              </a:rPr>
              <a:t>trong</a:t>
            </a:r>
            <a:r>
              <a:rPr lang="en-US" altLang="en-US" sz="1800" dirty="0">
                <a:cs typeface="Times New Roman" panose="02020603050405020304" pitchFamily="18" charset="0"/>
              </a:rPr>
              <a:t> </a:t>
            </a:r>
            <a:r>
              <a:rPr lang="en-US" altLang="en-US" sz="1800" dirty="0" err="1">
                <a:cs typeface="Times New Roman" panose="02020603050405020304" pitchFamily="18" charset="0"/>
              </a:rPr>
              <a:t>cây</a:t>
            </a:r>
            <a:r>
              <a:rPr lang="en-US" altLang="en-US" sz="1800" dirty="0">
                <a:cs typeface="Times New Roman" panose="02020603050405020304" pitchFamily="18" charset="0"/>
              </a:rPr>
              <a:t> NP =&gt; </a:t>
            </a:r>
            <a:r>
              <a:rPr lang="en-US" altLang="en-US" sz="1800" dirty="0" err="1">
                <a:cs typeface="Times New Roman" panose="02020603050405020304" pitchFamily="18" charset="0"/>
              </a:rPr>
              <a:t>giảm</a:t>
            </a:r>
            <a:r>
              <a:rPr lang="en-US" altLang="en-US" sz="1800" dirty="0">
                <a:cs typeface="Times New Roman" panose="02020603050405020304" pitchFamily="18" charset="0"/>
              </a:rPr>
              <a:t> </a:t>
            </a:r>
            <a:r>
              <a:rPr lang="en-US" altLang="en-US" sz="1800" dirty="0" err="1">
                <a:cs typeface="Times New Roman" panose="02020603050405020304" pitchFamily="18" charset="0"/>
              </a:rPr>
              <a:t>tốc</a:t>
            </a:r>
            <a:r>
              <a:rPr lang="en-US" altLang="en-US" sz="1800" dirty="0">
                <a:cs typeface="Times New Roman" panose="02020603050405020304" pitchFamily="18" charset="0"/>
              </a:rPr>
              <a:t> </a:t>
            </a:r>
            <a:r>
              <a:rPr lang="en-US" altLang="en-US" sz="1800" dirty="0" err="1">
                <a:cs typeface="Times New Roman" panose="02020603050405020304" pitchFamily="18" charset="0"/>
              </a:rPr>
              <a:t>độ</a:t>
            </a:r>
            <a:r>
              <a:rPr lang="en-US" altLang="en-US" sz="1800" dirty="0">
                <a:cs typeface="Times New Roman" panose="02020603050405020304" pitchFamily="18" charset="0"/>
              </a:rPr>
              <a:t> </a:t>
            </a:r>
            <a:r>
              <a:rPr lang="en-US" altLang="en-US" sz="1800" dirty="0" err="1">
                <a:cs typeface="Times New Roman" panose="02020603050405020304" pitchFamily="18" charset="0"/>
              </a:rPr>
              <a:t>thực</a:t>
            </a:r>
            <a:r>
              <a:rPr lang="en-US" altLang="en-US" sz="1800" dirty="0">
                <a:cs typeface="Times New Roman" panose="02020603050405020304" pitchFamily="18" charset="0"/>
              </a:rPr>
              <a:t> </a:t>
            </a:r>
            <a:r>
              <a:rPr lang="en-US" altLang="en-US" sz="1800" dirty="0" err="1">
                <a:cs typeface="Times New Roman" panose="02020603050405020304" pitchFamily="18" charset="0"/>
              </a:rPr>
              <a:t>hiện</a:t>
            </a:r>
            <a:r>
              <a:rPr lang="en-US" altLang="en-US" sz="1800" dirty="0">
                <a:cs typeface="Times New Roman" panose="02020603050405020304" pitchFamily="18" charset="0"/>
              </a:rPr>
              <a:t> </a:t>
            </a:r>
            <a:r>
              <a:rPr lang="en-US" altLang="en-US" sz="1800" dirty="0" err="1">
                <a:cs typeface="Times New Roman" panose="02020603050405020304" pitchFamily="18" charset="0"/>
              </a:rPr>
              <a:t>các</a:t>
            </a:r>
            <a:r>
              <a:rPr lang="en-US" altLang="en-US" sz="1800" dirty="0">
                <a:cs typeface="Times New Roman" panose="02020603050405020304" pitchFamily="18" charset="0"/>
              </a:rPr>
              <a:t> </a:t>
            </a:r>
            <a:r>
              <a:rPr lang="en-US" altLang="en-US" sz="1800" dirty="0" err="1">
                <a:cs typeface="Times New Roman" panose="02020603050405020304" pitchFamily="18" charset="0"/>
              </a:rPr>
              <a:t>thao</a:t>
            </a:r>
            <a:r>
              <a:rPr lang="en-US" altLang="en-US" sz="1800" dirty="0">
                <a:cs typeface="Times New Roman" panose="02020603050405020304" pitchFamily="18" charset="0"/>
              </a:rPr>
              <a:t> </a:t>
            </a:r>
            <a:r>
              <a:rPr lang="en-US" altLang="en-US" sz="1800" dirty="0" err="1">
                <a:cs typeface="Times New Roman" panose="02020603050405020304" pitchFamily="18" charset="0"/>
              </a:rPr>
              <a:t>tác</a:t>
            </a:r>
            <a:r>
              <a:rPr lang="en-US" altLang="en-US" sz="1800" dirty="0">
                <a:cs typeface="Times New Roman" panose="02020603050405020304" pitchFamily="18" charset="0"/>
              </a:rPr>
              <a:t> </a:t>
            </a:r>
            <a:r>
              <a:rPr lang="en-US" altLang="en-US" sz="1800" dirty="0" err="1">
                <a:cs typeface="Times New Roman" panose="02020603050405020304" pitchFamily="18" charset="0"/>
              </a:rPr>
              <a:t>cơ</a:t>
            </a:r>
            <a:r>
              <a:rPr lang="en-US" altLang="en-US" sz="1800" dirty="0">
                <a:cs typeface="Times New Roman" panose="02020603050405020304" pitchFamily="18" charset="0"/>
              </a:rPr>
              <a:t> </a:t>
            </a:r>
            <a:r>
              <a:rPr lang="en-US" altLang="en-US" sz="1800" dirty="0" err="1">
                <a:cs typeface="Times New Roman" panose="02020603050405020304" pitchFamily="18" charset="0"/>
              </a:rPr>
              <a:t>bản</a:t>
            </a:r>
            <a:r>
              <a:rPr lang="en-US" altLang="en-US" sz="1800" dirty="0">
                <a:cs typeface="Times New Roman" panose="02020603050405020304" pitchFamily="18" charset="0"/>
              </a:rPr>
              <a:t> </a:t>
            </a:r>
            <a:r>
              <a:rPr lang="en-US" altLang="en-US" sz="1800" dirty="0" err="1">
                <a:cs typeface="Times New Roman" panose="02020603050405020304" pitchFamily="18" charset="0"/>
              </a:rPr>
              <a:t>như</a:t>
            </a:r>
            <a:r>
              <a:rPr lang="en-US" altLang="en-US" sz="1800" dirty="0">
                <a:cs typeface="Times New Roman" panose="02020603050405020304" pitchFamily="18" charset="0"/>
              </a:rPr>
              <a:t> </a:t>
            </a:r>
            <a:r>
              <a:rPr lang="en-US" altLang="en-US" sz="1800" dirty="0" err="1">
                <a:cs typeface="Times New Roman" panose="02020603050405020304" pitchFamily="18" charset="0"/>
              </a:rPr>
              <a:t>bổ</a:t>
            </a:r>
            <a:r>
              <a:rPr lang="en-US" altLang="en-US" sz="1800" dirty="0">
                <a:cs typeface="Times New Roman" panose="02020603050405020304" pitchFamily="18" charset="0"/>
              </a:rPr>
              <a:t> sung, </a:t>
            </a:r>
            <a:r>
              <a:rPr lang="en-US" altLang="en-US" sz="1800" dirty="0" err="1">
                <a:cs typeface="Times New Roman" panose="02020603050405020304" pitchFamily="18" charset="0"/>
              </a:rPr>
              <a:t>tìm</a:t>
            </a:r>
            <a:r>
              <a:rPr lang="en-US" altLang="en-US" sz="1800" dirty="0">
                <a:cs typeface="Times New Roman" panose="02020603050405020304" pitchFamily="18" charset="0"/>
              </a:rPr>
              <a:t> </a:t>
            </a:r>
            <a:r>
              <a:rPr lang="en-US" altLang="en-US" sz="1800" dirty="0" err="1">
                <a:cs typeface="Times New Roman" panose="02020603050405020304" pitchFamily="18" charset="0"/>
              </a:rPr>
              <a:t>kiếm</a:t>
            </a:r>
            <a:r>
              <a:rPr lang="en-US" altLang="en-US" sz="1800" dirty="0">
                <a:cs typeface="Times New Roman" panose="02020603050405020304" pitchFamily="18" charset="0"/>
              </a:rPr>
              <a:t> </a:t>
            </a:r>
            <a:r>
              <a:rPr lang="en-US" altLang="en-US" sz="1800" dirty="0" err="1">
                <a:cs typeface="Times New Roman" panose="02020603050405020304" pitchFamily="18" charset="0"/>
              </a:rPr>
              <a:t>trên</a:t>
            </a:r>
            <a:r>
              <a:rPr lang="en-US" altLang="en-US" sz="1800" dirty="0">
                <a:cs typeface="Times New Roman" panose="02020603050405020304" pitchFamily="18" charset="0"/>
              </a:rPr>
              <a:t> </a:t>
            </a:r>
            <a:r>
              <a:rPr lang="en-US" altLang="en-US" sz="1800" dirty="0" err="1">
                <a:cs typeface="Times New Roman" panose="02020603050405020304" pitchFamily="18" charset="0"/>
              </a:rPr>
              <a:t>cây</a:t>
            </a:r>
            <a:r>
              <a:rPr lang="en-US" altLang="en-US" sz="1800" dirty="0">
                <a:cs typeface="Times New Roman" panose="02020603050405020304" pitchFamily="18" charset="0"/>
              </a:rPr>
              <a:t>. </a:t>
            </a:r>
          </a:p>
        </p:txBody>
      </p:sp>
    </p:spTree>
    <p:extLst>
      <p:ext uri="{BB962C8B-B14F-4D97-AF65-F5344CB8AC3E}">
        <p14:creationId xmlns:p14="http://schemas.microsoft.com/office/powerpoint/2010/main" val="1515743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30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30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30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66</a:t>
            </a:fld>
            <a:endParaRPr lang="en-US"/>
          </a:p>
        </p:txBody>
      </p:sp>
      <p:sp>
        <p:nvSpPr>
          <p:cNvPr id="4" name="Title 3"/>
          <p:cNvSpPr>
            <a:spLocks noGrp="1"/>
          </p:cNvSpPr>
          <p:nvPr>
            <p:ph type="title"/>
          </p:nvPr>
        </p:nvSpPr>
        <p:spPr/>
        <p:txBody>
          <a:bodyPr/>
          <a:lstStyle/>
          <a:p>
            <a:endParaRPr lang="en-US"/>
          </a:p>
        </p:txBody>
      </p:sp>
      <p:sp>
        <p:nvSpPr>
          <p:cNvPr id="5" name="Text Placeholder 4"/>
          <p:cNvSpPr>
            <a:spLocks noGrp="1"/>
          </p:cNvSpPr>
          <p:nvPr>
            <p:ph type="body" sz="quarter" idx="13"/>
          </p:nvPr>
        </p:nvSpPr>
        <p:spPr>
          <a:xfrm>
            <a:off x="1904999" y="2362200"/>
            <a:ext cx="7004051" cy="3733800"/>
          </a:xfrm>
        </p:spPr>
        <p:txBody>
          <a:bodyPr/>
          <a:lstStyle/>
          <a:p>
            <a:pPr marL="0" indent="0">
              <a:buNone/>
            </a:pPr>
            <a:r>
              <a:rPr lang="en-US" altLang="en-US" sz="2800" dirty="0"/>
              <a:t>4. </a:t>
            </a:r>
            <a:r>
              <a:rPr lang="en-US" altLang="en-US" sz="2800" dirty="0" err="1"/>
              <a:t>Ứng</a:t>
            </a:r>
            <a:r>
              <a:rPr lang="en-US" altLang="en-US" sz="2800" dirty="0"/>
              <a:t> </a:t>
            </a:r>
            <a:r>
              <a:rPr lang="en-US" altLang="en-US" sz="2800" dirty="0" err="1"/>
              <a:t>dụng</a:t>
            </a:r>
            <a:r>
              <a:rPr lang="en-US" altLang="en-US" sz="2800" dirty="0"/>
              <a:t> </a:t>
            </a:r>
            <a:r>
              <a:rPr lang="en-US" altLang="en-US" sz="2800" dirty="0" err="1"/>
              <a:t>của</a:t>
            </a:r>
            <a:r>
              <a:rPr lang="en-US" altLang="en-US" sz="2800" dirty="0"/>
              <a:t> </a:t>
            </a:r>
            <a:r>
              <a:rPr lang="en-US" altLang="en-US" sz="2800" dirty="0" err="1"/>
              <a:t>cấu</a:t>
            </a:r>
            <a:r>
              <a:rPr lang="en-US" altLang="en-US" sz="2800" dirty="0"/>
              <a:t> </a:t>
            </a:r>
            <a:r>
              <a:rPr lang="en-US" altLang="en-US" sz="2800" dirty="0" err="1"/>
              <a:t>trúc</a:t>
            </a:r>
            <a:r>
              <a:rPr lang="en-US" altLang="en-US" sz="2800" dirty="0"/>
              <a:t> </a:t>
            </a:r>
            <a:r>
              <a:rPr lang="en-US" altLang="en-US" sz="2800" dirty="0" err="1"/>
              <a:t>cây</a:t>
            </a:r>
            <a:endParaRPr lang="en-US" dirty="0"/>
          </a:p>
        </p:txBody>
      </p:sp>
    </p:spTree>
    <p:extLst>
      <p:ext uri="{BB962C8B-B14F-4D97-AF65-F5344CB8AC3E}">
        <p14:creationId xmlns:p14="http://schemas.microsoft.com/office/powerpoint/2010/main" val="111077799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67</a:t>
            </a:fld>
            <a:endParaRPr lang="en-US"/>
          </a:p>
        </p:txBody>
      </p:sp>
      <p:sp>
        <p:nvSpPr>
          <p:cNvPr id="5" name="Title 4"/>
          <p:cNvSpPr>
            <a:spLocks noGrp="1"/>
          </p:cNvSpPr>
          <p:nvPr>
            <p:ph type="title"/>
          </p:nvPr>
        </p:nvSpPr>
        <p:spPr/>
        <p:txBody>
          <a:bodyPr/>
          <a:lstStyle/>
          <a:p>
            <a:r>
              <a:rPr lang="en-US" altLang="en-US" dirty="0"/>
              <a:t>4. </a:t>
            </a:r>
            <a:r>
              <a:rPr lang="en-US" altLang="en-US" dirty="0" err="1"/>
              <a:t>Ứng</a:t>
            </a:r>
            <a:r>
              <a:rPr lang="en-US" altLang="en-US" dirty="0"/>
              <a:t> </a:t>
            </a:r>
            <a:r>
              <a:rPr lang="en-US" altLang="en-US" dirty="0" err="1"/>
              <a:t>dụng</a:t>
            </a:r>
            <a:r>
              <a:rPr lang="en-US" altLang="en-US" dirty="0"/>
              <a:t> </a:t>
            </a:r>
            <a:r>
              <a:rPr lang="en-US" altLang="en-US" dirty="0" err="1"/>
              <a:t>của</a:t>
            </a:r>
            <a:r>
              <a:rPr lang="en-US" altLang="en-US" dirty="0"/>
              <a:t> </a:t>
            </a:r>
            <a:r>
              <a:rPr lang="en-US" altLang="en-US" dirty="0" err="1"/>
              <a:t>cấu</a:t>
            </a:r>
            <a:r>
              <a:rPr lang="en-US" altLang="en-US" dirty="0"/>
              <a:t> </a:t>
            </a:r>
            <a:r>
              <a:rPr lang="en-US" altLang="en-US" dirty="0" err="1"/>
              <a:t>trúc</a:t>
            </a:r>
            <a:r>
              <a:rPr lang="en-US" altLang="en-US" dirty="0"/>
              <a:t> </a:t>
            </a:r>
            <a:r>
              <a:rPr lang="en-US" altLang="en-US" dirty="0" err="1"/>
              <a:t>cây</a:t>
            </a:r>
            <a:endParaRPr lang="en-US" dirty="0"/>
          </a:p>
        </p:txBody>
      </p:sp>
      <p:sp>
        <p:nvSpPr>
          <p:cNvPr id="2" name="Content Placeholder 1"/>
          <p:cNvSpPr>
            <a:spLocks noGrp="1"/>
          </p:cNvSpPr>
          <p:nvPr>
            <p:ph type="body" sz="quarter" idx="13"/>
          </p:nvPr>
        </p:nvSpPr>
        <p:spPr/>
        <p:txBody>
          <a:bodyPr>
            <a:normAutofit/>
          </a:bodyPr>
          <a:lstStyle/>
          <a:p>
            <a:r>
              <a:rPr lang="vi-VN" sz="2400" dirty="0"/>
              <a:t>Phân loại</a:t>
            </a:r>
            <a:endParaRPr lang="en-US" sz="2400" dirty="0"/>
          </a:p>
          <a:p>
            <a:r>
              <a:rPr lang="vi-VN" sz="2400" dirty="0"/>
              <a:t>Quyết định</a:t>
            </a:r>
            <a:endParaRPr lang="en-US" sz="2400" dirty="0"/>
          </a:p>
          <a:p>
            <a:r>
              <a:rPr lang="vi-VN" sz="2400" dirty="0"/>
              <a:t>Lưu trữ, sắp xếp, tìm kiếm dữ liệu</a:t>
            </a:r>
            <a:endParaRPr lang="en-US" sz="2400" dirty="0"/>
          </a:p>
          <a:p>
            <a:r>
              <a:rPr lang="vi-VN" sz="2400" dirty="0"/>
              <a:t>Phương pháp tính toán</a:t>
            </a:r>
            <a:endParaRPr lang="en-US" sz="2000" dirty="0"/>
          </a:p>
        </p:txBody>
      </p:sp>
    </p:spTree>
    <p:extLst>
      <p:ext uri="{BB962C8B-B14F-4D97-AF65-F5344CB8AC3E}">
        <p14:creationId xmlns:p14="http://schemas.microsoft.com/office/powerpoint/2010/main" val="32124089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Rectangle 1026"/>
          <p:cNvSpPr>
            <a:spLocks noGrp="1" noChangeArrowheads="1"/>
          </p:cNvSpPr>
          <p:nvPr>
            <p:ph type="title"/>
          </p:nvPr>
        </p:nvSpPr>
        <p:spPr/>
        <p:txBody>
          <a:bodyPr/>
          <a:lstStyle/>
          <a:p>
            <a:pPr eaLnBrk="1" hangingPunct="1"/>
            <a:r>
              <a:rPr lang="en-US" altLang="en-US" dirty="0">
                <a:cs typeface="Times New Roman" panose="02020603050405020304" pitchFamily="18" charset="0"/>
              </a:rPr>
              <a:t>4. </a:t>
            </a:r>
            <a:r>
              <a:rPr lang="en-US" altLang="en-US" dirty="0" err="1">
                <a:cs typeface="Times New Roman" panose="02020603050405020304" pitchFamily="18" charset="0"/>
              </a:rPr>
              <a:t>Ứng</a:t>
            </a:r>
            <a:r>
              <a:rPr lang="en-US" altLang="en-US" dirty="0">
                <a:cs typeface="Times New Roman" panose="02020603050405020304" pitchFamily="18" charset="0"/>
              </a:rPr>
              <a:t> </a:t>
            </a:r>
            <a:r>
              <a:rPr lang="en-US" altLang="en-US" dirty="0" err="1">
                <a:cs typeface="Times New Roman" panose="02020603050405020304" pitchFamily="18" charset="0"/>
              </a:rPr>
              <a:t>dụng</a:t>
            </a:r>
            <a:r>
              <a:rPr lang="en-US" altLang="en-US" dirty="0">
                <a:cs typeface="Times New Roman" panose="02020603050405020304" pitchFamily="18" charset="0"/>
              </a:rPr>
              <a:t> </a:t>
            </a:r>
            <a:r>
              <a:rPr lang="en-US" altLang="en-US" dirty="0" err="1">
                <a:cs typeface="Times New Roman" panose="02020603050405020304" pitchFamily="18" charset="0"/>
              </a:rPr>
              <a:t>của</a:t>
            </a:r>
            <a:r>
              <a:rPr lang="en-US" altLang="en-US" dirty="0">
                <a:cs typeface="Times New Roman" panose="02020603050405020304" pitchFamily="18" charset="0"/>
              </a:rPr>
              <a:t> </a:t>
            </a:r>
            <a:r>
              <a:rPr lang="en-US" altLang="en-US" dirty="0" err="1">
                <a:cs typeface="Times New Roman" panose="02020603050405020304" pitchFamily="18" charset="0"/>
              </a:rPr>
              <a:t>cấu</a:t>
            </a:r>
            <a:r>
              <a:rPr lang="en-US" altLang="en-US" dirty="0">
                <a:cs typeface="Times New Roman" panose="02020603050405020304" pitchFamily="18" charset="0"/>
              </a:rPr>
              <a:t> </a:t>
            </a:r>
            <a:r>
              <a:rPr lang="en-US" altLang="en-US" dirty="0" err="1">
                <a:cs typeface="Times New Roman" panose="02020603050405020304" pitchFamily="18" charset="0"/>
              </a:rPr>
              <a:t>trúc</a:t>
            </a:r>
            <a:r>
              <a:rPr lang="en-US" altLang="en-US" dirty="0">
                <a:cs typeface="Times New Roman" panose="02020603050405020304" pitchFamily="18" charset="0"/>
              </a:rPr>
              <a:t> </a:t>
            </a:r>
            <a:r>
              <a:rPr lang="en-US" altLang="en-US" dirty="0" err="1">
                <a:cs typeface="Times New Roman" panose="02020603050405020304" pitchFamily="18" charset="0"/>
              </a:rPr>
              <a:t>cây</a:t>
            </a:r>
            <a:endParaRPr lang="en-US" altLang="en-US" dirty="0"/>
          </a:p>
        </p:txBody>
      </p:sp>
      <p:sp>
        <p:nvSpPr>
          <p:cNvPr id="56325" name="Rectangle 1027"/>
          <p:cNvSpPr>
            <a:spLocks noGrp="1" noChangeArrowheads="1"/>
          </p:cNvSpPr>
          <p:nvPr>
            <p:ph type="body" sz="quarter" idx="13"/>
          </p:nvPr>
        </p:nvSpPr>
        <p:spPr>
          <a:noFill/>
        </p:spPr>
        <p:txBody>
          <a:bodyPr>
            <a:normAutofit/>
          </a:bodyPr>
          <a:lstStyle/>
          <a:p>
            <a:pPr eaLnBrk="1" hangingPunct="1"/>
            <a:r>
              <a:rPr lang="en-US" altLang="en-US" sz="2400" dirty="0" err="1">
                <a:cs typeface="Times New Roman" panose="02020603050405020304" pitchFamily="18" charset="0"/>
              </a:rPr>
              <a:t>Một</a:t>
            </a:r>
            <a:r>
              <a:rPr lang="en-US" altLang="en-US" sz="2400" dirty="0">
                <a:cs typeface="Times New Roman" panose="02020603050405020304" pitchFamily="18" charset="0"/>
              </a:rPr>
              <a:t> </a:t>
            </a:r>
            <a:r>
              <a:rPr lang="en-US" altLang="en-US" sz="2400" dirty="0" err="1">
                <a:cs typeface="Times New Roman" panose="02020603050405020304" pitchFamily="18" charset="0"/>
              </a:rPr>
              <a:t>số</a:t>
            </a:r>
            <a:r>
              <a:rPr lang="en-US" altLang="en-US" sz="2400" dirty="0">
                <a:cs typeface="Times New Roman" panose="02020603050405020304" pitchFamily="18" charset="0"/>
              </a:rPr>
              <a:t> </a:t>
            </a:r>
            <a:r>
              <a:rPr lang="en-US" altLang="en-US" sz="2400" dirty="0" err="1">
                <a:cs typeface="Times New Roman" panose="02020603050405020304" pitchFamily="18" charset="0"/>
              </a:rPr>
              <a:t>ứng</a:t>
            </a:r>
            <a:r>
              <a:rPr lang="en-US" altLang="en-US" sz="2400" dirty="0">
                <a:cs typeface="Times New Roman" panose="02020603050405020304" pitchFamily="18" charset="0"/>
              </a:rPr>
              <a:t> </a:t>
            </a:r>
            <a:r>
              <a:rPr lang="en-US" altLang="en-US" sz="2400" dirty="0" err="1">
                <a:cs typeface="Times New Roman" panose="02020603050405020304" pitchFamily="18" charset="0"/>
              </a:rPr>
              <a:t>dụng</a:t>
            </a:r>
            <a:r>
              <a:rPr lang="en-US" altLang="en-US" sz="2400" dirty="0">
                <a:cs typeface="Times New Roman" panose="02020603050405020304" pitchFamily="18" charset="0"/>
              </a:rPr>
              <a:t> </a:t>
            </a:r>
            <a:r>
              <a:rPr lang="en-US" altLang="en-US" sz="2400" dirty="0" err="1">
                <a:cs typeface="Times New Roman" panose="02020603050405020304" pitchFamily="18" charset="0"/>
              </a:rPr>
              <a:t>cây</a:t>
            </a:r>
            <a:r>
              <a:rPr lang="en-US" altLang="en-US" sz="2400" dirty="0">
                <a:cs typeface="Times New Roman" panose="02020603050405020304" pitchFamily="18" charset="0"/>
              </a:rPr>
              <a:t> NP</a:t>
            </a:r>
          </a:p>
          <a:p>
            <a:pPr lvl="1" eaLnBrk="1" hangingPunct="1"/>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nhị</a:t>
            </a:r>
            <a:r>
              <a:rPr lang="en-US" altLang="en-US" sz="2000" dirty="0">
                <a:cs typeface="Times New Roman" panose="02020603050405020304" pitchFamily="18" charset="0"/>
              </a:rPr>
              <a:t> </a:t>
            </a:r>
            <a:r>
              <a:rPr lang="en-US" altLang="en-US" sz="2000" dirty="0" err="1">
                <a:cs typeface="Times New Roman" panose="02020603050405020304" pitchFamily="18" charset="0"/>
              </a:rPr>
              <a:t>phân</a:t>
            </a:r>
            <a:r>
              <a:rPr lang="en-US" altLang="en-US" sz="2000" dirty="0">
                <a:cs typeface="Times New Roman" panose="02020603050405020304" pitchFamily="18" charset="0"/>
              </a:rPr>
              <a:t> </a:t>
            </a:r>
            <a:r>
              <a:rPr lang="en-US" altLang="en-US" sz="2000" dirty="0" err="1">
                <a:cs typeface="Times New Roman" panose="02020603050405020304" pitchFamily="18" charset="0"/>
              </a:rPr>
              <a:t>tìm</a:t>
            </a:r>
            <a:r>
              <a:rPr lang="en-US" altLang="en-US" sz="2000" dirty="0">
                <a:cs typeface="Times New Roman" panose="02020603050405020304" pitchFamily="18" charset="0"/>
              </a:rPr>
              <a:t> </a:t>
            </a:r>
            <a:r>
              <a:rPr lang="en-US" altLang="en-US" sz="2000" dirty="0" err="1">
                <a:cs typeface="Times New Roman" panose="02020603050405020304" pitchFamily="18" charset="0"/>
              </a:rPr>
              <a:t>kiếm</a:t>
            </a:r>
            <a:r>
              <a:rPr lang="en-US" altLang="en-US" sz="2000" dirty="0">
                <a:cs typeface="Times New Roman" panose="02020603050405020304" pitchFamily="18" charset="0"/>
              </a:rPr>
              <a:t>: </a:t>
            </a:r>
            <a:r>
              <a:rPr lang="en-US" altLang="en-US" sz="2000" dirty="0" err="1">
                <a:cs typeface="Times New Roman" panose="02020603050405020304" pitchFamily="18" charset="0"/>
              </a:rPr>
              <a:t>ứng</a:t>
            </a:r>
            <a:r>
              <a:rPr lang="en-US" altLang="en-US" sz="2000" dirty="0">
                <a:cs typeface="Times New Roman" panose="02020603050405020304" pitchFamily="18" charset="0"/>
              </a:rPr>
              <a:t> </a:t>
            </a:r>
            <a:r>
              <a:rPr lang="en-US" altLang="en-US" sz="2000" dirty="0" err="1">
                <a:cs typeface="Times New Roman" panose="02020603050405020304" pitchFamily="18" charset="0"/>
              </a:rPr>
              <a:t>dụng</a:t>
            </a:r>
            <a:r>
              <a:rPr lang="en-US" altLang="en-US" sz="2000" dirty="0">
                <a:cs typeface="Times New Roman" panose="02020603050405020304" pitchFamily="18" charset="0"/>
              </a:rPr>
              <a:t> </a:t>
            </a:r>
            <a:r>
              <a:rPr lang="en-US" altLang="en-US" sz="2000" dirty="0" err="1">
                <a:cs typeface="Times New Roman" panose="02020603050405020304" pitchFamily="18" charset="0"/>
              </a:rPr>
              <a:t>vào</a:t>
            </a:r>
            <a:r>
              <a:rPr lang="en-US" altLang="en-US" sz="2000" dirty="0">
                <a:cs typeface="Times New Roman" panose="02020603050405020304" pitchFamily="18" charset="0"/>
              </a:rPr>
              <a:t> </a:t>
            </a:r>
            <a:r>
              <a:rPr lang="en-US" altLang="en-US" sz="2000" dirty="0" err="1">
                <a:cs typeface="Times New Roman" panose="02020603050405020304" pitchFamily="18" charset="0"/>
              </a:rPr>
              <a:t>lưu</a:t>
            </a:r>
            <a:r>
              <a:rPr lang="en-US" altLang="en-US" sz="2000" dirty="0">
                <a:cs typeface="Times New Roman" panose="02020603050405020304" pitchFamily="18" charset="0"/>
              </a:rPr>
              <a:t> </a:t>
            </a:r>
            <a:r>
              <a:rPr lang="en-US" altLang="en-US" sz="2000" dirty="0" err="1">
                <a:cs typeface="Times New Roman" panose="02020603050405020304" pitchFamily="18" charset="0"/>
              </a:rPr>
              <a:t>trữ</a:t>
            </a:r>
            <a:r>
              <a:rPr lang="en-US" altLang="en-US" sz="2000" dirty="0">
                <a:cs typeface="Times New Roman" panose="02020603050405020304" pitchFamily="18" charset="0"/>
              </a:rPr>
              <a:t> </a:t>
            </a:r>
            <a:r>
              <a:rPr lang="en-US" altLang="en-US" sz="2000" dirty="0" err="1">
                <a:cs typeface="Times New Roman" panose="02020603050405020304" pitchFamily="18" charset="0"/>
              </a:rPr>
              <a:t>và</a:t>
            </a:r>
            <a:r>
              <a:rPr lang="en-US" altLang="en-US" sz="2000" dirty="0">
                <a:cs typeface="Times New Roman" panose="02020603050405020304" pitchFamily="18" charset="0"/>
              </a:rPr>
              <a:t> </a:t>
            </a:r>
            <a:r>
              <a:rPr lang="en-US" altLang="en-US" sz="2000" dirty="0" err="1">
                <a:cs typeface="Times New Roman" panose="02020603050405020304" pitchFamily="18" charset="0"/>
              </a:rPr>
              <a:t>tìm</a:t>
            </a:r>
            <a:r>
              <a:rPr lang="en-US" altLang="en-US" sz="2000" dirty="0">
                <a:cs typeface="Times New Roman" panose="02020603050405020304" pitchFamily="18" charset="0"/>
              </a:rPr>
              <a:t> </a:t>
            </a:r>
            <a:r>
              <a:rPr lang="en-US" altLang="en-US" sz="2000" dirty="0" err="1">
                <a:cs typeface="Times New Roman" panose="02020603050405020304" pitchFamily="18" charset="0"/>
              </a:rPr>
              <a:t>kiếm</a:t>
            </a:r>
            <a:r>
              <a:rPr lang="en-US" altLang="en-US" sz="2000" dirty="0">
                <a:cs typeface="Times New Roman" panose="02020603050405020304" pitchFamily="18" charset="0"/>
              </a:rPr>
              <a:t> </a:t>
            </a:r>
            <a:r>
              <a:rPr lang="en-US" altLang="en-US" sz="2000" dirty="0" err="1">
                <a:cs typeface="Times New Roman" panose="02020603050405020304" pitchFamily="18" charset="0"/>
              </a:rPr>
              <a:t>thông</a:t>
            </a:r>
            <a:r>
              <a:rPr lang="en-US" altLang="en-US" sz="2000" dirty="0">
                <a:cs typeface="Times New Roman" panose="02020603050405020304" pitchFamily="18" charset="0"/>
              </a:rPr>
              <a:t> tin </a:t>
            </a:r>
            <a:r>
              <a:rPr lang="en-US" altLang="en-US" sz="2000" dirty="0" err="1">
                <a:cs typeface="Times New Roman" panose="02020603050405020304" pitchFamily="18" charset="0"/>
              </a:rPr>
              <a:t>một</a:t>
            </a:r>
            <a:r>
              <a:rPr lang="en-US" altLang="en-US" sz="2000" dirty="0">
                <a:cs typeface="Times New Roman" panose="02020603050405020304" pitchFamily="18" charset="0"/>
              </a:rPr>
              <a:t> </a:t>
            </a: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hiệu</a:t>
            </a:r>
            <a:r>
              <a:rPr lang="en-US" altLang="en-US" sz="2000" dirty="0">
                <a:cs typeface="Times New Roman" panose="02020603050405020304" pitchFamily="18" charset="0"/>
              </a:rPr>
              <a:t> </a:t>
            </a:r>
            <a:r>
              <a:rPr lang="en-US" altLang="en-US" sz="2000" dirty="0" err="1">
                <a:cs typeface="Times New Roman" panose="02020603050405020304" pitchFamily="18" charset="0"/>
              </a:rPr>
              <a:t>quả</a:t>
            </a:r>
            <a:r>
              <a:rPr lang="en-US" altLang="en-US" sz="2000" dirty="0">
                <a:cs typeface="Times New Roman" panose="02020603050405020304" pitchFamily="18" charset="0"/>
              </a:rPr>
              <a:t> </a:t>
            </a:r>
            <a:r>
              <a:rPr lang="en-US" altLang="en-US" sz="2000" dirty="0" err="1">
                <a:cs typeface="Times New Roman" panose="02020603050405020304" pitchFamily="18" charset="0"/>
              </a:rPr>
              <a:t>nhất</a:t>
            </a:r>
            <a:r>
              <a:rPr lang="en-US" altLang="en-US" sz="2000" dirty="0">
                <a:cs typeface="Times New Roman" panose="02020603050405020304" pitchFamily="18" charset="0"/>
              </a:rPr>
              <a:t> (</a:t>
            </a:r>
            <a:r>
              <a:rPr lang="en-US" altLang="en-US" sz="2000" dirty="0" err="1">
                <a:cs typeface="Times New Roman" panose="02020603050405020304" pitchFamily="18" charset="0"/>
              </a:rPr>
              <a:t>tốn</a:t>
            </a:r>
            <a:r>
              <a:rPr lang="en-US" altLang="en-US" sz="2000" dirty="0">
                <a:cs typeface="Times New Roman" panose="02020603050405020304" pitchFamily="18" charset="0"/>
              </a:rPr>
              <a:t> </a:t>
            </a:r>
            <a:r>
              <a:rPr lang="en-US" altLang="en-US" sz="2000" dirty="0" err="1">
                <a:cs typeface="Times New Roman" panose="02020603050405020304" pitchFamily="18" charset="0"/>
              </a:rPr>
              <a:t>ít</a:t>
            </a:r>
            <a:r>
              <a:rPr lang="en-US" altLang="en-US" sz="2000" dirty="0">
                <a:cs typeface="Times New Roman" panose="02020603050405020304" pitchFamily="18" charset="0"/>
              </a:rPr>
              <a:t> </a:t>
            </a:r>
            <a:r>
              <a:rPr lang="en-US" altLang="en-US" sz="2000" dirty="0" err="1">
                <a:cs typeface="Times New Roman" panose="02020603050405020304" pitchFamily="18" charset="0"/>
              </a:rPr>
              <a:t>bộ</a:t>
            </a:r>
            <a:r>
              <a:rPr lang="en-US" altLang="en-US" sz="2000" dirty="0">
                <a:cs typeface="Times New Roman" panose="02020603050405020304" pitchFamily="18" charset="0"/>
              </a:rPr>
              <a:t> </a:t>
            </a:r>
            <a:r>
              <a:rPr lang="en-US" altLang="en-US" sz="2000" dirty="0" err="1">
                <a:cs typeface="Times New Roman" panose="02020603050405020304" pitchFamily="18" charset="0"/>
              </a:rPr>
              <a:t>nhớ</a:t>
            </a:r>
            <a:r>
              <a:rPr lang="en-US" altLang="en-US" sz="2000" dirty="0">
                <a:cs typeface="Times New Roman" panose="02020603050405020304" pitchFamily="18" charset="0"/>
              </a:rPr>
              <a:t> </a:t>
            </a:r>
            <a:r>
              <a:rPr lang="en-US" altLang="en-US" sz="2000" dirty="0" err="1">
                <a:cs typeface="Times New Roman" panose="02020603050405020304" pitchFamily="18" charset="0"/>
              </a:rPr>
              <a:t>và</a:t>
            </a:r>
            <a:r>
              <a:rPr lang="en-US" altLang="en-US" sz="2000" dirty="0">
                <a:cs typeface="Times New Roman" panose="02020603050405020304" pitchFamily="18" charset="0"/>
              </a:rPr>
              <a:t> </a:t>
            </a:r>
            <a:r>
              <a:rPr lang="en-US" altLang="en-US" sz="2000" dirty="0" err="1">
                <a:cs typeface="Times New Roman" panose="02020603050405020304" pitchFamily="18" charset="0"/>
              </a:rPr>
              <a:t>thời</a:t>
            </a:r>
            <a:r>
              <a:rPr lang="en-US" altLang="en-US" sz="2000" dirty="0">
                <a:cs typeface="Times New Roman" panose="02020603050405020304" pitchFamily="18" charset="0"/>
              </a:rPr>
              <a:t> </a:t>
            </a:r>
            <a:r>
              <a:rPr lang="en-US" altLang="en-US" sz="2000" dirty="0" err="1">
                <a:cs typeface="Times New Roman" panose="02020603050405020304" pitchFamily="18" charset="0"/>
              </a:rPr>
              <a:t>gian</a:t>
            </a:r>
            <a:r>
              <a:rPr lang="en-US" altLang="en-US" sz="2000" dirty="0">
                <a:cs typeface="Times New Roman" panose="02020603050405020304" pitchFamily="18" charset="0"/>
              </a:rPr>
              <a:t> </a:t>
            </a:r>
            <a:r>
              <a:rPr lang="en-US" altLang="en-US" sz="2000" dirty="0" err="1">
                <a:cs typeface="Times New Roman" panose="02020603050405020304" pitchFamily="18" charset="0"/>
              </a:rPr>
              <a:t>chạy</a:t>
            </a:r>
            <a:r>
              <a:rPr lang="en-US" altLang="en-US" sz="2000" dirty="0">
                <a:cs typeface="Times New Roman" panose="02020603050405020304" pitchFamily="18" charset="0"/>
              </a:rPr>
              <a:t> </a:t>
            </a:r>
            <a:r>
              <a:rPr lang="en-US" altLang="en-US" sz="2000" dirty="0" err="1">
                <a:cs typeface="Times New Roman" panose="02020603050405020304" pitchFamily="18" charset="0"/>
              </a:rPr>
              <a:t>nhanh</a:t>
            </a:r>
            <a:r>
              <a:rPr lang="en-US" altLang="en-US" sz="2000" dirty="0">
                <a:cs typeface="Times New Roman" panose="02020603050405020304" pitchFamily="18" charset="0"/>
              </a:rPr>
              <a:t> </a:t>
            </a:r>
            <a:r>
              <a:rPr lang="en-US" altLang="en-US" sz="2000" dirty="0" err="1">
                <a:cs typeface="Times New Roman" panose="02020603050405020304" pitchFamily="18" charset="0"/>
              </a:rPr>
              <a:t>nhất</a:t>
            </a:r>
            <a:r>
              <a:rPr lang="en-US" altLang="en-US" sz="2000" dirty="0">
                <a:cs typeface="Times New Roman" panose="02020603050405020304" pitchFamily="18" charset="0"/>
              </a:rPr>
              <a:t>)</a:t>
            </a:r>
          </a:p>
          <a:p>
            <a:pPr lvl="1" eaLnBrk="1" hangingPunct="1"/>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biểu</a:t>
            </a:r>
            <a:r>
              <a:rPr lang="en-US" altLang="en-US" sz="2000" dirty="0">
                <a:cs typeface="Times New Roman" panose="02020603050405020304" pitchFamily="18" charset="0"/>
              </a:rPr>
              <a:t> </a:t>
            </a:r>
            <a:r>
              <a:rPr lang="en-US" altLang="en-US" sz="2000" dirty="0" err="1">
                <a:cs typeface="Times New Roman" panose="02020603050405020304" pitchFamily="18" charset="0"/>
              </a:rPr>
              <a:t>thức</a:t>
            </a:r>
            <a:r>
              <a:rPr lang="en-US" altLang="en-US" sz="2000" dirty="0">
                <a:cs typeface="Times New Roman" panose="02020603050405020304" pitchFamily="18" charset="0"/>
              </a:rPr>
              <a:t>: </a:t>
            </a:r>
            <a:r>
              <a:rPr lang="en-US" altLang="en-US" sz="2000" dirty="0" err="1">
                <a:cs typeface="Times New Roman" panose="02020603050405020304" pitchFamily="18" charset="0"/>
              </a:rPr>
              <a:t>giúp</a:t>
            </a:r>
            <a:r>
              <a:rPr lang="en-US" altLang="en-US" sz="2000" dirty="0">
                <a:cs typeface="Times New Roman" panose="02020603050405020304" pitchFamily="18" charset="0"/>
              </a:rPr>
              <a:t> </a:t>
            </a:r>
            <a:r>
              <a:rPr lang="en-US" altLang="en-US" sz="2000" dirty="0" err="1">
                <a:cs typeface="Times New Roman" panose="02020603050405020304" pitchFamily="18" charset="0"/>
              </a:rPr>
              <a:t>thực</a:t>
            </a:r>
            <a:r>
              <a:rPr lang="en-US" altLang="en-US" sz="2000" dirty="0">
                <a:cs typeface="Times New Roman" panose="02020603050405020304" pitchFamily="18" charset="0"/>
              </a:rPr>
              <a:t> </a:t>
            </a:r>
            <a:r>
              <a:rPr lang="en-US" altLang="en-US" sz="2000" dirty="0" err="1">
                <a:cs typeface="Times New Roman" panose="02020603050405020304" pitchFamily="18" charset="0"/>
              </a:rPr>
              <a:t>hiện</a:t>
            </a:r>
            <a:r>
              <a:rPr lang="en-US" altLang="en-US" sz="2000" dirty="0">
                <a:cs typeface="Times New Roman" panose="02020603050405020304" pitchFamily="18" charset="0"/>
              </a:rPr>
              <a:t> </a:t>
            </a:r>
            <a:r>
              <a:rPr lang="en-US" altLang="en-US" sz="2000" dirty="0" err="1">
                <a:cs typeface="Times New Roman" panose="02020603050405020304" pitchFamily="18" charset="0"/>
              </a:rPr>
              <a:t>hàng</a:t>
            </a:r>
            <a:r>
              <a:rPr lang="en-US" altLang="en-US" sz="2000" dirty="0">
                <a:cs typeface="Times New Roman" panose="02020603050405020304" pitchFamily="18" charset="0"/>
              </a:rPr>
              <a:t> </a:t>
            </a:r>
            <a:r>
              <a:rPr lang="en-US" altLang="en-US" sz="2000" dirty="0" err="1">
                <a:cs typeface="Times New Roman" panose="02020603050405020304" pitchFamily="18" charset="0"/>
              </a:rPr>
              <a:t>loạt</a:t>
            </a:r>
            <a:r>
              <a:rPr lang="en-US" altLang="en-US" sz="2000" dirty="0">
                <a:cs typeface="Times New Roman" panose="02020603050405020304" pitchFamily="18" charset="0"/>
              </a:rPr>
              <a:t> </a:t>
            </a: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thao</a:t>
            </a:r>
            <a:r>
              <a:rPr lang="en-US" altLang="en-US" sz="2000" dirty="0">
                <a:cs typeface="Times New Roman" panose="02020603050405020304" pitchFamily="18" charset="0"/>
              </a:rPr>
              <a:t> </a:t>
            </a:r>
            <a:r>
              <a:rPr lang="en-US" altLang="en-US" sz="2000" dirty="0" err="1">
                <a:cs typeface="Times New Roman" panose="02020603050405020304" pitchFamily="18" charset="0"/>
              </a:rPr>
              <a:t>tác</a:t>
            </a:r>
            <a:r>
              <a:rPr lang="en-US" altLang="en-US" sz="2000" dirty="0">
                <a:cs typeface="Times New Roman" panose="02020603050405020304" pitchFamily="18" charset="0"/>
              </a:rPr>
              <a:t> </a:t>
            </a:r>
            <a:r>
              <a:rPr lang="en-US" altLang="en-US" sz="2000" dirty="0" err="1">
                <a:cs typeface="Times New Roman" panose="02020603050405020304" pitchFamily="18" charset="0"/>
              </a:rPr>
              <a:t>tính</a:t>
            </a:r>
            <a:r>
              <a:rPr lang="en-US" altLang="en-US" sz="2000" dirty="0">
                <a:cs typeface="Times New Roman" panose="02020603050405020304" pitchFamily="18" charset="0"/>
              </a:rPr>
              <a:t> </a:t>
            </a:r>
            <a:r>
              <a:rPr lang="en-US" altLang="en-US" sz="2000" dirty="0" err="1">
                <a:cs typeface="Times New Roman" panose="02020603050405020304" pitchFamily="18" charset="0"/>
              </a:rPr>
              <a:t>toán</a:t>
            </a:r>
            <a:r>
              <a:rPr lang="en-US" altLang="en-US" sz="2000" dirty="0">
                <a:cs typeface="Times New Roman" panose="02020603050405020304" pitchFamily="18" charset="0"/>
              </a:rPr>
              <a:t> </a:t>
            </a:r>
            <a:r>
              <a:rPr lang="en-US" altLang="en-US" sz="2000" dirty="0" err="1">
                <a:cs typeface="Times New Roman" panose="02020603050405020304" pitchFamily="18" charset="0"/>
              </a:rPr>
              <a:t>cơ</a:t>
            </a:r>
            <a:r>
              <a:rPr lang="en-US" altLang="en-US" sz="2000" dirty="0">
                <a:cs typeface="Times New Roman" panose="02020603050405020304" pitchFamily="18" charset="0"/>
              </a:rPr>
              <a:t> </a:t>
            </a:r>
            <a:r>
              <a:rPr lang="en-US" altLang="en-US" sz="2000" dirty="0" err="1">
                <a:cs typeface="Times New Roman" panose="02020603050405020304" pitchFamily="18" charset="0"/>
              </a:rPr>
              <a:t>bản</a:t>
            </a:r>
            <a:r>
              <a:rPr lang="en-US" altLang="en-US" sz="2000" dirty="0">
                <a:cs typeface="Times New Roman" panose="02020603050405020304" pitchFamily="18" charset="0"/>
              </a:rPr>
              <a:t> </a:t>
            </a:r>
            <a:r>
              <a:rPr lang="en-US" altLang="en-US" sz="2000" dirty="0" err="1">
                <a:cs typeface="Times New Roman" panose="02020603050405020304" pitchFamily="18" charset="0"/>
              </a:rPr>
              <a:t>cũng</a:t>
            </a:r>
            <a:r>
              <a:rPr lang="en-US" altLang="en-US" sz="2000" dirty="0">
                <a:cs typeface="Times New Roman" panose="02020603050405020304" pitchFamily="18" charset="0"/>
              </a:rPr>
              <a:t> </a:t>
            </a:r>
            <a:r>
              <a:rPr lang="en-US" altLang="en-US" sz="2000" dirty="0" err="1">
                <a:cs typeface="Times New Roman" panose="02020603050405020304" pitchFamily="18" charset="0"/>
              </a:rPr>
              <a:t>như</a:t>
            </a:r>
            <a:r>
              <a:rPr lang="en-US" altLang="en-US" sz="2000" dirty="0">
                <a:cs typeface="Times New Roman" panose="02020603050405020304" pitchFamily="18" charset="0"/>
              </a:rPr>
              <a:t> </a:t>
            </a:r>
            <a:r>
              <a:rPr lang="en-US" altLang="en-US" sz="2000" dirty="0" err="1">
                <a:cs typeface="Times New Roman" panose="02020603050405020304" pitchFamily="18" charset="0"/>
              </a:rPr>
              <a:t>phức</a:t>
            </a:r>
            <a:r>
              <a:rPr lang="en-US" altLang="en-US" sz="2000" dirty="0">
                <a:cs typeface="Times New Roman" panose="02020603050405020304" pitchFamily="18" charset="0"/>
              </a:rPr>
              <a:t> </a:t>
            </a:r>
            <a:r>
              <a:rPr lang="en-US" altLang="en-US" sz="2000" dirty="0" err="1">
                <a:cs typeface="Times New Roman" panose="02020603050405020304" pitchFamily="18" charset="0"/>
              </a:rPr>
              <a:t>tạp</a:t>
            </a:r>
            <a:r>
              <a:rPr lang="en-US" altLang="en-US" sz="2000" dirty="0">
                <a:cs typeface="Times New Roman" panose="02020603050405020304" pitchFamily="18" charset="0"/>
              </a:rPr>
              <a:t> (do </a:t>
            </a:r>
            <a:r>
              <a:rPr lang="en-US" altLang="en-US" sz="2000" dirty="0" err="1">
                <a:cs typeface="Times New Roman" panose="02020603050405020304" pitchFamily="18" charset="0"/>
              </a:rPr>
              <a:t>người</a:t>
            </a:r>
            <a:r>
              <a:rPr lang="en-US" altLang="en-US" sz="2000" dirty="0">
                <a:cs typeface="Times New Roman" panose="02020603050405020304" pitchFamily="18" charset="0"/>
              </a:rPr>
              <a:t> </a:t>
            </a:r>
            <a:r>
              <a:rPr lang="en-US" altLang="en-US" sz="2000" dirty="0" err="1">
                <a:cs typeface="Times New Roman" panose="02020603050405020304" pitchFamily="18" charset="0"/>
              </a:rPr>
              <a:t>dùng</a:t>
            </a:r>
            <a:r>
              <a:rPr lang="en-US" altLang="en-US" sz="2000" dirty="0">
                <a:cs typeface="Times New Roman" panose="02020603050405020304" pitchFamily="18" charset="0"/>
              </a:rPr>
              <a:t> </a:t>
            </a:r>
            <a:r>
              <a:rPr lang="en-US" altLang="en-US" sz="2000" dirty="0" err="1">
                <a:cs typeface="Times New Roman" panose="02020603050405020304" pitchFamily="18" charset="0"/>
              </a:rPr>
              <a:t>định</a:t>
            </a:r>
            <a:r>
              <a:rPr lang="en-US" altLang="en-US" sz="2000" dirty="0">
                <a:cs typeface="Times New Roman" panose="02020603050405020304" pitchFamily="18" charset="0"/>
              </a:rPr>
              <a:t> </a:t>
            </a:r>
            <a:r>
              <a:rPr lang="en-US" altLang="en-US" sz="2000" dirty="0" err="1">
                <a:cs typeface="Times New Roman" panose="02020603050405020304" pitchFamily="18" charset="0"/>
              </a:rPr>
              <a:t>nghĩa</a:t>
            </a:r>
            <a:r>
              <a:rPr lang="en-US" altLang="en-US" sz="2000" dirty="0">
                <a:cs typeface="Times New Roman" panose="02020603050405020304" pitchFamily="18" charset="0"/>
              </a:rPr>
              <a:t>)</a:t>
            </a:r>
          </a:p>
          <a:p>
            <a:pPr lvl="1" eaLnBrk="1" hangingPunct="1"/>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cân</a:t>
            </a:r>
            <a:r>
              <a:rPr lang="en-US" altLang="en-US" sz="2000" dirty="0">
                <a:cs typeface="Times New Roman" panose="02020603050405020304" pitchFamily="18" charset="0"/>
              </a:rPr>
              <a:t> </a:t>
            </a:r>
            <a:r>
              <a:rPr lang="en-US" altLang="en-US" sz="2000" dirty="0" err="1">
                <a:cs typeface="Times New Roman" panose="02020603050405020304" pitchFamily="18" charset="0"/>
              </a:rPr>
              <a:t>bằng</a:t>
            </a:r>
            <a:endParaRPr lang="en-US" altLang="en-US" sz="2000" dirty="0">
              <a:cs typeface="Times New Roman" panose="02020603050405020304" pitchFamily="18" charset="0"/>
            </a:endParaRPr>
          </a:p>
          <a:p>
            <a:pPr eaLnBrk="1" hangingPunct="1"/>
            <a:r>
              <a:rPr lang="en-US" altLang="en-US" sz="2400" dirty="0" err="1">
                <a:cs typeface="Times New Roman" panose="02020603050405020304" pitchFamily="18" charset="0"/>
              </a:rPr>
              <a:t>Một</a:t>
            </a:r>
            <a:r>
              <a:rPr lang="en-US" altLang="en-US" sz="2400" dirty="0">
                <a:cs typeface="Times New Roman" panose="02020603050405020304" pitchFamily="18" charset="0"/>
              </a:rPr>
              <a:t> </a:t>
            </a:r>
            <a:r>
              <a:rPr lang="en-US" altLang="en-US" sz="2400" dirty="0" err="1">
                <a:cs typeface="Times New Roman" panose="02020603050405020304" pitchFamily="18" charset="0"/>
              </a:rPr>
              <a:t>số</a:t>
            </a:r>
            <a:r>
              <a:rPr lang="en-US" altLang="en-US" sz="2400" dirty="0">
                <a:cs typeface="Times New Roman" panose="02020603050405020304" pitchFamily="18" charset="0"/>
              </a:rPr>
              <a:t> </a:t>
            </a:r>
            <a:r>
              <a:rPr lang="en-US" altLang="en-US" sz="2400" dirty="0" err="1">
                <a:cs typeface="Times New Roman" panose="02020603050405020304" pitchFamily="18" charset="0"/>
              </a:rPr>
              <a:t>ứng</a:t>
            </a:r>
            <a:r>
              <a:rPr lang="en-US" altLang="en-US" sz="2400" dirty="0">
                <a:cs typeface="Times New Roman" panose="02020603050405020304" pitchFamily="18" charset="0"/>
              </a:rPr>
              <a:t> </a:t>
            </a:r>
            <a:r>
              <a:rPr lang="en-US" altLang="en-US" sz="2400" dirty="0" err="1">
                <a:cs typeface="Times New Roman" panose="02020603050405020304" pitchFamily="18" charset="0"/>
              </a:rPr>
              <a:t>dụng</a:t>
            </a:r>
            <a:r>
              <a:rPr lang="en-US" altLang="en-US" sz="2400" dirty="0">
                <a:cs typeface="Times New Roman" panose="02020603050405020304" pitchFamily="18" charset="0"/>
              </a:rPr>
              <a:t> </a:t>
            </a:r>
            <a:r>
              <a:rPr lang="en-US" altLang="en-US" sz="2400" dirty="0" err="1">
                <a:cs typeface="Times New Roman" panose="02020603050405020304" pitchFamily="18" charset="0"/>
              </a:rPr>
              <a:t>khác</a:t>
            </a:r>
            <a:endParaRPr lang="en-US" altLang="en-US" sz="2400" dirty="0">
              <a:cs typeface="Times New Roman" panose="02020603050405020304" pitchFamily="18" charset="0"/>
            </a:endParaRPr>
          </a:p>
          <a:p>
            <a:pPr lvl="1" eaLnBrk="1" hangingPunct="1"/>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biểu</a:t>
            </a:r>
            <a:r>
              <a:rPr lang="en-US" altLang="en-US" sz="2000" dirty="0">
                <a:cs typeface="Times New Roman" panose="02020603050405020304" pitchFamily="18" charset="0"/>
              </a:rPr>
              <a:t> </a:t>
            </a:r>
            <a:r>
              <a:rPr lang="en-US" altLang="en-US" sz="2000" dirty="0" err="1">
                <a:cs typeface="Times New Roman" panose="02020603050405020304" pitchFamily="18" charset="0"/>
              </a:rPr>
              <a:t>diễn</a:t>
            </a:r>
            <a:r>
              <a:rPr lang="en-US" altLang="en-US" sz="2000" dirty="0">
                <a:cs typeface="Times New Roman" panose="02020603050405020304" pitchFamily="18" charset="0"/>
              </a:rPr>
              <a:t> </a:t>
            </a: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tập</a:t>
            </a:r>
            <a:r>
              <a:rPr lang="en-US" altLang="en-US" sz="2000" dirty="0">
                <a:cs typeface="Times New Roman" panose="02020603050405020304" pitchFamily="18" charset="0"/>
              </a:rPr>
              <a:t> </a:t>
            </a:r>
            <a:r>
              <a:rPr lang="en-US" altLang="en-US" sz="2000" dirty="0" err="1">
                <a:cs typeface="Times New Roman" panose="02020603050405020304" pitchFamily="18" charset="0"/>
              </a:rPr>
              <a:t>hợp</a:t>
            </a:r>
            <a:endParaRPr lang="en-US" altLang="en-US" sz="2000" dirty="0">
              <a:cs typeface="Times New Roman" panose="02020603050405020304" pitchFamily="18" charset="0"/>
            </a:endParaRPr>
          </a:p>
          <a:p>
            <a:pPr lvl="1" eaLnBrk="1" hangingPunct="1"/>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hỗ</a:t>
            </a:r>
            <a:r>
              <a:rPr lang="en-US" altLang="en-US" sz="2000" dirty="0">
                <a:cs typeface="Times New Roman" panose="02020603050405020304" pitchFamily="18" charset="0"/>
              </a:rPr>
              <a:t> </a:t>
            </a:r>
            <a:r>
              <a:rPr lang="en-US" altLang="en-US" sz="2000" dirty="0" err="1">
                <a:cs typeface="Times New Roman" panose="02020603050405020304" pitchFamily="18" charset="0"/>
              </a:rPr>
              <a:t>trợ</a:t>
            </a:r>
            <a:r>
              <a:rPr lang="en-US" altLang="en-US" sz="2000" dirty="0">
                <a:cs typeface="Times New Roman" panose="02020603050405020304" pitchFamily="18" charset="0"/>
              </a:rPr>
              <a:t> </a:t>
            </a:r>
            <a:r>
              <a:rPr lang="en-US" altLang="en-US" sz="2000" dirty="0" err="1">
                <a:cs typeface="Times New Roman" panose="02020603050405020304" pitchFamily="18" charset="0"/>
              </a:rPr>
              <a:t>ra</a:t>
            </a:r>
            <a:r>
              <a:rPr lang="en-US" altLang="en-US" sz="2000" dirty="0">
                <a:cs typeface="Times New Roman" panose="02020603050405020304" pitchFamily="18" charset="0"/>
              </a:rPr>
              <a:t> </a:t>
            </a:r>
            <a:r>
              <a:rPr lang="en-US" altLang="en-US" sz="2000" dirty="0" err="1">
                <a:cs typeface="Times New Roman" panose="02020603050405020304" pitchFamily="18" charset="0"/>
              </a:rPr>
              <a:t>quyết</a:t>
            </a:r>
            <a:r>
              <a:rPr lang="en-US" altLang="en-US" sz="2000" dirty="0">
                <a:cs typeface="Times New Roman" panose="02020603050405020304" pitchFamily="18" charset="0"/>
              </a:rPr>
              <a:t> </a:t>
            </a:r>
            <a:r>
              <a:rPr lang="en-US" altLang="en-US" sz="2000" dirty="0" err="1">
                <a:cs typeface="Times New Roman" panose="02020603050405020304" pitchFamily="18" charset="0"/>
              </a:rPr>
              <a:t>định</a:t>
            </a:r>
            <a:r>
              <a:rPr lang="en-US" altLang="en-US" sz="2000" dirty="0">
                <a:cs typeface="Times New Roman" panose="02020603050405020304" pitchFamily="18" charset="0"/>
              </a:rPr>
              <a:t>: decision tree</a:t>
            </a:r>
          </a:p>
          <a:p>
            <a:pPr lvl="1" eaLnBrk="1" hangingPunct="1"/>
            <a:endParaRPr lang="en-US" altLang="en-US" sz="2000" dirty="0">
              <a:cs typeface="Times New Roman" panose="02020603050405020304" pitchFamily="18" charset="0"/>
            </a:endParaRPr>
          </a:p>
        </p:txBody>
      </p:sp>
    </p:spTree>
    <p:extLst>
      <p:ext uri="{BB962C8B-B14F-4D97-AF65-F5344CB8AC3E}">
        <p14:creationId xmlns:p14="http://schemas.microsoft.com/office/powerpoint/2010/main" val="3569684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32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32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632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6325">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6325">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632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8" name="Rectangle 2"/>
          <p:cNvSpPr>
            <a:spLocks noGrp="1" noChangeArrowheads="1"/>
          </p:cNvSpPr>
          <p:nvPr>
            <p:ph type="title"/>
          </p:nvPr>
        </p:nvSpPr>
        <p:spPr/>
        <p:txBody>
          <a:bodyPr/>
          <a:lstStyle/>
          <a:p>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biểu</a:t>
            </a:r>
            <a:r>
              <a:rPr lang="en-US" altLang="en-US" sz="2000" dirty="0">
                <a:cs typeface="Times New Roman" panose="02020603050405020304" pitchFamily="18" charset="0"/>
              </a:rPr>
              <a:t> </a:t>
            </a:r>
            <a:r>
              <a:rPr lang="en-US" altLang="en-US" sz="2000" dirty="0" err="1">
                <a:cs typeface="Times New Roman" panose="02020603050405020304" pitchFamily="18" charset="0"/>
              </a:rPr>
              <a:t>thức</a:t>
            </a:r>
            <a:endParaRPr lang="en-US" altLang="en-US" sz="2000" dirty="0">
              <a:cs typeface="Times New Roman" panose="02020603050405020304" pitchFamily="18" charset="0"/>
            </a:endParaRPr>
          </a:p>
        </p:txBody>
      </p:sp>
      <p:sp>
        <p:nvSpPr>
          <p:cNvPr id="57349" name="Rectangle 3"/>
          <p:cNvSpPr>
            <a:spLocks noGrp="1" noChangeArrowheads="1"/>
          </p:cNvSpPr>
          <p:nvPr>
            <p:ph type="body" sz="quarter" idx="13"/>
          </p:nvPr>
        </p:nvSpPr>
        <p:spPr>
          <a:noFill/>
        </p:spPr>
        <p:txBody>
          <a:bodyPr>
            <a:normAutofit/>
          </a:bodyPr>
          <a:lstStyle/>
          <a:p>
            <a:pPr eaLnBrk="1" hangingPunct="1"/>
            <a:r>
              <a:rPr lang="en-US" altLang="en-US" sz="2400" dirty="0" err="1">
                <a:cs typeface="Times New Roman" panose="02020603050405020304" pitchFamily="18" charset="0"/>
              </a:rPr>
              <a:t>Cây</a:t>
            </a:r>
            <a:r>
              <a:rPr lang="en-US" altLang="en-US" sz="2400" dirty="0">
                <a:cs typeface="Times New Roman" panose="02020603050405020304" pitchFamily="18" charset="0"/>
              </a:rPr>
              <a:t> </a:t>
            </a:r>
            <a:r>
              <a:rPr lang="en-US" altLang="en-US" sz="2400" dirty="0" err="1">
                <a:cs typeface="Times New Roman" panose="02020603050405020304" pitchFamily="18" charset="0"/>
              </a:rPr>
              <a:t>biểu</a:t>
            </a:r>
            <a:r>
              <a:rPr lang="en-US" altLang="en-US" sz="2400" dirty="0">
                <a:cs typeface="Times New Roman" panose="02020603050405020304" pitchFamily="18" charset="0"/>
              </a:rPr>
              <a:t> </a:t>
            </a:r>
            <a:r>
              <a:rPr lang="en-US" altLang="en-US" sz="2400" dirty="0" err="1">
                <a:cs typeface="Times New Roman" panose="02020603050405020304" pitchFamily="18" charset="0"/>
              </a:rPr>
              <a:t>thức</a:t>
            </a:r>
            <a:endParaRPr lang="en-US" altLang="en-US" sz="2400" dirty="0">
              <a:cs typeface="Times New Roman" panose="02020603050405020304" pitchFamily="18" charset="0"/>
            </a:endParaRPr>
          </a:p>
          <a:p>
            <a:pPr lvl="1" eaLnBrk="1" hangingPunct="1"/>
            <a:r>
              <a:rPr lang="en-US" altLang="en-US" sz="2000" dirty="0" err="1">
                <a:cs typeface="Times New Roman" panose="02020603050405020304" pitchFamily="18" charset="0"/>
              </a:rPr>
              <a:t>Biểu</a:t>
            </a:r>
            <a:r>
              <a:rPr lang="en-US" altLang="en-US" sz="2000" dirty="0">
                <a:cs typeface="Times New Roman" panose="02020603050405020304" pitchFamily="18" charset="0"/>
              </a:rPr>
              <a:t> </a:t>
            </a:r>
            <a:r>
              <a:rPr lang="en-US" altLang="en-US" sz="2000" dirty="0" err="1">
                <a:cs typeface="Times New Roman" panose="02020603050405020304" pitchFamily="18" charset="0"/>
              </a:rPr>
              <a:t>diễn</a:t>
            </a:r>
            <a:r>
              <a:rPr lang="en-US" altLang="en-US" sz="2000" dirty="0">
                <a:cs typeface="Times New Roman" panose="02020603050405020304" pitchFamily="18" charset="0"/>
              </a:rPr>
              <a:t> </a:t>
            </a:r>
            <a:r>
              <a:rPr lang="en-US" altLang="en-US" sz="2000" dirty="0" err="1">
                <a:cs typeface="Times New Roman" panose="02020603050405020304" pitchFamily="18" charset="0"/>
              </a:rPr>
              <a:t>biểu</a:t>
            </a:r>
            <a:r>
              <a:rPr lang="en-US" altLang="en-US" sz="2000" dirty="0">
                <a:cs typeface="Times New Roman" panose="02020603050405020304" pitchFamily="18" charset="0"/>
              </a:rPr>
              <a:t> </a:t>
            </a:r>
            <a:r>
              <a:rPr lang="en-US" altLang="en-US" sz="2000" dirty="0" err="1">
                <a:cs typeface="Times New Roman" panose="02020603050405020304" pitchFamily="18" charset="0"/>
              </a:rPr>
              <a:t>thức</a:t>
            </a:r>
            <a:endParaRPr lang="en-US" altLang="en-US" sz="2000" dirty="0">
              <a:cs typeface="Times New Roman" panose="02020603050405020304" pitchFamily="18" charset="0"/>
            </a:endParaRPr>
          </a:p>
          <a:p>
            <a:pPr lvl="2" eaLnBrk="1" hangingPunct="1"/>
            <a:r>
              <a:rPr lang="en-US" altLang="en-US" sz="2000" dirty="0" err="1">
                <a:cs typeface="Times New Roman" panose="02020603050405020304" pitchFamily="18" charset="0"/>
              </a:rPr>
              <a:t>Biểu</a:t>
            </a:r>
            <a:r>
              <a:rPr lang="en-US" altLang="en-US" sz="2000" dirty="0">
                <a:cs typeface="Times New Roman" panose="02020603050405020304" pitchFamily="18" charset="0"/>
              </a:rPr>
              <a:t> </a:t>
            </a:r>
            <a:r>
              <a:rPr lang="en-US" altLang="en-US" sz="2000" dirty="0" err="1">
                <a:cs typeface="Times New Roman" panose="02020603050405020304" pitchFamily="18" charset="0"/>
              </a:rPr>
              <a:t>thức</a:t>
            </a:r>
            <a:r>
              <a:rPr lang="en-US" altLang="en-US" sz="2000" dirty="0">
                <a:cs typeface="Times New Roman" panose="02020603050405020304" pitchFamily="18" charset="0"/>
              </a:rPr>
              <a:t> = </a:t>
            </a:r>
            <a:r>
              <a:rPr lang="en-US" altLang="en-US" sz="2000" dirty="0" err="1">
                <a:cs typeface="Times New Roman" panose="02020603050405020304" pitchFamily="18" charset="0"/>
              </a:rPr>
              <a:t>Biểu</a:t>
            </a:r>
            <a:r>
              <a:rPr lang="en-US" altLang="en-US" sz="2000" dirty="0">
                <a:cs typeface="Times New Roman" panose="02020603050405020304" pitchFamily="18" charset="0"/>
              </a:rPr>
              <a:t> </a:t>
            </a:r>
            <a:r>
              <a:rPr lang="en-US" altLang="en-US" sz="2000" dirty="0" err="1">
                <a:cs typeface="Times New Roman" panose="02020603050405020304" pitchFamily="18" charset="0"/>
              </a:rPr>
              <a:t>thức</a:t>
            </a:r>
            <a:r>
              <a:rPr lang="en-US" altLang="en-US" sz="2000" dirty="0">
                <a:cs typeface="Times New Roman" panose="02020603050405020304" pitchFamily="18" charset="0"/>
              </a:rPr>
              <a:t> &lt;</a:t>
            </a:r>
            <a:r>
              <a:rPr lang="en-US" altLang="en-US" sz="2000" dirty="0" err="1">
                <a:cs typeface="Times New Roman" panose="02020603050405020304" pitchFamily="18" charset="0"/>
              </a:rPr>
              <a:t>Phép</a:t>
            </a:r>
            <a:r>
              <a:rPr lang="en-US" altLang="en-US" sz="2000" dirty="0">
                <a:cs typeface="Times New Roman" panose="02020603050405020304" pitchFamily="18" charset="0"/>
              </a:rPr>
              <a:t> </a:t>
            </a:r>
            <a:r>
              <a:rPr lang="en-US" altLang="en-US" sz="2000" dirty="0" err="1">
                <a:cs typeface="Times New Roman" panose="02020603050405020304" pitchFamily="18" charset="0"/>
              </a:rPr>
              <a:t>toán</a:t>
            </a:r>
            <a:r>
              <a:rPr lang="en-US" altLang="en-US" sz="2000" dirty="0">
                <a:cs typeface="Times New Roman" panose="02020603050405020304" pitchFamily="18" charset="0"/>
              </a:rPr>
              <a:t>&gt; </a:t>
            </a:r>
            <a:r>
              <a:rPr lang="en-US" altLang="en-US" sz="2000" dirty="0" err="1">
                <a:cs typeface="Times New Roman" panose="02020603050405020304" pitchFamily="18" charset="0"/>
              </a:rPr>
              <a:t>Biểu</a:t>
            </a:r>
            <a:r>
              <a:rPr lang="en-US" altLang="en-US" sz="2000" dirty="0">
                <a:cs typeface="Times New Roman" panose="02020603050405020304" pitchFamily="18" charset="0"/>
              </a:rPr>
              <a:t> </a:t>
            </a:r>
            <a:r>
              <a:rPr lang="en-US" altLang="en-US" sz="2000" dirty="0" err="1">
                <a:cs typeface="Times New Roman" panose="02020603050405020304" pitchFamily="18" charset="0"/>
              </a:rPr>
              <a:t>thức</a:t>
            </a:r>
            <a:endParaRPr lang="en-US" altLang="en-US" sz="2000" dirty="0">
              <a:cs typeface="Times New Roman" panose="02020603050405020304" pitchFamily="18" charset="0"/>
            </a:endParaRPr>
          </a:p>
          <a:p>
            <a:pPr lvl="2" eaLnBrk="1" hangingPunct="1"/>
            <a:r>
              <a:rPr lang="en-US" altLang="en-US" sz="2000" dirty="0" err="1">
                <a:cs typeface="Times New Roman" panose="02020603050405020304" pitchFamily="18" charset="0"/>
              </a:rPr>
              <a:t>Đặc</a:t>
            </a:r>
            <a:r>
              <a:rPr lang="en-US" altLang="en-US" sz="2000" dirty="0">
                <a:cs typeface="Times New Roman" panose="02020603050405020304" pitchFamily="18" charset="0"/>
              </a:rPr>
              <a:t> </a:t>
            </a:r>
            <a:r>
              <a:rPr lang="en-US" altLang="en-US" sz="2000" dirty="0" err="1">
                <a:cs typeface="Times New Roman" panose="02020603050405020304" pitchFamily="18" charset="0"/>
              </a:rPr>
              <a:t>biệt</a:t>
            </a:r>
            <a:r>
              <a:rPr lang="en-US" altLang="en-US" sz="2000" dirty="0">
                <a:cs typeface="Times New Roman" panose="02020603050405020304" pitchFamily="18" charset="0"/>
              </a:rPr>
              <a:t>: </a:t>
            </a:r>
            <a:r>
              <a:rPr lang="en-US" altLang="en-US" sz="2000" dirty="0" err="1">
                <a:cs typeface="Times New Roman" panose="02020603050405020304" pitchFamily="18" charset="0"/>
              </a:rPr>
              <a:t>Biểu</a:t>
            </a:r>
            <a:r>
              <a:rPr lang="en-US" altLang="en-US" sz="2000" dirty="0">
                <a:cs typeface="Times New Roman" panose="02020603050405020304" pitchFamily="18" charset="0"/>
              </a:rPr>
              <a:t> </a:t>
            </a:r>
            <a:r>
              <a:rPr lang="en-US" altLang="en-US" sz="2000" dirty="0" err="1">
                <a:cs typeface="Times New Roman" panose="02020603050405020304" pitchFamily="18" charset="0"/>
              </a:rPr>
              <a:t>thức</a:t>
            </a:r>
            <a:r>
              <a:rPr lang="en-US" altLang="en-US" sz="2000" dirty="0">
                <a:cs typeface="Times New Roman" panose="02020603050405020304" pitchFamily="18" charset="0"/>
              </a:rPr>
              <a:t> = </a:t>
            </a:r>
            <a:r>
              <a:rPr lang="en-US" altLang="en-US" sz="2000" dirty="0" err="1">
                <a:cs typeface="Times New Roman" panose="02020603050405020304" pitchFamily="18" charset="0"/>
              </a:rPr>
              <a:t>const</a:t>
            </a:r>
            <a:endParaRPr lang="en-US" altLang="en-US" sz="2000" dirty="0">
              <a:cs typeface="Times New Roman" panose="02020603050405020304" pitchFamily="18" charset="0"/>
            </a:endParaRPr>
          </a:p>
          <a:p>
            <a:pPr lvl="2" eaLnBrk="1" hangingPunct="1"/>
            <a:r>
              <a:rPr lang="en-US" altLang="en-US" sz="2000" dirty="0" err="1">
                <a:cs typeface="Times New Roman" panose="02020603050405020304" pitchFamily="18" charset="0"/>
              </a:rPr>
              <a:t>Phép</a:t>
            </a:r>
            <a:r>
              <a:rPr lang="en-US" altLang="en-US" sz="2000" dirty="0">
                <a:cs typeface="Times New Roman" panose="02020603050405020304" pitchFamily="18" charset="0"/>
              </a:rPr>
              <a:t> </a:t>
            </a:r>
            <a:r>
              <a:rPr lang="en-US" altLang="en-US" sz="2000" dirty="0" err="1">
                <a:cs typeface="Times New Roman" panose="02020603050405020304" pitchFamily="18" charset="0"/>
              </a:rPr>
              <a:t>toán</a:t>
            </a:r>
            <a:r>
              <a:rPr lang="en-US" altLang="en-US" sz="2000" dirty="0">
                <a:cs typeface="Times New Roman" panose="02020603050405020304" pitchFamily="18" charset="0"/>
              </a:rPr>
              <a:t>: +, / , *, -, </a:t>
            </a:r>
            <a:r>
              <a:rPr lang="en-US" altLang="en-US" sz="2000" dirty="0" err="1">
                <a:cs typeface="Times New Roman" panose="02020603050405020304" pitchFamily="18" charset="0"/>
              </a:rPr>
              <a:t>exp</a:t>
            </a:r>
            <a:r>
              <a:rPr lang="en-US" altLang="en-US" sz="2000" dirty="0">
                <a:cs typeface="Times New Roman" panose="02020603050405020304" pitchFamily="18" charset="0"/>
              </a:rPr>
              <a:t>, !, ...</a:t>
            </a:r>
          </a:p>
          <a:p>
            <a:pPr lvl="1" eaLnBrk="1" hangingPunct="1"/>
            <a:r>
              <a:rPr lang="en-US" altLang="en-US" sz="2000" dirty="0" err="1">
                <a:cs typeface="Times New Roman" panose="02020603050405020304" pitchFamily="18" charset="0"/>
              </a:rPr>
              <a:t>Dùng</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nhị</a:t>
            </a:r>
            <a:r>
              <a:rPr lang="en-US" altLang="en-US" sz="2000" dirty="0">
                <a:cs typeface="Times New Roman" panose="02020603050405020304" pitchFamily="18" charset="0"/>
              </a:rPr>
              <a:t> </a:t>
            </a:r>
            <a:r>
              <a:rPr lang="en-US" altLang="en-US" sz="2000" dirty="0" err="1">
                <a:cs typeface="Times New Roman" panose="02020603050405020304" pitchFamily="18" charset="0"/>
              </a:rPr>
              <a:t>phân</a:t>
            </a:r>
            <a:endParaRPr lang="en-US" altLang="en-US" sz="2000" dirty="0">
              <a:cs typeface="Times New Roman" panose="02020603050405020304" pitchFamily="18" charset="0"/>
            </a:endParaRPr>
          </a:p>
          <a:p>
            <a:pPr lvl="2" eaLnBrk="1" hangingPunct="1"/>
            <a:r>
              <a:rPr lang="en-US" altLang="en-US" sz="2000" dirty="0" err="1">
                <a:cs typeface="Times New Roman" panose="02020603050405020304" pitchFamily="18" charset="0"/>
              </a:rPr>
              <a:t>Gốc</a:t>
            </a:r>
            <a:r>
              <a:rPr lang="en-US" altLang="en-US" sz="2000" dirty="0">
                <a:cs typeface="Times New Roman" panose="02020603050405020304" pitchFamily="18" charset="0"/>
              </a:rPr>
              <a:t>: </a:t>
            </a:r>
            <a:r>
              <a:rPr lang="en-US" altLang="en-US" sz="2000" dirty="0" err="1">
                <a:cs typeface="Times New Roman" panose="02020603050405020304" pitchFamily="18" charset="0"/>
              </a:rPr>
              <a:t>phép</a:t>
            </a:r>
            <a:r>
              <a:rPr lang="en-US" altLang="en-US" sz="2000" dirty="0">
                <a:cs typeface="Times New Roman" panose="02020603050405020304" pitchFamily="18" charset="0"/>
              </a:rPr>
              <a:t> </a:t>
            </a:r>
            <a:r>
              <a:rPr lang="en-US" altLang="en-US" sz="2000" dirty="0" err="1">
                <a:cs typeface="Times New Roman" panose="02020603050405020304" pitchFamily="18" charset="0"/>
              </a:rPr>
              <a:t>toán</a:t>
            </a:r>
            <a:endParaRPr lang="en-US" altLang="en-US" sz="2000" dirty="0">
              <a:cs typeface="Times New Roman" panose="02020603050405020304" pitchFamily="18" charset="0"/>
            </a:endParaRPr>
          </a:p>
          <a:p>
            <a:pPr lvl="2" eaLnBrk="1" hangingPunct="1"/>
            <a:r>
              <a:rPr lang="en-US" altLang="en-US" sz="2000" dirty="0" err="1">
                <a:cs typeface="Times New Roman" panose="02020603050405020304" pitchFamily="18" charset="0"/>
              </a:rPr>
              <a:t>Lá</a:t>
            </a:r>
            <a:r>
              <a:rPr lang="en-US" altLang="en-US" sz="2000" dirty="0">
                <a:cs typeface="Times New Roman" panose="02020603050405020304" pitchFamily="18" charset="0"/>
              </a:rPr>
              <a:t>: </a:t>
            </a:r>
            <a:r>
              <a:rPr lang="en-US" altLang="en-US" sz="2000" dirty="0" err="1">
                <a:cs typeface="Times New Roman" panose="02020603050405020304" pitchFamily="18" charset="0"/>
              </a:rPr>
              <a:t>toán</a:t>
            </a:r>
            <a:r>
              <a:rPr lang="en-US" altLang="en-US" sz="2000" dirty="0">
                <a:cs typeface="Times New Roman" panose="02020603050405020304" pitchFamily="18" charset="0"/>
              </a:rPr>
              <a:t> </a:t>
            </a:r>
            <a:r>
              <a:rPr lang="en-US" altLang="en-US" sz="2000" dirty="0" err="1">
                <a:cs typeface="Times New Roman" panose="02020603050405020304" pitchFamily="18" charset="0"/>
              </a:rPr>
              <a:t>hạng</a:t>
            </a:r>
            <a:endParaRPr lang="en-US" altLang="en-US" sz="2000" dirty="0">
              <a:cs typeface="Times New Roman" panose="02020603050405020304" pitchFamily="18" charset="0"/>
            </a:endParaRPr>
          </a:p>
          <a:p>
            <a:pPr lvl="1" eaLnBrk="1" hangingPunct="1"/>
            <a:r>
              <a:rPr lang="en-US" altLang="en-US" sz="2000" dirty="0" err="1">
                <a:cs typeface="Times New Roman" panose="02020603050405020304" pitchFamily="18" charset="0"/>
              </a:rPr>
              <a:t>Nhận</a:t>
            </a:r>
            <a:r>
              <a:rPr lang="en-US" altLang="en-US" sz="2000" dirty="0">
                <a:cs typeface="Times New Roman" panose="02020603050405020304" pitchFamily="18" charset="0"/>
              </a:rPr>
              <a:t> </a:t>
            </a:r>
            <a:r>
              <a:rPr lang="en-US" altLang="en-US" sz="2000" dirty="0" err="1">
                <a:cs typeface="Times New Roman" panose="02020603050405020304" pitchFamily="18" charset="0"/>
              </a:rPr>
              <a:t>xét</a:t>
            </a:r>
            <a:r>
              <a:rPr lang="en-US" altLang="en-US" sz="2000" dirty="0">
                <a:cs typeface="Times New Roman" panose="02020603050405020304" pitchFamily="18" charset="0"/>
              </a:rPr>
              <a:t>:</a:t>
            </a:r>
          </a:p>
          <a:p>
            <a:pPr lvl="2" eaLnBrk="1" hangingPunct="1"/>
            <a:r>
              <a:rPr lang="en-US" altLang="en-US" sz="2000" dirty="0" err="1">
                <a:cs typeface="Times New Roman" panose="02020603050405020304" pitchFamily="18" charset="0"/>
              </a:rPr>
              <a:t>Duyệt</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theo</a:t>
            </a:r>
            <a:r>
              <a:rPr lang="en-US" altLang="en-US" sz="2000" dirty="0">
                <a:cs typeface="Times New Roman" panose="02020603050405020304" pitchFamily="18" charset="0"/>
              </a:rPr>
              <a:t> Preorder =&gt; </a:t>
            </a:r>
            <a:r>
              <a:rPr lang="en-US" altLang="en-US" sz="2000" dirty="0" err="1">
                <a:cs typeface="Times New Roman" panose="02020603050405020304" pitchFamily="18" charset="0"/>
              </a:rPr>
              <a:t>biểu</a:t>
            </a:r>
            <a:r>
              <a:rPr lang="en-US" altLang="en-US" sz="2000" dirty="0">
                <a:cs typeface="Times New Roman" panose="02020603050405020304" pitchFamily="18" charset="0"/>
              </a:rPr>
              <a:t> </a:t>
            </a:r>
            <a:r>
              <a:rPr lang="en-US" altLang="en-US" sz="2000" dirty="0" err="1">
                <a:cs typeface="Times New Roman" panose="02020603050405020304" pitchFamily="18" charset="0"/>
              </a:rPr>
              <a:t>thức</a:t>
            </a:r>
            <a:r>
              <a:rPr lang="en-US" altLang="en-US" sz="2000" dirty="0">
                <a:cs typeface="Times New Roman" panose="02020603050405020304" pitchFamily="18" charset="0"/>
              </a:rPr>
              <a:t> prefix</a:t>
            </a:r>
          </a:p>
          <a:p>
            <a:pPr lvl="2" eaLnBrk="1" hangingPunct="1"/>
            <a:r>
              <a:rPr lang="en-US" altLang="en-US" sz="2000" dirty="0" err="1">
                <a:cs typeface="Times New Roman" panose="02020603050405020304" pitchFamily="18" charset="0"/>
              </a:rPr>
              <a:t>Duyệt</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theo</a:t>
            </a:r>
            <a:r>
              <a:rPr lang="en-US" altLang="en-US" sz="2000" dirty="0">
                <a:cs typeface="Times New Roman" panose="02020603050405020304" pitchFamily="18" charset="0"/>
              </a:rPr>
              <a:t> </a:t>
            </a:r>
            <a:r>
              <a:rPr lang="en-US" altLang="en-US" sz="2000" dirty="0" err="1">
                <a:cs typeface="Times New Roman" panose="02020603050405020304" pitchFamily="18" charset="0"/>
              </a:rPr>
              <a:t>Postorder</a:t>
            </a:r>
            <a:r>
              <a:rPr lang="en-US" altLang="en-US" sz="2000" dirty="0">
                <a:cs typeface="Times New Roman" panose="02020603050405020304" pitchFamily="18" charset="0"/>
              </a:rPr>
              <a:t> =&gt; </a:t>
            </a:r>
            <a:r>
              <a:rPr lang="en-US" altLang="en-US" sz="2000" dirty="0" err="1">
                <a:cs typeface="Times New Roman" panose="02020603050405020304" pitchFamily="18" charset="0"/>
              </a:rPr>
              <a:t>biểu</a:t>
            </a:r>
            <a:r>
              <a:rPr lang="en-US" altLang="en-US" sz="2000" dirty="0">
                <a:cs typeface="Times New Roman" panose="02020603050405020304" pitchFamily="18" charset="0"/>
              </a:rPr>
              <a:t> </a:t>
            </a:r>
            <a:r>
              <a:rPr lang="en-US" altLang="en-US" sz="2000" dirty="0" err="1">
                <a:cs typeface="Times New Roman" panose="02020603050405020304" pitchFamily="18" charset="0"/>
              </a:rPr>
              <a:t>thức</a:t>
            </a:r>
            <a:r>
              <a:rPr lang="en-US" altLang="en-US" sz="2000" dirty="0">
                <a:cs typeface="Times New Roman" panose="02020603050405020304" pitchFamily="18" charset="0"/>
              </a:rPr>
              <a:t> postfix</a:t>
            </a:r>
          </a:p>
          <a:p>
            <a:pPr lvl="2" eaLnBrk="1" hangingPunct="1"/>
            <a:r>
              <a:rPr lang="en-US" altLang="en-US" sz="2000" dirty="0" err="1">
                <a:cs typeface="Times New Roman" panose="02020603050405020304" pitchFamily="18" charset="0"/>
              </a:rPr>
              <a:t>Duyệt</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a:t>
            </a:r>
            <a:r>
              <a:rPr lang="en-US" altLang="en-US" sz="2000" dirty="0" err="1">
                <a:cs typeface="Times New Roman" panose="02020603050405020304" pitchFamily="18" charset="0"/>
              </a:rPr>
              <a:t>theo</a:t>
            </a:r>
            <a:r>
              <a:rPr lang="en-US" altLang="en-US" sz="2000" dirty="0">
                <a:cs typeface="Times New Roman" panose="02020603050405020304" pitchFamily="18" charset="0"/>
              </a:rPr>
              <a:t> </a:t>
            </a:r>
            <a:r>
              <a:rPr lang="en-US" altLang="en-US" sz="2000" dirty="0" err="1">
                <a:cs typeface="Times New Roman" panose="02020603050405020304" pitchFamily="18" charset="0"/>
              </a:rPr>
              <a:t>Inorder</a:t>
            </a:r>
            <a:r>
              <a:rPr lang="en-US" altLang="en-US" sz="2000" dirty="0">
                <a:cs typeface="Times New Roman" panose="02020603050405020304" pitchFamily="18" charset="0"/>
              </a:rPr>
              <a:t> =&gt; </a:t>
            </a:r>
            <a:r>
              <a:rPr lang="en-US" altLang="en-US" sz="2000" dirty="0" err="1">
                <a:cs typeface="Times New Roman" panose="02020603050405020304" pitchFamily="18" charset="0"/>
              </a:rPr>
              <a:t>biểu</a:t>
            </a:r>
            <a:r>
              <a:rPr lang="en-US" altLang="en-US" sz="2000" dirty="0">
                <a:cs typeface="Times New Roman" panose="02020603050405020304" pitchFamily="18" charset="0"/>
              </a:rPr>
              <a:t> </a:t>
            </a:r>
            <a:r>
              <a:rPr lang="en-US" altLang="en-US" sz="2000" dirty="0" err="1">
                <a:cs typeface="Times New Roman" panose="02020603050405020304" pitchFamily="18" charset="0"/>
              </a:rPr>
              <a:t>thức</a:t>
            </a:r>
            <a:r>
              <a:rPr lang="en-US" altLang="en-US" sz="2000" dirty="0">
                <a:cs typeface="Times New Roman" panose="02020603050405020304" pitchFamily="18" charset="0"/>
              </a:rPr>
              <a:t> infix</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0473" y="2057400"/>
            <a:ext cx="2838450" cy="1847850"/>
          </a:xfrm>
          <a:prstGeom prst="rect">
            <a:avLst/>
          </a:prstGeom>
        </p:spPr>
      </p:pic>
    </p:spTree>
    <p:extLst>
      <p:ext uri="{BB962C8B-B14F-4D97-AF65-F5344CB8AC3E}">
        <p14:creationId xmlns:p14="http://schemas.microsoft.com/office/powerpoint/2010/main" val="2406338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349">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7349">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7349">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7349">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7349">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7349">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734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8" name="Rectangle 2"/>
          <p:cNvSpPr>
            <a:spLocks noGrp="1" noChangeArrowheads="1"/>
          </p:cNvSpPr>
          <p:nvPr>
            <p:ph type="title"/>
          </p:nvPr>
        </p:nvSpPr>
        <p:spPr/>
        <p:txBody>
          <a:bodyPr/>
          <a:lstStyle/>
          <a:p>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biểu</a:t>
            </a:r>
            <a:r>
              <a:rPr lang="en-US" altLang="en-US" dirty="0">
                <a:cs typeface="Times New Roman" panose="02020603050405020304" pitchFamily="18" charset="0"/>
              </a:rPr>
              <a:t> </a:t>
            </a:r>
            <a:r>
              <a:rPr lang="en-US" altLang="en-US" dirty="0" err="1">
                <a:cs typeface="Times New Roman" panose="02020603050405020304" pitchFamily="18" charset="0"/>
              </a:rPr>
              <a:t>thức</a:t>
            </a:r>
            <a:endParaRPr lang="en-US" altLang="en-US" dirty="0"/>
          </a:p>
        </p:txBody>
      </p:sp>
      <p:sp>
        <p:nvSpPr>
          <p:cNvPr id="57349" name="Rectangle 3"/>
          <p:cNvSpPr>
            <a:spLocks noGrp="1" noChangeArrowheads="1"/>
          </p:cNvSpPr>
          <p:nvPr>
            <p:ph type="body" sz="quarter" idx="13"/>
          </p:nvPr>
        </p:nvSpPr>
        <p:spPr>
          <a:noFill/>
        </p:spPr>
        <p:txBody>
          <a:bodyPr/>
          <a:lstStyle/>
          <a:p>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biểu</a:t>
            </a:r>
            <a:r>
              <a:rPr lang="en-US" altLang="en-US" dirty="0">
                <a:cs typeface="Times New Roman" panose="02020603050405020304" pitchFamily="18" charset="0"/>
              </a:rPr>
              <a:t> </a:t>
            </a:r>
            <a:r>
              <a:rPr lang="en-US" altLang="en-US" dirty="0" err="1">
                <a:cs typeface="Times New Roman" panose="02020603050405020304" pitchFamily="18" charset="0"/>
              </a:rPr>
              <a:t>thức</a:t>
            </a:r>
            <a:r>
              <a:rPr lang="en-US" altLang="en-US" dirty="0">
                <a:cs typeface="Times New Roman" panose="02020603050405020304" pitchFamily="18" charset="0"/>
              </a:rPr>
              <a:t> (</a:t>
            </a:r>
            <a:r>
              <a:rPr lang="en-US" altLang="en-US" dirty="0" err="1">
                <a:cs typeface="Times New Roman" panose="02020603050405020304" pitchFamily="18" charset="0"/>
              </a:rPr>
              <a:t>Ví</a:t>
            </a:r>
            <a:r>
              <a:rPr lang="en-US" altLang="en-US" dirty="0">
                <a:cs typeface="Times New Roman" panose="02020603050405020304" pitchFamily="18" charset="0"/>
              </a:rPr>
              <a:t> </a:t>
            </a:r>
            <a:r>
              <a:rPr lang="en-US" altLang="en-US" dirty="0" err="1">
                <a:cs typeface="Times New Roman" panose="02020603050405020304" pitchFamily="18" charset="0"/>
              </a:rPr>
              <a:t>dụ</a:t>
            </a:r>
            <a:r>
              <a:rPr lang="en-US" altLang="en-US" dirty="0">
                <a:cs typeface="Times New Roman" panose="02020603050405020304" pitchFamily="18" charset="0"/>
              </a:rPr>
              <a:t> minh </a:t>
            </a:r>
            <a:r>
              <a:rPr lang="en-US" altLang="en-US" dirty="0" err="1">
                <a:cs typeface="Times New Roman" panose="02020603050405020304" pitchFamily="18" charset="0"/>
              </a:rPr>
              <a:t>họa</a:t>
            </a:r>
            <a:r>
              <a:rPr lang="en-US" altLang="en-US" dirty="0">
                <a:cs typeface="Times New Roman" panose="02020603050405020304" pitchFamily="18" charset="0"/>
              </a:rPr>
              <a:t>)</a:t>
            </a:r>
          </a:p>
          <a:p>
            <a:pPr lvl="1" eaLnBrk="1" hangingPunct="1"/>
            <a:r>
              <a:rPr lang="en-US" altLang="en-US" dirty="0" err="1">
                <a:cs typeface="Times New Roman" panose="02020603050405020304" pitchFamily="18" charset="0"/>
              </a:rPr>
              <a:t>Ví</a:t>
            </a:r>
            <a:r>
              <a:rPr lang="en-US" altLang="en-US" dirty="0">
                <a:cs typeface="Times New Roman" panose="02020603050405020304" pitchFamily="18" charset="0"/>
              </a:rPr>
              <a:t> </a:t>
            </a:r>
            <a:r>
              <a:rPr lang="en-US" altLang="en-US" dirty="0" err="1">
                <a:cs typeface="Times New Roman" panose="02020603050405020304" pitchFamily="18" charset="0"/>
              </a:rPr>
              <a:t>dụ</a:t>
            </a:r>
            <a:r>
              <a:rPr lang="en-US" altLang="en-US" dirty="0">
                <a:cs typeface="Times New Roman" panose="02020603050405020304" pitchFamily="18" charset="0"/>
              </a:rPr>
              <a:t>: </a:t>
            </a:r>
            <a:r>
              <a:rPr lang="en-US" altLang="en-US" dirty="0" err="1">
                <a:cs typeface="Times New Roman" panose="02020603050405020304" pitchFamily="18" charset="0"/>
              </a:rPr>
              <a:t>a+b</a:t>
            </a:r>
            <a:r>
              <a:rPr lang="en-US" altLang="en-US" dirty="0">
                <a:cs typeface="Times New Roman" panose="02020603050405020304" pitchFamily="18" charset="0"/>
              </a:rPr>
              <a:t>, n!, </a:t>
            </a:r>
            <a:r>
              <a:rPr lang="en-US" altLang="en-US" dirty="0" err="1">
                <a:cs typeface="Times New Roman" panose="02020603050405020304" pitchFamily="18" charset="0"/>
              </a:rPr>
              <a:t>exp</a:t>
            </a:r>
            <a:r>
              <a:rPr lang="en-US" altLang="en-US" dirty="0">
                <a:cs typeface="Times New Roman" panose="02020603050405020304" pitchFamily="18" charset="0"/>
              </a:rPr>
              <a:t>(x), a*(</a:t>
            </a:r>
            <a:r>
              <a:rPr lang="en-US" altLang="en-US" dirty="0" err="1">
                <a:cs typeface="Times New Roman" panose="02020603050405020304" pitchFamily="18" charset="0"/>
              </a:rPr>
              <a:t>d+b</a:t>
            </a:r>
            <a:r>
              <a:rPr lang="en-US" altLang="en-US" dirty="0">
                <a:cs typeface="Times New Roman" panose="02020603050405020304" pitchFamily="18" charset="0"/>
              </a:rPr>
              <a:t>)</a:t>
            </a:r>
          </a:p>
        </p:txBody>
      </p:sp>
      <p:grpSp>
        <p:nvGrpSpPr>
          <p:cNvPr id="57350" name="Group 4"/>
          <p:cNvGrpSpPr>
            <a:grpSpLocks/>
          </p:cNvGrpSpPr>
          <p:nvPr/>
        </p:nvGrpSpPr>
        <p:grpSpPr bwMode="auto">
          <a:xfrm>
            <a:off x="1945879" y="2286000"/>
            <a:ext cx="1398587" cy="1295400"/>
            <a:chOff x="4368" y="816"/>
            <a:chExt cx="881" cy="816"/>
          </a:xfrm>
        </p:grpSpPr>
        <p:sp>
          <p:nvSpPr>
            <p:cNvPr id="57370" name="Oval 5"/>
            <p:cNvSpPr>
              <a:spLocks noChangeArrowheads="1"/>
            </p:cNvSpPr>
            <p:nvPr/>
          </p:nvSpPr>
          <p:spPr bwMode="auto">
            <a:xfrm>
              <a:off x="4752" y="816"/>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a:t>
              </a:r>
            </a:p>
          </p:txBody>
        </p:sp>
        <p:sp>
          <p:nvSpPr>
            <p:cNvPr id="57371" name="Oval 6"/>
            <p:cNvSpPr>
              <a:spLocks noChangeArrowheads="1"/>
            </p:cNvSpPr>
            <p:nvPr/>
          </p:nvSpPr>
          <p:spPr bwMode="auto">
            <a:xfrm>
              <a:off x="4368" y="1392"/>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a</a:t>
              </a:r>
            </a:p>
          </p:txBody>
        </p:sp>
        <p:sp>
          <p:nvSpPr>
            <p:cNvPr id="57372" name="Line 7"/>
            <p:cNvSpPr>
              <a:spLocks noChangeShapeType="1"/>
            </p:cNvSpPr>
            <p:nvPr/>
          </p:nvSpPr>
          <p:spPr bwMode="auto">
            <a:xfrm flipH="1">
              <a:off x="4486" y="1008"/>
              <a:ext cx="288"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373" name="Oval 8"/>
            <p:cNvSpPr>
              <a:spLocks noChangeArrowheads="1"/>
            </p:cNvSpPr>
            <p:nvPr/>
          </p:nvSpPr>
          <p:spPr bwMode="auto">
            <a:xfrm>
              <a:off x="5018" y="1392"/>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b</a:t>
              </a:r>
            </a:p>
          </p:txBody>
        </p:sp>
        <p:sp>
          <p:nvSpPr>
            <p:cNvPr id="57374" name="Line 9"/>
            <p:cNvSpPr>
              <a:spLocks noChangeShapeType="1"/>
            </p:cNvSpPr>
            <p:nvPr/>
          </p:nvSpPr>
          <p:spPr bwMode="auto">
            <a:xfrm>
              <a:off x="4944" y="1056"/>
              <a:ext cx="192"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7351" name="Group 10"/>
          <p:cNvGrpSpPr>
            <a:grpSpLocks/>
          </p:cNvGrpSpPr>
          <p:nvPr/>
        </p:nvGrpSpPr>
        <p:grpSpPr bwMode="auto">
          <a:xfrm>
            <a:off x="5311776" y="2286000"/>
            <a:ext cx="976313" cy="1354667"/>
            <a:chOff x="4368" y="1728"/>
            <a:chExt cx="615" cy="816"/>
          </a:xfrm>
        </p:grpSpPr>
        <p:sp>
          <p:nvSpPr>
            <p:cNvPr id="57367" name="Oval 11"/>
            <p:cNvSpPr>
              <a:spLocks noChangeArrowheads="1"/>
            </p:cNvSpPr>
            <p:nvPr/>
          </p:nvSpPr>
          <p:spPr bwMode="auto">
            <a:xfrm>
              <a:off x="4752" y="172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a:t>
              </a:r>
            </a:p>
          </p:txBody>
        </p:sp>
        <p:sp>
          <p:nvSpPr>
            <p:cNvPr id="57368" name="Oval 12"/>
            <p:cNvSpPr>
              <a:spLocks noChangeArrowheads="1"/>
            </p:cNvSpPr>
            <p:nvPr/>
          </p:nvSpPr>
          <p:spPr bwMode="auto">
            <a:xfrm>
              <a:off x="4368" y="2304"/>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n</a:t>
              </a:r>
            </a:p>
          </p:txBody>
        </p:sp>
        <p:sp>
          <p:nvSpPr>
            <p:cNvPr id="57369" name="Line 13"/>
            <p:cNvSpPr>
              <a:spLocks noChangeShapeType="1"/>
            </p:cNvSpPr>
            <p:nvPr/>
          </p:nvSpPr>
          <p:spPr bwMode="auto">
            <a:xfrm flipH="1">
              <a:off x="4486" y="1920"/>
              <a:ext cx="288"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7352" name="Group 14"/>
          <p:cNvGrpSpPr>
            <a:grpSpLocks/>
          </p:cNvGrpSpPr>
          <p:nvPr/>
        </p:nvGrpSpPr>
        <p:grpSpPr bwMode="auto">
          <a:xfrm>
            <a:off x="2427685" y="4614334"/>
            <a:ext cx="865188" cy="1371600"/>
            <a:chOff x="4704" y="2592"/>
            <a:chExt cx="545" cy="864"/>
          </a:xfrm>
        </p:grpSpPr>
        <p:sp>
          <p:nvSpPr>
            <p:cNvPr id="57364" name="Oval 15"/>
            <p:cNvSpPr>
              <a:spLocks noChangeArrowheads="1"/>
            </p:cNvSpPr>
            <p:nvPr/>
          </p:nvSpPr>
          <p:spPr bwMode="auto">
            <a:xfrm>
              <a:off x="4704" y="2592"/>
              <a:ext cx="279" cy="28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exp</a:t>
              </a:r>
            </a:p>
          </p:txBody>
        </p:sp>
        <p:sp>
          <p:nvSpPr>
            <p:cNvPr id="57365" name="Oval 16"/>
            <p:cNvSpPr>
              <a:spLocks noChangeArrowheads="1"/>
            </p:cNvSpPr>
            <p:nvPr/>
          </p:nvSpPr>
          <p:spPr bwMode="auto">
            <a:xfrm>
              <a:off x="5018" y="3216"/>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x</a:t>
              </a:r>
            </a:p>
          </p:txBody>
        </p:sp>
        <p:sp>
          <p:nvSpPr>
            <p:cNvPr id="57366" name="Line 17"/>
            <p:cNvSpPr>
              <a:spLocks noChangeShapeType="1"/>
            </p:cNvSpPr>
            <p:nvPr/>
          </p:nvSpPr>
          <p:spPr bwMode="auto">
            <a:xfrm>
              <a:off x="4896" y="2880"/>
              <a:ext cx="192"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7353" name="Group 18"/>
          <p:cNvGrpSpPr>
            <a:grpSpLocks/>
          </p:cNvGrpSpPr>
          <p:nvPr/>
        </p:nvGrpSpPr>
        <p:grpSpPr bwMode="auto">
          <a:xfrm>
            <a:off x="6074701" y="4059459"/>
            <a:ext cx="1931988" cy="2209800"/>
            <a:chOff x="4080" y="2352"/>
            <a:chExt cx="1217" cy="1392"/>
          </a:xfrm>
        </p:grpSpPr>
        <p:sp>
          <p:nvSpPr>
            <p:cNvPr id="57354" name="Oval 19"/>
            <p:cNvSpPr>
              <a:spLocks noChangeArrowheads="1"/>
            </p:cNvSpPr>
            <p:nvPr/>
          </p:nvSpPr>
          <p:spPr bwMode="auto">
            <a:xfrm>
              <a:off x="4464" y="2352"/>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a:t>
              </a:r>
            </a:p>
          </p:txBody>
        </p:sp>
        <p:sp>
          <p:nvSpPr>
            <p:cNvPr id="57355" name="Oval 20"/>
            <p:cNvSpPr>
              <a:spLocks noChangeArrowheads="1"/>
            </p:cNvSpPr>
            <p:nvPr/>
          </p:nvSpPr>
          <p:spPr bwMode="auto">
            <a:xfrm>
              <a:off x="4080" y="2928"/>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a</a:t>
              </a:r>
            </a:p>
          </p:txBody>
        </p:sp>
        <p:sp>
          <p:nvSpPr>
            <p:cNvPr id="57356" name="Line 21"/>
            <p:cNvSpPr>
              <a:spLocks noChangeShapeType="1"/>
            </p:cNvSpPr>
            <p:nvPr/>
          </p:nvSpPr>
          <p:spPr bwMode="auto">
            <a:xfrm flipH="1">
              <a:off x="4198" y="2544"/>
              <a:ext cx="288"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357" name="Line 22"/>
            <p:cNvSpPr>
              <a:spLocks noChangeShapeType="1"/>
            </p:cNvSpPr>
            <p:nvPr/>
          </p:nvSpPr>
          <p:spPr bwMode="auto">
            <a:xfrm>
              <a:off x="4656" y="2592"/>
              <a:ext cx="192"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7358" name="Group 23"/>
            <p:cNvGrpSpPr>
              <a:grpSpLocks/>
            </p:cNvGrpSpPr>
            <p:nvPr/>
          </p:nvGrpSpPr>
          <p:grpSpPr bwMode="auto">
            <a:xfrm>
              <a:off x="4416" y="2928"/>
              <a:ext cx="881" cy="816"/>
              <a:chOff x="4368" y="816"/>
              <a:chExt cx="881" cy="816"/>
            </a:xfrm>
          </p:grpSpPr>
          <p:sp>
            <p:nvSpPr>
              <p:cNvPr id="57359" name="Oval 24"/>
              <p:cNvSpPr>
                <a:spLocks noChangeArrowheads="1"/>
              </p:cNvSpPr>
              <p:nvPr/>
            </p:nvSpPr>
            <p:spPr bwMode="auto">
              <a:xfrm>
                <a:off x="4752" y="816"/>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a:t>
                </a:r>
              </a:p>
            </p:txBody>
          </p:sp>
          <p:sp>
            <p:nvSpPr>
              <p:cNvPr id="57360" name="Oval 25"/>
              <p:cNvSpPr>
                <a:spLocks noChangeArrowheads="1"/>
              </p:cNvSpPr>
              <p:nvPr/>
            </p:nvSpPr>
            <p:spPr bwMode="auto">
              <a:xfrm>
                <a:off x="4368" y="1392"/>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d</a:t>
                </a:r>
              </a:p>
            </p:txBody>
          </p:sp>
          <p:sp>
            <p:nvSpPr>
              <p:cNvPr id="57361" name="Line 26"/>
              <p:cNvSpPr>
                <a:spLocks noChangeShapeType="1"/>
              </p:cNvSpPr>
              <p:nvPr/>
            </p:nvSpPr>
            <p:spPr bwMode="auto">
              <a:xfrm flipH="1">
                <a:off x="4486" y="1008"/>
                <a:ext cx="288"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362" name="Oval 27"/>
              <p:cNvSpPr>
                <a:spLocks noChangeArrowheads="1"/>
              </p:cNvSpPr>
              <p:nvPr/>
            </p:nvSpPr>
            <p:spPr bwMode="auto">
              <a:xfrm>
                <a:off x="5018" y="1392"/>
                <a:ext cx="231"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a:t>b</a:t>
                </a:r>
              </a:p>
            </p:txBody>
          </p:sp>
          <p:sp>
            <p:nvSpPr>
              <p:cNvPr id="57363" name="Line 28"/>
              <p:cNvSpPr>
                <a:spLocks noChangeShapeType="1"/>
              </p:cNvSpPr>
              <p:nvPr/>
            </p:nvSpPr>
            <p:spPr bwMode="auto">
              <a:xfrm>
                <a:off x="4944" y="1056"/>
                <a:ext cx="192"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29" name="TextBox 28">
            <a:extLst>
              <a:ext uri="{FF2B5EF4-FFF2-40B4-BE49-F238E27FC236}">
                <a16:creationId xmlns:a16="http://schemas.microsoft.com/office/drawing/2014/main" id="{52937116-FC8A-49D7-BACD-1E59F0BC618C}"/>
              </a:ext>
            </a:extLst>
          </p:cNvPr>
          <p:cNvSpPr txBox="1"/>
          <p:nvPr/>
        </p:nvSpPr>
        <p:spPr>
          <a:xfrm>
            <a:off x="1495823" y="2183192"/>
            <a:ext cx="1031875" cy="400110"/>
          </a:xfrm>
          <a:prstGeom prst="rect">
            <a:avLst/>
          </a:prstGeom>
          <a:noFill/>
        </p:spPr>
        <p:txBody>
          <a:bodyPr wrap="square" rtlCol="0">
            <a:spAutoFit/>
          </a:bodyPr>
          <a:lstStyle/>
          <a:p>
            <a:pPr algn="ctr"/>
            <a:r>
              <a:rPr lang="en-US" sz="2000" dirty="0"/>
              <a:t>a + b</a:t>
            </a:r>
          </a:p>
        </p:txBody>
      </p:sp>
      <p:sp>
        <p:nvSpPr>
          <p:cNvPr id="30" name="TextBox 29">
            <a:extLst>
              <a:ext uri="{FF2B5EF4-FFF2-40B4-BE49-F238E27FC236}">
                <a16:creationId xmlns:a16="http://schemas.microsoft.com/office/drawing/2014/main" id="{5EE2AE98-112E-432A-BE84-BF37462EFFAB}"/>
              </a:ext>
            </a:extLst>
          </p:cNvPr>
          <p:cNvSpPr txBox="1"/>
          <p:nvPr/>
        </p:nvSpPr>
        <p:spPr>
          <a:xfrm>
            <a:off x="4891883" y="2140979"/>
            <a:ext cx="1031875" cy="400110"/>
          </a:xfrm>
          <a:prstGeom prst="rect">
            <a:avLst/>
          </a:prstGeom>
          <a:noFill/>
        </p:spPr>
        <p:txBody>
          <a:bodyPr wrap="square" rtlCol="0">
            <a:spAutoFit/>
          </a:bodyPr>
          <a:lstStyle/>
          <a:p>
            <a:pPr algn="ctr"/>
            <a:r>
              <a:rPr lang="en-US" sz="2000" dirty="0"/>
              <a:t>n!</a:t>
            </a:r>
          </a:p>
        </p:txBody>
      </p:sp>
      <p:sp>
        <p:nvSpPr>
          <p:cNvPr id="31" name="TextBox 30">
            <a:extLst>
              <a:ext uri="{FF2B5EF4-FFF2-40B4-BE49-F238E27FC236}">
                <a16:creationId xmlns:a16="http://schemas.microsoft.com/office/drawing/2014/main" id="{FE943DC6-656D-4910-BFF2-A054B3525F77}"/>
              </a:ext>
            </a:extLst>
          </p:cNvPr>
          <p:cNvSpPr txBox="1"/>
          <p:nvPr/>
        </p:nvSpPr>
        <p:spPr>
          <a:xfrm>
            <a:off x="1700610" y="4482981"/>
            <a:ext cx="1031875" cy="400110"/>
          </a:xfrm>
          <a:prstGeom prst="rect">
            <a:avLst/>
          </a:prstGeom>
          <a:noFill/>
        </p:spPr>
        <p:txBody>
          <a:bodyPr wrap="square" rtlCol="0">
            <a:spAutoFit/>
          </a:bodyPr>
          <a:lstStyle/>
          <a:p>
            <a:pPr algn="ctr"/>
            <a:r>
              <a:rPr lang="en-US" sz="2000" dirty="0"/>
              <a:t>e</a:t>
            </a:r>
            <a:r>
              <a:rPr lang="en-US" sz="2000" baseline="30000" dirty="0"/>
              <a:t>x</a:t>
            </a:r>
          </a:p>
        </p:txBody>
      </p:sp>
      <p:sp>
        <p:nvSpPr>
          <p:cNvPr id="32" name="TextBox 31">
            <a:extLst>
              <a:ext uri="{FF2B5EF4-FFF2-40B4-BE49-F238E27FC236}">
                <a16:creationId xmlns:a16="http://schemas.microsoft.com/office/drawing/2014/main" id="{B7FB4CC4-03AA-4C8D-AF88-48BD971AB57D}"/>
              </a:ext>
            </a:extLst>
          </p:cNvPr>
          <p:cNvSpPr txBox="1"/>
          <p:nvPr/>
        </p:nvSpPr>
        <p:spPr>
          <a:xfrm>
            <a:off x="4708393" y="4385614"/>
            <a:ext cx="1322388" cy="400110"/>
          </a:xfrm>
          <a:prstGeom prst="rect">
            <a:avLst/>
          </a:prstGeom>
          <a:noFill/>
        </p:spPr>
        <p:txBody>
          <a:bodyPr wrap="square" rtlCol="0">
            <a:spAutoFit/>
          </a:bodyPr>
          <a:lstStyle/>
          <a:p>
            <a:pPr algn="ctr"/>
            <a:r>
              <a:rPr lang="en-US" sz="2000" dirty="0"/>
              <a:t>a * (d + b)</a:t>
            </a:r>
            <a:endParaRPr lang="en-US" sz="2000" baseline="30000" dirty="0"/>
          </a:p>
        </p:txBody>
      </p:sp>
    </p:spTree>
    <p:extLst>
      <p:ext uri="{BB962C8B-B14F-4D97-AF65-F5344CB8AC3E}">
        <p14:creationId xmlns:p14="http://schemas.microsoft.com/office/powerpoint/2010/main" val="2352693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735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735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735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73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1" grpId="0"/>
      <p:bldP spid="32"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71</a:t>
            </a:fld>
            <a:endParaRPr lang="en-US"/>
          </a:p>
        </p:txBody>
      </p:sp>
      <p:sp>
        <p:nvSpPr>
          <p:cNvPr id="5" name="Title 4"/>
          <p:cNvSpPr>
            <a:spLocks noGrp="1"/>
          </p:cNvSpPr>
          <p:nvPr>
            <p:ph type="title"/>
          </p:nvPr>
        </p:nvSpPr>
        <p:spPr/>
        <p:txBody>
          <a:bodyPr/>
          <a:lstStyle/>
          <a:p>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biểu</a:t>
            </a:r>
            <a:r>
              <a:rPr lang="en-US" altLang="en-US" dirty="0">
                <a:cs typeface="Times New Roman" panose="02020603050405020304" pitchFamily="18" charset="0"/>
              </a:rPr>
              <a:t> </a:t>
            </a:r>
            <a:r>
              <a:rPr lang="en-US" altLang="en-US" dirty="0" err="1">
                <a:cs typeface="Times New Roman" panose="02020603050405020304" pitchFamily="18" charset="0"/>
              </a:rPr>
              <a:t>thức</a:t>
            </a:r>
            <a:endParaRPr lang="en-US" dirty="0"/>
          </a:p>
        </p:txBody>
      </p:sp>
      <p:sp>
        <p:nvSpPr>
          <p:cNvPr id="2" name="Content Placeholder 1"/>
          <p:cNvSpPr>
            <a:spLocks noGrp="1"/>
          </p:cNvSpPr>
          <p:nvPr>
            <p:ph type="body" sz="quarter" idx="13"/>
          </p:nvPr>
        </p:nvSpPr>
        <p:spPr/>
        <p:txBody>
          <a:bodyPr/>
          <a:lstStyle/>
          <a:p>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biểu</a:t>
            </a:r>
            <a:r>
              <a:rPr lang="en-US" altLang="en-US" dirty="0">
                <a:cs typeface="Times New Roman" panose="02020603050405020304" pitchFamily="18" charset="0"/>
              </a:rPr>
              <a:t> </a:t>
            </a:r>
            <a:r>
              <a:rPr lang="en-US" altLang="en-US" dirty="0" err="1">
                <a:cs typeface="Times New Roman" panose="02020603050405020304" pitchFamily="18" charset="0"/>
              </a:rPr>
              <a:t>thức</a:t>
            </a:r>
            <a:r>
              <a:rPr lang="en-US" altLang="en-US" dirty="0">
                <a:cs typeface="Times New Roman" panose="02020603050405020304" pitchFamily="18" charset="0"/>
              </a:rPr>
              <a:t> (</a:t>
            </a:r>
            <a:r>
              <a:rPr lang="en-US" altLang="en-US" dirty="0" err="1">
                <a:cs typeface="Times New Roman" panose="02020603050405020304" pitchFamily="18" charset="0"/>
              </a:rPr>
              <a:t>Ví</a:t>
            </a:r>
            <a:r>
              <a:rPr lang="en-US" altLang="en-US" dirty="0">
                <a:cs typeface="Times New Roman" panose="02020603050405020304" pitchFamily="18" charset="0"/>
              </a:rPr>
              <a:t> </a:t>
            </a:r>
            <a:r>
              <a:rPr lang="en-US" altLang="en-US" dirty="0" err="1">
                <a:cs typeface="Times New Roman" panose="02020603050405020304" pitchFamily="18" charset="0"/>
              </a:rPr>
              <a:t>dụ</a:t>
            </a:r>
            <a:r>
              <a:rPr lang="en-US" altLang="en-US" dirty="0">
                <a:cs typeface="Times New Roman" panose="02020603050405020304" pitchFamily="18" charset="0"/>
              </a:rPr>
              <a:t> minh </a:t>
            </a:r>
            <a:r>
              <a:rPr lang="en-US" altLang="en-US" dirty="0" err="1">
                <a:cs typeface="Times New Roman" panose="02020603050405020304" pitchFamily="18" charset="0"/>
              </a:rPr>
              <a:t>họa</a:t>
            </a:r>
            <a:r>
              <a:rPr lang="en-US" altLang="en-US" dirty="0">
                <a:cs typeface="Times New Roman" panose="02020603050405020304" pitchFamily="18" charset="0"/>
              </a:rPr>
              <a:t>)</a:t>
            </a:r>
          </a:p>
          <a:p>
            <a:endParaRPr lang="en-US" dirty="0"/>
          </a:p>
        </p:txBody>
      </p:sp>
      <p:grpSp>
        <p:nvGrpSpPr>
          <p:cNvPr id="6" name="Group 5">
            <a:extLst>
              <a:ext uri="{FF2B5EF4-FFF2-40B4-BE49-F238E27FC236}">
                <a16:creationId xmlns:a16="http://schemas.microsoft.com/office/drawing/2014/main" id="{FEDB9413-0302-41F9-9CFC-B95B02B10DD9}"/>
              </a:ext>
            </a:extLst>
          </p:cNvPr>
          <p:cNvGrpSpPr/>
          <p:nvPr/>
        </p:nvGrpSpPr>
        <p:grpSpPr>
          <a:xfrm>
            <a:off x="1291741" y="1752600"/>
            <a:ext cx="2978213" cy="3471147"/>
            <a:chOff x="852487" y="1385888"/>
            <a:chExt cx="3854450" cy="4175134"/>
          </a:xfrm>
        </p:grpSpPr>
        <p:grpSp>
          <p:nvGrpSpPr>
            <p:cNvPr id="7" name="Group 3">
              <a:extLst>
                <a:ext uri="{FF2B5EF4-FFF2-40B4-BE49-F238E27FC236}">
                  <a16:creationId xmlns:a16="http://schemas.microsoft.com/office/drawing/2014/main" id="{C2488527-8634-40B6-B4C7-E2E8CA0FF9EE}"/>
                </a:ext>
              </a:extLst>
            </p:cNvPr>
            <p:cNvGrpSpPr>
              <a:grpSpLocks/>
            </p:cNvGrpSpPr>
            <p:nvPr/>
          </p:nvGrpSpPr>
          <p:grpSpPr bwMode="auto">
            <a:xfrm>
              <a:off x="3471862" y="1385888"/>
              <a:ext cx="571500" cy="569913"/>
              <a:chOff x="2664" y="1090"/>
              <a:chExt cx="360" cy="359"/>
            </a:xfrm>
          </p:grpSpPr>
          <p:sp>
            <p:nvSpPr>
              <p:cNvPr id="60" name="Oval 4">
                <a:extLst>
                  <a:ext uri="{FF2B5EF4-FFF2-40B4-BE49-F238E27FC236}">
                    <a16:creationId xmlns:a16="http://schemas.microsoft.com/office/drawing/2014/main" id="{660D4A1C-C24F-4FCB-83F9-AD939BA07653}"/>
                  </a:ext>
                </a:extLst>
              </p:cNvPr>
              <p:cNvSpPr>
                <a:spLocks noChangeArrowheads="1"/>
              </p:cNvSpPr>
              <p:nvPr/>
            </p:nvSpPr>
            <p:spPr bwMode="auto">
              <a:xfrm>
                <a:off x="2664" y="1090"/>
                <a:ext cx="360" cy="359"/>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 name="Rectangle 5">
                <a:extLst>
                  <a:ext uri="{FF2B5EF4-FFF2-40B4-BE49-F238E27FC236}">
                    <a16:creationId xmlns:a16="http://schemas.microsoft.com/office/drawing/2014/main" id="{02CAE34E-DD03-4CF8-AFA4-B1F8E3CB4D59}"/>
                  </a:ext>
                </a:extLst>
              </p:cNvPr>
              <p:cNvSpPr>
                <a:spLocks noChangeArrowheads="1"/>
              </p:cNvSpPr>
              <p:nvPr/>
            </p:nvSpPr>
            <p:spPr bwMode="auto">
              <a:xfrm>
                <a:off x="2726" y="1114"/>
                <a:ext cx="248"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TW" sz="2400" dirty="0">
                    <a:solidFill>
                      <a:schemeClr val="tx1"/>
                    </a:solidFill>
                    <a:latin typeface="Consolas" panose="020B0609020204030204" pitchFamily="49" charset="0"/>
                  </a:rPr>
                  <a:t>+</a:t>
                </a:r>
              </a:p>
            </p:txBody>
          </p:sp>
        </p:grpSp>
        <p:grpSp>
          <p:nvGrpSpPr>
            <p:cNvPr id="8" name="Group 6">
              <a:extLst>
                <a:ext uri="{FF2B5EF4-FFF2-40B4-BE49-F238E27FC236}">
                  <a16:creationId xmlns:a16="http://schemas.microsoft.com/office/drawing/2014/main" id="{50985D69-5A21-40D7-B774-092BE5B2B538}"/>
                </a:ext>
              </a:extLst>
            </p:cNvPr>
            <p:cNvGrpSpPr>
              <a:grpSpLocks/>
            </p:cNvGrpSpPr>
            <p:nvPr/>
          </p:nvGrpSpPr>
          <p:grpSpPr bwMode="auto">
            <a:xfrm>
              <a:off x="2860675" y="2289175"/>
              <a:ext cx="571500" cy="595312"/>
              <a:chOff x="2279" y="1659"/>
              <a:chExt cx="360" cy="375"/>
            </a:xfrm>
          </p:grpSpPr>
          <p:sp>
            <p:nvSpPr>
              <p:cNvPr id="58" name="Oval 7">
                <a:extLst>
                  <a:ext uri="{FF2B5EF4-FFF2-40B4-BE49-F238E27FC236}">
                    <a16:creationId xmlns:a16="http://schemas.microsoft.com/office/drawing/2014/main" id="{BB8D01F6-3C26-452C-8775-9D653EE76A17}"/>
                  </a:ext>
                </a:extLst>
              </p:cNvPr>
              <p:cNvSpPr>
                <a:spLocks noChangeArrowheads="1"/>
              </p:cNvSpPr>
              <p:nvPr/>
            </p:nvSpPr>
            <p:spPr bwMode="auto">
              <a:xfrm>
                <a:off x="2279" y="1659"/>
                <a:ext cx="360" cy="359"/>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 name="Rectangle 8">
                <a:extLst>
                  <a:ext uri="{FF2B5EF4-FFF2-40B4-BE49-F238E27FC236}">
                    <a16:creationId xmlns:a16="http://schemas.microsoft.com/office/drawing/2014/main" id="{BF6C7C2D-F35F-46D1-8148-AB3BA3642845}"/>
                  </a:ext>
                </a:extLst>
              </p:cNvPr>
              <p:cNvSpPr>
                <a:spLocks noChangeArrowheads="1"/>
              </p:cNvSpPr>
              <p:nvPr/>
            </p:nvSpPr>
            <p:spPr bwMode="auto">
              <a:xfrm>
                <a:off x="2331" y="1712"/>
                <a:ext cx="248"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ctr" eaLnBrk="0" hangingPunct="0"/>
                <a:r>
                  <a:rPr lang="en-US" altLang="zh-TW" sz="2400" dirty="0">
                    <a:solidFill>
                      <a:schemeClr val="tx1"/>
                    </a:solidFill>
                    <a:latin typeface="Consolas" panose="020B0609020204030204" pitchFamily="49" charset="0"/>
                  </a:rPr>
                  <a:t>*</a:t>
                </a:r>
              </a:p>
            </p:txBody>
          </p:sp>
        </p:grpSp>
        <p:sp>
          <p:nvSpPr>
            <p:cNvPr id="9" name="Line 9">
              <a:extLst>
                <a:ext uri="{FF2B5EF4-FFF2-40B4-BE49-F238E27FC236}">
                  <a16:creationId xmlns:a16="http://schemas.microsoft.com/office/drawing/2014/main" id="{D34E1FC6-7160-4DB1-BF54-9132C2BA25ED}"/>
                </a:ext>
              </a:extLst>
            </p:cNvPr>
            <p:cNvSpPr>
              <a:spLocks noChangeShapeType="1"/>
            </p:cNvSpPr>
            <p:nvPr/>
          </p:nvSpPr>
          <p:spPr bwMode="auto">
            <a:xfrm flipH="1">
              <a:off x="3243261" y="1884363"/>
              <a:ext cx="336550" cy="41751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0" name="Group 10">
              <a:extLst>
                <a:ext uri="{FF2B5EF4-FFF2-40B4-BE49-F238E27FC236}">
                  <a16:creationId xmlns:a16="http://schemas.microsoft.com/office/drawing/2014/main" id="{1782DFF2-1BC4-4525-934B-9E14790A3C9D}"/>
                </a:ext>
              </a:extLst>
            </p:cNvPr>
            <p:cNvGrpSpPr>
              <a:grpSpLocks/>
            </p:cNvGrpSpPr>
            <p:nvPr/>
          </p:nvGrpSpPr>
          <p:grpSpPr bwMode="auto">
            <a:xfrm>
              <a:off x="852487" y="4991109"/>
              <a:ext cx="571500" cy="569913"/>
              <a:chOff x="1014" y="3361"/>
              <a:chExt cx="360" cy="359"/>
            </a:xfrm>
          </p:grpSpPr>
          <p:sp>
            <p:nvSpPr>
              <p:cNvPr id="56" name="Oval 11">
                <a:extLst>
                  <a:ext uri="{FF2B5EF4-FFF2-40B4-BE49-F238E27FC236}">
                    <a16:creationId xmlns:a16="http://schemas.microsoft.com/office/drawing/2014/main" id="{8BE183F7-0E93-4CC0-B216-6CDB6D1F244A}"/>
                  </a:ext>
                </a:extLst>
              </p:cNvPr>
              <p:cNvSpPr>
                <a:spLocks noChangeArrowheads="1"/>
              </p:cNvSpPr>
              <p:nvPr/>
            </p:nvSpPr>
            <p:spPr bwMode="auto">
              <a:xfrm>
                <a:off x="1014" y="3361"/>
                <a:ext cx="360" cy="359"/>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 name="Rectangle 12">
                <a:extLst>
                  <a:ext uri="{FF2B5EF4-FFF2-40B4-BE49-F238E27FC236}">
                    <a16:creationId xmlns:a16="http://schemas.microsoft.com/office/drawing/2014/main" id="{A6584190-87BB-43AB-9B9D-75E9AB5F53E7}"/>
                  </a:ext>
                </a:extLst>
              </p:cNvPr>
              <p:cNvSpPr>
                <a:spLocks noChangeArrowheads="1"/>
              </p:cNvSpPr>
              <p:nvPr/>
            </p:nvSpPr>
            <p:spPr bwMode="auto">
              <a:xfrm>
                <a:off x="1076" y="3385"/>
                <a:ext cx="248"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TW" sz="2400" dirty="0">
                    <a:solidFill>
                      <a:schemeClr val="tx1"/>
                    </a:solidFill>
                    <a:latin typeface="Consolas" panose="020B0609020204030204" pitchFamily="49" charset="0"/>
                  </a:rPr>
                  <a:t>A</a:t>
                </a:r>
              </a:p>
            </p:txBody>
          </p:sp>
        </p:grpSp>
        <p:sp>
          <p:nvSpPr>
            <p:cNvPr id="11" name="Line 13">
              <a:extLst>
                <a:ext uri="{FF2B5EF4-FFF2-40B4-BE49-F238E27FC236}">
                  <a16:creationId xmlns:a16="http://schemas.microsoft.com/office/drawing/2014/main" id="{5BC872C7-90AD-4654-A0CB-F4C593D6B7F0}"/>
                </a:ext>
              </a:extLst>
            </p:cNvPr>
            <p:cNvSpPr>
              <a:spLocks noChangeShapeType="1"/>
            </p:cNvSpPr>
            <p:nvPr/>
          </p:nvSpPr>
          <p:spPr bwMode="auto">
            <a:xfrm flipH="1">
              <a:off x="1168400" y="4621213"/>
              <a:ext cx="423862" cy="36671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2" name="Group 14">
              <a:extLst>
                <a:ext uri="{FF2B5EF4-FFF2-40B4-BE49-F238E27FC236}">
                  <a16:creationId xmlns:a16="http://schemas.microsoft.com/office/drawing/2014/main" id="{85AC26FA-8A49-41F7-AE53-82A975DA0BFE}"/>
                </a:ext>
              </a:extLst>
            </p:cNvPr>
            <p:cNvGrpSpPr>
              <a:grpSpLocks/>
            </p:cNvGrpSpPr>
            <p:nvPr/>
          </p:nvGrpSpPr>
          <p:grpSpPr bwMode="auto">
            <a:xfrm>
              <a:off x="2176462" y="3203575"/>
              <a:ext cx="571500" cy="595312"/>
              <a:chOff x="1848" y="2235"/>
              <a:chExt cx="360" cy="375"/>
            </a:xfrm>
          </p:grpSpPr>
          <p:sp>
            <p:nvSpPr>
              <p:cNvPr id="54" name="Oval 15">
                <a:extLst>
                  <a:ext uri="{FF2B5EF4-FFF2-40B4-BE49-F238E27FC236}">
                    <a16:creationId xmlns:a16="http://schemas.microsoft.com/office/drawing/2014/main" id="{072558A4-F3FE-431E-BC9C-C9769BB9CD8C}"/>
                  </a:ext>
                </a:extLst>
              </p:cNvPr>
              <p:cNvSpPr>
                <a:spLocks noChangeArrowheads="1"/>
              </p:cNvSpPr>
              <p:nvPr/>
            </p:nvSpPr>
            <p:spPr bwMode="auto">
              <a:xfrm>
                <a:off x="1848" y="2235"/>
                <a:ext cx="360" cy="359"/>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 name="Rectangle 16">
                <a:extLst>
                  <a:ext uri="{FF2B5EF4-FFF2-40B4-BE49-F238E27FC236}">
                    <a16:creationId xmlns:a16="http://schemas.microsoft.com/office/drawing/2014/main" id="{28A9C15A-6BE6-42C0-82DC-BC738FB16377}"/>
                  </a:ext>
                </a:extLst>
              </p:cNvPr>
              <p:cNvSpPr>
                <a:spLocks noChangeArrowheads="1"/>
              </p:cNvSpPr>
              <p:nvPr/>
            </p:nvSpPr>
            <p:spPr bwMode="auto">
              <a:xfrm>
                <a:off x="1900" y="2288"/>
                <a:ext cx="248"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ctr" eaLnBrk="0" hangingPunct="0"/>
                <a:r>
                  <a:rPr lang="en-US" altLang="zh-TW" sz="2400" dirty="0">
                    <a:solidFill>
                      <a:schemeClr val="tx1"/>
                    </a:solidFill>
                    <a:latin typeface="Consolas" panose="020B0609020204030204" pitchFamily="49" charset="0"/>
                  </a:rPr>
                  <a:t>*</a:t>
                </a:r>
              </a:p>
            </p:txBody>
          </p:sp>
        </p:grpSp>
        <p:grpSp>
          <p:nvGrpSpPr>
            <p:cNvPr id="13" name="Group 17">
              <a:extLst>
                <a:ext uri="{FF2B5EF4-FFF2-40B4-BE49-F238E27FC236}">
                  <a16:creationId xmlns:a16="http://schemas.microsoft.com/office/drawing/2014/main" id="{688A8BAC-84A8-400E-B70C-F408F98637E1}"/>
                </a:ext>
              </a:extLst>
            </p:cNvPr>
            <p:cNvGrpSpPr>
              <a:grpSpLocks/>
            </p:cNvGrpSpPr>
            <p:nvPr/>
          </p:nvGrpSpPr>
          <p:grpSpPr bwMode="auto">
            <a:xfrm>
              <a:off x="1497012" y="4119562"/>
              <a:ext cx="571500" cy="569913"/>
              <a:chOff x="1420" y="2812"/>
              <a:chExt cx="360" cy="359"/>
            </a:xfrm>
          </p:grpSpPr>
          <p:sp>
            <p:nvSpPr>
              <p:cNvPr id="52" name="Oval 18">
                <a:extLst>
                  <a:ext uri="{FF2B5EF4-FFF2-40B4-BE49-F238E27FC236}">
                    <a16:creationId xmlns:a16="http://schemas.microsoft.com/office/drawing/2014/main" id="{14ECA14A-5818-4E89-9812-6AACBBC91A70}"/>
                  </a:ext>
                </a:extLst>
              </p:cNvPr>
              <p:cNvSpPr>
                <a:spLocks noChangeArrowheads="1"/>
              </p:cNvSpPr>
              <p:nvPr/>
            </p:nvSpPr>
            <p:spPr bwMode="auto">
              <a:xfrm>
                <a:off x="1420" y="2812"/>
                <a:ext cx="360" cy="359"/>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 name="Rectangle 19">
                <a:extLst>
                  <a:ext uri="{FF2B5EF4-FFF2-40B4-BE49-F238E27FC236}">
                    <a16:creationId xmlns:a16="http://schemas.microsoft.com/office/drawing/2014/main" id="{287F99CC-334A-4F9D-85EA-D7E45D89296B}"/>
                  </a:ext>
                </a:extLst>
              </p:cNvPr>
              <p:cNvSpPr>
                <a:spLocks noChangeArrowheads="1"/>
              </p:cNvSpPr>
              <p:nvPr/>
            </p:nvSpPr>
            <p:spPr bwMode="auto">
              <a:xfrm>
                <a:off x="1481" y="2836"/>
                <a:ext cx="218"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algn="ctr" eaLnBrk="0" hangingPunct="0"/>
                <a:r>
                  <a:rPr lang="en-US" altLang="zh-TW" sz="2400" dirty="0">
                    <a:solidFill>
                      <a:schemeClr val="tx1"/>
                    </a:solidFill>
                    <a:latin typeface="Consolas" panose="020B0609020204030204" pitchFamily="49" charset="0"/>
                  </a:rPr>
                  <a:t>/</a:t>
                </a:r>
              </a:p>
            </p:txBody>
          </p:sp>
        </p:grpSp>
        <p:sp>
          <p:nvSpPr>
            <p:cNvPr id="14" name="Line 20">
              <a:extLst>
                <a:ext uri="{FF2B5EF4-FFF2-40B4-BE49-F238E27FC236}">
                  <a16:creationId xmlns:a16="http://schemas.microsoft.com/office/drawing/2014/main" id="{E581F1D1-657B-4BE4-9B96-D2E04ACD04A2}"/>
                </a:ext>
              </a:extLst>
            </p:cNvPr>
            <p:cNvSpPr>
              <a:spLocks noChangeShapeType="1"/>
            </p:cNvSpPr>
            <p:nvPr/>
          </p:nvSpPr>
          <p:spPr bwMode="auto">
            <a:xfrm flipH="1">
              <a:off x="2514599" y="2779712"/>
              <a:ext cx="438149" cy="415925"/>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Line 21">
              <a:extLst>
                <a:ext uri="{FF2B5EF4-FFF2-40B4-BE49-F238E27FC236}">
                  <a16:creationId xmlns:a16="http://schemas.microsoft.com/office/drawing/2014/main" id="{667DE6C2-F58C-4044-8872-94C878BAF651}"/>
                </a:ext>
              </a:extLst>
            </p:cNvPr>
            <p:cNvSpPr>
              <a:spLocks noChangeShapeType="1"/>
            </p:cNvSpPr>
            <p:nvPr/>
          </p:nvSpPr>
          <p:spPr bwMode="auto">
            <a:xfrm flipH="1">
              <a:off x="1781175" y="3663951"/>
              <a:ext cx="447676"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6" name="Group 22">
              <a:extLst>
                <a:ext uri="{FF2B5EF4-FFF2-40B4-BE49-F238E27FC236}">
                  <a16:creationId xmlns:a16="http://schemas.microsoft.com/office/drawing/2014/main" id="{90FEA94D-D6DE-4239-AE4C-8DCC07E24740}"/>
                </a:ext>
              </a:extLst>
            </p:cNvPr>
            <p:cNvGrpSpPr>
              <a:grpSpLocks/>
            </p:cNvGrpSpPr>
            <p:nvPr/>
          </p:nvGrpSpPr>
          <p:grpSpPr bwMode="auto">
            <a:xfrm>
              <a:off x="4135437" y="2303462"/>
              <a:ext cx="571500" cy="569913"/>
              <a:chOff x="3082" y="1668"/>
              <a:chExt cx="360" cy="359"/>
            </a:xfrm>
          </p:grpSpPr>
          <p:sp>
            <p:nvSpPr>
              <p:cNvPr id="50" name="Oval 23">
                <a:extLst>
                  <a:ext uri="{FF2B5EF4-FFF2-40B4-BE49-F238E27FC236}">
                    <a16:creationId xmlns:a16="http://schemas.microsoft.com/office/drawing/2014/main" id="{FCBED59C-63F2-46F1-8794-A5A8767507C2}"/>
                  </a:ext>
                </a:extLst>
              </p:cNvPr>
              <p:cNvSpPr>
                <a:spLocks noChangeArrowheads="1"/>
              </p:cNvSpPr>
              <p:nvPr/>
            </p:nvSpPr>
            <p:spPr bwMode="auto">
              <a:xfrm>
                <a:off x="3082" y="1668"/>
                <a:ext cx="360" cy="359"/>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 name="Rectangle 24">
                <a:extLst>
                  <a:ext uri="{FF2B5EF4-FFF2-40B4-BE49-F238E27FC236}">
                    <a16:creationId xmlns:a16="http://schemas.microsoft.com/office/drawing/2014/main" id="{D28B15F8-3ED3-41A3-B05E-05B16CD50E06}"/>
                  </a:ext>
                </a:extLst>
              </p:cNvPr>
              <p:cNvSpPr>
                <a:spLocks noChangeArrowheads="1"/>
              </p:cNvSpPr>
              <p:nvPr/>
            </p:nvSpPr>
            <p:spPr bwMode="auto">
              <a:xfrm>
                <a:off x="3144" y="1692"/>
                <a:ext cx="248"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TW" sz="2400" dirty="0">
                    <a:solidFill>
                      <a:schemeClr val="tx1"/>
                    </a:solidFill>
                    <a:latin typeface="Consolas" panose="020B0609020204030204" pitchFamily="49" charset="0"/>
                  </a:rPr>
                  <a:t>E</a:t>
                </a:r>
              </a:p>
            </p:txBody>
          </p:sp>
        </p:grpSp>
        <p:grpSp>
          <p:nvGrpSpPr>
            <p:cNvPr id="17" name="Group 25">
              <a:extLst>
                <a:ext uri="{FF2B5EF4-FFF2-40B4-BE49-F238E27FC236}">
                  <a16:creationId xmlns:a16="http://schemas.microsoft.com/office/drawing/2014/main" id="{621E1367-884D-46A2-AED3-524E87358D73}"/>
                </a:ext>
              </a:extLst>
            </p:cNvPr>
            <p:cNvGrpSpPr>
              <a:grpSpLocks/>
            </p:cNvGrpSpPr>
            <p:nvPr/>
          </p:nvGrpSpPr>
          <p:grpSpPr bwMode="auto">
            <a:xfrm>
              <a:off x="3471862" y="3205162"/>
              <a:ext cx="571500" cy="569913"/>
              <a:chOff x="2664" y="2236"/>
              <a:chExt cx="360" cy="359"/>
            </a:xfrm>
          </p:grpSpPr>
          <p:sp>
            <p:nvSpPr>
              <p:cNvPr id="48" name="Oval 26">
                <a:extLst>
                  <a:ext uri="{FF2B5EF4-FFF2-40B4-BE49-F238E27FC236}">
                    <a16:creationId xmlns:a16="http://schemas.microsoft.com/office/drawing/2014/main" id="{FAC8A5F8-8A2F-46CC-A51F-928EEF10CBF2}"/>
                  </a:ext>
                </a:extLst>
              </p:cNvPr>
              <p:cNvSpPr>
                <a:spLocks noChangeArrowheads="1"/>
              </p:cNvSpPr>
              <p:nvPr/>
            </p:nvSpPr>
            <p:spPr bwMode="auto">
              <a:xfrm>
                <a:off x="2664" y="2236"/>
                <a:ext cx="360" cy="359"/>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 name="Rectangle 27">
                <a:extLst>
                  <a:ext uri="{FF2B5EF4-FFF2-40B4-BE49-F238E27FC236}">
                    <a16:creationId xmlns:a16="http://schemas.microsoft.com/office/drawing/2014/main" id="{577E6923-009B-4A31-9F9E-B8E0C32191C9}"/>
                  </a:ext>
                </a:extLst>
              </p:cNvPr>
              <p:cNvSpPr>
                <a:spLocks noChangeArrowheads="1"/>
              </p:cNvSpPr>
              <p:nvPr/>
            </p:nvSpPr>
            <p:spPr bwMode="auto">
              <a:xfrm>
                <a:off x="2726" y="2260"/>
                <a:ext cx="248"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TW" sz="2400" dirty="0">
                    <a:solidFill>
                      <a:schemeClr val="tx1"/>
                    </a:solidFill>
                    <a:latin typeface="Consolas" panose="020B0609020204030204" pitchFamily="49" charset="0"/>
                  </a:rPr>
                  <a:t>D</a:t>
                </a:r>
              </a:p>
            </p:txBody>
          </p:sp>
        </p:grpSp>
        <p:grpSp>
          <p:nvGrpSpPr>
            <p:cNvPr id="18" name="Group 28">
              <a:extLst>
                <a:ext uri="{FF2B5EF4-FFF2-40B4-BE49-F238E27FC236}">
                  <a16:creationId xmlns:a16="http://schemas.microsoft.com/office/drawing/2014/main" id="{52B5CD21-22F1-4CAC-AEB3-2437F8720DEC}"/>
                </a:ext>
              </a:extLst>
            </p:cNvPr>
            <p:cNvGrpSpPr>
              <a:grpSpLocks/>
            </p:cNvGrpSpPr>
            <p:nvPr/>
          </p:nvGrpSpPr>
          <p:grpSpPr bwMode="auto">
            <a:xfrm>
              <a:off x="2843212" y="4089408"/>
              <a:ext cx="571500" cy="569913"/>
              <a:chOff x="2268" y="2793"/>
              <a:chExt cx="360" cy="359"/>
            </a:xfrm>
          </p:grpSpPr>
          <p:sp>
            <p:nvSpPr>
              <p:cNvPr id="46" name="Oval 29">
                <a:extLst>
                  <a:ext uri="{FF2B5EF4-FFF2-40B4-BE49-F238E27FC236}">
                    <a16:creationId xmlns:a16="http://schemas.microsoft.com/office/drawing/2014/main" id="{944895C8-2759-430B-AFAF-15CE80147477}"/>
                  </a:ext>
                </a:extLst>
              </p:cNvPr>
              <p:cNvSpPr>
                <a:spLocks noChangeArrowheads="1"/>
              </p:cNvSpPr>
              <p:nvPr/>
            </p:nvSpPr>
            <p:spPr bwMode="auto">
              <a:xfrm>
                <a:off x="2268" y="2793"/>
                <a:ext cx="360" cy="359"/>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 name="Rectangle 30">
                <a:extLst>
                  <a:ext uri="{FF2B5EF4-FFF2-40B4-BE49-F238E27FC236}">
                    <a16:creationId xmlns:a16="http://schemas.microsoft.com/office/drawing/2014/main" id="{7210395C-0283-48CE-A633-8A4190192A10}"/>
                  </a:ext>
                </a:extLst>
              </p:cNvPr>
              <p:cNvSpPr>
                <a:spLocks noChangeArrowheads="1"/>
              </p:cNvSpPr>
              <p:nvPr/>
            </p:nvSpPr>
            <p:spPr bwMode="auto">
              <a:xfrm>
                <a:off x="2330" y="2817"/>
                <a:ext cx="248"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TW" sz="2400" dirty="0">
                    <a:solidFill>
                      <a:schemeClr val="tx1"/>
                    </a:solidFill>
                    <a:latin typeface="Consolas" panose="020B0609020204030204" pitchFamily="49" charset="0"/>
                  </a:rPr>
                  <a:t>C</a:t>
                </a:r>
              </a:p>
            </p:txBody>
          </p:sp>
        </p:grpSp>
        <p:sp>
          <p:nvSpPr>
            <p:cNvPr id="19" name="Line 31">
              <a:extLst>
                <a:ext uri="{FF2B5EF4-FFF2-40B4-BE49-F238E27FC236}">
                  <a16:creationId xmlns:a16="http://schemas.microsoft.com/office/drawing/2014/main" id="{DD83EEE7-A3A7-453B-B3E6-DD284D1876AB}"/>
                </a:ext>
              </a:extLst>
            </p:cNvPr>
            <p:cNvSpPr>
              <a:spLocks noChangeShapeType="1"/>
            </p:cNvSpPr>
            <p:nvPr/>
          </p:nvSpPr>
          <p:spPr bwMode="auto">
            <a:xfrm>
              <a:off x="3929062" y="1909763"/>
              <a:ext cx="412751" cy="41751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Line 32">
              <a:extLst>
                <a:ext uri="{FF2B5EF4-FFF2-40B4-BE49-F238E27FC236}">
                  <a16:creationId xmlns:a16="http://schemas.microsoft.com/office/drawing/2014/main" id="{F8FF37B5-6232-494A-B68F-732039D66196}"/>
                </a:ext>
              </a:extLst>
            </p:cNvPr>
            <p:cNvSpPr>
              <a:spLocks noChangeShapeType="1"/>
            </p:cNvSpPr>
            <p:nvPr/>
          </p:nvSpPr>
          <p:spPr bwMode="auto">
            <a:xfrm>
              <a:off x="3306763" y="2800351"/>
              <a:ext cx="430212" cy="40322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Line 33">
              <a:extLst>
                <a:ext uri="{FF2B5EF4-FFF2-40B4-BE49-F238E27FC236}">
                  <a16:creationId xmlns:a16="http://schemas.microsoft.com/office/drawing/2014/main" id="{3F15F96B-FE04-4D2D-8F71-5371F16CAD3C}"/>
                </a:ext>
              </a:extLst>
            </p:cNvPr>
            <p:cNvSpPr>
              <a:spLocks noChangeShapeType="1"/>
            </p:cNvSpPr>
            <p:nvPr/>
          </p:nvSpPr>
          <p:spPr bwMode="auto">
            <a:xfrm>
              <a:off x="2700337" y="3652837"/>
              <a:ext cx="336551"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22" name="Group 34">
              <a:extLst>
                <a:ext uri="{FF2B5EF4-FFF2-40B4-BE49-F238E27FC236}">
                  <a16:creationId xmlns:a16="http://schemas.microsoft.com/office/drawing/2014/main" id="{C9E07C3C-9700-4ED9-B754-3C9B59DC72D4}"/>
                </a:ext>
              </a:extLst>
            </p:cNvPr>
            <p:cNvGrpSpPr>
              <a:grpSpLocks/>
            </p:cNvGrpSpPr>
            <p:nvPr/>
          </p:nvGrpSpPr>
          <p:grpSpPr bwMode="auto">
            <a:xfrm>
              <a:off x="2128837" y="4989513"/>
              <a:ext cx="571500" cy="569913"/>
              <a:chOff x="1818" y="3360"/>
              <a:chExt cx="360" cy="359"/>
            </a:xfrm>
          </p:grpSpPr>
          <p:sp>
            <p:nvSpPr>
              <p:cNvPr id="44" name="Oval 35">
                <a:extLst>
                  <a:ext uri="{FF2B5EF4-FFF2-40B4-BE49-F238E27FC236}">
                    <a16:creationId xmlns:a16="http://schemas.microsoft.com/office/drawing/2014/main" id="{93F5D3E0-874F-4A2A-BAAB-19E081447D01}"/>
                  </a:ext>
                </a:extLst>
              </p:cNvPr>
              <p:cNvSpPr>
                <a:spLocks noChangeArrowheads="1"/>
              </p:cNvSpPr>
              <p:nvPr/>
            </p:nvSpPr>
            <p:spPr bwMode="auto">
              <a:xfrm>
                <a:off x="1818" y="3360"/>
                <a:ext cx="360" cy="359"/>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 name="Rectangle 36">
                <a:extLst>
                  <a:ext uri="{FF2B5EF4-FFF2-40B4-BE49-F238E27FC236}">
                    <a16:creationId xmlns:a16="http://schemas.microsoft.com/office/drawing/2014/main" id="{30D7B27A-20EC-4BA9-83A6-D2AD139C10CE}"/>
                  </a:ext>
                </a:extLst>
              </p:cNvPr>
              <p:cNvSpPr>
                <a:spLocks noChangeArrowheads="1"/>
              </p:cNvSpPr>
              <p:nvPr/>
            </p:nvSpPr>
            <p:spPr bwMode="auto">
              <a:xfrm>
                <a:off x="1880" y="3384"/>
                <a:ext cx="248"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TW" sz="2400" dirty="0">
                    <a:solidFill>
                      <a:schemeClr val="tx1"/>
                    </a:solidFill>
                    <a:latin typeface="Consolas" panose="020B0609020204030204" pitchFamily="49" charset="0"/>
                  </a:rPr>
                  <a:t>B</a:t>
                </a:r>
              </a:p>
            </p:txBody>
          </p:sp>
        </p:grpSp>
        <p:sp>
          <p:nvSpPr>
            <p:cNvPr id="23" name="Line 37">
              <a:extLst>
                <a:ext uri="{FF2B5EF4-FFF2-40B4-BE49-F238E27FC236}">
                  <a16:creationId xmlns:a16="http://schemas.microsoft.com/office/drawing/2014/main" id="{837A9736-3797-4F9F-9445-6FCC5C9F5A93}"/>
                </a:ext>
              </a:extLst>
            </p:cNvPr>
            <p:cNvSpPr>
              <a:spLocks noChangeShapeType="1"/>
            </p:cNvSpPr>
            <p:nvPr/>
          </p:nvSpPr>
          <p:spPr bwMode="auto">
            <a:xfrm>
              <a:off x="1933575" y="4648200"/>
              <a:ext cx="350836" cy="36671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2" name="Rectangle 58">
            <a:extLst>
              <a:ext uri="{FF2B5EF4-FFF2-40B4-BE49-F238E27FC236}">
                <a16:creationId xmlns:a16="http://schemas.microsoft.com/office/drawing/2014/main" id="{5C053235-1E31-42F7-AA58-4FCD6A74A240}"/>
              </a:ext>
            </a:extLst>
          </p:cNvPr>
          <p:cNvSpPr>
            <a:spLocks noChangeArrowheads="1"/>
          </p:cNvSpPr>
          <p:nvPr/>
        </p:nvSpPr>
        <p:spPr bwMode="auto">
          <a:xfrm>
            <a:off x="5446870" y="1752600"/>
            <a:ext cx="2619307" cy="4401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zh-TW" sz="2000" b="1" dirty="0" err="1"/>
              <a:t>inorder</a:t>
            </a:r>
            <a:r>
              <a:rPr lang="en-US" altLang="zh-TW" sz="2000" b="1" dirty="0"/>
              <a:t> traversal </a:t>
            </a:r>
          </a:p>
          <a:p>
            <a:pPr eaLnBrk="0" hangingPunct="0"/>
            <a:r>
              <a:rPr lang="en-US" altLang="zh-TW" sz="2000" dirty="0">
                <a:latin typeface="Consolas" panose="020B0609020204030204" pitchFamily="49" charset="0"/>
              </a:rPr>
              <a:t>A / B * C * D + E</a:t>
            </a:r>
          </a:p>
          <a:p>
            <a:pPr eaLnBrk="0" hangingPunct="0"/>
            <a:r>
              <a:rPr lang="en-US" altLang="zh-TW" sz="2000" dirty="0"/>
              <a:t>infix expression</a:t>
            </a:r>
          </a:p>
          <a:p>
            <a:pPr eaLnBrk="0" hangingPunct="0"/>
            <a:endParaRPr lang="en-US" altLang="zh-TW" sz="2000" dirty="0"/>
          </a:p>
          <a:p>
            <a:pPr eaLnBrk="0" hangingPunct="0"/>
            <a:r>
              <a:rPr lang="en-US" altLang="zh-TW" sz="2000" b="1" dirty="0"/>
              <a:t>preorder traversal </a:t>
            </a:r>
          </a:p>
          <a:p>
            <a:pPr eaLnBrk="0" hangingPunct="0"/>
            <a:r>
              <a:rPr lang="en-US" altLang="zh-TW" sz="2000" dirty="0">
                <a:latin typeface="Consolas" panose="020B0609020204030204" pitchFamily="49" charset="0"/>
              </a:rPr>
              <a:t>+ * * / A B C D E</a:t>
            </a:r>
          </a:p>
          <a:p>
            <a:pPr eaLnBrk="0" hangingPunct="0"/>
            <a:r>
              <a:rPr lang="en-US" altLang="zh-TW" sz="2000" dirty="0"/>
              <a:t>prefix expression</a:t>
            </a:r>
          </a:p>
          <a:p>
            <a:pPr eaLnBrk="0" hangingPunct="0"/>
            <a:endParaRPr lang="en-US" altLang="zh-TW" sz="2000" dirty="0"/>
          </a:p>
          <a:p>
            <a:pPr eaLnBrk="0" hangingPunct="0"/>
            <a:r>
              <a:rPr lang="en-US" altLang="zh-TW" sz="2000" b="1" dirty="0" err="1"/>
              <a:t>postorder</a:t>
            </a:r>
            <a:r>
              <a:rPr lang="en-US" altLang="zh-TW" sz="2000" b="1" dirty="0"/>
              <a:t> traversal </a:t>
            </a:r>
          </a:p>
          <a:p>
            <a:pPr eaLnBrk="0" hangingPunct="0"/>
            <a:r>
              <a:rPr lang="en-US" altLang="zh-TW" sz="2000" dirty="0">
                <a:latin typeface="Consolas" panose="020B0609020204030204" pitchFamily="49" charset="0"/>
              </a:rPr>
              <a:t>A B / C * D * E +</a:t>
            </a:r>
          </a:p>
          <a:p>
            <a:pPr eaLnBrk="0" hangingPunct="0"/>
            <a:r>
              <a:rPr lang="en-US" altLang="zh-TW" sz="2000" dirty="0"/>
              <a:t>postfix expression</a:t>
            </a:r>
          </a:p>
          <a:p>
            <a:pPr eaLnBrk="0" hangingPunct="0"/>
            <a:endParaRPr lang="en-US" altLang="zh-TW" sz="2000" dirty="0"/>
          </a:p>
          <a:p>
            <a:pPr eaLnBrk="0" hangingPunct="0"/>
            <a:r>
              <a:rPr lang="en-US" altLang="zh-TW" sz="2000" b="1" dirty="0"/>
              <a:t>level order traversal</a:t>
            </a:r>
          </a:p>
          <a:p>
            <a:pPr eaLnBrk="0" hangingPunct="0"/>
            <a:r>
              <a:rPr lang="en-US" altLang="zh-TW" sz="2000" dirty="0">
                <a:latin typeface="Consolas" panose="020B0609020204030204" pitchFamily="49" charset="0"/>
              </a:rPr>
              <a:t>+ * E * D / C A B</a:t>
            </a:r>
          </a:p>
        </p:txBody>
      </p:sp>
    </p:spTree>
    <p:extLst>
      <p:ext uri="{BB962C8B-B14F-4D97-AF65-F5344CB8AC3E}">
        <p14:creationId xmlns:p14="http://schemas.microsoft.com/office/powerpoint/2010/main" val="1711421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2">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2">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2">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2">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2">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biểu</a:t>
            </a:r>
            <a:r>
              <a:rPr lang="en-US" altLang="en-US" dirty="0">
                <a:cs typeface="Times New Roman" panose="02020603050405020304" pitchFamily="18" charset="0"/>
              </a:rPr>
              <a:t> </a:t>
            </a:r>
            <a:r>
              <a:rPr lang="en-US" altLang="en-US" dirty="0" err="1">
                <a:cs typeface="Times New Roman" panose="02020603050405020304" pitchFamily="18" charset="0"/>
              </a:rPr>
              <a:t>thức</a:t>
            </a:r>
            <a:endParaRPr lang="vi-VN" dirty="0"/>
          </a:p>
        </p:txBody>
      </p:sp>
      <p:sp>
        <p:nvSpPr>
          <p:cNvPr id="3" name="Content Placeholder 2"/>
          <p:cNvSpPr>
            <a:spLocks noGrp="1"/>
          </p:cNvSpPr>
          <p:nvPr>
            <p:ph type="body" sz="quarter" idx="13"/>
          </p:nvPr>
        </p:nvSpPr>
        <p:spPr/>
        <p:txBody>
          <a:bodyPr/>
          <a:lstStyle/>
          <a:p>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biểu</a:t>
            </a:r>
            <a:r>
              <a:rPr lang="en-US" altLang="en-US" dirty="0">
                <a:cs typeface="Times New Roman" panose="02020603050405020304" pitchFamily="18" charset="0"/>
              </a:rPr>
              <a:t> </a:t>
            </a:r>
            <a:r>
              <a:rPr lang="en-US" altLang="en-US" dirty="0" err="1">
                <a:cs typeface="Times New Roman" panose="02020603050405020304" pitchFamily="18" charset="0"/>
              </a:rPr>
              <a:t>thức</a:t>
            </a:r>
            <a:r>
              <a:rPr lang="en-US" altLang="en-US" dirty="0">
                <a:cs typeface="Times New Roman" panose="02020603050405020304" pitchFamily="18" charset="0"/>
              </a:rPr>
              <a:t> (</a:t>
            </a:r>
            <a:r>
              <a:rPr lang="en-US" altLang="en-US" dirty="0" err="1">
                <a:cs typeface="Times New Roman" panose="02020603050405020304" pitchFamily="18" charset="0"/>
              </a:rPr>
              <a:t>Ví</a:t>
            </a:r>
            <a:r>
              <a:rPr lang="en-US" altLang="en-US" dirty="0">
                <a:cs typeface="Times New Roman" panose="02020603050405020304" pitchFamily="18" charset="0"/>
              </a:rPr>
              <a:t> </a:t>
            </a:r>
            <a:r>
              <a:rPr lang="en-US" altLang="en-US" dirty="0" err="1">
                <a:cs typeface="Times New Roman" panose="02020603050405020304" pitchFamily="18" charset="0"/>
              </a:rPr>
              <a:t>dụ</a:t>
            </a:r>
            <a:r>
              <a:rPr lang="en-US" altLang="en-US" dirty="0">
                <a:cs typeface="Times New Roman" panose="02020603050405020304" pitchFamily="18" charset="0"/>
              </a:rPr>
              <a:t> minh </a:t>
            </a:r>
            <a:r>
              <a:rPr lang="en-US" altLang="en-US" dirty="0" err="1">
                <a:cs typeface="Times New Roman" panose="02020603050405020304" pitchFamily="18" charset="0"/>
              </a:rPr>
              <a:t>họa</a:t>
            </a:r>
            <a:r>
              <a:rPr lang="en-US" altLang="en-US" dirty="0">
                <a:cs typeface="Times New Roman" panose="02020603050405020304" pitchFamily="18" charset="0"/>
              </a:rPr>
              <a:t>)</a:t>
            </a:r>
          </a:p>
          <a:p>
            <a:pPr lvl="1"/>
            <a:r>
              <a:rPr lang="vi-VN" sz="2000" b="0" dirty="0"/>
              <a:t>Dựng cây biểu diễn biểu thức số học:</a:t>
            </a:r>
          </a:p>
          <a:p>
            <a:pPr lvl="2"/>
            <a:r>
              <a:rPr lang="vi-VN" sz="1800" b="0" dirty="0"/>
              <a:t>Cho một biểu thức số học, dựng cây biểu diễn biểu thức số học đó</a:t>
            </a:r>
          </a:p>
          <a:p>
            <a:pPr lvl="2"/>
            <a:r>
              <a:rPr lang="vi-VN" sz="1800" b="0" dirty="0"/>
              <a:t>Ví dụ: Cho biểu thức ((a+b)-c*d)%(f^g / (h-i)). </a:t>
            </a:r>
            <a:endParaRPr lang="vi-VN" sz="1600" b="0" dirty="0"/>
          </a:p>
        </p:txBody>
      </p:sp>
      <p:pic>
        <p:nvPicPr>
          <p:cNvPr id="5" name="Picture 4"/>
          <p:cNvPicPr>
            <a:picLocks noChangeAspect="1"/>
          </p:cNvPicPr>
          <p:nvPr/>
        </p:nvPicPr>
        <p:blipFill>
          <a:blip r:embed="rId3"/>
          <a:stretch>
            <a:fillRect/>
          </a:stretch>
        </p:blipFill>
        <p:spPr>
          <a:xfrm>
            <a:off x="1600200" y="2743200"/>
            <a:ext cx="6330393" cy="2755583"/>
          </a:xfrm>
          <a:prstGeom prst="rect">
            <a:avLst/>
          </a:prstGeom>
        </p:spPr>
      </p:pic>
    </p:spTree>
    <p:extLst>
      <p:ext uri="{BB962C8B-B14F-4D97-AF65-F5344CB8AC3E}">
        <p14:creationId xmlns:p14="http://schemas.microsoft.com/office/powerpoint/2010/main" val="2626464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2"/>
          <p:cNvSpPr>
            <a:spLocks noGrp="1" noChangeArrowheads="1"/>
          </p:cNvSpPr>
          <p:nvPr>
            <p:ph type="title"/>
          </p:nvPr>
        </p:nvSpPr>
        <p:spPr/>
        <p:txBody>
          <a:bodyPr/>
          <a:lstStyle/>
          <a:p>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quyết</a:t>
            </a:r>
            <a:r>
              <a:rPr lang="en-US" altLang="en-US" dirty="0">
                <a:cs typeface="Times New Roman" panose="02020603050405020304" pitchFamily="18" charset="0"/>
              </a:rPr>
              <a:t> </a:t>
            </a:r>
            <a:r>
              <a:rPr lang="en-US" altLang="en-US" dirty="0" err="1">
                <a:cs typeface="Times New Roman" panose="02020603050405020304" pitchFamily="18" charset="0"/>
              </a:rPr>
              <a:t>định</a:t>
            </a:r>
            <a:endParaRPr lang="en-US" altLang="en-US" dirty="0"/>
          </a:p>
        </p:txBody>
      </p:sp>
      <p:sp>
        <p:nvSpPr>
          <p:cNvPr id="58373" name="Rectangle 3"/>
          <p:cNvSpPr>
            <a:spLocks noGrp="1" noChangeArrowheads="1"/>
          </p:cNvSpPr>
          <p:nvPr>
            <p:ph type="body" sz="quarter" idx="13"/>
          </p:nvPr>
        </p:nvSpPr>
        <p:spPr>
          <a:noFill/>
        </p:spPr>
        <p:txBody>
          <a:bodyPr/>
          <a:lstStyle/>
          <a:p>
            <a:pPr eaLnBrk="1" hangingPunct="1"/>
            <a:r>
              <a:rPr lang="en-US" altLang="en-US" dirty="0" err="1">
                <a:cs typeface="Times New Roman" panose="02020603050405020304" pitchFamily="18" charset="0"/>
              </a:rPr>
              <a:t>Cây</a:t>
            </a:r>
            <a:r>
              <a:rPr lang="en-US" altLang="en-US" dirty="0">
                <a:cs typeface="Times New Roman" panose="02020603050405020304" pitchFamily="18" charset="0"/>
              </a:rPr>
              <a:t> </a:t>
            </a:r>
            <a:r>
              <a:rPr lang="en-US" altLang="en-US" dirty="0" err="1">
                <a:cs typeface="Times New Roman" panose="02020603050405020304" pitchFamily="18" charset="0"/>
              </a:rPr>
              <a:t>hỗ</a:t>
            </a:r>
            <a:r>
              <a:rPr lang="en-US" altLang="en-US" dirty="0">
                <a:cs typeface="Times New Roman" panose="02020603050405020304" pitchFamily="18" charset="0"/>
              </a:rPr>
              <a:t> </a:t>
            </a:r>
            <a:r>
              <a:rPr lang="en-US" altLang="en-US" dirty="0" err="1">
                <a:cs typeface="Times New Roman" panose="02020603050405020304" pitchFamily="18" charset="0"/>
              </a:rPr>
              <a:t>trợ</a:t>
            </a:r>
            <a:r>
              <a:rPr lang="en-US" altLang="en-US" dirty="0">
                <a:cs typeface="Times New Roman" panose="02020603050405020304" pitchFamily="18" charset="0"/>
              </a:rPr>
              <a:t> </a:t>
            </a:r>
            <a:r>
              <a:rPr lang="en-US" altLang="en-US" dirty="0" err="1">
                <a:cs typeface="Times New Roman" panose="02020603050405020304" pitchFamily="18" charset="0"/>
              </a:rPr>
              <a:t>ra</a:t>
            </a:r>
            <a:r>
              <a:rPr lang="en-US" altLang="en-US" dirty="0">
                <a:cs typeface="Times New Roman" panose="02020603050405020304" pitchFamily="18" charset="0"/>
              </a:rPr>
              <a:t> </a:t>
            </a:r>
            <a:r>
              <a:rPr lang="en-US" altLang="en-US" dirty="0" err="1">
                <a:cs typeface="Times New Roman" panose="02020603050405020304" pitchFamily="18" charset="0"/>
              </a:rPr>
              <a:t>quyết</a:t>
            </a:r>
            <a:r>
              <a:rPr lang="en-US" altLang="en-US" dirty="0">
                <a:cs typeface="Times New Roman" panose="02020603050405020304" pitchFamily="18" charset="0"/>
              </a:rPr>
              <a:t> </a:t>
            </a:r>
            <a:r>
              <a:rPr lang="en-US" altLang="en-US" dirty="0" err="1">
                <a:cs typeface="Times New Roman" panose="02020603050405020304" pitchFamily="18" charset="0"/>
              </a:rPr>
              <a:t>định</a:t>
            </a:r>
            <a:r>
              <a:rPr lang="en-US" altLang="en-US" dirty="0">
                <a:cs typeface="Times New Roman" panose="02020603050405020304" pitchFamily="18" charset="0"/>
              </a:rPr>
              <a:t> (</a:t>
            </a:r>
            <a:r>
              <a:rPr lang="en-US" altLang="en-US" dirty="0" err="1">
                <a:cs typeface="Times New Roman" panose="02020603050405020304" pitchFamily="18" charset="0"/>
              </a:rPr>
              <a:t>Ví</a:t>
            </a:r>
            <a:r>
              <a:rPr lang="en-US" altLang="en-US" dirty="0">
                <a:cs typeface="Times New Roman" panose="02020603050405020304" pitchFamily="18" charset="0"/>
              </a:rPr>
              <a:t> </a:t>
            </a:r>
            <a:r>
              <a:rPr lang="en-US" altLang="en-US" dirty="0" err="1">
                <a:cs typeface="Times New Roman" panose="02020603050405020304" pitchFamily="18" charset="0"/>
              </a:rPr>
              <a:t>dụ</a:t>
            </a:r>
            <a:r>
              <a:rPr lang="en-US" altLang="en-US" dirty="0">
                <a:cs typeface="Times New Roman" panose="02020603050405020304" pitchFamily="18" charset="0"/>
              </a:rPr>
              <a:t> minh </a:t>
            </a:r>
            <a:r>
              <a:rPr lang="en-US" altLang="en-US" dirty="0" err="1">
                <a:cs typeface="Times New Roman" panose="02020603050405020304" pitchFamily="18" charset="0"/>
              </a:rPr>
              <a:t>họa</a:t>
            </a:r>
            <a:r>
              <a:rPr lang="en-US" altLang="en-US" dirty="0">
                <a:cs typeface="Times New Roman" panose="02020603050405020304" pitchFamily="18" charset="0"/>
              </a:rPr>
              <a:t>)</a:t>
            </a:r>
          </a:p>
          <a:p>
            <a:pPr lvl="1" eaLnBrk="1" hangingPunct="1"/>
            <a:r>
              <a:rPr lang="en-US" altLang="en-US" dirty="0">
                <a:cs typeface="Times New Roman" panose="02020603050405020304" pitchFamily="18" charset="0"/>
              </a:rPr>
              <a:t>VD: </a:t>
            </a:r>
            <a:r>
              <a:rPr lang="en-US" altLang="en-US" dirty="0" err="1">
                <a:cs typeface="Times New Roman" panose="02020603050405020304" pitchFamily="18" charset="0"/>
              </a:rPr>
              <a:t>Có</a:t>
            </a:r>
            <a:r>
              <a:rPr lang="en-US" altLang="en-US" dirty="0">
                <a:cs typeface="Times New Roman" panose="02020603050405020304" pitchFamily="18" charset="0"/>
              </a:rPr>
              <a:t> 5 </a:t>
            </a:r>
            <a:r>
              <a:rPr lang="en-US" altLang="en-US" dirty="0" err="1">
                <a:cs typeface="Times New Roman" panose="02020603050405020304" pitchFamily="18" charset="0"/>
              </a:rPr>
              <a:t>đồng</a:t>
            </a:r>
            <a:r>
              <a:rPr lang="en-US" altLang="en-US" dirty="0">
                <a:cs typeface="Times New Roman" panose="02020603050405020304" pitchFamily="18" charset="0"/>
              </a:rPr>
              <a:t> </a:t>
            </a:r>
            <a:r>
              <a:rPr lang="en-US" altLang="en-US" dirty="0" err="1">
                <a:cs typeface="Times New Roman" panose="02020603050405020304" pitchFamily="18" charset="0"/>
              </a:rPr>
              <a:t>tiền</a:t>
            </a:r>
            <a:r>
              <a:rPr lang="en-US" altLang="en-US" dirty="0">
                <a:cs typeface="Times New Roman" panose="02020603050405020304" pitchFamily="18" charset="0"/>
              </a:rPr>
              <a:t> </a:t>
            </a:r>
            <a:r>
              <a:rPr lang="en-US" altLang="en-US" dirty="0" err="1">
                <a:cs typeface="Times New Roman" panose="02020603050405020304" pitchFamily="18" charset="0"/>
              </a:rPr>
              <a:t>vàng</a:t>
            </a:r>
            <a:r>
              <a:rPr lang="en-US" altLang="en-US" dirty="0">
                <a:cs typeface="Times New Roman" panose="02020603050405020304" pitchFamily="18" charset="0"/>
              </a:rPr>
              <a:t>. </a:t>
            </a:r>
            <a:r>
              <a:rPr lang="en-US" altLang="en-US" dirty="0" err="1">
                <a:cs typeface="Times New Roman" panose="02020603050405020304" pitchFamily="18" charset="0"/>
              </a:rPr>
              <a:t>Trong</a:t>
            </a:r>
            <a:r>
              <a:rPr lang="en-US" altLang="en-US" dirty="0">
                <a:cs typeface="Times New Roman" panose="02020603050405020304" pitchFamily="18" charset="0"/>
              </a:rPr>
              <a:t> </a:t>
            </a:r>
            <a:r>
              <a:rPr lang="en-US" altLang="en-US" dirty="0" err="1">
                <a:cs typeface="Times New Roman" panose="02020603050405020304" pitchFamily="18" charset="0"/>
              </a:rPr>
              <a:t>đó</a:t>
            </a:r>
            <a:r>
              <a:rPr lang="en-US" altLang="en-US" dirty="0">
                <a:cs typeface="Times New Roman" panose="02020603050405020304" pitchFamily="18" charset="0"/>
              </a:rPr>
              <a:t> </a:t>
            </a:r>
            <a:r>
              <a:rPr lang="en-US" altLang="en-US" dirty="0" err="1">
                <a:cs typeface="Times New Roman" panose="02020603050405020304" pitchFamily="18" charset="0"/>
              </a:rPr>
              <a:t>có</a:t>
            </a:r>
            <a:r>
              <a:rPr lang="en-US" altLang="en-US" dirty="0">
                <a:cs typeface="Times New Roman" panose="02020603050405020304" pitchFamily="18" charset="0"/>
              </a:rPr>
              <a:t> </a:t>
            </a:r>
            <a:r>
              <a:rPr lang="en-US" altLang="en-US" dirty="0" err="1">
                <a:cs typeface="Times New Roman" panose="02020603050405020304" pitchFamily="18" charset="0"/>
              </a:rPr>
              <a:t>duy</a:t>
            </a:r>
            <a:r>
              <a:rPr lang="en-US" altLang="en-US" dirty="0">
                <a:cs typeface="Times New Roman" panose="02020603050405020304" pitchFamily="18" charset="0"/>
              </a:rPr>
              <a:t> </a:t>
            </a:r>
            <a:r>
              <a:rPr lang="en-US" altLang="en-US" dirty="0" err="1">
                <a:cs typeface="Times New Roman" panose="02020603050405020304" pitchFamily="18" charset="0"/>
              </a:rPr>
              <a:t>nhất</a:t>
            </a:r>
            <a:r>
              <a:rPr lang="en-US" altLang="en-US" dirty="0">
                <a:cs typeface="Times New Roman" panose="02020603050405020304" pitchFamily="18" charset="0"/>
              </a:rPr>
              <a:t> 1 </a:t>
            </a:r>
            <a:r>
              <a:rPr lang="en-US" altLang="en-US" dirty="0" err="1">
                <a:cs typeface="Times New Roman" panose="02020603050405020304" pitchFamily="18" charset="0"/>
              </a:rPr>
              <a:t>đồng</a:t>
            </a:r>
            <a:r>
              <a:rPr lang="en-US" altLang="en-US" dirty="0">
                <a:cs typeface="Times New Roman" panose="02020603050405020304" pitchFamily="18" charset="0"/>
              </a:rPr>
              <a:t> </a:t>
            </a:r>
            <a:r>
              <a:rPr lang="en-US" altLang="en-US" dirty="0" err="1">
                <a:cs typeface="Times New Roman" panose="02020603050405020304" pitchFamily="18" charset="0"/>
              </a:rPr>
              <a:t>bị</a:t>
            </a:r>
            <a:r>
              <a:rPr lang="en-US" altLang="en-US" dirty="0">
                <a:cs typeface="Times New Roman" panose="02020603050405020304" pitchFamily="18" charset="0"/>
              </a:rPr>
              <a:t> </a:t>
            </a:r>
            <a:r>
              <a:rPr lang="en-US" altLang="en-US" dirty="0" err="1">
                <a:cs typeface="Times New Roman" panose="02020603050405020304" pitchFamily="18" charset="0"/>
              </a:rPr>
              <a:t>nhẹ</a:t>
            </a:r>
            <a:r>
              <a:rPr lang="en-US" altLang="en-US" dirty="0">
                <a:cs typeface="Times New Roman" panose="02020603050405020304" pitchFamily="18" charset="0"/>
              </a:rPr>
              <a:t> </a:t>
            </a:r>
            <a:r>
              <a:rPr lang="en-US" altLang="en-US" dirty="0" err="1">
                <a:cs typeface="Times New Roman" panose="02020603050405020304" pitchFamily="18" charset="0"/>
              </a:rPr>
              <a:t>hơn</a:t>
            </a:r>
            <a:r>
              <a:rPr lang="en-US" altLang="en-US" dirty="0">
                <a:cs typeface="Times New Roman" panose="02020603050405020304" pitchFamily="18" charset="0"/>
              </a:rPr>
              <a:t>. </a:t>
            </a:r>
            <a:r>
              <a:rPr lang="en-US" altLang="en-US" dirty="0" err="1">
                <a:cs typeface="Times New Roman" panose="02020603050405020304" pitchFamily="18" charset="0"/>
              </a:rPr>
              <a:t>Tìm</a:t>
            </a:r>
            <a:r>
              <a:rPr lang="en-US" altLang="en-US" dirty="0">
                <a:cs typeface="Times New Roman" panose="02020603050405020304" pitchFamily="18" charset="0"/>
              </a:rPr>
              <a:t> </a:t>
            </a:r>
            <a:r>
              <a:rPr lang="en-US" altLang="en-US" dirty="0" err="1">
                <a:cs typeface="Times New Roman" panose="02020603050405020304" pitchFamily="18" charset="0"/>
              </a:rPr>
              <a:t>đồng</a:t>
            </a:r>
            <a:r>
              <a:rPr lang="en-US" altLang="en-US" dirty="0">
                <a:cs typeface="Times New Roman" panose="02020603050405020304" pitchFamily="18" charset="0"/>
              </a:rPr>
              <a:t> </a:t>
            </a:r>
            <a:r>
              <a:rPr lang="en-US" altLang="en-US" dirty="0" err="1">
                <a:cs typeface="Times New Roman" panose="02020603050405020304" pitchFamily="18" charset="0"/>
              </a:rPr>
              <a:t>tiền</a:t>
            </a:r>
            <a:r>
              <a:rPr lang="en-US" altLang="en-US" dirty="0">
                <a:cs typeface="Times New Roman" panose="02020603050405020304" pitchFamily="18" charset="0"/>
              </a:rPr>
              <a:t> </a:t>
            </a:r>
            <a:r>
              <a:rPr lang="en-US" altLang="en-US" dirty="0" err="1">
                <a:cs typeface="Times New Roman" panose="02020603050405020304" pitchFamily="18" charset="0"/>
              </a:rPr>
              <a:t>đó</a:t>
            </a:r>
            <a:r>
              <a:rPr lang="en-US" altLang="en-US" dirty="0">
                <a:cs typeface="Times New Roman" panose="02020603050405020304" pitchFamily="18" charset="0"/>
              </a:rPr>
              <a:t>?</a:t>
            </a:r>
          </a:p>
        </p:txBody>
      </p:sp>
      <p:grpSp>
        <p:nvGrpSpPr>
          <p:cNvPr id="58374" name="Group 70"/>
          <p:cNvGrpSpPr>
            <a:grpSpLocks/>
          </p:cNvGrpSpPr>
          <p:nvPr/>
        </p:nvGrpSpPr>
        <p:grpSpPr bwMode="auto">
          <a:xfrm>
            <a:off x="1371600" y="1905000"/>
            <a:ext cx="6872287" cy="4386262"/>
            <a:chOff x="336" y="1039"/>
            <a:chExt cx="4329" cy="2763"/>
          </a:xfrm>
        </p:grpSpPr>
        <p:sp>
          <p:nvSpPr>
            <p:cNvPr id="58375" name="Text Box 56"/>
            <p:cNvSpPr txBox="1">
              <a:spLocks noChangeArrowheads="1"/>
            </p:cNvSpPr>
            <p:nvPr/>
          </p:nvSpPr>
          <p:spPr bwMode="auto">
            <a:xfrm>
              <a:off x="1776" y="1039"/>
              <a:ext cx="11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a:t>(A+B) ? (C+D)</a:t>
              </a:r>
            </a:p>
          </p:txBody>
        </p:sp>
        <p:sp>
          <p:nvSpPr>
            <p:cNvPr id="58376" name="Text Box 57"/>
            <p:cNvSpPr txBox="1">
              <a:spLocks noChangeArrowheads="1"/>
            </p:cNvSpPr>
            <p:nvPr/>
          </p:nvSpPr>
          <p:spPr bwMode="auto">
            <a:xfrm>
              <a:off x="912" y="2025"/>
              <a:ext cx="4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a:t>A ? B</a:t>
              </a:r>
            </a:p>
          </p:txBody>
        </p:sp>
        <p:sp>
          <p:nvSpPr>
            <p:cNvPr id="58377" name="Oval 30"/>
            <p:cNvSpPr>
              <a:spLocks noChangeArrowheads="1"/>
            </p:cNvSpPr>
            <p:nvPr/>
          </p:nvSpPr>
          <p:spPr bwMode="auto">
            <a:xfrm>
              <a:off x="2160" y="1288"/>
              <a:ext cx="336" cy="32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en-US" altLang="en-US" sz="1800"/>
            </a:p>
          </p:txBody>
        </p:sp>
        <p:sp>
          <p:nvSpPr>
            <p:cNvPr id="58378" name="Oval 31"/>
            <p:cNvSpPr>
              <a:spLocks noChangeArrowheads="1"/>
            </p:cNvSpPr>
            <p:nvPr/>
          </p:nvSpPr>
          <p:spPr bwMode="auto">
            <a:xfrm>
              <a:off x="3343" y="2316"/>
              <a:ext cx="336" cy="32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en-US" altLang="en-US" sz="1800"/>
            </a:p>
          </p:txBody>
        </p:sp>
        <p:sp>
          <p:nvSpPr>
            <p:cNvPr id="58379" name="Oval 32"/>
            <p:cNvSpPr>
              <a:spLocks noChangeArrowheads="1"/>
            </p:cNvSpPr>
            <p:nvPr/>
          </p:nvSpPr>
          <p:spPr bwMode="auto">
            <a:xfrm>
              <a:off x="1209" y="2251"/>
              <a:ext cx="336" cy="32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en-US" altLang="en-US" sz="1800"/>
            </a:p>
          </p:txBody>
        </p:sp>
        <p:sp>
          <p:nvSpPr>
            <p:cNvPr id="58380" name="Oval 33"/>
            <p:cNvSpPr>
              <a:spLocks noChangeArrowheads="1"/>
            </p:cNvSpPr>
            <p:nvPr/>
          </p:nvSpPr>
          <p:spPr bwMode="auto">
            <a:xfrm>
              <a:off x="480" y="3168"/>
              <a:ext cx="336" cy="32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en-US" altLang="en-US" sz="1800"/>
            </a:p>
          </p:txBody>
        </p:sp>
        <p:sp>
          <p:nvSpPr>
            <p:cNvPr id="58381" name="Oval 34"/>
            <p:cNvSpPr>
              <a:spLocks noChangeArrowheads="1"/>
            </p:cNvSpPr>
            <p:nvPr/>
          </p:nvSpPr>
          <p:spPr bwMode="auto">
            <a:xfrm>
              <a:off x="1584" y="3168"/>
              <a:ext cx="336" cy="32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en-US" altLang="en-US" sz="1800"/>
            </a:p>
          </p:txBody>
        </p:sp>
        <p:sp>
          <p:nvSpPr>
            <p:cNvPr id="58382" name="Oval 36"/>
            <p:cNvSpPr>
              <a:spLocks noChangeArrowheads="1"/>
            </p:cNvSpPr>
            <p:nvPr/>
          </p:nvSpPr>
          <p:spPr bwMode="auto">
            <a:xfrm>
              <a:off x="3072" y="3168"/>
              <a:ext cx="336" cy="32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en-US" altLang="en-US" sz="1800"/>
            </a:p>
          </p:txBody>
        </p:sp>
        <p:sp>
          <p:nvSpPr>
            <p:cNvPr id="58383" name="Oval 37"/>
            <p:cNvSpPr>
              <a:spLocks noChangeArrowheads="1"/>
            </p:cNvSpPr>
            <p:nvPr/>
          </p:nvSpPr>
          <p:spPr bwMode="auto">
            <a:xfrm>
              <a:off x="4080" y="3168"/>
              <a:ext cx="336" cy="32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en-US" altLang="en-US" sz="1800"/>
            </a:p>
          </p:txBody>
        </p:sp>
        <p:sp>
          <p:nvSpPr>
            <p:cNvPr id="58384" name="Line 38"/>
            <p:cNvSpPr>
              <a:spLocks noChangeShapeType="1"/>
            </p:cNvSpPr>
            <p:nvPr/>
          </p:nvSpPr>
          <p:spPr bwMode="auto">
            <a:xfrm flipH="1">
              <a:off x="1402" y="1488"/>
              <a:ext cx="758" cy="7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85" name="Line 39"/>
            <p:cNvSpPr>
              <a:spLocks noChangeShapeType="1"/>
            </p:cNvSpPr>
            <p:nvPr/>
          </p:nvSpPr>
          <p:spPr bwMode="auto">
            <a:xfrm flipH="1">
              <a:off x="704" y="2514"/>
              <a:ext cx="561" cy="6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86" name="Line 41"/>
            <p:cNvSpPr>
              <a:spLocks noChangeShapeType="1"/>
            </p:cNvSpPr>
            <p:nvPr/>
          </p:nvSpPr>
          <p:spPr bwMode="auto">
            <a:xfrm>
              <a:off x="1536" y="2536"/>
              <a:ext cx="192" cy="6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87" name="Line 42"/>
            <p:cNvSpPr>
              <a:spLocks noChangeShapeType="1"/>
            </p:cNvSpPr>
            <p:nvPr/>
          </p:nvSpPr>
          <p:spPr bwMode="auto">
            <a:xfrm>
              <a:off x="2496" y="1488"/>
              <a:ext cx="912" cy="86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88" name="Line 43"/>
            <p:cNvSpPr>
              <a:spLocks noChangeShapeType="1"/>
            </p:cNvSpPr>
            <p:nvPr/>
          </p:nvSpPr>
          <p:spPr bwMode="auto">
            <a:xfrm flipH="1">
              <a:off x="3312" y="2584"/>
              <a:ext cx="96" cy="5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89" name="Line 44"/>
            <p:cNvSpPr>
              <a:spLocks noChangeShapeType="1"/>
            </p:cNvSpPr>
            <p:nvPr/>
          </p:nvSpPr>
          <p:spPr bwMode="auto">
            <a:xfrm>
              <a:off x="3648" y="2584"/>
              <a:ext cx="528"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90" name="Text Box 45"/>
            <p:cNvSpPr txBox="1">
              <a:spLocks noChangeArrowheads="1"/>
            </p:cNvSpPr>
            <p:nvPr/>
          </p:nvSpPr>
          <p:spPr bwMode="auto">
            <a:xfrm>
              <a:off x="806" y="2562"/>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&lt;</a:t>
              </a:r>
            </a:p>
          </p:txBody>
        </p:sp>
        <p:sp>
          <p:nvSpPr>
            <p:cNvPr id="58391" name="Text Box 47"/>
            <p:cNvSpPr txBox="1">
              <a:spLocks noChangeArrowheads="1"/>
            </p:cNvSpPr>
            <p:nvPr/>
          </p:nvSpPr>
          <p:spPr bwMode="auto">
            <a:xfrm>
              <a:off x="1648" y="2544"/>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&gt;</a:t>
              </a:r>
            </a:p>
          </p:txBody>
        </p:sp>
        <p:sp>
          <p:nvSpPr>
            <p:cNvPr id="58392" name="Text Box 48"/>
            <p:cNvSpPr txBox="1">
              <a:spLocks noChangeArrowheads="1"/>
            </p:cNvSpPr>
            <p:nvPr/>
          </p:nvSpPr>
          <p:spPr bwMode="auto">
            <a:xfrm>
              <a:off x="3072" y="2562"/>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&lt;</a:t>
              </a:r>
            </a:p>
          </p:txBody>
        </p:sp>
        <p:sp>
          <p:nvSpPr>
            <p:cNvPr id="58393" name="Text Box 50"/>
            <p:cNvSpPr txBox="1">
              <a:spLocks noChangeArrowheads="1"/>
            </p:cNvSpPr>
            <p:nvPr/>
          </p:nvSpPr>
          <p:spPr bwMode="auto">
            <a:xfrm>
              <a:off x="3888" y="2536"/>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&gt;</a:t>
              </a:r>
            </a:p>
          </p:txBody>
        </p:sp>
        <p:sp>
          <p:nvSpPr>
            <p:cNvPr id="58394" name="Text Box 53"/>
            <p:cNvSpPr txBox="1">
              <a:spLocks noChangeArrowheads="1"/>
            </p:cNvSpPr>
            <p:nvPr/>
          </p:nvSpPr>
          <p:spPr bwMode="auto">
            <a:xfrm>
              <a:off x="1600" y="1584"/>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&lt;</a:t>
              </a:r>
            </a:p>
          </p:txBody>
        </p:sp>
        <p:sp>
          <p:nvSpPr>
            <p:cNvPr id="58395" name="Text Box 54"/>
            <p:cNvSpPr txBox="1">
              <a:spLocks noChangeArrowheads="1"/>
            </p:cNvSpPr>
            <p:nvPr/>
          </p:nvSpPr>
          <p:spPr bwMode="auto">
            <a:xfrm>
              <a:off x="2848" y="1598"/>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&gt;</a:t>
              </a:r>
            </a:p>
          </p:txBody>
        </p:sp>
        <p:sp>
          <p:nvSpPr>
            <p:cNvPr id="58396" name="Oval 58"/>
            <p:cNvSpPr>
              <a:spLocks noChangeArrowheads="1"/>
            </p:cNvSpPr>
            <p:nvPr/>
          </p:nvSpPr>
          <p:spPr bwMode="auto">
            <a:xfrm>
              <a:off x="2304" y="3168"/>
              <a:ext cx="336" cy="32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en-US" altLang="en-US" sz="1800"/>
            </a:p>
          </p:txBody>
        </p:sp>
        <p:sp>
          <p:nvSpPr>
            <p:cNvPr id="58397" name="Line 59"/>
            <p:cNvSpPr>
              <a:spLocks noChangeShapeType="1"/>
            </p:cNvSpPr>
            <p:nvPr/>
          </p:nvSpPr>
          <p:spPr bwMode="auto">
            <a:xfrm>
              <a:off x="2304" y="1632"/>
              <a:ext cx="144" cy="15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98" name="Text Box 60"/>
            <p:cNvSpPr txBox="1">
              <a:spLocks noChangeArrowheads="1"/>
            </p:cNvSpPr>
            <p:nvPr/>
          </p:nvSpPr>
          <p:spPr bwMode="auto">
            <a:xfrm>
              <a:off x="2400" y="2016"/>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a:t>
              </a:r>
            </a:p>
          </p:txBody>
        </p:sp>
        <p:sp>
          <p:nvSpPr>
            <p:cNvPr id="58399" name="Text Box 62"/>
            <p:cNvSpPr txBox="1">
              <a:spLocks noChangeArrowheads="1"/>
            </p:cNvSpPr>
            <p:nvPr/>
          </p:nvSpPr>
          <p:spPr bwMode="auto">
            <a:xfrm>
              <a:off x="2201" y="3542"/>
              <a:ext cx="63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a:t>E is bad</a:t>
              </a:r>
            </a:p>
          </p:txBody>
        </p:sp>
        <p:sp>
          <p:nvSpPr>
            <p:cNvPr id="58400" name="Text Box 63"/>
            <p:cNvSpPr txBox="1">
              <a:spLocks noChangeArrowheads="1"/>
            </p:cNvSpPr>
            <p:nvPr/>
          </p:nvSpPr>
          <p:spPr bwMode="auto">
            <a:xfrm>
              <a:off x="3350" y="2054"/>
              <a:ext cx="4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a:t>C ? D</a:t>
              </a:r>
            </a:p>
          </p:txBody>
        </p:sp>
        <p:sp>
          <p:nvSpPr>
            <p:cNvPr id="58401" name="Text Box 64"/>
            <p:cNvSpPr txBox="1">
              <a:spLocks noChangeArrowheads="1"/>
            </p:cNvSpPr>
            <p:nvPr/>
          </p:nvSpPr>
          <p:spPr bwMode="auto">
            <a:xfrm>
              <a:off x="1488" y="3542"/>
              <a:ext cx="6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a:t>B is bad</a:t>
              </a:r>
            </a:p>
          </p:txBody>
        </p:sp>
        <p:sp>
          <p:nvSpPr>
            <p:cNvPr id="58402" name="Text Box 65"/>
            <p:cNvSpPr txBox="1">
              <a:spLocks noChangeArrowheads="1"/>
            </p:cNvSpPr>
            <p:nvPr/>
          </p:nvSpPr>
          <p:spPr bwMode="auto">
            <a:xfrm>
              <a:off x="336" y="3552"/>
              <a:ext cx="64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a:t>A is bad</a:t>
              </a:r>
            </a:p>
          </p:txBody>
        </p:sp>
        <p:sp>
          <p:nvSpPr>
            <p:cNvPr id="58403" name="Text Box 66"/>
            <p:cNvSpPr txBox="1">
              <a:spLocks noChangeArrowheads="1"/>
            </p:cNvSpPr>
            <p:nvPr/>
          </p:nvSpPr>
          <p:spPr bwMode="auto">
            <a:xfrm>
              <a:off x="2912" y="3552"/>
              <a:ext cx="6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a:t>C is bad</a:t>
              </a:r>
            </a:p>
          </p:txBody>
        </p:sp>
        <p:sp>
          <p:nvSpPr>
            <p:cNvPr id="58404" name="Text Box 67"/>
            <p:cNvSpPr txBox="1">
              <a:spLocks noChangeArrowheads="1"/>
            </p:cNvSpPr>
            <p:nvPr/>
          </p:nvSpPr>
          <p:spPr bwMode="auto">
            <a:xfrm>
              <a:off x="4016" y="3552"/>
              <a:ext cx="64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a:t>D is bad</a:t>
              </a:r>
            </a:p>
          </p:txBody>
        </p:sp>
        <p:sp>
          <p:nvSpPr>
            <p:cNvPr id="58405" name="Text Box 68"/>
            <p:cNvSpPr txBox="1">
              <a:spLocks noChangeArrowheads="1"/>
            </p:cNvSpPr>
            <p:nvPr/>
          </p:nvSpPr>
          <p:spPr bwMode="auto">
            <a:xfrm>
              <a:off x="3024" y="1670"/>
              <a:ext cx="135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a:t>The bad is in (C,D)</a:t>
              </a:r>
            </a:p>
          </p:txBody>
        </p:sp>
        <p:sp>
          <p:nvSpPr>
            <p:cNvPr id="58406" name="Text Box 69"/>
            <p:cNvSpPr txBox="1">
              <a:spLocks noChangeArrowheads="1"/>
            </p:cNvSpPr>
            <p:nvPr/>
          </p:nvSpPr>
          <p:spPr bwMode="auto">
            <a:xfrm>
              <a:off x="336" y="1680"/>
              <a:ext cx="135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a:t>The bad is in (A,B)</a:t>
              </a:r>
            </a:p>
          </p:txBody>
        </p:sp>
      </p:grpSp>
    </p:spTree>
    <p:extLst>
      <p:ext uri="{BB962C8B-B14F-4D97-AF65-F5344CB8AC3E}">
        <p14:creationId xmlns:p14="http://schemas.microsoft.com/office/powerpoint/2010/main" val="4051363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3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74</a:t>
            </a:fld>
            <a:endParaRPr lang="en-US"/>
          </a:p>
        </p:txBody>
      </p:sp>
      <p:sp>
        <p:nvSpPr>
          <p:cNvPr id="5" name="Title 4"/>
          <p:cNvSpPr>
            <a:spLocks noGrp="1"/>
          </p:cNvSpPr>
          <p:nvPr>
            <p:ph type="title"/>
          </p:nvPr>
        </p:nvSpPr>
        <p:spPr/>
        <p:txBody>
          <a:bodyPr/>
          <a:lstStyle/>
          <a:p>
            <a:r>
              <a:rPr lang="en-US" dirty="0" err="1"/>
              <a:t>Cây</a:t>
            </a:r>
            <a:r>
              <a:rPr lang="en-US" dirty="0"/>
              <a:t> </a:t>
            </a:r>
            <a:r>
              <a:rPr lang="en-US" dirty="0" err="1"/>
              <a:t>cân</a:t>
            </a:r>
            <a:r>
              <a:rPr lang="en-US" dirty="0"/>
              <a:t> </a:t>
            </a:r>
            <a:r>
              <a:rPr lang="en-US" dirty="0" err="1"/>
              <a:t>bằng</a:t>
            </a:r>
            <a:r>
              <a:rPr lang="en-US" dirty="0"/>
              <a:t> </a:t>
            </a:r>
          </a:p>
        </p:txBody>
      </p:sp>
      <p:sp>
        <p:nvSpPr>
          <p:cNvPr id="2" name="Content Placeholder 1"/>
          <p:cNvSpPr>
            <a:spLocks noGrp="1"/>
          </p:cNvSpPr>
          <p:nvPr>
            <p:ph type="body" sz="quarter" idx="13"/>
          </p:nvPr>
        </p:nvSpPr>
        <p:spPr/>
        <p:txBody>
          <a:bodyPr>
            <a:normAutofit/>
          </a:bodyPr>
          <a:lstStyle/>
          <a:p>
            <a:r>
              <a:rPr lang="en-US" sz="2400" dirty="0" err="1"/>
              <a:t>Giải</a:t>
            </a:r>
            <a:r>
              <a:rPr lang="en-US" sz="2400" dirty="0"/>
              <a:t> </a:t>
            </a:r>
            <a:r>
              <a:rPr lang="en-US" sz="2400" dirty="0" err="1"/>
              <a:t>thuật</a:t>
            </a:r>
            <a:r>
              <a:rPr lang="en-US" sz="2400" dirty="0"/>
              <a:t> </a:t>
            </a:r>
            <a:r>
              <a:rPr lang="en-US" sz="2400" dirty="0" err="1"/>
              <a:t>tìm</a:t>
            </a:r>
            <a:r>
              <a:rPr lang="en-US" sz="2400" dirty="0"/>
              <a:t> </a:t>
            </a:r>
            <a:r>
              <a:rPr lang="en-US" sz="2400" dirty="0" err="1"/>
              <a:t>kiếm</a:t>
            </a:r>
            <a:r>
              <a:rPr lang="en-US" sz="2400" dirty="0"/>
              <a:t> </a:t>
            </a:r>
            <a:r>
              <a:rPr lang="en-US" sz="2400" dirty="0" err="1"/>
              <a:t>đối</a:t>
            </a:r>
            <a:r>
              <a:rPr lang="en-US" sz="2400" dirty="0"/>
              <a:t> </a:t>
            </a:r>
            <a:r>
              <a:rPr lang="en-US" sz="2400" dirty="0" err="1"/>
              <a:t>với</a:t>
            </a:r>
            <a:r>
              <a:rPr lang="en-US" sz="2400" dirty="0"/>
              <a:t> </a:t>
            </a:r>
            <a:r>
              <a:rPr lang="en-US" sz="2400" dirty="0" err="1"/>
              <a:t>cây</a:t>
            </a:r>
            <a:r>
              <a:rPr lang="en-US" sz="2400" dirty="0"/>
              <a:t> </a:t>
            </a:r>
            <a:r>
              <a:rPr lang="en-US" sz="2400" dirty="0" err="1"/>
              <a:t>nhị</a:t>
            </a:r>
            <a:r>
              <a:rPr lang="en-US" sz="2400" dirty="0"/>
              <a:t> </a:t>
            </a:r>
            <a:r>
              <a:rPr lang="en-US" sz="2400" dirty="0" err="1"/>
              <a:t>phân</a:t>
            </a:r>
            <a:r>
              <a:rPr lang="en-US" sz="2400" dirty="0"/>
              <a:t> </a:t>
            </a:r>
            <a:r>
              <a:rPr lang="en-US" sz="2400" dirty="0" err="1"/>
              <a:t>tìm</a:t>
            </a:r>
            <a:r>
              <a:rPr lang="en-US" sz="2400" dirty="0"/>
              <a:t> </a:t>
            </a:r>
            <a:r>
              <a:rPr lang="en-US" sz="2400" dirty="0" err="1"/>
              <a:t>kiếm</a:t>
            </a:r>
            <a:r>
              <a:rPr lang="en-US" sz="2400" dirty="0"/>
              <a:t> </a:t>
            </a:r>
            <a:r>
              <a:rPr lang="en-US" sz="2400" dirty="0" err="1"/>
              <a:t>độ</a:t>
            </a:r>
            <a:r>
              <a:rPr lang="en-US" sz="2400" dirty="0"/>
              <a:t> </a:t>
            </a:r>
            <a:r>
              <a:rPr lang="en-US" sz="2400" dirty="0" err="1"/>
              <a:t>phức</a:t>
            </a:r>
            <a:r>
              <a:rPr lang="en-US" sz="2400" dirty="0"/>
              <a:t> </a:t>
            </a:r>
            <a:r>
              <a:rPr lang="en-US" sz="2400" dirty="0" err="1"/>
              <a:t>tạp</a:t>
            </a:r>
            <a:r>
              <a:rPr lang="en-US" sz="2400" dirty="0"/>
              <a:t> </a:t>
            </a:r>
            <a:r>
              <a:rPr lang="en-US" sz="2400" dirty="0" err="1"/>
              <a:t>phụ</a:t>
            </a:r>
            <a:r>
              <a:rPr lang="en-US" sz="2400" dirty="0"/>
              <a:t> </a:t>
            </a:r>
            <a:r>
              <a:rPr lang="en-US" sz="2400" dirty="0" err="1"/>
              <a:t>thuộc</a:t>
            </a:r>
            <a:r>
              <a:rPr lang="en-US" sz="2400" dirty="0"/>
              <a:t> </a:t>
            </a:r>
            <a:r>
              <a:rPr lang="en-US" sz="2400" dirty="0" err="1"/>
              <a:t>vào</a:t>
            </a:r>
            <a:r>
              <a:rPr lang="en-US" sz="2400" dirty="0"/>
              <a:t> </a:t>
            </a:r>
            <a:r>
              <a:rPr lang="en-US" sz="2400" dirty="0" err="1"/>
              <a:t>chiều</a:t>
            </a:r>
            <a:r>
              <a:rPr lang="en-US" sz="2400" dirty="0"/>
              <a:t> </a:t>
            </a:r>
            <a:r>
              <a:rPr lang="en-US" sz="2400" dirty="0" err="1"/>
              <a:t>cao</a:t>
            </a:r>
            <a:r>
              <a:rPr lang="en-US" sz="2400" dirty="0"/>
              <a:t> </a:t>
            </a:r>
            <a:r>
              <a:rPr lang="en-US" sz="2400" dirty="0" err="1"/>
              <a:t>của</a:t>
            </a:r>
            <a:r>
              <a:rPr lang="en-US" sz="2400" dirty="0"/>
              <a:t> </a:t>
            </a:r>
            <a:r>
              <a:rPr lang="en-US" sz="2400" dirty="0" err="1"/>
              <a:t>cây</a:t>
            </a:r>
            <a:r>
              <a:rPr lang="en-US" sz="2400" dirty="0"/>
              <a:t>.</a:t>
            </a:r>
          </a:p>
          <a:p>
            <a:r>
              <a:rPr lang="en-US" sz="2400" dirty="0"/>
              <a:t>K</a:t>
            </a:r>
            <a:r>
              <a:rPr lang="vi-VN" sz="2400" dirty="0"/>
              <a:t>hái niệm cây cân bằng</a:t>
            </a:r>
            <a:r>
              <a:rPr lang="en-US" sz="2400" dirty="0"/>
              <a:t>:</a:t>
            </a:r>
            <a:r>
              <a:rPr lang="vi-VN" sz="2400" dirty="0"/>
              <a:t> </a:t>
            </a:r>
            <a:r>
              <a:rPr lang="en-US" sz="2400" dirty="0" err="1"/>
              <a:t>là</a:t>
            </a:r>
            <a:r>
              <a:rPr lang="en-US" sz="2400" dirty="0"/>
              <a:t> </a:t>
            </a:r>
            <a:r>
              <a:rPr lang="en-US" sz="2400" dirty="0" err="1"/>
              <a:t>cây</a:t>
            </a:r>
            <a:r>
              <a:rPr lang="en-US" sz="2400" dirty="0"/>
              <a:t> </a:t>
            </a:r>
            <a:r>
              <a:rPr lang="en-US" sz="2400" dirty="0" err="1"/>
              <a:t>nhị</a:t>
            </a:r>
            <a:r>
              <a:rPr lang="en-US" sz="2400" dirty="0"/>
              <a:t> </a:t>
            </a:r>
            <a:r>
              <a:rPr lang="en-US" sz="2400" dirty="0" err="1"/>
              <a:t>phân</a:t>
            </a:r>
            <a:r>
              <a:rPr lang="en-US" sz="2400" dirty="0"/>
              <a:t> </a:t>
            </a:r>
            <a:r>
              <a:rPr lang="en-US" sz="2400" dirty="0" err="1"/>
              <a:t>tìm</a:t>
            </a:r>
            <a:r>
              <a:rPr lang="en-US" sz="2400" dirty="0"/>
              <a:t> </a:t>
            </a:r>
            <a:r>
              <a:rPr lang="en-US" sz="2400" dirty="0" err="1"/>
              <a:t>kiếm</a:t>
            </a:r>
            <a:r>
              <a:rPr lang="vi-VN" sz="2400" dirty="0"/>
              <a:t> có mức độ phân bố chiều cao </a:t>
            </a:r>
            <a:r>
              <a:rPr lang="vi-VN" sz="2400" i="1" dirty="0"/>
              <a:t>cân đối </a:t>
            </a:r>
            <a:r>
              <a:rPr lang="vi-VN" sz="2400" dirty="0"/>
              <a:t>giữa từng cặp cây con trái/con phải tương ứng</a:t>
            </a:r>
            <a:endParaRPr lang="en-US" sz="2400" dirty="0"/>
          </a:p>
          <a:p>
            <a:pPr lvl="1"/>
            <a:r>
              <a:rPr lang="en-US" sz="2000" dirty="0" err="1"/>
              <a:t>Hạn</a:t>
            </a:r>
            <a:r>
              <a:rPr lang="en-US" sz="2000" dirty="0"/>
              <a:t> </a:t>
            </a:r>
            <a:r>
              <a:rPr lang="en-US" sz="2000" dirty="0" err="1"/>
              <a:t>chế</a:t>
            </a:r>
            <a:r>
              <a:rPr lang="en-US" sz="2000" dirty="0"/>
              <a:t> </a:t>
            </a:r>
            <a:r>
              <a:rPr lang="en-US" sz="2000" dirty="0" err="1"/>
              <a:t>mức</a:t>
            </a:r>
            <a:r>
              <a:rPr lang="en-US" sz="2000" dirty="0"/>
              <a:t> </a:t>
            </a:r>
            <a:r>
              <a:rPr lang="en-US" sz="2000" dirty="0" err="1"/>
              <a:t>độ</a:t>
            </a:r>
            <a:r>
              <a:rPr lang="en-US" sz="2000" dirty="0"/>
              <a:t> </a:t>
            </a:r>
            <a:r>
              <a:rPr lang="en-US" sz="2000" dirty="0" err="1"/>
              <a:t>suy</a:t>
            </a:r>
            <a:r>
              <a:rPr lang="en-US" sz="2000" dirty="0"/>
              <a:t> </a:t>
            </a:r>
            <a:r>
              <a:rPr lang="en-US" sz="2000" dirty="0" err="1"/>
              <a:t>biến</a:t>
            </a:r>
            <a:r>
              <a:rPr lang="en-US" sz="2000" dirty="0"/>
              <a:t> </a:t>
            </a:r>
            <a:r>
              <a:rPr lang="en-US" sz="2000" dirty="0" err="1"/>
              <a:t>của</a:t>
            </a:r>
            <a:r>
              <a:rPr lang="en-US" sz="2000" dirty="0"/>
              <a:t> </a:t>
            </a:r>
            <a:r>
              <a:rPr lang="en-US" sz="2000" dirty="0" err="1"/>
              <a:t>cây</a:t>
            </a:r>
            <a:r>
              <a:rPr lang="en-US" sz="2000" dirty="0"/>
              <a:t> </a:t>
            </a:r>
            <a:r>
              <a:rPr lang="en-US" sz="2000" dirty="0" err="1"/>
              <a:t>nhị</a:t>
            </a:r>
            <a:r>
              <a:rPr lang="en-US" sz="2000" dirty="0"/>
              <a:t> </a:t>
            </a:r>
            <a:r>
              <a:rPr lang="en-US" sz="2000" dirty="0" err="1"/>
              <a:t>phân</a:t>
            </a:r>
            <a:r>
              <a:rPr lang="en-US" sz="2000" dirty="0"/>
              <a:t> </a:t>
            </a:r>
            <a:r>
              <a:rPr lang="en-US" sz="2000" dirty="0" err="1"/>
              <a:t>tìm</a:t>
            </a:r>
            <a:r>
              <a:rPr lang="en-US" sz="2000" dirty="0"/>
              <a:t> </a:t>
            </a:r>
            <a:r>
              <a:rPr lang="en-US" sz="2000" dirty="0" err="1"/>
              <a:t>kiếm</a:t>
            </a:r>
            <a:r>
              <a:rPr lang="en-US" sz="2000" dirty="0"/>
              <a:t>, </a:t>
            </a:r>
            <a:r>
              <a:rPr lang="en-US" sz="2000" dirty="0" err="1"/>
              <a:t>nguyên</a:t>
            </a:r>
            <a:r>
              <a:rPr lang="en-US" sz="2000" dirty="0"/>
              <a:t> </a:t>
            </a:r>
            <a:r>
              <a:rPr lang="en-US" sz="2000" dirty="0" err="1"/>
              <a:t>nhân</a:t>
            </a:r>
            <a:r>
              <a:rPr lang="en-US" sz="2000" dirty="0"/>
              <a:t> </a:t>
            </a:r>
            <a:r>
              <a:rPr lang="en-US" sz="2000" dirty="0" err="1"/>
              <a:t>làm</a:t>
            </a:r>
            <a:r>
              <a:rPr lang="en-US" sz="2000" dirty="0"/>
              <a:t> </a:t>
            </a:r>
            <a:r>
              <a:rPr lang="en-US" sz="2000" dirty="0" err="1"/>
              <a:t>giảm</a:t>
            </a:r>
            <a:r>
              <a:rPr lang="en-US" sz="2000" dirty="0"/>
              <a:t> </a:t>
            </a:r>
            <a:r>
              <a:rPr lang="en-US" sz="2000" dirty="0" err="1"/>
              <a:t>tốc</a:t>
            </a:r>
            <a:r>
              <a:rPr lang="en-US" sz="2000" dirty="0"/>
              <a:t> </a:t>
            </a:r>
            <a:r>
              <a:rPr lang="en-US" sz="2000" dirty="0" err="1"/>
              <a:t>độ</a:t>
            </a:r>
            <a:r>
              <a:rPr lang="en-US" sz="2000" dirty="0"/>
              <a:t> </a:t>
            </a:r>
            <a:r>
              <a:rPr lang="en-US" sz="2000" dirty="0" err="1"/>
              <a:t>các</a:t>
            </a:r>
            <a:r>
              <a:rPr lang="en-US" sz="2000" dirty="0"/>
              <a:t> </a:t>
            </a:r>
            <a:r>
              <a:rPr lang="en-US" sz="2000" dirty="0" err="1"/>
              <a:t>thao</a:t>
            </a:r>
            <a:r>
              <a:rPr lang="en-US" sz="2000" dirty="0"/>
              <a:t> </a:t>
            </a:r>
            <a:r>
              <a:rPr lang="en-US" sz="2000" dirty="0" err="1"/>
              <a:t>tác</a:t>
            </a:r>
            <a:r>
              <a:rPr lang="en-US" sz="2000" dirty="0"/>
              <a:t> </a:t>
            </a:r>
            <a:r>
              <a:rPr lang="en-US" sz="2000" dirty="0" err="1"/>
              <a:t>trên</a:t>
            </a:r>
            <a:r>
              <a:rPr lang="en-US" sz="2000" dirty="0"/>
              <a:t> </a:t>
            </a:r>
            <a:r>
              <a:rPr lang="en-US" sz="2000" dirty="0" err="1"/>
              <a:t>loại</a:t>
            </a:r>
            <a:r>
              <a:rPr lang="en-US" sz="2000" dirty="0"/>
              <a:t> </a:t>
            </a:r>
            <a:r>
              <a:rPr lang="en-US" sz="2000" dirty="0" err="1"/>
              <a:t>cây</a:t>
            </a:r>
            <a:r>
              <a:rPr lang="en-US" sz="2000" dirty="0"/>
              <a:t> </a:t>
            </a:r>
            <a:r>
              <a:rPr lang="en-US" sz="2000" dirty="0" err="1"/>
              <a:t>này</a:t>
            </a:r>
            <a:r>
              <a:rPr lang="en-US" sz="2000" dirty="0"/>
              <a:t>, </a:t>
            </a:r>
            <a:r>
              <a:rPr lang="en-US" sz="2000" dirty="0" err="1"/>
              <a:t>nhất</a:t>
            </a:r>
            <a:r>
              <a:rPr lang="en-US" sz="2000" dirty="0"/>
              <a:t> </a:t>
            </a:r>
            <a:r>
              <a:rPr lang="en-US" sz="2000" dirty="0" err="1"/>
              <a:t>là</a:t>
            </a:r>
            <a:r>
              <a:rPr lang="en-US" sz="2000" dirty="0"/>
              <a:t> </a:t>
            </a:r>
            <a:r>
              <a:rPr lang="en-US" sz="2000" dirty="0" err="1"/>
              <a:t>thao</a:t>
            </a:r>
            <a:r>
              <a:rPr lang="en-US" sz="2000" dirty="0"/>
              <a:t> </a:t>
            </a:r>
            <a:r>
              <a:rPr lang="en-US" sz="2000" dirty="0" err="1"/>
              <a:t>tác</a:t>
            </a:r>
            <a:r>
              <a:rPr lang="en-US" sz="2000" dirty="0"/>
              <a:t> </a:t>
            </a:r>
            <a:r>
              <a:rPr lang="en-US" sz="2000" dirty="0" err="1"/>
              <a:t>tìm</a:t>
            </a:r>
            <a:r>
              <a:rPr lang="en-US" sz="2000" dirty="0"/>
              <a:t> </a:t>
            </a:r>
            <a:r>
              <a:rPr lang="en-US" sz="2000" dirty="0" err="1"/>
              <a:t>kiếm</a:t>
            </a:r>
            <a:r>
              <a:rPr lang="en-US" sz="2000" dirty="0"/>
              <a:t>.</a:t>
            </a:r>
          </a:p>
          <a:p>
            <a:pPr lvl="1"/>
            <a:r>
              <a:rPr lang="en-US" sz="2000" dirty="0" err="1"/>
              <a:t>Đảm</a:t>
            </a:r>
            <a:r>
              <a:rPr lang="en-US" sz="2000" dirty="0"/>
              <a:t> </a:t>
            </a:r>
            <a:r>
              <a:rPr lang="en-US" sz="2000" dirty="0" err="1"/>
              <a:t>bảo</a:t>
            </a:r>
            <a:r>
              <a:rPr lang="en-US" sz="2000" dirty="0"/>
              <a:t> </a:t>
            </a:r>
            <a:r>
              <a:rPr lang="en-US" sz="2000" dirty="0" err="1"/>
              <a:t>độ</a:t>
            </a:r>
            <a:r>
              <a:rPr lang="en-US" sz="2000" dirty="0"/>
              <a:t> </a:t>
            </a:r>
            <a:r>
              <a:rPr lang="en-US" sz="2000" dirty="0" err="1"/>
              <a:t>phức</a:t>
            </a:r>
            <a:r>
              <a:rPr lang="en-US" sz="2000" dirty="0"/>
              <a:t> </a:t>
            </a:r>
            <a:r>
              <a:rPr lang="en-US" sz="2000" dirty="0" err="1"/>
              <a:t>tạp</a:t>
            </a:r>
            <a:r>
              <a:rPr lang="en-US" sz="2000" dirty="0"/>
              <a:t> </a:t>
            </a:r>
            <a:r>
              <a:rPr lang="en-US" sz="2000" dirty="0" err="1"/>
              <a:t>của</a:t>
            </a:r>
            <a:r>
              <a:rPr lang="en-US" sz="2000" dirty="0"/>
              <a:t> </a:t>
            </a:r>
            <a:r>
              <a:rPr lang="en-US" sz="2000" dirty="0" err="1"/>
              <a:t>tìm</a:t>
            </a:r>
            <a:r>
              <a:rPr lang="en-US" sz="2000" dirty="0"/>
              <a:t> </a:t>
            </a:r>
            <a:r>
              <a:rPr lang="en-US" sz="2000" dirty="0" err="1"/>
              <a:t>kiếm</a:t>
            </a:r>
            <a:r>
              <a:rPr lang="en-US" sz="2000" dirty="0"/>
              <a:t> </a:t>
            </a:r>
            <a:r>
              <a:rPr lang="en-US" sz="2000" dirty="0" err="1"/>
              <a:t>nhị</a:t>
            </a:r>
            <a:r>
              <a:rPr lang="en-US" sz="2000" dirty="0"/>
              <a:t> </a:t>
            </a:r>
            <a:r>
              <a:rPr lang="en-US" sz="2000" dirty="0" err="1"/>
              <a:t>phân</a:t>
            </a:r>
            <a:r>
              <a:rPr lang="en-US" sz="2000" dirty="0"/>
              <a:t> </a:t>
            </a:r>
            <a:r>
              <a:rPr lang="en-US" sz="2000" dirty="0" err="1"/>
              <a:t>luôn</a:t>
            </a:r>
            <a:r>
              <a:rPr lang="en-US" sz="2000" dirty="0"/>
              <a:t> </a:t>
            </a:r>
            <a:r>
              <a:rPr lang="en-US" sz="2000" dirty="0" err="1"/>
              <a:t>là</a:t>
            </a:r>
            <a:r>
              <a:rPr lang="en-US" sz="2000" dirty="0"/>
              <a:t> O(log</a:t>
            </a:r>
            <a:r>
              <a:rPr lang="en-US" sz="2000" baseline="-25000" dirty="0"/>
              <a:t>2</a:t>
            </a:r>
            <a:r>
              <a:rPr lang="en-US" sz="2000" dirty="0"/>
              <a:t>N)</a:t>
            </a:r>
          </a:p>
        </p:txBody>
      </p:sp>
      <p:pic>
        <p:nvPicPr>
          <p:cNvPr id="6" name="Picture 5"/>
          <p:cNvPicPr>
            <a:picLocks noChangeAspect="1"/>
          </p:cNvPicPr>
          <p:nvPr/>
        </p:nvPicPr>
        <p:blipFill>
          <a:blip r:embed="rId3"/>
          <a:stretch>
            <a:fillRect/>
          </a:stretch>
        </p:blipFill>
        <p:spPr>
          <a:xfrm>
            <a:off x="1698288" y="3657600"/>
            <a:ext cx="1900160" cy="2296026"/>
          </a:xfrm>
          <a:prstGeom prst="rect">
            <a:avLst/>
          </a:prstGeom>
        </p:spPr>
      </p:pic>
      <p:pic>
        <p:nvPicPr>
          <p:cNvPr id="7" name="Picture 6"/>
          <p:cNvPicPr>
            <a:picLocks noChangeAspect="1"/>
          </p:cNvPicPr>
          <p:nvPr/>
        </p:nvPicPr>
        <p:blipFill>
          <a:blip r:embed="rId4"/>
          <a:stretch>
            <a:fillRect/>
          </a:stretch>
        </p:blipFill>
        <p:spPr>
          <a:xfrm>
            <a:off x="5029200" y="3733800"/>
            <a:ext cx="2252730" cy="1737820"/>
          </a:xfrm>
          <a:prstGeom prst="rect">
            <a:avLst/>
          </a:prstGeom>
        </p:spPr>
      </p:pic>
      <p:sp>
        <p:nvSpPr>
          <p:cNvPr id="8" name="TextBox 7"/>
          <p:cNvSpPr txBox="1"/>
          <p:nvPr/>
        </p:nvSpPr>
        <p:spPr>
          <a:xfrm>
            <a:off x="4136688" y="4495800"/>
            <a:ext cx="435312" cy="369332"/>
          </a:xfrm>
          <a:prstGeom prst="rect">
            <a:avLst/>
          </a:prstGeom>
          <a:noFill/>
        </p:spPr>
        <p:txBody>
          <a:bodyPr wrap="none" rtlCol="0">
            <a:spAutoFit/>
          </a:bodyPr>
          <a:lstStyle/>
          <a:p>
            <a:r>
              <a:rPr lang="en-US" dirty="0"/>
              <a:t>vs.</a:t>
            </a:r>
          </a:p>
        </p:txBody>
      </p:sp>
    </p:spTree>
    <p:extLst>
      <p:ext uri="{BB962C8B-B14F-4D97-AF65-F5344CB8AC3E}">
        <p14:creationId xmlns:p14="http://schemas.microsoft.com/office/powerpoint/2010/main" val="39740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75</a:t>
            </a:fld>
            <a:endParaRPr lang="en-US"/>
          </a:p>
        </p:txBody>
      </p:sp>
      <p:sp>
        <p:nvSpPr>
          <p:cNvPr id="5" name="Title 4"/>
          <p:cNvSpPr>
            <a:spLocks noGrp="1"/>
          </p:cNvSpPr>
          <p:nvPr>
            <p:ph type="title"/>
          </p:nvPr>
        </p:nvSpPr>
        <p:spPr/>
        <p:txBody>
          <a:bodyPr/>
          <a:lstStyle/>
          <a:p>
            <a:r>
              <a:rPr lang="en-US" dirty="0" err="1"/>
              <a:t>Cây</a:t>
            </a:r>
            <a:r>
              <a:rPr lang="en-US" dirty="0"/>
              <a:t> </a:t>
            </a:r>
            <a:r>
              <a:rPr lang="en-US" dirty="0" err="1"/>
              <a:t>cân</a:t>
            </a:r>
            <a:r>
              <a:rPr lang="en-US" dirty="0"/>
              <a:t> </a:t>
            </a:r>
            <a:r>
              <a:rPr lang="en-US" dirty="0" err="1"/>
              <a:t>bằng</a:t>
            </a:r>
            <a:r>
              <a:rPr lang="en-US" dirty="0"/>
              <a:t> </a:t>
            </a:r>
          </a:p>
        </p:txBody>
      </p:sp>
      <p:sp>
        <p:nvSpPr>
          <p:cNvPr id="2" name="Content Placeholder 1"/>
          <p:cNvSpPr>
            <a:spLocks noGrp="1"/>
          </p:cNvSpPr>
          <p:nvPr>
            <p:ph type="body" sz="quarter" idx="13"/>
          </p:nvPr>
        </p:nvSpPr>
        <p:spPr/>
        <p:txBody>
          <a:bodyPr>
            <a:normAutofit/>
          </a:bodyPr>
          <a:lstStyle/>
          <a:p>
            <a:r>
              <a:rPr lang="en-AU" altLang="en-US" sz="2400" dirty="0" err="1"/>
              <a:t>Cây</a:t>
            </a:r>
            <a:r>
              <a:rPr lang="en-AU" altLang="en-US" sz="2400" dirty="0"/>
              <a:t> </a:t>
            </a:r>
            <a:r>
              <a:rPr lang="en-AU" altLang="en-US" sz="2400" dirty="0" err="1"/>
              <a:t>cân</a:t>
            </a:r>
            <a:r>
              <a:rPr lang="en-AU" altLang="en-US" sz="2400" dirty="0"/>
              <a:t> </a:t>
            </a:r>
            <a:r>
              <a:rPr lang="en-AU" altLang="en-US" sz="2400" dirty="0" err="1"/>
              <a:t>bằng</a:t>
            </a:r>
            <a:r>
              <a:rPr lang="en-AU" altLang="en-US" sz="2400" dirty="0"/>
              <a:t> </a:t>
            </a:r>
            <a:r>
              <a:rPr lang="en-AU" altLang="en-US" sz="2400" dirty="0" err="1"/>
              <a:t>về</a:t>
            </a:r>
            <a:r>
              <a:rPr lang="en-AU" altLang="en-US" sz="2400" dirty="0"/>
              <a:t> </a:t>
            </a:r>
            <a:r>
              <a:rPr lang="en-AU" altLang="en-US" sz="2400" dirty="0" err="1"/>
              <a:t>chiều</a:t>
            </a:r>
            <a:r>
              <a:rPr lang="en-AU" altLang="en-US" sz="2400" dirty="0"/>
              <a:t> </a:t>
            </a:r>
            <a:r>
              <a:rPr lang="en-AU" altLang="en-US" sz="2400" dirty="0" err="1"/>
              <a:t>cao</a:t>
            </a:r>
            <a:r>
              <a:rPr lang="en-AU" altLang="en-US" sz="2400" dirty="0"/>
              <a:t> (</a:t>
            </a:r>
            <a:r>
              <a:rPr lang="en-AU" altLang="en-US" sz="2400" dirty="0" err="1"/>
              <a:t>cây</a:t>
            </a:r>
            <a:r>
              <a:rPr lang="en-AU" altLang="en-US" sz="2400" dirty="0"/>
              <a:t> </a:t>
            </a:r>
            <a:r>
              <a:rPr lang="en-AU" altLang="en-US" sz="2400" dirty="0" err="1"/>
              <a:t>cân</a:t>
            </a:r>
            <a:r>
              <a:rPr lang="en-AU" altLang="en-US" sz="2400" dirty="0"/>
              <a:t> </a:t>
            </a:r>
            <a:r>
              <a:rPr lang="en-AU" altLang="en-US" sz="2400" dirty="0" err="1"/>
              <a:t>bằng</a:t>
            </a:r>
            <a:r>
              <a:rPr lang="en-AU" altLang="en-US" sz="2400" dirty="0"/>
              <a:t>)</a:t>
            </a:r>
          </a:p>
          <a:p>
            <a:pPr lvl="1"/>
            <a:r>
              <a:rPr lang="en-US" sz="2000" dirty="0"/>
              <a:t>Đ</a:t>
            </a:r>
            <a:r>
              <a:rPr lang="vi-VN" sz="2000" dirty="0"/>
              <a:t>ộ chênh lệch về chiều cao giữa hai cây con trái và phải tương ứng bất kỳ trong nó không lớn hơn 1</a:t>
            </a:r>
            <a:endParaRPr lang="en-US" sz="2000" dirty="0"/>
          </a:p>
          <a:p>
            <a:pPr lvl="1"/>
            <a:endParaRPr lang="en-US" sz="2000" dirty="0"/>
          </a:p>
          <a:p>
            <a:pPr lvl="1"/>
            <a:endParaRPr lang="en-US" sz="2000" dirty="0"/>
          </a:p>
          <a:p>
            <a:pPr lvl="2"/>
            <a:r>
              <a:rPr lang="vi-VN" sz="1800" dirty="0"/>
              <a:t>AL và AR là hai cây con tương ứng của nút A</a:t>
            </a:r>
            <a:endParaRPr lang="en-US" sz="1800" dirty="0"/>
          </a:p>
          <a:p>
            <a:pPr lvl="2"/>
            <a:r>
              <a:rPr lang="vi-VN" sz="1800" dirty="0"/>
              <a:t>h(A</a:t>
            </a:r>
            <a:r>
              <a:rPr lang="vi-VN" sz="1800" baseline="-25000" dirty="0"/>
              <a:t>R</a:t>
            </a:r>
            <a:r>
              <a:rPr lang="vi-VN" sz="1800" dirty="0"/>
              <a:t>)–h(A</a:t>
            </a:r>
            <a:r>
              <a:rPr lang="vi-VN" sz="1800" baseline="-25000" dirty="0"/>
              <a:t>L</a:t>
            </a:r>
            <a:r>
              <a:rPr lang="vi-VN" sz="1800" dirty="0"/>
              <a:t>) </a:t>
            </a:r>
            <a:r>
              <a:rPr lang="en-US" sz="1800" dirty="0"/>
              <a:t>:</a:t>
            </a:r>
            <a:r>
              <a:rPr lang="vi-VN" sz="1800" dirty="0"/>
              <a:t> yếu tố cân bằng (balanced factor) của nút A</a:t>
            </a:r>
            <a:endParaRPr lang="en-US" sz="1600" dirty="0"/>
          </a:p>
        </p:txBody>
      </p:sp>
      <p:pic>
        <p:nvPicPr>
          <p:cNvPr id="6" name="Picture 5"/>
          <p:cNvPicPr>
            <a:picLocks noChangeAspect="1"/>
          </p:cNvPicPr>
          <p:nvPr/>
        </p:nvPicPr>
        <p:blipFill>
          <a:blip r:embed="rId3"/>
          <a:stretch>
            <a:fillRect/>
          </a:stretch>
        </p:blipFill>
        <p:spPr>
          <a:xfrm>
            <a:off x="1745178" y="1945853"/>
            <a:ext cx="4695569" cy="381000"/>
          </a:xfrm>
          <a:prstGeom prst="rect">
            <a:avLst/>
          </a:prstGeom>
        </p:spPr>
      </p:pic>
      <p:pic>
        <p:nvPicPr>
          <p:cNvPr id="7" name="Picture 6"/>
          <p:cNvPicPr>
            <a:picLocks noChangeAspect="1"/>
          </p:cNvPicPr>
          <p:nvPr/>
        </p:nvPicPr>
        <p:blipFill>
          <a:blip r:embed="rId4"/>
          <a:stretch>
            <a:fillRect/>
          </a:stretch>
        </p:blipFill>
        <p:spPr>
          <a:xfrm>
            <a:off x="2906484" y="3453678"/>
            <a:ext cx="3496163" cy="2876951"/>
          </a:xfrm>
          <a:prstGeom prst="rect">
            <a:avLst/>
          </a:prstGeom>
        </p:spPr>
      </p:pic>
    </p:spTree>
    <p:extLst>
      <p:ext uri="{BB962C8B-B14F-4D97-AF65-F5344CB8AC3E}">
        <p14:creationId xmlns:p14="http://schemas.microsoft.com/office/powerpoint/2010/main" val="3978831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76</a:t>
            </a:fld>
            <a:endParaRPr lang="en-US"/>
          </a:p>
        </p:txBody>
      </p:sp>
      <p:sp>
        <p:nvSpPr>
          <p:cNvPr id="5" name="Title 4"/>
          <p:cNvSpPr>
            <a:spLocks noGrp="1"/>
          </p:cNvSpPr>
          <p:nvPr>
            <p:ph type="title"/>
          </p:nvPr>
        </p:nvSpPr>
        <p:spPr/>
        <p:txBody>
          <a:bodyPr/>
          <a:lstStyle/>
          <a:p>
            <a:r>
              <a:rPr lang="en-US" dirty="0" err="1"/>
              <a:t>Cây</a:t>
            </a:r>
            <a:r>
              <a:rPr lang="en-US" dirty="0"/>
              <a:t> </a:t>
            </a:r>
            <a:r>
              <a:rPr lang="en-US" dirty="0" err="1"/>
              <a:t>cân</a:t>
            </a:r>
            <a:r>
              <a:rPr lang="en-US" dirty="0"/>
              <a:t> </a:t>
            </a:r>
            <a:r>
              <a:rPr lang="en-US" dirty="0" err="1"/>
              <a:t>bằng</a:t>
            </a:r>
            <a:r>
              <a:rPr lang="en-US" dirty="0"/>
              <a:t> </a:t>
            </a:r>
          </a:p>
        </p:txBody>
      </p:sp>
      <p:sp>
        <p:nvSpPr>
          <p:cNvPr id="2" name="Content Placeholder 1"/>
          <p:cNvSpPr>
            <a:spLocks noGrp="1"/>
          </p:cNvSpPr>
          <p:nvPr>
            <p:ph type="body" sz="quarter" idx="13"/>
          </p:nvPr>
        </p:nvSpPr>
        <p:spPr/>
        <p:txBody>
          <a:bodyPr>
            <a:normAutofit/>
          </a:bodyPr>
          <a:lstStyle/>
          <a:p>
            <a:r>
              <a:rPr lang="en-US" sz="2400" dirty="0" err="1"/>
              <a:t>Cây</a:t>
            </a:r>
            <a:r>
              <a:rPr lang="en-US" sz="2400" dirty="0"/>
              <a:t> </a:t>
            </a:r>
            <a:r>
              <a:rPr lang="en-US" sz="2400" dirty="0" err="1"/>
              <a:t>cân</a:t>
            </a:r>
            <a:r>
              <a:rPr lang="en-US" sz="2400" dirty="0"/>
              <a:t> </a:t>
            </a:r>
            <a:r>
              <a:rPr lang="en-US" sz="2400" dirty="0" err="1"/>
              <a:t>bằng</a:t>
            </a:r>
            <a:r>
              <a:rPr lang="en-US" sz="2400" dirty="0"/>
              <a:t> </a:t>
            </a:r>
            <a:r>
              <a:rPr lang="en-US" sz="2400" dirty="0" err="1"/>
              <a:t>hoàn</a:t>
            </a:r>
            <a:r>
              <a:rPr lang="en-US" sz="2400" dirty="0"/>
              <a:t> </a:t>
            </a:r>
            <a:r>
              <a:rPr lang="en-US" sz="2400" dirty="0" err="1"/>
              <a:t>chỉnh</a:t>
            </a:r>
            <a:endParaRPr lang="en-US" sz="2400" dirty="0"/>
          </a:p>
          <a:p>
            <a:pPr lvl="1"/>
            <a:r>
              <a:rPr lang="en-US" sz="2000" dirty="0" err="1"/>
              <a:t>là</a:t>
            </a:r>
            <a:r>
              <a:rPr lang="en-US" sz="2000" dirty="0"/>
              <a:t> </a:t>
            </a:r>
            <a:r>
              <a:rPr lang="en-US" sz="2000" dirty="0" err="1"/>
              <a:t>một</a:t>
            </a:r>
            <a:r>
              <a:rPr lang="en-US" sz="2000" dirty="0"/>
              <a:t> </a:t>
            </a:r>
            <a:r>
              <a:rPr lang="en-US" sz="2000" dirty="0" err="1"/>
              <a:t>cây</a:t>
            </a:r>
            <a:r>
              <a:rPr lang="en-US" sz="2000" dirty="0"/>
              <a:t> </a:t>
            </a:r>
            <a:r>
              <a:rPr lang="en-US" sz="2000" dirty="0" err="1"/>
              <a:t>cân</a:t>
            </a:r>
            <a:r>
              <a:rPr lang="en-US" sz="2000" dirty="0"/>
              <a:t> </a:t>
            </a:r>
            <a:r>
              <a:rPr lang="en-US" sz="2000" dirty="0" err="1"/>
              <a:t>bằng</a:t>
            </a:r>
            <a:r>
              <a:rPr lang="en-US" sz="2000" dirty="0"/>
              <a:t> </a:t>
            </a:r>
            <a:r>
              <a:rPr lang="en-US" sz="2000" dirty="0" err="1"/>
              <a:t>mà</a:t>
            </a:r>
            <a:r>
              <a:rPr lang="en-US" sz="2000" dirty="0"/>
              <a:t> </a:t>
            </a:r>
            <a:r>
              <a:rPr lang="en-US" sz="2000" dirty="0" err="1"/>
              <a:t>tất</a:t>
            </a:r>
            <a:r>
              <a:rPr lang="en-US" sz="2000" dirty="0"/>
              <a:t> </a:t>
            </a:r>
            <a:r>
              <a:rPr lang="en-US" sz="2000" dirty="0" err="1"/>
              <a:t>cả</a:t>
            </a:r>
            <a:r>
              <a:rPr lang="en-US" sz="2000" dirty="0"/>
              <a:t> </a:t>
            </a:r>
            <a:r>
              <a:rPr lang="en-US" sz="2000" dirty="0" err="1"/>
              <a:t>các</a:t>
            </a:r>
            <a:r>
              <a:rPr lang="en-US" sz="2000" dirty="0"/>
              <a:t> </a:t>
            </a:r>
            <a:r>
              <a:rPr lang="en-US" sz="2000" dirty="0" err="1"/>
              <a:t>nút</a:t>
            </a:r>
            <a:r>
              <a:rPr lang="en-US" sz="2000" dirty="0"/>
              <a:t> </a:t>
            </a:r>
            <a:r>
              <a:rPr lang="en-US" sz="2000" dirty="0" err="1"/>
              <a:t>lá</a:t>
            </a:r>
            <a:r>
              <a:rPr lang="en-US" sz="2000" dirty="0"/>
              <a:t> </a:t>
            </a:r>
            <a:r>
              <a:rPr lang="en-US" sz="2000" dirty="0" err="1"/>
              <a:t>của</a:t>
            </a:r>
            <a:r>
              <a:rPr lang="en-US" sz="2000" dirty="0"/>
              <a:t> </a:t>
            </a:r>
            <a:r>
              <a:rPr lang="en-US" sz="2000" dirty="0" err="1"/>
              <a:t>nó</a:t>
            </a:r>
            <a:r>
              <a:rPr lang="en-US" sz="2000" dirty="0"/>
              <a:t> </a:t>
            </a:r>
            <a:r>
              <a:rPr lang="en-US" sz="2000" dirty="0" err="1"/>
              <a:t>chỉ</a:t>
            </a:r>
            <a:r>
              <a:rPr lang="en-US" sz="2000" dirty="0"/>
              <a:t> </a:t>
            </a:r>
            <a:r>
              <a:rPr lang="en-US" sz="2000" dirty="0" err="1"/>
              <a:t>nằm</a:t>
            </a:r>
            <a:r>
              <a:rPr lang="en-US" sz="2000" dirty="0"/>
              <a:t> </a:t>
            </a:r>
            <a:r>
              <a:rPr lang="en-US" sz="2000" dirty="0" err="1"/>
              <a:t>trên</a:t>
            </a:r>
            <a:r>
              <a:rPr lang="en-US" sz="2000" dirty="0"/>
              <a:t> </a:t>
            </a:r>
            <a:r>
              <a:rPr lang="en-US" sz="2000" dirty="0" err="1"/>
              <a:t>một</a:t>
            </a:r>
            <a:r>
              <a:rPr lang="en-US" sz="2000" dirty="0"/>
              <a:t> </a:t>
            </a:r>
            <a:r>
              <a:rPr lang="en-US" sz="2000" dirty="0" err="1"/>
              <a:t>hoặc</a:t>
            </a:r>
            <a:r>
              <a:rPr lang="en-US" sz="2000" dirty="0"/>
              <a:t> </a:t>
            </a:r>
            <a:r>
              <a:rPr lang="en-US" sz="2000" dirty="0" err="1"/>
              <a:t>hai</a:t>
            </a:r>
            <a:r>
              <a:rPr lang="en-US" sz="2000" dirty="0"/>
              <a:t> </a:t>
            </a:r>
            <a:r>
              <a:rPr lang="en-US" sz="2000" dirty="0" err="1"/>
              <a:t>mức</a:t>
            </a:r>
            <a:endParaRPr lang="en-US" sz="2000" dirty="0"/>
          </a:p>
        </p:txBody>
      </p:sp>
      <p:pic>
        <p:nvPicPr>
          <p:cNvPr id="6" name="Picture 5"/>
          <p:cNvPicPr>
            <a:picLocks noChangeAspect="1"/>
          </p:cNvPicPr>
          <p:nvPr/>
        </p:nvPicPr>
        <p:blipFill>
          <a:blip r:embed="rId3"/>
          <a:stretch>
            <a:fillRect/>
          </a:stretch>
        </p:blipFill>
        <p:spPr>
          <a:xfrm>
            <a:off x="3097161" y="2835011"/>
            <a:ext cx="2381582" cy="2295845"/>
          </a:xfrm>
          <a:prstGeom prst="rect">
            <a:avLst/>
          </a:prstGeom>
        </p:spPr>
      </p:pic>
    </p:spTree>
    <p:extLst>
      <p:ext uri="{BB962C8B-B14F-4D97-AF65-F5344CB8AC3E}">
        <p14:creationId xmlns:p14="http://schemas.microsoft.com/office/powerpoint/2010/main" val="174615343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77</a:t>
            </a:fld>
            <a:endParaRPr lang="en-US"/>
          </a:p>
        </p:txBody>
      </p:sp>
      <p:sp>
        <p:nvSpPr>
          <p:cNvPr id="5" name="Title 4"/>
          <p:cNvSpPr>
            <a:spLocks noGrp="1"/>
          </p:cNvSpPr>
          <p:nvPr>
            <p:ph type="title"/>
          </p:nvPr>
        </p:nvSpPr>
        <p:spPr/>
        <p:txBody>
          <a:bodyPr/>
          <a:lstStyle/>
          <a:p>
            <a:r>
              <a:rPr lang="en-US" dirty="0" err="1"/>
              <a:t>Cây</a:t>
            </a:r>
            <a:r>
              <a:rPr lang="en-US" dirty="0"/>
              <a:t> </a:t>
            </a:r>
            <a:r>
              <a:rPr lang="en-US" dirty="0" err="1"/>
              <a:t>cân</a:t>
            </a:r>
            <a:r>
              <a:rPr lang="en-US" dirty="0"/>
              <a:t> </a:t>
            </a:r>
            <a:r>
              <a:rPr lang="en-US" dirty="0" err="1"/>
              <a:t>bằng</a:t>
            </a:r>
            <a:r>
              <a:rPr lang="en-US" dirty="0"/>
              <a:t> </a:t>
            </a:r>
          </a:p>
        </p:txBody>
      </p:sp>
      <p:sp>
        <p:nvSpPr>
          <p:cNvPr id="2" name="Content Placeholder 1"/>
          <p:cNvSpPr>
            <a:spLocks noGrp="1"/>
          </p:cNvSpPr>
          <p:nvPr>
            <p:ph type="body" sz="quarter" idx="13"/>
          </p:nvPr>
        </p:nvSpPr>
        <p:spPr/>
        <p:txBody>
          <a:bodyPr>
            <a:normAutofit/>
          </a:bodyPr>
          <a:lstStyle/>
          <a:p>
            <a:r>
              <a:rPr lang="en-US" sz="2400" dirty="0" err="1"/>
              <a:t>Phép</a:t>
            </a:r>
            <a:r>
              <a:rPr lang="en-US" sz="2400" dirty="0"/>
              <a:t> quay: </a:t>
            </a:r>
            <a:r>
              <a:rPr lang="en-US" sz="2400" dirty="0" err="1"/>
              <a:t>thao</a:t>
            </a:r>
            <a:r>
              <a:rPr lang="en-US" sz="2400" dirty="0"/>
              <a:t> </a:t>
            </a:r>
            <a:r>
              <a:rPr lang="en-US" sz="2400" dirty="0" err="1"/>
              <a:t>tác</a:t>
            </a:r>
            <a:r>
              <a:rPr lang="en-US" sz="2400" dirty="0"/>
              <a:t> </a:t>
            </a:r>
            <a:r>
              <a:rPr lang="en-US" sz="2400" dirty="0" err="1"/>
              <a:t>trên</a:t>
            </a:r>
            <a:r>
              <a:rPr lang="en-US" sz="2400" dirty="0"/>
              <a:t> </a:t>
            </a:r>
            <a:r>
              <a:rPr lang="en-US" sz="2400" dirty="0" err="1"/>
              <a:t>cây</a:t>
            </a:r>
            <a:r>
              <a:rPr lang="en-US" sz="2400" dirty="0"/>
              <a:t> </a:t>
            </a:r>
            <a:r>
              <a:rPr lang="en-US" sz="2400" dirty="0" err="1"/>
              <a:t>cân</a:t>
            </a:r>
            <a:r>
              <a:rPr lang="en-US" sz="2400" dirty="0"/>
              <a:t> </a:t>
            </a:r>
            <a:r>
              <a:rPr lang="en-US" sz="2400" dirty="0" err="1"/>
              <a:t>bằng</a:t>
            </a:r>
            <a:endParaRPr lang="en-US" sz="2400" dirty="0"/>
          </a:p>
          <a:p>
            <a:pPr lvl="1"/>
            <a:r>
              <a:rPr lang="en-US" sz="2000" dirty="0"/>
              <a:t>Hai </a:t>
            </a:r>
            <a:r>
              <a:rPr lang="en-US" sz="2000" dirty="0" err="1"/>
              <a:t>thao</a:t>
            </a:r>
            <a:r>
              <a:rPr lang="en-US" sz="2000" dirty="0"/>
              <a:t> </a:t>
            </a:r>
            <a:r>
              <a:rPr lang="en-US" sz="2000" dirty="0" err="1"/>
              <a:t>tác</a:t>
            </a:r>
            <a:r>
              <a:rPr lang="en-US" sz="2000" dirty="0"/>
              <a:t> </a:t>
            </a:r>
            <a:r>
              <a:rPr lang="en-US" sz="2000" dirty="0" err="1"/>
              <a:t>đối</a:t>
            </a:r>
            <a:r>
              <a:rPr lang="en-US" sz="2000" dirty="0"/>
              <a:t> </a:t>
            </a:r>
            <a:r>
              <a:rPr lang="en-US" sz="2000" dirty="0" err="1"/>
              <a:t>xứng</a:t>
            </a:r>
            <a:r>
              <a:rPr lang="en-US" sz="2000" dirty="0"/>
              <a:t>: </a:t>
            </a:r>
            <a:r>
              <a:rPr lang="en-US" sz="2000" dirty="0" err="1"/>
              <a:t>phép</a:t>
            </a:r>
            <a:r>
              <a:rPr lang="en-US" sz="2000" dirty="0"/>
              <a:t> quay </a:t>
            </a:r>
            <a:r>
              <a:rPr lang="en-US" sz="2000" dirty="0" err="1"/>
              <a:t>phải</a:t>
            </a:r>
            <a:r>
              <a:rPr lang="en-US" sz="2000" dirty="0"/>
              <a:t> </a:t>
            </a:r>
            <a:r>
              <a:rPr lang="en-US" sz="2000" dirty="0" err="1"/>
              <a:t>và</a:t>
            </a:r>
            <a:r>
              <a:rPr lang="en-US" sz="2000" dirty="0"/>
              <a:t> </a:t>
            </a:r>
            <a:r>
              <a:rPr lang="en-US" sz="2000" dirty="0" err="1"/>
              <a:t>phép</a:t>
            </a:r>
            <a:r>
              <a:rPr lang="en-US" sz="2000" dirty="0"/>
              <a:t> quay </a:t>
            </a:r>
            <a:r>
              <a:rPr lang="en-US" sz="2000" dirty="0" err="1"/>
              <a:t>trái</a:t>
            </a:r>
            <a:r>
              <a:rPr lang="en-US" sz="2000" dirty="0"/>
              <a:t> </a:t>
            </a:r>
          </a:p>
          <a:p>
            <a:pPr lvl="1"/>
            <a:r>
              <a:rPr lang="en-US" sz="2000" dirty="0"/>
              <a:t>P</a:t>
            </a:r>
            <a:r>
              <a:rPr lang="vi-VN" sz="2000" dirty="0"/>
              <a:t>hép quay phải</a:t>
            </a:r>
            <a:r>
              <a:rPr lang="en-US" sz="2000" dirty="0"/>
              <a:t>/</a:t>
            </a:r>
            <a:r>
              <a:rPr lang="en-US" sz="2000" dirty="0" err="1"/>
              <a:t>trái</a:t>
            </a:r>
            <a:r>
              <a:rPr lang="vi-VN" sz="2000" dirty="0"/>
              <a:t> tại một nút giúp</a:t>
            </a:r>
            <a:r>
              <a:rPr lang="en-US" sz="2000" dirty="0"/>
              <a:t> </a:t>
            </a:r>
            <a:r>
              <a:rPr lang="vi-VN" sz="2000" dirty="0"/>
              <a:t>giảm chiều cao cây con trái</a:t>
            </a:r>
            <a:r>
              <a:rPr lang="en-US" sz="2000" dirty="0"/>
              <a:t>/</a:t>
            </a:r>
            <a:r>
              <a:rPr lang="en-US" sz="2000" dirty="0" err="1"/>
              <a:t>phải</a:t>
            </a:r>
            <a:r>
              <a:rPr lang="vi-VN" sz="2000" dirty="0"/>
              <a:t> và tăng chiều cao cây con phải</a:t>
            </a:r>
            <a:r>
              <a:rPr lang="en-US" sz="2000" dirty="0"/>
              <a:t>/</a:t>
            </a:r>
            <a:r>
              <a:rPr lang="en-US" sz="2000" dirty="0" err="1"/>
              <a:t>trái</a:t>
            </a:r>
            <a:r>
              <a:rPr lang="vi-VN" sz="2000" dirty="0"/>
              <a:t> của nút đó cùng một đơn</a:t>
            </a:r>
            <a:r>
              <a:rPr lang="en-US" sz="2000" dirty="0"/>
              <a:t> </a:t>
            </a:r>
            <a:r>
              <a:rPr lang="vi-VN" sz="2000" dirty="0"/>
              <a:t>vị (yếu tố cân bằng của nút đó giảm đi hai đơn vị) </a:t>
            </a:r>
            <a:endParaRPr lang="en-US" sz="2000" dirty="0"/>
          </a:p>
        </p:txBody>
      </p:sp>
      <p:pic>
        <p:nvPicPr>
          <p:cNvPr id="7" name="Picture 2">
            <a:extLst>
              <a:ext uri="{FF2B5EF4-FFF2-40B4-BE49-F238E27FC236}">
                <a16:creationId xmlns:a16="http://schemas.microsoft.com/office/drawing/2014/main" id="{C5E58D8B-7912-4A1A-9700-CD3B7E89EF63}"/>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07412" y="4243056"/>
            <a:ext cx="5421482" cy="2233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4">
            <a:extLst>
              <a:ext uri="{FF2B5EF4-FFF2-40B4-BE49-F238E27FC236}">
                <a16:creationId xmlns:a16="http://schemas.microsoft.com/office/drawing/2014/main" id="{0ABA05D5-54BB-4CB3-A58B-C551B9C5C248}"/>
              </a:ext>
            </a:extLst>
          </p:cNvPr>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192172" y="2563526"/>
            <a:ext cx="5220010" cy="18071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01896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78</a:t>
            </a:fld>
            <a:endParaRPr lang="en-US"/>
          </a:p>
        </p:txBody>
      </p:sp>
      <p:sp>
        <p:nvSpPr>
          <p:cNvPr id="5" name="Title 4"/>
          <p:cNvSpPr>
            <a:spLocks noGrp="1"/>
          </p:cNvSpPr>
          <p:nvPr>
            <p:ph type="title"/>
          </p:nvPr>
        </p:nvSpPr>
        <p:spPr/>
        <p:txBody>
          <a:bodyPr/>
          <a:lstStyle/>
          <a:p>
            <a:r>
              <a:rPr lang="en-US" dirty="0" err="1"/>
              <a:t>Cây</a:t>
            </a:r>
            <a:r>
              <a:rPr lang="en-US" dirty="0"/>
              <a:t> </a:t>
            </a:r>
            <a:r>
              <a:rPr lang="en-US" dirty="0" err="1"/>
              <a:t>cân</a:t>
            </a:r>
            <a:r>
              <a:rPr lang="en-US" dirty="0"/>
              <a:t> </a:t>
            </a:r>
            <a:r>
              <a:rPr lang="en-US" dirty="0" err="1"/>
              <a:t>bằng</a:t>
            </a:r>
            <a:r>
              <a:rPr lang="en-US" dirty="0"/>
              <a:t> </a:t>
            </a:r>
          </a:p>
        </p:txBody>
      </p:sp>
      <p:sp>
        <p:nvSpPr>
          <p:cNvPr id="2" name="Content Placeholder 1"/>
          <p:cNvSpPr>
            <a:spLocks noGrp="1"/>
          </p:cNvSpPr>
          <p:nvPr>
            <p:ph type="body" sz="quarter" idx="13"/>
          </p:nvPr>
        </p:nvSpPr>
        <p:spPr/>
        <p:txBody>
          <a:bodyPr>
            <a:normAutofit/>
          </a:bodyPr>
          <a:lstStyle/>
          <a:p>
            <a:r>
              <a:rPr lang="en-US" sz="2400" dirty="0" err="1"/>
              <a:t>Phép</a:t>
            </a:r>
            <a:r>
              <a:rPr lang="en-US" sz="2400" dirty="0"/>
              <a:t> quay</a:t>
            </a:r>
          </a:p>
        </p:txBody>
      </p:sp>
      <p:pic>
        <p:nvPicPr>
          <p:cNvPr id="6" name="Picture 5"/>
          <p:cNvPicPr>
            <a:picLocks noChangeAspect="1"/>
          </p:cNvPicPr>
          <p:nvPr/>
        </p:nvPicPr>
        <p:blipFill>
          <a:blip r:embed="rId3"/>
          <a:stretch>
            <a:fillRect/>
          </a:stretch>
        </p:blipFill>
        <p:spPr>
          <a:xfrm>
            <a:off x="1676400" y="1828800"/>
            <a:ext cx="5867400" cy="2657475"/>
          </a:xfrm>
          <a:prstGeom prst="rect">
            <a:avLst/>
          </a:prstGeom>
        </p:spPr>
      </p:pic>
    </p:spTree>
    <p:extLst>
      <p:ext uri="{BB962C8B-B14F-4D97-AF65-F5344CB8AC3E}">
        <p14:creationId xmlns:p14="http://schemas.microsoft.com/office/powerpoint/2010/main" val="76904615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79</a:t>
            </a:fld>
            <a:endParaRPr lang="en-US"/>
          </a:p>
        </p:txBody>
      </p:sp>
      <p:sp>
        <p:nvSpPr>
          <p:cNvPr id="5" name="Title 4"/>
          <p:cNvSpPr>
            <a:spLocks noGrp="1"/>
          </p:cNvSpPr>
          <p:nvPr>
            <p:ph type="title"/>
          </p:nvPr>
        </p:nvSpPr>
        <p:spPr/>
        <p:txBody>
          <a:bodyPr/>
          <a:lstStyle/>
          <a:p>
            <a:r>
              <a:rPr lang="en-US" dirty="0" err="1"/>
              <a:t>Cây</a:t>
            </a:r>
            <a:r>
              <a:rPr lang="en-US" dirty="0"/>
              <a:t> </a:t>
            </a:r>
            <a:r>
              <a:rPr lang="en-US" dirty="0" err="1"/>
              <a:t>cân</a:t>
            </a:r>
            <a:r>
              <a:rPr lang="en-US" dirty="0"/>
              <a:t> </a:t>
            </a:r>
            <a:r>
              <a:rPr lang="en-US" dirty="0" err="1"/>
              <a:t>bằng</a:t>
            </a:r>
            <a:r>
              <a:rPr lang="en-US" dirty="0"/>
              <a:t> </a:t>
            </a:r>
          </a:p>
        </p:txBody>
      </p:sp>
      <p:sp>
        <p:nvSpPr>
          <p:cNvPr id="2" name="Content Placeholder 1"/>
          <p:cNvSpPr>
            <a:spLocks noGrp="1"/>
          </p:cNvSpPr>
          <p:nvPr>
            <p:ph type="body" sz="quarter" idx="13"/>
          </p:nvPr>
        </p:nvSpPr>
        <p:spPr/>
        <p:txBody>
          <a:bodyPr>
            <a:normAutofit/>
          </a:bodyPr>
          <a:lstStyle/>
          <a:p>
            <a:r>
              <a:rPr lang="en-US" sz="2400" dirty="0" err="1"/>
              <a:t>Một</a:t>
            </a:r>
            <a:r>
              <a:rPr lang="en-US" sz="2400" dirty="0"/>
              <a:t> </a:t>
            </a:r>
            <a:r>
              <a:rPr lang="en-US" sz="2400" dirty="0" err="1"/>
              <a:t>số</a:t>
            </a:r>
            <a:r>
              <a:rPr lang="en-US" sz="2400" dirty="0"/>
              <a:t> </a:t>
            </a:r>
            <a:r>
              <a:rPr lang="en-US" sz="2400" dirty="0" err="1"/>
              <a:t>giải</a:t>
            </a:r>
            <a:r>
              <a:rPr lang="en-US" sz="2400" dirty="0"/>
              <a:t> </a:t>
            </a:r>
            <a:r>
              <a:rPr lang="en-US" sz="2400" dirty="0" err="1"/>
              <a:t>thuật</a:t>
            </a:r>
            <a:r>
              <a:rPr lang="en-US" sz="2400" dirty="0"/>
              <a:t> </a:t>
            </a:r>
            <a:r>
              <a:rPr lang="en-US" sz="2400" dirty="0" err="1"/>
              <a:t>cân</a:t>
            </a:r>
            <a:r>
              <a:rPr lang="en-US" sz="2400" dirty="0"/>
              <a:t> </a:t>
            </a:r>
            <a:r>
              <a:rPr lang="en-US" sz="2400" dirty="0" err="1"/>
              <a:t>bằng</a:t>
            </a:r>
            <a:r>
              <a:rPr lang="en-US" sz="2400" dirty="0"/>
              <a:t> </a:t>
            </a:r>
            <a:r>
              <a:rPr lang="en-US" sz="2400" dirty="0" err="1"/>
              <a:t>cây</a:t>
            </a:r>
            <a:endParaRPr lang="en-US" sz="2400" dirty="0"/>
          </a:p>
          <a:p>
            <a:pPr lvl="1"/>
            <a:r>
              <a:rPr lang="en-US" sz="2000" dirty="0" err="1"/>
              <a:t>Giải</a:t>
            </a:r>
            <a:r>
              <a:rPr lang="en-US" sz="2000" dirty="0"/>
              <a:t> </a:t>
            </a:r>
            <a:r>
              <a:rPr lang="en-US" sz="2000" dirty="0" err="1"/>
              <a:t>thuật</a:t>
            </a:r>
            <a:r>
              <a:rPr lang="en-US" sz="2000" dirty="0"/>
              <a:t> DSW (Day, Stout, Warren)</a:t>
            </a:r>
          </a:p>
          <a:p>
            <a:pPr lvl="2"/>
            <a:r>
              <a:rPr lang="en-US" sz="1800" dirty="0" err="1"/>
              <a:t>Biến</a:t>
            </a:r>
            <a:r>
              <a:rPr lang="en-US" sz="1800" dirty="0"/>
              <a:t> </a:t>
            </a:r>
            <a:r>
              <a:rPr lang="en-US" sz="1800" dirty="0" err="1"/>
              <a:t>đổi</a:t>
            </a:r>
            <a:r>
              <a:rPr lang="en-US" sz="1800" dirty="0"/>
              <a:t> </a:t>
            </a:r>
            <a:r>
              <a:rPr lang="en-US" sz="1800" dirty="0" err="1"/>
              <a:t>trực</a:t>
            </a:r>
            <a:r>
              <a:rPr lang="en-US" sz="1800" dirty="0"/>
              <a:t> </a:t>
            </a:r>
            <a:r>
              <a:rPr lang="en-US" sz="1800" dirty="0" err="1"/>
              <a:t>tiếp</a:t>
            </a:r>
            <a:r>
              <a:rPr lang="en-US" sz="1800" dirty="0"/>
              <a:t> </a:t>
            </a:r>
            <a:r>
              <a:rPr lang="en-US" sz="1800" dirty="0" err="1"/>
              <a:t>từ</a:t>
            </a:r>
            <a:r>
              <a:rPr lang="en-US" sz="1800" dirty="0"/>
              <a:t> </a:t>
            </a:r>
            <a:r>
              <a:rPr lang="en-US" sz="1800" dirty="0" err="1"/>
              <a:t>cây</a:t>
            </a:r>
            <a:r>
              <a:rPr lang="en-US" sz="1800" dirty="0"/>
              <a:t> </a:t>
            </a:r>
            <a:r>
              <a:rPr lang="en-US" sz="1800" dirty="0" err="1"/>
              <a:t>nhị</a:t>
            </a:r>
            <a:r>
              <a:rPr lang="en-US" sz="1800" dirty="0"/>
              <a:t> </a:t>
            </a:r>
            <a:r>
              <a:rPr lang="en-US" sz="1800" dirty="0" err="1"/>
              <a:t>phân</a:t>
            </a:r>
            <a:r>
              <a:rPr lang="en-US" sz="1800" dirty="0"/>
              <a:t> </a:t>
            </a:r>
            <a:r>
              <a:rPr lang="en-US" sz="1800" dirty="0" err="1"/>
              <a:t>tìm</a:t>
            </a:r>
            <a:r>
              <a:rPr lang="en-US" sz="1800" dirty="0"/>
              <a:t> </a:t>
            </a:r>
            <a:r>
              <a:rPr lang="en-US" sz="1800" dirty="0" err="1"/>
              <a:t>kiếm</a:t>
            </a:r>
            <a:r>
              <a:rPr lang="en-US" sz="1800" dirty="0"/>
              <a:t> sang </a:t>
            </a:r>
            <a:r>
              <a:rPr lang="en-US" sz="1800" dirty="0" err="1"/>
              <a:t>cây</a:t>
            </a:r>
            <a:r>
              <a:rPr lang="en-US" sz="1800" dirty="0"/>
              <a:t> </a:t>
            </a:r>
            <a:r>
              <a:rPr lang="en-US" sz="1800" dirty="0" err="1"/>
              <a:t>cân</a:t>
            </a:r>
            <a:r>
              <a:rPr lang="en-US" sz="1800" dirty="0"/>
              <a:t> </a:t>
            </a:r>
            <a:r>
              <a:rPr lang="en-US" sz="1800" dirty="0" err="1"/>
              <a:t>bằng</a:t>
            </a:r>
            <a:r>
              <a:rPr lang="en-US" sz="1800" dirty="0"/>
              <a:t> (</a:t>
            </a:r>
            <a:r>
              <a:rPr lang="en-US" sz="1800" dirty="0" err="1"/>
              <a:t>thực</a:t>
            </a:r>
            <a:r>
              <a:rPr lang="en-US" sz="1800" dirty="0"/>
              <a:t> </a:t>
            </a:r>
            <a:r>
              <a:rPr lang="en-US" sz="1800" dirty="0" err="1"/>
              <a:t>ra</a:t>
            </a:r>
            <a:r>
              <a:rPr lang="en-US" sz="1800" dirty="0"/>
              <a:t> </a:t>
            </a:r>
            <a:r>
              <a:rPr lang="en-US" sz="1800" dirty="0" err="1"/>
              <a:t>là</a:t>
            </a:r>
            <a:r>
              <a:rPr lang="en-US" sz="1800" dirty="0"/>
              <a:t> sang </a:t>
            </a:r>
            <a:r>
              <a:rPr lang="en-US" sz="1800" dirty="0" err="1"/>
              <a:t>cây</a:t>
            </a:r>
            <a:r>
              <a:rPr lang="en-US" sz="1800" dirty="0"/>
              <a:t> </a:t>
            </a:r>
            <a:r>
              <a:rPr lang="en-US" sz="1800" dirty="0" err="1"/>
              <a:t>cân</a:t>
            </a:r>
            <a:r>
              <a:rPr lang="en-US" sz="1800" dirty="0"/>
              <a:t> </a:t>
            </a:r>
            <a:r>
              <a:rPr lang="en-US" sz="1800" dirty="0" err="1"/>
              <a:t>bằng</a:t>
            </a:r>
            <a:r>
              <a:rPr lang="en-US" sz="1800" dirty="0"/>
              <a:t> </a:t>
            </a:r>
            <a:r>
              <a:rPr lang="en-US" sz="1800" dirty="0" err="1"/>
              <a:t>hoàn</a:t>
            </a:r>
            <a:r>
              <a:rPr lang="en-US" sz="1800" dirty="0"/>
              <a:t> </a:t>
            </a:r>
            <a:r>
              <a:rPr lang="en-US" sz="1800" dirty="0" err="1"/>
              <a:t>chỉnh</a:t>
            </a:r>
            <a:r>
              <a:rPr lang="en-US" sz="1800" dirty="0"/>
              <a:t>)</a:t>
            </a:r>
          </a:p>
          <a:p>
            <a:pPr lvl="1"/>
            <a:r>
              <a:rPr lang="en-US" sz="2000" dirty="0" err="1"/>
              <a:t>Giải</a:t>
            </a:r>
            <a:r>
              <a:rPr lang="en-US" sz="2000" dirty="0"/>
              <a:t> </a:t>
            </a:r>
            <a:r>
              <a:rPr lang="en-US" sz="2000" dirty="0" err="1"/>
              <a:t>thuật</a:t>
            </a:r>
            <a:r>
              <a:rPr lang="en-US" sz="2000" dirty="0"/>
              <a:t> AVL (Adelson, </a:t>
            </a:r>
            <a:r>
              <a:rPr lang="en-US" sz="2000" dirty="0" err="1"/>
              <a:t>Velskii</a:t>
            </a:r>
            <a:r>
              <a:rPr lang="en-US" sz="2000" dirty="0"/>
              <a:t>, Landis)</a:t>
            </a:r>
          </a:p>
          <a:p>
            <a:pPr lvl="2"/>
            <a:r>
              <a:rPr lang="en-US" sz="1800" dirty="0"/>
              <a:t>N</a:t>
            </a:r>
            <a:r>
              <a:rPr lang="vi-VN" sz="1800" dirty="0"/>
              <a:t>hóm các giải thuật nhằm duy trì lại sự cân bằng của cây mỗi khi có một thao</a:t>
            </a:r>
            <a:r>
              <a:rPr lang="en-US" sz="1800" dirty="0"/>
              <a:t> </a:t>
            </a:r>
            <a:r>
              <a:rPr lang="vi-VN" sz="1800" dirty="0"/>
              <a:t>tác: bổ sung nút, </a:t>
            </a:r>
            <a:r>
              <a:rPr lang="en-US" sz="1800" dirty="0" err="1"/>
              <a:t>loại</a:t>
            </a:r>
            <a:r>
              <a:rPr lang="en-US" sz="1800" dirty="0"/>
              <a:t> </a:t>
            </a:r>
            <a:r>
              <a:rPr lang="en-US" sz="1800" dirty="0" err="1"/>
              <a:t>bỏ</a:t>
            </a:r>
            <a:r>
              <a:rPr lang="en-US" sz="1800" dirty="0"/>
              <a:t> </a:t>
            </a:r>
            <a:r>
              <a:rPr lang="vi-VN" sz="1800" dirty="0"/>
              <a:t>nút</a:t>
            </a:r>
            <a:r>
              <a:rPr lang="en-US" sz="1800" dirty="0"/>
              <a:t>, </a:t>
            </a:r>
            <a:r>
              <a:rPr lang="en-US" sz="1800" dirty="0" err="1"/>
              <a:t>tách</a:t>
            </a:r>
            <a:r>
              <a:rPr lang="en-US" sz="1800" dirty="0"/>
              <a:t>/</a:t>
            </a:r>
            <a:r>
              <a:rPr lang="en-US" sz="1800" dirty="0" err="1"/>
              <a:t>ghép</a:t>
            </a:r>
            <a:r>
              <a:rPr lang="en-US" sz="1800" dirty="0"/>
              <a:t> </a:t>
            </a:r>
            <a:r>
              <a:rPr lang="en-US" sz="1800" dirty="0" err="1"/>
              <a:t>cây</a:t>
            </a:r>
            <a:r>
              <a:rPr lang="en-US" sz="1800" dirty="0"/>
              <a:t>, v.v.</a:t>
            </a:r>
          </a:p>
        </p:txBody>
      </p:sp>
    </p:spTree>
    <p:extLst>
      <p:ext uri="{BB962C8B-B14F-4D97-AF65-F5344CB8AC3E}">
        <p14:creationId xmlns:p14="http://schemas.microsoft.com/office/powerpoint/2010/main" val="197257101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80</a:t>
            </a:fld>
            <a:endParaRPr lang="en-US"/>
          </a:p>
        </p:txBody>
      </p:sp>
      <p:sp>
        <p:nvSpPr>
          <p:cNvPr id="5" name="Title 4"/>
          <p:cNvSpPr>
            <a:spLocks noGrp="1"/>
          </p:cNvSpPr>
          <p:nvPr>
            <p:ph type="title"/>
          </p:nvPr>
        </p:nvSpPr>
        <p:spPr/>
        <p:txBody>
          <a:bodyPr/>
          <a:lstStyle/>
          <a:p>
            <a:r>
              <a:rPr lang="en-US" dirty="0" err="1"/>
              <a:t>Cây</a:t>
            </a:r>
            <a:r>
              <a:rPr lang="en-US" dirty="0"/>
              <a:t> </a:t>
            </a:r>
            <a:r>
              <a:rPr lang="en-US" dirty="0" err="1"/>
              <a:t>cân</a:t>
            </a:r>
            <a:r>
              <a:rPr lang="en-US" dirty="0"/>
              <a:t> </a:t>
            </a:r>
            <a:r>
              <a:rPr lang="en-US" dirty="0" err="1"/>
              <a:t>bằng</a:t>
            </a:r>
            <a:r>
              <a:rPr lang="en-US" dirty="0"/>
              <a:t> </a:t>
            </a:r>
          </a:p>
        </p:txBody>
      </p:sp>
      <p:sp>
        <p:nvSpPr>
          <p:cNvPr id="2" name="Content Placeholder 1"/>
          <p:cNvSpPr>
            <a:spLocks noGrp="1"/>
          </p:cNvSpPr>
          <p:nvPr>
            <p:ph type="body" sz="quarter" idx="13"/>
          </p:nvPr>
        </p:nvSpPr>
        <p:spPr/>
        <p:txBody>
          <a:bodyPr>
            <a:normAutofit/>
          </a:bodyPr>
          <a:lstStyle/>
          <a:p>
            <a:r>
              <a:rPr lang="en-US" sz="2400" dirty="0" err="1"/>
              <a:t>Giải</a:t>
            </a:r>
            <a:r>
              <a:rPr lang="en-US" sz="2400" dirty="0"/>
              <a:t> </a:t>
            </a:r>
            <a:r>
              <a:rPr lang="en-US" sz="2400" dirty="0" err="1"/>
              <a:t>thuật</a:t>
            </a:r>
            <a:r>
              <a:rPr lang="en-US" sz="2400" dirty="0"/>
              <a:t> DSW</a:t>
            </a:r>
          </a:p>
          <a:p>
            <a:pPr lvl="1"/>
            <a:r>
              <a:rPr lang="vi-VN" sz="2000" dirty="0"/>
              <a:t>Bước 1: Chuyển từ cây nhị phân tìm kiếm sang cây suy biến có dạng danh sách</a:t>
            </a:r>
            <a:endParaRPr lang="en-US" sz="2000" dirty="0"/>
          </a:p>
        </p:txBody>
      </p:sp>
      <p:sp>
        <p:nvSpPr>
          <p:cNvPr id="6" name="Rectangle 5"/>
          <p:cNvSpPr/>
          <p:nvPr/>
        </p:nvSpPr>
        <p:spPr>
          <a:xfrm>
            <a:off x="838200" y="1905000"/>
            <a:ext cx="5334000" cy="1477328"/>
          </a:xfrm>
          <a:prstGeom prst="rect">
            <a:avLst/>
          </a:prstGeom>
        </p:spPr>
        <p:txBody>
          <a:bodyPr wrap="square">
            <a:spAutoFit/>
          </a:bodyPr>
          <a:lstStyle/>
          <a:p>
            <a:r>
              <a:rPr lang="en-US" dirty="0">
                <a:latin typeface="Courier New" panose="02070309020205020404" pitchFamily="49" charset="0"/>
                <a:cs typeface="Courier New" panose="02070309020205020404" pitchFamily="49" charset="0"/>
              </a:rPr>
              <a:t>P = </a:t>
            </a:r>
            <a:r>
              <a:rPr lang="en-US" dirty="0" err="1">
                <a:latin typeface="Courier New" panose="02070309020205020404" pitchFamily="49" charset="0"/>
                <a:cs typeface="Courier New" panose="02070309020205020404" pitchFamily="49" charset="0"/>
              </a:rPr>
              <a:t>gốc</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của</a:t>
            </a:r>
            <a:r>
              <a:rPr lang="en-US" dirty="0">
                <a:latin typeface="Courier New" panose="02070309020205020404" pitchFamily="49" charset="0"/>
                <a:cs typeface="Courier New" panose="02070309020205020404" pitchFamily="49" charset="0"/>
              </a:rPr>
              <a:t> T;</a:t>
            </a:r>
          </a:p>
          <a:p>
            <a:r>
              <a:rPr lang="en-US" dirty="0">
                <a:latin typeface="Courier New" panose="02070309020205020404" pitchFamily="49" charset="0"/>
                <a:cs typeface="Courier New" panose="02070309020205020404" pitchFamily="49" charset="0"/>
              </a:rPr>
              <a:t>while (P ≠ NULL) {</a:t>
            </a:r>
          </a:p>
          <a:p>
            <a:pPr lvl="1"/>
            <a:r>
              <a:rPr lang="en-US" dirty="0">
                <a:latin typeface="Courier New" panose="02070309020205020404" pitchFamily="49" charset="0"/>
                <a:cs typeface="Courier New" panose="02070309020205020404" pitchFamily="49" charset="0"/>
              </a:rPr>
              <a:t>while (P</a:t>
            </a:r>
            <a:r>
              <a:rPr lang="en-US" baseline="-25000" dirty="0">
                <a:latin typeface="Courier New" panose="02070309020205020404" pitchFamily="49" charset="0"/>
                <a:cs typeface="Courier New" panose="02070309020205020404" pitchFamily="49" charset="0"/>
              </a:rPr>
              <a:t>L</a:t>
            </a:r>
            <a:r>
              <a:rPr lang="en-US" dirty="0">
                <a:latin typeface="Courier New" panose="02070309020205020404" pitchFamily="49" charset="0"/>
                <a:cs typeface="Courier New" panose="02070309020205020404" pitchFamily="49" charset="0"/>
              </a:rPr>
              <a:t> ≠ NULL) quay </a:t>
            </a:r>
            <a:r>
              <a:rPr lang="en-US" dirty="0" err="1">
                <a:latin typeface="Courier New" panose="02070309020205020404" pitchFamily="49" charset="0"/>
                <a:cs typeface="Courier New" panose="02070309020205020404" pitchFamily="49" charset="0"/>
              </a:rPr>
              <a:t>phải</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tại</a:t>
            </a:r>
            <a:r>
              <a:rPr lang="en-US" dirty="0">
                <a:latin typeface="Courier New" panose="02070309020205020404" pitchFamily="49" charset="0"/>
                <a:cs typeface="Courier New" panose="02070309020205020404" pitchFamily="49" charset="0"/>
              </a:rPr>
              <a:t> P;</a:t>
            </a:r>
          </a:p>
          <a:p>
            <a:pPr lvl="1"/>
            <a:r>
              <a:rPr lang="en-US" dirty="0">
                <a:latin typeface="Courier New" panose="02070309020205020404" pitchFamily="49" charset="0"/>
                <a:cs typeface="Courier New" panose="02070309020205020404" pitchFamily="49" charset="0"/>
              </a:rPr>
              <a:t>P = P</a:t>
            </a:r>
            <a:r>
              <a:rPr lang="en-US" baseline="-25000" dirty="0">
                <a:latin typeface="Courier New" panose="02070309020205020404" pitchFamily="49" charset="0"/>
                <a:cs typeface="Courier New" panose="02070309020205020404" pitchFamily="49" charset="0"/>
              </a:rPr>
              <a:t>R</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a:t>
            </a:r>
          </a:p>
        </p:txBody>
      </p:sp>
      <p:pic>
        <p:nvPicPr>
          <p:cNvPr id="7" name="Picture 6"/>
          <p:cNvPicPr>
            <a:picLocks noChangeAspect="1"/>
          </p:cNvPicPr>
          <p:nvPr/>
        </p:nvPicPr>
        <p:blipFill>
          <a:blip r:embed="rId3"/>
          <a:stretch>
            <a:fillRect/>
          </a:stretch>
        </p:blipFill>
        <p:spPr>
          <a:xfrm>
            <a:off x="152400" y="3382328"/>
            <a:ext cx="1487025" cy="1839401"/>
          </a:xfrm>
          <a:prstGeom prst="rect">
            <a:avLst/>
          </a:prstGeom>
        </p:spPr>
      </p:pic>
      <p:pic>
        <p:nvPicPr>
          <p:cNvPr id="9" name="Picture 8"/>
          <p:cNvPicPr>
            <a:picLocks noChangeAspect="1"/>
          </p:cNvPicPr>
          <p:nvPr/>
        </p:nvPicPr>
        <p:blipFill>
          <a:blip r:embed="rId4"/>
          <a:stretch>
            <a:fillRect/>
          </a:stretch>
        </p:blipFill>
        <p:spPr>
          <a:xfrm>
            <a:off x="1712752" y="3382328"/>
            <a:ext cx="1512888" cy="1976925"/>
          </a:xfrm>
          <a:prstGeom prst="rect">
            <a:avLst/>
          </a:prstGeom>
        </p:spPr>
      </p:pic>
      <p:pic>
        <p:nvPicPr>
          <p:cNvPr id="10" name="Picture 9"/>
          <p:cNvPicPr>
            <a:picLocks noChangeAspect="1"/>
          </p:cNvPicPr>
          <p:nvPr/>
        </p:nvPicPr>
        <p:blipFill>
          <a:blip r:embed="rId5"/>
          <a:stretch>
            <a:fillRect/>
          </a:stretch>
        </p:blipFill>
        <p:spPr>
          <a:xfrm>
            <a:off x="3274517" y="3387408"/>
            <a:ext cx="1751651" cy="1991692"/>
          </a:xfrm>
          <a:prstGeom prst="rect">
            <a:avLst/>
          </a:prstGeom>
        </p:spPr>
      </p:pic>
      <p:pic>
        <p:nvPicPr>
          <p:cNvPr id="11" name="Picture 10"/>
          <p:cNvPicPr>
            <a:picLocks noChangeAspect="1"/>
          </p:cNvPicPr>
          <p:nvPr/>
        </p:nvPicPr>
        <p:blipFill>
          <a:blip r:embed="rId6"/>
          <a:stretch>
            <a:fillRect/>
          </a:stretch>
        </p:blipFill>
        <p:spPr>
          <a:xfrm>
            <a:off x="5075045" y="3382328"/>
            <a:ext cx="1944388" cy="2266389"/>
          </a:xfrm>
          <a:prstGeom prst="rect">
            <a:avLst/>
          </a:prstGeom>
        </p:spPr>
      </p:pic>
      <p:pic>
        <p:nvPicPr>
          <p:cNvPr id="12" name="Picture 11"/>
          <p:cNvPicPr>
            <a:picLocks noChangeAspect="1"/>
          </p:cNvPicPr>
          <p:nvPr/>
        </p:nvPicPr>
        <p:blipFill>
          <a:blip r:embed="rId7"/>
          <a:stretch>
            <a:fillRect/>
          </a:stretch>
        </p:blipFill>
        <p:spPr>
          <a:xfrm>
            <a:off x="7019433" y="3382328"/>
            <a:ext cx="1955879" cy="2354298"/>
          </a:xfrm>
          <a:prstGeom prst="rect">
            <a:avLst/>
          </a:prstGeom>
        </p:spPr>
      </p:pic>
    </p:spTree>
    <p:extLst>
      <p:ext uri="{BB962C8B-B14F-4D97-AF65-F5344CB8AC3E}">
        <p14:creationId xmlns:p14="http://schemas.microsoft.com/office/powerpoint/2010/main" val="1317341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81</a:t>
            </a:fld>
            <a:endParaRPr lang="en-US"/>
          </a:p>
        </p:txBody>
      </p:sp>
      <p:sp>
        <p:nvSpPr>
          <p:cNvPr id="5" name="Title 4"/>
          <p:cNvSpPr>
            <a:spLocks noGrp="1"/>
          </p:cNvSpPr>
          <p:nvPr>
            <p:ph type="title"/>
          </p:nvPr>
        </p:nvSpPr>
        <p:spPr/>
        <p:txBody>
          <a:bodyPr/>
          <a:lstStyle/>
          <a:p>
            <a:r>
              <a:rPr lang="en-US" dirty="0"/>
              <a:t>5. </a:t>
            </a:r>
            <a:r>
              <a:rPr lang="en-US" dirty="0" err="1"/>
              <a:t>Cây</a:t>
            </a:r>
            <a:r>
              <a:rPr lang="en-US" dirty="0"/>
              <a:t> </a:t>
            </a:r>
            <a:r>
              <a:rPr lang="en-US" dirty="0" err="1"/>
              <a:t>cân</a:t>
            </a:r>
            <a:r>
              <a:rPr lang="en-US" dirty="0"/>
              <a:t> </a:t>
            </a:r>
            <a:r>
              <a:rPr lang="en-US" dirty="0" err="1"/>
              <a:t>bằng</a:t>
            </a:r>
            <a:r>
              <a:rPr lang="en-US" dirty="0"/>
              <a:t> </a:t>
            </a:r>
          </a:p>
        </p:txBody>
      </p:sp>
      <p:sp>
        <p:nvSpPr>
          <p:cNvPr id="2" name="Content Placeholder 1"/>
          <p:cNvSpPr>
            <a:spLocks noGrp="1"/>
          </p:cNvSpPr>
          <p:nvPr>
            <p:ph type="body" sz="quarter" idx="13"/>
          </p:nvPr>
        </p:nvSpPr>
        <p:spPr/>
        <p:txBody>
          <a:bodyPr>
            <a:normAutofit/>
          </a:bodyPr>
          <a:lstStyle/>
          <a:p>
            <a:r>
              <a:rPr lang="en-US" sz="2400" dirty="0" err="1"/>
              <a:t>Giải</a:t>
            </a:r>
            <a:r>
              <a:rPr lang="en-US" sz="2400" dirty="0"/>
              <a:t> </a:t>
            </a:r>
            <a:r>
              <a:rPr lang="en-US" sz="2400" dirty="0" err="1"/>
              <a:t>thuật</a:t>
            </a:r>
            <a:r>
              <a:rPr lang="en-US" sz="2400" dirty="0"/>
              <a:t> DSW</a:t>
            </a:r>
          </a:p>
          <a:p>
            <a:pPr lvl="1"/>
            <a:r>
              <a:rPr lang="vi-VN" sz="2000" dirty="0"/>
              <a:t>Bước 2: Chuyển từ cây suy biến sang cây cân bằng hoàn chỉnh</a:t>
            </a:r>
            <a:endParaRPr lang="en-US" sz="2000" dirty="0"/>
          </a:p>
          <a:p>
            <a:pPr lvl="1"/>
            <a:r>
              <a:rPr lang="vi-VN" sz="2000" i="1" dirty="0"/>
              <a:t>n</a:t>
            </a:r>
            <a:r>
              <a:rPr lang="vi-VN" sz="2000" dirty="0"/>
              <a:t> là kích thước của cây suy biến cần chuyển</a:t>
            </a:r>
            <a:endParaRPr lang="en-US" sz="2000" dirty="0"/>
          </a:p>
          <a:p>
            <a:pPr lvl="1"/>
            <a:endParaRPr lang="en-US" sz="2400" dirty="0"/>
          </a:p>
        </p:txBody>
      </p:sp>
      <mc:AlternateContent xmlns:mc="http://schemas.openxmlformats.org/markup-compatibility/2006" xmlns:a14="http://schemas.microsoft.com/office/drawing/2010/main">
        <mc:Choice Requires="a14">
          <p:sp>
            <p:nvSpPr>
              <p:cNvPr id="6" name="Rectangle 5"/>
              <p:cNvSpPr/>
              <p:nvPr/>
            </p:nvSpPr>
            <p:spPr>
              <a:xfrm>
                <a:off x="218619" y="2286000"/>
                <a:ext cx="3425825" cy="3174972"/>
              </a:xfrm>
              <a:prstGeom prst="rect">
                <a:avLst/>
              </a:prstGeom>
            </p:spPr>
            <p:txBody>
              <a:bodyPr wrap="square">
                <a:spAutoFit/>
              </a:bodyPr>
              <a:lstStyle/>
              <a:p>
                <a:r>
                  <a:rPr lang="en-US" dirty="0">
                    <a:latin typeface="Lato" panose="020F0502020204030203"/>
                    <a:cs typeface="Times New Roman" panose="02020603050405020304" pitchFamily="18" charset="0"/>
                  </a:rPr>
                  <a:t>- M = </a:t>
                </a:r>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−1)/2</m:t>
                        </m:r>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−1</m:t>
                            </m:r>
                          </m:e>
                        </m:d>
                      </m:e>
                    </m:d>
                  </m:oMath>
                </a14:m>
                <a:r>
                  <a:rPr lang="en-US" dirty="0">
                    <a:latin typeface="Lato" panose="020F0502020204030203"/>
                    <a:cs typeface="Times New Roman" panose="02020603050405020304" pitchFamily="18" charset="0"/>
                  </a:rPr>
                  <a:t>;</a:t>
                </a:r>
              </a:p>
              <a:p>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Thực</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hiện</a:t>
                </a:r>
                <a:r>
                  <a:rPr lang="en-US" dirty="0">
                    <a:latin typeface="Lato" panose="020F0502020204030203"/>
                    <a:cs typeface="Times New Roman" panose="02020603050405020304" pitchFamily="18" charset="0"/>
                  </a:rPr>
                  <a:t> M </a:t>
                </a:r>
                <a:r>
                  <a:rPr lang="en-US" dirty="0" err="1">
                    <a:latin typeface="Lato" panose="020F0502020204030203"/>
                    <a:cs typeface="Times New Roman" panose="02020603050405020304" pitchFamily="18" charset="0"/>
                  </a:rPr>
                  <a:t>phép</a:t>
                </a:r>
                <a:r>
                  <a:rPr lang="en-US" dirty="0">
                    <a:latin typeface="Lato" panose="020F0502020204030203"/>
                    <a:cs typeface="Times New Roman" panose="02020603050405020304" pitchFamily="18" charset="0"/>
                  </a:rPr>
                  <a:t> quay </a:t>
                </a:r>
                <a:r>
                  <a:rPr lang="en-US" dirty="0" err="1">
                    <a:latin typeface="Lato" panose="020F0502020204030203"/>
                    <a:cs typeface="Times New Roman" panose="02020603050405020304" pitchFamily="18" charset="0"/>
                  </a:rPr>
                  <a:t>trái</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bắt</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đầu</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từ</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nút</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gốc</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rồi</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xuống</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dần</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nút</a:t>
                </a:r>
                <a:r>
                  <a:rPr lang="en-US" dirty="0">
                    <a:latin typeface="Lato" panose="020F0502020204030203"/>
                    <a:cs typeface="Times New Roman" panose="02020603050405020304" pitchFamily="18" charset="0"/>
                  </a:rPr>
                  <a:t> con </a:t>
                </a:r>
                <a:r>
                  <a:rPr lang="en-US" dirty="0" err="1">
                    <a:latin typeface="Lato" panose="020F0502020204030203"/>
                    <a:cs typeface="Times New Roman" panose="02020603050405020304" pitchFamily="18" charset="0"/>
                  </a:rPr>
                  <a:t>phải</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nhưng</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cách</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một</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nút</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mới</a:t>
                </a:r>
                <a:r>
                  <a:rPr lang="en-US" dirty="0">
                    <a:latin typeface="Lato" panose="020F0502020204030203"/>
                    <a:cs typeface="Times New Roman" panose="02020603050405020304" pitchFamily="18" charset="0"/>
                  </a:rPr>
                  <a:t> quay </a:t>
                </a:r>
                <a:r>
                  <a:rPr lang="en-US" dirty="0" err="1">
                    <a:latin typeface="Lato" panose="020F0502020204030203"/>
                    <a:cs typeface="Times New Roman" panose="02020603050405020304" pitchFamily="18" charset="0"/>
                  </a:rPr>
                  <a:t>một</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lần</a:t>
                </a:r>
                <a:r>
                  <a:rPr lang="en-US" dirty="0">
                    <a:latin typeface="Lato" panose="020F0502020204030203"/>
                    <a:cs typeface="Times New Roman" panose="02020603050405020304" pitchFamily="18" charset="0"/>
                  </a:rPr>
                  <a:t>).</a:t>
                </a:r>
              </a:p>
              <a:p>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Chừng</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nào</a:t>
                </a:r>
                <a:r>
                  <a:rPr lang="en-US" dirty="0">
                    <a:latin typeface="Lato" panose="020F0502020204030203"/>
                    <a:cs typeface="Times New Roman" panose="02020603050405020304" pitchFamily="18" charset="0"/>
                  </a:rPr>
                  <a:t> M&gt;=1:</a:t>
                </a:r>
              </a:p>
              <a:p>
                <a:r>
                  <a:rPr lang="en-US" dirty="0">
                    <a:latin typeface="Lato" panose="020F0502020204030203"/>
                    <a:cs typeface="Times New Roman" panose="02020603050405020304" pitchFamily="18" charset="0"/>
                  </a:rPr>
                  <a:t>   + </a:t>
                </a:r>
                <a:r>
                  <a:rPr lang="en-US" dirty="0" err="1">
                    <a:latin typeface="Lato" panose="020F0502020204030203"/>
                    <a:cs typeface="Times New Roman" panose="02020603050405020304" pitchFamily="18" charset="0"/>
                  </a:rPr>
                  <a:t>Thực</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hiện</a:t>
                </a:r>
                <a:r>
                  <a:rPr lang="en-US" dirty="0">
                    <a:latin typeface="Lato" panose="020F0502020204030203"/>
                    <a:cs typeface="Times New Roman" panose="02020603050405020304" pitchFamily="18" charset="0"/>
                  </a:rPr>
                  <a:t> M </a:t>
                </a:r>
                <a:r>
                  <a:rPr lang="en-US" dirty="0" err="1">
                    <a:latin typeface="Lato" panose="020F0502020204030203"/>
                    <a:cs typeface="Times New Roman" panose="02020603050405020304" pitchFamily="18" charset="0"/>
                  </a:rPr>
                  <a:t>phép</a:t>
                </a:r>
                <a:r>
                  <a:rPr lang="en-US" dirty="0">
                    <a:latin typeface="Lato" panose="020F0502020204030203"/>
                    <a:cs typeface="Times New Roman" panose="02020603050405020304" pitchFamily="18" charset="0"/>
                  </a:rPr>
                  <a:t> quay </a:t>
                </a:r>
                <a:r>
                  <a:rPr lang="en-US" dirty="0" err="1">
                    <a:latin typeface="Lato" panose="020F0502020204030203"/>
                    <a:cs typeface="Times New Roman" panose="02020603050405020304" pitchFamily="18" charset="0"/>
                  </a:rPr>
                  <a:t>trái</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bắt</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đầu</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từ</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nút</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gốc</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trở</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xuống</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cũng</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cách</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một</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nút</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mới</a:t>
                </a:r>
                <a:r>
                  <a:rPr lang="en-US" dirty="0">
                    <a:latin typeface="Lato" panose="020F0502020204030203"/>
                    <a:cs typeface="Times New Roman" panose="02020603050405020304" pitchFamily="18" charset="0"/>
                  </a:rPr>
                  <a:t> quay </a:t>
                </a:r>
                <a:r>
                  <a:rPr lang="en-US" dirty="0" err="1">
                    <a:latin typeface="Lato" panose="020F0502020204030203"/>
                    <a:cs typeface="Times New Roman" panose="02020603050405020304" pitchFamily="18" charset="0"/>
                  </a:rPr>
                  <a:t>một</a:t>
                </a:r>
                <a:r>
                  <a:rPr lang="en-US" dirty="0">
                    <a:latin typeface="Lato" panose="020F0502020204030203"/>
                    <a:cs typeface="Times New Roman" panose="02020603050405020304" pitchFamily="18" charset="0"/>
                  </a:rPr>
                  <a:t> </a:t>
                </a:r>
                <a:r>
                  <a:rPr lang="en-US" dirty="0" err="1">
                    <a:latin typeface="Lato" panose="020F0502020204030203"/>
                    <a:cs typeface="Times New Roman" panose="02020603050405020304" pitchFamily="18" charset="0"/>
                  </a:rPr>
                  <a:t>lần</a:t>
                </a:r>
                <a:r>
                  <a:rPr lang="en-US" dirty="0">
                    <a:latin typeface="Lato" panose="020F0502020204030203"/>
                    <a:cs typeface="Times New Roman" panose="02020603050405020304" pitchFamily="18" charset="0"/>
                  </a:rPr>
                  <a:t>)</a:t>
                </a:r>
              </a:p>
              <a:p>
                <a:r>
                  <a:rPr lang="en-US" dirty="0">
                    <a:latin typeface="Lato" panose="020F0502020204030203"/>
                    <a:cs typeface="Times New Roman" panose="02020603050405020304" pitchFamily="18" charset="0"/>
                  </a:rPr>
                  <a:t>     + M = M/2;</a:t>
                </a:r>
              </a:p>
              <a:p>
                <a:endParaRPr lang="en-US" dirty="0">
                  <a:latin typeface="Lato" panose="020F0502020204030203"/>
                  <a:cs typeface="Times New Roman" panose="02020603050405020304" pitchFamily="18" charset="0"/>
                </a:endParaRPr>
              </a:p>
            </p:txBody>
          </p:sp>
        </mc:Choice>
        <mc:Fallback xmlns="">
          <p:sp>
            <p:nvSpPr>
              <p:cNvPr id="6" name="Rectangle 5"/>
              <p:cNvSpPr>
                <a:spLocks noRot="1" noChangeAspect="1" noMove="1" noResize="1" noEditPoints="1" noAdjustHandles="1" noChangeArrowheads="1" noChangeShapeType="1" noTextEdit="1"/>
              </p:cNvSpPr>
              <p:nvPr/>
            </p:nvSpPr>
            <p:spPr>
              <a:xfrm>
                <a:off x="218619" y="2286000"/>
                <a:ext cx="3425825" cy="3174972"/>
              </a:xfrm>
              <a:prstGeom prst="rect">
                <a:avLst/>
              </a:prstGeom>
              <a:blipFill>
                <a:blip r:embed="rId3"/>
                <a:stretch>
                  <a:fillRect l="-1601" t="-19770" r="-712"/>
                </a:stretch>
              </a:blipFill>
            </p:spPr>
            <p:txBody>
              <a:bodyPr/>
              <a:lstStyle/>
              <a:p>
                <a:r>
                  <a:rPr lang="en-US">
                    <a:noFill/>
                  </a:rPr>
                  <a:t> </a:t>
                </a:r>
              </a:p>
            </p:txBody>
          </p:sp>
        </mc:Fallback>
      </mc:AlternateContent>
      <p:sp>
        <p:nvSpPr>
          <p:cNvPr id="11" name="TextBox 10"/>
          <p:cNvSpPr txBox="1"/>
          <p:nvPr/>
        </p:nvSpPr>
        <p:spPr>
          <a:xfrm>
            <a:off x="3759999" y="2124710"/>
            <a:ext cx="639919" cy="369332"/>
          </a:xfrm>
          <a:prstGeom prst="rect">
            <a:avLst/>
          </a:prstGeom>
          <a:noFill/>
        </p:spPr>
        <p:txBody>
          <a:bodyPr wrap="none" rtlCol="0">
            <a:spAutoFit/>
          </a:bodyPr>
          <a:lstStyle/>
          <a:p>
            <a:r>
              <a:rPr lang="en-US" dirty="0"/>
              <a:t>M=2</a:t>
            </a:r>
          </a:p>
        </p:txBody>
      </p:sp>
      <p:pic>
        <p:nvPicPr>
          <p:cNvPr id="13" name="Picture 12"/>
          <p:cNvPicPr>
            <a:picLocks noChangeAspect="1"/>
          </p:cNvPicPr>
          <p:nvPr/>
        </p:nvPicPr>
        <p:blipFill>
          <a:blip r:embed="rId4"/>
          <a:stretch>
            <a:fillRect/>
          </a:stretch>
        </p:blipFill>
        <p:spPr>
          <a:xfrm>
            <a:off x="6589559" y="4753171"/>
            <a:ext cx="2088378" cy="1609950"/>
          </a:xfrm>
          <a:prstGeom prst="rect">
            <a:avLst/>
          </a:prstGeom>
        </p:spPr>
      </p:pic>
      <p:grpSp>
        <p:nvGrpSpPr>
          <p:cNvPr id="8" name="Group 7"/>
          <p:cNvGrpSpPr/>
          <p:nvPr/>
        </p:nvGrpSpPr>
        <p:grpSpPr>
          <a:xfrm>
            <a:off x="4388301" y="2101859"/>
            <a:ext cx="1905000" cy="2533952"/>
            <a:chOff x="4419600" y="2133600"/>
            <a:chExt cx="1905000" cy="2533952"/>
          </a:xfrm>
        </p:grpSpPr>
        <p:pic>
          <p:nvPicPr>
            <p:cNvPr id="7" name="Picture 6"/>
            <p:cNvPicPr>
              <a:picLocks noChangeAspect="1"/>
            </p:cNvPicPr>
            <p:nvPr/>
          </p:nvPicPr>
          <p:blipFill>
            <a:blip r:embed="rId5"/>
            <a:stretch>
              <a:fillRect/>
            </a:stretch>
          </p:blipFill>
          <p:spPr>
            <a:xfrm>
              <a:off x="4419600" y="2133600"/>
              <a:ext cx="1905000" cy="2533952"/>
            </a:xfrm>
            <a:prstGeom prst="rect">
              <a:avLst/>
            </a:prstGeom>
          </p:spPr>
        </p:pic>
        <p:sp>
          <p:nvSpPr>
            <p:cNvPr id="4" name="Rectangle 3"/>
            <p:cNvSpPr/>
            <p:nvPr/>
          </p:nvSpPr>
          <p:spPr>
            <a:xfrm>
              <a:off x="4737100" y="2172121"/>
              <a:ext cx="304800" cy="20595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5175250" y="2819400"/>
              <a:ext cx="304800" cy="20595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p:cNvGrpSpPr/>
          <p:nvPr/>
        </p:nvGrpSpPr>
        <p:grpSpPr>
          <a:xfrm>
            <a:off x="6553200" y="2156246"/>
            <a:ext cx="1709229" cy="2029710"/>
            <a:chOff x="6553200" y="2156246"/>
            <a:chExt cx="1709229" cy="2029710"/>
          </a:xfrm>
        </p:grpSpPr>
        <p:pic>
          <p:nvPicPr>
            <p:cNvPr id="9" name="Picture 8"/>
            <p:cNvPicPr>
              <a:picLocks noChangeAspect="1"/>
            </p:cNvPicPr>
            <p:nvPr/>
          </p:nvPicPr>
          <p:blipFill>
            <a:blip r:embed="rId6"/>
            <a:stretch>
              <a:fillRect/>
            </a:stretch>
          </p:blipFill>
          <p:spPr>
            <a:xfrm>
              <a:off x="6553200" y="2156246"/>
              <a:ext cx="1709229" cy="2029710"/>
            </a:xfrm>
            <a:prstGeom prst="rect">
              <a:avLst/>
            </a:prstGeom>
          </p:spPr>
        </p:pic>
        <p:sp>
          <p:nvSpPr>
            <p:cNvPr id="15" name="Rectangle 14"/>
            <p:cNvSpPr/>
            <p:nvPr/>
          </p:nvSpPr>
          <p:spPr>
            <a:xfrm>
              <a:off x="7086600" y="2209800"/>
              <a:ext cx="304800" cy="20595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7543800" y="2895600"/>
              <a:ext cx="304800" cy="20595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p:cNvGrpSpPr/>
          <p:nvPr/>
        </p:nvGrpSpPr>
        <p:grpSpPr>
          <a:xfrm>
            <a:off x="4443944" y="4757894"/>
            <a:ext cx="2099143" cy="1605227"/>
            <a:chOff x="4443944" y="4757894"/>
            <a:chExt cx="2099143" cy="1605227"/>
          </a:xfrm>
        </p:grpSpPr>
        <p:pic>
          <p:nvPicPr>
            <p:cNvPr id="10" name="Picture 9"/>
            <p:cNvPicPr>
              <a:picLocks noChangeAspect="1"/>
            </p:cNvPicPr>
            <p:nvPr/>
          </p:nvPicPr>
          <p:blipFill>
            <a:blip r:embed="rId7"/>
            <a:stretch>
              <a:fillRect/>
            </a:stretch>
          </p:blipFill>
          <p:spPr>
            <a:xfrm>
              <a:off x="4443944" y="4757894"/>
              <a:ext cx="2099143" cy="1605227"/>
            </a:xfrm>
            <a:prstGeom prst="rect">
              <a:avLst/>
            </a:prstGeom>
          </p:spPr>
        </p:pic>
        <p:sp>
          <p:nvSpPr>
            <p:cNvPr id="18" name="Rectangle 17"/>
            <p:cNvSpPr/>
            <p:nvPr/>
          </p:nvSpPr>
          <p:spPr>
            <a:xfrm>
              <a:off x="5480050" y="4852218"/>
              <a:ext cx="304800" cy="20595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p:cNvGrpSpPr/>
          <p:nvPr/>
        </p:nvGrpSpPr>
        <p:grpSpPr>
          <a:xfrm>
            <a:off x="4737100" y="2216150"/>
            <a:ext cx="692915" cy="628650"/>
            <a:chOff x="4737100" y="2216150"/>
            <a:chExt cx="692915" cy="628650"/>
          </a:xfrm>
        </p:grpSpPr>
        <p:cxnSp>
          <p:nvCxnSpPr>
            <p:cNvPr id="21" name="Straight Arrow Connector 20"/>
            <p:cNvCxnSpPr/>
            <p:nvPr/>
          </p:nvCxnSpPr>
          <p:spPr>
            <a:xfrm flipH="1">
              <a:off x="4737100" y="2216150"/>
              <a:ext cx="318265"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5111750" y="2844800"/>
              <a:ext cx="318265"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a:xfrm>
            <a:off x="7174819" y="2273721"/>
            <a:ext cx="692915" cy="628650"/>
            <a:chOff x="4737100" y="2216150"/>
            <a:chExt cx="692915" cy="628650"/>
          </a:xfrm>
        </p:grpSpPr>
        <p:cxnSp>
          <p:nvCxnSpPr>
            <p:cNvPr id="25" name="Straight Arrow Connector 24"/>
            <p:cNvCxnSpPr/>
            <p:nvPr/>
          </p:nvCxnSpPr>
          <p:spPr>
            <a:xfrm flipH="1">
              <a:off x="4737100" y="2216150"/>
              <a:ext cx="318265"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H="1">
              <a:off x="5111750" y="2844800"/>
              <a:ext cx="318265"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cxnSp>
        <p:nvCxnSpPr>
          <p:cNvPr id="27" name="Straight Arrow Connector 26"/>
          <p:cNvCxnSpPr/>
          <p:nvPr/>
        </p:nvCxnSpPr>
        <p:spPr>
          <a:xfrm flipH="1">
            <a:off x="5480050" y="4952441"/>
            <a:ext cx="318265"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4187430" y="4757894"/>
            <a:ext cx="639919" cy="369332"/>
          </a:xfrm>
          <a:prstGeom prst="rect">
            <a:avLst/>
          </a:prstGeom>
          <a:noFill/>
        </p:spPr>
        <p:txBody>
          <a:bodyPr wrap="none" rtlCol="0">
            <a:spAutoFit/>
          </a:bodyPr>
          <a:lstStyle/>
          <a:p>
            <a:r>
              <a:rPr lang="en-US" dirty="0"/>
              <a:t>M=1</a:t>
            </a:r>
          </a:p>
        </p:txBody>
      </p:sp>
      <p:sp>
        <p:nvSpPr>
          <p:cNvPr id="20" name="TextBox 19"/>
          <p:cNvSpPr txBox="1"/>
          <p:nvPr/>
        </p:nvSpPr>
        <p:spPr>
          <a:xfrm>
            <a:off x="425945" y="5609060"/>
            <a:ext cx="3334054" cy="369332"/>
          </a:xfrm>
          <a:prstGeom prst="rect">
            <a:avLst/>
          </a:prstGeom>
          <a:noFill/>
        </p:spPr>
        <p:txBody>
          <a:bodyPr wrap="none" rtlCol="0">
            <a:spAutoFit/>
          </a:bodyPr>
          <a:lstStyle/>
          <a:p>
            <a:r>
              <a:rPr lang="en-US" dirty="0" err="1">
                <a:solidFill>
                  <a:srgbClr val="FF0000"/>
                </a:solidFill>
              </a:rPr>
              <a:t>Có</a:t>
            </a:r>
            <a:r>
              <a:rPr lang="en-US" dirty="0">
                <a:solidFill>
                  <a:srgbClr val="FF0000"/>
                </a:solidFill>
              </a:rPr>
              <a:t> </a:t>
            </a:r>
            <a:r>
              <a:rPr lang="en-US" dirty="0" err="1">
                <a:solidFill>
                  <a:srgbClr val="FF0000"/>
                </a:solidFill>
              </a:rPr>
              <a:t>nhiều</a:t>
            </a:r>
            <a:r>
              <a:rPr lang="en-US" dirty="0">
                <a:solidFill>
                  <a:srgbClr val="FF0000"/>
                </a:solidFill>
              </a:rPr>
              <a:t> </a:t>
            </a:r>
            <a:r>
              <a:rPr lang="en-US" dirty="0" err="1">
                <a:solidFill>
                  <a:srgbClr val="FF0000"/>
                </a:solidFill>
              </a:rPr>
              <a:t>biến</a:t>
            </a:r>
            <a:r>
              <a:rPr lang="en-US" dirty="0">
                <a:solidFill>
                  <a:srgbClr val="FF0000"/>
                </a:solidFill>
              </a:rPr>
              <a:t> </a:t>
            </a:r>
            <a:r>
              <a:rPr lang="en-US" dirty="0" err="1">
                <a:solidFill>
                  <a:srgbClr val="FF0000"/>
                </a:solidFill>
              </a:rPr>
              <a:t>thể</a:t>
            </a:r>
            <a:r>
              <a:rPr lang="en-US" dirty="0">
                <a:solidFill>
                  <a:srgbClr val="FF0000"/>
                </a:solidFill>
              </a:rPr>
              <a:t> </a:t>
            </a:r>
            <a:r>
              <a:rPr lang="en-US" dirty="0" err="1">
                <a:solidFill>
                  <a:srgbClr val="FF0000"/>
                </a:solidFill>
              </a:rPr>
              <a:t>của</a:t>
            </a:r>
            <a:r>
              <a:rPr lang="en-US" dirty="0">
                <a:solidFill>
                  <a:srgbClr val="FF0000"/>
                </a:solidFill>
              </a:rPr>
              <a:t> </a:t>
            </a:r>
            <a:r>
              <a:rPr lang="en-US" dirty="0" err="1">
                <a:solidFill>
                  <a:srgbClr val="FF0000"/>
                </a:solidFill>
              </a:rPr>
              <a:t>Giải</a:t>
            </a:r>
            <a:r>
              <a:rPr lang="en-US" dirty="0">
                <a:solidFill>
                  <a:srgbClr val="FF0000"/>
                </a:solidFill>
              </a:rPr>
              <a:t> </a:t>
            </a:r>
            <a:r>
              <a:rPr lang="en-US" dirty="0" err="1">
                <a:solidFill>
                  <a:srgbClr val="FF0000"/>
                </a:solidFill>
              </a:rPr>
              <a:t>thuật</a:t>
            </a:r>
            <a:r>
              <a:rPr lang="en-US" dirty="0">
                <a:solidFill>
                  <a:srgbClr val="FF0000"/>
                </a:solidFill>
              </a:rPr>
              <a:t> !</a:t>
            </a:r>
          </a:p>
        </p:txBody>
      </p:sp>
    </p:spTree>
    <p:extLst>
      <p:ext uri="{BB962C8B-B14F-4D97-AF65-F5344CB8AC3E}">
        <p14:creationId xmlns:p14="http://schemas.microsoft.com/office/powerpoint/2010/main" val="180502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2" end="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xEl>
                                              <p:pRg st="3" end="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20"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82</a:t>
            </a:fld>
            <a:endParaRPr lang="en-US"/>
          </a:p>
        </p:txBody>
      </p:sp>
      <p:sp>
        <p:nvSpPr>
          <p:cNvPr id="5" name="Title 4"/>
          <p:cNvSpPr>
            <a:spLocks noGrp="1"/>
          </p:cNvSpPr>
          <p:nvPr>
            <p:ph type="title"/>
          </p:nvPr>
        </p:nvSpPr>
        <p:spPr/>
        <p:txBody>
          <a:bodyPr/>
          <a:lstStyle/>
          <a:p>
            <a:r>
              <a:rPr lang="en-US" dirty="0"/>
              <a:t>5. </a:t>
            </a:r>
            <a:r>
              <a:rPr lang="en-US" dirty="0" err="1"/>
              <a:t>Cây</a:t>
            </a:r>
            <a:r>
              <a:rPr lang="en-US" dirty="0"/>
              <a:t> </a:t>
            </a:r>
            <a:r>
              <a:rPr lang="en-US" dirty="0" err="1"/>
              <a:t>cân</a:t>
            </a:r>
            <a:r>
              <a:rPr lang="en-US" dirty="0"/>
              <a:t> </a:t>
            </a:r>
            <a:r>
              <a:rPr lang="en-US" dirty="0" err="1"/>
              <a:t>bằng</a:t>
            </a:r>
            <a:r>
              <a:rPr lang="en-US" dirty="0"/>
              <a:t> </a:t>
            </a:r>
          </a:p>
        </p:txBody>
      </p:sp>
      <p:sp>
        <p:nvSpPr>
          <p:cNvPr id="2" name="Content Placeholder 1"/>
          <p:cNvSpPr>
            <a:spLocks noGrp="1"/>
          </p:cNvSpPr>
          <p:nvPr>
            <p:ph type="body" sz="quarter" idx="13"/>
          </p:nvPr>
        </p:nvSpPr>
        <p:spPr>
          <a:xfrm>
            <a:off x="234950" y="963168"/>
            <a:ext cx="9061449" cy="5132832"/>
          </a:xfrm>
        </p:spPr>
        <p:txBody>
          <a:bodyPr/>
          <a:lstStyle/>
          <a:p>
            <a:r>
              <a:rPr lang="en-US" sz="2400" dirty="0" err="1"/>
              <a:t>Giải</a:t>
            </a:r>
            <a:r>
              <a:rPr lang="en-US" sz="2400" dirty="0"/>
              <a:t> </a:t>
            </a:r>
            <a:r>
              <a:rPr lang="en-US" sz="2400" dirty="0" err="1"/>
              <a:t>thuật</a:t>
            </a:r>
            <a:r>
              <a:rPr lang="en-US" sz="2400" dirty="0"/>
              <a:t> con AVL </a:t>
            </a:r>
            <a:r>
              <a:rPr lang="en-US" sz="2400" dirty="0" err="1"/>
              <a:t>khi</a:t>
            </a:r>
            <a:r>
              <a:rPr lang="en-US" sz="2400" dirty="0"/>
              <a:t> </a:t>
            </a:r>
            <a:r>
              <a:rPr lang="en-US" sz="2400" dirty="0" err="1"/>
              <a:t>bổ</a:t>
            </a:r>
            <a:r>
              <a:rPr lang="en-US" sz="2400" dirty="0"/>
              <a:t> sung </a:t>
            </a:r>
            <a:r>
              <a:rPr lang="en-US" sz="2400" dirty="0" err="1"/>
              <a:t>một</a:t>
            </a:r>
            <a:r>
              <a:rPr lang="en-US" sz="2400" dirty="0"/>
              <a:t> </a:t>
            </a:r>
            <a:r>
              <a:rPr lang="en-US" sz="2400" dirty="0" err="1"/>
              <a:t>nút</a:t>
            </a:r>
            <a:r>
              <a:rPr lang="en-US" sz="2400" dirty="0"/>
              <a:t> (</a:t>
            </a:r>
            <a:r>
              <a:rPr lang="en-US" sz="2400" dirty="0" err="1"/>
              <a:t>dựng</a:t>
            </a:r>
            <a:r>
              <a:rPr lang="en-US" sz="2400" dirty="0"/>
              <a:t> </a:t>
            </a:r>
            <a:r>
              <a:rPr lang="en-US" sz="2400" dirty="0" err="1"/>
              <a:t>cây</a:t>
            </a:r>
            <a:r>
              <a:rPr lang="en-US" sz="2400" dirty="0"/>
              <a:t>, </a:t>
            </a:r>
            <a:r>
              <a:rPr lang="en-US" sz="2400" dirty="0" err="1"/>
              <a:t>bổ</a:t>
            </a:r>
            <a:r>
              <a:rPr lang="en-US" sz="2400" dirty="0"/>
              <a:t> sung </a:t>
            </a:r>
            <a:r>
              <a:rPr lang="en-US" sz="2400" dirty="0" err="1"/>
              <a:t>mới</a:t>
            </a:r>
            <a:r>
              <a:rPr lang="en-US" sz="2400" dirty="0"/>
              <a:t>)</a:t>
            </a:r>
          </a:p>
          <a:p>
            <a:pPr lvl="1"/>
            <a:r>
              <a:rPr lang="en-US" sz="2300" dirty="0"/>
              <a:t>C</a:t>
            </a:r>
            <a:r>
              <a:rPr lang="vi-VN" sz="2300" dirty="0"/>
              <a:t>ó thể làm cây mất cân bằng </a:t>
            </a:r>
            <a:r>
              <a:rPr lang="en-US" sz="2000" dirty="0"/>
              <a:t>(</a:t>
            </a:r>
            <a:r>
              <a:rPr lang="vi-VN" dirty="0"/>
              <a:t>khi</a:t>
            </a:r>
            <a:r>
              <a:rPr lang="en-US" dirty="0"/>
              <a:t> </a:t>
            </a:r>
            <a:r>
              <a:rPr lang="vi-VN" dirty="0"/>
              <a:t>nút được bổ sung nằm ở cây con trái hoặc con phải của nút gốc</a:t>
            </a:r>
            <a:r>
              <a:rPr lang="en-US" dirty="0"/>
              <a:t>)</a:t>
            </a:r>
            <a:r>
              <a:rPr lang="en-US" sz="2000" dirty="0"/>
              <a:t> </a:t>
            </a:r>
          </a:p>
          <a:p>
            <a:pPr lvl="1"/>
            <a:r>
              <a:rPr lang="en-US" sz="2300" dirty="0"/>
              <a:t>G</a:t>
            </a:r>
            <a:r>
              <a:rPr lang="vi-VN" sz="2300" dirty="0"/>
              <a:t>iả sử nút được bổ sung sẽ nằm ở cây con phả</a:t>
            </a:r>
            <a:r>
              <a:rPr lang="en-US" sz="2300" dirty="0" err="1"/>
              <a:t>i</a:t>
            </a:r>
            <a:endParaRPr lang="en-US" sz="2300" dirty="0"/>
          </a:p>
          <a:p>
            <a:pPr lvl="2"/>
            <a:r>
              <a:rPr lang="vi-VN" sz="2000" dirty="0"/>
              <a:t>Giả sử chiều cao cây con trái và phải trước khi bổ sung lần</a:t>
            </a:r>
            <a:r>
              <a:rPr lang="en-US" sz="2000" dirty="0"/>
              <a:t> </a:t>
            </a:r>
            <a:r>
              <a:rPr lang="vi-VN" sz="2000" dirty="0"/>
              <a:t>lượt là h và h+1</a:t>
            </a:r>
            <a:r>
              <a:rPr lang="en-US" sz="2000" dirty="0"/>
              <a:t> (a1)</a:t>
            </a:r>
          </a:p>
          <a:p>
            <a:pPr lvl="2"/>
            <a:r>
              <a:rPr lang="vi-VN" sz="2000" dirty="0"/>
              <a:t>Nếu nút được bổ sung nằm ở cây con phải của cây con phải của nút gốc</a:t>
            </a:r>
            <a:r>
              <a:rPr lang="en-US" sz="2000" dirty="0"/>
              <a:t> (a2) </a:t>
            </a:r>
            <a:r>
              <a:rPr lang="en-US" sz="2000" dirty="0" err="1"/>
              <a:t>khi</a:t>
            </a:r>
            <a:r>
              <a:rPr lang="en-US" sz="2000" dirty="0"/>
              <a:t> </a:t>
            </a:r>
            <a:r>
              <a:rPr lang="en-US" sz="2000" dirty="0" err="1"/>
              <a:t>đó</a:t>
            </a:r>
            <a:r>
              <a:rPr lang="en-US" sz="2000" dirty="0"/>
              <a:t>, </a:t>
            </a:r>
            <a:r>
              <a:rPr lang="en-US" sz="2000" dirty="0" err="1"/>
              <a:t>để</a:t>
            </a:r>
            <a:r>
              <a:rPr lang="en-US" sz="2000" dirty="0"/>
              <a:t> </a:t>
            </a:r>
            <a:r>
              <a:rPr lang="en-US" sz="2000" dirty="0" err="1"/>
              <a:t>cân</a:t>
            </a:r>
            <a:r>
              <a:rPr lang="en-US" sz="2000" dirty="0"/>
              <a:t> </a:t>
            </a:r>
            <a:r>
              <a:rPr lang="en-US" sz="2000" dirty="0" err="1"/>
              <a:t>bằng</a:t>
            </a:r>
            <a:r>
              <a:rPr lang="en-US" sz="2000" dirty="0"/>
              <a:t> </a:t>
            </a:r>
            <a:r>
              <a:rPr lang="en-US" sz="2000" dirty="0" err="1"/>
              <a:t>lại</a:t>
            </a:r>
            <a:r>
              <a:rPr lang="en-US" sz="2000" dirty="0"/>
              <a:t> </a:t>
            </a:r>
            <a:r>
              <a:rPr lang="en-US" sz="2000" dirty="0" err="1"/>
              <a:t>cây</a:t>
            </a:r>
            <a:r>
              <a:rPr lang="en-US" sz="2000" dirty="0"/>
              <a:t>, </a:t>
            </a:r>
            <a:r>
              <a:rPr lang="en-US" sz="2000" dirty="0" err="1"/>
              <a:t>chỉ</a:t>
            </a:r>
            <a:r>
              <a:rPr lang="en-US" sz="2000" dirty="0"/>
              <a:t> </a:t>
            </a:r>
            <a:r>
              <a:rPr lang="en-US" sz="2000" dirty="0" err="1"/>
              <a:t>cần</a:t>
            </a:r>
            <a:r>
              <a:rPr lang="en-US" sz="2000" dirty="0"/>
              <a:t> </a:t>
            </a:r>
            <a:r>
              <a:rPr lang="en-US" sz="2000" dirty="0" err="1"/>
              <a:t>một</a:t>
            </a:r>
            <a:r>
              <a:rPr lang="en-US" sz="2000" dirty="0"/>
              <a:t> </a:t>
            </a:r>
            <a:r>
              <a:rPr lang="en-US" sz="2000" dirty="0" err="1"/>
              <a:t>phép</a:t>
            </a:r>
            <a:r>
              <a:rPr lang="en-US" sz="2000" dirty="0"/>
              <a:t> quay </a:t>
            </a:r>
            <a:r>
              <a:rPr lang="en-US" sz="2000" dirty="0" err="1"/>
              <a:t>trái</a:t>
            </a:r>
            <a:r>
              <a:rPr lang="en-US" sz="2000" dirty="0"/>
              <a:t> </a:t>
            </a:r>
            <a:r>
              <a:rPr lang="en-US" sz="2000" dirty="0" err="1"/>
              <a:t>từ</a:t>
            </a:r>
            <a:r>
              <a:rPr lang="en-US" sz="2000" dirty="0"/>
              <a:t> </a:t>
            </a:r>
            <a:r>
              <a:rPr lang="en-US" sz="2000" dirty="0" err="1"/>
              <a:t>nút</a:t>
            </a:r>
            <a:r>
              <a:rPr lang="en-US" sz="2000" dirty="0"/>
              <a:t> </a:t>
            </a:r>
            <a:r>
              <a:rPr lang="en-US" sz="2000" dirty="0" err="1"/>
              <a:t>gốc</a:t>
            </a:r>
            <a:r>
              <a:rPr lang="en-US" sz="2000" dirty="0"/>
              <a:t> (a3) </a:t>
            </a:r>
          </a:p>
          <a:p>
            <a:pPr lvl="1"/>
            <a:endParaRPr lang="en-US" sz="1800" dirty="0"/>
          </a:p>
        </p:txBody>
      </p:sp>
      <p:pic>
        <p:nvPicPr>
          <p:cNvPr id="7" name="Picture 6"/>
          <p:cNvPicPr>
            <a:picLocks noChangeAspect="1"/>
          </p:cNvPicPr>
          <p:nvPr/>
        </p:nvPicPr>
        <p:blipFill rotWithShape="1">
          <a:blip r:embed="rId3"/>
          <a:srcRect r="70027"/>
          <a:stretch/>
        </p:blipFill>
        <p:spPr>
          <a:xfrm>
            <a:off x="398613" y="3953987"/>
            <a:ext cx="1938789" cy="2829320"/>
          </a:xfrm>
          <a:prstGeom prst="rect">
            <a:avLst/>
          </a:prstGeom>
        </p:spPr>
      </p:pic>
      <p:cxnSp>
        <p:nvCxnSpPr>
          <p:cNvPr id="8" name="Straight Arrow Connector 7"/>
          <p:cNvCxnSpPr/>
          <p:nvPr/>
        </p:nvCxnSpPr>
        <p:spPr>
          <a:xfrm>
            <a:off x="5524867" y="4648200"/>
            <a:ext cx="5334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rotWithShape="1">
          <a:blip r:embed="rId3"/>
          <a:srcRect l="29451" r="38742"/>
          <a:stretch/>
        </p:blipFill>
        <p:spPr>
          <a:xfrm>
            <a:off x="3360353" y="4028680"/>
            <a:ext cx="2057400" cy="2829320"/>
          </a:xfrm>
          <a:prstGeom prst="rect">
            <a:avLst/>
          </a:prstGeom>
        </p:spPr>
      </p:pic>
      <p:pic>
        <p:nvPicPr>
          <p:cNvPr id="10" name="Picture 9"/>
          <p:cNvPicPr>
            <a:picLocks noChangeAspect="1"/>
          </p:cNvPicPr>
          <p:nvPr/>
        </p:nvPicPr>
        <p:blipFill rotWithShape="1">
          <a:blip r:embed="rId3"/>
          <a:srcRect l="64792" b="2318"/>
          <a:stretch/>
        </p:blipFill>
        <p:spPr>
          <a:xfrm>
            <a:off x="6115050" y="4094252"/>
            <a:ext cx="2277378" cy="2763748"/>
          </a:xfrm>
          <a:prstGeom prst="rect">
            <a:avLst/>
          </a:prstGeom>
        </p:spPr>
      </p:pic>
      <p:sp>
        <p:nvSpPr>
          <p:cNvPr id="11" name="TextBox 10"/>
          <p:cNvSpPr txBox="1"/>
          <p:nvPr/>
        </p:nvSpPr>
        <p:spPr>
          <a:xfrm>
            <a:off x="3081270" y="3529584"/>
            <a:ext cx="558166" cy="369332"/>
          </a:xfrm>
          <a:prstGeom prst="rect">
            <a:avLst/>
          </a:prstGeom>
          <a:noFill/>
        </p:spPr>
        <p:txBody>
          <a:bodyPr wrap="none" rtlCol="0">
            <a:spAutoFit/>
          </a:bodyPr>
          <a:lstStyle/>
          <a:p>
            <a:r>
              <a:rPr lang="en-US" dirty="0"/>
              <a:t>TH1</a:t>
            </a:r>
          </a:p>
        </p:txBody>
      </p:sp>
    </p:spTree>
    <p:extLst>
      <p:ext uri="{BB962C8B-B14F-4D97-AF65-F5344CB8AC3E}">
        <p14:creationId xmlns:p14="http://schemas.microsoft.com/office/powerpoint/2010/main" val="1480097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83</a:t>
            </a:fld>
            <a:endParaRPr lang="en-US"/>
          </a:p>
        </p:txBody>
      </p:sp>
      <p:sp>
        <p:nvSpPr>
          <p:cNvPr id="5" name="Title 4"/>
          <p:cNvSpPr>
            <a:spLocks noGrp="1"/>
          </p:cNvSpPr>
          <p:nvPr>
            <p:ph type="title"/>
          </p:nvPr>
        </p:nvSpPr>
        <p:spPr/>
        <p:txBody>
          <a:bodyPr/>
          <a:lstStyle/>
          <a:p>
            <a:r>
              <a:rPr lang="en-US" dirty="0"/>
              <a:t>5. </a:t>
            </a:r>
            <a:r>
              <a:rPr lang="en-US" dirty="0" err="1"/>
              <a:t>Cây</a:t>
            </a:r>
            <a:r>
              <a:rPr lang="en-US" dirty="0"/>
              <a:t> </a:t>
            </a:r>
            <a:r>
              <a:rPr lang="en-US" dirty="0" err="1"/>
              <a:t>cân</a:t>
            </a:r>
            <a:r>
              <a:rPr lang="en-US" dirty="0"/>
              <a:t> </a:t>
            </a:r>
            <a:r>
              <a:rPr lang="en-US" dirty="0" err="1"/>
              <a:t>bằng</a:t>
            </a:r>
            <a:r>
              <a:rPr lang="en-US" dirty="0"/>
              <a:t> </a:t>
            </a:r>
          </a:p>
        </p:txBody>
      </p:sp>
      <p:sp>
        <p:nvSpPr>
          <p:cNvPr id="2" name="Content Placeholder 1"/>
          <p:cNvSpPr>
            <a:spLocks noGrp="1"/>
          </p:cNvSpPr>
          <p:nvPr>
            <p:ph type="body" sz="quarter" idx="13"/>
          </p:nvPr>
        </p:nvSpPr>
        <p:spPr/>
        <p:txBody>
          <a:bodyPr/>
          <a:lstStyle/>
          <a:p>
            <a:r>
              <a:rPr lang="en-US" sz="2400" dirty="0" err="1"/>
              <a:t>Giải</a:t>
            </a:r>
            <a:r>
              <a:rPr lang="en-US" sz="2400" dirty="0"/>
              <a:t> </a:t>
            </a:r>
            <a:r>
              <a:rPr lang="en-US" sz="2400" dirty="0" err="1"/>
              <a:t>thuật</a:t>
            </a:r>
            <a:r>
              <a:rPr lang="en-US" sz="2400" dirty="0"/>
              <a:t> con AVL </a:t>
            </a:r>
            <a:r>
              <a:rPr lang="en-US" sz="2400" dirty="0" err="1"/>
              <a:t>khi</a:t>
            </a:r>
            <a:r>
              <a:rPr lang="en-US" sz="2400" dirty="0"/>
              <a:t> </a:t>
            </a:r>
            <a:r>
              <a:rPr lang="en-US" sz="2400" dirty="0" err="1"/>
              <a:t>bổ</a:t>
            </a:r>
            <a:r>
              <a:rPr lang="en-US" sz="2400" dirty="0"/>
              <a:t> sung </a:t>
            </a:r>
            <a:r>
              <a:rPr lang="en-US" sz="2400" dirty="0" err="1"/>
              <a:t>một</a:t>
            </a:r>
            <a:r>
              <a:rPr lang="en-US" sz="2400" dirty="0"/>
              <a:t> </a:t>
            </a:r>
            <a:r>
              <a:rPr lang="en-US" sz="2400" dirty="0" err="1"/>
              <a:t>nút</a:t>
            </a:r>
            <a:endParaRPr lang="en-US" sz="2400" dirty="0"/>
          </a:p>
          <a:p>
            <a:pPr lvl="2"/>
            <a:r>
              <a:rPr lang="vi-VN" sz="2000" dirty="0"/>
              <a:t>Nếu nút được bổ sung nằm ở cây con trái </a:t>
            </a:r>
            <a:r>
              <a:rPr lang="en-US" sz="2000" dirty="0"/>
              <a:t>(</a:t>
            </a:r>
            <a:r>
              <a:rPr lang="en-US" sz="2000" dirty="0" err="1"/>
              <a:t>gốc</a:t>
            </a:r>
            <a:r>
              <a:rPr lang="en-US" sz="2000" dirty="0"/>
              <a:t> B) </a:t>
            </a:r>
            <a:r>
              <a:rPr lang="vi-VN" sz="2000" dirty="0"/>
              <a:t>của cây con phải </a:t>
            </a:r>
            <a:r>
              <a:rPr lang="en-US" sz="2000" dirty="0"/>
              <a:t>(</a:t>
            </a:r>
            <a:r>
              <a:rPr lang="en-US" sz="2000" dirty="0" err="1"/>
              <a:t>gốc</a:t>
            </a:r>
            <a:r>
              <a:rPr lang="en-US" sz="2000" dirty="0"/>
              <a:t> C) </a:t>
            </a:r>
            <a:r>
              <a:rPr lang="vi-VN" sz="2000" dirty="0"/>
              <a:t>của nút gốc</a:t>
            </a:r>
            <a:r>
              <a:rPr lang="en-US" sz="2000" dirty="0"/>
              <a:t> A (b123): quay </a:t>
            </a:r>
            <a:r>
              <a:rPr lang="en-US" sz="2000" dirty="0" err="1"/>
              <a:t>phải</a:t>
            </a:r>
            <a:r>
              <a:rPr lang="en-US" sz="2000" dirty="0"/>
              <a:t> </a:t>
            </a:r>
            <a:r>
              <a:rPr lang="en-US" sz="2000" dirty="0" err="1"/>
              <a:t>tại</a:t>
            </a:r>
            <a:r>
              <a:rPr lang="en-US" sz="2000" dirty="0"/>
              <a:t> C (b4) </a:t>
            </a:r>
            <a:r>
              <a:rPr lang="en-US" sz="2000" dirty="0" err="1"/>
              <a:t>rồi</a:t>
            </a:r>
            <a:r>
              <a:rPr lang="en-US" sz="2000" dirty="0"/>
              <a:t> </a:t>
            </a:r>
            <a:r>
              <a:rPr lang="en-US" sz="2000" dirty="0" err="1"/>
              <a:t>sau</a:t>
            </a:r>
            <a:r>
              <a:rPr lang="en-US" sz="2000" dirty="0"/>
              <a:t> </a:t>
            </a:r>
            <a:r>
              <a:rPr lang="en-US" sz="2000" dirty="0" err="1"/>
              <a:t>đó</a:t>
            </a:r>
            <a:r>
              <a:rPr lang="en-US" sz="2000" dirty="0"/>
              <a:t> quay </a:t>
            </a:r>
            <a:r>
              <a:rPr lang="en-US" sz="2000" dirty="0" err="1"/>
              <a:t>trái</a:t>
            </a:r>
            <a:r>
              <a:rPr lang="en-US" sz="2000" dirty="0"/>
              <a:t> </a:t>
            </a:r>
            <a:r>
              <a:rPr lang="en-US" sz="2000" dirty="0" err="1"/>
              <a:t>tại</a:t>
            </a:r>
            <a:r>
              <a:rPr lang="en-US" sz="2000" dirty="0"/>
              <a:t> A (b5) </a:t>
            </a:r>
            <a:endParaRPr lang="en-US" sz="1700" dirty="0"/>
          </a:p>
          <a:p>
            <a:pPr lvl="1"/>
            <a:endParaRPr lang="en-US" sz="1800" dirty="0"/>
          </a:p>
        </p:txBody>
      </p:sp>
      <p:pic>
        <p:nvPicPr>
          <p:cNvPr id="6" name="Picture 5"/>
          <p:cNvPicPr>
            <a:picLocks noChangeAspect="1"/>
          </p:cNvPicPr>
          <p:nvPr/>
        </p:nvPicPr>
        <p:blipFill rotWithShape="1">
          <a:blip r:embed="rId3"/>
          <a:srcRect l="68299"/>
          <a:stretch/>
        </p:blipFill>
        <p:spPr>
          <a:xfrm>
            <a:off x="5318918" y="2261364"/>
            <a:ext cx="1592264" cy="2129524"/>
          </a:xfrm>
          <a:prstGeom prst="rect">
            <a:avLst/>
          </a:prstGeom>
        </p:spPr>
      </p:pic>
      <p:pic>
        <p:nvPicPr>
          <p:cNvPr id="8" name="Picture 7"/>
          <p:cNvPicPr>
            <a:picLocks noChangeAspect="1"/>
          </p:cNvPicPr>
          <p:nvPr/>
        </p:nvPicPr>
        <p:blipFill>
          <a:blip r:embed="rId4"/>
          <a:stretch>
            <a:fillRect/>
          </a:stretch>
        </p:blipFill>
        <p:spPr>
          <a:xfrm>
            <a:off x="2428295" y="4267200"/>
            <a:ext cx="4287410" cy="2166922"/>
          </a:xfrm>
          <a:prstGeom prst="rect">
            <a:avLst/>
          </a:prstGeom>
        </p:spPr>
      </p:pic>
      <p:pic>
        <p:nvPicPr>
          <p:cNvPr id="11" name="Picture 10"/>
          <p:cNvPicPr>
            <a:picLocks noChangeAspect="1"/>
          </p:cNvPicPr>
          <p:nvPr/>
        </p:nvPicPr>
        <p:blipFill rotWithShape="1">
          <a:blip r:embed="rId3"/>
          <a:srcRect r="71585" b="20538"/>
          <a:stretch/>
        </p:blipFill>
        <p:spPr>
          <a:xfrm>
            <a:off x="641325" y="2281666"/>
            <a:ext cx="1427211" cy="1692160"/>
          </a:xfrm>
          <a:prstGeom prst="rect">
            <a:avLst/>
          </a:prstGeom>
        </p:spPr>
      </p:pic>
      <p:pic>
        <p:nvPicPr>
          <p:cNvPr id="12" name="Picture 11"/>
          <p:cNvPicPr>
            <a:picLocks noChangeAspect="1"/>
          </p:cNvPicPr>
          <p:nvPr/>
        </p:nvPicPr>
        <p:blipFill rotWithShape="1">
          <a:blip r:embed="rId3"/>
          <a:srcRect l="32767" r="36891"/>
          <a:stretch/>
        </p:blipFill>
        <p:spPr>
          <a:xfrm>
            <a:off x="3616801" y="2261364"/>
            <a:ext cx="1524000" cy="2129524"/>
          </a:xfrm>
          <a:prstGeom prst="rect">
            <a:avLst/>
          </a:prstGeom>
        </p:spPr>
      </p:pic>
      <p:sp>
        <p:nvSpPr>
          <p:cNvPr id="9" name="TextBox 8"/>
          <p:cNvSpPr txBox="1"/>
          <p:nvPr/>
        </p:nvSpPr>
        <p:spPr>
          <a:xfrm>
            <a:off x="3352800" y="2015720"/>
            <a:ext cx="558166" cy="369332"/>
          </a:xfrm>
          <a:prstGeom prst="rect">
            <a:avLst/>
          </a:prstGeom>
          <a:noFill/>
        </p:spPr>
        <p:txBody>
          <a:bodyPr wrap="none" rtlCol="0">
            <a:spAutoFit/>
          </a:bodyPr>
          <a:lstStyle/>
          <a:p>
            <a:r>
              <a:rPr lang="en-US" dirty="0"/>
              <a:t>TH2</a:t>
            </a:r>
          </a:p>
        </p:txBody>
      </p:sp>
      <p:sp>
        <p:nvSpPr>
          <p:cNvPr id="7" name="TextBox 6"/>
          <p:cNvSpPr txBox="1"/>
          <p:nvPr/>
        </p:nvSpPr>
        <p:spPr>
          <a:xfrm>
            <a:off x="7086600" y="5165995"/>
            <a:ext cx="1207638" cy="369332"/>
          </a:xfrm>
          <a:prstGeom prst="rect">
            <a:avLst/>
          </a:prstGeom>
          <a:noFill/>
        </p:spPr>
        <p:txBody>
          <a:bodyPr wrap="none" rtlCol="0">
            <a:spAutoFit/>
          </a:bodyPr>
          <a:lstStyle/>
          <a:p>
            <a:r>
              <a:rPr lang="en-US" dirty="0"/>
              <a:t>“quay </a:t>
            </a:r>
            <a:r>
              <a:rPr lang="en-US" dirty="0" err="1"/>
              <a:t>kép</a:t>
            </a:r>
            <a:r>
              <a:rPr lang="en-US" dirty="0"/>
              <a:t>”</a:t>
            </a:r>
          </a:p>
        </p:txBody>
      </p:sp>
    </p:spTree>
    <p:extLst>
      <p:ext uri="{BB962C8B-B14F-4D97-AF65-F5344CB8AC3E}">
        <p14:creationId xmlns:p14="http://schemas.microsoft.com/office/powerpoint/2010/main" val="3808533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7"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dirty="0"/>
              <a:t>ET2100 </a:t>
            </a:r>
            <a:r>
              <a:rPr lang="en-US" i="1" dirty="0"/>
              <a:t>- </a:t>
            </a:r>
            <a:r>
              <a:rPr lang="en-US" b="1" i="1" dirty="0"/>
              <a:t>Data Structures and Algorithms</a:t>
            </a:r>
            <a:endParaRPr lang="en-US" dirty="0"/>
          </a:p>
          <a:p>
            <a:pPr algn="r"/>
            <a:r>
              <a:rPr lang="en-US" dirty="0"/>
              <a:t>School of Electrical and Electronic Engineering</a:t>
            </a:r>
          </a:p>
        </p:txBody>
      </p:sp>
      <p:sp>
        <p:nvSpPr>
          <p:cNvPr id="3" name="Slide Number Placeholder 2"/>
          <p:cNvSpPr>
            <a:spLocks noGrp="1"/>
          </p:cNvSpPr>
          <p:nvPr>
            <p:ph type="sldNum" sz="quarter" idx="12"/>
          </p:nvPr>
        </p:nvSpPr>
        <p:spPr/>
        <p:txBody>
          <a:bodyPr/>
          <a:lstStyle/>
          <a:p>
            <a:fld id="{BC24317B-5122-4A99-A6E9-FA23C146A7E0}" type="slidenum">
              <a:rPr lang="en-US" smtClean="0"/>
              <a:pPr/>
              <a:t>84</a:t>
            </a:fld>
            <a:endParaRPr lang="en-US"/>
          </a:p>
        </p:txBody>
      </p:sp>
      <p:sp>
        <p:nvSpPr>
          <p:cNvPr id="5" name="Title 4"/>
          <p:cNvSpPr>
            <a:spLocks noGrp="1"/>
          </p:cNvSpPr>
          <p:nvPr>
            <p:ph type="title"/>
          </p:nvPr>
        </p:nvSpPr>
        <p:spPr/>
        <p:txBody>
          <a:bodyPr/>
          <a:lstStyle/>
          <a:p>
            <a:r>
              <a:rPr lang="en-US" dirty="0"/>
              <a:t>5. </a:t>
            </a:r>
            <a:r>
              <a:rPr lang="en-US" dirty="0" err="1"/>
              <a:t>Cây</a:t>
            </a:r>
            <a:r>
              <a:rPr lang="en-US" dirty="0"/>
              <a:t> </a:t>
            </a:r>
            <a:r>
              <a:rPr lang="en-US" dirty="0" err="1"/>
              <a:t>cân</a:t>
            </a:r>
            <a:r>
              <a:rPr lang="en-US" dirty="0"/>
              <a:t> </a:t>
            </a:r>
            <a:r>
              <a:rPr lang="en-US" dirty="0" err="1"/>
              <a:t>bằng</a:t>
            </a:r>
            <a:r>
              <a:rPr lang="en-US" dirty="0"/>
              <a:t> </a:t>
            </a:r>
          </a:p>
        </p:txBody>
      </p:sp>
      <p:sp>
        <p:nvSpPr>
          <p:cNvPr id="2" name="Content Placeholder 1"/>
          <p:cNvSpPr>
            <a:spLocks noGrp="1"/>
          </p:cNvSpPr>
          <p:nvPr>
            <p:ph type="body" sz="quarter" idx="13"/>
          </p:nvPr>
        </p:nvSpPr>
        <p:spPr/>
        <p:txBody>
          <a:bodyPr/>
          <a:lstStyle/>
          <a:p>
            <a:r>
              <a:rPr lang="en-US" sz="2400" dirty="0" err="1"/>
              <a:t>Giải</a:t>
            </a:r>
            <a:r>
              <a:rPr lang="en-US" sz="2400" dirty="0"/>
              <a:t> </a:t>
            </a:r>
            <a:r>
              <a:rPr lang="en-US" sz="2400" dirty="0" err="1"/>
              <a:t>thuật</a:t>
            </a:r>
            <a:r>
              <a:rPr lang="en-US" sz="2400" dirty="0"/>
              <a:t> con AVL </a:t>
            </a:r>
            <a:r>
              <a:rPr lang="en-US" sz="2400" dirty="0" err="1"/>
              <a:t>khi</a:t>
            </a:r>
            <a:r>
              <a:rPr lang="en-US" sz="2400" dirty="0"/>
              <a:t> </a:t>
            </a:r>
            <a:r>
              <a:rPr lang="en-US" sz="2400" dirty="0" err="1"/>
              <a:t>loại</a:t>
            </a:r>
            <a:r>
              <a:rPr lang="en-US" sz="2400" dirty="0"/>
              <a:t> </a:t>
            </a:r>
            <a:r>
              <a:rPr lang="en-US" sz="2400" dirty="0" err="1"/>
              <a:t>bỏ</a:t>
            </a:r>
            <a:r>
              <a:rPr lang="en-US" sz="2400" dirty="0"/>
              <a:t> </a:t>
            </a:r>
            <a:r>
              <a:rPr lang="en-US" sz="2400" dirty="0" err="1"/>
              <a:t>một</a:t>
            </a:r>
            <a:r>
              <a:rPr lang="en-US" sz="2400" dirty="0"/>
              <a:t> </a:t>
            </a:r>
            <a:r>
              <a:rPr lang="en-US" sz="2400" dirty="0" err="1"/>
              <a:t>nút</a:t>
            </a:r>
            <a:endParaRPr lang="en-US" sz="2400" dirty="0"/>
          </a:p>
          <a:p>
            <a:pPr lvl="1"/>
            <a:r>
              <a:rPr lang="en-US" sz="2000" dirty="0" err="1"/>
              <a:t>có</a:t>
            </a:r>
            <a:r>
              <a:rPr lang="en-US" sz="2000" dirty="0"/>
              <a:t> </a:t>
            </a:r>
            <a:r>
              <a:rPr lang="en-US" sz="2000" dirty="0" err="1"/>
              <a:t>thể</a:t>
            </a:r>
            <a:r>
              <a:rPr lang="en-US" sz="2000" dirty="0"/>
              <a:t> </a:t>
            </a:r>
            <a:r>
              <a:rPr lang="en-US" sz="2000" dirty="0" err="1"/>
              <a:t>làm</a:t>
            </a:r>
            <a:r>
              <a:rPr lang="en-US" sz="2000" dirty="0"/>
              <a:t> </a:t>
            </a:r>
            <a:r>
              <a:rPr lang="en-US" sz="2000" dirty="0" err="1"/>
              <a:t>mất</a:t>
            </a:r>
            <a:r>
              <a:rPr lang="en-US" sz="2000" dirty="0"/>
              <a:t> </a:t>
            </a:r>
            <a:r>
              <a:rPr lang="en-US" sz="2000" dirty="0" err="1"/>
              <a:t>cân</a:t>
            </a:r>
            <a:r>
              <a:rPr lang="en-US" sz="2000" dirty="0"/>
              <a:t> </a:t>
            </a:r>
            <a:r>
              <a:rPr lang="en-US" sz="2000" dirty="0" err="1"/>
              <a:t>bằng</a:t>
            </a:r>
            <a:r>
              <a:rPr lang="en-US" sz="2000" dirty="0"/>
              <a:t> </a:t>
            </a:r>
            <a:r>
              <a:rPr lang="en-US" sz="2000" dirty="0" err="1"/>
              <a:t>khi</a:t>
            </a:r>
            <a:r>
              <a:rPr lang="en-US" sz="2000" dirty="0"/>
              <a:t> </a:t>
            </a:r>
            <a:r>
              <a:rPr lang="en-US" sz="2000" dirty="0" err="1"/>
              <a:t>nút</a:t>
            </a:r>
            <a:r>
              <a:rPr lang="en-US" sz="2000" dirty="0"/>
              <a:t> </a:t>
            </a:r>
            <a:r>
              <a:rPr lang="en-US" sz="2000" dirty="0" err="1"/>
              <a:t>bị</a:t>
            </a:r>
            <a:r>
              <a:rPr lang="en-US" sz="2000" dirty="0"/>
              <a:t> </a:t>
            </a:r>
            <a:r>
              <a:rPr lang="en-US" sz="2000" dirty="0" err="1"/>
              <a:t>loại</a:t>
            </a:r>
            <a:r>
              <a:rPr lang="en-US" sz="2000" dirty="0"/>
              <a:t> </a:t>
            </a:r>
            <a:r>
              <a:rPr lang="en-US" sz="2000" dirty="0" err="1"/>
              <a:t>bỏ</a:t>
            </a:r>
            <a:r>
              <a:rPr lang="en-US" sz="2000" dirty="0"/>
              <a:t> </a:t>
            </a:r>
            <a:r>
              <a:rPr lang="en-US" sz="2000" dirty="0" err="1"/>
              <a:t>nằm</a:t>
            </a:r>
            <a:r>
              <a:rPr lang="en-US" sz="2000" dirty="0"/>
              <a:t> ở </a:t>
            </a:r>
            <a:r>
              <a:rPr lang="en-US" sz="2000" dirty="0" err="1"/>
              <a:t>cây</a:t>
            </a:r>
            <a:r>
              <a:rPr lang="en-US" sz="2000" dirty="0"/>
              <a:t> con </a:t>
            </a:r>
            <a:r>
              <a:rPr lang="en-US" sz="2000" dirty="0" err="1"/>
              <a:t>trái</a:t>
            </a:r>
            <a:r>
              <a:rPr lang="en-US" sz="2000" dirty="0"/>
              <a:t> </a:t>
            </a:r>
            <a:r>
              <a:rPr lang="en-US" sz="2000" dirty="0" err="1"/>
              <a:t>hoặc</a:t>
            </a:r>
            <a:r>
              <a:rPr lang="en-US" sz="2000" dirty="0"/>
              <a:t> </a:t>
            </a:r>
            <a:r>
              <a:rPr lang="en-US" sz="2000" dirty="0" err="1"/>
              <a:t>cây</a:t>
            </a:r>
            <a:r>
              <a:rPr lang="en-US" sz="2000" dirty="0"/>
              <a:t> con </a:t>
            </a:r>
            <a:r>
              <a:rPr lang="en-US" sz="2000" dirty="0" err="1"/>
              <a:t>phải</a:t>
            </a:r>
            <a:r>
              <a:rPr lang="en-US" sz="2000" dirty="0"/>
              <a:t> </a:t>
            </a:r>
            <a:r>
              <a:rPr lang="en-US" sz="2000" dirty="0" err="1"/>
              <a:t>của</a:t>
            </a:r>
            <a:r>
              <a:rPr lang="en-US" sz="2000" dirty="0"/>
              <a:t> </a:t>
            </a:r>
            <a:r>
              <a:rPr lang="en-US" sz="2000" dirty="0" err="1"/>
              <a:t>nút</a:t>
            </a:r>
            <a:r>
              <a:rPr lang="en-US" sz="2000" dirty="0"/>
              <a:t> </a:t>
            </a:r>
            <a:r>
              <a:rPr lang="en-US" sz="2000" dirty="0" err="1"/>
              <a:t>gốc</a:t>
            </a:r>
            <a:endParaRPr lang="en-US" sz="2000" dirty="0"/>
          </a:p>
          <a:p>
            <a:pPr lvl="1"/>
            <a:r>
              <a:rPr lang="en-US" sz="2000" b="1" dirty="0" err="1"/>
              <a:t>Giả</a:t>
            </a:r>
            <a:r>
              <a:rPr lang="en-US" sz="2000" b="1" dirty="0"/>
              <a:t> </a:t>
            </a:r>
            <a:r>
              <a:rPr lang="en-US" sz="2000" b="1" dirty="0" err="1"/>
              <a:t>sử</a:t>
            </a:r>
            <a:r>
              <a:rPr lang="en-US" sz="2000" b="1" dirty="0"/>
              <a:t> </a:t>
            </a:r>
            <a:r>
              <a:rPr lang="en-US" sz="2000" b="1" dirty="0" err="1"/>
              <a:t>nút</a:t>
            </a:r>
            <a:r>
              <a:rPr lang="en-US" sz="2000" b="1" dirty="0"/>
              <a:t> </a:t>
            </a:r>
            <a:r>
              <a:rPr lang="en-US" sz="2000" b="1" dirty="0" err="1"/>
              <a:t>bị</a:t>
            </a:r>
            <a:r>
              <a:rPr lang="en-US" sz="2000" b="1" dirty="0"/>
              <a:t> </a:t>
            </a:r>
            <a:r>
              <a:rPr lang="en-US" sz="2000" b="1" dirty="0" err="1"/>
              <a:t>loại</a:t>
            </a:r>
            <a:r>
              <a:rPr lang="en-US" sz="2000" b="1" dirty="0"/>
              <a:t> </a:t>
            </a:r>
            <a:r>
              <a:rPr lang="en-US" sz="2000" b="1" dirty="0" err="1"/>
              <a:t>bỏ</a:t>
            </a:r>
            <a:r>
              <a:rPr lang="en-US" sz="2000" b="1" dirty="0"/>
              <a:t> </a:t>
            </a:r>
            <a:r>
              <a:rPr lang="en-US" sz="2000" b="1" dirty="0" err="1"/>
              <a:t>nằm</a:t>
            </a:r>
            <a:r>
              <a:rPr lang="en-US" sz="2000" b="1" dirty="0"/>
              <a:t> ở </a:t>
            </a:r>
            <a:r>
              <a:rPr lang="en-US" sz="2000" b="1" dirty="0" err="1"/>
              <a:t>cây</a:t>
            </a:r>
            <a:r>
              <a:rPr lang="en-US" sz="2000" b="1" dirty="0"/>
              <a:t> con </a:t>
            </a:r>
            <a:r>
              <a:rPr lang="en-US" sz="2000" b="1" dirty="0" err="1"/>
              <a:t>trái</a:t>
            </a:r>
            <a:r>
              <a:rPr lang="en-US" sz="2000" dirty="0"/>
              <a:t>, A </a:t>
            </a:r>
            <a:r>
              <a:rPr lang="en-US" sz="2000" dirty="0" err="1"/>
              <a:t>là</a:t>
            </a:r>
            <a:r>
              <a:rPr lang="en-US" sz="2000" dirty="0"/>
              <a:t> </a:t>
            </a:r>
            <a:r>
              <a:rPr lang="en-US" sz="2000" dirty="0" err="1"/>
              <a:t>nút</a:t>
            </a:r>
            <a:r>
              <a:rPr lang="en-US" sz="2000" dirty="0"/>
              <a:t> </a:t>
            </a:r>
            <a:r>
              <a:rPr lang="en-US" sz="2000" dirty="0" err="1"/>
              <a:t>gốc</a:t>
            </a:r>
            <a:r>
              <a:rPr lang="en-US" sz="2000" dirty="0"/>
              <a:t> </a:t>
            </a:r>
            <a:r>
              <a:rPr lang="en-US" sz="2000" dirty="0" err="1"/>
              <a:t>và</a:t>
            </a:r>
            <a:r>
              <a:rPr lang="en-US" sz="2000" dirty="0"/>
              <a:t> B </a:t>
            </a:r>
            <a:r>
              <a:rPr lang="en-US" sz="2000" dirty="0" err="1"/>
              <a:t>là</a:t>
            </a:r>
            <a:r>
              <a:rPr lang="en-US" sz="2000" dirty="0"/>
              <a:t> </a:t>
            </a:r>
            <a:r>
              <a:rPr lang="en-US" sz="2000" dirty="0" err="1"/>
              <a:t>nút</a:t>
            </a:r>
            <a:r>
              <a:rPr lang="en-US" sz="2000" dirty="0"/>
              <a:t> </a:t>
            </a:r>
            <a:r>
              <a:rPr lang="en-US" sz="2000" dirty="0" err="1"/>
              <a:t>gốc</a:t>
            </a:r>
            <a:r>
              <a:rPr lang="en-US" sz="2000" dirty="0"/>
              <a:t> </a:t>
            </a:r>
            <a:r>
              <a:rPr lang="en-US" sz="2000" dirty="0" err="1"/>
              <a:t>của</a:t>
            </a:r>
            <a:r>
              <a:rPr lang="en-US" sz="2000" dirty="0"/>
              <a:t> </a:t>
            </a:r>
            <a:r>
              <a:rPr lang="en-US" sz="2000" dirty="0" err="1"/>
              <a:t>cây</a:t>
            </a:r>
            <a:r>
              <a:rPr lang="en-US" sz="2000" dirty="0"/>
              <a:t> con </a:t>
            </a:r>
            <a:r>
              <a:rPr lang="en-US" sz="2000" dirty="0" err="1"/>
              <a:t>phải</a:t>
            </a:r>
            <a:r>
              <a:rPr lang="en-US" sz="2000" dirty="0"/>
              <a:t> (a1)</a:t>
            </a:r>
          </a:p>
          <a:p>
            <a:pPr lvl="2"/>
            <a:r>
              <a:rPr lang="vi-VN" sz="2000" dirty="0"/>
              <a:t>Giả sử chiều cao của cây con trái và cây con</a:t>
            </a:r>
            <a:r>
              <a:rPr lang="en-US" sz="2000" dirty="0"/>
              <a:t> </a:t>
            </a:r>
            <a:r>
              <a:rPr lang="vi-VN" sz="2000" dirty="0"/>
              <a:t>phải trước khi loại bỏ lần lượt là h và h+1</a:t>
            </a:r>
            <a:endParaRPr lang="en-US" sz="2000" dirty="0"/>
          </a:p>
          <a:p>
            <a:pPr lvl="2"/>
            <a:r>
              <a:rPr lang="en-US" sz="2000" dirty="0" err="1"/>
              <a:t>Nếu</a:t>
            </a:r>
            <a:r>
              <a:rPr lang="en-US" sz="2000" dirty="0"/>
              <a:t> </a:t>
            </a:r>
            <a:r>
              <a:rPr lang="en-US" sz="2000" dirty="0" err="1"/>
              <a:t>cây</a:t>
            </a:r>
            <a:r>
              <a:rPr lang="en-US" sz="2000" dirty="0"/>
              <a:t> con </a:t>
            </a:r>
            <a:r>
              <a:rPr lang="en-US" sz="2000" dirty="0" err="1"/>
              <a:t>phải</a:t>
            </a:r>
            <a:r>
              <a:rPr lang="en-US" sz="2000" dirty="0"/>
              <a:t> </a:t>
            </a:r>
            <a:r>
              <a:rPr lang="en-US" sz="2000" dirty="0" err="1"/>
              <a:t>của</a:t>
            </a:r>
            <a:r>
              <a:rPr lang="en-US" sz="2000" dirty="0"/>
              <a:t> B </a:t>
            </a:r>
            <a:r>
              <a:rPr lang="en-US" sz="2000" dirty="0" err="1"/>
              <a:t>có</a:t>
            </a:r>
            <a:r>
              <a:rPr lang="en-US" sz="2000" dirty="0"/>
              <a:t> </a:t>
            </a:r>
            <a:r>
              <a:rPr lang="en-US" sz="2000" dirty="0" err="1"/>
              <a:t>chiều</a:t>
            </a:r>
            <a:r>
              <a:rPr lang="en-US" sz="2000" dirty="0"/>
              <a:t> </a:t>
            </a:r>
            <a:r>
              <a:rPr lang="en-US" sz="2000" dirty="0" err="1"/>
              <a:t>cao</a:t>
            </a:r>
            <a:r>
              <a:rPr lang="en-US" sz="2000" dirty="0"/>
              <a:t> h (a2), </a:t>
            </a:r>
            <a:r>
              <a:rPr lang="en-US" sz="2000" dirty="0" err="1"/>
              <a:t>thực</a:t>
            </a:r>
            <a:r>
              <a:rPr lang="en-US" sz="2000" dirty="0"/>
              <a:t> </a:t>
            </a:r>
            <a:r>
              <a:rPr lang="en-US" sz="2000" dirty="0" err="1"/>
              <a:t>hiện</a:t>
            </a:r>
            <a:r>
              <a:rPr lang="en-US" sz="2000" dirty="0"/>
              <a:t> </a:t>
            </a:r>
            <a:r>
              <a:rPr lang="en-US" sz="2000" dirty="0" err="1"/>
              <a:t>một</a:t>
            </a:r>
            <a:r>
              <a:rPr lang="en-US" sz="2000" dirty="0"/>
              <a:t> </a:t>
            </a:r>
            <a:r>
              <a:rPr lang="en-US" sz="2000" dirty="0" err="1"/>
              <a:t>phép</a:t>
            </a:r>
            <a:r>
              <a:rPr lang="en-US" sz="2000" dirty="0"/>
              <a:t> quay </a:t>
            </a:r>
            <a:r>
              <a:rPr lang="en-US" sz="2000" dirty="0" err="1"/>
              <a:t>trái</a:t>
            </a:r>
            <a:r>
              <a:rPr lang="en-US" sz="2000" dirty="0"/>
              <a:t> </a:t>
            </a:r>
            <a:r>
              <a:rPr lang="en-US" sz="2000" dirty="0" err="1"/>
              <a:t>tại</a:t>
            </a:r>
            <a:r>
              <a:rPr lang="en-US" sz="2000" dirty="0"/>
              <a:t> A (a3)</a:t>
            </a:r>
          </a:p>
        </p:txBody>
      </p:sp>
      <p:pic>
        <p:nvPicPr>
          <p:cNvPr id="6" name="Picture 5"/>
          <p:cNvPicPr>
            <a:picLocks noChangeAspect="1"/>
          </p:cNvPicPr>
          <p:nvPr/>
        </p:nvPicPr>
        <p:blipFill rotWithShape="1">
          <a:blip r:embed="rId3"/>
          <a:srcRect r="69789"/>
          <a:stretch/>
        </p:blipFill>
        <p:spPr>
          <a:xfrm>
            <a:off x="1447801" y="3955644"/>
            <a:ext cx="1752600" cy="2177591"/>
          </a:xfrm>
          <a:prstGeom prst="rect">
            <a:avLst/>
          </a:prstGeom>
        </p:spPr>
      </p:pic>
      <p:pic>
        <p:nvPicPr>
          <p:cNvPr id="7" name="Picture 6"/>
          <p:cNvPicPr>
            <a:picLocks noChangeAspect="1"/>
          </p:cNvPicPr>
          <p:nvPr/>
        </p:nvPicPr>
        <p:blipFill rotWithShape="1">
          <a:blip r:embed="rId3"/>
          <a:srcRect l="30633" r="37843"/>
          <a:stretch/>
        </p:blipFill>
        <p:spPr>
          <a:xfrm>
            <a:off x="3346133" y="3960724"/>
            <a:ext cx="1828800" cy="2177591"/>
          </a:xfrm>
          <a:prstGeom prst="rect">
            <a:avLst/>
          </a:prstGeom>
        </p:spPr>
      </p:pic>
      <p:pic>
        <p:nvPicPr>
          <p:cNvPr id="8" name="Picture 7"/>
          <p:cNvPicPr>
            <a:picLocks noChangeAspect="1"/>
          </p:cNvPicPr>
          <p:nvPr/>
        </p:nvPicPr>
        <p:blipFill rotWithShape="1">
          <a:blip r:embed="rId3"/>
          <a:srcRect l="65906"/>
          <a:stretch/>
        </p:blipFill>
        <p:spPr>
          <a:xfrm>
            <a:off x="5351145" y="3975964"/>
            <a:ext cx="1977839" cy="2177591"/>
          </a:xfrm>
          <a:prstGeom prst="rect">
            <a:avLst/>
          </a:prstGeom>
        </p:spPr>
      </p:pic>
      <p:cxnSp>
        <p:nvCxnSpPr>
          <p:cNvPr id="10" name="Straight Arrow Connector 9"/>
          <p:cNvCxnSpPr/>
          <p:nvPr/>
        </p:nvCxnSpPr>
        <p:spPr>
          <a:xfrm>
            <a:off x="4953000" y="4953000"/>
            <a:ext cx="5334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153185" y="3955644"/>
            <a:ext cx="558166" cy="369332"/>
          </a:xfrm>
          <a:prstGeom prst="rect">
            <a:avLst/>
          </a:prstGeom>
          <a:noFill/>
        </p:spPr>
        <p:txBody>
          <a:bodyPr wrap="none" rtlCol="0">
            <a:spAutoFit/>
          </a:bodyPr>
          <a:lstStyle/>
          <a:p>
            <a:r>
              <a:rPr lang="en-US" dirty="0"/>
              <a:t>TH1</a:t>
            </a:r>
          </a:p>
        </p:txBody>
      </p:sp>
    </p:spTree>
    <p:extLst>
      <p:ext uri="{BB962C8B-B14F-4D97-AF65-F5344CB8AC3E}">
        <p14:creationId xmlns:p14="http://schemas.microsoft.com/office/powerpoint/2010/main" val="401386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dirty="0"/>
              <a:t>ET2100 </a:t>
            </a:r>
            <a:r>
              <a:rPr lang="en-US" i="1" dirty="0"/>
              <a:t>- </a:t>
            </a:r>
            <a:r>
              <a:rPr lang="en-US" b="1" i="1" dirty="0"/>
              <a:t>Data Structures and Algorithms</a:t>
            </a:r>
            <a:endParaRPr lang="en-US" dirty="0"/>
          </a:p>
          <a:p>
            <a:pPr algn="r"/>
            <a:r>
              <a:rPr lang="en-US" dirty="0"/>
              <a:t>School of Electrical and Electronic Engineering</a:t>
            </a:r>
          </a:p>
        </p:txBody>
      </p:sp>
      <p:sp>
        <p:nvSpPr>
          <p:cNvPr id="3" name="Slide Number Placeholder 2"/>
          <p:cNvSpPr>
            <a:spLocks noGrp="1"/>
          </p:cNvSpPr>
          <p:nvPr>
            <p:ph type="sldNum" sz="quarter" idx="12"/>
          </p:nvPr>
        </p:nvSpPr>
        <p:spPr/>
        <p:txBody>
          <a:bodyPr/>
          <a:lstStyle/>
          <a:p>
            <a:fld id="{BC24317B-5122-4A99-A6E9-FA23C146A7E0}" type="slidenum">
              <a:rPr lang="en-US" smtClean="0"/>
              <a:pPr/>
              <a:t>85</a:t>
            </a:fld>
            <a:endParaRPr lang="en-US"/>
          </a:p>
        </p:txBody>
      </p:sp>
      <p:sp>
        <p:nvSpPr>
          <p:cNvPr id="5" name="Title 4"/>
          <p:cNvSpPr>
            <a:spLocks noGrp="1"/>
          </p:cNvSpPr>
          <p:nvPr>
            <p:ph type="title"/>
          </p:nvPr>
        </p:nvSpPr>
        <p:spPr/>
        <p:txBody>
          <a:bodyPr/>
          <a:lstStyle/>
          <a:p>
            <a:r>
              <a:rPr lang="en-US" dirty="0"/>
              <a:t>5. </a:t>
            </a:r>
            <a:r>
              <a:rPr lang="en-US" dirty="0" err="1"/>
              <a:t>Cây</a:t>
            </a:r>
            <a:r>
              <a:rPr lang="en-US" dirty="0"/>
              <a:t> </a:t>
            </a:r>
            <a:r>
              <a:rPr lang="en-US" dirty="0" err="1"/>
              <a:t>cân</a:t>
            </a:r>
            <a:r>
              <a:rPr lang="en-US" dirty="0"/>
              <a:t> </a:t>
            </a:r>
            <a:r>
              <a:rPr lang="en-US" dirty="0" err="1"/>
              <a:t>bằng</a:t>
            </a:r>
            <a:r>
              <a:rPr lang="en-US" dirty="0"/>
              <a:t> </a:t>
            </a:r>
          </a:p>
        </p:txBody>
      </p:sp>
      <p:sp>
        <p:nvSpPr>
          <p:cNvPr id="2" name="Content Placeholder 1"/>
          <p:cNvSpPr>
            <a:spLocks noGrp="1"/>
          </p:cNvSpPr>
          <p:nvPr>
            <p:ph type="body" sz="quarter" idx="13"/>
          </p:nvPr>
        </p:nvSpPr>
        <p:spPr/>
        <p:txBody>
          <a:bodyPr/>
          <a:lstStyle/>
          <a:p>
            <a:r>
              <a:rPr lang="en-US" sz="2400" dirty="0" err="1"/>
              <a:t>Giải</a:t>
            </a:r>
            <a:r>
              <a:rPr lang="en-US" sz="2400" dirty="0"/>
              <a:t> </a:t>
            </a:r>
            <a:r>
              <a:rPr lang="en-US" sz="2400" dirty="0" err="1"/>
              <a:t>thuật</a:t>
            </a:r>
            <a:r>
              <a:rPr lang="en-US" sz="2400" dirty="0"/>
              <a:t> con AVL </a:t>
            </a:r>
            <a:r>
              <a:rPr lang="en-US" sz="2400" dirty="0" err="1"/>
              <a:t>khi</a:t>
            </a:r>
            <a:r>
              <a:rPr lang="en-US" sz="2400" dirty="0"/>
              <a:t> </a:t>
            </a:r>
            <a:r>
              <a:rPr lang="en-US" sz="2400" dirty="0" err="1"/>
              <a:t>loại</a:t>
            </a:r>
            <a:r>
              <a:rPr lang="en-US" sz="2400" dirty="0"/>
              <a:t> </a:t>
            </a:r>
            <a:r>
              <a:rPr lang="en-US" sz="2400" dirty="0" err="1"/>
              <a:t>bỏ</a:t>
            </a:r>
            <a:r>
              <a:rPr lang="en-US" sz="2400" dirty="0"/>
              <a:t> </a:t>
            </a:r>
            <a:r>
              <a:rPr lang="en-US" sz="2400" dirty="0" err="1"/>
              <a:t>một</a:t>
            </a:r>
            <a:r>
              <a:rPr lang="en-US" sz="2400" dirty="0"/>
              <a:t> </a:t>
            </a:r>
            <a:r>
              <a:rPr lang="en-US" sz="2400" dirty="0" err="1"/>
              <a:t>nút</a:t>
            </a:r>
            <a:endParaRPr lang="en-US" sz="2400" dirty="0"/>
          </a:p>
          <a:p>
            <a:pPr lvl="2"/>
            <a:r>
              <a:rPr lang="en-US" sz="2000" dirty="0" err="1"/>
              <a:t>Nếu</a:t>
            </a:r>
            <a:r>
              <a:rPr lang="en-US" sz="2000" dirty="0"/>
              <a:t> </a:t>
            </a:r>
            <a:r>
              <a:rPr lang="en-US" sz="2000" dirty="0" err="1"/>
              <a:t>cây</a:t>
            </a:r>
            <a:r>
              <a:rPr lang="en-US" sz="2000" dirty="0"/>
              <a:t> con </a:t>
            </a:r>
            <a:r>
              <a:rPr lang="en-US" sz="2000" dirty="0" err="1"/>
              <a:t>phải</a:t>
            </a:r>
            <a:r>
              <a:rPr lang="en-US" sz="2000" dirty="0"/>
              <a:t> </a:t>
            </a:r>
            <a:r>
              <a:rPr lang="en-US" sz="2000" dirty="0" err="1"/>
              <a:t>của</a:t>
            </a:r>
            <a:r>
              <a:rPr lang="en-US" sz="2000" dirty="0"/>
              <a:t> B </a:t>
            </a:r>
            <a:r>
              <a:rPr lang="en-US" sz="2000" dirty="0" err="1"/>
              <a:t>có</a:t>
            </a:r>
            <a:r>
              <a:rPr lang="en-US" sz="2000" dirty="0"/>
              <a:t> </a:t>
            </a:r>
            <a:r>
              <a:rPr lang="en-US" sz="2000" dirty="0" err="1"/>
              <a:t>chiều</a:t>
            </a:r>
            <a:r>
              <a:rPr lang="en-US" sz="2000" dirty="0"/>
              <a:t> </a:t>
            </a:r>
            <a:r>
              <a:rPr lang="en-US" sz="2000" dirty="0" err="1"/>
              <a:t>cao</a:t>
            </a:r>
            <a:r>
              <a:rPr lang="en-US" sz="2000" dirty="0"/>
              <a:t> h-1 (b1), </a:t>
            </a:r>
            <a:r>
              <a:rPr lang="en-US" sz="2000" dirty="0" err="1"/>
              <a:t>chiều</a:t>
            </a:r>
            <a:r>
              <a:rPr lang="en-US" sz="2000" dirty="0"/>
              <a:t> </a:t>
            </a:r>
            <a:r>
              <a:rPr lang="en-US" sz="2000" dirty="0" err="1"/>
              <a:t>cao</a:t>
            </a:r>
            <a:r>
              <a:rPr lang="en-US" sz="2000" dirty="0"/>
              <a:t> </a:t>
            </a:r>
            <a:r>
              <a:rPr lang="en-US" sz="2000" dirty="0" err="1"/>
              <a:t>cây</a:t>
            </a:r>
            <a:r>
              <a:rPr lang="en-US" sz="2000" dirty="0"/>
              <a:t> con </a:t>
            </a:r>
            <a:r>
              <a:rPr lang="en-US" sz="2000" dirty="0" err="1"/>
              <a:t>trái</a:t>
            </a:r>
            <a:r>
              <a:rPr lang="en-US" sz="2000" dirty="0"/>
              <a:t> </a:t>
            </a:r>
            <a:r>
              <a:rPr lang="en-US" sz="2000" dirty="0" err="1"/>
              <a:t>của</a:t>
            </a:r>
            <a:r>
              <a:rPr lang="en-US" sz="2000" dirty="0"/>
              <a:t> B </a:t>
            </a:r>
            <a:r>
              <a:rPr lang="en-US" sz="2000" dirty="0" err="1"/>
              <a:t>phải</a:t>
            </a:r>
            <a:r>
              <a:rPr lang="en-US" sz="2000" dirty="0"/>
              <a:t> </a:t>
            </a:r>
            <a:r>
              <a:rPr lang="en-US" sz="2000" dirty="0" err="1"/>
              <a:t>là</a:t>
            </a:r>
            <a:r>
              <a:rPr lang="en-US" sz="2000" dirty="0"/>
              <a:t> h, </a:t>
            </a:r>
            <a:r>
              <a:rPr lang="en-US" sz="2000" dirty="0" err="1"/>
              <a:t>sau</a:t>
            </a:r>
            <a:r>
              <a:rPr lang="en-US" sz="2000" dirty="0"/>
              <a:t> </a:t>
            </a:r>
            <a:r>
              <a:rPr lang="en-US" sz="2000" dirty="0" err="1"/>
              <a:t>loại</a:t>
            </a:r>
            <a:r>
              <a:rPr lang="en-US" sz="2000" dirty="0"/>
              <a:t> </a:t>
            </a:r>
            <a:r>
              <a:rPr lang="en-US" sz="2000" dirty="0" err="1"/>
              <a:t>bỏ</a:t>
            </a:r>
            <a:r>
              <a:rPr lang="en-US" sz="2000" dirty="0"/>
              <a:t> </a:t>
            </a:r>
            <a:r>
              <a:rPr lang="fr-FR" sz="2000" dirty="0" err="1"/>
              <a:t>chiều</a:t>
            </a:r>
            <a:r>
              <a:rPr lang="fr-FR" sz="2000" dirty="0"/>
              <a:t> </a:t>
            </a:r>
            <a:r>
              <a:rPr lang="fr-FR" sz="2000" dirty="0" err="1"/>
              <a:t>cao</a:t>
            </a:r>
            <a:r>
              <a:rPr lang="fr-FR" sz="2000" dirty="0"/>
              <a:t> </a:t>
            </a:r>
            <a:r>
              <a:rPr lang="fr-FR" sz="2000" dirty="0" err="1"/>
              <a:t>cây</a:t>
            </a:r>
            <a:r>
              <a:rPr lang="fr-FR" sz="2000" dirty="0"/>
              <a:t> con </a:t>
            </a:r>
            <a:r>
              <a:rPr lang="fr-FR" sz="2000" dirty="0" err="1"/>
              <a:t>trái</a:t>
            </a:r>
            <a:r>
              <a:rPr lang="fr-FR" sz="2000" dirty="0"/>
              <a:t> </a:t>
            </a:r>
            <a:r>
              <a:rPr lang="fr-FR" sz="2000" dirty="0" err="1"/>
              <a:t>sẽ</a:t>
            </a:r>
            <a:r>
              <a:rPr lang="fr-FR" sz="2000" dirty="0"/>
              <a:t> là h-1 </a:t>
            </a:r>
            <a:r>
              <a:rPr lang="en-US" sz="2000" dirty="0"/>
              <a:t>(b2), </a:t>
            </a:r>
            <a:r>
              <a:rPr lang="en-US" sz="2000" dirty="0" err="1"/>
              <a:t>gọi</a:t>
            </a:r>
            <a:r>
              <a:rPr lang="en-US" sz="2000" dirty="0"/>
              <a:t> C </a:t>
            </a:r>
            <a:r>
              <a:rPr lang="en-US" sz="2000" dirty="0" err="1"/>
              <a:t>là</a:t>
            </a:r>
            <a:r>
              <a:rPr lang="en-US" sz="2000" dirty="0"/>
              <a:t> </a:t>
            </a:r>
            <a:r>
              <a:rPr lang="en-US" sz="2000" dirty="0" err="1"/>
              <a:t>nút</a:t>
            </a:r>
            <a:r>
              <a:rPr lang="en-US" sz="2000" dirty="0"/>
              <a:t> con </a:t>
            </a:r>
            <a:r>
              <a:rPr lang="en-US" sz="2000" dirty="0" err="1"/>
              <a:t>trái</a:t>
            </a:r>
            <a:r>
              <a:rPr lang="en-US" sz="2000" dirty="0"/>
              <a:t> </a:t>
            </a:r>
            <a:r>
              <a:rPr lang="en-US" sz="2000" dirty="0" err="1"/>
              <a:t>của</a:t>
            </a:r>
            <a:r>
              <a:rPr lang="en-US" sz="2000" dirty="0"/>
              <a:t> B (b3) </a:t>
            </a:r>
            <a:r>
              <a:rPr lang="en-US" sz="2000" dirty="0">
                <a:sym typeface="Wingdings" panose="05000000000000000000" pitchFamily="2" charset="2"/>
              </a:rPr>
              <a:t></a:t>
            </a:r>
            <a:r>
              <a:rPr lang="en-US" sz="2000" dirty="0"/>
              <a:t> </a:t>
            </a:r>
            <a:r>
              <a:rPr lang="vi-VN" sz="2000" dirty="0"/>
              <a:t>thực hiện quay phải tại B, rồi quay</a:t>
            </a:r>
            <a:r>
              <a:rPr lang="en-US" sz="2000" dirty="0"/>
              <a:t> </a:t>
            </a:r>
            <a:r>
              <a:rPr lang="vi-VN" sz="2000" dirty="0"/>
              <a:t>trái tại A</a:t>
            </a:r>
            <a:r>
              <a:rPr lang="en-US" sz="2000" dirty="0"/>
              <a:t> (b4, b5)</a:t>
            </a:r>
          </a:p>
        </p:txBody>
      </p:sp>
      <p:pic>
        <p:nvPicPr>
          <p:cNvPr id="7" name="Picture 6"/>
          <p:cNvPicPr>
            <a:picLocks noChangeAspect="1"/>
          </p:cNvPicPr>
          <p:nvPr/>
        </p:nvPicPr>
        <p:blipFill>
          <a:blip r:embed="rId3"/>
          <a:stretch>
            <a:fillRect/>
          </a:stretch>
        </p:blipFill>
        <p:spPr>
          <a:xfrm>
            <a:off x="1813284" y="2324218"/>
            <a:ext cx="4800600" cy="2173997"/>
          </a:xfrm>
          <a:prstGeom prst="rect">
            <a:avLst/>
          </a:prstGeom>
        </p:spPr>
      </p:pic>
      <p:pic>
        <p:nvPicPr>
          <p:cNvPr id="8" name="Picture 7"/>
          <p:cNvPicPr>
            <a:picLocks noChangeAspect="1"/>
          </p:cNvPicPr>
          <p:nvPr/>
        </p:nvPicPr>
        <p:blipFill>
          <a:blip r:embed="rId4"/>
          <a:stretch>
            <a:fillRect/>
          </a:stretch>
        </p:blipFill>
        <p:spPr>
          <a:xfrm>
            <a:off x="1994619" y="4638422"/>
            <a:ext cx="4496598" cy="2143378"/>
          </a:xfrm>
          <a:prstGeom prst="rect">
            <a:avLst/>
          </a:prstGeom>
        </p:spPr>
      </p:pic>
      <p:sp>
        <p:nvSpPr>
          <p:cNvPr id="9" name="TextBox 8"/>
          <p:cNvSpPr txBox="1"/>
          <p:nvPr/>
        </p:nvSpPr>
        <p:spPr>
          <a:xfrm>
            <a:off x="3028950" y="2334378"/>
            <a:ext cx="558166" cy="369332"/>
          </a:xfrm>
          <a:prstGeom prst="rect">
            <a:avLst/>
          </a:prstGeom>
          <a:noFill/>
        </p:spPr>
        <p:txBody>
          <a:bodyPr wrap="none" rtlCol="0">
            <a:spAutoFit/>
          </a:bodyPr>
          <a:lstStyle/>
          <a:p>
            <a:r>
              <a:rPr lang="en-US" dirty="0"/>
              <a:t>TH2</a:t>
            </a:r>
          </a:p>
        </p:txBody>
      </p:sp>
    </p:spTree>
    <p:extLst>
      <p:ext uri="{BB962C8B-B14F-4D97-AF65-F5344CB8AC3E}">
        <p14:creationId xmlns:p14="http://schemas.microsoft.com/office/powerpoint/2010/main" val="2583719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lstStyle/>
          <a:p>
            <a:r>
              <a:rPr lang="en-US" altLang="en-US"/>
              <a:t>Bài tập</a:t>
            </a:r>
          </a:p>
        </p:txBody>
      </p:sp>
      <p:sp>
        <p:nvSpPr>
          <p:cNvPr id="59395" name="Content Placeholder 2"/>
          <p:cNvSpPr>
            <a:spLocks noGrp="1"/>
          </p:cNvSpPr>
          <p:nvPr>
            <p:ph type="body" sz="quarter" idx="13"/>
          </p:nvPr>
        </p:nvSpPr>
        <p:spPr/>
        <p:txBody>
          <a:bodyPr/>
          <a:lstStyle/>
          <a:p>
            <a:r>
              <a:rPr lang="en-US" altLang="en-US" sz="2000" b="1" dirty="0" err="1"/>
              <a:t>Bài</a:t>
            </a:r>
            <a:r>
              <a:rPr lang="en-US" altLang="en-US" sz="2000" b="1" dirty="0"/>
              <a:t> 1</a:t>
            </a:r>
            <a:r>
              <a:rPr lang="en-US" altLang="en-US" sz="2000" dirty="0"/>
              <a:t>: </a:t>
            </a:r>
            <a:r>
              <a:rPr lang="vi-VN" altLang="en-US" sz="2000" dirty="0"/>
              <a:t>Viết chương trình</a:t>
            </a:r>
            <a:r>
              <a:rPr lang="en-US" altLang="en-US" sz="2000" dirty="0"/>
              <a:t> </a:t>
            </a:r>
            <a:r>
              <a:rPr lang="en-US" altLang="en-US" sz="2000" dirty="0" err="1"/>
              <a:t>bằng</a:t>
            </a:r>
            <a:r>
              <a:rPr lang="en-US" altLang="en-US" sz="2000" dirty="0"/>
              <a:t> C</a:t>
            </a:r>
            <a:r>
              <a:rPr lang="vi-VN" altLang="en-US" sz="2000" dirty="0"/>
              <a:t> tạo cây tìm kiếm nhị phân</a:t>
            </a:r>
            <a:r>
              <a:rPr lang="en-US" altLang="en-US" sz="2000" dirty="0"/>
              <a:t>,</a:t>
            </a:r>
            <a:r>
              <a:rPr lang="vi-VN" altLang="en-US" sz="2000" dirty="0"/>
              <a:t> </a:t>
            </a:r>
            <a:r>
              <a:rPr lang="en-US" altLang="en-US" sz="2000" dirty="0" err="1"/>
              <a:t>biết</a:t>
            </a:r>
            <a:r>
              <a:rPr lang="en-US" altLang="en-US" sz="2000" dirty="0"/>
              <a:t> </a:t>
            </a:r>
            <a:r>
              <a:rPr lang="en-US" altLang="en-US" sz="2000" dirty="0" err="1"/>
              <a:t>cấu</a:t>
            </a:r>
            <a:r>
              <a:rPr lang="en-US" altLang="en-US" sz="2000" dirty="0"/>
              <a:t> </a:t>
            </a:r>
            <a:r>
              <a:rPr lang="en-US" altLang="en-US" sz="2000" dirty="0" err="1"/>
              <a:t>trúc</a:t>
            </a:r>
            <a:r>
              <a:rPr lang="en-US" altLang="en-US" sz="2000" dirty="0"/>
              <a:t> 1 </a:t>
            </a:r>
            <a:r>
              <a:rPr lang="en-US" altLang="en-US" sz="2000" dirty="0" err="1"/>
              <a:t>nút</a:t>
            </a:r>
            <a:r>
              <a:rPr lang="en-US" altLang="en-US" sz="2000" dirty="0"/>
              <a:t> </a:t>
            </a:r>
            <a:r>
              <a:rPr lang="en-US" altLang="en-US" sz="2000" dirty="0" err="1"/>
              <a:t>được</a:t>
            </a:r>
            <a:r>
              <a:rPr lang="en-US" altLang="en-US" sz="2000" dirty="0"/>
              <a:t> </a:t>
            </a:r>
            <a:r>
              <a:rPr lang="en-US" altLang="en-US" sz="2000" dirty="0" err="1"/>
              <a:t>khai</a:t>
            </a:r>
            <a:r>
              <a:rPr lang="en-US" altLang="en-US" sz="2000" dirty="0"/>
              <a:t> </a:t>
            </a:r>
            <a:r>
              <a:rPr lang="en-US" altLang="en-US" sz="2000" dirty="0" err="1"/>
              <a:t>báo</a:t>
            </a:r>
            <a:r>
              <a:rPr lang="en-US" altLang="en-US" sz="2000" dirty="0"/>
              <a:t>:</a:t>
            </a:r>
          </a:p>
          <a:p>
            <a:pPr marL="274638" lvl="1" indent="0">
              <a:buNone/>
            </a:pPr>
            <a:r>
              <a:rPr lang="en-US" sz="1700" dirty="0"/>
              <a:t>    </a:t>
            </a:r>
            <a:r>
              <a:rPr lang="en-US" sz="1700" b="1" dirty="0" err="1"/>
              <a:t>struct</a:t>
            </a:r>
            <a:r>
              <a:rPr lang="en-US" sz="1700" b="1" dirty="0"/>
              <a:t> node { </a:t>
            </a:r>
            <a:r>
              <a:rPr lang="en-US" sz="1700" b="1" dirty="0" err="1"/>
              <a:t>int</a:t>
            </a:r>
            <a:r>
              <a:rPr lang="en-US" sz="1700" b="1" dirty="0"/>
              <a:t> data; </a:t>
            </a:r>
            <a:r>
              <a:rPr lang="en-US" sz="1700" b="1" dirty="0" err="1"/>
              <a:t>struct</a:t>
            </a:r>
            <a:r>
              <a:rPr lang="en-US" sz="1700" b="1" dirty="0"/>
              <a:t> node *left; </a:t>
            </a:r>
            <a:r>
              <a:rPr lang="en-US" sz="1700" b="1" dirty="0" err="1"/>
              <a:t>struct</a:t>
            </a:r>
            <a:r>
              <a:rPr lang="en-US" sz="1700" b="1" dirty="0"/>
              <a:t> node *right; };</a:t>
            </a:r>
          </a:p>
          <a:p>
            <a:pPr marL="274638" lvl="1" indent="0">
              <a:buNone/>
            </a:pPr>
            <a:r>
              <a:rPr lang="vi-VN" altLang="en-US" sz="2000" dirty="0"/>
              <a:t>và thực hiện tất cả các thao tác</a:t>
            </a:r>
            <a:r>
              <a:rPr lang="en-US" altLang="en-US" sz="2000" dirty="0"/>
              <a:t> </a:t>
            </a:r>
            <a:r>
              <a:rPr lang="en-US" altLang="en-US" sz="2000" dirty="0" err="1"/>
              <a:t>sau</a:t>
            </a:r>
            <a:r>
              <a:rPr lang="en-US" altLang="en-US" sz="2000" dirty="0"/>
              <a:t>,</a:t>
            </a:r>
          </a:p>
          <a:p>
            <a:pPr lvl="1"/>
            <a:r>
              <a:rPr lang="en-US" sz="1800" b="1" dirty="0"/>
              <a:t>void </a:t>
            </a:r>
            <a:r>
              <a:rPr lang="en-US" sz="1800" b="1" dirty="0" err="1"/>
              <a:t>create_tree</a:t>
            </a:r>
            <a:r>
              <a:rPr lang="en-US" sz="1800" b="1" dirty="0"/>
              <a:t>(</a:t>
            </a:r>
            <a:r>
              <a:rPr lang="en-US" sz="1800" b="1" dirty="0" err="1"/>
              <a:t>struct</a:t>
            </a:r>
            <a:r>
              <a:rPr lang="en-US" sz="1800" b="1" dirty="0"/>
              <a:t> node *); </a:t>
            </a:r>
          </a:p>
          <a:p>
            <a:pPr lvl="1"/>
            <a:r>
              <a:rPr lang="en-US" sz="1800" b="1" dirty="0" err="1"/>
              <a:t>struct</a:t>
            </a:r>
            <a:r>
              <a:rPr lang="en-US" sz="1800" b="1" dirty="0"/>
              <a:t> node *</a:t>
            </a:r>
            <a:r>
              <a:rPr lang="en-US" sz="1800" b="1" dirty="0" err="1"/>
              <a:t>insertElement</a:t>
            </a:r>
            <a:r>
              <a:rPr lang="en-US" sz="1800" b="1" dirty="0"/>
              <a:t>(</a:t>
            </a:r>
            <a:r>
              <a:rPr lang="en-US" sz="1800" b="1" dirty="0" err="1"/>
              <a:t>struct</a:t>
            </a:r>
            <a:r>
              <a:rPr lang="en-US" sz="1800" b="1" dirty="0"/>
              <a:t> node *, </a:t>
            </a:r>
            <a:r>
              <a:rPr lang="en-US" sz="1800" b="1" dirty="0" err="1"/>
              <a:t>int</a:t>
            </a:r>
            <a:r>
              <a:rPr lang="en-US" sz="1800" b="1" dirty="0"/>
              <a:t>); </a:t>
            </a:r>
          </a:p>
          <a:p>
            <a:pPr lvl="1"/>
            <a:r>
              <a:rPr lang="en-US" sz="1800" b="1" dirty="0"/>
              <a:t>void </a:t>
            </a:r>
            <a:r>
              <a:rPr lang="en-US" sz="1800" b="1" dirty="0" err="1"/>
              <a:t>preorderTraversal</a:t>
            </a:r>
            <a:r>
              <a:rPr lang="en-US" sz="1800" b="1" dirty="0"/>
              <a:t>(</a:t>
            </a:r>
            <a:r>
              <a:rPr lang="en-US" sz="1800" b="1" dirty="0" err="1"/>
              <a:t>struct</a:t>
            </a:r>
            <a:r>
              <a:rPr lang="en-US" sz="1800" b="1" dirty="0"/>
              <a:t> node *);</a:t>
            </a:r>
          </a:p>
          <a:p>
            <a:pPr lvl="1"/>
            <a:r>
              <a:rPr lang="en-US" sz="1800" b="1" dirty="0"/>
              <a:t> void </a:t>
            </a:r>
            <a:r>
              <a:rPr lang="en-US" sz="1800" b="1" dirty="0" err="1"/>
              <a:t>inorderTraversal</a:t>
            </a:r>
            <a:r>
              <a:rPr lang="en-US" sz="1800" b="1" dirty="0"/>
              <a:t>(</a:t>
            </a:r>
            <a:r>
              <a:rPr lang="en-US" sz="1800" b="1" dirty="0" err="1"/>
              <a:t>struct</a:t>
            </a:r>
            <a:r>
              <a:rPr lang="en-US" sz="1800" b="1" dirty="0"/>
              <a:t> node *)</a:t>
            </a:r>
          </a:p>
          <a:p>
            <a:pPr lvl="1"/>
            <a:r>
              <a:rPr lang="en-US" sz="1800" b="1" dirty="0"/>
              <a:t>void </a:t>
            </a:r>
            <a:r>
              <a:rPr lang="en-US" sz="1800" b="1" dirty="0" err="1"/>
              <a:t>postorderTraversal</a:t>
            </a:r>
            <a:r>
              <a:rPr lang="en-US" sz="1800" b="1" dirty="0"/>
              <a:t>(</a:t>
            </a:r>
            <a:r>
              <a:rPr lang="en-US" sz="1800" b="1" dirty="0" err="1"/>
              <a:t>struct</a:t>
            </a:r>
            <a:r>
              <a:rPr lang="en-US" sz="1800" b="1" dirty="0"/>
              <a:t> node *);</a:t>
            </a:r>
          </a:p>
          <a:p>
            <a:pPr lvl="1"/>
            <a:r>
              <a:rPr lang="en-US" sz="1800" b="1" dirty="0" err="1"/>
              <a:t>struct</a:t>
            </a:r>
            <a:r>
              <a:rPr lang="en-US" sz="1800" b="1" dirty="0"/>
              <a:t> node *</a:t>
            </a:r>
            <a:r>
              <a:rPr lang="en-US" sz="1800" b="1" dirty="0" err="1"/>
              <a:t>findSmallestElement</a:t>
            </a:r>
            <a:r>
              <a:rPr lang="en-US" sz="1800" b="1" dirty="0"/>
              <a:t>(</a:t>
            </a:r>
            <a:r>
              <a:rPr lang="en-US" sz="1800" b="1" dirty="0" err="1"/>
              <a:t>struct</a:t>
            </a:r>
            <a:r>
              <a:rPr lang="en-US" sz="1800" b="1" dirty="0"/>
              <a:t> node *);</a:t>
            </a:r>
          </a:p>
          <a:p>
            <a:pPr lvl="1"/>
            <a:r>
              <a:rPr lang="en-US" sz="1800" b="1" dirty="0" err="1"/>
              <a:t>struct</a:t>
            </a:r>
            <a:r>
              <a:rPr lang="en-US" sz="1800" b="1" dirty="0"/>
              <a:t> node *</a:t>
            </a:r>
            <a:r>
              <a:rPr lang="en-US" sz="1800" b="1" dirty="0" err="1"/>
              <a:t>findLargestElement</a:t>
            </a:r>
            <a:r>
              <a:rPr lang="en-US" sz="1800" b="1" dirty="0"/>
              <a:t>(</a:t>
            </a:r>
            <a:r>
              <a:rPr lang="en-US" sz="1800" b="1" dirty="0" err="1"/>
              <a:t>struct</a:t>
            </a:r>
            <a:r>
              <a:rPr lang="en-US" sz="1800" b="1" dirty="0"/>
              <a:t> node *); </a:t>
            </a:r>
          </a:p>
          <a:p>
            <a:pPr lvl="1"/>
            <a:r>
              <a:rPr lang="en-US" sz="1800" b="1" dirty="0" err="1"/>
              <a:t>struct</a:t>
            </a:r>
            <a:r>
              <a:rPr lang="en-US" sz="1800" b="1" dirty="0"/>
              <a:t> node *</a:t>
            </a:r>
            <a:r>
              <a:rPr lang="en-US" sz="1800" b="1" dirty="0" err="1"/>
              <a:t>deleteElement</a:t>
            </a:r>
            <a:r>
              <a:rPr lang="en-US" sz="1800" b="1" dirty="0"/>
              <a:t>(</a:t>
            </a:r>
            <a:r>
              <a:rPr lang="en-US" sz="1800" b="1" dirty="0" err="1"/>
              <a:t>struct</a:t>
            </a:r>
            <a:r>
              <a:rPr lang="en-US" sz="1800" b="1" dirty="0"/>
              <a:t> node *, </a:t>
            </a:r>
            <a:r>
              <a:rPr lang="en-US" sz="1800" b="1" dirty="0" err="1"/>
              <a:t>int</a:t>
            </a:r>
            <a:r>
              <a:rPr lang="en-US" sz="1800" b="1" dirty="0"/>
              <a:t>); </a:t>
            </a:r>
          </a:p>
          <a:p>
            <a:pPr lvl="1"/>
            <a:r>
              <a:rPr lang="en-US" sz="1800" b="1" dirty="0" err="1"/>
              <a:t>int</a:t>
            </a:r>
            <a:r>
              <a:rPr lang="en-US" sz="1800" b="1" dirty="0"/>
              <a:t> </a:t>
            </a:r>
            <a:r>
              <a:rPr lang="en-US" sz="1800" b="1" dirty="0" err="1"/>
              <a:t>totalNodes</a:t>
            </a:r>
            <a:r>
              <a:rPr lang="en-US" sz="1800" b="1" dirty="0"/>
              <a:t>(</a:t>
            </a:r>
            <a:r>
              <a:rPr lang="en-US" sz="1800" b="1" dirty="0" err="1"/>
              <a:t>struct</a:t>
            </a:r>
            <a:r>
              <a:rPr lang="en-US" sz="1800" b="1" dirty="0"/>
              <a:t> node *); </a:t>
            </a:r>
          </a:p>
          <a:p>
            <a:pPr lvl="1"/>
            <a:r>
              <a:rPr lang="en-US" sz="1800" b="1" dirty="0" err="1"/>
              <a:t>int</a:t>
            </a:r>
            <a:r>
              <a:rPr lang="en-US" sz="1800" b="1" dirty="0"/>
              <a:t> Height(</a:t>
            </a:r>
            <a:r>
              <a:rPr lang="en-US" sz="1800" b="1" dirty="0" err="1"/>
              <a:t>struct</a:t>
            </a:r>
            <a:r>
              <a:rPr lang="en-US" sz="1800" b="1" dirty="0"/>
              <a:t> node *); </a:t>
            </a:r>
          </a:p>
          <a:p>
            <a:pPr lvl="1"/>
            <a:r>
              <a:rPr lang="en-US" sz="1800" b="1" dirty="0" err="1"/>
              <a:t>struct</a:t>
            </a:r>
            <a:r>
              <a:rPr lang="en-US" sz="1800" b="1" dirty="0"/>
              <a:t> node *</a:t>
            </a:r>
            <a:r>
              <a:rPr lang="en-US" sz="1800" b="1" dirty="0" err="1"/>
              <a:t>deleteTree</a:t>
            </a:r>
            <a:r>
              <a:rPr lang="en-US" sz="1800" b="1" dirty="0"/>
              <a:t>(</a:t>
            </a:r>
            <a:r>
              <a:rPr lang="en-US" sz="1800" b="1" dirty="0" err="1"/>
              <a:t>struct</a:t>
            </a:r>
            <a:r>
              <a:rPr lang="en-US" sz="1800" b="1" dirty="0"/>
              <a:t> node *);</a:t>
            </a:r>
            <a:endParaRPr lang="en-US" altLang="en-US" sz="1800" b="1" dirty="0"/>
          </a:p>
        </p:txBody>
      </p:sp>
    </p:spTree>
    <p:extLst>
      <p:ext uri="{BB962C8B-B14F-4D97-AF65-F5344CB8AC3E}">
        <p14:creationId xmlns:p14="http://schemas.microsoft.com/office/powerpoint/2010/main" val="237764222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p:txBody>
          <a:bodyPr/>
          <a:lstStyle/>
          <a:p>
            <a:r>
              <a:rPr lang="en-US" altLang="en-US"/>
              <a:t>Bài tập</a:t>
            </a:r>
          </a:p>
        </p:txBody>
      </p:sp>
      <p:sp>
        <p:nvSpPr>
          <p:cNvPr id="60419" name="Content Placeholder 2"/>
          <p:cNvSpPr>
            <a:spLocks noGrp="1"/>
          </p:cNvSpPr>
          <p:nvPr>
            <p:ph type="body" sz="quarter" idx="13"/>
          </p:nvPr>
        </p:nvSpPr>
        <p:spPr/>
        <p:txBody>
          <a:bodyPr/>
          <a:lstStyle/>
          <a:p>
            <a:r>
              <a:rPr lang="en-US" altLang="en-US" b="1" dirty="0" err="1"/>
              <a:t>Bài</a:t>
            </a:r>
            <a:r>
              <a:rPr lang="en-US" altLang="en-US" b="1" dirty="0"/>
              <a:t> 2</a:t>
            </a:r>
            <a:r>
              <a:rPr lang="en-US" altLang="en-US" dirty="0"/>
              <a:t>: </a:t>
            </a:r>
            <a:r>
              <a:rPr lang="en-US" dirty="0" err="1"/>
              <a:t>Xây</a:t>
            </a:r>
            <a:r>
              <a:rPr lang="en-US" dirty="0"/>
              <a:t> </a:t>
            </a:r>
            <a:r>
              <a:rPr lang="en-US" dirty="0" err="1"/>
              <a:t>dựng</a:t>
            </a:r>
            <a:r>
              <a:rPr lang="en-US" dirty="0"/>
              <a:t> </a:t>
            </a:r>
            <a:r>
              <a:rPr lang="en-US" dirty="0" err="1"/>
              <a:t>một</a:t>
            </a:r>
            <a:r>
              <a:rPr lang="en-US" dirty="0"/>
              <a:t> class Folder </a:t>
            </a:r>
            <a:r>
              <a:rPr lang="en-US" dirty="0" err="1"/>
              <a:t>biểu</a:t>
            </a:r>
            <a:r>
              <a:rPr lang="en-US" dirty="0"/>
              <a:t> </a:t>
            </a:r>
            <a:r>
              <a:rPr lang="en-US" dirty="0" err="1"/>
              <a:t>diễn</a:t>
            </a:r>
            <a:r>
              <a:rPr lang="en-US" dirty="0"/>
              <a:t> </a:t>
            </a:r>
            <a:r>
              <a:rPr lang="en-US" dirty="0" err="1"/>
              <a:t>cây</a:t>
            </a:r>
            <a:r>
              <a:rPr lang="en-US" dirty="0"/>
              <a:t> </a:t>
            </a:r>
            <a:r>
              <a:rPr lang="en-US" dirty="0" err="1"/>
              <a:t>thư</a:t>
            </a:r>
            <a:r>
              <a:rPr lang="en-US" dirty="0"/>
              <a:t> </a:t>
            </a:r>
            <a:r>
              <a:rPr lang="en-US" dirty="0" err="1"/>
              <a:t>mục</a:t>
            </a:r>
            <a:r>
              <a:rPr lang="en-US" dirty="0"/>
              <a:t>, </a:t>
            </a:r>
            <a:r>
              <a:rPr lang="en-US" dirty="0" err="1"/>
              <a:t>trong</a:t>
            </a:r>
            <a:r>
              <a:rPr lang="en-US" dirty="0"/>
              <a:t> </a:t>
            </a:r>
            <a:r>
              <a:rPr lang="en-US" dirty="0" err="1"/>
              <a:t>đó</a:t>
            </a:r>
            <a:r>
              <a:rPr lang="en-US" dirty="0"/>
              <a:t> </a:t>
            </a:r>
            <a:r>
              <a:rPr lang="en-US" dirty="0" err="1"/>
              <a:t>một</a:t>
            </a:r>
            <a:r>
              <a:rPr lang="en-US" dirty="0"/>
              <a:t> Folder </a:t>
            </a:r>
            <a:r>
              <a:rPr lang="en-US" dirty="0" err="1"/>
              <a:t>có</a:t>
            </a:r>
            <a:r>
              <a:rPr lang="en-US" dirty="0"/>
              <a:t> </a:t>
            </a:r>
            <a:r>
              <a:rPr lang="en-US" dirty="0" err="1"/>
              <a:t>thể</a:t>
            </a:r>
            <a:r>
              <a:rPr lang="en-US" dirty="0"/>
              <a:t> </a:t>
            </a:r>
            <a:r>
              <a:rPr lang="en-US" dirty="0" err="1"/>
              <a:t>chứa</a:t>
            </a:r>
            <a:r>
              <a:rPr lang="en-US" dirty="0"/>
              <a:t> </a:t>
            </a:r>
            <a:r>
              <a:rPr lang="en-US" dirty="0" err="1"/>
              <a:t>nhiều</a:t>
            </a:r>
            <a:r>
              <a:rPr lang="en-US" dirty="0"/>
              <a:t> File </a:t>
            </a:r>
            <a:r>
              <a:rPr lang="en-US" dirty="0" err="1"/>
              <a:t>và</a:t>
            </a:r>
            <a:r>
              <a:rPr lang="en-US" dirty="0"/>
              <a:t> </a:t>
            </a:r>
            <a:r>
              <a:rPr lang="en-US" dirty="0" err="1"/>
              <a:t>SubFolder</a:t>
            </a:r>
            <a:r>
              <a:rPr lang="en-US" dirty="0"/>
              <a:t>. </a:t>
            </a:r>
          </a:p>
          <a:p>
            <a:r>
              <a:rPr lang="en-US" dirty="0" err="1"/>
              <a:t>Yêu</a:t>
            </a:r>
            <a:r>
              <a:rPr lang="en-US" dirty="0"/>
              <a:t> </a:t>
            </a:r>
            <a:r>
              <a:rPr lang="en-US" dirty="0" err="1"/>
              <a:t>cầu</a:t>
            </a:r>
            <a:r>
              <a:rPr lang="en-US" dirty="0"/>
              <a:t> </a:t>
            </a:r>
            <a:r>
              <a:rPr lang="en-US" dirty="0" err="1"/>
              <a:t>cài</a:t>
            </a:r>
            <a:r>
              <a:rPr lang="en-US" dirty="0"/>
              <a:t> </a:t>
            </a:r>
            <a:r>
              <a:rPr lang="en-US" dirty="0" err="1"/>
              <a:t>đặt</a:t>
            </a:r>
            <a:r>
              <a:rPr lang="en-US" dirty="0"/>
              <a:t> class Folder. </a:t>
            </a:r>
          </a:p>
          <a:p>
            <a:r>
              <a:rPr lang="en-US" dirty="0" err="1"/>
              <a:t>Cài</a:t>
            </a:r>
            <a:r>
              <a:rPr lang="en-US" dirty="0"/>
              <a:t> </a:t>
            </a:r>
            <a:r>
              <a:rPr lang="en-US" dirty="0" err="1"/>
              <a:t>đặt</a:t>
            </a:r>
            <a:r>
              <a:rPr lang="en-US" dirty="0"/>
              <a:t> </a:t>
            </a:r>
            <a:r>
              <a:rPr lang="en-US" dirty="0" err="1"/>
              <a:t>các</a:t>
            </a:r>
            <a:r>
              <a:rPr lang="en-US" dirty="0"/>
              <a:t> </a:t>
            </a:r>
            <a:r>
              <a:rPr lang="en-US" dirty="0" err="1"/>
              <a:t>hàm</a:t>
            </a:r>
            <a:r>
              <a:rPr lang="en-US" dirty="0"/>
              <a:t> </a:t>
            </a:r>
            <a:r>
              <a:rPr lang="en-US" dirty="0" err="1"/>
              <a:t>thực</a:t>
            </a:r>
            <a:r>
              <a:rPr lang="en-US" dirty="0"/>
              <a:t> </a:t>
            </a:r>
            <a:r>
              <a:rPr lang="en-US" dirty="0" err="1"/>
              <a:t>hiện</a:t>
            </a:r>
            <a:r>
              <a:rPr lang="en-US" dirty="0"/>
              <a:t> </a:t>
            </a:r>
            <a:r>
              <a:rPr lang="en-US" dirty="0" err="1"/>
              <a:t>các</a:t>
            </a:r>
            <a:r>
              <a:rPr lang="en-US" dirty="0"/>
              <a:t> </a:t>
            </a:r>
            <a:r>
              <a:rPr lang="en-US" dirty="0" err="1"/>
              <a:t>thao</a:t>
            </a:r>
            <a:r>
              <a:rPr lang="en-US" dirty="0"/>
              <a:t> </a:t>
            </a:r>
            <a:r>
              <a:rPr lang="en-US" dirty="0" err="1"/>
              <a:t>tác</a:t>
            </a:r>
            <a:r>
              <a:rPr lang="en-US" dirty="0"/>
              <a:t> </a:t>
            </a:r>
            <a:r>
              <a:rPr lang="en-US" dirty="0" err="1"/>
              <a:t>cơ</a:t>
            </a:r>
            <a:r>
              <a:rPr lang="en-US" dirty="0"/>
              <a:t> </a:t>
            </a:r>
            <a:r>
              <a:rPr lang="en-US" dirty="0" err="1"/>
              <a:t>bản</a:t>
            </a:r>
            <a:r>
              <a:rPr lang="en-US" dirty="0"/>
              <a:t> </a:t>
            </a:r>
            <a:r>
              <a:rPr lang="en-US" dirty="0" err="1"/>
              <a:t>sau</a:t>
            </a:r>
            <a:r>
              <a:rPr lang="en-US" dirty="0"/>
              <a:t>:</a:t>
            </a:r>
          </a:p>
          <a:p>
            <a:pPr lvl="1"/>
            <a:r>
              <a:rPr lang="en-US" sz="2000" dirty="0" err="1"/>
              <a:t>Thêm</a:t>
            </a:r>
            <a:r>
              <a:rPr lang="en-US" sz="2000" dirty="0"/>
              <a:t> </a:t>
            </a:r>
            <a:r>
              <a:rPr lang="en-US" sz="2000" dirty="0" err="1"/>
              <a:t>một</a:t>
            </a:r>
            <a:r>
              <a:rPr lang="en-US" sz="2000" dirty="0"/>
              <a:t> Folder/File </a:t>
            </a:r>
            <a:r>
              <a:rPr lang="en-US" sz="2000" dirty="0" err="1"/>
              <a:t>vào</a:t>
            </a:r>
            <a:r>
              <a:rPr lang="en-US" sz="2000" dirty="0"/>
              <a:t> </a:t>
            </a:r>
            <a:r>
              <a:rPr lang="en-US" sz="2000" dirty="0" err="1"/>
              <a:t>cùng</a:t>
            </a:r>
            <a:r>
              <a:rPr lang="en-US" sz="2000" dirty="0"/>
              <a:t> </a:t>
            </a:r>
            <a:r>
              <a:rPr lang="en-US" sz="2000" dirty="0" err="1"/>
              <a:t>mức</a:t>
            </a:r>
            <a:r>
              <a:rPr lang="en-US" sz="2000" dirty="0"/>
              <a:t> </a:t>
            </a:r>
            <a:r>
              <a:rPr lang="en-US" sz="2000" dirty="0" err="1"/>
              <a:t>với</a:t>
            </a:r>
            <a:r>
              <a:rPr lang="en-US" sz="2000" dirty="0"/>
              <a:t> </a:t>
            </a:r>
            <a:r>
              <a:rPr lang="en-US" sz="2000" dirty="0" err="1"/>
              <a:t>một</a:t>
            </a:r>
            <a:r>
              <a:rPr lang="en-US" sz="2000" dirty="0"/>
              <a:t> </a:t>
            </a:r>
            <a:r>
              <a:rPr lang="en-US" sz="2000" dirty="0" err="1"/>
              <a:t>thư</a:t>
            </a:r>
            <a:r>
              <a:rPr lang="en-US" sz="2000" dirty="0"/>
              <a:t> </a:t>
            </a:r>
            <a:r>
              <a:rPr lang="en-US" sz="2000" dirty="0" err="1"/>
              <a:t>mục</a:t>
            </a:r>
            <a:r>
              <a:rPr lang="en-US" sz="2000" dirty="0"/>
              <a:t> </a:t>
            </a:r>
          </a:p>
          <a:p>
            <a:pPr lvl="1"/>
            <a:r>
              <a:rPr lang="en-US" sz="2000" dirty="0" err="1"/>
              <a:t>Thêm</a:t>
            </a:r>
            <a:r>
              <a:rPr lang="en-US" sz="2000" dirty="0"/>
              <a:t> </a:t>
            </a:r>
            <a:r>
              <a:rPr lang="en-US" sz="2000" dirty="0" err="1"/>
              <a:t>một</a:t>
            </a:r>
            <a:r>
              <a:rPr lang="en-US" sz="2000" dirty="0"/>
              <a:t> Folder/File </a:t>
            </a:r>
            <a:r>
              <a:rPr lang="en-US" sz="2000" dirty="0" err="1"/>
              <a:t>vào</a:t>
            </a:r>
            <a:r>
              <a:rPr lang="en-US" sz="2000" dirty="0"/>
              <a:t> </a:t>
            </a:r>
            <a:r>
              <a:rPr lang="en-US" sz="2000" dirty="0" err="1"/>
              <a:t>thành</a:t>
            </a:r>
            <a:r>
              <a:rPr lang="en-US" sz="2000" dirty="0"/>
              <a:t> con </a:t>
            </a:r>
            <a:r>
              <a:rPr lang="en-US" sz="2000" dirty="0" err="1"/>
              <a:t>của</a:t>
            </a:r>
            <a:r>
              <a:rPr lang="en-US" sz="2000" dirty="0"/>
              <a:t> </a:t>
            </a:r>
            <a:r>
              <a:rPr lang="en-US" sz="2000" dirty="0" err="1"/>
              <a:t>một</a:t>
            </a:r>
            <a:r>
              <a:rPr lang="en-US" sz="2000" dirty="0"/>
              <a:t> </a:t>
            </a:r>
            <a:r>
              <a:rPr lang="en-US" sz="2000" dirty="0" err="1"/>
              <a:t>thư</a:t>
            </a:r>
            <a:r>
              <a:rPr lang="en-US" sz="2000" dirty="0"/>
              <a:t> </a:t>
            </a:r>
            <a:r>
              <a:rPr lang="en-US" sz="2000" dirty="0" err="1"/>
              <a:t>mục</a:t>
            </a:r>
            <a:endParaRPr lang="en-US" sz="2000" dirty="0"/>
          </a:p>
          <a:p>
            <a:pPr lvl="1"/>
            <a:r>
              <a:rPr lang="en-US" sz="2000" dirty="0" err="1"/>
              <a:t>Duyệt</a:t>
            </a:r>
            <a:r>
              <a:rPr lang="en-US" sz="2000" dirty="0"/>
              <a:t> </a:t>
            </a:r>
            <a:r>
              <a:rPr lang="en-US" sz="2000" dirty="0" err="1"/>
              <a:t>một</a:t>
            </a:r>
            <a:r>
              <a:rPr lang="en-US" sz="2000" dirty="0"/>
              <a:t> </a:t>
            </a:r>
            <a:r>
              <a:rPr lang="en-US" sz="2000" dirty="0" err="1"/>
              <a:t>thư</a:t>
            </a:r>
            <a:r>
              <a:rPr lang="en-US" sz="2000" dirty="0"/>
              <a:t> </a:t>
            </a:r>
            <a:r>
              <a:rPr lang="en-US" sz="2000" dirty="0" err="1"/>
              <a:t>mục</a:t>
            </a:r>
            <a:r>
              <a:rPr lang="en-US" sz="2000" dirty="0"/>
              <a:t>, in </a:t>
            </a:r>
            <a:r>
              <a:rPr lang="en-US" sz="2000" dirty="0" err="1"/>
              <a:t>ra</a:t>
            </a:r>
            <a:r>
              <a:rPr lang="en-US" sz="2000" dirty="0"/>
              <a:t> </a:t>
            </a:r>
            <a:r>
              <a:rPr lang="en-US" sz="2000" dirty="0" err="1"/>
              <a:t>các</a:t>
            </a:r>
            <a:r>
              <a:rPr lang="en-US" sz="2000" dirty="0"/>
              <a:t> Folder/File con </a:t>
            </a:r>
            <a:r>
              <a:rPr lang="en-US" sz="2000" dirty="0" err="1"/>
              <a:t>của</a:t>
            </a:r>
            <a:r>
              <a:rPr lang="en-US" sz="2000" dirty="0"/>
              <a:t> </a:t>
            </a:r>
            <a:r>
              <a:rPr lang="en-US" sz="2000" dirty="0" err="1"/>
              <a:t>thư</a:t>
            </a:r>
            <a:r>
              <a:rPr lang="en-US" sz="2000" dirty="0"/>
              <a:t> </a:t>
            </a:r>
            <a:r>
              <a:rPr lang="en-US" sz="2000" dirty="0" err="1"/>
              <a:t>mục</a:t>
            </a:r>
            <a:r>
              <a:rPr lang="en-US" sz="2000" dirty="0"/>
              <a:t> </a:t>
            </a:r>
            <a:r>
              <a:rPr lang="en-US" sz="2000" dirty="0" err="1"/>
              <a:t>đó</a:t>
            </a:r>
            <a:endParaRPr lang="en-US" sz="2000" dirty="0"/>
          </a:p>
          <a:p>
            <a:pPr lvl="1"/>
            <a:r>
              <a:rPr lang="en-US" sz="2000" dirty="0" err="1"/>
              <a:t>Tìm</a:t>
            </a:r>
            <a:r>
              <a:rPr lang="en-US" sz="2000" dirty="0"/>
              <a:t> </a:t>
            </a:r>
            <a:r>
              <a:rPr lang="en-US" sz="2000" dirty="0" err="1"/>
              <a:t>kiếm</a:t>
            </a:r>
            <a:r>
              <a:rPr lang="en-US" sz="2000" dirty="0"/>
              <a:t> </a:t>
            </a:r>
            <a:r>
              <a:rPr lang="en-US" sz="2000" dirty="0" err="1"/>
              <a:t>một</a:t>
            </a:r>
            <a:r>
              <a:rPr lang="en-US" sz="2000" dirty="0"/>
              <a:t> Folder/File </a:t>
            </a:r>
            <a:r>
              <a:rPr lang="en-US" sz="2000" dirty="0" err="1"/>
              <a:t>trong</a:t>
            </a:r>
            <a:r>
              <a:rPr lang="en-US" sz="2000" dirty="0"/>
              <a:t> </a:t>
            </a:r>
            <a:r>
              <a:rPr lang="en-US" sz="2000" dirty="0" err="1"/>
              <a:t>một</a:t>
            </a:r>
            <a:r>
              <a:rPr lang="en-US" sz="2000" dirty="0"/>
              <a:t> </a:t>
            </a:r>
            <a:r>
              <a:rPr lang="en-US" sz="2000" dirty="0" err="1"/>
              <a:t>thư</a:t>
            </a:r>
            <a:r>
              <a:rPr lang="en-US" sz="2000" dirty="0"/>
              <a:t> </a:t>
            </a:r>
            <a:r>
              <a:rPr lang="en-US" sz="2000" dirty="0" err="1"/>
              <a:t>mục</a:t>
            </a:r>
            <a:r>
              <a:rPr lang="en-US" sz="2000" dirty="0"/>
              <a:t>. </a:t>
            </a:r>
            <a:r>
              <a:rPr lang="en-US" sz="2000" dirty="0" err="1"/>
              <a:t>Hàm</a:t>
            </a:r>
            <a:r>
              <a:rPr lang="en-US" sz="2000" dirty="0"/>
              <a:t> </a:t>
            </a:r>
            <a:r>
              <a:rPr lang="en-US" sz="2000" dirty="0" err="1"/>
              <a:t>trả</a:t>
            </a:r>
            <a:r>
              <a:rPr lang="en-US" sz="2000" dirty="0"/>
              <a:t> </a:t>
            </a:r>
            <a:r>
              <a:rPr lang="en-US" sz="2000" dirty="0" err="1"/>
              <a:t>về</a:t>
            </a:r>
            <a:r>
              <a:rPr lang="en-US" sz="2000" dirty="0"/>
              <a:t> con </a:t>
            </a:r>
            <a:r>
              <a:rPr lang="en-US" sz="2000" dirty="0" err="1"/>
              <a:t>trỏ</a:t>
            </a:r>
            <a:r>
              <a:rPr lang="en-US" sz="2000" dirty="0"/>
              <a:t> </a:t>
            </a:r>
            <a:r>
              <a:rPr lang="en-US" sz="2000" dirty="0" err="1"/>
              <a:t>trỏ</a:t>
            </a:r>
            <a:r>
              <a:rPr lang="en-US" sz="2000" dirty="0"/>
              <a:t> </a:t>
            </a:r>
            <a:r>
              <a:rPr lang="en-US" sz="2000" dirty="0" err="1"/>
              <a:t>vào</a:t>
            </a:r>
            <a:r>
              <a:rPr lang="en-US" sz="2000" dirty="0"/>
              <a:t> Folder/File </a:t>
            </a:r>
            <a:r>
              <a:rPr lang="en-US" sz="2000" dirty="0" err="1"/>
              <a:t>tìm</a:t>
            </a:r>
            <a:r>
              <a:rPr lang="en-US" sz="2000" dirty="0"/>
              <a:t> </a:t>
            </a:r>
            <a:r>
              <a:rPr lang="en-US" sz="2000" dirty="0" err="1"/>
              <a:t>được</a:t>
            </a:r>
            <a:endParaRPr lang="en-US" altLang="en-US" sz="2000" dirty="0"/>
          </a:p>
        </p:txBody>
      </p:sp>
    </p:spTree>
    <p:extLst>
      <p:ext uri="{BB962C8B-B14F-4D97-AF65-F5344CB8AC3E}">
        <p14:creationId xmlns:p14="http://schemas.microsoft.com/office/powerpoint/2010/main" val="387380756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p:txBody>
          <a:bodyPr/>
          <a:lstStyle/>
          <a:p>
            <a:r>
              <a:rPr lang="en-US" altLang="en-US"/>
              <a:t>Bài tập</a:t>
            </a:r>
          </a:p>
        </p:txBody>
      </p:sp>
      <p:sp>
        <p:nvSpPr>
          <p:cNvPr id="61443" name="Content Placeholder 2"/>
          <p:cNvSpPr>
            <a:spLocks noGrp="1"/>
          </p:cNvSpPr>
          <p:nvPr>
            <p:ph type="body" sz="quarter" idx="13"/>
          </p:nvPr>
        </p:nvSpPr>
        <p:spPr/>
        <p:txBody>
          <a:bodyPr/>
          <a:lstStyle/>
          <a:p>
            <a:r>
              <a:rPr lang="en-US" b="1" dirty="0" err="1"/>
              <a:t>Bài</a:t>
            </a:r>
            <a:r>
              <a:rPr lang="en-US" b="1" dirty="0"/>
              <a:t> 3: </a:t>
            </a:r>
            <a:r>
              <a:rPr lang="en-US" dirty="0"/>
              <a:t> </a:t>
            </a:r>
            <a:r>
              <a:rPr lang="en-US" dirty="0" err="1"/>
              <a:t>Viết</a:t>
            </a:r>
            <a:r>
              <a:rPr lang="en-US" dirty="0"/>
              <a:t> </a:t>
            </a:r>
            <a:r>
              <a:rPr lang="en-US" dirty="0" err="1"/>
              <a:t>chương</a:t>
            </a:r>
            <a:r>
              <a:rPr lang="en-US" dirty="0"/>
              <a:t> </a:t>
            </a:r>
            <a:r>
              <a:rPr lang="en-US" dirty="0" err="1"/>
              <a:t>trình</a:t>
            </a:r>
            <a:r>
              <a:rPr lang="en-US" dirty="0"/>
              <a:t> </a:t>
            </a:r>
            <a:r>
              <a:rPr lang="en-US" dirty="0" err="1"/>
              <a:t>biến</a:t>
            </a:r>
            <a:r>
              <a:rPr lang="en-US" dirty="0"/>
              <a:t> </a:t>
            </a:r>
            <a:r>
              <a:rPr lang="en-US" dirty="0" err="1"/>
              <a:t>đổi</a:t>
            </a:r>
            <a:r>
              <a:rPr lang="en-US" dirty="0"/>
              <a:t> </a:t>
            </a:r>
            <a:r>
              <a:rPr lang="en-US" dirty="0" err="1"/>
              <a:t>một</a:t>
            </a:r>
            <a:r>
              <a:rPr lang="en-US" dirty="0"/>
              <a:t> </a:t>
            </a:r>
            <a:r>
              <a:rPr lang="en-US" dirty="0" err="1"/>
              <a:t>biểu</a:t>
            </a:r>
            <a:r>
              <a:rPr lang="en-US" dirty="0"/>
              <a:t> </a:t>
            </a:r>
            <a:r>
              <a:rPr lang="en-US" dirty="0" err="1"/>
              <a:t>thức</a:t>
            </a:r>
            <a:r>
              <a:rPr lang="en-US" dirty="0"/>
              <a:t> </a:t>
            </a:r>
            <a:r>
              <a:rPr lang="en-US" dirty="0" err="1"/>
              <a:t>toán</a:t>
            </a:r>
            <a:r>
              <a:rPr lang="en-US" dirty="0"/>
              <a:t> </a:t>
            </a:r>
            <a:r>
              <a:rPr lang="en-US" dirty="0" err="1"/>
              <a:t>học</a:t>
            </a:r>
            <a:r>
              <a:rPr lang="en-US" dirty="0"/>
              <a:t> </a:t>
            </a:r>
            <a:r>
              <a:rPr lang="en-US" dirty="0" err="1"/>
              <a:t>dạng</a:t>
            </a:r>
            <a:r>
              <a:rPr lang="en-US" dirty="0"/>
              <a:t> </a:t>
            </a:r>
            <a:r>
              <a:rPr lang="en-US" dirty="0" err="1"/>
              <a:t>chuỗi</a:t>
            </a:r>
            <a:r>
              <a:rPr lang="en-US" dirty="0"/>
              <a:t> </a:t>
            </a:r>
            <a:r>
              <a:rPr lang="en-US" dirty="0" err="1"/>
              <a:t>ký</a:t>
            </a:r>
            <a:r>
              <a:rPr lang="en-US" dirty="0"/>
              <a:t> </a:t>
            </a:r>
            <a:r>
              <a:rPr lang="en-US" dirty="0" err="1"/>
              <a:t>tự</a:t>
            </a:r>
            <a:r>
              <a:rPr lang="en-US" dirty="0"/>
              <a:t> sang </a:t>
            </a:r>
            <a:r>
              <a:rPr lang="en-US" dirty="0" err="1"/>
              <a:t>dạng</a:t>
            </a:r>
            <a:r>
              <a:rPr lang="en-US" dirty="0"/>
              <a:t> </a:t>
            </a:r>
            <a:r>
              <a:rPr lang="en-US" dirty="0" err="1"/>
              <a:t>cây</a:t>
            </a:r>
            <a:r>
              <a:rPr lang="en-US" dirty="0"/>
              <a:t> </a:t>
            </a:r>
            <a:r>
              <a:rPr lang="en-US" dirty="0" err="1"/>
              <a:t>biểu</a:t>
            </a:r>
            <a:r>
              <a:rPr lang="en-US" dirty="0"/>
              <a:t> </a:t>
            </a:r>
            <a:r>
              <a:rPr lang="en-US" dirty="0" err="1"/>
              <a:t>thức</a:t>
            </a:r>
            <a:r>
              <a:rPr lang="en-US" dirty="0"/>
              <a:t>. </a:t>
            </a:r>
            <a:r>
              <a:rPr lang="en-US" dirty="0" err="1"/>
              <a:t>Biểu</a:t>
            </a:r>
            <a:r>
              <a:rPr lang="en-US" dirty="0"/>
              <a:t> </a:t>
            </a:r>
            <a:r>
              <a:rPr lang="en-US" dirty="0" err="1"/>
              <a:t>thức</a:t>
            </a:r>
            <a:r>
              <a:rPr lang="en-US" dirty="0"/>
              <a:t> </a:t>
            </a:r>
            <a:r>
              <a:rPr lang="en-US" dirty="0" err="1"/>
              <a:t>chứa</a:t>
            </a:r>
            <a:r>
              <a:rPr lang="en-US" dirty="0"/>
              <a:t> </a:t>
            </a:r>
            <a:r>
              <a:rPr lang="en-US" dirty="0" err="1"/>
              <a:t>các</a:t>
            </a:r>
            <a:r>
              <a:rPr lang="en-US" dirty="0"/>
              <a:t> </a:t>
            </a:r>
            <a:r>
              <a:rPr lang="en-US" dirty="0" err="1"/>
              <a:t>toán</a:t>
            </a:r>
            <a:r>
              <a:rPr lang="en-US" dirty="0"/>
              <a:t> </a:t>
            </a:r>
            <a:r>
              <a:rPr lang="en-US" dirty="0" err="1"/>
              <a:t>tử</a:t>
            </a:r>
            <a:r>
              <a:rPr lang="en-US" dirty="0"/>
              <a:t> +, -, *, /, </a:t>
            </a:r>
            <a:r>
              <a:rPr lang="en-US" dirty="0" err="1"/>
              <a:t>các</a:t>
            </a:r>
            <a:r>
              <a:rPr lang="en-US" dirty="0"/>
              <a:t> </a:t>
            </a:r>
            <a:r>
              <a:rPr lang="en-US" dirty="0" err="1"/>
              <a:t>toán</a:t>
            </a:r>
            <a:r>
              <a:rPr lang="en-US" dirty="0"/>
              <a:t> </a:t>
            </a:r>
            <a:r>
              <a:rPr lang="en-US" dirty="0" err="1"/>
              <a:t>hạng</a:t>
            </a:r>
            <a:r>
              <a:rPr lang="en-US" dirty="0"/>
              <a:t> </a:t>
            </a:r>
            <a:r>
              <a:rPr lang="en-US" dirty="0" err="1"/>
              <a:t>dạng</a:t>
            </a:r>
            <a:r>
              <a:rPr lang="en-US" dirty="0"/>
              <a:t> 1 </a:t>
            </a:r>
            <a:r>
              <a:rPr lang="en-US" dirty="0" err="1"/>
              <a:t>ký</a:t>
            </a:r>
            <a:r>
              <a:rPr lang="en-US" dirty="0"/>
              <a:t> </a:t>
            </a:r>
            <a:r>
              <a:rPr lang="en-US" dirty="0" err="1"/>
              <a:t>tự</a:t>
            </a:r>
            <a:r>
              <a:rPr lang="en-US" dirty="0"/>
              <a:t> </a:t>
            </a:r>
            <a:r>
              <a:rPr lang="en-US" dirty="0" err="1"/>
              <a:t>chữ</a:t>
            </a:r>
            <a:r>
              <a:rPr lang="en-US" dirty="0"/>
              <a:t> </a:t>
            </a:r>
            <a:r>
              <a:rPr lang="en-US" dirty="0" err="1"/>
              <a:t>hoặc</a:t>
            </a:r>
            <a:r>
              <a:rPr lang="en-US" dirty="0"/>
              <a:t> </a:t>
            </a:r>
            <a:r>
              <a:rPr lang="en-US" dirty="0" err="1"/>
              <a:t>số</a:t>
            </a:r>
            <a:r>
              <a:rPr lang="en-US" dirty="0"/>
              <a:t>, </a:t>
            </a:r>
            <a:r>
              <a:rPr lang="en-US" dirty="0" err="1"/>
              <a:t>các</a:t>
            </a:r>
            <a:r>
              <a:rPr lang="en-US" dirty="0"/>
              <a:t> </a:t>
            </a:r>
            <a:r>
              <a:rPr lang="en-US" dirty="0" err="1"/>
              <a:t>dấu</a:t>
            </a:r>
            <a:r>
              <a:rPr lang="en-US" dirty="0"/>
              <a:t> </a:t>
            </a:r>
            <a:r>
              <a:rPr lang="en-US" dirty="0" err="1"/>
              <a:t>đóng</a:t>
            </a:r>
            <a:r>
              <a:rPr lang="en-US" dirty="0"/>
              <a:t> </a:t>
            </a:r>
            <a:r>
              <a:rPr lang="en-US" dirty="0" err="1"/>
              <a:t>mở</a:t>
            </a:r>
            <a:r>
              <a:rPr lang="en-US" dirty="0"/>
              <a:t> </a:t>
            </a:r>
            <a:r>
              <a:rPr lang="en-US" dirty="0" err="1"/>
              <a:t>ngoặc</a:t>
            </a:r>
            <a:r>
              <a:rPr lang="en-US" dirty="0"/>
              <a:t>. </a:t>
            </a:r>
            <a:r>
              <a:rPr lang="en-US" dirty="0" err="1"/>
              <a:t>Duyệt</a:t>
            </a:r>
            <a:r>
              <a:rPr lang="en-US" dirty="0"/>
              <a:t> </a:t>
            </a:r>
            <a:r>
              <a:rPr lang="en-US" dirty="0" err="1"/>
              <a:t>lại</a:t>
            </a:r>
            <a:r>
              <a:rPr lang="en-US" dirty="0"/>
              <a:t> </a:t>
            </a:r>
            <a:r>
              <a:rPr lang="en-US" dirty="0" err="1"/>
              <a:t>cây</a:t>
            </a:r>
            <a:r>
              <a:rPr lang="en-US" dirty="0"/>
              <a:t> </a:t>
            </a:r>
            <a:r>
              <a:rPr lang="en-US" dirty="0" err="1"/>
              <a:t>biểu</a:t>
            </a:r>
            <a:r>
              <a:rPr lang="en-US" dirty="0"/>
              <a:t> </a:t>
            </a:r>
            <a:r>
              <a:rPr lang="en-US" dirty="0" err="1"/>
              <a:t>thức</a:t>
            </a:r>
            <a:r>
              <a:rPr lang="en-US" dirty="0"/>
              <a:t> </a:t>
            </a:r>
            <a:r>
              <a:rPr lang="en-US" dirty="0" err="1"/>
              <a:t>đã</a:t>
            </a:r>
            <a:r>
              <a:rPr lang="en-US" dirty="0"/>
              <a:t> </a:t>
            </a:r>
            <a:r>
              <a:rPr lang="en-US" dirty="0" err="1"/>
              <a:t>xây</a:t>
            </a:r>
            <a:r>
              <a:rPr lang="en-US" dirty="0"/>
              <a:t> </a:t>
            </a:r>
            <a:r>
              <a:rPr lang="en-US" dirty="0" err="1"/>
              <a:t>dựng</a:t>
            </a:r>
            <a:r>
              <a:rPr lang="en-US" dirty="0"/>
              <a:t> </a:t>
            </a:r>
            <a:r>
              <a:rPr lang="en-US" dirty="0" err="1"/>
              <a:t>theo</a:t>
            </a:r>
            <a:r>
              <a:rPr lang="en-US" dirty="0"/>
              <a:t> </a:t>
            </a:r>
            <a:r>
              <a:rPr lang="en-US" dirty="0" err="1"/>
              <a:t>thứ</a:t>
            </a:r>
            <a:r>
              <a:rPr lang="en-US" dirty="0"/>
              <a:t> </a:t>
            </a:r>
            <a:r>
              <a:rPr lang="en-US" dirty="0" err="1"/>
              <a:t>tự</a:t>
            </a:r>
            <a:r>
              <a:rPr lang="en-US" dirty="0"/>
              <a:t> </a:t>
            </a:r>
            <a:r>
              <a:rPr lang="en-US" dirty="0" err="1"/>
              <a:t>trước</a:t>
            </a:r>
            <a:r>
              <a:rPr lang="en-US" dirty="0"/>
              <a:t>, </a:t>
            </a:r>
            <a:r>
              <a:rPr lang="en-US" dirty="0" err="1"/>
              <a:t>giữa</a:t>
            </a:r>
            <a:r>
              <a:rPr lang="en-US" dirty="0"/>
              <a:t>, </a:t>
            </a:r>
            <a:r>
              <a:rPr lang="en-US" dirty="0" err="1"/>
              <a:t>sau</a:t>
            </a:r>
            <a:r>
              <a:rPr lang="en-US" dirty="0"/>
              <a:t> </a:t>
            </a:r>
            <a:r>
              <a:rPr lang="en-US" dirty="0" err="1"/>
              <a:t>và</a:t>
            </a:r>
            <a:r>
              <a:rPr lang="en-US" dirty="0"/>
              <a:t> in </a:t>
            </a:r>
            <a:r>
              <a:rPr lang="en-US" dirty="0" err="1"/>
              <a:t>ra</a:t>
            </a:r>
            <a:r>
              <a:rPr lang="en-US" dirty="0"/>
              <a:t> </a:t>
            </a:r>
            <a:r>
              <a:rPr lang="en-US" dirty="0" err="1"/>
              <a:t>kết</a:t>
            </a:r>
            <a:r>
              <a:rPr lang="en-US" dirty="0"/>
              <a:t> </a:t>
            </a:r>
            <a:r>
              <a:rPr lang="en-US" dirty="0" err="1"/>
              <a:t>quả</a:t>
            </a:r>
            <a:r>
              <a:rPr lang="en-US" dirty="0"/>
              <a:t> </a:t>
            </a:r>
            <a:r>
              <a:rPr lang="en-US" dirty="0" err="1"/>
              <a:t>duyệt</a:t>
            </a:r>
            <a:r>
              <a:rPr lang="en-US" dirty="0"/>
              <a:t>. </a:t>
            </a:r>
          </a:p>
          <a:p>
            <a:pPr marL="0" indent="0">
              <a:buNone/>
            </a:pPr>
            <a:endParaRPr lang="en-US" dirty="0"/>
          </a:p>
          <a:p>
            <a:r>
              <a:rPr lang="en-US" altLang="en-US" b="1" dirty="0" err="1"/>
              <a:t>Bài</a:t>
            </a:r>
            <a:r>
              <a:rPr lang="en-US" altLang="en-US" b="1" dirty="0"/>
              <a:t> 4: </a:t>
            </a:r>
            <a:r>
              <a:rPr lang="vi-VN" dirty="0"/>
              <a:t>Viết chương trình </a:t>
            </a:r>
            <a:r>
              <a:rPr lang="en-US" dirty="0" err="1"/>
              <a:t>thực</a:t>
            </a:r>
            <a:r>
              <a:rPr lang="en-US" dirty="0"/>
              <a:t> </a:t>
            </a:r>
            <a:r>
              <a:rPr lang="en-US" dirty="0" err="1"/>
              <a:t>hiện</a:t>
            </a:r>
            <a:r>
              <a:rPr lang="en-US" dirty="0"/>
              <a:t> </a:t>
            </a:r>
            <a:r>
              <a:rPr lang="vi-VN" dirty="0"/>
              <a:t>thao tác chèn trong cây AVL</a:t>
            </a:r>
            <a:r>
              <a:rPr lang="en-US" dirty="0"/>
              <a:t>.</a:t>
            </a:r>
            <a:endParaRPr lang="en-US" altLang="en-US" dirty="0"/>
          </a:p>
        </p:txBody>
      </p:sp>
    </p:spTree>
    <p:extLst>
      <p:ext uri="{BB962C8B-B14F-4D97-AF65-F5344CB8AC3E}">
        <p14:creationId xmlns:p14="http://schemas.microsoft.com/office/powerpoint/2010/main" val="93841750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89</a:t>
            </a:fld>
            <a:endParaRPr lang="en-US"/>
          </a:p>
        </p:txBody>
      </p:sp>
      <p:sp>
        <p:nvSpPr>
          <p:cNvPr id="4" name="Title 3"/>
          <p:cNvSpPr>
            <a:spLocks noGrp="1"/>
          </p:cNvSpPr>
          <p:nvPr>
            <p:ph type="title"/>
          </p:nvPr>
        </p:nvSpPr>
        <p:spPr/>
        <p:txBody>
          <a:bodyPr/>
          <a:lstStyle/>
          <a:p>
            <a:endParaRPr lang="en-US"/>
          </a:p>
        </p:txBody>
      </p:sp>
      <p:sp>
        <p:nvSpPr>
          <p:cNvPr id="5" name="Text Placeholder 4"/>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402130341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90</a:t>
            </a:fld>
            <a:endParaRPr lang="en-US"/>
          </a:p>
        </p:txBody>
      </p:sp>
      <p:sp>
        <p:nvSpPr>
          <p:cNvPr id="4" name="Title 3"/>
          <p:cNvSpPr>
            <a:spLocks noGrp="1"/>
          </p:cNvSpPr>
          <p:nvPr>
            <p:ph type="title"/>
          </p:nvPr>
        </p:nvSpPr>
        <p:spPr/>
        <p:txBody>
          <a:bodyPr/>
          <a:lstStyle/>
          <a:p>
            <a:endParaRPr lang="en-US"/>
          </a:p>
        </p:txBody>
      </p:sp>
      <p:sp>
        <p:nvSpPr>
          <p:cNvPr id="5" name="Text Placeholder 4"/>
          <p:cNvSpPr>
            <a:spLocks noGrp="1"/>
          </p:cNvSpPr>
          <p:nvPr>
            <p:ph type="body" sz="quarter" idx="13"/>
          </p:nvPr>
        </p:nvSpPr>
        <p:spPr>
          <a:xfrm>
            <a:off x="234823" y="762000"/>
            <a:ext cx="8674100" cy="5132832"/>
          </a:xfrm>
        </p:spPr>
        <p:txBody>
          <a:bodyPr/>
          <a:lstStyle/>
          <a:p>
            <a:r>
              <a:rPr lang="en-US" dirty="0" err="1"/>
              <a:t>Việc</a:t>
            </a:r>
            <a:r>
              <a:rPr lang="en-US" dirty="0"/>
              <a:t> </a:t>
            </a:r>
            <a:r>
              <a:rPr lang="en-US" dirty="0" err="1"/>
              <a:t>bổ</a:t>
            </a:r>
            <a:r>
              <a:rPr lang="en-US" dirty="0"/>
              <a:t> sung </a:t>
            </a:r>
            <a:r>
              <a:rPr lang="en-US" dirty="0" err="1"/>
              <a:t>làm</a:t>
            </a:r>
            <a:r>
              <a:rPr lang="en-US" dirty="0"/>
              <a:t> </a:t>
            </a:r>
            <a:r>
              <a:rPr lang="en-US" dirty="0" err="1"/>
              <a:t>mất</a:t>
            </a:r>
            <a:r>
              <a:rPr lang="en-US" dirty="0"/>
              <a:t> </a:t>
            </a:r>
            <a:r>
              <a:rPr lang="en-US" dirty="0" err="1"/>
              <a:t>cân</a:t>
            </a:r>
            <a:r>
              <a:rPr lang="en-US" dirty="0"/>
              <a:t> </a:t>
            </a:r>
            <a:r>
              <a:rPr lang="en-US" dirty="0" err="1"/>
              <a:t>bằng</a:t>
            </a:r>
            <a:r>
              <a:rPr lang="en-US" dirty="0"/>
              <a:t> </a:t>
            </a:r>
            <a:r>
              <a:rPr lang="en-US" dirty="0" err="1"/>
              <a:t>nút</a:t>
            </a:r>
            <a:r>
              <a:rPr lang="en-US" dirty="0"/>
              <a:t> </a:t>
            </a:r>
            <a:r>
              <a:rPr lang="en-US" dirty="0" err="1"/>
              <a:t>nào</a:t>
            </a:r>
            <a:r>
              <a:rPr lang="en-US" dirty="0"/>
              <a:t> </a:t>
            </a:r>
            <a:r>
              <a:rPr lang="en-US" dirty="0" err="1"/>
              <a:t>đầu</a:t>
            </a:r>
            <a:r>
              <a:rPr lang="en-US" dirty="0"/>
              <a:t> </a:t>
            </a:r>
            <a:r>
              <a:rPr lang="en-US" dirty="0" err="1"/>
              <a:t>tiên</a:t>
            </a:r>
            <a:r>
              <a:rPr lang="en-US" dirty="0"/>
              <a:t> (</a:t>
            </a:r>
            <a:r>
              <a:rPr lang="en-US" dirty="0" err="1"/>
              <a:t>từ</a:t>
            </a:r>
            <a:r>
              <a:rPr lang="en-US" dirty="0"/>
              <a:t> </a:t>
            </a:r>
            <a:r>
              <a:rPr lang="en-US" dirty="0" err="1"/>
              <a:t>dưới</a:t>
            </a:r>
            <a:r>
              <a:rPr lang="en-US" dirty="0"/>
              <a:t> </a:t>
            </a:r>
            <a:r>
              <a:rPr lang="en-US" dirty="0" err="1"/>
              <a:t>lên</a:t>
            </a:r>
            <a:r>
              <a:rPr lang="en-US" dirty="0"/>
              <a:t> </a:t>
            </a:r>
            <a:r>
              <a:rPr lang="en-US" dirty="0" err="1"/>
              <a:t>tính</a:t>
            </a:r>
            <a:r>
              <a:rPr lang="en-US" dirty="0"/>
              <a:t> </a:t>
            </a:r>
            <a:r>
              <a:rPr lang="en-US" dirty="0" err="1"/>
              <a:t>từ</a:t>
            </a:r>
            <a:r>
              <a:rPr lang="en-US" dirty="0"/>
              <a:t> </a:t>
            </a:r>
            <a:r>
              <a:rPr lang="en-US" dirty="0" err="1"/>
              <a:t>vị</a:t>
            </a:r>
            <a:r>
              <a:rPr lang="en-US" dirty="0"/>
              <a:t> </a:t>
            </a:r>
            <a:r>
              <a:rPr lang="en-US" dirty="0" err="1"/>
              <a:t>trí</a:t>
            </a:r>
            <a:r>
              <a:rPr lang="en-US" dirty="0"/>
              <a:t> </a:t>
            </a:r>
            <a:r>
              <a:rPr lang="en-US" dirty="0" err="1"/>
              <a:t>bổ</a:t>
            </a:r>
            <a:r>
              <a:rPr lang="en-US" dirty="0"/>
              <a:t> sung)  =&gt; </a:t>
            </a:r>
            <a:r>
              <a:rPr lang="en-US" dirty="0" err="1"/>
              <a:t>xử</a:t>
            </a:r>
            <a:r>
              <a:rPr lang="en-US" dirty="0"/>
              <a:t> </a:t>
            </a:r>
            <a:r>
              <a:rPr lang="en-US" dirty="0" err="1"/>
              <a:t>lý</a:t>
            </a:r>
            <a:r>
              <a:rPr lang="en-US" dirty="0"/>
              <a:t> </a:t>
            </a:r>
            <a:r>
              <a:rPr lang="en-US" dirty="0" err="1"/>
              <a:t>vị</a:t>
            </a:r>
            <a:r>
              <a:rPr lang="en-US" dirty="0"/>
              <a:t> </a:t>
            </a:r>
            <a:r>
              <a:rPr lang="en-US" dirty="0" err="1"/>
              <a:t>trí</a:t>
            </a:r>
            <a:r>
              <a:rPr lang="en-US" dirty="0"/>
              <a:t> </a:t>
            </a:r>
            <a:r>
              <a:rPr lang="en-US" dirty="0" err="1"/>
              <a:t>đó</a:t>
            </a:r>
            <a:endParaRPr lang="en-US" dirty="0"/>
          </a:p>
        </p:txBody>
      </p:sp>
      <p:sp>
        <p:nvSpPr>
          <p:cNvPr id="6" name="Oval 5"/>
          <p:cNvSpPr/>
          <p:nvPr/>
        </p:nvSpPr>
        <p:spPr>
          <a:xfrm>
            <a:off x="739630" y="1773424"/>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7" name="Oval 6"/>
          <p:cNvSpPr/>
          <p:nvPr/>
        </p:nvSpPr>
        <p:spPr>
          <a:xfrm>
            <a:off x="1273030" y="2306824"/>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8" name="Oval 7"/>
          <p:cNvSpPr/>
          <p:nvPr/>
        </p:nvSpPr>
        <p:spPr>
          <a:xfrm>
            <a:off x="1795920" y="2812254"/>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cxnSp>
        <p:nvCxnSpPr>
          <p:cNvPr id="10" name="Straight Connector 9"/>
          <p:cNvCxnSpPr>
            <a:stCxn id="6" idx="5"/>
            <a:endCxn id="7" idx="1"/>
          </p:cNvCxnSpPr>
          <p:nvPr/>
        </p:nvCxnSpPr>
        <p:spPr>
          <a:xfrm>
            <a:off x="1194915" y="2228709"/>
            <a:ext cx="156230" cy="1562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7" idx="5"/>
            <a:endCxn id="8" idx="1"/>
          </p:cNvCxnSpPr>
          <p:nvPr/>
        </p:nvCxnSpPr>
        <p:spPr>
          <a:xfrm>
            <a:off x="1728315" y="2762109"/>
            <a:ext cx="145720" cy="12826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337769" y="1829381"/>
            <a:ext cx="1501693" cy="369332"/>
          </a:xfrm>
          <a:prstGeom prst="rect">
            <a:avLst/>
          </a:prstGeom>
          <a:noFill/>
        </p:spPr>
        <p:txBody>
          <a:bodyPr wrap="none" rtlCol="0">
            <a:spAutoFit/>
          </a:bodyPr>
          <a:lstStyle/>
          <a:p>
            <a:r>
              <a:rPr lang="en-US" dirty="0"/>
              <a:t>Quay </a:t>
            </a:r>
            <a:r>
              <a:rPr lang="en-US" dirty="0" err="1"/>
              <a:t>trái</a:t>
            </a:r>
            <a:r>
              <a:rPr lang="en-US" dirty="0"/>
              <a:t> </a:t>
            </a:r>
            <a:r>
              <a:rPr lang="en-US" dirty="0" err="1"/>
              <a:t>tại</a:t>
            </a:r>
            <a:r>
              <a:rPr lang="en-US" dirty="0"/>
              <a:t> 6</a:t>
            </a:r>
          </a:p>
        </p:txBody>
      </p:sp>
      <p:sp>
        <p:nvSpPr>
          <p:cNvPr id="14" name="Rectangle 13"/>
          <p:cNvSpPr/>
          <p:nvPr/>
        </p:nvSpPr>
        <p:spPr>
          <a:xfrm>
            <a:off x="336285" y="1378037"/>
            <a:ext cx="4636462" cy="369332"/>
          </a:xfrm>
          <a:prstGeom prst="rect">
            <a:avLst/>
          </a:prstGeom>
        </p:spPr>
        <p:txBody>
          <a:bodyPr wrap="none">
            <a:spAutoFit/>
          </a:bodyPr>
          <a:lstStyle/>
          <a:p>
            <a:r>
              <a:rPr lang="en-US" dirty="0"/>
              <a:t>VD: </a:t>
            </a:r>
            <a:r>
              <a:rPr lang="en-US" dirty="0" err="1"/>
              <a:t>bổ</a:t>
            </a:r>
            <a:r>
              <a:rPr lang="en-US" dirty="0"/>
              <a:t> sung 9 </a:t>
            </a:r>
            <a:r>
              <a:rPr lang="en-US" dirty="0" err="1"/>
              <a:t>làm</a:t>
            </a:r>
            <a:r>
              <a:rPr lang="en-US" dirty="0"/>
              <a:t> </a:t>
            </a:r>
            <a:r>
              <a:rPr lang="en-US" dirty="0" err="1"/>
              <a:t>cây</a:t>
            </a:r>
            <a:r>
              <a:rPr lang="en-US" dirty="0"/>
              <a:t> con </a:t>
            </a:r>
            <a:r>
              <a:rPr lang="en-US" dirty="0" err="1"/>
              <a:t>bị</a:t>
            </a:r>
            <a:r>
              <a:rPr lang="en-US" dirty="0"/>
              <a:t> </a:t>
            </a:r>
            <a:r>
              <a:rPr lang="en-US" dirty="0" err="1"/>
              <a:t>lệch</a:t>
            </a:r>
            <a:r>
              <a:rPr lang="en-US" dirty="0"/>
              <a:t> </a:t>
            </a:r>
            <a:r>
              <a:rPr lang="en-US" dirty="0" err="1"/>
              <a:t>bên</a:t>
            </a:r>
            <a:r>
              <a:rPr lang="en-US" dirty="0"/>
              <a:t> </a:t>
            </a:r>
            <a:r>
              <a:rPr lang="en-US" dirty="0" err="1"/>
              <a:t>phải</a:t>
            </a:r>
            <a:r>
              <a:rPr lang="en-US" dirty="0"/>
              <a:t> </a:t>
            </a:r>
            <a:r>
              <a:rPr lang="en-US" dirty="0" err="1"/>
              <a:t>tại</a:t>
            </a:r>
            <a:r>
              <a:rPr lang="en-US" dirty="0"/>
              <a:t> 6</a:t>
            </a:r>
          </a:p>
        </p:txBody>
      </p:sp>
      <p:sp>
        <p:nvSpPr>
          <p:cNvPr id="15" name="Oval 14"/>
          <p:cNvSpPr/>
          <p:nvPr/>
        </p:nvSpPr>
        <p:spPr>
          <a:xfrm>
            <a:off x="4230342" y="1828446"/>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6" name="Oval 15"/>
          <p:cNvSpPr/>
          <p:nvPr/>
        </p:nvSpPr>
        <p:spPr>
          <a:xfrm>
            <a:off x="3805303" y="2430359"/>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7" name="Oval 16"/>
          <p:cNvSpPr/>
          <p:nvPr/>
        </p:nvSpPr>
        <p:spPr>
          <a:xfrm>
            <a:off x="4763742" y="2420365"/>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cxnSp>
        <p:nvCxnSpPr>
          <p:cNvPr id="19" name="Straight Connector 18"/>
          <p:cNvCxnSpPr>
            <a:stCxn id="15" idx="3"/>
          </p:cNvCxnSpPr>
          <p:nvPr/>
        </p:nvCxnSpPr>
        <p:spPr>
          <a:xfrm flipH="1">
            <a:off x="4072003" y="2283731"/>
            <a:ext cx="236454" cy="289793"/>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5" idx="5"/>
            <a:endCxn id="17" idx="1"/>
          </p:cNvCxnSpPr>
          <p:nvPr/>
        </p:nvCxnSpPr>
        <p:spPr>
          <a:xfrm>
            <a:off x="4685627" y="2283731"/>
            <a:ext cx="156230" cy="214749"/>
          </a:xfrm>
          <a:prstGeom prst="line">
            <a:avLst/>
          </a:prstGeom>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705990" y="3900031"/>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24" name="Oval 23"/>
          <p:cNvSpPr/>
          <p:nvPr/>
        </p:nvSpPr>
        <p:spPr>
          <a:xfrm>
            <a:off x="1239390" y="4433431"/>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25" name="Oval 24"/>
          <p:cNvSpPr/>
          <p:nvPr/>
        </p:nvSpPr>
        <p:spPr>
          <a:xfrm>
            <a:off x="773595" y="5155974"/>
            <a:ext cx="860569"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6.5</a:t>
            </a:r>
          </a:p>
        </p:txBody>
      </p:sp>
      <p:cxnSp>
        <p:nvCxnSpPr>
          <p:cNvPr id="26" name="Straight Connector 25"/>
          <p:cNvCxnSpPr>
            <a:stCxn id="23" idx="5"/>
            <a:endCxn id="24" idx="1"/>
          </p:cNvCxnSpPr>
          <p:nvPr/>
        </p:nvCxnSpPr>
        <p:spPr>
          <a:xfrm>
            <a:off x="1161275" y="4355316"/>
            <a:ext cx="156230" cy="15623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24" idx="3"/>
            <a:endCxn id="25" idx="0"/>
          </p:cNvCxnSpPr>
          <p:nvPr/>
        </p:nvCxnSpPr>
        <p:spPr>
          <a:xfrm flipH="1">
            <a:off x="1203880" y="4888716"/>
            <a:ext cx="113625" cy="267258"/>
          </a:xfrm>
          <a:prstGeom prst="line">
            <a:avLst/>
          </a:prstGeom>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1904847" y="4248967"/>
            <a:ext cx="1593000" cy="369332"/>
          </a:xfrm>
          <a:prstGeom prst="rect">
            <a:avLst/>
          </a:prstGeom>
          <a:noFill/>
        </p:spPr>
        <p:txBody>
          <a:bodyPr wrap="none" rtlCol="0">
            <a:spAutoFit/>
          </a:bodyPr>
          <a:lstStyle/>
          <a:p>
            <a:r>
              <a:rPr lang="en-US" dirty="0"/>
              <a:t>Quay </a:t>
            </a:r>
            <a:r>
              <a:rPr lang="en-US" dirty="0" err="1"/>
              <a:t>phải</a:t>
            </a:r>
            <a:r>
              <a:rPr lang="en-US" dirty="0"/>
              <a:t> </a:t>
            </a:r>
            <a:r>
              <a:rPr lang="en-US" dirty="0" err="1"/>
              <a:t>tại</a:t>
            </a:r>
            <a:r>
              <a:rPr lang="en-US" dirty="0"/>
              <a:t> 7</a:t>
            </a:r>
          </a:p>
        </p:txBody>
      </p:sp>
      <p:sp>
        <p:nvSpPr>
          <p:cNvPr id="29" name="Oval 28"/>
          <p:cNvSpPr/>
          <p:nvPr/>
        </p:nvSpPr>
        <p:spPr>
          <a:xfrm>
            <a:off x="4345060" y="4733046"/>
            <a:ext cx="777587"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6.5</a:t>
            </a:r>
          </a:p>
        </p:txBody>
      </p:sp>
      <p:sp>
        <p:nvSpPr>
          <p:cNvPr id="30" name="Oval 29"/>
          <p:cNvSpPr/>
          <p:nvPr/>
        </p:nvSpPr>
        <p:spPr>
          <a:xfrm>
            <a:off x="3796895" y="4121531"/>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31" name="Oval 30"/>
          <p:cNvSpPr/>
          <p:nvPr/>
        </p:nvSpPr>
        <p:spPr>
          <a:xfrm>
            <a:off x="5122647" y="5266446"/>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cxnSp>
        <p:nvCxnSpPr>
          <p:cNvPr id="32" name="Straight Connector 31"/>
          <p:cNvCxnSpPr>
            <a:stCxn id="29" idx="1"/>
            <a:endCxn id="30" idx="5"/>
          </p:cNvCxnSpPr>
          <p:nvPr/>
        </p:nvCxnSpPr>
        <p:spPr>
          <a:xfrm flipH="1" flipV="1">
            <a:off x="4252180" y="4576816"/>
            <a:ext cx="206755" cy="234345"/>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29" idx="5"/>
            <a:endCxn id="31" idx="1"/>
          </p:cNvCxnSpPr>
          <p:nvPr/>
        </p:nvCxnSpPr>
        <p:spPr>
          <a:xfrm>
            <a:off x="5008772" y="5188331"/>
            <a:ext cx="191990" cy="156230"/>
          </a:xfrm>
          <a:prstGeom prst="line">
            <a:avLst/>
          </a:prstGeom>
        </p:spPr>
        <p:style>
          <a:lnRef idx="1">
            <a:schemeClr val="accent1"/>
          </a:lnRef>
          <a:fillRef idx="0">
            <a:schemeClr val="accent1"/>
          </a:fillRef>
          <a:effectRef idx="0">
            <a:schemeClr val="accent1"/>
          </a:effectRef>
          <a:fontRef idx="minor">
            <a:schemeClr val="tx1"/>
          </a:fontRef>
        </p:style>
      </p:cxnSp>
      <p:sp>
        <p:nvSpPr>
          <p:cNvPr id="34" name="Right Arrow 33"/>
          <p:cNvSpPr/>
          <p:nvPr/>
        </p:nvSpPr>
        <p:spPr>
          <a:xfrm>
            <a:off x="2590800" y="2306824"/>
            <a:ext cx="990600" cy="1235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280329" y="3485632"/>
            <a:ext cx="4864088" cy="369332"/>
          </a:xfrm>
          <a:prstGeom prst="rect">
            <a:avLst/>
          </a:prstGeom>
        </p:spPr>
        <p:txBody>
          <a:bodyPr wrap="none">
            <a:spAutoFit/>
          </a:bodyPr>
          <a:lstStyle/>
          <a:p>
            <a:r>
              <a:rPr lang="en-US" dirty="0"/>
              <a:t>VD: </a:t>
            </a:r>
            <a:r>
              <a:rPr lang="en-US" dirty="0" err="1"/>
              <a:t>bổ</a:t>
            </a:r>
            <a:r>
              <a:rPr lang="en-US" dirty="0"/>
              <a:t> sung 6.5 </a:t>
            </a:r>
            <a:r>
              <a:rPr lang="en-US" dirty="0" err="1"/>
              <a:t>làm</a:t>
            </a:r>
            <a:r>
              <a:rPr lang="en-US" dirty="0"/>
              <a:t> </a:t>
            </a:r>
            <a:r>
              <a:rPr lang="en-US" dirty="0" err="1"/>
              <a:t>cây</a:t>
            </a:r>
            <a:r>
              <a:rPr lang="en-US" dirty="0"/>
              <a:t> con </a:t>
            </a:r>
            <a:r>
              <a:rPr lang="en-US" dirty="0" err="1"/>
              <a:t>bị</a:t>
            </a:r>
            <a:r>
              <a:rPr lang="en-US" dirty="0"/>
              <a:t> </a:t>
            </a:r>
            <a:r>
              <a:rPr lang="en-US" dirty="0" err="1"/>
              <a:t>lệch</a:t>
            </a:r>
            <a:r>
              <a:rPr lang="en-US" dirty="0"/>
              <a:t> </a:t>
            </a:r>
            <a:r>
              <a:rPr lang="en-US" dirty="0" err="1"/>
              <a:t>bên</a:t>
            </a:r>
            <a:r>
              <a:rPr lang="en-US" dirty="0"/>
              <a:t> </a:t>
            </a:r>
            <a:r>
              <a:rPr lang="en-US" dirty="0" err="1"/>
              <a:t>phải</a:t>
            </a:r>
            <a:r>
              <a:rPr lang="en-US" dirty="0"/>
              <a:t> </a:t>
            </a:r>
            <a:r>
              <a:rPr lang="en-US" dirty="0" err="1"/>
              <a:t>tại</a:t>
            </a:r>
            <a:r>
              <a:rPr lang="en-US" dirty="0"/>
              <a:t> 6 </a:t>
            </a:r>
          </a:p>
        </p:txBody>
      </p:sp>
      <p:sp>
        <p:nvSpPr>
          <p:cNvPr id="41" name="Right Arrow 40"/>
          <p:cNvSpPr/>
          <p:nvPr/>
        </p:nvSpPr>
        <p:spPr>
          <a:xfrm>
            <a:off x="2292732" y="4897526"/>
            <a:ext cx="990600" cy="1235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7235282" y="4162442"/>
            <a:ext cx="689518"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6.5</a:t>
            </a:r>
          </a:p>
        </p:txBody>
      </p:sp>
      <p:sp>
        <p:nvSpPr>
          <p:cNvPr id="50" name="Oval 49"/>
          <p:cNvSpPr/>
          <p:nvPr/>
        </p:nvSpPr>
        <p:spPr>
          <a:xfrm>
            <a:off x="6810243" y="4764355"/>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51" name="Oval 50"/>
          <p:cNvSpPr/>
          <p:nvPr/>
        </p:nvSpPr>
        <p:spPr>
          <a:xfrm>
            <a:off x="7768682" y="4754361"/>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cxnSp>
        <p:nvCxnSpPr>
          <p:cNvPr id="52" name="Straight Connector 51"/>
          <p:cNvCxnSpPr>
            <a:stCxn id="49" idx="3"/>
          </p:cNvCxnSpPr>
          <p:nvPr/>
        </p:nvCxnSpPr>
        <p:spPr>
          <a:xfrm flipH="1">
            <a:off x="7076944" y="4617727"/>
            <a:ext cx="259316" cy="289793"/>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49" idx="5"/>
            <a:endCxn id="51" idx="1"/>
          </p:cNvCxnSpPr>
          <p:nvPr/>
        </p:nvCxnSpPr>
        <p:spPr>
          <a:xfrm>
            <a:off x="7823822" y="4617727"/>
            <a:ext cx="22975" cy="214749"/>
          </a:xfrm>
          <a:prstGeom prst="line">
            <a:avLst/>
          </a:prstGeom>
        </p:spPr>
        <p:style>
          <a:lnRef idx="1">
            <a:schemeClr val="accent1"/>
          </a:lnRef>
          <a:fillRef idx="0">
            <a:schemeClr val="accent1"/>
          </a:fillRef>
          <a:effectRef idx="0">
            <a:schemeClr val="accent1"/>
          </a:effectRef>
          <a:fontRef idx="minor">
            <a:schemeClr val="tx1"/>
          </a:fontRef>
        </p:style>
      </p:cxnSp>
      <p:sp>
        <p:nvSpPr>
          <p:cNvPr id="54" name="Right Arrow 53"/>
          <p:cNvSpPr/>
          <p:nvPr/>
        </p:nvSpPr>
        <p:spPr>
          <a:xfrm>
            <a:off x="5686293" y="4826948"/>
            <a:ext cx="990600" cy="1235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p:cNvSpPr txBox="1"/>
          <p:nvPr/>
        </p:nvSpPr>
        <p:spPr>
          <a:xfrm>
            <a:off x="4990742" y="4208629"/>
            <a:ext cx="1772088" cy="369332"/>
          </a:xfrm>
          <a:prstGeom prst="rect">
            <a:avLst/>
          </a:prstGeom>
          <a:noFill/>
        </p:spPr>
        <p:txBody>
          <a:bodyPr wrap="none" rtlCol="0">
            <a:spAutoFit/>
          </a:bodyPr>
          <a:lstStyle/>
          <a:p>
            <a:r>
              <a:rPr lang="en-US" dirty="0" err="1"/>
              <a:t>rồi</a:t>
            </a:r>
            <a:r>
              <a:rPr lang="en-US" dirty="0"/>
              <a:t> quay </a:t>
            </a:r>
            <a:r>
              <a:rPr lang="en-US" dirty="0" err="1"/>
              <a:t>trái</a:t>
            </a:r>
            <a:r>
              <a:rPr lang="en-US" dirty="0"/>
              <a:t> </a:t>
            </a:r>
            <a:r>
              <a:rPr lang="en-US" dirty="0" err="1"/>
              <a:t>tại</a:t>
            </a:r>
            <a:r>
              <a:rPr lang="en-US" dirty="0"/>
              <a:t> 6</a:t>
            </a:r>
          </a:p>
        </p:txBody>
      </p:sp>
    </p:spTree>
    <p:extLst>
      <p:ext uri="{BB962C8B-B14F-4D97-AF65-F5344CB8AC3E}">
        <p14:creationId xmlns:p14="http://schemas.microsoft.com/office/powerpoint/2010/main" val="253418781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91</a:t>
            </a:fld>
            <a:endParaRPr lang="en-US"/>
          </a:p>
        </p:txBody>
      </p:sp>
      <p:sp>
        <p:nvSpPr>
          <p:cNvPr id="4" name="Title 3"/>
          <p:cNvSpPr>
            <a:spLocks noGrp="1"/>
          </p:cNvSpPr>
          <p:nvPr>
            <p:ph type="title"/>
          </p:nvPr>
        </p:nvSpPr>
        <p:spPr/>
        <p:txBody>
          <a:bodyPr/>
          <a:lstStyle/>
          <a:p>
            <a:endParaRPr lang="en-US"/>
          </a:p>
        </p:txBody>
      </p:sp>
      <p:sp>
        <p:nvSpPr>
          <p:cNvPr id="5" name="Text Placeholder 4"/>
          <p:cNvSpPr>
            <a:spLocks noGrp="1"/>
          </p:cNvSpPr>
          <p:nvPr>
            <p:ph type="body" sz="quarter" idx="13"/>
          </p:nvPr>
        </p:nvSpPr>
        <p:spPr>
          <a:xfrm>
            <a:off x="234823" y="762000"/>
            <a:ext cx="8674100" cy="5132832"/>
          </a:xfrm>
        </p:spPr>
        <p:txBody>
          <a:bodyPr/>
          <a:lstStyle/>
          <a:p>
            <a:r>
              <a:rPr lang="en-US" dirty="0" err="1"/>
              <a:t>Việc</a:t>
            </a:r>
            <a:r>
              <a:rPr lang="en-US" dirty="0"/>
              <a:t> </a:t>
            </a:r>
            <a:r>
              <a:rPr lang="en-US" dirty="0" err="1"/>
              <a:t>bổ</a:t>
            </a:r>
            <a:r>
              <a:rPr lang="en-US" dirty="0"/>
              <a:t> sung </a:t>
            </a:r>
            <a:r>
              <a:rPr lang="en-US" dirty="0" err="1"/>
              <a:t>làm</a:t>
            </a:r>
            <a:r>
              <a:rPr lang="en-US" dirty="0"/>
              <a:t> </a:t>
            </a:r>
            <a:r>
              <a:rPr lang="en-US" dirty="0" err="1"/>
              <a:t>mất</a:t>
            </a:r>
            <a:r>
              <a:rPr lang="en-US" dirty="0"/>
              <a:t> </a:t>
            </a:r>
            <a:r>
              <a:rPr lang="en-US" dirty="0" err="1"/>
              <a:t>cân</a:t>
            </a:r>
            <a:r>
              <a:rPr lang="en-US" dirty="0"/>
              <a:t> </a:t>
            </a:r>
            <a:r>
              <a:rPr lang="en-US" dirty="0" err="1"/>
              <a:t>bằng</a:t>
            </a:r>
            <a:r>
              <a:rPr lang="en-US" dirty="0"/>
              <a:t> </a:t>
            </a:r>
            <a:r>
              <a:rPr lang="en-US" dirty="0" err="1"/>
              <a:t>nút</a:t>
            </a:r>
            <a:r>
              <a:rPr lang="en-US" dirty="0"/>
              <a:t> </a:t>
            </a:r>
            <a:r>
              <a:rPr lang="en-US" dirty="0" err="1"/>
              <a:t>nào</a:t>
            </a:r>
            <a:r>
              <a:rPr lang="en-US" dirty="0"/>
              <a:t> </a:t>
            </a:r>
            <a:r>
              <a:rPr lang="en-US" dirty="0" err="1"/>
              <a:t>đầu</a:t>
            </a:r>
            <a:r>
              <a:rPr lang="en-US" dirty="0"/>
              <a:t> </a:t>
            </a:r>
            <a:r>
              <a:rPr lang="en-US" dirty="0" err="1"/>
              <a:t>tiên</a:t>
            </a:r>
            <a:r>
              <a:rPr lang="en-US" dirty="0"/>
              <a:t> (</a:t>
            </a:r>
            <a:r>
              <a:rPr lang="en-US" dirty="0" err="1"/>
              <a:t>từ</a:t>
            </a:r>
            <a:r>
              <a:rPr lang="en-US" dirty="0"/>
              <a:t> </a:t>
            </a:r>
            <a:r>
              <a:rPr lang="en-US" dirty="0" err="1"/>
              <a:t>dưới</a:t>
            </a:r>
            <a:r>
              <a:rPr lang="en-US" dirty="0"/>
              <a:t> </a:t>
            </a:r>
            <a:r>
              <a:rPr lang="en-US" dirty="0" err="1"/>
              <a:t>lên</a:t>
            </a:r>
            <a:r>
              <a:rPr lang="en-US" dirty="0"/>
              <a:t> </a:t>
            </a:r>
            <a:r>
              <a:rPr lang="en-US" dirty="0" err="1"/>
              <a:t>tính</a:t>
            </a:r>
            <a:r>
              <a:rPr lang="en-US" dirty="0"/>
              <a:t> </a:t>
            </a:r>
            <a:r>
              <a:rPr lang="en-US" dirty="0" err="1"/>
              <a:t>từ</a:t>
            </a:r>
            <a:r>
              <a:rPr lang="en-US" dirty="0"/>
              <a:t> </a:t>
            </a:r>
            <a:r>
              <a:rPr lang="en-US" dirty="0" err="1"/>
              <a:t>vị</a:t>
            </a:r>
            <a:r>
              <a:rPr lang="en-US" dirty="0"/>
              <a:t> </a:t>
            </a:r>
            <a:r>
              <a:rPr lang="en-US" dirty="0" err="1"/>
              <a:t>trí</a:t>
            </a:r>
            <a:r>
              <a:rPr lang="en-US" dirty="0"/>
              <a:t> </a:t>
            </a:r>
            <a:r>
              <a:rPr lang="en-US" dirty="0" err="1"/>
              <a:t>bổ</a:t>
            </a:r>
            <a:r>
              <a:rPr lang="en-US" dirty="0"/>
              <a:t> sung)  =&gt; </a:t>
            </a:r>
            <a:r>
              <a:rPr lang="en-US" dirty="0" err="1"/>
              <a:t>xử</a:t>
            </a:r>
            <a:r>
              <a:rPr lang="en-US" dirty="0"/>
              <a:t> </a:t>
            </a:r>
            <a:r>
              <a:rPr lang="en-US" dirty="0" err="1"/>
              <a:t>lý</a:t>
            </a:r>
            <a:r>
              <a:rPr lang="en-US" dirty="0"/>
              <a:t> </a:t>
            </a:r>
            <a:r>
              <a:rPr lang="en-US" dirty="0" err="1"/>
              <a:t>vị</a:t>
            </a:r>
            <a:r>
              <a:rPr lang="en-US" dirty="0"/>
              <a:t> </a:t>
            </a:r>
            <a:r>
              <a:rPr lang="en-US" dirty="0" err="1"/>
              <a:t>trí</a:t>
            </a:r>
            <a:r>
              <a:rPr lang="en-US" dirty="0"/>
              <a:t> </a:t>
            </a:r>
            <a:r>
              <a:rPr lang="en-US" dirty="0" err="1"/>
              <a:t>đó</a:t>
            </a:r>
            <a:endParaRPr lang="en-US" dirty="0"/>
          </a:p>
        </p:txBody>
      </p:sp>
      <p:sp>
        <p:nvSpPr>
          <p:cNvPr id="6" name="Oval 5"/>
          <p:cNvSpPr/>
          <p:nvPr/>
        </p:nvSpPr>
        <p:spPr>
          <a:xfrm>
            <a:off x="1168949" y="1670851"/>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7" name="Oval 6"/>
          <p:cNvSpPr/>
          <p:nvPr/>
        </p:nvSpPr>
        <p:spPr>
          <a:xfrm>
            <a:off x="748512" y="2341278"/>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8" name="Oval 7"/>
          <p:cNvSpPr/>
          <p:nvPr/>
        </p:nvSpPr>
        <p:spPr>
          <a:xfrm>
            <a:off x="301304" y="2935187"/>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cxnSp>
        <p:nvCxnSpPr>
          <p:cNvPr id="10" name="Straight Connector 9"/>
          <p:cNvCxnSpPr>
            <a:stCxn id="6" idx="4"/>
            <a:endCxn id="7" idx="7"/>
          </p:cNvCxnSpPr>
          <p:nvPr/>
        </p:nvCxnSpPr>
        <p:spPr>
          <a:xfrm flipH="1">
            <a:off x="1203797" y="2204251"/>
            <a:ext cx="231852" cy="215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7" idx="3"/>
            <a:endCxn id="8" idx="0"/>
          </p:cNvCxnSpPr>
          <p:nvPr/>
        </p:nvCxnSpPr>
        <p:spPr>
          <a:xfrm flipH="1">
            <a:off x="568004" y="2796563"/>
            <a:ext cx="258623" cy="138624"/>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337769" y="1829381"/>
            <a:ext cx="1593000" cy="369332"/>
          </a:xfrm>
          <a:prstGeom prst="rect">
            <a:avLst/>
          </a:prstGeom>
          <a:noFill/>
        </p:spPr>
        <p:txBody>
          <a:bodyPr wrap="none" rtlCol="0">
            <a:spAutoFit/>
          </a:bodyPr>
          <a:lstStyle/>
          <a:p>
            <a:r>
              <a:rPr lang="en-US" dirty="0"/>
              <a:t>Quay </a:t>
            </a:r>
            <a:r>
              <a:rPr lang="en-US" dirty="0" err="1"/>
              <a:t>phải</a:t>
            </a:r>
            <a:r>
              <a:rPr lang="en-US" dirty="0"/>
              <a:t> </a:t>
            </a:r>
            <a:r>
              <a:rPr lang="en-US" dirty="0" err="1"/>
              <a:t>tại</a:t>
            </a:r>
            <a:r>
              <a:rPr lang="en-US" dirty="0"/>
              <a:t> 9</a:t>
            </a:r>
          </a:p>
        </p:txBody>
      </p:sp>
      <p:sp>
        <p:nvSpPr>
          <p:cNvPr id="14" name="Rectangle 13"/>
          <p:cNvSpPr/>
          <p:nvPr/>
        </p:nvSpPr>
        <p:spPr>
          <a:xfrm>
            <a:off x="336285" y="1378037"/>
            <a:ext cx="4650953" cy="369332"/>
          </a:xfrm>
          <a:prstGeom prst="rect">
            <a:avLst/>
          </a:prstGeom>
        </p:spPr>
        <p:txBody>
          <a:bodyPr wrap="none">
            <a:spAutoFit/>
          </a:bodyPr>
          <a:lstStyle/>
          <a:p>
            <a:r>
              <a:rPr lang="en-US" dirty="0"/>
              <a:t>VD: </a:t>
            </a:r>
            <a:r>
              <a:rPr lang="en-US" dirty="0" err="1"/>
              <a:t>bổ</a:t>
            </a:r>
            <a:r>
              <a:rPr lang="en-US" dirty="0"/>
              <a:t> sung 6  </a:t>
            </a:r>
            <a:r>
              <a:rPr lang="en-US" dirty="0" err="1"/>
              <a:t>làm</a:t>
            </a:r>
            <a:r>
              <a:rPr lang="en-US" dirty="0"/>
              <a:t> </a:t>
            </a:r>
            <a:r>
              <a:rPr lang="en-US" dirty="0" err="1"/>
              <a:t>cây</a:t>
            </a:r>
            <a:r>
              <a:rPr lang="en-US" dirty="0"/>
              <a:t> con </a:t>
            </a:r>
            <a:r>
              <a:rPr lang="en-US" dirty="0" err="1"/>
              <a:t>bị</a:t>
            </a:r>
            <a:r>
              <a:rPr lang="en-US" dirty="0"/>
              <a:t> </a:t>
            </a:r>
            <a:r>
              <a:rPr lang="en-US" dirty="0" err="1"/>
              <a:t>lệch</a:t>
            </a:r>
            <a:r>
              <a:rPr lang="en-US" dirty="0"/>
              <a:t> </a:t>
            </a:r>
            <a:r>
              <a:rPr lang="en-US" dirty="0" err="1"/>
              <a:t>bên</a:t>
            </a:r>
            <a:r>
              <a:rPr lang="en-US" dirty="0"/>
              <a:t> </a:t>
            </a:r>
            <a:r>
              <a:rPr lang="en-US" dirty="0" err="1"/>
              <a:t>trái</a:t>
            </a:r>
            <a:r>
              <a:rPr lang="en-US" dirty="0"/>
              <a:t> </a:t>
            </a:r>
            <a:r>
              <a:rPr lang="en-US" dirty="0" err="1"/>
              <a:t>tại</a:t>
            </a:r>
            <a:r>
              <a:rPr lang="en-US" dirty="0"/>
              <a:t> 9 </a:t>
            </a:r>
          </a:p>
        </p:txBody>
      </p:sp>
      <p:sp>
        <p:nvSpPr>
          <p:cNvPr id="15" name="Oval 14"/>
          <p:cNvSpPr/>
          <p:nvPr/>
        </p:nvSpPr>
        <p:spPr>
          <a:xfrm>
            <a:off x="4230342" y="1828446"/>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6" name="Oval 15"/>
          <p:cNvSpPr/>
          <p:nvPr/>
        </p:nvSpPr>
        <p:spPr>
          <a:xfrm>
            <a:off x="3805303" y="2430359"/>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7" name="Oval 16"/>
          <p:cNvSpPr/>
          <p:nvPr/>
        </p:nvSpPr>
        <p:spPr>
          <a:xfrm>
            <a:off x="4763742" y="2420365"/>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cxnSp>
        <p:nvCxnSpPr>
          <p:cNvPr id="19" name="Straight Connector 18"/>
          <p:cNvCxnSpPr>
            <a:stCxn id="15" idx="3"/>
          </p:cNvCxnSpPr>
          <p:nvPr/>
        </p:nvCxnSpPr>
        <p:spPr>
          <a:xfrm flipH="1">
            <a:off x="4072003" y="2283731"/>
            <a:ext cx="236454" cy="289793"/>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5" idx="5"/>
            <a:endCxn id="17" idx="1"/>
          </p:cNvCxnSpPr>
          <p:nvPr/>
        </p:nvCxnSpPr>
        <p:spPr>
          <a:xfrm>
            <a:off x="4685627" y="2283731"/>
            <a:ext cx="156230" cy="214749"/>
          </a:xfrm>
          <a:prstGeom prst="line">
            <a:avLst/>
          </a:prstGeom>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1041224" y="3819910"/>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24" name="Oval 23"/>
          <p:cNvSpPr/>
          <p:nvPr/>
        </p:nvSpPr>
        <p:spPr>
          <a:xfrm>
            <a:off x="397004" y="4478498"/>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25" name="Oval 24"/>
          <p:cNvSpPr/>
          <p:nvPr/>
        </p:nvSpPr>
        <p:spPr>
          <a:xfrm>
            <a:off x="773595" y="5155974"/>
            <a:ext cx="860569"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cxnSp>
        <p:nvCxnSpPr>
          <p:cNvPr id="26" name="Straight Connector 25"/>
          <p:cNvCxnSpPr/>
          <p:nvPr/>
        </p:nvCxnSpPr>
        <p:spPr>
          <a:xfrm>
            <a:off x="834704" y="4979136"/>
            <a:ext cx="156230" cy="15623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826079" y="4301840"/>
            <a:ext cx="279465" cy="286344"/>
          </a:xfrm>
          <a:prstGeom prst="line">
            <a:avLst/>
          </a:prstGeom>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1904847" y="4248967"/>
            <a:ext cx="1501693" cy="369332"/>
          </a:xfrm>
          <a:prstGeom prst="rect">
            <a:avLst/>
          </a:prstGeom>
          <a:noFill/>
        </p:spPr>
        <p:txBody>
          <a:bodyPr wrap="none" rtlCol="0">
            <a:spAutoFit/>
          </a:bodyPr>
          <a:lstStyle/>
          <a:p>
            <a:r>
              <a:rPr lang="en-US" dirty="0"/>
              <a:t>Quay </a:t>
            </a:r>
            <a:r>
              <a:rPr lang="en-US" dirty="0" err="1"/>
              <a:t>trái</a:t>
            </a:r>
            <a:r>
              <a:rPr lang="en-US" dirty="0"/>
              <a:t> </a:t>
            </a:r>
            <a:r>
              <a:rPr lang="en-US" dirty="0" err="1"/>
              <a:t>tại</a:t>
            </a:r>
            <a:r>
              <a:rPr lang="en-US" dirty="0"/>
              <a:t> 7</a:t>
            </a:r>
          </a:p>
        </p:txBody>
      </p:sp>
      <p:sp>
        <p:nvSpPr>
          <p:cNvPr id="29" name="Oval 28"/>
          <p:cNvSpPr/>
          <p:nvPr/>
        </p:nvSpPr>
        <p:spPr>
          <a:xfrm>
            <a:off x="3908950" y="4725101"/>
            <a:ext cx="777587"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30" name="Oval 29"/>
          <p:cNvSpPr/>
          <p:nvPr/>
        </p:nvSpPr>
        <p:spPr>
          <a:xfrm>
            <a:off x="4418927" y="3927593"/>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31" name="Oval 30"/>
          <p:cNvSpPr/>
          <p:nvPr/>
        </p:nvSpPr>
        <p:spPr>
          <a:xfrm>
            <a:off x="3688036" y="5283832"/>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cxnSp>
        <p:nvCxnSpPr>
          <p:cNvPr id="32" name="Straight Connector 31"/>
          <p:cNvCxnSpPr>
            <a:stCxn id="29" idx="0"/>
            <a:endCxn id="30" idx="3"/>
          </p:cNvCxnSpPr>
          <p:nvPr/>
        </p:nvCxnSpPr>
        <p:spPr>
          <a:xfrm flipV="1">
            <a:off x="4297744" y="4382878"/>
            <a:ext cx="199298" cy="342223"/>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29" idx="3"/>
            <a:endCxn id="31" idx="0"/>
          </p:cNvCxnSpPr>
          <p:nvPr/>
        </p:nvCxnSpPr>
        <p:spPr>
          <a:xfrm flipH="1">
            <a:off x="3954736" y="5180386"/>
            <a:ext cx="68089" cy="103446"/>
          </a:xfrm>
          <a:prstGeom prst="line">
            <a:avLst/>
          </a:prstGeom>
        </p:spPr>
        <p:style>
          <a:lnRef idx="1">
            <a:schemeClr val="accent1"/>
          </a:lnRef>
          <a:fillRef idx="0">
            <a:schemeClr val="accent1"/>
          </a:fillRef>
          <a:effectRef idx="0">
            <a:schemeClr val="accent1"/>
          </a:effectRef>
          <a:fontRef idx="minor">
            <a:schemeClr val="tx1"/>
          </a:fontRef>
        </p:style>
      </p:cxnSp>
      <p:sp>
        <p:nvSpPr>
          <p:cNvPr id="34" name="Right Arrow 33"/>
          <p:cNvSpPr/>
          <p:nvPr/>
        </p:nvSpPr>
        <p:spPr>
          <a:xfrm>
            <a:off x="2590800" y="2306824"/>
            <a:ext cx="990600" cy="1235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280329" y="3485632"/>
            <a:ext cx="4598054" cy="369332"/>
          </a:xfrm>
          <a:prstGeom prst="rect">
            <a:avLst/>
          </a:prstGeom>
        </p:spPr>
        <p:txBody>
          <a:bodyPr wrap="none">
            <a:spAutoFit/>
          </a:bodyPr>
          <a:lstStyle/>
          <a:p>
            <a:r>
              <a:rPr lang="en-US" dirty="0"/>
              <a:t>VD: </a:t>
            </a:r>
            <a:r>
              <a:rPr lang="en-US" dirty="0" err="1"/>
              <a:t>bổ</a:t>
            </a:r>
            <a:r>
              <a:rPr lang="en-US" dirty="0"/>
              <a:t> sung 8 </a:t>
            </a:r>
            <a:r>
              <a:rPr lang="en-US" dirty="0" err="1"/>
              <a:t>làm</a:t>
            </a:r>
            <a:r>
              <a:rPr lang="en-US" dirty="0"/>
              <a:t> </a:t>
            </a:r>
            <a:r>
              <a:rPr lang="en-US" dirty="0" err="1"/>
              <a:t>cây</a:t>
            </a:r>
            <a:r>
              <a:rPr lang="en-US" dirty="0"/>
              <a:t> con </a:t>
            </a:r>
            <a:r>
              <a:rPr lang="en-US" dirty="0" err="1"/>
              <a:t>bị</a:t>
            </a:r>
            <a:r>
              <a:rPr lang="en-US" dirty="0"/>
              <a:t> </a:t>
            </a:r>
            <a:r>
              <a:rPr lang="en-US" dirty="0" err="1"/>
              <a:t>lệch</a:t>
            </a:r>
            <a:r>
              <a:rPr lang="en-US" dirty="0"/>
              <a:t> </a:t>
            </a:r>
            <a:r>
              <a:rPr lang="en-US" dirty="0" err="1"/>
              <a:t>bên</a:t>
            </a:r>
            <a:r>
              <a:rPr lang="en-US" dirty="0"/>
              <a:t> </a:t>
            </a:r>
            <a:r>
              <a:rPr lang="en-US" dirty="0" err="1"/>
              <a:t>trái</a:t>
            </a:r>
            <a:r>
              <a:rPr lang="en-US" dirty="0"/>
              <a:t> </a:t>
            </a:r>
            <a:r>
              <a:rPr lang="en-US" dirty="0" err="1"/>
              <a:t>tại</a:t>
            </a:r>
            <a:r>
              <a:rPr lang="en-US" dirty="0"/>
              <a:t> 9 </a:t>
            </a:r>
          </a:p>
        </p:txBody>
      </p:sp>
      <p:sp>
        <p:nvSpPr>
          <p:cNvPr id="41" name="Right Arrow 40"/>
          <p:cNvSpPr/>
          <p:nvPr/>
        </p:nvSpPr>
        <p:spPr>
          <a:xfrm>
            <a:off x="2292732" y="4897526"/>
            <a:ext cx="990600" cy="1235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7219516" y="4115132"/>
            <a:ext cx="689518"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50" name="Oval 49"/>
          <p:cNvSpPr/>
          <p:nvPr/>
        </p:nvSpPr>
        <p:spPr>
          <a:xfrm>
            <a:off x="6810243" y="4764355"/>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51" name="Oval 50"/>
          <p:cNvSpPr/>
          <p:nvPr/>
        </p:nvSpPr>
        <p:spPr>
          <a:xfrm>
            <a:off x="7768682" y="4754361"/>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cxnSp>
        <p:nvCxnSpPr>
          <p:cNvPr id="52" name="Straight Connector 51"/>
          <p:cNvCxnSpPr>
            <a:stCxn id="49" idx="3"/>
          </p:cNvCxnSpPr>
          <p:nvPr/>
        </p:nvCxnSpPr>
        <p:spPr>
          <a:xfrm flipH="1">
            <a:off x="7076944" y="4617727"/>
            <a:ext cx="259316" cy="289793"/>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49" idx="5"/>
            <a:endCxn id="51" idx="1"/>
          </p:cNvCxnSpPr>
          <p:nvPr/>
        </p:nvCxnSpPr>
        <p:spPr>
          <a:xfrm>
            <a:off x="7823822" y="4617727"/>
            <a:ext cx="22975" cy="214749"/>
          </a:xfrm>
          <a:prstGeom prst="line">
            <a:avLst/>
          </a:prstGeom>
        </p:spPr>
        <p:style>
          <a:lnRef idx="1">
            <a:schemeClr val="accent1"/>
          </a:lnRef>
          <a:fillRef idx="0">
            <a:schemeClr val="accent1"/>
          </a:fillRef>
          <a:effectRef idx="0">
            <a:schemeClr val="accent1"/>
          </a:effectRef>
          <a:fontRef idx="minor">
            <a:schemeClr val="tx1"/>
          </a:fontRef>
        </p:style>
      </p:cxnSp>
      <p:sp>
        <p:nvSpPr>
          <p:cNvPr id="54" name="Right Arrow 53"/>
          <p:cNvSpPr/>
          <p:nvPr/>
        </p:nvSpPr>
        <p:spPr>
          <a:xfrm>
            <a:off x="5686293" y="4826948"/>
            <a:ext cx="990600" cy="1235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p:cNvSpPr txBox="1"/>
          <p:nvPr/>
        </p:nvSpPr>
        <p:spPr>
          <a:xfrm>
            <a:off x="4990742" y="4208629"/>
            <a:ext cx="1863395" cy="369332"/>
          </a:xfrm>
          <a:prstGeom prst="rect">
            <a:avLst/>
          </a:prstGeom>
          <a:noFill/>
        </p:spPr>
        <p:txBody>
          <a:bodyPr wrap="none" rtlCol="0">
            <a:spAutoFit/>
          </a:bodyPr>
          <a:lstStyle/>
          <a:p>
            <a:r>
              <a:rPr lang="en-US" dirty="0" err="1"/>
              <a:t>rồi</a:t>
            </a:r>
            <a:r>
              <a:rPr lang="en-US" dirty="0"/>
              <a:t> quay </a:t>
            </a:r>
            <a:r>
              <a:rPr lang="en-US" dirty="0" err="1"/>
              <a:t>phải</a:t>
            </a:r>
            <a:r>
              <a:rPr lang="en-US" dirty="0"/>
              <a:t> </a:t>
            </a:r>
            <a:r>
              <a:rPr lang="en-US" dirty="0" err="1"/>
              <a:t>tại</a:t>
            </a:r>
            <a:r>
              <a:rPr lang="en-US" dirty="0"/>
              <a:t> 9</a:t>
            </a:r>
          </a:p>
        </p:txBody>
      </p:sp>
    </p:spTree>
    <p:extLst>
      <p:ext uri="{BB962C8B-B14F-4D97-AF65-F5344CB8AC3E}">
        <p14:creationId xmlns:p14="http://schemas.microsoft.com/office/powerpoint/2010/main" val="268396785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92</a:t>
            </a:fld>
            <a:endParaRPr lang="en-US"/>
          </a:p>
        </p:txBody>
      </p:sp>
      <p:sp>
        <p:nvSpPr>
          <p:cNvPr id="8" name="Title 7"/>
          <p:cNvSpPr>
            <a:spLocks noGrp="1"/>
          </p:cNvSpPr>
          <p:nvPr>
            <p:ph type="title"/>
          </p:nvPr>
        </p:nvSpPr>
        <p:spPr/>
        <p:txBody>
          <a:bodyPr/>
          <a:lstStyle/>
          <a:p>
            <a:endParaRPr lang="en-US"/>
          </a:p>
        </p:txBody>
      </p:sp>
      <p:sp>
        <p:nvSpPr>
          <p:cNvPr id="9" name="Text Placeholder 8"/>
          <p:cNvSpPr>
            <a:spLocks noGrp="1"/>
          </p:cNvSpPr>
          <p:nvPr>
            <p:ph type="body" sz="quarter" idx="13"/>
          </p:nvPr>
        </p:nvSpPr>
        <p:spPr/>
        <p:txBody>
          <a:bodyPr/>
          <a:lstStyle/>
          <a:p>
            <a:endParaRPr lang="en-US"/>
          </a:p>
        </p:txBody>
      </p:sp>
      <p:pic>
        <p:nvPicPr>
          <p:cNvPr id="6" name="Picture 5"/>
          <p:cNvPicPr>
            <a:picLocks noChangeAspect="1"/>
          </p:cNvPicPr>
          <p:nvPr/>
        </p:nvPicPr>
        <p:blipFill>
          <a:blip r:embed="rId2"/>
          <a:stretch>
            <a:fillRect/>
          </a:stretch>
        </p:blipFill>
        <p:spPr>
          <a:xfrm>
            <a:off x="304800" y="1371600"/>
            <a:ext cx="3312082" cy="1638486"/>
          </a:xfrm>
          <a:prstGeom prst="rect">
            <a:avLst/>
          </a:prstGeom>
        </p:spPr>
      </p:pic>
      <p:pic>
        <p:nvPicPr>
          <p:cNvPr id="7" name="Picture 6"/>
          <p:cNvPicPr>
            <a:picLocks noChangeAspect="1"/>
          </p:cNvPicPr>
          <p:nvPr/>
        </p:nvPicPr>
        <p:blipFill>
          <a:blip r:embed="rId3"/>
          <a:stretch>
            <a:fillRect/>
          </a:stretch>
        </p:blipFill>
        <p:spPr>
          <a:xfrm>
            <a:off x="3008725" y="3352800"/>
            <a:ext cx="5715798" cy="2629267"/>
          </a:xfrm>
          <a:prstGeom prst="rect">
            <a:avLst/>
          </a:prstGeom>
        </p:spPr>
      </p:pic>
    </p:spTree>
    <p:extLst>
      <p:ext uri="{BB962C8B-B14F-4D97-AF65-F5344CB8AC3E}">
        <p14:creationId xmlns:p14="http://schemas.microsoft.com/office/powerpoint/2010/main" val="1238792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93</a:t>
            </a:fld>
            <a:endParaRPr lang="en-US"/>
          </a:p>
        </p:txBody>
      </p:sp>
      <p:sp>
        <p:nvSpPr>
          <p:cNvPr id="4" name="Title 3"/>
          <p:cNvSpPr>
            <a:spLocks noGrp="1"/>
          </p:cNvSpPr>
          <p:nvPr>
            <p:ph type="title"/>
          </p:nvPr>
        </p:nvSpPr>
        <p:spPr/>
        <p:txBody>
          <a:bodyPr/>
          <a:lstStyle/>
          <a:p>
            <a:endParaRPr lang="en-US"/>
          </a:p>
        </p:txBody>
      </p:sp>
      <p:sp>
        <p:nvSpPr>
          <p:cNvPr id="5" name="Text Placeholder 4"/>
          <p:cNvSpPr>
            <a:spLocks noGrp="1"/>
          </p:cNvSpPr>
          <p:nvPr>
            <p:ph type="body" sz="quarter" idx="13"/>
          </p:nvPr>
        </p:nvSpPr>
        <p:spPr/>
        <p:txBody>
          <a:bodyPr/>
          <a:lstStyle/>
          <a:p>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6237" y="914400"/>
            <a:ext cx="4271963" cy="3451317"/>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3923" y="3554984"/>
            <a:ext cx="5715000" cy="2524125"/>
          </a:xfrm>
          <a:prstGeom prst="rect">
            <a:avLst/>
          </a:prstGeom>
        </p:spPr>
      </p:pic>
    </p:spTree>
    <p:extLst>
      <p:ext uri="{BB962C8B-B14F-4D97-AF65-F5344CB8AC3E}">
        <p14:creationId xmlns:p14="http://schemas.microsoft.com/office/powerpoint/2010/main" val="1539659989"/>
      </p:ext>
    </p:extLst>
  </p:cSld>
  <p:clrMapOvr>
    <a:masterClrMapping/>
  </p:clrMapOvr>
</p:sld>
</file>

<file path=ppt/theme/theme1.xml><?xml version="1.0" encoding="utf-8"?>
<a:theme xmlns:a="http://schemas.openxmlformats.org/drawingml/2006/main" name="7. SL - Mẫu slides bài giảng_HUST PPT Templat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7. SL - Mẫu slides bài giảng_HUST PPT Template.pptx" id="{45510D97-992C-451E-ADEA-BBABC4EFA76A}" vid="{3E3F4600-7126-4670-8CD5-2C2CB12BC94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7. SL - Mẫu slides bài giảng_HUST PPT Template</Template>
  <TotalTime>15951</TotalTime>
  <Words>10644</Words>
  <Application>Microsoft Office PowerPoint</Application>
  <PresentationFormat>On-screen Show (4:3)</PresentationFormat>
  <Paragraphs>1333</Paragraphs>
  <Slides>93</Slides>
  <Notes>47</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93</vt:i4>
      </vt:variant>
    </vt:vector>
  </HeadingPairs>
  <TitlesOfParts>
    <vt:vector size="105" baseType="lpstr">
      <vt:lpstr>Arial</vt:lpstr>
      <vt:lpstr>Calibri</vt:lpstr>
      <vt:lpstr>Calibri Light</vt:lpstr>
      <vt:lpstr>Cambria Math</vt:lpstr>
      <vt:lpstr>Consolas</vt:lpstr>
      <vt:lpstr>Courier New</vt:lpstr>
      <vt:lpstr>Gill Sans MT</vt:lpstr>
      <vt:lpstr>Lato</vt:lpstr>
      <vt:lpstr>Symbol</vt:lpstr>
      <vt:lpstr>Times New Roman</vt:lpstr>
      <vt:lpstr>Wingdings</vt:lpstr>
      <vt:lpstr>7. SL - Mẫu slides bài giảng_HUST PPT Template</vt:lpstr>
      <vt:lpstr>CẤU TRÚC DỮ LIỆU VÀ GIẢI THUẬT</vt:lpstr>
      <vt:lpstr>Chương IV:  Cấu trúc CÂY</vt:lpstr>
      <vt:lpstr>Các nội dung chính</vt:lpstr>
      <vt:lpstr>1. Giới thiệu</vt:lpstr>
      <vt:lpstr>Định nghĩa cây</vt:lpstr>
      <vt:lpstr>Định nghĩa cây</vt:lpstr>
      <vt:lpstr>Ví dụ về cây</vt:lpstr>
      <vt:lpstr>Các khái niệm cơ bản  </vt:lpstr>
      <vt:lpstr>Các khái niệm cơ bản  </vt:lpstr>
      <vt:lpstr>Các khái niệm cơ bản  </vt:lpstr>
      <vt:lpstr>Các khái niệm cơ bản  </vt:lpstr>
      <vt:lpstr>Các khái niệm cơ bản  </vt:lpstr>
      <vt:lpstr>Các khái niệm cơ bản  </vt:lpstr>
      <vt:lpstr>Các tính chất cơ bản</vt:lpstr>
      <vt:lpstr>Các thao tác cơ bản trên cây</vt:lpstr>
      <vt:lpstr>Các thao tác cơ bản trên cây</vt:lpstr>
      <vt:lpstr>Biểu diễn cây</vt:lpstr>
      <vt:lpstr>Biểu diễn cây</vt:lpstr>
      <vt:lpstr>2. Cây nhị phân</vt:lpstr>
      <vt:lpstr>Khái niệm cơ bản</vt:lpstr>
      <vt:lpstr>Khái niệm cơ bản</vt:lpstr>
      <vt:lpstr>Một số loại cây nhị phân đặc biệt</vt:lpstr>
      <vt:lpstr>Một số loại cây nhị phân đặc biệt</vt:lpstr>
      <vt:lpstr>Một số loại cây nhị phân đặc biệt</vt:lpstr>
      <vt:lpstr>Một số tính chất của cây nhị phân </vt:lpstr>
      <vt:lpstr>Một số tính chất của cây nhị phân </vt:lpstr>
      <vt:lpstr>Các thao tác cơ bản </vt:lpstr>
      <vt:lpstr>Phép duyệt cây</vt:lpstr>
      <vt:lpstr>Giải thuật duyệt cây</vt:lpstr>
      <vt:lpstr>Giải thuật duyệt cây</vt:lpstr>
      <vt:lpstr>Giải thuật duyệt cây</vt:lpstr>
      <vt:lpstr>Giải thuật duyệt cây</vt:lpstr>
      <vt:lpstr>Cài đặt cây nhị phân </vt:lpstr>
      <vt:lpstr>Cài đặt cây nhị phân </vt:lpstr>
      <vt:lpstr>Cài đặt cây nhị phân </vt:lpstr>
      <vt:lpstr>Cài đặt cây nhị phân </vt:lpstr>
      <vt:lpstr>Cài đặt cây nhị phân </vt:lpstr>
      <vt:lpstr>Lưu trữ cấu trúc cây trong bộ nhớ</vt:lpstr>
      <vt:lpstr>Cài đặt cây nhị phân </vt:lpstr>
      <vt:lpstr>Cài đặt cây nhị phân </vt:lpstr>
      <vt:lpstr>Cài đặt cây nhị phân </vt:lpstr>
      <vt:lpstr>Cài đặt cây nhị phân </vt:lpstr>
      <vt:lpstr>Giải thuật duyệt cây</vt:lpstr>
      <vt:lpstr>Cài đặt cây nhị phân </vt:lpstr>
      <vt:lpstr>Cây nhị phân tìm kiếm</vt:lpstr>
      <vt:lpstr>Cây nhị phân tìm kiếm</vt:lpstr>
      <vt:lpstr>Cây nhị phân tìm kiếm</vt:lpstr>
      <vt:lpstr>Cây nhị phân tìm kiếm</vt:lpstr>
      <vt:lpstr>Cây nhị phân tìm kiếm</vt:lpstr>
      <vt:lpstr>Cây nhị phân tìm kiếm</vt:lpstr>
      <vt:lpstr>Cây nhị phân tìm kiếm</vt:lpstr>
      <vt:lpstr>Cây nhị phân tìm kiếm</vt:lpstr>
      <vt:lpstr>Cây nhị phân tìm kiếm</vt:lpstr>
      <vt:lpstr>PowerPoint Presentation</vt:lpstr>
      <vt:lpstr>PowerPoint Presentation</vt:lpstr>
      <vt:lpstr>3. Cây tổng quát</vt:lpstr>
      <vt:lpstr>Biểu diễn cây tổng quát</vt:lpstr>
      <vt:lpstr>Biểu diễn cây tổng quát</vt:lpstr>
      <vt:lpstr>Biểu diễn cây tổng quát</vt:lpstr>
      <vt:lpstr>Biểu diễn cây tổng quát</vt:lpstr>
      <vt:lpstr>Biểu diễn cây tổng quát</vt:lpstr>
      <vt:lpstr>Cài đặt cây tổng quát</vt:lpstr>
      <vt:lpstr>Cài đặt cây tổng quát</vt:lpstr>
      <vt:lpstr>Cài đặt cây tổng quát</vt:lpstr>
      <vt:lpstr>Cài đặt cây tổng quát</vt:lpstr>
      <vt:lpstr>PowerPoint Presentation</vt:lpstr>
      <vt:lpstr>4. Ứng dụng của cấu trúc cây</vt:lpstr>
      <vt:lpstr>4. Ứng dụng của cấu trúc cây</vt:lpstr>
      <vt:lpstr>Cây biểu thức</vt:lpstr>
      <vt:lpstr>Cây biểu thức</vt:lpstr>
      <vt:lpstr>Cây biểu thức</vt:lpstr>
      <vt:lpstr>Cây biểu thức</vt:lpstr>
      <vt:lpstr>Cây quyết định</vt:lpstr>
      <vt:lpstr>Cây cân bằng </vt:lpstr>
      <vt:lpstr>Cây cân bằng </vt:lpstr>
      <vt:lpstr>Cây cân bằng </vt:lpstr>
      <vt:lpstr>Cây cân bằng </vt:lpstr>
      <vt:lpstr>Cây cân bằng </vt:lpstr>
      <vt:lpstr>Cây cân bằng </vt:lpstr>
      <vt:lpstr>Cây cân bằng </vt:lpstr>
      <vt:lpstr>5. Cây cân bằng </vt:lpstr>
      <vt:lpstr>5. Cây cân bằng </vt:lpstr>
      <vt:lpstr>5. Cây cân bằng </vt:lpstr>
      <vt:lpstr>5. Cây cân bằng </vt:lpstr>
      <vt:lpstr>5. Cây cân bằng </vt:lpstr>
      <vt:lpstr>Bài tập</vt:lpstr>
      <vt:lpstr>Bài tập</vt:lpstr>
      <vt:lpstr>Bài tập</vt:lpstr>
      <vt:lpstr>PowerPoint Presentation</vt:lpstr>
      <vt:lpstr>PowerPoint Presentation</vt:lpstr>
      <vt:lpstr>PowerPoint Presentation</vt:lpstr>
      <vt:lpstr>PowerPoint Presentation</vt:lpstr>
      <vt:lpstr>PowerPoint Presentation</vt:lpstr>
    </vt:vector>
  </TitlesOfParts>
  <Company>Utility Muffin Research Kitchen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Dao Trung Kien</dc:creator>
  <cp:lastModifiedBy>Hai Hai</cp:lastModifiedBy>
  <cp:revision>2474</cp:revision>
  <cp:lastPrinted>2023-05-25T04:24:20Z</cp:lastPrinted>
  <dcterms:created xsi:type="dcterms:W3CDTF">2007-06-13T23:23:09Z</dcterms:created>
  <dcterms:modified xsi:type="dcterms:W3CDTF">2026-01-25T10:09:20Z</dcterms:modified>
</cp:coreProperties>
</file>