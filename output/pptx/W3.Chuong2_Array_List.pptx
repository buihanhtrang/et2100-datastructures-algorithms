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77"/>
  </p:notesMasterIdLst>
  <p:handoutMasterIdLst>
    <p:handoutMasterId r:id="rId78"/>
  </p:handoutMasterIdLst>
  <p:sldIdLst>
    <p:sldId id="297" r:id="rId2"/>
    <p:sldId id="391" r:id="rId3"/>
    <p:sldId id="392" r:id="rId4"/>
    <p:sldId id="256" r:id="rId5"/>
    <p:sldId id="335" r:id="rId6"/>
    <p:sldId id="336" r:id="rId7"/>
    <p:sldId id="337" r:id="rId8"/>
    <p:sldId id="360" r:id="rId9"/>
    <p:sldId id="338" r:id="rId10"/>
    <p:sldId id="340" r:id="rId11"/>
    <p:sldId id="341" r:id="rId12"/>
    <p:sldId id="342" r:id="rId13"/>
    <p:sldId id="343" r:id="rId14"/>
    <p:sldId id="361" r:id="rId15"/>
    <p:sldId id="344" r:id="rId16"/>
    <p:sldId id="346" r:id="rId17"/>
    <p:sldId id="347" r:id="rId18"/>
    <p:sldId id="348" r:id="rId19"/>
    <p:sldId id="349" r:id="rId20"/>
    <p:sldId id="350" r:id="rId21"/>
    <p:sldId id="362" r:id="rId22"/>
    <p:sldId id="353" r:id="rId23"/>
    <p:sldId id="355" r:id="rId24"/>
    <p:sldId id="356" r:id="rId25"/>
    <p:sldId id="357" r:id="rId26"/>
    <p:sldId id="363" r:id="rId27"/>
    <p:sldId id="364" r:id="rId28"/>
    <p:sldId id="366" r:id="rId29"/>
    <p:sldId id="367" r:id="rId30"/>
    <p:sldId id="368" r:id="rId31"/>
    <p:sldId id="369" r:id="rId32"/>
    <p:sldId id="370" r:id="rId33"/>
    <p:sldId id="371" r:id="rId34"/>
    <p:sldId id="372" r:id="rId35"/>
    <p:sldId id="373" r:id="rId36"/>
    <p:sldId id="374" r:id="rId37"/>
    <p:sldId id="375" r:id="rId38"/>
    <p:sldId id="376" r:id="rId39"/>
    <p:sldId id="378" r:id="rId40"/>
    <p:sldId id="379" r:id="rId41"/>
    <p:sldId id="380" r:id="rId42"/>
    <p:sldId id="381" r:id="rId43"/>
    <p:sldId id="400" r:id="rId44"/>
    <p:sldId id="382" r:id="rId45"/>
    <p:sldId id="401" r:id="rId46"/>
    <p:sldId id="383" r:id="rId47"/>
    <p:sldId id="402" r:id="rId48"/>
    <p:sldId id="403" r:id="rId49"/>
    <p:sldId id="384" r:id="rId50"/>
    <p:sldId id="385" r:id="rId51"/>
    <p:sldId id="386" r:id="rId52"/>
    <p:sldId id="387" r:id="rId53"/>
    <p:sldId id="388" r:id="rId54"/>
    <p:sldId id="393" r:id="rId55"/>
    <p:sldId id="389" r:id="rId56"/>
    <p:sldId id="394" r:id="rId57"/>
    <p:sldId id="398" r:id="rId58"/>
    <p:sldId id="395" r:id="rId59"/>
    <p:sldId id="396" r:id="rId60"/>
    <p:sldId id="399" r:id="rId61"/>
    <p:sldId id="404" r:id="rId62"/>
    <p:sldId id="405" r:id="rId63"/>
    <p:sldId id="406" r:id="rId64"/>
    <p:sldId id="407" r:id="rId65"/>
    <p:sldId id="408" r:id="rId66"/>
    <p:sldId id="409" r:id="rId67"/>
    <p:sldId id="410" r:id="rId68"/>
    <p:sldId id="411" r:id="rId69"/>
    <p:sldId id="412" r:id="rId70"/>
    <p:sldId id="413" r:id="rId71"/>
    <p:sldId id="414" r:id="rId72"/>
    <p:sldId id="415" r:id="rId73"/>
    <p:sldId id="416" r:id="rId74"/>
    <p:sldId id="417" r:id="rId75"/>
    <p:sldId id="397" r:id="rId76"/>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3232"/>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 d="100"/>
          <a:sy n="16" d="100"/>
        </p:scale>
        <p:origin x="576" y="30"/>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 Hai" userId="0a4b3da92c65de21" providerId="LiveId" clId="{E4E10A87-320C-47E3-940C-4AECEDEE5FB7}"/>
    <pc:docChg chg="addSld modSld">
      <pc:chgData name="Hai Hai" userId="0a4b3da92c65de21" providerId="LiveId" clId="{E4E10A87-320C-47E3-940C-4AECEDEE5FB7}" dt="2026-01-07T07:29:41.814" v="41" actId="680"/>
      <pc:docMkLst>
        <pc:docMk/>
      </pc:docMkLst>
      <pc:sldChg chg="new">
        <pc:chgData name="Hai Hai" userId="0a4b3da92c65de21" providerId="LiveId" clId="{E4E10A87-320C-47E3-940C-4AECEDEE5FB7}" dt="2026-01-07T07:29:29.740" v="28" actId="680"/>
        <pc:sldMkLst>
          <pc:docMk/>
          <pc:sldMk cId="3201793919" sldId="404"/>
        </pc:sldMkLst>
      </pc:sldChg>
      <pc:sldChg chg="new">
        <pc:chgData name="Hai Hai" userId="0a4b3da92c65de21" providerId="LiveId" clId="{E4E10A87-320C-47E3-940C-4AECEDEE5FB7}" dt="2026-01-07T07:29:29.881" v="29" actId="680"/>
        <pc:sldMkLst>
          <pc:docMk/>
          <pc:sldMk cId="3912303278" sldId="405"/>
        </pc:sldMkLst>
      </pc:sldChg>
      <pc:sldChg chg="new">
        <pc:chgData name="Hai Hai" userId="0a4b3da92c65de21" providerId="LiveId" clId="{E4E10A87-320C-47E3-940C-4AECEDEE5FB7}" dt="2026-01-07T07:29:32.747" v="30" actId="680"/>
        <pc:sldMkLst>
          <pc:docMk/>
          <pc:sldMk cId="2503331866" sldId="406"/>
        </pc:sldMkLst>
      </pc:sldChg>
      <pc:sldChg chg="new">
        <pc:chgData name="Hai Hai" userId="0a4b3da92c65de21" providerId="LiveId" clId="{E4E10A87-320C-47E3-940C-4AECEDEE5FB7}" dt="2026-01-07T07:29:32.924" v="31" actId="680"/>
        <pc:sldMkLst>
          <pc:docMk/>
          <pc:sldMk cId="1634288001" sldId="407"/>
        </pc:sldMkLst>
      </pc:sldChg>
      <pc:sldChg chg="new">
        <pc:chgData name="Hai Hai" userId="0a4b3da92c65de21" providerId="LiveId" clId="{E4E10A87-320C-47E3-940C-4AECEDEE5FB7}" dt="2026-01-07T07:29:40.075" v="32" actId="680"/>
        <pc:sldMkLst>
          <pc:docMk/>
          <pc:sldMk cId="3556886699" sldId="408"/>
        </pc:sldMkLst>
      </pc:sldChg>
      <pc:sldChg chg="new">
        <pc:chgData name="Hai Hai" userId="0a4b3da92c65de21" providerId="LiveId" clId="{E4E10A87-320C-47E3-940C-4AECEDEE5FB7}" dt="2026-01-07T07:29:40.263" v="33" actId="680"/>
        <pc:sldMkLst>
          <pc:docMk/>
          <pc:sldMk cId="1586571578" sldId="409"/>
        </pc:sldMkLst>
      </pc:sldChg>
      <pc:sldChg chg="new">
        <pc:chgData name="Hai Hai" userId="0a4b3da92c65de21" providerId="LiveId" clId="{E4E10A87-320C-47E3-940C-4AECEDEE5FB7}" dt="2026-01-07T07:29:40.441" v="34" actId="680"/>
        <pc:sldMkLst>
          <pc:docMk/>
          <pc:sldMk cId="772293201" sldId="410"/>
        </pc:sldMkLst>
      </pc:sldChg>
      <pc:sldChg chg="new">
        <pc:chgData name="Hai Hai" userId="0a4b3da92c65de21" providerId="LiveId" clId="{E4E10A87-320C-47E3-940C-4AECEDEE5FB7}" dt="2026-01-07T07:29:40.662" v="35" actId="680"/>
        <pc:sldMkLst>
          <pc:docMk/>
          <pc:sldMk cId="2109949705" sldId="411"/>
        </pc:sldMkLst>
      </pc:sldChg>
      <pc:sldChg chg="new">
        <pc:chgData name="Hai Hai" userId="0a4b3da92c65de21" providerId="LiveId" clId="{E4E10A87-320C-47E3-940C-4AECEDEE5FB7}" dt="2026-01-07T07:29:40.880" v="36" actId="680"/>
        <pc:sldMkLst>
          <pc:docMk/>
          <pc:sldMk cId="4176142623" sldId="412"/>
        </pc:sldMkLst>
      </pc:sldChg>
      <pc:sldChg chg="new">
        <pc:chgData name="Hai Hai" userId="0a4b3da92c65de21" providerId="LiveId" clId="{E4E10A87-320C-47E3-940C-4AECEDEE5FB7}" dt="2026-01-07T07:29:41.054" v="37" actId="680"/>
        <pc:sldMkLst>
          <pc:docMk/>
          <pc:sldMk cId="2663852272" sldId="413"/>
        </pc:sldMkLst>
      </pc:sldChg>
      <pc:sldChg chg="new">
        <pc:chgData name="Hai Hai" userId="0a4b3da92c65de21" providerId="LiveId" clId="{E4E10A87-320C-47E3-940C-4AECEDEE5FB7}" dt="2026-01-07T07:29:41.230" v="38" actId="680"/>
        <pc:sldMkLst>
          <pc:docMk/>
          <pc:sldMk cId="1938576611" sldId="414"/>
        </pc:sldMkLst>
      </pc:sldChg>
      <pc:sldChg chg="new">
        <pc:chgData name="Hai Hai" userId="0a4b3da92c65de21" providerId="LiveId" clId="{E4E10A87-320C-47E3-940C-4AECEDEE5FB7}" dt="2026-01-07T07:29:41.445" v="39" actId="680"/>
        <pc:sldMkLst>
          <pc:docMk/>
          <pc:sldMk cId="1675084621" sldId="415"/>
        </pc:sldMkLst>
      </pc:sldChg>
      <pc:sldChg chg="new">
        <pc:chgData name="Hai Hai" userId="0a4b3da92c65de21" providerId="LiveId" clId="{E4E10A87-320C-47E3-940C-4AECEDEE5FB7}" dt="2026-01-07T07:29:41.617" v="40" actId="680"/>
        <pc:sldMkLst>
          <pc:docMk/>
          <pc:sldMk cId="195544540" sldId="416"/>
        </pc:sldMkLst>
      </pc:sldChg>
      <pc:sldChg chg="new">
        <pc:chgData name="Hai Hai" userId="0a4b3da92c65de21" providerId="LiveId" clId="{E4E10A87-320C-47E3-940C-4AECEDEE5FB7}" dt="2026-01-07T07:29:41.814" v="41" actId="680"/>
        <pc:sldMkLst>
          <pc:docMk/>
          <pc:sldMk cId="4027384598" sldId="4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76363" cy="511731"/>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021296" y="2"/>
            <a:ext cx="3076363" cy="511731"/>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1/7/2026</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021296" y="9721106"/>
            <a:ext cx="3076363" cy="511731"/>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eeksforgeeks.org/queue-set-1introduction-and-array-implementation/"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vi-VN"/>
              <a:t>ARRAY: từ khoá chỉ cấu trúc mảng.</a:t>
            </a:r>
          </a:p>
          <a:p>
            <a:r>
              <a:rPr lang="vi-VN"/>
              <a:t></a:t>
            </a:r>
            <a:r>
              <a:rPr lang="en-US"/>
              <a:t> </a:t>
            </a:r>
            <a:r>
              <a:rPr lang="vi-VN"/>
              <a:t>name : tên của cấu trúc mảng. Mỗi cấu trúc mảng phải có một tên duy nhất. Tên</a:t>
            </a:r>
          </a:p>
          <a:p>
            <a:r>
              <a:rPr lang="vi-VN"/>
              <a:t>này sẽ được coi như một kiểu dữ liệu mới, một kiểu có cấu trúc.</a:t>
            </a:r>
          </a:p>
          <a:p>
            <a:r>
              <a:rPr lang="vi-VN"/>
              <a:t></a:t>
            </a:r>
            <a:r>
              <a:rPr lang="en-US"/>
              <a:t> </a:t>
            </a:r>
            <a:r>
              <a:rPr lang="vi-VN"/>
              <a:t>dimension : là một số nguyên dương chỉ số chiều của mảng.</a:t>
            </a:r>
          </a:p>
          <a:p>
            <a:r>
              <a:rPr lang="vi-VN"/>
              <a:t></a:t>
            </a:r>
            <a:r>
              <a:rPr lang="en-US"/>
              <a:t> </a:t>
            </a:r>
            <a:r>
              <a:rPr lang="vi-VN"/>
              <a:t>len1, len2 : là các số nguyên dương chỉ kích thước mỗi chiều tương ứng của</a:t>
            </a:r>
          </a:p>
          <a:p>
            <a:r>
              <a:rPr lang="vi-VN"/>
              <a:t>mảng (len1 là kích thước của chiều thứ nhất, len2 là kích thước của chiều thứ</a:t>
            </a:r>
          </a:p>
          <a:p>
            <a:r>
              <a:rPr lang="vi-VN"/>
              <a:t>hai,...). Số lượng tham số này bằng giá trị của dimension.</a:t>
            </a:r>
          </a:p>
          <a:p>
            <a:r>
              <a:rPr lang="vi-VN"/>
              <a:t></a:t>
            </a:r>
            <a:r>
              <a:rPr lang="en-US"/>
              <a:t> </a:t>
            </a:r>
            <a:r>
              <a:rPr lang="vi-VN"/>
              <a:t>datatype : kiểu dữ liệu cho mỗi phần tử của mảng. Nó là các kiểu dữ liệu cơ bản</a:t>
            </a:r>
          </a:p>
          <a:p>
            <a:r>
              <a:rPr lang="vi-VN"/>
              <a:t>(như integer, real, boolean, char, ...) hay các cấu trúc dữ liệu mới do người sử</a:t>
            </a:r>
          </a:p>
          <a:p>
            <a:r>
              <a:rPr lang="vi-VN"/>
              <a:t>dụng tạo ra.</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8</a:t>
            </a:fld>
            <a:endParaRPr lang="en-US"/>
          </a:p>
        </p:txBody>
      </p:sp>
    </p:spTree>
    <p:extLst>
      <p:ext uri="{BB962C8B-B14F-4D97-AF65-F5344CB8AC3E}">
        <p14:creationId xmlns:p14="http://schemas.microsoft.com/office/powerpoint/2010/main" val="1490404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Khởi tạo: là thao tác khởi tạo cấu trúc, xác định các đặc trưng của cấu trúc này.</a:t>
            </a:r>
          </a:p>
          <a:p>
            <a:r>
              <a:rPr lang="vi-VN"/>
              <a:t>Thao tác này luôn được tiến hành trước tiên. Trong C cũng như trong một số</a:t>
            </a:r>
          </a:p>
          <a:p>
            <a:r>
              <a:rPr lang="vi-VN"/>
              <a:t>ngôn ngữ lập trình khác, thao tác này tương ứng với việc khai báo hoặc định</a:t>
            </a:r>
          </a:p>
          <a:p>
            <a:r>
              <a:rPr lang="vi-VN"/>
              <a:t>nghĩa kiểu dữ liệu mới (nói chính xác hơn thì trong C thao tác này có thể được</a:t>
            </a:r>
          </a:p>
          <a:p>
            <a:r>
              <a:rPr lang="vi-VN"/>
              <a:t>tách thành hai thao tác riêng là định nghĩa kiểu và khai báo hoặc kết hợp trong</a:t>
            </a:r>
          </a:p>
          <a:p>
            <a:r>
              <a:rPr lang="vi-VN"/>
              <a:t>một thao tác khai báo).</a:t>
            </a:r>
          </a:p>
          <a:p>
            <a:r>
              <a:rPr lang="vi-VN"/>
              <a:t></a:t>
            </a:r>
          </a:p>
          <a:p>
            <a:r>
              <a:rPr lang="vi-VN"/>
              <a:t>Truy nhập vào các phần tử của mảng: truy nhập vào các phần tử của mảng để</a:t>
            </a:r>
          </a:p>
          <a:p>
            <a:r>
              <a:rPr lang="vi-VN"/>
              <a:t>sử dụng các phần tử này như: lấy giá trị, cập nhật giá trị các phần tử. Chúng ta</a:t>
            </a:r>
          </a:p>
          <a:p>
            <a:r>
              <a:rPr lang="vi-VN"/>
              <a:t>đều biết rằng, để truy nhập vào một phần tử của mảng, ta dùng một chỉ số42 gắn</a:t>
            </a:r>
          </a:p>
          <a:p>
            <a:r>
              <a:rPr lang="vi-VN"/>
              <a:t>với phần tử đó. Mỗi phần tử của mảng có một chỉ số duy nhất, có vai trò như</a:t>
            </a:r>
          </a:p>
          <a:p>
            <a:r>
              <a:rPr lang="vi-VN"/>
              <a:t>địa chỉ của phần tử trong mảng.</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36200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a:cs typeface="Times New Roman" panose="02020603050405020304" pitchFamily="18" charset="0"/>
              </a:rPr>
              <a:t>Do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có</a:t>
            </a:r>
            <a:r>
              <a:rPr lang="en-US" altLang="en-US" sz="1200">
                <a:cs typeface="Times New Roman" panose="02020603050405020304" pitchFamily="18" charset="0"/>
              </a:rPr>
              <a:t> </a:t>
            </a:r>
            <a:r>
              <a:rPr lang="en-US" altLang="en-US" sz="1200" err="1">
                <a:cs typeface="Times New Roman" panose="02020603050405020304" pitchFamily="18" charset="0"/>
              </a:rPr>
              <a:t>kích</a:t>
            </a:r>
            <a:r>
              <a:rPr lang="en-US" altLang="en-US" sz="1200">
                <a:cs typeface="Times New Roman" panose="02020603050405020304" pitchFamily="18" charset="0"/>
              </a:rPr>
              <a:t> </a:t>
            </a:r>
            <a:r>
              <a:rPr lang="en-US" altLang="en-US" sz="1200" err="1">
                <a:cs typeface="Times New Roman" panose="02020603050405020304" pitchFamily="18" charset="0"/>
              </a:rPr>
              <a:t>thước</a:t>
            </a:r>
            <a:r>
              <a:rPr lang="en-US" altLang="en-US" sz="1200">
                <a:cs typeface="Times New Roman" panose="02020603050405020304" pitchFamily="18" charset="0"/>
              </a:rPr>
              <a:t> </a:t>
            </a:r>
            <a:r>
              <a:rPr lang="en-US" altLang="en-US" sz="1200" err="1">
                <a:cs typeface="Times New Roman" panose="02020603050405020304" pitchFamily="18" charset="0"/>
              </a:rPr>
              <a:t>cố</a:t>
            </a:r>
            <a:r>
              <a:rPr lang="en-US" altLang="en-US" sz="1200">
                <a:cs typeface="Times New Roman" panose="02020603050405020304" pitchFamily="18" charset="0"/>
              </a:rPr>
              <a:t> </a:t>
            </a:r>
            <a:r>
              <a:rPr lang="en-US" altLang="en-US" sz="1200" err="1">
                <a:cs typeface="Times New Roman" panose="02020603050405020304" pitchFamily="18" charset="0"/>
              </a:rPr>
              <a:t>định</a:t>
            </a:r>
            <a:r>
              <a:rPr lang="en-US" altLang="en-US" sz="1200">
                <a:cs typeface="Times New Roman" panose="02020603050405020304" pitchFamily="18" charset="0"/>
              </a:rPr>
              <a:t>, </a:t>
            </a:r>
            <a:r>
              <a:rPr lang="en-US" altLang="en-US" sz="1200" err="1">
                <a:cs typeface="Times New Roman" panose="02020603050405020304" pitchFamily="18" charset="0"/>
              </a:rPr>
              <a:t>gồm</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phần</a:t>
            </a:r>
            <a:r>
              <a:rPr lang="en-US" altLang="en-US" sz="1200">
                <a:cs typeface="Times New Roman" panose="02020603050405020304" pitchFamily="18" charset="0"/>
              </a:rPr>
              <a:t> </a:t>
            </a:r>
            <a:r>
              <a:rPr lang="en-US" altLang="en-US" sz="1200" err="1">
                <a:cs typeface="Times New Roman" panose="02020603050405020304" pitchFamily="18" charset="0"/>
              </a:rPr>
              <a:t>tử</a:t>
            </a:r>
            <a:r>
              <a:rPr lang="en-US" altLang="en-US" sz="1200">
                <a:cs typeface="Times New Roman" panose="02020603050405020304" pitchFamily="18" charset="0"/>
              </a:rPr>
              <a:t> </a:t>
            </a:r>
            <a:r>
              <a:rPr lang="en-US" altLang="en-US" sz="1200" err="1">
                <a:cs typeface="Times New Roman" panose="02020603050405020304" pitchFamily="18" charset="0"/>
              </a:rPr>
              <a:t>có</a:t>
            </a:r>
            <a:r>
              <a:rPr lang="en-US" altLang="en-US" sz="1200">
                <a:cs typeface="Times New Roman" panose="02020603050405020304" pitchFamily="18" charset="0"/>
              </a:rPr>
              <a:t> </a:t>
            </a:r>
            <a:r>
              <a:rPr lang="en-US" altLang="en-US" sz="1200" err="1">
                <a:cs typeface="Times New Roman" panose="02020603050405020304" pitchFamily="18" charset="0"/>
              </a:rPr>
              <a:t>cùng</a:t>
            </a:r>
            <a:r>
              <a:rPr lang="en-US" altLang="en-US" sz="1200">
                <a:cs typeface="Times New Roman" panose="02020603050405020304" pitchFamily="18" charset="0"/>
              </a:rPr>
              <a:t> </a:t>
            </a:r>
            <a:r>
              <a:rPr lang="en-US" altLang="en-US" sz="1200" err="1">
                <a:cs typeface="Times New Roman" panose="02020603050405020304" pitchFamily="18" charset="0"/>
              </a:rPr>
              <a:t>kiểu</a:t>
            </a:r>
            <a:r>
              <a:rPr lang="en-US" altLang="en-US" sz="1200">
                <a:cs typeface="Times New Roman" panose="02020603050405020304" pitchFamily="18" charset="0"/>
              </a:rPr>
              <a:t> </a:t>
            </a:r>
            <a:r>
              <a:rPr lang="en-US" altLang="en-US" sz="1200" err="1">
                <a:cs typeface="Times New Roman" panose="02020603050405020304" pitchFamily="18" charset="0"/>
              </a:rPr>
              <a:t>dữ</a:t>
            </a:r>
            <a:r>
              <a:rPr lang="en-US" altLang="en-US" sz="1200">
                <a:cs typeface="Times New Roman" panose="02020603050405020304" pitchFamily="18" charset="0"/>
              </a:rPr>
              <a:t> </a:t>
            </a:r>
            <a:r>
              <a:rPr lang="en-US" altLang="en-US" sz="1200" err="1">
                <a:cs typeface="Times New Roman" panose="02020603050405020304" pitchFamily="18" charset="0"/>
              </a:rPr>
              <a:t>liệu</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13</a:t>
            </a:fld>
            <a:endParaRPr lang="en-US"/>
          </a:p>
        </p:txBody>
      </p:sp>
    </p:spTree>
    <p:extLst>
      <p:ext uri="{BB962C8B-B14F-4D97-AF65-F5344CB8AC3E}">
        <p14:creationId xmlns:p14="http://schemas.microsoft.com/office/powerpoint/2010/main" val="3513566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tại sao lại có hai phương pháp này? </a:t>
            </a:r>
            <a:endParaRPr lang="en-US"/>
          </a:p>
          <a:p>
            <a:r>
              <a:rPr lang="vi-VN"/>
              <a:t>Việc tìm hiểu kỹ hơn về kỹ thuật</a:t>
            </a:r>
            <a:r>
              <a:rPr lang="en-US"/>
              <a:t> </a:t>
            </a:r>
            <a:r>
              <a:rPr lang="vi-VN"/>
              <a:t>truy nhập vào các phần tử của mảng của hai phương pháp này sẽ giúp chúng ta giải</a:t>
            </a:r>
            <a:r>
              <a:rPr lang="en-US"/>
              <a:t> </a:t>
            </a:r>
            <a:r>
              <a:rPr lang="vi-VN"/>
              <a:t>đáp được các thắc mắc trên.</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19</a:t>
            </a:fld>
            <a:endParaRPr lang="en-US"/>
          </a:p>
        </p:txBody>
      </p:sp>
    </p:spTree>
    <p:extLst>
      <p:ext uri="{BB962C8B-B14F-4D97-AF65-F5344CB8AC3E}">
        <p14:creationId xmlns:p14="http://schemas.microsoft.com/office/powerpoint/2010/main" val="2575155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DIV là phép chia nguyên (chính phép toán “/” trong C), còn MOD</a:t>
            </a:r>
            <a:r>
              <a:rPr lang="en-US"/>
              <a:t> </a:t>
            </a:r>
            <a:r>
              <a:rPr lang="vi-VN"/>
              <a:t>là phép chia lấy phần dư (là phép toán “%” trong C)</a:t>
            </a:r>
            <a:endParaRPr lang="en-US"/>
          </a:p>
          <a:p>
            <a:r>
              <a:rPr lang="en-US" altLang="en-US" err="1">
                <a:latin typeface="Courier New" panose="02070309020205020404" pitchFamily="49" charset="0"/>
                <a:cs typeface="Courier New" panose="02070309020205020404" pitchFamily="49" charset="0"/>
              </a:rPr>
              <a:t>i</a:t>
            </a:r>
            <a:r>
              <a:rPr lang="en-US" altLang="en-US">
                <a:latin typeface="Courier New" panose="02070309020205020404" pitchFamily="49" charset="0"/>
                <a:cs typeface="Courier New" panose="02070309020205020404" pitchFamily="49" charset="0"/>
              </a:rPr>
              <a:t> = (z - 1) DIV N + 1  // </a:t>
            </a:r>
            <a:r>
              <a:rPr lang="en-US" altLang="en-US" err="1">
                <a:latin typeface="Courier New" panose="02070309020205020404" pitchFamily="49" charset="0"/>
                <a:cs typeface="Courier New" panose="02070309020205020404" pitchFamily="49" charset="0"/>
              </a:rPr>
              <a:t>dùng</a:t>
            </a:r>
            <a:r>
              <a:rPr lang="en-US" altLang="en-US" baseline="0">
                <a:latin typeface="Courier New" panose="02070309020205020404" pitchFamily="49" charset="0"/>
                <a:cs typeface="Courier New" panose="02070309020205020404" pitchFamily="49" charset="0"/>
              </a:rPr>
              <a:t> -1 </a:t>
            </a:r>
            <a:r>
              <a:rPr lang="en-US" altLang="en-US" baseline="0" err="1">
                <a:latin typeface="Courier New" panose="02070309020205020404" pitchFamily="49" charset="0"/>
                <a:cs typeface="Courier New" panose="02070309020205020404" pitchFamily="49" charset="0"/>
              </a:rPr>
              <a:t>thì</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kq</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mới</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đúng</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cho</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vị</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trí</a:t>
            </a:r>
            <a:r>
              <a:rPr lang="en-US" altLang="en-US" baseline="0">
                <a:latin typeface="Courier New" panose="02070309020205020404" pitchFamily="49" charset="0"/>
                <a:cs typeface="Courier New" panose="02070309020205020404" pitchFamily="49" charset="0"/>
              </a:rPr>
              <a:t> chia </a:t>
            </a:r>
            <a:r>
              <a:rPr lang="en-US" altLang="en-US" baseline="0" err="1">
                <a:latin typeface="Courier New" panose="02070309020205020404" pitchFamily="49" charset="0"/>
                <a:cs typeface="Courier New" panose="02070309020205020404" pitchFamily="49" charset="0"/>
              </a:rPr>
              <a:t>hết</a:t>
            </a:r>
            <a:r>
              <a:rPr lang="en-US" altLang="en-US" baseline="0">
                <a:latin typeface="Courier New" panose="02070309020205020404" pitchFamily="49" charset="0"/>
                <a:cs typeface="Courier New" panose="02070309020205020404" pitchFamily="49" charset="0"/>
              </a:rPr>
              <a:t>. , </a:t>
            </a:r>
            <a:r>
              <a:rPr lang="en-US" altLang="en-US" baseline="0" err="1">
                <a:latin typeface="Courier New" panose="02070309020205020404" pitchFamily="49" charset="0"/>
                <a:cs typeface="Courier New" panose="02070309020205020404" pitchFamily="49" charset="0"/>
              </a:rPr>
              <a:t>các</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vị</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trí</a:t>
            </a:r>
            <a:r>
              <a:rPr lang="en-US" altLang="en-US" baseline="0">
                <a:latin typeface="Courier New" panose="02070309020205020404" pitchFamily="49" charset="0"/>
                <a:cs typeface="Courier New" panose="02070309020205020404" pitchFamily="49" charset="0"/>
              </a:rPr>
              <a:t>  &lt; N </a:t>
            </a:r>
            <a:r>
              <a:rPr lang="en-US" altLang="en-US" baseline="0" err="1">
                <a:latin typeface="Courier New" panose="02070309020205020404" pitchFamily="49" charset="0"/>
                <a:cs typeface="Courier New" panose="02070309020205020404" pitchFamily="49" charset="0"/>
              </a:rPr>
              <a:t>chỉ</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số</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là</a:t>
            </a:r>
            <a:r>
              <a:rPr lang="en-US" altLang="en-US" baseline="0">
                <a:latin typeface="Courier New" panose="02070309020205020404" pitchFamily="49" charset="0"/>
                <a:cs typeface="Courier New" panose="02070309020205020404" pitchFamily="49" charset="0"/>
              </a:rPr>
              <a:t> 1, </a:t>
            </a:r>
            <a:r>
              <a:rPr lang="en-US" altLang="en-US" baseline="0" err="1">
                <a:latin typeface="Courier New" panose="02070309020205020404" pitchFamily="49" charset="0"/>
                <a:cs typeface="Courier New" panose="02070309020205020404" pitchFamily="49" charset="0"/>
              </a:rPr>
              <a:t>ko</a:t>
            </a:r>
            <a:r>
              <a:rPr lang="en-US" altLang="en-US" baseline="0">
                <a:latin typeface="Courier New" panose="02070309020205020404" pitchFamily="49" charset="0"/>
                <a:cs typeface="Courier New" panose="02070309020205020404" pitchFamily="49" charset="0"/>
              </a:rPr>
              <a:t>  </a:t>
            </a:r>
            <a:r>
              <a:rPr lang="en-US" altLang="en-US" baseline="0" err="1">
                <a:latin typeface="Courier New" panose="02070309020205020404" pitchFamily="49" charset="0"/>
                <a:cs typeface="Courier New" panose="02070309020205020404" pitchFamily="49" charset="0"/>
              </a:rPr>
              <a:t>phải</a:t>
            </a:r>
            <a:r>
              <a:rPr lang="en-US" altLang="en-US" baseline="0">
                <a:latin typeface="Courier New" panose="02070309020205020404" pitchFamily="49" charset="0"/>
                <a:cs typeface="Courier New" panose="02070309020205020404" pitchFamily="49" charset="0"/>
              </a:rPr>
              <a:t> 0</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3229794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DIV là phép chia nguyên (chính phép toán “/” trong C), còn MOD</a:t>
            </a:r>
            <a:r>
              <a:rPr lang="en-US"/>
              <a:t> </a:t>
            </a:r>
            <a:r>
              <a:rPr lang="vi-VN"/>
              <a:t>là phép chia lấy phần dư (là phép toán “%” trong C)</a:t>
            </a:r>
            <a:endParaRPr lang="en-US"/>
          </a:p>
          <a:p>
            <a:endParaRPr lang="en-US"/>
          </a:p>
          <a:p>
            <a:r>
              <a:rPr lang="vi-VN"/>
              <a:t>Cài đặt mảng nhiều hơn hai chiều</a:t>
            </a:r>
          </a:p>
          <a:p>
            <a:r>
              <a:rPr lang="vi-VN"/>
              <a:t>Đối với mảng nhiều hơn hai chiều, ta nhớ lại cách chuyển đổi tương đương trong</a:t>
            </a:r>
          </a:p>
          <a:p>
            <a:r>
              <a:rPr lang="vi-VN"/>
              <a:t>(2), là cách chuyển đổi từ các mảng nhiều chiều sang các mảng ít chiều hơn. Cụ thể,</a:t>
            </a:r>
          </a:p>
          <a:p>
            <a:r>
              <a:rPr lang="vi-VN"/>
              <a:t>mảng 3 chiều là một mảng một chiều của các mảng hai chiều. Mà cách lưu trữ mảng</a:t>
            </a:r>
          </a:p>
          <a:p>
            <a:r>
              <a:rPr lang="vi-VN"/>
              <a:t>một chiều và mảng hai chiều ta đã tìm hiểu ở phần trên, nên việc lưu trữ mảng ba</a:t>
            </a:r>
          </a:p>
          <a:p>
            <a:r>
              <a:rPr lang="vi-VN"/>
              <a:t>chiều không gặp khó khăn gì. Từ cách cài đặt được mảng ba chiều, chúng ta dễ</a:t>
            </a:r>
          </a:p>
          <a:p>
            <a:r>
              <a:rPr lang="vi-VN"/>
              <a:t>dang suy ra cách cài đặt các mảng nhiều chiều hơn.</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21</a:t>
            </a:fld>
            <a:endParaRPr lang="en-US"/>
          </a:p>
        </p:txBody>
      </p:sp>
    </p:spTree>
    <p:extLst>
      <p:ext uri="{BB962C8B-B14F-4D97-AF65-F5344CB8AC3E}">
        <p14:creationId xmlns:p14="http://schemas.microsoft.com/office/powerpoint/2010/main" val="2153526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err="1">
                <a:cs typeface="Times New Roman" panose="02020603050405020304" pitchFamily="18" charset="0"/>
              </a:rPr>
              <a:t>Hàm</a:t>
            </a:r>
            <a:r>
              <a:rPr lang="en-US" altLang="en-US">
                <a:cs typeface="Times New Roman" panose="02020603050405020304" pitchFamily="18" charset="0"/>
              </a:rPr>
              <a:t> </a:t>
            </a:r>
            <a:r>
              <a:rPr lang="en-US" altLang="en-US" err="1">
                <a:cs typeface="Times New Roman" panose="02020603050405020304" pitchFamily="18" charset="0"/>
              </a:rPr>
              <a:t>địa</a:t>
            </a:r>
            <a:r>
              <a:rPr lang="en-US" altLang="en-US">
                <a:cs typeface="Times New Roman" panose="02020603050405020304" pitchFamily="18" charset="0"/>
              </a:rPr>
              <a:t> </a:t>
            </a:r>
            <a:r>
              <a:rPr lang="en-US" altLang="en-US" err="1">
                <a:cs typeface="Times New Roman" panose="02020603050405020304" pitchFamily="18" charset="0"/>
              </a:rPr>
              <a:t>chỉ</a:t>
            </a:r>
            <a:r>
              <a:rPr lang="en-US" altLang="en-US">
                <a:cs typeface="Times New Roman" panose="02020603050405020304" pitchFamily="18" charset="0"/>
              </a:rPr>
              <a:t>: </a:t>
            </a:r>
            <a:r>
              <a:rPr lang="en-US" altLang="en-US" err="1">
                <a:cs typeface="Times New Roman" panose="02020603050405020304" pitchFamily="18" charset="0"/>
              </a:rPr>
              <a:t>phụ</a:t>
            </a:r>
            <a:r>
              <a:rPr lang="en-US" altLang="en-US">
                <a:cs typeface="Times New Roman" panose="02020603050405020304" pitchFamily="18" charset="0"/>
              </a:rPr>
              <a:t> </a:t>
            </a:r>
            <a:r>
              <a:rPr lang="en-US" altLang="en-US" err="1">
                <a:cs typeface="Times New Roman" panose="02020603050405020304" pitchFamily="18" charset="0"/>
              </a:rPr>
              <a:t>thuộc</a:t>
            </a:r>
            <a:r>
              <a:rPr lang="en-US" altLang="en-US">
                <a:cs typeface="Times New Roman" panose="02020603050405020304" pitchFamily="18" charset="0"/>
              </a:rPr>
              <a:t> </a:t>
            </a:r>
            <a:r>
              <a:rPr lang="en-US" altLang="en-US" err="1">
                <a:cs typeface="Times New Roman" panose="02020603050405020304" pitchFamily="18" charset="0"/>
              </a:rPr>
              <a:t>vào</a:t>
            </a:r>
            <a:r>
              <a:rPr lang="en-US" altLang="en-US">
                <a:cs typeface="Times New Roman" panose="02020603050405020304" pitchFamily="18" charset="0"/>
              </a:rPr>
              <a:t> </a:t>
            </a:r>
            <a:r>
              <a:rPr lang="en-US" altLang="en-US" err="1">
                <a:cs typeface="Times New Roman" panose="02020603050405020304" pitchFamily="18" charset="0"/>
              </a:rPr>
              <a:t>các</a:t>
            </a:r>
            <a:r>
              <a:rPr lang="en-US" altLang="en-US">
                <a:cs typeface="Times New Roman" panose="02020603050405020304" pitchFamily="18" charset="0"/>
              </a:rPr>
              <a:t> </a:t>
            </a:r>
            <a:r>
              <a:rPr lang="en-US" altLang="en-US" err="1">
                <a:cs typeface="Times New Roman" panose="02020603050405020304" pitchFamily="18" charset="0"/>
              </a:rPr>
              <a:t>đặc</a:t>
            </a:r>
            <a:r>
              <a:rPr lang="en-US" altLang="en-US">
                <a:cs typeface="Times New Roman" panose="02020603050405020304" pitchFamily="18" charset="0"/>
              </a:rPr>
              <a:t> </a:t>
            </a:r>
            <a:r>
              <a:rPr lang="en-US" altLang="en-US" err="1">
                <a:cs typeface="Times New Roman" panose="02020603050405020304" pitchFamily="18" charset="0"/>
              </a:rPr>
              <a:t>trưng</a:t>
            </a:r>
            <a:r>
              <a:rPr lang="en-US" altLang="en-US">
                <a:cs typeface="Times New Roman" panose="02020603050405020304" pitchFamily="18" charset="0"/>
              </a:rPr>
              <a:t> </a:t>
            </a:r>
            <a:r>
              <a:rPr lang="en-US" altLang="en-US" err="1">
                <a:cs typeface="Times New Roman" panose="02020603050405020304" pitchFamily="18" charset="0"/>
              </a:rPr>
              <a:t>của</a:t>
            </a:r>
            <a:r>
              <a:rPr lang="en-US" altLang="en-US">
                <a:cs typeface="Times New Roman" panose="02020603050405020304" pitchFamily="18" charset="0"/>
              </a:rPr>
              <a:t> </a:t>
            </a:r>
            <a:r>
              <a:rPr lang="en-US" altLang="en-US" err="1">
                <a:cs typeface="Times New Roman" panose="02020603050405020304" pitchFamily="18" charset="0"/>
              </a:rPr>
              <a:t>cấu</a:t>
            </a:r>
            <a:r>
              <a:rPr lang="en-US" altLang="en-US">
                <a:cs typeface="Times New Roman" panose="02020603050405020304" pitchFamily="18" charset="0"/>
              </a:rPr>
              <a:t> </a:t>
            </a:r>
            <a:r>
              <a:rPr lang="en-US" altLang="en-US" err="1">
                <a:cs typeface="Times New Roman" panose="02020603050405020304" pitchFamily="18" charset="0"/>
              </a:rPr>
              <a:t>trúc</a:t>
            </a:r>
            <a:r>
              <a:rPr lang="en-US" altLang="en-US">
                <a:cs typeface="Times New Roman" panose="02020603050405020304" pitchFamily="18" charset="0"/>
              </a:rPr>
              <a:t> </a:t>
            </a:r>
            <a:r>
              <a:rPr lang="en-US" altLang="en-US" err="1">
                <a:cs typeface="Times New Roman" panose="02020603050405020304" pitchFamily="18" charset="0"/>
              </a:rPr>
              <a:t>mảng</a:t>
            </a:r>
            <a:r>
              <a:rPr lang="en-US" altLang="en-US">
                <a:cs typeface="Times New Roman" panose="02020603050405020304" pitchFamily="18" charset="0"/>
              </a:rPr>
              <a:t> </a:t>
            </a:r>
            <a:r>
              <a:rPr lang="en-US" altLang="en-US" err="1">
                <a:cs typeface="Times New Roman" panose="02020603050405020304" pitchFamily="18" charset="0"/>
              </a:rPr>
              <a:t>như</a:t>
            </a:r>
            <a:r>
              <a:rPr lang="en-US" altLang="en-US">
                <a:cs typeface="Times New Roman" panose="02020603050405020304" pitchFamily="18" charset="0"/>
              </a:rPr>
              <a:t> </a:t>
            </a:r>
            <a:r>
              <a:rPr lang="en-US" altLang="en-US" err="1">
                <a:cs typeface="Times New Roman" panose="02020603050405020304" pitchFamily="18" charset="0"/>
              </a:rPr>
              <a:t>số</a:t>
            </a:r>
            <a:r>
              <a:rPr lang="en-US" altLang="en-US">
                <a:cs typeface="Times New Roman" panose="02020603050405020304" pitchFamily="18" charset="0"/>
              </a:rPr>
              <a:t> </a:t>
            </a:r>
            <a:r>
              <a:rPr lang="en-US" altLang="en-US" err="1">
                <a:cs typeface="Times New Roman" panose="02020603050405020304" pitchFamily="18" charset="0"/>
              </a:rPr>
              <a:t>chiều</a:t>
            </a:r>
            <a:r>
              <a:rPr lang="en-US" altLang="en-US">
                <a:cs typeface="Times New Roman" panose="02020603050405020304" pitchFamily="18" charset="0"/>
              </a:rPr>
              <a:t>, </a:t>
            </a:r>
            <a:r>
              <a:rPr lang="en-US" altLang="en-US" err="1">
                <a:cs typeface="Times New Roman" panose="02020603050405020304" pitchFamily="18" charset="0"/>
              </a:rPr>
              <a:t>kích</a:t>
            </a:r>
            <a:r>
              <a:rPr lang="en-US" altLang="en-US">
                <a:cs typeface="Times New Roman" panose="02020603050405020304" pitchFamily="18" charset="0"/>
              </a:rPr>
              <a:t> </a:t>
            </a:r>
            <a:r>
              <a:rPr lang="en-US" altLang="en-US" err="1">
                <a:cs typeface="Times New Roman" panose="02020603050405020304" pitchFamily="18" charset="0"/>
              </a:rPr>
              <a:t>thước</a:t>
            </a:r>
            <a:r>
              <a:rPr lang="en-US" altLang="en-US">
                <a:cs typeface="Times New Roman" panose="02020603050405020304" pitchFamily="18" charset="0"/>
              </a:rPr>
              <a:t> </a:t>
            </a:r>
            <a:r>
              <a:rPr lang="en-US" altLang="en-US" err="1">
                <a:cs typeface="Times New Roman" panose="02020603050405020304" pitchFamily="18" charset="0"/>
              </a:rPr>
              <a:t>mảng</a:t>
            </a:r>
            <a:r>
              <a:rPr lang="en-US" altLang="en-US">
                <a:cs typeface="Times New Roman" panose="02020603050405020304" pitchFamily="18" charset="0"/>
              </a:rPr>
              <a:t>, </a:t>
            </a:r>
            <a:r>
              <a:rPr lang="en-US" altLang="en-US" err="1">
                <a:cs typeface="Times New Roman" panose="02020603050405020304" pitchFamily="18" charset="0"/>
              </a:rPr>
              <a:t>kiểu</a:t>
            </a:r>
            <a:r>
              <a:rPr lang="en-US" altLang="en-US">
                <a:cs typeface="Times New Roman" panose="02020603050405020304" pitchFamily="18" charset="0"/>
              </a:rPr>
              <a:t> </a:t>
            </a:r>
            <a:r>
              <a:rPr lang="en-US" altLang="en-US" err="1">
                <a:cs typeface="Times New Roman" panose="02020603050405020304" pitchFamily="18" charset="0"/>
              </a:rPr>
              <a:t>dữ</a:t>
            </a:r>
            <a:r>
              <a:rPr lang="en-US" altLang="en-US">
                <a:cs typeface="Times New Roman" panose="02020603050405020304" pitchFamily="18" charset="0"/>
              </a:rPr>
              <a:t> </a:t>
            </a:r>
            <a:r>
              <a:rPr lang="en-US" altLang="en-US" err="1">
                <a:cs typeface="Times New Roman" panose="02020603050405020304" pitchFamily="18" charset="0"/>
              </a:rPr>
              <a:t>liệu</a:t>
            </a:r>
            <a:r>
              <a:rPr lang="en-US" altLang="en-US">
                <a:cs typeface="Times New Roman" panose="02020603050405020304" pitchFamily="18" charset="0"/>
              </a:rPr>
              <a:t> </a:t>
            </a:r>
            <a:r>
              <a:rPr lang="en-US" altLang="en-US" err="1">
                <a:cs typeface="Times New Roman" panose="02020603050405020304" pitchFamily="18" charset="0"/>
              </a:rPr>
              <a:t>của</a:t>
            </a:r>
            <a:r>
              <a:rPr lang="en-US" altLang="en-US">
                <a:cs typeface="Times New Roman" panose="02020603050405020304" pitchFamily="18" charset="0"/>
              </a:rPr>
              <a:t> </a:t>
            </a:r>
            <a:r>
              <a:rPr lang="en-US" altLang="en-US" err="1">
                <a:cs typeface="Times New Roman" panose="02020603050405020304" pitchFamily="18" charset="0"/>
              </a:rPr>
              <a:t>các</a:t>
            </a:r>
            <a:r>
              <a:rPr lang="en-US" altLang="en-US">
                <a:cs typeface="Times New Roman" panose="02020603050405020304" pitchFamily="18" charset="0"/>
              </a:rPr>
              <a:t> </a:t>
            </a:r>
            <a:r>
              <a:rPr lang="en-US" altLang="en-US" err="1">
                <a:cs typeface="Times New Roman" panose="02020603050405020304" pitchFamily="18" charset="0"/>
              </a:rPr>
              <a:t>phần</a:t>
            </a:r>
            <a:r>
              <a:rPr lang="en-US" altLang="en-US">
                <a:cs typeface="Times New Roman" panose="02020603050405020304" pitchFamily="18" charset="0"/>
              </a:rPr>
              <a:t> </a:t>
            </a:r>
            <a:r>
              <a:rPr lang="en-US" altLang="en-US" err="1">
                <a:cs typeface="Times New Roman" panose="02020603050405020304" pitchFamily="18" charset="0"/>
              </a:rPr>
              <a:t>tử</a:t>
            </a:r>
            <a:r>
              <a:rPr lang="en-US" altLang="en-US">
                <a:cs typeface="Times New Roman" panose="02020603050405020304" pitchFamily="18" charset="0"/>
              </a:rPr>
              <a:t>, </a:t>
            </a:r>
            <a:r>
              <a:rPr lang="en-US" altLang="en-US" err="1">
                <a:cs typeface="Times New Roman" panose="02020603050405020304" pitchFamily="18" charset="0"/>
              </a:rPr>
              <a:t>nhưng</a:t>
            </a:r>
            <a:r>
              <a:rPr lang="en-US" altLang="en-US">
                <a:cs typeface="Times New Roman" panose="02020603050405020304" pitchFamily="18" charset="0"/>
              </a:rPr>
              <a:t> </a:t>
            </a:r>
            <a:r>
              <a:rPr lang="en-US" altLang="en-US" err="1">
                <a:cs typeface="Times New Roman" panose="02020603050405020304" pitchFamily="18" charset="0"/>
              </a:rPr>
              <a:t>đặc</a:t>
            </a:r>
            <a:r>
              <a:rPr lang="en-US" altLang="en-US">
                <a:cs typeface="Times New Roman" panose="02020603050405020304" pitchFamily="18" charset="0"/>
              </a:rPr>
              <a:t> </a:t>
            </a:r>
            <a:r>
              <a:rPr lang="en-US" altLang="en-US" err="1">
                <a:cs typeface="Times New Roman" panose="02020603050405020304" pitchFamily="18" charset="0"/>
              </a:rPr>
              <a:t>trưng</a:t>
            </a:r>
            <a:r>
              <a:rPr lang="en-US" altLang="en-US">
                <a:cs typeface="Times New Roman" panose="02020603050405020304" pitchFamily="18" charset="0"/>
              </a:rPr>
              <a:t> </a:t>
            </a:r>
            <a:r>
              <a:rPr lang="en-US" altLang="en-US" err="1">
                <a:cs typeface="Times New Roman" panose="02020603050405020304" pitchFamily="18" charset="0"/>
              </a:rPr>
              <a:t>số</a:t>
            </a:r>
            <a:r>
              <a:rPr lang="en-US" altLang="en-US">
                <a:cs typeface="Times New Roman" panose="02020603050405020304" pitchFamily="18" charset="0"/>
              </a:rPr>
              <a:t> </a:t>
            </a:r>
            <a:r>
              <a:rPr lang="en-US" altLang="en-US" err="1">
                <a:cs typeface="Times New Roman" panose="02020603050405020304" pitchFamily="18" charset="0"/>
              </a:rPr>
              <a:t>chiều</a:t>
            </a:r>
            <a:r>
              <a:rPr lang="en-US" altLang="en-US">
                <a:cs typeface="Times New Roman" panose="02020603050405020304" pitchFamily="18" charset="0"/>
              </a:rPr>
              <a:t> </a:t>
            </a:r>
            <a:r>
              <a:rPr lang="en-US" altLang="en-US" err="1">
                <a:cs typeface="Times New Roman" panose="02020603050405020304" pitchFamily="18" charset="0"/>
              </a:rPr>
              <a:t>là</a:t>
            </a:r>
            <a:r>
              <a:rPr lang="en-US" altLang="en-US">
                <a:cs typeface="Times New Roman" panose="02020603050405020304" pitchFamily="18" charset="0"/>
              </a:rPr>
              <a:t> </a:t>
            </a:r>
            <a:r>
              <a:rPr lang="en-US" altLang="en-US" err="1">
                <a:cs typeface="Times New Roman" panose="02020603050405020304" pitchFamily="18" charset="0"/>
              </a:rPr>
              <a:t>cơ</a:t>
            </a:r>
            <a:r>
              <a:rPr lang="en-US" altLang="en-US">
                <a:cs typeface="Times New Roman" panose="02020603050405020304" pitchFamily="18" charset="0"/>
              </a:rPr>
              <a:t> </a:t>
            </a:r>
            <a:r>
              <a:rPr lang="en-US" altLang="en-US" err="1">
                <a:cs typeface="Times New Roman" panose="02020603050405020304" pitchFamily="18" charset="0"/>
              </a:rPr>
              <a:t>bản</a:t>
            </a:r>
            <a:r>
              <a:rPr lang="en-US" altLang="en-US">
                <a:cs typeface="Times New Roman" panose="02020603050405020304" pitchFamily="18" charset="0"/>
              </a:rPr>
              <a:t> </a:t>
            </a:r>
            <a:r>
              <a:rPr lang="en-US" altLang="en-US" err="1">
                <a:cs typeface="Times New Roman" panose="02020603050405020304" pitchFamily="18" charset="0"/>
              </a:rPr>
              <a:t>nhất</a:t>
            </a:r>
            <a:r>
              <a:rPr lang="en-US" altLang="en-US">
                <a:cs typeface="Times New Roman" panose="02020603050405020304" pitchFamily="18" charset="0"/>
              </a:rPr>
              <a:t>. </a:t>
            </a:r>
            <a:r>
              <a:rPr lang="en-US" altLang="en-US" err="1">
                <a:cs typeface="Times New Roman" panose="02020603050405020304" pitchFamily="18" charset="0"/>
              </a:rPr>
              <a:t>Chúng</a:t>
            </a:r>
            <a:r>
              <a:rPr lang="en-US" altLang="en-US">
                <a:cs typeface="Times New Roman" panose="02020603050405020304" pitchFamily="18" charset="0"/>
              </a:rPr>
              <a:t> ta </a:t>
            </a:r>
            <a:r>
              <a:rPr lang="en-US" altLang="en-US" err="1">
                <a:cs typeface="Times New Roman" panose="02020603050405020304" pitchFamily="18" charset="0"/>
              </a:rPr>
              <a:t>sẽ</a:t>
            </a:r>
            <a:r>
              <a:rPr lang="en-US" altLang="en-US">
                <a:cs typeface="Times New Roman" panose="02020603050405020304" pitchFamily="18" charset="0"/>
              </a:rPr>
              <a:t> </a:t>
            </a:r>
            <a:r>
              <a:rPr lang="en-US" altLang="en-US" err="1">
                <a:cs typeface="Times New Roman" panose="02020603050405020304" pitchFamily="18" charset="0"/>
              </a:rPr>
              <a:t>thấy</a:t>
            </a:r>
            <a:r>
              <a:rPr lang="en-US" altLang="en-US">
                <a:cs typeface="Times New Roman" panose="02020603050405020304" pitchFamily="18" charset="0"/>
              </a:rPr>
              <a:t> </a:t>
            </a:r>
            <a:r>
              <a:rPr lang="en-US" altLang="en-US" err="1">
                <a:cs typeface="Times New Roman" panose="02020603050405020304" pitchFamily="18" charset="0"/>
              </a:rPr>
              <a:t>rõ</a:t>
            </a:r>
            <a:r>
              <a:rPr lang="en-US" altLang="en-US">
                <a:cs typeface="Times New Roman" panose="02020603050405020304" pitchFamily="18" charset="0"/>
              </a:rPr>
              <a:t> </a:t>
            </a:r>
            <a:r>
              <a:rPr lang="en-US" altLang="en-US" err="1">
                <a:cs typeface="Times New Roman" panose="02020603050405020304" pitchFamily="18" charset="0"/>
              </a:rPr>
              <a:t>hơn</a:t>
            </a:r>
            <a:r>
              <a:rPr lang="en-US" altLang="en-US">
                <a:cs typeface="Times New Roman" panose="02020603050405020304" pitchFamily="18" charset="0"/>
              </a:rPr>
              <a:t> </a:t>
            </a:r>
            <a:r>
              <a:rPr lang="en-US" altLang="en-US" err="1">
                <a:cs typeface="Times New Roman" panose="02020603050405020304" pitchFamily="18" charset="0"/>
              </a:rPr>
              <a:t>về</a:t>
            </a:r>
            <a:r>
              <a:rPr lang="en-US" altLang="en-US">
                <a:cs typeface="Times New Roman" panose="02020603050405020304" pitchFamily="18" charset="0"/>
              </a:rPr>
              <a:t> </a:t>
            </a:r>
            <a:r>
              <a:rPr lang="en-US" altLang="en-US" err="1">
                <a:cs typeface="Times New Roman" panose="02020603050405020304" pitchFamily="18" charset="0"/>
              </a:rPr>
              <a:t>điều</a:t>
            </a:r>
            <a:r>
              <a:rPr lang="en-US" altLang="en-US">
                <a:cs typeface="Times New Roman" panose="02020603050405020304" pitchFamily="18" charset="0"/>
              </a:rPr>
              <a:t> </a:t>
            </a:r>
            <a:r>
              <a:rPr lang="en-US" altLang="en-US" err="1">
                <a:cs typeface="Times New Roman" panose="02020603050405020304" pitchFamily="18" charset="0"/>
              </a:rPr>
              <a:t>này</a:t>
            </a:r>
            <a:r>
              <a:rPr lang="en-US" altLang="en-US">
                <a:cs typeface="Times New Roman" panose="02020603050405020304" pitchFamily="18" charset="0"/>
              </a:rPr>
              <a:t> </a:t>
            </a:r>
            <a:r>
              <a:rPr lang="en-US" altLang="en-US" err="1">
                <a:cs typeface="Times New Roman" panose="02020603050405020304" pitchFamily="18" charset="0"/>
              </a:rPr>
              <a:t>khi</a:t>
            </a:r>
            <a:r>
              <a:rPr lang="en-US" altLang="en-US">
                <a:cs typeface="Times New Roman" panose="02020603050405020304" pitchFamily="18" charset="0"/>
              </a:rPr>
              <a:t> </a:t>
            </a:r>
            <a:r>
              <a:rPr lang="en-US" altLang="en-US" err="1">
                <a:cs typeface="Times New Roman" panose="02020603050405020304" pitchFamily="18" charset="0"/>
              </a:rPr>
              <a:t>xây</a:t>
            </a:r>
            <a:r>
              <a:rPr lang="en-US" altLang="en-US">
                <a:cs typeface="Times New Roman" panose="02020603050405020304" pitchFamily="18" charset="0"/>
              </a:rPr>
              <a:t> </a:t>
            </a:r>
            <a:r>
              <a:rPr lang="en-US" altLang="en-US" err="1">
                <a:cs typeface="Times New Roman" panose="02020603050405020304" pitchFamily="18" charset="0"/>
              </a:rPr>
              <a:t>dựng</a:t>
            </a:r>
            <a:r>
              <a:rPr lang="en-US" altLang="en-US">
                <a:cs typeface="Times New Roman" panose="02020603050405020304" pitchFamily="18" charset="0"/>
              </a:rPr>
              <a:t> </a:t>
            </a:r>
            <a:r>
              <a:rPr lang="en-US" altLang="en-US" err="1">
                <a:cs typeface="Times New Roman" panose="02020603050405020304" pitchFamily="18" charset="0"/>
              </a:rPr>
              <a:t>hàm</a:t>
            </a:r>
            <a:r>
              <a:rPr lang="en-US" altLang="en-US">
                <a:cs typeface="Times New Roman" panose="02020603050405020304" pitchFamily="18" charset="0"/>
              </a:rPr>
              <a:t> </a:t>
            </a:r>
            <a:r>
              <a:rPr lang="en-US" altLang="en-US" err="1">
                <a:cs typeface="Times New Roman" panose="02020603050405020304" pitchFamily="18" charset="0"/>
              </a:rPr>
              <a:t>địa</a:t>
            </a:r>
            <a:r>
              <a:rPr lang="en-US" altLang="en-US">
                <a:cs typeface="Times New Roman" panose="02020603050405020304" pitchFamily="18" charset="0"/>
              </a:rPr>
              <a:t> </a:t>
            </a:r>
            <a:r>
              <a:rPr lang="en-US" altLang="en-US" err="1">
                <a:cs typeface="Times New Roman" panose="02020603050405020304" pitchFamily="18" charset="0"/>
              </a:rPr>
              <a:t>chỉ</a:t>
            </a:r>
            <a:r>
              <a:rPr lang="en-US" altLang="en-US">
                <a:cs typeface="Times New Roman" panose="02020603050405020304" pitchFamily="18" charset="0"/>
              </a:rPr>
              <a:t> </a:t>
            </a:r>
            <a:r>
              <a:rPr lang="en-US" altLang="en-US" err="1">
                <a:cs typeface="Times New Roman" panose="02020603050405020304" pitchFamily="18" charset="0"/>
              </a:rPr>
              <a:t>cho</a:t>
            </a:r>
            <a:r>
              <a:rPr lang="en-US" altLang="en-US">
                <a:cs typeface="Times New Roman" panose="02020603050405020304" pitchFamily="18" charset="0"/>
              </a:rPr>
              <a:t> </a:t>
            </a:r>
            <a:r>
              <a:rPr lang="en-US" altLang="en-US" err="1">
                <a:cs typeface="Times New Roman" panose="02020603050405020304" pitchFamily="18" charset="0"/>
              </a:rPr>
              <a:t>các</a:t>
            </a:r>
            <a:r>
              <a:rPr lang="en-US" altLang="en-US">
                <a:cs typeface="Times New Roman" panose="02020603050405020304" pitchFamily="18" charset="0"/>
              </a:rPr>
              <a:t> </a:t>
            </a:r>
            <a:r>
              <a:rPr lang="en-US" altLang="en-US" err="1">
                <a:cs typeface="Times New Roman" panose="02020603050405020304" pitchFamily="18" charset="0"/>
              </a:rPr>
              <a:t>mảng</a:t>
            </a:r>
            <a:r>
              <a:rPr lang="en-US" altLang="en-US">
                <a:cs typeface="Times New Roman" panose="02020603050405020304" pitchFamily="18" charset="0"/>
              </a:rPr>
              <a:t> </a:t>
            </a:r>
            <a:r>
              <a:rPr lang="en-US" altLang="en-US" err="1">
                <a:cs typeface="Times New Roman" panose="02020603050405020304" pitchFamily="18" charset="0"/>
              </a:rPr>
              <a:t>có</a:t>
            </a:r>
            <a:r>
              <a:rPr lang="en-US" altLang="en-US">
                <a:cs typeface="Times New Roman" panose="02020603050405020304" pitchFamily="18" charset="0"/>
              </a:rPr>
              <a:t> </a:t>
            </a:r>
            <a:r>
              <a:rPr lang="en-US" altLang="en-US" err="1">
                <a:cs typeface="Times New Roman" panose="02020603050405020304" pitchFamily="18" charset="0"/>
              </a:rPr>
              <a:t>số</a:t>
            </a:r>
            <a:r>
              <a:rPr lang="en-US" altLang="en-US">
                <a:cs typeface="Times New Roman" panose="02020603050405020304" pitchFamily="18" charset="0"/>
              </a:rPr>
              <a:t> </a:t>
            </a:r>
            <a:r>
              <a:rPr lang="en-US" altLang="en-US" err="1">
                <a:cs typeface="Times New Roman" panose="02020603050405020304" pitchFamily="18" charset="0"/>
              </a:rPr>
              <a:t>chiều</a:t>
            </a:r>
            <a:r>
              <a:rPr lang="en-US" altLang="en-US">
                <a:cs typeface="Times New Roman" panose="02020603050405020304" pitchFamily="18" charset="0"/>
              </a:rPr>
              <a:t> </a:t>
            </a:r>
            <a:r>
              <a:rPr lang="en-US" altLang="en-US" err="1">
                <a:cs typeface="Times New Roman" panose="02020603050405020304" pitchFamily="18" charset="0"/>
              </a:rPr>
              <a:t>khác</a:t>
            </a:r>
            <a:r>
              <a:rPr lang="en-US" altLang="en-US">
                <a:cs typeface="Times New Roman" panose="02020603050405020304" pitchFamily="18" charset="0"/>
              </a:rPr>
              <a:t> </a:t>
            </a:r>
            <a:r>
              <a:rPr lang="en-US" altLang="en-US" err="1">
                <a:cs typeface="Times New Roman" panose="02020603050405020304" pitchFamily="18" charset="0"/>
              </a:rPr>
              <a:t>nhau</a:t>
            </a:r>
            <a:r>
              <a:rPr lang="en-US" altLang="en-US">
                <a:cs typeface="Times New Roman" panose="02020603050405020304" pitchFamily="18" charset="0"/>
              </a:rPr>
              <a:t>. </a:t>
            </a:r>
            <a:endParaRPr lang="en-US" altLang="en-US"/>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22</a:t>
            </a:fld>
            <a:endParaRPr lang="en-US"/>
          </a:p>
        </p:txBody>
      </p:sp>
    </p:spTree>
    <p:extLst>
      <p:ext uri="{BB962C8B-B14F-4D97-AF65-F5344CB8AC3E}">
        <p14:creationId xmlns:p14="http://schemas.microsoft.com/office/powerpoint/2010/main" val="2730727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u="sng" err="1">
                <a:cs typeface="Times New Roman" panose="02020603050405020304" pitchFamily="18" charset="0"/>
              </a:rPr>
              <a:t>Nhận</a:t>
            </a:r>
            <a:r>
              <a:rPr lang="en-US" altLang="en-US" sz="1200" u="sng">
                <a:cs typeface="Times New Roman" panose="02020603050405020304" pitchFamily="18" charset="0"/>
              </a:rPr>
              <a:t> </a:t>
            </a:r>
            <a:r>
              <a:rPr lang="en-US" altLang="en-US" sz="1200" u="sng" err="1">
                <a:cs typeface="Times New Roman" panose="02020603050405020304" pitchFamily="18" charset="0"/>
              </a:rPr>
              <a:t>xét</a:t>
            </a:r>
            <a:r>
              <a:rPr lang="en-US" altLang="en-US" sz="1200">
                <a:cs typeface="Times New Roman" panose="02020603050405020304" pitchFamily="18" charset="0"/>
              </a:rPr>
              <a:t>: A</a:t>
            </a:r>
            <a:r>
              <a:rPr lang="en-US" altLang="en-US" sz="1200" baseline="-30000">
                <a:cs typeface="Times New Roman" panose="02020603050405020304" pitchFamily="18" charset="0"/>
              </a:rPr>
              <a:t>0</a:t>
            </a:r>
            <a:r>
              <a:rPr lang="en-US" altLang="en-US" sz="1200">
                <a:cs typeface="Times New Roman" panose="02020603050405020304" pitchFamily="18" charset="0"/>
              </a:rPr>
              <a:t> </a:t>
            </a:r>
            <a:r>
              <a:rPr lang="en-US" altLang="en-US" sz="1200" err="1">
                <a:cs typeface="Times New Roman" panose="02020603050405020304" pitchFamily="18" charset="0"/>
              </a:rPr>
              <a:t>và</a:t>
            </a:r>
            <a:r>
              <a:rPr lang="en-US" altLang="en-US" sz="1200">
                <a:cs typeface="Times New Roman" panose="02020603050405020304" pitchFamily="18" charset="0"/>
              </a:rPr>
              <a:t> c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hằng</a:t>
            </a:r>
            <a:r>
              <a:rPr lang="en-US" altLang="en-US" sz="1200">
                <a:cs typeface="Times New Roman" panose="02020603050405020304" pitchFamily="18" charset="0"/>
              </a:rPr>
              <a:t> </a:t>
            </a:r>
            <a:r>
              <a:rPr lang="en-US" altLang="en-US" sz="1200" err="1">
                <a:cs typeface="Times New Roman" panose="02020603050405020304" pitchFamily="18" charset="0"/>
              </a:rPr>
              <a:t>số</a:t>
            </a:r>
            <a:r>
              <a:rPr lang="en-US" altLang="en-US" sz="1200">
                <a:cs typeface="Times New Roman" panose="02020603050405020304" pitchFamily="18" charset="0"/>
              </a:rPr>
              <a:t>, </a:t>
            </a:r>
            <a:r>
              <a:rPr lang="en-US" altLang="en-US" sz="1200" err="1">
                <a:cs typeface="Times New Roman" panose="02020603050405020304" pitchFamily="18" charset="0"/>
              </a:rPr>
              <a:t>hàm</a:t>
            </a:r>
            <a:r>
              <a:rPr lang="en-US" altLang="en-US" sz="1200">
                <a:cs typeface="Times New Roman" panose="02020603050405020304" pitchFamily="18" charset="0"/>
              </a:rPr>
              <a:t> </a:t>
            </a:r>
            <a:r>
              <a:rPr lang="en-US" altLang="en-US" sz="1200" err="1">
                <a:cs typeface="Times New Roman" panose="02020603050405020304" pitchFamily="18" charset="0"/>
              </a:rPr>
              <a:t>chỉ</a:t>
            </a:r>
            <a:r>
              <a:rPr lang="en-US" altLang="en-US" sz="1200">
                <a:cs typeface="Times New Roman" panose="02020603050405020304" pitchFamily="18" charset="0"/>
              </a:rPr>
              <a:t> </a:t>
            </a:r>
            <a:r>
              <a:rPr lang="en-US" altLang="en-US" sz="1200" err="1">
                <a:cs typeface="Times New Roman" panose="02020603050405020304" pitchFamily="18" charset="0"/>
              </a:rPr>
              <a:t>phụ</a:t>
            </a:r>
            <a:r>
              <a:rPr lang="en-US" altLang="en-US" sz="1200">
                <a:cs typeface="Times New Roman" panose="02020603050405020304" pitchFamily="18" charset="0"/>
              </a:rPr>
              <a:t> </a:t>
            </a:r>
            <a:r>
              <a:rPr lang="en-US" altLang="en-US" sz="1200" err="1">
                <a:cs typeface="Times New Roman" panose="02020603050405020304" pitchFamily="18" charset="0"/>
              </a:rPr>
              <a:t>thuộc</a:t>
            </a:r>
            <a:r>
              <a:rPr lang="en-US" altLang="en-US" sz="1200">
                <a:cs typeface="Times New Roman" panose="02020603050405020304" pitchFamily="18" charset="0"/>
              </a:rPr>
              <a:t> </a:t>
            </a:r>
            <a:r>
              <a:rPr lang="en-US" altLang="en-US" sz="1200" err="1">
                <a:cs typeface="Times New Roman" panose="02020603050405020304" pitchFamily="18" charset="0"/>
              </a:rPr>
              <a:t>vào</a:t>
            </a:r>
            <a:r>
              <a:rPr lang="en-US" altLang="en-US" sz="1200">
                <a:cs typeface="Times New Roman" panose="02020603050405020304" pitchFamily="18" charset="0"/>
              </a:rPr>
              <a:t> </a:t>
            </a:r>
            <a:r>
              <a:rPr lang="en-US" altLang="en-US" sz="1200" err="1">
                <a:cs typeface="Times New Roman" panose="02020603050405020304" pitchFamily="18" charset="0"/>
              </a:rPr>
              <a:t>biến</a:t>
            </a:r>
            <a:r>
              <a:rPr lang="en-US" altLang="en-US" sz="1200">
                <a:cs typeface="Times New Roman" panose="02020603050405020304" pitchFamily="18" charset="0"/>
              </a:rPr>
              <a:t> </a:t>
            </a:r>
            <a:r>
              <a:rPr lang="en-US" altLang="en-US" sz="1200" err="1">
                <a:cs typeface="Times New Roman" panose="02020603050405020304" pitchFamily="18" charset="0"/>
              </a:rPr>
              <a:t>số</a:t>
            </a:r>
            <a:r>
              <a:rPr lang="en-US" altLang="en-US" sz="1200">
                <a:cs typeface="Times New Roman" panose="02020603050405020304" pitchFamily="18" charset="0"/>
              </a:rPr>
              <a:t> </a:t>
            </a:r>
            <a:r>
              <a:rPr lang="en-US" altLang="en-US" sz="1200" err="1">
                <a:cs typeface="Times New Roman" panose="02020603050405020304" pitchFamily="18" charset="0"/>
              </a:rPr>
              <a:t>i</a:t>
            </a:r>
            <a:r>
              <a:rPr lang="en-US" altLang="en-US" sz="1200">
                <a:cs typeface="Times New Roman" panose="02020603050405020304" pitchFamily="18" charset="0"/>
              </a:rPr>
              <a:t>,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thứ</a:t>
            </a:r>
            <a:r>
              <a:rPr lang="en-US" altLang="en-US" sz="1200">
                <a:cs typeface="Times New Roman" panose="02020603050405020304" pitchFamily="18" charset="0"/>
              </a:rPr>
              <a:t> </a:t>
            </a:r>
            <a:r>
              <a:rPr lang="en-US" altLang="en-US" sz="1200" err="1">
                <a:cs typeface="Times New Roman" panose="02020603050405020304" pitchFamily="18" charset="0"/>
              </a:rPr>
              <a:t>tự</a:t>
            </a:r>
            <a:r>
              <a:rPr lang="en-US" altLang="en-US" sz="1200">
                <a:cs typeface="Times New Roman" panose="02020603050405020304" pitchFamily="18" charset="0"/>
              </a:rPr>
              <a:t> </a:t>
            </a:r>
            <a:r>
              <a:rPr lang="en-US" altLang="en-US" sz="1200" err="1">
                <a:cs typeface="Times New Roman" panose="02020603050405020304" pitchFamily="18" charset="0"/>
              </a:rPr>
              <a:t>của</a:t>
            </a:r>
            <a:r>
              <a:rPr lang="en-US" altLang="en-US" sz="1200">
                <a:cs typeface="Times New Roman" panose="02020603050405020304" pitchFamily="18" charset="0"/>
              </a:rPr>
              <a:t> </a:t>
            </a:r>
            <a:r>
              <a:rPr lang="en-US" altLang="en-US" sz="1200" err="1">
                <a:cs typeface="Times New Roman" panose="02020603050405020304" pitchFamily="18" charset="0"/>
              </a:rPr>
              <a:t>phần</a:t>
            </a:r>
            <a:r>
              <a:rPr lang="en-US" altLang="en-US" sz="1200">
                <a:cs typeface="Times New Roman" panose="02020603050405020304" pitchFamily="18" charset="0"/>
              </a:rPr>
              <a:t> </a:t>
            </a:r>
            <a:r>
              <a:rPr lang="en-US" altLang="en-US" sz="1200" err="1">
                <a:cs typeface="Times New Roman" panose="02020603050405020304" pitchFamily="18" charset="0"/>
              </a:rPr>
              <a:t>tử</a:t>
            </a:r>
            <a:r>
              <a:rPr lang="en-US" altLang="en-US" sz="1200">
                <a:cs typeface="Times New Roman" panose="02020603050405020304" pitchFamily="18" charset="0"/>
              </a:rPr>
              <a:t> </a:t>
            </a:r>
            <a:r>
              <a:rPr lang="en-US" altLang="en-US" sz="1200" err="1">
                <a:cs typeface="Times New Roman" panose="02020603050405020304" pitchFamily="18" charset="0"/>
              </a:rPr>
              <a:t>được</a:t>
            </a:r>
            <a:r>
              <a:rPr lang="en-US" altLang="en-US" sz="1200">
                <a:cs typeface="Times New Roman" panose="02020603050405020304" pitchFamily="18" charset="0"/>
              </a:rPr>
              <a:t> </a:t>
            </a:r>
            <a:r>
              <a:rPr lang="en-US" altLang="en-US" sz="1200" err="1">
                <a:cs typeface="Times New Roman" panose="02020603050405020304" pitchFamily="18" charset="0"/>
              </a:rPr>
              <a:t>lưu</a:t>
            </a:r>
            <a:r>
              <a:rPr lang="en-US" altLang="en-US" sz="1200">
                <a:cs typeface="Times New Roman" panose="02020603050405020304" pitchFamily="18" charset="0"/>
              </a:rPr>
              <a:t> </a:t>
            </a:r>
            <a:r>
              <a:rPr lang="en-US" altLang="en-US" sz="1200" err="1">
                <a:cs typeface="Times New Roman" panose="02020603050405020304" pitchFamily="18" charset="0"/>
              </a:rPr>
              <a:t>trữ</a:t>
            </a:r>
            <a:r>
              <a:rPr lang="en-US" altLang="en-US" sz="1200">
                <a:cs typeface="Times New Roman" panose="02020603050405020304" pitchFamily="18" charset="0"/>
              </a:rPr>
              <a:t> - </a:t>
            </a:r>
            <a:r>
              <a:rPr lang="en-US" altLang="en-US" sz="1200" err="1">
                <a:cs typeface="Times New Roman" panose="02020603050405020304" pitchFamily="18" charset="0"/>
              </a:rPr>
              <a:t>chỉ</a:t>
            </a:r>
            <a:r>
              <a:rPr lang="en-US" altLang="en-US" sz="1200">
                <a:cs typeface="Times New Roman" panose="02020603050405020304" pitchFamily="18" charset="0"/>
              </a:rPr>
              <a:t> </a:t>
            </a:r>
            <a:r>
              <a:rPr lang="en-US" altLang="en-US" sz="1200" err="1">
                <a:cs typeface="Times New Roman" panose="02020603050405020304" pitchFamily="18" charset="0"/>
              </a:rPr>
              <a:t>số</a:t>
            </a:r>
            <a:r>
              <a:rPr lang="en-US" altLang="en-US" sz="1200">
                <a:cs typeface="Times New Roman" panose="02020603050405020304" pitchFamily="18" charset="0"/>
              </a:rPr>
              <a:t> </a:t>
            </a:r>
            <a:r>
              <a:rPr lang="en-US" altLang="en-US" sz="1200" err="1">
                <a:cs typeface="Times New Roman" panose="02020603050405020304" pitchFamily="18" charset="0"/>
              </a:rPr>
              <a:t>của</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Vì</a:t>
            </a:r>
            <a:r>
              <a:rPr lang="en-US" altLang="en-US" sz="1200">
                <a:cs typeface="Times New Roman" panose="02020603050405020304" pitchFamily="18" charset="0"/>
              </a:rPr>
              <a:t> A</a:t>
            </a:r>
            <a:r>
              <a:rPr lang="en-US" altLang="en-US" sz="1200" baseline="-30000">
                <a:cs typeface="Times New Roman" panose="02020603050405020304" pitchFamily="18" charset="0"/>
              </a:rPr>
              <a:t>0</a:t>
            </a:r>
            <a:r>
              <a:rPr lang="en-US" altLang="en-US" sz="1200">
                <a:cs typeface="Times New Roman" panose="02020603050405020304" pitchFamily="18" charset="0"/>
              </a:rPr>
              <a:t>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hằng</a:t>
            </a:r>
            <a:r>
              <a:rPr lang="en-US" altLang="en-US" sz="1200">
                <a:cs typeface="Times New Roman" panose="02020603050405020304" pitchFamily="18" charset="0"/>
              </a:rPr>
              <a:t> </a:t>
            </a:r>
            <a:r>
              <a:rPr lang="en-US" altLang="en-US" sz="1200" err="1">
                <a:cs typeface="Times New Roman" panose="02020603050405020304" pitchFamily="18" charset="0"/>
              </a:rPr>
              <a:t>số</a:t>
            </a:r>
            <a:r>
              <a:rPr lang="en-US" altLang="en-US" sz="1200">
                <a:cs typeface="Times New Roman" panose="02020603050405020304" pitchFamily="18" charset="0"/>
              </a:rPr>
              <a:t> </a:t>
            </a:r>
            <a:r>
              <a:rPr lang="en-US" altLang="en-US" sz="1200" err="1">
                <a:cs typeface="Times New Roman" panose="02020603050405020304" pitchFamily="18" charset="0"/>
              </a:rPr>
              <a:t>nên</a:t>
            </a:r>
            <a:r>
              <a:rPr lang="en-US" altLang="en-US" sz="1200">
                <a:cs typeface="Times New Roman" panose="02020603050405020304" pitchFamily="18" charset="0"/>
              </a:rPr>
              <a:t> </a:t>
            </a:r>
            <a:r>
              <a:rPr lang="en-US" altLang="en-US" sz="1200" err="1">
                <a:cs typeface="Times New Roman" panose="02020603050405020304" pitchFamily="18" charset="0"/>
              </a:rPr>
              <a:t>từ</a:t>
            </a:r>
            <a:r>
              <a:rPr lang="en-US" altLang="en-US" sz="1200">
                <a:cs typeface="Times New Roman" panose="02020603050405020304" pitchFamily="18" charset="0"/>
              </a:rPr>
              <a:t> nay </a:t>
            </a:r>
            <a:r>
              <a:rPr lang="en-US" altLang="en-US" sz="1200" err="1">
                <a:cs typeface="Times New Roman" panose="02020603050405020304" pitchFamily="18" charset="0"/>
              </a:rPr>
              <a:t>về</a:t>
            </a:r>
            <a:r>
              <a:rPr lang="en-US" altLang="en-US" sz="1200">
                <a:cs typeface="Times New Roman" panose="02020603050405020304" pitchFamily="18" charset="0"/>
              </a:rPr>
              <a:t> </a:t>
            </a:r>
            <a:r>
              <a:rPr lang="en-US" altLang="en-US" sz="1200" err="1">
                <a:cs typeface="Times New Roman" panose="02020603050405020304" pitchFamily="18" charset="0"/>
              </a:rPr>
              <a:t>sau</a:t>
            </a:r>
            <a:r>
              <a:rPr lang="en-US" altLang="en-US" sz="1200">
                <a:cs typeface="Times New Roman" panose="02020603050405020304" pitchFamily="18" charset="0"/>
              </a:rPr>
              <a:t>, </a:t>
            </a:r>
            <a:r>
              <a:rPr lang="en-US" altLang="en-US" sz="1200" err="1">
                <a:cs typeface="Times New Roman" panose="02020603050405020304" pitchFamily="18" charset="0"/>
              </a:rPr>
              <a:t>để</a:t>
            </a:r>
            <a:r>
              <a:rPr lang="en-US" altLang="en-US" sz="1200">
                <a:cs typeface="Times New Roman" panose="02020603050405020304" pitchFamily="18" charset="0"/>
              </a:rPr>
              <a:t> </a:t>
            </a:r>
            <a:r>
              <a:rPr lang="en-US" altLang="en-US" sz="1200" err="1">
                <a:cs typeface="Times New Roman" panose="02020603050405020304" pitchFamily="18" charset="0"/>
              </a:rPr>
              <a:t>đơn</a:t>
            </a:r>
            <a:r>
              <a:rPr lang="en-US" altLang="en-US" sz="1200">
                <a:cs typeface="Times New Roman" panose="02020603050405020304" pitchFamily="18" charset="0"/>
              </a:rPr>
              <a:t> </a:t>
            </a:r>
            <a:r>
              <a:rPr lang="en-US" altLang="en-US" sz="1200" err="1">
                <a:cs typeface="Times New Roman" panose="02020603050405020304" pitchFamily="18" charset="0"/>
              </a:rPr>
              <a:t>giản</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hàm</a:t>
            </a:r>
            <a:r>
              <a:rPr lang="en-US" altLang="en-US" sz="1200">
                <a:cs typeface="Times New Roman" panose="02020603050405020304" pitchFamily="18" charset="0"/>
              </a:rPr>
              <a:t> </a:t>
            </a:r>
            <a:r>
              <a:rPr lang="en-US" altLang="en-US" sz="1200" err="1">
                <a:cs typeface="Times New Roman" panose="02020603050405020304" pitchFamily="18" charset="0"/>
              </a:rPr>
              <a:t>địa</a:t>
            </a:r>
            <a:r>
              <a:rPr lang="en-US" altLang="en-US" sz="1200">
                <a:cs typeface="Times New Roman" panose="02020603050405020304" pitchFamily="18" charset="0"/>
              </a:rPr>
              <a:t> </a:t>
            </a:r>
            <a:r>
              <a:rPr lang="en-US" altLang="en-US" sz="1200" err="1">
                <a:cs typeface="Times New Roman" panose="02020603050405020304" pitchFamily="18" charset="0"/>
              </a:rPr>
              <a:t>chỉ</a:t>
            </a:r>
            <a:r>
              <a:rPr lang="en-US" altLang="en-US" sz="1200">
                <a:cs typeface="Times New Roman" panose="02020603050405020304" pitchFamily="18" charset="0"/>
              </a:rPr>
              <a:t>, ta </a:t>
            </a:r>
            <a:r>
              <a:rPr lang="en-US" altLang="en-US" sz="1200" err="1">
                <a:cs typeface="Times New Roman" panose="02020603050405020304" pitchFamily="18" charset="0"/>
              </a:rPr>
              <a:t>giả</a:t>
            </a:r>
            <a:r>
              <a:rPr lang="en-US" altLang="en-US" sz="1200">
                <a:cs typeface="Times New Roman" panose="02020603050405020304" pitchFamily="18" charset="0"/>
              </a:rPr>
              <a:t> </a:t>
            </a:r>
            <a:r>
              <a:rPr lang="en-US" altLang="en-US" sz="1200" err="1">
                <a:cs typeface="Times New Roman" panose="02020603050405020304" pitchFamily="18" charset="0"/>
              </a:rPr>
              <a:t>sử</a:t>
            </a:r>
            <a:r>
              <a:rPr lang="en-US" altLang="en-US" sz="1200">
                <a:cs typeface="Times New Roman" panose="02020603050405020304" pitchFamily="18" charset="0"/>
              </a:rPr>
              <a:t> A</a:t>
            </a:r>
            <a:r>
              <a:rPr lang="en-US" altLang="en-US" sz="1200" baseline="-30000">
                <a:cs typeface="Times New Roman" panose="02020603050405020304" pitchFamily="18" charset="0"/>
              </a:rPr>
              <a:t>0</a:t>
            </a:r>
            <a:r>
              <a:rPr lang="en-US" altLang="en-US" sz="1200">
                <a:cs typeface="Times New Roman" panose="02020603050405020304" pitchFamily="18" charset="0"/>
              </a:rPr>
              <a:t> = 0; </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23</a:t>
            </a:fld>
            <a:endParaRPr lang="en-US"/>
          </a:p>
        </p:txBody>
      </p:sp>
    </p:spTree>
    <p:extLst>
      <p:ext uri="{BB962C8B-B14F-4D97-AF65-F5344CB8AC3E}">
        <p14:creationId xmlns:p14="http://schemas.microsoft.com/office/powerpoint/2010/main" val="3381058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base" latinLnBrk="0" hangingPunct="1">
              <a:lnSpc>
                <a:spcPct val="100000"/>
              </a:lnSpc>
              <a:spcBef>
                <a:spcPct val="30000"/>
              </a:spcBef>
              <a:spcAft>
                <a:spcPct val="0"/>
              </a:spcAft>
              <a:buClrTx/>
              <a:buSzTx/>
              <a:buFontTx/>
              <a:buNone/>
              <a:tabLst/>
              <a:defRPr/>
            </a:pPr>
            <a:r>
              <a:rPr lang="en-US" err="1"/>
              <a:t>Giả</a:t>
            </a:r>
            <a:r>
              <a:rPr lang="en-US"/>
              <a:t> </a:t>
            </a:r>
            <a:r>
              <a:rPr lang="en-US" err="1"/>
              <a:t>sử</a:t>
            </a:r>
            <a:r>
              <a:rPr lang="en-US"/>
              <a:t> </a:t>
            </a:r>
            <a:r>
              <a:rPr lang="en-US" err="1"/>
              <a:t>hàm</a:t>
            </a:r>
            <a:r>
              <a:rPr lang="en-US"/>
              <a:t> </a:t>
            </a:r>
            <a:r>
              <a:rPr lang="en-US" err="1"/>
              <a:t>địa</a:t>
            </a:r>
            <a:r>
              <a:rPr lang="en-US"/>
              <a:t> </a:t>
            </a:r>
            <a:r>
              <a:rPr lang="en-US" err="1"/>
              <a:t>chỉ</a:t>
            </a:r>
            <a:r>
              <a:rPr lang="en-US"/>
              <a:t> </a:t>
            </a:r>
            <a:r>
              <a:rPr lang="en-US" err="1"/>
              <a:t>của</a:t>
            </a:r>
            <a:r>
              <a:rPr lang="en-US"/>
              <a:t> a</a:t>
            </a:r>
            <a:r>
              <a:rPr lang="en-US" baseline="-25000"/>
              <a:t>n-1</a:t>
            </a:r>
            <a:r>
              <a:rPr lang="en-US"/>
              <a:t> </a:t>
            </a:r>
            <a:r>
              <a:rPr lang="en-US" err="1"/>
              <a:t>có</a:t>
            </a:r>
            <a:r>
              <a:rPr lang="en-US"/>
              <a:t> </a:t>
            </a:r>
            <a:r>
              <a:rPr lang="en-US" err="1"/>
              <a:t>dạng</a:t>
            </a:r>
            <a:r>
              <a:rPr lang="en-US"/>
              <a:t>: fn-1(i2,i3,...,in) </a:t>
            </a:r>
            <a:r>
              <a:rPr lang="en-US" err="1"/>
              <a:t>là</a:t>
            </a:r>
            <a:r>
              <a:rPr lang="en-US"/>
              <a:t> </a:t>
            </a:r>
            <a:r>
              <a:rPr lang="en-US" err="1"/>
              <a:t>hàm</a:t>
            </a:r>
            <a:r>
              <a:rPr lang="en-US"/>
              <a:t> </a:t>
            </a:r>
            <a:r>
              <a:rPr lang="en-US" err="1"/>
              <a:t>của</a:t>
            </a:r>
            <a:r>
              <a:rPr lang="en-US"/>
              <a:t> n-1 </a:t>
            </a:r>
            <a:r>
              <a:rPr lang="en-US" err="1"/>
              <a:t>biến</a:t>
            </a:r>
            <a:r>
              <a:rPr lang="en-US"/>
              <a:t>, </a:t>
            </a:r>
            <a:r>
              <a:rPr lang="en-US" altLang="en-US" err="1">
                <a:cs typeface="Times New Roman" panose="02020603050405020304" pitchFamily="18" charset="0"/>
              </a:rPr>
              <a:t>thì</a:t>
            </a:r>
            <a:r>
              <a:rPr lang="en-US" altLang="en-US">
                <a:cs typeface="Times New Roman" panose="02020603050405020304" pitchFamily="18" charset="0"/>
              </a:rPr>
              <a:t> </a:t>
            </a:r>
            <a:r>
              <a:rPr lang="en-US" altLang="en-US" err="1">
                <a:cs typeface="Times New Roman" panose="02020603050405020304" pitchFamily="18" charset="0"/>
              </a:rPr>
              <a:t>hàm</a:t>
            </a:r>
            <a:r>
              <a:rPr lang="en-US" altLang="en-US">
                <a:cs typeface="Times New Roman" panose="02020603050405020304" pitchFamily="18" charset="0"/>
              </a:rPr>
              <a:t> </a:t>
            </a:r>
            <a:r>
              <a:rPr lang="en-US" altLang="en-US" err="1">
                <a:cs typeface="Times New Roman" panose="02020603050405020304" pitchFamily="18" charset="0"/>
              </a:rPr>
              <a:t>địa</a:t>
            </a:r>
            <a:r>
              <a:rPr lang="en-US" altLang="en-US">
                <a:cs typeface="Times New Roman" panose="02020603050405020304" pitchFamily="18" charset="0"/>
              </a:rPr>
              <a:t> </a:t>
            </a:r>
            <a:r>
              <a:rPr lang="en-US" altLang="en-US" err="1">
                <a:cs typeface="Times New Roman" panose="02020603050405020304" pitchFamily="18" charset="0"/>
              </a:rPr>
              <a:t>chỉ</a:t>
            </a:r>
            <a:r>
              <a:rPr lang="en-US" altLang="en-US">
                <a:cs typeface="Times New Roman" panose="02020603050405020304" pitchFamily="18" charset="0"/>
              </a:rPr>
              <a:t> </a:t>
            </a:r>
            <a:r>
              <a:rPr lang="en-US" altLang="en-US" err="1">
                <a:cs typeface="Times New Roman" panose="02020603050405020304" pitchFamily="18" charset="0"/>
              </a:rPr>
              <a:t>của</a:t>
            </a:r>
            <a:r>
              <a:rPr lang="en-US" altLang="en-US">
                <a:cs typeface="Times New Roman" panose="02020603050405020304" pitchFamily="18" charset="0"/>
              </a:rPr>
              <a:t> a</a:t>
            </a:r>
            <a:r>
              <a:rPr lang="en-US" altLang="en-US" baseline="-25000">
                <a:cs typeface="Times New Roman" panose="02020603050405020304" pitchFamily="18" charset="0"/>
              </a:rPr>
              <a:t>n</a:t>
            </a:r>
            <a:r>
              <a:rPr lang="en-US" altLang="en-US">
                <a:cs typeface="Times New Roman" panose="02020603050405020304" pitchFamily="18" charset="0"/>
              </a:rPr>
              <a:t> </a:t>
            </a:r>
            <a:r>
              <a:rPr lang="en-US" altLang="en-US" err="1">
                <a:cs typeface="Times New Roman" panose="02020603050405020304" pitchFamily="18" charset="0"/>
              </a:rPr>
              <a:t>có</a:t>
            </a:r>
            <a:r>
              <a:rPr lang="en-US" altLang="en-US">
                <a:cs typeface="Times New Roman" panose="02020603050405020304" pitchFamily="18" charset="0"/>
              </a:rPr>
              <a:t> </a:t>
            </a:r>
            <a:r>
              <a:rPr lang="en-US" altLang="en-US" err="1">
                <a:cs typeface="Times New Roman" panose="02020603050405020304" pitchFamily="18" charset="0"/>
              </a:rPr>
              <a:t>dạng</a:t>
            </a:r>
            <a:r>
              <a:rPr lang="en-US" altLang="en-US">
                <a:cs typeface="Times New Roman" panose="02020603050405020304" pitchFamily="18" charset="0"/>
              </a:rPr>
              <a:t> :</a:t>
            </a:r>
          </a:p>
          <a:p>
            <a:endParaRPr lang="en-US"/>
          </a:p>
          <a:p>
            <a:pPr lvl="1" algn="just">
              <a:lnSpc>
                <a:spcPct val="120000"/>
              </a:lnSpc>
            </a:pPr>
            <a:r>
              <a:rPr lang="en-US" altLang="en-US" sz="2200" err="1">
                <a:cs typeface="Times New Roman" panose="02020603050405020304" pitchFamily="18" charset="0"/>
              </a:rPr>
              <a:t>Với</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hai</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 ta </a:t>
            </a:r>
            <a:r>
              <a:rPr lang="en-US" altLang="en-US" sz="2200" err="1">
                <a:cs typeface="Times New Roman" panose="02020603050405020304" pitchFamily="18" charset="0"/>
              </a:rPr>
              <a:t>có</a:t>
            </a:r>
            <a:r>
              <a:rPr lang="en-US" altLang="en-US" sz="2200">
                <a:cs typeface="Times New Roman" panose="02020603050405020304" pitchFamily="18" charset="0"/>
              </a:rPr>
              <a:t> : 	</a:t>
            </a:r>
            <a:endParaRPr lang="en-US" altLang="en-US" sz="2200">
              <a:latin typeface=".VnTime" pitchFamily="34" charset="0"/>
              <a:cs typeface="Times New Roman" panose="02020603050405020304" pitchFamily="18" charset="0"/>
            </a:endParaRPr>
          </a:p>
          <a:p>
            <a:pPr lvl="2" algn="just">
              <a:lnSpc>
                <a:spcPct val="120000"/>
              </a:lnSpc>
            </a:pPr>
            <a:r>
              <a:rPr lang="en-US" altLang="en-US" sz="2000">
                <a:cs typeface="Times New Roman" panose="02020603050405020304" pitchFamily="18" charset="0"/>
              </a:rPr>
              <a:t>f</a:t>
            </a:r>
            <a:r>
              <a:rPr lang="en-US" altLang="en-US" sz="2000" baseline="-30000">
                <a:cs typeface="Times New Roman" panose="02020603050405020304" pitchFamily="18" charset="0"/>
              </a:rPr>
              <a:t>2</a:t>
            </a:r>
            <a:r>
              <a:rPr lang="en-US" altLang="en-US" sz="2000">
                <a:cs typeface="Times New Roman" panose="02020603050405020304" pitchFamily="18" charset="0"/>
              </a:rPr>
              <a:t>(i</a:t>
            </a:r>
            <a:r>
              <a:rPr lang="en-US" altLang="en-US" sz="2000" baseline="-30000">
                <a:cs typeface="Times New Roman" panose="02020603050405020304" pitchFamily="18" charset="0"/>
              </a:rPr>
              <a:t>1</a:t>
            </a:r>
            <a:r>
              <a:rPr lang="en-US" altLang="en-US" sz="2000">
                <a:cs typeface="Times New Roman" panose="02020603050405020304" pitchFamily="18" charset="0"/>
              </a:rPr>
              <a:t>,i</a:t>
            </a:r>
            <a:r>
              <a:rPr lang="en-US" altLang="en-US" sz="2000" baseline="-30000">
                <a:cs typeface="Times New Roman" panose="02020603050405020304" pitchFamily="18" charset="0"/>
              </a:rPr>
              <a:t>2</a:t>
            </a:r>
            <a:r>
              <a:rPr lang="en-US" altLang="en-US" sz="2000">
                <a:cs typeface="Times New Roman" panose="02020603050405020304" pitchFamily="18" charset="0"/>
              </a:rPr>
              <a:t>) = </a:t>
            </a:r>
            <a:r>
              <a:rPr lang="en-US" altLang="en-US" sz="2000" err="1">
                <a:cs typeface="Times New Roman" panose="02020603050405020304" pitchFamily="18" charset="0"/>
              </a:rPr>
              <a:t>cN</a:t>
            </a:r>
            <a:r>
              <a:rPr lang="en-US" altLang="en-US" sz="2000">
                <a:cs typeface="Times New Roman" panose="02020603050405020304" pitchFamily="18" charset="0"/>
              </a:rPr>
              <a:t>(i</a:t>
            </a:r>
            <a:r>
              <a:rPr lang="en-US" altLang="en-US" sz="2000" baseline="-30000">
                <a:cs typeface="Times New Roman" panose="02020603050405020304" pitchFamily="18" charset="0"/>
              </a:rPr>
              <a:t>1</a:t>
            </a:r>
            <a:r>
              <a:rPr lang="en-US" altLang="en-US" sz="2000">
                <a:cs typeface="Times New Roman" panose="02020603050405020304" pitchFamily="18" charset="0"/>
              </a:rPr>
              <a:t>-1) + f</a:t>
            </a:r>
            <a:r>
              <a:rPr lang="en-US" altLang="en-US" sz="2000" baseline="-30000">
                <a:cs typeface="Times New Roman" panose="02020603050405020304" pitchFamily="18" charset="0"/>
              </a:rPr>
              <a:t>1</a:t>
            </a:r>
            <a:r>
              <a:rPr lang="en-US" altLang="en-US" sz="2000">
                <a:cs typeface="Times New Roman" panose="02020603050405020304" pitchFamily="18" charset="0"/>
              </a:rPr>
              <a:t>(i</a:t>
            </a:r>
            <a:r>
              <a:rPr lang="en-US" altLang="en-US" sz="2000" baseline="-30000">
                <a:cs typeface="Times New Roman" panose="02020603050405020304" pitchFamily="18" charset="0"/>
              </a:rPr>
              <a:t>2</a:t>
            </a:r>
            <a:r>
              <a:rPr lang="en-US" altLang="en-US" sz="2000">
                <a:cs typeface="Times New Roman" panose="02020603050405020304" pitchFamily="18" charset="0"/>
              </a:rPr>
              <a:t>), </a:t>
            </a:r>
            <a:r>
              <a:rPr lang="en-US" altLang="en-US" sz="2000" err="1">
                <a:cs typeface="Times New Roman" panose="02020603050405020304" pitchFamily="18" charset="0"/>
              </a:rPr>
              <a:t>với</a:t>
            </a:r>
            <a:r>
              <a:rPr lang="en-US" altLang="en-US" sz="2000">
                <a:cs typeface="Times New Roman" panose="02020603050405020304" pitchFamily="18" charset="0"/>
              </a:rPr>
              <a:t> f</a:t>
            </a:r>
            <a:r>
              <a:rPr lang="en-US" altLang="en-US" sz="2000" baseline="-30000">
                <a:cs typeface="Times New Roman" panose="02020603050405020304" pitchFamily="18" charset="0"/>
              </a:rPr>
              <a:t>1</a:t>
            </a:r>
            <a:r>
              <a:rPr lang="en-US" altLang="en-US" sz="2000">
                <a:cs typeface="Times New Roman" panose="02020603050405020304" pitchFamily="18" charset="0"/>
              </a:rPr>
              <a:t> = c(i</a:t>
            </a:r>
            <a:r>
              <a:rPr lang="en-US" altLang="en-US" sz="2000" baseline="-30000">
                <a:cs typeface="Times New Roman" panose="02020603050405020304" pitchFamily="18" charset="0"/>
              </a:rPr>
              <a:t>2</a:t>
            </a:r>
            <a:r>
              <a:rPr lang="en-US" altLang="en-US" sz="2000">
                <a:cs typeface="Times New Roman" panose="02020603050405020304" pitchFamily="18" charset="0"/>
              </a:rPr>
              <a:t>-1), </a:t>
            </a:r>
            <a:r>
              <a:rPr lang="en-US" altLang="en-US" sz="2000" err="1">
                <a:cs typeface="Times New Roman" panose="02020603050405020304" pitchFamily="18" charset="0"/>
              </a:rPr>
              <a:t>thay</a:t>
            </a:r>
            <a:r>
              <a:rPr lang="en-US" altLang="en-US" sz="2000">
                <a:cs typeface="Times New Roman" panose="02020603050405020304" pitchFamily="18" charset="0"/>
              </a:rPr>
              <a:t> </a:t>
            </a:r>
            <a:r>
              <a:rPr lang="en-US" altLang="en-US" sz="2000" err="1">
                <a:cs typeface="Times New Roman" panose="02020603050405020304" pitchFamily="18" charset="0"/>
              </a:rPr>
              <a:t>vào</a:t>
            </a:r>
            <a:r>
              <a:rPr lang="en-US" altLang="en-US" sz="2000">
                <a:cs typeface="Times New Roman" panose="02020603050405020304" pitchFamily="18" charset="0"/>
              </a:rPr>
              <a:t> ta </a:t>
            </a:r>
            <a:r>
              <a:rPr lang="en-US" altLang="en-US" sz="2000" err="1">
                <a:cs typeface="Times New Roman" panose="02020603050405020304" pitchFamily="18" charset="0"/>
              </a:rPr>
              <a:t>có</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lvl="2" algn="just">
              <a:lnSpc>
                <a:spcPct val="120000"/>
              </a:lnSpc>
            </a:pPr>
            <a:r>
              <a:rPr lang="en-US" altLang="en-US" sz="2000">
                <a:cs typeface="Times New Roman" panose="02020603050405020304" pitchFamily="18" charset="0"/>
              </a:rPr>
              <a:t>f</a:t>
            </a:r>
            <a:r>
              <a:rPr lang="en-US" altLang="en-US" sz="2000" baseline="-30000">
                <a:cs typeface="Times New Roman" panose="02020603050405020304" pitchFamily="18" charset="0"/>
              </a:rPr>
              <a:t>2</a:t>
            </a:r>
            <a:r>
              <a:rPr lang="en-US" altLang="en-US" sz="2000">
                <a:cs typeface="Times New Roman" panose="02020603050405020304" pitchFamily="18" charset="0"/>
              </a:rPr>
              <a:t>(i</a:t>
            </a:r>
            <a:r>
              <a:rPr lang="en-US" altLang="en-US" sz="2000" baseline="-30000">
                <a:cs typeface="Times New Roman" panose="02020603050405020304" pitchFamily="18" charset="0"/>
              </a:rPr>
              <a:t>1</a:t>
            </a:r>
            <a:r>
              <a:rPr lang="en-US" altLang="en-US" sz="2000">
                <a:cs typeface="Times New Roman" panose="02020603050405020304" pitchFamily="18" charset="0"/>
              </a:rPr>
              <a:t>,i</a:t>
            </a:r>
            <a:r>
              <a:rPr lang="en-US" altLang="en-US" sz="2000" baseline="-30000">
                <a:cs typeface="Times New Roman" panose="02020603050405020304" pitchFamily="18" charset="0"/>
              </a:rPr>
              <a:t>2</a:t>
            </a:r>
            <a:r>
              <a:rPr lang="en-US" altLang="en-US" sz="2000">
                <a:cs typeface="Times New Roman" panose="02020603050405020304" pitchFamily="18" charset="0"/>
              </a:rPr>
              <a:t>) = </a:t>
            </a:r>
            <a:r>
              <a:rPr lang="en-US" altLang="en-US" sz="2000" err="1">
                <a:cs typeface="Times New Roman" panose="02020603050405020304" pitchFamily="18" charset="0"/>
              </a:rPr>
              <a:t>cN</a:t>
            </a:r>
            <a:r>
              <a:rPr lang="en-US" altLang="en-US" sz="2000">
                <a:cs typeface="Times New Roman" panose="02020603050405020304" pitchFamily="18" charset="0"/>
              </a:rPr>
              <a:t>(i</a:t>
            </a:r>
            <a:r>
              <a:rPr lang="en-US" altLang="en-US" sz="2000" baseline="-30000">
                <a:cs typeface="Times New Roman" panose="02020603050405020304" pitchFamily="18" charset="0"/>
              </a:rPr>
              <a:t>1</a:t>
            </a:r>
            <a:r>
              <a:rPr lang="en-US" altLang="en-US" sz="2000">
                <a:cs typeface="Times New Roman" panose="02020603050405020304" pitchFamily="18" charset="0"/>
              </a:rPr>
              <a:t>-1) + c(i</a:t>
            </a:r>
            <a:r>
              <a:rPr lang="en-US" altLang="en-US" sz="2000" baseline="-30000">
                <a:cs typeface="Times New Roman" panose="02020603050405020304" pitchFamily="18" charset="0"/>
              </a:rPr>
              <a:t>2</a:t>
            </a:r>
            <a:r>
              <a:rPr lang="en-US" altLang="en-US" sz="2000">
                <a:cs typeface="Times New Roman" panose="02020603050405020304" pitchFamily="18" charset="0"/>
              </a:rPr>
              <a:t>-1)</a:t>
            </a:r>
            <a:endParaRPr lang="en-US" altLang="en-US" sz="2000">
              <a:latin typeface=".VnTime" pitchFamily="34" charset="0"/>
              <a:cs typeface="Times New Roman" panose="02020603050405020304" pitchFamily="18" charset="0"/>
            </a:endParaRPr>
          </a:p>
          <a:p>
            <a:pPr lvl="2" algn="just">
              <a:lnSpc>
                <a:spcPct val="120000"/>
              </a:lnSpc>
            </a:pPr>
            <a:r>
              <a:rPr lang="en-US" altLang="en-US" sz="2000" err="1">
                <a:cs typeface="Times New Roman" panose="02020603050405020304" pitchFamily="18" charset="0"/>
              </a:rPr>
              <a:t>Thay</a:t>
            </a:r>
            <a:r>
              <a:rPr lang="en-US" altLang="en-US" sz="2000">
                <a:cs typeface="Times New Roman" panose="02020603050405020304" pitchFamily="18" charset="0"/>
              </a:rPr>
              <a:t>  </a:t>
            </a:r>
            <a:r>
              <a:rPr lang="en-US" altLang="en-US" sz="2000" err="1">
                <a:cs typeface="Times New Roman" panose="02020603050405020304" pitchFamily="18" charset="0"/>
              </a:rPr>
              <a:t>i</a:t>
            </a:r>
            <a:r>
              <a:rPr lang="en-US" altLang="en-US" sz="2000">
                <a:cs typeface="Times New Roman" panose="02020603050405020304" pitchFamily="18" charset="0"/>
              </a:rPr>
              <a:t>=i</a:t>
            </a:r>
            <a:r>
              <a:rPr lang="en-US" altLang="en-US" sz="2000" baseline="-30000">
                <a:cs typeface="Times New Roman" panose="02020603050405020304" pitchFamily="18" charset="0"/>
              </a:rPr>
              <a:t>1</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j=i</a:t>
            </a:r>
            <a:r>
              <a:rPr lang="en-US" altLang="en-US" sz="2000" baseline="-30000">
                <a:cs typeface="Times New Roman" panose="02020603050405020304" pitchFamily="18" charset="0"/>
              </a:rPr>
              <a:t>2</a:t>
            </a:r>
            <a:r>
              <a:rPr lang="en-US" altLang="en-US" sz="2000">
                <a:cs typeface="Times New Roman" panose="02020603050405020304" pitchFamily="18" charset="0"/>
              </a:rPr>
              <a:t>, ta </a:t>
            </a:r>
            <a:r>
              <a:rPr lang="en-US" altLang="en-US" sz="2000" err="1">
                <a:cs typeface="Times New Roman" panose="02020603050405020304" pitchFamily="18" charset="0"/>
              </a:rPr>
              <a:t>lại</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công</a:t>
            </a:r>
            <a:r>
              <a:rPr lang="en-US" altLang="en-US" sz="2000">
                <a:cs typeface="Times New Roman" panose="02020603050405020304" pitchFamily="18" charset="0"/>
              </a:rPr>
              <a:t> </a:t>
            </a:r>
            <a:r>
              <a:rPr lang="en-US" altLang="en-US" sz="2000" err="1">
                <a:cs typeface="Times New Roman" panose="02020603050405020304" pitchFamily="18" charset="0"/>
              </a:rPr>
              <a:t>thức</a:t>
            </a:r>
            <a:r>
              <a:rPr lang="en-US" altLang="en-US" sz="2000">
                <a:cs typeface="Times New Roman" panose="02020603050405020304" pitchFamily="18" charset="0"/>
              </a:rPr>
              <a:t> (2.11)</a:t>
            </a:r>
            <a:endParaRPr lang="en-US" altLang="en-US" sz="2000">
              <a:latin typeface=".VnTime" pitchFamily="34" charset="0"/>
              <a:cs typeface="Times New Roman" panose="02020603050405020304" pitchFamily="18" charset="0"/>
            </a:endParaRPr>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25</a:t>
            </a:fld>
            <a:endParaRPr lang="en-US"/>
          </a:p>
        </p:txBody>
      </p:sp>
    </p:spTree>
    <p:extLst>
      <p:ext uri="{BB962C8B-B14F-4D97-AF65-F5344CB8AC3E}">
        <p14:creationId xmlns:p14="http://schemas.microsoft.com/office/powerpoint/2010/main" val="1134950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trật tự trước sau, hoặc xi đứng trước xj (</a:t>
            </a:r>
            <a:r>
              <a:rPr lang="vi-VN" b="1"/>
              <a:t>xi gần đầu danh</a:t>
            </a:r>
          </a:p>
          <a:p>
            <a:r>
              <a:rPr lang="vi-VN" b="1"/>
              <a:t>sách hơn xj</a:t>
            </a:r>
            <a:r>
              <a:rPr lang="vi-VN"/>
              <a:t>) hoặc xi đứng sau xj (xi gần đuôi danh sách hơn</a:t>
            </a:r>
            <a:endParaRPr lang="en-US"/>
          </a:p>
          <a:p>
            <a:endParaRPr lang="en-US"/>
          </a:p>
          <a:p>
            <a:r>
              <a:rPr lang="en-US" altLang="en-US" sz="1200">
                <a:cs typeface="Times New Roman" panose="02020603050405020304" pitchFamily="18" charset="0"/>
                <a:sym typeface="Symbol" panose="05050102010706020507" pitchFamily="18" charset="2"/>
              </a:rPr>
              <a:t> </a:t>
            </a:r>
            <a:r>
              <a:rPr lang="vi-VN"/>
              <a:t>(đọc là phi)</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29</a:t>
            </a:fld>
            <a:endParaRPr lang="en-US"/>
          </a:p>
        </p:txBody>
      </p:sp>
    </p:spTree>
    <p:extLst>
      <p:ext uri="{BB962C8B-B14F-4D97-AF65-F5344CB8AC3E}">
        <p14:creationId xmlns:p14="http://schemas.microsoft.com/office/powerpoint/2010/main" val="2098004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b="1" i="1"/>
              <a:t>So, a priority Queue is an extension of the </a:t>
            </a:r>
            <a:r>
              <a:rPr lang="en-US" b="1" i="1">
                <a:hlinkClick r:id="rId3"/>
              </a:rPr>
              <a:t>queue </a:t>
            </a:r>
            <a:r>
              <a:rPr lang="en-US" b="1" i="1"/>
              <a:t>with the following properties. </a:t>
            </a:r>
            <a:endParaRPr lang="en-US"/>
          </a:p>
          <a:p>
            <a:r>
              <a:rPr lang="en-US"/>
              <a:t>Every item has a priority associated with it.</a:t>
            </a:r>
          </a:p>
          <a:p>
            <a:r>
              <a:rPr lang="en-US"/>
              <a:t>An element with high priority is </a:t>
            </a:r>
            <a:r>
              <a:rPr lang="en-US" err="1"/>
              <a:t>dequeued</a:t>
            </a:r>
            <a:r>
              <a:rPr lang="en-US"/>
              <a:t> before an element with low priority.</a:t>
            </a:r>
          </a:p>
          <a:p>
            <a:r>
              <a:rPr lang="en-US"/>
              <a:t>If two elements have the same priority, they are served according to their order in the queue.</a:t>
            </a:r>
          </a:p>
          <a:p>
            <a:endParaRPr lang="en-US"/>
          </a:p>
          <a:p>
            <a:r>
              <a:rPr lang="vi-VN"/>
              <a:t>Để cài đặt PriorityQueue theo cách này, chúng ta có thể suy nghĩ theo 2 hướng:</a:t>
            </a:r>
          </a:p>
          <a:p>
            <a:r>
              <a:rPr lang="vi-VN" i="1"/>
              <a:t>Không sắp xếp trước (lazy approach)</a:t>
            </a:r>
            <a:r>
              <a:rPr lang="vi-VN"/>
              <a:t>: Với thao tác enqueue(), chỉ việc đơn giản là thêm mới một phần tử vào danh sách mà không cần làm gì thêm. Do đó, độ phức tạp của thao tác này là O(1). Nhưng đối với thao tác dequeue(), chúng ta cần phải duyệt qua danh sách để tìm phần tử có độ ưu tiên cao nhất sau đó remove phần tử này khỏi danh sách nên độ phức tạp là O(N).</a:t>
            </a:r>
          </a:p>
          <a:p>
            <a:r>
              <a:rPr lang="vi-VN" i="1"/>
              <a:t>Sắp xếp trước (eager approach)</a:t>
            </a:r>
            <a:r>
              <a:rPr lang="vi-VN"/>
              <a:t>: Ở hướng này, chúng ta sẽ sắp xếp danh sách mỗi khi thêm vào để cho thao tác lấy là ít tốn kém nhất. Mỗi khi thêm vào, chúng ta cần duyệt danh sách để thêm vào đúng vị trí đảm bảo danh sách luôn được sắp xếp. Do đó, độ phức tạp là </a:t>
            </a:r>
            <a:r>
              <a:rPr lang="vi-VN">
                <a:effectLst/>
              </a:rPr>
              <a:t>O</a:t>
            </a:r>
            <a:r>
              <a:rPr lang="vi-VN"/>
              <a:t>(</a:t>
            </a:r>
            <a:r>
              <a:rPr lang="vi-VN">
                <a:effectLst/>
              </a:rPr>
              <a:t>N</a:t>
            </a:r>
            <a:r>
              <a:rPr lang="vi-VN"/>
              <a:t>). Khi lấy ra, chỉ đơn giản lấy ra phần tử đầu tiên của danh sách vì mặc nhiên nó có độ ưu tiên cao nhất. Chẳng hạn, nếu ta định nghĩa </a:t>
            </a:r>
            <a:r>
              <a:rPr lang="vi-VN" i="1"/>
              <a:t>lớn hơn là ưu tiên hơn</a:t>
            </a:r>
            <a:r>
              <a:rPr lang="vi-VN"/>
              <a:t>, thì danh sách sẽ được sắp xếp giảm dần. Mặc nhiên phần tử đầu tiên sẽ là phần tử lớn nhất. Do vậy nên độ phức tạp của thao tác này là </a:t>
            </a:r>
            <a:r>
              <a:rPr lang="vi-VN">
                <a:effectLst/>
              </a:rPr>
              <a:t>O</a:t>
            </a:r>
            <a:r>
              <a:rPr lang="vi-VN"/>
              <a:t>(1).</a:t>
            </a:r>
          </a:p>
          <a:p>
            <a:endParaRPr lang="en-US"/>
          </a:p>
          <a:p>
            <a:r>
              <a:rPr lang="en-US"/>
              <a:t>https://howkteam.vn/course/cau-truc-du-lieu-va-giai-thuat/tong-quan-ve-priority-queue-4384</a:t>
            </a:r>
          </a:p>
          <a:p>
            <a:r>
              <a:rPr lang="en-US" err="1"/>
              <a:t>Thông</a:t>
            </a:r>
            <a:r>
              <a:rPr lang="en-US" baseline="0"/>
              <a:t> </a:t>
            </a:r>
            <a:r>
              <a:rPr lang="en-US" baseline="0" err="1"/>
              <a:t>thường</a:t>
            </a:r>
            <a:r>
              <a:rPr lang="en-US" baseline="0"/>
              <a:t> </a:t>
            </a:r>
            <a:r>
              <a:rPr lang="en-US" baseline="0" err="1"/>
              <a:t>giá</a:t>
            </a:r>
            <a:r>
              <a:rPr lang="en-US" baseline="0"/>
              <a:t> </a:t>
            </a:r>
            <a:r>
              <a:rPr lang="en-US" baseline="0" err="1"/>
              <a:t>trị</a:t>
            </a:r>
            <a:r>
              <a:rPr lang="en-US" baseline="0"/>
              <a:t> </a:t>
            </a:r>
            <a:r>
              <a:rPr lang="en-US" baseline="0" err="1"/>
              <a:t>của</a:t>
            </a:r>
            <a:r>
              <a:rPr lang="en-US" baseline="0"/>
              <a:t> </a:t>
            </a:r>
            <a:r>
              <a:rPr lang="en-US" baseline="0" err="1"/>
              <a:t>pt</a:t>
            </a:r>
            <a:r>
              <a:rPr lang="en-US" baseline="0"/>
              <a:t> </a:t>
            </a:r>
            <a:r>
              <a:rPr lang="en-US" baseline="0" err="1"/>
              <a:t>được</a:t>
            </a:r>
            <a:r>
              <a:rPr lang="en-US" baseline="0"/>
              <a:t> </a:t>
            </a:r>
            <a:r>
              <a:rPr lang="en-US" baseline="0" err="1"/>
              <a:t>dùng</a:t>
            </a:r>
            <a:r>
              <a:rPr lang="en-US" baseline="0"/>
              <a:t> </a:t>
            </a:r>
            <a:r>
              <a:rPr lang="en-US" baseline="0" err="1"/>
              <a:t>là</a:t>
            </a:r>
            <a:r>
              <a:rPr lang="en-US" baseline="0"/>
              <a:t> </a:t>
            </a:r>
            <a:r>
              <a:rPr lang="en-US" baseline="0" err="1"/>
              <a:t>độ</a:t>
            </a:r>
            <a:r>
              <a:rPr lang="en-US" baseline="0"/>
              <a:t> </a:t>
            </a:r>
            <a:r>
              <a:rPr lang="en-US" baseline="0" err="1"/>
              <a:t>ưu</a:t>
            </a:r>
            <a:r>
              <a:rPr lang="en-US" baseline="0"/>
              <a:t> </a:t>
            </a:r>
            <a:r>
              <a:rPr lang="en-US" baseline="0" err="1"/>
              <a:t>tiên</a:t>
            </a:r>
            <a:r>
              <a:rPr lang="en-US" baseline="0"/>
              <a:t> </a:t>
            </a:r>
            <a:r>
              <a:rPr lang="en-US" baseline="0" err="1"/>
              <a:t>của</a:t>
            </a:r>
            <a:r>
              <a:rPr lang="en-US" baseline="0"/>
              <a:t> </a:t>
            </a:r>
            <a:r>
              <a:rPr lang="en-US" baseline="0" err="1"/>
              <a:t>phần</a:t>
            </a:r>
            <a:r>
              <a:rPr lang="en-US" baseline="0"/>
              <a:t> </a:t>
            </a:r>
            <a:r>
              <a:rPr lang="en-US" baseline="0" err="1"/>
              <a:t>tử</a:t>
            </a:r>
            <a:endParaRPr lang="en-US"/>
          </a:p>
          <a:p>
            <a:r>
              <a:rPr lang="en-US" err="1"/>
              <a:t>pq.push</a:t>
            </a:r>
            <a:r>
              <a:rPr lang="en-US"/>
              <a:t>(1);</a:t>
            </a:r>
          </a:p>
          <a:p>
            <a:r>
              <a:rPr lang="en-US" err="1"/>
              <a:t>pq.push</a:t>
            </a:r>
            <a:r>
              <a:rPr lang="en-US"/>
              <a:t>(5);</a:t>
            </a:r>
          </a:p>
          <a:p>
            <a:r>
              <a:rPr lang="en-US" err="1"/>
              <a:t>pq.push</a:t>
            </a:r>
            <a:r>
              <a:rPr lang="en-US"/>
              <a:t>(3); </a:t>
            </a:r>
          </a:p>
          <a:p>
            <a:r>
              <a:rPr lang="en-US" err="1"/>
              <a:t>pq.push</a:t>
            </a:r>
            <a:r>
              <a:rPr lang="en-US"/>
              <a:t>(4);</a:t>
            </a:r>
          </a:p>
          <a:p>
            <a:r>
              <a:rPr lang="en-US"/>
              <a:t>PQ </a:t>
            </a:r>
            <a:r>
              <a:rPr lang="en-US" err="1"/>
              <a:t>khoi</a:t>
            </a:r>
            <a:r>
              <a:rPr lang="en-US"/>
              <a:t> </a:t>
            </a:r>
            <a:r>
              <a:rPr lang="en-US" err="1"/>
              <a:t>tao</a:t>
            </a:r>
            <a:r>
              <a:rPr lang="en-US"/>
              <a:t> : 5 4 3 1 // in </a:t>
            </a:r>
            <a:r>
              <a:rPr lang="en-US" err="1"/>
              <a:t>ra</a:t>
            </a:r>
            <a:r>
              <a:rPr lang="en-US"/>
              <a:t> </a:t>
            </a:r>
            <a:r>
              <a:rPr lang="en-US" err="1"/>
              <a:t>bằng</a:t>
            </a:r>
            <a:r>
              <a:rPr lang="en-US" baseline="0"/>
              <a:t> </a:t>
            </a:r>
            <a:r>
              <a:rPr lang="en-US" baseline="0" err="1"/>
              <a:t>cách</a:t>
            </a:r>
            <a:r>
              <a:rPr lang="en-US" baseline="0"/>
              <a:t> </a:t>
            </a:r>
            <a:r>
              <a:rPr lang="en-US" baseline="0" err="1"/>
              <a:t>printf</a:t>
            </a:r>
            <a:r>
              <a:rPr lang="en-US" baseline="0"/>
              <a:t> </a:t>
            </a:r>
            <a:r>
              <a:rPr lang="en-US" baseline="0" err="1"/>
              <a:t>pq.top</a:t>
            </a:r>
            <a:r>
              <a:rPr lang="en-US" baseline="0"/>
              <a:t>();</a:t>
            </a:r>
            <a:endParaRPr lang="en-US"/>
          </a:p>
          <a:p>
            <a:r>
              <a:rPr lang="en-US"/>
              <a:t>Phan </a:t>
            </a:r>
            <a:r>
              <a:rPr lang="en-US" err="1"/>
              <a:t>tu</a:t>
            </a:r>
            <a:r>
              <a:rPr lang="en-US"/>
              <a:t> </a:t>
            </a:r>
            <a:r>
              <a:rPr lang="en-US" err="1"/>
              <a:t>dau</a:t>
            </a:r>
            <a:r>
              <a:rPr lang="en-US"/>
              <a:t> </a:t>
            </a:r>
            <a:r>
              <a:rPr lang="en-US" err="1"/>
              <a:t>tien</a:t>
            </a:r>
            <a:r>
              <a:rPr lang="en-US"/>
              <a:t> </a:t>
            </a:r>
            <a:r>
              <a:rPr lang="en-US" err="1"/>
              <a:t>trong</a:t>
            </a:r>
            <a:r>
              <a:rPr lang="en-US"/>
              <a:t> priority queue la: 5</a:t>
            </a:r>
          </a:p>
          <a:p>
            <a:r>
              <a:rPr lang="en-US"/>
              <a:t>PQ </a:t>
            </a:r>
            <a:r>
              <a:rPr lang="en-US" err="1"/>
              <a:t>sau</a:t>
            </a:r>
            <a:r>
              <a:rPr lang="en-US"/>
              <a:t> </a:t>
            </a:r>
            <a:r>
              <a:rPr lang="en-US" err="1"/>
              <a:t>pq.pop</a:t>
            </a:r>
            <a:r>
              <a:rPr lang="en-US"/>
              <a:t>() : 4 3 1 </a:t>
            </a:r>
          </a:p>
          <a:p>
            <a:r>
              <a:rPr lang="en-US"/>
              <a:t>PQ </a:t>
            </a:r>
            <a:r>
              <a:rPr lang="en-US" err="1"/>
              <a:t>sau</a:t>
            </a:r>
            <a:r>
              <a:rPr lang="en-US"/>
              <a:t> </a:t>
            </a:r>
            <a:r>
              <a:rPr lang="en-US" err="1"/>
              <a:t>pq.push</a:t>
            </a:r>
            <a:r>
              <a:rPr lang="en-US"/>
              <a:t>(7) : 7 4 3 1 </a:t>
            </a:r>
          </a:p>
          <a:p>
            <a:r>
              <a:rPr lang="en-US"/>
              <a:t>Phan </a:t>
            </a:r>
            <a:r>
              <a:rPr lang="en-US" err="1"/>
              <a:t>tu</a:t>
            </a:r>
            <a:r>
              <a:rPr lang="en-US"/>
              <a:t> </a:t>
            </a:r>
            <a:r>
              <a:rPr lang="en-US" err="1"/>
              <a:t>dau</a:t>
            </a:r>
            <a:r>
              <a:rPr lang="en-US"/>
              <a:t> </a:t>
            </a:r>
            <a:r>
              <a:rPr lang="en-US" err="1"/>
              <a:t>tien</a:t>
            </a:r>
            <a:r>
              <a:rPr lang="en-US"/>
              <a:t> </a:t>
            </a:r>
            <a:r>
              <a:rPr lang="en-US" err="1"/>
              <a:t>trong</a:t>
            </a:r>
            <a:r>
              <a:rPr lang="en-US"/>
              <a:t> priority queue la: 7</a:t>
            </a:r>
          </a:p>
          <a:p>
            <a:r>
              <a:rPr lang="en-US" err="1"/>
              <a:t>Kich</a:t>
            </a:r>
            <a:r>
              <a:rPr lang="en-US"/>
              <a:t> </a:t>
            </a:r>
            <a:r>
              <a:rPr lang="en-US" err="1"/>
              <a:t>thuoc</a:t>
            </a:r>
            <a:r>
              <a:rPr lang="en-US"/>
              <a:t> priority queue la: 4</a:t>
            </a:r>
          </a:p>
        </p:txBody>
      </p:sp>
      <p:sp>
        <p:nvSpPr>
          <p:cNvPr id="4" name="Slide Number Placeholder 3"/>
          <p:cNvSpPr>
            <a:spLocks noGrp="1"/>
          </p:cNvSpPr>
          <p:nvPr>
            <p:ph type="sldNum" sz="quarter" idx="10"/>
          </p:nvPr>
        </p:nvSpPr>
        <p:spPr/>
        <p:txBody>
          <a:bodyPr/>
          <a:lstStyle/>
          <a:p>
            <a:fld id="{76159C16-962D-45B7-9AE3-AA455C3EA8F0}" type="slidenum">
              <a:rPr lang="en-US" smtClean="0"/>
              <a:pPr/>
              <a:t>36</a:t>
            </a:fld>
            <a:endParaRPr lang="en-US"/>
          </a:p>
        </p:txBody>
      </p:sp>
    </p:spTree>
    <p:extLst>
      <p:ext uri="{BB962C8B-B14F-4D97-AF65-F5344CB8AC3E}">
        <p14:creationId xmlns:p14="http://schemas.microsoft.com/office/powerpoint/2010/main" val="711674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err="1">
                <a:cs typeface="Times New Roman" panose="02020603050405020304" pitchFamily="18" charset="0"/>
              </a:rPr>
              <a:t>Khi</a:t>
            </a:r>
            <a:r>
              <a:rPr lang="en-US" altLang="en-US" sz="1200">
                <a:cs typeface="Times New Roman" panose="02020603050405020304" pitchFamily="18" charset="0"/>
              </a:rPr>
              <a:t> </a:t>
            </a:r>
            <a:r>
              <a:rPr lang="en-US" altLang="en-US" sz="1200" err="1">
                <a:cs typeface="Times New Roman" panose="02020603050405020304" pitchFamily="18" charset="0"/>
              </a:rPr>
              <a:t>sử</a:t>
            </a:r>
            <a:r>
              <a:rPr lang="en-US" altLang="en-US" sz="1200">
                <a:cs typeface="Times New Roman" panose="02020603050405020304" pitchFamily="18" charset="0"/>
              </a:rPr>
              <a:t> </a:t>
            </a:r>
            <a:r>
              <a:rPr lang="en-US" altLang="en-US" sz="1200" err="1">
                <a:cs typeface="Times New Roman" panose="02020603050405020304" pitchFamily="18" charset="0"/>
              </a:rPr>
              <a:t>dụng</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CTLT </a:t>
            </a:r>
            <a:r>
              <a:rPr lang="en-US" altLang="en-US" sz="1200" err="1">
                <a:cs typeface="Times New Roman" panose="02020603050405020304" pitchFamily="18" charset="0"/>
              </a:rPr>
              <a:t>để</a:t>
            </a:r>
            <a:r>
              <a:rPr lang="en-US" altLang="en-US" sz="1200">
                <a:cs typeface="Times New Roman" panose="02020603050405020304" pitchFamily="18" charset="0"/>
              </a:rPr>
              <a:t> </a:t>
            </a:r>
            <a:r>
              <a:rPr lang="en-US" altLang="en-US" sz="1200" err="1">
                <a:cs typeface="Times New Roman" panose="02020603050405020304" pitchFamily="18" charset="0"/>
              </a:rPr>
              <a:t>cài</a:t>
            </a:r>
            <a:r>
              <a:rPr lang="en-US" altLang="en-US" sz="1200">
                <a:cs typeface="Times New Roman" panose="02020603050405020304" pitchFamily="18" charset="0"/>
              </a:rPr>
              <a:t> </a:t>
            </a:r>
            <a:r>
              <a:rPr lang="en-US" altLang="en-US" sz="1200" err="1">
                <a:cs typeface="Times New Roman" panose="02020603050405020304" pitchFamily="18" charset="0"/>
              </a:rPr>
              <a:t>đặt</a:t>
            </a:r>
            <a:r>
              <a:rPr lang="en-US" altLang="en-US" sz="1200">
                <a:cs typeface="Times New Roman" panose="02020603050405020304" pitchFamily="18" charset="0"/>
              </a:rPr>
              <a:t> </a:t>
            </a:r>
            <a:r>
              <a:rPr lang="en-US" altLang="en-US" sz="1200" err="1">
                <a:cs typeface="Times New Roman" panose="02020603050405020304" pitchFamily="18" charset="0"/>
              </a:rPr>
              <a:t>cho</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cấu</a:t>
            </a:r>
            <a:r>
              <a:rPr lang="en-US" altLang="en-US" sz="1200">
                <a:cs typeface="Times New Roman" panose="02020603050405020304" pitchFamily="18" charset="0"/>
              </a:rPr>
              <a:t> </a:t>
            </a:r>
            <a:r>
              <a:rPr lang="en-US" altLang="en-US" sz="1200" err="1">
                <a:cs typeface="Times New Roman" panose="02020603050405020304" pitchFamily="18" charset="0"/>
              </a:rPr>
              <a:t>trúc</a:t>
            </a:r>
            <a:r>
              <a:rPr lang="en-US" altLang="en-US" sz="1200">
                <a:cs typeface="Times New Roman" panose="02020603050405020304" pitchFamily="18" charset="0"/>
              </a:rPr>
              <a:t> </a:t>
            </a:r>
            <a:r>
              <a:rPr lang="en-US" altLang="en-US" sz="1200" err="1">
                <a:cs typeface="Times New Roman" panose="02020603050405020304" pitchFamily="18" charset="0"/>
              </a:rPr>
              <a:t>dữ</a:t>
            </a:r>
            <a:r>
              <a:rPr lang="en-US" altLang="en-US" sz="1200">
                <a:cs typeface="Times New Roman" panose="02020603050405020304" pitchFamily="18" charset="0"/>
              </a:rPr>
              <a:t> </a:t>
            </a:r>
            <a:r>
              <a:rPr lang="en-US" altLang="en-US" sz="1200" err="1">
                <a:cs typeface="Times New Roman" panose="02020603050405020304" pitchFamily="18" charset="0"/>
              </a:rPr>
              <a:t>liệu</a:t>
            </a:r>
            <a:r>
              <a:rPr lang="en-US" altLang="en-US" sz="1200">
                <a:cs typeface="Times New Roman" panose="02020603050405020304" pitchFamily="18" charset="0"/>
              </a:rPr>
              <a:t>, </a:t>
            </a:r>
            <a:r>
              <a:rPr lang="en-US" altLang="en-US" sz="1200" err="1">
                <a:cs typeface="Times New Roman" panose="02020603050405020304" pitchFamily="18" charset="0"/>
              </a:rPr>
              <a:t>chúng</a:t>
            </a:r>
            <a:r>
              <a:rPr lang="en-US" altLang="en-US" sz="1200">
                <a:cs typeface="Times New Roman" panose="02020603050405020304" pitchFamily="18" charset="0"/>
              </a:rPr>
              <a:t> ta </a:t>
            </a:r>
            <a:r>
              <a:rPr lang="en-US" altLang="en-US" sz="1200" err="1">
                <a:cs typeface="Times New Roman" panose="02020603050405020304" pitchFamily="18" charset="0"/>
              </a:rPr>
              <a:t>phải</a:t>
            </a:r>
            <a:r>
              <a:rPr lang="en-US" altLang="en-US" sz="1200">
                <a:cs typeface="Times New Roman" panose="02020603050405020304" pitchFamily="18" charset="0"/>
              </a:rPr>
              <a:t> </a:t>
            </a:r>
            <a:r>
              <a:rPr lang="en-US" altLang="en-US" sz="1200" err="1">
                <a:cs typeface="Times New Roman" panose="02020603050405020304" pitchFamily="18" charset="0"/>
              </a:rPr>
              <a:t>lưu</a:t>
            </a:r>
            <a:r>
              <a:rPr lang="en-US" altLang="en-US" sz="1200">
                <a:cs typeface="Times New Roman" panose="02020603050405020304" pitchFamily="18" charset="0"/>
              </a:rPr>
              <a:t> ý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số</a:t>
            </a:r>
            <a:r>
              <a:rPr lang="en-US" altLang="en-US" sz="1200">
                <a:cs typeface="Times New Roman" panose="02020603050405020304" pitchFamily="18" charset="0"/>
              </a:rPr>
              <a:t> </a:t>
            </a:r>
            <a:r>
              <a:rPr lang="en-US" altLang="en-US" sz="1200" err="1">
                <a:cs typeface="Times New Roman" panose="02020603050405020304" pitchFamily="18" charset="0"/>
              </a:rPr>
              <a:t>nguyên</a:t>
            </a:r>
            <a:r>
              <a:rPr lang="en-US" altLang="en-US" sz="1200">
                <a:cs typeface="Times New Roman" panose="02020603050405020304" pitchFamily="18" charset="0"/>
              </a:rPr>
              <a:t> </a:t>
            </a:r>
            <a:r>
              <a:rPr lang="en-US" altLang="en-US" sz="1200" err="1">
                <a:cs typeface="Times New Roman" panose="02020603050405020304" pitchFamily="18" charset="0"/>
              </a:rPr>
              <a:t>tắc</a:t>
            </a:r>
            <a:r>
              <a:rPr lang="en-US" altLang="en-US" sz="1200">
                <a:cs typeface="Times New Roman" panose="02020603050405020304" pitchFamily="18" charset="0"/>
              </a:rPr>
              <a:t> </a:t>
            </a:r>
            <a:r>
              <a:rPr lang="en-US" altLang="en-US" sz="1200" err="1">
                <a:cs typeface="Times New Roman" panose="02020603050405020304" pitchFamily="18" charset="0"/>
              </a:rPr>
              <a:t>sau</a:t>
            </a:r>
            <a:r>
              <a:rPr lang="en-US" altLang="en-US" sz="1200">
                <a:cs typeface="Times New Roman" panose="02020603050405020304" pitchFamily="18" charset="0"/>
              </a:rPr>
              <a:t>: </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38</a:t>
            </a:fld>
            <a:endParaRPr lang="en-US"/>
          </a:p>
        </p:txBody>
      </p:sp>
    </p:spTree>
    <p:extLst>
      <p:ext uri="{BB962C8B-B14F-4D97-AF65-F5344CB8AC3E}">
        <p14:creationId xmlns:p14="http://schemas.microsoft.com/office/powerpoint/2010/main" val="1277378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40</a:t>
            </a:fld>
            <a:endParaRPr lang="en-US"/>
          </a:p>
        </p:txBody>
      </p:sp>
    </p:spTree>
    <p:extLst>
      <p:ext uri="{BB962C8B-B14F-4D97-AF65-F5344CB8AC3E}">
        <p14:creationId xmlns:p14="http://schemas.microsoft.com/office/powerpoint/2010/main" val="4164132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 kích thước tối đa MAX của danh sách:</a:t>
            </a:r>
            <a:r>
              <a:rPr lang="en-US"/>
              <a:t> </a:t>
            </a:r>
            <a:r>
              <a:rPr lang="vi-VN"/>
              <a:t>kích thước này phải được ước</a:t>
            </a:r>
          </a:p>
          <a:p>
            <a:r>
              <a:rPr lang="vi-VN"/>
              <a:t>lượng trước và thường phụ thuộc vào nhu cầu sử dụng, hay quy định cụ thể.</a:t>
            </a:r>
            <a:endParaRPr lang="en-US"/>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41</a:t>
            </a:fld>
            <a:endParaRPr lang="en-US"/>
          </a:p>
        </p:txBody>
      </p:sp>
    </p:spTree>
    <p:extLst>
      <p:ext uri="{BB962C8B-B14F-4D97-AF65-F5344CB8AC3E}">
        <p14:creationId xmlns:p14="http://schemas.microsoft.com/office/powerpoint/2010/main" val="863486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 Head</a:t>
            </a:r>
          </a:p>
          <a:p>
            <a:r>
              <a:rPr lang="en-US"/>
              <a:t>R: rear</a:t>
            </a:r>
          </a:p>
        </p:txBody>
      </p:sp>
      <p:sp>
        <p:nvSpPr>
          <p:cNvPr id="4" name="Slide Number Placeholder 3"/>
          <p:cNvSpPr>
            <a:spLocks noGrp="1"/>
          </p:cNvSpPr>
          <p:nvPr>
            <p:ph type="sldNum" sz="quarter" idx="10"/>
          </p:nvPr>
        </p:nvSpPr>
        <p:spPr/>
        <p:txBody>
          <a:bodyPr/>
          <a:lstStyle/>
          <a:p>
            <a:fld id="{76159C16-962D-45B7-9AE3-AA455C3EA8F0}" type="slidenum">
              <a:rPr lang="en-US" smtClean="0"/>
              <a:pPr/>
              <a:t>42</a:t>
            </a:fld>
            <a:endParaRPr lang="en-US"/>
          </a:p>
        </p:txBody>
      </p:sp>
    </p:spTree>
    <p:extLst>
      <p:ext uri="{BB962C8B-B14F-4D97-AF65-F5344CB8AC3E}">
        <p14:creationId xmlns:p14="http://schemas.microsoft.com/office/powerpoint/2010/main" val="251756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Thứ</a:t>
            </a:r>
            <a:r>
              <a:rPr lang="en-US" baseline="0"/>
              <a:t> </a:t>
            </a:r>
            <a:r>
              <a:rPr lang="en-US" baseline="0" err="1"/>
              <a:t>tự</a:t>
            </a:r>
            <a:r>
              <a:rPr lang="en-US" baseline="0"/>
              <a:t> </a:t>
            </a:r>
            <a:r>
              <a:rPr lang="en-US" baseline="0" err="1"/>
              <a:t>bổ</a:t>
            </a:r>
            <a:r>
              <a:rPr lang="en-US" baseline="0"/>
              <a:t> sung: 1, 2,3,4,5 </a:t>
            </a:r>
          </a:p>
          <a:p>
            <a:r>
              <a:rPr lang="en-US" baseline="0" err="1"/>
              <a:t>thứ</a:t>
            </a:r>
            <a:r>
              <a:rPr lang="en-US" baseline="0"/>
              <a:t> </a:t>
            </a:r>
            <a:r>
              <a:rPr lang="en-US" baseline="0" err="1"/>
              <a:t>tự</a:t>
            </a:r>
            <a:r>
              <a:rPr lang="en-US" baseline="0"/>
              <a:t> </a:t>
            </a:r>
            <a:r>
              <a:rPr lang="en-US" baseline="0" err="1"/>
              <a:t>loai</a:t>
            </a:r>
            <a:r>
              <a:rPr lang="en-US" baseline="0"/>
              <a:t> </a:t>
            </a:r>
            <a:r>
              <a:rPr lang="en-US" baseline="0" err="1"/>
              <a:t>bỏ</a:t>
            </a:r>
            <a:r>
              <a:rPr lang="en-US" baseline="0"/>
              <a:t>: 5,4,3,2,1</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44</a:t>
            </a:fld>
            <a:endParaRPr lang="en-US"/>
          </a:p>
        </p:txBody>
      </p:sp>
    </p:spTree>
    <p:extLst>
      <p:ext uri="{BB962C8B-B14F-4D97-AF65-F5344CB8AC3E}">
        <p14:creationId xmlns:p14="http://schemas.microsoft.com/office/powerpoint/2010/main" val="478756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spcBef>
                <a:spcPct val="10000"/>
              </a:spcBef>
            </a:pPr>
            <a:r>
              <a:rPr lang="vi-VN" altLang="en-US">
                <a:cs typeface="Times New Roman" panose="02020603050405020304" pitchFamily="18" charset="0"/>
              </a:rPr>
              <a:t> Nếu cấu trúcdanh sách có kích thước tối đa xác định thì giá trị này cũng còn phụ thuộc vào khả</a:t>
            </a:r>
          </a:p>
          <a:p>
            <a:pPr lvl="1">
              <a:spcBef>
                <a:spcPct val="10000"/>
              </a:spcBef>
            </a:pPr>
            <a:r>
              <a:rPr lang="vi-VN" altLang="en-US">
                <a:cs typeface="Times New Roman" panose="02020603050405020304" pitchFamily="18" charset="0"/>
              </a:rPr>
              <a:t>năng cài đặt của ngôn ngữ lập trình và dung lượng của bộ nhớ còn trống.</a:t>
            </a:r>
            <a:endParaRPr lang="en-US" altLang="en-US">
              <a:cs typeface="Times New Roman" panose="02020603050405020304" pitchFamily="18" charset="0"/>
            </a:endParaRPr>
          </a:p>
          <a:p>
            <a:pPr lvl="1">
              <a:spcBef>
                <a:spcPct val="10000"/>
              </a:spcBef>
            </a:pPr>
            <a:endParaRPr lang="en-US">
              <a:cs typeface="Times New Roman" panose="02020603050405020304" pitchFamily="18" charset="0"/>
            </a:endParaRPr>
          </a:p>
          <a:p>
            <a:pPr lvl="1">
              <a:spcBef>
                <a:spcPct val="10000"/>
              </a:spcBef>
            </a:pPr>
            <a:r>
              <a:rPr lang="en-US"/>
              <a:t>Stack: </a:t>
            </a:r>
            <a:r>
              <a:rPr lang="en-US" err="1"/>
              <a:t>thực</a:t>
            </a:r>
            <a:r>
              <a:rPr lang="en-US"/>
              <a:t> </a:t>
            </a:r>
            <a:r>
              <a:rPr lang="en-US" err="1"/>
              <a:t>tế</a:t>
            </a:r>
            <a:r>
              <a:rPr lang="en-US"/>
              <a:t> </a:t>
            </a:r>
            <a:r>
              <a:rPr lang="en-US" err="1"/>
              <a:t>chỉ</a:t>
            </a:r>
            <a:r>
              <a:rPr lang="en-US"/>
              <a:t> </a:t>
            </a:r>
            <a:r>
              <a:rPr lang="en-US" err="1"/>
              <a:t>có</a:t>
            </a:r>
            <a:r>
              <a:rPr lang="en-US"/>
              <a:t> con </a:t>
            </a:r>
            <a:r>
              <a:rPr lang="en-US" err="1"/>
              <a:t>trỏ</a:t>
            </a:r>
            <a:r>
              <a:rPr lang="en-US"/>
              <a:t> </a:t>
            </a:r>
            <a:r>
              <a:rPr lang="en-US" err="1"/>
              <a:t>đỉnh</a:t>
            </a:r>
            <a:r>
              <a:rPr lang="en-US"/>
              <a:t> </a:t>
            </a:r>
            <a:r>
              <a:rPr lang="en-US" err="1"/>
              <a:t>là</a:t>
            </a:r>
            <a:r>
              <a:rPr lang="en-US"/>
              <a:t> di </a:t>
            </a:r>
            <a:r>
              <a:rPr lang="en-US" err="1"/>
              <a:t>chuyển</a:t>
            </a:r>
            <a:r>
              <a:rPr lang="en-US"/>
              <a:t>.</a:t>
            </a:r>
          </a:p>
        </p:txBody>
      </p:sp>
      <p:sp>
        <p:nvSpPr>
          <p:cNvPr id="4" name="Slide Number Placeholder 3"/>
          <p:cNvSpPr>
            <a:spLocks noGrp="1"/>
          </p:cNvSpPr>
          <p:nvPr>
            <p:ph type="sldNum" sz="quarter" idx="10"/>
          </p:nvPr>
        </p:nvSpPr>
        <p:spPr/>
        <p:txBody>
          <a:bodyPr/>
          <a:lstStyle/>
          <a:p>
            <a:fld id="{76159C16-962D-45B7-9AE3-AA455C3EA8F0}" type="slidenum">
              <a:rPr lang="en-US" smtClean="0"/>
              <a:pPr/>
              <a:t>49</a:t>
            </a:fld>
            <a:endParaRPr lang="en-US"/>
          </a:p>
        </p:txBody>
      </p:sp>
    </p:spTree>
    <p:extLst>
      <p:ext uri="{BB962C8B-B14F-4D97-AF65-F5344CB8AC3E}">
        <p14:creationId xmlns:p14="http://schemas.microsoft.com/office/powerpoint/2010/main" val="3525616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https://www.geeksforgeeks.org/priority-queue-set-1-introduction/</a:t>
            </a:r>
          </a:p>
          <a:p>
            <a:endParaRPr lang="en-US"/>
          </a:p>
          <a:p>
            <a:r>
              <a:rPr lang="en-US" err="1"/>
              <a:t>Dequeue</a:t>
            </a:r>
            <a:endParaRPr lang="en-US"/>
          </a:p>
          <a:p>
            <a:r>
              <a:rPr lang="en-US"/>
              <a:t>// Find the position of the element</a:t>
            </a:r>
          </a:p>
          <a:p>
            <a:r>
              <a:rPr lang="en-US"/>
              <a:t>    // with highest priority</a:t>
            </a:r>
          </a:p>
          <a:p>
            <a:endParaRPr lang="en-US"/>
          </a:p>
          <a:p>
            <a:r>
              <a:rPr lang="en-US"/>
              <a:t> // Shift the element one index before</a:t>
            </a:r>
          </a:p>
          <a:p>
            <a:r>
              <a:rPr lang="en-US"/>
              <a:t>    // from the position of the element</a:t>
            </a:r>
          </a:p>
          <a:p>
            <a:r>
              <a:rPr lang="en-US"/>
              <a:t>    // with highest priority is found</a:t>
            </a:r>
          </a:p>
          <a:p>
            <a:r>
              <a:rPr lang="en-US"/>
              <a:t> </a:t>
            </a:r>
          </a:p>
        </p:txBody>
      </p:sp>
      <p:sp>
        <p:nvSpPr>
          <p:cNvPr id="4" name="Slide Number Placeholder 3"/>
          <p:cNvSpPr>
            <a:spLocks noGrp="1"/>
          </p:cNvSpPr>
          <p:nvPr>
            <p:ph type="sldNum" sz="quarter" idx="10"/>
          </p:nvPr>
        </p:nvSpPr>
        <p:spPr/>
        <p:txBody>
          <a:bodyPr/>
          <a:lstStyle/>
          <a:p>
            <a:fld id="{76159C16-962D-45B7-9AE3-AA455C3EA8F0}" type="slidenum">
              <a:rPr lang="en-US" smtClean="0"/>
              <a:pPr/>
              <a:t>58</a:t>
            </a:fld>
            <a:endParaRPr lang="en-US"/>
          </a:p>
        </p:txBody>
      </p:sp>
    </p:spTree>
    <p:extLst>
      <p:ext uri="{BB962C8B-B14F-4D97-AF65-F5344CB8AC3E}">
        <p14:creationId xmlns:p14="http://schemas.microsoft.com/office/powerpoint/2010/main" val="1389496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Check for the element with</a:t>
            </a:r>
          </a:p>
          <a:p>
            <a:r>
              <a:rPr lang="en-US"/>
              <a:t>    // highest priority</a:t>
            </a:r>
          </a:p>
          <a:p>
            <a:endParaRPr lang="en-US"/>
          </a:p>
          <a:p>
            <a:r>
              <a:rPr lang="en-US"/>
              <a:t> // If priority is same choose</a:t>
            </a:r>
          </a:p>
          <a:p>
            <a:r>
              <a:rPr lang="en-US"/>
              <a:t>        // the element with the</a:t>
            </a:r>
          </a:p>
          <a:p>
            <a:r>
              <a:rPr lang="en-US"/>
              <a:t>        // highest value</a:t>
            </a:r>
          </a:p>
          <a:p>
            <a:r>
              <a:rPr lang="en-US"/>
              <a:t> </a:t>
            </a:r>
          </a:p>
          <a:p>
            <a:r>
              <a:rPr lang="en-US"/>
              <a:t> // Return position of the element</a:t>
            </a:r>
          </a:p>
        </p:txBody>
      </p:sp>
      <p:sp>
        <p:nvSpPr>
          <p:cNvPr id="4" name="Slide Number Placeholder 3"/>
          <p:cNvSpPr>
            <a:spLocks noGrp="1"/>
          </p:cNvSpPr>
          <p:nvPr>
            <p:ph type="sldNum" sz="quarter" idx="10"/>
          </p:nvPr>
        </p:nvSpPr>
        <p:spPr/>
        <p:txBody>
          <a:bodyPr/>
          <a:lstStyle/>
          <a:p>
            <a:fld id="{76159C16-962D-45B7-9AE3-AA455C3EA8F0}" type="slidenum">
              <a:rPr lang="en-US" smtClean="0"/>
              <a:pPr/>
              <a:t>59</a:t>
            </a:fld>
            <a:endParaRPr lang="en-US"/>
          </a:p>
        </p:txBody>
      </p:sp>
    </p:spTree>
    <p:extLst>
      <p:ext uri="{BB962C8B-B14F-4D97-AF65-F5344CB8AC3E}">
        <p14:creationId xmlns:p14="http://schemas.microsoft.com/office/powerpoint/2010/main" val="154156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1/7/2026</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686236866"/>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1/7/2026</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332273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1/7/2026</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1414378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1/7/2026</a:t>
            </a:fld>
            <a:endParaRPr lang="en-US"/>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1299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1/7/2026</a:t>
            </a:fld>
            <a:endParaRPr lang="en-US"/>
          </a:p>
        </p:txBody>
      </p:sp>
      <p:sp>
        <p:nvSpPr>
          <p:cNvPr id="8" name="Footer Placeholder 7"/>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53517734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1/7/2026</a:t>
            </a:fld>
            <a:endParaRPr lang="en-US"/>
          </a:p>
        </p:txBody>
      </p:sp>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297344399"/>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1/7/2026</a:t>
            </a:fld>
            <a:endParaRPr lang="en-US"/>
          </a:p>
        </p:txBody>
      </p:sp>
      <p:sp>
        <p:nvSpPr>
          <p:cNvPr id="3" name="Footer Placeholder 2"/>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005278666"/>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1/7/2026</a:t>
            </a:fld>
            <a:endParaRPr lang="en-US"/>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81232879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1/7/2026</a:t>
            </a:fld>
            <a:endParaRPr lang="en-US"/>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35511501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1/7/2026</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34289350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1/7/2026</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882148493"/>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975316"/>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2459273806"/>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9602486"/>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55615"/>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2669377975"/>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6824328"/>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1063377852"/>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4060848469"/>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1/7/2026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913336285"/>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latin typeface="Gill Sans MT"/>
              </a:defRPr>
            </a:lvl1pPr>
          </a:lstStyle>
          <a:p>
            <a:fld id="{BC24317B-5122-4A99-A6E9-FA23C146A7E0}" type="slidenum">
              <a:rPr lang="en-US"/>
              <a:pPr/>
              <a:t>‹#›</a:t>
            </a:fld>
            <a:endParaRPr lang="en-US"/>
          </a:p>
        </p:txBody>
      </p:sp>
      <p:sp>
        <p:nvSpPr>
          <p:cNvPr id="6" name="Footer Placeholder 20"/>
          <p:cNvSpPr>
            <a:spLocks noGrp="1"/>
          </p:cNvSpPr>
          <p:nvPr>
            <p:ph type="ftr" sz="quarter" idx="3"/>
          </p:nvPr>
        </p:nvSpPr>
        <p:spPr>
          <a:xfrm>
            <a:off x="3124200" y="6356350"/>
            <a:ext cx="5583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Tree>
    <p:extLst>
      <p:ext uri="{BB962C8B-B14F-4D97-AF65-F5344CB8AC3E}">
        <p14:creationId xmlns:p14="http://schemas.microsoft.com/office/powerpoint/2010/main" val="3868104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1/7/2026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3"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2648779672"/>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79" r:id="rId2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15.wmf"/><Relationship Id="rId5" Type="http://schemas.openxmlformats.org/officeDocument/2006/relationships/oleObject" Target="../embeddings/oleObject2.bin"/><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 Id="rId5" Type="http://schemas.openxmlformats.org/officeDocument/2006/relationships/image" Target="../media/image25.pn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66800" y="4038600"/>
            <a:ext cx="7315200" cy="1066800"/>
          </a:xfrm>
        </p:spPr>
        <p:txBody>
          <a:bodyPr>
            <a:normAutofit/>
          </a:bodyPr>
          <a:lstStyle/>
          <a:p>
            <a:pPr algn="ctr"/>
            <a:r>
              <a:rPr lang="en-US">
                <a:solidFill>
                  <a:schemeClr val="bg1"/>
                </a:solidFill>
              </a:rPr>
              <a:t>CẤU TRÚC DỮ LIỆU VÀ GIẢI THUẬT</a:t>
            </a:r>
          </a:p>
        </p:txBody>
      </p:sp>
      <p:sp>
        <p:nvSpPr>
          <p:cNvPr id="3" name="Text Placeholder 2"/>
          <p:cNvSpPr>
            <a:spLocks noGrp="1"/>
          </p:cNvSpPr>
          <p:nvPr>
            <p:ph type="body" idx="4294967295"/>
          </p:nvPr>
        </p:nvSpPr>
        <p:spPr>
          <a:xfrm>
            <a:off x="3886200" y="4876800"/>
            <a:ext cx="6781800" cy="1143000"/>
          </a:xfrm>
        </p:spPr>
        <p:txBody>
          <a:bodyPr>
            <a:normAutofit/>
          </a:bodyPr>
          <a:lstStyle/>
          <a:p>
            <a:pPr marL="0" indent="0">
              <a:buNone/>
            </a:pPr>
            <a:r>
              <a:rPr lang="fr-FR" sz="2400">
                <a:solidFill>
                  <a:schemeClr val="bg1"/>
                </a:solidFill>
              </a:rPr>
              <a:t>ET2100</a:t>
            </a:r>
          </a:p>
          <a:p>
            <a:pPr marL="0" indent="0">
              <a:buNone/>
            </a:pPr>
            <a:endParaRPr lang="en-US" sz="240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424656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2</a:t>
            </a:fld>
            <a:endParaRPr lang="en-US"/>
          </a:p>
        </p:txBody>
      </p:sp>
      <p:sp>
        <p:nvSpPr>
          <p:cNvPr id="4" name="Title 3"/>
          <p:cNvSpPr>
            <a:spLocks noGrp="1"/>
          </p:cNvSpPr>
          <p:nvPr>
            <p:ph type="title"/>
          </p:nvPr>
        </p:nvSpPr>
        <p:spPr/>
        <p:txBody>
          <a:bodyPr/>
          <a:lstStyle/>
          <a:p>
            <a:r>
              <a:rPr lang="en-US" err="1"/>
              <a:t>Đặt</a:t>
            </a:r>
            <a:r>
              <a:rPr lang="en-US"/>
              <a:t> </a:t>
            </a:r>
            <a:r>
              <a:rPr lang="en-US" err="1"/>
              <a:t>vấn</a:t>
            </a:r>
            <a:r>
              <a:rPr lang="en-US"/>
              <a:t> </a:t>
            </a:r>
            <a:r>
              <a:rPr lang="en-US" err="1"/>
              <a:t>đề</a:t>
            </a:r>
            <a:r>
              <a:rPr lang="en-US"/>
              <a:t> - </a:t>
            </a:r>
            <a:r>
              <a:rPr lang="en-US" err="1"/>
              <a:t>X</a:t>
            </a:r>
            <a:r>
              <a:rPr lang="en-US" altLang="en-US" err="1"/>
              <a:t>ây</a:t>
            </a:r>
            <a:r>
              <a:rPr lang="en-US" altLang="en-US"/>
              <a:t> </a:t>
            </a:r>
            <a:r>
              <a:rPr lang="en-US" altLang="en-US" err="1"/>
              <a:t>dựng</a:t>
            </a:r>
            <a:r>
              <a:rPr lang="en-US" altLang="en-US"/>
              <a:t> </a:t>
            </a:r>
            <a:r>
              <a:rPr lang="en-US" altLang="en-US" err="1"/>
              <a:t>một</a:t>
            </a:r>
            <a:r>
              <a:rPr lang="en-US" altLang="en-US"/>
              <a:t> CTDL</a:t>
            </a:r>
            <a:endParaRPr lang="en-US"/>
          </a:p>
        </p:txBody>
      </p:sp>
      <p:sp>
        <p:nvSpPr>
          <p:cNvPr id="5" name="Text Placeholder 4"/>
          <p:cNvSpPr>
            <a:spLocks noGrp="1"/>
          </p:cNvSpPr>
          <p:nvPr>
            <p:ph type="body" sz="quarter" idx="13"/>
          </p:nvPr>
        </p:nvSpPr>
        <p:spPr>
          <a:xfrm>
            <a:off x="234951" y="963168"/>
            <a:ext cx="8674100" cy="5437632"/>
          </a:xfrm>
        </p:spPr>
        <p:txBody>
          <a:bodyPr>
            <a:normAutofit lnSpcReduction="10000"/>
          </a:bodyPr>
          <a:lstStyle/>
          <a:p>
            <a:pPr marL="0" indent="0">
              <a:buNone/>
            </a:pPr>
            <a:r>
              <a:rPr lang="en-US" altLang="en-US" sz="2400" b="1" err="1"/>
              <a:t>Các</a:t>
            </a:r>
            <a:r>
              <a:rPr lang="en-US" altLang="en-US" sz="2400" b="1"/>
              <a:t> </a:t>
            </a:r>
            <a:r>
              <a:rPr lang="en-US" altLang="en-US" sz="2400" b="1" err="1"/>
              <a:t>bước</a:t>
            </a:r>
            <a:r>
              <a:rPr lang="en-US" altLang="en-US" sz="2400" b="1"/>
              <a:t> </a:t>
            </a:r>
            <a:r>
              <a:rPr lang="en-US" altLang="en-US" sz="2400" b="1" err="1"/>
              <a:t>xây</a:t>
            </a:r>
            <a:r>
              <a:rPr lang="en-US" altLang="en-US" sz="2400" b="1"/>
              <a:t> </a:t>
            </a:r>
            <a:r>
              <a:rPr lang="en-US" altLang="en-US" sz="2400" b="1" err="1"/>
              <a:t>dựng</a:t>
            </a:r>
            <a:r>
              <a:rPr lang="en-US" altLang="en-US" sz="2400" b="1"/>
              <a:t> </a:t>
            </a:r>
            <a:r>
              <a:rPr lang="en-US" altLang="en-US" sz="2400" b="1" err="1"/>
              <a:t>một</a:t>
            </a:r>
            <a:r>
              <a:rPr lang="en-US" altLang="en-US" sz="2400" b="1"/>
              <a:t> CTDL</a:t>
            </a:r>
          </a:p>
          <a:p>
            <a:pPr marL="0" indent="0">
              <a:buNone/>
            </a:pPr>
            <a:endParaRPr lang="en-US" altLang="en-US" sz="1200" b="1"/>
          </a:p>
          <a:p>
            <a:pPr>
              <a:spcBef>
                <a:spcPts val="0"/>
              </a:spcBef>
            </a:pPr>
            <a:r>
              <a:rPr lang="en-US" altLang="en-US" sz="2400" u="sng" err="1"/>
              <a:t>Bước</a:t>
            </a:r>
            <a:r>
              <a:rPr lang="en-US" altLang="en-US" sz="2400" u="sng"/>
              <a:t> 1</a:t>
            </a:r>
            <a:r>
              <a:rPr lang="en-US" altLang="en-US" sz="2400"/>
              <a:t>: </a:t>
            </a:r>
            <a:r>
              <a:rPr lang="en-US" altLang="en-US" sz="2400" err="1"/>
              <a:t>Xác</a:t>
            </a:r>
            <a:r>
              <a:rPr lang="en-US" altLang="en-US" sz="2400"/>
              <a:t> </a:t>
            </a:r>
            <a:r>
              <a:rPr lang="en-US" altLang="en-US" sz="2400" err="1"/>
              <a:t>định</a:t>
            </a:r>
            <a:r>
              <a:rPr lang="en-US" altLang="en-US" sz="2400"/>
              <a:t> </a:t>
            </a:r>
            <a:r>
              <a:rPr lang="en-US" altLang="en-US" sz="2400" err="1"/>
              <a:t>đầy</a:t>
            </a:r>
            <a:r>
              <a:rPr lang="en-US" altLang="en-US" sz="2400"/>
              <a:t> </a:t>
            </a:r>
            <a:r>
              <a:rPr lang="en-US" altLang="en-US" sz="2400" err="1"/>
              <a:t>đủ</a:t>
            </a:r>
            <a:r>
              <a:rPr lang="en-US" altLang="en-US" sz="2400"/>
              <a:t> </a:t>
            </a:r>
            <a:r>
              <a:rPr lang="en-US" altLang="en-US" sz="2400" err="1"/>
              <a:t>các</a:t>
            </a:r>
            <a:r>
              <a:rPr lang="en-US" altLang="en-US" sz="2400"/>
              <a:t> </a:t>
            </a:r>
            <a:r>
              <a:rPr lang="en-US" altLang="en-US" sz="2400" err="1"/>
              <a:t>đặc</a:t>
            </a:r>
            <a:r>
              <a:rPr lang="en-US" altLang="en-US" sz="2400"/>
              <a:t> </a:t>
            </a:r>
            <a:r>
              <a:rPr lang="en-US" altLang="en-US" sz="2400" err="1"/>
              <a:t>trưng</a:t>
            </a:r>
            <a:r>
              <a:rPr lang="en-US" altLang="en-US" sz="2400"/>
              <a:t> </a:t>
            </a:r>
            <a:r>
              <a:rPr lang="en-US" altLang="en-US" sz="2400" err="1"/>
              <a:t>của</a:t>
            </a:r>
            <a:r>
              <a:rPr lang="en-US" altLang="en-US" sz="2400"/>
              <a:t> CTDL </a:t>
            </a:r>
            <a:r>
              <a:rPr lang="en-US" altLang="en-US" sz="2400" err="1"/>
              <a:t>gồm</a:t>
            </a:r>
            <a:r>
              <a:rPr lang="en-US" altLang="en-US" sz="2400"/>
              <a:t>:</a:t>
            </a:r>
          </a:p>
          <a:p>
            <a:pPr lvl="1">
              <a:spcBef>
                <a:spcPts val="0"/>
              </a:spcBef>
            </a:pPr>
            <a:r>
              <a:rPr lang="en-US" altLang="en-US" sz="2400" err="1"/>
              <a:t>Các</a:t>
            </a:r>
            <a:r>
              <a:rPr lang="en-US" altLang="en-US" sz="2400"/>
              <a:t> </a:t>
            </a:r>
            <a:r>
              <a:rPr lang="en-US" altLang="en-US" sz="2400" err="1"/>
              <a:t>thành</a:t>
            </a:r>
            <a:r>
              <a:rPr lang="en-US" altLang="en-US" sz="2400"/>
              <a:t> </a:t>
            </a:r>
            <a:r>
              <a:rPr lang="en-US" altLang="en-US" sz="2400" err="1"/>
              <a:t>phần</a:t>
            </a:r>
            <a:r>
              <a:rPr lang="en-US" altLang="en-US" sz="2400"/>
              <a:t> DL </a:t>
            </a:r>
            <a:r>
              <a:rPr lang="en-US" altLang="en-US" sz="2400" err="1"/>
              <a:t>có</a:t>
            </a:r>
            <a:r>
              <a:rPr lang="en-US" altLang="en-US" sz="2400"/>
              <a:t> </a:t>
            </a:r>
            <a:r>
              <a:rPr lang="en-US" altLang="en-US" sz="2400" err="1"/>
              <a:t>trong</a:t>
            </a:r>
            <a:r>
              <a:rPr lang="en-US" altLang="en-US" sz="2400"/>
              <a:t> CTDL </a:t>
            </a:r>
            <a:r>
              <a:rPr lang="en-US" altLang="en-US" sz="2400" err="1"/>
              <a:t>đó</a:t>
            </a:r>
            <a:r>
              <a:rPr lang="en-US" altLang="en-US" sz="2400"/>
              <a:t>,</a:t>
            </a:r>
          </a:p>
          <a:p>
            <a:pPr lvl="1">
              <a:spcBef>
                <a:spcPts val="0"/>
              </a:spcBef>
            </a:pPr>
            <a:r>
              <a:rPr lang="en-US" altLang="en-US" sz="2400" err="1"/>
              <a:t>Các</a:t>
            </a:r>
            <a:r>
              <a:rPr lang="en-US" altLang="en-US" sz="2400"/>
              <a:t> </a:t>
            </a:r>
            <a:r>
              <a:rPr lang="en-US" altLang="en-US" sz="2400" err="1"/>
              <a:t>liên</a:t>
            </a:r>
            <a:r>
              <a:rPr lang="en-US" altLang="en-US" sz="2400"/>
              <a:t> </a:t>
            </a:r>
            <a:r>
              <a:rPr lang="en-US" altLang="en-US" sz="2400" err="1"/>
              <a:t>kết</a:t>
            </a:r>
            <a:r>
              <a:rPr lang="en-US" altLang="en-US" sz="2400"/>
              <a:t> (</a:t>
            </a:r>
            <a:r>
              <a:rPr lang="en-US" altLang="en-US" sz="2400" err="1"/>
              <a:t>quan</a:t>
            </a:r>
            <a:r>
              <a:rPr lang="en-US" altLang="en-US" sz="2400"/>
              <a:t> </a:t>
            </a:r>
            <a:r>
              <a:rPr lang="en-US" altLang="en-US" sz="2400" err="1"/>
              <a:t>hệ</a:t>
            </a:r>
            <a:r>
              <a:rPr lang="en-US" altLang="en-US" sz="2400"/>
              <a:t>) </a:t>
            </a:r>
            <a:r>
              <a:rPr lang="en-US" altLang="en-US" sz="2400" err="1"/>
              <a:t>về</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giữa</a:t>
            </a:r>
            <a:r>
              <a:rPr lang="en-US" altLang="en-US" sz="2400"/>
              <a:t> </a:t>
            </a:r>
            <a:r>
              <a:rPr lang="en-US" altLang="en-US" sz="2400" err="1"/>
              <a:t>các</a:t>
            </a:r>
            <a:r>
              <a:rPr lang="en-US" altLang="en-US" sz="2400"/>
              <a:t> </a:t>
            </a:r>
            <a:r>
              <a:rPr lang="en-US" altLang="en-US" sz="2400" err="1"/>
              <a:t>thành</a:t>
            </a:r>
            <a:r>
              <a:rPr lang="en-US" altLang="en-US" sz="2400"/>
              <a:t> </a:t>
            </a:r>
            <a:r>
              <a:rPr lang="en-US" altLang="en-US" sz="2400" err="1"/>
              <a:t>phần</a:t>
            </a:r>
            <a:r>
              <a:rPr lang="en-US" altLang="en-US" sz="2400"/>
              <a:t> DL.</a:t>
            </a:r>
          </a:p>
          <a:p>
            <a:pPr marL="342900" lvl="1" indent="0">
              <a:spcBef>
                <a:spcPts val="0"/>
              </a:spcBef>
              <a:buNone/>
            </a:pPr>
            <a:endParaRPr lang="en-US" altLang="en-US" sz="2400" u="sng"/>
          </a:p>
          <a:p>
            <a:pPr>
              <a:spcBef>
                <a:spcPts val="0"/>
              </a:spcBef>
            </a:pPr>
            <a:r>
              <a:rPr lang="en-US" altLang="en-US" sz="2400" u="sng" err="1"/>
              <a:t>Bước</a:t>
            </a:r>
            <a:r>
              <a:rPr lang="en-US" altLang="en-US" sz="2400" u="sng"/>
              <a:t> 2</a:t>
            </a:r>
            <a:r>
              <a:rPr lang="en-US" altLang="en-US" sz="2400"/>
              <a:t>: </a:t>
            </a:r>
            <a:r>
              <a:rPr lang="en-US" altLang="en-US" sz="2400" err="1"/>
              <a:t>Xác</a:t>
            </a:r>
            <a:r>
              <a:rPr lang="en-US" altLang="en-US" sz="2400"/>
              <a:t> </a:t>
            </a:r>
            <a:r>
              <a:rPr lang="en-US" altLang="en-US" sz="2400" err="1"/>
              <a:t>định</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cơ</a:t>
            </a:r>
            <a:r>
              <a:rPr lang="en-US" altLang="en-US" sz="2400"/>
              <a:t> </a:t>
            </a:r>
            <a:r>
              <a:rPr lang="en-US" altLang="en-US" sz="2400" err="1"/>
              <a:t>bản</a:t>
            </a:r>
            <a:r>
              <a:rPr lang="en-US" altLang="en-US" sz="2400"/>
              <a:t> </a:t>
            </a:r>
            <a:r>
              <a:rPr lang="en-US" altLang="en-US" sz="2400" err="1"/>
              <a:t>trên</a:t>
            </a:r>
            <a:r>
              <a:rPr lang="en-US" altLang="en-US" sz="2400"/>
              <a:t> CTDL: </a:t>
            </a:r>
            <a:r>
              <a:rPr lang="en-US" altLang="en-US" sz="2400" err="1"/>
              <a:t>là</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cơ</a:t>
            </a:r>
            <a:r>
              <a:rPr lang="en-US" altLang="en-US" sz="2400"/>
              <a:t> </a:t>
            </a:r>
            <a:r>
              <a:rPr lang="en-US" altLang="en-US" sz="2400" err="1"/>
              <a:t>bản</a:t>
            </a:r>
            <a:r>
              <a:rPr lang="en-US" altLang="en-US" sz="2400"/>
              <a:t>, </a:t>
            </a:r>
            <a:r>
              <a:rPr lang="en-US" altLang="en-US" sz="2400" err="1"/>
              <a:t>cần</a:t>
            </a:r>
            <a:r>
              <a:rPr lang="en-US" altLang="en-US" sz="2400"/>
              <a:t> </a:t>
            </a:r>
            <a:r>
              <a:rPr lang="en-US" altLang="en-US" sz="2400" err="1"/>
              <a:t>thiết</a:t>
            </a:r>
            <a:r>
              <a:rPr lang="en-US" altLang="en-US" sz="2400"/>
              <a:t> </a:t>
            </a:r>
            <a:r>
              <a:rPr lang="en-US" altLang="en-US" sz="2400" err="1"/>
              <a:t>nhất</a:t>
            </a:r>
            <a:r>
              <a:rPr lang="en-US" altLang="en-US" sz="2400"/>
              <a:t> </a:t>
            </a:r>
            <a:r>
              <a:rPr lang="en-US" altLang="en-US" sz="2400" err="1"/>
              <a:t>để</a:t>
            </a:r>
            <a:r>
              <a:rPr lang="en-US" altLang="en-US" sz="2400"/>
              <a:t> </a:t>
            </a:r>
            <a:r>
              <a:rPr lang="en-US" altLang="en-US" sz="2400" err="1"/>
              <a:t>có</a:t>
            </a:r>
            <a:r>
              <a:rPr lang="en-US" altLang="en-US" sz="2400"/>
              <a:t> </a:t>
            </a:r>
            <a:r>
              <a:rPr lang="en-US" altLang="en-US" sz="2400" err="1"/>
              <a:t>thể</a:t>
            </a:r>
            <a:r>
              <a:rPr lang="en-US" altLang="en-US" sz="2400"/>
              <a:t> </a:t>
            </a:r>
            <a:r>
              <a:rPr lang="en-US" altLang="en-US" sz="2400" err="1"/>
              <a:t>sử</a:t>
            </a:r>
            <a:r>
              <a:rPr lang="en-US" altLang="en-US" sz="2400"/>
              <a:t> </a:t>
            </a:r>
            <a:r>
              <a:rPr lang="en-US" altLang="en-US" sz="2400" err="1"/>
              <a:t>dụng</a:t>
            </a:r>
            <a:r>
              <a:rPr lang="en-US" altLang="en-US" sz="2400"/>
              <a:t> </a:t>
            </a:r>
            <a:r>
              <a:rPr lang="en-US" altLang="en-US" sz="2400" err="1"/>
              <a:t>được</a:t>
            </a:r>
            <a:r>
              <a:rPr lang="en-US" altLang="en-US" sz="2400"/>
              <a:t> CTDL </a:t>
            </a:r>
            <a:r>
              <a:rPr lang="en-US" altLang="en-US" sz="2400" err="1"/>
              <a:t>này</a:t>
            </a:r>
            <a:r>
              <a:rPr lang="en-US" altLang="en-US" sz="2400"/>
              <a:t>. </a:t>
            </a:r>
          </a:p>
          <a:p>
            <a:pPr>
              <a:spcBef>
                <a:spcPts val="0"/>
              </a:spcBef>
            </a:pPr>
            <a:endParaRPr lang="en-US" altLang="en-US" sz="2400" u="sng"/>
          </a:p>
          <a:p>
            <a:pPr>
              <a:spcBef>
                <a:spcPts val="0"/>
              </a:spcBef>
            </a:pPr>
            <a:r>
              <a:rPr lang="en-US" altLang="en-US" sz="2400" u="sng" err="1"/>
              <a:t>Bước</a:t>
            </a:r>
            <a:r>
              <a:rPr lang="en-US" altLang="en-US" sz="2400" u="sng"/>
              <a:t> 3:</a:t>
            </a:r>
            <a:r>
              <a:rPr lang="en-US" altLang="en-US" sz="2400"/>
              <a:t> </a:t>
            </a:r>
            <a:r>
              <a:rPr lang="en-US" altLang="en-US" sz="2400" err="1"/>
              <a:t>Xác</a:t>
            </a:r>
            <a:r>
              <a:rPr lang="en-US" altLang="en-US" sz="2400"/>
              <a:t> </a:t>
            </a:r>
            <a:r>
              <a:rPr lang="en-US" altLang="en-US" sz="2400" err="1"/>
              <a:t>định</a:t>
            </a:r>
            <a:r>
              <a:rPr lang="en-US" altLang="en-US" sz="2400"/>
              <a:t> </a:t>
            </a:r>
            <a:r>
              <a:rPr lang="en-US" altLang="en-US" sz="2400" err="1"/>
              <a:t>các</a:t>
            </a:r>
            <a:r>
              <a:rPr lang="en-US" altLang="en-US" sz="2400"/>
              <a:t> </a:t>
            </a:r>
            <a:r>
              <a:rPr lang="en-US" altLang="en-US" sz="2400" err="1"/>
              <a:t>giải</a:t>
            </a:r>
            <a:r>
              <a:rPr lang="en-US" altLang="en-US" sz="2400"/>
              <a:t> </a:t>
            </a:r>
            <a:r>
              <a:rPr lang="en-US" altLang="en-US" sz="2400" err="1"/>
              <a:t>thuật</a:t>
            </a:r>
            <a:r>
              <a:rPr lang="en-US" altLang="en-US" sz="2400"/>
              <a:t> </a:t>
            </a:r>
            <a:r>
              <a:rPr lang="en-US" altLang="en-US" sz="2400" err="1"/>
              <a:t>cần</a:t>
            </a:r>
            <a:r>
              <a:rPr lang="en-US" altLang="en-US" sz="2400"/>
              <a:t> </a:t>
            </a:r>
            <a:r>
              <a:rPr lang="en-US" altLang="en-US" sz="2400" err="1"/>
              <a:t>thiết</a:t>
            </a:r>
            <a:r>
              <a:rPr lang="en-US" altLang="en-US" sz="2400"/>
              <a:t> </a:t>
            </a:r>
            <a:r>
              <a:rPr lang="en-US" altLang="en-US" sz="2400" err="1"/>
              <a:t>cho</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trên</a:t>
            </a:r>
            <a:r>
              <a:rPr lang="en-US" altLang="en-US" sz="2400"/>
              <a:t>. </a:t>
            </a:r>
            <a:r>
              <a:rPr lang="vi-VN" sz="2400"/>
              <a:t>Khi có nhiều giải thuật cho một thao tác, thì giải thuật có độ phức tạp nhỏ nhất sẽ được chọn</a:t>
            </a:r>
            <a:r>
              <a:rPr lang="en-US" sz="2400"/>
              <a:t>.</a:t>
            </a:r>
          </a:p>
          <a:p>
            <a:pPr>
              <a:spcBef>
                <a:spcPts val="0"/>
              </a:spcBef>
            </a:pPr>
            <a:endParaRPr lang="en-US" altLang="en-US" sz="2400" u="sng"/>
          </a:p>
          <a:p>
            <a:pPr>
              <a:spcBef>
                <a:spcPts val="0"/>
              </a:spcBef>
            </a:pPr>
            <a:r>
              <a:rPr lang="en-US" altLang="en-US" sz="2400" u="sng" err="1"/>
              <a:t>Bước</a:t>
            </a:r>
            <a:r>
              <a:rPr lang="en-US" altLang="en-US" sz="2400" u="sng"/>
              <a:t> 4</a:t>
            </a:r>
            <a:r>
              <a:rPr lang="en-US" altLang="en-US" sz="2400"/>
              <a:t>: </a:t>
            </a:r>
            <a:r>
              <a:rPr lang="en-US" altLang="en-US" sz="2400" err="1"/>
              <a:t>Xác</a:t>
            </a:r>
            <a:r>
              <a:rPr lang="en-US" altLang="en-US" sz="2400"/>
              <a:t> </a:t>
            </a:r>
            <a:r>
              <a:rPr lang="en-US" altLang="en-US" sz="2400" err="1"/>
              <a:t>định</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lưu</a:t>
            </a:r>
            <a:r>
              <a:rPr lang="en-US" altLang="en-US" sz="2400"/>
              <a:t> </a:t>
            </a:r>
            <a:r>
              <a:rPr lang="en-US" altLang="en-US" sz="2400" err="1"/>
              <a:t>trữ</a:t>
            </a:r>
            <a:r>
              <a:rPr lang="en-US" altLang="en-US" sz="2400"/>
              <a:t> </a:t>
            </a:r>
            <a:r>
              <a:rPr lang="en-US" altLang="en-US" sz="2400" err="1"/>
              <a:t>thích</a:t>
            </a:r>
            <a:r>
              <a:rPr lang="en-US" altLang="en-US" sz="2400"/>
              <a:t> </a:t>
            </a:r>
            <a:r>
              <a:rPr lang="en-US" altLang="en-US" sz="2400" err="1"/>
              <a:t>hợp</a:t>
            </a:r>
            <a:r>
              <a:rPr lang="en-US" altLang="en-US" sz="2400"/>
              <a:t> </a:t>
            </a:r>
            <a:r>
              <a:rPr lang="en-US" altLang="en-US" sz="2400" err="1"/>
              <a:t>để</a:t>
            </a:r>
            <a:r>
              <a:rPr lang="en-US" altLang="en-US" sz="2400"/>
              <a:t> </a:t>
            </a:r>
            <a:r>
              <a:rPr lang="en-US" altLang="en-US" sz="2400" err="1"/>
              <a:t>tổ</a:t>
            </a:r>
            <a:r>
              <a:rPr lang="en-US" altLang="en-US" sz="2400"/>
              <a:t> </a:t>
            </a:r>
            <a:r>
              <a:rPr lang="en-US" altLang="en-US" sz="2400" err="1"/>
              <a:t>chức</a:t>
            </a:r>
            <a:r>
              <a:rPr lang="en-US" altLang="en-US" sz="2400"/>
              <a:t> </a:t>
            </a:r>
            <a:r>
              <a:rPr lang="en-US" altLang="en-US" sz="2400" err="1"/>
              <a:t>lưu</a:t>
            </a:r>
            <a:r>
              <a:rPr lang="en-US" altLang="en-US" sz="2400"/>
              <a:t> </a:t>
            </a:r>
            <a:r>
              <a:rPr lang="en-US" altLang="en-US" sz="2400" err="1"/>
              <a:t>trữ</a:t>
            </a:r>
            <a:r>
              <a:rPr lang="en-US" altLang="en-US" sz="2400"/>
              <a:t> CTDL </a:t>
            </a:r>
            <a:r>
              <a:rPr lang="en-US" altLang="en-US" sz="2400" err="1"/>
              <a:t>một</a:t>
            </a:r>
            <a:r>
              <a:rPr lang="en-US" altLang="en-US" sz="2400"/>
              <a:t> </a:t>
            </a:r>
            <a:r>
              <a:rPr lang="en-US" altLang="en-US" sz="2400" err="1"/>
              <a:t>cách</a:t>
            </a:r>
            <a:r>
              <a:rPr lang="en-US" altLang="en-US" sz="2400"/>
              <a:t> </a:t>
            </a:r>
            <a:r>
              <a:rPr lang="en-US" altLang="en-US" sz="2400" err="1"/>
              <a:t>có</a:t>
            </a:r>
            <a:r>
              <a:rPr lang="en-US" altLang="en-US" sz="2400"/>
              <a:t> </a:t>
            </a:r>
            <a:r>
              <a:rPr lang="en-US" altLang="en-US" sz="2400" err="1"/>
              <a:t>hiệu</a:t>
            </a:r>
            <a:r>
              <a:rPr lang="en-US" altLang="en-US" sz="2400"/>
              <a:t> </a:t>
            </a:r>
            <a:r>
              <a:rPr lang="en-US" altLang="en-US" sz="2400" err="1"/>
              <a:t>quả</a:t>
            </a:r>
            <a:r>
              <a:rPr lang="en-US" altLang="en-US" sz="2400"/>
              <a:t>. </a:t>
            </a:r>
            <a:r>
              <a:rPr lang="en-US" altLang="en-US" sz="2400" err="1"/>
              <a:t>Tính</a:t>
            </a:r>
            <a:r>
              <a:rPr lang="en-US" altLang="en-US" sz="2400"/>
              <a:t> </a:t>
            </a:r>
            <a:r>
              <a:rPr lang="en-US" altLang="en-US" sz="2400" err="1"/>
              <a:t>hiệu</a:t>
            </a:r>
            <a:r>
              <a:rPr lang="en-US" altLang="en-US" sz="2400"/>
              <a:t> </a:t>
            </a:r>
            <a:r>
              <a:rPr lang="en-US" altLang="en-US" sz="2400" err="1"/>
              <a:t>quả</a:t>
            </a:r>
            <a:r>
              <a:rPr lang="en-US" altLang="en-US" sz="2400"/>
              <a:t> </a:t>
            </a:r>
            <a:r>
              <a:rPr lang="en-US" altLang="en-US" sz="2400" err="1"/>
              <a:t>thể</a:t>
            </a:r>
            <a:r>
              <a:rPr lang="en-US" altLang="en-US" sz="2400"/>
              <a:t> </a:t>
            </a:r>
            <a:r>
              <a:rPr lang="en-US" altLang="en-US" sz="2400" err="1"/>
              <a:t>hiện</a:t>
            </a:r>
            <a:r>
              <a:rPr lang="en-US" altLang="en-US" sz="2400"/>
              <a:t> ở </a:t>
            </a:r>
            <a:r>
              <a:rPr lang="en-US" altLang="en-US" sz="2400" err="1"/>
              <a:t>cả</a:t>
            </a:r>
            <a:r>
              <a:rPr lang="en-US" altLang="en-US" sz="2400"/>
              <a:t> </a:t>
            </a:r>
            <a:r>
              <a:rPr lang="en-US" altLang="en-US" sz="2400" err="1"/>
              <a:t>hai</a:t>
            </a:r>
            <a:r>
              <a:rPr lang="en-US" altLang="en-US" sz="2400"/>
              <a:t> </a:t>
            </a:r>
            <a:r>
              <a:rPr lang="en-US" altLang="en-US" sz="2400" err="1"/>
              <a:t>mặt</a:t>
            </a:r>
            <a:r>
              <a:rPr lang="en-US" altLang="en-US" sz="2400"/>
              <a:t>: </a:t>
            </a:r>
            <a:r>
              <a:rPr lang="en-US" altLang="en-US" sz="2400" err="1"/>
              <a:t>kích</a:t>
            </a:r>
            <a:r>
              <a:rPr lang="en-US" altLang="en-US" sz="2400"/>
              <a:t> </a:t>
            </a:r>
            <a:r>
              <a:rPr lang="en-US" altLang="en-US" sz="2400" err="1"/>
              <a:t>thước</a:t>
            </a:r>
            <a:r>
              <a:rPr lang="en-US" altLang="en-US" sz="2400"/>
              <a:t> </a:t>
            </a:r>
            <a:r>
              <a:rPr lang="en-US" altLang="en-US" sz="2400" err="1"/>
              <a:t>lưu</a:t>
            </a:r>
            <a:r>
              <a:rPr lang="en-US" altLang="en-US" sz="2400"/>
              <a:t> </a:t>
            </a:r>
            <a:r>
              <a:rPr lang="en-US" altLang="en-US" sz="2400" err="1"/>
              <a:t>trữ</a:t>
            </a:r>
            <a:r>
              <a:rPr lang="en-US" altLang="en-US" sz="2400"/>
              <a:t> </a:t>
            </a:r>
            <a:r>
              <a:rPr lang="en-US" altLang="en-US" sz="2400" err="1"/>
              <a:t>nhỏ</a:t>
            </a:r>
            <a:r>
              <a:rPr lang="en-US" altLang="en-US" sz="2400"/>
              <a:t> </a:t>
            </a:r>
            <a:r>
              <a:rPr lang="en-US" altLang="en-US" sz="2400" err="1"/>
              <a:t>nhất</a:t>
            </a:r>
            <a:r>
              <a:rPr lang="en-US" altLang="en-US" sz="2400"/>
              <a:t> </a:t>
            </a:r>
            <a:r>
              <a:rPr lang="en-US" altLang="en-US" sz="2400" err="1"/>
              <a:t>và</a:t>
            </a:r>
            <a:r>
              <a:rPr lang="en-US" altLang="en-US" sz="2400"/>
              <a:t> </a:t>
            </a:r>
            <a:r>
              <a:rPr lang="en-US" altLang="en-US" sz="2400" err="1"/>
              <a:t>tốc</a:t>
            </a:r>
            <a:r>
              <a:rPr lang="en-US" altLang="en-US" sz="2400"/>
              <a:t> </a:t>
            </a:r>
            <a:r>
              <a:rPr lang="en-US" altLang="en-US" sz="2400" err="1"/>
              <a:t>độ</a:t>
            </a:r>
            <a:r>
              <a:rPr lang="en-US" altLang="en-US" sz="2400"/>
              <a:t> </a:t>
            </a:r>
            <a:r>
              <a:rPr lang="en-US" altLang="en-US" sz="2400" err="1"/>
              <a:t>thực</a:t>
            </a:r>
            <a:r>
              <a:rPr lang="en-US" altLang="en-US" sz="2400"/>
              <a:t> </a:t>
            </a:r>
            <a:r>
              <a:rPr lang="en-US" altLang="en-US" sz="2400" err="1"/>
              <a:t>hiện</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là</a:t>
            </a:r>
            <a:r>
              <a:rPr lang="en-US" altLang="en-US" sz="2400"/>
              <a:t> </a:t>
            </a:r>
            <a:r>
              <a:rPr lang="en-US" altLang="en-US" sz="2400" err="1"/>
              <a:t>nhanh</a:t>
            </a:r>
            <a:r>
              <a:rPr lang="en-US" altLang="en-US" sz="2400"/>
              <a:t> </a:t>
            </a:r>
            <a:r>
              <a:rPr lang="en-US" altLang="en-US" sz="2400" err="1"/>
              <a:t>nhất</a:t>
            </a:r>
            <a:r>
              <a:rPr lang="en-US" altLang="en-US" sz="2400"/>
              <a:t>. </a:t>
            </a:r>
            <a:endParaRPr lang="en-US" altLang="en-US" sz="2400" u="sng"/>
          </a:p>
          <a:p>
            <a:endParaRPr lang="en-US"/>
          </a:p>
        </p:txBody>
      </p:sp>
    </p:spTree>
    <p:extLst>
      <p:ext uri="{BB962C8B-B14F-4D97-AF65-F5344CB8AC3E}">
        <p14:creationId xmlns:p14="http://schemas.microsoft.com/office/powerpoint/2010/main" val="6982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3</a:t>
            </a:fld>
            <a:endParaRPr lang="en-US"/>
          </a:p>
        </p:txBody>
      </p:sp>
      <p:sp>
        <p:nvSpPr>
          <p:cNvPr id="4" name="Title 3"/>
          <p:cNvSpPr>
            <a:spLocks noGrp="1"/>
          </p:cNvSpPr>
          <p:nvPr>
            <p:ph type="title"/>
          </p:nvPr>
        </p:nvSpPr>
        <p:spPr/>
        <p:txBody>
          <a:bodyPr/>
          <a:lstStyle/>
          <a:p>
            <a:r>
              <a:rPr lang="en-US" err="1"/>
              <a:t>Đặt</a:t>
            </a:r>
            <a:r>
              <a:rPr lang="en-US"/>
              <a:t> </a:t>
            </a:r>
            <a:r>
              <a:rPr lang="en-US" err="1"/>
              <a:t>vấn</a:t>
            </a:r>
            <a:r>
              <a:rPr lang="en-US"/>
              <a:t> </a:t>
            </a:r>
            <a:r>
              <a:rPr lang="en-US" err="1"/>
              <a:t>đề</a:t>
            </a:r>
            <a:r>
              <a:rPr lang="en-US"/>
              <a:t> - </a:t>
            </a:r>
            <a:r>
              <a:rPr lang="en-US" err="1"/>
              <a:t>X</a:t>
            </a:r>
            <a:r>
              <a:rPr lang="en-US" altLang="en-US" err="1"/>
              <a:t>ây</a:t>
            </a:r>
            <a:r>
              <a:rPr lang="en-US" altLang="en-US"/>
              <a:t> </a:t>
            </a:r>
            <a:r>
              <a:rPr lang="en-US" altLang="en-US" err="1"/>
              <a:t>dựng</a:t>
            </a:r>
            <a:r>
              <a:rPr lang="en-US" altLang="en-US"/>
              <a:t> </a:t>
            </a:r>
            <a:r>
              <a:rPr lang="en-US" altLang="en-US" err="1"/>
              <a:t>một</a:t>
            </a:r>
            <a:r>
              <a:rPr lang="en-US" altLang="en-US"/>
              <a:t> CTDL</a:t>
            </a:r>
            <a:endParaRPr lang="en-US"/>
          </a:p>
        </p:txBody>
      </p:sp>
      <p:sp>
        <p:nvSpPr>
          <p:cNvPr id="5" name="Text Placeholder 4"/>
          <p:cNvSpPr>
            <a:spLocks noGrp="1"/>
          </p:cNvSpPr>
          <p:nvPr>
            <p:ph type="body" sz="quarter" idx="13"/>
          </p:nvPr>
        </p:nvSpPr>
        <p:spPr/>
        <p:txBody>
          <a:bodyPr/>
          <a:lstStyle/>
          <a:p>
            <a:r>
              <a:rPr lang="en-US" altLang="en-US" sz="2400" u="sng" err="1"/>
              <a:t>Bước</a:t>
            </a:r>
            <a:r>
              <a:rPr lang="en-US" altLang="en-US" sz="2400" u="sng"/>
              <a:t> 5</a:t>
            </a:r>
            <a:r>
              <a:rPr lang="en-US" altLang="en-US" sz="2400"/>
              <a:t>: </a:t>
            </a:r>
            <a:r>
              <a:rPr lang="en-US" altLang="en-US" sz="2400" err="1"/>
              <a:t>Cài</a:t>
            </a:r>
            <a:r>
              <a:rPr lang="en-US" altLang="en-US" sz="2400"/>
              <a:t> </a:t>
            </a:r>
            <a:r>
              <a:rPr lang="en-US" altLang="en-US" sz="2400" err="1"/>
              <a:t>đặt</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cơ</a:t>
            </a:r>
            <a:r>
              <a:rPr lang="en-US" altLang="en-US" sz="2400"/>
              <a:t> </a:t>
            </a:r>
            <a:r>
              <a:rPr lang="en-US" altLang="en-US" sz="2400" err="1"/>
              <a:t>bản</a:t>
            </a:r>
            <a:r>
              <a:rPr lang="en-US" altLang="en-US" sz="2400"/>
              <a:t>. </a:t>
            </a:r>
            <a:r>
              <a:rPr lang="en-US" altLang="en-US" sz="2400" err="1"/>
              <a:t>Việc</a:t>
            </a:r>
            <a:r>
              <a:rPr lang="en-US" altLang="en-US" sz="2400"/>
              <a:t> </a:t>
            </a:r>
            <a:r>
              <a:rPr lang="en-US" altLang="en-US" sz="2400" err="1"/>
              <a:t>cài</a:t>
            </a:r>
            <a:r>
              <a:rPr lang="en-US" altLang="en-US" sz="2400"/>
              <a:t> </a:t>
            </a:r>
            <a:r>
              <a:rPr lang="en-US" altLang="en-US" sz="2400" err="1"/>
              <a:t>đặt</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phải</a:t>
            </a:r>
            <a:r>
              <a:rPr lang="en-US" altLang="en-US" sz="2400"/>
              <a:t> </a:t>
            </a:r>
            <a:r>
              <a:rPr lang="en-US" altLang="en-US" sz="2400" err="1"/>
              <a:t>theo</a:t>
            </a:r>
            <a:r>
              <a:rPr lang="en-US" altLang="en-US" sz="2400"/>
              <a:t> </a:t>
            </a:r>
            <a:r>
              <a:rPr lang="en-US" altLang="en-US" sz="2400" err="1"/>
              <a:t>một</a:t>
            </a:r>
            <a:r>
              <a:rPr lang="en-US" altLang="en-US" sz="2400"/>
              <a:t> </a:t>
            </a:r>
            <a:r>
              <a:rPr lang="en-US" altLang="en-US" sz="2400" err="1"/>
              <a:t>số</a:t>
            </a:r>
            <a:r>
              <a:rPr lang="en-US" altLang="en-US" sz="2400"/>
              <a:t> </a:t>
            </a:r>
            <a:r>
              <a:rPr lang="en-US" altLang="en-US" sz="2400" err="1"/>
              <a:t>nguyên</a:t>
            </a:r>
            <a:r>
              <a:rPr lang="en-US" altLang="en-US" sz="2400"/>
              <a:t> </a:t>
            </a:r>
            <a:r>
              <a:rPr lang="en-US" altLang="en-US" sz="2400" err="1"/>
              <a:t>tắc</a:t>
            </a:r>
            <a:r>
              <a:rPr lang="en-US" altLang="en-US" sz="2400"/>
              <a:t> </a:t>
            </a:r>
            <a:r>
              <a:rPr lang="en-US" altLang="en-US" sz="2400" err="1"/>
              <a:t>sau</a:t>
            </a:r>
            <a:r>
              <a:rPr lang="en-US" altLang="en-US" sz="2400"/>
              <a:t>:</a:t>
            </a:r>
          </a:p>
          <a:p>
            <a:pPr lvl="1"/>
            <a:r>
              <a:rPr lang="en-US" altLang="en-US" sz="2400"/>
              <a:t>Thao </a:t>
            </a:r>
            <a:r>
              <a:rPr lang="en-US" altLang="en-US" sz="2400" err="1"/>
              <a:t>tác</a:t>
            </a:r>
            <a:r>
              <a:rPr lang="en-US" altLang="en-US" sz="2400"/>
              <a:t> </a:t>
            </a:r>
            <a:r>
              <a:rPr lang="en-US" altLang="en-US" sz="2400" err="1"/>
              <a:t>có</a:t>
            </a:r>
            <a:r>
              <a:rPr lang="en-US" altLang="en-US" sz="2400"/>
              <a:t> </a:t>
            </a:r>
            <a:r>
              <a:rPr lang="en-US" altLang="en-US" sz="2400" err="1"/>
              <a:t>khả</a:t>
            </a:r>
            <a:r>
              <a:rPr lang="en-US" altLang="en-US" sz="2400"/>
              <a:t> </a:t>
            </a:r>
            <a:r>
              <a:rPr lang="en-US" altLang="en-US" sz="2400" err="1"/>
              <a:t>năng</a:t>
            </a:r>
            <a:r>
              <a:rPr lang="en-US" altLang="en-US" sz="2400"/>
              <a:t> </a:t>
            </a:r>
            <a:r>
              <a:rPr lang="en-US" altLang="en-US" sz="2400" err="1"/>
              <a:t>sử</a:t>
            </a:r>
            <a:r>
              <a:rPr lang="en-US" altLang="en-US" sz="2400"/>
              <a:t> </a:t>
            </a:r>
            <a:r>
              <a:rPr lang="en-US" altLang="en-US" sz="2400" err="1"/>
              <a:t>dụng</a:t>
            </a:r>
            <a:r>
              <a:rPr lang="en-US" altLang="en-US" sz="2400"/>
              <a:t> </a:t>
            </a:r>
            <a:r>
              <a:rPr lang="en-US" altLang="en-US" sz="2400" err="1"/>
              <a:t>lại</a:t>
            </a:r>
            <a:r>
              <a:rPr lang="en-US" altLang="en-US" sz="2400"/>
              <a:t> </a:t>
            </a:r>
            <a:r>
              <a:rPr lang="en-US" altLang="en-US" sz="2400" err="1"/>
              <a:t>nhiều</a:t>
            </a:r>
            <a:r>
              <a:rPr lang="en-US" altLang="en-US" sz="2400"/>
              <a:t> </a:t>
            </a:r>
            <a:r>
              <a:rPr lang="en-US" altLang="en-US" sz="2400" err="1"/>
              <a:t>lần</a:t>
            </a:r>
            <a:r>
              <a:rPr lang="en-US" altLang="en-US" sz="2400"/>
              <a:t>: </a:t>
            </a:r>
            <a:r>
              <a:rPr lang="en-US" altLang="en-US" sz="2400" err="1"/>
              <a:t>sử</a:t>
            </a:r>
            <a:r>
              <a:rPr lang="en-US" altLang="en-US" sz="2400"/>
              <a:t> </a:t>
            </a:r>
            <a:r>
              <a:rPr lang="en-US" altLang="en-US" sz="2400" err="1"/>
              <a:t>dụng</a:t>
            </a:r>
            <a:r>
              <a:rPr lang="en-US" altLang="en-US" sz="2400"/>
              <a:t> </a:t>
            </a:r>
            <a:r>
              <a:rPr lang="en-US" altLang="en-US" sz="2400" err="1"/>
              <a:t>chương</a:t>
            </a:r>
            <a:r>
              <a:rPr lang="en-US" altLang="en-US" sz="2400"/>
              <a:t> </a:t>
            </a:r>
            <a:r>
              <a:rPr lang="en-US" altLang="en-US" sz="2400" err="1"/>
              <a:t>trình</a:t>
            </a:r>
            <a:r>
              <a:rPr lang="en-US" altLang="en-US" sz="2400"/>
              <a:t> con </a:t>
            </a:r>
            <a:r>
              <a:rPr lang="en-US" altLang="en-US" sz="2400" err="1"/>
              <a:t>để</a:t>
            </a:r>
            <a:r>
              <a:rPr lang="en-US" altLang="en-US" sz="2400"/>
              <a:t> </a:t>
            </a:r>
            <a:r>
              <a:rPr lang="en-US" altLang="en-US" sz="2400" err="1"/>
              <a:t>cài</a:t>
            </a:r>
            <a:r>
              <a:rPr lang="en-US" altLang="en-US" sz="2400"/>
              <a:t> </a:t>
            </a:r>
            <a:r>
              <a:rPr lang="en-US" altLang="en-US" sz="2400" err="1"/>
              <a:t>đặt</a:t>
            </a:r>
            <a:endParaRPr lang="en-US" altLang="en-US" sz="2400"/>
          </a:p>
          <a:p>
            <a:pPr lvl="1"/>
            <a:r>
              <a:rPr lang="en-US" altLang="en-US" sz="2400"/>
              <a:t>Thao </a:t>
            </a:r>
            <a:r>
              <a:rPr lang="en-US" altLang="en-US" sz="2400" err="1"/>
              <a:t>tác</a:t>
            </a:r>
            <a:r>
              <a:rPr lang="en-US" altLang="en-US" sz="2400"/>
              <a:t> </a:t>
            </a:r>
            <a:r>
              <a:rPr lang="en-US" altLang="en-US" sz="2400" err="1"/>
              <a:t>có</a:t>
            </a:r>
            <a:r>
              <a:rPr lang="en-US" altLang="en-US" sz="2400"/>
              <a:t> </a:t>
            </a:r>
            <a:r>
              <a:rPr lang="en-US" altLang="en-US" sz="2400" err="1"/>
              <a:t>tính</a:t>
            </a:r>
            <a:r>
              <a:rPr lang="en-US" altLang="en-US" sz="2400"/>
              <a:t> </a:t>
            </a:r>
            <a:r>
              <a:rPr lang="en-US" altLang="en-US" sz="2400" err="1"/>
              <a:t>độc</a:t>
            </a:r>
            <a:r>
              <a:rPr lang="en-US" altLang="en-US" sz="2400"/>
              <a:t> </a:t>
            </a:r>
            <a:r>
              <a:rPr lang="en-US" altLang="en-US" sz="2400" err="1"/>
              <a:t>lập</a:t>
            </a:r>
            <a:r>
              <a:rPr lang="en-US" altLang="en-US" sz="2400"/>
              <a:t> </a:t>
            </a:r>
            <a:r>
              <a:rPr lang="en-US" altLang="en-US" sz="2400" err="1"/>
              <a:t>về</a:t>
            </a:r>
            <a:r>
              <a:rPr lang="en-US" altLang="en-US" sz="2400"/>
              <a:t> </a:t>
            </a:r>
            <a:r>
              <a:rPr lang="en-US" altLang="en-US" sz="2400" err="1"/>
              <a:t>mặt</a:t>
            </a:r>
            <a:r>
              <a:rPr lang="en-US" altLang="en-US" sz="2400"/>
              <a:t> </a:t>
            </a:r>
            <a:r>
              <a:rPr lang="en-US" altLang="en-US" sz="2400" err="1"/>
              <a:t>sử</a:t>
            </a:r>
            <a:r>
              <a:rPr lang="en-US" altLang="en-US" sz="2400"/>
              <a:t> </a:t>
            </a:r>
            <a:r>
              <a:rPr lang="en-US" altLang="en-US" sz="2400" err="1"/>
              <a:t>dụng</a:t>
            </a:r>
            <a:r>
              <a:rPr lang="en-US" altLang="en-US" sz="2400"/>
              <a:t> </a:t>
            </a:r>
            <a:r>
              <a:rPr lang="en-US" altLang="en-US" sz="2400" err="1"/>
              <a:t>và</a:t>
            </a:r>
            <a:r>
              <a:rPr lang="en-US" altLang="en-US" sz="2400"/>
              <a:t> </a:t>
            </a:r>
            <a:r>
              <a:rPr lang="en-US" altLang="en-US" sz="2400" err="1"/>
              <a:t>độc</a:t>
            </a:r>
            <a:r>
              <a:rPr lang="en-US" altLang="en-US" sz="2400"/>
              <a:t> </a:t>
            </a:r>
            <a:r>
              <a:rPr lang="en-US" altLang="en-US" sz="2400" err="1"/>
              <a:t>lập</a:t>
            </a:r>
            <a:r>
              <a:rPr lang="en-US" altLang="en-US" sz="2400"/>
              <a:t> </a:t>
            </a:r>
            <a:r>
              <a:rPr lang="en-US" altLang="en-US" sz="2400" err="1"/>
              <a:t>với</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r>
              <a:rPr lang="en-US" altLang="en-US" sz="2400"/>
              <a:t> </a:t>
            </a:r>
            <a:r>
              <a:rPr lang="en-US" altLang="en-US" sz="2400" err="1"/>
              <a:t>khác</a:t>
            </a:r>
            <a:r>
              <a:rPr lang="en-US" altLang="en-US" sz="2400"/>
              <a:t>. </a:t>
            </a:r>
            <a:r>
              <a:rPr lang="en-US" altLang="en-US" sz="2400" err="1"/>
              <a:t>Để</a:t>
            </a:r>
            <a:r>
              <a:rPr lang="en-US" altLang="en-US" sz="2400"/>
              <a:t> </a:t>
            </a:r>
            <a:r>
              <a:rPr lang="en-US" altLang="en-US" sz="2400" err="1"/>
              <a:t>đảm</a:t>
            </a:r>
            <a:r>
              <a:rPr lang="en-US" altLang="en-US" sz="2400"/>
              <a:t> </a:t>
            </a:r>
            <a:r>
              <a:rPr lang="en-US" altLang="en-US" sz="2400" err="1"/>
              <a:t>bảo</a:t>
            </a:r>
            <a:r>
              <a:rPr lang="en-US" altLang="en-US" sz="2400"/>
              <a:t> </a:t>
            </a:r>
            <a:r>
              <a:rPr lang="en-US" altLang="en-US" sz="2400" err="1"/>
              <a:t>tính</a:t>
            </a:r>
            <a:r>
              <a:rPr lang="en-US" altLang="en-US" sz="2400"/>
              <a:t> </a:t>
            </a:r>
            <a:r>
              <a:rPr lang="en-US" altLang="en-US" sz="2400" err="1"/>
              <a:t>chất</a:t>
            </a:r>
            <a:r>
              <a:rPr lang="en-US" altLang="en-US" sz="2400"/>
              <a:t> </a:t>
            </a:r>
            <a:r>
              <a:rPr lang="en-US" altLang="en-US" sz="2400" err="1"/>
              <a:t>này</a:t>
            </a:r>
            <a:r>
              <a:rPr lang="en-US" altLang="en-US" sz="2400"/>
              <a:t> </a:t>
            </a:r>
            <a:r>
              <a:rPr lang="en-US" altLang="en-US" sz="2400" err="1"/>
              <a:t>thì</a:t>
            </a:r>
            <a:r>
              <a:rPr lang="en-US" altLang="en-US" sz="2400"/>
              <a:t> ta </a:t>
            </a:r>
            <a:r>
              <a:rPr lang="en-US" altLang="en-US" sz="2400" err="1"/>
              <a:t>phải</a:t>
            </a:r>
            <a:r>
              <a:rPr lang="en-US" altLang="en-US" sz="2400"/>
              <a:t> </a:t>
            </a:r>
            <a:r>
              <a:rPr lang="en-US" altLang="en-US" sz="2400" err="1"/>
              <a:t>chọn</a:t>
            </a:r>
            <a:r>
              <a:rPr lang="en-US" altLang="en-US" sz="2400"/>
              <a:t> </a:t>
            </a:r>
            <a:r>
              <a:rPr lang="en-US" altLang="en-US" sz="2400" err="1"/>
              <a:t>các</a:t>
            </a:r>
            <a:r>
              <a:rPr lang="en-US" altLang="en-US" sz="2400"/>
              <a:t> </a:t>
            </a:r>
            <a:r>
              <a:rPr lang="en-US" altLang="en-US" sz="2400" err="1"/>
              <a:t>tham</a:t>
            </a:r>
            <a:r>
              <a:rPr lang="en-US" altLang="en-US" sz="2400"/>
              <a:t> </a:t>
            </a:r>
            <a:r>
              <a:rPr lang="en-US" altLang="en-US" sz="2400" err="1"/>
              <a:t>số</a:t>
            </a:r>
            <a:r>
              <a:rPr lang="en-US" altLang="en-US" sz="2400"/>
              <a:t> </a:t>
            </a:r>
            <a:r>
              <a:rPr lang="en-US" altLang="en-US" sz="2400" err="1"/>
              <a:t>hợp</a:t>
            </a:r>
            <a:r>
              <a:rPr lang="en-US" altLang="en-US" sz="2400"/>
              <a:t> </a:t>
            </a:r>
            <a:r>
              <a:rPr lang="en-US" altLang="en-US" sz="2400" err="1"/>
              <a:t>lí</a:t>
            </a:r>
            <a:r>
              <a:rPr lang="en-US" altLang="en-US" sz="2400"/>
              <a:t> </a:t>
            </a:r>
            <a:r>
              <a:rPr lang="en-US" altLang="en-US" sz="2400" err="1"/>
              <a:t>cho</a:t>
            </a:r>
            <a:r>
              <a:rPr lang="en-US" altLang="en-US" sz="2400"/>
              <a:t> </a:t>
            </a:r>
            <a:r>
              <a:rPr lang="en-US" altLang="en-US" sz="2400" err="1"/>
              <a:t>các</a:t>
            </a:r>
            <a:r>
              <a:rPr lang="en-US" altLang="en-US" sz="2400"/>
              <a:t> </a:t>
            </a:r>
            <a:r>
              <a:rPr lang="en-US" altLang="en-US" sz="2400" err="1"/>
              <a:t>thao</a:t>
            </a:r>
            <a:r>
              <a:rPr lang="en-US" altLang="en-US" sz="2400"/>
              <a:t> </a:t>
            </a:r>
            <a:r>
              <a:rPr lang="en-US" altLang="en-US" sz="2400" err="1"/>
              <a:t>tác</a:t>
            </a:r>
            <a:endParaRPr lang="en-US" altLang="en-US" sz="2400"/>
          </a:p>
          <a:p>
            <a:pPr lvl="1"/>
            <a:r>
              <a:rPr lang="en-US" altLang="en-US" sz="2400"/>
              <a:t>Thao </a:t>
            </a:r>
            <a:r>
              <a:rPr lang="en-US" altLang="en-US" sz="2400" err="1"/>
              <a:t>tác</a:t>
            </a:r>
            <a:r>
              <a:rPr lang="en-US" altLang="en-US" sz="2400"/>
              <a:t> </a:t>
            </a:r>
            <a:r>
              <a:rPr lang="en-US" altLang="en-US" sz="2400" err="1"/>
              <a:t>phải</a:t>
            </a:r>
            <a:r>
              <a:rPr lang="en-US" altLang="en-US" sz="2400"/>
              <a:t> </a:t>
            </a:r>
            <a:r>
              <a:rPr lang="en-US" altLang="en-US" sz="2400" err="1"/>
              <a:t>hiệu</a:t>
            </a:r>
            <a:r>
              <a:rPr lang="en-US" altLang="en-US" sz="2400"/>
              <a:t> </a:t>
            </a:r>
            <a:r>
              <a:rPr lang="en-US" altLang="en-US" sz="2400" err="1"/>
              <a:t>quả</a:t>
            </a:r>
            <a:r>
              <a:rPr lang="en-US" sz="2400"/>
              <a:t>: </a:t>
            </a:r>
            <a:r>
              <a:rPr lang="en-US" sz="2400" err="1"/>
              <a:t>chọn</a:t>
            </a:r>
            <a:r>
              <a:rPr lang="en-US" sz="2400"/>
              <a:t> </a:t>
            </a:r>
            <a:r>
              <a:rPr lang="en-US" sz="2400" err="1"/>
              <a:t>giải</a:t>
            </a:r>
            <a:r>
              <a:rPr lang="en-US" sz="2400"/>
              <a:t> </a:t>
            </a:r>
            <a:r>
              <a:rPr lang="en-US" sz="2400" err="1"/>
              <a:t>thuật</a:t>
            </a:r>
            <a:r>
              <a:rPr lang="en-US" sz="2400"/>
              <a:t> </a:t>
            </a:r>
            <a:r>
              <a:rPr lang="en-US" sz="2400" err="1"/>
              <a:t>tốt</a:t>
            </a:r>
            <a:r>
              <a:rPr lang="en-US" sz="2400"/>
              <a:t> </a:t>
            </a:r>
            <a:r>
              <a:rPr lang="en-US" sz="2400" err="1"/>
              <a:t>nhất</a:t>
            </a:r>
            <a:r>
              <a:rPr lang="en-US" sz="2400"/>
              <a:t> </a:t>
            </a:r>
            <a:r>
              <a:rPr lang="en-US" sz="2400" err="1"/>
              <a:t>để</a:t>
            </a:r>
            <a:r>
              <a:rPr lang="en-US" sz="2400"/>
              <a:t> </a:t>
            </a:r>
            <a:r>
              <a:rPr lang="en-US" sz="2400" err="1"/>
              <a:t>cài</a:t>
            </a:r>
            <a:r>
              <a:rPr lang="en-US" sz="2400"/>
              <a:t> </a:t>
            </a:r>
            <a:r>
              <a:rPr lang="en-US" sz="2400" err="1"/>
              <a:t>đặt</a:t>
            </a:r>
            <a:endParaRPr lang="en-US" altLang="en-US" sz="2400"/>
          </a:p>
          <a:p>
            <a:endParaRPr lang="en-US"/>
          </a:p>
        </p:txBody>
      </p:sp>
    </p:spTree>
    <p:extLst>
      <p:ext uri="{BB962C8B-B14F-4D97-AF65-F5344CB8AC3E}">
        <p14:creationId xmlns:p14="http://schemas.microsoft.com/office/powerpoint/2010/main" val="54900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2895600"/>
            <a:ext cx="6934200" cy="1066800"/>
          </a:xfrm>
        </p:spPr>
        <p:txBody>
          <a:bodyPr>
            <a:normAutofit/>
          </a:bodyPr>
          <a:lstStyle/>
          <a:p>
            <a:pPr algn="r"/>
            <a:r>
              <a:rPr lang="vi-VN" i="1"/>
              <a:t>Chương </a:t>
            </a:r>
            <a:r>
              <a:rPr lang="en-US" i="1">
                <a:latin typeface="Times New Roman" panose="02020603050405020304" pitchFamily="18" charset="0"/>
                <a:cs typeface="Times New Roman" panose="02020603050405020304" pitchFamily="18" charset="0"/>
              </a:rPr>
              <a:t>II</a:t>
            </a:r>
            <a:r>
              <a:rPr lang="vi-VN" i="1"/>
              <a:t>: </a:t>
            </a:r>
            <a:br>
              <a:rPr lang="en-US" i="1"/>
            </a:br>
            <a:r>
              <a:rPr lang="vi-VN" i="1"/>
              <a:t>Cấu trúc mảng và </a:t>
            </a:r>
            <a:r>
              <a:rPr lang="en-US" i="1">
                <a:latin typeface="Times New Roman" panose="02020603050405020304" pitchFamily="18" charset="0"/>
                <a:cs typeface="Times New Roman" panose="02020603050405020304" pitchFamily="18" charset="0"/>
              </a:rPr>
              <a:t>D</a:t>
            </a:r>
            <a:r>
              <a:rPr lang="vi-VN" i="1"/>
              <a:t>anh sách tuyến tính</a:t>
            </a:r>
            <a:endParaRPr lang="en-US" b="1" i="1"/>
          </a:p>
        </p:txBody>
      </p:sp>
      <p:sp>
        <p:nvSpPr>
          <p:cNvPr id="3" name="Title 6">
            <a:extLst>
              <a:ext uri="{FF2B5EF4-FFF2-40B4-BE49-F238E27FC236}">
                <a16:creationId xmlns:a16="http://schemas.microsoft.com/office/drawing/2014/main" id="{A4ACF486-B7D8-4A5A-B633-83527A2F99E2}"/>
              </a:ext>
            </a:extLst>
          </p:cNvPr>
          <p:cNvSpPr txBox="1">
            <a:spLocks/>
          </p:cNvSpPr>
          <p:nvPr/>
        </p:nvSpPr>
        <p:spPr>
          <a:xfrm>
            <a:off x="2209800" y="4191000"/>
            <a:ext cx="4724400" cy="111925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1400" err="1"/>
              <a:t>Giảng</a:t>
            </a:r>
            <a:r>
              <a:rPr lang="en-US" sz="1400"/>
              <a:t> </a:t>
            </a:r>
            <a:r>
              <a:rPr lang="en-US" sz="1400" err="1"/>
              <a:t>viên</a:t>
            </a:r>
            <a:r>
              <a:rPr lang="en-US" sz="1400"/>
              <a:t>: PGS.TS. Vũ Hải</a:t>
            </a:r>
          </a:p>
          <a:p>
            <a:pPr algn="ctr"/>
            <a:r>
              <a:rPr lang="en-US" sz="1400" err="1"/>
              <a:t>Khoa</a:t>
            </a:r>
            <a:r>
              <a:rPr lang="en-US" sz="1400"/>
              <a:t> </a:t>
            </a:r>
            <a:r>
              <a:rPr lang="en-US" sz="1400" err="1"/>
              <a:t>Kỹ</a:t>
            </a:r>
            <a:r>
              <a:rPr lang="en-US" sz="1400"/>
              <a:t> </a:t>
            </a:r>
            <a:r>
              <a:rPr lang="en-US" sz="1400" err="1"/>
              <a:t>thuật</a:t>
            </a:r>
            <a:r>
              <a:rPr lang="en-US" sz="1400"/>
              <a:t> </a:t>
            </a:r>
            <a:r>
              <a:rPr lang="en-US" sz="1400" err="1"/>
              <a:t>Truyền</a:t>
            </a:r>
            <a:r>
              <a:rPr lang="en-US" sz="1400"/>
              <a:t> </a:t>
            </a:r>
            <a:r>
              <a:rPr lang="en-US" sz="1400" err="1"/>
              <a:t>thông</a:t>
            </a:r>
            <a:r>
              <a:rPr lang="en-US" sz="1400"/>
              <a:t> – </a:t>
            </a:r>
            <a:r>
              <a:rPr lang="en-US" sz="1400" err="1"/>
              <a:t>Trường</a:t>
            </a:r>
            <a:r>
              <a:rPr lang="en-US" sz="1400"/>
              <a:t> </a:t>
            </a:r>
            <a:r>
              <a:rPr lang="en-US" sz="1400" err="1"/>
              <a:t>Điện</a:t>
            </a:r>
            <a:r>
              <a:rPr lang="en-US" sz="1400"/>
              <a:t> </a:t>
            </a:r>
            <a:r>
              <a:rPr lang="en-US" sz="1400" err="1"/>
              <a:t>Điện</a:t>
            </a:r>
            <a:r>
              <a:rPr lang="en-US" sz="1400"/>
              <a:t> </a:t>
            </a:r>
            <a:r>
              <a:rPr lang="en-US" sz="1400" err="1"/>
              <a:t>Tử</a:t>
            </a:r>
            <a:endParaRPr 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5</a:t>
            </a:fld>
            <a:endParaRPr lang="en-US"/>
          </a:p>
        </p:txBody>
      </p:sp>
      <p:sp>
        <p:nvSpPr>
          <p:cNvPr id="2" name="Title 1"/>
          <p:cNvSpPr>
            <a:spLocks noGrp="1"/>
          </p:cNvSpPr>
          <p:nvPr>
            <p:ph type="title"/>
          </p:nvPr>
        </p:nvSpPr>
        <p:spPr/>
        <p:txBody>
          <a:bodyPr/>
          <a:lstStyle/>
          <a:p>
            <a:r>
              <a:rPr lang="en-US" altLang="en-US" err="1"/>
              <a:t>Các</a:t>
            </a:r>
            <a:r>
              <a:rPr lang="en-US" altLang="en-US"/>
              <a:t> </a:t>
            </a:r>
            <a:r>
              <a:rPr lang="en-US" altLang="en-US" err="1"/>
              <a:t>nội</a:t>
            </a:r>
            <a:r>
              <a:rPr lang="en-US" altLang="en-US"/>
              <a:t> dung </a:t>
            </a:r>
            <a:r>
              <a:rPr lang="en-US" altLang="en-US" err="1"/>
              <a:t>chính</a:t>
            </a:r>
            <a:endParaRPr lang="en-US"/>
          </a:p>
        </p:txBody>
      </p:sp>
      <p:sp>
        <p:nvSpPr>
          <p:cNvPr id="3" name="Content Placeholder 2"/>
          <p:cNvSpPr>
            <a:spLocks noGrp="1"/>
          </p:cNvSpPr>
          <p:nvPr>
            <p:ph type="body" sz="quarter" idx="13"/>
          </p:nvPr>
        </p:nvSpPr>
        <p:spPr/>
        <p:txBody>
          <a:bodyPr/>
          <a:lstStyle/>
          <a:p>
            <a:pPr marL="571500" indent="-571500">
              <a:buFont typeface="Wingdings" panose="05000000000000000000" pitchFamily="2" charset="2"/>
              <a:buAutoNum type="arabicPeriod"/>
            </a:pPr>
            <a:r>
              <a:rPr lang="en-US" altLang="en-US" err="1"/>
              <a:t>Cấu</a:t>
            </a:r>
            <a:r>
              <a:rPr lang="en-US" altLang="en-US"/>
              <a:t> </a:t>
            </a:r>
            <a:r>
              <a:rPr lang="en-US" altLang="en-US" err="1"/>
              <a:t>trúc</a:t>
            </a:r>
            <a:r>
              <a:rPr lang="en-US" altLang="en-US"/>
              <a:t> </a:t>
            </a:r>
            <a:r>
              <a:rPr lang="en-US" altLang="en-US" err="1"/>
              <a:t>mảng</a:t>
            </a:r>
            <a:endParaRPr lang="en-US" altLang="en-US"/>
          </a:p>
          <a:p>
            <a:pPr marL="839788" lvl="1" indent="-495300"/>
            <a:r>
              <a:rPr lang="en-US" altLang="en-US" sz="2000">
                <a:cs typeface="Times New Roman" panose="02020603050405020304" pitchFamily="18" charset="0"/>
              </a:rPr>
              <a:t>1.1. </a:t>
            </a:r>
            <a:r>
              <a:rPr lang="en-US" altLang="en-US" sz="2000" err="1">
                <a:cs typeface="Times New Roman" panose="02020603050405020304" pitchFamily="18" charset="0"/>
              </a:rPr>
              <a:t>Mô</a:t>
            </a:r>
            <a:r>
              <a:rPr lang="en-US" altLang="en-US" sz="2000">
                <a:cs typeface="Times New Roman" panose="02020603050405020304" pitchFamily="18" charset="0"/>
              </a:rPr>
              <a:t> </a:t>
            </a:r>
            <a:r>
              <a:rPr lang="en-US" altLang="en-US" sz="2000" err="1">
                <a:cs typeface="Times New Roman" panose="02020603050405020304" pitchFamily="18" charset="0"/>
              </a:rPr>
              <a:t>tả</a:t>
            </a:r>
            <a:endParaRPr lang="en-US" altLang="en-US" sz="2000">
              <a:cs typeface="Times New Roman" panose="02020603050405020304" pitchFamily="18" charset="0"/>
            </a:endParaRPr>
          </a:p>
          <a:p>
            <a:pPr marL="839788" lvl="1" indent="-495300"/>
            <a:r>
              <a:rPr lang="en-US" altLang="en-US" sz="2000">
                <a:cs typeface="Times New Roman" panose="02020603050405020304" pitchFamily="18" charset="0"/>
              </a:rPr>
              <a:t>1.2.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tuần</a:t>
            </a:r>
            <a:r>
              <a:rPr lang="en-US" altLang="en-US" sz="2000">
                <a:cs typeface="Times New Roman" panose="02020603050405020304" pitchFamily="18" charset="0"/>
              </a:rPr>
              <a:t> </a:t>
            </a:r>
            <a:r>
              <a:rPr lang="en-US" altLang="en-US" sz="2000" err="1">
                <a:cs typeface="Times New Roman" panose="02020603050405020304" pitchFamily="18" charset="0"/>
              </a:rPr>
              <a:t>tự</a:t>
            </a:r>
            <a:endParaRPr lang="en-US" altLang="en-US" sz="2000">
              <a:cs typeface="Times New Roman" panose="02020603050405020304" pitchFamily="18" charset="0"/>
            </a:endParaRPr>
          </a:p>
          <a:p>
            <a:pPr marL="839788" lvl="1" indent="-495300"/>
            <a:r>
              <a:rPr lang="en-US" altLang="en-US" sz="2000">
                <a:cs typeface="Times New Roman" panose="02020603050405020304" pitchFamily="18" charset="0"/>
              </a:rPr>
              <a:t>1.3. </a:t>
            </a:r>
            <a:r>
              <a:rPr lang="en-US" altLang="en-US" sz="2000" err="1">
                <a:cs typeface="Times New Roman" panose="02020603050405020304" pitchFamily="18" charset="0"/>
              </a:rPr>
              <a:t>Cài</a:t>
            </a:r>
            <a:r>
              <a:rPr lang="en-US" altLang="en-US" sz="2000">
                <a:cs typeface="Times New Roman" panose="02020603050405020304" pitchFamily="18" charset="0"/>
              </a:rPr>
              <a:t> </a:t>
            </a:r>
            <a:r>
              <a:rPr lang="en-US" altLang="en-US" sz="2000" err="1">
                <a:cs typeface="Times New Roman" panose="02020603050405020304" pitchFamily="18" charset="0"/>
              </a:rPr>
              <a:t>đặt</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bằng</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tuần</a:t>
            </a:r>
            <a:r>
              <a:rPr lang="en-US" altLang="en-US" sz="2000">
                <a:cs typeface="Times New Roman" panose="02020603050405020304" pitchFamily="18" charset="0"/>
              </a:rPr>
              <a:t> </a:t>
            </a:r>
            <a:r>
              <a:rPr lang="en-US" altLang="en-US" sz="2000" err="1">
                <a:cs typeface="Times New Roman" panose="02020603050405020304" pitchFamily="18" charset="0"/>
              </a:rPr>
              <a:t>tự</a:t>
            </a:r>
            <a:endParaRPr lang="en-US" altLang="en-US" sz="2200">
              <a:cs typeface="Times New Roman" panose="02020603050405020304" pitchFamily="18" charset="0"/>
            </a:endParaRPr>
          </a:p>
          <a:p>
            <a:pPr marL="571500" indent="-571500">
              <a:buFont typeface="Wingdings" panose="05000000000000000000" pitchFamily="2" charset="2"/>
              <a:buAutoNum type="arabicPeriod"/>
            </a:pPr>
            <a:r>
              <a:rPr lang="en-US" altLang="en-US" err="1"/>
              <a:t>Cấu</a:t>
            </a:r>
            <a:r>
              <a:rPr lang="en-US" altLang="en-US"/>
              <a:t> </a:t>
            </a:r>
            <a:r>
              <a:rPr lang="en-US" altLang="en-US" err="1"/>
              <a:t>trúc</a:t>
            </a:r>
            <a:r>
              <a:rPr lang="en-US" altLang="en-US"/>
              <a:t> </a:t>
            </a:r>
            <a:r>
              <a:rPr lang="en-US" altLang="en-US" err="1"/>
              <a:t>danh</a:t>
            </a:r>
            <a:r>
              <a:rPr lang="en-US" altLang="en-US"/>
              <a:t> </a:t>
            </a:r>
            <a:r>
              <a:rPr lang="en-US" altLang="en-US" err="1"/>
              <a:t>sách</a:t>
            </a:r>
            <a:r>
              <a:rPr lang="en-US" altLang="en-US"/>
              <a:t> </a:t>
            </a:r>
            <a:r>
              <a:rPr lang="en-US" altLang="en-US" err="1"/>
              <a:t>tuyến</a:t>
            </a:r>
            <a:r>
              <a:rPr lang="en-US" altLang="en-US"/>
              <a:t> </a:t>
            </a:r>
            <a:r>
              <a:rPr lang="en-US" altLang="en-US" err="1"/>
              <a:t>tính</a:t>
            </a:r>
            <a:endParaRPr lang="en-US" altLang="en-US"/>
          </a:p>
          <a:p>
            <a:pPr marL="839788" lvl="1" indent="-495300"/>
            <a:r>
              <a:rPr lang="en-US" altLang="en-US" sz="2000">
                <a:cs typeface="Times New Roman" panose="02020603050405020304" pitchFamily="18" charset="0"/>
              </a:rPr>
              <a:t>2.1. </a:t>
            </a:r>
            <a:r>
              <a:rPr lang="en-US" altLang="en-US" sz="2000" err="1">
                <a:cs typeface="Times New Roman" panose="02020603050405020304" pitchFamily="18" charset="0"/>
              </a:rPr>
              <a:t>Mô</a:t>
            </a:r>
            <a:r>
              <a:rPr lang="en-US" altLang="en-US" sz="2000">
                <a:cs typeface="Times New Roman" panose="02020603050405020304" pitchFamily="18" charset="0"/>
              </a:rPr>
              <a:t> </a:t>
            </a:r>
            <a:r>
              <a:rPr lang="en-US" altLang="en-US" sz="2000" err="1">
                <a:cs typeface="Times New Roman" panose="02020603050405020304" pitchFamily="18" charset="0"/>
              </a:rPr>
              <a:t>tả</a:t>
            </a:r>
            <a:endParaRPr lang="en-US" altLang="en-US" sz="2000">
              <a:cs typeface="Times New Roman" panose="02020603050405020304" pitchFamily="18" charset="0"/>
            </a:endParaRPr>
          </a:p>
          <a:p>
            <a:pPr marL="839788" lvl="1" indent="-495300"/>
            <a:r>
              <a:rPr lang="en-US" sz="2000"/>
              <a:t>2.2. </a:t>
            </a:r>
            <a:r>
              <a:rPr lang="en-US" sz="2000" err="1"/>
              <a:t>Cài</a:t>
            </a:r>
            <a:r>
              <a:rPr lang="en-US" sz="2000"/>
              <a:t> </a:t>
            </a:r>
            <a:r>
              <a:rPr lang="en-US" sz="2000" err="1"/>
              <a:t>đặt</a:t>
            </a:r>
            <a:r>
              <a:rPr lang="en-US" sz="2000"/>
              <a:t> </a:t>
            </a:r>
            <a:r>
              <a:rPr lang="en-US" sz="2000" err="1"/>
              <a:t>danh</a:t>
            </a:r>
            <a:r>
              <a:rPr lang="en-US" sz="2000"/>
              <a:t> </a:t>
            </a:r>
            <a:r>
              <a:rPr lang="en-US" sz="2000" err="1"/>
              <a:t>sách</a:t>
            </a:r>
            <a:r>
              <a:rPr lang="en-US" sz="2000"/>
              <a:t> </a:t>
            </a:r>
            <a:r>
              <a:rPr lang="en-US" sz="2000" err="1"/>
              <a:t>bằng</a:t>
            </a:r>
            <a:r>
              <a:rPr lang="en-US" sz="2000"/>
              <a:t> </a:t>
            </a:r>
            <a:r>
              <a:rPr lang="en-US" sz="2000" err="1"/>
              <a:t>cấu</a:t>
            </a:r>
            <a:r>
              <a:rPr lang="en-US" sz="2000"/>
              <a:t> </a:t>
            </a:r>
            <a:r>
              <a:rPr lang="en-US" sz="2000" err="1"/>
              <a:t>trúc</a:t>
            </a:r>
            <a:r>
              <a:rPr lang="en-US" sz="2000"/>
              <a:t> </a:t>
            </a:r>
            <a:r>
              <a:rPr lang="en-US" sz="2000" err="1"/>
              <a:t>lưu</a:t>
            </a:r>
            <a:r>
              <a:rPr lang="en-US" sz="2000"/>
              <a:t> </a:t>
            </a:r>
            <a:r>
              <a:rPr lang="en-US" sz="2000" err="1"/>
              <a:t>trữ</a:t>
            </a:r>
            <a:r>
              <a:rPr lang="en-US" sz="2000"/>
              <a:t> </a:t>
            </a:r>
            <a:r>
              <a:rPr lang="en-US" sz="2000" err="1"/>
              <a:t>tuần</a:t>
            </a:r>
            <a:r>
              <a:rPr lang="en-US" sz="2000"/>
              <a:t> </a:t>
            </a:r>
            <a:r>
              <a:rPr lang="en-US" sz="2000" err="1"/>
              <a:t>tự</a:t>
            </a:r>
            <a:endParaRPr lang="en-US" sz="2000"/>
          </a:p>
          <a:p>
            <a:pPr marL="839788" lvl="1" indent="-495300"/>
            <a:r>
              <a:rPr lang="en-US" sz="2000"/>
              <a:t>2.3. </a:t>
            </a:r>
            <a:r>
              <a:rPr lang="en-US" sz="2000" err="1"/>
              <a:t>Cài</a:t>
            </a:r>
            <a:r>
              <a:rPr lang="en-US" sz="2000"/>
              <a:t> </a:t>
            </a:r>
            <a:r>
              <a:rPr lang="en-US" sz="2000" err="1"/>
              <a:t>đặt</a:t>
            </a:r>
            <a:r>
              <a:rPr lang="en-US" sz="2000"/>
              <a:t> </a:t>
            </a:r>
            <a:r>
              <a:rPr lang="en-US" sz="2000" err="1"/>
              <a:t>danh</a:t>
            </a:r>
            <a:r>
              <a:rPr lang="en-US" sz="2000"/>
              <a:t> </a:t>
            </a:r>
            <a:r>
              <a:rPr lang="en-US" sz="2000" err="1"/>
              <a:t>sách</a:t>
            </a:r>
            <a:r>
              <a:rPr lang="en-US" sz="2000"/>
              <a:t> </a:t>
            </a:r>
            <a:r>
              <a:rPr lang="en-US" sz="2000" err="1"/>
              <a:t>bằng</a:t>
            </a:r>
            <a:r>
              <a:rPr lang="en-US" sz="2000"/>
              <a:t> </a:t>
            </a:r>
            <a:r>
              <a:rPr lang="en-US" sz="2000" err="1"/>
              <a:t>cấu</a:t>
            </a:r>
            <a:r>
              <a:rPr lang="en-US" sz="2000"/>
              <a:t> </a:t>
            </a:r>
            <a:r>
              <a:rPr lang="en-US" sz="2000" err="1"/>
              <a:t>trúc</a:t>
            </a:r>
            <a:r>
              <a:rPr lang="en-US" sz="2000"/>
              <a:t> </a:t>
            </a:r>
            <a:r>
              <a:rPr lang="en-US" sz="2000" err="1"/>
              <a:t>lưu</a:t>
            </a:r>
            <a:r>
              <a:rPr lang="en-US" sz="2000"/>
              <a:t> </a:t>
            </a:r>
            <a:r>
              <a:rPr lang="en-US" sz="2000" err="1"/>
              <a:t>trữ</a:t>
            </a:r>
            <a:r>
              <a:rPr lang="en-US" sz="2000"/>
              <a:t> </a:t>
            </a:r>
            <a:r>
              <a:rPr lang="en-US" sz="2000" err="1"/>
              <a:t>móc</a:t>
            </a:r>
            <a:r>
              <a:rPr lang="en-US" sz="2000"/>
              <a:t> </a:t>
            </a:r>
            <a:r>
              <a:rPr lang="en-US" sz="2000" err="1"/>
              <a:t>nối</a:t>
            </a:r>
            <a:endParaRPr lang="en-US" altLang="en-US" sz="2000">
              <a:cs typeface="Times New Roman" panose="02020603050405020304" pitchFamily="18" charset="0"/>
            </a:endParaRPr>
          </a:p>
          <a:p>
            <a:pPr marL="839788" lvl="1" indent="-495300"/>
            <a:r>
              <a:rPr lang="en-US" altLang="en-US" sz="2000">
                <a:cs typeface="Times New Roman" panose="02020603050405020304" pitchFamily="18" charset="0"/>
              </a:rPr>
              <a:t>2.4.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số</a:t>
            </a:r>
            <a:r>
              <a:rPr lang="en-US" altLang="en-US" sz="2000">
                <a:cs typeface="Times New Roman" panose="02020603050405020304" pitchFamily="18" charset="0"/>
              </a:rPr>
              <a:t> </a:t>
            </a:r>
            <a:r>
              <a:rPr lang="en-US" altLang="en-US" sz="2000" err="1">
                <a:cs typeface="Times New Roman" panose="02020603050405020304" pitchFamily="18" charset="0"/>
              </a:rPr>
              <a:t>ứng</a:t>
            </a:r>
            <a:r>
              <a:rPr lang="en-US" altLang="en-US" sz="2000">
                <a:cs typeface="Times New Roman" panose="02020603050405020304" pitchFamily="18" charset="0"/>
              </a:rPr>
              <a:t> </a:t>
            </a:r>
            <a:r>
              <a:rPr lang="en-US" altLang="en-US" sz="2000" err="1">
                <a:cs typeface="Times New Roman" panose="02020603050405020304" pitchFamily="18" charset="0"/>
              </a:rPr>
              <a:t>dụng</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ngăn</a:t>
            </a:r>
            <a:r>
              <a:rPr lang="en-US" altLang="en-US" sz="2000">
                <a:cs typeface="Times New Roman" panose="02020603050405020304" pitchFamily="18" charset="0"/>
              </a:rPr>
              <a:t> </a:t>
            </a:r>
            <a:r>
              <a:rPr lang="en-US" altLang="en-US" sz="2000" err="1">
                <a:cs typeface="Times New Roman" panose="02020603050405020304" pitchFamily="18" charset="0"/>
              </a:rPr>
              <a:t>xếp</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đợi</a:t>
            </a:r>
            <a:endParaRPr lang="en-US" altLang="en-US" sz="2000"/>
          </a:p>
          <a:p>
            <a:endParaRPr lang="en-US"/>
          </a:p>
        </p:txBody>
      </p:sp>
    </p:spTree>
    <p:extLst>
      <p:ext uri="{BB962C8B-B14F-4D97-AF65-F5344CB8AC3E}">
        <p14:creationId xmlns:p14="http://schemas.microsoft.com/office/powerpoint/2010/main" val="1979605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26B269CE-12F4-4F4F-BF2F-21E0A343DA44}" type="slidenum">
              <a:rPr lang="en-US" smtClean="0"/>
              <a:pPr/>
              <a:t>6</a:t>
            </a:fld>
            <a:endParaRPr lang="en-US"/>
          </a:p>
        </p:txBody>
      </p:sp>
      <p:sp>
        <p:nvSpPr>
          <p:cNvPr id="2" name="Title 1"/>
          <p:cNvSpPr>
            <a:spLocks noGrp="1"/>
          </p:cNvSpPr>
          <p:nvPr>
            <p:ph type="title"/>
          </p:nvPr>
        </p:nvSpPr>
        <p:spPr>
          <a:xfrm>
            <a:off x="3352800" y="2667000"/>
            <a:ext cx="3838433" cy="451739"/>
          </a:xfrm>
        </p:spPr>
        <p:txBody>
          <a:bodyPr>
            <a:normAutofit/>
          </a:bodyPr>
          <a:lstStyle/>
          <a:p>
            <a:r>
              <a:rPr lang="en-US" altLang="en-US" sz="2400">
                <a:solidFill>
                  <a:schemeClr val="tx1"/>
                </a:solidFill>
              </a:rPr>
              <a:t>1. </a:t>
            </a:r>
            <a:r>
              <a:rPr lang="en-US" altLang="en-US" sz="2400" err="1">
                <a:solidFill>
                  <a:schemeClr val="tx1"/>
                </a:solidFill>
              </a:rPr>
              <a:t>Cấu</a:t>
            </a:r>
            <a:r>
              <a:rPr lang="en-US" altLang="en-US" sz="2400">
                <a:solidFill>
                  <a:schemeClr val="tx1"/>
                </a:solidFill>
              </a:rPr>
              <a:t> </a:t>
            </a:r>
            <a:r>
              <a:rPr lang="en-US" altLang="en-US" sz="2400" err="1">
                <a:solidFill>
                  <a:schemeClr val="tx1"/>
                </a:solidFill>
              </a:rPr>
              <a:t>trúc</a:t>
            </a:r>
            <a:r>
              <a:rPr lang="en-US" altLang="en-US" sz="2400">
                <a:solidFill>
                  <a:schemeClr val="tx1"/>
                </a:solidFill>
              </a:rPr>
              <a:t> </a:t>
            </a:r>
            <a:r>
              <a:rPr lang="en-US" altLang="en-US" sz="2400" err="1">
                <a:solidFill>
                  <a:schemeClr val="tx1"/>
                </a:solidFill>
              </a:rPr>
              <a:t>mảng</a:t>
            </a:r>
            <a:endParaRPr lang="en-US" sz="2400">
              <a:solidFill>
                <a:schemeClr val="tx1"/>
              </a:solidFill>
            </a:endParaRPr>
          </a:p>
        </p:txBody>
      </p:sp>
    </p:spTree>
    <p:extLst>
      <p:ext uri="{BB962C8B-B14F-4D97-AF65-F5344CB8AC3E}">
        <p14:creationId xmlns:p14="http://schemas.microsoft.com/office/powerpoint/2010/main" val="2633856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830DCE8-333A-4475-A8B8-A567684D1FBA}" type="slidenum">
              <a:rPr lang="en-US" altLang="en-US"/>
              <a:pPr/>
              <a:t>7</a:t>
            </a:fld>
            <a:endParaRPr lang="en-US" altLang="en-US"/>
          </a:p>
        </p:txBody>
      </p:sp>
      <p:sp>
        <p:nvSpPr>
          <p:cNvPr id="8194" name="Rectangle 2"/>
          <p:cNvSpPr>
            <a:spLocks noGrp="1" noChangeArrowheads="1"/>
          </p:cNvSpPr>
          <p:nvPr>
            <p:ph type="title"/>
          </p:nvPr>
        </p:nvSpPr>
        <p:spPr/>
        <p:txBody>
          <a:bodyPr/>
          <a:lstStyle/>
          <a:p>
            <a:r>
              <a:rPr lang="en-US" altLang="en-US"/>
              <a:t>1.1. </a:t>
            </a:r>
            <a:r>
              <a:rPr lang="en-US" altLang="en-US" err="1"/>
              <a:t>Mô</a:t>
            </a:r>
            <a:r>
              <a:rPr lang="en-US" altLang="en-US"/>
              <a:t> </a:t>
            </a:r>
            <a:r>
              <a:rPr lang="en-US" altLang="en-US" err="1"/>
              <a:t>tả</a:t>
            </a:r>
            <a:endParaRPr lang="en-US" altLang="en-US"/>
          </a:p>
        </p:txBody>
      </p:sp>
      <p:sp>
        <p:nvSpPr>
          <p:cNvPr id="8195" name="Rectangle 3"/>
          <p:cNvSpPr>
            <a:spLocks noGrp="1" noChangeArrowheads="1"/>
          </p:cNvSpPr>
          <p:nvPr>
            <p:ph type="body" sz="quarter" idx="13"/>
          </p:nvPr>
        </p:nvSpPr>
        <p:spPr/>
        <p:txBody>
          <a:bodyPr/>
          <a:lstStyle/>
          <a:p>
            <a:pPr>
              <a:lnSpc>
                <a:spcPct val="90000"/>
              </a:lnSpc>
            </a:pPr>
            <a:r>
              <a:rPr lang="en-US" altLang="en-US" sz="2300" i="1" err="1">
                <a:cs typeface="Times New Roman" panose="02020603050405020304" pitchFamily="18" charset="0"/>
              </a:rPr>
              <a:t>Mảng</a:t>
            </a:r>
            <a:r>
              <a:rPr lang="en-US" altLang="en-US" sz="2300" i="1">
                <a:cs typeface="Times New Roman" panose="02020603050405020304" pitchFamily="18" charset="0"/>
              </a:rPr>
              <a:t> (</a:t>
            </a:r>
            <a:r>
              <a:rPr lang="en-US" altLang="en-US" sz="2300">
                <a:cs typeface="Times New Roman" panose="02020603050405020304" pitchFamily="18" charset="0"/>
              </a:rPr>
              <a:t>Array) </a:t>
            </a:r>
            <a:r>
              <a:rPr lang="en-US" altLang="en-US" sz="2300" err="1">
                <a:cs typeface="Times New Roman" panose="02020603050405020304" pitchFamily="18" charset="0"/>
              </a:rPr>
              <a:t>là</a:t>
            </a:r>
            <a:r>
              <a:rPr lang="en-US" altLang="en-US" sz="2300">
                <a:cs typeface="Times New Roman" panose="02020603050405020304" pitchFamily="18" charset="0"/>
              </a:rPr>
              <a:t> </a:t>
            </a:r>
            <a:r>
              <a:rPr lang="en-US" altLang="en-US" sz="2300" err="1">
                <a:cs typeface="Times New Roman" panose="02020603050405020304" pitchFamily="18" charset="0"/>
              </a:rPr>
              <a:t>một</a:t>
            </a:r>
            <a:r>
              <a:rPr lang="en-US" altLang="en-US" sz="2300">
                <a:cs typeface="Times New Roman" panose="02020603050405020304" pitchFamily="18" charset="0"/>
              </a:rPr>
              <a:t> </a:t>
            </a:r>
            <a:r>
              <a:rPr lang="en-US" altLang="en-US" sz="2300" err="1">
                <a:cs typeface="Times New Roman" panose="02020603050405020304" pitchFamily="18" charset="0"/>
              </a:rPr>
              <a:t>tập</a:t>
            </a:r>
            <a:r>
              <a:rPr lang="en-US" altLang="en-US" sz="2300">
                <a:cs typeface="Times New Roman" panose="02020603050405020304" pitchFamily="18" charset="0"/>
              </a:rPr>
              <a:t> </a:t>
            </a:r>
            <a:r>
              <a:rPr lang="en-US" altLang="en-US" sz="2300" err="1">
                <a:cs typeface="Times New Roman" panose="02020603050405020304" pitchFamily="18" charset="0"/>
              </a:rPr>
              <a:t>cố</a:t>
            </a:r>
            <a:r>
              <a:rPr lang="en-US" altLang="en-US" sz="2300">
                <a:cs typeface="Times New Roman" panose="02020603050405020304" pitchFamily="18" charset="0"/>
              </a:rPr>
              <a:t> </a:t>
            </a:r>
            <a:r>
              <a:rPr lang="en-US" altLang="en-US" sz="2300" err="1">
                <a:cs typeface="Times New Roman" panose="02020603050405020304" pitchFamily="18" charset="0"/>
              </a:rPr>
              <a:t>định</a:t>
            </a:r>
            <a:r>
              <a:rPr lang="en-US" altLang="en-US" sz="2300">
                <a:cs typeface="Times New Roman" panose="02020603050405020304" pitchFamily="18" charset="0"/>
              </a:rPr>
              <a:t> </a:t>
            </a:r>
            <a:r>
              <a:rPr lang="en-US" altLang="en-US" sz="2300" err="1">
                <a:cs typeface="Times New Roman" panose="02020603050405020304" pitchFamily="18" charset="0"/>
              </a:rPr>
              <a:t>các</a:t>
            </a:r>
            <a:r>
              <a:rPr lang="en-US" altLang="en-US" sz="2300">
                <a:cs typeface="Times New Roman" panose="02020603050405020304" pitchFamily="18" charset="0"/>
              </a:rPr>
              <a:t> </a:t>
            </a:r>
            <a:r>
              <a:rPr lang="en-US" altLang="en-US" sz="2300" err="1">
                <a:cs typeface="Times New Roman" panose="02020603050405020304" pitchFamily="18" charset="0"/>
              </a:rPr>
              <a:t>phần</a:t>
            </a:r>
            <a:r>
              <a:rPr lang="en-US" altLang="en-US" sz="2300">
                <a:cs typeface="Times New Roman" panose="02020603050405020304" pitchFamily="18" charset="0"/>
              </a:rPr>
              <a:t> </a:t>
            </a:r>
            <a:r>
              <a:rPr lang="en-US" altLang="en-US" sz="2300" err="1">
                <a:cs typeface="Times New Roman" panose="02020603050405020304" pitchFamily="18" charset="0"/>
              </a:rPr>
              <a:t>tử</a:t>
            </a:r>
            <a:r>
              <a:rPr lang="en-US" altLang="en-US" sz="2300">
                <a:cs typeface="Times New Roman" panose="02020603050405020304" pitchFamily="18" charset="0"/>
              </a:rPr>
              <a:t> </a:t>
            </a:r>
            <a:r>
              <a:rPr lang="en-US" altLang="en-US" sz="2300" err="1">
                <a:cs typeface="Times New Roman" panose="02020603050405020304" pitchFamily="18" charset="0"/>
              </a:rPr>
              <a:t>và</a:t>
            </a:r>
            <a:r>
              <a:rPr lang="en-US" altLang="en-US" sz="2300">
                <a:cs typeface="Times New Roman" panose="02020603050405020304" pitchFamily="18" charset="0"/>
              </a:rPr>
              <a:t> </a:t>
            </a:r>
            <a:r>
              <a:rPr lang="en-US" altLang="en-US" sz="2300" err="1">
                <a:cs typeface="Times New Roman" panose="02020603050405020304" pitchFamily="18" charset="0"/>
              </a:rPr>
              <a:t>cùng</a:t>
            </a:r>
            <a:r>
              <a:rPr lang="en-US" altLang="en-US" sz="2300">
                <a:cs typeface="Times New Roman" panose="02020603050405020304" pitchFamily="18" charset="0"/>
              </a:rPr>
              <a:t> </a:t>
            </a:r>
            <a:r>
              <a:rPr lang="en-US" altLang="en-US" sz="2300" err="1">
                <a:cs typeface="Times New Roman" panose="02020603050405020304" pitchFamily="18" charset="0"/>
              </a:rPr>
              <a:t>kiểu</a:t>
            </a:r>
            <a:r>
              <a:rPr lang="en-US" altLang="en-US" sz="2300">
                <a:cs typeface="Times New Roman" panose="02020603050405020304" pitchFamily="18" charset="0"/>
              </a:rPr>
              <a:t> </a:t>
            </a:r>
            <a:r>
              <a:rPr lang="en-US" altLang="en-US" sz="2300" err="1">
                <a:cs typeface="Times New Roman" panose="02020603050405020304" pitchFamily="18" charset="0"/>
              </a:rPr>
              <a:t>dữ</a:t>
            </a:r>
            <a:r>
              <a:rPr lang="en-US" altLang="en-US" sz="2300">
                <a:cs typeface="Times New Roman" panose="02020603050405020304" pitchFamily="18" charset="0"/>
              </a:rPr>
              <a:t> </a:t>
            </a:r>
            <a:r>
              <a:rPr lang="en-US" altLang="en-US" sz="2300" err="1">
                <a:cs typeface="Times New Roman" panose="02020603050405020304" pitchFamily="18" charset="0"/>
              </a:rPr>
              <a:t>liệu</a:t>
            </a:r>
            <a:r>
              <a:rPr lang="en-US" altLang="en-US" sz="2300">
                <a:cs typeface="Times New Roman" panose="02020603050405020304" pitchFamily="18" charset="0"/>
              </a:rPr>
              <a:t>. </a:t>
            </a:r>
          </a:p>
          <a:p>
            <a:pPr>
              <a:lnSpc>
                <a:spcPct val="90000"/>
              </a:lnSpc>
            </a:pPr>
            <a:r>
              <a:rPr lang="en-US" altLang="en-US" sz="2300" err="1">
                <a:cs typeface="Times New Roman" panose="02020603050405020304" pitchFamily="18" charset="0"/>
              </a:rPr>
              <a:t>Tính</a:t>
            </a:r>
            <a:r>
              <a:rPr lang="en-US" altLang="en-US" sz="2300">
                <a:cs typeface="Times New Roman" panose="02020603050405020304" pitchFamily="18" charset="0"/>
              </a:rPr>
              <a:t> </a:t>
            </a:r>
            <a:r>
              <a:rPr lang="en-US" altLang="en-US" sz="2300" err="1">
                <a:cs typeface="Times New Roman" panose="02020603050405020304" pitchFamily="18" charset="0"/>
              </a:rPr>
              <a:t>chất</a:t>
            </a:r>
            <a:r>
              <a:rPr lang="en-US" altLang="en-US" sz="2300">
                <a:cs typeface="Times New Roman" panose="02020603050405020304" pitchFamily="18" charset="0"/>
              </a:rPr>
              <a:t> </a:t>
            </a:r>
            <a:r>
              <a:rPr lang="en-US" altLang="en-US" sz="2300" err="1">
                <a:cs typeface="Times New Roman" panose="02020603050405020304" pitchFamily="18" charset="0"/>
              </a:rPr>
              <a:t>đặc</a:t>
            </a:r>
            <a:r>
              <a:rPr lang="en-US" altLang="en-US" sz="2300">
                <a:cs typeface="Times New Roman" panose="02020603050405020304" pitchFamily="18" charset="0"/>
              </a:rPr>
              <a:t> </a:t>
            </a:r>
            <a:r>
              <a:rPr lang="en-US" altLang="en-US" sz="2300" err="1">
                <a:cs typeface="Times New Roman" panose="02020603050405020304" pitchFamily="18" charset="0"/>
              </a:rPr>
              <a:t>trưng</a:t>
            </a:r>
            <a:endParaRPr lang="en-US" altLang="en-US" sz="2300">
              <a:cs typeface="Times New Roman" panose="02020603050405020304" pitchFamily="18" charset="0"/>
            </a:endParaRPr>
          </a:p>
          <a:p>
            <a:pPr lvl="1">
              <a:lnSpc>
                <a:spcPct val="90000"/>
              </a:lnSpc>
            </a:pPr>
            <a:r>
              <a:rPr lang="en-US" altLang="en-US" sz="2100" i="1" err="1">
                <a:cs typeface="Times New Roman" panose="02020603050405020304" pitchFamily="18" charset="0"/>
              </a:rPr>
              <a:t>Số</a:t>
            </a:r>
            <a:r>
              <a:rPr lang="en-US" altLang="en-US" sz="2100" i="1">
                <a:cs typeface="Times New Roman" panose="02020603050405020304" pitchFamily="18" charset="0"/>
              </a:rPr>
              <a:t> </a:t>
            </a:r>
            <a:r>
              <a:rPr lang="en-US" altLang="en-US" sz="2100" i="1" err="1">
                <a:cs typeface="Times New Roman" panose="02020603050405020304" pitchFamily="18" charset="0"/>
              </a:rPr>
              <a:t>chiều</a:t>
            </a:r>
            <a:r>
              <a:rPr lang="en-US" altLang="en-US" sz="2100">
                <a:cs typeface="Times New Roman" panose="02020603050405020304" pitchFamily="18" charset="0"/>
              </a:rPr>
              <a:t>: </a:t>
            </a:r>
            <a:r>
              <a:rPr lang="en-US" altLang="en-US" sz="2100" err="1">
                <a:cs typeface="Times New Roman" panose="02020603050405020304" pitchFamily="18" charset="0"/>
              </a:rPr>
              <a:t>số</a:t>
            </a:r>
            <a:r>
              <a:rPr lang="en-US" altLang="en-US" sz="2100">
                <a:cs typeface="Times New Roman" panose="02020603050405020304" pitchFamily="18" charset="0"/>
              </a:rPr>
              <a:t> </a:t>
            </a:r>
            <a:r>
              <a:rPr lang="en-US" altLang="en-US" sz="2100" err="1">
                <a:cs typeface="Times New Roman" panose="02020603050405020304" pitchFamily="18" charset="0"/>
              </a:rPr>
              <a:t>chiều</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mảng</a:t>
            </a:r>
            <a:r>
              <a:rPr lang="en-US" altLang="en-US" sz="2100">
                <a:cs typeface="Times New Roman" panose="02020603050405020304" pitchFamily="18" charset="0"/>
              </a:rPr>
              <a:t> </a:t>
            </a:r>
            <a:r>
              <a:rPr lang="en-US" altLang="en-US" sz="2100" err="1">
                <a:cs typeface="Times New Roman" panose="02020603050405020304" pitchFamily="18" charset="0"/>
              </a:rPr>
              <a:t>tương</a:t>
            </a:r>
            <a:r>
              <a:rPr lang="en-US" altLang="en-US" sz="2100">
                <a:cs typeface="Times New Roman" panose="02020603050405020304" pitchFamily="18" charset="0"/>
              </a:rPr>
              <a:t> </a:t>
            </a:r>
            <a:r>
              <a:rPr lang="en-US" altLang="en-US" sz="2100" err="1">
                <a:cs typeface="Times New Roman" panose="02020603050405020304" pitchFamily="18" charset="0"/>
              </a:rPr>
              <a:t>ứng</a:t>
            </a:r>
            <a:r>
              <a:rPr lang="en-US" altLang="en-US" sz="2100">
                <a:cs typeface="Times New Roman" panose="02020603050405020304" pitchFamily="18" charset="0"/>
              </a:rPr>
              <a:t> </a:t>
            </a:r>
            <a:r>
              <a:rPr lang="en-US" altLang="en-US" sz="2100" err="1">
                <a:cs typeface="Times New Roman" panose="02020603050405020304" pitchFamily="18" charset="0"/>
              </a:rPr>
              <a:t>với</a:t>
            </a:r>
            <a:r>
              <a:rPr lang="en-US" altLang="en-US" sz="2100">
                <a:cs typeface="Times New Roman" panose="02020603050405020304" pitchFamily="18" charset="0"/>
              </a:rPr>
              <a:t> </a:t>
            </a:r>
            <a:r>
              <a:rPr lang="en-US" altLang="en-US" sz="2100" err="1">
                <a:cs typeface="Times New Roman" panose="02020603050405020304" pitchFamily="18" charset="0"/>
              </a:rPr>
              <a:t>số</a:t>
            </a:r>
            <a:r>
              <a:rPr lang="en-US" altLang="en-US" sz="2100">
                <a:cs typeface="Times New Roman" panose="02020603050405020304" pitchFamily="18" charset="0"/>
              </a:rPr>
              <a:t> </a:t>
            </a:r>
            <a:r>
              <a:rPr lang="en-US" altLang="en-US" sz="2100" err="1">
                <a:cs typeface="Times New Roman" panose="02020603050405020304" pitchFamily="18" charset="0"/>
              </a:rPr>
              <a:t>chiều</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thông</a:t>
            </a:r>
            <a:r>
              <a:rPr lang="en-US" altLang="en-US" sz="2100">
                <a:cs typeface="Times New Roman" panose="02020603050405020304" pitchFamily="18" charset="0"/>
              </a:rPr>
              <a:t> tin </a:t>
            </a:r>
            <a:r>
              <a:rPr lang="en-US" altLang="en-US" sz="2100" err="1">
                <a:cs typeface="Times New Roman" panose="02020603050405020304" pitchFamily="18" charset="0"/>
              </a:rPr>
              <a:t>cần</a:t>
            </a:r>
            <a:r>
              <a:rPr lang="en-US" altLang="en-US" sz="2100">
                <a:cs typeface="Times New Roman" panose="02020603050405020304" pitchFamily="18" charset="0"/>
              </a:rPr>
              <a:t> </a:t>
            </a:r>
            <a:r>
              <a:rPr lang="en-US" altLang="en-US" sz="2100" err="1">
                <a:cs typeface="Times New Roman" panose="02020603050405020304" pitchFamily="18" charset="0"/>
              </a:rPr>
              <a:t>được</a:t>
            </a:r>
            <a:r>
              <a:rPr lang="en-US" altLang="en-US" sz="2100">
                <a:cs typeface="Times New Roman" panose="02020603050405020304" pitchFamily="18" charset="0"/>
              </a:rPr>
              <a:t> </a:t>
            </a:r>
            <a:r>
              <a:rPr lang="en-US" altLang="en-US" sz="2100" err="1">
                <a:cs typeface="Times New Roman" panose="02020603050405020304" pitchFamily="18" charset="0"/>
              </a:rPr>
              <a:t>biểu</a:t>
            </a:r>
            <a:r>
              <a:rPr lang="en-US" altLang="en-US" sz="2100">
                <a:cs typeface="Times New Roman" panose="02020603050405020304" pitchFamily="18" charset="0"/>
              </a:rPr>
              <a:t> </a:t>
            </a:r>
            <a:r>
              <a:rPr lang="en-US" altLang="en-US" sz="2100" err="1">
                <a:cs typeface="Times New Roman" panose="02020603050405020304" pitchFamily="18" charset="0"/>
              </a:rPr>
              <a:t>diễn</a:t>
            </a:r>
            <a:r>
              <a:rPr lang="en-US" altLang="en-US" sz="2100">
                <a:cs typeface="Times New Roman" panose="02020603050405020304" pitchFamily="18" charset="0"/>
              </a:rPr>
              <a:t>. </a:t>
            </a:r>
          </a:p>
          <a:p>
            <a:pPr lvl="2"/>
            <a:r>
              <a:rPr lang="en-US" altLang="en-US" sz="1800" err="1">
                <a:cs typeface="Times New Roman" panose="02020603050405020304" pitchFamily="18" charset="0"/>
              </a:rPr>
              <a:t>Một</a:t>
            </a:r>
            <a:r>
              <a:rPr lang="en-US" altLang="en-US" sz="1800">
                <a:cs typeface="Times New Roman" panose="02020603050405020304" pitchFamily="18" charset="0"/>
              </a:rPr>
              <a:t> </a:t>
            </a:r>
            <a:r>
              <a:rPr lang="en-US" altLang="en-US" sz="1800" err="1">
                <a:cs typeface="Times New Roman" panose="02020603050405020304" pitchFamily="18" charset="0"/>
              </a:rPr>
              <a:t>mảng</a:t>
            </a:r>
            <a:r>
              <a:rPr lang="en-US" altLang="en-US" sz="1800">
                <a:cs typeface="Times New Roman" panose="02020603050405020304" pitchFamily="18" charset="0"/>
              </a:rPr>
              <a:t> </a:t>
            </a:r>
            <a:r>
              <a:rPr lang="en-US" altLang="en-US" sz="1800" err="1">
                <a:cs typeface="Times New Roman" panose="02020603050405020304" pitchFamily="18" charset="0"/>
              </a:rPr>
              <a:t>bao</a:t>
            </a:r>
            <a:r>
              <a:rPr lang="en-US" altLang="en-US" sz="1800">
                <a:cs typeface="Times New Roman" panose="02020603050405020304" pitchFamily="18" charset="0"/>
              </a:rPr>
              <a:t> </a:t>
            </a:r>
            <a:r>
              <a:rPr lang="en-US" altLang="en-US" sz="1800" err="1">
                <a:cs typeface="Times New Roman" panose="02020603050405020304" pitchFamily="18" charset="0"/>
              </a:rPr>
              <a:t>giờ</a:t>
            </a:r>
            <a:r>
              <a:rPr lang="en-US" altLang="en-US" sz="1800">
                <a:cs typeface="Times New Roman" panose="02020603050405020304" pitchFamily="18" charset="0"/>
              </a:rPr>
              <a:t> </a:t>
            </a:r>
            <a:r>
              <a:rPr lang="en-US" altLang="en-US" sz="1800" err="1">
                <a:cs typeface="Times New Roman" panose="02020603050405020304" pitchFamily="18" charset="0"/>
              </a:rPr>
              <a:t>cũng</a:t>
            </a:r>
            <a:r>
              <a:rPr lang="en-US" altLang="en-US" sz="1800">
                <a:cs typeface="Times New Roman" panose="02020603050405020304" pitchFamily="18" charset="0"/>
              </a:rPr>
              <a:t> </a:t>
            </a:r>
            <a:r>
              <a:rPr lang="en-US" altLang="en-US" sz="1800" err="1">
                <a:cs typeface="Times New Roman" panose="02020603050405020304" pitchFamily="18" charset="0"/>
              </a:rPr>
              <a:t>ít</a:t>
            </a:r>
            <a:r>
              <a:rPr lang="en-US" altLang="en-US" sz="1800">
                <a:cs typeface="Times New Roman" panose="02020603050405020304" pitchFamily="18" charset="0"/>
              </a:rPr>
              <a:t> </a:t>
            </a:r>
            <a:r>
              <a:rPr lang="en-US" altLang="en-US" sz="1800" err="1">
                <a:cs typeface="Times New Roman" panose="02020603050405020304" pitchFamily="18" charset="0"/>
              </a:rPr>
              <a:t>nhất</a:t>
            </a:r>
            <a:r>
              <a:rPr lang="en-US" altLang="en-US" sz="1800">
                <a:cs typeface="Times New Roman" panose="02020603050405020304" pitchFamily="18" charset="0"/>
              </a:rPr>
              <a:t> </a:t>
            </a:r>
            <a:r>
              <a:rPr lang="en-US" altLang="en-US" sz="1800" err="1">
                <a:cs typeface="Times New Roman" panose="02020603050405020304" pitchFamily="18" charset="0"/>
              </a:rPr>
              <a:t>một</a:t>
            </a:r>
            <a:r>
              <a:rPr lang="en-US" altLang="en-US" sz="1800">
                <a:cs typeface="Times New Roman" panose="02020603050405020304" pitchFamily="18" charset="0"/>
              </a:rPr>
              <a:t> </a:t>
            </a:r>
            <a:r>
              <a:rPr lang="en-US" altLang="en-US" sz="1800" err="1">
                <a:cs typeface="Times New Roman" panose="02020603050405020304" pitchFamily="18" charset="0"/>
              </a:rPr>
              <a:t>chiều</a:t>
            </a:r>
            <a:r>
              <a:rPr lang="en-US" altLang="en-US" sz="1800">
                <a:cs typeface="Times New Roman" panose="02020603050405020304" pitchFamily="18" charset="0"/>
              </a:rPr>
              <a:t>. </a:t>
            </a:r>
          </a:p>
          <a:p>
            <a:pPr lvl="1">
              <a:lnSpc>
                <a:spcPct val="90000"/>
              </a:lnSpc>
            </a:pPr>
            <a:r>
              <a:rPr lang="en-US" altLang="en-US" sz="2100" i="1" err="1">
                <a:cs typeface="Times New Roman" panose="02020603050405020304" pitchFamily="18" charset="0"/>
              </a:rPr>
              <a:t>Kích</a:t>
            </a:r>
            <a:r>
              <a:rPr lang="en-US" altLang="en-US" sz="2100" i="1">
                <a:cs typeface="Times New Roman" panose="02020603050405020304" pitchFamily="18" charset="0"/>
              </a:rPr>
              <a:t> </a:t>
            </a:r>
            <a:r>
              <a:rPr lang="en-US" altLang="en-US" sz="2100" i="1" err="1">
                <a:cs typeface="Times New Roman" panose="02020603050405020304" pitchFamily="18" charset="0"/>
              </a:rPr>
              <a:t>thước</a:t>
            </a:r>
            <a:r>
              <a:rPr lang="en-US" altLang="en-US" sz="2100" i="1">
                <a:cs typeface="Times New Roman" panose="02020603050405020304" pitchFamily="18" charset="0"/>
              </a:rPr>
              <a:t> </a:t>
            </a:r>
            <a:r>
              <a:rPr lang="en-US" altLang="en-US" sz="2100" i="1" err="1">
                <a:cs typeface="Times New Roman" panose="02020603050405020304" pitchFamily="18" charset="0"/>
              </a:rPr>
              <a:t>mỗi</a:t>
            </a:r>
            <a:r>
              <a:rPr lang="en-US" altLang="en-US" sz="2100" i="1">
                <a:cs typeface="Times New Roman" panose="02020603050405020304" pitchFamily="18" charset="0"/>
              </a:rPr>
              <a:t> </a:t>
            </a:r>
            <a:r>
              <a:rPr lang="en-US" altLang="en-US" sz="2100" i="1" err="1">
                <a:cs typeface="Times New Roman" panose="02020603050405020304" pitchFamily="18" charset="0"/>
              </a:rPr>
              <a:t>chiều</a:t>
            </a:r>
            <a:r>
              <a:rPr lang="en-US" altLang="en-US" sz="2100">
                <a:cs typeface="Times New Roman" panose="02020603050405020304" pitchFamily="18" charset="0"/>
              </a:rPr>
              <a:t>: </a:t>
            </a:r>
            <a:r>
              <a:rPr lang="en-US" altLang="en-US" sz="2100" err="1">
                <a:cs typeface="Times New Roman" panose="02020603050405020304" pitchFamily="18" charset="0"/>
              </a:rPr>
              <a:t>giá</a:t>
            </a:r>
            <a:r>
              <a:rPr lang="en-US" altLang="en-US" sz="2100">
                <a:cs typeface="Times New Roman" panose="02020603050405020304" pitchFamily="18" charset="0"/>
              </a:rPr>
              <a:t> </a:t>
            </a:r>
            <a:r>
              <a:rPr lang="en-US" altLang="en-US" sz="2100" err="1">
                <a:cs typeface="Times New Roman" panose="02020603050405020304" pitchFamily="18" charset="0"/>
              </a:rPr>
              <a:t>trị</a:t>
            </a:r>
            <a:r>
              <a:rPr lang="en-US" altLang="en-US" sz="2100">
                <a:cs typeface="Times New Roman" panose="02020603050405020304" pitchFamily="18" charset="0"/>
              </a:rPr>
              <a:t> </a:t>
            </a:r>
            <a:r>
              <a:rPr lang="en-US" altLang="en-US" sz="2100" err="1">
                <a:cs typeface="Times New Roman" panose="02020603050405020304" pitchFamily="18" charset="0"/>
              </a:rPr>
              <a:t>cố</a:t>
            </a:r>
            <a:r>
              <a:rPr lang="en-US" altLang="en-US" sz="2100">
                <a:cs typeface="Times New Roman" panose="02020603050405020304" pitchFamily="18" charset="0"/>
              </a:rPr>
              <a:t> </a:t>
            </a:r>
            <a:r>
              <a:rPr lang="en-US" altLang="en-US" sz="2100" err="1">
                <a:cs typeface="Times New Roman" panose="02020603050405020304" pitchFamily="18" charset="0"/>
              </a:rPr>
              <a:t>định</a:t>
            </a:r>
            <a:r>
              <a:rPr lang="en-US" altLang="en-US" sz="2100">
                <a:cs typeface="Times New Roman" panose="02020603050405020304" pitchFamily="18" charset="0"/>
              </a:rPr>
              <a:t>.</a:t>
            </a:r>
          </a:p>
          <a:p>
            <a:pPr lvl="1">
              <a:lnSpc>
                <a:spcPct val="90000"/>
              </a:lnSpc>
            </a:pPr>
            <a:r>
              <a:rPr lang="en-US" altLang="en-US" sz="2100" i="1" err="1">
                <a:cs typeface="Times New Roman" panose="02020603050405020304" pitchFamily="18" charset="0"/>
              </a:rPr>
              <a:t>Kích</a:t>
            </a:r>
            <a:r>
              <a:rPr lang="en-US" altLang="en-US" sz="2100" i="1">
                <a:cs typeface="Times New Roman" panose="02020603050405020304" pitchFamily="18" charset="0"/>
              </a:rPr>
              <a:t> </a:t>
            </a:r>
            <a:r>
              <a:rPr lang="en-US" altLang="en-US" sz="2100" i="1" err="1">
                <a:cs typeface="Times New Roman" panose="02020603050405020304" pitchFamily="18" charset="0"/>
              </a:rPr>
              <a:t>thước</a:t>
            </a:r>
            <a:r>
              <a:rPr lang="en-US" altLang="en-US" sz="2100" i="1">
                <a:cs typeface="Times New Roman" panose="02020603050405020304" pitchFamily="18" charset="0"/>
              </a:rPr>
              <a:t> </a:t>
            </a:r>
            <a:r>
              <a:rPr lang="en-US" altLang="en-US" sz="2100" i="1" err="1">
                <a:cs typeface="Times New Roman" panose="02020603050405020304" pitchFamily="18" charset="0"/>
              </a:rPr>
              <a:t>của</a:t>
            </a:r>
            <a:r>
              <a:rPr lang="en-US" altLang="en-US" sz="2100" i="1">
                <a:cs typeface="Times New Roman" panose="02020603050405020304" pitchFamily="18" charset="0"/>
              </a:rPr>
              <a:t> </a:t>
            </a:r>
            <a:r>
              <a:rPr lang="en-US" altLang="en-US" sz="2100" i="1" err="1">
                <a:cs typeface="Times New Roman" panose="02020603050405020304" pitchFamily="18" charset="0"/>
              </a:rPr>
              <a:t>mảng</a:t>
            </a:r>
            <a:r>
              <a:rPr lang="en-US" altLang="en-US" sz="2100">
                <a:cs typeface="Times New Roman" panose="02020603050405020304" pitchFamily="18" charset="0"/>
              </a:rPr>
              <a:t>: </a:t>
            </a:r>
            <a:r>
              <a:rPr lang="en-US" altLang="en-US" sz="2100" err="1">
                <a:cs typeface="Times New Roman" panose="02020603050405020304" pitchFamily="18" charset="0"/>
              </a:rPr>
              <a:t>tích</a:t>
            </a:r>
            <a:r>
              <a:rPr lang="en-US" altLang="en-US" sz="2100">
                <a:cs typeface="Times New Roman" panose="02020603050405020304" pitchFamily="18" charset="0"/>
              </a:rPr>
              <a:t> </a:t>
            </a:r>
            <a:r>
              <a:rPr lang="en-US" altLang="en-US" sz="2100" err="1">
                <a:cs typeface="Times New Roman" panose="02020603050405020304" pitchFamily="18" charset="0"/>
              </a:rPr>
              <a:t>tất</a:t>
            </a:r>
            <a:r>
              <a:rPr lang="en-US" altLang="en-US" sz="2100">
                <a:cs typeface="Times New Roman" panose="02020603050405020304" pitchFamily="18" charset="0"/>
              </a:rPr>
              <a:t> </a:t>
            </a:r>
            <a:r>
              <a:rPr lang="en-US" altLang="en-US" sz="2100" err="1">
                <a:cs typeface="Times New Roman" panose="02020603050405020304" pitchFamily="18" charset="0"/>
              </a:rPr>
              <a:t>cả</a:t>
            </a:r>
            <a:r>
              <a:rPr lang="en-US" altLang="en-US" sz="2100">
                <a:cs typeface="Times New Roman" panose="02020603050405020304" pitchFamily="18" charset="0"/>
              </a:rPr>
              <a:t> </a:t>
            </a:r>
            <a:r>
              <a:rPr lang="en-US" altLang="en-US" sz="2100" err="1">
                <a:cs typeface="Times New Roman" panose="02020603050405020304" pitchFamily="18" charset="0"/>
              </a:rPr>
              <a:t>các</a:t>
            </a:r>
            <a:r>
              <a:rPr lang="en-US" altLang="en-US" sz="2100">
                <a:cs typeface="Times New Roman" panose="02020603050405020304" pitchFamily="18" charset="0"/>
              </a:rPr>
              <a:t> </a:t>
            </a:r>
            <a:r>
              <a:rPr lang="en-US" altLang="en-US" sz="2100" err="1">
                <a:cs typeface="Times New Roman" panose="02020603050405020304" pitchFamily="18" charset="0"/>
              </a:rPr>
              <a:t>kích</a:t>
            </a:r>
            <a:r>
              <a:rPr lang="en-US" altLang="en-US" sz="2100">
                <a:cs typeface="Times New Roman" panose="02020603050405020304" pitchFamily="18" charset="0"/>
              </a:rPr>
              <a:t> </a:t>
            </a:r>
            <a:r>
              <a:rPr lang="en-US" altLang="en-US" sz="2100" err="1">
                <a:cs typeface="Times New Roman" panose="02020603050405020304" pitchFamily="18" charset="0"/>
              </a:rPr>
              <a:t>thước</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tất</a:t>
            </a:r>
            <a:r>
              <a:rPr lang="en-US" altLang="en-US" sz="2100">
                <a:cs typeface="Times New Roman" panose="02020603050405020304" pitchFamily="18" charset="0"/>
              </a:rPr>
              <a:t> </a:t>
            </a:r>
            <a:r>
              <a:rPr lang="en-US" altLang="en-US" sz="2100" err="1">
                <a:cs typeface="Times New Roman" panose="02020603050405020304" pitchFamily="18" charset="0"/>
              </a:rPr>
              <a:t>cả</a:t>
            </a:r>
            <a:r>
              <a:rPr lang="en-US" altLang="en-US" sz="2100">
                <a:cs typeface="Times New Roman" panose="02020603050405020304" pitchFamily="18" charset="0"/>
              </a:rPr>
              <a:t> </a:t>
            </a:r>
            <a:r>
              <a:rPr lang="en-US" altLang="en-US" sz="2100" err="1">
                <a:cs typeface="Times New Roman" panose="02020603050405020304" pitchFamily="18" charset="0"/>
              </a:rPr>
              <a:t>các</a:t>
            </a:r>
            <a:r>
              <a:rPr lang="en-US" altLang="en-US" sz="2100">
                <a:cs typeface="Times New Roman" panose="02020603050405020304" pitchFamily="18" charset="0"/>
              </a:rPr>
              <a:t> </a:t>
            </a:r>
            <a:r>
              <a:rPr lang="en-US" altLang="en-US" sz="2100" err="1">
                <a:cs typeface="Times New Roman" panose="02020603050405020304" pitchFamily="18" charset="0"/>
              </a:rPr>
              <a:t>chiều</a:t>
            </a:r>
            <a:r>
              <a:rPr lang="en-US" altLang="en-US" sz="2100">
                <a:cs typeface="Times New Roman" panose="02020603050405020304" pitchFamily="18" charset="0"/>
              </a:rPr>
              <a:t>. </a:t>
            </a:r>
          </a:p>
          <a:p>
            <a:pPr lvl="1">
              <a:lnSpc>
                <a:spcPct val="90000"/>
              </a:lnSpc>
            </a:pPr>
            <a:r>
              <a:rPr lang="en-US" altLang="en-US" sz="2100" i="1" err="1">
                <a:cs typeface="Times New Roman" panose="02020603050405020304" pitchFamily="18" charset="0"/>
              </a:rPr>
              <a:t>Kiểu</a:t>
            </a:r>
            <a:r>
              <a:rPr lang="en-US" altLang="en-US" sz="2100" i="1">
                <a:cs typeface="Times New Roman" panose="02020603050405020304" pitchFamily="18" charset="0"/>
              </a:rPr>
              <a:t> </a:t>
            </a:r>
            <a:r>
              <a:rPr lang="en-US" altLang="en-US" sz="2100" i="1" err="1">
                <a:cs typeface="Times New Roman" panose="02020603050405020304" pitchFamily="18" charset="0"/>
              </a:rPr>
              <a:t>phần</a:t>
            </a:r>
            <a:r>
              <a:rPr lang="en-US" altLang="en-US" sz="2100" i="1">
                <a:cs typeface="Times New Roman" panose="02020603050405020304" pitchFamily="18" charset="0"/>
              </a:rPr>
              <a:t> </a:t>
            </a:r>
            <a:r>
              <a:rPr lang="en-US" altLang="en-US" sz="2100" i="1" err="1">
                <a:cs typeface="Times New Roman" panose="02020603050405020304" pitchFamily="18" charset="0"/>
              </a:rPr>
              <a:t>tử</a:t>
            </a:r>
            <a:r>
              <a:rPr lang="en-US" altLang="en-US" sz="2100" i="1">
                <a:cs typeface="Times New Roman" panose="02020603050405020304" pitchFamily="18" charset="0"/>
              </a:rPr>
              <a:t> </a:t>
            </a:r>
            <a:r>
              <a:rPr lang="en-US" altLang="en-US" sz="2100" i="1" err="1">
                <a:cs typeface="Times New Roman" panose="02020603050405020304" pitchFamily="18" charset="0"/>
              </a:rPr>
              <a:t>mảng</a:t>
            </a:r>
            <a:r>
              <a:rPr lang="en-US" altLang="en-US" sz="2100">
                <a:cs typeface="Times New Roman" panose="02020603050405020304" pitchFamily="18" charset="0"/>
              </a:rPr>
              <a:t>: </a:t>
            </a:r>
            <a:r>
              <a:rPr lang="en-US" altLang="en-US" sz="2100" err="1">
                <a:cs typeface="Times New Roman" panose="02020603050405020304" pitchFamily="18" charset="0"/>
              </a:rPr>
              <a:t>kiểu</a:t>
            </a:r>
            <a:r>
              <a:rPr lang="en-US" altLang="en-US" sz="2100">
                <a:cs typeface="Times New Roman" panose="02020603050405020304" pitchFamily="18" charset="0"/>
              </a:rPr>
              <a:t> </a:t>
            </a:r>
            <a:r>
              <a:rPr lang="en-US" altLang="en-US" sz="2100" err="1">
                <a:cs typeface="Times New Roman" panose="02020603050405020304" pitchFamily="18" charset="0"/>
              </a:rPr>
              <a:t>dữ</a:t>
            </a:r>
            <a:r>
              <a:rPr lang="en-US" altLang="en-US" sz="2100">
                <a:cs typeface="Times New Roman" panose="02020603050405020304" pitchFamily="18" charset="0"/>
              </a:rPr>
              <a:t> </a:t>
            </a:r>
            <a:r>
              <a:rPr lang="en-US" altLang="en-US" sz="2100" err="1">
                <a:cs typeface="Times New Roman" panose="02020603050405020304" pitchFamily="18" charset="0"/>
              </a:rPr>
              <a:t>liệu</a:t>
            </a:r>
            <a:r>
              <a:rPr lang="en-US" altLang="en-US" sz="2100">
                <a:cs typeface="Times New Roman" panose="02020603050405020304" pitchFamily="18" charset="0"/>
              </a:rPr>
              <a:t> </a:t>
            </a:r>
            <a:r>
              <a:rPr lang="en-US" altLang="en-US" sz="2100" err="1">
                <a:cs typeface="Times New Roman" panose="02020603050405020304" pitchFamily="18" charset="0"/>
              </a:rPr>
              <a:t>cho</a:t>
            </a:r>
            <a:r>
              <a:rPr lang="en-US" altLang="en-US" sz="2100">
                <a:cs typeface="Times New Roman" panose="02020603050405020304" pitchFamily="18" charset="0"/>
              </a:rPr>
              <a:t> </a:t>
            </a:r>
            <a:r>
              <a:rPr lang="en-US" altLang="en-US" sz="2100" err="1">
                <a:cs typeface="Times New Roman" panose="02020603050405020304" pitchFamily="18" charset="0"/>
              </a:rPr>
              <a:t>mỗi</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mảng</a:t>
            </a:r>
            <a:r>
              <a:rPr lang="en-US" altLang="en-US" sz="2100">
                <a:cs typeface="Times New Roman" panose="02020603050405020304" pitchFamily="18" charset="0"/>
              </a:rPr>
              <a:t>. </a:t>
            </a:r>
          </a:p>
        </p:txBody>
      </p:sp>
    </p:spTree>
    <p:extLst>
      <p:ext uri="{BB962C8B-B14F-4D97-AF65-F5344CB8AC3E}">
        <p14:creationId xmlns:p14="http://schemas.microsoft.com/office/powerpoint/2010/main" val="21795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830DCE8-333A-4475-A8B8-A567684D1FBA}" type="slidenum">
              <a:rPr lang="en-US" altLang="en-US"/>
              <a:pPr/>
              <a:t>8</a:t>
            </a:fld>
            <a:endParaRPr lang="en-US" altLang="en-US"/>
          </a:p>
        </p:txBody>
      </p:sp>
      <p:sp>
        <p:nvSpPr>
          <p:cNvPr id="8194" name="Rectangle 2"/>
          <p:cNvSpPr>
            <a:spLocks noGrp="1" noChangeArrowheads="1"/>
          </p:cNvSpPr>
          <p:nvPr>
            <p:ph type="title"/>
          </p:nvPr>
        </p:nvSpPr>
        <p:spPr/>
        <p:txBody>
          <a:bodyPr/>
          <a:lstStyle/>
          <a:p>
            <a:r>
              <a:rPr lang="en-US" altLang="en-US"/>
              <a:t>1.1. </a:t>
            </a:r>
            <a:r>
              <a:rPr lang="en-US" altLang="en-US" err="1"/>
              <a:t>Mô</a:t>
            </a:r>
            <a:r>
              <a:rPr lang="en-US" altLang="en-US"/>
              <a:t> </a:t>
            </a:r>
            <a:r>
              <a:rPr lang="en-US" altLang="en-US" err="1"/>
              <a:t>tả</a:t>
            </a:r>
            <a:endParaRPr lang="en-US" altLang="en-US"/>
          </a:p>
        </p:txBody>
      </p:sp>
      <p:sp>
        <p:nvSpPr>
          <p:cNvPr id="8195" name="Rectangle 3"/>
          <p:cNvSpPr>
            <a:spLocks noGrp="1" noChangeArrowheads="1"/>
          </p:cNvSpPr>
          <p:nvPr>
            <p:ph type="body" sz="quarter" idx="13"/>
          </p:nvPr>
        </p:nvSpPr>
        <p:spPr/>
        <p:txBody>
          <a:bodyPr/>
          <a:lstStyle/>
          <a:p>
            <a:pPr algn="just">
              <a:lnSpc>
                <a:spcPct val="90000"/>
              </a:lnSpc>
            </a:pPr>
            <a:r>
              <a:rPr lang="en-US" altLang="en-US" sz="2300" err="1">
                <a:cs typeface="Times New Roman" panose="02020603050405020304" pitchFamily="18" charset="0"/>
              </a:rPr>
              <a:t>Khai</a:t>
            </a:r>
            <a:r>
              <a:rPr lang="en-US" altLang="en-US" sz="2300">
                <a:cs typeface="Times New Roman" panose="02020603050405020304" pitchFamily="18" charset="0"/>
              </a:rPr>
              <a:t> </a:t>
            </a:r>
            <a:r>
              <a:rPr lang="en-US" altLang="en-US" sz="2300" err="1">
                <a:cs typeface="Times New Roman" panose="02020603050405020304" pitchFamily="18" charset="0"/>
              </a:rPr>
              <a:t>báo</a:t>
            </a:r>
            <a:r>
              <a:rPr lang="en-US" altLang="en-US" sz="2300">
                <a:cs typeface="Times New Roman" panose="02020603050405020304" pitchFamily="18" charset="0"/>
              </a:rPr>
              <a:t>:</a:t>
            </a:r>
            <a:endParaRPr lang="en-US" altLang="en-US" sz="2300">
              <a:latin typeface=".VnTime" pitchFamily="34" charset="0"/>
              <a:cs typeface="Times New Roman" panose="02020603050405020304" pitchFamily="18" charset="0"/>
            </a:endParaRPr>
          </a:p>
          <a:p>
            <a:pPr marL="274638" lvl="1" indent="0" algn="just">
              <a:lnSpc>
                <a:spcPct val="90000"/>
              </a:lnSpc>
              <a:buNone/>
            </a:pPr>
            <a:r>
              <a:rPr lang="en-US" altLang="en-US" sz="2100" b="1">
                <a:solidFill>
                  <a:srgbClr val="FF0000"/>
                </a:solidFill>
                <a:cs typeface="Times New Roman" panose="02020603050405020304" pitchFamily="18" charset="0"/>
              </a:rPr>
              <a:t>ARRAY</a:t>
            </a:r>
            <a:r>
              <a:rPr lang="en-US" altLang="en-US" sz="2100">
                <a:solidFill>
                  <a:srgbClr val="FF0000"/>
                </a:solidFill>
                <a:cs typeface="Times New Roman" panose="02020603050405020304" pitchFamily="18" charset="0"/>
              </a:rPr>
              <a:t> : &lt;</a:t>
            </a:r>
            <a:r>
              <a:rPr lang="en-US" altLang="en-US" sz="2100" i="1">
                <a:solidFill>
                  <a:srgbClr val="FF0000"/>
                </a:solidFill>
                <a:cs typeface="Times New Roman" panose="02020603050405020304" pitchFamily="18" charset="0"/>
              </a:rPr>
              <a:t>name&gt;</a:t>
            </a:r>
            <a:r>
              <a:rPr lang="en-US" altLang="en-US" sz="2100">
                <a:solidFill>
                  <a:srgbClr val="FF0000"/>
                </a:solidFill>
                <a:cs typeface="Times New Roman" panose="02020603050405020304" pitchFamily="18" charset="0"/>
              </a:rPr>
              <a:t>[</a:t>
            </a:r>
            <a:r>
              <a:rPr lang="en-US" altLang="en-US" sz="2100" i="1">
                <a:solidFill>
                  <a:srgbClr val="FF0000"/>
                </a:solidFill>
                <a:cs typeface="Times New Roman" panose="02020603050405020304" pitchFamily="18" charset="0"/>
              </a:rPr>
              <a:t>dimension</a:t>
            </a:r>
            <a:r>
              <a:rPr lang="en-US" altLang="en-US" sz="2100">
                <a:solidFill>
                  <a:srgbClr val="FF0000"/>
                </a:solidFill>
                <a:cs typeface="Times New Roman" panose="02020603050405020304" pitchFamily="18" charset="0"/>
              </a:rPr>
              <a:t>, </a:t>
            </a:r>
            <a:r>
              <a:rPr lang="en-US" altLang="en-US" sz="2100" i="1" err="1">
                <a:solidFill>
                  <a:srgbClr val="FF0000"/>
                </a:solidFill>
                <a:cs typeface="Times New Roman" panose="02020603050405020304" pitchFamily="18" charset="0"/>
              </a:rPr>
              <a:t>len</a:t>
            </a:r>
            <a:r>
              <a:rPr lang="en-US" altLang="en-US" sz="2100" i="1">
                <a:solidFill>
                  <a:srgbClr val="FF0000"/>
                </a:solidFill>
                <a:cs typeface="Times New Roman" panose="02020603050405020304" pitchFamily="18" charset="0"/>
              </a:rPr>
              <a:t> 1</a:t>
            </a:r>
            <a:r>
              <a:rPr lang="en-US" altLang="en-US" sz="2100">
                <a:solidFill>
                  <a:srgbClr val="FF0000"/>
                </a:solidFill>
                <a:cs typeface="Times New Roman" panose="02020603050405020304" pitchFamily="18" charset="0"/>
              </a:rPr>
              <a:t>, </a:t>
            </a:r>
            <a:r>
              <a:rPr lang="en-US" altLang="en-US" sz="2100" i="1" err="1">
                <a:solidFill>
                  <a:srgbClr val="FF0000"/>
                </a:solidFill>
                <a:cs typeface="Times New Roman" panose="02020603050405020304" pitchFamily="18" charset="0"/>
              </a:rPr>
              <a:t>len</a:t>
            </a:r>
            <a:r>
              <a:rPr lang="en-US" altLang="en-US" sz="2100" i="1">
                <a:solidFill>
                  <a:srgbClr val="FF0000"/>
                </a:solidFill>
                <a:cs typeface="Times New Roman" panose="02020603050405020304" pitchFamily="18" charset="0"/>
              </a:rPr>
              <a:t> 2</a:t>
            </a:r>
            <a:r>
              <a:rPr lang="en-US" altLang="en-US" sz="2100">
                <a:solidFill>
                  <a:srgbClr val="FF0000"/>
                </a:solidFill>
                <a:cs typeface="Times New Roman" panose="02020603050405020304" pitchFamily="18" charset="0"/>
              </a:rPr>
              <a:t>,</a:t>
            </a:r>
            <a:r>
              <a:rPr lang="en-US" altLang="en-US" sz="2100">
                <a:solidFill>
                  <a:srgbClr val="FF0000"/>
                </a:solidFill>
                <a:latin typeface="Times" panose="02020603050405020304" pitchFamily="18" charset="0"/>
                <a:cs typeface="Times New Roman" panose="02020603050405020304" pitchFamily="18" charset="0"/>
              </a:rPr>
              <a:t>...</a:t>
            </a:r>
            <a:r>
              <a:rPr lang="en-US" altLang="en-US" sz="2100">
                <a:solidFill>
                  <a:srgbClr val="FF0000"/>
                </a:solidFill>
                <a:cs typeface="Times New Roman" panose="02020603050405020304" pitchFamily="18" charset="0"/>
              </a:rPr>
              <a:t>, </a:t>
            </a:r>
            <a:r>
              <a:rPr lang="en-US" altLang="en-US" sz="2100" i="1" err="1">
                <a:solidFill>
                  <a:srgbClr val="FF0000"/>
                </a:solidFill>
                <a:cs typeface="Times New Roman" panose="02020603050405020304" pitchFamily="18" charset="0"/>
              </a:rPr>
              <a:t>len</a:t>
            </a:r>
            <a:r>
              <a:rPr lang="en-US" altLang="en-US" sz="2100" i="1">
                <a:solidFill>
                  <a:srgbClr val="FF0000"/>
                </a:solidFill>
                <a:cs typeface="Times New Roman" panose="02020603050405020304" pitchFamily="18" charset="0"/>
              </a:rPr>
              <a:t> n</a:t>
            </a:r>
            <a:r>
              <a:rPr lang="en-US" altLang="en-US" sz="2100">
                <a:solidFill>
                  <a:srgbClr val="FF0000"/>
                </a:solidFill>
                <a:cs typeface="Times New Roman" panose="02020603050405020304" pitchFamily="18" charset="0"/>
              </a:rPr>
              <a:t>] </a:t>
            </a:r>
            <a:r>
              <a:rPr lang="en-US" altLang="en-US" sz="2100" b="1">
                <a:solidFill>
                  <a:srgbClr val="FF0000"/>
                </a:solidFill>
                <a:cs typeface="Times New Roman" panose="02020603050405020304" pitchFamily="18" charset="0"/>
              </a:rPr>
              <a:t>OF</a:t>
            </a:r>
            <a:r>
              <a:rPr lang="en-US" altLang="en-US" sz="2100">
                <a:solidFill>
                  <a:srgbClr val="FF0000"/>
                </a:solidFill>
                <a:cs typeface="Times New Roman" panose="02020603050405020304" pitchFamily="18" charset="0"/>
              </a:rPr>
              <a:t>  </a:t>
            </a:r>
            <a:r>
              <a:rPr lang="en-US" altLang="en-US" sz="2100" i="1">
                <a:solidFill>
                  <a:srgbClr val="FF0000"/>
                </a:solidFill>
                <a:cs typeface="Times New Roman" panose="02020603050405020304" pitchFamily="18" charset="0"/>
              </a:rPr>
              <a:t>datatype </a:t>
            </a:r>
            <a:r>
              <a:rPr lang="en-US" altLang="en-US" sz="2100">
                <a:solidFill>
                  <a:srgbClr val="FF0000"/>
                </a:solidFill>
                <a:cs typeface="Times New Roman" panose="02020603050405020304" pitchFamily="18" charset="0"/>
              </a:rPr>
              <a:t>; </a:t>
            </a:r>
          </a:p>
          <a:p>
            <a:pPr algn="just">
              <a:lnSpc>
                <a:spcPct val="90000"/>
              </a:lnSpc>
            </a:pPr>
            <a:endParaRPr lang="en-US" altLang="en-US" sz="2300">
              <a:cs typeface="Times New Roman" panose="02020603050405020304" pitchFamily="18" charset="0"/>
            </a:endParaRPr>
          </a:p>
          <a:p>
            <a:pPr algn="just">
              <a:lnSpc>
                <a:spcPct val="90000"/>
              </a:lnSpc>
            </a:pPr>
            <a:r>
              <a:rPr lang="en-US" altLang="en-US" sz="2300" err="1">
                <a:cs typeface="Times New Roman" panose="02020603050405020304" pitchFamily="18" charset="0"/>
              </a:rPr>
              <a:t>Kích</a:t>
            </a:r>
            <a:r>
              <a:rPr lang="en-US" altLang="en-US" sz="2300">
                <a:cs typeface="Times New Roman" panose="02020603050405020304" pitchFamily="18" charset="0"/>
              </a:rPr>
              <a:t> </a:t>
            </a:r>
            <a:r>
              <a:rPr lang="en-US" altLang="en-US" sz="2300" err="1">
                <a:cs typeface="Times New Roman" panose="02020603050405020304" pitchFamily="18" charset="0"/>
              </a:rPr>
              <a:t>thước</a:t>
            </a:r>
            <a:r>
              <a:rPr lang="en-US" altLang="en-US" sz="2300">
                <a:cs typeface="Times New Roman" panose="02020603050405020304" pitchFamily="18" charset="0"/>
              </a:rPr>
              <a:t> </a:t>
            </a:r>
            <a:r>
              <a:rPr lang="en-US" altLang="en-US" sz="2300" err="1">
                <a:cs typeface="Times New Roman" panose="02020603050405020304" pitchFamily="18" charset="0"/>
              </a:rPr>
              <a:t>của</a:t>
            </a:r>
            <a:r>
              <a:rPr lang="en-US" altLang="en-US" sz="2300">
                <a:cs typeface="Times New Roman" panose="02020603050405020304" pitchFamily="18" charset="0"/>
              </a:rPr>
              <a:t> </a:t>
            </a:r>
            <a:r>
              <a:rPr lang="en-US" altLang="en-US" sz="2300" err="1">
                <a:cs typeface="Times New Roman" panose="02020603050405020304" pitchFamily="18" charset="0"/>
              </a:rPr>
              <a:t>mảng</a:t>
            </a:r>
            <a:r>
              <a:rPr lang="en-US" altLang="en-US" sz="2300">
                <a:cs typeface="Times New Roman" panose="02020603050405020304" pitchFamily="18" charset="0"/>
              </a:rPr>
              <a:t> </a:t>
            </a:r>
            <a:r>
              <a:rPr lang="en-US" altLang="en-US" sz="2300" i="1">
                <a:cs typeface="Times New Roman" panose="02020603050405020304" pitchFamily="18" charset="0"/>
              </a:rPr>
              <a:t>name</a:t>
            </a:r>
            <a:r>
              <a:rPr lang="en-US" altLang="en-US" sz="2300">
                <a:cs typeface="Times New Roman" panose="02020603050405020304" pitchFamily="18" charset="0"/>
              </a:rPr>
              <a:t>: </a:t>
            </a:r>
            <a:r>
              <a:rPr lang="en-US" altLang="en-US" sz="2300" i="1">
                <a:cs typeface="Times New Roman" panose="02020603050405020304" pitchFamily="18" charset="0"/>
              </a:rPr>
              <a:t>LEN(name)</a:t>
            </a:r>
            <a:endParaRPr lang="en-US" altLang="en-US" sz="2300">
              <a:latin typeface=".VnTime" pitchFamily="34" charset="0"/>
              <a:cs typeface="Times New Roman" panose="02020603050405020304" pitchFamily="18" charset="0"/>
            </a:endParaRPr>
          </a:p>
          <a:p>
            <a:pPr lvl="1" algn="just">
              <a:lnSpc>
                <a:spcPct val="90000"/>
              </a:lnSpc>
            </a:pPr>
            <a:r>
              <a:rPr lang="en-US" altLang="en-US" sz="2100" i="1">
                <a:cs typeface="Times New Roman" panose="02020603050405020304" pitchFamily="18" charset="0"/>
              </a:rPr>
              <a:t>LEN(name) = </a:t>
            </a:r>
            <a:r>
              <a:rPr lang="en-US" altLang="en-US" sz="2100" i="1" err="1">
                <a:cs typeface="Times New Roman" panose="02020603050405020304" pitchFamily="18" charset="0"/>
              </a:rPr>
              <a:t>len</a:t>
            </a:r>
            <a:r>
              <a:rPr lang="en-US" altLang="en-US" sz="2100" i="1">
                <a:cs typeface="Times New Roman" panose="02020603050405020304" pitchFamily="18" charset="0"/>
              </a:rPr>
              <a:t> 1 x </a:t>
            </a:r>
            <a:r>
              <a:rPr lang="en-US" altLang="en-US" sz="2100" i="1" err="1">
                <a:cs typeface="Times New Roman" panose="02020603050405020304" pitchFamily="18" charset="0"/>
              </a:rPr>
              <a:t>len</a:t>
            </a:r>
            <a:r>
              <a:rPr lang="en-US" altLang="en-US" sz="2100" i="1">
                <a:cs typeface="Times New Roman" panose="02020603050405020304" pitchFamily="18" charset="0"/>
              </a:rPr>
              <a:t> 2 x </a:t>
            </a:r>
            <a:r>
              <a:rPr lang="en-US" altLang="en-US" sz="2100" i="1">
                <a:latin typeface="Times" panose="02020603050405020304" pitchFamily="18" charset="0"/>
                <a:cs typeface="Times New Roman" panose="02020603050405020304" pitchFamily="18" charset="0"/>
              </a:rPr>
              <a:t>...</a:t>
            </a:r>
            <a:r>
              <a:rPr lang="en-US" altLang="en-US" sz="2100" i="1">
                <a:cs typeface="Times New Roman" panose="02020603050405020304" pitchFamily="18" charset="0"/>
              </a:rPr>
              <a:t> = </a:t>
            </a:r>
            <a:r>
              <a:rPr lang="en-US" altLang="en-US" sz="2100">
                <a:cs typeface="Times New Roman" panose="02020603050405020304" pitchFamily="18" charset="0"/>
                <a:sym typeface="Symbol" panose="05050102010706020507" pitchFamily="18" charset="2"/>
              </a:rPr>
              <a:t></a:t>
            </a:r>
            <a:r>
              <a:rPr lang="en-US" altLang="en-US" sz="2100" i="1">
                <a:cs typeface="Times New Roman" panose="02020603050405020304" pitchFamily="18" charset="0"/>
              </a:rPr>
              <a:t> (</a:t>
            </a:r>
            <a:r>
              <a:rPr lang="en-US" altLang="en-US" sz="2100" i="1" err="1">
                <a:cs typeface="Times New Roman" panose="02020603050405020304" pitchFamily="18" charset="0"/>
              </a:rPr>
              <a:t>len</a:t>
            </a:r>
            <a:r>
              <a:rPr lang="en-US" altLang="en-US" sz="2100" i="1">
                <a:cs typeface="Times New Roman" panose="02020603050405020304" pitchFamily="18" charset="0"/>
              </a:rPr>
              <a:t> </a:t>
            </a:r>
            <a:r>
              <a:rPr lang="en-US" altLang="en-US" sz="2100" i="1" err="1">
                <a:cs typeface="Times New Roman" panose="02020603050405020304" pitchFamily="18" charset="0"/>
              </a:rPr>
              <a:t>i</a:t>
            </a:r>
            <a:r>
              <a:rPr lang="en-US" altLang="en-US" sz="2100" i="1">
                <a:cs typeface="Times New Roman" panose="02020603050405020304" pitchFamily="18" charset="0"/>
              </a:rPr>
              <a:t>)</a:t>
            </a:r>
            <a:r>
              <a:rPr lang="en-US" altLang="en-US" sz="2100">
                <a:cs typeface="Times New Roman" panose="02020603050405020304" pitchFamily="18" charset="0"/>
              </a:rPr>
              <a:t>  (</a:t>
            </a:r>
            <a:r>
              <a:rPr lang="en-US" altLang="en-US" sz="2100" err="1">
                <a:cs typeface="Times New Roman" panose="02020603050405020304" pitchFamily="18" charset="0"/>
              </a:rPr>
              <a:t>với</a:t>
            </a:r>
            <a:r>
              <a:rPr lang="en-US" altLang="en-US" sz="2100">
                <a:cs typeface="Times New Roman" panose="02020603050405020304" pitchFamily="18" charset="0"/>
              </a:rPr>
              <a:t> </a:t>
            </a:r>
            <a:r>
              <a:rPr lang="en-US" altLang="en-US" sz="2100" err="1">
                <a:cs typeface="Times New Roman" panose="02020603050405020304" pitchFamily="18" charset="0"/>
              </a:rPr>
              <a:t>i</a:t>
            </a:r>
            <a:r>
              <a:rPr lang="en-US" altLang="en-US" sz="2100">
                <a:cs typeface="Times New Roman" panose="02020603050405020304" pitchFamily="18" charset="0"/>
              </a:rPr>
              <a:t>=1,2,..,n)</a:t>
            </a:r>
            <a:endParaRPr lang="en-US" altLang="en-US" sz="2100"/>
          </a:p>
        </p:txBody>
      </p:sp>
      <p:sp>
        <p:nvSpPr>
          <p:cNvPr id="2" name="Rectangle 1"/>
          <p:cNvSpPr/>
          <p:nvPr/>
        </p:nvSpPr>
        <p:spPr>
          <a:xfrm>
            <a:off x="990600" y="3344478"/>
            <a:ext cx="7543800" cy="2751522"/>
          </a:xfrm>
          <a:prstGeom prst="rect">
            <a:avLst/>
          </a:prstGeom>
        </p:spPr>
        <p:txBody>
          <a:bodyPr wrap="square">
            <a:spAutoFit/>
          </a:bodyPr>
          <a:lstStyle/>
          <a:p>
            <a:pPr>
              <a:lnSpc>
                <a:spcPct val="90000"/>
              </a:lnSpc>
            </a:pPr>
            <a:r>
              <a:rPr lang="en-US" altLang="en-US" sz="2600" err="1">
                <a:cs typeface="Times New Roman" panose="02020603050405020304" pitchFamily="18" charset="0"/>
              </a:rPr>
              <a:t>Ví</a:t>
            </a:r>
            <a:r>
              <a:rPr lang="en-US" altLang="en-US" sz="2600">
                <a:cs typeface="Times New Roman" panose="02020603050405020304" pitchFamily="18" charset="0"/>
              </a:rPr>
              <a:t> </a:t>
            </a:r>
            <a:r>
              <a:rPr lang="en-US" altLang="en-US" sz="2600" err="1">
                <a:cs typeface="Times New Roman" panose="02020603050405020304" pitchFamily="18" charset="0"/>
              </a:rPr>
              <a:t>dụ</a:t>
            </a:r>
            <a:r>
              <a:rPr lang="en-US" altLang="en-US" sz="2600">
                <a:cs typeface="Times New Roman" panose="02020603050405020304" pitchFamily="18" charset="0"/>
              </a:rPr>
              <a:t>:</a:t>
            </a:r>
          </a:p>
          <a:p>
            <a:pPr lvl="1" algn="just">
              <a:lnSpc>
                <a:spcPct val="90000"/>
              </a:lnSpc>
            </a:pPr>
            <a:r>
              <a:rPr lang="en-US" altLang="en-US" sz="2200" err="1">
                <a:cs typeface="Times New Roman" panose="02020603050405020304" pitchFamily="18" charset="0"/>
              </a:rPr>
              <a:t>Khai</a:t>
            </a:r>
            <a:r>
              <a:rPr lang="en-US" altLang="en-US" sz="2200">
                <a:cs typeface="Times New Roman" panose="02020603050405020304" pitchFamily="18" charset="0"/>
              </a:rPr>
              <a:t> </a:t>
            </a:r>
            <a:r>
              <a:rPr lang="en-US" altLang="en-US" sz="2200" err="1">
                <a:cs typeface="Times New Roman" panose="02020603050405020304" pitchFamily="18" charset="0"/>
              </a:rPr>
              <a:t>báo</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1 </a:t>
            </a:r>
            <a:r>
              <a:rPr lang="en-US" altLang="en-US" sz="2200" err="1">
                <a:cs typeface="Times New Roman" panose="02020603050405020304" pitchFamily="18" charset="0"/>
              </a:rPr>
              <a:t>chiều</a:t>
            </a:r>
            <a:r>
              <a:rPr lang="en-US" altLang="en-US" sz="2200">
                <a:cs typeface="Times New Roman" panose="02020603050405020304" pitchFamily="18" charset="0"/>
              </a:rPr>
              <a:t>: </a:t>
            </a:r>
          </a:p>
          <a:p>
            <a:pPr lvl="2" algn="just">
              <a:lnSpc>
                <a:spcPct val="90000"/>
              </a:lnSpc>
            </a:pPr>
            <a:r>
              <a:rPr lang="en-US" altLang="en-US" sz="2000">
                <a:latin typeface="Courier New" panose="02070309020205020404" pitchFamily="49" charset="0"/>
                <a:cs typeface="Courier New" panose="02070309020205020404" pitchFamily="49" charset="0"/>
              </a:rPr>
              <a:t>ARRAY: vector [1, N] OF  integer ;</a:t>
            </a:r>
          </a:p>
          <a:p>
            <a:pPr lvl="1" algn="just">
              <a:lnSpc>
                <a:spcPct val="90000"/>
              </a:lnSpc>
            </a:pPr>
            <a:r>
              <a:rPr lang="en-US" altLang="en-US" sz="2200" err="1">
                <a:cs typeface="Times New Roman" panose="02020603050405020304" pitchFamily="18" charset="0"/>
              </a:rPr>
              <a:t>Khai</a:t>
            </a:r>
            <a:r>
              <a:rPr lang="en-US" altLang="en-US" sz="2200">
                <a:cs typeface="Times New Roman" panose="02020603050405020304" pitchFamily="18" charset="0"/>
              </a:rPr>
              <a:t> </a:t>
            </a:r>
            <a:r>
              <a:rPr lang="en-US" altLang="en-US" sz="2200" err="1">
                <a:cs typeface="Times New Roman" panose="02020603050405020304" pitchFamily="18" charset="0"/>
              </a:rPr>
              <a:t>báo</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hai</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 </a:t>
            </a:r>
          </a:p>
          <a:p>
            <a:pPr lvl="2" algn="just">
              <a:lnSpc>
                <a:spcPct val="90000"/>
              </a:lnSpc>
            </a:pPr>
            <a:r>
              <a:rPr lang="en-US" altLang="en-US" sz="2000">
                <a:latin typeface="Courier New" panose="02070309020205020404" pitchFamily="49" charset="0"/>
                <a:cs typeface="Courier New" panose="02070309020205020404" pitchFamily="49" charset="0"/>
              </a:rPr>
              <a:t>ARRAY: </a:t>
            </a:r>
            <a:r>
              <a:rPr lang="en-US" altLang="en-US" sz="2000" err="1">
                <a:latin typeface="Courier New" panose="02070309020205020404" pitchFamily="49" charset="0"/>
                <a:cs typeface="Courier New" panose="02070309020205020404" pitchFamily="49" charset="0"/>
              </a:rPr>
              <a:t>matran</a:t>
            </a:r>
            <a:r>
              <a:rPr lang="en-US" altLang="en-US" sz="2000">
                <a:latin typeface="Courier New" panose="02070309020205020404" pitchFamily="49" charset="0"/>
                <a:cs typeface="Courier New" panose="02070309020205020404" pitchFamily="49" charset="0"/>
              </a:rPr>
              <a:t>[2, M, N] OF integer; </a:t>
            </a:r>
          </a:p>
          <a:p>
            <a:pPr lvl="2" algn="just">
              <a:lnSpc>
                <a:spcPct val="90000"/>
              </a:lnSpc>
            </a:pPr>
            <a:r>
              <a:rPr lang="en-US" altLang="en-US" sz="2000">
                <a:latin typeface="Courier New" panose="02070309020205020404" pitchFamily="49" charset="0"/>
                <a:cs typeface="Courier New" panose="02070309020205020404" pitchFamily="49" charset="0"/>
              </a:rPr>
              <a:t>ARRAY: </a:t>
            </a:r>
            <a:r>
              <a:rPr lang="en-US" altLang="en-US" sz="2000" err="1">
                <a:latin typeface="Courier New" panose="02070309020205020404" pitchFamily="49" charset="0"/>
                <a:cs typeface="Courier New" panose="02070309020205020404" pitchFamily="49" charset="0"/>
              </a:rPr>
              <a:t>matran</a:t>
            </a:r>
            <a:r>
              <a:rPr lang="en-US" altLang="en-US" sz="2000">
                <a:latin typeface="Courier New" panose="02070309020205020404" pitchFamily="49" charset="0"/>
                <a:cs typeface="Courier New" panose="02070309020205020404" pitchFamily="49" charset="0"/>
              </a:rPr>
              <a:t>[1, M] OF vector;</a:t>
            </a:r>
          </a:p>
          <a:p>
            <a:pPr lvl="1" algn="just">
              <a:lnSpc>
                <a:spcPct val="90000"/>
              </a:lnSpc>
            </a:pPr>
            <a:r>
              <a:rPr lang="en-US" altLang="en-US" sz="2200" err="1">
                <a:cs typeface="Times New Roman" panose="02020603050405020304" pitchFamily="18" charset="0"/>
              </a:rPr>
              <a:t>Khai</a:t>
            </a:r>
            <a:r>
              <a:rPr lang="en-US" altLang="en-US" sz="2200">
                <a:cs typeface="Times New Roman" panose="02020603050405020304" pitchFamily="18" charset="0"/>
              </a:rPr>
              <a:t> </a:t>
            </a:r>
            <a:r>
              <a:rPr lang="en-US" altLang="en-US" sz="2200" err="1">
                <a:cs typeface="Times New Roman" panose="02020603050405020304" pitchFamily="18" charset="0"/>
              </a:rPr>
              <a:t>báo</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N </a:t>
            </a:r>
            <a:r>
              <a:rPr lang="en-US" altLang="en-US" sz="2200" err="1">
                <a:cs typeface="Times New Roman" panose="02020603050405020304" pitchFamily="18" charset="0"/>
              </a:rPr>
              <a:t>chiều</a:t>
            </a:r>
            <a:r>
              <a:rPr lang="en-US" altLang="en-US" sz="2200">
                <a:cs typeface="Times New Roman" panose="02020603050405020304" pitchFamily="18" charset="0"/>
              </a:rPr>
              <a:t>: </a:t>
            </a:r>
          </a:p>
          <a:p>
            <a:pPr lvl="2" algn="just">
              <a:lnSpc>
                <a:spcPct val="90000"/>
              </a:lnSpc>
            </a:pPr>
            <a:r>
              <a:rPr lang="en-US" altLang="en-US" sz="2000">
                <a:latin typeface="Courier New" panose="02070309020205020404" pitchFamily="49" charset="0"/>
                <a:cs typeface="Courier New" panose="02070309020205020404" pitchFamily="49" charset="0"/>
              </a:rPr>
              <a:t>ARRAY: a[N, L</a:t>
            </a:r>
            <a:r>
              <a:rPr lang="en-US" altLang="en-US" sz="2000" baseline="-25000">
                <a:latin typeface="Courier New" panose="02070309020205020404" pitchFamily="49" charset="0"/>
                <a:cs typeface="Courier New" panose="02070309020205020404" pitchFamily="49" charset="0"/>
              </a:rPr>
              <a:t>1</a:t>
            </a:r>
            <a:r>
              <a:rPr lang="en-US" altLang="en-US" sz="2000">
                <a:latin typeface="Courier New" panose="02070309020205020404" pitchFamily="49" charset="0"/>
                <a:cs typeface="Courier New" panose="02070309020205020404" pitchFamily="49" charset="0"/>
              </a:rPr>
              <a:t>, L</a:t>
            </a:r>
            <a:r>
              <a:rPr lang="en-US" altLang="en-US" sz="2000" baseline="-25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 L</a:t>
            </a:r>
            <a:r>
              <a:rPr lang="en-US" altLang="en-US" sz="2000" baseline="-25000">
                <a:latin typeface="Courier New" panose="02070309020205020404" pitchFamily="49" charset="0"/>
                <a:cs typeface="Courier New" panose="02070309020205020404" pitchFamily="49" charset="0"/>
              </a:rPr>
              <a:t>N</a:t>
            </a:r>
            <a:r>
              <a:rPr lang="en-US" altLang="en-US" sz="2000">
                <a:latin typeface="Courier New" panose="02070309020205020404" pitchFamily="49" charset="0"/>
                <a:cs typeface="Courier New" panose="02070309020205020404" pitchFamily="49" charset="0"/>
              </a:rPr>
              <a:t>]  OF  integer;  </a:t>
            </a:r>
            <a:r>
              <a:rPr lang="en-US" altLang="en-US" sz="2000">
                <a:cs typeface="Times New Roman" panose="02020603050405020304" pitchFamily="18" charset="0"/>
              </a:rPr>
              <a:t>		</a:t>
            </a:r>
            <a:endParaRPr lang="en-US"/>
          </a:p>
        </p:txBody>
      </p:sp>
    </p:spTree>
    <p:extLst>
      <p:ext uri="{BB962C8B-B14F-4D97-AF65-F5344CB8AC3E}">
        <p14:creationId xmlns:p14="http://schemas.microsoft.com/office/powerpoint/2010/main" val="223527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4A14587-604A-4983-83CE-4557C0AE7781}" type="slidenum">
              <a:rPr lang="en-US" altLang="en-US"/>
              <a:pPr/>
              <a:t>9</a:t>
            </a:fld>
            <a:endParaRPr lang="en-US" altLang="en-US"/>
          </a:p>
        </p:txBody>
      </p:sp>
      <p:sp>
        <p:nvSpPr>
          <p:cNvPr id="13314" name="Rectangle 2"/>
          <p:cNvSpPr>
            <a:spLocks noGrp="1" noChangeArrowheads="1"/>
          </p:cNvSpPr>
          <p:nvPr>
            <p:ph type="title"/>
          </p:nvPr>
        </p:nvSpPr>
        <p:spPr/>
        <p:txBody>
          <a:bodyPr/>
          <a:lstStyle/>
          <a:p>
            <a:r>
              <a:rPr lang="en-US" altLang="en-US"/>
              <a:t>1.1. </a:t>
            </a:r>
            <a:r>
              <a:rPr lang="en-US" altLang="en-US" err="1"/>
              <a:t>Mô</a:t>
            </a:r>
            <a:r>
              <a:rPr lang="en-US" altLang="en-US"/>
              <a:t> </a:t>
            </a:r>
            <a:r>
              <a:rPr lang="en-US" altLang="en-US" err="1"/>
              <a:t>tả</a:t>
            </a:r>
            <a:endParaRPr lang="en-US" altLang="en-US"/>
          </a:p>
        </p:txBody>
      </p:sp>
      <p:sp>
        <p:nvSpPr>
          <p:cNvPr id="13315" name="Rectangle 3"/>
          <p:cNvSpPr>
            <a:spLocks noGrp="1" noChangeArrowheads="1"/>
          </p:cNvSpPr>
          <p:nvPr>
            <p:ph type="body" sz="quarter" idx="13"/>
          </p:nvPr>
        </p:nvSpPr>
        <p:spPr/>
        <p:txBody>
          <a:bodyPr/>
          <a:lstStyle/>
          <a:p>
            <a:pPr algn="just">
              <a:lnSpc>
                <a:spcPct val="90000"/>
              </a:lnSpc>
            </a:pPr>
            <a:r>
              <a:rPr lang="en-US" altLang="en-US" sz="2500" err="1">
                <a:cs typeface="Times New Roman" panose="02020603050405020304" pitchFamily="18" charset="0"/>
              </a:rPr>
              <a:t>Mảng</a:t>
            </a:r>
            <a:r>
              <a:rPr lang="en-US" altLang="en-US" sz="2500">
                <a:cs typeface="Times New Roman" panose="02020603050405020304" pitchFamily="18" charset="0"/>
              </a:rPr>
              <a:t> N </a:t>
            </a:r>
            <a:r>
              <a:rPr lang="en-US" altLang="en-US" sz="2500" err="1">
                <a:cs typeface="Times New Roman" panose="02020603050405020304" pitchFamily="18" charset="0"/>
              </a:rPr>
              <a:t>chiều</a:t>
            </a:r>
            <a:r>
              <a:rPr lang="en-US" altLang="en-US" sz="2500">
                <a:cs typeface="Times New Roman" panose="02020603050405020304" pitchFamily="18" charset="0"/>
              </a:rPr>
              <a:t> </a:t>
            </a:r>
            <a:r>
              <a:rPr lang="en-US" altLang="en-US" sz="2500" err="1">
                <a:cs typeface="Times New Roman" panose="02020603050405020304" pitchFamily="18" charset="0"/>
              </a:rPr>
              <a:t>là</a:t>
            </a:r>
            <a:r>
              <a:rPr lang="en-US" altLang="en-US" sz="2500">
                <a:cs typeface="Times New Roman" panose="02020603050405020304" pitchFamily="18" charset="0"/>
              </a:rPr>
              <a:t> </a:t>
            </a:r>
            <a:r>
              <a:rPr lang="en-US" altLang="en-US" sz="2500" err="1">
                <a:cs typeface="Times New Roman" panose="02020603050405020304" pitchFamily="18" charset="0"/>
              </a:rPr>
              <a:t>mảng</a:t>
            </a:r>
            <a:r>
              <a:rPr lang="en-US" altLang="en-US" sz="2500">
                <a:cs typeface="Times New Roman" panose="02020603050405020304" pitchFamily="18" charset="0"/>
              </a:rPr>
              <a:t> 1 </a:t>
            </a:r>
            <a:r>
              <a:rPr lang="en-US" altLang="en-US" sz="2500" err="1">
                <a:cs typeface="Times New Roman" panose="02020603050405020304" pitchFamily="18" charset="0"/>
              </a:rPr>
              <a:t>chiều</a:t>
            </a:r>
            <a:r>
              <a:rPr lang="en-US" altLang="en-US" sz="2500">
                <a:cs typeface="Times New Roman" panose="02020603050405020304" pitchFamily="18" charset="0"/>
              </a:rPr>
              <a:t> </a:t>
            </a:r>
            <a:r>
              <a:rPr lang="en-US" altLang="en-US" sz="2500" err="1">
                <a:cs typeface="Times New Roman" panose="02020603050405020304" pitchFamily="18" charset="0"/>
              </a:rPr>
              <a:t>của</a:t>
            </a:r>
            <a:r>
              <a:rPr lang="en-US" altLang="en-US" sz="2500">
                <a:cs typeface="Times New Roman" panose="02020603050405020304" pitchFamily="18" charset="0"/>
              </a:rPr>
              <a:t> </a:t>
            </a:r>
            <a:r>
              <a:rPr lang="en-US" altLang="en-US" sz="2500" err="1">
                <a:cs typeface="Times New Roman" panose="02020603050405020304" pitchFamily="18" charset="0"/>
              </a:rPr>
              <a:t>các</a:t>
            </a:r>
            <a:r>
              <a:rPr lang="en-US" altLang="en-US" sz="2500">
                <a:cs typeface="Times New Roman" panose="02020603050405020304" pitchFamily="18" charset="0"/>
              </a:rPr>
              <a:t> </a:t>
            </a:r>
            <a:r>
              <a:rPr lang="en-US" altLang="en-US" sz="2500" err="1">
                <a:cs typeface="Times New Roman" panose="02020603050405020304" pitchFamily="18" charset="0"/>
              </a:rPr>
              <a:t>mảng</a:t>
            </a:r>
            <a:r>
              <a:rPr lang="en-US" altLang="en-US" sz="2500">
                <a:cs typeface="Times New Roman" panose="02020603050405020304" pitchFamily="18" charset="0"/>
              </a:rPr>
              <a:t> N-1 </a:t>
            </a:r>
            <a:r>
              <a:rPr lang="en-US" altLang="en-US" sz="2500" err="1">
                <a:cs typeface="Times New Roman" panose="02020603050405020304" pitchFamily="18" charset="0"/>
              </a:rPr>
              <a:t>chiều</a:t>
            </a:r>
            <a:r>
              <a:rPr lang="en-US" altLang="en-US" sz="2500">
                <a:cs typeface="Times New Roman" panose="02020603050405020304" pitchFamily="18" charset="0"/>
              </a:rPr>
              <a:t>.</a:t>
            </a:r>
          </a:p>
          <a:p>
            <a:pPr lvl="2" algn="just"/>
            <a:r>
              <a:rPr lang="en-US" altLang="en-US" sz="1800">
                <a:cs typeface="Times New Roman" panose="02020603050405020304" pitchFamily="18" charset="0"/>
              </a:rPr>
              <a:t>ARRAY:  a</a:t>
            </a:r>
            <a:r>
              <a:rPr lang="en-US" altLang="en-US" sz="1800" baseline="-25000">
                <a:cs typeface="Times New Roman" panose="02020603050405020304" pitchFamily="18" charset="0"/>
              </a:rPr>
              <a:t>n</a:t>
            </a:r>
            <a:r>
              <a:rPr lang="en-US" altLang="en-US" sz="1800">
                <a:cs typeface="Times New Roman" panose="02020603050405020304" pitchFamily="18" charset="0"/>
              </a:rPr>
              <a:t>[N, L</a:t>
            </a:r>
            <a:r>
              <a:rPr lang="en-US" altLang="en-US" sz="1800" baseline="-30000">
                <a:cs typeface="Times New Roman" panose="02020603050405020304" pitchFamily="18" charset="0"/>
              </a:rPr>
              <a:t>1</a:t>
            </a:r>
            <a:r>
              <a:rPr lang="en-US" altLang="en-US" sz="1800">
                <a:cs typeface="Times New Roman" panose="02020603050405020304" pitchFamily="18" charset="0"/>
              </a:rPr>
              <a:t>, L</a:t>
            </a:r>
            <a:r>
              <a:rPr lang="en-US" altLang="en-US" sz="1800" baseline="-30000">
                <a:cs typeface="Times New Roman" panose="02020603050405020304" pitchFamily="18" charset="0"/>
              </a:rPr>
              <a:t>2</a:t>
            </a:r>
            <a:r>
              <a:rPr lang="en-US" altLang="en-US" sz="1800">
                <a:cs typeface="Times New Roman" panose="02020603050405020304" pitchFamily="18" charset="0"/>
              </a:rPr>
              <a:t>,</a:t>
            </a:r>
            <a:r>
              <a:rPr lang="en-US" altLang="en-US" sz="1800">
                <a:latin typeface="Times" panose="02020603050405020304" pitchFamily="18" charset="0"/>
                <a:cs typeface="Times New Roman" panose="02020603050405020304" pitchFamily="18" charset="0"/>
              </a:rPr>
              <a:t>...</a:t>
            </a:r>
            <a:r>
              <a:rPr lang="en-US" altLang="en-US" sz="1800">
                <a:cs typeface="Times New Roman" panose="02020603050405020304" pitchFamily="18" charset="0"/>
              </a:rPr>
              <a:t>, L</a:t>
            </a:r>
            <a:r>
              <a:rPr lang="en-US" altLang="en-US" sz="1800" baseline="-25000">
                <a:cs typeface="Times New Roman" panose="02020603050405020304" pitchFamily="18" charset="0"/>
              </a:rPr>
              <a:t>N</a:t>
            </a:r>
            <a:r>
              <a:rPr lang="en-US" altLang="en-US" sz="1800">
                <a:cs typeface="Times New Roman" panose="02020603050405020304" pitchFamily="18" charset="0"/>
              </a:rPr>
              <a:t>]  OF  datatype ; </a:t>
            </a:r>
            <a:endParaRPr lang="en-US" altLang="en-US" sz="1800">
              <a:latin typeface=".VnTime" pitchFamily="34" charset="0"/>
              <a:cs typeface="Times New Roman" panose="02020603050405020304" pitchFamily="18" charset="0"/>
            </a:endParaRPr>
          </a:p>
          <a:p>
            <a:pPr lvl="2"/>
            <a:r>
              <a:rPr lang="en-US" altLang="en-US" sz="1800">
                <a:cs typeface="Times New Roman" panose="02020603050405020304" pitchFamily="18" charset="0"/>
              </a:rPr>
              <a:t>ARRAY:  a</a:t>
            </a:r>
            <a:r>
              <a:rPr lang="en-US" altLang="en-US" sz="1800" baseline="-25000">
                <a:cs typeface="Times New Roman" panose="02020603050405020304" pitchFamily="18" charset="0"/>
              </a:rPr>
              <a:t>n</a:t>
            </a:r>
            <a:r>
              <a:rPr lang="en-US" altLang="en-US" sz="1800" baseline="-30000">
                <a:cs typeface="Times New Roman" panose="02020603050405020304" pitchFamily="18" charset="0"/>
              </a:rPr>
              <a:t>-1</a:t>
            </a:r>
            <a:r>
              <a:rPr lang="en-US" altLang="en-US" sz="1800">
                <a:cs typeface="Times New Roman" panose="02020603050405020304" pitchFamily="18" charset="0"/>
              </a:rPr>
              <a:t>[N-1, L</a:t>
            </a:r>
            <a:r>
              <a:rPr lang="en-US" altLang="en-US" sz="1800" baseline="-30000">
                <a:cs typeface="Times New Roman" panose="02020603050405020304" pitchFamily="18" charset="0"/>
              </a:rPr>
              <a:t>2</a:t>
            </a:r>
            <a:r>
              <a:rPr lang="en-US" altLang="en-US" sz="1800">
                <a:cs typeface="Times New Roman" panose="02020603050405020304" pitchFamily="18" charset="0"/>
              </a:rPr>
              <a:t>,</a:t>
            </a:r>
            <a:r>
              <a:rPr lang="en-US" altLang="en-US" sz="1800">
                <a:latin typeface="Times" panose="02020603050405020304" pitchFamily="18" charset="0"/>
                <a:cs typeface="Times New Roman" panose="02020603050405020304" pitchFamily="18" charset="0"/>
              </a:rPr>
              <a:t>...</a:t>
            </a:r>
            <a:r>
              <a:rPr lang="en-US" altLang="en-US" sz="1800">
                <a:cs typeface="Times New Roman" panose="02020603050405020304" pitchFamily="18" charset="0"/>
              </a:rPr>
              <a:t>, L</a:t>
            </a:r>
            <a:r>
              <a:rPr lang="en-US" altLang="en-US" sz="1800" baseline="-25000">
                <a:cs typeface="Times New Roman" panose="02020603050405020304" pitchFamily="18" charset="0"/>
              </a:rPr>
              <a:t>N</a:t>
            </a:r>
            <a:r>
              <a:rPr lang="en-US" altLang="en-US" sz="1800">
                <a:cs typeface="Times New Roman" panose="02020603050405020304" pitchFamily="18" charset="0"/>
              </a:rPr>
              <a:t>]  OF  datatype ;  AND ARRAY:  a</a:t>
            </a:r>
            <a:r>
              <a:rPr lang="en-US" altLang="en-US" sz="1800" baseline="-25000">
                <a:cs typeface="Times New Roman" panose="02020603050405020304" pitchFamily="18" charset="0"/>
              </a:rPr>
              <a:t>n</a:t>
            </a:r>
            <a:r>
              <a:rPr lang="en-US" altLang="en-US" sz="1800">
                <a:cs typeface="Times New Roman" panose="02020603050405020304" pitchFamily="18" charset="0"/>
              </a:rPr>
              <a:t>[1, L</a:t>
            </a:r>
            <a:r>
              <a:rPr lang="en-US" altLang="en-US" sz="1800" baseline="-30000">
                <a:cs typeface="Times New Roman" panose="02020603050405020304" pitchFamily="18" charset="0"/>
              </a:rPr>
              <a:t>1</a:t>
            </a:r>
            <a:r>
              <a:rPr lang="en-US" altLang="en-US" sz="1800">
                <a:cs typeface="Times New Roman" panose="02020603050405020304" pitchFamily="18" charset="0"/>
              </a:rPr>
              <a:t>]  OF  a</a:t>
            </a:r>
            <a:r>
              <a:rPr lang="en-US" altLang="en-US" sz="1800" baseline="-25000">
                <a:cs typeface="Times New Roman" panose="02020603050405020304" pitchFamily="18" charset="0"/>
              </a:rPr>
              <a:t>n</a:t>
            </a:r>
            <a:r>
              <a:rPr lang="en-US" altLang="en-US" sz="1800" baseline="-30000">
                <a:cs typeface="Times New Roman" panose="02020603050405020304" pitchFamily="18" charset="0"/>
              </a:rPr>
              <a:t>-1</a:t>
            </a:r>
            <a:r>
              <a:rPr lang="en-US" altLang="en-US" sz="1800">
                <a:cs typeface="Times New Roman" panose="02020603050405020304" pitchFamily="18" charset="0"/>
              </a:rPr>
              <a:t> ; 				</a:t>
            </a:r>
            <a:endParaRPr lang="en-US" altLang="en-US" sz="1800" i="1">
              <a:latin typeface=".VnTime" pitchFamily="34" charset="0"/>
              <a:cs typeface="Times New Roman" panose="02020603050405020304" pitchFamily="18" charset="0"/>
            </a:endParaRPr>
          </a:p>
          <a:p>
            <a:pPr lvl="1" algn="just"/>
            <a:r>
              <a:rPr lang="en-US" altLang="en-US" sz="2200" err="1">
                <a:cs typeface="Times New Roman" panose="02020603050405020304" pitchFamily="18" charset="0"/>
              </a:rPr>
              <a:t>Khai</a:t>
            </a:r>
            <a:r>
              <a:rPr lang="en-US" altLang="en-US" sz="2200">
                <a:cs typeface="Times New Roman" panose="02020603050405020304" pitchFamily="18" charset="0"/>
              </a:rPr>
              <a:t> </a:t>
            </a:r>
            <a:r>
              <a:rPr lang="en-US" altLang="en-US" sz="2200" err="1">
                <a:cs typeface="Times New Roman" panose="02020603050405020304" pitchFamily="18" charset="0"/>
              </a:rPr>
              <a:t>báo</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trong</a:t>
            </a:r>
            <a:r>
              <a:rPr lang="en-US" altLang="en-US" sz="2200">
                <a:cs typeface="Times New Roman" panose="02020603050405020304" pitchFamily="18" charset="0"/>
              </a:rPr>
              <a:t> C/C++:</a:t>
            </a:r>
            <a:endParaRPr lang="en-US" altLang="en-US" sz="2200">
              <a:latin typeface=".VnTime" pitchFamily="34" charset="0"/>
              <a:cs typeface="Times New Roman" panose="02020603050405020304" pitchFamily="18" charset="0"/>
            </a:endParaRPr>
          </a:p>
          <a:p>
            <a:pPr lvl="2" algn="just"/>
            <a:r>
              <a:rPr lang="en-US" altLang="en-US" sz="1800" err="1">
                <a:cs typeface="Times New Roman" panose="02020603050405020304" pitchFamily="18" charset="0"/>
              </a:rPr>
              <a:t>int</a:t>
            </a:r>
            <a:r>
              <a:rPr lang="en-US" altLang="en-US" sz="1800">
                <a:cs typeface="Times New Roman" panose="02020603050405020304" pitchFamily="18" charset="0"/>
              </a:rPr>
              <a:t> vector [N]; // =&gt; </a:t>
            </a:r>
            <a:r>
              <a:rPr lang="en-US" altLang="en-US" sz="1800" err="1">
                <a:cs typeface="Times New Roman" panose="02020603050405020304" pitchFamily="18" charset="0"/>
              </a:rPr>
              <a:t>Chỉ</a:t>
            </a:r>
            <a:r>
              <a:rPr lang="en-US" altLang="en-US" sz="1800">
                <a:cs typeface="Times New Roman" panose="02020603050405020304" pitchFamily="18" charset="0"/>
              </a:rPr>
              <a:t> </a:t>
            </a:r>
            <a:r>
              <a:rPr lang="en-US" altLang="en-US" sz="1800" err="1">
                <a:cs typeface="Times New Roman" panose="02020603050405020304" pitchFamily="18" charset="0"/>
              </a:rPr>
              <a:t>số</a:t>
            </a:r>
            <a:r>
              <a:rPr lang="en-US" altLang="en-US" sz="1800">
                <a:cs typeface="Times New Roman" panose="02020603050405020304" pitchFamily="18" charset="0"/>
              </a:rPr>
              <a:t> </a:t>
            </a:r>
            <a:r>
              <a:rPr lang="en-US" altLang="en-US" sz="1800" err="1">
                <a:cs typeface="Times New Roman" panose="02020603050405020304" pitchFamily="18" charset="0"/>
              </a:rPr>
              <a:t>chạy</a:t>
            </a:r>
            <a:r>
              <a:rPr lang="en-US" altLang="en-US" sz="1800">
                <a:cs typeface="Times New Roman" panose="02020603050405020304" pitchFamily="18" charset="0"/>
              </a:rPr>
              <a:t> </a:t>
            </a:r>
            <a:r>
              <a:rPr lang="en-US" altLang="en-US" sz="1800" err="1">
                <a:cs typeface="Times New Roman" panose="02020603050405020304" pitchFamily="18" charset="0"/>
              </a:rPr>
              <a:t>tương</a:t>
            </a:r>
            <a:r>
              <a:rPr lang="en-US" altLang="en-US" sz="1800">
                <a:cs typeface="Times New Roman" panose="02020603050405020304" pitchFamily="18" charset="0"/>
              </a:rPr>
              <a:t> </a:t>
            </a:r>
            <a:r>
              <a:rPr lang="en-US" altLang="en-US" sz="1800" err="1">
                <a:cs typeface="Times New Roman" panose="02020603050405020304" pitchFamily="18" charset="0"/>
              </a:rPr>
              <a:t>ứng</a:t>
            </a:r>
            <a:r>
              <a:rPr lang="en-US" altLang="en-US" sz="1800">
                <a:cs typeface="Times New Roman" panose="02020603050405020304" pitchFamily="18" charset="0"/>
              </a:rPr>
              <a:t> [0..N-1]</a:t>
            </a:r>
            <a:endParaRPr lang="en-US" altLang="en-US" sz="1800">
              <a:latin typeface=".VnTime" pitchFamily="34" charset="0"/>
              <a:cs typeface="Times New Roman" panose="02020603050405020304" pitchFamily="18" charset="0"/>
            </a:endParaRPr>
          </a:p>
          <a:p>
            <a:pPr lvl="2" algn="just"/>
            <a:r>
              <a:rPr lang="en-US" altLang="en-US" sz="1800" err="1">
                <a:cs typeface="Times New Roman" panose="02020603050405020304" pitchFamily="18" charset="0"/>
              </a:rPr>
              <a:t>int</a:t>
            </a:r>
            <a:r>
              <a:rPr lang="en-US" altLang="en-US" sz="1800">
                <a:cs typeface="Times New Roman" panose="02020603050405020304" pitchFamily="18" charset="0"/>
              </a:rPr>
              <a:t> </a:t>
            </a:r>
            <a:r>
              <a:rPr lang="en-US" altLang="en-US" sz="1800" err="1">
                <a:cs typeface="Times New Roman" panose="02020603050405020304" pitchFamily="18" charset="0"/>
              </a:rPr>
              <a:t>matran</a:t>
            </a:r>
            <a:r>
              <a:rPr lang="en-US" altLang="en-US" sz="1800">
                <a:cs typeface="Times New Roman" panose="02020603050405020304" pitchFamily="18" charset="0"/>
              </a:rPr>
              <a:t> [M][N]; // =&gt; </a:t>
            </a:r>
            <a:r>
              <a:rPr lang="en-US" altLang="en-US" sz="1800" err="1">
                <a:cs typeface="Times New Roman" panose="02020603050405020304" pitchFamily="18" charset="0"/>
              </a:rPr>
              <a:t>Chỉ</a:t>
            </a:r>
            <a:r>
              <a:rPr lang="en-US" altLang="en-US" sz="1800">
                <a:cs typeface="Times New Roman" panose="02020603050405020304" pitchFamily="18" charset="0"/>
              </a:rPr>
              <a:t> </a:t>
            </a:r>
            <a:r>
              <a:rPr lang="en-US" altLang="en-US" sz="1800" err="1">
                <a:cs typeface="Times New Roman" panose="02020603050405020304" pitchFamily="18" charset="0"/>
              </a:rPr>
              <a:t>số</a:t>
            </a:r>
            <a:r>
              <a:rPr lang="en-US" altLang="en-US" sz="1800">
                <a:cs typeface="Times New Roman" panose="02020603050405020304" pitchFamily="18" charset="0"/>
              </a:rPr>
              <a:t> </a:t>
            </a:r>
            <a:r>
              <a:rPr lang="en-US" altLang="en-US" sz="1800" err="1">
                <a:cs typeface="Times New Roman" panose="02020603050405020304" pitchFamily="18" charset="0"/>
              </a:rPr>
              <a:t>chạy</a:t>
            </a:r>
            <a:r>
              <a:rPr lang="en-US" altLang="en-US" sz="1800">
                <a:cs typeface="Times New Roman" panose="02020603050405020304" pitchFamily="18" charset="0"/>
              </a:rPr>
              <a:t> </a:t>
            </a:r>
            <a:r>
              <a:rPr lang="en-US" altLang="en-US" sz="1800" err="1">
                <a:cs typeface="Times New Roman" panose="02020603050405020304" pitchFamily="18" charset="0"/>
              </a:rPr>
              <a:t>tương</a:t>
            </a:r>
            <a:r>
              <a:rPr lang="en-US" altLang="en-US" sz="1800">
                <a:cs typeface="Times New Roman" panose="02020603050405020304" pitchFamily="18" charset="0"/>
              </a:rPr>
              <a:t> </a:t>
            </a:r>
            <a:r>
              <a:rPr lang="en-US" altLang="en-US" sz="1800" err="1">
                <a:cs typeface="Times New Roman" panose="02020603050405020304" pitchFamily="18" charset="0"/>
              </a:rPr>
              <a:t>ứng</a:t>
            </a:r>
            <a:r>
              <a:rPr lang="en-US" altLang="en-US" sz="1800">
                <a:cs typeface="Times New Roman" panose="02020603050405020304" pitchFamily="18" charset="0"/>
              </a:rPr>
              <a:t> [0..M-1][0..N-1] </a:t>
            </a:r>
          </a:p>
          <a:p>
            <a:pPr lvl="2" algn="just"/>
            <a:r>
              <a:rPr lang="en-US" altLang="en-US" sz="1800">
                <a:cs typeface="Times New Roman" panose="02020603050405020304" pitchFamily="18" charset="0"/>
              </a:rPr>
              <a:t>vector </a:t>
            </a:r>
            <a:r>
              <a:rPr lang="en-US" altLang="en-US" sz="1800" err="1">
                <a:cs typeface="Times New Roman" panose="02020603050405020304" pitchFamily="18" charset="0"/>
              </a:rPr>
              <a:t>matran</a:t>
            </a:r>
            <a:r>
              <a:rPr lang="en-US" altLang="en-US" sz="1800">
                <a:cs typeface="Times New Roman" panose="02020603050405020304" pitchFamily="18" charset="0"/>
              </a:rPr>
              <a:t>[M]; // =&gt; </a:t>
            </a:r>
            <a:r>
              <a:rPr lang="en-US" altLang="en-US" sz="1800" err="1">
                <a:cs typeface="Times New Roman" panose="02020603050405020304" pitchFamily="18" charset="0"/>
              </a:rPr>
              <a:t>Chỉ</a:t>
            </a:r>
            <a:r>
              <a:rPr lang="en-US" altLang="en-US" sz="1800">
                <a:cs typeface="Times New Roman" panose="02020603050405020304" pitchFamily="18" charset="0"/>
              </a:rPr>
              <a:t> </a:t>
            </a:r>
            <a:r>
              <a:rPr lang="en-US" altLang="en-US" sz="1800" err="1">
                <a:cs typeface="Times New Roman" panose="02020603050405020304" pitchFamily="18" charset="0"/>
              </a:rPr>
              <a:t>số</a:t>
            </a:r>
            <a:r>
              <a:rPr lang="en-US" altLang="en-US" sz="1800">
                <a:cs typeface="Times New Roman" panose="02020603050405020304" pitchFamily="18" charset="0"/>
              </a:rPr>
              <a:t> </a:t>
            </a:r>
            <a:r>
              <a:rPr lang="en-US" altLang="en-US" sz="1800" err="1">
                <a:cs typeface="Times New Roman" panose="02020603050405020304" pitchFamily="18" charset="0"/>
              </a:rPr>
              <a:t>chạy</a:t>
            </a:r>
            <a:r>
              <a:rPr lang="en-US" altLang="en-US" sz="1800">
                <a:cs typeface="Times New Roman" panose="02020603050405020304" pitchFamily="18" charset="0"/>
              </a:rPr>
              <a:t> </a:t>
            </a:r>
            <a:r>
              <a:rPr lang="en-US" altLang="en-US" sz="1800" err="1">
                <a:cs typeface="Times New Roman" panose="02020603050405020304" pitchFamily="18" charset="0"/>
              </a:rPr>
              <a:t>tương</a:t>
            </a:r>
            <a:r>
              <a:rPr lang="en-US" altLang="en-US" sz="1800">
                <a:cs typeface="Times New Roman" panose="02020603050405020304" pitchFamily="18" charset="0"/>
              </a:rPr>
              <a:t> </a:t>
            </a:r>
            <a:r>
              <a:rPr lang="en-US" altLang="en-US" sz="1800" err="1">
                <a:cs typeface="Times New Roman" panose="02020603050405020304" pitchFamily="18" charset="0"/>
              </a:rPr>
              <a:t>ứng</a:t>
            </a:r>
            <a:r>
              <a:rPr lang="en-US" altLang="en-US" sz="1800">
                <a:cs typeface="Times New Roman" panose="02020603050405020304" pitchFamily="18" charset="0"/>
              </a:rPr>
              <a:t> [0..M-1];</a:t>
            </a:r>
            <a:endParaRPr lang="en-US" altLang="en-US" sz="1800">
              <a:latin typeface=".VnTime" pitchFamily="34" charset="0"/>
              <a:cs typeface="Times New Roman" panose="02020603050405020304" pitchFamily="18" charset="0"/>
            </a:endParaRPr>
          </a:p>
          <a:p>
            <a:pPr lvl="2" algn="just"/>
            <a:r>
              <a:rPr lang="en-US" altLang="en-US" sz="2000" u="sng" err="1">
                <a:cs typeface="Times New Roman" panose="02020603050405020304" pitchFamily="18" charset="0"/>
              </a:rPr>
              <a:t>Lưu</a:t>
            </a:r>
            <a:r>
              <a:rPr lang="en-US" altLang="en-US" sz="2000" u="sng">
                <a:cs typeface="Times New Roman" panose="02020603050405020304" pitchFamily="18" charset="0"/>
              </a:rPr>
              <a:t> ý</a:t>
            </a:r>
            <a:r>
              <a:rPr lang="en-US" altLang="en-US" sz="2000">
                <a:cs typeface="Times New Roman" panose="02020603050405020304" pitchFamily="18" charset="0"/>
              </a:rPr>
              <a:t> </a:t>
            </a:r>
            <a:r>
              <a:rPr lang="en-US" altLang="en-US" sz="2000" err="1">
                <a:cs typeface="Times New Roman" panose="02020603050405020304" pitchFamily="18" charset="0"/>
              </a:rPr>
              <a:t>trong</a:t>
            </a:r>
            <a:r>
              <a:rPr lang="en-US" altLang="en-US" sz="2000">
                <a:cs typeface="Times New Roman" panose="02020603050405020304" pitchFamily="18" charset="0"/>
              </a:rPr>
              <a:t> C/C++ </a:t>
            </a:r>
            <a:r>
              <a:rPr lang="en-US" altLang="en-US" sz="2000" err="1">
                <a:cs typeface="Times New Roman" panose="02020603050405020304" pitchFamily="18" charset="0"/>
              </a:rPr>
              <a:t>quy</a:t>
            </a:r>
            <a:r>
              <a:rPr lang="en-US" altLang="en-US" sz="2000">
                <a:cs typeface="Times New Roman" panose="02020603050405020304" pitchFamily="18" charset="0"/>
              </a:rPr>
              <a:t> </a:t>
            </a:r>
            <a:r>
              <a:rPr lang="en-US" altLang="en-US" sz="2000" err="1">
                <a:cs typeface="Times New Roman" panose="02020603050405020304" pitchFamily="18" charset="0"/>
              </a:rPr>
              <a:t>ước</a:t>
            </a:r>
            <a:r>
              <a:rPr lang="en-US" altLang="en-US" sz="2000">
                <a:cs typeface="Times New Roman" panose="02020603050405020304" pitchFamily="18" charset="0"/>
              </a:rPr>
              <a:t>:</a:t>
            </a:r>
            <a:endParaRPr lang="en-US" altLang="en-US" sz="2400">
              <a:latin typeface=".VnTime" pitchFamily="34" charset="0"/>
              <a:cs typeface="Times New Roman" panose="02020603050405020304" pitchFamily="18" charset="0"/>
            </a:endParaRPr>
          </a:p>
          <a:p>
            <a:pPr lvl="3"/>
            <a:r>
              <a:rPr lang="en-US" altLang="en-US" sz="1600" err="1">
                <a:cs typeface="Times New Roman" panose="02020603050405020304" pitchFamily="18" charset="0"/>
              </a:rPr>
              <a:t>Kích</a:t>
            </a:r>
            <a:r>
              <a:rPr lang="en-US" altLang="en-US" sz="1600">
                <a:cs typeface="Times New Roman" panose="02020603050405020304" pitchFamily="18" charset="0"/>
              </a:rPr>
              <a:t> </a:t>
            </a:r>
            <a:r>
              <a:rPr lang="en-US" altLang="en-US" sz="1600" err="1">
                <a:cs typeface="Times New Roman" panose="02020603050405020304" pitchFamily="18" charset="0"/>
              </a:rPr>
              <a:t>thước</a:t>
            </a:r>
            <a:r>
              <a:rPr lang="en-US" altLang="en-US" sz="1600">
                <a:cs typeface="Times New Roman" panose="02020603050405020304" pitchFamily="18" charset="0"/>
              </a:rPr>
              <a:t> </a:t>
            </a:r>
            <a:r>
              <a:rPr lang="en-US" altLang="en-US" sz="1600" err="1">
                <a:cs typeface="Times New Roman" panose="02020603050405020304" pitchFamily="18" charset="0"/>
              </a:rPr>
              <a:t>mỗi</a:t>
            </a:r>
            <a:r>
              <a:rPr lang="en-US" altLang="en-US" sz="1600">
                <a:cs typeface="Times New Roman" panose="02020603050405020304" pitchFamily="18" charset="0"/>
              </a:rPr>
              <a:t> </a:t>
            </a:r>
            <a:r>
              <a:rPr lang="en-US" altLang="en-US" sz="1600" err="1">
                <a:cs typeface="Times New Roman" panose="02020603050405020304" pitchFamily="18" charset="0"/>
              </a:rPr>
              <a:t>chiều</a:t>
            </a:r>
            <a:r>
              <a:rPr lang="en-US" altLang="en-US" sz="1600">
                <a:cs typeface="Times New Roman" panose="02020603050405020304" pitchFamily="18" charset="0"/>
              </a:rPr>
              <a:t> = </a:t>
            </a:r>
            <a:r>
              <a:rPr lang="en-US" altLang="en-US" sz="1600" err="1">
                <a:cs typeface="Times New Roman" panose="02020603050405020304" pitchFamily="18" charset="0"/>
              </a:rPr>
              <a:t>chỉ</a:t>
            </a:r>
            <a:r>
              <a:rPr lang="en-US" altLang="en-US" sz="1600">
                <a:cs typeface="Times New Roman" panose="02020603050405020304" pitchFamily="18" charset="0"/>
              </a:rPr>
              <a:t> </a:t>
            </a:r>
            <a:r>
              <a:rPr lang="en-US" altLang="en-US" sz="1600" err="1">
                <a:cs typeface="Times New Roman" panose="02020603050405020304" pitchFamily="18" charset="0"/>
              </a:rPr>
              <a:t>số</a:t>
            </a:r>
            <a:r>
              <a:rPr lang="en-US" altLang="en-US" sz="1600">
                <a:cs typeface="Times New Roman" panose="02020603050405020304" pitchFamily="18" charset="0"/>
              </a:rPr>
              <a:t> + 1</a:t>
            </a:r>
          </a:p>
          <a:p>
            <a:pPr algn="just">
              <a:lnSpc>
                <a:spcPct val="90000"/>
              </a:lnSpc>
            </a:pPr>
            <a:endParaRPr lang="en-US" altLang="en-US" sz="3200"/>
          </a:p>
        </p:txBody>
      </p:sp>
      <p:sp>
        <p:nvSpPr>
          <p:cNvPr id="3" name="Rectangle 2"/>
          <p:cNvSpPr/>
          <p:nvPr/>
        </p:nvSpPr>
        <p:spPr>
          <a:xfrm>
            <a:off x="533400" y="1535668"/>
            <a:ext cx="425116" cy="369332"/>
          </a:xfrm>
          <a:prstGeom prst="rect">
            <a:avLst/>
          </a:prstGeom>
        </p:spPr>
        <p:txBody>
          <a:bodyPr wrap="square">
            <a:spAutoFit/>
          </a:bodyPr>
          <a:lstStyle/>
          <a:p>
            <a:r>
              <a:rPr lang="en-US" altLang="en-US">
                <a:cs typeface="Times New Roman" panose="02020603050405020304" pitchFamily="18" charset="0"/>
                <a:sym typeface="Symbol" panose="05050102010706020507" pitchFamily="18" charset="2"/>
              </a:rPr>
              <a:t></a:t>
            </a:r>
            <a:endParaRPr lang="en-US"/>
          </a:p>
        </p:txBody>
      </p:sp>
    </p:spTree>
    <p:extLst>
      <p:ext uri="{BB962C8B-B14F-4D97-AF65-F5344CB8AC3E}">
        <p14:creationId xmlns:p14="http://schemas.microsoft.com/office/powerpoint/2010/main" val="202304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D13D461-76B4-4295-A3F7-05E6048EEFFD}" type="slidenum">
              <a:rPr lang="en-US" altLang="en-US"/>
              <a:pPr/>
              <a:t>10</a:t>
            </a:fld>
            <a:endParaRPr lang="en-US" altLang="en-US"/>
          </a:p>
        </p:txBody>
      </p:sp>
      <p:sp>
        <p:nvSpPr>
          <p:cNvPr id="15362" name="Rectangle 2"/>
          <p:cNvSpPr>
            <a:spLocks noGrp="1" noChangeArrowheads="1"/>
          </p:cNvSpPr>
          <p:nvPr>
            <p:ph type="title"/>
          </p:nvPr>
        </p:nvSpPr>
        <p:spPr/>
        <p:txBody>
          <a:bodyPr/>
          <a:lstStyle/>
          <a:p>
            <a:pPr>
              <a:lnSpc>
                <a:spcPct val="90000"/>
              </a:lnSpc>
            </a:pPr>
            <a:r>
              <a:rPr lang="en-US" altLang="en-US"/>
              <a:t>1.1. </a:t>
            </a:r>
            <a:r>
              <a:rPr lang="en-US" altLang="en-US" err="1"/>
              <a:t>Mô</a:t>
            </a:r>
            <a:r>
              <a:rPr lang="en-US" altLang="en-US"/>
              <a:t> </a:t>
            </a:r>
            <a:r>
              <a:rPr lang="en-US" altLang="en-US" err="1"/>
              <a:t>tả</a:t>
            </a:r>
            <a:endParaRPr lang="en-US" altLang="en-US"/>
          </a:p>
        </p:txBody>
      </p:sp>
      <p:sp>
        <p:nvSpPr>
          <p:cNvPr id="15363" name="Rectangle 3"/>
          <p:cNvSpPr>
            <a:spLocks noGrp="1" noChangeArrowheads="1"/>
          </p:cNvSpPr>
          <p:nvPr>
            <p:ph type="body" sz="quarter" idx="13"/>
          </p:nvPr>
        </p:nvSpPr>
        <p:spPr/>
        <p:txBody>
          <a:bodyPr/>
          <a:lstStyle/>
          <a:p>
            <a:pPr>
              <a:lnSpc>
                <a:spcPct val="95000"/>
              </a:lnSpc>
            </a:pPr>
            <a:r>
              <a:rPr lang="en-US" altLang="en-US" sz="2400" b="1" i="1" u="sng" err="1"/>
              <a:t>Các</a:t>
            </a:r>
            <a:r>
              <a:rPr lang="en-US" altLang="en-US" sz="2400" b="1" i="1" u="sng"/>
              <a:t> </a:t>
            </a:r>
            <a:r>
              <a:rPr lang="en-US" altLang="en-US" sz="2400" b="1" i="1" u="sng" err="1"/>
              <a:t>thao</a:t>
            </a:r>
            <a:r>
              <a:rPr lang="en-US" altLang="en-US" sz="2400" b="1" i="1" u="sng"/>
              <a:t> </a:t>
            </a:r>
            <a:r>
              <a:rPr lang="en-US" altLang="en-US" sz="2400" b="1" i="1" u="sng" err="1"/>
              <a:t>tác</a:t>
            </a:r>
            <a:r>
              <a:rPr lang="en-US" altLang="en-US" sz="2400" b="1" i="1" u="sng"/>
              <a:t> </a:t>
            </a:r>
            <a:r>
              <a:rPr lang="en-US" altLang="en-US" sz="2400" b="1" i="1" u="sng" err="1"/>
              <a:t>cơ</a:t>
            </a:r>
            <a:r>
              <a:rPr lang="en-US" altLang="en-US" sz="2400" b="1" i="1" u="sng"/>
              <a:t> </a:t>
            </a:r>
            <a:r>
              <a:rPr lang="en-US" altLang="en-US" sz="2400" b="1" i="1" u="sng" err="1"/>
              <a:t>bản</a:t>
            </a:r>
            <a:r>
              <a:rPr lang="en-US" altLang="en-US" sz="2400" b="1" i="1" u="sng"/>
              <a:t>:</a:t>
            </a:r>
          </a:p>
          <a:p>
            <a:pPr>
              <a:lnSpc>
                <a:spcPct val="95000"/>
              </a:lnSpc>
            </a:pPr>
            <a:r>
              <a:rPr lang="en-US" altLang="en-US" sz="2300" err="1">
                <a:cs typeface="Times New Roman" panose="02020603050405020304" pitchFamily="18" charset="0"/>
              </a:rPr>
              <a:t>Khai</a:t>
            </a:r>
            <a:r>
              <a:rPr lang="en-US" altLang="en-US" sz="2300">
                <a:cs typeface="Times New Roman" panose="02020603050405020304" pitchFamily="18" charset="0"/>
              </a:rPr>
              <a:t> </a:t>
            </a:r>
            <a:r>
              <a:rPr lang="en-US" altLang="en-US" sz="2300" err="1">
                <a:cs typeface="Times New Roman" panose="02020603050405020304" pitchFamily="18" charset="0"/>
              </a:rPr>
              <a:t>báo</a:t>
            </a:r>
            <a:r>
              <a:rPr lang="en-US" altLang="en-US" sz="2300">
                <a:cs typeface="Times New Roman" panose="02020603050405020304" pitchFamily="18" charset="0"/>
              </a:rPr>
              <a:t>: </a:t>
            </a:r>
          </a:p>
          <a:p>
            <a:pPr lvl="1">
              <a:lnSpc>
                <a:spcPct val="95000"/>
              </a:lnSpc>
            </a:pPr>
            <a:r>
              <a:rPr lang="en-US" altLang="en-US" sz="2000" err="1">
                <a:cs typeface="Times New Roman" panose="02020603050405020304" pitchFamily="18" charset="0"/>
              </a:rPr>
              <a:t>Khai</a:t>
            </a:r>
            <a:r>
              <a:rPr lang="en-US" altLang="en-US" sz="2000">
                <a:cs typeface="Times New Roman" panose="02020603050405020304" pitchFamily="18" charset="0"/>
              </a:rPr>
              <a:t> </a:t>
            </a:r>
            <a:r>
              <a:rPr lang="en-US" altLang="en-US" sz="2000" err="1">
                <a:cs typeface="Times New Roman" panose="02020603050405020304" pitchFamily="18" charset="0"/>
              </a:rPr>
              <a:t>báo</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xác</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đặc</a:t>
            </a:r>
            <a:r>
              <a:rPr lang="en-US" altLang="en-US" sz="2000">
                <a:cs typeface="Times New Roman" panose="02020603050405020304" pitchFamily="18" charset="0"/>
              </a:rPr>
              <a:t> </a:t>
            </a:r>
            <a:r>
              <a:rPr lang="en-US" altLang="en-US" sz="2000" err="1">
                <a:cs typeface="Times New Roman" panose="02020603050405020304" pitchFamily="18" charset="0"/>
              </a:rPr>
              <a:t>trưng</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endParaRPr lang="en-US" altLang="en-US" sz="2000">
              <a:cs typeface="Times New Roman" panose="02020603050405020304" pitchFamily="18" charset="0"/>
            </a:endParaRPr>
          </a:p>
          <a:p>
            <a:pPr lvl="1">
              <a:lnSpc>
                <a:spcPct val="95000"/>
              </a:lnSpc>
            </a:pPr>
            <a:r>
              <a:rPr lang="en-US" altLang="en-US" sz="2000" err="1">
                <a:cs typeface="Times New Roman" panose="02020603050405020304" pitchFamily="18" charset="0"/>
              </a:rPr>
              <a:t>Luôn</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tiến</a:t>
            </a:r>
            <a:r>
              <a:rPr lang="en-US" altLang="en-US" sz="2000">
                <a:cs typeface="Times New Roman" panose="02020603050405020304" pitchFamily="18" charset="0"/>
              </a:rPr>
              <a:t> </a:t>
            </a:r>
            <a:r>
              <a:rPr lang="en-US" altLang="en-US" sz="2000" err="1">
                <a:cs typeface="Times New Roman" panose="02020603050405020304" pitchFamily="18" charset="0"/>
              </a:rPr>
              <a:t>hành</a:t>
            </a:r>
            <a:r>
              <a:rPr lang="en-US" altLang="en-US" sz="2000">
                <a:cs typeface="Times New Roman" panose="02020603050405020304" pitchFamily="18" charset="0"/>
              </a:rPr>
              <a:t> </a:t>
            </a:r>
            <a:r>
              <a:rPr lang="en-US" altLang="en-US" sz="2000" err="1">
                <a:cs typeface="Times New Roman" panose="02020603050405020304" pitchFamily="18" charset="0"/>
              </a:rPr>
              <a:t>trước</a:t>
            </a:r>
            <a:r>
              <a:rPr lang="en-US" altLang="en-US" sz="2000">
                <a:cs typeface="Times New Roman" panose="02020603050405020304" pitchFamily="18" charset="0"/>
              </a:rPr>
              <a:t> </a:t>
            </a:r>
            <a:r>
              <a:rPr lang="en-US" altLang="en-US" sz="2000" err="1">
                <a:cs typeface="Times New Roman" panose="02020603050405020304" pitchFamily="18" charset="0"/>
              </a:rPr>
              <a:t>ti</a:t>
            </a:r>
            <a:r>
              <a:rPr lang="en-US" altLang="en-US" sz="2000" err="1"/>
              <a:t>ên</a:t>
            </a:r>
            <a:endParaRPr lang="en-US" altLang="en-US" sz="2000">
              <a:cs typeface="Times New Roman" panose="02020603050405020304" pitchFamily="18" charset="0"/>
            </a:endParaRPr>
          </a:p>
          <a:p>
            <a:pPr>
              <a:lnSpc>
                <a:spcPct val="95000"/>
              </a:lnSpc>
            </a:pPr>
            <a:r>
              <a:rPr lang="en-US" altLang="en-US" sz="2300" err="1">
                <a:cs typeface="Times New Roman" panose="02020603050405020304" pitchFamily="18" charset="0"/>
              </a:rPr>
              <a:t>Truy</a:t>
            </a:r>
            <a:r>
              <a:rPr lang="en-US" altLang="en-US" sz="2300">
                <a:cs typeface="Times New Roman" panose="02020603050405020304" pitchFamily="18" charset="0"/>
              </a:rPr>
              <a:t> </a:t>
            </a:r>
            <a:r>
              <a:rPr lang="en-US" altLang="en-US" sz="2300" err="1">
                <a:cs typeface="Times New Roman" panose="02020603050405020304" pitchFamily="18" charset="0"/>
              </a:rPr>
              <a:t>nhập</a:t>
            </a:r>
            <a:r>
              <a:rPr lang="en-US" altLang="en-US" sz="2300">
                <a:cs typeface="Times New Roman" panose="02020603050405020304" pitchFamily="18" charset="0"/>
              </a:rPr>
              <a:t> </a:t>
            </a:r>
            <a:r>
              <a:rPr lang="en-US" altLang="en-US" sz="2300" err="1">
                <a:cs typeface="Times New Roman" panose="02020603050405020304" pitchFamily="18" charset="0"/>
              </a:rPr>
              <a:t>vào</a:t>
            </a:r>
            <a:r>
              <a:rPr lang="en-US" altLang="en-US" sz="2300">
                <a:cs typeface="Times New Roman" panose="02020603050405020304" pitchFamily="18" charset="0"/>
              </a:rPr>
              <a:t> </a:t>
            </a:r>
            <a:r>
              <a:rPr lang="en-US" altLang="en-US" sz="2300" err="1">
                <a:cs typeface="Times New Roman" panose="02020603050405020304" pitchFamily="18" charset="0"/>
              </a:rPr>
              <a:t>các</a:t>
            </a:r>
            <a:r>
              <a:rPr lang="en-US" altLang="en-US" sz="2300">
                <a:cs typeface="Times New Roman" panose="02020603050405020304" pitchFamily="18" charset="0"/>
              </a:rPr>
              <a:t> </a:t>
            </a:r>
            <a:r>
              <a:rPr lang="en-US" altLang="en-US" sz="2300" err="1">
                <a:cs typeface="Times New Roman" panose="02020603050405020304" pitchFamily="18" charset="0"/>
              </a:rPr>
              <a:t>phần</a:t>
            </a:r>
            <a:r>
              <a:rPr lang="en-US" altLang="en-US" sz="2300">
                <a:cs typeface="Times New Roman" panose="02020603050405020304" pitchFamily="18" charset="0"/>
              </a:rPr>
              <a:t> </a:t>
            </a:r>
            <a:r>
              <a:rPr lang="en-US" altLang="en-US" sz="2300" err="1">
                <a:cs typeface="Times New Roman" panose="02020603050405020304" pitchFamily="18" charset="0"/>
              </a:rPr>
              <a:t>tử</a:t>
            </a:r>
            <a:r>
              <a:rPr lang="en-US" altLang="en-US" sz="2300">
                <a:cs typeface="Times New Roman" panose="02020603050405020304" pitchFamily="18" charset="0"/>
              </a:rPr>
              <a:t> </a:t>
            </a:r>
            <a:r>
              <a:rPr lang="en-US" altLang="en-US" sz="2300" err="1">
                <a:cs typeface="Times New Roman" panose="02020603050405020304" pitchFamily="18" charset="0"/>
              </a:rPr>
              <a:t>của</a:t>
            </a:r>
            <a:r>
              <a:rPr lang="en-US" altLang="en-US" sz="2300">
                <a:cs typeface="Times New Roman" panose="02020603050405020304" pitchFamily="18" charset="0"/>
              </a:rPr>
              <a:t> </a:t>
            </a:r>
            <a:r>
              <a:rPr lang="en-US" altLang="en-US" sz="2300" err="1">
                <a:cs typeface="Times New Roman" panose="02020603050405020304" pitchFamily="18" charset="0"/>
              </a:rPr>
              <a:t>mảng</a:t>
            </a:r>
            <a:r>
              <a:rPr lang="en-US" altLang="en-US" sz="2300">
                <a:cs typeface="Times New Roman" panose="02020603050405020304" pitchFamily="18" charset="0"/>
              </a:rPr>
              <a:t>: </a:t>
            </a:r>
            <a:r>
              <a:rPr lang="en-US" altLang="en-US" sz="2300" err="1">
                <a:cs typeface="Times New Roman" panose="02020603050405020304" pitchFamily="18" charset="0"/>
              </a:rPr>
              <a:t>để</a:t>
            </a:r>
            <a:r>
              <a:rPr lang="en-US" altLang="en-US" sz="2300">
                <a:cs typeface="Times New Roman" panose="02020603050405020304" pitchFamily="18" charset="0"/>
              </a:rPr>
              <a:t> </a:t>
            </a:r>
            <a:r>
              <a:rPr lang="en-US" altLang="en-US" sz="2300" err="1">
                <a:cs typeface="Times New Roman" panose="02020603050405020304" pitchFamily="18" charset="0"/>
              </a:rPr>
              <a:t>sử</a:t>
            </a:r>
            <a:r>
              <a:rPr lang="en-US" altLang="en-US" sz="2300">
                <a:cs typeface="Times New Roman" panose="02020603050405020304" pitchFamily="18" charset="0"/>
              </a:rPr>
              <a:t> </a:t>
            </a:r>
            <a:r>
              <a:rPr lang="en-US" altLang="en-US" sz="2300" err="1">
                <a:cs typeface="Times New Roman" panose="02020603050405020304" pitchFamily="18" charset="0"/>
              </a:rPr>
              <a:t>dụng</a:t>
            </a:r>
            <a:r>
              <a:rPr lang="en-US" altLang="en-US" sz="2300">
                <a:cs typeface="Times New Roman" panose="02020603050405020304" pitchFamily="18" charset="0"/>
              </a:rPr>
              <a:t> </a:t>
            </a:r>
            <a:r>
              <a:rPr lang="en-US" altLang="en-US" sz="2300" err="1">
                <a:cs typeface="Times New Roman" panose="02020603050405020304" pitchFamily="18" charset="0"/>
              </a:rPr>
              <a:t>các</a:t>
            </a:r>
            <a:r>
              <a:rPr lang="en-US" altLang="en-US" sz="2300">
                <a:cs typeface="Times New Roman" panose="02020603050405020304" pitchFamily="18" charset="0"/>
              </a:rPr>
              <a:t> </a:t>
            </a:r>
            <a:r>
              <a:rPr lang="en-US" altLang="en-US" sz="2300" err="1">
                <a:cs typeface="Times New Roman" panose="02020603050405020304" pitchFamily="18" charset="0"/>
              </a:rPr>
              <a:t>phần</a:t>
            </a:r>
            <a:r>
              <a:rPr lang="en-US" altLang="en-US" sz="2300">
                <a:cs typeface="Times New Roman" panose="02020603050405020304" pitchFamily="18" charset="0"/>
              </a:rPr>
              <a:t> </a:t>
            </a:r>
            <a:r>
              <a:rPr lang="en-US" altLang="en-US" sz="2300" err="1">
                <a:cs typeface="Times New Roman" panose="02020603050405020304" pitchFamily="18" charset="0"/>
              </a:rPr>
              <a:t>tử</a:t>
            </a:r>
            <a:r>
              <a:rPr lang="en-US" altLang="en-US" sz="2300">
                <a:cs typeface="Times New Roman" panose="02020603050405020304" pitchFamily="18" charset="0"/>
              </a:rPr>
              <a:t> </a:t>
            </a:r>
            <a:r>
              <a:rPr lang="en-US" altLang="en-US" sz="2300" err="1">
                <a:cs typeface="Times New Roman" panose="02020603050405020304" pitchFamily="18" charset="0"/>
              </a:rPr>
              <a:t>này</a:t>
            </a:r>
            <a:r>
              <a:rPr lang="en-US" altLang="en-US" sz="2300">
                <a:cs typeface="Times New Roman" panose="02020603050405020304" pitchFamily="18" charset="0"/>
              </a:rPr>
              <a:t> (</a:t>
            </a:r>
            <a:r>
              <a:rPr lang="en-US" altLang="en-US" sz="2300" err="1">
                <a:cs typeface="Times New Roman" panose="02020603050405020304" pitchFamily="18" charset="0"/>
              </a:rPr>
              <a:t>lấy</a:t>
            </a:r>
            <a:r>
              <a:rPr lang="en-US" altLang="en-US" sz="2300">
                <a:cs typeface="Times New Roman" panose="02020603050405020304" pitchFamily="18" charset="0"/>
              </a:rPr>
              <a:t> </a:t>
            </a:r>
            <a:r>
              <a:rPr lang="en-US" altLang="en-US" sz="2300" err="1">
                <a:cs typeface="Times New Roman" panose="02020603050405020304" pitchFamily="18" charset="0"/>
              </a:rPr>
              <a:t>giá</a:t>
            </a:r>
            <a:r>
              <a:rPr lang="en-US" altLang="en-US" sz="2300">
                <a:cs typeface="Times New Roman" panose="02020603050405020304" pitchFamily="18" charset="0"/>
              </a:rPr>
              <a:t> </a:t>
            </a:r>
            <a:r>
              <a:rPr lang="en-US" altLang="en-US" sz="2300" err="1">
                <a:cs typeface="Times New Roman" panose="02020603050405020304" pitchFamily="18" charset="0"/>
              </a:rPr>
              <a:t>trị</a:t>
            </a:r>
            <a:r>
              <a:rPr lang="en-US" altLang="en-US" sz="2300">
                <a:cs typeface="Times New Roman" panose="02020603050405020304" pitchFamily="18" charset="0"/>
              </a:rPr>
              <a:t>, </a:t>
            </a:r>
            <a:r>
              <a:rPr lang="en-US" altLang="en-US" sz="2300" err="1">
                <a:cs typeface="Times New Roman" panose="02020603050405020304" pitchFamily="18" charset="0"/>
              </a:rPr>
              <a:t>cập</a:t>
            </a:r>
            <a:r>
              <a:rPr lang="en-US" altLang="en-US" sz="2300">
                <a:cs typeface="Times New Roman" panose="02020603050405020304" pitchFamily="18" charset="0"/>
              </a:rPr>
              <a:t> </a:t>
            </a:r>
            <a:r>
              <a:rPr lang="en-US" altLang="en-US" sz="2300" err="1">
                <a:cs typeface="Times New Roman" panose="02020603050405020304" pitchFamily="18" charset="0"/>
              </a:rPr>
              <a:t>nhật</a:t>
            </a:r>
            <a:r>
              <a:rPr lang="en-US" altLang="en-US" sz="2300">
                <a:cs typeface="Times New Roman" panose="02020603050405020304" pitchFamily="18" charset="0"/>
              </a:rPr>
              <a:t> </a:t>
            </a:r>
            <a:r>
              <a:rPr lang="en-US" altLang="en-US" sz="2300" err="1">
                <a:cs typeface="Times New Roman" panose="02020603050405020304" pitchFamily="18" charset="0"/>
              </a:rPr>
              <a:t>giá</a:t>
            </a:r>
            <a:r>
              <a:rPr lang="en-US" altLang="en-US" sz="2300">
                <a:cs typeface="Times New Roman" panose="02020603050405020304" pitchFamily="18" charset="0"/>
              </a:rPr>
              <a:t> </a:t>
            </a:r>
            <a:r>
              <a:rPr lang="en-US" altLang="en-US" sz="2300" err="1">
                <a:cs typeface="Times New Roman" panose="02020603050405020304" pitchFamily="18" charset="0"/>
              </a:rPr>
              <a:t>trị</a:t>
            </a:r>
            <a:r>
              <a:rPr lang="en-US" altLang="en-US" sz="2300">
                <a:cs typeface="Times New Roman" panose="02020603050405020304" pitchFamily="18" charset="0"/>
              </a:rPr>
              <a:t>).</a:t>
            </a:r>
          </a:p>
          <a:p>
            <a:pPr lvl="1">
              <a:lnSpc>
                <a:spcPct val="95000"/>
              </a:lnSpc>
            </a:pPr>
            <a:r>
              <a:rPr lang="en-US" altLang="en-US" sz="2100" err="1">
                <a:cs typeface="Times New Roman" panose="02020603050405020304" pitchFamily="18" charset="0"/>
              </a:rPr>
              <a:t>Sử</a:t>
            </a:r>
            <a:r>
              <a:rPr lang="en-US" altLang="en-US" sz="2100">
                <a:cs typeface="Times New Roman" panose="02020603050405020304" pitchFamily="18" charset="0"/>
              </a:rPr>
              <a:t> </a:t>
            </a:r>
            <a:r>
              <a:rPr lang="en-US" altLang="en-US" sz="2100" err="1">
                <a:cs typeface="Times New Roman" panose="02020603050405020304" pitchFamily="18" charset="0"/>
              </a:rPr>
              <a:t>dụng</a:t>
            </a:r>
            <a:r>
              <a:rPr lang="en-US" altLang="en-US" sz="2100">
                <a:cs typeface="Times New Roman" panose="02020603050405020304" pitchFamily="18" charset="0"/>
              </a:rPr>
              <a:t> </a:t>
            </a:r>
            <a:r>
              <a:rPr lang="en-US" altLang="en-US" sz="2100" i="1" err="1">
                <a:cs typeface="Times New Roman" panose="02020603050405020304" pitchFamily="18" charset="0"/>
              </a:rPr>
              <a:t>chỉ</a:t>
            </a:r>
            <a:r>
              <a:rPr lang="en-US" altLang="en-US" sz="2100" i="1">
                <a:cs typeface="Times New Roman" panose="02020603050405020304" pitchFamily="18" charset="0"/>
              </a:rPr>
              <a:t> </a:t>
            </a:r>
            <a:r>
              <a:rPr lang="en-US" altLang="en-US" sz="2100" i="1" err="1">
                <a:cs typeface="Times New Roman" panose="02020603050405020304" pitchFamily="18" charset="0"/>
              </a:rPr>
              <a:t>số</a:t>
            </a:r>
            <a:r>
              <a:rPr lang="en-US" altLang="en-US" sz="2100" i="1">
                <a:cs typeface="Times New Roman" panose="02020603050405020304" pitchFamily="18" charset="0"/>
              </a:rPr>
              <a:t> (index) </a:t>
            </a:r>
            <a:r>
              <a:rPr lang="en-US" altLang="en-US" sz="2100" err="1">
                <a:cs typeface="Times New Roman" panose="02020603050405020304" pitchFamily="18" charset="0"/>
              </a:rPr>
              <a:t>gắn</a:t>
            </a:r>
            <a:r>
              <a:rPr lang="en-US" altLang="en-US" sz="2100">
                <a:cs typeface="Times New Roman" panose="02020603050405020304" pitchFamily="18" charset="0"/>
              </a:rPr>
              <a:t> </a:t>
            </a:r>
            <a:r>
              <a:rPr lang="en-US" altLang="en-US" sz="2100" err="1">
                <a:cs typeface="Times New Roman" panose="02020603050405020304" pitchFamily="18" charset="0"/>
              </a:rPr>
              <a:t>với</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đó</a:t>
            </a:r>
            <a:r>
              <a:rPr lang="en-US" altLang="en-US" sz="2100">
                <a:cs typeface="Times New Roman" panose="02020603050405020304" pitchFamily="18" charset="0"/>
              </a:rPr>
              <a:t>. </a:t>
            </a:r>
          </a:p>
          <a:p>
            <a:pPr lvl="1">
              <a:lnSpc>
                <a:spcPct val="95000"/>
              </a:lnSpc>
            </a:pPr>
            <a:r>
              <a:rPr lang="en-US" altLang="en-US" sz="2100" err="1">
                <a:cs typeface="Times New Roman" panose="02020603050405020304" pitchFamily="18" charset="0"/>
              </a:rPr>
              <a:t>Mỗi</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mảng</a:t>
            </a:r>
            <a:r>
              <a:rPr lang="en-US" altLang="en-US" sz="2100">
                <a:cs typeface="Times New Roman" panose="02020603050405020304" pitchFamily="18" charset="0"/>
              </a:rPr>
              <a:t> </a:t>
            </a:r>
            <a:r>
              <a:rPr lang="en-US" altLang="en-US" sz="2100" err="1">
                <a:cs typeface="Times New Roman" panose="02020603050405020304" pitchFamily="18" charset="0"/>
              </a:rPr>
              <a:t>có</a:t>
            </a:r>
            <a:r>
              <a:rPr lang="en-US" altLang="en-US" sz="2100">
                <a:cs typeface="Times New Roman" panose="02020603050405020304" pitchFamily="18" charset="0"/>
              </a:rPr>
              <a:t> </a:t>
            </a:r>
            <a:r>
              <a:rPr lang="en-US" altLang="en-US" sz="2100" err="1">
                <a:cs typeface="Times New Roman" panose="02020603050405020304" pitchFamily="18" charset="0"/>
              </a:rPr>
              <a:t>một</a:t>
            </a:r>
            <a:r>
              <a:rPr lang="en-US" altLang="en-US" sz="2100">
                <a:cs typeface="Times New Roman" panose="02020603050405020304" pitchFamily="18" charset="0"/>
              </a:rPr>
              <a:t> </a:t>
            </a:r>
            <a:r>
              <a:rPr lang="en-US" altLang="en-US" sz="2100" err="1">
                <a:cs typeface="Times New Roman" panose="02020603050405020304" pitchFamily="18" charset="0"/>
              </a:rPr>
              <a:t>chỉ</a:t>
            </a:r>
            <a:r>
              <a:rPr lang="en-US" altLang="en-US" sz="2100">
                <a:cs typeface="Times New Roman" panose="02020603050405020304" pitchFamily="18" charset="0"/>
              </a:rPr>
              <a:t> </a:t>
            </a:r>
            <a:r>
              <a:rPr lang="en-US" altLang="en-US" sz="2100" err="1">
                <a:cs typeface="Times New Roman" panose="02020603050405020304" pitchFamily="18" charset="0"/>
              </a:rPr>
              <a:t>số</a:t>
            </a:r>
            <a:r>
              <a:rPr lang="en-US" altLang="en-US" sz="2100">
                <a:cs typeface="Times New Roman" panose="02020603050405020304" pitchFamily="18" charset="0"/>
              </a:rPr>
              <a:t> </a:t>
            </a:r>
            <a:r>
              <a:rPr lang="en-US" altLang="en-US" sz="2100" err="1">
                <a:cs typeface="Times New Roman" panose="02020603050405020304" pitchFamily="18" charset="0"/>
              </a:rPr>
              <a:t>duy</a:t>
            </a:r>
            <a:r>
              <a:rPr lang="en-US" altLang="en-US" sz="2100">
                <a:cs typeface="Times New Roman" panose="02020603050405020304" pitchFamily="18" charset="0"/>
              </a:rPr>
              <a:t> </a:t>
            </a:r>
            <a:r>
              <a:rPr lang="en-US" altLang="en-US" sz="2100" err="1">
                <a:cs typeface="Times New Roman" panose="02020603050405020304" pitchFamily="18" charset="0"/>
              </a:rPr>
              <a:t>nhất</a:t>
            </a:r>
            <a:r>
              <a:rPr lang="en-US" altLang="en-US" sz="2100">
                <a:cs typeface="Times New Roman" panose="02020603050405020304" pitchFamily="18" charset="0"/>
              </a:rPr>
              <a:t>, </a:t>
            </a:r>
            <a:r>
              <a:rPr lang="en-US" altLang="en-US" sz="2100" err="1">
                <a:cs typeface="Times New Roman" panose="02020603050405020304" pitchFamily="18" charset="0"/>
              </a:rPr>
              <a:t>có</a:t>
            </a:r>
            <a:r>
              <a:rPr lang="en-US" altLang="en-US" sz="2100">
                <a:cs typeface="Times New Roman" panose="02020603050405020304" pitchFamily="18" charset="0"/>
              </a:rPr>
              <a:t> </a:t>
            </a:r>
            <a:r>
              <a:rPr lang="en-US" altLang="en-US" sz="2100" err="1">
                <a:cs typeface="Times New Roman" panose="02020603050405020304" pitchFamily="18" charset="0"/>
              </a:rPr>
              <a:t>vai</a:t>
            </a:r>
            <a:r>
              <a:rPr lang="en-US" altLang="en-US" sz="2100">
                <a:cs typeface="Times New Roman" panose="02020603050405020304" pitchFamily="18" charset="0"/>
              </a:rPr>
              <a:t> </a:t>
            </a:r>
            <a:r>
              <a:rPr lang="en-US" altLang="en-US" sz="2100" err="1">
                <a:cs typeface="Times New Roman" panose="02020603050405020304" pitchFamily="18" charset="0"/>
              </a:rPr>
              <a:t>trò</a:t>
            </a:r>
            <a:r>
              <a:rPr lang="en-US" altLang="en-US" sz="2100">
                <a:cs typeface="Times New Roman" panose="02020603050405020304" pitchFamily="18" charset="0"/>
              </a:rPr>
              <a:t> </a:t>
            </a:r>
            <a:r>
              <a:rPr lang="en-US" altLang="en-US" sz="2100" err="1">
                <a:cs typeface="Times New Roman" panose="02020603050405020304" pitchFamily="18" charset="0"/>
              </a:rPr>
              <a:t>như</a:t>
            </a:r>
            <a:r>
              <a:rPr lang="en-US" altLang="en-US" sz="2100">
                <a:cs typeface="Times New Roman" panose="02020603050405020304" pitchFamily="18" charset="0"/>
              </a:rPr>
              <a:t> </a:t>
            </a:r>
            <a:r>
              <a:rPr lang="en-US" altLang="en-US" sz="2100" err="1">
                <a:cs typeface="Times New Roman" panose="02020603050405020304" pitchFamily="18" charset="0"/>
              </a:rPr>
              <a:t>địa</a:t>
            </a:r>
            <a:r>
              <a:rPr lang="en-US" altLang="en-US" sz="2100">
                <a:cs typeface="Times New Roman" panose="02020603050405020304" pitchFamily="18" charset="0"/>
              </a:rPr>
              <a:t> </a:t>
            </a:r>
            <a:r>
              <a:rPr lang="en-US" altLang="en-US" sz="2100" err="1">
                <a:cs typeface="Times New Roman" panose="02020603050405020304" pitchFamily="18" charset="0"/>
              </a:rPr>
              <a:t>chỉ</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trong</a:t>
            </a:r>
            <a:r>
              <a:rPr lang="en-US" altLang="en-US" sz="2100">
                <a:cs typeface="Times New Roman" panose="02020603050405020304" pitchFamily="18" charset="0"/>
              </a:rPr>
              <a:t> </a:t>
            </a:r>
            <a:r>
              <a:rPr lang="en-US" altLang="en-US" sz="2100" err="1">
                <a:cs typeface="Times New Roman" panose="02020603050405020304" pitchFamily="18" charset="0"/>
              </a:rPr>
              <a:t>mảng</a:t>
            </a:r>
            <a:r>
              <a:rPr lang="en-US" altLang="en-US" sz="2100">
                <a:cs typeface="Times New Roman" panose="02020603050405020304" pitchFamily="18" charset="0"/>
              </a:rPr>
              <a:t>. </a:t>
            </a:r>
          </a:p>
        </p:txBody>
      </p:sp>
    </p:spTree>
    <p:extLst>
      <p:ext uri="{BB962C8B-B14F-4D97-AF65-F5344CB8AC3E}">
        <p14:creationId xmlns:p14="http://schemas.microsoft.com/office/powerpoint/2010/main" val="66330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A835E2-DC2C-4615-AEEB-ED57AB4C73C9}" type="slidenum">
              <a:rPr lang="en-US" altLang="en-US"/>
              <a:pPr/>
              <a:t>11</a:t>
            </a:fld>
            <a:endParaRPr lang="en-US" altLang="en-US"/>
          </a:p>
        </p:txBody>
      </p:sp>
      <p:sp>
        <p:nvSpPr>
          <p:cNvPr id="16386" name="Rectangle 2"/>
          <p:cNvSpPr>
            <a:spLocks noGrp="1" noChangeArrowheads="1"/>
          </p:cNvSpPr>
          <p:nvPr>
            <p:ph type="title"/>
          </p:nvPr>
        </p:nvSpPr>
        <p:spPr/>
        <p:txBody>
          <a:bodyPr/>
          <a:lstStyle/>
          <a:p>
            <a:r>
              <a:rPr lang="en-US" altLang="en-US" err="1"/>
              <a:t>Ví</a:t>
            </a:r>
            <a:r>
              <a:rPr lang="en-US" altLang="en-US"/>
              <a:t> </a:t>
            </a:r>
            <a:r>
              <a:rPr lang="en-US" altLang="en-US" err="1"/>
              <a:t>dụ</a:t>
            </a:r>
            <a:endParaRPr lang="en-US" altLang="en-US"/>
          </a:p>
        </p:txBody>
      </p:sp>
      <p:sp>
        <p:nvSpPr>
          <p:cNvPr id="16387" name="Rectangle 3"/>
          <p:cNvSpPr>
            <a:spLocks noGrp="1" noChangeArrowheads="1"/>
          </p:cNvSpPr>
          <p:nvPr>
            <p:ph type="body" sz="quarter" idx="13"/>
          </p:nvPr>
        </p:nvSpPr>
        <p:spPr/>
        <p:txBody>
          <a:bodyPr/>
          <a:lstStyle/>
          <a:p>
            <a:r>
              <a:rPr lang="en-US" altLang="en-US" sz="2400" err="1">
                <a:cs typeface="Times New Roman" panose="02020603050405020304" pitchFamily="18" charset="0"/>
              </a:rPr>
              <a:t>Truy</a:t>
            </a:r>
            <a:r>
              <a:rPr lang="en-US" altLang="en-US" sz="2400">
                <a:cs typeface="Times New Roman" panose="02020603050405020304" pitchFamily="18" charset="0"/>
              </a:rPr>
              <a:t> </a:t>
            </a:r>
            <a:r>
              <a:rPr lang="en-US" altLang="en-US" sz="2400" err="1">
                <a:cs typeface="Times New Roman" panose="02020603050405020304" pitchFamily="18" charset="0"/>
              </a:rPr>
              <a:t>nhập</a:t>
            </a:r>
            <a:r>
              <a:rPr lang="en-US" altLang="en-US" sz="2400">
                <a:cs typeface="Times New Roman" panose="02020603050405020304" pitchFamily="18" charset="0"/>
              </a:rPr>
              <a:t> </a:t>
            </a:r>
            <a:r>
              <a:rPr lang="en-US" altLang="en-US" sz="2400" err="1">
                <a:cs typeface="Times New Roman" panose="02020603050405020304" pitchFamily="18" charset="0"/>
              </a:rPr>
              <a:t>phần</a:t>
            </a:r>
            <a:r>
              <a:rPr lang="en-US" altLang="en-US" sz="2400">
                <a:cs typeface="Times New Roman" panose="02020603050405020304" pitchFamily="18" charset="0"/>
              </a:rPr>
              <a:t> </a:t>
            </a:r>
            <a:r>
              <a:rPr lang="en-US" altLang="en-US" sz="2400" err="1">
                <a:cs typeface="Times New Roman" panose="02020603050405020304" pitchFamily="18" charset="0"/>
              </a:rPr>
              <a:t>tử</a:t>
            </a:r>
            <a:r>
              <a:rPr lang="en-US" altLang="en-US" sz="2400">
                <a:cs typeface="Times New Roman" panose="02020603050405020304" pitchFamily="18" charset="0"/>
              </a:rPr>
              <a:t> </a:t>
            </a:r>
            <a:r>
              <a:rPr lang="en-US" altLang="en-US" sz="2400" err="1">
                <a:cs typeface="Times New Roman" panose="02020603050405020304" pitchFamily="18" charset="0"/>
              </a:rPr>
              <a:t>thứ</a:t>
            </a:r>
            <a:r>
              <a:rPr lang="en-US" altLang="en-US" sz="2400">
                <a:cs typeface="Times New Roman" panose="02020603050405020304" pitchFamily="18" charset="0"/>
              </a:rPr>
              <a:t> </a:t>
            </a:r>
            <a:r>
              <a:rPr lang="en-US" altLang="en-US" sz="2400" err="1">
                <a:cs typeface="Times New Roman" panose="02020603050405020304" pitchFamily="18" charset="0"/>
              </a:rPr>
              <a:t>i</a:t>
            </a:r>
            <a:r>
              <a:rPr lang="en-US" altLang="en-US" sz="2400">
                <a:cs typeface="Times New Roman" panose="02020603050405020304" pitchFamily="18" charset="0"/>
              </a:rPr>
              <a:t> </a:t>
            </a:r>
            <a:r>
              <a:rPr lang="en-US" altLang="en-US" sz="2400" err="1">
                <a:cs typeface="Times New Roman" panose="02020603050405020304" pitchFamily="18" charset="0"/>
              </a:rPr>
              <a:t>của</a:t>
            </a:r>
            <a:r>
              <a:rPr lang="en-US" altLang="en-US" sz="2400">
                <a:cs typeface="Times New Roman" panose="02020603050405020304" pitchFamily="18" charset="0"/>
              </a:rPr>
              <a:t> vector (</a:t>
            </a:r>
            <a:r>
              <a:rPr lang="en-US" altLang="en-US" sz="2400" err="1">
                <a:cs typeface="Times New Roman" panose="02020603050405020304" pitchFamily="18" charset="0"/>
              </a:rPr>
              <a:t>mảng</a:t>
            </a:r>
            <a:r>
              <a:rPr lang="en-US" altLang="en-US" sz="2400">
                <a:cs typeface="Times New Roman" panose="02020603050405020304" pitchFamily="18" charset="0"/>
              </a:rPr>
              <a:t> 1 </a:t>
            </a:r>
            <a:r>
              <a:rPr lang="en-US" altLang="en-US" sz="2400" err="1">
                <a:cs typeface="Times New Roman" panose="02020603050405020304" pitchFamily="18" charset="0"/>
              </a:rPr>
              <a:t>chiều</a:t>
            </a:r>
            <a:r>
              <a:rPr lang="en-US" altLang="en-US" sz="2400">
                <a:cs typeface="Times New Roman" panose="02020603050405020304" pitchFamily="18" charset="0"/>
              </a:rPr>
              <a:t>):  </a:t>
            </a:r>
            <a:r>
              <a:rPr lang="en-US" altLang="en-US" sz="2400" i="1">
                <a:cs typeface="Times New Roman" panose="02020603050405020304" pitchFamily="18" charset="0"/>
              </a:rPr>
              <a:t>vector[</a:t>
            </a:r>
            <a:r>
              <a:rPr lang="en-US" altLang="en-US" sz="2400" i="1" err="1">
                <a:cs typeface="Times New Roman" panose="02020603050405020304" pitchFamily="18" charset="0"/>
              </a:rPr>
              <a:t>i</a:t>
            </a:r>
            <a:r>
              <a:rPr lang="en-US" altLang="en-US" sz="2400" i="1">
                <a:cs typeface="Times New Roman" panose="02020603050405020304" pitchFamily="18" charset="0"/>
              </a:rPr>
              <a:t>]</a:t>
            </a:r>
            <a:endParaRPr lang="en-US" altLang="en-US" sz="2400">
              <a:latin typeface=".VnTime" pitchFamily="34" charset="0"/>
              <a:cs typeface="Times New Roman" panose="02020603050405020304" pitchFamily="18" charset="0"/>
            </a:endParaRPr>
          </a:p>
          <a:p>
            <a:r>
              <a:rPr lang="en-US" altLang="en-US" sz="2400" err="1">
                <a:cs typeface="Times New Roman" panose="02020603050405020304" pitchFamily="18" charset="0"/>
              </a:rPr>
              <a:t>Truy</a:t>
            </a:r>
            <a:r>
              <a:rPr lang="en-US" altLang="en-US" sz="2400">
                <a:cs typeface="Times New Roman" panose="02020603050405020304" pitchFamily="18" charset="0"/>
              </a:rPr>
              <a:t> </a:t>
            </a:r>
            <a:r>
              <a:rPr lang="en-US" altLang="en-US" sz="2400" err="1">
                <a:cs typeface="Times New Roman" panose="02020603050405020304" pitchFamily="18" charset="0"/>
              </a:rPr>
              <a:t>nhập</a:t>
            </a:r>
            <a:r>
              <a:rPr lang="en-US" altLang="en-US" sz="2400">
                <a:cs typeface="Times New Roman" panose="02020603050405020304" pitchFamily="18" charset="0"/>
              </a:rPr>
              <a:t> </a:t>
            </a:r>
            <a:r>
              <a:rPr lang="en-US" altLang="en-US" sz="2400" err="1">
                <a:cs typeface="Times New Roman" panose="02020603050405020304" pitchFamily="18" charset="0"/>
              </a:rPr>
              <a:t>phần</a:t>
            </a:r>
            <a:r>
              <a:rPr lang="en-US" altLang="en-US" sz="2400">
                <a:cs typeface="Times New Roman" panose="02020603050405020304" pitchFamily="18" charset="0"/>
              </a:rPr>
              <a:t> </a:t>
            </a:r>
            <a:r>
              <a:rPr lang="en-US" altLang="en-US" sz="2400" err="1">
                <a:cs typeface="Times New Roman" panose="02020603050405020304" pitchFamily="18" charset="0"/>
              </a:rPr>
              <a:t>tử</a:t>
            </a:r>
            <a:r>
              <a:rPr lang="en-US" altLang="en-US" sz="2400">
                <a:cs typeface="Times New Roman" panose="02020603050405020304" pitchFamily="18" charset="0"/>
              </a:rPr>
              <a:t> ở </a:t>
            </a:r>
            <a:r>
              <a:rPr lang="en-US" altLang="en-US" sz="2400" err="1">
                <a:cs typeface="Times New Roman" panose="02020603050405020304" pitchFamily="18" charset="0"/>
              </a:rPr>
              <a:t>hàng</a:t>
            </a:r>
            <a:r>
              <a:rPr lang="en-US" altLang="en-US" sz="2400">
                <a:cs typeface="Times New Roman" panose="02020603050405020304" pitchFamily="18" charset="0"/>
              </a:rPr>
              <a:t> </a:t>
            </a:r>
            <a:r>
              <a:rPr lang="en-US" altLang="en-US" sz="2400" err="1">
                <a:cs typeface="Times New Roman" panose="02020603050405020304" pitchFamily="18" charset="0"/>
              </a:rPr>
              <a:t>i</a:t>
            </a:r>
            <a:r>
              <a:rPr lang="en-US" altLang="en-US" sz="2400">
                <a:cs typeface="Times New Roman" panose="02020603050405020304" pitchFamily="18" charset="0"/>
              </a:rPr>
              <a:t>, </a:t>
            </a:r>
            <a:r>
              <a:rPr lang="en-US" altLang="en-US" sz="2400" err="1">
                <a:cs typeface="Times New Roman" panose="02020603050405020304" pitchFamily="18" charset="0"/>
              </a:rPr>
              <a:t>cột</a:t>
            </a:r>
            <a:r>
              <a:rPr lang="en-US" altLang="en-US" sz="2400">
                <a:cs typeface="Times New Roman" panose="02020603050405020304" pitchFamily="18" charset="0"/>
              </a:rPr>
              <a:t> j </a:t>
            </a:r>
            <a:r>
              <a:rPr lang="en-US" altLang="en-US" sz="2400" err="1">
                <a:cs typeface="Times New Roman" panose="02020603050405020304" pitchFamily="18" charset="0"/>
              </a:rPr>
              <a:t>của</a:t>
            </a:r>
            <a:r>
              <a:rPr lang="en-US" altLang="en-US" sz="2400">
                <a:cs typeface="Times New Roman" panose="02020603050405020304" pitchFamily="18" charset="0"/>
              </a:rPr>
              <a:t> ma </a:t>
            </a:r>
            <a:r>
              <a:rPr lang="en-US" altLang="en-US" sz="2400" err="1">
                <a:cs typeface="Times New Roman" panose="02020603050405020304" pitchFamily="18" charset="0"/>
              </a:rPr>
              <a:t>trận</a:t>
            </a:r>
            <a:r>
              <a:rPr lang="en-US" altLang="en-US" sz="2400">
                <a:cs typeface="Times New Roman" panose="02020603050405020304" pitchFamily="18" charset="0"/>
              </a:rPr>
              <a:t> (</a:t>
            </a:r>
            <a:r>
              <a:rPr lang="en-US" altLang="en-US" sz="2400" err="1">
                <a:cs typeface="Times New Roman" panose="02020603050405020304" pitchFamily="18" charset="0"/>
              </a:rPr>
              <a:t>mảng</a:t>
            </a:r>
            <a:r>
              <a:rPr lang="en-US" altLang="en-US" sz="2400">
                <a:cs typeface="Times New Roman" panose="02020603050405020304" pitchFamily="18" charset="0"/>
              </a:rPr>
              <a:t> 2 </a:t>
            </a:r>
            <a:r>
              <a:rPr lang="en-US" altLang="en-US" sz="2400" err="1">
                <a:cs typeface="Times New Roman" panose="02020603050405020304" pitchFamily="18" charset="0"/>
              </a:rPr>
              <a:t>chiều</a:t>
            </a:r>
            <a:r>
              <a:rPr lang="en-US" altLang="en-US" sz="2400">
                <a:cs typeface="Times New Roman" panose="02020603050405020304" pitchFamily="18" charset="0"/>
              </a:rPr>
              <a:t>): </a:t>
            </a:r>
            <a:r>
              <a:rPr lang="en-US" altLang="en-US" sz="2400" i="1" err="1">
                <a:cs typeface="Times New Roman" panose="02020603050405020304" pitchFamily="18" charset="0"/>
              </a:rPr>
              <a:t>matran</a:t>
            </a:r>
            <a:r>
              <a:rPr lang="en-US" altLang="en-US" sz="2400" i="1">
                <a:cs typeface="Times New Roman" panose="02020603050405020304" pitchFamily="18" charset="0"/>
              </a:rPr>
              <a:t>[</a:t>
            </a:r>
            <a:r>
              <a:rPr lang="en-US" altLang="en-US" sz="2400" i="1" err="1">
                <a:cs typeface="Times New Roman" panose="02020603050405020304" pitchFamily="18" charset="0"/>
              </a:rPr>
              <a:t>i,j</a:t>
            </a:r>
            <a:r>
              <a:rPr lang="en-US" altLang="en-US" sz="2400" i="1">
                <a:cs typeface="Times New Roman" panose="02020603050405020304" pitchFamily="18" charset="0"/>
              </a:rPr>
              <a:t>]</a:t>
            </a:r>
            <a:r>
              <a:rPr lang="en-US" altLang="en-US" sz="2400">
                <a:cs typeface="Times New Roman" panose="02020603050405020304" pitchFamily="18" charset="0"/>
              </a:rPr>
              <a:t>. </a:t>
            </a:r>
          </a:p>
          <a:p>
            <a:r>
              <a:rPr lang="en-US" altLang="en-US" sz="2400" err="1">
                <a:cs typeface="Times New Roman" panose="02020603050405020304" pitchFamily="18" charset="0"/>
              </a:rPr>
              <a:t>Mảng</a:t>
            </a:r>
            <a:r>
              <a:rPr lang="en-US" altLang="en-US" sz="2400">
                <a:cs typeface="Times New Roman" panose="02020603050405020304" pitchFamily="18" charset="0"/>
              </a:rPr>
              <a:t> </a:t>
            </a:r>
            <a:r>
              <a:rPr lang="en-US" altLang="en-US" sz="2400" err="1">
                <a:cs typeface="Times New Roman" panose="02020603050405020304" pitchFamily="18" charset="0"/>
              </a:rPr>
              <a:t>có</a:t>
            </a:r>
            <a:r>
              <a:rPr lang="en-US" altLang="en-US" sz="2400">
                <a:cs typeface="Times New Roman" panose="02020603050405020304" pitchFamily="18" charset="0"/>
              </a:rPr>
              <a:t> N </a:t>
            </a:r>
            <a:r>
              <a:rPr lang="en-US" altLang="en-US" sz="2400" err="1">
                <a:cs typeface="Times New Roman" panose="02020603050405020304" pitchFamily="18" charset="0"/>
              </a:rPr>
              <a:t>chiều</a:t>
            </a:r>
            <a:r>
              <a:rPr lang="en-US" altLang="en-US" sz="2400">
                <a:cs typeface="Times New Roman" panose="02020603050405020304" pitchFamily="18" charset="0"/>
              </a:rPr>
              <a:t> a</a:t>
            </a:r>
            <a:r>
              <a:rPr lang="en-US" altLang="en-US" sz="2400" baseline="-25000">
                <a:cs typeface="Times New Roman" panose="02020603050405020304" pitchFamily="18" charset="0"/>
              </a:rPr>
              <a:t>n</a:t>
            </a:r>
            <a:r>
              <a:rPr lang="en-US" altLang="en-US" sz="2400">
                <a:cs typeface="Times New Roman" panose="02020603050405020304" pitchFamily="18" charset="0"/>
              </a:rPr>
              <a:t>[N, L</a:t>
            </a:r>
            <a:r>
              <a:rPr lang="en-US" altLang="en-US" sz="2400" baseline="-30000">
                <a:cs typeface="Times New Roman" panose="02020603050405020304" pitchFamily="18" charset="0"/>
              </a:rPr>
              <a:t>1</a:t>
            </a:r>
            <a:r>
              <a:rPr lang="en-US" altLang="en-US" sz="2400">
                <a:cs typeface="Times New Roman" panose="02020603050405020304" pitchFamily="18" charset="0"/>
              </a:rPr>
              <a:t>, L</a:t>
            </a:r>
            <a:r>
              <a:rPr lang="en-US" altLang="en-US" sz="2400" baseline="-30000">
                <a:cs typeface="Times New Roman" panose="02020603050405020304" pitchFamily="18" charset="0"/>
              </a:rPr>
              <a:t>2</a:t>
            </a:r>
            <a:r>
              <a:rPr lang="en-US" altLang="en-US" sz="2400">
                <a:cs typeface="Times New Roman" panose="02020603050405020304" pitchFamily="18" charset="0"/>
              </a:rPr>
              <a:t>,</a:t>
            </a:r>
            <a:r>
              <a:rPr lang="en-US" altLang="en-US" sz="2400">
                <a:latin typeface="Times" panose="02020603050405020304" pitchFamily="18" charset="0"/>
                <a:cs typeface="Times New Roman" panose="02020603050405020304" pitchFamily="18" charset="0"/>
              </a:rPr>
              <a:t>...</a:t>
            </a:r>
            <a:r>
              <a:rPr lang="en-US" altLang="en-US" sz="2400">
                <a:cs typeface="Times New Roman" panose="02020603050405020304" pitchFamily="18" charset="0"/>
              </a:rPr>
              <a:t>, L</a:t>
            </a:r>
            <a:r>
              <a:rPr lang="en-US" altLang="en-US" sz="2400" baseline="-25000">
                <a:cs typeface="Times New Roman" panose="02020603050405020304" pitchFamily="18" charset="0"/>
              </a:rPr>
              <a:t>N</a:t>
            </a:r>
            <a:r>
              <a:rPr lang="en-US" altLang="en-US" sz="2400">
                <a:cs typeface="Times New Roman" panose="02020603050405020304" pitchFamily="18" charset="0"/>
              </a:rPr>
              <a:t>] </a:t>
            </a:r>
          </a:p>
          <a:p>
            <a:pPr lvl="1"/>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chỉ</a:t>
            </a:r>
            <a:r>
              <a:rPr lang="en-US" altLang="en-US" sz="2000">
                <a:cs typeface="Times New Roman" panose="02020603050405020304" pitchFamily="18" charset="0"/>
              </a:rPr>
              <a:t> </a:t>
            </a:r>
            <a:r>
              <a:rPr lang="en-US" altLang="en-US" sz="2000" err="1">
                <a:cs typeface="Times New Roman" panose="02020603050405020304" pitchFamily="18" charset="0"/>
              </a:rPr>
              <a:t>số</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mỗi</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[i</a:t>
            </a:r>
            <a:r>
              <a:rPr lang="en-US" altLang="en-US" sz="2000" baseline="-30000">
                <a:cs typeface="Times New Roman" panose="02020603050405020304" pitchFamily="18" charset="0"/>
              </a:rPr>
              <a:t>1</a:t>
            </a:r>
            <a:r>
              <a:rPr lang="en-US" altLang="en-US" sz="2000">
                <a:cs typeface="Times New Roman" panose="02020603050405020304" pitchFamily="18" charset="0"/>
              </a:rPr>
              <a:t>,i</a:t>
            </a:r>
            <a:r>
              <a:rPr lang="en-US" altLang="en-US" sz="2000" baseline="-30000">
                <a:cs typeface="Times New Roman" panose="02020603050405020304" pitchFamily="18" charset="0"/>
              </a:rPr>
              <a:t>2</a:t>
            </a:r>
            <a:r>
              <a:rPr lang="en-US" altLang="en-US" sz="2000">
                <a:cs typeface="Times New Roman" panose="02020603050405020304" pitchFamily="18" charset="0"/>
              </a:rPr>
              <a:t>,</a:t>
            </a:r>
            <a:r>
              <a:rPr lang="en-US" altLang="en-US" sz="2000">
                <a:latin typeface="Times" panose="02020603050405020304" pitchFamily="18" charset="0"/>
                <a:cs typeface="Times New Roman" panose="02020603050405020304" pitchFamily="18" charset="0"/>
              </a:rPr>
              <a:t>...</a:t>
            </a:r>
            <a:r>
              <a:rPr lang="en-US" altLang="en-US" sz="2000">
                <a:cs typeface="Times New Roman" panose="02020603050405020304" pitchFamily="18" charset="0"/>
              </a:rPr>
              <a:t>,</a:t>
            </a:r>
            <a:r>
              <a:rPr lang="en-US" altLang="en-US" sz="2000" err="1">
                <a:cs typeface="Times New Roman" panose="02020603050405020304" pitchFamily="18" charset="0"/>
              </a:rPr>
              <a:t>i</a:t>
            </a:r>
            <a:r>
              <a:rPr lang="en-US" altLang="en-US" sz="2000" baseline="-25000" err="1">
                <a:cs typeface="Times New Roman" panose="02020603050405020304" pitchFamily="18" charset="0"/>
              </a:rPr>
              <a:t>N</a:t>
            </a:r>
            <a:r>
              <a:rPr lang="en-US" altLang="en-US" sz="2000">
                <a:cs typeface="Times New Roman" panose="02020603050405020304" pitchFamily="18" charset="0"/>
              </a:rPr>
              <a:t>], </a:t>
            </a:r>
            <a:r>
              <a:rPr lang="en-US" altLang="en-US" sz="2000" err="1">
                <a:cs typeface="Times New Roman" panose="02020603050405020304" pitchFamily="18" charset="0"/>
              </a:rPr>
              <a:t>với</a:t>
            </a:r>
            <a:r>
              <a:rPr lang="en-US" altLang="en-US" sz="2000">
                <a:cs typeface="Times New Roman" panose="02020603050405020304" pitchFamily="18" charset="0"/>
              </a:rPr>
              <a:t> </a:t>
            </a:r>
            <a:r>
              <a:rPr lang="en-US" altLang="en-US" sz="2000" err="1">
                <a:cs typeface="Times New Roman" panose="02020603050405020304" pitchFamily="18" charset="0"/>
              </a:rPr>
              <a:t>i</a:t>
            </a:r>
            <a:r>
              <a:rPr lang="en-US" altLang="en-US" sz="2000" baseline="-25000" err="1">
                <a:cs typeface="Times New Roman" panose="02020603050405020304" pitchFamily="18" charset="0"/>
              </a:rPr>
              <a:t>j</a:t>
            </a:r>
            <a:r>
              <a:rPr lang="en-US" altLang="en-US" sz="2000">
                <a:cs typeface="Times New Roman" panose="02020603050405020304" pitchFamily="18" charset="0"/>
              </a:rPr>
              <a:t> (j = 1..N)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số</a:t>
            </a:r>
            <a:r>
              <a:rPr lang="en-US" altLang="en-US" sz="2000">
                <a:cs typeface="Times New Roman" panose="02020603050405020304" pitchFamily="18" charset="0"/>
              </a:rPr>
              <a:t> </a:t>
            </a:r>
            <a:r>
              <a:rPr lang="en-US" altLang="en-US" sz="2000" err="1">
                <a:cs typeface="Times New Roman" panose="02020603050405020304" pitchFamily="18" charset="0"/>
              </a:rPr>
              <a:t>nguyên</a:t>
            </a:r>
            <a:r>
              <a:rPr lang="en-US" altLang="en-US" sz="2000">
                <a:cs typeface="Times New Roman" panose="02020603050405020304" pitchFamily="18" charset="0"/>
              </a:rPr>
              <a:t> </a:t>
            </a:r>
            <a:r>
              <a:rPr lang="en-US" altLang="en-US" sz="2000" err="1">
                <a:cs typeface="Times New Roman" panose="02020603050405020304" pitchFamily="18" charset="0"/>
              </a:rPr>
              <a:t>thoả</a:t>
            </a:r>
            <a:r>
              <a:rPr lang="en-US" altLang="en-US" sz="2000">
                <a:cs typeface="Times New Roman" panose="02020603050405020304" pitchFamily="18" charset="0"/>
              </a:rPr>
              <a:t> </a:t>
            </a:r>
            <a:r>
              <a:rPr lang="en-US" altLang="en-US" sz="2000" err="1">
                <a:cs typeface="Times New Roman" panose="02020603050405020304" pitchFamily="18" charset="0"/>
              </a:rPr>
              <a:t>mãn</a:t>
            </a:r>
            <a:r>
              <a:rPr lang="en-US" altLang="en-US" sz="2000">
                <a:cs typeface="Times New Roman" panose="02020603050405020304" pitchFamily="18" charset="0"/>
              </a:rPr>
              <a:t>: 1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err="1">
                <a:cs typeface="Times New Roman" panose="02020603050405020304" pitchFamily="18" charset="0"/>
              </a:rPr>
              <a:t>i</a:t>
            </a:r>
            <a:r>
              <a:rPr lang="en-US" altLang="en-US" sz="2000" baseline="-25000" err="1">
                <a:cs typeface="Times New Roman" panose="02020603050405020304" pitchFamily="18" charset="0"/>
              </a:rPr>
              <a:t>j</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err="1">
                <a:cs typeface="Times New Roman" panose="02020603050405020304" pitchFamily="18" charset="0"/>
              </a:rPr>
              <a:t>L</a:t>
            </a:r>
            <a:r>
              <a:rPr lang="en-US" altLang="en-US" sz="2000" baseline="-25000" err="1">
                <a:cs typeface="Times New Roman" panose="02020603050405020304" pitchFamily="18" charset="0"/>
              </a:rPr>
              <a:t>j</a:t>
            </a:r>
            <a:r>
              <a:rPr lang="en-US" altLang="en-US" sz="2000">
                <a:cs typeface="Times New Roman" panose="02020603050405020304" pitchFamily="18" charset="0"/>
              </a:rPr>
              <a:t>. </a:t>
            </a:r>
            <a:endParaRPr lang="en-US" altLang="en-US" sz="2000"/>
          </a:p>
          <a:p>
            <a:pPr lvl="1"/>
            <a:endParaRPr lang="en-US" altLang="en-US">
              <a:cs typeface="Times New Roman" panose="02020603050405020304" pitchFamily="18" charset="0"/>
            </a:endParaRPr>
          </a:p>
        </p:txBody>
      </p:sp>
    </p:spTree>
    <p:extLst>
      <p:ext uri="{BB962C8B-B14F-4D97-AF65-F5344CB8AC3E}">
        <p14:creationId xmlns:p14="http://schemas.microsoft.com/office/powerpoint/2010/main" val="306998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5"/>
          <p:cNvSpPr>
            <a:spLocks noGrp="1"/>
          </p:cNvSpPr>
          <p:nvPr>
            <p:ph type="sldNum" sz="quarter" idx="12"/>
          </p:nvPr>
        </p:nvSpPr>
        <p:spPr/>
        <p:txBody>
          <a:bodyPr/>
          <a:lstStyle/>
          <a:p>
            <a:fld id="{6B290035-96C6-4BDD-B455-FB99F6DA2748}" type="slidenum">
              <a:rPr lang="en-US" altLang="en-US"/>
              <a:pPr/>
              <a:t>12</a:t>
            </a:fld>
            <a:endParaRPr lang="en-US" altLang="en-US"/>
          </a:p>
        </p:txBody>
      </p:sp>
      <p:sp>
        <p:nvSpPr>
          <p:cNvPr id="17410" name="Rectangle 2"/>
          <p:cNvSpPr>
            <a:spLocks noGrp="1" noChangeArrowheads="1"/>
          </p:cNvSpPr>
          <p:nvPr>
            <p:ph type="title"/>
          </p:nvPr>
        </p:nvSpPr>
        <p:spPr/>
        <p:txBody>
          <a:bodyPr/>
          <a:lstStyle/>
          <a:p>
            <a:r>
              <a:rPr lang="en-US" altLang="en-US">
                <a:cs typeface="Times New Roman" panose="02020603050405020304" pitchFamily="18" charset="0"/>
              </a:rPr>
              <a:t>1.2. </a:t>
            </a:r>
            <a:r>
              <a:rPr lang="en-US" altLang="en-US" err="1">
                <a:cs typeface="Times New Roman" panose="02020603050405020304" pitchFamily="18" charset="0"/>
              </a:rPr>
              <a:t>Cấu</a:t>
            </a:r>
            <a:r>
              <a:rPr lang="en-US" altLang="en-US">
                <a:cs typeface="Times New Roman" panose="02020603050405020304" pitchFamily="18" charset="0"/>
              </a:rPr>
              <a:t> </a:t>
            </a:r>
            <a:r>
              <a:rPr lang="en-US" altLang="en-US" err="1">
                <a:cs typeface="Times New Roman" panose="02020603050405020304" pitchFamily="18" charset="0"/>
              </a:rPr>
              <a:t>trúc</a:t>
            </a:r>
            <a:r>
              <a:rPr lang="en-US" altLang="en-US">
                <a:cs typeface="Times New Roman" panose="02020603050405020304" pitchFamily="18" charset="0"/>
              </a:rPr>
              <a:t> </a:t>
            </a:r>
            <a:r>
              <a:rPr lang="en-US" altLang="en-US" err="1">
                <a:cs typeface="Times New Roman" panose="02020603050405020304" pitchFamily="18" charset="0"/>
              </a:rPr>
              <a:t>lưu</a:t>
            </a:r>
            <a:r>
              <a:rPr lang="en-US" altLang="en-US">
                <a:cs typeface="Times New Roman" panose="02020603050405020304" pitchFamily="18" charset="0"/>
              </a:rPr>
              <a:t> </a:t>
            </a:r>
            <a:r>
              <a:rPr lang="en-US" altLang="en-US" err="1">
                <a:cs typeface="Times New Roman" panose="02020603050405020304" pitchFamily="18" charset="0"/>
              </a:rPr>
              <a:t>trữ</a:t>
            </a:r>
            <a:r>
              <a:rPr lang="en-US" altLang="en-US">
                <a:cs typeface="Times New Roman" panose="02020603050405020304" pitchFamily="18" charset="0"/>
              </a:rPr>
              <a:t> </a:t>
            </a:r>
            <a:r>
              <a:rPr lang="en-US" altLang="en-US" err="1">
                <a:cs typeface="Times New Roman" panose="02020603050405020304" pitchFamily="18" charset="0"/>
              </a:rPr>
              <a:t>tuần</a:t>
            </a:r>
            <a:r>
              <a:rPr lang="en-US" altLang="en-US">
                <a:cs typeface="Times New Roman" panose="02020603050405020304" pitchFamily="18" charset="0"/>
              </a:rPr>
              <a:t> </a:t>
            </a:r>
            <a:r>
              <a:rPr lang="en-US" altLang="en-US" err="1">
                <a:cs typeface="Times New Roman" panose="02020603050405020304" pitchFamily="18" charset="0"/>
              </a:rPr>
              <a:t>tự</a:t>
            </a:r>
            <a:endParaRPr lang="en-US" altLang="en-US">
              <a:cs typeface="Times New Roman" panose="02020603050405020304" pitchFamily="18" charset="0"/>
            </a:endParaRPr>
          </a:p>
        </p:txBody>
      </p:sp>
      <p:sp>
        <p:nvSpPr>
          <p:cNvPr id="17411" name="Rectangle 3"/>
          <p:cNvSpPr>
            <a:spLocks noGrp="1" noChangeArrowheads="1"/>
          </p:cNvSpPr>
          <p:nvPr>
            <p:ph type="body" sz="quarter" idx="13"/>
          </p:nvPr>
        </p:nvSpPr>
        <p:spPr/>
        <p:txBody>
          <a:bodyPr>
            <a:normAutofit/>
          </a:bodyPr>
          <a:lstStyle/>
          <a:p>
            <a:r>
              <a:rPr lang="en-US" altLang="en-US" sz="2800" err="1">
                <a:cs typeface="Times New Roman" panose="02020603050405020304" pitchFamily="18" charset="0"/>
              </a:rPr>
              <a:t>Mô</a:t>
            </a:r>
            <a:r>
              <a:rPr lang="en-US" altLang="en-US" sz="2800">
                <a:cs typeface="Times New Roman" panose="02020603050405020304" pitchFamily="18" charset="0"/>
              </a:rPr>
              <a:t> </a:t>
            </a:r>
            <a:r>
              <a:rPr lang="en-US" altLang="en-US" sz="2800" err="1">
                <a:cs typeface="Times New Roman" panose="02020603050405020304" pitchFamily="18" charset="0"/>
              </a:rPr>
              <a:t>tả</a:t>
            </a:r>
            <a:endParaRPr lang="en-US" altLang="en-US" sz="2800">
              <a:cs typeface="Times New Roman" panose="02020603050405020304" pitchFamily="18" charset="0"/>
            </a:endParaRPr>
          </a:p>
          <a:p>
            <a:pPr lvl="1"/>
            <a:r>
              <a:rPr lang="en-US" altLang="en-US" sz="2000">
                <a:cs typeface="Times New Roman" panose="02020603050405020304" pitchFamily="18" charset="0"/>
              </a:rPr>
              <a:t>SD </a:t>
            </a:r>
            <a:r>
              <a:rPr lang="vi-VN" altLang="en-US" sz="2000">
                <a:cs typeface="Times New Roman" panose="02020603050405020304" pitchFamily="18" charset="0"/>
              </a:rPr>
              <a:t>các ô</a:t>
            </a:r>
            <a:r>
              <a:rPr lang="en-US" altLang="en-US" sz="2000">
                <a:cs typeface="Times New Roman" panose="02020603050405020304" pitchFamily="18" charset="0"/>
              </a:rPr>
              <a:t> </a:t>
            </a:r>
            <a:r>
              <a:rPr lang="vi-VN" altLang="en-US" sz="2000">
                <a:cs typeface="Times New Roman" panose="02020603050405020304" pitchFamily="18" charset="0"/>
              </a:rPr>
              <a:t>nhớ liên tiếp, có kích thước bằng nhau để chứa các phần tử, mỗi ô cho</a:t>
            </a:r>
            <a:r>
              <a:rPr lang="en-US" altLang="en-US" sz="2000">
                <a:cs typeface="Times New Roman" panose="02020603050405020304" pitchFamily="18" charset="0"/>
              </a:rPr>
              <a:t> </a:t>
            </a:r>
            <a:r>
              <a:rPr lang="vi-VN" altLang="en-US" sz="2000">
                <a:cs typeface="Times New Roman" panose="02020603050405020304" pitchFamily="18" charset="0"/>
              </a:rPr>
              <a:t>một phần tử</a:t>
            </a:r>
            <a:r>
              <a:rPr lang="en-US" altLang="en-US" sz="2000">
                <a:cs typeface="Times New Roman" panose="02020603050405020304" pitchFamily="18" charset="0"/>
              </a:rPr>
              <a:t>.</a:t>
            </a:r>
          </a:p>
          <a:p>
            <a:pPr lvl="1"/>
            <a:endParaRPr lang="en-US" altLang="en-US" sz="2400"/>
          </a:p>
          <a:p>
            <a:pPr lvl="1"/>
            <a:endParaRPr lang="en-US" altLang="en-US" sz="2400"/>
          </a:p>
          <a:p>
            <a:pPr lvl="1"/>
            <a:endParaRPr lang="en-US" altLang="en-US" sz="2400"/>
          </a:p>
          <a:p>
            <a:pPr lvl="1"/>
            <a:endParaRPr lang="en-US" altLang="en-US" sz="2400"/>
          </a:p>
          <a:p>
            <a:pPr lvl="1"/>
            <a:r>
              <a:rPr lang="en-US" altLang="en-US" sz="2000"/>
              <a:t>A</a:t>
            </a:r>
            <a:r>
              <a:rPr lang="en-US" altLang="en-US" sz="2000" baseline="-25000"/>
              <a:t>0</a:t>
            </a:r>
            <a:r>
              <a:rPr lang="en-US" altLang="en-US" sz="2000"/>
              <a:t> : </a:t>
            </a:r>
            <a:r>
              <a:rPr lang="en-US" altLang="en-US" sz="2000" err="1"/>
              <a:t>địa</a:t>
            </a:r>
            <a:r>
              <a:rPr lang="en-US" altLang="en-US" sz="2000"/>
              <a:t> </a:t>
            </a:r>
            <a:r>
              <a:rPr lang="en-US" altLang="en-US" sz="2000" err="1"/>
              <a:t>chỉ</a:t>
            </a:r>
            <a:r>
              <a:rPr lang="en-US" altLang="en-US" sz="2000"/>
              <a:t> </a:t>
            </a:r>
            <a:r>
              <a:rPr lang="en-US" altLang="en-US" sz="2000" err="1"/>
              <a:t>bắt</a:t>
            </a:r>
            <a:r>
              <a:rPr lang="en-US" altLang="en-US" sz="2000"/>
              <a:t> </a:t>
            </a:r>
            <a:r>
              <a:rPr lang="en-US" altLang="en-US" sz="2000" err="1"/>
              <a:t>đầu</a:t>
            </a:r>
            <a:r>
              <a:rPr lang="en-US" altLang="en-US" sz="2000"/>
              <a:t> </a:t>
            </a:r>
            <a:r>
              <a:rPr lang="en-US" altLang="en-US" sz="2000" err="1"/>
              <a:t>của</a:t>
            </a:r>
            <a:r>
              <a:rPr lang="en-US" altLang="en-US" sz="2000"/>
              <a:t> </a:t>
            </a:r>
            <a:r>
              <a:rPr lang="en-US" altLang="en-US" sz="2000" err="1"/>
              <a:t>cấu</a:t>
            </a:r>
            <a:r>
              <a:rPr lang="en-US" altLang="en-US" sz="2000"/>
              <a:t> </a:t>
            </a:r>
            <a:r>
              <a:rPr lang="en-US" altLang="en-US" sz="2000" err="1"/>
              <a:t>trúc</a:t>
            </a:r>
            <a:r>
              <a:rPr lang="en-US" altLang="en-US" sz="2000"/>
              <a:t> </a:t>
            </a:r>
            <a:r>
              <a:rPr lang="en-US" altLang="en-US" sz="2000" err="1"/>
              <a:t>lưu</a:t>
            </a:r>
            <a:r>
              <a:rPr lang="en-US" altLang="en-US" sz="2000"/>
              <a:t> </a:t>
            </a:r>
            <a:r>
              <a:rPr lang="en-US" altLang="en-US" sz="2000" err="1"/>
              <a:t>trữ</a:t>
            </a:r>
            <a:r>
              <a:rPr lang="en-US" altLang="en-US" sz="2000"/>
              <a:t>, </a:t>
            </a:r>
            <a:r>
              <a:rPr lang="en-US" altLang="en-US" sz="2000" err="1"/>
              <a:t>địa</a:t>
            </a:r>
            <a:r>
              <a:rPr lang="en-US" altLang="en-US" sz="2000"/>
              <a:t> </a:t>
            </a:r>
            <a:r>
              <a:rPr lang="en-US" altLang="en-US" sz="2000" err="1"/>
              <a:t>chỉ</a:t>
            </a:r>
            <a:r>
              <a:rPr lang="en-US" altLang="en-US" sz="2000"/>
              <a:t> </a:t>
            </a:r>
            <a:r>
              <a:rPr lang="en-US" altLang="en-US" sz="2000" err="1"/>
              <a:t>của</a:t>
            </a:r>
            <a:r>
              <a:rPr lang="en-US" altLang="en-US" sz="2000"/>
              <a:t> ô </a:t>
            </a:r>
            <a:r>
              <a:rPr lang="en-US" altLang="en-US" sz="2000" err="1"/>
              <a:t>nhớ</a:t>
            </a:r>
            <a:r>
              <a:rPr lang="en-US" altLang="en-US" sz="2000"/>
              <a:t> </a:t>
            </a:r>
            <a:r>
              <a:rPr lang="en-US" altLang="en-US" sz="2000" err="1"/>
              <a:t>chứa</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đầu</a:t>
            </a:r>
            <a:r>
              <a:rPr lang="en-US" altLang="en-US" sz="2000"/>
              <a:t> </a:t>
            </a:r>
            <a:r>
              <a:rPr lang="en-US" altLang="en-US" sz="2000" err="1"/>
              <a:t>tiên</a:t>
            </a:r>
            <a:r>
              <a:rPr lang="en-US" altLang="en-US" sz="2000"/>
              <a:t>. </a:t>
            </a:r>
          </a:p>
          <a:p>
            <a:pPr lvl="1"/>
            <a:r>
              <a:rPr lang="en-US" altLang="en-US" sz="2000" err="1"/>
              <a:t>Kích</a:t>
            </a:r>
            <a:r>
              <a:rPr lang="en-US" altLang="en-US" sz="2000"/>
              <a:t> </a:t>
            </a:r>
            <a:r>
              <a:rPr lang="en-US" altLang="en-US" sz="2000" err="1"/>
              <a:t>thước</a:t>
            </a:r>
            <a:r>
              <a:rPr lang="en-US" altLang="en-US" sz="2000"/>
              <a:t> </a:t>
            </a:r>
            <a:r>
              <a:rPr lang="en-US" altLang="en-US" sz="2000" err="1"/>
              <a:t>mỗi</a:t>
            </a:r>
            <a:r>
              <a:rPr lang="en-US" altLang="en-US" sz="2000"/>
              <a:t> ô </a:t>
            </a:r>
            <a:r>
              <a:rPr lang="en-US" altLang="en-US" sz="2000" err="1"/>
              <a:t>nhớ</a:t>
            </a:r>
            <a:r>
              <a:rPr lang="en-US" altLang="en-US" sz="2000"/>
              <a:t> </a:t>
            </a:r>
            <a:r>
              <a:rPr lang="en-US" altLang="en-US" sz="2000" err="1"/>
              <a:t>là</a:t>
            </a:r>
            <a:r>
              <a:rPr lang="en-US" altLang="en-US" sz="2000"/>
              <a:t> </a:t>
            </a:r>
            <a:r>
              <a:rPr lang="en-US" altLang="en-US" sz="2000" err="1"/>
              <a:t>như</a:t>
            </a:r>
            <a:r>
              <a:rPr lang="en-US" altLang="en-US" sz="2000"/>
              <a:t> </a:t>
            </a:r>
            <a:r>
              <a:rPr lang="en-US" altLang="en-US" sz="2000" err="1"/>
              <a:t>nhau</a:t>
            </a:r>
            <a:r>
              <a:rPr lang="en-US" altLang="en-US" sz="2000"/>
              <a:t>, </a:t>
            </a:r>
            <a:r>
              <a:rPr lang="en-US" altLang="en-US" sz="2000" err="1"/>
              <a:t>là</a:t>
            </a:r>
            <a:r>
              <a:rPr lang="en-US" altLang="en-US" sz="2000"/>
              <a:t> </a:t>
            </a:r>
            <a:r>
              <a:rPr lang="en-US" altLang="en-US" sz="2000" err="1"/>
              <a:t>một</a:t>
            </a:r>
            <a:r>
              <a:rPr lang="en-US" altLang="en-US" sz="2000"/>
              <a:t> </a:t>
            </a:r>
            <a:r>
              <a:rPr lang="en-US" altLang="en-US" sz="2000" err="1"/>
              <a:t>hằng</a:t>
            </a:r>
            <a:r>
              <a:rPr lang="en-US" altLang="en-US" sz="2000"/>
              <a:t> </a:t>
            </a:r>
            <a:r>
              <a:rPr lang="en-US" altLang="en-US" sz="2000" err="1"/>
              <a:t>số</a:t>
            </a:r>
            <a:r>
              <a:rPr lang="en-US" altLang="en-US" sz="2000"/>
              <a:t> </a:t>
            </a:r>
            <a:r>
              <a:rPr lang="en-US" altLang="en-US" sz="2000" err="1"/>
              <a:t>cố</a:t>
            </a:r>
            <a:r>
              <a:rPr lang="en-US" altLang="en-US" sz="2000"/>
              <a:t> </a:t>
            </a:r>
            <a:r>
              <a:rPr lang="en-US" altLang="en-US" sz="2000" err="1"/>
              <a:t>định</a:t>
            </a:r>
            <a:r>
              <a:rPr lang="en-US" altLang="en-US" sz="2000"/>
              <a:t> </a:t>
            </a:r>
            <a:r>
              <a:rPr lang="en-US" altLang="en-US" sz="2000" err="1"/>
              <a:t>được</a:t>
            </a:r>
            <a:r>
              <a:rPr lang="en-US" altLang="en-US" sz="2000"/>
              <a:t> </a:t>
            </a:r>
            <a:r>
              <a:rPr lang="en-US" altLang="en-US" sz="2000" err="1"/>
              <a:t>kí</a:t>
            </a:r>
            <a:r>
              <a:rPr lang="en-US" altLang="en-US" sz="2000"/>
              <a:t> </a:t>
            </a:r>
            <a:r>
              <a:rPr lang="en-US" altLang="en-US" sz="2000" err="1"/>
              <a:t>hiệu</a:t>
            </a:r>
            <a:r>
              <a:rPr lang="en-US" altLang="en-US" sz="2000"/>
              <a:t> </a:t>
            </a:r>
            <a:r>
              <a:rPr lang="en-US" altLang="en-US" sz="2000" err="1"/>
              <a:t>là</a:t>
            </a:r>
            <a:r>
              <a:rPr lang="en-US" altLang="en-US" sz="2000"/>
              <a:t> c (</a:t>
            </a:r>
            <a:r>
              <a:rPr lang="en-US" altLang="en-US" sz="2000" err="1"/>
              <a:t>đơn</a:t>
            </a:r>
            <a:r>
              <a:rPr lang="en-US" altLang="en-US" sz="2000"/>
              <a:t> </a:t>
            </a:r>
            <a:r>
              <a:rPr lang="en-US" altLang="en-US" sz="2000" err="1"/>
              <a:t>vị</a:t>
            </a:r>
            <a:r>
              <a:rPr lang="en-US" altLang="en-US" sz="2000"/>
              <a:t> </a:t>
            </a:r>
            <a:r>
              <a:rPr lang="en-US" altLang="en-US" sz="2000" err="1"/>
              <a:t>tính</a:t>
            </a:r>
            <a:r>
              <a:rPr lang="en-US" altLang="en-US" sz="2000"/>
              <a:t> </a:t>
            </a:r>
            <a:r>
              <a:rPr lang="en-US" altLang="en-US" sz="2000" err="1"/>
              <a:t>thường</a:t>
            </a:r>
            <a:r>
              <a:rPr lang="en-US" altLang="en-US" sz="2000"/>
              <a:t> </a:t>
            </a:r>
            <a:r>
              <a:rPr lang="en-US" altLang="en-US" sz="2000" err="1"/>
              <a:t>là</a:t>
            </a:r>
            <a:r>
              <a:rPr lang="en-US" altLang="en-US" sz="2000"/>
              <a:t> byte). </a:t>
            </a:r>
          </a:p>
          <a:p>
            <a:pPr lvl="1"/>
            <a:r>
              <a:rPr lang="en-US" altLang="en-US" sz="2000" err="1"/>
              <a:t>Địa</a:t>
            </a:r>
            <a:r>
              <a:rPr lang="en-US" altLang="en-US" sz="2000"/>
              <a:t> </a:t>
            </a:r>
            <a:r>
              <a:rPr lang="en-US" altLang="en-US" sz="2000" err="1"/>
              <a:t>chỉ</a:t>
            </a:r>
            <a:r>
              <a:rPr lang="en-US" altLang="en-US" sz="2000"/>
              <a:t> </a:t>
            </a:r>
            <a:r>
              <a:rPr lang="en-US" altLang="en-US" sz="2000" err="1"/>
              <a:t>của</a:t>
            </a:r>
            <a:r>
              <a:rPr lang="en-US" altLang="en-US" sz="2000"/>
              <a:t> </a:t>
            </a:r>
            <a:r>
              <a:rPr lang="en-US" altLang="en-US" sz="2000" err="1"/>
              <a:t>a</a:t>
            </a:r>
            <a:r>
              <a:rPr lang="en-US" altLang="en-US" sz="2000" baseline="-25000" err="1"/>
              <a:t>i</a:t>
            </a:r>
            <a:r>
              <a:rPr lang="en-US" altLang="en-US" sz="2000"/>
              <a:t>: 	</a:t>
            </a:r>
            <a:r>
              <a:rPr lang="en-US" altLang="en-US" sz="2000" err="1"/>
              <a:t>Loc</a:t>
            </a:r>
            <a:r>
              <a:rPr lang="en-US" altLang="en-US" sz="2000"/>
              <a:t> (</a:t>
            </a:r>
            <a:r>
              <a:rPr lang="en-US" altLang="en-US" sz="2000" err="1"/>
              <a:t>a</a:t>
            </a:r>
            <a:r>
              <a:rPr lang="en-US" altLang="en-US" sz="2000" baseline="-25000" err="1"/>
              <a:t>i</a:t>
            </a:r>
            <a:r>
              <a:rPr lang="en-US" altLang="en-US" sz="2000"/>
              <a:t>) = A</a:t>
            </a:r>
            <a:r>
              <a:rPr lang="en-US" altLang="en-US" sz="2000" baseline="-25000"/>
              <a:t>0</a:t>
            </a:r>
            <a:r>
              <a:rPr lang="en-US" altLang="en-US" sz="2000"/>
              <a:t>  + c* (i-1)</a:t>
            </a:r>
          </a:p>
        </p:txBody>
      </p:sp>
      <p:grpSp>
        <p:nvGrpSpPr>
          <p:cNvPr id="17431" name="Group 23"/>
          <p:cNvGrpSpPr>
            <a:grpSpLocks/>
          </p:cNvGrpSpPr>
          <p:nvPr/>
        </p:nvGrpSpPr>
        <p:grpSpPr bwMode="auto">
          <a:xfrm>
            <a:off x="1563687" y="1981200"/>
            <a:ext cx="6016625" cy="1244600"/>
            <a:chOff x="1154" y="1184"/>
            <a:chExt cx="3790" cy="784"/>
          </a:xfrm>
        </p:grpSpPr>
        <p:sp>
          <p:nvSpPr>
            <p:cNvPr id="17415" name="Text Box 7"/>
            <p:cNvSpPr txBox="1">
              <a:spLocks noChangeArrowheads="1"/>
            </p:cNvSpPr>
            <p:nvPr/>
          </p:nvSpPr>
          <p:spPr bwMode="auto">
            <a:xfrm>
              <a:off x="1533"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endParaRPr lang="en-US" altLang="en-US" sz="2000">
                <a:latin typeface="Times New Roman" panose="02020603050405020304" pitchFamily="18" charset="0"/>
              </a:endParaRPr>
            </a:p>
          </p:txBody>
        </p:sp>
        <p:sp>
          <p:nvSpPr>
            <p:cNvPr id="17416" name="Text Box 8"/>
            <p:cNvSpPr txBox="1">
              <a:spLocks noChangeArrowheads="1"/>
            </p:cNvSpPr>
            <p:nvPr/>
          </p:nvSpPr>
          <p:spPr bwMode="auto">
            <a:xfrm>
              <a:off x="1912"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2</a:t>
              </a:r>
              <a:endParaRPr lang="en-US" altLang="en-US" sz="2000">
                <a:latin typeface="Times New Roman" panose="02020603050405020304" pitchFamily="18" charset="0"/>
              </a:endParaRPr>
            </a:p>
          </p:txBody>
        </p:sp>
        <p:sp>
          <p:nvSpPr>
            <p:cNvPr id="17417" name="Text Box 9"/>
            <p:cNvSpPr txBox="1">
              <a:spLocks noChangeArrowheads="1"/>
            </p:cNvSpPr>
            <p:nvPr/>
          </p:nvSpPr>
          <p:spPr bwMode="auto">
            <a:xfrm>
              <a:off x="2291"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t>
              </a:r>
            </a:p>
          </p:txBody>
        </p:sp>
        <p:sp>
          <p:nvSpPr>
            <p:cNvPr id="17418" name="Text Box 10"/>
            <p:cNvSpPr txBox="1">
              <a:spLocks noChangeArrowheads="1"/>
            </p:cNvSpPr>
            <p:nvPr/>
          </p:nvSpPr>
          <p:spPr bwMode="auto">
            <a:xfrm>
              <a:off x="2670" y="1328"/>
              <a:ext cx="379" cy="256"/>
            </a:xfrm>
            <a:prstGeom prst="rect">
              <a:avLst/>
            </a:prstGeom>
            <a:solidFill>
              <a:srgbClr val="FFFFFF"/>
            </a:solidFill>
            <a:ln w="9525">
              <a:solidFill>
                <a:srgbClr val="000000"/>
              </a:solidFill>
              <a:miter lim="800000"/>
              <a:headEnd/>
              <a:tailEnd/>
            </a:ln>
          </p:spPr>
          <p:txBody>
            <a:bodyPr lIns="18000" rIns="18000"/>
            <a:lstStyle/>
            <a:p>
              <a:pPr eaLnBrk="0" hangingPunct="0"/>
              <a:endParaRPr lang="en-US" altLang="en-US" sz="2000">
                <a:latin typeface="Times New Roman" panose="02020603050405020304" pitchFamily="18" charset="0"/>
              </a:endParaRPr>
            </a:p>
          </p:txBody>
        </p:sp>
        <p:sp>
          <p:nvSpPr>
            <p:cNvPr id="17419" name="Text Box 11"/>
            <p:cNvSpPr txBox="1">
              <a:spLocks noChangeArrowheads="1"/>
            </p:cNvSpPr>
            <p:nvPr/>
          </p:nvSpPr>
          <p:spPr bwMode="auto">
            <a:xfrm>
              <a:off x="3049"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i</a:t>
              </a:r>
              <a:endParaRPr lang="en-US" altLang="en-US" sz="2000">
                <a:latin typeface="Times New Roman" panose="02020603050405020304" pitchFamily="18" charset="0"/>
              </a:endParaRPr>
            </a:p>
          </p:txBody>
        </p:sp>
        <p:sp>
          <p:nvSpPr>
            <p:cNvPr id="17420" name="Text Box 12"/>
            <p:cNvSpPr txBox="1">
              <a:spLocks noChangeArrowheads="1"/>
            </p:cNvSpPr>
            <p:nvPr/>
          </p:nvSpPr>
          <p:spPr bwMode="auto">
            <a:xfrm>
              <a:off x="3428"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t>
              </a:r>
            </a:p>
          </p:txBody>
        </p:sp>
        <p:sp>
          <p:nvSpPr>
            <p:cNvPr id="17421" name="Text Box 13"/>
            <p:cNvSpPr txBox="1">
              <a:spLocks noChangeArrowheads="1"/>
            </p:cNvSpPr>
            <p:nvPr/>
          </p:nvSpPr>
          <p:spPr bwMode="auto">
            <a:xfrm>
              <a:off x="3807" y="1328"/>
              <a:ext cx="379" cy="256"/>
            </a:xfrm>
            <a:prstGeom prst="rect">
              <a:avLst/>
            </a:prstGeom>
            <a:solidFill>
              <a:srgbClr val="FFFFFF"/>
            </a:solidFill>
            <a:ln w="9525">
              <a:solidFill>
                <a:srgbClr val="000000"/>
              </a:solidFill>
              <a:miter lim="800000"/>
              <a:headEnd/>
              <a:tailEnd/>
            </a:ln>
          </p:spPr>
          <p:txBody>
            <a:bodyPr lIns="18000" rIns="18000"/>
            <a:lstStyle/>
            <a:p>
              <a:pPr eaLnBrk="0" hangingPunct="0"/>
              <a:endParaRPr lang="en-US" altLang="en-US" sz="2000">
                <a:latin typeface="Times New Roman" panose="02020603050405020304" pitchFamily="18" charset="0"/>
              </a:endParaRPr>
            </a:p>
          </p:txBody>
        </p:sp>
        <p:sp>
          <p:nvSpPr>
            <p:cNvPr id="17422" name="Text Box 14"/>
            <p:cNvSpPr txBox="1">
              <a:spLocks noChangeArrowheads="1"/>
            </p:cNvSpPr>
            <p:nvPr/>
          </p:nvSpPr>
          <p:spPr bwMode="auto">
            <a:xfrm>
              <a:off x="4186"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n-1</a:t>
              </a:r>
              <a:endParaRPr lang="en-US" altLang="en-US" sz="2000">
                <a:latin typeface="Times New Roman" panose="02020603050405020304" pitchFamily="18" charset="0"/>
              </a:endParaRPr>
            </a:p>
          </p:txBody>
        </p:sp>
        <p:sp>
          <p:nvSpPr>
            <p:cNvPr id="17423" name="Text Box 15"/>
            <p:cNvSpPr txBox="1">
              <a:spLocks noChangeArrowheads="1"/>
            </p:cNvSpPr>
            <p:nvPr/>
          </p:nvSpPr>
          <p:spPr bwMode="auto">
            <a:xfrm>
              <a:off x="4565" y="1328"/>
              <a:ext cx="379"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n</a:t>
              </a:r>
              <a:endParaRPr lang="en-US" altLang="en-US" sz="2000">
                <a:latin typeface="Times New Roman" panose="02020603050405020304" pitchFamily="18" charset="0"/>
              </a:endParaRPr>
            </a:p>
          </p:txBody>
        </p:sp>
        <p:sp>
          <p:nvSpPr>
            <p:cNvPr id="17424" name="Text Box 16"/>
            <p:cNvSpPr txBox="1">
              <a:spLocks noChangeArrowheads="1"/>
            </p:cNvSpPr>
            <p:nvPr/>
          </p:nvSpPr>
          <p:spPr bwMode="auto">
            <a:xfrm>
              <a:off x="1154" y="1184"/>
              <a:ext cx="37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17425" name="Line 17"/>
            <p:cNvSpPr>
              <a:spLocks noChangeShapeType="1"/>
            </p:cNvSpPr>
            <p:nvPr/>
          </p:nvSpPr>
          <p:spPr bwMode="auto">
            <a:xfrm>
              <a:off x="1154" y="1456"/>
              <a:ext cx="37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6" name="Line 18"/>
            <p:cNvSpPr>
              <a:spLocks noChangeShapeType="1"/>
            </p:cNvSpPr>
            <p:nvPr/>
          </p:nvSpPr>
          <p:spPr bwMode="auto">
            <a:xfrm>
              <a:off x="1912" y="1840"/>
              <a:ext cx="379"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7" name="Line 19"/>
            <p:cNvSpPr>
              <a:spLocks noChangeShapeType="1"/>
            </p:cNvSpPr>
            <p:nvPr/>
          </p:nvSpPr>
          <p:spPr bwMode="auto">
            <a:xfrm>
              <a:off x="1912" y="1584"/>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7428" name="Line 20"/>
            <p:cNvSpPr>
              <a:spLocks noChangeShapeType="1"/>
            </p:cNvSpPr>
            <p:nvPr/>
          </p:nvSpPr>
          <p:spPr bwMode="auto">
            <a:xfrm>
              <a:off x="2291" y="1584"/>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7429" name="Text Box 21"/>
            <p:cNvSpPr txBox="1">
              <a:spLocks noChangeArrowheads="1"/>
            </p:cNvSpPr>
            <p:nvPr/>
          </p:nvSpPr>
          <p:spPr bwMode="auto">
            <a:xfrm>
              <a:off x="1912" y="1648"/>
              <a:ext cx="37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p>
              <a:pPr algn="ctr" eaLnBrk="0" hangingPunct="0"/>
              <a:r>
                <a:rPr lang="en-US" altLang="en-US" sz="2000">
                  <a:latin typeface="Times New Roman" panose="02020603050405020304" pitchFamily="18" charset="0"/>
                </a:rPr>
                <a:t>c</a:t>
              </a:r>
            </a:p>
          </p:txBody>
        </p:sp>
      </p:grpSp>
    </p:spTree>
    <p:extLst>
      <p:ext uri="{BB962C8B-B14F-4D97-AF65-F5344CB8AC3E}">
        <p14:creationId xmlns:p14="http://schemas.microsoft.com/office/powerpoint/2010/main" val="53826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DD1FCF8-F122-4292-8E18-B78F47515FC8}" type="slidenum">
              <a:rPr lang="en-US" altLang="en-US"/>
              <a:pPr/>
              <a:t>13</a:t>
            </a:fld>
            <a:endParaRPr lang="en-US" altLang="en-US"/>
          </a:p>
        </p:txBody>
      </p:sp>
      <p:sp>
        <p:nvSpPr>
          <p:cNvPr id="18434" name="Rectangle 2"/>
          <p:cNvSpPr>
            <a:spLocks noGrp="1" noChangeArrowheads="1"/>
          </p:cNvSpPr>
          <p:nvPr>
            <p:ph type="title"/>
          </p:nvPr>
        </p:nvSpPr>
        <p:spPr/>
        <p:txBody>
          <a:bodyPr/>
          <a:lstStyle/>
          <a:p>
            <a:r>
              <a:rPr lang="en-US" altLang="en-US"/>
              <a:t>1.2.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r>
              <a:rPr lang="en-US" altLang="en-US"/>
              <a:t> </a:t>
            </a:r>
            <a:r>
              <a:rPr lang="en-US" altLang="en-US" err="1"/>
              <a:t>tuần</a:t>
            </a:r>
            <a:r>
              <a:rPr lang="en-US" altLang="en-US"/>
              <a:t> </a:t>
            </a:r>
            <a:r>
              <a:rPr lang="en-US" altLang="en-US" err="1"/>
              <a:t>tự</a:t>
            </a:r>
            <a:endParaRPr lang="en-US" altLang="en-US">
              <a:latin typeface="Times New Roman" panose="02020603050405020304" pitchFamily="18" charset="0"/>
              <a:cs typeface="Times New Roman" panose="02020603050405020304" pitchFamily="18" charset="0"/>
            </a:endParaRPr>
          </a:p>
        </p:txBody>
      </p:sp>
      <p:sp>
        <p:nvSpPr>
          <p:cNvPr id="18435" name="Rectangle 3"/>
          <p:cNvSpPr>
            <a:spLocks noGrp="1" noChangeArrowheads="1"/>
          </p:cNvSpPr>
          <p:nvPr>
            <p:ph type="body" sz="quarter" idx="13"/>
          </p:nvPr>
        </p:nvSpPr>
        <p:spPr/>
        <p:txBody>
          <a:bodyPr/>
          <a:lstStyle/>
          <a:p>
            <a:pPr>
              <a:lnSpc>
                <a:spcPct val="90000"/>
              </a:lnSpc>
            </a:pPr>
            <a:r>
              <a:rPr lang="en-US" altLang="en-US" sz="2600" err="1">
                <a:cs typeface="Times New Roman" panose="02020603050405020304" pitchFamily="18" charset="0"/>
              </a:rPr>
              <a:t>Đặc</a:t>
            </a:r>
            <a:r>
              <a:rPr lang="en-US" altLang="en-US" sz="2600">
                <a:cs typeface="Times New Roman" panose="02020603050405020304" pitchFamily="18" charset="0"/>
              </a:rPr>
              <a:t> </a:t>
            </a:r>
            <a:r>
              <a:rPr lang="en-US" altLang="en-US" sz="2600" err="1">
                <a:cs typeface="Times New Roman" panose="02020603050405020304" pitchFamily="18" charset="0"/>
              </a:rPr>
              <a:t>điểm</a:t>
            </a:r>
            <a:endParaRPr lang="en-US" altLang="en-US" sz="2600">
              <a:cs typeface="Times New Roman" panose="02020603050405020304" pitchFamily="18" charset="0"/>
            </a:endParaRPr>
          </a:p>
          <a:p>
            <a:pPr lvl="1" algn="just">
              <a:lnSpc>
                <a:spcPct val="90000"/>
              </a:lnSpc>
            </a:pPr>
            <a:r>
              <a:rPr lang="en-US" altLang="en-US" sz="2200" err="1">
                <a:cs typeface="Times New Roman" panose="02020603050405020304" pitchFamily="18" charset="0"/>
              </a:rPr>
              <a:t>Đơn</a:t>
            </a:r>
            <a:r>
              <a:rPr lang="en-US" altLang="en-US" sz="2200">
                <a:cs typeface="Times New Roman" panose="02020603050405020304" pitchFamily="18" charset="0"/>
              </a:rPr>
              <a:t> </a:t>
            </a:r>
            <a:r>
              <a:rPr lang="en-US" altLang="en-US" sz="2200" err="1">
                <a:cs typeface="Times New Roman" panose="02020603050405020304" pitchFamily="18" charset="0"/>
              </a:rPr>
              <a:t>giản</a:t>
            </a:r>
            <a:r>
              <a:rPr lang="en-US" altLang="en-US" sz="2200">
                <a:cs typeface="Times New Roman" panose="02020603050405020304" pitchFamily="18" charset="0"/>
              </a:rPr>
              <a:t>, </a:t>
            </a:r>
            <a:r>
              <a:rPr lang="en-US" altLang="en-US" sz="2200" err="1">
                <a:cs typeface="Times New Roman" panose="02020603050405020304" pitchFamily="18" charset="0"/>
              </a:rPr>
              <a:t>dễ</a:t>
            </a:r>
            <a:r>
              <a:rPr lang="en-US" altLang="en-US" sz="2200">
                <a:cs typeface="Times New Roman" panose="02020603050405020304" pitchFamily="18" charset="0"/>
              </a:rPr>
              <a:t> </a:t>
            </a:r>
            <a:r>
              <a:rPr lang="en-US" altLang="en-US" sz="2200" err="1">
                <a:cs typeface="Times New Roman" panose="02020603050405020304" pitchFamily="18" charset="0"/>
              </a:rPr>
              <a:t>sử</a:t>
            </a:r>
            <a:r>
              <a:rPr lang="en-US" altLang="en-US" sz="2200">
                <a:cs typeface="Times New Roman" panose="02020603050405020304" pitchFamily="18" charset="0"/>
              </a:rPr>
              <a:t> </a:t>
            </a:r>
            <a:r>
              <a:rPr lang="en-US" altLang="en-US" sz="2200" err="1">
                <a:cs typeface="Times New Roman" panose="02020603050405020304" pitchFamily="18" charset="0"/>
              </a:rPr>
              <a:t>dụng</a:t>
            </a:r>
            <a:endParaRPr lang="en-US" altLang="en-US" sz="2200">
              <a:latin typeface=".VnTime" pitchFamily="34" charset="0"/>
              <a:cs typeface="Times New Roman" panose="02020603050405020304" pitchFamily="18" charset="0"/>
            </a:endParaRPr>
          </a:p>
          <a:p>
            <a:pPr lvl="1" algn="just">
              <a:lnSpc>
                <a:spcPct val="90000"/>
              </a:lnSpc>
            </a:pPr>
            <a:r>
              <a:rPr lang="en-US" altLang="en-US" sz="2200" err="1">
                <a:cs typeface="Times New Roman" panose="02020603050405020304" pitchFamily="18" charset="0"/>
              </a:rPr>
              <a:t>Kích</a:t>
            </a:r>
            <a:r>
              <a:rPr lang="en-US" altLang="en-US" sz="2200">
                <a:cs typeface="Times New Roman" panose="02020603050405020304" pitchFamily="18" charset="0"/>
              </a:rPr>
              <a:t> </a:t>
            </a:r>
            <a:r>
              <a:rPr lang="en-US" altLang="en-US" sz="2200" err="1">
                <a:cs typeface="Times New Roman" panose="02020603050405020304" pitchFamily="18" charset="0"/>
              </a:rPr>
              <a:t>thước</a:t>
            </a:r>
            <a:r>
              <a:rPr lang="en-US" altLang="en-US" sz="2200">
                <a:cs typeface="Times New Roman" panose="02020603050405020304" pitchFamily="18" charset="0"/>
              </a:rPr>
              <a:t> </a:t>
            </a:r>
            <a:r>
              <a:rPr lang="en-US" altLang="en-US" sz="2200" err="1">
                <a:cs typeface="Times New Roman" panose="02020603050405020304" pitchFamily="18" charset="0"/>
              </a:rPr>
              <a:t>luôn</a:t>
            </a:r>
            <a:r>
              <a:rPr lang="en-US" altLang="en-US" sz="2200">
                <a:cs typeface="Times New Roman" panose="02020603050405020304" pitchFamily="18" charset="0"/>
              </a:rPr>
              <a:t> </a:t>
            </a:r>
            <a:r>
              <a:rPr lang="en-US" altLang="en-US" sz="2200" err="1">
                <a:cs typeface="Times New Roman" panose="02020603050405020304" pitchFamily="18" charset="0"/>
              </a:rPr>
              <a:t>cố</a:t>
            </a:r>
            <a:r>
              <a:rPr lang="en-US" altLang="en-US" sz="2200">
                <a:cs typeface="Times New Roman" panose="02020603050405020304" pitchFamily="18" charset="0"/>
              </a:rPr>
              <a:t> </a:t>
            </a:r>
            <a:r>
              <a:rPr lang="en-US" altLang="en-US" sz="2200" err="1">
                <a:cs typeface="Times New Roman" panose="02020603050405020304" pitchFamily="18" charset="0"/>
              </a:rPr>
              <a:t>định</a:t>
            </a:r>
            <a:r>
              <a:rPr lang="en-US" altLang="en-US" sz="2200">
                <a:cs typeface="Times New Roman" panose="02020603050405020304" pitchFamily="18" charset="0"/>
              </a:rPr>
              <a:t>.</a:t>
            </a:r>
          </a:p>
          <a:p>
            <a:pPr lvl="2" algn="just">
              <a:lnSpc>
                <a:spcPct val="90000"/>
              </a:lnSpc>
            </a:pPr>
            <a:r>
              <a:rPr lang="en-US" altLang="en-US" sz="1900" err="1">
                <a:cs typeface="Times New Roman" panose="02020603050405020304" pitchFamily="18" charset="0"/>
              </a:rPr>
              <a:t>Cấp</a:t>
            </a:r>
            <a:r>
              <a:rPr lang="en-US" altLang="en-US" sz="1900">
                <a:cs typeface="Times New Roman" panose="02020603050405020304" pitchFamily="18" charset="0"/>
              </a:rPr>
              <a:t> </a:t>
            </a:r>
            <a:r>
              <a:rPr lang="en-US" altLang="en-US" sz="1900" err="1">
                <a:cs typeface="Times New Roman" panose="02020603050405020304" pitchFamily="18" charset="0"/>
              </a:rPr>
              <a:t>phát</a:t>
            </a:r>
            <a:r>
              <a:rPr lang="en-US" altLang="en-US" sz="1900">
                <a:cs typeface="Times New Roman" panose="02020603050405020304" pitchFamily="18" charset="0"/>
              </a:rPr>
              <a:t>/</a:t>
            </a:r>
            <a:r>
              <a:rPr lang="en-US" altLang="en-US" sz="1900" err="1">
                <a:cs typeface="Times New Roman" panose="02020603050405020304" pitchFamily="18" charset="0"/>
              </a:rPr>
              <a:t>giải</a:t>
            </a:r>
            <a:r>
              <a:rPr lang="en-US" altLang="en-US" sz="1900">
                <a:cs typeface="Times New Roman" panose="02020603050405020304" pitchFamily="18" charset="0"/>
              </a:rPr>
              <a:t> </a:t>
            </a:r>
            <a:r>
              <a:rPr lang="en-US" altLang="en-US" sz="1900" err="1">
                <a:cs typeface="Times New Roman" panose="02020603050405020304" pitchFamily="18" charset="0"/>
              </a:rPr>
              <a:t>phóng</a:t>
            </a:r>
            <a:r>
              <a:rPr lang="en-US" altLang="en-US" sz="1900">
                <a:cs typeface="Times New Roman" panose="02020603050405020304" pitchFamily="18" charset="0"/>
              </a:rPr>
              <a:t> </a:t>
            </a:r>
            <a:r>
              <a:rPr lang="en-US" altLang="en-US" sz="1900" err="1">
                <a:cs typeface="Times New Roman" panose="02020603050405020304" pitchFamily="18" charset="0"/>
              </a:rPr>
              <a:t>vùng</a:t>
            </a:r>
            <a:r>
              <a:rPr lang="en-US" altLang="en-US" sz="1900">
                <a:cs typeface="Times New Roman" panose="02020603050405020304" pitchFamily="18" charset="0"/>
              </a:rPr>
              <a:t> </a:t>
            </a:r>
            <a:r>
              <a:rPr lang="en-US" altLang="en-US" sz="1900" err="1">
                <a:cs typeface="Times New Roman" panose="02020603050405020304" pitchFamily="18" charset="0"/>
              </a:rPr>
              <a:t>nhớ</a:t>
            </a:r>
            <a:r>
              <a:rPr lang="en-US" altLang="en-US" sz="1900">
                <a:cs typeface="Times New Roman" panose="02020603050405020304" pitchFamily="18" charset="0"/>
              </a:rPr>
              <a:t> </a:t>
            </a:r>
            <a:r>
              <a:rPr lang="en-US" altLang="en-US" sz="1900" err="1">
                <a:cs typeface="Times New Roman" panose="02020603050405020304" pitchFamily="18" charset="0"/>
              </a:rPr>
              <a:t>cho</a:t>
            </a:r>
            <a:r>
              <a:rPr lang="en-US" altLang="en-US" sz="1900">
                <a:cs typeface="Times New Roman" panose="02020603050405020304" pitchFamily="18" charset="0"/>
              </a:rPr>
              <a:t> CTLT </a:t>
            </a:r>
            <a:r>
              <a:rPr lang="en-US" altLang="en-US" sz="1900" err="1">
                <a:cs typeface="Times New Roman" panose="02020603050405020304" pitchFamily="18" charset="0"/>
              </a:rPr>
              <a:t>này</a:t>
            </a:r>
            <a:r>
              <a:rPr lang="en-US" altLang="en-US" sz="1900">
                <a:cs typeface="Times New Roman" panose="02020603050405020304" pitchFamily="18" charset="0"/>
              </a:rPr>
              <a:t> </a:t>
            </a:r>
            <a:r>
              <a:rPr lang="en-US" altLang="en-US" sz="1900" err="1">
                <a:cs typeface="Times New Roman" panose="02020603050405020304" pitchFamily="18" charset="0"/>
              </a:rPr>
              <a:t>được</a:t>
            </a:r>
            <a:r>
              <a:rPr lang="en-US" altLang="en-US" sz="1900">
                <a:cs typeface="Times New Roman" panose="02020603050405020304" pitchFamily="18" charset="0"/>
              </a:rPr>
              <a:t> </a:t>
            </a:r>
            <a:r>
              <a:rPr lang="en-US" altLang="en-US" sz="1900" err="1">
                <a:cs typeface="Times New Roman" panose="02020603050405020304" pitchFamily="18" charset="0"/>
              </a:rPr>
              <a:t>thực</a:t>
            </a:r>
            <a:r>
              <a:rPr lang="en-US" altLang="en-US" sz="1900">
                <a:cs typeface="Times New Roman" panose="02020603050405020304" pitchFamily="18" charset="0"/>
              </a:rPr>
              <a:t> </a:t>
            </a:r>
            <a:r>
              <a:rPr lang="en-US" altLang="en-US" sz="1900" err="1">
                <a:cs typeface="Times New Roman" panose="02020603050405020304" pitchFamily="18" charset="0"/>
              </a:rPr>
              <a:t>hiện</a:t>
            </a:r>
            <a:r>
              <a:rPr lang="en-US" altLang="en-US" sz="1900">
                <a:cs typeface="Times New Roman" panose="02020603050405020304" pitchFamily="18" charset="0"/>
              </a:rPr>
              <a:t> </a:t>
            </a:r>
            <a:r>
              <a:rPr lang="en-US" altLang="en-US" sz="1900" err="1">
                <a:cs typeface="Times New Roman" panose="02020603050405020304" pitchFamily="18" charset="0"/>
              </a:rPr>
              <a:t>đúng</a:t>
            </a:r>
            <a:r>
              <a:rPr lang="en-US" altLang="en-US" sz="1900">
                <a:cs typeface="Times New Roman" panose="02020603050405020304" pitchFamily="18" charset="0"/>
              </a:rPr>
              <a:t> </a:t>
            </a:r>
            <a:r>
              <a:rPr lang="en-US" altLang="en-US" sz="1900" err="1">
                <a:cs typeface="Times New Roman" panose="02020603050405020304" pitchFamily="18" charset="0"/>
              </a:rPr>
              <a:t>một</a:t>
            </a:r>
            <a:r>
              <a:rPr lang="en-US" altLang="en-US" sz="1900">
                <a:cs typeface="Times New Roman" panose="02020603050405020304" pitchFamily="18" charset="0"/>
              </a:rPr>
              <a:t> </a:t>
            </a:r>
            <a:r>
              <a:rPr lang="en-US" altLang="en-US" sz="1900" err="1">
                <a:cs typeface="Times New Roman" panose="02020603050405020304" pitchFamily="18" charset="0"/>
              </a:rPr>
              <a:t>lần</a:t>
            </a:r>
            <a:r>
              <a:rPr lang="en-US" altLang="en-US" sz="1900">
                <a:cs typeface="Times New Roman" panose="02020603050405020304" pitchFamily="18" charset="0"/>
              </a:rPr>
              <a:t>.  </a:t>
            </a:r>
            <a:endParaRPr lang="en-US" altLang="en-US" sz="1900">
              <a:latin typeface=".VnTime" pitchFamily="34" charset="0"/>
              <a:cs typeface="Times New Roman" panose="02020603050405020304" pitchFamily="18" charset="0"/>
            </a:endParaRPr>
          </a:p>
          <a:p>
            <a:pPr lvl="1" algn="just">
              <a:lnSpc>
                <a:spcPct val="90000"/>
              </a:lnSpc>
            </a:pPr>
            <a:r>
              <a:rPr lang="en-US" altLang="en-US" sz="2200" err="1">
                <a:cs typeface="Times New Roman" panose="02020603050405020304" pitchFamily="18" charset="0"/>
              </a:rPr>
              <a:t>Truy</a:t>
            </a:r>
            <a:r>
              <a:rPr lang="en-US" altLang="en-US" sz="2200">
                <a:cs typeface="Times New Roman" panose="02020603050405020304" pitchFamily="18" charset="0"/>
              </a:rPr>
              <a:t> </a:t>
            </a:r>
            <a:r>
              <a:rPr lang="en-US" altLang="en-US" sz="2200" err="1">
                <a:cs typeface="Times New Roman" panose="02020603050405020304" pitchFamily="18" charset="0"/>
              </a:rPr>
              <a:t>nhập</a:t>
            </a:r>
            <a:r>
              <a:rPr lang="en-US" altLang="en-US" sz="2200">
                <a:cs typeface="Times New Roman" panose="02020603050405020304" pitchFamily="18" charset="0"/>
              </a:rPr>
              <a:t> </a:t>
            </a:r>
            <a:r>
              <a:rPr lang="en-US" altLang="en-US" sz="2200" err="1">
                <a:cs typeface="Times New Roman" panose="02020603050405020304" pitchFamily="18" charset="0"/>
              </a:rPr>
              <a:t>vào</a:t>
            </a:r>
            <a:r>
              <a:rPr lang="en-US" altLang="en-US" sz="2200">
                <a:cs typeface="Times New Roman" panose="02020603050405020304" pitchFamily="18" charset="0"/>
              </a:rPr>
              <a:t> </a:t>
            </a:r>
            <a:r>
              <a:rPr lang="en-US" altLang="en-US" sz="2200" err="1">
                <a:cs typeface="Times New Roman" panose="02020603050405020304" pitchFamily="18" charset="0"/>
              </a:rPr>
              <a:t>các</a:t>
            </a:r>
            <a:r>
              <a:rPr lang="en-US" altLang="en-US" sz="2200">
                <a:cs typeface="Times New Roman" panose="02020603050405020304" pitchFamily="18" charset="0"/>
              </a:rPr>
              <a:t> </a:t>
            </a:r>
            <a:r>
              <a:rPr lang="en-US" altLang="en-US" sz="2200" err="1">
                <a:cs typeface="Times New Roman" panose="02020603050405020304" pitchFamily="18" charset="0"/>
              </a:rPr>
              <a:t>phần</a:t>
            </a:r>
            <a:r>
              <a:rPr lang="en-US" altLang="en-US" sz="2200">
                <a:cs typeface="Times New Roman" panose="02020603050405020304" pitchFamily="18" charset="0"/>
              </a:rPr>
              <a:t> </a:t>
            </a:r>
            <a:r>
              <a:rPr lang="en-US" altLang="en-US" sz="2200" err="1">
                <a:cs typeface="Times New Roman" panose="02020603050405020304" pitchFamily="18" charset="0"/>
              </a:rPr>
              <a:t>tử</a:t>
            </a:r>
            <a:r>
              <a:rPr lang="en-US" altLang="en-US" sz="2200">
                <a:cs typeface="Times New Roman" panose="02020603050405020304" pitchFamily="18" charset="0"/>
              </a:rPr>
              <a:t> </a:t>
            </a:r>
            <a:r>
              <a:rPr lang="en-US" altLang="en-US" sz="2200" err="1">
                <a:cs typeface="Times New Roman" panose="02020603050405020304" pitchFamily="18" charset="0"/>
              </a:rPr>
              <a:t>nhanh</a:t>
            </a:r>
            <a:r>
              <a:rPr lang="en-US" altLang="en-US" sz="2200">
                <a:cs typeface="Times New Roman" panose="02020603050405020304" pitchFamily="18" charset="0"/>
              </a:rPr>
              <a:t> </a:t>
            </a:r>
            <a:r>
              <a:rPr lang="en-US" altLang="en-US" sz="2200" err="1">
                <a:cs typeface="Times New Roman" panose="02020603050405020304" pitchFamily="18" charset="0"/>
              </a:rPr>
              <a:t>và</a:t>
            </a:r>
            <a:r>
              <a:rPr lang="en-US" altLang="en-US" sz="2200">
                <a:cs typeface="Times New Roman" panose="02020603050405020304" pitchFamily="18" charset="0"/>
              </a:rPr>
              <a:t> </a:t>
            </a:r>
            <a:r>
              <a:rPr lang="en-US" altLang="en-US" sz="2200" err="1">
                <a:cs typeface="Times New Roman" panose="02020603050405020304" pitchFamily="18" charset="0"/>
              </a:rPr>
              <a:t>đồng</a:t>
            </a:r>
            <a:r>
              <a:rPr lang="en-US" altLang="en-US" sz="2200">
                <a:cs typeface="Times New Roman" panose="02020603050405020304" pitchFamily="18" charset="0"/>
              </a:rPr>
              <a:t> </a:t>
            </a:r>
            <a:r>
              <a:rPr lang="en-US" altLang="en-US" sz="2200" err="1">
                <a:cs typeface="Times New Roman" panose="02020603050405020304" pitchFamily="18" charset="0"/>
              </a:rPr>
              <a:t>đều</a:t>
            </a:r>
            <a:r>
              <a:rPr lang="en-US" altLang="en-US" sz="2200">
                <a:cs typeface="Times New Roman" panose="02020603050405020304" pitchFamily="18" charset="0"/>
              </a:rPr>
              <a:t> (</a:t>
            </a:r>
            <a:r>
              <a:rPr lang="en-US" altLang="en-US" sz="2200" err="1">
                <a:cs typeface="Times New Roman" panose="02020603050405020304" pitchFamily="18" charset="0"/>
              </a:rPr>
              <a:t>truy</a:t>
            </a:r>
            <a:r>
              <a:rPr lang="en-US" altLang="en-US" sz="2200">
                <a:cs typeface="Times New Roman" panose="02020603050405020304" pitchFamily="18" charset="0"/>
              </a:rPr>
              <a:t> </a:t>
            </a:r>
            <a:r>
              <a:rPr lang="en-US" altLang="en-US" sz="2200" err="1">
                <a:cs typeface="Times New Roman" panose="02020603050405020304" pitchFamily="18" charset="0"/>
              </a:rPr>
              <a:t>nhập</a:t>
            </a:r>
            <a:r>
              <a:rPr lang="en-US" altLang="en-US" sz="2200">
                <a:cs typeface="Times New Roman" panose="02020603050405020304" pitchFamily="18" charset="0"/>
              </a:rPr>
              <a:t> </a:t>
            </a:r>
            <a:r>
              <a:rPr lang="en-US" altLang="en-US" sz="2200" err="1">
                <a:cs typeface="Times New Roman" panose="02020603050405020304" pitchFamily="18" charset="0"/>
              </a:rPr>
              <a:t>trực</a:t>
            </a:r>
            <a:r>
              <a:rPr lang="en-US" altLang="en-US" sz="2200">
                <a:cs typeface="Times New Roman" panose="02020603050405020304" pitchFamily="18" charset="0"/>
              </a:rPr>
              <a:t> </a:t>
            </a:r>
            <a:r>
              <a:rPr lang="en-US" altLang="en-US" sz="2200" err="1">
                <a:cs typeface="Times New Roman" panose="02020603050405020304" pitchFamily="18" charset="0"/>
              </a:rPr>
              <a:t>tiếp</a:t>
            </a:r>
            <a:r>
              <a:rPr lang="en-US" altLang="en-US" sz="2200">
                <a:cs typeface="Times New Roman" panose="02020603050405020304" pitchFamily="18" charset="0"/>
              </a:rPr>
              <a:t>) </a:t>
            </a:r>
          </a:p>
          <a:p>
            <a:pPr lvl="2" algn="just">
              <a:lnSpc>
                <a:spcPct val="90000"/>
              </a:lnSpc>
            </a:pPr>
            <a:r>
              <a:rPr lang="en-US" altLang="en-US" sz="1900" err="1">
                <a:cs typeface="Times New Roman" panose="02020603050405020304" pitchFamily="18" charset="0"/>
              </a:rPr>
              <a:t>Địa</a:t>
            </a:r>
            <a:r>
              <a:rPr lang="en-US" altLang="en-US" sz="1900">
                <a:cs typeface="Times New Roman" panose="02020603050405020304" pitchFamily="18" charset="0"/>
              </a:rPr>
              <a:t> </a:t>
            </a:r>
            <a:r>
              <a:rPr lang="en-US" altLang="en-US" sz="1900" err="1">
                <a:cs typeface="Times New Roman" panose="02020603050405020304" pitchFamily="18" charset="0"/>
              </a:rPr>
              <a:t>chỉ</a:t>
            </a:r>
            <a:r>
              <a:rPr lang="en-US" altLang="en-US" sz="1900">
                <a:cs typeface="Times New Roman" panose="02020603050405020304" pitchFamily="18" charset="0"/>
              </a:rPr>
              <a:t> </a:t>
            </a:r>
            <a:r>
              <a:rPr lang="en-US" altLang="en-US" sz="1900" err="1">
                <a:cs typeface="Times New Roman" panose="02020603050405020304" pitchFamily="18" charset="0"/>
              </a:rPr>
              <a:t>mỗi</a:t>
            </a:r>
            <a:r>
              <a:rPr lang="en-US" altLang="en-US" sz="1900">
                <a:cs typeface="Times New Roman" panose="02020603050405020304" pitchFamily="18" charset="0"/>
              </a:rPr>
              <a:t> </a:t>
            </a:r>
            <a:r>
              <a:rPr lang="en-US" altLang="en-US" sz="1900" err="1">
                <a:cs typeface="Times New Roman" panose="02020603050405020304" pitchFamily="18" charset="0"/>
              </a:rPr>
              <a:t>phần</a:t>
            </a:r>
            <a:r>
              <a:rPr lang="en-US" altLang="en-US" sz="1900">
                <a:cs typeface="Times New Roman" panose="02020603050405020304" pitchFamily="18" charset="0"/>
              </a:rPr>
              <a:t> </a:t>
            </a:r>
            <a:r>
              <a:rPr lang="en-US" altLang="en-US" sz="1900" err="1">
                <a:cs typeface="Times New Roman" panose="02020603050405020304" pitchFamily="18" charset="0"/>
              </a:rPr>
              <a:t>tử</a:t>
            </a:r>
            <a:r>
              <a:rPr lang="en-US" altLang="en-US" sz="1900">
                <a:cs typeface="Times New Roman" panose="02020603050405020304" pitchFamily="18" charset="0"/>
              </a:rPr>
              <a:t> </a:t>
            </a:r>
            <a:r>
              <a:rPr lang="en-US" altLang="en-US" sz="1900" err="1">
                <a:cs typeface="Times New Roman" panose="02020603050405020304" pitchFamily="18" charset="0"/>
              </a:rPr>
              <a:t>có</a:t>
            </a:r>
            <a:r>
              <a:rPr lang="en-US" altLang="en-US" sz="1900">
                <a:cs typeface="Times New Roman" panose="02020603050405020304" pitchFamily="18" charset="0"/>
              </a:rPr>
              <a:t> </a:t>
            </a:r>
            <a:r>
              <a:rPr lang="en-US" altLang="en-US" sz="1900" err="1">
                <a:cs typeface="Times New Roman" panose="02020603050405020304" pitchFamily="18" charset="0"/>
              </a:rPr>
              <a:t>thể</a:t>
            </a:r>
            <a:r>
              <a:rPr lang="en-US" altLang="en-US" sz="1900">
                <a:cs typeface="Times New Roman" panose="02020603050405020304" pitchFamily="18" charset="0"/>
              </a:rPr>
              <a:t> </a:t>
            </a:r>
            <a:r>
              <a:rPr lang="en-US" altLang="en-US" sz="1900" err="1">
                <a:cs typeface="Times New Roman" panose="02020603050405020304" pitchFamily="18" charset="0"/>
              </a:rPr>
              <a:t>tính</a:t>
            </a:r>
            <a:r>
              <a:rPr lang="en-US" altLang="en-US" sz="1900">
                <a:cs typeface="Times New Roman" panose="02020603050405020304" pitchFamily="18" charset="0"/>
              </a:rPr>
              <a:t> </a:t>
            </a:r>
            <a:r>
              <a:rPr lang="en-US" altLang="en-US" sz="1900" err="1">
                <a:cs typeface="Times New Roman" panose="02020603050405020304" pitchFamily="18" charset="0"/>
              </a:rPr>
              <a:t>trực</a:t>
            </a:r>
            <a:r>
              <a:rPr lang="en-US" altLang="en-US" sz="1900">
                <a:cs typeface="Times New Roman" panose="02020603050405020304" pitchFamily="18" charset="0"/>
              </a:rPr>
              <a:t> </a:t>
            </a:r>
            <a:r>
              <a:rPr lang="en-US" altLang="en-US" sz="1900" err="1">
                <a:cs typeface="Times New Roman" panose="02020603050405020304" pitchFamily="18" charset="0"/>
              </a:rPr>
              <a:t>tiếp</a:t>
            </a:r>
            <a:r>
              <a:rPr lang="en-US" altLang="en-US" sz="1900">
                <a:cs typeface="Times New Roman" panose="02020603050405020304" pitchFamily="18" charset="0"/>
              </a:rPr>
              <a:t> </a:t>
            </a:r>
          </a:p>
          <a:p>
            <a:pPr lvl="1">
              <a:lnSpc>
                <a:spcPct val="90000"/>
              </a:lnSpc>
            </a:pPr>
            <a:endParaRPr lang="en-US" altLang="en-US" sz="2200"/>
          </a:p>
          <a:p>
            <a:pPr lvl="1">
              <a:lnSpc>
                <a:spcPct val="90000"/>
              </a:lnSpc>
            </a:pPr>
            <a:r>
              <a:rPr lang="en-US" altLang="en-US" sz="2200"/>
              <a:t>=&gt; </a:t>
            </a:r>
            <a:r>
              <a:rPr lang="en-US" altLang="en-US" sz="2200" err="1"/>
              <a:t>Là</a:t>
            </a:r>
            <a:r>
              <a:rPr lang="en-US" altLang="en-US" sz="2200"/>
              <a:t> </a:t>
            </a:r>
            <a:r>
              <a:rPr lang="vi-VN" altLang="en-US" sz="2200"/>
              <a:t>cấu trúc lưu trữ (CTLT) cơ bản nhất được hỗ trợ trong các</a:t>
            </a:r>
            <a:r>
              <a:rPr lang="en-US" altLang="en-US" sz="2200"/>
              <a:t> </a:t>
            </a:r>
            <a:r>
              <a:rPr lang="vi-VN" altLang="en-US" sz="2200"/>
              <a:t>môi trường lập trình để cài đặt cho cấu trúc mảng</a:t>
            </a:r>
            <a:endParaRPr lang="en-US" altLang="en-US" sz="2200"/>
          </a:p>
          <a:p>
            <a:pPr lvl="1">
              <a:lnSpc>
                <a:spcPct val="90000"/>
              </a:lnSpc>
            </a:pPr>
            <a:endParaRPr lang="en-US" altLang="en-US" sz="2200">
              <a:cs typeface="Times New Roman" panose="02020603050405020304" pitchFamily="18" charset="0"/>
            </a:endParaRPr>
          </a:p>
        </p:txBody>
      </p:sp>
    </p:spTree>
    <p:extLst>
      <p:ext uri="{BB962C8B-B14F-4D97-AF65-F5344CB8AC3E}">
        <p14:creationId xmlns:p14="http://schemas.microsoft.com/office/powerpoint/2010/main" val="399793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6454423-AD0B-402A-96CB-4CE817DB9DAC}" type="slidenum">
              <a:rPr lang="en-US" altLang="en-US"/>
              <a:pPr/>
              <a:t>14</a:t>
            </a:fld>
            <a:endParaRPr lang="en-US" altLang="en-US"/>
          </a:p>
        </p:txBody>
      </p:sp>
      <p:sp>
        <p:nvSpPr>
          <p:cNvPr id="19458" name="Rectangle 2"/>
          <p:cNvSpPr>
            <a:spLocks noGrp="1" noChangeArrowheads="1"/>
          </p:cNvSpPr>
          <p:nvPr>
            <p:ph type="title"/>
          </p:nvPr>
        </p:nvSpPr>
        <p:spPr/>
        <p:txBody>
          <a:bodyPr vert="horz" lIns="91440" tIns="45720" rIns="91440" bIns="45720" rtlCol="0" anchor="ctr">
            <a:normAutofit/>
          </a:bodyPr>
          <a:lstStyle/>
          <a:p>
            <a:r>
              <a:rPr lang="en-US" altLang="en-US"/>
              <a:t>1.3. </a:t>
            </a:r>
            <a:r>
              <a:rPr lang="en-US" altLang="en-US" err="1"/>
              <a:t>Cài</a:t>
            </a:r>
            <a:r>
              <a:rPr lang="en-US" altLang="en-US"/>
              <a:t> </a:t>
            </a:r>
            <a:r>
              <a:rPr lang="en-US" altLang="en-US" err="1"/>
              <a:t>đặt</a:t>
            </a:r>
            <a:r>
              <a:rPr lang="en-US" altLang="en-US"/>
              <a:t> </a:t>
            </a:r>
            <a:r>
              <a:rPr lang="en-US" altLang="en-US" err="1"/>
              <a:t>mảng</a:t>
            </a:r>
            <a:r>
              <a:rPr lang="en-US" altLang="en-US"/>
              <a:t> </a:t>
            </a:r>
            <a:r>
              <a:rPr lang="en-US" altLang="en-US" err="1"/>
              <a:t>bằng</a:t>
            </a:r>
            <a:r>
              <a:rPr lang="en-US" altLang="en-US"/>
              <a:t> CTLT </a:t>
            </a:r>
            <a:r>
              <a:rPr lang="en-US" altLang="en-US" err="1"/>
              <a:t>tuần</a:t>
            </a:r>
            <a:r>
              <a:rPr lang="en-US" altLang="en-US"/>
              <a:t> </a:t>
            </a:r>
            <a:r>
              <a:rPr lang="en-US" altLang="en-US" err="1"/>
              <a:t>tự</a:t>
            </a:r>
            <a:endParaRPr lang="en-US" altLang="en-US"/>
          </a:p>
        </p:txBody>
      </p:sp>
      <p:sp>
        <p:nvSpPr>
          <p:cNvPr id="19459" name="Rectangle 3"/>
          <p:cNvSpPr>
            <a:spLocks noGrp="1" noChangeArrowheads="1"/>
          </p:cNvSpPr>
          <p:nvPr>
            <p:ph type="body" sz="quarter" idx="13"/>
          </p:nvPr>
        </p:nvSpPr>
        <p:spPr/>
        <p:txBody>
          <a:bodyPr/>
          <a:lstStyle/>
          <a:p>
            <a:r>
              <a:rPr lang="en-US" altLang="en-US" sz="2600">
                <a:cs typeface="Times New Roman" panose="02020603050405020304" pitchFamily="18" charset="0"/>
              </a:rPr>
              <a:t>2 </a:t>
            </a:r>
            <a:r>
              <a:rPr lang="en-US" altLang="en-US" sz="2600" err="1">
                <a:cs typeface="Times New Roman" panose="02020603050405020304" pitchFamily="18" charset="0"/>
              </a:rPr>
              <a:t>bước</a:t>
            </a:r>
            <a:r>
              <a:rPr lang="en-US" altLang="en-US" sz="2600">
                <a:cs typeface="Times New Roman" panose="02020603050405020304" pitchFamily="18" charset="0"/>
              </a:rPr>
              <a:t>:</a:t>
            </a:r>
          </a:p>
          <a:p>
            <a:pPr lvl="1"/>
            <a:r>
              <a:rPr lang="vi-VN" altLang="en-US" sz="2400">
                <a:cs typeface="Times New Roman" panose="02020603050405020304" pitchFamily="18" charset="0"/>
              </a:rPr>
              <a:t>Xác định các đặc trưng của CTLT: </a:t>
            </a:r>
            <a:endParaRPr lang="en-US" altLang="en-US" sz="2400">
              <a:cs typeface="Times New Roman" panose="02020603050405020304" pitchFamily="18" charset="0"/>
            </a:endParaRPr>
          </a:p>
          <a:p>
            <a:pPr lvl="2"/>
            <a:r>
              <a:rPr lang="en-US" altLang="en-US" sz="2000">
                <a:cs typeface="Times New Roman" panose="02020603050405020304" pitchFamily="18" charset="0"/>
              </a:rPr>
              <a:t>D</a:t>
            </a:r>
            <a:r>
              <a:rPr lang="vi-VN" altLang="en-US" sz="2000">
                <a:cs typeface="Times New Roman" panose="02020603050405020304" pitchFamily="18" charset="0"/>
              </a:rPr>
              <a:t>ựa vào các đặc điểm của cấu trúc mảng cần</a:t>
            </a:r>
            <a:r>
              <a:rPr lang="en-US" altLang="en-US" sz="2000">
                <a:cs typeface="Times New Roman" panose="02020603050405020304" pitchFamily="18" charset="0"/>
              </a:rPr>
              <a:t> </a:t>
            </a:r>
            <a:r>
              <a:rPr lang="vi-VN" altLang="en-US" sz="2000">
                <a:cs typeface="Times New Roman" panose="02020603050405020304" pitchFamily="18" charset="0"/>
              </a:rPr>
              <a:t>cài đặt, xác định đủ kích thước của CTLT để có thể lưu trữ đủ toàn bộ</a:t>
            </a:r>
            <a:r>
              <a:rPr lang="en-US" altLang="en-US" sz="2000">
                <a:cs typeface="Times New Roman" panose="02020603050405020304" pitchFamily="18" charset="0"/>
              </a:rPr>
              <a:t> </a:t>
            </a:r>
            <a:r>
              <a:rPr lang="vi-VN" altLang="en-US" sz="2000">
                <a:cs typeface="Times New Roman" panose="02020603050405020304" pitchFamily="18" charset="0"/>
              </a:rPr>
              <a:t>các phần tử của mảng.</a:t>
            </a:r>
          </a:p>
          <a:p>
            <a:pPr lvl="1"/>
            <a:r>
              <a:rPr lang="vi-VN" altLang="en-US" sz="2400">
                <a:cs typeface="Times New Roman" panose="02020603050405020304" pitchFamily="18" charset="0"/>
              </a:rPr>
              <a:t>Bố trí hợp lý các phần tử của mảng vào CTLT: </a:t>
            </a:r>
            <a:endParaRPr lang="en-US" altLang="en-US" sz="2400">
              <a:cs typeface="Times New Roman" panose="02020603050405020304" pitchFamily="18" charset="0"/>
            </a:endParaRPr>
          </a:p>
          <a:p>
            <a:pPr lvl="2"/>
            <a:r>
              <a:rPr lang="vi-VN" altLang="en-US" sz="2000">
                <a:cs typeface="Times New Roman" panose="02020603050405020304" pitchFamily="18" charset="0"/>
              </a:rPr>
              <a:t>Có nhiều cách bố trí </a:t>
            </a:r>
            <a:endParaRPr lang="en-US" altLang="en-US" sz="2000">
              <a:cs typeface="Times New Roman" panose="02020603050405020304" pitchFamily="18" charset="0"/>
            </a:endParaRPr>
          </a:p>
          <a:p>
            <a:pPr lvl="2"/>
            <a:r>
              <a:rPr lang="en-US" altLang="en-US" sz="2000">
                <a:cs typeface="Times New Roman" panose="02020603050405020304" pitchFamily="18" charset="0"/>
              </a:rPr>
              <a:t>C</a:t>
            </a:r>
            <a:r>
              <a:rPr lang="vi-VN" altLang="en-US" sz="2000">
                <a:cs typeface="Times New Roman" panose="02020603050405020304" pitchFamily="18" charset="0"/>
              </a:rPr>
              <a:t>ần chọn ra cách bố trí </a:t>
            </a:r>
            <a:r>
              <a:rPr lang="en-US" altLang="en-US" sz="2000" err="1">
                <a:cs typeface="Times New Roman" panose="02020603050405020304" pitchFamily="18" charset="0"/>
              </a:rPr>
              <a:t>giúp</a:t>
            </a:r>
            <a:r>
              <a:rPr lang="en-US" altLang="en-US" sz="2000">
                <a:cs typeface="Times New Roman" panose="02020603050405020304" pitchFamily="18" charset="0"/>
              </a:rPr>
              <a:t> </a:t>
            </a:r>
            <a:r>
              <a:rPr lang="vi-VN" altLang="en-US" sz="2000">
                <a:cs typeface="Times New Roman" panose="02020603050405020304" pitchFamily="18" charset="0"/>
              </a:rPr>
              <a:t>thao</a:t>
            </a:r>
            <a:r>
              <a:rPr lang="en-US" altLang="en-US" sz="2000">
                <a:cs typeface="Times New Roman" panose="02020603050405020304" pitchFamily="18" charset="0"/>
              </a:rPr>
              <a:t> </a:t>
            </a:r>
            <a:r>
              <a:rPr lang="vi-VN" altLang="en-US" sz="2000">
                <a:cs typeface="Times New Roman" panose="02020603050405020304" pitchFamily="18" charset="0"/>
              </a:rPr>
              <a:t>tác truy nhập vào các phần tử là nhanh nhất và dễ dùng nhất cho người dùng.</a:t>
            </a:r>
            <a:endParaRPr lang="en-US" altLang="en-US" sz="2000">
              <a:cs typeface="Times New Roman" panose="02020603050405020304" pitchFamily="18" charset="0"/>
            </a:endParaRPr>
          </a:p>
        </p:txBody>
      </p:sp>
    </p:spTree>
    <p:extLst>
      <p:ext uri="{BB962C8B-B14F-4D97-AF65-F5344CB8AC3E}">
        <p14:creationId xmlns:p14="http://schemas.microsoft.com/office/powerpoint/2010/main" val="36264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6454423-AD0B-402A-96CB-4CE817DB9DAC}" type="slidenum">
              <a:rPr lang="en-US" altLang="en-US"/>
              <a:pPr/>
              <a:t>15</a:t>
            </a:fld>
            <a:endParaRPr lang="en-US" altLang="en-US"/>
          </a:p>
        </p:txBody>
      </p:sp>
      <p:sp>
        <p:nvSpPr>
          <p:cNvPr id="19458" name="Rectangle 2"/>
          <p:cNvSpPr>
            <a:spLocks noGrp="1" noChangeArrowheads="1"/>
          </p:cNvSpPr>
          <p:nvPr>
            <p:ph type="title"/>
          </p:nvPr>
        </p:nvSpPr>
        <p:spPr/>
        <p:txBody>
          <a:bodyPr vert="horz" lIns="91440" tIns="45720" rIns="91440" bIns="45720" rtlCol="0" anchor="ctr">
            <a:normAutofit/>
          </a:bodyPr>
          <a:lstStyle/>
          <a:p>
            <a:r>
              <a:rPr lang="en-US" altLang="en-US"/>
              <a:t>1.3. </a:t>
            </a:r>
            <a:r>
              <a:rPr lang="en-US" altLang="en-US" err="1"/>
              <a:t>Cài</a:t>
            </a:r>
            <a:r>
              <a:rPr lang="en-US" altLang="en-US"/>
              <a:t> </a:t>
            </a:r>
            <a:r>
              <a:rPr lang="en-US" altLang="en-US" err="1"/>
              <a:t>đặt</a:t>
            </a:r>
            <a:r>
              <a:rPr lang="en-US" altLang="en-US"/>
              <a:t> </a:t>
            </a:r>
            <a:r>
              <a:rPr lang="en-US" altLang="en-US" err="1"/>
              <a:t>mảng</a:t>
            </a:r>
            <a:r>
              <a:rPr lang="en-US" altLang="en-US"/>
              <a:t> </a:t>
            </a:r>
            <a:r>
              <a:rPr lang="en-US" altLang="en-US" err="1"/>
              <a:t>bằng</a:t>
            </a:r>
            <a:r>
              <a:rPr lang="en-US" altLang="en-US"/>
              <a:t> CTLT </a:t>
            </a:r>
            <a:r>
              <a:rPr lang="en-US" altLang="en-US" err="1"/>
              <a:t>tuần</a:t>
            </a:r>
            <a:r>
              <a:rPr lang="en-US" altLang="en-US"/>
              <a:t> </a:t>
            </a:r>
            <a:r>
              <a:rPr lang="en-US" altLang="en-US" err="1"/>
              <a:t>tự</a:t>
            </a:r>
            <a:endParaRPr lang="en-US" altLang="en-US"/>
          </a:p>
        </p:txBody>
      </p:sp>
      <p:sp>
        <p:nvSpPr>
          <p:cNvPr id="19459" name="Rectangle 3"/>
          <p:cNvSpPr>
            <a:spLocks noGrp="1" noChangeArrowheads="1"/>
          </p:cNvSpPr>
          <p:nvPr>
            <p:ph type="body" sz="quarter" idx="13"/>
          </p:nvPr>
        </p:nvSpPr>
        <p:spPr/>
        <p:txBody>
          <a:bodyPr/>
          <a:lstStyle/>
          <a:p>
            <a:r>
              <a:rPr lang="en-US" altLang="en-US" sz="2600" err="1">
                <a:cs typeface="Times New Roman" panose="02020603050405020304" pitchFamily="18" charset="0"/>
              </a:rPr>
              <a:t>Cài</a:t>
            </a:r>
            <a:r>
              <a:rPr lang="en-US" altLang="en-US" sz="2600">
                <a:cs typeface="Times New Roman" panose="02020603050405020304" pitchFamily="18" charset="0"/>
              </a:rPr>
              <a:t> </a:t>
            </a:r>
            <a:r>
              <a:rPr lang="en-US" altLang="en-US" sz="2600" err="1">
                <a:cs typeface="Times New Roman" panose="02020603050405020304" pitchFamily="18" charset="0"/>
              </a:rPr>
              <a:t>đặt</a:t>
            </a:r>
            <a:r>
              <a:rPr lang="en-US" altLang="en-US" sz="2600">
                <a:cs typeface="Times New Roman" panose="02020603050405020304" pitchFamily="18" charset="0"/>
              </a:rPr>
              <a:t> </a:t>
            </a:r>
            <a:r>
              <a:rPr lang="en-US" altLang="en-US" sz="2600" err="1">
                <a:cs typeface="Times New Roman" panose="02020603050405020304" pitchFamily="18" charset="0"/>
              </a:rPr>
              <a:t>mảng</a:t>
            </a:r>
            <a:r>
              <a:rPr lang="en-US" altLang="en-US" sz="2600">
                <a:cs typeface="Times New Roman" panose="02020603050405020304" pitchFamily="18" charset="0"/>
              </a:rPr>
              <a:t> </a:t>
            </a:r>
            <a:r>
              <a:rPr lang="en-US" altLang="en-US" sz="2600" err="1">
                <a:cs typeface="Times New Roman" panose="02020603050405020304" pitchFamily="18" charset="0"/>
              </a:rPr>
              <a:t>một</a:t>
            </a:r>
            <a:r>
              <a:rPr lang="en-US" altLang="en-US" sz="2600">
                <a:cs typeface="Times New Roman" panose="02020603050405020304" pitchFamily="18" charset="0"/>
              </a:rPr>
              <a:t> </a:t>
            </a:r>
            <a:r>
              <a:rPr lang="en-US" altLang="en-US" sz="2600" err="1">
                <a:cs typeface="Times New Roman" panose="02020603050405020304" pitchFamily="18" charset="0"/>
              </a:rPr>
              <a:t>chiều</a:t>
            </a:r>
            <a:r>
              <a:rPr lang="en-US" altLang="en-US" sz="2600">
                <a:cs typeface="Times New Roman" panose="02020603050405020304" pitchFamily="18" charset="0"/>
              </a:rPr>
              <a:t>: </a:t>
            </a:r>
          </a:p>
          <a:p>
            <a:pPr lvl="1"/>
            <a:r>
              <a:rPr lang="en-US" altLang="en-US" sz="2200">
                <a:latin typeface="Courier New" panose="02070309020205020404" pitchFamily="49" charset="0"/>
                <a:cs typeface="Courier New" panose="02070309020205020404" pitchFamily="49" charset="0"/>
              </a:rPr>
              <a:t>ARRAY : a</a:t>
            </a:r>
            <a:r>
              <a:rPr lang="en-US" altLang="en-US" sz="2200" baseline="-30000">
                <a:latin typeface="Courier New" panose="02070309020205020404" pitchFamily="49" charset="0"/>
                <a:cs typeface="Courier New" panose="02070309020205020404" pitchFamily="49" charset="0"/>
              </a:rPr>
              <a:t>1</a:t>
            </a:r>
            <a:r>
              <a:rPr lang="en-US" altLang="en-US" sz="2200">
                <a:latin typeface="Courier New" panose="02070309020205020404" pitchFamily="49" charset="0"/>
                <a:cs typeface="Courier New" panose="02070309020205020404" pitchFamily="49" charset="0"/>
              </a:rPr>
              <a:t>[1, N] OF </a:t>
            </a:r>
            <a:r>
              <a:rPr lang="en-US" altLang="en-US" sz="2200" i="1">
                <a:latin typeface="Courier New" panose="02070309020205020404" pitchFamily="49" charset="0"/>
                <a:cs typeface="Courier New" panose="02070309020205020404" pitchFamily="49" charset="0"/>
              </a:rPr>
              <a:t>datatype</a:t>
            </a:r>
            <a:r>
              <a:rPr lang="en-US" altLang="en-US" sz="2200">
                <a:latin typeface="Courier New" panose="02070309020205020404" pitchFamily="49" charset="0"/>
                <a:cs typeface="Courier New" panose="02070309020205020404" pitchFamily="49" charset="0"/>
              </a:rPr>
              <a:t> ; </a:t>
            </a:r>
          </a:p>
          <a:p>
            <a:pPr lvl="1" algn="just"/>
            <a:r>
              <a:rPr lang="vi-VN" altLang="en-US" sz="2200">
                <a:cs typeface="Times New Roman" panose="02020603050405020304" pitchFamily="18" charset="0"/>
              </a:rPr>
              <a:t>Bướ</a:t>
            </a:r>
            <a:r>
              <a:rPr lang="en-US" altLang="en-US" sz="2200">
                <a:cs typeface="Times New Roman" panose="02020603050405020304" pitchFamily="18" charset="0"/>
              </a:rPr>
              <a:t>c 1: </a:t>
            </a:r>
            <a:r>
              <a:rPr lang="en-US" altLang="en-US" sz="2200" err="1">
                <a:cs typeface="Times New Roman" panose="02020603050405020304" pitchFamily="18" charset="0"/>
              </a:rPr>
              <a:t>xác</a:t>
            </a:r>
            <a:r>
              <a:rPr lang="en-US" altLang="en-US" sz="2200">
                <a:cs typeface="Times New Roman" panose="02020603050405020304" pitchFamily="18" charset="0"/>
              </a:rPr>
              <a:t> </a:t>
            </a:r>
            <a:r>
              <a:rPr lang="en-US" altLang="en-US" sz="2200" err="1">
                <a:cs typeface="Times New Roman" panose="02020603050405020304" pitchFamily="18" charset="0"/>
              </a:rPr>
              <a:t>định</a:t>
            </a:r>
            <a:r>
              <a:rPr lang="en-US" altLang="en-US" sz="2200">
                <a:cs typeface="Times New Roman" panose="02020603050405020304" pitchFamily="18" charset="0"/>
              </a:rPr>
              <a:t> </a:t>
            </a:r>
            <a:r>
              <a:rPr lang="en-US" altLang="en-US" sz="2200" err="1">
                <a:cs typeface="Times New Roman" panose="02020603050405020304" pitchFamily="18" charset="0"/>
              </a:rPr>
              <a:t>các</a:t>
            </a:r>
            <a:r>
              <a:rPr lang="en-US" altLang="en-US" sz="2200">
                <a:cs typeface="Times New Roman" panose="02020603050405020304" pitchFamily="18" charset="0"/>
              </a:rPr>
              <a:t> </a:t>
            </a:r>
            <a:r>
              <a:rPr lang="en-US" altLang="en-US" sz="2200" err="1">
                <a:cs typeface="Times New Roman" panose="02020603050405020304" pitchFamily="18" charset="0"/>
              </a:rPr>
              <a:t>đặc</a:t>
            </a:r>
            <a:r>
              <a:rPr lang="en-US" altLang="en-US" sz="2200">
                <a:cs typeface="Times New Roman" panose="02020603050405020304" pitchFamily="18" charset="0"/>
              </a:rPr>
              <a:t> </a:t>
            </a:r>
            <a:r>
              <a:rPr lang="en-US" altLang="en-US" sz="2200" err="1">
                <a:cs typeface="Times New Roman" panose="02020603050405020304" pitchFamily="18" charset="0"/>
              </a:rPr>
              <a:t>trưng</a:t>
            </a:r>
            <a:r>
              <a:rPr lang="en-US" altLang="en-US" sz="2200">
                <a:cs typeface="Times New Roman" panose="02020603050405020304" pitchFamily="18" charset="0"/>
              </a:rPr>
              <a:t> </a:t>
            </a:r>
            <a:r>
              <a:rPr lang="en-US" altLang="en-US" sz="2200" err="1">
                <a:cs typeface="Times New Roman" panose="02020603050405020304" pitchFamily="18" charset="0"/>
              </a:rPr>
              <a:t>của</a:t>
            </a:r>
            <a:r>
              <a:rPr lang="en-US" altLang="en-US" sz="2200">
                <a:cs typeface="Times New Roman" panose="02020603050405020304" pitchFamily="18" charset="0"/>
              </a:rPr>
              <a:t> </a:t>
            </a:r>
            <a:r>
              <a:rPr lang="en-US" altLang="en-US" sz="2200" err="1">
                <a:cs typeface="Times New Roman" panose="02020603050405020304" pitchFamily="18" charset="0"/>
              </a:rPr>
              <a:t>cấu</a:t>
            </a:r>
            <a:r>
              <a:rPr lang="en-US" altLang="en-US" sz="2200">
                <a:cs typeface="Times New Roman" panose="02020603050405020304" pitchFamily="18" charset="0"/>
              </a:rPr>
              <a:t> </a:t>
            </a:r>
            <a:r>
              <a:rPr lang="en-US" altLang="en-US" sz="2200" err="1">
                <a:cs typeface="Times New Roman" panose="02020603050405020304" pitchFamily="18" charset="0"/>
              </a:rPr>
              <a:t>trúc</a:t>
            </a:r>
            <a:r>
              <a:rPr lang="en-US" altLang="en-US" sz="2200">
                <a:cs typeface="Times New Roman" panose="02020603050405020304" pitchFamily="18" charset="0"/>
              </a:rPr>
              <a:t> </a:t>
            </a:r>
            <a:r>
              <a:rPr lang="en-US" altLang="en-US" sz="2200" err="1">
                <a:cs typeface="Times New Roman" panose="02020603050405020304" pitchFamily="18" charset="0"/>
              </a:rPr>
              <a:t>lưu</a:t>
            </a:r>
            <a:r>
              <a:rPr lang="en-US" altLang="en-US" sz="2200">
                <a:cs typeface="Times New Roman" panose="02020603050405020304" pitchFamily="18" charset="0"/>
              </a:rPr>
              <a:t> </a:t>
            </a:r>
            <a:r>
              <a:rPr lang="en-US" altLang="en-US" sz="2200" err="1">
                <a:cs typeface="Times New Roman" panose="02020603050405020304" pitchFamily="18" charset="0"/>
              </a:rPr>
              <a:t>trữ</a:t>
            </a:r>
            <a:r>
              <a:rPr lang="en-US" altLang="en-US" sz="2200">
                <a:cs typeface="Times New Roman" panose="02020603050405020304" pitchFamily="18" charset="0"/>
              </a:rPr>
              <a:t>:</a:t>
            </a:r>
            <a:endParaRPr lang="en-US" altLang="en-US" sz="2200">
              <a:latin typeface=".VnTime" pitchFamily="34" charset="0"/>
              <a:cs typeface="Times New Roman" panose="02020603050405020304" pitchFamily="18" charset="0"/>
            </a:endParaRPr>
          </a:p>
          <a:p>
            <a:pPr lvl="2" algn="just">
              <a:lnSpc>
                <a:spcPct val="115000"/>
              </a:lnSpc>
            </a:pPr>
            <a:r>
              <a:rPr lang="en-US" altLang="en-US" sz="2000" err="1">
                <a:cs typeface="Times New Roman" panose="02020603050405020304" pitchFamily="18" charset="0"/>
              </a:rPr>
              <a:t>Số</a:t>
            </a:r>
            <a:r>
              <a:rPr lang="en-US" altLang="en-US" sz="2000">
                <a:cs typeface="Times New Roman" panose="02020603050405020304" pitchFamily="18" charset="0"/>
              </a:rPr>
              <a:t> ô </a:t>
            </a:r>
            <a:r>
              <a:rPr lang="en-US" altLang="en-US" sz="2000" err="1">
                <a:cs typeface="Times New Roman" panose="02020603050405020304" pitchFamily="18" charset="0"/>
              </a:rPr>
              <a:t>nhớ</a:t>
            </a:r>
            <a:r>
              <a:rPr lang="en-US" altLang="en-US" sz="2000">
                <a:cs typeface="Times New Roman" panose="02020603050405020304" pitchFamily="18" charset="0"/>
              </a:rPr>
              <a:t> = N = </a:t>
            </a:r>
            <a:r>
              <a:rPr lang="en-US" altLang="en-US" sz="2000" err="1">
                <a:cs typeface="Times New Roman" panose="02020603050405020304" pitchFamily="18" charset="0"/>
              </a:rPr>
              <a:t>số</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endParaRPr lang="en-US" altLang="en-US" sz="2000">
              <a:latin typeface=".VnTime" pitchFamily="34" charset="0"/>
              <a:cs typeface="Times New Roman" panose="02020603050405020304" pitchFamily="18" charset="0"/>
            </a:endParaRPr>
          </a:p>
          <a:p>
            <a:pPr lvl="2">
              <a:lnSpc>
                <a:spcPct val="115000"/>
              </a:lnSpc>
            </a:pP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mỗi</a:t>
            </a:r>
            <a:r>
              <a:rPr lang="en-US" altLang="en-US" sz="2000">
                <a:cs typeface="Times New Roman" panose="02020603050405020304" pitchFamily="18" charset="0"/>
              </a:rPr>
              <a:t> ô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i="1">
                <a:cs typeface="Times New Roman" panose="02020603050405020304" pitchFamily="18" charset="0"/>
              </a:rPr>
              <a:t>c</a:t>
            </a:r>
            <a:r>
              <a:rPr lang="en-US" altLang="en-US" sz="2000">
                <a:cs typeface="Times New Roman" panose="02020603050405020304" pitchFamily="18" charset="0"/>
              </a:rPr>
              <a:t> =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kiểu</a:t>
            </a:r>
            <a:r>
              <a:rPr lang="en-US" altLang="en-US" sz="2000">
                <a:cs typeface="Times New Roman" panose="02020603050405020304" pitchFamily="18" charset="0"/>
              </a:rPr>
              <a:t> </a:t>
            </a:r>
            <a:r>
              <a:rPr lang="en-US" altLang="en-US" sz="2000" err="1">
                <a:cs typeface="Times New Roman" panose="02020603050405020304" pitchFamily="18" charset="0"/>
              </a:rPr>
              <a:t>dữ</a:t>
            </a:r>
            <a:r>
              <a:rPr lang="en-US" altLang="en-US" sz="2000">
                <a:cs typeface="Times New Roman" panose="02020603050405020304" pitchFamily="18" charset="0"/>
              </a:rPr>
              <a:t> </a:t>
            </a:r>
            <a:r>
              <a:rPr lang="en-US" altLang="en-US" sz="2000" err="1">
                <a:cs typeface="Times New Roman" panose="02020603050405020304" pitchFamily="18" charset="0"/>
              </a:rPr>
              <a:t>liệu</a:t>
            </a:r>
            <a:r>
              <a:rPr lang="en-US" altLang="en-US" sz="2000">
                <a:cs typeface="Times New Roman" panose="02020603050405020304" pitchFamily="18" charset="0"/>
              </a:rPr>
              <a:t> </a:t>
            </a:r>
            <a:r>
              <a:rPr lang="en-US" altLang="en-US" sz="2000" i="1">
                <a:cs typeface="Times New Roman" panose="02020603050405020304" pitchFamily="18" charset="0"/>
              </a:rPr>
              <a:t>datatype</a:t>
            </a:r>
            <a:r>
              <a:rPr lang="en-US" altLang="en-US" sz="2000">
                <a:cs typeface="Times New Roman" panose="02020603050405020304" pitchFamily="18" charset="0"/>
              </a:rPr>
              <a:t> </a:t>
            </a:r>
          </a:p>
          <a:p>
            <a:pPr lvl="2">
              <a:lnSpc>
                <a:spcPct val="115000"/>
              </a:lnSpc>
            </a:pPr>
            <a:r>
              <a:rPr lang="en-US" altLang="en-US" sz="2000" err="1">
                <a:cs typeface="Times New Roman" panose="02020603050405020304" pitchFamily="18" charset="0"/>
              </a:rPr>
              <a:t>Cần</a:t>
            </a:r>
            <a:r>
              <a:rPr lang="en-US" altLang="en-US" sz="2000">
                <a:cs typeface="Times New Roman" panose="02020603050405020304" pitchFamily="18" charset="0"/>
              </a:rPr>
              <a:t> </a:t>
            </a:r>
            <a:r>
              <a:rPr lang="en-US" altLang="en-US" sz="2000" err="1">
                <a:cs typeface="Times New Roman" panose="02020603050405020304" pitchFamily="18" charset="0"/>
              </a:rPr>
              <a:t>dành</a:t>
            </a:r>
            <a:r>
              <a:rPr lang="en-US" altLang="en-US" sz="2000">
                <a:cs typeface="Times New Roman" panose="02020603050405020304" pitchFamily="18" charset="0"/>
              </a:rPr>
              <a:t> </a:t>
            </a:r>
            <a:r>
              <a:rPr lang="en-US" altLang="en-US" sz="2000" err="1">
                <a:cs typeface="Times New Roman" panose="02020603050405020304" pitchFamily="18" charset="0"/>
              </a:rPr>
              <a:t>ra</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khối</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liên</a:t>
            </a:r>
            <a:r>
              <a:rPr lang="en-US" altLang="en-US" sz="2000">
                <a:cs typeface="Times New Roman" panose="02020603050405020304" pitchFamily="18" charset="0"/>
              </a:rPr>
              <a:t> </a:t>
            </a:r>
            <a:r>
              <a:rPr lang="en-US" altLang="en-US" sz="2000" err="1">
                <a:cs typeface="Times New Roman" panose="02020603050405020304" pitchFamily="18" charset="0"/>
              </a:rPr>
              <a:t>tục</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i="1">
                <a:cs typeface="Times New Roman" panose="02020603050405020304" pitchFamily="18" charset="0"/>
              </a:rPr>
              <a:t>c*N</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địa</a:t>
            </a:r>
            <a:r>
              <a:rPr lang="en-US" altLang="en-US" sz="2000">
                <a:cs typeface="Times New Roman" panose="02020603050405020304" pitchFamily="18" charset="0"/>
              </a:rPr>
              <a:t> </a:t>
            </a:r>
            <a:r>
              <a:rPr lang="en-US" altLang="en-US" sz="2000" err="1">
                <a:cs typeface="Times New Roman" panose="02020603050405020304" pitchFamily="18" charset="0"/>
              </a:rPr>
              <a:t>chỉ</a:t>
            </a:r>
            <a:r>
              <a:rPr lang="en-US" altLang="en-US" sz="2000">
                <a:cs typeface="Times New Roman" panose="02020603050405020304" pitchFamily="18" charset="0"/>
              </a:rPr>
              <a:t> </a:t>
            </a:r>
            <a:r>
              <a:rPr lang="en-US" altLang="en-US" sz="2000" err="1">
                <a:cs typeface="Times New Roman" panose="02020603050405020304" pitchFamily="18" charset="0"/>
              </a:rPr>
              <a:t>đầu</a:t>
            </a:r>
            <a:r>
              <a:rPr lang="en-US" altLang="en-US" sz="2000">
                <a:cs typeface="Times New Roman" panose="02020603050405020304" pitchFamily="18" charset="0"/>
              </a:rPr>
              <a:t> </a:t>
            </a:r>
            <a:r>
              <a:rPr lang="en-US" altLang="en-US" sz="2000" err="1">
                <a:cs typeface="Times New Roman" panose="02020603050405020304" pitchFamily="18" charset="0"/>
              </a:rPr>
              <a:t>tiên</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a:t>
            </a:r>
            <a:r>
              <a:rPr lang="en-US" altLang="en-US" sz="2000" baseline="-30000">
                <a:cs typeface="Times New Roman" panose="02020603050405020304" pitchFamily="18" charset="0"/>
              </a:rPr>
              <a:t>0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cho</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này</a:t>
            </a:r>
            <a:r>
              <a:rPr lang="en-US" altLang="en-US" sz="2000">
                <a:cs typeface="Times New Roman" panose="02020603050405020304" pitchFamily="18" charset="0"/>
              </a:rPr>
              <a:t>.</a:t>
            </a:r>
          </a:p>
        </p:txBody>
      </p:sp>
    </p:spTree>
    <p:extLst>
      <p:ext uri="{BB962C8B-B14F-4D97-AF65-F5344CB8AC3E}">
        <p14:creationId xmlns:p14="http://schemas.microsoft.com/office/powerpoint/2010/main" val="188288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5"/>
          <p:cNvSpPr>
            <a:spLocks noGrp="1"/>
          </p:cNvSpPr>
          <p:nvPr>
            <p:ph type="sldNum" sz="quarter" idx="12"/>
          </p:nvPr>
        </p:nvSpPr>
        <p:spPr/>
        <p:txBody>
          <a:bodyPr/>
          <a:lstStyle/>
          <a:p>
            <a:fld id="{BDC9C083-D7BA-4793-A12D-1F73A1AA4226}" type="slidenum">
              <a:rPr lang="en-US" altLang="en-US"/>
              <a:pPr/>
              <a:t>16</a:t>
            </a:fld>
            <a:endParaRPr lang="en-US" altLang="en-US"/>
          </a:p>
        </p:txBody>
      </p:sp>
      <p:sp>
        <p:nvSpPr>
          <p:cNvPr id="21506" name="Rectangle 2"/>
          <p:cNvSpPr>
            <a:spLocks noGrp="1" noChangeArrowheads="1"/>
          </p:cNvSpPr>
          <p:nvPr>
            <p:ph type="title"/>
          </p:nvPr>
        </p:nvSpPr>
        <p:spPr/>
        <p:txBody>
          <a:bodyPr/>
          <a:lstStyle/>
          <a:p>
            <a:r>
              <a:rPr lang="en-US" altLang="en-US"/>
              <a:t>1.3. </a:t>
            </a:r>
            <a:r>
              <a:rPr lang="en-US" altLang="en-US" err="1"/>
              <a:t>Cài</a:t>
            </a:r>
            <a:r>
              <a:rPr lang="en-US" altLang="en-US"/>
              <a:t> </a:t>
            </a:r>
            <a:r>
              <a:rPr lang="en-US" altLang="en-US" err="1"/>
              <a:t>đặt</a:t>
            </a:r>
            <a:r>
              <a:rPr lang="en-US" altLang="en-US"/>
              <a:t> </a:t>
            </a:r>
            <a:r>
              <a:rPr lang="en-US" altLang="en-US" err="1"/>
              <a:t>mảng</a:t>
            </a:r>
            <a:r>
              <a:rPr lang="en-US" altLang="en-US"/>
              <a:t> </a:t>
            </a:r>
            <a:r>
              <a:rPr lang="en-US" altLang="en-US" err="1"/>
              <a:t>bằng</a:t>
            </a:r>
            <a:r>
              <a:rPr lang="en-US" altLang="en-US"/>
              <a:t> CTLT </a:t>
            </a:r>
            <a:r>
              <a:rPr lang="en-US" altLang="en-US" err="1"/>
              <a:t>tuần</a:t>
            </a:r>
            <a:r>
              <a:rPr lang="en-US" altLang="en-US"/>
              <a:t> </a:t>
            </a:r>
            <a:r>
              <a:rPr lang="en-US" altLang="en-US" err="1"/>
              <a:t>tự</a:t>
            </a:r>
            <a:endParaRPr lang="en-US" altLang="en-US"/>
          </a:p>
        </p:txBody>
      </p:sp>
      <p:sp>
        <p:nvSpPr>
          <p:cNvPr id="21507" name="Rectangle 3"/>
          <p:cNvSpPr>
            <a:spLocks noGrp="1" noChangeArrowheads="1"/>
          </p:cNvSpPr>
          <p:nvPr>
            <p:ph type="body" sz="quarter" idx="13"/>
          </p:nvPr>
        </p:nvSpPr>
        <p:spPr/>
        <p:txBody>
          <a:bodyPr/>
          <a:lstStyle/>
          <a:p>
            <a:r>
              <a:rPr lang="en-US" altLang="en-US" sz="2600" err="1">
                <a:cs typeface="Times New Roman" panose="02020603050405020304" pitchFamily="18" charset="0"/>
              </a:rPr>
              <a:t>Cài</a:t>
            </a:r>
            <a:r>
              <a:rPr lang="en-US" altLang="en-US" sz="2600">
                <a:cs typeface="Times New Roman" panose="02020603050405020304" pitchFamily="18" charset="0"/>
              </a:rPr>
              <a:t> </a:t>
            </a:r>
            <a:r>
              <a:rPr lang="en-US" altLang="en-US" sz="2600" err="1">
                <a:cs typeface="Times New Roman" panose="02020603050405020304" pitchFamily="18" charset="0"/>
              </a:rPr>
              <a:t>đặt</a:t>
            </a:r>
            <a:r>
              <a:rPr lang="en-US" altLang="en-US" sz="2600">
                <a:cs typeface="Times New Roman" panose="02020603050405020304" pitchFamily="18" charset="0"/>
              </a:rPr>
              <a:t> </a:t>
            </a:r>
            <a:r>
              <a:rPr lang="en-US" altLang="en-US" sz="2600" err="1">
                <a:cs typeface="Times New Roman" panose="02020603050405020304" pitchFamily="18" charset="0"/>
              </a:rPr>
              <a:t>mảng</a:t>
            </a:r>
            <a:r>
              <a:rPr lang="en-US" altLang="en-US" sz="2600">
                <a:cs typeface="Times New Roman" panose="02020603050405020304" pitchFamily="18" charset="0"/>
              </a:rPr>
              <a:t> </a:t>
            </a:r>
            <a:r>
              <a:rPr lang="en-US" altLang="en-US" sz="2600" err="1">
                <a:cs typeface="Times New Roman" panose="02020603050405020304" pitchFamily="18" charset="0"/>
              </a:rPr>
              <a:t>một</a:t>
            </a:r>
            <a:r>
              <a:rPr lang="en-US" altLang="en-US" sz="2600">
                <a:cs typeface="Times New Roman" panose="02020603050405020304" pitchFamily="18" charset="0"/>
              </a:rPr>
              <a:t> </a:t>
            </a:r>
            <a:r>
              <a:rPr lang="en-US" altLang="en-US" sz="2600" err="1">
                <a:cs typeface="Times New Roman" panose="02020603050405020304" pitchFamily="18" charset="0"/>
              </a:rPr>
              <a:t>chiều</a:t>
            </a:r>
            <a:r>
              <a:rPr lang="en-US" altLang="en-US" sz="2600">
                <a:cs typeface="Times New Roman" panose="02020603050405020304" pitchFamily="18" charset="0"/>
              </a:rPr>
              <a:t>: </a:t>
            </a:r>
          </a:p>
          <a:p>
            <a:pPr lvl="1"/>
            <a:r>
              <a:rPr lang="en-US" altLang="en-US" sz="2200">
                <a:latin typeface="Courier New" panose="02070309020205020404" pitchFamily="49" charset="0"/>
                <a:cs typeface="Courier New" panose="02070309020205020404" pitchFamily="49" charset="0"/>
              </a:rPr>
              <a:t>ARRAY : a</a:t>
            </a:r>
            <a:r>
              <a:rPr lang="en-US" altLang="en-US" sz="2200" baseline="-30000">
                <a:latin typeface="Courier New" panose="02070309020205020404" pitchFamily="49" charset="0"/>
                <a:cs typeface="Courier New" panose="02070309020205020404" pitchFamily="49" charset="0"/>
              </a:rPr>
              <a:t>1</a:t>
            </a:r>
            <a:r>
              <a:rPr lang="en-US" altLang="en-US" sz="2200">
                <a:latin typeface="Courier New" panose="02070309020205020404" pitchFamily="49" charset="0"/>
                <a:cs typeface="Courier New" panose="02070309020205020404" pitchFamily="49" charset="0"/>
              </a:rPr>
              <a:t>[1, N] OF </a:t>
            </a:r>
            <a:r>
              <a:rPr lang="en-US" altLang="en-US" sz="2200" i="1">
                <a:latin typeface="Courier New" panose="02070309020205020404" pitchFamily="49" charset="0"/>
                <a:cs typeface="Courier New" panose="02070309020205020404" pitchFamily="49" charset="0"/>
              </a:rPr>
              <a:t>datatype</a:t>
            </a:r>
            <a:r>
              <a:rPr lang="en-US" altLang="en-US" sz="2200">
                <a:latin typeface="Courier New" panose="02070309020205020404" pitchFamily="49" charset="0"/>
                <a:cs typeface="Courier New" panose="02070309020205020404" pitchFamily="49" charset="0"/>
              </a:rPr>
              <a:t> ; </a:t>
            </a:r>
          </a:p>
          <a:p>
            <a:pPr lvl="1" algn="just"/>
            <a:r>
              <a:rPr lang="vi-VN" altLang="en-US" sz="2200">
                <a:cs typeface="Times New Roman" panose="02020603050405020304" pitchFamily="18" charset="0"/>
              </a:rPr>
              <a:t>Bướ</a:t>
            </a:r>
            <a:r>
              <a:rPr lang="en-US" altLang="en-US" sz="2200">
                <a:cs typeface="Times New Roman" panose="02020603050405020304" pitchFamily="18" charset="0"/>
              </a:rPr>
              <a:t>c 2:</a:t>
            </a:r>
            <a:r>
              <a:rPr lang="en-US" altLang="en-US">
                <a:cs typeface="Times New Roman" panose="02020603050405020304" pitchFamily="18" charset="0"/>
              </a:rPr>
              <a:t> </a:t>
            </a:r>
            <a:r>
              <a:rPr lang="en-US" altLang="en-US" sz="2200" err="1">
                <a:cs typeface="Times New Roman" panose="02020603050405020304" pitchFamily="18" charset="0"/>
              </a:rPr>
              <a:t>Bố</a:t>
            </a:r>
            <a:r>
              <a:rPr lang="en-US" altLang="en-US" sz="2200">
                <a:cs typeface="Times New Roman" panose="02020603050405020304" pitchFamily="18" charset="0"/>
              </a:rPr>
              <a:t> </a:t>
            </a:r>
            <a:r>
              <a:rPr lang="en-US" altLang="en-US" sz="2200" err="1">
                <a:cs typeface="Times New Roman" panose="02020603050405020304" pitchFamily="18" charset="0"/>
              </a:rPr>
              <a:t>trí</a:t>
            </a:r>
            <a:r>
              <a:rPr lang="en-US" altLang="en-US" sz="2200">
                <a:cs typeface="Times New Roman" panose="02020603050405020304" pitchFamily="18" charset="0"/>
              </a:rPr>
              <a:t> </a:t>
            </a:r>
            <a:r>
              <a:rPr lang="en-US" altLang="en-US" sz="2200" err="1">
                <a:cs typeface="Times New Roman" panose="02020603050405020304" pitchFamily="18" charset="0"/>
              </a:rPr>
              <a:t>các</a:t>
            </a:r>
            <a:r>
              <a:rPr lang="en-US" altLang="en-US" sz="2200">
                <a:cs typeface="Times New Roman" panose="02020603050405020304" pitchFamily="18" charset="0"/>
              </a:rPr>
              <a:t> </a:t>
            </a:r>
            <a:r>
              <a:rPr lang="en-US" altLang="en-US" sz="2200" err="1">
                <a:cs typeface="Times New Roman" panose="02020603050405020304" pitchFamily="18" charset="0"/>
              </a:rPr>
              <a:t>phần</a:t>
            </a:r>
            <a:r>
              <a:rPr lang="en-US" altLang="en-US" sz="2200">
                <a:cs typeface="Times New Roman" panose="02020603050405020304" pitchFamily="18" charset="0"/>
              </a:rPr>
              <a:t> </a:t>
            </a:r>
            <a:r>
              <a:rPr lang="en-US" altLang="en-US" sz="2200" err="1">
                <a:cs typeface="Times New Roman" panose="02020603050405020304" pitchFamily="18" charset="0"/>
              </a:rPr>
              <a:t>tử</a:t>
            </a:r>
            <a:r>
              <a:rPr lang="en-US" altLang="en-US" sz="2200">
                <a:cs typeface="Times New Roman" panose="02020603050405020304" pitchFamily="18" charset="0"/>
              </a:rPr>
              <a:t> </a:t>
            </a:r>
            <a:r>
              <a:rPr lang="en-US" altLang="en-US" sz="2200" err="1">
                <a:cs typeface="Times New Roman" panose="02020603050405020304" pitchFamily="18" charset="0"/>
              </a:rPr>
              <a:t>của</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vào</a:t>
            </a:r>
            <a:r>
              <a:rPr lang="en-US" altLang="en-US" sz="2200">
                <a:cs typeface="Times New Roman" panose="02020603050405020304" pitchFamily="18" charset="0"/>
              </a:rPr>
              <a:t> CTLT </a:t>
            </a:r>
            <a:r>
              <a:rPr lang="en-US" altLang="en-US" sz="2200" err="1">
                <a:cs typeface="Times New Roman" panose="02020603050405020304" pitchFamily="18" charset="0"/>
              </a:rPr>
              <a:t>đã</a:t>
            </a:r>
            <a:r>
              <a:rPr lang="en-US" altLang="en-US" sz="2200">
                <a:cs typeface="Times New Roman" panose="02020603050405020304" pitchFamily="18" charset="0"/>
              </a:rPr>
              <a:t> </a:t>
            </a:r>
            <a:r>
              <a:rPr lang="en-US" altLang="en-US" sz="2200" err="1">
                <a:cs typeface="Times New Roman" panose="02020603050405020304" pitchFamily="18" charset="0"/>
              </a:rPr>
              <a:t>chọn</a:t>
            </a:r>
            <a:r>
              <a:rPr lang="en-US" altLang="en-US" sz="2200">
                <a:cs typeface="Times New Roman" panose="02020603050405020304" pitchFamily="18" charset="0"/>
              </a:rPr>
              <a:t>:</a:t>
            </a:r>
            <a:endParaRPr lang="en-US" altLang="en-US" sz="2200">
              <a:latin typeface=".VnTime" pitchFamily="34" charset="0"/>
              <a:cs typeface="Times New Roman" panose="02020603050405020304" pitchFamily="18" charset="0"/>
            </a:endParaRPr>
          </a:p>
          <a:p>
            <a:pPr lvl="2" algn="just">
              <a:lnSpc>
                <a:spcPct val="115000"/>
              </a:lnSpc>
            </a:pPr>
            <a:r>
              <a:rPr lang="en-US" altLang="en-US" sz="1800" err="1">
                <a:cs typeface="Times New Roman" panose="02020603050405020304" pitchFamily="18" charset="0"/>
              </a:rPr>
              <a:t>Bố</a:t>
            </a:r>
            <a:r>
              <a:rPr lang="en-US" altLang="en-US" sz="1800">
                <a:cs typeface="Times New Roman" panose="02020603050405020304" pitchFamily="18" charset="0"/>
              </a:rPr>
              <a:t> </a:t>
            </a:r>
            <a:r>
              <a:rPr lang="en-US" altLang="en-US" sz="1800" err="1">
                <a:cs typeface="Times New Roman" panose="02020603050405020304" pitchFamily="18" charset="0"/>
              </a:rPr>
              <a:t>trí</a:t>
            </a:r>
            <a:r>
              <a:rPr lang="en-US" altLang="en-US" sz="1800">
                <a:cs typeface="Times New Roman" panose="02020603050405020304" pitchFamily="18" charset="0"/>
              </a:rPr>
              <a:t> </a:t>
            </a:r>
            <a:r>
              <a:rPr lang="en-US" altLang="en-US" sz="1800" err="1">
                <a:cs typeface="Times New Roman" panose="02020603050405020304" pitchFamily="18" charset="0"/>
              </a:rPr>
              <a:t>lần</a:t>
            </a:r>
            <a:r>
              <a:rPr lang="en-US" altLang="en-US" sz="1800">
                <a:cs typeface="Times New Roman" panose="02020603050405020304" pitchFamily="18" charset="0"/>
              </a:rPr>
              <a:t> </a:t>
            </a:r>
            <a:r>
              <a:rPr lang="en-US" altLang="en-US" sz="1800" err="1">
                <a:cs typeface="Times New Roman" panose="02020603050405020304" pitchFamily="18" charset="0"/>
              </a:rPr>
              <a:t>lượt</a:t>
            </a:r>
            <a:r>
              <a:rPr lang="en-US" altLang="en-US" sz="1800">
                <a:cs typeface="Times New Roman" panose="02020603050405020304" pitchFamily="18" charset="0"/>
              </a:rPr>
              <a:t> </a:t>
            </a:r>
            <a:r>
              <a:rPr lang="en-US" altLang="en-US" sz="1800" err="1">
                <a:cs typeface="Times New Roman" panose="02020603050405020304" pitchFamily="18" charset="0"/>
              </a:rPr>
              <a:t>các</a:t>
            </a:r>
            <a:r>
              <a:rPr lang="en-US" altLang="en-US" sz="1800">
                <a:cs typeface="Times New Roman" panose="02020603050405020304" pitchFamily="18" charset="0"/>
              </a:rPr>
              <a:t> </a:t>
            </a:r>
            <a:r>
              <a:rPr lang="en-US" altLang="en-US" sz="1800" err="1">
                <a:cs typeface="Times New Roman" panose="02020603050405020304" pitchFamily="18" charset="0"/>
              </a:rPr>
              <a:t>phần</a:t>
            </a:r>
            <a:r>
              <a:rPr lang="en-US" altLang="en-US" sz="1800">
                <a:cs typeface="Times New Roman" panose="02020603050405020304" pitchFamily="18" charset="0"/>
              </a:rPr>
              <a:t> </a:t>
            </a:r>
            <a:r>
              <a:rPr lang="en-US" altLang="en-US" sz="1800" err="1">
                <a:cs typeface="Times New Roman" panose="02020603050405020304" pitchFamily="18" charset="0"/>
              </a:rPr>
              <a:t>tử</a:t>
            </a:r>
            <a:r>
              <a:rPr lang="en-US" altLang="en-US" sz="1800">
                <a:cs typeface="Times New Roman" panose="02020603050405020304" pitchFamily="18" charset="0"/>
              </a:rPr>
              <a:t> </a:t>
            </a:r>
            <a:r>
              <a:rPr lang="en-US" altLang="en-US" sz="1800" err="1">
                <a:cs typeface="Times New Roman" panose="02020603050405020304" pitchFamily="18" charset="0"/>
              </a:rPr>
              <a:t>của</a:t>
            </a:r>
            <a:r>
              <a:rPr lang="en-US" altLang="en-US" sz="1800">
                <a:cs typeface="Times New Roman" panose="02020603050405020304" pitchFamily="18" charset="0"/>
              </a:rPr>
              <a:t> </a:t>
            </a:r>
            <a:r>
              <a:rPr lang="en-US" altLang="en-US" sz="1800" err="1">
                <a:cs typeface="Times New Roman" panose="02020603050405020304" pitchFamily="18" charset="0"/>
              </a:rPr>
              <a:t>mảng</a:t>
            </a:r>
            <a:r>
              <a:rPr lang="en-US" altLang="en-US" sz="1800">
                <a:cs typeface="Times New Roman" panose="02020603050405020304" pitchFamily="18" charset="0"/>
              </a:rPr>
              <a:t> </a:t>
            </a:r>
            <a:r>
              <a:rPr lang="en-US" altLang="en-US" sz="1800" err="1">
                <a:cs typeface="Times New Roman" panose="02020603050405020304" pitchFamily="18" charset="0"/>
              </a:rPr>
              <a:t>vào</a:t>
            </a:r>
            <a:r>
              <a:rPr lang="en-US" altLang="en-US" sz="1800">
                <a:cs typeface="Times New Roman" panose="02020603050405020304" pitchFamily="18" charset="0"/>
              </a:rPr>
              <a:t> </a:t>
            </a:r>
            <a:r>
              <a:rPr lang="en-US" altLang="en-US" sz="1800" err="1">
                <a:cs typeface="Times New Roman" panose="02020603050405020304" pitchFamily="18" charset="0"/>
              </a:rPr>
              <a:t>trong</a:t>
            </a:r>
            <a:r>
              <a:rPr lang="en-US" altLang="en-US" sz="1800">
                <a:cs typeface="Times New Roman" panose="02020603050405020304" pitchFamily="18" charset="0"/>
              </a:rPr>
              <a:t> </a:t>
            </a:r>
            <a:r>
              <a:rPr lang="en-US" altLang="en-US" sz="1800" err="1">
                <a:cs typeface="Times New Roman" panose="02020603050405020304" pitchFamily="18" charset="0"/>
              </a:rPr>
              <a:t>các</a:t>
            </a:r>
            <a:r>
              <a:rPr lang="en-US" altLang="en-US" sz="1800">
                <a:cs typeface="Times New Roman" panose="02020603050405020304" pitchFamily="18" charset="0"/>
              </a:rPr>
              <a:t> ô </a:t>
            </a:r>
            <a:r>
              <a:rPr lang="en-US" altLang="en-US" sz="1800" err="1">
                <a:cs typeface="Times New Roman" panose="02020603050405020304" pitchFamily="18" charset="0"/>
              </a:rPr>
              <a:t>nhớ</a:t>
            </a:r>
            <a:r>
              <a:rPr lang="en-US" altLang="en-US" sz="1800">
                <a:cs typeface="Times New Roman" panose="02020603050405020304" pitchFamily="18" charset="0"/>
              </a:rPr>
              <a:t> </a:t>
            </a:r>
            <a:r>
              <a:rPr lang="en-US" altLang="en-US" sz="1800" err="1">
                <a:cs typeface="Times New Roman" panose="02020603050405020304" pitchFamily="18" charset="0"/>
              </a:rPr>
              <a:t>của</a:t>
            </a:r>
            <a:r>
              <a:rPr lang="en-US" altLang="en-US" sz="1800">
                <a:cs typeface="Times New Roman" panose="02020603050405020304" pitchFamily="18" charset="0"/>
              </a:rPr>
              <a:t> CTLT </a:t>
            </a:r>
            <a:r>
              <a:rPr lang="en-US" altLang="en-US" sz="1800" err="1">
                <a:cs typeface="Times New Roman" panose="02020603050405020304" pitchFamily="18" charset="0"/>
              </a:rPr>
              <a:t>tuần</a:t>
            </a:r>
            <a:r>
              <a:rPr lang="en-US" altLang="en-US" sz="1800">
                <a:cs typeface="Times New Roman" panose="02020603050405020304" pitchFamily="18" charset="0"/>
              </a:rPr>
              <a:t> </a:t>
            </a:r>
            <a:r>
              <a:rPr lang="en-US" altLang="en-US" sz="1800" err="1">
                <a:cs typeface="Times New Roman" panose="02020603050405020304" pitchFamily="18" charset="0"/>
              </a:rPr>
              <a:t>tự</a:t>
            </a:r>
            <a:endParaRPr lang="en-US" altLang="en-US" sz="1800">
              <a:cs typeface="Times New Roman" panose="02020603050405020304" pitchFamily="18" charset="0"/>
            </a:endParaRPr>
          </a:p>
          <a:p>
            <a:pPr lvl="3" algn="just">
              <a:lnSpc>
                <a:spcPct val="115000"/>
              </a:lnSpc>
            </a:pPr>
            <a:r>
              <a:rPr lang="en-US" altLang="en-US" sz="1600" err="1">
                <a:cs typeface="Times New Roman" panose="02020603050405020304" pitchFamily="18" charset="0"/>
              </a:rPr>
              <a:t>Phần</a:t>
            </a:r>
            <a:r>
              <a:rPr lang="en-US" altLang="en-US" sz="1600">
                <a:cs typeface="Times New Roman" panose="02020603050405020304" pitchFamily="18" charset="0"/>
              </a:rPr>
              <a:t> </a:t>
            </a:r>
            <a:r>
              <a:rPr lang="en-US" altLang="en-US" sz="1600" err="1">
                <a:cs typeface="Times New Roman" panose="02020603050405020304" pitchFamily="18" charset="0"/>
              </a:rPr>
              <a:t>tử</a:t>
            </a:r>
            <a:r>
              <a:rPr lang="en-US" altLang="en-US" sz="1600">
                <a:cs typeface="Times New Roman" panose="02020603050405020304" pitchFamily="18" charset="0"/>
              </a:rPr>
              <a:t> </a:t>
            </a:r>
            <a:r>
              <a:rPr lang="en-US" altLang="en-US" sz="1600" err="1">
                <a:cs typeface="Times New Roman" panose="02020603050405020304" pitchFamily="18" charset="0"/>
              </a:rPr>
              <a:t>thứ</a:t>
            </a:r>
            <a:r>
              <a:rPr lang="en-US" altLang="en-US" sz="1600">
                <a:cs typeface="Times New Roman" panose="02020603050405020304" pitchFamily="18" charset="0"/>
              </a:rPr>
              <a:t> </a:t>
            </a:r>
            <a:r>
              <a:rPr lang="en-US" altLang="en-US" sz="1600" i="1" err="1">
                <a:cs typeface="Times New Roman" panose="02020603050405020304" pitchFamily="18" charset="0"/>
              </a:rPr>
              <a:t>i</a:t>
            </a:r>
            <a:r>
              <a:rPr lang="en-US" altLang="en-US" sz="1600">
                <a:cs typeface="Times New Roman" panose="02020603050405020304" pitchFamily="18" charset="0"/>
              </a:rPr>
              <a:t> </a:t>
            </a:r>
            <a:r>
              <a:rPr lang="en-US" altLang="en-US" sz="1600" err="1">
                <a:cs typeface="Times New Roman" panose="02020603050405020304" pitchFamily="18" charset="0"/>
              </a:rPr>
              <a:t>của</a:t>
            </a:r>
            <a:r>
              <a:rPr lang="en-US" altLang="en-US" sz="1600">
                <a:cs typeface="Times New Roman" panose="02020603050405020304" pitchFamily="18" charset="0"/>
              </a:rPr>
              <a:t> </a:t>
            </a:r>
            <a:r>
              <a:rPr lang="en-US" altLang="en-US" sz="1600" err="1">
                <a:cs typeface="Times New Roman" panose="02020603050405020304" pitchFamily="18" charset="0"/>
              </a:rPr>
              <a:t>mảng</a:t>
            </a:r>
            <a:r>
              <a:rPr lang="en-US" altLang="en-US" sz="1600">
                <a:cs typeface="Times New Roman" panose="02020603050405020304" pitchFamily="18" charset="0"/>
              </a:rPr>
              <a:t> </a:t>
            </a:r>
            <a:r>
              <a:rPr lang="en-US" altLang="en-US" sz="1600" err="1">
                <a:cs typeface="Times New Roman" panose="02020603050405020304" pitchFamily="18" charset="0"/>
              </a:rPr>
              <a:t>sẽ</a:t>
            </a:r>
            <a:r>
              <a:rPr lang="en-US" altLang="en-US" sz="1600">
                <a:cs typeface="Times New Roman" panose="02020603050405020304" pitchFamily="18" charset="0"/>
              </a:rPr>
              <a:t> </a:t>
            </a:r>
            <a:r>
              <a:rPr lang="en-US" altLang="en-US" sz="1600" err="1">
                <a:cs typeface="Times New Roman" panose="02020603050405020304" pitchFamily="18" charset="0"/>
              </a:rPr>
              <a:t>được</a:t>
            </a:r>
            <a:r>
              <a:rPr lang="en-US" altLang="en-US" sz="1600">
                <a:cs typeface="Times New Roman" panose="02020603050405020304" pitchFamily="18" charset="0"/>
              </a:rPr>
              <a:t> </a:t>
            </a:r>
            <a:r>
              <a:rPr lang="en-US" altLang="en-US" sz="1600" err="1">
                <a:cs typeface="Times New Roman" panose="02020603050405020304" pitchFamily="18" charset="0"/>
              </a:rPr>
              <a:t>lưu</a:t>
            </a:r>
            <a:r>
              <a:rPr lang="en-US" altLang="en-US" sz="1600">
                <a:cs typeface="Times New Roman" panose="02020603050405020304" pitchFamily="18" charset="0"/>
              </a:rPr>
              <a:t> </a:t>
            </a:r>
            <a:r>
              <a:rPr lang="en-US" altLang="en-US" sz="1600" err="1">
                <a:cs typeface="Times New Roman" panose="02020603050405020304" pitchFamily="18" charset="0"/>
              </a:rPr>
              <a:t>trữ</a:t>
            </a:r>
            <a:r>
              <a:rPr lang="en-US" altLang="en-US" sz="1600">
                <a:cs typeface="Times New Roman" panose="02020603050405020304" pitchFamily="18" charset="0"/>
              </a:rPr>
              <a:t> ở ô </a:t>
            </a:r>
            <a:r>
              <a:rPr lang="en-US" altLang="en-US" sz="1600" err="1">
                <a:cs typeface="Times New Roman" panose="02020603050405020304" pitchFamily="18" charset="0"/>
              </a:rPr>
              <a:t>nhớ</a:t>
            </a:r>
            <a:r>
              <a:rPr lang="en-US" altLang="en-US" sz="1600">
                <a:cs typeface="Times New Roman" panose="02020603050405020304" pitchFamily="18" charset="0"/>
              </a:rPr>
              <a:t> </a:t>
            </a:r>
            <a:r>
              <a:rPr lang="en-US" altLang="en-US" sz="1600" err="1">
                <a:cs typeface="Times New Roman" panose="02020603050405020304" pitchFamily="18" charset="0"/>
              </a:rPr>
              <a:t>thứ</a:t>
            </a:r>
            <a:r>
              <a:rPr lang="en-US" altLang="en-US" sz="1600">
                <a:cs typeface="Times New Roman" panose="02020603050405020304" pitchFamily="18" charset="0"/>
              </a:rPr>
              <a:t> </a:t>
            </a:r>
            <a:r>
              <a:rPr lang="en-US" altLang="en-US" sz="1600" i="1" err="1">
                <a:cs typeface="Times New Roman" panose="02020603050405020304" pitchFamily="18" charset="0"/>
              </a:rPr>
              <a:t>i</a:t>
            </a:r>
            <a:r>
              <a:rPr lang="en-US" altLang="en-US" sz="1600">
                <a:cs typeface="Times New Roman" panose="02020603050405020304" pitchFamily="18" charset="0"/>
              </a:rPr>
              <a:t>  (1 </a:t>
            </a:r>
            <a:r>
              <a:rPr lang="en-US" altLang="en-US" sz="1600">
                <a:cs typeface="Times New Roman" panose="02020603050405020304" pitchFamily="18" charset="0"/>
                <a:sym typeface="Symbol" panose="05050102010706020507" pitchFamily="18" charset="2"/>
              </a:rPr>
              <a:t></a:t>
            </a:r>
            <a:r>
              <a:rPr lang="en-US" altLang="en-US" sz="1600">
                <a:cs typeface="Times New Roman" panose="02020603050405020304" pitchFamily="18" charset="0"/>
              </a:rPr>
              <a:t> </a:t>
            </a:r>
            <a:r>
              <a:rPr lang="en-US" altLang="en-US" sz="1600" err="1">
                <a:cs typeface="Times New Roman" panose="02020603050405020304" pitchFamily="18" charset="0"/>
              </a:rPr>
              <a:t>i</a:t>
            </a:r>
            <a:r>
              <a:rPr lang="en-US" altLang="en-US" sz="1600">
                <a:cs typeface="Times New Roman" panose="02020603050405020304" pitchFamily="18" charset="0"/>
              </a:rPr>
              <a:t> </a:t>
            </a:r>
            <a:r>
              <a:rPr lang="en-US" altLang="en-US" sz="1600">
                <a:cs typeface="Times New Roman" panose="02020603050405020304" pitchFamily="18" charset="0"/>
                <a:sym typeface="Symbol" panose="05050102010706020507" pitchFamily="18" charset="2"/>
              </a:rPr>
              <a:t></a:t>
            </a:r>
            <a:r>
              <a:rPr lang="en-US" altLang="en-US" sz="1600">
                <a:cs typeface="Times New Roman" panose="02020603050405020304" pitchFamily="18" charset="0"/>
              </a:rPr>
              <a:t> N, </a:t>
            </a:r>
            <a:r>
              <a:rPr lang="en-US" altLang="en-US" sz="1600" err="1">
                <a:cs typeface="Times New Roman" panose="02020603050405020304" pitchFamily="18" charset="0"/>
              </a:rPr>
              <a:t>với</a:t>
            </a:r>
            <a:r>
              <a:rPr lang="en-US" altLang="en-US" sz="1600">
                <a:cs typeface="Times New Roman" panose="02020603050405020304" pitchFamily="18" charset="0"/>
              </a:rPr>
              <a:t> N </a:t>
            </a:r>
            <a:r>
              <a:rPr lang="en-US" altLang="en-US" sz="1600" err="1">
                <a:cs typeface="Times New Roman" panose="02020603050405020304" pitchFamily="18" charset="0"/>
              </a:rPr>
              <a:t>là</a:t>
            </a:r>
            <a:r>
              <a:rPr lang="en-US" altLang="en-US" sz="1600">
                <a:cs typeface="Times New Roman" panose="02020603050405020304" pitchFamily="18" charset="0"/>
              </a:rPr>
              <a:t> </a:t>
            </a:r>
            <a:r>
              <a:rPr lang="en-US" altLang="en-US" sz="1600" err="1">
                <a:cs typeface="Times New Roman" panose="02020603050405020304" pitchFamily="18" charset="0"/>
              </a:rPr>
              <a:t>kích</a:t>
            </a:r>
            <a:r>
              <a:rPr lang="en-US" altLang="en-US" sz="1600">
                <a:cs typeface="Times New Roman" panose="02020603050405020304" pitchFamily="18" charset="0"/>
              </a:rPr>
              <a:t> </a:t>
            </a:r>
            <a:r>
              <a:rPr lang="en-US" altLang="en-US" sz="1600" err="1">
                <a:cs typeface="Times New Roman" panose="02020603050405020304" pitchFamily="18" charset="0"/>
              </a:rPr>
              <a:t>thước</a:t>
            </a:r>
            <a:r>
              <a:rPr lang="en-US" altLang="en-US" sz="1600">
                <a:cs typeface="Times New Roman" panose="02020603050405020304" pitchFamily="18" charset="0"/>
              </a:rPr>
              <a:t> </a:t>
            </a:r>
            <a:r>
              <a:rPr lang="en-US" altLang="en-US" sz="1600" err="1">
                <a:cs typeface="Times New Roman" panose="02020603050405020304" pitchFamily="18" charset="0"/>
              </a:rPr>
              <a:t>của</a:t>
            </a:r>
            <a:r>
              <a:rPr lang="en-US" altLang="en-US" sz="1600">
                <a:cs typeface="Times New Roman" panose="02020603050405020304" pitchFamily="18" charset="0"/>
              </a:rPr>
              <a:t> </a:t>
            </a:r>
            <a:r>
              <a:rPr lang="en-US" altLang="en-US" sz="1600" err="1">
                <a:cs typeface="Times New Roman" panose="02020603050405020304" pitchFamily="18" charset="0"/>
              </a:rPr>
              <a:t>mảng</a:t>
            </a:r>
            <a:r>
              <a:rPr lang="en-US" altLang="en-US" sz="1600">
                <a:cs typeface="Times New Roman" panose="02020603050405020304" pitchFamily="18" charset="0"/>
              </a:rPr>
              <a:t>).</a:t>
            </a:r>
          </a:p>
          <a:p>
            <a:pPr lvl="2" algn="just">
              <a:lnSpc>
                <a:spcPct val="115000"/>
              </a:lnSpc>
            </a:pPr>
            <a:r>
              <a:rPr lang="en-US" altLang="en-US" sz="1800" err="1"/>
              <a:t>Địa</a:t>
            </a:r>
            <a:r>
              <a:rPr lang="en-US" altLang="en-US" sz="1800"/>
              <a:t> </a:t>
            </a:r>
            <a:r>
              <a:rPr lang="en-US" altLang="en-US" sz="1800" err="1"/>
              <a:t>chỉ</a:t>
            </a:r>
            <a:r>
              <a:rPr lang="en-US" altLang="en-US" sz="1800"/>
              <a:t> </a:t>
            </a:r>
            <a:r>
              <a:rPr lang="en-US" altLang="en-US" sz="1800" err="1"/>
              <a:t>tuyệt</a:t>
            </a:r>
            <a:r>
              <a:rPr lang="en-US" altLang="en-US" sz="1800"/>
              <a:t> </a:t>
            </a:r>
            <a:r>
              <a:rPr lang="en-US" altLang="en-US" sz="1800" err="1"/>
              <a:t>đối</a:t>
            </a:r>
            <a:r>
              <a:rPr lang="en-US" altLang="en-US" sz="1800"/>
              <a:t> </a:t>
            </a:r>
            <a:r>
              <a:rPr lang="en-US" altLang="en-US" sz="1800" err="1"/>
              <a:t>của</a:t>
            </a:r>
            <a:r>
              <a:rPr lang="en-US" altLang="en-US" sz="1800"/>
              <a:t> </a:t>
            </a:r>
            <a:r>
              <a:rPr lang="en-US" altLang="en-US" sz="1800" err="1"/>
              <a:t>phần</a:t>
            </a:r>
            <a:r>
              <a:rPr lang="en-US" altLang="en-US" sz="1800"/>
              <a:t> </a:t>
            </a:r>
            <a:r>
              <a:rPr lang="en-US" altLang="en-US" sz="1800" err="1"/>
              <a:t>tử</a:t>
            </a:r>
            <a:r>
              <a:rPr lang="en-US" altLang="en-US" sz="1800"/>
              <a:t> </a:t>
            </a:r>
            <a:r>
              <a:rPr lang="en-US" altLang="en-US" sz="1800" err="1"/>
              <a:t>thứ</a:t>
            </a:r>
            <a:r>
              <a:rPr lang="en-US" altLang="en-US" sz="1800"/>
              <a:t> </a:t>
            </a:r>
            <a:r>
              <a:rPr lang="en-US" altLang="en-US" sz="1800" i="1" err="1"/>
              <a:t>i</a:t>
            </a:r>
            <a:r>
              <a:rPr lang="en-US" altLang="en-US" sz="1800"/>
              <a:t> - a</a:t>
            </a:r>
            <a:r>
              <a:rPr lang="en-US" altLang="en-US" sz="1800" baseline="-25000"/>
              <a:t>1</a:t>
            </a:r>
            <a:r>
              <a:rPr lang="en-US" altLang="en-US" sz="1800"/>
              <a:t>[</a:t>
            </a:r>
            <a:r>
              <a:rPr lang="en-US" altLang="en-US" sz="1800" err="1"/>
              <a:t>i</a:t>
            </a:r>
            <a:r>
              <a:rPr lang="en-US" altLang="en-US" sz="1800"/>
              <a:t>]: A</a:t>
            </a:r>
            <a:r>
              <a:rPr lang="en-US" altLang="en-US" sz="1800" baseline="-25000"/>
              <a:t>i</a:t>
            </a:r>
            <a:r>
              <a:rPr lang="en-US" altLang="en-US" sz="1800"/>
              <a:t> = A</a:t>
            </a:r>
            <a:r>
              <a:rPr lang="en-US" altLang="en-US" sz="1800" baseline="-25000"/>
              <a:t>0</a:t>
            </a:r>
            <a:r>
              <a:rPr lang="en-US" altLang="en-US" sz="1800"/>
              <a:t> + c * (i-1)</a:t>
            </a:r>
          </a:p>
        </p:txBody>
      </p:sp>
      <p:grpSp>
        <p:nvGrpSpPr>
          <p:cNvPr id="21524" name="Group 20"/>
          <p:cNvGrpSpPr>
            <a:grpSpLocks/>
          </p:cNvGrpSpPr>
          <p:nvPr/>
        </p:nvGrpSpPr>
        <p:grpSpPr bwMode="auto">
          <a:xfrm>
            <a:off x="1066800" y="4141093"/>
            <a:ext cx="7205663" cy="1244600"/>
            <a:chOff x="768" y="3120"/>
            <a:chExt cx="4539" cy="784"/>
          </a:xfrm>
        </p:grpSpPr>
        <p:sp>
          <p:nvSpPr>
            <p:cNvPr id="21509" name="Text Box 5"/>
            <p:cNvSpPr txBox="1">
              <a:spLocks noChangeArrowheads="1"/>
            </p:cNvSpPr>
            <p:nvPr/>
          </p:nvSpPr>
          <p:spPr bwMode="auto">
            <a:xfrm>
              <a:off x="1152" y="3264"/>
              <a:ext cx="472"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[1]</a:t>
              </a:r>
            </a:p>
          </p:txBody>
        </p:sp>
        <p:sp>
          <p:nvSpPr>
            <p:cNvPr id="21510" name="Text Box 6"/>
            <p:cNvSpPr txBox="1">
              <a:spLocks noChangeArrowheads="1"/>
            </p:cNvSpPr>
            <p:nvPr/>
          </p:nvSpPr>
          <p:spPr bwMode="auto">
            <a:xfrm>
              <a:off x="1624" y="3264"/>
              <a:ext cx="467"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a1[2]</a:t>
              </a:r>
            </a:p>
          </p:txBody>
        </p:sp>
        <p:sp>
          <p:nvSpPr>
            <p:cNvPr id="21511" name="Text Box 7"/>
            <p:cNvSpPr txBox="1">
              <a:spLocks noChangeArrowheads="1"/>
            </p:cNvSpPr>
            <p:nvPr/>
          </p:nvSpPr>
          <p:spPr bwMode="auto">
            <a:xfrm>
              <a:off x="2088" y="3264"/>
              <a:ext cx="462"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t>
              </a:r>
            </a:p>
          </p:txBody>
        </p:sp>
        <p:sp>
          <p:nvSpPr>
            <p:cNvPr id="21512" name="Text Box 8"/>
            <p:cNvSpPr txBox="1">
              <a:spLocks noChangeArrowheads="1"/>
            </p:cNvSpPr>
            <p:nvPr/>
          </p:nvSpPr>
          <p:spPr bwMode="auto">
            <a:xfrm>
              <a:off x="2551" y="3264"/>
              <a:ext cx="457" cy="256"/>
            </a:xfrm>
            <a:prstGeom prst="rect">
              <a:avLst/>
            </a:prstGeom>
            <a:solidFill>
              <a:srgbClr val="FFFFFF"/>
            </a:solidFill>
            <a:ln w="9525">
              <a:solidFill>
                <a:srgbClr val="000000"/>
              </a:solidFill>
              <a:miter lim="800000"/>
              <a:headEnd/>
              <a:tailEnd/>
            </a:ln>
          </p:spPr>
          <p:txBody>
            <a:bodyPr lIns="18000" rIns="18000"/>
            <a:lstStyle/>
            <a:p>
              <a:pPr eaLnBrk="0" hangingPunct="0"/>
              <a:endParaRPr lang="en-US" altLang="en-US" sz="2000">
                <a:latin typeface="Times New Roman" panose="02020603050405020304" pitchFamily="18" charset="0"/>
              </a:endParaRPr>
            </a:p>
          </p:txBody>
        </p:sp>
        <p:sp>
          <p:nvSpPr>
            <p:cNvPr id="21513" name="Text Box 9"/>
            <p:cNvSpPr txBox="1">
              <a:spLocks noChangeArrowheads="1"/>
            </p:cNvSpPr>
            <p:nvPr/>
          </p:nvSpPr>
          <p:spPr bwMode="auto">
            <a:xfrm>
              <a:off x="3008" y="3264"/>
              <a:ext cx="452"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a:t>
              </a:r>
              <a:r>
                <a:rPr lang="en-US" altLang="en-US" sz="2000" err="1">
                  <a:latin typeface="Times New Roman" panose="02020603050405020304" pitchFamily="18" charset="0"/>
                </a:rPr>
                <a:t>i</a:t>
              </a:r>
              <a:r>
                <a:rPr lang="en-US" altLang="en-US" sz="2000">
                  <a:latin typeface="Times New Roman" panose="02020603050405020304" pitchFamily="18" charset="0"/>
                </a:rPr>
                <a:t>]</a:t>
              </a:r>
            </a:p>
          </p:txBody>
        </p:sp>
        <p:sp>
          <p:nvSpPr>
            <p:cNvPr id="21514" name="Text Box 10"/>
            <p:cNvSpPr txBox="1">
              <a:spLocks noChangeArrowheads="1"/>
            </p:cNvSpPr>
            <p:nvPr/>
          </p:nvSpPr>
          <p:spPr bwMode="auto">
            <a:xfrm>
              <a:off x="3464" y="3264"/>
              <a:ext cx="460"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t>
              </a:r>
            </a:p>
          </p:txBody>
        </p:sp>
        <p:sp>
          <p:nvSpPr>
            <p:cNvPr id="21515" name="Text Box 11"/>
            <p:cNvSpPr txBox="1">
              <a:spLocks noChangeArrowheads="1"/>
            </p:cNvSpPr>
            <p:nvPr/>
          </p:nvSpPr>
          <p:spPr bwMode="auto">
            <a:xfrm>
              <a:off x="3928" y="3264"/>
              <a:ext cx="432" cy="256"/>
            </a:xfrm>
            <a:prstGeom prst="rect">
              <a:avLst/>
            </a:prstGeom>
            <a:solidFill>
              <a:srgbClr val="FFFFFF"/>
            </a:solidFill>
            <a:ln w="9525">
              <a:solidFill>
                <a:srgbClr val="000000"/>
              </a:solidFill>
              <a:miter lim="800000"/>
              <a:headEnd/>
              <a:tailEnd/>
            </a:ln>
          </p:spPr>
          <p:txBody>
            <a:bodyPr lIns="18000" rIns="18000"/>
            <a:lstStyle/>
            <a:p>
              <a:pPr eaLnBrk="0" hangingPunct="0"/>
              <a:endParaRPr lang="en-US" altLang="en-US" sz="2000">
                <a:latin typeface="Times New Roman" panose="02020603050405020304" pitchFamily="18" charset="0"/>
              </a:endParaRPr>
            </a:p>
          </p:txBody>
        </p:sp>
        <p:sp>
          <p:nvSpPr>
            <p:cNvPr id="21516" name="Text Box 12"/>
            <p:cNvSpPr txBox="1">
              <a:spLocks noChangeArrowheads="1"/>
            </p:cNvSpPr>
            <p:nvPr/>
          </p:nvSpPr>
          <p:spPr bwMode="auto">
            <a:xfrm>
              <a:off x="4360" y="3264"/>
              <a:ext cx="470"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[n-1]</a:t>
              </a:r>
            </a:p>
          </p:txBody>
        </p:sp>
        <p:sp>
          <p:nvSpPr>
            <p:cNvPr id="21517" name="Text Box 13"/>
            <p:cNvSpPr txBox="1">
              <a:spLocks noChangeArrowheads="1"/>
            </p:cNvSpPr>
            <p:nvPr/>
          </p:nvSpPr>
          <p:spPr bwMode="auto">
            <a:xfrm>
              <a:off x="4832" y="3264"/>
              <a:ext cx="475" cy="256"/>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[n]</a:t>
              </a:r>
            </a:p>
          </p:txBody>
        </p:sp>
        <p:sp>
          <p:nvSpPr>
            <p:cNvPr id="21518" name="Text Box 14"/>
            <p:cNvSpPr txBox="1">
              <a:spLocks noChangeArrowheads="1"/>
            </p:cNvSpPr>
            <p:nvPr/>
          </p:nvSpPr>
          <p:spPr bwMode="auto">
            <a:xfrm>
              <a:off x="768" y="3120"/>
              <a:ext cx="37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21519" name="Line 15"/>
            <p:cNvSpPr>
              <a:spLocks noChangeShapeType="1"/>
            </p:cNvSpPr>
            <p:nvPr/>
          </p:nvSpPr>
          <p:spPr bwMode="auto">
            <a:xfrm>
              <a:off x="768" y="3392"/>
              <a:ext cx="37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0" name="Line 16"/>
            <p:cNvSpPr>
              <a:spLocks noChangeShapeType="1"/>
            </p:cNvSpPr>
            <p:nvPr/>
          </p:nvSpPr>
          <p:spPr bwMode="auto">
            <a:xfrm flipV="1">
              <a:off x="2088" y="3744"/>
              <a:ext cx="4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1" name="Line 17"/>
            <p:cNvSpPr>
              <a:spLocks noChangeShapeType="1"/>
            </p:cNvSpPr>
            <p:nvPr/>
          </p:nvSpPr>
          <p:spPr bwMode="auto">
            <a:xfrm>
              <a:off x="2088" y="3520"/>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522" name="Line 18"/>
            <p:cNvSpPr>
              <a:spLocks noChangeShapeType="1"/>
            </p:cNvSpPr>
            <p:nvPr/>
          </p:nvSpPr>
          <p:spPr bwMode="auto">
            <a:xfrm>
              <a:off x="2552" y="3520"/>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523" name="Text Box 19"/>
            <p:cNvSpPr txBox="1">
              <a:spLocks noChangeArrowheads="1"/>
            </p:cNvSpPr>
            <p:nvPr/>
          </p:nvSpPr>
          <p:spPr bwMode="auto">
            <a:xfrm>
              <a:off x="2160" y="3552"/>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p>
              <a:pPr algn="ctr" eaLnBrk="0" hangingPunct="0"/>
              <a:r>
                <a:rPr lang="en-US" altLang="en-US" sz="2000">
                  <a:latin typeface="Times New Roman" panose="02020603050405020304" pitchFamily="18" charset="0"/>
                </a:rPr>
                <a:t>c</a:t>
              </a:r>
            </a:p>
          </p:txBody>
        </p:sp>
      </p:grpSp>
      <p:sp>
        <p:nvSpPr>
          <p:cNvPr id="2" name="TextBox 1"/>
          <p:cNvSpPr txBox="1"/>
          <p:nvPr/>
        </p:nvSpPr>
        <p:spPr>
          <a:xfrm>
            <a:off x="1610639" y="5460106"/>
            <a:ext cx="6661824" cy="369332"/>
          </a:xfrm>
          <a:prstGeom prst="rect">
            <a:avLst/>
          </a:prstGeom>
          <a:noFill/>
        </p:spPr>
        <p:txBody>
          <a:bodyPr wrap="none" rtlCol="0">
            <a:spAutoFit/>
          </a:bodyPr>
          <a:lstStyle/>
          <a:p>
            <a:r>
              <a:rPr lang="en-US" i="1" err="1"/>
              <a:t>Tránh</a:t>
            </a:r>
            <a:r>
              <a:rPr lang="en-US" i="1"/>
              <a:t> </a:t>
            </a:r>
            <a:r>
              <a:rPr lang="en-US" i="1" err="1"/>
              <a:t>nhầm</a:t>
            </a:r>
            <a:r>
              <a:rPr lang="en-US" i="1"/>
              <a:t> </a:t>
            </a:r>
            <a:r>
              <a:rPr lang="en-US" i="1" err="1"/>
              <a:t>lẫn</a:t>
            </a:r>
            <a:r>
              <a:rPr lang="en-US" i="1"/>
              <a:t> </a:t>
            </a:r>
            <a:r>
              <a:rPr lang="en-US" i="1" err="1"/>
              <a:t>số</a:t>
            </a:r>
            <a:r>
              <a:rPr lang="en-US" i="1"/>
              <a:t> </a:t>
            </a:r>
            <a:r>
              <a:rPr lang="en-US" i="1" err="1"/>
              <a:t>thứ</a:t>
            </a:r>
            <a:r>
              <a:rPr lang="en-US" i="1"/>
              <a:t> </a:t>
            </a:r>
            <a:r>
              <a:rPr lang="en-US" i="1" err="1"/>
              <a:t>tự</a:t>
            </a:r>
            <a:r>
              <a:rPr lang="en-US" i="1"/>
              <a:t> </a:t>
            </a:r>
            <a:r>
              <a:rPr lang="en-US" i="1" err="1"/>
              <a:t>phần</a:t>
            </a:r>
            <a:r>
              <a:rPr lang="en-US" i="1"/>
              <a:t> </a:t>
            </a:r>
            <a:r>
              <a:rPr lang="en-US" i="1" err="1"/>
              <a:t>tử</a:t>
            </a:r>
            <a:r>
              <a:rPr lang="en-US" i="1"/>
              <a:t> </a:t>
            </a:r>
            <a:r>
              <a:rPr lang="en-US" i="1" err="1"/>
              <a:t>với</a:t>
            </a:r>
            <a:r>
              <a:rPr lang="en-US" i="1"/>
              <a:t> </a:t>
            </a:r>
            <a:r>
              <a:rPr lang="en-US" i="1" err="1"/>
              <a:t>chỉ</a:t>
            </a:r>
            <a:r>
              <a:rPr lang="en-US" i="1"/>
              <a:t> </a:t>
            </a:r>
            <a:r>
              <a:rPr lang="en-US" i="1" err="1"/>
              <a:t>số</a:t>
            </a:r>
            <a:r>
              <a:rPr lang="en-US" i="1"/>
              <a:t> </a:t>
            </a:r>
            <a:r>
              <a:rPr lang="en-US" i="1" err="1"/>
              <a:t>mảng</a:t>
            </a:r>
            <a:r>
              <a:rPr lang="en-US" i="1"/>
              <a:t> </a:t>
            </a:r>
            <a:r>
              <a:rPr lang="en-US" i="1" err="1"/>
              <a:t>trong</a:t>
            </a:r>
            <a:r>
              <a:rPr lang="en-US" i="1"/>
              <a:t> C/C++</a:t>
            </a:r>
          </a:p>
        </p:txBody>
      </p:sp>
      <p:sp>
        <p:nvSpPr>
          <p:cNvPr id="3" name="Rectangle 2"/>
          <p:cNvSpPr/>
          <p:nvPr/>
        </p:nvSpPr>
        <p:spPr>
          <a:xfrm>
            <a:off x="6159500" y="3505200"/>
            <a:ext cx="1479892" cy="369332"/>
          </a:xfrm>
          <a:prstGeom prst="rect">
            <a:avLst/>
          </a:prstGeom>
        </p:spPr>
        <p:txBody>
          <a:bodyPr wrap="none">
            <a:spAutoFit/>
          </a:bodyPr>
          <a:lstStyle/>
          <a:p>
            <a:r>
              <a:rPr lang="en-US" b="1" err="1">
                <a:solidFill>
                  <a:srgbClr val="FF0000"/>
                </a:solidFill>
              </a:rPr>
              <a:t>Hàm</a:t>
            </a:r>
            <a:r>
              <a:rPr lang="en-US" b="1">
                <a:solidFill>
                  <a:srgbClr val="FF0000"/>
                </a:solidFill>
              </a:rPr>
              <a:t> </a:t>
            </a:r>
            <a:r>
              <a:rPr lang="en-US" b="1" err="1">
                <a:solidFill>
                  <a:srgbClr val="FF0000"/>
                </a:solidFill>
              </a:rPr>
              <a:t>địa</a:t>
            </a:r>
            <a:r>
              <a:rPr lang="en-US" b="1">
                <a:solidFill>
                  <a:srgbClr val="FF0000"/>
                </a:solidFill>
              </a:rPr>
              <a:t> </a:t>
            </a:r>
            <a:r>
              <a:rPr lang="en-US" b="1" err="1">
                <a:solidFill>
                  <a:srgbClr val="FF0000"/>
                </a:solidFill>
              </a:rPr>
              <a:t>chỉ</a:t>
            </a:r>
            <a:endParaRPr lang="en-US" b="1">
              <a:solidFill>
                <a:srgbClr val="FF0000"/>
              </a:solidFill>
            </a:endParaRPr>
          </a:p>
        </p:txBody>
      </p:sp>
      <p:cxnSp>
        <p:nvCxnSpPr>
          <p:cNvPr id="5" name="Straight Arrow Connector 4"/>
          <p:cNvCxnSpPr>
            <a:stCxn id="3" idx="1"/>
          </p:cNvCxnSpPr>
          <p:nvPr/>
        </p:nvCxnSpPr>
        <p:spPr>
          <a:xfrm flipH="1" flipV="1">
            <a:off x="5578475" y="3505200"/>
            <a:ext cx="581025"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594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5F8E044-8A6B-439E-93F5-7DCE39DEC84A}" type="slidenum">
              <a:rPr lang="en-US" altLang="en-US"/>
              <a:pPr/>
              <a:t>17</a:t>
            </a:fld>
            <a:endParaRPr lang="en-US" altLang="en-US"/>
          </a:p>
        </p:txBody>
      </p:sp>
      <p:sp>
        <p:nvSpPr>
          <p:cNvPr id="22530" name="Rectangle 2"/>
          <p:cNvSpPr>
            <a:spLocks noGrp="1" noChangeArrowheads="1"/>
          </p:cNvSpPr>
          <p:nvPr>
            <p:ph type="title"/>
          </p:nvPr>
        </p:nvSpPr>
        <p:spPr/>
        <p:txBody>
          <a:bodyPr/>
          <a:lstStyle/>
          <a:p>
            <a:r>
              <a:rPr lang="en-US" altLang="en-US"/>
              <a:t>1.3. </a:t>
            </a:r>
            <a:r>
              <a:rPr lang="en-US" altLang="en-US" err="1"/>
              <a:t>Cài</a:t>
            </a:r>
            <a:r>
              <a:rPr lang="en-US" altLang="en-US"/>
              <a:t> </a:t>
            </a:r>
            <a:r>
              <a:rPr lang="en-US" altLang="en-US" err="1"/>
              <a:t>đặt</a:t>
            </a:r>
            <a:r>
              <a:rPr lang="en-US" altLang="en-US"/>
              <a:t> </a:t>
            </a:r>
            <a:r>
              <a:rPr lang="en-US" altLang="en-US" err="1"/>
              <a:t>mảng</a:t>
            </a:r>
            <a:r>
              <a:rPr lang="en-US" altLang="en-US"/>
              <a:t> </a:t>
            </a:r>
            <a:r>
              <a:rPr lang="en-US" altLang="en-US" err="1"/>
              <a:t>bằng</a:t>
            </a:r>
            <a:r>
              <a:rPr lang="en-US" altLang="en-US"/>
              <a:t> CTLT </a:t>
            </a:r>
            <a:r>
              <a:rPr lang="en-US" altLang="en-US" err="1"/>
              <a:t>tuần</a:t>
            </a:r>
            <a:r>
              <a:rPr lang="en-US" altLang="en-US"/>
              <a:t> </a:t>
            </a:r>
            <a:r>
              <a:rPr lang="en-US" altLang="en-US" err="1"/>
              <a:t>tự</a:t>
            </a:r>
            <a:endParaRPr lang="en-US" altLang="en-US"/>
          </a:p>
        </p:txBody>
      </p:sp>
      <p:sp>
        <p:nvSpPr>
          <p:cNvPr id="22531" name="Rectangle 3"/>
          <p:cNvSpPr>
            <a:spLocks noGrp="1" noChangeArrowheads="1"/>
          </p:cNvSpPr>
          <p:nvPr>
            <p:ph type="body" sz="quarter" idx="13"/>
          </p:nvPr>
        </p:nvSpPr>
        <p:spPr/>
        <p:txBody>
          <a:bodyPr/>
          <a:lstStyle/>
          <a:p>
            <a:pPr>
              <a:lnSpc>
                <a:spcPct val="90000"/>
              </a:lnSpc>
            </a:pPr>
            <a:r>
              <a:rPr lang="en-US" altLang="en-US" sz="2600" err="1">
                <a:cs typeface="Times New Roman" panose="02020603050405020304" pitchFamily="18" charset="0"/>
              </a:rPr>
              <a:t>Cài</a:t>
            </a:r>
            <a:r>
              <a:rPr lang="en-US" altLang="en-US" sz="2600">
                <a:cs typeface="Times New Roman" panose="02020603050405020304" pitchFamily="18" charset="0"/>
              </a:rPr>
              <a:t> </a:t>
            </a:r>
            <a:r>
              <a:rPr lang="en-US" altLang="en-US" sz="2600" err="1">
                <a:cs typeface="Times New Roman" panose="02020603050405020304" pitchFamily="18" charset="0"/>
              </a:rPr>
              <a:t>đặt</a:t>
            </a:r>
            <a:r>
              <a:rPr lang="en-US" altLang="en-US" sz="2600">
                <a:cs typeface="Times New Roman" panose="02020603050405020304" pitchFamily="18" charset="0"/>
              </a:rPr>
              <a:t> </a:t>
            </a:r>
            <a:r>
              <a:rPr lang="en-US" altLang="en-US" sz="2600" err="1">
                <a:cs typeface="Times New Roman" panose="02020603050405020304" pitchFamily="18" charset="0"/>
              </a:rPr>
              <a:t>mảng</a:t>
            </a:r>
            <a:r>
              <a:rPr lang="en-US" altLang="en-US" sz="2600">
                <a:cs typeface="Times New Roman" panose="02020603050405020304" pitchFamily="18" charset="0"/>
              </a:rPr>
              <a:t> </a:t>
            </a:r>
            <a:r>
              <a:rPr lang="en-US" altLang="en-US" sz="2600" err="1">
                <a:cs typeface="Times New Roman" panose="02020603050405020304" pitchFamily="18" charset="0"/>
              </a:rPr>
              <a:t>hai</a:t>
            </a:r>
            <a:r>
              <a:rPr lang="en-US" altLang="en-US" sz="2600">
                <a:cs typeface="Times New Roman" panose="02020603050405020304" pitchFamily="18" charset="0"/>
              </a:rPr>
              <a:t> </a:t>
            </a:r>
            <a:r>
              <a:rPr lang="en-US" altLang="en-US" sz="2600" err="1">
                <a:cs typeface="Times New Roman" panose="02020603050405020304" pitchFamily="18" charset="0"/>
              </a:rPr>
              <a:t>chiều</a:t>
            </a:r>
            <a:r>
              <a:rPr lang="en-US" altLang="en-US" sz="2600">
                <a:cs typeface="Times New Roman" panose="02020603050405020304" pitchFamily="18" charset="0"/>
              </a:rPr>
              <a:t>: </a:t>
            </a:r>
          </a:p>
          <a:p>
            <a:pPr lvl="1">
              <a:lnSpc>
                <a:spcPct val="90000"/>
              </a:lnSpc>
            </a:pPr>
            <a:r>
              <a:rPr lang="en-US" altLang="en-US" sz="2200">
                <a:latin typeface="Courier New" panose="02070309020205020404" pitchFamily="49" charset="0"/>
                <a:cs typeface="Courier New" panose="02070309020205020404" pitchFamily="49" charset="0"/>
              </a:rPr>
              <a:t>ARRAY : a</a:t>
            </a:r>
            <a:r>
              <a:rPr lang="en-US" altLang="en-US" sz="2200" baseline="-30000">
                <a:latin typeface="Courier New" panose="02070309020205020404" pitchFamily="49" charset="0"/>
                <a:cs typeface="Courier New" panose="02070309020205020404" pitchFamily="49" charset="0"/>
              </a:rPr>
              <a:t>2</a:t>
            </a:r>
            <a:r>
              <a:rPr lang="en-US" altLang="en-US" sz="2200">
                <a:latin typeface="Courier New" panose="02070309020205020404" pitchFamily="49" charset="0"/>
                <a:cs typeface="Courier New" panose="02070309020205020404" pitchFamily="49" charset="0"/>
              </a:rPr>
              <a:t>[2,M,N] OF </a:t>
            </a:r>
            <a:r>
              <a:rPr lang="en-US" altLang="en-US" sz="2200" i="1">
                <a:latin typeface="Courier New" panose="02070309020205020404" pitchFamily="49" charset="0"/>
                <a:cs typeface="Courier New" panose="02070309020205020404" pitchFamily="49" charset="0"/>
              </a:rPr>
              <a:t>datatype</a:t>
            </a:r>
            <a:r>
              <a:rPr lang="en-US" altLang="en-US" sz="2200">
                <a:latin typeface="Courier New" panose="02070309020205020404" pitchFamily="49" charset="0"/>
                <a:cs typeface="Courier New" panose="02070309020205020404" pitchFamily="49" charset="0"/>
              </a:rPr>
              <a:t> ; </a:t>
            </a:r>
          </a:p>
          <a:p>
            <a:pPr lvl="1">
              <a:lnSpc>
                <a:spcPct val="90000"/>
              </a:lnSpc>
            </a:pPr>
            <a:r>
              <a:rPr lang="en-US" altLang="en-US" sz="2200">
                <a:cs typeface="Times New Roman" panose="02020603050405020304" pitchFamily="18" charset="0"/>
              </a:rPr>
              <a:t>CTDL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là</a:t>
            </a:r>
            <a:r>
              <a:rPr lang="en-US" altLang="en-US" sz="2200">
                <a:cs typeface="Times New Roman" panose="02020603050405020304" pitchFamily="18" charset="0"/>
              </a:rPr>
              <a:t> </a:t>
            </a:r>
            <a:r>
              <a:rPr lang="en-US" altLang="en-US" sz="2200" err="1">
                <a:cs typeface="Times New Roman" panose="02020603050405020304" pitchFamily="18" charset="0"/>
              </a:rPr>
              <a:t>đa</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 vs. CTLT </a:t>
            </a:r>
            <a:r>
              <a:rPr lang="en-US" altLang="en-US" sz="2200" err="1">
                <a:cs typeface="Times New Roman" panose="02020603050405020304" pitchFamily="18" charset="0"/>
              </a:rPr>
              <a:t>tuần</a:t>
            </a:r>
            <a:r>
              <a:rPr lang="en-US" altLang="en-US" sz="2200">
                <a:cs typeface="Times New Roman" panose="02020603050405020304" pitchFamily="18" charset="0"/>
              </a:rPr>
              <a:t> </a:t>
            </a:r>
            <a:r>
              <a:rPr lang="en-US" altLang="en-US" sz="2200" err="1">
                <a:cs typeface="Times New Roman" panose="02020603050405020304" pitchFamily="18" charset="0"/>
              </a:rPr>
              <a:t>tự</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có</a:t>
            </a:r>
            <a:r>
              <a:rPr lang="en-US" altLang="en-US" sz="2200">
                <a:cs typeface="Times New Roman" panose="02020603050405020304" pitchFamily="18" charset="0"/>
              </a:rPr>
              <a:t> </a:t>
            </a:r>
            <a:r>
              <a:rPr lang="en-US" altLang="en-US" sz="2200" err="1">
                <a:cs typeface="Times New Roman" panose="02020603050405020304" pitchFamily="18" charset="0"/>
              </a:rPr>
              <a:t>một</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a:t>
            </a:r>
          </a:p>
          <a:p>
            <a:pPr lvl="1">
              <a:lnSpc>
                <a:spcPct val="90000"/>
              </a:lnSpc>
            </a:pPr>
            <a:r>
              <a:rPr lang="en-US" altLang="en-US" sz="2200">
                <a:cs typeface="Times New Roman" panose="02020603050405020304" pitchFamily="18" charset="0"/>
              </a:rPr>
              <a:t>=&gt; </a:t>
            </a:r>
            <a:r>
              <a:rPr lang="en-US" altLang="en-US" sz="2200" err="1">
                <a:cs typeface="Times New Roman" panose="02020603050405020304" pitchFamily="18" charset="0"/>
              </a:rPr>
              <a:t>Chuyển</a:t>
            </a:r>
            <a:r>
              <a:rPr lang="en-US" altLang="en-US" sz="2200">
                <a:cs typeface="Times New Roman" panose="02020603050405020304" pitchFamily="18" charset="0"/>
              </a:rPr>
              <a:t> </a:t>
            </a:r>
            <a:r>
              <a:rPr lang="en-US" altLang="en-US" sz="2200" err="1">
                <a:cs typeface="Times New Roman" panose="02020603050405020304" pitchFamily="18" charset="0"/>
              </a:rPr>
              <a:t>đổi</a:t>
            </a:r>
            <a:r>
              <a:rPr lang="en-US" altLang="en-US" sz="2200">
                <a:cs typeface="Times New Roman" panose="02020603050405020304" pitchFamily="18" charset="0"/>
              </a:rPr>
              <a:t> </a:t>
            </a:r>
            <a:r>
              <a:rPr lang="en-US" altLang="en-US" sz="2200" err="1">
                <a:cs typeface="Times New Roman" panose="02020603050405020304" pitchFamily="18" charset="0"/>
              </a:rPr>
              <a:t>từ</a:t>
            </a:r>
            <a:r>
              <a:rPr lang="en-US" altLang="en-US" sz="2200">
                <a:cs typeface="Times New Roman" panose="02020603050405020304" pitchFamily="18" charset="0"/>
              </a:rPr>
              <a:t> </a:t>
            </a:r>
            <a:r>
              <a:rPr lang="en-US" altLang="en-US" sz="2200" err="1">
                <a:cs typeface="Times New Roman" panose="02020603050405020304" pitchFamily="18" charset="0"/>
              </a:rPr>
              <a:t>cấu</a:t>
            </a:r>
            <a:r>
              <a:rPr lang="en-US" altLang="en-US" sz="2200">
                <a:cs typeface="Times New Roman" panose="02020603050405020304" pitchFamily="18" charset="0"/>
              </a:rPr>
              <a:t> </a:t>
            </a:r>
            <a:r>
              <a:rPr lang="en-US" altLang="en-US" sz="2200" err="1">
                <a:cs typeface="Times New Roman" panose="02020603050405020304" pitchFamily="18" charset="0"/>
              </a:rPr>
              <a:t>trúc</a:t>
            </a:r>
            <a:r>
              <a:rPr lang="en-US" altLang="en-US" sz="2200">
                <a:cs typeface="Times New Roman" panose="02020603050405020304" pitchFamily="18" charset="0"/>
              </a:rPr>
              <a:t> </a:t>
            </a:r>
            <a:r>
              <a:rPr lang="en-US" altLang="en-US" sz="2200" err="1">
                <a:cs typeface="Times New Roman" panose="02020603050405020304" pitchFamily="18" charset="0"/>
              </a:rPr>
              <a:t>đa</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 sang </a:t>
            </a:r>
            <a:r>
              <a:rPr lang="en-US" altLang="en-US" sz="2200" err="1">
                <a:cs typeface="Times New Roman" panose="02020603050405020304" pitchFamily="18" charset="0"/>
              </a:rPr>
              <a:t>cấu</a:t>
            </a:r>
            <a:r>
              <a:rPr lang="en-US" altLang="en-US" sz="2200">
                <a:cs typeface="Times New Roman" panose="02020603050405020304" pitchFamily="18" charset="0"/>
              </a:rPr>
              <a:t> </a:t>
            </a:r>
            <a:r>
              <a:rPr lang="en-US" altLang="en-US" sz="2200" err="1">
                <a:cs typeface="Times New Roman" panose="02020603050405020304" pitchFamily="18" charset="0"/>
              </a:rPr>
              <a:t>trúc</a:t>
            </a:r>
            <a:r>
              <a:rPr lang="en-US" altLang="en-US" sz="2200">
                <a:cs typeface="Times New Roman" panose="02020603050405020304" pitchFamily="18" charset="0"/>
              </a:rPr>
              <a:t> </a:t>
            </a:r>
            <a:r>
              <a:rPr lang="en-US" altLang="en-US" sz="2200" err="1">
                <a:cs typeface="Times New Roman" panose="02020603050405020304" pitchFamily="18" charset="0"/>
              </a:rPr>
              <a:t>một</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 </a:t>
            </a:r>
            <a:r>
              <a:rPr lang="en-US" altLang="en-US" sz="2200" err="1">
                <a:cs typeface="Times New Roman" panose="02020603050405020304" pitchFamily="18" charset="0"/>
              </a:rPr>
              <a:t>và</a:t>
            </a:r>
            <a:r>
              <a:rPr lang="en-US" altLang="en-US" sz="2200">
                <a:cs typeface="Times New Roman" panose="02020603050405020304" pitchFamily="18" charset="0"/>
              </a:rPr>
              <a:t> </a:t>
            </a:r>
            <a:r>
              <a:rPr lang="en-US" altLang="en-US" sz="2200" err="1">
                <a:cs typeface="Times New Roman" panose="02020603050405020304" pitchFamily="18" charset="0"/>
              </a:rPr>
              <a:t>ngược</a:t>
            </a:r>
            <a:r>
              <a:rPr lang="en-US" altLang="en-US" sz="2200">
                <a:cs typeface="Times New Roman" panose="02020603050405020304" pitchFamily="18" charset="0"/>
              </a:rPr>
              <a:t> </a:t>
            </a:r>
            <a:r>
              <a:rPr lang="en-US" altLang="en-US" sz="2200" err="1">
                <a:cs typeface="Times New Roman" panose="02020603050405020304" pitchFamily="18" charset="0"/>
              </a:rPr>
              <a:t>lại</a:t>
            </a:r>
            <a:r>
              <a:rPr lang="en-US" altLang="en-US" sz="2200">
                <a:cs typeface="Times New Roman" panose="02020603050405020304" pitchFamily="18" charset="0"/>
              </a:rPr>
              <a:t>. </a:t>
            </a:r>
          </a:p>
          <a:p>
            <a:pPr lvl="1" algn="just">
              <a:lnSpc>
                <a:spcPct val="90000"/>
              </a:lnSpc>
            </a:pPr>
            <a:r>
              <a:rPr lang="en-US" altLang="en-US" sz="2200" err="1">
                <a:cs typeface="Times New Roman" panose="02020603050405020304" pitchFamily="18" charset="0"/>
              </a:rPr>
              <a:t>Bước</a:t>
            </a:r>
            <a:r>
              <a:rPr lang="en-US" altLang="en-US" sz="2200">
                <a:cs typeface="Times New Roman" panose="02020603050405020304" pitchFamily="18" charset="0"/>
              </a:rPr>
              <a:t> 1: </a:t>
            </a:r>
            <a:r>
              <a:rPr lang="en-US" altLang="en-US" sz="2200" err="1">
                <a:cs typeface="Times New Roman" panose="02020603050405020304" pitchFamily="18" charset="0"/>
              </a:rPr>
              <a:t>xác</a:t>
            </a:r>
            <a:r>
              <a:rPr lang="en-US" altLang="en-US" sz="2200">
                <a:cs typeface="Times New Roman" panose="02020603050405020304" pitchFamily="18" charset="0"/>
              </a:rPr>
              <a:t> </a:t>
            </a:r>
            <a:r>
              <a:rPr lang="en-US" altLang="en-US" sz="2200" err="1">
                <a:cs typeface="Times New Roman" panose="02020603050405020304" pitchFamily="18" charset="0"/>
              </a:rPr>
              <a:t>định</a:t>
            </a:r>
            <a:r>
              <a:rPr lang="en-US" altLang="en-US" sz="2200">
                <a:cs typeface="Times New Roman" panose="02020603050405020304" pitchFamily="18" charset="0"/>
              </a:rPr>
              <a:t> </a:t>
            </a:r>
            <a:r>
              <a:rPr lang="en-US" altLang="en-US" sz="2200" err="1">
                <a:cs typeface="Times New Roman" panose="02020603050405020304" pitchFamily="18" charset="0"/>
              </a:rPr>
              <a:t>các</a:t>
            </a:r>
            <a:r>
              <a:rPr lang="en-US" altLang="en-US" sz="2200">
                <a:cs typeface="Times New Roman" panose="02020603050405020304" pitchFamily="18" charset="0"/>
              </a:rPr>
              <a:t> </a:t>
            </a:r>
            <a:r>
              <a:rPr lang="en-US" altLang="en-US" sz="2200" err="1">
                <a:cs typeface="Times New Roman" panose="02020603050405020304" pitchFamily="18" charset="0"/>
              </a:rPr>
              <a:t>đặc</a:t>
            </a:r>
            <a:r>
              <a:rPr lang="en-US" altLang="en-US" sz="2200">
                <a:cs typeface="Times New Roman" panose="02020603050405020304" pitchFamily="18" charset="0"/>
              </a:rPr>
              <a:t> </a:t>
            </a:r>
            <a:r>
              <a:rPr lang="en-US" altLang="en-US" sz="2200" err="1">
                <a:cs typeface="Times New Roman" panose="02020603050405020304" pitchFamily="18" charset="0"/>
              </a:rPr>
              <a:t>trưng</a:t>
            </a:r>
            <a:r>
              <a:rPr lang="en-US" altLang="en-US" sz="2200">
                <a:cs typeface="Times New Roman" panose="02020603050405020304" pitchFamily="18" charset="0"/>
              </a:rPr>
              <a:t> </a:t>
            </a:r>
            <a:r>
              <a:rPr lang="en-US" altLang="en-US" sz="2200" err="1">
                <a:cs typeface="Times New Roman" panose="02020603050405020304" pitchFamily="18" charset="0"/>
              </a:rPr>
              <a:t>của</a:t>
            </a:r>
            <a:r>
              <a:rPr lang="en-US" altLang="en-US" sz="2200">
                <a:cs typeface="Times New Roman" panose="02020603050405020304" pitchFamily="18" charset="0"/>
              </a:rPr>
              <a:t> CTLT </a:t>
            </a:r>
            <a:r>
              <a:rPr lang="en-US" altLang="en-US" sz="2200" err="1">
                <a:cs typeface="Times New Roman" panose="02020603050405020304" pitchFamily="18" charset="0"/>
              </a:rPr>
              <a:t>tuần</a:t>
            </a:r>
            <a:r>
              <a:rPr lang="en-US" altLang="en-US" sz="2200">
                <a:cs typeface="Times New Roman" panose="02020603050405020304" pitchFamily="18" charset="0"/>
              </a:rPr>
              <a:t> </a:t>
            </a:r>
            <a:r>
              <a:rPr lang="en-US" altLang="en-US" sz="2200" err="1">
                <a:cs typeface="Times New Roman" panose="02020603050405020304" pitchFamily="18" charset="0"/>
              </a:rPr>
              <a:t>tự</a:t>
            </a:r>
            <a:r>
              <a:rPr lang="en-US" altLang="en-US" sz="2200">
                <a:cs typeface="Times New Roman" panose="02020603050405020304" pitchFamily="18" charset="0"/>
              </a:rPr>
              <a:t>:</a:t>
            </a:r>
            <a:endParaRPr lang="en-US" altLang="en-US" sz="2200">
              <a:latin typeface=".VnTime" pitchFamily="34" charset="0"/>
              <a:cs typeface="Times New Roman" panose="02020603050405020304" pitchFamily="18" charset="0"/>
            </a:endParaRPr>
          </a:p>
          <a:p>
            <a:pPr lvl="2" algn="just">
              <a:lnSpc>
                <a:spcPct val="90000"/>
              </a:lnSpc>
            </a:pPr>
            <a:r>
              <a:rPr lang="en-US" altLang="en-US" sz="2000" err="1">
                <a:cs typeface="Times New Roman" panose="02020603050405020304" pitchFamily="18" charset="0"/>
              </a:rPr>
              <a:t>Số</a:t>
            </a:r>
            <a:r>
              <a:rPr lang="en-US" altLang="en-US" sz="2000">
                <a:cs typeface="Times New Roman" panose="02020603050405020304" pitchFamily="18" charset="0"/>
              </a:rPr>
              <a:t> ô </a:t>
            </a:r>
            <a:r>
              <a:rPr lang="en-US" altLang="en-US" sz="2000" err="1">
                <a:cs typeface="Times New Roman" panose="02020603050405020304" pitchFamily="18" charset="0"/>
              </a:rPr>
              <a:t>nhớ</a:t>
            </a:r>
            <a:r>
              <a:rPr lang="en-US" altLang="en-US" sz="2000">
                <a:cs typeface="Times New Roman" panose="02020603050405020304" pitchFamily="18" charset="0"/>
              </a:rPr>
              <a:t> : M*N,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lvl="2" algn="just">
              <a:lnSpc>
                <a:spcPct val="90000"/>
              </a:lnSpc>
            </a:pP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mỗi</a:t>
            </a:r>
            <a:r>
              <a:rPr lang="en-US" altLang="en-US" sz="2000">
                <a:cs typeface="Times New Roman" panose="02020603050405020304" pitchFamily="18" charset="0"/>
              </a:rPr>
              <a:t> ô </a:t>
            </a:r>
            <a:r>
              <a:rPr lang="en-US" altLang="en-US" sz="2000" err="1">
                <a:cs typeface="Times New Roman" panose="02020603050405020304" pitchFamily="18" charset="0"/>
              </a:rPr>
              <a:t>nhớ</a:t>
            </a:r>
            <a:r>
              <a:rPr lang="en-US" altLang="en-US" sz="2000">
                <a:cs typeface="Times New Roman" panose="02020603050405020304" pitchFamily="18" charset="0"/>
              </a:rPr>
              <a:t> :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i="1">
                <a:cs typeface="Times New Roman" panose="02020603050405020304" pitchFamily="18" charset="0"/>
              </a:rPr>
              <a:t>datatype</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lvl="2">
              <a:lnSpc>
                <a:spcPct val="115000"/>
              </a:lnSpc>
            </a:pPr>
            <a:r>
              <a:rPr lang="en-US" altLang="en-US" sz="2000">
                <a:cs typeface="Times New Roman" panose="02020603050405020304" pitchFamily="18" charset="0"/>
              </a:rPr>
              <a:t>Ta </a:t>
            </a:r>
            <a:r>
              <a:rPr lang="en-US" altLang="en-US" sz="2000" err="1">
                <a:cs typeface="Times New Roman" panose="02020603050405020304" pitchFamily="18" charset="0"/>
              </a:rPr>
              <a:t>cần</a:t>
            </a:r>
            <a:r>
              <a:rPr lang="en-US" altLang="en-US" sz="2000">
                <a:cs typeface="Times New Roman" panose="02020603050405020304" pitchFamily="18" charset="0"/>
              </a:rPr>
              <a:t> </a:t>
            </a:r>
            <a:r>
              <a:rPr lang="en-US" altLang="en-US" sz="2000" err="1">
                <a:cs typeface="Times New Roman" panose="02020603050405020304" pitchFamily="18" charset="0"/>
              </a:rPr>
              <a:t>dành</a:t>
            </a:r>
            <a:r>
              <a:rPr lang="en-US" altLang="en-US" sz="2000">
                <a:cs typeface="Times New Roman" panose="02020603050405020304" pitchFamily="18" charset="0"/>
              </a:rPr>
              <a:t> </a:t>
            </a:r>
            <a:r>
              <a:rPr lang="en-US" altLang="en-US" sz="2000" err="1">
                <a:cs typeface="Times New Roman" panose="02020603050405020304" pitchFamily="18" charset="0"/>
              </a:rPr>
              <a:t>ra</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khối</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liên</a:t>
            </a:r>
            <a:r>
              <a:rPr lang="en-US" altLang="en-US" sz="2000">
                <a:cs typeface="Times New Roman" panose="02020603050405020304" pitchFamily="18" charset="0"/>
              </a:rPr>
              <a:t> </a:t>
            </a:r>
            <a:r>
              <a:rPr lang="en-US" altLang="en-US" sz="2000" err="1">
                <a:cs typeface="Times New Roman" panose="02020603050405020304" pitchFamily="18" charset="0"/>
              </a:rPr>
              <a:t>tục</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i="1">
                <a:cs typeface="Times New Roman" panose="02020603050405020304" pitchFamily="18" charset="0"/>
              </a:rPr>
              <a:t>c</a:t>
            </a:r>
            <a:r>
              <a:rPr lang="en-US" altLang="en-US">
                <a:cs typeface="Times New Roman" panose="02020603050405020304" pitchFamily="18" charset="0"/>
              </a:rPr>
              <a:t>*</a:t>
            </a:r>
            <a:r>
              <a:rPr lang="en-US" altLang="en-US" sz="2000" i="1">
                <a:cs typeface="Times New Roman" panose="02020603050405020304" pitchFamily="18" charset="0"/>
              </a:rPr>
              <a:t>M</a:t>
            </a:r>
            <a:r>
              <a:rPr lang="en-US" altLang="en-US">
                <a:cs typeface="Times New Roman" panose="02020603050405020304" pitchFamily="18" charset="0"/>
              </a:rPr>
              <a:t>*</a:t>
            </a:r>
            <a:r>
              <a:rPr lang="en-US" altLang="en-US" sz="2000" i="1">
                <a:cs typeface="Times New Roman" panose="02020603050405020304" pitchFamily="18" charset="0"/>
              </a:rPr>
              <a:t>N</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địa</a:t>
            </a:r>
            <a:r>
              <a:rPr lang="en-US" altLang="en-US" sz="2000">
                <a:cs typeface="Times New Roman" panose="02020603050405020304" pitchFamily="18" charset="0"/>
              </a:rPr>
              <a:t> </a:t>
            </a:r>
            <a:r>
              <a:rPr lang="en-US" altLang="en-US" sz="2000" err="1">
                <a:cs typeface="Times New Roman" panose="02020603050405020304" pitchFamily="18" charset="0"/>
              </a:rPr>
              <a:t>chỉ</a:t>
            </a:r>
            <a:r>
              <a:rPr lang="en-US" altLang="en-US" sz="2000">
                <a:cs typeface="Times New Roman" panose="02020603050405020304" pitchFamily="18" charset="0"/>
              </a:rPr>
              <a:t> </a:t>
            </a:r>
            <a:r>
              <a:rPr lang="en-US" altLang="en-US" sz="2000" err="1">
                <a:cs typeface="Times New Roman" panose="02020603050405020304" pitchFamily="18" charset="0"/>
              </a:rPr>
              <a:t>đầu</a:t>
            </a:r>
            <a:r>
              <a:rPr lang="en-US" altLang="en-US" sz="2000">
                <a:cs typeface="Times New Roman" panose="02020603050405020304" pitchFamily="18" charset="0"/>
              </a:rPr>
              <a:t> </a:t>
            </a:r>
            <a:r>
              <a:rPr lang="en-US" altLang="en-US" sz="2000" err="1">
                <a:cs typeface="Times New Roman" panose="02020603050405020304" pitchFamily="18" charset="0"/>
              </a:rPr>
              <a:t>tiên</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a:t>
            </a:r>
            <a:r>
              <a:rPr lang="en-US" altLang="en-US" sz="2000" baseline="-30000">
                <a:cs typeface="Times New Roman" panose="02020603050405020304" pitchFamily="18" charset="0"/>
              </a:rPr>
              <a:t>0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cho</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này</a:t>
            </a:r>
            <a:r>
              <a:rPr lang="en-US" altLang="en-US" sz="2000">
                <a:cs typeface="Times New Roman" panose="02020603050405020304" pitchFamily="18" charset="0"/>
              </a:rPr>
              <a:t>.</a:t>
            </a:r>
          </a:p>
        </p:txBody>
      </p:sp>
    </p:spTree>
    <p:extLst>
      <p:ext uri="{BB962C8B-B14F-4D97-AF65-F5344CB8AC3E}">
        <p14:creationId xmlns:p14="http://schemas.microsoft.com/office/powerpoint/2010/main" val="345455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CEA9146-D663-4C24-A79B-F525CB889FEC}" type="slidenum">
              <a:rPr lang="en-US" altLang="en-US"/>
              <a:pPr/>
              <a:t>18</a:t>
            </a:fld>
            <a:endParaRPr lang="en-US" altLang="en-US"/>
          </a:p>
        </p:txBody>
      </p:sp>
      <p:sp>
        <p:nvSpPr>
          <p:cNvPr id="25602" name="Rectangle 2"/>
          <p:cNvSpPr>
            <a:spLocks noGrp="1" noChangeArrowheads="1"/>
          </p:cNvSpPr>
          <p:nvPr>
            <p:ph type="title"/>
          </p:nvPr>
        </p:nvSpPr>
        <p:spPr/>
        <p:txBody>
          <a:bodyPr/>
          <a:lstStyle/>
          <a:p>
            <a:r>
              <a:rPr lang="en-US" altLang="en-US"/>
              <a:t>1.3. </a:t>
            </a:r>
            <a:r>
              <a:rPr lang="en-US" altLang="en-US" err="1"/>
              <a:t>Cài</a:t>
            </a:r>
            <a:r>
              <a:rPr lang="en-US" altLang="en-US"/>
              <a:t> </a:t>
            </a:r>
            <a:r>
              <a:rPr lang="en-US" altLang="en-US" err="1"/>
              <a:t>đặt</a:t>
            </a:r>
            <a:r>
              <a:rPr lang="en-US" altLang="en-US"/>
              <a:t> </a:t>
            </a:r>
            <a:r>
              <a:rPr lang="en-US" altLang="en-US" err="1"/>
              <a:t>mảng</a:t>
            </a:r>
            <a:r>
              <a:rPr lang="en-US" altLang="en-US"/>
              <a:t> </a:t>
            </a:r>
            <a:r>
              <a:rPr lang="en-US" altLang="en-US" err="1"/>
              <a:t>bằng</a:t>
            </a:r>
            <a:r>
              <a:rPr lang="en-US" altLang="en-US"/>
              <a:t> CTLT </a:t>
            </a:r>
            <a:r>
              <a:rPr lang="en-US" altLang="en-US" err="1"/>
              <a:t>tuần</a:t>
            </a:r>
            <a:r>
              <a:rPr lang="en-US" altLang="en-US"/>
              <a:t> </a:t>
            </a:r>
            <a:r>
              <a:rPr lang="en-US" altLang="en-US" err="1"/>
              <a:t>tự</a:t>
            </a:r>
            <a:endParaRPr lang="en-US" altLang="en-US"/>
          </a:p>
        </p:txBody>
      </p:sp>
      <p:sp>
        <p:nvSpPr>
          <p:cNvPr id="25603" name="Rectangle 3"/>
          <p:cNvSpPr>
            <a:spLocks noGrp="1" noChangeArrowheads="1"/>
          </p:cNvSpPr>
          <p:nvPr>
            <p:ph type="body" sz="quarter" idx="13"/>
          </p:nvPr>
        </p:nvSpPr>
        <p:spPr/>
        <p:txBody>
          <a:bodyPr/>
          <a:lstStyle/>
          <a:p>
            <a:pPr>
              <a:lnSpc>
                <a:spcPct val="90000"/>
              </a:lnSpc>
            </a:pPr>
            <a:r>
              <a:rPr lang="en-US" altLang="en-US" sz="2600" err="1">
                <a:cs typeface="Times New Roman" panose="02020603050405020304" pitchFamily="18" charset="0"/>
              </a:rPr>
              <a:t>Cài</a:t>
            </a:r>
            <a:r>
              <a:rPr lang="en-US" altLang="en-US" sz="2600">
                <a:cs typeface="Times New Roman" panose="02020603050405020304" pitchFamily="18" charset="0"/>
              </a:rPr>
              <a:t> </a:t>
            </a:r>
            <a:r>
              <a:rPr lang="en-US" altLang="en-US" sz="2600" err="1">
                <a:cs typeface="Times New Roman" panose="02020603050405020304" pitchFamily="18" charset="0"/>
              </a:rPr>
              <a:t>đặt</a:t>
            </a:r>
            <a:r>
              <a:rPr lang="en-US" altLang="en-US" sz="2600">
                <a:cs typeface="Times New Roman" panose="02020603050405020304" pitchFamily="18" charset="0"/>
              </a:rPr>
              <a:t> </a:t>
            </a:r>
            <a:r>
              <a:rPr lang="en-US" altLang="en-US" sz="2600" err="1">
                <a:cs typeface="Times New Roman" panose="02020603050405020304" pitchFamily="18" charset="0"/>
              </a:rPr>
              <a:t>mảng</a:t>
            </a:r>
            <a:r>
              <a:rPr lang="en-US" altLang="en-US" sz="2600">
                <a:cs typeface="Times New Roman" panose="02020603050405020304" pitchFamily="18" charset="0"/>
              </a:rPr>
              <a:t> </a:t>
            </a:r>
            <a:r>
              <a:rPr lang="en-US" altLang="en-US" sz="2600" err="1">
                <a:cs typeface="Times New Roman" panose="02020603050405020304" pitchFamily="18" charset="0"/>
              </a:rPr>
              <a:t>hai</a:t>
            </a:r>
            <a:r>
              <a:rPr lang="en-US" altLang="en-US" sz="2600">
                <a:cs typeface="Times New Roman" panose="02020603050405020304" pitchFamily="18" charset="0"/>
              </a:rPr>
              <a:t> </a:t>
            </a:r>
            <a:r>
              <a:rPr lang="en-US" altLang="en-US" sz="2600" err="1">
                <a:cs typeface="Times New Roman" panose="02020603050405020304" pitchFamily="18" charset="0"/>
              </a:rPr>
              <a:t>chiều</a:t>
            </a:r>
            <a:r>
              <a:rPr lang="en-US" altLang="en-US" sz="2600">
                <a:cs typeface="Times New Roman" panose="02020603050405020304" pitchFamily="18" charset="0"/>
              </a:rPr>
              <a:t>: </a:t>
            </a:r>
          </a:p>
          <a:p>
            <a:pPr lvl="1">
              <a:lnSpc>
                <a:spcPct val="90000"/>
              </a:lnSpc>
            </a:pPr>
            <a:r>
              <a:rPr lang="en-US" altLang="en-US" sz="2200">
                <a:latin typeface="Courier New" panose="02070309020205020404" pitchFamily="49" charset="0"/>
                <a:cs typeface="Courier New" panose="02070309020205020404" pitchFamily="49" charset="0"/>
              </a:rPr>
              <a:t>ARRAY : a</a:t>
            </a:r>
            <a:r>
              <a:rPr lang="en-US" altLang="en-US" sz="2200" baseline="-30000">
                <a:latin typeface="Courier New" panose="02070309020205020404" pitchFamily="49" charset="0"/>
                <a:cs typeface="Courier New" panose="02070309020205020404" pitchFamily="49" charset="0"/>
              </a:rPr>
              <a:t>2</a:t>
            </a:r>
            <a:r>
              <a:rPr lang="en-US" altLang="en-US" sz="2200">
                <a:latin typeface="Courier New" panose="02070309020205020404" pitchFamily="49" charset="0"/>
                <a:cs typeface="Courier New" panose="02070309020205020404" pitchFamily="49" charset="0"/>
              </a:rPr>
              <a:t>[2,M,N] OF </a:t>
            </a:r>
            <a:r>
              <a:rPr lang="en-US" altLang="en-US" sz="2200" i="1">
                <a:latin typeface="Courier New" panose="02070309020205020404" pitchFamily="49" charset="0"/>
                <a:cs typeface="Courier New" panose="02070309020205020404" pitchFamily="49" charset="0"/>
              </a:rPr>
              <a:t>datatype</a:t>
            </a:r>
            <a:r>
              <a:rPr lang="en-US" altLang="en-US" sz="2200">
                <a:latin typeface="Courier New" panose="02070309020205020404" pitchFamily="49" charset="0"/>
                <a:cs typeface="Courier New" panose="02070309020205020404" pitchFamily="49" charset="0"/>
              </a:rPr>
              <a:t> ; </a:t>
            </a:r>
          </a:p>
          <a:p>
            <a:pPr lvl="1" algn="just">
              <a:lnSpc>
                <a:spcPct val="90000"/>
              </a:lnSpc>
            </a:pPr>
            <a:r>
              <a:rPr lang="en-US" altLang="en-US" sz="2000" err="1">
                <a:cs typeface="Times New Roman" panose="02020603050405020304" pitchFamily="18" charset="0"/>
              </a:rPr>
              <a:t>Bước</a:t>
            </a:r>
            <a:r>
              <a:rPr lang="en-US" altLang="en-US" sz="2000">
                <a:cs typeface="Times New Roman" panose="02020603050405020304" pitchFamily="18" charset="0"/>
              </a:rPr>
              <a:t> </a:t>
            </a:r>
            <a:r>
              <a:rPr lang="en-US" altLang="en-US" sz="2000" err="1">
                <a:cs typeface="Times New Roman" panose="02020603050405020304" pitchFamily="18" charset="0"/>
              </a:rPr>
              <a:t>hai</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p>
          <a:p>
            <a:pPr lvl="2" algn="just">
              <a:lnSpc>
                <a:spcPct val="90000"/>
              </a:lnSpc>
            </a:pP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hai</a:t>
            </a:r>
            <a:r>
              <a:rPr lang="en-US" altLang="en-US" sz="2000">
                <a:cs typeface="Times New Roman" panose="02020603050405020304" pitchFamily="18" charset="0"/>
              </a:rPr>
              <a:t> </a:t>
            </a:r>
            <a:r>
              <a:rPr lang="en-US" altLang="en-US" sz="2000" err="1">
                <a:cs typeface="Times New Roman" panose="02020603050405020304" pitchFamily="18" charset="0"/>
              </a:rPr>
              <a:t>phương</a:t>
            </a:r>
            <a:r>
              <a:rPr lang="en-US" altLang="en-US" sz="2000">
                <a:cs typeface="Times New Roman" panose="02020603050405020304" pitchFamily="18" charset="0"/>
              </a:rPr>
              <a:t> </a:t>
            </a:r>
            <a:r>
              <a:rPr lang="en-US" altLang="en-US" sz="2000" err="1">
                <a:cs typeface="Times New Roman" panose="02020603050405020304" pitchFamily="18" charset="0"/>
              </a:rPr>
              <a:t>pháp</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lvl="2" algn="just">
              <a:lnSpc>
                <a:spcPct val="90000"/>
              </a:lnSpc>
            </a:pPr>
            <a:r>
              <a:rPr lang="en-US" altLang="en-US" sz="2000" i="1">
                <a:cs typeface="Times New Roman" panose="02020603050405020304" pitchFamily="18" charset="0"/>
              </a:rPr>
              <a:t>Theo </a:t>
            </a:r>
            <a:r>
              <a:rPr lang="en-US" altLang="en-US" sz="2000" i="1" err="1">
                <a:cs typeface="Times New Roman" panose="02020603050405020304" pitchFamily="18" charset="0"/>
              </a:rPr>
              <a:t>thứ</a:t>
            </a:r>
            <a:r>
              <a:rPr lang="en-US" altLang="en-US" sz="2000" i="1">
                <a:cs typeface="Times New Roman" panose="02020603050405020304" pitchFamily="18" charset="0"/>
              </a:rPr>
              <a:t> </a:t>
            </a:r>
            <a:r>
              <a:rPr lang="en-US" altLang="en-US" sz="2000" i="1" err="1">
                <a:cs typeface="Times New Roman" panose="02020603050405020304" pitchFamily="18" charset="0"/>
              </a:rPr>
              <a:t>tự</a:t>
            </a:r>
            <a:r>
              <a:rPr lang="en-US" altLang="en-US" sz="2000" i="1">
                <a:cs typeface="Times New Roman" panose="02020603050405020304" pitchFamily="18" charset="0"/>
              </a:rPr>
              <a:t> </a:t>
            </a:r>
            <a:r>
              <a:rPr lang="en-US" altLang="en-US" sz="2000" i="1" err="1">
                <a:cs typeface="Times New Roman" panose="02020603050405020304" pitchFamily="18" charset="0"/>
              </a:rPr>
              <a:t>ưu</a:t>
            </a:r>
            <a:r>
              <a:rPr lang="en-US" altLang="en-US" sz="2000" i="1">
                <a:cs typeface="Times New Roman" panose="02020603050405020304" pitchFamily="18" charset="0"/>
              </a:rPr>
              <a:t> </a:t>
            </a:r>
            <a:r>
              <a:rPr lang="en-US" altLang="en-US" sz="2000" i="1" err="1">
                <a:cs typeface="Times New Roman" panose="02020603050405020304" pitchFamily="18" charset="0"/>
              </a:rPr>
              <a:t>tiên</a:t>
            </a:r>
            <a:r>
              <a:rPr lang="en-US" altLang="en-US" sz="2000" i="1">
                <a:cs typeface="Times New Roman" panose="02020603050405020304" pitchFamily="18" charset="0"/>
              </a:rPr>
              <a:t> </a:t>
            </a:r>
            <a:r>
              <a:rPr lang="en-US" altLang="en-US" sz="2000" i="1"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sẽ</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lần</a:t>
            </a:r>
            <a:r>
              <a:rPr lang="en-US" altLang="en-US" sz="2000">
                <a:cs typeface="Times New Roman" panose="02020603050405020304" pitchFamily="18" charset="0"/>
              </a:rPr>
              <a:t> </a:t>
            </a:r>
            <a:r>
              <a:rPr lang="en-US" altLang="en-US" sz="2000" err="1">
                <a:cs typeface="Times New Roman" panose="02020603050405020304" pitchFamily="18" charset="0"/>
              </a:rPr>
              <a:t>lượt</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từng</a:t>
            </a:r>
            <a:r>
              <a:rPr lang="en-US" altLang="en-US" sz="2000">
                <a:cs typeface="Times New Roman" panose="02020603050405020304" pitchFamily="18" charset="0"/>
              </a:rPr>
              <a:t> </a:t>
            </a:r>
            <a:r>
              <a:rPr lang="en-US" altLang="en-US" sz="2000"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hết</a:t>
            </a:r>
            <a:r>
              <a:rPr lang="en-US" altLang="en-US" sz="2000">
                <a:cs typeface="Times New Roman" panose="02020603050405020304" pitchFamily="18" charset="0"/>
              </a:rPr>
              <a:t> </a:t>
            </a:r>
            <a:r>
              <a:rPr lang="en-US" altLang="en-US" sz="2000"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này</a:t>
            </a:r>
            <a:r>
              <a:rPr lang="en-US" altLang="en-US" sz="2000">
                <a:cs typeface="Times New Roman" panose="02020603050405020304" pitchFamily="18" charset="0"/>
              </a:rPr>
              <a:t> </a:t>
            </a:r>
            <a:r>
              <a:rPr lang="en-US" altLang="en-US" sz="2000" err="1">
                <a:cs typeface="Times New Roman" panose="02020603050405020304" pitchFamily="18" charset="0"/>
              </a:rPr>
              <a:t>đến</a:t>
            </a:r>
            <a:r>
              <a:rPr lang="en-US" altLang="en-US" sz="2000">
                <a:cs typeface="Times New Roman" panose="02020603050405020304" pitchFamily="18" charset="0"/>
              </a:rPr>
              <a:t> </a:t>
            </a:r>
            <a:r>
              <a:rPr lang="en-US" altLang="en-US" sz="2000"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kia</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từ</a:t>
            </a:r>
            <a:r>
              <a:rPr lang="en-US" altLang="en-US" sz="2000">
                <a:cs typeface="Times New Roman" panose="02020603050405020304" pitchFamily="18" charset="0"/>
              </a:rPr>
              <a:t> </a:t>
            </a:r>
            <a:r>
              <a:rPr lang="en-US" altLang="en-US" sz="2000" err="1">
                <a:cs typeface="Times New Roman" panose="02020603050405020304" pitchFamily="18" charset="0"/>
              </a:rPr>
              <a:t>trên</a:t>
            </a:r>
            <a:r>
              <a:rPr lang="en-US" altLang="en-US" sz="2000">
                <a:cs typeface="Times New Roman" panose="02020603050405020304" pitchFamily="18" charset="0"/>
              </a:rPr>
              <a:t> </a:t>
            </a:r>
            <a:r>
              <a:rPr lang="en-US" altLang="en-US" sz="2000" err="1">
                <a:cs typeface="Times New Roman" panose="02020603050405020304" pitchFamily="18" charset="0"/>
              </a:rPr>
              <a:t>xuống</a:t>
            </a:r>
            <a:r>
              <a:rPr lang="en-US" altLang="en-US" sz="2000">
                <a:cs typeface="Times New Roman" panose="02020603050405020304" pitchFamily="18" charset="0"/>
              </a:rPr>
              <a:t> </a:t>
            </a:r>
            <a:r>
              <a:rPr lang="en-US" altLang="en-US" sz="2000" err="1">
                <a:cs typeface="Times New Roman" panose="02020603050405020304" pitchFamily="18" charset="0"/>
              </a:rPr>
              <a:t>dưới</a:t>
            </a:r>
            <a:r>
              <a:rPr lang="en-US" altLang="en-US" sz="2000">
                <a:cs typeface="Times New Roman" panose="02020603050405020304" pitchFamily="18" charset="0"/>
              </a:rPr>
              <a:t>. </a:t>
            </a:r>
          </a:p>
          <a:p>
            <a:pPr lvl="2" algn="just">
              <a:lnSpc>
                <a:spcPct val="90000"/>
              </a:lnSpc>
            </a:pPr>
            <a:r>
              <a:rPr lang="en-US" altLang="en-US" sz="2000" i="1">
                <a:cs typeface="Times New Roman" panose="02020603050405020304" pitchFamily="18" charset="0"/>
              </a:rPr>
              <a:t>Theo </a:t>
            </a:r>
            <a:r>
              <a:rPr lang="en-US" altLang="en-US" sz="2000" i="1" err="1">
                <a:cs typeface="Times New Roman" panose="02020603050405020304" pitchFamily="18" charset="0"/>
              </a:rPr>
              <a:t>thứ</a:t>
            </a:r>
            <a:r>
              <a:rPr lang="en-US" altLang="en-US" sz="2000" i="1">
                <a:cs typeface="Times New Roman" panose="02020603050405020304" pitchFamily="18" charset="0"/>
              </a:rPr>
              <a:t> </a:t>
            </a:r>
            <a:r>
              <a:rPr lang="en-US" altLang="en-US" sz="2000" i="1" err="1">
                <a:cs typeface="Times New Roman" panose="02020603050405020304" pitchFamily="18" charset="0"/>
              </a:rPr>
              <a:t>tự</a:t>
            </a:r>
            <a:r>
              <a:rPr lang="en-US" altLang="en-US" sz="2000" i="1">
                <a:cs typeface="Times New Roman" panose="02020603050405020304" pitchFamily="18" charset="0"/>
              </a:rPr>
              <a:t> </a:t>
            </a:r>
            <a:r>
              <a:rPr lang="en-US" altLang="en-US" sz="2000" i="1" err="1">
                <a:cs typeface="Times New Roman" panose="02020603050405020304" pitchFamily="18" charset="0"/>
              </a:rPr>
              <a:t>ưu</a:t>
            </a:r>
            <a:r>
              <a:rPr lang="en-US" altLang="en-US" sz="2000" i="1">
                <a:cs typeface="Times New Roman" panose="02020603050405020304" pitchFamily="18" charset="0"/>
              </a:rPr>
              <a:t> </a:t>
            </a:r>
            <a:r>
              <a:rPr lang="en-US" altLang="en-US" sz="2000" i="1" err="1">
                <a:cs typeface="Times New Roman" panose="02020603050405020304" pitchFamily="18" charset="0"/>
              </a:rPr>
              <a:t>tiên</a:t>
            </a:r>
            <a:r>
              <a:rPr lang="en-US" altLang="en-US" sz="2000" i="1">
                <a:cs typeface="Times New Roman" panose="02020603050405020304" pitchFamily="18" charset="0"/>
              </a:rPr>
              <a:t> </a:t>
            </a:r>
            <a:r>
              <a:rPr lang="en-US" altLang="en-US" sz="2000" i="1" err="1">
                <a:cs typeface="Times New Roman" panose="02020603050405020304" pitchFamily="18" charset="0"/>
              </a:rPr>
              <a:t>cột</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từng</a:t>
            </a:r>
            <a:r>
              <a:rPr lang="en-US" altLang="en-US" sz="2000">
                <a:cs typeface="Times New Roman" panose="02020603050405020304" pitchFamily="18" charset="0"/>
              </a:rPr>
              <a:t> </a:t>
            </a:r>
            <a:r>
              <a:rPr lang="en-US" altLang="en-US" sz="2000" err="1">
                <a:cs typeface="Times New Roman" panose="02020603050405020304" pitchFamily="18" charset="0"/>
              </a:rPr>
              <a:t>cột</a:t>
            </a:r>
            <a:r>
              <a:rPr lang="en-US" altLang="en-US" sz="2000">
                <a:cs typeface="Times New Roman" panose="02020603050405020304" pitchFamily="18" charset="0"/>
              </a:rPr>
              <a:t>, </a:t>
            </a:r>
            <a:r>
              <a:rPr lang="en-US" altLang="en-US" sz="2000" err="1">
                <a:cs typeface="Times New Roman" panose="02020603050405020304" pitchFamily="18" charset="0"/>
              </a:rPr>
              <a:t>hết</a:t>
            </a:r>
            <a:r>
              <a:rPr lang="en-US" altLang="en-US" sz="2000">
                <a:cs typeface="Times New Roman" panose="02020603050405020304" pitchFamily="18" charset="0"/>
              </a:rPr>
              <a:t> </a:t>
            </a:r>
            <a:r>
              <a:rPr lang="en-US" altLang="en-US" sz="2000" err="1">
                <a:cs typeface="Times New Roman" panose="02020603050405020304" pitchFamily="18" charset="0"/>
              </a:rPr>
              <a:t>cột</a:t>
            </a:r>
            <a:r>
              <a:rPr lang="en-US" altLang="en-US" sz="2000">
                <a:cs typeface="Times New Roman" panose="02020603050405020304" pitchFamily="18" charset="0"/>
              </a:rPr>
              <a:t> </a:t>
            </a:r>
            <a:r>
              <a:rPr lang="en-US" altLang="en-US" sz="2000" err="1">
                <a:cs typeface="Times New Roman" panose="02020603050405020304" pitchFamily="18" charset="0"/>
              </a:rPr>
              <a:t>này</a:t>
            </a:r>
            <a:r>
              <a:rPr lang="en-US" altLang="en-US" sz="2000">
                <a:cs typeface="Times New Roman" panose="02020603050405020304" pitchFamily="18" charset="0"/>
              </a:rPr>
              <a:t> </a:t>
            </a:r>
            <a:r>
              <a:rPr lang="en-US" altLang="en-US" sz="2000" err="1">
                <a:cs typeface="Times New Roman" panose="02020603050405020304" pitchFamily="18" charset="0"/>
              </a:rPr>
              <a:t>đến</a:t>
            </a:r>
            <a:r>
              <a:rPr lang="en-US" altLang="en-US" sz="2000">
                <a:cs typeface="Times New Roman" panose="02020603050405020304" pitchFamily="18" charset="0"/>
              </a:rPr>
              <a:t> </a:t>
            </a:r>
            <a:r>
              <a:rPr lang="en-US" altLang="en-US" sz="2000" err="1">
                <a:cs typeface="Times New Roman" panose="02020603050405020304" pitchFamily="18" charset="0"/>
              </a:rPr>
              <a:t>cột</a:t>
            </a:r>
            <a:r>
              <a:rPr lang="en-US" altLang="en-US" sz="2000">
                <a:cs typeface="Times New Roman" panose="02020603050405020304" pitchFamily="18" charset="0"/>
              </a:rPr>
              <a:t> </a:t>
            </a:r>
            <a:r>
              <a:rPr lang="en-US" altLang="en-US" sz="2000" err="1">
                <a:cs typeface="Times New Roman" panose="02020603050405020304" pitchFamily="18" charset="0"/>
              </a:rPr>
              <a:t>kia</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cột</a:t>
            </a:r>
            <a:r>
              <a:rPr lang="en-US" altLang="en-US" sz="2000">
                <a:cs typeface="Times New Roman" panose="02020603050405020304" pitchFamily="18" charset="0"/>
              </a:rPr>
              <a:t> </a:t>
            </a:r>
            <a:r>
              <a:rPr lang="en-US" altLang="en-US" sz="2000" err="1">
                <a:cs typeface="Times New Roman" panose="02020603050405020304" pitchFamily="18" charset="0"/>
              </a:rPr>
              <a:t>từ</a:t>
            </a:r>
            <a:r>
              <a:rPr lang="en-US" altLang="en-US" sz="2000">
                <a:cs typeface="Times New Roman" panose="02020603050405020304" pitchFamily="18" charset="0"/>
              </a:rPr>
              <a:t> </a:t>
            </a:r>
            <a:r>
              <a:rPr lang="en-US" altLang="en-US" sz="2000" err="1">
                <a:cs typeface="Times New Roman" panose="02020603050405020304" pitchFamily="18" charset="0"/>
              </a:rPr>
              <a:t>trái</a:t>
            </a:r>
            <a:r>
              <a:rPr lang="en-US" altLang="en-US" sz="2000">
                <a:cs typeface="Times New Roman" panose="02020603050405020304" pitchFamily="18" charset="0"/>
              </a:rPr>
              <a:t> sang </a:t>
            </a:r>
            <a:r>
              <a:rPr lang="en-US" altLang="en-US" sz="2000" err="1">
                <a:cs typeface="Times New Roman" panose="02020603050405020304" pitchFamily="18" charset="0"/>
              </a:rPr>
              <a:t>phải</a:t>
            </a:r>
            <a:r>
              <a:rPr lang="en-US" altLang="en-US" sz="2000">
                <a:cs typeface="Times New Roman" panose="02020603050405020304" pitchFamily="18" charset="0"/>
              </a:rPr>
              <a:t>. </a:t>
            </a:r>
            <a:endParaRPr lang="en-US" altLang="en-US" sz="2000"/>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b="50186"/>
          <a:stretch/>
        </p:blipFill>
        <p:spPr>
          <a:xfrm>
            <a:off x="2848449" y="4724400"/>
            <a:ext cx="1720889" cy="1143000"/>
          </a:xfrm>
          <a:prstGeom prst="rect">
            <a:avLst/>
          </a:prstGeom>
        </p:spPr>
      </p:pic>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49814"/>
          <a:stretch/>
        </p:blipFill>
        <p:spPr>
          <a:xfrm>
            <a:off x="5112204" y="4724400"/>
            <a:ext cx="1720889" cy="1151519"/>
          </a:xfrm>
          <a:prstGeom prst="rect">
            <a:avLst/>
          </a:prstGeom>
        </p:spPr>
      </p:pic>
    </p:spTree>
    <p:extLst>
      <p:ext uri="{BB962C8B-B14F-4D97-AF65-F5344CB8AC3E}">
        <p14:creationId xmlns:p14="http://schemas.microsoft.com/office/powerpoint/2010/main" val="126201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p:cNvSpPr>
            <a:spLocks noGrp="1"/>
          </p:cNvSpPr>
          <p:nvPr>
            <p:ph type="sldNum" sz="quarter" idx="12"/>
          </p:nvPr>
        </p:nvSpPr>
        <p:spPr/>
        <p:txBody>
          <a:bodyPr/>
          <a:lstStyle/>
          <a:p>
            <a:fld id="{36B760AB-560C-49AE-AE73-9AC4BB8908D0}" type="slidenum">
              <a:rPr lang="en-US" altLang="en-US"/>
              <a:pPr/>
              <a:t>19</a:t>
            </a:fld>
            <a:endParaRPr lang="en-US" altLang="en-US"/>
          </a:p>
        </p:txBody>
      </p:sp>
      <p:sp>
        <p:nvSpPr>
          <p:cNvPr id="26626" name="Rectangle 2"/>
          <p:cNvSpPr>
            <a:spLocks noGrp="1" noChangeArrowheads="1"/>
          </p:cNvSpPr>
          <p:nvPr>
            <p:ph type="title"/>
          </p:nvPr>
        </p:nvSpPr>
        <p:spPr/>
        <p:txBody>
          <a:bodyPr/>
          <a:lstStyle/>
          <a:p>
            <a:r>
              <a:rPr lang="en-US" altLang="en-US">
                <a:cs typeface="Times New Roman" panose="02020603050405020304" pitchFamily="18" charset="0"/>
              </a:rPr>
              <a:t>2 </a:t>
            </a:r>
            <a:r>
              <a:rPr lang="en-US" altLang="en-US" err="1">
                <a:cs typeface="Times New Roman" panose="02020603050405020304" pitchFamily="18" charset="0"/>
              </a:rPr>
              <a:t>cách</a:t>
            </a:r>
            <a:r>
              <a:rPr lang="en-US" altLang="en-US">
                <a:cs typeface="Times New Roman" panose="02020603050405020304" pitchFamily="18" charset="0"/>
              </a:rPr>
              <a:t> </a:t>
            </a:r>
            <a:r>
              <a:rPr lang="en-US" altLang="en-US" err="1">
                <a:cs typeface="Times New Roman" panose="02020603050405020304" pitchFamily="18" charset="0"/>
              </a:rPr>
              <a:t>bố</a:t>
            </a:r>
            <a:r>
              <a:rPr lang="en-US" altLang="en-US">
                <a:cs typeface="Times New Roman" panose="02020603050405020304" pitchFamily="18" charset="0"/>
              </a:rPr>
              <a:t> </a:t>
            </a:r>
            <a:r>
              <a:rPr lang="en-US" altLang="en-US" err="1">
                <a:cs typeface="Times New Roman" panose="02020603050405020304" pitchFamily="18" charset="0"/>
              </a:rPr>
              <a:t>trí</a:t>
            </a:r>
            <a:endParaRPr lang="en-US" altLang="en-US">
              <a:cs typeface="Times New Roman" panose="02020603050405020304" pitchFamily="18" charset="0"/>
            </a:endParaRPr>
          </a:p>
        </p:txBody>
      </p:sp>
      <p:sp>
        <p:nvSpPr>
          <p:cNvPr id="2" name="Text Placeholder 1"/>
          <p:cNvSpPr>
            <a:spLocks noGrp="1"/>
          </p:cNvSpPr>
          <p:nvPr>
            <p:ph type="body" sz="quarter" idx="13"/>
          </p:nvPr>
        </p:nvSpPr>
        <p:spPr/>
        <p:txBody>
          <a:bodyPr/>
          <a:lstStyle/>
          <a:p>
            <a:endParaRPr lang="en-US"/>
          </a:p>
        </p:txBody>
      </p:sp>
      <p:sp>
        <p:nvSpPr>
          <p:cNvPr id="26631" name="Text Box 7"/>
          <p:cNvSpPr txBox="1">
            <a:spLocks noChangeArrowheads="1"/>
          </p:cNvSpPr>
          <p:nvPr/>
        </p:nvSpPr>
        <p:spPr bwMode="auto">
          <a:xfrm>
            <a:off x="415968" y="1317500"/>
            <a:ext cx="2193123" cy="1243964"/>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[1,1]    </a:t>
            </a:r>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[1,2]</a:t>
            </a:r>
          </a:p>
          <a:p>
            <a:pPr algn="ctr" eaLnBrk="0" hangingPunct="0"/>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[2,1]    </a:t>
            </a:r>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[2,2]</a:t>
            </a:r>
          </a:p>
          <a:p>
            <a:pPr algn="ctr" eaLnBrk="0" hangingPunct="0"/>
            <a:r>
              <a:rPr lang="en-US" altLang="en-US" sz="2000" b="1" err="1">
                <a:solidFill>
                  <a:srgbClr val="00B0F0"/>
                </a:solidFill>
                <a:latin typeface="Times New Roman" panose="02020603050405020304" pitchFamily="18" charset="0"/>
              </a:rPr>
              <a:t>mt</a:t>
            </a:r>
            <a:r>
              <a:rPr lang="en-US" altLang="en-US" sz="2000" b="1">
                <a:solidFill>
                  <a:srgbClr val="00B0F0"/>
                </a:solidFill>
                <a:latin typeface="Times New Roman" panose="02020603050405020304" pitchFamily="18" charset="0"/>
              </a:rPr>
              <a:t>[3,1]    </a:t>
            </a:r>
            <a:r>
              <a:rPr lang="en-US" altLang="en-US" sz="2000" b="1" err="1">
                <a:solidFill>
                  <a:srgbClr val="00B0F0"/>
                </a:solidFill>
                <a:latin typeface="Times New Roman" panose="02020603050405020304" pitchFamily="18" charset="0"/>
              </a:rPr>
              <a:t>mt</a:t>
            </a:r>
            <a:r>
              <a:rPr lang="en-US" altLang="en-US" sz="2000" b="1">
                <a:solidFill>
                  <a:srgbClr val="00B0F0"/>
                </a:solidFill>
                <a:latin typeface="Times New Roman" panose="02020603050405020304" pitchFamily="18" charset="0"/>
              </a:rPr>
              <a:t>[3,2]</a:t>
            </a:r>
          </a:p>
          <a:p>
            <a:pPr algn="ctr" eaLnBrk="0" hangingPunct="0"/>
            <a:r>
              <a:rPr lang="en-US" altLang="en-US" sz="2000" b="1">
                <a:latin typeface="Times New Roman" panose="02020603050405020304" pitchFamily="18" charset="0"/>
              </a:rPr>
              <a:t>...	...</a:t>
            </a:r>
          </a:p>
        </p:txBody>
      </p:sp>
      <p:sp>
        <p:nvSpPr>
          <p:cNvPr id="26635" name="Line 11"/>
          <p:cNvSpPr>
            <a:spLocks noChangeShapeType="1"/>
          </p:cNvSpPr>
          <p:nvPr/>
        </p:nvSpPr>
        <p:spPr bwMode="auto">
          <a:xfrm>
            <a:off x="693686" y="5509306"/>
            <a:ext cx="62660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6" name="Text Box 12"/>
          <p:cNvSpPr txBox="1">
            <a:spLocks noChangeArrowheads="1"/>
          </p:cNvSpPr>
          <p:nvPr/>
        </p:nvSpPr>
        <p:spPr bwMode="auto">
          <a:xfrm>
            <a:off x="696950" y="2943796"/>
            <a:ext cx="469955" cy="37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26637" name="Text Box 13"/>
          <p:cNvSpPr txBox="1">
            <a:spLocks noChangeArrowheads="1"/>
          </p:cNvSpPr>
          <p:nvPr/>
        </p:nvSpPr>
        <p:spPr bwMode="auto">
          <a:xfrm>
            <a:off x="693686" y="5210409"/>
            <a:ext cx="469955" cy="37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eaLnBrk="0" hangingPunct="0"/>
            <a:endParaRPr lang="en-US" altLang="en-US" sz="2000">
              <a:latin typeface="Times New Roman" panose="02020603050405020304" pitchFamily="18" charset="0"/>
            </a:endParaRPr>
          </a:p>
          <a:p>
            <a:pP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26641" name="Line 17"/>
          <p:cNvSpPr>
            <a:spLocks noChangeShapeType="1"/>
          </p:cNvSpPr>
          <p:nvPr/>
        </p:nvSpPr>
        <p:spPr bwMode="auto">
          <a:xfrm>
            <a:off x="693686" y="3013769"/>
            <a:ext cx="62660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2" name="Text Box 18"/>
          <p:cNvSpPr txBox="1">
            <a:spLocks noChangeArrowheads="1"/>
          </p:cNvSpPr>
          <p:nvPr/>
        </p:nvSpPr>
        <p:spPr bwMode="auto">
          <a:xfrm>
            <a:off x="2653587" y="2266620"/>
            <a:ext cx="2819729" cy="37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algn="ctr" eaLnBrk="0" hangingPunct="0"/>
            <a:r>
              <a:rPr lang="en-US" altLang="en-US" sz="2000">
                <a:latin typeface="Times New Roman" panose="02020603050405020304" pitchFamily="18" charset="0"/>
              </a:rPr>
              <a:t>Theo </a:t>
            </a:r>
            <a:r>
              <a:rPr lang="en-US" altLang="en-US" sz="2000" err="1">
                <a:latin typeface="Times New Roman" panose="02020603050405020304" pitchFamily="18" charset="0"/>
              </a:rPr>
              <a:t>thứ</a:t>
            </a:r>
            <a:r>
              <a:rPr lang="en-US" altLang="en-US" sz="2000">
                <a:latin typeface="Times New Roman" panose="02020603050405020304" pitchFamily="18" charset="0"/>
              </a:rPr>
              <a:t> </a:t>
            </a:r>
            <a:r>
              <a:rPr lang="en-US" altLang="en-US" sz="2000" err="1">
                <a:latin typeface="Times New Roman" panose="02020603050405020304" pitchFamily="18" charset="0"/>
              </a:rPr>
              <a:t>tự</a:t>
            </a:r>
            <a:r>
              <a:rPr lang="en-US" altLang="en-US" sz="2000">
                <a:latin typeface="Times New Roman" panose="02020603050405020304" pitchFamily="18" charset="0"/>
              </a:rPr>
              <a:t> </a:t>
            </a:r>
            <a:r>
              <a:rPr lang="en-US" altLang="en-US" sz="2000" err="1">
                <a:latin typeface="Times New Roman" panose="02020603050405020304" pitchFamily="18" charset="0"/>
              </a:rPr>
              <a:t>ưu</a:t>
            </a:r>
            <a:r>
              <a:rPr lang="en-US" altLang="en-US" sz="2000">
                <a:latin typeface="Times New Roman" panose="02020603050405020304" pitchFamily="18" charset="0"/>
              </a:rPr>
              <a:t> </a:t>
            </a:r>
            <a:r>
              <a:rPr lang="en-US" altLang="en-US" sz="2000" err="1">
                <a:latin typeface="Times New Roman" panose="02020603050405020304" pitchFamily="18" charset="0"/>
              </a:rPr>
              <a:t>tiên</a:t>
            </a:r>
            <a:r>
              <a:rPr lang="en-US" altLang="en-US" sz="2000">
                <a:latin typeface="Times New Roman" panose="02020603050405020304" pitchFamily="18" charset="0"/>
              </a:rPr>
              <a:t> </a:t>
            </a:r>
            <a:r>
              <a:rPr lang="en-US" altLang="en-US" sz="2000" err="1">
                <a:latin typeface="Times New Roman" panose="02020603050405020304" pitchFamily="18" charset="0"/>
              </a:rPr>
              <a:t>hàng</a:t>
            </a:r>
            <a:endParaRPr lang="en-US" altLang="en-US" sz="2000">
              <a:latin typeface="Times New Roman" panose="02020603050405020304" pitchFamily="18" charset="0"/>
            </a:endParaRPr>
          </a:p>
        </p:txBody>
      </p:sp>
      <p:sp>
        <p:nvSpPr>
          <p:cNvPr id="26643" name="Text Box 19"/>
          <p:cNvSpPr txBox="1">
            <a:spLocks noChangeArrowheads="1"/>
          </p:cNvSpPr>
          <p:nvPr/>
        </p:nvSpPr>
        <p:spPr bwMode="auto">
          <a:xfrm>
            <a:off x="2867576" y="4844225"/>
            <a:ext cx="2645672" cy="37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algn="ctr" eaLnBrk="0" hangingPunct="0"/>
            <a:r>
              <a:rPr lang="en-US" altLang="en-US" sz="2000">
                <a:latin typeface="Times New Roman" panose="02020603050405020304" pitchFamily="18" charset="0"/>
              </a:rPr>
              <a:t>Theo </a:t>
            </a:r>
            <a:r>
              <a:rPr lang="en-US" altLang="en-US" sz="2000" err="1">
                <a:latin typeface="Times New Roman" panose="02020603050405020304" pitchFamily="18" charset="0"/>
              </a:rPr>
              <a:t>thứ</a:t>
            </a:r>
            <a:r>
              <a:rPr lang="en-US" altLang="en-US" sz="2000">
                <a:latin typeface="Times New Roman" panose="02020603050405020304" pitchFamily="18" charset="0"/>
              </a:rPr>
              <a:t> </a:t>
            </a:r>
            <a:r>
              <a:rPr lang="en-US" altLang="en-US" sz="2000" err="1">
                <a:latin typeface="Times New Roman" panose="02020603050405020304" pitchFamily="18" charset="0"/>
              </a:rPr>
              <a:t>tự</a:t>
            </a:r>
            <a:r>
              <a:rPr lang="en-US" altLang="en-US" sz="2000">
                <a:latin typeface="Times New Roman" panose="02020603050405020304" pitchFamily="18" charset="0"/>
              </a:rPr>
              <a:t> </a:t>
            </a:r>
            <a:r>
              <a:rPr lang="en-US" altLang="en-US" sz="2000" err="1">
                <a:latin typeface="Times New Roman" panose="02020603050405020304" pitchFamily="18" charset="0"/>
              </a:rPr>
              <a:t>ưu</a:t>
            </a:r>
            <a:r>
              <a:rPr lang="en-US" altLang="en-US" sz="2000">
                <a:latin typeface="Times New Roman" panose="02020603050405020304" pitchFamily="18" charset="0"/>
              </a:rPr>
              <a:t> </a:t>
            </a:r>
            <a:r>
              <a:rPr lang="en-US" altLang="en-US" sz="2000" err="1">
                <a:latin typeface="Times New Roman" panose="02020603050405020304" pitchFamily="18" charset="0"/>
              </a:rPr>
              <a:t>tiên</a:t>
            </a:r>
            <a:r>
              <a:rPr lang="en-US" altLang="en-US" sz="2000">
                <a:latin typeface="Times New Roman" panose="02020603050405020304" pitchFamily="18" charset="0"/>
              </a:rPr>
              <a:t> </a:t>
            </a:r>
            <a:r>
              <a:rPr lang="en-US" altLang="en-US" sz="2000" err="1">
                <a:latin typeface="Times New Roman" panose="02020603050405020304" pitchFamily="18" charset="0"/>
              </a:rPr>
              <a:t>cột</a:t>
            </a:r>
            <a:endParaRPr lang="en-US" altLang="en-US" sz="2000">
              <a:latin typeface="Times New Roman" panose="02020603050405020304" pitchFamily="18" charset="0"/>
            </a:endParaRPr>
          </a:p>
        </p:txBody>
      </p:sp>
      <p:grpSp>
        <p:nvGrpSpPr>
          <p:cNvPr id="26645" name="Group 21"/>
          <p:cNvGrpSpPr>
            <a:grpSpLocks/>
          </p:cNvGrpSpPr>
          <p:nvPr/>
        </p:nvGrpSpPr>
        <p:grpSpPr bwMode="auto">
          <a:xfrm>
            <a:off x="1323556" y="2819400"/>
            <a:ext cx="7675930" cy="373189"/>
            <a:chOff x="2592" y="7920"/>
            <a:chExt cx="7056" cy="432"/>
          </a:xfrm>
        </p:grpSpPr>
        <p:sp>
          <p:nvSpPr>
            <p:cNvPr id="26646" name="Text Box 22"/>
            <p:cNvSpPr txBox="1">
              <a:spLocks noChangeArrowheads="1"/>
            </p:cNvSpPr>
            <p:nvPr/>
          </p:nvSpPr>
          <p:spPr bwMode="auto">
            <a:xfrm>
              <a:off x="3600" y="7920"/>
              <a:ext cx="1008" cy="432"/>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[1,2]</a:t>
              </a:r>
            </a:p>
          </p:txBody>
        </p:sp>
        <p:sp>
          <p:nvSpPr>
            <p:cNvPr id="26647" name="Text Box 23"/>
            <p:cNvSpPr txBox="1">
              <a:spLocks noChangeArrowheads="1"/>
            </p:cNvSpPr>
            <p:nvPr/>
          </p:nvSpPr>
          <p:spPr bwMode="auto">
            <a:xfrm>
              <a:off x="4608" y="7920"/>
              <a:ext cx="1008" cy="432"/>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[2,1]</a:t>
              </a:r>
              <a:endParaRPr lang="en-US" altLang="en-US" sz="2000">
                <a:solidFill>
                  <a:srgbClr val="00B050"/>
                </a:solidFill>
                <a:latin typeface="Times New Roman" panose="02020603050405020304" pitchFamily="18" charset="0"/>
              </a:endParaRPr>
            </a:p>
          </p:txBody>
        </p:sp>
        <p:sp>
          <p:nvSpPr>
            <p:cNvPr id="26648" name="Text Box 24"/>
            <p:cNvSpPr txBox="1">
              <a:spLocks noChangeArrowheads="1"/>
            </p:cNvSpPr>
            <p:nvPr/>
          </p:nvSpPr>
          <p:spPr bwMode="auto">
            <a:xfrm>
              <a:off x="5616" y="7920"/>
              <a:ext cx="1008" cy="432"/>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[2,2]</a:t>
              </a:r>
              <a:endParaRPr lang="en-US" altLang="en-US" sz="2000">
                <a:latin typeface="Times New Roman" panose="02020603050405020304" pitchFamily="18" charset="0"/>
              </a:endParaRPr>
            </a:p>
          </p:txBody>
        </p:sp>
        <p:sp>
          <p:nvSpPr>
            <p:cNvPr id="26649" name="Text Box 25"/>
            <p:cNvSpPr txBox="1">
              <a:spLocks noChangeArrowheads="1"/>
            </p:cNvSpPr>
            <p:nvPr/>
          </p:nvSpPr>
          <p:spPr bwMode="auto">
            <a:xfrm>
              <a:off x="6624" y="7920"/>
              <a:ext cx="1008" cy="432"/>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a:latin typeface="Times New Roman" panose="02020603050405020304" pitchFamily="18" charset="0"/>
                </a:rPr>
                <a:t>…</a:t>
              </a:r>
            </a:p>
          </p:txBody>
        </p:sp>
        <p:sp>
          <p:nvSpPr>
            <p:cNvPr id="26650" name="Text Box 26"/>
            <p:cNvSpPr txBox="1">
              <a:spLocks noChangeArrowheads="1"/>
            </p:cNvSpPr>
            <p:nvPr/>
          </p:nvSpPr>
          <p:spPr bwMode="auto">
            <a:xfrm>
              <a:off x="7632" y="7920"/>
              <a:ext cx="1008"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mt[m,n-1]</a:t>
              </a:r>
            </a:p>
          </p:txBody>
        </p:sp>
        <p:sp>
          <p:nvSpPr>
            <p:cNvPr id="26651" name="Text Box 27"/>
            <p:cNvSpPr txBox="1">
              <a:spLocks noChangeArrowheads="1"/>
            </p:cNvSpPr>
            <p:nvPr/>
          </p:nvSpPr>
          <p:spPr bwMode="auto">
            <a:xfrm>
              <a:off x="8640" y="7920"/>
              <a:ext cx="1008" cy="432"/>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a:latin typeface="Times New Roman" panose="02020603050405020304" pitchFamily="18" charset="0"/>
                </a:rPr>
                <a:t>mt[m,n]</a:t>
              </a:r>
            </a:p>
          </p:txBody>
        </p:sp>
        <p:sp>
          <p:nvSpPr>
            <p:cNvPr id="26652" name="Text Box 28"/>
            <p:cNvSpPr txBox="1">
              <a:spLocks noChangeArrowheads="1"/>
            </p:cNvSpPr>
            <p:nvPr/>
          </p:nvSpPr>
          <p:spPr bwMode="auto">
            <a:xfrm>
              <a:off x="2592" y="7920"/>
              <a:ext cx="1008" cy="432"/>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[1,1]</a:t>
              </a:r>
            </a:p>
          </p:txBody>
        </p:sp>
      </p:grpSp>
      <p:grpSp>
        <p:nvGrpSpPr>
          <p:cNvPr id="26653" name="Group 29"/>
          <p:cNvGrpSpPr>
            <a:grpSpLocks/>
          </p:cNvGrpSpPr>
          <p:nvPr/>
        </p:nvGrpSpPr>
        <p:grpSpPr bwMode="auto">
          <a:xfrm>
            <a:off x="2416853" y="5334806"/>
            <a:ext cx="6579369" cy="373189"/>
            <a:chOff x="3600" y="11088"/>
            <a:chExt cx="6336" cy="432"/>
          </a:xfrm>
        </p:grpSpPr>
        <p:sp>
          <p:nvSpPr>
            <p:cNvPr id="26654" name="Text Box 30"/>
            <p:cNvSpPr txBox="1">
              <a:spLocks noChangeArrowheads="1"/>
            </p:cNvSpPr>
            <p:nvPr/>
          </p:nvSpPr>
          <p:spPr bwMode="auto">
            <a:xfrm>
              <a:off x="3600" y="11088"/>
              <a:ext cx="1056"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[2,1</a:t>
              </a:r>
              <a:r>
                <a:rPr lang="en-US" altLang="en-US" sz="2000" b="1">
                  <a:latin typeface="Times New Roman" panose="02020603050405020304" pitchFamily="18" charset="0"/>
                </a:rPr>
                <a:t>]</a:t>
              </a:r>
            </a:p>
          </p:txBody>
        </p:sp>
        <p:sp>
          <p:nvSpPr>
            <p:cNvPr id="26655" name="Text Box 31"/>
            <p:cNvSpPr txBox="1">
              <a:spLocks noChangeArrowheads="1"/>
            </p:cNvSpPr>
            <p:nvPr/>
          </p:nvSpPr>
          <p:spPr bwMode="auto">
            <a:xfrm>
              <a:off x="4656" y="11088"/>
              <a:ext cx="1056"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[3,1]</a:t>
              </a:r>
              <a:endParaRPr lang="en-US" altLang="en-US" sz="2000">
                <a:latin typeface="Times New Roman" panose="02020603050405020304" pitchFamily="18" charset="0"/>
              </a:endParaRPr>
            </a:p>
          </p:txBody>
        </p:sp>
        <p:sp>
          <p:nvSpPr>
            <p:cNvPr id="26656" name="Text Box 32"/>
            <p:cNvSpPr txBox="1">
              <a:spLocks noChangeArrowheads="1"/>
            </p:cNvSpPr>
            <p:nvPr/>
          </p:nvSpPr>
          <p:spPr bwMode="auto">
            <a:xfrm>
              <a:off x="5712" y="11088"/>
              <a:ext cx="1056"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[1,2]</a:t>
              </a:r>
              <a:endParaRPr lang="en-US" altLang="en-US" sz="2000">
                <a:latin typeface="Times New Roman" panose="02020603050405020304" pitchFamily="18" charset="0"/>
              </a:endParaRPr>
            </a:p>
          </p:txBody>
        </p:sp>
        <p:sp>
          <p:nvSpPr>
            <p:cNvPr id="26657" name="Text Box 33"/>
            <p:cNvSpPr txBox="1">
              <a:spLocks noChangeArrowheads="1"/>
            </p:cNvSpPr>
            <p:nvPr/>
          </p:nvSpPr>
          <p:spPr bwMode="auto">
            <a:xfrm>
              <a:off x="6768" y="11088"/>
              <a:ext cx="1056"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a:t>
              </a:r>
            </a:p>
          </p:txBody>
        </p:sp>
        <p:sp>
          <p:nvSpPr>
            <p:cNvPr id="26658" name="Text Box 34"/>
            <p:cNvSpPr txBox="1">
              <a:spLocks noChangeArrowheads="1"/>
            </p:cNvSpPr>
            <p:nvPr/>
          </p:nvSpPr>
          <p:spPr bwMode="auto">
            <a:xfrm>
              <a:off x="7824" y="11088"/>
              <a:ext cx="1056"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mt[m-1,n]</a:t>
              </a:r>
            </a:p>
          </p:txBody>
        </p:sp>
        <p:sp>
          <p:nvSpPr>
            <p:cNvPr id="26659" name="Text Box 35"/>
            <p:cNvSpPr txBox="1">
              <a:spLocks noChangeArrowheads="1"/>
            </p:cNvSpPr>
            <p:nvPr/>
          </p:nvSpPr>
          <p:spPr bwMode="auto">
            <a:xfrm>
              <a:off x="8880" y="11088"/>
              <a:ext cx="1056" cy="432"/>
            </a:xfrm>
            <a:prstGeom prst="rect">
              <a:avLst/>
            </a:prstGeom>
            <a:solidFill>
              <a:srgbClr val="FFFFFF"/>
            </a:solidFill>
            <a:ln w="9525">
              <a:solidFill>
                <a:srgbClr val="000000"/>
              </a:solidFill>
              <a:miter lim="800000"/>
              <a:headEnd/>
              <a:tailEnd/>
            </a:ln>
          </p:spPr>
          <p:txBody>
            <a:bodyPr lIns="18000" rIns="18000"/>
            <a:lstStyle/>
            <a:p>
              <a:pPr algn="ctr" eaLnBrk="0" hangingPunct="0"/>
              <a:r>
                <a:rPr lang="en-US" altLang="en-US" sz="2000">
                  <a:latin typeface="Times New Roman" panose="02020603050405020304" pitchFamily="18" charset="0"/>
                </a:rPr>
                <a:t>mt[m,n]</a:t>
              </a:r>
            </a:p>
          </p:txBody>
        </p:sp>
      </p:grpSp>
      <p:sp>
        <p:nvSpPr>
          <p:cNvPr id="26660" name="Text Box 36"/>
          <p:cNvSpPr txBox="1">
            <a:spLocks noChangeArrowheads="1"/>
          </p:cNvSpPr>
          <p:nvPr/>
        </p:nvSpPr>
        <p:spPr bwMode="auto">
          <a:xfrm>
            <a:off x="1320292" y="5334806"/>
            <a:ext cx="1096561" cy="373189"/>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[1,1]</a:t>
            </a:r>
          </a:p>
        </p:txBody>
      </p:sp>
      <p:sp>
        <p:nvSpPr>
          <p:cNvPr id="36" name="Text Box 7"/>
          <p:cNvSpPr txBox="1">
            <a:spLocks noChangeArrowheads="1"/>
          </p:cNvSpPr>
          <p:nvPr/>
        </p:nvSpPr>
        <p:spPr bwMode="auto">
          <a:xfrm>
            <a:off x="415967" y="3680507"/>
            <a:ext cx="2193123" cy="1243964"/>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[1,1]</a:t>
            </a:r>
            <a:r>
              <a:rPr lang="en-US" altLang="en-US" sz="2000" b="1">
                <a:latin typeface="Times New Roman" panose="02020603050405020304" pitchFamily="18" charset="0"/>
              </a:rPr>
              <a:t> </a:t>
            </a:r>
            <a:r>
              <a:rPr lang="en-US" altLang="en-US" sz="2000" b="1">
                <a:solidFill>
                  <a:srgbClr val="00B050"/>
                </a:solidFill>
                <a:latin typeface="Times New Roman" panose="02020603050405020304" pitchFamily="18" charset="0"/>
              </a:rPr>
              <a:t>   </a:t>
            </a:r>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[1,2]</a:t>
            </a:r>
          </a:p>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[2,1]    </a:t>
            </a:r>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[2,2]</a:t>
            </a:r>
          </a:p>
          <a:p>
            <a:pPr algn="ctr" eaLnBrk="0" hangingPunct="0"/>
            <a:r>
              <a:rPr lang="en-US" altLang="en-US" sz="2000" b="1" err="1">
                <a:solidFill>
                  <a:srgbClr val="FF0000"/>
                </a:solidFill>
                <a:latin typeface="Times New Roman" panose="02020603050405020304" pitchFamily="18" charset="0"/>
              </a:rPr>
              <a:t>mt</a:t>
            </a:r>
            <a:r>
              <a:rPr lang="en-US" altLang="en-US" sz="2000" b="1">
                <a:solidFill>
                  <a:srgbClr val="FF0000"/>
                </a:solidFill>
                <a:latin typeface="Times New Roman" panose="02020603050405020304" pitchFamily="18" charset="0"/>
              </a:rPr>
              <a:t>[3,1]    </a:t>
            </a:r>
            <a:r>
              <a:rPr lang="en-US" altLang="en-US" sz="2000" b="1" err="1">
                <a:solidFill>
                  <a:srgbClr val="00B050"/>
                </a:solidFill>
                <a:latin typeface="Times New Roman" panose="02020603050405020304" pitchFamily="18" charset="0"/>
              </a:rPr>
              <a:t>mt</a:t>
            </a:r>
            <a:r>
              <a:rPr lang="en-US" altLang="en-US" sz="2000" b="1">
                <a:solidFill>
                  <a:srgbClr val="00B050"/>
                </a:solidFill>
                <a:latin typeface="Times New Roman" panose="02020603050405020304" pitchFamily="18" charset="0"/>
              </a:rPr>
              <a:t>[3,2]</a:t>
            </a:r>
          </a:p>
          <a:p>
            <a:pPr algn="ctr" eaLnBrk="0" hangingPunct="0"/>
            <a:r>
              <a:rPr lang="en-US" altLang="en-US" sz="2000" b="1">
                <a:latin typeface="Times New Roman" panose="02020603050405020304" pitchFamily="18" charset="0"/>
              </a:rPr>
              <a:t>...	...</a:t>
            </a:r>
          </a:p>
        </p:txBody>
      </p:sp>
    </p:spTree>
    <p:extLst>
      <p:ext uri="{BB962C8B-B14F-4D97-AF65-F5344CB8AC3E}">
        <p14:creationId xmlns:p14="http://schemas.microsoft.com/office/powerpoint/2010/main" val="303059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6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6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6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5" grpId="0" animBg="1"/>
      <p:bldP spid="26636" grpId="0"/>
      <p:bldP spid="26637" grpId="0"/>
      <p:bldP spid="26641" grpId="0" animBg="1"/>
      <p:bldP spid="26642" grpId="0"/>
      <p:bldP spid="26643" grpId="0"/>
      <p:bldP spid="26660" grpId="0" animBg="1"/>
      <p:bldP spid="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930BF75-0AC1-4392-BBA9-9362ADD0548F}" type="slidenum">
              <a:rPr lang="en-US" altLang="en-US"/>
              <a:pPr/>
              <a:t>20</a:t>
            </a:fld>
            <a:endParaRPr lang="en-US" altLang="en-US"/>
          </a:p>
        </p:txBody>
      </p:sp>
      <p:sp>
        <p:nvSpPr>
          <p:cNvPr id="27650" name="Rectangle 2"/>
          <p:cNvSpPr>
            <a:spLocks noGrp="1" noChangeArrowheads="1"/>
          </p:cNvSpPr>
          <p:nvPr>
            <p:ph type="title"/>
          </p:nvPr>
        </p:nvSpPr>
        <p:spPr/>
        <p:txBody>
          <a:bodyPr/>
          <a:lstStyle/>
          <a:p>
            <a:r>
              <a:rPr lang="en-US" altLang="en-US"/>
              <a:t>2 </a:t>
            </a:r>
            <a:r>
              <a:rPr lang="en-US" altLang="en-US" err="1"/>
              <a:t>cách</a:t>
            </a:r>
            <a:r>
              <a:rPr lang="en-US" altLang="en-US"/>
              <a:t> </a:t>
            </a:r>
            <a:r>
              <a:rPr lang="en-US" altLang="en-US" err="1"/>
              <a:t>bố</a:t>
            </a:r>
            <a:r>
              <a:rPr lang="en-US" altLang="en-US"/>
              <a:t> </a:t>
            </a:r>
            <a:r>
              <a:rPr lang="en-US" altLang="en-US" err="1"/>
              <a:t>trí</a:t>
            </a:r>
            <a:endParaRPr lang="en-US" altLang="en-US"/>
          </a:p>
        </p:txBody>
      </p:sp>
      <p:sp>
        <p:nvSpPr>
          <p:cNvPr id="27651" name="Rectangle 3"/>
          <p:cNvSpPr>
            <a:spLocks noGrp="1" noChangeArrowheads="1"/>
          </p:cNvSpPr>
          <p:nvPr>
            <p:ph type="body" sz="quarter" idx="13"/>
          </p:nvPr>
        </p:nvSpPr>
        <p:spPr/>
        <p:txBody>
          <a:bodyPr/>
          <a:lstStyle/>
          <a:p>
            <a:pPr marL="101600" lvl="1" indent="0">
              <a:lnSpc>
                <a:spcPct val="120000"/>
              </a:lnSpc>
              <a:spcBef>
                <a:spcPts val="600"/>
              </a:spcBef>
              <a:buClr>
                <a:schemeClr val="accent1"/>
              </a:buClr>
              <a:buNone/>
            </a:pPr>
            <a:r>
              <a:rPr lang="en-US" altLang="en-US" sz="2200">
                <a:latin typeface="Courier New" panose="02070309020205020404" pitchFamily="49" charset="0"/>
                <a:cs typeface="Courier New" panose="02070309020205020404" pitchFamily="49" charset="0"/>
              </a:rPr>
              <a:t>ARRAY : a</a:t>
            </a:r>
            <a:r>
              <a:rPr lang="en-US" altLang="en-US" sz="2200" baseline="-30000">
                <a:latin typeface="Courier New" panose="02070309020205020404" pitchFamily="49" charset="0"/>
                <a:cs typeface="Courier New" panose="02070309020205020404" pitchFamily="49" charset="0"/>
              </a:rPr>
              <a:t>2</a:t>
            </a:r>
            <a:r>
              <a:rPr lang="en-US" altLang="en-US" sz="2200">
                <a:latin typeface="Courier New" panose="02070309020205020404" pitchFamily="49" charset="0"/>
                <a:cs typeface="Courier New" panose="02070309020205020404" pitchFamily="49" charset="0"/>
              </a:rPr>
              <a:t>[2,M,N] OF </a:t>
            </a:r>
            <a:r>
              <a:rPr lang="en-US" altLang="en-US" sz="2200" i="1">
                <a:latin typeface="Courier New" panose="02070309020205020404" pitchFamily="49" charset="0"/>
                <a:cs typeface="Courier New" panose="02070309020205020404" pitchFamily="49" charset="0"/>
              </a:rPr>
              <a:t>datatype</a:t>
            </a:r>
            <a:r>
              <a:rPr lang="en-US" altLang="en-US" sz="2200">
                <a:latin typeface="Courier New" panose="02070309020205020404" pitchFamily="49" charset="0"/>
                <a:cs typeface="Courier New" panose="02070309020205020404" pitchFamily="49" charset="0"/>
              </a:rPr>
              <a:t> ; </a:t>
            </a:r>
          </a:p>
          <a:p>
            <a:pPr>
              <a:lnSpc>
                <a:spcPct val="120000"/>
              </a:lnSpc>
            </a:pPr>
            <a:r>
              <a:rPr lang="en-US" altLang="en-US" sz="2300" i="1">
                <a:cs typeface="Times New Roman" panose="02020603050405020304" pitchFamily="18" charset="0"/>
              </a:rPr>
              <a:t>Theo </a:t>
            </a:r>
            <a:r>
              <a:rPr lang="en-US" altLang="en-US" sz="2300" i="1" err="1">
                <a:cs typeface="Times New Roman" panose="02020603050405020304" pitchFamily="18" charset="0"/>
              </a:rPr>
              <a:t>thứ</a:t>
            </a:r>
            <a:r>
              <a:rPr lang="en-US" altLang="en-US" sz="2300" i="1">
                <a:cs typeface="Times New Roman" panose="02020603050405020304" pitchFamily="18" charset="0"/>
              </a:rPr>
              <a:t> </a:t>
            </a:r>
            <a:r>
              <a:rPr lang="en-US" altLang="en-US" sz="2300" i="1" err="1">
                <a:cs typeface="Times New Roman" panose="02020603050405020304" pitchFamily="18" charset="0"/>
              </a:rPr>
              <a:t>tự</a:t>
            </a:r>
            <a:r>
              <a:rPr lang="en-US" altLang="en-US" sz="2300" i="1">
                <a:cs typeface="Times New Roman" panose="02020603050405020304" pitchFamily="18" charset="0"/>
              </a:rPr>
              <a:t> </a:t>
            </a:r>
            <a:r>
              <a:rPr lang="en-US" altLang="en-US" sz="2300" i="1" err="1">
                <a:cs typeface="Times New Roman" panose="02020603050405020304" pitchFamily="18" charset="0"/>
              </a:rPr>
              <a:t>ưu</a:t>
            </a:r>
            <a:r>
              <a:rPr lang="en-US" altLang="en-US" sz="2300" i="1">
                <a:cs typeface="Times New Roman" panose="02020603050405020304" pitchFamily="18" charset="0"/>
              </a:rPr>
              <a:t> </a:t>
            </a:r>
            <a:r>
              <a:rPr lang="en-US" altLang="en-US" sz="2300" i="1" err="1">
                <a:cs typeface="Times New Roman" panose="02020603050405020304" pitchFamily="18" charset="0"/>
              </a:rPr>
              <a:t>tiên</a:t>
            </a:r>
            <a:r>
              <a:rPr lang="en-US" altLang="en-US" sz="2300" i="1">
                <a:cs typeface="Times New Roman" panose="02020603050405020304" pitchFamily="18" charset="0"/>
              </a:rPr>
              <a:t> </a:t>
            </a:r>
            <a:r>
              <a:rPr lang="en-US" altLang="en-US" sz="2300" i="1" err="1">
                <a:cs typeface="Times New Roman" panose="02020603050405020304" pitchFamily="18" charset="0"/>
              </a:rPr>
              <a:t>hàng</a:t>
            </a:r>
            <a:endParaRPr lang="en-US" altLang="en-US" sz="2300" i="1">
              <a:cs typeface="Times New Roman" panose="02020603050405020304" pitchFamily="18" charset="0"/>
            </a:endParaRPr>
          </a:p>
          <a:p>
            <a:pPr lvl="1">
              <a:lnSpc>
                <a:spcPct val="120000"/>
              </a:lnSpc>
            </a:pPr>
            <a:r>
              <a:rPr lang="en-US" altLang="en-US" sz="2000">
                <a:latin typeface="Courier New" panose="02070309020205020404" pitchFamily="49" charset="0"/>
                <a:cs typeface="Courier New" panose="02070309020205020404" pitchFamily="49" charset="0"/>
              </a:rPr>
              <a:t>a</a:t>
            </a:r>
            <a:r>
              <a:rPr lang="en-US" altLang="en-US" sz="2000" baseline="-30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i,j</a:t>
            </a:r>
            <a:r>
              <a:rPr lang="en-US" altLang="en-US" sz="2000">
                <a:latin typeface="Courier New" panose="02070309020205020404" pitchFamily="49" charset="0"/>
                <a:cs typeface="Courier New" panose="02070309020205020404" pitchFamily="49"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ở ô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a:t>
            </a:r>
            <a:r>
              <a:rPr lang="en-US" altLang="en-US" sz="2000">
                <a:latin typeface="Courier New" panose="02070309020205020404" pitchFamily="49" charset="0"/>
                <a:cs typeface="Courier New" panose="02070309020205020404" pitchFamily="49" charset="0"/>
              </a:rPr>
              <a:t>z:</a:t>
            </a:r>
            <a:endParaRPr lang="en-US" altLang="en-US" sz="1800">
              <a:latin typeface="Courier New" panose="02070309020205020404" pitchFamily="49" charset="0"/>
              <a:cs typeface="Courier New" panose="02070309020205020404" pitchFamily="49" charset="0"/>
            </a:endParaRPr>
          </a:p>
          <a:p>
            <a:pPr lvl="1">
              <a:lnSpc>
                <a:spcPct val="120000"/>
              </a:lnSpc>
            </a:pPr>
            <a:r>
              <a:rPr lang="en-US" altLang="en-US" sz="2000" err="1">
                <a:cs typeface="Times New Roman" panose="02020603050405020304" pitchFamily="18" charset="0"/>
              </a:rPr>
              <a:t>Ngược</a:t>
            </a:r>
            <a:r>
              <a:rPr lang="en-US" altLang="en-US" sz="2000">
                <a:cs typeface="Times New Roman" panose="02020603050405020304" pitchFamily="18" charset="0"/>
              </a:rPr>
              <a:t> </a:t>
            </a:r>
            <a:r>
              <a:rPr lang="en-US" altLang="en-US" sz="2000" err="1">
                <a:cs typeface="Times New Roman" panose="02020603050405020304" pitchFamily="18" charset="0"/>
              </a:rPr>
              <a:t>lại</a:t>
            </a:r>
            <a:r>
              <a:rPr lang="en-US" altLang="en-US" sz="2000">
                <a:cs typeface="Times New Roman" panose="02020603050405020304" pitchFamily="18" charset="0"/>
              </a:rPr>
              <a:t>, ở ô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z </a:t>
            </a:r>
            <a:r>
              <a:rPr lang="en-US" altLang="en-US" sz="2000" err="1">
                <a:cs typeface="Times New Roman" panose="02020603050405020304" pitchFamily="18" charset="0"/>
              </a:rPr>
              <a:t>sẽ</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a:latin typeface="Courier New" panose="02070309020205020404" pitchFamily="49" charset="0"/>
                <a:cs typeface="Courier New" panose="02070309020205020404" pitchFamily="49" charset="0"/>
              </a:rPr>
              <a:t>a</a:t>
            </a:r>
            <a:r>
              <a:rPr lang="en-US" altLang="en-US" sz="2000" baseline="-30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i,j</a:t>
            </a:r>
            <a:r>
              <a:rPr lang="en-US" altLang="en-US" sz="2000">
                <a:latin typeface="Courier New" panose="02070309020205020404" pitchFamily="49" charset="0"/>
                <a:cs typeface="Courier New" panose="02070309020205020404" pitchFamily="49" charset="0"/>
              </a:rPr>
              <a:t>]</a:t>
            </a:r>
            <a:r>
              <a:rPr lang="en-US" altLang="en-US" sz="1800">
                <a:latin typeface="Courier New" panose="02070309020205020404" pitchFamily="49" charset="0"/>
                <a:cs typeface="Courier New" panose="02070309020205020404" pitchFamily="49" charset="0"/>
              </a:rPr>
              <a:t>	</a:t>
            </a:r>
            <a:r>
              <a:rPr lang="en-US" altLang="en-US" sz="1800">
                <a:cs typeface="Times New Roman" panose="02020603050405020304" pitchFamily="18" charset="0"/>
              </a:rPr>
              <a:t>	</a:t>
            </a:r>
            <a:endParaRPr lang="en-US" altLang="en-US" sz="1800"/>
          </a:p>
        </p:txBody>
      </p:sp>
      <p:pic>
        <p:nvPicPr>
          <p:cNvPr id="5" name="Picture 4"/>
          <p:cNvPicPr>
            <a:picLocks noChangeAspect="1"/>
          </p:cNvPicPr>
          <p:nvPr/>
        </p:nvPicPr>
        <p:blipFill>
          <a:blip r:embed="rId3"/>
          <a:stretch>
            <a:fillRect/>
          </a:stretch>
        </p:blipFill>
        <p:spPr>
          <a:xfrm>
            <a:off x="4438227" y="3886200"/>
            <a:ext cx="1832588" cy="1960600"/>
          </a:xfrm>
          <a:prstGeom prst="rect">
            <a:avLst/>
          </a:prstGeom>
        </p:spPr>
      </p:pic>
      <p:pic>
        <p:nvPicPr>
          <p:cNvPr id="8" name="Picture 7"/>
          <p:cNvPicPr>
            <a:picLocks noChangeAspect="1"/>
          </p:cNvPicPr>
          <p:nvPr/>
        </p:nvPicPr>
        <p:blipFill>
          <a:blip r:embed="rId4"/>
          <a:stretch>
            <a:fillRect/>
          </a:stretch>
        </p:blipFill>
        <p:spPr>
          <a:xfrm>
            <a:off x="1799991" y="3809008"/>
            <a:ext cx="1956179" cy="2114983"/>
          </a:xfrm>
          <a:prstGeom prst="rect">
            <a:avLst/>
          </a:prstGeom>
        </p:spPr>
      </p:pic>
      <p:sp>
        <p:nvSpPr>
          <p:cNvPr id="2" name="Rectangle 1"/>
          <p:cNvSpPr/>
          <p:nvPr/>
        </p:nvSpPr>
        <p:spPr>
          <a:xfrm>
            <a:off x="5334000" y="1981200"/>
            <a:ext cx="2252540" cy="369332"/>
          </a:xfrm>
          <a:prstGeom prst="rect">
            <a:avLst/>
          </a:prstGeom>
        </p:spPr>
        <p:txBody>
          <a:bodyPr wrap="none">
            <a:spAutoFit/>
          </a:bodyPr>
          <a:lstStyle/>
          <a:p>
            <a:r>
              <a:rPr lang="en-US" altLang="en-US">
                <a:latin typeface="Courier New" panose="02070309020205020404" pitchFamily="49" charset="0"/>
                <a:cs typeface="Courier New" panose="02070309020205020404" pitchFamily="49" charset="0"/>
              </a:rPr>
              <a:t>z = N*(i-1) + j</a:t>
            </a:r>
            <a:endParaRPr lang="en-US"/>
          </a:p>
        </p:txBody>
      </p:sp>
      <p:sp>
        <p:nvSpPr>
          <p:cNvPr id="3" name="Rectangle 2"/>
          <p:cNvSpPr/>
          <p:nvPr/>
        </p:nvSpPr>
        <p:spPr>
          <a:xfrm>
            <a:off x="1215883" y="2840060"/>
            <a:ext cx="6705600" cy="369332"/>
          </a:xfrm>
          <a:prstGeom prst="rect">
            <a:avLst/>
          </a:prstGeom>
        </p:spPr>
        <p:txBody>
          <a:bodyPr wrap="square">
            <a:spAutoFit/>
          </a:bodyPr>
          <a:lstStyle/>
          <a:p>
            <a:r>
              <a:rPr lang="en-US" altLang="en-US" err="1">
                <a:latin typeface="Courier New" panose="02070309020205020404" pitchFamily="49" charset="0"/>
                <a:cs typeface="Courier New" panose="02070309020205020404" pitchFamily="49" charset="0"/>
              </a:rPr>
              <a:t>i</a:t>
            </a:r>
            <a:r>
              <a:rPr lang="en-US" altLang="en-US">
                <a:latin typeface="Courier New" panose="02070309020205020404" pitchFamily="49" charset="0"/>
                <a:cs typeface="Courier New" panose="02070309020205020404" pitchFamily="49" charset="0"/>
              </a:rPr>
              <a:t> = (z - 1) DIV N + 1   </a:t>
            </a:r>
            <a:r>
              <a:rPr lang="en-US" altLang="en-US" err="1"/>
              <a:t>và</a:t>
            </a:r>
            <a:r>
              <a:rPr lang="en-US" altLang="en-US">
                <a:latin typeface="Courier New" panose="02070309020205020404" pitchFamily="49" charset="0"/>
                <a:cs typeface="Courier New" panose="02070309020205020404" pitchFamily="49" charset="0"/>
              </a:rPr>
              <a:t>   j = (z-1) MOD N +1</a:t>
            </a:r>
            <a:endParaRPr lang="en-US"/>
          </a:p>
        </p:txBody>
      </p:sp>
      <p:sp>
        <p:nvSpPr>
          <p:cNvPr id="4" name="TextBox 3"/>
          <p:cNvSpPr txBox="1"/>
          <p:nvPr/>
        </p:nvSpPr>
        <p:spPr>
          <a:xfrm>
            <a:off x="4953000" y="1981200"/>
            <a:ext cx="325730" cy="369332"/>
          </a:xfrm>
          <a:prstGeom prst="rect">
            <a:avLst/>
          </a:prstGeom>
          <a:noFill/>
        </p:spPr>
        <p:txBody>
          <a:bodyPr wrap="none" rtlCol="0">
            <a:spAutoFit/>
          </a:bodyPr>
          <a:lstStyle/>
          <a:p>
            <a:r>
              <a:rPr lang="en-US" b="1">
                <a:solidFill>
                  <a:srgbClr val="FF0000"/>
                </a:solidFill>
              </a:rPr>
              <a:t>?</a:t>
            </a:r>
          </a:p>
        </p:txBody>
      </p:sp>
      <p:sp>
        <p:nvSpPr>
          <p:cNvPr id="10" name="TextBox 9"/>
          <p:cNvSpPr txBox="1"/>
          <p:nvPr/>
        </p:nvSpPr>
        <p:spPr>
          <a:xfrm>
            <a:off x="6672458" y="2417330"/>
            <a:ext cx="389850" cy="369332"/>
          </a:xfrm>
          <a:prstGeom prst="rect">
            <a:avLst/>
          </a:prstGeom>
          <a:noFill/>
        </p:spPr>
        <p:txBody>
          <a:bodyPr wrap="none" rtlCol="0">
            <a:spAutoFit/>
          </a:bodyPr>
          <a:lstStyle/>
          <a:p>
            <a:r>
              <a:rPr lang="en-US" b="1">
                <a:solidFill>
                  <a:srgbClr val="FF0000"/>
                </a:solidFill>
              </a:rPr>
              <a:t>? </a:t>
            </a:r>
          </a:p>
        </p:txBody>
      </p:sp>
    </p:spTree>
    <p:extLst>
      <p:ext uri="{BB962C8B-B14F-4D97-AF65-F5344CB8AC3E}">
        <p14:creationId xmlns:p14="http://schemas.microsoft.com/office/powerpoint/2010/main" val="127193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930BF75-0AC1-4392-BBA9-9362ADD0548F}" type="slidenum">
              <a:rPr lang="en-US" altLang="en-US"/>
              <a:pPr/>
              <a:t>21</a:t>
            </a:fld>
            <a:endParaRPr lang="en-US" altLang="en-US"/>
          </a:p>
        </p:txBody>
      </p:sp>
      <p:sp>
        <p:nvSpPr>
          <p:cNvPr id="27650" name="Rectangle 2"/>
          <p:cNvSpPr>
            <a:spLocks noGrp="1" noChangeArrowheads="1"/>
          </p:cNvSpPr>
          <p:nvPr>
            <p:ph type="title"/>
          </p:nvPr>
        </p:nvSpPr>
        <p:spPr/>
        <p:txBody>
          <a:bodyPr/>
          <a:lstStyle/>
          <a:p>
            <a:r>
              <a:rPr lang="en-US" altLang="en-US"/>
              <a:t>2 </a:t>
            </a:r>
            <a:r>
              <a:rPr lang="en-US" altLang="en-US" err="1"/>
              <a:t>cách</a:t>
            </a:r>
            <a:r>
              <a:rPr lang="en-US" altLang="en-US"/>
              <a:t> </a:t>
            </a:r>
            <a:r>
              <a:rPr lang="en-US" altLang="en-US" err="1"/>
              <a:t>bố</a:t>
            </a:r>
            <a:r>
              <a:rPr lang="en-US" altLang="en-US"/>
              <a:t> </a:t>
            </a:r>
            <a:r>
              <a:rPr lang="en-US" altLang="en-US" err="1"/>
              <a:t>trí</a:t>
            </a:r>
            <a:endParaRPr lang="en-US" altLang="en-US"/>
          </a:p>
        </p:txBody>
      </p:sp>
      <p:sp>
        <p:nvSpPr>
          <p:cNvPr id="27651" name="Rectangle 3"/>
          <p:cNvSpPr>
            <a:spLocks noGrp="1" noChangeArrowheads="1"/>
          </p:cNvSpPr>
          <p:nvPr>
            <p:ph type="body" sz="quarter" idx="13"/>
          </p:nvPr>
        </p:nvSpPr>
        <p:spPr/>
        <p:txBody>
          <a:bodyPr/>
          <a:lstStyle/>
          <a:p>
            <a:pPr marL="101600" lvl="1" indent="0">
              <a:lnSpc>
                <a:spcPct val="120000"/>
              </a:lnSpc>
              <a:spcBef>
                <a:spcPts val="600"/>
              </a:spcBef>
              <a:buClr>
                <a:schemeClr val="accent1"/>
              </a:buClr>
              <a:buNone/>
            </a:pPr>
            <a:r>
              <a:rPr lang="en-US" altLang="en-US" sz="2200">
                <a:latin typeface="Courier New" panose="02070309020205020404" pitchFamily="49" charset="0"/>
                <a:cs typeface="Courier New" panose="02070309020205020404" pitchFamily="49" charset="0"/>
              </a:rPr>
              <a:t>ARRAY : a</a:t>
            </a:r>
            <a:r>
              <a:rPr lang="en-US" altLang="en-US" sz="2200" baseline="-30000">
                <a:latin typeface="Courier New" panose="02070309020205020404" pitchFamily="49" charset="0"/>
                <a:cs typeface="Courier New" panose="02070309020205020404" pitchFamily="49" charset="0"/>
              </a:rPr>
              <a:t>2</a:t>
            </a:r>
            <a:r>
              <a:rPr lang="en-US" altLang="en-US" sz="2200">
                <a:latin typeface="Courier New" panose="02070309020205020404" pitchFamily="49" charset="0"/>
                <a:cs typeface="Courier New" panose="02070309020205020404" pitchFamily="49" charset="0"/>
              </a:rPr>
              <a:t>[2,M,N] OF </a:t>
            </a:r>
            <a:r>
              <a:rPr lang="en-US" altLang="en-US" sz="2200" i="1">
                <a:latin typeface="Courier New" panose="02070309020205020404" pitchFamily="49" charset="0"/>
                <a:cs typeface="Courier New" panose="02070309020205020404" pitchFamily="49" charset="0"/>
              </a:rPr>
              <a:t>datatype</a:t>
            </a:r>
            <a:r>
              <a:rPr lang="en-US" altLang="en-US" sz="2200">
                <a:latin typeface="Courier New" panose="02070309020205020404" pitchFamily="49" charset="0"/>
                <a:cs typeface="Courier New" panose="02070309020205020404" pitchFamily="49" charset="0"/>
              </a:rPr>
              <a:t> ; </a:t>
            </a:r>
          </a:p>
          <a:p>
            <a:pPr>
              <a:lnSpc>
                <a:spcPct val="120000"/>
              </a:lnSpc>
            </a:pPr>
            <a:r>
              <a:rPr lang="en-US" altLang="en-US" sz="2300" i="1">
                <a:cs typeface="Times New Roman" panose="02020603050405020304" pitchFamily="18" charset="0"/>
              </a:rPr>
              <a:t>Theo </a:t>
            </a:r>
            <a:r>
              <a:rPr lang="en-US" altLang="en-US" sz="2300" i="1" err="1">
                <a:cs typeface="Times New Roman" panose="02020603050405020304" pitchFamily="18" charset="0"/>
              </a:rPr>
              <a:t>thứ</a:t>
            </a:r>
            <a:r>
              <a:rPr lang="en-US" altLang="en-US" sz="2300" i="1">
                <a:cs typeface="Times New Roman" panose="02020603050405020304" pitchFamily="18" charset="0"/>
              </a:rPr>
              <a:t> </a:t>
            </a:r>
            <a:r>
              <a:rPr lang="en-US" altLang="en-US" sz="2300" i="1" err="1">
                <a:cs typeface="Times New Roman" panose="02020603050405020304" pitchFamily="18" charset="0"/>
              </a:rPr>
              <a:t>tự</a:t>
            </a:r>
            <a:r>
              <a:rPr lang="en-US" altLang="en-US" sz="2300" i="1">
                <a:cs typeface="Times New Roman" panose="02020603050405020304" pitchFamily="18" charset="0"/>
              </a:rPr>
              <a:t> </a:t>
            </a:r>
            <a:r>
              <a:rPr lang="en-US" altLang="en-US" sz="2300" i="1" err="1">
                <a:cs typeface="Times New Roman" panose="02020603050405020304" pitchFamily="18" charset="0"/>
              </a:rPr>
              <a:t>ưu</a:t>
            </a:r>
            <a:r>
              <a:rPr lang="en-US" altLang="en-US" sz="2300" i="1">
                <a:cs typeface="Times New Roman" panose="02020603050405020304" pitchFamily="18" charset="0"/>
              </a:rPr>
              <a:t> </a:t>
            </a:r>
            <a:r>
              <a:rPr lang="en-US" altLang="en-US" sz="2300" i="1" err="1">
                <a:cs typeface="Times New Roman" panose="02020603050405020304" pitchFamily="18" charset="0"/>
              </a:rPr>
              <a:t>tiên</a:t>
            </a:r>
            <a:r>
              <a:rPr lang="en-US" altLang="en-US" sz="2300" i="1">
                <a:cs typeface="Times New Roman" panose="02020603050405020304" pitchFamily="18" charset="0"/>
              </a:rPr>
              <a:t> </a:t>
            </a:r>
            <a:r>
              <a:rPr lang="en-US" altLang="en-US" sz="2300" i="1" err="1">
                <a:cs typeface="Times New Roman" panose="02020603050405020304" pitchFamily="18" charset="0"/>
              </a:rPr>
              <a:t>cột</a:t>
            </a:r>
            <a:endParaRPr lang="en-US" altLang="en-US" sz="2300" i="1">
              <a:cs typeface="Times New Roman" panose="02020603050405020304" pitchFamily="18" charset="0"/>
            </a:endParaRPr>
          </a:p>
          <a:p>
            <a:pPr lvl="1">
              <a:lnSpc>
                <a:spcPct val="120000"/>
              </a:lnSpc>
            </a:pPr>
            <a:r>
              <a:rPr lang="en-US" altLang="en-US" sz="2000">
                <a:latin typeface="Courier New" panose="02070309020205020404" pitchFamily="49" charset="0"/>
                <a:cs typeface="Courier New" panose="02070309020205020404" pitchFamily="49" charset="0"/>
              </a:rPr>
              <a:t>a</a:t>
            </a:r>
            <a:r>
              <a:rPr lang="en-US" altLang="en-US" sz="2000" baseline="-30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i,j</a:t>
            </a:r>
            <a:r>
              <a:rPr lang="en-US" altLang="en-US" sz="2000">
                <a:latin typeface="Courier New" panose="02070309020205020404" pitchFamily="49" charset="0"/>
                <a:cs typeface="Courier New" panose="02070309020205020404" pitchFamily="49"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ở ô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a:t>
            </a:r>
            <a:r>
              <a:rPr lang="en-US" altLang="en-US" sz="2000">
                <a:latin typeface="Courier New" panose="02070309020205020404" pitchFamily="49" charset="0"/>
                <a:cs typeface="Courier New" panose="02070309020205020404" pitchFamily="49" charset="0"/>
              </a:rPr>
              <a:t>z:</a:t>
            </a:r>
            <a:endParaRPr lang="en-US" altLang="en-US" sz="1800">
              <a:latin typeface="Courier New" panose="02070309020205020404" pitchFamily="49" charset="0"/>
              <a:cs typeface="Courier New" panose="02070309020205020404" pitchFamily="49" charset="0"/>
            </a:endParaRPr>
          </a:p>
          <a:p>
            <a:pPr lvl="1">
              <a:lnSpc>
                <a:spcPct val="120000"/>
              </a:lnSpc>
            </a:pPr>
            <a:r>
              <a:rPr lang="en-US" altLang="en-US" sz="2000" err="1">
                <a:cs typeface="Times New Roman" panose="02020603050405020304" pitchFamily="18" charset="0"/>
              </a:rPr>
              <a:t>Ngược</a:t>
            </a:r>
            <a:r>
              <a:rPr lang="en-US" altLang="en-US" sz="2000">
                <a:cs typeface="Times New Roman" panose="02020603050405020304" pitchFamily="18" charset="0"/>
              </a:rPr>
              <a:t> </a:t>
            </a:r>
            <a:r>
              <a:rPr lang="en-US" altLang="en-US" sz="2000" err="1">
                <a:cs typeface="Times New Roman" panose="02020603050405020304" pitchFamily="18" charset="0"/>
              </a:rPr>
              <a:t>lại</a:t>
            </a:r>
            <a:r>
              <a:rPr lang="en-US" altLang="en-US" sz="2000">
                <a:cs typeface="Times New Roman" panose="02020603050405020304" pitchFamily="18" charset="0"/>
              </a:rPr>
              <a:t>, ở ô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z </a:t>
            </a:r>
            <a:r>
              <a:rPr lang="en-US" altLang="en-US" sz="2000" err="1">
                <a:cs typeface="Times New Roman" panose="02020603050405020304" pitchFamily="18" charset="0"/>
              </a:rPr>
              <a:t>sẽ</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a:latin typeface="Courier New" panose="02070309020205020404" pitchFamily="49" charset="0"/>
                <a:cs typeface="Courier New" panose="02070309020205020404" pitchFamily="49" charset="0"/>
              </a:rPr>
              <a:t>a</a:t>
            </a:r>
            <a:r>
              <a:rPr lang="en-US" altLang="en-US" sz="2000" baseline="-30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i,j</a:t>
            </a:r>
            <a:r>
              <a:rPr lang="en-US" altLang="en-US" sz="2000">
                <a:latin typeface="Courier New" panose="02070309020205020404" pitchFamily="49" charset="0"/>
                <a:cs typeface="Courier New" panose="02070309020205020404" pitchFamily="49" charset="0"/>
              </a:rPr>
              <a:t>]</a:t>
            </a:r>
            <a:r>
              <a:rPr lang="en-US" altLang="en-US" sz="2000">
                <a:cs typeface="Times New Roman" panose="02020603050405020304" pitchFamily="18" charset="0"/>
              </a:rPr>
              <a:t> </a:t>
            </a:r>
            <a:r>
              <a:rPr lang="en-US" altLang="en-US" sz="2000" err="1">
                <a:cs typeface="Times New Roman" panose="02020603050405020304" pitchFamily="18" charset="0"/>
              </a:rPr>
              <a:t>với</a:t>
            </a:r>
            <a:endParaRPr lang="en-US" altLang="en-US" sz="2000">
              <a:cs typeface="Times New Roman" panose="02020603050405020304" pitchFamily="18" charset="0"/>
            </a:endParaRPr>
          </a:p>
          <a:p>
            <a:pPr marL="685800" lvl="2" indent="0">
              <a:lnSpc>
                <a:spcPct val="120000"/>
              </a:lnSpc>
              <a:buNone/>
            </a:pPr>
            <a:r>
              <a:rPr lang="en-US" altLang="en-US" sz="1800">
                <a:latin typeface="Courier New" panose="02070309020205020404" pitchFamily="49" charset="0"/>
                <a:cs typeface="Courier New" panose="02070309020205020404" pitchFamily="49" charset="0"/>
              </a:rPr>
              <a:t>	</a:t>
            </a:r>
            <a:r>
              <a:rPr lang="en-US" altLang="en-US" sz="1800">
                <a:cs typeface="Times New Roman" panose="02020603050405020304" pitchFamily="18" charset="0"/>
              </a:rPr>
              <a:t>	</a:t>
            </a:r>
            <a:endParaRPr lang="en-US" altLang="en-US" sz="1800"/>
          </a:p>
        </p:txBody>
      </p:sp>
      <p:pic>
        <p:nvPicPr>
          <p:cNvPr id="5" name="Picture 4"/>
          <p:cNvPicPr>
            <a:picLocks noChangeAspect="1"/>
          </p:cNvPicPr>
          <p:nvPr/>
        </p:nvPicPr>
        <p:blipFill>
          <a:blip r:embed="rId3"/>
          <a:stretch>
            <a:fillRect/>
          </a:stretch>
        </p:blipFill>
        <p:spPr>
          <a:xfrm>
            <a:off x="4448280" y="3772896"/>
            <a:ext cx="1832588" cy="1960600"/>
          </a:xfrm>
          <a:prstGeom prst="rect">
            <a:avLst/>
          </a:prstGeom>
        </p:spPr>
      </p:pic>
      <p:pic>
        <p:nvPicPr>
          <p:cNvPr id="2" name="Picture 1"/>
          <p:cNvPicPr>
            <a:picLocks noChangeAspect="1"/>
          </p:cNvPicPr>
          <p:nvPr/>
        </p:nvPicPr>
        <p:blipFill>
          <a:blip r:embed="rId4"/>
          <a:stretch>
            <a:fillRect/>
          </a:stretch>
        </p:blipFill>
        <p:spPr>
          <a:xfrm>
            <a:off x="2057400" y="3772896"/>
            <a:ext cx="1901825" cy="2043752"/>
          </a:xfrm>
          <a:prstGeom prst="rect">
            <a:avLst/>
          </a:prstGeom>
        </p:spPr>
      </p:pic>
      <p:sp>
        <p:nvSpPr>
          <p:cNvPr id="3" name="Rectangle 2"/>
          <p:cNvSpPr/>
          <p:nvPr/>
        </p:nvSpPr>
        <p:spPr>
          <a:xfrm>
            <a:off x="2188081" y="6019800"/>
            <a:ext cx="4092787" cy="369332"/>
          </a:xfrm>
          <a:prstGeom prst="rect">
            <a:avLst/>
          </a:prstGeom>
        </p:spPr>
        <p:txBody>
          <a:bodyPr wrap="none">
            <a:spAutoFit/>
          </a:bodyPr>
          <a:lstStyle/>
          <a:p>
            <a:r>
              <a:rPr lang="en-US" b="1" err="1">
                <a:solidFill>
                  <a:srgbClr val="FF0000"/>
                </a:solidFill>
              </a:rPr>
              <a:t>Cài</a:t>
            </a:r>
            <a:r>
              <a:rPr lang="en-US" b="1">
                <a:solidFill>
                  <a:srgbClr val="FF0000"/>
                </a:solidFill>
              </a:rPr>
              <a:t> </a:t>
            </a:r>
            <a:r>
              <a:rPr lang="en-US" b="1" err="1">
                <a:solidFill>
                  <a:srgbClr val="FF0000"/>
                </a:solidFill>
              </a:rPr>
              <a:t>đặt</a:t>
            </a:r>
            <a:r>
              <a:rPr lang="en-US" b="1">
                <a:solidFill>
                  <a:srgbClr val="FF0000"/>
                </a:solidFill>
              </a:rPr>
              <a:t> </a:t>
            </a:r>
            <a:r>
              <a:rPr lang="en-US" b="1" err="1">
                <a:solidFill>
                  <a:srgbClr val="FF0000"/>
                </a:solidFill>
              </a:rPr>
              <a:t>mảng</a:t>
            </a:r>
            <a:r>
              <a:rPr lang="en-US" b="1">
                <a:solidFill>
                  <a:srgbClr val="FF0000"/>
                </a:solidFill>
              </a:rPr>
              <a:t> </a:t>
            </a:r>
            <a:r>
              <a:rPr lang="en-US" b="1" err="1">
                <a:solidFill>
                  <a:srgbClr val="FF0000"/>
                </a:solidFill>
              </a:rPr>
              <a:t>nhiều</a:t>
            </a:r>
            <a:r>
              <a:rPr lang="en-US" b="1">
                <a:solidFill>
                  <a:srgbClr val="FF0000"/>
                </a:solidFill>
              </a:rPr>
              <a:t> </a:t>
            </a:r>
            <a:r>
              <a:rPr lang="en-US" b="1" err="1">
                <a:solidFill>
                  <a:srgbClr val="FF0000"/>
                </a:solidFill>
              </a:rPr>
              <a:t>hơn</a:t>
            </a:r>
            <a:r>
              <a:rPr lang="en-US" b="1">
                <a:solidFill>
                  <a:srgbClr val="FF0000"/>
                </a:solidFill>
              </a:rPr>
              <a:t> </a:t>
            </a:r>
            <a:r>
              <a:rPr lang="en-US" b="1" err="1">
                <a:solidFill>
                  <a:srgbClr val="FF0000"/>
                </a:solidFill>
              </a:rPr>
              <a:t>hai</a:t>
            </a:r>
            <a:r>
              <a:rPr lang="en-US" b="1">
                <a:solidFill>
                  <a:srgbClr val="FF0000"/>
                </a:solidFill>
              </a:rPr>
              <a:t> </a:t>
            </a:r>
            <a:r>
              <a:rPr lang="en-US" b="1" err="1">
                <a:solidFill>
                  <a:srgbClr val="FF0000"/>
                </a:solidFill>
              </a:rPr>
              <a:t>chiều</a:t>
            </a:r>
            <a:r>
              <a:rPr lang="en-US" b="1">
                <a:solidFill>
                  <a:srgbClr val="FF0000"/>
                </a:solidFill>
              </a:rPr>
              <a:t> ?</a:t>
            </a:r>
          </a:p>
        </p:txBody>
      </p:sp>
      <p:sp>
        <p:nvSpPr>
          <p:cNvPr id="4" name="Rectangle 3"/>
          <p:cNvSpPr/>
          <p:nvPr/>
        </p:nvSpPr>
        <p:spPr>
          <a:xfrm>
            <a:off x="5291260" y="1992868"/>
            <a:ext cx="2252540" cy="369332"/>
          </a:xfrm>
          <a:prstGeom prst="rect">
            <a:avLst/>
          </a:prstGeom>
        </p:spPr>
        <p:txBody>
          <a:bodyPr wrap="none">
            <a:spAutoFit/>
          </a:bodyPr>
          <a:lstStyle/>
          <a:p>
            <a:r>
              <a:rPr lang="en-US" altLang="en-US">
                <a:latin typeface="Courier New" panose="02070309020205020404" pitchFamily="49" charset="0"/>
                <a:cs typeface="Courier New" panose="02070309020205020404" pitchFamily="49" charset="0"/>
              </a:rPr>
              <a:t>z = M*(j-1) + </a:t>
            </a:r>
            <a:r>
              <a:rPr lang="en-US" altLang="en-US" err="1">
                <a:latin typeface="Courier New" panose="02070309020205020404" pitchFamily="49" charset="0"/>
                <a:cs typeface="Courier New" panose="02070309020205020404" pitchFamily="49" charset="0"/>
              </a:rPr>
              <a:t>i</a:t>
            </a:r>
            <a:endParaRPr lang="en-US"/>
          </a:p>
        </p:txBody>
      </p:sp>
      <p:sp>
        <p:nvSpPr>
          <p:cNvPr id="7" name="Rectangle 6"/>
          <p:cNvSpPr/>
          <p:nvPr/>
        </p:nvSpPr>
        <p:spPr>
          <a:xfrm>
            <a:off x="1219200" y="2882882"/>
            <a:ext cx="6553200" cy="369332"/>
          </a:xfrm>
          <a:prstGeom prst="rect">
            <a:avLst/>
          </a:prstGeom>
        </p:spPr>
        <p:txBody>
          <a:bodyPr wrap="square">
            <a:spAutoFit/>
          </a:bodyPr>
          <a:lstStyle/>
          <a:p>
            <a:r>
              <a:rPr lang="pl-PL" altLang="en-US">
                <a:latin typeface="Courier New" panose="02070309020205020404" pitchFamily="49" charset="0"/>
                <a:cs typeface="Courier New" panose="02070309020205020404" pitchFamily="49" charset="0"/>
              </a:rPr>
              <a:t>i = (z -1) MOD M +1 </a:t>
            </a:r>
            <a:r>
              <a:rPr lang="en-US" altLang="en-US" err="1"/>
              <a:t>và</a:t>
            </a:r>
            <a:r>
              <a:rPr lang="pl-PL" altLang="en-US">
                <a:latin typeface="Courier New" panose="02070309020205020404" pitchFamily="49" charset="0"/>
                <a:cs typeface="Courier New" panose="02070309020205020404" pitchFamily="49" charset="0"/>
              </a:rPr>
              <a:t>  j = (z-1) DIV M +1</a:t>
            </a:r>
            <a:endParaRPr lang="en-US"/>
          </a:p>
        </p:txBody>
      </p:sp>
      <p:sp>
        <p:nvSpPr>
          <p:cNvPr id="10" name="TextBox 9"/>
          <p:cNvSpPr txBox="1"/>
          <p:nvPr/>
        </p:nvSpPr>
        <p:spPr>
          <a:xfrm>
            <a:off x="4953000" y="1981200"/>
            <a:ext cx="325730" cy="369332"/>
          </a:xfrm>
          <a:prstGeom prst="rect">
            <a:avLst/>
          </a:prstGeom>
          <a:noFill/>
        </p:spPr>
        <p:txBody>
          <a:bodyPr wrap="none" rtlCol="0">
            <a:spAutoFit/>
          </a:bodyPr>
          <a:lstStyle/>
          <a:p>
            <a:r>
              <a:rPr lang="en-US" b="1">
                <a:solidFill>
                  <a:srgbClr val="FF0000"/>
                </a:solidFill>
              </a:rPr>
              <a:t>?</a:t>
            </a:r>
          </a:p>
        </p:txBody>
      </p:sp>
      <p:sp>
        <p:nvSpPr>
          <p:cNvPr id="11" name="TextBox 10"/>
          <p:cNvSpPr txBox="1"/>
          <p:nvPr/>
        </p:nvSpPr>
        <p:spPr>
          <a:xfrm>
            <a:off x="6934200" y="2450068"/>
            <a:ext cx="389850" cy="369332"/>
          </a:xfrm>
          <a:prstGeom prst="rect">
            <a:avLst/>
          </a:prstGeom>
          <a:noFill/>
        </p:spPr>
        <p:txBody>
          <a:bodyPr wrap="none" rtlCol="0">
            <a:spAutoFit/>
          </a:bodyPr>
          <a:lstStyle/>
          <a:p>
            <a:r>
              <a:rPr lang="en-US" b="1">
                <a:solidFill>
                  <a:srgbClr val="FF0000"/>
                </a:solidFill>
              </a:rPr>
              <a:t>? </a:t>
            </a:r>
          </a:p>
        </p:txBody>
      </p:sp>
    </p:spTree>
    <p:extLst>
      <p:ext uri="{BB962C8B-B14F-4D97-AF65-F5344CB8AC3E}">
        <p14:creationId xmlns:p14="http://schemas.microsoft.com/office/powerpoint/2010/main" val="1306575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029B15-574A-459E-886A-9E4D17DD4F0E}" type="slidenum">
              <a:rPr lang="en-US" altLang="en-US"/>
              <a:pPr/>
              <a:t>22</a:t>
            </a:fld>
            <a:endParaRPr lang="en-US" altLang="en-US"/>
          </a:p>
        </p:txBody>
      </p:sp>
      <p:sp>
        <p:nvSpPr>
          <p:cNvPr id="30722" name="Rectangle 2"/>
          <p:cNvSpPr>
            <a:spLocks noGrp="1" noChangeArrowheads="1"/>
          </p:cNvSpPr>
          <p:nvPr>
            <p:ph type="title"/>
          </p:nvPr>
        </p:nvSpPr>
        <p:spPr/>
        <p:txBody>
          <a:bodyPr/>
          <a:lstStyle/>
          <a:p>
            <a:r>
              <a:rPr lang="en-US" altLang="en-US">
                <a:cs typeface="Times New Roman" panose="02020603050405020304" pitchFamily="18" charset="0"/>
              </a:rPr>
              <a:t>1.4. </a:t>
            </a:r>
            <a:r>
              <a:rPr lang="en-US" altLang="en-US" err="1">
                <a:cs typeface="Times New Roman" panose="02020603050405020304" pitchFamily="18" charset="0"/>
              </a:rPr>
              <a:t>Hàm</a:t>
            </a:r>
            <a:r>
              <a:rPr lang="en-US" altLang="en-US">
                <a:cs typeface="Times New Roman" panose="02020603050405020304" pitchFamily="18" charset="0"/>
              </a:rPr>
              <a:t> </a:t>
            </a:r>
            <a:r>
              <a:rPr lang="en-US" altLang="en-US" err="1">
                <a:cs typeface="Times New Roman" panose="02020603050405020304" pitchFamily="18" charset="0"/>
              </a:rPr>
              <a:t>địa</a:t>
            </a:r>
            <a:r>
              <a:rPr lang="en-US" altLang="en-US">
                <a:cs typeface="Times New Roman" panose="02020603050405020304" pitchFamily="18" charset="0"/>
              </a:rPr>
              <a:t> </a:t>
            </a:r>
            <a:r>
              <a:rPr lang="en-US" altLang="en-US" err="1">
                <a:cs typeface="Times New Roman" panose="02020603050405020304" pitchFamily="18" charset="0"/>
              </a:rPr>
              <a:t>chỉ</a:t>
            </a:r>
            <a:endParaRPr lang="en-US" altLang="en-US">
              <a:cs typeface="Times New Roman" panose="02020603050405020304" pitchFamily="18" charset="0"/>
            </a:endParaRPr>
          </a:p>
        </p:txBody>
      </p:sp>
      <p:sp>
        <p:nvSpPr>
          <p:cNvPr id="30723" name="Rectangle 3"/>
          <p:cNvSpPr>
            <a:spLocks noGrp="1" noChangeArrowheads="1"/>
          </p:cNvSpPr>
          <p:nvPr>
            <p:ph type="body" sz="quarter" idx="13"/>
          </p:nvPr>
        </p:nvSpPr>
        <p:spPr/>
        <p:txBody>
          <a:bodyPr>
            <a:normAutofit/>
          </a:bodyPr>
          <a:lstStyle/>
          <a:p>
            <a:pPr>
              <a:lnSpc>
                <a:spcPct val="90000"/>
              </a:lnSpc>
            </a:pPr>
            <a:r>
              <a:rPr lang="en-US" altLang="en-US" sz="2200">
                <a:cs typeface="Times New Roman" panose="02020603050405020304" pitchFamily="18" charset="0"/>
              </a:rPr>
              <a:t>P</a:t>
            </a:r>
            <a:r>
              <a:rPr lang="vi-VN" altLang="en-US" sz="2200">
                <a:cs typeface="Times New Roman" panose="02020603050405020304" pitchFamily="18" charset="0"/>
              </a:rPr>
              <a:t>hương pháp để chuyển</a:t>
            </a:r>
            <a:r>
              <a:rPr lang="en-US" altLang="en-US" sz="2200">
                <a:cs typeface="Times New Roman" panose="02020603050405020304" pitchFamily="18" charset="0"/>
              </a:rPr>
              <a:t> </a:t>
            </a:r>
            <a:r>
              <a:rPr lang="vi-VN" altLang="en-US" sz="2200">
                <a:cs typeface="Times New Roman" panose="02020603050405020304" pitchFamily="18" charset="0"/>
              </a:rPr>
              <a:t>đổi từ cấu trúc đa chiều của mảng sang cấu trúc lưu trữ một chiều</a:t>
            </a:r>
            <a:r>
              <a:rPr lang="en-US" altLang="en-US" sz="2200">
                <a:cs typeface="Times New Roman" panose="02020603050405020304" pitchFamily="18" charset="0"/>
              </a:rPr>
              <a:t>:</a:t>
            </a:r>
          </a:p>
          <a:p>
            <a:pPr lvl="1">
              <a:lnSpc>
                <a:spcPct val="90000"/>
              </a:lnSpc>
            </a:pPr>
            <a:r>
              <a:rPr lang="en-US" altLang="en-US" sz="2000">
                <a:cs typeface="Times New Roman" panose="02020603050405020304" pitchFamily="18" charset="0"/>
              </a:rPr>
              <a:t>X</a:t>
            </a:r>
            <a:r>
              <a:rPr lang="vi-VN" altLang="en-US" sz="2000">
                <a:cs typeface="Times New Roman" panose="02020603050405020304" pitchFamily="18" charset="0"/>
              </a:rPr>
              <a:t>ác định một ánh xạ 1-1 từ các phần tử của mảng lên các ô nhớ của cấu trúc lưu</a:t>
            </a:r>
            <a:r>
              <a:rPr lang="en-US" altLang="en-US" sz="2000">
                <a:cs typeface="Times New Roman" panose="02020603050405020304" pitchFamily="18" charset="0"/>
              </a:rPr>
              <a:t> </a:t>
            </a:r>
            <a:r>
              <a:rPr lang="vi-VN" altLang="en-US" sz="2000">
                <a:cs typeface="Times New Roman" panose="02020603050405020304" pitchFamily="18" charset="0"/>
              </a:rPr>
              <a:t>trữ.</a:t>
            </a:r>
            <a:endParaRPr lang="en-US" altLang="en-US" sz="2000">
              <a:cs typeface="Times New Roman" panose="02020603050405020304" pitchFamily="18" charset="0"/>
            </a:endParaRPr>
          </a:p>
          <a:p>
            <a:pPr>
              <a:lnSpc>
                <a:spcPct val="90000"/>
              </a:lnSpc>
            </a:pPr>
            <a:r>
              <a:rPr lang="en-US" altLang="en-US" sz="2200" err="1">
                <a:cs typeface="Times New Roman" panose="02020603050405020304" pitchFamily="18" charset="0"/>
              </a:rPr>
              <a:t>Khái</a:t>
            </a:r>
            <a:r>
              <a:rPr lang="en-US" altLang="en-US" sz="2200">
                <a:cs typeface="Times New Roman" panose="02020603050405020304" pitchFamily="18" charset="0"/>
              </a:rPr>
              <a:t> </a:t>
            </a:r>
            <a:r>
              <a:rPr lang="en-US" altLang="en-US" sz="2200" err="1">
                <a:cs typeface="Times New Roman" panose="02020603050405020304" pitchFamily="18" charset="0"/>
              </a:rPr>
              <a:t>niệm</a:t>
            </a:r>
            <a:r>
              <a:rPr lang="en-US" altLang="en-US" sz="2200">
                <a:cs typeface="Times New Roman" panose="02020603050405020304" pitchFamily="18" charset="0"/>
              </a:rPr>
              <a:t> </a:t>
            </a:r>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endParaRPr lang="en-US" altLang="en-US" sz="2200">
              <a:cs typeface="Times New Roman" panose="02020603050405020304" pitchFamily="18" charset="0"/>
            </a:endParaRPr>
          </a:p>
          <a:p>
            <a:pPr lvl="1" algn="just">
              <a:lnSpc>
                <a:spcPct val="90000"/>
              </a:lnSpc>
            </a:pPr>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có</a:t>
            </a:r>
            <a:r>
              <a:rPr lang="en-US" altLang="en-US" sz="2200">
                <a:cs typeface="Times New Roman" panose="02020603050405020304" pitchFamily="18" charset="0"/>
              </a:rPr>
              <a:t> </a:t>
            </a:r>
            <a:r>
              <a:rPr lang="en-US" altLang="en-US" sz="2200" err="1">
                <a:cs typeface="Times New Roman" panose="02020603050405020304" pitchFamily="18" charset="0"/>
              </a:rPr>
              <a:t>dạng</a:t>
            </a:r>
            <a:r>
              <a:rPr lang="en-US" altLang="en-US" sz="2200">
                <a:cs typeface="Times New Roman" panose="02020603050405020304" pitchFamily="18" charset="0"/>
              </a:rPr>
              <a:t>:</a:t>
            </a:r>
            <a:endParaRPr lang="en-US" altLang="en-US" sz="2200">
              <a:latin typeface=".VnTime" pitchFamily="34" charset="0"/>
              <a:cs typeface="Times New Roman" panose="02020603050405020304" pitchFamily="18" charset="0"/>
            </a:endParaRPr>
          </a:p>
          <a:p>
            <a:pPr lvl="2" algn="just">
              <a:lnSpc>
                <a:spcPct val="90000"/>
              </a:lnSpc>
            </a:pPr>
            <a:r>
              <a:rPr lang="en-US" altLang="en-US" sz="1800">
                <a:latin typeface="Courier New" panose="02070309020205020404" pitchFamily="49" charset="0"/>
                <a:cs typeface="Courier New" panose="02070309020205020404" pitchFamily="49" charset="0"/>
              </a:rPr>
              <a:t>f : X </a:t>
            </a:r>
            <a:r>
              <a:rPr lang="en-US" altLang="en-US" sz="1800">
                <a:latin typeface="Courier New" panose="02070309020205020404" pitchFamily="49" charset="0"/>
                <a:cs typeface="Courier New" panose="02070309020205020404" pitchFamily="49" charset="0"/>
                <a:sym typeface="Symbol" panose="05050102010706020507" pitchFamily="18" charset="2"/>
              </a:rPr>
              <a:t></a:t>
            </a:r>
            <a:r>
              <a:rPr lang="en-US" altLang="en-US" sz="1800">
                <a:latin typeface="Courier New" panose="02070309020205020404" pitchFamily="49" charset="0"/>
                <a:cs typeface="Courier New" panose="02070309020205020404" pitchFamily="49" charset="0"/>
              </a:rPr>
              <a:t> Y	</a:t>
            </a:r>
            <a:r>
              <a:rPr lang="en-US" altLang="en-US" sz="1800">
                <a:cs typeface="Times New Roman" panose="02020603050405020304" pitchFamily="18" charset="0"/>
              </a:rPr>
              <a:t>					</a:t>
            </a:r>
            <a:endParaRPr lang="en-US" altLang="en-US" sz="1800">
              <a:latin typeface=".VnTime" pitchFamily="34" charset="0"/>
              <a:cs typeface="Times New Roman" panose="02020603050405020304" pitchFamily="18" charset="0"/>
            </a:endParaRPr>
          </a:p>
          <a:p>
            <a:pPr lvl="1" algn="just">
              <a:lnSpc>
                <a:spcPct val="90000"/>
              </a:lnSpc>
            </a:pPr>
            <a:r>
              <a:rPr lang="en-US" altLang="en-US" sz="2200" err="1">
                <a:cs typeface="Times New Roman" panose="02020603050405020304" pitchFamily="18" charset="0"/>
              </a:rPr>
              <a:t>Với</a:t>
            </a:r>
            <a:r>
              <a:rPr lang="en-US" altLang="en-US" sz="2200">
                <a:cs typeface="Times New Roman" panose="02020603050405020304" pitchFamily="18" charset="0"/>
              </a:rPr>
              <a:t>: </a:t>
            </a:r>
            <a:endParaRPr lang="en-US" altLang="en-US" sz="2200">
              <a:latin typeface=".VnTime" pitchFamily="34" charset="0"/>
              <a:cs typeface="Times New Roman" panose="02020603050405020304" pitchFamily="18" charset="0"/>
            </a:endParaRPr>
          </a:p>
          <a:p>
            <a:pPr lvl="2" algn="just">
              <a:lnSpc>
                <a:spcPct val="90000"/>
              </a:lnSpc>
            </a:pPr>
            <a:r>
              <a:rPr lang="en-US" altLang="en-US" sz="1800">
                <a:cs typeface="Times New Roman" panose="02020603050405020304" pitchFamily="18" charset="0"/>
              </a:rPr>
              <a:t>X </a:t>
            </a:r>
            <a:r>
              <a:rPr lang="en-US" altLang="en-US" sz="1800" err="1">
                <a:cs typeface="Times New Roman" panose="02020603050405020304" pitchFamily="18" charset="0"/>
              </a:rPr>
              <a:t>là</a:t>
            </a:r>
            <a:r>
              <a:rPr lang="en-US" altLang="en-US" sz="1800">
                <a:cs typeface="Times New Roman" panose="02020603050405020304" pitchFamily="18" charset="0"/>
              </a:rPr>
              <a:t> </a:t>
            </a:r>
            <a:r>
              <a:rPr lang="en-US" altLang="en-US" sz="1800" err="1">
                <a:cs typeface="Times New Roman" panose="02020603050405020304" pitchFamily="18" charset="0"/>
              </a:rPr>
              <a:t>tập</a:t>
            </a:r>
            <a:r>
              <a:rPr lang="en-US" altLang="en-US" sz="1800">
                <a:cs typeface="Times New Roman" panose="02020603050405020304" pitchFamily="18" charset="0"/>
              </a:rPr>
              <a:t> </a:t>
            </a:r>
            <a:r>
              <a:rPr lang="en-US" altLang="en-US" sz="1800" err="1">
                <a:cs typeface="Times New Roman" panose="02020603050405020304" pitchFamily="18" charset="0"/>
              </a:rPr>
              <a:t>các</a:t>
            </a:r>
            <a:r>
              <a:rPr lang="en-US" altLang="en-US" sz="1800">
                <a:cs typeface="Times New Roman" panose="02020603050405020304" pitchFamily="18" charset="0"/>
              </a:rPr>
              <a:t> </a:t>
            </a:r>
            <a:r>
              <a:rPr lang="en-US" altLang="en-US" sz="1800" err="1">
                <a:cs typeface="Times New Roman" panose="02020603050405020304" pitchFamily="18" charset="0"/>
              </a:rPr>
              <a:t>phần</a:t>
            </a:r>
            <a:r>
              <a:rPr lang="en-US" altLang="en-US" sz="1800">
                <a:cs typeface="Times New Roman" panose="02020603050405020304" pitchFamily="18" charset="0"/>
              </a:rPr>
              <a:t> </a:t>
            </a:r>
            <a:r>
              <a:rPr lang="en-US" altLang="en-US" sz="1800" err="1">
                <a:cs typeface="Times New Roman" panose="02020603050405020304" pitchFamily="18" charset="0"/>
              </a:rPr>
              <a:t>tử</a:t>
            </a:r>
            <a:r>
              <a:rPr lang="en-US" altLang="en-US" sz="1800">
                <a:cs typeface="Times New Roman" panose="02020603050405020304" pitchFamily="18" charset="0"/>
              </a:rPr>
              <a:t> </a:t>
            </a:r>
            <a:r>
              <a:rPr lang="en-US" altLang="en-US" sz="1800" err="1">
                <a:cs typeface="Times New Roman" panose="02020603050405020304" pitchFamily="18" charset="0"/>
              </a:rPr>
              <a:t>của</a:t>
            </a:r>
            <a:r>
              <a:rPr lang="en-US" altLang="en-US" sz="1800">
                <a:cs typeface="Times New Roman" panose="02020603050405020304" pitchFamily="18" charset="0"/>
              </a:rPr>
              <a:t> </a:t>
            </a:r>
            <a:r>
              <a:rPr lang="en-US" altLang="en-US" sz="1800" err="1">
                <a:cs typeface="Times New Roman" panose="02020603050405020304" pitchFamily="18" charset="0"/>
              </a:rPr>
              <a:t>một</a:t>
            </a:r>
            <a:r>
              <a:rPr lang="en-US" altLang="en-US" sz="1800">
                <a:cs typeface="Times New Roman" panose="02020603050405020304" pitchFamily="18" charset="0"/>
              </a:rPr>
              <a:t> </a:t>
            </a:r>
            <a:r>
              <a:rPr lang="en-US" altLang="en-US" sz="1800" err="1">
                <a:cs typeface="Times New Roman" panose="02020603050405020304" pitchFamily="18" charset="0"/>
              </a:rPr>
              <a:t>mảng</a:t>
            </a:r>
            <a:endParaRPr lang="en-US" altLang="en-US" sz="1800">
              <a:latin typeface=".VnTime" pitchFamily="34" charset="0"/>
              <a:cs typeface="Times New Roman" panose="02020603050405020304" pitchFamily="18" charset="0"/>
            </a:endParaRPr>
          </a:p>
          <a:p>
            <a:pPr lvl="2" algn="just">
              <a:lnSpc>
                <a:spcPct val="90000"/>
              </a:lnSpc>
            </a:pPr>
            <a:r>
              <a:rPr lang="en-US" altLang="en-US" sz="1800">
                <a:cs typeface="Times New Roman" panose="02020603050405020304" pitchFamily="18" charset="0"/>
              </a:rPr>
              <a:t>Y </a:t>
            </a:r>
            <a:r>
              <a:rPr lang="en-US" altLang="en-US" sz="1800" err="1">
                <a:cs typeface="Times New Roman" panose="02020603050405020304" pitchFamily="18" charset="0"/>
              </a:rPr>
              <a:t>là</a:t>
            </a:r>
            <a:r>
              <a:rPr lang="en-US" altLang="en-US" sz="1800">
                <a:cs typeface="Times New Roman" panose="02020603050405020304" pitchFamily="18" charset="0"/>
              </a:rPr>
              <a:t> </a:t>
            </a:r>
            <a:r>
              <a:rPr lang="en-US" altLang="en-US" sz="1800" err="1">
                <a:cs typeface="Times New Roman" panose="02020603050405020304" pitchFamily="18" charset="0"/>
              </a:rPr>
              <a:t>địa</a:t>
            </a:r>
            <a:r>
              <a:rPr lang="en-US" altLang="en-US" sz="1800">
                <a:cs typeface="Times New Roman" panose="02020603050405020304" pitchFamily="18" charset="0"/>
              </a:rPr>
              <a:t> </a:t>
            </a:r>
            <a:r>
              <a:rPr lang="en-US" altLang="en-US" sz="1800" err="1">
                <a:cs typeface="Times New Roman" panose="02020603050405020304" pitchFamily="18" charset="0"/>
              </a:rPr>
              <a:t>chỉ</a:t>
            </a:r>
            <a:r>
              <a:rPr lang="en-US" altLang="en-US" sz="1800">
                <a:cs typeface="Times New Roman" panose="02020603050405020304" pitchFamily="18" charset="0"/>
              </a:rPr>
              <a:t> </a:t>
            </a:r>
            <a:r>
              <a:rPr lang="en-US" altLang="en-US" sz="1800" err="1">
                <a:cs typeface="Times New Roman" panose="02020603050405020304" pitchFamily="18" charset="0"/>
              </a:rPr>
              <a:t>các</a:t>
            </a:r>
            <a:r>
              <a:rPr lang="en-US" altLang="en-US" sz="1800">
                <a:cs typeface="Times New Roman" panose="02020603050405020304" pitchFamily="18" charset="0"/>
              </a:rPr>
              <a:t> ô </a:t>
            </a:r>
            <a:r>
              <a:rPr lang="en-US" altLang="en-US" sz="1800" err="1">
                <a:cs typeface="Times New Roman" panose="02020603050405020304" pitchFamily="18" charset="0"/>
              </a:rPr>
              <a:t>nhớ</a:t>
            </a:r>
            <a:r>
              <a:rPr lang="en-US" altLang="en-US" sz="1800">
                <a:cs typeface="Times New Roman" panose="02020603050405020304" pitchFamily="18" charset="0"/>
              </a:rPr>
              <a:t> </a:t>
            </a:r>
            <a:r>
              <a:rPr lang="en-US" altLang="en-US" sz="1800" err="1">
                <a:cs typeface="Times New Roman" panose="02020603050405020304" pitchFamily="18" charset="0"/>
              </a:rPr>
              <a:t>của</a:t>
            </a:r>
            <a:r>
              <a:rPr lang="en-US" altLang="en-US" sz="1800">
                <a:cs typeface="Times New Roman" panose="02020603050405020304" pitchFamily="18" charset="0"/>
              </a:rPr>
              <a:t> </a:t>
            </a:r>
            <a:r>
              <a:rPr lang="en-US" altLang="en-US" sz="1800" err="1">
                <a:cs typeface="Times New Roman" panose="02020603050405020304" pitchFamily="18" charset="0"/>
              </a:rPr>
              <a:t>cấu</a:t>
            </a:r>
            <a:r>
              <a:rPr lang="en-US" altLang="en-US" sz="1800">
                <a:cs typeface="Times New Roman" panose="02020603050405020304" pitchFamily="18" charset="0"/>
              </a:rPr>
              <a:t> </a:t>
            </a:r>
            <a:r>
              <a:rPr lang="en-US" altLang="en-US" sz="1800" err="1">
                <a:cs typeface="Times New Roman" panose="02020603050405020304" pitchFamily="18" charset="0"/>
              </a:rPr>
              <a:t>trúc</a:t>
            </a:r>
            <a:r>
              <a:rPr lang="en-US" altLang="en-US" sz="1800">
                <a:cs typeface="Times New Roman" panose="02020603050405020304" pitchFamily="18" charset="0"/>
              </a:rPr>
              <a:t> </a:t>
            </a:r>
            <a:r>
              <a:rPr lang="en-US" altLang="en-US" sz="1800" err="1">
                <a:cs typeface="Times New Roman" panose="02020603050405020304" pitchFamily="18" charset="0"/>
              </a:rPr>
              <a:t>lưu</a:t>
            </a:r>
            <a:r>
              <a:rPr lang="en-US" altLang="en-US" sz="1800">
                <a:cs typeface="Times New Roman" panose="02020603050405020304" pitchFamily="18" charset="0"/>
              </a:rPr>
              <a:t> </a:t>
            </a:r>
            <a:r>
              <a:rPr lang="en-US" altLang="en-US" sz="1800" err="1">
                <a:cs typeface="Times New Roman" panose="02020603050405020304" pitchFamily="18" charset="0"/>
              </a:rPr>
              <a:t>trữ</a:t>
            </a:r>
            <a:r>
              <a:rPr lang="en-US" altLang="en-US" sz="1800">
                <a:cs typeface="Times New Roman" panose="02020603050405020304" pitchFamily="18" charset="0"/>
              </a:rPr>
              <a:t> </a:t>
            </a:r>
            <a:r>
              <a:rPr lang="en-US" altLang="en-US" sz="1800" err="1">
                <a:cs typeface="Times New Roman" panose="02020603050405020304" pitchFamily="18" charset="0"/>
              </a:rPr>
              <a:t>tuần</a:t>
            </a:r>
            <a:r>
              <a:rPr lang="en-US" altLang="en-US" sz="1800">
                <a:cs typeface="Times New Roman" panose="02020603050405020304" pitchFamily="18" charset="0"/>
              </a:rPr>
              <a:t> </a:t>
            </a:r>
            <a:r>
              <a:rPr lang="en-US" altLang="en-US" sz="1800" err="1">
                <a:cs typeface="Times New Roman" panose="02020603050405020304" pitchFamily="18" charset="0"/>
              </a:rPr>
              <a:t>tự</a:t>
            </a:r>
            <a:endParaRPr lang="en-US" altLang="en-US" sz="1800">
              <a:latin typeface=".VnTime" pitchFamily="34" charset="0"/>
              <a:cs typeface="Times New Roman" panose="02020603050405020304" pitchFamily="18" charset="0"/>
            </a:endParaRPr>
          </a:p>
        </p:txBody>
      </p:sp>
    </p:spTree>
    <p:extLst>
      <p:ext uri="{BB962C8B-B14F-4D97-AF65-F5344CB8AC3E}">
        <p14:creationId xmlns:p14="http://schemas.microsoft.com/office/powerpoint/2010/main" val="424380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B9874F-B6A7-4EDE-9B09-3BA2895A7EAA}" type="slidenum">
              <a:rPr lang="en-US" altLang="en-US"/>
              <a:pPr/>
              <a:t>23</a:t>
            </a:fld>
            <a:endParaRPr lang="en-US" altLang="en-US"/>
          </a:p>
        </p:txBody>
      </p:sp>
      <p:sp>
        <p:nvSpPr>
          <p:cNvPr id="32770" name="Rectangle 2"/>
          <p:cNvSpPr>
            <a:spLocks noGrp="1" noChangeArrowheads="1"/>
          </p:cNvSpPr>
          <p:nvPr>
            <p:ph type="title"/>
          </p:nvPr>
        </p:nvSpPr>
        <p:spPr/>
        <p:txBody>
          <a:bodyPr/>
          <a:lstStyle/>
          <a:p>
            <a:r>
              <a:rPr lang="en-US" altLang="en-US"/>
              <a:t>1.4. </a:t>
            </a:r>
            <a:r>
              <a:rPr lang="en-US" altLang="en-US" err="1"/>
              <a:t>Hàm</a:t>
            </a:r>
            <a:r>
              <a:rPr lang="en-US" altLang="en-US"/>
              <a:t> </a:t>
            </a:r>
            <a:r>
              <a:rPr lang="en-US" altLang="en-US" err="1"/>
              <a:t>địa</a:t>
            </a:r>
            <a:r>
              <a:rPr lang="en-US" altLang="en-US"/>
              <a:t> </a:t>
            </a:r>
            <a:r>
              <a:rPr lang="en-US" altLang="en-US" err="1"/>
              <a:t>chỉ</a:t>
            </a:r>
            <a:endParaRPr lang="en-US" altLang="en-US">
              <a:cs typeface="Times New Roman" panose="02020603050405020304" pitchFamily="18" charset="0"/>
            </a:endParaRPr>
          </a:p>
        </p:txBody>
      </p:sp>
      <p:sp>
        <p:nvSpPr>
          <p:cNvPr id="32771" name="Rectangle 3"/>
          <p:cNvSpPr>
            <a:spLocks noGrp="1" noChangeArrowheads="1"/>
          </p:cNvSpPr>
          <p:nvPr>
            <p:ph type="body" sz="quarter" idx="13"/>
          </p:nvPr>
        </p:nvSpPr>
        <p:spPr/>
        <p:txBody>
          <a:bodyPr/>
          <a:lstStyle/>
          <a:p>
            <a:pPr algn="just">
              <a:lnSpc>
                <a:spcPct val="80000"/>
              </a:lnSpc>
            </a:pPr>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cho</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một</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a:t>
            </a:r>
            <a:r>
              <a:rPr lang="en-US" altLang="en-US" sz="2200" b="1">
                <a:cs typeface="Times New Roman" panose="02020603050405020304" pitchFamily="18" charset="0"/>
              </a:rPr>
              <a:t> </a:t>
            </a:r>
          </a:p>
          <a:p>
            <a:pPr lvl="2" algn="just">
              <a:lnSpc>
                <a:spcPct val="80000"/>
              </a:lnSpc>
            </a:pPr>
            <a:r>
              <a:rPr lang="en-US" altLang="en-US" sz="2000">
                <a:latin typeface="Courier New" panose="02070309020205020404" pitchFamily="49" charset="0"/>
                <a:cs typeface="Courier New" panose="02070309020205020404" pitchFamily="49" charset="0"/>
              </a:rPr>
              <a:t>ARRAY: vector[1,N] OF </a:t>
            </a:r>
            <a:r>
              <a:rPr lang="en-US" altLang="en-US" sz="2000" i="1">
                <a:latin typeface="Courier New" panose="02070309020205020404" pitchFamily="49" charset="0"/>
                <a:cs typeface="Courier New" panose="02070309020205020404" pitchFamily="49" charset="0"/>
              </a:rPr>
              <a:t>datatype</a:t>
            </a:r>
            <a:r>
              <a:rPr lang="en-US" altLang="en-US" sz="2000">
                <a:latin typeface="Courier New" panose="02070309020205020404" pitchFamily="49" charset="0"/>
                <a:cs typeface="Courier New" panose="02070309020205020404" pitchFamily="49" charset="0"/>
              </a:rPr>
              <a:t> ;</a:t>
            </a:r>
          </a:p>
          <a:p>
            <a:pPr lvl="2" algn="just">
              <a:lnSpc>
                <a:spcPct val="80000"/>
              </a:lnSpc>
            </a:pP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này</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bằng</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tuần</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endParaRPr lang="en-US" altLang="en-US" sz="2000">
              <a:latin typeface=".VnTime" pitchFamily="34" charset="0"/>
              <a:cs typeface="Times New Roman" panose="02020603050405020304" pitchFamily="18" charset="0"/>
            </a:endParaRPr>
          </a:p>
          <a:p>
            <a:pPr lvl="1" algn="just">
              <a:lnSpc>
                <a:spcPct val="120000"/>
              </a:lnSpc>
            </a:pP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phần</a:t>
            </a:r>
            <a:r>
              <a:rPr lang="en-US" altLang="en-US" sz="2200">
                <a:cs typeface="Times New Roman" panose="02020603050405020304" pitchFamily="18" charset="0"/>
              </a:rPr>
              <a:t> </a:t>
            </a:r>
            <a:r>
              <a:rPr lang="en-US" altLang="en-US" sz="2200" err="1">
                <a:cs typeface="Times New Roman" panose="02020603050405020304" pitchFamily="18" charset="0"/>
              </a:rPr>
              <a:t>tử</a:t>
            </a:r>
            <a:r>
              <a:rPr lang="en-US" altLang="en-US" sz="2200">
                <a:cs typeface="Times New Roman" panose="02020603050405020304" pitchFamily="18" charset="0"/>
              </a:rPr>
              <a:t> </a:t>
            </a:r>
            <a:r>
              <a:rPr lang="en-US" altLang="en-US" sz="2200" err="1">
                <a:cs typeface="Times New Roman" panose="02020603050405020304" pitchFamily="18" charset="0"/>
              </a:rPr>
              <a:t>thứ</a:t>
            </a:r>
            <a:r>
              <a:rPr lang="en-US" altLang="en-US" sz="2200">
                <a:cs typeface="Times New Roman" panose="02020603050405020304" pitchFamily="18" charset="0"/>
              </a:rPr>
              <a:t> </a:t>
            </a:r>
            <a:r>
              <a:rPr lang="en-US" altLang="en-US" sz="2200" i="1">
                <a:cs typeface="Times New Roman" panose="02020603050405020304" pitchFamily="18" charset="0"/>
              </a:rPr>
              <a:t>i:</a:t>
            </a:r>
            <a:endParaRPr lang="en-US" altLang="en-US" sz="2200">
              <a:latin typeface=".VnTime" pitchFamily="34" charset="0"/>
              <a:cs typeface="Times New Roman" panose="02020603050405020304" pitchFamily="18" charset="0"/>
            </a:endParaRPr>
          </a:p>
          <a:p>
            <a:pPr lvl="1" algn="just">
              <a:lnSpc>
                <a:spcPct val="120000"/>
              </a:lnSpc>
            </a:pPr>
            <a:r>
              <a:rPr lang="en-US" altLang="en-US" sz="2200" err="1">
                <a:cs typeface="Times New Roman" panose="02020603050405020304" pitchFamily="18" charset="0"/>
              </a:rPr>
              <a:t>Gọi</a:t>
            </a:r>
            <a:r>
              <a:rPr lang="en-US" altLang="en-US" sz="2200">
                <a:cs typeface="Times New Roman" panose="02020603050405020304" pitchFamily="18" charset="0"/>
              </a:rPr>
              <a:t> </a:t>
            </a:r>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là</a:t>
            </a:r>
            <a:r>
              <a:rPr lang="en-US" altLang="en-US" sz="2200">
                <a:cs typeface="Times New Roman" panose="02020603050405020304" pitchFamily="18" charset="0"/>
              </a:rPr>
              <a:t> f</a:t>
            </a:r>
            <a:r>
              <a:rPr lang="en-US" altLang="en-US" sz="2200" baseline="-30000">
                <a:cs typeface="Times New Roman" panose="02020603050405020304" pitchFamily="18" charset="0"/>
              </a:rPr>
              <a:t>1</a:t>
            </a:r>
            <a:r>
              <a:rPr lang="en-US" altLang="en-US" sz="2200">
                <a:cs typeface="Times New Roman" panose="02020603050405020304" pitchFamily="18" charset="0"/>
              </a:rPr>
              <a:t> </a:t>
            </a:r>
            <a:r>
              <a:rPr lang="en-US" altLang="en-US" sz="2200" err="1">
                <a:cs typeface="Times New Roman" panose="02020603050405020304" pitchFamily="18" charset="0"/>
              </a:rPr>
              <a:t>thì</a:t>
            </a:r>
            <a:r>
              <a:rPr lang="en-US" altLang="en-US" sz="2200">
                <a:cs typeface="Times New Roman" panose="02020603050405020304" pitchFamily="18" charset="0"/>
              </a:rPr>
              <a:t> </a:t>
            </a:r>
            <a:r>
              <a:rPr lang="en-US" altLang="en-US" sz="2200" err="1">
                <a:cs typeface="Times New Roman" panose="02020603050405020304" pitchFamily="18" charset="0"/>
              </a:rPr>
              <a:t>nó</a:t>
            </a:r>
            <a:r>
              <a:rPr lang="en-US" altLang="en-US" sz="2200">
                <a:cs typeface="Times New Roman" panose="02020603050405020304" pitchFamily="18" charset="0"/>
              </a:rPr>
              <a:t> </a:t>
            </a:r>
            <a:r>
              <a:rPr lang="en-US" altLang="en-US" sz="2200" err="1">
                <a:cs typeface="Times New Roman" panose="02020603050405020304" pitchFamily="18" charset="0"/>
              </a:rPr>
              <a:t>sẽ</a:t>
            </a:r>
            <a:r>
              <a:rPr lang="en-US" altLang="en-US" sz="2200">
                <a:cs typeface="Times New Roman" panose="02020603050405020304" pitchFamily="18" charset="0"/>
              </a:rPr>
              <a:t> </a:t>
            </a:r>
            <a:r>
              <a:rPr lang="en-US" altLang="en-US" sz="2200" err="1">
                <a:cs typeface="Times New Roman" panose="02020603050405020304" pitchFamily="18" charset="0"/>
              </a:rPr>
              <a:t>có</a:t>
            </a:r>
            <a:r>
              <a:rPr lang="en-US" altLang="en-US" sz="2200">
                <a:cs typeface="Times New Roman" panose="02020603050405020304" pitchFamily="18" charset="0"/>
              </a:rPr>
              <a:t> </a:t>
            </a:r>
            <a:r>
              <a:rPr lang="en-US" altLang="en-US" sz="2200" err="1">
                <a:cs typeface="Times New Roman" panose="02020603050405020304" pitchFamily="18" charset="0"/>
              </a:rPr>
              <a:t>dạng</a:t>
            </a:r>
            <a:r>
              <a:rPr lang="en-US" altLang="en-US" sz="2200">
                <a:cs typeface="Times New Roman" panose="02020603050405020304" pitchFamily="18" charset="0"/>
              </a:rPr>
              <a:t>:</a:t>
            </a:r>
            <a:endParaRPr lang="en-US" altLang="en-US" sz="2200">
              <a:latin typeface=".VnTime" pitchFamily="34" charset="0"/>
              <a:cs typeface="Times New Roman" panose="02020603050405020304" pitchFamily="18" charset="0"/>
            </a:endParaRPr>
          </a:p>
          <a:p>
            <a:pPr lvl="2" algn="just">
              <a:lnSpc>
                <a:spcPct val="115000"/>
              </a:lnSpc>
            </a:pPr>
            <a:r>
              <a:rPr lang="en-US" altLang="en-US" sz="2000">
                <a:latin typeface="Courier New" panose="02070309020205020404" pitchFamily="49" charset="0"/>
                <a:cs typeface="Courier New" panose="02070309020205020404" pitchFamily="49" charset="0"/>
              </a:rPr>
              <a:t>f</a:t>
            </a:r>
            <a:r>
              <a:rPr lang="en-US" altLang="en-US" sz="2000" baseline="-30000">
                <a:latin typeface="Courier New" panose="02070309020205020404" pitchFamily="49" charset="0"/>
                <a:cs typeface="Courier New" panose="02070309020205020404" pitchFamily="49" charset="0"/>
              </a:rPr>
              <a:t>1</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a:t>
            </a:r>
            <a:r>
              <a:rPr lang="en-US" altLang="en-US" sz="2000">
                <a:latin typeface="Courier New" panose="02070309020205020404" pitchFamily="49" charset="0"/>
                <a:cs typeface="Courier New" panose="02070309020205020404" pitchFamily="49" charset="0"/>
              </a:rPr>
              <a:t>) = A</a:t>
            </a:r>
            <a:r>
              <a:rPr lang="en-US" altLang="en-US" sz="2000" baseline="-30000">
                <a:latin typeface="Courier New" panose="02070309020205020404" pitchFamily="49" charset="0"/>
                <a:cs typeface="Courier New" panose="02070309020205020404" pitchFamily="49" charset="0"/>
              </a:rPr>
              <a:t>0</a:t>
            </a:r>
            <a:r>
              <a:rPr lang="en-US" altLang="en-US" sz="2000">
                <a:latin typeface="Courier New" panose="02070309020205020404" pitchFamily="49" charset="0"/>
                <a:cs typeface="Courier New" panose="02070309020205020404" pitchFamily="49" charset="0"/>
              </a:rPr>
              <a:t> + c*(i-1)    </a:t>
            </a:r>
            <a:r>
              <a:rPr lang="en-US" altLang="en-US" sz="2000">
                <a:cs typeface="Times New Roman" panose="02020603050405020304" pitchFamily="18" charset="0"/>
              </a:rPr>
              <a:t>				</a:t>
            </a:r>
            <a:endParaRPr lang="en-US" altLang="en-US" sz="2000">
              <a:latin typeface=".VnTime" pitchFamily="34" charset="0"/>
              <a:cs typeface="Times New Roman" panose="02020603050405020304" pitchFamily="18" charset="0"/>
            </a:endParaRPr>
          </a:p>
          <a:p>
            <a:pPr lvl="1" algn="just">
              <a:lnSpc>
                <a:spcPct val="120000"/>
              </a:lnSpc>
            </a:pPr>
            <a:r>
              <a:rPr lang="en-US" altLang="en-US" sz="2200" err="1">
                <a:cs typeface="Times New Roman" panose="02020603050405020304" pitchFamily="18" charset="0"/>
              </a:rPr>
              <a:t>Để</a:t>
            </a:r>
            <a:r>
              <a:rPr lang="en-US" altLang="en-US" sz="2200">
                <a:cs typeface="Times New Roman" panose="02020603050405020304" pitchFamily="18" charset="0"/>
              </a:rPr>
              <a:t> </a:t>
            </a:r>
            <a:r>
              <a:rPr lang="en-US" altLang="en-US" sz="2200" err="1">
                <a:cs typeface="Times New Roman" panose="02020603050405020304" pitchFamily="18" charset="0"/>
              </a:rPr>
              <a:t>đơn</a:t>
            </a:r>
            <a:r>
              <a:rPr lang="en-US" altLang="en-US" sz="2200">
                <a:cs typeface="Times New Roman" panose="02020603050405020304" pitchFamily="18" charset="0"/>
              </a:rPr>
              <a:t> </a:t>
            </a:r>
            <a:r>
              <a:rPr lang="en-US" altLang="en-US" sz="2200" err="1">
                <a:cs typeface="Times New Roman" panose="02020603050405020304" pitchFamily="18" charset="0"/>
              </a:rPr>
              <a:t>giản</a:t>
            </a:r>
            <a:r>
              <a:rPr lang="en-US" altLang="en-US" sz="2200">
                <a:cs typeface="Times New Roman" panose="02020603050405020304" pitchFamily="18" charset="0"/>
              </a:rPr>
              <a:t>, </a:t>
            </a:r>
            <a:r>
              <a:rPr lang="en-US" altLang="en-US" sz="2200" err="1">
                <a:cs typeface="Times New Roman" panose="02020603050405020304" pitchFamily="18" charset="0"/>
              </a:rPr>
              <a:t>giả</a:t>
            </a:r>
            <a:r>
              <a:rPr lang="en-US" altLang="en-US" sz="2200">
                <a:cs typeface="Times New Roman" panose="02020603050405020304" pitchFamily="18" charset="0"/>
              </a:rPr>
              <a:t> </a:t>
            </a:r>
            <a:r>
              <a:rPr lang="en-US" altLang="en-US" sz="2200" err="1">
                <a:cs typeface="Times New Roman" panose="02020603050405020304" pitchFamily="18" charset="0"/>
              </a:rPr>
              <a:t>sử</a:t>
            </a:r>
            <a:r>
              <a:rPr lang="en-US" altLang="en-US" sz="2200">
                <a:cs typeface="Times New Roman" panose="02020603050405020304" pitchFamily="18" charset="0"/>
              </a:rPr>
              <a:t> A</a:t>
            </a:r>
            <a:r>
              <a:rPr lang="en-US" altLang="en-US" sz="2200" baseline="-30000">
                <a:cs typeface="Times New Roman" panose="02020603050405020304" pitchFamily="18" charset="0"/>
              </a:rPr>
              <a:t>0</a:t>
            </a:r>
            <a:r>
              <a:rPr lang="en-US" altLang="en-US" sz="2200">
                <a:cs typeface="Times New Roman" panose="02020603050405020304" pitchFamily="18" charset="0"/>
              </a:rPr>
              <a:t> = 0;  </a:t>
            </a:r>
            <a:endParaRPr lang="en-US" altLang="en-US" sz="2200">
              <a:latin typeface=".VnTime" pitchFamily="34" charset="0"/>
              <a:cs typeface="Times New Roman" panose="02020603050405020304" pitchFamily="18" charset="0"/>
            </a:endParaRPr>
          </a:p>
          <a:p>
            <a:pPr lvl="2" algn="just">
              <a:lnSpc>
                <a:spcPct val="115000"/>
              </a:lnSpc>
            </a:pPr>
            <a:r>
              <a:rPr lang="en-US" altLang="en-US" sz="2000">
                <a:latin typeface="Courier New" panose="02070309020205020404" pitchFamily="49" charset="0"/>
                <a:cs typeface="Courier New" panose="02070309020205020404" pitchFamily="49" charset="0"/>
              </a:rPr>
              <a:t>f</a:t>
            </a:r>
            <a:r>
              <a:rPr lang="en-US" altLang="en-US" sz="2000" baseline="-30000">
                <a:latin typeface="Courier New" panose="02070309020205020404" pitchFamily="49" charset="0"/>
                <a:cs typeface="Courier New" panose="02070309020205020404" pitchFamily="49" charset="0"/>
              </a:rPr>
              <a:t>1</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a:t>
            </a:r>
            <a:r>
              <a:rPr lang="en-US" altLang="en-US" sz="2000">
                <a:latin typeface="Courier New" panose="02070309020205020404" pitchFamily="49" charset="0"/>
                <a:cs typeface="Courier New" panose="02070309020205020404" pitchFamily="49" charset="0"/>
              </a:rPr>
              <a:t>) = c*(i-1)    	</a:t>
            </a:r>
            <a:r>
              <a:rPr lang="en-US" altLang="en-US" sz="2000">
                <a:cs typeface="Times New Roman" panose="02020603050405020304" pitchFamily="18" charset="0"/>
              </a:rPr>
              <a:t>					</a:t>
            </a:r>
            <a:endParaRPr lang="en-US" altLang="en-US" sz="2000"/>
          </a:p>
        </p:txBody>
      </p:sp>
      <p:sp>
        <p:nvSpPr>
          <p:cNvPr id="2" name="Rectangle 1"/>
          <p:cNvSpPr/>
          <p:nvPr/>
        </p:nvSpPr>
        <p:spPr>
          <a:xfrm>
            <a:off x="3429000" y="1981200"/>
            <a:ext cx="1880900" cy="400110"/>
          </a:xfrm>
          <a:prstGeom prst="rect">
            <a:avLst/>
          </a:prstGeom>
        </p:spPr>
        <p:txBody>
          <a:bodyPr wrap="none">
            <a:spAutoFit/>
          </a:bodyPr>
          <a:lstStyle/>
          <a:p>
            <a:r>
              <a:rPr lang="en-US" altLang="en-US" sz="2000">
                <a:cs typeface="Times New Roman" panose="02020603050405020304" pitchFamily="18" charset="0"/>
              </a:rPr>
              <a:t>A</a:t>
            </a:r>
            <a:r>
              <a:rPr lang="en-US" altLang="en-US" sz="2000" baseline="-25000">
                <a:cs typeface="Times New Roman" panose="02020603050405020304" pitchFamily="18" charset="0"/>
              </a:rPr>
              <a:t>i</a:t>
            </a:r>
            <a:r>
              <a:rPr lang="en-US" altLang="en-US" sz="2000">
                <a:cs typeface="Times New Roman" panose="02020603050405020304" pitchFamily="18" charset="0"/>
              </a:rPr>
              <a:t> = A</a:t>
            </a:r>
            <a:r>
              <a:rPr lang="en-US" altLang="en-US" sz="2000" baseline="-30000">
                <a:cs typeface="Times New Roman" panose="02020603050405020304" pitchFamily="18" charset="0"/>
              </a:rPr>
              <a:t>0</a:t>
            </a:r>
            <a:r>
              <a:rPr lang="en-US" altLang="en-US" sz="2000">
                <a:cs typeface="Times New Roman" panose="02020603050405020304" pitchFamily="18" charset="0"/>
              </a:rPr>
              <a:t> + c(i-1);</a:t>
            </a:r>
            <a:endParaRPr lang="en-US" sz="2000"/>
          </a:p>
        </p:txBody>
      </p:sp>
    </p:spTree>
    <p:extLst>
      <p:ext uri="{BB962C8B-B14F-4D97-AF65-F5344CB8AC3E}">
        <p14:creationId xmlns:p14="http://schemas.microsoft.com/office/powerpoint/2010/main" val="318234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77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A40883C-7A83-4D06-AE50-213ADFA636C8}" type="slidenum">
              <a:rPr lang="en-US" altLang="en-US"/>
              <a:pPr/>
              <a:t>24</a:t>
            </a:fld>
            <a:endParaRPr lang="en-US" altLang="en-US"/>
          </a:p>
        </p:txBody>
      </p:sp>
      <p:sp>
        <p:nvSpPr>
          <p:cNvPr id="33794" name="Rectangle 2"/>
          <p:cNvSpPr>
            <a:spLocks noGrp="1" noChangeArrowheads="1"/>
          </p:cNvSpPr>
          <p:nvPr>
            <p:ph type="title"/>
          </p:nvPr>
        </p:nvSpPr>
        <p:spPr/>
        <p:txBody>
          <a:bodyPr/>
          <a:lstStyle/>
          <a:p>
            <a:r>
              <a:rPr lang="en-US" altLang="en-US"/>
              <a:t>1.4. </a:t>
            </a:r>
            <a:r>
              <a:rPr lang="en-US" altLang="en-US" err="1"/>
              <a:t>Hàm</a:t>
            </a:r>
            <a:r>
              <a:rPr lang="en-US" altLang="en-US"/>
              <a:t> </a:t>
            </a:r>
            <a:r>
              <a:rPr lang="en-US" altLang="en-US" err="1"/>
              <a:t>địa</a:t>
            </a:r>
            <a:r>
              <a:rPr lang="en-US" altLang="en-US"/>
              <a:t> </a:t>
            </a:r>
            <a:r>
              <a:rPr lang="en-US" altLang="en-US" err="1"/>
              <a:t>chỉ</a:t>
            </a:r>
            <a:endParaRPr lang="en-US" altLang="en-US"/>
          </a:p>
        </p:txBody>
      </p:sp>
      <p:sp>
        <p:nvSpPr>
          <p:cNvPr id="33795" name="Rectangle 3"/>
          <p:cNvSpPr>
            <a:spLocks noGrp="1" noChangeArrowheads="1"/>
          </p:cNvSpPr>
          <p:nvPr>
            <p:ph type="body" sz="quarter" idx="13"/>
          </p:nvPr>
        </p:nvSpPr>
        <p:spPr/>
        <p:txBody>
          <a:bodyPr/>
          <a:lstStyle/>
          <a:p>
            <a:pPr algn="just">
              <a:lnSpc>
                <a:spcPct val="90000"/>
              </a:lnSpc>
            </a:pPr>
            <a:r>
              <a:rPr lang="en-US" altLang="en-US" sz="2600" err="1">
                <a:cs typeface="Times New Roman" panose="02020603050405020304" pitchFamily="18" charset="0"/>
              </a:rPr>
              <a:t>Hàm</a:t>
            </a:r>
            <a:r>
              <a:rPr lang="en-US" altLang="en-US" sz="2600">
                <a:cs typeface="Times New Roman" panose="02020603050405020304" pitchFamily="18" charset="0"/>
              </a:rPr>
              <a:t> </a:t>
            </a:r>
            <a:r>
              <a:rPr lang="en-US" altLang="en-US" sz="2600" err="1">
                <a:cs typeface="Times New Roman" panose="02020603050405020304" pitchFamily="18" charset="0"/>
              </a:rPr>
              <a:t>địa</a:t>
            </a:r>
            <a:r>
              <a:rPr lang="en-US" altLang="en-US" sz="2600">
                <a:cs typeface="Times New Roman" panose="02020603050405020304" pitchFamily="18" charset="0"/>
              </a:rPr>
              <a:t> </a:t>
            </a:r>
            <a:r>
              <a:rPr lang="en-US" altLang="en-US" sz="2600" err="1">
                <a:cs typeface="Times New Roman" panose="02020603050405020304" pitchFamily="18" charset="0"/>
              </a:rPr>
              <a:t>chỉ</a:t>
            </a:r>
            <a:r>
              <a:rPr lang="en-US" altLang="en-US" sz="2600">
                <a:cs typeface="Times New Roman" panose="02020603050405020304" pitchFamily="18" charset="0"/>
              </a:rPr>
              <a:t> </a:t>
            </a:r>
            <a:r>
              <a:rPr lang="en-US" altLang="en-US" sz="2600" err="1">
                <a:cs typeface="Times New Roman" panose="02020603050405020304" pitchFamily="18" charset="0"/>
              </a:rPr>
              <a:t>cho</a:t>
            </a:r>
            <a:r>
              <a:rPr lang="en-US" altLang="en-US" sz="2600">
                <a:cs typeface="Times New Roman" panose="02020603050405020304" pitchFamily="18" charset="0"/>
              </a:rPr>
              <a:t> </a:t>
            </a:r>
            <a:r>
              <a:rPr lang="en-US" altLang="en-US" sz="2600" err="1">
                <a:cs typeface="Times New Roman" panose="02020603050405020304" pitchFamily="18" charset="0"/>
              </a:rPr>
              <a:t>mảng</a:t>
            </a:r>
            <a:r>
              <a:rPr lang="en-US" altLang="en-US" sz="2600">
                <a:cs typeface="Times New Roman" panose="02020603050405020304" pitchFamily="18" charset="0"/>
              </a:rPr>
              <a:t> </a:t>
            </a:r>
            <a:r>
              <a:rPr lang="en-US" altLang="en-US" sz="2600" err="1">
                <a:cs typeface="Times New Roman" panose="02020603050405020304" pitchFamily="18" charset="0"/>
              </a:rPr>
              <a:t>hai</a:t>
            </a:r>
            <a:r>
              <a:rPr lang="en-US" altLang="en-US" sz="2600">
                <a:cs typeface="Times New Roman" panose="02020603050405020304" pitchFamily="18" charset="0"/>
              </a:rPr>
              <a:t> </a:t>
            </a:r>
            <a:r>
              <a:rPr lang="en-US" altLang="en-US" sz="2600" err="1">
                <a:cs typeface="Times New Roman" panose="02020603050405020304" pitchFamily="18" charset="0"/>
              </a:rPr>
              <a:t>chiều</a:t>
            </a:r>
            <a:r>
              <a:rPr lang="en-US" altLang="en-US" sz="2600">
                <a:cs typeface="Times New Roman" panose="02020603050405020304" pitchFamily="18" charset="0"/>
              </a:rPr>
              <a:t> </a:t>
            </a:r>
          </a:p>
          <a:p>
            <a:pPr lvl="2" algn="just">
              <a:lnSpc>
                <a:spcPct val="90000"/>
              </a:lnSpc>
            </a:pPr>
            <a:r>
              <a:rPr lang="en-US" altLang="en-US" sz="2000">
                <a:latin typeface="Courier New" panose="02070309020205020404" pitchFamily="49" charset="0"/>
                <a:cs typeface="Courier New" panose="02070309020205020404" pitchFamily="49" charset="0"/>
              </a:rPr>
              <a:t>ARRAY : </a:t>
            </a:r>
            <a:r>
              <a:rPr lang="en-US" altLang="en-US" sz="2000" err="1">
                <a:latin typeface="Courier New" panose="02070309020205020404" pitchFamily="49" charset="0"/>
                <a:cs typeface="Courier New" panose="02070309020205020404" pitchFamily="49" charset="0"/>
              </a:rPr>
              <a:t>mt</a:t>
            </a:r>
            <a:r>
              <a:rPr lang="en-US" altLang="en-US" sz="2000">
                <a:latin typeface="Courier New" panose="02070309020205020404" pitchFamily="49" charset="0"/>
                <a:cs typeface="Courier New" panose="02070309020205020404" pitchFamily="49" charset="0"/>
              </a:rPr>
              <a:t>[2,M,N] OF </a:t>
            </a:r>
            <a:r>
              <a:rPr lang="en-US" altLang="en-US" sz="2000" i="1">
                <a:latin typeface="Courier New" panose="02070309020205020404" pitchFamily="49" charset="0"/>
                <a:cs typeface="Courier New" panose="02070309020205020404" pitchFamily="49" charset="0"/>
              </a:rPr>
              <a:t>datatype</a:t>
            </a:r>
            <a:r>
              <a:rPr lang="en-US" altLang="en-US" sz="2000">
                <a:latin typeface="Courier New" panose="02070309020205020404" pitchFamily="49" charset="0"/>
                <a:cs typeface="Courier New" panose="02070309020205020404" pitchFamily="49" charset="0"/>
              </a:rPr>
              <a:t> ;	</a:t>
            </a:r>
            <a:r>
              <a:rPr lang="en-US" altLang="en-US" sz="2000">
                <a:cs typeface="Times New Roman" panose="02020603050405020304" pitchFamily="18" charset="0"/>
              </a:rPr>
              <a:t>	</a:t>
            </a:r>
          </a:p>
          <a:p>
            <a:pPr lvl="1" algn="just">
              <a:lnSpc>
                <a:spcPct val="90000"/>
              </a:lnSpc>
            </a:pPr>
            <a:r>
              <a:rPr lang="en-US" altLang="en-US" sz="2400" err="1">
                <a:cs typeface="Times New Roman" panose="02020603050405020304" pitchFamily="18" charset="0"/>
              </a:rPr>
              <a:t>Xét</a:t>
            </a:r>
            <a:r>
              <a:rPr lang="en-US" altLang="en-US" sz="2400">
                <a:cs typeface="Times New Roman" panose="02020603050405020304" pitchFamily="18" charset="0"/>
              </a:rPr>
              <a:t> </a:t>
            </a:r>
            <a:r>
              <a:rPr lang="en-US" altLang="en-US" sz="2400" err="1">
                <a:cs typeface="Times New Roman" panose="02020603050405020304" pitchFamily="18" charset="0"/>
              </a:rPr>
              <a:t>phương</a:t>
            </a:r>
            <a:r>
              <a:rPr lang="en-US" altLang="en-US" sz="2400">
                <a:cs typeface="Times New Roman" panose="02020603050405020304" pitchFamily="18" charset="0"/>
              </a:rPr>
              <a:t> </a:t>
            </a:r>
            <a:r>
              <a:rPr lang="en-US" altLang="en-US" sz="2400" err="1">
                <a:cs typeface="Times New Roman" panose="02020603050405020304" pitchFamily="18" charset="0"/>
              </a:rPr>
              <a:t>pháp</a:t>
            </a:r>
            <a:r>
              <a:rPr lang="en-US" altLang="en-US" sz="2400">
                <a:cs typeface="Times New Roman" panose="02020603050405020304" pitchFamily="18" charset="0"/>
              </a:rPr>
              <a:t> </a:t>
            </a:r>
            <a:r>
              <a:rPr lang="en-US" altLang="en-US" sz="2400" err="1">
                <a:cs typeface="Times New Roman" panose="02020603050405020304" pitchFamily="18" charset="0"/>
              </a:rPr>
              <a:t>lưu</a:t>
            </a:r>
            <a:r>
              <a:rPr lang="en-US" altLang="en-US" sz="2400">
                <a:cs typeface="Times New Roman" panose="02020603050405020304" pitchFamily="18" charset="0"/>
              </a:rPr>
              <a:t> </a:t>
            </a:r>
            <a:r>
              <a:rPr lang="en-US" altLang="en-US" sz="2400" err="1">
                <a:cs typeface="Times New Roman" panose="02020603050405020304" pitchFamily="18" charset="0"/>
              </a:rPr>
              <a:t>trữ</a:t>
            </a:r>
            <a:r>
              <a:rPr lang="en-US" altLang="en-US" sz="2400">
                <a:cs typeface="Times New Roman" panose="02020603050405020304" pitchFamily="18" charset="0"/>
              </a:rPr>
              <a:t> </a:t>
            </a:r>
            <a:r>
              <a:rPr lang="en-US" altLang="en-US" sz="2400" err="1">
                <a:cs typeface="Times New Roman" panose="02020603050405020304" pitchFamily="18" charset="0"/>
              </a:rPr>
              <a:t>theo</a:t>
            </a:r>
            <a:r>
              <a:rPr lang="en-US" altLang="en-US" sz="2400">
                <a:cs typeface="Times New Roman" panose="02020603050405020304" pitchFamily="18" charset="0"/>
              </a:rPr>
              <a:t> </a:t>
            </a:r>
            <a:r>
              <a:rPr lang="en-US" altLang="en-US" sz="2400" err="1">
                <a:cs typeface="Times New Roman" panose="02020603050405020304" pitchFamily="18" charset="0"/>
              </a:rPr>
              <a:t>thứ</a:t>
            </a:r>
            <a:r>
              <a:rPr lang="en-US" altLang="en-US" sz="2400">
                <a:cs typeface="Times New Roman" panose="02020603050405020304" pitchFamily="18" charset="0"/>
              </a:rPr>
              <a:t> </a:t>
            </a:r>
            <a:r>
              <a:rPr lang="en-US" altLang="en-US" sz="2400" err="1">
                <a:cs typeface="Times New Roman" panose="02020603050405020304" pitchFamily="18" charset="0"/>
              </a:rPr>
              <a:t>tự</a:t>
            </a:r>
            <a:r>
              <a:rPr lang="en-US" altLang="en-US" sz="2400">
                <a:cs typeface="Times New Roman" panose="02020603050405020304" pitchFamily="18" charset="0"/>
              </a:rPr>
              <a:t> </a:t>
            </a:r>
            <a:r>
              <a:rPr lang="en-US" altLang="en-US" sz="2400" err="1">
                <a:cs typeface="Times New Roman" panose="02020603050405020304" pitchFamily="18" charset="0"/>
              </a:rPr>
              <a:t>ưu</a:t>
            </a:r>
            <a:r>
              <a:rPr lang="en-US" altLang="en-US" sz="2400">
                <a:cs typeface="Times New Roman" panose="02020603050405020304" pitchFamily="18" charset="0"/>
              </a:rPr>
              <a:t> </a:t>
            </a:r>
            <a:r>
              <a:rPr lang="en-US" altLang="en-US" sz="2400" err="1">
                <a:cs typeface="Times New Roman" panose="02020603050405020304" pitchFamily="18" charset="0"/>
              </a:rPr>
              <a:t>tiên</a:t>
            </a:r>
            <a:r>
              <a:rPr lang="en-US" altLang="en-US" sz="2400">
                <a:cs typeface="Times New Roman" panose="02020603050405020304" pitchFamily="18" charset="0"/>
              </a:rPr>
              <a:t> </a:t>
            </a:r>
            <a:r>
              <a:rPr lang="en-US" altLang="en-US" sz="2400" err="1">
                <a:cs typeface="Times New Roman" panose="02020603050405020304" pitchFamily="18" charset="0"/>
              </a:rPr>
              <a:t>hàng</a:t>
            </a:r>
            <a:r>
              <a:rPr lang="en-US" altLang="en-US" sz="2400">
                <a:cs typeface="Times New Roman" panose="02020603050405020304" pitchFamily="18" charset="0"/>
              </a:rPr>
              <a:t> </a:t>
            </a:r>
          </a:p>
          <a:p>
            <a:pPr lvl="2" algn="just">
              <a:lnSpc>
                <a:spcPct val="125000"/>
              </a:lnSpc>
            </a:pPr>
            <a:r>
              <a:rPr lang="en-US" altLang="en-US" sz="2000">
                <a:latin typeface="Courier New" panose="02070309020205020404" pitchFamily="49" charset="0"/>
                <a:cs typeface="Courier New" panose="02070309020205020404" pitchFamily="49" charset="0"/>
              </a:rPr>
              <a:t>f</a:t>
            </a:r>
            <a:r>
              <a:rPr lang="en-US" altLang="en-US" sz="2000" baseline="-30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i,j</a:t>
            </a:r>
            <a:r>
              <a:rPr lang="en-US" altLang="en-US" sz="2000">
                <a:latin typeface="Courier New" panose="02070309020205020404" pitchFamily="49" charset="0"/>
                <a:cs typeface="Courier New" panose="02070309020205020404" pitchFamily="49" charset="0"/>
              </a:rPr>
              <a:t>) = c *(N * (i-1) + j - 1)</a:t>
            </a:r>
          </a:p>
          <a:p>
            <a:pPr lvl="1" algn="just">
              <a:lnSpc>
                <a:spcPct val="90000"/>
              </a:lnSpc>
            </a:pPr>
            <a:r>
              <a:rPr lang="en-US" altLang="en-US" sz="2400" err="1">
                <a:cs typeface="Times New Roman" panose="02020603050405020304" pitchFamily="18" charset="0"/>
              </a:rPr>
              <a:t>Xét</a:t>
            </a:r>
            <a:r>
              <a:rPr lang="en-US" altLang="en-US" sz="2400">
                <a:cs typeface="Times New Roman" panose="02020603050405020304" pitchFamily="18" charset="0"/>
              </a:rPr>
              <a:t> </a:t>
            </a:r>
            <a:r>
              <a:rPr lang="en-US" altLang="en-US" sz="2400" err="1">
                <a:cs typeface="Times New Roman" panose="02020603050405020304" pitchFamily="18" charset="0"/>
              </a:rPr>
              <a:t>phương</a:t>
            </a:r>
            <a:r>
              <a:rPr lang="en-US" altLang="en-US" sz="2400">
                <a:cs typeface="Times New Roman" panose="02020603050405020304" pitchFamily="18" charset="0"/>
              </a:rPr>
              <a:t> </a:t>
            </a:r>
            <a:r>
              <a:rPr lang="en-US" altLang="en-US" sz="2400" err="1">
                <a:cs typeface="Times New Roman" panose="02020603050405020304" pitchFamily="18" charset="0"/>
              </a:rPr>
              <a:t>pháp</a:t>
            </a:r>
            <a:r>
              <a:rPr lang="en-US" altLang="en-US" sz="2400">
                <a:cs typeface="Times New Roman" panose="02020603050405020304" pitchFamily="18" charset="0"/>
              </a:rPr>
              <a:t> </a:t>
            </a:r>
            <a:r>
              <a:rPr lang="en-US" altLang="en-US" sz="2400" err="1">
                <a:cs typeface="Times New Roman" panose="02020603050405020304" pitchFamily="18" charset="0"/>
              </a:rPr>
              <a:t>lưu</a:t>
            </a:r>
            <a:r>
              <a:rPr lang="en-US" altLang="en-US" sz="2400">
                <a:cs typeface="Times New Roman" panose="02020603050405020304" pitchFamily="18" charset="0"/>
              </a:rPr>
              <a:t> </a:t>
            </a:r>
            <a:r>
              <a:rPr lang="en-US" altLang="en-US" sz="2400" err="1">
                <a:cs typeface="Times New Roman" panose="02020603050405020304" pitchFamily="18" charset="0"/>
              </a:rPr>
              <a:t>trữ</a:t>
            </a:r>
            <a:r>
              <a:rPr lang="en-US" altLang="en-US" sz="2400">
                <a:cs typeface="Times New Roman" panose="02020603050405020304" pitchFamily="18" charset="0"/>
              </a:rPr>
              <a:t> </a:t>
            </a:r>
            <a:r>
              <a:rPr lang="en-US" altLang="en-US" sz="2400" err="1">
                <a:cs typeface="Times New Roman" panose="02020603050405020304" pitchFamily="18" charset="0"/>
              </a:rPr>
              <a:t>theo</a:t>
            </a:r>
            <a:r>
              <a:rPr lang="en-US" altLang="en-US" sz="2400">
                <a:cs typeface="Times New Roman" panose="02020603050405020304" pitchFamily="18" charset="0"/>
              </a:rPr>
              <a:t> </a:t>
            </a:r>
            <a:r>
              <a:rPr lang="en-US" altLang="en-US" sz="2400" err="1">
                <a:cs typeface="Times New Roman" panose="02020603050405020304" pitchFamily="18" charset="0"/>
              </a:rPr>
              <a:t>thứ</a:t>
            </a:r>
            <a:r>
              <a:rPr lang="en-US" altLang="en-US" sz="2400">
                <a:cs typeface="Times New Roman" panose="02020603050405020304" pitchFamily="18" charset="0"/>
              </a:rPr>
              <a:t> </a:t>
            </a:r>
            <a:r>
              <a:rPr lang="en-US" altLang="en-US" sz="2400" err="1">
                <a:cs typeface="Times New Roman" panose="02020603050405020304" pitchFamily="18" charset="0"/>
              </a:rPr>
              <a:t>tự</a:t>
            </a:r>
            <a:r>
              <a:rPr lang="en-US" altLang="en-US" sz="2400">
                <a:cs typeface="Times New Roman" panose="02020603050405020304" pitchFamily="18" charset="0"/>
              </a:rPr>
              <a:t> </a:t>
            </a:r>
            <a:r>
              <a:rPr lang="en-US" altLang="en-US" sz="2400" err="1">
                <a:cs typeface="Times New Roman" panose="02020603050405020304" pitchFamily="18" charset="0"/>
              </a:rPr>
              <a:t>ưu</a:t>
            </a:r>
            <a:r>
              <a:rPr lang="en-US" altLang="en-US" sz="2400">
                <a:cs typeface="Times New Roman" panose="02020603050405020304" pitchFamily="18" charset="0"/>
              </a:rPr>
              <a:t> </a:t>
            </a:r>
            <a:r>
              <a:rPr lang="en-US" altLang="en-US" sz="2400" err="1">
                <a:cs typeface="Times New Roman" panose="02020603050405020304" pitchFamily="18" charset="0"/>
              </a:rPr>
              <a:t>tiên</a:t>
            </a:r>
            <a:r>
              <a:rPr lang="en-US" altLang="en-US" sz="2400">
                <a:cs typeface="Times New Roman" panose="02020603050405020304" pitchFamily="18" charset="0"/>
              </a:rPr>
              <a:t> </a:t>
            </a:r>
            <a:r>
              <a:rPr lang="en-US" altLang="en-US" sz="2400" err="1">
                <a:cs typeface="Times New Roman" panose="02020603050405020304" pitchFamily="18" charset="0"/>
              </a:rPr>
              <a:t>cột</a:t>
            </a:r>
            <a:r>
              <a:rPr lang="en-US" altLang="en-US" sz="2400">
                <a:cs typeface="Times New Roman" panose="02020603050405020304" pitchFamily="18" charset="0"/>
              </a:rPr>
              <a:t> </a:t>
            </a:r>
          </a:p>
          <a:p>
            <a:pPr lvl="2" algn="just">
              <a:lnSpc>
                <a:spcPct val="125000"/>
              </a:lnSpc>
            </a:pPr>
            <a:r>
              <a:rPr lang="en-US" altLang="en-US" sz="2000">
                <a:latin typeface="Courier New" panose="02070309020205020404" pitchFamily="49" charset="0"/>
                <a:cs typeface="Courier New" panose="02070309020205020404" pitchFamily="49" charset="0"/>
              </a:rPr>
              <a:t>f</a:t>
            </a:r>
            <a:r>
              <a:rPr lang="en-US" altLang="en-US" sz="2000" baseline="-30000">
                <a:latin typeface="Courier New" panose="02070309020205020404" pitchFamily="49" charset="0"/>
                <a:cs typeface="Courier New" panose="02070309020205020404" pitchFamily="49" charset="0"/>
              </a:rPr>
              <a:t>2</a:t>
            </a:r>
            <a:r>
              <a:rPr lang="en-US" altLang="en-US" sz="2000">
                <a:latin typeface="Courier New" panose="02070309020205020404" pitchFamily="49" charset="0"/>
                <a:cs typeface="Courier New" panose="02070309020205020404" pitchFamily="49" charset="0"/>
              </a:rPr>
              <a:t>(</a:t>
            </a:r>
            <a:r>
              <a:rPr lang="en-US" altLang="en-US" sz="2000" err="1">
                <a:latin typeface="Courier New" panose="02070309020205020404" pitchFamily="49" charset="0"/>
                <a:cs typeface="Courier New" panose="02070309020205020404" pitchFamily="49" charset="0"/>
              </a:rPr>
              <a:t>i,j</a:t>
            </a:r>
            <a:r>
              <a:rPr lang="en-US" altLang="en-US" sz="2000">
                <a:latin typeface="Courier New" panose="02070309020205020404" pitchFamily="49" charset="0"/>
                <a:cs typeface="Courier New" panose="02070309020205020404" pitchFamily="49" charset="0"/>
              </a:rPr>
              <a:t>) = c *(M * (j-1) + </a:t>
            </a:r>
            <a:r>
              <a:rPr lang="en-US" altLang="en-US" sz="2000" err="1">
                <a:latin typeface="Courier New" panose="02070309020205020404" pitchFamily="49" charset="0"/>
                <a:cs typeface="Courier New" panose="02070309020205020404" pitchFamily="49" charset="0"/>
              </a:rPr>
              <a:t>i</a:t>
            </a:r>
            <a:r>
              <a:rPr lang="en-US" altLang="en-US" sz="2000">
                <a:latin typeface="Courier New" panose="02070309020205020404" pitchFamily="49" charset="0"/>
                <a:cs typeface="Courier New" panose="02070309020205020404" pitchFamily="49" charset="0"/>
              </a:rPr>
              <a:t> - 1)</a:t>
            </a:r>
          </a:p>
          <a:p>
            <a:pPr lvl="1" algn="just">
              <a:lnSpc>
                <a:spcPct val="125000"/>
              </a:lnSpc>
            </a:pPr>
            <a:endParaRPr lang="en-US" altLang="en-US">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390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3D38480-AAFF-4BAB-896D-D2E417B75EFC}" type="slidenum">
              <a:rPr lang="en-US" altLang="en-US"/>
              <a:pPr/>
              <a:t>25</a:t>
            </a:fld>
            <a:endParaRPr lang="en-US" altLang="en-US"/>
          </a:p>
        </p:txBody>
      </p:sp>
      <p:sp>
        <p:nvSpPr>
          <p:cNvPr id="34818" name="Rectangle 2"/>
          <p:cNvSpPr>
            <a:spLocks noGrp="1" noChangeArrowheads="1"/>
          </p:cNvSpPr>
          <p:nvPr>
            <p:ph type="title"/>
          </p:nvPr>
        </p:nvSpPr>
        <p:spPr/>
        <p:txBody>
          <a:bodyPr vert="horz" lIns="91440" tIns="45720" rIns="91440" bIns="45720" rtlCol="0" anchor="ctr">
            <a:normAutofit/>
          </a:bodyPr>
          <a:lstStyle/>
          <a:p>
            <a:r>
              <a:rPr lang="en-US" altLang="en-US"/>
              <a:t>1.4. </a:t>
            </a:r>
            <a:r>
              <a:rPr lang="en-US" altLang="en-US" err="1"/>
              <a:t>Hàm</a:t>
            </a:r>
            <a:r>
              <a:rPr lang="en-US" altLang="en-US"/>
              <a:t> </a:t>
            </a:r>
            <a:r>
              <a:rPr lang="en-US" altLang="en-US" err="1"/>
              <a:t>địa</a:t>
            </a:r>
            <a:r>
              <a:rPr lang="en-US" altLang="en-US"/>
              <a:t> </a:t>
            </a:r>
            <a:r>
              <a:rPr lang="en-US" altLang="en-US" err="1"/>
              <a:t>chỉ</a:t>
            </a:r>
            <a:endParaRPr lang="en-US" altLang="en-US"/>
          </a:p>
        </p:txBody>
      </p:sp>
      <p:sp>
        <p:nvSpPr>
          <p:cNvPr id="34819" name="Rectangle 3"/>
          <p:cNvSpPr>
            <a:spLocks noGrp="1" noChangeArrowheads="1"/>
          </p:cNvSpPr>
          <p:nvPr>
            <p:ph type="body" sz="quarter" idx="13"/>
          </p:nvPr>
        </p:nvSpPr>
        <p:spPr/>
        <p:txBody>
          <a:bodyPr>
            <a:normAutofit/>
          </a:bodyPr>
          <a:lstStyle/>
          <a:p>
            <a:pPr algn="just"/>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cho</a:t>
            </a:r>
            <a:r>
              <a:rPr lang="en-US" altLang="en-US" sz="2200">
                <a:cs typeface="Times New Roman" panose="02020603050405020304" pitchFamily="18" charset="0"/>
              </a:rPr>
              <a:t> </a:t>
            </a:r>
            <a:r>
              <a:rPr lang="en-US" altLang="en-US" sz="2200" err="1">
                <a:cs typeface="Times New Roman" panose="02020603050405020304" pitchFamily="18" charset="0"/>
              </a:rPr>
              <a:t>mảng</a:t>
            </a:r>
            <a:r>
              <a:rPr lang="en-US" altLang="en-US" sz="2200">
                <a:cs typeface="Times New Roman" panose="02020603050405020304" pitchFamily="18" charset="0"/>
              </a:rPr>
              <a:t> </a:t>
            </a:r>
            <a:r>
              <a:rPr lang="en-US" altLang="en-US" sz="2200" err="1">
                <a:cs typeface="Times New Roman" panose="02020603050405020304" pitchFamily="18" charset="0"/>
              </a:rPr>
              <a:t>nhiều</a:t>
            </a:r>
            <a:r>
              <a:rPr lang="en-US" altLang="en-US" sz="2200">
                <a:cs typeface="Times New Roman" panose="02020603050405020304" pitchFamily="18" charset="0"/>
              </a:rPr>
              <a:t> </a:t>
            </a:r>
            <a:r>
              <a:rPr lang="en-US" altLang="en-US" sz="2200" err="1">
                <a:cs typeface="Times New Roman" panose="02020603050405020304" pitchFamily="18" charset="0"/>
              </a:rPr>
              <a:t>hơn</a:t>
            </a:r>
            <a:r>
              <a:rPr lang="en-US" altLang="en-US" sz="2200">
                <a:cs typeface="Times New Roman" panose="02020603050405020304" pitchFamily="18" charset="0"/>
              </a:rPr>
              <a:t> </a:t>
            </a:r>
            <a:r>
              <a:rPr lang="en-US" altLang="en-US" sz="2200" err="1">
                <a:cs typeface="Times New Roman" panose="02020603050405020304" pitchFamily="18" charset="0"/>
              </a:rPr>
              <a:t>hai</a:t>
            </a:r>
            <a:r>
              <a:rPr lang="en-US" altLang="en-US" sz="2200">
                <a:cs typeface="Times New Roman" panose="02020603050405020304" pitchFamily="18" charset="0"/>
              </a:rPr>
              <a:t> </a:t>
            </a:r>
            <a:r>
              <a:rPr lang="en-US" altLang="en-US" sz="2200" err="1">
                <a:cs typeface="Times New Roman" panose="02020603050405020304" pitchFamily="18" charset="0"/>
              </a:rPr>
              <a:t>chiều</a:t>
            </a:r>
            <a:r>
              <a:rPr lang="en-US" altLang="en-US" sz="2200">
                <a:cs typeface="Times New Roman" panose="02020603050405020304" pitchFamily="18" charset="0"/>
              </a:rPr>
              <a:t> </a:t>
            </a:r>
          </a:p>
          <a:p>
            <a:pPr lvl="2" algn="just">
              <a:lnSpc>
                <a:spcPct val="115000"/>
              </a:lnSpc>
            </a:pPr>
            <a:r>
              <a:rPr lang="en-US" altLang="en-US" sz="1600">
                <a:latin typeface="Courier New" panose="02070309020205020404" pitchFamily="49" charset="0"/>
                <a:cs typeface="Courier New" panose="02070309020205020404" pitchFamily="49" charset="0"/>
              </a:rPr>
              <a:t>ARRAY:  a</a:t>
            </a:r>
            <a:r>
              <a:rPr lang="en-US" altLang="en-US" sz="1600" baseline="-25000">
                <a:latin typeface="Courier New" panose="02070309020205020404" pitchFamily="49" charset="0"/>
                <a:cs typeface="Courier New" panose="02070309020205020404" pitchFamily="49" charset="0"/>
              </a:rPr>
              <a:t>n</a:t>
            </a:r>
            <a:r>
              <a:rPr lang="en-US" altLang="en-US" sz="1600">
                <a:latin typeface="Courier New" panose="02070309020205020404" pitchFamily="49" charset="0"/>
                <a:cs typeface="Courier New" panose="02070309020205020404" pitchFamily="49" charset="0"/>
              </a:rPr>
              <a:t>[N, L</a:t>
            </a:r>
            <a:r>
              <a:rPr lang="en-US" altLang="en-US" sz="1600" baseline="-30000">
                <a:latin typeface="Courier New" panose="02070309020205020404" pitchFamily="49" charset="0"/>
                <a:cs typeface="Courier New" panose="02070309020205020404" pitchFamily="49" charset="0"/>
              </a:rPr>
              <a:t>1</a:t>
            </a:r>
            <a:r>
              <a:rPr lang="en-US" altLang="en-US" sz="1600">
                <a:latin typeface="Courier New" panose="02070309020205020404" pitchFamily="49" charset="0"/>
                <a:cs typeface="Courier New" panose="02070309020205020404" pitchFamily="49" charset="0"/>
              </a:rPr>
              <a:t>, L</a:t>
            </a:r>
            <a:r>
              <a:rPr lang="en-US" altLang="en-US" sz="1600" baseline="-30000">
                <a:latin typeface="Courier New" panose="02070309020205020404" pitchFamily="49" charset="0"/>
                <a:cs typeface="Courier New" panose="02070309020205020404" pitchFamily="49" charset="0"/>
              </a:rPr>
              <a:t>2</a:t>
            </a:r>
            <a:r>
              <a:rPr lang="en-US" altLang="en-US" sz="1600">
                <a:latin typeface="Courier New" panose="02070309020205020404" pitchFamily="49" charset="0"/>
                <a:cs typeface="Courier New" panose="02070309020205020404" pitchFamily="49" charset="0"/>
              </a:rPr>
              <a:t>,..., L</a:t>
            </a:r>
            <a:r>
              <a:rPr lang="en-US" altLang="en-US" sz="1600" baseline="-25000">
                <a:latin typeface="Courier New" panose="02070309020205020404" pitchFamily="49" charset="0"/>
                <a:cs typeface="Courier New" panose="02070309020205020404" pitchFamily="49" charset="0"/>
              </a:rPr>
              <a:t>n</a:t>
            </a:r>
            <a:r>
              <a:rPr lang="en-US" altLang="en-US" sz="1600">
                <a:latin typeface="Courier New" panose="02070309020205020404" pitchFamily="49" charset="0"/>
                <a:cs typeface="Courier New" panose="02070309020205020404" pitchFamily="49" charset="0"/>
              </a:rPr>
              <a:t>]  OF  datatype ; </a:t>
            </a:r>
          </a:p>
          <a:p>
            <a:pPr lvl="2">
              <a:lnSpc>
                <a:spcPct val="115000"/>
              </a:lnSpc>
            </a:pPr>
            <a:r>
              <a:rPr lang="en-US" altLang="en-US" sz="1600">
                <a:latin typeface="Courier New" panose="02070309020205020404" pitchFamily="49" charset="0"/>
                <a:cs typeface="Courier New" panose="02070309020205020404" pitchFamily="49" charset="0"/>
              </a:rPr>
              <a:t>ARRAY:  a</a:t>
            </a:r>
            <a:r>
              <a:rPr lang="en-US" altLang="en-US" sz="1600" baseline="-25000">
                <a:latin typeface="Courier New" panose="02070309020205020404" pitchFamily="49" charset="0"/>
                <a:cs typeface="Courier New" panose="02070309020205020404" pitchFamily="49" charset="0"/>
              </a:rPr>
              <a:t>n</a:t>
            </a:r>
            <a:r>
              <a:rPr lang="en-US" altLang="en-US" sz="1600">
                <a:latin typeface="Courier New" panose="02070309020205020404" pitchFamily="49" charset="0"/>
                <a:cs typeface="Courier New" panose="02070309020205020404" pitchFamily="49" charset="0"/>
              </a:rPr>
              <a:t>[1, L</a:t>
            </a:r>
            <a:r>
              <a:rPr lang="en-US" altLang="en-US" sz="1600" baseline="-30000">
                <a:latin typeface="Courier New" panose="02070309020205020404" pitchFamily="49" charset="0"/>
                <a:cs typeface="Courier New" panose="02070309020205020404" pitchFamily="49" charset="0"/>
              </a:rPr>
              <a:t>1</a:t>
            </a:r>
            <a:r>
              <a:rPr lang="en-US" altLang="en-US" sz="1600">
                <a:latin typeface="Courier New" panose="02070309020205020404" pitchFamily="49" charset="0"/>
                <a:cs typeface="Courier New" panose="02070309020205020404" pitchFamily="49" charset="0"/>
              </a:rPr>
              <a:t>]  OF  a</a:t>
            </a:r>
            <a:r>
              <a:rPr lang="en-US" altLang="en-US" sz="1600" baseline="-25000">
                <a:latin typeface="Courier New" panose="02070309020205020404" pitchFamily="49" charset="0"/>
                <a:cs typeface="Courier New" panose="02070309020205020404" pitchFamily="49" charset="0"/>
              </a:rPr>
              <a:t>n</a:t>
            </a:r>
            <a:r>
              <a:rPr lang="en-US" altLang="en-US" sz="1600" baseline="-30000">
                <a:latin typeface="Courier New" panose="02070309020205020404" pitchFamily="49" charset="0"/>
                <a:cs typeface="Courier New" panose="02070309020205020404" pitchFamily="49" charset="0"/>
              </a:rPr>
              <a:t>-1</a:t>
            </a:r>
            <a:r>
              <a:rPr lang="en-US" altLang="en-US" sz="1600">
                <a:latin typeface="Courier New" panose="02070309020205020404" pitchFamily="49" charset="0"/>
                <a:cs typeface="Courier New" panose="02070309020205020404" pitchFamily="49" charset="0"/>
              </a:rPr>
              <a:t> ; AND ARRAY:  a</a:t>
            </a:r>
            <a:r>
              <a:rPr lang="en-US" altLang="en-US" sz="1600" baseline="-25000">
                <a:latin typeface="Courier New" panose="02070309020205020404" pitchFamily="49" charset="0"/>
                <a:cs typeface="Courier New" panose="02070309020205020404" pitchFamily="49" charset="0"/>
              </a:rPr>
              <a:t>n</a:t>
            </a:r>
            <a:r>
              <a:rPr lang="en-US" altLang="en-US" sz="1600" baseline="-30000">
                <a:latin typeface="Courier New" panose="02070309020205020404" pitchFamily="49" charset="0"/>
                <a:cs typeface="Courier New" panose="02070309020205020404" pitchFamily="49" charset="0"/>
              </a:rPr>
              <a:t>-1</a:t>
            </a:r>
            <a:r>
              <a:rPr lang="en-US" altLang="en-US" sz="1600">
                <a:latin typeface="Courier New" panose="02070309020205020404" pitchFamily="49" charset="0"/>
                <a:cs typeface="Courier New" panose="02070309020205020404" pitchFamily="49" charset="0"/>
              </a:rPr>
              <a:t>[N-1, L</a:t>
            </a:r>
            <a:r>
              <a:rPr lang="en-US" altLang="en-US" sz="1600" baseline="-30000">
                <a:latin typeface="Courier New" panose="02070309020205020404" pitchFamily="49" charset="0"/>
                <a:cs typeface="Courier New" panose="02070309020205020404" pitchFamily="49" charset="0"/>
              </a:rPr>
              <a:t>2</a:t>
            </a:r>
            <a:r>
              <a:rPr lang="en-US" altLang="en-US" sz="1600">
                <a:latin typeface="Courier New" panose="02070309020205020404" pitchFamily="49" charset="0"/>
                <a:cs typeface="Courier New" panose="02070309020205020404" pitchFamily="49" charset="0"/>
              </a:rPr>
              <a:t>,..., L</a:t>
            </a:r>
            <a:r>
              <a:rPr lang="en-US" altLang="en-US" sz="1600" baseline="-25000">
                <a:latin typeface="Courier New" panose="02070309020205020404" pitchFamily="49" charset="0"/>
                <a:cs typeface="Courier New" panose="02070309020205020404" pitchFamily="49" charset="0"/>
              </a:rPr>
              <a:t>n</a:t>
            </a:r>
            <a:r>
              <a:rPr lang="en-US" altLang="en-US" sz="1600">
                <a:latin typeface="Courier New" panose="02070309020205020404" pitchFamily="49" charset="0"/>
                <a:cs typeface="Courier New" panose="02070309020205020404" pitchFamily="49" charset="0"/>
              </a:rPr>
              <a:t>]  OF  datatype; 		 </a:t>
            </a:r>
          </a:p>
          <a:p>
            <a:pPr lvl="1" algn="just">
              <a:lnSpc>
                <a:spcPct val="115000"/>
              </a:lnSpc>
            </a:pPr>
            <a:r>
              <a:rPr lang="en-US" altLang="en-US" sz="2200" err="1">
                <a:cs typeface="Times New Roman" panose="02020603050405020304" pitchFamily="18" charset="0"/>
              </a:rPr>
              <a:t>Để</a:t>
            </a:r>
            <a:r>
              <a:rPr lang="en-US" altLang="en-US" sz="2200">
                <a:cs typeface="Times New Roman" panose="02020603050405020304" pitchFamily="18" charset="0"/>
              </a:rPr>
              <a:t> </a:t>
            </a:r>
            <a:r>
              <a:rPr lang="en-US" altLang="en-US" sz="2200" err="1">
                <a:cs typeface="Times New Roman" panose="02020603050405020304" pitchFamily="18" charset="0"/>
              </a:rPr>
              <a:t>tính</a:t>
            </a:r>
            <a:r>
              <a:rPr lang="en-US" altLang="en-US" sz="2200">
                <a:cs typeface="Times New Roman" panose="02020603050405020304" pitchFamily="18" charset="0"/>
              </a:rPr>
              <a:t> </a:t>
            </a:r>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của</a:t>
            </a:r>
            <a:r>
              <a:rPr lang="en-US" altLang="en-US" sz="2200">
                <a:cs typeface="Times New Roman" panose="02020603050405020304" pitchFamily="18" charset="0"/>
              </a:rPr>
              <a:t> a</a:t>
            </a:r>
            <a:r>
              <a:rPr lang="en-US" altLang="en-US" sz="2200" baseline="-25000">
                <a:cs typeface="Times New Roman" panose="02020603050405020304" pitchFamily="18" charset="0"/>
              </a:rPr>
              <a:t>n</a:t>
            </a:r>
            <a:r>
              <a:rPr lang="en-US" altLang="en-US" sz="2200">
                <a:cs typeface="Times New Roman" panose="02020603050405020304" pitchFamily="18" charset="0"/>
              </a:rPr>
              <a:t>, ta </a:t>
            </a:r>
            <a:r>
              <a:rPr lang="en-US" altLang="en-US" sz="2200" err="1">
                <a:cs typeface="Times New Roman" panose="02020603050405020304" pitchFamily="18" charset="0"/>
              </a:rPr>
              <a:t>dựa</a:t>
            </a:r>
            <a:r>
              <a:rPr lang="en-US" altLang="en-US" sz="2200">
                <a:cs typeface="Times New Roman" panose="02020603050405020304" pitchFamily="18" charset="0"/>
              </a:rPr>
              <a:t> </a:t>
            </a:r>
            <a:r>
              <a:rPr lang="en-US" altLang="en-US" sz="2200" err="1">
                <a:cs typeface="Times New Roman" panose="02020603050405020304" pitchFamily="18" charset="0"/>
              </a:rPr>
              <a:t>vào</a:t>
            </a:r>
            <a:r>
              <a:rPr lang="en-US" altLang="en-US" sz="2200">
                <a:cs typeface="Times New Roman" panose="02020603050405020304" pitchFamily="18" charset="0"/>
              </a:rPr>
              <a:t> </a:t>
            </a:r>
            <a:r>
              <a:rPr lang="en-US" altLang="en-US" sz="2200" err="1">
                <a:cs typeface="Times New Roman" panose="02020603050405020304" pitchFamily="18" charset="0"/>
              </a:rPr>
              <a:t>hàm</a:t>
            </a:r>
            <a:r>
              <a:rPr lang="en-US" altLang="en-US" sz="2200">
                <a:cs typeface="Times New Roman" panose="02020603050405020304" pitchFamily="18" charset="0"/>
              </a:rPr>
              <a:t> </a:t>
            </a:r>
            <a:r>
              <a:rPr lang="en-US" altLang="en-US" sz="2200" err="1">
                <a:cs typeface="Times New Roman" panose="02020603050405020304" pitchFamily="18" charset="0"/>
              </a:rPr>
              <a:t>địa</a:t>
            </a:r>
            <a:r>
              <a:rPr lang="en-US" altLang="en-US" sz="2200">
                <a:cs typeface="Times New Roman" panose="02020603050405020304" pitchFamily="18" charset="0"/>
              </a:rPr>
              <a:t> </a:t>
            </a:r>
            <a:r>
              <a:rPr lang="en-US" altLang="en-US" sz="2200" err="1">
                <a:cs typeface="Times New Roman" panose="02020603050405020304" pitchFamily="18" charset="0"/>
              </a:rPr>
              <a:t>chỉ</a:t>
            </a:r>
            <a:r>
              <a:rPr lang="en-US" altLang="en-US" sz="2200">
                <a:cs typeface="Times New Roman" panose="02020603050405020304" pitchFamily="18" charset="0"/>
              </a:rPr>
              <a:t> </a:t>
            </a:r>
            <a:r>
              <a:rPr lang="en-US" altLang="en-US" sz="2200" err="1">
                <a:cs typeface="Times New Roman" panose="02020603050405020304" pitchFamily="18" charset="0"/>
              </a:rPr>
              <a:t>của</a:t>
            </a:r>
            <a:r>
              <a:rPr lang="en-US" altLang="en-US" sz="2200">
                <a:cs typeface="Times New Roman" panose="02020603050405020304" pitchFamily="18" charset="0"/>
              </a:rPr>
              <a:t> a</a:t>
            </a:r>
            <a:r>
              <a:rPr lang="en-US" altLang="en-US" sz="2200" baseline="-25000">
                <a:cs typeface="Times New Roman" panose="02020603050405020304" pitchFamily="18" charset="0"/>
              </a:rPr>
              <a:t>n</a:t>
            </a:r>
            <a:r>
              <a:rPr lang="en-US" altLang="en-US" sz="2200" baseline="-30000">
                <a:cs typeface="Times New Roman" panose="02020603050405020304" pitchFamily="18" charset="0"/>
              </a:rPr>
              <a:t>-1</a:t>
            </a:r>
            <a:endParaRPr lang="en-US" altLang="en-US" sz="2200"/>
          </a:p>
        </p:txBody>
      </p:sp>
      <p:sp>
        <p:nvSpPr>
          <p:cNvPr id="2" name="Rectangle 1"/>
          <p:cNvSpPr/>
          <p:nvPr/>
        </p:nvSpPr>
        <p:spPr>
          <a:xfrm>
            <a:off x="477390" y="1676400"/>
            <a:ext cx="425116" cy="461665"/>
          </a:xfrm>
          <a:prstGeom prst="rect">
            <a:avLst/>
          </a:prstGeom>
        </p:spPr>
        <p:txBody>
          <a:bodyPr wrap="square">
            <a:spAutoFit/>
          </a:bodyPr>
          <a:lstStyle/>
          <a:p>
            <a:r>
              <a:rPr lang="en-US" altLang="en-US" sz="2400">
                <a:latin typeface="Courier New" panose="02070309020205020404" pitchFamily="49" charset="0"/>
                <a:cs typeface="Courier New" panose="02070309020205020404" pitchFamily="49" charset="0"/>
                <a:sym typeface="Symbol" panose="05050102010706020507" pitchFamily="18" charset="2"/>
              </a:rPr>
              <a:t></a:t>
            </a:r>
            <a:endParaRPr lang="en-US" sz="2400"/>
          </a:p>
        </p:txBody>
      </p:sp>
      <p:graphicFrame>
        <p:nvGraphicFramePr>
          <p:cNvPr id="8" name="Object 6"/>
          <p:cNvGraphicFramePr>
            <a:graphicFrameLocks noChangeAspect="1"/>
          </p:cNvGraphicFramePr>
          <p:nvPr>
            <p:extLst>
              <p:ext uri="{D42A27DB-BD31-4B8C-83A1-F6EECF244321}">
                <p14:modId xmlns:p14="http://schemas.microsoft.com/office/powerpoint/2010/main" val="4198891574"/>
              </p:ext>
            </p:extLst>
          </p:nvPr>
        </p:nvGraphicFramePr>
        <p:xfrm>
          <a:off x="1277938" y="4222750"/>
          <a:ext cx="6586537" cy="812800"/>
        </p:xfrm>
        <a:graphic>
          <a:graphicData uri="http://schemas.openxmlformats.org/presentationml/2006/ole">
            <mc:AlternateContent xmlns:mc="http://schemas.openxmlformats.org/markup-compatibility/2006">
              <mc:Choice xmlns:v="urn:schemas-microsoft-com:vml" Requires="v">
                <p:oleObj name="Equation" r:id="rId3" imgW="3708360" imgH="457200" progId="Equation.3">
                  <p:embed/>
                </p:oleObj>
              </mc:Choice>
              <mc:Fallback>
                <p:oleObj name="Equation" r:id="rId3" imgW="3708360" imgH="457200" progId="Equation.3">
                  <p:embed/>
                  <p:pic>
                    <p:nvPicPr>
                      <p:cNvPr id="8" name="Object 6"/>
                      <p:cNvPicPr>
                        <a:picLocks noChangeAspect="1" noChangeArrowheads="1"/>
                      </p:cNvPicPr>
                      <p:nvPr/>
                    </p:nvPicPr>
                    <p:blipFill>
                      <a:blip r:embed="rId4"/>
                      <a:srcRect/>
                      <a:stretch>
                        <a:fillRect/>
                      </a:stretch>
                    </p:blipFill>
                    <p:spPr bwMode="auto">
                      <a:xfrm>
                        <a:off x="1277938" y="4222750"/>
                        <a:ext cx="6586537" cy="812800"/>
                      </a:xfrm>
                      <a:prstGeom prst="rect">
                        <a:avLst/>
                      </a:prstGeom>
                      <a:noFill/>
                      <a:ln>
                        <a:noFill/>
                      </a:ln>
                    </p:spPr>
                  </p:pic>
                </p:oleObj>
              </mc:Fallback>
            </mc:AlternateContent>
          </a:graphicData>
        </a:graphic>
      </p:graphicFrame>
      <p:sp>
        <p:nvSpPr>
          <p:cNvPr id="4" name="Rectangle 3"/>
          <p:cNvSpPr/>
          <p:nvPr/>
        </p:nvSpPr>
        <p:spPr>
          <a:xfrm>
            <a:off x="696318" y="4232837"/>
            <a:ext cx="420308" cy="523220"/>
          </a:xfrm>
          <a:prstGeom prst="rect">
            <a:avLst/>
          </a:prstGeom>
        </p:spPr>
        <p:txBody>
          <a:bodyPr wrap="none">
            <a:spAutoFit/>
          </a:bodyPr>
          <a:lstStyle/>
          <a:p>
            <a:r>
              <a:rPr lang="en-US" altLang="en-US" sz="2800" baseline="-30000">
                <a:cs typeface="Times New Roman" panose="02020603050405020304" pitchFamily="18" charset="0"/>
                <a:sym typeface="Symbol" panose="05050102010706020507" pitchFamily="18" charset="2"/>
              </a:rPr>
              <a:t></a:t>
            </a:r>
            <a:endParaRPr lang="en-US" sz="2800"/>
          </a:p>
        </p:txBody>
      </p:sp>
      <p:graphicFrame>
        <p:nvGraphicFramePr>
          <p:cNvPr id="9" name="Object 4"/>
          <p:cNvGraphicFramePr>
            <a:graphicFrameLocks noChangeAspect="1"/>
          </p:cNvGraphicFramePr>
          <p:nvPr>
            <p:extLst>
              <p:ext uri="{D42A27DB-BD31-4B8C-83A1-F6EECF244321}">
                <p14:modId xmlns:p14="http://schemas.microsoft.com/office/powerpoint/2010/main" val="429322868"/>
              </p:ext>
            </p:extLst>
          </p:nvPr>
        </p:nvGraphicFramePr>
        <p:xfrm>
          <a:off x="1371600" y="2996620"/>
          <a:ext cx="5659438" cy="942975"/>
        </p:xfrm>
        <a:graphic>
          <a:graphicData uri="http://schemas.openxmlformats.org/presentationml/2006/ole">
            <mc:AlternateContent xmlns:mc="http://schemas.openxmlformats.org/markup-compatibility/2006">
              <mc:Choice xmlns:v="urn:schemas-microsoft-com:vml" Requires="v">
                <p:oleObj name="Equation" r:id="rId5" imgW="2895480" imgH="431640" progId="Equation.3">
                  <p:embed/>
                </p:oleObj>
              </mc:Choice>
              <mc:Fallback>
                <p:oleObj name="Equation" r:id="rId5" imgW="2895480" imgH="431640" progId="Equation.3">
                  <p:embed/>
                  <p:pic>
                    <p:nvPicPr>
                      <p:cNvPr id="9" name="Object 4"/>
                      <p:cNvPicPr>
                        <a:picLocks noChangeAspect="1" noChangeArrowheads="1"/>
                      </p:cNvPicPr>
                      <p:nvPr/>
                    </p:nvPicPr>
                    <p:blipFill>
                      <a:blip r:embed="rId6"/>
                      <a:srcRect/>
                      <a:stretch>
                        <a:fillRect/>
                      </a:stretch>
                    </p:blipFill>
                    <p:spPr bwMode="auto">
                      <a:xfrm>
                        <a:off x="1371600" y="2996620"/>
                        <a:ext cx="5659438" cy="9429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5740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26</a:t>
            </a:fld>
            <a:endParaRPr lang="en-US"/>
          </a:p>
        </p:txBody>
      </p:sp>
      <p:sp>
        <p:nvSpPr>
          <p:cNvPr id="2" name="Title 1"/>
          <p:cNvSpPr>
            <a:spLocks noGrp="1"/>
          </p:cNvSpPr>
          <p:nvPr>
            <p:ph type="title"/>
          </p:nvPr>
        </p:nvSpPr>
        <p:spPr/>
        <p:txBody>
          <a:bodyPr/>
          <a:lstStyle/>
          <a:p>
            <a:r>
              <a:rPr lang="en-US" err="1"/>
              <a:t>Nhận</a:t>
            </a:r>
            <a:r>
              <a:rPr lang="en-US"/>
              <a:t> </a:t>
            </a:r>
            <a:r>
              <a:rPr lang="en-US" err="1"/>
              <a:t>xét</a:t>
            </a:r>
            <a:endParaRPr lang="en-US"/>
          </a:p>
        </p:txBody>
      </p:sp>
      <p:sp>
        <p:nvSpPr>
          <p:cNvPr id="3" name="Content Placeholder 2"/>
          <p:cNvSpPr>
            <a:spLocks noGrp="1"/>
          </p:cNvSpPr>
          <p:nvPr>
            <p:ph type="body" sz="quarter" idx="13"/>
          </p:nvPr>
        </p:nvSpPr>
        <p:spPr/>
        <p:txBody>
          <a:bodyPr/>
          <a:lstStyle/>
          <a:p>
            <a:r>
              <a:rPr lang="en-US" sz="2400"/>
              <a:t>L</a:t>
            </a:r>
            <a:r>
              <a:rPr lang="vi-VN" sz="2400"/>
              <a:t>ợi ích </a:t>
            </a:r>
            <a:r>
              <a:rPr lang="en-US" sz="2400" err="1"/>
              <a:t>của</a:t>
            </a:r>
            <a:r>
              <a:rPr lang="en-US" sz="2400"/>
              <a:t> </a:t>
            </a:r>
            <a:r>
              <a:rPr lang="vi-VN" sz="2400"/>
              <a:t>sử dụng cấu trúc lưu trữ tuần tự để cài đặt mảng </a:t>
            </a:r>
            <a:r>
              <a:rPr lang="en-US" sz="2400"/>
              <a:t>:</a:t>
            </a:r>
          </a:p>
          <a:p>
            <a:pPr lvl="1"/>
            <a:r>
              <a:rPr lang="vi-VN" sz="2000"/>
              <a:t>Cách cài đặt tương đối đơn giản, dễ mở rộng cho mảng có số chiều khác nhau.</a:t>
            </a:r>
          </a:p>
          <a:p>
            <a:pPr lvl="1"/>
            <a:r>
              <a:rPr lang="en-US" sz="2000"/>
              <a:t>T</a:t>
            </a:r>
            <a:r>
              <a:rPr lang="vi-VN" sz="2000"/>
              <a:t>ính được hàm địa chỉ duy nhất cho tất cả các phần tử trong mảng,</a:t>
            </a:r>
            <a:r>
              <a:rPr lang="en-US" sz="2000"/>
              <a:t> </a:t>
            </a:r>
            <a:r>
              <a:rPr lang="vi-VN" sz="2000"/>
              <a:t>thao tác truy nhập vào các phần tử của mảng đều nhanh chóng và đồng đều như</a:t>
            </a:r>
            <a:r>
              <a:rPr lang="en-US" sz="2000"/>
              <a:t> </a:t>
            </a:r>
            <a:r>
              <a:rPr lang="vi-VN" sz="2000"/>
              <a:t>nhau.</a:t>
            </a:r>
            <a:endParaRPr lang="en-US" sz="2000"/>
          </a:p>
          <a:p>
            <a:r>
              <a:rPr lang="en-US" sz="2400" err="1"/>
              <a:t>Hạn</a:t>
            </a:r>
            <a:r>
              <a:rPr lang="en-US" sz="2400"/>
              <a:t> </a:t>
            </a:r>
            <a:r>
              <a:rPr lang="en-US" sz="2400" err="1"/>
              <a:t>chế</a:t>
            </a:r>
            <a:r>
              <a:rPr lang="en-US" sz="2400"/>
              <a:t>:</a:t>
            </a:r>
          </a:p>
          <a:p>
            <a:pPr lvl="1"/>
            <a:r>
              <a:rPr lang="vi-VN" sz="2000"/>
              <a:t>Chỉ phù hợp khi mảng có kích thước cố định và đồng nhất</a:t>
            </a:r>
            <a:endParaRPr lang="en-US" sz="2000"/>
          </a:p>
          <a:p>
            <a:pPr lvl="1"/>
            <a:r>
              <a:rPr lang="en-US" sz="2000"/>
              <a:t>Đ</a:t>
            </a:r>
            <a:r>
              <a:rPr lang="vi-VN" sz="2000"/>
              <a:t>òi hỏi vùng nhớ liên tục trong bộ nhớ </a:t>
            </a:r>
            <a:r>
              <a:rPr lang="en-US" sz="2000"/>
              <a:t>=&gt; </a:t>
            </a:r>
            <a:r>
              <a:rPr lang="vi-VN" sz="2000"/>
              <a:t>khó khăn, vì trong thực tế vùng nhớ của máy tính thường bị phân</a:t>
            </a:r>
            <a:r>
              <a:rPr lang="en-US" sz="2000"/>
              <a:t> </a:t>
            </a:r>
            <a:r>
              <a:rPr lang="vi-VN" sz="2000"/>
              <a:t>mảnh</a:t>
            </a:r>
            <a:endParaRPr lang="en-US" sz="2000"/>
          </a:p>
          <a:p>
            <a:pPr lvl="1"/>
            <a:r>
              <a:rPr lang="en-US" sz="2000" err="1"/>
              <a:t>Thêm</a:t>
            </a:r>
            <a:r>
              <a:rPr lang="en-US" sz="2000"/>
              <a:t>, </a:t>
            </a:r>
            <a:r>
              <a:rPr lang="en-US" sz="2000" err="1"/>
              <a:t>xóa</a:t>
            </a:r>
            <a:r>
              <a:rPr lang="en-US" sz="2000"/>
              <a:t> </a:t>
            </a:r>
            <a:r>
              <a:rPr lang="en-US" sz="2000" err="1"/>
              <a:t>phần</a:t>
            </a:r>
            <a:r>
              <a:rPr lang="en-US" sz="2000"/>
              <a:t> </a:t>
            </a:r>
            <a:r>
              <a:rPr lang="en-US" sz="2000" err="1"/>
              <a:t>tử</a:t>
            </a:r>
            <a:r>
              <a:rPr lang="en-US" sz="2000"/>
              <a:t> </a:t>
            </a:r>
            <a:r>
              <a:rPr lang="en-US" sz="2000" err="1"/>
              <a:t>trong</a:t>
            </a:r>
            <a:r>
              <a:rPr lang="en-US" sz="2000"/>
              <a:t> </a:t>
            </a:r>
            <a:r>
              <a:rPr lang="en-US" sz="2000" err="1"/>
              <a:t>mảng</a:t>
            </a:r>
            <a:r>
              <a:rPr lang="en-US" sz="2000"/>
              <a:t> </a:t>
            </a:r>
            <a:r>
              <a:rPr lang="en-US" sz="2000" err="1"/>
              <a:t>cần</a:t>
            </a:r>
            <a:r>
              <a:rPr lang="en-US" sz="2000"/>
              <a:t> </a:t>
            </a:r>
            <a:r>
              <a:rPr lang="en-US" sz="2000" err="1"/>
              <a:t>định</a:t>
            </a:r>
            <a:r>
              <a:rPr lang="en-US" sz="2000"/>
              <a:t> </a:t>
            </a:r>
            <a:r>
              <a:rPr lang="en-US" sz="2000" err="1"/>
              <a:t>vị</a:t>
            </a:r>
            <a:r>
              <a:rPr lang="en-US" sz="2000"/>
              <a:t> </a:t>
            </a:r>
            <a:r>
              <a:rPr lang="en-US" sz="2000" err="1"/>
              <a:t>lại</a:t>
            </a:r>
            <a:r>
              <a:rPr lang="en-US" sz="2000"/>
              <a:t> </a:t>
            </a:r>
            <a:r>
              <a:rPr lang="en-US" sz="2000" err="1"/>
              <a:t>các</a:t>
            </a:r>
            <a:r>
              <a:rPr lang="en-US" sz="2000"/>
              <a:t> </a:t>
            </a:r>
            <a:r>
              <a:rPr lang="en-US" sz="2000" err="1"/>
              <a:t>khối</a:t>
            </a:r>
            <a:r>
              <a:rPr lang="en-US" sz="2000"/>
              <a:t> </a:t>
            </a:r>
            <a:r>
              <a:rPr lang="en-US" sz="2000" err="1"/>
              <a:t>nhớ</a:t>
            </a:r>
            <a:r>
              <a:rPr lang="en-US" sz="2000"/>
              <a:t> </a:t>
            </a:r>
            <a:r>
              <a:rPr lang="en-US" sz="2000" err="1"/>
              <a:t>mới</a:t>
            </a:r>
            <a:r>
              <a:rPr lang="en-US" sz="2000"/>
              <a:t>, </a:t>
            </a:r>
            <a:r>
              <a:rPr lang="en-US" sz="2000" err="1"/>
              <a:t>thao</a:t>
            </a:r>
            <a:r>
              <a:rPr lang="en-US" sz="2000"/>
              <a:t> </a:t>
            </a:r>
            <a:r>
              <a:rPr lang="en-US" sz="2000" err="1"/>
              <a:t>tác</a:t>
            </a:r>
            <a:r>
              <a:rPr lang="en-US" sz="2000"/>
              <a:t> </a:t>
            </a:r>
            <a:r>
              <a:rPr lang="en-US" sz="2000" err="1"/>
              <a:t>phức</a:t>
            </a:r>
            <a:r>
              <a:rPr lang="en-US" sz="2000"/>
              <a:t> </a:t>
            </a:r>
            <a:r>
              <a:rPr lang="en-US" sz="2000" err="1"/>
              <a:t>tạp</a:t>
            </a:r>
            <a:r>
              <a:rPr lang="en-US" sz="2000"/>
              <a:t> </a:t>
            </a:r>
            <a:r>
              <a:rPr lang="en-US" sz="2000" err="1"/>
              <a:t>trên</a:t>
            </a:r>
            <a:r>
              <a:rPr lang="en-US" sz="2000"/>
              <a:t> </a:t>
            </a:r>
            <a:r>
              <a:rPr lang="en-US" sz="2000" err="1"/>
              <a:t>bộ</a:t>
            </a:r>
            <a:r>
              <a:rPr lang="en-US" sz="2000"/>
              <a:t> </a:t>
            </a:r>
            <a:r>
              <a:rPr lang="en-US" sz="2000" err="1"/>
              <a:t>nhớ</a:t>
            </a:r>
            <a:r>
              <a:rPr lang="en-US" sz="2000"/>
              <a:t>, </a:t>
            </a:r>
            <a:r>
              <a:rPr lang="en-US" sz="2000" err="1"/>
              <a:t>chậm</a:t>
            </a:r>
            <a:r>
              <a:rPr lang="en-US" sz="2000"/>
              <a:t>, v.v.</a:t>
            </a:r>
          </a:p>
        </p:txBody>
      </p:sp>
    </p:spTree>
    <p:extLst>
      <p:ext uri="{BB962C8B-B14F-4D97-AF65-F5344CB8AC3E}">
        <p14:creationId xmlns:p14="http://schemas.microsoft.com/office/powerpoint/2010/main" val="261655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26B269CE-12F4-4F4F-BF2F-21E0A343DA44}" type="slidenum">
              <a:rPr lang="en-US" smtClean="0"/>
              <a:pPr/>
              <a:t>27</a:t>
            </a:fld>
            <a:endParaRPr lang="en-US"/>
          </a:p>
        </p:txBody>
      </p:sp>
      <p:sp>
        <p:nvSpPr>
          <p:cNvPr id="2" name="Title 1"/>
          <p:cNvSpPr>
            <a:spLocks noGrp="1"/>
          </p:cNvSpPr>
          <p:nvPr>
            <p:ph type="title"/>
          </p:nvPr>
        </p:nvSpPr>
        <p:spPr>
          <a:xfrm>
            <a:off x="3276600" y="2895600"/>
            <a:ext cx="8673846" cy="451739"/>
          </a:xfrm>
        </p:spPr>
        <p:txBody>
          <a:bodyPr/>
          <a:lstStyle/>
          <a:p>
            <a:r>
              <a:rPr lang="en-US" altLang="en-US">
                <a:solidFill>
                  <a:schemeClr val="tx1"/>
                </a:solidFill>
              </a:rPr>
              <a:t>2. </a:t>
            </a:r>
            <a:r>
              <a:rPr lang="en-US" altLang="en-US" err="1">
                <a:solidFill>
                  <a:schemeClr val="tx1"/>
                </a:solidFill>
              </a:rPr>
              <a:t>Danh</a:t>
            </a:r>
            <a:r>
              <a:rPr lang="en-US" altLang="en-US">
                <a:solidFill>
                  <a:schemeClr val="tx1"/>
                </a:solidFill>
              </a:rPr>
              <a:t> </a:t>
            </a:r>
            <a:r>
              <a:rPr lang="en-US" altLang="en-US" err="1">
                <a:solidFill>
                  <a:schemeClr val="tx1"/>
                </a:solidFill>
              </a:rPr>
              <a:t>sách</a:t>
            </a:r>
            <a:r>
              <a:rPr lang="en-US" altLang="en-US">
                <a:solidFill>
                  <a:schemeClr val="tx1"/>
                </a:solidFill>
              </a:rPr>
              <a:t> </a:t>
            </a:r>
            <a:r>
              <a:rPr lang="en-US" altLang="en-US" err="1">
                <a:solidFill>
                  <a:schemeClr val="tx1"/>
                </a:solidFill>
              </a:rPr>
              <a:t>tuyến</a:t>
            </a:r>
            <a:r>
              <a:rPr lang="en-US" altLang="en-US">
                <a:solidFill>
                  <a:schemeClr val="tx1"/>
                </a:solidFill>
              </a:rPr>
              <a:t> </a:t>
            </a:r>
            <a:r>
              <a:rPr lang="en-US" altLang="en-US" err="1">
                <a:solidFill>
                  <a:schemeClr val="tx1"/>
                </a:solidFill>
              </a:rPr>
              <a:t>tính</a:t>
            </a:r>
            <a:endParaRPr lang="en-US">
              <a:solidFill>
                <a:schemeClr val="tx1"/>
              </a:solidFill>
            </a:endParaRPr>
          </a:p>
        </p:txBody>
      </p:sp>
      <p:sp>
        <p:nvSpPr>
          <p:cNvPr id="6" name="Text Placeholder 5"/>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860880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err="1"/>
              <a:t>Danh</a:t>
            </a:r>
            <a:r>
              <a:rPr lang="en-US" altLang="en-US"/>
              <a:t> </a:t>
            </a:r>
            <a:r>
              <a:rPr lang="en-US" altLang="en-US" err="1"/>
              <a:t>sách</a:t>
            </a:r>
            <a:r>
              <a:rPr lang="en-US" altLang="en-US"/>
              <a:t> </a:t>
            </a:r>
            <a:r>
              <a:rPr lang="en-US" altLang="en-US" err="1"/>
              <a:t>tuyến</a:t>
            </a:r>
            <a:r>
              <a:rPr lang="en-US" altLang="en-US"/>
              <a:t> </a:t>
            </a:r>
            <a:r>
              <a:rPr lang="en-US" altLang="en-US" err="1"/>
              <a:t>tính</a:t>
            </a:r>
            <a:endParaRPr lang="en-US" altLang="en-US"/>
          </a:p>
        </p:txBody>
      </p:sp>
      <p:sp>
        <p:nvSpPr>
          <p:cNvPr id="7171" name="Rectangle 3"/>
          <p:cNvSpPr>
            <a:spLocks noGrp="1" noChangeArrowheads="1"/>
          </p:cNvSpPr>
          <p:nvPr>
            <p:ph type="body" sz="quarter" idx="13"/>
          </p:nvPr>
        </p:nvSpPr>
        <p:spPr/>
        <p:txBody>
          <a:bodyPr/>
          <a:lstStyle/>
          <a:p>
            <a:pPr marL="341313" indent="-223838"/>
            <a:r>
              <a:rPr lang="en-US" altLang="en-US">
                <a:cs typeface="Times New Roman" panose="02020603050405020304" pitchFamily="18" charset="0"/>
              </a:rPr>
              <a:t>2.1. </a:t>
            </a:r>
            <a:r>
              <a:rPr lang="en-US" altLang="en-US" err="1">
                <a:cs typeface="Times New Roman" panose="02020603050405020304" pitchFamily="18" charset="0"/>
              </a:rPr>
              <a:t>Mô</a:t>
            </a:r>
            <a:r>
              <a:rPr lang="en-US" altLang="en-US">
                <a:cs typeface="Times New Roman" panose="02020603050405020304" pitchFamily="18" charset="0"/>
              </a:rPr>
              <a:t> </a:t>
            </a:r>
            <a:r>
              <a:rPr lang="en-US" altLang="en-US" err="1">
                <a:cs typeface="Times New Roman" panose="02020603050405020304" pitchFamily="18" charset="0"/>
              </a:rPr>
              <a:t>tả</a:t>
            </a:r>
            <a:r>
              <a:rPr lang="en-US" altLang="en-US">
                <a:cs typeface="Times New Roman" panose="02020603050405020304" pitchFamily="18" charset="0"/>
              </a:rPr>
              <a:t> </a:t>
            </a:r>
          </a:p>
          <a:p>
            <a:pPr marL="839788" lvl="1" indent="-495300"/>
            <a:r>
              <a:rPr lang="en-US" altLang="en-US" err="1">
                <a:cs typeface="Times New Roman" panose="02020603050405020304" pitchFamily="18" charset="0"/>
              </a:rPr>
              <a:t>Mô</a:t>
            </a:r>
            <a:r>
              <a:rPr lang="en-US" altLang="en-US">
                <a:cs typeface="Times New Roman" panose="02020603050405020304" pitchFamily="18" charset="0"/>
              </a:rPr>
              <a:t> </a:t>
            </a:r>
            <a:r>
              <a:rPr lang="en-US" altLang="en-US" err="1">
                <a:cs typeface="Times New Roman" panose="02020603050405020304" pitchFamily="18" charset="0"/>
              </a:rPr>
              <a:t>tả</a:t>
            </a:r>
            <a:r>
              <a:rPr lang="en-US" altLang="en-US">
                <a:cs typeface="Times New Roman" panose="02020603050405020304" pitchFamily="18" charset="0"/>
              </a:rPr>
              <a:t> </a:t>
            </a:r>
            <a:r>
              <a:rPr lang="en-US" altLang="en-US" err="1">
                <a:cs typeface="Times New Roman" panose="02020603050405020304" pitchFamily="18" charset="0"/>
              </a:rPr>
              <a:t>cấu</a:t>
            </a:r>
            <a:r>
              <a:rPr lang="en-US" altLang="en-US">
                <a:cs typeface="Times New Roman" panose="02020603050405020304" pitchFamily="18" charset="0"/>
              </a:rPr>
              <a:t> </a:t>
            </a:r>
            <a:r>
              <a:rPr lang="en-US" altLang="en-US" err="1">
                <a:cs typeface="Times New Roman" panose="02020603050405020304" pitchFamily="18" charset="0"/>
              </a:rPr>
              <a:t>trúc</a:t>
            </a:r>
            <a:endParaRPr lang="en-US" altLang="en-US">
              <a:cs typeface="Times New Roman" panose="02020603050405020304" pitchFamily="18" charset="0"/>
            </a:endParaRPr>
          </a:p>
          <a:p>
            <a:pPr marL="839788" lvl="1" indent="-495300"/>
            <a:r>
              <a:rPr lang="en-US" altLang="en-US" err="1">
                <a:cs typeface="Times New Roman" panose="02020603050405020304" pitchFamily="18" charset="0"/>
              </a:rPr>
              <a:t>Các</a:t>
            </a:r>
            <a:r>
              <a:rPr lang="en-US" altLang="en-US">
                <a:cs typeface="Times New Roman" panose="02020603050405020304" pitchFamily="18" charset="0"/>
              </a:rPr>
              <a:t> </a:t>
            </a:r>
            <a:r>
              <a:rPr lang="en-US" altLang="en-US" err="1">
                <a:cs typeface="Times New Roman" panose="02020603050405020304" pitchFamily="18" charset="0"/>
              </a:rPr>
              <a:t>thao</a:t>
            </a:r>
            <a:r>
              <a:rPr lang="en-US" altLang="en-US">
                <a:cs typeface="Times New Roman" panose="02020603050405020304" pitchFamily="18" charset="0"/>
              </a:rPr>
              <a:t> </a:t>
            </a:r>
            <a:r>
              <a:rPr lang="en-US" altLang="en-US" err="1">
                <a:cs typeface="Times New Roman" panose="02020603050405020304" pitchFamily="18" charset="0"/>
              </a:rPr>
              <a:t>tác</a:t>
            </a:r>
            <a:r>
              <a:rPr lang="en-US" altLang="en-US">
                <a:cs typeface="Times New Roman" panose="02020603050405020304" pitchFamily="18" charset="0"/>
              </a:rPr>
              <a:t> </a:t>
            </a:r>
            <a:r>
              <a:rPr lang="en-US" altLang="en-US" err="1">
                <a:cs typeface="Times New Roman" panose="02020603050405020304" pitchFamily="18" charset="0"/>
              </a:rPr>
              <a:t>trên</a:t>
            </a:r>
            <a:r>
              <a:rPr lang="en-US" altLang="en-US">
                <a:cs typeface="Times New Roman" panose="02020603050405020304" pitchFamily="18" charset="0"/>
              </a:rPr>
              <a:t> </a:t>
            </a:r>
            <a:r>
              <a:rPr lang="en-US" altLang="en-US" err="1">
                <a:cs typeface="Times New Roman" panose="02020603050405020304" pitchFamily="18" charset="0"/>
              </a:rPr>
              <a:t>danh</a:t>
            </a:r>
            <a:r>
              <a:rPr lang="en-US" altLang="en-US">
                <a:cs typeface="Times New Roman" panose="02020603050405020304" pitchFamily="18" charset="0"/>
              </a:rPr>
              <a:t> </a:t>
            </a:r>
            <a:r>
              <a:rPr lang="en-US" altLang="en-US" err="1">
                <a:cs typeface="Times New Roman" panose="02020603050405020304" pitchFamily="18" charset="0"/>
              </a:rPr>
              <a:t>sách</a:t>
            </a:r>
            <a:endParaRPr lang="en-US" altLang="en-US">
              <a:cs typeface="Times New Roman" panose="02020603050405020304" pitchFamily="18" charset="0"/>
            </a:endParaRPr>
          </a:p>
          <a:p>
            <a:pPr marL="839788" lvl="1" indent="-495300"/>
            <a:r>
              <a:rPr lang="en-US" altLang="en-US" err="1">
                <a:cs typeface="Times New Roman" panose="02020603050405020304" pitchFamily="18" charset="0"/>
              </a:rPr>
              <a:t>Các</a:t>
            </a:r>
            <a:r>
              <a:rPr lang="en-US" altLang="en-US">
                <a:cs typeface="Times New Roman" panose="02020603050405020304" pitchFamily="18" charset="0"/>
              </a:rPr>
              <a:t> </a:t>
            </a:r>
            <a:r>
              <a:rPr lang="en-US" altLang="en-US" err="1">
                <a:cs typeface="Times New Roman" panose="02020603050405020304" pitchFamily="18" charset="0"/>
              </a:rPr>
              <a:t>cấu</a:t>
            </a:r>
            <a:r>
              <a:rPr lang="en-US" altLang="en-US">
                <a:cs typeface="Times New Roman" panose="02020603050405020304" pitchFamily="18" charset="0"/>
              </a:rPr>
              <a:t> </a:t>
            </a:r>
            <a:r>
              <a:rPr lang="en-US" altLang="en-US" err="1">
                <a:cs typeface="Times New Roman" panose="02020603050405020304" pitchFamily="18" charset="0"/>
              </a:rPr>
              <a:t>trúc</a:t>
            </a:r>
            <a:r>
              <a:rPr lang="en-US" altLang="en-US">
                <a:cs typeface="Times New Roman" panose="02020603050405020304" pitchFamily="18" charset="0"/>
              </a:rPr>
              <a:t> </a:t>
            </a:r>
            <a:r>
              <a:rPr lang="en-US" altLang="en-US" err="1">
                <a:cs typeface="Times New Roman" panose="02020603050405020304" pitchFamily="18" charset="0"/>
              </a:rPr>
              <a:t>danh</a:t>
            </a:r>
            <a:r>
              <a:rPr lang="en-US" altLang="en-US">
                <a:cs typeface="Times New Roman" panose="02020603050405020304" pitchFamily="18" charset="0"/>
              </a:rPr>
              <a:t> </a:t>
            </a:r>
            <a:r>
              <a:rPr lang="en-US" altLang="en-US" err="1">
                <a:cs typeface="Times New Roman" panose="02020603050405020304" pitchFamily="18" charset="0"/>
              </a:rPr>
              <a:t>sách</a:t>
            </a:r>
            <a:r>
              <a:rPr lang="en-US" altLang="en-US">
                <a:cs typeface="Times New Roman" panose="02020603050405020304" pitchFamily="18" charset="0"/>
              </a:rPr>
              <a:t> </a:t>
            </a:r>
            <a:r>
              <a:rPr lang="en-US" altLang="en-US" err="1">
                <a:cs typeface="Times New Roman" panose="02020603050405020304" pitchFamily="18" charset="0"/>
              </a:rPr>
              <a:t>thông</a:t>
            </a:r>
            <a:r>
              <a:rPr lang="en-US" altLang="en-US">
                <a:cs typeface="Times New Roman" panose="02020603050405020304" pitchFamily="18" charset="0"/>
              </a:rPr>
              <a:t> </a:t>
            </a:r>
            <a:r>
              <a:rPr lang="en-US" altLang="en-US" err="1">
                <a:cs typeface="Times New Roman" panose="02020603050405020304" pitchFamily="18" charset="0"/>
              </a:rPr>
              <a:t>dụng</a:t>
            </a:r>
            <a:endParaRPr lang="en-US" altLang="en-US">
              <a:cs typeface="Times New Roman" panose="02020603050405020304" pitchFamily="18" charset="0"/>
            </a:endParaRPr>
          </a:p>
          <a:p>
            <a:pPr marL="839788" lvl="1" indent="-495300"/>
            <a:r>
              <a:rPr lang="en-US" err="1"/>
              <a:t>Các</a:t>
            </a:r>
            <a:r>
              <a:rPr lang="en-US"/>
              <a:t> </a:t>
            </a:r>
            <a:r>
              <a:rPr lang="en-US" err="1"/>
              <a:t>phương</a:t>
            </a:r>
            <a:r>
              <a:rPr lang="en-US"/>
              <a:t> </a:t>
            </a:r>
            <a:r>
              <a:rPr lang="en-US" err="1"/>
              <a:t>pháp</a:t>
            </a:r>
            <a:r>
              <a:rPr lang="en-US"/>
              <a:t> </a:t>
            </a:r>
            <a:r>
              <a:rPr lang="en-US" err="1"/>
              <a:t>cài</a:t>
            </a:r>
            <a:r>
              <a:rPr lang="en-US"/>
              <a:t> </a:t>
            </a:r>
            <a:r>
              <a:rPr lang="en-US" err="1"/>
              <a:t>đặt</a:t>
            </a:r>
            <a:r>
              <a:rPr lang="en-US"/>
              <a:t> </a:t>
            </a:r>
            <a:r>
              <a:rPr lang="en-US" err="1"/>
              <a:t>danh</a:t>
            </a:r>
            <a:r>
              <a:rPr lang="en-US"/>
              <a:t> </a:t>
            </a:r>
            <a:r>
              <a:rPr lang="en-US" err="1"/>
              <a:t>sách</a:t>
            </a:r>
            <a:r>
              <a:rPr lang="en-US"/>
              <a:t> </a:t>
            </a:r>
          </a:p>
          <a:p>
            <a:pPr marL="341313" indent="-223838"/>
            <a:r>
              <a:rPr lang="en-US" altLang="en-US">
                <a:cs typeface="Times New Roman" panose="02020603050405020304" pitchFamily="18" charset="0"/>
              </a:rPr>
              <a:t>2.2. </a:t>
            </a:r>
            <a:r>
              <a:rPr lang="en-US" err="1">
                <a:cs typeface="Times New Roman" panose="02020603050405020304" pitchFamily="18" charset="0"/>
              </a:rPr>
              <a:t>Cài</a:t>
            </a:r>
            <a:r>
              <a:rPr lang="en-US">
                <a:cs typeface="Times New Roman" panose="02020603050405020304" pitchFamily="18" charset="0"/>
              </a:rPr>
              <a:t> </a:t>
            </a:r>
            <a:r>
              <a:rPr lang="en-US" err="1">
                <a:cs typeface="Times New Roman" panose="02020603050405020304" pitchFamily="18" charset="0"/>
              </a:rPr>
              <a:t>đặt</a:t>
            </a:r>
            <a:r>
              <a:rPr lang="en-US">
                <a:cs typeface="Times New Roman" panose="02020603050405020304" pitchFamily="18" charset="0"/>
              </a:rPr>
              <a:t> </a:t>
            </a:r>
            <a:r>
              <a:rPr lang="en-US" err="1">
                <a:cs typeface="Times New Roman" panose="02020603050405020304" pitchFamily="18" charset="0"/>
              </a:rPr>
              <a:t>danh</a:t>
            </a:r>
            <a:r>
              <a:rPr lang="en-US">
                <a:cs typeface="Times New Roman" panose="02020603050405020304" pitchFamily="18" charset="0"/>
              </a:rPr>
              <a:t> </a:t>
            </a:r>
            <a:r>
              <a:rPr lang="en-US" err="1">
                <a:cs typeface="Times New Roman" panose="02020603050405020304" pitchFamily="18" charset="0"/>
              </a:rPr>
              <a:t>sách</a:t>
            </a:r>
            <a:r>
              <a:rPr lang="en-US">
                <a:cs typeface="Times New Roman" panose="02020603050405020304" pitchFamily="18" charset="0"/>
              </a:rPr>
              <a:t> </a:t>
            </a:r>
            <a:r>
              <a:rPr lang="en-US" err="1">
                <a:cs typeface="Times New Roman" panose="02020603050405020304" pitchFamily="18" charset="0"/>
              </a:rPr>
              <a:t>bằng</a:t>
            </a:r>
            <a:r>
              <a:rPr lang="en-US">
                <a:cs typeface="Times New Roman" panose="02020603050405020304" pitchFamily="18" charset="0"/>
              </a:rPr>
              <a:t> </a:t>
            </a:r>
            <a:r>
              <a:rPr lang="en-US" err="1">
                <a:cs typeface="Times New Roman" panose="02020603050405020304" pitchFamily="18" charset="0"/>
              </a:rPr>
              <a:t>cấu</a:t>
            </a:r>
            <a:r>
              <a:rPr lang="en-US">
                <a:cs typeface="Times New Roman" panose="02020603050405020304" pitchFamily="18" charset="0"/>
              </a:rPr>
              <a:t> </a:t>
            </a:r>
            <a:r>
              <a:rPr lang="en-US" err="1">
                <a:cs typeface="Times New Roman" panose="02020603050405020304" pitchFamily="18" charset="0"/>
              </a:rPr>
              <a:t>trúc</a:t>
            </a:r>
            <a:r>
              <a:rPr lang="en-US">
                <a:cs typeface="Times New Roman" panose="02020603050405020304" pitchFamily="18" charset="0"/>
              </a:rPr>
              <a:t> </a:t>
            </a:r>
            <a:r>
              <a:rPr lang="en-US" err="1">
                <a:cs typeface="Times New Roman" panose="02020603050405020304" pitchFamily="18" charset="0"/>
              </a:rPr>
              <a:t>lưu</a:t>
            </a:r>
            <a:r>
              <a:rPr lang="en-US">
                <a:cs typeface="Times New Roman" panose="02020603050405020304" pitchFamily="18" charset="0"/>
              </a:rPr>
              <a:t> </a:t>
            </a:r>
            <a:r>
              <a:rPr lang="en-US" err="1">
                <a:cs typeface="Times New Roman" panose="02020603050405020304" pitchFamily="18" charset="0"/>
              </a:rPr>
              <a:t>trữ</a:t>
            </a:r>
            <a:r>
              <a:rPr lang="en-US">
                <a:cs typeface="Times New Roman" panose="02020603050405020304" pitchFamily="18" charset="0"/>
              </a:rPr>
              <a:t> </a:t>
            </a:r>
            <a:r>
              <a:rPr lang="en-US" err="1">
                <a:cs typeface="Times New Roman" panose="02020603050405020304" pitchFamily="18" charset="0"/>
              </a:rPr>
              <a:t>tuần</a:t>
            </a:r>
            <a:r>
              <a:rPr lang="en-US">
                <a:cs typeface="Times New Roman" panose="02020603050405020304" pitchFamily="18" charset="0"/>
              </a:rPr>
              <a:t> </a:t>
            </a:r>
            <a:r>
              <a:rPr lang="en-US" err="1">
                <a:cs typeface="Times New Roman" panose="02020603050405020304" pitchFamily="18" charset="0"/>
              </a:rPr>
              <a:t>tự</a:t>
            </a:r>
            <a:r>
              <a:rPr lang="en-US">
                <a:cs typeface="Times New Roman" panose="02020603050405020304" pitchFamily="18" charset="0"/>
              </a:rPr>
              <a:t> </a:t>
            </a:r>
          </a:p>
          <a:p>
            <a:pPr marL="341313" indent="-223838"/>
            <a:r>
              <a:rPr lang="en-US" altLang="en-US">
                <a:cs typeface="Times New Roman" panose="02020603050405020304" pitchFamily="18" charset="0"/>
              </a:rPr>
              <a:t>2.3. </a:t>
            </a:r>
            <a:r>
              <a:rPr lang="en-US" err="1">
                <a:cs typeface="Times New Roman" panose="02020603050405020304" pitchFamily="18" charset="0"/>
              </a:rPr>
              <a:t>Cài</a:t>
            </a:r>
            <a:r>
              <a:rPr lang="en-US">
                <a:cs typeface="Times New Roman" panose="02020603050405020304" pitchFamily="18" charset="0"/>
              </a:rPr>
              <a:t> </a:t>
            </a:r>
            <a:r>
              <a:rPr lang="en-US" err="1">
                <a:cs typeface="Times New Roman" panose="02020603050405020304" pitchFamily="18" charset="0"/>
              </a:rPr>
              <a:t>đặt</a:t>
            </a:r>
            <a:r>
              <a:rPr lang="en-US">
                <a:cs typeface="Times New Roman" panose="02020603050405020304" pitchFamily="18" charset="0"/>
              </a:rPr>
              <a:t> </a:t>
            </a:r>
            <a:r>
              <a:rPr lang="en-US" err="1">
                <a:cs typeface="Times New Roman" panose="02020603050405020304" pitchFamily="18" charset="0"/>
              </a:rPr>
              <a:t>danh</a:t>
            </a:r>
            <a:r>
              <a:rPr lang="en-US">
                <a:cs typeface="Times New Roman" panose="02020603050405020304" pitchFamily="18" charset="0"/>
              </a:rPr>
              <a:t> </a:t>
            </a:r>
            <a:r>
              <a:rPr lang="en-US" err="1">
                <a:cs typeface="Times New Roman" panose="02020603050405020304" pitchFamily="18" charset="0"/>
              </a:rPr>
              <a:t>sách</a:t>
            </a:r>
            <a:r>
              <a:rPr lang="en-US">
                <a:cs typeface="Times New Roman" panose="02020603050405020304" pitchFamily="18" charset="0"/>
              </a:rPr>
              <a:t> </a:t>
            </a:r>
            <a:r>
              <a:rPr lang="en-US" err="1">
                <a:cs typeface="Times New Roman" panose="02020603050405020304" pitchFamily="18" charset="0"/>
              </a:rPr>
              <a:t>bằng</a:t>
            </a:r>
            <a:r>
              <a:rPr lang="en-US">
                <a:cs typeface="Times New Roman" panose="02020603050405020304" pitchFamily="18" charset="0"/>
              </a:rPr>
              <a:t> </a:t>
            </a:r>
            <a:r>
              <a:rPr lang="en-US" err="1">
                <a:cs typeface="Times New Roman" panose="02020603050405020304" pitchFamily="18" charset="0"/>
              </a:rPr>
              <a:t>cấu</a:t>
            </a:r>
            <a:r>
              <a:rPr lang="en-US">
                <a:cs typeface="Times New Roman" panose="02020603050405020304" pitchFamily="18" charset="0"/>
              </a:rPr>
              <a:t> </a:t>
            </a:r>
            <a:r>
              <a:rPr lang="en-US" err="1">
                <a:cs typeface="Times New Roman" panose="02020603050405020304" pitchFamily="18" charset="0"/>
              </a:rPr>
              <a:t>trúc</a:t>
            </a:r>
            <a:r>
              <a:rPr lang="en-US">
                <a:cs typeface="Times New Roman" panose="02020603050405020304" pitchFamily="18" charset="0"/>
              </a:rPr>
              <a:t> </a:t>
            </a:r>
            <a:r>
              <a:rPr lang="en-US" err="1">
                <a:cs typeface="Times New Roman" panose="02020603050405020304" pitchFamily="18" charset="0"/>
              </a:rPr>
              <a:t>lưu</a:t>
            </a:r>
            <a:r>
              <a:rPr lang="en-US">
                <a:cs typeface="Times New Roman" panose="02020603050405020304" pitchFamily="18" charset="0"/>
              </a:rPr>
              <a:t> </a:t>
            </a:r>
            <a:r>
              <a:rPr lang="en-US" err="1">
                <a:cs typeface="Times New Roman" panose="02020603050405020304" pitchFamily="18" charset="0"/>
              </a:rPr>
              <a:t>trữ</a:t>
            </a:r>
            <a:r>
              <a:rPr lang="en-US">
                <a:cs typeface="Times New Roman" panose="02020603050405020304" pitchFamily="18" charset="0"/>
              </a:rPr>
              <a:t> </a:t>
            </a:r>
            <a:r>
              <a:rPr lang="en-US" err="1">
                <a:cs typeface="Times New Roman" panose="02020603050405020304" pitchFamily="18" charset="0"/>
              </a:rPr>
              <a:t>móc</a:t>
            </a:r>
            <a:r>
              <a:rPr lang="en-US">
                <a:cs typeface="Times New Roman" panose="02020603050405020304" pitchFamily="18" charset="0"/>
              </a:rPr>
              <a:t> </a:t>
            </a:r>
            <a:r>
              <a:rPr lang="en-US" err="1">
                <a:cs typeface="Times New Roman" panose="02020603050405020304" pitchFamily="18" charset="0"/>
              </a:rPr>
              <a:t>nối</a:t>
            </a:r>
            <a:r>
              <a:rPr lang="en-US">
                <a:cs typeface="Times New Roman" panose="02020603050405020304" pitchFamily="18" charset="0"/>
              </a:rPr>
              <a:t> </a:t>
            </a:r>
            <a:endParaRPr lang="en-US" altLang="en-US">
              <a:cs typeface="Times New Roman" panose="02020603050405020304" pitchFamily="18" charset="0"/>
            </a:endParaRPr>
          </a:p>
        </p:txBody>
      </p:sp>
    </p:spTree>
    <p:extLst>
      <p:ext uri="{BB962C8B-B14F-4D97-AF65-F5344CB8AC3E}">
        <p14:creationId xmlns:p14="http://schemas.microsoft.com/office/powerpoint/2010/main" val="3303917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r>
              <a:rPr lang="en-US" altLang="en-US">
                <a:cs typeface="Times New Roman" panose="02020603050405020304" pitchFamily="18" charset="0"/>
              </a:rPr>
              <a:t>2.1. </a:t>
            </a:r>
            <a:r>
              <a:rPr lang="en-US" altLang="en-US" err="1">
                <a:cs typeface="Times New Roman" panose="02020603050405020304" pitchFamily="18" charset="0"/>
              </a:rPr>
              <a:t>Mô</a:t>
            </a:r>
            <a:r>
              <a:rPr lang="en-US" altLang="en-US">
                <a:cs typeface="Times New Roman" panose="02020603050405020304" pitchFamily="18" charset="0"/>
              </a:rPr>
              <a:t> </a:t>
            </a:r>
            <a:r>
              <a:rPr lang="en-US" altLang="en-US" err="1">
                <a:cs typeface="Times New Roman" panose="02020603050405020304" pitchFamily="18" charset="0"/>
              </a:rPr>
              <a:t>tả</a:t>
            </a:r>
            <a:r>
              <a:rPr lang="en-US" altLang="en-US">
                <a:cs typeface="Times New Roman" panose="02020603050405020304" pitchFamily="18" charset="0"/>
              </a:rPr>
              <a:t> </a:t>
            </a:r>
            <a:br>
              <a:rPr lang="en-US" altLang="en-US" i="1">
                <a:cs typeface="Times New Roman" panose="02020603050405020304" pitchFamily="18" charset="0"/>
              </a:rPr>
            </a:br>
            <a:r>
              <a:rPr lang="en-US" altLang="en-US" i="1" err="1"/>
              <a:t>Mô</a:t>
            </a:r>
            <a:r>
              <a:rPr lang="en-US" altLang="en-US" i="1"/>
              <a:t> </a:t>
            </a:r>
            <a:r>
              <a:rPr lang="en-US" altLang="en-US" i="1" err="1"/>
              <a:t>tả</a:t>
            </a:r>
            <a:r>
              <a:rPr lang="en-US" altLang="en-US" i="1"/>
              <a:t> </a:t>
            </a:r>
            <a:r>
              <a:rPr lang="en-US" altLang="en-US" i="1" err="1">
                <a:cs typeface="Times New Roman" panose="02020603050405020304" pitchFamily="18" charset="0"/>
              </a:rPr>
              <a:t>cấu</a:t>
            </a:r>
            <a:r>
              <a:rPr lang="en-US" altLang="en-US" i="1">
                <a:cs typeface="Times New Roman" panose="02020603050405020304" pitchFamily="18" charset="0"/>
              </a:rPr>
              <a:t> </a:t>
            </a:r>
            <a:r>
              <a:rPr lang="en-US" altLang="en-US" i="1" err="1">
                <a:cs typeface="Times New Roman" panose="02020603050405020304" pitchFamily="18" charset="0"/>
              </a:rPr>
              <a:t>trúc</a:t>
            </a:r>
            <a:endParaRPr lang="en-US" altLang="en-US" i="1">
              <a:latin typeface=".VnTime" pitchFamily="34" charset="0"/>
              <a:cs typeface="Times New Roman" panose="02020603050405020304" pitchFamily="18" charset="0"/>
            </a:endParaRPr>
          </a:p>
        </p:txBody>
      </p:sp>
      <p:sp>
        <p:nvSpPr>
          <p:cNvPr id="8195" name="Rectangle 3"/>
          <p:cNvSpPr>
            <a:spLocks noGrp="1" noChangeArrowheads="1"/>
          </p:cNvSpPr>
          <p:nvPr>
            <p:ph type="body" sz="quarter" idx="13"/>
          </p:nvPr>
        </p:nvSpPr>
        <p:spPr/>
        <p:txBody>
          <a:bodyPr/>
          <a:lstStyle/>
          <a:p>
            <a:pPr algn="just">
              <a:lnSpc>
                <a:spcPct val="90000"/>
              </a:lnSpc>
            </a:pPr>
            <a:r>
              <a:rPr lang="en-US" altLang="en-US" sz="2300" err="1">
                <a:cs typeface="Times New Roman" panose="02020603050405020304" pitchFamily="18" charset="0"/>
              </a:rPr>
              <a:t>Danh</a:t>
            </a:r>
            <a:r>
              <a:rPr lang="en-US" altLang="en-US" sz="2300">
                <a:cs typeface="Times New Roman" panose="02020603050405020304" pitchFamily="18" charset="0"/>
              </a:rPr>
              <a:t> </a:t>
            </a:r>
            <a:r>
              <a:rPr lang="en-US" altLang="en-US" sz="2300" err="1">
                <a:cs typeface="Times New Roman" panose="02020603050405020304" pitchFamily="18" charset="0"/>
              </a:rPr>
              <a:t>sách</a:t>
            </a:r>
            <a:r>
              <a:rPr lang="en-US" altLang="en-US" sz="2300">
                <a:cs typeface="Times New Roman" panose="02020603050405020304" pitchFamily="18" charset="0"/>
              </a:rPr>
              <a:t> </a:t>
            </a:r>
            <a:r>
              <a:rPr lang="en-US" altLang="en-US" sz="2300" err="1">
                <a:cs typeface="Times New Roman" panose="02020603050405020304" pitchFamily="18" charset="0"/>
              </a:rPr>
              <a:t>tuyến</a:t>
            </a:r>
            <a:r>
              <a:rPr lang="en-US" altLang="en-US" sz="2300">
                <a:cs typeface="Times New Roman" panose="02020603050405020304" pitchFamily="18" charset="0"/>
              </a:rPr>
              <a:t> </a:t>
            </a:r>
            <a:r>
              <a:rPr lang="en-US" altLang="en-US" sz="2300" err="1">
                <a:cs typeface="Times New Roman" panose="02020603050405020304" pitchFamily="18" charset="0"/>
              </a:rPr>
              <a:t>tính</a:t>
            </a:r>
            <a:r>
              <a:rPr lang="en-US" altLang="en-US" sz="2300">
                <a:cs typeface="Times New Roman" panose="02020603050405020304" pitchFamily="18" charset="0"/>
              </a:rPr>
              <a:t>: CTDL </a:t>
            </a:r>
            <a:r>
              <a:rPr lang="en-US" altLang="en-US" sz="2300" err="1">
                <a:cs typeface="Times New Roman" panose="02020603050405020304" pitchFamily="18" charset="0"/>
              </a:rPr>
              <a:t>gồm</a:t>
            </a:r>
            <a:r>
              <a:rPr lang="en-US" altLang="en-US" sz="2300">
                <a:cs typeface="Times New Roman" panose="02020603050405020304" pitchFamily="18" charset="0"/>
              </a:rPr>
              <a:t> </a:t>
            </a:r>
            <a:r>
              <a:rPr lang="en-US" altLang="en-US" sz="2300" err="1">
                <a:cs typeface="Times New Roman" panose="02020603050405020304" pitchFamily="18" charset="0"/>
              </a:rPr>
              <a:t>một</a:t>
            </a:r>
            <a:r>
              <a:rPr lang="en-US" altLang="en-US" sz="2300">
                <a:cs typeface="Times New Roman" panose="02020603050405020304" pitchFamily="18" charset="0"/>
              </a:rPr>
              <a:t> hay </a:t>
            </a:r>
            <a:r>
              <a:rPr lang="en-US" altLang="en-US" sz="2300" err="1">
                <a:cs typeface="Times New Roman" panose="02020603050405020304" pitchFamily="18" charset="0"/>
              </a:rPr>
              <a:t>nhiều</a:t>
            </a:r>
            <a:r>
              <a:rPr lang="en-US" altLang="en-US" sz="2300">
                <a:cs typeface="Times New Roman" panose="02020603050405020304" pitchFamily="18" charset="0"/>
              </a:rPr>
              <a:t> </a:t>
            </a:r>
            <a:r>
              <a:rPr lang="en-US" altLang="en-US" sz="2300" err="1">
                <a:cs typeface="Times New Roman" panose="02020603050405020304" pitchFamily="18" charset="0"/>
              </a:rPr>
              <a:t>phần</a:t>
            </a:r>
            <a:r>
              <a:rPr lang="en-US" altLang="en-US" sz="2300">
                <a:cs typeface="Times New Roman" panose="02020603050405020304" pitchFamily="18" charset="0"/>
              </a:rPr>
              <a:t> </a:t>
            </a:r>
            <a:r>
              <a:rPr lang="en-US" altLang="en-US" sz="2300" err="1">
                <a:cs typeface="Times New Roman" panose="02020603050405020304" pitchFamily="18" charset="0"/>
              </a:rPr>
              <a:t>tử</a:t>
            </a:r>
            <a:r>
              <a:rPr lang="en-US" altLang="en-US" sz="2300">
                <a:cs typeface="Times New Roman" panose="02020603050405020304" pitchFamily="18" charset="0"/>
              </a:rPr>
              <a:t> </a:t>
            </a:r>
            <a:r>
              <a:rPr lang="en-US" altLang="en-US" sz="2300" err="1">
                <a:cs typeface="Times New Roman" panose="02020603050405020304" pitchFamily="18" charset="0"/>
              </a:rPr>
              <a:t>cùng</a:t>
            </a:r>
            <a:r>
              <a:rPr lang="en-US" altLang="en-US" sz="2300">
                <a:cs typeface="Times New Roman" panose="02020603050405020304" pitchFamily="18" charset="0"/>
              </a:rPr>
              <a:t> </a:t>
            </a:r>
            <a:r>
              <a:rPr lang="en-US" altLang="en-US" sz="2300" err="1">
                <a:cs typeface="Times New Roman" panose="02020603050405020304" pitchFamily="18" charset="0"/>
              </a:rPr>
              <a:t>kiểu</a:t>
            </a:r>
            <a:r>
              <a:rPr lang="en-US" altLang="en-US" sz="2300">
                <a:cs typeface="Times New Roman" panose="02020603050405020304" pitchFamily="18" charset="0"/>
              </a:rPr>
              <a:t> </a:t>
            </a:r>
            <a:r>
              <a:rPr lang="en-US" altLang="en-US" sz="2300" err="1">
                <a:cs typeface="Times New Roman" panose="02020603050405020304" pitchFamily="18" charset="0"/>
              </a:rPr>
              <a:t>dữ</a:t>
            </a:r>
            <a:r>
              <a:rPr lang="en-US" altLang="en-US" sz="2300">
                <a:cs typeface="Times New Roman" panose="02020603050405020304" pitchFamily="18" charset="0"/>
              </a:rPr>
              <a:t> </a:t>
            </a:r>
            <a:r>
              <a:rPr lang="en-US" altLang="en-US" sz="2300" err="1">
                <a:cs typeface="Times New Roman" panose="02020603050405020304" pitchFamily="18" charset="0"/>
              </a:rPr>
              <a:t>liệu</a:t>
            </a:r>
            <a:r>
              <a:rPr lang="en-US" altLang="en-US" sz="2300">
                <a:cs typeface="Times New Roman" panose="02020603050405020304" pitchFamily="18" charset="0"/>
              </a:rPr>
              <a:t> </a:t>
            </a:r>
            <a:r>
              <a:rPr lang="en-US" altLang="en-US" sz="2300" err="1">
                <a:cs typeface="Times New Roman" panose="02020603050405020304" pitchFamily="18" charset="0"/>
              </a:rPr>
              <a:t>và</a:t>
            </a:r>
            <a:r>
              <a:rPr lang="en-US" altLang="en-US" sz="2300">
                <a:cs typeface="Times New Roman" panose="02020603050405020304" pitchFamily="18" charset="0"/>
              </a:rPr>
              <a:t> </a:t>
            </a:r>
            <a:r>
              <a:rPr lang="en-US" altLang="en-US" sz="2300" err="1">
                <a:cs typeface="Times New Roman" panose="02020603050405020304" pitchFamily="18" charset="0"/>
              </a:rPr>
              <a:t>tồn</a:t>
            </a:r>
            <a:r>
              <a:rPr lang="en-US" altLang="en-US" sz="2300">
                <a:cs typeface="Times New Roman" panose="02020603050405020304" pitchFamily="18" charset="0"/>
              </a:rPr>
              <a:t> </a:t>
            </a:r>
            <a:r>
              <a:rPr lang="en-US" altLang="en-US" sz="2300" err="1">
                <a:cs typeface="Times New Roman" panose="02020603050405020304" pitchFamily="18" charset="0"/>
              </a:rPr>
              <a:t>tại</a:t>
            </a:r>
            <a:r>
              <a:rPr lang="en-US" altLang="en-US" sz="2300">
                <a:cs typeface="Times New Roman" panose="02020603050405020304" pitchFamily="18" charset="0"/>
              </a:rPr>
              <a:t> </a:t>
            </a:r>
            <a:r>
              <a:rPr lang="en-US" altLang="en-US" sz="2300" err="1">
                <a:cs typeface="Times New Roman" panose="02020603050405020304" pitchFamily="18" charset="0"/>
              </a:rPr>
              <a:t>một</a:t>
            </a:r>
            <a:r>
              <a:rPr lang="en-US" altLang="en-US" sz="2300">
                <a:cs typeface="Times New Roman" panose="02020603050405020304" pitchFamily="18" charset="0"/>
              </a:rPr>
              <a:t> </a:t>
            </a:r>
            <a:r>
              <a:rPr lang="en-US" altLang="en-US" sz="2300" err="1">
                <a:cs typeface="Times New Roman" panose="02020603050405020304" pitchFamily="18" charset="0"/>
              </a:rPr>
              <a:t>trật</a:t>
            </a:r>
            <a:r>
              <a:rPr lang="en-US" altLang="en-US" sz="2300">
                <a:cs typeface="Times New Roman" panose="02020603050405020304" pitchFamily="18" charset="0"/>
              </a:rPr>
              <a:t> </a:t>
            </a:r>
            <a:r>
              <a:rPr lang="en-US" altLang="en-US" sz="2300" err="1">
                <a:cs typeface="Times New Roman" panose="02020603050405020304" pitchFamily="18" charset="0"/>
              </a:rPr>
              <a:t>tự</a:t>
            </a:r>
            <a:r>
              <a:rPr lang="en-US" altLang="en-US" sz="2300">
                <a:cs typeface="Times New Roman" panose="02020603050405020304" pitchFamily="18" charset="0"/>
              </a:rPr>
              <a:t> </a:t>
            </a:r>
            <a:r>
              <a:rPr lang="en-US" altLang="en-US" sz="2300" err="1">
                <a:cs typeface="Times New Roman" panose="02020603050405020304" pitchFamily="18" charset="0"/>
              </a:rPr>
              <a:t>tuyến</a:t>
            </a:r>
            <a:r>
              <a:rPr lang="en-US" altLang="en-US" sz="2300">
                <a:cs typeface="Times New Roman" panose="02020603050405020304" pitchFamily="18" charset="0"/>
              </a:rPr>
              <a:t> </a:t>
            </a:r>
            <a:r>
              <a:rPr lang="en-US" altLang="en-US" sz="2300" err="1">
                <a:cs typeface="Times New Roman" panose="02020603050405020304" pitchFamily="18" charset="0"/>
              </a:rPr>
              <a:t>tính</a:t>
            </a:r>
            <a:r>
              <a:rPr lang="en-US" altLang="en-US" sz="2300">
                <a:cs typeface="Times New Roman" panose="02020603050405020304" pitchFamily="18" charset="0"/>
              </a:rPr>
              <a:t> </a:t>
            </a:r>
            <a:r>
              <a:rPr lang="en-US" altLang="en-US" sz="2300" err="1">
                <a:cs typeface="Times New Roman" panose="02020603050405020304" pitchFamily="18" charset="0"/>
              </a:rPr>
              <a:t>giữa</a:t>
            </a:r>
            <a:r>
              <a:rPr lang="en-US" altLang="en-US" sz="2300">
                <a:cs typeface="Times New Roman" panose="02020603050405020304" pitchFamily="18" charset="0"/>
              </a:rPr>
              <a:t> </a:t>
            </a:r>
            <a:r>
              <a:rPr lang="en-US" altLang="en-US" sz="2300" err="1">
                <a:cs typeface="Times New Roman" panose="02020603050405020304" pitchFamily="18" charset="0"/>
              </a:rPr>
              <a:t>các</a:t>
            </a:r>
            <a:r>
              <a:rPr lang="en-US" altLang="en-US" sz="2300">
                <a:cs typeface="Times New Roman" panose="02020603050405020304" pitchFamily="18" charset="0"/>
              </a:rPr>
              <a:t> </a:t>
            </a:r>
            <a:r>
              <a:rPr lang="en-US" altLang="en-US" sz="2300" err="1">
                <a:cs typeface="Times New Roman" panose="02020603050405020304" pitchFamily="18" charset="0"/>
              </a:rPr>
              <a:t>phần</a:t>
            </a:r>
            <a:r>
              <a:rPr lang="en-US" altLang="en-US" sz="2300">
                <a:cs typeface="Times New Roman" panose="02020603050405020304" pitchFamily="18" charset="0"/>
              </a:rPr>
              <a:t> </a:t>
            </a:r>
            <a:r>
              <a:rPr lang="en-US" altLang="en-US" sz="2300" err="1">
                <a:cs typeface="Times New Roman" panose="02020603050405020304" pitchFamily="18" charset="0"/>
              </a:rPr>
              <a:t>tử</a:t>
            </a:r>
            <a:r>
              <a:rPr lang="en-US" altLang="en-US" sz="2300">
                <a:cs typeface="Times New Roman" panose="02020603050405020304" pitchFamily="18" charset="0"/>
              </a:rPr>
              <a:t>. </a:t>
            </a:r>
            <a:endParaRPr lang="en-US" altLang="en-US" sz="2300">
              <a:latin typeface=".VnTime" pitchFamily="34" charset="0"/>
              <a:cs typeface="Times New Roman" panose="02020603050405020304" pitchFamily="18" charset="0"/>
            </a:endParaRPr>
          </a:p>
          <a:p>
            <a:pPr algn="just">
              <a:lnSpc>
                <a:spcPct val="120000"/>
              </a:lnSpc>
            </a:pPr>
            <a:r>
              <a:rPr lang="en-US" altLang="en-US" sz="2300" err="1">
                <a:cs typeface="Times New Roman" panose="02020603050405020304" pitchFamily="18" charset="0"/>
              </a:rPr>
              <a:t>Kí</a:t>
            </a:r>
            <a:r>
              <a:rPr lang="en-US" altLang="en-US" sz="2300">
                <a:cs typeface="Times New Roman" panose="02020603050405020304" pitchFamily="18" charset="0"/>
              </a:rPr>
              <a:t> </a:t>
            </a:r>
            <a:r>
              <a:rPr lang="en-US" altLang="en-US" sz="2300" err="1">
                <a:cs typeface="Times New Roman" panose="02020603050405020304" pitchFamily="18" charset="0"/>
              </a:rPr>
              <a:t>hiệu</a:t>
            </a:r>
            <a:r>
              <a:rPr lang="en-US" altLang="en-US" sz="2300">
                <a:cs typeface="Times New Roman" panose="02020603050405020304" pitchFamily="18" charset="0"/>
              </a:rPr>
              <a:t>: </a:t>
            </a:r>
            <a:r>
              <a:rPr lang="en-US" altLang="en-US" sz="2300">
                <a:latin typeface="Courier New" panose="02070309020205020404" pitchFamily="49" charset="0"/>
                <a:cs typeface="Courier New" panose="02070309020205020404" pitchFamily="49" charset="0"/>
              </a:rPr>
              <a:t>L = &lt;x</a:t>
            </a:r>
            <a:r>
              <a:rPr lang="en-US" altLang="en-US" sz="2300" baseline="-30000">
                <a:latin typeface="Courier New" panose="02070309020205020404" pitchFamily="49" charset="0"/>
                <a:cs typeface="Courier New" panose="02070309020205020404" pitchFamily="49" charset="0"/>
              </a:rPr>
              <a:t>1</a:t>
            </a:r>
            <a:r>
              <a:rPr lang="en-US" altLang="en-US" sz="2300">
                <a:latin typeface="Courier New" panose="02070309020205020404" pitchFamily="49" charset="0"/>
                <a:cs typeface="Courier New" panose="02070309020205020404" pitchFamily="49" charset="0"/>
              </a:rPr>
              <a:t>,x</a:t>
            </a:r>
            <a:r>
              <a:rPr lang="en-US" altLang="en-US" sz="2300" baseline="-30000">
                <a:latin typeface="Courier New" panose="02070309020205020404" pitchFamily="49" charset="0"/>
                <a:cs typeface="Courier New" panose="02070309020205020404" pitchFamily="49" charset="0"/>
              </a:rPr>
              <a:t>2</a:t>
            </a:r>
            <a:r>
              <a:rPr lang="en-US" altLang="en-US" sz="2300">
                <a:latin typeface="Courier New" panose="02070309020205020404" pitchFamily="49" charset="0"/>
                <a:cs typeface="Courier New" panose="02070309020205020404" pitchFamily="49" charset="0"/>
              </a:rPr>
              <a:t>,...,</a:t>
            </a:r>
            <a:r>
              <a:rPr lang="en-US" altLang="en-US" sz="2300" err="1">
                <a:latin typeface="Courier New" panose="02070309020205020404" pitchFamily="49" charset="0"/>
                <a:cs typeface="Courier New" panose="02070309020205020404" pitchFamily="49" charset="0"/>
              </a:rPr>
              <a:t>x</a:t>
            </a:r>
            <a:r>
              <a:rPr lang="en-US" altLang="en-US" sz="2300" baseline="-25000" err="1">
                <a:latin typeface="Courier New" panose="02070309020205020404" pitchFamily="49" charset="0"/>
                <a:cs typeface="Courier New" panose="02070309020205020404" pitchFamily="49" charset="0"/>
              </a:rPr>
              <a:t>n</a:t>
            </a:r>
            <a:r>
              <a:rPr lang="en-US" altLang="en-US" sz="2300">
                <a:latin typeface="Courier New" panose="02070309020205020404" pitchFamily="49" charset="0"/>
                <a:cs typeface="Courier New" panose="02070309020205020404" pitchFamily="49" charset="0"/>
              </a:rPr>
              <a:t>&gt;</a:t>
            </a:r>
          </a:p>
          <a:p>
            <a:pPr lvl="1" algn="just">
              <a:lnSpc>
                <a:spcPct val="120000"/>
              </a:lnSpc>
            </a:pPr>
            <a:r>
              <a:rPr lang="en-US" altLang="en-US" sz="2100">
                <a:latin typeface="Courier New" panose="02070309020205020404" pitchFamily="49" charset="0"/>
                <a:cs typeface="Courier New" panose="02070309020205020404" pitchFamily="49" charset="0"/>
              </a:rPr>
              <a:t>n </a:t>
            </a:r>
            <a:r>
              <a:rPr lang="en-US" altLang="en-US" sz="2100">
                <a:latin typeface="Courier New" panose="02070309020205020404" pitchFamily="49" charset="0"/>
                <a:cs typeface="Courier New" panose="02070309020205020404" pitchFamily="49" charset="0"/>
                <a:sym typeface="Symbol" panose="05050102010706020507" pitchFamily="18" charset="2"/>
              </a:rPr>
              <a:t></a:t>
            </a:r>
            <a:r>
              <a:rPr lang="en-US" altLang="en-US" sz="2100">
                <a:latin typeface="Courier New" panose="02070309020205020404" pitchFamily="49" charset="0"/>
                <a:cs typeface="Courier New" panose="02070309020205020404" pitchFamily="49" charset="0"/>
              </a:rPr>
              <a:t> 1 </a:t>
            </a:r>
            <a:r>
              <a:rPr lang="en-US" altLang="en-US" sz="2100" err="1">
                <a:cs typeface="Times New Roman" panose="02020603050405020304" pitchFamily="18" charset="0"/>
              </a:rPr>
              <a:t>và</a:t>
            </a:r>
            <a:r>
              <a:rPr lang="en-US" altLang="en-US" sz="2100">
                <a:cs typeface="Times New Roman" panose="02020603050405020304" pitchFamily="18" charset="0"/>
              </a:rPr>
              <a:t> </a:t>
            </a:r>
            <a:r>
              <a:rPr lang="en-US" altLang="en-US" sz="2100">
                <a:latin typeface="Courier New" panose="02070309020205020404" pitchFamily="49" charset="0"/>
                <a:cs typeface="Courier New" panose="02070309020205020404" pitchFamily="49" charset="0"/>
              </a:rPr>
              <a:t>x</a:t>
            </a:r>
            <a:r>
              <a:rPr lang="en-US" altLang="en-US" sz="2100" baseline="-30000">
                <a:latin typeface="Courier New" panose="02070309020205020404" pitchFamily="49" charset="0"/>
                <a:cs typeface="Courier New" panose="02070309020205020404" pitchFamily="49" charset="0"/>
              </a:rPr>
              <a:t>1</a:t>
            </a:r>
            <a:r>
              <a:rPr lang="en-US" altLang="en-US" sz="2100">
                <a:latin typeface="Courier New" panose="02070309020205020404" pitchFamily="49" charset="0"/>
                <a:cs typeface="Courier New" panose="02070309020205020404" pitchFamily="49" charset="0"/>
              </a:rPr>
              <a:t>,x</a:t>
            </a:r>
            <a:r>
              <a:rPr lang="en-US" altLang="en-US" sz="2100" baseline="-30000">
                <a:latin typeface="Courier New" panose="02070309020205020404" pitchFamily="49" charset="0"/>
                <a:cs typeface="Courier New" panose="02070309020205020404" pitchFamily="49" charset="0"/>
              </a:rPr>
              <a:t>2</a:t>
            </a:r>
            <a:r>
              <a:rPr lang="en-US" altLang="en-US" sz="2100">
                <a:latin typeface="Courier New" panose="02070309020205020404" pitchFamily="49" charset="0"/>
                <a:cs typeface="Courier New" panose="02070309020205020404" pitchFamily="49" charset="0"/>
              </a:rPr>
              <a:t>,...,</a:t>
            </a:r>
            <a:r>
              <a:rPr lang="en-US" altLang="en-US" sz="2100" err="1">
                <a:latin typeface="Courier New" panose="02070309020205020404" pitchFamily="49" charset="0"/>
                <a:cs typeface="Courier New" panose="02070309020205020404" pitchFamily="49" charset="0"/>
              </a:rPr>
              <a:t>x</a:t>
            </a:r>
            <a:r>
              <a:rPr lang="en-US" altLang="en-US" sz="2100" baseline="-25000" err="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 </a:t>
            </a:r>
            <a:r>
              <a:rPr lang="en-US" altLang="en-US" sz="2100" err="1">
                <a:cs typeface="Times New Roman" panose="02020603050405020304" pitchFamily="18" charset="0"/>
              </a:rPr>
              <a:t>là</a:t>
            </a:r>
            <a:r>
              <a:rPr lang="en-US" altLang="en-US" sz="2100">
                <a:cs typeface="Times New Roman" panose="02020603050405020304" pitchFamily="18" charset="0"/>
              </a:rPr>
              <a:t> </a:t>
            </a:r>
            <a:r>
              <a:rPr lang="en-US" altLang="en-US" sz="2100" err="1">
                <a:cs typeface="Times New Roman" panose="02020603050405020304" pitchFamily="18" charset="0"/>
              </a:rPr>
              <a:t>các</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danh</a:t>
            </a:r>
            <a:r>
              <a:rPr lang="en-US" altLang="en-US" sz="2100">
                <a:cs typeface="Times New Roman" panose="02020603050405020304" pitchFamily="18" charset="0"/>
              </a:rPr>
              <a:t> </a:t>
            </a:r>
            <a:r>
              <a:rPr lang="en-US" altLang="en-US" sz="2100" err="1">
                <a:cs typeface="Times New Roman" panose="02020603050405020304" pitchFamily="18" charset="0"/>
              </a:rPr>
              <a:t>sách</a:t>
            </a:r>
            <a:endParaRPr lang="en-US" altLang="en-US" sz="2100">
              <a:latin typeface=".VnTime" pitchFamily="34" charset="0"/>
              <a:cs typeface="Times New Roman" panose="02020603050405020304" pitchFamily="18" charset="0"/>
            </a:endParaRPr>
          </a:p>
          <a:p>
            <a:pPr lvl="1" algn="just">
              <a:lnSpc>
                <a:spcPct val="120000"/>
              </a:lnSpc>
            </a:pPr>
            <a:r>
              <a:rPr lang="en-US" altLang="en-US" sz="2100">
                <a:latin typeface="Courier New" panose="02070309020205020404" pitchFamily="49" charset="0"/>
                <a:cs typeface="Courier New" panose="02070309020205020404" pitchFamily="49" charset="0"/>
              </a:rPr>
              <a:t>x</a:t>
            </a:r>
            <a:r>
              <a:rPr lang="en-US" altLang="en-US" sz="2100" baseline="-30000">
                <a:latin typeface="Courier New" panose="02070309020205020404" pitchFamily="49" charset="0"/>
                <a:cs typeface="Courier New" panose="02070309020205020404" pitchFamily="49" charset="0"/>
              </a:rPr>
              <a:t>1</a:t>
            </a:r>
            <a:r>
              <a:rPr lang="en-US" altLang="en-US" sz="2100">
                <a:latin typeface="Courier New" panose="02070309020205020404" pitchFamily="49" charset="0"/>
                <a:cs typeface="Courier New" panose="02070309020205020404" pitchFamily="49" charset="0"/>
              </a:rPr>
              <a:t> </a:t>
            </a:r>
            <a:r>
              <a:rPr lang="en-US" altLang="en-US" sz="2100" err="1">
                <a:cs typeface="Times New Roman" panose="02020603050405020304" pitchFamily="18" charset="0"/>
              </a:rPr>
              <a:t>được</a:t>
            </a:r>
            <a:r>
              <a:rPr lang="en-US" altLang="en-US" sz="2100">
                <a:cs typeface="Times New Roman" panose="02020603050405020304" pitchFamily="18" charset="0"/>
              </a:rPr>
              <a:t> </a:t>
            </a:r>
            <a:r>
              <a:rPr lang="en-US" altLang="en-US" sz="2100" err="1">
                <a:cs typeface="Times New Roman" panose="02020603050405020304" pitchFamily="18" charset="0"/>
              </a:rPr>
              <a:t>gọi</a:t>
            </a:r>
            <a:r>
              <a:rPr lang="en-US" altLang="en-US" sz="2100">
                <a:cs typeface="Times New Roman" panose="02020603050405020304" pitchFamily="18" charset="0"/>
              </a:rPr>
              <a:t> </a:t>
            </a:r>
            <a:r>
              <a:rPr lang="en-US" altLang="en-US" sz="2100" err="1">
                <a:cs typeface="Times New Roman" panose="02020603050405020304" pitchFamily="18" charset="0"/>
              </a:rPr>
              <a:t>là</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đầu</a:t>
            </a:r>
            <a:r>
              <a:rPr lang="en-US" altLang="en-US" sz="2100">
                <a:cs typeface="Times New Roman" panose="02020603050405020304" pitchFamily="18" charset="0"/>
              </a:rPr>
              <a:t> </a:t>
            </a:r>
            <a:r>
              <a:rPr lang="en-US" altLang="en-US" sz="2100" err="1">
                <a:cs typeface="Times New Roman" panose="02020603050405020304" pitchFamily="18" charset="0"/>
              </a:rPr>
              <a:t>tiên</a:t>
            </a:r>
            <a:r>
              <a:rPr lang="en-US" altLang="en-US" sz="2100">
                <a:cs typeface="Times New Roman" panose="02020603050405020304" pitchFamily="18" charset="0"/>
              </a:rPr>
              <a:t> (</a:t>
            </a:r>
            <a:r>
              <a:rPr lang="en-US" altLang="en-US" sz="2100" err="1">
                <a:cs typeface="Times New Roman" panose="02020603050405020304" pitchFamily="18" charset="0"/>
              </a:rPr>
              <a:t>đầu</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danh</a:t>
            </a:r>
            <a:r>
              <a:rPr lang="en-US" altLang="en-US" sz="2100">
                <a:cs typeface="Times New Roman" panose="02020603050405020304" pitchFamily="18" charset="0"/>
              </a:rPr>
              <a:t> </a:t>
            </a:r>
            <a:r>
              <a:rPr lang="en-US" altLang="en-US" sz="2100" err="1">
                <a:cs typeface="Times New Roman" panose="02020603050405020304" pitchFamily="18" charset="0"/>
              </a:rPr>
              <a:t>sách</a:t>
            </a:r>
            <a:endParaRPr lang="en-US" altLang="en-US" sz="2100">
              <a:latin typeface=".VnTime" pitchFamily="34" charset="0"/>
              <a:cs typeface="Times New Roman" panose="02020603050405020304" pitchFamily="18" charset="0"/>
            </a:endParaRPr>
          </a:p>
          <a:p>
            <a:pPr lvl="1" algn="just">
              <a:lnSpc>
                <a:spcPct val="120000"/>
              </a:lnSpc>
            </a:pPr>
            <a:r>
              <a:rPr lang="en-US" altLang="en-US" sz="2100" err="1">
                <a:latin typeface="Courier New" panose="02070309020205020404" pitchFamily="49" charset="0"/>
                <a:cs typeface="Courier New" panose="02070309020205020404" pitchFamily="49" charset="0"/>
              </a:rPr>
              <a:t>x</a:t>
            </a:r>
            <a:r>
              <a:rPr lang="en-US" altLang="en-US" sz="2100" baseline="-25000" err="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 </a:t>
            </a:r>
            <a:r>
              <a:rPr lang="en-US" altLang="en-US" sz="2100" err="1">
                <a:cs typeface="Times New Roman" panose="02020603050405020304" pitchFamily="18" charset="0"/>
              </a:rPr>
              <a:t>được</a:t>
            </a:r>
            <a:r>
              <a:rPr lang="en-US" altLang="en-US" sz="2100">
                <a:cs typeface="Times New Roman" panose="02020603050405020304" pitchFamily="18" charset="0"/>
              </a:rPr>
              <a:t> </a:t>
            </a:r>
            <a:r>
              <a:rPr lang="en-US" altLang="en-US" sz="2100" err="1">
                <a:cs typeface="Times New Roman" panose="02020603050405020304" pitchFamily="18" charset="0"/>
              </a:rPr>
              <a:t>gọi</a:t>
            </a:r>
            <a:r>
              <a:rPr lang="en-US" altLang="en-US" sz="2100">
                <a:cs typeface="Times New Roman" panose="02020603050405020304" pitchFamily="18" charset="0"/>
              </a:rPr>
              <a:t> </a:t>
            </a:r>
            <a:r>
              <a:rPr lang="en-US" altLang="en-US" sz="2100" err="1">
                <a:cs typeface="Times New Roman" panose="02020603050405020304" pitchFamily="18" charset="0"/>
              </a:rPr>
              <a:t>là</a:t>
            </a:r>
            <a:r>
              <a:rPr lang="en-US" altLang="en-US" sz="2100">
                <a:cs typeface="Times New Roman" panose="02020603050405020304" pitchFamily="18" charset="0"/>
              </a:rPr>
              <a:t> </a:t>
            </a:r>
            <a:r>
              <a:rPr lang="en-US" altLang="en-US" sz="2100" err="1">
                <a:cs typeface="Times New Roman" panose="02020603050405020304" pitchFamily="18" charset="0"/>
              </a:rPr>
              <a:t>phần</a:t>
            </a:r>
            <a:r>
              <a:rPr lang="en-US" altLang="en-US" sz="2100">
                <a:cs typeface="Times New Roman" panose="02020603050405020304" pitchFamily="18" charset="0"/>
              </a:rPr>
              <a:t> </a:t>
            </a:r>
            <a:r>
              <a:rPr lang="en-US" altLang="en-US" sz="2100" err="1">
                <a:cs typeface="Times New Roman" panose="02020603050405020304" pitchFamily="18" charset="0"/>
              </a:rPr>
              <a:t>tử</a:t>
            </a:r>
            <a:r>
              <a:rPr lang="en-US" altLang="en-US" sz="2100">
                <a:cs typeface="Times New Roman" panose="02020603050405020304" pitchFamily="18" charset="0"/>
              </a:rPr>
              <a:t> </a:t>
            </a:r>
            <a:r>
              <a:rPr lang="en-US" altLang="en-US" sz="2100" err="1">
                <a:cs typeface="Times New Roman" panose="02020603050405020304" pitchFamily="18" charset="0"/>
              </a:rPr>
              <a:t>cuối</a:t>
            </a:r>
            <a:r>
              <a:rPr lang="en-US" altLang="en-US" sz="2100">
                <a:cs typeface="Times New Roman" panose="02020603050405020304" pitchFamily="18" charset="0"/>
              </a:rPr>
              <a:t> </a:t>
            </a:r>
            <a:r>
              <a:rPr lang="en-US" altLang="en-US" sz="2100" err="1">
                <a:cs typeface="Times New Roman" panose="02020603050405020304" pitchFamily="18" charset="0"/>
              </a:rPr>
              <a:t>cùng</a:t>
            </a:r>
            <a:r>
              <a:rPr lang="en-US" altLang="en-US" sz="2100">
                <a:cs typeface="Times New Roman" panose="02020603050405020304" pitchFamily="18" charset="0"/>
              </a:rPr>
              <a:t> (</a:t>
            </a:r>
            <a:r>
              <a:rPr lang="en-US" altLang="en-US" sz="2100" err="1">
                <a:cs typeface="Times New Roman" panose="02020603050405020304" pitchFamily="18" charset="0"/>
              </a:rPr>
              <a:t>đuôi</a:t>
            </a:r>
            <a:r>
              <a:rPr lang="en-US" altLang="en-US" sz="2100">
                <a:cs typeface="Times New Roman" panose="02020603050405020304" pitchFamily="18" charset="0"/>
              </a:rPr>
              <a:t>) </a:t>
            </a:r>
            <a:r>
              <a:rPr lang="en-US" altLang="en-US" sz="2100" err="1">
                <a:cs typeface="Times New Roman" panose="02020603050405020304" pitchFamily="18" charset="0"/>
              </a:rPr>
              <a:t>của</a:t>
            </a:r>
            <a:r>
              <a:rPr lang="en-US" altLang="en-US" sz="2100">
                <a:cs typeface="Times New Roman" panose="02020603050405020304" pitchFamily="18" charset="0"/>
              </a:rPr>
              <a:t> </a:t>
            </a:r>
            <a:r>
              <a:rPr lang="en-US" altLang="en-US" sz="2100" err="1">
                <a:cs typeface="Times New Roman" panose="02020603050405020304" pitchFamily="18" charset="0"/>
              </a:rPr>
              <a:t>danh</a:t>
            </a:r>
            <a:r>
              <a:rPr lang="en-US" altLang="en-US" sz="2100">
                <a:cs typeface="Times New Roman" panose="02020603050405020304" pitchFamily="18" charset="0"/>
              </a:rPr>
              <a:t> </a:t>
            </a:r>
            <a:r>
              <a:rPr lang="en-US" altLang="en-US" sz="2100" err="1">
                <a:cs typeface="Times New Roman" panose="02020603050405020304" pitchFamily="18" charset="0"/>
              </a:rPr>
              <a:t>sách</a:t>
            </a:r>
            <a:r>
              <a:rPr lang="en-US" altLang="en-US" sz="2100">
                <a:cs typeface="Times New Roman" panose="02020603050405020304" pitchFamily="18" charset="0"/>
              </a:rPr>
              <a:t> </a:t>
            </a:r>
          </a:p>
          <a:p>
            <a:pPr algn="just">
              <a:lnSpc>
                <a:spcPct val="120000"/>
              </a:lnSpc>
            </a:pPr>
            <a:r>
              <a:rPr lang="en-US" altLang="en-US" sz="2300" err="1">
                <a:cs typeface="Times New Roman" panose="02020603050405020304" pitchFamily="18" charset="0"/>
              </a:rPr>
              <a:t>Trật</a:t>
            </a:r>
            <a:r>
              <a:rPr lang="en-US" altLang="en-US" sz="2300">
                <a:cs typeface="Times New Roman" panose="02020603050405020304" pitchFamily="18" charset="0"/>
              </a:rPr>
              <a:t> </a:t>
            </a:r>
            <a:r>
              <a:rPr lang="en-US" altLang="en-US" sz="2300" err="1">
                <a:cs typeface="Times New Roman" panose="02020603050405020304" pitchFamily="18" charset="0"/>
              </a:rPr>
              <a:t>tự</a:t>
            </a:r>
            <a:r>
              <a:rPr lang="en-US" altLang="en-US" sz="2300">
                <a:cs typeface="Times New Roman" panose="02020603050405020304" pitchFamily="18" charset="0"/>
              </a:rPr>
              <a:t> </a:t>
            </a:r>
            <a:r>
              <a:rPr lang="en-US" altLang="en-US" sz="2300" err="1">
                <a:cs typeface="Times New Roman" panose="02020603050405020304" pitchFamily="18" charset="0"/>
              </a:rPr>
              <a:t>tuyến</a:t>
            </a:r>
            <a:r>
              <a:rPr lang="en-US" altLang="en-US" sz="2300">
                <a:cs typeface="Times New Roman" panose="02020603050405020304" pitchFamily="18" charset="0"/>
              </a:rPr>
              <a:t> </a:t>
            </a:r>
            <a:r>
              <a:rPr lang="en-US" altLang="en-US" sz="2300" err="1">
                <a:cs typeface="Times New Roman" panose="02020603050405020304" pitchFamily="18" charset="0"/>
              </a:rPr>
              <a:t>tính</a:t>
            </a:r>
            <a:r>
              <a:rPr lang="en-US" altLang="en-US" sz="2300">
                <a:cs typeface="Times New Roman" panose="02020603050405020304" pitchFamily="18" charset="0"/>
              </a:rPr>
              <a:t>: </a:t>
            </a:r>
            <a:r>
              <a:rPr lang="en-US" altLang="en-US" sz="2300" err="1">
                <a:cs typeface="Times New Roman" panose="02020603050405020304" pitchFamily="18" charset="0"/>
              </a:rPr>
              <a:t>trật</a:t>
            </a:r>
            <a:r>
              <a:rPr lang="en-US" altLang="en-US" sz="2300">
                <a:cs typeface="Times New Roman" panose="02020603050405020304" pitchFamily="18" charset="0"/>
              </a:rPr>
              <a:t> </a:t>
            </a:r>
            <a:r>
              <a:rPr lang="en-US" altLang="en-US" sz="2300" err="1">
                <a:cs typeface="Times New Roman" panose="02020603050405020304" pitchFamily="18" charset="0"/>
              </a:rPr>
              <a:t>tự</a:t>
            </a:r>
            <a:r>
              <a:rPr lang="en-US" altLang="en-US" sz="2300">
                <a:cs typeface="Times New Roman" panose="02020603050405020304" pitchFamily="18" charset="0"/>
              </a:rPr>
              <a:t> </a:t>
            </a:r>
            <a:r>
              <a:rPr lang="en-US" altLang="en-US" sz="2300" i="1" err="1">
                <a:cs typeface="Times New Roman" panose="02020603050405020304" pitchFamily="18" charset="0"/>
              </a:rPr>
              <a:t>trước-sau</a:t>
            </a:r>
            <a:r>
              <a:rPr lang="en-US" altLang="en-US" sz="2300">
                <a:cs typeface="Times New Roman" panose="02020603050405020304" pitchFamily="18" charset="0"/>
              </a:rPr>
              <a:t> </a:t>
            </a:r>
            <a:r>
              <a:rPr lang="en-US" altLang="en-US" sz="2300" err="1">
                <a:cs typeface="Times New Roman" panose="02020603050405020304" pitchFamily="18" charset="0"/>
              </a:rPr>
              <a:t>giữa</a:t>
            </a:r>
            <a:r>
              <a:rPr lang="en-US" altLang="en-US" sz="2300">
                <a:cs typeface="Times New Roman" panose="02020603050405020304" pitchFamily="18" charset="0"/>
              </a:rPr>
              <a:t> </a:t>
            </a:r>
            <a:r>
              <a:rPr lang="en-US" altLang="en-US" sz="2300" err="1">
                <a:cs typeface="Times New Roman" panose="02020603050405020304" pitchFamily="18" charset="0"/>
              </a:rPr>
              <a:t>các</a:t>
            </a:r>
            <a:r>
              <a:rPr lang="en-US" altLang="en-US" sz="2300">
                <a:cs typeface="Times New Roman" panose="02020603050405020304" pitchFamily="18" charset="0"/>
              </a:rPr>
              <a:t> </a:t>
            </a:r>
            <a:r>
              <a:rPr lang="en-US" altLang="en-US" sz="2300" err="1">
                <a:cs typeface="Times New Roman" panose="02020603050405020304" pitchFamily="18" charset="0"/>
              </a:rPr>
              <a:t>phần</a:t>
            </a:r>
            <a:r>
              <a:rPr lang="en-US" altLang="en-US" sz="2300">
                <a:cs typeface="Times New Roman" panose="02020603050405020304" pitchFamily="18" charset="0"/>
              </a:rPr>
              <a:t> </a:t>
            </a:r>
            <a:r>
              <a:rPr lang="en-US" altLang="en-US" sz="2300" err="1">
                <a:cs typeface="Times New Roman" panose="02020603050405020304" pitchFamily="18" charset="0"/>
              </a:rPr>
              <a:t>tử</a:t>
            </a:r>
            <a:endParaRPr lang="en-US" altLang="en-US" sz="2300">
              <a:cs typeface="Times New Roman" panose="02020603050405020304" pitchFamily="18" charset="0"/>
            </a:endParaRPr>
          </a:p>
          <a:p>
            <a:pPr lvl="1" algn="just">
              <a:lnSpc>
                <a:spcPct val="120000"/>
              </a:lnSpc>
            </a:pPr>
            <a:r>
              <a:rPr lang="en-US" altLang="en-US" sz="2000" err="1">
                <a:cs typeface="Times New Roman" panose="02020603050405020304" pitchFamily="18" charset="0"/>
              </a:rPr>
              <a:t>Mọi</a:t>
            </a:r>
            <a:r>
              <a:rPr lang="en-US" altLang="en-US" sz="2000">
                <a:cs typeface="Times New Roman" panose="02020603050405020304" pitchFamily="18" charset="0"/>
              </a:rPr>
              <a:t> </a:t>
            </a:r>
            <a:r>
              <a:rPr lang="en-US" altLang="en-US" sz="2000" err="1">
                <a:cs typeface="Times New Roman" panose="02020603050405020304" pitchFamily="18" charset="0"/>
              </a:rPr>
              <a:t>cặp</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a:latin typeface="Courier New" panose="02070309020205020404" pitchFamily="49" charset="0"/>
                <a:cs typeface="Courier New" panose="02070309020205020404" pitchFamily="49" charset="0"/>
              </a:rPr>
              <a:t>&lt;</a:t>
            </a:r>
            <a:r>
              <a:rPr lang="en-US" altLang="en-US" sz="2000" err="1">
                <a:latin typeface="Courier New" panose="02070309020205020404" pitchFamily="49" charset="0"/>
                <a:cs typeface="Courier New" panose="02070309020205020404" pitchFamily="49" charset="0"/>
              </a:rPr>
              <a:t>x</a:t>
            </a:r>
            <a:r>
              <a:rPr lang="en-US" altLang="en-US" sz="2000" baseline="-25000" err="1">
                <a:latin typeface="Courier New" panose="02070309020205020404" pitchFamily="49" charset="0"/>
                <a:cs typeface="Courier New" panose="02070309020205020404" pitchFamily="49" charset="0"/>
              </a:rPr>
              <a:t>i</a:t>
            </a:r>
            <a:r>
              <a:rPr lang="en-US" altLang="en-US" sz="2000" err="1">
                <a:latin typeface="Courier New" panose="02070309020205020404" pitchFamily="49" charset="0"/>
                <a:cs typeface="Courier New" panose="02070309020205020404" pitchFamily="49" charset="0"/>
              </a:rPr>
              <a:t>,x</a:t>
            </a:r>
            <a:r>
              <a:rPr lang="en-US" altLang="en-US" sz="2000" baseline="-25000" err="1">
                <a:latin typeface="Courier New" panose="02070309020205020404" pitchFamily="49" charset="0"/>
                <a:cs typeface="Courier New" panose="02070309020205020404" pitchFamily="49" charset="0"/>
              </a:rPr>
              <a:t>j</a:t>
            </a:r>
            <a:r>
              <a:rPr lang="en-US" altLang="en-US" sz="2000">
                <a:latin typeface="Courier New" panose="02070309020205020404" pitchFamily="49" charset="0"/>
                <a:cs typeface="Courier New" panose="02070309020205020404" pitchFamily="49" charset="0"/>
              </a:rPr>
              <a:t>&gt;</a:t>
            </a:r>
            <a:r>
              <a:rPr lang="en-US" altLang="en-US" sz="2000">
                <a:cs typeface="Times New Roman" panose="02020603050405020304" pitchFamily="18" charset="0"/>
              </a:rPr>
              <a:t> (1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err="1">
                <a:cs typeface="Times New Roman" panose="02020603050405020304" pitchFamily="18" charset="0"/>
              </a:rPr>
              <a:t>i,j</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n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i</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j) </a:t>
            </a:r>
            <a:r>
              <a:rPr lang="en-US" altLang="en-US" sz="2000" err="1">
                <a:cs typeface="Times New Roman" panose="02020603050405020304" pitchFamily="18" charset="0"/>
              </a:rPr>
              <a:t>luôn</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duy</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trật</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trước</a:t>
            </a:r>
            <a:r>
              <a:rPr lang="en-US" altLang="en-US" sz="2000">
                <a:cs typeface="Times New Roman" panose="02020603050405020304" pitchFamily="18" charset="0"/>
              </a:rPr>
              <a:t> </a:t>
            </a:r>
            <a:r>
              <a:rPr lang="en-US" altLang="en-US" sz="2000" err="1">
                <a:cs typeface="Times New Roman" panose="02020603050405020304" pitchFamily="18" charset="0"/>
              </a:rPr>
              <a:t>sau</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algn="just">
              <a:lnSpc>
                <a:spcPct val="120000"/>
              </a:lnSpc>
            </a:pPr>
            <a:r>
              <a:rPr lang="en-US" altLang="en-US" sz="2300" err="1">
                <a:cs typeface="Times New Roman" panose="02020603050405020304" pitchFamily="18" charset="0"/>
              </a:rPr>
              <a:t>Quy</a:t>
            </a:r>
            <a:r>
              <a:rPr lang="en-US" altLang="en-US" sz="2300">
                <a:cs typeface="Times New Roman" panose="02020603050405020304" pitchFamily="18" charset="0"/>
              </a:rPr>
              <a:t> </a:t>
            </a:r>
            <a:r>
              <a:rPr lang="en-US" altLang="en-US" sz="2300" err="1">
                <a:cs typeface="Times New Roman" panose="02020603050405020304" pitchFamily="18" charset="0"/>
              </a:rPr>
              <a:t>ước</a:t>
            </a:r>
            <a:r>
              <a:rPr lang="en-US" altLang="en-US" sz="2300">
                <a:cs typeface="Times New Roman" panose="02020603050405020304" pitchFamily="18" charset="0"/>
              </a:rPr>
              <a:t>: </a:t>
            </a:r>
            <a:r>
              <a:rPr lang="en-US" altLang="en-US" sz="2300" err="1">
                <a:cs typeface="Times New Roman" panose="02020603050405020304" pitchFamily="18" charset="0"/>
              </a:rPr>
              <a:t>danh</a:t>
            </a:r>
            <a:r>
              <a:rPr lang="en-US" altLang="en-US" sz="2300">
                <a:cs typeface="Times New Roman" panose="02020603050405020304" pitchFamily="18" charset="0"/>
              </a:rPr>
              <a:t> </a:t>
            </a:r>
            <a:r>
              <a:rPr lang="en-US" altLang="en-US" sz="2300" err="1">
                <a:cs typeface="Times New Roman" panose="02020603050405020304" pitchFamily="18" charset="0"/>
              </a:rPr>
              <a:t>sách</a:t>
            </a:r>
            <a:r>
              <a:rPr lang="en-US" altLang="en-US" sz="2300">
                <a:cs typeface="Times New Roman" panose="02020603050405020304" pitchFamily="18" charset="0"/>
              </a:rPr>
              <a:t> </a:t>
            </a:r>
            <a:r>
              <a:rPr lang="en-US" altLang="en-US" sz="2300" err="1">
                <a:cs typeface="Times New Roman" panose="02020603050405020304" pitchFamily="18" charset="0"/>
              </a:rPr>
              <a:t>rỗng</a:t>
            </a:r>
            <a:r>
              <a:rPr lang="en-US" altLang="en-US" sz="2300">
                <a:cs typeface="Times New Roman" panose="02020603050405020304" pitchFamily="18" charset="0"/>
              </a:rPr>
              <a:t>, </a:t>
            </a:r>
            <a:r>
              <a:rPr lang="en-US" altLang="en-US" sz="2300" err="1">
                <a:cs typeface="Times New Roman" panose="02020603050405020304" pitchFamily="18" charset="0"/>
              </a:rPr>
              <a:t>kí</a:t>
            </a:r>
            <a:r>
              <a:rPr lang="en-US" altLang="en-US" sz="2300">
                <a:cs typeface="Times New Roman" panose="02020603050405020304" pitchFamily="18" charset="0"/>
              </a:rPr>
              <a:t> </a:t>
            </a:r>
            <a:r>
              <a:rPr lang="en-US" altLang="en-US" sz="2300" err="1">
                <a:cs typeface="Times New Roman" panose="02020603050405020304" pitchFamily="18" charset="0"/>
              </a:rPr>
              <a:t>hiệu</a:t>
            </a:r>
            <a:r>
              <a:rPr lang="en-US" altLang="en-US" sz="2300">
                <a:cs typeface="Times New Roman" panose="02020603050405020304" pitchFamily="18" charset="0"/>
              </a:rPr>
              <a:t> </a:t>
            </a:r>
            <a:r>
              <a:rPr lang="en-US" altLang="en-US" sz="2300">
                <a:cs typeface="Times New Roman" panose="02020603050405020304" pitchFamily="18" charset="0"/>
                <a:sym typeface="Symbol" panose="05050102010706020507" pitchFamily="18" charset="2"/>
              </a:rPr>
              <a:t></a:t>
            </a:r>
            <a:r>
              <a:rPr lang="en-US" altLang="en-US" sz="2300">
                <a:cs typeface="Times New Roman" panose="02020603050405020304" pitchFamily="18" charset="0"/>
              </a:rPr>
              <a:t> (L = </a:t>
            </a:r>
            <a:r>
              <a:rPr lang="en-US" altLang="en-US" sz="2300">
                <a:cs typeface="Times New Roman" panose="02020603050405020304" pitchFamily="18" charset="0"/>
                <a:sym typeface="Symbol" panose="05050102010706020507" pitchFamily="18" charset="2"/>
              </a:rPr>
              <a:t></a:t>
            </a:r>
            <a:r>
              <a:rPr lang="en-US" altLang="en-US" sz="2300">
                <a:cs typeface="Times New Roman" panose="02020603050405020304" pitchFamily="18" charset="0"/>
              </a:rPr>
              <a:t>).</a:t>
            </a:r>
          </a:p>
        </p:txBody>
      </p:sp>
    </p:spTree>
    <p:extLst>
      <p:ext uri="{BB962C8B-B14F-4D97-AF65-F5344CB8AC3E}">
        <p14:creationId xmlns:p14="http://schemas.microsoft.com/office/powerpoint/2010/main" val="189466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cs typeface="Times New Roman" panose="02020603050405020304" pitchFamily="18" charset="0"/>
              </a:rPr>
            </a:br>
            <a:r>
              <a:rPr lang="en-US" altLang="en-US" i="1" err="1">
                <a:cs typeface="Times New Roman" panose="02020603050405020304" pitchFamily="18" charset="0"/>
              </a:rPr>
              <a:t>Đặc</a:t>
            </a:r>
            <a:r>
              <a:rPr lang="en-US" altLang="en-US" i="1">
                <a:cs typeface="Times New Roman" panose="02020603050405020304" pitchFamily="18" charset="0"/>
              </a:rPr>
              <a:t> </a:t>
            </a:r>
            <a:r>
              <a:rPr lang="en-US" altLang="en-US" i="1" err="1">
                <a:cs typeface="Times New Roman" panose="02020603050405020304" pitchFamily="18" charset="0"/>
              </a:rPr>
              <a:t>trưng</a:t>
            </a:r>
            <a:r>
              <a:rPr lang="en-US" altLang="en-US" i="1"/>
              <a:t> </a:t>
            </a:r>
            <a:r>
              <a:rPr lang="en-US" altLang="en-US" i="1" err="1"/>
              <a:t>danh</a:t>
            </a:r>
            <a:r>
              <a:rPr lang="en-US" altLang="en-US" i="1"/>
              <a:t> </a:t>
            </a:r>
            <a:r>
              <a:rPr lang="en-US" altLang="en-US" i="1" err="1"/>
              <a:t>sách</a:t>
            </a:r>
            <a:endParaRPr lang="en-US" altLang="en-US" i="1">
              <a:cs typeface="Times New Roman" panose="02020603050405020304" pitchFamily="18" charset="0"/>
            </a:endParaRPr>
          </a:p>
        </p:txBody>
      </p:sp>
      <p:sp>
        <p:nvSpPr>
          <p:cNvPr id="9219" name="Rectangle 3"/>
          <p:cNvSpPr>
            <a:spLocks noGrp="1" noChangeArrowheads="1"/>
          </p:cNvSpPr>
          <p:nvPr>
            <p:ph type="body" sz="quarter" idx="13"/>
          </p:nvPr>
        </p:nvSpPr>
        <p:spPr/>
        <p:txBody>
          <a:bodyPr/>
          <a:lstStyle/>
          <a:p>
            <a:r>
              <a:rPr lang="en-US" altLang="en-US" sz="2500" err="1">
                <a:cs typeface="Times New Roman" panose="02020603050405020304" pitchFamily="18" charset="0"/>
              </a:rPr>
              <a:t>Kích</a:t>
            </a:r>
            <a:r>
              <a:rPr lang="en-US" altLang="en-US" sz="2500">
                <a:cs typeface="Times New Roman" panose="02020603050405020304" pitchFamily="18" charset="0"/>
              </a:rPr>
              <a:t> </a:t>
            </a:r>
            <a:r>
              <a:rPr lang="en-US" altLang="en-US" sz="2500" err="1">
                <a:cs typeface="Times New Roman" panose="02020603050405020304" pitchFamily="18" charset="0"/>
              </a:rPr>
              <a:t>thước</a:t>
            </a:r>
            <a:r>
              <a:rPr lang="en-US" altLang="en-US" sz="2500">
                <a:cs typeface="Times New Roman" panose="02020603050405020304" pitchFamily="18" charset="0"/>
              </a:rPr>
              <a:t> hay </a:t>
            </a:r>
            <a:r>
              <a:rPr lang="en-US" altLang="en-US" sz="2500" err="1">
                <a:cs typeface="Times New Roman" panose="02020603050405020304" pitchFamily="18" charset="0"/>
              </a:rPr>
              <a:t>độ</a:t>
            </a:r>
            <a:r>
              <a:rPr lang="en-US" altLang="en-US" sz="2500">
                <a:cs typeface="Times New Roman" panose="02020603050405020304" pitchFamily="18" charset="0"/>
              </a:rPr>
              <a:t> </a:t>
            </a:r>
            <a:r>
              <a:rPr lang="en-US" altLang="en-US" sz="2500" err="1">
                <a:cs typeface="Times New Roman" panose="02020603050405020304" pitchFamily="18" charset="0"/>
              </a:rPr>
              <a:t>dài</a:t>
            </a:r>
            <a:r>
              <a:rPr lang="en-US" altLang="en-US" sz="2500">
                <a:cs typeface="Times New Roman" panose="02020603050405020304" pitchFamily="18" charset="0"/>
              </a:rPr>
              <a:t> </a:t>
            </a:r>
            <a:r>
              <a:rPr lang="en-US" altLang="en-US" sz="2500" err="1">
                <a:cs typeface="Times New Roman" panose="02020603050405020304" pitchFamily="18" charset="0"/>
              </a:rPr>
              <a:t>danh</a:t>
            </a:r>
            <a:r>
              <a:rPr lang="en-US" altLang="en-US" sz="2500">
                <a:cs typeface="Times New Roman" panose="02020603050405020304" pitchFamily="18" charset="0"/>
              </a:rPr>
              <a:t> </a:t>
            </a:r>
            <a:r>
              <a:rPr lang="en-US" altLang="en-US" sz="2500" err="1">
                <a:cs typeface="Times New Roman" panose="02020603050405020304" pitchFamily="18" charset="0"/>
              </a:rPr>
              <a:t>sách</a:t>
            </a:r>
            <a:r>
              <a:rPr lang="en-US" altLang="en-US" sz="2500">
                <a:cs typeface="Times New Roman" panose="02020603050405020304" pitchFamily="18" charset="0"/>
              </a:rPr>
              <a:t>: </a:t>
            </a:r>
            <a:r>
              <a:rPr lang="en-US" altLang="en-US" sz="2500" err="1">
                <a:cs typeface="Times New Roman" panose="02020603050405020304" pitchFamily="18" charset="0"/>
              </a:rPr>
              <a:t>số</a:t>
            </a:r>
            <a:r>
              <a:rPr lang="en-US" altLang="en-US" sz="2500">
                <a:cs typeface="Times New Roman" panose="02020603050405020304" pitchFamily="18" charset="0"/>
              </a:rPr>
              <a:t> </a:t>
            </a:r>
            <a:r>
              <a:rPr lang="en-US" altLang="en-US" sz="2500" err="1">
                <a:cs typeface="Times New Roman" panose="02020603050405020304" pitchFamily="18" charset="0"/>
              </a:rPr>
              <a:t>phần</a:t>
            </a:r>
            <a:r>
              <a:rPr lang="en-US" altLang="en-US" sz="2500">
                <a:cs typeface="Times New Roman" panose="02020603050405020304" pitchFamily="18" charset="0"/>
              </a:rPr>
              <a:t> </a:t>
            </a:r>
            <a:r>
              <a:rPr lang="en-US" altLang="en-US" sz="2500" err="1">
                <a:cs typeface="Times New Roman" panose="02020603050405020304" pitchFamily="18" charset="0"/>
              </a:rPr>
              <a:t>tử</a:t>
            </a:r>
            <a:r>
              <a:rPr lang="en-US" altLang="en-US" sz="2500">
                <a:cs typeface="Times New Roman" panose="02020603050405020304" pitchFamily="18" charset="0"/>
              </a:rPr>
              <a:t> </a:t>
            </a:r>
            <a:r>
              <a:rPr lang="en-US" altLang="en-US" sz="2500" err="1">
                <a:cs typeface="Times New Roman" panose="02020603050405020304" pitchFamily="18" charset="0"/>
              </a:rPr>
              <a:t>của</a:t>
            </a:r>
            <a:r>
              <a:rPr lang="en-US" altLang="en-US" sz="2500">
                <a:cs typeface="Times New Roman" panose="02020603050405020304" pitchFamily="18" charset="0"/>
              </a:rPr>
              <a:t> </a:t>
            </a:r>
            <a:r>
              <a:rPr lang="en-US" altLang="en-US" sz="2500" err="1">
                <a:cs typeface="Times New Roman" panose="02020603050405020304" pitchFamily="18" charset="0"/>
              </a:rPr>
              <a:t>danh</a:t>
            </a:r>
            <a:r>
              <a:rPr lang="en-US" altLang="en-US" sz="2500">
                <a:cs typeface="Times New Roman" panose="02020603050405020304" pitchFamily="18" charset="0"/>
              </a:rPr>
              <a:t> </a:t>
            </a:r>
            <a:r>
              <a:rPr lang="en-US" altLang="en-US" sz="2500" err="1">
                <a:cs typeface="Times New Roman" panose="02020603050405020304" pitchFamily="18" charset="0"/>
              </a:rPr>
              <a:t>sách</a:t>
            </a:r>
            <a:r>
              <a:rPr lang="en-US" altLang="en-US" sz="2500">
                <a:cs typeface="Times New Roman" panose="02020603050405020304" pitchFamily="18" charset="0"/>
              </a:rPr>
              <a:t>. </a:t>
            </a:r>
          </a:p>
          <a:p>
            <a:pPr lvl="1"/>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rỗng</a:t>
            </a:r>
            <a:r>
              <a:rPr lang="en-US" altLang="en-US" sz="2000">
                <a:cs typeface="Times New Roman" panose="02020603050405020304" pitchFamily="18" charset="0"/>
              </a:rPr>
              <a:t> </a:t>
            </a:r>
            <a:r>
              <a:rPr lang="en-US" altLang="en-US" sz="2000" err="1">
                <a:cs typeface="Times New Roman" panose="02020603050405020304" pitchFamily="18" charset="0"/>
              </a:rPr>
              <a:t>bằng</a:t>
            </a:r>
            <a:r>
              <a:rPr lang="en-US" altLang="en-US" sz="2000">
                <a:cs typeface="Times New Roman" panose="02020603050405020304" pitchFamily="18" charset="0"/>
              </a:rPr>
              <a:t> 0. </a:t>
            </a:r>
          </a:p>
          <a:p>
            <a:pPr lvl="1" algn="just"/>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không</a:t>
            </a:r>
            <a:r>
              <a:rPr lang="en-US" altLang="en-US" sz="2000">
                <a:cs typeface="Times New Roman" panose="02020603050405020304" pitchFamily="18" charset="0"/>
              </a:rPr>
              <a:t> </a:t>
            </a:r>
            <a:r>
              <a:rPr lang="en-US" altLang="en-US" sz="2000" err="1">
                <a:cs typeface="Times New Roman" panose="02020603050405020304" pitchFamily="18" charset="0"/>
              </a:rPr>
              <a:t>cố</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không</a:t>
            </a:r>
            <a:r>
              <a:rPr lang="en-US" altLang="en-US" sz="2000">
                <a:cs typeface="Times New Roman" panose="02020603050405020304" pitchFamily="18" charset="0"/>
              </a:rPr>
              <a:t> </a:t>
            </a:r>
            <a:r>
              <a:rPr lang="en-US" altLang="en-US" sz="2000" err="1">
                <a:cs typeface="Times New Roman" panose="02020603050405020304" pitchFamily="18" charset="0"/>
              </a:rPr>
              <a:t>biết</a:t>
            </a:r>
            <a:r>
              <a:rPr lang="en-US" altLang="en-US" sz="2000">
                <a:cs typeface="Times New Roman" panose="02020603050405020304" pitchFamily="18" charset="0"/>
              </a:rPr>
              <a:t> </a:t>
            </a:r>
            <a:r>
              <a:rPr lang="en-US" altLang="en-US" sz="2000" err="1">
                <a:cs typeface="Times New Roman" panose="02020603050405020304" pitchFamily="18" charset="0"/>
              </a:rPr>
              <a:t>trước</a:t>
            </a:r>
            <a:r>
              <a:rPr lang="en-US" altLang="en-US" sz="2000">
                <a:cs typeface="Times New Roman" panose="02020603050405020304" pitchFamily="18" charset="0"/>
              </a:rPr>
              <a:t> </a:t>
            </a:r>
            <a:r>
              <a:rPr lang="en-US" altLang="en-US" sz="2000" err="1">
                <a:cs typeface="Times New Roman" panose="02020603050405020304" pitchFamily="18" charset="0"/>
              </a:rPr>
              <a:t>mà</a:t>
            </a:r>
            <a:r>
              <a:rPr lang="en-US" altLang="en-US" sz="2000">
                <a:cs typeface="Times New Roman" panose="02020603050405020304" pitchFamily="18" charset="0"/>
              </a:rPr>
              <a:t> </a:t>
            </a:r>
            <a:r>
              <a:rPr lang="en-US" altLang="en-US" sz="2000" err="1">
                <a:cs typeface="Times New Roman" panose="02020603050405020304" pitchFamily="18" charset="0"/>
              </a:rPr>
              <a:t>biến</a:t>
            </a:r>
            <a:r>
              <a:rPr lang="en-US" altLang="en-US" sz="2000">
                <a:cs typeface="Times New Roman" panose="02020603050405020304" pitchFamily="18" charset="0"/>
              </a:rPr>
              <a:t> </a:t>
            </a:r>
            <a:r>
              <a:rPr lang="en-US" altLang="en-US" sz="2000" err="1">
                <a:cs typeface="Times New Roman" panose="02020603050405020304" pitchFamily="18" charset="0"/>
              </a:rPr>
              <a:t>đổi</a:t>
            </a:r>
            <a:r>
              <a:rPr lang="en-US" altLang="en-US" sz="2000">
                <a:cs typeface="Times New Roman" panose="02020603050405020304" pitchFamily="18" charset="0"/>
              </a:rPr>
              <a:t> </a:t>
            </a:r>
            <a:r>
              <a:rPr lang="en-US" altLang="en-US" sz="2000" err="1">
                <a:cs typeface="Times New Roman" panose="02020603050405020304" pitchFamily="18" charset="0"/>
              </a:rPr>
              <a:t>trong</a:t>
            </a:r>
            <a:r>
              <a:rPr lang="en-US" altLang="en-US" sz="2000">
                <a:cs typeface="Times New Roman" panose="02020603050405020304" pitchFamily="18" charset="0"/>
              </a:rPr>
              <a:t> </a:t>
            </a:r>
            <a:r>
              <a:rPr lang="en-US" altLang="en-US" sz="2000" err="1">
                <a:cs typeface="Times New Roman" panose="02020603050405020304" pitchFamily="18" charset="0"/>
              </a:rPr>
              <a:t>quá</a:t>
            </a:r>
            <a:r>
              <a:rPr lang="en-US" altLang="en-US" sz="2000">
                <a:cs typeface="Times New Roman" panose="02020603050405020304" pitchFamily="18" charset="0"/>
              </a:rPr>
              <a:t> </a:t>
            </a:r>
            <a:r>
              <a:rPr lang="en-US" altLang="en-US" sz="2000" err="1">
                <a:cs typeface="Times New Roman" panose="02020603050405020304" pitchFamily="18" charset="0"/>
              </a:rPr>
              <a:t>trình</a:t>
            </a:r>
            <a:r>
              <a:rPr lang="en-US" altLang="en-US" sz="2000">
                <a:cs typeface="Times New Roman" panose="02020603050405020304" pitchFamily="18" charset="0"/>
              </a:rPr>
              <a:t> </a:t>
            </a:r>
            <a:r>
              <a:rPr lang="en-US" altLang="en-US" sz="2000" err="1">
                <a:cs typeface="Times New Roman" panose="02020603050405020304" pitchFamily="18" charset="0"/>
              </a:rPr>
              <a:t>xử</a:t>
            </a:r>
            <a:r>
              <a:rPr lang="en-US" altLang="en-US" sz="2000">
                <a:cs typeface="Times New Roman" panose="02020603050405020304" pitchFamily="18" charset="0"/>
              </a:rPr>
              <a:t> </a:t>
            </a:r>
            <a:r>
              <a:rPr lang="en-US" altLang="en-US" sz="2000" err="1">
                <a:cs typeface="Times New Roman" panose="02020603050405020304" pitchFamily="18" charset="0"/>
              </a:rPr>
              <a:t>lý</a:t>
            </a:r>
            <a:r>
              <a:rPr lang="en-US" altLang="en-US" sz="2000">
                <a:cs typeface="Times New Roman" panose="02020603050405020304" pitchFamily="18" charset="0"/>
              </a:rPr>
              <a:t>, </a:t>
            </a:r>
            <a:r>
              <a:rPr lang="en-US" altLang="en-US" sz="2000" err="1">
                <a:cs typeface="Times New Roman" panose="02020603050405020304" pitchFamily="18" charset="0"/>
              </a:rPr>
              <a:t>thao</a:t>
            </a:r>
            <a:r>
              <a:rPr lang="en-US" altLang="en-US" sz="2000">
                <a:cs typeface="Times New Roman" panose="02020603050405020304" pitchFamily="18" charset="0"/>
              </a:rPr>
              <a:t> </a:t>
            </a:r>
            <a:r>
              <a:rPr lang="en-US" altLang="en-US" sz="2000" err="1">
                <a:cs typeface="Times New Roman" panose="02020603050405020304" pitchFamily="18" charset="0"/>
              </a:rPr>
              <a:t>tác</a:t>
            </a:r>
            <a:endParaRPr lang="en-US" altLang="en-US" sz="2000">
              <a:latin typeface=".VnTime" pitchFamily="34" charset="0"/>
              <a:cs typeface="Times New Roman" panose="02020603050405020304" pitchFamily="18" charset="0"/>
            </a:endParaRPr>
          </a:p>
          <a:p>
            <a:pPr algn="just"/>
            <a:r>
              <a:rPr lang="en-US" altLang="en-US" sz="2500" err="1">
                <a:cs typeface="Times New Roman" panose="02020603050405020304" pitchFamily="18" charset="0"/>
              </a:rPr>
              <a:t>Kiểu</a:t>
            </a:r>
            <a:r>
              <a:rPr lang="en-US" altLang="en-US" sz="2500">
                <a:cs typeface="Times New Roman" panose="02020603050405020304" pitchFamily="18" charset="0"/>
              </a:rPr>
              <a:t> </a:t>
            </a:r>
            <a:r>
              <a:rPr lang="en-US" altLang="en-US" sz="2500" err="1">
                <a:cs typeface="Times New Roman" panose="02020603050405020304" pitchFamily="18" charset="0"/>
              </a:rPr>
              <a:t>dữ</a:t>
            </a:r>
            <a:r>
              <a:rPr lang="en-US" altLang="en-US" sz="2500">
                <a:cs typeface="Times New Roman" panose="02020603050405020304" pitchFamily="18" charset="0"/>
              </a:rPr>
              <a:t> </a:t>
            </a:r>
            <a:r>
              <a:rPr lang="en-US" altLang="en-US" sz="2500" err="1">
                <a:cs typeface="Times New Roman" panose="02020603050405020304" pitchFamily="18" charset="0"/>
              </a:rPr>
              <a:t>liệu</a:t>
            </a:r>
            <a:r>
              <a:rPr lang="en-US" altLang="en-US" sz="2500">
                <a:cs typeface="Times New Roman" panose="02020603050405020304" pitchFamily="18" charset="0"/>
              </a:rPr>
              <a:t> </a:t>
            </a:r>
            <a:r>
              <a:rPr lang="en-US" altLang="en-US" sz="2500" err="1">
                <a:cs typeface="Times New Roman" panose="02020603050405020304" pitchFamily="18" charset="0"/>
              </a:rPr>
              <a:t>của</a:t>
            </a:r>
            <a:r>
              <a:rPr lang="en-US" altLang="en-US" sz="2500">
                <a:cs typeface="Times New Roman" panose="02020603050405020304" pitchFamily="18" charset="0"/>
              </a:rPr>
              <a:t> </a:t>
            </a:r>
            <a:r>
              <a:rPr lang="en-US" altLang="en-US" sz="2500" err="1">
                <a:cs typeface="Times New Roman" panose="02020603050405020304" pitchFamily="18" charset="0"/>
              </a:rPr>
              <a:t>các</a:t>
            </a:r>
            <a:r>
              <a:rPr lang="en-US" altLang="en-US" sz="2500">
                <a:cs typeface="Times New Roman" panose="02020603050405020304" pitchFamily="18" charset="0"/>
              </a:rPr>
              <a:t> </a:t>
            </a:r>
            <a:r>
              <a:rPr lang="en-US" altLang="en-US" sz="2500" err="1">
                <a:cs typeface="Times New Roman" panose="02020603050405020304" pitchFamily="18" charset="0"/>
              </a:rPr>
              <a:t>phần</a:t>
            </a:r>
            <a:r>
              <a:rPr lang="en-US" altLang="en-US" sz="2500">
                <a:cs typeface="Times New Roman" panose="02020603050405020304" pitchFamily="18" charset="0"/>
              </a:rPr>
              <a:t> </a:t>
            </a:r>
            <a:r>
              <a:rPr lang="en-US" altLang="en-US" sz="2500" err="1">
                <a:cs typeface="Times New Roman" panose="02020603050405020304" pitchFamily="18" charset="0"/>
              </a:rPr>
              <a:t>tử</a:t>
            </a:r>
            <a:r>
              <a:rPr lang="en-US" altLang="en-US" sz="2500">
                <a:cs typeface="Times New Roman" panose="02020603050405020304" pitchFamily="18" charset="0"/>
              </a:rPr>
              <a:t>: </a:t>
            </a:r>
          </a:p>
          <a:p>
            <a:pPr lvl="1" algn="just"/>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kiểu</a:t>
            </a:r>
            <a:r>
              <a:rPr lang="en-US" altLang="en-US" sz="2000">
                <a:cs typeface="Times New Roman" panose="02020603050405020304" pitchFamily="18" charset="0"/>
              </a:rPr>
              <a:t> </a:t>
            </a:r>
            <a:r>
              <a:rPr lang="en-US" altLang="en-US" sz="2000" err="1">
                <a:cs typeface="Times New Roman" panose="02020603050405020304" pitchFamily="18" charset="0"/>
              </a:rPr>
              <a:t>dữ</a:t>
            </a:r>
            <a:r>
              <a:rPr lang="en-US" altLang="en-US" sz="2000">
                <a:cs typeface="Times New Roman" panose="02020603050405020304" pitchFamily="18" charset="0"/>
              </a:rPr>
              <a:t> </a:t>
            </a:r>
            <a:r>
              <a:rPr lang="en-US" altLang="en-US" sz="2000" err="1">
                <a:cs typeface="Times New Roman" panose="02020603050405020304" pitchFamily="18" charset="0"/>
              </a:rPr>
              <a:t>liệu</a:t>
            </a:r>
            <a:r>
              <a:rPr lang="en-US" altLang="en-US" sz="2000">
                <a:cs typeface="Times New Roman" panose="02020603050405020304" pitchFamily="18" charset="0"/>
              </a:rPr>
              <a:t> </a:t>
            </a:r>
            <a:r>
              <a:rPr lang="en-US" altLang="en-US" sz="2000" err="1">
                <a:cs typeface="Times New Roman" panose="02020603050405020304" pitchFamily="18" charset="0"/>
              </a:rPr>
              <a:t>duy</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 </a:t>
            </a:r>
            <a:r>
              <a:rPr lang="en-US" altLang="en-US" sz="2000" err="1">
                <a:cs typeface="Times New Roman" panose="02020603050405020304" pitchFamily="18" charset="0"/>
              </a:rPr>
              <a:t>luôn</a:t>
            </a:r>
            <a:r>
              <a:rPr lang="en-US" altLang="en-US" sz="2000">
                <a:cs typeface="Times New Roman" panose="02020603050405020304" pitchFamily="18" charset="0"/>
              </a:rPr>
              <a:t> </a:t>
            </a:r>
            <a:r>
              <a:rPr lang="en-US" altLang="en-US" sz="2000" err="1">
                <a:cs typeface="Times New Roman" panose="02020603050405020304" pitchFamily="18" charset="0"/>
              </a:rPr>
              <a:t>luôn</a:t>
            </a:r>
            <a:r>
              <a:rPr lang="en-US" altLang="en-US" sz="2000">
                <a:cs typeface="Times New Roman" panose="02020603050405020304" pitchFamily="18" charset="0"/>
              </a:rPr>
              <a:t> </a:t>
            </a:r>
            <a:r>
              <a:rPr lang="en-US" altLang="en-US" sz="2000" err="1">
                <a:cs typeface="Times New Roman" panose="02020603050405020304" pitchFamily="18" charset="0"/>
              </a:rPr>
              <a:t>cố</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endParaRPr lang="en-US" altLang="en-US" sz="2200">
              <a:latin typeface=".VnTime" pitchFamily="34" charset="0"/>
              <a:cs typeface="Times New Roman" panose="02020603050405020304" pitchFamily="18" charset="0"/>
            </a:endParaRPr>
          </a:p>
          <a:p>
            <a:pPr algn="just"/>
            <a:r>
              <a:rPr lang="en-US" altLang="en-US" sz="2500" err="1">
                <a:cs typeface="Times New Roman" panose="02020603050405020304" pitchFamily="18" charset="0"/>
              </a:rPr>
              <a:t>Trật</a:t>
            </a:r>
            <a:r>
              <a:rPr lang="en-US" altLang="en-US" sz="2500">
                <a:cs typeface="Times New Roman" panose="02020603050405020304" pitchFamily="18" charset="0"/>
              </a:rPr>
              <a:t> </a:t>
            </a:r>
            <a:r>
              <a:rPr lang="en-US" altLang="en-US" sz="2500" err="1">
                <a:cs typeface="Times New Roman" panose="02020603050405020304" pitchFamily="18" charset="0"/>
              </a:rPr>
              <a:t>tự</a:t>
            </a:r>
            <a:r>
              <a:rPr lang="en-US" altLang="en-US" sz="2500">
                <a:cs typeface="Times New Roman" panose="02020603050405020304" pitchFamily="18" charset="0"/>
              </a:rPr>
              <a:t> </a:t>
            </a:r>
            <a:r>
              <a:rPr lang="en-US" altLang="en-US" sz="2500" err="1">
                <a:cs typeface="Times New Roman" panose="02020603050405020304" pitchFamily="18" charset="0"/>
              </a:rPr>
              <a:t>tuyến</a:t>
            </a:r>
            <a:r>
              <a:rPr lang="en-US" altLang="en-US" sz="2500">
                <a:cs typeface="Times New Roman" panose="02020603050405020304" pitchFamily="18" charset="0"/>
              </a:rPr>
              <a:t> </a:t>
            </a:r>
            <a:r>
              <a:rPr lang="en-US" altLang="en-US" sz="2500" err="1">
                <a:cs typeface="Times New Roman" panose="02020603050405020304" pitchFamily="18" charset="0"/>
              </a:rPr>
              <a:t>tính</a:t>
            </a:r>
            <a:r>
              <a:rPr lang="en-US" altLang="en-US" sz="2500">
                <a:cs typeface="Times New Roman" panose="02020603050405020304" pitchFamily="18" charset="0"/>
              </a:rPr>
              <a:t> </a:t>
            </a:r>
            <a:r>
              <a:rPr lang="en-US" altLang="en-US" sz="2500" err="1">
                <a:cs typeface="Times New Roman" panose="02020603050405020304" pitchFamily="18" charset="0"/>
              </a:rPr>
              <a:t>trong</a:t>
            </a:r>
            <a:r>
              <a:rPr lang="en-US" altLang="en-US" sz="2500">
                <a:cs typeface="Times New Roman" panose="02020603050405020304" pitchFamily="18" charset="0"/>
              </a:rPr>
              <a:t> </a:t>
            </a:r>
            <a:r>
              <a:rPr lang="en-US" altLang="en-US" sz="2500" err="1">
                <a:cs typeface="Times New Roman" panose="02020603050405020304" pitchFamily="18" charset="0"/>
              </a:rPr>
              <a:t>danh</a:t>
            </a:r>
            <a:r>
              <a:rPr lang="en-US" altLang="en-US" sz="2500">
                <a:cs typeface="Times New Roman" panose="02020603050405020304" pitchFamily="18" charset="0"/>
              </a:rPr>
              <a:t> </a:t>
            </a:r>
            <a:r>
              <a:rPr lang="en-US" altLang="en-US" sz="2500" err="1">
                <a:cs typeface="Times New Roman" panose="02020603050405020304" pitchFamily="18" charset="0"/>
              </a:rPr>
              <a:t>sách</a:t>
            </a:r>
            <a:r>
              <a:rPr lang="en-US" altLang="en-US" sz="2500">
                <a:cs typeface="Times New Roman" panose="02020603050405020304" pitchFamily="18" charset="0"/>
              </a:rPr>
              <a:t>:</a:t>
            </a:r>
          </a:p>
          <a:p>
            <a:pPr lvl="1" algn="just"/>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luôn</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hai</a:t>
            </a:r>
            <a:r>
              <a:rPr lang="en-US" altLang="en-US" sz="2000">
                <a:cs typeface="Times New Roman" panose="02020603050405020304" pitchFamily="18" charset="0"/>
              </a:rPr>
              <a:t> </a:t>
            </a:r>
            <a:r>
              <a:rPr lang="en-US" altLang="en-US" sz="2000" err="1">
                <a:cs typeface="Times New Roman" panose="02020603050405020304" pitchFamily="18" charset="0"/>
              </a:rPr>
              <a:t>phía</a:t>
            </a:r>
            <a:r>
              <a:rPr lang="en-US" altLang="en-US" sz="2000">
                <a:cs typeface="Times New Roman" panose="02020603050405020304" pitchFamily="18" charset="0"/>
              </a:rPr>
              <a:t>: </a:t>
            </a:r>
            <a:r>
              <a:rPr lang="en-US" altLang="en-US" sz="2000" err="1">
                <a:cs typeface="Times New Roman" panose="02020603050405020304" pitchFamily="18" charset="0"/>
              </a:rPr>
              <a:t>đầu</a:t>
            </a:r>
            <a:r>
              <a:rPr lang="en-US" altLang="en-US" sz="2000">
                <a:cs typeface="Times New Roman" panose="02020603050405020304" pitchFamily="18" charset="0"/>
              </a:rPr>
              <a:t>, </a:t>
            </a:r>
            <a:r>
              <a:rPr lang="en-US" altLang="en-US" sz="2000" err="1">
                <a:cs typeface="Times New Roman" panose="02020603050405020304" pitchFamily="18" charset="0"/>
              </a:rPr>
              <a:t>đuôi</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endParaRPr lang="en-US" altLang="en-US" sz="2000">
              <a:cs typeface="Times New Roman" panose="02020603050405020304" pitchFamily="18" charset="0"/>
            </a:endParaRPr>
          </a:p>
          <a:p>
            <a:pPr lvl="1" algn="just"/>
            <a:r>
              <a:rPr lang="en-US" altLang="en-US" sz="2000" err="1">
                <a:cs typeface="Times New Roman" panose="02020603050405020304" pitchFamily="18" charset="0"/>
              </a:rPr>
              <a:t>Trật</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trước-sau</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trật</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từ</a:t>
            </a:r>
            <a:r>
              <a:rPr lang="en-US" altLang="en-US" sz="2000">
                <a:cs typeface="Times New Roman" panose="02020603050405020304" pitchFamily="18" charset="0"/>
              </a:rPr>
              <a:t> </a:t>
            </a:r>
            <a:r>
              <a:rPr lang="en-US" altLang="en-US" sz="2000" err="1">
                <a:cs typeface="Times New Roman" panose="02020603050405020304" pitchFamily="18" charset="0"/>
              </a:rPr>
              <a:t>đầu</a:t>
            </a:r>
            <a:r>
              <a:rPr lang="en-US" altLang="en-US" sz="2000">
                <a:cs typeface="Times New Roman" panose="02020603050405020304" pitchFamily="18" charset="0"/>
              </a:rPr>
              <a:t> </a:t>
            </a:r>
            <a:r>
              <a:rPr lang="en-US" altLang="en-US" sz="2000" err="1">
                <a:cs typeface="Times New Roman" panose="02020603050405020304" pitchFamily="18" charset="0"/>
              </a:rPr>
              <a:t>đến</a:t>
            </a:r>
            <a:r>
              <a:rPr lang="en-US" altLang="en-US" sz="2000">
                <a:cs typeface="Times New Roman" panose="02020603050405020304" pitchFamily="18" charset="0"/>
              </a:rPr>
              <a:t> </a:t>
            </a:r>
            <a:r>
              <a:rPr lang="en-US" altLang="en-US" sz="2000" err="1">
                <a:cs typeface="Times New Roman" panose="02020603050405020304" pitchFamily="18" charset="0"/>
              </a:rPr>
              <a:t>cuối</a:t>
            </a:r>
            <a:endParaRPr lang="en-US" altLang="en-US" sz="2000">
              <a:cs typeface="Times New Roman" panose="02020603050405020304" pitchFamily="18" charset="0"/>
            </a:endParaRPr>
          </a:p>
        </p:txBody>
      </p:sp>
    </p:spTree>
    <p:extLst>
      <p:ext uri="{BB962C8B-B14F-4D97-AF65-F5344CB8AC3E}">
        <p14:creationId xmlns:p14="http://schemas.microsoft.com/office/powerpoint/2010/main" val="416647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21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21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r>
              <a:rPr lang="en-US" altLang="en-US" i="1"/>
              <a:t> </a:t>
            </a:r>
            <a:r>
              <a:rPr lang="en-US" altLang="en-US" i="1" err="1"/>
              <a:t>trên</a:t>
            </a:r>
            <a:r>
              <a:rPr lang="en-US" altLang="en-US" i="1"/>
              <a:t> </a:t>
            </a:r>
            <a:r>
              <a:rPr lang="en-US" altLang="en-US" i="1" err="1"/>
              <a:t>danh</a:t>
            </a:r>
            <a:r>
              <a:rPr lang="en-US" altLang="en-US" i="1"/>
              <a:t> </a:t>
            </a:r>
            <a:r>
              <a:rPr lang="en-US" altLang="en-US" i="1" err="1"/>
              <a:t>sách</a:t>
            </a:r>
            <a:endParaRPr lang="en-US" altLang="en-US" i="1"/>
          </a:p>
        </p:txBody>
      </p:sp>
      <p:sp>
        <p:nvSpPr>
          <p:cNvPr id="10243" name="Rectangle 3"/>
          <p:cNvSpPr>
            <a:spLocks noGrp="1" noChangeArrowheads="1"/>
          </p:cNvSpPr>
          <p:nvPr>
            <p:ph type="body" sz="quarter" idx="13"/>
          </p:nvPr>
        </p:nvSpPr>
        <p:spPr/>
        <p:txBody>
          <a:bodyPr>
            <a:normAutofit/>
          </a:bodyPr>
          <a:lstStyle/>
          <a:p>
            <a:r>
              <a:rPr lang="en-US" altLang="en-US" sz="2400" err="1">
                <a:cs typeface="Times New Roman" panose="02020603050405020304" pitchFamily="18" charset="0"/>
              </a:rPr>
              <a:t>Khởi</a:t>
            </a:r>
            <a:r>
              <a:rPr lang="en-US" altLang="en-US" sz="2400">
                <a:cs typeface="Times New Roman" panose="02020603050405020304" pitchFamily="18" charset="0"/>
              </a:rPr>
              <a:t> </a:t>
            </a:r>
            <a:r>
              <a:rPr lang="en-US" altLang="en-US" sz="2400" err="1">
                <a:cs typeface="Times New Roman" panose="02020603050405020304" pitchFamily="18" charset="0"/>
              </a:rPr>
              <a:t>tạo</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p>
          <a:p>
            <a:pPr lvl="1" algn="just"/>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ra</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xác</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đặc</a:t>
            </a:r>
            <a:r>
              <a:rPr lang="en-US" altLang="en-US" sz="2000">
                <a:cs typeface="Times New Roman" panose="02020603050405020304" pitchFamily="18" charset="0"/>
              </a:rPr>
              <a:t> </a:t>
            </a:r>
            <a:r>
              <a:rPr lang="en-US" altLang="en-US" sz="2000" err="1">
                <a:cs typeface="Times New Roman" panose="02020603050405020304" pitchFamily="18" charset="0"/>
              </a:rPr>
              <a:t>trưng</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p>
          <a:p>
            <a:pPr lvl="1" algn="just"/>
            <a:r>
              <a:rPr lang="en-US" altLang="en-US" sz="2000" err="1">
                <a:cs typeface="Times New Roman" panose="02020603050405020304" pitchFamily="18" charset="0"/>
              </a:rPr>
              <a:t>Sau</a:t>
            </a:r>
            <a:r>
              <a:rPr lang="en-US" altLang="en-US" sz="2000">
                <a:cs typeface="Times New Roman" panose="02020603050405020304" pitchFamily="18" charset="0"/>
              </a:rPr>
              <a:t> </a:t>
            </a:r>
            <a:r>
              <a:rPr lang="en-US" altLang="en-US" sz="2000" err="1">
                <a:cs typeface="Times New Roman" panose="02020603050405020304" pitchFamily="18" charset="0"/>
              </a:rPr>
              <a:t>thao</a:t>
            </a:r>
            <a:r>
              <a:rPr lang="en-US" altLang="en-US" sz="2000">
                <a:cs typeface="Times New Roman" panose="02020603050405020304" pitchFamily="18" charset="0"/>
              </a:rPr>
              <a:t> </a:t>
            </a:r>
            <a:r>
              <a:rPr lang="en-US" altLang="en-US" sz="2000" err="1">
                <a:cs typeface="Times New Roman" panose="02020603050405020304" pitchFamily="18" charset="0"/>
              </a:rPr>
              <a:t>tác</a:t>
            </a:r>
            <a:r>
              <a:rPr lang="en-US" altLang="en-US" sz="2000">
                <a:cs typeface="Times New Roman" panose="02020603050405020304" pitchFamily="18" charset="0"/>
              </a:rPr>
              <a:t> </a:t>
            </a:r>
            <a:r>
              <a:rPr lang="en-US" altLang="en-US" sz="2000" err="1">
                <a:cs typeface="Times New Roman" panose="02020603050405020304" pitchFamily="18" charset="0"/>
              </a:rPr>
              <a:t>khởi</a:t>
            </a:r>
            <a:r>
              <a:rPr lang="en-US" altLang="en-US" sz="2000">
                <a:cs typeface="Times New Roman" panose="02020603050405020304" pitchFamily="18" charset="0"/>
              </a:rPr>
              <a:t> </a:t>
            </a:r>
            <a:r>
              <a:rPr lang="en-US" altLang="en-US" sz="2000" err="1">
                <a:cs typeface="Times New Roman" panose="02020603050405020304" pitchFamily="18" charset="0"/>
              </a:rPr>
              <a:t>tạo</a:t>
            </a:r>
            <a:r>
              <a:rPr lang="en-US" altLang="en-US" sz="2000">
                <a:cs typeface="Times New Roman" panose="02020603050405020304" pitchFamily="18" charset="0"/>
              </a:rPr>
              <a:t>, </a:t>
            </a:r>
            <a:r>
              <a:rPr lang="en-US" altLang="en-US" sz="2000" err="1">
                <a:cs typeface="Times New Roman" panose="02020603050405020304" pitchFamily="18" charset="0"/>
              </a:rPr>
              <a:t>thu</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rỗng</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chưa</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nội</a:t>
            </a:r>
            <a:r>
              <a:rPr lang="en-US" altLang="en-US" sz="2000">
                <a:cs typeface="Times New Roman" panose="02020603050405020304" pitchFamily="18" charset="0"/>
              </a:rPr>
              <a:t> dung, </a:t>
            </a:r>
            <a:r>
              <a:rPr lang="en-US" altLang="en-US" sz="2000" err="1">
                <a:cs typeface="Times New Roman" panose="02020603050405020304" pitchFamily="18" charset="0"/>
              </a:rPr>
              <a:t>mà</a:t>
            </a:r>
            <a:r>
              <a:rPr lang="en-US" altLang="en-US" sz="2000">
                <a:cs typeface="Times New Roman" panose="02020603050405020304" pitchFamily="18" charset="0"/>
              </a:rPr>
              <a:t> </a:t>
            </a:r>
            <a:r>
              <a:rPr lang="en-US" altLang="en-US" sz="2000" err="1">
                <a:cs typeface="Times New Roman" panose="02020603050405020304" pitchFamily="18" charset="0"/>
              </a:rPr>
              <a:t>mới</a:t>
            </a:r>
            <a:r>
              <a:rPr lang="en-US" altLang="en-US" sz="2000">
                <a:cs typeface="Times New Roman" panose="02020603050405020304" pitchFamily="18" charset="0"/>
              </a:rPr>
              <a:t> </a:t>
            </a:r>
            <a:r>
              <a:rPr lang="en-US" altLang="en-US" sz="2000" err="1">
                <a:cs typeface="Times New Roman" panose="02020603050405020304" pitchFamily="18" charset="0"/>
              </a:rPr>
              <a:t>chỉ</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khung</a:t>
            </a:r>
            <a:r>
              <a:rPr lang="en-US" altLang="en-US" sz="2000">
                <a:cs typeface="Times New Roman" panose="02020603050405020304" pitchFamily="18" charset="0"/>
              </a:rPr>
              <a:t>). </a:t>
            </a:r>
          </a:p>
          <a:p>
            <a:pPr lvl="1" algn="just"/>
            <a:r>
              <a:rPr lang="en-US" altLang="en-US" sz="2000" err="1">
                <a:cs typeface="Times New Roman" panose="02020603050405020304" pitchFamily="18" charset="0"/>
              </a:rPr>
              <a:t>Trong</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NNLT = </a:t>
            </a:r>
            <a:r>
              <a:rPr lang="en-US" altLang="en-US" sz="2000" err="1">
                <a:cs typeface="Times New Roman" panose="02020603050405020304" pitchFamily="18" charset="0"/>
              </a:rPr>
              <a:t>khai</a:t>
            </a:r>
            <a:r>
              <a:rPr lang="en-US" altLang="en-US" sz="2000">
                <a:cs typeface="Times New Roman" panose="02020603050405020304" pitchFamily="18" charset="0"/>
              </a:rPr>
              <a:t> </a:t>
            </a:r>
            <a:r>
              <a:rPr lang="en-US" altLang="en-US" sz="2000" err="1">
                <a:cs typeface="Times New Roman" panose="02020603050405020304" pitchFamily="18" charset="0"/>
              </a:rPr>
              <a:t>báo</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thích</a:t>
            </a:r>
            <a:r>
              <a:rPr lang="en-US" altLang="en-US" sz="2000">
                <a:cs typeface="Times New Roman" panose="02020603050405020304" pitchFamily="18" charset="0"/>
              </a:rPr>
              <a:t> </a:t>
            </a:r>
            <a:r>
              <a:rPr lang="en-US" altLang="en-US" sz="2000" err="1">
                <a:cs typeface="Times New Roman" panose="02020603050405020304" pitchFamily="18" charset="0"/>
              </a:rPr>
              <a:t>hợp</a:t>
            </a:r>
            <a:r>
              <a:rPr lang="en-US" altLang="en-US" sz="2000">
                <a:cs typeface="Times New Roman" panose="02020603050405020304" pitchFamily="18" charset="0"/>
              </a:rPr>
              <a:t>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biểu</a:t>
            </a:r>
            <a:r>
              <a:rPr lang="en-US" altLang="en-US" sz="2000">
                <a:cs typeface="Times New Roman" panose="02020603050405020304" pitchFamily="18" charset="0"/>
              </a:rPr>
              <a:t> </a:t>
            </a:r>
            <a:r>
              <a:rPr lang="en-US" altLang="en-US" sz="2000" err="1">
                <a:cs typeface="Times New Roman" panose="02020603050405020304" pitchFamily="18" charset="0"/>
              </a:rPr>
              <a:t>diễn</a:t>
            </a:r>
            <a:r>
              <a:rPr lang="en-US" altLang="en-US" sz="2000">
                <a:cs typeface="Times New Roman" panose="02020603050405020304" pitchFamily="18" charset="0"/>
              </a:rPr>
              <a:t> </a:t>
            </a:r>
            <a:r>
              <a:rPr lang="en-US" altLang="en-US" sz="2000" err="1">
                <a:cs typeface="Times New Roman" panose="02020603050405020304" pitchFamily="18" charset="0"/>
              </a:rPr>
              <a:t>cho</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yêu</a:t>
            </a:r>
            <a:r>
              <a:rPr lang="en-US" altLang="en-US" sz="2000">
                <a:cs typeface="Times New Roman" panose="02020603050405020304" pitchFamily="18" charset="0"/>
              </a:rPr>
              <a:t> </a:t>
            </a:r>
            <a:r>
              <a:rPr lang="en-US" altLang="en-US" sz="2000" err="1">
                <a:cs typeface="Times New Roman" panose="02020603050405020304" pitchFamily="18" charset="0"/>
              </a:rPr>
              <a:t>cầu</a:t>
            </a:r>
            <a:r>
              <a:rPr lang="en-US" altLang="en-US" sz="2000">
                <a:cs typeface="Times New Roman" panose="02020603050405020304" pitchFamily="18" charset="0"/>
              </a:rPr>
              <a:t>.</a:t>
            </a:r>
          </a:p>
        </p:txBody>
      </p:sp>
    </p:spTree>
    <p:extLst>
      <p:ext uri="{BB962C8B-B14F-4D97-AF65-F5344CB8AC3E}">
        <p14:creationId xmlns:p14="http://schemas.microsoft.com/office/powerpoint/2010/main" val="127028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r>
              <a:rPr lang="en-US" altLang="en-US" i="1"/>
              <a:t> </a:t>
            </a:r>
            <a:r>
              <a:rPr lang="en-US" altLang="en-US" i="1" err="1"/>
              <a:t>trên</a:t>
            </a:r>
            <a:r>
              <a:rPr lang="en-US" altLang="en-US" i="1"/>
              <a:t> </a:t>
            </a:r>
            <a:r>
              <a:rPr lang="en-US" altLang="en-US" i="1" err="1"/>
              <a:t>danh</a:t>
            </a:r>
            <a:r>
              <a:rPr lang="en-US" altLang="en-US" i="1"/>
              <a:t> </a:t>
            </a:r>
            <a:r>
              <a:rPr lang="en-US" altLang="en-US" i="1" err="1"/>
              <a:t>sách</a:t>
            </a:r>
            <a:endParaRPr lang="en-US" altLang="en-US" sz="3800" i="1">
              <a:cs typeface="Times New Roman" panose="02020603050405020304" pitchFamily="18" charset="0"/>
            </a:endParaRPr>
          </a:p>
        </p:txBody>
      </p:sp>
      <p:sp>
        <p:nvSpPr>
          <p:cNvPr id="11267" name="Rectangle 3"/>
          <p:cNvSpPr>
            <a:spLocks noGrp="1" noChangeArrowheads="1"/>
          </p:cNvSpPr>
          <p:nvPr>
            <p:ph type="body" sz="quarter" idx="13"/>
          </p:nvPr>
        </p:nvSpPr>
        <p:spPr/>
        <p:txBody>
          <a:bodyPr>
            <a:normAutofit/>
          </a:bodyPr>
          <a:lstStyle/>
          <a:p>
            <a:pPr algn="just"/>
            <a:r>
              <a:rPr lang="en-US" altLang="en-US" sz="2400" err="1">
                <a:cs typeface="Times New Roman" panose="02020603050405020304" pitchFamily="18" charset="0"/>
              </a:rPr>
              <a:t>Bổ</a:t>
            </a:r>
            <a:r>
              <a:rPr lang="en-US" altLang="en-US" sz="2400">
                <a:cs typeface="Times New Roman" panose="02020603050405020304" pitchFamily="18" charset="0"/>
              </a:rPr>
              <a:t> sung </a:t>
            </a:r>
            <a:r>
              <a:rPr lang="en-US" altLang="en-US" sz="2400" err="1">
                <a:cs typeface="Times New Roman" panose="02020603050405020304" pitchFamily="18" charset="0"/>
              </a:rPr>
              <a:t>phần</a:t>
            </a:r>
            <a:r>
              <a:rPr lang="en-US" altLang="en-US" sz="2400">
                <a:cs typeface="Times New Roman" panose="02020603050405020304" pitchFamily="18" charset="0"/>
              </a:rPr>
              <a:t> </a:t>
            </a:r>
            <a:r>
              <a:rPr lang="en-US" altLang="en-US" sz="2400" err="1">
                <a:cs typeface="Times New Roman" panose="02020603050405020304" pitchFamily="18" charset="0"/>
              </a:rPr>
              <a:t>tử</a:t>
            </a:r>
            <a:r>
              <a:rPr lang="en-US" altLang="en-US" sz="2400">
                <a:cs typeface="Times New Roman" panose="02020603050405020304" pitchFamily="18" charset="0"/>
              </a:rPr>
              <a:t> </a:t>
            </a:r>
            <a:r>
              <a:rPr lang="en-US" altLang="en-US" sz="2400" err="1">
                <a:cs typeface="Times New Roman" panose="02020603050405020304" pitchFamily="18" charset="0"/>
              </a:rPr>
              <a:t>mới</a:t>
            </a:r>
            <a:r>
              <a:rPr lang="en-US" altLang="en-US" sz="2400">
                <a:cs typeface="Times New Roman" panose="02020603050405020304" pitchFamily="18" charset="0"/>
              </a:rPr>
              <a:t> </a:t>
            </a:r>
            <a:r>
              <a:rPr lang="en-US" altLang="en-US" sz="2400" err="1">
                <a:cs typeface="Times New Roman" panose="02020603050405020304" pitchFamily="18" charset="0"/>
              </a:rPr>
              <a:t>vào</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p>
          <a:p>
            <a:pPr lvl="1" algn="just"/>
            <a:r>
              <a:rPr lang="en-US" altLang="en-US" sz="2000" err="1">
                <a:cs typeface="Times New Roman" panose="02020603050405020304" pitchFamily="18" charset="0"/>
              </a:rPr>
              <a:t>Xác</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vị</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trong</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mà</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mới</a:t>
            </a:r>
            <a:r>
              <a:rPr lang="en-US" altLang="en-US" sz="2000">
                <a:cs typeface="Times New Roman" panose="02020603050405020304" pitchFamily="18" charset="0"/>
              </a:rPr>
              <a:t> </a:t>
            </a:r>
            <a:r>
              <a:rPr lang="en-US" altLang="en-US" sz="2000" err="1">
                <a:cs typeface="Times New Roman" panose="02020603050405020304" pitchFamily="18" charset="0"/>
              </a:rPr>
              <a:t>sẽ</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đưa</a:t>
            </a:r>
            <a:r>
              <a:rPr lang="en-US" altLang="en-US" sz="2000">
                <a:cs typeface="Times New Roman" panose="02020603050405020304" pitchFamily="18" charset="0"/>
              </a:rPr>
              <a:t> </a:t>
            </a:r>
            <a:r>
              <a:rPr lang="en-US" altLang="en-US" sz="2000" err="1">
                <a:cs typeface="Times New Roman" panose="02020603050405020304" pitchFamily="18" charset="0"/>
              </a:rPr>
              <a:t>vào</a:t>
            </a:r>
            <a:r>
              <a:rPr lang="en-US" altLang="en-US" sz="2000">
                <a:cs typeface="Times New Roman" panose="02020603050405020304" pitchFamily="18" charset="0"/>
              </a:rPr>
              <a:t>: </a:t>
            </a:r>
            <a:r>
              <a:rPr lang="en-US" altLang="en-US" sz="2000" err="1">
                <a:cs typeface="Times New Roman" panose="02020603050405020304" pitchFamily="18" charset="0"/>
              </a:rPr>
              <a:t>đầu</a:t>
            </a:r>
            <a:r>
              <a:rPr lang="en-US" altLang="en-US" sz="2000">
                <a:cs typeface="Times New Roman" panose="02020603050405020304" pitchFamily="18" charset="0"/>
              </a:rPr>
              <a:t>, </a:t>
            </a:r>
            <a:r>
              <a:rPr lang="en-US" altLang="en-US" sz="2000" err="1">
                <a:cs typeface="Times New Roman" panose="02020603050405020304" pitchFamily="18" charset="0"/>
              </a:rPr>
              <a:t>cuối</a:t>
            </a:r>
            <a:r>
              <a:rPr lang="en-US" altLang="en-US" sz="2000">
                <a:cs typeface="Times New Roman" panose="02020603050405020304" pitchFamily="18" charset="0"/>
              </a:rPr>
              <a:t>, </a:t>
            </a:r>
            <a:r>
              <a:rPr lang="en-US" altLang="en-US" sz="2000" err="1">
                <a:cs typeface="Times New Roman" panose="02020603050405020304" pitchFamily="18" charset="0"/>
              </a:rPr>
              <a:t>giữa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p>
          <a:p>
            <a:pPr lvl="1" algn="just">
              <a:lnSpc>
                <a:spcPct val="105000"/>
              </a:lnSpc>
            </a:pPr>
            <a:r>
              <a:rPr lang="en-US" altLang="en-US" sz="2000" err="1">
                <a:cs typeface="Times New Roman" panose="02020603050405020304" pitchFamily="18" charset="0"/>
              </a:rPr>
              <a:t>Mỗi</a:t>
            </a:r>
            <a:r>
              <a:rPr lang="en-US" altLang="en-US" sz="2000">
                <a:cs typeface="Times New Roman" panose="02020603050405020304" pitchFamily="18" charset="0"/>
              </a:rPr>
              <a:t> </a:t>
            </a:r>
            <a:r>
              <a:rPr lang="en-US" altLang="en-US" sz="2000" err="1">
                <a:cs typeface="Times New Roman" panose="02020603050405020304" pitchFamily="18" charset="0"/>
              </a:rPr>
              <a:t>thao</a:t>
            </a:r>
            <a:r>
              <a:rPr lang="en-US" altLang="en-US" sz="2000">
                <a:cs typeface="Times New Roman" panose="02020603050405020304" pitchFamily="18" charset="0"/>
              </a:rPr>
              <a:t> </a:t>
            </a:r>
            <a:r>
              <a:rPr lang="en-US" altLang="en-US" sz="2000" err="1">
                <a:cs typeface="Times New Roman" panose="02020603050405020304" pitchFamily="18" charset="0"/>
              </a:rPr>
              <a:t>tác</a:t>
            </a:r>
            <a:r>
              <a:rPr lang="en-US" altLang="en-US" sz="2000">
                <a:cs typeface="Times New Roman" panose="02020603050405020304" pitchFamily="18" charset="0"/>
              </a:rPr>
              <a:t> </a:t>
            </a:r>
            <a:r>
              <a:rPr lang="en-US" altLang="en-US" sz="2000" err="1">
                <a:cs typeface="Times New Roman" panose="02020603050405020304" pitchFamily="18" charset="0"/>
              </a:rPr>
              <a:t>bổ</a:t>
            </a:r>
            <a:r>
              <a:rPr lang="en-US" altLang="en-US" sz="2000">
                <a:cs typeface="Times New Roman" panose="02020603050405020304" pitchFamily="18" charset="0"/>
              </a:rPr>
              <a:t> sung </a:t>
            </a:r>
            <a:r>
              <a:rPr lang="en-US" altLang="en-US" sz="2000" err="1">
                <a:cs typeface="Times New Roman" panose="02020603050405020304" pitchFamily="18" charset="0"/>
              </a:rPr>
              <a:t>này</a:t>
            </a:r>
            <a:r>
              <a:rPr lang="en-US" altLang="en-US" sz="2000">
                <a:cs typeface="Times New Roman" panose="02020603050405020304" pitchFamily="18" charset="0"/>
              </a:rPr>
              <a:t> </a:t>
            </a:r>
            <a:r>
              <a:rPr lang="en-US" altLang="en-US" sz="2000" err="1">
                <a:cs typeface="Times New Roman" panose="02020603050405020304" pitchFamily="18" charset="0"/>
              </a:rPr>
              <a:t>làm</a:t>
            </a:r>
            <a:r>
              <a:rPr lang="en-US" altLang="en-US" sz="2000">
                <a:cs typeface="Times New Roman" panose="02020603050405020304" pitchFamily="18" charset="0"/>
              </a:rPr>
              <a:t> </a:t>
            </a:r>
            <a:r>
              <a:rPr lang="en-US" altLang="en-US" sz="2000" err="1">
                <a:cs typeface="Times New Roman" panose="02020603050405020304" pitchFamily="18" charset="0"/>
              </a:rPr>
              <a:t>tăng</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lên</a:t>
            </a:r>
            <a:r>
              <a:rPr lang="en-US" altLang="en-US" sz="2000">
                <a:cs typeface="Times New Roman" panose="02020603050405020304" pitchFamily="18" charset="0"/>
              </a:rPr>
              <a:t> 1 </a:t>
            </a:r>
            <a:r>
              <a:rPr lang="en-US" altLang="en-US" sz="2000" err="1">
                <a:cs typeface="Times New Roman" panose="02020603050405020304" pitchFamily="18" charset="0"/>
              </a:rPr>
              <a:t>hoặc</a:t>
            </a:r>
            <a:r>
              <a:rPr lang="en-US" altLang="en-US" sz="2000">
                <a:cs typeface="Times New Roman" panose="02020603050405020304" pitchFamily="18" charset="0"/>
              </a:rPr>
              <a:t> </a:t>
            </a:r>
            <a:r>
              <a:rPr lang="en-US" altLang="en-US" sz="2000" err="1">
                <a:cs typeface="Times New Roman" panose="02020603050405020304" pitchFamily="18" charset="0"/>
              </a:rPr>
              <a:t>nhiều</a:t>
            </a:r>
            <a:r>
              <a:rPr lang="en-US" altLang="en-US" sz="2000">
                <a:cs typeface="Times New Roman" panose="02020603050405020304" pitchFamily="18" charset="0"/>
              </a:rPr>
              <a:t>. </a:t>
            </a:r>
          </a:p>
          <a:p>
            <a:pPr lvl="1" algn="just">
              <a:lnSpc>
                <a:spcPct val="105000"/>
              </a:lnSpc>
            </a:pPr>
            <a:r>
              <a:rPr lang="en-US" altLang="en-US" sz="2000" err="1">
                <a:cs typeface="Times New Roman" panose="02020603050405020304" pitchFamily="18" charset="0"/>
              </a:rPr>
              <a:t>Chú</a:t>
            </a:r>
            <a:r>
              <a:rPr lang="en-US" altLang="en-US" sz="2000">
                <a:cs typeface="Times New Roman" panose="02020603050405020304" pitchFamily="18" charset="0"/>
              </a:rPr>
              <a:t> ý, </a:t>
            </a:r>
            <a:r>
              <a:rPr lang="en-US" altLang="en-US" sz="2000" err="1">
                <a:cs typeface="Times New Roman" panose="02020603050405020304" pitchFamily="18" charset="0"/>
              </a:rPr>
              <a:t>điều</a:t>
            </a:r>
            <a:r>
              <a:rPr lang="en-US" altLang="en-US" sz="2000">
                <a:cs typeface="Times New Roman" panose="02020603050405020304" pitchFamily="18" charset="0"/>
              </a:rPr>
              <a:t> </a:t>
            </a:r>
            <a:r>
              <a:rPr lang="en-US" altLang="en-US" sz="2000" err="1">
                <a:cs typeface="Times New Roman" panose="02020603050405020304" pitchFamily="18" charset="0"/>
              </a:rPr>
              <a:t>kiện</a:t>
            </a:r>
            <a:r>
              <a:rPr lang="en-US" altLang="en-US" sz="2000">
                <a:cs typeface="Times New Roman" panose="02020603050405020304" pitchFamily="18" charset="0"/>
              </a:rPr>
              <a:t>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thực</a:t>
            </a:r>
            <a:r>
              <a:rPr lang="en-US" altLang="en-US" sz="2000">
                <a:cs typeface="Times New Roman" panose="02020603050405020304" pitchFamily="18" charset="0"/>
              </a:rPr>
              <a:t> </a:t>
            </a:r>
            <a:r>
              <a:rPr lang="en-US" altLang="en-US" sz="2000" err="1">
                <a:cs typeface="Times New Roman" panose="02020603050405020304" pitchFamily="18" charset="0"/>
              </a:rPr>
              <a:t>hiện</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thao</a:t>
            </a:r>
            <a:r>
              <a:rPr lang="en-US" altLang="en-US" sz="2000">
                <a:cs typeface="Times New Roman" panose="02020603050405020304" pitchFamily="18" charset="0"/>
              </a:rPr>
              <a:t> </a:t>
            </a:r>
            <a:r>
              <a:rPr lang="en-US" altLang="en-US" sz="2000" err="1">
                <a:cs typeface="Times New Roman" panose="02020603050405020304" pitchFamily="18" charset="0"/>
              </a:rPr>
              <a:t>tác</a:t>
            </a:r>
            <a:r>
              <a:rPr lang="en-US" altLang="en-US" sz="2000">
                <a:cs typeface="Times New Roman" panose="02020603050405020304" pitchFamily="18" charset="0"/>
              </a:rPr>
              <a:t> </a:t>
            </a:r>
            <a:r>
              <a:rPr lang="en-US" altLang="en-US" sz="2000" err="1">
                <a:cs typeface="Times New Roman" panose="02020603050405020304" pitchFamily="18" charset="0"/>
              </a:rPr>
              <a:t>bổ</a:t>
            </a:r>
            <a:r>
              <a:rPr lang="en-US" altLang="en-US" sz="2000">
                <a:cs typeface="Times New Roman" panose="02020603050405020304" pitchFamily="18" charset="0"/>
              </a:rPr>
              <a:t> sung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chưa</a:t>
            </a:r>
            <a:r>
              <a:rPr lang="en-US" altLang="en-US" sz="2000">
                <a:cs typeface="Times New Roman" panose="02020603050405020304" pitchFamily="18" charset="0"/>
              </a:rPr>
              <a:t> “</a:t>
            </a:r>
            <a:r>
              <a:rPr lang="en-US" altLang="en-US" sz="2000" i="1" err="1">
                <a:cs typeface="Times New Roman" panose="02020603050405020304" pitchFamily="18" charset="0"/>
              </a:rPr>
              <a:t>đầy</a:t>
            </a:r>
            <a:r>
              <a:rPr lang="en-US" altLang="en-US" sz="2000">
                <a:cs typeface="Times New Roman" panose="02020603050405020304" pitchFamily="18" charset="0"/>
              </a:rPr>
              <a:t>” hay </a:t>
            </a:r>
            <a:r>
              <a:rPr lang="en-US" altLang="en-US" sz="2000" err="1">
                <a:cs typeface="Times New Roman" panose="02020603050405020304" pitchFamily="18" charset="0"/>
              </a:rPr>
              <a:t>chưa</a:t>
            </a:r>
            <a:r>
              <a:rPr lang="en-US" altLang="en-US" sz="2000">
                <a:cs typeface="Times New Roman" panose="02020603050405020304" pitchFamily="18" charset="0"/>
              </a:rPr>
              <a:t> </a:t>
            </a:r>
            <a:r>
              <a:rPr lang="en-US" altLang="en-US" sz="2000" err="1">
                <a:cs typeface="Times New Roman" panose="02020603050405020304" pitchFamily="18" charset="0"/>
              </a:rPr>
              <a:t>bão</a:t>
            </a:r>
            <a:r>
              <a:rPr lang="en-US" altLang="en-US" sz="2000">
                <a:cs typeface="Times New Roman" panose="02020603050405020304" pitchFamily="18" charset="0"/>
              </a:rPr>
              <a:t> </a:t>
            </a:r>
            <a:r>
              <a:rPr lang="en-US" altLang="en-US" sz="2000" err="1">
                <a:cs typeface="Times New Roman" panose="02020603050405020304" pitchFamily="18" charset="0"/>
              </a:rPr>
              <a:t>hoà</a:t>
            </a:r>
            <a:r>
              <a:rPr lang="en-US" altLang="en-US" sz="2000">
                <a:cs typeface="Times New Roman" panose="02020603050405020304" pitchFamily="18" charset="0"/>
              </a:rPr>
              <a:t>. </a:t>
            </a:r>
          </a:p>
        </p:txBody>
      </p:sp>
    </p:spTree>
    <p:extLst>
      <p:ext uri="{BB962C8B-B14F-4D97-AF65-F5344CB8AC3E}">
        <p14:creationId xmlns:p14="http://schemas.microsoft.com/office/powerpoint/2010/main" val="233551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r>
              <a:rPr lang="en-US" altLang="en-US" i="1"/>
              <a:t> </a:t>
            </a:r>
            <a:r>
              <a:rPr lang="en-US" altLang="en-US" i="1" err="1"/>
              <a:t>trên</a:t>
            </a:r>
            <a:r>
              <a:rPr lang="en-US" altLang="en-US" i="1"/>
              <a:t> </a:t>
            </a:r>
            <a:r>
              <a:rPr lang="en-US" altLang="en-US" i="1" err="1"/>
              <a:t>danh</a:t>
            </a:r>
            <a:r>
              <a:rPr lang="en-US" altLang="en-US" i="1"/>
              <a:t> </a:t>
            </a:r>
            <a:r>
              <a:rPr lang="en-US" altLang="en-US" i="1" err="1"/>
              <a:t>sách</a:t>
            </a:r>
            <a:endParaRPr lang="en-US" altLang="en-US" sz="3800" i="1">
              <a:cs typeface="Times New Roman" panose="02020603050405020304" pitchFamily="18" charset="0"/>
            </a:endParaRPr>
          </a:p>
        </p:txBody>
      </p:sp>
      <p:sp>
        <p:nvSpPr>
          <p:cNvPr id="12291" name="Rectangle 3"/>
          <p:cNvSpPr>
            <a:spLocks noGrp="1" noChangeArrowheads="1"/>
          </p:cNvSpPr>
          <p:nvPr>
            <p:ph type="body" sz="quarter" idx="13"/>
          </p:nvPr>
        </p:nvSpPr>
        <p:spPr/>
        <p:txBody>
          <a:bodyPr>
            <a:normAutofit/>
          </a:bodyPr>
          <a:lstStyle/>
          <a:p>
            <a:pPr algn="just"/>
            <a:r>
              <a:rPr lang="en-US" altLang="en-US" sz="2400" err="1">
                <a:cs typeface="Times New Roman" panose="02020603050405020304" pitchFamily="18" charset="0"/>
              </a:rPr>
              <a:t>Loại</a:t>
            </a:r>
            <a:r>
              <a:rPr lang="en-US" altLang="en-US" sz="2400">
                <a:cs typeface="Times New Roman" panose="02020603050405020304" pitchFamily="18" charset="0"/>
              </a:rPr>
              <a:t> </a:t>
            </a:r>
            <a:r>
              <a:rPr lang="en-US" altLang="en-US" sz="2400" err="1">
                <a:cs typeface="Times New Roman" panose="02020603050405020304" pitchFamily="18" charset="0"/>
              </a:rPr>
              <a:t>bỏ</a:t>
            </a:r>
            <a:r>
              <a:rPr lang="en-US" altLang="en-US" sz="2400">
                <a:cs typeface="Times New Roman" panose="02020603050405020304" pitchFamily="18" charset="0"/>
              </a:rPr>
              <a:t> </a:t>
            </a:r>
            <a:r>
              <a:rPr lang="en-US" altLang="en-US" sz="2400" err="1">
                <a:cs typeface="Times New Roman" panose="02020603050405020304" pitchFamily="18" charset="0"/>
              </a:rPr>
              <a:t>phần</a:t>
            </a:r>
            <a:r>
              <a:rPr lang="en-US" altLang="en-US" sz="2400">
                <a:cs typeface="Times New Roman" panose="02020603050405020304" pitchFamily="18" charset="0"/>
              </a:rPr>
              <a:t> </a:t>
            </a:r>
            <a:r>
              <a:rPr lang="en-US" altLang="en-US" sz="2400" err="1">
                <a:cs typeface="Times New Roman" panose="02020603050405020304" pitchFamily="18" charset="0"/>
              </a:rPr>
              <a:t>tử</a:t>
            </a:r>
            <a:r>
              <a:rPr lang="en-US" altLang="en-US" sz="2400">
                <a:cs typeface="Times New Roman" panose="02020603050405020304" pitchFamily="18" charset="0"/>
              </a:rPr>
              <a:t> </a:t>
            </a:r>
            <a:r>
              <a:rPr lang="en-US" altLang="en-US" sz="2400" err="1">
                <a:cs typeface="Times New Roman" panose="02020603050405020304" pitchFamily="18" charset="0"/>
              </a:rPr>
              <a:t>khỏi</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endParaRPr lang="en-US" altLang="en-US" sz="2400">
              <a:cs typeface="Times New Roman" panose="02020603050405020304" pitchFamily="18" charset="0"/>
            </a:endParaRPr>
          </a:p>
          <a:p>
            <a:pPr lvl="1" algn="just"/>
            <a:r>
              <a:rPr lang="en-US" altLang="en-US" sz="2000" err="1">
                <a:cs typeface="Times New Roman" panose="02020603050405020304" pitchFamily="18" charset="0"/>
              </a:rPr>
              <a:t>Xác</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vị</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loại</a:t>
            </a:r>
            <a:r>
              <a:rPr lang="en-US" altLang="en-US" sz="2000">
                <a:cs typeface="Times New Roman" panose="02020603050405020304" pitchFamily="18" charset="0"/>
              </a:rPr>
              <a:t> </a:t>
            </a:r>
            <a:r>
              <a:rPr lang="en-US" altLang="en-US" sz="2000" err="1">
                <a:cs typeface="Times New Roman" panose="02020603050405020304" pitchFamily="18" charset="0"/>
              </a:rPr>
              <a:t>bỏ</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đầu</a:t>
            </a:r>
            <a:r>
              <a:rPr lang="en-US" altLang="en-US" sz="2000">
                <a:cs typeface="Times New Roman" panose="02020603050405020304" pitchFamily="18" charset="0"/>
              </a:rPr>
              <a:t>, </a:t>
            </a:r>
            <a:r>
              <a:rPr lang="en-US" altLang="en-US" sz="2000" err="1">
                <a:cs typeface="Times New Roman" panose="02020603050405020304" pitchFamily="18" charset="0"/>
              </a:rPr>
              <a:t>cuối</a:t>
            </a:r>
            <a:r>
              <a:rPr lang="en-US" altLang="en-US" sz="2000">
                <a:cs typeface="Times New Roman" panose="02020603050405020304" pitchFamily="18" charset="0"/>
              </a:rPr>
              <a:t>, </a:t>
            </a:r>
            <a:r>
              <a:rPr lang="en-US" altLang="en-US" sz="2000" err="1">
                <a:cs typeface="Times New Roman" panose="02020603050405020304" pitchFamily="18" charset="0"/>
              </a:rPr>
              <a:t>giữa</a:t>
            </a:r>
            <a:r>
              <a:rPr lang="en-US" altLang="en-US" sz="2000">
                <a:cs typeface="Times New Roman" panose="02020603050405020304" pitchFamily="18" charset="0"/>
              </a:rPr>
              <a:t>, </a:t>
            </a:r>
            <a:r>
              <a:rPr lang="en-US" altLang="en-US" sz="2000" err="1">
                <a:cs typeface="Times New Roman" panose="02020603050405020304" pitchFamily="18" charset="0"/>
              </a:rPr>
              <a:t>toàn</a:t>
            </a:r>
            <a:r>
              <a:rPr lang="en-US" altLang="en-US" sz="2000">
                <a:cs typeface="Times New Roman" panose="02020603050405020304" pitchFamily="18" charset="0"/>
              </a:rPr>
              <a:t> </a:t>
            </a:r>
            <a:r>
              <a:rPr lang="en-US" altLang="en-US" sz="2000" err="1">
                <a:cs typeface="Times New Roman" panose="02020603050405020304" pitchFamily="18" charset="0"/>
              </a:rPr>
              <a:t>bộ</a:t>
            </a:r>
            <a:r>
              <a:rPr lang="en-US" altLang="en-US" sz="2000">
                <a:cs typeface="Times New Roman" panose="02020603050405020304" pitchFamily="18" charset="0"/>
              </a:rPr>
              <a:t>.</a:t>
            </a:r>
          </a:p>
          <a:p>
            <a:pPr lvl="1" algn="just"/>
            <a:r>
              <a:rPr lang="en-US" altLang="en-US" sz="2000" err="1">
                <a:cs typeface="Times New Roman" panose="02020603050405020304" pitchFamily="18" charset="0"/>
              </a:rPr>
              <a:t>Giảm</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đi</a:t>
            </a:r>
            <a:r>
              <a:rPr lang="en-US" altLang="en-US" sz="2000">
                <a:cs typeface="Times New Roman" panose="02020603050405020304" pitchFamily="18" charset="0"/>
              </a:rPr>
              <a:t> 1 </a:t>
            </a:r>
            <a:r>
              <a:rPr lang="en-US" altLang="en-US" sz="2000" err="1">
                <a:cs typeface="Times New Roman" panose="02020603050405020304" pitchFamily="18" charset="0"/>
              </a:rPr>
              <a:t>hoặc</a:t>
            </a:r>
            <a:r>
              <a:rPr lang="en-US" altLang="en-US" sz="2000">
                <a:cs typeface="Times New Roman" panose="02020603050405020304" pitchFamily="18" charset="0"/>
              </a:rPr>
              <a:t> </a:t>
            </a:r>
            <a:r>
              <a:rPr lang="en-US" altLang="en-US" sz="2000" err="1">
                <a:cs typeface="Times New Roman" panose="02020603050405020304" pitchFamily="18" charset="0"/>
              </a:rPr>
              <a:t>nhiều</a:t>
            </a:r>
            <a:r>
              <a:rPr lang="en-US" altLang="en-US" sz="2000">
                <a:cs typeface="Times New Roman" panose="02020603050405020304" pitchFamily="18" charset="0"/>
              </a:rPr>
              <a:t>. </a:t>
            </a:r>
          </a:p>
          <a:p>
            <a:pPr lvl="1" algn="just"/>
            <a:r>
              <a:rPr lang="en-US" altLang="en-US" sz="2000" err="1">
                <a:cs typeface="Times New Roman" panose="02020603050405020304" pitchFamily="18" charset="0"/>
              </a:rPr>
              <a:t>Điều</a:t>
            </a:r>
            <a:r>
              <a:rPr lang="en-US" altLang="en-US" sz="2000">
                <a:cs typeface="Times New Roman" panose="02020603050405020304" pitchFamily="18" charset="0"/>
              </a:rPr>
              <a:t> </a:t>
            </a:r>
            <a:r>
              <a:rPr lang="en-US" altLang="en-US" sz="2000" err="1">
                <a:cs typeface="Times New Roman" panose="02020603050405020304" pitchFamily="18" charset="0"/>
              </a:rPr>
              <a:t>kiện</a:t>
            </a:r>
            <a:r>
              <a:rPr lang="en-US" altLang="en-US" sz="2000">
                <a:cs typeface="Times New Roman" panose="02020603050405020304" pitchFamily="18" charset="0"/>
              </a:rPr>
              <a:t>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loại</a:t>
            </a:r>
            <a:r>
              <a:rPr lang="en-US" altLang="en-US" sz="2000">
                <a:cs typeface="Times New Roman" panose="02020603050405020304" pitchFamily="18" charset="0"/>
              </a:rPr>
              <a:t> </a:t>
            </a:r>
            <a:r>
              <a:rPr lang="en-US" altLang="en-US" sz="2000" err="1">
                <a:cs typeface="Times New Roman" panose="02020603050405020304" pitchFamily="18" charset="0"/>
              </a:rPr>
              <a:t>bỏ</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phải</a:t>
            </a:r>
            <a:r>
              <a:rPr lang="en-US" altLang="en-US" sz="2000">
                <a:cs typeface="Times New Roman" panose="02020603050405020304" pitchFamily="18" charset="0"/>
              </a:rPr>
              <a:t> </a:t>
            </a:r>
            <a:r>
              <a:rPr lang="en-US" altLang="en-US" sz="2000" err="1">
                <a:cs typeface="Times New Roman" panose="02020603050405020304" pitchFamily="18" charset="0"/>
              </a:rPr>
              <a:t>không</a:t>
            </a:r>
            <a:r>
              <a:rPr lang="en-US" altLang="en-US" sz="2000">
                <a:cs typeface="Times New Roman" panose="02020603050405020304" pitchFamily="18" charset="0"/>
              </a:rPr>
              <a:t> </a:t>
            </a:r>
            <a:r>
              <a:rPr lang="en-US" altLang="en-US" sz="2000" err="1">
                <a:cs typeface="Times New Roman" panose="02020603050405020304" pitchFamily="18" charset="0"/>
              </a:rPr>
              <a:t>rỗng</a:t>
            </a:r>
            <a:r>
              <a:rPr lang="en-US" altLang="en-US" sz="2000">
                <a:cs typeface="Times New Roman" panose="02020603050405020304" pitchFamily="18" charset="0"/>
              </a:rPr>
              <a:t>, </a:t>
            </a:r>
            <a:r>
              <a:rPr lang="en-US" altLang="en-US" sz="2000" err="1">
                <a:cs typeface="Times New Roman" panose="02020603050405020304" pitchFamily="18" charset="0"/>
              </a:rPr>
              <a:t>tức</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nó</a:t>
            </a:r>
            <a:r>
              <a:rPr lang="en-US" altLang="en-US" sz="2000">
                <a:cs typeface="Times New Roman" panose="02020603050405020304" pitchFamily="18" charset="0"/>
              </a:rPr>
              <a:t> </a:t>
            </a:r>
            <a:r>
              <a:rPr lang="en-US" altLang="en-US" sz="2000" err="1">
                <a:cs typeface="Times New Roman" panose="02020603050405020304" pitchFamily="18" charset="0"/>
              </a:rPr>
              <a:t>phải</a:t>
            </a:r>
            <a:r>
              <a:rPr lang="en-US" altLang="en-US" sz="2000">
                <a:cs typeface="Times New Roman" panose="02020603050405020304" pitchFamily="18" charset="0"/>
              </a:rPr>
              <a:t> </a:t>
            </a:r>
            <a:r>
              <a:rPr lang="en-US" altLang="en-US" sz="2000" err="1">
                <a:cs typeface="Times New Roman" panose="02020603050405020304" pitchFamily="18" charset="0"/>
              </a:rPr>
              <a:t>còn</a:t>
            </a:r>
            <a:r>
              <a:rPr lang="en-US" altLang="en-US" sz="2000">
                <a:cs typeface="Times New Roman" panose="02020603050405020304" pitchFamily="18" charset="0"/>
              </a:rPr>
              <a:t> </a:t>
            </a:r>
            <a:r>
              <a:rPr lang="en-US" altLang="en-US" sz="2000" err="1">
                <a:cs typeface="Times New Roman" panose="02020603050405020304" pitchFamily="18" charset="0"/>
              </a:rPr>
              <a:t>ít</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p>
          <a:p>
            <a:pPr lvl="1" algn="just"/>
            <a:endParaRPr lang="en-US" altLang="en-US" sz="2000"/>
          </a:p>
        </p:txBody>
      </p:sp>
    </p:spTree>
    <p:extLst>
      <p:ext uri="{BB962C8B-B14F-4D97-AF65-F5344CB8AC3E}">
        <p14:creationId xmlns:p14="http://schemas.microsoft.com/office/powerpoint/2010/main" val="143109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r>
              <a:rPr lang="en-US" altLang="en-US" i="1"/>
              <a:t> </a:t>
            </a:r>
            <a:r>
              <a:rPr lang="en-US" altLang="en-US" i="1" err="1"/>
              <a:t>trên</a:t>
            </a:r>
            <a:r>
              <a:rPr lang="en-US" altLang="en-US" i="1"/>
              <a:t> </a:t>
            </a:r>
            <a:r>
              <a:rPr lang="en-US" altLang="en-US" i="1" err="1"/>
              <a:t>danh</a:t>
            </a:r>
            <a:r>
              <a:rPr lang="en-US" altLang="en-US" i="1"/>
              <a:t> </a:t>
            </a:r>
            <a:r>
              <a:rPr lang="en-US" altLang="en-US" i="1" err="1"/>
              <a:t>sách</a:t>
            </a:r>
            <a:endParaRPr lang="en-US" altLang="en-US" sz="3800" i="1">
              <a:cs typeface="Times New Roman" panose="02020603050405020304" pitchFamily="18" charset="0"/>
            </a:endParaRPr>
          </a:p>
        </p:txBody>
      </p:sp>
      <p:sp>
        <p:nvSpPr>
          <p:cNvPr id="13315" name="Rectangle 3"/>
          <p:cNvSpPr>
            <a:spLocks noGrp="1" noChangeArrowheads="1"/>
          </p:cNvSpPr>
          <p:nvPr>
            <p:ph type="body" sz="quarter" idx="13"/>
          </p:nvPr>
        </p:nvSpPr>
        <p:spPr/>
        <p:txBody>
          <a:bodyPr>
            <a:normAutofit/>
          </a:bodyPr>
          <a:lstStyle/>
          <a:p>
            <a:pPr algn="just"/>
            <a:r>
              <a:rPr lang="en-US" altLang="en-US" sz="2400" err="1">
                <a:cs typeface="Times New Roman" panose="02020603050405020304" pitchFamily="18" charset="0"/>
              </a:rPr>
              <a:t>Tìm</a:t>
            </a:r>
            <a:r>
              <a:rPr lang="en-US" altLang="en-US" sz="2400">
                <a:cs typeface="Times New Roman" panose="02020603050405020304" pitchFamily="18" charset="0"/>
              </a:rPr>
              <a:t> </a:t>
            </a:r>
            <a:r>
              <a:rPr lang="en-US" altLang="en-US" sz="2400" err="1">
                <a:cs typeface="Times New Roman" panose="02020603050405020304" pitchFamily="18" charset="0"/>
              </a:rPr>
              <a:t>kiếm</a:t>
            </a:r>
            <a:r>
              <a:rPr lang="en-US" altLang="en-US" sz="2400">
                <a:cs typeface="Times New Roman" panose="02020603050405020304" pitchFamily="18" charset="0"/>
              </a:rPr>
              <a:t> </a:t>
            </a:r>
            <a:r>
              <a:rPr lang="en-US" altLang="en-US" sz="2400" err="1">
                <a:cs typeface="Times New Roman" panose="02020603050405020304" pitchFamily="18" charset="0"/>
              </a:rPr>
              <a:t>một</a:t>
            </a:r>
            <a:r>
              <a:rPr lang="en-US" altLang="en-US" sz="2400">
                <a:cs typeface="Times New Roman" panose="02020603050405020304" pitchFamily="18" charset="0"/>
              </a:rPr>
              <a:t> </a:t>
            </a:r>
            <a:r>
              <a:rPr lang="en-US" altLang="en-US" sz="2400" err="1">
                <a:cs typeface="Times New Roman" panose="02020603050405020304" pitchFamily="18" charset="0"/>
              </a:rPr>
              <a:t>phần</a:t>
            </a:r>
            <a:r>
              <a:rPr lang="en-US" altLang="en-US" sz="2400">
                <a:cs typeface="Times New Roman" panose="02020603050405020304" pitchFamily="18" charset="0"/>
              </a:rPr>
              <a:t> </a:t>
            </a:r>
            <a:r>
              <a:rPr lang="en-US" altLang="en-US" sz="2400" err="1">
                <a:cs typeface="Times New Roman" panose="02020603050405020304" pitchFamily="18" charset="0"/>
              </a:rPr>
              <a:t>tử</a:t>
            </a:r>
            <a:r>
              <a:rPr lang="en-US" altLang="en-US" sz="2400">
                <a:cs typeface="Times New Roman" panose="02020603050405020304" pitchFamily="18" charset="0"/>
              </a:rPr>
              <a:t> </a:t>
            </a:r>
            <a:r>
              <a:rPr lang="en-US" altLang="en-US" sz="2400" err="1">
                <a:cs typeface="Times New Roman" panose="02020603050405020304" pitchFamily="18" charset="0"/>
              </a:rPr>
              <a:t>trong</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p>
          <a:p>
            <a:pPr lvl="1" algn="just"/>
            <a:r>
              <a:rPr lang="en-US" altLang="en-US" sz="2000" err="1">
                <a:cs typeface="Times New Roman" panose="02020603050405020304" pitchFamily="18" charset="0"/>
              </a:rPr>
              <a:t>Tìm</a:t>
            </a:r>
            <a:r>
              <a:rPr lang="en-US" altLang="en-US" sz="2000">
                <a:cs typeface="Times New Roman" panose="02020603050405020304" pitchFamily="18" charset="0"/>
              </a:rPr>
              <a:t> </a:t>
            </a:r>
            <a:r>
              <a:rPr lang="en-US" altLang="en-US" sz="2000" err="1">
                <a:cs typeface="Times New Roman" panose="02020603050405020304" pitchFamily="18" charset="0"/>
              </a:rPr>
              <a:t>kiếm</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điều</a:t>
            </a:r>
            <a:r>
              <a:rPr lang="en-US" altLang="en-US" sz="2000">
                <a:cs typeface="Times New Roman" panose="02020603050405020304" pitchFamily="18" charset="0"/>
              </a:rPr>
              <a:t> </a:t>
            </a:r>
            <a:r>
              <a:rPr lang="en-US" altLang="en-US" sz="2000" err="1">
                <a:cs typeface="Times New Roman" panose="02020603050405020304" pitchFamily="18" charset="0"/>
              </a:rPr>
              <a:t>kiện</a:t>
            </a:r>
            <a:r>
              <a:rPr lang="en-US" altLang="en-US" sz="2000">
                <a:cs typeface="Times New Roman" panose="02020603050405020304" pitchFamily="18" charset="0"/>
              </a:rPr>
              <a:t> </a:t>
            </a:r>
            <a:r>
              <a:rPr lang="en-US" altLang="en-US" sz="2000" err="1">
                <a:cs typeface="Times New Roman" panose="02020603050405020304" pitchFamily="18" charset="0"/>
              </a:rPr>
              <a:t>tìm</a:t>
            </a:r>
            <a:r>
              <a:rPr lang="en-US" altLang="en-US" sz="2000">
                <a:cs typeface="Times New Roman" panose="02020603050405020304" pitchFamily="18" charset="0"/>
              </a:rPr>
              <a:t> </a:t>
            </a:r>
            <a:r>
              <a:rPr lang="en-US" altLang="en-US" sz="2000" err="1">
                <a:cs typeface="Times New Roman" panose="02020603050405020304" pitchFamily="18" charset="0"/>
              </a:rPr>
              <a:t>kiếm</a:t>
            </a:r>
            <a:r>
              <a:rPr lang="en-US" altLang="en-US" sz="2000">
                <a:cs typeface="Times New Roman" panose="02020603050405020304" pitchFamily="18" charset="0"/>
              </a:rPr>
              <a:t>, </a:t>
            </a:r>
            <a:r>
              <a:rPr lang="en-US" altLang="en-US" sz="2000" err="1">
                <a:cs typeface="Times New Roman" panose="02020603050405020304" pitchFamily="18" charset="0"/>
              </a:rPr>
              <a:t>nếu</a:t>
            </a:r>
            <a:r>
              <a:rPr lang="en-US" altLang="en-US" sz="2000">
                <a:cs typeface="Times New Roman" panose="02020603050405020304" pitchFamily="18" charset="0"/>
              </a:rPr>
              <a:t> </a:t>
            </a:r>
            <a:r>
              <a:rPr lang="en-US" altLang="en-US" sz="2000" err="1">
                <a:cs typeface="Times New Roman" panose="02020603050405020304" pitchFamily="18" charset="0"/>
              </a:rPr>
              <a:t>xuất</a:t>
            </a:r>
            <a:r>
              <a:rPr lang="en-US" altLang="en-US" sz="2000">
                <a:cs typeface="Times New Roman" panose="02020603050405020304" pitchFamily="18" charset="0"/>
              </a:rPr>
              <a:t> </a:t>
            </a:r>
            <a:r>
              <a:rPr lang="en-US" altLang="en-US" sz="2000" err="1">
                <a:cs typeface="Times New Roman" panose="02020603050405020304" pitchFamily="18" charset="0"/>
              </a:rPr>
              <a:t>hiện</a:t>
            </a:r>
            <a:r>
              <a:rPr lang="en-US" altLang="en-US" sz="2000">
                <a:cs typeface="Times New Roman" panose="02020603050405020304" pitchFamily="18" charset="0"/>
              </a:rPr>
              <a:t> </a:t>
            </a:r>
            <a:r>
              <a:rPr lang="en-US" altLang="en-US" sz="2000" err="1">
                <a:cs typeface="Times New Roman" panose="02020603050405020304" pitchFamily="18" charset="0"/>
              </a:rPr>
              <a:t>thì</a:t>
            </a:r>
            <a:r>
              <a:rPr lang="en-US" altLang="en-US" sz="2000">
                <a:cs typeface="Times New Roman" panose="02020603050405020304" pitchFamily="18" charset="0"/>
              </a:rPr>
              <a:t> ở </a:t>
            </a:r>
            <a:r>
              <a:rPr lang="en-US" altLang="en-US" sz="2000" err="1">
                <a:cs typeface="Times New Roman" panose="02020603050405020304" pitchFamily="18" charset="0"/>
              </a:rPr>
              <a:t>vị</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nào</a:t>
            </a:r>
            <a:r>
              <a:rPr lang="en-US" altLang="en-US" sz="2000">
                <a:cs typeface="Times New Roman" panose="02020603050405020304" pitchFamily="18" charset="0"/>
              </a:rPr>
              <a:t> </a:t>
            </a:r>
            <a:r>
              <a:rPr lang="en-US" altLang="en-US" sz="2000" err="1">
                <a:cs typeface="Times New Roman" panose="02020603050405020304" pitchFamily="18" charset="0"/>
              </a:rPr>
              <a:t>trong</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p>
          <a:p>
            <a:pPr lvl="1" algn="just"/>
            <a:r>
              <a:rPr lang="en-US" altLang="en-US" sz="2000">
                <a:cs typeface="Times New Roman" panose="02020603050405020304" pitchFamily="18" charset="0"/>
              </a:rPr>
              <a:t>Thao </a:t>
            </a:r>
            <a:r>
              <a:rPr lang="en-US" altLang="en-US" sz="2000" err="1">
                <a:cs typeface="Times New Roman" panose="02020603050405020304" pitchFamily="18" charset="0"/>
              </a:rPr>
              <a:t>tác</a:t>
            </a:r>
            <a:r>
              <a:rPr lang="en-US" altLang="en-US" sz="2000">
                <a:cs typeface="Times New Roman" panose="02020603050405020304" pitchFamily="18" charset="0"/>
              </a:rPr>
              <a:t> </a:t>
            </a:r>
            <a:r>
              <a:rPr lang="en-US" altLang="en-US" sz="2000" err="1">
                <a:cs typeface="Times New Roman" panose="02020603050405020304" pitchFamily="18" charset="0"/>
              </a:rPr>
              <a:t>tìm</a:t>
            </a:r>
            <a:r>
              <a:rPr lang="en-US" altLang="en-US" sz="2000">
                <a:cs typeface="Times New Roman" panose="02020603050405020304" pitchFamily="18" charset="0"/>
              </a:rPr>
              <a:t> </a:t>
            </a:r>
            <a:r>
              <a:rPr lang="en-US" altLang="en-US" sz="2000" err="1">
                <a:cs typeface="Times New Roman" panose="02020603050405020304" pitchFamily="18" charset="0"/>
              </a:rPr>
              <a:t>kiếm</a:t>
            </a:r>
            <a:r>
              <a:rPr lang="en-US" altLang="en-US" sz="2000">
                <a:cs typeface="Times New Roman" panose="02020603050405020304" pitchFamily="18" charset="0"/>
              </a:rPr>
              <a:t> </a:t>
            </a:r>
            <a:r>
              <a:rPr lang="en-US" altLang="en-US" sz="2000" err="1">
                <a:cs typeface="Times New Roman" panose="02020603050405020304" pitchFamily="18" charset="0"/>
              </a:rPr>
              <a:t>thường</a:t>
            </a:r>
            <a:r>
              <a:rPr lang="en-US" altLang="en-US" sz="2000">
                <a:cs typeface="Times New Roman" panose="02020603050405020304" pitchFamily="18" charset="0"/>
              </a:rPr>
              <a:t> </a:t>
            </a:r>
            <a:r>
              <a:rPr lang="en-US" altLang="en-US" sz="2000" err="1">
                <a:cs typeface="Times New Roman" panose="02020603050405020304" pitchFamily="18" charset="0"/>
              </a:rPr>
              <a:t>đi</a:t>
            </a:r>
            <a:r>
              <a:rPr lang="en-US" altLang="en-US" sz="2000">
                <a:cs typeface="Times New Roman" panose="02020603050405020304" pitchFamily="18" charset="0"/>
              </a:rPr>
              <a:t> </a:t>
            </a:r>
            <a:r>
              <a:rPr lang="en-US" altLang="en-US" sz="2000" err="1">
                <a:cs typeface="Times New Roman" panose="02020603050405020304" pitchFamily="18" charset="0"/>
              </a:rPr>
              <a:t>đôi</a:t>
            </a:r>
            <a:r>
              <a:rPr lang="en-US" altLang="en-US" sz="2000">
                <a:cs typeface="Times New Roman" panose="02020603050405020304" pitchFamily="18" charset="0"/>
              </a:rPr>
              <a:t> </a:t>
            </a:r>
            <a:r>
              <a:rPr lang="en-US" altLang="en-US" sz="2000" err="1">
                <a:cs typeface="Times New Roman" panose="02020603050405020304" pitchFamily="18" charset="0"/>
              </a:rPr>
              <a:t>với</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thao</a:t>
            </a:r>
            <a:r>
              <a:rPr lang="en-US" altLang="en-US" sz="2000">
                <a:cs typeface="Times New Roman" panose="02020603050405020304" pitchFamily="18" charset="0"/>
              </a:rPr>
              <a:t> </a:t>
            </a:r>
            <a:r>
              <a:rPr lang="en-US" altLang="en-US" sz="2000" err="1">
                <a:cs typeface="Times New Roman" panose="02020603050405020304" pitchFamily="18" charset="0"/>
              </a:rPr>
              <a:t>tác</a:t>
            </a:r>
            <a:r>
              <a:rPr lang="en-US" altLang="en-US" sz="2000">
                <a:cs typeface="Times New Roman" panose="02020603050405020304" pitchFamily="18" charset="0"/>
              </a:rPr>
              <a:t> </a:t>
            </a:r>
            <a:r>
              <a:rPr lang="en-US" altLang="en-US" sz="2000" err="1">
                <a:cs typeface="Times New Roman" panose="02020603050405020304" pitchFamily="18" charset="0"/>
              </a:rPr>
              <a:t>bổ</a:t>
            </a:r>
            <a:r>
              <a:rPr lang="en-US" altLang="en-US" sz="2000">
                <a:cs typeface="Times New Roman" panose="02020603050405020304" pitchFamily="18" charset="0"/>
              </a:rPr>
              <a:t> sung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loại</a:t>
            </a:r>
            <a:r>
              <a:rPr lang="en-US" altLang="en-US" sz="2000">
                <a:cs typeface="Times New Roman" panose="02020603050405020304" pitchFamily="18" charset="0"/>
              </a:rPr>
              <a:t> </a:t>
            </a:r>
            <a:r>
              <a:rPr lang="en-US" altLang="en-US" sz="2000" err="1">
                <a:cs typeface="Times New Roman" panose="02020603050405020304" pitchFamily="18" charset="0"/>
              </a:rPr>
              <a:t>bỏ</a:t>
            </a:r>
            <a:endParaRPr lang="en-US" altLang="en-US" sz="2000">
              <a:latin typeface=".VnTime" pitchFamily="34" charset="0"/>
              <a:cs typeface="Times New Roman" panose="02020603050405020304" pitchFamily="18" charset="0"/>
            </a:endParaRPr>
          </a:p>
          <a:p>
            <a:pPr algn="just"/>
            <a:r>
              <a:rPr lang="en-US" altLang="en-US" sz="2400" err="1">
                <a:cs typeface="Times New Roman" panose="02020603050405020304" pitchFamily="18" charset="0"/>
              </a:rPr>
              <a:t>Sắp</a:t>
            </a:r>
            <a:r>
              <a:rPr lang="en-US" altLang="en-US" sz="2400">
                <a:cs typeface="Times New Roman" panose="02020603050405020304" pitchFamily="18" charset="0"/>
              </a:rPr>
              <a:t> </a:t>
            </a:r>
            <a:r>
              <a:rPr lang="en-US" altLang="en-US" sz="2400" err="1">
                <a:cs typeface="Times New Roman" panose="02020603050405020304" pitchFamily="18" charset="0"/>
              </a:rPr>
              <a:t>xếp</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p>
          <a:p>
            <a:pPr lvl="1" algn="just"/>
            <a:r>
              <a:rPr lang="en-US" altLang="en-US" sz="2000" err="1">
                <a:cs typeface="Times New Roman" panose="02020603050405020304" pitchFamily="18" charset="0"/>
              </a:rPr>
              <a:t>Sắp</a:t>
            </a:r>
            <a:r>
              <a:rPr lang="en-US" altLang="en-US" sz="2000">
                <a:cs typeface="Times New Roman" panose="02020603050405020304" pitchFamily="18" charset="0"/>
              </a:rPr>
              <a:t> </a:t>
            </a:r>
            <a:r>
              <a:rPr lang="en-US" altLang="en-US" sz="2000" err="1">
                <a:cs typeface="Times New Roman" panose="02020603050405020304" pitchFamily="18" charset="0"/>
              </a:rPr>
              <a:t>xếp</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trật</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 </a:t>
            </a:r>
            <a:r>
              <a:rPr lang="en-US" altLang="en-US" sz="2000" err="1">
                <a:cs typeface="Times New Roman" panose="02020603050405020304" pitchFamily="18" charset="0"/>
              </a:rPr>
              <a:t>định</a:t>
            </a:r>
            <a:endParaRPr lang="en-US" altLang="en-US" sz="2000">
              <a:latin typeface=".VnTime" pitchFamily="34" charset="0"/>
              <a:cs typeface="Times New Roman" panose="02020603050405020304" pitchFamily="18" charset="0"/>
            </a:endParaRPr>
          </a:p>
          <a:p>
            <a:pPr algn="just"/>
            <a:r>
              <a:rPr lang="en-US" altLang="en-US" sz="2400" err="1">
                <a:cs typeface="Times New Roman" panose="02020603050405020304" pitchFamily="18" charset="0"/>
              </a:rPr>
              <a:t>Nối</a:t>
            </a:r>
            <a:r>
              <a:rPr lang="en-US" altLang="en-US" sz="2400">
                <a:cs typeface="Times New Roman" panose="02020603050405020304" pitchFamily="18" charset="0"/>
              </a:rPr>
              <a:t> </a:t>
            </a:r>
            <a:r>
              <a:rPr lang="en-US" altLang="en-US" sz="2400" err="1">
                <a:cs typeface="Times New Roman" panose="02020603050405020304" pitchFamily="18" charset="0"/>
              </a:rPr>
              <a:t>hai</a:t>
            </a:r>
            <a:r>
              <a:rPr lang="en-US" altLang="en-US" sz="2400">
                <a:cs typeface="Times New Roman" panose="02020603050405020304" pitchFamily="18" charset="0"/>
              </a:rPr>
              <a:t> hay </a:t>
            </a:r>
            <a:r>
              <a:rPr lang="en-US" altLang="en-US" sz="2400" err="1">
                <a:cs typeface="Times New Roman" panose="02020603050405020304" pitchFamily="18" charset="0"/>
              </a:rPr>
              <a:t>nhiều</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p>
          <a:p>
            <a:pPr algn="just"/>
            <a:r>
              <a:rPr lang="en-US" altLang="en-US" sz="2400" err="1">
                <a:cs typeface="Times New Roman" panose="02020603050405020304" pitchFamily="18" charset="0"/>
              </a:rPr>
              <a:t>Tách</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r>
              <a:rPr lang="en-US" altLang="en-US" sz="2400" err="1">
                <a:cs typeface="Times New Roman" panose="02020603050405020304" pitchFamily="18" charset="0"/>
              </a:rPr>
              <a:t>thành</a:t>
            </a:r>
            <a:r>
              <a:rPr lang="en-US" altLang="en-US" sz="2400">
                <a:cs typeface="Times New Roman" panose="02020603050405020304" pitchFamily="18" charset="0"/>
              </a:rPr>
              <a:t> </a:t>
            </a:r>
            <a:r>
              <a:rPr lang="en-US" altLang="en-US" sz="2400" err="1">
                <a:cs typeface="Times New Roman" panose="02020603050405020304" pitchFamily="18" charset="0"/>
              </a:rPr>
              <a:t>hai</a:t>
            </a:r>
            <a:r>
              <a:rPr lang="en-US" altLang="en-US" sz="2400">
                <a:cs typeface="Times New Roman" panose="02020603050405020304" pitchFamily="18" charset="0"/>
              </a:rPr>
              <a:t> hay </a:t>
            </a:r>
            <a:r>
              <a:rPr lang="en-US" altLang="en-US" sz="2400" err="1">
                <a:cs typeface="Times New Roman" panose="02020603050405020304" pitchFamily="18" charset="0"/>
              </a:rPr>
              <a:t>nhiều</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con</a:t>
            </a:r>
          </a:p>
        </p:txBody>
      </p:sp>
    </p:spTree>
    <p:extLst>
      <p:ext uri="{BB962C8B-B14F-4D97-AF65-F5344CB8AC3E}">
        <p14:creationId xmlns:p14="http://schemas.microsoft.com/office/powerpoint/2010/main" val="113966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cấu</a:t>
            </a:r>
            <a:r>
              <a:rPr lang="en-US" altLang="en-US" i="1"/>
              <a:t> </a:t>
            </a:r>
            <a:r>
              <a:rPr lang="en-US" altLang="en-US" i="1" err="1"/>
              <a:t>trúc</a:t>
            </a:r>
            <a:r>
              <a:rPr lang="en-US" altLang="en-US" i="1"/>
              <a:t> </a:t>
            </a:r>
            <a:r>
              <a:rPr lang="en-US" altLang="en-US" i="1" err="1"/>
              <a:t>danh</a:t>
            </a:r>
            <a:r>
              <a:rPr lang="en-US" altLang="en-US" i="1"/>
              <a:t> </a:t>
            </a:r>
            <a:r>
              <a:rPr lang="en-US" altLang="en-US" i="1" err="1"/>
              <a:t>sách</a:t>
            </a:r>
            <a:r>
              <a:rPr lang="en-US" altLang="en-US" i="1"/>
              <a:t> </a:t>
            </a:r>
            <a:r>
              <a:rPr lang="en-US" altLang="en-US" i="1" err="1"/>
              <a:t>thông</a:t>
            </a:r>
            <a:r>
              <a:rPr lang="en-US" altLang="en-US" i="1"/>
              <a:t> </a:t>
            </a:r>
            <a:r>
              <a:rPr lang="en-US" altLang="en-US" i="1" err="1"/>
              <a:t>dụng</a:t>
            </a:r>
            <a:r>
              <a:rPr lang="en-US" altLang="en-US"/>
              <a:t> </a:t>
            </a:r>
          </a:p>
        </p:txBody>
      </p:sp>
      <p:sp>
        <p:nvSpPr>
          <p:cNvPr id="14339" name="Rectangle 3"/>
          <p:cNvSpPr>
            <a:spLocks noGrp="1" noChangeArrowheads="1"/>
          </p:cNvSpPr>
          <p:nvPr>
            <p:ph type="body" sz="quarter" idx="13"/>
          </p:nvPr>
        </p:nvSpPr>
        <p:spPr/>
        <p:txBody>
          <a:bodyPr/>
          <a:lstStyle/>
          <a:p>
            <a:r>
              <a:rPr lang="en-US" altLang="en-US" sz="2400" err="1"/>
              <a:t>Cấu</a:t>
            </a:r>
            <a:r>
              <a:rPr lang="en-US" altLang="en-US" sz="2400"/>
              <a:t> </a:t>
            </a:r>
            <a:r>
              <a:rPr lang="en-US" altLang="en-US" sz="2400" err="1"/>
              <a:t>trúc</a:t>
            </a:r>
            <a:r>
              <a:rPr lang="en-US" altLang="en-US" sz="2400"/>
              <a:t> </a:t>
            </a:r>
            <a:r>
              <a:rPr lang="en-US" altLang="en-US" sz="2400" err="1"/>
              <a:t>vào</a:t>
            </a:r>
            <a:r>
              <a:rPr lang="en-US" altLang="en-US" sz="2400"/>
              <a:t> </a:t>
            </a:r>
            <a:r>
              <a:rPr lang="en-US" altLang="en-US" sz="2400" err="1"/>
              <a:t>sau</a:t>
            </a:r>
            <a:r>
              <a:rPr lang="en-US" altLang="en-US" sz="2400"/>
              <a:t> </a:t>
            </a:r>
            <a:r>
              <a:rPr lang="en-US" altLang="en-US" sz="2400" err="1"/>
              <a:t>ra</a:t>
            </a:r>
            <a:r>
              <a:rPr lang="en-US" altLang="en-US" sz="2400"/>
              <a:t> </a:t>
            </a:r>
            <a:r>
              <a:rPr lang="en-US" altLang="en-US" sz="2400" err="1"/>
              <a:t>trước</a:t>
            </a:r>
            <a:r>
              <a:rPr lang="en-US" altLang="en-US" sz="2400"/>
              <a:t> (Last In, First Out - LIFO)</a:t>
            </a:r>
          </a:p>
          <a:p>
            <a:pPr lvl="1"/>
            <a:r>
              <a:rPr lang="en-US" altLang="en-US" sz="2000" err="1"/>
              <a:t>Cấu</a:t>
            </a:r>
            <a:r>
              <a:rPr lang="en-US" altLang="en-US" sz="2000"/>
              <a:t> </a:t>
            </a:r>
            <a:r>
              <a:rPr lang="en-US" altLang="en-US" sz="2000" err="1"/>
              <a:t>trúc</a:t>
            </a:r>
            <a:r>
              <a:rPr lang="en-US" altLang="en-US" sz="2000"/>
              <a:t> </a:t>
            </a:r>
            <a:r>
              <a:rPr lang="en-US" altLang="en-US" sz="2000" err="1"/>
              <a:t>ngăn</a:t>
            </a:r>
            <a:r>
              <a:rPr lang="en-US" altLang="en-US" sz="2000"/>
              <a:t> </a:t>
            </a:r>
            <a:r>
              <a:rPr lang="en-US" altLang="en-US" sz="2000" err="1"/>
              <a:t>xếp</a:t>
            </a:r>
            <a:r>
              <a:rPr lang="en-US" altLang="en-US" sz="2000"/>
              <a:t> – Stack</a:t>
            </a:r>
          </a:p>
          <a:p>
            <a:r>
              <a:rPr lang="en-US" altLang="en-US" sz="2400" err="1"/>
              <a:t>Cấu</a:t>
            </a:r>
            <a:r>
              <a:rPr lang="en-US" altLang="en-US" sz="2400"/>
              <a:t> </a:t>
            </a:r>
            <a:r>
              <a:rPr lang="en-US" altLang="en-US" sz="2400" err="1"/>
              <a:t>trúc</a:t>
            </a:r>
            <a:r>
              <a:rPr lang="en-US" altLang="en-US" sz="2400"/>
              <a:t> </a:t>
            </a:r>
            <a:r>
              <a:rPr lang="en-US" altLang="en-US" sz="2400" err="1"/>
              <a:t>vào</a:t>
            </a:r>
            <a:r>
              <a:rPr lang="en-US" altLang="en-US" sz="2400"/>
              <a:t> </a:t>
            </a:r>
            <a:r>
              <a:rPr lang="en-US" altLang="en-US" sz="2400" err="1"/>
              <a:t>trước</a:t>
            </a:r>
            <a:r>
              <a:rPr lang="en-US" altLang="en-US" sz="2400"/>
              <a:t> </a:t>
            </a:r>
            <a:r>
              <a:rPr lang="en-US" altLang="en-US" sz="2400" err="1"/>
              <a:t>ra</a:t>
            </a:r>
            <a:r>
              <a:rPr lang="en-US" altLang="en-US" sz="2400"/>
              <a:t> </a:t>
            </a:r>
            <a:r>
              <a:rPr lang="en-US" altLang="en-US" sz="2400" err="1"/>
              <a:t>trước</a:t>
            </a:r>
            <a:r>
              <a:rPr lang="en-US" altLang="en-US" sz="2400"/>
              <a:t> (First In, First Out - FIFO) </a:t>
            </a:r>
          </a:p>
          <a:p>
            <a:pPr lvl="1"/>
            <a:r>
              <a:rPr lang="en-US" altLang="en-US" sz="2000" err="1"/>
              <a:t>Cấu</a:t>
            </a:r>
            <a:r>
              <a:rPr lang="en-US" altLang="en-US" sz="2000"/>
              <a:t> </a:t>
            </a:r>
            <a:r>
              <a:rPr lang="en-US" altLang="en-US" sz="2000" err="1"/>
              <a:t>trúc</a:t>
            </a:r>
            <a:r>
              <a:rPr lang="en-US" altLang="en-US" sz="2000"/>
              <a:t> </a:t>
            </a:r>
            <a:r>
              <a:rPr lang="en-US" altLang="en-US" sz="2000" i="1" err="1"/>
              <a:t>hàng</a:t>
            </a:r>
            <a:r>
              <a:rPr lang="en-US" altLang="en-US" sz="2000" i="1"/>
              <a:t> </a:t>
            </a:r>
            <a:r>
              <a:rPr lang="en-US" altLang="en-US" sz="2000" i="1" err="1"/>
              <a:t>đợi</a:t>
            </a:r>
            <a:r>
              <a:rPr lang="en-US" altLang="en-US" sz="2000"/>
              <a:t> – Queue</a:t>
            </a:r>
          </a:p>
          <a:p>
            <a:endParaRPr lang="en-US" altLang="en-US">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19200" y="3048000"/>
            <a:ext cx="6452272" cy="2335273"/>
          </a:xfrm>
          <a:prstGeom prst="rect">
            <a:avLst/>
          </a:prstGeom>
        </p:spPr>
      </p:pic>
    </p:spTree>
    <p:extLst>
      <p:ext uri="{BB962C8B-B14F-4D97-AF65-F5344CB8AC3E}">
        <p14:creationId xmlns:p14="http://schemas.microsoft.com/office/powerpoint/2010/main" val="303534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cấu</a:t>
            </a:r>
            <a:r>
              <a:rPr lang="en-US" altLang="en-US" i="1"/>
              <a:t> </a:t>
            </a:r>
            <a:r>
              <a:rPr lang="en-US" altLang="en-US" i="1" err="1"/>
              <a:t>trúc</a:t>
            </a:r>
            <a:r>
              <a:rPr lang="en-US" altLang="en-US" i="1"/>
              <a:t> </a:t>
            </a:r>
            <a:r>
              <a:rPr lang="en-US" altLang="en-US" i="1" err="1"/>
              <a:t>danh</a:t>
            </a:r>
            <a:r>
              <a:rPr lang="en-US" altLang="en-US" i="1"/>
              <a:t> </a:t>
            </a:r>
            <a:r>
              <a:rPr lang="en-US" altLang="en-US" i="1" err="1"/>
              <a:t>sách</a:t>
            </a:r>
            <a:r>
              <a:rPr lang="en-US" altLang="en-US" i="1"/>
              <a:t> </a:t>
            </a:r>
            <a:r>
              <a:rPr lang="en-US" altLang="en-US" i="1" err="1"/>
              <a:t>thông</a:t>
            </a:r>
            <a:r>
              <a:rPr lang="en-US" altLang="en-US" i="1"/>
              <a:t> </a:t>
            </a:r>
            <a:r>
              <a:rPr lang="en-US" altLang="en-US" i="1" err="1"/>
              <a:t>dụng</a:t>
            </a:r>
            <a:r>
              <a:rPr lang="en-US" altLang="en-US"/>
              <a:t> </a:t>
            </a:r>
            <a:endParaRPr lang="en-US" altLang="en-US" sz="3800" i="1">
              <a:cs typeface="Times New Roman" panose="02020603050405020304" pitchFamily="18" charset="0"/>
            </a:endParaRPr>
          </a:p>
        </p:txBody>
      </p:sp>
      <p:sp>
        <p:nvSpPr>
          <p:cNvPr id="15363" name="Rectangle 3"/>
          <p:cNvSpPr>
            <a:spLocks noGrp="1" noChangeArrowheads="1"/>
          </p:cNvSpPr>
          <p:nvPr>
            <p:ph type="body" sz="quarter" idx="13"/>
          </p:nvPr>
        </p:nvSpPr>
        <p:spPr/>
        <p:txBody>
          <a:bodyPr>
            <a:normAutofit/>
          </a:bodyPr>
          <a:lstStyle/>
          <a:p>
            <a:r>
              <a:rPr lang="en-US" altLang="en-US" sz="2400" err="1"/>
              <a:t>Cấu</a:t>
            </a:r>
            <a:r>
              <a:rPr lang="en-US" altLang="en-US" sz="2400"/>
              <a:t> </a:t>
            </a:r>
            <a:r>
              <a:rPr lang="en-US" altLang="en-US" sz="2400" err="1"/>
              <a:t>trúc</a:t>
            </a:r>
            <a:r>
              <a:rPr lang="en-US" altLang="en-US" sz="2400"/>
              <a:t> </a:t>
            </a:r>
            <a:r>
              <a:rPr lang="en-US" altLang="en-US" sz="2400" i="1" err="1"/>
              <a:t>hàng</a:t>
            </a:r>
            <a:r>
              <a:rPr lang="en-US" altLang="en-US" sz="2400" i="1"/>
              <a:t> </a:t>
            </a:r>
            <a:r>
              <a:rPr lang="en-US" altLang="en-US" sz="2400" i="1" err="1"/>
              <a:t>đợi</a:t>
            </a:r>
            <a:r>
              <a:rPr lang="en-US" altLang="en-US" sz="2400" i="1"/>
              <a:t> </a:t>
            </a:r>
            <a:r>
              <a:rPr lang="en-US" altLang="en-US" sz="2400" i="1" err="1"/>
              <a:t>có</a:t>
            </a:r>
            <a:r>
              <a:rPr lang="en-US" altLang="en-US" sz="2400" i="1"/>
              <a:t> </a:t>
            </a:r>
            <a:r>
              <a:rPr lang="en-US" altLang="en-US" sz="2400" i="1" err="1"/>
              <a:t>ưu</a:t>
            </a:r>
            <a:r>
              <a:rPr lang="en-US" altLang="en-US" sz="2400" i="1"/>
              <a:t> </a:t>
            </a:r>
            <a:r>
              <a:rPr lang="en-US" altLang="en-US" sz="2400" i="1" err="1"/>
              <a:t>tiên</a:t>
            </a:r>
            <a:r>
              <a:rPr lang="en-US" altLang="en-US" sz="2400" i="1"/>
              <a:t> - </a:t>
            </a:r>
            <a:r>
              <a:rPr lang="en-US" altLang="en-US" sz="2400"/>
              <a:t>Priority queue</a:t>
            </a:r>
          </a:p>
          <a:p>
            <a:pPr lvl="1"/>
            <a:r>
              <a:rPr lang="en-US" altLang="en-US" sz="2000"/>
              <a:t>Ở </a:t>
            </a:r>
            <a:r>
              <a:rPr lang="en-US" altLang="en-US" sz="2000" err="1"/>
              <a:t>đây</a:t>
            </a:r>
            <a:r>
              <a:rPr lang="en-US" altLang="en-US" sz="2000"/>
              <a:t> </a:t>
            </a:r>
            <a:r>
              <a:rPr lang="en-US" altLang="en-US" sz="2000" err="1"/>
              <a:t>mỗi</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có</a:t>
            </a:r>
            <a:r>
              <a:rPr lang="en-US" altLang="en-US" sz="2000"/>
              <a:t> </a:t>
            </a:r>
            <a:r>
              <a:rPr lang="en-US" altLang="en-US" sz="2000" err="1"/>
              <a:t>thêm</a:t>
            </a:r>
            <a:r>
              <a:rPr lang="en-US" altLang="en-US" sz="2000"/>
              <a:t> </a:t>
            </a:r>
            <a:r>
              <a:rPr lang="en-US" altLang="en-US" sz="2000" err="1"/>
              <a:t>một</a:t>
            </a:r>
            <a:r>
              <a:rPr lang="en-US" altLang="en-US" sz="2000"/>
              <a:t> </a:t>
            </a:r>
            <a:r>
              <a:rPr lang="en-US" altLang="en-US" sz="2000" err="1"/>
              <a:t>thuộc</a:t>
            </a:r>
            <a:r>
              <a:rPr lang="en-US" altLang="en-US" sz="2000"/>
              <a:t> </a:t>
            </a:r>
            <a:r>
              <a:rPr lang="en-US" altLang="en-US" sz="2000" err="1"/>
              <a:t>tính</a:t>
            </a:r>
            <a:r>
              <a:rPr lang="en-US" altLang="en-US" sz="2000"/>
              <a:t> </a:t>
            </a:r>
            <a:r>
              <a:rPr lang="en-US" altLang="en-US" sz="2000" err="1"/>
              <a:t>gọi</a:t>
            </a:r>
            <a:r>
              <a:rPr lang="en-US" altLang="en-US" sz="2000"/>
              <a:t> </a:t>
            </a:r>
            <a:r>
              <a:rPr lang="en-US" altLang="en-US" sz="2000" err="1"/>
              <a:t>là</a:t>
            </a:r>
            <a:r>
              <a:rPr lang="en-US" altLang="en-US" sz="2000"/>
              <a:t> </a:t>
            </a:r>
            <a:r>
              <a:rPr lang="en-US" altLang="en-US" sz="2000" err="1"/>
              <a:t>độ</a:t>
            </a:r>
            <a:r>
              <a:rPr lang="en-US" altLang="en-US" sz="2000"/>
              <a:t> </a:t>
            </a:r>
            <a:r>
              <a:rPr lang="en-US" altLang="en-US" sz="2000" err="1"/>
              <a:t>ưu</a:t>
            </a:r>
            <a:r>
              <a:rPr lang="en-US" altLang="en-US" sz="2000"/>
              <a:t> </a:t>
            </a:r>
            <a:r>
              <a:rPr lang="en-US" altLang="en-US" sz="2000" err="1"/>
              <a:t>tiên</a:t>
            </a:r>
            <a:r>
              <a:rPr lang="en-US" altLang="en-US" sz="2000"/>
              <a:t>. </a:t>
            </a:r>
          </a:p>
          <a:p>
            <a:pPr lvl="1"/>
            <a:r>
              <a:rPr lang="en-US" altLang="en-US" sz="2000" err="1"/>
              <a:t>Với</a:t>
            </a:r>
            <a:r>
              <a:rPr lang="en-US" altLang="en-US" sz="2000"/>
              <a:t> </a:t>
            </a:r>
            <a:r>
              <a:rPr lang="en-US" altLang="en-US" sz="2000" err="1"/>
              <a:t>các</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có</a:t>
            </a:r>
            <a:r>
              <a:rPr lang="en-US" altLang="en-US" sz="2000"/>
              <a:t> </a:t>
            </a:r>
            <a:r>
              <a:rPr lang="en-US" altLang="en-US" sz="2000" err="1"/>
              <a:t>độ</a:t>
            </a:r>
            <a:r>
              <a:rPr lang="en-US" altLang="en-US" sz="2000"/>
              <a:t> </a:t>
            </a:r>
            <a:r>
              <a:rPr lang="en-US" altLang="en-US" sz="2000" err="1"/>
              <a:t>ưu</a:t>
            </a:r>
            <a:r>
              <a:rPr lang="en-US" altLang="en-US" sz="2000"/>
              <a:t> </a:t>
            </a:r>
            <a:r>
              <a:rPr lang="en-US" altLang="en-US" sz="2000" err="1"/>
              <a:t>tiên</a:t>
            </a:r>
            <a:r>
              <a:rPr lang="en-US" altLang="en-US" sz="2000"/>
              <a:t> </a:t>
            </a:r>
            <a:r>
              <a:rPr lang="en-US" altLang="en-US" sz="2000" err="1"/>
              <a:t>như</a:t>
            </a:r>
            <a:r>
              <a:rPr lang="en-US" altLang="en-US" sz="2000"/>
              <a:t> </a:t>
            </a:r>
            <a:r>
              <a:rPr lang="en-US" altLang="en-US" sz="2000" err="1"/>
              <a:t>nhau</a:t>
            </a:r>
            <a:r>
              <a:rPr lang="en-US" altLang="en-US" sz="2000"/>
              <a:t> </a:t>
            </a:r>
            <a:r>
              <a:rPr lang="en-US" altLang="en-US" sz="2000" err="1"/>
              <a:t>thì</a:t>
            </a:r>
            <a:r>
              <a:rPr lang="en-US" altLang="en-US" sz="2000"/>
              <a:t> </a:t>
            </a:r>
            <a:r>
              <a:rPr lang="en-US" altLang="en-US" sz="2000" err="1"/>
              <a:t>danh</a:t>
            </a:r>
            <a:r>
              <a:rPr lang="en-US" altLang="en-US" sz="2000"/>
              <a:t> </a:t>
            </a:r>
            <a:r>
              <a:rPr lang="en-US" altLang="en-US" sz="2000" err="1"/>
              <a:t>sách</a:t>
            </a:r>
            <a:r>
              <a:rPr lang="en-US" altLang="en-US" sz="2000"/>
              <a:t> </a:t>
            </a:r>
            <a:r>
              <a:rPr lang="en-US" altLang="en-US" sz="2000" err="1"/>
              <a:t>hoạt</a:t>
            </a:r>
            <a:r>
              <a:rPr lang="en-US" altLang="en-US" sz="2000"/>
              <a:t> </a:t>
            </a:r>
            <a:r>
              <a:rPr lang="en-US" altLang="en-US" sz="2000" err="1"/>
              <a:t>động</a:t>
            </a:r>
            <a:r>
              <a:rPr lang="en-US" altLang="en-US" sz="2000"/>
              <a:t> </a:t>
            </a:r>
            <a:r>
              <a:rPr lang="en-US" altLang="en-US" sz="2000" err="1"/>
              <a:t>giống</a:t>
            </a:r>
            <a:r>
              <a:rPr lang="en-US" altLang="en-US" sz="2000"/>
              <a:t> </a:t>
            </a:r>
            <a:r>
              <a:rPr lang="en-US" altLang="en-US" sz="2000" err="1"/>
              <a:t>như</a:t>
            </a:r>
            <a:r>
              <a:rPr lang="en-US" altLang="en-US" sz="2000"/>
              <a:t> </a:t>
            </a:r>
            <a:r>
              <a:rPr lang="en-US" altLang="en-US" sz="2000" err="1"/>
              <a:t>nguyên</a:t>
            </a:r>
            <a:r>
              <a:rPr lang="en-US" altLang="en-US" sz="2000"/>
              <a:t> </a:t>
            </a:r>
            <a:r>
              <a:rPr lang="en-US" altLang="en-US" sz="2000" err="1"/>
              <a:t>tắc</a:t>
            </a:r>
            <a:r>
              <a:rPr lang="en-US" altLang="en-US" sz="2000"/>
              <a:t> </a:t>
            </a:r>
            <a:r>
              <a:rPr lang="en-US" altLang="en-US" sz="2000" err="1"/>
              <a:t>hàng</a:t>
            </a:r>
            <a:r>
              <a:rPr lang="en-US" altLang="en-US" sz="2000"/>
              <a:t> </a:t>
            </a:r>
            <a:r>
              <a:rPr lang="en-US" altLang="en-US" sz="2000" err="1"/>
              <a:t>đợi</a:t>
            </a:r>
            <a:r>
              <a:rPr lang="en-US" altLang="en-US" sz="2000"/>
              <a:t>. </a:t>
            </a:r>
          </a:p>
          <a:p>
            <a:pPr lvl="1"/>
            <a:r>
              <a:rPr lang="en-US" altLang="en-US" sz="2000" err="1"/>
              <a:t>Khi</a:t>
            </a:r>
            <a:r>
              <a:rPr lang="en-US" altLang="en-US" sz="2000"/>
              <a:t> </a:t>
            </a:r>
            <a:r>
              <a:rPr lang="en-US" altLang="en-US" sz="2000" err="1"/>
              <a:t>có</a:t>
            </a:r>
            <a:r>
              <a:rPr lang="en-US" altLang="en-US" sz="2000"/>
              <a:t> </a:t>
            </a:r>
            <a:r>
              <a:rPr lang="en-US" altLang="en-US" sz="2000" err="1"/>
              <a:t>hai</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bất</a:t>
            </a:r>
            <a:r>
              <a:rPr lang="en-US" altLang="en-US" sz="2000"/>
              <a:t> </a:t>
            </a:r>
            <a:r>
              <a:rPr lang="en-US" altLang="en-US" sz="2000" err="1"/>
              <a:t>kỳ</a:t>
            </a:r>
            <a:r>
              <a:rPr lang="en-US" altLang="en-US" sz="2000"/>
              <a:t> </a:t>
            </a:r>
            <a:r>
              <a:rPr lang="en-US" altLang="en-US" sz="2000" err="1"/>
              <a:t>có</a:t>
            </a:r>
            <a:r>
              <a:rPr lang="en-US" altLang="en-US" sz="2000"/>
              <a:t> </a:t>
            </a:r>
            <a:r>
              <a:rPr lang="en-US" altLang="en-US" sz="2000" err="1"/>
              <a:t>độ</a:t>
            </a:r>
            <a:r>
              <a:rPr lang="en-US" altLang="en-US" sz="2000"/>
              <a:t> </a:t>
            </a:r>
            <a:r>
              <a:rPr lang="en-US" altLang="en-US" sz="2000" err="1"/>
              <a:t>ưu</a:t>
            </a:r>
            <a:r>
              <a:rPr lang="en-US" altLang="en-US" sz="2000"/>
              <a:t> </a:t>
            </a:r>
            <a:r>
              <a:rPr lang="en-US" altLang="en-US" sz="2000" err="1"/>
              <a:t>tiên</a:t>
            </a:r>
            <a:r>
              <a:rPr lang="en-US" altLang="en-US" sz="2000"/>
              <a:t> </a:t>
            </a:r>
            <a:r>
              <a:rPr lang="en-US" altLang="en-US" sz="2000" err="1"/>
              <a:t>khác</a:t>
            </a:r>
            <a:r>
              <a:rPr lang="en-US" altLang="en-US" sz="2000"/>
              <a:t> </a:t>
            </a:r>
            <a:r>
              <a:rPr lang="en-US" altLang="en-US" sz="2000" err="1"/>
              <a:t>nhau</a:t>
            </a:r>
            <a:r>
              <a:rPr lang="en-US" altLang="en-US" sz="2000"/>
              <a:t> </a:t>
            </a:r>
            <a:r>
              <a:rPr lang="en-US" altLang="en-US" sz="2000" err="1"/>
              <a:t>thì</a:t>
            </a:r>
            <a:r>
              <a:rPr lang="en-US" altLang="en-US" sz="2000"/>
              <a:t> </a:t>
            </a:r>
            <a:r>
              <a:rPr lang="en-US" altLang="en-US" sz="2000" err="1"/>
              <a:t>danh</a:t>
            </a:r>
            <a:r>
              <a:rPr lang="en-US" altLang="en-US" sz="2000"/>
              <a:t> </a:t>
            </a:r>
            <a:r>
              <a:rPr lang="en-US" altLang="en-US" sz="2000" err="1"/>
              <a:t>sách</a:t>
            </a:r>
            <a:r>
              <a:rPr lang="en-US" altLang="en-US" sz="2000"/>
              <a:t> </a:t>
            </a:r>
            <a:r>
              <a:rPr lang="en-US" altLang="en-US" sz="2000" err="1"/>
              <a:t>luôn</a:t>
            </a:r>
            <a:r>
              <a:rPr lang="en-US" altLang="en-US" sz="2000"/>
              <a:t> </a:t>
            </a:r>
            <a:r>
              <a:rPr lang="en-US" altLang="en-US" sz="2000" err="1"/>
              <a:t>ưu</a:t>
            </a:r>
            <a:r>
              <a:rPr lang="en-US" altLang="en-US" sz="2000"/>
              <a:t> </a:t>
            </a:r>
            <a:r>
              <a:rPr lang="en-US" altLang="en-US" sz="2000" err="1"/>
              <a:t>tiên</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có</a:t>
            </a:r>
            <a:r>
              <a:rPr lang="en-US" altLang="en-US" sz="2000"/>
              <a:t> </a:t>
            </a:r>
            <a:r>
              <a:rPr lang="en-US" altLang="en-US" sz="2000" err="1"/>
              <a:t>độ</a:t>
            </a:r>
            <a:r>
              <a:rPr lang="en-US" altLang="en-US" sz="2000"/>
              <a:t> </a:t>
            </a:r>
            <a:r>
              <a:rPr lang="en-US" altLang="en-US" sz="2000" err="1"/>
              <a:t>ưu</a:t>
            </a:r>
            <a:r>
              <a:rPr lang="en-US" altLang="en-US" sz="2000"/>
              <a:t> </a:t>
            </a:r>
            <a:r>
              <a:rPr lang="en-US" altLang="en-US" sz="2000" err="1"/>
              <a:t>tiên</a:t>
            </a:r>
            <a:r>
              <a:rPr lang="en-US" altLang="en-US" sz="2000"/>
              <a:t> </a:t>
            </a:r>
            <a:r>
              <a:rPr lang="en-US" altLang="en-US" sz="2000" err="1"/>
              <a:t>cao</a:t>
            </a:r>
            <a:r>
              <a:rPr lang="en-US" altLang="en-US" sz="2000"/>
              <a:t> </a:t>
            </a:r>
            <a:r>
              <a:rPr lang="en-US" altLang="en-US" sz="2000" err="1"/>
              <a:t>hơn</a:t>
            </a:r>
            <a:endParaRPr lang="en-US" altLang="en-US" sz="2000"/>
          </a:p>
          <a:p>
            <a:pPr lvl="2"/>
            <a:r>
              <a:rPr lang="en-US" altLang="en-US" sz="2000" err="1"/>
              <a:t>Phần</a:t>
            </a:r>
            <a:r>
              <a:rPr lang="en-US" altLang="en-US" sz="2000"/>
              <a:t> </a:t>
            </a:r>
            <a:r>
              <a:rPr lang="en-US" altLang="en-US" sz="2000" err="1"/>
              <a:t>tử</a:t>
            </a:r>
            <a:r>
              <a:rPr lang="en-US" altLang="en-US" sz="2000"/>
              <a:t> </a:t>
            </a:r>
            <a:r>
              <a:rPr lang="en-US" altLang="en-US" sz="2000" err="1"/>
              <a:t>có</a:t>
            </a:r>
            <a:r>
              <a:rPr lang="en-US" altLang="en-US" sz="2000"/>
              <a:t> </a:t>
            </a:r>
            <a:r>
              <a:rPr lang="en-US" altLang="en-US" sz="2000" err="1"/>
              <a:t>độ</a:t>
            </a:r>
            <a:r>
              <a:rPr lang="en-US" altLang="en-US" sz="2000"/>
              <a:t> </a:t>
            </a:r>
            <a:r>
              <a:rPr lang="en-US" altLang="en-US" sz="2000" err="1"/>
              <a:t>ưu</a:t>
            </a:r>
            <a:r>
              <a:rPr lang="en-US" altLang="en-US" sz="2000"/>
              <a:t> </a:t>
            </a:r>
            <a:r>
              <a:rPr lang="en-US" altLang="en-US" sz="2000" err="1"/>
              <a:t>tiên</a:t>
            </a:r>
            <a:r>
              <a:rPr lang="en-US" altLang="en-US" sz="2000"/>
              <a:t> </a:t>
            </a:r>
            <a:r>
              <a:rPr lang="en-US" altLang="en-US" sz="2000" err="1"/>
              <a:t>cao</a:t>
            </a:r>
            <a:r>
              <a:rPr lang="en-US" altLang="en-US" sz="2000"/>
              <a:t> </a:t>
            </a:r>
            <a:r>
              <a:rPr lang="en-US" altLang="en-US" sz="2000" err="1"/>
              <a:t>hơn</a:t>
            </a:r>
            <a:r>
              <a:rPr lang="en-US" altLang="en-US" sz="2000"/>
              <a:t> </a:t>
            </a:r>
            <a:r>
              <a:rPr lang="en-US" altLang="en-US" sz="2000" err="1"/>
              <a:t>được</a:t>
            </a:r>
            <a:r>
              <a:rPr lang="en-US" altLang="en-US" sz="2000"/>
              <a:t> </a:t>
            </a:r>
            <a:r>
              <a:rPr lang="en-US" altLang="en-US" sz="2000" err="1"/>
              <a:t>bổ</a:t>
            </a:r>
            <a:r>
              <a:rPr lang="en-US" altLang="en-US" sz="2000"/>
              <a:t> sung </a:t>
            </a:r>
            <a:r>
              <a:rPr lang="en-US" altLang="en-US" sz="2000" err="1"/>
              <a:t>vào</a:t>
            </a:r>
            <a:r>
              <a:rPr lang="en-US" altLang="en-US" sz="2000"/>
              <a:t> </a:t>
            </a:r>
            <a:r>
              <a:rPr lang="en-US" altLang="en-US" sz="2000" err="1"/>
              <a:t>sau</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có</a:t>
            </a:r>
            <a:r>
              <a:rPr lang="en-US" altLang="en-US" sz="2000"/>
              <a:t> </a:t>
            </a:r>
            <a:r>
              <a:rPr lang="en-US" altLang="en-US" sz="2000" err="1"/>
              <a:t>độ</a:t>
            </a:r>
            <a:r>
              <a:rPr lang="en-US" altLang="en-US" sz="2000"/>
              <a:t> </a:t>
            </a:r>
            <a:r>
              <a:rPr lang="en-US" altLang="en-US" sz="2000" err="1"/>
              <a:t>ưu</a:t>
            </a:r>
            <a:r>
              <a:rPr lang="en-US" altLang="en-US" sz="2000"/>
              <a:t> </a:t>
            </a:r>
            <a:r>
              <a:rPr lang="en-US" altLang="en-US" sz="2000" err="1"/>
              <a:t>tiên</a:t>
            </a:r>
            <a:r>
              <a:rPr lang="en-US" altLang="en-US" sz="2000"/>
              <a:t> </a:t>
            </a:r>
            <a:r>
              <a:rPr lang="en-US" altLang="en-US" sz="2000" err="1"/>
              <a:t>thấp</a:t>
            </a:r>
            <a:r>
              <a:rPr lang="en-US" altLang="en-US" sz="2000"/>
              <a:t> </a:t>
            </a:r>
            <a:r>
              <a:rPr lang="en-US" altLang="en-US" sz="2000" err="1"/>
              <a:t>hơn</a:t>
            </a:r>
            <a:r>
              <a:rPr lang="en-US" altLang="en-US" sz="2000"/>
              <a:t> </a:t>
            </a:r>
            <a:r>
              <a:rPr lang="en-US" altLang="en-US" sz="2000" err="1"/>
              <a:t>thì</a:t>
            </a:r>
            <a:r>
              <a:rPr lang="en-US" altLang="en-US" sz="2000"/>
              <a:t> </a:t>
            </a:r>
            <a:r>
              <a:rPr lang="en-US" altLang="en-US" sz="2000" err="1"/>
              <a:t>nó</a:t>
            </a:r>
            <a:r>
              <a:rPr lang="en-US" altLang="en-US" sz="2000"/>
              <a:t> </a:t>
            </a:r>
            <a:r>
              <a:rPr lang="en-US" altLang="en-US" sz="2000" err="1"/>
              <a:t>vẫn</a:t>
            </a:r>
            <a:r>
              <a:rPr lang="en-US" altLang="en-US" sz="2000"/>
              <a:t> </a:t>
            </a:r>
            <a:r>
              <a:rPr lang="en-US" altLang="en-US" sz="2000" err="1"/>
              <a:t>được</a:t>
            </a:r>
            <a:r>
              <a:rPr lang="en-US" altLang="en-US" sz="2000"/>
              <a:t> </a:t>
            </a:r>
            <a:r>
              <a:rPr lang="en-US" altLang="en-US" sz="2000" err="1"/>
              <a:t>loại</a:t>
            </a:r>
            <a:r>
              <a:rPr lang="en-US" altLang="en-US" sz="2000"/>
              <a:t> </a:t>
            </a:r>
            <a:r>
              <a:rPr lang="en-US" altLang="en-US" sz="2000" err="1"/>
              <a:t>bỏ</a:t>
            </a:r>
            <a:r>
              <a:rPr lang="en-US" altLang="en-US" sz="2000"/>
              <a:t> </a:t>
            </a:r>
            <a:r>
              <a:rPr lang="en-US" altLang="en-US" sz="2000" err="1"/>
              <a:t>ra</a:t>
            </a:r>
            <a:r>
              <a:rPr lang="en-US" altLang="en-US" sz="2000"/>
              <a:t> </a:t>
            </a:r>
            <a:r>
              <a:rPr lang="en-US" altLang="en-US" sz="2000" err="1"/>
              <a:t>trước</a:t>
            </a:r>
            <a:r>
              <a:rPr lang="en-US" altLang="en-US" sz="2000"/>
              <a:t>. </a:t>
            </a:r>
          </a:p>
          <a:p>
            <a:pPr lvl="1"/>
            <a:r>
              <a:rPr lang="vi-VN" altLang="en-US" sz="2000"/>
              <a:t>Thông thường giá trị của </a:t>
            </a:r>
            <a:r>
              <a:rPr lang="en-US" altLang="en-US" sz="2000" err="1"/>
              <a:t>phần</a:t>
            </a:r>
            <a:r>
              <a:rPr lang="en-US" altLang="en-US" sz="2000"/>
              <a:t> </a:t>
            </a:r>
            <a:r>
              <a:rPr lang="en-US" altLang="en-US" sz="2000" err="1"/>
              <a:t>tử</a:t>
            </a:r>
            <a:r>
              <a:rPr lang="vi-VN" altLang="en-US" sz="2000"/>
              <a:t> được dùng là độ ưu tiên của phần tử</a:t>
            </a:r>
            <a:endParaRPr lang="en-US" altLang="en-US" sz="2000"/>
          </a:p>
          <a:p>
            <a:pPr lvl="1"/>
            <a:r>
              <a:rPr lang="en-US" altLang="en-US" sz="2000" err="1"/>
              <a:t>Cài</a:t>
            </a:r>
            <a:r>
              <a:rPr lang="en-US" altLang="en-US" sz="2000"/>
              <a:t> </a:t>
            </a:r>
            <a:r>
              <a:rPr lang="en-US" altLang="en-US" sz="2000" err="1"/>
              <a:t>đặt</a:t>
            </a:r>
            <a:r>
              <a:rPr lang="en-US" altLang="en-US" sz="2000"/>
              <a:t>:</a:t>
            </a:r>
          </a:p>
          <a:p>
            <a:pPr lvl="2"/>
            <a:r>
              <a:rPr lang="vi-VN" sz="2000"/>
              <a:t>Không sắp xếp trước</a:t>
            </a:r>
            <a:endParaRPr lang="en-US" sz="2000"/>
          </a:p>
          <a:p>
            <a:pPr lvl="2"/>
            <a:r>
              <a:rPr lang="vi-VN" sz="2000"/>
              <a:t>Sắp xếp trước</a:t>
            </a:r>
            <a:endParaRPr lang="vi-VN" altLang="en-US" sz="2000"/>
          </a:p>
          <a:p>
            <a:pPr lvl="1"/>
            <a:endParaRPr lang="en-US" altLang="en-US" sz="2300"/>
          </a:p>
          <a:p>
            <a:pPr lvl="2"/>
            <a:endParaRPr lang="en-US" altLang="en-US" sz="2000"/>
          </a:p>
        </p:txBody>
      </p:sp>
    </p:spTree>
    <p:extLst>
      <p:ext uri="{BB962C8B-B14F-4D97-AF65-F5344CB8AC3E}">
        <p14:creationId xmlns:p14="http://schemas.microsoft.com/office/powerpoint/2010/main" val="112326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36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36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cs typeface="Times New Roman" panose="02020603050405020304" pitchFamily="18" charset="0"/>
              </a:rPr>
              <a:t>Các</a:t>
            </a:r>
            <a:r>
              <a:rPr lang="en-US" altLang="en-US" i="1">
                <a:cs typeface="Times New Roman" panose="02020603050405020304" pitchFamily="18" charset="0"/>
              </a:rPr>
              <a:t> </a:t>
            </a:r>
            <a:r>
              <a:rPr lang="en-US" altLang="en-US" i="1" err="1">
                <a:cs typeface="Times New Roman" panose="02020603050405020304" pitchFamily="18" charset="0"/>
              </a:rPr>
              <a:t>phương</a:t>
            </a:r>
            <a:r>
              <a:rPr lang="en-US" altLang="en-US" i="1">
                <a:cs typeface="Times New Roman" panose="02020603050405020304" pitchFamily="18" charset="0"/>
              </a:rPr>
              <a:t> </a:t>
            </a:r>
            <a:r>
              <a:rPr lang="en-US" altLang="en-US" i="1" err="1">
                <a:cs typeface="Times New Roman" panose="02020603050405020304" pitchFamily="18" charset="0"/>
              </a:rPr>
              <a:t>pháp</a:t>
            </a:r>
            <a:r>
              <a:rPr lang="en-US" altLang="en-US" i="1">
                <a:cs typeface="Times New Roman" panose="02020603050405020304" pitchFamily="18" charset="0"/>
              </a:rPr>
              <a:t> </a:t>
            </a:r>
            <a:r>
              <a:rPr lang="en-US" altLang="en-US" i="1" err="1">
                <a:cs typeface="Times New Roman" panose="02020603050405020304" pitchFamily="18" charset="0"/>
              </a:rPr>
              <a:t>cài</a:t>
            </a:r>
            <a:r>
              <a:rPr lang="en-US" altLang="en-US" i="1">
                <a:cs typeface="Times New Roman" panose="02020603050405020304" pitchFamily="18" charset="0"/>
              </a:rPr>
              <a:t> </a:t>
            </a:r>
            <a:r>
              <a:rPr lang="en-US" altLang="en-US" i="1" err="1">
                <a:cs typeface="Times New Roman" panose="02020603050405020304" pitchFamily="18" charset="0"/>
              </a:rPr>
              <a:t>đặt</a:t>
            </a:r>
            <a:endParaRPr lang="en-US" altLang="en-US" i="1">
              <a:cs typeface="Times New Roman" panose="02020603050405020304" pitchFamily="18" charset="0"/>
            </a:endParaRPr>
          </a:p>
        </p:txBody>
      </p:sp>
      <p:sp>
        <p:nvSpPr>
          <p:cNvPr id="16387" name="Rectangle 3"/>
          <p:cNvSpPr>
            <a:spLocks noGrp="1" noChangeArrowheads="1"/>
          </p:cNvSpPr>
          <p:nvPr>
            <p:ph type="body" sz="quarter" idx="13"/>
          </p:nvPr>
        </p:nvSpPr>
        <p:spPr/>
        <p:txBody>
          <a:bodyPr>
            <a:normAutofit/>
          </a:bodyPr>
          <a:lstStyle/>
          <a:p>
            <a:pPr>
              <a:lnSpc>
                <a:spcPct val="90000"/>
              </a:lnSpc>
            </a:pPr>
            <a:r>
              <a:rPr lang="en-US" altLang="en-US" sz="2400" err="1">
                <a:cs typeface="Times New Roman" panose="02020603050405020304" pitchFamily="18" charset="0"/>
              </a:rPr>
              <a:t>Cài</a:t>
            </a:r>
            <a:r>
              <a:rPr lang="en-US" altLang="en-US" sz="2400">
                <a:cs typeface="Times New Roman" panose="02020603050405020304" pitchFamily="18" charset="0"/>
              </a:rPr>
              <a:t> </a:t>
            </a:r>
            <a:r>
              <a:rPr lang="en-US" altLang="en-US" sz="2400" err="1">
                <a:cs typeface="Times New Roman" panose="02020603050405020304" pitchFamily="18" charset="0"/>
              </a:rPr>
              <a:t>đặt</a:t>
            </a:r>
            <a:r>
              <a:rPr lang="en-US" altLang="en-US" sz="2400">
                <a:cs typeface="Times New Roman" panose="02020603050405020304" pitchFamily="18" charset="0"/>
              </a:rPr>
              <a:t> </a:t>
            </a:r>
            <a:r>
              <a:rPr lang="en-US" altLang="en-US" sz="2400" err="1">
                <a:cs typeface="Times New Roman" panose="02020603050405020304" pitchFamily="18" charset="0"/>
              </a:rPr>
              <a:t>bằng</a:t>
            </a:r>
            <a:r>
              <a:rPr lang="en-US" altLang="en-US" sz="2400">
                <a:cs typeface="Times New Roman" panose="02020603050405020304" pitchFamily="18" charset="0"/>
              </a:rPr>
              <a:t> </a:t>
            </a:r>
            <a:r>
              <a:rPr lang="en-US" altLang="en-US" sz="2400" err="1">
                <a:cs typeface="Times New Roman" panose="02020603050405020304" pitchFamily="18" charset="0"/>
              </a:rPr>
              <a:t>cấu</a:t>
            </a:r>
            <a:r>
              <a:rPr lang="en-US" altLang="en-US" sz="2400">
                <a:cs typeface="Times New Roman" panose="02020603050405020304" pitchFamily="18" charset="0"/>
              </a:rPr>
              <a:t> </a:t>
            </a:r>
            <a:r>
              <a:rPr lang="en-US" altLang="en-US" sz="2400" err="1">
                <a:cs typeface="Times New Roman" panose="02020603050405020304" pitchFamily="18" charset="0"/>
              </a:rPr>
              <a:t>trúc</a:t>
            </a:r>
            <a:r>
              <a:rPr lang="en-US" altLang="en-US" sz="2400">
                <a:cs typeface="Times New Roman" panose="02020603050405020304" pitchFamily="18" charset="0"/>
              </a:rPr>
              <a:t> </a:t>
            </a:r>
            <a:r>
              <a:rPr lang="en-US" altLang="en-US" sz="2400" err="1">
                <a:cs typeface="Times New Roman" panose="02020603050405020304" pitchFamily="18" charset="0"/>
              </a:rPr>
              <a:t>lưu</a:t>
            </a:r>
            <a:r>
              <a:rPr lang="en-US" altLang="en-US" sz="2400">
                <a:cs typeface="Times New Roman" panose="02020603050405020304" pitchFamily="18" charset="0"/>
              </a:rPr>
              <a:t> </a:t>
            </a:r>
            <a:r>
              <a:rPr lang="en-US" altLang="en-US" sz="2400" err="1">
                <a:cs typeface="Times New Roman" panose="02020603050405020304" pitchFamily="18" charset="0"/>
              </a:rPr>
              <a:t>trữ</a:t>
            </a:r>
            <a:r>
              <a:rPr lang="en-US" altLang="en-US" sz="2400">
                <a:cs typeface="Times New Roman" panose="02020603050405020304" pitchFamily="18" charset="0"/>
              </a:rPr>
              <a:t> </a:t>
            </a:r>
            <a:r>
              <a:rPr lang="en-US" altLang="en-US" sz="2400" err="1">
                <a:cs typeface="Times New Roman" panose="02020603050405020304" pitchFamily="18" charset="0"/>
              </a:rPr>
              <a:t>tuần</a:t>
            </a:r>
            <a:r>
              <a:rPr lang="en-US" altLang="en-US" sz="2400">
                <a:cs typeface="Times New Roman" panose="02020603050405020304" pitchFamily="18" charset="0"/>
              </a:rPr>
              <a:t> </a:t>
            </a:r>
            <a:r>
              <a:rPr lang="en-US" altLang="en-US" sz="2400" err="1">
                <a:cs typeface="Times New Roman" panose="02020603050405020304" pitchFamily="18" charset="0"/>
              </a:rPr>
              <a:t>tự</a:t>
            </a:r>
            <a:r>
              <a:rPr lang="en-US" altLang="en-US" sz="2400">
                <a:cs typeface="Times New Roman" panose="02020603050405020304" pitchFamily="18" charset="0"/>
              </a:rPr>
              <a:t> (hay </a:t>
            </a:r>
            <a:r>
              <a:rPr lang="en-US" altLang="en-US" sz="2400" err="1">
                <a:cs typeface="Times New Roman" panose="02020603050405020304" pitchFamily="18" charset="0"/>
              </a:rPr>
              <a:t>mảng</a:t>
            </a:r>
            <a:r>
              <a:rPr lang="en-US" altLang="en-US" sz="2400">
                <a:cs typeface="Times New Roman" panose="02020603050405020304" pitchFamily="18" charset="0"/>
              </a:rPr>
              <a:t> </a:t>
            </a:r>
            <a:r>
              <a:rPr lang="en-US" altLang="en-US" sz="2400" err="1">
                <a:cs typeface="Times New Roman" panose="02020603050405020304" pitchFamily="18" charset="0"/>
              </a:rPr>
              <a:t>một</a:t>
            </a:r>
            <a:r>
              <a:rPr lang="en-US" altLang="en-US" sz="2400">
                <a:cs typeface="Times New Roman" panose="02020603050405020304" pitchFamily="18" charset="0"/>
              </a:rPr>
              <a:t> </a:t>
            </a:r>
            <a:r>
              <a:rPr lang="en-US" altLang="en-US" sz="2400" err="1">
                <a:cs typeface="Times New Roman" panose="02020603050405020304" pitchFamily="18" charset="0"/>
              </a:rPr>
              <a:t>chiều</a:t>
            </a:r>
            <a:r>
              <a:rPr lang="en-US" altLang="en-US" sz="2400">
                <a:cs typeface="Times New Roman" panose="02020603050405020304" pitchFamily="18" charset="0"/>
              </a:rPr>
              <a:t>) (2.2): </a:t>
            </a:r>
          </a:p>
          <a:p>
            <a:pPr lvl="1">
              <a:lnSpc>
                <a:spcPct val="90000"/>
              </a:lnSpc>
            </a:pPr>
            <a:r>
              <a:rPr lang="en-US" altLang="en-US" sz="2000" err="1">
                <a:cs typeface="Times New Roman" panose="02020603050405020304" pitchFamily="18" charset="0"/>
              </a:rPr>
              <a:t>Đơn</a:t>
            </a:r>
            <a:r>
              <a:rPr lang="en-US" altLang="en-US" sz="2000">
                <a:cs typeface="Times New Roman" panose="02020603050405020304" pitchFamily="18" charset="0"/>
              </a:rPr>
              <a:t> </a:t>
            </a:r>
            <a:r>
              <a:rPr lang="en-US" altLang="en-US" sz="2000" err="1">
                <a:cs typeface="Times New Roman" panose="02020603050405020304" pitchFamily="18" charset="0"/>
              </a:rPr>
              <a:t>giản</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nhanh</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a:t>
            </a:r>
          </a:p>
          <a:p>
            <a:pPr lvl="1">
              <a:lnSpc>
                <a:spcPct val="90000"/>
              </a:lnSpc>
            </a:pPr>
            <a:r>
              <a:rPr lang="en-US" altLang="en-US" sz="2000" err="1">
                <a:cs typeface="Times New Roman" panose="02020603050405020304" pitchFamily="18" charset="0"/>
              </a:rPr>
              <a:t>Hạn</a:t>
            </a:r>
            <a:r>
              <a:rPr lang="en-US" altLang="en-US" sz="2000">
                <a:cs typeface="Times New Roman" panose="02020603050405020304" pitchFamily="18" charset="0"/>
              </a:rPr>
              <a:t> </a:t>
            </a:r>
            <a:r>
              <a:rPr lang="en-US" altLang="en-US" sz="2000" err="1">
                <a:cs typeface="Times New Roman" panose="02020603050405020304" pitchFamily="18" charset="0"/>
              </a:rPr>
              <a:t>chế</a:t>
            </a:r>
            <a:r>
              <a:rPr lang="en-US" altLang="en-US" sz="2000">
                <a:cs typeface="Times New Roman" panose="02020603050405020304" pitchFamily="18" charset="0"/>
              </a:rPr>
              <a:t> : do </a:t>
            </a:r>
            <a:r>
              <a:rPr lang="en-US" altLang="en-US" sz="2000" err="1">
                <a:cs typeface="Times New Roman" panose="02020603050405020304" pitchFamily="18" charset="0"/>
              </a:rPr>
              <a:t>sự</a:t>
            </a:r>
            <a:r>
              <a:rPr lang="en-US" altLang="en-US" sz="2000">
                <a:cs typeface="Times New Roman" panose="02020603050405020304" pitchFamily="18" charset="0"/>
              </a:rPr>
              <a:t> </a:t>
            </a:r>
            <a:r>
              <a:rPr lang="en-US" altLang="en-US" sz="2000" err="1">
                <a:cs typeface="Times New Roman" panose="02020603050405020304" pitchFamily="18" charset="0"/>
              </a:rPr>
              <a:t>khác</a:t>
            </a:r>
            <a:r>
              <a:rPr lang="en-US" altLang="en-US" sz="2000">
                <a:cs typeface="Times New Roman" panose="02020603050405020304" pitchFamily="18" charset="0"/>
              </a:rPr>
              <a:t> </a:t>
            </a:r>
            <a:r>
              <a:rPr lang="en-US" altLang="en-US" sz="2000" err="1">
                <a:cs typeface="Times New Roman" panose="02020603050405020304" pitchFamily="18" charset="0"/>
              </a:rPr>
              <a:t>nhau</a:t>
            </a:r>
            <a:r>
              <a:rPr lang="en-US" altLang="en-US" sz="2000">
                <a:cs typeface="Times New Roman" panose="02020603050405020304" pitchFamily="18" charset="0"/>
              </a:rPr>
              <a:t> </a:t>
            </a:r>
            <a:r>
              <a:rPr lang="en-US" altLang="en-US" sz="2000" err="1">
                <a:cs typeface="Times New Roman" panose="02020603050405020304" pitchFamily="18" charset="0"/>
              </a:rPr>
              <a:t>cơ</a:t>
            </a:r>
            <a:r>
              <a:rPr lang="en-US" altLang="en-US" sz="2000">
                <a:cs typeface="Times New Roman" panose="02020603050405020304" pitchFamily="18" charset="0"/>
              </a:rPr>
              <a:t> </a:t>
            </a:r>
            <a:r>
              <a:rPr lang="en-US" altLang="en-US" sz="2000" err="1">
                <a:cs typeface="Times New Roman" panose="02020603050405020304" pitchFamily="18" charset="0"/>
              </a:rPr>
              <a:t>bản</a:t>
            </a:r>
            <a:r>
              <a:rPr lang="en-US" altLang="en-US" sz="2000">
                <a:cs typeface="Times New Roman" panose="02020603050405020304" pitchFamily="18" charset="0"/>
              </a:rPr>
              <a:t> </a:t>
            </a:r>
            <a:r>
              <a:rPr lang="en-US" altLang="en-US" sz="2000" err="1">
                <a:cs typeface="Times New Roman" panose="02020603050405020304" pitchFamily="18" charset="0"/>
              </a:rPr>
              <a:t>giữa</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giữa</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bên</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động</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bên</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tĩnh</a:t>
            </a:r>
            <a:r>
              <a:rPr lang="en-US" altLang="en-US" sz="2000">
                <a:cs typeface="Times New Roman" panose="02020603050405020304" pitchFamily="18" charset="0"/>
              </a:rPr>
              <a:t>. </a:t>
            </a:r>
            <a:endParaRPr lang="en-US" altLang="en-US" sz="2000">
              <a:latin typeface=".VnTime" pitchFamily="34" charset="0"/>
              <a:cs typeface="Times New Roman" panose="02020603050405020304" pitchFamily="18" charset="0"/>
            </a:endParaRPr>
          </a:p>
          <a:p>
            <a:pPr algn="just">
              <a:lnSpc>
                <a:spcPct val="90000"/>
              </a:lnSpc>
            </a:pPr>
            <a:r>
              <a:rPr lang="en-US" altLang="en-US" sz="2400" err="1">
                <a:cs typeface="Times New Roman" panose="02020603050405020304" pitchFamily="18" charset="0"/>
              </a:rPr>
              <a:t>Cài</a:t>
            </a:r>
            <a:r>
              <a:rPr lang="en-US" altLang="en-US" sz="2400">
                <a:cs typeface="Times New Roman" panose="02020603050405020304" pitchFamily="18" charset="0"/>
              </a:rPr>
              <a:t> </a:t>
            </a:r>
            <a:r>
              <a:rPr lang="en-US" altLang="en-US" sz="2400" err="1">
                <a:cs typeface="Times New Roman" panose="02020603050405020304" pitchFamily="18" charset="0"/>
              </a:rPr>
              <a:t>đặt</a:t>
            </a:r>
            <a:r>
              <a:rPr lang="en-US" altLang="en-US" sz="2400">
                <a:cs typeface="Times New Roman" panose="02020603050405020304" pitchFamily="18" charset="0"/>
              </a:rPr>
              <a:t> </a:t>
            </a:r>
            <a:r>
              <a:rPr lang="en-US" altLang="en-US" sz="2400" err="1">
                <a:cs typeface="Times New Roman" panose="02020603050405020304" pitchFamily="18" charset="0"/>
              </a:rPr>
              <a:t>bằng</a:t>
            </a:r>
            <a:r>
              <a:rPr lang="en-US" altLang="en-US" sz="2400">
                <a:cs typeface="Times New Roman" panose="02020603050405020304" pitchFamily="18" charset="0"/>
              </a:rPr>
              <a:t> </a:t>
            </a:r>
            <a:r>
              <a:rPr lang="en-US" altLang="en-US" sz="2400" err="1">
                <a:cs typeface="Times New Roman" panose="02020603050405020304" pitchFamily="18" charset="0"/>
              </a:rPr>
              <a:t>cấu</a:t>
            </a:r>
            <a:r>
              <a:rPr lang="en-US" altLang="en-US" sz="2400">
                <a:cs typeface="Times New Roman" panose="02020603050405020304" pitchFamily="18" charset="0"/>
              </a:rPr>
              <a:t> </a:t>
            </a:r>
            <a:r>
              <a:rPr lang="en-US" altLang="en-US" sz="2400" err="1">
                <a:cs typeface="Times New Roman" panose="02020603050405020304" pitchFamily="18" charset="0"/>
              </a:rPr>
              <a:t>trúc</a:t>
            </a:r>
            <a:r>
              <a:rPr lang="en-US" altLang="en-US" sz="2400">
                <a:cs typeface="Times New Roman" panose="02020603050405020304" pitchFamily="18" charset="0"/>
              </a:rPr>
              <a:t> </a:t>
            </a:r>
            <a:r>
              <a:rPr lang="en-US" altLang="en-US" sz="2400" err="1">
                <a:cs typeface="Times New Roman" panose="02020603050405020304" pitchFamily="18" charset="0"/>
              </a:rPr>
              <a:t>lưu</a:t>
            </a:r>
            <a:r>
              <a:rPr lang="en-US" altLang="en-US" sz="2400">
                <a:cs typeface="Times New Roman" panose="02020603050405020304" pitchFamily="18" charset="0"/>
              </a:rPr>
              <a:t> </a:t>
            </a:r>
            <a:r>
              <a:rPr lang="en-US" altLang="en-US" sz="2400" err="1">
                <a:cs typeface="Times New Roman" panose="02020603050405020304" pitchFamily="18" charset="0"/>
              </a:rPr>
              <a:t>trữ</a:t>
            </a:r>
            <a:r>
              <a:rPr lang="en-US" altLang="en-US" sz="2400">
                <a:cs typeface="Times New Roman" panose="02020603050405020304" pitchFamily="18" charset="0"/>
              </a:rPr>
              <a:t> </a:t>
            </a:r>
            <a:r>
              <a:rPr lang="en-US" altLang="en-US" sz="2400" err="1">
                <a:cs typeface="Times New Roman" panose="02020603050405020304" pitchFamily="18" charset="0"/>
              </a:rPr>
              <a:t>móc</a:t>
            </a:r>
            <a:r>
              <a:rPr lang="en-US" altLang="en-US" sz="2400">
                <a:cs typeface="Times New Roman" panose="02020603050405020304" pitchFamily="18" charset="0"/>
              </a:rPr>
              <a:t> </a:t>
            </a:r>
            <a:r>
              <a:rPr lang="en-US" altLang="en-US" sz="2400" err="1">
                <a:cs typeface="Times New Roman" panose="02020603050405020304" pitchFamily="18" charset="0"/>
              </a:rPr>
              <a:t>nối</a:t>
            </a:r>
            <a:r>
              <a:rPr lang="en-US" altLang="en-US" sz="2400">
                <a:cs typeface="Times New Roman" panose="02020603050405020304" pitchFamily="18" charset="0"/>
              </a:rPr>
              <a:t> (2.3):</a:t>
            </a:r>
          </a:p>
          <a:p>
            <a:pPr lvl="1" algn="just">
              <a:lnSpc>
                <a:spcPct val="90000"/>
              </a:lnSpc>
            </a:pP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động</a:t>
            </a:r>
            <a:r>
              <a:rPr lang="en-US" altLang="en-US" sz="2000">
                <a:cs typeface="Times New Roman" panose="02020603050405020304" pitchFamily="18" charset="0"/>
              </a:rPr>
              <a:t> </a:t>
            </a:r>
            <a:r>
              <a:rPr lang="en-US" altLang="en-US" sz="2000" err="1">
                <a:cs typeface="Times New Roman" panose="02020603050405020304" pitchFamily="18" charset="0"/>
              </a:rPr>
              <a:t>với</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tổ</a:t>
            </a:r>
            <a:r>
              <a:rPr lang="en-US" altLang="en-US" sz="2000">
                <a:cs typeface="Times New Roman" panose="02020603050405020304" pitchFamily="18" charset="0"/>
              </a:rPr>
              <a:t> </a:t>
            </a:r>
            <a:r>
              <a:rPr lang="en-US" altLang="en-US" sz="2000" err="1">
                <a:cs typeface="Times New Roman" panose="02020603050405020304" pitchFamily="18" charset="0"/>
              </a:rPr>
              <a:t>chức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có</a:t>
            </a:r>
            <a:r>
              <a:rPr lang="en-US" altLang="en-US" sz="2000">
                <a:cs typeface="Times New Roman" panose="02020603050405020304" pitchFamily="18" charset="0"/>
              </a:rPr>
              <a:t> </a:t>
            </a:r>
            <a:r>
              <a:rPr lang="en-US" altLang="en-US" sz="2000" err="1">
                <a:cs typeface="Times New Roman" panose="02020603050405020304" pitchFamily="18" charset="0"/>
              </a:rPr>
              <a:t>thể</a:t>
            </a:r>
            <a:r>
              <a:rPr lang="en-US" altLang="en-US" sz="2000">
                <a:cs typeface="Times New Roman" panose="02020603050405020304" pitchFamily="18" charset="0"/>
              </a:rPr>
              <a:t> </a:t>
            </a:r>
            <a:r>
              <a:rPr lang="en-US" altLang="en-US" sz="2000" err="1">
                <a:cs typeface="Times New Roman" panose="02020603050405020304" pitchFamily="18" charset="0"/>
              </a:rPr>
              <a:t>biến</a:t>
            </a:r>
            <a:r>
              <a:rPr lang="en-US" altLang="en-US" sz="2000">
                <a:cs typeface="Times New Roman" panose="02020603050405020304" pitchFamily="18" charset="0"/>
              </a:rPr>
              <a:t> </a:t>
            </a:r>
            <a:r>
              <a:rPr lang="en-US" altLang="en-US" sz="2000" err="1">
                <a:cs typeface="Times New Roman" panose="02020603050405020304" pitchFamily="18" charset="0"/>
              </a:rPr>
              <a:t>đổi</a:t>
            </a:r>
            <a:r>
              <a:rPr lang="en-US" altLang="en-US" sz="2000">
                <a:cs typeface="Times New Roman" panose="02020603050405020304" pitchFamily="18" charset="0"/>
              </a:rPr>
              <a:t> </a:t>
            </a:r>
            <a:r>
              <a:rPr lang="en-US" altLang="en-US" sz="2000" err="1">
                <a:cs typeface="Times New Roman" panose="02020603050405020304" pitchFamily="18" charset="0"/>
              </a:rPr>
              <a:t>linh</a:t>
            </a:r>
            <a:r>
              <a:rPr lang="en-US" altLang="en-US" sz="2000">
                <a:cs typeface="Times New Roman" panose="02020603050405020304" pitchFamily="18" charset="0"/>
              </a:rPr>
              <a:t> </a:t>
            </a:r>
            <a:r>
              <a:rPr lang="en-US" altLang="en-US" sz="2000" err="1">
                <a:cs typeface="Times New Roman" panose="02020603050405020304" pitchFamily="18" charset="0"/>
              </a:rPr>
              <a:t>hoạt</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yêu</a:t>
            </a:r>
            <a:r>
              <a:rPr lang="en-US" altLang="en-US" sz="2000">
                <a:cs typeface="Times New Roman" panose="02020603050405020304" pitchFamily="18" charset="0"/>
              </a:rPr>
              <a:t> </a:t>
            </a:r>
            <a:r>
              <a:rPr lang="en-US" altLang="en-US" sz="2000" err="1">
                <a:cs typeface="Times New Roman" panose="02020603050405020304" pitchFamily="18" charset="0"/>
              </a:rPr>
              <a:t>cầu</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dữ</a:t>
            </a:r>
            <a:r>
              <a:rPr lang="en-US" altLang="en-US" sz="2000">
                <a:cs typeface="Times New Roman" panose="02020603050405020304" pitchFamily="18" charset="0"/>
              </a:rPr>
              <a:t> </a:t>
            </a:r>
            <a:r>
              <a:rPr lang="en-US" altLang="en-US" sz="2000" err="1">
                <a:cs typeface="Times New Roman" panose="02020603050405020304" pitchFamily="18" charset="0"/>
              </a:rPr>
              <a:t>liệu</a:t>
            </a:r>
            <a:endParaRPr lang="en-US" altLang="en-US" sz="2000">
              <a:cs typeface="Times New Roman" panose="02020603050405020304" pitchFamily="18" charset="0"/>
            </a:endParaRPr>
          </a:p>
          <a:p>
            <a:pPr lvl="1" algn="just">
              <a:lnSpc>
                <a:spcPct val="90000"/>
              </a:lnSpc>
            </a:pPr>
            <a:r>
              <a:rPr lang="en-US" altLang="en-US" sz="2000" err="1">
                <a:cs typeface="Times New Roman" panose="02020603050405020304" pitchFamily="18" charset="0"/>
              </a:rPr>
              <a:t>Thích</a:t>
            </a:r>
            <a:r>
              <a:rPr lang="en-US" altLang="en-US" sz="2000">
                <a:cs typeface="Times New Roman" panose="02020603050405020304" pitchFamily="18" charset="0"/>
              </a:rPr>
              <a:t> </a:t>
            </a:r>
            <a:r>
              <a:rPr lang="en-US" altLang="en-US" sz="2000" err="1">
                <a:cs typeface="Times New Roman" panose="02020603050405020304" pitchFamily="18" charset="0"/>
              </a:rPr>
              <a:t>hợp</a:t>
            </a:r>
            <a:r>
              <a:rPr lang="en-US" altLang="en-US" sz="2000">
                <a:cs typeface="Times New Roman" panose="02020603050405020304" pitchFamily="18" charset="0"/>
              </a:rPr>
              <a:t>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tổ</a:t>
            </a:r>
            <a:r>
              <a:rPr lang="en-US" altLang="en-US" sz="2000">
                <a:cs typeface="Times New Roman" panose="02020603050405020304" pitchFamily="18" charset="0"/>
              </a:rPr>
              <a:t> </a:t>
            </a:r>
            <a:r>
              <a:rPr lang="en-US" altLang="en-US" sz="2000" err="1">
                <a:cs typeface="Times New Roman" panose="02020603050405020304" pitchFamily="18" charset="0"/>
              </a:rPr>
              <a:t>chức</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dữ</a:t>
            </a:r>
            <a:r>
              <a:rPr lang="en-US" altLang="en-US" sz="2000">
                <a:cs typeface="Times New Roman" panose="02020603050405020304" pitchFamily="18" charset="0"/>
              </a:rPr>
              <a:t> </a:t>
            </a:r>
            <a:r>
              <a:rPr lang="en-US" altLang="en-US" sz="2000" err="1">
                <a:cs typeface="Times New Roman" panose="02020603050405020304" pitchFamily="18" charset="0"/>
              </a:rPr>
              <a:t>liệu</a:t>
            </a:r>
            <a:r>
              <a:rPr lang="en-US" altLang="en-US" sz="2000">
                <a:cs typeface="Times New Roman" panose="02020603050405020304" pitchFamily="18" charset="0"/>
              </a:rPr>
              <a:t> </a:t>
            </a:r>
            <a:r>
              <a:rPr lang="en-US" altLang="en-US" sz="2000" err="1">
                <a:cs typeface="Times New Roman" panose="02020603050405020304" pitchFamily="18" charset="0"/>
              </a:rPr>
              <a:t>động</a:t>
            </a:r>
            <a:r>
              <a:rPr lang="en-US" altLang="en-US" sz="2000">
                <a:cs typeface="Times New Roman" panose="02020603050405020304" pitchFamily="18" charset="0"/>
              </a:rPr>
              <a:t>.</a:t>
            </a:r>
          </a:p>
        </p:txBody>
      </p:sp>
    </p:spTree>
    <p:extLst>
      <p:ext uri="{BB962C8B-B14F-4D97-AF65-F5344CB8AC3E}">
        <p14:creationId xmlns:p14="http://schemas.microsoft.com/office/powerpoint/2010/main" val="390551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38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r>
              <a:rPr lang="en-US" altLang="en-US"/>
              <a:t>2.1. </a:t>
            </a:r>
            <a:r>
              <a:rPr lang="en-US" altLang="en-US" err="1"/>
              <a:t>Mô</a:t>
            </a:r>
            <a:r>
              <a:rPr lang="en-US" altLang="en-US"/>
              <a:t> </a:t>
            </a:r>
            <a:r>
              <a:rPr lang="en-US" altLang="en-US" err="1"/>
              <a:t>tả</a:t>
            </a:r>
            <a:br>
              <a:rPr lang="en-US" altLang="en-US" i="1"/>
            </a:br>
            <a:r>
              <a:rPr lang="en-US" altLang="en-US" i="1" err="1"/>
              <a:t>Các</a:t>
            </a:r>
            <a:r>
              <a:rPr lang="en-US" altLang="en-US" i="1"/>
              <a:t> </a:t>
            </a:r>
            <a:r>
              <a:rPr lang="en-US" altLang="en-US" i="1" err="1"/>
              <a:t>phương</a:t>
            </a:r>
            <a:r>
              <a:rPr lang="en-US" altLang="en-US" i="1"/>
              <a:t> </a:t>
            </a:r>
            <a:r>
              <a:rPr lang="en-US" altLang="en-US" i="1" err="1"/>
              <a:t>pháp</a:t>
            </a:r>
            <a:r>
              <a:rPr lang="en-US" altLang="en-US" i="1"/>
              <a:t> </a:t>
            </a:r>
            <a:r>
              <a:rPr lang="en-US" altLang="en-US" i="1" err="1"/>
              <a:t>cài</a:t>
            </a:r>
            <a:r>
              <a:rPr lang="en-US" altLang="en-US" i="1"/>
              <a:t> </a:t>
            </a:r>
            <a:r>
              <a:rPr lang="en-US" altLang="en-US" i="1" err="1"/>
              <a:t>đặt</a:t>
            </a:r>
            <a:endParaRPr lang="en-US" altLang="en-US"/>
          </a:p>
        </p:txBody>
      </p:sp>
      <p:sp>
        <p:nvSpPr>
          <p:cNvPr id="26627" name="Rectangle 3"/>
          <p:cNvSpPr>
            <a:spLocks noGrp="1" noChangeArrowheads="1"/>
          </p:cNvSpPr>
          <p:nvPr>
            <p:ph type="body" sz="quarter" idx="13"/>
          </p:nvPr>
        </p:nvSpPr>
        <p:spPr/>
        <p:txBody>
          <a:bodyPr>
            <a:normAutofit/>
          </a:bodyPr>
          <a:lstStyle/>
          <a:p>
            <a:pPr>
              <a:lnSpc>
                <a:spcPct val="80000"/>
              </a:lnSpc>
              <a:spcBef>
                <a:spcPct val="10000"/>
              </a:spcBef>
            </a:pPr>
            <a:r>
              <a:rPr lang="en-US" altLang="en-US" sz="2400" err="1">
                <a:cs typeface="Times New Roman" panose="02020603050405020304" pitchFamily="18" charset="0"/>
              </a:rPr>
              <a:t>Nguyên</a:t>
            </a:r>
            <a:r>
              <a:rPr lang="en-US" altLang="en-US" sz="2400">
                <a:cs typeface="Times New Roman" panose="02020603050405020304" pitchFamily="18" charset="0"/>
              </a:rPr>
              <a:t> </a:t>
            </a:r>
            <a:r>
              <a:rPr lang="en-US" altLang="en-US" sz="2400" err="1">
                <a:cs typeface="Times New Roman" panose="02020603050405020304" pitchFamily="18" charset="0"/>
              </a:rPr>
              <a:t>tắc</a:t>
            </a:r>
            <a:r>
              <a:rPr lang="en-US" altLang="en-US" sz="2400">
                <a:cs typeface="Times New Roman" panose="02020603050405020304" pitchFamily="18" charset="0"/>
              </a:rPr>
              <a:t> </a:t>
            </a:r>
            <a:r>
              <a:rPr lang="en-US" altLang="en-US" sz="2400" err="1">
                <a:cs typeface="Times New Roman" panose="02020603050405020304" pitchFamily="18" charset="0"/>
              </a:rPr>
              <a:t>chung</a:t>
            </a:r>
            <a:r>
              <a:rPr lang="en-US" altLang="en-US" sz="2400">
                <a:cs typeface="Times New Roman" panose="02020603050405020304" pitchFamily="18" charset="0"/>
              </a:rPr>
              <a:t>:</a:t>
            </a:r>
          </a:p>
          <a:p>
            <a:pPr lvl="1">
              <a:spcBef>
                <a:spcPts val="0"/>
              </a:spcBef>
            </a:pPr>
            <a:r>
              <a:rPr lang="en-US" altLang="en-US" sz="2000" err="1"/>
              <a:t>Tính</a:t>
            </a:r>
            <a:r>
              <a:rPr lang="en-US" altLang="en-US" sz="2000"/>
              <a:t> </a:t>
            </a:r>
            <a:r>
              <a:rPr lang="en-US" altLang="en-US" sz="2000" err="1"/>
              <a:t>đầy</a:t>
            </a:r>
            <a:r>
              <a:rPr lang="en-US" altLang="en-US" sz="2000"/>
              <a:t> </a:t>
            </a:r>
            <a:r>
              <a:rPr lang="en-US" altLang="en-US" sz="2000" err="1"/>
              <a:t>đủ</a:t>
            </a:r>
            <a:r>
              <a:rPr lang="en-US" altLang="en-US" sz="2000"/>
              <a:t>: CTLT </a:t>
            </a:r>
            <a:r>
              <a:rPr lang="en-US" altLang="en-US" sz="2000" err="1"/>
              <a:t>phải</a:t>
            </a:r>
            <a:r>
              <a:rPr lang="en-US" altLang="en-US" sz="2000"/>
              <a:t> </a:t>
            </a:r>
            <a:r>
              <a:rPr lang="en-US" altLang="en-US" sz="2000" err="1"/>
              <a:t>có</a:t>
            </a:r>
            <a:r>
              <a:rPr lang="en-US" altLang="en-US" sz="2000"/>
              <a:t> </a:t>
            </a:r>
            <a:r>
              <a:rPr lang="en-US" altLang="en-US" sz="2000" err="1"/>
              <a:t>các</a:t>
            </a:r>
            <a:r>
              <a:rPr lang="en-US" altLang="en-US" sz="2000"/>
              <a:t> </a:t>
            </a:r>
            <a:r>
              <a:rPr lang="en-US" altLang="en-US" sz="2000" err="1"/>
              <a:t>đặc</a:t>
            </a:r>
            <a:r>
              <a:rPr lang="en-US" altLang="en-US" sz="2000"/>
              <a:t> </a:t>
            </a:r>
            <a:r>
              <a:rPr lang="en-US" altLang="en-US" sz="2000" err="1"/>
              <a:t>trưng</a:t>
            </a:r>
            <a:r>
              <a:rPr lang="en-US" altLang="en-US" sz="2000"/>
              <a:t> </a:t>
            </a:r>
            <a:r>
              <a:rPr lang="en-US" altLang="en-US" sz="2000" err="1"/>
              <a:t>thích</a:t>
            </a:r>
            <a:r>
              <a:rPr lang="en-US" altLang="en-US" sz="2000"/>
              <a:t> </a:t>
            </a:r>
            <a:r>
              <a:rPr lang="en-US" altLang="en-US" sz="2000" err="1"/>
              <a:t>hợp</a:t>
            </a:r>
            <a:r>
              <a:rPr lang="en-US" altLang="en-US" sz="2000"/>
              <a:t> </a:t>
            </a:r>
            <a:r>
              <a:rPr lang="en-US" altLang="en-US" sz="2000" err="1"/>
              <a:t>để</a:t>
            </a:r>
            <a:r>
              <a:rPr lang="en-US" altLang="en-US" sz="2000"/>
              <a:t> </a:t>
            </a:r>
            <a:r>
              <a:rPr lang="en-US" altLang="en-US" sz="2000" err="1"/>
              <a:t>biểu</a:t>
            </a:r>
            <a:r>
              <a:rPr lang="en-US" altLang="en-US" sz="2000"/>
              <a:t> </a:t>
            </a:r>
            <a:r>
              <a:rPr lang="en-US" altLang="en-US" sz="2000" err="1"/>
              <a:t>diễn</a:t>
            </a:r>
            <a:r>
              <a:rPr lang="en-US" altLang="en-US" sz="2000"/>
              <a:t> </a:t>
            </a:r>
            <a:r>
              <a:rPr lang="en-US" altLang="en-US" sz="2000" err="1"/>
              <a:t>đầy</a:t>
            </a:r>
            <a:r>
              <a:rPr lang="en-US" altLang="en-US" sz="2000"/>
              <a:t> </a:t>
            </a:r>
            <a:r>
              <a:rPr lang="en-US" altLang="en-US" sz="2000" err="1"/>
              <a:t>đủ</a:t>
            </a:r>
            <a:r>
              <a:rPr lang="en-US" altLang="en-US" sz="2000"/>
              <a:t> </a:t>
            </a:r>
            <a:r>
              <a:rPr lang="en-US" altLang="en-US" sz="2000" err="1"/>
              <a:t>các</a:t>
            </a:r>
            <a:r>
              <a:rPr lang="en-US" altLang="en-US" sz="2000"/>
              <a:t> </a:t>
            </a:r>
            <a:r>
              <a:rPr lang="en-US" altLang="en-US" sz="2000" err="1"/>
              <a:t>đặc</a:t>
            </a:r>
            <a:r>
              <a:rPr lang="en-US" altLang="en-US" sz="2000"/>
              <a:t> </a:t>
            </a:r>
            <a:r>
              <a:rPr lang="en-US" altLang="en-US" sz="2000" err="1"/>
              <a:t>tính</a:t>
            </a:r>
            <a:r>
              <a:rPr lang="en-US" altLang="en-US" sz="2000"/>
              <a:t> </a:t>
            </a:r>
            <a:r>
              <a:rPr lang="en-US" altLang="en-US" sz="2000" err="1"/>
              <a:t>và</a:t>
            </a:r>
            <a:r>
              <a:rPr lang="en-US" altLang="en-US" sz="2000"/>
              <a:t> </a:t>
            </a:r>
            <a:r>
              <a:rPr lang="en-US" altLang="en-US" sz="2000" err="1"/>
              <a:t>khả</a:t>
            </a:r>
            <a:r>
              <a:rPr lang="en-US" altLang="en-US" sz="2000"/>
              <a:t> </a:t>
            </a:r>
            <a:r>
              <a:rPr lang="en-US" altLang="en-US" sz="2000" err="1"/>
              <a:t>năng</a:t>
            </a:r>
            <a:r>
              <a:rPr lang="en-US" altLang="en-US" sz="2000"/>
              <a:t> </a:t>
            </a:r>
            <a:r>
              <a:rPr lang="en-US" altLang="en-US" sz="2000" err="1"/>
              <a:t>của</a:t>
            </a:r>
            <a:r>
              <a:rPr lang="en-US" altLang="en-US" sz="2000"/>
              <a:t> CTDL. </a:t>
            </a:r>
          </a:p>
          <a:p>
            <a:pPr lvl="2">
              <a:spcBef>
                <a:spcPts val="0"/>
              </a:spcBef>
            </a:pPr>
            <a:r>
              <a:rPr lang="en-US" altLang="en-US" sz="2000" b="1" err="1"/>
              <a:t>Khả</a:t>
            </a:r>
            <a:r>
              <a:rPr lang="en-US" altLang="en-US" sz="2000" b="1"/>
              <a:t> </a:t>
            </a:r>
            <a:r>
              <a:rPr lang="en-US" altLang="en-US" sz="2000" b="1" err="1"/>
              <a:t>năng</a:t>
            </a:r>
            <a:r>
              <a:rPr lang="en-US" altLang="en-US" sz="2000" b="1"/>
              <a:t> </a:t>
            </a:r>
            <a:r>
              <a:rPr lang="en-US" altLang="en-US" sz="2000" b="1" err="1"/>
              <a:t>lưu</a:t>
            </a:r>
            <a:r>
              <a:rPr lang="en-US" altLang="en-US" sz="2000" b="1"/>
              <a:t> </a:t>
            </a:r>
            <a:r>
              <a:rPr lang="en-US" altLang="en-US" sz="2000" b="1" err="1"/>
              <a:t>trữ</a:t>
            </a:r>
            <a:r>
              <a:rPr lang="en-US" altLang="en-US" sz="2000" b="1"/>
              <a:t>:</a:t>
            </a:r>
            <a:r>
              <a:rPr lang="en-US" altLang="en-US" sz="2000"/>
              <a:t> </a:t>
            </a:r>
            <a:r>
              <a:rPr lang="en-US" altLang="en-US" sz="2000" err="1"/>
              <a:t>là</a:t>
            </a:r>
            <a:r>
              <a:rPr lang="en-US" altLang="en-US" sz="2000"/>
              <a:t> </a:t>
            </a:r>
            <a:r>
              <a:rPr lang="en-US" altLang="en-US" sz="2000" err="1"/>
              <a:t>kích</a:t>
            </a:r>
            <a:r>
              <a:rPr lang="en-US" altLang="en-US" sz="2000"/>
              <a:t> </a:t>
            </a:r>
            <a:r>
              <a:rPr lang="en-US" altLang="en-US" sz="2000" err="1"/>
              <a:t>thước</a:t>
            </a:r>
            <a:r>
              <a:rPr lang="en-US" altLang="en-US" sz="2000"/>
              <a:t>, </a:t>
            </a:r>
            <a:r>
              <a:rPr lang="en-US" altLang="en-US" sz="2000" err="1"/>
              <a:t>miền</a:t>
            </a:r>
            <a:r>
              <a:rPr lang="en-US" altLang="en-US" sz="2000"/>
              <a:t> </a:t>
            </a:r>
            <a:r>
              <a:rPr lang="en-US" altLang="en-US" sz="2000" err="1"/>
              <a:t>giá</a:t>
            </a:r>
            <a:r>
              <a:rPr lang="en-US" altLang="en-US" sz="2000"/>
              <a:t> </a:t>
            </a:r>
            <a:r>
              <a:rPr lang="en-US" altLang="en-US" sz="2000" err="1"/>
              <a:t>trị</a:t>
            </a:r>
            <a:r>
              <a:rPr lang="en-US" altLang="en-US" sz="2000"/>
              <a:t> </a:t>
            </a:r>
            <a:r>
              <a:rPr lang="en-US" altLang="en-US" sz="2000" err="1"/>
              <a:t>của</a:t>
            </a:r>
            <a:r>
              <a:rPr lang="en-US" altLang="en-US" sz="2000"/>
              <a:t> </a:t>
            </a:r>
            <a:r>
              <a:rPr lang="en-US" altLang="en-US" sz="2000" err="1"/>
              <a:t>cấu</a:t>
            </a:r>
            <a:r>
              <a:rPr lang="en-US" altLang="en-US" sz="2000"/>
              <a:t> </a:t>
            </a:r>
            <a:r>
              <a:rPr lang="en-US" altLang="en-US" sz="2000" err="1"/>
              <a:t>trúc</a:t>
            </a:r>
            <a:r>
              <a:rPr lang="en-US" altLang="en-US" sz="2000"/>
              <a:t> </a:t>
            </a:r>
            <a:r>
              <a:rPr lang="en-US" altLang="en-US" sz="2000" err="1"/>
              <a:t>dữ</a:t>
            </a:r>
            <a:r>
              <a:rPr lang="en-US" altLang="en-US" sz="2000"/>
              <a:t> </a:t>
            </a:r>
            <a:r>
              <a:rPr lang="en-US" altLang="en-US" sz="2000" err="1"/>
              <a:t>liệu</a:t>
            </a:r>
            <a:r>
              <a:rPr lang="en-US" altLang="en-US" sz="2000"/>
              <a:t> </a:t>
            </a:r>
            <a:r>
              <a:rPr lang="en-US" altLang="en-US" sz="2000" err="1"/>
              <a:t>mà</a:t>
            </a:r>
            <a:r>
              <a:rPr lang="en-US" altLang="en-US" sz="2000"/>
              <a:t> </a:t>
            </a:r>
            <a:r>
              <a:rPr lang="en-US" altLang="en-US" sz="2000" err="1"/>
              <a:t>nó</a:t>
            </a:r>
            <a:r>
              <a:rPr lang="en-US" altLang="en-US" sz="2000"/>
              <a:t> </a:t>
            </a:r>
            <a:r>
              <a:rPr lang="en-US" altLang="en-US" sz="2000" err="1"/>
              <a:t>cài</a:t>
            </a:r>
            <a:r>
              <a:rPr lang="en-US" altLang="en-US" sz="2000"/>
              <a:t> </a:t>
            </a:r>
            <a:r>
              <a:rPr lang="en-US" altLang="en-US" sz="2000" err="1"/>
              <a:t>đặt</a:t>
            </a:r>
            <a:r>
              <a:rPr lang="en-US" altLang="en-US" sz="2000"/>
              <a:t>.  </a:t>
            </a:r>
          </a:p>
          <a:p>
            <a:pPr lvl="2">
              <a:spcBef>
                <a:spcPts val="0"/>
              </a:spcBef>
            </a:pPr>
            <a:r>
              <a:rPr lang="en-US" altLang="en-US" sz="2000" b="1" err="1"/>
              <a:t>Khả</a:t>
            </a:r>
            <a:r>
              <a:rPr lang="en-US" altLang="en-US" sz="2000" b="1"/>
              <a:t> </a:t>
            </a:r>
            <a:r>
              <a:rPr lang="en-US" altLang="en-US" sz="2000" b="1" err="1"/>
              <a:t>năng</a:t>
            </a:r>
            <a:r>
              <a:rPr lang="en-US" altLang="en-US" sz="2000" b="1"/>
              <a:t> </a:t>
            </a:r>
            <a:r>
              <a:rPr lang="en-US" altLang="en-US" sz="2000" b="1" err="1"/>
              <a:t>xử</a:t>
            </a:r>
            <a:r>
              <a:rPr lang="en-US" altLang="en-US" sz="2000" b="1"/>
              <a:t> </a:t>
            </a:r>
            <a:r>
              <a:rPr lang="en-US" altLang="en-US" sz="2000" b="1" err="1"/>
              <a:t>lý</a:t>
            </a:r>
            <a:r>
              <a:rPr lang="en-US" altLang="en-US" sz="2000" b="1"/>
              <a:t>:</a:t>
            </a:r>
            <a:r>
              <a:rPr lang="en-US" altLang="en-US" sz="2000"/>
              <a:t> </a:t>
            </a:r>
            <a:r>
              <a:rPr lang="en-US" altLang="en-US" sz="2000" err="1"/>
              <a:t>là</a:t>
            </a:r>
            <a:r>
              <a:rPr lang="en-US" altLang="en-US" sz="2000"/>
              <a:t> </a:t>
            </a:r>
            <a:r>
              <a:rPr lang="en-US" altLang="en-US" sz="2000" err="1"/>
              <a:t>tập</a:t>
            </a:r>
            <a:r>
              <a:rPr lang="en-US" altLang="en-US" sz="2000"/>
              <a:t> </a:t>
            </a:r>
            <a:r>
              <a:rPr lang="en-US" altLang="en-US" sz="2000" err="1"/>
              <a:t>các</a:t>
            </a:r>
            <a:r>
              <a:rPr lang="en-US" altLang="en-US" sz="2000"/>
              <a:t> </a:t>
            </a:r>
            <a:r>
              <a:rPr lang="en-US" altLang="en-US" sz="2000" err="1"/>
              <a:t>thao</a:t>
            </a:r>
            <a:r>
              <a:rPr lang="en-US" altLang="en-US" sz="2000"/>
              <a:t> </a:t>
            </a:r>
            <a:r>
              <a:rPr lang="en-US" altLang="en-US" sz="2000" err="1"/>
              <a:t>tác</a:t>
            </a:r>
            <a:r>
              <a:rPr lang="en-US" altLang="en-US" sz="2000"/>
              <a:t> </a:t>
            </a:r>
            <a:r>
              <a:rPr lang="en-US" altLang="en-US" sz="2000" err="1"/>
              <a:t>được</a:t>
            </a:r>
            <a:r>
              <a:rPr lang="en-US" altLang="en-US" sz="2000"/>
              <a:t> </a:t>
            </a:r>
            <a:r>
              <a:rPr lang="en-US" altLang="en-US" sz="2000" err="1"/>
              <a:t>cài</a:t>
            </a:r>
            <a:r>
              <a:rPr lang="en-US" altLang="en-US" sz="2000"/>
              <a:t> </a:t>
            </a:r>
            <a:r>
              <a:rPr lang="en-US" altLang="en-US" sz="2000" err="1"/>
              <a:t>đặt</a:t>
            </a:r>
            <a:r>
              <a:rPr lang="en-US" altLang="en-US" sz="2000"/>
              <a:t> </a:t>
            </a:r>
            <a:r>
              <a:rPr lang="en-US" altLang="en-US" sz="2000" err="1"/>
              <a:t>trên</a:t>
            </a:r>
            <a:r>
              <a:rPr lang="en-US" altLang="en-US" sz="2000"/>
              <a:t> CTLT </a:t>
            </a:r>
            <a:r>
              <a:rPr lang="en-US" altLang="en-US" sz="2000" err="1"/>
              <a:t>đã</a:t>
            </a:r>
            <a:r>
              <a:rPr lang="en-US" altLang="en-US" sz="2000"/>
              <a:t> </a:t>
            </a:r>
            <a:r>
              <a:rPr lang="en-US" altLang="en-US" sz="2000" err="1"/>
              <a:t>chọn</a:t>
            </a:r>
            <a:r>
              <a:rPr lang="en-US" altLang="en-US" sz="2000"/>
              <a:t>. </a:t>
            </a:r>
          </a:p>
          <a:p>
            <a:pPr lvl="1" algn="just">
              <a:spcBef>
                <a:spcPts val="0"/>
              </a:spcBef>
            </a:pPr>
            <a:r>
              <a:rPr lang="en-US" altLang="en-US" sz="2000" err="1"/>
              <a:t>Tính</a:t>
            </a:r>
            <a:r>
              <a:rPr lang="en-US" altLang="en-US" sz="2000"/>
              <a:t> </a:t>
            </a:r>
            <a:r>
              <a:rPr lang="en-US" altLang="en-US" sz="2000" err="1"/>
              <a:t>hiệu</a:t>
            </a:r>
            <a:r>
              <a:rPr lang="en-US" altLang="en-US" sz="2000"/>
              <a:t> </a:t>
            </a:r>
            <a:r>
              <a:rPr lang="en-US" altLang="en-US" sz="2000" err="1"/>
              <a:t>quả</a:t>
            </a:r>
            <a:r>
              <a:rPr lang="en-US" altLang="en-US" sz="2000"/>
              <a:t>: </a:t>
            </a:r>
            <a:r>
              <a:rPr lang="vi-VN" altLang="en-US" sz="2000"/>
              <a:t>cài đặt phải đảm bảo các thao tác xử lý chạy nhanh nhất và</a:t>
            </a:r>
            <a:r>
              <a:rPr lang="en-US" altLang="en-US" sz="2000"/>
              <a:t> </a:t>
            </a:r>
            <a:r>
              <a:rPr lang="vi-VN" altLang="en-US" sz="2000"/>
              <a:t>cấu trúc lưu trữ sử dụng bộ nhớ tiết kiệm nhất.</a:t>
            </a:r>
            <a:endParaRPr lang="en-US" altLang="en-US" sz="2000"/>
          </a:p>
          <a:p>
            <a:pPr lvl="1" algn="just">
              <a:spcBef>
                <a:spcPts val="0"/>
              </a:spcBef>
            </a:pPr>
            <a:r>
              <a:rPr lang="en-US" altLang="en-US" sz="2000" err="1"/>
              <a:t>Tính</a:t>
            </a:r>
            <a:r>
              <a:rPr lang="en-US" altLang="en-US" sz="2000"/>
              <a:t> </a:t>
            </a:r>
            <a:r>
              <a:rPr lang="en-US" altLang="en-US" sz="2000" err="1"/>
              <a:t>mở</a:t>
            </a:r>
            <a:r>
              <a:rPr lang="en-US" altLang="en-US" sz="2000"/>
              <a:t> </a:t>
            </a:r>
            <a:r>
              <a:rPr lang="en-US" altLang="en-US" sz="2000" err="1"/>
              <a:t>rộng</a:t>
            </a:r>
            <a:r>
              <a:rPr lang="en-US" altLang="en-US" sz="2000"/>
              <a:t>, </a:t>
            </a:r>
            <a:r>
              <a:rPr lang="en-US" altLang="en-US" sz="2000" err="1"/>
              <a:t>và</a:t>
            </a:r>
            <a:r>
              <a:rPr lang="en-US" altLang="en-US" sz="2000"/>
              <a:t> </a:t>
            </a:r>
            <a:r>
              <a:rPr lang="en-US" altLang="en-US" sz="2000" err="1"/>
              <a:t>che</a:t>
            </a:r>
            <a:r>
              <a:rPr lang="en-US" altLang="en-US" sz="2000"/>
              <a:t> </a:t>
            </a:r>
            <a:r>
              <a:rPr lang="en-US" altLang="en-US" sz="2000" err="1"/>
              <a:t>giấu</a:t>
            </a:r>
            <a:endParaRPr lang="en-US" altLang="en-US" sz="2000"/>
          </a:p>
          <a:p>
            <a:pPr lvl="1" algn="just">
              <a:spcBef>
                <a:spcPts val="0"/>
              </a:spcBef>
            </a:pPr>
            <a:endParaRPr lang="en-US" altLang="en-US" sz="2000"/>
          </a:p>
        </p:txBody>
      </p:sp>
      <p:sp>
        <p:nvSpPr>
          <p:cNvPr id="2" name="Rectangle 1"/>
          <p:cNvSpPr/>
          <p:nvPr/>
        </p:nvSpPr>
        <p:spPr>
          <a:xfrm>
            <a:off x="1333500" y="4343400"/>
            <a:ext cx="6477000" cy="923330"/>
          </a:xfrm>
          <a:prstGeom prst="rect">
            <a:avLst/>
          </a:prstGeom>
        </p:spPr>
        <p:txBody>
          <a:bodyPr wrap="square">
            <a:spAutoFit/>
          </a:bodyPr>
          <a:lstStyle/>
          <a:p>
            <a:pPr algn="just"/>
            <a:r>
              <a:rPr lang="en-US"/>
              <a:t>=&gt; </a:t>
            </a:r>
            <a:r>
              <a:rPr lang="en-US" err="1"/>
              <a:t>Khó</a:t>
            </a:r>
            <a:r>
              <a:rPr lang="en-US"/>
              <a:t> </a:t>
            </a:r>
            <a:r>
              <a:rPr lang="en-US" err="1"/>
              <a:t>có</a:t>
            </a:r>
            <a:r>
              <a:rPr lang="en-US"/>
              <a:t> </a:t>
            </a:r>
            <a:r>
              <a:rPr lang="en-US" err="1"/>
              <a:t>thể</a:t>
            </a:r>
            <a:r>
              <a:rPr lang="en-US"/>
              <a:t> </a:t>
            </a:r>
            <a:r>
              <a:rPr lang="en-US" err="1"/>
              <a:t>đồng</a:t>
            </a:r>
            <a:r>
              <a:rPr lang="en-US"/>
              <a:t> </a:t>
            </a:r>
            <a:r>
              <a:rPr lang="en-US" err="1"/>
              <a:t>thời</a:t>
            </a:r>
            <a:r>
              <a:rPr lang="en-US"/>
              <a:t> </a:t>
            </a:r>
            <a:r>
              <a:rPr lang="en-US" err="1"/>
              <a:t>đạt</a:t>
            </a:r>
            <a:r>
              <a:rPr lang="en-US"/>
              <a:t> </a:t>
            </a:r>
            <a:r>
              <a:rPr lang="en-US" err="1"/>
              <a:t>được</a:t>
            </a:r>
            <a:r>
              <a:rPr lang="en-US"/>
              <a:t> </a:t>
            </a:r>
            <a:r>
              <a:rPr lang="en-US" err="1"/>
              <a:t>cả</a:t>
            </a:r>
            <a:r>
              <a:rPr lang="en-US"/>
              <a:t> </a:t>
            </a:r>
            <a:r>
              <a:rPr lang="en-US" err="1"/>
              <a:t>hai</a:t>
            </a:r>
            <a:r>
              <a:rPr lang="en-US"/>
              <a:t> </a:t>
            </a:r>
            <a:r>
              <a:rPr lang="en-US" err="1"/>
              <a:t>tiêu</a:t>
            </a:r>
            <a:r>
              <a:rPr lang="en-US"/>
              <a:t> </a:t>
            </a:r>
            <a:r>
              <a:rPr lang="en-US" err="1"/>
              <a:t>chí</a:t>
            </a:r>
            <a:r>
              <a:rPr lang="en-US"/>
              <a:t> </a:t>
            </a:r>
            <a:r>
              <a:rPr lang="en-US" err="1"/>
              <a:t>này</a:t>
            </a:r>
            <a:r>
              <a:rPr lang="en-US"/>
              <a:t>, </a:t>
            </a:r>
            <a:r>
              <a:rPr lang="en-US" err="1"/>
              <a:t>trong</a:t>
            </a:r>
            <a:r>
              <a:rPr lang="en-US"/>
              <a:t> </a:t>
            </a:r>
            <a:r>
              <a:rPr lang="en-US" err="1"/>
              <a:t>thực</a:t>
            </a:r>
            <a:r>
              <a:rPr lang="en-US"/>
              <a:t> </a:t>
            </a:r>
            <a:r>
              <a:rPr lang="en-US" err="1"/>
              <a:t>tế</a:t>
            </a:r>
            <a:r>
              <a:rPr lang="en-US"/>
              <a:t> </a:t>
            </a:r>
            <a:r>
              <a:rPr lang="en-US" err="1"/>
              <a:t>phải</a:t>
            </a:r>
            <a:r>
              <a:rPr lang="en-US"/>
              <a:t> </a:t>
            </a:r>
            <a:r>
              <a:rPr lang="en-US" err="1"/>
              <a:t>có</a:t>
            </a:r>
            <a:r>
              <a:rPr lang="en-US"/>
              <a:t> </a:t>
            </a:r>
            <a:r>
              <a:rPr lang="en-US" err="1"/>
              <a:t>các</a:t>
            </a:r>
            <a:r>
              <a:rPr lang="en-US"/>
              <a:t> </a:t>
            </a:r>
            <a:r>
              <a:rPr lang="en-US" err="1"/>
              <a:t>biện</a:t>
            </a:r>
            <a:r>
              <a:rPr lang="en-US"/>
              <a:t> </a:t>
            </a:r>
            <a:r>
              <a:rPr lang="en-US" err="1"/>
              <a:t>pháp</a:t>
            </a:r>
            <a:r>
              <a:rPr lang="en-US"/>
              <a:t> dung </a:t>
            </a:r>
            <a:r>
              <a:rPr lang="en-US" err="1"/>
              <a:t>hoà</a:t>
            </a:r>
            <a:r>
              <a:rPr lang="en-US"/>
              <a:t>, </a:t>
            </a:r>
            <a:r>
              <a:rPr lang="en-US" err="1"/>
              <a:t>ưu</a:t>
            </a:r>
            <a:r>
              <a:rPr lang="en-US"/>
              <a:t> </a:t>
            </a:r>
            <a:r>
              <a:rPr lang="en-US" err="1"/>
              <a:t>tiên</a:t>
            </a:r>
            <a:r>
              <a:rPr lang="en-US"/>
              <a:t> </a:t>
            </a:r>
            <a:r>
              <a:rPr lang="en-US" err="1"/>
              <a:t>tiêu</a:t>
            </a:r>
            <a:r>
              <a:rPr lang="en-US"/>
              <a:t> </a:t>
            </a:r>
            <a:r>
              <a:rPr lang="en-US" err="1"/>
              <a:t>chí</a:t>
            </a:r>
            <a:r>
              <a:rPr lang="en-US"/>
              <a:t> </a:t>
            </a:r>
            <a:r>
              <a:rPr lang="en-US" err="1"/>
              <a:t>này</a:t>
            </a:r>
            <a:r>
              <a:rPr lang="en-US"/>
              <a:t> hay </a:t>
            </a:r>
            <a:r>
              <a:rPr lang="en-US" err="1"/>
              <a:t>tiêu</a:t>
            </a:r>
            <a:r>
              <a:rPr lang="en-US"/>
              <a:t> </a:t>
            </a:r>
            <a:r>
              <a:rPr lang="en-US" err="1"/>
              <a:t>chí</a:t>
            </a:r>
            <a:r>
              <a:rPr lang="en-US"/>
              <a:t> </a:t>
            </a:r>
            <a:r>
              <a:rPr lang="en-US" err="1"/>
              <a:t>kia</a:t>
            </a:r>
            <a:r>
              <a:rPr lang="en-US"/>
              <a:t> </a:t>
            </a:r>
            <a:r>
              <a:rPr lang="en-US" err="1"/>
              <a:t>trong</a:t>
            </a:r>
            <a:r>
              <a:rPr lang="en-US"/>
              <a:t> </a:t>
            </a:r>
            <a:r>
              <a:rPr lang="en-US" err="1"/>
              <a:t>từng</a:t>
            </a:r>
            <a:r>
              <a:rPr lang="en-US"/>
              <a:t> </a:t>
            </a:r>
            <a:r>
              <a:rPr lang="en-US" err="1"/>
              <a:t>ứng</a:t>
            </a:r>
            <a:r>
              <a:rPr lang="en-US"/>
              <a:t> </a:t>
            </a:r>
            <a:r>
              <a:rPr lang="en-US" err="1"/>
              <a:t>dụng</a:t>
            </a:r>
            <a:r>
              <a:rPr lang="en-US"/>
              <a:t> </a:t>
            </a:r>
            <a:r>
              <a:rPr lang="en-US" err="1"/>
              <a:t>cụ</a:t>
            </a:r>
            <a:r>
              <a:rPr lang="en-US"/>
              <a:t> </a:t>
            </a:r>
            <a:r>
              <a:rPr lang="en-US" err="1"/>
              <a:t>thể</a:t>
            </a:r>
            <a:r>
              <a:rPr lang="en-US"/>
              <a:t>.</a:t>
            </a:r>
          </a:p>
        </p:txBody>
      </p:sp>
    </p:spTree>
    <p:extLst>
      <p:ext uri="{BB962C8B-B14F-4D97-AF65-F5344CB8AC3E}">
        <p14:creationId xmlns:p14="http://schemas.microsoft.com/office/powerpoint/2010/main" val="202335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39</a:t>
            </a:fld>
            <a:endParaRPr lang="en-US"/>
          </a:p>
        </p:txBody>
      </p:sp>
      <p:sp>
        <p:nvSpPr>
          <p:cNvPr id="2" name="Title 1"/>
          <p:cNvSpPr>
            <a:spLocks noGrp="1"/>
          </p:cNvSpPr>
          <p:nvPr>
            <p:ph type="title"/>
          </p:nvPr>
        </p:nvSpPr>
        <p:spPr/>
        <p:txBody>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endParaRPr lang="en-US"/>
          </a:p>
        </p:txBody>
      </p:sp>
      <p:sp>
        <p:nvSpPr>
          <p:cNvPr id="3" name="Content Placeholder 2"/>
          <p:cNvSpPr>
            <a:spLocks noGrp="1"/>
          </p:cNvSpPr>
          <p:nvPr>
            <p:ph type="body" sz="quarter" idx="13"/>
          </p:nvPr>
        </p:nvSpPr>
        <p:spPr/>
        <p:txBody>
          <a:bodyPr>
            <a:normAutofit/>
          </a:bodyPr>
          <a:lstStyle/>
          <a:p>
            <a:r>
              <a:rPr lang="en-US" altLang="en-US" sz="2400" err="1"/>
              <a:t>Nội</a:t>
            </a:r>
            <a:r>
              <a:rPr lang="en-US" altLang="en-US" sz="2400"/>
              <a:t> dung</a:t>
            </a:r>
          </a:p>
          <a:p>
            <a:pPr lvl="1"/>
            <a:r>
              <a:rPr lang="en-US" altLang="en-US" sz="2000" err="1"/>
              <a:t>Mô</a:t>
            </a:r>
            <a:r>
              <a:rPr lang="en-US" altLang="en-US" sz="2000"/>
              <a:t> </a:t>
            </a:r>
            <a:r>
              <a:rPr lang="en-US" altLang="en-US" sz="2000" err="1"/>
              <a:t>tả</a:t>
            </a:r>
            <a:r>
              <a:rPr lang="en-US" altLang="en-US" sz="2000"/>
              <a:t> </a:t>
            </a:r>
          </a:p>
          <a:p>
            <a:pPr lvl="2"/>
            <a:r>
              <a:rPr lang="en-US" altLang="en-US" sz="2000" err="1">
                <a:cs typeface="Times New Roman" panose="02020603050405020304" pitchFamily="18" charset="0"/>
              </a:rPr>
              <a:t>Cài</a:t>
            </a:r>
            <a:r>
              <a:rPr lang="en-US" altLang="en-US" sz="2000">
                <a:cs typeface="Times New Roman" panose="02020603050405020304" pitchFamily="18" charset="0"/>
              </a:rPr>
              <a:t> </a:t>
            </a:r>
            <a:r>
              <a:rPr lang="en-US" altLang="en-US" sz="2000" err="1">
                <a:cs typeface="Times New Roman" panose="02020603050405020304" pitchFamily="18" charset="0"/>
              </a:rPr>
              <a:t>đặt</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bằng</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mảng</a:t>
            </a:r>
            <a:endParaRPr lang="en-US" altLang="en-US" sz="2000">
              <a:cs typeface="Times New Roman" panose="02020603050405020304" pitchFamily="18" charset="0"/>
            </a:endParaRPr>
          </a:p>
          <a:p>
            <a:pPr lvl="2"/>
            <a:r>
              <a:rPr lang="en-US" altLang="en-US" sz="2000" err="1"/>
              <a:t>Cấu</a:t>
            </a:r>
            <a:r>
              <a:rPr lang="en-US" altLang="en-US" sz="2000"/>
              <a:t> </a:t>
            </a:r>
            <a:r>
              <a:rPr lang="en-US" altLang="en-US" sz="2000" err="1"/>
              <a:t>trúc</a:t>
            </a:r>
            <a:r>
              <a:rPr lang="en-US" altLang="en-US" sz="2000"/>
              <a:t> </a:t>
            </a:r>
            <a:r>
              <a:rPr lang="en-US" altLang="en-US" sz="2000" err="1"/>
              <a:t>ngăn</a:t>
            </a:r>
            <a:r>
              <a:rPr lang="en-US" altLang="en-US" sz="2000"/>
              <a:t> </a:t>
            </a:r>
            <a:r>
              <a:rPr lang="en-US" altLang="en-US" sz="2000" err="1"/>
              <a:t>xếp</a:t>
            </a:r>
            <a:r>
              <a:rPr lang="en-US" altLang="en-US" sz="2000"/>
              <a:t> (stack/LIFO)</a:t>
            </a:r>
          </a:p>
          <a:p>
            <a:pPr lvl="2"/>
            <a:r>
              <a:rPr lang="en-US" altLang="en-US" sz="2000" i="1" err="1"/>
              <a:t>Cài</a:t>
            </a:r>
            <a:r>
              <a:rPr lang="en-US" altLang="en-US" sz="2000" i="1"/>
              <a:t> </a:t>
            </a:r>
            <a:r>
              <a:rPr lang="en-US" altLang="en-US" sz="2000" i="1" err="1"/>
              <a:t>đặt</a:t>
            </a:r>
            <a:r>
              <a:rPr lang="en-US" altLang="en-US" sz="2000" i="1"/>
              <a:t> Stack </a:t>
            </a:r>
            <a:r>
              <a:rPr lang="en-US" altLang="en-US" sz="2000" i="1" err="1"/>
              <a:t>bằng</a:t>
            </a:r>
            <a:r>
              <a:rPr lang="en-US" altLang="en-US" sz="2000" i="1"/>
              <a:t> CTLT </a:t>
            </a:r>
            <a:r>
              <a:rPr lang="en-US" altLang="en-US" sz="2000" i="1" err="1"/>
              <a:t>tuần</a:t>
            </a:r>
            <a:r>
              <a:rPr lang="en-US" altLang="en-US" sz="2000" i="1"/>
              <a:t> </a:t>
            </a:r>
            <a:r>
              <a:rPr lang="en-US" altLang="en-US" sz="2000" i="1" err="1"/>
              <a:t>tự</a:t>
            </a:r>
            <a:endParaRPr lang="en-US" altLang="en-US" sz="2000" i="1"/>
          </a:p>
          <a:p>
            <a:pPr lvl="1"/>
            <a:r>
              <a:rPr lang="en-US" sz="2000" err="1"/>
              <a:t>Khai</a:t>
            </a:r>
            <a:r>
              <a:rPr lang="en-US" sz="2000"/>
              <a:t> </a:t>
            </a:r>
            <a:r>
              <a:rPr lang="en-US" sz="2000" err="1"/>
              <a:t>báo</a:t>
            </a:r>
            <a:r>
              <a:rPr lang="en-US" sz="2000"/>
              <a:t> </a:t>
            </a:r>
            <a:r>
              <a:rPr lang="en-US" sz="2000" err="1"/>
              <a:t>cấu</a:t>
            </a:r>
            <a:r>
              <a:rPr lang="en-US" sz="2000"/>
              <a:t> </a:t>
            </a:r>
            <a:r>
              <a:rPr lang="en-US" sz="2000" err="1"/>
              <a:t>trúc</a:t>
            </a:r>
            <a:endParaRPr lang="en-US" sz="2000"/>
          </a:p>
          <a:p>
            <a:pPr lvl="1"/>
            <a:r>
              <a:rPr lang="en-US" sz="2000" err="1"/>
              <a:t>Cài</a:t>
            </a:r>
            <a:r>
              <a:rPr lang="en-US" sz="2000"/>
              <a:t> </a:t>
            </a:r>
            <a:r>
              <a:rPr lang="en-US" sz="2000" err="1"/>
              <a:t>đặt</a:t>
            </a:r>
            <a:r>
              <a:rPr lang="en-US" sz="2000"/>
              <a:t> </a:t>
            </a:r>
            <a:r>
              <a:rPr lang="en-US" sz="2000" err="1"/>
              <a:t>các</a:t>
            </a:r>
            <a:r>
              <a:rPr lang="en-US" sz="2000"/>
              <a:t> </a:t>
            </a:r>
            <a:r>
              <a:rPr lang="en-US" sz="2000" err="1"/>
              <a:t>thao</a:t>
            </a:r>
            <a:r>
              <a:rPr lang="en-US" sz="2000"/>
              <a:t> </a:t>
            </a:r>
            <a:r>
              <a:rPr lang="en-US" sz="2000" err="1"/>
              <a:t>tác</a:t>
            </a:r>
            <a:r>
              <a:rPr lang="en-US" sz="2000"/>
              <a:t> </a:t>
            </a:r>
            <a:r>
              <a:rPr lang="en-US" sz="2000" err="1"/>
              <a:t>cơ</a:t>
            </a:r>
            <a:r>
              <a:rPr lang="en-US" sz="2000"/>
              <a:t> </a:t>
            </a:r>
            <a:r>
              <a:rPr lang="en-US" sz="2000" err="1"/>
              <a:t>bản</a:t>
            </a:r>
            <a:endParaRPr lang="en-US" sz="2000"/>
          </a:p>
        </p:txBody>
      </p:sp>
    </p:spTree>
    <p:extLst>
      <p:ext uri="{BB962C8B-B14F-4D97-AF65-F5344CB8AC3E}">
        <p14:creationId xmlns:p14="http://schemas.microsoft.com/office/powerpoint/2010/main" val="221926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US" altLang="en-US">
                <a:cs typeface="Times New Roman" panose="02020603050405020304" pitchFamily="18" charset="0"/>
              </a:rPr>
              <a:t>2.2. </a:t>
            </a:r>
            <a:r>
              <a:rPr lang="en-US" altLang="en-US" err="1">
                <a:cs typeface="Times New Roman" panose="02020603050405020304" pitchFamily="18" charset="0"/>
              </a:rPr>
              <a:t>Cài</a:t>
            </a:r>
            <a:r>
              <a:rPr lang="en-US" altLang="en-US">
                <a:cs typeface="Times New Roman" panose="02020603050405020304" pitchFamily="18" charset="0"/>
              </a:rPr>
              <a:t> </a:t>
            </a:r>
            <a:r>
              <a:rPr lang="en-US" altLang="en-US" err="1">
                <a:cs typeface="Times New Roman" panose="02020603050405020304" pitchFamily="18" charset="0"/>
              </a:rPr>
              <a:t>đặt</a:t>
            </a:r>
            <a:r>
              <a:rPr lang="en-US" altLang="en-US">
                <a:cs typeface="Times New Roman" panose="02020603050405020304" pitchFamily="18" charset="0"/>
              </a:rPr>
              <a:t> </a:t>
            </a:r>
            <a:r>
              <a:rPr lang="en-US" altLang="en-US" err="1">
                <a:cs typeface="Times New Roman" panose="02020603050405020304" pitchFamily="18" charset="0"/>
              </a:rPr>
              <a:t>danh</a:t>
            </a:r>
            <a:r>
              <a:rPr lang="en-US" altLang="en-US">
                <a:cs typeface="Times New Roman" panose="02020603050405020304" pitchFamily="18" charset="0"/>
              </a:rPr>
              <a:t> </a:t>
            </a:r>
            <a:r>
              <a:rPr lang="en-US" altLang="en-US" err="1">
                <a:cs typeface="Times New Roman" panose="02020603050405020304" pitchFamily="18" charset="0"/>
              </a:rPr>
              <a:t>sách</a:t>
            </a:r>
            <a:r>
              <a:rPr lang="en-US" altLang="en-US">
                <a:cs typeface="Times New Roman" panose="02020603050405020304" pitchFamily="18" charset="0"/>
              </a:rPr>
              <a:t> </a:t>
            </a:r>
            <a:r>
              <a:rPr lang="en-US" altLang="en-US" err="1">
                <a:cs typeface="Times New Roman" panose="02020603050405020304" pitchFamily="18" charset="0"/>
              </a:rPr>
              <a:t>bằng</a:t>
            </a:r>
            <a:r>
              <a:rPr lang="en-US" altLang="en-US">
                <a:cs typeface="Times New Roman" panose="02020603050405020304" pitchFamily="18" charset="0"/>
              </a:rPr>
              <a:t> CTLT </a:t>
            </a:r>
            <a:r>
              <a:rPr lang="en-US" altLang="en-US" err="1">
                <a:cs typeface="Times New Roman" panose="02020603050405020304" pitchFamily="18" charset="0"/>
              </a:rPr>
              <a:t>tuần</a:t>
            </a:r>
            <a:r>
              <a:rPr lang="en-US" altLang="en-US">
                <a:cs typeface="Times New Roman" panose="02020603050405020304" pitchFamily="18" charset="0"/>
              </a:rPr>
              <a:t> </a:t>
            </a:r>
            <a:r>
              <a:rPr lang="en-US" altLang="en-US" err="1">
                <a:cs typeface="Times New Roman" panose="02020603050405020304" pitchFamily="18" charset="0"/>
              </a:rPr>
              <a:t>tự</a:t>
            </a:r>
            <a:br>
              <a:rPr lang="en-US" altLang="en-US">
                <a:cs typeface="Times New Roman" panose="02020603050405020304" pitchFamily="18" charset="0"/>
              </a:rPr>
            </a:br>
            <a:r>
              <a:rPr lang="en-US" altLang="en-US" i="1" err="1"/>
              <a:t>Mô</a:t>
            </a:r>
            <a:r>
              <a:rPr lang="en-US" altLang="en-US" i="1"/>
              <a:t> </a:t>
            </a:r>
            <a:r>
              <a:rPr lang="en-US" altLang="en-US" i="1" err="1"/>
              <a:t>tả</a:t>
            </a:r>
            <a:endParaRPr lang="en-US" altLang="en-US" i="1"/>
          </a:p>
        </p:txBody>
      </p:sp>
      <p:sp>
        <p:nvSpPr>
          <p:cNvPr id="17411" name="Rectangle 3"/>
          <p:cNvSpPr>
            <a:spLocks noGrp="1" noChangeArrowheads="1"/>
          </p:cNvSpPr>
          <p:nvPr>
            <p:ph type="body" sz="quarter" idx="13"/>
          </p:nvPr>
        </p:nvSpPr>
        <p:spPr/>
        <p:txBody>
          <a:bodyPr>
            <a:normAutofit/>
          </a:bodyPr>
          <a:lstStyle/>
          <a:p>
            <a:pPr>
              <a:spcBef>
                <a:spcPct val="10000"/>
              </a:spcBef>
            </a:pPr>
            <a:r>
              <a:rPr lang="en-US" altLang="en-US" sz="2400">
                <a:cs typeface="Times New Roman" panose="02020603050405020304" pitchFamily="18" charset="0"/>
              </a:rPr>
              <a:t>CTLT </a:t>
            </a:r>
            <a:r>
              <a:rPr lang="en-US" altLang="en-US" sz="2400" err="1">
                <a:cs typeface="Times New Roman" panose="02020603050405020304" pitchFamily="18" charset="0"/>
              </a:rPr>
              <a:t>tuần</a:t>
            </a:r>
            <a:r>
              <a:rPr lang="en-US" altLang="en-US" sz="2400">
                <a:cs typeface="Times New Roman" panose="02020603050405020304" pitchFamily="18" charset="0"/>
              </a:rPr>
              <a:t> </a:t>
            </a:r>
            <a:r>
              <a:rPr lang="en-US" altLang="en-US" sz="2400" err="1">
                <a:cs typeface="Times New Roman" panose="02020603050405020304" pitchFamily="18" charset="0"/>
              </a:rPr>
              <a:t>tự</a:t>
            </a:r>
            <a:r>
              <a:rPr lang="en-US" altLang="en-US" sz="2400">
                <a:cs typeface="Times New Roman" panose="02020603050405020304" pitchFamily="18" charset="0"/>
              </a:rPr>
              <a:t>: </a:t>
            </a:r>
            <a:r>
              <a:rPr lang="en-US" altLang="en-US" sz="2400" err="1">
                <a:cs typeface="Times New Roman" panose="02020603050405020304" pitchFamily="18" charset="0"/>
              </a:rPr>
              <a:t>cấu</a:t>
            </a:r>
            <a:r>
              <a:rPr lang="en-US" altLang="en-US" sz="2400">
                <a:cs typeface="Times New Roman" panose="02020603050405020304" pitchFamily="18" charset="0"/>
              </a:rPr>
              <a:t> </a:t>
            </a:r>
            <a:r>
              <a:rPr lang="en-US" altLang="en-US" sz="2400" err="1">
                <a:cs typeface="Times New Roman" panose="02020603050405020304" pitchFamily="18" charset="0"/>
              </a:rPr>
              <a:t>trúc</a:t>
            </a:r>
            <a:r>
              <a:rPr lang="en-US" altLang="en-US" sz="2400">
                <a:cs typeface="Times New Roman" panose="02020603050405020304" pitchFamily="18" charset="0"/>
              </a:rPr>
              <a:t> </a:t>
            </a:r>
            <a:r>
              <a:rPr lang="en-US" altLang="en-US" sz="2400" err="1">
                <a:cs typeface="Times New Roman" panose="02020603050405020304" pitchFamily="18" charset="0"/>
              </a:rPr>
              <a:t>mảng</a:t>
            </a:r>
            <a:endParaRPr lang="en-US" altLang="en-US" sz="2400">
              <a:cs typeface="Times New Roman" panose="02020603050405020304" pitchFamily="18" charset="0"/>
            </a:endParaRPr>
          </a:p>
          <a:p>
            <a:pPr>
              <a:spcBef>
                <a:spcPct val="10000"/>
              </a:spcBef>
            </a:pPr>
            <a:r>
              <a:rPr lang="en-US" altLang="en-US" sz="2400" err="1">
                <a:cs typeface="Times New Roman" panose="02020603050405020304" pitchFamily="18" charset="0"/>
              </a:rPr>
              <a:t>Cài</a:t>
            </a:r>
            <a:r>
              <a:rPr lang="en-US" altLang="en-US" sz="2400">
                <a:cs typeface="Times New Roman" panose="02020603050405020304" pitchFamily="18" charset="0"/>
              </a:rPr>
              <a:t> </a:t>
            </a:r>
            <a:r>
              <a:rPr lang="en-US" altLang="en-US" sz="2400" err="1">
                <a:cs typeface="Times New Roman" panose="02020603050405020304" pitchFamily="18" charset="0"/>
              </a:rPr>
              <a:t>đặt</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r>
              <a:rPr lang="en-US" altLang="en-US" sz="2400" err="1">
                <a:cs typeface="Times New Roman" panose="02020603050405020304" pitchFamily="18" charset="0"/>
              </a:rPr>
              <a:t>bằng</a:t>
            </a:r>
            <a:r>
              <a:rPr lang="en-US" altLang="en-US" sz="2400">
                <a:cs typeface="Times New Roman" panose="02020603050405020304" pitchFamily="18" charset="0"/>
              </a:rPr>
              <a:t> </a:t>
            </a:r>
            <a:r>
              <a:rPr lang="en-US" altLang="en-US" sz="2400" err="1">
                <a:cs typeface="Times New Roman" panose="02020603050405020304" pitchFamily="18" charset="0"/>
              </a:rPr>
              <a:t>cấu</a:t>
            </a:r>
            <a:r>
              <a:rPr lang="en-US" altLang="en-US" sz="2400">
                <a:cs typeface="Times New Roman" panose="02020603050405020304" pitchFamily="18" charset="0"/>
              </a:rPr>
              <a:t> </a:t>
            </a:r>
            <a:r>
              <a:rPr lang="en-US" altLang="en-US" sz="2400" err="1">
                <a:cs typeface="Times New Roman" panose="02020603050405020304" pitchFamily="18" charset="0"/>
              </a:rPr>
              <a:t>trúc</a:t>
            </a:r>
            <a:r>
              <a:rPr lang="en-US" altLang="en-US" sz="2400">
                <a:cs typeface="Times New Roman" panose="02020603050405020304" pitchFamily="18" charset="0"/>
              </a:rPr>
              <a:t> </a:t>
            </a:r>
            <a:r>
              <a:rPr lang="en-US" altLang="en-US" sz="2400" err="1">
                <a:cs typeface="Times New Roman" panose="02020603050405020304" pitchFamily="18" charset="0"/>
              </a:rPr>
              <a:t>mảng</a:t>
            </a:r>
            <a:endParaRPr lang="en-US" altLang="en-US" sz="2400">
              <a:cs typeface="Times New Roman" panose="02020603050405020304" pitchFamily="18" charset="0"/>
            </a:endParaRPr>
          </a:p>
          <a:p>
            <a:pPr>
              <a:spcBef>
                <a:spcPct val="10000"/>
              </a:spcBef>
            </a:pPr>
            <a:r>
              <a:rPr lang="vi-VN" altLang="en-US" sz="2400">
                <a:cs typeface="Times New Roman" panose="02020603050405020304" pitchFamily="18" charset="0"/>
              </a:rPr>
              <a:t>Tương như như khi cài đặt mảng, quá trình cài đặt một danh sách sử dụng cấu trúc</a:t>
            </a:r>
            <a:r>
              <a:rPr lang="en-US" altLang="en-US" sz="2400">
                <a:cs typeface="Times New Roman" panose="02020603050405020304" pitchFamily="18" charset="0"/>
              </a:rPr>
              <a:t> </a:t>
            </a:r>
            <a:r>
              <a:rPr lang="vi-VN" altLang="en-US" sz="2400">
                <a:cs typeface="Times New Roman" panose="02020603050405020304" pitchFamily="18" charset="0"/>
              </a:rPr>
              <a:t>lưu trữ tuần tự cũng gồm hai bước:</a:t>
            </a:r>
          </a:p>
          <a:p>
            <a:pPr lvl="1">
              <a:spcBef>
                <a:spcPct val="10000"/>
              </a:spcBef>
            </a:pPr>
            <a:r>
              <a:rPr lang="en-US" altLang="en-US" sz="2000" err="1">
                <a:cs typeface="Times New Roman" panose="02020603050405020304" pitchFamily="18" charset="0"/>
              </a:rPr>
              <a:t>Bước</a:t>
            </a:r>
            <a:r>
              <a:rPr lang="en-US" altLang="en-US" sz="2000">
                <a:cs typeface="Times New Roman" panose="02020603050405020304" pitchFamily="18" charset="0"/>
              </a:rPr>
              <a:t> 1: </a:t>
            </a:r>
            <a:r>
              <a:rPr lang="vi-VN" altLang="en-US" sz="2000">
                <a:cs typeface="Times New Roman" panose="02020603050405020304" pitchFamily="18" charset="0"/>
              </a:rPr>
              <a:t>Chọn cấu trúc lưu trữ phù hợp.</a:t>
            </a:r>
          </a:p>
          <a:p>
            <a:pPr lvl="1">
              <a:spcBef>
                <a:spcPct val="10000"/>
              </a:spcBef>
            </a:pPr>
            <a:r>
              <a:rPr lang="en-US" altLang="en-US" sz="2000" err="1">
                <a:cs typeface="Times New Roman" panose="02020603050405020304" pitchFamily="18" charset="0"/>
              </a:rPr>
              <a:t>Bước</a:t>
            </a:r>
            <a:r>
              <a:rPr lang="en-US" altLang="en-US" sz="2000">
                <a:cs typeface="Times New Roman" panose="02020603050405020304" pitchFamily="18" charset="0"/>
              </a:rPr>
              <a:t> 2: </a:t>
            </a:r>
            <a:r>
              <a:rPr lang="vi-VN" altLang="en-US" sz="2000">
                <a:cs typeface="Times New Roman" panose="02020603050405020304" pitchFamily="18" charset="0"/>
              </a:rPr>
              <a:t>Bố trí hợp lý các phần tử của danh sách trong cấu trúc lưu trữ.</a:t>
            </a:r>
            <a:endParaRPr lang="en-US" altLang="en-US" sz="2000">
              <a:cs typeface="Times New Roman" panose="02020603050405020304" pitchFamily="18" charset="0"/>
            </a:endParaRPr>
          </a:p>
          <a:p>
            <a:pPr lvl="1">
              <a:spcBef>
                <a:spcPct val="10000"/>
              </a:spcBef>
            </a:pPr>
            <a:r>
              <a:rPr lang="en-US" altLang="en-US" sz="2000">
                <a:cs typeface="Times New Roman" panose="02020603050405020304" pitchFamily="18" charset="0"/>
              </a:rPr>
              <a:t>=&gt; </a:t>
            </a:r>
            <a:r>
              <a:rPr lang="en-US" altLang="en-US" sz="2000" err="1">
                <a:cs typeface="Times New Roman" panose="02020603050405020304" pitchFamily="18" charset="0"/>
              </a:rPr>
              <a:t>Cài</a:t>
            </a:r>
            <a:r>
              <a:rPr lang="en-US" altLang="en-US" sz="2000">
                <a:cs typeface="Times New Roman" panose="02020603050405020304" pitchFamily="18" charset="0"/>
              </a:rPr>
              <a:t> </a:t>
            </a:r>
            <a:r>
              <a:rPr lang="en-US" altLang="en-US" sz="2000" err="1">
                <a:cs typeface="Times New Roman" panose="02020603050405020304" pitchFamily="18" charset="0"/>
              </a:rPr>
              <a:t>đặt</a:t>
            </a:r>
            <a:r>
              <a:rPr lang="en-US" altLang="en-US" sz="2000">
                <a:cs typeface="Times New Roman" panose="02020603050405020304" pitchFamily="18" charset="0"/>
              </a:rPr>
              <a:t> chi </a:t>
            </a:r>
            <a:r>
              <a:rPr lang="en-US" altLang="en-US" sz="2000" err="1">
                <a:cs typeface="Times New Roman" panose="02020603050405020304" pitchFamily="18" charset="0"/>
              </a:rPr>
              <a:t>tiết</a:t>
            </a:r>
            <a:r>
              <a:rPr lang="en-US" altLang="en-US" sz="2000">
                <a:cs typeface="Times New Roman" panose="02020603050405020304" pitchFamily="18" charset="0"/>
              </a:rPr>
              <a:t> </a:t>
            </a:r>
            <a:r>
              <a:rPr lang="en-US" altLang="en-US" sz="2000" err="1">
                <a:cs typeface="Times New Roman" panose="02020603050405020304" pitchFamily="18" charset="0"/>
              </a:rPr>
              <a:t>bằng</a:t>
            </a:r>
            <a:r>
              <a:rPr lang="en-US" altLang="en-US" sz="2000">
                <a:cs typeface="Times New Roman" panose="02020603050405020304" pitchFamily="18" charset="0"/>
              </a:rPr>
              <a:t> </a:t>
            </a:r>
            <a:r>
              <a:rPr lang="en-US" altLang="en-US" sz="2000" err="1">
                <a:cs typeface="Times New Roman" panose="02020603050405020304" pitchFamily="18" charset="0"/>
              </a:rPr>
              <a:t>cách</a:t>
            </a:r>
            <a:r>
              <a:rPr lang="en-US" altLang="en-US" sz="2000">
                <a:cs typeface="Times New Roman" panose="02020603050405020304" pitchFamily="18" charset="0"/>
              </a:rPr>
              <a:t> </a:t>
            </a:r>
            <a:r>
              <a:rPr lang="en-US" altLang="en-US" sz="2000" err="1">
                <a:cs typeface="Times New Roman" panose="02020603050405020304" pitchFamily="18" charset="0"/>
              </a:rPr>
              <a:t>sử</a:t>
            </a:r>
            <a:r>
              <a:rPr lang="en-US" altLang="en-US" sz="2000">
                <a:cs typeface="Times New Roman" panose="02020603050405020304" pitchFamily="18" charset="0"/>
              </a:rPr>
              <a:t> </a:t>
            </a:r>
            <a:r>
              <a:rPr lang="en-US" altLang="en-US" sz="2000" err="1">
                <a:cs typeface="Times New Roman" panose="02020603050405020304" pitchFamily="18" charset="0"/>
              </a:rPr>
              <a:t>dụng</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ngôn</a:t>
            </a:r>
            <a:r>
              <a:rPr lang="en-US" altLang="en-US" sz="2000">
                <a:cs typeface="Times New Roman" panose="02020603050405020304" pitchFamily="18" charset="0"/>
              </a:rPr>
              <a:t> </a:t>
            </a:r>
            <a:r>
              <a:rPr lang="en-US" altLang="en-US" sz="2000" err="1">
                <a:cs typeface="Times New Roman" panose="02020603050405020304" pitchFamily="18" charset="0"/>
              </a:rPr>
              <a:t>ngữ</a:t>
            </a:r>
            <a:r>
              <a:rPr lang="en-US" altLang="en-US" sz="2000">
                <a:cs typeface="Times New Roman" panose="02020603050405020304" pitchFamily="18" charset="0"/>
              </a:rPr>
              <a:t> </a:t>
            </a:r>
            <a:r>
              <a:rPr lang="en-US" altLang="en-US" sz="2000" err="1">
                <a:cs typeface="Times New Roman" panose="02020603050405020304" pitchFamily="18" charset="0"/>
              </a:rPr>
              <a:t>lập</a:t>
            </a:r>
            <a:r>
              <a:rPr lang="en-US" altLang="en-US" sz="2000">
                <a:cs typeface="Times New Roman" panose="02020603050405020304" pitchFamily="18" charset="0"/>
              </a:rPr>
              <a:t> </a:t>
            </a:r>
            <a:r>
              <a:rPr lang="en-US" altLang="en-US" sz="2000" err="1">
                <a:cs typeface="Times New Roman" panose="02020603050405020304" pitchFamily="18" charset="0"/>
              </a:rPr>
              <a:t>trình</a:t>
            </a:r>
            <a:r>
              <a:rPr lang="en-US" altLang="en-US" sz="2000">
                <a:cs typeface="Times New Roman" panose="02020603050405020304" pitchFamily="18" charset="0"/>
              </a:rPr>
              <a:t> </a:t>
            </a:r>
            <a:r>
              <a:rPr lang="en-US" altLang="en-US" sz="2000" err="1">
                <a:cs typeface="Times New Roman" panose="02020603050405020304" pitchFamily="18" charset="0"/>
              </a:rPr>
              <a:t>cụ</a:t>
            </a:r>
            <a:r>
              <a:rPr lang="en-US" altLang="en-US" sz="2000">
                <a:cs typeface="Times New Roman" panose="02020603050405020304" pitchFamily="18" charset="0"/>
              </a:rPr>
              <a:t> </a:t>
            </a:r>
            <a:r>
              <a:rPr lang="en-US" altLang="en-US" sz="2000" err="1">
                <a:cs typeface="Times New Roman" panose="02020603050405020304" pitchFamily="18" charset="0"/>
              </a:rPr>
              <a:t>thể</a:t>
            </a:r>
            <a:r>
              <a:rPr lang="en-US" altLang="en-US" sz="2000">
                <a:cs typeface="Times New Roman" panose="02020603050405020304" pitchFamily="18" charset="0"/>
              </a:rPr>
              <a:t> </a:t>
            </a:r>
          </a:p>
        </p:txBody>
      </p:sp>
    </p:spTree>
    <p:extLst>
      <p:ext uri="{BB962C8B-B14F-4D97-AF65-F5344CB8AC3E}">
        <p14:creationId xmlns:p14="http://schemas.microsoft.com/office/powerpoint/2010/main" val="2879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41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US" altLang="en-US">
                <a:cs typeface="Times New Roman" panose="02020603050405020304" pitchFamily="18" charset="0"/>
              </a:rPr>
              <a:t>2.2. </a:t>
            </a:r>
            <a:r>
              <a:rPr lang="en-US" altLang="en-US" err="1">
                <a:cs typeface="Times New Roman" panose="02020603050405020304" pitchFamily="18" charset="0"/>
              </a:rPr>
              <a:t>Cài</a:t>
            </a:r>
            <a:r>
              <a:rPr lang="en-US" altLang="en-US">
                <a:cs typeface="Times New Roman" panose="02020603050405020304" pitchFamily="18" charset="0"/>
              </a:rPr>
              <a:t> </a:t>
            </a:r>
            <a:r>
              <a:rPr lang="en-US" altLang="en-US" err="1">
                <a:cs typeface="Times New Roman" panose="02020603050405020304" pitchFamily="18" charset="0"/>
              </a:rPr>
              <a:t>đặt</a:t>
            </a:r>
            <a:r>
              <a:rPr lang="en-US" altLang="en-US">
                <a:cs typeface="Times New Roman" panose="02020603050405020304" pitchFamily="18" charset="0"/>
              </a:rPr>
              <a:t> </a:t>
            </a:r>
            <a:r>
              <a:rPr lang="en-US" altLang="en-US" err="1">
                <a:cs typeface="Times New Roman" panose="02020603050405020304" pitchFamily="18" charset="0"/>
              </a:rPr>
              <a:t>danh</a:t>
            </a:r>
            <a:r>
              <a:rPr lang="en-US" altLang="en-US">
                <a:cs typeface="Times New Roman" panose="02020603050405020304" pitchFamily="18" charset="0"/>
              </a:rPr>
              <a:t> </a:t>
            </a:r>
            <a:r>
              <a:rPr lang="en-US" altLang="en-US" err="1">
                <a:cs typeface="Times New Roman" panose="02020603050405020304" pitchFamily="18" charset="0"/>
              </a:rPr>
              <a:t>sách</a:t>
            </a:r>
            <a:r>
              <a:rPr lang="en-US" altLang="en-US">
                <a:cs typeface="Times New Roman" panose="02020603050405020304" pitchFamily="18" charset="0"/>
              </a:rPr>
              <a:t> </a:t>
            </a:r>
            <a:r>
              <a:rPr lang="en-US" altLang="en-US" err="1">
                <a:cs typeface="Times New Roman" panose="02020603050405020304" pitchFamily="18" charset="0"/>
              </a:rPr>
              <a:t>bằng</a:t>
            </a:r>
            <a:r>
              <a:rPr lang="en-US" altLang="en-US">
                <a:cs typeface="Times New Roman" panose="02020603050405020304" pitchFamily="18" charset="0"/>
              </a:rPr>
              <a:t> CTLT </a:t>
            </a:r>
            <a:r>
              <a:rPr lang="en-US" altLang="en-US" err="1">
                <a:cs typeface="Times New Roman" panose="02020603050405020304" pitchFamily="18" charset="0"/>
              </a:rPr>
              <a:t>tuần</a:t>
            </a:r>
            <a:r>
              <a:rPr lang="en-US" altLang="en-US">
                <a:cs typeface="Times New Roman" panose="02020603050405020304" pitchFamily="18" charset="0"/>
              </a:rPr>
              <a:t> </a:t>
            </a:r>
            <a:r>
              <a:rPr lang="en-US" altLang="en-US" err="1">
                <a:cs typeface="Times New Roman" panose="02020603050405020304" pitchFamily="18" charset="0"/>
              </a:rPr>
              <a:t>tự</a:t>
            </a:r>
            <a:br>
              <a:rPr lang="en-US" altLang="en-US">
                <a:cs typeface="Times New Roman" panose="02020603050405020304" pitchFamily="18" charset="0"/>
              </a:rPr>
            </a:br>
            <a:r>
              <a:rPr lang="en-US" altLang="en-US" i="1" err="1"/>
              <a:t>Mô</a:t>
            </a:r>
            <a:r>
              <a:rPr lang="en-US" altLang="en-US" i="1"/>
              <a:t> </a:t>
            </a:r>
            <a:r>
              <a:rPr lang="en-US" altLang="en-US" i="1" err="1"/>
              <a:t>tả</a:t>
            </a:r>
            <a:endParaRPr lang="en-US" altLang="en-US" i="1"/>
          </a:p>
        </p:txBody>
      </p:sp>
      <p:sp>
        <p:nvSpPr>
          <p:cNvPr id="17411" name="Rectangle 3"/>
          <p:cNvSpPr>
            <a:spLocks noGrp="1" noChangeArrowheads="1"/>
          </p:cNvSpPr>
          <p:nvPr>
            <p:ph type="body" sz="quarter" idx="13"/>
          </p:nvPr>
        </p:nvSpPr>
        <p:spPr/>
        <p:txBody>
          <a:bodyPr>
            <a:normAutofit/>
          </a:bodyPr>
          <a:lstStyle/>
          <a:p>
            <a:pPr>
              <a:spcBef>
                <a:spcPct val="10000"/>
              </a:spcBef>
            </a:pPr>
            <a:r>
              <a:rPr lang="en-US" altLang="en-US" sz="2400" err="1">
                <a:cs typeface="Times New Roman" panose="02020603050405020304" pitchFamily="18" charset="0"/>
              </a:rPr>
              <a:t>Giả</a:t>
            </a:r>
            <a:r>
              <a:rPr lang="en-US" altLang="en-US" sz="2400">
                <a:cs typeface="Times New Roman" panose="02020603050405020304" pitchFamily="18" charset="0"/>
              </a:rPr>
              <a:t> </a:t>
            </a:r>
            <a:r>
              <a:rPr lang="en-US" altLang="en-US" sz="2400" err="1">
                <a:cs typeface="Times New Roman" panose="02020603050405020304" pitchFamily="18" charset="0"/>
              </a:rPr>
              <a:t>sử</a:t>
            </a:r>
            <a:r>
              <a:rPr lang="en-US" altLang="en-US" sz="2400">
                <a:cs typeface="Times New Roman" panose="02020603050405020304" pitchFamily="18" charset="0"/>
              </a:rPr>
              <a:t> </a:t>
            </a:r>
            <a:r>
              <a:rPr lang="en-US" altLang="en-US" sz="2400" err="1">
                <a:cs typeface="Times New Roman" panose="02020603050405020304" pitchFamily="18" charset="0"/>
              </a:rPr>
              <a:t>có</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L=&lt;a</a:t>
            </a:r>
            <a:r>
              <a:rPr lang="en-US" altLang="en-US" sz="2400" baseline="-25000">
                <a:cs typeface="Times New Roman" panose="02020603050405020304" pitchFamily="18" charset="0"/>
              </a:rPr>
              <a:t>1</a:t>
            </a:r>
            <a:r>
              <a:rPr lang="en-US" altLang="en-US" sz="2400">
                <a:cs typeface="Times New Roman" panose="02020603050405020304" pitchFamily="18" charset="0"/>
              </a:rPr>
              <a:t>,a</a:t>
            </a:r>
            <a:r>
              <a:rPr lang="en-US" altLang="en-US" sz="2400" baseline="-25000">
                <a:cs typeface="Times New Roman" panose="02020603050405020304" pitchFamily="18" charset="0"/>
              </a:rPr>
              <a:t>2</a:t>
            </a:r>
            <a:r>
              <a:rPr lang="en-US" altLang="en-US" sz="2400">
                <a:cs typeface="Times New Roman" panose="02020603050405020304" pitchFamily="18" charset="0"/>
              </a:rPr>
              <a:t>,...,a</a:t>
            </a:r>
            <a:r>
              <a:rPr lang="en-US" altLang="en-US" sz="2400" baseline="-25000">
                <a:cs typeface="Times New Roman" panose="02020603050405020304" pitchFamily="18" charset="0"/>
              </a:rPr>
              <a:t>n</a:t>
            </a:r>
            <a:r>
              <a:rPr lang="en-US" altLang="en-US" sz="2400">
                <a:cs typeface="Times New Roman" panose="02020603050405020304" pitchFamily="18" charset="0"/>
              </a:rPr>
              <a:t>&gt;</a:t>
            </a:r>
          </a:p>
          <a:p>
            <a:pPr lvl="1">
              <a:spcBef>
                <a:spcPct val="10000"/>
              </a:spcBef>
            </a:pPr>
            <a:r>
              <a:rPr lang="en-US" altLang="en-US" sz="2000" err="1">
                <a:cs typeface="Times New Roman" panose="02020603050405020304" pitchFamily="18" charset="0"/>
              </a:rPr>
              <a:t>Chọn</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phù</a:t>
            </a:r>
            <a:r>
              <a:rPr lang="en-US" altLang="en-US" sz="2000">
                <a:cs typeface="Times New Roman" panose="02020603050405020304" pitchFamily="18" charset="0"/>
              </a:rPr>
              <a:t> </a:t>
            </a:r>
            <a:r>
              <a:rPr lang="en-US" altLang="en-US" sz="2000" err="1">
                <a:cs typeface="Times New Roman" panose="02020603050405020304" pitchFamily="18" charset="0"/>
              </a:rPr>
              <a:t>hợp</a:t>
            </a:r>
            <a:endParaRPr lang="en-US" altLang="en-US" sz="2000">
              <a:cs typeface="Times New Roman" panose="02020603050405020304" pitchFamily="18" charset="0"/>
            </a:endParaRPr>
          </a:p>
          <a:p>
            <a:pPr lvl="2">
              <a:spcBef>
                <a:spcPct val="10000"/>
              </a:spcBef>
            </a:pPr>
            <a:r>
              <a:rPr lang="en-US" altLang="en-US" sz="2000" err="1">
                <a:cs typeface="Times New Roman" panose="02020603050405020304" pitchFamily="18" charset="0"/>
              </a:rPr>
              <a:t>Xác</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tối</a:t>
            </a:r>
            <a:r>
              <a:rPr lang="en-US" altLang="en-US" sz="2000">
                <a:cs typeface="Times New Roman" panose="02020603050405020304" pitchFamily="18" charset="0"/>
              </a:rPr>
              <a:t> </a:t>
            </a:r>
            <a:r>
              <a:rPr lang="en-US" altLang="en-US" sz="2000" err="1">
                <a:cs typeface="Times New Roman" panose="02020603050405020304" pitchFamily="18" charset="0"/>
              </a:rPr>
              <a:t>đa</a:t>
            </a:r>
            <a:r>
              <a:rPr lang="en-US" altLang="en-US" sz="2000">
                <a:cs typeface="Times New Roman" panose="02020603050405020304" pitchFamily="18" charset="0"/>
              </a:rPr>
              <a:t> MAX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p>
          <a:p>
            <a:pPr lvl="2">
              <a:spcBef>
                <a:spcPct val="10000"/>
              </a:spcBef>
            </a:pPr>
            <a:r>
              <a:rPr lang="en-US" altLang="en-US" sz="2000" err="1">
                <a:cs typeface="Times New Roman" panose="02020603050405020304" pitchFamily="18" charset="0"/>
              </a:rPr>
              <a:t>Xác</a:t>
            </a:r>
            <a:r>
              <a:rPr lang="en-US" altLang="en-US" sz="2000">
                <a:cs typeface="Times New Roman" panose="02020603050405020304" pitchFamily="18" charset="0"/>
              </a:rPr>
              <a:t> </a:t>
            </a:r>
            <a:r>
              <a:rPr lang="en-US" altLang="en-US" sz="2000" err="1">
                <a:cs typeface="Times New Roman" panose="02020603050405020304" pitchFamily="18" charset="0"/>
              </a:rPr>
              <a:t>định</a:t>
            </a:r>
            <a:r>
              <a:rPr lang="en-US" altLang="en-US" sz="2000">
                <a:cs typeface="Times New Roman" panose="02020603050405020304" pitchFamily="18" charset="0"/>
              </a:rPr>
              <a:t> </a:t>
            </a:r>
            <a:r>
              <a:rPr lang="en-US" altLang="en-US" sz="2000" err="1">
                <a:cs typeface="Times New Roman" panose="02020603050405020304" pitchFamily="18" charset="0"/>
              </a:rPr>
              <a:t>kiểu</a:t>
            </a:r>
            <a:r>
              <a:rPr lang="en-US" altLang="en-US" sz="2000">
                <a:cs typeface="Times New Roman" panose="02020603050405020304" pitchFamily="18" charset="0"/>
              </a:rPr>
              <a:t> </a:t>
            </a:r>
            <a:r>
              <a:rPr lang="en-US" altLang="en-US" sz="2000" err="1">
                <a:cs typeface="Times New Roman" panose="02020603050405020304" pitchFamily="18" charset="0"/>
              </a:rPr>
              <a:t>dữ</a:t>
            </a:r>
            <a:r>
              <a:rPr lang="en-US" altLang="en-US" sz="2000">
                <a:cs typeface="Times New Roman" panose="02020603050405020304" pitchFamily="18" charset="0"/>
              </a:rPr>
              <a:t> </a:t>
            </a:r>
            <a:r>
              <a:rPr lang="en-US" altLang="en-US" sz="2000" err="1">
                <a:cs typeface="Times New Roman" panose="02020603050405020304" pitchFamily="18" charset="0"/>
              </a:rPr>
              <a:t>liệu</a:t>
            </a:r>
            <a:r>
              <a:rPr lang="en-US" altLang="en-US" sz="2000">
                <a:cs typeface="Times New Roman" panose="02020603050405020304" pitchFamily="18" charset="0"/>
              </a:rPr>
              <a:t> D </a:t>
            </a:r>
            <a:r>
              <a:rPr lang="en-US" altLang="en-US" sz="2000" err="1">
                <a:cs typeface="Times New Roman" panose="02020603050405020304" pitchFamily="18" charset="0"/>
              </a:rPr>
              <a:t>cho</a:t>
            </a:r>
            <a:r>
              <a:rPr lang="en-US" altLang="en-US" sz="2000">
                <a:cs typeface="Times New Roman" panose="02020603050405020304" pitchFamily="18" charset="0"/>
              </a:rPr>
              <a:t> </a:t>
            </a:r>
            <a:r>
              <a:rPr lang="en-US" altLang="en-US" sz="2000" err="1">
                <a:cs typeface="Times New Roman" panose="02020603050405020304" pitchFamily="18" charset="0"/>
              </a:rPr>
              <a:t>mỗi</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p>
          <a:p>
            <a:pPr lvl="2">
              <a:spcBef>
                <a:spcPct val="10000"/>
              </a:spcBef>
            </a:pPr>
            <a:r>
              <a:rPr lang="en-US" altLang="en-US" sz="2000" err="1">
                <a:cs typeface="Times New Roman" panose="02020603050405020304" pitchFamily="18" charset="0"/>
              </a:rPr>
              <a:t>Chọn</a:t>
            </a:r>
            <a:r>
              <a:rPr lang="en-US" altLang="en-US" sz="2000">
                <a:cs typeface="Times New Roman" panose="02020603050405020304" pitchFamily="18" charset="0"/>
              </a:rPr>
              <a:t> CTLT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chiều</a:t>
            </a:r>
            <a:r>
              <a:rPr lang="en-US" altLang="en-US" sz="2000">
                <a:cs typeface="Times New Roman" panose="02020603050405020304" pitchFamily="18" charset="0"/>
              </a:rPr>
              <a:t> </a:t>
            </a:r>
            <a:r>
              <a:rPr lang="en-US" altLang="en-US" sz="2000" err="1">
                <a:cs typeface="Times New Roman" panose="02020603050405020304" pitchFamily="18" charset="0"/>
              </a:rPr>
              <a:t>kích</a:t>
            </a:r>
            <a:r>
              <a:rPr lang="en-US" altLang="en-US" sz="2000">
                <a:cs typeface="Times New Roman" panose="02020603050405020304" pitchFamily="18" charset="0"/>
              </a:rPr>
              <a:t> </a:t>
            </a:r>
            <a:r>
              <a:rPr lang="en-US" altLang="en-US" sz="2000" err="1">
                <a:cs typeface="Times New Roman" panose="02020603050405020304" pitchFamily="18" charset="0"/>
              </a:rPr>
              <a:t>thước</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a:t>
            </a:r>
            <a:r>
              <a:rPr lang="en-US" altLang="en-US" sz="2000" err="1">
                <a:cs typeface="Times New Roman" panose="02020603050405020304" pitchFamily="18" charset="0"/>
              </a:rPr>
              <a:t>kiểu</a:t>
            </a:r>
            <a:r>
              <a:rPr lang="en-US" altLang="en-US" sz="2000">
                <a:cs typeface="Times New Roman" panose="02020603050405020304" pitchFamily="18" charset="0"/>
              </a:rPr>
              <a:t> </a:t>
            </a:r>
            <a:r>
              <a:rPr lang="en-US" altLang="en-US" sz="2000" err="1">
                <a:cs typeface="Times New Roman" panose="02020603050405020304" pitchFamily="18" charset="0"/>
              </a:rPr>
              <a:t>dữ</a:t>
            </a:r>
            <a:r>
              <a:rPr lang="en-US" altLang="en-US" sz="2000">
                <a:cs typeface="Times New Roman" panose="02020603050405020304" pitchFamily="18" charset="0"/>
              </a:rPr>
              <a:t> </a:t>
            </a:r>
            <a:r>
              <a:rPr lang="en-US" altLang="en-US" sz="2000" err="1">
                <a:cs typeface="Times New Roman" panose="02020603050405020304" pitchFamily="18" charset="0"/>
              </a:rPr>
              <a:t>liệu</a:t>
            </a:r>
            <a:r>
              <a:rPr lang="en-US" altLang="en-US" sz="2000">
                <a:cs typeface="Times New Roman" panose="02020603050405020304" pitchFamily="18" charset="0"/>
              </a:rPr>
              <a:t> </a:t>
            </a:r>
            <a:r>
              <a:rPr lang="en-US" altLang="en-US" sz="2000" err="1">
                <a:cs typeface="Times New Roman" panose="02020603050405020304" pitchFamily="18" charset="0"/>
              </a:rPr>
              <a:t>như</a:t>
            </a:r>
            <a:r>
              <a:rPr lang="en-US" altLang="en-US" sz="2000">
                <a:cs typeface="Times New Roman" panose="02020603050405020304" pitchFamily="18" charset="0"/>
              </a:rPr>
              <a:t> </a:t>
            </a:r>
            <a:r>
              <a:rPr lang="en-US" altLang="en-US" sz="2000" err="1">
                <a:cs typeface="Times New Roman" panose="02020603050405020304" pitchFamily="18" charset="0"/>
              </a:rPr>
              <a:t>đã</a:t>
            </a:r>
            <a:r>
              <a:rPr lang="en-US" altLang="en-US" sz="2000">
                <a:cs typeface="Times New Roman" panose="02020603050405020304" pitchFamily="18" charset="0"/>
              </a:rPr>
              <a:t> </a:t>
            </a:r>
            <a:r>
              <a:rPr lang="en-US" altLang="en-US" sz="2000" err="1">
                <a:cs typeface="Times New Roman" panose="02020603050405020304" pitchFamily="18" charset="0"/>
              </a:rPr>
              <a:t>chọn</a:t>
            </a:r>
            <a:endParaRPr lang="en-US" altLang="en-US" sz="1600">
              <a:cs typeface="Times New Roman" panose="02020603050405020304" pitchFamily="18" charset="0"/>
            </a:endParaRPr>
          </a:p>
          <a:p>
            <a:pPr lvl="1">
              <a:spcBef>
                <a:spcPct val="10000"/>
              </a:spcBef>
            </a:pP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hợp</a:t>
            </a:r>
            <a:r>
              <a:rPr lang="en-US" altLang="en-US" sz="2000">
                <a:cs typeface="Times New Roman" panose="02020603050405020304" pitchFamily="18" charset="0"/>
              </a:rPr>
              <a:t> </a:t>
            </a:r>
            <a:r>
              <a:rPr lang="en-US" altLang="en-US" sz="2000" err="1">
                <a:cs typeface="Times New Roman" panose="02020603050405020304" pitchFamily="18" charset="0"/>
              </a:rPr>
              <a:t>lý</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trong</a:t>
            </a:r>
            <a:r>
              <a:rPr lang="en-US" altLang="en-US" sz="2000">
                <a:cs typeface="Times New Roman" panose="02020603050405020304" pitchFamily="18" charset="0"/>
              </a:rPr>
              <a:t> CTLT </a:t>
            </a:r>
            <a:r>
              <a:rPr lang="en-US" altLang="en-US" sz="2000" err="1">
                <a:cs typeface="Times New Roman" panose="02020603050405020304" pitchFamily="18" charset="0"/>
              </a:rPr>
              <a:t>đã</a:t>
            </a:r>
            <a:r>
              <a:rPr lang="en-US" altLang="en-US" sz="2000">
                <a:cs typeface="Times New Roman" panose="02020603050405020304" pitchFamily="18" charset="0"/>
              </a:rPr>
              <a:t> </a:t>
            </a:r>
            <a:r>
              <a:rPr lang="en-US" altLang="en-US" sz="2000" err="1">
                <a:cs typeface="Times New Roman" panose="02020603050405020304" pitchFamily="18" charset="0"/>
              </a:rPr>
              <a:t>chọn</a:t>
            </a:r>
            <a:endParaRPr lang="en-US" altLang="en-US" sz="2000">
              <a:cs typeface="Times New Roman" panose="02020603050405020304" pitchFamily="18" charset="0"/>
            </a:endParaRPr>
          </a:p>
          <a:p>
            <a:pPr lvl="2">
              <a:spcBef>
                <a:spcPct val="10000"/>
              </a:spcBef>
            </a:pP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mỗi</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trong</a:t>
            </a:r>
            <a:r>
              <a:rPr lang="en-US" altLang="en-US" sz="2000">
                <a:cs typeface="Times New Roman" panose="02020603050405020304" pitchFamily="18" charset="0"/>
              </a:rPr>
              <a:t> </a:t>
            </a:r>
            <a:r>
              <a:rPr lang="en-US" altLang="en-US" sz="2000" err="1">
                <a:cs typeface="Times New Roman" panose="02020603050405020304" pitchFamily="18" charset="0"/>
              </a:rPr>
              <a:t>một</a:t>
            </a:r>
            <a:r>
              <a:rPr lang="en-US" altLang="en-US" sz="2000">
                <a:cs typeface="Times New Roman" panose="02020603050405020304" pitchFamily="18" charset="0"/>
              </a:rPr>
              <a:t> </a:t>
            </a:r>
            <a:r>
              <a:rPr lang="en-US" altLang="en-US" sz="2000" err="1">
                <a:cs typeface="Times New Roman" panose="02020603050405020304" pitchFamily="18" charset="0"/>
              </a:rPr>
              <a:t>ngăn</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a:t>
            </a:r>
          </a:p>
          <a:p>
            <a:pPr lvl="2">
              <a:spcBef>
                <a:spcPct val="10000"/>
              </a:spcBef>
            </a:pP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lần</a:t>
            </a:r>
            <a:r>
              <a:rPr lang="en-US" altLang="en-US" sz="2000">
                <a:cs typeface="Times New Roman" panose="02020603050405020304" pitchFamily="18" charset="0"/>
              </a:rPr>
              <a:t> </a:t>
            </a:r>
            <a:r>
              <a:rPr lang="en-US" altLang="en-US" sz="2000" err="1">
                <a:cs typeface="Times New Roman" panose="02020603050405020304" pitchFamily="18" charset="0"/>
              </a:rPr>
              <a:t>lượt</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trật</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tuyến</a:t>
            </a:r>
            <a:r>
              <a:rPr lang="en-US" altLang="en-US" sz="2000">
                <a:cs typeface="Times New Roman" panose="02020603050405020304" pitchFamily="18" charset="0"/>
              </a:rPr>
              <a:t> </a:t>
            </a:r>
            <a:r>
              <a:rPr lang="en-US" altLang="en-US" sz="2000" err="1">
                <a:cs typeface="Times New Roman" panose="02020603050405020304" pitchFamily="18" charset="0"/>
              </a:rPr>
              <a:t>tính</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chúng</a:t>
            </a:r>
            <a:r>
              <a:rPr lang="en-US" altLang="en-US" sz="2000">
                <a:cs typeface="Times New Roman" panose="02020603050405020304" pitchFamily="18" charset="0"/>
              </a:rPr>
              <a:t> </a:t>
            </a:r>
          </a:p>
          <a:p>
            <a:pPr lvl="2" algn="just">
              <a:spcBef>
                <a:spcPct val="10000"/>
              </a:spcBef>
            </a:pP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ở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vị</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kề</a:t>
            </a:r>
            <a:r>
              <a:rPr lang="en-US" altLang="en-US" sz="2000">
                <a:cs typeface="Times New Roman" panose="02020603050405020304" pitchFamily="18" charset="0"/>
              </a:rPr>
              <a:t> </a:t>
            </a:r>
            <a:r>
              <a:rPr lang="en-US" altLang="en-US" sz="2000" err="1">
                <a:cs typeface="Times New Roman" panose="02020603050405020304" pitchFamily="18" charset="0"/>
              </a:rPr>
              <a:t>nhau</a:t>
            </a:r>
            <a:r>
              <a:rPr lang="en-US" altLang="en-US" sz="2000">
                <a:cs typeface="Times New Roman" panose="02020603050405020304" pitchFamily="18" charset="0"/>
              </a:rPr>
              <a:t>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đảm</a:t>
            </a:r>
            <a:r>
              <a:rPr lang="en-US" altLang="en-US" sz="2000">
                <a:cs typeface="Times New Roman" panose="02020603050405020304" pitchFamily="18" charset="0"/>
              </a:rPr>
              <a:t> </a:t>
            </a:r>
            <a:r>
              <a:rPr lang="en-US" altLang="en-US" sz="2000" err="1">
                <a:cs typeface="Times New Roman" panose="02020603050405020304" pitchFamily="18" charset="0"/>
              </a:rPr>
              <a:t>bảo</a:t>
            </a:r>
            <a:r>
              <a:rPr lang="en-US" altLang="en-US" sz="2000">
                <a:cs typeface="Times New Roman" panose="02020603050405020304" pitchFamily="18" charset="0"/>
              </a:rPr>
              <a:t> </a:t>
            </a:r>
            <a:r>
              <a:rPr lang="en-US" altLang="en-US" sz="2000" err="1">
                <a:cs typeface="Times New Roman" panose="02020603050405020304" pitchFamily="18" charset="0"/>
              </a:rPr>
              <a:t>số</a:t>
            </a:r>
            <a:r>
              <a:rPr lang="en-US" altLang="en-US" sz="2000">
                <a:cs typeface="Times New Roman" panose="02020603050405020304" pitchFamily="18" charset="0"/>
              </a:rPr>
              <a:t> </a:t>
            </a:r>
            <a:r>
              <a:rPr lang="en-US" altLang="en-US" sz="2000" err="1">
                <a:cs typeface="Times New Roman" panose="02020603050405020304" pitchFamily="18" charset="0"/>
              </a:rPr>
              <a:t>thông</a:t>
            </a:r>
            <a:r>
              <a:rPr lang="en-US" altLang="en-US" sz="2000">
                <a:cs typeface="Times New Roman" panose="02020603050405020304" pitchFamily="18" charset="0"/>
              </a:rPr>
              <a:t> tin </a:t>
            </a:r>
            <a:r>
              <a:rPr lang="en-US" altLang="en-US" sz="2000" err="1">
                <a:cs typeface="Times New Roman" panose="02020603050405020304" pitchFamily="18" charset="0"/>
              </a:rPr>
              <a:t>cần</a:t>
            </a:r>
            <a:r>
              <a:rPr lang="en-US" altLang="en-US" sz="2000">
                <a:cs typeface="Times New Roman" panose="02020603050405020304" pitchFamily="18" charset="0"/>
              </a:rPr>
              <a:t> </a:t>
            </a:r>
            <a:r>
              <a:rPr lang="en-US" altLang="en-US" sz="2000" err="1">
                <a:cs typeface="Times New Roman" panose="02020603050405020304" pitchFamily="18" charset="0"/>
              </a:rPr>
              <a:t>quản</a:t>
            </a:r>
            <a:r>
              <a:rPr lang="en-US" altLang="en-US" sz="2000">
                <a:cs typeface="Times New Roman" panose="02020603050405020304" pitchFamily="18" charset="0"/>
              </a:rPr>
              <a:t> </a:t>
            </a:r>
            <a:r>
              <a:rPr lang="en-US" altLang="en-US" sz="2000" err="1">
                <a:cs typeface="Times New Roman" panose="02020603050405020304" pitchFamily="18" charset="0"/>
              </a:rPr>
              <a:t>lý</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ít</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lvl="2">
              <a:spcBef>
                <a:spcPct val="10000"/>
              </a:spcBef>
            </a:pPr>
            <a:r>
              <a:rPr lang="en-US" altLang="en-US" sz="2000" err="1">
                <a:cs typeface="Times New Roman" panose="02020603050405020304" pitchFamily="18" charset="0"/>
              </a:rPr>
              <a:t>Chọn</a:t>
            </a:r>
            <a:r>
              <a:rPr lang="en-US" altLang="en-US" sz="2000">
                <a:cs typeface="Times New Roman" panose="02020603050405020304" pitchFamily="18" charset="0"/>
              </a:rPr>
              <a:t> </a:t>
            </a:r>
            <a:r>
              <a:rPr lang="en-US" altLang="en-US" sz="2000" err="1">
                <a:cs typeface="Times New Roman" panose="02020603050405020304" pitchFamily="18" charset="0"/>
              </a:rPr>
              <a:t>cách</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thích</a:t>
            </a:r>
            <a:r>
              <a:rPr lang="en-US" altLang="en-US" sz="2000">
                <a:cs typeface="Times New Roman" panose="02020603050405020304" pitchFamily="18" charset="0"/>
              </a:rPr>
              <a:t> </a:t>
            </a:r>
            <a:r>
              <a:rPr lang="en-US" altLang="en-US" sz="2000" err="1">
                <a:cs typeface="Times New Roman" panose="02020603050405020304" pitchFamily="18" charset="0"/>
              </a:rPr>
              <a:t>hợp</a:t>
            </a:r>
            <a:r>
              <a:rPr lang="en-US" altLang="en-US" sz="2000">
                <a:cs typeface="Times New Roman" panose="02020603050405020304" pitchFamily="18" charset="0"/>
              </a:rPr>
              <a:t> </a:t>
            </a:r>
            <a:r>
              <a:rPr lang="en-US" altLang="en-US" sz="2000" err="1">
                <a:cs typeface="Times New Roman" panose="02020603050405020304" pitchFamily="18" charset="0"/>
              </a:rPr>
              <a:t>để</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thao</a:t>
            </a:r>
            <a:r>
              <a:rPr lang="en-US" altLang="en-US" sz="2000">
                <a:cs typeface="Times New Roman" panose="02020603050405020304" pitchFamily="18" charset="0"/>
              </a:rPr>
              <a:t> </a:t>
            </a:r>
            <a:r>
              <a:rPr lang="en-US" altLang="en-US" sz="2000" err="1">
                <a:cs typeface="Times New Roman" panose="02020603050405020304" pitchFamily="18" charset="0"/>
              </a:rPr>
              <a:t>tác</a:t>
            </a:r>
            <a:r>
              <a:rPr lang="en-US" altLang="en-US" sz="2000">
                <a:cs typeface="Times New Roman" panose="02020603050405020304" pitchFamily="18" charset="0"/>
              </a:rPr>
              <a:t> </a:t>
            </a:r>
            <a:r>
              <a:rPr lang="en-US" altLang="en-US" sz="2000" err="1">
                <a:cs typeface="Times New Roman" panose="02020603050405020304" pitchFamily="18" charset="0"/>
              </a:rPr>
              <a:t>cơ</a:t>
            </a:r>
            <a:r>
              <a:rPr lang="en-US" altLang="en-US" sz="2000">
                <a:cs typeface="Times New Roman" panose="02020603050405020304" pitchFamily="18" charset="0"/>
              </a:rPr>
              <a:t> </a:t>
            </a:r>
            <a:r>
              <a:rPr lang="en-US" altLang="en-US" sz="2000" err="1">
                <a:cs typeface="Times New Roman" panose="02020603050405020304" pitchFamily="18" charset="0"/>
              </a:rPr>
              <a:t>bản</a:t>
            </a:r>
            <a:r>
              <a:rPr lang="en-US" altLang="en-US" sz="2000">
                <a:cs typeface="Times New Roman" panose="02020603050405020304" pitchFamily="18" charset="0"/>
              </a:rPr>
              <a:t> </a:t>
            </a:r>
            <a:r>
              <a:rPr lang="en-US" altLang="en-US" sz="2000" err="1">
                <a:cs typeface="Times New Roman" panose="02020603050405020304" pitchFamily="18" charset="0"/>
              </a:rPr>
              <a:t>thực</a:t>
            </a:r>
            <a:r>
              <a:rPr lang="en-US" altLang="en-US" sz="2000">
                <a:cs typeface="Times New Roman" panose="02020603050405020304" pitchFamily="18" charset="0"/>
              </a:rPr>
              <a:t> </a:t>
            </a:r>
            <a:r>
              <a:rPr lang="en-US" altLang="en-US" sz="2000" err="1">
                <a:cs typeface="Times New Roman" panose="02020603050405020304" pitchFamily="18" charset="0"/>
              </a:rPr>
              <a:t>hiện</a:t>
            </a:r>
            <a:r>
              <a:rPr lang="en-US" altLang="en-US" sz="2000">
                <a:cs typeface="Times New Roman" panose="02020603050405020304" pitchFamily="18" charset="0"/>
              </a:rPr>
              <a:t> </a:t>
            </a:r>
            <a:r>
              <a:rPr lang="en-US" altLang="en-US" sz="2000" err="1">
                <a:cs typeface="Times New Roman" panose="02020603050405020304" pitchFamily="18" charset="0"/>
              </a:rPr>
              <a:t>trên</a:t>
            </a:r>
            <a:r>
              <a:rPr lang="en-US" altLang="en-US" sz="2000">
                <a:cs typeface="Times New Roman" panose="02020603050405020304" pitchFamily="18" charset="0"/>
              </a:rPr>
              <a:t> </a:t>
            </a:r>
            <a:r>
              <a:rPr lang="en-US" altLang="en-US" sz="2000" err="1">
                <a:cs typeface="Times New Roman" panose="02020603050405020304" pitchFamily="18" charset="0"/>
              </a:rPr>
              <a:t>danh</a:t>
            </a:r>
            <a:r>
              <a:rPr lang="en-US" altLang="en-US" sz="2000">
                <a:cs typeface="Times New Roman" panose="02020603050405020304" pitchFamily="18" charset="0"/>
              </a:rPr>
              <a:t> </a:t>
            </a:r>
            <a:r>
              <a:rPr lang="en-US" altLang="en-US" sz="2000" err="1">
                <a:cs typeface="Times New Roman" panose="02020603050405020304" pitchFamily="18" charset="0"/>
              </a:rPr>
              <a:t>sách</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hiệu</a:t>
            </a:r>
            <a:r>
              <a:rPr lang="en-US" altLang="en-US" sz="2000">
                <a:cs typeface="Times New Roman" panose="02020603050405020304" pitchFamily="18" charset="0"/>
              </a:rPr>
              <a:t> </a:t>
            </a:r>
            <a:r>
              <a:rPr lang="en-US" altLang="en-US" sz="2000" err="1">
                <a:cs typeface="Times New Roman" panose="02020603050405020304" pitchFamily="18" charset="0"/>
              </a:rPr>
              <a:t>quả</a:t>
            </a:r>
            <a:r>
              <a:rPr lang="en-US" altLang="en-US" sz="2000">
                <a:cs typeface="Times New Roman" panose="02020603050405020304" pitchFamily="18" charset="0"/>
              </a:rPr>
              <a:t> </a:t>
            </a:r>
            <a:r>
              <a:rPr lang="en-US" altLang="en-US" sz="2000" err="1">
                <a:cs typeface="Times New Roman" panose="02020603050405020304" pitchFamily="18" charset="0"/>
              </a:rPr>
              <a:t>nhất</a:t>
            </a:r>
            <a:r>
              <a:rPr lang="en-US" altLang="en-US" sz="2000">
                <a:cs typeface="Times New Roman" panose="02020603050405020304" pitchFamily="18" charset="0"/>
              </a:rPr>
              <a:t>.</a:t>
            </a:r>
          </a:p>
        </p:txBody>
      </p:sp>
    </p:spTree>
    <p:extLst>
      <p:ext uri="{BB962C8B-B14F-4D97-AF65-F5344CB8AC3E}">
        <p14:creationId xmlns:p14="http://schemas.microsoft.com/office/powerpoint/2010/main" val="92341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1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Mô</a:t>
            </a:r>
            <a:r>
              <a:rPr lang="en-US" altLang="en-US" i="1"/>
              <a:t> </a:t>
            </a:r>
            <a:r>
              <a:rPr lang="en-US" altLang="en-US" i="1" err="1"/>
              <a:t>tả</a:t>
            </a:r>
            <a:endParaRPr lang="en-US" altLang="en-US" sz="3800">
              <a:cs typeface="Times New Roman" panose="02020603050405020304" pitchFamily="18" charset="0"/>
            </a:endParaRPr>
          </a:p>
        </p:txBody>
      </p:sp>
      <p:sp>
        <p:nvSpPr>
          <p:cNvPr id="20483" name="Rectangle 3"/>
          <p:cNvSpPr>
            <a:spLocks noGrp="1" noChangeArrowheads="1"/>
          </p:cNvSpPr>
          <p:nvPr>
            <p:ph type="body" sz="quarter" idx="13"/>
          </p:nvPr>
        </p:nvSpPr>
        <p:spPr/>
        <p:txBody>
          <a:bodyPr/>
          <a:lstStyle/>
          <a:p>
            <a:pPr marL="282575" indent="-282575"/>
            <a:r>
              <a:rPr lang="en-US" altLang="en-US" sz="2600" err="1"/>
              <a:t>Một</a:t>
            </a:r>
            <a:r>
              <a:rPr lang="en-US" altLang="en-US" sz="2600"/>
              <a:t> </a:t>
            </a:r>
            <a:r>
              <a:rPr lang="en-US" altLang="en-US" sz="2600" err="1"/>
              <a:t>số</a:t>
            </a:r>
            <a:r>
              <a:rPr lang="en-US" altLang="en-US" sz="2600"/>
              <a:t> </a:t>
            </a:r>
            <a:r>
              <a:rPr lang="en-US" altLang="en-US" sz="2600" err="1"/>
              <a:t>cách</a:t>
            </a:r>
            <a:r>
              <a:rPr lang="en-US" altLang="en-US" sz="2600"/>
              <a:t> </a:t>
            </a:r>
            <a:r>
              <a:rPr lang="en-US" altLang="en-US" sz="2600" err="1"/>
              <a:t>bố</a:t>
            </a:r>
            <a:r>
              <a:rPr lang="en-US" altLang="en-US" sz="2600"/>
              <a:t> </a:t>
            </a:r>
            <a:r>
              <a:rPr lang="en-US" altLang="en-US" sz="2600" err="1"/>
              <a:t>trí</a:t>
            </a:r>
            <a:r>
              <a:rPr lang="en-US" altLang="en-US" sz="2600"/>
              <a:t> </a:t>
            </a:r>
            <a:r>
              <a:rPr lang="en-US" altLang="en-US" sz="2600" err="1"/>
              <a:t>các</a:t>
            </a:r>
            <a:r>
              <a:rPr lang="en-US" altLang="en-US" sz="2600"/>
              <a:t> </a:t>
            </a:r>
            <a:r>
              <a:rPr lang="en-US" altLang="en-US" sz="2600" err="1"/>
              <a:t>phần</a:t>
            </a:r>
            <a:r>
              <a:rPr lang="en-US" altLang="en-US" sz="2600"/>
              <a:t> </a:t>
            </a:r>
            <a:r>
              <a:rPr lang="en-US" altLang="en-US" sz="2600" err="1"/>
              <a:t>tử</a:t>
            </a:r>
            <a:r>
              <a:rPr lang="en-US" altLang="en-US" sz="2600"/>
              <a:t> </a:t>
            </a:r>
            <a:r>
              <a:rPr lang="en-US" altLang="en-US" sz="2600" err="1"/>
              <a:t>của</a:t>
            </a:r>
            <a:r>
              <a:rPr lang="en-US" altLang="en-US" sz="2600"/>
              <a:t> </a:t>
            </a:r>
            <a:r>
              <a:rPr lang="en-US" altLang="en-US" sz="2600" err="1"/>
              <a:t>danh</a:t>
            </a:r>
            <a:r>
              <a:rPr lang="en-US" altLang="en-US" sz="2600"/>
              <a:t> </a:t>
            </a:r>
            <a:r>
              <a:rPr lang="en-US" altLang="en-US" sz="2600" err="1"/>
              <a:t>sách</a:t>
            </a:r>
            <a:r>
              <a:rPr lang="en-US" altLang="en-US" sz="2600"/>
              <a:t> </a:t>
            </a:r>
            <a:r>
              <a:rPr lang="en-US" altLang="en-US" sz="2600" err="1"/>
              <a:t>trong</a:t>
            </a:r>
            <a:r>
              <a:rPr lang="en-US" altLang="en-US" sz="2600"/>
              <a:t> </a:t>
            </a:r>
            <a:r>
              <a:rPr lang="en-US" altLang="en-US" sz="2600" err="1"/>
              <a:t>mảng</a:t>
            </a:r>
            <a:endParaRPr lang="en-US" altLang="en-US" sz="2600"/>
          </a:p>
          <a:p>
            <a:pPr marL="463550" lvl="1" indent="-292100">
              <a:buFont typeface="+mj-lt"/>
              <a:buAutoNum type="alphaLcParenR"/>
            </a:pPr>
            <a:r>
              <a:rPr lang="en-US" altLang="en-US" sz="2200" err="1"/>
              <a:t>Bố</a:t>
            </a:r>
            <a:r>
              <a:rPr lang="en-US" altLang="en-US" sz="2200"/>
              <a:t> </a:t>
            </a:r>
            <a:r>
              <a:rPr lang="en-US" altLang="en-US" sz="2200" err="1"/>
              <a:t>trí</a:t>
            </a:r>
            <a:r>
              <a:rPr lang="en-US" altLang="en-US" sz="2200"/>
              <a:t> </a:t>
            </a:r>
            <a:r>
              <a:rPr lang="en-US" altLang="en-US" sz="2200" err="1"/>
              <a:t>liền</a:t>
            </a:r>
            <a:r>
              <a:rPr lang="en-US" altLang="en-US" sz="2200"/>
              <a:t> </a:t>
            </a:r>
            <a:r>
              <a:rPr lang="en-US" altLang="en-US" sz="2200" err="1"/>
              <a:t>từ</a:t>
            </a:r>
            <a:r>
              <a:rPr lang="en-US" altLang="en-US" sz="2200"/>
              <a:t> </a:t>
            </a:r>
            <a:r>
              <a:rPr lang="en-US" altLang="en-US" sz="2200" err="1"/>
              <a:t>đầu</a:t>
            </a:r>
            <a:r>
              <a:rPr lang="en-US" altLang="en-US" sz="2200"/>
              <a:t> </a:t>
            </a:r>
            <a:r>
              <a:rPr lang="en-US" altLang="en-US" sz="2200" err="1"/>
              <a:t>mảng</a:t>
            </a:r>
            <a:r>
              <a:rPr lang="en-US" altLang="en-US" sz="2200"/>
              <a:t>: </a:t>
            </a:r>
            <a:r>
              <a:rPr lang="en-US" altLang="en-US" sz="2200" i="1"/>
              <a:t>H=1, R=n</a:t>
            </a:r>
            <a:r>
              <a:rPr lang="en-US" altLang="en-US" sz="2200"/>
              <a:t> =&gt; </a:t>
            </a:r>
            <a:r>
              <a:rPr lang="en-US" altLang="en-US" sz="2200" err="1"/>
              <a:t>cần</a:t>
            </a:r>
            <a:r>
              <a:rPr lang="en-US" altLang="en-US" sz="2200"/>
              <a:t> </a:t>
            </a:r>
            <a:r>
              <a:rPr lang="en-US" altLang="en-US" sz="2200" err="1"/>
              <a:t>thông</a:t>
            </a:r>
            <a:r>
              <a:rPr lang="en-US" altLang="en-US" sz="2200"/>
              <a:t> tin </a:t>
            </a:r>
            <a:r>
              <a:rPr lang="en-US" altLang="en-US" sz="2200" i="1"/>
              <a:t>n</a:t>
            </a:r>
          </a:p>
          <a:p>
            <a:pPr marL="463550" lvl="1" indent="-292100">
              <a:buFont typeface="+mj-lt"/>
              <a:buAutoNum type="alphaLcParenR"/>
            </a:pPr>
            <a:r>
              <a:rPr lang="en-US" altLang="en-US" sz="2200" err="1"/>
              <a:t>Bố</a:t>
            </a:r>
            <a:r>
              <a:rPr lang="en-US" altLang="en-US" sz="2200"/>
              <a:t> </a:t>
            </a:r>
            <a:r>
              <a:rPr lang="en-US" altLang="en-US" sz="2200" err="1"/>
              <a:t>trí</a:t>
            </a:r>
            <a:r>
              <a:rPr lang="en-US" altLang="en-US" sz="2200"/>
              <a:t> </a:t>
            </a:r>
            <a:r>
              <a:rPr lang="en-US" altLang="en-US" sz="2200" err="1"/>
              <a:t>dãy</a:t>
            </a:r>
            <a:r>
              <a:rPr lang="en-US" altLang="en-US" sz="2200"/>
              <a:t> </a:t>
            </a:r>
            <a:r>
              <a:rPr lang="en-US" altLang="en-US" sz="2200" err="1"/>
              <a:t>liên</a:t>
            </a:r>
            <a:r>
              <a:rPr lang="en-US" altLang="en-US" sz="2200"/>
              <a:t> </a:t>
            </a:r>
            <a:r>
              <a:rPr lang="en-US" altLang="en-US" sz="2200" err="1"/>
              <a:t>tục</a:t>
            </a:r>
            <a:r>
              <a:rPr lang="en-US" altLang="en-US" sz="2200"/>
              <a:t>, </a:t>
            </a:r>
            <a:r>
              <a:rPr lang="en-US" altLang="en-US" sz="2200" err="1"/>
              <a:t>cần</a:t>
            </a:r>
            <a:r>
              <a:rPr lang="en-US" altLang="en-US" sz="2200"/>
              <a:t> </a:t>
            </a:r>
            <a:r>
              <a:rPr lang="en-US" altLang="en-US" sz="2200" err="1"/>
              <a:t>hai</a:t>
            </a:r>
            <a:r>
              <a:rPr lang="en-US" altLang="en-US" sz="2200"/>
              <a:t> </a:t>
            </a:r>
            <a:r>
              <a:rPr lang="en-US" altLang="en-US" sz="2200" err="1"/>
              <a:t>trong</a:t>
            </a:r>
            <a:r>
              <a:rPr lang="en-US" altLang="en-US" sz="2200"/>
              <a:t> </a:t>
            </a:r>
            <a:r>
              <a:rPr lang="en-US" altLang="en-US" sz="2200" err="1"/>
              <a:t>ba</a:t>
            </a:r>
            <a:r>
              <a:rPr lang="en-US" altLang="en-US" sz="2200"/>
              <a:t> </a:t>
            </a:r>
            <a:r>
              <a:rPr lang="en-US" altLang="en-US" sz="2200" err="1"/>
              <a:t>thông</a:t>
            </a:r>
            <a:r>
              <a:rPr lang="en-US" altLang="en-US" sz="2200"/>
              <a:t> tin </a:t>
            </a:r>
            <a:r>
              <a:rPr lang="en-US" altLang="en-US" sz="2200" i="1"/>
              <a:t>H, R, n</a:t>
            </a:r>
            <a:r>
              <a:rPr lang="en-US" altLang="en-US" sz="2200"/>
              <a:t>.</a:t>
            </a:r>
          </a:p>
        </p:txBody>
      </p:sp>
      <p:grpSp>
        <p:nvGrpSpPr>
          <p:cNvPr id="20511" name="Group 31"/>
          <p:cNvGrpSpPr>
            <a:grpSpLocks/>
          </p:cNvGrpSpPr>
          <p:nvPr/>
        </p:nvGrpSpPr>
        <p:grpSpPr bwMode="auto">
          <a:xfrm>
            <a:off x="1301750" y="2971800"/>
            <a:ext cx="6540500" cy="2278063"/>
            <a:chOff x="824" y="2352"/>
            <a:chExt cx="4120" cy="1435"/>
          </a:xfrm>
        </p:grpSpPr>
        <p:sp>
          <p:nvSpPr>
            <p:cNvPr id="20485" name="Rectangle 5"/>
            <p:cNvSpPr>
              <a:spLocks noChangeArrowheads="1"/>
            </p:cNvSpPr>
            <p:nvPr/>
          </p:nvSpPr>
          <p:spPr bwMode="auto">
            <a:xfrm>
              <a:off x="1104" y="2352"/>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endParaRPr lang="en-US" altLang="en-US" sz="2000">
                <a:latin typeface="Times New Roman" panose="02020603050405020304" pitchFamily="18" charset="0"/>
              </a:endParaRPr>
            </a:p>
          </p:txBody>
        </p:sp>
        <p:sp>
          <p:nvSpPr>
            <p:cNvPr id="20486" name="Rectangle 6"/>
            <p:cNvSpPr>
              <a:spLocks noChangeArrowheads="1"/>
            </p:cNvSpPr>
            <p:nvPr/>
          </p:nvSpPr>
          <p:spPr bwMode="auto">
            <a:xfrm>
              <a:off x="1499" y="2352"/>
              <a:ext cx="394"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2</a:t>
              </a:r>
              <a:endParaRPr lang="en-US" altLang="en-US" sz="2000">
                <a:latin typeface="Times New Roman" panose="02020603050405020304" pitchFamily="18" charset="0"/>
              </a:endParaRPr>
            </a:p>
          </p:txBody>
        </p:sp>
        <p:sp>
          <p:nvSpPr>
            <p:cNvPr id="20487" name="Rectangle 7"/>
            <p:cNvSpPr>
              <a:spLocks noChangeArrowheads="1"/>
            </p:cNvSpPr>
            <p:nvPr/>
          </p:nvSpPr>
          <p:spPr bwMode="auto">
            <a:xfrm>
              <a:off x="1893" y="2352"/>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3</a:t>
              </a:r>
              <a:endParaRPr lang="en-US" altLang="en-US" sz="2000">
                <a:latin typeface="Times New Roman" panose="02020603050405020304" pitchFamily="18" charset="0"/>
              </a:endParaRPr>
            </a:p>
          </p:txBody>
        </p:sp>
        <p:sp>
          <p:nvSpPr>
            <p:cNvPr id="20488" name="Rectangle 8"/>
            <p:cNvSpPr>
              <a:spLocks noChangeArrowheads="1"/>
            </p:cNvSpPr>
            <p:nvPr/>
          </p:nvSpPr>
          <p:spPr bwMode="auto">
            <a:xfrm>
              <a:off x="2288" y="2352"/>
              <a:ext cx="395" cy="283"/>
            </a:xfrm>
            <a:prstGeom prst="rect">
              <a:avLst/>
            </a:prstGeom>
            <a:solidFill>
              <a:srgbClr val="FFFFFF"/>
            </a:solidFill>
            <a:ln w="9525">
              <a:solidFill>
                <a:srgbClr val="000000"/>
              </a:solidFill>
              <a:miter lim="800000"/>
              <a:headEnd/>
              <a:tailEnd/>
            </a:ln>
          </p:spPr>
          <p:txBody>
            <a:bodyPr lIns="54000" tIns="10800" rIns="54000"/>
            <a:lstStyle/>
            <a:p>
              <a:pPr eaLnBrk="0" hangingPunct="0"/>
              <a:r>
                <a:rPr lang="en-US" altLang="en-US" sz="2000">
                  <a:latin typeface="Times New Roman" panose="02020603050405020304" pitchFamily="18" charset="0"/>
                </a:rPr>
                <a:t>…</a:t>
              </a:r>
            </a:p>
          </p:txBody>
        </p:sp>
        <p:sp>
          <p:nvSpPr>
            <p:cNvPr id="20489" name="Rectangle 9"/>
            <p:cNvSpPr>
              <a:spLocks noChangeArrowheads="1"/>
            </p:cNvSpPr>
            <p:nvPr/>
          </p:nvSpPr>
          <p:spPr bwMode="auto">
            <a:xfrm>
              <a:off x="2683" y="2352"/>
              <a:ext cx="394"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n-1</a:t>
              </a:r>
              <a:endParaRPr lang="en-US" altLang="en-US" sz="2000">
                <a:latin typeface="Times New Roman" panose="02020603050405020304" pitchFamily="18" charset="0"/>
              </a:endParaRPr>
            </a:p>
            <a:p>
              <a:pPr eaLnBrk="0" hangingPunct="0"/>
              <a:endParaRPr lang="en-US" altLang="en-US" sz="2000">
                <a:latin typeface="Times New Roman" panose="02020603050405020304" pitchFamily="18" charset="0"/>
              </a:endParaRPr>
            </a:p>
          </p:txBody>
        </p:sp>
        <p:sp>
          <p:nvSpPr>
            <p:cNvPr id="20490" name="Rectangle 10"/>
            <p:cNvSpPr>
              <a:spLocks noChangeArrowheads="1"/>
            </p:cNvSpPr>
            <p:nvPr/>
          </p:nvSpPr>
          <p:spPr bwMode="auto">
            <a:xfrm>
              <a:off x="3077" y="2352"/>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n</a:t>
              </a:r>
              <a:endParaRPr lang="en-US" altLang="en-US" sz="2000">
                <a:latin typeface="Times New Roman" panose="02020603050405020304" pitchFamily="18" charset="0"/>
              </a:endParaRPr>
            </a:p>
            <a:p>
              <a:pPr eaLnBrk="0" hangingPunct="0"/>
              <a:endParaRPr lang="en-US" altLang="en-US" sz="2000">
                <a:latin typeface="Times New Roman" panose="02020603050405020304" pitchFamily="18" charset="0"/>
              </a:endParaRPr>
            </a:p>
          </p:txBody>
        </p:sp>
        <p:sp>
          <p:nvSpPr>
            <p:cNvPr id="20491" name="Rectangle 11"/>
            <p:cNvSpPr>
              <a:spLocks noChangeArrowheads="1"/>
            </p:cNvSpPr>
            <p:nvPr/>
          </p:nvSpPr>
          <p:spPr bwMode="auto">
            <a:xfrm>
              <a:off x="3472" y="2352"/>
              <a:ext cx="395"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492" name="Rectangle 12"/>
            <p:cNvSpPr>
              <a:spLocks noChangeArrowheads="1"/>
            </p:cNvSpPr>
            <p:nvPr/>
          </p:nvSpPr>
          <p:spPr bwMode="auto">
            <a:xfrm>
              <a:off x="3867" y="2352"/>
              <a:ext cx="394"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493" name="Rectangle 13"/>
            <p:cNvSpPr>
              <a:spLocks noChangeArrowheads="1"/>
            </p:cNvSpPr>
            <p:nvPr/>
          </p:nvSpPr>
          <p:spPr bwMode="auto">
            <a:xfrm>
              <a:off x="1893" y="3216"/>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endParaRPr lang="en-US" altLang="en-US" sz="2000">
                <a:latin typeface="Times New Roman" panose="02020603050405020304" pitchFamily="18" charset="0"/>
              </a:endParaRPr>
            </a:p>
          </p:txBody>
        </p:sp>
        <p:sp>
          <p:nvSpPr>
            <p:cNvPr id="20494" name="Rectangle 14"/>
            <p:cNvSpPr>
              <a:spLocks noChangeArrowheads="1"/>
            </p:cNvSpPr>
            <p:nvPr/>
          </p:nvSpPr>
          <p:spPr bwMode="auto">
            <a:xfrm>
              <a:off x="2288" y="3216"/>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2</a:t>
              </a:r>
              <a:endParaRPr lang="en-US" altLang="en-US" sz="2000">
                <a:latin typeface="Times New Roman" panose="02020603050405020304" pitchFamily="18" charset="0"/>
              </a:endParaRPr>
            </a:p>
          </p:txBody>
        </p:sp>
        <p:sp>
          <p:nvSpPr>
            <p:cNvPr id="20495" name="Rectangle 15"/>
            <p:cNvSpPr>
              <a:spLocks noChangeArrowheads="1"/>
            </p:cNvSpPr>
            <p:nvPr/>
          </p:nvSpPr>
          <p:spPr bwMode="auto">
            <a:xfrm>
              <a:off x="2683" y="3216"/>
              <a:ext cx="394" cy="283"/>
            </a:xfrm>
            <a:prstGeom prst="rect">
              <a:avLst/>
            </a:prstGeom>
            <a:solidFill>
              <a:srgbClr val="FFFFFF"/>
            </a:solidFill>
            <a:ln w="9525">
              <a:solidFill>
                <a:srgbClr val="000000"/>
              </a:solidFill>
              <a:miter lim="800000"/>
              <a:headEnd/>
              <a:tailEnd/>
            </a:ln>
          </p:spPr>
          <p:txBody>
            <a:bodyPr lIns="54000" tIns="10800" rIns="54000"/>
            <a:lstStyle/>
            <a:p>
              <a:pPr eaLnBrk="0" hangingPunct="0"/>
              <a:r>
                <a:rPr lang="en-US" altLang="en-US" sz="2000">
                  <a:latin typeface="Times New Roman" panose="02020603050405020304" pitchFamily="18" charset="0"/>
                </a:rPr>
                <a:t>…</a:t>
              </a:r>
            </a:p>
          </p:txBody>
        </p:sp>
        <p:sp>
          <p:nvSpPr>
            <p:cNvPr id="20496" name="Rectangle 16"/>
            <p:cNvSpPr>
              <a:spLocks noChangeArrowheads="1"/>
            </p:cNvSpPr>
            <p:nvPr/>
          </p:nvSpPr>
          <p:spPr bwMode="auto">
            <a:xfrm>
              <a:off x="3077" y="3216"/>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n-1</a:t>
              </a:r>
              <a:endParaRPr lang="en-US" altLang="en-US" sz="2000">
                <a:latin typeface="Times New Roman" panose="02020603050405020304" pitchFamily="18" charset="0"/>
              </a:endParaRPr>
            </a:p>
            <a:p>
              <a:pPr eaLnBrk="0" hangingPunct="0"/>
              <a:endParaRPr lang="en-US" altLang="en-US" sz="2000">
                <a:latin typeface="Times New Roman" panose="02020603050405020304" pitchFamily="18" charset="0"/>
              </a:endParaRPr>
            </a:p>
          </p:txBody>
        </p:sp>
        <p:sp>
          <p:nvSpPr>
            <p:cNvPr id="20497" name="Rectangle 17"/>
            <p:cNvSpPr>
              <a:spLocks noChangeArrowheads="1"/>
            </p:cNvSpPr>
            <p:nvPr/>
          </p:nvSpPr>
          <p:spPr bwMode="auto">
            <a:xfrm>
              <a:off x="3472" y="3216"/>
              <a:ext cx="395" cy="283"/>
            </a:xfrm>
            <a:prstGeom prst="rect">
              <a:avLst/>
            </a:prstGeom>
            <a:solidFill>
              <a:srgbClr val="FFFFFF"/>
            </a:solidFill>
            <a:ln w="9525">
              <a:solidFill>
                <a:srgbClr val="000000"/>
              </a:solidFill>
              <a:miter lim="800000"/>
              <a:headEnd/>
              <a:tailEnd/>
            </a:ln>
          </p:spPr>
          <p:txBody>
            <a:bodyPr lIns="54000" tIns="108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n</a:t>
              </a:r>
              <a:endParaRPr lang="en-US" altLang="en-US" sz="2000">
                <a:latin typeface="Times New Roman" panose="02020603050405020304" pitchFamily="18" charset="0"/>
              </a:endParaRPr>
            </a:p>
          </p:txBody>
        </p:sp>
        <p:sp>
          <p:nvSpPr>
            <p:cNvPr id="20498" name="Rectangle 18"/>
            <p:cNvSpPr>
              <a:spLocks noChangeArrowheads="1"/>
            </p:cNvSpPr>
            <p:nvPr/>
          </p:nvSpPr>
          <p:spPr bwMode="auto">
            <a:xfrm>
              <a:off x="3867" y="3216"/>
              <a:ext cx="394"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499" name="Rectangle 19"/>
            <p:cNvSpPr>
              <a:spLocks noChangeArrowheads="1"/>
            </p:cNvSpPr>
            <p:nvPr/>
          </p:nvSpPr>
          <p:spPr bwMode="auto">
            <a:xfrm>
              <a:off x="4261" y="3216"/>
              <a:ext cx="395"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500" name="Rectangle 20"/>
            <p:cNvSpPr>
              <a:spLocks noChangeArrowheads="1"/>
            </p:cNvSpPr>
            <p:nvPr/>
          </p:nvSpPr>
          <p:spPr bwMode="auto">
            <a:xfrm>
              <a:off x="1104" y="3216"/>
              <a:ext cx="395"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501" name="Rectangle 21"/>
            <p:cNvSpPr>
              <a:spLocks noChangeArrowheads="1"/>
            </p:cNvSpPr>
            <p:nvPr/>
          </p:nvSpPr>
          <p:spPr bwMode="auto">
            <a:xfrm>
              <a:off x="1499" y="3216"/>
              <a:ext cx="394"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502" name="Rectangle 22"/>
            <p:cNvSpPr>
              <a:spLocks noChangeArrowheads="1"/>
            </p:cNvSpPr>
            <p:nvPr/>
          </p:nvSpPr>
          <p:spPr bwMode="auto">
            <a:xfrm>
              <a:off x="4261" y="2352"/>
              <a:ext cx="395" cy="283"/>
            </a:xfrm>
            <a:prstGeom prst="rect">
              <a:avLst/>
            </a:prstGeom>
            <a:solidFill>
              <a:srgbClr val="FFFFFF"/>
            </a:solidFill>
            <a:ln w="9525">
              <a:solidFill>
                <a:srgbClr val="000000"/>
              </a:solidFill>
              <a:miter lim="800000"/>
              <a:headEnd/>
              <a:tailEnd/>
            </a:ln>
          </p:spPr>
          <p:txBody>
            <a:bodyPr lIns="54000" tIns="10800" rIns="54000"/>
            <a:lstStyle/>
            <a:p>
              <a:pPr eaLnBrk="0" hangingPunct="0"/>
              <a:endParaRPr lang="en-US" altLang="en-US" sz="2000">
                <a:latin typeface="Times New Roman" panose="02020603050405020304" pitchFamily="18" charset="0"/>
              </a:endParaRPr>
            </a:p>
          </p:txBody>
        </p:sp>
        <p:sp>
          <p:nvSpPr>
            <p:cNvPr id="20503" name="Rectangle 23"/>
            <p:cNvSpPr>
              <a:spLocks noChangeArrowheads="1"/>
            </p:cNvSpPr>
            <p:nvPr/>
          </p:nvSpPr>
          <p:spPr bwMode="auto">
            <a:xfrm>
              <a:off x="824" y="2395"/>
              <a:ext cx="395"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eaLnBrk="0" hangingPunct="0"/>
              <a:r>
                <a:rPr lang="en-US" altLang="en-US" sz="2000">
                  <a:latin typeface="Times New Roman" panose="02020603050405020304" pitchFamily="18" charset="0"/>
                </a:rPr>
                <a:t>a)</a:t>
              </a:r>
            </a:p>
          </p:txBody>
        </p:sp>
        <p:sp>
          <p:nvSpPr>
            <p:cNvPr id="20504" name="Rectangle 24"/>
            <p:cNvSpPr>
              <a:spLocks noChangeArrowheads="1"/>
            </p:cNvSpPr>
            <p:nvPr/>
          </p:nvSpPr>
          <p:spPr bwMode="auto">
            <a:xfrm>
              <a:off x="835" y="3264"/>
              <a:ext cx="39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eaLnBrk="0" hangingPunct="0"/>
              <a:r>
                <a:rPr lang="en-US" altLang="en-US" sz="2000">
                  <a:latin typeface="Times New Roman" panose="02020603050405020304" pitchFamily="18" charset="0"/>
                </a:rPr>
                <a:t>b)</a:t>
              </a:r>
            </a:p>
          </p:txBody>
        </p:sp>
        <p:sp>
          <p:nvSpPr>
            <p:cNvPr id="20505" name="Rectangle 25"/>
            <p:cNvSpPr>
              <a:spLocks noChangeArrowheads="1"/>
            </p:cNvSpPr>
            <p:nvPr/>
          </p:nvSpPr>
          <p:spPr bwMode="auto">
            <a:xfrm>
              <a:off x="1104" y="2689"/>
              <a:ext cx="52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eaLnBrk="0" hangingPunct="0"/>
              <a:r>
                <a:rPr lang="en-US" altLang="en-US" sz="2000">
                  <a:latin typeface="Times New Roman" panose="02020603050405020304" pitchFamily="18" charset="0"/>
                </a:rPr>
                <a:t>H=1</a:t>
              </a:r>
            </a:p>
          </p:txBody>
        </p:sp>
        <p:sp>
          <p:nvSpPr>
            <p:cNvPr id="20506" name="Rectangle 26"/>
            <p:cNvSpPr>
              <a:spLocks noChangeArrowheads="1"/>
            </p:cNvSpPr>
            <p:nvPr/>
          </p:nvSpPr>
          <p:spPr bwMode="auto">
            <a:xfrm>
              <a:off x="1893" y="3504"/>
              <a:ext cx="36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algn="ctr" eaLnBrk="0" hangingPunct="0"/>
              <a:r>
                <a:rPr lang="en-US" altLang="en-US" sz="2000">
                  <a:latin typeface="Times New Roman" panose="02020603050405020304" pitchFamily="18" charset="0"/>
                </a:rPr>
                <a:t>H</a:t>
              </a:r>
            </a:p>
          </p:txBody>
        </p:sp>
        <p:sp>
          <p:nvSpPr>
            <p:cNvPr id="20507" name="Rectangle 27"/>
            <p:cNvSpPr>
              <a:spLocks noChangeArrowheads="1"/>
            </p:cNvSpPr>
            <p:nvPr/>
          </p:nvSpPr>
          <p:spPr bwMode="auto">
            <a:xfrm>
              <a:off x="3077" y="2689"/>
              <a:ext cx="65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eaLnBrk="0" hangingPunct="0"/>
              <a:r>
                <a:rPr lang="en-US" altLang="en-US" sz="2000">
                  <a:latin typeface="Times New Roman" panose="02020603050405020304" pitchFamily="18" charset="0"/>
                </a:rPr>
                <a:t>R=n</a:t>
              </a:r>
            </a:p>
          </p:txBody>
        </p:sp>
        <p:sp>
          <p:nvSpPr>
            <p:cNvPr id="20508" name="Rectangle 28"/>
            <p:cNvSpPr>
              <a:spLocks noChangeArrowheads="1"/>
            </p:cNvSpPr>
            <p:nvPr/>
          </p:nvSpPr>
          <p:spPr bwMode="auto">
            <a:xfrm>
              <a:off x="3472" y="3504"/>
              <a:ext cx="36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algn="ctr" eaLnBrk="0" hangingPunct="0"/>
              <a:r>
                <a:rPr lang="en-US" altLang="en-US" sz="2000">
                  <a:latin typeface="Times New Roman" panose="02020603050405020304" pitchFamily="18" charset="0"/>
                </a:rPr>
                <a:t>R</a:t>
              </a:r>
            </a:p>
          </p:txBody>
        </p:sp>
        <p:sp>
          <p:nvSpPr>
            <p:cNvPr id="20509" name="Rectangle 29"/>
            <p:cNvSpPr>
              <a:spLocks noChangeArrowheads="1"/>
            </p:cNvSpPr>
            <p:nvPr/>
          </p:nvSpPr>
          <p:spPr bwMode="auto">
            <a:xfrm>
              <a:off x="4286" y="2688"/>
              <a:ext cx="65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eaLnBrk="0" hangingPunct="0"/>
              <a:r>
                <a:rPr lang="en-US" altLang="en-US" sz="2000">
                  <a:latin typeface="Times New Roman" panose="02020603050405020304" pitchFamily="18" charset="0"/>
                </a:rPr>
                <a:t>MAX</a:t>
              </a:r>
            </a:p>
          </p:txBody>
        </p:sp>
        <p:sp>
          <p:nvSpPr>
            <p:cNvPr id="20510" name="Rectangle 30"/>
            <p:cNvSpPr>
              <a:spLocks noChangeArrowheads="1"/>
            </p:cNvSpPr>
            <p:nvPr/>
          </p:nvSpPr>
          <p:spPr bwMode="auto">
            <a:xfrm>
              <a:off x="4272" y="3504"/>
              <a:ext cx="65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a:lstStyle/>
            <a:p>
              <a:pPr eaLnBrk="0" hangingPunct="0"/>
              <a:r>
                <a:rPr lang="en-US" altLang="en-US" sz="2000">
                  <a:latin typeface="Times New Roman" panose="02020603050405020304" pitchFamily="18" charset="0"/>
                </a:rPr>
                <a:t>MAX</a:t>
              </a:r>
            </a:p>
          </p:txBody>
        </p:sp>
      </p:grpSp>
    </p:spTree>
    <p:extLst>
      <p:ext uri="{BB962C8B-B14F-4D97-AF65-F5344CB8AC3E}">
        <p14:creationId xmlns:p14="http://schemas.microsoft.com/office/powerpoint/2010/main" val="1407152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163FEC-0549-5F78-6752-F2DDAD057D63}"/>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C357BA05-FBAF-8D80-DD35-400793DFC7AC}"/>
              </a:ext>
            </a:extLst>
          </p:cNvPr>
          <p:cNvSpPr>
            <a:spLocks noGrp="1"/>
          </p:cNvSpPr>
          <p:nvPr>
            <p:ph type="sldNum" sz="quarter" idx="12"/>
          </p:nvPr>
        </p:nvSpPr>
        <p:spPr/>
        <p:txBody>
          <a:bodyPr/>
          <a:lstStyle/>
          <a:p>
            <a:fld id="{BC24317B-5122-4A99-A6E9-FA23C146A7E0}" type="slidenum">
              <a:rPr lang="en-US" smtClean="0"/>
              <a:pPr/>
              <a:t>43</a:t>
            </a:fld>
            <a:endParaRPr lang="en-US"/>
          </a:p>
        </p:txBody>
      </p:sp>
      <p:sp>
        <p:nvSpPr>
          <p:cNvPr id="4" name="Title 3">
            <a:extLst>
              <a:ext uri="{FF2B5EF4-FFF2-40B4-BE49-F238E27FC236}">
                <a16:creationId xmlns:a16="http://schemas.microsoft.com/office/drawing/2014/main" id="{D0796E4D-04F5-A5F2-4751-E5C9166D7739}"/>
              </a:ext>
            </a:extLst>
          </p:cNvPr>
          <p:cNvSpPr>
            <a:spLocks noGrp="1"/>
          </p:cNvSpPr>
          <p:nvPr>
            <p:ph type="title"/>
          </p:nvPr>
        </p:nvSpPr>
        <p:spPr/>
        <p:txBody>
          <a:bodyPr/>
          <a:lstStyle/>
          <a:p>
            <a:r>
              <a:rPr lang="en-US" err="1"/>
              <a:t>Giới</a:t>
            </a:r>
            <a:r>
              <a:rPr lang="en-US"/>
              <a:t> </a:t>
            </a:r>
            <a:r>
              <a:rPr lang="en-US" err="1"/>
              <a:t>thiệu</a:t>
            </a:r>
            <a:r>
              <a:rPr lang="en-US"/>
              <a:t> </a:t>
            </a:r>
            <a:r>
              <a:rPr lang="en-US" err="1"/>
              <a:t>về</a:t>
            </a:r>
            <a:r>
              <a:rPr lang="en-US"/>
              <a:t> CTDL Stack and Queue</a:t>
            </a:r>
          </a:p>
        </p:txBody>
      </p:sp>
      <p:sp>
        <p:nvSpPr>
          <p:cNvPr id="5" name="Text Placeholder 4">
            <a:extLst>
              <a:ext uri="{FF2B5EF4-FFF2-40B4-BE49-F238E27FC236}">
                <a16:creationId xmlns:a16="http://schemas.microsoft.com/office/drawing/2014/main" id="{0DCF1B19-A31D-5079-74BA-E86140828893}"/>
              </a:ext>
            </a:extLst>
          </p:cNvPr>
          <p:cNvSpPr>
            <a:spLocks noGrp="1"/>
          </p:cNvSpPr>
          <p:nvPr>
            <p:ph type="body" sz="quarter" idx="13"/>
          </p:nvPr>
        </p:nvSpPr>
        <p:spPr/>
        <p:txBody>
          <a:bodyPr/>
          <a:lstStyle/>
          <a:p>
            <a:r>
              <a:rPr lang="vi-VN"/>
              <a:t>Ngăn xếp (Stack) và Hàng đợi (Queue) </a:t>
            </a:r>
            <a:r>
              <a:rPr lang="en-US"/>
              <a:t> </a:t>
            </a:r>
            <a:r>
              <a:rPr lang="en-US" err="1"/>
              <a:t>là</a:t>
            </a:r>
            <a:r>
              <a:rPr lang="en-US"/>
              <a:t> </a:t>
            </a:r>
            <a:r>
              <a:rPr lang="en-US" err="1"/>
              <a:t>các</a:t>
            </a:r>
            <a:r>
              <a:rPr lang="en-US"/>
              <a:t> CTDL </a:t>
            </a:r>
            <a:r>
              <a:rPr lang="en-US" err="1"/>
              <a:t>quan</a:t>
            </a:r>
            <a:r>
              <a:rPr lang="en-US"/>
              <a:t> </a:t>
            </a:r>
            <a:r>
              <a:rPr lang="en-US" err="1"/>
              <a:t>trọng</a:t>
            </a:r>
            <a:r>
              <a:rPr lang="en-US"/>
              <a:t> </a:t>
            </a:r>
            <a:r>
              <a:rPr lang="en-US" err="1"/>
              <a:t>trong</a:t>
            </a:r>
            <a:r>
              <a:rPr lang="en-US"/>
              <a:t> </a:t>
            </a:r>
            <a:r>
              <a:rPr lang="en-US" err="1"/>
              <a:t>xây</a:t>
            </a:r>
            <a:r>
              <a:rPr lang="en-US"/>
              <a:t> </a:t>
            </a:r>
            <a:r>
              <a:rPr lang="en-US" err="1"/>
              <a:t>dựng</a:t>
            </a:r>
            <a:r>
              <a:rPr lang="en-US"/>
              <a:t> </a:t>
            </a:r>
            <a:r>
              <a:rPr lang="en-US" err="1"/>
              <a:t>và</a:t>
            </a:r>
            <a:r>
              <a:rPr lang="en-US"/>
              <a:t> </a:t>
            </a:r>
            <a:r>
              <a:rPr lang="en-US" err="1"/>
              <a:t>thiết</a:t>
            </a:r>
            <a:r>
              <a:rPr lang="en-US"/>
              <a:t> </a:t>
            </a:r>
            <a:r>
              <a:rPr lang="en-US" err="1"/>
              <a:t>kế</a:t>
            </a:r>
            <a:r>
              <a:rPr lang="en-US"/>
              <a:t> </a:t>
            </a:r>
            <a:r>
              <a:rPr lang="en-US" err="1"/>
              <a:t>các</a:t>
            </a:r>
            <a:r>
              <a:rPr lang="en-US"/>
              <a:t> </a:t>
            </a:r>
            <a:r>
              <a:rPr lang="en-US" err="1"/>
              <a:t>thuật</a:t>
            </a:r>
            <a:r>
              <a:rPr lang="en-US"/>
              <a:t> </a:t>
            </a:r>
            <a:r>
              <a:rPr lang="en-US" err="1"/>
              <a:t>toán</a:t>
            </a:r>
            <a:endParaRPr lang="en-US"/>
          </a:p>
          <a:p>
            <a:r>
              <a:rPr lang="en-US"/>
              <a:t>Stack and Queue </a:t>
            </a:r>
            <a:r>
              <a:rPr lang="en-US" err="1"/>
              <a:t>cũng</a:t>
            </a:r>
            <a:r>
              <a:rPr lang="en-US"/>
              <a:t> </a:t>
            </a:r>
            <a:r>
              <a:rPr lang="en-US" err="1"/>
              <a:t>giống</a:t>
            </a:r>
            <a:r>
              <a:rPr lang="en-US"/>
              <a:t> </a:t>
            </a:r>
            <a:r>
              <a:rPr lang="en-US" err="1"/>
              <a:t>như</a:t>
            </a:r>
            <a:r>
              <a:rPr lang="en-US"/>
              <a:t> </a:t>
            </a:r>
            <a:r>
              <a:rPr lang="en-US" err="1"/>
              <a:t>mảng</a:t>
            </a:r>
            <a:r>
              <a:rPr lang="en-US"/>
              <a:t>, </a:t>
            </a:r>
            <a:r>
              <a:rPr lang="en-US" err="1"/>
              <a:t>lưu</a:t>
            </a:r>
            <a:r>
              <a:rPr lang="en-US"/>
              <a:t> </a:t>
            </a:r>
            <a:r>
              <a:rPr lang="en-US" err="1"/>
              <a:t>trữ</a:t>
            </a:r>
            <a:r>
              <a:rPr lang="en-US"/>
              <a:t> </a:t>
            </a:r>
            <a:r>
              <a:rPr lang="en-US" err="1"/>
              <a:t>dữ</a:t>
            </a:r>
            <a:r>
              <a:rPr lang="en-US"/>
              <a:t> </a:t>
            </a:r>
            <a:r>
              <a:rPr lang="en-US" err="1"/>
              <a:t>liệu</a:t>
            </a:r>
            <a:r>
              <a:rPr lang="en-US"/>
              <a:t> </a:t>
            </a:r>
            <a:r>
              <a:rPr lang="en-US" err="1"/>
              <a:t>cùng</a:t>
            </a:r>
            <a:r>
              <a:rPr lang="en-US"/>
              <a:t> </a:t>
            </a:r>
            <a:r>
              <a:rPr lang="en-US" err="1"/>
              <a:t>kiểu</a:t>
            </a:r>
            <a:r>
              <a:rPr lang="en-US"/>
              <a:t> </a:t>
            </a:r>
            <a:r>
              <a:rPr lang="en-US" err="1"/>
              <a:t>nhưng</a:t>
            </a:r>
            <a:r>
              <a:rPr lang="en-US"/>
              <a:t> </a:t>
            </a:r>
            <a:r>
              <a:rPr lang="en-US" err="1"/>
              <a:t>được</a:t>
            </a:r>
            <a:r>
              <a:rPr lang="en-US"/>
              <a:t> </a:t>
            </a:r>
            <a:r>
              <a:rPr lang="en-US" err="1"/>
              <a:t>lưu</a:t>
            </a:r>
            <a:r>
              <a:rPr lang="en-US"/>
              <a:t> </a:t>
            </a:r>
            <a:r>
              <a:rPr lang="en-US" err="1"/>
              <a:t>trữ</a:t>
            </a:r>
            <a:r>
              <a:rPr lang="en-US"/>
              <a:t> </a:t>
            </a:r>
            <a:r>
              <a:rPr lang="en-US" err="1"/>
              <a:t>có</a:t>
            </a:r>
            <a:r>
              <a:rPr lang="en-US"/>
              <a:t> </a:t>
            </a:r>
            <a:r>
              <a:rPr lang="en-US" err="1"/>
              <a:t>tính</a:t>
            </a:r>
            <a:r>
              <a:rPr lang="en-US"/>
              <a:t> </a:t>
            </a:r>
            <a:r>
              <a:rPr lang="en-US" err="1"/>
              <a:t>thứ</a:t>
            </a:r>
            <a:r>
              <a:rPr lang="en-US"/>
              <a:t> </a:t>
            </a:r>
            <a:r>
              <a:rPr lang="en-US" err="1"/>
              <a:t>tự</a:t>
            </a:r>
            <a:endParaRPr lang="en-US"/>
          </a:p>
        </p:txBody>
      </p:sp>
      <p:pic>
        <p:nvPicPr>
          <p:cNvPr id="7" name="Picture 6" descr="A diagram of a number of steps&#10;&#10;AI-generated content may be incorrect.">
            <a:extLst>
              <a:ext uri="{FF2B5EF4-FFF2-40B4-BE49-F238E27FC236}">
                <a16:creationId xmlns:a16="http://schemas.microsoft.com/office/drawing/2014/main" id="{695748F3-C9E4-3217-646B-AF0D83FB35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2256282"/>
            <a:ext cx="4791075" cy="3638550"/>
          </a:xfrm>
          <a:prstGeom prst="rect">
            <a:avLst/>
          </a:prstGeom>
        </p:spPr>
      </p:pic>
      <p:sp>
        <p:nvSpPr>
          <p:cNvPr id="8" name="TextBox 7">
            <a:extLst>
              <a:ext uri="{FF2B5EF4-FFF2-40B4-BE49-F238E27FC236}">
                <a16:creationId xmlns:a16="http://schemas.microsoft.com/office/drawing/2014/main" id="{02C8F424-0F96-00D2-41A4-B500B5791EB7}"/>
              </a:ext>
            </a:extLst>
          </p:cNvPr>
          <p:cNvSpPr txBox="1"/>
          <p:nvPr/>
        </p:nvSpPr>
        <p:spPr>
          <a:xfrm>
            <a:off x="2773917" y="5964732"/>
            <a:ext cx="4120039" cy="369332"/>
          </a:xfrm>
          <a:prstGeom prst="rect">
            <a:avLst/>
          </a:prstGeom>
          <a:noFill/>
        </p:spPr>
        <p:txBody>
          <a:bodyPr wrap="none" rtlCol="0">
            <a:spAutoFit/>
          </a:bodyPr>
          <a:lstStyle/>
          <a:p>
            <a:r>
              <a:rPr lang="en-US"/>
              <a:t>Nguyễn </a:t>
            </a:r>
            <a:r>
              <a:rPr lang="en-US" err="1"/>
              <a:t>lý</a:t>
            </a:r>
            <a:r>
              <a:rPr lang="en-US"/>
              <a:t> </a:t>
            </a:r>
            <a:r>
              <a:rPr lang="en-US" err="1"/>
              <a:t>hoạt</a:t>
            </a:r>
            <a:r>
              <a:rPr lang="en-US"/>
              <a:t> </a:t>
            </a:r>
            <a:r>
              <a:rPr lang="en-US" err="1"/>
              <a:t>động</a:t>
            </a:r>
            <a:r>
              <a:rPr lang="en-US"/>
              <a:t> </a:t>
            </a:r>
            <a:r>
              <a:rPr lang="en-US" err="1"/>
              <a:t>của</a:t>
            </a:r>
            <a:r>
              <a:rPr lang="en-US"/>
              <a:t> Stack and queue</a:t>
            </a:r>
          </a:p>
        </p:txBody>
      </p:sp>
    </p:spTree>
    <p:extLst>
      <p:ext uri="{BB962C8B-B14F-4D97-AF65-F5344CB8AC3E}">
        <p14:creationId xmlns:p14="http://schemas.microsoft.com/office/powerpoint/2010/main" val="2038611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Mô</a:t>
            </a:r>
            <a:r>
              <a:rPr lang="en-US" altLang="en-US" i="1"/>
              <a:t> </a:t>
            </a:r>
            <a:r>
              <a:rPr lang="en-US" altLang="en-US" i="1" err="1"/>
              <a:t>tả</a:t>
            </a:r>
            <a:endParaRPr lang="en-US" altLang="en-US">
              <a:cs typeface="Times New Roman" panose="02020603050405020304" pitchFamily="18" charset="0"/>
            </a:endParaRPr>
          </a:p>
        </p:txBody>
      </p:sp>
      <p:sp>
        <p:nvSpPr>
          <p:cNvPr id="21507" name="Rectangle 3"/>
          <p:cNvSpPr>
            <a:spLocks noGrp="1" noChangeArrowheads="1"/>
          </p:cNvSpPr>
          <p:nvPr>
            <p:ph type="body" sz="quarter" idx="13"/>
          </p:nvPr>
        </p:nvSpPr>
        <p:spPr/>
        <p:txBody>
          <a:bodyPr>
            <a:normAutofit/>
          </a:bodyPr>
          <a:lstStyle/>
          <a:p>
            <a:r>
              <a:rPr lang="en-US" altLang="en-US" sz="2400" err="1">
                <a:cs typeface="Times New Roman" panose="02020603050405020304" pitchFamily="18" charset="0"/>
              </a:rPr>
              <a:t>Một</a:t>
            </a:r>
            <a:r>
              <a:rPr lang="en-US" altLang="en-US" sz="2400">
                <a:cs typeface="Times New Roman" panose="02020603050405020304" pitchFamily="18" charset="0"/>
              </a:rPr>
              <a:t> </a:t>
            </a:r>
            <a:r>
              <a:rPr lang="en-US" altLang="en-US" sz="2400" err="1">
                <a:cs typeface="Times New Roman" panose="02020603050405020304" pitchFamily="18" charset="0"/>
              </a:rPr>
              <a:t>trong</a:t>
            </a:r>
            <a:r>
              <a:rPr lang="en-US" altLang="en-US" sz="2400">
                <a:cs typeface="Times New Roman" panose="02020603050405020304" pitchFamily="18" charset="0"/>
              </a:rPr>
              <a:t> </a:t>
            </a:r>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loại</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r>
              <a:rPr lang="en-US" altLang="en-US" sz="2400" err="1">
                <a:cs typeface="Times New Roman" panose="02020603050405020304" pitchFamily="18" charset="0"/>
              </a:rPr>
              <a:t>thông</a:t>
            </a:r>
            <a:r>
              <a:rPr lang="en-US" altLang="en-US" sz="2400">
                <a:cs typeface="Times New Roman" panose="02020603050405020304" pitchFamily="18" charset="0"/>
              </a:rPr>
              <a:t> </a:t>
            </a:r>
            <a:r>
              <a:rPr lang="en-US" altLang="en-US" sz="2400" err="1">
                <a:cs typeface="Times New Roman" panose="02020603050405020304" pitchFamily="18" charset="0"/>
              </a:rPr>
              <a:t>dụng</a:t>
            </a:r>
            <a:r>
              <a:rPr lang="en-US" altLang="en-US" sz="2400">
                <a:cs typeface="Times New Roman" panose="02020603050405020304" pitchFamily="18" charset="0"/>
              </a:rPr>
              <a:t>:</a:t>
            </a:r>
          </a:p>
          <a:p>
            <a:pPr lvl="1"/>
            <a:r>
              <a:rPr lang="en-US" altLang="en-US" sz="2000" err="1"/>
              <a:t>Cấu</a:t>
            </a:r>
            <a:r>
              <a:rPr lang="en-US" altLang="en-US" sz="2000"/>
              <a:t> </a:t>
            </a:r>
            <a:r>
              <a:rPr lang="en-US" altLang="en-US" sz="2000" err="1"/>
              <a:t>trúc</a:t>
            </a:r>
            <a:r>
              <a:rPr lang="en-US" altLang="en-US" sz="2000"/>
              <a:t> </a:t>
            </a:r>
            <a:r>
              <a:rPr lang="en-US" altLang="en-US" sz="2000" err="1"/>
              <a:t>ngăn</a:t>
            </a:r>
            <a:r>
              <a:rPr lang="en-US" altLang="en-US" sz="2000"/>
              <a:t> </a:t>
            </a:r>
            <a:r>
              <a:rPr lang="en-US" altLang="en-US" sz="2000" err="1"/>
              <a:t>xếp</a:t>
            </a:r>
            <a:r>
              <a:rPr lang="en-US" altLang="en-US" sz="2000"/>
              <a:t> (stack): </a:t>
            </a:r>
            <a:r>
              <a:rPr lang="en-US" altLang="en-US" sz="2000" err="1"/>
              <a:t>cấu</a:t>
            </a:r>
            <a:r>
              <a:rPr lang="en-US" altLang="en-US" sz="2000"/>
              <a:t> </a:t>
            </a:r>
            <a:r>
              <a:rPr lang="en-US" altLang="en-US" sz="2000" err="1"/>
              <a:t>trúc</a:t>
            </a:r>
            <a:r>
              <a:rPr lang="en-US" altLang="en-US" sz="2000"/>
              <a:t> </a:t>
            </a:r>
            <a:r>
              <a:rPr lang="en-US" altLang="en-US" sz="2000" err="1"/>
              <a:t>vào</a:t>
            </a:r>
            <a:r>
              <a:rPr lang="en-US" altLang="en-US" sz="2000"/>
              <a:t> </a:t>
            </a:r>
            <a:r>
              <a:rPr lang="en-US" altLang="en-US" sz="2000" err="1"/>
              <a:t>sau</a:t>
            </a:r>
            <a:r>
              <a:rPr lang="en-US" altLang="en-US" sz="2000"/>
              <a:t> </a:t>
            </a:r>
            <a:r>
              <a:rPr lang="en-US" altLang="en-US" sz="2000" err="1"/>
              <a:t>ra</a:t>
            </a:r>
            <a:r>
              <a:rPr lang="en-US" altLang="en-US" sz="2000"/>
              <a:t> </a:t>
            </a:r>
            <a:r>
              <a:rPr lang="en-US" altLang="en-US" sz="2000" err="1"/>
              <a:t>trước</a:t>
            </a:r>
            <a:r>
              <a:rPr lang="en-US" altLang="en-US" sz="2000"/>
              <a:t> (Last In, First Out - LIFO)</a:t>
            </a:r>
          </a:p>
          <a:p>
            <a:endParaRPr lang="en-US" altLang="en-US" sz="2400">
              <a:cs typeface="Times New Roman" panose="02020603050405020304" pitchFamily="18" charset="0"/>
            </a:endParaRPr>
          </a:p>
        </p:txBody>
      </p:sp>
      <p:grpSp>
        <p:nvGrpSpPr>
          <p:cNvPr id="21508" name="Group 4"/>
          <p:cNvGrpSpPr>
            <a:grpSpLocks/>
          </p:cNvGrpSpPr>
          <p:nvPr/>
        </p:nvGrpSpPr>
        <p:grpSpPr bwMode="auto">
          <a:xfrm>
            <a:off x="762000" y="2286000"/>
            <a:ext cx="7620000" cy="3429000"/>
            <a:chOff x="672" y="1584"/>
            <a:chExt cx="4800" cy="2160"/>
          </a:xfrm>
        </p:grpSpPr>
        <p:grpSp>
          <p:nvGrpSpPr>
            <p:cNvPr id="21509" name="Group 5"/>
            <p:cNvGrpSpPr>
              <a:grpSpLocks/>
            </p:cNvGrpSpPr>
            <p:nvPr/>
          </p:nvGrpSpPr>
          <p:grpSpPr bwMode="auto">
            <a:xfrm>
              <a:off x="2805" y="1857"/>
              <a:ext cx="534" cy="1255"/>
              <a:chOff x="5184" y="2160"/>
              <a:chExt cx="1296" cy="2592"/>
            </a:xfrm>
          </p:grpSpPr>
          <p:sp>
            <p:nvSpPr>
              <p:cNvPr id="21510" name="Rectangle 6"/>
              <p:cNvSpPr>
                <a:spLocks noChangeArrowheads="1"/>
              </p:cNvSpPr>
              <p:nvPr/>
            </p:nvSpPr>
            <p:spPr bwMode="auto">
              <a:xfrm>
                <a:off x="5184" y="2592"/>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5</a:t>
                </a:r>
              </a:p>
            </p:txBody>
          </p:sp>
          <p:sp>
            <p:nvSpPr>
              <p:cNvPr id="21511" name="Rectangle 7"/>
              <p:cNvSpPr>
                <a:spLocks noChangeArrowheads="1"/>
              </p:cNvSpPr>
              <p:nvPr/>
            </p:nvSpPr>
            <p:spPr bwMode="auto">
              <a:xfrm>
                <a:off x="5184" y="3024"/>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4</a:t>
                </a:r>
              </a:p>
            </p:txBody>
          </p:sp>
          <p:sp>
            <p:nvSpPr>
              <p:cNvPr id="21512" name="Rectangle 8"/>
              <p:cNvSpPr>
                <a:spLocks noChangeArrowheads="1"/>
              </p:cNvSpPr>
              <p:nvPr/>
            </p:nvSpPr>
            <p:spPr bwMode="auto">
              <a:xfrm>
                <a:off x="5184" y="3456"/>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3</a:t>
                </a:r>
              </a:p>
            </p:txBody>
          </p:sp>
          <p:sp>
            <p:nvSpPr>
              <p:cNvPr id="21513" name="Rectangle 9"/>
              <p:cNvSpPr>
                <a:spLocks noChangeArrowheads="1"/>
              </p:cNvSpPr>
              <p:nvPr/>
            </p:nvSpPr>
            <p:spPr bwMode="auto">
              <a:xfrm>
                <a:off x="5184" y="3888"/>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2</a:t>
                </a:r>
              </a:p>
            </p:txBody>
          </p:sp>
          <p:sp>
            <p:nvSpPr>
              <p:cNvPr id="21514" name="Rectangle 10"/>
              <p:cNvSpPr>
                <a:spLocks noChangeArrowheads="1"/>
              </p:cNvSpPr>
              <p:nvPr/>
            </p:nvSpPr>
            <p:spPr bwMode="auto">
              <a:xfrm>
                <a:off x="5184" y="4320"/>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1</a:t>
                </a:r>
              </a:p>
            </p:txBody>
          </p:sp>
          <p:sp>
            <p:nvSpPr>
              <p:cNvPr id="21515" name="Line 11"/>
              <p:cNvSpPr>
                <a:spLocks noChangeShapeType="1"/>
              </p:cNvSpPr>
              <p:nvPr/>
            </p:nvSpPr>
            <p:spPr bwMode="auto">
              <a:xfrm>
                <a:off x="5184" y="2160"/>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6" name="Line 12"/>
              <p:cNvSpPr>
                <a:spLocks noChangeShapeType="1"/>
              </p:cNvSpPr>
              <p:nvPr/>
            </p:nvSpPr>
            <p:spPr bwMode="auto">
              <a:xfrm>
                <a:off x="6480" y="2160"/>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17" name="Line 13"/>
            <p:cNvSpPr>
              <a:spLocks noChangeShapeType="1"/>
            </p:cNvSpPr>
            <p:nvPr/>
          </p:nvSpPr>
          <p:spPr bwMode="auto">
            <a:xfrm>
              <a:off x="2983" y="1718"/>
              <a:ext cx="0" cy="3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8" name="Line 14"/>
            <p:cNvSpPr>
              <a:spLocks noChangeShapeType="1"/>
            </p:cNvSpPr>
            <p:nvPr/>
          </p:nvSpPr>
          <p:spPr bwMode="auto">
            <a:xfrm>
              <a:off x="3161" y="1718"/>
              <a:ext cx="0" cy="34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1519" name="Rectangle 15"/>
            <p:cNvSpPr>
              <a:spLocks noChangeArrowheads="1"/>
            </p:cNvSpPr>
            <p:nvPr/>
          </p:nvSpPr>
          <p:spPr bwMode="auto">
            <a:xfrm>
              <a:off x="2361"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5</a:t>
              </a:r>
            </a:p>
          </p:txBody>
        </p:sp>
        <p:sp>
          <p:nvSpPr>
            <p:cNvPr id="21520" name="Rectangle 16"/>
            <p:cNvSpPr>
              <a:spLocks noChangeArrowheads="1"/>
            </p:cNvSpPr>
            <p:nvPr/>
          </p:nvSpPr>
          <p:spPr bwMode="auto">
            <a:xfrm>
              <a:off x="2006" y="2903"/>
              <a:ext cx="266"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4</a:t>
              </a:r>
            </a:p>
          </p:txBody>
        </p:sp>
        <p:sp>
          <p:nvSpPr>
            <p:cNvPr id="21521" name="Rectangle 17"/>
            <p:cNvSpPr>
              <a:spLocks noChangeArrowheads="1"/>
            </p:cNvSpPr>
            <p:nvPr/>
          </p:nvSpPr>
          <p:spPr bwMode="auto">
            <a:xfrm>
              <a:off x="1650"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3</a:t>
              </a:r>
            </a:p>
          </p:txBody>
        </p:sp>
        <p:sp>
          <p:nvSpPr>
            <p:cNvPr id="21522" name="Rectangle 18"/>
            <p:cNvSpPr>
              <a:spLocks noChangeArrowheads="1"/>
            </p:cNvSpPr>
            <p:nvPr/>
          </p:nvSpPr>
          <p:spPr bwMode="auto">
            <a:xfrm>
              <a:off x="1295" y="2903"/>
              <a:ext cx="266"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2</a:t>
              </a:r>
            </a:p>
          </p:txBody>
        </p:sp>
        <p:sp>
          <p:nvSpPr>
            <p:cNvPr id="21523" name="Rectangle 19"/>
            <p:cNvSpPr>
              <a:spLocks noChangeArrowheads="1"/>
            </p:cNvSpPr>
            <p:nvPr/>
          </p:nvSpPr>
          <p:spPr bwMode="auto">
            <a:xfrm>
              <a:off x="939"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1</a:t>
              </a:r>
            </a:p>
          </p:txBody>
        </p:sp>
        <p:sp>
          <p:nvSpPr>
            <p:cNvPr id="21524" name="Rectangle 20"/>
            <p:cNvSpPr>
              <a:spLocks noChangeArrowheads="1"/>
            </p:cNvSpPr>
            <p:nvPr/>
          </p:nvSpPr>
          <p:spPr bwMode="auto">
            <a:xfrm>
              <a:off x="4938"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1</a:t>
              </a:r>
            </a:p>
          </p:txBody>
        </p:sp>
        <p:sp>
          <p:nvSpPr>
            <p:cNvPr id="21525" name="Rectangle 21"/>
            <p:cNvSpPr>
              <a:spLocks noChangeArrowheads="1"/>
            </p:cNvSpPr>
            <p:nvPr/>
          </p:nvSpPr>
          <p:spPr bwMode="auto">
            <a:xfrm>
              <a:off x="4583"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2</a:t>
              </a:r>
            </a:p>
          </p:txBody>
        </p:sp>
        <p:sp>
          <p:nvSpPr>
            <p:cNvPr id="21526" name="Rectangle 22"/>
            <p:cNvSpPr>
              <a:spLocks noChangeArrowheads="1"/>
            </p:cNvSpPr>
            <p:nvPr/>
          </p:nvSpPr>
          <p:spPr bwMode="auto">
            <a:xfrm>
              <a:off x="4227"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3</a:t>
              </a:r>
            </a:p>
          </p:txBody>
        </p:sp>
        <p:sp>
          <p:nvSpPr>
            <p:cNvPr id="21527" name="Rectangle 23"/>
            <p:cNvSpPr>
              <a:spLocks noChangeArrowheads="1"/>
            </p:cNvSpPr>
            <p:nvPr/>
          </p:nvSpPr>
          <p:spPr bwMode="auto">
            <a:xfrm>
              <a:off x="3872"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4</a:t>
              </a:r>
            </a:p>
          </p:txBody>
        </p:sp>
        <p:sp>
          <p:nvSpPr>
            <p:cNvPr id="21528" name="Rectangle 24"/>
            <p:cNvSpPr>
              <a:spLocks noChangeArrowheads="1"/>
            </p:cNvSpPr>
            <p:nvPr/>
          </p:nvSpPr>
          <p:spPr bwMode="auto">
            <a:xfrm>
              <a:off x="3516"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5</a:t>
              </a:r>
            </a:p>
          </p:txBody>
        </p:sp>
        <p:sp>
          <p:nvSpPr>
            <p:cNvPr id="21529" name="Line 25"/>
            <p:cNvSpPr>
              <a:spLocks noChangeShapeType="1"/>
            </p:cNvSpPr>
            <p:nvPr/>
          </p:nvSpPr>
          <p:spPr bwMode="auto">
            <a:xfrm>
              <a:off x="3694" y="2763"/>
              <a:ext cx="14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30" name="Line 26"/>
            <p:cNvSpPr>
              <a:spLocks noChangeShapeType="1"/>
            </p:cNvSpPr>
            <p:nvPr/>
          </p:nvSpPr>
          <p:spPr bwMode="auto">
            <a:xfrm>
              <a:off x="1117" y="2763"/>
              <a:ext cx="14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31" name="Rectangle 27"/>
            <p:cNvSpPr>
              <a:spLocks noChangeArrowheads="1"/>
            </p:cNvSpPr>
            <p:nvPr/>
          </p:nvSpPr>
          <p:spPr bwMode="auto">
            <a:xfrm>
              <a:off x="1117" y="2554"/>
              <a:ext cx="133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Thứ tự bổ sung</a:t>
              </a:r>
            </a:p>
          </p:txBody>
        </p:sp>
        <p:sp>
          <p:nvSpPr>
            <p:cNvPr id="21532" name="Rectangle 28"/>
            <p:cNvSpPr>
              <a:spLocks noChangeArrowheads="1"/>
            </p:cNvSpPr>
            <p:nvPr/>
          </p:nvSpPr>
          <p:spPr bwMode="auto">
            <a:xfrm>
              <a:off x="3605" y="2554"/>
              <a:ext cx="133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Thứ tự loại bỏ</a:t>
              </a:r>
            </a:p>
          </p:txBody>
        </p:sp>
        <p:sp>
          <p:nvSpPr>
            <p:cNvPr id="21533" name="Rectangle 29"/>
            <p:cNvSpPr>
              <a:spLocks noChangeArrowheads="1"/>
            </p:cNvSpPr>
            <p:nvPr/>
          </p:nvSpPr>
          <p:spPr bwMode="auto">
            <a:xfrm>
              <a:off x="1488" y="2064"/>
              <a:ext cx="87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a:latin typeface="Times New Roman" panose="02020603050405020304" pitchFamily="18" charset="0"/>
                </a:rPr>
                <a:t>Đỉnh (top)</a:t>
              </a:r>
            </a:p>
          </p:txBody>
        </p:sp>
        <p:sp>
          <p:nvSpPr>
            <p:cNvPr id="21534" name="Rectangle 30"/>
            <p:cNvSpPr>
              <a:spLocks noChangeArrowheads="1"/>
            </p:cNvSpPr>
            <p:nvPr/>
          </p:nvSpPr>
          <p:spPr bwMode="auto">
            <a:xfrm>
              <a:off x="2640" y="3112"/>
              <a:ext cx="110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Đáy (bottom)</a:t>
              </a:r>
            </a:p>
          </p:txBody>
        </p:sp>
        <p:sp>
          <p:nvSpPr>
            <p:cNvPr id="21535" name="Line 31"/>
            <p:cNvSpPr>
              <a:spLocks noChangeShapeType="1"/>
            </p:cNvSpPr>
            <p:nvPr/>
          </p:nvSpPr>
          <p:spPr bwMode="auto">
            <a:xfrm>
              <a:off x="2272" y="2171"/>
              <a:ext cx="533" cy="0"/>
            </a:xfrm>
            <a:prstGeom prst="line">
              <a:avLst/>
            </a:prstGeom>
            <a:noFill/>
            <a:ln w="9525" cap="rnd">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36" name="Rectangle 32"/>
            <p:cNvSpPr>
              <a:spLocks noChangeArrowheads="1"/>
            </p:cNvSpPr>
            <p:nvPr/>
          </p:nvSpPr>
          <p:spPr bwMode="auto">
            <a:xfrm>
              <a:off x="1295" y="3439"/>
              <a:ext cx="346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Cấu tạo và hoạt động của Stack</a:t>
              </a:r>
            </a:p>
          </p:txBody>
        </p:sp>
        <p:sp>
          <p:nvSpPr>
            <p:cNvPr id="21537" name="Rectangle 33"/>
            <p:cNvSpPr>
              <a:spLocks noChangeArrowheads="1"/>
            </p:cNvSpPr>
            <p:nvPr/>
          </p:nvSpPr>
          <p:spPr bwMode="auto">
            <a:xfrm>
              <a:off x="672" y="1584"/>
              <a:ext cx="4800" cy="21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extLst>
      <p:ext uri="{BB962C8B-B14F-4D97-AF65-F5344CB8AC3E}">
        <p14:creationId xmlns:p14="http://schemas.microsoft.com/office/powerpoint/2010/main" val="2418283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CD8494-CF43-81E4-E463-D167FEAB8765}"/>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24D7CAC6-016C-D6B5-E897-6CCD7253F410}"/>
              </a:ext>
            </a:extLst>
          </p:cNvPr>
          <p:cNvSpPr>
            <a:spLocks noGrp="1"/>
          </p:cNvSpPr>
          <p:nvPr>
            <p:ph type="sldNum" sz="quarter" idx="12"/>
          </p:nvPr>
        </p:nvSpPr>
        <p:spPr/>
        <p:txBody>
          <a:bodyPr/>
          <a:lstStyle/>
          <a:p>
            <a:fld id="{BC24317B-5122-4A99-A6E9-FA23C146A7E0}" type="slidenum">
              <a:rPr lang="en-US" smtClean="0"/>
              <a:pPr/>
              <a:t>45</a:t>
            </a:fld>
            <a:endParaRPr lang="en-US"/>
          </a:p>
        </p:txBody>
      </p:sp>
      <p:sp>
        <p:nvSpPr>
          <p:cNvPr id="4" name="Title 3">
            <a:extLst>
              <a:ext uri="{FF2B5EF4-FFF2-40B4-BE49-F238E27FC236}">
                <a16:creationId xmlns:a16="http://schemas.microsoft.com/office/drawing/2014/main" id="{4C7F1077-1B79-0C8A-5075-0329C5DA34FF}"/>
              </a:ext>
            </a:extLst>
          </p:cNvPr>
          <p:cNvSpPr>
            <a:spLocks noGrp="1"/>
          </p:cNvSpPr>
          <p:nvPr>
            <p:ph type="title"/>
          </p:nvPr>
        </p:nvSpPr>
        <p:spPr/>
        <p:txBody>
          <a:bodyPr/>
          <a:lstStyle/>
          <a:p>
            <a:r>
              <a:rPr lang="en-US"/>
              <a:t>Nguyễn </a:t>
            </a:r>
            <a:r>
              <a:rPr lang="en-US" err="1"/>
              <a:t>tắc</a:t>
            </a:r>
            <a:r>
              <a:rPr lang="en-US"/>
              <a:t> </a:t>
            </a:r>
            <a:r>
              <a:rPr lang="en-US" err="1"/>
              <a:t>hoạt</a:t>
            </a:r>
            <a:r>
              <a:rPr lang="en-US"/>
              <a:t> </a:t>
            </a:r>
            <a:r>
              <a:rPr lang="en-US" err="1"/>
              <a:t>động</a:t>
            </a:r>
            <a:r>
              <a:rPr lang="en-US"/>
              <a:t> </a:t>
            </a:r>
            <a:r>
              <a:rPr lang="en-US" err="1"/>
              <a:t>của</a:t>
            </a:r>
            <a:r>
              <a:rPr lang="en-US"/>
              <a:t> stack</a:t>
            </a:r>
          </a:p>
        </p:txBody>
      </p:sp>
      <p:sp>
        <p:nvSpPr>
          <p:cNvPr id="5" name="Text Placeholder 4">
            <a:extLst>
              <a:ext uri="{FF2B5EF4-FFF2-40B4-BE49-F238E27FC236}">
                <a16:creationId xmlns:a16="http://schemas.microsoft.com/office/drawing/2014/main" id="{6C381B55-4ACD-88CA-00F1-6C453604FDC1}"/>
              </a:ext>
            </a:extLst>
          </p:cNvPr>
          <p:cNvSpPr>
            <a:spLocks noGrp="1"/>
          </p:cNvSpPr>
          <p:nvPr>
            <p:ph type="body" sz="quarter" idx="13"/>
          </p:nvPr>
        </p:nvSpPr>
        <p:spPr/>
        <p:txBody>
          <a:bodyPr/>
          <a:lstStyle/>
          <a:p>
            <a:r>
              <a:rPr lang="vi-VN"/>
              <a:t>Phần tử ở đỉnh ngăn xếp (cuối danh sách) được gọi là </a:t>
            </a:r>
            <a:r>
              <a:rPr lang="vi-VN" b="1" i="1"/>
              <a:t>top</a:t>
            </a:r>
            <a:r>
              <a:rPr lang="vi-VN"/>
              <a:t> của ngăn xếp</a:t>
            </a:r>
            <a:endParaRPr lang="en-US"/>
          </a:p>
          <a:p>
            <a:r>
              <a:rPr lang="en-US"/>
              <a:t>Nguyên </a:t>
            </a:r>
            <a:r>
              <a:rPr lang="en-US" err="1"/>
              <a:t>tắc</a:t>
            </a:r>
            <a:r>
              <a:rPr lang="en-US"/>
              <a:t>: </a:t>
            </a:r>
            <a:r>
              <a:rPr lang="en-US" err="1"/>
              <a:t>vào</a:t>
            </a:r>
            <a:r>
              <a:rPr lang="en-US"/>
              <a:t> </a:t>
            </a:r>
            <a:r>
              <a:rPr lang="en-US" err="1"/>
              <a:t>sau</a:t>
            </a:r>
            <a:r>
              <a:rPr lang="en-US"/>
              <a:t> – </a:t>
            </a:r>
            <a:r>
              <a:rPr lang="en-US" err="1"/>
              <a:t>ra</a:t>
            </a:r>
            <a:r>
              <a:rPr lang="en-US"/>
              <a:t> </a:t>
            </a:r>
            <a:r>
              <a:rPr lang="en-US" err="1"/>
              <a:t>trước</a:t>
            </a:r>
            <a:endParaRPr lang="en-US"/>
          </a:p>
          <a:p>
            <a:pPr lvl="1"/>
            <a:r>
              <a:rPr lang="en-US"/>
              <a:t>M</a:t>
            </a:r>
            <a:r>
              <a:rPr lang="vi-VN"/>
              <a:t>uốn thêm một </a:t>
            </a:r>
            <a:r>
              <a:rPr lang="en-US" err="1"/>
              <a:t>phần</a:t>
            </a:r>
            <a:r>
              <a:rPr lang="en-US"/>
              <a:t> </a:t>
            </a:r>
            <a:r>
              <a:rPr lang="en-US" err="1"/>
              <a:t>tử</a:t>
            </a:r>
            <a:r>
              <a:rPr lang="vi-VN"/>
              <a:t> vào </a:t>
            </a:r>
            <a:r>
              <a:rPr lang="en-US">
                <a:sym typeface="Wingdings" panose="05000000000000000000" pitchFamily="2" charset="2"/>
              </a:rPr>
              <a:t></a:t>
            </a:r>
            <a:r>
              <a:rPr lang="vi-VN"/>
              <a:t> đặt lên đỉnh của </a:t>
            </a:r>
            <a:r>
              <a:rPr lang="en-US" err="1"/>
              <a:t>ngăn</a:t>
            </a:r>
            <a:r>
              <a:rPr lang="en-US"/>
              <a:t> </a:t>
            </a:r>
            <a:r>
              <a:rPr lang="en-US" err="1"/>
              <a:t>xếp</a:t>
            </a:r>
            <a:endParaRPr lang="en-US"/>
          </a:p>
          <a:p>
            <a:pPr lvl="1"/>
            <a:r>
              <a:rPr lang="en-US"/>
              <a:t>M</a:t>
            </a:r>
            <a:r>
              <a:rPr lang="vi-VN"/>
              <a:t>uốn lấy một </a:t>
            </a:r>
            <a:r>
              <a:rPr lang="en-US" err="1"/>
              <a:t>một</a:t>
            </a:r>
            <a:r>
              <a:rPr lang="en-US"/>
              <a:t> </a:t>
            </a:r>
            <a:r>
              <a:rPr lang="en-US" err="1"/>
              <a:t>phần</a:t>
            </a:r>
            <a:r>
              <a:rPr lang="en-US"/>
              <a:t> </a:t>
            </a:r>
            <a:r>
              <a:rPr lang="en-US" err="1"/>
              <a:t>tử</a:t>
            </a:r>
            <a:r>
              <a:rPr lang="en-US"/>
              <a:t> </a:t>
            </a:r>
            <a:r>
              <a:rPr lang="en-US" err="1"/>
              <a:t>ra</a:t>
            </a:r>
            <a:r>
              <a:rPr lang="en-US"/>
              <a:t> </a:t>
            </a:r>
            <a:r>
              <a:rPr lang="en-US">
                <a:sym typeface="Wingdings" panose="05000000000000000000" pitchFamily="2" charset="2"/>
              </a:rPr>
              <a:t> </a:t>
            </a:r>
            <a:r>
              <a:rPr lang="vi-VN"/>
              <a:t>phải lấy từ trên</a:t>
            </a:r>
            <a:r>
              <a:rPr lang="en-US"/>
              <a:t> </a:t>
            </a:r>
            <a:r>
              <a:rPr lang="en-US" err="1"/>
              <a:t>đỉnh</a:t>
            </a:r>
            <a:r>
              <a:rPr lang="vi-VN"/>
              <a:t> xuống.</a:t>
            </a:r>
            <a:endParaRPr lang="en-US"/>
          </a:p>
        </p:txBody>
      </p:sp>
      <p:pic>
        <p:nvPicPr>
          <p:cNvPr id="7" name="Picture 6" descr="A diagram of a stack&#10;&#10;AI-generated content may be incorrect.">
            <a:extLst>
              <a:ext uri="{FF2B5EF4-FFF2-40B4-BE49-F238E27FC236}">
                <a16:creationId xmlns:a16="http://schemas.microsoft.com/office/drawing/2014/main" id="{E6A44924-616D-F043-53CB-F33DD809F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362200"/>
            <a:ext cx="5524500" cy="3848735"/>
          </a:xfrm>
          <a:prstGeom prst="rect">
            <a:avLst/>
          </a:prstGeom>
        </p:spPr>
      </p:pic>
    </p:spTree>
    <p:extLst>
      <p:ext uri="{BB962C8B-B14F-4D97-AF65-F5344CB8AC3E}">
        <p14:creationId xmlns:p14="http://schemas.microsoft.com/office/powerpoint/2010/main" val="2844504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r>
              <a:rPr lang="en-US"/>
              <a:t>Nguyễn </a:t>
            </a:r>
            <a:r>
              <a:rPr lang="en-US" err="1"/>
              <a:t>tắc</a:t>
            </a:r>
            <a:r>
              <a:rPr lang="en-US"/>
              <a:t> </a:t>
            </a:r>
            <a:r>
              <a:rPr lang="en-US" err="1"/>
              <a:t>hoạt</a:t>
            </a:r>
            <a:r>
              <a:rPr lang="en-US"/>
              <a:t> </a:t>
            </a:r>
            <a:r>
              <a:rPr lang="en-US" err="1"/>
              <a:t>động</a:t>
            </a:r>
            <a:r>
              <a:rPr lang="en-US"/>
              <a:t> </a:t>
            </a:r>
            <a:r>
              <a:rPr lang="en-US" err="1"/>
              <a:t>của</a:t>
            </a:r>
            <a:r>
              <a:rPr lang="en-US"/>
              <a:t> queue</a:t>
            </a:r>
            <a:endParaRPr lang="en-US" altLang="en-US">
              <a:cs typeface="Times New Roman" panose="02020603050405020304" pitchFamily="18" charset="0"/>
            </a:endParaRPr>
          </a:p>
        </p:txBody>
      </p:sp>
      <p:sp>
        <p:nvSpPr>
          <p:cNvPr id="21507" name="Rectangle 3"/>
          <p:cNvSpPr>
            <a:spLocks noGrp="1" noChangeArrowheads="1"/>
          </p:cNvSpPr>
          <p:nvPr>
            <p:ph type="body" sz="quarter" idx="13"/>
          </p:nvPr>
        </p:nvSpPr>
        <p:spPr/>
        <p:txBody>
          <a:bodyPr>
            <a:normAutofit/>
          </a:bodyPr>
          <a:lstStyle/>
          <a:p>
            <a:r>
              <a:rPr lang="en-US" altLang="en-US" sz="2400" err="1">
                <a:cs typeface="Times New Roman" panose="02020603050405020304" pitchFamily="18" charset="0"/>
              </a:rPr>
              <a:t>Một</a:t>
            </a:r>
            <a:r>
              <a:rPr lang="en-US" altLang="en-US" sz="2400">
                <a:cs typeface="Times New Roman" panose="02020603050405020304" pitchFamily="18" charset="0"/>
              </a:rPr>
              <a:t> </a:t>
            </a:r>
            <a:r>
              <a:rPr lang="en-US" altLang="en-US" sz="2400" err="1">
                <a:cs typeface="Times New Roman" panose="02020603050405020304" pitchFamily="18" charset="0"/>
              </a:rPr>
              <a:t>trong</a:t>
            </a:r>
            <a:r>
              <a:rPr lang="en-US" altLang="en-US" sz="2400">
                <a:cs typeface="Times New Roman" panose="02020603050405020304" pitchFamily="18" charset="0"/>
              </a:rPr>
              <a:t> </a:t>
            </a:r>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loại</a:t>
            </a:r>
            <a:r>
              <a:rPr lang="en-US" altLang="en-US" sz="2400">
                <a:cs typeface="Times New Roman" panose="02020603050405020304" pitchFamily="18" charset="0"/>
              </a:rPr>
              <a:t> </a:t>
            </a:r>
            <a:r>
              <a:rPr lang="en-US" altLang="en-US" sz="2400" err="1">
                <a:cs typeface="Times New Roman" panose="02020603050405020304" pitchFamily="18" charset="0"/>
              </a:rPr>
              <a:t>danh</a:t>
            </a:r>
            <a:r>
              <a:rPr lang="en-US" altLang="en-US" sz="2400">
                <a:cs typeface="Times New Roman" panose="02020603050405020304" pitchFamily="18" charset="0"/>
              </a:rPr>
              <a:t> </a:t>
            </a:r>
            <a:r>
              <a:rPr lang="en-US" altLang="en-US" sz="2400" err="1">
                <a:cs typeface="Times New Roman" panose="02020603050405020304" pitchFamily="18" charset="0"/>
              </a:rPr>
              <a:t>sách</a:t>
            </a:r>
            <a:r>
              <a:rPr lang="en-US" altLang="en-US" sz="2400">
                <a:cs typeface="Times New Roman" panose="02020603050405020304" pitchFamily="18" charset="0"/>
              </a:rPr>
              <a:t> </a:t>
            </a:r>
            <a:r>
              <a:rPr lang="en-US" altLang="en-US" sz="2400" err="1">
                <a:cs typeface="Times New Roman" panose="02020603050405020304" pitchFamily="18" charset="0"/>
              </a:rPr>
              <a:t>thông</a:t>
            </a:r>
            <a:r>
              <a:rPr lang="en-US" altLang="en-US" sz="2400">
                <a:cs typeface="Times New Roman" panose="02020603050405020304" pitchFamily="18" charset="0"/>
              </a:rPr>
              <a:t> </a:t>
            </a:r>
            <a:r>
              <a:rPr lang="en-US" altLang="en-US" sz="2400" err="1">
                <a:cs typeface="Times New Roman" panose="02020603050405020304" pitchFamily="18" charset="0"/>
              </a:rPr>
              <a:t>dụng</a:t>
            </a:r>
            <a:r>
              <a:rPr lang="en-US" altLang="en-US" sz="2400">
                <a:cs typeface="Times New Roman" panose="02020603050405020304" pitchFamily="18" charset="0"/>
              </a:rPr>
              <a:t>:</a:t>
            </a:r>
          </a:p>
          <a:p>
            <a:pPr lvl="1"/>
            <a:r>
              <a:rPr lang="en-US" altLang="en-US" sz="2000" err="1"/>
              <a:t>Cấu</a:t>
            </a:r>
            <a:r>
              <a:rPr lang="en-US" altLang="en-US" sz="2000"/>
              <a:t> </a:t>
            </a:r>
            <a:r>
              <a:rPr lang="en-US" altLang="en-US" sz="2000" err="1"/>
              <a:t>trúc</a:t>
            </a:r>
            <a:r>
              <a:rPr lang="en-US" altLang="en-US" sz="2000"/>
              <a:t> </a:t>
            </a:r>
            <a:r>
              <a:rPr lang="en-US" altLang="en-US" sz="2000" err="1"/>
              <a:t>hàng</a:t>
            </a:r>
            <a:r>
              <a:rPr lang="en-US" altLang="en-US" sz="2000"/>
              <a:t> </a:t>
            </a:r>
            <a:r>
              <a:rPr lang="en-US" altLang="en-US" sz="2000" err="1"/>
              <a:t>đợi</a:t>
            </a:r>
            <a:r>
              <a:rPr lang="en-US" altLang="en-US" sz="2000"/>
              <a:t> (queue): </a:t>
            </a:r>
            <a:r>
              <a:rPr lang="en-US" altLang="en-US" sz="2000" err="1"/>
              <a:t>cấu</a:t>
            </a:r>
            <a:r>
              <a:rPr lang="en-US" altLang="en-US" sz="2000"/>
              <a:t> </a:t>
            </a:r>
            <a:r>
              <a:rPr lang="en-US" altLang="en-US" sz="2000" err="1"/>
              <a:t>trúc</a:t>
            </a:r>
            <a:r>
              <a:rPr lang="en-US" altLang="en-US" sz="2000"/>
              <a:t> </a:t>
            </a:r>
            <a:r>
              <a:rPr lang="en-US" altLang="en-US" sz="2000" err="1"/>
              <a:t>vào</a:t>
            </a:r>
            <a:r>
              <a:rPr lang="en-US" altLang="en-US" sz="2000"/>
              <a:t> </a:t>
            </a:r>
            <a:r>
              <a:rPr lang="en-US" altLang="en-US" sz="2000" err="1"/>
              <a:t>trước</a:t>
            </a:r>
            <a:r>
              <a:rPr lang="en-US" altLang="en-US" sz="2000"/>
              <a:t> </a:t>
            </a:r>
            <a:r>
              <a:rPr lang="en-US" altLang="en-US" sz="2000" err="1"/>
              <a:t>ra</a:t>
            </a:r>
            <a:r>
              <a:rPr lang="en-US" altLang="en-US" sz="2000"/>
              <a:t> </a:t>
            </a:r>
            <a:r>
              <a:rPr lang="en-US" altLang="en-US" sz="2000" err="1"/>
              <a:t>trước</a:t>
            </a:r>
            <a:r>
              <a:rPr lang="en-US" altLang="en-US" sz="2000"/>
              <a:t> (First In, First Out - FIFO)</a:t>
            </a:r>
          </a:p>
          <a:p>
            <a:endParaRPr lang="en-US" altLang="en-US" sz="2400">
              <a:cs typeface="Times New Roman" panose="02020603050405020304" pitchFamily="18" charset="0"/>
            </a:endParaRPr>
          </a:p>
        </p:txBody>
      </p:sp>
      <p:grpSp>
        <p:nvGrpSpPr>
          <p:cNvPr id="21508" name="Group 4"/>
          <p:cNvGrpSpPr>
            <a:grpSpLocks/>
          </p:cNvGrpSpPr>
          <p:nvPr/>
        </p:nvGrpSpPr>
        <p:grpSpPr bwMode="auto">
          <a:xfrm>
            <a:off x="914400" y="2590800"/>
            <a:ext cx="7620000" cy="3429000"/>
            <a:chOff x="672" y="1584"/>
            <a:chExt cx="4800" cy="2160"/>
          </a:xfrm>
        </p:grpSpPr>
        <p:grpSp>
          <p:nvGrpSpPr>
            <p:cNvPr id="21509" name="Group 5"/>
            <p:cNvGrpSpPr>
              <a:grpSpLocks/>
            </p:cNvGrpSpPr>
            <p:nvPr/>
          </p:nvGrpSpPr>
          <p:grpSpPr bwMode="auto">
            <a:xfrm>
              <a:off x="2805" y="1857"/>
              <a:ext cx="535" cy="1255"/>
              <a:chOff x="5182" y="2160"/>
              <a:chExt cx="1298" cy="2592"/>
            </a:xfrm>
          </p:grpSpPr>
          <p:sp>
            <p:nvSpPr>
              <p:cNvPr id="21510" name="Rectangle 6"/>
              <p:cNvSpPr>
                <a:spLocks noChangeArrowheads="1"/>
              </p:cNvSpPr>
              <p:nvPr/>
            </p:nvSpPr>
            <p:spPr bwMode="auto">
              <a:xfrm>
                <a:off x="5184" y="2592"/>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1</a:t>
                </a:r>
              </a:p>
            </p:txBody>
          </p:sp>
          <p:sp>
            <p:nvSpPr>
              <p:cNvPr id="21511" name="Rectangle 7"/>
              <p:cNvSpPr>
                <a:spLocks noChangeArrowheads="1"/>
              </p:cNvSpPr>
              <p:nvPr/>
            </p:nvSpPr>
            <p:spPr bwMode="auto">
              <a:xfrm>
                <a:off x="5184" y="3024"/>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2</a:t>
                </a:r>
              </a:p>
            </p:txBody>
          </p:sp>
          <p:sp>
            <p:nvSpPr>
              <p:cNvPr id="21512" name="Rectangle 8"/>
              <p:cNvSpPr>
                <a:spLocks noChangeArrowheads="1"/>
              </p:cNvSpPr>
              <p:nvPr/>
            </p:nvSpPr>
            <p:spPr bwMode="auto">
              <a:xfrm>
                <a:off x="5182" y="3456"/>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3</a:t>
                </a:r>
              </a:p>
            </p:txBody>
          </p:sp>
          <p:sp>
            <p:nvSpPr>
              <p:cNvPr id="21513" name="Rectangle 9"/>
              <p:cNvSpPr>
                <a:spLocks noChangeArrowheads="1"/>
              </p:cNvSpPr>
              <p:nvPr/>
            </p:nvSpPr>
            <p:spPr bwMode="auto">
              <a:xfrm>
                <a:off x="5184" y="3888"/>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4</a:t>
                </a:r>
              </a:p>
            </p:txBody>
          </p:sp>
          <p:sp>
            <p:nvSpPr>
              <p:cNvPr id="21514" name="Rectangle 10"/>
              <p:cNvSpPr>
                <a:spLocks noChangeArrowheads="1"/>
              </p:cNvSpPr>
              <p:nvPr/>
            </p:nvSpPr>
            <p:spPr bwMode="auto">
              <a:xfrm>
                <a:off x="5184" y="4320"/>
                <a:ext cx="1296" cy="432"/>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5</a:t>
                </a:r>
              </a:p>
            </p:txBody>
          </p:sp>
          <p:sp>
            <p:nvSpPr>
              <p:cNvPr id="21515" name="Line 11"/>
              <p:cNvSpPr>
                <a:spLocks noChangeShapeType="1"/>
              </p:cNvSpPr>
              <p:nvPr/>
            </p:nvSpPr>
            <p:spPr bwMode="auto">
              <a:xfrm>
                <a:off x="5184" y="2160"/>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6" name="Line 12"/>
              <p:cNvSpPr>
                <a:spLocks noChangeShapeType="1"/>
              </p:cNvSpPr>
              <p:nvPr/>
            </p:nvSpPr>
            <p:spPr bwMode="auto">
              <a:xfrm>
                <a:off x="6480" y="2160"/>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17" name="Line 13"/>
            <p:cNvSpPr>
              <a:spLocks noChangeShapeType="1"/>
            </p:cNvSpPr>
            <p:nvPr/>
          </p:nvSpPr>
          <p:spPr bwMode="auto">
            <a:xfrm flipH="1">
              <a:off x="3072" y="1824"/>
              <a:ext cx="0" cy="242"/>
            </a:xfrm>
            <a:prstGeom prst="line">
              <a:avLst/>
            </a:prstGeom>
            <a:noFill/>
            <a:ln w="9525">
              <a:solidFill>
                <a:srgbClr val="000000"/>
              </a:solidFill>
              <a:round/>
              <a:headEnd type="triangle" w="med" len="med"/>
              <a:tailEnd type="none" w="med" len="med"/>
            </a:ln>
            <a:extLst>
              <a:ext uri="{909E8E84-426E-40DD-AFC4-6F175D3DCCD1}">
                <a14:hiddenFill xmlns:a14="http://schemas.microsoft.com/office/drawing/2010/main">
                  <a:noFill/>
                </a14:hiddenFill>
              </a:ext>
            </a:extLst>
          </p:spPr>
          <p:txBody>
            <a:bodyPr/>
            <a:lstStyle/>
            <a:p>
              <a:endParaRPr lang="en-US"/>
            </a:p>
          </p:txBody>
        </p:sp>
        <p:sp>
          <p:nvSpPr>
            <p:cNvPr id="21519" name="Rectangle 15"/>
            <p:cNvSpPr>
              <a:spLocks noChangeArrowheads="1"/>
            </p:cNvSpPr>
            <p:nvPr/>
          </p:nvSpPr>
          <p:spPr bwMode="auto">
            <a:xfrm>
              <a:off x="2361"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5</a:t>
              </a:r>
            </a:p>
          </p:txBody>
        </p:sp>
        <p:sp>
          <p:nvSpPr>
            <p:cNvPr id="21520" name="Rectangle 16"/>
            <p:cNvSpPr>
              <a:spLocks noChangeArrowheads="1"/>
            </p:cNvSpPr>
            <p:nvPr/>
          </p:nvSpPr>
          <p:spPr bwMode="auto">
            <a:xfrm>
              <a:off x="2006" y="2903"/>
              <a:ext cx="266"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4</a:t>
              </a:r>
            </a:p>
          </p:txBody>
        </p:sp>
        <p:sp>
          <p:nvSpPr>
            <p:cNvPr id="21521" name="Rectangle 17"/>
            <p:cNvSpPr>
              <a:spLocks noChangeArrowheads="1"/>
            </p:cNvSpPr>
            <p:nvPr/>
          </p:nvSpPr>
          <p:spPr bwMode="auto">
            <a:xfrm>
              <a:off x="1650"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3</a:t>
              </a:r>
            </a:p>
          </p:txBody>
        </p:sp>
        <p:sp>
          <p:nvSpPr>
            <p:cNvPr id="21522" name="Rectangle 18"/>
            <p:cNvSpPr>
              <a:spLocks noChangeArrowheads="1"/>
            </p:cNvSpPr>
            <p:nvPr/>
          </p:nvSpPr>
          <p:spPr bwMode="auto">
            <a:xfrm>
              <a:off x="1295" y="2903"/>
              <a:ext cx="266"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2</a:t>
              </a:r>
            </a:p>
          </p:txBody>
        </p:sp>
        <p:sp>
          <p:nvSpPr>
            <p:cNvPr id="21523" name="Rectangle 19"/>
            <p:cNvSpPr>
              <a:spLocks noChangeArrowheads="1"/>
            </p:cNvSpPr>
            <p:nvPr/>
          </p:nvSpPr>
          <p:spPr bwMode="auto">
            <a:xfrm>
              <a:off x="939"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1</a:t>
              </a:r>
            </a:p>
          </p:txBody>
        </p:sp>
        <p:sp>
          <p:nvSpPr>
            <p:cNvPr id="21524" name="Rectangle 20"/>
            <p:cNvSpPr>
              <a:spLocks noChangeArrowheads="1"/>
            </p:cNvSpPr>
            <p:nvPr/>
          </p:nvSpPr>
          <p:spPr bwMode="auto">
            <a:xfrm>
              <a:off x="4938"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5</a:t>
              </a:r>
            </a:p>
          </p:txBody>
        </p:sp>
        <p:sp>
          <p:nvSpPr>
            <p:cNvPr id="21525" name="Rectangle 21"/>
            <p:cNvSpPr>
              <a:spLocks noChangeArrowheads="1"/>
            </p:cNvSpPr>
            <p:nvPr/>
          </p:nvSpPr>
          <p:spPr bwMode="auto">
            <a:xfrm>
              <a:off x="4583"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4</a:t>
              </a:r>
            </a:p>
          </p:txBody>
        </p:sp>
        <p:sp>
          <p:nvSpPr>
            <p:cNvPr id="21526" name="Rectangle 22"/>
            <p:cNvSpPr>
              <a:spLocks noChangeArrowheads="1"/>
            </p:cNvSpPr>
            <p:nvPr/>
          </p:nvSpPr>
          <p:spPr bwMode="auto">
            <a:xfrm>
              <a:off x="4227"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3</a:t>
              </a:r>
            </a:p>
          </p:txBody>
        </p:sp>
        <p:sp>
          <p:nvSpPr>
            <p:cNvPr id="21527" name="Rectangle 23"/>
            <p:cNvSpPr>
              <a:spLocks noChangeArrowheads="1"/>
            </p:cNvSpPr>
            <p:nvPr/>
          </p:nvSpPr>
          <p:spPr bwMode="auto">
            <a:xfrm>
              <a:off x="3872"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2</a:t>
              </a:r>
            </a:p>
          </p:txBody>
        </p:sp>
        <p:sp>
          <p:nvSpPr>
            <p:cNvPr id="21528" name="Rectangle 24"/>
            <p:cNvSpPr>
              <a:spLocks noChangeArrowheads="1"/>
            </p:cNvSpPr>
            <p:nvPr/>
          </p:nvSpPr>
          <p:spPr bwMode="auto">
            <a:xfrm>
              <a:off x="3516" y="2903"/>
              <a:ext cx="267" cy="209"/>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1</a:t>
              </a:r>
            </a:p>
          </p:txBody>
        </p:sp>
        <p:sp>
          <p:nvSpPr>
            <p:cNvPr id="21529" name="Line 25"/>
            <p:cNvSpPr>
              <a:spLocks noChangeShapeType="1"/>
            </p:cNvSpPr>
            <p:nvPr/>
          </p:nvSpPr>
          <p:spPr bwMode="auto">
            <a:xfrm>
              <a:off x="3694" y="2763"/>
              <a:ext cx="14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30" name="Line 26"/>
            <p:cNvSpPr>
              <a:spLocks noChangeShapeType="1"/>
            </p:cNvSpPr>
            <p:nvPr/>
          </p:nvSpPr>
          <p:spPr bwMode="auto">
            <a:xfrm>
              <a:off x="1117" y="2763"/>
              <a:ext cx="14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31" name="Rectangle 27"/>
            <p:cNvSpPr>
              <a:spLocks noChangeArrowheads="1"/>
            </p:cNvSpPr>
            <p:nvPr/>
          </p:nvSpPr>
          <p:spPr bwMode="auto">
            <a:xfrm>
              <a:off x="1117" y="2554"/>
              <a:ext cx="133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Thứ tự bổ sung</a:t>
              </a:r>
            </a:p>
          </p:txBody>
        </p:sp>
        <p:sp>
          <p:nvSpPr>
            <p:cNvPr id="21532" name="Rectangle 28"/>
            <p:cNvSpPr>
              <a:spLocks noChangeArrowheads="1"/>
            </p:cNvSpPr>
            <p:nvPr/>
          </p:nvSpPr>
          <p:spPr bwMode="auto">
            <a:xfrm>
              <a:off x="3605" y="2554"/>
              <a:ext cx="133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Thứ tự loại bỏ</a:t>
              </a:r>
            </a:p>
          </p:txBody>
        </p:sp>
        <p:sp>
          <p:nvSpPr>
            <p:cNvPr id="21533" name="Rectangle 29"/>
            <p:cNvSpPr>
              <a:spLocks noChangeArrowheads="1"/>
            </p:cNvSpPr>
            <p:nvPr/>
          </p:nvSpPr>
          <p:spPr bwMode="auto">
            <a:xfrm>
              <a:off x="2056" y="1925"/>
              <a:ext cx="87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err="1">
                  <a:latin typeface="Times New Roman" panose="02020603050405020304" pitchFamily="18" charset="0"/>
                </a:rPr>
                <a:t>Đỉnh</a:t>
              </a:r>
              <a:r>
                <a:rPr lang="en-US" altLang="en-US" sz="2000">
                  <a:latin typeface="Times New Roman" panose="02020603050405020304" pitchFamily="18" charset="0"/>
                </a:rPr>
                <a:t> (top)</a:t>
              </a:r>
            </a:p>
          </p:txBody>
        </p:sp>
        <p:sp>
          <p:nvSpPr>
            <p:cNvPr id="21534" name="Rectangle 30"/>
            <p:cNvSpPr>
              <a:spLocks noChangeArrowheads="1"/>
            </p:cNvSpPr>
            <p:nvPr/>
          </p:nvSpPr>
          <p:spPr bwMode="auto">
            <a:xfrm>
              <a:off x="1792" y="3145"/>
              <a:ext cx="110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err="1">
                  <a:latin typeface="Times New Roman" panose="02020603050405020304" pitchFamily="18" charset="0"/>
                </a:rPr>
                <a:t>Đáy</a:t>
              </a:r>
              <a:r>
                <a:rPr lang="en-US" altLang="en-US" sz="2000">
                  <a:latin typeface="Times New Roman" panose="02020603050405020304" pitchFamily="18" charset="0"/>
                </a:rPr>
                <a:t> (bottom)</a:t>
              </a:r>
            </a:p>
          </p:txBody>
        </p:sp>
        <p:sp>
          <p:nvSpPr>
            <p:cNvPr id="21536" name="Rectangle 32"/>
            <p:cNvSpPr>
              <a:spLocks noChangeArrowheads="1"/>
            </p:cNvSpPr>
            <p:nvPr/>
          </p:nvSpPr>
          <p:spPr bwMode="auto">
            <a:xfrm>
              <a:off x="1392" y="3494"/>
              <a:ext cx="346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err="1">
                  <a:latin typeface="Times New Roman" panose="02020603050405020304" pitchFamily="18" charset="0"/>
                </a:rPr>
                <a:t>Cấu</a:t>
              </a:r>
              <a:r>
                <a:rPr lang="en-US" altLang="en-US" sz="2000">
                  <a:latin typeface="Times New Roman" panose="02020603050405020304" pitchFamily="18" charset="0"/>
                </a:rPr>
                <a:t> </a:t>
              </a:r>
              <a:r>
                <a:rPr lang="en-US" altLang="en-US" sz="2000" err="1">
                  <a:latin typeface="Times New Roman" panose="02020603050405020304" pitchFamily="18" charset="0"/>
                </a:rPr>
                <a:t>tạo</a:t>
              </a:r>
              <a:r>
                <a:rPr lang="en-US" altLang="en-US" sz="2000">
                  <a:latin typeface="Times New Roman" panose="02020603050405020304" pitchFamily="18" charset="0"/>
                </a:rPr>
                <a:t> </a:t>
              </a:r>
              <a:r>
                <a:rPr lang="en-US" altLang="en-US" sz="2000" err="1">
                  <a:latin typeface="Times New Roman" panose="02020603050405020304" pitchFamily="18" charset="0"/>
                </a:rPr>
                <a:t>và</a:t>
              </a:r>
              <a:r>
                <a:rPr lang="en-US" altLang="en-US" sz="2000">
                  <a:latin typeface="Times New Roman" panose="02020603050405020304" pitchFamily="18" charset="0"/>
                </a:rPr>
                <a:t> </a:t>
              </a:r>
              <a:r>
                <a:rPr lang="en-US" altLang="en-US" sz="2000" err="1">
                  <a:latin typeface="Times New Roman" panose="02020603050405020304" pitchFamily="18" charset="0"/>
                </a:rPr>
                <a:t>hoạt</a:t>
              </a:r>
              <a:r>
                <a:rPr lang="en-US" altLang="en-US" sz="2000">
                  <a:latin typeface="Times New Roman" panose="02020603050405020304" pitchFamily="18" charset="0"/>
                </a:rPr>
                <a:t> </a:t>
              </a:r>
              <a:r>
                <a:rPr lang="en-US" altLang="en-US" sz="2000" err="1">
                  <a:latin typeface="Times New Roman" panose="02020603050405020304" pitchFamily="18" charset="0"/>
                </a:rPr>
                <a:t>động</a:t>
              </a:r>
              <a:r>
                <a:rPr lang="en-US" altLang="en-US" sz="2000">
                  <a:latin typeface="Times New Roman" panose="02020603050405020304" pitchFamily="18" charset="0"/>
                </a:rPr>
                <a:t> </a:t>
              </a:r>
              <a:r>
                <a:rPr lang="en-US" altLang="en-US" sz="2000" err="1">
                  <a:latin typeface="Times New Roman" panose="02020603050405020304" pitchFamily="18" charset="0"/>
                </a:rPr>
                <a:t>của</a:t>
              </a:r>
              <a:r>
                <a:rPr lang="en-US" altLang="en-US" sz="2000">
                  <a:latin typeface="Times New Roman" panose="02020603050405020304" pitchFamily="18" charset="0"/>
                </a:rPr>
                <a:t> Queue</a:t>
              </a:r>
            </a:p>
          </p:txBody>
        </p:sp>
        <p:sp>
          <p:nvSpPr>
            <p:cNvPr id="21537" name="Rectangle 33"/>
            <p:cNvSpPr>
              <a:spLocks noChangeArrowheads="1"/>
            </p:cNvSpPr>
            <p:nvPr/>
          </p:nvSpPr>
          <p:spPr bwMode="auto">
            <a:xfrm>
              <a:off x="672" y="1584"/>
              <a:ext cx="4800" cy="21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4" name="Line 11"/>
          <p:cNvSpPr>
            <a:spLocks noChangeShapeType="1"/>
          </p:cNvSpPr>
          <p:nvPr/>
        </p:nvSpPr>
        <p:spPr bwMode="auto">
          <a:xfrm>
            <a:off x="4302125" y="5001948"/>
            <a:ext cx="0" cy="3320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2"/>
          <p:cNvSpPr>
            <a:spLocks noChangeShapeType="1"/>
          </p:cNvSpPr>
          <p:nvPr/>
        </p:nvSpPr>
        <p:spPr bwMode="auto">
          <a:xfrm>
            <a:off x="5149850" y="5001948"/>
            <a:ext cx="0" cy="3320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3"/>
          <p:cNvSpPr>
            <a:spLocks noChangeShapeType="1"/>
          </p:cNvSpPr>
          <p:nvPr/>
        </p:nvSpPr>
        <p:spPr bwMode="auto">
          <a:xfrm flipH="1">
            <a:off x="4724400" y="5016501"/>
            <a:ext cx="0" cy="384175"/>
          </a:xfrm>
          <a:prstGeom prst="line">
            <a:avLst/>
          </a:prstGeom>
          <a:noFill/>
          <a:ln w="9525">
            <a:solidFill>
              <a:srgbClr val="000000"/>
            </a:solidFill>
            <a:round/>
            <a:headEnd type="triangle" w="med" len="med"/>
            <a:tailEnd type="non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5530282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AF755E-9162-EFB0-46D9-DF31CA270CB7}"/>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077E7960-9EEA-5B78-A965-AF05F959235B}"/>
              </a:ext>
            </a:extLst>
          </p:cNvPr>
          <p:cNvSpPr>
            <a:spLocks noGrp="1"/>
          </p:cNvSpPr>
          <p:nvPr>
            <p:ph type="sldNum" sz="quarter" idx="12"/>
          </p:nvPr>
        </p:nvSpPr>
        <p:spPr/>
        <p:txBody>
          <a:bodyPr/>
          <a:lstStyle/>
          <a:p>
            <a:fld id="{BC24317B-5122-4A99-A6E9-FA23C146A7E0}" type="slidenum">
              <a:rPr lang="en-US" smtClean="0"/>
              <a:pPr/>
              <a:t>47</a:t>
            </a:fld>
            <a:endParaRPr lang="en-US"/>
          </a:p>
        </p:txBody>
      </p:sp>
      <p:sp>
        <p:nvSpPr>
          <p:cNvPr id="4" name="Title 3">
            <a:extLst>
              <a:ext uri="{FF2B5EF4-FFF2-40B4-BE49-F238E27FC236}">
                <a16:creationId xmlns:a16="http://schemas.microsoft.com/office/drawing/2014/main" id="{691826FD-5255-8512-C8DF-FFC64E798EBB}"/>
              </a:ext>
            </a:extLst>
          </p:cNvPr>
          <p:cNvSpPr>
            <a:spLocks noGrp="1"/>
          </p:cNvSpPr>
          <p:nvPr>
            <p:ph type="title"/>
          </p:nvPr>
        </p:nvSpPr>
        <p:spPr/>
        <p:txBody>
          <a:bodyPr/>
          <a:lstStyle/>
          <a:p>
            <a:r>
              <a:rPr lang="en-US"/>
              <a:t>Nguyễn </a:t>
            </a:r>
            <a:r>
              <a:rPr lang="en-US" err="1"/>
              <a:t>tắc</a:t>
            </a:r>
            <a:r>
              <a:rPr lang="en-US"/>
              <a:t> </a:t>
            </a:r>
            <a:r>
              <a:rPr lang="en-US" err="1"/>
              <a:t>hoạt</a:t>
            </a:r>
            <a:r>
              <a:rPr lang="en-US"/>
              <a:t> </a:t>
            </a:r>
            <a:r>
              <a:rPr lang="en-US" err="1"/>
              <a:t>động</a:t>
            </a:r>
            <a:r>
              <a:rPr lang="en-US"/>
              <a:t> </a:t>
            </a:r>
            <a:r>
              <a:rPr lang="en-US" err="1"/>
              <a:t>của</a:t>
            </a:r>
            <a:r>
              <a:rPr lang="en-US"/>
              <a:t> queue</a:t>
            </a:r>
          </a:p>
        </p:txBody>
      </p:sp>
      <p:sp>
        <p:nvSpPr>
          <p:cNvPr id="5" name="Text Placeholder 4">
            <a:extLst>
              <a:ext uri="{FF2B5EF4-FFF2-40B4-BE49-F238E27FC236}">
                <a16:creationId xmlns:a16="http://schemas.microsoft.com/office/drawing/2014/main" id="{37AC0795-CA7C-EF99-DA03-B9E2D630C87A}"/>
              </a:ext>
            </a:extLst>
          </p:cNvPr>
          <p:cNvSpPr>
            <a:spLocks noGrp="1"/>
          </p:cNvSpPr>
          <p:nvPr>
            <p:ph type="body" sz="quarter" idx="13"/>
          </p:nvPr>
        </p:nvSpPr>
        <p:spPr/>
        <p:txBody>
          <a:bodyPr/>
          <a:lstStyle/>
          <a:p>
            <a:r>
              <a:rPr lang="vi-VN"/>
              <a:t>Phần tử ở đầu hàng đợi sẽ gọi là phần tử </a:t>
            </a:r>
            <a:r>
              <a:rPr lang="vi-VN" b="1" i="1"/>
              <a:t>front,</a:t>
            </a:r>
            <a:r>
              <a:rPr lang="vi-VN"/>
              <a:t> phần tử ở cuối hàng đợi gọi là phần tử </a:t>
            </a:r>
            <a:r>
              <a:rPr lang="vi-VN" b="1" i="1"/>
              <a:t>rear</a:t>
            </a:r>
            <a:r>
              <a:rPr lang="vi-VN"/>
              <a:t>.</a:t>
            </a:r>
            <a:endParaRPr lang="en-US"/>
          </a:p>
          <a:p>
            <a:r>
              <a:rPr lang="en-US" err="1"/>
              <a:t>Thực</a:t>
            </a:r>
            <a:r>
              <a:rPr lang="en-US"/>
              <a:t> </a:t>
            </a:r>
            <a:r>
              <a:rPr lang="en-US" err="1"/>
              <a:t>hiện</a:t>
            </a:r>
            <a:r>
              <a:rPr lang="en-US"/>
              <a:t> </a:t>
            </a:r>
            <a:r>
              <a:rPr lang="en-US" err="1"/>
              <a:t>theo</a:t>
            </a:r>
            <a:r>
              <a:rPr lang="en-US"/>
              <a:t> </a:t>
            </a:r>
            <a:r>
              <a:rPr lang="en-US" err="1"/>
              <a:t>nguyên</a:t>
            </a:r>
            <a:r>
              <a:rPr lang="en-US"/>
              <a:t> </a:t>
            </a:r>
            <a:r>
              <a:rPr lang="en-US" err="1"/>
              <a:t>tắc</a:t>
            </a:r>
            <a:r>
              <a:rPr lang="en-US"/>
              <a:t> </a:t>
            </a:r>
            <a:r>
              <a:rPr lang="en-US" err="1"/>
              <a:t>vào</a:t>
            </a:r>
            <a:r>
              <a:rPr lang="en-US"/>
              <a:t> </a:t>
            </a:r>
            <a:r>
              <a:rPr lang="en-US" err="1"/>
              <a:t>trước</a:t>
            </a:r>
            <a:r>
              <a:rPr lang="en-US"/>
              <a:t> – </a:t>
            </a:r>
            <a:r>
              <a:rPr lang="en-US" err="1"/>
              <a:t>ra</a:t>
            </a:r>
            <a:r>
              <a:rPr lang="en-US"/>
              <a:t> </a:t>
            </a:r>
            <a:r>
              <a:rPr lang="en-US" err="1"/>
              <a:t>trước</a:t>
            </a:r>
            <a:endParaRPr lang="en-US"/>
          </a:p>
          <a:p>
            <a:pPr lvl="1"/>
            <a:r>
              <a:rPr lang="en-US"/>
              <a:t>B</a:t>
            </a:r>
            <a:r>
              <a:rPr lang="vi-VN"/>
              <a:t>ổ sung một phần tử được thực hiện ở cuối danh sách</a:t>
            </a:r>
            <a:endParaRPr lang="en-US"/>
          </a:p>
          <a:p>
            <a:pPr lvl="1"/>
            <a:r>
              <a:rPr lang="en-US" err="1"/>
              <a:t>Loại</a:t>
            </a:r>
            <a:r>
              <a:rPr lang="en-US"/>
              <a:t> </a:t>
            </a:r>
            <a:r>
              <a:rPr lang="vi-VN"/>
              <a:t>bỏ một phần tử được thực hiện ở đầu danh sách.</a:t>
            </a:r>
            <a:endParaRPr lang="en-US"/>
          </a:p>
        </p:txBody>
      </p:sp>
      <p:pic>
        <p:nvPicPr>
          <p:cNvPr id="9" name="Picture 8" descr="A line of people with different colored figures&#10;&#10;AI-generated content may be incorrect.">
            <a:extLst>
              <a:ext uri="{FF2B5EF4-FFF2-40B4-BE49-F238E27FC236}">
                <a16:creationId xmlns:a16="http://schemas.microsoft.com/office/drawing/2014/main" id="{A8C02D45-F320-7636-7AF2-33F43AE25FF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600200" y="2752583"/>
            <a:ext cx="6219825" cy="3574612"/>
          </a:xfrm>
          <a:prstGeom prst="rect">
            <a:avLst/>
          </a:prstGeom>
        </p:spPr>
      </p:pic>
    </p:spTree>
    <p:extLst>
      <p:ext uri="{BB962C8B-B14F-4D97-AF65-F5344CB8AC3E}">
        <p14:creationId xmlns:p14="http://schemas.microsoft.com/office/powerpoint/2010/main" val="16522270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54102-C857-CA80-1DFC-2F342E3E70B4}"/>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9F51A867-CDFC-82F4-5EA9-902390480FA5}"/>
              </a:ext>
            </a:extLst>
          </p:cNvPr>
          <p:cNvSpPr>
            <a:spLocks noGrp="1"/>
          </p:cNvSpPr>
          <p:nvPr>
            <p:ph type="sldNum" sz="quarter" idx="12"/>
          </p:nvPr>
        </p:nvSpPr>
        <p:spPr/>
        <p:txBody>
          <a:bodyPr/>
          <a:lstStyle/>
          <a:p>
            <a:fld id="{BC24317B-5122-4A99-A6E9-FA23C146A7E0}" type="slidenum">
              <a:rPr lang="en-US" smtClean="0"/>
              <a:pPr/>
              <a:t>48</a:t>
            </a:fld>
            <a:endParaRPr lang="en-US"/>
          </a:p>
        </p:txBody>
      </p:sp>
      <p:sp>
        <p:nvSpPr>
          <p:cNvPr id="4" name="Title 3">
            <a:extLst>
              <a:ext uri="{FF2B5EF4-FFF2-40B4-BE49-F238E27FC236}">
                <a16:creationId xmlns:a16="http://schemas.microsoft.com/office/drawing/2014/main" id="{5E8CAB9C-FF52-47D7-F906-C3A0DAB4D902}"/>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514123BE-B701-1306-2DD7-8900155D597A}"/>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51311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Stack </a:t>
            </a:r>
            <a:r>
              <a:rPr lang="en-US" altLang="en-US" i="1" err="1"/>
              <a:t>bằng</a:t>
            </a:r>
            <a:r>
              <a:rPr lang="en-US" altLang="en-US" i="1"/>
              <a:t> CTLT </a:t>
            </a:r>
            <a:r>
              <a:rPr lang="en-US" altLang="en-US" i="1" err="1"/>
              <a:t>tuần</a:t>
            </a:r>
            <a:r>
              <a:rPr lang="en-US" altLang="en-US" i="1"/>
              <a:t> </a:t>
            </a:r>
            <a:r>
              <a:rPr lang="en-US" altLang="en-US" i="1" err="1"/>
              <a:t>tự</a:t>
            </a:r>
            <a:endParaRPr lang="en-US" altLang="en-US" sz="3800" i="1"/>
          </a:p>
        </p:txBody>
      </p:sp>
      <p:sp>
        <p:nvSpPr>
          <p:cNvPr id="22531" name="Rectangle 3"/>
          <p:cNvSpPr>
            <a:spLocks noGrp="1" noChangeArrowheads="1"/>
          </p:cNvSpPr>
          <p:nvPr>
            <p:ph type="body" sz="quarter" idx="13"/>
          </p:nvPr>
        </p:nvSpPr>
        <p:spPr/>
        <p:txBody>
          <a:bodyPr>
            <a:normAutofit/>
          </a:bodyPr>
          <a:lstStyle/>
          <a:p>
            <a:r>
              <a:rPr lang="en-US" altLang="en-US" sz="2400" err="1">
                <a:cs typeface="Times New Roman" panose="02020603050405020304" pitchFamily="18" charset="0"/>
              </a:rPr>
              <a:t>Nguy</a:t>
            </a:r>
            <a:r>
              <a:rPr lang="en-US" altLang="en-US" sz="2400" err="1"/>
              <a:t>ên</a:t>
            </a:r>
            <a:r>
              <a:rPr lang="en-US" altLang="en-US" sz="2400"/>
              <a:t> </a:t>
            </a:r>
            <a:r>
              <a:rPr lang="en-US" altLang="en-US" sz="2400" err="1"/>
              <a:t>tắc</a:t>
            </a:r>
            <a:r>
              <a:rPr lang="en-US" altLang="en-US" sz="2400"/>
              <a:t> </a:t>
            </a:r>
            <a:r>
              <a:rPr lang="en-US" altLang="en-US" sz="2400" err="1"/>
              <a:t>cài</a:t>
            </a:r>
            <a:r>
              <a:rPr lang="en-US" altLang="en-US" sz="2400"/>
              <a:t> </a:t>
            </a:r>
            <a:r>
              <a:rPr lang="en-US" altLang="en-US" sz="2400" err="1"/>
              <a:t>đặt</a:t>
            </a:r>
            <a:endParaRPr lang="en-US" altLang="en-US" sz="2400"/>
          </a:p>
          <a:p>
            <a:pPr lvl="1">
              <a:spcBef>
                <a:spcPct val="10000"/>
              </a:spcBef>
            </a:pPr>
            <a:r>
              <a:rPr lang="en-US" altLang="en-US" sz="2000" err="1">
                <a:cs typeface="Times New Roman" panose="02020603050405020304" pitchFamily="18" charset="0"/>
              </a:rPr>
              <a:t>Chọn</a:t>
            </a:r>
            <a:r>
              <a:rPr lang="en-US" altLang="en-US" sz="2000">
                <a:cs typeface="Times New Roman" panose="02020603050405020304" pitchFamily="18" charset="0"/>
              </a:rPr>
              <a:t> </a:t>
            </a:r>
            <a:r>
              <a:rPr lang="en-US" altLang="en-US" sz="2000" err="1">
                <a:cs typeface="Times New Roman" panose="02020603050405020304" pitchFamily="18" charset="0"/>
              </a:rPr>
              <a:t>cấu</a:t>
            </a:r>
            <a:r>
              <a:rPr lang="en-US" altLang="en-US" sz="2000">
                <a:cs typeface="Times New Roman" panose="02020603050405020304" pitchFamily="18" charset="0"/>
              </a:rPr>
              <a:t> </a:t>
            </a:r>
            <a:r>
              <a:rPr lang="en-US" altLang="en-US" sz="2000" err="1">
                <a:cs typeface="Times New Roman" panose="02020603050405020304" pitchFamily="18" charset="0"/>
              </a:rPr>
              <a:t>trúc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phù</a:t>
            </a:r>
            <a:r>
              <a:rPr lang="en-US" altLang="en-US" sz="2000">
                <a:cs typeface="Times New Roman" panose="02020603050405020304" pitchFamily="18" charset="0"/>
              </a:rPr>
              <a:t> </a:t>
            </a:r>
            <a:r>
              <a:rPr lang="en-US" altLang="en-US" sz="2000" err="1">
                <a:cs typeface="Times New Roman" panose="02020603050405020304" pitchFamily="18" charset="0"/>
              </a:rPr>
              <a:t>hợp</a:t>
            </a:r>
            <a:endParaRPr lang="en-US" altLang="en-US" sz="2000">
              <a:cs typeface="Times New Roman" panose="02020603050405020304" pitchFamily="18" charset="0"/>
            </a:endParaRPr>
          </a:p>
          <a:p>
            <a:pPr lvl="2">
              <a:spcBef>
                <a:spcPct val="10000"/>
              </a:spcBef>
            </a:pPr>
            <a:r>
              <a:rPr lang="en-US" altLang="en-US" sz="1800" err="1">
                <a:cs typeface="Times New Roman" panose="02020603050405020304" pitchFamily="18" charset="0"/>
              </a:rPr>
              <a:t>Xác</a:t>
            </a:r>
            <a:r>
              <a:rPr lang="en-US" altLang="en-US" sz="1800">
                <a:cs typeface="Times New Roman" panose="02020603050405020304" pitchFamily="18" charset="0"/>
              </a:rPr>
              <a:t> </a:t>
            </a:r>
            <a:r>
              <a:rPr lang="en-US" altLang="en-US" sz="1800" err="1">
                <a:cs typeface="Times New Roman" panose="02020603050405020304" pitchFamily="18" charset="0"/>
              </a:rPr>
              <a:t>định</a:t>
            </a:r>
            <a:r>
              <a:rPr lang="en-US" altLang="en-US" sz="1800">
                <a:cs typeface="Times New Roman" panose="02020603050405020304" pitchFamily="18" charset="0"/>
              </a:rPr>
              <a:t> </a:t>
            </a:r>
            <a:r>
              <a:rPr lang="en-US" altLang="en-US" sz="1800" err="1">
                <a:cs typeface="Times New Roman" panose="02020603050405020304" pitchFamily="18" charset="0"/>
              </a:rPr>
              <a:t>kích</a:t>
            </a:r>
            <a:r>
              <a:rPr lang="en-US" altLang="en-US" sz="1800">
                <a:cs typeface="Times New Roman" panose="02020603050405020304" pitchFamily="18" charset="0"/>
              </a:rPr>
              <a:t> </a:t>
            </a:r>
            <a:r>
              <a:rPr lang="en-US" altLang="en-US" sz="1800" err="1">
                <a:cs typeface="Times New Roman" panose="02020603050405020304" pitchFamily="18" charset="0"/>
              </a:rPr>
              <a:t>thước</a:t>
            </a:r>
            <a:r>
              <a:rPr lang="en-US" altLang="en-US" sz="1800">
                <a:cs typeface="Times New Roman" panose="02020603050405020304" pitchFamily="18" charset="0"/>
              </a:rPr>
              <a:t> </a:t>
            </a:r>
            <a:r>
              <a:rPr lang="en-US" altLang="en-US" sz="1800" err="1">
                <a:cs typeface="Times New Roman" panose="02020603050405020304" pitchFamily="18" charset="0"/>
              </a:rPr>
              <a:t>tối</a:t>
            </a:r>
            <a:r>
              <a:rPr lang="en-US" altLang="en-US" sz="1800">
                <a:cs typeface="Times New Roman" panose="02020603050405020304" pitchFamily="18" charset="0"/>
              </a:rPr>
              <a:t> </a:t>
            </a:r>
            <a:r>
              <a:rPr lang="en-US" altLang="en-US" sz="1800" err="1">
                <a:cs typeface="Times New Roman" panose="02020603050405020304" pitchFamily="18" charset="0"/>
              </a:rPr>
              <a:t>đa</a:t>
            </a:r>
            <a:r>
              <a:rPr lang="en-US" altLang="en-US" sz="1800">
                <a:cs typeface="Times New Roman" panose="02020603050405020304" pitchFamily="18" charset="0"/>
              </a:rPr>
              <a:t> MAX </a:t>
            </a:r>
            <a:r>
              <a:rPr lang="en-US" altLang="en-US" sz="1800" err="1">
                <a:cs typeface="Times New Roman" panose="02020603050405020304" pitchFamily="18" charset="0"/>
              </a:rPr>
              <a:t>của</a:t>
            </a:r>
            <a:r>
              <a:rPr lang="en-US" altLang="en-US" sz="1800">
                <a:cs typeface="Times New Roman" panose="02020603050405020304" pitchFamily="18" charset="0"/>
              </a:rPr>
              <a:t> </a:t>
            </a:r>
            <a:r>
              <a:rPr lang="en-US" altLang="en-US" sz="1800" err="1">
                <a:cs typeface="Times New Roman" panose="02020603050405020304" pitchFamily="18" charset="0"/>
              </a:rPr>
              <a:t>danh</a:t>
            </a:r>
            <a:r>
              <a:rPr lang="en-US" altLang="en-US" sz="1800">
                <a:cs typeface="Times New Roman" panose="02020603050405020304" pitchFamily="18" charset="0"/>
              </a:rPr>
              <a:t> </a:t>
            </a:r>
            <a:r>
              <a:rPr lang="en-US" altLang="en-US" sz="1800" err="1">
                <a:cs typeface="Times New Roman" panose="02020603050405020304" pitchFamily="18" charset="0"/>
              </a:rPr>
              <a:t>sách</a:t>
            </a:r>
            <a:r>
              <a:rPr lang="en-US" altLang="en-US" sz="1800">
                <a:cs typeface="Times New Roman" panose="02020603050405020304" pitchFamily="18" charset="0"/>
              </a:rPr>
              <a:t> </a:t>
            </a:r>
          </a:p>
          <a:p>
            <a:pPr lvl="2">
              <a:spcBef>
                <a:spcPct val="10000"/>
              </a:spcBef>
            </a:pPr>
            <a:r>
              <a:rPr lang="en-US" altLang="en-US" sz="1800" err="1">
                <a:cs typeface="Times New Roman" panose="02020603050405020304" pitchFamily="18" charset="0"/>
              </a:rPr>
              <a:t>Xác</a:t>
            </a:r>
            <a:r>
              <a:rPr lang="en-US" altLang="en-US" sz="1800">
                <a:cs typeface="Times New Roman" panose="02020603050405020304" pitchFamily="18" charset="0"/>
              </a:rPr>
              <a:t> </a:t>
            </a:r>
            <a:r>
              <a:rPr lang="en-US" altLang="en-US" sz="1800" err="1">
                <a:cs typeface="Times New Roman" panose="02020603050405020304" pitchFamily="18" charset="0"/>
              </a:rPr>
              <a:t>định</a:t>
            </a:r>
            <a:r>
              <a:rPr lang="en-US" altLang="en-US" sz="1800">
                <a:cs typeface="Times New Roman" panose="02020603050405020304" pitchFamily="18" charset="0"/>
              </a:rPr>
              <a:t> </a:t>
            </a:r>
            <a:r>
              <a:rPr lang="en-US" altLang="en-US" sz="1800" err="1">
                <a:cs typeface="Times New Roman" panose="02020603050405020304" pitchFamily="18" charset="0"/>
              </a:rPr>
              <a:t>kiểu</a:t>
            </a:r>
            <a:r>
              <a:rPr lang="en-US" altLang="en-US" sz="1800">
                <a:cs typeface="Times New Roman" panose="02020603050405020304" pitchFamily="18" charset="0"/>
              </a:rPr>
              <a:t> </a:t>
            </a:r>
            <a:r>
              <a:rPr lang="en-US" altLang="en-US" sz="1800" err="1">
                <a:cs typeface="Times New Roman" panose="02020603050405020304" pitchFamily="18" charset="0"/>
              </a:rPr>
              <a:t>dữ</a:t>
            </a:r>
            <a:r>
              <a:rPr lang="en-US" altLang="en-US" sz="1800">
                <a:cs typeface="Times New Roman" panose="02020603050405020304" pitchFamily="18" charset="0"/>
              </a:rPr>
              <a:t> </a:t>
            </a:r>
            <a:r>
              <a:rPr lang="en-US" altLang="en-US" sz="1800" err="1">
                <a:cs typeface="Times New Roman" panose="02020603050405020304" pitchFamily="18" charset="0"/>
              </a:rPr>
              <a:t>liệu</a:t>
            </a:r>
            <a:r>
              <a:rPr lang="en-US" altLang="en-US" sz="1800">
                <a:cs typeface="Times New Roman" panose="02020603050405020304" pitchFamily="18" charset="0"/>
              </a:rPr>
              <a:t> D </a:t>
            </a:r>
            <a:r>
              <a:rPr lang="en-US" altLang="en-US" sz="1800" err="1">
                <a:cs typeface="Times New Roman" panose="02020603050405020304" pitchFamily="18" charset="0"/>
              </a:rPr>
              <a:t>cho</a:t>
            </a:r>
            <a:r>
              <a:rPr lang="en-US" altLang="en-US" sz="1800">
                <a:cs typeface="Times New Roman" panose="02020603050405020304" pitchFamily="18" charset="0"/>
              </a:rPr>
              <a:t> </a:t>
            </a:r>
            <a:r>
              <a:rPr lang="en-US" altLang="en-US" sz="1800" err="1">
                <a:cs typeface="Times New Roman" panose="02020603050405020304" pitchFamily="18" charset="0"/>
              </a:rPr>
              <a:t>mỗi</a:t>
            </a:r>
            <a:r>
              <a:rPr lang="en-US" altLang="en-US" sz="1800">
                <a:cs typeface="Times New Roman" panose="02020603050405020304" pitchFamily="18" charset="0"/>
              </a:rPr>
              <a:t> </a:t>
            </a:r>
            <a:r>
              <a:rPr lang="en-US" altLang="en-US" sz="1800" err="1">
                <a:cs typeface="Times New Roman" panose="02020603050405020304" pitchFamily="18" charset="0"/>
              </a:rPr>
              <a:t>phần</a:t>
            </a:r>
            <a:r>
              <a:rPr lang="en-US" altLang="en-US" sz="1800">
                <a:cs typeface="Times New Roman" panose="02020603050405020304" pitchFamily="18" charset="0"/>
              </a:rPr>
              <a:t> </a:t>
            </a:r>
            <a:r>
              <a:rPr lang="en-US" altLang="en-US" sz="1800" err="1">
                <a:cs typeface="Times New Roman" panose="02020603050405020304" pitchFamily="18" charset="0"/>
              </a:rPr>
              <a:t>tử</a:t>
            </a:r>
            <a:r>
              <a:rPr lang="en-US" altLang="en-US" sz="1800">
                <a:cs typeface="Times New Roman" panose="02020603050405020304" pitchFamily="18" charset="0"/>
              </a:rPr>
              <a:t> </a:t>
            </a:r>
            <a:r>
              <a:rPr lang="en-US" altLang="en-US" sz="1800" err="1">
                <a:cs typeface="Times New Roman" panose="02020603050405020304" pitchFamily="18" charset="0"/>
              </a:rPr>
              <a:t>của</a:t>
            </a:r>
            <a:r>
              <a:rPr lang="en-US" altLang="en-US" sz="1800">
                <a:cs typeface="Times New Roman" panose="02020603050405020304" pitchFamily="18" charset="0"/>
              </a:rPr>
              <a:t> </a:t>
            </a:r>
            <a:r>
              <a:rPr lang="en-US" altLang="en-US" sz="1800" err="1">
                <a:cs typeface="Times New Roman" panose="02020603050405020304" pitchFamily="18" charset="0"/>
              </a:rPr>
              <a:t>danh</a:t>
            </a:r>
            <a:r>
              <a:rPr lang="en-US" altLang="en-US" sz="1800">
                <a:cs typeface="Times New Roman" panose="02020603050405020304" pitchFamily="18" charset="0"/>
              </a:rPr>
              <a:t> </a:t>
            </a:r>
            <a:r>
              <a:rPr lang="en-US" altLang="en-US" sz="1800" err="1">
                <a:cs typeface="Times New Roman" panose="02020603050405020304" pitchFamily="18" charset="0"/>
              </a:rPr>
              <a:t>sách</a:t>
            </a:r>
            <a:r>
              <a:rPr lang="en-US" altLang="en-US" sz="1800">
                <a:cs typeface="Times New Roman" panose="02020603050405020304" pitchFamily="18" charset="0"/>
              </a:rPr>
              <a:t> </a:t>
            </a:r>
          </a:p>
          <a:p>
            <a:pPr lvl="2">
              <a:spcBef>
                <a:spcPct val="10000"/>
              </a:spcBef>
            </a:pPr>
            <a:r>
              <a:rPr lang="en-US" altLang="en-US" sz="1800" err="1">
                <a:cs typeface="Times New Roman" panose="02020603050405020304" pitchFamily="18" charset="0"/>
              </a:rPr>
              <a:t>Chọn</a:t>
            </a:r>
            <a:r>
              <a:rPr lang="en-US" altLang="en-US" sz="1800">
                <a:cs typeface="Times New Roman" panose="02020603050405020304" pitchFamily="18" charset="0"/>
              </a:rPr>
              <a:t> CTLT </a:t>
            </a:r>
            <a:r>
              <a:rPr lang="en-US" altLang="en-US" sz="1800" err="1">
                <a:cs typeface="Times New Roman" panose="02020603050405020304" pitchFamily="18" charset="0"/>
              </a:rPr>
              <a:t>là</a:t>
            </a:r>
            <a:r>
              <a:rPr lang="en-US" altLang="en-US" sz="1800">
                <a:cs typeface="Times New Roman" panose="02020603050405020304" pitchFamily="18" charset="0"/>
              </a:rPr>
              <a:t> </a:t>
            </a:r>
            <a:r>
              <a:rPr lang="en-US" altLang="en-US" sz="1800" err="1">
                <a:cs typeface="Times New Roman" panose="02020603050405020304" pitchFamily="18" charset="0"/>
              </a:rPr>
              <a:t>mảng</a:t>
            </a:r>
            <a:r>
              <a:rPr lang="en-US" altLang="en-US" sz="1800">
                <a:cs typeface="Times New Roman" panose="02020603050405020304" pitchFamily="18" charset="0"/>
              </a:rPr>
              <a:t> </a:t>
            </a:r>
            <a:r>
              <a:rPr lang="en-US" altLang="en-US" sz="1800" err="1">
                <a:cs typeface="Times New Roman" panose="02020603050405020304" pitchFamily="18" charset="0"/>
              </a:rPr>
              <a:t>một</a:t>
            </a:r>
            <a:r>
              <a:rPr lang="en-US" altLang="en-US" sz="1800">
                <a:cs typeface="Times New Roman" panose="02020603050405020304" pitchFamily="18" charset="0"/>
              </a:rPr>
              <a:t> </a:t>
            </a:r>
            <a:r>
              <a:rPr lang="en-US" altLang="en-US" sz="1800" err="1">
                <a:cs typeface="Times New Roman" panose="02020603050405020304" pitchFamily="18" charset="0"/>
              </a:rPr>
              <a:t>chiều</a:t>
            </a:r>
            <a:r>
              <a:rPr lang="en-US" altLang="en-US" sz="1800">
                <a:cs typeface="Times New Roman" panose="02020603050405020304" pitchFamily="18" charset="0"/>
              </a:rPr>
              <a:t> </a:t>
            </a:r>
            <a:r>
              <a:rPr lang="en-US" altLang="en-US" sz="1800" err="1">
                <a:cs typeface="Times New Roman" panose="02020603050405020304" pitchFamily="18" charset="0"/>
              </a:rPr>
              <a:t>kích</a:t>
            </a:r>
            <a:r>
              <a:rPr lang="en-US" altLang="en-US" sz="1800">
                <a:cs typeface="Times New Roman" panose="02020603050405020304" pitchFamily="18" charset="0"/>
              </a:rPr>
              <a:t> </a:t>
            </a:r>
            <a:r>
              <a:rPr lang="en-US" altLang="en-US" sz="1800" err="1">
                <a:cs typeface="Times New Roman" panose="02020603050405020304" pitchFamily="18" charset="0"/>
              </a:rPr>
              <a:t>thước</a:t>
            </a:r>
            <a:r>
              <a:rPr lang="en-US" altLang="en-US" sz="1800">
                <a:cs typeface="Times New Roman" panose="02020603050405020304" pitchFamily="18" charset="0"/>
              </a:rPr>
              <a:t> </a:t>
            </a:r>
            <a:r>
              <a:rPr lang="en-US" altLang="en-US" sz="1800" err="1">
                <a:cs typeface="Times New Roman" panose="02020603050405020304" pitchFamily="18" charset="0"/>
              </a:rPr>
              <a:t>và</a:t>
            </a:r>
            <a:r>
              <a:rPr lang="en-US" altLang="en-US" sz="1800">
                <a:cs typeface="Times New Roman" panose="02020603050405020304" pitchFamily="18" charset="0"/>
              </a:rPr>
              <a:t> </a:t>
            </a:r>
            <a:r>
              <a:rPr lang="en-US" altLang="en-US" sz="1800" err="1">
                <a:cs typeface="Times New Roman" panose="02020603050405020304" pitchFamily="18" charset="0"/>
              </a:rPr>
              <a:t>kiểu</a:t>
            </a:r>
            <a:r>
              <a:rPr lang="en-US" altLang="en-US" sz="1800">
                <a:cs typeface="Times New Roman" panose="02020603050405020304" pitchFamily="18" charset="0"/>
              </a:rPr>
              <a:t> </a:t>
            </a:r>
            <a:r>
              <a:rPr lang="en-US" altLang="en-US" sz="1800" err="1">
                <a:cs typeface="Times New Roman" panose="02020603050405020304" pitchFamily="18" charset="0"/>
              </a:rPr>
              <a:t>dữ</a:t>
            </a:r>
            <a:r>
              <a:rPr lang="en-US" altLang="en-US" sz="1800">
                <a:cs typeface="Times New Roman" panose="02020603050405020304" pitchFamily="18" charset="0"/>
              </a:rPr>
              <a:t> </a:t>
            </a:r>
            <a:r>
              <a:rPr lang="en-US" altLang="en-US" sz="1800" err="1">
                <a:cs typeface="Times New Roman" panose="02020603050405020304" pitchFamily="18" charset="0"/>
              </a:rPr>
              <a:t>liệu</a:t>
            </a:r>
            <a:r>
              <a:rPr lang="en-US" altLang="en-US" sz="1800">
                <a:cs typeface="Times New Roman" panose="02020603050405020304" pitchFamily="18" charset="0"/>
              </a:rPr>
              <a:t> </a:t>
            </a:r>
            <a:r>
              <a:rPr lang="en-US" altLang="en-US" sz="1800" err="1">
                <a:cs typeface="Times New Roman" panose="02020603050405020304" pitchFamily="18" charset="0"/>
              </a:rPr>
              <a:t>như</a:t>
            </a:r>
            <a:r>
              <a:rPr lang="en-US" altLang="en-US" sz="1800">
                <a:cs typeface="Times New Roman" panose="02020603050405020304" pitchFamily="18" charset="0"/>
              </a:rPr>
              <a:t> </a:t>
            </a:r>
            <a:r>
              <a:rPr lang="en-US" altLang="en-US" sz="1800" err="1">
                <a:cs typeface="Times New Roman" panose="02020603050405020304" pitchFamily="18" charset="0"/>
              </a:rPr>
              <a:t>đã</a:t>
            </a:r>
            <a:r>
              <a:rPr lang="en-US" altLang="en-US" sz="1800">
                <a:cs typeface="Times New Roman" panose="02020603050405020304" pitchFamily="18" charset="0"/>
              </a:rPr>
              <a:t> </a:t>
            </a:r>
            <a:r>
              <a:rPr lang="en-US" altLang="en-US" sz="1800" err="1">
                <a:cs typeface="Times New Roman" panose="02020603050405020304" pitchFamily="18" charset="0"/>
              </a:rPr>
              <a:t>chọn</a:t>
            </a:r>
            <a:endParaRPr lang="en-US" altLang="en-US" sz="1800">
              <a:cs typeface="Times New Roman" panose="02020603050405020304" pitchFamily="18" charset="0"/>
            </a:endParaRPr>
          </a:p>
          <a:p>
            <a:pPr lvl="2">
              <a:spcBef>
                <a:spcPct val="10000"/>
              </a:spcBef>
            </a:pPr>
            <a:r>
              <a:rPr lang="en-US" altLang="en-US" sz="1800">
                <a:cs typeface="Times New Roman" panose="02020603050405020304" pitchFamily="18" charset="0"/>
              </a:rPr>
              <a:t>B</a:t>
            </a:r>
            <a:r>
              <a:rPr lang="vi-VN" altLang="en-US" sz="1800">
                <a:cs typeface="Times New Roman" panose="02020603050405020304" pitchFamily="18" charset="0"/>
              </a:rPr>
              <a:t>ổ sung thêm hai</a:t>
            </a:r>
            <a:r>
              <a:rPr lang="en-US" altLang="en-US" sz="1800">
                <a:cs typeface="Times New Roman" panose="02020603050405020304" pitchFamily="18" charset="0"/>
              </a:rPr>
              <a:t> </a:t>
            </a:r>
            <a:r>
              <a:rPr lang="vi-VN" altLang="en-US" sz="1800">
                <a:cs typeface="Times New Roman" panose="02020603050405020304" pitchFamily="18" charset="0"/>
              </a:rPr>
              <a:t>con trỏ để trỏ vào hai ngăn nhớ, đáy và đỉnh của danh sách</a:t>
            </a:r>
            <a:r>
              <a:rPr lang="en-US" altLang="en-US" sz="1800">
                <a:cs typeface="Times New Roman" panose="02020603050405020304" pitchFamily="18" charset="0"/>
              </a:rPr>
              <a:t> =&gt; Hai con </a:t>
            </a:r>
            <a:r>
              <a:rPr lang="en-US" altLang="en-US" sz="1800" err="1">
                <a:cs typeface="Times New Roman" panose="02020603050405020304" pitchFamily="18" charset="0"/>
              </a:rPr>
              <a:t>trỏ</a:t>
            </a:r>
            <a:r>
              <a:rPr lang="en-US" altLang="en-US" sz="1800">
                <a:cs typeface="Times New Roman" panose="02020603050405020304" pitchFamily="18" charset="0"/>
              </a:rPr>
              <a:t> di </a:t>
            </a:r>
            <a:r>
              <a:rPr lang="en-US" altLang="en-US" sz="1800" err="1">
                <a:cs typeface="Times New Roman" panose="02020603050405020304" pitchFamily="18" charset="0"/>
              </a:rPr>
              <a:t>chuyển</a:t>
            </a:r>
            <a:r>
              <a:rPr lang="en-US" altLang="en-US" sz="1800">
                <a:cs typeface="Times New Roman" panose="02020603050405020304" pitchFamily="18" charset="0"/>
              </a:rPr>
              <a:t> </a:t>
            </a:r>
            <a:r>
              <a:rPr lang="en-US" altLang="en-US" sz="1800" err="1">
                <a:cs typeface="Times New Roman" panose="02020603050405020304" pitchFamily="18" charset="0"/>
              </a:rPr>
              <a:t>một</a:t>
            </a:r>
            <a:r>
              <a:rPr lang="en-US" altLang="en-US" sz="1800">
                <a:cs typeface="Times New Roman" panose="02020603050405020304" pitchFamily="18" charset="0"/>
              </a:rPr>
              <a:t> </a:t>
            </a:r>
            <a:r>
              <a:rPr lang="en-US" altLang="en-US" sz="1800" err="1">
                <a:cs typeface="Times New Roman" panose="02020603050405020304" pitchFamily="18" charset="0"/>
              </a:rPr>
              <a:t>cách</a:t>
            </a:r>
            <a:r>
              <a:rPr lang="en-US" altLang="en-US" sz="1800">
                <a:cs typeface="Times New Roman" panose="02020603050405020304" pitchFamily="18" charset="0"/>
              </a:rPr>
              <a:t> </a:t>
            </a:r>
            <a:r>
              <a:rPr lang="en-US" altLang="en-US" sz="1800" err="1">
                <a:cs typeface="Times New Roman" panose="02020603050405020304" pitchFamily="18" charset="0"/>
              </a:rPr>
              <a:t>thích</a:t>
            </a:r>
            <a:r>
              <a:rPr lang="en-US" altLang="en-US" sz="1800">
                <a:cs typeface="Times New Roman" panose="02020603050405020304" pitchFamily="18" charset="0"/>
              </a:rPr>
              <a:t> </a:t>
            </a:r>
            <a:r>
              <a:rPr lang="en-US" altLang="en-US" sz="1800" err="1">
                <a:cs typeface="Times New Roman" panose="02020603050405020304" pitchFamily="18" charset="0"/>
              </a:rPr>
              <a:t>hợp</a:t>
            </a:r>
            <a:r>
              <a:rPr lang="en-US" altLang="en-US" sz="1800">
                <a:cs typeface="Times New Roman" panose="02020603050405020304" pitchFamily="18" charset="0"/>
              </a:rPr>
              <a:t> </a:t>
            </a:r>
            <a:r>
              <a:rPr lang="en-US" altLang="en-US" sz="1800" err="1">
                <a:cs typeface="Times New Roman" panose="02020603050405020304" pitchFamily="18" charset="0"/>
              </a:rPr>
              <a:t>mỗi</a:t>
            </a:r>
            <a:r>
              <a:rPr lang="en-US" altLang="en-US" sz="1800">
                <a:cs typeface="Times New Roman" panose="02020603050405020304" pitchFamily="18" charset="0"/>
              </a:rPr>
              <a:t> </a:t>
            </a:r>
            <a:r>
              <a:rPr lang="en-US" altLang="en-US" sz="1800" err="1">
                <a:cs typeface="Times New Roman" panose="02020603050405020304" pitchFamily="18" charset="0"/>
              </a:rPr>
              <a:t>khi</a:t>
            </a:r>
            <a:r>
              <a:rPr lang="en-US" altLang="en-US" sz="1800">
                <a:cs typeface="Times New Roman" panose="02020603050405020304" pitchFamily="18" charset="0"/>
              </a:rPr>
              <a:t> </a:t>
            </a:r>
            <a:r>
              <a:rPr lang="en-US" altLang="en-US" sz="1800" err="1">
                <a:cs typeface="Times New Roman" panose="02020603050405020304" pitchFamily="18" charset="0"/>
              </a:rPr>
              <a:t>có</a:t>
            </a:r>
            <a:r>
              <a:rPr lang="en-US" altLang="en-US" sz="1800">
                <a:cs typeface="Times New Roman" panose="02020603050405020304" pitchFamily="18" charset="0"/>
              </a:rPr>
              <a:t> </a:t>
            </a:r>
            <a:r>
              <a:rPr lang="en-US" altLang="en-US" sz="1800" err="1">
                <a:cs typeface="Times New Roman" panose="02020603050405020304" pitchFamily="18" charset="0"/>
              </a:rPr>
              <a:t>sự</a:t>
            </a:r>
            <a:r>
              <a:rPr lang="en-US" altLang="en-US" sz="1800">
                <a:cs typeface="Times New Roman" panose="02020603050405020304" pitchFamily="18" charset="0"/>
              </a:rPr>
              <a:t> </a:t>
            </a:r>
            <a:r>
              <a:rPr lang="en-US" altLang="en-US" sz="1800" err="1">
                <a:cs typeface="Times New Roman" panose="02020603050405020304" pitchFamily="18" charset="0"/>
              </a:rPr>
              <a:t>cập</a:t>
            </a:r>
            <a:r>
              <a:rPr lang="en-US" altLang="en-US" sz="1800">
                <a:cs typeface="Times New Roman" panose="02020603050405020304" pitchFamily="18" charset="0"/>
              </a:rPr>
              <a:t> </a:t>
            </a:r>
            <a:r>
              <a:rPr lang="en-US" altLang="en-US" sz="1800" err="1">
                <a:cs typeface="Times New Roman" panose="02020603050405020304" pitchFamily="18" charset="0"/>
              </a:rPr>
              <a:t>nhật</a:t>
            </a:r>
            <a:r>
              <a:rPr lang="en-US" altLang="en-US" sz="1800">
                <a:cs typeface="Times New Roman" panose="02020603050405020304" pitchFamily="18" charset="0"/>
              </a:rPr>
              <a:t> </a:t>
            </a:r>
            <a:r>
              <a:rPr lang="en-US" altLang="en-US" sz="1800" err="1">
                <a:cs typeface="Times New Roman" panose="02020603050405020304" pitchFamily="18" charset="0"/>
              </a:rPr>
              <a:t>nội</a:t>
            </a:r>
            <a:r>
              <a:rPr lang="en-US" altLang="en-US" sz="1800">
                <a:cs typeface="Times New Roman" panose="02020603050405020304" pitchFamily="18" charset="0"/>
              </a:rPr>
              <a:t> dung </a:t>
            </a:r>
            <a:r>
              <a:rPr lang="en-US" altLang="en-US" sz="1800" err="1">
                <a:cs typeface="Times New Roman" panose="02020603050405020304" pitchFamily="18" charset="0"/>
              </a:rPr>
              <a:t>của</a:t>
            </a:r>
            <a:r>
              <a:rPr lang="en-US" altLang="en-US" sz="1800">
                <a:cs typeface="Times New Roman" panose="02020603050405020304" pitchFamily="18" charset="0"/>
              </a:rPr>
              <a:t> </a:t>
            </a:r>
            <a:r>
              <a:rPr lang="en-US" altLang="en-US" sz="1800" err="1">
                <a:cs typeface="Times New Roman" panose="02020603050405020304" pitchFamily="18" charset="0"/>
              </a:rPr>
              <a:t>danh</a:t>
            </a:r>
            <a:r>
              <a:rPr lang="en-US" altLang="en-US" sz="1800">
                <a:cs typeface="Times New Roman" panose="02020603050405020304" pitchFamily="18" charset="0"/>
              </a:rPr>
              <a:t> </a:t>
            </a:r>
            <a:r>
              <a:rPr lang="en-US" altLang="en-US" sz="1800" err="1">
                <a:cs typeface="Times New Roman" panose="02020603050405020304" pitchFamily="18" charset="0"/>
              </a:rPr>
              <a:t>sách</a:t>
            </a:r>
            <a:endParaRPr lang="en-US" altLang="en-US" sz="1800">
              <a:cs typeface="Times New Roman" panose="02020603050405020304" pitchFamily="18" charset="0"/>
            </a:endParaRPr>
          </a:p>
          <a:p>
            <a:pPr lvl="1"/>
            <a:endParaRPr lang="en-US" altLang="en-US" sz="2400"/>
          </a:p>
        </p:txBody>
      </p:sp>
      <p:sp>
        <p:nvSpPr>
          <p:cNvPr id="22534" name="Text Box 6"/>
          <p:cNvSpPr txBox="1">
            <a:spLocks noChangeArrowheads="1"/>
          </p:cNvSpPr>
          <p:nvPr/>
        </p:nvSpPr>
        <p:spPr bwMode="auto">
          <a:xfrm>
            <a:off x="1549400" y="4351592"/>
            <a:ext cx="711200" cy="433465"/>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1</a:t>
            </a:r>
            <a:endParaRPr lang="en-US" altLang="en-US" sz="2000">
              <a:latin typeface="Times New Roman" panose="02020603050405020304" pitchFamily="18" charset="0"/>
            </a:endParaRPr>
          </a:p>
        </p:txBody>
      </p:sp>
      <p:sp>
        <p:nvSpPr>
          <p:cNvPr id="22535" name="Text Box 7"/>
          <p:cNvSpPr txBox="1">
            <a:spLocks noChangeArrowheads="1"/>
          </p:cNvSpPr>
          <p:nvPr/>
        </p:nvSpPr>
        <p:spPr bwMode="auto">
          <a:xfrm>
            <a:off x="2260600" y="4351592"/>
            <a:ext cx="711200" cy="433465"/>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2</a:t>
            </a:r>
            <a:endParaRPr lang="en-US" altLang="en-US" sz="2000">
              <a:latin typeface="Times New Roman" panose="02020603050405020304" pitchFamily="18" charset="0"/>
            </a:endParaRPr>
          </a:p>
        </p:txBody>
      </p:sp>
      <p:sp>
        <p:nvSpPr>
          <p:cNvPr id="22536" name="Text Box 8"/>
          <p:cNvSpPr txBox="1">
            <a:spLocks noChangeArrowheads="1"/>
          </p:cNvSpPr>
          <p:nvPr/>
        </p:nvSpPr>
        <p:spPr bwMode="auto">
          <a:xfrm>
            <a:off x="2971800" y="4351592"/>
            <a:ext cx="711200" cy="433465"/>
          </a:xfrm>
          <a:prstGeom prst="rect">
            <a:avLst/>
          </a:prstGeom>
          <a:solidFill>
            <a:srgbClr val="FFFFFF"/>
          </a:solidFill>
          <a:ln w="9525">
            <a:solidFill>
              <a:srgbClr val="000000"/>
            </a:solidFill>
            <a:miter lim="800000"/>
            <a:headEnd/>
            <a:tailEnd/>
          </a:ln>
        </p:spPr>
        <p:txBody>
          <a:bodyPr/>
          <a:lstStyle/>
          <a:p>
            <a:pPr eaLnBrk="0" hangingPunct="0"/>
            <a:r>
              <a:rPr lang="en-US" altLang="en-US" sz="2000">
                <a:latin typeface="Times New Roman" panose="02020603050405020304" pitchFamily="18" charset="0"/>
              </a:rPr>
              <a:t>…</a:t>
            </a:r>
          </a:p>
        </p:txBody>
      </p:sp>
      <p:sp>
        <p:nvSpPr>
          <p:cNvPr id="22537" name="Text Box 9"/>
          <p:cNvSpPr txBox="1">
            <a:spLocks noChangeArrowheads="1"/>
          </p:cNvSpPr>
          <p:nvPr/>
        </p:nvSpPr>
        <p:spPr bwMode="auto">
          <a:xfrm>
            <a:off x="3683000" y="4351592"/>
            <a:ext cx="711200" cy="433465"/>
          </a:xfrm>
          <a:prstGeom prst="rect">
            <a:avLst/>
          </a:prstGeom>
          <a:solidFill>
            <a:srgbClr val="FFFFFF"/>
          </a:solidFill>
          <a:ln w="9525">
            <a:solidFill>
              <a:srgbClr val="000000"/>
            </a:solidFill>
            <a:miter lim="800000"/>
            <a:headEnd/>
            <a:tailEnd/>
          </a:ln>
        </p:spPr>
        <p:txBody>
          <a:bodyPr/>
          <a:lstStyle/>
          <a:p>
            <a:pPr eaLnBrk="0" hangingPunct="0"/>
            <a:r>
              <a:rPr lang="en-US" altLang="en-US" sz="2000">
                <a:latin typeface="Times New Roman" panose="02020603050405020304" pitchFamily="18" charset="0"/>
              </a:rPr>
              <a:t>…</a:t>
            </a:r>
          </a:p>
        </p:txBody>
      </p:sp>
      <p:sp>
        <p:nvSpPr>
          <p:cNvPr id="22538" name="Text Box 10"/>
          <p:cNvSpPr txBox="1">
            <a:spLocks noChangeArrowheads="1"/>
          </p:cNvSpPr>
          <p:nvPr/>
        </p:nvSpPr>
        <p:spPr bwMode="auto">
          <a:xfrm>
            <a:off x="4394200" y="4351592"/>
            <a:ext cx="711200" cy="433465"/>
          </a:xfrm>
          <a:prstGeom prst="rect">
            <a:avLst/>
          </a:prstGeom>
          <a:solidFill>
            <a:srgbClr val="FFFFFF"/>
          </a:solidFill>
          <a:ln w="9525" cap="rnd">
            <a:solidFill>
              <a:srgbClr val="000000"/>
            </a:solidFill>
            <a:prstDash val="sysDot"/>
            <a:miter lim="800000"/>
            <a:headEnd/>
            <a:tailEnd/>
          </a:ln>
        </p:spPr>
        <p:txBody>
          <a:bodyPr/>
          <a:lstStyle/>
          <a:p>
            <a:pPr eaLnBrk="0" hangingPunct="0"/>
            <a:r>
              <a:rPr lang="en-US" altLang="en-US" sz="2000">
                <a:latin typeface="Times New Roman" panose="02020603050405020304" pitchFamily="18" charset="0"/>
              </a:rPr>
              <a:t>…</a:t>
            </a:r>
          </a:p>
        </p:txBody>
      </p:sp>
      <p:sp>
        <p:nvSpPr>
          <p:cNvPr id="22539" name="Text Box 11"/>
          <p:cNvSpPr txBox="1">
            <a:spLocks noChangeArrowheads="1"/>
          </p:cNvSpPr>
          <p:nvPr/>
        </p:nvSpPr>
        <p:spPr bwMode="auto">
          <a:xfrm>
            <a:off x="5109104" y="4351592"/>
            <a:ext cx="711200" cy="433465"/>
          </a:xfrm>
          <a:prstGeom prst="rect">
            <a:avLst/>
          </a:prstGeom>
          <a:solidFill>
            <a:srgbClr val="FFFFFF"/>
          </a:solidFill>
          <a:ln w="9525">
            <a:solidFill>
              <a:srgbClr val="000000"/>
            </a:solidFill>
            <a:miter lim="800000"/>
            <a:headEnd/>
            <a:tailEnd/>
          </a:ln>
        </p:spPr>
        <p:txBody>
          <a:bodyPr lIns="54000" rIns="54000"/>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T-1</a:t>
            </a:r>
            <a:endParaRPr lang="en-US" altLang="en-US" sz="2000">
              <a:latin typeface="Times New Roman" panose="02020603050405020304" pitchFamily="18" charset="0"/>
            </a:endParaRPr>
          </a:p>
        </p:txBody>
      </p:sp>
      <p:sp>
        <p:nvSpPr>
          <p:cNvPr id="22540" name="Text Box 12"/>
          <p:cNvSpPr txBox="1">
            <a:spLocks noChangeArrowheads="1"/>
          </p:cNvSpPr>
          <p:nvPr/>
        </p:nvSpPr>
        <p:spPr bwMode="auto">
          <a:xfrm>
            <a:off x="5816600" y="4348049"/>
            <a:ext cx="711200" cy="437008"/>
          </a:xfrm>
          <a:prstGeom prst="rect">
            <a:avLst/>
          </a:prstGeom>
          <a:solidFill>
            <a:srgbClr val="FFFFFF"/>
          </a:solidFill>
          <a:ln w="9525">
            <a:solidFill>
              <a:srgbClr val="000000"/>
            </a:solidFill>
            <a:miter lim="800000"/>
            <a:headEnd/>
            <a:tailEnd/>
          </a:ln>
        </p:spPr>
        <p:txBody>
          <a:bodyPr/>
          <a:lstStyle/>
          <a:p>
            <a:pPr algn="ctr" eaLnBrk="0" hangingPunct="0"/>
            <a:r>
              <a:rPr lang="en-US" altLang="en-US" sz="2000">
                <a:latin typeface="Times New Roman" panose="02020603050405020304" pitchFamily="18" charset="0"/>
              </a:rPr>
              <a:t>a</a:t>
            </a:r>
            <a:r>
              <a:rPr lang="en-US" altLang="en-US" sz="2000" baseline="-25000">
                <a:latin typeface="Times New Roman" panose="02020603050405020304" pitchFamily="18" charset="0"/>
              </a:rPr>
              <a:t>T</a:t>
            </a:r>
            <a:endParaRPr lang="en-US" altLang="en-US" sz="2000">
              <a:latin typeface="Times New Roman" panose="02020603050405020304" pitchFamily="18" charset="0"/>
            </a:endParaRPr>
          </a:p>
        </p:txBody>
      </p:sp>
      <p:sp>
        <p:nvSpPr>
          <p:cNvPr id="22541" name="Text Box 13"/>
          <p:cNvSpPr txBox="1">
            <a:spLocks noChangeArrowheads="1"/>
          </p:cNvSpPr>
          <p:nvPr/>
        </p:nvSpPr>
        <p:spPr bwMode="auto">
          <a:xfrm>
            <a:off x="6527800" y="4348049"/>
            <a:ext cx="711200" cy="437008"/>
          </a:xfrm>
          <a:prstGeom prst="rect">
            <a:avLst/>
          </a:prstGeom>
          <a:solidFill>
            <a:srgbClr val="FFFFFF"/>
          </a:solidFill>
          <a:ln w="9525">
            <a:solidFill>
              <a:srgbClr val="000000"/>
            </a:solidFill>
            <a:miter lim="800000"/>
            <a:headEnd/>
            <a:tailEnd/>
          </a:ln>
        </p:spPr>
        <p:txBody>
          <a:bodyPr/>
          <a:lstStyle/>
          <a:p>
            <a:pPr eaLnBrk="0" hangingPunct="0"/>
            <a:endParaRPr lang="en-US" altLang="en-US" sz="2000">
              <a:latin typeface="Times New Roman" panose="02020603050405020304" pitchFamily="18" charset="0"/>
            </a:endParaRPr>
          </a:p>
        </p:txBody>
      </p:sp>
      <p:sp>
        <p:nvSpPr>
          <p:cNvPr id="22542" name="Text Box 14"/>
          <p:cNvSpPr txBox="1">
            <a:spLocks noChangeArrowheads="1"/>
          </p:cNvSpPr>
          <p:nvPr/>
        </p:nvSpPr>
        <p:spPr bwMode="auto">
          <a:xfrm>
            <a:off x="7239000" y="4348049"/>
            <a:ext cx="711200" cy="437008"/>
          </a:xfrm>
          <a:prstGeom prst="rect">
            <a:avLst/>
          </a:prstGeom>
          <a:solidFill>
            <a:srgbClr val="FFFFFF"/>
          </a:solidFill>
          <a:ln w="9525">
            <a:solidFill>
              <a:srgbClr val="000000"/>
            </a:solidFill>
            <a:miter lim="800000"/>
            <a:headEnd/>
            <a:tailEnd/>
          </a:ln>
        </p:spPr>
        <p:txBody>
          <a:bodyPr/>
          <a:lstStyle/>
          <a:p>
            <a:pPr eaLnBrk="0" hangingPunct="0"/>
            <a:endParaRPr lang="en-US" altLang="en-US" sz="2000">
              <a:latin typeface="Times New Roman" panose="02020603050405020304" pitchFamily="18" charset="0"/>
            </a:endParaRPr>
          </a:p>
        </p:txBody>
      </p:sp>
      <p:sp>
        <p:nvSpPr>
          <p:cNvPr id="22543" name="Text Box 15"/>
          <p:cNvSpPr txBox="1">
            <a:spLocks noChangeArrowheads="1"/>
          </p:cNvSpPr>
          <p:nvPr/>
        </p:nvSpPr>
        <p:spPr bwMode="auto">
          <a:xfrm>
            <a:off x="1549400" y="4038600"/>
            <a:ext cx="711200" cy="537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1</a:t>
            </a:r>
          </a:p>
        </p:txBody>
      </p:sp>
      <p:sp>
        <p:nvSpPr>
          <p:cNvPr id="22544" name="Text Box 16"/>
          <p:cNvSpPr txBox="1">
            <a:spLocks noChangeArrowheads="1"/>
          </p:cNvSpPr>
          <p:nvPr/>
        </p:nvSpPr>
        <p:spPr bwMode="auto">
          <a:xfrm>
            <a:off x="2260600" y="4038600"/>
            <a:ext cx="711200" cy="537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latin typeface="Times New Roman" panose="02020603050405020304" pitchFamily="18" charset="0"/>
              </a:rPr>
              <a:t>2</a:t>
            </a:r>
          </a:p>
        </p:txBody>
      </p:sp>
      <p:sp>
        <p:nvSpPr>
          <p:cNvPr id="22545" name="Text Box 17"/>
          <p:cNvSpPr txBox="1">
            <a:spLocks noChangeArrowheads="1"/>
          </p:cNvSpPr>
          <p:nvPr/>
        </p:nvSpPr>
        <p:spPr bwMode="auto">
          <a:xfrm>
            <a:off x="7239000" y="4038600"/>
            <a:ext cx="711200" cy="537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p>
            <a:pPr algn="ctr" eaLnBrk="0" hangingPunct="0"/>
            <a:r>
              <a:rPr lang="en-US" altLang="en-US" sz="2000">
                <a:latin typeface="Times New Roman" panose="02020603050405020304" pitchFamily="18" charset="0"/>
              </a:rPr>
              <a:t>MAX</a:t>
            </a:r>
          </a:p>
        </p:txBody>
      </p:sp>
      <p:sp>
        <p:nvSpPr>
          <p:cNvPr id="22546" name="Line 18"/>
          <p:cNvSpPr>
            <a:spLocks noChangeShapeType="1"/>
          </p:cNvSpPr>
          <p:nvPr/>
        </p:nvSpPr>
        <p:spPr bwMode="auto">
          <a:xfrm flipV="1">
            <a:off x="1905000" y="4785058"/>
            <a:ext cx="0" cy="34015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7" name="Line 19"/>
          <p:cNvSpPr>
            <a:spLocks noChangeShapeType="1"/>
          </p:cNvSpPr>
          <p:nvPr/>
        </p:nvSpPr>
        <p:spPr bwMode="auto">
          <a:xfrm flipV="1">
            <a:off x="6172200" y="4785058"/>
            <a:ext cx="0" cy="442914"/>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8" name="Text Box 20"/>
          <p:cNvSpPr txBox="1">
            <a:spLocks noChangeArrowheads="1"/>
          </p:cNvSpPr>
          <p:nvPr/>
        </p:nvSpPr>
        <p:spPr bwMode="auto">
          <a:xfrm>
            <a:off x="1299986" y="5201987"/>
            <a:ext cx="1900238" cy="85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r>
              <a:rPr lang="en-US" altLang="en-US" sz="2000">
                <a:solidFill>
                  <a:srgbClr val="FF0000"/>
                </a:solidFill>
                <a:latin typeface="Times New Roman" panose="02020603050405020304" pitchFamily="18" charset="0"/>
              </a:rPr>
              <a:t>B = 1 (</a:t>
            </a:r>
            <a:r>
              <a:rPr lang="en-US" altLang="en-US" sz="2000" err="1">
                <a:solidFill>
                  <a:srgbClr val="FF0000"/>
                </a:solidFill>
                <a:latin typeface="Times New Roman" panose="02020603050405020304" pitchFamily="18" charset="0"/>
              </a:rPr>
              <a:t>Đáy</a:t>
            </a:r>
            <a:r>
              <a:rPr lang="en-US" altLang="en-US" sz="2000">
                <a:solidFill>
                  <a:srgbClr val="FF0000"/>
                </a:solidFill>
                <a:latin typeface="Times New Roman" panose="02020603050405020304" pitchFamily="18" charset="0"/>
              </a:rPr>
              <a:t>)</a:t>
            </a:r>
          </a:p>
        </p:txBody>
      </p:sp>
      <p:sp>
        <p:nvSpPr>
          <p:cNvPr id="22549" name="Text Box 21"/>
          <p:cNvSpPr txBox="1">
            <a:spLocks noChangeArrowheads="1"/>
          </p:cNvSpPr>
          <p:nvPr/>
        </p:nvSpPr>
        <p:spPr bwMode="auto">
          <a:xfrm>
            <a:off x="5715353" y="5227971"/>
            <a:ext cx="1066800" cy="85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algn="ctr" eaLnBrk="0" hangingPunct="0"/>
            <a:r>
              <a:rPr lang="en-US" altLang="en-US" sz="2000">
                <a:solidFill>
                  <a:srgbClr val="FF0000"/>
                </a:solidFill>
                <a:latin typeface="Times New Roman" panose="02020603050405020304" pitchFamily="18" charset="0"/>
              </a:rPr>
              <a:t>T (</a:t>
            </a:r>
            <a:r>
              <a:rPr lang="en-US" altLang="en-US" sz="2000" err="1">
                <a:solidFill>
                  <a:srgbClr val="FF0000"/>
                </a:solidFill>
                <a:latin typeface="Times New Roman" panose="02020603050405020304" pitchFamily="18" charset="0"/>
              </a:rPr>
              <a:t>Đỉnh</a:t>
            </a:r>
            <a:r>
              <a:rPr lang="en-US" altLang="en-US" sz="2000">
                <a:solidFill>
                  <a:srgbClr val="FF0000"/>
                </a:solidFill>
                <a:latin typeface="Times New Roman" panose="02020603050405020304" pitchFamily="18" charset="0"/>
              </a:rPr>
              <a:t>)</a:t>
            </a:r>
          </a:p>
        </p:txBody>
      </p:sp>
      <p:sp>
        <p:nvSpPr>
          <p:cNvPr id="22551" name="Line 23"/>
          <p:cNvSpPr>
            <a:spLocks noChangeShapeType="1"/>
          </p:cNvSpPr>
          <p:nvPr/>
        </p:nvSpPr>
        <p:spPr bwMode="auto">
          <a:xfrm>
            <a:off x="6172200" y="5125215"/>
            <a:ext cx="711200" cy="0"/>
          </a:xfrm>
          <a:prstGeom prst="line">
            <a:avLst/>
          </a:prstGeom>
          <a:noFill/>
          <a:ln w="9525" cap="rnd">
            <a:solidFill>
              <a:srgbClr val="000000"/>
            </a:solidFill>
            <a:prstDash val="sysDot"/>
            <a:round/>
            <a:headEnd type="oval" w="med"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2552" name="Line 24"/>
          <p:cNvSpPr>
            <a:spLocks noChangeShapeType="1"/>
          </p:cNvSpPr>
          <p:nvPr/>
        </p:nvSpPr>
        <p:spPr bwMode="auto">
          <a:xfrm flipH="1">
            <a:off x="5461000" y="5125215"/>
            <a:ext cx="711200" cy="0"/>
          </a:xfrm>
          <a:prstGeom prst="line">
            <a:avLst/>
          </a:prstGeom>
          <a:noFill/>
          <a:ln w="9525" cap="rnd">
            <a:solidFill>
              <a:srgbClr val="000000"/>
            </a:solidFill>
            <a:prstDash val="sysDot"/>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2553" name="Text Box 25"/>
          <p:cNvSpPr txBox="1">
            <a:spLocks noChangeArrowheads="1"/>
          </p:cNvSpPr>
          <p:nvPr/>
        </p:nvSpPr>
        <p:spPr bwMode="auto">
          <a:xfrm>
            <a:off x="6883400" y="4955136"/>
            <a:ext cx="1066800" cy="51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algn="ctr" eaLnBrk="0" hangingPunct="0"/>
            <a:r>
              <a:rPr lang="en-US" altLang="en-US" sz="2000">
                <a:latin typeface="Times New Roman" panose="02020603050405020304" pitchFamily="18" charset="0"/>
              </a:rPr>
              <a:t>bổ sung</a:t>
            </a:r>
          </a:p>
        </p:txBody>
      </p:sp>
      <p:sp>
        <p:nvSpPr>
          <p:cNvPr id="22554" name="Text Box 26"/>
          <p:cNvSpPr txBox="1">
            <a:spLocks noChangeArrowheads="1"/>
          </p:cNvSpPr>
          <p:nvPr/>
        </p:nvSpPr>
        <p:spPr bwMode="auto">
          <a:xfrm>
            <a:off x="4394200" y="4955136"/>
            <a:ext cx="1066800" cy="51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algn="ctr" eaLnBrk="0" hangingPunct="0"/>
            <a:r>
              <a:rPr lang="en-US" altLang="en-US" sz="2000" err="1">
                <a:latin typeface="Times New Roman" panose="02020603050405020304" pitchFamily="18" charset="0"/>
              </a:rPr>
              <a:t>loại</a:t>
            </a:r>
            <a:r>
              <a:rPr lang="en-US" altLang="en-US" sz="2000">
                <a:latin typeface="Times New Roman" panose="02020603050405020304" pitchFamily="18" charset="0"/>
              </a:rPr>
              <a:t> </a:t>
            </a:r>
            <a:r>
              <a:rPr lang="en-US" altLang="en-US" sz="2000" err="1">
                <a:latin typeface="Times New Roman" panose="02020603050405020304" pitchFamily="18" charset="0"/>
              </a:rPr>
              <a:t>bỏ</a:t>
            </a:r>
            <a:endParaRPr lang="en-US" altLang="en-US" sz="2000">
              <a:latin typeface="Times New Roman" panose="02020603050405020304" pitchFamily="18" charset="0"/>
            </a:endParaRPr>
          </a:p>
        </p:txBody>
      </p:sp>
    </p:spTree>
    <p:extLst>
      <p:ext uri="{BB962C8B-B14F-4D97-AF65-F5344CB8AC3E}">
        <p14:creationId xmlns:p14="http://schemas.microsoft.com/office/powerpoint/2010/main" val="279377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5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5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5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5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5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5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5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5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54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5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5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5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55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55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5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54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54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5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4" grpId="0" animBg="1"/>
      <p:bldP spid="22535" grpId="0" animBg="1"/>
      <p:bldP spid="22536" grpId="0" animBg="1"/>
      <p:bldP spid="22537" grpId="0" animBg="1"/>
      <p:bldP spid="22538" grpId="0" animBg="1"/>
      <p:bldP spid="22539" grpId="0" animBg="1"/>
      <p:bldP spid="22540" grpId="0" animBg="1"/>
      <p:bldP spid="22541" grpId="0" animBg="1"/>
      <p:bldP spid="22542" grpId="0" animBg="1"/>
      <p:bldP spid="22543" grpId="0"/>
      <p:bldP spid="22544" grpId="0"/>
      <p:bldP spid="22545" grpId="0"/>
      <p:bldP spid="22546" grpId="0" animBg="1"/>
      <p:bldP spid="22547" grpId="0" animBg="1"/>
      <p:bldP spid="22548" grpId="0"/>
      <p:bldP spid="22549" grpId="0"/>
      <p:bldP spid="22551" grpId="0" animBg="1"/>
      <p:bldP spid="22552" grpId="0" animBg="1"/>
      <p:bldP spid="22553" grpId="0"/>
      <p:bldP spid="2255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Khai</a:t>
            </a:r>
            <a:r>
              <a:rPr lang="en-US" altLang="en-US" i="1"/>
              <a:t> </a:t>
            </a:r>
            <a:r>
              <a:rPr lang="en-US" altLang="en-US" i="1" err="1"/>
              <a:t>báo</a:t>
            </a:r>
            <a:r>
              <a:rPr lang="en-US" altLang="en-US" i="1"/>
              <a:t> </a:t>
            </a:r>
            <a:r>
              <a:rPr lang="en-US" altLang="en-US" i="1" err="1"/>
              <a:t>cấu</a:t>
            </a:r>
            <a:r>
              <a:rPr lang="en-US" altLang="en-US" i="1"/>
              <a:t> </a:t>
            </a:r>
            <a:r>
              <a:rPr lang="en-US" altLang="en-US" i="1" err="1"/>
              <a:t>trúc</a:t>
            </a:r>
            <a:endParaRPr lang="en-US" altLang="en-US" i="1"/>
          </a:p>
        </p:txBody>
      </p:sp>
      <p:sp>
        <p:nvSpPr>
          <p:cNvPr id="23555" name="Rectangle 3"/>
          <p:cNvSpPr>
            <a:spLocks noGrp="1" noChangeArrowheads="1"/>
          </p:cNvSpPr>
          <p:nvPr>
            <p:ph type="body" sz="quarter" idx="13"/>
          </p:nvPr>
        </p:nvSpPr>
        <p:spPr/>
        <p:txBody>
          <a:bodyPr>
            <a:normAutofit/>
          </a:bodyPr>
          <a:lstStyle/>
          <a:p>
            <a:r>
              <a:rPr lang="en-US" altLang="en-US" sz="2400" err="1"/>
              <a:t>Khai</a:t>
            </a:r>
            <a:r>
              <a:rPr lang="en-US" altLang="en-US" sz="2400"/>
              <a:t> </a:t>
            </a:r>
            <a:r>
              <a:rPr lang="en-US" altLang="en-US" sz="2400" err="1"/>
              <a:t>báo</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ngăn</a:t>
            </a:r>
            <a:r>
              <a:rPr lang="en-US" altLang="en-US" sz="2400"/>
              <a:t> </a:t>
            </a:r>
            <a:r>
              <a:rPr lang="en-US" altLang="en-US" sz="2400" err="1"/>
              <a:t>xếp</a:t>
            </a:r>
            <a:endParaRPr lang="en-US" altLang="en-US" sz="2400"/>
          </a:p>
          <a:p>
            <a:pPr lvl="1"/>
            <a:r>
              <a:rPr lang="en-US" altLang="en-US" sz="2000"/>
              <a:t>CTLT </a:t>
            </a:r>
            <a:r>
              <a:rPr lang="en-US" altLang="en-US" sz="2000" err="1"/>
              <a:t>tuần</a:t>
            </a:r>
            <a:r>
              <a:rPr lang="en-US" altLang="en-US" sz="2000"/>
              <a:t> </a:t>
            </a:r>
            <a:r>
              <a:rPr lang="en-US" altLang="en-US" sz="2000" err="1"/>
              <a:t>tự</a:t>
            </a:r>
            <a:r>
              <a:rPr lang="en-US" altLang="en-US" sz="2000"/>
              <a:t> </a:t>
            </a:r>
            <a:r>
              <a:rPr lang="en-US" altLang="en-US" sz="2000" err="1"/>
              <a:t>được</a:t>
            </a:r>
            <a:r>
              <a:rPr lang="en-US" altLang="en-US" sz="2000"/>
              <a:t> </a:t>
            </a:r>
            <a:r>
              <a:rPr lang="en-US" altLang="en-US" sz="2000" err="1"/>
              <a:t>thể</a:t>
            </a:r>
            <a:r>
              <a:rPr lang="en-US" altLang="en-US" sz="2000"/>
              <a:t> </a:t>
            </a:r>
            <a:r>
              <a:rPr lang="en-US" altLang="en-US" sz="2000" err="1"/>
              <a:t>hiện</a:t>
            </a:r>
            <a:r>
              <a:rPr lang="en-US" altLang="en-US" sz="2000"/>
              <a:t> qua </a:t>
            </a:r>
            <a:r>
              <a:rPr lang="en-US" altLang="en-US" sz="2000" err="1"/>
              <a:t>mảng</a:t>
            </a:r>
            <a:r>
              <a:rPr lang="en-US" altLang="en-US" sz="2000"/>
              <a:t> </a:t>
            </a:r>
            <a:r>
              <a:rPr lang="en-US" altLang="en-US" sz="2000" i="1"/>
              <a:t>info</a:t>
            </a:r>
            <a:r>
              <a:rPr lang="en-US" altLang="en-US" sz="2000"/>
              <a:t>, </a:t>
            </a:r>
          </a:p>
          <a:p>
            <a:pPr lvl="1"/>
            <a:r>
              <a:rPr lang="en-US" altLang="en-US" sz="2000" i="1"/>
              <a:t>D</a:t>
            </a:r>
            <a:r>
              <a:rPr lang="en-US" altLang="en-US" sz="2000"/>
              <a:t> </a:t>
            </a:r>
            <a:r>
              <a:rPr lang="en-US" altLang="en-US" sz="2000" err="1"/>
              <a:t>là</a:t>
            </a:r>
            <a:r>
              <a:rPr lang="en-US" altLang="en-US" sz="2000"/>
              <a:t> </a:t>
            </a:r>
            <a:r>
              <a:rPr lang="en-US" altLang="en-US" sz="2000" err="1"/>
              <a:t>kiểu</a:t>
            </a:r>
            <a:r>
              <a:rPr lang="en-US" altLang="en-US" sz="2000"/>
              <a:t> </a:t>
            </a:r>
            <a:r>
              <a:rPr lang="en-US" altLang="en-US" sz="2000" err="1"/>
              <a:t>dữ</a:t>
            </a:r>
            <a:r>
              <a:rPr lang="en-US" altLang="en-US" sz="2000"/>
              <a:t> </a:t>
            </a:r>
            <a:r>
              <a:rPr lang="en-US" altLang="en-US" sz="2000" err="1"/>
              <a:t>liệu</a:t>
            </a:r>
            <a:r>
              <a:rPr lang="en-US" altLang="en-US" sz="2000"/>
              <a:t> </a:t>
            </a:r>
            <a:r>
              <a:rPr lang="en-US" altLang="en-US" sz="2000" err="1"/>
              <a:t>của</a:t>
            </a:r>
            <a:r>
              <a:rPr lang="en-US" altLang="en-US" sz="2000"/>
              <a:t> </a:t>
            </a:r>
            <a:r>
              <a:rPr lang="en-US" altLang="en-US" sz="2000" err="1"/>
              <a:t>danh</a:t>
            </a:r>
            <a:r>
              <a:rPr lang="en-US" altLang="en-US" sz="2000"/>
              <a:t> </a:t>
            </a:r>
            <a:r>
              <a:rPr lang="en-US" altLang="en-US" sz="2000" err="1"/>
              <a:t>sách</a:t>
            </a:r>
            <a:r>
              <a:rPr lang="en-US" altLang="en-US" sz="2000"/>
              <a:t> </a:t>
            </a:r>
          </a:p>
          <a:p>
            <a:pPr lvl="1"/>
            <a:r>
              <a:rPr lang="en-US" altLang="en-US" sz="2000" i="1"/>
              <a:t>n</a:t>
            </a:r>
            <a:r>
              <a:rPr lang="en-US" altLang="en-US" sz="2000"/>
              <a:t> </a:t>
            </a:r>
            <a:r>
              <a:rPr lang="en-US" altLang="en-US" sz="2000" err="1"/>
              <a:t>là</a:t>
            </a:r>
            <a:r>
              <a:rPr lang="en-US" altLang="en-US" sz="2000"/>
              <a:t> </a:t>
            </a:r>
            <a:r>
              <a:rPr lang="en-US" altLang="en-US" sz="2000" err="1"/>
              <a:t>số</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của</a:t>
            </a:r>
            <a:r>
              <a:rPr lang="en-US" altLang="en-US" sz="2000"/>
              <a:t> </a:t>
            </a:r>
            <a:r>
              <a:rPr lang="en-US" altLang="en-US" sz="2000" err="1"/>
              <a:t>ngăn</a:t>
            </a:r>
            <a:r>
              <a:rPr lang="en-US" altLang="en-US" sz="2000"/>
              <a:t> </a:t>
            </a:r>
            <a:r>
              <a:rPr lang="en-US" altLang="en-US" sz="2000" err="1"/>
              <a:t>xếp</a:t>
            </a:r>
            <a:r>
              <a:rPr lang="en-US" altLang="en-US" sz="2000"/>
              <a:t>. </a:t>
            </a:r>
          </a:p>
          <a:p>
            <a:pPr lvl="1"/>
            <a:r>
              <a:rPr lang="en-US" altLang="en-US" sz="2000" err="1"/>
              <a:t>Đỉnh</a:t>
            </a:r>
            <a:r>
              <a:rPr lang="en-US" altLang="en-US" sz="2000"/>
              <a:t> </a:t>
            </a:r>
            <a:r>
              <a:rPr lang="en-US" altLang="en-US" sz="2000" err="1"/>
              <a:t>của</a:t>
            </a:r>
            <a:r>
              <a:rPr lang="en-US" altLang="en-US" sz="2000"/>
              <a:t> </a:t>
            </a:r>
            <a:r>
              <a:rPr lang="en-US" altLang="en-US" sz="2000" err="1"/>
              <a:t>ngăn</a:t>
            </a:r>
            <a:r>
              <a:rPr lang="en-US" altLang="en-US" sz="2000"/>
              <a:t> </a:t>
            </a:r>
            <a:r>
              <a:rPr lang="en-US" altLang="en-US" sz="2000" err="1"/>
              <a:t>xếp</a:t>
            </a:r>
            <a:r>
              <a:rPr lang="en-US" altLang="en-US" sz="2000"/>
              <a:t> </a:t>
            </a:r>
            <a:r>
              <a:rPr lang="en-US" altLang="en-US" sz="2000" err="1"/>
              <a:t>sẽ</a:t>
            </a:r>
            <a:r>
              <a:rPr lang="en-US" altLang="en-US" sz="2000"/>
              <a:t> ở </a:t>
            </a:r>
            <a:r>
              <a:rPr lang="en-US" altLang="en-US" sz="2000" err="1"/>
              <a:t>vị</a:t>
            </a:r>
            <a:r>
              <a:rPr lang="en-US" altLang="en-US" sz="2000"/>
              <a:t> </a:t>
            </a:r>
            <a:r>
              <a:rPr lang="en-US" altLang="en-US" sz="2000" err="1"/>
              <a:t>trí</a:t>
            </a:r>
            <a:r>
              <a:rPr lang="en-US" altLang="en-US" sz="2000"/>
              <a:t> </a:t>
            </a:r>
            <a:r>
              <a:rPr lang="en-US" altLang="en-US" sz="2000" i="1"/>
              <a:t>n-1</a:t>
            </a:r>
          </a:p>
        </p:txBody>
      </p:sp>
      <p:sp>
        <p:nvSpPr>
          <p:cNvPr id="23556" name="AutoShape 4"/>
          <p:cNvSpPr>
            <a:spLocks noChangeArrowheads="1"/>
          </p:cNvSpPr>
          <p:nvPr/>
        </p:nvSpPr>
        <p:spPr bwMode="auto">
          <a:xfrm>
            <a:off x="914400" y="2946408"/>
            <a:ext cx="2286000" cy="1524000"/>
          </a:xfrm>
          <a:prstGeom prst="roundRect">
            <a:avLst>
              <a:gd name="adj" fmla="val 16667"/>
            </a:avLst>
          </a:prstGeom>
          <a:noFill/>
          <a:ln w="9525">
            <a:solidFill>
              <a:schemeClr val="tx1"/>
            </a:solidFill>
            <a:round/>
            <a:headEnd/>
            <a:tailEnd/>
          </a:ln>
          <a:effectLst/>
        </p:spPr>
        <p:txBody>
          <a:bodyPr wrap="none" anchor="ctr"/>
          <a:lstStyle/>
          <a:p>
            <a:r>
              <a:rPr lang="en-US" altLang="en-US" sz="2000" err="1"/>
              <a:t>typedef</a:t>
            </a:r>
            <a:r>
              <a:rPr lang="en-US" altLang="en-US" sz="2000"/>
              <a:t>  </a:t>
            </a:r>
            <a:r>
              <a:rPr lang="en-US" altLang="en-US" sz="2000" err="1"/>
              <a:t>struct</a:t>
            </a:r>
            <a:r>
              <a:rPr lang="en-US" altLang="en-US" sz="2000"/>
              <a:t>  {</a:t>
            </a:r>
          </a:p>
          <a:p>
            <a:r>
              <a:rPr lang="en-US" altLang="en-US" sz="2000"/>
              <a:t>   D  info [MAX];  </a:t>
            </a:r>
          </a:p>
          <a:p>
            <a:r>
              <a:rPr lang="en-US" altLang="en-US" sz="2000"/>
              <a:t>   unsigned </a:t>
            </a:r>
            <a:r>
              <a:rPr lang="en-US" altLang="en-US" sz="2000" err="1"/>
              <a:t>int</a:t>
            </a:r>
            <a:r>
              <a:rPr lang="en-US" altLang="en-US" sz="2000"/>
              <a:t> n;</a:t>
            </a:r>
          </a:p>
          <a:p>
            <a:r>
              <a:rPr lang="en-US" altLang="en-US" sz="2000"/>
              <a:t>}  Stack;</a:t>
            </a:r>
          </a:p>
        </p:txBody>
      </p:sp>
      <p:sp>
        <p:nvSpPr>
          <p:cNvPr id="6" name="TextBox 5"/>
          <p:cNvSpPr txBox="1"/>
          <p:nvPr/>
        </p:nvSpPr>
        <p:spPr>
          <a:xfrm>
            <a:off x="914400" y="4497416"/>
            <a:ext cx="2895600" cy="923330"/>
          </a:xfrm>
          <a:prstGeom prst="rect">
            <a:avLst/>
          </a:prstGeom>
          <a:noFill/>
        </p:spPr>
        <p:txBody>
          <a:bodyPr wrap="square" rtlCol="0">
            <a:spAutoFit/>
          </a:bodyPr>
          <a:lstStyle/>
          <a:p>
            <a:r>
              <a:rPr lang="en-US"/>
              <a:t>// </a:t>
            </a:r>
            <a:r>
              <a:rPr lang="en-US" err="1"/>
              <a:t>Chú</a:t>
            </a:r>
            <a:r>
              <a:rPr lang="en-US"/>
              <a:t> ý </a:t>
            </a:r>
            <a:r>
              <a:rPr lang="en-US" err="1"/>
              <a:t>phân</a:t>
            </a:r>
            <a:r>
              <a:rPr lang="en-US"/>
              <a:t> </a:t>
            </a:r>
            <a:r>
              <a:rPr lang="en-US" err="1"/>
              <a:t>biệt</a:t>
            </a:r>
            <a:r>
              <a:rPr lang="en-US"/>
              <a:t> </a:t>
            </a:r>
            <a:r>
              <a:rPr lang="en-US" err="1"/>
              <a:t>số</a:t>
            </a:r>
            <a:r>
              <a:rPr lang="en-US"/>
              <a:t> </a:t>
            </a:r>
            <a:r>
              <a:rPr lang="en-US" err="1"/>
              <a:t>lượng</a:t>
            </a:r>
            <a:r>
              <a:rPr lang="en-US"/>
              <a:t> </a:t>
            </a:r>
            <a:r>
              <a:rPr lang="en-US" err="1"/>
              <a:t>phần</a:t>
            </a:r>
            <a:r>
              <a:rPr lang="en-US"/>
              <a:t> </a:t>
            </a:r>
            <a:r>
              <a:rPr lang="en-US" err="1"/>
              <a:t>tử</a:t>
            </a:r>
            <a:r>
              <a:rPr lang="en-US"/>
              <a:t> </a:t>
            </a:r>
            <a:r>
              <a:rPr lang="en-US" i="1"/>
              <a:t>n </a:t>
            </a:r>
            <a:r>
              <a:rPr lang="en-US" err="1"/>
              <a:t>và</a:t>
            </a:r>
            <a:r>
              <a:rPr lang="en-US"/>
              <a:t> </a:t>
            </a:r>
            <a:r>
              <a:rPr lang="en-US" err="1"/>
              <a:t>chỉ</a:t>
            </a:r>
            <a:r>
              <a:rPr lang="en-US"/>
              <a:t> </a:t>
            </a:r>
            <a:r>
              <a:rPr lang="en-US" err="1"/>
              <a:t>số</a:t>
            </a:r>
            <a:r>
              <a:rPr lang="en-US"/>
              <a:t> </a:t>
            </a:r>
            <a:r>
              <a:rPr lang="en-US" err="1"/>
              <a:t>của</a:t>
            </a:r>
            <a:r>
              <a:rPr lang="en-US"/>
              <a:t> </a:t>
            </a:r>
            <a:r>
              <a:rPr lang="en-US" err="1"/>
              <a:t>phần</a:t>
            </a:r>
            <a:r>
              <a:rPr lang="en-US"/>
              <a:t> </a:t>
            </a:r>
            <a:r>
              <a:rPr lang="en-US" err="1"/>
              <a:t>tử</a:t>
            </a:r>
            <a:r>
              <a:rPr lang="en-US"/>
              <a:t> </a:t>
            </a:r>
            <a:r>
              <a:rPr lang="en-US" err="1"/>
              <a:t>trong</a:t>
            </a:r>
            <a:r>
              <a:rPr lang="en-US"/>
              <a:t> </a:t>
            </a:r>
            <a:r>
              <a:rPr lang="en-US" err="1"/>
              <a:t>mảng</a:t>
            </a:r>
            <a:endParaRPr lang="en-US"/>
          </a:p>
        </p:txBody>
      </p:sp>
      <p:pic>
        <p:nvPicPr>
          <p:cNvPr id="5" name="Picture 4"/>
          <p:cNvPicPr>
            <a:picLocks noChangeAspect="1"/>
          </p:cNvPicPr>
          <p:nvPr/>
        </p:nvPicPr>
        <p:blipFill>
          <a:blip r:embed="rId2"/>
          <a:stretch>
            <a:fillRect/>
          </a:stretch>
        </p:blipFill>
        <p:spPr>
          <a:xfrm>
            <a:off x="4489449" y="3030361"/>
            <a:ext cx="3962953" cy="1467055"/>
          </a:xfrm>
          <a:prstGeom prst="rect">
            <a:avLst/>
          </a:prstGeom>
        </p:spPr>
      </p:pic>
      <p:sp>
        <p:nvSpPr>
          <p:cNvPr id="7" name="TextBox 6"/>
          <p:cNvSpPr txBox="1"/>
          <p:nvPr/>
        </p:nvSpPr>
        <p:spPr>
          <a:xfrm>
            <a:off x="4499095" y="2661029"/>
            <a:ext cx="2069862" cy="369332"/>
          </a:xfrm>
          <a:prstGeom prst="rect">
            <a:avLst/>
          </a:prstGeom>
          <a:noFill/>
        </p:spPr>
        <p:txBody>
          <a:bodyPr wrap="none" rtlCol="0">
            <a:spAutoFit/>
          </a:bodyPr>
          <a:lstStyle/>
          <a:p>
            <a:r>
              <a:rPr lang="en-US" i="1"/>
              <a:t>// </a:t>
            </a:r>
            <a:r>
              <a:rPr lang="en-US" i="1" err="1"/>
              <a:t>Triển</a:t>
            </a:r>
            <a:r>
              <a:rPr lang="en-US" i="1"/>
              <a:t> </a:t>
            </a:r>
            <a:r>
              <a:rPr lang="en-US" i="1" err="1"/>
              <a:t>khai</a:t>
            </a:r>
            <a:r>
              <a:rPr lang="en-US" i="1"/>
              <a:t> </a:t>
            </a:r>
            <a:r>
              <a:rPr lang="en-US" i="1" err="1"/>
              <a:t>trên</a:t>
            </a:r>
            <a:r>
              <a:rPr lang="en-US" i="1"/>
              <a:t> C</a:t>
            </a:r>
          </a:p>
        </p:txBody>
      </p:sp>
    </p:spTree>
    <p:extLst>
      <p:ext uri="{BB962C8B-B14F-4D97-AF65-F5344CB8AC3E}">
        <p14:creationId xmlns:p14="http://schemas.microsoft.com/office/powerpoint/2010/main" val="233593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nimBg="1"/>
      <p:bldP spid="6"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Khai</a:t>
            </a:r>
            <a:r>
              <a:rPr lang="en-US" altLang="en-US" i="1"/>
              <a:t> </a:t>
            </a:r>
            <a:r>
              <a:rPr lang="en-US" altLang="en-US" i="1" err="1"/>
              <a:t>báo</a:t>
            </a:r>
            <a:r>
              <a:rPr lang="en-US" altLang="en-US" i="1"/>
              <a:t> </a:t>
            </a:r>
            <a:r>
              <a:rPr lang="en-US" altLang="en-US" i="1" err="1"/>
              <a:t>cấu</a:t>
            </a:r>
            <a:r>
              <a:rPr lang="en-US" altLang="en-US" i="1"/>
              <a:t> </a:t>
            </a:r>
            <a:r>
              <a:rPr lang="en-US" altLang="en-US" i="1" err="1"/>
              <a:t>trúc</a:t>
            </a:r>
            <a:endParaRPr lang="en-US" altLang="en-US"/>
          </a:p>
        </p:txBody>
      </p:sp>
      <p:sp>
        <p:nvSpPr>
          <p:cNvPr id="24579" name="Rectangle 3"/>
          <p:cNvSpPr>
            <a:spLocks noGrp="1" noChangeArrowheads="1"/>
          </p:cNvSpPr>
          <p:nvPr>
            <p:ph type="body" sz="quarter" idx="13"/>
          </p:nvPr>
        </p:nvSpPr>
        <p:spPr/>
        <p:txBody>
          <a:bodyPr/>
          <a:lstStyle/>
          <a:p>
            <a:pPr>
              <a:lnSpc>
                <a:spcPct val="80000"/>
              </a:lnSpc>
            </a:pPr>
            <a:r>
              <a:rPr lang="en-US" altLang="en-US" sz="2600" err="1"/>
              <a:t>Trạng</a:t>
            </a:r>
            <a:r>
              <a:rPr lang="en-US" altLang="en-US" sz="2600"/>
              <a:t> </a:t>
            </a:r>
            <a:r>
              <a:rPr lang="en-US" altLang="en-US" sz="2600" err="1"/>
              <a:t>thái</a:t>
            </a:r>
            <a:r>
              <a:rPr lang="en-US" altLang="en-US" sz="2600"/>
              <a:t> </a:t>
            </a:r>
            <a:r>
              <a:rPr lang="en-US" altLang="en-US" sz="2600" err="1"/>
              <a:t>của</a:t>
            </a:r>
            <a:r>
              <a:rPr lang="en-US" altLang="en-US" sz="2600"/>
              <a:t> </a:t>
            </a:r>
            <a:r>
              <a:rPr lang="en-US" altLang="en-US" sz="2600" err="1"/>
              <a:t>ngăn</a:t>
            </a:r>
            <a:r>
              <a:rPr lang="en-US" altLang="en-US" sz="2600"/>
              <a:t> </a:t>
            </a:r>
            <a:r>
              <a:rPr lang="en-US" altLang="en-US" sz="2600" err="1"/>
              <a:t>xếp</a:t>
            </a:r>
            <a:r>
              <a:rPr lang="en-US" altLang="en-US" sz="2600"/>
              <a:t> ở 1 </a:t>
            </a:r>
            <a:r>
              <a:rPr lang="en-US" altLang="en-US" sz="2600" err="1"/>
              <a:t>thời</a:t>
            </a:r>
            <a:r>
              <a:rPr lang="en-US" altLang="en-US" sz="2600"/>
              <a:t> </a:t>
            </a:r>
            <a:r>
              <a:rPr lang="en-US" altLang="en-US" sz="2600" err="1"/>
              <a:t>điểm</a:t>
            </a:r>
            <a:r>
              <a:rPr lang="en-US" altLang="en-US" sz="2600"/>
              <a:t>: </a:t>
            </a:r>
          </a:p>
          <a:p>
            <a:pPr lvl="1"/>
            <a:r>
              <a:rPr lang="en-US" altLang="en-US" sz="2200" err="1"/>
              <a:t>Rỗng</a:t>
            </a:r>
            <a:r>
              <a:rPr lang="en-US" altLang="en-US" sz="2200"/>
              <a:t> (</a:t>
            </a:r>
            <a:r>
              <a:rPr lang="en-US" altLang="en-US" sz="2200" i="1"/>
              <a:t>empty</a:t>
            </a:r>
            <a:r>
              <a:rPr lang="en-US" altLang="en-US" sz="2200"/>
              <a:t>): n=0</a:t>
            </a:r>
          </a:p>
          <a:p>
            <a:pPr lvl="2"/>
            <a:r>
              <a:rPr lang="en-US" altLang="en-US" sz="1900" err="1"/>
              <a:t>Không</a:t>
            </a:r>
            <a:r>
              <a:rPr lang="en-US" altLang="en-US" sz="1900"/>
              <a:t> </a:t>
            </a:r>
            <a:r>
              <a:rPr lang="en-US" altLang="en-US" sz="1900" err="1"/>
              <a:t>thể</a:t>
            </a:r>
            <a:r>
              <a:rPr lang="en-US" altLang="en-US" sz="1900"/>
              <a:t> </a:t>
            </a:r>
            <a:r>
              <a:rPr lang="en-US" altLang="en-US" sz="1900" err="1"/>
              <a:t>loại</a:t>
            </a:r>
            <a:r>
              <a:rPr lang="en-US" altLang="en-US" sz="1900"/>
              <a:t> </a:t>
            </a:r>
            <a:r>
              <a:rPr lang="en-US" altLang="en-US" sz="1900" err="1"/>
              <a:t>bỏ</a:t>
            </a:r>
            <a:r>
              <a:rPr lang="en-US" altLang="en-US" sz="1900"/>
              <a:t> </a:t>
            </a:r>
            <a:r>
              <a:rPr lang="en-US" altLang="en-US" sz="1900" err="1"/>
              <a:t>phần</a:t>
            </a:r>
            <a:r>
              <a:rPr lang="en-US" altLang="en-US" sz="1900"/>
              <a:t> </a:t>
            </a:r>
            <a:r>
              <a:rPr lang="en-US" altLang="en-US" sz="1900" err="1"/>
              <a:t>tử</a:t>
            </a:r>
            <a:endParaRPr lang="en-US" altLang="en-US" sz="1900"/>
          </a:p>
          <a:p>
            <a:pPr lvl="1"/>
            <a:r>
              <a:rPr lang="en-US" altLang="en-US" sz="2200" err="1"/>
              <a:t>Đầy</a:t>
            </a:r>
            <a:r>
              <a:rPr lang="en-US" altLang="en-US" sz="2200"/>
              <a:t> (</a:t>
            </a:r>
            <a:r>
              <a:rPr lang="en-US" altLang="en-US" sz="2200" i="1"/>
              <a:t>full</a:t>
            </a:r>
            <a:r>
              <a:rPr lang="en-US" altLang="en-US" sz="2200"/>
              <a:t>): n=MAX. </a:t>
            </a:r>
          </a:p>
          <a:p>
            <a:pPr lvl="2"/>
            <a:r>
              <a:rPr lang="en-US" altLang="en-US" sz="1900" err="1"/>
              <a:t>Không</a:t>
            </a:r>
            <a:r>
              <a:rPr lang="en-US" altLang="en-US" sz="1900"/>
              <a:t> </a:t>
            </a:r>
            <a:r>
              <a:rPr lang="en-US" altLang="en-US" sz="1900" err="1"/>
              <a:t>thể</a:t>
            </a:r>
            <a:r>
              <a:rPr lang="en-US" altLang="en-US" sz="1900"/>
              <a:t> </a:t>
            </a:r>
            <a:r>
              <a:rPr lang="en-US" altLang="en-US" sz="1900" err="1"/>
              <a:t>bổ</a:t>
            </a:r>
            <a:r>
              <a:rPr lang="en-US" altLang="en-US" sz="1900"/>
              <a:t> sung </a:t>
            </a:r>
            <a:r>
              <a:rPr lang="en-US" altLang="en-US" sz="1900" err="1"/>
              <a:t>phần</a:t>
            </a:r>
            <a:r>
              <a:rPr lang="en-US" altLang="en-US" sz="1900"/>
              <a:t> </a:t>
            </a:r>
            <a:r>
              <a:rPr lang="en-US" altLang="en-US" sz="1900" err="1"/>
              <a:t>tử</a:t>
            </a:r>
            <a:endParaRPr lang="en-US" altLang="en-US" sz="1900"/>
          </a:p>
          <a:p>
            <a:pPr lvl="1"/>
            <a:r>
              <a:rPr lang="en-US" altLang="en-US" sz="2200" err="1"/>
              <a:t>Bình</a:t>
            </a:r>
            <a:r>
              <a:rPr lang="en-US" altLang="en-US" sz="2200"/>
              <a:t> </a:t>
            </a:r>
            <a:r>
              <a:rPr lang="en-US" altLang="en-US" sz="2200" err="1"/>
              <a:t>thường</a:t>
            </a:r>
            <a:r>
              <a:rPr lang="en-US" altLang="en-US" sz="2200"/>
              <a:t> (</a:t>
            </a:r>
            <a:r>
              <a:rPr lang="en-US" altLang="en-US" sz="2200" i="1"/>
              <a:t>normal</a:t>
            </a:r>
            <a:r>
              <a:rPr lang="en-US" altLang="en-US" sz="2200"/>
              <a:t>): </a:t>
            </a:r>
            <a:r>
              <a:rPr lang="en-US" altLang="en-US" sz="2200" err="1"/>
              <a:t>trạng</a:t>
            </a:r>
            <a:r>
              <a:rPr lang="en-US" altLang="en-US" sz="2200"/>
              <a:t> </a:t>
            </a:r>
            <a:r>
              <a:rPr lang="en-US" altLang="en-US" sz="2200" err="1"/>
              <a:t>thái</a:t>
            </a:r>
            <a:r>
              <a:rPr lang="en-US" altLang="en-US" sz="2200"/>
              <a:t> </a:t>
            </a:r>
            <a:r>
              <a:rPr lang="en-US" altLang="en-US" sz="2200" err="1"/>
              <a:t>không</a:t>
            </a:r>
            <a:r>
              <a:rPr lang="en-US" altLang="en-US" sz="2200"/>
              <a:t> </a:t>
            </a:r>
            <a:r>
              <a:rPr lang="en-US" altLang="en-US" sz="2200" err="1"/>
              <a:t>rỗng</a:t>
            </a:r>
            <a:r>
              <a:rPr lang="en-US" altLang="en-US" sz="2200"/>
              <a:t> </a:t>
            </a:r>
            <a:r>
              <a:rPr lang="en-US" altLang="en-US" sz="2200" err="1"/>
              <a:t>mà</a:t>
            </a:r>
            <a:r>
              <a:rPr lang="en-US" altLang="en-US" sz="2200"/>
              <a:t> </a:t>
            </a:r>
            <a:r>
              <a:rPr lang="en-US" altLang="en-US" sz="2200" err="1"/>
              <a:t>cũng</a:t>
            </a:r>
            <a:r>
              <a:rPr lang="en-US" altLang="en-US" sz="2200"/>
              <a:t> </a:t>
            </a:r>
            <a:r>
              <a:rPr lang="en-US" altLang="en-US" sz="2200" err="1"/>
              <a:t>không</a:t>
            </a:r>
            <a:r>
              <a:rPr lang="en-US" altLang="en-US" sz="2200"/>
              <a:t> </a:t>
            </a:r>
            <a:r>
              <a:rPr lang="en-US" altLang="en-US" sz="2200" err="1"/>
              <a:t>đầy</a:t>
            </a:r>
            <a:r>
              <a:rPr lang="en-US" altLang="en-US" sz="2200"/>
              <a:t>. </a:t>
            </a:r>
          </a:p>
          <a:p>
            <a:pPr lvl="2"/>
            <a:r>
              <a:rPr lang="en-US" altLang="en-US" sz="1900" err="1"/>
              <a:t>Có</a:t>
            </a:r>
            <a:r>
              <a:rPr lang="en-US" altLang="en-US" sz="1900"/>
              <a:t> </a:t>
            </a:r>
            <a:r>
              <a:rPr lang="en-US" altLang="en-US" sz="1900" err="1"/>
              <a:t>thể</a:t>
            </a:r>
            <a:r>
              <a:rPr lang="en-US" altLang="en-US" sz="1900"/>
              <a:t> </a:t>
            </a:r>
            <a:r>
              <a:rPr lang="en-US" altLang="en-US" sz="1900" err="1"/>
              <a:t>thực</a:t>
            </a:r>
            <a:r>
              <a:rPr lang="en-US" altLang="en-US" sz="1900"/>
              <a:t> </a:t>
            </a:r>
            <a:r>
              <a:rPr lang="en-US" altLang="en-US" sz="1900" err="1"/>
              <a:t>hiện</a:t>
            </a:r>
            <a:r>
              <a:rPr lang="en-US" altLang="en-US" sz="1900"/>
              <a:t> </a:t>
            </a:r>
            <a:r>
              <a:rPr lang="en-US" altLang="en-US" sz="1900" err="1"/>
              <a:t>thao</a:t>
            </a:r>
            <a:r>
              <a:rPr lang="en-US" altLang="en-US" sz="1900"/>
              <a:t> </a:t>
            </a:r>
            <a:r>
              <a:rPr lang="en-US" altLang="en-US" sz="1900" err="1"/>
              <a:t>tác</a:t>
            </a:r>
            <a:r>
              <a:rPr lang="en-US" altLang="en-US" sz="1900"/>
              <a:t> </a:t>
            </a:r>
            <a:r>
              <a:rPr lang="en-US" altLang="en-US" sz="1900" err="1"/>
              <a:t>bổ</a:t>
            </a:r>
            <a:r>
              <a:rPr lang="en-US" altLang="en-US" sz="1900"/>
              <a:t> sung </a:t>
            </a:r>
            <a:r>
              <a:rPr lang="en-US" altLang="en-US" sz="1900" err="1"/>
              <a:t>và</a:t>
            </a:r>
            <a:r>
              <a:rPr lang="en-US" altLang="en-US" sz="1900"/>
              <a:t> </a:t>
            </a:r>
            <a:r>
              <a:rPr lang="en-US" altLang="en-US" sz="1900" err="1"/>
              <a:t>loại</a:t>
            </a:r>
            <a:r>
              <a:rPr lang="en-US" altLang="en-US" sz="1900"/>
              <a:t> </a:t>
            </a:r>
            <a:r>
              <a:rPr lang="en-US" altLang="en-US" sz="1900" err="1"/>
              <a:t>bỏ</a:t>
            </a:r>
            <a:r>
              <a:rPr lang="en-US" altLang="en-US" sz="1900"/>
              <a:t> </a:t>
            </a:r>
          </a:p>
        </p:txBody>
      </p:sp>
    </p:spTree>
    <p:extLst>
      <p:ext uri="{BB962C8B-B14F-4D97-AF65-F5344CB8AC3E}">
        <p14:creationId xmlns:p14="http://schemas.microsoft.com/office/powerpoint/2010/main" val="320414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7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ltLang="en-US"/>
          </a:p>
        </p:txBody>
      </p:sp>
      <p:sp>
        <p:nvSpPr>
          <p:cNvPr id="25603" name="Rectangle 3"/>
          <p:cNvSpPr>
            <a:spLocks noGrp="1" noChangeArrowheads="1"/>
          </p:cNvSpPr>
          <p:nvPr>
            <p:ph type="body" sz="quarter" idx="13"/>
          </p:nvPr>
        </p:nvSpPr>
        <p:spPr/>
        <p:txBody>
          <a:bodyPr>
            <a:normAutofit/>
          </a:bodyPr>
          <a:lstStyle/>
          <a:p>
            <a:pPr lvl="1"/>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thao</a:t>
            </a:r>
            <a:r>
              <a:rPr lang="en-US" altLang="en-US" sz="2400">
                <a:cs typeface="Times New Roman" panose="02020603050405020304" pitchFamily="18" charset="0"/>
              </a:rPr>
              <a:t> </a:t>
            </a:r>
            <a:r>
              <a:rPr lang="en-US" altLang="en-US" sz="2400" err="1">
                <a:cs typeface="Times New Roman" panose="02020603050405020304" pitchFamily="18" charset="0"/>
              </a:rPr>
              <a:t>tác</a:t>
            </a:r>
            <a:r>
              <a:rPr lang="en-US" altLang="en-US" sz="2400">
                <a:cs typeface="Times New Roman" panose="02020603050405020304" pitchFamily="18" charset="0"/>
              </a:rPr>
              <a:t> </a:t>
            </a:r>
            <a:r>
              <a:rPr lang="en-US" altLang="en-US" sz="2400" err="1">
                <a:cs typeface="Times New Roman" panose="02020603050405020304" pitchFamily="18" charset="0"/>
              </a:rPr>
              <a:t>cơ</a:t>
            </a:r>
            <a:r>
              <a:rPr lang="en-US" altLang="en-US" sz="2400">
                <a:cs typeface="Times New Roman" panose="02020603050405020304" pitchFamily="18" charset="0"/>
              </a:rPr>
              <a:t> </a:t>
            </a:r>
            <a:r>
              <a:rPr lang="en-US" altLang="en-US" sz="2400" err="1">
                <a:cs typeface="Times New Roman" panose="02020603050405020304" pitchFamily="18" charset="0"/>
              </a:rPr>
              <a:t>bản</a:t>
            </a:r>
            <a:r>
              <a:rPr lang="en-US" altLang="en-US" sz="2400">
                <a:cs typeface="Times New Roman" panose="02020603050405020304" pitchFamily="18" charset="0"/>
              </a:rPr>
              <a:t>:</a:t>
            </a:r>
            <a:endParaRPr lang="en-US" altLang="en-US" sz="2400"/>
          </a:p>
        </p:txBody>
      </p:sp>
      <p:sp>
        <p:nvSpPr>
          <p:cNvPr id="25604" name="Rectangle 4"/>
          <p:cNvSpPr>
            <a:spLocks noChangeArrowheads="1"/>
          </p:cNvSpPr>
          <p:nvPr/>
        </p:nvSpPr>
        <p:spPr bwMode="auto">
          <a:xfrm>
            <a:off x="3429000" y="1225375"/>
            <a:ext cx="4343400" cy="10160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r>
              <a:rPr lang="en-US" altLang="en-US" sz="2000"/>
              <a:t>void </a:t>
            </a:r>
            <a:r>
              <a:rPr lang="en-US" altLang="en-US" sz="2000" b="1" i="1"/>
              <a:t>Initialize</a:t>
            </a:r>
            <a:r>
              <a:rPr lang="en-US" altLang="en-US" sz="2000"/>
              <a:t> (Stack *S){</a:t>
            </a:r>
          </a:p>
          <a:p>
            <a:pPr algn="just"/>
            <a:r>
              <a:rPr lang="en-US" altLang="en-US" sz="2000"/>
              <a:t>	</a:t>
            </a:r>
            <a:r>
              <a:rPr lang="en-US" altLang="en-US" sz="2000" err="1"/>
              <a:t>S</a:t>
            </a:r>
            <a:r>
              <a:rPr lang="en-US" altLang="en-US" sz="2000" err="1">
                <a:sym typeface="Wingdings" panose="05000000000000000000" pitchFamily="2" charset="2"/>
              </a:rPr>
              <a:t></a:t>
            </a:r>
            <a:r>
              <a:rPr lang="en-US" altLang="en-US" sz="2000" err="1"/>
              <a:t>n</a:t>
            </a:r>
            <a:r>
              <a:rPr lang="en-US" altLang="en-US" sz="2000"/>
              <a:t> = 0 ;</a:t>
            </a:r>
          </a:p>
          <a:p>
            <a:pPr algn="just"/>
            <a:r>
              <a:rPr lang="en-US" altLang="en-US" sz="2000"/>
              <a:t>}</a:t>
            </a:r>
          </a:p>
        </p:txBody>
      </p:sp>
      <p:pic>
        <p:nvPicPr>
          <p:cNvPr id="3" name="Picture 2"/>
          <p:cNvPicPr>
            <a:picLocks noChangeAspect="1"/>
          </p:cNvPicPr>
          <p:nvPr/>
        </p:nvPicPr>
        <p:blipFill>
          <a:blip r:embed="rId2"/>
          <a:stretch>
            <a:fillRect/>
          </a:stretch>
        </p:blipFill>
        <p:spPr>
          <a:xfrm>
            <a:off x="822087" y="3915294"/>
            <a:ext cx="7315200" cy="2200722"/>
          </a:xfrm>
          <a:prstGeom prst="rect">
            <a:avLst/>
          </a:prstGeom>
        </p:spPr>
      </p:pic>
      <p:sp>
        <p:nvSpPr>
          <p:cNvPr id="8" name="TextBox 7"/>
          <p:cNvSpPr txBox="1"/>
          <p:nvPr/>
        </p:nvSpPr>
        <p:spPr>
          <a:xfrm>
            <a:off x="685800" y="2692360"/>
            <a:ext cx="2069862" cy="369332"/>
          </a:xfrm>
          <a:prstGeom prst="rect">
            <a:avLst/>
          </a:prstGeom>
          <a:noFill/>
        </p:spPr>
        <p:txBody>
          <a:bodyPr wrap="none" rtlCol="0">
            <a:spAutoFit/>
          </a:bodyPr>
          <a:lstStyle/>
          <a:p>
            <a:r>
              <a:rPr lang="en-US" i="1"/>
              <a:t>// </a:t>
            </a:r>
            <a:r>
              <a:rPr lang="en-US" i="1" err="1"/>
              <a:t>Triển</a:t>
            </a:r>
            <a:r>
              <a:rPr lang="en-US" i="1"/>
              <a:t> </a:t>
            </a:r>
            <a:r>
              <a:rPr lang="en-US" i="1" err="1"/>
              <a:t>khai</a:t>
            </a:r>
            <a:r>
              <a:rPr lang="en-US" i="1"/>
              <a:t> </a:t>
            </a:r>
            <a:r>
              <a:rPr lang="en-US" i="1" err="1"/>
              <a:t>trên</a:t>
            </a:r>
            <a:r>
              <a:rPr lang="en-US" i="1"/>
              <a:t> C</a:t>
            </a:r>
          </a:p>
        </p:txBody>
      </p:sp>
      <p:pic>
        <p:nvPicPr>
          <p:cNvPr id="7" name="Picture 6"/>
          <p:cNvPicPr>
            <a:picLocks noChangeAspect="1"/>
          </p:cNvPicPr>
          <p:nvPr/>
        </p:nvPicPr>
        <p:blipFill>
          <a:blip r:embed="rId3"/>
          <a:stretch>
            <a:fillRect/>
          </a:stretch>
        </p:blipFill>
        <p:spPr>
          <a:xfrm>
            <a:off x="831612" y="3005409"/>
            <a:ext cx="2374899" cy="879169"/>
          </a:xfrm>
          <a:prstGeom prst="rect">
            <a:avLst/>
          </a:prstGeom>
        </p:spPr>
      </p:pic>
      <p:sp>
        <p:nvSpPr>
          <p:cNvPr id="9" name="Rectangle 8"/>
          <p:cNvSpPr/>
          <p:nvPr/>
        </p:nvSpPr>
        <p:spPr>
          <a:xfrm>
            <a:off x="1230086" y="4696167"/>
            <a:ext cx="6211336" cy="1217756"/>
          </a:xfrm>
          <a:prstGeom prst="rect">
            <a:avLst/>
          </a:prstGeom>
          <a:solidFill>
            <a:srgbClr val="323232"/>
          </a:solidFill>
          <a:ln>
            <a:solidFill>
              <a:srgbClr val="32323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p:cNvSpPr/>
          <p:nvPr/>
        </p:nvSpPr>
        <p:spPr>
          <a:xfrm>
            <a:off x="1295400" y="1327299"/>
            <a:ext cx="1600200" cy="954107"/>
          </a:xfrm>
          <a:prstGeom prst="rect">
            <a:avLst/>
          </a:prstGeom>
        </p:spPr>
        <p:txBody>
          <a:bodyPr wrap="square">
            <a:spAutoFit/>
          </a:bodyPr>
          <a:lstStyle/>
          <a:p>
            <a:r>
              <a:rPr lang="en-US" altLang="en-US" sz="1400" err="1"/>
              <a:t>typedef</a:t>
            </a:r>
            <a:r>
              <a:rPr lang="en-US" altLang="en-US" sz="1400"/>
              <a:t>  </a:t>
            </a:r>
            <a:r>
              <a:rPr lang="en-US" altLang="en-US" sz="1400" err="1"/>
              <a:t>struct</a:t>
            </a:r>
            <a:r>
              <a:rPr lang="en-US" altLang="en-US" sz="1400"/>
              <a:t>  {</a:t>
            </a:r>
          </a:p>
          <a:p>
            <a:r>
              <a:rPr lang="en-US" altLang="en-US" sz="1400"/>
              <a:t>   D  info [MAX];  </a:t>
            </a:r>
          </a:p>
          <a:p>
            <a:r>
              <a:rPr lang="en-US" altLang="en-US" sz="1400"/>
              <a:t>   unsigned </a:t>
            </a:r>
            <a:r>
              <a:rPr lang="en-US" altLang="en-US" sz="1400" err="1"/>
              <a:t>int</a:t>
            </a:r>
            <a:r>
              <a:rPr lang="en-US" altLang="en-US" sz="1400"/>
              <a:t> n;</a:t>
            </a:r>
          </a:p>
          <a:p>
            <a:r>
              <a:rPr lang="en-US" altLang="en-US" sz="1400"/>
              <a:t>}  Stack;</a:t>
            </a:r>
            <a:endParaRPr lang="en-US" sz="1400"/>
          </a:p>
        </p:txBody>
      </p:sp>
    </p:spTree>
    <p:extLst>
      <p:ext uri="{BB962C8B-B14F-4D97-AF65-F5344CB8AC3E}">
        <p14:creationId xmlns:p14="http://schemas.microsoft.com/office/powerpoint/2010/main" val="317501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ltLang="en-US"/>
          </a:p>
        </p:txBody>
      </p:sp>
      <p:sp>
        <p:nvSpPr>
          <p:cNvPr id="25603" name="Rectangle 3"/>
          <p:cNvSpPr>
            <a:spLocks noGrp="1" noChangeArrowheads="1"/>
          </p:cNvSpPr>
          <p:nvPr>
            <p:ph type="body" sz="quarter" idx="13"/>
          </p:nvPr>
        </p:nvSpPr>
        <p:spPr/>
        <p:txBody>
          <a:bodyPr>
            <a:normAutofit/>
          </a:bodyPr>
          <a:lstStyle/>
          <a:p>
            <a:pPr lvl="1"/>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thao</a:t>
            </a:r>
            <a:r>
              <a:rPr lang="en-US" altLang="en-US" sz="2400">
                <a:cs typeface="Times New Roman" panose="02020603050405020304" pitchFamily="18" charset="0"/>
              </a:rPr>
              <a:t> </a:t>
            </a:r>
            <a:r>
              <a:rPr lang="en-US" altLang="en-US" sz="2400" err="1">
                <a:cs typeface="Times New Roman" panose="02020603050405020304" pitchFamily="18" charset="0"/>
              </a:rPr>
              <a:t>tác</a:t>
            </a:r>
            <a:r>
              <a:rPr lang="en-US" altLang="en-US" sz="2400">
                <a:cs typeface="Times New Roman" panose="02020603050405020304" pitchFamily="18" charset="0"/>
              </a:rPr>
              <a:t> </a:t>
            </a:r>
            <a:r>
              <a:rPr lang="en-US" altLang="en-US" sz="2400" err="1">
                <a:cs typeface="Times New Roman" panose="02020603050405020304" pitchFamily="18" charset="0"/>
              </a:rPr>
              <a:t>cơ</a:t>
            </a:r>
            <a:r>
              <a:rPr lang="en-US" altLang="en-US" sz="2400">
                <a:cs typeface="Times New Roman" panose="02020603050405020304" pitchFamily="18" charset="0"/>
              </a:rPr>
              <a:t> </a:t>
            </a:r>
            <a:r>
              <a:rPr lang="en-US" altLang="en-US" sz="2400" err="1">
                <a:cs typeface="Times New Roman" panose="02020603050405020304" pitchFamily="18" charset="0"/>
              </a:rPr>
              <a:t>bản</a:t>
            </a:r>
            <a:r>
              <a:rPr lang="en-US" altLang="en-US" sz="2400">
                <a:cs typeface="Times New Roman" panose="02020603050405020304" pitchFamily="18" charset="0"/>
              </a:rPr>
              <a:t>:</a:t>
            </a:r>
            <a:endParaRPr lang="en-US" altLang="en-US" sz="2400"/>
          </a:p>
        </p:txBody>
      </p:sp>
      <p:sp>
        <p:nvSpPr>
          <p:cNvPr id="25605" name="Rectangle 5"/>
          <p:cNvSpPr>
            <a:spLocks noChangeArrowheads="1"/>
          </p:cNvSpPr>
          <p:nvPr/>
        </p:nvSpPr>
        <p:spPr bwMode="auto">
          <a:xfrm>
            <a:off x="3429000" y="1341502"/>
            <a:ext cx="4343400" cy="13208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r>
              <a:rPr lang="en-US" altLang="en-US" sz="2000"/>
              <a:t>bool </a:t>
            </a:r>
            <a:r>
              <a:rPr lang="en-US" altLang="en-US" sz="2000" b="1" i="1" err="1"/>
              <a:t>IsEmpty</a:t>
            </a:r>
            <a:r>
              <a:rPr lang="en-US" altLang="en-US" sz="2000"/>
              <a:t> (Stack *S){</a:t>
            </a:r>
          </a:p>
          <a:p>
            <a:pPr algn="just"/>
            <a:r>
              <a:rPr lang="en-US" altLang="en-US" sz="2000"/>
              <a:t>	if (</a:t>
            </a:r>
            <a:r>
              <a:rPr lang="en-US" altLang="en-US" sz="2000" err="1"/>
              <a:t>S</a:t>
            </a:r>
            <a:r>
              <a:rPr lang="en-US" altLang="en-US" sz="2000" err="1">
                <a:sym typeface="Wingdings" panose="05000000000000000000" pitchFamily="2" charset="2"/>
              </a:rPr>
              <a:t></a:t>
            </a:r>
            <a:r>
              <a:rPr lang="en-US" altLang="en-US" sz="2000" err="1"/>
              <a:t>n</a:t>
            </a:r>
            <a:r>
              <a:rPr lang="en-US" altLang="en-US" sz="2000"/>
              <a:t> == 0) return true;</a:t>
            </a:r>
          </a:p>
          <a:p>
            <a:pPr algn="just"/>
            <a:r>
              <a:rPr lang="en-US" altLang="en-US" sz="2000"/>
              <a:t>	else return false;</a:t>
            </a:r>
          </a:p>
          <a:p>
            <a:pPr algn="just"/>
            <a:r>
              <a:rPr lang="en-US" altLang="en-US" sz="2000"/>
              <a:t>}</a:t>
            </a:r>
          </a:p>
        </p:txBody>
      </p:sp>
      <p:sp>
        <p:nvSpPr>
          <p:cNvPr id="25606" name="Rectangle 6"/>
          <p:cNvSpPr>
            <a:spLocks noChangeArrowheads="1"/>
          </p:cNvSpPr>
          <p:nvPr/>
        </p:nvSpPr>
        <p:spPr bwMode="auto">
          <a:xfrm>
            <a:off x="3352800" y="3429000"/>
            <a:ext cx="4343400" cy="13208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lvl="1"/>
            <a:r>
              <a:rPr lang="en-US" altLang="en-US" sz="2000"/>
              <a:t>bool </a:t>
            </a:r>
            <a:r>
              <a:rPr lang="en-US" altLang="en-US" sz="2000" b="1" i="1" err="1"/>
              <a:t>IsFull</a:t>
            </a:r>
            <a:r>
              <a:rPr lang="en-US" altLang="en-US" sz="2000"/>
              <a:t> (Stack *S){</a:t>
            </a:r>
          </a:p>
          <a:p>
            <a:pPr lvl="1"/>
            <a:r>
              <a:rPr lang="en-US" altLang="en-US" sz="2000"/>
              <a:t>	if (</a:t>
            </a:r>
            <a:r>
              <a:rPr lang="en-US" altLang="en-US" sz="2000" err="1"/>
              <a:t>S</a:t>
            </a:r>
            <a:r>
              <a:rPr lang="en-US" altLang="en-US" sz="2000" err="1">
                <a:sym typeface="Wingdings" panose="05000000000000000000" pitchFamily="2" charset="2"/>
              </a:rPr>
              <a:t></a:t>
            </a:r>
            <a:r>
              <a:rPr lang="en-US" altLang="en-US" sz="2000" err="1"/>
              <a:t>n</a:t>
            </a:r>
            <a:r>
              <a:rPr lang="en-US" altLang="en-US" sz="2000"/>
              <a:t> == MAX) return true;</a:t>
            </a:r>
          </a:p>
          <a:p>
            <a:pPr lvl="1"/>
            <a:r>
              <a:rPr lang="en-US" altLang="en-US" sz="2000"/>
              <a:t>	else return false;</a:t>
            </a:r>
          </a:p>
          <a:p>
            <a:pPr lvl="1"/>
            <a:r>
              <a:rPr lang="en-US" altLang="en-US" sz="2000"/>
              <a:t>}</a:t>
            </a:r>
          </a:p>
        </p:txBody>
      </p:sp>
      <p:sp>
        <p:nvSpPr>
          <p:cNvPr id="10" name="Rectangle 9"/>
          <p:cNvSpPr/>
          <p:nvPr/>
        </p:nvSpPr>
        <p:spPr>
          <a:xfrm>
            <a:off x="1295400" y="1327299"/>
            <a:ext cx="1600200" cy="954107"/>
          </a:xfrm>
          <a:prstGeom prst="rect">
            <a:avLst/>
          </a:prstGeom>
        </p:spPr>
        <p:txBody>
          <a:bodyPr wrap="square">
            <a:spAutoFit/>
          </a:bodyPr>
          <a:lstStyle/>
          <a:p>
            <a:r>
              <a:rPr lang="en-US" altLang="en-US" sz="1400" err="1"/>
              <a:t>typedef</a:t>
            </a:r>
            <a:r>
              <a:rPr lang="en-US" altLang="en-US" sz="1400"/>
              <a:t>  </a:t>
            </a:r>
            <a:r>
              <a:rPr lang="en-US" altLang="en-US" sz="1400" err="1"/>
              <a:t>struct</a:t>
            </a:r>
            <a:r>
              <a:rPr lang="en-US" altLang="en-US" sz="1400"/>
              <a:t>  {</a:t>
            </a:r>
          </a:p>
          <a:p>
            <a:r>
              <a:rPr lang="en-US" altLang="en-US" sz="1400"/>
              <a:t>   D  info [MAX];  </a:t>
            </a:r>
          </a:p>
          <a:p>
            <a:r>
              <a:rPr lang="en-US" altLang="en-US" sz="1400"/>
              <a:t>   unsigned </a:t>
            </a:r>
            <a:r>
              <a:rPr lang="en-US" altLang="en-US" sz="1400" err="1"/>
              <a:t>int</a:t>
            </a:r>
            <a:r>
              <a:rPr lang="en-US" altLang="en-US" sz="1400"/>
              <a:t> n;</a:t>
            </a:r>
          </a:p>
          <a:p>
            <a:r>
              <a:rPr lang="en-US" altLang="en-US" sz="1400"/>
              <a:t>}  Stack;</a:t>
            </a:r>
            <a:endParaRPr lang="en-US" sz="1400"/>
          </a:p>
        </p:txBody>
      </p:sp>
    </p:spTree>
    <p:extLst>
      <p:ext uri="{BB962C8B-B14F-4D97-AF65-F5344CB8AC3E}">
        <p14:creationId xmlns:p14="http://schemas.microsoft.com/office/powerpoint/2010/main" val="302774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ltLang="en-US"/>
          </a:p>
        </p:txBody>
      </p:sp>
      <p:sp>
        <p:nvSpPr>
          <p:cNvPr id="25603" name="Rectangle 3"/>
          <p:cNvSpPr>
            <a:spLocks noGrp="1" noChangeArrowheads="1"/>
          </p:cNvSpPr>
          <p:nvPr>
            <p:ph type="body" sz="quarter" idx="13"/>
          </p:nvPr>
        </p:nvSpPr>
        <p:spPr/>
        <p:txBody>
          <a:bodyPr>
            <a:normAutofit/>
          </a:bodyPr>
          <a:lstStyle/>
          <a:p>
            <a:pPr lvl="1"/>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thao</a:t>
            </a:r>
            <a:r>
              <a:rPr lang="en-US" altLang="en-US" sz="2400">
                <a:cs typeface="Times New Roman" panose="02020603050405020304" pitchFamily="18" charset="0"/>
              </a:rPr>
              <a:t> </a:t>
            </a:r>
            <a:r>
              <a:rPr lang="en-US" altLang="en-US" sz="2400" err="1">
                <a:cs typeface="Times New Roman" panose="02020603050405020304" pitchFamily="18" charset="0"/>
              </a:rPr>
              <a:t>tác</a:t>
            </a:r>
            <a:r>
              <a:rPr lang="en-US" altLang="en-US" sz="2400">
                <a:cs typeface="Times New Roman" panose="02020603050405020304" pitchFamily="18" charset="0"/>
              </a:rPr>
              <a:t> </a:t>
            </a:r>
            <a:r>
              <a:rPr lang="en-US" altLang="en-US" sz="2400" err="1">
                <a:cs typeface="Times New Roman" panose="02020603050405020304" pitchFamily="18" charset="0"/>
              </a:rPr>
              <a:t>cơ</a:t>
            </a:r>
            <a:r>
              <a:rPr lang="en-US" altLang="en-US" sz="2400">
                <a:cs typeface="Times New Roman" panose="02020603050405020304" pitchFamily="18" charset="0"/>
              </a:rPr>
              <a:t> </a:t>
            </a:r>
            <a:r>
              <a:rPr lang="en-US" altLang="en-US" sz="2400" err="1">
                <a:cs typeface="Times New Roman" panose="02020603050405020304" pitchFamily="18" charset="0"/>
              </a:rPr>
              <a:t>bản</a:t>
            </a:r>
            <a:r>
              <a:rPr lang="en-US" altLang="en-US" sz="2400">
                <a:cs typeface="Times New Roman" panose="02020603050405020304" pitchFamily="18" charset="0"/>
              </a:rPr>
              <a:t>:</a:t>
            </a:r>
            <a:endParaRPr lang="en-US" altLang="en-US" sz="2400"/>
          </a:p>
        </p:txBody>
      </p:sp>
      <p:pic>
        <p:nvPicPr>
          <p:cNvPr id="4" name="Picture 3"/>
          <p:cNvPicPr>
            <a:picLocks noChangeAspect="1"/>
          </p:cNvPicPr>
          <p:nvPr/>
        </p:nvPicPr>
        <p:blipFill>
          <a:blip r:embed="rId2"/>
          <a:stretch>
            <a:fillRect/>
          </a:stretch>
        </p:blipFill>
        <p:spPr>
          <a:xfrm>
            <a:off x="1285875" y="2996647"/>
            <a:ext cx="5944430" cy="2676899"/>
          </a:xfrm>
          <a:prstGeom prst="rect">
            <a:avLst/>
          </a:prstGeom>
        </p:spPr>
      </p:pic>
      <p:sp>
        <p:nvSpPr>
          <p:cNvPr id="7" name="TextBox 6"/>
          <p:cNvSpPr txBox="1"/>
          <p:nvPr/>
        </p:nvSpPr>
        <p:spPr>
          <a:xfrm>
            <a:off x="1295400" y="1447800"/>
            <a:ext cx="2069862" cy="369332"/>
          </a:xfrm>
          <a:prstGeom prst="rect">
            <a:avLst/>
          </a:prstGeom>
          <a:noFill/>
        </p:spPr>
        <p:txBody>
          <a:bodyPr wrap="none" rtlCol="0">
            <a:spAutoFit/>
          </a:bodyPr>
          <a:lstStyle/>
          <a:p>
            <a:r>
              <a:rPr lang="en-US" i="1"/>
              <a:t>// </a:t>
            </a:r>
            <a:r>
              <a:rPr lang="en-US" i="1" err="1"/>
              <a:t>Triển</a:t>
            </a:r>
            <a:r>
              <a:rPr lang="en-US" i="1"/>
              <a:t> </a:t>
            </a:r>
            <a:r>
              <a:rPr lang="en-US" i="1" err="1"/>
              <a:t>khai</a:t>
            </a:r>
            <a:r>
              <a:rPr lang="en-US" i="1"/>
              <a:t> </a:t>
            </a:r>
            <a:r>
              <a:rPr lang="en-US" i="1" err="1"/>
              <a:t>trên</a:t>
            </a:r>
            <a:r>
              <a:rPr lang="en-US" i="1"/>
              <a:t> C</a:t>
            </a:r>
          </a:p>
        </p:txBody>
      </p:sp>
      <p:sp>
        <p:nvSpPr>
          <p:cNvPr id="2" name="Rectangle 1"/>
          <p:cNvSpPr/>
          <p:nvPr/>
        </p:nvSpPr>
        <p:spPr>
          <a:xfrm>
            <a:off x="1705390" y="3497781"/>
            <a:ext cx="5029200" cy="655508"/>
          </a:xfrm>
          <a:prstGeom prst="rect">
            <a:avLst/>
          </a:prstGeom>
          <a:solidFill>
            <a:srgbClr val="323232"/>
          </a:solidFill>
          <a:ln>
            <a:solidFill>
              <a:srgbClr val="32323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p:cNvSpPr/>
          <p:nvPr/>
        </p:nvSpPr>
        <p:spPr>
          <a:xfrm>
            <a:off x="1705390" y="4869381"/>
            <a:ext cx="5029200" cy="655508"/>
          </a:xfrm>
          <a:prstGeom prst="rect">
            <a:avLst/>
          </a:prstGeom>
          <a:solidFill>
            <a:srgbClr val="323232"/>
          </a:solidFill>
          <a:ln>
            <a:solidFill>
              <a:srgbClr val="32323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1295400" y="1817132"/>
            <a:ext cx="2374899" cy="879169"/>
          </a:xfrm>
          <a:prstGeom prst="rect">
            <a:avLst/>
          </a:prstGeom>
        </p:spPr>
      </p:pic>
    </p:spTree>
    <p:extLst>
      <p:ext uri="{BB962C8B-B14F-4D97-AF65-F5344CB8AC3E}">
        <p14:creationId xmlns:p14="http://schemas.microsoft.com/office/powerpoint/2010/main" val="278461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ltLang="en-US"/>
          </a:p>
        </p:txBody>
      </p:sp>
      <p:sp>
        <p:nvSpPr>
          <p:cNvPr id="27651" name="Rectangle 3"/>
          <p:cNvSpPr>
            <a:spLocks noGrp="1" noChangeArrowheads="1"/>
          </p:cNvSpPr>
          <p:nvPr>
            <p:ph type="body" sz="quarter" idx="13"/>
          </p:nvPr>
        </p:nvSpPr>
        <p:spPr/>
        <p:txBody>
          <a:bodyPr/>
          <a:lstStyle/>
          <a:p>
            <a:pPr lvl="1"/>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thao</a:t>
            </a:r>
            <a:r>
              <a:rPr lang="en-US" altLang="en-US" sz="2400">
                <a:cs typeface="Times New Roman" panose="02020603050405020304" pitchFamily="18" charset="0"/>
              </a:rPr>
              <a:t> </a:t>
            </a:r>
            <a:r>
              <a:rPr lang="en-US" altLang="en-US" sz="2400" err="1">
                <a:cs typeface="Times New Roman" panose="02020603050405020304" pitchFamily="18" charset="0"/>
              </a:rPr>
              <a:t>tác</a:t>
            </a:r>
            <a:r>
              <a:rPr lang="en-US" altLang="en-US" sz="2400">
                <a:cs typeface="Times New Roman" panose="02020603050405020304" pitchFamily="18" charset="0"/>
              </a:rPr>
              <a:t> </a:t>
            </a:r>
            <a:r>
              <a:rPr lang="en-US" altLang="en-US" sz="2400" err="1">
                <a:cs typeface="Times New Roman" panose="02020603050405020304" pitchFamily="18" charset="0"/>
              </a:rPr>
              <a:t>cơ</a:t>
            </a:r>
            <a:r>
              <a:rPr lang="en-US" altLang="en-US" sz="2400">
                <a:cs typeface="Times New Roman" panose="02020603050405020304" pitchFamily="18" charset="0"/>
              </a:rPr>
              <a:t> </a:t>
            </a:r>
            <a:r>
              <a:rPr lang="en-US" altLang="en-US" sz="2400" err="1">
                <a:cs typeface="Times New Roman" panose="02020603050405020304" pitchFamily="18" charset="0"/>
              </a:rPr>
              <a:t>bản</a:t>
            </a:r>
            <a:r>
              <a:rPr lang="en-US" altLang="en-US" sz="2400">
                <a:cs typeface="Times New Roman" panose="02020603050405020304" pitchFamily="18" charset="0"/>
              </a:rPr>
              <a:t>:</a:t>
            </a:r>
            <a:endParaRPr lang="en-US" altLang="en-US"/>
          </a:p>
        </p:txBody>
      </p:sp>
      <p:sp>
        <p:nvSpPr>
          <p:cNvPr id="27652" name="Rectangle 4"/>
          <p:cNvSpPr>
            <a:spLocks noChangeArrowheads="1"/>
          </p:cNvSpPr>
          <p:nvPr/>
        </p:nvSpPr>
        <p:spPr bwMode="auto">
          <a:xfrm>
            <a:off x="4114800" y="1076525"/>
            <a:ext cx="4267200" cy="16312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r>
              <a:rPr lang="en-US" altLang="en-US" sz="2000"/>
              <a:t>void </a:t>
            </a:r>
            <a:r>
              <a:rPr lang="en-US" altLang="en-US" sz="2000" b="1" i="1"/>
              <a:t>Push</a:t>
            </a:r>
            <a:r>
              <a:rPr lang="en-US" altLang="en-US" sz="2000"/>
              <a:t> (D </a:t>
            </a:r>
            <a:r>
              <a:rPr lang="en-US" altLang="en-US" sz="2000" i="1"/>
              <a:t>K</a:t>
            </a:r>
            <a:r>
              <a:rPr lang="en-US" altLang="en-US" sz="2000"/>
              <a:t>, Stack *S){</a:t>
            </a:r>
          </a:p>
          <a:p>
            <a:pPr algn="just"/>
            <a:r>
              <a:rPr lang="en-US" altLang="en-US" sz="2000"/>
              <a:t>	if (</a:t>
            </a:r>
            <a:r>
              <a:rPr lang="en-US" altLang="en-US" sz="2000" err="1"/>
              <a:t>IsFull</a:t>
            </a:r>
            <a:r>
              <a:rPr lang="en-US" altLang="en-US" sz="2000"/>
              <a:t>(S)) return;</a:t>
            </a:r>
          </a:p>
          <a:p>
            <a:pPr algn="just"/>
            <a:r>
              <a:rPr lang="en-US" altLang="en-US" sz="2000"/>
              <a:t>	</a:t>
            </a:r>
            <a:r>
              <a:rPr lang="en-US" altLang="en-US" sz="2000" err="1"/>
              <a:t>S</a:t>
            </a:r>
            <a:r>
              <a:rPr lang="en-US" altLang="en-US" sz="2000" err="1">
                <a:sym typeface="Wingdings" panose="05000000000000000000" pitchFamily="2" charset="2"/>
              </a:rPr>
              <a:t></a:t>
            </a:r>
            <a:r>
              <a:rPr lang="en-US" altLang="en-US" sz="2000" err="1"/>
              <a:t>n</a:t>
            </a:r>
            <a:r>
              <a:rPr lang="en-US" altLang="en-US" sz="2000"/>
              <a:t>++;</a:t>
            </a:r>
          </a:p>
          <a:p>
            <a:pPr algn="just"/>
            <a:r>
              <a:rPr lang="en-US" altLang="en-US" sz="2000"/>
              <a:t>	</a:t>
            </a:r>
            <a:r>
              <a:rPr lang="en-US" altLang="en-US" sz="2000" err="1"/>
              <a:t>S</a:t>
            </a:r>
            <a:r>
              <a:rPr lang="en-US" altLang="en-US" sz="2000" err="1">
                <a:sym typeface="Wingdings" panose="05000000000000000000" pitchFamily="2" charset="2"/>
              </a:rPr>
              <a:t></a:t>
            </a:r>
            <a:r>
              <a:rPr lang="en-US" altLang="en-US" sz="2000" err="1"/>
              <a:t>info</a:t>
            </a:r>
            <a:r>
              <a:rPr lang="en-US" altLang="en-US" sz="2000"/>
              <a:t>[</a:t>
            </a:r>
            <a:r>
              <a:rPr lang="en-US" altLang="en-US" sz="2000" err="1"/>
              <a:t>S</a:t>
            </a:r>
            <a:r>
              <a:rPr lang="en-US" altLang="en-US" sz="2000" err="1">
                <a:sym typeface="Wingdings" panose="05000000000000000000" pitchFamily="2" charset="2"/>
              </a:rPr>
              <a:t></a:t>
            </a:r>
            <a:r>
              <a:rPr lang="en-US" altLang="en-US" sz="2000" err="1"/>
              <a:t>n</a:t>
            </a:r>
            <a:r>
              <a:rPr lang="en-US" altLang="en-US" sz="2000"/>
              <a:t>] = K;</a:t>
            </a:r>
          </a:p>
          <a:p>
            <a:pPr algn="just"/>
            <a:r>
              <a:rPr lang="en-US" altLang="en-US" sz="2000"/>
              <a:t>}</a:t>
            </a:r>
          </a:p>
        </p:txBody>
      </p:sp>
      <p:sp>
        <p:nvSpPr>
          <p:cNvPr id="27653" name="Rectangle 5"/>
          <p:cNvSpPr>
            <a:spLocks noChangeArrowheads="1"/>
          </p:cNvSpPr>
          <p:nvPr/>
        </p:nvSpPr>
        <p:spPr bwMode="auto">
          <a:xfrm>
            <a:off x="4086225" y="2965451"/>
            <a:ext cx="4267200" cy="132343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r>
              <a:rPr lang="en-US" altLang="en-US" sz="2000"/>
              <a:t>D </a:t>
            </a:r>
            <a:r>
              <a:rPr lang="en-US" altLang="en-US" sz="2000" b="1" i="1"/>
              <a:t>Pop</a:t>
            </a:r>
            <a:r>
              <a:rPr lang="en-US" altLang="en-US" sz="2000"/>
              <a:t> (Stack *S){</a:t>
            </a:r>
          </a:p>
          <a:p>
            <a:pPr algn="just"/>
            <a:r>
              <a:rPr lang="en-US" altLang="en-US" sz="2000"/>
              <a:t>	if (</a:t>
            </a:r>
            <a:r>
              <a:rPr lang="en-US" altLang="en-US" sz="2000" err="1"/>
              <a:t>IsEmpty</a:t>
            </a:r>
            <a:r>
              <a:rPr lang="en-US" altLang="en-US" sz="2000"/>
              <a:t>(S)) return NULL;</a:t>
            </a:r>
          </a:p>
          <a:p>
            <a:pPr algn="just"/>
            <a:r>
              <a:rPr lang="en-US" altLang="en-US" sz="2000"/>
              <a:t>	return </a:t>
            </a:r>
            <a:r>
              <a:rPr lang="en-US" altLang="en-US" sz="2000" err="1"/>
              <a:t>S</a:t>
            </a:r>
            <a:r>
              <a:rPr lang="en-US" altLang="en-US" sz="2000" err="1">
                <a:sym typeface="Wingdings" panose="05000000000000000000" pitchFamily="2" charset="2"/>
              </a:rPr>
              <a:t></a:t>
            </a:r>
            <a:r>
              <a:rPr lang="en-US" altLang="en-US" sz="2000" err="1"/>
              <a:t>info</a:t>
            </a:r>
            <a:r>
              <a:rPr lang="en-US" altLang="en-US" sz="2000"/>
              <a:t>[</a:t>
            </a:r>
            <a:r>
              <a:rPr lang="en-US" altLang="en-US" sz="2000" err="1"/>
              <a:t>S</a:t>
            </a:r>
            <a:r>
              <a:rPr lang="en-US" altLang="en-US" sz="2000" err="1">
                <a:sym typeface="Wingdings" panose="05000000000000000000" pitchFamily="2" charset="2"/>
              </a:rPr>
              <a:t></a:t>
            </a:r>
            <a:r>
              <a:rPr lang="en-US" altLang="en-US" sz="2000" err="1"/>
              <a:t>n</a:t>
            </a:r>
            <a:r>
              <a:rPr lang="en-US" altLang="en-US" sz="2000"/>
              <a:t>--];	</a:t>
            </a:r>
          </a:p>
          <a:p>
            <a:pPr algn="just"/>
            <a:r>
              <a:rPr lang="en-US" altLang="en-US" sz="2000"/>
              <a:t>}</a:t>
            </a:r>
          </a:p>
        </p:txBody>
      </p:sp>
      <p:sp>
        <p:nvSpPr>
          <p:cNvPr id="12" name="Rectangle 4"/>
          <p:cNvSpPr>
            <a:spLocks noChangeArrowheads="1"/>
          </p:cNvSpPr>
          <p:nvPr/>
        </p:nvSpPr>
        <p:spPr bwMode="auto">
          <a:xfrm>
            <a:off x="762000" y="4546600"/>
            <a:ext cx="7620000" cy="19304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r>
              <a:rPr lang="en-US" altLang="en-US" sz="2000">
                <a:latin typeface="Times New Roman" panose="02020603050405020304" pitchFamily="18" charset="0"/>
              </a:rPr>
              <a:t>//</a:t>
            </a:r>
            <a:r>
              <a:rPr lang="en-US" altLang="en-US" sz="2000" err="1">
                <a:latin typeface="Times New Roman" panose="02020603050405020304" pitchFamily="18" charset="0"/>
              </a:rPr>
              <a:t>Trả</a:t>
            </a:r>
            <a:r>
              <a:rPr lang="en-US" altLang="en-US" sz="2000">
                <a:latin typeface="Times New Roman" panose="02020603050405020304" pitchFamily="18" charset="0"/>
              </a:rPr>
              <a:t> </a:t>
            </a:r>
            <a:r>
              <a:rPr lang="en-US" altLang="en-US" sz="2000" err="1">
                <a:latin typeface="Times New Roman" panose="02020603050405020304" pitchFamily="18" charset="0"/>
              </a:rPr>
              <a:t>về</a:t>
            </a:r>
            <a:r>
              <a:rPr lang="en-US" altLang="en-US" sz="2000">
                <a:latin typeface="Times New Roman" panose="02020603050405020304" pitchFamily="18" charset="0"/>
              </a:rPr>
              <a:t> </a:t>
            </a:r>
            <a:r>
              <a:rPr lang="en-US" altLang="en-US" sz="2000" err="1">
                <a:latin typeface="Times New Roman" panose="02020603050405020304" pitchFamily="18" charset="0"/>
              </a:rPr>
              <a:t>phần</a:t>
            </a:r>
            <a:r>
              <a:rPr lang="en-US" altLang="en-US" sz="2000">
                <a:latin typeface="Times New Roman" panose="02020603050405020304" pitchFamily="18" charset="0"/>
              </a:rPr>
              <a:t> </a:t>
            </a:r>
            <a:r>
              <a:rPr lang="en-US" altLang="en-US" sz="2000" err="1">
                <a:latin typeface="Times New Roman" panose="02020603050405020304" pitchFamily="18" charset="0"/>
              </a:rPr>
              <a:t>tử</a:t>
            </a:r>
            <a:r>
              <a:rPr lang="en-US" altLang="en-US" sz="2000">
                <a:latin typeface="Times New Roman" panose="02020603050405020304" pitchFamily="18" charset="0"/>
              </a:rPr>
              <a:t> ở </a:t>
            </a:r>
            <a:r>
              <a:rPr lang="en-US" altLang="en-US" sz="2000" err="1">
                <a:latin typeface="Times New Roman" panose="02020603050405020304" pitchFamily="18" charset="0"/>
              </a:rPr>
              <a:t>đỉnh</a:t>
            </a:r>
            <a:r>
              <a:rPr lang="en-US" altLang="en-US" sz="2000">
                <a:latin typeface="Times New Roman" panose="02020603050405020304" pitchFamily="18" charset="0"/>
              </a:rPr>
              <a:t> </a:t>
            </a:r>
            <a:r>
              <a:rPr lang="en-US" altLang="en-US" sz="2000" err="1">
                <a:latin typeface="Times New Roman" panose="02020603050405020304" pitchFamily="18" charset="0"/>
              </a:rPr>
              <a:t>của</a:t>
            </a:r>
            <a:r>
              <a:rPr lang="en-US" altLang="en-US" sz="2000">
                <a:latin typeface="Times New Roman" panose="02020603050405020304" pitchFamily="18" charset="0"/>
              </a:rPr>
              <a:t> </a:t>
            </a:r>
            <a:r>
              <a:rPr lang="en-US" altLang="en-US" sz="2000" err="1">
                <a:latin typeface="Times New Roman" panose="02020603050405020304" pitchFamily="18" charset="0"/>
              </a:rPr>
              <a:t>ngăn</a:t>
            </a:r>
            <a:r>
              <a:rPr lang="en-US" altLang="en-US" sz="2000">
                <a:latin typeface="Times New Roman" panose="02020603050405020304" pitchFamily="18" charset="0"/>
              </a:rPr>
              <a:t> </a:t>
            </a:r>
            <a:r>
              <a:rPr lang="en-US" altLang="en-US" sz="2000" err="1">
                <a:latin typeface="Times New Roman" panose="02020603050405020304" pitchFamily="18" charset="0"/>
              </a:rPr>
              <a:t>xếp</a:t>
            </a:r>
            <a:r>
              <a:rPr lang="en-US" altLang="en-US" sz="2000">
                <a:latin typeface="Times New Roman" panose="02020603050405020304" pitchFamily="18" charset="0"/>
              </a:rPr>
              <a:t> (</a:t>
            </a:r>
            <a:r>
              <a:rPr lang="en-US" altLang="en-US" sz="2000" err="1">
                <a:latin typeface="Times New Roman" panose="02020603050405020304" pitchFamily="18" charset="0"/>
              </a:rPr>
              <a:t>không</a:t>
            </a:r>
            <a:r>
              <a:rPr lang="en-US" altLang="en-US" sz="2000">
                <a:latin typeface="Times New Roman" panose="02020603050405020304" pitchFamily="18" charset="0"/>
              </a:rPr>
              <a:t> </a:t>
            </a:r>
            <a:r>
              <a:rPr lang="en-US" altLang="en-US" sz="2000" err="1">
                <a:latin typeface="Times New Roman" panose="02020603050405020304" pitchFamily="18" charset="0"/>
              </a:rPr>
              <a:t>lấy</a:t>
            </a:r>
            <a:r>
              <a:rPr lang="en-US" altLang="en-US" sz="2000">
                <a:latin typeface="Times New Roman" panose="02020603050405020304" pitchFamily="18" charset="0"/>
              </a:rPr>
              <a:t> </a:t>
            </a:r>
            <a:r>
              <a:rPr lang="en-US" altLang="en-US" sz="2000" err="1">
                <a:latin typeface="Times New Roman" panose="02020603050405020304" pitchFamily="18" charset="0"/>
              </a:rPr>
              <a:t>phần</a:t>
            </a:r>
            <a:r>
              <a:rPr lang="en-US" altLang="en-US" sz="2000">
                <a:latin typeface="Times New Roman" panose="02020603050405020304" pitchFamily="18" charset="0"/>
              </a:rPr>
              <a:t> </a:t>
            </a:r>
            <a:r>
              <a:rPr lang="en-US" altLang="en-US" sz="2000" err="1">
                <a:latin typeface="Times New Roman" panose="02020603050405020304" pitchFamily="18" charset="0"/>
              </a:rPr>
              <a:t>tử</a:t>
            </a:r>
            <a:r>
              <a:rPr lang="en-US" altLang="en-US" sz="2000">
                <a:latin typeface="Times New Roman" panose="02020603050405020304" pitchFamily="18" charset="0"/>
              </a:rPr>
              <a:t> </a:t>
            </a:r>
            <a:r>
              <a:rPr lang="en-US" altLang="en-US" sz="2000" err="1">
                <a:latin typeface="Times New Roman" panose="02020603050405020304" pitchFamily="18" charset="0"/>
              </a:rPr>
              <a:t>đó</a:t>
            </a:r>
            <a:r>
              <a:rPr lang="en-US" altLang="en-US" sz="2000">
                <a:latin typeface="Times New Roman" panose="02020603050405020304" pitchFamily="18" charset="0"/>
              </a:rPr>
              <a:t> </a:t>
            </a:r>
            <a:r>
              <a:rPr lang="en-US" altLang="en-US" sz="2000" err="1">
                <a:latin typeface="Times New Roman" panose="02020603050405020304" pitchFamily="18" charset="0"/>
              </a:rPr>
              <a:t>ra</a:t>
            </a:r>
            <a:r>
              <a:rPr lang="en-US" altLang="en-US" sz="2000">
                <a:latin typeface="Times New Roman" panose="02020603050405020304" pitchFamily="18" charset="0"/>
              </a:rPr>
              <a:t>)</a:t>
            </a:r>
          </a:p>
          <a:p>
            <a:pPr algn="just"/>
            <a:r>
              <a:rPr lang="en-US" altLang="en-US" sz="2000"/>
              <a:t>D </a:t>
            </a:r>
            <a:r>
              <a:rPr lang="en-US" altLang="en-US" sz="2000" b="1" i="1"/>
              <a:t>Top</a:t>
            </a:r>
            <a:r>
              <a:rPr lang="en-US" altLang="en-US" sz="2000"/>
              <a:t> (Stack *S){</a:t>
            </a:r>
          </a:p>
          <a:p>
            <a:pPr algn="just"/>
            <a:r>
              <a:rPr lang="en-US" altLang="en-US" sz="2000"/>
              <a:t>	if (</a:t>
            </a:r>
            <a:r>
              <a:rPr lang="en-US" altLang="en-US" sz="2000" err="1"/>
              <a:t>IsEmpty</a:t>
            </a:r>
            <a:r>
              <a:rPr lang="en-US" altLang="en-US" sz="2000"/>
              <a:t>(S)) return NULL;</a:t>
            </a:r>
          </a:p>
          <a:p>
            <a:pPr algn="just"/>
            <a:r>
              <a:rPr lang="en-US" altLang="en-US" sz="2000"/>
              <a:t>	return </a:t>
            </a:r>
            <a:r>
              <a:rPr lang="en-US" altLang="en-US" sz="2000" err="1"/>
              <a:t>S</a:t>
            </a:r>
            <a:r>
              <a:rPr lang="en-US" altLang="en-US" sz="2000" err="1">
                <a:sym typeface="Wingdings" panose="05000000000000000000" pitchFamily="2" charset="2"/>
              </a:rPr>
              <a:t>i</a:t>
            </a:r>
            <a:r>
              <a:rPr lang="en-US" altLang="en-US" sz="2000" err="1"/>
              <a:t>nfo</a:t>
            </a:r>
            <a:r>
              <a:rPr lang="en-US" altLang="en-US" sz="2000"/>
              <a:t>[</a:t>
            </a:r>
            <a:r>
              <a:rPr lang="en-US" altLang="en-US" sz="2000" err="1"/>
              <a:t>S</a:t>
            </a:r>
            <a:r>
              <a:rPr lang="en-US" altLang="en-US" sz="2000" err="1">
                <a:sym typeface="Wingdings" panose="05000000000000000000" pitchFamily="2" charset="2"/>
              </a:rPr>
              <a:t></a:t>
            </a:r>
            <a:r>
              <a:rPr lang="en-US" altLang="en-US" sz="2000" err="1"/>
              <a:t>n</a:t>
            </a:r>
            <a:r>
              <a:rPr lang="en-US" altLang="en-US" sz="2000"/>
              <a:t>];</a:t>
            </a:r>
          </a:p>
          <a:p>
            <a:pPr algn="just"/>
            <a:r>
              <a:rPr lang="en-US" altLang="en-US" sz="2000"/>
              <a:t>	</a:t>
            </a:r>
          </a:p>
          <a:p>
            <a:pPr algn="just"/>
            <a:r>
              <a:rPr lang="en-US" altLang="en-US" sz="2000"/>
              <a:t>}</a:t>
            </a:r>
          </a:p>
        </p:txBody>
      </p:sp>
      <p:sp>
        <p:nvSpPr>
          <p:cNvPr id="13" name="Rectangle 12"/>
          <p:cNvSpPr/>
          <p:nvPr/>
        </p:nvSpPr>
        <p:spPr>
          <a:xfrm>
            <a:off x="1295400" y="1327299"/>
            <a:ext cx="1600200" cy="954107"/>
          </a:xfrm>
          <a:prstGeom prst="rect">
            <a:avLst/>
          </a:prstGeom>
        </p:spPr>
        <p:txBody>
          <a:bodyPr wrap="square">
            <a:spAutoFit/>
          </a:bodyPr>
          <a:lstStyle/>
          <a:p>
            <a:r>
              <a:rPr lang="en-US" altLang="en-US" sz="1400" err="1"/>
              <a:t>typedef</a:t>
            </a:r>
            <a:r>
              <a:rPr lang="en-US" altLang="en-US" sz="1400"/>
              <a:t>  </a:t>
            </a:r>
            <a:r>
              <a:rPr lang="en-US" altLang="en-US" sz="1400" err="1"/>
              <a:t>struct</a:t>
            </a:r>
            <a:r>
              <a:rPr lang="en-US" altLang="en-US" sz="1400"/>
              <a:t>  {</a:t>
            </a:r>
          </a:p>
          <a:p>
            <a:r>
              <a:rPr lang="en-US" altLang="en-US" sz="1400"/>
              <a:t>   D  info [MAX];  </a:t>
            </a:r>
          </a:p>
          <a:p>
            <a:r>
              <a:rPr lang="en-US" altLang="en-US" sz="1400"/>
              <a:t>   unsigned </a:t>
            </a:r>
            <a:r>
              <a:rPr lang="en-US" altLang="en-US" sz="1400" err="1"/>
              <a:t>int</a:t>
            </a:r>
            <a:r>
              <a:rPr lang="en-US" altLang="en-US" sz="1400"/>
              <a:t> n;</a:t>
            </a:r>
          </a:p>
          <a:p>
            <a:r>
              <a:rPr lang="en-US" altLang="en-US" sz="1400"/>
              <a:t>}  Stack;</a:t>
            </a:r>
            <a:endParaRPr lang="en-US" sz="1400"/>
          </a:p>
        </p:txBody>
      </p:sp>
    </p:spTree>
    <p:extLst>
      <p:ext uri="{BB962C8B-B14F-4D97-AF65-F5344CB8AC3E}">
        <p14:creationId xmlns:p14="http://schemas.microsoft.com/office/powerpoint/2010/main" val="385647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ltLang="en-US"/>
          </a:p>
        </p:txBody>
      </p:sp>
      <p:sp>
        <p:nvSpPr>
          <p:cNvPr id="27651" name="Rectangle 3"/>
          <p:cNvSpPr>
            <a:spLocks noGrp="1" noChangeArrowheads="1"/>
          </p:cNvSpPr>
          <p:nvPr>
            <p:ph type="body" sz="quarter" idx="13"/>
          </p:nvPr>
        </p:nvSpPr>
        <p:spPr/>
        <p:txBody>
          <a:bodyPr/>
          <a:lstStyle/>
          <a:p>
            <a:pPr lvl="1"/>
            <a:r>
              <a:rPr lang="en-US" altLang="en-US" sz="2400" err="1">
                <a:cs typeface="Times New Roman" panose="02020603050405020304" pitchFamily="18" charset="0"/>
              </a:rPr>
              <a:t>Các</a:t>
            </a:r>
            <a:r>
              <a:rPr lang="en-US" altLang="en-US" sz="2400">
                <a:cs typeface="Times New Roman" panose="02020603050405020304" pitchFamily="18" charset="0"/>
              </a:rPr>
              <a:t> </a:t>
            </a:r>
            <a:r>
              <a:rPr lang="en-US" altLang="en-US" sz="2400" err="1">
                <a:cs typeface="Times New Roman" panose="02020603050405020304" pitchFamily="18" charset="0"/>
              </a:rPr>
              <a:t>thao</a:t>
            </a:r>
            <a:r>
              <a:rPr lang="en-US" altLang="en-US" sz="2400">
                <a:cs typeface="Times New Roman" panose="02020603050405020304" pitchFamily="18" charset="0"/>
              </a:rPr>
              <a:t> </a:t>
            </a:r>
            <a:r>
              <a:rPr lang="en-US" altLang="en-US" sz="2400" err="1">
                <a:cs typeface="Times New Roman" panose="02020603050405020304" pitchFamily="18" charset="0"/>
              </a:rPr>
              <a:t>tác</a:t>
            </a:r>
            <a:r>
              <a:rPr lang="en-US" altLang="en-US" sz="2400">
                <a:cs typeface="Times New Roman" panose="02020603050405020304" pitchFamily="18" charset="0"/>
              </a:rPr>
              <a:t> </a:t>
            </a:r>
            <a:r>
              <a:rPr lang="en-US" altLang="en-US" sz="2400" err="1">
                <a:cs typeface="Times New Roman" panose="02020603050405020304" pitchFamily="18" charset="0"/>
              </a:rPr>
              <a:t>cơ</a:t>
            </a:r>
            <a:r>
              <a:rPr lang="en-US" altLang="en-US" sz="2400">
                <a:cs typeface="Times New Roman" panose="02020603050405020304" pitchFamily="18" charset="0"/>
              </a:rPr>
              <a:t> </a:t>
            </a:r>
            <a:r>
              <a:rPr lang="en-US" altLang="en-US" sz="2400" err="1">
                <a:cs typeface="Times New Roman" panose="02020603050405020304" pitchFamily="18" charset="0"/>
              </a:rPr>
              <a:t>bản</a:t>
            </a:r>
            <a:r>
              <a:rPr lang="en-US" altLang="en-US" sz="2400">
                <a:cs typeface="Times New Roman" panose="02020603050405020304" pitchFamily="18" charset="0"/>
              </a:rPr>
              <a:t>:</a:t>
            </a:r>
            <a:endParaRPr lang="en-US" altLang="en-US"/>
          </a:p>
        </p:txBody>
      </p:sp>
      <p:pic>
        <p:nvPicPr>
          <p:cNvPr id="2" name="Picture 1"/>
          <p:cNvPicPr>
            <a:picLocks noChangeAspect="1"/>
          </p:cNvPicPr>
          <p:nvPr/>
        </p:nvPicPr>
        <p:blipFill>
          <a:blip r:embed="rId2"/>
          <a:stretch>
            <a:fillRect/>
          </a:stretch>
        </p:blipFill>
        <p:spPr>
          <a:xfrm>
            <a:off x="4495800" y="793062"/>
            <a:ext cx="4320251" cy="1895740"/>
          </a:xfrm>
          <a:prstGeom prst="rect">
            <a:avLst/>
          </a:prstGeom>
        </p:spPr>
      </p:pic>
      <p:pic>
        <p:nvPicPr>
          <p:cNvPr id="3" name="Picture 2"/>
          <p:cNvPicPr>
            <a:picLocks noChangeAspect="1"/>
          </p:cNvPicPr>
          <p:nvPr/>
        </p:nvPicPr>
        <p:blipFill>
          <a:blip r:embed="rId3"/>
          <a:stretch>
            <a:fillRect/>
          </a:stretch>
        </p:blipFill>
        <p:spPr>
          <a:xfrm>
            <a:off x="4495800" y="2688802"/>
            <a:ext cx="4236054" cy="1695687"/>
          </a:xfrm>
          <a:prstGeom prst="rect">
            <a:avLst/>
          </a:prstGeom>
        </p:spPr>
      </p:pic>
      <p:sp>
        <p:nvSpPr>
          <p:cNvPr id="8" name="TextBox 7"/>
          <p:cNvSpPr txBox="1"/>
          <p:nvPr/>
        </p:nvSpPr>
        <p:spPr>
          <a:xfrm>
            <a:off x="838200" y="1371600"/>
            <a:ext cx="2069862" cy="369332"/>
          </a:xfrm>
          <a:prstGeom prst="rect">
            <a:avLst/>
          </a:prstGeom>
          <a:noFill/>
        </p:spPr>
        <p:txBody>
          <a:bodyPr wrap="none" rtlCol="0">
            <a:spAutoFit/>
          </a:bodyPr>
          <a:lstStyle/>
          <a:p>
            <a:r>
              <a:rPr lang="en-US" i="1"/>
              <a:t>// </a:t>
            </a:r>
            <a:r>
              <a:rPr lang="en-US" i="1" err="1"/>
              <a:t>Triển</a:t>
            </a:r>
            <a:r>
              <a:rPr lang="en-US" i="1"/>
              <a:t> </a:t>
            </a:r>
            <a:r>
              <a:rPr lang="en-US" i="1" err="1"/>
              <a:t>khai</a:t>
            </a:r>
            <a:r>
              <a:rPr lang="en-US" i="1"/>
              <a:t> </a:t>
            </a:r>
            <a:r>
              <a:rPr lang="en-US" i="1" err="1"/>
              <a:t>trên</a:t>
            </a:r>
            <a:r>
              <a:rPr lang="en-US" i="1"/>
              <a:t> C</a:t>
            </a:r>
          </a:p>
        </p:txBody>
      </p:sp>
      <p:sp>
        <p:nvSpPr>
          <p:cNvPr id="10" name="Rectangle 9"/>
          <p:cNvSpPr/>
          <p:nvPr/>
        </p:nvSpPr>
        <p:spPr>
          <a:xfrm>
            <a:off x="4877037" y="1455168"/>
            <a:ext cx="3937989" cy="1090040"/>
          </a:xfrm>
          <a:prstGeom prst="rect">
            <a:avLst/>
          </a:prstGeom>
          <a:solidFill>
            <a:srgbClr val="323232"/>
          </a:solidFill>
          <a:ln>
            <a:solidFill>
              <a:srgbClr val="32323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p:nvSpPr>
        <p:spPr>
          <a:xfrm>
            <a:off x="4785027" y="3196540"/>
            <a:ext cx="3946827" cy="914400"/>
          </a:xfrm>
          <a:prstGeom prst="rect">
            <a:avLst/>
          </a:prstGeom>
          <a:solidFill>
            <a:srgbClr val="323232"/>
          </a:solidFill>
          <a:ln>
            <a:solidFill>
              <a:srgbClr val="32323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4"/>
          <a:stretch>
            <a:fillRect/>
          </a:stretch>
        </p:blipFill>
        <p:spPr>
          <a:xfrm>
            <a:off x="914400" y="1750457"/>
            <a:ext cx="2374899" cy="879169"/>
          </a:xfrm>
          <a:prstGeom prst="rect">
            <a:avLst/>
          </a:prstGeom>
        </p:spPr>
      </p:pic>
      <p:pic>
        <p:nvPicPr>
          <p:cNvPr id="13" name="Picture 12"/>
          <p:cNvPicPr>
            <a:picLocks noChangeAspect="1"/>
          </p:cNvPicPr>
          <p:nvPr/>
        </p:nvPicPr>
        <p:blipFill>
          <a:blip r:embed="rId5"/>
          <a:stretch>
            <a:fillRect/>
          </a:stretch>
        </p:blipFill>
        <p:spPr>
          <a:xfrm>
            <a:off x="914400" y="4543754"/>
            <a:ext cx="6744641" cy="1648055"/>
          </a:xfrm>
          <a:prstGeom prst="rect">
            <a:avLst/>
          </a:prstGeom>
        </p:spPr>
      </p:pic>
      <p:sp>
        <p:nvSpPr>
          <p:cNvPr id="14" name="Rectangle 13"/>
          <p:cNvSpPr/>
          <p:nvPr/>
        </p:nvSpPr>
        <p:spPr>
          <a:xfrm>
            <a:off x="1314921" y="5029200"/>
            <a:ext cx="4006613" cy="1090040"/>
          </a:xfrm>
          <a:prstGeom prst="rect">
            <a:avLst/>
          </a:prstGeom>
          <a:solidFill>
            <a:srgbClr val="323232"/>
          </a:solidFill>
          <a:ln>
            <a:solidFill>
              <a:srgbClr val="32323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755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57</a:t>
            </a:fld>
            <a:endParaRPr lang="en-US"/>
          </a:p>
        </p:txBody>
      </p:sp>
      <p:sp>
        <p:nvSpPr>
          <p:cNvPr id="4" name="Title 3"/>
          <p:cNvSpPr>
            <a:spLocks noGrp="1"/>
          </p:cNvSpPr>
          <p:nvPr>
            <p:ph type="title"/>
          </p:nvPr>
        </p:nvSpPr>
        <p:spPr/>
        <p:txBody>
          <a:bodyPr/>
          <a:lstStyle/>
          <a:p>
            <a:r>
              <a:rPr lang="en-US" err="1"/>
              <a:t>Bài</a:t>
            </a:r>
            <a:r>
              <a:rPr lang="en-US"/>
              <a:t> </a:t>
            </a:r>
            <a:r>
              <a:rPr lang="en-US" err="1"/>
              <a:t>Tập</a:t>
            </a:r>
            <a:r>
              <a:rPr lang="en-US"/>
              <a:t> </a:t>
            </a:r>
            <a:r>
              <a:rPr lang="en-US" err="1"/>
              <a:t>Chương</a:t>
            </a:r>
            <a:r>
              <a:rPr lang="en-US"/>
              <a:t> 2</a:t>
            </a:r>
          </a:p>
        </p:txBody>
      </p:sp>
      <p:sp>
        <p:nvSpPr>
          <p:cNvPr id="5" name="Text Placeholder 4"/>
          <p:cNvSpPr>
            <a:spLocks noGrp="1"/>
          </p:cNvSpPr>
          <p:nvPr>
            <p:ph type="body" sz="quarter" idx="13"/>
          </p:nvPr>
        </p:nvSpPr>
        <p:spPr/>
        <p:txBody>
          <a:bodyPr>
            <a:normAutofit fontScale="92500" lnSpcReduction="20000"/>
          </a:bodyPr>
          <a:lstStyle/>
          <a:p>
            <a:pPr marL="290513" indent="-280988">
              <a:buFont typeface="+mj-lt"/>
              <a:buAutoNum type="arabicPeriod"/>
            </a:pPr>
            <a:r>
              <a:rPr lang="en-US" err="1"/>
              <a:t>Viết</a:t>
            </a:r>
            <a:r>
              <a:rPr lang="en-US"/>
              <a:t> </a:t>
            </a:r>
            <a:r>
              <a:rPr lang="en-US" err="1"/>
              <a:t>hàm</a:t>
            </a:r>
            <a:r>
              <a:rPr lang="en-US"/>
              <a:t> </a:t>
            </a:r>
            <a:r>
              <a:rPr lang="en-US" err="1"/>
              <a:t>chèn</a:t>
            </a:r>
            <a:r>
              <a:rPr lang="en-US"/>
              <a:t> 1 </a:t>
            </a:r>
            <a:r>
              <a:rPr lang="en-US" err="1"/>
              <a:t>số</a:t>
            </a:r>
            <a:r>
              <a:rPr lang="en-US"/>
              <a:t> </a:t>
            </a:r>
            <a:r>
              <a:rPr lang="en-US" err="1"/>
              <a:t>vào</a:t>
            </a:r>
            <a:r>
              <a:rPr lang="en-US"/>
              <a:t> 1 </a:t>
            </a:r>
            <a:r>
              <a:rPr lang="en-US" err="1"/>
              <a:t>vị</a:t>
            </a:r>
            <a:r>
              <a:rPr lang="en-US"/>
              <a:t> </a:t>
            </a:r>
            <a:r>
              <a:rPr lang="en-US" err="1"/>
              <a:t>trí</a:t>
            </a:r>
            <a:r>
              <a:rPr lang="en-US"/>
              <a:t> </a:t>
            </a:r>
            <a:r>
              <a:rPr lang="en-US" err="1"/>
              <a:t>trong</a:t>
            </a:r>
            <a:r>
              <a:rPr lang="en-US"/>
              <a:t> </a:t>
            </a:r>
            <a:r>
              <a:rPr lang="en-US" err="1"/>
              <a:t>mảng</a:t>
            </a:r>
            <a:endParaRPr lang="en-US"/>
          </a:p>
          <a:p>
            <a:pPr marL="290513" indent="-280988">
              <a:buFont typeface="+mj-lt"/>
              <a:buAutoNum type="arabicPeriod"/>
            </a:pPr>
            <a:r>
              <a:rPr lang="en-US" err="1"/>
              <a:t>Viết</a:t>
            </a:r>
            <a:r>
              <a:rPr lang="en-US"/>
              <a:t> </a:t>
            </a:r>
            <a:r>
              <a:rPr lang="en-US" err="1"/>
              <a:t>hàm</a:t>
            </a:r>
            <a:r>
              <a:rPr lang="en-US"/>
              <a:t> </a:t>
            </a:r>
            <a:r>
              <a:rPr lang="en-US" err="1"/>
              <a:t>xóa</a:t>
            </a:r>
            <a:r>
              <a:rPr lang="en-US"/>
              <a:t> 1 </a:t>
            </a:r>
            <a:r>
              <a:rPr lang="en-US" err="1"/>
              <a:t>số</a:t>
            </a:r>
            <a:r>
              <a:rPr lang="en-US"/>
              <a:t> ở 1 </a:t>
            </a:r>
            <a:r>
              <a:rPr lang="en-US" err="1"/>
              <a:t>vị</a:t>
            </a:r>
            <a:r>
              <a:rPr lang="en-US"/>
              <a:t> </a:t>
            </a:r>
            <a:r>
              <a:rPr lang="en-US" err="1"/>
              <a:t>trí</a:t>
            </a:r>
            <a:r>
              <a:rPr lang="en-US"/>
              <a:t> </a:t>
            </a:r>
            <a:r>
              <a:rPr lang="en-US" err="1"/>
              <a:t>trong</a:t>
            </a:r>
            <a:r>
              <a:rPr lang="en-US"/>
              <a:t> </a:t>
            </a:r>
            <a:r>
              <a:rPr lang="en-US" err="1"/>
              <a:t>mảng</a:t>
            </a:r>
            <a:endParaRPr lang="en-US"/>
          </a:p>
          <a:p>
            <a:pPr marL="290513" indent="-280988">
              <a:buFont typeface="+mj-lt"/>
              <a:buAutoNum type="arabicPeriod"/>
            </a:pPr>
            <a:r>
              <a:rPr lang="en-US" err="1"/>
              <a:t>Viết</a:t>
            </a:r>
            <a:r>
              <a:rPr lang="en-US"/>
              <a:t> </a:t>
            </a:r>
            <a:r>
              <a:rPr lang="en-US" err="1"/>
              <a:t>hàm</a:t>
            </a:r>
            <a:r>
              <a:rPr lang="en-US"/>
              <a:t> </a:t>
            </a:r>
            <a:r>
              <a:rPr lang="en-US" err="1"/>
              <a:t>gộp</a:t>
            </a:r>
            <a:r>
              <a:rPr lang="en-US"/>
              <a:t> 2 </a:t>
            </a:r>
            <a:r>
              <a:rPr lang="en-US" err="1"/>
              <a:t>mảng</a:t>
            </a:r>
            <a:r>
              <a:rPr lang="en-US"/>
              <a:t> </a:t>
            </a:r>
            <a:r>
              <a:rPr lang="en-US" err="1"/>
              <a:t>đã</a:t>
            </a:r>
            <a:r>
              <a:rPr lang="en-US"/>
              <a:t> </a:t>
            </a:r>
            <a:r>
              <a:rPr lang="en-US" err="1"/>
              <a:t>sắp</a:t>
            </a:r>
            <a:r>
              <a:rPr lang="en-US"/>
              <a:t> </a:t>
            </a:r>
            <a:r>
              <a:rPr lang="en-US" err="1"/>
              <a:t>xếp</a:t>
            </a:r>
            <a:r>
              <a:rPr lang="en-US"/>
              <a:t> </a:t>
            </a:r>
            <a:r>
              <a:rPr lang="en-US" err="1"/>
              <a:t>tăng</a:t>
            </a:r>
            <a:r>
              <a:rPr lang="en-US"/>
              <a:t> </a:t>
            </a:r>
            <a:r>
              <a:rPr lang="en-US" err="1"/>
              <a:t>dần</a:t>
            </a:r>
            <a:r>
              <a:rPr lang="en-US"/>
              <a:t> </a:t>
            </a:r>
            <a:r>
              <a:rPr lang="en-US" err="1"/>
              <a:t>thành</a:t>
            </a:r>
            <a:r>
              <a:rPr lang="en-US"/>
              <a:t> 1 </a:t>
            </a:r>
            <a:r>
              <a:rPr lang="en-US" err="1"/>
              <a:t>mảng</a:t>
            </a:r>
            <a:r>
              <a:rPr lang="en-US"/>
              <a:t> </a:t>
            </a:r>
            <a:r>
              <a:rPr lang="en-US" err="1"/>
              <a:t>được</a:t>
            </a:r>
            <a:r>
              <a:rPr lang="en-US"/>
              <a:t> </a:t>
            </a:r>
            <a:r>
              <a:rPr lang="en-US" err="1"/>
              <a:t>sắp</a:t>
            </a:r>
            <a:r>
              <a:rPr lang="en-US"/>
              <a:t> </a:t>
            </a:r>
            <a:r>
              <a:rPr lang="en-US" err="1"/>
              <a:t>xếp</a:t>
            </a:r>
            <a:r>
              <a:rPr lang="en-US"/>
              <a:t> </a:t>
            </a:r>
            <a:r>
              <a:rPr lang="en-US" err="1"/>
              <a:t>tăng</a:t>
            </a:r>
            <a:r>
              <a:rPr lang="en-US"/>
              <a:t> </a:t>
            </a:r>
            <a:r>
              <a:rPr lang="en-US" err="1"/>
              <a:t>dần</a:t>
            </a:r>
            <a:endParaRPr lang="en-US"/>
          </a:p>
          <a:p>
            <a:pPr marL="290513" indent="-280988">
              <a:buFont typeface="+mj-lt"/>
              <a:buAutoNum type="arabicPeriod"/>
            </a:pPr>
            <a:endParaRPr lang="en-US"/>
          </a:p>
          <a:p>
            <a:pPr marL="290513" indent="-280988">
              <a:buFont typeface="+mj-lt"/>
              <a:buAutoNum type="arabicPeriod"/>
            </a:pPr>
            <a:r>
              <a:rPr lang="en-US" err="1"/>
              <a:t>Viết</a:t>
            </a:r>
            <a:r>
              <a:rPr lang="en-US"/>
              <a:t> </a:t>
            </a:r>
            <a:r>
              <a:rPr lang="en-US" err="1"/>
              <a:t>chương</a:t>
            </a:r>
            <a:r>
              <a:rPr lang="en-US"/>
              <a:t> </a:t>
            </a:r>
            <a:r>
              <a:rPr lang="en-US" err="1"/>
              <a:t>trình</a:t>
            </a:r>
            <a:r>
              <a:rPr lang="en-US"/>
              <a:t> </a:t>
            </a:r>
            <a:r>
              <a:rPr lang="en-US" err="1"/>
              <a:t>khai</a:t>
            </a:r>
            <a:r>
              <a:rPr lang="en-US"/>
              <a:t> </a:t>
            </a:r>
            <a:r>
              <a:rPr lang="en-US" err="1"/>
              <a:t>báo</a:t>
            </a:r>
            <a:r>
              <a:rPr lang="en-US"/>
              <a:t> </a:t>
            </a:r>
            <a:r>
              <a:rPr lang="en-US" err="1"/>
              <a:t>và</a:t>
            </a:r>
            <a:r>
              <a:rPr lang="en-US"/>
              <a:t> </a:t>
            </a:r>
            <a:r>
              <a:rPr lang="en-US" err="1"/>
              <a:t>nhập</a:t>
            </a:r>
            <a:r>
              <a:rPr lang="en-US"/>
              <a:t> </a:t>
            </a:r>
            <a:r>
              <a:rPr lang="en-US" err="1"/>
              <a:t>giá</a:t>
            </a:r>
            <a:r>
              <a:rPr lang="en-US"/>
              <a:t> </a:t>
            </a:r>
            <a:r>
              <a:rPr lang="en-US" err="1"/>
              <a:t>trị</a:t>
            </a:r>
            <a:r>
              <a:rPr lang="en-US"/>
              <a:t> </a:t>
            </a:r>
            <a:r>
              <a:rPr lang="en-US" err="1"/>
              <a:t>cho</a:t>
            </a:r>
            <a:r>
              <a:rPr lang="en-US"/>
              <a:t> 1 </a:t>
            </a:r>
            <a:r>
              <a:rPr lang="en-US" err="1"/>
              <a:t>mảng</a:t>
            </a:r>
            <a:r>
              <a:rPr lang="en-US"/>
              <a:t> 2 </a:t>
            </a:r>
            <a:r>
              <a:rPr lang="en-US" err="1"/>
              <a:t>chiều</a:t>
            </a:r>
            <a:r>
              <a:rPr lang="en-US"/>
              <a:t> </a:t>
            </a:r>
            <a:r>
              <a:rPr lang="en-US" err="1"/>
              <a:t>chỉ</a:t>
            </a:r>
            <a:r>
              <a:rPr lang="en-US"/>
              <a:t> </a:t>
            </a:r>
            <a:r>
              <a:rPr lang="en-US" err="1"/>
              <a:t>sử</a:t>
            </a:r>
            <a:r>
              <a:rPr lang="en-US"/>
              <a:t> </a:t>
            </a:r>
            <a:r>
              <a:rPr lang="en-US" err="1"/>
              <a:t>dụng</a:t>
            </a:r>
            <a:r>
              <a:rPr lang="en-US"/>
              <a:t> con </a:t>
            </a:r>
            <a:r>
              <a:rPr lang="en-US" err="1"/>
              <a:t>trỏ</a:t>
            </a:r>
            <a:r>
              <a:rPr lang="en-US"/>
              <a:t>. </a:t>
            </a:r>
            <a:r>
              <a:rPr lang="en-US" err="1"/>
              <a:t>Số</a:t>
            </a:r>
            <a:r>
              <a:rPr lang="en-US"/>
              <a:t> </a:t>
            </a:r>
            <a:r>
              <a:rPr lang="en-US" err="1"/>
              <a:t>phần</a:t>
            </a:r>
            <a:r>
              <a:rPr lang="en-US"/>
              <a:t> </a:t>
            </a:r>
            <a:r>
              <a:rPr lang="en-US" err="1"/>
              <a:t>tử</a:t>
            </a:r>
            <a:r>
              <a:rPr lang="en-US"/>
              <a:t> </a:t>
            </a:r>
            <a:r>
              <a:rPr lang="en-US" err="1"/>
              <a:t>mỗi</a:t>
            </a:r>
            <a:r>
              <a:rPr lang="en-US"/>
              <a:t> </a:t>
            </a:r>
            <a:r>
              <a:rPr lang="en-US" err="1"/>
              <a:t>chiều</a:t>
            </a:r>
            <a:r>
              <a:rPr lang="en-US"/>
              <a:t> </a:t>
            </a:r>
            <a:r>
              <a:rPr lang="en-US" err="1"/>
              <a:t>được</a:t>
            </a:r>
            <a:r>
              <a:rPr lang="en-US"/>
              <a:t> </a:t>
            </a:r>
            <a:r>
              <a:rPr lang="en-US" err="1"/>
              <a:t>nhập</a:t>
            </a:r>
            <a:r>
              <a:rPr lang="en-US"/>
              <a:t> </a:t>
            </a:r>
            <a:r>
              <a:rPr lang="en-US" err="1"/>
              <a:t>vào</a:t>
            </a:r>
            <a:r>
              <a:rPr lang="en-US"/>
              <a:t> </a:t>
            </a:r>
            <a:r>
              <a:rPr lang="en-US" err="1"/>
              <a:t>bởi</a:t>
            </a:r>
            <a:r>
              <a:rPr lang="en-US"/>
              <a:t> </a:t>
            </a:r>
            <a:r>
              <a:rPr lang="en-US" err="1"/>
              <a:t>người</a:t>
            </a:r>
            <a:r>
              <a:rPr lang="en-US"/>
              <a:t> </a:t>
            </a:r>
            <a:r>
              <a:rPr lang="en-US" err="1"/>
              <a:t>dùng</a:t>
            </a:r>
            <a:r>
              <a:rPr lang="en-US"/>
              <a:t>. </a:t>
            </a:r>
          </a:p>
          <a:p>
            <a:pPr marL="290513" indent="-280988">
              <a:buFont typeface="+mj-lt"/>
              <a:buAutoNum type="arabicPeriod"/>
              <a:defRPr/>
            </a:pPr>
            <a:r>
              <a:rPr lang="en-US" err="1"/>
              <a:t>Viết</a:t>
            </a:r>
            <a:r>
              <a:rPr lang="en-US"/>
              <a:t> </a:t>
            </a:r>
            <a:r>
              <a:rPr lang="en-US" err="1"/>
              <a:t>chương</a:t>
            </a:r>
            <a:r>
              <a:rPr lang="en-US"/>
              <a:t> </a:t>
            </a:r>
            <a:r>
              <a:rPr lang="en-US" err="1"/>
              <a:t>trình</a:t>
            </a:r>
            <a:r>
              <a:rPr lang="en-US"/>
              <a:t> </a:t>
            </a:r>
            <a:r>
              <a:rPr lang="en-US" err="1"/>
              <a:t>đảo</a:t>
            </a:r>
            <a:r>
              <a:rPr lang="en-US"/>
              <a:t> </a:t>
            </a:r>
            <a:r>
              <a:rPr lang="en-US" err="1"/>
              <a:t>ngược</a:t>
            </a:r>
            <a:r>
              <a:rPr lang="en-US"/>
              <a:t> 1 </a:t>
            </a:r>
            <a:r>
              <a:rPr lang="en-US" err="1"/>
              <a:t>dãy</a:t>
            </a:r>
            <a:r>
              <a:rPr lang="en-US"/>
              <a:t> </a:t>
            </a:r>
            <a:r>
              <a:rPr lang="en-US" err="1"/>
              <a:t>số</a:t>
            </a:r>
            <a:r>
              <a:rPr lang="en-US"/>
              <a:t> do </a:t>
            </a:r>
            <a:r>
              <a:rPr lang="en-US" err="1"/>
              <a:t>người</a:t>
            </a:r>
            <a:r>
              <a:rPr lang="en-US"/>
              <a:t> </a:t>
            </a:r>
            <a:r>
              <a:rPr lang="en-US" err="1"/>
              <a:t>dùng</a:t>
            </a:r>
            <a:r>
              <a:rPr lang="en-US"/>
              <a:t> </a:t>
            </a:r>
            <a:r>
              <a:rPr lang="en-US" err="1"/>
              <a:t>nhập</a:t>
            </a:r>
            <a:r>
              <a:rPr lang="en-US"/>
              <a:t> </a:t>
            </a:r>
            <a:r>
              <a:rPr lang="en-US" err="1"/>
              <a:t>vào</a:t>
            </a:r>
            <a:r>
              <a:rPr lang="en-US"/>
              <a:t> </a:t>
            </a:r>
            <a:r>
              <a:rPr lang="en-US" err="1"/>
              <a:t>sử</a:t>
            </a:r>
            <a:r>
              <a:rPr lang="en-US"/>
              <a:t> </a:t>
            </a:r>
            <a:r>
              <a:rPr lang="en-US" err="1"/>
              <a:t>dụng</a:t>
            </a:r>
            <a:r>
              <a:rPr lang="en-US"/>
              <a:t> stack </a:t>
            </a:r>
            <a:r>
              <a:rPr lang="en-US" err="1"/>
              <a:t>lưu</a:t>
            </a:r>
            <a:r>
              <a:rPr lang="en-US"/>
              <a:t> </a:t>
            </a:r>
            <a:r>
              <a:rPr lang="en-US" err="1"/>
              <a:t>trữ</a:t>
            </a:r>
            <a:r>
              <a:rPr lang="en-US"/>
              <a:t> </a:t>
            </a:r>
            <a:r>
              <a:rPr lang="en-US" err="1"/>
              <a:t>tuần</a:t>
            </a:r>
            <a:r>
              <a:rPr lang="en-US"/>
              <a:t> </a:t>
            </a:r>
            <a:r>
              <a:rPr lang="en-US" err="1"/>
              <a:t>tự</a:t>
            </a:r>
            <a:endParaRPr lang="en-US"/>
          </a:p>
          <a:p>
            <a:pPr marL="290513" indent="-280988">
              <a:buFont typeface="+mj-lt"/>
              <a:buAutoNum type="arabicPeriod"/>
              <a:defRPr/>
            </a:pPr>
            <a:r>
              <a:rPr lang="en-US" err="1"/>
              <a:t>Viết</a:t>
            </a:r>
            <a:r>
              <a:rPr lang="en-US"/>
              <a:t> </a:t>
            </a:r>
            <a:r>
              <a:rPr lang="en-US" err="1"/>
              <a:t>chương</a:t>
            </a:r>
            <a:r>
              <a:rPr lang="en-US"/>
              <a:t> </a:t>
            </a:r>
            <a:r>
              <a:rPr lang="en-US" err="1"/>
              <a:t>trình</a:t>
            </a:r>
            <a:r>
              <a:rPr lang="en-US"/>
              <a:t> </a:t>
            </a:r>
            <a:r>
              <a:rPr lang="en-US" err="1"/>
              <a:t>triển</a:t>
            </a:r>
            <a:r>
              <a:rPr lang="en-US"/>
              <a:t> </a:t>
            </a:r>
            <a:r>
              <a:rPr lang="en-US" err="1"/>
              <a:t>khai</a:t>
            </a:r>
            <a:r>
              <a:rPr lang="en-US"/>
              <a:t> </a:t>
            </a:r>
            <a:r>
              <a:rPr lang="en-US" err="1"/>
              <a:t>hàng</a:t>
            </a:r>
            <a:r>
              <a:rPr lang="en-US"/>
              <a:t> </a:t>
            </a:r>
            <a:r>
              <a:rPr lang="en-US" err="1"/>
              <a:t>đợi</a:t>
            </a:r>
            <a:r>
              <a:rPr lang="en-US"/>
              <a:t> </a:t>
            </a:r>
            <a:r>
              <a:rPr lang="en-US" err="1"/>
              <a:t>sử</a:t>
            </a:r>
            <a:r>
              <a:rPr lang="en-US"/>
              <a:t> </a:t>
            </a:r>
            <a:r>
              <a:rPr lang="en-US" err="1"/>
              <a:t>dụng</a:t>
            </a:r>
            <a:r>
              <a:rPr lang="en-US"/>
              <a:t> </a:t>
            </a:r>
            <a:r>
              <a:rPr lang="en-US" err="1"/>
              <a:t>mảng</a:t>
            </a:r>
            <a:r>
              <a:rPr lang="en-US"/>
              <a:t> (</a:t>
            </a:r>
            <a:r>
              <a:rPr lang="en-US" err="1"/>
              <a:t>và</a:t>
            </a:r>
            <a:r>
              <a:rPr lang="en-US"/>
              <a:t> </a:t>
            </a:r>
            <a:r>
              <a:rPr lang="en-US" err="1"/>
              <a:t>các</a:t>
            </a:r>
            <a:r>
              <a:rPr lang="en-US"/>
              <a:t> </a:t>
            </a:r>
            <a:r>
              <a:rPr lang="en-US" err="1"/>
              <a:t>hàm</a:t>
            </a:r>
            <a:r>
              <a:rPr lang="en-US"/>
              <a:t> </a:t>
            </a:r>
            <a:r>
              <a:rPr lang="en-US" err="1"/>
              <a:t>khởi</a:t>
            </a:r>
            <a:r>
              <a:rPr lang="en-US"/>
              <a:t> </a:t>
            </a:r>
            <a:r>
              <a:rPr lang="en-US" err="1"/>
              <a:t>tạo</a:t>
            </a:r>
            <a:r>
              <a:rPr lang="en-US"/>
              <a:t>, </a:t>
            </a:r>
            <a:r>
              <a:rPr lang="en-US" err="1"/>
              <a:t>thêm</a:t>
            </a:r>
            <a:r>
              <a:rPr lang="en-US"/>
              <a:t> </a:t>
            </a:r>
            <a:r>
              <a:rPr lang="en-US" err="1"/>
              <a:t>phần</a:t>
            </a:r>
            <a:r>
              <a:rPr lang="en-US"/>
              <a:t> </a:t>
            </a:r>
            <a:r>
              <a:rPr lang="en-US" err="1"/>
              <a:t>tử</a:t>
            </a:r>
            <a:r>
              <a:rPr lang="en-US"/>
              <a:t>, </a:t>
            </a:r>
            <a:r>
              <a:rPr lang="en-US" err="1"/>
              <a:t>xóa</a:t>
            </a:r>
            <a:r>
              <a:rPr lang="en-US"/>
              <a:t> </a:t>
            </a:r>
            <a:r>
              <a:rPr lang="en-US" err="1"/>
              <a:t>phần</a:t>
            </a:r>
            <a:r>
              <a:rPr lang="en-US"/>
              <a:t> </a:t>
            </a:r>
            <a:r>
              <a:rPr lang="en-US" err="1"/>
              <a:t>tử</a:t>
            </a:r>
            <a:r>
              <a:rPr lang="en-US"/>
              <a:t>, </a:t>
            </a:r>
            <a:r>
              <a:rPr lang="en-US" err="1"/>
              <a:t>lấy</a:t>
            </a:r>
            <a:r>
              <a:rPr lang="en-US"/>
              <a:t> </a:t>
            </a:r>
            <a:r>
              <a:rPr lang="en-US" err="1"/>
              <a:t>ra</a:t>
            </a:r>
            <a:r>
              <a:rPr lang="en-US"/>
              <a:t> </a:t>
            </a:r>
            <a:r>
              <a:rPr lang="en-US" err="1"/>
              <a:t>phần</a:t>
            </a:r>
            <a:r>
              <a:rPr lang="en-US"/>
              <a:t> </a:t>
            </a:r>
            <a:r>
              <a:rPr lang="en-US" err="1"/>
              <a:t>tử</a:t>
            </a:r>
            <a:r>
              <a:rPr lang="en-US"/>
              <a:t>)</a:t>
            </a:r>
          </a:p>
          <a:p>
            <a:pPr marL="290513" indent="-280988">
              <a:buFont typeface="+mj-lt"/>
              <a:buAutoNum type="arabicPeriod"/>
              <a:defRPr/>
            </a:pPr>
            <a:r>
              <a:rPr lang="en-US" err="1"/>
              <a:t>Viết</a:t>
            </a:r>
            <a:r>
              <a:rPr lang="en-US"/>
              <a:t> </a:t>
            </a:r>
            <a:r>
              <a:rPr lang="en-US" err="1"/>
              <a:t>chương</a:t>
            </a:r>
            <a:r>
              <a:rPr lang="en-US"/>
              <a:t> </a:t>
            </a:r>
            <a:r>
              <a:rPr lang="en-US" err="1"/>
              <a:t>trình</a:t>
            </a:r>
            <a:r>
              <a:rPr lang="en-US"/>
              <a:t> </a:t>
            </a:r>
            <a:r>
              <a:rPr lang="en-US" err="1"/>
              <a:t>triển</a:t>
            </a:r>
            <a:r>
              <a:rPr lang="en-US"/>
              <a:t> </a:t>
            </a:r>
            <a:r>
              <a:rPr lang="en-US" err="1"/>
              <a:t>khai</a:t>
            </a:r>
            <a:r>
              <a:rPr lang="en-US"/>
              <a:t> </a:t>
            </a:r>
            <a:r>
              <a:rPr lang="en-US" err="1"/>
              <a:t>hàng</a:t>
            </a:r>
            <a:r>
              <a:rPr lang="en-US"/>
              <a:t> </a:t>
            </a:r>
            <a:r>
              <a:rPr lang="en-US" err="1"/>
              <a:t>đợi</a:t>
            </a:r>
            <a:r>
              <a:rPr lang="en-US"/>
              <a:t> </a:t>
            </a:r>
            <a:r>
              <a:rPr lang="en-US" err="1"/>
              <a:t>ưu</a:t>
            </a:r>
            <a:r>
              <a:rPr lang="en-US"/>
              <a:t> </a:t>
            </a:r>
            <a:r>
              <a:rPr lang="en-US" err="1"/>
              <a:t>tiên</a:t>
            </a:r>
            <a:r>
              <a:rPr lang="en-US"/>
              <a:t> </a:t>
            </a:r>
            <a:r>
              <a:rPr lang="en-US" err="1"/>
              <a:t>sử</a:t>
            </a:r>
            <a:r>
              <a:rPr lang="en-US"/>
              <a:t> </a:t>
            </a:r>
            <a:r>
              <a:rPr lang="en-US" err="1"/>
              <a:t>dụng</a:t>
            </a:r>
            <a:r>
              <a:rPr lang="en-US"/>
              <a:t> </a:t>
            </a:r>
            <a:r>
              <a:rPr lang="en-US" err="1"/>
              <a:t>mảng</a:t>
            </a:r>
            <a:r>
              <a:rPr lang="en-US"/>
              <a:t> (</a:t>
            </a:r>
            <a:r>
              <a:rPr lang="en-US" err="1"/>
              <a:t>và</a:t>
            </a:r>
            <a:r>
              <a:rPr lang="en-US"/>
              <a:t> </a:t>
            </a:r>
            <a:r>
              <a:rPr lang="en-US" err="1"/>
              <a:t>các</a:t>
            </a:r>
            <a:r>
              <a:rPr lang="en-US"/>
              <a:t> </a:t>
            </a:r>
            <a:r>
              <a:rPr lang="en-US" err="1"/>
              <a:t>hàm</a:t>
            </a:r>
            <a:r>
              <a:rPr lang="en-US"/>
              <a:t> </a:t>
            </a:r>
            <a:r>
              <a:rPr lang="en-US" err="1"/>
              <a:t>khởi</a:t>
            </a:r>
            <a:r>
              <a:rPr lang="en-US"/>
              <a:t> </a:t>
            </a:r>
            <a:r>
              <a:rPr lang="en-US" err="1"/>
              <a:t>tạo</a:t>
            </a:r>
            <a:r>
              <a:rPr lang="en-US"/>
              <a:t>, </a:t>
            </a:r>
            <a:r>
              <a:rPr lang="en-US" err="1"/>
              <a:t>thêm</a:t>
            </a:r>
            <a:r>
              <a:rPr lang="en-US"/>
              <a:t> </a:t>
            </a:r>
            <a:r>
              <a:rPr lang="en-US" err="1"/>
              <a:t>phần</a:t>
            </a:r>
            <a:r>
              <a:rPr lang="en-US"/>
              <a:t> </a:t>
            </a:r>
            <a:r>
              <a:rPr lang="en-US" err="1"/>
              <a:t>tử</a:t>
            </a:r>
            <a:r>
              <a:rPr lang="en-US"/>
              <a:t>, </a:t>
            </a:r>
            <a:r>
              <a:rPr lang="en-US" err="1"/>
              <a:t>xóa</a:t>
            </a:r>
            <a:r>
              <a:rPr lang="en-US"/>
              <a:t> </a:t>
            </a:r>
            <a:r>
              <a:rPr lang="en-US" err="1"/>
              <a:t>phần</a:t>
            </a:r>
            <a:r>
              <a:rPr lang="en-US"/>
              <a:t> </a:t>
            </a:r>
            <a:r>
              <a:rPr lang="en-US" err="1"/>
              <a:t>tử</a:t>
            </a:r>
            <a:r>
              <a:rPr lang="en-US"/>
              <a:t>, </a:t>
            </a:r>
            <a:r>
              <a:rPr lang="en-US" err="1"/>
              <a:t>lấy</a:t>
            </a:r>
            <a:r>
              <a:rPr lang="en-US"/>
              <a:t> </a:t>
            </a:r>
            <a:r>
              <a:rPr lang="en-US" err="1"/>
              <a:t>ra</a:t>
            </a:r>
            <a:r>
              <a:rPr lang="en-US"/>
              <a:t> </a:t>
            </a:r>
            <a:r>
              <a:rPr lang="en-US" err="1"/>
              <a:t>phần</a:t>
            </a:r>
            <a:r>
              <a:rPr lang="en-US"/>
              <a:t> </a:t>
            </a:r>
            <a:r>
              <a:rPr lang="en-US" err="1"/>
              <a:t>tử</a:t>
            </a:r>
            <a:r>
              <a:rPr lang="en-US"/>
              <a:t>) </a:t>
            </a:r>
            <a:r>
              <a:rPr lang="en-US" err="1"/>
              <a:t>với</a:t>
            </a:r>
            <a:r>
              <a:rPr lang="en-US"/>
              <a:t> </a:t>
            </a:r>
            <a:r>
              <a:rPr lang="en-US" err="1"/>
              <a:t>cấu</a:t>
            </a:r>
            <a:r>
              <a:rPr lang="en-US"/>
              <a:t> </a:t>
            </a:r>
            <a:r>
              <a:rPr lang="en-US" err="1"/>
              <a:t>trúc</a:t>
            </a:r>
            <a:r>
              <a:rPr lang="en-US"/>
              <a:t> </a:t>
            </a:r>
            <a:r>
              <a:rPr lang="en-US" err="1"/>
              <a:t>mỗi</a:t>
            </a:r>
            <a:r>
              <a:rPr lang="en-US"/>
              <a:t> </a:t>
            </a:r>
            <a:r>
              <a:rPr lang="en-US" err="1"/>
              <a:t>phần</a:t>
            </a:r>
            <a:r>
              <a:rPr lang="en-US"/>
              <a:t> </a:t>
            </a:r>
            <a:r>
              <a:rPr lang="en-US" err="1"/>
              <a:t>tử</a:t>
            </a:r>
            <a:r>
              <a:rPr lang="en-US"/>
              <a:t> </a:t>
            </a:r>
            <a:r>
              <a:rPr lang="en-US" err="1"/>
              <a:t>là</a:t>
            </a:r>
            <a:r>
              <a:rPr lang="en-US"/>
              <a:t> </a:t>
            </a:r>
            <a:r>
              <a:rPr lang="en-US" i="1" err="1"/>
              <a:t>struct</a:t>
            </a:r>
            <a:r>
              <a:rPr lang="en-US" i="1"/>
              <a:t> item.</a:t>
            </a:r>
          </a:p>
          <a:p>
            <a:pPr marL="290513" indent="-280988">
              <a:buFont typeface="+mj-lt"/>
              <a:buAutoNum type="arabicPeriod"/>
              <a:defRPr/>
            </a:pPr>
            <a:endParaRPr lang="en-US"/>
          </a:p>
          <a:p>
            <a:pPr marL="290513" indent="-280988">
              <a:buFont typeface="+mj-lt"/>
              <a:buAutoNum type="arabicPeriod"/>
            </a:pPr>
            <a:endParaRPr lang="en-US"/>
          </a:p>
          <a:p>
            <a:pPr marL="290513" indent="-280988">
              <a:buFont typeface="+mj-lt"/>
              <a:buAutoNum type="arabicPeriod"/>
            </a:pPr>
            <a:r>
              <a:rPr lang="en-US" err="1"/>
              <a:t>Tìm</a:t>
            </a:r>
            <a:r>
              <a:rPr lang="en-US"/>
              <a:t> </a:t>
            </a:r>
            <a:r>
              <a:rPr lang="en-US" err="1"/>
              <a:t>hiểu</a:t>
            </a:r>
            <a:r>
              <a:rPr lang="en-US"/>
              <a:t> </a:t>
            </a:r>
            <a:r>
              <a:rPr lang="en-US" err="1"/>
              <a:t>các</a:t>
            </a:r>
            <a:r>
              <a:rPr lang="en-US"/>
              <a:t> </a:t>
            </a:r>
            <a:r>
              <a:rPr lang="en-US" err="1"/>
              <a:t>thư</a:t>
            </a:r>
            <a:r>
              <a:rPr lang="en-US"/>
              <a:t> </a:t>
            </a:r>
            <a:r>
              <a:rPr lang="en-US" err="1"/>
              <a:t>viện</a:t>
            </a:r>
            <a:r>
              <a:rPr lang="en-US"/>
              <a:t> </a:t>
            </a:r>
            <a:r>
              <a:rPr lang="en-US" err="1"/>
              <a:t>làm</a:t>
            </a:r>
            <a:r>
              <a:rPr lang="en-US"/>
              <a:t> </a:t>
            </a:r>
            <a:r>
              <a:rPr lang="en-US" err="1"/>
              <a:t>việc</a:t>
            </a:r>
            <a:r>
              <a:rPr lang="en-US"/>
              <a:t> </a:t>
            </a:r>
            <a:r>
              <a:rPr lang="en-US" err="1"/>
              <a:t>với</a:t>
            </a:r>
            <a:r>
              <a:rPr lang="en-US"/>
              <a:t> </a:t>
            </a:r>
            <a:r>
              <a:rPr lang="en-US" i="1"/>
              <a:t>stack,</a:t>
            </a:r>
            <a:br>
              <a:rPr lang="en-US" i="1"/>
            </a:br>
            <a:r>
              <a:rPr lang="en-US" i="1"/>
              <a:t>queue, p</a:t>
            </a:r>
            <a:r>
              <a:rPr lang="en-US" altLang="en-US" sz="2000" i="1"/>
              <a:t>riority queue</a:t>
            </a:r>
            <a:r>
              <a:rPr lang="en-US" altLang="en-US" sz="2000"/>
              <a:t> </a:t>
            </a:r>
            <a:r>
              <a:rPr lang="en-US" altLang="en-US" sz="2000" err="1"/>
              <a:t>của</a:t>
            </a:r>
            <a:r>
              <a:rPr lang="en-US" altLang="en-US" sz="2000"/>
              <a:t> C/C++</a:t>
            </a:r>
          </a:p>
          <a:p>
            <a:endParaRPr lang="en-US"/>
          </a:p>
          <a:p>
            <a:endParaRPr lang="en-US"/>
          </a:p>
        </p:txBody>
      </p:sp>
      <p:sp>
        <p:nvSpPr>
          <p:cNvPr id="6" name="Rectangle 3"/>
          <p:cNvSpPr>
            <a:spLocks noChangeArrowheads="1"/>
          </p:cNvSpPr>
          <p:nvPr/>
        </p:nvSpPr>
        <p:spPr bwMode="auto">
          <a:xfrm>
            <a:off x="6553200" y="4495800"/>
            <a:ext cx="155433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err="1">
                <a:ln>
                  <a:noFill/>
                </a:ln>
                <a:solidFill>
                  <a:schemeClr val="tx1"/>
                </a:solidFill>
                <a:effectLst/>
                <a:latin typeface="Lato" panose="020F0502020204030203"/>
              </a:rPr>
              <a:t>struct</a:t>
            </a:r>
            <a:r>
              <a:rPr kumimoji="0" lang="en-US" altLang="en-US" sz="1600" b="0" i="1" u="none" strike="noStrike" cap="none" normalizeH="0" baseline="0">
                <a:ln>
                  <a:noFill/>
                </a:ln>
                <a:solidFill>
                  <a:schemeClr val="tx1"/>
                </a:solidFill>
                <a:effectLst/>
                <a:latin typeface="Lato" panose="020F0502020204030203"/>
              </a:rPr>
              <a:t> </a:t>
            </a:r>
            <a:r>
              <a:rPr kumimoji="0" lang="en-US" altLang="en-US" sz="2000" b="0" i="1" u="none" strike="noStrike" cap="none" normalizeH="0" baseline="0">
                <a:ln>
                  <a:noFill/>
                </a:ln>
                <a:solidFill>
                  <a:schemeClr val="tx1"/>
                </a:solidFill>
                <a:effectLst/>
                <a:latin typeface="Lato" panose="020F0502020204030203"/>
              </a:rPr>
              <a:t>item {</a:t>
            </a:r>
            <a:endParaRPr kumimoji="0" lang="en-US" altLang="en-US" sz="1600" b="0" i="1" u="none" strike="noStrike" cap="none" normalizeH="0" baseline="0">
              <a:ln>
                <a:noFill/>
              </a:ln>
              <a:solidFill>
                <a:schemeClr val="tx1"/>
              </a:solidFill>
              <a:effectLst/>
              <a:latin typeface="Lato" panose="020F050202020403020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a:ln>
                  <a:noFill/>
                </a:ln>
                <a:solidFill>
                  <a:schemeClr val="tx1"/>
                </a:solidFill>
                <a:effectLst/>
                <a:latin typeface="Lato" panose="020F0502020204030203"/>
              </a:rPr>
              <a:t>    </a:t>
            </a:r>
            <a:r>
              <a:rPr kumimoji="0" lang="en-US" altLang="en-US" sz="2000" b="0" i="1" u="none" strike="noStrike" cap="none" normalizeH="0" baseline="0" err="1">
                <a:ln>
                  <a:noFill/>
                </a:ln>
                <a:solidFill>
                  <a:schemeClr val="tx1"/>
                </a:solidFill>
                <a:effectLst/>
                <a:latin typeface="Lato" panose="020F0502020204030203"/>
              </a:rPr>
              <a:t>int</a:t>
            </a:r>
            <a:r>
              <a:rPr kumimoji="0" lang="en-US" altLang="en-US" sz="1600" b="0" i="1" u="none" strike="noStrike" cap="none" normalizeH="0" baseline="0">
                <a:ln>
                  <a:noFill/>
                </a:ln>
                <a:solidFill>
                  <a:schemeClr val="tx1"/>
                </a:solidFill>
                <a:effectLst/>
                <a:latin typeface="Lato" panose="020F0502020204030203"/>
              </a:rPr>
              <a:t> </a:t>
            </a:r>
            <a:r>
              <a:rPr kumimoji="0" lang="en-US" altLang="en-US" sz="2000" b="0" i="1" u="none" strike="noStrike" cap="none" normalizeH="0" baseline="0">
                <a:ln>
                  <a:noFill/>
                </a:ln>
                <a:solidFill>
                  <a:schemeClr val="tx1"/>
                </a:solidFill>
                <a:effectLst/>
                <a:latin typeface="Lato" panose="020F0502020204030203"/>
              </a:rPr>
              <a:t>value;</a:t>
            </a:r>
            <a:endParaRPr kumimoji="0" lang="en-US" altLang="en-US" sz="1600" b="0" i="1" u="none" strike="noStrike" cap="none" normalizeH="0" baseline="0">
              <a:ln>
                <a:noFill/>
              </a:ln>
              <a:solidFill>
                <a:schemeClr val="tx1"/>
              </a:solidFill>
              <a:effectLst/>
              <a:latin typeface="Lato" panose="020F050202020403020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a:ln>
                  <a:noFill/>
                </a:ln>
                <a:solidFill>
                  <a:schemeClr val="tx1"/>
                </a:solidFill>
                <a:effectLst/>
                <a:latin typeface="Lato" panose="020F0502020204030203"/>
              </a:rPr>
              <a:t>    </a:t>
            </a:r>
            <a:r>
              <a:rPr kumimoji="0" lang="en-US" altLang="en-US" sz="2000" b="0" i="1" u="none" strike="noStrike" cap="none" normalizeH="0" baseline="0" err="1">
                <a:ln>
                  <a:noFill/>
                </a:ln>
                <a:solidFill>
                  <a:schemeClr val="tx1"/>
                </a:solidFill>
                <a:effectLst/>
                <a:latin typeface="Lato" panose="020F0502020204030203"/>
              </a:rPr>
              <a:t>int</a:t>
            </a:r>
            <a:r>
              <a:rPr kumimoji="0" lang="en-US" altLang="en-US" sz="1600" b="0" i="1" u="none" strike="noStrike" cap="none" normalizeH="0" baseline="0">
                <a:ln>
                  <a:noFill/>
                </a:ln>
                <a:solidFill>
                  <a:schemeClr val="tx1"/>
                </a:solidFill>
                <a:effectLst/>
                <a:latin typeface="Lato" panose="020F0502020204030203"/>
              </a:rPr>
              <a:t> </a:t>
            </a:r>
            <a:r>
              <a:rPr kumimoji="0" lang="en-US" altLang="en-US" sz="2000" b="0" i="1" u="none" strike="noStrike" cap="none" normalizeH="0" baseline="0">
                <a:ln>
                  <a:noFill/>
                </a:ln>
                <a:solidFill>
                  <a:schemeClr val="tx1"/>
                </a:solidFill>
                <a:effectLst/>
                <a:latin typeface="Lato" panose="020F0502020204030203"/>
              </a:rPr>
              <a:t>priority;</a:t>
            </a:r>
            <a:endParaRPr kumimoji="0" lang="en-US" altLang="en-US" sz="1600" b="0" i="1" u="none" strike="noStrike" cap="none" normalizeH="0" baseline="0">
              <a:ln>
                <a:noFill/>
              </a:ln>
              <a:solidFill>
                <a:schemeClr val="tx1"/>
              </a:solidFill>
              <a:effectLst/>
              <a:latin typeface="Lato" panose="020F050202020403020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a:ln>
                  <a:noFill/>
                </a:ln>
                <a:solidFill>
                  <a:schemeClr val="tx1"/>
                </a:solidFill>
                <a:effectLst/>
                <a:latin typeface="Lato" panose="020F0502020204030203"/>
              </a:rPr>
              <a:t>};</a:t>
            </a:r>
          </a:p>
        </p:txBody>
      </p:sp>
    </p:spTree>
    <p:extLst>
      <p:ext uri="{BB962C8B-B14F-4D97-AF65-F5344CB8AC3E}">
        <p14:creationId xmlns:p14="http://schemas.microsoft.com/office/powerpoint/2010/main" val="64225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58</a:t>
            </a:fld>
            <a:endParaRPr lang="en-US"/>
          </a:p>
        </p:txBody>
      </p:sp>
      <p:sp>
        <p:nvSpPr>
          <p:cNvPr id="4" name="Title 3"/>
          <p:cNvSpPr>
            <a:spLocks noGrp="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p>
        </p:txBody>
      </p:sp>
      <p:sp>
        <p:nvSpPr>
          <p:cNvPr id="9" name="Rectangle 3"/>
          <p:cNvSpPr>
            <a:spLocks noChangeArrowheads="1"/>
          </p:cNvSpPr>
          <p:nvPr/>
        </p:nvSpPr>
        <p:spPr bwMode="auto">
          <a:xfrm>
            <a:off x="533400" y="1336668"/>
            <a:ext cx="155433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err="1">
                <a:ln>
                  <a:noFill/>
                </a:ln>
                <a:solidFill>
                  <a:schemeClr val="tx1"/>
                </a:solidFill>
                <a:effectLst/>
                <a:latin typeface="Lato" panose="020F0502020204030203"/>
              </a:rPr>
              <a:t>struct</a:t>
            </a:r>
            <a:r>
              <a:rPr kumimoji="0" lang="en-US" altLang="en-US" sz="1600" b="0" i="0" u="none" strike="noStrike" cap="none" normalizeH="0" baseline="0">
                <a:ln>
                  <a:noFill/>
                </a:ln>
                <a:solidFill>
                  <a:schemeClr val="tx1"/>
                </a:solidFill>
                <a:effectLst/>
                <a:latin typeface="Lato" panose="020F0502020204030203"/>
              </a:rPr>
              <a:t> </a:t>
            </a:r>
            <a:r>
              <a:rPr kumimoji="0" lang="en-US" altLang="en-US" sz="2000" b="0" i="0" u="none" strike="noStrike" cap="none" normalizeH="0" baseline="0">
                <a:ln>
                  <a:noFill/>
                </a:ln>
                <a:solidFill>
                  <a:schemeClr val="tx1"/>
                </a:solidFill>
                <a:effectLst/>
                <a:latin typeface="Lato" panose="020F0502020204030203"/>
              </a:rPr>
              <a:t>item {</a:t>
            </a:r>
            <a:endParaRPr kumimoji="0" lang="en-US" altLang="en-US" sz="1600" b="0" i="0" u="none" strike="noStrike" cap="none" normalizeH="0" baseline="0">
              <a:ln>
                <a:noFill/>
              </a:ln>
              <a:solidFill>
                <a:schemeClr val="tx1"/>
              </a:solidFill>
              <a:effectLst/>
              <a:latin typeface="Lato" panose="020F050202020403020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Lato" panose="020F0502020204030203"/>
              </a:rPr>
              <a:t>    </a:t>
            </a:r>
            <a:r>
              <a:rPr kumimoji="0" lang="en-US" altLang="en-US" sz="2000" b="0" i="0" u="none" strike="noStrike" cap="none" normalizeH="0" baseline="0" err="1">
                <a:ln>
                  <a:noFill/>
                </a:ln>
                <a:solidFill>
                  <a:schemeClr val="tx1"/>
                </a:solidFill>
                <a:effectLst/>
                <a:latin typeface="Lato" panose="020F0502020204030203"/>
              </a:rPr>
              <a:t>int</a:t>
            </a:r>
            <a:r>
              <a:rPr kumimoji="0" lang="en-US" altLang="en-US" sz="1600" b="0" i="0" u="none" strike="noStrike" cap="none" normalizeH="0" baseline="0">
                <a:ln>
                  <a:noFill/>
                </a:ln>
                <a:solidFill>
                  <a:schemeClr val="tx1"/>
                </a:solidFill>
                <a:effectLst/>
                <a:latin typeface="Lato" panose="020F0502020204030203"/>
              </a:rPr>
              <a:t> </a:t>
            </a:r>
            <a:r>
              <a:rPr kumimoji="0" lang="en-US" altLang="en-US" sz="2000" b="0" i="0" u="none" strike="noStrike" cap="none" normalizeH="0" baseline="0">
                <a:ln>
                  <a:noFill/>
                </a:ln>
                <a:solidFill>
                  <a:schemeClr val="tx1"/>
                </a:solidFill>
                <a:effectLst/>
                <a:latin typeface="Lato" panose="020F0502020204030203"/>
              </a:rPr>
              <a:t>value;</a:t>
            </a:r>
            <a:endParaRPr kumimoji="0" lang="en-US" altLang="en-US" sz="1600" b="0" i="0" u="none" strike="noStrike" cap="none" normalizeH="0" baseline="0">
              <a:ln>
                <a:noFill/>
              </a:ln>
              <a:solidFill>
                <a:schemeClr val="tx1"/>
              </a:solidFill>
              <a:effectLst/>
              <a:latin typeface="Lato" panose="020F050202020403020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Lato" panose="020F0502020204030203"/>
              </a:rPr>
              <a:t>    </a:t>
            </a:r>
            <a:r>
              <a:rPr kumimoji="0" lang="en-US" altLang="en-US" sz="2000" b="0" i="0" u="none" strike="noStrike" cap="none" normalizeH="0" baseline="0" err="1">
                <a:ln>
                  <a:noFill/>
                </a:ln>
                <a:solidFill>
                  <a:schemeClr val="tx1"/>
                </a:solidFill>
                <a:effectLst/>
                <a:latin typeface="Lato" panose="020F0502020204030203"/>
              </a:rPr>
              <a:t>int</a:t>
            </a:r>
            <a:r>
              <a:rPr kumimoji="0" lang="en-US" altLang="en-US" sz="1600" b="0" i="0" u="none" strike="noStrike" cap="none" normalizeH="0" baseline="0">
                <a:ln>
                  <a:noFill/>
                </a:ln>
                <a:solidFill>
                  <a:schemeClr val="tx1"/>
                </a:solidFill>
                <a:effectLst/>
                <a:latin typeface="Lato" panose="020F0502020204030203"/>
              </a:rPr>
              <a:t> </a:t>
            </a:r>
            <a:r>
              <a:rPr kumimoji="0" lang="en-US" altLang="en-US" sz="2000" b="0" i="0" u="none" strike="noStrike" cap="none" normalizeH="0" baseline="0">
                <a:ln>
                  <a:noFill/>
                </a:ln>
                <a:solidFill>
                  <a:schemeClr val="tx1"/>
                </a:solidFill>
                <a:effectLst/>
                <a:latin typeface="Lato" panose="020F0502020204030203"/>
              </a:rPr>
              <a:t>priority;</a:t>
            </a:r>
            <a:endParaRPr kumimoji="0" lang="en-US" altLang="en-US" sz="1600" b="0" i="0" u="none" strike="noStrike" cap="none" normalizeH="0" baseline="0">
              <a:ln>
                <a:noFill/>
              </a:ln>
              <a:solidFill>
                <a:schemeClr val="tx1"/>
              </a:solidFill>
              <a:effectLst/>
              <a:latin typeface="Lato" panose="020F050202020403020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Lato" panose="020F0502020204030203"/>
              </a:rPr>
              <a:t>};</a:t>
            </a:r>
          </a:p>
        </p:txBody>
      </p:sp>
      <p:sp>
        <p:nvSpPr>
          <p:cNvPr id="12" name="Rectangle 11"/>
          <p:cNvSpPr/>
          <p:nvPr/>
        </p:nvSpPr>
        <p:spPr>
          <a:xfrm>
            <a:off x="3046685" y="1392469"/>
            <a:ext cx="1932645" cy="707886"/>
          </a:xfrm>
          <a:prstGeom prst="rect">
            <a:avLst/>
          </a:prstGeom>
        </p:spPr>
        <p:txBody>
          <a:bodyPr wrap="none">
            <a:spAutoFit/>
          </a:bodyPr>
          <a:lstStyle/>
          <a:p>
            <a:pPr lvl="0"/>
            <a:r>
              <a:rPr lang="en-US" altLang="en-US" sz="2000">
                <a:latin typeface="Lato" panose="020F0502020204030203"/>
              </a:rPr>
              <a:t>item </a:t>
            </a:r>
            <a:r>
              <a:rPr lang="en-US" altLang="en-US" sz="2000" err="1">
                <a:latin typeface="Lato" panose="020F0502020204030203"/>
              </a:rPr>
              <a:t>pr</a:t>
            </a:r>
            <a:r>
              <a:rPr lang="en-US" altLang="en-US" sz="2000">
                <a:latin typeface="Lato" panose="020F0502020204030203"/>
              </a:rPr>
              <a:t>[100000];</a:t>
            </a:r>
          </a:p>
          <a:p>
            <a:r>
              <a:rPr lang="en-US" sz="2000" err="1">
                <a:latin typeface="Lato" panose="020F0502020204030203"/>
              </a:rPr>
              <a:t>int</a:t>
            </a:r>
            <a:r>
              <a:rPr lang="en-US" sz="2000">
                <a:latin typeface="Lato" panose="020F0502020204030203"/>
              </a:rPr>
              <a:t> size = -1;</a:t>
            </a:r>
          </a:p>
        </p:txBody>
      </p:sp>
      <p:sp>
        <p:nvSpPr>
          <p:cNvPr id="14" name="Rectangle 13"/>
          <p:cNvSpPr/>
          <p:nvPr/>
        </p:nvSpPr>
        <p:spPr>
          <a:xfrm>
            <a:off x="381000" y="3178288"/>
            <a:ext cx="4572000" cy="1938992"/>
          </a:xfrm>
          <a:prstGeom prst="rect">
            <a:avLst/>
          </a:prstGeom>
        </p:spPr>
        <p:txBody>
          <a:bodyPr>
            <a:spAutoFit/>
          </a:bodyPr>
          <a:lstStyle/>
          <a:p>
            <a:r>
              <a:rPr lang="en-US" sz="2000"/>
              <a:t>void </a:t>
            </a:r>
            <a:r>
              <a:rPr lang="en-US" sz="2000" err="1"/>
              <a:t>enqueue</a:t>
            </a:r>
            <a:r>
              <a:rPr lang="en-US" sz="2000"/>
              <a:t>(</a:t>
            </a:r>
            <a:r>
              <a:rPr lang="en-US" sz="2000" err="1"/>
              <a:t>int</a:t>
            </a:r>
            <a:r>
              <a:rPr lang="en-US" sz="2000"/>
              <a:t> value, </a:t>
            </a:r>
            <a:r>
              <a:rPr lang="en-US" sz="2000" err="1"/>
              <a:t>int</a:t>
            </a:r>
            <a:r>
              <a:rPr lang="en-US" sz="2000"/>
              <a:t> priority)</a:t>
            </a:r>
          </a:p>
          <a:p>
            <a:r>
              <a:rPr lang="en-US" sz="2000"/>
              <a:t>{</a:t>
            </a:r>
          </a:p>
          <a:p>
            <a:r>
              <a:rPr lang="en-US" sz="2000"/>
              <a:t>	size++;</a:t>
            </a:r>
          </a:p>
          <a:p>
            <a:r>
              <a:rPr lang="en-US" sz="2000"/>
              <a:t> 	</a:t>
            </a:r>
            <a:r>
              <a:rPr lang="en-US" sz="2000" err="1"/>
              <a:t>pr</a:t>
            </a:r>
            <a:r>
              <a:rPr lang="en-US" sz="2000"/>
              <a:t>[size].value = value;</a:t>
            </a:r>
          </a:p>
          <a:p>
            <a:r>
              <a:rPr lang="en-US" sz="2000"/>
              <a:t>    	</a:t>
            </a:r>
            <a:r>
              <a:rPr lang="en-US" sz="2000" err="1"/>
              <a:t>pr</a:t>
            </a:r>
            <a:r>
              <a:rPr lang="en-US" sz="2000"/>
              <a:t>[size].priority = priority;</a:t>
            </a:r>
          </a:p>
          <a:p>
            <a:r>
              <a:rPr lang="en-US" sz="2000"/>
              <a:t>}</a:t>
            </a:r>
          </a:p>
        </p:txBody>
      </p:sp>
      <p:sp>
        <p:nvSpPr>
          <p:cNvPr id="16" name="Rectangle 15"/>
          <p:cNvSpPr/>
          <p:nvPr/>
        </p:nvSpPr>
        <p:spPr>
          <a:xfrm>
            <a:off x="4800600" y="3147209"/>
            <a:ext cx="4572000" cy="2862322"/>
          </a:xfrm>
          <a:prstGeom prst="rect">
            <a:avLst/>
          </a:prstGeom>
        </p:spPr>
        <p:txBody>
          <a:bodyPr>
            <a:spAutoFit/>
          </a:bodyPr>
          <a:lstStyle/>
          <a:p>
            <a:r>
              <a:rPr lang="en-US" sz="2000"/>
              <a:t>void </a:t>
            </a:r>
            <a:r>
              <a:rPr lang="en-US" sz="2000" err="1"/>
              <a:t>dequeue</a:t>
            </a:r>
            <a:r>
              <a:rPr lang="en-US" sz="2000"/>
              <a:t>()</a:t>
            </a:r>
          </a:p>
          <a:p>
            <a:r>
              <a:rPr lang="en-US" sz="2000"/>
              <a:t>{</a:t>
            </a:r>
          </a:p>
          <a:p>
            <a:r>
              <a:rPr lang="en-US" sz="2000"/>
              <a:t>	</a:t>
            </a:r>
            <a:r>
              <a:rPr lang="en-US" sz="2000" err="1"/>
              <a:t>int</a:t>
            </a:r>
            <a:r>
              <a:rPr lang="en-US" sz="2000"/>
              <a:t> </a:t>
            </a:r>
            <a:r>
              <a:rPr lang="en-US" sz="2000" err="1"/>
              <a:t>ind</a:t>
            </a:r>
            <a:r>
              <a:rPr lang="en-US" sz="2000"/>
              <a:t> = peek();</a:t>
            </a:r>
          </a:p>
          <a:p>
            <a:r>
              <a:rPr lang="en-US" sz="2000"/>
              <a:t> </a:t>
            </a:r>
          </a:p>
          <a:p>
            <a:r>
              <a:rPr lang="en-US" sz="2000"/>
              <a:t>	for (</a:t>
            </a:r>
            <a:r>
              <a:rPr lang="en-US" sz="2000" err="1"/>
              <a:t>int</a:t>
            </a:r>
            <a:r>
              <a:rPr lang="en-US" sz="2000"/>
              <a:t> </a:t>
            </a:r>
            <a:r>
              <a:rPr lang="en-US" sz="2000" err="1"/>
              <a:t>i</a:t>
            </a:r>
            <a:r>
              <a:rPr lang="en-US" sz="2000"/>
              <a:t> = </a:t>
            </a:r>
            <a:r>
              <a:rPr lang="en-US" sz="2000" err="1"/>
              <a:t>ind</a:t>
            </a:r>
            <a:r>
              <a:rPr lang="en-US" sz="2000"/>
              <a:t>; </a:t>
            </a:r>
            <a:r>
              <a:rPr lang="en-US" sz="2000" err="1"/>
              <a:t>i</a:t>
            </a:r>
            <a:r>
              <a:rPr lang="en-US" sz="2000"/>
              <a:t> &lt; size; </a:t>
            </a:r>
            <a:r>
              <a:rPr lang="en-US" sz="2000" err="1"/>
              <a:t>i</a:t>
            </a:r>
            <a:r>
              <a:rPr lang="en-US" sz="2000"/>
              <a:t>++) {</a:t>
            </a:r>
          </a:p>
          <a:p>
            <a:r>
              <a:rPr lang="en-US" sz="2000"/>
              <a:t>        		</a:t>
            </a:r>
            <a:r>
              <a:rPr lang="en-US" sz="2000" err="1"/>
              <a:t>pr</a:t>
            </a:r>
            <a:r>
              <a:rPr lang="en-US" sz="2000"/>
              <a:t>[</a:t>
            </a:r>
            <a:r>
              <a:rPr lang="en-US" sz="2000" err="1"/>
              <a:t>i</a:t>
            </a:r>
            <a:r>
              <a:rPr lang="en-US" sz="2000"/>
              <a:t>] = </a:t>
            </a:r>
            <a:r>
              <a:rPr lang="en-US" sz="2000" err="1"/>
              <a:t>pr</a:t>
            </a:r>
            <a:r>
              <a:rPr lang="en-US" sz="2000"/>
              <a:t>[</a:t>
            </a:r>
            <a:r>
              <a:rPr lang="en-US" sz="2000" err="1"/>
              <a:t>i</a:t>
            </a:r>
            <a:r>
              <a:rPr lang="en-US" sz="2000"/>
              <a:t> + 1];</a:t>
            </a:r>
          </a:p>
          <a:p>
            <a:r>
              <a:rPr lang="en-US" sz="2000"/>
              <a:t>    	} </a:t>
            </a:r>
          </a:p>
          <a:p>
            <a:pPr lvl="1"/>
            <a:r>
              <a:rPr lang="en-US" sz="2000"/>
              <a:t>size--;</a:t>
            </a:r>
          </a:p>
          <a:p>
            <a:r>
              <a:rPr lang="en-US" sz="2000"/>
              <a:t>}</a:t>
            </a:r>
          </a:p>
        </p:txBody>
      </p:sp>
      <p:sp>
        <p:nvSpPr>
          <p:cNvPr id="20" name="Rectangle 19"/>
          <p:cNvSpPr/>
          <p:nvPr/>
        </p:nvSpPr>
        <p:spPr>
          <a:xfrm>
            <a:off x="381000" y="782369"/>
            <a:ext cx="2313454" cy="523220"/>
          </a:xfrm>
          <a:prstGeom prst="rect">
            <a:avLst/>
          </a:prstGeom>
        </p:spPr>
        <p:txBody>
          <a:bodyPr wrap="none">
            <a:spAutoFit/>
          </a:bodyPr>
          <a:lstStyle/>
          <a:p>
            <a:r>
              <a:rPr lang="en-US" sz="2800"/>
              <a:t>Priority Queue</a:t>
            </a:r>
          </a:p>
        </p:txBody>
      </p:sp>
    </p:spTree>
    <p:extLst>
      <p:ext uri="{BB962C8B-B14F-4D97-AF65-F5344CB8AC3E}">
        <p14:creationId xmlns:p14="http://schemas.microsoft.com/office/powerpoint/2010/main" val="2104624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59</a:t>
            </a:fld>
            <a:endParaRPr lang="en-US"/>
          </a:p>
        </p:txBody>
      </p:sp>
      <p:sp>
        <p:nvSpPr>
          <p:cNvPr id="4" name="Title 3"/>
          <p:cNvSpPr>
            <a:spLocks noGrp="1"/>
          </p:cNvSpPr>
          <p:nvPr>
            <p:ph type="title"/>
          </p:nvPr>
        </p:nvSpPr>
        <p:spPr/>
        <p:txBody>
          <a:bodyPr>
            <a:normAutofit fontScale="90000"/>
          </a:bodyPr>
          <a:lstStyle/>
          <a:p>
            <a:r>
              <a:rPr lang="en-US" altLang="en-US"/>
              <a:t>2.2. </a:t>
            </a:r>
            <a:r>
              <a:rPr lang="en-US" altLang="en-US" err="1"/>
              <a:t>Cài</a:t>
            </a:r>
            <a:r>
              <a:rPr lang="en-US" altLang="en-US"/>
              <a:t> </a:t>
            </a:r>
            <a:r>
              <a:rPr lang="en-US" altLang="en-US" err="1"/>
              <a:t>đặt</a:t>
            </a:r>
            <a:r>
              <a:rPr lang="en-US" altLang="en-US"/>
              <a:t> </a:t>
            </a:r>
            <a:r>
              <a:rPr lang="en-US" altLang="en-US" err="1"/>
              <a:t>danh</a:t>
            </a:r>
            <a:r>
              <a:rPr lang="en-US" altLang="en-US"/>
              <a:t> </a:t>
            </a:r>
            <a:r>
              <a:rPr lang="en-US" altLang="en-US" err="1"/>
              <a:t>sách</a:t>
            </a:r>
            <a:r>
              <a:rPr lang="en-US" altLang="en-US"/>
              <a:t> </a:t>
            </a:r>
            <a:r>
              <a:rPr lang="en-US" altLang="en-US" err="1"/>
              <a:t>bằng</a:t>
            </a:r>
            <a:r>
              <a:rPr lang="en-US" altLang="en-US"/>
              <a:t> CTLT </a:t>
            </a:r>
            <a:r>
              <a:rPr lang="en-US" altLang="en-US" err="1"/>
              <a:t>tuần</a:t>
            </a:r>
            <a:r>
              <a:rPr lang="en-US" altLang="en-US"/>
              <a:t> </a:t>
            </a:r>
            <a:r>
              <a:rPr lang="en-US" altLang="en-US" err="1"/>
              <a:t>tự</a:t>
            </a:r>
            <a:br>
              <a:rPr lang="en-US" altLang="en-US"/>
            </a:br>
            <a:r>
              <a:rPr lang="en-US" altLang="en-US" i="1" err="1"/>
              <a:t>Cài</a:t>
            </a:r>
            <a:r>
              <a:rPr lang="en-US" altLang="en-US" i="1"/>
              <a:t> </a:t>
            </a:r>
            <a:r>
              <a:rPr lang="en-US" altLang="en-US" i="1" err="1"/>
              <a:t>đặt</a:t>
            </a:r>
            <a:r>
              <a:rPr lang="en-US" altLang="en-US" i="1"/>
              <a:t> </a:t>
            </a:r>
            <a:r>
              <a:rPr lang="en-US" altLang="en-US" i="1" err="1"/>
              <a:t>các</a:t>
            </a:r>
            <a:r>
              <a:rPr lang="en-US" altLang="en-US" i="1"/>
              <a:t> </a:t>
            </a:r>
            <a:r>
              <a:rPr lang="en-US" altLang="en-US" i="1" err="1"/>
              <a:t>thao</a:t>
            </a:r>
            <a:r>
              <a:rPr lang="en-US" altLang="en-US" i="1"/>
              <a:t> </a:t>
            </a:r>
            <a:r>
              <a:rPr lang="en-US" altLang="en-US" i="1" err="1"/>
              <a:t>tác</a:t>
            </a:r>
            <a:r>
              <a:rPr lang="en-US" altLang="en-US" i="1"/>
              <a:t> </a:t>
            </a:r>
            <a:r>
              <a:rPr lang="en-US" altLang="en-US" i="1" err="1"/>
              <a:t>cơ</a:t>
            </a:r>
            <a:r>
              <a:rPr lang="en-US" altLang="en-US" i="1"/>
              <a:t> </a:t>
            </a:r>
            <a:r>
              <a:rPr lang="en-US" altLang="en-US" i="1" err="1"/>
              <a:t>bản</a:t>
            </a:r>
            <a:endParaRPr lang="en-US"/>
          </a:p>
        </p:txBody>
      </p:sp>
      <p:sp>
        <p:nvSpPr>
          <p:cNvPr id="18" name="Rectangle 17"/>
          <p:cNvSpPr/>
          <p:nvPr/>
        </p:nvSpPr>
        <p:spPr>
          <a:xfrm>
            <a:off x="2779867" y="1305589"/>
            <a:ext cx="5151385" cy="5078313"/>
          </a:xfrm>
          <a:prstGeom prst="rect">
            <a:avLst/>
          </a:prstGeom>
        </p:spPr>
        <p:txBody>
          <a:bodyPr wrap="square">
            <a:spAutoFit/>
          </a:bodyPr>
          <a:lstStyle/>
          <a:p>
            <a:r>
              <a:rPr lang="en-US" err="1"/>
              <a:t>int</a:t>
            </a:r>
            <a:r>
              <a:rPr lang="en-US"/>
              <a:t> peek()</a:t>
            </a:r>
          </a:p>
          <a:p>
            <a:r>
              <a:rPr lang="en-US"/>
              <a:t>{</a:t>
            </a:r>
          </a:p>
          <a:p>
            <a:r>
              <a:rPr lang="en-US"/>
              <a:t>    </a:t>
            </a:r>
            <a:r>
              <a:rPr lang="en-US" err="1"/>
              <a:t>int</a:t>
            </a:r>
            <a:r>
              <a:rPr lang="en-US"/>
              <a:t> </a:t>
            </a:r>
            <a:r>
              <a:rPr lang="en-US" err="1"/>
              <a:t>highestPriority</a:t>
            </a:r>
            <a:r>
              <a:rPr lang="en-US"/>
              <a:t> = INT_MIN;</a:t>
            </a:r>
          </a:p>
          <a:p>
            <a:r>
              <a:rPr lang="en-US"/>
              <a:t>    </a:t>
            </a:r>
            <a:r>
              <a:rPr lang="en-US" err="1"/>
              <a:t>int</a:t>
            </a:r>
            <a:r>
              <a:rPr lang="en-US"/>
              <a:t> </a:t>
            </a:r>
            <a:r>
              <a:rPr lang="en-US" err="1"/>
              <a:t>ind</a:t>
            </a:r>
            <a:r>
              <a:rPr lang="en-US"/>
              <a:t> = -1;</a:t>
            </a:r>
          </a:p>
          <a:p>
            <a:r>
              <a:rPr lang="en-US"/>
              <a:t> </a:t>
            </a:r>
          </a:p>
          <a:p>
            <a:r>
              <a:rPr lang="en-US"/>
              <a:t>   for (</a:t>
            </a:r>
            <a:r>
              <a:rPr lang="en-US" err="1"/>
              <a:t>int</a:t>
            </a:r>
            <a:r>
              <a:rPr lang="en-US"/>
              <a:t> </a:t>
            </a:r>
            <a:r>
              <a:rPr lang="en-US" err="1"/>
              <a:t>i</a:t>
            </a:r>
            <a:r>
              <a:rPr lang="en-US"/>
              <a:t> = 0; </a:t>
            </a:r>
            <a:r>
              <a:rPr lang="en-US" err="1"/>
              <a:t>i</a:t>
            </a:r>
            <a:r>
              <a:rPr lang="en-US"/>
              <a:t> &lt;= size; </a:t>
            </a:r>
            <a:r>
              <a:rPr lang="en-US" err="1"/>
              <a:t>i</a:t>
            </a:r>
            <a:r>
              <a:rPr lang="en-US"/>
              <a:t>++) {</a:t>
            </a:r>
          </a:p>
          <a:p>
            <a:r>
              <a:rPr lang="en-US"/>
              <a:t>      if (</a:t>
            </a:r>
            <a:r>
              <a:rPr lang="en-US" err="1"/>
              <a:t>highestPriority</a:t>
            </a:r>
            <a:r>
              <a:rPr lang="en-US"/>
              <a:t> == </a:t>
            </a:r>
            <a:r>
              <a:rPr lang="en-US" err="1"/>
              <a:t>pr</a:t>
            </a:r>
            <a:r>
              <a:rPr lang="en-US"/>
              <a:t>[</a:t>
            </a:r>
            <a:r>
              <a:rPr lang="en-US" err="1"/>
              <a:t>i</a:t>
            </a:r>
            <a:r>
              <a:rPr lang="en-US"/>
              <a:t>].priority &amp;&amp; </a:t>
            </a:r>
            <a:r>
              <a:rPr lang="en-US" err="1"/>
              <a:t>ind</a:t>
            </a:r>
            <a:r>
              <a:rPr lang="en-US"/>
              <a:t> &gt; -1</a:t>
            </a:r>
          </a:p>
          <a:p>
            <a:r>
              <a:rPr lang="en-US"/>
              <a:t>            &amp;&amp; </a:t>
            </a:r>
            <a:r>
              <a:rPr lang="en-US" err="1"/>
              <a:t>pr</a:t>
            </a:r>
            <a:r>
              <a:rPr lang="en-US"/>
              <a:t>[</a:t>
            </a:r>
            <a:r>
              <a:rPr lang="en-US" err="1"/>
              <a:t>ind</a:t>
            </a:r>
            <a:r>
              <a:rPr lang="en-US"/>
              <a:t>].value &lt; </a:t>
            </a:r>
            <a:r>
              <a:rPr lang="en-US" err="1"/>
              <a:t>pr</a:t>
            </a:r>
            <a:r>
              <a:rPr lang="en-US"/>
              <a:t>[</a:t>
            </a:r>
            <a:r>
              <a:rPr lang="en-US" err="1"/>
              <a:t>i</a:t>
            </a:r>
            <a:r>
              <a:rPr lang="en-US"/>
              <a:t>].value) {</a:t>
            </a:r>
          </a:p>
          <a:p>
            <a:r>
              <a:rPr lang="en-US"/>
              <a:t>            </a:t>
            </a:r>
            <a:r>
              <a:rPr lang="en-US" err="1"/>
              <a:t>highestPriority</a:t>
            </a:r>
            <a:r>
              <a:rPr lang="en-US"/>
              <a:t> = </a:t>
            </a:r>
            <a:r>
              <a:rPr lang="en-US" err="1"/>
              <a:t>pr</a:t>
            </a:r>
            <a:r>
              <a:rPr lang="en-US"/>
              <a:t>[</a:t>
            </a:r>
            <a:r>
              <a:rPr lang="en-US" err="1"/>
              <a:t>i</a:t>
            </a:r>
            <a:r>
              <a:rPr lang="en-US"/>
              <a:t>].priority;</a:t>
            </a:r>
          </a:p>
          <a:p>
            <a:r>
              <a:rPr lang="en-US"/>
              <a:t>            </a:t>
            </a:r>
            <a:r>
              <a:rPr lang="en-US" err="1"/>
              <a:t>ind</a:t>
            </a:r>
            <a:r>
              <a:rPr lang="en-US"/>
              <a:t> = </a:t>
            </a:r>
            <a:r>
              <a:rPr lang="en-US" err="1"/>
              <a:t>i</a:t>
            </a:r>
            <a:r>
              <a:rPr lang="en-US"/>
              <a:t>;</a:t>
            </a:r>
          </a:p>
          <a:p>
            <a:r>
              <a:rPr lang="en-US"/>
              <a:t>        }</a:t>
            </a:r>
          </a:p>
          <a:p>
            <a:r>
              <a:rPr lang="en-US"/>
              <a:t>        else if (</a:t>
            </a:r>
            <a:r>
              <a:rPr lang="en-US" err="1"/>
              <a:t>highestPriority</a:t>
            </a:r>
            <a:r>
              <a:rPr lang="en-US"/>
              <a:t> &lt; </a:t>
            </a:r>
            <a:r>
              <a:rPr lang="en-US" err="1"/>
              <a:t>pr</a:t>
            </a:r>
            <a:r>
              <a:rPr lang="en-US"/>
              <a:t>[</a:t>
            </a:r>
            <a:r>
              <a:rPr lang="en-US" err="1"/>
              <a:t>i</a:t>
            </a:r>
            <a:r>
              <a:rPr lang="en-US"/>
              <a:t>].priority) {</a:t>
            </a:r>
          </a:p>
          <a:p>
            <a:r>
              <a:rPr lang="en-US"/>
              <a:t>            </a:t>
            </a:r>
            <a:r>
              <a:rPr lang="en-US" err="1"/>
              <a:t>highestPriority</a:t>
            </a:r>
            <a:r>
              <a:rPr lang="en-US"/>
              <a:t> = </a:t>
            </a:r>
            <a:r>
              <a:rPr lang="en-US" err="1"/>
              <a:t>pr</a:t>
            </a:r>
            <a:r>
              <a:rPr lang="en-US"/>
              <a:t>[</a:t>
            </a:r>
            <a:r>
              <a:rPr lang="en-US" err="1"/>
              <a:t>i</a:t>
            </a:r>
            <a:r>
              <a:rPr lang="en-US"/>
              <a:t>].priority;</a:t>
            </a:r>
          </a:p>
          <a:p>
            <a:r>
              <a:rPr lang="en-US"/>
              <a:t>            </a:t>
            </a:r>
            <a:r>
              <a:rPr lang="en-US" err="1"/>
              <a:t>ind</a:t>
            </a:r>
            <a:r>
              <a:rPr lang="en-US"/>
              <a:t> = </a:t>
            </a:r>
            <a:r>
              <a:rPr lang="en-US" err="1"/>
              <a:t>i</a:t>
            </a:r>
            <a:r>
              <a:rPr lang="en-US"/>
              <a:t>;</a:t>
            </a:r>
          </a:p>
          <a:p>
            <a:r>
              <a:rPr lang="en-US"/>
              <a:t>        }</a:t>
            </a:r>
          </a:p>
          <a:p>
            <a:r>
              <a:rPr lang="en-US"/>
              <a:t>    }</a:t>
            </a:r>
          </a:p>
          <a:p>
            <a:r>
              <a:rPr lang="en-US"/>
              <a:t>     return </a:t>
            </a:r>
            <a:r>
              <a:rPr lang="en-US" err="1"/>
              <a:t>ind</a:t>
            </a:r>
            <a:r>
              <a:rPr lang="en-US"/>
              <a:t>;</a:t>
            </a:r>
          </a:p>
          <a:p>
            <a:r>
              <a:rPr lang="en-US"/>
              <a:t>}</a:t>
            </a:r>
          </a:p>
        </p:txBody>
      </p:sp>
      <p:sp>
        <p:nvSpPr>
          <p:cNvPr id="10" name="Rectangle 9"/>
          <p:cNvSpPr/>
          <p:nvPr/>
        </p:nvSpPr>
        <p:spPr>
          <a:xfrm>
            <a:off x="381000" y="782369"/>
            <a:ext cx="2313454" cy="523220"/>
          </a:xfrm>
          <a:prstGeom prst="rect">
            <a:avLst/>
          </a:prstGeom>
        </p:spPr>
        <p:txBody>
          <a:bodyPr wrap="none">
            <a:spAutoFit/>
          </a:bodyPr>
          <a:lstStyle/>
          <a:p>
            <a:r>
              <a:rPr lang="en-US" sz="2800"/>
              <a:t>Priority Queue</a:t>
            </a:r>
          </a:p>
        </p:txBody>
      </p:sp>
    </p:spTree>
    <p:extLst>
      <p:ext uri="{BB962C8B-B14F-4D97-AF65-F5344CB8AC3E}">
        <p14:creationId xmlns:p14="http://schemas.microsoft.com/office/powerpoint/2010/main" val="2718241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60</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1937839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3A716F-3C30-6832-9704-B77E12EE213E}"/>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124DD187-A8D6-E800-0941-CB4713AE545E}"/>
              </a:ext>
            </a:extLst>
          </p:cNvPr>
          <p:cNvSpPr>
            <a:spLocks noGrp="1"/>
          </p:cNvSpPr>
          <p:nvPr>
            <p:ph type="sldNum" sz="quarter" idx="12"/>
          </p:nvPr>
        </p:nvSpPr>
        <p:spPr/>
        <p:txBody>
          <a:bodyPr/>
          <a:lstStyle/>
          <a:p>
            <a:fld id="{BC24317B-5122-4A99-A6E9-FA23C146A7E0}" type="slidenum">
              <a:rPr lang="en-US" smtClean="0"/>
              <a:pPr/>
              <a:t>61</a:t>
            </a:fld>
            <a:endParaRPr lang="en-US"/>
          </a:p>
        </p:txBody>
      </p:sp>
      <p:sp>
        <p:nvSpPr>
          <p:cNvPr id="4" name="Title 3">
            <a:extLst>
              <a:ext uri="{FF2B5EF4-FFF2-40B4-BE49-F238E27FC236}">
                <a16:creationId xmlns:a16="http://schemas.microsoft.com/office/drawing/2014/main" id="{23190421-85A2-8724-931F-B31C0AB70D23}"/>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90B708D9-5688-8048-CC23-6BACDF6B3AAE}"/>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2017939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A7FF0D-642A-4E1E-273F-C27A067C28F7}"/>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4E7EF7C0-DDDA-B4A4-04CC-8221E9560597}"/>
              </a:ext>
            </a:extLst>
          </p:cNvPr>
          <p:cNvSpPr>
            <a:spLocks noGrp="1"/>
          </p:cNvSpPr>
          <p:nvPr>
            <p:ph type="sldNum" sz="quarter" idx="12"/>
          </p:nvPr>
        </p:nvSpPr>
        <p:spPr/>
        <p:txBody>
          <a:bodyPr/>
          <a:lstStyle/>
          <a:p>
            <a:fld id="{BC24317B-5122-4A99-A6E9-FA23C146A7E0}" type="slidenum">
              <a:rPr lang="en-US" smtClean="0"/>
              <a:pPr/>
              <a:t>62</a:t>
            </a:fld>
            <a:endParaRPr lang="en-US"/>
          </a:p>
        </p:txBody>
      </p:sp>
      <p:sp>
        <p:nvSpPr>
          <p:cNvPr id="4" name="Title 3">
            <a:extLst>
              <a:ext uri="{FF2B5EF4-FFF2-40B4-BE49-F238E27FC236}">
                <a16:creationId xmlns:a16="http://schemas.microsoft.com/office/drawing/2014/main" id="{941893B6-279D-F343-6D98-F91FB9DA9354}"/>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F25E055E-7127-C145-065E-C856AD55FFA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123032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B8408C6-FB2B-815D-A5C7-D484D61301FB}"/>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C1B88339-23FC-48FF-6179-3F9D06652EC8}"/>
              </a:ext>
            </a:extLst>
          </p:cNvPr>
          <p:cNvSpPr>
            <a:spLocks noGrp="1"/>
          </p:cNvSpPr>
          <p:nvPr>
            <p:ph type="sldNum" sz="quarter" idx="12"/>
          </p:nvPr>
        </p:nvSpPr>
        <p:spPr/>
        <p:txBody>
          <a:bodyPr/>
          <a:lstStyle/>
          <a:p>
            <a:fld id="{BC24317B-5122-4A99-A6E9-FA23C146A7E0}" type="slidenum">
              <a:rPr lang="en-US" smtClean="0"/>
              <a:pPr/>
              <a:t>63</a:t>
            </a:fld>
            <a:endParaRPr lang="en-US"/>
          </a:p>
        </p:txBody>
      </p:sp>
      <p:sp>
        <p:nvSpPr>
          <p:cNvPr id="4" name="Title 3">
            <a:extLst>
              <a:ext uri="{FF2B5EF4-FFF2-40B4-BE49-F238E27FC236}">
                <a16:creationId xmlns:a16="http://schemas.microsoft.com/office/drawing/2014/main" id="{B56AABCC-56DF-FC49-6E38-768AA6601345}"/>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159BA80D-9558-6C4B-CF41-2A78A73C0BE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5033318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A8D828-8F65-C4FC-D2EF-564A29F5DC04}"/>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D3C5FC06-157E-FB47-5038-31A5E256EADD}"/>
              </a:ext>
            </a:extLst>
          </p:cNvPr>
          <p:cNvSpPr>
            <a:spLocks noGrp="1"/>
          </p:cNvSpPr>
          <p:nvPr>
            <p:ph type="sldNum" sz="quarter" idx="12"/>
          </p:nvPr>
        </p:nvSpPr>
        <p:spPr/>
        <p:txBody>
          <a:bodyPr/>
          <a:lstStyle/>
          <a:p>
            <a:fld id="{BC24317B-5122-4A99-A6E9-FA23C146A7E0}" type="slidenum">
              <a:rPr lang="en-US" smtClean="0"/>
              <a:pPr/>
              <a:t>64</a:t>
            </a:fld>
            <a:endParaRPr lang="en-US"/>
          </a:p>
        </p:txBody>
      </p:sp>
      <p:sp>
        <p:nvSpPr>
          <p:cNvPr id="4" name="Title 3">
            <a:extLst>
              <a:ext uri="{FF2B5EF4-FFF2-40B4-BE49-F238E27FC236}">
                <a16:creationId xmlns:a16="http://schemas.microsoft.com/office/drawing/2014/main" id="{AAF5CB53-AFB0-E11F-9D50-A260B4450451}"/>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E55BCF4D-CAB2-09AF-6B0E-0F4F854608F0}"/>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6342880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BE776B0-1FAE-8275-45D4-52A3CD939EBB}"/>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393521C0-CDBE-E571-5CC3-C667D0E086D9}"/>
              </a:ext>
            </a:extLst>
          </p:cNvPr>
          <p:cNvSpPr>
            <a:spLocks noGrp="1"/>
          </p:cNvSpPr>
          <p:nvPr>
            <p:ph type="sldNum" sz="quarter" idx="12"/>
          </p:nvPr>
        </p:nvSpPr>
        <p:spPr/>
        <p:txBody>
          <a:bodyPr/>
          <a:lstStyle/>
          <a:p>
            <a:fld id="{BC24317B-5122-4A99-A6E9-FA23C146A7E0}" type="slidenum">
              <a:rPr lang="en-US" smtClean="0"/>
              <a:pPr/>
              <a:t>65</a:t>
            </a:fld>
            <a:endParaRPr lang="en-US"/>
          </a:p>
        </p:txBody>
      </p:sp>
      <p:sp>
        <p:nvSpPr>
          <p:cNvPr id="4" name="Title 3">
            <a:extLst>
              <a:ext uri="{FF2B5EF4-FFF2-40B4-BE49-F238E27FC236}">
                <a16:creationId xmlns:a16="http://schemas.microsoft.com/office/drawing/2014/main" id="{D0ACAC05-9542-D5B6-F999-4FD87BBCC00F}"/>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EEBED30A-28D4-A46E-0EFE-E12CEBA9BE7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568866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1D29DF-E942-4D75-012F-1C24C231D1D5}"/>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82D7D5C1-6E50-4329-D844-070CF136F2E9}"/>
              </a:ext>
            </a:extLst>
          </p:cNvPr>
          <p:cNvSpPr>
            <a:spLocks noGrp="1"/>
          </p:cNvSpPr>
          <p:nvPr>
            <p:ph type="sldNum" sz="quarter" idx="12"/>
          </p:nvPr>
        </p:nvSpPr>
        <p:spPr/>
        <p:txBody>
          <a:bodyPr/>
          <a:lstStyle/>
          <a:p>
            <a:fld id="{BC24317B-5122-4A99-A6E9-FA23C146A7E0}" type="slidenum">
              <a:rPr lang="en-US" smtClean="0"/>
              <a:pPr/>
              <a:t>66</a:t>
            </a:fld>
            <a:endParaRPr lang="en-US"/>
          </a:p>
        </p:txBody>
      </p:sp>
      <p:sp>
        <p:nvSpPr>
          <p:cNvPr id="4" name="Title 3">
            <a:extLst>
              <a:ext uri="{FF2B5EF4-FFF2-40B4-BE49-F238E27FC236}">
                <a16:creationId xmlns:a16="http://schemas.microsoft.com/office/drawing/2014/main" id="{7A946673-8909-0D89-ECC3-43928D8E621A}"/>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CC58DB19-8CE5-BD75-7746-1A39D83D1568}"/>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5865715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E7D17F-DC29-FD7A-E260-AEA34095A4AB}"/>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9F6C6F25-4927-6841-2DA5-359B34EDA82A}"/>
              </a:ext>
            </a:extLst>
          </p:cNvPr>
          <p:cNvSpPr>
            <a:spLocks noGrp="1"/>
          </p:cNvSpPr>
          <p:nvPr>
            <p:ph type="sldNum" sz="quarter" idx="12"/>
          </p:nvPr>
        </p:nvSpPr>
        <p:spPr/>
        <p:txBody>
          <a:bodyPr/>
          <a:lstStyle/>
          <a:p>
            <a:fld id="{BC24317B-5122-4A99-A6E9-FA23C146A7E0}" type="slidenum">
              <a:rPr lang="en-US" smtClean="0"/>
              <a:pPr/>
              <a:t>67</a:t>
            </a:fld>
            <a:endParaRPr lang="en-US"/>
          </a:p>
        </p:txBody>
      </p:sp>
      <p:sp>
        <p:nvSpPr>
          <p:cNvPr id="4" name="Title 3">
            <a:extLst>
              <a:ext uri="{FF2B5EF4-FFF2-40B4-BE49-F238E27FC236}">
                <a16:creationId xmlns:a16="http://schemas.microsoft.com/office/drawing/2014/main" id="{61D79AAB-BA39-3702-89F7-D0B5C1948F0C}"/>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21B8FD89-7C86-8A54-0A0B-4F9873CDF59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7722932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BA8542-C10F-E49F-B950-C608449F4CEE}"/>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986D9035-9E1E-2D6A-ED8E-534D0419A456}"/>
              </a:ext>
            </a:extLst>
          </p:cNvPr>
          <p:cNvSpPr>
            <a:spLocks noGrp="1"/>
          </p:cNvSpPr>
          <p:nvPr>
            <p:ph type="sldNum" sz="quarter" idx="12"/>
          </p:nvPr>
        </p:nvSpPr>
        <p:spPr/>
        <p:txBody>
          <a:bodyPr/>
          <a:lstStyle/>
          <a:p>
            <a:fld id="{BC24317B-5122-4A99-A6E9-FA23C146A7E0}" type="slidenum">
              <a:rPr lang="en-US" smtClean="0"/>
              <a:pPr/>
              <a:t>68</a:t>
            </a:fld>
            <a:endParaRPr lang="en-US"/>
          </a:p>
        </p:txBody>
      </p:sp>
      <p:sp>
        <p:nvSpPr>
          <p:cNvPr id="4" name="Title 3">
            <a:extLst>
              <a:ext uri="{FF2B5EF4-FFF2-40B4-BE49-F238E27FC236}">
                <a16:creationId xmlns:a16="http://schemas.microsoft.com/office/drawing/2014/main" id="{39B6EF9C-82A6-A0E0-0EE2-C899E8C51633}"/>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56ACFC71-CEB4-4375-B4FD-24B180A3D7D5}"/>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1099497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FA056C-8900-635F-DB5D-039059A6D220}"/>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D569273A-4214-56C4-2AF6-98556B41C3A9}"/>
              </a:ext>
            </a:extLst>
          </p:cNvPr>
          <p:cNvSpPr>
            <a:spLocks noGrp="1"/>
          </p:cNvSpPr>
          <p:nvPr>
            <p:ph type="sldNum" sz="quarter" idx="12"/>
          </p:nvPr>
        </p:nvSpPr>
        <p:spPr/>
        <p:txBody>
          <a:bodyPr/>
          <a:lstStyle/>
          <a:p>
            <a:fld id="{BC24317B-5122-4A99-A6E9-FA23C146A7E0}" type="slidenum">
              <a:rPr lang="en-US" smtClean="0"/>
              <a:pPr/>
              <a:t>69</a:t>
            </a:fld>
            <a:endParaRPr lang="en-US"/>
          </a:p>
        </p:txBody>
      </p:sp>
      <p:sp>
        <p:nvSpPr>
          <p:cNvPr id="4" name="Title 3">
            <a:extLst>
              <a:ext uri="{FF2B5EF4-FFF2-40B4-BE49-F238E27FC236}">
                <a16:creationId xmlns:a16="http://schemas.microsoft.com/office/drawing/2014/main" id="{70D65F46-E123-B2CF-2948-00C4B0D3BCC5}"/>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A30454E3-B930-E914-5B94-FC250E7EF394}"/>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1761426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453744-0534-C1FC-5162-24E17C60B5DD}"/>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E8587331-B5E9-916D-7974-54E644401224}"/>
              </a:ext>
            </a:extLst>
          </p:cNvPr>
          <p:cNvSpPr>
            <a:spLocks noGrp="1"/>
          </p:cNvSpPr>
          <p:nvPr>
            <p:ph type="sldNum" sz="quarter" idx="12"/>
          </p:nvPr>
        </p:nvSpPr>
        <p:spPr/>
        <p:txBody>
          <a:bodyPr/>
          <a:lstStyle/>
          <a:p>
            <a:fld id="{BC24317B-5122-4A99-A6E9-FA23C146A7E0}" type="slidenum">
              <a:rPr lang="en-US" smtClean="0"/>
              <a:pPr/>
              <a:t>70</a:t>
            </a:fld>
            <a:endParaRPr lang="en-US"/>
          </a:p>
        </p:txBody>
      </p:sp>
      <p:sp>
        <p:nvSpPr>
          <p:cNvPr id="4" name="Title 3">
            <a:extLst>
              <a:ext uri="{FF2B5EF4-FFF2-40B4-BE49-F238E27FC236}">
                <a16:creationId xmlns:a16="http://schemas.microsoft.com/office/drawing/2014/main" id="{F16910A6-5D0B-451D-51B9-C8D391F70FB7}"/>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9879533A-209E-3F61-C6EB-E71FA1A10C46}"/>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6638522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EC6054-47ED-4A89-29C0-13B7B2A9930E}"/>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108DA65F-F2C0-813E-2EE9-75FF4DF78886}"/>
              </a:ext>
            </a:extLst>
          </p:cNvPr>
          <p:cNvSpPr>
            <a:spLocks noGrp="1"/>
          </p:cNvSpPr>
          <p:nvPr>
            <p:ph type="sldNum" sz="quarter" idx="12"/>
          </p:nvPr>
        </p:nvSpPr>
        <p:spPr/>
        <p:txBody>
          <a:bodyPr/>
          <a:lstStyle/>
          <a:p>
            <a:fld id="{BC24317B-5122-4A99-A6E9-FA23C146A7E0}" type="slidenum">
              <a:rPr lang="en-US" smtClean="0"/>
              <a:pPr/>
              <a:t>71</a:t>
            </a:fld>
            <a:endParaRPr lang="en-US"/>
          </a:p>
        </p:txBody>
      </p:sp>
      <p:sp>
        <p:nvSpPr>
          <p:cNvPr id="4" name="Title 3">
            <a:extLst>
              <a:ext uri="{FF2B5EF4-FFF2-40B4-BE49-F238E27FC236}">
                <a16:creationId xmlns:a16="http://schemas.microsoft.com/office/drawing/2014/main" id="{6B7480EC-9464-1D04-456C-4534BF5F97AC}"/>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8D411AD4-A8A5-8233-6FCC-959693E55ABF}"/>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938576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531AA59-0219-2ED7-278A-4795F06A03A7}"/>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3C5B6861-1812-47CB-0B22-3F90A7865481}"/>
              </a:ext>
            </a:extLst>
          </p:cNvPr>
          <p:cNvSpPr>
            <a:spLocks noGrp="1"/>
          </p:cNvSpPr>
          <p:nvPr>
            <p:ph type="sldNum" sz="quarter" idx="12"/>
          </p:nvPr>
        </p:nvSpPr>
        <p:spPr/>
        <p:txBody>
          <a:bodyPr/>
          <a:lstStyle/>
          <a:p>
            <a:fld id="{BC24317B-5122-4A99-A6E9-FA23C146A7E0}" type="slidenum">
              <a:rPr lang="en-US" smtClean="0"/>
              <a:pPr/>
              <a:t>72</a:t>
            </a:fld>
            <a:endParaRPr lang="en-US"/>
          </a:p>
        </p:txBody>
      </p:sp>
      <p:sp>
        <p:nvSpPr>
          <p:cNvPr id="4" name="Title 3">
            <a:extLst>
              <a:ext uri="{FF2B5EF4-FFF2-40B4-BE49-F238E27FC236}">
                <a16:creationId xmlns:a16="http://schemas.microsoft.com/office/drawing/2014/main" id="{922BDF44-E978-AE62-A81D-A7D844B7939E}"/>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4C952F9A-BC2F-8CBC-7BB4-F40477116448}"/>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6750846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6DCA10-4AB0-33FF-0DB1-46E4A8AFC038}"/>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18A4B706-4C7D-85D9-77E1-5D98B22F6302}"/>
              </a:ext>
            </a:extLst>
          </p:cNvPr>
          <p:cNvSpPr>
            <a:spLocks noGrp="1"/>
          </p:cNvSpPr>
          <p:nvPr>
            <p:ph type="sldNum" sz="quarter" idx="12"/>
          </p:nvPr>
        </p:nvSpPr>
        <p:spPr/>
        <p:txBody>
          <a:bodyPr/>
          <a:lstStyle/>
          <a:p>
            <a:fld id="{BC24317B-5122-4A99-A6E9-FA23C146A7E0}" type="slidenum">
              <a:rPr lang="en-US" smtClean="0"/>
              <a:pPr/>
              <a:t>73</a:t>
            </a:fld>
            <a:endParaRPr lang="en-US"/>
          </a:p>
        </p:txBody>
      </p:sp>
      <p:sp>
        <p:nvSpPr>
          <p:cNvPr id="4" name="Title 3">
            <a:extLst>
              <a:ext uri="{FF2B5EF4-FFF2-40B4-BE49-F238E27FC236}">
                <a16:creationId xmlns:a16="http://schemas.microsoft.com/office/drawing/2014/main" id="{8728D862-B1F5-DE84-0E58-FB824D3BC6C0}"/>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168B722E-C78C-4689-1546-A1898A033DDF}"/>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955445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ED0097-BE87-4EFA-BA48-AA8EE91525D2}"/>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a:extLst>
              <a:ext uri="{FF2B5EF4-FFF2-40B4-BE49-F238E27FC236}">
                <a16:creationId xmlns:a16="http://schemas.microsoft.com/office/drawing/2014/main" id="{E06543B3-3676-ADC6-5CDF-178F6696FA9F}"/>
              </a:ext>
            </a:extLst>
          </p:cNvPr>
          <p:cNvSpPr>
            <a:spLocks noGrp="1"/>
          </p:cNvSpPr>
          <p:nvPr>
            <p:ph type="sldNum" sz="quarter" idx="12"/>
          </p:nvPr>
        </p:nvSpPr>
        <p:spPr/>
        <p:txBody>
          <a:bodyPr/>
          <a:lstStyle/>
          <a:p>
            <a:fld id="{BC24317B-5122-4A99-A6E9-FA23C146A7E0}" type="slidenum">
              <a:rPr lang="en-US" smtClean="0"/>
              <a:pPr/>
              <a:t>74</a:t>
            </a:fld>
            <a:endParaRPr lang="en-US"/>
          </a:p>
        </p:txBody>
      </p:sp>
      <p:sp>
        <p:nvSpPr>
          <p:cNvPr id="4" name="Title 3">
            <a:extLst>
              <a:ext uri="{FF2B5EF4-FFF2-40B4-BE49-F238E27FC236}">
                <a16:creationId xmlns:a16="http://schemas.microsoft.com/office/drawing/2014/main" id="{FDB5126A-2275-05C3-E421-0823423CEC1E}"/>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4BA3332F-B55D-24E1-BA51-2E1EFBA41424}"/>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0273845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75</a:t>
            </a:fld>
            <a:endParaRPr lang="en-US"/>
          </a:p>
        </p:txBody>
      </p:sp>
      <p:sp>
        <p:nvSpPr>
          <p:cNvPr id="4" name="Title 3"/>
          <p:cNvSpPr>
            <a:spLocks noGrp="1"/>
          </p:cNvSpPr>
          <p:nvPr>
            <p:ph type="title"/>
          </p:nvPr>
        </p:nvSpPr>
        <p:spPr/>
        <p:txBody>
          <a:bodyPr/>
          <a:lstStyle/>
          <a:p>
            <a:r>
              <a:rPr lang="en-US" err="1"/>
              <a:t>Bài</a:t>
            </a:r>
            <a:r>
              <a:rPr lang="en-US"/>
              <a:t> </a:t>
            </a:r>
            <a:r>
              <a:rPr lang="en-US" err="1"/>
              <a:t>tập</a:t>
            </a:r>
            <a:r>
              <a:rPr lang="en-US"/>
              <a:t> </a:t>
            </a:r>
            <a:r>
              <a:rPr lang="en-US" err="1"/>
              <a:t>mở</a:t>
            </a:r>
            <a:r>
              <a:rPr lang="en-US"/>
              <a:t> </a:t>
            </a:r>
            <a:r>
              <a:rPr lang="en-US" err="1"/>
              <a:t>rộng</a:t>
            </a:r>
            <a:endParaRPr lang="en-US"/>
          </a:p>
        </p:txBody>
      </p:sp>
      <p:sp>
        <p:nvSpPr>
          <p:cNvPr id="5" name="Text Placeholder 4"/>
          <p:cNvSpPr>
            <a:spLocks noGrp="1"/>
          </p:cNvSpPr>
          <p:nvPr>
            <p:ph type="body" sz="quarter" idx="13"/>
          </p:nvPr>
        </p:nvSpPr>
        <p:spPr/>
        <p:txBody>
          <a:bodyPr/>
          <a:lstStyle/>
          <a:p>
            <a:pPr marL="0" indent="0">
              <a:buNone/>
            </a:pPr>
            <a:r>
              <a:rPr lang="en-US"/>
              <a:t>Stack:</a:t>
            </a:r>
          </a:p>
          <a:p>
            <a:r>
              <a:rPr lang="vi-VN"/>
              <a:t>In giá trị số nguyên x không âm dưới dạng nhị phân</a:t>
            </a:r>
          </a:p>
          <a:p>
            <a:r>
              <a:rPr lang="vi-VN"/>
              <a:t>Kiểm tra tính hợp lệ về các cặp {}, [] và () trong một biểu thức</a:t>
            </a:r>
          </a:p>
          <a:p>
            <a:r>
              <a:rPr lang="vi-VN"/>
              <a:t>Mô phỏng thao tác back/forward của các trình duyệt web</a:t>
            </a:r>
          </a:p>
          <a:p>
            <a:pPr marL="0" indent="0">
              <a:buNone/>
            </a:pPr>
            <a:r>
              <a:rPr lang="en-US"/>
              <a:t>Queue:</a:t>
            </a:r>
          </a:p>
          <a:p>
            <a:r>
              <a:rPr lang="vi-VN"/>
              <a:t>Khi lập trình cho window, không thể xóa thư mục nếu trong đó còn các file và các thư mục con.</a:t>
            </a:r>
            <a:r>
              <a:rPr lang="en-US"/>
              <a:t> </a:t>
            </a:r>
            <a:r>
              <a:rPr lang="vi-VN"/>
              <a:t>Hãy tạo cơ chế để đảm bảo có thể xóa được một thư mục.</a:t>
            </a:r>
          </a:p>
          <a:p>
            <a:r>
              <a:rPr lang="vi-VN"/>
              <a:t>Bệnh nhân trong bệnh viện đa khoa thường được đánh mã màu: xanh, vàng và đỏ.</a:t>
            </a:r>
            <a:r>
              <a:rPr lang="en-US"/>
              <a:t> </a:t>
            </a:r>
            <a:r>
              <a:rPr lang="vi-VN"/>
              <a:t>Đưa ra giải pháp xếp hàng làm xét nghiệm của các bệnh nhân với độ ưu tiên từ đậm đến nhạt.</a:t>
            </a:r>
          </a:p>
          <a:p>
            <a:endParaRPr lang="en-US"/>
          </a:p>
        </p:txBody>
      </p:sp>
    </p:spTree>
    <p:extLst>
      <p:ext uri="{BB962C8B-B14F-4D97-AF65-F5344CB8AC3E}">
        <p14:creationId xmlns:p14="http://schemas.microsoft.com/office/powerpoint/2010/main" val="4001636227"/>
      </p:ext>
    </p:extLst>
  </p:cSld>
  <p:clrMapOvr>
    <a:masterClrMapping/>
  </p:clrMapOvr>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0</TotalTime>
  <Words>7691</Words>
  <Application>Microsoft Office PowerPoint</Application>
  <PresentationFormat>On-screen Show (4:3)</PresentationFormat>
  <Paragraphs>819</Paragraphs>
  <Slides>75</Slides>
  <Notes>19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87" baseType="lpstr">
      <vt:lpstr>.VnTime</vt:lpstr>
      <vt:lpstr>Arial</vt:lpstr>
      <vt:lpstr>Calibri</vt:lpstr>
      <vt:lpstr>Calibri Light</vt:lpstr>
      <vt:lpstr>Courier New</vt:lpstr>
      <vt:lpstr>Gill Sans MT</vt:lpstr>
      <vt:lpstr>Lato</vt:lpstr>
      <vt:lpstr>Times</vt:lpstr>
      <vt:lpstr>Times New Roman</vt:lpstr>
      <vt:lpstr>Wingdings</vt:lpstr>
      <vt:lpstr>7. SL - Mẫu slides bài giảng_HUST PPT Template</vt:lpstr>
      <vt:lpstr>Equation</vt:lpstr>
      <vt:lpstr>CẤU TRÚC DỮ LIỆU VÀ GIẢI THUẬT</vt:lpstr>
      <vt:lpstr>Đặt vấn đề - Xây dựng một CTDL</vt:lpstr>
      <vt:lpstr>Đặt vấn đề - Xây dựng một CTDL</vt:lpstr>
      <vt:lpstr>Chương II:  Cấu trúc mảng và Danh sách tuyến tính</vt:lpstr>
      <vt:lpstr>Các nội dung chính</vt:lpstr>
      <vt:lpstr>1. Cấu trúc mảng</vt:lpstr>
      <vt:lpstr>1.1. Mô tả</vt:lpstr>
      <vt:lpstr>1.1. Mô tả</vt:lpstr>
      <vt:lpstr>1.1. Mô tả</vt:lpstr>
      <vt:lpstr>1.1. Mô tả</vt:lpstr>
      <vt:lpstr>Ví dụ</vt:lpstr>
      <vt:lpstr>1.2. Cấu trúc lưu trữ tuần tự</vt:lpstr>
      <vt:lpstr>1.2. Cấu trúc lưu trữ tuần tự</vt:lpstr>
      <vt:lpstr>1.3. Cài đặt mảng bằng CTLT tuần tự</vt:lpstr>
      <vt:lpstr>1.3. Cài đặt mảng bằng CTLT tuần tự</vt:lpstr>
      <vt:lpstr>1.3. Cài đặt mảng bằng CTLT tuần tự</vt:lpstr>
      <vt:lpstr>1.3. Cài đặt mảng bằng CTLT tuần tự</vt:lpstr>
      <vt:lpstr>1.3. Cài đặt mảng bằng CTLT tuần tự</vt:lpstr>
      <vt:lpstr>2 cách bố trí</vt:lpstr>
      <vt:lpstr>2 cách bố trí</vt:lpstr>
      <vt:lpstr>2 cách bố trí</vt:lpstr>
      <vt:lpstr>1.4. Hàm địa chỉ</vt:lpstr>
      <vt:lpstr>1.4. Hàm địa chỉ</vt:lpstr>
      <vt:lpstr>1.4. Hàm địa chỉ</vt:lpstr>
      <vt:lpstr>1.4. Hàm địa chỉ</vt:lpstr>
      <vt:lpstr>Nhận xét</vt:lpstr>
      <vt:lpstr>2. Danh sách tuyến tính</vt:lpstr>
      <vt:lpstr>Danh sách tuyến tính</vt:lpstr>
      <vt:lpstr>2.1. Mô tả  Mô tả cấu trúc</vt:lpstr>
      <vt:lpstr>2.1. Mô tả Đặc trưng danh sách</vt:lpstr>
      <vt:lpstr>2.1. Mô tả Các thao tác cơ bản trên danh sách</vt:lpstr>
      <vt:lpstr>2.1. Mô tả Các thao tác cơ bản trên danh sách</vt:lpstr>
      <vt:lpstr>2.1. Mô tả Các thao tác cơ bản trên danh sách</vt:lpstr>
      <vt:lpstr>2.1. Mô tả Các thao tác cơ bản trên danh sách</vt:lpstr>
      <vt:lpstr>2.1. Mô tả Các cấu trúc danh sách thông dụng </vt:lpstr>
      <vt:lpstr>2.1. Mô tả Các cấu trúc danh sách thông dụng </vt:lpstr>
      <vt:lpstr>2.1. Mô tả Các phương pháp cài đặt</vt:lpstr>
      <vt:lpstr>2.1. Mô tả Các phương pháp cài đặt</vt:lpstr>
      <vt:lpstr>2.2. Cài đặt danh sách bằng CTLT tuần tự</vt:lpstr>
      <vt:lpstr>2.2. Cài đặt danh sách bằng CTLT tuần tự Mô tả</vt:lpstr>
      <vt:lpstr>2.2. Cài đặt danh sách bằng CTLT tuần tự Mô tả</vt:lpstr>
      <vt:lpstr>2.2. Cài đặt danh sách bằng CTLT tuần tự Mô tả</vt:lpstr>
      <vt:lpstr>Giới thiệu về CTDL Stack and Queue</vt:lpstr>
      <vt:lpstr>2.2. Cài đặt danh sách bằng CTLT tuần tự Mô tả</vt:lpstr>
      <vt:lpstr>Nguyễn tắc hoạt động của stack</vt:lpstr>
      <vt:lpstr>Nguyễn tắc hoạt động của queue</vt:lpstr>
      <vt:lpstr>Nguyễn tắc hoạt động của queue</vt:lpstr>
      <vt:lpstr>PowerPoint Presentation</vt:lpstr>
      <vt:lpstr>2.2. Cài đặt danh sách bằng CTLT tuần tự Cài đặt Stack bằng CTLT tuần tự</vt:lpstr>
      <vt:lpstr>2.2. Cài đặt danh sách bằng CTLT tuần tự Khai báo cấu trúc</vt:lpstr>
      <vt:lpstr>2.2. Cài đặt danh sách bằng CTLT tuần tự Khai báo cấu trúc</vt:lpstr>
      <vt:lpstr>2.2. Cài đặt danh sách bằng CTLT tuần tự Cài đặt các thao tác cơ bản</vt:lpstr>
      <vt:lpstr>2.2. Cài đặt danh sách bằng CTLT tuần tự Cài đặt các thao tác cơ bản</vt:lpstr>
      <vt:lpstr>2.2. Cài đặt danh sách bằng CTLT tuần tự Cài đặt các thao tác cơ bản</vt:lpstr>
      <vt:lpstr>2.2. Cài đặt danh sách bằng CTLT tuần tự Cài đặt các thao tác cơ bản</vt:lpstr>
      <vt:lpstr>2.2. Cài đặt danh sách bằng CTLT tuần tự Cài đặt các thao tác cơ bản</vt:lpstr>
      <vt:lpstr>Bài Tập Chương 2</vt:lpstr>
      <vt:lpstr>2.2. Cài đặt danh sách bằng CTLT tuần tự Cài đặt các thao tác cơ bản</vt:lpstr>
      <vt:lpstr>2.2. Cài đặt danh sách bằng CTLT tuần tự Cài đặt các thao tác cơ bản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tập mở rộng</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Hai Hai</cp:lastModifiedBy>
  <cp:revision>1</cp:revision>
  <cp:lastPrinted>2024-03-01T09:44:37Z</cp:lastPrinted>
  <dcterms:created xsi:type="dcterms:W3CDTF">2007-06-13T23:23:09Z</dcterms:created>
  <dcterms:modified xsi:type="dcterms:W3CDTF">2026-01-07T07:29:48Z</dcterms:modified>
</cp:coreProperties>
</file>